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vml" ContentType="application/vnd.openxmlformats-officedocument.vmlDrawi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media/image53.jpg" ContentType="image/jpg"/>
  <Override PartName="/ppt/media/image54.jpg" ContentType="image/jpg"/>
  <Override PartName="/ppt/media/image58.jpg" ContentType="image/jpg"/>
  <Override PartName="/ppt/media/image59.jpg" ContentType="image/jpg"/>
  <Override PartName="/ppt/notesSlides/notesSlide98.xml" ContentType="application/vnd.openxmlformats-officedocument.presentationml.notesSlide+xml"/>
  <Override PartName="/ppt/notesSlides/notesSlide9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2" r:id="rId1"/>
  </p:sldMasterIdLst>
  <p:notesMasterIdLst>
    <p:notesMasterId r:id="rId137"/>
  </p:notesMasterIdLst>
  <p:sldIdLst>
    <p:sldId id="259" r:id="rId2"/>
    <p:sldId id="309" r:id="rId3"/>
    <p:sldId id="592" r:id="rId4"/>
    <p:sldId id="364" r:id="rId5"/>
    <p:sldId id="386" r:id="rId6"/>
    <p:sldId id="614" r:id="rId7"/>
    <p:sldId id="616" r:id="rId8"/>
    <p:sldId id="615" r:id="rId9"/>
    <p:sldId id="389" r:id="rId10"/>
    <p:sldId id="554" r:id="rId11"/>
    <p:sldId id="390" r:id="rId12"/>
    <p:sldId id="392" r:id="rId13"/>
    <p:sldId id="607" r:id="rId14"/>
    <p:sldId id="608" r:id="rId15"/>
    <p:sldId id="609" r:id="rId16"/>
    <p:sldId id="391" r:id="rId17"/>
    <p:sldId id="394" r:id="rId18"/>
    <p:sldId id="395" r:id="rId19"/>
    <p:sldId id="397" r:id="rId20"/>
    <p:sldId id="398" r:id="rId21"/>
    <p:sldId id="399" r:id="rId22"/>
    <p:sldId id="402" r:id="rId23"/>
    <p:sldId id="403" r:id="rId24"/>
    <p:sldId id="405" r:id="rId25"/>
    <p:sldId id="407" r:id="rId26"/>
    <p:sldId id="408" r:id="rId27"/>
    <p:sldId id="410" r:id="rId28"/>
    <p:sldId id="411" r:id="rId29"/>
    <p:sldId id="412" r:id="rId30"/>
    <p:sldId id="413" r:id="rId31"/>
    <p:sldId id="555" r:id="rId32"/>
    <p:sldId id="416" r:id="rId33"/>
    <p:sldId id="556" r:id="rId34"/>
    <p:sldId id="558" r:id="rId35"/>
    <p:sldId id="418" r:id="rId36"/>
    <p:sldId id="560" r:id="rId37"/>
    <p:sldId id="421" r:id="rId38"/>
    <p:sldId id="557" r:id="rId39"/>
    <p:sldId id="561" r:id="rId40"/>
    <p:sldId id="428" r:id="rId41"/>
    <p:sldId id="611" r:id="rId42"/>
    <p:sldId id="613" r:id="rId43"/>
    <p:sldId id="427" r:id="rId44"/>
    <p:sldId id="610" r:id="rId45"/>
    <p:sldId id="429" r:id="rId46"/>
    <p:sldId id="430" r:id="rId47"/>
    <p:sldId id="612" r:id="rId48"/>
    <p:sldId id="562" r:id="rId49"/>
    <p:sldId id="563" r:id="rId50"/>
    <p:sldId id="431" r:id="rId51"/>
    <p:sldId id="432" r:id="rId52"/>
    <p:sldId id="564" r:id="rId53"/>
    <p:sldId id="565" r:id="rId54"/>
    <p:sldId id="567" r:id="rId55"/>
    <p:sldId id="566" r:id="rId56"/>
    <p:sldId id="434" r:id="rId57"/>
    <p:sldId id="435" r:id="rId58"/>
    <p:sldId id="437" r:id="rId59"/>
    <p:sldId id="572" r:id="rId60"/>
    <p:sldId id="574" r:id="rId61"/>
    <p:sldId id="573" r:id="rId62"/>
    <p:sldId id="443" r:id="rId63"/>
    <p:sldId id="444" r:id="rId64"/>
    <p:sldId id="445" r:id="rId65"/>
    <p:sldId id="447" r:id="rId66"/>
    <p:sldId id="448" r:id="rId67"/>
    <p:sldId id="569" r:id="rId68"/>
    <p:sldId id="576" r:id="rId69"/>
    <p:sldId id="605" r:id="rId70"/>
    <p:sldId id="617" r:id="rId71"/>
    <p:sldId id="618" r:id="rId72"/>
    <p:sldId id="568" r:id="rId73"/>
    <p:sldId id="453" r:id="rId74"/>
    <p:sldId id="454" r:id="rId75"/>
    <p:sldId id="599" r:id="rId76"/>
    <p:sldId id="603" r:id="rId77"/>
    <p:sldId id="600" r:id="rId78"/>
    <p:sldId id="601" r:id="rId79"/>
    <p:sldId id="602" r:id="rId80"/>
    <p:sldId id="604" r:id="rId81"/>
    <p:sldId id="458" r:id="rId82"/>
    <p:sldId id="461" r:id="rId83"/>
    <p:sldId id="462" r:id="rId84"/>
    <p:sldId id="464" r:id="rId85"/>
    <p:sldId id="465" r:id="rId86"/>
    <p:sldId id="470" r:id="rId87"/>
    <p:sldId id="473" r:id="rId88"/>
    <p:sldId id="472" r:id="rId89"/>
    <p:sldId id="593" r:id="rId90"/>
    <p:sldId id="594" r:id="rId91"/>
    <p:sldId id="595" r:id="rId92"/>
    <p:sldId id="596" r:id="rId93"/>
    <p:sldId id="597" r:id="rId94"/>
    <p:sldId id="598" r:id="rId95"/>
    <p:sldId id="577" r:id="rId96"/>
    <p:sldId id="575" r:id="rId97"/>
    <p:sldId id="475" r:id="rId98"/>
    <p:sldId id="620" r:id="rId99"/>
    <p:sldId id="621" r:id="rId100"/>
    <p:sldId id="623" r:id="rId101"/>
    <p:sldId id="622" r:id="rId102"/>
    <p:sldId id="624" r:id="rId103"/>
    <p:sldId id="625" r:id="rId104"/>
    <p:sldId id="626" r:id="rId105"/>
    <p:sldId id="627" r:id="rId106"/>
    <p:sldId id="628" r:id="rId107"/>
    <p:sldId id="629" r:id="rId108"/>
    <p:sldId id="619" r:id="rId109"/>
    <p:sldId id="477" r:id="rId110"/>
    <p:sldId id="578" r:id="rId111"/>
    <p:sldId id="579" r:id="rId112"/>
    <p:sldId id="582" r:id="rId113"/>
    <p:sldId id="580" r:id="rId114"/>
    <p:sldId id="581" r:id="rId115"/>
    <p:sldId id="584" r:id="rId116"/>
    <p:sldId id="585" r:id="rId117"/>
    <p:sldId id="586" r:id="rId118"/>
    <p:sldId id="587" r:id="rId119"/>
    <p:sldId id="588" r:id="rId120"/>
    <p:sldId id="589" r:id="rId121"/>
    <p:sldId id="631" r:id="rId122"/>
    <p:sldId id="632" r:id="rId123"/>
    <p:sldId id="633" r:id="rId124"/>
    <p:sldId id="634" r:id="rId125"/>
    <p:sldId id="635" r:id="rId126"/>
    <p:sldId id="636" r:id="rId127"/>
    <p:sldId id="590" r:id="rId128"/>
    <p:sldId id="489" r:id="rId129"/>
    <p:sldId id="591" r:id="rId130"/>
    <p:sldId id="637" r:id="rId131"/>
    <p:sldId id="638" r:id="rId132"/>
    <p:sldId id="639" r:id="rId133"/>
    <p:sldId id="640" r:id="rId134"/>
    <p:sldId id="606" r:id="rId135"/>
    <p:sldId id="630" r:id="rId136"/>
  </p:sldIdLst>
  <p:sldSz cx="12668250" cy="7126288"/>
  <p:notesSz cx="6858000" cy="9144000"/>
  <p:defaultTextStyle>
    <a:defPPr>
      <a:defRPr lang="ru-RU"/>
    </a:defPPr>
    <a:lvl1pPr algn="l" rtl="0" fontAlgn="base">
      <a:spcBef>
        <a:spcPct val="0"/>
      </a:spcBef>
      <a:spcAft>
        <a:spcPct val="0"/>
      </a:spcAft>
      <a:defRPr sz="2000"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sz="2000"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sz="2000"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sz="2000"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sz="2000"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sz="2000"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sz="2000"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sz="2000"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sz="2000"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245" userDrawn="1">
          <p15:clr>
            <a:srgbClr val="A4A3A4"/>
          </p15:clr>
        </p15:guide>
        <p15:guide id="2" pos="399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5050"/>
    <a:srgbClr val="0000FF"/>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44" autoAdjust="0"/>
    <p:restoredTop sz="94129" autoAdjust="0"/>
  </p:normalViewPr>
  <p:slideViewPr>
    <p:cSldViewPr>
      <p:cViewPr varScale="1">
        <p:scale>
          <a:sx n="88" d="100"/>
          <a:sy n="88" d="100"/>
        </p:scale>
        <p:origin x="77" y="350"/>
      </p:cViewPr>
      <p:guideLst>
        <p:guide orient="horz" pos="2245"/>
        <p:guide pos="399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presProps" Target="presProps.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viewProps" Target="viewProp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6" Type="http://schemas.openxmlformats.org/officeDocument/2006/relationships/slide" Target="slides/slide15.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8.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70"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a:lvl1pPr>
          </a:lstStyle>
          <a:p>
            <a:endParaRPr lang="ru-RU" altLang="ru-RU"/>
          </a:p>
        </p:txBody>
      </p:sp>
      <p:sp>
        <p:nvSpPr>
          <p:cNvPr id="7171" name="Rectangle 3"/>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lvl1pPr>
          </a:lstStyle>
          <a:p>
            <a:endParaRPr lang="ru-RU" altLang="ru-RU"/>
          </a:p>
        </p:txBody>
      </p:sp>
      <p:sp>
        <p:nvSpPr>
          <p:cNvPr id="7172" name="Rectangle 4"/>
          <p:cNvSpPr>
            <a:spLocks noGrp="1" noRot="1" noChangeAspect="1" noChangeArrowheads="1" noTextEdit="1"/>
          </p:cNvSpPr>
          <p:nvPr>
            <p:ph type="sldImg" idx="2"/>
          </p:nvPr>
        </p:nvSpPr>
        <p:spPr bwMode="auto">
          <a:xfrm>
            <a:off x="382588" y="685800"/>
            <a:ext cx="6092825" cy="3429000"/>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7173" name="Rectangle 5"/>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ru-RU" altLang="ru-RU"/>
              <a:t>Образец текста</a:t>
            </a:r>
          </a:p>
          <a:p>
            <a:pPr lvl="1"/>
            <a:r>
              <a:rPr lang="ru-RU" altLang="ru-RU"/>
              <a:t>Второй уровень</a:t>
            </a:r>
          </a:p>
          <a:p>
            <a:pPr lvl="2"/>
            <a:r>
              <a:rPr lang="ru-RU" altLang="ru-RU"/>
              <a:t>Третий уровень</a:t>
            </a:r>
          </a:p>
          <a:p>
            <a:pPr lvl="3"/>
            <a:r>
              <a:rPr lang="ru-RU" altLang="ru-RU"/>
              <a:t>Четвертый уровень</a:t>
            </a:r>
          </a:p>
          <a:p>
            <a:pPr lvl="4"/>
            <a:r>
              <a:rPr lang="ru-RU" altLang="ru-RU"/>
              <a:t>Пятый уровень</a:t>
            </a:r>
          </a:p>
        </p:txBody>
      </p:sp>
      <p:sp>
        <p:nvSpPr>
          <p:cNvPr id="7174" name="Rectangle 6"/>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a:lvl1pPr>
          </a:lstStyle>
          <a:p>
            <a:endParaRPr lang="ru-RU" altLang="ru-RU"/>
          </a:p>
        </p:txBody>
      </p:sp>
      <p:sp>
        <p:nvSpPr>
          <p:cNvPr id="7175" name="Rectangle 7"/>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vl1pPr>
          </a:lstStyle>
          <a:p>
            <a:fld id="{2425E847-CC3D-45FB-A3C6-7CB5171DA709}" type="slidenum">
              <a:rPr lang="ru-RU" altLang="ru-RU"/>
              <a:pPr/>
              <a:t>‹#›</a:t>
            </a:fld>
            <a:endParaRPr lang="ru-RU" altLang="ru-RU"/>
          </a:p>
        </p:txBody>
      </p:sp>
    </p:spTree>
    <p:extLst>
      <p:ext uri="{BB962C8B-B14F-4D97-AF65-F5344CB8AC3E}">
        <p14:creationId xmlns:p14="http://schemas.microsoft.com/office/powerpoint/2010/main" val="2073126273"/>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panose="020B0604020202020204" pitchFamily="34" charset="0"/>
        <a:ea typeface="+mn-ea"/>
        <a:cs typeface="+mn-cs"/>
      </a:defRPr>
    </a:lvl1pPr>
    <a:lvl2pPr marL="457200" algn="l" rtl="0" fontAlgn="base">
      <a:spcBef>
        <a:spcPct val="30000"/>
      </a:spcBef>
      <a:spcAft>
        <a:spcPct val="0"/>
      </a:spcAft>
      <a:defRPr sz="1200" kern="1200">
        <a:solidFill>
          <a:schemeClr val="tx1"/>
        </a:solidFill>
        <a:latin typeface="Arial" panose="020B0604020202020204" pitchFamily="34" charset="0"/>
        <a:ea typeface="+mn-ea"/>
        <a:cs typeface="+mn-cs"/>
      </a:defRPr>
    </a:lvl2pPr>
    <a:lvl3pPr marL="914400" algn="l" rtl="0" fontAlgn="base">
      <a:spcBef>
        <a:spcPct val="30000"/>
      </a:spcBef>
      <a:spcAft>
        <a:spcPct val="0"/>
      </a:spcAft>
      <a:defRPr sz="1200" kern="1200">
        <a:solidFill>
          <a:schemeClr val="tx1"/>
        </a:solidFill>
        <a:latin typeface="Arial" panose="020B0604020202020204" pitchFamily="34" charset="0"/>
        <a:ea typeface="+mn-ea"/>
        <a:cs typeface="+mn-cs"/>
      </a:defRPr>
    </a:lvl3pPr>
    <a:lvl4pPr marL="1371600" algn="l" rtl="0" fontAlgn="base">
      <a:spcBef>
        <a:spcPct val="30000"/>
      </a:spcBef>
      <a:spcAft>
        <a:spcPct val="0"/>
      </a:spcAft>
      <a:defRPr sz="1200" kern="1200">
        <a:solidFill>
          <a:schemeClr val="tx1"/>
        </a:solidFill>
        <a:latin typeface="Arial" panose="020B0604020202020204" pitchFamily="34" charset="0"/>
        <a:ea typeface="+mn-ea"/>
        <a:cs typeface="+mn-cs"/>
      </a:defRPr>
    </a:lvl4pPr>
    <a:lvl5pPr marL="1828800" algn="l" rtl="0" fontAlgn="base">
      <a:spcBef>
        <a:spcPct val="30000"/>
      </a:spcBef>
      <a:spcAft>
        <a:spcPct val="0"/>
      </a:spcAft>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4FBFBADA-4B6E-4DB2-BB61-E8F0822E4099}" type="slidenum">
              <a:rPr lang="ru-RU" altLang="ru-RU"/>
              <a:pPr/>
              <a:t>1</a:t>
            </a:fld>
            <a:endParaRPr lang="ru-RU" altLang="ru-RU"/>
          </a:p>
        </p:txBody>
      </p:sp>
      <p:sp>
        <p:nvSpPr>
          <p:cNvPr id="11266" name="Образ слайда 1"/>
          <p:cNvSpPr>
            <a:spLocks noGrp="1" noRot="1" noChangeAspect="1" noTextEdit="1"/>
          </p:cNvSpPr>
          <p:nvPr>
            <p:ph type="sldImg"/>
          </p:nvPr>
        </p:nvSpPr>
        <p:spPr>
          <a:xfrm>
            <a:off x="382588" y="685800"/>
            <a:ext cx="6092825" cy="3429000"/>
          </a:xfrm>
          <a:ln/>
        </p:spPr>
      </p:sp>
      <p:sp>
        <p:nvSpPr>
          <p:cNvPr id="11267" name="Заметки 2"/>
          <p:cNvSpPr>
            <a:spLocks noGrp="1"/>
          </p:cNvSpPr>
          <p:nvPr>
            <p:ph type="body" idx="1"/>
          </p:nvPr>
        </p:nvSpPr>
        <p:spPr/>
        <p:txBody>
          <a:bodyPr/>
          <a:lstStyle/>
          <a:p>
            <a:pPr>
              <a:lnSpc>
                <a:spcPct val="90000"/>
              </a:lnSpc>
              <a:spcBef>
                <a:spcPct val="0"/>
              </a:spcBef>
            </a:pPr>
            <a:endParaRPr lang="ru-RU" altLang="ru-RU"/>
          </a:p>
        </p:txBody>
      </p:sp>
      <p:sp>
        <p:nvSpPr>
          <p:cNvPr id="11268" name="Номер слайда 3"/>
          <p:cNvSpPr txBox="1">
            <a:spLocks noGrp="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fld id="{EF1119A3-D392-4E47-9478-98DB02C0947E}" type="slidenum">
              <a:rPr lang="ru-RU" altLang="ru-RU" sz="1200">
                <a:latin typeface="Calibri" panose="020F0502020204030204" pitchFamily="34" charset="0"/>
              </a:rPr>
              <a:pPr algn="r"/>
              <a:t>1</a:t>
            </a:fld>
            <a:endParaRPr lang="ru-RU" altLang="ru-RU" sz="1200">
              <a:latin typeface="Calibri" panose="020F0502020204030204" pitchFamily="34" charset="0"/>
            </a:endParaRPr>
          </a:p>
        </p:txBody>
      </p:sp>
    </p:spTree>
    <p:extLst>
      <p:ext uri="{BB962C8B-B14F-4D97-AF65-F5344CB8AC3E}">
        <p14:creationId xmlns:p14="http://schemas.microsoft.com/office/powerpoint/2010/main" val="36658581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5CD57A7-C113-4CC6-8931-95C51B578C12}" type="slidenum">
              <a:rPr lang="ru-RU" altLang="ru-RU"/>
              <a:pPr/>
              <a:t>2</a:t>
            </a:fld>
            <a:endParaRPr lang="ru-RU" altLang="ru-RU"/>
          </a:p>
        </p:txBody>
      </p:sp>
      <p:sp>
        <p:nvSpPr>
          <p:cNvPr id="100354" name="Rectangle 2"/>
          <p:cNvSpPr>
            <a:spLocks noGrp="1" noRot="1" noChangeAspect="1" noChangeArrowheads="1" noTextEdit="1"/>
          </p:cNvSpPr>
          <p:nvPr>
            <p:ph type="sldImg"/>
          </p:nvPr>
        </p:nvSpPr>
        <p:spPr>
          <a:xfrm>
            <a:off x="382588" y="685800"/>
            <a:ext cx="6092825" cy="3429000"/>
          </a:xfrm>
          <a:ln/>
        </p:spPr>
      </p:sp>
      <p:sp>
        <p:nvSpPr>
          <p:cNvPr id="100355" name="Rectangle 3"/>
          <p:cNvSpPr>
            <a:spLocks noGrp="1" noChangeArrowheads="1"/>
          </p:cNvSpPr>
          <p:nvPr>
            <p:ph type="body" idx="1"/>
          </p:nvPr>
        </p:nvSpPr>
        <p:spPr/>
        <p:txBody>
          <a:bodyPr/>
          <a:lstStyle/>
          <a:p>
            <a:endParaRPr lang="ru-RU" altLang="ru-RU"/>
          </a:p>
        </p:txBody>
      </p:sp>
    </p:spTree>
    <p:extLst>
      <p:ext uri="{BB962C8B-B14F-4D97-AF65-F5344CB8AC3E}">
        <p14:creationId xmlns:p14="http://schemas.microsoft.com/office/powerpoint/2010/main" val="1941348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D48748E-E7CE-484F-A789-9CA91BFBCF59}" type="slidenum">
              <a:rPr lang="ru-RU" altLang="ru-RU"/>
              <a:pPr/>
              <a:t>3</a:t>
            </a:fld>
            <a:endParaRPr lang="ru-RU" altLang="ru-RU"/>
          </a:p>
        </p:txBody>
      </p:sp>
      <p:sp>
        <p:nvSpPr>
          <p:cNvPr id="214018" name="Rectangle 2"/>
          <p:cNvSpPr>
            <a:spLocks noGrp="1" noRot="1" noChangeAspect="1" noChangeArrowheads="1" noTextEdit="1"/>
          </p:cNvSpPr>
          <p:nvPr>
            <p:ph type="sldImg"/>
          </p:nvPr>
        </p:nvSpPr>
        <p:spPr>
          <a:xfrm>
            <a:off x="382588" y="685800"/>
            <a:ext cx="6092825" cy="3429000"/>
          </a:xfrm>
          <a:ln/>
        </p:spPr>
      </p:sp>
      <p:sp>
        <p:nvSpPr>
          <p:cNvPr id="214019" name="Rectangle 3"/>
          <p:cNvSpPr>
            <a:spLocks noGrp="1" noChangeArrowheads="1"/>
          </p:cNvSpPr>
          <p:nvPr>
            <p:ph type="body" idx="1"/>
          </p:nvPr>
        </p:nvSpPr>
        <p:spPr/>
        <p:txBody>
          <a:bodyPr/>
          <a:lstStyle/>
          <a:p>
            <a:endParaRPr lang="ru-RU" altLang="ru-RU"/>
          </a:p>
        </p:txBody>
      </p:sp>
    </p:spTree>
    <p:extLst>
      <p:ext uri="{BB962C8B-B14F-4D97-AF65-F5344CB8AC3E}">
        <p14:creationId xmlns:p14="http://schemas.microsoft.com/office/powerpoint/2010/main" val="15450198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D48748E-E7CE-484F-A789-9CA91BFBCF59}" type="slidenum">
              <a:rPr lang="ru-RU" altLang="ru-RU"/>
              <a:pPr/>
              <a:t>4</a:t>
            </a:fld>
            <a:endParaRPr lang="ru-RU" altLang="ru-RU"/>
          </a:p>
        </p:txBody>
      </p:sp>
      <p:sp>
        <p:nvSpPr>
          <p:cNvPr id="214018" name="Rectangle 2"/>
          <p:cNvSpPr>
            <a:spLocks noGrp="1" noRot="1" noChangeAspect="1" noChangeArrowheads="1" noTextEdit="1"/>
          </p:cNvSpPr>
          <p:nvPr>
            <p:ph type="sldImg"/>
          </p:nvPr>
        </p:nvSpPr>
        <p:spPr>
          <a:xfrm>
            <a:off x="382588" y="685800"/>
            <a:ext cx="6092825" cy="3429000"/>
          </a:xfrm>
          <a:ln/>
        </p:spPr>
      </p:sp>
      <p:sp>
        <p:nvSpPr>
          <p:cNvPr id="214019" name="Rectangle 3"/>
          <p:cNvSpPr>
            <a:spLocks noGrp="1" noChangeArrowheads="1"/>
          </p:cNvSpPr>
          <p:nvPr>
            <p:ph type="body" idx="1"/>
          </p:nvPr>
        </p:nvSpPr>
        <p:spPr/>
        <p:txBody>
          <a:bodyPr/>
          <a:lstStyle/>
          <a:p>
            <a:endParaRPr lang="ru-RU" altLang="ru-RU"/>
          </a:p>
        </p:txBody>
      </p:sp>
    </p:spTree>
    <p:extLst>
      <p:ext uri="{BB962C8B-B14F-4D97-AF65-F5344CB8AC3E}">
        <p14:creationId xmlns:p14="http://schemas.microsoft.com/office/powerpoint/2010/main" val="365718781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noResize="1"/>
          </p:cNvSpPr>
          <p:nvPr>
            <p:ph type="sldImg"/>
          </p:nvPr>
        </p:nvSpPr>
        <p:spPr>
          <a:xfrm>
            <a:off x="142875" y="777875"/>
            <a:ext cx="6815138" cy="3835400"/>
          </a:xfrm>
          <a:solidFill>
            <a:srgbClr val="729FCF"/>
          </a:solidFill>
          <a:ln w="25400">
            <a:solidFill>
              <a:srgbClr val="3465A4"/>
            </a:solidFill>
            <a:prstDash val="solid"/>
          </a:ln>
        </p:spPr>
      </p:sp>
      <p:sp>
        <p:nvSpPr>
          <p:cNvPr id="3" name="TextBox 2"/>
          <p:cNvSpPr txBox="1"/>
          <p:nvPr/>
        </p:nvSpPr>
        <p:spPr>
          <a:xfrm>
            <a:off x="709200" y="4859280"/>
            <a:ext cx="5681880" cy="4603679"/>
          </a:xfrm>
          <a:prstGeom prst="rect">
            <a:avLst/>
          </a:prstGeom>
          <a:noFill/>
          <a:ln>
            <a:noFill/>
          </a:ln>
        </p:spPr>
        <p:txBody>
          <a:bodyPr vert="horz" wrap="none" lIns="90000" tIns="46800" rIns="90000" bIns="46800" anchor="ctr" anchorCtr="0" compatLnSpc="1">
            <a:noAutofit/>
          </a:bodyPr>
          <a:lstStyle/>
          <a:p>
            <a:pPr marL="0" marR="0" lvl="0" indent="0" algn="l" rtl="0" hangingPunct="0">
              <a:lnSpc>
                <a:spcPct val="100000"/>
              </a:lnSpc>
              <a:spcBef>
                <a:spcPts val="448"/>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endParaRPr lang="ru-RU" sz="1200" b="0" i="0" u="none" strike="noStrike" cap="none" baseline="0">
              <a:ln>
                <a:noFill/>
              </a:ln>
              <a:solidFill>
                <a:srgbClr val="000000"/>
              </a:solidFill>
              <a:latin typeface="Times New Roman" pitchFamily="18"/>
              <a:ea typeface="Microsoft YaHei" pitchFamily="2"/>
              <a:cs typeface="Mangal" pitchFamily="2"/>
            </a:endParaRPr>
          </a:p>
        </p:txBody>
      </p:sp>
    </p:spTree>
    <p:extLst>
      <p:ext uri="{BB962C8B-B14F-4D97-AF65-F5344CB8AC3E}">
        <p14:creationId xmlns:p14="http://schemas.microsoft.com/office/powerpoint/2010/main" val="403619184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noResize="1"/>
          </p:cNvSpPr>
          <p:nvPr>
            <p:ph type="sldImg"/>
          </p:nvPr>
        </p:nvSpPr>
        <p:spPr>
          <a:xfrm>
            <a:off x="142875" y="777875"/>
            <a:ext cx="6815138" cy="3835400"/>
          </a:xfrm>
          <a:solidFill>
            <a:srgbClr val="729FCF"/>
          </a:solidFill>
          <a:ln w="25400">
            <a:solidFill>
              <a:srgbClr val="3465A4"/>
            </a:solidFill>
            <a:prstDash val="solid"/>
          </a:ln>
        </p:spPr>
      </p:sp>
      <p:sp>
        <p:nvSpPr>
          <p:cNvPr id="3" name="TextBox 2"/>
          <p:cNvSpPr txBox="1"/>
          <p:nvPr/>
        </p:nvSpPr>
        <p:spPr>
          <a:xfrm>
            <a:off x="709200" y="4859280"/>
            <a:ext cx="5681880" cy="4603679"/>
          </a:xfrm>
          <a:prstGeom prst="rect">
            <a:avLst/>
          </a:prstGeom>
          <a:noFill/>
          <a:ln>
            <a:noFill/>
          </a:ln>
        </p:spPr>
        <p:txBody>
          <a:bodyPr vert="horz" wrap="none" lIns="90000" tIns="46800" rIns="90000" bIns="46800" anchor="ctr" anchorCtr="0" compatLnSpc="1">
            <a:noAutofit/>
          </a:bodyPr>
          <a:lstStyle/>
          <a:p>
            <a:pPr marL="0" marR="0" lvl="0" indent="0" algn="l" rtl="0" hangingPunct="0">
              <a:lnSpc>
                <a:spcPct val="100000"/>
              </a:lnSpc>
              <a:spcBef>
                <a:spcPts val="448"/>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endParaRPr lang="ru-RU" sz="1200" b="0" i="0" u="none" strike="noStrike" cap="none" baseline="0">
              <a:ln>
                <a:noFill/>
              </a:ln>
              <a:solidFill>
                <a:srgbClr val="000000"/>
              </a:solidFill>
              <a:latin typeface="Times New Roman" pitchFamily="18"/>
              <a:ea typeface="Microsoft YaHei" pitchFamily="2"/>
              <a:cs typeface="Mangal" pitchFamily="2"/>
            </a:endParaRPr>
          </a:p>
        </p:txBody>
      </p:sp>
    </p:spTree>
    <p:extLst>
      <p:ext uri="{BB962C8B-B14F-4D97-AF65-F5344CB8AC3E}">
        <p14:creationId xmlns:p14="http://schemas.microsoft.com/office/powerpoint/2010/main" val="344051122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noResize="1"/>
          </p:cNvSpPr>
          <p:nvPr>
            <p:ph type="sldImg"/>
          </p:nvPr>
        </p:nvSpPr>
        <p:spPr>
          <a:xfrm>
            <a:off x="142875" y="777875"/>
            <a:ext cx="6815138" cy="3835400"/>
          </a:xfrm>
          <a:solidFill>
            <a:srgbClr val="729FCF"/>
          </a:solidFill>
          <a:ln w="25400">
            <a:solidFill>
              <a:srgbClr val="3465A4"/>
            </a:solidFill>
            <a:prstDash val="solid"/>
          </a:ln>
        </p:spPr>
      </p:sp>
      <p:sp>
        <p:nvSpPr>
          <p:cNvPr id="3" name="TextBox 2"/>
          <p:cNvSpPr txBox="1"/>
          <p:nvPr/>
        </p:nvSpPr>
        <p:spPr>
          <a:xfrm>
            <a:off x="709200" y="4859280"/>
            <a:ext cx="5681880" cy="4603679"/>
          </a:xfrm>
          <a:prstGeom prst="rect">
            <a:avLst/>
          </a:prstGeom>
          <a:noFill/>
          <a:ln>
            <a:noFill/>
          </a:ln>
        </p:spPr>
        <p:txBody>
          <a:bodyPr vert="horz" wrap="none" lIns="90000" tIns="46800" rIns="90000" bIns="46800" anchor="ctr" anchorCtr="0" compatLnSpc="1">
            <a:noAutofit/>
          </a:bodyPr>
          <a:lstStyle/>
          <a:p>
            <a:pPr marL="0" marR="0" lvl="0" indent="0" algn="l" rtl="0" hangingPunct="0">
              <a:lnSpc>
                <a:spcPct val="100000"/>
              </a:lnSpc>
              <a:spcBef>
                <a:spcPts val="448"/>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endParaRPr lang="ru-RU" sz="1200" b="0" i="0" u="none" strike="noStrike" cap="none" baseline="0">
              <a:ln>
                <a:noFill/>
              </a:ln>
              <a:solidFill>
                <a:srgbClr val="000000"/>
              </a:solidFill>
              <a:latin typeface="Times New Roman" pitchFamily="18"/>
              <a:ea typeface="Microsoft YaHei" pitchFamily="2"/>
              <a:cs typeface="Mangal" pitchFamily="2"/>
            </a:endParaRPr>
          </a:p>
        </p:txBody>
      </p:sp>
    </p:spTree>
    <p:extLst>
      <p:ext uri="{BB962C8B-B14F-4D97-AF65-F5344CB8AC3E}">
        <p14:creationId xmlns:p14="http://schemas.microsoft.com/office/powerpoint/2010/main" val="177537178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noResize="1"/>
          </p:cNvSpPr>
          <p:nvPr>
            <p:ph type="sldImg"/>
          </p:nvPr>
        </p:nvSpPr>
        <p:spPr>
          <a:xfrm>
            <a:off x="142875" y="777875"/>
            <a:ext cx="6815138" cy="3835400"/>
          </a:xfrm>
          <a:solidFill>
            <a:srgbClr val="729FCF"/>
          </a:solidFill>
          <a:ln w="25400">
            <a:solidFill>
              <a:srgbClr val="3465A4"/>
            </a:solidFill>
            <a:prstDash val="solid"/>
          </a:ln>
        </p:spPr>
      </p:sp>
      <p:sp>
        <p:nvSpPr>
          <p:cNvPr id="3" name="TextBox 2"/>
          <p:cNvSpPr txBox="1"/>
          <p:nvPr/>
        </p:nvSpPr>
        <p:spPr>
          <a:xfrm>
            <a:off x="709200" y="4859280"/>
            <a:ext cx="5681880" cy="4603679"/>
          </a:xfrm>
          <a:prstGeom prst="rect">
            <a:avLst/>
          </a:prstGeom>
          <a:noFill/>
          <a:ln>
            <a:noFill/>
          </a:ln>
        </p:spPr>
        <p:txBody>
          <a:bodyPr vert="horz" wrap="none" lIns="90000" tIns="46800" rIns="90000" bIns="46800" anchor="ctr" anchorCtr="0" compatLnSpc="1">
            <a:noAutofit/>
          </a:bodyPr>
          <a:lstStyle/>
          <a:p>
            <a:pPr marL="0" marR="0" lvl="0" indent="0" algn="l" rtl="0" hangingPunct="0">
              <a:lnSpc>
                <a:spcPct val="100000"/>
              </a:lnSpc>
              <a:spcBef>
                <a:spcPts val="448"/>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endParaRPr lang="ru-RU" sz="1200" b="0" i="0" u="none" strike="noStrike" cap="none" baseline="0">
              <a:ln>
                <a:noFill/>
              </a:ln>
              <a:solidFill>
                <a:srgbClr val="000000"/>
              </a:solidFill>
              <a:latin typeface="Times New Roman" pitchFamily="18"/>
              <a:ea typeface="Microsoft YaHei" pitchFamily="2"/>
              <a:cs typeface="Mangal" pitchFamily="2"/>
            </a:endParaRPr>
          </a:p>
        </p:txBody>
      </p:sp>
    </p:spTree>
    <p:extLst>
      <p:ext uri="{BB962C8B-B14F-4D97-AF65-F5344CB8AC3E}">
        <p14:creationId xmlns:p14="http://schemas.microsoft.com/office/powerpoint/2010/main" val="320987779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noResize="1"/>
          </p:cNvSpPr>
          <p:nvPr>
            <p:ph type="sldImg"/>
          </p:nvPr>
        </p:nvSpPr>
        <p:spPr>
          <a:xfrm>
            <a:off x="142875" y="777875"/>
            <a:ext cx="6815138" cy="3835400"/>
          </a:xfrm>
          <a:solidFill>
            <a:srgbClr val="729FCF"/>
          </a:solidFill>
          <a:ln w="25400">
            <a:solidFill>
              <a:srgbClr val="3465A4"/>
            </a:solidFill>
            <a:prstDash val="solid"/>
          </a:ln>
        </p:spPr>
      </p:sp>
      <p:sp>
        <p:nvSpPr>
          <p:cNvPr id="3" name="TextBox 2"/>
          <p:cNvSpPr txBox="1"/>
          <p:nvPr/>
        </p:nvSpPr>
        <p:spPr>
          <a:xfrm>
            <a:off x="709200" y="4859280"/>
            <a:ext cx="5681880" cy="4603679"/>
          </a:xfrm>
          <a:prstGeom prst="rect">
            <a:avLst/>
          </a:prstGeom>
          <a:noFill/>
          <a:ln>
            <a:noFill/>
          </a:ln>
        </p:spPr>
        <p:txBody>
          <a:bodyPr vert="horz" wrap="none" lIns="90000" tIns="46800" rIns="90000" bIns="46800" anchor="ctr" anchorCtr="0" compatLnSpc="1">
            <a:noAutofit/>
          </a:bodyPr>
          <a:lstStyle/>
          <a:p>
            <a:pPr marL="0" marR="0" lvl="0" indent="0" algn="l" rtl="0" hangingPunct="0">
              <a:lnSpc>
                <a:spcPct val="100000"/>
              </a:lnSpc>
              <a:spcBef>
                <a:spcPts val="448"/>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endParaRPr lang="ru-RU" sz="1200" b="0" i="0" u="none" strike="noStrike" cap="none" baseline="0">
              <a:ln>
                <a:noFill/>
              </a:ln>
              <a:solidFill>
                <a:srgbClr val="000000"/>
              </a:solidFill>
              <a:latin typeface="Times New Roman" pitchFamily="18"/>
              <a:ea typeface="Microsoft YaHei" pitchFamily="2"/>
              <a:cs typeface="Mangal" pitchFamily="2"/>
            </a:endParaRPr>
          </a:p>
        </p:txBody>
      </p:sp>
    </p:spTree>
    <p:extLst>
      <p:ext uri="{BB962C8B-B14F-4D97-AF65-F5344CB8AC3E}">
        <p14:creationId xmlns:p14="http://schemas.microsoft.com/office/powerpoint/2010/main" val="132510170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noResize="1"/>
          </p:cNvSpPr>
          <p:nvPr>
            <p:ph type="sldImg"/>
          </p:nvPr>
        </p:nvSpPr>
        <p:spPr>
          <a:xfrm>
            <a:off x="142875" y="777875"/>
            <a:ext cx="6815138" cy="3835400"/>
          </a:xfrm>
          <a:solidFill>
            <a:srgbClr val="729FCF"/>
          </a:solidFill>
          <a:ln w="25400">
            <a:solidFill>
              <a:srgbClr val="3465A4"/>
            </a:solidFill>
            <a:prstDash val="solid"/>
          </a:ln>
        </p:spPr>
      </p:sp>
      <p:sp>
        <p:nvSpPr>
          <p:cNvPr id="3" name="TextBox 2"/>
          <p:cNvSpPr txBox="1"/>
          <p:nvPr/>
        </p:nvSpPr>
        <p:spPr>
          <a:xfrm>
            <a:off x="709200" y="4859280"/>
            <a:ext cx="5681880" cy="4603679"/>
          </a:xfrm>
          <a:prstGeom prst="rect">
            <a:avLst/>
          </a:prstGeom>
          <a:noFill/>
          <a:ln>
            <a:noFill/>
          </a:ln>
        </p:spPr>
        <p:txBody>
          <a:bodyPr vert="horz" wrap="none" lIns="90000" tIns="46800" rIns="90000" bIns="46800" anchor="ctr" anchorCtr="0" compatLnSpc="1">
            <a:noAutofit/>
          </a:bodyPr>
          <a:lstStyle/>
          <a:p>
            <a:pPr marL="0" marR="0" lvl="0" indent="0" algn="l" rtl="0" hangingPunct="0">
              <a:lnSpc>
                <a:spcPct val="100000"/>
              </a:lnSpc>
              <a:spcBef>
                <a:spcPts val="448"/>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endParaRPr lang="ru-RU" sz="1200" b="0" i="0" u="none" strike="noStrike" cap="none" baseline="0">
              <a:ln>
                <a:noFill/>
              </a:ln>
              <a:solidFill>
                <a:srgbClr val="000000"/>
              </a:solidFill>
              <a:latin typeface="Times New Roman" pitchFamily="18"/>
              <a:ea typeface="Microsoft YaHei" pitchFamily="2"/>
              <a:cs typeface="Mangal" pitchFamily="2"/>
            </a:endParaRPr>
          </a:p>
        </p:txBody>
      </p:sp>
    </p:spTree>
    <p:extLst>
      <p:ext uri="{BB962C8B-B14F-4D97-AF65-F5344CB8AC3E}">
        <p14:creationId xmlns:p14="http://schemas.microsoft.com/office/powerpoint/2010/main" val="390355668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noResize="1"/>
          </p:cNvSpPr>
          <p:nvPr>
            <p:ph type="sldImg"/>
          </p:nvPr>
        </p:nvSpPr>
        <p:spPr>
          <a:xfrm>
            <a:off x="142875" y="777875"/>
            <a:ext cx="6815138" cy="3835400"/>
          </a:xfrm>
          <a:solidFill>
            <a:srgbClr val="729FCF"/>
          </a:solidFill>
          <a:ln w="25400">
            <a:solidFill>
              <a:srgbClr val="3465A4"/>
            </a:solidFill>
            <a:prstDash val="solid"/>
          </a:ln>
        </p:spPr>
      </p:sp>
      <p:sp>
        <p:nvSpPr>
          <p:cNvPr id="3" name="TextBox 2"/>
          <p:cNvSpPr txBox="1"/>
          <p:nvPr/>
        </p:nvSpPr>
        <p:spPr>
          <a:xfrm>
            <a:off x="709200" y="4859280"/>
            <a:ext cx="5681880" cy="4603679"/>
          </a:xfrm>
          <a:prstGeom prst="rect">
            <a:avLst/>
          </a:prstGeom>
          <a:noFill/>
          <a:ln>
            <a:noFill/>
          </a:ln>
        </p:spPr>
        <p:txBody>
          <a:bodyPr vert="horz" wrap="none" lIns="90000" tIns="46800" rIns="90000" bIns="46800" anchor="ctr" anchorCtr="0" compatLnSpc="1">
            <a:noAutofit/>
          </a:bodyPr>
          <a:lstStyle/>
          <a:p>
            <a:pPr marL="0" marR="0" lvl="0" indent="0" algn="l" rtl="0" hangingPunct="0">
              <a:lnSpc>
                <a:spcPct val="100000"/>
              </a:lnSpc>
              <a:spcBef>
                <a:spcPts val="448"/>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endParaRPr lang="ru-RU" sz="1200" b="0" i="0" u="none" strike="noStrike" cap="none" baseline="0">
              <a:ln>
                <a:noFill/>
              </a:ln>
              <a:solidFill>
                <a:srgbClr val="000000"/>
              </a:solidFill>
              <a:latin typeface="Times New Roman" pitchFamily="18"/>
              <a:ea typeface="Microsoft YaHei" pitchFamily="2"/>
              <a:cs typeface="Mangal" pitchFamily="2"/>
            </a:endParaRPr>
          </a:p>
        </p:txBody>
      </p:sp>
    </p:spTree>
    <p:extLst>
      <p:ext uri="{BB962C8B-B14F-4D97-AF65-F5344CB8AC3E}">
        <p14:creationId xmlns:p14="http://schemas.microsoft.com/office/powerpoint/2010/main" val="111127410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noResize="1"/>
          </p:cNvSpPr>
          <p:nvPr>
            <p:ph type="sldImg"/>
          </p:nvPr>
        </p:nvSpPr>
        <p:spPr>
          <a:xfrm>
            <a:off x="142875" y="777875"/>
            <a:ext cx="6815138" cy="3835400"/>
          </a:xfrm>
          <a:solidFill>
            <a:srgbClr val="729FCF"/>
          </a:solidFill>
          <a:ln w="25400">
            <a:solidFill>
              <a:srgbClr val="3465A4"/>
            </a:solidFill>
            <a:prstDash val="solid"/>
          </a:ln>
        </p:spPr>
      </p:sp>
      <p:sp>
        <p:nvSpPr>
          <p:cNvPr id="3" name="TextBox 2"/>
          <p:cNvSpPr txBox="1"/>
          <p:nvPr/>
        </p:nvSpPr>
        <p:spPr>
          <a:xfrm>
            <a:off x="709200" y="4859280"/>
            <a:ext cx="5681880" cy="4603679"/>
          </a:xfrm>
          <a:prstGeom prst="rect">
            <a:avLst/>
          </a:prstGeom>
          <a:noFill/>
          <a:ln>
            <a:noFill/>
          </a:ln>
        </p:spPr>
        <p:txBody>
          <a:bodyPr vert="horz" wrap="none" lIns="90000" tIns="46800" rIns="90000" bIns="46800" anchor="ctr" anchorCtr="0" compatLnSpc="1">
            <a:noAutofit/>
          </a:bodyPr>
          <a:lstStyle/>
          <a:p>
            <a:pPr marL="0" marR="0" lvl="0" indent="0" algn="l" rtl="0" hangingPunct="0">
              <a:lnSpc>
                <a:spcPct val="100000"/>
              </a:lnSpc>
              <a:spcBef>
                <a:spcPts val="448"/>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endParaRPr lang="ru-RU" sz="1200" b="0" i="0" u="none" strike="noStrike" cap="none" baseline="0">
              <a:ln>
                <a:noFill/>
              </a:ln>
              <a:solidFill>
                <a:srgbClr val="000000"/>
              </a:solidFill>
              <a:latin typeface="Times New Roman" pitchFamily="18"/>
              <a:ea typeface="Microsoft YaHei" pitchFamily="2"/>
              <a:cs typeface="Mangal" pitchFamily="2"/>
            </a:endParaRPr>
          </a:p>
        </p:txBody>
      </p:sp>
    </p:spTree>
    <p:extLst>
      <p:ext uri="{BB962C8B-B14F-4D97-AF65-F5344CB8AC3E}">
        <p14:creationId xmlns:p14="http://schemas.microsoft.com/office/powerpoint/2010/main" val="166036865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noResize="1"/>
          </p:cNvSpPr>
          <p:nvPr>
            <p:ph type="sldImg"/>
          </p:nvPr>
        </p:nvSpPr>
        <p:spPr>
          <a:xfrm>
            <a:off x="142875" y="777875"/>
            <a:ext cx="6815138" cy="3835400"/>
          </a:xfrm>
          <a:solidFill>
            <a:srgbClr val="729FCF"/>
          </a:solidFill>
          <a:ln w="25400">
            <a:solidFill>
              <a:srgbClr val="3465A4"/>
            </a:solidFill>
            <a:prstDash val="solid"/>
          </a:ln>
        </p:spPr>
      </p:sp>
      <p:sp>
        <p:nvSpPr>
          <p:cNvPr id="3" name="TextBox 2"/>
          <p:cNvSpPr txBox="1"/>
          <p:nvPr/>
        </p:nvSpPr>
        <p:spPr>
          <a:xfrm>
            <a:off x="709200" y="4859280"/>
            <a:ext cx="5681880" cy="4603679"/>
          </a:xfrm>
          <a:prstGeom prst="rect">
            <a:avLst/>
          </a:prstGeom>
          <a:noFill/>
          <a:ln>
            <a:noFill/>
          </a:ln>
        </p:spPr>
        <p:txBody>
          <a:bodyPr vert="horz" wrap="none" lIns="90000" tIns="46800" rIns="90000" bIns="46800" anchor="ctr" anchorCtr="0" compatLnSpc="1">
            <a:noAutofit/>
          </a:bodyPr>
          <a:lstStyle/>
          <a:p>
            <a:pPr marL="0" marR="0" lvl="0" indent="0" algn="l" rtl="0" hangingPunct="0">
              <a:lnSpc>
                <a:spcPct val="100000"/>
              </a:lnSpc>
              <a:spcBef>
                <a:spcPts val="448"/>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endParaRPr lang="ru-RU" sz="1200" b="0" i="0" u="none" strike="noStrike" cap="none" baseline="0">
              <a:ln>
                <a:noFill/>
              </a:ln>
              <a:solidFill>
                <a:srgbClr val="000000"/>
              </a:solidFill>
              <a:latin typeface="Times New Roman" pitchFamily="18"/>
              <a:ea typeface="Microsoft YaHei" pitchFamily="2"/>
              <a:cs typeface="Mangal" pitchFamily="2"/>
            </a:endParaRPr>
          </a:p>
        </p:txBody>
      </p:sp>
    </p:spTree>
    <p:extLst>
      <p:ext uri="{BB962C8B-B14F-4D97-AF65-F5344CB8AC3E}">
        <p14:creationId xmlns:p14="http://schemas.microsoft.com/office/powerpoint/2010/main" val="54422493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noResize="1"/>
          </p:cNvSpPr>
          <p:nvPr>
            <p:ph type="sldImg"/>
          </p:nvPr>
        </p:nvSpPr>
        <p:spPr>
          <a:xfrm>
            <a:off x="142875" y="777875"/>
            <a:ext cx="6815138" cy="3835400"/>
          </a:xfrm>
          <a:solidFill>
            <a:srgbClr val="729FCF"/>
          </a:solidFill>
          <a:ln w="25400">
            <a:solidFill>
              <a:srgbClr val="3465A4"/>
            </a:solidFill>
            <a:prstDash val="solid"/>
          </a:ln>
        </p:spPr>
      </p:sp>
      <p:sp>
        <p:nvSpPr>
          <p:cNvPr id="3" name="TextBox 2"/>
          <p:cNvSpPr txBox="1"/>
          <p:nvPr/>
        </p:nvSpPr>
        <p:spPr>
          <a:xfrm>
            <a:off x="709200" y="4859280"/>
            <a:ext cx="5681880" cy="4603679"/>
          </a:xfrm>
          <a:prstGeom prst="rect">
            <a:avLst/>
          </a:prstGeom>
          <a:noFill/>
          <a:ln>
            <a:noFill/>
          </a:ln>
        </p:spPr>
        <p:txBody>
          <a:bodyPr vert="horz" wrap="none" lIns="90000" tIns="46800" rIns="90000" bIns="46800" anchor="ctr" anchorCtr="0" compatLnSpc="1">
            <a:noAutofit/>
          </a:bodyPr>
          <a:lstStyle/>
          <a:p>
            <a:pPr marL="0" marR="0" lvl="0" indent="0" algn="l" rtl="0" hangingPunct="0">
              <a:lnSpc>
                <a:spcPct val="100000"/>
              </a:lnSpc>
              <a:spcBef>
                <a:spcPts val="448"/>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endParaRPr lang="ru-RU" sz="1200" b="0" i="0" u="none" strike="noStrike" cap="none" baseline="0">
              <a:ln>
                <a:noFill/>
              </a:ln>
              <a:solidFill>
                <a:srgbClr val="000000"/>
              </a:solidFill>
              <a:latin typeface="Times New Roman" pitchFamily="18"/>
              <a:ea typeface="Microsoft YaHei" pitchFamily="2"/>
              <a:cs typeface="Mangal" pitchFamily="2"/>
            </a:endParaRPr>
          </a:p>
        </p:txBody>
      </p:sp>
    </p:spTree>
    <p:extLst>
      <p:ext uri="{BB962C8B-B14F-4D97-AF65-F5344CB8AC3E}">
        <p14:creationId xmlns:p14="http://schemas.microsoft.com/office/powerpoint/2010/main" val="134656483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noResize="1"/>
          </p:cNvSpPr>
          <p:nvPr>
            <p:ph type="sldImg"/>
          </p:nvPr>
        </p:nvSpPr>
        <p:spPr>
          <a:xfrm>
            <a:off x="142875" y="777875"/>
            <a:ext cx="6815138" cy="3835400"/>
          </a:xfrm>
          <a:solidFill>
            <a:srgbClr val="729FCF"/>
          </a:solidFill>
          <a:ln w="25400">
            <a:solidFill>
              <a:srgbClr val="3465A4"/>
            </a:solidFill>
            <a:prstDash val="solid"/>
          </a:ln>
        </p:spPr>
      </p:sp>
      <p:sp>
        <p:nvSpPr>
          <p:cNvPr id="3" name="TextBox 2"/>
          <p:cNvSpPr txBox="1"/>
          <p:nvPr/>
        </p:nvSpPr>
        <p:spPr>
          <a:xfrm>
            <a:off x="709200" y="4859280"/>
            <a:ext cx="5681880" cy="4603679"/>
          </a:xfrm>
          <a:prstGeom prst="rect">
            <a:avLst/>
          </a:prstGeom>
          <a:noFill/>
          <a:ln>
            <a:noFill/>
          </a:ln>
        </p:spPr>
        <p:txBody>
          <a:bodyPr vert="horz" wrap="none" lIns="90000" tIns="46800" rIns="90000" bIns="46800" anchor="ctr" anchorCtr="0" compatLnSpc="1">
            <a:noAutofit/>
          </a:bodyPr>
          <a:lstStyle/>
          <a:p>
            <a:pPr marL="0" marR="0" lvl="0" indent="0" algn="l" rtl="0" hangingPunct="0">
              <a:lnSpc>
                <a:spcPct val="100000"/>
              </a:lnSpc>
              <a:spcBef>
                <a:spcPts val="448"/>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endParaRPr lang="ru-RU" sz="1200" b="0" i="0" u="none" strike="noStrike" cap="none" baseline="0">
              <a:ln>
                <a:noFill/>
              </a:ln>
              <a:solidFill>
                <a:srgbClr val="000000"/>
              </a:solidFill>
              <a:latin typeface="Times New Roman" pitchFamily="18"/>
              <a:ea typeface="Microsoft YaHei" pitchFamily="2"/>
              <a:cs typeface="Mangal" pitchFamily="2"/>
            </a:endParaRPr>
          </a:p>
        </p:txBody>
      </p:sp>
    </p:spTree>
    <p:extLst>
      <p:ext uri="{BB962C8B-B14F-4D97-AF65-F5344CB8AC3E}">
        <p14:creationId xmlns:p14="http://schemas.microsoft.com/office/powerpoint/2010/main" val="189617885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noResize="1"/>
          </p:cNvSpPr>
          <p:nvPr>
            <p:ph type="sldImg"/>
          </p:nvPr>
        </p:nvSpPr>
        <p:spPr>
          <a:xfrm>
            <a:off x="-17075150" y="-11796713"/>
            <a:ext cx="22352000" cy="12574588"/>
          </a:xfrm>
          <a:solidFill>
            <a:srgbClr val="729FCF"/>
          </a:solidFill>
          <a:ln w="25400">
            <a:solidFill>
              <a:srgbClr val="3465A4"/>
            </a:solidFill>
            <a:prstDash val="solid"/>
          </a:ln>
        </p:spPr>
      </p:sp>
      <p:sp>
        <p:nvSpPr>
          <p:cNvPr id="3" name="Заметки 2"/>
          <p:cNvSpPr txBox="1">
            <a:spLocks noGrp="1"/>
          </p:cNvSpPr>
          <p:nvPr>
            <p:ph type="body" sz="quarter" idx="1"/>
          </p:nvPr>
        </p:nvSpPr>
        <p:spPr/>
        <p:txBody>
          <a:bodyPr/>
          <a:lstStyle/>
          <a:p>
            <a:endParaRPr lang="ru-RU"/>
          </a:p>
        </p:txBody>
      </p:sp>
    </p:spTree>
    <p:extLst>
      <p:ext uri="{BB962C8B-B14F-4D97-AF65-F5344CB8AC3E}">
        <p14:creationId xmlns:p14="http://schemas.microsoft.com/office/powerpoint/2010/main" val="181513677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noResize="1"/>
          </p:cNvSpPr>
          <p:nvPr>
            <p:ph type="sldImg"/>
          </p:nvPr>
        </p:nvSpPr>
        <p:spPr>
          <a:xfrm>
            <a:off x="142875" y="777875"/>
            <a:ext cx="6815138" cy="3835400"/>
          </a:xfrm>
          <a:solidFill>
            <a:srgbClr val="729FCF"/>
          </a:solidFill>
          <a:ln w="25400">
            <a:solidFill>
              <a:srgbClr val="3465A4"/>
            </a:solidFill>
            <a:prstDash val="solid"/>
          </a:ln>
        </p:spPr>
      </p:sp>
      <p:sp>
        <p:nvSpPr>
          <p:cNvPr id="3" name="TextBox 2"/>
          <p:cNvSpPr txBox="1"/>
          <p:nvPr/>
        </p:nvSpPr>
        <p:spPr>
          <a:xfrm>
            <a:off x="709200" y="4859280"/>
            <a:ext cx="5681880" cy="4603679"/>
          </a:xfrm>
          <a:prstGeom prst="rect">
            <a:avLst/>
          </a:prstGeom>
          <a:noFill/>
          <a:ln>
            <a:noFill/>
          </a:ln>
        </p:spPr>
        <p:txBody>
          <a:bodyPr vert="horz" wrap="none" lIns="90000" tIns="46800" rIns="90000" bIns="46800" anchor="ctr" anchorCtr="0" compatLnSpc="1">
            <a:noAutofit/>
          </a:bodyPr>
          <a:lstStyle/>
          <a:p>
            <a:pPr marL="0" marR="0" lvl="0" indent="0" algn="l" rtl="0" hangingPunct="0">
              <a:lnSpc>
                <a:spcPct val="100000"/>
              </a:lnSpc>
              <a:spcBef>
                <a:spcPts val="448"/>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endParaRPr lang="ru-RU" sz="1200" b="0" i="0" u="none" strike="noStrike" cap="none" baseline="0">
              <a:ln>
                <a:noFill/>
              </a:ln>
              <a:solidFill>
                <a:srgbClr val="000000"/>
              </a:solidFill>
              <a:latin typeface="Times New Roman" pitchFamily="18"/>
              <a:ea typeface="Microsoft YaHei" pitchFamily="2"/>
              <a:cs typeface="Mangal" pitchFamily="2"/>
            </a:endParaRPr>
          </a:p>
        </p:txBody>
      </p:sp>
    </p:spTree>
    <p:extLst>
      <p:ext uri="{BB962C8B-B14F-4D97-AF65-F5344CB8AC3E}">
        <p14:creationId xmlns:p14="http://schemas.microsoft.com/office/powerpoint/2010/main" val="181135510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noResize="1"/>
          </p:cNvSpPr>
          <p:nvPr>
            <p:ph type="sldImg"/>
          </p:nvPr>
        </p:nvSpPr>
        <p:spPr>
          <a:xfrm>
            <a:off x="142875" y="777875"/>
            <a:ext cx="6815138" cy="3835400"/>
          </a:xfrm>
          <a:solidFill>
            <a:srgbClr val="729FCF"/>
          </a:solidFill>
          <a:ln w="25400">
            <a:solidFill>
              <a:srgbClr val="3465A4"/>
            </a:solidFill>
            <a:prstDash val="solid"/>
          </a:ln>
        </p:spPr>
      </p:sp>
      <p:sp>
        <p:nvSpPr>
          <p:cNvPr id="3" name="TextBox 2"/>
          <p:cNvSpPr txBox="1"/>
          <p:nvPr/>
        </p:nvSpPr>
        <p:spPr>
          <a:xfrm>
            <a:off x="709200" y="4859280"/>
            <a:ext cx="5681880" cy="4603679"/>
          </a:xfrm>
          <a:prstGeom prst="rect">
            <a:avLst/>
          </a:prstGeom>
          <a:noFill/>
          <a:ln>
            <a:noFill/>
          </a:ln>
        </p:spPr>
        <p:txBody>
          <a:bodyPr vert="horz" wrap="none" lIns="90000" tIns="46800" rIns="90000" bIns="46800" anchor="ctr" anchorCtr="0" compatLnSpc="1">
            <a:noAutofit/>
          </a:bodyPr>
          <a:lstStyle/>
          <a:p>
            <a:pPr marL="0" marR="0" lvl="0" indent="0" algn="l" rtl="0" hangingPunct="0">
              <a:lnSpc>
                <a:spcPct val="100000"/>
              </a:lnSpc>
              <a:spcBef>
                <a:spcPts val="448"/>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endParaRPr lang="ru-RU" sz="1200" b="0" i="0" u="none" strike="noStrike" cap="none" baseline="0">
              <a:ln>
                <a:noFill/>
              </a:ln>
              <a:solidFill>
                <a:srgbClr val="000000"/>
              </a:solidFill>
              <a:latin typeface="Times New Roman" pitchFamily="18"/>
              <a:ea typeface="Microsoft YaHei" pitchFamily="2"/>
              <a:cs typeface="Mangal" pitchFamily="2"/>
            </a:endParaRPr>
          </a:p>
        </p:txBody>
      </p:sp>
    </p:spTree>
    <p:extLst>
      <p:ext uri="{BB962C8B-B14F-4D97-AF65-F5344CB8AC3E}">
        <p14:creationId xmlns:p14="http://schemas.microsoft.com/office/powerpoint/2010/main" val="341482876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noResize="1"/>
          </p:cNvSpPr>
          <p:nvPr>
            <p:ph type="sldImg"/>
          </p:nvPr>
        </p:nvSpPr>
        <p:spPr>
          <a:xfrm>
            <a:off x="142875" y="777875"/>
            <a:ext cx="6815138" cy="3835400"/>
          </a:xfrm>
          <a:solidFill>
            <a:srgbClr val="729FCF"/>
          </a:solidFill>
          <a:ln w="25400">
            <a:solidFill>
              <a:srgbClr val="3465A4"/>
            </a:solidFill>
            <a:prstDash val="solid"/>
          </a:ln>
        </p:spPr>
      </p:sp>
      <p:sp>
        <p:nvSpPr>
          <p:cNvPr id="3" name="TextBox 2"/>
          <p:cNvSpPr txBox="1"/>
          <p:nvPr/>
        </p:nvSpPr>
        <p:spPr>
          <a:xfrm>
            <a:off x="709200" y="4859280"/>
            <a:ext cx="5681880" cy="4603679"/>
          </a:xfrm>
          <a:prstGeom prst="rect">
            <a:avLst/>
          </a:prstGeom>
          <a:noFill/>
          <a:ln>
            <a:noFill/>
          </a:ln>
        </p:spPr>
        <p:txBody>
          <a:bodyPr vert="horz" wrap="none" lIns="90000" tIns="46800" rIns="90000" bIns="46800" anchor="ctr" anchorCtr="0" compatLnSpc="1">
            <a:noAutofit/>
          </a:bodyPr>
          <a:lstStyle/>
          <a:p>
            <a:pPr marL="0" marR="0" lvl="0" indent="0" algn="l" rtl="0" hangingPunct="0">
              <a:lnSpc>
                <a:spcPct val="100000"/>
              </a:lnSpc>
              <a:spcBef>
                <a:spcPts val="448"/>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endParaRPr lang="ru-RU" sz="1200" b="0" i="0" u="none" strike="noStrike" cap="none" baseline="0">
              <a:ln>
                <a:noFill/>
              </a:ln>
              <a:solidFill>
                <a:srgbClr val="000000"/>
              </a:solidFill>
              <a:latin typeface="Times New Roman" pitchFamily="18"/>
              <a:ea typeface="Microsoft YaHei" pitchFamily="2"/>
              <a:cs typeface="Mangal" pitchFamily="2"/>
            </a:endParaRPr>
          </a:p>
        </p:txBody>
      </p:sp>
    </p:spTree>
    <p:extLst>
      <p:ext uri="{BB962C8B-B14F-4D97-AF65-F5344CB8AC3E}">
        <p14:creationId xmlns:p14="http://schemas.microsoft.com/office/powerpoint/2010/main" val="54641225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noResize="1"/>
          </p:cNvSpPr>
          <p:nvPr>
            <p:ph type="sldImg"/>
          </p:nvPr>
        </p:nvSpPr>
        <p:spPr>
          <a:xfrm>
            <a:off x="142875" y="777875"/>
            <a:ext cx="6815138" cy="3835400"/>
          </a:xfrm>
          <a:solidFill>
            <a:srgbClr val="729FCF"/>
          </a:solidFill>
          <a:ln w="25400">
            <a:solidFill>
              <a:srgbClr val="3465A4"/>
            </a:solidFill>
            <a:prstDash val="solid"/>
          </a:ln>
        </p:spPr>
      </p:sp>
      <p:sp>
        <p:nvSpPr>
          <p:cNvPr id="3" name="TextBox 2"/>
          <p:cNvSpPr txBox="1"/>
          <p:nvPr/>
        </p:nvSpPr>
        <p:spPr>
          <a:xfrm>
            <a:off x="709200" y="4859280"/>
            <a:ext cx="5681880" cy="4603679"/>
          </a:xfrm>
          <a:prstGeom prst="rect">
            <a:avLst/>
          </a:prstGeom>
          <a:noFill/>
          <a:ln>
            <a:noFill/>
          </a:ln>
        </p:spPr>
        <p:txBody>
          <a:bodyPr vert="horz" wrap="none" lIns="90000" tIns="46800" rIns="90000" bIns="46800" anchor="ctr" anchorCtr="0" compatLnSpc="1">
            <a:noAutofit/>
          </a:bodyPr>
          <a:lstStyle/>
          <a:p>
            <a:pPr marL="0" marR="0" lvl="0" indent="0" algn="l" rtl="0" hangingPunct="0">
              <a:lnSpc>
                <a:spcPct val="100000"/>
              </a:lnSpc>
              <a:spcBef>
                <a:spcPts val="448"/>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endParaRPr lang="ru-RU" sz="1200" b="0" i="0" u="none" strike="noStrike" cap="none" baseline="0">
              <a:ln>
                <a:noFill/>
              </a:ln>
              <a:solidFill>
                <a:srgbClr val="000000"/>
              </a:solidFill>
              <a:latin typeface="Times New Roman" pitchFamily="18"/>
              <a:ea typeface="Microsoft YaHei" pitchFamily="2"/>
              <a:cs typeface="Mangal" pitchFamily="2"/>
            </a:endParaRPr>
          </a:p>
        </p:txBody>
      </p:sp>
    </p:spTree>
    <p:extLst>
      <p:ext uri="{BB962C8B-B14F-4D97-AF65-F5344CB8AC3E}">
        <p14:creationId xmlns:p14="http://schemas.microsoft.com/office/powerpoint/2010/main" val="331343200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noResize="1"/>
          </p:cNvSpPr>
          <p:nvPr>
            <p:ph type="sldImg"/>
          </p:nvPr>
        </p:nvSpPr>
        <p:spPr>
          <a:xfrm>
            <a:off x="142875" y="777875"/>
            <a:ext cx="6815138" cy="3835400"/>
          </a:xfrm>
          <a:solidFill>
            <a:srgbClr val="729FCF"/>
          </a:solidFill>
          <a:ln w="25400">
            <a:solidFill>
              <a:srgbClr val="3465A4"/>
            </a:solidFill>
            <a:prstDash val="solid"/>
          </a:ln>
        </p:spPr>
      </p:sp>
      <p:sp>
        <p:nvSpPr>
          <p:cNvPr id="3" name="TextBox 2"/>
          <p:cNvSpPr txBox="1"/>
          <p:nvPr/>
        </p:nvSpPr>
        <p:spPr>
          <a:xfrm>
            <a:off x="709200" y="4859280"/>
            <a:ext cx="5681880" cy="4603679"/>
          </a:xfrm>
          <a:prstGeom prst="rect">
            <a:avLst/>
          </a:prstGeom>
          <a:noFill/>
          <a:ln>
            <a:noFill/>
          </a:ln>
        </p:spPr>
        <p:txBody>
          <a:bodyPr vert="horz" wrap="none" lIns="90000" tIns="46800" rIns="90000" bIns="46800" anchor="ctr" anchorCtr="0" compatLnSpc="1">
            <a:noAutofit/>
          </a:bodyPr>
          <a:lstStyle/>
          <a:p>
            <a:pPr marL="0" marR="0" lvl="0" indent="0" algn="l" rtl="0" hangingPunct="0">
              <a:lnSpc>
                <a:spcPct val="100000"/>
              </a:lnSpc>
              <a:spcBef>
                <a:spcPts val="448"/>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endParaRPr lang="ru-RU" sz="1200" b="0" i="0" u="none" strike="noStrike" cap="none" baseline="0">
              <a:ln>
                <a:noFill/>
              </a:ln>
              <a:solidFill>
                <a:srgbClr val="000000"/>
              </a:solidFill>
              <a:latin typeface="Times New Roman" pitchFamily="18"/>
              <a:ea typeface="Microsoft YaHei" pitchFamily="2"/>
              <a:cs typeface="Mangal" pitchFamily="2"/>
            </a:endParaRPr>
          </a:p>
        </p:txBody>
      </p:sp>
    </p:spTree>
    <p:extLst>
      <p:ext uri="{BB962C8B-B14F-4D97-AF65-F5344CB8AC3E}">
        <p14:creationId xmlns:p14="http://schemas.microsoft.com/office/powerpoint/2010/main" val="298597234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noResize="1"/>
          </p:cNvSpPr>
          <p:nvPr>
            <p:ph type="sldImg"/>
          </p:nvPr>
        </p:nvSpPr>
        <p:spPr>
          <a:xfrm>
            <a:off x="142875" y="777875"/>
            <a:ext cx="6815138" cy="3835400"/>
          </a:xfrm>
          <a:solidFill>
            <a:srgbClr val="729FCF"/>
          </a:solidFill>
          <a:ln w="25400">
            <a:solidFill>
              <a:srgbClr val="3465A4"/>
            </a:solidFill>
            <a:prstDash val="solid"/>
          </a:ln>
        </p:spPr>
      </p:sp>
      <p:sp>
        <p:nvSpPr>
          <p:cNvPr id="3" name="TextBox 2"/>
          <p:cNvSpPr txBox="1"/>
          <p:nvPr/>
        </p:nvSpPr>
        <p:spPr>
          <a:xfrm>
            <a:off x="709200" y="4859280"/>
            <a:ext cx="5681880" cy="4603679"/>
          </a:xfrm>
          <a:prstGeom prst="rect">
            <a:avLst/>
          </a:prstGeom>
          <a:noFill/>
          <a:ln>
            <a:noFill/>
          </a:ln>
        </p:spPr>
        <p:txBody>
          <a:bodyPr vert="horz" wrap="none" lIns="90000" tIns="46800" rIns="90000" bIns="46800" anchor="ctr" anchorCtr="0" compatLnSpc="1">
            <a:noAutofit/>
          </a:bodyPr>
          <a:lstStyle/>
          <a:p>
            <a:pPr marL="0" marR="0" lvl="0" indent="0" algn="l" rtl="0" hangingPunct="0">
              <a:lnSpc>
                <a:spcPct val="100000"/>
              </a:lnSpc>
              <a:spcBef>
                <a:spcPts val="448"/>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endParaRPr lang="ru-RU" sz="1200" b="0" i="0" u="none" strike="noStrike" cap="none" baseline="0">
              <a:ln>
                <a:noFill/>
              </a:ln>
              <a:solidFill>
                <a:srgbClr val="000000"/>
              </a:solidFill>
              <a:latin typeface="Times New Roman" pitchFamily="18"/>
              <a:ea typeface="Microsoft YaHei" pitchFamily="2"/>
              <a:cs typeface="Mangal" pitchFamily="2"/>
            </a:endParaRPr>
          </a:p>
        </p:txBody>
      </p:sp>
    </p:spTree>
    <p:extLst>
      <p:ext uri="{BB962C8B-B14F-4D97-AF65-F5344CB8AC3E}">
        <p14:creationId xmlns:p14="http://schemas.microsoft.com/office/powerpoint/2010/main" val="153256636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noResize="1"/>
          </p:cNvSpPr>
          <p:nvPr>
            <p:ph type="sldImg"/>
          </p:nvPr>
        </p:nvSpPr>
        <p:spPr>
          <a:xfrm>
            <a:off x="142875" y="777875"/>
            <a:ext cx="6815138" cy="3835400"/>
          </a:xfrm>
          <a:solidFill>
            <a:srgbClr val="729FCF"/>
          </a:solidFill>
          <a:ln w="25400">
            <a:solidFill>
              <a:srgbClr val="3465A4"/>
            </a:solidFill>
            <a:prstDash val="solid"/>
          </a:ln>
        </p:spPr>
      </p:sp>
      <p:sp>
        <p:nvSpPr>
          <p:cNvPr id="3" name="TextBox 2"/>
          <p:cNvSpPr txBox="1"/>
          <p:nvPr/>
        </p:nvSpPr>
        <p:spPr>
          <a:xfrm>
            <a:off x="709200" y="4859280"/>
            <a:ext cx="5681880" cy="4603679"/>
          </a:xfrm>
          <a:prstGeom prst="rect">
            <a:avLst/>
          </a:prstGeom>
          <a:noFill/>
          <a:ln>
            <a:noFill/>
          </a:ln>
        </p:spPr>
        <p:txBody>
          <a:bodyPr vert="horz" wrap="none" lIns="90000" tIns="46800" rIns="90000" bIns="46800" anchor="ctr" anchorCtr="0" compatLnSpc="1">
            <a:noAutofit/>
          </a:bodyPr>
          <a:lstStyle/>
          <a:p>
            <a:pPr marL="0" marR="0" lvl="0" indent="0" algn="l" rtl="0" hangingPunct="0">
              <a:lnSpc>
                <a:spcPct val="100000"/>
              </a:lnSpc>
              <a:spcBef>
                <a:spcPts val="448"/>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endParaRPr lang="ru-RU" sz="1200" b="0" i="0" u="none" strike="noStrike" cap="none" baseline="0">
              <a:ln>
                <a:noFill/>
              </a:ln>
              <a:solidFill>
                <a:srgbClr val="000000"/>
              </a:solidFill>
              <a:latin typeface="Times New Roman" pitchFamily="18"/>
              <a:ea typeface="Microsoft YaHei" pitchFamily="2"/>
              <a:cs typeface="Mangal" pitchFamily="2"/>
            </a:endParaRPr>
          </a:p>
        </p:txBody>
      </p:sp>
    </p:spTree>
    <p:extLst>
      <p:ext uri="{BB962C8B-B14F-4D97-AF65-F5344CB8AC3E}">
        <p14:creationId xmlns:p14="http://schemas.microsoft.com/office/powerpoint/2010/main" val="14498124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noResize="1"/>
          </p:cNvSpPr>
          <p:nvPr>
            <p:ph type="sldImg"/>
          </p:nvPr>
        </p:nvSpPr>
        <p:spPr>
          <a:xfrm>
            <a:off x="142875" y="777875"/>
            <a:ext cx="6815138" cy="3835400"/>
          </a:xfrm>
          <a:solidFill>
            <a:srgbClr val="729FCF"/>
          </a:solidFill>
          <a:ln w="25400">
            <a:solidFill>
              <a:srgbClr val="3465A4"/>
            </a:solidFill>
            <a:prstDash val="solid"/>
          </a:ln>
        </p:spPr>
      </p:sp>
      <p:sp>
        <p:nvSpPr>
          <p:cNvPr id="3" name="TextBox 2"/>
          <p:cNvSpPr txBox="1"/>
          <p:nvPr/>
        </p:nvSpPr>
        <p:spPr>
          <a:xfrm>
            <a:off x="709200" y="4859280"/>
            <a:ext cx="5681880" cy="4603679"/>
          </a:xfrm>
          <a:prstGeom prst="rect">
            <a:avLst/>
          </a:prstGeom>
          <a:noFill/>
          <a:ln>
            <a:noFill/>
          </a:ln>
        </p:spPr>
        <p:txBody>
          <a:bodyPr vert="horz" wrap="none" lIns="90000" tIns="46800" rIns="90000" bIns="46800" anchor="ctr" anchorCtr="0" compatLnSpc="1">
            <a:noAutofit/>
          </a:bodyPr>
          <a:lstStyle/>
          <a:p>
            <a:pPr marL="0" marR="0" lvl="0" indent="0" algn="l" rtl="0" hangingPunct="0">
              <a:lnSpc>
                <a:spcPct val="100000"/>
              </a:lnSpc>
              <a:spcBef>
                <a:spcPts val="448"/>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endParaRPr lang="ru-RU" sz="1200" b="0" i="0" u="none" strike="noStrike" cap="none" baseline="0">
              <a:ln>
                <a:noFill/>
              </a:ln>
              <a:solidFill>
                <a:srgbClr val="000000"/>
              </a:solidFill>
              <a:latin typeface="Times New Roman" pitchFamily="18"/>
              <a:ea typeface="Microsoft YaHei" pitchFamily="2"/>
              <a:cs typeface="Mangal" pitchFamily="2"/>
            </a:endParaRPr>
          </a:p>
        </p:txBody>
      </p:sp>
    </p:spTree>
    <p:extLst>
      <p:ext uri="{BB962C8B-B14F-4D97-AF65-F5344CB8AC3E}">
        <p14:creationId xmlns:p14="http://schemas.microsoft.com/office/powerpoint/2010/main" val="368215421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noResize="1"/>
          </p:cNvSpPr>
          <p:nvPr>
            <p:ph type="sldImg"/>
          </p:nvPr>
        </p:nvSpPr>
        <p:spPr>
          <a:xfrm>
            <a:off x="142875" y="777875"/>
            <a:ext cx="6815138" cy="3835400"/>
          </a:xfrm>
          <a:solidFill>
            <a:srgbClr val="729FCF"/>
          </a:solidFill>
          <a:ln w="25400">
            <a:solidFill>
              <a:srgbClr val="3465A4"/>
            </a:solidFill>
            <a:prstDash val="solid"/>
          </a:ln>
        </p:spPr>
      </p:sp>
      <p:sp>
        <p:nvSpPr>
          <p:cNvPr id="3" name="TextBox 2"/>
          <p:cNvSpPr txBox="1"/>
          <p:nvPr/>
        </p:nvSpPr>
        <p:spPr>
          <a:xfrm>
            <a:off x="709200" y="4859280"/>
            <a:ext cx="5681880" cy="4603679"/>
          </a:xfrm>
          <a:prstGeom prst="rect">
            <a:avLst/>
          </a:prstGeom>
          <a:noFill/>
          <a:ln>
            <a:noFill/>
          </a:ln>
        </p:spPr>
        <p:txBody>
          <a:bodyPr vert="horz" wrap="none" lIns="90000" tIns="46800" rIns="90000" bIns="46800" anchor="ctr" anchorCtr="0" compatLnSpc="1">
            <a:noAutofit/>
          </a:bodyPr>
          <a:lstStyle/>
          <a:p>
            <a:pPr marL="0" marR="0" lvl="0" indent="0" algn="l" rtl="0" hangingPunct="0">
              <a:lnSpc>
                <a:spcPct val="100000"/>
              </a:lnSpc>
              <a:spcBef>
                <a:spcPts val="448"/>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endParaRPr lang="ru-RU" sz="1200" b="0" i="0" u="none" strike="noStrike" cap="none" baseline="0">
              <a:ln>
                <a:noFill/>
              </a:ln>
              <a:solidFill>
                <a:srgbClr val="000000"/>
              </a:solidFill>
              <a:latin typeface="Times New Roman" pitchFamily="18"/>
              <a:ea typeface="Microsoft YaHei" pitchFamily="2"/>
              <a:cs typeface="Mangal" pitchFamily="2"/>
            </a:endParaRPr>
          </a:p>
        </p:txBody>
      </p:sp>
    </p:spTree>
    <p:extLst>
      <p:ext uri="{BB962C8B-B14F-4D97-AF65-F5344CB8AC3E}">
        <p14:creationId xmlns:p14="http://schemas.microsoft.com/office/powerpoint/2010/main" val="396105729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noResize="1"/>
          </p:cNvSpPr>
          <p:nvPr>
            <p:ph type="sldImg"/>
          </p:nvPr>
        </p:nvSpPr>
        <p:spPr>
          <a:xfrm>
            <a:off x="142875" y="777875"/>
            <a:ext cx="6815138" cy="3835400"/>
          </a:xfrm>
          <a:solidFill>
            <a:srgbClr val="729FCF"/>
          </a:solidFill>
          <a:ln w="25400">
            <a:solidFill>
              <a:srgbClr val="3465A4"/>
            </a:solidFill>
            <a:prstDash val="solid"/>
          </a:ln>
        </p:spPr>
      </p:sp>
      <p:sp>
        <p:nvSpPr>
          <p:cNvPr id="3" name="TextBox 2"/>
          <p:cNvSpPr txBox="1"/>
          <p:nvPr/>
        </p:nvSpPr>
        <p:spPr>
          <a:xfrm>
            <a:off x="709200" y="4859280"/>
            <a:ext cx="5681880" cy="4603679"/>
          </a:xfrm>
          <a:prstGeom prst="rect">
            <a:avLst/>
          </a:prstGeom>
          <a:noFill/>
          <a:ln>
            <a:noFill/>
          </a:ln>
        </p:spPr>
        <p:txBody>
          <a:bodyPr vert="horz" wrap="none" lIns="90000" tIns="46800" rIns="90000" bIns="46800" anchor="ctr" anchorCtr="0" compatLnSpc="1">
            <a:noAutofit/>
          </a:bodyPr>
          <a:lstStyle/>
          <a:p>
            <a:pPr marL="0" marR="0" lvl="0" indent="0" algn="l" rtl="0" hangingPunct="0">
              <a:lnSpc>
                <a:spcPct val="100000"/>
              </a:lnSpc>
              <a:spcBef>
                <a:spcPts val="448"/>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endParaRPr lang="ru-RU" sz="1200" b="0" i="0" u="none" strike="noStrike" cap="none" baseline="0">
              <a:ln>
                <a:noFill/>
              </a:ln>
              <a:solidFill>
                <a:srgbClr val="000000"/>
              </a:solidFill>
              <a:latin typeface="Times New Roman" pitchFamily="18"/>
              <a:ea typeface="Microsoft YaHei" pitchFamily="2"/>
              <a:cs typeface="Mangal" pitchFamily="2"/>
            </a:endParaRPr>
          </a:p>
        </p:txBody>
      </p:sp>
    </p:spTree>
    <p:extLst>
      <p:ext uri="{BB962C8B-B14F-4D97-AF65-F5344CB8AC3E}">
        <p14:creationId xmlns:p14="http://schemas.microsoft.com/office/powerpoint/2010/main" val="340473832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noResize="1"/>
          </p:cNvSpPr>
          <p:nvPr>
            <p:ph type="sldImg"/>
          </p:nvPr>
        </p:nvSpPr>
        <p:spPr>
          <a:xfrm>
            <a:off x="142875" y="777875"/>
            <a:ext cx="6815138" cy="3835400"/>
          </a:xfrm>
          <a:solidFill>
            <a:srgbClr val="729FCF"/>
          </a:solidFill>
          <a:ln w="25400">
            <a:solidFill>
              <a:srgbClr val="3465A4"/>
            </a:solidFill>
            <a:prstDash val="solid"/>
          </a:ln>
        </p:spPr>
      </p:sp>
      <p:sp>
        <p:nvSpPr>
          <p:cNvPr id="3" name="TextBox 2"/>
          <p:cNvSpPr txBox="1"/>
          <p:nvPr/>
        </p:nvSpPr>
        <p:spPr>
          <a:xfrm>
            <a:off x="709200" y="4859280"/>
            <a:ext cx="5681880" cy="4603679"/>
          </a:xfrm>
          <a:prstGeom prst="rect">
            <a:avLst/>
          </a:prstGeom>
          <a:noFill/>
          <a:ln>
            <a:noFill/>
          </a:ln>
        </p:spPr>
        <p:txBody>
          <a:bodyPr vert="horz" wrap="none" lIns="90000" tIns="46800" rIns="90000" bIns="46800" anchor="ctr" anchorCtr="0" compatLnSpc="1">
            <a:noAutofit/>
          </a:bodyPr>
          <a:lstStyle/>
          <a:p>
            <a:pPr marL="0" marR="0" lvl="0" indent="0" algn="l" rtl="0" hangingPunct="0">
              <a:lnSpc>
                <a:spcPct val="100000"/>
              </a:lnSpc>
              <a:spcBef>
                <a:spcPts val="448"/>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endParaRPr lang="ru-RU" sz="1200" b="0" i="0" u="none" strike="noStrike" cap="none" baseline="0">
              <a:ln>
                <a:noFill/>
              </a:ln>
              <a:solidFill>
                <a:srgbClr val="000000"/>
              </a:solidFill>
              <a:latin typeface="Times New Roman" pitchFamily="18"/>
              <a:ea typeface="Microsoft YaHei" pitchFamily="2"/>
              <a:cs typeface="Mangal" pitchFamily="2"/>
            </a:endParaRPr>
          </a:p>
        </p:txBody>
      </p:sp>
    </p:spTree>
    <p:extLst>
      <p:ext uri="{BB962C8B-B14F-4D97-AF65-F5344CB8AC3E}">
        <p14:creationId xmlns:p14="http://schemas.microsoft.com/office/powerpoint/2010/main" val="134299249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noResize="1"/>
          </p:cNvSpPr>
          <p:nvPr>
            <p:ph type="sldImg"/>
          </p:nvPr>
        </p:nvSpPr>
        <p:spPr>
          <a:xfrm>
            <a:off x="142875" y="777875"/>
            <a:ext cx="6815138" cy="3835400"/>
          </a:xfrm>
          <a:solidFill>
            <a:srgbClr val="729FCF"/>
          </a:solidFill>
          <a:ln w="25400">
            <a:solidFill>
              <a:srgbClr val="3465A4"/>
            </a:solidFill>
            <a:prstDash val="solid"/>
          </a:ln>
        </p:spPr>
      </p:sp>
      <p:sp>
        <p:nvSpPr>
          <p:cNvPr id="3" name="TextBox 2"/>
          <p:cNvSpPr txBox="1"/>
          <p:nvPr/>
        </p:nvSpPr>
        <p:spPr>
          <a:xfrm>
            <a:off x="709200" y="4859280"/>
            <a:ext cx="5681880" cy="4603679"/>
          </a:xfrm>
          <a:prstGeom prst="rect">
            <a:avLst/>
          </a:prstGeom>
          <a:noFill/>
          <a:ln>
            <a:noFill/>
          </a:ln>
        </p:spPr>
        <p:txBody>
          <a:bodyPr vert="horz" wrap="none" lIns="90000" tIns="46800" rIns="90000" bIns="46800" anchor="ctr" anchorCtr="0" compatLnSpc="1">
            <a:noAutofit/>
          </a:bodyPr>
          <a:lstStyle/>
          <a:p>
            <a:pPr marL="0" marR="0" lvl="0" indent="0" algn="l" rtl="0" hangingPunct="0">
              <a:lnSpc>
                <a:spcPct val="100000"/>
              </a:lnSpc>
              <a:spcBef>
                <a:spcPts val="448"/>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endParaRPr lang="ru-RU" sz="1200" b="0" i="0" u="none" strike="noStrike" cap="none" baseline="0">
              <a:ln>
                <a:noFill/>
              </a:ln>
              <a:solidFill>
                <a:srgbClr val="000000"/>
              </a:solidFill>
              <a:latin typeface="Times New Roman" pitchFamily="18"/>
              <a:ea typeface="Microsoft YaHei" pitchFamily="2"/>
              <a:cs typeface="Mangal" pitchFamily="2"/>
            </a:endParaRPr>
          </a:p>
        </p:txBody>
      </p:sp>
    </p:spTree>
    <p:extLst>
      <p:ext uri="{BB962C8B-B14F-4D97-AF65-F5344CB8AC3E}">
        <p14:creationId xmlns:p14="http://schemas.microsoft.com/office/powerpoint/2010/main" val="331002195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noResize="1"/>
          </p:cNvSpPr>
          <p:nvPr>
            <p:ph type="sldImg"/>
          </p:nvPr>
        </p:nvSpPr>
        <p:spPr>
          <a:xfrm>
            <a:off x="142875" y="777875"/>
            <a:ext cx="6815138" cy="3835400"/>
          </a:xfrm>
          <a:solidFill>
            <a:srgbClr val="729FCF"/>
          </a:solidFill>
          <a:ln w="25400">
            <a:solidFill>
              <a:srgbClr val="3465A4"/>
            </a:solidFill>
            <a:prstDash val="solid"/>
          </a:ln>
        </p:spPr>
      </p:sp>
      <p:sp>
        <p:nvSpPr>
          <p:cNvPr id="3" name="TextBox 2"/>
          <p:cNvSpPr txBox="1"/>
          <p:nvPr/>
        </p:nvSpPr>
        <p:spPr>
          <a:xfrm>
            <a:off x="709200" y="4859280"/>
            <a:ext cx="5681880" cy="4603679"/>
          </a:xfrm>
          <a:prstGeom prst="rect">
            <a:avLst/>
          </a:prstGeom>
          <a:noFill/>
          <a:ln>
            <a:noFill/>
          </a:ln>
        </p:spPr>
        <p:txBody>
          <a:bodyPr vert="horz" wrap="none" lIns="90000" tIns="46800" rIns="90000" bIns="46800" anchor="ctr" anchorCtr="0" compatLnSpc="1">
            <a:noAutofit/>
          </a:bodyPr>
          <a:lstStyle/>
          <a:p>
            <a:pPr marL="0" marR="0" lvl="0" indent="0" algn="l" rtl="0" hangingPunct="0">
              <a:lnSpc>
                <a:spcPct val="100000"/>
              </a:lnSpc>
              <a:spcBef>
                <a:spcPts val="448"/>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endParaRPr lang="ru-RU" sz="1200" b="0" i="0" u="none" strike="noStrike" cap="none" baseline="0">
              <a:ln>
                <a:noFill/>
              </a:ln>
              <a:solidFill>
                <a:srgbClr val="000000"/>
              </a:solidFill>
              <a:latin typeface="Times New Roman" pitchFamily="18"/>
              <a:ea typeface="Microsoft YaHei" pitchFamily="2"/>
              <a:cs typeface="Mangal" pitchFamily="2"/>
            </a:endParaRPr>
          </a:p>
        </p:txBody>
      </p:sp>
    </p:spTree>
    <p:extLst>
      <p:ext uri="{BB962C8B-B14F-4D97-AF65-F5344CB8AC3E}">
        <p14:creationId xmlns:p14="http://schemas.microsoft.com/office/powerpoint/2010/main" val="119136157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noResize="1"/>
          </p:cNvSpPr>
          <p:nvPr>
            <p:ph type="sldImg"/>
          </p:nvPr>
        </p:nvSpPr>
        <p:spPr>
          <a:xfrm>
            <a:off x="142875" y="777875"/>
            <a:ext cx="6815138" cy="3835400"/>
          </a:xfrm>
          <a:solidFill>
            <a:srgbClr val="729FCF"/>
          </a:solidFill>
          <a:ln w="25400">
            <a:solidFill>
              <a:srgbClr val="3465A4"/>
            </a:solidFill>
            <a:prstDash val="solid"/>
          </a:ln>
        </p:spPr>
      </p:sp>
      <p:sp>
        <p:nvSpPr>
          <p:cNvPr id="3" name="TextBox 2"/>
          <p:cNvSpPr txBox="1"/>
          <p:nvPr/>
        </p:nvSpPr>
        <p:spPr>
          <a:xfrm>
            <a:off x="709200" y="4859280"/>
            <a:ext cx="5681880" cy="4603679"/>
          </a:xfrm>
          <a:prstGeom prst="rect">
            <a:avLst/>
          </a:prstGeom>
          <a:noFill/>
          <a:ln>
            <a:noFill/>
          </a:ln>
        </p:spPr>
        <p:txBody>
          <a:bodyPr vert="horz" wrap="none" lIns="90000" tIns="46800" rIns="90000" bIns="46800" anchor="ctr" anchorCtr="0" compatLnSpc="1">
            <a:noAutofit/>
          </a:bodyPr>
          <a:lstStyle/>
          <a:p>
            <a:pPr marL="0" marR="0" lvl="0" indent="0" algn="l" rtl="0" hangingPunct="0">
              <a:lnSpc>
                <a:spcPct val="100000"/>
              </a:lnSpc>
              <a:spcBef>
                <a:spcPts val="448"/>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endParaRPr lang="ru-RU" sz="1200" b="0" i="0" u="none" strike="noStrike" cap="none" baseline="0">
              <a:ln>
                <a:noFill/>
              </a:ln>
              <a:solidFill>
                <a:srgbClr val="000000"/>
              </a:solidFill>
              <a:latin typeface="Times New Roman" pitchFamily="18"/>
              <a:ea typeface="Microsoft YaHei" pitchFamily="2"/>
              <a:cs typeface="Mangal" pitchFamily="2"/>
            </a:endParaRPr>
          </a:p>
        </p:txBody>
      </p:sp>
    </p:spTree>
    <p:extLst>
      <p:ext uri="{BB962C8B-B14F-4D97-AF65-F5344CB8AC3E}">
        <p14:creationId xmlns:p14="http://schemas.microsoft.com/office/powerpoint/2010/main" val="1994588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D48748E-E7CE-484F-A789-9CA91BFBCF59}" type="slidenum">
              <a:rPr lang="ru-RU" altLang="ru-RU"/>
              <a:pPr/>
              <a:t>31</a:t>
            </a:fld>
            <a:endParaRPr lang="ru-RU" altLang="ru-RU"/>
          </a:p>
        </p:txBody>
      </p:sp>
      <p:sp>
        <p:nvSpPr>
          <p:cNvPr id="214018" name="Rectangle 2"/>
          <p:cNvSpPr>
            <a:spLocks noGrp="1" noRot="1" noChangeAspect="1" noChangeArrowheads="1" noTextEdit="1"/>
          </p:cNvSpPr>
          <p:nvPr>
            <p:ph type="sldImg"/>
          </p:nvPr>
        </p:nvSpPr>
        <p:spPr>
          <a:xfrm>
            <a:off x="382588" y="685800"/>
            <a:ext cx="6092825" cy="3429000"/>
          </a:xfrm>
          <a:ln/>
        </p:spPr>
      </p:sp>
      <p:sp>
        <p:nvSpPr>
          <p:cNvPr id="214019" name="Rectangle 3"/>
          <p:cNvSpPr>
            <a:spLocks noGrp="1" noChangeArrowheads="1"/>
          </p:cNvSpPr>
          <p:nvPr>
            <p:ph type="body" idx="1"/>
          </p:nvPr>
        </p:nvSpPr>
        <p:spPr/>
        <p:txBody>
          <a:bodyPr/>
          <a:lstStyle/>
          <a:p>
            <a:endParaRPr lang="ru-RU" altLang="ru-RU"/>
          </a:p>
        </p:txBody>
      </p:sp>
    </p:spTree>
    <p:extLst>
      <p:ext uri="{BB962C8B-B14F-4D97-AF65-F5344CB8AC3E}">
        <p14:creationId xmlns:p14="http://schemas.microsoft.com/office/powerpoint/2010/main" val="189146889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noResize="1"/>
          </p:cNvSpPr>
          <p:nvPr>
            <p:ph type="sldImg"/>
          </p:nvPr>
        </p:nvSpPr>
        <p:spPr>
          <a:xfrm>
            <a:off x="142875" y="777875"/>
            <a:ext cx="6815138" cy="3835400"/>
          </a:xfrm>
          <a:solidFill>
            <a:srgbClr val="729FCF"/>
          </a:solidFill>
          <a:ln w="25400">
            <a:solidFill>
              <a:srgbClr val="3465A4"/>
            </a:solidFill>
            <a:prstDash val="solid"/>
          </a:ln>
        </p:spPr>
      </p:sp>
      <p:sp>
        <p:nvSpPr>
          <p:cNvPr id="3" name="TextBox 2"/>
          <p:cNvSpPr txBox="1"/>
          <p:nvPr/>
        </p:nvSpPr>
        <p:spPr>
          <a:xfrm>
            <a:off x="709200" y="4859280"/>
            <a:ext cx="5681880" cy="4603679"/>
          </a:xfrm>
          <a:prstGeom prst="rect">
            <a:avLst/>
          </a:prstGeom>
          <a:noFill/>
          <a:ln>
            <a:noFill/>
          </a:ln>
        </p:spPr>
        <p:txBody>
          <a:bodyPr vert="horz" wrap="none" lIns="90000" tIns="46800" rIns="90000" bIns="46800" anchor="ctr" anchorCtr="0" compatLnSpc="1">
            <a:noAutofit/>
          </a:bodyPr>
          <a:lstStyle/>
          <a:p>
            <a:pPr marL="0" marR="0" lvl="0" indent="0" algn="l" rtl="0" hangingPunct="0">
              <a:lnSpc>
                <a:spcPct val="100000"/>
              </a:lnSpc>
              <a:spcBef>
                <a:spcPts val="448"/>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endParaRPr lang="ru-RU" sz="1200" b="0" i="0" u="none" strike="noStrike" cap="none" baseline="0">
              <a:ln>
                <a:noFill/>
              </a:ln>
              <a:solidFill>
                <a:srgbClr val="000000"/>
              </a:solidFill>
              <a:latin typeface="Times New Roman" pitchFamily="18"/>
              <a:ea typeface="Microsoft YaHei" pitchFamily="2"/>
              <a:cs typeface="Mangal" pitchFamily="2"/>
            </a:endParaRPr>
          </a:p>
        </p:txBody>
      </p:sp>
    </p:spTree>
    <p:extLst>
      <p:ext uri="{BB962C8B-B14F-4D97-AF65-F5344CB8AC3E}">
        <p14:creationId xmlns:p14="http://schemas.microsoft.com/office/powerpoint/2010/main" val="318032431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noResize="1"/>
          </p:cNvSpPr>
          <p:nvPr>
            <p:ph type="sldImg"/>
          </p:nvPr>
        </p:nvSpPr>
        <p:spPr>
          <a:xfrm>
            <a:off x="142875" y="777875"/>
            <a:ext cx="6815138" cy="3835400"/>
          </a:xfrm>
          <a:solidFill>
            <a:srgbClr val="729FCF"/>
          </a:solidFill>
          <a:ln w="25400">
            <a:solidFill>
              <a:srgbClr val="3465A4"/>
            </a:solidFill>
            <a:prstDash val="solid"/>
          </a:ln>
        </p:spPr>
      </p:sp>
      <p:sp>
        <p:nvSpPr>
          <p:cNvPr id="3" name="TextBox 2"/>
          <p:cNvSpPr txBox="1"/>
          <p:nvPr/>
        </p:nvSpPr>
        <p:spPr>
          <a:xfrm>
            <a:off x="709200" y="4859280"/>
            <a:ext cx="5681880" cy="4603679"/>
          </a:xfrm>
          <a:prstGeom prst="rect">
            <a:avLst/>
          </a:prstGeom>
          <a:noFill/>
          <a:ln>
            <a:noFill/>
          </a:ln>
        </p:spPr>
        <p:txBody>
          <a:bodyPr vert="horz" wrap="none" lIns="90000" tIns="46800" rIns="90000" bIns="46800" anchor="ctr" anchorCtr="0" compatLnSpc="1">
            <a:noAutofit/>
          </a:bodyPr>
          <a:lstStyle/>
          <a:p>
            <a:pPr marL="0" marR="0" lvl="0" indent="0" algn="l" rtl="0" hangingPunct="0">
              <a:lnSpc>
                <a:spcPct val="100000"/>
              </a:lnSpc>
              <a:spcBef>
                <a:spcPts val="448"/>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endParaRPr lang="ru-RU" sz="1200" b="0" i="0" u="none" strike="noStrike" cap="none" baseline="0">
              <a:ln>
                <a:noFill/>
              </a:ln>
              <a:solidFill>
                <a:srgbClr val="000000"/>
              </a:solidFill>
              <a:latin typeface="Times New Roman" pitchFamily="18"/>
              <a:ea typeface="Microsoft YaHei" pitchFamily="2"/>
              <a:cs typeface="Mangal" pitchFamily="2"/>
            </a:endParaRPr>
          </a:p>
        </p:txBody>
      </p:sp>
    </p:spTree>
    <p:extLst>
      <p:ext uri="{BB962C8B-B14F-4D97-AF65-F5344CB8AC3E}">
        <p14:creationId xmlns:p14="http://schemas.microsoft.com/office/powerpoint/2010/main" val="320167775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noResize="1"/>
          </p:cNvSpPr>
          <p:nvPr>
            <p:ph type="sldImg"/>
          </p:nvPr>
        </p:nvSpPr>
        <p:spPr>
          <a:xfrm>
            <a:off x="142875" y="777875"/>
            <a:ext cx="6815138" cy="3835400"/>
          </a:xfrm>
          <a:solidFill>
            <a:srgbClr val="729FCF"/>
          </a:solidFill>
          <a:ln w="25400">
            <a:solidFill>
              <a:srgbClr val="3465A4"/>
            </a:solidFill>
            <a:prstDash val="solid"/>
          </a:ln>
        </p:spPr>
      </p:sp>
      <p:sp>
        <p:nvSpPr>
          <p:cNvPr id="3" name="TextBox 2"/>
          <p:cNvSpPr txBox="1"/>
          <p:nvPr/>
        </p:nvSpPr>
        <p:spPr>
          <a:xfrm>
            <a:off x="709200" y="4859280"/>
            <a:ext cx="5681880" cy="4603679"/>
          </a:xfrm>
          <a:prstGeom prst="rect">
            <a:avLst/>
          </a:prstGeom>
          <a:noFill/>
          <a:ln>
            <a:noFill/>
          </a:ln>
        </p:spPr>
        <p:txBody>
          <a:bodyPr vert="horz" wrap="none" lIns="90000" tIns="46800" rIns="90000" bIns="46800" anchor="ctr" anchorCtr="0" compatLnSpc="1">
            <a:noAutofit/>
          </a:bodyPr>
          <a:lstStyle/>
          <a:p>
            <a:pPr marL="0" marR="0" lvl="0" indent="0" algn="l" rtl="0" hangingPunct="0">
              <a:lnSpc>
                <a:spcPct val="100000"/>
              </a:lnSpc>
              <a:spcBef>
                <a:spcPts val="448"/>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endParaRPr lang="ru-RU" sz="1200" b="0" i="0" u="none" strike="noStrike" cap="none" baseline="0">
              <a:ln>
                <a:noFill/>
              </a:ln>
              <a:solidFill>
                <a:srgbClr val="000000"/>
              </a:solidFill>
              <a:latin typeface="Times New Roman" pitchFamily="18"/>
              <a:ea typeface="Microsoft YaHei" pitchFamily="2"/>
              <a:cs typeface="Mangal" pitchFamily="2"/>
            </a:endParaRPr>
          </a:p>
        </p:txBody>
      </p:sp>
    </p:spTree>
    <p:extLst>
      <p:ext uri="{BB962C8B-B14F-4D97-AF65-F5344CB8AC3E}">
        <p14:creationId xmlns:p14="http://schemas.microsoft.com/office/powerpoint/2010/main" val="405553155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noResize="1"/>
          </p:cNvSpPr>
          <p:nvPr>
            <p:ph type="sldImg"/>
          </p:nvPr>
        </p:nvSpPr>
        <p:spPr>
          <a:xfrm>
            <a:off x="142875" y="777875"/>
            <a:ext cx="6815138" cy="3835400"/>
          </a:xfrm>
          <a:solidFill>
            <a:srgbClr val="729FCF"/>
          </a:solidFill>
          <a:ln w="25400">
            <a:solidFill>
              <a:srgbClr val="3465A4"/>
            </a:solidFill>
            <a:prstDash val="solid"/>
          </a:ln>
        </p:spPr>
      </p:sp>
      <p:sp>
        <p:nvSpPr>
          <p:cNvPr id="3" name="TextBox 2"/>
          <p:cNvSpPr txBox="1"/>
          <p:nvPr/>
        </p:nvSpPr>
        <p:spPr>
          <a:xfrm>
            <a:off x="709200" y="4859280"/>
            <a:ext cx="5681880" cy="4603679"/>
          </a:xfrm>
          <a:prstGeom prst="rect">
            <a:avLst/>
          </a:prstGeom>
          <a:noFill/>
          <a:ln>
            <a:noFill/>
          </a:ln>
        </p:spPr>
        <p:txBody>
          <a:bodyPr vert="horz" wrap="none" lIns="90000" tIns="46800" rIns="90000" bIns="46800" anchor="ctr" anchorCtr="0" compatLnSpc="1">
            <a:noAutofit/>
          </a:bodyPr>
          <a:lstStyle/>
          <a:p>
            <a:pPr marL="0" marR="0" lvl="0" indent="0" algn="l" rtl="0" hangingPunct="0">
              <a:lnSpc>
                <a:spcPct val="100000"/>
              </a:lnSpc>
              <a:spcBef>
                <a:spcPts val="448"/>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endParaRPr lang="ru-RU" sz="1200" b="0" i="0" u="none" strike="noStrike" cap="none" baseline="0">
              <a:ln>
                <a:noFill/>
              </a:ln>
              <a:solidFill>
                <a:srgbClr val="000000"/>
              </a:solidFill>
              <a:latin typeface="Times New Roman" pitchFamily="18"/>
              <a:ea typeface="Microsoft YaHei" pitchFamily="2"/>
              <a:cs typeface="Mangal" pitchFamily="2"/>
            </a:endParaRPr>
          </a:p>
        </p:txBody>
      </p:sp>
    </p:spTree>
    <p:extLst>
      <p:ext uri="{BB962C8B-B14F-4D97-AF65-F5344CB8AC3E}">
        <p14:creationId xmlns:p14="http://schemas.microsoft.com/office/powerpoint/2010/main" val="158419146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noResize="1"/>
          </p:cNvSpPr>
          <p:nvPr>
            <p:ph type="sldImg"/>
          </p:nvPr>
        </p:nvSpPr>
        <p:spPr>
          <a:xfrm>
            <a:off x="142875" y="777875"/>
            <a:ext cx="6815138" cy="3835400"/>
          </a:xfrm>
          <a:solidFill>
            <a:srgbClr val="729FCF"/>
          </a:solidFill>
          <a:ln w="25400">
            <a:solidFill>
              <a:srgbClr val="3465A4"/>
            </a:solidFill>
            <a:prstDash val="solid"/>
          </a:ln>
        </p:spPr>
      </p:sp>
      <p:sp>
        <p:nvSpPr>
          <p:cNvPr id="3" name="TextBox 2"/>
          <p:cNvSpPr txBox="1"/>
          <p:nvPr/>
        </p:nvSpPr>
        <p:spPr>
          <a:xfrm>
            <a:off x="709200" y="4859280"/>
            <a:ext cx="5681880" cy="4603679"/>
          </a:xfrm>
          <a:prstGeom prst="rect">
            <a:avLst/>
          </a:prstGeom>
          <a:noFill/>
          <a:ln>
            <a:noFill/>
          </a:ln>
        </p:spPr>
        <p:txBody>
          <a:bodyPr vert="horz" wrap="none" lIns="90000" tIns="46800" rIns="90000" bIns="46800" anchor="ctr" anchorCtr="0" compatLnSpc="1">
            <a:noAutofit/>
          </a:bodyPr>
          <a:lstStyle/>
          <a:p>
            <a:pPr marL="0" marR="0" lvl="0" indent="0" algn="l" rtl="0" hangingPunct="0">
              <a:lnSpc>
                <a:spcPct val="100000"/>
              </a:lnSpc>
              <a:spcBef>
                <a:spcPts val="448"/>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endParaRPr lang="ru-RU" sz="1200" b="0" i="0" u="none" strike="noStrike" cap="none" baseline="0">
              <a:ln>
                <a:noFill/>
              </a:ln>
              <a:solidFill>
                <a:srgbClr val="000000"/>
              </a:solidFill>
              <a:latin typeface="Times New Roman" pitchFamily="18"/>
              <a:ea typeface="Microsoft YaHei" pitchFamily="2"/>
              <a:cs typeface="Mangal" pitchFamily="2"/>
            </a:endParaRPr>
          </a:p>
        </p:txBody>
      </p:sp>
    </p:spTree>
    <p:extLst>
      <p:ext uri="{BB962C8B-B14F-4D97-AF65-F5344CB8AC3E}">
        <p14:creationId xmlns:p14="http://schemas.microsoft.com/office/powerpoint/2010/main" val="127830940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noResize="1"/>
          </p:cNvSpPr>
          <p:nvPr>
            <p:ph type="sldImg"/>
          </p:nvPr>
        </p:nvSpPr>
        <p:spPr>
          <a:xfrm>
            <a:off x="142875" y="777875"/>
            <a:ext cx="6815138" cy="3835400"/>
          </a:xfrm>
          <a:solidFill>
            <a:srgbClr val="729FCF"/>
          </a:solidFill>
          <a:ln w="25400">
            <a:solidFill>
              <a:srgbClr val="3465A4"/>
            </a:solidFill>
            <a:prstDash val="solid"/>
          </a:ln>
        </p:spPr>
      </p:sp>
      <p:sp>
        <p:nvSpPr>
          <p:cNvPr id="3" name="TextBox 2"/>
          <p:cNvSpPr txBox="1"/>
          <p:nvPr/>
        </p:nvSpPr>
        <p:spPr>
          <a:xfrm>
            <a:off x="709200" y="4859280"/>
            <a:ext cx="5681880" cy="4603679"/>
          </a:xfrm>
          <a:prstGeom prst="rect">
            <a:avLst/>
          </a:prstGeom>
          <a:noFill/>
          <a:ln>
            <a:noFill/>
          </a:ln>
        </p:spPr>
        <p:txBody>
          <a:bodyPr vert="horz" wrap="none" lIns="90000" tIns="46800" rIns="90000" bIns="46800" anchor="ctr" anchorCtr="0" compatLnSpc="1">
            <a:noAutofit/>
          </a:bodyPr>
          <a:lstStyle/>
          <a:p>
            <a:pPr marL="0" marR="0" lvl="0" indent="0" algn="l" rtl="0" hangingPunct="0">
              <a:lnSpc>
                <a:spcPct val="100000"/>
              </a:lnSpc>
              <a:spcBef>
                <a:spcPts val="448"/>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endParaRPr lang="ru-RU" sz="1200" b="0" i="0" u="none" strike="noStrike" cap="none" baseline="0">
              <a:ln>
                <a:noFill/>
              </a:ln>
              <a:solidFill>
                <a:srgbClr val="000000"/>
              </a:solidFill>
              <a:latin typeface="Times New Roman" pitchFamily="18"/>
              <a:ea typeface="Microsoft YaHei" pitchFamily="2"/>
              <a:cs typeface="Mangal" pitchFamily="2"/>
            </a:endParaRPr>
          </a:p>
        </p:txBody>
      </p:sp>
    </p:spTree>
    <p:extLst>
      <p:ext uri="{BB962C8B-B14F-4D97-AF65-F5344CB8AC3E}">
        <p14:creationId xmlns:p14="http://schemas.microsoft.com/office/powerpoint/2010/main" val="153890331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noResize="1"/>
          </p:cNvSpPr>
          <p:nvPr>
            <p:ph type="sldImg"/>
          </p:nvPr>
        </p:nvSpPr>
        <p:spPr>
          <a:xfrm>
            <a:off x="142875" y="777875"/>
            <a:ext cx="6815138" cy="3835400"/>
          </a:xfrm>
          <a:solidFill>
            <a:srgbClr val="729FCF"/>
          </a:solidFill>
          <a:ln w="25400">
            <a:solidFill>
              <a:srgbClr val="3465A4"/>
            </a:solidFill>
            <a:prstDash val="solid"/>
          </a:ln>
        </p:spPr>
      </p:sp>
      <p:sp>
        <p:nvSpPr>
          <p:cNvPr id="3" name="TextBox 2"/>
          <p:cNvSpPr txBox="1"/>
          <p:nvPr/>
        </p:nvSpPr>
        <p:spPr>
          <a:xfrm>
            <a:off x="709200" y="4859280"/>
            <a:ext cx="5681880" cy="4603679"/>
          </a:xfrm>
          <a:prstGeom prst="rect">
            <a:avLst/>
          </a:prstGeom>
          <a:noFill/>
          <a:ln>
            <a:noFill/>
          </a:ln>
        </p:spPr>
        <p:txBody>
          <a:bodyPr vert="horz" wrap="none" lIns="90000" tIns="46800" rIns="90000" bIns="46800" anchor="ctr" anchorCtr="0" compatLnSpc="1">
            <a:noAutofit/>
          </a:bodyPr>
          <a:lstStyle/>
          <a:p>
            <a:pPr marL="0" marR="0" lvl="0" indent="0" algn="l" rtl="0" hangingPunct="0">
              <a:lnSpc>
                <a:spcPct val="100000"/>
              </a:lnSpc>
              <a:spcBef>
                <a:spcPts val="448"/>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endParaRPr lang="ru-RU" sz="1200" b="0" i="0" u="none" strike="noStrike" cap="none" baseline="0">
              <a:ln>
                <a:noFill/>
              </a:ln>
              <a:solidFill>
                <a:srgbClr val="000000"/>
              </a:solidFill>
              <a:latin typeface="Times New Roman" pitchFamily="18"/>
              <a:ea typeface="Microsoft YaHei" pitchFamily="2"/>
              <a:cs typeface="Mangal" pitchFamily="2"/>
            </a:endParaRPr>
          </a:p>
        </p:txBody>
      </p:sp>
    </p:spTree>
    <p:extLst>
      <p:ext uri="{BB962C8B-B14F-4D97-AF65-F5344CB8AC3E}">
        <p14:creationId xmlns:p14="http://schemas.microsoft.com/office/powerpoint/2010/main" val="87781885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noResize="1"/>
          </p:cNvSpPr>
          <p:nvPr>
            <p:ph type="sldImg"/>
          </p:nvPr>
        </p:nvSpPr>
        <p:spPr>
          <a:xfrm>
            <a:off x="142875" y="777875"/>
            <a:ext cx="6815138" cy="3835400"/>
          </a:xfrm>
          <a:solidFill>
            <a:srgbClr val="729FCF"/>
          </a:solidFill>
          <a:ln w="25400">
            <a:solidFill>
              <a:srgbClr val="3465A4"/>
            </a:solidFill>
            <a:prstDash val="solid"/>
          </a:ln>
        </p:spPr>
      </p:sp>
      <p:sp>
        <p:nvSpPr>
          <p:cNvPr id="3" name="TextBox 2"/>
          <p:cNvSpPr txBox="1"/>
          <p:nvPr/>
        </p:nvSpPr>
        <p:spPr>
          <a:xfrm>
            <a:off x="709200" y="4859280"/>
            <a:ext cx="5681880" cy="4603679"/>
          </a:xfrm>
          <a:prstGeom prst="rect">
            <a:avLst/>
          </a:prstGeom>
          <a:noFill/>
          <a:ln>
            <a:noFill/>
          </a:ln>
        </p:spPr>
        <p:txBody>
          <a:bodyPr vert="horz" wrap="none" lIns="90000" tIns="46800" rIns="90000" bIns="46800" anchor="ctr" anchorCtr="0" compatLnSpc="1">
            <a:noAutofit/>
          </a:bodyPr>
          <a:lstStyle/>
          <a:p>
            <a:pPr marL="0" marR="0" lvl="0" indent="0" algn="l" rtl="0" hangingPunct="0">
              <a:lnSpc>
                <a:spcPct val="100000"/>
              </a:lnSpc>
              <a:spcBef>
                <a:spcPts val="448"/>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endParaRPr lang="ru-RU" sz="1200" b="0" i="0" u="none" strike="noStrike" cap="none" baseline="0">
              <a:ln>
                <a:noFill/>
              </a:ln>
              <a:solidFill>
                <a:srgbClr val="000000"/>
              </a:solidFill>
              <a:latin typeface="Times New Roman" pitchFamily="18"/>
              <a:ea typeface="Microsoft YaHei" pitchFamily="2"/>
              <a:cs typeface="Mangal" pitchFamily="2"/>
            </a:endParaRPr>
          </a:p>
        </p:txBody>
      </p:sp>
    </p:spTree>
    <p:extLst>
      <p:ext uri="{BB962C8B-B14F-4D97-AF65-F5344CB8AC3E}">
        <p14:creationId xmlns:p14="http://schemas.microsoft.com/office/powerpoint/2010/main" val="169313249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noResize="1"/>
          </p:cNvSpPr>
          <p:nvPr>
            <p:ph type="sldImg"/>
          </p:nvPr>
        </p:nvSpPr>
        <p:spPr>
          <a:xfrm>
            <a:off x="-17075150" y="-11796713"/>
            <a:ext cx="22352000" cy="12574588"/>
          </a:xfrm>
          <a:solidFill>
            <a:srgbClr val="729FCF"/>
          </a:solidFill>
          <a:ln w="25400">
            <a:solidFill>
              <a:srgbClr val="3465A4"/>
            </a:solidFill>
            <a:prstDash val="solid"/>
          </a:ln>
        </p:spPr>
      </p:sp>
      <p:sp>
        <p:nvSpPr>
          <p:cNvPr id="3" name="Заметки 2"/>
          <p:cNvSpPr txBox="1">
            <a:spLocks noGrp="1"/>
          </p:cNvSpPr>
          <p:nvPr>
            <p:ph type="body" sz="quarter" idx="1"/>
          </p:nvPr>
        </p:nvSpPr>
        <p:spPr/>
        <p:txBody>
          <a:bodyPr/>
          <a:lstStyle/>
          <a:p>
            <a:endParaRPr lang="ru-RU"/>
          </a:p>
        </p:txBody>
      </p:sp>
    </p:spTree>
    <p:extLst>
      <p:ext uri="{BB962C8B-B14F-4D97-AF65-F5344CB8AC3E}">
        <p14:creationId xmlns:p14="http://schemas.microsoft.com/office/powerpoint/2010/main" val="40423172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noResize="1"/>
          </p:cNvSpPr>
          <p:nvPr>
            <p:ph type="sldImg"/>
          </p:nvPr>
        </p:nvSpPr>
        <p:spPr>
          <a:xfrm>
            <a:off x="142875" y="777875"/>
            <a:ext cx="6815138" cy="3835400"/>
          </a:xfrm>
          <a:solidFill>
            <a:srgbClr val="729FCF"/>
          </a:solidFill>
          <a:ln w="25400">
            <a:solidFill>
              <a:srgbClr val="3465A4"/>
            </a:solidFill>
            <a:prstDash val="solid"/>
          </a:ln>
        </p:spPr>
      </p:sp>
      <p:sp>
        <p:nvSpPr>
          <p:cNvPr id="3" name="TextBox 2"/>
          <p:cNvSpPr txBox="1"/>
          <p:nvPr/>
        </p:nvSpPr>
        <p:spPr>
          <a:xfrm>
            <a:off x="709200" y="4859280"/>
            <a:ext cx="5681880" cy="4603679"/>
          </a:xfrm>
          <a:prstGeom prst="rect">
            <a:avLst/>
          </a:prstGeom>
          <a:noFill/>
          <a:ln>
            <a:noFill/>
          </a:ln>
        </p:spPr>
        <p:txBody>
          <a:bodyPr vert="horz" wrap="none" lIns="90000" tIns="46800" rIns="90000" bIns="46800" anchor="ctr" anchorCtr="0" compatLnSpc="1">
            <a:noAutofit/>
          </a:bodyPr>
          <a:lstStyle/>
          <a:p>
            <a:pPr marL="0" marR="0" lvl="0" indent="0" algn="l" rtl="0" hangingPunct="0">
              <a:lnSpc>
                <a:spcPct val="100000"/>
              </a:lnSpc>
              <a:spcBef>
                <a:spcPts val="448"/>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endParaRPr lang="ru-RU" sz="1200" b="0" i="0" u="none" strike="noStrike" cap="none" baseline="0">
              <a:ln>
                <a:noFill/>
              </a:ln>
              <a:solidFill>
                <a:srgbClr val="000000"/>
              </a:solidFill>
              <a:latin typeface="Times New Roman" pitchFamily="18"/>
              <a:ea typeface="Microsoft YaHei" pitchFamily="2"/>
              <a:cs typeface="Mangal" pitchFamily="2"/>
            </a:endParaRPr>
          </a:p>
        </p:txBody>
      </p:sp>
    </p:spTree>
    <p:extLst>
      <p:ext uri="{BB962C8B-B14F-4D97-AF65-F5344CB8AC3E}">
        <p14:creationId xmlns:p14="http://schemas.microsoft.com/office/powerpoint/2010/main" val="42674397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noResize="1"/>
          </p:cNvSpPr>
          <p:nvPr>
            <p:ph type="sldImg"/>
          </p:nvPr>
        </p:nvSpPr>
        <p:spPr>
          <a:xfrm>
            <a:off x="142875" y="777875"/>
            <a:ext cx="6815138" cy="3835400"/>
          </a:xfrm>
          <a:solidFill>
            <a:srgbClr val="729FCF"/>
          </a:solidFill>
          <a:ln w="25400">
            <a:solidFill>
              <a:srgbClr val="3465A4"/>
            </a:solidFill>
            <a:prstDash val="solid"/>
          </a:ln>
        </p:spPr>
      </p:sp>
      <p:sp>
        <p:nvSpPr>
          <p:cNvPr id="3" name="TextBox 2"/>
          <p:cNvSpPr txBox="1"/>
          <p:nvPr/>
        </p:nvSpPr>
        <p:spPr>
          <a:xfrm>
            <a:off x="709200" y="4859280"/>
            <a:ext cx="5681880" cy="4603679"/>
          </a:xfrm>
          <a:prstGeom prst="rect">
            <a:avLst/>
          </a:prstGeom>
          <a:noFill/>
          <a:ln>
            <a:noFill/>
          </a:ln>
        </p:spPr>
        <p:txBody>
          <a:bodyPr vert="horz" wrap="none" lIns="90000" tIns="46800" rIns="90000" bIns="46800" anchor="ctr" anchorCtr="0" compatLnSpc="1">
            <a:noAutofit/>
          </a:bodyPr>
          <a:lstStyle/>
          <a:p>
            <a:pPr marL="0" marR="0" lvl="0" indent="0" algn="l" rtl="0" hangingPunct="0">
              <a:lnSpc>
                <a:spcPct val="100000"/>
              </a:lnSpc>
              <a:spcBef>
                <a:spcPts val="448"/>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endParaRPr lang="ru-RU" sz="1200" b="0" i="0" u="none" strike="noStrike" cap="none" baseline="0">
              <a:ln>
                <a:noFill/>
              </a:ln>
              <a:solidFill>
                <a:srgbClr val="000000"/>
              </a:solidFill>
              <a:latin typeface="Times New Roman" pitchFamily="18"/>
              <a:ea typeface="Microsoft YaHei" pitchFamily="2"/>
              <a:cs typeface="Mangal" pitchFamily="2"/>
            </a:endParaRPr>
          </a:p>
        </p:txBody>
      </p:sp>
    </p:spTree>
    <p:extLst>
      <p:ext uri="{BB962C8B-B14F-4D97-AF65-F5344CB8AC3E}">
        <p14:creationId xmlns:p14="http://schemas.microsoft.com/office/powerpoint/2010/main" val="50784321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noResize="1"/>
          </p:cNvSpPr>
          <p:nvPr>
            <p:ph type="sldImg"/>
          </p:nvPr>
        </p:nvSpPr>
        <p:spPr>
          <a:xfrm>
            <a:off x="142875" y="777875"/>
            <a:ext cx="6815138" cy="3835400"/>
          </a:xfrm>
          <a:solidFill>
            <a:srgbClr val="729FCF"/>
          </a:solidFill>
          <a:ln w="25400">
            <a:solidFill>
              <a:srgbClr val="3465A4"/>
            </a:solidFill>
            <a:prstDash val="solid"/>
          </a:ln>
        </p:spPr>
      </p:sp>
      <p:sp>
        <p:nvSpPr>
          <p:cNvPr id="3" name="TextBox 2"/>
          <p:cNvSpPr txBox="1"/>
          <p:nvPr/>
        </p:nvSpPr>
        <p:spPr>
          <a:xfrm>
            <a:off x="709200" y="4859280"/>
            <a:ext cx="5681880" cy="4603679"/>
          </a:xfrm>
          <a:prstGeom prst="rect">
            <a:avLst/>
          </a:prstGeom>
          <a:noFill/>
          <a:ln>
            <a:noFill/>
          </a:ln>
        </p:spPr>
        <p:txBody>
          <a:bodyPr vert="horz" wrap="none" lIns="90000" tIns="46800" rIns="90000" bIns="46800" anchor="ctr" anchorCtr="0" compatLnSpc="1">
            <a:noAutofit/>
          </a:bodyPr>
          <a:lstStyle/>
          <a:p>
            <a:pPr marL="0" marR="0" lvl="0" indent="0" algn="l" rtl="0" hangingPunct="0">
              <a:lnSpc>
                <a:spcPct val="100000"/>
              </a:lnSpc>
              <a:spcBef>
                <a:spcPts val="448"/>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endParaRPr lang="ru-RU" sz="1200" b="0" i="0" u="none" strike="noStrike" cap="none" baseline="0">
              <a:ln>
                <a:noFill/>
              </a:ln>
              <a:solidFill>
                <a:srgbClr val="000000"/>
              </a:solidFill>
              <a:latin typeface="Times New Roman" pitchFamily="18"/>
              <a:ea typeface="Microsoft YaHei" pitchFamily="2"/>
              <a:cs typeface="Mangal" pitchFamily="2"/>
            </a:endParaRPr>
          </a:p>
        </p:txBody>
      </p:sp>
    </p:spTree>
    <p:extLst>
      <p:ext uri="{BB962C8B-B14F-4D97-AF65-F5344CB8AC3E}">
        <p14:creationId xmlns:p14="http://schemas.microsoft.com/office/powerpoint/2010/main" val="196256706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noResize="1"/>
          </p:cNvSpPr>
          <p:nvPr>
            <p:ph type="sldImg"/>
          </p:nvPr>
        </p:nvSpPr>
        <p:spPr>
          <a:xfrm>
            <a:off x="142875" y="777875"/>
            <a:ext cx="6815138" cy="3835400"/>
          </a:xfrm>
          <a:solidFill>
            <a:srgbClr val="729FCF"/>
          </a:solidFill>
          <a:ln w="25400">
            <a:solidFill>
              <a:srgbClr val="3465A4"/>
            </a:solidFill>
            <a:prstDash val="solid"/>
          </a:ln>
        </p:spPr>
      </p:sp>
      <p:sp>
        <p:nvSpPr>
          <p:cNvPr id="3" name="TextBox 2"/>
          <p:cNvSpPr txBox="1"/>
          <p:nvPr/>
        </p:nvSpPr>
        <p:spPr>
          <a:xfrm>
            <a:off x="709200" y="4859280"/>
            <a:ext cx="5681880" cy="4603679"/>
          </a:xfrm>
          <a:prstGeom prst="rect">
            <a:avLst/>
          </a:prstGeom>
          <a:noFill/>
          <a:ln>
            <a:noFill/>
          </a:ln>
        </p:spPr>
        <p:txBody>
          <a:bodyPr vert="horz" wrap="none" lIns="90000" tIns="46800" rIns="90000" bIns="46800" anchor="ctr" anchorCtr="0" compatLnSpc="1">
            <a:noAutofit/>
          </a:bodyPr>
          <a:lstStyle/>
          <a:p>
            <a:pPr marL="0" marR="0" lvl="0" indent="0" algn="l" rtl="0" hangingPunct="0">
              <a:lnSpc>
                <a:spcPct val="100000"/>
              </a:lnSpc>
              <a:spcBef>
                <a:spcPts val="448"/>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endParaRPr lang="ru-RU" sz="1200" b="0" i="0" u="none" strike="noStrike" cap="none" baseline="0">
              <a:ln>
                <a:noFill/>
              </a:ln>
              <a:solidFill>
                <a:srgbClr val="000000"/>
              </a:solidFill>
              <a:latin typeface="Times New Roman" pitchFamily="18"/>
              <a:ea typeface="Microsoft YaHei" pitchFamily="2"/>
              <a:cs typeface="Mangal" pitchFamily="2"/>
            </a:endParaRPr>
          </a:p>
        </p:txBody>
      </p:sp>
    </p:spTree>
    <p:extLst>
      <p:ext uri="{BB962C8B-B14F-4D97-AF65-F5344CB8AC3E}">
        <p14:creationId xmlns:p14="http://schemas.microsoft.com/office/powerpoint/2010/main" val="997451674"/>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noResize="1"/>
          </p:cNvSpPr>
          <p:nvPr>
            <p:ph type="sldImg"/>
          </p:nvPr>
        </p:nvSpPr>
        <p:spPr>
          <a:xfrm>
            <a:off x="142875" y="777875"/>
            <a:ext cx="6815138" cy="3835400"/>
          </a:xfrm>
          <a:solidFill>
            <a:srgbClr val="729FCF"/>
          </a:solidFill>
          <a:ln w="25400">
            <a:solidFill>
              <a:srgbClr val="3465A4"/>
            </a:solidFill>
            <a:prstDash val="solid"/>
          </a:ln>
        </p:spPr>
      </p:sp>
      <p:sp>
        <p:nvSpPr>
          <p:cNvPr id="3" name="TextBox 2"/>
          <p:cNvSpPr txBox="1"/>
          <p:nvPr/>
        </p:nvSpPr>
        <p:spPr>
          <a:xfrm>
            <a:off x="709200" y="4859280"/>
            <a:ext cx="5681880" cy="4603679"/>
          </a:xfrm>
          <a:prstGeom prst="rect">
            <a:avLst/>
          </a:prstGeom>
          <a:noFill/>
          <a:ln>
            <a:noFill/>
          </a:ln>
        </p:spPr>
        <p:txBody>
          <a:bodyPr vert="horz" wrap="none" lIns="90000" tIns="46800" rIns="90000" bIns="46800" anchor="ctr" anchorCtr="0" compatLnSpc="1">
            <a:noAutofit/>
          </a:bodyPr>
          <a:lstStyle/>
          <a:p>
            <a:pPr marL="0" marR="0" lvl="0" indent="0" algn="l" rtl="0" hangingPunct="0">
              <a:lnSpc>
                <a:spcPct val="100000"/>
              </a:lnSpc>
              <a:spcBef>
                <a:spcPts val="448"/>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endParaRPr lang="ru-RU" sz="1200" b="0" i="0" u="none" strike="noStrike" cap="none" baseline="0">
              <a:ln>
                <a:noFill/>
              </a:ln>
              <a:solidFill>
                <a:srgbClr val="000000"/>
              </a:solidFill>
              <a:latin typeface="Times New Roman" pitchFamily="18"/>
              <a:ea typeface="Microsoft YaHei" pitchFamily="2"/>
              <a:cs typeface="Mangal" pitchFamily="2"/>
            </a:endParaRPr>
          </a:p>
        </p:txBody>
      </p:sp>
    </p:spTree>
    <p:extLst>
      <p:ext uri="{BB962C8B-B14F-4D97-AF65-F5344CB8AC3E}">
        <p14:creationId xmlns:p14="http://schemas.microsoft.com/office/powerpoint/2010/main" val="200693241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noResize="1"/>
          </p:cNvSpPr>
          <p:nvPr>
            <p:ph type="sldImg"/>
          </p:nvPr>
        </p:nvSpPr>
        <p:spPr>
          <a:xfrm>
            <a:off x="142875" y="777875"/>
            <a:ext cx="6815138" cy="3835400"/>
          </a:xfrm>
          <a:solidFill>
            <a:srgbClr val="729FCF"/>
          </a:solidFill>
          <a:ln w="25400">
            <a:solidFill>
              <a:srgbClr val="3465A4"/>
            </a:solidFill>
            <a:prstDash val="solid"/>
          </a:ln>
        </p:spPr>
      </p:sp>
      <p:sp>
        <p:nvSpPr>
          <p:cNvPr id="3" name="TextBox 2"/>
          <p:cNvSpPr txBox="1"/>
          <p:nvPr/>
        </p:nvSpPr>
        <p:spPr>
          <a:xfrm>
            <a:off x="709200" y="4859280"/>
            <a:ext cx="5681880" cy="4603679"/>
          </a:xfrm>
          <a:prstGeom prst="rect">
            <a:avLst/>
          </a:prstGeom>
          <a:noFill/>
          <a:ln>
            <a:noFill/>
          </a:ln>
        </p:spPr>
        <p:txBody>
          <a:bodyPr vert="horz" wrap="none" lIns="90000" tIns="46800" rIns="90000" bIns="46800" anchor="ctr" anchorCtr="0" compatLnSpc="1">
            <a:noAutofit/>
          </a:bodyPr>
          <a:lstStyle/>
          <a:p>
            <a:pPr marL="0" marR="0" lvl="0" indent="0" algn="l" rtl="0" hangingPunct="0">
              <a:lnSpc>
                <a:spcPct val="100000"/>
              </a:lnSpc>
              <a:spcBef>
                <a:spcPts val="448"/>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endParaRPr lang="ru-RU" sz="1200" b="0" i="0" u="none" strike="noStrike" cap="none" baseline="0">
              <a:ln>
                <a:noFill/>
              </a:ln>
              <a:solidFill>
                <a:srgbClr val="000000"/>
              </a:solidFill>
              <a:latin typeface="Times New Roman" pitchFamily="18"/>
              <a:ea typeface="Microsoft YaHei" pitchFamily="2"/>
              <a:cs typeface="Mangal" pitchFamily="2"/>
            </a:endParaRPr>
          </a:p>
        </p:txBody>
      </p:sp>
    </p:spTree>
    <p:extLst>
      <p:ext uri="{BB962C8B-B14F-4D97-AF65-F5344CB8AC3E}">
        <p14:creationId xmlns:p14="http://schemas.microsoft.com/office/powerpoint/2010/main" val="988141319"/>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noResize="1"/>
          </p:cNvSpPr>
          <p:nvPr>
            <p:ph type="sldImg"/>
          </p:nvPr>
        </p:nvSpPr>
        <p:spPr>
          <a:xfrm>
            <a:off x="142875" y="777875"/>
            <a:ext cx="6815138" cy="3835400"/>
          </a:xfrm>
          <a:solidFill>
            <a:srgbClr val="729FCF"/>
          </a:solidFill>
          <a:ln w="25400">
            <a:solidFill>
              <a:srgbClr val="3465A4"/>
            </a:solidFill>
            <a:prstDash val="solid"/>
          </a:ln>
        </p:spPr>
      </p:sp>
      <p:sp>
        <p:nvSpPr>
          <p:cNvPr id="3" name="TextBox 2"/>
          <p:cNvSpPr txBox="1"/>
          <p:nvPr/>
        </p:nvSpPr>
        <p:spPr>
          <a:xfrm>
            <a:off x="709200" y="4859280"/>
            <a:ext cx="5681880" cy="4603679"/>
          </a:xfrm>
          <a:prstGeom prst="rect">
            <a:avLst/>
          </a:prstGeom>
          <a:noFill/>
          <a:ln>
            <a:noFill/>
          </a:ln>
        </p:spPr>
        <p:txBody>
          <a:bodyPr vert="horz" wrap="none" lIns="90000" tIns="46800" rIns="90000" bIns="46800" anchor="ctr" anchorCtr="0" compatLnSpc="1">
            <a:noAutofit/>
          </a:bodyPr>
          <a:lstStyle/>
          <a:p>
            <a:pPr marL="0" marR="0" lvl="0" indent="0" algn="l" rtl="0" hangingPunct="0">
              <a:lnSpc>
                <a:spcPct val="100000"/>
              </a:lnSpc>
              <a:spcBef>
                <a:spcPts val="448"/>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endParaRPr lang="ru-RU" sz="1200" b="0" i="0" u="none" strike="noStrike" cap="none" baseline="0">
              <a:ln>
                <a:noFill/>
              </a:ln>
              <a:solidFill>
                <a:srgbClr val="000000"/>
              </a:solidFill>
              <a:latin typeface="Times New Roman" pitchFamily="18"/>
              <a:ea typeface="Microsoft YaHei" pitchFamily="2"/>
              <a:cs typeface="Mangal" pitchFamily="2"/>
            </a:endParaRPr>
          </a:p>
        </p:txBody>
      </p:sp>
    </p:spTree>
    <p:extLst>
      <p:ext uri="{BB962C8B-B14F-4D97-AF65-F5344CB8AC3E}">
        <p14:creationId xmlns:p14="http://schemas.microsoft.com/office/powerpoint/2010/main" val="3901685289"/>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noResize="1"/>
          </p:cNvSpPr>
          <p:nvPr>
            <p:ph type="sldImg"/>
          </p:nvPr>
        </p:nvSpPr>
        <p:spPr>
          <a:xfrm>
            <a:off x="142875" y="777875"/>
            <a:ext cx="6815138" cy="3835400"/>
          </a:xfrm>
          <a:solidFill>
            <a:srgbClr val="729FCF"/>
          </a:solidFill>
          <a:ln w="25400">
            <a:solidFill>
              <a:srgbClr val="3465A4"/>
            </a:solidFill>
            <a:prstDash val="solid"/>
          </a:ln>
        </p:spPr>
      </p:sp>
      <p:sp>
        <p:nvSpPr>
          <p:cNvPr id="3" name="TextBox 2"/>
          <p:cNvSpPr txBox="1"/>
          <p:nvPr/>
        </p:nvSpPr>
        <p:spPr>
          <a:xfrm>
            <a:off x="709200" y="4859280"/>
            <a:ext cx="5681880" cy="4603679"/>
          </a:xfrm>
          <a:prstGeom prst="rect">
            <a:avLst/>
          </a:prstGeom>
          <a:noFill/>
          <a:ln>
            <a:noFill/>
          </a:ln>
        </p:spPr>
        <p:txBody>
          <a:bodyPr vert="horz" wrap="none" lIns="90000" tIns="46800" rIns="90000" bIns="46800" anchor="ctr" anchorCtr="0" compatLnSpc="1">
            <a:noAutofit/>
          </a:bodyPr>
          <a:lstStyle/>
          <a:p>
            <a:pPr marL="0" marR="0" lvl="0" indent="0" algn="l" rtl="0" hangingPunct="0">
              <a:lnSpc>
                <a:spcPct val="100000"/>
              </a:lnSpc>
              <a:spcBef>
                <a:spcPts val="448"/>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endParaRPr lang="ru-RU" sz="1200" b="0" i="0" u="none" strike="noStrike" cap="none" baseline="0">
              <a:ln>
                <a:noFill/>
              </a:ln>
              <a:solidFill>
                <a:srgbClr val="000000"/>
              </a:solidFill>
              <a:latin typeface="Times New Roman" pitchFamily="18"/>
              <a:ea typeface="Microsoft YaHei" pitchFamily="2"/>
              <a:cs typeface="Mangal" pitchFamily="2"/>
            </a:endParaRPr>
          </a:p>
        </p:txBody>
      </p:sp>
    </p:spTree>
    <p:extLst>
      <p:ext uri="{BB962C8B-B14F-4D97-AF65-F5344CB8AC3E}">
        <p14:creationId xmlns:p14="http://schemas.microsoft.com/office/powerpoint/2010/main" val="396986518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noResize="1"/>
          </p:cNvSpPr>
          <p:nvPr>
            <p:ph type="sldImg"/>
          </p:nvPr>
        </p:nvSpPr>
        <p:spPr>
          <a:xfrm>
            <a:off x="142875" y="777875"/>
            <a:ext cx="6815138" cy="3835400"/>
          </a:xfrm>
          <a:solidFill>
            <a:srgbClr val="729FCF"/>
          </a:solidFill>
          <a:ln w="25400">
            <a:solidFill>
              <a:srgbClr val="3465A4"/>
            </a:solidFill>
            <a:prstDash val="solid"/>
          </a:ln>
        </p:spPr>
      </p:sp>
      <p:sp>
        <p:nvSpPr>
          <p:cNvPr id="3" name="TextBox 2"/>
          <p:cNvSpPr txBox="1"/>
          <p:nvPr/>
        </p:nvSpPr>
        <p:spPr>
          <a:xfrm>
            <a:off x="709200" y="4859280"/>
            <a:ext cx="5681880" cy="4603679"/>
          </a:xfrm>
          <a:prstGeom prst="rect">
            <a:avLst/>
          </a:prstGeom>
          <a:noFill/>
          <a:ln>
            <a:noFill/>
          </a:ln>
        </p:spPr>
        <p:txBody>
          <a:bodyPr vert="horz" wrap="none" lIns="90000" tIns="46800" rIns="90000" bIns="46800" anchor="ctr" anchorCtr="0" compatLnSpc="1">
            <a:noAutofit/>
          </a:bodyPr>
          <a:lstStyle/>
          <a:p>
            <a:pPr marL="0" marR="0" lvl="0" indent="0" algn="l" rtl="0" hangingPunct="0">
              <a:lnSpc>
                <a:spcPct val="100000"/>
              </a:lnSpc>
              <a:spcBef>
                <a:spcPts val="448"/>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endParaRPr lang="ru-RU" sz="1200" b="0" i="0" u="none" strike="noStrike" cap="none" baseline="0">
              <a:ln>
                <a:noFill/>
              </a:ln>
              <a:solidFill>
                <a:srgbClr val="000000"/>
              </a:solidFill>
              <a:latin typeface="Times New Roman" pitchFamily="18"/>
              <a:ea typeface="Microsoft YaHei" pitchFamily="2"/>
              <a:cs typeface="Mangal" pitchFamily="2"/>
            </a:endParaRPr>
          </a:p>
        </p:txBody>
      </p:sp>
    </p:spTree>
    <p:extLst>
      <p:ext uri="{BB962C8B-B14F-4D97-AF65-F5344CB8AC3E}">
        <p14:creationId xmlns:p14="http://schemas.microsoft.com/office/powerpoint/2010/main" val="3657276317"/>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noResize="1"/>
          </p:cNvSpPr>
          <p:nvPr>
            <p:ph type="sldImg"/>
          </p:nvPr>
        </p:nvSpPr>
        <p:spPr>
          <a:xfrm>
            <a:off x="142875" y="777875"/>
            <a:ext cx="6815138" cy="3835400"/>
          </a:xfrm>
          <a:solidFill>
            <a:srgbClr val="729FCF"/>
          </a:solidFill>
          <a:ln w="25400">
            <a:solidFill>
              <a:srgbClr val="3465A4"/>
            </a:solidFill>
            <a:prstDash val="solid"/>
          </a:ln>
        </p:spPr>
      </p:sp>
      <p:sp>
        <p:nvSpPr>
          <p:cNvPr id="3" name="TextBox 2"/>
          <p:cNvSpPr txBox="1"/>
          <p:nvPr/>
        </p:nvSpPr>
        <p:spPr>
          <a:xfrm>
            <a:off x="709200" y="4859280"/>
            <a:ext cx="5681880" cy="4603679"/>
          </a:xfrm>
          <a:prstGeom prst="rect">
            <a:avLst/>
          </a:prstGeom>
          <a:noFill/>
          <a:ln>
            <a:noFill/>
          </a:ln>
        </p:spPr>
        <p:txBody>
          <a:bodyPr vert="horz" wrap="none" lIns="90000" tIns="46800" rIns="90000" bIns="46800" anchor="ctr" anchorCtr="0" compatLnSpc="1">
            <a:noAutofit/>
          </a:bodyPr>
          <a:lstStyle/>
          <a:p>
            <a:pPr marL="0" marR="0" lvl="0" indent="0" algn="l" rtl="0" hangingPunct="0">
              <a:lnSpc>
                <a:spcPct val="100000"/>
              </a:lnSpc>
              <a:spcBef>
                <a:spcPts val="448"/>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endParaRPr lang="ru-RU" sz="1200" b="0" i="0" u="none" strike="noStrike" cap="none" baseline="0">
              <a:ln>
                <a:noFill/>
              </a:ln>
              <a:solidFill>
                <a:srgbClr val="000000"/>
              </a:solidFill>
              <a:latin typeface="Times New Roman" pitchFamily="18"/>
              <a:ea typeface="Microsoft YaHei" pitchFamily="2"/>
              <a:cs typeface="Mangal" pitchFamily="2"/>
            </a:endParaRPr>
          </a:p>
        </p:txBody>
      </p:sp>
    </p:spTree>
    <p:extLst>
      <p:ext uri="{BB962C8B-B14F-4D97-AF65-F5344CB8AC3E}">
        <p14:creationId xmlns:p14="http://schemas.microsoft.com/office/powerpoint/2010/main" val="4241166263"/>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noResize="1"/>
          </p:cNvSpPr>
          <p:nvPr>
            <p:ph type="sldImg"/>
          </p:nvPr>
        </p:nvSpPr>
        <p:spPr>
          <a:xfrm>
            <a:off x="142875" y="777875"/>
            <a:ext cx="6815138" cy="3835400"/>
          </a:xfrm>
          <a:solidFill>
            <a:srgbClr val="729FCF"/>
          </a:solidFill>
          <a:ln w="25400">
            <a:solidFill>
              <a:srgbClr val="3465A4"/>
            </a:solidFill>
            <a:prstDash val="solid"/>
          </a:ln>
        </p:spPr>
      </p:sp>
      <p:sp>
        <p:nvSpPr>
          <p:cNvPr id="3" name="TextBox 2"/>
          <p:cNvSpPr txBox="1"/>
          <p:nvPr/>
        </p:nvSpPr>
        <p:spPr>
          <a:xfrm>
            <a:off x="709200" y="4859280"/>
            <a:ext cx="5681880" cy="4603679"/>
          </a:xfrm>
          <a:prstGeom prst="rect">
            <a:avLst/>
          </a:prstGeom>
          <a:noFill/>
          <a:ln>
            <a:noFill/>
          </a:ln>
        </p:spPr>
        <p:txBody>
          <a:bodyPr vert="horz" wrap="none" lIns="90000" tIns="46800" rIns="90000" bIns="46800" anchor="ctr" anchorCtr="0" compatLnSpc="1">
            <a:noAutofit/>
          </a:bodyPr>
          <a:lstStyle/>
          <a:p>
            <a:pPr marL="0" marR="0" lvl="0" indent="0" algn="l" rtl="0" hangingPunct="0">
              <a:lnSpc>
                <a:spcPct val="100000"/>
              </a:lnSpc>
              <a:spcBef>
                <a:spcPts val="448"/>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endParaRPr lang="ru-RU" sz="1200" b="0" i="0" u="none" strike="noStrike" cap="none" baseline="0">
              <a:ln>
                <a:noFill/>
              </a:ln>
              <a:solidFill>
                <a:srgbClr val="000000"/>
              </a:solidFill>
              <a:latin typeface="Times New Roman" pitchFamily="18"/>
              <a:ea typeface="Microsoft YaHei" pitchFamily="2"/>
              <a:cs typeface="Mangal" pitchFamily="2"/>
            </a:endParaRPr>
          </a:p>
        </p:txBody>
      </p:sp>
    </p:spTree>
    <p:extLst>
      <p:ext uri="{BB962C8B-B14F-4D97-AF65-F5344CB8AC3E}">
        <p14:creationId xmlns:p14="http://schemas.microsoft.com/office/powerpoint/2010/main" val="1164586982"/>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noResize="1"/>
          </p:cNvSpPr>
          <p:nvPr>
            <p:ph type="sldImg"/>
          </p:nvPr>
        </p:nvSpPr>
        <p:spPr>
          <a:xfrm>
            <a:off x="142875" y="777875"/>
            <a:ext cx="6815138" cy="3835400"/>
          </a:xfrm>
          <a:solidFill>
            <a:srgbClr val="729FCF"/>
          </a:solidFill>
          <a:ln w="25400">
            <a:solidFill>
              <a:srgbClr val="3465A4"/>
            </a:solidFill>
            <a:prstDash val="solid"/>
          </a:ln>
        </p:spPr>
      </p:sp>
      <p:sp>
        <p:nvSpPr>
          <p:cNvPr id="3" name="TextBox 2"/>
          <p:cNvSpPr txBox="1"/>
          <p:nvPr/>
        </p:nvSpPr>
        <p:spPr>
          <a:xfrm>
            <a:off x="709200" y="4859280"/>
            <a:ext cx="5681880" cy="4603679"/>
          </a:xfrm>
          <a:prstGeom prst="rect">
            <a:avLst/>
          </a:prstGeom>
          <a:noFill/>
          <a:ln>
            <a:noFill/>
          </a:ln>
        </p:spPr>
        <p:txBody>
          <a:bodyPr vert="horz" wrap="none" lIns="90000" tIns="46800" rIns="90000" bIns="46800" anchor="ctr" anchorCtr="0" compatLnSpc="1">
            <a:noAutofit/>
          </a:bodyPr>
          <a:lstStyle/>
          <a:p>
            <a:pPr marL="0" marR="0" lvl="0" indent="0" algn="l" rtl="0" hangingPunct="0">
              <a:lnSpc>
                <a:spcPct val="100000"/>
              </a:lnSpc>
              <a:spcBef>
                <a:spcPts val="448"/>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endParaRPr lang="ru-RU" sz="1200" b="0" i="0" u="none" strike="noStrike" cap="none" baseline="0">
              <a:ln>
                <a:noFill/>
              </a:ln>
              <a:solidFill>
                <a:srgbClr val="000000"/>
              </a:solidFill>
              <a:latin typeface="Times New Roman" pitchFamily="18"/>
              <a:ea typeface="Microsoft YaHei" pitchFamily="2"/>
              <a:cs typeface="Mangal" pitchFamily="2"/>
            </a:endParaRPr>
          </a:p>
        </p:txBody>
      </p:sp>
    </p:spTree>
    <p:extLst>
      <p:ext uri="{BB962C8B-B14F-4D97-AF65-F5344CB8AC3E}">
        <p14:creationId xmlns:p14="http://schemas.microsoft.com/office/powerpoint/2010/main" val="2298684256"/>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noResize="1"/>
          </p:cNvSpPr>
          <p:nvPr>
            <p:ph type="sldImg"/>
          </p:nvPr>
        </p:nvSpPr>
        <p:spPr>
          <a:xfrm>
            <a:off x="142875" y="777875"/>
            <a:ext cx="6815138" cy="3835400"/>
          </a:xfrm>
          <a:solidFill>
            <a:srgbClr val="729FCF"/>
          </a:solidFill>
          <a:ln w="25400">
            <a:solidFill>
              <a:srgbClr val="3465A4"/>
            </a:solidFill>
            <a:prstDash val="solid"/>
          </a:ln>
        </p:spPr>
      </p:sp>
      <p:sp>
        <p:nvSpPr>
          <p:cNvPr id="3" name="TextBox 2"/>
          <p:cNvSpPr txBox="1"/>
          <p:nvPr/>
        </p:nvSpPr>
        <p:spPr>
          <a:xfrm>
            <a:off x="709200" y="4859280"/>
            <a:ext cx="5681880" cy="4603679"/>
          </a:xfrm>
          <a:prstGeom prst="rect">
            <a:avLst/>
          </a:prstGeom>
          <a:noFill/>
          <a:ln>
            <a:noFill/>
          </a:ln>
        </p:spPr>
        <p:txBody>
          <a:bodyPr vert="horz" wrap="none" lIns="90000" tIns="46800" rIns="90000" bIns="46800" anchor="ctr" anchorCtr="0" compatLnSpc="1">
            <a:noAutofit/>
          </a:bodyPr>
          <a:lstStyle/>
          <a:p>
            <a:pPr marL="0" marR="0" lvl="0" indent="0" algn="l" rtl="0" hangingPunct="0">
              <a:lnSpc>
                <a:spcPct val="100000"/>
              </a:lnSpc>
              <a:spcBef>
                <a:spcPts val="448"/>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endParaRPr lang="ru-RU" sz="1200" b="0" i="0" u="none" strike="noStrike" cap="none" baseline="0">
              <a:ln>
                <a:noFill/>
              </a:ln>
              <a:solidFill>
                <a:srgbClr val="000000"/>
              </a:solidFill>
              <a:latin typeface="Times New Roman" pitchFamily="18"/>
              <a:ea typeface="Microsoft YaHei" pitchFamily="2"/>
              <a:cs typeface="Mangal" pitchFamily="2"/>
            </a:endParaRPr>
          </a:p>
        </p:txBody>
      </p:sp>
    </p:spTree>
    <p:extLst>
      <p:ext uri="{BB962C8B-B14F-4D97-AF65-F5344CB8AC3E}">
        <p14:creationId xmlns:p14="http://schemas.microsoft.com/office/powerpoint/2010/main" val="1898548634"/>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noResize="1"/>
          </p:cNvSpPr>
          <p:nvPr>
            <p:ph type="sldImg"/>
          </p:nvPr>
        </p:nvSpPr>
        <p:spPr>
          <a:xfrm>
            <a:off x="142875" y="777875"/>
            <a:ext cx="6815138" cy="3835400"/>
          </a:xfrm>
          <a:solidFill>
            <a:srgbClr val="729FCF"/>
          </a:solidFill>
          <a:ln w="25400">
            <a:solidFill>
              <a:srgbClr val="3465A4"/>
            </a:solidFill>
            <a:prstDash val="solid"/>
          </a:ln>
        </p:spPr>
      </p:sp>
      <p:sp>
        <p:nvSpPr>
          <p:cNvPr id="3" name="TextBox 2"/>
          <p:cNvSpPr txBox="1"/>
          <p:nvPr/>
        </p:nvSpPr>
        <p:spPr>
          <a:xfrm>
            <a:off x="709200" y="4859280"/>
            <a:ext cx="5681880" cy="4603679"/>
          </a:xfrm>
          <a:prstGeom prst="rect">
            <a:avLst/>
          </a:prstGeom>
          <a:noFill/>
          <a:ln>
            <a:noFill/>
          </a:ln>
        </p:spPr>
        <p:txBody>
          <a:bodyPr vert="horz" wrap="none" lIns="90000" tIns="46800" rIns="90000" bIns="46800" anchor="ctr" anchorCtr="0" compatLnSpc="1">
            <a:noAutofit/>
          </a:bodyPr>
          <a:lstStyle/>
          <a:p>
            <a:pPr marL="0" marR="0" lvl="0" indent="0" algn="l" rtl="0" hangingPunct="0">
              <a:lnSpc>
                <a:spcPct val="100000"/>
              </a:lnSpc>
              <a:spcBef>
                <a:spcPts val="448"/>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endParaRPr lang="ru-RU" sz="1200" b="0" i="0" u="none" strike="noStrike" cap="none" baseline="0">
              <a:ln>
                <a:noFill/>
              </a:ln>
              <a:solidFill>
                <a:srgbClr val="000000"/>
              </a:solidFill>
              <a:latin typeface="Times New Roman" pitchFamily="18"/>
              <a:ea typeface="Microsoft YaHei" pitchFamily="2"/>
              <a:cs typeface="Mangal" pitchFamily="2"/>
            </a:endParaRPr>
          </a:p>
        </p:txBody>
      </p:sp>
    </p:spTree>
    <p:extLst>
      <p:ext uri="{BB962C8B-B14F-4D97-AF65-F5344CB8AC3E}">
        <p14:creationId xmlns:p14="http://schemas.microsoft.com/office/powerpoint/2010/main" val="4180641934"/>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noResize="1"/>
          </p:cNvSpPr>
          <p:nvPr>
            <p:ph type="sldImg"/>
          </p:nvPr>
        </p:nvSpPr>
        <p:spPr>
          <a:xfrm>
            <a:off x="142875" y="777875"/>
            <a:ext cx="6815138" cy="3835400"/>
          </a:xfrm>
          <a:solidFill>
            <a:srgbClr val="729FCF"/>
          </a:solidFill>
          <a:ln w="25400">
            <a:solidFill>
              <a:srgbClr val="3465A4"/>
            </a:solidFill>
            <a:prstDash val="solid"/>
          </a:ln>
        </p:spPr>
      </p:sp>
      <p:sp>
        <p:nvSpPr>
          <p:cNvPr id="3" name="TextBox 2"/>
          <p:cNvSpPr txBox="1"/>
          <p:nvPr/>
        </p:nvSpPr>
        <p:spPr>
          <a:xfrm>
            <a:off x="709200" y="4859280"/>
            <a:ext cx="5681880" cy="4603679"/>
          </a:xfrm>
          <a:prstGeom prst="rect">
            <a:avLst/>
          </a:prstGeom>
          <a:noFill/>
          <a:ln>
            <a:noFill/>
          </a:ln>
        </p:spPr>
        <p:txBody>
          <a:bodyPr vert="horz" wrap="none" lIns="90000" tIns="46800" rIns="90000" bIns="46800" anchor="ctr" anchorCtr="0" compatLnSpc="1">
            <a:noAutofit/>
          </a:bodyPr>
          <a:lstStyle/>
          <a:p>
            <a:pPr marL="0" marR="0" lvl="0" indent="0" algn="l" rtl="0" hangingPunct="0">
              <a:lnSpc>
                <a:spcPct val="100000"/>
              </a:lnSpc>
              <a:spcBef>
                <a:spcPts val="448"/>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endParaRPr lang="ru-RU" sz="1200" b="0" i="0" u="none" strike="noStrike" cap="none" baseline="0">
              <a:ln>
                <a:noFill/>
              </a:ln>
              <a:solidFill>
                <a:srgbClr val="000000"/>
              </a:solidFill>
              <a:latin typeface="Times New Roman" pitchFamily="18"/>
              <a:ea typeface="Microsoft YaHei" pitchFamily="2"/>
              <a:cs typeface="Mangal" pitchFamily="2"/>
            </a:endParaRPr>
          </a:p>
        </p:txBody>
      </p:sp>
    </p:spTree>
    <p:extLst>
      <p:ext uri="{BB962C8B-B14F-4D97-AF65-F5344CB8AC3E}">
        <p14:creationId xmlns:p14="http://schemas.microsoft.com/office/powerpoint/2010/main" val="3340018295"/>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noResize="1"/>
          </p:cNvSpPr>
          <p:nvPr>
            <p:ph type="sldImg"/>
          </p:nvPr>
        </p:nvSpPr>
        <p:spPr>
          <a:xfrm>
            <a:off x="142875" y="777875"/>
            <a:ext cx="6815138" cy="3835400"/>
          </a:xfrm>
          <a:solidFill>
            <a:srgbClr val="729FCF"/>
          </a:solidFill>
          <a:ln w="25400">
            <a:solidFill>
              <a:srgbClr val="3465A4"/>
            </a:solidFill>
            <a:prstDash val="solid"/>
          </a:ln>
        </p:spPr>
      </p:sp>
      <p:sp>
        <p:nvSpPr>
          <p:cNvPr id="3" name="TextBox 2"/>
          <p:cNvSpPr txBox="1"/>
          <p:nvPr/>
        </p:nvSpPr>
        <p:spPr>
          <a:xfrm>
            <a:off x="709200" y="4859280"/>
            <a:ext cx="5681880" cy="4603679"/>
          </a:xfrm>
          <a:prstGeom prst="rect">
            <a:avLst/>
          </a:prstGeom>
          <a:noFill/>
          <a:ln>
            <a:noFill/>
          </a:ln>
        </p:spPr>
        <p:txBody>
          <a:bodyPr vert="horz" wrap="none" lIns="90000" tIns="46800" rIns="90000" bIns="46800" anchor="ctr" anchorCtr="0" compatLnSpc="1">
            <a:noAutofit/>
          </a:bodyPr>
          <a:lstStyle/>
          <a:p>
            <a:pPr marL="0" marR="0" lvl="0" indent="0" algn="l" rtl="0" hangingPunct="0">
              <a:lnSpc>
                <a:spcPct val="100000"/>
              </a:lnSpc>
              <a:spcBef>
                <a:spcPts val="448"/>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endParaRPr lang="ru-RU" sz="1200" b="0" i="0" u="none" strike="noStrike" cap="none" baseline="0">
              <a:ln>
                <a:noFill/>
              </a:ln>
              <a:solidFill>
                <a:srgbClr val="000000"/>
              </a:solidFill>
              <a:latin typeface="Times New Roman" pitchFamily="18"/>
              <a:ea typeface="Microsoft YaHei" pitchFamily="2"/>
              <a:cs typeface="Mangal" pitchFamily="2"/>
            </a:endParaRPr>
          </a:p>
        </p:txBody>
      </p:sp>
    </p:spTree>
    <p:extLst>
      <p:ext uri="{BB962C8B-B14F-4D97-AF65-F5344CB8AC3E}">
        <p14:creationId xmlns:p14="http://schemas.microsoft.com/office/powerpoint/2010/main" val="140645096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noResize="1"/>
          </p:cNvSpPr>
          <p:nvPr>
            <p:ph type="sldImg"/>
          </p:nvPr>
        </p:nvSpPr>
        <p:spPr>
          <a:xfrm>
            <a:off x="142875" y="777875"/>
            <a:ext cx="6815138" cy="3835400"/>
          </a:xfrm>
          <a:solidFill>
            <a:srgbClr val="729FCF"/>
          </a:solidFill>
          <a:ln w="25400">
            <a:solidFill>
              <a:srgbClr val="3465A4"/>
            </a:solidFill>
            <a:prstDash val="solid"/>
          </a:ln>
        </p:spPr>
      </p:sp>
      <p:sp>
        <p:nvSpPr>
          <p:cNvPr id="3" name="TextBox 2"/>
          <p:cNvSpPr txBox="1"/>
          <p:nvPr/>
        </p:nvSpPr>
        <p:spPr>
          <a:xfrm>
            <a:off x="709200" y="4859280"/>
            <a:ext cx="5681880" cy="4603679"/>
          </a:xfrm>
          <a:prstGeom prst="rect">
            <a:avLst/>
          </a:prstGeom>
          <a:noFill/>
          <a:ln>
            <a:noFill/>
          </a:ln>
        </p:spPr>
        <p:txBody>
          <a:bodyPr vert="horz" wrap="none" lIns="90000" tIns="46800" rIns="90000" bIns="46800" anchor="ctr" anchorCtr="0" compatLnSpc="1">
            <a:noAutofit/>
          </a:bodyPr>
          <a:lstStyle/>
          <a:p>
            <a:pPr marL="0" marR="0" lvl="0" indent="0" algn="l" rtl="0" hangingPunct="0">
              <a:lnSpc>
                <a:spcPct val="100000"/>
              </a:lnSpc>
              <a:spcBef>
                <a:spcPts val="448"/>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endParaRPr lang="ru-RU" sz="1200" b="0" i="0" u="none" strike="noStrike" cap="none" baseline="0">
              <a:ln>
                <a:noFill/>
              </a:ln>
              <a:solidFill>
                <a:srgbClr val="000000"/>
              </a:solidFill>
              <a:latin typeface="Times New Roman" pitchFamily="18"/>
              <a:ea typeface="Microsoft YaHei" pitchFamily="2"/>
              <a:cs typeface="Mangal" pitchFamily="2"/>
            </a:endParaRPr>
          </a:p>
        </p:txBody>
      </p:sp>
    </p:spTree>
    <p:extLst>
      <p:ext uri="{BB962C8B-B14F-4D97-AF65-F5344CB8AC3E}">
        <p14:creationId xmlns:p14="http://schemas.microsoft.com/office/powerpoint/2010/main" val="1789253586"/>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noResize="1"/>
          </p:cNvSpPr>
          <p:nvPr>
            <p:ph type="sldImg"/>
          </p:nvPr>
        </p:nvSpPr>
        <p:spPr>
          <a:xfrm>
            <a:off x="142875" y="777875"/>
            <a:ext cx="6815138" cy="3835400"/>
          </a:xfrm>
          <a:solidFill>
            <a:srgbClr val="729FCF"/>
          </a:solidFill>
          <a:ln w="25400">
            <a:solidFill>
              <a:srgbClr val="3465A4"/>
            </a:solidFill>
            <a:prstDash val="solid"/>
          </a:ln>
        </p:spPr>
      </p:sp>
      <p:sp>
        <p:nvSpPr>
          <p:cNvPr id="3" name="TextBox 2"/>
          <p:cNvSpPr txBox="1"/>
          <p:nvPr/>
        </p:nvSpPr>
        <p:spPr>
          <a:xfrm>
            <a:off x="709200" y="4859280"/>
            <a:ext cx="5681880" cy="4603679"/>
          </a:xfrm>
          <a:prstGeom prst="rect">
            <a:avLst/>
          </a:prstGeom>
          <a:noFill/>
          <a:ln>
            <a:noFill/>
          </a:ln>
        </p:spPr>
        <p:txBody>
          <a:bodyPr vert="horz" wrap="none" lIns="90000" tIns="46800" rIns="90000" bIns="46800" anchor="ctr" anchorCtr="0" compatLnSpc="1">
            <a:noAutofit/>
          </a:bodyPr>
          <a:lstStyle/>
          <a:p>
            <a:pPr marL="0" marR="0" lvl="0" indent="0" algn="l" rtl="0" hangingPunct="0">
              <a:lnSpc>
                <a:spcPct val="100000"/>
              </a:lnSpc>
              <a:spcBef>
                <a:spcPts val="448"/>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endParaRPr lang="ru-RU" sz="1200" b="0" i="0" u="none" strike="noStrike" cap="none" baseline="0">
              <a:ln>
                <a:noFill/>
              </a:ln>
              <a:solidFill>
                <a:srgbClr val="000000"/>
              </a:solidFill>
              <a:latin typeface="Times New Roman" pitchFamily="18"/>
              <a:ea typeface="Microsoft YaHei" pitchFamily="2"/>
              <a:cs typeface="Mangal" pitchFamily="2"/>
            </a:endParaRPr>
          </a:p>
        </p:txBody>
      </p:sp>
    </p:spTree>
    <p:extLst>
      <p:ext uri="{BB962C8B-B14F-4D97-AF65-F5344CB8AC3E}">
        <p14:creationId xmlns:p14="http://schemas.microsoft.com/office/powerpoint/2010/main" val="1922325784"/>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noResize="1"/>
          </p:cNvSpPr>
          <p:nvPr>
            <p:ph type="sldImg"/>
          </p:nvPr>
        </p:nvSpPr>
        <p:spPr>
          <a:xfrm>
            <a:off x="142875" y="777875"/>
            <a:ext cx="6815138" cy="3835400"/>
          </a:xfrm>
          <a:solidFill>
            <a:srgbClr val="729FCF"/>
          </a:solidFill>
          <a:ln w="25400">
            <a:solidFill>
              <a:srgbClr val="3465A4"/>
            </a:solidFill>
            <a:prstDash val="solid"/>
          </a:ln>
        </p:spPr>
      </p:sp>
      <p:sp>
        <p:nvSpPr>
          <p:cNvPr id="3" name="TextBox 2"/>
          <p:cNvSpPr txBox="1"/>
          <p:nvPr/>
        </p:nvSpPr>
        <p:spPr>
          <a:xfrm>
            <a:off x="709200" y="4859280"/>
            <a:ext cx="5681880" cy="4603679"/>
          </a:xfrm>
          <a:prstGeom prst="rect">
            <a:avLst/>
          </a:prstGeom>
          <a:noFill/>
          <a:ln>
            <a:noFill/>
          </a:ln>
        </p:spPr>
        <p:txBody>
          <a:bodyPr vert="horz" wrap="none" lIns="90000" tIns="46800" rIns="90000" bIns="46800" anchor="ctr" anchorCtr="0" compatLnSpc="1">
            <a:noAutofit/>
          </a:bodyPr>
          <a:lstStyle/>
          <a:p>
            <a:pPr marL="0" marR="0" lvl="0" indent="0" algn="l" rtl="0" hangingPunct="0">
              <a:lnSpc>
                <a:spcPct val="100000"/>
              </a:lnSpc>
              <a:spcBef>
                <a:spcPts val="448"/>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endParaRPr lang="ru-RU" sz="1200" b="0" i="0" u="none" strike="noStrike" cap="none" baseline="0">
              <a:ln>
                <a:noFill/>
              </a:ln>
              <a:solidFill>
                <a:srgbClr val="000000"/>
              </a:solidFill>
              <a:latin typeface="Times New Roman" pitchFamily="18"/>
              <a:ea typeface="Microsoft YaHei" pitchFamily="2"/>
              <a:cs typeface="Mangal" pitchFamily="2"/>
            </a:endParaRPr>
          </a:p>
        </p:txBody>
      </p:sp>
    </p:spTree>
    <p:extLst>
      <p:ext uri="{BB962C8B-B14F-4D97-AF65-F5344CB8AC3E}">
        <p14:creationId xmlns:p14="http://schemas.microsoft.com/office/powerpoint/2010/main" val="966608070"/>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noResize="1"/>
          </p:cNvSpPr>
          <p:nvPr>
            <p:ph type="sldImg"/>
          </p:nvPr>
        </p:nvSpPr>
        <p:spPr>
          <a:xfrm>
            <a:off x="142875" y="777875"/>
            <a:ext cx="6815138" cy="3835400"/>
          </a:xfrm>
          <a:solidFill>
            <a:srgbClr val="729FCF"/>
          </a:solidFill>
          <a:ln w="25400">
            <a:solidFill>
              <a:srgbClr val="3465A4"/>
            </a:solidFill>
            <a:prstDash val="solid"/>
          </a:ln>
        </p:spPr>
      </p:sp>
      <p:sp>
        <p:nvSpPr>
          <p:cNvPr id="3" name="TextBox 2"/>
          <p:cNvSpPr txBox="1"/>
          <p:nvPr/>
        </p:nvSpPr>
        <p:spPr>
          <a:xfrm>
            <a:off x="709200" y="4859280"/>
            <a:ext cx="5681880" cy="4603679"/>
          </a:xfrm>
          <a:prstGeom prst="rect">
            <a:avLst/>
          </a:prstGeom>
          <a:noFill/>
          <a:ln>
            <a:noFill/>
          </a:ln>
        </p:spPr>
        <p:txBody>
          <a:bodyPr vert="horz" wrap="none" lIns="90000" tIns="46800" rIns="90000" bIns="46800" anchor="ctr" anchorCtr="0" compatLnSpc="1">
            <a:noAutofit/>
          </a:bodyPr>
          <a:lstStyle/>
          <a:p>
            <a:pPr marL="0" marR="0" lvl="0" indent="0" algn="l" rtl="0" hangingPunct="0">
              <a:lnSpc>
                <a:spcPct val="100000"/>
              </a:lnSpc>
              <a:spcBef>
                <a:spcPts val="448"/>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endParaRPr lang="ru-RU" sz="1200" b="0" i="0" u="none" strike="noStrike" cap="none" baseline="0">
              <a:ln>
                <a:noFill/>
              </a:ln>
              <a:solidFill>
                <a:srgbClr val="000000"/>
              </a:solidFill>
              <a:latin typeface="Times New Roman" pitchFamily="18"/>
              <a:ea typeface="Microsoft YaHei" pitchFamily="2"/>
              <a:cs typeface="Mangal" pitchFamily="2"/>
            </a:endParaRPr>
          </a:p>
        </p:txBody>
      </p:sp>
    </p:spTree>
    <p:extLst>
      <p:ext uri="{BB962C8B-B14F-4D97-AF65-F5344CB8AC3E}">
        <p14:creationId xmlns:p14="http://schemas.microsoft.com/office/powerpoint/2010/main" val="2571652494"/>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noResize="1"/>
          </p:cNvSpPr>
          <p:nvPr>
            <p:ph type="sldImg"/>
          </p:nvPr>
        </p:nvSpPr>
        <p:spPr>
          <a:xfrm>
            <a:off x="142875" y="777875"/>
            <a:ext cx="6815138" cy="3835400"/>
          </a:xfrm>
          <a:solidFill>
            <a:srgbClr val="729FCF"/>
          </a:solidFill>
          <a:ln w="25400">
            <a:solidFill>
              <a:srgbClr val="3465A4"/>
            </a:solidFill>
            <a:prstDash val="solid"/>
          </a:ln>
        </p:spPr>
      </p:sp>
      <p:sp>
        <p:nvSpPr>
          <p:cNvPr id="3" name="TextBox 2"/>
          <p:cNvSpPr txBox="1"/>
          <p:nvPr/>
        </p:nvSpPr>
        <p:spPr>
          <a:xfrm>
            <a:off x="709200" y="4859280"/>
            <a:ext cx="5681880" cy="4603679"/>
          </a:xfrm>
          <a:prstGeom prst="rect">
            <a:avLst/>
          </a:prstGeom>
          <a:noFill/>
          <a:ln>
            <a:noFill/>
          </a:ln>
        </p:spPr>
        <p:txBody>
          <a:bodyPr vert="horz" wrap="none" lIns="90000" tIns="46800" rIns="90000" bIns="46800" anchor="ctr" anchorCtr="0" compatLnSpc="1">
            <a:noAutofit/>
          </a:bodyPr>
          <a:lstStyle/>
          <a:p>
            <a:pPr marL="0" marR="0" lvl="0" indent="0" algn="l" rtl="0" hangingPunct="0">
              <a:lnSpc>
                <a:spcPct val="100000"/>
              </a:lnSpc>
              <a:spcBef>
                <a:spcPts val="448"/>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endParaRPr lang="ru-RU" sz="1200" b="0" i="0" u="none" strike="noStrike" cap="none" baseline="0">
              <a:ln>
                <a:noFill/>
              </a:ln>
              <a:solidFill>
                <a:srgbClr val="000000"/>
              </a:solidFill>
              <a:latin typeface="Times New Roman" pitchFamily="18"/>
              <a:ea typeface="Microsoft YaHei" pitchFamily="2"/>
              <a:cs typeface="Mangal" pitchFamily="2"/>
            </a:endParaRPr>
          </a:p>
        </p:txBody>
      </p:sp>
    </p:spTree>
    <p:extLst>
      <p:ext uri="{BB962C8B-B14F-4D97-AF65-F5344CB8AC3E}">
        <p14:creationId xmlns:p14="http://schemas.microsoft.com/office/powerpoint/2010/main" val="1673140470"/>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D48748E-E7CE-484F-A789-9CA91BFBCF59}" type="slidenum">
              <a:rPr lang="ru-RU" altLang="ru-RU"/>
              <a:pPr/>
              <a:t>67</a:t>
            </a:fld>
            <a:endParaRPr lang="ru-RU" altLang="ru-RU"/>
          </a:p>
        </p:txBody>
      </p:sp>
      <p:sp>
        <p:nvSpPr>
          <p:cNvPr id="214018" name="Rectangle 2"/>
          <p:cNvSpPr>
            <a:spLocks noGrp="1" noRot="1" noChangeAspect="1" noChangeArrowheads="1" noTextEdit="1"/>
          </p:cNvSpPr>
          <p:nvPr>
            <p:ph type="sldImg"/>
          </p:nvPr>
        </p:nvSpPr>
        <p:spPr>
          <a:xfrm>
            <a:off x="382588" y="685800"/>
            <a:ext cx="6092825" cy="3429000"/>
          </a:xfrm>
          <a:ln/>
        </p:spPr>
      </p:sp>
      <p:sp>
        <p:nvSpPr>
          <p:cNvPr id="214019" name="Rectangle 3"/>
          <p:cNvSpPr>
            <a:spLocks noGrp="1" noChangeArrowheads="1"/>
          </p:cNvSpPr>
          <p:nvPr>
            <p:ph type="body" idx="1"/>
          </p:nvPr>
        </p:nvSpPr>
        <p:spPr/>
        <p:txBody>
          <a:bodyPr/>
          <a:lstStyle/>
          <a:p>
            <a:endParaRPr lang="ru-RU" altLang="ru-RU"/>
          </a:p>
        </p:txBody>
      </p:sp>
    </p:spTree>
    <p:extLst>
      <p:ext uri="{BB962C8B-B14F-4D97-AF65-F5344CB8AC3E}">
        <p14:creationId xmlns:p14="http://schemas.microsoft.com/office/powerpoint/2010/main" val="6704995"/>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D48748E-E7CE-484F-A789-9CA91BFBCF59}" type="slidenum">
              <a:rPr lang="ru-RU" altLang="ru-RU"/>
              <a:pPr/>
              <a:t>68</a:t>
            </a:fld>
            <a:endParaRPr lang="ru-RU" altLang="ru-RU"/>
          </a:p>
        </p:txBody>
      </p:sp>
      <p:sp>
        <p:nvSpPr>
          <p:cNvPr id="214018" name="Rectangle 2"/>
          <p:cNvSpPr>
            <a:spLocks noGrp="1" noRot="1" noChangeAspect="1" noChangeArrowheads="1" noTextEdit="1"/>
          </p:cNvSpPr>
          <p:nvPr>
            <p:ph type="sldImg"/>
          </p:nvPr>
        </p:nvSpPr>
        <p:spPr>
          <a:xfrm>
            <a:off x="382588" y="685800"/>
            <a:ext cx="6092825" cy="3429000"/>
          </a:xfrm>
          <a:ln/>
        </p:spPr>
      </p:sp>
      <p:sp>
        <p:nvSpPr>
          <p:cNvPr id="214019" name="Rectangle 3"/>
          <p:cNvSpPr>
            <a:spLocks noGrp="1" noChangeArrowheads="1"/>
          </p:cNvSpPr>
          <p:nvPr>
            <p:ph type="body" idx="1"/>
          </p:nvPr>
        </p:nvSpPr>
        <p:spPr/>
        <p:txBody>
          <a:bodyPr/>
          <a:lstStyle/>
          <a:p>
            <a:endParaRPr lang="ru-RU" altLang="ru-RU"/>
          </a:p>
        </p:txBody>
      </p:sp>
    </p:spTree>
    <p:extLst>
      <p:ext uri="{BB962C8B-B14F-4D97-AF65-F5344CB8AC3E}">
        <p14:creationId xmlns:p14="http://schemas.microsoft.com/office/powerpoint/2010/main" val="3648032056"/>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noResize="1"/>
          </p:cNvSpPr>
          <p:nvPr>
            <p:ph type="sldImg"/>
          </p:nvPr>
        </p:nvSpPr>
        <p:spPr>
          <a:xfrm>
            <a:off x="142875" y="777875"/>
            <a:ext cx="6815138" cy="3835400"/>
          </a:xfrm>
          <a:solidFill>
            <a:srgbClr val="729FCF"/>
          </a:solidFill>
          <a:ln w="25400">
            <a:solidFill>
              <a:srgbClr val="3465A4"/>
            </a:solidFill>
            <a:prstDash val="solid"/>
          </a:ln>
        </p:spPr>
      </p:sp>
      <p:sp>
        <p:nvSpPr>
          <p:cNvPr id="3" name="TextBox 2"/>
          <p:cNvSpPr txBox="1"/>
          <p:nvPr/>
        </p:nvSpPr>
        <p:spPr>
          <a:xfrm>
            <a:off x="709200" y="4859280"/>
            <a:ext cx="5681880" cy="4603679"/>
          </a:xfrm>
          <a:prstGeom prst="rect">
            <a:avLst/>
          </a:prstGeom>
          <a:noFill/>
          <a:ln>
            <a:noFill/>
          </a:ln>
        </p:spPr>
        <p:txBody>
          <a:bodyPr vert="horz" wrap="none" lIns="90000" tIns="46800" rIns="90000" bIns="46800" anchor="ctr" anchorCtr="0" compatLnSpc="1">
            <a:noAutofit/>
          </a:bodyPr>
          <a:lstStyle/>
          <a:p>
            <a:pPr marL="0" marR="0" lvl="0" indent="0" algn="l" rtl="0" hangingPunct="0">
              <a:lnSpc>
                <a:spcPct val="100000"/>
              </a:lnSpc>
              <a:spcBef>
                <a:spcPts val="448"/>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endParaRPr lang="ru-RU" sz="1200" b="0" i="0" u="none" strike="noStrike" cap="none" baseline="0">
              <a:ln>
                <a:noFill/>
              </a:ln>
              <a:solidFill>
                <a:srgbClr val="000000"/>
              </a:solidFill>
              <a:latin typeface="Times New Roman" pitchFamily="18"/>
              <a:ea typeface="Microsoft YaHei" pitchFamily="2"/>
              <a:cs typeface="Mangal" pitchFamily="2"/>
            </a:endParaRPr>
          </a:p>
        </p:txBody>
      </p:sp>
    </p:spTree>
    <p:extLst>
      <p:ext uri="{BB962C8B-B14F-4D97-AF65-F5344CB8AC3E}">
        <p14:creationId xmlns:p14="http://schemas.microsoft.com/office/powerpoint/2010/main" val="217773516"/>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noResize="1"/>
          </p:cNvSpPr>
          <p:nvPr>
            <p:ph type="sldImg"/>
          </p:nvPr>
        </p:nvSpPr>
        <p:spPr>
          <a:xfrm>
            <a:off x="142875" y="777875"/>
            <a:ext cx="6815138" cy="3835400"/>
          </a:xfrm>
          <a:solidFill>
            <a:srgbClr val="729FCF"/>
          </a:solidFill>
          <a:ln w="25400">
            <a:solidFill>
              <a:srgbClr val="3465A4"/>
            </a:solidFill>
            <a:prstDash val="solid"/>
          </a:ln>
        </p:spPr>
      </p:sp>
      <p:sp>
        <p:nvSpPr>
          <p:cNvPr id="3" name="TextBox 2"/>
          <p:cNvSpPr txBox="1"/>
          <p:nvPr/>
        </p:nvSpPr>
        <p:spPr>
          <a:xfrm>
            <a:off x="709200" y="4859280"/>
            <a:ext cx="5681880" cy="4603679"/>
          </a:xfrm>
          <a:prstGeom prst="rect">
            <a:avLst/>
          </a:prstGeom>
          <a:noFill/>
          <a:ln>
            <a:noFill/>
          </a:ln>
        </p:spPr>
        <p:txBody>
          <a:bodyPr vert="horz" wrap="none" lIns="90000" tIns="46800" rIns="90000" bIns="46800" anchor="ctr" anchorCtr="0" compatLnSpc="1">
            <a:noAutofit/>
          </a:bodyPr>
          <a:lstStyle/>
          <a:p>
            <a:pPr marL="0" marR="0" lvl="0" indent="0" algn="l" rtl="0" hangingPunct="0">
              <a:lnSpc>
                <a:spcPct val="100000"/>
              </a:lnSpc>
              <a:spcBef>
                <a:spcPts val="448"/>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endParaRPr lang="ru-RU" sz="1200" b="0" i="0" u="none" strike="noStrike" cap="none" baseline="0">
              <a:ln>
                <a:noFill/>
              </a:ln>
              <a:solidFill>
                <a:srgbClr val="000000"/>
              </a:solidFill>
              <a:latin typeface="Times New Roman" pitchFamily="18"/>
              <a:ea typeface="Microsoft YaHei" pitchFamily="2"/>
              <a:cs typeface="Mangal" pitchFamily="2"/>
            </a:endParaRPr>
          </a:p>
        </p:txBody>
      </p:sp>
    </p:spTree>
    <p:extLst>
      <p:ext uri="{BB962C8B-B14F-4D97-AF65-F5344CB8AC3E}">
        <p14:creationId xmlns:p14="http://schemas.microsoft.com/office/powerpoint/2010/main" val="2699080103"/>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noResize="1"/>
          </p:cNvSpPr>
          <p:nvPr>
            <p:ph type="sldImg"/>
          </p:nvPr>
        </p:nvSpPr>
        <p:spPr>
          <a:xfrm>
            <a:off x="142875" y="777875"/>
            <a:ext cx="6815138" cy="3835400"/>
          </a:xfrm>
          <a:solidFill>
            <a:srgbClr val="729FCF"/>
          </a:solidFill>
          <a:ln w="25400">
            <a:solidFill>
              <a:srgbClr val="3465A4"/>
            </a:solidFill>
            <a:prstDash val="solid"/>
          </a:ln>
        </p:spPr>
      </p:sp>
      <p:sp>
        <p:nvSpPr>
          <p:cNvPr id="3" name="TextBox 2"/>
          <p:cNvSpPr txBox="1"/>
          <p:nvPr/>
        </p:nvSpPr>
        <p:spPr>
          <a:xfrm>
            <a:off x="709200" y="4859280"/>
            <a:ext cx="5681880" cy="4603679"/>
          </a:xfrm>
          <a:prstGeom prst="rect">
            <a:avLst/>
          </a:prstGeom>
          <a:noFill/>
          <a:ln>
            <a:noFill/>
          </a:ln>
        </p:spPr>
        <p:txBody>
          <a:bodyPr vert="horz" wrap="none" lIns="90000" tIns="46800" rIns="90000" bIns="46800" anchor="ctr" anchorCtr="0" compatLnSpc="1">
            <a:noAutofit/>
          </a:bodyPr>
          <a:lstStyle/>
          <a:p>
            <a:pPr marL="0" marR="0" lvl="0" indent="0" algn="l" rtl="0" hangingPunct="0">
              <a:lnSpc>
                <a:spcPct val="100000"/>
              </a:lnSpc>
              <a:spcBef>
                <a:spcPts val="448"/>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endParaRPr lang="ru-RU" sz="1200" b="0" i="0" u="none" strike="noStrike" cap="none" baseline="0">
              <a:ln>
                <a:noFill/>
              </a:ln>
              <a:solidFill>
                <a:srgbClr val="000000"/>
              </a:solidFill>
              <a:latin typeface="Times New Roman" pitchFamily="18"/>
              <a:ea typeface="Microsoft YaHei" pitchFamily="2"/>
              <a:cs typeface="Mangal" pitchFamily="2"/>
            </a:endParaRPr>
          </a:p>
        </p:txBody>
      </p:sp>
    </p:spTree>
    <p:extLst>
      <p:ext uri="{BB962C8B-B14F-4D97-AF65-F5344CB8AC3E}">
        <p14:creationId xmlns:p14="http://schemas.microsoft.com/office/powerpoint/2010/main" val="1652895787"/>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noResize="1"/>
          </p:cNvSpPr>
          <p:nvPr>
            <p:ph type="sldImg"/>
          </p:nvPr>
        </p:nvSpPr>
        <p:spPr>
          <a:xfrm>
            <a:off x="142875" y="777875"/>
            <a:ext cx="6815138" cy="3835400"/>
          </a:xfrm>
          <a:solidFill>
            <a:srgbClr val="729FCF"/>
          </a:solidFill>
          <a:ln w="25400">
            <a:solidFill>
              <a:srgbClr val="3465A4"/>
            </a:solidFill>
            <a:prstDash val="solid"/>
          </a:ln>
        </p:spPr>
      </p:sp>
      <p:sp>
        <p:nvSpPr>
          <p:cNvPr id="3" name="TextBox 2"/>
          <p:cNvSpPr txBox="1"/>
          <p:nvPr/>
        </p:nvSpPr>
        <p:spPr>
          <a:xfrm>
            <a:off x="709200" y="4859280"/>
            <a:ext cx="5681880" cy="4603679"/>
          </a:xfrm>
          <a:prstGeom prst="rect">
            <a:avLst/>
          </a:prstGeom>
          <a:noFill/>
          <a:ln>
            <a:noFill/>
          </a:ln>
        </p:spPr>
        <p:txBody>
          <a:bodyPr vert="horz" wrap="none" lIns="90000" tIns="46800" rIns="90000" bIns="46800" anchor="ctr" anchorCtr="0" compatLnSpc="1">
            <a:noAutofit/>
          </a:bodyPr>
          <a:lstStyle/>
          <a:p>
            <a:pPr marL="0" marR="0" lvl="0" indent="0" algn="l" rtl="0" hangingPunct="0">
              <a:lnSpc>
                <a:spcPct val="100000"/>
              </a:lnSpc>
              <a:spcBef>
                <a:spcPts val="448"/>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endParaRPr lang="ru-RU" sz="1200" b="0" i="0" u="none" strike="noStrike" cap="none" baseline="0">
              <a:ln>
                <a:noFill/>
              </a:ln>
              <a:solidFill>
                <a:srgbClr val="000000"/>
              </a:solidFill>
              <a:latin typeface="Times New Roman" pitchFamily="18"/>
              <a:ea typeface="Microsoft YaHei" pitchFamily="2"/>
              <a:cs typeface="Mangal" pitchFamily="2"/>
            </a:endParaRPr>
          </a:p>
        </p:txBody>
      </p:sp>
    </p:spTree>
    <p:extLst>
      <p:ext uri="{BB962C8B-B14F-4D97-AF65-F5344CB8AC3E}">
        <p14:creationId xmlns:p14="http://schemas.microsoft.com/office/powerpoint/2010/main" val="1768542466"/>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noResize="1"/>
          </p:cNvSpPr>
          <p:nvPr>
            <p:ph type="sldImg"/>
          </p:nvPr>
        </p:nvSpPr>
        <p:spPr>
          <a:xfrm>
            <a:off x="142875" y="777875"/>
            <a:ext cx="6815138" cy="3835400"/>
          </a:xfrm>
          <a:solidFill>
            <a:srgbClr val="729FCF"/>
          </a:solidFill>
          <a:ln w="25400">
            <a:solidFill>
              <a:srgbClr val="3465A4"/>
            </a:solidFill>
            <a:prstDash val="solid"/>
          </a:ln>
        </p:spPr>
      </p:sp>
      <p:sp>
        <p:nvSpPr>
          <p:cNvPr id="3" name="TextBox 2"/>
          <p:cNvSpPr txBox="1"/>
          <p:nvPr/>
        </p:nvSpPr>
        <p:spPr>
          <a:xfrm>
            <a:off x="709200" y="4859280"/>
            <a:ext cx="5681880" cy="4603679"/>
          </a:xfrm>
          <a:prstGeom prst="rect">
            <a:avLst/>
          </a:prstGeom>
          <a:noFill/>
          <a:ln>
            <a:noFill/>
          </a:ln>
        </p:spPr>
        <p:txBody>
          <a:bodyPr vert="horz" wrap="none" lIns="90000" tIns="46800" rIns="90000" bIns="46800" anchor="ctr" anchorCtr="0" compatLnSpc="1">
            <a:noAutofit/>
          </a:bodyPr>
          <a:lstStyle/>
          <a:p>
            <a:pPr marL="0" marR="0" lvl="0" indent="0" algn="l" rtl="0" hangingPunct="0">
              <a:lnSpc>
                <a:spcPct val="100000"/>
              </a:lnSpc>
              <a:spcBef>
                <a:spcPts val="448"/>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endParaRPr lang="ru-RU" sz="1200" b="0" i="0" u="none" strike="noStrike" cap="none" baseline="0">
              <a:ln>
                <a:noFill/>
              </a:ln>
              <a:solidFill>
                <a:srgbClr val="000000"/>
              </a:solidFill>
              <a:latin typeface="Times New Roman" pitchFamily="18"/>
              <a:ea typeface="Microsoft YaHei" pitchFamily="2"/>
              <a:cs typeface="Mangal" pitchFamily="2"/>
            </a:endParaRPr>
          </a:p>
        </p:txBody>
      </p:sp>
    </p:spTree>
    <p:extLst>
      <p:ext uri="{BB962C8B-B14F-4D97-AF65-F5344CB8AC3E}">
        <p14:creationId xmlns:p14="http://schemas.microsoft.com/office/powerpoint/2010/main" val="2969505669"/>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noResize="1"/>
          </p:cNvSpPr>
          <p:nvPr>
            <p:ph type="sldImg"/>
          </p:nvPr>
        </p:nvSpPr>
        <p:spPr>
          <a:xfrm>
            <a:off x="142875" y="777875"/>
            <a:ext cx="6815138" cy="3835400"/>
          </a:xfrm>
          <a:solidFill>
            <a:srgbClr val="729FCF"/>
          </a:solidFill>
          <a:ln w="25400">
            <a:solidFill>
              <a:srgbClr val="3465A4"/>
            </a:solidFill>
            <a:prstDash val="solid"/>
          </a:ln>
        </p:spPr>
      </p:sp>
      <p:sp>
        <p:nvSpPr>
          <p:cNvPr id="3" name="TextBox 2"/>
          <p:cNvSpPr txBox="1"/>
          <p:nvPr/>
        </p:nvSpPr>
        <p:spPr>
          <a:xfrm>
            <a:off x="709200" y="4859280"/>
            <a:ext cx="5681880" cy="4603679"/>
          </a:xfrm>
          <a:prstGeom prst="rect">
            <a:avLst/>
          </a:prstGeom>
          <a:noFill/>
          <a:ln>
            <a:noFill/>
          </a:ln>
        </p:spPr>
        <p:txBody>
          <a:bodyPr vert="horz" wrap="none" lIns="90000" tIns="46800" rIns="90000" bIns="46800" anchor="ctr" anchorCtr="0" compatLnSpc="1">
            <a:noAutofit/>
          </a:bodyPr>
          <a:lstStyle/>
          <a:p>
            <a:pPr marL="0" marR="0" lvl="0" indent="0" algn="l" rtl="0" hangingPunct="0">
              <a:lnSpc>
                <a:spcPct val="100000"/>
              </a:lnSpc>
              <a:spcBef>
                <a:spcPts val="448"/>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endParaRPr lang="ru-RU" sz="1200" b="0" i="0" u="none" strike="noStrike" cap="none" baseline="0">
              <a:ln>
                <a:noFill/>
              </a:ln>
              <a:solidFill>
                <a:srgbClr val="000000"/>
              </a:solidFill>
              <a:latin typeface="Times New Roman" pitchFamily="18"/>
              <a:ea typeface="Microsoft YaHei" pitchFamily="2"/>
              <a:cs typeface="Mangal" pitchFamily="2"/>
            </a:endParaRPr>
          </a:p>
        </p:txBody>
      </p:sp>
    </p:spTree>
    <p:extLst>
      <p:ext uri="{BB962C8B-B14F-4D97-AF65-F5344CB8AC3E}">
        <p14:creationId xmlns:p14="http://schemas.microsoft.com/office/powerpoint/2010/main" val="249794554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noResize="1"/>
          </p:cNvSpPr>
          <p:nvPr>
            <p:ph type="sldImg"/>
          </p:nvPr>
        </p:nvSpPr>
        <p:spPr>
          <a:xfrm>
            <a:off x="142875" y="777875"/>
            <a:ext cx="6815138" cy="3835400"/>
          </a:xfrm>
          <a:solidFill>
            <a:srgbClr val="729FCF"/>
          </a:solidFill>
          <a:ln w="25400">
            <a:solidFill>
              <a:srgbClr val="3465A4"/>
            </a:solidFill>
            <a:prstDash val="solid"/>
          </a:ln>
        </p:spPr>
      </p:sp>
      <p:sp>
        <p:nvSpPr>
          <p:cNvPr id="3" name="TextBox 2"/>
          <p:cNvSpPr txBox="1"/>
          <p:nvPr/>
        </p:nvSpPr>
        <p:spPr>
          <a:xfrm>
            <a:off x="709200" y="4859280"/>
            <a:ext cx="5681880" cy="4603679"/>
          </a:xfrm>
          <a:prstGeom prst="rect">
            <a:avLst/>
          </a:prstGeom>
          <a:noFill/>
          <a:ln>
            <a:noFill/>
          </a:ln>
        </p:spPr>
        <p:txBody>
          <a:bodyPr vert="horz" wrap="none" lIns="90000" tIns="46800" rIns="90000" bIns="46800" anchor="ctr" anchorCtr="0" compatLnSpc="1">
            <a:noAutofit/>
          </a:bodyPr>
          <a:lstStyle/>
          <a:p>
            <a:pPr marL="0" marR="0" lvl="0" indent="0" algn="l" rtl="0" hangingPunct="0">
              <a:lnSpc>
                <a:spcPct val="100000"/>
              </a:lnSpc>
              <a:spcBef>
                <a:spcPts val="448"/>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endParaRPr lang="ru-RU" sz="1200" b="0" i="0" u="none" strike="noStrike" cap="none" baseline="0">
              <a:ln>
                <a:noFill/>
              </a:ln>
              <a:solidFill>
                <a:srgbClr val="000000"/>
              </a:solidFill>
              <a:latin typeface="Times New Roman" pitchFamily="18"/>
              <a:ea typeface="Microsoft YaHei" pitchFamily="2"/>
              <a:cs typeface="Mangal" pitchFamily="2"/>
            </a:endParaRPr>
          </a:p>
        </p:txBody>
      </p:sp>
    </p:spTree>
    <p:extLst>
      <p:ext uri="{BB962C8B-B14F-4D97-AF65-F5344CB8AC3E}">
        <p14:creationId xmlns:p14="http://schemas.microsoft.com/office/powerpoint/2010/main" val="763806749"/>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noResize="1"/>
          </p:cNvSpPr>
          <p:nvPr>
            <p:ph type="sldImg"/>
          </p:nvPr>
        </p:nvSpPr>
        <p:spPr>
          <a:xfrm>
            <a:off x="142875" y="777875"/>
            <a:ext cx="6815138" cy="3835400"/>
          </a:xfrm>
          <a:solidFill>
            <a:srgbClr val="729FCF"/>
          </a:solidFill>
          <a:ln w="25400">
            <a:solidFill>
              <a:srgbClr val="3465A4"/>
            </a:solidFill>
            <a:prstDash val="solid"/>
          </a:ln>
        </p:spPr>
      </p:sp>
      <p:sp>
        <p:nvSpPr>
          <p:cNvPr id="3" name="TextBox 2"/>
          <p:cNvSpPr txBox="1"/>
          <p:nvPr/>
        </p:nvSpPr>
        <p:spPr>
          <a:xfrm>
            <a:off x="709200" y="4859280"/>
            <a:ext cx="5681880" cy="4603679"/>
          </a:xfrm>
          <a:prstGeom prst="rect">
            <a:avLst/>
          </a:prstGeom>
          <a:noFill/>
          <a:ln>
            <a:noFill/>
          </a:ln>
        </p:spPr>
        <p:txBody>
          <a:bodyPr vert="horz" wrap="none" lIns="90000" tIns="46800" rIns="90000" bIns="46800" anchor="ctr" anchorCtr="0" compatLnSpc="1">
            <a:noAutofit/>
          </a:bodyPr>
          <a:lstStyle/>
          <a:p>
            <a:pPr marL="0" marR="0" lvl="0" indent="0" algn="l" rtl="0" hangingPunct="0">
              <a:lnSpc>
                <a:spcPct val="100000"/>
              </a:lnSpc>
              <a:spcBef>
                <a:spcPts val="448"/>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endParaRPr lang="ru-RU" sz="1200" b="0" i="0" u="none" strike="noStrike" cap="none" baseline="0">
              <a:ln>
                <a:noFill/>
              </a:ln>
              <a:solidFill>
                <a:srgbClr val="000000"/>
              </a:solidFill>
              <a:latin typeface="Times New Roman" pitchFamily="18"/>
              <a:ea typeface="Microsoft YaHei" pitchFamily="2"/>
              <a:cs typeface="Mangal" pitchFamily="2"/>
            </a:endParaRPr>
          </a:p>
        </p:txBody>
      </p:sp>
    </p:spTree>
    <p:extLst>
      <p:ext uri="{BB962C8B-B14F-4D97-AF65-F5344CB8AC3E}">
        <p14:creationId xmlns:p14="http://schemas.microsoft.com/office/powerpoint/2010/main" val="3997180729"/>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noResize="1"/>
          </p:cNvSpPr>
          <p:nvPr>
            <p:ph type="sldImg"/>
          </p:nvPr>
        </p:nvSpPr>
        <p:spPr>
          <a:xfrm>
            <a:off x="142875" y="777875"/>
            <a:ext cx="6815138" cy="3835400"/>
          </a:xfrm>
          <a:solidFill>
            <a:srgbClr val="729FCF"/>
          </a:solidFill>
          <a:ln w="25400">
            <a:solidFill>
              <a:srgbClr val="3465A4"/>
            </a:solidFill>
            <a:prstDash val="solid"/>
          </a:ln>
        </p:spPr>
      </p:sp>
      <p:sp>
        <p:nvSpPr>
          <p:cNvPr id="3" name="TextBox 2"/>
          <p:cNvSpPr txBox="1"/>
          <p:nvPr/>
        </p:nvSpPr>
        <p:spPr>
          <a:xfrm>
            <a:off x="709200" y="4859280"/>
            <a:ext cx="5681880" cy="4603679"/>
          </a:xfrm>
          <a:prstGeom prst="rect">
            <a:avLst/>
          </a:prstGeom>
          <a:noFill/>
          <a:ln>
            <a:noFill/>
          </a:ln>
        </p:spPr>
        <p:txBody>
          <a:bodyPr vert="horz" wrap="none" lIns="90000" tIns="46800" rIns="90000" bIns="46800" anchor="ctr" anchorCtr="0" compatLnSpc="1">
            <a:noAutofit/>
          </a:bodyPr>
          <a:lstStyle/>
          <a:p>
            <a:pPr marL="0" marR="0" lvl="0" indent="0" algn="l" rtl="0" hangingPunct="0">
              <a:lnSpc>
                <a:spcPct val="100000"/>
              </a:lnSpc>
              <a:spcBef>
                <a:spcPts val="448"/>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endParaRPr lang="ru-RU" sz="1200" b="0" i="0" u="none" strike="noStrike" cap="none" baseline="0">
              <a:ln>
                <a:noFill/>
              </a:ln>
              <a:solidFill>
                <a:srgbClr val="000000"/>
              </a:solidFill>
              <a:latin typeface="Times New Roman" pitchFamily="18"/>
              <a:ea typeface="Microsoft YaHei" pitchFamily="2"/>
              <a:cs typeface="Mangal" pitchFamily="2"/>
            </a:endParaRPr>
          </a:p>
        </p:txBody>
      </p:sp>
    </p:spTree>
    <p:extLst>
      <p:ext uri="{BB962C8B-B14F-4D97-AF65-F5344CB8AC3E}">
        <p14:creationId xmlns:p14="http://schemas.microsoft.com/office/powerpoint/2010/main" val="2698165768"/>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noResize="1"/>
          </p:cNvSpPr>
          <p:nvPr>
            <p:ph type="sldImg"/>
          </p:nvPr>
        </p:nvSpPr>
        <p:spPr>
          <a:xfrm>
            <a:off x="142875" y="777875"/>
            <a:ext cx="6815138" cy="3835400"/>
          </a:xfrm>
          <a:solidFill>
            <a:srgbClr val="729FCF"/>
          </a:solidFill>
          <a:ln w="25400">
            <a:solidFill>
              <a:srgbClr val="3465A4"/>
            </a:solidFill>
            <a:prstDash val="solid"/>
          </a:ln>
        </p:spPr>
      </p:sp>
      <p:sp>
        <p:nvSpPr>
          <p:cNvPr id="3" name="TextBox 2"/>
          <p:cNvSpPr txBox="1"/>
          <p:nvPr/>
        </p:nvSpPr>
        <p:spPr>
          <a:xfrm>
            <a:off x="709200" y="4859280"/>
            <a:ext cx="5681880" cy="4603679"/>
          </a:xfrm>
          <a:prstGeom prst="rect">
            <a:avLst/>
          </a:prstGeom>
          <a:noFill/>
          <a:ln>
            <a:noFill/>
          </a:ln>
        </p:spPr>
        <p:txBody>
          <a:bodyPr vert="horz" wrap="none" lIns="90000" tIns="46800" rIns="90000" bIns="46800" anchor="ctr" anchorCtr="0" compatLnSpc="1">
            <a:noAutofit/>
          </a:bodyPr>
          <a:lstStyle/>
          <a:p>
            <a:pPr marL="0" marR="0" lvl="0" indent="0" algn="l" rtl="0" hangingPunct="0">
              <a:lnSpc>
                <a:spcPct val="100000"/>
              </a:lnSpc>
              <a:spcBef>
                <a:spcPts val="448"/>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endParaRPr lang="ru-RU" sz="1200" b="0" i="0" u="none" strike="noStrike" cap="none" baseline="0">
              <a:ln>
                <a:noFill/>
              </a:ln>
              <a:solidFill>
                <a:srgbClr val="000000"/>
              </a:solidFill>
              <a:latin typeface="Times New Roman" pitchFamily="18"/>
              <a:ea typeface="Microsoft YaHei" pitchFamily="2"/>
              <a:cs typeface="Mangal" pitchFamily="2"/>
            </a:endParaRPr>
          </a:p>
        </p:txBody>
      </p:sp>
    </p:spTree>
    <p:extLst>
      <p:ext uri="{BB962C8B-B14F-4D97-AF65-F5344CB8AC3E}">
        <p14:creationId xmlns:p14="http://schemas.microsoft.com/office/powerpoint/2010/main" val="3400566418"/>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noResize="1"/>
          </p:cNvSpPr>
          <p:nvPr>
            <p:ph type="sldImg"/>
          </p:nvPr>
        </p:nvSpPr>
        <p:spPr>
          <a:xfrm>
            <a:off x="142875" y="777875"/>
            <a:ext cx="6815138" cy="3835400"/>
          </a:xfrm>
          <a:solidFill>
            <a:srgbClr val="729FCF"/>
          </a:solidFill>
          <a:ln w="25400">
            <a:solidFill>
              <a:srgbClr val="3465A4"/>
            </a:solidFill>
            <a:prstDash val="solid"/>
          </a:ln>
        </p:spPr>
      </p:sp>
      <p:sp>
        <p:nvSpPr>
          <p:cNvPr id="3" name="TextBox 2"/>
          <p:cNvSpPr txBox="1"/>
          <p:nvPr/>
        </p:nvSpPr>
        <p:spPr>
          <a:xfrm>
            <a:off x="709200" y="4859280"/>
            <a:ext cx="5681880" cy="4603679"/>
          </a:xfrm>
          <a:prstGeom prst="rect">
            <a:avLst/>
          </a:prstGeom>
          <a:noFill/>
          <a:ln>
            <a:noFill/>
          </a:ln>
        </p:spPr>
        <p:txBody>
          <a:bodyPr vert="horz" wrap="none" lIns="90000" tIns="46800" rIns="90000" bIns="46800" anchor="ctr" anchorCtr="0" compatLnSpc="1">
            <a:noAutofit/>
          </a:bodyPr>
          <a:lstStyle/>
          <a:p>
            <a:pPr marL="0" marR="0" lvl="0" indent="0" algn="l" rtl="0" hangingPunct="0">
              <a:lnSpc>
                <a:spcPct val="100000"/>
              </a:lnSpc>
              <a:spcBef>
                <a:spcPts val="448"/>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endParaRPr lang="ru-RU" sz="1200" b="0" i="0" u="none" strike="noStrike" cap="none" baseline="0">
              <a:ln>
                <a:noFill/>
              </a:ln>
              <a:solidFill>
                <a:srgbClr val="000000"/>
              </a:solidFill>
              <a:latin typeface="Times New Roman" pitchFamily="18"/>
              <a:ea typeface="Microsoft YaHei" pitchFamily="2"/>
              <a:cs typeface="Mangal" pitchFamily="2"/>
            </a:endParaRPr>
          </a:p>
        </p:txBody>
      </p:sp>
    </p:spTree>
    <p:extLst>
      <p:ext uri="{BB962C8B-B14F-4D97-AF65-F5344CB8AC3E}">
        <p14:creationId xmlns:p14="http://schemas.microsoft.com/office/powerpoint/2010/main" val="2684753569"/>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noResize="1"/>
          </p:cNvSpPr>
          <p:nvPr>
            <p:ph type="sldImg"/>
          </p:nvPr>
        </p:nvSpPr>
        <p:spPr>
          <a:xfrm>
            <a:off x="142875" y="777875"/>
            <a:ext cx="6815138" cy="3835400"/>
          </a:xfrm>
          <a:solidFill>
            <a:srgbClr val="729FCF"/>
          </a:solidFill>
          <a:ln w="25400">
            <a:solidFill>
              <a:srgbClr val="3465A4"/>
            </a:solidFill>
            <a:prstDash val="solid"/>
          </a:ln>
        </p:spPr>
      </p:sp>
      <p:sp>
        <p:nvSpPr>
          <p:cNvPr id="3" name="TextBox 2"/>
          <p:cNvSpPr txBox="1"/>
          <p:nvPr/>
        </p:nvSpPr>
        <p:spPr>
          <a:xfrm>
            <a:off x="709200" y="4859280"/>
            <a:ext cx="5681880" cy="4603679"/>
          </a:xfrm>
          <a:prstGeom prst="rect">
            <a:avLst/>
          </a:prstGeom>
          <a:noFill/>
          <a:ln>
            <a:noFill/>
          </a:ln>
        </p:spPr>
        <p:txBody>
          <a:bodyPr vert="horz" wrap="none" lIns="90000" tIns="46800" rIns="90000" bIns="46800" anchor="ctr" anchorCtr="0" compatLnSpc="1">
            <a:noAutofit/>
          </a:bodyPr>
          <a:lstStyle/>
          <a:p>
            <a:pPr marL="0" marR="0" lvl="0" indent="0" algn="l" rtl="0" hangingPunct="0">
              <a:lnSpc>
                <a:spcPct val="100000"/>
              </a:lnSpc>
              <a:spcBef>
                <a:spcPts val="448"/>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endParaRPr lang="ru-RU" sz="1200" b="0" i="0" u="none" strike="noStrike" cap="none" baseline="0">
              <a:ln>
                <a:noFill/>
              </a:ln>
              <a:solidFill>
                <a:srgbClr val="000000"/>
              </a:solidFill>
              <a:latin typeface="Times New Roman" pitchFamily="18"/>
              <a:ea typeface="Microsoft YaHei" pitchFamily="2"/>
              <a:cs typeface="Mangal" pitchFamily="2"/>
            </a:endParaRPr>
          </a:p>
        </p:txBody>
      </p:sp>
    </p:spTree>
    <p:extLst>
      <p:ext uri="{BB962C8B-B14F-4D97-AF65-F5344CB8AC3E}">
        <p14:creationId xmlns:p14="http://schemas.microsoft.com/office/powerpoint/2010/main" val="2801290045"/>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noResize="1"/>
          </p:cNvSpPr>
          <p:nvPr>
            <p:ph type="sldImg"/>
          </p:nvPr>
        </p:nvSpPr>
        <p:spPr>
          <a:xfrm>
            <a:off x="142875" y="777875"/>
            <a:ext cx="6815138" cy="3835400"/>
          </a:xfrm>
          <a:solidFill>
            <a:srgbClr val="729FCF"/>
          </a:solidFill>
          <a:ln w="25400">
            <a:solidFill>
              <a:srgbClr val="3465A4"/>
            </a:solidFill>
            <a:prstDash val="solid"/>
          </a:ln>
        </p:spPr>
      </p:sp>
      <p:sp>
        <p:nvSpPr>
          <p:cNvPr id="3" name="TextBox 2"/>
          <p:cNvSpPr txBox="1"/>
          <p:nvPr/>
        </p:nvSpPr>
        <p:spPr>
          <a:xfrm>
            <a:off x="709200" y="4859280"/>
            <a:ext cx="5681880" cy="4603679"/>
          </a:xfrm>
          <a:prstGeom prst="rect">
            <a:avLst/>
          </a:prstGeom>
          <a:noFill/>
          <a:ln>
            <a:noFill/>
          </a:ln>
        </p:spPr>
        <p:txBody>
          <a:bodyPr vert="horz" wrap="none" lIns="90000" tIns="46800" rIns="90000" bIns="46800" anchor="ctr" anchorCtr="0" compatLnSpc="1">
            <a:noAutofit/>
          </a:bodyPr>
          <a:lstStyle/>
          <a:p>
            <a:pPr marL="0" marR="0" lvl="0" indent="0" algn="l" rtl="0" hangingPunct="0">
              <a:lnSpc>
                <a:spcPct val="100000"/>
              </a:lnSpc>
              <a:spcBef>
                <a:spcPts val="448"/>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endParaRPr lang="ru-RU" sz="1200" b="0" i="0" u="none" strike="noStrike" cap="none" baseline="0">
              <a:ln>
                <a:noFill/>
              </a:ln>
              <a:solidFill>
                <a:srgbClr val="000000"/>
              </a:solidFill>
              <a:latin typeface="Times New Roman" pitchFamily="18"/>
              <a:ea typeface="Microsoft YaHei" pitchFamily="2"/>
              <a:cs typeface="Mangal" pitchFamily="2"/>
            </a:endParaRPr>
          </a:p>
        </p:txBody>
      </p:sp>
    </p:spTree>
    <p:extLst>
      <p:ext uri="{BB962C8B-B14F-4D97-AF65-F5344CB8AC3E}">
        <p14:creationId xmlns:p14="http://schemas.microsoft.com/office/powerpoint/2010/main" val="3786870887"/>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noResize="1"/>
          </p:cNvSpPr>
          <p:nvPr>
            <p:ph type="sldImg"/>
          </p:nvPr>
        </p:nvSpPr>
        <p:spPr>
          <a:xfrm>
            <a:off x="142875" y="777875"/>
            <a:ext cx="6815138" cy="3835400"/>
          </a:xfrm>
          <a:solidFill>
            <a:srgbClr val="729FCF"/>
          </a:solidFill>
          <a:ln w="25400">
            <a:solidFill>
              <a:srgbClr val="3465A4"/>
            </a:solidFill>
            <a:prstDash val="solid"/>
          </a:ln>
        </p:spPr>
      </p:sp>
      <p:sp>
        <p:nvSpPr>
          <p:cNvPr id="3" name="TextBox 2"/>
          <p:cNvSpPr txBox="1"/>
          <p:nvPr/>
        </p:nvSpPr>
        <p:spPr>
          <a:xfrm>
            <a:off x="709200" y="4859280"/>
            <a:ext cx="5681880" cy="4603679"/>
          </a:xfrm>
          <a:prstGeom prst="rect">
            <a:avLst/>
          </a:prstGeom>
          <a:noFill/>
          <a:ln>
            <a:noFill/>
          </a:ln>
        </p:spPr>
        <p:txBody>
          <a:bodyPr vert="horz" wrap="none" lIns="90000" tIns="46800" rIns="90000" bIns="46800" anchor="ctr" anchorCtr="0" compatLnSpc="1">
            <a:noAutofit/>
          </a:bodyPr>
          <a:lstStyle/>
          <a:p>
            <a:pPr marL="0" marR="0" lvl="0" indent="0" algn="l" rtl="0" hangingPunct="0">
              <a:lnSpc>
                <a:spcPct val="100000"/>
              </a:lnSpc>
              <a:spcBef>
                <a:spcPts val="448"/>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endParaRPr lang="ru-RU" sz="1200" b="0" i="0" u="none" strike="noStrike" cap="none" baseline="0">
              <a:ln>
                <a:noFill/>
              </a:ln>
              <a:solidFill>
                <a:srgbClr val="000000"/>
              </a:solidFill>
              <a:latin typeface="Times New Roman" pitchFamily="18"/>
              <a:ea typeface="Microsoft YaHei" pitchFamily="2"/>
              <a:cs typeface="Mangal" pitchFamily="2"/>
            </a:endParaRPr>
          </a:p>
        </p:txBody>
      </p:sp>
    </p:spTree>
    <p:extLst>
      <p:ext uri="{BB962C8B-B14F-4D97-AF65-F5344CB8AC3E}">
        <p14:creationId xmlns:p14="http://schemas.microsoft.com/office/powerpoint/2010/main" val="2730627580"/>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noResize="1"/>
          </p:cNvSpPr>
          <p:nvPr>
            <p:ph type="sldImg"/>
          </p:nvPr>
        </p:nvSpPr>
        <p:spPr>
          <a:xfrm>
            <a:off x="142875" y="777875"/>
            <a:ext cx="6815138" cy="3835400"/>
          </a:xfrm>
          <a:solidFill>
            <a:srgbClr val="729FCF"/>
          </a:solidFill>
          <a:ln w="25400">
            <a:solidFill>
              <a:srgbClr val="3465A4"/>
            </a:solidFill>
            <a:prstDash val="solid"/>
          </a:ln>
        </p:spPr>
      </p:sp>
      <p:sp>
        <p:nvSpPr>
          <p:cNvPr id="3" name="TextBox 2"/>
          <p:cNvSpPr txBox="1"/>
          <p:nvPr/>
        </p:nvSpPr>
        <p:spPr>
          <a:xfrm>
            <a:off x="709200" y="4859280"/>
            <a:ext cx="5681880" cy="4603679"/>
          </a:xfrm>
          <a:prstGeom prst="rect">
            <a:avLst/>
          </a:prstGeom>
          <a:noFill/>
          <a:ln>
            <a:noFill/>
          </a:ln>
        </p:spPr>
        <p:txBody>
          <a:bodyPr vert="horz" wrap="none" lIns="90000" tIns="46800" rIns="90000" bIns="46800" anchor="ctr" anchorCtr="0" compatLnSpc="1">
            <a:noAutofit/>
          </a:bodyPr>
          <a:lstStyle/>
          <a:p>
            <a:pPr marL="0" marR="0" lvl="0" indent="0" algn="l" rtl="0" hangingPunct="0">
              <a:lnSpc>
                <a:spcPct val="100000"/>
              </a:lnSpc>
              <a:spcBef>
                <a:spcPts val="448"/>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endParaRPr lang="ru-RU" sz="1200" b="0" i="0" u="none" strike="noStrike" cap="none" baseline="0">
              <a:ln>
                <a:noFill/>
              </a:ln>
              <a:solidFill>
                <a:srgbClr val="000000"/>
              </a:solidFill>
              <a:latin typeface="Times New Roman" pitchFamily="18"/>
              <a:ea typeface="Microsoft YaHei" pitchFamily="2"/>
              <a:cs typeface="Mangal" pitchFamily="2"/>
            </a:endParaRPr>
          </a:p>
        </p:txBody>
      </p:sp>
    </p:spTree>
    <p:extLst>
      <p:ext uri="{BB962C8B-B14F-4D97-AF65-F5344CB8AC3E}">
        <p14:creationId xmlns:p14="http://schemas.microsoft.com/office/powerpoint/2010/main" val="4051713594"/>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noResize="1"/>
          </p:cNvSpPr>
          <p:nvPr>
            <p:ph type="sldImg"/>
          </p:nvPr>
        </p:nvSpPr>
        <p:spPr>
          <a:xfrm>
            <a:off x="142875" y="777875"/>
            <a:ext cx="6815138" cy="3835400"/>
          </a:xfrm>
          <a:solidFill>
            <a:srgbClr val="729FCF"/>
          </a:solidFill>
          <a:ln w="25400">
            <a:solidFill>
              <a:srgbClr val="3465A4"/>
            </a:solidFill>
            <a:prstDash val="solid"/>
          </a:ln>
        </p:spPr>
      </p:sp>
      <p:sp>
        <p:nvSpPr>
          <p:cNvPr id="3" name="TextBox 2"/>
          <p:cNvSpPr txBox="1"/>
          <p:nvPr/>
        </p:nvSpPr>
        <p:spPr>
          <a:xfrm>
            <a:off x="709200" y="4859280"/>
            <a:ext cx="5681880" cy="4603679"/>
          </a:xfrm>
          <a:prstGeom prst="rect">
            <a:avLst/>
          </a:prstGeom>
          <a:noFill/>
          <a:ln>
            <a:noFill/>
          </a:ln>
        </p:spPr>
        <p:txBody>
          <a:bodyPr vert="horz" wrap="none" lIns="90000" tIns="46800" rIns="90000" bIns="46800" anchor="ctr" anchorCtr="0" compatLnSpc="1">
            <a:noAutofit/>
          </a:bodyPr>
          <a:lstStyle/>
          <a:p>
            <a:pPr marL="0" marR="0" lvl="0" indent="0" algn="l" rtl="0" hangingPunct="0">
              <a:lnSpc>
                <a:spcPct val="100000"/>
              </a:lnSpc>
              <a:spcBef>
                <a:spcPts val="448"/>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endParaRPr lang="ru-RU" sz="1200" b="0" i="0" u="none" strike="noStrike" cap="none" baseline="0">
              <a:ln>
                <a:noFill/>
              </a:ln>
              <a:solidFill>
                <a:srgbClr val="000000"/>
              </a:solidFill>
              <a:latin typeface="Times New Roman" pitchFamily="18"/>
              <a:ea typeface="Microsoft YaHei" pitchFamily="2"/>
              <a:cs typeface="Mangal" pitchFamily="2"/>
            </a:endParaRPr>
          </a:p>
        </p:txBody>
      </p:sp>
    </p:spTree>
    <p:extLst>
      <p:ext uri="{BB962C8B-B14F-4D97-AF65-F5344CB8AC3E}">
        <p14:creationId xmlns:p14="http://schemas.microsoft.com/office/powerpoint/2010/main" val="1679868332"/>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noResize="1"/>
          </p:cNvSpPr>
          <p:nvPr>
            <p:ph type="sldImg"/>
          </p:nvPr>
        </p:nvSpPr>
        <p:spPr>
          <a:xfrm>
            <a:off x="142875" y="777875"/>
            <a:ext cx="6815138" cy="3835400"/>
          </a:xfrm>
          <a:solidFill>
            <a:srgbClr val="729FCF"/>
          </a:solidFill>
          <a:ln w="25400">
            <a:solidFill>
              <a:srgbClr val="3465A4"/>
            </a:solidFill>
            <a:prstDash val="solid"/>
          </a:ln>
        </p:spPr>
      </p:sp>
      <p:sp>
        <p:nvSpPr>
          <p:cNvPr id="3" name="TextBox 2"/>
          <p:cNvSpPr txBox="1"/>
          <p:nvPr/>
        </p:nvSpPr>
        <p:spPr>
          <a:xfrm>
            <a:off x="709200" y="4859280"/>
            <a:ext cx="5681880" cy="4603679"/>
          </a:xfrm>
          <a:prstGeom prst="rect">
            <a:avLst/>
          </a:prstGeom>
          <a:noFill/>
          <a:ln>
            <a:noFill/>
          </a:ln>
        </p:spPr>
        <p:txBody>
          <a:bodyPr vert="horz" wrap="none" lIns="90000" tIns="46800" rIns="90000" bIns="46800" anchor="ctr" anchorCtr="0" compatLnSpc="1">
            <a:noAutofit/>
          </a:bodyPr>
          <a:lstStyle/>
          <a:p>
            <a:pPr marL="0" marR="0" lvl="0" indent="0" algn="l" rtl="0" hangingPunct="0">
              <a:lnSpc>
                <a:spcPct val="100000"/>
              </a:lnSpc>
              <a:spcBef>
                <a:spcPts val="448"/>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endParaRPr lang="ru-RU" sz="1200" b="0" i="0" u="none" strike="noStrike" cap="none" baseline="0">
              <a:ln>
                <a:noFill/>
              </a:ln>
              <a:solidFill>
                <a:srgbClr val="000000"/>
              </a:solidFill>
              <a:latin typeface="Times New Roman" pitchFamily="18"/>
              <a:ea typeface="Microsoft YaHei" pitchFamily="2"/>
              <a:cs typeface="Mangal" pitchFamily="2"/>
            </a:endParaRPr>
          </a:p>
        </p:txBody>
      </p:sp>
    </p:spTree>
    <p:extLst>
      <p:ext uri="{BB962C8B-B14F-4D97-AF65-F5344CB8AC3E}">
        <p14:creationId xmlns:p14="http://schemas.microsoft.com/office/powerpoint/2010/main" val="80704987"/>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noResize="1"/>
          </p:cNvSpPr>
          <p:nvPr>
            <p:ph type="sldImg"/>
          </p:nvPr>
        </p:nvSpPr>
        <p:spPr>
          <a:xfrm>
            <a:off x="142875" y="777875"/>
            <a:ext cx="6815138" cy="3835400"/>
          </a:xfrm>
          <a:solidFill>
            <a:srgbClr val="729FCF"/>
          </a:solidFill>
          <a:ln w="25400">
            <a:solidFill>
              <a:srgbClr val="3465A4"/>
            </a:solidFill>
            <a:prstDash val="solid"/>
          </a:ln>
        </p:spPr>
      </p:sp>
      <p:sp>
        <p:nvSpPr>
          <p:cNvPr id="3" name="TextBox 2"/>
          <p:cNvSpPr txBox="1"/>
          <p:nvPr/>
        </p:nvSpPr>
        <p:spPr>
          <a:xfrm>
            <a:off x="709200" y="4859280"/>
            <a:ext cx="5681880" cy="4603679"/>
          </a:xfrm>
          <a:prstGeom prst="rect">
            <a:avLst/>
          </a:prstGeom>
          <a:noFill/>
          <a:ln>
            <a:noFill/>
          </a:ln>
        </p:spPr>
        <p:txBody>
          <a:bodyPr vert="horz" wrap="none" lIns="90000" tIns="46800" rIns="90000" bIns="46800" anchor="ctr" anchorCtr="0" compatLnSpc="1">
            <a:noAutofit/>
          </a:bodyPr>
          <a:lstStyle/>
          <a:p>
            <a:pPr marL="0" marR="0" lvl="0" indent="0" algn="l" rtl="0" hangingPunct="0">
              <a:lnSpc>
                <a:spcPct val="100000"/>
              </a:lnSpc>
              <a:spcBef>
                <a:spcPts val="448"/>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endParaRPr lang="ru-RU" sz="1200" b="0" i="0" u="none" strike="noStrike" cap="none" baseline="0">
              <a:ln>
                <a:noFill/>
              </a:ln>
              <a:solidFill>
                <a:srgbClr val="000000"/>
              </a:solidFill>
              <a:latin typeface="Times New Roman" pitchFamily="18"/>
              <a:ea typeface="Microsoft YaHei" pitchFamily="2"/>
              <a:cs typeface="Mangal" pitchFamily="2"/>
            </a:endParaRPr>
          </a:p>
        </p:txBody>
      </p:sp>
    </p:spTree>
    <p:extLst>
      <p:ext uri="{BB962C8B-B14F-4D97-AF65-F5344CB8AC3E}">
        <p14:creationId xmlns:p14="http://schemas.microsoft.com/office/powerpoint/2010/main" val="24446095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noResize="1"/>
          </p:cNvSpPr>
          <p:nvPr>
            <p:ph type="sldImg"/>
          </p:nvPr>
        </p:nvSpPr>
        <p:spPr>
          <a:xfrm>
            <a:off x="142875" y="777875"/>
            <a:ext cx="6815138" cy="3835400"/>
          </a:xfrm>
          <a:solidFill>
            <a:srgbClr val="729FCF"/>
          </a:solidFill>
          <a:ln w="25400">
            <a:solidFill>
              <a:srgbClr val="3465A4"/>
            </a:solidFill>
            <a:prstDash val="solid"/>
          </a:ln>
        </p:spPr>
      </p:sp>
      <p:sp>
        <p:nvSpPr>
          <p:cNvPr id="3" name="TextBox 2"/>
          <p:cNvSpPr txBox="1"/>
          <p:nvPr/>
        </p:nvSpPr>
        <p:spPr>
          <a:xfrm>
            <a:off x="709200" y="4859280"/>
            <a:ext cx="5681880" cy="4603679"/>
          </a:xfrm>
          <a:prstGeom prst="rect">
            <a:avLst/>
          </a:prstGeom>
          <a:noFill/>
          <a:ln>
            <a:noFill/>
          </a:ln>
        </p:spPr>
        <p:txBody>
          <a:bodyPr vert="horz" wrap="none" lIns="90000" tIns="46800" rIns="90000" bIns="46800" anchor="ctr" anchorCtr="0" compatLnSpc="1">
            <a:noAutofit/>
          </a:bodyPr>
          <a:lstStyle/>
          <a:p>
            <a:pPr marL="0" marR="0" lvl="0" indent="0" algn="l" rtl="0" hangingPunct="0">
              <a:lnSpc>
                <a:spcPct val="100000"/>
              </a:lnSpc>
              <a:spcBef>
                <a:spcPts val="448"/>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endParaRPr lang="ru-RU" sz="1200" b="0" i="0" u="none" strike="noStrike" cap="none" baseline="0">
              <a:ln>
                <a:noFill/>
              </a:ln>
              <a:solidFill>
                <a:srgbClr val="000000"/>
              </a:solidFill>
              <a:latin typeface="Times New Roman" pitchFamily="18"/>
              <a:ea typeface="Microsoft YaHei" pitchFamily="2"/>
              <a:cs typeface="Mangal" pitchFamily="2"/>
            </a:endParaRPr>
          </a:p>
        </p:txBody>
      </p:sp>
    </p:spTree>
    <p:extLst>
      <p:ext uri="{BB962C8B-B14F-4D97-AF65-F5344CB8AC3E}">
        <p14:creationId xmlns:p14="http://schemas.microsoft.com/office/powerpoint/2010/main" val="4196829773"/>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noResize="1"/>
          </p:cNvSpPr>
          <p:nvPr>
            <p:ph type="sldImg"/>
          </p:nvPr>
        </p:nvSpPr>
        <p:spPr>
          <a:xfrm>
            <a:off x="142875" y="777875"/>
            <a:ext cx="6815138" cy="3835400"/>
          </a:xfrm>
          <a:solidFill>
            <a:srgbClr val="729FCF"/>
          </a:solidFill>
          <a:ln w="25400">
            <a:solidFill>
              <a:srgbClr val="3465A4"/>
            </a:solidFill>
            <a:prstDash val="solid"/>
          </a:ln>
        </p:spPr>
      </p:sp>
      <p:sp>
        <p:nvSpPr>
          <p:cNvPr id="3" name="TextBox 2"/>
          <p:cNvSpPr txBox="1"/>
          <p:nvPr/>
        </p:nvSpPr>
        <p:spPr>
          <a:xfrm>
            <a:off x="709200" y="4859280"/>
            <a:ext cx="5681880" cy="4603679"/>
          </a:xfrm>
          <a:prstGeom prst="rect">
            <a:avLst/>
          </a:prstGeom>
          <a:noFill/>
          <a:ln>
            <a:noFill/>
          </a:ln>
        </p:spPr>
        <p:txBody>
          <a:bodyPr vert="horz" wrap="none" lIns="90000" tIns="46800" rIns="90000" bIns="46800" anchor="ctr" anchorCtr="0" compatLnSpc="1">
            <a:noAutofit/>
          </a:bodyPr>
          <a:lstStyle/>
          <a:p>
            <a:pPr marL="0" marR="0" lvl="0" indent="0" algn="l" rtl="0" hangingPunct="0">
              <a:lnSpc>
                <a:spcPct val="100000"/>
              </a:lnSpc>
              <a:spcBef>
                <a:spcPts val="448"/>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endParaRPr lang="ru-RU" sz="1200" b="0" i="0" u="none" strike="noStrike" cap="none" baseline="0">
              <a:ln>
                <a:noFill/>
              </a:ln>
              <a:solidFill>
                <a:srgbClr val="000000"/>
              </a:solidFill>
              <a:latin typeface="Times New Roman" pitchFamily="18"/>
              <a:ea typeface="Microsoft YaHei" pitchFamily="2"/>
              <a:cs typeface="Mangal" pitchFamily="2"/>
            </a:endParaRPr>
          </a:p>
        </p:txBody>
      </p:sp>
    </p:spTree>
    <p:extLst>
      <p:ext uri="{BB962C8B-B14F-4D97-AF65-F5344CB8AC3E}">
        <p14:creationId xmlns:p14="http://schemas.microsoft.com/office/powerpoint/2010/main" val="2445175648"/>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D48748E-E7CE-484F-A789-9CA91BFBCF59}" type="slidenum">
              <a:rPr lang="ru-RU" altLang="ru-RU"/>
              <a:pPr/>
              <a:t>96</a:t>
            </a:fld>
            <a:endParaRPr lang="ru-RU" altLang="ru-RU"/>
          </a:p>
        </p:txBody>
      </p:sp>
      <p:sp>
        <p:nvSpPr>
          <p:cNvPr id="214018" name="Rectangle 2"/>
          <p:cNvSpPr>
            <a:spLocks noGrp="1" noRot="1" noChangeAspect="1" noChangeArrowheads="1" noTextEdit="1"/>
          </p:cNvSpPr>
          <p:nvPr>
            <p:ph type="sldImg"/>
          </p:nvPr>
        </p:nvSpPr>
        <p:spPr>
          <a:xfrm>
            <a:off x="382588" y="685800"/>
            <a:ext cx="6092825" cy="3429000"/>
          </a:xfrm>
          <a:ln/>
        </p:spPr>
      </p:sp>
      <p:sp>
        <p:nvSpPr>
          <p:cNvPr id="214019" name="Rectangle 3"/>
          <p:cNvSpPr>
            <a:spLocks noGrp="1" noChangeArrowheads="1"/>
          </p:cNvSpPr>
          <p:nvPr>
            <p:ph type="body" idx="1"/>
          </p:nvPr>
        </p:nvSpPr>
        <p:spPr/>
        <p:txBody>
          <a:bodyPr/>
          <a:lstStyle/>
          <a:p>
            <a:endParaRPr lang="ru-RU" altLang="ru-RU"/>
          </a:p>
        </p:txBody>
      </p:sp>
    </p:spTree>
    <p:extLst>
      <p:ext uri="{BB962C8B-B14F-4D97-AF65-F5344CB8AC3E}">
        <p14:creationId xmlns:p14="http://schemas.microsoft.com/office/powerpoint/2010/main" val="1155397508"/>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noResize="1"/>
          </p:cNvSpPr>
          <p:nvPr>
            <p:ph type="sldImg"/>
          </p:nvPr>
        </p:nvSpPr>
        <p:spPr>
          <a:xfrm>
            <a:off x="142875" y="777875"/>
            <a:ext cx="6815138" cy="3835400"/>
          </a:xfrm>
          <a:solidFill>
            <a:srgbClr val="729FCF"/>
          </a:solidFill>
          <a:ln w="25400">
            <a:solidFill>
              <a:srgbClr val="3465A4"/>
            </a:solidFill>
            <a:prstDash val="solid"/>
          </a:ln>
        </p:spPr>
      </p:sp>
      <p:sp>
        <p:nvSpPr>
          <p:cNvPr id="3" name="TextBox 2"/>
          <p:cNvSpPr txBox="1"/>
          <p:nvPr/>
        </p:nvSpPr>
        <p:spPr>
          <a:xfrm>
            <a:off x="709200" y="4859280"/>
            <a:ext cx="5681880" cy="4603679"/>
          </a:xfrm>
          <a:prstGeom prst="rect">
            <a:avLst/>
          </a:prstGeom>
          <a:noFill/>
          <a:ln>
            <a:noFill/>
          </a:ln>
        </p:spPr>
        <p:txBody>
          <a:bodyPr vert="horz" wrap="none" lIns="90000" tIns="46800" rIns="90000" bIns="46800" anchor="ctr" anchorCtr="0" compatLnSpc="1">
            <a:noAutofit/>
          </a:bodyPr>
          <a:lstStyle/>
          <a:p>
            <a:pPr marL="0" marR="0" lvl="0" indent="0" algn="l" rtl="0" hangingPunct="0">
              <a:lnSpc>
                <a:spcPct val="100000"/>
              </a:lnSpc>
              <a:spcBef>
                <a:spcPts val="448"/>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endParaRPr lang="ru-RU" sz="1200" b="0" i="0" u="none" strike="noStrike" cap="none" baseline="0">
              <a:ln>
                <a:noFill/>
              </a:ln>
              <a:solidFill>
                <a:srgbClr val="000000"/>
              </a:solidFill>
              <a:latin typeface="Times New Roman" pitchFamily="18"/>
              <a:ea typeface="Microsoft YaHei" pitchFamily="2"/>
              <a:cs typeface="Mangal" pitchFamily="2"/>
            </a:endParaRPr>
          </a:p>
        </p:txBody>
      </p:sp>
    </p:spTree>
    <p:extLst>
      <p:ext uri="{BB962C8B-B14F-4D97-AF65-F5344CB8AC3E}">
        <p14:creationId xmlns:p14="http://schemas.microsoft.com/office/powerpoint/2010/main" val="827728709"/>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noResize="1"/>
          </p:cNvSpPr>
          <p:nvPr>
            <p:ph type="sldImg"/>
          </p:nvPr>
        </p:nvSpPr>
        <p:spPr>
          <a:xfrm>
            <a:off x="142875" y="777875"/>
            <a:ext cx="6815138" cy="3835400"/>
          </a:xfrm>
          <a:solidFill>
            <a:srgbClr val="729FCF"/>
          </a:solidFill>
          <a:ln w="25400">
            <a:solidFill>
              <a:srgbClr val="3465A4"/>
            </a:solidFill>
            <a:prstDash val="solid"/>
          </a:ln>
        </p:spPr>
      </p:sp>
      <p:sp>
        <p:nvSpPr>
          <p:cNvPr id="3" name="TextBox 2"/>
          <p:cNvSpPr txBox="1"/>
          <p:nvPr/>
        </p:nvSpPr>
        <p:spPr>
          <a:xfrm>
            <a:off x="709200" y="4859280"/>
            <a:ext cx="5681880" cy="4603679"/>
          </a:xfrm>
          <a:prstGeom prst="rect">
            <a:avLst/>
          </a:prstGeom>
          <a:noFill/>
          <a:ln>
            <a:noFill/>
          </a:ln>
        </p:spPr>
        <p:txBody>
          <a:bodyPr vert="horz" wrap="none" lIns="90000" tIns="46800" rIns="90000" bIns="46800" anchor="ctr" anchorCtr="0" compatLnSpc="1">
            <a:noAutofit/>
          </a:bodyPr>
          <a:lstStyle/>
          <a:p>
            <a:pPr marL="0" marR="0" lvl="0" indent="0" algn="l" rtl="0" hangingPunct="0">
              <a:lnSpc>
                <a:spcPct val="100000"/>
              </a:lnSpc>
              <a:spcBef>
                <a:spcPts val="448"/>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endParaRPr lang="ru-RU" sz="1200" b="0" i="0" u="none" strike="noStrike" cap="none" baseline="0">
              <a:ln>
                <a:noFill/>
              </a:ln>
              <a:solidFill>
                <a:srgbClr val="000000"/>
              </a:solidFill>
              <a:latin typeface="Times New Roman" pitchFamily="18"/>
              <a:ea typeface="Microsoft YaHei" pitchFamily="2"/>
              <a:cs typeface="Mangal" pitchFamily="2"/>
            </a:endParaRPr>
          </a:p>
        </p:txBody>
      </p:sp>
    </p:spTree>
    <p:extLst>
      <p:ext uri="{BB962C8B-B14F-4D97-AF65-F5344CB8AC3E}">
        <p14:creationId xmlns:p14="http://schemas.microsoft.com/office/powerpoint/2010/main" val="364895237"/>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noResize="1"/>
          </p:cNvSpPr>
          <p:nvPr>
            <p:ph type="sldImg"/>
          </p:nvPr>
        </p:nvSpPr>
        <p:spPr>
          <a:xfrm>
            <a:off x="142875" y="777875"/>
            <a:ext cx="6815138" cy="3835400"/>
          </a:xfrm>
          <a:solidFill>
            <a:srgbClr val="729FCF"/>
          </a:solidFill>
          <a:ln w="25400">
            <a:solidFill>
              <a:srgbClr val="3465A4"/>
            </a:solidFill>
            <a:prstDash val="solid"/>
          </a:ln>
        </p:spPr>
      </p:sp>
      <p:sp>
        <p:nvSpPr>
          <p:cNvPr id="3" name="TextBox 2"/>
          <p:cNvSpPr txBox="1"/>
          <p:nvPr/>
        </p:nvSpPr>
        <p:spPr>
          <a:xfrm>
            <a:off x="709200" y="4859280"/>
            <a:ext cx="5681880" cy="4603679"/>
          </a:xfrm>
          <a:prstGeom prst="rect">
            <a:avLst/>
          </a:prstGeom>
          <a:noFill/>
          <a:ln>
            <a:noFill/>
          </a:ln>
        </p:spPr>
        <p:txBody>
          <a:bodyPr vert="horz" wrap="none" lIns="90000" tIns="46800" rIns="90000" bIns="46800" anchor="ctr" anchorCtr="0" compatLnSpc="1">
            <a:noAutofit/>
          </a:bodyPr>
          <a:lstStyle/>
          <a:p>
            <a:pPr marL="0" marR="0" lvl="0" indent="0" algn="l" rtl="0" hangingPunct="0">
              <a:lnSpc>
                <a:spcPct val="100000"/>
              </a:lnSpc>
              <a:spcBef>
                <a:spcPts val="448"/>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endParaRPr lang="ru-RU" sz="1200" b="0" i="0" u="none" strike="noStrike" cap="none" baseline="0">
              <a:ln>
                <a:noFill/>
              </a:ln>
              <a:solidFill>
                <a:srgbClr val="000000"/>
              </a:solidFill>
              <a:latin typeface="Times New Roman" pitchFamily="18"/>
              <a:ea typeface="Microsoft YaHei" pitchFamily="2"/>
              <a:cs typeface="Mangal" pitchFamily="2"/>
            </a:endParaRPr>
          </a:p>
        </p:txBody>
      </p:sp>
    </p:spTree>
    <p:extLst>
      <p:ext uri="{BB962C8B-B14F-4D97-AF65-F5344CB8AC3E}">
        <p14:creationId xmlns:p14="http://schemas.microsoft.com/office/powerpoint/2010/main" val="4267346160"/>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noResize="1"/>
          </p:cNvSpPr>
          <p:nvPr>
            <p:ph type="sldImg"/>
          </p:nvPr>
        </p:nvSpPr>
        <p:spPr>
          <a:xfrm>
            <a:off x="142875" y="777875"/>
            <a:ext cx="6815138" cy="3835400"/>
          </a:xfrm>
          <a:solidFill>
            <a:srgbClr val="729FCF"/>
          </a:solidFill>
          <a:ln w="25400">
            <a:solidFill>
              <a:srgbClr val="3465A4"/>
            </a:solidFill>
            <a:prstDash val="solid"/>
          </a:ln>
        </p:spPr>
      </p:sp>
      <p:sp>
        <p:nvSpPr>
          <p:cNvPr id="3" name="TextBox 2"/>
          <p:cNvSpPr txBox="1"/>
          <p:nvPr/>
        </p:nvSpPr>
        <p:spPr>
          <a:xfrm>
            <a:off x="709200" y="4859280"/>
            <a:ext cx="5681880" cy="4603679"/>
          </a:xfrm>
          <a:prstGeom prst="rect">
            <a:avLst/>
          </a:prstGeom>
          <a:noFill/>
          <a:ln>
            <a:noFill/>
          </a:ln>
        </p:spPr>
        <p:txBody>
          <a:bodyPr vert="horz" wrap="none" lIns="90000" tIns="46800" rIns="90000" bIns="46800" anchor="ctr" anchorCtr="0" compatLnSpc="1">
            <a:noAutofit/>
          </a:bodyPr>
          <a:lstStyle/>
          <a:p>
            <a:pPr marL="0" marR="0" lvl="0" indent="0" algn="l" rtl="0" hangingPunct="0">
              <a:lnSpc>
                <a:spcPct val="100000"/>
              </a:lnSpc>
              <a:spcBef>
                <a:spcPts val="448"/>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endParaRPr lang="ru-RU" sz="1200" b="0" i="0" u="none" strike="noStrike" cap="none" baseline="0">
              <a:ln>
                <a:noFill/>
              </a:ln>
              <a:solidFill>
                <a:srgbClr val="000000"/>
              </a:solidFill>
              <a:latin typeface="Times New Roman" pitchFamily="18"/>
              <a:ea typeface="Microsoft YaHei" pitchFamily="2"/>
              <a:cs typeface="Mangal" pitchFamily="2"/>
            </a:endParaRPr>
          </a:p>
        </p:txBody>
      </p:sp>
    </p:spTree>
    <p:extLst>
      <p:ext uri="{BB962C8B-B14F-4D97-AF65-F5344CB8AC3E}">
        <p14:creationId xmlns:p14="http://schemas.microsoft.com/office/powerpoint/2010/main" val="2536456983"/>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noResize="1"/>
          </p:cNvSpPr>
          <p:nvPr>
            <p:ph type="sldImg"/>
          </p:nvPr>
        </p:nvSpPr>
        <p:spPr>
          <a:xfrm>
            <a:off x="142875" y="777875"/>
            <a:ext cx="6815138" cy="3835400"/>
          </a:xfrm>
          <a:solidFill>
            <a:srgbClr val="729FCF"/>
          </a:solidFill>
          <a:ln w="25400">
            <a:solidFill>
              <a:srgbClr val="3465A4"/>
            </a:solidFill>
            <a:prstDash val="solid"/>
          </a:ln>
        </p:spPr>
      </p:sp>
      <p:sp>
        <p:nvSpPr>
          <p:cNvPr id="3" name="TextBox 2"/>
          <p:cNvSpPr txBox="1"/>
          <p:nvPr/>
        </p:nvSpPr>
        <p:spPr>
          <a:xfrm>
            <a:off x="709200" y="4859280"/>
            <a:ext cx="5681880" cy="4603679"/>
          </a:xfrm>
          <a:prstGeom prst="rect">
            <a:avLst/>
          </a:prstGeom>
          <a:noFill/>
          <a:ln>
            <a:noFill/>
          </a:ln>
        </p:spPr>
        <p:txBody>
          <a:bodyPr vert="horz" wrap="none" lIns="90000" tIns="46800" rIns="90000" bIns="46800" anchor="ctr" anchorCtr="0" compatLnSpc="1">
            <a:noAutofit/>
          </a:bodyPr>
          <a:lstStyle/>
          <a:p>
            <a:pPr marL="0" marR="0" lvl="0" indent="0" algn="l" rtl="0" hangingPunct="0">
              <a:lnSpc>
                <a:spcPct val="100000"/>
              </a:lnSpc>
              <a:spcBef>
                <a:spcPts val="448"/>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endParaRPr lang="ru-RU" sz="1200" b="0" i="0" u="none" strike="noStrike" cap="none" baseline="0">
              <a:ln>
                <a:noFill/>
              </a:ln>
              <a:solidFill>
                <a:srgbClr val="000000"/>
              </a:solidFill>
              <a:latin typeface="Times New Roman" pitchFamily="18"/>
              <a:ea typeface="Microsoft YaHei" pitchFamily="2"/>
              <a:cs typeface="Mangal" pitchFamily="2"/>
            </a:endParaRPr>
          </a:p>
        </p:txBody>
      </p:sp>
    </p:spTree>
    <p:extLst>
      <p:ext uri="{BB962C8B-B14F-4D97-AF65-F5344CB8AC3E}">
        <p14:creationId xmlns:p14="http://schemas.microsoft.com/office/powerpoint/2010/main" val="2916885390"/>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noResize="1"/>
          </p:cNvSpPr>
          <p:nvPr>
            <p:ph type="sldImg"/>
          </p:nvPr>
        </p:nvSpPr>
        <p:spPr>
          <a:xfrm>
            <a:off x="142875" y="777875"/>
            <a:ext cx="6815138" cy="3835400"/>
          </a:xfrm>
          <a:solidFill>
            <a:srgbClr val="729FCF"/>
          </a:solidFill>
          <a:ln w="25400">
            <a:solidFill>
              <a:srgbClr val="3465A4"/>
            </a:solidFill>
            <a:prstDash val="solid"/>
          </a:ln>
        </p:spPr>
      </p:sp>
      <p:sp>
        <p:nvSpPr>
          <p:cNvPr id="3" name="TextBox 2"/>
          <p:cNvSpPr txBox="1"/>
          <p:nvPr/>
        </p:nvSpPr>
        <p:spPr>
          <a:xfrm>
            <a:off x="709200" y="4859280"/>
            <a:ext cx="5681880" cy="4603679"/>
          </a:xfrm>
          <a:prstGeom prst="rect">
            <a:avLst/>
          </a:prstGeom>
          <a:noFill/>
          <a:ln>
            <a:noFill/>
          </a:ln>
        </p:spPr>
        <p:txBody>
          <a:bodyPr vert="horz" wrap="none" lIns="90000" tIns="46800" rIns="90000" bIns="46800" anchor="ctr" anchorCtr="0" compatLnSpc="1">
            <a:noAutofit/>
          </a:bodyPr>
          <a:lstStyle/>
          <a:p>
            <a:pPr marL="0" marR="0" lvl="0" indent="0" algn="l" rtl="0" hangingPunct="0">
              <a:lnSpc>
                <a:spcPct val="100000"/>
              </a:lnSpc>
              <a:spcBef>
                <a:spcPts val="448"/>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endParaRPr lang="ru-RU" sz="1200" b="0" i="0" u="none" strike="noStrike" cap="none" baseline="0">
              <a:ln>
                <a:noFill/>
              </a:ln>
              <a:solidFill>
                <a:srgbClr val="000000"/>
              </a:solidFill>
              <a:latin typeface="Times New Roman" pitchFamily="18"/>
              <a:ea typeface="Microsoft YaHei" pitchFamily="2"/>
              <a:cs typeface="Mangal" pitchFamily="2"/>
            </a:endParaRPr>
          </a:p>
        </p:txBody>
      </p:sp>
    </p:spTree>
    <p:extLst>
      <p:ext uri="{BB962C8B-B14F-4D97-AF65-F5344CB8AC3E}">
        <p14:creationId xmlns:p14="http://schemas.microsoft.com/office/powerpoint/2010/main" val="3885341275"/>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noResize="1"/>
          </p:cNvSpPr>
          <p:nvPr>
            <p:ph type="sldImg"/>
          </p:nvPr>
        </p:nvSpPr>
        <p:spPr>
          <a:xfrm>
            <a:off x="142875" y="777875"/>
            <a:ext cx="6815138" cy="3835400"/>
          </a:xfrm>
          <a:solidFill>
            <a:srgbClr val="729FCF"/>
          </a:solidFill>
          <a:ln w="25400">
            <a:solidFill>
              <a:srgbClr val="3465A4"/>
            </a:solidFill>
            <a:prstDash val="solid"/>
          </a:ln>
        </p:spPr>
      </p:sp>
      <p:sp>
        <p:nvSpPr>
          <p:cNvPr id="3" name="TextBox 2"/>
          <p:cNvSpPr txBox="1"/>
          <p:nvPr/>
        </p:nvSpPr>
        <p:spPr>
          <a:xfrm>
            <a:off x="709200" y="4859280"/>
            <a:ext cx="5681880" cy="4603679"/>
          </a:xfrm>
          <a:prstGeom prst="rect">
            <a:avLst/>
          </a:prstGeom>
          <a:noFill/>
          <a:ln>
            <a:noFill/>
          </a:ln>
        </p:spPr>
        <p:txBody>
          <a:bodyPr vert="horz" wrap="none" lIns="90000" tIns="46800" rIns="90000" bIns="46800" anchor="ctr" anchorCtr="0" compatLnSpc="1">
            <a:noAutofit/>
          </a:bodyPr>
          <a:lstStyle/>
          <a:p>
            <a:pPr marL="0" marR="0" lvl="0" indent="0" algn="l" rtl="0" hangingPunct="0">
              <a:lnSpc>
                <a:spcPct val="100000"/>
              </a:lnSpc>
              <a:spcBef>
                <a:spcPts val="448"/>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endParaRPr lang="ru-RU" sz="1200" b="0" i="0" u="none" strike="noStrike" cap="none" baseline="0">
              <a:ln>
                <a:noFill/>
              </a:ln>
              <a:solidFill>
                <a:srgbClr val="000000"/>
              </a:solidFill>
              <a:latin typeface="Times New Roman" pitchFamily="18"/>
              <a:ea typeface="Microsoft YaHei" pitchFamily="2"/>
              <a:cs typeface="Mangal" pitchFamily="2"/>
            </a:endParaRPr>
          </a:p>
        </p:txBody>
      </p:sp>
    </p:spTree>
    <p:extLst>
      <p:ext uri="{BB962C8B-B14F-4D97-AF65-F5344CB8AC3E}">
        <p14:creationId xmlns:p14="http://schemas.microsoft.com/office/powerpoint/2010/main" val="3937517510"/>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noResize="1"/>
          </p:cNvSpPr>
          <p:nvPr>
            <p:ph type="sldImg"/>
          </p:nvPr>
        </p:nvSpPr>
        <p:spPr>
          <a:xfrm>
            <a:off x="142875" y="777875"/>
            <a:ext cx="6815138" cy="3835400"/>
          </a:xfrm>
          <a:solidFill>
            <a:srgbClr val="729FCF"/>
          </a:solidFill>
          <a:ln w="25400">
            <a:solidFill>
              <a:srgbClr val="3465A4"/>
            </a:solidFill>
            <a:prstDash val="solid"/>
          </a:ln>
        </p:spPr>
      </p:sp>
      <p:sp>
        <p:nvSpPr>
          <p:cNvPr id="3" name="TextBox 2"/>
          <p:cNvSpPr txBox="1"/>
          <p:nvPr/>
        </p:nvSpPr>
        <p:spPr>
          <a:xfrm>
            <a:off x="709200" y="4859280"/>
            <a:ext cx="5681880" cy="4603679"/>
          </a:xfrm>
          <a:prstGeom prst="rect">
            <a:avLst/>
          </a:prstGeom>
          <a:noFill/>
          <a:ln>
            <a:noFill/>
          </a:ln>
        </p:spPr>
        <p:txBody>
          <a:bodyPr vert="horz" wrap="none" lIns="90000" tIns="46800" rIns="90000" bIns="46800" anchor="ctr" anchorCtr="0" compatLnSpc="1">
            <a:noAutofit/>
          </a:bodyPr>
          <a:lstStyle/>
          <a:p>
            <a:pPr marL="0" marR="0" lvl="0" indent="0" algn="l" rtl="0" hangingPunct="0">
              <a:lnSpc>
                <a:spcPct val="100000"/>
              </a:lnSpc>
              <a:spcBef>
                <a:spcPts val="448"/>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endParaRPr lang="ru-RU" sz="1200" b="0" i="0" u="none" strike="noStrike" cap="none" baseline="0">
              <a:ln>
                <a:noFill/>
              </a:ln>
              <a:solidFill>
                <a:srgbClr val="000000"/>
              </a:solidFill>
              <a:latin typeface="Times New Roman" pitchFamily="18"/>
              <a:ea typeface="Microsoft YaHei" pitchFamily="2"/>
              <a:cs typeface="Mangal" pitchFamily="2"/>
            </a:endParaRPr>
          </a:p>
        </p:txBody>
      </p:sp>
    </p:spTree>
    <p:extLst>
      <p:ext uri="{BB962C8B-B14F-4D97-AF65-F5344CB8AC3E}">
        <p14:creationId xmlns:p14="http://schemas.microsoft.com/office/powerpoint/2010/main" val="841022645"/>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noResize="1"/>
          </p:cNvSpPr>
          <p:nvPr>
            <p:ph type="sldImg"/>
          </p:nvPr>
        </p:nvSpPr>
        <p:spPr>
          <a:xfrm>
            <a:off x="142875" y="777875"/>
            <a:ext cx="6815138" cy="3835400"/>
          </a:xfrm>
          <a:solidFill>
            <a:srgbClr val="729FCF"/>
          </a:solidFill>
          <a:ln w="25400">
            <a:solidFill>
              <a:srgbClr val="3465A4"/>
            </a:solidFill>
            <a:prstDash val="solid"/>
          </a:ln>
        </p:spPr>
      </p:sp>
      <p:sp>
        <p:nvSpPr>
          <p:cNvPr id="3" name="TextBox 2"/>
          <p:cNvSpPr txBox="1"/>
          <p:nvPr/>
        </p:nvSpPr>
        <p:spPr>
          <a:xfrm>
            <a:off x="709200" y="4859280"/>
            <a:ext cx="5681880" cy="4603679"/>
          </a:xfrm>
          <a:prstGeom prst="rect">
            <a:avLst/>
          </a:prstGeom>
          <a:noFill/>
          <a:ln>
            <a:noFill/>
          </a:ln>
        </p:spPr>
        <p:txBody>
          <a:bodyPr vert="horz" wrap="none" lIns="90000" tIns="46800" rIns="90000" bIns="46800" anchor="ctr" anchorCtr="0" compatLnSpc="1">
            <a:noAutofit/>
          </a:bodyPr>
          <a:lstStyle/>
          <a:p>
            <a:pPr marL="0" marR="0" lvl="0" indent="0" algn="l" rtl="0" hangingPunct="0">
              <a:lnSpc>
                <a:spcPct val="100000"/>
              </a:lnSpc>
              <a:spcBef>
                <a:spcPts val="448"/>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endParaRPr lang="ru-RU" sz="1200" b="0" i="0" u="none" strike="noStrike" cap="none" baseline="0">
              <a:ln>
                <a:noFill/>
              </a:ln>
              <a:solidFill>
                <a:srgbClr val="000000"/>
              </a:solidFill>
              <a:latin typeface="Times New Roman" pitchFamily="18"/>
              <a:ea typeface="Microsoft YaHei" pitchFamily="2"/>
              <a:cs typeface="Mangal" pitchFamily="2"/>
            </a:endParaRPr>
          </a:p>
        </p:txBody>
      </p:sp>
    </p:spTree>
    <p:extLst>
      <p:ext uri="{BB962C8B-B14F-4D97-AF65-F5344CB8AC3E}">
        <p14:creationId xmlns:p14="http://schemas.microsoft.com/office/powerpoint/2010/main" val="333174120"/>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noResize="1"/>
          </p:cNvSpPr>
          <p:nvPr>
            <p:ph type="sldImg"/>
          </p:nvPr>
        </p:nvSpPr>
        <p:spPr>
          <a:xfrm>
            <a:off x="142875" y="777875"/>
            <a:ext cx="6815138" cy="3835400"/>
          </a:xfrm>
          <a:solidFill>
            <a:srgbClr val="729FCF"/>
          </a:solidFill>
          <a:ln w="25400">
            <a:solidFill>
              <a:srgbClr val="3465A4"/>
            </a:solidFill>
            <a:prstDash val="solid"/>
          </a:ln>
        </p:spPr>
      </p:sp>
      <p:sp>
        <p:nvSpPr>
          <p:cNvPr id="3" name="TextBox 2"/>
          <p:cNvSpPr txBox="1"/>
          <p:nvPr/>
        </p:nvSpPr>
        <p:spPr>
          <a:xfrm>
            <a:off x="709200" y="4859280"/>
            <a:ext cx="5681880" cy="4603679"/>
          </a:xfrm>
          <a:prstGeom prst="rect">
            <a:avLst/>
          </a:prstGeom>
          <a:noFill/>
          <a:ln>
            <a:noFill/>
          </a:ln>
        </p:spPr>
        <p:txBody>
          <a:bodyPr vert="horz" wrap="none" lIns="90000" tIns="46800" rIns="90000" bIns="46800" anchor="ctr" anchorCtr="0" compatLnSpc="1">
            <a:noAutofit/>
          </a:bodyPr>
          <a:lstStyle/>
          <a:p>
            <a:pPr marL="0" marR="0" lvl="0" indent="0" algn="l" rtl="0" hangingPunct="0">
              <a:lnSpc>
                <a:spcPct val="100000"/>
              </a:lnSpc>
              <a:spcBef>
                <a:spcPts val="448"/>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endParaRPr lang="ru-RU" sz="1200" b="0" i="0" u="none" strike="noStrike" cap="none" baseline="0">
              <a:ln>
                <a:noFill/>
              </a:ln>
              <a:solidFill>
                <a:srgbClr val="000000"/>
              </a:solidFill>
              <a:latin typeface="Times New Roman" pitchFamily="18"/>
              <a:ea typeface="Microsoft YaHei" pitchFamily="2"/>
              <a:cs typeface="Mangal" pitchFamily="2"/>
            </a:endParaRPr>
          </a:p>
        </p:txBody>
      </p:sp>
    </p:spTree>
    <p:extLst>
      <p:ext uri="{BB962C8B-B14F-4D97-AF65-F5344CB8AC3E}">
        <p14:creationId xmlns:p14="http://schemas.microsoft.com/office/powerpoint/2010/main" val="4169001096"/>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noResize="1"/>
          </p:cNvSpPr>
          <p:nvPr>
            <p:ph type="sldImg"/>
          </p:nvPr>
        </p:nvSpPr>
        <p:spPr>
          <a:xfrm>
            <a:off x="142875" y="777875"/>
            <a:ext cx="6815138" cy="3835400"/>
          </a:xfrm>
          <a:solidFill>
            <a:srgbClr val="729FCF"/>
          </a:solidFill>
          <a:ln w="25400">
            <a:solidFill>
              <a:srgbClr val="3465A4"/>
            </a:solidFill>
            <a:prstDash val="solid"/>
          </a:ln>
        </p:spPr>
      </p:sp>
      <p:sp>
        <p:nvSpPr>
          <p:cNvPr id="3" name="TextBox 2"/>
          <p:cNvSpPr txBox="1"/>
          <p:nvPr/>
        </p:nvSpPr>
        <p:spPr>
          <a:xfrm>
            <a:off x="709200" y="4859280"/>
            <a:ext cx="5681880" cy="4603679"/>
          </a:xfrm>
          <a:prstGeom prst="rect">
            <a:avLst/>
          </a:prstGeom>
          <a:noFill/>
          <a:ln>
            <a:noFill/>
          </a:ln>
        </p:spPr>
        <p:txBody>
          <a:bodyPr vert="horz" wrap="none" lIns="90000" tIns="46800" rIns="90000" bIns="46800" anchor="ctr" anchorCtr="0" compatLnSpc="1">
            <a:noAutofit/>
          </a:bodyPr>
          <a:lstStyle/>
          <a:p>
            <a:pPr marL="0" marR="0" lvl="0" indent="0" algn="l" rtl="0" hangingPunct="0">
              <a:lnSpc>
                <a:spcPct val="100000"/>
              </a:lnSpc>
              <a:spcBef>
                <a:spcPts val="448"/>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endParaRPr lang="ru-RU" sz="1200" b="0" i="0" u="none" strike="noStrike" cap="none" baseline="0">
              <a:ln>
                <a:noFill/>
              </a:ln>
              <a:solidFill>
                <a:srgbClr val="000000"/>
              </a:solidFill>
              <a:latin typeface="Times New Roman" pitchFamily="18"/>
              <a:ea typeface="Microsoft YaHei" pitchFamily="2"/>
              <a:cs typeface="Mangal" pitchFamily="2"/>
            </a:endParaRPr>
          </a:p>
        </p:txBody>
      </p:sp>
    </p:spTree>
    <p:extLst>
      <p:ext uri="{BB962C8B-B14F-4D97-AF65-F5344CB8AC3E}">
        <p14:creationId xmlns:p14="http://schemas.microsoft.com/office/powerpoint/2010/main" val="4130625727"/>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noResize="1"/>
          </p:cNvSpPr>
          <p:nvPr>
            <p:ph type="sldImg"/>
          </p:nvPr>
        </p:nvSpPr>
        <p:spPr>
          <a:xfrm>
            <a:off x="142875" y="777875"/>
            <a:ext cx="6815138" cy="3835400"/>
          </a:xfrm>
          <a:solidFill>
            <a:srgbClr val="729FCF"/>
          </a:solidFill>
          <a:ln w="25400">
            <a:solidFill>
              <a:srgbClr val="3465A4"/>
            </a:solidFill>
            <a:prstDash val="solid"/>
          </a:ln>
        </p:spPr>
      </p:sp>
      <p:sp>
        <p:nvSpPr>
          <p:cNvPr id="3" name="TextBox 2"/>
          <p:cNvSpPr txBox="1"/>
          <p:nvPr/>
        </p:nvSpPr>
        <p:spPr>
          <a:xfrm>
            <a:off x="709200" y="4859280"/>
            <a:ext cx="5681880" cy="4603679"/>
          </a:xfrm>
          <a:prstGeom prst="rect">
            <a:avLst/>
          </a:prstGeom>
          <a:noFill/>
          <a:ln>
            <a:noFill/>
          </a:ln>
        </p:spPr>
        <p:txBody>
          <a:bodyPr vert="horz" wrap="none" lIns="90000" tIns="46800" rIns="90000" bIns="46800" anchor="ctr" anchorCtr="0" compatLnSpc="1">
            <a:noAutofit/>
          </a:bodyPr>
          <a:lstStyle/>
          <a:p>
            <a:pPr marL="0" marR="0" lvl="0" indent="0" algn="l" rtl="0" hangingPunct="0">
              <a:lnSpc>
                <a:spcPct val="100000"/>
              </a:lnSpc>
              <a:spcBef>
                <a:spcPts val="448"/>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endParaRPr lang="ru-RU" sz="1200" b="0" i="0" u="none" strike="noStrike" cap="none" baseline="0">
              <a:ln>
                <a:noFill/>
              </a:ln>
              <a:solidFill>
                <a:srgbClr val="000000"/>
              </a:solidFill>
              <a:latin typeface="Times New Roman" pitchFamily="18"/>
              <a:ea typeface="Microsoft YaHei" pitchFamily="2"/>
              <a:cs typeface="Mangal" pitchFamily="2"/>
            </a:endParaRPr>
          </a:p>
        </p:txBody>
      </p:sp>
    </p:spTree>
    <p:extLst>
      <p:ext uri="{BB962C8B-B14F-4D97-AF65-F5344CB8AC3E}">
        <p14:creationId xmlns:p14="http://schemas.microsoft.com/office/powerpoint/2010/main" val="238650641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noResize="1"/>
          </p:cNvSpPr>
          <p:nvPr>
            <p:ph type="sldImg"/>
          </p:nvPr>
        </p:nvSpPr>
        <p:spPr>
          <a:xfrm>
            <a:off x="142875" y="777875"/>
            <a:ext cx="6815138" cy="3835400"/>
          </a:xfrm>
          <a:solidFill>
            <a:srgbClr val="729FCF"/>
          </a:solidFill>
          <a:ln w="25400">
            <a:solidFill>
              <a:srgbClr val="3465A4"/>
            </a:solidFill>
            <a:prstDash val="solid"/>
          </a:ln>
        </p:spPr>
      </p:sp>
      <p:sp>
        <p:nvSpPr>
          <p:cNvPr id="3" name="TextBox 2"/>
          <p:cNvSpPr txBox="1"/>
          <p:nvPr/>
        </p:nvSpPr>
        <p:spPr>
          <a:xfrm>
            <a:off x="709200" y="4859280"/>
            <a:ext cx="5681880" cy="4603679"/>
          </a:xfrm>
          <a:prstGeom prst="rect">
            <a:avLst/>
          </a:prstGeom>
          <a:noFill/>
          <a:ln>
            <a:noFill/>
          </a:ln>
        </p:spPr>
        <p:txBody>
          <a:bodyPr vert="horz" wrap="none" lIns="90000" tIns="46800" rIns="90000" bIns="46800" anchor="ctr" anchorCtr="0" compatLnSpc="1">
            <a:noAutofit/>
          </a:bodyPr>
          <a:lstStyle/>
          <a:p>
            <a:pPr marL="0" marR="0" lvl="0" indent="0" algn="l" rtl="0" hangingPunct="0">
              <a:lnSpc>
                <a:spcPct val="100000"/>
              </a:lnSpc>
              <a:spcBef>
                <a:spcPts val="448"/>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endParaRPr lang="ru-RU" sz="1200" b="0" i="0" u="none" strike="noStrike" cap="none" baseline="0">
              <a:ln>
                <a:noFill/>
              </a:ln>
              <a:solidFill>
                <a:srgbClr val="000000"/>
              </a:solidFill>
              <a:latin typeface="Times New Roman" pitchFamily="18"/>
              <a:ea typeface="Microsoft YaHei" pitchFamily="2"/>
              <a:cs typeface="Mangal" pitchFamily="2"/>
            </a:endParaRPr>
          </a:p>
        </p:txBody>
      </p:sp>
    </p:spTree>
    <p:extLst>
      <p:ext uri="{BB962C8B-B14F-4D97-AF65-F5344CB8AC3E}">
        <p14:creationId xmlns:p14="http://schemas.microsoft.com/office/powerpoint/2010/main" val="2722225935"/>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noResize="1"/>
          </p:cNvSpPr>
          <p:nvPr>
            <p:ph type="sldImg"/>
          </p:nvPr>
        </p:nvSpPr>
        <p:spPr>
          <a:xfrm>
            <a:off x="-17075150" y="-11796713"/>
            <a:ext cx="22352000" cy="12574588"/>
          </a:xfrm>
          <a:solidFill>
            <a:srgbClr val="729FCF"/>
          </a:solidFill>
          <a:ln w="25400">
            <a:solidFill>
              <a:srgbClr val="3465A4"/>
            </a:solidFill>
            <a:prstDash val="solid"/>
          </a:ln>
        </p:spPr>
      </p:sp>
      <p:sp>
        <p:nvSpPr>
          <p:cNvPr id="3" name="Заметки 2"/>
          <p:cNvSpPr txBox="1">
            <a:spLocks noGrp="1"/>
          </p:cNvSpPr>
          <p:nvPr>
            <p:ph type="body" sz="quarter" idx="1"/>
          </p:nvPr>
        </p:nvSpPr>
        <p:spPr/>
        <p:txBody>
          <a:bodyPr/>
          <a:lstStyle/>
          <a:p>
            <a:endParaRPr lang="ru-RU"/>
          </a:p>
        </p:txBody>
      </p:sp>
    </p:spTree>
    <p:extLst>
      <p:ext uri="{BB962C8B-B14F-4D97-AF65-F5344CB8AC3E}">
        <p14:creationId xmlns:p14="http://schemas.microsoft.com/office/powerpoint/2010/main" val="204025225"/>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D48748E-E7CE-484F-A789-9CA91BFBCF59}" type="slidenum">
              <a:rPr lang="ru-RU" altLang="ru-RU"/>
              <a:pPr/>
              <a:t>129</a:t>
            </a:fld>
            <a:endParaRPr lang="ru-RU" altLang="ru-RU"/>
          </a:p>
        </p:txBody>
      </p:sp>
      <p:sp>
        <p:nvSpPr>
          <p:cNvPr id="214018" name="Rectangle 2"/>
          <p:cNvSpPr>
            <a:spLocks noGrp="1" noRot="1" noChangeAspect="1" noChangeArrowheads="1" noTextEdit="1"/>
          </p:cNvSpPr>
          <p:nvPr>
            <p:ph type="sldImg"/>
          </p:nvPr>
        </p:nvSpPr>
        <p:spPr>
          <a:xfrm>
            <a:off x="382588" y="685800"/>
            <a:ext cx="6092825" cy="3429000"/>
          </a:xfrm>
          <a:ln/>
        </p:spPr>
      </p:sp>
      <p:sp>
        <p:nvSpPr>
          <p:cNvPr id="214019" name="Rectangle 3"/>
          <p:cNvSpPr>
            <a:spLocks noGrp="1" noChangeArrowheads="1"/>
          </p:cNvSpPr>
          <p:nvPr>
            <p:ph type="body" idx="1"/>
          </p:nvPr>
        </p:nvSpPr>
        <p:spPr/>
        <p:txBody>
          <a:bodyPr/>
          <a:lstStyle/>
          <a:p>
            <a:endParaRPr lang="ru-RU" altLang="ru-RU"/>
          </a:p>
        </p:txBody>
      </p:sp>
    </p:spTree>
    <p:extLst>
      <p:ext uri="{BB962C8B-B14F-4D97-AF65-F5344CB8AC3E}">
        <p14:creationId xmlns:p14="http://schemas.microsoft.com/office/powerpoint/2010/main" val="15000416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hyperlink" Target="http://presentation-creation.ru/" TargetMode="External"/><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0" y="1093921"/>
            <a:ext cx="6533647" cy="1527533"/>
          </a:xfrm>
        </p:spPr>
        <p:txBody>
          <a:bodyPr/>
          <a:lstStyle/>
          <a:p>
            <a:r>
              <a:rPr lang="ru-RU"/>
              <a:t>Образец заголовка</a:t>
            </a:r>
          </a:p>
        </p:txBody>
      </p:sp>
      <p:sp>
        <p:nvSpPr>
          <p:cNvPr id="3" name="Подзаголовок 2"/>
          <p:cNvSpPr>
            <a:spLocks noGrp="1"/>
          </p:cNvSpPr>
          <p:nvPr>
            <p:ph type="subTitle" idx="1"/>
          </p:nvPr>
        </p:nvSpPr>
        <p:spPr>
          <a:xfrm>
            <a:off x="16537" y="3114194"/>
            <a:ext cx="6417350" cy="1821162"/>
          </a:xfrm>
        </p:spPr>
        <p:txBody>
          <a:bodyPr/>
          <a:lstStyle>
            <a:lvl1pPr marL="0" indent="0" algn="ctr">
              <a:buNone/>
              <a:defRPr>
                <a:solidFill>
                  <a:schemeClr val="tx1">
                    <a:tint val="75000"/>
                  </a:schemeClr>
                </a:solidFill>
              </a:defRPr>
            </a:lvl1pPr>
            <a:lvl2pPr marL="475077" indent="0" algn="ctr">
              <a:buNone/>
              <a:defRPr>
                <a:solidFill>
                  <a:schemeClr val="tx1">
                    <a:tint val="75000"/>
                  </a:schemeClr>
                </a:solidFill>
              </a:defRPr>
            </a:lvl2pPr>
            <a:lvl3pPr marL="950153" indent="0" algn="ctr">
              <a:buNone/>
              <a:defRPr>
                <a:solidFill>
                  <a:schemeClr val="tx1">
                    <a:tint val="75000"/>
                  </a:schemeClr>
                </a:solidFill>
              </a:defRPr>
            </a:lvl3pPr>
            <a:lvl4pPr marL="1425230" indent="0" algn="ctr">
              <a:buNone/>
              <a:defRPr>
                <a:solidFill>
                  <a:schemeClr val="tx1">
                    <a:tint val="75000"/>
                  </a:schemeClr>
                </a:solidFill>
              </a:defRPr>
            </a:lvl4pPr>
            <a:lvl5pPr marL="1900306" indent="0" algn="ctr">
              <a:buNone/>
              <a:defRPr>
                <a:solidFill>
                  <a:schemeClr val="tx1">
                    <a:tint val="75000"/>
                  </a:schemeClr>
                </a:solidFill>
              </a:defRPr>
            </a:lvl5pPr>
            <a:lvl6pPr marL="2375383" indent="0" algn="ctr">
              <a:buNone/>
              <a:defRPr>
                <a:solidFill>
                  <a:schemeClr val="tx1">
                    <a:tint val="75000"/>
                  </a:schemeClr>
                </a:solidFill>
              </a:defRPr>
            </a:lvl6pPr>
            <a:lvl7pPr marL="2850459" indent="0" algn="ctr">
              <a:buNone/>
              <a:defRPr>
                <a:solidFill>
                  <a:schemeClr val="tx1">
                    <a:tint val="75000"/>
                  </a:schemeClr>
                </a:solidFill>
              </a:defRPr>
            </a:lvl7pPr>
            <a:lvl8pPr marL="3325536" indent="0" algn="ctr">
              <a:buNone/>
              <a:defRPr>
                <a:solidFill>
                  <a:schemeClr val="tx1">
                    <a:tint val="75000"/>
                  </a:schemeClr>
                </a:solidFill>
              </a:defRPr>
            </a:lvl8pPr>
            <a:lvl9pPr marL="3800612" indent="0" algn="ctr">
              <a:buNone/>
              <a:defRPr>
                <a:solidFill>
                  <a:schemeClr val="tx1">
                    <a:tint val="75000"/>
                  </a:schemeClr>
                </a:solidFill>
              </a:defRPr>
            </a:lvl9pPr>
          </a:lstStyle>
          <a:p>
            <a:r>
              <a:rPr lang="ru-RU"/>
              <a:t>Образец подзаголовка</a:t>
            </a:r>
          </a:p>
        </p:txBody>
      </p:sp>
      <p:sp>
        <p:nvSpPr>
          <p:cNvPr id="4" name="Дата 3"/>
          <p:cNvSpPr>
            <a:spLocks noGrp="1"/>
          </p:cNvSpPr>
          <p:nvPr>
            <p:ph type="dt" sz="half" idx="10"/>
          </p:nvPr>
        </p:nvSpPr>
        <p:spPr/>
        <p:txBody>
          <a:bodyPr/>
          <a:lstStyle/>
          <a:p>
            <a:fld id="{BD0DC624-5768-400D-997E-A027A2C26059}" type="datetime1">
              <a:rPr lang="ru-RU" smtClean="0"/>
              <a:t>25.04.2026</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952B6C0E-C4B9-4094-8E59-5B7DF00D5415}" type="slidenum">
              <a:rPr lang="ru-RU" smtClean="0"/>
              <a:t>‹#›</a:t>
            </a:fld>
            <a:endParaRPr lang="ru-RU"/>
          </a:p>
        </p:txBody>
      </p:sp>
      <p:sp>
        <p:nvSpPr>
          <p:cNvPr id="7" name="Прямоугольник 6"/>
          <p:cNvSpPr/>
          <p:nvPr/>
        </p:nvSpPr>
        <p:spPr>
          <a:xfrm>
            <a:off x="8785737" y="6742507"/>
            <a:ext cx="3322576" cy="380104"/>
          </a:xfrm>
          <a:prstGeom prst="rect">
            <a:avLst/>
          </a:prstGeom>
        </p:spPr>
        <p:txBody>
          <a:bodyPr wrap="none">
            <a:spAutoFit/>
          </a:bodyPr>
          <a:lstStyle/>
          <a:p>
            <a:pPr lvl="0" algn="ctr">
              <a:spcBef>
                <a:spcPct val="0"/>
              </a:spcBef>
            </a:pPr>
            <a:r>
              <a:rPr lang="en-US" sz="1870" kern="1200" dirty="0">
                <a:solidFill>
                  <a:schemeClr val="tx1"/>
                </a:solidFill>
                <a:latin typeface="+mn-lt"/>
                <a:ea typeface="+mn-ea"/>
                <a:cs typeface="+mn-cs"/>
                <a:hlinkClick r:id="rId3"/>
              </a:rPr>
              <a:t>http://presentation-creation.ru/</a:t>
            </a:r>
            <a:endParaRPr kumimoji="0" lang="en-US" sz="3325" b="0" i="0" u="none" strike="noStrike" kern="1200" cap="none" spc="0" normalizeH="0" baseline="0" noProof="0" dirty="0">
              <a:ln>
                <a:noFill/>
              </a:ln>
              <a:solidFill>
                <a:schemeClr val="tx1"/>
              </a:solidFill>
              <a:effectLst/>
              <a:uLnTx/>
              <a:uFillTx/>
              <a:latin typeface="+mn-lt"/>
              <a:ea typeface="+mn-ea"/>
              <a:cs typeface="+mn-cs"/>
            </a:endParaRPr>
          </a:p>
        </p:txBody>
      </p:sp>
    </p:spTree>
    <p:extLst>
      <p:ext uri="{BB962C8B-B14F-4D97-AF65-F5344CB8AC3E}">
        <p14:creationId xmlns:p14="http://schemas.microsoft.com/office/powerpoint/2010/main" val="10368578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Объект 2"/>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10"/>
          </p:nvPr>
        </p:nvSpPr>
        <p:spPr/>
        <p:txBody>
          <a:bodyPr/>
          <a:lstStyle/>
          <a:p>
            <a:fld id="{8349C89F-DF80-446A-A3A6-9B39ECE1156A}" type="datetime1">
              <a:rPr lang="ru-RU" smtClean="0"/>
              <a:t>25.04.2026</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952B6C0E-C4B9-4094-8E59-5B7DF00D5415}" type="slidenum">
              <a:rPr lang="ru-RU" smtClean="0"/>
              <a:t>‹#›</a:t>
            </a:fld>
            <a:endParaRPr lang="ru-RU"/>
          </a:p>
        </p:txBody>
      </p:sp>
    </p:spTree>
    <p:extLst>
      <p:ext uri="{BB962C8B-B14F-4D97-AF65-F5344CB8AC3E}">
        <p14:creationId xmlns:p14="http://schemas.microsoft.com/office/powerpoint/2010/main" val="15340210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000705" y="4579300"/>
            <a:ext cx="10768013" cy="1415360"/>
          </a:xfrm>
        </p:spPr>
        <p:txBody>
          <a:bodyPr anchor="t"/>
          <a:lstStyle>
            <a:lvl1pPr algn="l">
              <a:defRPr sz="4156" b="1" cap="all"/>
            </a:lvl1pPr>
          </a:lstStyle>
          <a:p>
            <a:r>
              <a:rPr lang="ru-RU"/>
              <a:t>Образец заголовка</a:t>
            </a:r>
          </a:p>
        </p:txBody>
      </p:sp>
      <p:sp>
        <p:nvSpPr>
          <p:cNvPr id="3" name="Текст 2"/>
          <p:cNvSpPr>
            <a:spLocks noGrp="1"/>
          </p:cNvSpPr>
          <p:nvPr>
            <p:ph type="body" idx="1"/>
          </p:nvPr>
        </p:nvSpPr>
        <p:spPr>
          <a:xfrm>
            <a:off x="1000705" y="3020426"/>
            <a:ext cx="10768013" cy="1558875"/>
          </a:xfrm>
        </p:spPr>
        <p:txBody>
          <a:bodyPr anchor="b"/>
          <a:lstStyle>
            <a:lvl1pPr marL="0" indent="0">
              <a:buNone/>
              <a:defRPr sz="2078">
                <a:solidFill>
                  <a:schemeClr val="tx1">
                    <a:tint val="75000"/>
                  </a:schemeClr>
                </a:solidFill>
              </a:defRPr>
            </a:lvl1pPr>
            <a:lvl2pPr marL="475077" indent="0">
              <a:buNone/>
              <a:defRPr sz="1870">
                <a:solidFill>
                  <a:schemeClr val="tx1">
                    <a:tint val="75000"/>
                  </a:schemeClr>
                </a:solidFill>
              </a:defRPr>
            </a:lvl2pPr>
            <a:lvl3pPr marL="950153" indent="0">
              <a:buNone/>
              <a:defRPr sz="1663">
                <a:solidFill>
                  <a:schemeClr val="tx1">
                    <a:tint val="75000"/>
                  </a:schemeClr>
                </a:solidFill>
              </a:defRPr>
            </a:lvl3pPr>
            <a:lvl4pPr marL="1425230" indent="0">
              <a:buNone/>
              <a:defRPr sz="1455">
                <a:solidFill>
                  <a:schemeClr val="tx1">
                    <a:tint val="75000"/>
                  </a:schemeClr>
                </a:solidFill>
              </a:defRPr>
            </a:lvl4pPr>
            <a:lvl5pPr marL="1900306" indent="0">
              <a:buNone/>
              <a:defRPr sz="1455">
                <a:solidFill>
                  <a:schemeClr val="tx1">
                    <a:tint val="75000"/>
                  </a:schemeClr>
                </a:solidFill>
              </a:defRPr>
            </a:lvl5pPr>
            <a:lvl6pPr marL="2375383" indent="0">
              <a:buNone/>
              <a:defRPr sz="1455">
                <a:solidFill>
                  <a:schemeClr val="tx1">
                    <a:tint val="75000"/>
                  </a:schemeClr>
                </a:solidFill>
              </a:defRPr>
            </a:lvl6pPr>
            <a:lvl7pPr marL="2850459" indent="0">
              <a:buNone/>
              <a:defRPr sz="1455">
                <a:solidFill>
                  <a:schemeClr val="tx1">
                    <a:tint val="75000"/>
                  </a:schemeClr>
                </a:solidFill>
              </a:defRPr>
            </a:lvl7pPr>
            <a:lvl8pPr marL="3325536" indent="0">
              <a:buNone/>
              <a:defRPr sz="1455">
                <a:solidFill>
                  <a:schemeClr val="tx1">
                    <a:tint val="75000"/>
                  </a:schemeClr>
                </a:solidFill>
              </a:defRPr>
            </a:lvl8pPr>
            <a:lvl9pPr marL="3800612" indent="0">
              <a:buNone/>
              <a:defRPr sz="1455">
                <a:solidFill>
                  <a:schemeClr val="tx1">
                    <a:tint val="75000"/>
                  </a:schemeClr>
                </a:solidFill>
              </a:defRPr>
            </a:lvl9pPr>
          </a:lstStyle>
          <a:p>
            <a:pPr lvl="0"/>
            <a:r>
              <a:rPr lang="ru-RU"/>
              <a:t>Образец текста</a:t>
            </a:r>
          </a:p>
        </p:txBody>
      </p:sp>
      <p:sp>
        <p:nvSpPr>
          <p:cNvPr id="4" name="Дата 3"/>
          <p:cNvSpPr>
            <a:spLocks noGrp="1"/>
          </p:cNvSpPr>
          <p:nvPr>
            <p:ph type="dt" sz="half" idx="10"/>
          </p:nvPr>
        </p:nvSpPr>
        <p:spPr/>
        <p:txBody>
          <a:bodyPr/>
          <a:lstStyle/>
          <a:p>
            <a:fld id="{0BFFD98C-BA60-4B8B-A7E3-83603F194480}" type="datetime1">
              <a:rPr lang="ru-RU" smtClean="0"/>
              <a:t>25.04.2026</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952B6C0E-C4B9-4094-8E59-5B7DF00D5415}" type="slidenum">
              <a:rPr lang="ru-RU" smtClean="0"/>
              <a:t>‹#›</a:t>
            </a:fld>
            <a:endParaRPr lang="ru-RU"/>
          </a:p>
        </p:txBody>
      </p:sp>
    </p:spTree>
    <p:extLst>
      <p:ext uri="{BB962C8B-B14F-4D97-AF65-F5344CB8AC3E}">
        <p14:creationId xmlns:p14="http://schemas.microsoft.com/office/powerpoint/2010/main" val="2842640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Объект 2"/>
          <p:cNvSpPr>
            <a:spLocks noGrp="1"/>
          </p:cNvSpPr>
          <p:nvPr>
            <p:ph sz="half" idx="1"/>
          </p:nvPr>
        </p:nvSpPr>
        <p:spPr>
          <a:xfrm>
            <a:off x="633413" y="1662802"/>
            <a:ext cx="5595144" cy="4703021"/>
          </a:xfrm>
        </p:spPr>
        <p:txBody>
          <a:bodyPr/>
          <a:lstStyle>
            <a:lvl1pPr>
              <a:defRPr sz="2909"/>
            </a:lvl1pPr>
            <a:lvl2pPr>
              <a:defRPr sz="2494"/>
            </a:lvl2pPr>
            <a:lvl3pPr>
              <a:defRPr sz="2078"/>
            </a:lvl3pPr>
            <a:lvl4pPr>
              <a:defRPr sz="1870"/>
            </a:lvl4pPr>
            <a:lvl5pPr>
              <a:defRPr sz="1870"/>
            </a:lvl5pPr>
            <a:lvl6pPr>
              <a:defRPr sz="1870"/>
            </a:lvl6pPr>
            <a:lvl7pPr>
              <a:defRPr sz="1870"/>
            </a:lvl7pPr>
            <a:lvl8pPr>
              <a:defRPr sz="1870"/>
            </a:lvl8pPr>
            <a:lvl9pPr>
              <a:defRPr sz="187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Объект 3"/>
          <p:cNvSpPr>
            <a:spLocks noGrp="1"/>
          </p:cNvSpPr>
          <p:nvPr>
            <p:ph sz="half" idx="2"/>
          </p:nvPr>
        </p:nvSpPr>
        <p:spPr>
          <a:xfrm>
            <a:off x="6439693" y="1662802"/>
            <a:ext cx="5595144" cy="4703021"/>
          </a:xfrm>
        </p:spPr>
        <p:txBody>
          <a:bodyPr/>
          <a:lstStyle>
            <a:lvl1pPr>
              <a:defRPr sz="2909"/>
            </a:lvl1pPr>
            <a:lvl2pPr>
              <a:defRPr sz="2494"/>
            </a:lvl2pPr>
            <a:lvl3pPr>
              <a:defRPr sz="2078"/>
            </a:lvl3pPr>
            <a:lvl4pPr>
              <a:defRPr sz="1870"/>
            </a:lvl4pPr>
            <a:lvl5pPr>
              <a:defRPr sz="1870"/>
            </a:lvl5pPr>
            <a:lvl6pPr>
              <a:defRPr sz="1870"/>
            </a:lvl6pPr>
            <a:lvl7pPr>
              <a:defRPr sz="1870"/>
            </a:lvl7pPr>
            <a:lvl8pPr>
              <a:defRPr sz="1870"/>
            </a:lvl8pPr>
            <a:lvl9pPr>
              <a:defRPr sz="187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Дата 4"/>
          <p:cNvSpPr>
            <a:spLocks noGrp="1"/>
          </p:cNvSpPr>
          <p:nvPr>
            <p:ph type="dt" sz="half" idx="10"/>
          </p:nvPr>
        </p:nvSpPr>
        <p:spPr/>
        <p:txBody>
          <a:bodyPr/>
          <a:lstStyle/>
          <a:p>
            <a:fld id="{8EDDC70F-1E9C-45D7-9641-3F0A68A7B0FA}" type="datetime1">
              <a:rPr lang="ru-RU" smtClean="0"/>
              <a:t>25.04.2026</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952B6C0E-C4B9-4094-8E59-5B7DF00D5415}" type="slidenum">
              <a:rPr lang="ru-RU" smtClean="0"/>
              <a:t>‹#›</a:t>
            </a:fld>
            <a:endParaRPr lang="ru-RU"/>
          </a:p>
        </p:txBody>
      </p:sp>
    </p:spTree>
    <p:extLst>
      <p:ext uri="{BB962C8B-B14F-4D97-AF65-F5344CB8AC3E}">
        <p14:creationId xmlns:p14="http://schemas.microsoft.com/office/powerpoint/2010/main" val="37748199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lvl1pPr>
              <a:defRPr/>
            </a:lvl1pPr>
          </a:lstStyle>
          <a:p>
            <a:r>
              <a:rPr lang="ru-RU"/>
              <a:t>Образец заголовка</a:t>
            </a:r>
          </a:p>
        </p:txBody>
      </p:sp>
      <p:sp>
        <p:nvSpPr>
          <p:cNvPr id="3" name="Текст 2"/>
          <p:cNvSpPr>
            <a:spLocks noGrp="1"/>
          </p:cNvSpPr>
          <p:nvPr>
            <p:ph type="body" idx="1"/>
          </p:nvPr>
        </p:nvSpPr>
        <p:spPr>
          <a:xfrm>
            <a:off x="633413" y="1595167"/>
            <a:ext cx="5597344" cy="664790"/>
          </a:xfrm>
        </p:spPr>
        <p:txBody>
          <a:bodyPr anchor="b"/>
          <a:lstStyle>
            <a:lvl1pPr marL="0" indent="0">
              <a:buNone/>
              <a:defRPr sz="2494" b="1"/>
            </a:lvl1pPr>
            <a:lvl2pPr marL="475077" indent="0">
              <a:buNone/>
              <a:defRPr sz="2078" b="1"/>
            </a:lvl2pPr>
            <a:lvl3pPr marL="950153" indent="0">
              <a:buNone/>
              <a:defRPr sz="1870" b="1"/>
            </a:lvl3pPr>
            <a:lvl4pPr marL="1425230" indent="0">
              <a:buNone/>
              <a:defRPr sz="1663" b="1"/>
            </a:lvl4pPr>
            <a:lvl5pPr marL="1900306" indent="0">
              <a:buNone/>
              <a:defRPr sz="1663" b="1"/>
            </a:lvl5pPr>
            <a:lvl6pPr marL="2375383" indent="0">
              <a:buNone/>
              <a:defRPr sz="1663" b="1"/>
            </a:lvl6pPr>
            <a:lvl7pPr marL="2850459" indent="0">
              <a:buNone/>
              <a:defRPr sz="1663" b="1"/>
            </a:lvl7pPr>
            <a:lvl8pPr marL="3325536" indent="0">
              <a:buNone/>
              <a:defRPr sz="1663" b="1"/>
            </a:lvl8pPr>
            <a:lvl9pPr marL="3800612" indent="0">
              <a:buNone/>
              <a:defRPr sz="1663" b="1"/>
            </a:lvl9pPr>
          </a:lstStyle>
          <a:p>
            <a:pPr lvl="0"/>
            <a:r>
              <a:rPr lang="ru-RU"/>
              <a:t>Образец текста</a:t>
            </a:r>
          </a:p>
        </p:txBody>
      </p:sp>
      <p:sp>
        <p:nvSpPr>
          <p:cNvPr id="4" name="Объект 3"/>
          <p:cNvSpPr>
            <a:spLocks noGrp="1"/>
          </p:cNvSpPr>
          <p:nvPr>
            <p:ph sz="half" idx="2"/>
          </p:nvPr>
        </p:nvSpPr>
        <p:spPr>
          <a:xfrm>
            <a:off x="633413" y="2259957"/>
            <a:ext cx="5597344" cy="4105864"/>
          </a:xfrm>
        </p:spPr>
        <p:txBody>
          <a:bodyPr/>
          <a:lstStyle>
            <a:lvl1pPr>
              <a:defRPr sz="2494"/>
            </a:lvl1pPr>
            <a:lvl2pPr>
              <a:defRPr sz="2078"/>
            </a:lvl2pPr>
            <a:lvl3pPr>
              <a:defRPr sz="1870"/>
            </a:lvl3pPr>
            <a:lvl4pPr>
              <a:defRPr sz="1663"/>
            </a:lvl4pPr>
            <a:lvl5pPr>
              <a:defRPr sz="1663"/>
            </a:lvl5pPr>
            <a:lvl6pPr>
              <a:defRPr sz="1663"/>
            </a:lvl6pPr>
            <a:lvl7pPr>
              <a:defRPr sz="1663"/>
            </a:lvl7pPr>
            <a:lvl8pPr>
              <a:defRPr sz="1663"/>
            </a:lvl8pPr>
            <a:lvl9pPr>
              <a:defRPr sz="1663"/>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Текст 4"/>
          <p:cNvSpPr>
            <a:spLocks noGrp="1"/>
          </p:cNvSpPr>
          <p:nvPr>
            <p:ph type="body" sz="quarter" idx="3"/>
          </p:nvPr>
        </p:nvSpPr>
        <p:spPr>
          <a:xfrm>
            <a:off x="6435296" y="1595167"/>
            <a:ext cx="5599543" cy="664790"/>
          </a:xfrm>
        </p:spPr>
        <p:txBody>
          <a:bodyPr anchor="b"/>
          <a:lstStyle>
            <a:lvl1pPr marL="0" indent="0">
              <a:buNone/>
              <a:defRPr sz="2494" b="1"/>
            </a:lvl1pPr>
            <a:lvl2pPr marL="475077" indent="0">
              <a:buNone/>
              <a:defRPr sz="2078" b="1"/>
            </a:lvl2pPr>
            <a:lvl3pPr marL="950153" indent="0">
              <a:buNone/>
              <a:defRPr sz="1870" b="1"/>
            </a:lvl3pPr>
            <a:lvl4pPr marL="1425230" indent="0">
              <a:buNone/>
              <a:defRPr sz="1663" b="1"/>
            </a:lvl4pPr>
            <a:lvl5pPr marL="1900306" indent="0">
              <a:buNone/>
              <a:defRPr sz="1663" b="1"/>
            </a:lvl5pPr>
            <a:lvl6pPr marL="2375383" indent="0">
              <a:buNone/>
              <a:defRPr sz="1663" b="1"/>
            </a:lvl6pPr>
            <a:lvl7pPr marL="2850459" indent="0">
              <a:buNone/>
              <a:defRPr sz="1663" b="1"/>
            </a:lvl7pPr>
            <a:lvl8pPr marL="3325536" indent="0">
              <a:buNone/>
              <a:defRPr sz="1663" b="1"/>
            </a:lvl8pPr>
            <a:lvl9pPr marL="3800612" indent="0">
              <a:buNone/>
              <a:defRPr sz="1663" b="1"/>
            </a:lvl9pPr>
          </a:lstStyle>
          <a:p>
            <a:pPr lvl="0"/>
            <a:r>
              <a:rPr lang="ru-RU"/>
              <a:t>Образец текста</a:t>
            </a:r>
          </a:p>
        </p:txBody>
      </p:sp>
      <p:sp>
        <p:nvSpPr>
          <p:cNvPr id="6" name="Объект 5"/>
          <p:cNvSpPr>
            <a:spLocks noGrp="1"/>
          </p:cNvSpPr>
          <p:nvPr>
            <p:ph sz="quarter" idx="4"/>
          </p:nvPr>
        </p:nvSpPr>
        <p:spPr>
          <a:xfrm>
            <a:off x="6435296" y="2259957"/>
            <a:ext cx="5599543" cy="4105864"/>
          </a:xfrm>
        </p:spPr>
        <p:txBody>
          <a:bodyPr/>
          <a:lstStyle>
            <a:lvl1pPr>
              <a:defRPr sz="2494"/>
            </a:lvl1pPr>
            <a:lvl2pPr>
              <a:defRPr sz="2078"/>
            </a:lvl2pPr>
            <a:lvl3pPr>
              <a:defRPr sz="1870"/>
            </a:lvl3pPr>
            <a:lvl4pPr>
              <a:defRPr sz="1663"/>
            </a:lvl4pPr>
            <a:lvl5pPr>
              <a:defRPr sz="1663"/>
            </a:lvl5pPr>
            <a:lvl6pPr>
              <a:defRPr sz="1663"/>
            </a:lvl6pPr>
            <a:lvl7pPr>
              <a:defRPr sz="1663"/>
            </a:lvl7pPr>
            <a:lvl8pPr>
              <a:defRPr sz="1663"/>
            </a:lvl8pPr>
            <a:lvl9pPr>
              <a:defRPr sz="1663"/>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7" name="Дата 6"/>
          <p:cNvSpPr>
            <a:spLocks noGrp="1"/>
          </p:cNvSpPr>
          <p:nvPr>
            <p:ph type="dt" sz="half" idx="10"/>
          </p:nvPr>
        </p:nvSpPr>
        <p:spPr/>
        <p:txBody>
          <a:bodyPr/>
          <a:lstStyle/>
          <a:p>
            <a:fld id="{86DFA675-BFBC-4061-AE45-033B41FEC2E4}" type="datetime1">
              <a:rPr lang="ru-RU" smtClean="0"/>
              <a:t>25.04.2026</a:t>
            </a:fld>
            <a:endParaRPr lang="ru-RU"/>
          </a:p>
        </p:txBody>
      </p:sp>
      <p:sp>
        <p:nvSpPr>
          <p:cNvPr id="8" name="Нижний колонтитул 7"/>
          <p:cNvSpPr>
            <a:spLocks noGrp="1"/>
          </p:cNvSpPr>
          <p:nvPr>
            <p:ph type="ftr" sz="quarter" idx="11"/>
          </p:nvPr>
        </p:nvSpPr>
        <p:spPr/>
        <p:txBody>
          <a:bodyPr/>
          <a:lstStyle/>
          <a:p>
            <a:endParaRPr lang="ru-RU"/>
          </a:p>
        </p:txBody>
      </p:sp>
      <p:sp>
        <p:nvSpPr>
          <p:cNvPr id="9" name="Номер слайда 8"/>
          <p:cNvSpPr>
            <a:spLocks noGrp="1"/>
          </p:cNvSpPr>
          <p:nvPr>
            <p:ph type="sldNum" sz="quarter" idx="12"/>
          </p:nvPr>
        </p:nvSpPr>
        <p:spPr/>
        <p:txBody>
          <a:bodyPr/>
          <a:lstStyle/>
          <a:p>
            <a:fld id="{952B6C0E-C4B9-4094-8E59-5B7DF00D5415}" type="slidenum">
              <a:rPr lang="ru-RU" smtClean="0"/>
              <a:t>‹#›</a:t>
            </a:fld>
            <a:endParaRPr lang="ru-RU"/>
          </a:p>
        </p:txBody>
      </p:sp>
    </p:spTree>
    <p:extLst>
      <p:ext uri="{BB962C8B-B14F-4D97-AF65-F5344CB8AC3E}">
        <p14:creationId xmlns:p14="http://schemas.microsoft.com/office/powerpoint/2010/main" val="3935245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Дата 2"/>
          <p:cNvSpPr>
            <a:spLocks noGrp="1"/>
          </p:cNvSpPr>
          <p:nvPr>
            <p:ph type="dt" sz="half" idx="10"/>
          </p:nvPr>
        </p:nvSpPr>
        <p:spPr/>
        <p:txBody>
          <a:bodyPr/>
          <a:lstStyle/>
          <a:p>
            <a:fld id="{39B3368E-6642-4527-BF62-6077816A8014}" type="datetime1">
              <a:rPr lang="ru-RU" smtClean="0"/>
              <a:t>25.04.2026</a:t>
            </a:fld>
            <a:endParaRPr lang="ru-RU"/>
          </a:p>
        </p:txBody>
      </p:sp>
      <p:sp>
        <p:nvSpPr>
          <p:cNvPr id="4" name="Нижний колонтитул 3"/>
          <p:cNvSpPr>
            <a:spLocks noGrp="1"/>
          </p:cNvSpPr>
          <p:nvPr>
            <p:ph type="ftr" sz="quarter" idx="11"/>
          </p:nvPr>
        </p:nvSpPr>
        <p:spPr/>
        <p:txBody>
          <a:bodyPr/>
          <a:lstStyle/>
          <a:p>
            <a:endParaRPr lang="ru-RU"/>
          </a:p>
        </p:txBody>
      </p:sp>
      <p:sp>
        <p:nvSpPr>
          <p:cNvPr id="5" name="Номер слайда 4"/>
          <p:cNvSpPr>
            <a:spLocks noGrp="1"/>
          </p:cNvSpPr>
          <p:nvPr>
            <p:ph type="sldNum" sz="quarter" idx="12"/>
          </p:nvPr>
        </p:nvSpPr>
        <p:spPr/>
        <p:txBody>
          <a:bodyPr/>
          <a:lstStyle/>
          <a:p>
            <a:fld id="{952B6C0E-C4B9-4094-8E59-5B7DF00D5415}" type="slidenum">
              <a:rPr lang="ru-RU" smtClean="0"/>
              <a:t>‹#›</a:t>
            </a:fld>
            <a:endParaRPr lang="ru-RU"/>
          </a:p>
        </p:txBody>
      </p:sp>
    </p:spTree>
    <p:extLst>
      <p:ext uri="{BB962C8B-B14F-4D97-AF65-F5344CB8AC3E}">
        <p14:creationId xmlns:p14="http://schemas.microsoft.com/office/powerpoint/2010/main" val="10812741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p:cNvSpPr>
            <a:spLocks noGrp="1"/>
          </p:cNvSpPr>
          <p:nvPr>
            <p:ph type="dt" sz="half" idx="10"/>
          </p:nvPr>
        </p:nvSpPr>
        <p:spPr/>
        <p:txBody>
          <a:bodyPr/>
          <a:lstStyle/>
          <a:p>
            <a:fld id="{773383BF-67FC-4DEE-B969-2232FBD01508}" type="datetime1">
              <a:rPr lang="ru-RU" smtClean="0"/>
              <a:t>25.04.2026</a:t>
            </a:fld>
            <a:endParaRPr lang="ru-RU"/>
          </a:p>
        </p:txBody>
      </p:sp>
      <p:sp>
        <p:nvSpPr>
          <p:cNvPr id="3" name="Нижний колонтитул 2"/>
          <p:cNvSpPr>
            <a:spLocks noGrp="1"/>
          </p:cNvSpPr>
          <p:nvPr>
            <p:ph type="ftr" sz="quarter" idx="11"/>
          </p:nvPr>
        </p:nvSpPr>
        <p:spPr/>
        <p:txBody>
          <a:bodyPr/>
          <a:lstStyle/>
          <a:p>
            <a:endParaRPr lang="ru-RU"/>
          </a:p>
        </p:txBody>
      </p:sp>
      <p:sp>
        <p:nvSpPr>
          <p:cNvPr id="4" name="Номер слайда 3"/>
          <p:cNvSpPr>
            <a:spLocks noGrp="1"/>
          </p:cNvSpPr>
          <p:nvPr>
            <p:ph type="sldNum" sz="quarter" idx="12"/>
          </p:nvPr>
        </p:nvSpPr>
        <p:spPr>
          <a:xfrm>
            <a:off x="11590709" y="6595870"/>
            <a:ext cx="795686" cy="379409"/>
          </a:xfrm>
        </p:spPr>
        <p:txBody>
          <a:bodyPr/>
          <a:lstStyle/>
          <a:p>
            <a:fld id="{952B6C0E-C4B9-4094-8E59-5B7DF00D5415}" type="slidenum">
              <a:rPr lang="ru-RU" smtClean="0"/>
              <a:t>‹#›</a:t>
            </a:fld>
            <a:endParaRPr lang="ru-RU"/>
          </a:p>
        </p:txBody>
      </p:sp>
    </p:spTree>
    <p:extLst>
      <p:ext uri="{BB962C8B-B14F-4D97-AF65-F5344CB8AC3E}">
        <p14:creationId xmlns:p14="http://schemas.microsoft.com/office/powerpoint/2010/main" val="2374119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633414" y="283732"/>
            <a:ext cx="4167766" cy="1207510"/>
          </a:xfrm>
        </p:spPr>
        <p:txBody>
          <a:bodyPr anchor="b"/>
          <a:lstStyle>
            <a:lvl1pPr algn="l">
              <a:defRPr sz="2078" b="1"/>
            </a:lvl1pPr>
          </a:lstStyle>
          <a:p>
            <a:r>
              <a:rPr lang="ru-RU"/>
              <a:t>Образец заголовка</a:t>
            </a:r>
          </a:p>
        </p:txBody>
      </p:sp>
      <p:sp>
        <p:nvSpPr>
          <p:cNvPr id="3" name="Объект 2"/>
          <p:cNvSpPr>
            <a:spLocks noGrp="1"/>
          </p:cNvSpPr>
          <p:nvPr>
            <p:ph idx="1"/>
          </p:nvPr>
        </p:nvSpPr>
        <p:spPr>
          <a:xfrm>
            <a:off x="4952933" y="283734"/>
            <a:ext cx="7081904" cy="6082089"/>
          </a:xfrm>
        </p:spPr>
        <p:txBody>
          <a:bodyPr/>
          <a:lstStyle>
            <a:lvl1pPr>
              <a:defRPr sz="3325"/>
            </a:lvl1pPr>
            <a:lvl2pPr>
              <a:defRPr sz="2909"/>
            </a:lvl2pPr>
            <a:lvl3pPr>
              <a:defRPr sz="2494"/>
            </a:lvl3pPr>
            <a:lvl4pPr>
              <a:defRPr sz="2078"/>
            </a:lvl4pPr>
            <a:lvl5pPr>
              <a:defRPr sz="2078"/>
            </a:lvl5pPr>
            <a:lvl6pPr>
              <a:defRPr sz="2078"/>
            </a:lvl6pPr>
            <a:lvl7pPr>
              <a:defRPr sz="2078"/>
            </a:lvl7pPr>
            <a:lvl8pPr>
              <a:defRPr sz="2078"/>
            </a:lvl8pPr>
            <a:lvl9pPr>
              <a:defRPr sz="2078"/>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Текст 3"/>
          <p:cNvSpPr>
            <a:spLocks noGrp="1"/>
          </p:cNvSpPr>
          <p:nvPr>
            <p:ph type="body" sz="half" idx="2"/>
          </p:nvPr>
        </p:nvSpPr>
        <p:spPr>
          <a:xfrm>
            <a:off x="633414" y="1491243"/>
            <a:ext cx="4167766" cy="4874579"/>
          </a:xfrm>
        </p:spPr>
        <p:txBody>
          <a:bodyPr/>
          <a:lstStyle>
            <a:lvl1pPr marL="0" indent="0">
              <a:buNone/>
              <a:defRPr sz="1455"/>
            </a:lvl1pPr>
            <a:lvl2pPr marL="475077" indent="0">
              <a:buNone/>
              <a:defRPr sz="1247"/>
            </a:lvl2pPr>
            <a:lvl3pPr marL="950153" indent="0">
              <a:buNone/>
              <a:defRPr sz="1039"/>
            </a:lvl3pPr>
            <a:lvl4pPr marL="1425230" indent="0">
              <a:buNone/>
              <a:defRPr sz="935"/>
            </a:lvl4pPr>
            <a:lvl5pPr marL="1900306" indent="0">
              <a:buNone/>
              <a:defRPr sz="935"/>
            </a:lvl5pPr>
            <a:lvl6pPr marL="2375383" indent="0">
              <a:buNone/>
              <a:defRPr sz="935"/>
            </a:lvl6pPr>
            <a:lvl7pPr marL="2850459" indent="0">
              <a:buNone/>
              <a:defRPr sz="935"/>
            </a:lvl7pPr>
            <a:lvl8pPr marL="3325536" indent="0">
              <a:buNone/>
              <a:defRPr sz="935"/>
            </a:lvl8pPr>
            <a:lvl9pPr marL="3800612" indent="0">
              <a:buNone/>
              <a:defRPr sz="935"/>
            </a:lvl9pPr>
          </a:lstStyle>
          <a:p>
            <a:pPr lvl="0"/>
            <a:r>
              <a:rPr lang="ru-RU"/>
              <a:t>Образец текста</a:t>
            </a:r>
          </a:p>
        </p:txBody>
      </p:sp>
      <p:sp>
        <p:nvSpPr>
          <p:cNvPr id="5" name="Дата 4"/>
          <p:cNvSpPr>
            <a:spLocks noGrp="1"/>
          </p:cNvSpPr>
          <p:nvPr>
            <p:ph type="dt" sz="half" idx="10"/>
          </p:nvPr>
        </p:nvSpPr>
        <p:spPr/>
        <p:txBody>
          <a:bodyPr/>
          <a:lstStyle/>
          <a:p>
            <a:fld id="{B2E6777C-39AE-4D54-A6C2-28EFB0B2BC63}" type="datetime1">
              <a:rPr lang="ru-RU" smtClean="0"/>
              <a:t>25.04.2026</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a:xfrm>
            <a:off x="11374685" y="6605015"/>
            <a:ext cx="1011710" cy="379409"/>
          </a:xfrm>
        </p:spPr>
        <p:txBody>
          <a:bodyPr/>
          <a:lstStyle/>
          <a:p>
            <a:fld id="{952B6C0E-C4B9-4094-8E59-5B7DF00D5415}" type="slidenum">
              <a:rPr lang="ru-RU" smtClean="0"/>
              <a:t>‹#›</a:t>
            </a:fld>
            <a:endParaRPr lang="ru-RU"/>
          </a:p>
        </p:txBody>
      </p:sp>
    </p:spTree>
    <p:extLst>
      <p:ext uri="{BB962C8B-B14F-4D97-AF65-F5344CB8AC3E}">
        <p14:creationId xmlns:p14="http://schemas.microsoft.com/office/powerpoint/2010/main" val="31930889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221557" y="4931297"/>
            <a:ext cx="10729192" cy="646016"/>
          </a:xfrm>
        </p:spPr>
        <p:txBody>
          <a:bodyPr anchor="b"/>
          <a:lstStyle>
            <a:lvl1pPr algn="l">
              <a:defRPr sz="2078" b="1"/>
            </a:lvl1pPr>
          </a:lstStyle>
          <a:p>
            <a:r>
              <a:rPr lang="ru-RU" dirty="0"/>
              <a:t>Образец заголовка</a:t>
            </a:r>
          </a:p>
        </p:txBody>
      </p:sp>
      <p:sp>
        <p:nvSpPr>
          <p:cNvPr id="3" name="Рисунок 2"/>
          <p:cNvSpPr>
            <a:spLocks noGrp="1"/>
          </p:cNvSpPr>
          <p:nvPr>
            <p:ph type="pic" idx="1"/>
          </p:nvPr>
        </p:nvSpPr>
        <p:spPr>
          <a:xfrm>
            <a:off x="1221557" y="222124"/>
            <a:ext cx="10729192" cy="4690398"/>
          </a:xfrm>
        </p:spPr>
        <p:txBody>
          <a:bodyPr/>
          <a:lstStyle>
            <a:lvl1pPr marL="0" indent="0">
              <a:buNone/>
              <a:defRPr sz="3325"/>
            </a:lvl1pPr>
            <a:lvl2pPr marL="475077" indent="0">
              <a:buNone/>
              <a:defRPr sz="2909"/>
            </a:lvl2pPr>
            <a:lvl3pPr marL="950153" indent="0">
              <a:buNone/>
              <a:defRPr sz="2494"/>
            </a:lvl3pPr>
            <a:lvl4pPr marL="1425230" indent="0">
              <a:buNone/>
              <a:defRPr sz="2078"/>
            </a:lvl4pPr>
            <a:lvl5pPr marL="1900306" indent="0">
              <a:buNone/>
              <a:defRPr sz="2078"/>
            </a:lvl5pPr>
            <a:lvl6pPr marL="2375383" indent="0">
              <a:buNone/>
              <a:defRPr sz="2078"/>
            </a:lvl6pPr>
            <a:lvl7pPr marL="2850459" indent="0">
              <a:buNone/>
              <a:defRPr sz="2078"/>
            </a:lvl7pPr>
            <a:lvl8pPr marL="3325536" indent="0">
              <a:buNone/>
              <a:defRPr sz="2078"/>
            </a:lvl8pPr>
            <a:lvl9pPr marL="3800612" indent="0">
              <a:buNone/>
              <a:defRPr sz="2078"/>
            </a:lvl9pPr>
          </a:lstStyle>
          <a:p>
            <a:r>
              <a:rPr lang="ru-RU"/>
              <a:t>Вставка рисунка</a:t>
            </a:r>
          </a:p>
        </p:txBody>
      </p:sp>
      <p:sp>
        <p:nvSpPr>
          <p:cNvPr id="4" name="Текст 3"/>
          <p:cNvSpPr>
            <a:spLocks noGrp="1"/>
          </p:cNvSpPr>
          <p:nvPr>
            <p:ph type="body" sz="half" idx="2"/>
          </p:nvPr>
        </p:nvSpPr>
        <p:spPr>
          <a:xfrm>
            <a:off x="1221557" y="5496211"/>
            <a:ext cx="10729192" cy="917450"/>
          </a:xfrm>
        </p:spPr>
        <p:txBody>
          <a:bodyPr/>
          <a:lstStyle>
            <a:lvl1pPr marL="0" indent="0">
              <a:buNone/>
              <a:defRPr sz="1455"/>
            </a:lvl1pPr>
            <a:lvl2pPr marL="475077" indent="0">
              <a:buNone/>
              <a:defRPr sz="1247"/>
            </a:lvl2pPr>
            <a:lvl3pPr marL="950153" indent="0">
              <a:buNone/>
              <a:defRPr sz="1039"/>
            </a:lvl3pPr>
            <a:lvl4pPr marL="1425230" indent="0">
              <a:buNone/>
              <a:defRPr sz="935"/>
            </a:lvl4pPr>
            <a:lvl5pPr marL="1900306" indent="0">
              <a:buNone/>
              <a:defRPr sz="935"/>
            </a:lvl5pPr>
            <a:lvl6pPr marL="2375383" indent="0">
              <a:buNone/>
              <a:defRPr sz="935"/>
            </a:lvl6pPr>
            <a:lvl7pPr marL="2850459" indent="0">
              <a:buNone/>
              <a:defRPr sz="935"/>
            </a:lvl7pPr>
            <a:lvl8pPr marL="3325536" indent="0">
              <a:buNone/>
              <a:defRPr sz="935"/>
            </a:lvl8pPr>
            <a:lvl9pPr marL="3800612" indent="0">
              <a:buNone/>
              <a:defRPr sz="935"/>
            </a:lvl9pPr>
          </a:lstStyle>
          <a:p>
            <a:pPr lvl="0"/>
            <a:r>
              <a:rPr lang="ru-RU"/>
              <a:t>Образец текста</a:t>
            </a:r>
          </a:p>
        </p:txBody>
      </p:sp>
      <p:sp>
        <p:nvSpPr>
          <p:cNvPr id="5" name="Дата 4"/>
          <p:cNvSpPr>
            <a:spLocks noGrp="1"/>
          </p:cNvSpPr>
          <p:nvPr>
            <p:ph type="dt" sz="half" idx="10"/>
          </p:nvPr>
        </p:nvSpPr>
        <p:spPr/>
        <p:txBody>
          <a:bodyPr/>
          <a:lstStyle/>
          <a:p>
            <a:fld id="{FD3F5DC4-8BCF-46E1-9690-66C46663E8A1}" type="datetime1">
              <a:rPr lang="ru-RU" smtClean="0"/>
              <a:t>25.04.2026</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a:xfrm>
            <a:off x="11662717" y="6605014"/>
            <a:ext cx="795686" cy="379409"/>
          </a:xfrm>
        </p:spPr>
        <p:txBody>
          <a:bodyPr/>
          <a:lstStyle/>
          <a:p>
            <a:fld id="{952B6C0E-C4B9-4094-8E59-5B7DF00D5415}" type="slidenum">
              <a:rPr lang="ru-RU" smtClean="0"/>
              <a:t>‹#›</a:t>
            </a:fld>
            <a:endParaRPr lang="ru-RU"/>
          </a:p>
        </p:txBody>
      </p:sp>
    </p:spTree>
    <p:extLst>
      <p:ext uri="{BB962C8B-B14F-4D97-AF65-F5344CB8AC3E}">
        <p14:creationId xmlns:p14="http://schemas.microsoft.com/office/powerpoint/2010/main" val="3700608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Вертикальный текст 2"/>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10"/>
          </p:nvPr>
        </p:nvSpPr>
        <p:spPr/>
        <p:txBody>
          <a:bodyPr/>
          <a:lstStyle/>
          <a:p>
            <a:fld id="{3A98CB12-FCC7-4F33-A9C2-DCACDE746CE4}" type="datetime1">
              <a:rPr lang="ru-RU" smtClean="0"/>
              <a:t>25.04.2026</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952B6C0E-C4B9-4094-8E59-5B7DF00D5415}" type="slidenum">
              <a:rPr lang="ru-RU" smtClean="0"/>
              <a:t>‹#›</a:t>
            </a:fld>
            <a:endParaRPr lang="ru-RU"/>
          </a:p>
        </p:txBody>
      </p:sp>
    </p:spTree>
    <p:extLst>
      <p:ext uri="{BB962C8B-B14F-4D97-AF65-F5344CB8AC3E}">
        <p14:creationId xmlns:p14="http://schemas.microsoft.com/office/powerpoint/2010/main" val="23798563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p:cNvSpPr>
            <a:spLocks noGrp="1"/>
          </p:cNvSpPr>
          <p:nvPr>
            <p:ph type="title" orient="vert"/>
          </p:nvPr>
        </p:nvSpPr>
        <p:spPr>
          <a:xfrm>
            <a:off x="9184481" y="285384"/>
            <a:ext cx="2850356" cy="6080439"/>
          </a:xfrm>
        </p:spPr>
        <p:txBody>
          <a:bodyPr vert="eaVert"/>
          <a:lstStyle/>
          <a:p>
            <a:r>
              <a:rPr lang="ru-RU"/>
              <a:t>Образец заголовка</a:t>
            </a:r>
          </a:p>
        </p:txBody>
      </p:sp>
      <p:sp>
        <p:nvSpPr>
          <p:cNvPr id="3" name="Вертикальный текст 2"/>
          <p:cNvSpPr>
            <a:spLocks noGrp="1"/>
          </p:cNvSpPr>
          <p:nvPr>
            <p:ph type="body" orient="vert" idx="1"/>
          </p:nvPr>
        </p:nvSpPr>
        <p:spPr>
          <a:xfrm>
            <a:off x="633413" y="285384"/>
            <a:ext cx="8339931" cy="6080439"/>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10"/>
          </p:nvPr>
        </p:nvSpPr>
        <p:spPr/>
        <p:txBody>
          <a:bodyPr/>
          <a:lstStyle/>
          <a:p>
            <a:fld id="{5895C6B6-9E5B-400B-9659-93F8A7133E68}" type="datetime1">
              <a:rPr lang="ru-RU" smtClean="0"/>
              <a:t>25.04.2026</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952B6C0E-C4B9-4094-8E59-5B7DF00D5415}" type="slidenum">
              <a:rPr lang="ru-RU" smtClean="0"/>
              <a:t>‹#›</a:t>
            </a:fld>
            <a:endParaRPr lang="ru-RU"/>
          </a:p>
        </p:txBody>
      </p:sp>
    </p:spTree>
    <p:extLst>
      <p:ext uri="{BB962C8B-B14F-4D97-AF65-F5344CB8AC3E}">
        <p14:creationId xmlns:p14="http://schemas.microsoft.com/office/powerpoint/2010/main" val="13478991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a:xfrm>
            <a:off x="4307206" y="6627448"/>
            <a:ext cx="4053840" cy="356314"/>
          </a:xfrm>
          <a:prstGeom prst="rect">
            <a:avLst/>
          </a:prstGeom>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a:xfrm>
            <a:off x="633414" y="6627448"/>
            <a:ext cx="2913697" cy="356314"/>
          </a:xfrm>
          <a:prstGeom prst="rect">
            <a:avLst/>
          </a:prstGeom>
        </p:spPr>
        <p:txBody>
          <a:bodyPr lIns="0" tIns="0" rIns="0" bIns="0"/>
          <a:lstStyle>
            <a:lvl1pPr algn="l">
              <a:defRPr>
                <a:solidFill>
                  <a:schemeClr val="tx1">
                    <a:tint val="75000"/>
                  </a:schemeClr>
                </a:solidFill>
              </a:defRPr>
            </a:lvl1pPr>
          </a:lstStyle>
          <a:p>
            <a:fld id="{15B16757-0DC6-4069-B615-2DCE675BD8BE}" type="datetime1">
              <a:rPr lang="ru-RU" smtClean="0"/>
              <a:t>25.04.2026</a:t>
            </a:fld>
            <a:endParaRPr lang="en-US"/>
          </a:p>
        </p:txBody>
      </p:sp>
      <p:sp>
        <p:nvSpPr>
          <p:cNvPr id="4" name="Holder 4"/>
          <p:cNvSpPr>
            <a:spLocks noGrp="1"/>
          </p:cNvSpPr>
          <p:nvPr>
            <p:ph type="sldNum" sz="quarter" idx="7"/>
          </p:nvPr>
        </p:nvSpPr>
        <p:spPr>
          <a:xfrm>
            <a:off x="9121141" y="6627448"/>
            <a:ext cx="2913697" cy="356314"/>
          </a:xfrm>
          <a:prstGeom prst="rect">
            <a:avLst/>
          </a:prstGeom>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26897523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lum/>
          </a:blip>
          <a:srcRect/>
          <a:stretch>
            <a:fillRect/>
          </a:stretch>
        </a:blipFill>
        <a:effectLst/>
      </p:bgPr>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633413" y="285383"/>
            <a:ext cx="11401426" cy="1187715"/>
          </a:xfrm>
          <a:prstGeom prst="rect">
            <a:avLst/>
          </a:prstGeom>
        </p:spPr>
        <p:txBody>
          <a:bodyPr vert="horz" lIns="91440" tIns="45720" rIns="91440" bIns="45720" rtlCol="0" anchor="ctr">
            <a:normAutofit/>
          </a:bodyPr>
          <a:lstStyle/>
          <a:p>
            <a:r>
              <a:rPr lang="ru-RU"/>
              <a:t>Образец заголовка</a:t>
            </a:r>
          </a:p>
        </p:txBody>
      </p:sp>
      <p:sp>
        <p:nvSpPr>
          <p:cNvPr id="3" name="Текст 2"/>
          <p:cNvSpPr>
            <a:spLocks noGrp="1"/>
          </p:cNvSpPr>
          <p:nvPr>
            <p:ph type="body" idx="1"/>
          </p:nvPr>
        </p:nvSpPr>
        <p:spPr>
          <a:xfrm>
            <a:off x="633413" y="1662802"/>
            <a:ext cx="11401426" cy="4703021"/>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2"/>
          </p:nvPr>
        </p:nvSpPr>
        <p:spPr>
          <a:xfrm>
            <a:off x="633413" y="6605015"/>
            <a:ext cx="2955926" cy="379409"/>
          </a:xfrm>
          <a:prstGeom prst="rect">
            <a:avLst/>
          </a:prstGeom>
        </p:spPr>
        <p:txBody>
          <a:bodyPr vert="horz" lIns="91440" tIns="45720" rIns="91440" bIns="45720" rtlCol="0" anchor="ctr"/>
          <a:lstStyle>
            <a:lvl1pPr algn="l">
              <a:defRPr sz="1247">
                <a:solidFill>
                  <a:schemeClr val="tx1">
                    <a:tint val="75000"/>
                  </a:schemeClr>
                </a:solidFill>
              </a:defRPr>
            </a:lvl1pPr>
          </a:lstStyle>
          <a:p>
            <a:fld id="{37971EFB-F9CD-4C5F-BC9F-9E1E06695DBE}" type="datetime1">
              <a:rPr lang="ru-RU" smtClean="0"/>
              <a:t>25.04.2026</a:t>
            </a:fld>
            <a:endParaRPr lang="ru-RU"/>
          </a:p>
        </p:txBody>
      </p:sp>
      <p:sp>
        <p:nvSpPr>
          <p:cNvPr id="5" name="Нижний колонтитул 4"/>
          <p:cNvSpPr>
            <a:spLocks noGrp="1"/>
          </p:cNvSpPr>
          <p:nvPr>
            <p:ph type="ftr" sz="quarter" idx="3"/>
          </p:nvPr>
        </p:nvSpPr>
        <p:spPr>
          <a:xfrm>
            <a:off x="4328319" y="6605015"/>
            <a:ext cx="4011613" cy="379409"/>
          </a:xfrm>
          <a:prstGeom prst="rect">
            <a:avLst/>
          </a:prstGeom>
        </p:spPr>
        <p:txBody>
          <a:bodyPr vert="horz" lIns="91440" tIns="45720" rIns="91440" bIns="45720" rtlCol="0" anchor="ctr"/>
          <a:lstStyle>
            <a:lvl1pPr algn="ctr">
              <a:defRPr sz="1247">
                <a:solidFill>
                  <a:schemeClr val="tx1">
                    <a:tint val="75000"/>
                  </a:schemeClr>
                </a:solidFill>
              </a:defRPr>
            </a:lvl1pPr>
          </a:lstStyle>
          <a:p>
            <a:endParaRPr lang="ru-RU"/>
          </a:p>
        </p:txBody>
      </p:sp>
      <p:sp>
        <p:nvSpPr>
          <p:cNvPr id="6" name="Номер слайда 5"/>
          <p:cNvSpPr>
            <a:spLocks noGrp="1"/>
          </p:cNvSpPr>
          <p:nvPr>
            <p:ph type="sldNum" sz="quarter" idx="4"/>
          </p:nvPr>
        </p:nvSpPr>
        <p:spPr>
          <a:xfrm>
            <a:off x="9078913" y="6605015"/>
            <a:ext cx="2955926" cy="379409"/>
          </a:xfrm>
          <a:prstGeom prst="rect">
            <a:avLst/>
          </a:prstGeom>
        </p:spPr>
        <p:txBody>
          <a:bodyPr vert="horz" lIns="91440" tIns="45720" rIns="91440" bIns="45720" rtlCol="0" anchor="ctr"/>
          <a:lstStyle>
            <a:lvl1pPr algn="r">
              <a:defRPr sz="1247">
                <a:solidFill>
                  <a:schemeClr val="tx1">
                    <a:tint val="75000"/>
                  </a:schemeClr>
                </a:solidFill>
              </a:defRPr>
            </a:lvl1pPr>
          </a:lstStyle>
          <a:p>
            <a:fld id="{952B6C0E-C4B9-4094-8E59-5B7DF00D5415}" type="slidenum">
              <a:rPr lang="ru-RU" smtClean="0"/>
              <a:t>‹#›</a:t>
            </a:fld>
            <a:endParaRPr lang="ru-RU"/>
          </a:p>
        </p:txBody>
      </p:sp>
    </p:spTree>
    <p:extLst>
      <p:ext uri="{BB962C8B-B14F-4D97-AF65-F5344CB8AC3E}">
        <p14:creationId xmlns:p14="http://schemas.microsoft.com/office/powerpoint/2010/main" val="2043454157"/>
      </p:ext>
    </p:extLst>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txStyles>
    <p:titleStyle>
      <a:lvl1pPr algn="ctr" defTabSz="950153" rtl="0" eaLnBrk="1" latinLnBrk="0" hangingPunct="1">
        <a:spcBef>
          <a:spcPct val="0"/>
        </a:spcBef>
        <a:buNone/>
        <a:defRPr sz="4572" kern="1200">
          <a:solidFill>
            <a:schemeClr val="tx1"/>
          </a:solidFill>
          <a:latin typeface="+mj-lt"/>
          <a:ea typeface="+mj-ea"/>
          <a:cs typeface="+mj-cs"/>
        </a:defRPr>
      </a:lvl1pPr>
    </p:titleStyle>
    <p:bodyStyle>
      <a:lvl1pPr marL="356307" indent="-356307" algn="l" defTabSz="950153" rtl="0" eaLnBrk="1" latinLnBrk="0" hangingPunct="1">
        <a:spcBef>
          <a:spcPct val="20000"/>
        </a:spcBef>
        <a:buFont typeface="Arial" panose="020B0604020202020204" pitchFamily="34" charset="0"/>
        <a:buChar char="•"/>
        <a:defRPr sz="3325" kern="1200">
          <a:solidFill>
            <a:schemeClr val="tx1"/>
          </a:solidFill>
          <a:latin typeface="+mn-lt"/>
          <a:ea typeface="+mn-ea"/>
          <a:cs typeface="+mn-cs"/>
        </a:defRPr>
      </a:lvl1pPr>
      <a:lvl2pPr marL="771999" indent="-296923" algn="l" defTabSz="950153" rtl="0" eaLnBrk="1" latinLnBrk="0" hangingPunct="1">
        <a:spcBef>
          <a:spcPct val="20000"/>
        </a:spcBef>
        <a:buFont typeface="Arial" panose="020B0604020202020204" pitchFamily="34" charset="0"/>
        <a:buChar char="–"/>
        <a:defRPr sz="2909" kern="1200">
          <a:solidFill>
            <a:schemeClr val="tx1"/>
          </a:solidFill>
          <a:latin typeface="+mn-lt"/>
          <a:ea typeface="+mn-ea"/>
          <a:cs typeface="+mn-cs"/>
        </a:defRPr>
      </a:lvl2pPr>
      <a:lvl3pPr marL="1187691" indent="-237538" algn="l" defTabSz="950153" rtl="0" eaLnBrk="1" latinLnBrk="0" hangingPunct="1">
        <a:spcBef>
          <a:spcPct val="20000"/>
        </a:spcBef>
        <a:buFont typeface="Arial" panose="020B0604020202020204" pitchFamily="34" charset="0"/>
        <a:buChar char="•"/>
        <a:defRPr sz="2494" kern="1200">
          <a:solidFill>
            <a:schemeClr val="tx1"/>
          </a:solidFill>
          <a:latin typeface="+mn-lt"/>
          <a:ea typeface="+mn-ea"/>
          <a:cs typeface="+mn-cs"/>
        </a:defRPr>
      </a:lvl3pPr>
      <a:lvl4pPr marL="1662768" indent="-237538" algn="l" defTabSz="950153" rtl="0" eaLnBrk="1" latinLnBrk="0" hangingPunct="1">
        <a:spcBef>
          <a:spcPct val="20000"/>
        </a:spcBef>
        <a:buFont typeface="Arial" panose="020B0604020202020204" pitchFamily="34" charset="0"/>
        <a:buChar char="–"/>
        <a:defRPr sz="2078" kern="1200">
          <a:solidFill>
            <a:schemeClr val="tx1"/>
          </a:solidFill>
          <a:latin typeface="+mn-lt"/>
          <a:ea typeface="+mn-ea"/>
          <a:cs typeface="+mn-cs"/>
        </a:defRPr>
      </a:lvl4pPr>
      <a:lvl5pPr marL="2137844" indent="-237538" algn="l" defTabSz="950153" rtl="0" eaLnBrk="1" latinLnBrk="0" hangingPunct="1">
        <a:spcBef>
          <a:spcPct val="20000"/>
        </a:spcBef>
        <a:buFont typeface="Arial" panose="020B0604020202020204" pitchFamily="34" charset="0"/>
        <a:buChar char="»"/>
        <a:defRPr sz="2078" kern="1200">
          <a:solidFill>
            <a:schemeClr val="tx1"/>
          </a:solidFill>
          <a:latin typeface="+mn-lt"/>
          <a:ea typeface="+mn-ea"/>
          <a:cs typeface="+mn-cs"/>
        </a:defRPr>
      </a:lvl5pPr>
      <a:lvl6pPr marL="2612921" indent="-237538" algn="l" defTabSz="950153" rtl="0" eaLnBrk="1" latinLnBrk="0" hangingPunct="1">
        <a:spcBef>
          <a:spcPct val="20000"/>
        </a:spcBef>
        <a:buFont typeface="Arial" panose="020B0604020202020204" pitchFamily="34" charset="0"/>
        <a:buChar char="•"/>
        <a:defRPr sz="2078" kern="1200">
          <a:solidFill>
            <a:schemeClr val="tx1"/>
          </a:solidFill>
          <a:latin typeface="+mn-lt"/>
          <a:ea typeface="+mn-ea"/>
          <a:cs typeface="+mn-cs"/>
        </a:defRPr>
      </a:lvl6pPr>
      <a:lvl7pPr marL="3087997" indent="-237538" algn="l" defTabSz="950153" rtl="0" eaLnBrk="1" latinLnBrk="0" hangingPunct="1">
        <a:spcBef>
          <a:spcPct val="20000"/>
        </a:spcBef>
        <a:buFont typeface="Arial" panose="020B0604020202020204" pitchFamily="34" charset="0"/>
        <a:buChar char="•"/>
        <a:defRPr sz="2078" kern="1200">
          <a:solidFill>
            <a:schemeClr val="tx1"/>
          </a:solidFill>
          <a:latin typeface="+mn-lt"/>
          <a:ea typeface="+mn-ea"/>
          <a:cs typeface="+mn-cs"/>
        </a:defRPr>
      </a:lvl7pPr>
      <a:lvl8pPr marL="3563074" indent="-237538" algn="l" defTabSz="950153" rtl="0" eaLnBrk="1" latinLnBrk="0" hangingPunct="1">
        <a:spcBef>
          <a:spcPct val="20000"/>
        </a:spcBef>
        <a:buFont typeface="Arial" panose="020B0604020202020204" pitchFamily="34" charset="0"/>
        <a:buChar char="•"/>
        <a:defRPr sz="2078" kern="1200">
          <a:solidFill>
            <a:schemeClr val="tx1"/>
          </a:solidFill>
          <a:latin typeface="+mn-lt"/>
          <a:ea typeface="+mn-ea"/>
          <a:cs typeface="+mn-cs"/>
        </a:defRPr>
      </a:lvl8pPr>
      <a:lvl9pPr marL="4038150" indent="-237538" algn="l" defTabSz="950153" rtl="0" eaLnBrk="1" latinLnBrk="0" hangingPunct="1">
        <a:spcBef>
          <a:spcPct val="20000"/>
        </a:spcBef>
        <a:buFont typeface="Arial" panose="020B0604020202020204" pitchFamily="34" charset="0"/>
        <a:buChar char="•"/>
        <a:defRPr sz="2078" kern="1200">
          <a:solidFill>
            <a:schemeClr val="tx1"/>
          </a:solidFill>
          <a:latin typeface="+mn-lt"/>
          <a:ea typeface="+mn-ea"/>
          <a:cs typeface="+mn-cs"/>
        </a:defRPr>
      </a:lvl9pPr>
    </p:bodyStyle>
    <p:otherStyle>
      <a:defPPr>
        <a:defRPr lang="ru-RU"/>
      </a:defPPr>
      <a:lvl1pPr marL="0" algn="l" defTabSz="950153" rtl="0" eaLnBrk="1" latinLnBrk="0" hangingPunct="1">
        <a:defRPr sz="1870" kern="1200">
          <a:solidFill>
            <a:schemeClr val="tx1"/>
          </a:solidFill>
          <a:latin typeface="+mn-lt"/>
          <a:ea typeface="+mn-ea"/>
          <a:cs typeface="+mn-cs"/>
        </a:defRPr>
      </a:lvl1pPr>
      <a:lvl2pPr marL="475077" algn="l" defTabSz="950153" rtl="0" eaLnBrk="1" latinLnBrk="0" hangingPunct="1">
        <a:defRPr sz="1870" kern="1200">
          <a:solidFill>
            <a:schemeClr val="tx1"/>
          </a:solidFill>
          <a:latin typeface="+mn-lt"/>
          <a:ea typeface="+mn-ea"/>
          <a:cs typeface="+mn-cs"/>
        </a:defRPr>
      </a:lvl2pPr>
      <a:lvl3pPr marL="950153" algn="l" defTabSz="950153" rtl="0" eaLnBrk="1" latinLnBrk="0" hangingPunct="1">
        <a:defRPr sz="1870" kern="1200">
          <a:solidFill>
            <a:schemeClr val="tx1"/>
          </a:solidFill>
          <a:latin typeface="+mn-lt"/>
          <a:ea typeface="+mn-ea"/>
          <a:cs typeface="+mn-cs"/>
        </a:defRPr>
      </a:lvl3pPr>
      <a:lvl4pPr marL="1425230" algn="l" defTabSz="950153" rtl="0" eaLnBrk="1" latinLnBrk="0" hangingPunct="1">
        <a:defRPr sz="1870" kern="1200">
          <a:solidFill>
            <a:schemeClr val="tx1"/>
          </a:solidFill>
          <a:latin typeface="+mn-lt"/>
          <a:ea typeface="+mn-ea"/>
          <a:cs typeface="+mn-cs"/>
        </a:defRPr>
      </a:lvl4pPr>
      <a:lvl5pPr marL="1900306" algn="l" defTabSz="950153" rtl="0" eaLnBrk="1" latinLnBrk="0" hangingPunct="1">
        <a:defRPr sz="1870" kern="1200">
          <a:solidFill>
            <a:schemeClr val="tx1"/>
          </a:solidFill>
          <a:latin typeface="+mn-lt"/>
          <a:ea typeface="+mn-ea"/>
          <a:cs typeface="+mn-cs"/>
        </a:defRPr>
      </a:lvl5pPr>
      <a:lvl6pPr marL="2375383" algn="l" defTabSz="950153" rtl="0" eaLnBrk="1" latinLnBrk="0" hangingPunct="1">
        <a:defRPr sz="1870" kern="1200">
          <a:solidFill>
            <a:schemeClr val="tx1"/>
          </a:solidFill>
          <a:latin typeface="+mn-lt"/>
          <a:ea typeface="+mn-ea"/>
          <a:cs typeface="+mn-cs"/>
        </a:defRPr>
      </a:lvl6pPr>
      <a:lvl7pPr marL="2850459" algn="l" defTabSz="950153" rtl="0" eaLnBrk="1" latinLnBrk="0" hangingPunct="1">
        <a:defRPr sz="1870" kern="1200">
          <a:solidFill>
            <a:schemeClr val="tx1"/>
          </a:solidFill>
          <a:latin typeface="+mn-lt"/>
          <a:ea typeface="+mn-ea"/>
          <a:cs typeface="+mn-cs"/>
        </a:defRPr>
      </a:lvl7pPr>
      <a:lvl8pPr marL="3325536" algn="l" defTabSz="950153" rtl="0" eaLnBrk="1" latinLnBrk="0" hangingPunct="1">
        <a:defRPr sz="1870" kern="1200">
          <a:solidFill>
            <a:schemeClr val="tx1"/>
          </a:solidFill>
          <a:latin typeface="+mn-lt"/>
          <a:ea typeface="+mn-ea"/>
          <a:cs typeface="+mn-cs"/>
        </a:defRPr>
      </a:lvl8pPr>
      <a:lvl9pPr marL="3800612" algn="l" defTabSz="950153" rtl="0" eaLnBrk="1" latinLnBrk="0" hangingPunct="1">
        <a:defRPr sz="187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hyperlink" Target="http://mathprofi.ru/normalnoe_raspredelenie_veroyatnostei.html" TargetMode="External"/><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hyperlink" Target="http://mathprofi.ru/pokazateli_variacii_generalnaya_i_vyborochnaya_dispersiya.html#d" TargetMode="Externa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7.xml"/><Relationship Id="rId1" Type="http://schemas.openxmlformats.org/officeDocument/2006/relationships/vmlDrawing" Target="../drawings/vmlDrawing1.vml"/><Relationship Id="rId4" Type="http://schemas.openxmlformats.org/officeDocument/2006/relationships/image" Target="../media/image8.emf"/></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3" Type="http://schemas.openxmlformats.org/officeDocument/2006/relationships/image" Target="../media/image12.gif"/><Relationship Id="rId2" Type="http://schemas.openxmlformats.org/officeDocument/2006/relationships/notesSlide" Target="../notesSlides/notesSlide46.xml"/><Relationship Id="rId1" Type="http://schemas.openxmlformats.org/officeDocument/2006/relationships/slideLayout" Target="../slideLayouts/slideLayout7.xml"/><Relationship Id="rId4" Type="http://schemas.openxmlformats.org/officeDocument/2006/relationships/image" Target="../media/image13.gif"/></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9.xml"/><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5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0.xml"/><Relationship Id="rId1" Type="http://schemas.openxmlformats.org/officeDocument/2006/relationships/slideLayout" Target="../slideLayouts/slideLayout7.xml"/><Relationship Id="rId4" Type="http://schemas.openxmlformats.org/officeDocument/2006/relationships/image" Target="../media/image18.png"/></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3" Type="http://schemas.openxmlformats.org/officeDocument/2006/relationships/hyperlink" Target="http://inside-r.org/r-doc/base/c" TargetMode="External"/><Relationship Id="rId2" Type="http://schemas.openxmlformats.org/officeDocument/2006/relationships/notesSlide" Target="../notesSlides/notesSlide54.xml"/><Relationship Id="rId1" Type="http://schemas.openxmlformats.org/officeDocument/2006/relationships/slideLayout" Target="../slideLayouts/slideLayout7.xml"/><Relationship Id="rId4" Type="http://schemas.openxmlformats.org/officeDocument/2006/relationships/hyperlink" Target="http://inside-r.org/r-doc/base/mean" TargetMode="External"/></Relationships>
</file>

<file path=ppt/slides/_rels/slide60.xml.rels><?xml version="1.0" encoding="UTF-8" standalone="yes"?>
<Relationships xmlns="http://schemas.openxmlformats.org/package/2006/relationships"><Relationship Id="rId3" Type="http://schemas.openxmlformats.org/officeDocument/2006/relationships/hyperlink" Target="http://inside-r.org/r-doc/stats/df" TargetMode="External"/><Relationship Id="rId2" Type="http://schemas.openxmlformats.org/officeDocument/2006/relationships/notesSlide" Target="../notesSlides/notesSlide55.xml"/><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8.xml"/><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60.xml"/><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64.xml"/><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70.xml"/><Relationship Id="rId1" Type="http://schemas.openxmlformats.org/officeDocument/2006/relationships/slideLayout" Target="../slideLayouts/slideLayout7.xml"/><Relationship Id="rId4" Type="http://schemas.openxmlformats.org/officeDocument/2006/relationships/image" Target="../media/image21.png"/></Relationships>
</file>

<file path=ppt/slides/_rels/slide7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71.xml"/><Relationship Id="rId1" Type="http://schemas.openxmlformats.org/officeDocument/2006/relationships/slideLayout" Target="../slideLayouts/slideLayout7.xml"/><Relationship Id="rId4" Type="http://schemas.openxmlformats.org/officeDocument/2006/relationships/image" Target="../media/image21.png"/></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73.xml"/><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74.xml"/><Relationship Id="rId1" Type="http://schemas.openxmlformats.org/officeDocument/2006/relationships/slideLayout" Target="../slideLayouts/slideLayout7.xml"/><Relationship Id="rId4" Type="http://schemas.openxmlformats.org/officeDocument/2006/relationships/image" Target="../media/image24.png"/></Relationships>
</file>

<file path=ppt/slides/_rels/slide8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75.xml"/><Relationship Id="rId1" Type="http://schemas.openxmlformats.org/officeDocument/2006/relationships/slideLayout" Target="../slideLayouts/slideLayout7.xml"/><Relationship Id="rId4" Type="http://schemas.openxmlformats.org/officeDocument/2006/relationships/image" Target="../media/image26.png"/></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79.xml"/><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80.xml"/><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12.xml"/><Relationship Id="rId4" Type="http://schemas.openxmlformats.org/officeDocument/2006/relationships/image" Target="../media/image33.png"/></Relationships>
</file>

<file path=ppt/slides/_rels/slide9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12.xml"/><Relationship Id="rId5" Type="http://schemas.openxmlformats.org/officeDocument/2006/relationships/image" Target="../media/image37.png"/><Relationship Id="rId4" Type="http://schemas.openxmlformats.org/officeDocument/2006/relationships/image" Target="../media/image36.png"/></Relationships>
</file>

<file path=ppt/slides/_rels/slide92.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 Id="rId4" Type="http://schemas.openxmlformats.org/officeDocument/2006/relationships/image" Target="../media/image41.png"/></Relationships>
</file>

<file path=ppt/slides/_rels/slide94.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43.png"/><Relationship Id="rId1" Type="http://schemas.openxmlformats.org/officeDocument/2006/relationships/slideLayout" Target="../slideLayouts/slideLayout12.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86.xml"/><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87.xml"/><Relationship Id="rId1" Type="http://schemas.openxmlformats.org/officeDocument/2006/relationships/slideLayout" Target="../slideLayouts/slideLayout7.xml"/><Relationship Id="rId4" Type="http://schemas.openxmlformats.org/officeDocument/2006/relationships/image" Target="../media/image46.png"/></Relationships>
</file>

<file path=ppt/slides/_rels/slide100.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88.xml"/><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notesSlide" Target="../notesSlides/notesSlide90.xml"/><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notesSlide" Target="../notesSlides/notesSlide91.xml"/><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92.xml"/><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3" Type="http://schemas.openxmlformats.org/officeDocument/2006/relationships/image" Target="../media/image50.jpeg"/><Relationship Id="rId2" Type="http://schemas.openxmlformats.org/officeDocument/2006/relationships/notesSlide" Target="../notesSlides/notesSlide94.xml"/><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3" Type="http://schemas.openxmlformats.org/officeDocument/2006/relationships/image" Target="../media/image50.jpeg"/><Relationship Id="rId2" Type="http://schemas.openxmlformats.org/officeDocument/2006/relationships/notesSlide" Target="../notesSlides/notesSlide95.xml"/><Relationship Id="rId1" Type="http://schemas.openxmlformats.org/officeDocument/2006/relationships/slideLayout" Target="../slideLayouts/slideLayout7.xml"/><Relationship Id="rId5" Type="http://schemas.openxmlformats.org/officeDocument/2006/relationships/image" Target="../media/image52.jpeg"/><Relationship Id="rId4" Type="http://schemas.openxmlformats.org/officeDocument/2006/relationships/image" Target="../media/image51.jpeg"/></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3" Type="http://schemas.openxmlformats.org/officeDocument/2006/relationships/image" Target="../media/image54.jpg"/><Relationship Id="rId2" Type="http://schemas.openxmlformats.org/officeDocument/2006/relationships/image" Target="../media/image53.jpg"/><Relationship Id="rId1" Type="http://schemas.openxmlformats.org/officeDocument/2006/relationships/slideLayout" Target="../slideLayouts/slideLayout12.xml"/></Relationships>
</file>

<file path=ppt/slides/_rels/slide112.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12.xml"/></Relationships>
</file>

<file path=ppt/slides/_rels/slide113.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1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5.xml.rels><?xml version="1.0" encoding="UTF-8" standalone="yes"?>
<Relationships xmlns="http://schemas.openxmlformats.org/package/2006/relationships"><Relationship Id="rId3" Type="http://schemas.openxmlformats.org/officeDocument/2006/relationships/image" Target="../media/image59.jpg"/><Relationship Id="rId2" Type="http://schemas.openxmlformats.org/officeDocument/2006/relationships/image" Target="../media/image58.jpg"/><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7.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hyperlink" Target="https://samoedd.com/soft/r-t-test" TargetMode="External"/><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3" Type="http://schemas.openxmlformats.org/officeDocument/2006/relationships/hyperlink" Target="https://agricolamz.github.io/DS_for_DH/&#1087;&#1088;&#1086;&#1074;&#1077;&#1088;&#1082;&#1072;-&#1089;&#1090;&#1072;&#1090;&#1080;&#1089;&#1090;&#1080;&#1095;&#1077;&#1089;&#1082;&#1080;&#1093;-&#1075;&#1080;&#1087;&#1086;&#1090;&#1077;&#1079;.html" TargetMode="External"/><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3" Type="http://schemas.openxmlformats.org/officeDocument/2006/relationships/hyperlink" Target="https://statorials.org/ru/" TargetMode="External"/><Relationship Id="rId2" Type="http://schemas.openxmlformats.org/officeDocument/2006/relationships/hyperlink" Target="https://baguzin.ru/wp/proverka-gipotez-odnovyborochnye-kri/" TargetMode="Externa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idx="4294967295"/>
          </p:nvPr>
        </p:nvSpPr>
        <p:spPr bwMode="auto">
          <a:xfrm>
            <a:off x="1653606" y="625762"/>
            <a:ext cx="9090025" cy="3222913"/>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9441" tIns="49721" rIns="99441" bIns="49721" rtlCol="0" anchor="b">
            <a:normAutofit/>
          </a:bodyPr>
          <a:lstStyle/>
          <a:p>
            <a:pPr>
              <a:lnSpc>
                <a:spcPct val="80000"/>
              </a:lnSpc>
            </a:pPr>
            <a:r>
              <a:rPr lang="ru-RU" altLang="ru-RU" sz="6600" dirty="0"/>
              <a:t>Курс</a:t>
            </a:r>
            <a:br>
              <a:rPr lang="ru-RU" altLang="ru-RU" sz="6600" dirty="0"/>
            </a:br>
            <a:r>
              <a:rPr lang="ru-RU" altLang="ru-RU" sz="6000" dirty="0"/>
              <a:t>Обработка больших данных</a:t>
            </a:r>
          </a:p>
        </p:txBody>
      </p:sp>
      <p:sp>
        <p:nvSpPr>
          <p:cNvPr id="3" name="Подзаголовок 2"/>
          <p:cNvSpPr>
            <a:spLocks noGrp="1"/>
          </p:cNvSpPr>
          <p:nvPr>
            <p:ph type="subTitle" idx="4294967295"/>
          </p:nvPr>
        </p:nvSpPr>
        <p:spPr bwMode="auto">
          <a:xfrm>
            <a:off x="1869629" y="4371975"/>
            <a:ext cx="8366572" cy="1709738"/>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9441" tIns="49721" rIns="99441" bIns="49721" rtlCol="0">
            <a:normAutofit/>
          </a:bodyPr>
          <a:lstStyle/>
          <a:p>
            <a:pPr marL="0" indent="0" algn="ctr">
              <a:buNone/>
            </a:pPr>
            <a:r>
              <a:rPr lang="ru-RU" altLang="ru-RU" sz="4400" dirty="0"/>
              <a:t>Лекция 9. </a:t>
            </a:r>
            <a:r>
              <a:rPr lang="en-US" altLang="ru-RU" sz="3600" dirty="0"/>
              <a:t>Data Mining</a:t>
            </a:r>
            <a:r>
              <a:rPr lang="ru-RU" altLang="ru-RU" sz="3600" dirty="0"/>
              <a:t>. </a:t>
            </a:r>
          </a:p>
          <a:p>
            <a:pPr marL="0" indent="0" algn="ctr">
              <a:buNone/>
            </a:pPr>
            <a:r>
              <a:rPr lang="ru-RU" altLang="ru-RU" dirty="0"/>
              <a:t>Проверка гипотез</a:t>
            </a:r>
          </a:p>
          <a:p>
            <a:pPr marL="0" indent="0" algn="ctr">
              <a:buNone/>
            </a:pPr>
            <a:endParaRPr lang="ru-RU" altLang="ru-RU" sz="4400" dirty="0"/>
          </a:p>
        </p:txBody>
      </p:sp>
      <p:sp>
        <p:nvSpPr>
          <p:cNvPr id="4" name="Номер слайда 3"/>
          <p:cNvSpPr>
            <a:spLocks noGrp="1"/>
          </p:cNvSpPr>
          <p:nvPr>
            <p:ph type="sldNum" sz="quarter" idx="12"/>
          </p:nvPr>
        </p:nvSpPr>
        <p:spPr/>
        <p:txBody>
          <a:bodyPr/>
          <a:lstStyle/>
          <a:p>
            <a:fld id="{952B6C0E-C4B9-4094-8E59-5B7DF00D5415}" type="slidenum">
              <a:rPr lang="ru-RU" smtClean="0"/>
              <a:t>1</a:t>
            </a:fld>
            <a:endParaRPr lang="ru-RU"/>
          </a:p>
        </p:txBody>
      </p:sp>
    </p:spTree>
  </p:cSld>
  <p:clrMapOvr>
    <a:masterClrMapping/>
  </p:clrMapOvr>
  <p:transition spd="slow" advTm="26269"/>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2"/>
          <p:cNvSpPr>
            <a:spLocks noGrp="1" noChangeArrowheads="1"/>
          </p:cNvSpPr>
          <p:nvPr>
            <p:ph type="title"/>
          </p:nvPr>
        </p:nvSpPr>
        <p:spPr bwMode="auto">
          <a:xfrm>
            <a:off x="2012951" y="466725"/>
            <a:ext cx="8539162" cy="1187450"/>
          </a:xfrm>
          <a:noFill/>
          <a:ln/>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9441" tIns="49721" rIns="99441" bIns="49721" numCol="1" rtlCol="0" anchor="t" anchorCtr="0" compatLnSpc="1">
            <a:prstTxWarp prst="textNoShape">
              <a:avLst/>
            </a:prstTxWarp>
            <a:normAutofit/>
          </a:bodyPr>
          <a:lstStyle/>
          <a:p>
            <a:r>
              <a:rPr lang="ru-RU" altLang="ru-RU" dirty="0"/>
              <a:t>Содержание</a:t>
            </a:r>
          </a:p>
        </p:txBody>
      </p:sp>
      <p:sp>
        <p:nvSpPr>
          <p:cNvPr id="99353" name="AutoShape 25"/>
          <p:cNvSpPr>
            <a:spLocks noChangeArrowheads="1"/>
          </p:cNvSpPr>
          <p:nvPr/>
        </p:nvSpPr>
        <p:spPr bwMode="auto">
          <a:xfrm>
            <a:off x="2306443" y="1711083"/>
            <a:ext cx="8539161" cy="1275998"/>
          </a:xfrm>
          <a:prstGeom prst="roundRect">
            <a:avLst>
              <a:gd name="adj" fmla="val 16667"/>
            </a:avLst>
          </a:prstGeom>
          <a:solidFill>
            <a:srgbClr val="464646">
              <a:alpha val="50000"/>
            </a:srgb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9441" tIns="49721" rIns="99441" bIns="49721" anchor="ctr"/>
          <a:lstStyle>
            <a:lvl1pPr marL="982663" defTabSz="993775">
              <a:defRPr>
                <a:solidFill>
                  <a:schemeClr val="tx1"/>
                </a:solidFill>
                <a:latin typeface="Arial" panose="020B0604020202020204" pitchFamily="34" charset="0"/>
              </a:defRPr>
            </a:lvl1pPr>
            <a:lvl2pPr marL="1177925" defTabSz="993775">
              <a:defRPr>
                <a:solidFill>
                  <a:schemeClr val="tx1"/>
                </a:solidFill>
                <a:latin typeface="Arial" panose="020B0604020202020204" pitchFamily="34" charset="0"/>
              </a:defRPr>
            </a:lvl2pPr>
            <a:lvl3pPr marL="1373188" defTabSz="993775">
              <a:defRPr>
                <a:solidFill>
                  <a:schemeClr val="tx1"/>
                </a:solidFill>
                <a:latin typeface="Arial" panose="020B0604020202020204" pitchFamily="34" charset="0"/>
              </a:defRPr>
            </a:lvl3pPr>
            <a:lvl4pPr marL="1566863" defTabSz="993775">
              <a:defRPr>
                <a:solidFill>
                  <a:schemeClr val="tx1"/>
                </a:solidFill>
                <a:latin typeface="Arial" panose="020B0604020202020204" pitchFamily="34" charset="0"/>
              </a:defRPr>
            </a:lvl4pPr>
            <a:lvl5pPr marL="1989138" defTabSz="993775">
              <a:defRPr>
                <a:solidFill>
                  <a:schemeClr val="tx1"/>
                </a:solidFill>
                <a:latin typeface="Arial" panose="020B0604020202020204" pitchFamily="34" charset="0"/>
              </a:defRPr>
            </a:lvl5pPr>
            <a:lvl6pPr marL="2446338" defTabSz="993775" fontAlgn="base">
              <a:spcBef>
                <a:spcPct val="0"/>
              </a:spcBef>
              <a:spcAft>
                <a:spcPct val="0"/>
              </a:spcAft>
              <a:defRPr>
                <a:solidFill>
                  <a:schemeClr val="tx1"/>
                </a:solidFill>
                <a:latin typeface="Arial" panose="020B0604020202020204" pitchFamily="34" charset="0"/>
              </a:defRPr>
            </a:lvl6pPr>
            <a:lvl7pPr marL="2903538" defTabSz="993775" fontAlgn="base">
              <a:spcBef>
                <a:spcPct val="0"/>
              </a:spcBef>
              <a:spcAft>
                <a:spcPct val="0"/>
              </a:spcAft>
              <a:defRPr>
                <a:solidFill>
                  <a:schemeClr val="tx1"/>
                </a:solidFill>
                <a:latin typeface="Arial" panose="020B0604020202020204" pitchFamily="34" charset="0"/>
              </a:defRPr>
            </a:lvl7pPr>
            <a:lvl8pPr marL="3360738" defTabSz="993775" fontAlgn="base">
              <a:spcBef>
                <a:spcPct val="0"/>
              </a:spcBef>
              <a:spcAft>
                <a:spcPct val="0"/>
              </a:spcAft>
              <a:defRPr>
                <a:solidFill>
                  <a:schemeClr val="tx1"/>
                </a:solidFill>
                <a:latin typeface="Arial" panose="020B0604020202020204" pitchFamily="34" charset="0"/>
              </a:defRPr>
            </a:lvl8pPr>
            <a:lvl9pPr marL="3817938" defTabSz="993775" fontAlgn="base">
              <a:spcBef>
                <a:spcPct val="0"/>
              </a:spcBef>
              <a:spcAft>
                <a:spcPct val="0"/>
              </a:spcAft>
              <a:defRPr>
                <a:solidFill>
                  <a:schemeClr val="tx1"/>
                </a:solidFill>
                <a:latin typeface="Arial" panose="020B0604020202020204" pitchFamily="34" charset="0"/>
              </a:defRPr>
            </a:lvl9pPr>
          </a:lstStyle>
          <a:p>
            <a:endParaRPr lang="ru-RU" altLang="ru-RU" sz="3200">
              <a:solidFill>
                <a:schemeClr val="bg1"/>
              </a:solidFill>
            </a:endParaRPr>
          </a:p>
        </p:txBody>
      </p:sp>
      <p:sp>
        <p:nvSpPr>
          <p:cNvPr id="99354" name="AutoShape 26"/>
          <p:cNvSpPr>
            <a:spLocks noChangeArrowheads="1"/>
          </p:cNvSpPr>
          <p:nvPr/>
        </p:nvSpPr>
        <p:spPr bwMode="auto">
          <a:xfrm>
            <a:off x="2622184" y="1921644"/>
            <a:ext cx="515275" cy="833059"/>
          </a:xfrm>
          <a:prstGeom prst="roundRect">
            <a:avLst>
              <a:gd name="adj" fmla="val 16667"/>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9441" tIns="49721" rIns="99441" bIns="49721" anchor="ctr"/>
          <a:lstStyle>
            <a:lvl1pPr defTabSz="993775">
              <a:defRPr>
                <a:solidFill>
                  <a:schemeClr val="tx1"/>
                </a:solidFill>
                <a:latin typeface="Arial" panose="020B0604020202020204" pitchFamily="34" charset="0"/>
              </a:defRPr>
            </a:lvl1pPr>
            <a:lvl2pPr marL="496888" defTabSz="993775">
              <a:defRPr>
                <a:solidFill>
                  <a:schemeClr val="tx1"/>
                </a:solidFill>
                <a:latin typeface="Arial" panose="020B0604020202020204" pitchFamily="34" charset="0"/>
              </a:defRPr>
            </a:lvl2pPr>
            <a:lvl3pPr marL="993775" defTabSz="993775">
              <a:defRPr>
                <a:solidFill>
                  <a:schemeClr val="tx1"/>
                </a:solidFill>
                <a:latin typeface="Arial" panose="020B0604020202020204" pitchFamily="34" charset="0"/>
              </a:defRPr>
            </a:lvl3pPr>
            <a:lvl4pPr marL="1492250" defTabSz="993775">
              <a:defRPr>
                <a:solidFill>
                  <a:schemeClr val="tx1"/>
                </a:solidFill>
                <a:latin typeface="Arial" panose="020B0604020202020204" pitchFamily="34" charset="0"/>
              </a:defRPr>
            </a:lvl4pPr>
            <a:lvl5pPr marL="1989138" defTabSz="993775">
              <a:defRPr>
                <a:solidFill>
                  <a:schemeClr val="tx1"/>
                </a:solidFill>
                <a:latin typeface="Arial" panose="020B0604020202020204" pitchFamily="34" charset="0"/>
              </a:defRPr>
            </a:lvl5pPr>
            <a:lvl6pPr marL="2446338" defTabSz="993775" fontAlgn="base">
              <a:spcBef>
                <a:spcPct val="0"/>
              </a:spcBef>
              <a:spcAft>
                <a:spcPct val="0"/>
              </a:spcAft>
              <a:defRPr>
                <a:solidFill>
                  <a:schemeClr val="tx1"/>
                </a:solidFill>
                <a:latin typeface="Arial" panose="020B0604020202020204" pitchFamily="34" charset="0"/>
              </a:defRPr>
            </a:lvl6pPr>
            <a:lvl7pPr marL="2903538" defTabSz="993775" fontAlgn="base">
              <a:spcBef>
                <a:spcPct val="0"/>
              </a:spcBef>
              <a:spcAft>
                <a:spcPct val="0"/>
              </a:spcAft>
              <a:defRPr>
                <a:solidFill>
                  <a:schemeClr val="tx1"/>
                </a:solidFill>
                <a:latin typeface="Arial" panose="020B0604020202020204" pitchFamily="34" charset="0"/>
              </a:defRPr>
            </a:lvl7pPr>
            <a:lvl8pPr marL="3360738" defTabSz="993775" fontAlgn="base">
              <a:spcBef>
                <a:spcPct val="0"/>
              </a:spcBef>
              <a:spcAft>
                <a:spcPct val="0"/>
              </a:spcAft>
              <a:defRPr>
                <a:solidFill>
                  <a:schemeClr val="tx1"/>
                </a:solidFill>
                <a:latin typeface="Arial" panose="020B0604020202020204" pitchFamily="34" charset="0"/>
              </a:defRPr>
            </a:lvl8pPr>
            <a:lvl9pPr marL="3817938" defTabSz="993775" fontAlgn="base">
              <a:spcBef>
                <a:spcPct val="0"/>
              </a:spcBef>
              <a:spcAft>
                <a:spcPct val="0"/>
              </a:spcAft>
              <a:defRPr>
                <a:solidFill>
                  <a:schemeClr val="tx1"/>
                </a:solidFill>
                <a:latin typeface="Arial" panose="020B0604020202020204" pitchFamily="34" charset="0"/>
              </a:defRPr>
            </a:lvl9pPr>
          </a:lstStyle>
          <a:p>
            <a:pPr algn="ctr"/>
            <a:r>
              <a:rPr lang="ru-RU" altLang="ru-RU" sz="2800" b="1" dirty="0">
                <a:solidFill>
                  <a:schemeClr val="bg1"/>
                </a:solidFill>
              </a:rPr>
              <a:t>1</a:t>
            </a:r>
          </a:p>
        </p:txBody>
      </p:sp>
      <p:sp>
        <p:nvSpPr>
          <p:cNvPr id="99355" name="AutoShape 27"/>
          <p:cNvSpPr>
            <a:spLocks noChangeArrowheads="1"/>
          </p:cNvSpPr>
          <p:nvPr/>
        </p:nvSpPr>
        <p:spPr bwMode="auto">
          <a:xfrm>
            <a:off x="3164432" y="2058727"/>
            <a:ext cx="5761304" cy="621941"/>
          </a:xfrm>
          <a:prstGeom prst="roundRect">
            <a:avLst>
              <a:gd name="adj" fmla="val 16667"/>
            </a:avLst>
          </a:prstGeom>
          <a:noFill/>
          <a:ln>
            <a:noFill/>
          </a:ln>
          <a:effectLst/>
          <a:extLst>
            <a:ext uri="{909E8E84-426E-40DD-AFC4-6F175D3DCCD1}">
              <a14:hiddenFill xmlns:a14="http://schemas.microsoft.com/office/drawing/2010/main">
                <a:solidFill>
                  <a:srgbClr val="464646">
                    <a:alpha val="50000"/>
                  </a:srgbClr>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9441" tIns="49721" rIns="99441" bIns="49721" anchor="ctr"/>
          <a:lstStyle>
            <a:lvl1pPr marL="982663" defTabSz="993775">
              <a:defRPr>
                <a:solidFill>
                  <a:schemeClr val="tx1"/>
                </a:solidFill>
                <a:latin typeface="Arial" panose="020B0604020202020204" pitchFamily="34" charset="0"/>
              </a:defRPr>
            </a:lvl1pPr>
            <a:lvl2pPr marL="1177925" defTabSz="993775">
              <a:defRPr>
                <a:solidFill>
                  <a:schemeClr val="tx1"/>
                </a:solidFill>
                <a:latin typeface="Arial" panose="020B0604020202020204" pitchFamily="34" charset="0"/>
              </a:defRPr>
            </a:lvl2pPr>
            <a:lvl3pPr marL="1373188" defTabSz="993775">
              <a:defRPr>
                <a:solidFill>
                  <a:schemeClr val="tx1"/>
                </a:solidFill>
                <a:latin typeface="Arial" panose="020B0604020202020204" pitchFamily="34" charset="0"/>
              </a:defRPr>
            </a:lvl3pPr>
            <a:lvl4pPr marL="1566863" defTabSz="993775">
              <a:defRPr>
                <a:solidFill>
                  <a:schemeClr val="tx1"/>
                </a:solidFill>
                <a:latin typeface="Arial" panose="020B0604020202020204" pitchFamily="34" charset="0"/>
              </a:defRPr>
            </a:lvl4pPr>
            <a:lvl5pPr marL="1989138" defTabSz="993775">
              <a:defRPr>
                <a:solidFill>
                  <a:schemeClr val="tx1"/>
                </a:solidFill>
                <a:latin typeface="Arial" panose="020B0604020202020204" pitchFamily="34" charset="0"/>
              </a:defRPr>
            </a:lvl5pPr>
            <a:lvl6pPr marL="2446338" defTabSz="993775" fontAlgn="base">
              <a:spcBef>
                <a:spcPct val="0"/>
              </a:spcBef>
              <a:spcAft>
                <a:spcPct val="0"/>
              </a:spcAft>
              <a:defRPr>
                <a:solidFill>
                  <a:schemeClr val="tx1"/>
                </a:solidFill>
                <a:latin typeface="Arial" panose="020B0604020202020204" pitchFamily="34" charset="0"/>
              </a:defRPr>
            </a:lvl6pPr>
            <a:lvl7pPr marL="2903538" defTabSz="993775" fontAlgn="base">
              <a:spcBef>
                <a:spcPct val="0"/>
              </a:spcBef>
              <a:spcAft>
                <a:spcPct val="0"/>
              </a:spcAft>
              <a:defRPr>
                <a:solidFill>
                  <a:schemeClr val="tx1"/>
                </a:solidFill>
                <a:latin typeface="Arial" panose="020B0604020202020204" pitchFamily="34" charset="0"/>
              </a:defRPr>
            </a:lvl7pPr>
            <a:lvl8pPr marL="3360738" defTabSz="993775" fontAlgn="base">
              <a:spcBef>
                <a:spcPct val="0"/>
              </a:spcBef>
              <a:spcAft>
                <a:spcPct val="0"/>
              </a:spcAft>
              <a:defRPr>
                <a:solidFill>
                  <a:schemeClr val="tx1"/>
                </a:solidFill>
                <a:latin typeface="Arial" panose="020B0604020202020204" pitchFamily="34" charset="0"/>
              </a:defRPr>
            </a:lvl8pPr>
            <a:lvl9pPr marL="3817938" defTabSz="993775" fontAlgn="base">
              <a:spcBef>
                <a:spcPct val="0"/>
              </a:spcBef>
              <a:spcAft>
                <a:spcPct val="0"/>
              </a:spcAft>
              <a:defRPr>
                <a:solidFill>
                  <a:schemeClr val="tx1"/>
                </a:solidFill>
                <a:latin typeface="Arial" panose="020B0604020202020204" pitchFamily="34" charset="0"/>
              </a:defRPr>
            </a:lvl9pPr>
          </a:lstStyle>
          <a:p>
            <a:pPr marL="0" algn="ctr"/>
            <a:r>
              <a:rPr lang="ru-RU" sz="3600" dirty="0">
                <a:solidFill>
                  <a:schemeClr val="bg1"/>
                </a:solidFill>
              </a:rPr>
              <a:t>Виды наиболее важных </a:t>
            </a:r>
          </a:p>
          <a:p>
            <a:pPr marL="0" algn="ctr"/>
            <a:r>
              <a:rPr lang="ru-RU" sz="3600" dirty="0">
                <a:solidFill>
                  <a:schemeClr val="bg1"/>
                </a:solidFill>
              </a:rPr>
              <a:t>статистических гипотез</a:t>
            </a:r>
          </a:p>
        </p:txBody>
      </p:sp>
      <p:grpSp>
        <p:nvGrpSpPr>
          <p:cNvPr id="23" name="Group 23"/>
          <p:cNvGrpSpPr>
            <a:grpSpLocks/>
          </p:cNvGrpSpPr>
          <p:nvPr/>
        </p:nvGrpSpPr>
        <p:grpSpPr bwMode="auto">
          <a:xfrm>
            <a:off x="2306444" y="3241751"/>
            <a:ext cx="8539160" cy="1258042"/>
            <a:chOff x="635" y="3470"/>
            <a:chExt cx="5094" cy="483"/>
          </a:xfrm>
        </p:grpSpPr>
        <p:sp>
          <p:nvSpPr>
            <p:cNvPr id="24" name="AutoShape 20"/>
            <p:cNvSpPr>
              <a:spLocks noChangeArrowheads="1"/>
            </p:cNvSpPr>
            <p:nvPr/>
          </p:nvSpPr>
          <p:spPr bwMode="auto">
            <a:xfrm>
              <a:off x="635" y="3473"/>
              <a:ext cx="5094" cy="480"/>
            </a:xfrm>
            <a:prstGeom prst="roundRect">
              <a:avLst>
                <a:gd name="adj" fmla="val 16667"/>
              </a:avLst>
            </a:prstGeom>
            <a:solidFill>
              <a:srgbClr val="464646">
                <a:alpha val="50195"/>
              </a:srgb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26" tIns="45713" rIns="91426" bIns="45713" anchor="ctr"/>
            <a:lstStyle>
              <a:lvl1pPr marL="903288">
                <a:defRPr b="1">
                  <a:solidFill>
                    <a:schemeClr val="tx1"/>
                  </a:solidFill>
                  <a:latin typeface="Segoe Semibold" charset="0"/>
                </a:defRPr>
              </a:lvl1pPr>
              <a:lvl2pPr marL="742950" indent="-285750">
                <a:defRPr b="1">
                  <a:solidFill>
                    <a:schemeClr val="tx1"/>
                  </a:solidFill>
                  <a:latin typeface="Segoe Semibold" charset="0"/>
                </a:defRPr>
              </a:lvl2pPr>
              <a:lvl3pPr marL="1143000" indent="-228600">
                <a:defRPr b="1">
                  <a:solidFill>
                    <a:schemeClr val="tx1"/>
                  </a:solidFill>
                  <a:latin typeface="Segoe Semibold" charset="0"/>
                </a:defRPr>
              </a:lvl3pPr>
              <a:lvl4pPr marL="1600200" indent="-228600">
                <a:defRPr b="1">
                  <a:solidFill>
                    <a:schemeClr val="tx1"/>
                  </a:solidFill>
                  <a:latin typeface="Segoe Semibold" charset="0"/>
                </a:defRPr>
              </a:lvl4pPr>
              <a:lvl5pPr marL="2057400" indent="-228600">
                <a:defRPr b="1">
                  <a:solidFill>
                    <a:schemeClr val="tx1"/>
                  </a:solidFill>
                  <a:latin typeface="Segoe Semibold" charset="0"/>
                </a:defRPr>
              </a:lvl5pPr>
              <a:lvl6pPr marL="2514600" indent="-228600" eaLnBrk="0" fontAlgn="base" hangingPunct="0">
                <a:spcBef>
                  <a:spcPct val="0"/>
                </a:spcBef>
                <a:spcAft>
                  <a:spcPct val="0"/>
                </a:spcAft>
                <a:defRPr b="1">
                  <a:solidFill>
                    <a:schemeClr val="tx1"/>
                  </a:solidFill>
                  <a:latin typeface="Segoe Semibold" charset="0"/>
                </a:defRPr>
              </a:lvl6pPr>
              <a:lvl7pPr marL="2971800" indent="-228600" eaLnBrk="0" fontAlgn="base" hangingPunct="0">
                <a:spcBef>
                  <a:spcPct val="0"/>
                </a:spcBef>
                <a:spcAft>
                  <a:spcPct val="0"/>
                </a:spcAft>
                <a:defRPr b="1">
                  <a:solidFill>
                    <a:schemeClr val="tx1"/>
                  </a:solidFill>
                  <a:latin typeface="Segoe Semibold" charset="0"/>
                </a:defRPr>
              </a:lvl7pPr>
              <a:lvl8pPr marL="3429000" indent="-228600" eaLnBrk="0" fontAlgn="base" hangingPunct="0">
                <a:spcBef>
                  <a:spcPct val="0"/>
                </a:spcBef>
                <a:spcAft>
                  <a:spcPct val="0"/>
                </a:spcAft>
                <a:defRPr b="1">
                  <a:solidFill>
                    <a:schemeClr val="tx1"/>
                  </a:solidFill>
                  <a:latin typeface="Segoe Semibold" charset="0"/>
                </a:defRPr>
              </a:lvl8pPr>
              <a:lvl9pPr marL="3886200" indent="-228600" eaLnBrk="0" fontAlgn="base" hangingPunct="0">
                <a:spcBef>
                  <a:spcPct val="0"/>
                </a:spcBef>
                <a:spcAft>
                  <a:spcPct val="0"/>
                </a:spcAft>
                <a:defRPr b="1">
                  <a:solidFill>
                    <a:schemeClr val="tx1"/>
                  </a:solidFill>
                  <a:latin typeface="Segoe Semibold" charset="0"/>
                </a:defRPr>
              </a:lvl9pPr>
            </a:lstStyle>
            <a:p>
              <a:pPr eaLnBrk="1" hangingPunct="1"/>
              <a:endParaRPr lang="ru-RU" altLang="ru-RU" sz="3600" b="0">
                <a:solidFill>
                  <a:schemeClr val="bg1"/>
                </a:solidFill>
                <a:latin typeface="Arial" panose="020B0604020202020204" pitchFamily="34" charset="0"/>
              </a:endParaRPr>
            </a:p>
          </p:txBody>
        </p:sp>
        <p:sp>
          <p:nvSpPr>
            <p:cNvPr id="25" name="AutoShape 21"/>
            <p:cNvSpPr>
              <a:spLocks noChangeArrowheads="1"/>
            </p:cNvSpPr>
            <p:nvPr/>
          </p:nvSpPr>
          <p:spPr bwMode="auto">
            <a:xfrm>
              <a:off x="830" y="3556"/>
              <a:ext cx="326" cy="318"/>
            </a:xfrm>
            <a:prstGeom prst="roundRect">
              <a:avLst>
                <a:gd name="adj" fmla="val 16667"/>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26" tIns="45713" rIns="91426" bIns="45713" anchor="ctr"/>
            <a:lstStyle>
              <a:lvl1pPr>
                <a:defRPr b="1">
                  <a:solidFill>
                    <a:schemeClr val="tx1"/>
                  </a:solidFill>
                  <a:latin typeface="Segoe Semibold" charset="0"/>
                </a:defRPr>
              </a:lvl1pPr>
              <a:lvl2pPr marL="742950" indent="-285750">
                <a:defRPr b="1">
                  <a:solidFill>
                    <a:schemeClr val="tx1"/>
                  </a:solidFill>
                  <a:latin typeface="Segoe Semibold" charset="0"/>
                </a:defRPr>
              </a:lvl2pPr>
              <a:lvl3pPr marL="1143000" indent="-228600">
                <a:defRPr b="1">
                  <a:solidFill>
                    <a:schemeClr val="tx1"/>
                  </a:solidFill>
                  <a:latin typeface="Segoe Semibold" charset="0"/>
                </a:defRPr>
              </a:lvl3pPr>
              <a:lvl4pPr marL="1600200" indent="-228600">
                <a:defRPr b="1">
                  <a:solidFill>
                    <a:schemeClr val="tx1"/>
                  </a:solidFill>
                  <a:latin typeface="Segoe Semibold" charset="0"/>
                </a:defRPr>
              </a:lvl4pPr>
              <a:lvl5pPr marL="2057400" indent="-228600">
                <a:defRPr b="1">
                  <a:solidFill>
                    <a:schemeClr val="tx1"/>
                  </a:solidFill>
                  <a:latin typeface="Segoe Semibold" charset="0"/>
                </a:defRPr>
              </a:lvl5pPr>
              <a:lvl6pPr marL="2514600" indent="-228600" eaLnBrk="0" fontAlgn="base" hangingPunct="0">
                <a:spcBef>
                  <a:spcPct val="0"/>
                </a:spcBef>
                <a:spcAft>
                  <a:spcPct val="0"/>
                </a:spcAft>
                <a:defRPr b="1">
                  <a:solidFill>
                    <a:schemeClr val="tx1"/>
                  </a:solidFill>
                  <a:latin typeface="Segoe Semibold" charset="0"/>
                </a:defRPr>
              </a:lvl6pPr>
              <a:lvl7pPr marL="2971800" indent="-228600" eaLnBrk="0" fontAlgn="base" hangingPunct="0">
                <a:spcBef>
                  <a:spcPct val="0"/>
                </a:spcBef>
                <a:spcAft>
                  <a:spcPct val="0"/>
                </a:spcAft>
                <a:defRPr b="1">
                  <a:solidFill>
                    <a:schemeClr val="tx1"/>
                  </a:solidFill>
                  <a:latin typeface="Segoe Semibold" charset="0"/>
                </a:defRPr>
              </a:lvl7pPr>
              <a:lvl8pPr marL="3429000" indent="-228600" eaLnBrk="0" fontAlgn="base" hangingPunct="0">
                <a:spcBef>
                  <a:spcPct val="0"/>
                </a:spcBef>
                <a:spcAft>
                  <a:spcPct val="0"/>
                </a:spcAft>
                <a:defRPr b="1">
                  <a:solidFill>
                    <a:schemeClr val="tx1"/>
                  </a:solidFill>
                  <a:latin typeface="Segoe Semibold" charset="0"/>
                </a:defRPr>
              </a:lvl8pPr>
              <a:lvl9pPr marL="3886200" indent="-228600" eaLnBrk="0" fontAlgn="base" hangingPunct="0">
                <a:spcBef>
                  <a:spcPct val="0"/>
                </a:spcBef>
                <a:spcAft>
                  <a:spcPct val="0"/>
                </a:spcAft>
                <a:defRPr b="1">
                  <a:solidFill>
                    <a:schemeClr val="tx1"/>
                  </a:solidFill>
                  <a:latin typeface="Segoe Semibold" charset="0"/>
                </a:defRPr>
              </a:lvl9pPr>
            </a:lstStyle>
            <a:p>
              <a:pPr algn="ctr" eaLnBrk="1" hangingPunct="1"/>
              <a:r>
                <a:rPr lang="ru-RU" altLang="ru-RU" sz="2800" dirty="0">
                  <a:solidFill>
                    <a:schemeClr val="bg1"/>
                  </a:solidFill>
                  <a:latin typeface="Arial" panose="020B0604020202020204" pitchFamily="34" charset="0"/>
                </a:rPr>
                <a:t>2</a:t>
              </a:r>
            </a:p>
          </p:txBody>
        </p:sp>
        <p:sp>
          <p:nvSpPr>
            <p:cNvPr id="26" name="AutoShape 22"/>
            <p:cNvSpPr>
              <a:spLocks noChangeArrowheads="1"/>
            </p:cNvSpPr>
            <p:nvPr/>
          </p:nvSpPr>
          <p:spPr bwMode="auto">
            <a:xfrm>
              <a:off x="1216" y="3470"/>
              <a:ext cx="4397" cy="479"/>
            </a:xfrm>
            <a:prstGeom prst="roundRect">
              <a:avLst>
                <a:gd name="adj" fmla="val 16667"/>
              </a:avLst>
            </a:prstGeom>
            <a:noFill/>
            <a:ln>
              <a:noFill/>
            </a:ln>
            <a:effectLst/>
            <a:extLst>
              <a:ext uri="{909E8E84-426E-40DD-AFC4-6F175D3DCCD1}">
                <a14:hiddenFill xmlns:a14="http://schemas.microsoft.com/office/drawing/2010/main">
                  <a:solidFill>
                    <a:srgbClr val="464646">
                      <a:alpha val="50195"/>
                    </a:srgbClr>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26" tIns="45713" rIns="91426" bIns="45713" anchor="ctr"/>
            <a:lstStyle>
              <a:lvl1pPr marL="903288">
                <a:defRPr b="1">
                  <a:solidFill>
                    <a:schemeClr val="tx1"/>
                  </a:solidFill>
                  <a:latin typeface="Segoe Semibold" charset="0"/>
                </a:defRPr>
              </a:lvl1pPr>
              <a:lvl2pPr marL="742950" indent="-285750">
                <a:defRPr b="1">
                  <a:solidFill>
                    <a:schemeClr val="tx1"/>
                  </a:solidFill>
                  <a:latin typeface="Segoe Semibold" charset="0"/>
                </a:defRPr>
              </a:lvl2pPr>
              <a:lvl3pPr marL="1143000" indent="-228600">
                <a:defRPr b="1">
                  <a:solidFill>
                    <a:schemeClr val="tx1"/>
                  </a:solidFill>
                  <a:latin typeface="Segoe Semibold" charset="0"/>
                </a:defRPr>
              </a:lvl3pPr>
              <a:lvl4pPr marL="1600200" indent="-228600">
                <a:defRPr b="1">
                  <a:solidFill>
                    <a:schemeClr val="tx1"/>
                  </a:solidFill>
                  <a:latin typeface="Segoe Semibold" charset="0"/>
                </a:defRPr>
              </a:lvl4pPr>
              <a:lvl5pPr marL="2057400" indent="-228600">
                <a:defRPr b="1">
                  <a:solidFill>
                    <a:schemeClr val="tx1"/>
                  </a:solidFill>
                  <a:latin typeface="Segoe Semibold" charset="0"/>
                </a:defRPr>
              </a:lvl5pPr>
              <a:lvl6pPr marL="2514600" indent="-228600" eaLnBrk="0" fontAlgn="base" hangingPunct="0">
                <a:spcBef>
                  <a:spcPct val="0"/>
                </a:spcBef>
                <a:spcAft>
                  <a:spcPct val="0"/>
                </a:spcAft>
                <a:defRPr b="1">
                  <a:solidFill>
                    <a:schemeClr val="tx1"/>
                  </a:solidFill>
                  <a:latin typeface="Segoe Semibold" charset="0"/>
                </a:defRPr>
              </a:lvl6pPr>
              <a:lvl7pPr marL="2971800" indent="-228600" eaLnBrk="0" fontAlgn="base" hangingPunct="0">
                <a:spcBef>
                  <a:spcPct val="0"/>
                </a:spcBef>
                <a:spcAft>
                  <a:spcPct val="0"/>
                </a:spcAft>
                <a:defRPr b="1">
                  <a:solidFill>
                    <a:schemeClr val="tx1"/>
                  </a:solidFill>
                  <a:latin typeface="Segoe Semibold" charset="0"/>
                </a:defRPr>
              </a:lvl7pPr>
              <a:lvl8pPr marL="3429000" indent="-228600" eaLnBrk="0" fontAlgn="base" hangingPunct="0">
                <a:spcBef>
                  <a:spcPct val="0"/>
                </a:spcBef>
                <a:spcAft>
                  <a:spcPct val="0"/>
                </a:spcAft>
                <a:defRPr b="1">
                  <a:solidFill>
                    <a:schemeClr val="tx1"/>
                  </a:solidFill>
                  <a:latin typeface="Segoe Semibold" charset="0"/>
                </a:defRPr>
              </a:lvl8pPr>
              <a:lvl9pPr marL="3886200" indent="-228600" eaLnBrk="0" fontAlgn="base" hangingPunct="0">
                <a:spcBef>
                  <a:spcPct val="0"/>
                </a:spcBef>
                <a:spcAft>
                  <a:spcPct val="0"/>
                </a:spcAft>
                <a:defRPr b="1">
                  <a:solidFill>
                    <a:schemeClr val="tx1"/>
                  </a:solidFill>
                  <a:latin typeface="Segoe Semibold" charset="0"/>
                </a:defRPr>
              </a:lvl9pPr>
            </a:lstStyle>
            <a:p>
              <a:pPr marL="0"/>
              <a:r>
                <a:rPr lang="ru-RU" sz="3600" dirty="0">
                  <a:solidFill>
                    <a:schemeClr val="bg1"/>
                  </a:solidFill>
                </a:rPr>
                <a:t>Технологии</a:t>
              </a:r>
              <a:r>
                <a:rPr lang="ru-RU" sz="3200" dirty="0">
                  <a:solidFill>
                    <a:schemeClr val="bg1"/>
                  </a:solidFill>
                </a:rPr>
                <a:t> проверки</a:t>
              </a:r>
            </a:p>
            <a:p>
              <a:pPr marL="0"/>
              <a:r>
                <a:rPr lang="ru-RU" sz="3600" dirty="0">
                  <a:solidFill>
                    <a:schemeClr val="bg1"/>
                  </a:solidFill>
                </a:rPr>
                <a:t>статистических</a:t>
              </a:r>
              <a:r>
                <a:rPr lang="ru-RU" sz="3200" dirty="0">
                  <a:solidFill>
                    <a:schemeClr val="bg1"/>
                  </a:solidFill>
                </a:rPr>
                <a:t> гипотез</a:t>
              </a:r>
            </a:p>
          </p:txBody>
        </p:sp>
      </p:grpSp>
      <p:grpSp>
        <p:nvGrpSpPr>
          <p:cNvPr id="27" name="Group 28"/>
          <p:cNvGrpSpPr>
            <a:grpSpLocks/>
          </p:cNvGrpSpPr>
          <p:nvPr/>
        </p:nvGrpSpPr>
        <p:grpSpPr bwMode="auto">
          <a:xfrm>
            <a:off x="2337344" y="4754463"/>
            <a:ext cx="8508260" cy="1340720"/>
            <a:chOff x="635" y="3745"/>
            <a:chExt cx="5130" cy="489"/>
          </a:xfrm>
        </p:grpSpPr>
        <p:sp>
          <p:nvSpPr>
            <p:cNvPr id="28" name="AutoShape 25"/>
            <p:cNvSpPr>
              <a:spLocks noChangeArrowheads="1"/>
            </p:cNvSpPr>
            <p:nvPr/>
          </p:nvSpPr>
          <p:spPr bwMode="auto">
            <a:xfrm>
              <a:off x="635" y="3745"/>
              <a:ext cx="5094" cy="480"/>
            </a:xfrm>
            <a:prstGeom prst="roundRect">
              <a:avLst>
                <a:gd name="adj" fmla="val 16667"/>
              </a:avLst>
            </a:prstGeom>
            <a:solidFill>
              <a:srgbClr val="464646">
                <a:alpha val="50195"/>
              </a:srgb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26" tIns="45713" rIns="91426" bIns="45713" anchor="ctr"/>
            <a:lstStyle>
              <a:lvl1pPr marL="903288">
                <a:defRPr b="1">
                  <a:solidFill>
                    <a:schemeClr val="tx1"/>
                  </a:solidFill>
                  <a:latin typeface="Segoe Semibold" charset="0"/>
                </a:defRPr>
              </a:lvl1pPr>
              <a:lvl2pPr marL="742950" indent="-285750">
                <a:defRPr b="1">
                  <a:solidFill>
                    <a:schemeClr val="tx1"/>
                  </a:solidFill>
                  <a:latin typeface="Segoe Semibold" charset="0"/>
                </a:defRPr>
              </a:lvl2pPr>
              <a:lvl3pPr marL="1143000" indent="-228600">
                <a:defRPr b="1">
                  <a:solidFill>
                    <a:schemeClr val="tx1"/>
                  </a:solidFill>
                  <a:latin typeface="Segoe Semibold" charset="0"/>
                </a:defRPr>
              </a:lvl3pPr>
              <a:lvl4pPr marL="1600200" indent="-228600">
                <a:defRPr b="1">
                  <a:solidFill>
                    <a:schemeClr val="tx1"/>
                  </a:solidFill>
                  <a:latin typeface="Segoe Semibold" charset="0"/>
                </a:defRPr>
              </a:lvl4pPr>
              <a:lvl5pPr marL="2057400" indent="-228600">
                <a:defRPr b="1">
                  <a:solidFill>
                    <a:schemeClr val="tx1"/>
                  </a:solidFill>
                  <a:latin typeface="Segoe Semibold" charset="0"/>
                </a:defRPr>
              </a:lvl5pPr>
              <a:lvl6pPr marL="2514600" indent="-228600" eaLnBrk="0" fontAlgn="base" hangingPunct="0">
                <a:spcBef>
                  <a:spcPct val="0"/>
                </a:spcBef>
                <a:spcAft>
                  <a:spcPct val="0"/>
                </a:spcAft>
                <a:defRPr b="1">
                  <a:solidFill>
                    <a:schemeClr val="tx1"/>
                  </a:solidFill>
                  <a:latin typeface="Segoe Semibold" charset="0"/>
                </a:defRPr>
              </a:lvl6pPr>
              <a:lvl7pPr marL="2971800" indent="-228600" eaLnBrk="0" fontAlgn="base" hangingPunct="0">
                <a:spcBef>
                  <a:spcPct val="0"/>
                </a:spcBef>
                <a:spcAft>
                  <a:spcPct val="0"/>
                </a:spcAft>
                <a:defRPr b="1">
                  <a:solidFill>
                    <a:schemeClr val="tx1"/>
                  </a:solidFill>
                  <a:latin typeface="Segoe Semibold" charset="0"/>
                </a:defRPr>
              </a:lvl7pPr>
              <a:lvl8pPr marL="3429000" indent="-228600" eaLnBrk="0" fontAlgn="base" hangingPunct="0">
                <a:spcBef>
                  <a:spcPct val="0"/>
                </a:spcBef>
                <a:spcAft>
                  <a:spcPct val="0"/>
                </a:spcAft>
                <a:defRPr b="1">
                  <a:solidFill>
                    <a:schemeClr val="tx1"/>
                  </a:solidFill>
                  <a:latin typeface="Segoe Semibold" charset="0"/>
                </a:defRPr>
              </a:lvl8pPr>
              <a:lvl9pPr marL="3886200" indent="-228600" eaLnBrk="0" fontAlgn="base" hangingPunct="0">
                <a:spcBef>
                  <a:spcPct val="0"/>
                </a:spcBef>
                <a:spcAft>
                  <a:spcPct val="0"/>
                </a:spcAft>
                <a:defRPr b="1">
                  <a:solidFill>
                    <a:schemeClr val="tx1"/>
                  </a:solidFill>
                  <a:latin typeface="Segoe Semibold" charset="0"/>
                </a:defRPr>
              </a:lvl9pPr>
            </a:lstStyle>
            <a:p>
              <a:pPr eaLnBrk="1" hangingPunct="1"/>
              <a:endParaRPr lang="ru-RU" altLang="ru-RU" sz="3200" b="0">
                <a:solidFill>
                  <a:schemeClr val="bg1"/>
                </a:solidFill>
                <a:latin typeface="Arial" panose="020B0604020202020204" pitchFamily="34" charset="0"/>
              </a:endParaRPr>
            </a:p>
          </p:txBody>
        </p:sp>
        <p:sp>
          <p:nvSpPr>
            <p:cNvPr id="29" name="AutoShape 26"/>
            <p:cNvSpPr>
              <a:spLocks noChangeArrowheads="1"/>
            </p:cNvSpPr>
            <p:nvPr/>
          </p:nvSpPr>
          <p:spPr bwMode="auto">
            <a:xfrm>
              <a:off x="830" y="3828"/>
              <a:ext cx="326" cy="318"/>
            </a:xfrm>
            <a:prstGeom prst="roundRect">
              <a:avLst>
                <a:gd name="adj" fmla="val 16667"/>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26" tIns="45713" rIns="91426" bIns="45713" anchor="ctr"/>
            <a:lstStyle>
              <a:lvl1pPr>
                <a:defRPr b="1">
                  <a:solidFill>
                    <a:schemeClr val="tx1"/>
                  </a:solidFill>
                  <a:latin typeface="Segoe Semibold" charset="0"/>
                </a:defRPr>
              </a:lvl1pPr>
              <a:lvl2pPr marL="742950" indent="-285750">
                <a:defRPr b="1">
                  <a:solidFill>
                    <a:schemeClr val="tx1"/>
                  </a:solidFill>
                  <a:latin typeface="Segoe Semibold" charset="0"/>
                </a:defRPr>
              </a:lvl2pPr>
              <a:lvl3pPr marL="1143000" indent="-228600">
                <a:defRPr b="1">
                  <a:solidFill>
                    <a:schemeClr val="tx1"/>
                  </a:solidFill>
                  <a:latin typeface="Segoe Semibold" charset="0"/>
                </a:defRPr>
              </a:lvl3pPr>
              <a:lvl4pPr marL="1600200" indent="-228600">
                <a:defRPr b="1">
                  <a:solidFill>
                    <a:schemeClr val="tx1"/>
                  </a:solidFill>
                  <a:latin typeface="Segoe Semibold" charset="0"/>
                </a:defRPr>
              </a:lvl4pPr>
              <a:lvl5pPr marL="2057400" indent="-228600">
                <a:defRPr b="1">
                  <a:solidFill>
                    <a:schemeClr val="tx1"/>
                  </a:solidFill>
                  <a:latin typeface="Segoe Semibold" charset="0"/>
                </a:defRPr>
              </a:lvl5pPr>
              <a:lvl6pPr marL="2514600" indent="-228600" eaLnBrk="0" fontAlgn="base" hangingPunct="0">
                <a:spcBef>
                  <a:spcPct val="0"/>
                </a:spcBef>
                <a:spcAft>
                  <a:spcPct val="0"/>
                </a:spcAft>
                <a:defRPr b="1">
                  <a:solidFill>
                    <a:schemeClr val="tx1"/>
                  </a:solidFill>
                  <a:latin typeface="Segoe Semibold" charset="0"/>
                </a:defRPr>
              </a:lvl6pPr>
              <a:lvl7pPr marL="2971800" indent="-228600" eaLnBrk="0" fontAlgn="base" hangingPunct="0">
                <a:spcBef>
                  <a:spcPct val="0"/>
                </a:spcBef>
                <a:spcAft>
                  <a:spcPct val="0"/>
                </a:spcAft>
                <a:defRPr b="1">
                  <a:solidFill>
                    <a:schemeClr val="tx1"/>
                  </a:solidFill>
                  <a:latin typeface="Segoe Semibold" charset="0"/>
                </a:defRPr>
              </a:lvl7pPr>
              <a:lvl8pPr marL="3429000" indent="-228600" eaLnBrk="0" fontAlgn="base" hangingPunct="0">
                <a:spcBef>
                  <a:spcPct val="0"/>
                </a:spcBef>
                <a:spcAft>
                  <a:spcPct val="0"/>
                </a:spcAft>
                <a:defRPr b="1">
                  <a:solidFill>
                    <a:schemeClr val="tx1"/>
                  </a:solidFill>
                  <a:latin typeface="Segoe Semibold" charset="0"/>
                </a:defRPr>
              </a:lvl8pPr>
              <a:lvl9pPr marL="3886200" indent="-228600" eaLnBrk="0" fontAlgn="base" hangingPunct="0">
                <a:spcBef>
                  <a:spcPct val="0"/>
                </a:spcBef>
                <a:spcAft>
                  <a:spcPct val="0"/>
                </a:spcAft>
                <a:defRPr b="1">
                  <a:solidFill>
                    <a:schemeClr val="tx1"/>
                  </a:solidFill>
                  <a:latin typeface="Segoe Semibold" charset="0"/>
                </a:defRPr>
              </a:lvl9pPr>
            </a:lstStyle>
            <a:p>
              <a:pPr algn="ctr" eaLnBrk="1" hangingPunct="1"/>
              <a:r>
                <a:rPr lang="ru-RU" altLang="ru-RU" sz="2800" dirty="0">
                  <a:solidFill>
                    <a:schemeClr val="bg1"/>
                  </a:solidFill>
                  <a:latin typeface="Arial" panose="020B0604020202020204" pitchFamily="34" charset="0"/>
                </a:rPr>
                <a:t>3</a:t>
              </a:r>
            </a:p>
          </p:txBody>
        </p:sp>
        <p:sp>
          <p:nvSpPr>
            <p:cNvPr id="30" name="AutoShape 27"/>
            <p:cNvSpPr>
              <a:spLocks noChangeArrowheads="1"/>
            </p:cNvSpPr>
            <p:nvPr/>
          </p:nvSpPr>
          <p:spPr bwMode="auto">
            <a:xfrm>
              <a:off x="672" y="3755"/>
              <a:ext cx="5093" cy="479"/>
            </a:xfrm>
            <a:prstGeom prst="roundRect">
              <a:avLst>
                <a:gd name="adj" fmla="val 16667"/>
              </a:avLst>
            </a:prstGeom>
            <a:noFill/>
            <a:ln>
              <a:noFill/>
            </a:ln>
            <a:effectLst/>
            <a:extLst>
              <a:ext uri="{909E8E84-426E-40DD-AFC4-6F175D3DCCD1}">
                <a14:hiddenFill xmlns:a14="http://schemas.microsoft.com/office/drawing/2010/main">
                  <a:solidFill>
                    <a:srgbClr val="464646">
                      <a:alpha val="50195"/>
                    </a:srgbClr>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26" tIns="45713" rIns="91426" bIns="45713" anchor="ctr"/>
            <a:lstStyle>
              <a:lvl1pPr marL="903288">
                <a:defRPr b="1">
                  <a:solidFill>
                    <a:schemeClr val="tx1"/>
                  </a:solidFill>
                  <a:latin typeface="Segoe Semibold" charset="0"/>
                </a:defRPr>
              </a:lvl1pPr>
              <a:lvl2pPr marL="742950" indent="-285750">
                <a:defRPr b="1">
                  <a:solidFill>
                    <a:schemeClr val="tx1"/>
                  </a:solidFill>
                  <a:latin typeface="Segoe Semibold" charset="0"/>
                </a:defRPr>
              </a:lvl2pPr>
              <a:lvl3pPr marL="1143000" indent="-228600">
                <a:defRPr b="1">
                  <a:solidFill>
                    <a:schemeClr val="tx1"/>
                  </a:solidFill>
                  <a:latin typeface="Segoe Semibold" charset="0"/>
                </a:defRPr>
              </a:lvl3pPr>
              <a:lvl4pPr marL="1600200" indent="-228600">
                <a:defRPr b="1">
                  <a:solidFill>
                    <a:schemeClr val="tx1"/>
                  </a:solidFill>
                  <a:latin typeface="Segoe Semibold" charset="0"/>
                </a:defRPr>
              </a:lvl4pPr>
              <a:lvl5pPr marL="2057400" indent="-228600">
                <a:defRPr b="1">
                  <a:solidFill>
                    <a:schemeClr val="tx1"/>
                  </a:solidFill>
                  <a:latin typeface="Segoe Semibold" charset="0"/>
                </a:defRPr>
              </a:lvl5pPr>
              <a:lvl6pPr marL="2514600" indent="-228600" eaLnBrk="0" fontAlgn="base" hangingPunct="0">
                <a:spcBef>
                  <a:spcPct val="0"/>
                </a:spcBef>
                <a:spcAft>
                  <a:spcPct val="0"/>
                </a:spcAft>
                <a:defRPr b="1">
                  <a:solidFill>
                    <a:schemeClr val="tx1"/>
                  </a:solidFill>
                  <a:latin typeface="Segoe Semibold" charset="0"/>
                </a:defRPr>
              </a:lvl6pPr>
              <a:lvl7pPr marL="2971800" indent="-228600" eaLnBrk="0" fontAlgn="base" hangingPunct="0">
                <a:spcBef>
                  <a:spcPct val="0"/>
                </a:spcBef>
                <a:spcAft>
                  <a:spcPct val="0"/>
                </a:spcAft>
                <a:defRPr b="1">
                  <a:solidFill>
                    <a:schemeClr val="tx1"/>
                  </a:solidFill>
                  <a:latin typeface="Segoe Semibold" charset="0"/>
                </a:defRPr>
              </a:lvl7pPr>
              <a:lvl8pPr marL="3429000" indent="-228600" eaLnBrk="0" fontAlgn="base" hangingPunct="0">
                <a:spcBef>
                  <a:spcPct val="0"/>
                </a:spcBef>
                <a:spcAft>
                  <a:spcPct val="0"/>
                </a:spcAft>
                <a:defRPr b="1">
                  <a:solidFill>
                    <a:schemeClr val="tx1"/>
                  </a:solidFill>
                  <a:latin typeface="Segoe Semibold" charset="0"/>
                </a:defRPr>
              </a:lvl8pPr>
              <a:lvl9pPr marL="3886200" indent="-228600" eaLnBrk="0" fontAlgn="base" hangingPunct="0">
                <a:spcBef>
                  <a:spcPct val="0"/>
                </a:spcBef>
                <a:spcAft>
                  <a:spcPct val="0"/>
                </a:spcAft>
                <a:defRPr b="1">
                  <a:solidFill>
                    <a:schemeClr val="tx1"/>
                  </a:solidFill>
                  <a:latin typeface="Segoe Semibold" charset="0"/>
                </a:defRPr>
              </a:lvl9pPr>
            </a:lstStyle>
            <a:p>
              <a:pPr marL="0" algn="ctr"/>
              <a:r>
                <a:rPr lang="ru-RU" sz="3600" dirty="0">
                  <a:solidFill>
                    <a:schemeClr val="bg1"/>
                  </a:solidFill>
                </a:rPr>
                <a:t>Дополнительные условия </a:t>
              </a:r>
            </a:p>
            <a:p>
              <a:pPr marL="0" algn="ctr"/>
              <a:r>
                <a:rPr lang="ru-RU" sz="3600" dirty="0">
                  <a:solidFill>
                    <a:schemeClr val="bg1"/>
                  </a:solidFill>
                </a:rPr>
                <a:t>проверки гипотез</a:t>
              </a:r>
            </a:p>
          </p:txBody>
        </p:sp>
      </p:grpSp>
      <p:sp>
        <p:nvSpPr>
          <p:cNvPr id="2" name="Номер слайда 1"/>
          <p:cNvSpPr>
            <a:spLocks noGrp="1"/>
          </p:cNvSpPr>
          <p:nvPr>
            <p:ph type="sldNum" sz="quarter" idx="12"/>
          </p:nvPr>
        </p:nvSpPr>
        <p:spPr/>
        <p:txBody>
          <a:bodyPr/>
          <a:lstStyle/>
          <a:p>
            <a:fld id="{952B6C0E-C4B9-4094-8E59-5B7DF00D5415}" type="slidenum">
              <a:rPr lang="ru-RU" smtClean="0"/>
              <a:t>2</a:t>
            </a:fld>
            <a:endParaRPr lang="ru-RU"/>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anim calcmode="lin" valueType="num">
                                      <p:cBhvr additive="base">
                                        <p:cTn id="7" dur="500" fill="hold"/>
                                        <p:tgtEl>
                                          <p:spTgt spid="23"/>
                                        </p:tgtEl>
                                        <p:attrNameLst>
                                          <p:attrName>ppt_x</p:attrName>
                                        </p:attrNameLst>
                                      </p:cBhvr>
                                      <p:tavLst>
                                        <p:tav tm="0">
                                          <p:val>
                                            <p:strVal val="1+#ppt_w/2"/>
                                          </p:val>
                                        </p:tav>
                                        <p:tav tm="100000">
                                          <p:val>
                                            <p:strVal val="#ppt_x"/>
                                          </p:val>
                                        </p:tav>
                                      </p:tavLst>
                                    </p:anim>
                                    <p:anim calcmode="lin" valueType="num">
                                      <p:cBhvr additive="base">
                                        <p:cTn id="8" dur="500" fill="hold"/>
                                        <p:tgtEl>
                                          <p:spTgt spid="23"/>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nodeType="clickEffect">
                                  <p:stCondLst>
                                    <p:cond delay="0"/>
                                  </p:stCondLst>
                                  <p:childTnLst>
                                    <p:set>
                                      <p:cBhvr>
                                        <p:cTn id="12" dur="1" fill="hold">
                                          <p:stCondLst>
                                            <p:cond delay="0"/>
                                          </p:stCondLst>
                                        </p:cTn>
                                        <p:tgtEl>
                                          <p:spTgt spid="27"/>
                                        </p:tgtEl>
                                        <p:attrNameLst>
                                          <p:attrName>style.visibility</p:attrName>
                                        </p:attrNameLst>
                                      </p:cBhvr>
                                      <p:to>
                                        <p:strVal val="visible"/>
                                      </p:to>
                                    </p:set>
                                    <p:anim calcmode="lin" valueType="num">
                                      <p:cBhvr additive="base">
                                        <p:cTn id="13" dur="500" fill="hold"/>
                                        <p:tgtEl>
                                          <p:spTgt spid="27"/>
                                        </p:tgtEl>
                                        <p:attrNameLst>
                                          <p:attrName>ppt_x</p:attrName>
                                        </p:attrNameLst>
                                      </p:cBhvr>
                                      <p:tavLst>
                                        <p:tav tm="0">
                                          <p:val>
                                            <p:strVal val="1+#ppt_w/2"/>
                                          </p:val>
                                        </p:tav>
                                        <p:tav tm="100000">
                                          <p:val>
                                            <p:strVal val="#ppt_x"/>
                                          </p:val>
                                        </p:tav>
                                      </p:tavLst>
                                    </p:anim>
                                    <p:anim calcmode="lin" valueType="num">
                                      <p:cBhvr additive="base">
                                        <p:cTn id="14" dur="500" fill="hold"/>
                                        <p:tgtEl>
                                          <p:spTgt spid="2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999" name="AutoShape 7"/>
          <p:cNvSpPr>
            <a:spLocks noChangeArrowheads="1"/>
          </p:cNvSpPr>
          <p:nvPr/>
        </p:nvSpPr>
        <p:spPr bwMode="auto">
          <a:xfrm>
            <a:off x="1649180" y="1906961"/>
            <a:ext cx="9329738" cy="1287463"/>
          </a:xfrm>
          <a:prstGeom prst="roundRect">
            <a:avLst>
              <a:gd name="adj" fmla="val 16667"/>
            </a:avLst>
          </a:prstGeom>
          <a:solidFill>
            <a:srgbClr val="464646">
              <a:alpha val="50000"/>
            </a:srgb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9441" tIns="49721" rIns="99441" bIns="49721" anchor="ctr"/>
          <a:lstStyle>
            <a:lvl1pPr marL="982663" defTabSz="993775">
              <a:defRPr>
                <a:solidFill>
                  <a:schemeClr val="tx1"/>
                </a:solidFill>
                <a:latin typeface="Arial" panose="020B0604020202020204" pitchFamily="34" charset="0"/>
              </a:defRPr>
            </a:lvl1pPr>
            <a:lvl2pPr marL="1177925" defTabSz="993775">
              <a:defRPr>
                <a:solidFill>
                  <a:schemeClr val="tx1"/>
                </a:solidFill>
                <a:latin typeface="Arial" panose="020B0604020202020204" pitchFamily="34" charset="0"/>
              </a:defRPr>
            </a:lvl2pPr>
            <a:lvl3pPr marL="1373188" defTabSz="993775">
              <a:defRPr>
                <a:solidFill>
                  <a:schemeClr val="tx1"/>
                </a:solidFill>
                <a:latin typeface="Arial" panose="020B0604020202020204" pitchFamily="34" charset="0"/>
              </a:defRPr>
            </a:lvl3pPr>
            <a:lvl4pPr marL="1566863" defTabSz="993775">
              <a:defRPr>
                <a:solidFill>
                  <a:schemeClr val="tx1"/>
                </a:solidFill>
                <a:latin typeface="Arial" panose="020B0604020202020204" pitchFamily="34" charset="0"/>
              </a:defRPr>
            </a:lvl4pPr>
            <a:lvl5pPr marL="1989138" defTabSz="993775">
              <a:defRPr>
                <a:solidFill>
                  <a:schemeClr val="tx1"/>
                </a:solidFill>
                <a:latin typeface="Arial" panose="020B0604020202020204" pitchFamily="34" charset="0"/>
              </a:defRPr>
            </a:lvl5pPr>
            <a:lvl6pPr marL="2446338" defTabSz="993775" fontAlgn="base">
              <a:spcBef>
                <a:spcPct val="0"/>
              </a:spcBef>
              <a:spcAft>
                <a:spcPct val="0"/>
              </a:spcAft>
              <a:defRPr>
                <a:solidFill>
                  <a:schemeClr val="tx1"/>
                </a:solidFill>
                <a:latin typeface="Arial" panose="020B0604020202020204" pitchFamily="34" charset="0"/>
              </a:defRPr>
            </a:lvl6pPr>
            <a:lvl7pPr marL="2903538" defTabSz="993775" fontAlgn="base">
              <a:spcBef>
                <a:spcPct val="0"/>
              </a:spcBef>
              <a:spcAft>
                <a:spcPct val="0"/>
              </a:spcAft>
              <a:defRPr>
                <a:solidFill>
                  <a:schemeClr val="tx1"/>
                </a:solidFill>
                <a:latin typeface="Arial" panose="020B0604020202020204" pitchFamily="34" charset="0"/>
              </a:defRPr>
            </a:lvl7pPr>
            <a:lvl8pPr marL="3360738" defTabSz="993775" fontAlgn="base">
              <a:spcBef>
                <a:spcPct val="0"/>
              </a:spcBef>
              <a:spcAft>
                <a:spcPct val="0"/>
              </a:spcAft>
              <a:defRPr>
                <a:solidFill>
                  <a:schemeClr val="tx1"/>
                </a:solidFill>
                <a:latin typeface="Arial" panose="020B0604020202020204" pitchFamily="34" charset="0"/>
              </a:defRPr>
            </a:lvl8pPr>
            <a:lvl9pPr marL="3817938" defTabSz="993775" fontAlgn="base">
              <a:spcBef>
                <a:spcPct val="0"/>
              </a:spcBef>
              <a:spcAft>
                <a:spcPct val="0"/>
              </a:spcAft>
              <a:defRPr>
                <a:solidFill>
                  <a:schemeClr val="tx1"/>
                </a:solidFill>
                <a:latin typeface="Arial" panose="020B0604020202020204" pitchFamily="34" charset="0"/>
              </a:defRPr>
            </a:lvl9pPr>
          </a:lstStyle>
          <a:p>
            <a:endParaRPr lang="ru-RU" altLang="ru-RU" sz="3500">
              <a:solidFill>
                <a:schemeClr val="bg1"/>
              </a:solidFill>
            </a:endParaRPr>
          </a:p>
        </p:txBody>
      </p:sp>
      <p:sp>
        <p:nvSpPr>
          <p:cNvPr id="213000" name="AutoShape 8"/>
          <p:cNvSpPr>
            <a:spLocks noChangeArrowheads="1"/>
          </p:cNvSpPr>
          <p:nvPr/>
        </p:nvSpPr>
        <p:spPr bwMode="auto">
          <a:xfrm>
            <a:off x="2006368" y="2129211"/>
            <a:ext cx="596900" cy="854075"/>
          </a:xfrm>
          <a:prstGeom prst="roundRect">
            <a:avLst>
              <a:gd name="adj" fmla="val 16667"/>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9441" tIns="49721" rIns="99441" bIns="49721" anchor="ctr"/>
          <a:lstStyle>
            <a:lvl1pPr defTabSz="993775">
              <a:defRPr>
                <a:solidFill>
                  <a:schemeClr val="tx1"/>
                </a:solidFill>
                <a:latin typeface="Arial" panose="020B0604020202020204" pitchFamily="34" charset="0"/>
              </a:defRPr>
            </a:lvl1pPr>
            <a:lvl2pPr marL="496888" defTabSz="993775">
              <a:defRPr>
                <a:solidFill>
                  <a:schemeClr val="tx1"/>
                </a:solidFill>
                <a:latin typeface="Arial" panose="020B0604020202020204" pitchFamily="34" charset="0"/>
              </a:defRPr>
            </a:lvl2pPr>
            <a:lvl3pPr marL="993775" defTabSz="993775">
              <a:defRPr>
                <a:solidFill>
                  <a:schemeClr val="tx1"/>
                </a:solidFill>
                <a:latin typeface="Arial" panose="020B0604020202020204" pitchFamily="34" charset="0"/>
              </a:defRPr>
            </a:lvl3pPr>
            <a:lvl4pPr marL="1492250" defTabSz="993775">
              <a:defRPr>
                <a:solidFill>
                  <a:schemeClr val="tx1"/>
                </a:solidFill>
                <a:latin typeface="Arial" panose="020B0604020202020204" pitchFamily="34" charset="0"/>
              </a:defRPr>
            </a:lvl4pPr>
            <a:lvl5pPr marL="1989138" defTabSz="993775">
              <a:defRPr>
                <a:solidFill>
                  <a:schemeClr val="tx1"/>
                </a:solidFill>
                <a:latin typeface="Arial" panose="020B0604020202020204" pitchFamily="34" charset="0"/>
              </a:defRPr>
            </a:lvl5pPr>
            <a:lvl6pPr marL="2446338" defTabSz="993775" fontAlgn="base">
              <a:spcBef>
                <a:spcPct val="0"/>
              </a:spcBef>
              <a:spcAft>
                <a:spcPct val="0"/>
              </a:spcAft>
              <a:defRPr>
                <a:solidFill>
                  <a:schemeClr val="tx1"/>
                </a:solidFill>
                <a:latin typeface="Arial" panose="020B0604020202020204" pitchFamily="34" charset="0"/>
              </a:defRPr>
            </a:lvl6pPr>
            <a:lvl7pPr marL="2903538" defTabSz="993775" fontAlgn="base">
              <a:spcBef>
                <a:spcPct val="0"/>
              </a:spcBef>
              <a:spcAft>
                <a:spcPct val="0"/>
              </a:spcAft>
              <a:defRPr>
                <a:solidFill>
                  <a:schemeClr val="tx1"/>
                </a:solidFill>
                <a:latin typeface="Arial" panose="020B0604020202020204" pitchFamily="34" charset="0"/>
              </a:defRPr>
            </a:lvl7pPr>
            <a:lvl8pPr marL="3360738" defTabSz="993775" fontAlgn="base">
              <a:spcBef>
                <a:spcPct val="0"/>
              </a:spcBef>
              <a:spcAft>
                <a:spcPct val="0"/>
              </a:spcAft>
              <a:defRPr>
                <a:solidFill>
                  <a:schemeClr val="tx1"/>
                </a:solidFill>
                <a:latin typeface="Arial" panose="020B0604020202020204" pitchFamily="34" charset="0"/>
              </a:defRPr>
            </a:lvl8pPr>
            <a:lvl9pPr marL="3817938" defTabSz="993775" fontAlgn="base">
              <a:spcBef>
                <a:spcPct val="0"/>
              </a:spcBef>
              <a:spcAft>
                <a:spcPct val="0"/>
              </a:spcAft>
              <a:defRPr>
                <a:solidFill>
                  <a:schemeClr val="tx1"/>
                </a:solidFill>
                <a:latin typeface="Arial" panose="020B0604020202020204" pitchFamily="34" charset="0"/>
              </a:defRPr>
            </a:lvl9pPr>
          </a:lstStyle>
          <a:p>
            <a:pPr algn="ctr"/>
            <a:r>
              <a:rPr lang="ru-RU" altLang="ru-RU" sz="3000" b="1" dirty="0">
                <a:solidFill>
                  <a:schemeClr val="bg1"/>
                </a:solidFill>
              </a:rPr>
              <a:t>3</a:t>
            </a:r>
          </a:p>
        </p:txBody>
      </p:sp>
      <p:sp>
        <p:nvSpPr>
          <p:cNvPr id="5" name="AutoShape 27"/>
          <p:cNvSpPr>
            <a:spLocks noChangeArrowheads="1"/>
          </p:cNvSpPr>
          <p:nvPr/>
        </p:nvSpPr>
        <p:spPr bwMode="auto">
          <a:xfrm>
            <a:off x="2949749" y="1928930"/>
            <a:ext cx="6680284" cy="1179704"/>
          </a:xfrm>
          <a:prstGeom prst="roundRect">
            <a:avLst>
              <a:gd name="adj" fmla="val 16667"/>
            </a:avLst>
          </a:prstGeom>
          <a:noFill/>
          <a:ln>
            <a:noFill/>
          </a:ln>
          <a:effectLst/>
          <a:extLst>
            <a:ext uri="{909E8E84-426E-40DD-AFC4-6F175D3DCCD1}">
              <a14:hiddenFill xmlns:a14="http://schemas.microsoft.com/office/drawing/2010/main">
                <a:solidFill>
                  <a:srgbClr val="464646">
                    <a:alpha val="50000"/>
                  </a:srgbClr>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9441" tIns="49721" rIns="99441" bIns="49721" anchor="ctr"/>
          <a:lstStyle>
            <a:lvl1pPr marL="982663" defTabSz="993775">
              <a:defRPr>
                <a:solidFill>
                  <a:schemeClr val="tx1"/>
                </a:solidFill>
                <a:latin typeface="Arial" panose="020B0604020202020204" pitchFamily="34" charset="0"/>
              </a:defRPr>
            </a:lvl1pPr>
            <a:lvl2pPr marL="1177925" defTabSz="993775">
              <a:defRPr>
                <a:solidFill>
                  <a:schemeClr val="tx1"/>
                </a:solidFill>
                <a:latin typeface="Arial" panose="020B0604020202020204" pitchFamily="34" charset="0"/>
              </a:defRPr>
            </a:lvl2pPr>
            <a:lvl3pPr marL="1373188" defTabSz="993775">
              <a:defRPr>
                <a:solidFill>
                  <a:schemeClr val="tx1"/>
                </a:solidFill>
                <a:latin typeface="Arial" panose="020B0604020202020204" pitchFamily="34" charset="0"/>
              </a:defRPr>
            </a:lvl3pPr>
            <a:lvl4pPr marL="1566863" defTabSz="993775">
              <a:defRPr>
                <a:solidFill>
                  <a:schemeClr val="tx1"/>
                </a:solidFill>
                <a:latin typeface="Arial" panose="020B0604020202020204" pitchFamily="34" charset="0"/>
              </a:defRPr>
            </a:lvl4pPr>
            <a:lvl5pPr marL="1989138" defTabSz="993775">
              <a:defRPr>
                <a:solidFill>
                  <a:schemeClr val="tx1"/>
                </a:solidFill>
                <a:latin typeface="Arial" panose="020B0604020202020204" pitchFamily="34" charset="0"/>
              </a:defRPr>
            </a:lvl5pPr>
            <a:lvl6pPr marL="2446338" defTabSz="993775" fontAlgn="base">
              <a:spcBef>
                <a:spcPct val="0"/>
              </a:spcBef>
              <a:spcAft>
                <a:spcPct val="0"/>
              </a:spcAft>
              <a:defRPr>
                <a:solidFill>
                  <a:schemeClr val="tx1"/>
                </a:solidFill>
                <a:latin typeface="Arial" panose="020B0604020202020204" pitchFamily="34" charset="0"/>
              </a:defRPr>
            </a:lvl6pPr>
            <a:lvl7pPr marL="2903538" defTabSz="993775" fontAlgn="base">
              <a:spcBef>
                <a:spcPct val="0"/>
              </a:spcBef>
              <a:spcAft>
                <a:spcPct val="0"/>
              </a:spcAft>
              <a:defRPr>
                <a:solidFill>
                  <a:schemeClr val="tx1"/>
                </a:solidFill>
                <a:latin typeface="Arial" panose="020B0604020202020204" pitchFamily="34" charset="0"/>
              </a:defRPr>
            </a:lvl7pPr>
            <a:lvl8pPr marL="3360738" defTabSz="993775" fontAlgn="base">
              <a:spcBef>
                <a:spcPct val="0"/>
              </a:spcBef>
              <a:spcAft>
                <a:spcPct val="0"/>
              </a:spcAft>
              <a:defRPr>
                <a:solidFill>
                  <a:schemeClr val="tx1"/>
                </a:solidFill>
                <a:latin typeface="Arial" panose="020B0604020202020204" pitchFamily="34" charset="0"/>
              </a:defRPr>
            </a:lvl8pPr>
            <a:lvl9pPr marL="3817938" defTabSz="993775" fontAlgn="base">
              <a:spcBef>
                <a:spcPct val="0"/>
              </a:spcBef>
              <a:spcAft>
                <a:spcPct val="0"/>
              </a:spcAft>
              <a:defRPr>
                <a:solidFill>
                  <a:schemeClr val="tx1"/>
                </a:solidFill>
                <a:latin typeface="Arial" panose="020B0604020202020204" pitchFamily="34" charset="0"/>
              </a:defRPr>
            </a:lvl9pPr>
          </a:lstStyle>
          <a:p>
            <a:pPr marL="0" algn="ctr"/>
            <a:r>
              <a:rPr lang="ru-RU" sz="4400" dirty="0">
                <a:solidFill>
                  <a:schemeClr val="bg1"/>
                </a:solidFill>
              </a:rPr>
              <a:t>Дополнительные условия </a:t>
            </a:r>
          </a:p>
          <a:p>
            <a:pPr marL="0" algn="ctr"/>
            <a:r>
              <a:rPr lang="ru-RU" sz="4400" dirty="0">
                <a:solidFill>
                  <a:schemeClr val="bg1"/>
                </a:solidFill>
              </a:rPr>
              <a:t>проверки гипотез</a:t>
            </a:r>
          </a:p>
        </p:txBody>
      </p:sp>
      <p:sp>
        <p:nvSpPr>
          <p:cNvPr id="7" name="AutoShape 7"/>
          <p:cNvSpPr>
            <a:spLocks noChangeArrowheads="1"/>
          </p:cNvSpPr>
          <p:nvPr/>
        </p:nvSpPr>
        <p:spPr bwMode="auto">
          <a:xfrm>
            <a:off x="2154378" y="3275113"/>
            <a:ext cx="8824541" cy="1193815"/>
          </a:xfrm>
          <a:prstGeom prst="roundRect">
            <a:avLst>
              <a:gd name="adj" fmla="val 16667"/>
            </a:avLst>
          </a:prstGeom>
          <a:solidFill>
            <a:srgbClr val="464646">
              <a:alpha val="50000"/>
            </a:srgb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9441" tIns="49721" rIns="99441" bIns="49721" anchor="ctr"/>
          <a:lstStyle>
            <a:lvl1pPr marL="982663" defTabSz="993775">
              <a:defRPr>
                <a:solidFill>
                  <a:schemeClr val="tx1"/>
                </a:solidFill>
                <a:latin typeface="Arial" panose="020B0604020202020204" pitchFamily="34" charset="0"/>
              </a:defRPr>
            </a:lvl1pPr>
            <a:lvl2pPr marL="1177925" defTabSz="993775">
              <a:defRPr>
                <a:solidFill>
                  <a:schemeClr val="tx1"/>
                </a:solidFill>
                <a:latin typeface="Arial" panose="020B0604020202020204" pitchFamily="34" charset="0"/>
              </a:defRPr>
            </a:lvl2pPr>
            <a:lvl3pPr marL="1373188" defTabSz="993775">
              <a:defRPr>
                <a:solidFill>
                  <a:schemeClr val="tx1"/>
                </a:solidFill>
                <a:latin typeface="Arial" panose="020B0604020202020204" pitchFamily="34" charset="0"/>
              </a:defRPr>
            </a:lvl3pPr>
            <a:lvl4pPr marL="1566863" defTabSz="993775">
              <a:defRPr>
                <a:solidFill>
                  <a:schemeClr val="tx1"/>
                </a:solidFill>
                <a:latin typeface="Arial" panose="020B0604020202020204" pitchFamily="34" charset="0"/>
              </a:defRPr>
            </a:lvl4pPr>
            <a:lvl5pPr marL="1989138" defTabSz="993775">
              <a:defRPr>
                <a:solidFill>
                  <a:schemeClr val="tx1"/>
                </a:solidFill>
                <a:latin typeface="Arial" panose="020B0604020202020204" pitchFamily="34" charset="0"/>
              </a:defRPr>
            </a:lvl5pPr>
            <a:lvl6pPr marL="2446338" defTabSz="993775" fontAlgn="base">
              <a:spcBef>
                <a:spcPct val="0"/>
              </a:spcBef>
              <a:spcAft>
                <a:spcPct val="0"/>
              </a:spcAft>
              <a:defRPr>
                <a:solidFill>
                  <a:schemeClr val="tx1"/>
                </a:solidFill>
                <a:latin typeface="Arial" panose="020B0604020202020204" pitchFamily="34" charset="0"/>
              </a:defRPr>
            </a:lvl6pPr>
            <a:lvl7pPr marL="2903538" defTabSz="993775" fontAlgn="base">
              <a:spcBef>
                <a:spcPct val="0"/>
              </a:spcBef>
              <a:spcAft>
                <a:spcPct val="0"/>
              </a:spcAft>
              <a:defRPr>
                <a:solidFill>
                  <a:schemeClr val="tx1"/>
                </a:solidFill>
                <a:latin typeface="Arial" panose="020B0604020202020204" pitchFamily="34" charset="0"/>
              </a:defRPr>
            </a:lvl7pPr>
            <a:lvl8pPr marL="3360738" defTabSz="993775" fontAlgn="base">
              <a:spcBef>
                <a:spcPct val="0"/>
              </a:spcBef>
              <a:spcAft>
                <a:spcPct val="0"/>
              </a:spcAft>
              <a:defRPr>
                <a:solidFill>
                  <a:schemeClr val="tx1"/>
                </a:solidFill>
                <a:latin typeface="Arial" panose="020B0604020202020204" pitchFamily="34" charset="0"/>
              </a:defRPr>
            </a:lvl8pPr>
            <a:lvl9pPr marL="3817938" defTabSz="993775" fontAlgn="base">
              <a:spcBef>
                <a:spcPct val="0"/>
              </a:spcBef>
              <a:spcAft>
                <a:spcPct val="0"/>
              </a:spcAft>
              <a:defRPr>
                <a:solidFill>
                  <a:schemeClr val="tx1"/>
                </a:solidFill>
                <a:latin typeface="Arial" panose="020B0604020202020204" pitchFamily="34" charset="0"/>
              </a:defRPr>
            </a:lvl9pPr>
          </a:lstStyle>
          <a:p>
            <a:endParaRPr lang="ru-RU" altLang="ru-RU" sz="3500">
              <a:solidFill>
                <a:schemeClr val="bg1"/>
              </a:solidFill>
            </a:endParaRPr>
          </a:p>
        </p:txBody>
      </p:sp>
      <p:sp>
        <p:nvSpPr>
          <p:cNvPr id="8" name="AutoShape 8"/>
          <p:cNvSpPr>
            <a:spLocks noChangeArrowheads="1"/>
          </p:cNvSpPr>
          <p:nvPr/>
        </p:nvSpPr>
        <p:spPr bwMode="auto">
          <a:xfrm>
            <a:off x="2511565" y="3497363"/>
            <a:ext cx="596900" cy="854075"/>
          </a:xfrm>
          <a:prstGeom prst="roundRect">
            <a:avLst>
              <a:gd name="adj" fmla="val 16667"/>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9441" tIns="49721" rIns="99441" bIns="49721" anchor="ctr"/>
          <a:lstStyle>
            <a:lvl1pPr defTabSz="993775">
              <a:defRPr>
                <a:solidFill>
                  <a:schemeClr val="tx1"/>
                </a:solidFill>
                <a:latin typeface="Arial" panose="020B0604020202020204" pitchFamily="34" charset="0"/>
              </a:defRPr>
            </a:lvl1pPr>
            <a:lvl2pPr marL="496888" defTabSz="993775">
              <a:defRPr>
                <a:solidFill>
                  <a:schemeClr val="tx1"/>
                </a:solidFill>
                <a:latin typeface="Arial" panose="020B0604020202020204" pitchFamily="34" charset="0"/>
              </a:defRPr>
            </a:lvl2pPr>
            <a:lvl3pPr marL="993775" defTabSz="993775">
              <a:defRPr>
                <a:solidFill>
                  <a:schemeClr val="tx1"/>
                </a:solidFill>
                <a:latin typeface="Arial" panose="020B0604020202020204" pitchFamily="34" charset="0"/>
              </a:defRPr>
            </a:lvl3pPr>
            <a:lvl4pPr marL="1492250" defTabSz="993775">
              <a:defRPr>
                <a:solidFill>
                  <a:schemeClr val="tx1"/>
                </a:solidFill>
                <a:latin typeface="Arial" panose="020B0604020202020204" pitchFamily="34" charset="0"/>
              </a:defRPr>
            </a:lvl4pPr>
            <a:lvl5pPr marL="1989138" defTabSz="993775">
              <a:defRPr>
                <a:solidFill>
                  <a:schemeClr val="tx1"/>
                </a:solidFill>
                <a:latin typeface="Arial" panose="020B0604020202020204" pitchFamily="34" charset="0"/>
              </a:defRPr>
            </a:lvl5pPr>
            <a:lvl6pPr marL="2446338" defTabSz="993775" fontAlgn="base">
              <a:spcBef>
                <a:spcPct val="0"/>
              </a:spcBef>
              <a:spcAft>
                <a:spcPct val="0"/>
              </a:spcAft>
              <a:defRPr>
                <a:solidFill>
                  <a:schemeClr val="tx1"/>
                </a:solidFill>
                <a:latin typeface="Arial" panose="020B0604020202020204" pitchFamily="34" charset="0"/>
              </a:defRPr>
            </a:lvl6pPr>
            <a:lvl7pPr marL="2903538" defTabSz="993775" fontAlgn="base">
              <a:spcBef>
                <a:spcPct val="0"/>
              </a:spcBef>
              <a:spcAft>
                <a:spcPct val="0"/>
              </a:spcAft>
              <a:defRPr>
                <a:solidFill>
                  <a:schemeClr val="tx1"/>
                </a:solidFill>
                <a:latin typeface="Arial" panose="020B0604020202020204" pitchFamily="34" charset="0"/>
              </a:defRPr>
            </a:lvl7pPr>
            <a:lvl8pPr marL="3360738" defTabSz="993775" fontAlgn="base">
              <a:spcBef>
                <a:spcPct val="0"/>
              </a:spcBef>
              <a:spcAft>
                <a:spcPct val="0"/>
              </a:spcAft>
              <a:defRPr>
                <a:solidFill>
                  <a:schemeClr val="tx1"/>
                </a:solidFill>
                <a:latin typeface="Arial" panose="020B0604020202020204" pitchFamily="34" charset="0"/>
              </a:defRPr>
            </a:lvl8pPr>
            <a:lvl9pPr marL="3817938" defTabSz="993775" fontAlgn="base">
              <a:spcBef>
                <a:spcPct val="0"/>
              </a:spcBef>
              <a:spcAft>
                <a:spcPct val="0"/>
              </a:spcAft>
              <a:defRPr>
                <a:solidFill>
                  <a:schemeClr val="tx1"/>
                </a:solidFill>
                <a:latin typeface="Arial" panose="020B0604020202020204" pitchFamily="34" charset="0"/>
              </a:defRPr>
            </a:lvl9pPr>
          </a:lstStyle>
          <a:p>
            <a:pPr algn="ctr"/>
            <a:r>
              <a:rPr lang="ru-RU" altLang="ru-RU" sz="3000" b="1" dirty="0">
                <a:solidFill>
                  <a:schemeClr val="bg1"/>
                </a:solidFill>
              </a:rPr>
              <a:t>3</a:t>
            </a:r>
            <a:r>
              <a:rPr lang="en-US" altLang="ru-RU" sz="3000" b="1" dirty="0">
                <a:solidFill>
                  <a:schemeClr val="bg1"/>
                </a:solidFill>
              </a:rPr>
              <a:t>.</a:t>
            </a:r>
            <a:r>
              <a:rPr lang="ru-RU" altLang="ru-RU" sz="3000" b="1" dirty="0">
                <a:solidFill>
                  <a:schemeClr val="bg1"/>
                </a:solidFill>
              </a:rPr>
              <a:t>1</a:t>
            </a:r>
          </a:p>
        </p:txBody>
      </p:sp>
      <p:sp>
        <p:nvSpPr>
          <p:cNvPr id="9" name="AutoShape 27"/>
          <p:cNvSpPr>
            <a:spLocks noChangeArrowheads="1"/>
          </p:cNvSpPr>
          <p:nvPr/>
        </p:nvSpPr>
        <p:spPr bwMode="auto">
          <a:xfrm>
            <a:off x="3378033" y="3415716"/>
            <a:ext cx="6252000" cy="957454"/>
          </a:xfrm>
          <a:prstGeom prst="roundRect">
            <a:avLst>
              <a:gd name="adj" fmla="val 16667"/>
            </a:avLst>
          </a:prstGeom>
          <a:noFill/>
          <a:ln>
            <a:noFill/>
          </a:ln>
          <a:effectLst/>
          <a:extLst>
            <a:ext uri="{909E8E84-426E-40DD-AFC4-6F175D3DCCD1}">
              <a14:hiddenFill xmlns:a14="http://schemas.microsoft.com/office/drawing/2010/main">
                <a:solidFill>
                  <a:srgbClr val="464646">
                    <a:alpha val="50000"/>
                  </a:srgbClr>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9441" tIns="49721" rIns="99441" bIns="49721" anchor="ctr"/>
          <a:lstStyle>
            <a:lvl1pPr marL="982663" defTabSz="993775">
              <a:defRPr>
                <a:solidFill>
                  <a:schemeClr val="tx1"/>
                </a:solidFill>
                <a:latin typeface="Arial" panose="020B0604020202020204" pitchFamily="34" charset="0"/>
              </a:defRPr>
            </a:lvl1pPr>
            <a:lvl2pPr marL="1177925" defTabSz="993775">
              <a:defRPr>
                <a:solidFill>
                  <a:schemeClr val="tx1"/>
                </a:solidFill>
                <a:latin typeface="Arial" panose="020B0604020202020204" pitchFamily="34" charset="0"/>
              </a:defRPr>
            </a:lvl2pPr>
            <a:lvl3pPr marL="1373188" defTabSz="993775">
              <a:defRPr>
                <a:solidFill>
                  <a:schemeClr val="tx1"/>
                </a:solidFill>
                <a:latin typeface="Arial" panose="020B0604020202020204" pitchFamily="34" charset="0"/>
              </a:defRPr>
            </a:lvl3pPr>
            <a:lvl4pPr marL="1566863" defTabSz="993775">
              <a:defRPr>
                <a:solidFill>
                  <a:schemeClr val="tx1"/>
                </a:solidFill>
                <a:latin typeface="Arial" panose="020B0604020202020204" pitchFamily="34" charset="0"/>
              </a:defRPr>
            </a:lvl4pPr>
            <a:lvl5pPr marL="1989138" defTabSz="993775">
              <a:defRPr>
                <a:solidFill>
                  <a:schemeClr val="tx1"/>
                </a:solidFill>
                <a:latin typeface="Arial" panose="020B0604020202020204" pitchFamily="34" charset="0"/>
              </a:defRPr>
            </a:lvl5pPr>
            <a:lvl6pPr marL="2446338" defTabSz="993775" fontAlgn="base">
              <a:spcBef>
                <a:spcPct val="0"/>
              </a:spcBef>
              <a:spcAft>
                <a:spcPct val="0"/>
              </a:spcAft>
              <a:defRPr>
                <a:solidFill>
                  <a:schemeClr val="tx1"/>
                </a:solidFill>
                <a:latin typeface="Arial" panose="020B0604020202020204" pitchFamily="34" charset="0"/>
              </a:defRPr>
            </a:lvl6pPr>
            <a:lvl7pPr marL="2903538" defTabSz="993775" fontAlgn="base">
              <a:spcBef>
                <a:spcPct val="0"/>
              </a:spcBef>
              <a:spcAft>
                <a:spcPct val="0"/>
              </a:spcAft>
              <a:defRPr>
                <a:solidFill>
                  <a:schemeClr val="tx1"/>
                </a:solidFill>
                <a:latin typeface="Arial" panose="020B0604020202020204" pitchFamily="34" charset="0"/>
              </a:defRPr>
            </a:lvl7pPr>
            <a:lvl8pPr marL="3360738" defTabSz="993775" fontAlgn="base">
              <a:spcBef>
                <a:spcPct val="0"/>
              </a:spcBef>
              <a:spcAft>
                <a:spcPct val="0"/>
              </a:spcAft>
              <a:defRPr>
                <a:solidFill>
                  <a:schemeClr val="tx1"/>
                </a:solidFill>
                <a:latin typeface="Arial" panose="020B0604020202020204" pitchFamily="34" charset="0"/>
              </a:defRPr>
            </a:lvl8pPr>
            <a:lvl9pPr marL="3817938" defTabSz="993775" fontAlgn="base">
              <a:spcBef>
                <a:spcPct val="0"/>
              </a:spcBef>
              <a:spcAft>
                <a:spcPct val="0"/>
              </a:spcAft>
              <a:defRPr>
                <a:solidFill>
                  <a:schemeClr val="tx1"/>
                </a:solidFill>
                <a:latin typeface="Arial" panose="020B0604020202020204" pitchFamily="34" charset="0"/>
              </a:defRPr>
            </a:lvl9pPr>
          </a:lstStyle>
          <a:p>
            <a:pPr marL="0"/>
            <a:r>
              <a:rPr lang="ru-RU" sz="3600" dirty="0">
                <a:solidFill>
                  <a:schemeClr val="bg1"/>
                </a:solidFill>
              </a:rPr>
              <a:t>Гипотеза о нормальности </a:t>
            </a:r>
          </a:p>
          <a:p>
            <a:pPr marL="0"/>
            <a:r>
              <a:rPr lang="ru-RU" sz="3600" dirty="0">
                <a:solidFill>
                  <a:schemeClr val="bg1"/>
                </a:solidFill>
              </a:rPr>
              <a:t>распределения</a:t>
            </a:r>
          </a:p>
        </p:txBody>
      </p:sp>
      <p:sp>
        <p:nvSpPr>
          <p:cNvPr id="10" name="AutoShape 7"/>
          <p:cNvSpPr>
            <a:spLocks noChangeArrowheads="1"/>
          </p:cNvSpPr>
          <p:nvPr/>
        </p:nvSpPr>
        <p:spPr bwMode="auto">
          <a:xfrm>
            <a:off x="2154378" y="4571257"/>
            <a:ext cx="8824541" cy="965199"/>
          </a:xfrm>
          <a:prstGeom prst="roundRect">
            <a:avLst>
              <a:gd name="adj" fmla="val 16667"/>
            </a:avLst>
          </a:prstGeom>
          <a:solidFill>
            <a:srgbClr val="464646">
              <a:alpha val="50000"/>
            </a:srgb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9441" tIns="49721" rIns="99441" bIns="49721" anchor="ctr"/>
          <a:lstStyle>
            <a:lvl1pPr marL="982663" defTabSz="993775">
              <a:defRPr>
                <a:solidFill>
                  <a:schemeClr val="tx1"/>
                </a:solidFill>
                <a:latin typeface="Arial" panose="020B0604020202020204" pitchFamily="34" charset="0"/>
              </a:defRPr>
            </a:lvl1pPr>
            <a:lvl2pPr marL="1177925" defTabSz="993775">
              <a:defRPr>
                <a:solidFill>
                  <a:schemeClr val="tx1"/>
                </a:solidFill>
                <a:latin typeface="Arial" panose="020B0604020202020204" pitchFamily="34" charset="0"/>
              </a:defRPr>
            </a:lvl2pPr>
            <a:lvl3pPr marL="1373188" defTabSz="993775">
              <a:defRPr>
                <a:solidFill>
                  <a:schemeClr val="tx1"/>
                </a:solidFill>
                <a:latin typeface="Arial" panose="020B0604020202020204" pitchFamily="34" charset="0"/>
              </a:defRPr>
            </a:lvl3pPr>
            <a:lvl4pPr marL="1566863" defTabSz="993775">
              <a:defRPr>
                <a:solidFill>
                  <a:schemeClr val="tx1"/>
                </a:solidFill>
                <a:latin typeface="Arial" panose="020B0604020202020204" pitchFamily="34" charset="0"/>
              </a:defRPr>
            </a:lvl4pPr>
            <a:lvl5pPr marL="1989138" defTabSz="993775">
              <a:defRPr>
                <a:solidFill>
                  <a:schemeClr val="tx1"/>
                </a:solidFill>
                <a:latin typeface="Arial" panose="020B0604020202020204" pitchFamily="34" charset="0"/>
              </a:defRPr>
            </a:lvl5pPr>
            <a:lvl6pPr marL="2446338" defTabSz="993775" fontAlgn="base">
              <a:spcBef>
                <a:spcPct val="0"/>
              </a:spcBef>
              <a:spcAft>
                <a:spcPct val="0"/>
              </a:spcAft>
              <a:defRPr>
                <a:solidFill>
                  <a:schemeClr val="tx1"/>
                </a:solidFill>
                <a:latin typeface="Arial" panose="020B0604020202020204" pitchFamily="34" charset="0"/>
              </a:defRPr>
            </a:lvl6pPr>
            <a:lvl7pPr marL="2903538" defTabSz="993775" fontAlgn="base">
              <a:spcBef>
                <a:spcPct val="0"/>
              </a:spcBef>
              <a:spcAft>
                <a:spcPct val="0"/>
              </a:spcAft>
              <a:defRPr>
                <a:solidFill>
                  <a:schemeClr val="tx1"/>
                </a:solidFill>
                <a:latin typeface="Arial" panose="020B0604020202020204" pitchFamily="34" charset="0"/>
              </a:defRPr>
            </a:lvl7pPr>
            <a:lvl8pPr marL="3360738" defTabSz="993775" fontAlgn="base">
              <a:spcBef>
                <a:spcPct val="0"/>
              </a:spcBef>
              <a:spcAft>
                <a:spcPct val="0"/>
              </a:spcAft>
              <a:defRPr>
                <a:solidFill>
                  <a:schemeClr val="tx1"/>
                </a:solidFill>
                <a:latin typeface="Arial" panose="020B0604020202020204" pitchFamily="34" charset="0"/>
              </a:defRPr>
            </a:lvl8pPr>
            <a:lvl9pPr marL="3817938" defTabSz="993775" fontAlgn="base">
              <a:spcBef>
                <a:spcPct val="0"/>
              </a:spcBef>
              <a:spcAft>
                <a:spcPct val="0"/>
              </a:spcAft>
              <a:defRPr>
                <a:solidFill>
                  <a:schemeClr val="tx1"/>
                </a:solidFill>
                <a:latin typeface="Arial" panose="020B0604020202020204" pitchFamily="34" charset="0"/>
              </a:defRPr>
            </a:lvl9pPr>
          </a:lstStyle>
          <a:p>
            <a:endParaRPr lang="ru-RU" altLang="ru-RU" sz="3500">
              <a:solidFill>
                <a:schemeClr val="bg1"/>
              </a:solidFill>
            </a:endParaRPr>
          </a:p>
        </p:txBody>
      </p:sp>
      <p:sp>
        <p:nvSpPr>
          <p:cNvPr id="11" name="AutoShape 8"/>
          <p:cNvSpPr>
            <a:spLocks noChangeArrowheads="1"/>
          </p:cNvSpPr>
          <p:nvPr/>
        </p:nvSpPr>
        <p:spPr bwMode="auto">
          <a:xfrm>
            <a:off x="2509697" y="4630889"/>
            <a:ext cx="596900" cy="854075"/>
          </a:xfrm>
          <a:prstGeom prst="roundRect">
            <a:avLst>
              <a:gd name="adj" fmla="val 16667"/>
            </a:avLst>
          </a:prstGeom>
          <a:solidFill>
            <a:schemeClr val="accent1"/>
          </a:solidFill>
          <a:ln w="28575">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9441" tIns="49721" rIns="99441" bIns="49721" anchor="ctr"/>
          <a:lstStyle>
            <a:lvl1pPr defTabSz="993775">
              <a:defRPr>
                <a:solidFill>
                  <a:schemeClr val="tx1"/>
                </a:solidFill>
                <a:latin typeface="Arial" panose="020B0604020202020204" pitchFamily="34" charset="0"/>
              </a:defRPr>
            </a:lvl1pPr>
            <a:lvl2pPr marL="496888" defTabSz="993775">
              <a:defRPr>
                <a:solidFill>
                  <a:schemeClr val="tx1"/>
                </a:solidFill>
                <a:latin typeface="Arial" panose="020B0604020202020204" pitchFamily="34" charset="0"/>
              </a:defRPr>
            </a:lvl2pPr>
            <a:lvl3pPr marL="993775" defTabSz="993775">
              <a:defRPr>
                <a:solidFill>
                  <a:schemeClr val="tx1"/>
                </a:solidFill>
                <a:latin typeface="Arial" panose="020B0604020202020204" pitchFamily="34" charset="0"/>
              </a:defRPr>
            </a:lvl3pPr>
            <a:lvl4pPr marL="1492250" defTabSz="993775">
              <a:defRPr>
                <a:solidFill>
                  <a:schemeClr val="tx1"/>
                </a:solidFill>
                <a:latin typeface="Arial" panose="020B0604020202020204" pitchFamily="34" charset="0"/>
              </a:defRPr>
            </a:lvl4pPr>
            <a:lvl5pPr marL="1989138" defTabSz="993775">
              <a:defRPr>
                <a:solidFill>
                  <a:schemeClr val="tx1"/>
                </a:solidFill>
                <a:latin typeface="Arial" panose="020B0604020202020204" pitchFamily="34" charset="0"/>
              </a:defRPr>
            </a:lvl5pPr>
            <a:lvl6pPr marL="2446338" defTabSz="993775" fontAlgn="base">
              <a:spcBef>
                <a:spcPct val="0"/>
              </a:spcBef>
              <a:spcAft>
                <a:spcPct val="0"/>
              </a:spcAft>
              <a:defRPr>
                <a:solidFill>
                  <a:schemeClr val="tx1"/>
                </a:solidFill>
                <a:latin typeface="Arial" panose="020B0604020202020204" pitchFamily="34" charset="0"/>
              </a:defRPr>
            </a:lvl6pPr>
            <a:lvl7pPr marL="2903538" defTabSz="993775" fontAlgn="base">
              <a:spcBef>
                <a:spcPct val="0"/>
              </a:spcBef>
              <a:spcAft>
                <a:spcPct val="0"/>
              </a:spcAft>
              <a:defRPr>
                <a:solidFill>
                  <a:schemeClr val="tx1"/>
                </a:solidFill>
                <a:latin typeface="Arial" panose="020B0604020202020204" pitchFamily="34" charset="0"/>
              </a:defRPr>
            </a:lvl7pPr>
            <a:lvl8pPr marL="3360738" defTabSz="993775" fontAlgn="base">
              <a:spcBef>
                <a:spcPct val="0"/>
              </a:spcBef>
              <a:spcAft>
                <a:spcPct val="0"/>
              </a:spcAft>
              <a:defRPr>
                <a:solidFill>
                  <a:schemeClr val="tx1"/>
                </a:solidFill>
                <a:latin typeface="Arial" panose="020B0604020202020204" pitchFamily="34" charset="0"/>
              </a:defRPr>
            </a:lvl8pPr>
            <a:lvl9pPr marL="3817938" defTabSz="993775" fontAlgn="base">
              <a:spcBef>
                <a:spcPct val="0"/>
              </a:spcBef>
              <a:spcAft>
                <a:spcPct val="0"/>
              </a:spcAft>
              <a:defRPr>
                <a:solidFill>
                  <a:schemeClr val="tx1"/>
                </a:solidFill>
                <a:latin typeface="Arial" panose="020B0604020202020204" pitchFamily="34" charset="0"/>
              </a:defRPr>
            </a:lvl9pPr>
          </a:lstStyle>
          <a:p>
            <a:pPr algn="ctr"/>
            <a:r>
              <a:rPr lang="ru-RU" altLang="ru-RU" sz="3000" b="1" dirty="0">
                <a:solidFill>
                  <a:schemeClr val="bg1"/>
                </a:solidFill>
              </a:rPr>
              <a:t>3</a:t>
            </a:r>
            <a:r>
              <a:rPr lang="en-US" altLang="ru-RU" sz="3000" b="1" dirty="0">
                <a:solidFill>
                  <a:schemeClr val="bg1"/>
                </a:solidFill>
              </a:rPr>
              <a:t>.</a:t>
            </a:r>
            <a:r>
              <a:rPr lang="ru-RU" altLang="ru-RU" sz="3000" b="1" dirty="0">
                <a:solidFill>
                  <a:schemeClr val="bg1"/>
                </a:solidFill>
              </a:rPr>
              <a:t>2</a:t>
            </a:r>
          </a:p>
        </p:txBody>
      </p:sp>
      <p:sp>
        <p:nvSpPr>
          <p:cNvPr id="12" name="AutoShape 27"/>
          <p:cNvSpPr>
            <a:spLocks noChangeArrowheads="1"/>
          </p:cNvSpPr>
          <p:nvPr/>
        </p:nvSpPr>
        <p:spPr bwMode="auto">
          <a:xfrm>
            <a:off x="3682525" y="4571256"/>
            <a:ext cx="6680284" cy="851720"/>
          </a:xfrm>
          <a:prstGeom prst="roundRect">
            <a:avLst>
              <a:gd name="adj" fmla="val 16667"/>
            </a:avLst>
          </a:prstGeom>
          <a:noFill/>
          <a:ln>
            <a:noFill/>
          </a:ln>
          <a:effectLst/>
          <a:extLst>
            <a:ext uri="{909E8E84-426E-40DD-AFC4-6F175D3DCCD1}">
              <a14:hiddenFill xmlns:a14="http://schemas.microsoft.com/office/drawing/2010/main">
                <a:solidFill>
                  <a:srgbClr val="464646">
                    <a:alpha val="50000"/>
                  </a:srgbClr>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9441" tIns="49721" rIns="99441" bIns="49721" anchor="ctr"/>
          <a:lstStyle>
            <a:lvl1pPr marL="982663" defTabSz="993775">
              <a:defRPr>
                <a:solidFill>
                  <a:schemeClr val="tx1"/>
                </a:solidFill>
                <a:latin typeface="Arial" panose="020B0604020202020204" pitchFamily="34" charset="0"/>
              </a:defRPr>
            </a:lvl1pPr>
            <a:lvl2pPr marL="1177925" defTabSz="993775">
              <a:defRPr>
                <a:solidFill>
                  <a:schemeClr val="tx1"/>
                </a:solidFill>
                <a:latin typeface="Arial" panose="020B0604020202020204" pitchFamily="34" charset="0"/>
              </a:defRPr>
            </a:lvl2pPr>
            <a:lvl3pPr marL="1373188" defTabSz="993775">
              <a:defRPr>
                <a:solidFill>
                  <a:schemeClr val="tx1"/>
                </a:solidFill>
                <a:latin typeface="Arial" panose="020B0604020202020204" pitchFamily="34" charset="0"/>
              </a:defRPr>
            </a:lvl3pPr>
            <a:lvl4pPr marL="1566863" defTabSz="993775">
              <a:defRPr>
                <a:solidFill>
                  <a:schemeClr val="tx1"/>
                </a:solidFill>
                <a:latin typeface="Arial" panose="020B0604020202020204" pitchFamily="34" charset="0"/>
              </a:defRPr>
            </a:lvl4pPr>
            <a:lvl5pPr marL="1989138" defTabSz="993775">
              <a:defRPr>
                <a:solidFill>
                  <a:schemeClr val="tx1"/>
                </a:solidFill>
                <a:latin typeface="Arial" panose="020B0604020202020204" pitchFamily="34" charset="0"/>
              </a:defRPr>
            </a:lvl5pPr>
            <a:lvl6pPr marL="2446338" defTabSz="993775" fontAlgn="base">
              <a:spcBef>
                <a:spcPct val="0"/>
              </a:spcBef>
              <a:spcAft>
                <a:spcPct val="0"/>
              </a:spcAft>
              <a:defRPr>
                <a:solidFill>
                  <a:schemeClr val="tx1"/>
                </a:solidFill>
                <a:latin typeface="Arial" panose="020B0604020202020204" pitchFamily="34" charset="0"/>
              </a:defRPr>
            </a:lvl6pPr>
            <a:lvl7pPr marL="2903538" defTabSz="993775" fontAlgn="base">
              <a:spcBef>
                <a:spcPct val="0"/>
              </a:spcBef>
              <a:spcAft>
                <a:spcPct val="0"/>
              </a:spcAft>
              <a:defRPr>
                <a:solidFill>
                  <a:schemeClr val="tx1"/>
                </a:solidFill>
                <a:latin typeface="Arial" panose="020B0604020202020204" pitchFamily="34" charset="0"/>
              </a:defRPr>
            </a:lvl7pPr>
            <a:lvl8pPr marL="3360738" defTabSz="993775" fontAlgn="base">
              <a:spcBef>
                <a:spcPct val="0"/>
              </a:spcBef>
              <a:spcAft>
                <a:spcPct val="0"/>
              </a:spcAft>
              <a:defRPr>
                <a:solidFill>
                  <a:schemeClr val="tx1"/>
                </a:solidFill>
                <a:latin typeface="Arial" panose="020B0604020202020204" pitchFamily="34" charset="0"/>
              </a:defRPr>
            </a:lvl8pPr>
            <a:lvl9pPr marL="3817938" defTabSz="993775" fontAlgn="base">
              <a:spcBef>
                <a:spcPct val="0"/>
              </a:spcBef>
              <a:spcAft>
                <a:spcPct val="0"/>
              </a:spcAft>
              <a:defRPr>
                <a:solidFill>
                  <a:schemeClr val="tx1"/>
                </a:solidFill>
                <a:latin typeface="Arial" panose="020B0604020202020204" pitchFamily="34" charset="0"/>
              </a:defRPr>
            </a:lvl9pPr>
          </a:lstStyle>
          <a:p>
            <a:pPr marL="0" algn="ctr"/>
            <a:r>
              <a:rPr lang="ru-RU" sz="3600" dirty="0">
                <a:solidFill>
                  <a:schemeClr val="bg1"/>
                </a:solidFill>
              </a:rPr>
              <a:t>Парные и независимые выборки</a:t>
            </a:r>
          </a:p>
        </p:txBody>
      </p:sp>
      <p:sp>
        <p:nvSpPr>
          <p:cNvPr id="13" name="AutoShape 7"/>
          <p:cNvSpPr>
            <a:spLocks noChangeArrowheads="1"/>
          </p:cNvSpPr>
          <p:nvPr/>
        </p:nvSpPr>
        <p:spPr bwMode="auto">
          <a:xfrm>
            <a:off x="2155756" y="5694290"/>
            <a:ext cx="8824541" cy="965199"/>
          </a:xfrm>
          <a:prstGeom prst="roundRect">
            <a:avLst>
              <a:gd name="adj" fmla="val 16667"/>
            </a:avLst>
          </a:prstGeom>
          <a:solidFill>
            <a:srgbClr val="464646">
              <a:alpha val="50000"/>
            </a:srgb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9441" tIns="49721" rIns="99441" bIns="49721" anchor="ctr"/>
          <a:lstStyle>
            <a:lvl1pPr marL="982663" defTabSz="993775">
              <a:defRPr>
                <a:solidFill>
                  <a:schemeClr val="tx1"/>
                </a:solidFill>
                <a:latin typeface="Arial" panose="020B0604020202020204" pitchFamily="34" charset="0"/>
              </a:defRPr>
            </a:lvl1pPr>
            <a:lvl2pPr marL="1177925" defTabSz="993775">
              <a:defRPr>
                <a:solidFill>
                  <a:schemeClr val="tx1"/>
                </a:solidFill>
                <a:latin typeface="Arial" panose="020B0604020202020204" pitchFamily="34" charset="0"/>
              </a:defRPr>
            </a:lvl2pPr>
            <a:lvl3pPr marL="1373188" defTabSz="993775">
              <a:defRPr>
                <a:solidFill>
                  <a:schemeClr val="tx1"/>
                </a:solidFill>
                <a:latin typeface="Arial" panose="020B0604020202020204" pitchFamily="34" charset="0"/>
              </a:defRPr>
            </a:lvl3pPr>
            <a:lvl4pPr marL="1566863" defTabSz="993775">
              <a:defRPr>
                <a:solidFill>
                  <a:schemeClr val="tx1"/>
                </a:solidFill>
                <a:latin typeface="Arial" panose="020B0604020202020204" pitchFamily="34" charset="0"/>
              </a:defRPr>
            </a:lvl4pPr>
            <a:lvl5pPr marL="1989138" defTabSz="993775">
              <a:defRPr>
                <a:solidFill>
                  <a:schemeClr val="tx1"/>
                </a:solidFill>
                <a:latin typeface="Arial" panose="020B0604020202020204" pitchFamily="34" charset="0"/>
              </a:defRPr>
            </a:lvl5pPr>
            <a:lvl6pPr marL="2446338" defTabSz="993775" fontAlgn="base">
              <a:spcBef>
                <a:spcPct val="0"/>
              </a:spcBef>
              <a:spcAft>
                <a:spcPct val="0"/>
              </a:spcAft>
              <a:defRPr>
                <a:solidFill>
                  <a:schemeClr val="tx1"/>
                </a:solidFill>
                <a:latin typeface="Arial" panose="020B0604020202020204" pitchFamily="34" charset="0"/>
              </a:defRPr>
            </a:lvl6pPr>
            <a:lvl7pPr marL="2903538" defTabSz="993775" fontAlgn="base">
              <a:spcBef>
                <a:spcPct val="0"/>
              </a:spcBef>
              <a:spcAft>
                <a:spcPct val="0"/>
              </a:spcAft>
              <a:defRPr>
                <a:solidFill>
                  <a:schemeClr val="tx1"/>
                </a:solidFill>
                <a:latin typeface="Arial" panose="020B0604020202020204" pitchFamily="34" charset="0"/>
              </a:defRPr>
            </a:lvl7pPr>
            <a:lvl8pPr marL="3360738" defTabSz="993775" fontAlgn="base">
              <a:spcBef>
                <a:spcPct val="0"/>
              </a:spcBef>
              <a:spcAft>
                <a:spcPct val="0"/>
              </a:spcAft>
              <a:defRPr>
                <a:solidFill>
                  <a:schemeClr val="tx1"/>
                </a:solidFill>
                <a:latin typeface="Arial" panose="020B0604020202020204" pitchFamily="34" charset="0"/>
              </a:defRPr>
            </a:lvl8pPr>
            <a:lvl9pPr marL="3817938" defTabSz="993775" fontAlgn="base">
              <a:spcBef>
                <a:spcPct val="0"/>
              </a:spcBef>
              <a:spcAft>
                <a:spcPct val="0"/>
              </a:spcAft>
              <a:defRPr>
                <a:solidFill>
                  <a:schemeClr val="tx1"/>
                </a:solidFill>
                <a:latin typeface="Arial" panose="020B0604020202020204" pitchFamily="34" charset="0"/>
              </a:defRPr>
            </a:lvl9pPr>
          </a:lstStyle>
          <a:p>
            <a:endParaRPr lang="ru-RU" altLang="ru-RU" sz="3500">
              <a:solidFill>
                <a:schemeClr val="bg1"/>
              </a:solidFill>
            </a:endParaRPr>
          </a:p>
        </p:txBody>
      </p:sp>
      <p:sp>
        <p:nvSpPr>
          <p:cNvPr id="14" name="AutoShape 8"/>
          <p:cNvSpPr>
            <a:spLocks noChangeArrowheads="1"/>
          </p:cNvSpPr>
          <p:nvPr/>
        </p:nvSpPr>
        <p:spPr bwMode="auto">
          <a:xfrm>
            <a:off x="2511075" y="5753922"/>
            <a:ext cx="596900" cy="854075"/>
          </a:xfrm>
          <a:prstGeom prst="roundRect">
            <a:avLst>
              <a:gd name="adj" fmla="val 16667"/>
            </a:avLst>
          </a:prstGeom>
          <a:solidFill>
            <a:schemeClr val="accent1"/>
          </a:solidFill>
          <a:ln w="28575">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9441" tIns="49721" rIns="99441" bIns="49721" anchor="ctr"/>
          <a:lstStyle>
            <a:lvl1pPr defTabSz="993775">
              <a:defRPr>
                <a:solidFill>
                  <a:schemeClr val="tx1"/>
                </a:solidFill>
                <a:latin typeface="Arial" panose="020B0604020202020204" pitchFamily="34" charset="0"/>
              </a:defRPr>
            </a:lvl1pPr>
            <a:lvl2pPr marL="496888" defTabSz="993775">
              <a:defRPr>
                <a:solidFill>
                  <a:schemeClr val="tx1"/>
                </a:solidFill>
                <a:latin typeface="Arial" panose="020B0604020202020204" pitchFamily="34" charset="0"/>
              </a:defRPr>
            </a:lvl2pPr>
            <a:lvl3pPr marL="993775" defTabSz="993775">
              <a:defRPr>
                <a:solidFill>
                  <a:schemeClr val="tx1"/>
                </a:solidFill>
                <a:latin typeface="Arial" panose="020B0604020202020204" pitchFamily="34" charset="0"/>
              </a:defRPr>
            </a:lvl3pPr>
            <a:lvl4pPr marL="1492250" defTabSz="993775">
              <a:defRPr>
                <a:solidFill>
                  <a:schemeClr val="tx1"/>
                </a:solidFill>
                <a:latin typeface="Arial" panose="020B0604020202020204" pitchFamily="34" charset="0"/>
              </a:defRPr>
            </a:lvl4pPr>
            <a:lvl5pPr marL="1989138" defTabSz="993775">
              <a:defRPr>
                <a:solidFill>
                  <a:schemeClr val="tx1"/>
                </a:solidFill>
                <a:latin typeface="Arial" panose="020B0604020202020204" pitchFamily="34" charset="0"/>
              </a:defRPr>
            </a:lvl5pPr>
            <a:lvl6pPr marL="2446338" defTabSz="993775" fontAlgn="base">
              <a:spcBef>
                <a:spcPct val="0"/>
              </a:spcBef>
              <a:spcAft>
                <a:spcPct val="0"/>
              </a:spcAft>
              <a:defRPr>
                <a:solidFill>
                  <a:schemeClr val="tx1"/>
                </a:solidFill>
                <a:latin typeface="Arial" panose="020B0604020202020204" pitchFamily="34" charset="0"/>
              </a:defRPr>
            </a:lvl6pPr>
            <a:lvl7pPr marL="2903538" defTabSz="993775" fontAlgn="base">
              <a:spcBef>
                <a:spcPct val="0"/>
              </a:spcBef>
              <a:spcAft>
                <a:spcPct val="0"/>
              </a:spcAft>
              <a:defRPr>
                <a:solidFill>
                  <a:schemeClr val="tx1"/>
                </a:solidFill>
                <a:latin typeface="Arial" panose="020B0604020202020204" pitchFamily="34" charset="0"/>
              </a:defRPr>
            </a:lvl7pPr>
            <a:lvl8pPr marL="3360738" defTabSz="993775" fontAlgn="base">
              <a:spcBef>
                <a:spcPct val="0"/>
              </a:spcBef>
              <a:spcAft>
                <a:spcPct val="0"/>
              </a:spcAft>
              <a:defRPr>
                <a:solidFill>
                  <a:schemeClr val="tx1"/>
                </a:solidFill>
                <a:latin typeface="Arial" panose="020B0604020202020204" pitchFamily="34" charset="0"/>
              </a:defRPr>
            </a:lvl8pPr>
            <a:lvl9pPr marL="3817938" defTabSz="993775" fontAlgn="base">
              <a:spcBef>
                <a:spcPct val="0"/>
              </a:spcBef>
              <a:spcAft>
                <a:spcPct val="0"/>
              </a:spcAft>
              <a:defRPr>
                <a:solidFill>
                  <a:schemeClr val="tx1"/>
                </a:solidFill>
                <a:latin typeface="Arial" panose="020B0604020202020204" pitchFamily="34" charset="0"/>
              </a:defRPr>
            </a:lvl9pPr>
          </a:lstStyle>
          <a:p>
            <a:pPr algn="ctr"/>
            <a:r>
              <a:rPr lang="ru-RU" altLang="ru-RU" sz="3000" b="1" dirty="0">
                <a:solidFill>
                  <a:schemeClr val="bg1"/>
                </a:solidFill>
              </a:rPr>
              <a:t>3</a:t>
            </a:r>
            <a:r>
              <a:rPr lang="en-US" altLang="ru-RU" sz="3000" b="1" dirty="0">
                <a:solidFill>
                  <a:schemeClr val="bg1"/>
                </a:solidFill>
              </a:rPr>
              <a:t>.</a:t>
            </a:r>
            <a:r>
              <a:rPr lang="ru-RU" altLang="ru-RU" sz="3000" b="1" dirty="0">
                <a:solidFill>
                  <a:schemeClr val="bg1"/>
                </a:solidFill>
              </a:rPr>
              <a:t>3</a:t>
            </a:r>
          </a:p>
        </p:txBody>
      </p:sp>
      <p:sp>
        <p:nvSpPr>
          <p:cNvPr id="15" name="AutoShape 27"/>
          <p:cNvSpPr>
            <a:spLocks noChangeArrowheads="1"/>
          </p:cNvSpPr>
          <p:nvPr/>
        </p:nvSpPr>
        <p:spPr bwMode="auto">
          <a:xfrm>
            <a:off x="3683903" y="5694289"/>
            <a:ext cx="6680284" cy="851720"/>
          </a:xfrm>
          <a:prstGeom prst="roundRect">
            <a:avLst>
              <a:gd name="adj" fmla="val 16667"/>
            </a:avLst>
          </a:prstGeom>
          <a:noFill/>
          <a:ln>
            <a:noFill/>
          </a:ln>
          <a:effectLst/>
          <a:extLst>
            <a:ext uri="{909E8E84-426E-40DD-AFC4-6F175D3DCCD1}">
              <a14:hiddenFill xmlns:a14="http://schemas.microsoft.com/office/drawing/2010/main">
                <a:solidFill>
                  <a:srgbClr val="464646">
                    <a:alpha val="50000"/>
                  </a:srgbClr>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9441" tIns="49721" rIns="99441" bIns="49721" anchor="ctr"/>
          <a:lstStyle>
            <a:lvl1pPr marL="982663" defTabSz="993775">
              <a:defRPr>
                <a:solidFill>
                  <a:schemeClr val="tx1"/>
                </a:solidFill>
                <a:latin typeface="Arial" panose="020B0604020202020204" pitchFamily="34" charset="0"/>
              </a:defRPr>
            </a:lvl1pPr>
            <a:lvl2pPr marL="1177925" defTabSz="993775">
              <a:defRPr>
                <a:solidFill>
                  <a:schemeClr val="tx1"/>
                </a:solidFill>
                <a:latin typeface="Arial" panose="020B0604020202020204" pitchFamily="34" charset="0"/>
              </a:defRPr>
            </a:lvl2pPr>
            <a:lvl3pPr marL="1373188" defTabSz="993775">
              <a:defRPr>
                <a:solidFill>
                  <a:schemeClr val="tx1"/>
                </a:solidFill>
                <a:latin typeface="Arial" panose="020B0604020202020204" pitchFamily="34" charset="0"/>
              </a:defRPr>
            </a:lvl3pPr>
            <a:lvl4pPr marL="1566863" defTabSz="993775">
              <a:defRPr>
                <a:solidFill>
                  <a:schemeClr val="tx1"/>
                </a:solidFill>
                <a:latin typeface="Arial" panose="020B0604020202020204" pitchFamily="34" charset="0"/>
              </a:defRPr>
            </a:lvl4pPr>
            <a:lvl5pPr marL="1989138" defTabSz="993775">
              <a:defRPr>
                <a:solidFill>
                  <a:schemeClr val="tx1"/>
                </a:solidFill>
                <a:latin typeface="Arial" panose="020B0604020202020204" pitchFamily="34" charset="0"/>
              </a:defRPr>
            </a:lvl5pPr>
            <a:lvl6pPr marL="2446338" defTabSz="993775" fontAlgn="base">
              <a:spcBef>
                <a:spcPct val="0"/>
              </a:spcBef>
              <a:spcAft>
                <a:spcPct val="0"/>
              </a:spcAft>
              <a:defRPr>
                <a:solidFill>
                  <a:schemeClr val="tx1"/>
                </a:solidFill>
                <a:latin typeface="Arial" panose="020B0604020202020204" pitchFamily="34" charset="0"/>
              </a:defRPr>
            </a:lvl6pPr>
            <a:lvl7pPr marL="2903538" defTabSz="993775" fontAlgn="base">
              <a:spcBef>
                <a:spcPct val="0"/>
              </a:spcBef>
              <a:spcAft>
                <a:spcPct val="0"/>
              </a:spcAft>
              <a:defRPr>
                <a:solidFill>
                  <a:schemeClr val="tx1"/>
                </a:solidFill>
                <a:latin typeface="Arial" panose="020B0604020202020204" pitchFamily="34" charset="0"/>
              </a:defRPr>
            </a:lvl7pPr>
            <a:lvl8pPr marL="3360738" defTabSz="993775" fontAlgn="base">
              <a:spcBef>
                <a:spcPct val="0"/>
              </a:spcBef>
              <a:spcAft>
                <a:spcPct val="0"/>
              </a:spcAft>
              <a:defRPr>
                <a:solidFill>
                  <a:schemeClr val="tx1"/>
                </a:solidFill>
                <a:latin typeface="Arial" panose="020B0604020202020204" pitchFamily="34" charset="0"/>
              </a:defRPr>
            </a:lvl8pPr>
            <a:lvl9pPr marL="3817938" defTabSz="993775" fontAlgn="base">
              <a:spcBef>
                <a:spcPct val="0"/>
              </a:spcBef>
              <a:spcAft>
                <a:spcPct val="0"/>
              </a:spcAft>
              <a:defRPr>
                <a:solidFill>
                  <a:schemeClr val="tx1"/>
                </a:solidFill>
                <a:latin typeface="Arial" panose="020B0604020202020204" pitchFamily="34" charset="0"/>
              </a:defRPr>
            </a:lvl9pPr>
          </a:lstStyle>
          <a:p>
            <a:pPr marL="0" algn="ctr"/>
            <a:r>
              <a:rPr lang="ru-RU" sz="3600" dirty="0">
                <a:solidFill>
                  <a:schemeClr val="bg1"/>
                </a:solidFill>
              </a:rPr>
              <a:t>Гипотеза о равенстве дисперсий</a:t>
            </a:r>
          </a:p>
        </p:txBody>
      </p:sp>
      <p:sp>
        <p:nvSpPr>
          <p:cNvPr id="2" name="Номер слайда 1"/>
          <p:cNvSpPr>
            <a:spLocks noGrp="1"/>
          </p:cNvSpPr>
          <p:nvPr>
            <p:ph type="sldNum" sz="quarter" idx="12"/>
          </p:nvPr>
        </p:nvSpPr>
        <p:spPr/>
        <p:txBody>
          <a:bodyPr/>
          <a:lstStyle/>
          <a:p>
            <a:fld id="{952B6C0E-C4B9-4094-8E59-5B7DF00D5415}" type="slidenum">
              <a:rPr lang="ru-RU" smtClean="0"/>
              <a:t>3</a:t>
            </a:fld>
            <a:endParaRPr lang="ru-RU"/>
          </a:p>
        </p:txBody>
      </p:sp>
      <p:sp>
        <p:nvSpPr>
          <p:cNvPr id="16" name="Rectangle 2">
            <a:extLst>
              <a:ext uri="{FF2B5EF4-FFF2-40B4-BE49-F238E27FC236}">
                <a16:creationId xmlns:a16="http://schemas.microsoft.com/office/drawing/2014/main" id="{B3D770F2-A555-4099-B236-0012A5B78F56}"/>
              </a:ext>
            </a:extLst>
          </p:cNvPr>
          <p:cNvSpPr>
            <a:spLocks noGrp="1" noChangeArrowheads="1"/>
          </p:cNvSpPr>
          <p:nvPr>
            <p:ph type="title"/>
          </p:nvPr>
        </p:nvSpPr>
        <p:spPr bwMode="auto">
          <a:xfrm>
            <a:off x="2012951" y="466725"/>
            <a:ext cx="8539162" cy="1187450"/>
          </a:xfrm>
          <a:noFill/>
          <a:ln/>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9441" tIns="49721" rIns="99441" bIns="49721" numCol="1" rtlCol="0" anchor="t" anchorCtr="0" compatLnSpc="1">
            <a:prstTxWarp prst="textNoShape">
              <a:avLst/>
            </a:prstTxWarp>
            <a:normAutofit/>
          </a:bodyPr>
          <a:lstStyle/>
          <a:p>
            <a:r>
              <a:rPr lang="ru-RU" altLang="ru-RU" dirty="0"/>
              <a:t>Содержание</a:t>
            </a:r>
          </a:p>
        </p:txBody>
      </p:sp>
    </p:spTree>
    <p:extLst>
      <p:ext uri="{BB962C8B-B14F-4D97-AF65-F5344CB8AC3E}">
        <p14:creationId xmlns:p14="http://schemas.microsoft.com/office/powerpoint/2010/main" val="7001651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999" name="AutoShape 7"/>
          <p:cNvSpPr>
            <a:spLocks noChangeArrowheads="1"/>
          </p:cNvSpPr>
          <p:nvPr/>
        </p:nvSpPr>
        <p:spPr bwMode="auto">
          <a:xfrm>
            <a:off x="1868488" y="3140076"/>
            <a:ext cx="9329738" cy="1287463"/>
          </a:xfrm>
          <a:prstGeom prst="roundRect">
            <a:avLst>
              <a:gd name="adj" fmla="val 16667"/>
            </a:avLst>
          </a:prstGeom>
          <a:solidFill>
            <a:srgbClr val="464646">
              <a:alpha val="50000"/>
            </a:srgb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9441" tIns="49721" rIns="99441" bIns="49721" anchor="ctr"/>
          <a:lstStyle>
            <a:lvl1pPr marL="982663" defTabSz="993775">
              <a:defRPr>
                <a:solidFill>
                  <a:schemeClr val="tx1"/>
                </a:solidFill>
                <a:latin typeface="Arial" panose="020B0604020202020204" pitchFamily="34" charset="0"/>
              </a:defRPr>
            </a:lvl1pPr>
            <a:lvl2pPr marL="1177925" defTabSz="993775">
              <a:defRPr>
                <a:solidFill>
                  <a:schemeClr val="tx1"/>
                </a:solidFill>
                <a:latin typeface="Arial" panose="020B0604020202020204" pitchFamily="34" charset="0"/>
              </a:defRPr>
            </a:lvl2pPr>
            <a:lvl3pPr marL="1373188" defTabSz="993775">
              <a:defRPr>
                <a:solidFill>
                  <a:schemeClr val="tx1"/>
                </a:solidFill>
                <a:latin typeface="Arial" panose="020B0604020202020204" pitchFamily="34" charset="0"/>
              </a:defRPr>
            </a:lvl3pPr>
            <a:lvl4pPr marL="1566863" defTabSz="993775">
              <a:defRPr>
                <a:solidFill>
                  <a:schemeClr val="tx1"/>
                </a:solidFill>
                <a:latin typeface="Arial" panose="020B0604020202020204" pitchFamily="34" charset="0"/>
              </a:defRPr>
            </a:lvl4pPr>
            <a:lvl5pPr marL="1989138" defTabSz="993775">
              <a:defRPr>
                <a:solidFill>
                  <a:schemeClr val="tx1"/>
                </a:solidFill>
                <a:latin typeface="Arial" panose="020B0604020202020204" pitchFamily="34" charset="0"/>
              </a:defRPr>
            </a:lvl5pPr>
            <a:lvl6pPr marL="2446338" defTabSz="993775" fontAlgn="base">
              <a:spcBef>
                <a:spcPct val="0"/>
              </a:spcBef>
              <a:spcAft>
                <a:spcPct val="0"/>
              </a:spcAft>
              <a:defRPr>
                <a:solidFill>
                  <a:schemeClr val="tx1"/>
                </a:solidFill>
                <a:latin typeface="Arial" panose="020B0604020202020204" pitchFamily="34" charset="0"/>
              </a:defRPr>
            </a:lvl6pPr>
            <a:lvl7pPr marL="2903538" defTabSz="993775" fontAlgn="base">
              <a:spcBef>
                <a:spcPct val="0"/>
              </a:spcBef>
              <a:spcAft>
                <a:spcPct val="0"/>
              </a:spcAft>
              <a:defRPr>
                <a:solidFill>
                  <a:schemeClr val="tx1"/>
                </a:solidFill>
                <a:latin typeface="Arial" panose="020B0604020202020204" pitchFamily="34" charset="0"/>
              </a:defRPr>
            </a:lvl7pPr>
            <a:lvl8pPr marL="3360738" defTabSz="993775" fontAlgn="base">
              <a:spcBef>
                <a:spcPct val="0"/>
              </a:spcBef>
              <a:spcAft>
                <a:spcPct val="0"/>
              </a:spcAft>
              <a:defRPr>
                <a:solidFill>
                  <a:schemeClr val="tx1"/>
                </a:solidFill>
                <a:latin typeface="Arial" panose="020B0604020202020204" pitchFamily="34" charset="0"/>
              </a:defRPr>
            </a:lvl8pPr>
            <a:lvl9pPr marL="3817938" defTabSz="993775" fontAlgn="base">
              <a:spcBef>
                <a:spcPct val="0"/>
              </a:spcBef>
              <a:spcAft>
                <a:spcPct val="0"/>
              </a:spcAft>
              <a:defRPr>
                <a:solidFill>
                  <a:schemeClr val="tx1"/>
                </a:solidFill>
                <a:latin typeface="Arial" panose="020B0604020202020204" pitchFamily="34" charset="0"/>
              </a:defRPr>
            </a:lvl9pPr>
          </a:lstStyle>
          <a:p>
            <a:endParaRPr lang="ru-RU" altLang="ru-RU" sz="3500">
              <a:solidFill>
                <a:schemeClr val="bg1"/>
              </a:solidFill>
            </a:endParaRPr>
          </a:p>
        </p:txBody>
      </p:sp>
      <p:sp>
        <p:nvSpPr>
          <p:cNvPr id="213000" name="AutoShape 8"/>
          <p:cNvSpPr>
            <a:spLocks noChangeArrowheads="1"/>
          </p:cNvSpPr>
          <p:nvPr/>
        </p:nvSpPr>
        <p:spPr bwMode="auto">
          <a:xfrm>
            <a:off x="2225676" y="3362326"/>
            <a:ext cx="596900" cy="854075"/>
          </a:xfrm>
          <a:prstGeom prst="roundRect">
            <a:avLst>
              <a:gd name="adj" fmla="val 16667"/>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9441" tIns="49721" rIns="99441" bIns="49721" anchor="ctr"/>
          <a:lstStyle>
            <a:lvl1pPr defTabSz="993775">
              <a:defRPr>
                <a:solidFill>
                  <a:schemeClr val="tx1"/>
                </a:solidFill>
                <a:latin typeface="Arial" panose="020B0604020202020204" pitchFamily="34" charset="0"/>
              </a:defRPr>
            </a:lvl1pPr>
            <a:lvl2pPr marL="496888" defTabSz="993775">
              <a:defRPr>
                <a:solidFill>
                  <a:schemeClr val="tx1"/>
                </a:solidFill>
                <a:latin typeface="Arial" panose="020B0604020202020204" pitchFamily="34" charset="0"/>
              </a:defRPr>
            </a:lvl2pPr>
            <a:lvl3pPr marL="993775" defTabSz="993775">
              <a:defRPr>
                <a:solidFill>
                  <a:schemeClr val="tx1"/>
                </a:solidFill>
                <a:latin typeface="Arial" panose="020B0604020202020204" pitchFamily="34" charset="0"/>
              </a:defRPr>
            </a:lvl3pPr>
            <a:lvl4pPr marL="1492250" defTabSz="993775">
              <a:defRPr>
                <a:solidFill>
                  <a:schemeClr val="tx1"/>
                </a:solidFill>
                <a:latin typeface="Arial" panose="020B0604020202020204" pitchFamily="34" charset="0"/>
              </a:defRPr>
            </a:lvl4pPr>
            <a:lvl5pPr marL="1989138" defTabSz="993775">
              <a:defRPr>
                <a:solidFill>
                  <a:schemeClr val="tx1"/>
                </a:solidFill>
                <a:latin typeface="Arial" panose="020B0604020202020204" pitchFamily="34" charset="0"/>
              </a:defRPr>
            </a:lvl5pPr>
            <a:lvl6pPr marL="2446338" defTabSz="993775" fontAlgn="base">
              <a:spcBef>
                <a:spcPct val="0"/>
              </a:spcBef>
              <a:spcAft>
                <a:spcPct val="0"/>
              </a:spcAft>
              <a:defRPr>
                <a:solidFill>
                  <a:schemeClr val="tx1"/>
                </a:solidFill>
                <a:latin typeface="Arial" panose="020B0604020202020204" pitchFamily="34" charset="0"/>
              </a:defRPr>
            </a:lvl6pPr>
            <a:lvl7pPr marL="2903538" defTabSz="993775" fontAlgn="base">
              <a:spcBef>
                <a:spcPct val="0"/>
              </a:spcBef>
              <a:spcAft>
                <a:spcPct val="0"/>
              </a:spcAft>
              <a:defRPr>
                <a:solidFill>
                  <a:schemeClr val="tx1"/>
                </a:solidFill>
                <a:latin typeface="Arial" panose="020B0604020202020204" pitchFamily="34" charset="0"/>
              </a:defRPr>
            </a:lvl7pPr>
            <a:lvl8pPr marL="3360738" defTabSz="993775" fontAlgn="base">
              <a:spcBef>
                <a:spcPct val="0"/>
              </a:spcBef>
              <a:spcAft>
                <a:spcPct val="0"/>
              </a:spcAft>
              <a:defRPr>
                <a:solidFill>
                  <a:schemeClr val="tx1"/>
                </a:solidFill>
                <a:latin typeface="Arial" panose="020B0604020202020204" pitchFamily="34" charset="0"/>
              </a:defRPr>
            </a:lvl8pPr>
            <a:lvl9pPr marL="3817938" defTabSz="993775" fontAlgn="base">
              <a:spcBef>
                <a:spcPct val="0"/>
              </a:spcBef>
              <a:spcAft>
                <a:spcPct val="0"/>
              </a:spcAft>
              <a:defRPr>
                <a:solidFill>
                  <a:schemeClr val="tx1"/>
                </a:solidFill>
                <a:latin typeface="Arial" panose="020B0604020202020204" pitchFamily="34" charset="0"/>
              </a:defRPr>
            </a:lvl9pPr>
          </a:lstStyle>
          <a:p>
            <a:pPr algn="ctr"/>
            <a:r>
              <a:rPr lang="ru-RU" altLang="ru-RU" sz="3000" b="1" dirty="0">
                <a:solidFill>
                  <a:schemeClr val="bg1"/>
                </a:solidFill>
              </a:rPr>
              <a:t>1</a:t>
            </a:r>
          </a:p>
        </p:txBody>
      </p:sp>
      <p:sp>
        <p:nvSpPr>
          <p:cNvPr id="5" name="AutoShape 27"/>
          <p:cNvSpPr>
            <a:spLocks noChangeArrowheads="1"/>
          </p:cNvSpPr>
          <p:nvPr/>
        </p:nvSpPr>
        <p:spPr bwMode="auto">
          <a:xfrm>
            <a:off x="3652705" y="3472836"/>
            <a:ext cx="5761304" cy="621941"/>
          </a:xfrm>
          <a:prstGeom prst="roundRect">
            <a:avLst>
              <a:gd name="adj" fmla="val 16667"/>
            </a:avLst>
          </a:prstGeom>
          <a:noFill/>
          <a:ln>
            <a:noFill/>
          </a:ln>
          <a:effectLst/>
          <a:extLst>
            <a:ext uri="{909E8E84-426E-40DD-AFC4-6F175D3DCCD1}">
              <a14:hiddenFill xmlns:a14="http://schemas.microsoft.com/office/drawing/2010/main">
                <a:solidFill>
                  <a:srgbClr val="464646">
                    <a:alpha val="50000"/>
                  </a:srgbClr>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9441" tIns="49721" rIns="99441" bIns="49721" anchor="ctr"/>
          <a:lstStyle>
            <a:lvl1pPr marL="982663" defTabSz="993775">
              <a:defRPr>
                <a:solidFill>
                  <a:schemeClr val="tx1"/>
                </a:solidFill>
                <a:latin typeface="Arial" panose="020B0604020202020204" pitchFamily="34" charset="0"/>
              </a:defRPr>
            </a:lvl1pPr>
            <a:lvl2pPr marL="1177925" defTabSz="993775">
              <a:defRPr>
                <a:solidFill>
                  <a:schemeClr val="tx1"/>
                </a:solidFill>
                <a:latin typeface="Arial" panose="020B0604020202020204" pitchFamily="34" charset="0"/>
              </a:defRPr>
            </a:lvl2pPr>
            <a:lvl3pPr marL="1373188" defTabSz="993775">
              <a:defRPr>
                <a:solidFill>
                  <a:schemeClr val="tx1"/>
                </a:solidFill>
                <a:latin typeface="Arial" panose="020B0604020202020204" pitchFamily="34" charset="0"/>
              </a:defRPr>
            </a:lvl3pPr>
            <a:lvl4pPr marL="1566863" defTabSz="993775">
              <a:defRPr>
                <a:solidFill>
                  <a:schemeClr val="tx1"/>
                </a:solidFill>
                <a:latin typeface="Arial" panose="020B0604020202020204" pitchFamily="34" charset="0"/>
              </a:defRPr>
            </a:lvl4pPr>
            <a:lvl5pPr marL="1989138" defTabSz="993775">
              <a:defRPr>
                <a:solidFill>
                  <a:schemeClr val="tx1"/>
                </a:solidFill>
                <a:latin typeface="Arial" panose="020B0604020202020204" pitchFamily="34" charset="0"/>
              </a:defRPr>
            </a:lvl5pPr>
            <a:lvl6pPr marL="2446338" defTabSz="993775" fontAlgn="base">
              <a:spcBef>
                <a:spcPct val="0"/>
              </a:spcBef>
              <a:spcAft>
                <a:spcPct val="0"/>
              </a:spcAft>
              <a:defRPr>
                <a:solidFill>
                  <a:schemeClr val="tx1"/>
                </a:solidFill>
                <a:latin typeface="Arial" panose="020B0604020202020204" pitchFamily="34" charset="0"/>
              </a:defRPr>
            </a:lvl6pPr>
            <a:lvl7pPr marL="2903538" defTabSz="993775" fontAlgn="base">
              <a:spcBef>
                <a:spcPct val="0"/>
              </a:spcBef>
              <a:spcAft>
                <a:spcPct val="0"/>
              </a:spcAft>
              <a:defRPr>
                <a:solidFill>
                  <a:schemeClr val="tx1"/>
                </a:solidFill>
                <a:latin typeface="Arial" panose="020B0604020202020204" pitchFamily="34" charset="0"/>
              </a:defRPr>
            </a:lvl7pPr>
            <a:lvl8pPr marL="3360738" defTabSz="993775" fontAlgn="base">
              <a:spcBef>
                <a:spcPct val="0"/>
              </a:spcBef>
              <a:spcAft>
                <a:spcPct val="0"/>
              </a:spcAft>
              <a:defRPr>
                <a:solidFill>
                  <a:schemeClr val="tx1"/>
                </a:solidFill>
                <a:latin typeface="Arial" panose="020B0604020202020204" pitchFamily="34" charset="0"/>
              </a:defRPr>
            </a:lvl8pPr>
            <a:lvl9pPr marL="3817938" defTabSz="993775" fontAlgn="base">
              <a:spcBef>
                <a:spcPct val="0"/>
              </a:spcBef>
              <a:spcAft>
                <a:spcPct val="0"/>
              </a:spcAft>
              <a:defRPr>
                <a:solidFill>
                  <a:schemeClr val="tx1"/>
                </a:solidFill>
                <a:latin typeface="Arial" panose="020B0604020202020204" pitchFamily="34" charset="0"/>
              </a:defRPr>
            </a:lvl9pPr>
          </a:lstStyle>
          <a:p>
            <a:pPr marL="0" algn="ctr"/>
            <a:r>
              <a:rPr lang="ru-RU" sz="3600" dirty="0">
                <a:solidFill>
                  <a:schemeClr val="bg1"/>
                </a:solidFill>
              </a:rPr>
              <a:t>Виды наиболее важных </a:t>
            </a:r>
          </a:p>
          <a:p>
            <a:pPr marL="0" algn="ctr"/>
            <a:r>
              <a:rPr lang="ru-RU" sz="3600" dirty="0">
                <a:solidFill>
                  <a:schemeClr val="bg1"/>
                </a:solidFill>
              </a:rPr>
              <a:t>статистических гипотез</a:t>
            </a:r>
          </a:p>
        </p:txBody>
      </p:sp>
      <p:sp>
        <p:nvSpPr>
          <p:cNvPr id="2" name="Номер слайда 1"/>
          <p:cNvSpPr>
            <a:spLocks noGrp="1"/>
          </p:cNvSpPr>
          <p:nvPr>
            <p:ph type="sldNum" sz="quarter" idx="12"/>
          </p:nvPr>
        </p:nvSpPr>
        <p:spPr/>
        <p:txBody>
          <a:bodyPr/>
          <a:lstStyle/>
          <a:p>
            <a:fld id="{952B6C0E-C4B9-4094-8E59-5B7DF00D5415}" type="slidenum">
              <a:rPr lang="ru-RU" smtClean="0"/>
              <a:t>4</a:t>
            </a:fld>
            <a:endParaRPr lang="ru-RU"/>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4"/>
          <p:cNvSpPr>
            <a:spLocks noChangeArrowheads="1"/>
          </p:cNvSpPr>
          <p:nvPr/>
        </p:nvSpPr>
        <p:spPr bwMode="auto">
          <a:xfrm>
            <a:off x="945009" y="538807"/>
            <a:ext cx="11221764" cy="6219573"/>
          </a:xfrm>
          <a:prstGeom prst="roundRect">
            <a:avLst>
              <a:gd name="adj" fmla="val 16667"/>
            </a:avLst>
          </a:prstGeom>
          <a:solidFill>
            <a:schemeClr val="bg1">
              <a:alpha val="50195"/>
            </a:scheme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5" name="AutoShape 5"/>
          <p:cNvSpPr>
            <a:spLocks noChangeArrowheads="1"/>
          </p:cNvSpPr>
          <p:nvPr/>
        </p:nvSpPr>
        <p:spPr bwMode="auto">
          <a:xfrm>
            <a:off x="2373685" y="322264"/>
            <a:ext cx="8064128" cy="720601"/>
          </a:xfrm>
          <a:prstGeom prst="roundRect">
            <a:avLst>
              <a:gd name="adj" fmla="val 37469"/>
            </a:avLst>
          </a:prstGeom>
          <a:solidFill>
            <a:srgbClr val="FFFFFF">
              <a:alpha val="78822"/>
            </a:srgb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2" name="Заголовок 1"/>
          <p:cNvSpPr txBox="1">
            <a:spLocks noGrp="1"/>
          </p:cNvSpPr>
          <p:nvPr>
            <p:ph type="title" idx="4294967295"/>
          </p:nvPr>
        </p:nvSpPr>
        <p:spPr>
          <a:xfrm>
            <a:off x="2426323" y="367908"/>
            <a:ext cx="8550275" cy="1184275"/>
          </a:xfrm>
          <a:prstGeom prst="rect">
            <a:avLst/>
          </a:prstGeom>
        </p:spPr>
        <p:txBody>
          <a:bodyPr wrap="square">
            <a:noAutofit/>
          </a:bodyPr>
          <a:lstStyle/>
          <a:p>
            <a:pPr lvl="0" algn="ctr"/>
            <a:r>
              <a:rPr lang="ru-RU" sz="3949" dirty="0"/>
              <a:t>Определение</a:t>
            </a:r>
          </a:p>
        </p:txBody>
      </p:sp>
      <p:sp>
        <p:nvSpPr>
          <p:cNvPr id="3" name="Текст 2"/>
          <p:cNvSpPr txBox="1">
            <a:spLocks noGrp="1"/>
          </p:cNvSpPr>
          <p:nvPr>
            <p:ph type="body" idx="4294967295"/>
          </p:nvPr>
        </p:nvSpPr>
        <p:spPr>
          <a:xfrm>
            <a:off x="749191" y="4381715"/>
            <a:ext cx="10974051" cy="1780245"/>
          </a:xfrm>
          <a:prstGeom prst="rect">
            <a:avLst/>
          </a:prstGeom>
        </p:spPr>
        <p:txBody>
          <a:bodyPr wrap="square">
            <a:normAutofit/>
          </a:bodyPr>
          <a:lstStyle/>
          <a:p>
            <a:pPr marL="0" indent="0">
              <a:spcBef>
                <a:spcPts val="621"/>
              </a:spcBef>
              <a:buClr>
                <a:srgbClr val="CC9900"/>
              </a:buClr>
              <a:buSzPct val="65000"/>
              <a:buFont typeface="Wingdings" pitchFamily="2"/>
              <a:buChar char=""/>
            </a:pPr>
            <a:r>
              <a:rPr lang="en-US" sz="2400" dirty="0"/>
              <a:t> </a:t>
            </a:r>
            <a:r>
              <a:rPr lang="ru-RU" sz="2400" dirty="0"/>
              <a:t>Статистическая гипотеза – это может быть, например, утверждение о свойствах распределения вероятностей случайной величины </a:t>
            </a:r>
            <a:r>
              <a:rPr lang="ru-RU" sz="1800" i="1" dirty="0"/>
              <a:t>(или случайного вектора).</a:t>
            </a:r>
          </a:p>
          <a:p>
            <a:pPr marL="434975" lvl="1" indent="0">
              <a:buClr>
                <a:srgbClr val="CC9900"/>
              </a:buClr>
              <a:buSzPct val="65000"/>
              <a:buFont typeface="Wingdings" pitchFamily="2"/>
              <a:buChar char=""/>
            </a:pPr>
            <a:r>
              <a:rPr lang="en-US" sz="2000" dirty="0"/>
              <a:t> </a:t>
            </a:r>
            <a:r>
              <a:rPr lang="ru-RU" sz="2000" dirty="0"/>
              <a:t>Гипотеза нуждается в проверке.</a:t>
            </a:r>
          </a:p>
          <a:p>
            <a:pPr marL="434975" lvl="1" indent="0">
              <a:buClr>
                <a:srgbClr val="CC9900"/>
              </a:buClr>
              <a:buSzPct val="65000"/>
              <a:buFont typeface="Wingdings" pitchFamily="2"/>
              <a:buChar char=""/>
            </a:pPr>
            <a:r>
              <a:rPr lang="en-US" sz="2000" dirty="0"/>
              <a:t> </a:t>
            </a:r>
            <a:r>
              <a:rPr lang="ru-RU" sz="2000" dirty="0"/>
              <a:t>Проверка основывается на результатах эксперимента, на наблюдениях.</a:t>
            </a:r>
          </a:p>
          <a:p>
            <a:pPr marL="434975" lvl="1" indent="0">
              <a:buClr>
                <a:srgbClr val="CC9900"/>
              </a:buClr>
              <a:buSzPct val="65000"/>
              <a:buFont typeface="Wingdings" pitchFamily="2"/>
              <a:buChar char=""/>
            </a:pPr>
            <a:endParaRPr lang="ru-RU" sz="2000" dirty="0"/>
          </a:p>
        </p:txBody>
      </p:sp>
      <p:sp>
        <p:nvSpPr>
          <p:cNvPr id="7" name="Номер слайда 6"/>
          <p:cNvSpPr>
            <a:spLocks noGrp="1"/>
          </p:cNvSpPr>
          <p:nvPr>
            <p:ph type="sldNum" sz="quarter" idx="12"/>
          </p:nvPr>
        </p:nvSpPr>
        <p:spPr>
          <a:xfrm>
            <a:off x="11723241" y="6549870"/>
            <a:ext cx="639350" cy="379409"/>
          </a:xfrm>
        </p:spPr>
        <p:txBody>
          <a:bodyPr/>
          <a:lstStyle/>
          <a:p>
            <a:fld id="{952B6C0E-C4B9-4094-8E59-5B7DF00D5415}" type="slidenum">
              <a:rPr lang="ru-RU" smtClean="0">
                <a:solidFill>
                  <a:schemeClr val="tx1"/>
                </a:solidFill>
              </a:rPr>
              <a:t>5</a:t>
            </a:fld>
            <a:endParaRPr lang="ru-RU" dirty="0">
              <a:solidFill>
                <a:schemeClr val="tx1"/>
              </a:solidFill>
            </a:endParaRPr>
          </a:p>
        </p:txBody>
      </p:sp>
      <p:sp>
        <p:nvSpPr>
          <p:cNvPr id="8" name="Прямоугольник 7">
            <a:extLst>
              <a:ext uri="{FF2B5EF4-FFF2-40B4-BE49-F238E27FC236}">
                <a16:creationId xmlns:a16="http://schemas.microsoft.com/office/drawing/2014/main" id="{1B1D6E7B-2E05-44F3-9B0E-34BEA44D93B5}"/>
              </a:ext>
            </a:extLst>
          </p:cNvPr>
          <p:cNvSpPr/>
          <p:nvPr/>
        </p:nvSpPr>
        <p:spPr>
          <a:xfrm>
            <a:off x="861517" y="1483506"/>
            <a:ext cx="11063661" cy="252213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ru-RU" sz="2400" b="1" i="1" dirty="0">
                <a:solidFill>
                  <a:schemeClr val="tx1"/>
                </a:solidFill>
              </a:rPr>
              <a:t>Статистическая гипотеза</a:t>
            </a:r>
            <a:r>
              <a:rPr lang="ru-RU" sz="2400" dirty="0">
                <a:solidFill>
                  <a:schemeClr val="tx1"/>
                </a:solidFill>
              </a:rPr>
              <a:t> - это некоторое предположение о свойствах генеральной совокупности, которое необходимо проверить. </a:t>
            </a:r>
          </a:p>
          <a:p>
            <a:endParaRPr lang="ru-RU" sz="2400" dirty="0">
              <a:solidFill>
                <a:schemeClr val="tx1"/>
              </a:solidFill>
            </a:endParaRPr>
          </a:p>
          <a:p>
            <a:r>
              <a:rPr lang="ru-RU" sz="2400" dirty="0">
                <a:solidFill>
                  <a:schemeClr val="tx1"/>
                </a:solidFill>
              </a:rPr>
              <a:t>Статистические гипотезы выдвигаются, когда необходимо проверить, является ли наблюдаемое явление элементом случайности или результатом воздействия некоторых величин.</a:t>
            </a:r>
          </a:p>
          <a:p>
            <a:endParaRPr lang="ru-RU" sz="2400" dirty="0">
              <a:solidFill>
                <a:schemeClr val="tx1"/>
              </a:solidFill>
            </a:endParaRPr>
          </a:p>
        </p:txBody>
      </p:sp>
    </p:spTree>
    <p:extLst>
      <p:ext uri="{BB962C8B-B14F-4D97-AF65-F5344CB8AC3E}">
        <p14:creationId xmlns:p14="http://schemas.microsoft.com/office/powerpoint/2010/main" val="36393643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4"/>
          <p:cNvSpPr>
            <a:spLocks noChangeArrowheads="1"/>
          </p:cNvSpPr>
          <p:nvPr/>
        </p:nvSpPr>
        <p:spPr bwMode="auto">
          <a:xfrm>
            <a:off x="945009" y="538807"/>
            <a:ext cx="11509796" cy="6219573"/>
          </a:xfrm>
          <a:prstGeom prst="roundRect">
            <a:avLst>
              <a:gd name="adj" fmla="val 16667"/>
            </a:avLst>
          </a:prstGeom>
          <a:solidFill>
            <a:schemeClr val="bg1">
              <a:alpha val="50195"/>
            </a:scheme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5" name="AutoShape 5"/>
          <p:cNvSpPr>
            <a:spLocks noChangeArrowheads="1"/>
          </p:cNvSpPr>
          <p:nvPr/>
        </p:nvSpPr>
        <p:spPr bwMode="auto">
          <a:xfrm>
            <a:off x="2373685" y="322264"/>
            <a:ext cx="8064128" cy="720601"/>
          </a:xfrm>
          <a:prstGeom prst="roundRect">
            <a:avLst>
              <a:gd name="adj" fmla="val 37469"/>
            </a:avLst>
          </a:prstGeom>
          <a:solidFill>
            <a:srgbClr val="FFFFFF">
              <a:alpha val="78822"/>
            </a:srgb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2" name="Заголовок 1"/>
          <p:cNvSpPr txBox="1">
            <a:spLocks noGrp="1"/>
          </p:cNvSpPr>
          <p:nvPr>
            <p:ph type="title" idx="4294967295"/>
          </p:nvPr>
        </p:nvSpPr>
        <p:spPr>
          <a:xfrm>
            <a:off x="2426323" y="367909"/>
            <a:ext cx="8550275" cy="386924"/>
          </a:xfrm>
          <a:prstGeom prst="rect">
            <a:avLst/>
          </a:prstGeom>
        </p:spPr>
        <p:txBody>
          <a:bodyPr wrap="square">
            <a:noAutofit/>
          </a:bodyPr>
          <a:lstStyle/>
          <a:p>
            <a:pPr lvl="0" algn="ctr"/>
            <a:r>
              <a:rPr lang="ru-RU" sz="3949" dirty="0"/>
              <a:t>Виды гипотез</a:t>
            </a:r>
          </a:p>
        </p:txBody>
      </p:sp>
      <p:sp>
        <p:nvSpPr>
          <p:cNvPr id="7" name="Номер слайда 6"/>
          <p:cNvSpPr>
            <a:spLocks noGrp="1"/>
          </p:cNvSpPr>
          <p:nvPr>
            <p:ph type="sldNum" sz="quarter" idx="12"/>
          </p:nvPr>
        </p:nvSpPr>
        <p:spPr>
          <a:xfrm>
            <a:off x="11723241" y="6549870"/>
            <a:ext cx="639350" cy="379409"/>
          </a:xfrm>
        </p:spPr>
        <p:txBody>
          <a:bodyPr/>
          <a:lstStyle/>
          <a:p>
            <a:fld id="{952B6C0E-C4B9-4094-8E59-5B7DF00D5415}" type="slidenum">
              <a:rPr lang="ru-RU" smtClean="0">
                <a:solidFill>
                  <a:schemeClr val="tx1"/>
                </a:solidFill>
              </a:rPr>
              <a:t>6</a:t>
            </a:fld>
            <a:endParaRPr lang="ru-RU" dirty="0">
              <a:solidFill>
                <a:schemeClr val="tx1"/>
              </a:solidFill>
            </a:endParaRPr>
          </a:p>
        </p:txBody>
      </p:sp>
      <p:sp>
        <p:nvSpPr>
          <p:cNvPr id="9" name="TextBox 8">
            <a:extLst>
              <a:ext uri="{FF2B5EF4-FFF2-40B4-BE49-F238E27FC236}">
                <a16:creationId xmlns:a16="http://schemas.microsoft.com/office/drawing/2014/main" id="{B7FF0647-BC73-442A-ADD2-2A470084029C}"/>
              </a:ext>
            </a:extLst>
          </p:cNvPr>
          <p:cNvSpPr txBox="1"/>
          <p:nvPr/>
        </p:nvSpPr>
        <p:spPr>
          <a:xfrm>
            <a:off x="429469" y="754833"/>
            <a:ext cx="11933122" cy="5693866"/>
          </a:xfrm>
          <a:prstGeom prst="rect">
            <a:avLst/>
          </a:prstGeom>
          <a:noFill/>
        </p:spPr>
        <p:txBody>
          <a:bodyPr wrap="square">
            <a:spAutoFit/>
          </a:bodyPr>
          <a:lstStyle/>
          <a:p>
            <a:r>
              <a:rPr lang="ru-RU" b="1" dirty="0"/>
              <a:t>По характеру проверяемого предположения</a:t>
            </a:r>
          </a:p>
          <a:p>
            <a:r>
              <a:rPr lang="ru-RU" b="1" dirty="0"/>
              <a:t>Параметрические гипотезы. </a:t>
            </a:r>
            <a:r>
              <a:rPr lang="ru-RU" dirty="0"/>
              <a:t>Касаются числовых параметров распределения генеральной совокупности:</a:t>
            </a:r>
          </a:p>
          <a:p>
            <a:pPr lvl="1">
              <a:buFont typeface="Arial" panose="020B0604020202020204" pitchFamily="34" charset="0"/>
              <a:buChar char="•"/>
            </a:pPr>
            <a:r>
              <a:rPr lang="ru-RU" sz="1800" b="1" dirty="0"/>
              <a:t>О равенстве средних</a:t>
            </a:r>
            <a:r>
              <a:rPr lang="ru-RU" sz="1800" dirty="0"/>
              <a:t> (например, H₀: μ₁ = μ₂) – проверяется t-критерием, ANOVA.</a:t>
            </a:r>
          </a:p>
          <a:p>
            <a:pPr lvl="1">
              <a:buFont typeface="Arial" panose="020B0604020202020204" pitchFamily="34" charset="0"/>
              <a:buChar char="•"/>
            </a:pPr>
            <a:r>
              <a:rPr lang="ru-RU" sz="1800" b="1" dirty="0"/>
              <a:t>О равенстве дисперсий</a:t>
            </a:r>
            <a:r>
              <a:rPr lang="ru-RU" sz="1800" dirty="0"/>
              <a:t> (H₀: σ₁² = σ₂²) – критерии Фишера, </a:t>
            </a:r>
            <a:r>
              <a:rPr lang="ru-RU" sz="1800" dirty="0" err="1"/>
              <a:t>Бартлетта</a:t>
            </a:r>
            <a:r>
              <a:rPr lang="ru-RU" sz="1800" dirty="0"/>
              <a:t>, </a:t>
            </a:r>
            <a:r>
              <a:rPr lang="ru-RU" sz="1800" dirty="0" err="1"/>
              <a:t>Левене</a:t>
            </a:r>
            <a:r>
              <a:rPr lang="ru-RU" sz="1800" dirty="0"/>
              <a:t>.</a:t>
            </a:r>
          </a:p>
          <a:p>
            <a:pPr lvl="1">
              <a:buFont typeface="Arial" panose="020B0604020202020204" pitchFamily="34" charset="0"/>
              <a:buChar char="•"/>
            </a:pPr>
            <a:r>
              <a:rPr lang="ru-RU" sz="1800" b="1" dirty="0"/>
              <a:t>О равенстве долей</a:t>
            </a:r>
            <a:r>
              <a:rPr lang="ru-RU" sz="1800" dirty="0"/>
              <a:t> (H₀: p₁ = p₂) – z-критерий, критерий хи-квадрат для долей.</a:t>
            </a:r>
          </a:p>
          <a:p>
            <a:pPr lvl="1">
              <a:buFont typeface="Arial" panose="020B0604020202020204" pitchFamily="34" charset="0"/>
              <a:buChar char="•"/>
            </a:pPr>
            <a:r>
              <a:rPr lang="ru-RU" sz="1800" b="1" dirty="0"/>
              <a:t>О значении параметра</a:t>
            </a:r>
            <a:r>
              <a:rPr lang="ru-RU" sz="1800" dirty="0"/>
              <a:t> (H₀: μ = μ₀, H₀: σ² = σ₀², H₀: p = p₀).</a:t>
            </a:r>
          </a:p>
          <a:p>
            <a:pPr lvl="1">
              <a:buFont typeface="Arial" panose="020B0604020202020204" pitchFamily="34" charset="0"/>
              <a:buChar char="•"/>
            </a:pPr>
            <a:r>
              <a:rPr lang="ru-RU" sz="1800" b="1" dirty="0"/>
              <a:t>О равенстве коэффициентов регрессии нулю</a:t>
            </a:r>
            <a:r>
              <a:rPr lang="ru-RU" sz="1800" dirty="0"/>
              <a:t> (H₀: β = 0) – проверка значимости модели.</a:t>
            </a:r>
          </a:p>
          <a:p>
            <a:r>
              <a:rPr lang="ru-RU" b="1" dirty="0"/>
              <a:t>Непараметрические гипотезы. </a:t>
            </a:r>
            <a:r>
              <a:rPr lang="ru-RU" dirty="0"/>
              <a:t>Не связаны с конкретным законом распределения, используют ранги, частоты:</a:t>
            </a:r>
          </a:p>
          <a:p>
            <a:pPr lvl="1">
              <a:buFont typeface="Arial" panose="020B0604020202020204" pitchFamily="34" charset="0"/>
              <a:buChar char="•"/>
            </a:pPr>
            <a:r>
              <a:rPr lang="ru-RU" sz="1800" b="1" dirty="0"/>
              <a:t>О виде распределения</a:t>
            </a:r>
            <a:r>
              <a:rPr lang="ru-RU" sz="1800" dirty="0"/>
              <a:t> (гипотеза согласия, </a:t>
            </a:r>
            <a:r>
              <a:rPr lang="ru-RU" sz="1800" i="1" dirty="0" err="1"/>
              <a:t>goodness-of-fit</a:t>
            </a:r>
            <a:r>
              <a:rPr lang="ru-RU" sz="1800" dirty="0"/>
              <a:t>): H₀ – эмпирическое распределение соответствует теоретическому (нормальному, равномерному, Пуассона и т.п.). Критерии: χ² Пирсона, Колмогорова–Смирнова, Шапиро–</a:t>
            </a:r>
            <a:r>
              <a:rPr lang="ru-RU" sz="1800" dirty="0" err="1"/>
              <a:t>Уилка</a:t>
            </a:r>
            <a:r>
              <a:rPr lang="ru-RU" sz="1800" dirty="0"/>
              <a:t>.</a:t>
            </a:r>
          </a:p>
          <a:p>
            <a:pPr lvl="1">
              <a:buFont typeface="Arial" panose="020B0604020202020204" pitchFamily="34" charset="0"/>
              <a:buChar char="•"/>
            </a:pPr>
            <a:r>
              <a:rPr lang="ru-RU" sz="1800" b="1" dirty="0"/>
              <a:t>Об однородности выборок</a:t>
            </a:r>
            <a:r>
              <a:rPr lang="ru-RU" sz="1800" dirty="0"/>
              <a:t> – принадлежат ли несколько выборок одной генеральной совокупности (критерии: χ², </a:t>
            </a:r>
            <a:r>
              <a:rPr lang="ru-RU" sz="1800" dirty="0" err="1"/>
              <a:t>Краскела</a:t>
            </a:r>
            <a:r>
              <a:rPr lang="ru-RU" sz="1800" dirty="0"/>
              <a:t>–</a:t>
            </a:r>
            <a:r>
              <a:rPr lang="ru-RU" sz="1800" dirty="0" err="1"/>
              <a:t>Уоллиса</a:t>
            </a:r>
            <a:r>
              <a:rPr lang="ru-RU" sz="1800" dirty="0"/>
              <a:t>, Манна–Уитни).</a:t>
            </a:r>
          </a:p>
          <a:p>
            <a:pPr lvl="1">
              <a:buFont typeface="Arial" panose="020B0604020202020204" pitchFamily="34" charset="0"/>
              <a:buChar char="•"/>
            </a:pPr>
            <a:r>
              <a:rPr lang="ru-RU" sz="1800" b="1" dirty="0"/>
              <a:t>О независимости</a:t>
            </a:r>
            <a:r>
              <a:rPr lang="ru-RU" sz="1800" dirty="0"/>
              <a:t> признаков в таблице сопряжённости (H₀: признаки статистически независимы) – критерий χ².</a:t>
            </a:r>
          </a:p>
          <a:p>
            <a:pPr lvl="1">
              <a:buFont typeface="Arial" panose="020B0604020202020204" pitchFamily="34" charset="0"/>
              <a:buChar char="•"/>
            </a:pPr>
            <a:r>
              <a:rPr lang="ru-RU" sz="1800" b="1" dirty="0"/>
              <a:t>О случайности</a:t>
            </a:r>
            <a:r>
              <a:rPr lang="ru-RU" sz="1800" dirty="0"/>
              <a:t> выборки (например, проверка отсутствия тренда, серий).</a:t>
            </a:r>
          </a:p>
          <a:p>
            <a:pPr lvl="1">
              <a:buFont typeface="Arial" panose="020B0604020202020204" pitchFamily="34" charset="0"/>
              <a:buChar char="•"/>
            </a:pPr>
            <a:r>
              <a:rPr lang="ru-RU" sz="1800" b="1" dirty="0"/>
              <a:t>О равенстве медиан</a:t>
            </a:r>
            <a:r>
              <a:rPr lang="ru-RU" sz="1800" dirty="0"/>
              <a:t> (непараметрический аналог гипотезы о равенстве средних).</a:t>
            </a:r>
          </a:p>
        </p:txBody>
      </p:sp>
    </p:spTree>
    <p:extLst>
      <p:ext uri="{BB962C8B-B14F-4D97-AF65-F5344CB8AC3E}">
        <p14:creationId xmlns:p14="http://schemas.microsoft.com/office/powerpoint/2010/main" val="19747403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4"/>
          <p:cNvSpPr>
            <a:spLocks noChangeArrowheads="1"/>
          </p:cNvSpPr>
          <p:nvPr/>
        </p:nvSpPr>
        <p:spPr bwMode="auto">
          <a:xfrm>
            <a:off x="945009" y="538807"/>
            <a:ext cx="11509796" cy="6219573"/>
          </a:xfrm>
          <a:prstGeom prst="roundRect">
            <a:avLst>
              <a:gd name="adj" fmla="val 16667"/>
            </a:avLst>
          </a:prstGeom>
          <a:solidFill>
            <a:schemeClr val="bg1">
              <a:alpha val="50195"/>
            </a:scheme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5" name="AutoShape 5"/>
          <p:cNvSpPr>
            <a:spLocks noChangeArrowheads="1"/>
          </p:cNvSpPr>
          <p:nvPr/>
        </p:nvSpPr>
        <p:spPr bwMode="auto">
          <a:xfrm>
            <a:off x="2373685" y="322264"/>
            <a:ext cx="8064128" cy="720601"/>
          </a:xfrm>
          <a:prstGeom prst="roundRect">
            <a:avLst>
              <a:gd name="adj" fmla="val 37469"/>
            </a:avLst>
          </a:prstGeom>
          <a:solidFill>
            <a:srgbClr val="FFFFFF">
              <a:alpha val="78822"/>
            </a:srgb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2" name="Заголовок 1"/>
          <p:cNvSpPr txBox="1">
            <a:spLocks noGrp="1"/>
          </p:cNvSpPr>
          <p:nvPr>
            <p:ph type="title" idx="4294967295"/>
          </p:nvPr>
        </p:nvSpPr>
        <p:spPr>
          <a:xfrm>
            <a:off x="2426323" y="367909"/>
            <a:ext cx="8550275" cy="386924"/>
          </a:xfrm>
          <a:prstGeom prst="rect">
            <a:avLst/>
          </a:prstGeom>
        </p:spPr>
        <p:txBody>
          <a:bodyPr wrap="square">
            <a:noAutofit/>
          </a:bodyPr>
          <a:lstStyle/>
          <a:p>
            <a:pPr lvl="0" algn="ctr"/>
            <a:r>
              <a:rPr lang="ru-RU" sz="3949" dirty="0"/>
              <a:t>Виды гипотез</a:t>
            </a:r>
          </a:p>
        </p:txBody>
      </p:sp>
      <p:sp>
        <p:nvSpPr>
          <p:cNvPr id="7" name="Номер слайда 6"/>
          <p:cNvSpPr>
            <a:spLocks noGrp="1"/>
          </p:cNvSpPr>
          <p:nvPr>
            <p:ph type="sldNum" sz="quarter" idx="12"/>
          </p:nvPr>
        </p:nvSpPr>
        <p:spPr>
          <a:xfrm>
            <a:off x="11723241" y="6549870"/>
            <a:ext cx="639350" cy="379409"/>
          </a:xfrm>
        </p:spPr>
        <p:txBody>
          <a:bodyPr/>
          <a:lstStyle/>
          <a:p>
            <a:fld id="{952B6C0E-C4B9-4094-8E59-5B7DF00D5415}" type="slidenum">
              <a:rPr lang="ru-RU" smtClean="0">
                <a:solidFill>
                  <a:schemeClr val="tx1"/>
                </a:solidFill>
              </a:rPr>
              <a:t>7</a:t>
            </a:fld>
            <a:endParaRPr lang="ru-RU" dirty="0">
              <a:solidFill>
                <a:schemeClr val="tx1"/>
              </a:solidFill>
            </a:endParaRPr>
          </a:p>
        </p:txBody>
      </p:sp>
      <p:sp>
        <p:nvSpPr>
          <p:cNvPr id="9" name="TextBox 8">
            <a:extLst>
              <a:ext uri="{FF2B5EF4-FFF2-40B4-BE49-F238E27FC236}">
                <a16:creationId xmlns:a16="http://schemas.microsoft.com/office/drawing/2014/main" id="{B7FF0647-BC73-442A-ADD2-2A470084029C}"/>
              </a:ext>
            </a:extLst>
          </p:cNvPr>
          <p:cNvSpPr txBox="1"/>
          <p:nvPr/>
        </p:nvSpPr>
        <p:spPr>
          <a:xfrm>
            <a:off x="1365574" y="1450145"/>
            <a:ext cx="10009112" cy="1323439"/>
          </a:xfrm>
          <a:prstGeom prst="rect">
            <a:avLst/>
          </a:prstGeom>
          <a:noFill/>
        </p:spPr>
        <p:txBody>
          <a:bodyPr wrap="square">
            <a:spAutoFit/>
          </a:bodyPr>
          <a:lstStyle/>
          <a:p>
            <a:r>
              <a:rPr lang="ru-RU" dirty="0"/>
              <a:t>Для проверки параметрических гипотез используют </a:t>
            </a:r>
            <a:r>
              <a:rPr lang="ru-RU" b="1" dirty="0"/>
              <a:t>параметрические критерии</a:t>
            </a:r>
            <a:r>
              <a:rPr lang="ru-RU" dirty="0"/>
              <a:t>: t-критерий Стьюдента, F-критерий Фишера, z-критерий для доли, ANOVA и др. </a:t>
            </a:r>
          </a:p>
          <a:p>
            <a:r>
              <a:rPr lang="ru-RU" dirty="0"/>
              <a:t>Эти критерии обладают большей мощностью, если предположения о распределении выполнены.</a:t>
            </a:r>
            <a:endParaRPr lang="ru-RU" sz="1800" dirty="0"/>
          </a:p>
        </p:txBody>
      </p:sp>
      <p:sp>
        <p:nvSpPr>
          <p:cNvPr id="8" name="TextBox 7">
            <a:extLst>
              <a:ext uri="{FF2B5EF4-FFF2-40B4-BE49-F238E27FC236}">
                <a16:creationId xmlns:a16="http://schemas.microsoft.com/office/drawing/2014/main" id="{974F2F58-9ACD-45C3-BF15-79C8CB8BCA43}"/>
              </a:ext>
            </a:extLst>
          </p:cNvPr>
          <p:cNvSpPr txBox="1"/>
          <p:nvPr/>
        </p:nvSpPr>
        <p:spPr>
          <a:xfrm>
            <a:off x="3166383" y="3059088"/>
            <a:ext cx="6335484" cy="1938992"/>
          </a:xfrm>
          <a:prstGeom prst="rect">
            <a:avLst/>
          </a:prstGeom>
          <a:noFill/>
        </p:spPr>
        <p:txBody>
          <a:bodyPr wrap="square">
            <a:spAutoFit/>
          </a:bodyPr>
          <a:lstStyle/>
          <a:p>
            <a:r>
              <a:rPr lang="ru-RU" b="1" dirty="0"/>
              <a:t>Примеры параметрических гипотез:</a:t>
            </a:r>
            <a:endParaRPr lang="ru-RU" dirty="0"/>
          </a:p>
          <a:p>
            <a:pPr marL="177800" indent="-177800">
              <a:buFont typeface="Arial" panose="020B0604020202020204" pitchFamily="34" charset="0"/>
              <a:buChar char="•"/>
            </a:pPr>
            <a:r>
              <a:rPr lang="ru-RU" dirty="0"/>
              <a:t>H₀: μ = 50 (среднее равно заданной константе);</a:t>
            </a:r>
          </a:p>
          <a:p>
            <a:pPr marL="177800" indent="-177800">
              <a:buFont typeface="Arial" panose="020B0604020202020204" pitchFamily="34" charset="0"/>
              <a:buChar char="•"/>
            </a:pPr>
            <a:r>
              <a:rPr lang="ru-RU" dirty="0"/>
              <a:t>H₀: μ₁ = μ₂ (средние двух групп равны);</a:t>
            </a:r>
          </a:p>
          <a:p>
            <a:pPr marL="177800" indent="-177800">
              <a:buFont typeface="Arial" panose="020B0604020202020204" pitchFamily="34" charset="0"/>
              <a:buChar char="•"/>
            </a:pPr>
            <a:r>
              <a:rPr lang="ru-RU" dirty="0"/>
              <a:t>H₀: σ₁² = σ₂² (дисперсии равны);</a:t>
            </a:r>
          </a:p>
          <a:p>
            <a:pPr marL="177800" indent="-177800">
              <a:buFont typeface="Arial" panose="020B0604020202020204" pitchFamily="34" charset="0"/>
              <a:buChar char="•"/>
            </a:pPr>
            <a:r>
              <a:rPr lang="ru-RU" dirty="0"/>
              <a:t>H₀: p = 0,3 (доля признака в популяции);</a:t>
            </a:r>
          </a:p>
          <a:p>
            <a:pPr marL="177800" indent="-177800">
              <a:buFont typeface="Arial" panose="020B0604020202020204" pitchFamily="34" charset="0"/>
              <a:buChar char="•"/>
            </a:pPr>
            <a:r>
              <a:rPr lang="ru-RU" dirty="0"/>
              <a:t>H₀: β = 0 (коэффициент регрессии незначим).</a:t>
            </a:r>
          </a:p>
        </p:txBody>
      </p:sp>
    </p:spTree>
    <p:extLst>
      <p:ext uri="{BB962C8B-B14F-4D97-AF65-F5344CB8AC3E}">
        <p14:creationId xmlns:p14="http://schemas.microsoft.com/office/powerpoint/2010/main" val="3871492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4"/>
          <p:cNvSpPr>
            <a:spLocks noChangeArrowheads="1"/>
          </p:cNvSpPr>
          <p:nvPr/>
        </p:nvSpPr>
        <p:spPr bwMode="auto">
          <a:xfrm>
            <a:off x="1013433" y="521203"/>
            <a:ext cx="11509796" cy="6028667"/>
          </a:xfrm>
          <a:prstGeom prst="roundRect">
            <a:avLst>
              <a:gd name="adj" fmla="val 16667"/>
            </a:avLst>
          </a:prstGeom>
          <a:solidFill>
            <a:schemeClr val="bg1">
              <a:alpha val="50195"/>
            </a:scheme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5" name="AutoShape 5"/>
          <p:cNvSpPr>
            <a:spLocks noChangeArrowheads="1"/>
          </p:cNvSpPr>
          <p:nvPr/>
        </p:nvSpPr>
        <p:spPr bwMode="auto">
          <a:xfrm>
            <a:off x="2373685" y="322264"/>
            <a:ext cx="8064128" cy="720601"/>
          </a:xfrm>
          <a:prstGeom prst="roundRect">
            <a:avLst>
              <a:gd name="adj" fmla="val 37469"/>
            </a:avLst>
          </a:prstGeom>
          <a:solidFill>
            <a:srgbClr val="FFFFFF">
              <a:alpha val="78822"/>
            </a:srgb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2" name="Заголовок 1"/>
          <p:cNvSpPr txBox="1">
            <a:spLocks noGrp="1"/>
          </p:cNvSpPr>
          <p:nvPr>
            <p:ph type="title" idx="4294967295"/>
          </p:nvPr>
        </p:nvSpPr>
        <p:spPr>
          <a:xfrm>
            <a:off x="2426323" y="367909"/>
            <a:ext cx="8550275" cy="386924"/>
          </a:xfrm>
          <a:prstGeom prst="rect">
            <a:avLst/>
          </a:prstGeom>
        </p:spPr>
        <p:txBody>
          <a:bodyPr wrap="square">
            <a:noAutofit/>
          </a:bodyPr>
          <a:lstStyle/>
          <a:p>
            <a:pPr lvl="0" algn="ctr"/>
            <a:r>
              <a:rPr lang="ru-RU" sz="3949" dirty="0"/>
              <a:t>Виды гипотез</a:t>
            </a:r>
          </a:p>
        </p:txBody>
      </p:sp>
      <p:sp>
        <p:nvSpPr>
          <p:cNvPr id="7" name="Номер слайда 6"/>
          <p:cNvSpPr>
            <a:spLocks noGrp="1"/>
          </p:cNvSpPr>
          <p:nvPr>
            <p:ph type="sldNum" sz="quarter" idx="12"/>
          </p:nvPr>
        </p:nvSpPr>
        <p:spPr>
          <a:xfrm>
            <a:off x="11723241" y="6549870"/>
            <a:ext cx="639350" cy="379409"/>
          </a:xfrm>
        </p:spPr>
        <p:txBody>
          <a:bodyPr/>
          <a:lstStyle/>
          <a:p>
            <a:fld id="{952B6C0E-C4B9-4094-8E59-5B7DF00D5415}" type="slidenum">
              <a:rPr lang="ru-RU" smtClean="0">
                <a:solidFill>
                  <a:schemeClr val="tx1"/>
                </a:solidFill>
              </a:rPr>
              <a:t>8</a:t>
            </a:fld>
            <a:endParaRPr lang="ru-RU" dirty="0">
              <a:solidFill>
                <a:schemeClr val="tx1"/>
              </a:solidFill>
            </a:endParaRPr>
          </a:p>
        </p:txBody>
      </p:sp>
      <p:sp>
        <p:nvSpPr>
          <p:cNvPr id="10" name="TextBox 9">
            <a:extLst>
              <a:ext uri="{FF2B5EF4-FFF2-40B4-BE49-F238E27FC236}">
                <a16:creationId xmlns:a16="http://schemas.microsoft.com/office/drawing/2014/main" id="{5D269D12-F8F8-43A6-94FB-1072A4EB4C12}"/>
              </a:ext>
            </a:extLst>
          </p:cNvPr>
          <p:cNvSpPr txBox="1"/>
          <p:nvPr/>
        </p:nvSpPr>
        <p:spPr>
          <a:xfrm>
            <a:off x="914236" y="1042865"/>
            <a:ext cx="11293773" cy="1323439"/>
          </a:xfrm>
          <a:prstGeom prst="rect">
            <a:avLst/>
          </a:prstGeom>
          <a:noFill/>
        </p:spPr>
        <p:txBody>
          <a:bodyPr wrap="square">
            <a:spAutoFit/>
          </a:bodyPr>
          <a:lstStyle/>
          <a:p>
            <a:r>
              <a:rPr lang="ru-RU" b="1" dirty="0"/>
              <a:t>Непараметрические гипотезы</a:t>
            </a:r>
            <a:r>
              <a:rPr lang="ru-RU" dirty="0"/>
              <a:t> — это предположения, которые </a:t>
            </a:r>
            <a:r>
              <a:rPr lang="ru-RU" b="1" dirty="0"/>
              <a:t>не делают утверждений о конкретных параметрах</a:t>
            </a:r>
            <a:r>
              <a:rPr lang="ru-RU" dirty="0"/>
              <a:t> известного распределения. Они касаются более общих свойств: формы распределения, независимости, случайности, однородности, порядка величин (медиан, рангов).</a:t>
            </a:r>
          </a:p>
        </p:txBody>
      </p:sp>
      <p:sp>
        <p:nvSpPr>
          <p:cNvPr id="12" name="TextBox 11">
            <a:extLst>
              <a:ext uri="{FF2B5EF4-FFF2-40B4-BE49-F238E27FC236}">
                <a16:creationId xmlns:a16="http://schemas.microsoft.com/office/drawing/2014/main" id="{5BADB129-C22A-4223-8419-13000F1EA109}"/>
              </a:ext>
            </a:extLst>
          </p:cNvPr>
          <p:cNvSpPr txBox="1"/>
          <p:nvPr/>
        </p:nvSpPr>
        <p:spPr>
          <a:xfrm>
            <a:off x="1328652" y="2515582"/>
            <a:ext cx="10879356" cy="2031325"/>
          </a:xfrm>
          <a:prstGeom prst="rect">
            <a:avLst/>
          </a:prstGeom>
          <a:noFill/>
        </p:spPr>
        <p:txBody>
          <a:bodyPr wrap="square">
            <a:spAutoFit/>
          </a:bodyPr>
          <a:lstStyle/>
          <a:p>
            <a:r>
              <a:rPr lang="ru-RU" sz="1800" b="1" dirty="0"/>
              <a:t>Примеры непараметрических гипотез:</a:t>
            </a:r>
            <a:endParaRPr lang="ru-RU" sz="1800" dirty="0"/>
          </a:p>
          <a:p>
            <a:pPr marL="177800" indent="-177800">
              <a:buFont typeface="Arial" panose="020B0604020202020204" pitchFamily="34" charset="0"/>
              <a:buChar char="•"/>
            </a:pPr>
            <a:r>
              <a:rPr lang="ru-RU" sz="1800" dirty="0"/>
              <a:t>H₀: эмпирическое распределение соответствует нормальному (гипотеза согласия);</a:t>
            </a:r>
          </a:p>
          <a:p>
            <a:pPr marL="177800" indent="-177800">
              <a:buFont typeface="Arial" panose="020B0604020202020204" pitchFamily="34" charset="0"/>
              <a:buChar char="•"/>
            </a:pPr>
            <a:r>
              <a:rPr lang="ru-RU" sz="1800" dirty="0"/>
              <a:t>H₀: две выборки взяты из одной и той же генеральной совокупности (гипотеза однородности);</a:t>
            </a:r>
          </a:p>
          <a:p>
            <a:pPr marL="177800" indent="-177800">
              <a:buFont typeface="Arial" panose="020B0604020202020204" pitchFamily="34" charset="0"/>
              <a:buChar char="•"/>
            </a:pPr>
            <a:r>
              <a:rPr lang="ru-RU" sz="1800" dirty="0"/>
              <a:t>H₀: признаки в таблице сопряжённости независимы;</a:t>
            </a:r>
          </a:p>
          <a:p>
            <a:pPr marL="177800" indent="-177800">
              <a:buFont typeface="Arial" panose="020B0604020202020204" pitchFamily="34" charset="0"/>
              <a:buChar char="•"/>
            </a:pPr>
            <a:r>
              <a:rPr lang="ru-RU" sz="1800" dirty="0"/>
              <a:t>H₀: выборка случайна (отсутствует тренд, периодичность);</a:t>
            </a:r>
          </a:p>
          <a:p>
            <a:pPr marL="177800" indent="-177800">
              <a:buFont typeface="Arial" panose="020B0604020202020204" pitchFamily="34" charset="0"/>
              <a:buChar char="•"/>
            </a:pPr>
            <a:r>
              <a:rPr lang="ru-RU" sz="1800" dirty="0"/>
              <a:t>H₀: медиана выборки равна нулю (или медианы групп равны) – непараметрический аналог гипотезы о средних.</a:t>
            </a:r>
          </a:p>
        </p:txBody>
      </p:sp>
      <p:sp>
        <p:nvSpPr>
          <p:cNvPr id="14" name="TextBox 13">
            <a:extLst>
              <a:ext uri="{FF2B5EF4-FFF2-40B4-BE49-F238E27FC236}">
                <a16:creationId xmlns:a16="http://schemas.microsoft.com/office/drawing/2014/main" id="{47B7D8DF-9C7A-4351-850B-7D6E172D40DE}"/>
              </a:ext>
            </a:extLst>
          </p:cNvPr>
          <p:cNvSpPr txBox="1"/>
          <p:nvPr/>
        </p:nvSpPr>
        <p:spPr>
          <a:xfrm>
            <a:off x="914235" y="4854684"/>
            <a:ext cx="11293773" cy="1323439"/>
          </a:xfrm>
          <a:prstGeom prst="rect">
            <a:avLst/>
          </a:prstGeom>
          <a:noFill/>
        </p:spPr>
        <p:txBody>
          <a:bodyPr wrap="square">
            <a:spAutoFit/>
          </a:bodyPr>
          <a:lstStyle/>
          <a:p>
            <a:r>
              <a:rPr lang="ru-RU" dirty="0"/>
              <a:t>Для проверки используют </a:t>
            </a:r>
            <a:r>
              <a:rPr lang="ru-RU" b="1" dirty="0"/>
              <a:t>непараметрические критерии</a:t>
            </a:r>
            <a:r>
              <a:rPr lang="ru-RU" dirty="0"/>
              <a:t>: χ² Пирсона, Колмогорова–Смирнова, Манна–Уитни, </a:t>
            </a:r>
            <a:r>
              <a:rPr lang="ru-RU" dirty="0" err="1"/>
              <a:t>Краскела</a:t>
            </a:r>
            <a:r>
              <a:rPr lang="ru-RU" dirty="0"/>
              <a:t>–</a:t>
            </a:r>
            <a:r>
              <a:rPr lang="ru-RU" dirty="0" err="1"/>
              <a:t>Уоллиса</a:t>
            </a:r>
            <a:r>
              <a:rPr lang="ru-RU" dirty="0"/>
              <a:t>, </a:t>
            </a:r>
            <a:r>
              <a:rPr lang="ru-RU" dirty="0" err="1"/>
              <a:t>Вилкоксона</a:t>
            </a:r>
            <a:r>
              <a:rPr lang="ru-RU" dirty="0"/>
              <a:t>, знаков, серий и др. Они работают в более широких условиях и устойчивы к выбросам, но обычно имеют меньшую мощность при нормальном распределении.</a:t>
            </a:r>
          </a:p>
        </p:txBody>
      </p:sp>
    </p:spTree>
    <p:extLst>
      <p:ext uri="{BB962C8B-B14F-4D97-AF65-F5344CB8AC3E}">
        <p14:creationId xmlns:p14="http://schemas.microsoft.com/office/powerpoint/2010/main" val="27950955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AutoShape 4"/>
          <p:cNvSpPr>
            <a:spLocks noChangeArrowheads="1"/>
          </p:cNvSpPr>
          <p:nvPr/>
        </p:nvSpPr>
        <p:spPr bwMode="auto">
          <a:xfrm>
            <a:off x="753889" y="322263"/>
            <a:ext cx="11484891" cy="6553200"/>
          </a:xfrm>
          <a:prstGeom prst="roundRect">
            <a:avLst>
              <a:gd name="adj" fmla="val 16667"/>
            </a:avLst>
          </a:prstGeom>
          <a:solidFill>
            <a:schemeClr val="bg1">
              <a:alpha val="50195"/>
            </a:scheme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10" name="AutoShape 5"/>
          <p:cNvSpPr>
            <a:spLocks noChangeArrowheads="1"/>
          </p:cNvSpPr>
          <p:nvPr/>
        </p:nvSpPr>
        <p:spPr bwMode="auto">
          <a:xfrm>
            <a:off x="2373685" y="322264"/>
            <a:ext cx="8064128" cy="720601"/>
          </a:xfrm>
          <a:prstGeom prst="roundRect">
            <a:avLst>
              <a:gd name="adj" fmla="val 37469"/>
            </a:avLst>
          </a:prstGeom>
          <a:solidFill>
            <a:srgbClr val="FFFFFF">
              <a:alpha val="78822"/>
            </a:srgb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2" name="Заголовок 1"/>
          <p:cNvSpPr txBox="1">
            <a:spLocks noGrp="1"/>
          </p:cNvSpPr>
          <p:nvPr>
            <p:ph type="title" idx="4294967295"/>
          </p:nvPr>
        </p:nvSpPr>
        <p:spPr>
          <a:xfrm>
            <a:off x="1195389" y="288926"/>
            <a:ext cx="8550275" cy="719105"/>
          </a:xfrm>
          <a:prstGeom prst="rect">
            <a:avLst/>
          </a:prstGeom>
        </p:spPr>
        <p:txBody>
          <a:bodyPr wrap="square">
            <a:noAutofit/>
          </a:bodyPr>
          <a:lstStyle/>
          <a:p>
            <a:pPr lvl="0"/>
            <a:r>
              <a:rPr lang="ru-RU" sz="3949" dirty="0"/>
              <a:t>1.  Гипотеза согласия</a:t>
            </a:r>
          </a:p>
        </p:txBody>
      </p:sp>
      <p:sp>
        <p:nvSpPr>
          <p:cNvPr id="3" name="Текст 2"/>
          <p:cNvSpPr txBox="1">
            <a:spLocks noGrp="1"/>
          </p:cNvSpPr>
          <p:nvPr>
            <p:ph type="body" idx="4294967295"/>
          </p:nvPr>
        </p:nvSpPr>
        <p:spPr>
          <a:xfrm>
            <a:off x="897137" y="1363632"/>
            <a:ext cx="11017224" cy="2445180"/>
          </a:xfrm>
          <a:prstGeom prst="rect">
            <a:avLst/>
          </a:prstGeom>
        </p:spPr>
        <p:txBody>
          <a:bodyPr wrap="square"/>
          <a:lstStyle/>
          <a:p>
            <a:pPr marL="0" indent="0">
              <a:lnSpc>
                <a:spcPct val="90000"/>
              </a:lnSpc>
              <a:spcBef>
                <a:spcPts val="674"/>
              </a:spcBef>
              <a:buClr>
                <a:srgbClr val="CC9900"/>
              </a:buClr>
              <a:buSzPct val="65000"/>
              <a:buFont typeface="Wingdings" pitchFamily="2"/>
              <a:buChar char=""/>
              <a:tabLst>
                <a:tab pos="0" algn="l"/>
                <a:tab pos="110352" algn="l"/>
                <a:tab pos="577199" algn="l"/>
                <a:tab pos="1044046" algn="l"/>
                <a:tab pos="1510893" algn="l"/>
                <a:tab pos="1977740" algn="l"/>
                <a:tab pos="2444587" algn="l"/>
                <a:tab pos="2911434" algn="l"/>
                <a:tab pos="3378279" algn="l"/>
                <a:tab pos="3845127" algn="l"/>
                <a:tab pos="4311973" algn="l"/>
                <a:tab pos="4778447" algn="l"/>
                <a:tab pos="5245294" algn="l"/>
                <a:tab pos="5712141" algn="l"/>
                <a:tab pos="6178987" algn="l"/>
                <a:tab pos="6645833" algn="l"/>
                <a:tab pos="7112681" algn="l"/>
                <a:tab pos="7579527" algn="l"/>
                <a:tab pos="8046375" algn="l"/>
                <a:tab pos="8513222" algn="l"/>
                <a:tab pos="8980068" algn="l"/>
              </a:tabLst>
            </a:pPr>
            <a:r>
              <a:rPr lang="ru-RU" sz="2702" dirty="0"/>
              <a:t> Обозначим </a:t>
            </a:r>
            <a:r>
              <a:rPr lang="en-US" sz="2702" i="1" dirty="0" err="1"/>
              <a:t>F</a:t>
            </a:r>
            <a:r>
              <a:rPr lang="en-US" sz="2702" i="1" baseline="-25000" dirty="0" err="1"/>
              <a:t>x</a:t>
            </a:r>
            <a:r>
              <a:rPr lang="en-US" sz="2702" i="1" dirty="0"/>
              <a:t>(t)</a:t>
            </a:r>
            <a:r>
              <a:rPr lang="ru-RU" sz="2702" dirty="0"/>
              <a:t> функцию распределения случайной величины Х.</a:t>
            </a:r>
          </a:p>
          <a:p>
            <a:pPr marL="0" indent="0">
              <a:lnSpc>
                <a:spcPct val="90000"/>
              </a:lnSpc>
              <a:spcBef>
                <a:spcPts val="674"/>
              </a:spcBef>
              <a:buClr>
                <a:srgbClr val="CC9900"/>
              </a:buClr>
              <a:buSzPct val="65000"/>
              <a:buFont typeface="Wingdings" pitchFamily="2"/>
              <a:buChar char=""/>
              <a:tabLst>
                <a:tab pos="0" algn="l"/>
                <a:tab pos="110352" algn="l"/>
                <a:tab pos="577199" algn="l"/>
                <a:tab pos="1044046" algn="l"/>
                <a:tab pos="1510893" algn="l"/>
                <a:tab pos="1977740" algn="l"/>
                <a:tab pos="2444587" algn="l"/>
                <a:tab pos="2911434" algn="l"/>
                <a:tab pos="3378279" algn="l"/>
                <a:tab pos="3845127" algn="l"/>
                <a:tab pos="4311973" algn="l"/>
                <a:tab pos="4778447" algn="l"/>
                <a:tab pos="5245294" algn="l"/>
                <a:tab pos="5712141" algn="l"/>
                <a:tab pos="6178987" algn="l"/>
                <a:tab pos="6645833" algn="l"/>
                <a:tab pos="7112681" algn="l"/>
                <a:tab pos="7579527" algn="l"/>
                <a:tab pos="8046375" algn="l"/>
                <a:tab pos="8513222" algn="l"/>
                <a:tab pos="8980068" algn="l"/>
              </a:tabLst>
            </a:pPr>
            <a:r>
              <a:rPr lang="ru-RU" sz="2702" dirty="0"/>
              <a:t> Пусть   </a:t>
            </a:r>
            <a:r>
              <a:rPr lang="en-US" sz="2702" i="1" dirty="0"/>
              <a:t>F</a:t>
            </a:r>
            <a:r>
              <a:rPr lang="en-US" sz="2702" i="1" baseline="-25000" dirty="0"/>
              <a:t>0</a:t>
            </a:r>
            <a:r>
              <a:rPr lang="en-US" sz="2702" i="1" dirty="0"/>
              <a:t>(t)  ̶</a:t>
            </a:r>
            <a:r>
              <a:rPr lang="ru-RU" sz="2702" dirty="0"/>
              <a:t> </a:t>
            </a:r>
            <a:r>
              <a:rPr lang="en-US" sz="2702" dirty="0"/>
              <a:t> </a:t>
            </a:r>
            <a:r>
              <a:rPr lang="ru-RU" sz="2702" dirty="0"/>
              <a:t>некоторая заданная функция распределения.</a:t>
            </a:r>
            <a:endParaRPr lang="en-US" sz="2702" dirty="0"/>
          </a:p>
          <a:p>
            <a:pPr marL="0" indent="0">
              <a:lnSpc>
                <a:spcPct val="90000"/>
              </a:lnSpc>
              <a:spcBef>
                <a:spcPts val="674"/>
              </a:spcBef>
              <a:buClr>
                <a:srgbClr val="CC9900"/>
              </a:buClr>
              <a:buSzPct val="65000"/>
              <a:buFont typeface="Wingdings" pitchFamily="2"/>
              <a:buChar char=""/>
              <a:tabLst>
                <a:tab pos="0" algn="l"/>
                <a:tab pos="110352" algn="l"/>
                <a:tab pos="577199" algn="l"/>
                <a:tab pos="1044046" algn="l"/>
                <a:tab pos="1510893" algn="l"/>
                <a:tab pos="1977740" algn="l"/>
                <a:tab pos="2444587" algn="l"/>
                <a:tab pos="2911434" algn="l"/>
                <a:tab pos="3378279" algn="l"/>
                <a:tab pos="3845127" algn="l"/>
                <a:tab pos="4311973" algn="l"/>
                <a:tab pos="4778447" algn="l"/>
                <a:tab pos="5245294" algn="l"/>
                <a:tab pos="5712141" algn="l"/>
                <a:tab pos="6178987" algn="l"/>
                <a:tab pos="6645833" algn="l"/>
                <a:tab pos="7112681" algn="l"/>
                <a:tab pos="7579527" algn="l"/>
                <a:tab pos="8046375" algn="l"/>
                <a:tab pos="8513222" algn="l"/>
                <a:tab pos="8980068" algn="l"/>
              </a:tabLst>
            </a:pPr>
            <a:r>
              <a:rPr lang="ru-RU" sz="2702" dirty="0">
                <a:solidFill>
                  <a:srgbClr val="FF0000"/>
                </a:solidFill>
              </a:rPr>
              <a:t> Гипотеза</a:t>
            </a:r>
            <a:r>
              <a:rPr lang="ru-RU" sz="2702" dirty="0"/>
              <a:t>: функции распределения совпадают, то есть   </a:t>
            </a:r>
            <a:r>
              <a:rPr lang="en-US" sz="2702" i="1" dirty="0" err="1"/>
              <a:t>F</a:t>
            </a:r>
            <a:r>
              <a:rPr lang="en-US" sz="2702" i="1" baseline="-25000" dirty="0" err="1"/>
              <a:t>x</a:t>
            </a:r>
            <a:r>
              <a:rPr lang="en-US" sz="2702" i="1" dirty="0"/>
              <a:t>(t)=F</a:t>
            </a:r>
            <a:r>
              <a:rPr lang="en-US" sz="2702" i="1" baseline="-25000" dirty="0"/>
              <a:t>0</a:t>
            </a:r>
            <a:r>
              <a:rPr lang="en-US" sz="2702" i="1" dirty="0"/>
              <a:t>(t)</a:t>
            </a:r>
            <a:endParaRPr lang="ru-RU" sz="2702" i="1" dirty="0"/>
          </a:p>
          <a:p>
            <a:pPr marL="354624" indent="-354624">
              <a:lnSpc>
                <a:spcPct val="90000"/>
              </a:lnSpc>
              <a:spcBef>
                <a:spcPts val="674"/>
              </a:spcBef>
              <a:tabLst>
                <a:tab pos="354624" algn="l"/>
                <a:tab pos="464976" algn="l"/>
                <a:tab pos="931823" algn="l"/>
                <a:tab pos="1398670" algn="l"/>
                <a:tab pos="1865517" algn="l"/>
                <a:tab pos="2332364" algn="l"/>
                <a:tab pos="2799211" algn="l"/>
                <a:tab pos="3266058" algn="l"/>
                <a:tab pos="3732903" algn="l"/>
                <a:tab pos="4199751" algn="l"/>
                <a:tab pos="4666597" algn="l"/>
                <a:tab pos="5133071" algn="l"/>
                <a:tab pos="5599918" algn="l"/>
                <a:tab pos="6066765" algn="l"/>
                <a:tab pos="6533611" algn="l"/>
                <a:tab pos="7000457" algn="l"/>
                <a:tab pos="7467305" algn="l"/>
                <a:tab pos="7934151" algn="l"/>
                <a:tab pos="8400999" algn="l"/>
                <a:tab pos="8867846" algn="l"/>
                <a:tab pos="9334693" algn="l"/>
              </a:tabLst>
            </a:pPr>
            <a:endParaRPr lang="ru-RU" sz="2702" dirty="0"/>
          </a:p>
          <a:p>
            <a:pPr marL="0" indent="0">
              <a:lnSpc>
                <a:spcPct val="90000"/>
              </a:lnSpc>
              <a:spcBef>
                <a:spcPts val="674"/>
              </a:spcBef>
              <a:buClr>
                <a:srgbClr val="CC9900"/>
              </a:buClr>
              <a:buSzPct val="65000"/>
              <a:buFont typeface="Wingdings" pitchFamily="2"/>
              <a:buChar char=""/>
              <a:tabLst>
                <a:tab pos="0" algn="l"/>
                <a:tab pos="110352" algn="l"/>
                <a:tab pos="577199" algn="l"/>
                <a:tab pos="1044046" algn="l"/>
                <a:tab pos="1510893" algn="l"/>
                <a:tab pos="1977740" algn="l"/>
                <a:tab pos="2444587" algn="l"/>
                <a:tab pos="2911434" algn="l"/>
                <a:tab pos="3378279" algn="l"/>
                <a:tab pos="3845127" algn="l"/>
                <a:tab pos="4311973" algn="l"/>
                <a:tab pos="4778447" algn="l"/>
                <a:tab pos="5245294" algn="l"/>
                <a:tab pos="5712141" algn="l"/>
                <a:tab pos="6178987" algn="l"/>
                <a:tab pos="6645833" algn="l"/>
                <a:tab pos="7112681" algn="l"/>
                <a:tab pos="7579527" algn="l"/>
                <a:tab pos="8046375" algn="l"/>
                <a:tab pos="8513222" algn="l"/>
                <a:tab pos="8980068" algn="l"/>
              </a:tabLst>
            </a:pPr>
            <a:r>
              <a:rPr lang="ru-RU" sz="2702" dirty="0"/>
              <a:t>Кому и когда приходится проверять гипотезу согласия?</a:t>
            </a:r>
          </a:p>
        </p:txBody>
      </p:sp>
      <p:sp>
        <p:nvSpPr>
          <p:cNvPr id="4" name="Полилиния 3"/>
          <p:cNvSpPr/>
          <p:nvPr/>
        </p:nvSpPr>
        <p:spPr>
          <a:xfrm>
            <a:off x="1583268" y="0"/>
            <a:ext cx="9501717" cy="1496"/>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noFill/>
          <a:ln>
            <a:noFill/>
            <a:prstDash val="solid"/>
          </a:ln>
        </p:spPr>
        <p:txBody>
          <a:bodyPr vert="horz" wrap="none" lIns="93521" tIns="48631" rIns="93521" bIns="48631" anchor="ctr" anchorCtr="0" compatLnSpc="1">
            <a:noAutofit/>
          </a:bodyPr>
          <a:lstStyle/>
          <a:p>
            <a:pPr>
              <a:spcBef>
                <a:spcPts val="0"/>
              </a:spcBef>
              <a:spcAft>
                <a:spcPts val="0"/>
              </a:spcAft>
              <a:tabLst>
                <a:tab pos="0" algn="l"/>
                <a:tab pos="466472" algn="l"/>
                <a:tab pos="933319" algn="l"/>
                <a:tab pos="1400166" algn="l"/>
                <a:tab pos="1867013" algn="l"/>
                <a:tab pos="2333860" algn="l"/>
                <a:tab pos="2800707" algn="l"/>
                <a:tab pos="3267554" algn="l"/>
                <a:tab pos="3734401" algn="l"/>
                <a:tab pos="4201247" algn="l"/>
                <a:tab pos="4668094" algn="l"/>
                <a:tab pos="5134940" algn="l"/>
                <a:tab pos="5601788" algn="l"/>
                <a:tab pos="6068635" algn="l"/>
                <a:tab pos="6535482" algn="l"/>
                <a:tab pos="7002329" algn="l"/>
                <a:tab pos="7469175" algn="l"/>
                <a:tab pos="7936022" algn="l"/>
                <a:tab pos="8402868" algn="l"/>
                <a:tab pos="8869716" algn="l"/>
                <a:tab pos="9336563" algn="l"/>
              </a:tabLst>
            </a:pPr>
            <a:endParaRPr lang="ru-RU" sz="1870">
              <a:solidFill>
                <a:srgbClr val="000000"/>
              </a:solidFill>
              <a:latin typeface="Arial" pitchFamily="2"/>
              <a:ea typeface="Arial" pitchFamily="2"/>
              <a:cs typeface="Arial" pitchFamily="2"/>
            </a:endParaRPr>
          </a:p>
        </p:txBody>
      </p:sp>
      <p:sp>
        <p:nvSpPr>
          <p:cNvPr id="5" name="Номер слайда 4"/>
          <p:cNvSpPr>
            <a:spLocks noGrp="1"/>
          </p:cNvSpPr>
          <p:nvPr>
            <p:ph type="sldNum" sz="quarter" idx="12"/>
          </p:nvPr>
        </p:nvSpPr>
        <p:spPr>
          <a:xfrm>
            <a:off x="11596505" y="6593842"/>
            <a:ext cx="736433" cy="379409"/>
          </a:xfrm>
        </p:spPr>
        <p:txBody>
          <a:bodyPr/>
          <a:lstStyle/>
          <a:p>
            <a:fld id="{952B6C0E-C4B9-4094-8E59-5B7DF00D5415}" type="slidenum">
              <a:rPr lang="ru-RU" smtClean="0">
                <a:solidFill>
                  <a:schemeClr val="tx1"/>
                </a:solidFill>
              </a:rPr>
              <a:t>9</a:t>
            </a:fld>
            <a:endParaRPr lang="ru-RU" dirty="0">
              <a:solidFill>
                <a:schemeClr val="tx1"/>
              </a:solidFill>
            </a:endParaRPr>
          </a:p>
        </p:txBody>
      </p:sp>
      <p:sp>
        <p:nvSpPr>
          <p:cNvPr id="8" name="Текст 2">
            <a:extLst>
              <a:ext uri="{FF2B5EF4-FFF2-40B4-BE49-F238E27FC236}">
                <a16:creationId xmlns:a16="http://schemas.microsoft.com/office/drawing/2014/main" id="{926D7731-DF30-4229-AFB3-836F57C77B94}"/>
              </a:ext>
            </a:extLst>
          </p:cNvPr>
          <p:cNvSpPr txBox="1">
            <a:spLocks/>
          </p:cNvSpPr>
          <p:nvPr/>
        </p:nvSpPr>
        <p:spPr>
          <a:xfrm>
            <a:off x="879809" y="3793061"/>
            <a:ext cx="11142948" cy="2245535"/>
          </a:xfrm>
          <a:prstGeom prst="rect">
            <a:avLst/>
          </a:prstGeom>
        </p:spPr>
        <p:txBody>
          <a:bodyPr vert="horz" wrap="square" lIns="91440" tIns="45720" rIns="91440" bIns="45720" rtlCol="0">
            <a:normAutofit/>
          </a:bodyPr>
          <a:lstStyle>
            <a:lvl1pPr marL="356307" indent="-356307" algn="l" defTabSz="950153" rtl="0" eaLnBrk="1" latinLnBrk="0" hangingPunct="1">
              <a:spcBef>
                <a:spcPct val="20000"/>
              </a:spcBef>
              <a:buFont typeface="Arial" panose="020B0604020202020204" pitchFamily="34" charset="0"/>
              <a:buChar char="•"/>
              <a:defRPr sz="3325" kern="1200">
                <a:solidFill>
                  <a:schemeClr val="tx1"/>
                </a:solidFill>
                <a:latin typeface="+mn-lt"/>
                <a:ea typeface="+mn-ea"/>
                <a:cs typeface="+mn-cs"/>
              </a:defRPr>
            </a:lvl1pPr>
            <a:lvl2pPr marL="771999" indent="-296923" algn="l" defTabSz="950153" rtl="0" eaLnBrk="1" latinLnBrk="0" hangingPunct="1">
              <a:spcBef>
                <a:spcPct val="20000"/>
              </a:spcBef>
              <a:buFont typeface="Arial" panose="020B0604020202020204" pitchFamily="34" charset="0"/>
              <a:buChar char="–"/>
              <a:defRPr sz="2909" kern="1200">
                <a:solidFill>
                  <a:schemeClr val="tx1"/>
                </a:solidFill>
                <a:latin typeface="+mn-lt"/>
                <a:ea typeface="+mn-ea"/>
                <a:cs typeface="+mn-cs"/>
              </a:defRPr>
            </a:lvl2pPr>
            <a:lvl3pPr marL="1187691" indent="-237538" algn="l" defTabSz="950153" rtl="0" eaLnBrk="1" latinLnBrk="0" hangingPunct="1">
              <a:spcBef>
                <a:spcPct val="20000"/>
              </a:spcBef>
              <a:buFont typeface="Arial" panose="020B0604020202020204" pitchFamily="34" charset="0"/>
              <a:buChar char="•"/>
              <a:defRPr sz="2494" kern="1200">
                <a:solidFill>
                  <a:schemeClr val="tx1"/>
                </a:solidFill>
                <a:latin typeface="+mn-lt"/>
                <a:ea typeface="+mn-ea"/>
                <a:cs typeface="+mn-cs"/>
              </a:defRPr>
            </a:lvl3pPr>
            <a:lvl4pPr marL="1662768" indent="-237538" algn="l" defTabSz="950153" rtl="0" eaLnBrk="1" latinLnBrk="0" hangingPunct="1">
              <a:spcBef>
                <a:spcPct val="20000"/>
              </a:spcBef>
              <a:buFont typeface="Arial" panose="020B0604020202020204" pitchFamily="34" charset="0"/>
              <a:buChar char="–"/>
              <a:defRPr sz="2078" kern="1200">
                <a:solidFill>
                  <a:schemeClr val="tx1"/>
                </a:solidFill>
                <a:latin typeface="+mn-lt"/>
                <a:ea typeface="+mn-ea"/>
                <a:cs typeface="+mn-cs"/>
              </a:defRPr>
            </a:lvl4pPr>
            <a:lvl5pPr marL="2137844" indent="-237538" algn="l" defTabSz="950153" rtl="0" eaLnBrk="1" latinLnBrk="0" hangingPunct="1">
              <a:spcBef>
                <a:spcPct val="20000"/>
              </a:spcBef>
              <a:buFont typeface="Arial" panose="020B0604020202020204" pitchFamily="34" charset="0"/>
              <a:buChar char="»"/>
              <a:defRPr sz="2078" kern="1200">
                <a:solidFill>
                  <a:schemeClr val="tx1"/>
                </a:solidFill>
                <a:latin typeface="+mn-lt"/>
                <a:ea typeface="+mn-ea"/>
                <a:cs typeface="+mn-cs"/>
              </a:defRPr>
            </a:lvl5pPr>
            <a:lvl6pPr marL="2612921" indent="-237538" algn="l" defTabSz="950153" rtl="0" eaLnBrk="1" latinLnBrk="0" hangingPunct="1">
              <a:spcBef>
                <a:spcPct val="20000"/>
              </a:spcBef>
              <a:buFont typeface="Arial" panose="020B0604020202020204" pitchFamily="34" charset="0"/>
              <a:buChar char="•"/>
              <a:defRPr sz="2078" kern="1200">
                <a:solidFill>
                  <a:schemeClr val="tx1"/>
                </a:solidFill>
                <a:latin typeface="+mn-lt"/>
                <a:ea typeface="+mn-ea"/>
                <a:cs typeface="+mn-cs"/>
              </a:defRPr>
            </a:lvl6pPr>
            <a:lvl7pPr marL="3087997" indent="-237538" algn="l" defTabSz="950153" rtl="0" eaLnBrk="1" latinLnBrk="0" hangingPunct="1">
              <a:spcBef>
                <a:spcPct val="20000"/>
              </a:spcBef>
              <a:buFont typeface="Arial" panose="020B0604020202020204" pitchFamily="34" charset="0"/>
              <a:buChar char="•"/>
              <a:defRPr sz="2078" kern="1200">
                <a:solidFill>
                  <a:schemeClr val="tx1"/>
                </a:solidFill>
                <a:latin typeface="+mn-lt"/>
                <a:ea typeface="+mn-ea"/>
                <a:cs typeface="+mn-cs"/>
              </a:defRPr>
            </a:lvl7pPr>
            <a:lvl8pPr marL="3563074" indent="-237538" algn="l" defTabSz="950153" rtl="0" eaLnBrk="1" latinLnBrk="0" hangingPunct="1">
              <a:spcBef>
                <a:spcPct val="20000"/>
              </a:spcBef>
              <a:buFont typeface="Arial" panose="020B0604020202020204" pitchFamily="34" charset="0"/>
              <a:buChar char="•"/>
              <a:defRPr sz="2078" kern="1200">
                <a:solidFill>
                  <a:schemeClr val="tx1"/>
                </a:solidFill>
                <a:latin typeface="+mn-lt"/>
                <a:ea typeface="+mn-ea"/>
                <a:cs typeface="+mn-cs"/>
              </a:defRPr>
            </a:lvl8pPr>
            <a:lvl9pPr marL="4038150" indent="-237538" algn="l" defTabSz="950153" rtl="0" eaLnBrk="1" latinLnBrk="0" hangingPunct="1">
              <a:spcBef>
                <a:spcPct val="20000"/>
              </a:spcBef>
              <a:buFont typeface="Arial" panose="020B0604020202020204" pitchFamily="34" charset="0"/>
              <a:buChar char="•"/>
              <a:defRPr sz="2078" kern="1200">
                <a:solidFill>
                  <a:schemeClr val="tx1"/>
                </a:solidFill>
                <a:latin typeface="+mn-lt"/>
                <a:ea typeface="+mn-ea"/>
                <a:cs typeface="+mn-cs"/>
              </a:defRPr>
            </a:lvl9pPr>
          </a:lstStyle>
          <a:p>
            <a:pPr marL="0" indent="0" fontAlgn="auto">
              <a:spcAft>
                <a:spcPts val="0"/>
              </a:spcAft>
              <a:buFont typeface="Arial" panose="020B0604020202020204" pitchFamily="34" charset="0"/>
              <a:buNone/>
            </a:pPr>
            <a:r>
              <a:rPr lang="ru-RU" sz="2200"/>
              <a:t>– рост танкистов распределен </a:t>
            </a:r>
            <a:r>
              <a:rPr lang="ru-RU" sz="2200" b="1">
                <a:hlinkClick r:id="rId3"/>
              </a:rPr>
              <a:t>нормально</a:t>
            </a:r>
            <a:r>
              <a:rPr lang="ru-RU" sz="2200"/>
              <a:t>;</a:t>
            </a:r>
            <a:endParaRPr lang="en-US" sz="2200"/>
          </a:p>
          <a:p>
            <a:pPr marL="0" indent="0" fontAlgn="auto">
              <a:spcAft>
                <a:spcPts val="0"/>
              </a:spcAft>
              <a:buFont typeface="Arial" panose="020B0604020202020204" pitchFamily="34" charset="0"/>
              <a:buNone/>
            </a:pPr>
            <a:br>
              <a:rPr lang="ru-RU" sz="2200"/>
            </a:br>
            <a:r>
              <a:rPr lang="ru-RU" sz="2200"/>
              <a:t>– </a:t>
            </a:r>
            <a:r>
              <a:rPr lang="ru-RU" sz="2200" b="1">
                <a:hlinkClick r:id="rId4"/>
              </a:rPr>
              <a:t>дисперсии</a:t>
            </a:r>
            <a:r>
              <a:rPr lang="ru-RU" sz="2200"/>
              <a:t> стрельбы двух танковых дивизий равны между собой, при этом известно*, что точность стрельбы распределена нормально.</a:t>
            </a:r>
          </a:p>
          <a:p>
            <a:pPr fontAlgn="auto">
              <a:spcAft>
                <a:spcPts val="0"/>
              </a:spcAft>
            </a:pPr>
            <a:r>
              <a:rPr lang="ru-RU" sz="2200"/>
              <a:t>В первом случае выдвигается гипотеза о законе распределения, во втором – о числовых характеристиках двух распределений, закон которых известен.</a:t>
            </a:r>
            <a:endParaRPr lang="ru-RU" sz="2200" dirty="0"/>
          </a:p>
        </p:txBody>
      </p:sp>
      <p:sp>
        <p:nvSpPr>
          <p:cNvPr id="11" name="Прямоугольник 10">
            <a:extLst>
              <a:ext uri="{FF2B5EF4-FFF2-40B4-BE49-F238E27FC236}">
                <a16:creationId xmlns:a16="http://schemas.microsoft.com/office/drawing/2014/main" id="{17AE7E81-1A4E-4C57-9666-0DFBC518732B}"/>
              </a:ext>
            </a:extLst>
          </p:cNvPr>
          <p:cNvSpPr/>
          <p:nvPr/>
        </p:nvSpPr>
        <p:spPr>
          <a:xfrm>
            <a:off x="881258" y="6321466"/>
            <a:ext cx="9056394" cy="369332"/>
          </a:xfrm>
          <a:prstGeom prst="rect">
            <a:avLst/>
          </a:prstGeom>
        </p:spPr>
        <p:txBody>
          <a:bodyPr wrap="square">
            <a:spAutoFit/>
          </a:bodyPr>
          <a:lstStyle/>
          <a:p>
            <a:r>
              <a:rPr lang="ru-RU" sz="1800" i="1" dirty="0"/>
              <a:t>* из многочисленных ранее проведённых исследований.</a:t>
            </a:r>
            <a:endParaRPr lang="ru-RU" sz="1800" dirty="0"/>
          </a:p>
        </p:txBody>
      </p:sp>
    </p:spTree>
    <p:extLst>
      <p:ext uri="{BB962C8B-B14F-4D97-AF65-F5344CB8AC3E}">
        <p14:creationId xmlns:p14="http://schemas.microsoft.com/office/powerpoint/2010/main" val="41521463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AutoShape 4"/>
          <p:cNvSpPr>
            <a:spLocks noChangeArrowheads="1"/>
          </p:cNvSpPr>
          <p:nvPr/>
        </p:nvSpPr>
        <p:spPr bwMode="auto">
          <a:xfrm>
            <a:off x="573485" y="322263"/>
            <a:ext cx="11665295" cy="6553200"/>
          </a:xfrm>
          <a:prstGeom prst="roundRect">
            <a:avLst>
              <a:gd name="adj" fmla="val 16667"/>
            </a:avLst>
          </a:prstGeom>
          <a:solidFill>
            <a:schemeClr val="bg1">
              <a:alpha val="50195"/>
            </a:scheme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10" name="AutoShape 5"/>
          <p:cNvSpPr>
            <a:spLocks noChangeArrowheads="1"/>
          </p:cNvSpPr>
          <p:nvPr/>
        </p:nvSpPr>
        <p:spPr bwMode="auto">
          <a:xfrm>
            <a:off x="2373685" y="322264"/>
            <a:ext cx="8064128" cy="720601"/>
          </a:xfrm>
          <a:prstGeom prst="roundRect">
            <a:avLst>
              <a:gd name="adj" fmla="val 37469"/>
            </a:avLst>
          </a:prstGeom>
          <a:solidFill>
            <a:srgbClr val="FFFFFF">
              <a:alpha val="78822"/>
            </a:srgb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2" name="Заголовок 1"/>
          <p:cNvSpPr txBox="1">
            <a:spLocks noGrp="1"/>
          </p:cNvSpPr>
          <p:nvPr>
            <p:ph type="title" idx="4294967295"/>
          </p:nvPr>
        </p:nvSpPr>
        <p:spPr>
          <a:xfrm>
            <a:off x="3237781" y="410035"/>
            <a:ext cx="5588718" cy="754063"/>
          </a:xfrm>
          <a:prstGeom prst="rect">
            <a:avLst/>
          </a:prstGeom>
        </p:spPr>
        <p:txBody>
          <a:bodyPr wrap="square">
            <a:noAutofit/>
          </a:bodyPr>
          <a:lstStyle/>
          <a:p>
            <a:pPr lvl="0"/>
            <a:r>
              <a:rPr lang="ru-RU" sz="3949" dirty="0"/>
              <a:t>1.  Гипотеза согласия</a:t>
            </a:r>
          </a:p>
        </p:txBody>
      </p:sp>
      <p:sp>
        <p:nvSpPr>
          <p:cNvPr id="3" name="Текст 2"/>
          <p:cNvSpPr txBox="1">
            <a:spLocks noGrp="1"/>
          </p:cNvSpPr>
          <p:nvPr>
            <p:ph type="body" idx="4294967295"/>
          </p:nvPr>
        </p:nvSpPr>
        <p:spPr>
          <a:xfrm>
            <a:off x="573485" y="1495332"/>
            <a:ext cx="11305256" cy="3868012"/>
          </a:xfrm>
          <a:prstGeom prst="rect">
            <a:avLst/>
          </a:prstGeom>
        </p:spPr>
        <p:txBody>
          <a:bodyPr wrap="square"/>
          <a:lstStyle/>
          <a:p>
            <a:r>
              <a:rPr lang="ru-RU" sz="2200" dirty="0"/>
              <a:t>Откуда взялись эти гипотезы? В первом случае была проведена </a:t>
            </a:r>
            <a:r>
              <a:rPr lang="ru-RU" sz="2200" b="1" dirty="0"/>
              <a:t>выборка </a:t>
            </a:r>
            <a:r>
              <a:rPr lang="ru-RU" sz="2200" dirty="0"/>
              <a:t>танкистов (например, 100 человек) и в результате её исследования появилось обоснованное предположение, что рост ВСЕХ танкистов распределён нормально. Во втором случае исследовались </a:t>
            </a:r>
            <a:r>
              <a:rPr lang="ru-RU" sz="2200" b="1" dirty="0"/>
              <a:t>выборочные </a:t>
            </a:r>
            <a:r>
              <a:rPr lang="ru-RU" sz="2200" dirty="0"/>
              <a:t>данные по точности стрельбы двух дивизий, в результате чего возник интерес проверить – а </a:t>
            </a:r>
            <a:r>
              <a:rPr lang="ru-RU" sz="2200" b="1" dirty="0"/>
              <a:t>одинакова ли генеральная результативность</a:t>
            </a:r>
            <a:r>
              <a:rPr lang="ru-RU" sz="2200" dirty="0"/>
              <a:t>, или же какая-то дивизия стреляет точнее?</a:t>
            </a:r>
          </a:p>
          <a:p>
            <a:pPr marL="0" indent="0">
              <a:buNone/>
            </a:pPr>
            <a:endParaRPr lang="ru-RU" sz="2200" dirty="0"/>
          </a:p>
          <a:p>
            <a:r>
              <a:rPr lang="ru-RU" sz="2200" dirty="0"/>
              <a:t>В обеих гипотезах речь идёт о генеральных совокупностях, и выдвигаются эти гипотезы на основании анализа </a:t>
            </a:r>
            <a:r>
              <a:rPr lang="ru-RU" sz="2200" b="1" dirty="0"/>
              <a:t>выборочных</a:t>
            </a:r>
            <a:r>
              <a:rPr lang="ru-RU" sz="2200" dirty="0"/>
              <a:t> данных. </a:t>
            </a:r>
          </a:p>
        </p:txBody>
      </p:sp>
      <p:sp>
        <p:nvSpPr>
          <p:cNvPr id="4" name="Полилиния 3"/>
          <p:cNvSpPr/>
          <p:nvPr/>
        </p:nvSpPr>
        <p:spPr>
          <a:xfrm>
            <a:off x="1583268" y="0"/>
            <a:ext cx="9501717" cy="1496"/>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noFill/>
          <a:ln>
            <a:noFill/>
            <a:prstDash val="solid"/>
          </a:ln>
        </p:spPr>
        <p:txBody>
          <a:bodyPr vert="horz" wrap="none" lIns="93521" tIns="48631" rIns="93521" bIns="48631" anchor="ctr" anchorCtr="0" compatLnSpc="1">
            <a:noAutofit/>
          </a:bodyPr>
          <a:lstStyle/>
          <a:p>
            <a:pPr>
              <a:spcBef>
                <a:spcPts val="0"/>
              </a:spcBef>
              <a:spcAft>
                <a:spcPts val="0"/>
              </a:spcAft>
              <a:tabLst>
                <a:tab pos="0" algn="l"/>
                <a:tab pos="466472" algn="l"/>
                <a:tab pos="933319" algn="l"/>
                <a:tab pos="1400166" algn="l"/>
                <a:tab pos="1867013" algn="l"/>
                <a:tab pos="2333860" algn="l"/>
                <a:tab pos="2800707" algn="l"/>
                <a:tab pos="3267554" algn="l"/>
                <a:tab pos="3734401" algn="l"/>
                <a:tab pos="4201247" algn="l"/>
                <a:tab pos="4668094" algn="l"/>
                <a:tab pos="5134940" algn="l"/>
                <a:tab pos="5601788" algn="l"/>
                <a:tab pos="6068635" algn="l"/>
                <a:tab pos="6535482" algn="l"/>
                <a:tab pos="7002329" algn="l"/>
                <a:tab pos="7469175" algn="l"/>
                <a:tab pos="7936022" algn="l"/>
                <a:tab pos="8402868" algn="l"/>
                <a:tab pos="8869716" algn="l"/>
                <a:tab pos="9336563" algn="l"/>
              </a:tabLst>
            </a:pPr>
            <a:endParaRPr lang="ru-RU" sz="1870">
              <a:solidFill>
                <a:srgbClr val="000000"/>
              </a:solidFill>
              <a:latin typeface="Arial" pitchFamily="2"/>
              <a:ea typeface="Arial" pitchFamily="2"/>
              <a:cs typeface="Arial" pitchFamily="2"/>
            </a:endParaRPr>
          </a:p>
        </p:txBody>
      </p:sp>
      <p:sp>
        <p:nvSpPr>
          <p:cNvPr id="5" name="Номер слайда 4"/>
          <p:cNvSpPr>
            <a:spLocks noGrp="1"/>
          </p:cNvSpPr>
          <p:nvPr>
            <p:ph type="sldNum" sz="quarter" idx="12"/>
          </p:nvPr>
        </p:nvSpPr>
        <p:spPr>
          <a:xfrm>
            <a:off x="11474520" y="6550966"/>
            <a:ext cx="808441" cy="379409"/>
          </a:xfrm>
        </p:spPr>
        <p:txBody>
          <a:bodyPr/>
          <a:lstStyle/>
          <a:p>
            <a:fld id="{952B6C0E-C4B9-4094-8E59-5B7DF00D5415}" type="slidenum">
              <a:rPr lang="ru-RU" smtClean="0">
                <a:solidFill>
                  <a:schemeClr val="tx1"/>
                </a:solidFill>
              </a:rPr>
              <a:t>10</a:t>
            </a:fld>
            <a:endParaRPr lang="ru-RU">
              <a:solidFill>
                <a:schemeClr val="tx1"/>
              </a:solidFill>
            </a:endParaRPr>
          </a:p>
        </p:txBody>
      </p:sp>
    </p:spTree>
    <p:extLst>
      <p:ext uri="{BB962C8B-B14F-4D97-AF65-F5344CB8AC3E}">
        <p14:creationId xmlns:p14="http://schemas.microsoft.com/office/powerpoint/2010/main" val="21863097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4"/>
          <p:cNvSpPr>
            <a:spLocks noChangeArrowheads="1"/>
          </p:cNvSpPr>
          <p:nvPr/>
        </p:nvSpPr>
        <p:spPr bwMode="auto">
          <a:xfrm>
            <a:off x="1438275" y="322263"/>
            <a:ext cx="10872513" cy="6553200"/>
          </a:xfrm>
          <a:prstGeom prst="roundRect">
            <a:avLst>
              <a:gd name="adj" fmla="val 16667"/>
            </a:avLst>
          </a:prstGeom>
          <a:solidFill>
            <a:schemeClr val="bg1">
              <a:alpha val="50195"/>
            </a:scheme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6" name="AutoShape 5"/>
          <p:cNvSpPr>
            <a:spLocks noChangeArrowheads="1"/>
          </p:cNvSpPr>
          <p:nvPr/>
        </p:nvSpPr>
        <p:spPr bwMode="auto">
          <a:xfrm>
            <a:off x="2373685" y="322264"/>
            <a:ext cx="8064128" cy="720601"/>
          </a:xfrm>
          <a:prstGeom prst="roundRect">
            <a:avLst>
              <a:gd name="adj" fmla="val 37469"/>
            </a:avLst>
          </a:prstGeom>
          <a:solidFill>
            <a:srgbClr val="FFFFFF">
              <a:alpha val="78822"/>
            </a:srgb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2" name="Заголовок 1"/>
          <p:cNvSpPr txBox="1">
            <a:spLocks noGrp="1"/>
          </p:cNvSpPr>
          <p:nvPr>
            <p:ph type="title" idx="4294967295"/>
          </p:nvPr>
        </p:nvSpPr>
        <p:spPr>
          <a:xfrm>
            <a:off x="1195389" y="288926"/>
            <a:ext cx="8550275" cy="754063"/>
          </a:xfrm>
          <a:prstGeom prst="rect">
            <a:avLst/>
          </a:prstGeom>
        </p:spPr>
        <p:txBody>
          <a:bodyPr wrap="square">
            <a:noAutofit/>
          </a:bodyPr>
          <a:lstStyle/>
          <a:p>
            <a:pPr lvl="0"/>
            <a:r>
              <a:rPr lang="ru-RU" sz="4400" dirty="0"/>
              <a:t>Пример гипотезы согласия 1</a:t>
            </a:r>
          </a:p>
        </p:txBody>
      </p:sp>
      <p:sp>
        <p:nvSpPr>
          <p:cNvPr id="3" name="Текст 2"/>
          <p:cNvSpPr txBox="1">
            <a:spLocks noGrp="1"/>
          </p:cNvSpPr>
          <p:nvPr>
            <p:ph type="body" idx="4294967295"/>
          </p:nvPr>
        </p:nvSpPr>
        <p:spPr>
          <a:xfrm>
            <a:off x="1862213" y="1526321"/>
            <a:ext cx="8550275" cy="652481"/>
          </a:xfrm>
          <a:prstGeom prst="rect">
            <a:avLst/>
          </a:prstGeom>
        </p:spPr>
        <p:txBody>
          <a:bodyPr wrap="square"/>
          <a:lstStyle/>
          <a:p>
            <a:pPr marL="0" indent="0">
              <a:buClr>
                <a:srgbClr val="CC9900"/>
              </a:buClr>
              <a:buSzPct val="65000"/>
              <a:buFont typeface="Wingdings" pitchFamily="2"/>
              <a:buChar char=""/>
              <a:tabLst>
                <a:tab pos="0" algn="l"/>
                <a:tab pos="110352" algn="l"/>
                <a:tab pos="577199" algn="l"/>
                <a:tab pos="1044046" algn="l"/>
                <a:tab pos="1510893" algn="l"/>
                <a:tab pos="1977740" algn="l"/>
                <a:tab pos="2444587" algn="l"/>
                <a:tab pos="2911434" algn="l"/>
                <a:tab pos="3378279" algn="l"/>
                <a:tab pos="3845127" algn="l"/>
                <a:tab pos="4311973" algn="l"/>
                <a:tab pos="4778447" algn="l"/>
                <a:tab pos="5245294" algn="l"/>
                <a:tab pos="5712141" algn="l"/>
                <a:tab pos="6178987" algn="l"/>
                <a:tab pos="6645833" algn="l"/>
                <a:tab pos="7112681" algn="l"/>
                <a:tab pos="7579527" algn="l"/>
                <a:tab pos="8046375" algn="l"/>
                <a:tab pos="8513222" algn="l"/>
                <a:tab pos="8980068" algn="l"/>
              </a:tabLst>
            </a:pPr>
            <a:r>
              <a:rPr lang="en-US" sz="2800" dirty="0"/>
              <a:t>  </a:t>
            </a:r>
            <a:r>
              <a:rPr lang="ru-RU" sz="2800" dirty="0"/>
              <a:t>Гипотеза о </a:t>
            </a:r>
            <a:r>
              <a:rPr lang="ru-RU" sz="2800" b="1" i="1" dirty="0">
                <a:solidFill>
                  <a:srgbClr val="0070C0"/>
                </a:solidFill>
              </a:rPr>
              <a:t>нормальности</a:t>
            </a:r>
            <a:r>
              <a:rPr lang="en-US" sz="2800" b="1" i="1" dirty="0">
                <a:solidFill>
                  <a:srgbClr val="0070C0"/>
                </a:solidFill>
              </a:rPr>
              <a:t> </a:t>
            </a:r>
            <a:r>
              <a:rPr lang="ru-RU" sz="2800" b="1" i="1" dirty="0">
                <a:solidFill>
                  <a:srgbClr val="0070C0"/>
                </a:solidFill>
              </a:rPr>
              <a:t>распределения</a:t>
            </a:r>
          </a:p>
          <a:p>
            <a:pPr marL="0" indent="0">
              <a:buNone/>
              <a:tabLst>
                <a:tab pos="354624" algn="l"/>
                <a:tab pos="464976" algn="l"/>
                <a:tab pos="931823" algn="l"/>
                <a:tab pos="1398670" algn="l"/>
                <a:tab pos="1865517" algn="l"/>
                <a:tab pos="2332364" algn="l"/>
                <a:tab pos="2799211" algn="l"/>
                <a:tab pos="3266058" algn="l"/>
                <a:tab pos="3732903" algn="l"/>
                <a:tab pos="4199751" algn="l"/>
                <a:tab pos="4666597" algn="l"/>
                <a:tab pos="5133071" algn="l"/>
                <a:tab pos="5599918" algn="l"/>
                <a:tab pos="6066765" algn="l"/>
                <a:tab pos="6533611" algn="l"/>
                <a:tab pos="7000457" algn="l"/>
                <a:tab pos="7467305" algn="l"/>
                <a:tab pos="7934151" algn="l"/>
                <a:tab pos="8400999" algn="l"/>
                <a:tab pos="8867846" algn="l"/>
                <a:tab pos="9334693" algn="l"/>
              </a:tabLst>
            </a:pPr>
            <a:endParaRPr lang="ru-RU" sz="2800" dirty="0"/>
          </a:p>
          <a:p>
            <a:pPr marL="354624" indent="-354624">
              <a:tabLst>
                <a:tab pos="354624" algn="l"/>
                <a:tab pos="464976" algn="l"/>
                <a:tab pos="931823" algn="l"/>
                <a:tab pos="1398670" algn="l"/>
                <a:tab pos="1865517" algn="l"/>
                <a:tab pos="2332364" algn="l"/>
                <a:tab pos="2799211" algn="l"/>
                <a:tab pos="3266058" algn="l"/>
                <a:tab pos="3732903" algn="l"/>
                <a:tab pos="4199751" algn="l"/>
                <a:tab pos="4666597" algn="l"/>
                <a:tab pos="5133071" algn="l"/>
                <a:tab pos="5599918" algn="l"/>
                <a:tab pos="6066765" algn="l"/>
                <a:tab pos="6533611" algn="l"/>
                <a:tab pos="7000457" algn="l"/>
                <a:tab pos="7467305" algn="l"/>
                <a:tab pos="7934151" algn="l"/>
                <a:tab pos="8400999" algn="l"/>
                <a:tab pos="8867846" algn="l"/>
                <a:tab pos="9334693" algn="l"/>
              </a:tabLst>
            </a:pPr>
            <a:endParaRPr lang="ru-RU" sz="2800" dirty="0"/>
          </a:p>
          <a:p>
            <a:pPr marL="354624" indent="-354624">
              <a:tabLst>
                <a:tab pos="354624" algn="l"/>
                <a:tab pos="464976" algn="l"/>
                <a:tab pos="931823" algn="l"/>
                <a:tab pos="1398670" algn="l"/>
                <a:tab pos="1865517" algn="l"/>
                <a:tab pos="2332364" algn="l"/>
                <a:tab pos="2799211" algn="l"/>
                <a:tab pos="3266058" algn="l"/>
                <a:tab pos="3732903" algn="l"/>
                <a:tab pos="4199751" algn="l"/>
                <a:tab pos="4666597" algn="l"/>
                <a:tab pos="5133071" algn="l"/>
                <a:tab pos="5599918" algn="l"/>
                <a:tab pos="6066765" algn="l"/>
                <a:tab pos="6533611" algn="l"/>
                <a:tab pos="7000457" algn="l"/>
                <a:tab pos="7467305" algn="l"/>
                <a:tab pos="7934151" algn="l"/>
                <a:tab pos="8400999" algn="l"/>
                <a:tab pos="8867846" algn="l"/>
                <a:tab pos="9334693" algn="l"/>
              </a:tabLst>
            </a:pPr>
            <a:endParaRPr lang="ru-RU" sz="2800" dirty="0"/>
          </a:p>
          <a:p>
            <a:pPr marL="354624" indent="-354624">
              <a:tabLst>
                <a:tab pos="354624" algn="l"/>
                <a:tab pos="464976" algn="l"/>
                <a:tab pos="931823" algn="l"/>
                <a:tab pos="1398670" algn="l"/>
                <a:tab pos="1865517" algn="l"/>
                <a:tab pos="2332364" algn="l"/>
                <a:tab pos="2799211" algn="l"/>
                <a:tab pos="3266058" algn="l"/>
                <a:tab pos="3732903" algn="l"/>
                <a:tab pos="4199751" algn="l"/>
                <a:tab pos="4666597" algn="l"/>
                <a:tab pos="5133071" algn="l"/>
                <a:tab pos="5599918" algn="l"/>
                <a:tab pos="6066765" algn="l"/>
                <a:tab pos="6533611" algn="l"/>
                <a:tab pos="7000457" algn="l"/>
                <a:tab pos="7467305" algn="l"/>
                <a:tab pos="7934151" algn="l"/>
                <a:tab pos="8400999" algn="l"/>
                <a:tab pos="8867846" algn="l"/>
                <a:tab pos="9334693" algn="l"/>
              </a:tabLst>
            </a:pPr>
            <a:endParaRPr lang="ru-RU" sz="2800" dirty="0"/>
          </a:p>
          <a:p>
            <a:pPr marL="354624" indent="-354624">
              <a:tabLst>
                <a:tab pos="354624" algn="l"/>
                <a:tab pos="464976" algn="l"/>
                <a:tab pos="931823" algn="l"/>
                <a:tab pos="1398670" algn="l"/>
                <a:tab pos="1865517" algn="l"/>
                <a:tab pos="2332364" algn="l"/>
                <a:tab pos="2799211" algn="l"/>
                <a:tab pos="3266058" algn="l"/>
                <a:tab pos="3732903" algn="l"/>
                <a:tab pos="4199751" algn="l"/>
                <a:tab pos="4666597" algn="l"/>
                <a:tab pos="5133071" algn="l"/>
                <a:tab pos="5599918" algn="l"/>
                <a:tab pos="6066765" algn="l"/>
                <a:tab pos="6533611" algn="l"/>
                <a:tab pos="7000457" algn="l"/>
                <a:tab pos="7467305" algn="l"/>
                <a:tab pos="7934151" algn="l"/>
                <a:tab pos="8400999" algn="l"/>
                <a:tab pos="8867846" algn="l"/>
                <a:tab pos="9334693" algn="l"/>
              </a:tabLst>
            </a:pPr>
            <a:endParaRPr lang="ru-RU" sz="2800" dirty="0"/>
          </a:p>
          <a:p>
            <a:pPr marL="354624" indent="-354624">
              <a:tabLst>
                <a:tab pos="354624" algn="l"/>
                <a:tab pos="464976" algn="l"/>
                <a:tab pos="931823" algn="l"/>
                <a:tab pos="1398670" algn="l"/>
                <a:tab pos="1865517" algn="l"/>
                <a:tab pos="2332364" algn="l"/>
                <a:tab pos="2799211" algn="l"/>
                <a:tab pos="3266058" algn="l"/>
                <a:tab pos="3732903" algn="l"/>
                <a:tab pos="4199751" algn="l"/>
                <a:tab pos="4666597" algn="l"/>
                <a:tab pos="5133071" algn="l"/>
                <a:tab pos="5599918" algn="l"/>
                <a:tab pos="6066765" algn="l"/>
                <a:tab pos="6533611" algn="l"/>
                <a:tab pos="7000457" algn="l"/>
                <a:tab pos="7467305" algn="l"/>
                <a:tab pos="7934151" algn="l"/>
                <a:tab pos="8400999" algn="l"/>
                <a:tab pos="8867846" algn="l"/>
                <a:tab pos="9334693" algn="l"/>
              </a:tabLst>
            </a:pPr>
            <a:endParaRPr lang="ru-RU" sz="2800" dirty="0"/>
          </a:p>
        </p:txBody>
      </p:sp>
      <p:sp>
        <p:nvSpPr>
          <p:cNvPr id="8" name="Текст 2"/>
          <p:cNvSpPr txBox="1">
            <a:spLocks/>
          </p:cNvSpPr>
          <p:nvPr/>
        </p:nvSpPr>
        <p:spPr>
          <a:xfrm>
            <a:off x="1077542" y="3743964"/>
            <a:ext cx="10717476" cy="2640904"/>
          </a:xfrm>
          <a:prstGeom prst="rect">
            <a:avLst/>
          </a:prstGeom>
        </p:spPr>
        <p:txBody>
          <a:bodyPr wrap="square"/>
          <a:lstStyle>
            <a:lvl1pPr marL="373063" indent="-373063" algn="l" defTabSz="993775" rtl="0" fontAlgn="base">
              <a:spcBef>
                <a:spcPct val="20000"/>
              </a:spcBef>
              <a:spcAft>
                <a:spcPct val="0"/>
              </a:spcAft>
              <a:buChar char="•"/>
              <a:defRPr sz="3500" kern="1200">
                <a:solidFill>
                  <a:schemeClr val="tx1"/>
                </a:solidFill>
                <a:latin typeface="+mn-lt"/>
                <a:ea typeface="+mn-ea"/>
                <a:cs typeface="+mn-cs"/>
              </a:defRPr>
            </a:lvl1pPr>
            <a:lvl2pPr marL="808038" indent="-311150" algn="l" defTabSz="993775" rtl="0" fontAlgn="base">
              <a:spcBef>
                <a:spcPct val="20000"/>
              </a:spcBef>
              <a:spcAft>
                <a:spcPct val="0"/>
              </a:spcAft>
              <a:buChar char="–"/>
              <a:defRPr sz="3000" kern="1200">
                <a:solidFill>
                  <a:schemeClr val="tx1"/>
                </a:solidFill>
                <a:latin typeface="+mn-lt"/>
                <a:ea typeface="+mn-ea"/>
                <a:cs typeface="+mn-cs"/>
              </a:defRPr>
            </a:lvl2pPr>
            <a:lvl3pPr marL="1243013" indent="-249238" algn="l" defTabSz="993775" rtl="0" fontAlgn="base">
              <a:spcBef>
                <a:spcPct val="20000"/>
              </a:spcBef>
              <a:spcAft>
                <a:spcPct val="0"/>
              </a:spcAft>
              <a:buChar char="•"/>
              <a:defRPr sz="2600" kern="1200">
                <a:solidFill>
                  <a:schemeClr val="tx1"/>
                </a:solidFill>
                <a:latin typeface="+mn-lt"/>
                <a:ea typeface="+mn-ea"/>
                <a:cs typeface="+mn-cs"/>
              </a:defRPr>
            </a:lvl3pPr>
            <a:lvl4pPr marL="1739900" indent="-247650" algn="l" defTabSz="993775" rtl="0" fontAlgn="base">
              <a:spcBef>
                <a:spcPct val="20000"/>
              </a:spcBef>
              <a:spcAft>
                <a:spcPct val="0"/>
              </a:spcAft>
              <a:buChar char="–"/>
              <a:defRPr sz="2200" kern="1200">
                <a:solidFill>
                  <a:schemeClr val="tx1"/>
                </a:solidFill>
                <a:latin typeface="+mn-lt"/>
                <a:ea typeface="+mn-ea"/>
                <a:cs typeface="+mn-cs"/>
              </a:defRPr>
            </a:lvl4pPr>
            <a:lvl5pPr marL="2236788" indent="-247650" algn="l" defTabSz="993775" rtl="0" fontAlgn="base">
              <a:spcBef>
                <a:spcPct val="20000"/>
              </a:spcBef>
              <a:spcAft>
                <a:spcPct val="0"/>
              </a:spcAft>
              <a:buChar char="»"/>
              <a:defRPr sz="2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90000"/>
              </a:lnSpc>
              <a:buClr>
                <a:srgbClr val="CC9900"/>
              </a:buClr>
              <a:buSzPct val="65000"/>
              <a:buNone/>
              <a:tabLst>
                <a:tab pos="0" algn="l"/>
                <a:tab pos="110352" algn="l"/>
                <a:tab pos="577199" algn="l"/>
                <a:tab pos="1044046" algn="l"/>
                <a:tab pos="1510893" algn="l"/>
                <a:tab pos="1977740" algn="l"/>
                <a:tab pos="2444587" algn="l"/>
                <a:tab pos="2911434" algn="l"/>
                <a:tab pos="3378279" algn="l"/>
                <a:tab pos="3845127" algn="l"/>
                <a:tab pos="4311973" algn="l"/>
                <a:tab pos="4778447" algn="l"/>
                <a:tab pos="5245294" algn="l"/>
                <a:tab pos="5712141" algn="l"/>
                <a:tab pos="6178987" algn="l"/>
                <a:tab pos="6645833" algn="l"/>
                <a:tab pos="7112681" algn="l"/>
                <a:tab pos="7579527" algn="l"/>
                <a:tab pos="8046375" algn="l"/>
                <a:tab pos="8513222" algn="l"/>
                <a:tab pos="8980068" algn="l"/>
              </a:tabLst>
            </a:pPr>
            <a:r>
              <a:rPr lang="ru-RU" sz="2400" dirty="0"/>
              <a:t>  </a:t>
            </a:r>
            <a:r>
              <a:rPr lang="ru-RU" sz="2400" b="1" dirty="0"/>
              <a:t>Когда распределение нормальное</a:t>
            </a:r>
            <a:r>
              <a:rPr lang="ru-RU" sz="2400" dirty="0"/>
              <a:t>, экономим деньги: если</a:t>
            </a:r>
          </a:p>
          <a:p>
            <a:pPr marL="0" indent="0">
              <a:lnSpc>
                <a:spcPct val="90000"/>
              </a:lnSpc>
              <a:buClr>
                <a:srgbClr val="CC9900"/>
              </a:buClr>
              <a:buSzPct val="65000"/>
              <a:buNone/>
              <a:tabLst>
                <a:tab pos="0" algn="l"/>
                <a:tab pos="110352" algn="l"/>
                <a:tab pos="577199" algn="l"/>
                <a:tab pos="1044046" algn="l"/>
                <a:tab pos="1510893" algn="l"/>
                <a:tab pos="1977740" algn="l"/>
                <a:tab pos="2444587" algn="l"/>
                <a:tab pos="2911434" algn="l"/>
                <a:tab pos="3378279" algn="l"/>
                <a:tab pos="3845127" algn="l"/>
                <a:tab pos="4311973" algn="l"/>
                <a:tab pos="4778447" algn="l"/>
                <a:tab pos="5245294" algn="l"/>
                <a:tab pos="5712141" algn="l"/>
                <a:tab pos="6178987" algn="l"/>
                <a:tab pos="6645833" algn="l"/>
                <a:tab pos="7112681" algn="l"/>
                <a:tab pos="7579527" algn="l"/>
                <a:tab pos="8046375" algn="l"/>
                <a:tab pos="8513222" algn="l"/>
                <a:tab pos="8980068" algn="l"/>
              </a:tabLst>
            </a:pPr>
            <a:r>
              <a:rPr lang="ru-RU" sz="2400" dirty="0"/>
              <a:t> </a:t>
            </a:r>
            <a:r>
              <a:rPr lang="en-US" sz="2400" dirty="0"/>
              <a:t>a</a:t>
            </a:r>
            <a:r>
              <a:rPr lang="ru-RU" sz="2400" dirty="0"/>
              <a:t>) распределение можно считать нормальным и  </a:t>
            </a:r>
          </a:p>
          <a:p>
            <a:pPr marL="0" indent="0">
              <a:lnSpc>
                <a:spcPct val="90000"/>
              </a:lnSpc>
              <a:buClr>
                <a:srgbClr val="CC9900"/>
              </a:buClr>
              <a:buSzPct val="65000"/>
              <a:buNone/>
              <a:tabLst>
                <a:tab pos="0" algn="l"/>
                <a:tab pos="110352" algn="l"/>
                <a:tab pos="577199" algn="l"/>
                <a:tab pos="1044046" algn="l"/>
                <a:tab pos="1510893" algn="l"/>
                <a:tab pos="1977740" algn="l"/>
                <a:tab pos="2444587" algn="l"/>
                <a:tab pos="2911434" algn="l"/>
                <a:tab pos="3378279" algn="l"/>
                <a:tab pos="3845127" algn="l"/>
                <a:tab pos="4311973" algn="l"/>
                <a:tab pos="4778447" algn="l"/>
                <a:tab pos="5245294" algn="l"/>
                <a:tab pos="5712141" algn="l"/>
                <a:tab pos="6178987" algn="l"/>
                <a:tab pos="6645833" algn="l"/>
                <a:tab pos="7112681" algn="l"/>
                <a:tab pos="7579527" algn="l"/>
                <a:tab pos="8046375" algn="l"/>
                <a:tab pos="8513222" algn="l"/>
                <a:tab pos="8980068" algn="l"/>
              </a:tabLst>
            </a:pPr>
            <a:r>
              <a:rPr lang="ru-RU" sz="2400" dirty="0"/>
              <a:t> б) задана необходимая погрешность результата,</a:t>
            </a:r>
          </a:p>
          <a:p>
            <a:pPr marL="0" indent="0">
              <a:lnSpc>
                <a:spcPct val="90000"/>
              </a:lnSpc>
              <a:buClr>
                <a:srgbClr val="CC9900"/>
              </a:buClr>
              <a:buSzPct val="65000"/>
              <a:buNone/>
              <a:tabLst>
                <a:tab pos="0" algn="l"/>
                <a:tab pos="110352" algn="l"/>
                <a:tab pos="577199" algn="l"/>
                <a:tab pos="1044046" algn="l"/>
                <a:tab pos="1510893" algn="l"/>
                <a:tab pos="1977740" algn="l"/>
                <a:tab pos="2444587" algn="l"/>
                <a:tab pos="2911434" algn="l"/>
                <a:tab pos="3378279" algn="l"/>
                <a:tab pos="3845127" algn="l"/>
                <a:tab pos="4311973" algn="l"/>
                <a:tab pos="4778447" algn="l"/>
                <a:tab pos="5245294" algn="l"/>
                <a:tab pos="5712141" algn="l"/>
                <a:tab pos="6178987" algn="l"/>
                <a:tab pos="6645833" algn="l"/>
                <a:tab pos="7112681" algn="l"/>
                <a:tab pos="7579527" algn="l"/>
                <a:tab pos="8046375" algn="l"/>
                <a:tab pos="8513222" algn="l"/>
                <a:tab pos="8980068" algn="l"/>
              </a:tabLst>
            </a:pPr>
            <a:r>
              <a:rPr lang="ru-RU" sz="2400" dirty="0"/>
              <a:t>   то </a:t>
            </a:r>
            <a:r>
              <a:rPr lang="ru-RU" sz="2400" b="1" dirty="0"/>
              <a:t>при проведении анализа можно обойтись меньшим числом наблюдений</a:t>
            </a:r>
            <a:r>
              <a:rPr lang="ru-RU" sz="2400" dirty="0"/>
              <a:t>.</a:t>
            </a:r>
          </a:p>
          <a:p>
            <a:pPr marL="269875" indent="0">
              <a:lnSpc>
                <a:spcPct val="90000"/>
              </a:lnSpc>
              <a:buClr>
                <a:srgbClr val="CC9900"/>
              </a:buClr>
              <a:buSzPct val="65000"/>
              <a:buNone/>
            </a:pPr>
            <a:r>
              <a:rPr lang="ru-RU" sz="2400" dirty="0"/>
              <a:t>Например, опросить меньше покупателей в десятки и даже сотни раз, чтобы добиться той же точности.</a:t>
            </a:r>
          </a:p>
        </p:txBody>
      </p:sp>
      <p:sp>
        <p:nvSpPr>
          <p:cNvPr id="9" name="Номер слайда 8"/>
          <p:cNvSpPr>
            <a:spLocks noGrp="1"/>
          </p:cNvSpPr>
          <p:nvPr>
            <p:ph type="sldNum" sz="quarter" idx="12"/>
          </p:nvPr>
        </p:nvSpPr>
        <p:spPr>
          <a:xfrm>
            <a:off x="11354793" y="6471241"/>
            <a:ext cx="880449" cy="379409"/>
          </a:xfrm>
        </p:spPr>
        <p:txBody>
          <a:bodyPr/>
          <a:lstStyle/>
          <a:p>
            <a:fld id="{952B6C0E-C4B9-4094-8E59-5B7DF00D5415}" type="slidenum">
              <a:rPr lang="ru-RU" smtClean="0">
                <a:solidFill>
                  <a:schemeClr val="tx1"/>
                </a:solidFill>
              </a:rPr>
              <a:t>11</a:t>
            </a:fld>
            <a:endParaRPr lang="ru-RU" dirty="0">
              <a:solidFill>
                <a:schemeClr val="tx1"/>
              </a:solidFill>
            </a:endParaRPr>
          </a:p>
        </p:txBody>
      </p:sp>
      <p:pic>
        <p:nvPicPr>
          <p:cNvPr id="10" name="Рисунок 9">
            <a:extLst>
              <a:ext uri="{FF2B5EF4-FFF2-40B4-BE49-F238E27FC236}">
                <a16:creationId xmlns:a16="http://schemas.microsoft.com/office/drawing/2014/main" id="{E6759673-CC47-4678-93C9-59D319B68C01}"/>
              </a:ext>
            </a:extLst>
          </p:cNvPr>
          <p:cNvPicPr>
            <a:picLocks noChangeAspect="1"/>
          </p:cNvPicPr>
          <p:nvPr/>
        </p:nvPicPr>
        <p:blipFill>
          <a:blip r:embed="rId3"/>
          <a:stretch>
            <a:fillRect/>
          </a:stretch>
        </p:blipFill>
        <p:spPr>
          <a:xfrm>
            <a:off x="3669829" y="2234095"/>
            <a:ext cx="4607831" cy="1148229"/>
          </a:xfrm>
          <a:prstGeom prst="rect">
            <a:avLst/>
          </a:prstGeom>
        </p:spPr>
      </p:pic>
    </p:spTree>
    <p:extLst>
      <p:ext uri="{BB962C8B-B14F-4D97-AF65-F5344CB8AC3E}">
        <p14:creationId xmlns:p14="http://schemas.microsoft.com/office/powerpoint/2010/main" val="29093887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4"/>
          <p:cNvSpPr>
            <a:spLocks noChangeArrowheads="1"/>
          </p:cNvSpPr>
          <p:nvPr/>
        </p:nvSpPr>
        <p:spPr bwMode="auto">
          <a:xfrm>
            <a:off x="1438275" y="322263"/>
            <a:ext cx="10944521" cy="6553200"/>
          </a:xfrm>
          <a:prstGeom prst="roundRect">
            <a:avLst>
              <a:gd name="adj" fmla="val 16667"/>
            </a:avLst>
          </a:prstGeom>
          <a:solidFill>
            <a:schemeClr val="bg1">
              <a:alpha val="50195"/>
            </a:scheme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5" name="AutoShape 5"/>
          <p:cNvSpPr>
            <a:spLocks noChangeArrowheads="1"/>
          </p:cNvSpPr>
          <p:nvPr/>
        </p:nvSpPr>
        <p:spPr bwMode="auto">
          <a:xfrm>
            <a:off x="2373685" y="322264"/>
            <a:ext cx="8064128" cy="1340163"/>
          </a:xfrm>
          <a:prstGeom prst="roundRect">
            <a:avLst>
              <a:gd name="adj" fmla="val 37469"/>
            </a:avLst>
          </a:prstGeom>
          <a:solidFill>
            <a:srgbClr val="FFFFFF">
              <a:alpha val="78822"/>
            </a:srgb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2" name="Заголовок 1"/>
          <p:cNvSpPr txBox="1">
            <a:spLocks noGrp="1"/>
          </p:cNvSpPr>
          <p:nvPr>
            <p:ph type="title" idx="4294967295"/>
          </p:nvPr>
        </p:nvSpPr>
        <p:spPr>
          <a:xfrm>
            <a:off x="2013645" y="360651"/>
            <a:ext cx="7497762" cy="1184275"/>
          </a:xfrm>
          <a:prstGeom prst="rect">
            <a:avLst/>
          </a:prstGeom>
        </p:spPr>
        <p:txBody>
          <a:bodyPr wrap="square">
            <a:noAutofit/>
          </a:bodyPr>
          <a:lstStyle/>
          <a:p>
            <a:pPr lvl="0"/>
            <a:r>
              <a:rPr lang="ru-RU" sz="3949" dirty="0"/>
              <a:t>Почему гипотеза</a:t>
            </a:r>
            <a:br>
              <a:rPr lang="en-US" sz="3949" dirty="0"/>
            </a:br>
            <a:r>
              <a:rPr lang="ru-RU" sz="3949" dirty="0"/>
              <a:t> </a:t>
            </a:r>
            <a:r>
              <a:rPr lang="en-US" sz="3949" dirty="0"/>
              <a:t>o </a:t>
            </a:r>
            <a:r>
              <a:rPr lang="ru-RU" sz="3949" dirty="0"/>
              <a:t>нормальности  важна?</a:t>
            </a:r>
          </a:p>
        </p:txBody>
      </p:sp>
      <p:sp>
        <p:nvSpPr>
          <p:cNvPr id="3" name="Текст 2"/>
          <p:cNvSpPr txBox="1">
            <a:spLocks noGrp="1"/>
          </p:cNvSpPr>
          <p:nvPr>
            <p:ph type="body" idx="4294967295"/>
          </p:nvPr>
        </p:nvSpPr>
        <p:spPr>
          <a:xfrm>
            <a:off x="1369853" y="1700814"/>
            <a:ext cx="9932824" cy="1184275"/>
          </a:xfrm>
          <a:prstGeom prst="rect">
            <a:avLst/>
          </a:prstGeom>
        </p:spPr>
        <p:txBody>
          <a:bodyPr wrap="square">
            <a:normAutofit/>
          </a:bodyPr>
          <a:lstStyle/>
          <a:p>
            <a:pPr marL="0" indent="0">
              <a:buClr>
                <a:srgbClr val="CC9900"/>
              </a:buClr>
              <a:buSzPct val="65000"/>
              <a:buNone/>
              <a:tabLst>
                <a:tab pos="0" algn="l"/>
                <a:tab pos="110352" algn="l"/>
                <a:tab pos="577199" algn="l"/>
                <a:tab pos="1044046" algn="l"/>
                <a:tab pos="1510893" algn="l"/>
                <a:tab pos="1977740" algn="l"/>
                <a:tab pos="2444587" algn="l"/>
                <a:tab pos="2911434" algn="l"/>
                <a:tab pos="3378279" algn="l"/>
                <a:tab pos="3845127" algn="l"/>
                <a:tab pos="4311973" algn="l"/>
                <a:tab pos="4778447" algn="l"/>
                <a:tab pos="5245294" algn="l"/>
                <a:tab pos="5712141" algn="l"/>
                <a:tab pos="6178987" algn="l"/>
                <a:tab pos="6645833" algn="l"/>
                <a:tab pos="7112681" algn="l"/>
                <a:tab pos="7579527" algn="l"/>
                <a:tab pos="8046375" algn="l"/>
                <a:tab pos="8513222" algn="l"/>
                <a:tab pos="8980068" algn="l"/>
              </a:tabLst>
            </a:pPr>
            <a:r>
              <a:rPr lang="ru-RU" sz="2800" dirty="0"/>
              <a:t>Потому что нормальное распределение часто встречается</a:t>
            </a:r>
            <a:r>
              <a:rPr lang="en-US" sz="2800" dirty="0"/>
              <a:t> </a:t>
            </a:r>
            <a:r>
              <a:rPr lang="ru-RU" sz="2800" dirty="0"/>
              <a:t>(</a:t>
            </a:r>
            <a:r>
              <a:rPr lang="ru-RU" sz="2800" b="1" i="1" dirty="0">
                <a:solidFill>
                  <a:srgbClr val="0070C0"/>
                </a:solidFill>
              </a:rPr>
              <a:t>Центральные предельные теоремы</a:t>
            </a:r>
            <a:r>
              <a:rPr lang="ru-RU" sz="2800" dirty="0"/>
              <a:t>).</a:t>
            </a:r>
          </a:p>
          <a:p>
            <a:pPr marL="354624" indent="-354624">
              <a:tabLst>
                <a:tab pos="354624" algn="l"/>
                <a:tab pos="464976" algn="l"/>
                <a:tab pos="931823" algn="l"/>
                <a:tab pos="1398670" algn="l"/>
                <a:tab pos="1865517" algn="l"/>
                <a:tab pos="2332364" algn="l"/>
                <a:tab pos="2799211" algn="l"/>
                <a:tab pos="3266058" algn="l"/>
                <a:tab pos="3732903" algn="l"/>
                <a:tab pos="4199751" algn="l"/>
                <a:tab pos="4666597" algn="l"/>
                <a:tab pos="5133071" algn="l"/>
                <a:tab pos="5599918" algn="l"/>
                <a:tab pos="6066765" algn="l"/>
                <a:tab pos="6533611" algn="l"/>
                <a:tab pos="7000457" algn="l"/>
                <a:tab pos="7467305" algn="l"/>
                <a:tab pos="7934151" algn="l"/>
                <a:tab pos="8400999" algn="l"/>
                <a:tab pos="8867846" algn="l"/>
                <a:tab pos="9334693" algn="l"/>
              </a:tabLst>
            </a:pPr>
            <a:endParaRPr lang="ru-RU" sz="2800" dirty="0"/>
          </a:p>
        </p:txBody>
      </p:sp>
      <p:sp>
        <p:nvSpPr>
          <p:cNvPr id="7" name="Прямоугольник 6"/>
          <p:cNvSpPr/>
          <p:nvPr/>
        </p:nvSpPr>
        <p:spPr>
          <a:xfrm>
            <a:off x="1221557" y="3109478"/>
            <a:ext cx="10513168" cy="2308324"/>
          </a:xfrm>
          <a:prstGeom prst="rect">
            <a:avLst/>
          </a:prstGeom>
        </p:spPr>
        <p:txBody>
          <a:bodyPr wrap="square">
            <a:spAutoFit/>
          </a:bodyPr>
          <a:lstStyle/>
          <a:p>
            <a:r>
              <a:rPr lang="ru-RU" sz="2400" b="1" dirty="0" err="1"/>
              <a:t>Центра́льные</a:t>
            </a:r>
            <a:r>
              <a:rPr lang="ru-RU" sz="2400" b="1" dirty="0"/>
              <a:t> </a:t>
            </a:r>
            <a:r>
              <a:rPr lang="ru-RU" sz="2400" b="1" dirty="0" err="1"/>
              <a:t>преде́льные</a:t>
            </a:r>
            <a:r>
              <a:rPr lang="ru-RU" sz="2400" b="1" dirty="0"/>
              <a:t> </a:t>
            </a:r>
            <a:r>
              <a:rPr lang="ru-RU" sz="2400" b="1" dirty="0" err="1"/>
              <a:t>теоре́мы</a:t>
            </a:r>
            <a:r>
              <a:rPr lang="ru-RU" sz="2400" b="1" dirty="0"/>
              <a:t> (ЦПТ)</a:t>
            </a:r>
            <a:r>
              <a:rPr lang="ru-RU" sz="2400" dirty="0"/>
              <a:t> — класс теорем в теории вероятностей, утверждающих, что сумма достаточно большого количества слабо зависимых случайных величин, имеющих примерно одинаковые масштабы (ни одно из слагаемых не доминирует, не вносит в сумму определяющего вклада), имеет распределение, близкое к нормальному.</a:t>
            </a:r>
          </a:p>
        </p:txBody>
      </p:sp>
      <p:sp>
        <p:nvSpPr>
          <p:cNvPr id="8" name="Номер слайда 7"/>
          <p:cNvSpPr>
            <a:spLocks noGrp="1"/>
          </p:cNvSpPr>
          <p:nvPr>
            <p:ph type="sldNum" sz="quarter" idx="12"/>
          </p:nvPr>
        </p:nvSpPr>
        <p:spPr>
          <a:xfrm>
            <a:off x="11706382" y="6614320"/>
            <a:ext cx="703713" cy="379409"/>
          </a:xfrm>
        </p:spPr>
        <p:txBody>
          <a:bodyPr/>
          <a:lstStyle/>
          <a:p>
            <a:fld id="{952B6C0E-C4B9-4094-8E59-5B7DF00D5415}" type="slidenum">
              <a:rPr lang="ru-RU" smtClean="0">
                <a:solidFill>
                  <a:schemeClr val="tx1"/>
                </a:solidFill>
              </a:rPr>
              <a:t>12</a:t>
            </a:fld>
            <a:endParaRPr lang="ru-RU" dirty="0">
              <a:solidFill>
                <a:schemeClr val="tx1"/>
              </a:solidFill>
            </a:endParaRPr>
          </a:p>
        </p:txBody>
      </p:sp>
    </p:spTree>
    <p:extLst>
      <p:ext uri="{BB962C8B-B14F-4D97-AF65-F5344CB8AC3E}">
        <p14:creationId xmlns:p14="http://schemas.microsoft.com/office/powerpoint/2010/main" val="22720039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4"/>
          <p:cNvSpPr>
            <a:spLocks noChangeArrowheads="1"/>
          </p:cNvSpPr>
          <p:nvPr/>
        </p:nvSpPr>
        <p:spPr bwMode="auto">
          <a:xfrm>
            <a:off x="1438275" y="322263"/>
            <a:ext cx="10800505" cy="6553200"/>
          </a:xfrm>
          <a:prstGeom prst="roundRect">
            <a:avLst>
              <a:gd name="adj" fmla="val 16667"/>
            </a:avLst>
          </a:prstGeom>
          <a:solidFill>
            <a:schemeClr val="bg1">
              <a:alpha val="50195"/>
            </a:scheme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5" name="AutoShape 5"/>
          <p:cNvSpPr>
            <a:spLocks noChangeArrowheads="1"/>
          </p:cNvSpPr>
          <p:nvPr/>
        </p:nvSpPr>
        <p:spPr bwMode="auto">
          <a:xfrm>
            <a:off x="2373685" y="322264"/>
            <a:ext cx="8064128" cy="1340163"/>
          </a:xfrm>
          <a:prstGeom prst="roundRect">
            <a:avLst>
              <a:gd name="adj" fmla="val 37469"/>
            </a:avLst>
          </a:prstGeom>
          <a:solidFill>
            <a:srgbClr val="FFFFFF">
              <a:alpha val="78822"/>
            </a:srgb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2" name="Заголовок 1"/>
          <p:cNvSpPr txBox="1">
            <a:spLocks noGrp="1"/>
          </p:cNvSpPr>
          <p:nvPr>
            <p:ph type="title" idx="4294967295"/>
          </p:nvPr>
        </p:nvSpPr>
        <p:spPr>
          <a:xfrm>
            <a:off x="2220042" y="388081"/>
            <a:ext cx="8640960" cy="609735"/>
          </a:xfrm>
          <a:prstGeom prst="rect">
            <a:avLst/>
          </a:prstGeom>
        </p:spPr>
        <p:txBody>
          <a:bodyPr wrap="square">
            <a:noAutofit/>
          </a:bodyPr>
          <a:lstStyle/>
          <a:p>
            <a:pPr lvl="0"/>
            <a:r>
              <a:rPr lang="ru-RU" sz="3949" dirty="0"/>
              <a:t>Центральная предельная теорема</a:t>
            </a:r>
          </a:p>
        </p:txBody>
      </p:sp>
      <p:sp>
        <p:nvSpPr>
          <p:cNvPr id="7" name="Прямоугольник 6"/>
          <p:cNvSpPr/>
          <p:nvPr/>
        </p:nvSpPr>
        <p:spPr>
          <a:xfrm>
            <a:off x="573485" y="1434368"/>
            <a:ext cx="11812910" cy="4832092"/>
          </a:xfrm>
          <a:prstGeom prst="rect">
            <a:avLst/>
          </a:prstGeom>
        </p:spPr>
        <p:txBody>
          <a:bodyPr wrap="square">
            <a:spAutoFit/>
          </a:bodyPr>
          <a:lstStyle/>
          <a:p>
            <a:pPr indent="357188"/>
            <a:r>
              <a:rPr lang="ru-RU" sz="2200" i="1" dirty="0"/>
              <a:t>Теорема Ляпунова (ЦПТ)</a:t>
            </a:r>
            <a:r>
              <a:rPr lang="ru-RU" sz="2200" dirty="0"/>
              <a:t> объясняет широкое распространение нормального закона распределения и поясняет механизм его образования. Теорема позволяет утверждать, что всегда, когда случайная величина образуется в результате сложения большого числа независимых случайных величин, дисперсии которых малы по сравнению с дисперсией суммы, закон распределения этой случайной величины оказывается практически нормальным законом. </a:t>
            </a:r>
          </a:p>
          <a:p>
            <a:pPr indent="357188"/>
            <a:r>
              <a:rPr lang="ru-RU" sz="2200" dirty="0"/>
              <a:t>А поскольку случайные величины всегда порождаются бесконечным количеством причин и чаще всего ни одна из них не имеет дисперсии, сравнимой с дисперсией самой случайной величины, то </a:t>
            </a:r>
            <a:r>
              <a:rPr lang="ru-RU" sz="2200" b="1" dirty="0"/>
              <a:t>большинство встречающихся в практике случайных величин подчинено нормальному закону распределения. </a:t>
            </a:r>
            <a:endParaRPr lang="en-US" sz="2200" b="1" dirty="0"/>
          </a:p>
          <a:p>
            <a:pPr indent="357188"/>
            <a:endParaRPr lang="ru-RU" sz="2200" b="1" dirty="0"/>
          </a:p>
          <a:p>
            <a:pPr indent="357188"/>
            <a:r>
              <a:rPr lang="ru-RU" sz="2200" dirty="0"/>
              <a:t>Итак, </a:t>
            </a:r>
            <a:r>
              <a:rPr lang="ru-RU" sz="2200" dirty="0">
                <a:solidFill>
                  <a:srgbClr val="0070C0"/>
                </a:solidFill>
              </a:rPr>
              <a:t>нормальное распределение </a:t>
            </a:r>
            <a:r>
              <a:rPr lang="ru-RU" sz="2200" dirty="0"/>
              <a:t>— наиболее распространенное в природе распределение непрерывных величин. Математическим обоснованием этого факта служит центральная предельная теорема.</a:t>
            </a:r>
          </a:p>
        </p:txBody>
      </p:sp>
      <p:sp>
        <p:nvSpPr>
          <p:cNvPr id="8" name="Номер слайда 7"/>
          <p:cNvSpPr>
            <a:spLocks noGrp="1"/>
          </p:cNvSpPr>
          <p:nvPr>
            <p:ph type="sldNum" sz="quarter" idx="12"/>
          </p:nvPr>
        </p:nvSpPr>
        <p:spPr/>
        <p:txBody>
          <a:bodyPr/>
          <a:lstStyle/>
          <a:p>
            <a:fld id="{952B6C0E-C4B9-4094-8E59-5B7DF00D5415}" type="slidenum">
              <a:rPr lang="ru-RU" smtClean="0">
                <a:solidFill>
                  <a:schemeClr val="tx1"/>
                </a:solidFill>
              </a:rPr>
              <a:t>13</a:t>
            </a:fld>
            <a:endParaRPr lang="ru-RU" dirty="0">
              <a:solidFill>
                <a:schemeClr val="tx1"/>
              </a:solidFill>
            </a:endParaRPr>
          </a:p>
        </p:txBody>
      </p:sp>
      <p:sp>
        <p:nvSpPr>
          <p:cNvPr id="3" name="Прямоугольник 2"/>
          <p:cNvSpPr/>
          <p:nvPr/>
        </p:nvSpPr>
        <p:spPr>
          <a:xfrm>
            <a:off x="506413" y="5178444"/>
            <a:ext cx="11798671" cy="1090225"/>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Tree>
    <p:extLst>
      <p:ext uri="{BB962C8B-B14F-4D97-AF65-F5344CB8AC3E}">
        <p14:creationId xmlns:p14="http://schemas.microsoft.com/office/powerpoint/2010/main" val="34357203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4"/>
          <p:cNvSpPr>
            <a:spLocks noChangeArrowheads="1"/>
          </p:cNvSpPr>
          <p:nvPr/>
        </p:nvSpPr>
        <p:spPr bwMode="auto">
          <a:xfrm>
            <a:off x="717501" y="322263"/>
            <a:ext cx="11593288" cy="6553200"/>
          </a:xfrm>
          <a:prstGeom prst="roundRect">
            <a:avLst>
              <a:gd name="adj" fmla="val 16667"/>
            </a:avLst>
          </a:prstGeom>
          <a:solidFill>
            <a:schemeClr val="bg1">
              <a:alpha val="50195"/>
            </a:scheme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5" name="AutoShape 5"/>
          <p:cNvSpPr>
            <a:spLocks noChangeArrowheads="1"/>
          </p:cNvSpPr>
          <p:nvPr/>
        </p:nvSpPr>
        <p:spPr bwMode="auto">
          <a:xfrm>
            <a:off x="2373685" y="322264"/>
            <a:ext cx="8064128" cy="1340163"/>
          </a:xfrm>
          <a:prstGeom prst="roundRect">
            <a:avLst>
              <a:gd name="adj" fmla="val 37469"/>
            </a:avLst>
          </a:prstGeom>
          <a:solidFill>
            <a:srgbClr val="FFFFFF">
              <a:alpha val="78822"/>
            </a:srgb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7" name="Прямоугольник 6"/>
          <p:cNvSpPr/>
          <p:nvPr/>
        </p:nvSpPr>
        <p:spPr>
          <a:xfrm>
            <a:off x="717500" y="1654929"/>
            <a:ext cx="11377265" cy="4493538"/>
          </a:xfrm>
          <a:prstGeom prst="rect">
            <a:avLst/>
          </a:prstGeom>
        </p:spPr>
        <p:txBody>
          <a:bodyPr wrap="square">
            <a:spAutoFit/>
          </a:bodyPr>
          <a:lstStyle/>
          <a:p>
            <a:pPr indent="357188"/>
            <a:r>
              <a:rPr lang="ru-RU" sz="2200" dirty="0"/>
              <a:t>Практическое значение теоремы Ляпунова огромно. Опыт показывает, что закон распределения суммы независимых случайных величин, сравнимых по своему рассеиванию, достаточно быстро приближается к нормальному. Уже при числе слагаемых порядка десяти закон распределения суммы можно заменить на нормальный. Но в среднем при грубом предположении распределение считают нормальным при </a:t>
            </a:r>
            <a:r>
              <a:rPr lang="ru-RU" sz="2200" i="1" dirty="0"/>
              <a:t>n</a:t>
            </a:r>
            <a:r>
              <a:rPr lang="ru-RU" sz="2200" i="1" dirty="0">
                <a:sym typeface="Symbol" panose="05050102010706020507" pitchFamily="18" charset="2"/>
              </a:rPr>
              <a:t></a:t>
            </a:r>
            <a:r>
              <a:rPr lang="ru-RU" sz="2200" i="1" dirty="0"/>
              <a:t>30</a:t>
            </a:r>
            <a:r>
              <a:rPr lang="ru-RU" sz="2200" dirty="0"/>
              <a:t>.</a:t>
            </a:r>
          </a:p>
          <a:p>
            <a:pPr marL="342900" indent="-342900">
              <a:buFont typeface="Arial" panose="020B0604020202020204" pitchFamily="34" charset="0"/>
              <a:buChar char="•"/>
            </a:pPr>
            <a:r>
              <a:rPr lang="ru-RU" sz="2200" dirty="0"/>
              <a:t>Закон больших чисел лежит в основе различных видов страхования (страхование жизни человека на всевозможные сроки, имущества, скота, посевов и др.).</a:t>
            </a:r>
          </a:p>
          <a:p>
            <a:pPr marL="342900" indent="-342900">
              <a:buFont typeface="Arial" panose="020B0604020202020204" pitchFamily="34" charset="0"/>
              <a:buChar char="•"/>
            </a:pPr>
            <a:r>
              <a:rPr lang="ru-RU" sz="2200" dirty="0"/>
              <a:t>При планировании ассортимента товаров широкого потребления учитывается спрос на них населения. В этом спросе проявляется действие закона больших чисел.</a:t>
            </a:r>
          </a:p>
          <a:p>
            <a:pPr marL="342900" indent="-342900">
              <a:buFont typeface="Arial" panose="020B0604020202020204" pitchFamily="34" charset="0"/>
              <a:buChar char="•"/>
            </a:pPr>
            <a:r>
              <a:rPr lang="ru-RU" sz="2200" dirty="0"/>
              <a:t>нормальное распределение является простейшим законом пригодным для моделирования доходностей финансовых активов.</a:t>
            </a:r>
          </a:p>
        </p:txBody>
      </p:sp>
      <p:sp>
        <p:nvSpPr>
          <p:cNvPr id="8" name="Номер слайда 7"/>
          <p:cNvSpPr>
            <a:spLocks noGrp="1"/>
          </p:cNvSpPr>
          <p:nvPr>
            <p:ph type="sldNum" sz="quarter" idx="12"/>
          </p:nvPr>
        </p:nvSpPr>
        <p:spPr>
          <a:xfrm>
            <a:off x="11734725" y="6496054"/>
            <a:ext cx="736433" cy="379409"/>
          </a:xfrm>
        </p:spPr>
        <p:txBody>
          <a:bodyPr/>
          <a:lstStyle/>
          <a:p>
            <a:fld id="{952B6C0E-C4B9-4094-8E59-5B7DF00D5415}" type="slidenum">
              <a:rPr lang="ru-RU" smtClean="0">
                <a:solidFill>
                  <a:schemeClr val="tx1"/>
                </a:solidFill>
              </a:rPr>
              <a:t>14</a:t>
            </a:fld>
            <a:endParaRPr lang="ru-RU" dirty="0">
              <a:solidFill>
                <a:schemeClr val="tx1"/>
              </a:solidFill>
            </a:endParaRPr>
          </a:p>
        </p:txBody>
      </p:sp>
      <p:sp>
        <p:nvSpPr>
          <p:cNvPr id="9" name="Заголовок 1"/>
          <p:cNvSpPr txBox="1">
            <a:spLocks/>
          </p:cNvSpPr>
          <p:nvPr/>
        </p:nvSpPr>
        <p:spPr>
          <a:xfrm>
            <a:off x="2049265" y="322262"/>
            <a:ext cx="8712968" cy="864616"/>
          </a:xfrm>
          <a:prstGeom prst="rect">
            <a:avLst/>
          </a:prstGeom>
        </p:spPr>
        <p:txBody>
          <a:bodyPr vert="horz" wrap="square" lIns="91440" tIns="45720" rIns="91440" bIns="45720" rtlCol="0" anchor="ctr">
            <a:noAutofit/>
          </a:bodyPr>
          <a:lstStyle>
            <a:lvl1pPr algn="ctr" defTabSz="950153" rtl="0" eaLnBrk="1" latinLnBrk="0" hangingPunct="1">
              <a:spcBef>
                <a:spcPct val="0"/>
              </a:spcBef>
              <a:buNone/>
              <a:defRPr sz="4572" kern="1200">
                <a:solidFill>
                  <a:schemeClr val="tx1"/>
                </a:solidFill>
                <a:latin typeface="+mj-lt"/>
                <a:ea typeface="+mj-ea"/>
                <a:cs typeface="+mj-cs"/>
              </a:defRPr>
            </a:lvl1pPr>
          </a:lstStyle>
          <a:p>
            <a:pPr fontAlgn="auto">
              <a:spcAft>
                <a:spcPts val="0"/>
              </a:spcAft>
            </a:pPr>
            <a:r>
              <a:rPr lang="ru-RU" sz="3949" dirty="0"/>
              <a:t>Центральная предельная теорема</a:t>
            </a:r>
          </a:p>
        </p:txBody>
      </p:sp>
    </p:spTree>
    <p:extLst>
      <p:ext uri="{BB962C8B-B14F-4D97-AF65-F5344CB8AC3E}">
        <p14:creationId xmlns:p14="http://schemas.microsoft.com/office/powerpoint/2010/main" val="15690983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4"/>
          <p:cNvSpPr>
            <a:spLocks noChangeArrowheads="1"/>
          </p:cNvSpPr>
          <p:nvPr/>
        </p:nvSpPr>
        <p:spPr bwMode="auto">
          <a:xfrm>
            <a:off x="789509" y="322263"/>
            <a:ext cx="11305257" cy="6553200"/>
          </a:xfrm>
          <a:prstGeom prst="roundRect">
            <a:avLst>
              <a:gd name="adj" fmla="val 16667"/>
            </a:avLst>
          </a:prstGeom>
          <a:solidFill>
            <a:schemeClr val="bg1">
              <a:alpha val="50195"/>
            </a:scheme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5" name="AutoShape 5"/>
          <p:cNvSpPr>
            <a:spLocks noChangeArrowheads="1"/>
          </p:cNvSpPr>
          <p:nvPr/>
        </p:nvSpPr>
        <p:spPr bwMode="auto">
          <a:xfrm>
            <a:off x="2373685" y="322264"/>
            <a:ext cx="8064128" cy="1340163"/>
          </a:xfrm>
          <a:prstGeom prst="roundRect">
            <a:avLst>
              <a:gd name="adj" fmla="val 37469"/>
            </a:avLst>
          </a:prstGeom>
          <a:solidFill>
            <a:srgbClr val="FFFFFF">
              <a:alpha val="78822"/>
            </a:srgb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8" name="Номер слайда 7"/>
          <p:cNvSpPr>
            <a:spLocks noGrp="1"/>
          </p:cNvSpPr>
          <p:nvPr>
            <p:ph type="sldNum" sz="quarter" idx="12"/>
          </p:nvPr>
        </p:nvSpPr>
        <p:spPr>
          <a:xfrm>
            <a:off x="11726549" y="6512253"/>
            <a:ext cx="736433" cy="379409"/>
          </a:xfrm>
        </p:spPr>
        <p:txBody>
          <a:bodyPr/>
          <a:lstStyle/>
          <a:p>
            <a:fld id="{952B6C0E-C4B9-4094-8E59-5B7DF00D5415}" type="slidenum">
              <a:rPr lang="ru-RU" smtClean="0">
                <a:solidFill>
                  <a:schemeClr val="tx1"/>
                </a:solidFill>
              </a:rPr>
              <a:t>15</a:t>
            </a:fld>
            <a:endParaRPr lang="ru-RU" dirty="0">
              <a:solidFill>
                <a:schemeClr val="tx1"/>
              </a:solidFill>
            </a:endParaRPr>
          </a:p>
        </p:txBody>
      </p:sp>
      <p:pic>
        <p:nvPicPr>
          <p:cNvPr id="3" name="Рисунок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574277" y="1662427"/>
            <a:ext cx="7096577" cy="2980562"/>
          </a:xfrm>
          <a:prstGeom prst="rect">
            <a:avLst/>
          </a:prstGeom>
        </p:spPr>
      </p:pic>
      <p:sp>
        <p:nvSpPr>
          <p:cNvPr id="9" name="Прямоугольник 8"/>
          <p:cNvSpPr/>
          <p:nvPr/>
        </p:nvSpPr>
        <p:spPr>
          <a:xfrm>
            <a:off x="1221557" y="4936757"/>
            <a:ext cx="10504992" cy="1015663"/>
          </a:xfrm>
          <a:prstGeom prst="rect">
            <a:avLst/>
          </a:prstGeom>
        </p:spPr>
        <p:txBody>
          <a:bodyPr wrap="square">
            <a:spAutoFit/>
          </a:bodyPr>
          <a:lstStyle/>
          <a:p>
            <a:r>
              <a:rPr lang="ru-RU" dirty="0"/>
              <a:t>Какова бы ни была форма распределения генеральной совокупности, выборочное распределение стремится к нормальному, а его дисперсия задается центральной предельной теоремой.</a:t>
            </a:r>
          </a:p>
        </p:txBody>
      </p:sp>
      <p:sp>
        <p:nvSpPr>
          <p:cNvPr id="10" name="Заголовок 1"/>
          <p:cNvSpPr txBox="1">
            <a:spLocks/>
          </p:cNvSpPr>
          <p:nvPr/>
        </p:nvSpPr>
        <p:spPr>
          <a:xfrm>
            <a:off x="2373685" y="322264"/>
            <a:ext cx="7497762" cy="1184275"/>
          </a:xfrm>
          <a:prstGeom prst="rect">
            <a:avLst/>
          </a:prstGeom>
        </p:spPr>
        <p:txBody>
          <a:bodyPr vert="horz" wrap="square" lIns="91440" tIns="45720" rIns="91440" bIns="45720" rtlCol="0" anchor="ctr">
            <a:noAutofit/>
          </a:bodyPr>
          <a:lstStyle>
            <a:lvl1pPr algn="ctr" defTabSz="950153" rtl="0" eaLnBrk="1" latinLnBrk="0" hangingPunct="1">
              <a:spcBef>
                <a:spcPct val="0"/>
              </a:spcBef>
              <a:buNone/>
              <a:defRPr sz="4572" kern="1200">
                <a:solidFill>
                  <a:schemeClr val="tx1"/>
                </a:solidFill>
                <a:latin typeface="+mj-lt"/>
                <a:ea typeface="+mj-ea"/>
                <a:cs typeface="+mj-cs"/>
              </a:defRPr>
            </a:lvl1pPr>
          </a:lstStyle>
          <a:p>
            <a:pPr fontAlgn="auto">
              <a:spcAft>
                <a:spcPts val="0"/>
              </a:spcAft>
            </a:pPr>
            <a:r>
              <a:rPr lang="ru-RU" sz="3949"/>
              <a:t>Центральная предельная теорема</a:t>
            </a:r>
            <a:endParaRPr lang="ru-RU" sz="3949" dirty="0"/>
          </a:p>
        </p:txBody>
      </p:sp>
    </p:spTree>
    <p:extLst>
      <p:ext uri="{BB962C8B-B14F-4D97-AF65-F5344CB8AC3E}">
        <p14:creationId xmlns:p14="http://schemas.microsoft.com/office/powerpoint/2010/main" val="13083004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4"/>
          <p:cNvSpPr>
            <a:spLocks noChangeArrowheads="1"/>
          </p:cNvSpPr>
          <p:nvPr/>
        </p:nvSpPr>
        <p:spPr bwMode="auto">
          <a:xfrm>
            <a:off x="1438275" y="322263"/>
            <a:ext cx="10584481" cy="6553200"/>
          </a:xfrm>
          <a:prstGeom prst="roundRect">
            <a:avLst>
              <a:gd name="adj" fmla="val 16667"/>
            </a:avLst>
          </a:prstGeom>
          <a:solidFill>
            <a:schemeClr val="bg1">
              <a:alpha val="50195"/>
            </a:scheme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pic>
        <p:nvPicPr>
          <p:cNvPr id="3" name="Рисунок 2"/>
          <p:cNvPicPr>
            <a:picLocks noGrp="1" noChangeAspect="1"/>
          </p:cNvPicPr>
          <p:nvPr>
            <p:ph type="pic" idx="4294967295"/>
          </p:nvPr>
        </p:nvPicPr>
        <p:blipFill>
          <a:blip r:embed="rId3">
            <a:alphaModFix/>
          </a:blip>
          <a:srcRect/>
          <a:stretch>
            <a:fillRect/>
          </a:stretch>
        </p:blipFill>
        <p:spPr>
          <a:xfrm>
            <a:off x="2301677" y="1712436"/>
            <a:ext cx="8548688" cy="4556125"/>
          </a:xfrm>
          <a:prstGeom prst="rect">
            <a:avLst/>
          </a:prstGeom>
          <a:noFill/>
          <a:ln>
            <a:noFill/>
          </a:ln>
        </p:spPr>
      </p:pic>
      <p:sp>
        <p:nvSpPr>
          <p:cNvPr id="7" name="Заголовок 1"/>
          <p:cNvSpPr txBox="1">
            <a:spLocks/>
          </p:cNvSpPr>
          <p:nvPr/>
        </p:nvSpPr>
        <p:spPr>
          <a:xfrm>
            <a:off x="2732976" y="523468"/>
            <a:ext cx="7200800" cy="775978"/>
          </a:xfrm>
          <a:prstGeom prst="rect">
            <a:avLst/>
          </a:prstGeom>
        </p:spPr>
        <p:txBody>
          <a:bodyPr wrap="square">
            <a:noAutofit/>
          </a:bodyPr>
          <a:lstStyle>
            <a:lvl1pPr algn="ctr" defTabSz="993775" rtl="0" fontAlgn="base">
              <a:spcBef>
                <a:spcPct val="0"/>
              </a:spcBef>
              <a:spcAft>
                <a:spcPct val="0"/>
              </a:spcAft>
              <a:defRPr sz="4800" kern="1200">
                <a:solidFill>
                  <a:schemeClr val="tx2"/>
                </a:solidFill>
                <a:latin typeface="+mj-lt"/>
                <a:ea typeface="+mj-ea"/>
                <a:cs typeface="+mj-cs"/>
              </a:defRPr>
            </a:lvl1pPr>
            <a:lvl2pPr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2pPr>
            <a:lvl3pPr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3pPr>
            <a:lvl4pPr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4pPr>
            <a:lvl5pPr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5pPr>
            <a:lvl6pPr marL="457200"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6pPr>
            <a:lvl7pPr marL="914400"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7pPr>
            <a:lvl8pPr marL="1371600"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8pPr>
            <a:lvl9pPr marL="1828800"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9pPr>
          </a:lstStyle>
          <a:p>
            <a:r>
              <a:rPr lang="ru-RU" sz="3200" dirty="0"/>
              <a:t>О важности </a:t>
            </a:r>
            <a:br>
              <a:rPr lang="en-US" sz="3200" dirty="0"/>
            </a:br>
            <a:r>
              <a:rPr lang="en-US" sz="3200" dirty="0"/>
              <a:t> </a:t>
            </a:r>
            <a:r>
              <a:rPr lang="ru-RU" sz="3200" dirty="0"/>
              <a:t>нормального распределения </a:t>
            </a:r>
          </a:p>
        </p:txBody>
      </p:sp>
      <p:sp>
        <p:nvSpPr>
          <p:cNvPr id="8" name="Прямоугольник 7"/>
          <p:cNvSpPr/>
          <p:nvPr/>
        </p:nvSpPr>
        <p:spPr>
          <a:xfrm>
            <a:off x="5847482" y="6312234"/>
            <a:ext cx="901850" cy="400110"/>
          </a:xfrm>
          <a:prstGeom prst="rect">
            <a:avLst/>
          </a:prstGeom>
        </p:spPr>
        <p:txBody>
          <a:bodyPr wrap="none">
            <a:spAutoFit/>
          </a:bodyPr>
          <a:lstStyle/>
          <a:p>
            <a:r>
              <a:rPr lang="ru-RU" dirty="0"/>
              <a:t>Гаусс </a:t>
            </a:r>
          </a:p>
        </p:txBody>
      </p:sp>
      <p:sp>
        <p:nvSpPr>
          <p:cNvPr id="2" name="Номер слайда 1"/>
          <p:cNvSpPr>
            <a:spLocks noGrp="1"/>
          </p:cNvSpPr>
          <p:nvPr>
            <p:ph type="sldNum" sz="quarter" idx="12"/>
          </p:nvPr>
        </p:nvSpPr>
        <p:spPr>
          <a:xfrm>
            <a:off x="11374685" y="6496054"/>
            <a:ext cx="880449" cy="379409"/>
          </a:xfrm>
        </p:spPr>
        <p:txBody>
          <a:bodyPr/>
          <a:lstStyle/>
          <a:p>
            <a:fld id="{952B6C0E-C4B9-4094-8E59-5B7DF00D5415}" type="slidenum">
              <a:rPr lang="ru-RU" smtClean="0">
                <a:solidFill>
                  <a:schemeClr val="tx1"/>
                </a:solidFill>
              </a:rPr>
              <a:t>16</a:t>
            </a:fld>
            <a:endParaRPr lang="ru-RU" dirty="0">
              <a:solidFill>
                <a:schemeClr val="tx1"/>
              </a:solidFill>
            </a:endParaRPr>
          </a:p>
        </p:txBody>
      </p:sp>
    </p:spTree>
    <p:extLst>
      <p:ext uri="{BB962C8B-B14F-4D97-AF65-F5344CB8AC3E}">
        <p14:creationId xmlns:p14="http://schemas.microsoft.com/office/powerpoint/2010/main" val="4336679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4"/>
          <p:cNvSpPr>
            <a:spLocks noChangeArrowheads="1"/>
          </p:cNvSpPr>
          <p:nvPr/>
        </p:nvSpPr>
        <p:spPr bwMode="auto">
          <a:xfrm>
            <a:off x="1438275" y="322263"/>
            <a:ext cx="10800505" cy="6553200"/>
          </a:xfrm>
          <a:prstGeom prst="roundRect">
            <a:avLst>
              <a:gd name="adj" fmla="val 16667"/>
            </a:avLst>
          </a:prstGeom>
          <a:solidFill>
            <a:schemeClr val="bg1">
              <a:alpha val="50195"/>
            </a:scheme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6" name="AutoShape 5"/>
          <p:cNvSpPr>
            <a:spLocks noChangeArrowheads="1"/>
          </p:cNvSpPr>
          <p:nvPr/>
        </p:nvSpPr>
        <p:spPr bwMode="auto">
          <a:xfrm>
            <a:off x="2373685" y="322264"/>
            <a:ext cx="8064128" cy="720601"/>
          </a:xfrm>
          <a:prstGeom prst="roundRect">
            <a:avLst>
              <a:gd name="adj" fmla="val 37469"/>
            </a:avLst>
          </a:prstGeom>
          <a:solidFill>
            <a:srgbClr val="FFFFFF">
              <a:alpha val="78822"/>
            </a:srgb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2" name="Заголовок 1"/>
          <p:cNvSpPr txBox="1">
            <a:spLocks noGrp="1"/>
          </p:cNvSpPr>
          <p:nvPr>
            <p:ph type="title" idx="4294967295"/>
          </p:nvPr>
        </p:nvSpPr>
        <p:spPr>
          <a:xfrm>
            <a:off x="1756289" y="645081"/>
            <a:ext cx="8550275" cy="693738"/>
          </a:xfrm>
          <a:prstGeom prst="rect">
            <a:avLst/>
          </a:prstGeom>
        </p:spPr>
        <p:txBody>
          <a:bodyPr wrap="square">
            <a:noAutofit/>
          </a:bodyPr>
          <a:lstStyle/>
          <a:p>
            <a:pPr lvl="0"/>
            <a:r>
              <a:rPr lang="ru-RU" sz="4400" dirty="0"/>
              <a:t>Пример гипотезы согласия 2</a:t>
            </a:r>
          </a:p>
        </p:txBody>
      </p:sp>
      <p:sp>
        <p:nvSpPr>
          <p:cNvPr id="3" name="Текст 2"/>
          <p:cNvSpPr txBox="1">
            <a:spLocks noGrp="1"/>
          </p:cNvSpPr>
          <p:nvPr>
            <p:ph type="body" idx="4294967295"/>
          </p:nvPr>
        </p:nvSpPr>
        <p:spPr>
          <a:xfrm>
            <a:off x="1893095" y="1575031"/>
            <a:ext cx="8550275" cy="4708525"/>
          </a:xfrm>
          <a:prstGeom prst="rect">
            <a:avLst/>
          </a:prstGeom>
        </p:spPr>
        <p:txBody>
          <a:bodyPr wrap="square"/>
          <a:lstStyle/>
          <a:p>
            <a:pPr marL="0" indent="0">
              <a:buClr>
                <a:srgbClr val="CC9900"/>
              </a:buClr>
              <a:buSzPct val="65000"/>
              <a:buFont typeface="Wingdings" pitchFamily="2"/>
              <a:buChar char=""/>
              <a:tabLst>
                <a:tab pos="0" algn="l"/>
                <a:tab pos="110352" algn="l"/>
                <a:tab pos="577199" algn="l"/>
                <a:tab pos="1044046" algn="l"/>
                <a:tab pos="1510893" algn="l"/>
                <a:tab pos="1977740" algn="l"/>
                <a:tab pos="2444587" algn="l"/>
                <a:tab pos="2911434" algn="l"/>
                <a:tab pos="3378279" algn="l"/>
                <a:tab pos="3845127" algn="l"/>
                <a:tab pos="4311973" algn="l"/>
                <a:tab pos="4778447" algn="l"/>
                <a:tab pos="5245294" algn="l"/>
                <a:tab pos="5712141" algn="l"/>
                <a:tab pos="6178987" algn="l"/>
                <a:tab pos="6645833" algn="l"/>
                <a:tab pos="7112681" algn="l"/>
                <a:tab pos="7579527" algn="l"/>
                <a:tab pos="8046375" algn="l"/>
                <a:tab pos="8513222" algn="l"/>
                <a:tab pos="8980068" algn="l"/>
              </a:tabLst>
            </a:pPr>
            <a:r>
              <a:rPr lang="ru-RU" sz="2800" dirty="0"/>
              <a:t>Гипотеза об </a:t>
            </a:r>
            <a:r>
              <a:rPr lang="ru-RU" sz="2800" b="1" i="1" dirty="0">
                <a:solidFill>
                  <a:srgbClr val="0070C0"/>
                </a:solidFill>
              </a:rPr>
              <a:t>экспоненциальности распределения.</a:t>
            </a:r>
          </a:p>
          <a:p>
            <a:pPr marL="0" indent="0">
              <a:buClr>
                <a:srgbClr val="CC9900"/>
              </a:buClr>
              <a:buSzPct val="65000"/>
              <a:buFont typeface="Wingdings" pitchFamily="2"/>
              <a:buChar char=""/>
              <a:tabLst>
                <a:tab pos="0" algn="l"/>
                <a:tab pos="110352" algn="l"/>
                <a:tab pos="577199" algn="l"/>
                <a:tab pos="1044046" algn="l"/>
                <a:tab pos="1510893" algn="l"/>
                <a:tab pos="1977740" algn="l"/>
                <a:tab pos="2444587" algn="l"/>
                <a:tab pos="2911434" algn="l"/>
                <a:tab pos="3378279" algn="l"/>
                <a:tab pos="3845127" algn="l"/>
                <a:tab pos="4311973" algn="l"/>
                <a:tab pos="4778447" algn="l"/>
                <a:tab pos="5245294" algn="l"/>
                <a:tab pos="5712141" algn="l"/>
                <a:tab pos="6178987" algn="l"/>
                <a:tab pos="6645833" algn="l"/>
                <a:tab pos="7112681" algn="l"/>
                <a:tab pos="7579527" algn="l"/>
                <a:tab pos="8046375" algn="l"/>
                <a:tab pos="8513222" algn="l"/>
                <a:tab pos="8980068" algn="l"/>
              </a:tabLst>
            </a:pPr>
            <a:r>
              <a:rPr lang="ru-RU" sz="2800" dirty="0"/>
              <a:t>В этом случае функция распределения:</a:t>
            </a:r>
          </a:p>
          <a:p>
            <a:pPr marL="354624" indent="-354624">
              <a:tabLst>
                <a:tab pos="354624" algn="l"/>
                <a:tab pos="464976" algn="l"/>
                <a:tab pos="931823" algn="l"/>
                <a:tab pos="1398670" algn="l"/>
                <a:tab pos="1865517" algn="l"/>
                <a:tab pos="2332364" algn="l"/>
                <a:tab pos="2799211" algn="l"/>
                <a:tab pos="3266058" algn="l"/>
                <a:tab pos="3732903" algn="l"/>
                <a:tab pos="4199751" algn="l"/>
                <a:tab pos="4666597" algn="l"/>
                <a:tab pos="5133071" algn="l"/>
                <a:tab pos="5599918" algn="l"/>
                <a:tab pos="6066765" algn="l"/>
                <a:tab pos="6533611" algn="l"/>
                <a:tab pos="7000457" algn="l"/>
                <a:tab pos="7467305" algn="l"/>
                <a:tab pos="7934151" algn="l"/>
                <a:tab pos="8400999" algn="l"/>
                <a:tab pos="8867846" algn="l"/>
                <a:tab pos="9334693" algn="l"/>
              </a:tabLst>
            </a:pPr>
            <a:endParaRPr lang="ru-RU" sz="2800" dirty="0"/>
          </a:p>
        </p:txBody>
      </p:sp>
      <p:pic>
        <p:nvPicPr>
          <p:cNvPr id="4" name="Рисунок 3"/>
          <p:cNvPicPr>
            <a:picLocks noChangeAspect="1"/>
          </p:cNvPicPr>
          <p:nvPr/>
        </p:nvPicPr>
        <p:blipFill>
          <a:blip r:embed="rId3">
            <a:alphaModFix/>
          </a:blip>
          <a:srcRect/>
          <a:stretch>
            <a:fillRect/>
          </a:stretch>
        </p:blipFill>
        <p:spPr>
          <a:xfrm>
            <a:off x="3597822" y="3598863"/>
            <a:ext cx="4409288" cy="1548457"/>
          </a:xfrm>
          <a:prstGeom prst="rect">
            <a:avLst/>
          </a:prstGeom>
          <a:noFill/>
          <a:ln>
            <a:noFill/>
          </a:ln>
        </p:spPr>
      </p:pic>
      <p:sp>
        <p:nvSpPr>
          <p:cNvPr id="8" name="Номер слайда 7"/>
          <p:cNvSpPr>
            <a:spLocks noGrp="1"/>
          </p:cNvSpPr>
          <p:nvPr>
            <p:ph type="sldNum" sz="quarter" idx="12"/>
          </p:nvPr>
        </p:nvSpPr>
        <p:spPr>
          <a:xfrm>
            <a:off x="11662717" y="6614320"/>
            <a:ext cx="736433" cy="379409"/>
          </a:xfrm>
        </p:spPr>
        <p:txBody>
          <a:bodyPr/>
          <a:lstStyle/>
          <a:p>
            <a:fld id="{952B6C0E-C4B9-4094-8E59-5B7DF00D5415}" type="slidenum">
              <a:rPr lang="ru-RU" smtClean="0">
                <a:solidFill>
                  <a:schemeClr val="tx1"/>
                </a:solidFill>
              </a:rPr>
              <a:t>17</a:t>
            </a:fld>
            <a:endParaRPr lang="ru-RU" dirty="0">
              <a:solidFill>
                <a:schemeClr val="tx1"/>
              </a:solidFill>
            </a:endParaRPr>
          </a:p>
        </p:txBody>
      </p:sp>
    </p:spTree>
    <p:extLst>
      <p:ext uri="{BB962C8B-B14F-4D97-AF65-F5344CB8AC3E}">
        <p14:creationId xmlns:p14="http://schemas.microsoft.com/office/powerpoint/2010/main" val="42250255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4"/>
          <p:cNvSpPr>
            <a:spLocks noChangeArrowheads="1"/>
          </p:cNvSpPr>
          <p:nvPr/>
        </p:nvSpPr>
        <p:spPr bwMode="auto">
          <a:xfrm>
            <a:off x="861517" y="322263"/>
            <a:ext cx="11449271" cy="6553200"/>
          </a:xfrm>
          <a:prstGeom prst="roundRect">
            <a:avLst>
              <a:gd name="adj" fmla="val 16667"/>
            </a:avLst>
          </a:prstGeom>
          <a:solidFill>
            <a:schemeClr val="bg1">
              <a:alpha val="50195"/>
            </a:scheme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5" name="AutoShape 5"/>
          <p:cNvSpPr>
            <a:spLocks noChangeArrowheads="1"/>
          </p:cNvSpPr>
          <p:nvPr/>
        </p:nvSpPr>
        <p:spPr bwMode="auto">
          <a:xfrm>
            <a:off x="2373685" y="322264"/>
            <a:ext cx="8064128" cy="1368673"/>
          </a:xfrm>
          <a:prstGeom prst="roundRect">
            <a:avLst>
              <a:gd name="adj" fmla="val 37469"/>
            </a:avLst>
          </a:prstGeom>
          <a:solidFill>
            <a:srgbClr val="FFFFFF">
              <a:alpha val="78822"/>
            </a:srgb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2" name="Заголовок 1"/>
          <p:cNvSpPr txBox="1">
            <a:spLocks noGrp="1"/>
          </p:cNvSpPr>
          <p:nvPr>
            <p:ph type="title" idx="4294967295"/>
          </p:nvPr>
        </p:nvSpPr>
        <p:spPr>
          <a:xfrm>
            <a:off x="2023270" y="414462"/>
            <a:ext cx="8550275" cy="1184275"/>
          </a:xfrm>
          <a:prstGeom prst="rect">
            <a:avLst/>
          </a:prstGeom>
        </p:spPr>
        <p:txBody>
          <a:bodyPr wrap="square">
            <a:noAutofit/>
          </a:bodyPr>
          <a:lstStyle/>
          <a:p>
            <a:pPr lvl="0"/>
            <a:r>
              <a:rPr lang="ru-RU" sz="3949" dirty="0"/>
              <a:t>Почему важна гипотеза экспоненциальности?</a:t>
            </a:r>
          </a:p>
        </p:txBody>
      </p:sp>
      <p:sp>
        <p:nvSpPr>
          <p:cNvPr id="3" name="Текст 2"/>
          <p:cNvSpPr txBox="1">
            <a:spLocks noGrp="1"/>
          </p:cNvSpPr>
          <p:nvPr>
            <p:ph type="body" idx="4294967295"/>
          </p:nvPr>
        </p:nvSpPr>
        <p:spPr>
          <a:xfrm>
            <a:off x="1303373" y="1762944"/>
            <a:ext cx="10524865" cy="1144588"/>
          </a:xfrm>
          <a:prstGeom prst="rect">
            <a:avLst/>
          </a:prstGeom>
        </p:spPr>
        <p:txBody>
          <a:bodyPr wrap="square"/>
          <a:lstStyle/>
          <a:p>
            <a:pPr marL="0" indent="0">
              <a:buClr>
                <a:srgbClr val="CC9900"/>
              </a:buClr>
              <a:buSzPct val="65000"/>
              <a:buNone/>
              <a:tabLst>
                <a:tab pos="0" algn="l"/>
                <a:tab pos="110352" algn="l"/>
                <a:tab pos="577199" algn="l"/>
                <a:tab pos="1044046" algn="l"/>
                <a:tab pos="1510893" algn="l"/>
                <a:tab pos="1977740" algn="l"/>
                <a:tab pos="2444587" algn="l"/>
                <a:tab pos="2911434" algn="l"/>
                <a:tab pos="3378279" algn="l"/>
                <a:tab pos="3845127" algn="l"/>
                <a:tab pos="4311973" algn="l"/>
                <a:tab pos="4778447" algn="l"/>
                <a:tab pos="5245294" algn="l"/>
                <a:tab pos="5712141" algn="l"/>
                <a:tab pos="6178987" algn="l"/>
                <a:tab pos="6645833" algn="l"/>
                <a:tab pos="7112681" algn="l"/>
                <a:tab pos="7579527" algn="l"/>
                <a:tab pos="8046375" algn="l"/>
                <a:tab pos="8513222" algn="l"/>
                <a:tab pos="8980068" algn="l"/>
              </a:tabLst>
            </a:pPr>
            <a:r>
              <a:rPr lang="ru-RU" sz="2800" dirty="0"/>
              <a:t>Экспоненциальное распределение часто встречается, когда изучается «время ожидания».</a:t>
            </a:r>
          </a:p>
          <a:p>
            <a:pPr marL="354624" indent="-354624">
              <a:tabLst>
                <a:tab pos="354624" algn="l"/>
                <a:tab pos="464976" algn="l"/>
                <a:tab pos="931823" algn="l"/>
                <a:tab pos="1398670" algn="l"/>
                <a:tab pos="1865517" algn="l"/>
                <a:tab pos="2332364" algn="l"/>
                <a:tab pos="2799211" algn="l"/>
                <a:tab pos="3266058" algn="l"/>
                <a:tab pos="3732903" algn="l"/>
                <a:tab pos="4199751" algn="l"/>
                <a:tab pos="4666597" algn="l"/>
                <a:tab pos="5133071" algn="l"/>
                <a:tab pos="5599918" algn="l"/>
                <a:tab pos="6066765" algn="l"/>
                <a:tab pos="6533611" algn="l"/>
                <a:tab pos="7000457" algn="l"/>
                <a:tab pos="7467305" algn="l"/>
                <a:tab pos="7934151" algn="l"/>
                <a:tab pos="8400999" algn="l"/>
                <a:tab pos="8867846" algn="l"/>
                <a:tab pos="9334693" algn="l"/>
              </a:tabLst>
            </a:pPr>
            <a:endParaRPr lang="ru-RU" sz="2800" dirty="0"/>
          </a:p>
          <a:p>
            <a:pPr marL="354624" indent="-354624">
              <a:tabLst>
                <a:tab pos="354624" algn="l"/>
                <a:tab pos="464976" algn="l"/>
                <a:tab pos="931823" algn="l"/>
                <a:tab pos="1398670" algn="l"/>
                <a:tab pos="1865517" algn="l"/>
                <a:tab pos="2332364" algn="l"/>
                <a:tab pos="2799211" algn="l"/>
                <a:tab pos="3266058" algn="l"/>
                <a:tab pos="3732903" algn="l"/>
                <a:tab pos="4199751" algn="l"/>
                <a:tab pos="4666597" algn="l"/>
                <a:tab pos="5133071" algn="l"/>
                <a:tab pos="5599918" algn="l"/>
                <a:tab pos="6066765" algn="l"/>
                <a:tab pos="6533611" algn="l"/>
                <a:tab pos="7000457" algn="l"/>
                <a:tab pos="7467305" algn="l"/>
                <a:tab pos="7934151" algn="l"/>
                <a:tab pos="8400999" algn="l"/>
                <a:tab pos="8867846" algn="l"/>
                <a:tab pos="9334693" algn="l"/>
              </a:tabLst>
            </a:pPr>
            <a:endParaRPr lang="ru-RU" sz="2800" dirty="0"/>
          </a:p>
        </p:txBody>
      </p:sp>
      <p:sp>
        <p:nvSpPr>
          <p:cNvPr id="7" name="Текст 2"/>
          <p:cNvSpPr txBox="1">
            <a:spLocks/>
          </p:cNvSpPr>
          <p:nvPr/>
        </p:nvSpPr>
        <p:spPr>
          <a:xfrm>
            <a:off x="1223032" y="3692616"/>
            <a:ext cx="10692941" cy="2364921"/>
          </a:xfrm>
          <a:prstGeom prst="rect">
            <a:avLst/>
          </a:prstGeom>
        </p:spPr>
        <p:txBody>
          <a:bodyPr wrap="square"/>
          <a:lstStyle>
            <a:lvl1pPr marL="373063" indent="-373063" algn="l" defTabSz="993775" rtl="0" fontAlgn="base">
              <a:spcBef>
                <a:spcPct val="20000"/>
              </a:spcBef>
              <a:spcAft>
                <a:spcPct val="0"/>
              </a:spcAft>
              <a:buChar char="•"/>
              <a:defRPr sz="3500" kern="1200">
                <a:solidFill>
                  <a:schemeClr val="tx1"/>
                </a:solidFill>
                <a:latin typeface="+mn-lt"/>
                <a:ea typeface="+mn-ea"/>
                <a:cs typeface="+mn-cs"/>
              </a:defRPr>
            </a:lvl1pPr>
            <a:lvl2pPr marL="808038" indent="-311150" algn="l" defTabSz="993775" rtl="0" fontAlgn="base">
              <a:spcBef>
                <a:spcPct val="20000"/>
              </a:spcBef>
              <a:spcAft>
                <a:spcPct val="0"/>
              </a:spcAft>
              <a:buChar char="–"/>
              <a:defRPr sz="3000" kern="1200">
                <a:solidFill>
                  <a:schemeClr val="tx1"/>
                </a:solidFill>
                <a:latin typeface="+mn-lt"/>
                <a:ea typeface="+mn-ea"/>
                <a:cs typeface="+mn-cs"/>
              </a:defRPr>
            </a:lvl2pPr>
            <a:lvl3pPr marL="1243013" indent="-249238" algn="l" defTabSz="993775" rtl="0" fontAlgn="base">
              <a:spcBef>
                <a:spcPct val="20000"/>
              </a:spcBef>
              <a:spcAft>
                <a:spcPct val="0"/>
              </a:spcAft>
              <a:buChar char="•"/>
              <a:defRPr sz="2600" kern="1200">
                <a:solidFill>
                  <a:schemeClr val="tx1"/>
                </a:solidFill>
                <a:latin typeface="+mn-lt"/>
                <a:ea typeface="+mn-ea"/>
                <a:cs typeface="+mn-cs"/>
              </a:defRPr>
            </a:lvl3pPr>
            <a:lvl4pPr marL="1739900" indent="-247650" algn="l" defTabSz="993775" rtl="0" fontAlgn="base">
              <a:spcBef>
                <a:spcPct val="20000"/>
              </a:spcBef>
              <a:spcAft>
                <a:spcPct val="0"/>
              </a:spcAft>
              <a:buChar char="–"/>
              <a:defRPr sz="2200" kern="1200">
                <a:solidFill>
                  <a:schemeClr val="tx1"/>
                </a:solidFill>
                <a:latin typeface="+mn-lt"/>
                <a:ea typeface="+mn-ea"/>
                <a:cs typeface="+mn-cs"/>
              </a:defRPr>
            </a:lvl4pPr>
            <a:lvl5pPr marL="2236788" indent="-247650" algn="l" defTabSz="993775" rtl="0" fontAlgn="base">
              <a:spcBef>
                <a:spcPct val="20000"/>
              </a:spcBef>
              <a:spcAft>
                <a:spcPct val="0"/>
              </a:spcAft>
              <a:buChar char="»"/>
              <a:defRPr sz="2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Clr>
                <a:srgbClr val="CC9900"/>
              </a:buClr>
              <a:buSzPct val="65000"/>
              <a:buFont typeface="Wingdings" pitchFamily="2"/>
              <a:buChar char=""/>
              <a:tabLst>
                <a:tab pos="0" algn="l"/>
                <a:tab pos="110352" algn="l"/>
                <a:tab pos="577199" algn="l"/>
                <a:tab pos="1044046" algn="l"/>
                <a:tab pos="1510893" algn="l"/>
                <a:tab pos="1977740" algn="l"/>
                <a:tab pos="2444587" algn="l"/>
                <a:tab pos="2911434" algn="l"/>
                <a:tab pos="3378279" algn="l"/>
                <a:tab pos="3845127" algn="l"/>
                <a:tab pos="4311973" algn="l"/>
                <a:tab pos="4778447" algn="l"/>
                <a:tab pos="5245294" algn="l"/>
                <a:tab pos="5712141" algn="l"/>
                <a:tab pos="6178987" algn="l"/>
                <a:tab pos="6645833" algn="l"/>
                <a:tab pos="7112681" algn="l"/>
                <a:tab pos="7579527" algn="l"/>
                <a:tab pos="8046375" algn="l"/>
                <a:tab pos="8513222" algn="l"/>
                <a:tab pos="8980068" algn="l"/>
              </a:tabLst>
            </a:pPr>
            <a:r>
              <a:rPr lang="ru-RU" sz="2400" dirty="0"/>
              <a:t>Время до аварии</a:t>
            </a:r>
            <a:r>
              <a:rPr lang="en-US" sz="2400" dirty="0"/>
              <a:t> – </a:t>
            </a:r>
            <a:r>
              <a:rPr lang="ru-RU" sz="2400" dirty="0"/>
              <a:t>период безаварийной езды (нужно для расчета страховой премии).</a:t>
            </a:r>
          </a:p>
          <a:p>
            <a:pPr marL="0" indent="0">
              <a:buClr>
                <a:srgbClr val="CC9900"/>
              </a:buClr>
              <a:buSzPct val="65000"/>
              <a:buFont typeface="Wingdings" pitchFamily="2"/>
              <a:buChar char=""/>
              <a:tabLst>
                <a:tab pos="0" algn="l"/>
                <a:tab pos="110352" algn="l"/>
                <a:tab pos="577199" algn="l"/>
                <a:tab pos="1044046" algn="l"/>
                <a:tab pos="1510893" algn="l"/>
                <a:tab pos="1977740" algn="l"/>
                <a:tab pos="2444587" algn="l"/>
                <a:tab pos="2911434" algn="l"/>
                <a:tab pos="3378279" algn="l"/>
                <a:tab pos="3845127" algn="l"/>
                <a:tab pos="4311973" algn="l"/>
                <a:tab pos="4778447" algn="l"/>
                <a:tab pos="5245294" algn="l"/>
                <a:tab pos="5712141" algn="l"/>
                <a:tab pos="6178987" algn="l"/>
                <a:tab pos="6645833" algn="l"/>
                <a:tab pos="7112681" algn="l"/>
                <a:tab pos="7579527" algn="l"/>
                <a:tab pos="8046375" algn="l"/>
                <a:tab pos="8513222" algn="l"/>
                <a:tab pos="8980068" algn="l"/>
              </a:tabLst>
            </a:pPr>
            <a:r>
              <a:rPr lang="ru-RU" sz="2400" dirty="0"/>
              <a:t>Время обслуживания покупателя кассиром (нужно для определения числа касс в супермаркете).</a:t>
            </a:r>
          </a:p>
          <a:p>
            <a:pPr marL="0" indent="0">
              <a:buClr>
                <a:srgbClr val="CC9900"/>
              </a:buClr>
              <a:buSzPct val="65000"/>
              <a:buFont typeface="Wingdings" pitchFamily="2"/>
              <a:buChar char=""/>
              <a:tabLst>
                <a:tab pos="0" algn="l"/>
                <a:tab pos="110352" algn="l"/>
                <a:tab pos="577199" algn="l"/>
                <a:tab pos="1044046" algn="l"/>
                <a:tab pos="1510893" algn="l"/>
                <a:tab pos="1977740" algn="l"/>
                <a:tab pos="2444587" algn="l"/>
                <a:tab pos="2911434" algn="l"/>
                <a:tab pos="3378279" algn="l"/>
                <a:tab pos="3845127" algn="l"/>
                <a:tab pos="4311973" algn="l"/>
                <a:tab pos="4778447" algn="l"/>
                <a:tab pos="5245294" algn="l"/>
                <a:tab pos="5712141" algn="l"/>
                <a:tab pos="6178987" algn="l"/>
                <a:tab pos="6645833" algn="l"/>
                <a:tab pos="7112681" algn="l"/>
                <a:tab pos="7579527" algn="l"/>
                <a:tab pos="8046375" algn="l"/>
                <a:tab pos="8513222" algn="l"/>
                <a:tab pos="8980068" algn="l"/>
              </a:tabLst>
            </a:pPr>
            <a:r>
              <a:rPr lang="ru-RU" sz="2400" dirty="0"/>
              <a:t>Время до поломки изделия (нужно для планирования расходов на гарантийный ремонт).</a:t>
            </a:r>
          </a:p>
          <a:p>
            <a:pPr marL="354624" indent="-354624">
              <a:tabLst>
                <a:tab pos="354624" algn="l"/>
                <a:tab pos="464976" algn="l"/>
                <a:tab pos="931823" algn="l"/>
                <a:tab pos="1398670" algn="l"/>
                <a:tab pos="1865517" algn="l"/>
                <a:tab pos="2332364" algn="l"/>
                <a:tab pos="2799211" algn="l"/>
                <a:tab pos="3266058" algn="l"/>
                <a:tab pos="3732903" algn="l"/>
                <a:tab pos="4199751" algn="l"/>
                <a:tab pos="4666597" algn="l"/>
                <a:tab pos="5133071" algn="l"/>
                <a:tab pos="5599918" algn="l"/>
                <a:tab pos="6066765" algn="l"/>
                <a:tab pos="6533611" algn="l"/>
                <a:tab pos="7000457" algn="l"/>
                <a:tab pos="7467305" algn="l"/>
                <a:tab pos="7934151" algn="l"/>
                <a:tab pos="8400999" algn="l"/>
                <a:tab pos="8867846" algn="l"/>
                <a:tab pos="9334693" algn="l"/>
              </a:tabLst>
            </a:pPr>
            <a:endParaRPr lang="ru-RU" sz="2400" dirty="0"/>
          </a:p>
        </p:txBody>
      </p:sp>
      <p:sp>
        <p:nvSpPr>
          <p:cNvPr id="8" name="Заголовок 1"/>
          <p:cNvSpPr txBox="1">
            <a:spLocks/>
          </p:cNvSpPr>
          <p:nvPr/>
        </p:nvSpPr>
        <p:spPr>
          <a:xfrm>
            <a:off x="2731862" y="2775334"/>
            <a:ext cx="7184147" cy="691938"/>
          </a:xfrm>
          <a:prstGeom prst="rect">
            <a:avLst/>
          </a:prstGeom>
        </p:spPr>
        <p:txBody>
          <a:bodyPr wrap="square">
            <a:noAutofit/>
          </a:bodyPr>
          <a:lstStyle>
            <a:lvl1pPr algn="ctr" defTabSz="993775" rtl="0" fontAlgn="base">
              <a:spcBef>
                <a:spcPct val="0"/>
              </a:spcBef>
              <a:spcAft>
                <a:spcPct val="0"/>
              </a:spcAft>
              <a:defRPr sz="4800" kern="1200">
                <a:solidFill>
                  <a:schemeClr val="tx2"/>
                </a:solidFill>
                <a:latin typeface="+mj-lt"/>
                <a:ea typeface="+mj-ea"/>
                <a:cs typeface="+mj-cs"/>
              </a:defRPr>
            </a:lvl1pPr>
            <a:lvl2pPr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2pPr>
            <a:lvl3pPr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3pPr>
            <a:lvl4pPr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4pPr>
            <a:lvl5pPr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5pPr>
            <a:lvl6pPr marL="457200"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6pPr>
            <a:lvl7pPr marL="914400"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7pPr>
            <a:lvl8pPr marL="1371600"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8pPr>
            <a:lvl9pPr marL="1828800"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9pPr>
          </a:lstStyle>
          <a:p>
            <a:r>
              <a:rPr lang="ru-RU" sz="4000" dirty="0"/>
              <a:t>Например</a:t>
            </a:r>
            <a:r>
              <a:rPr lang="ru-RU" dirty="0"/>
              <a:t>,</a:t>
            </a:r>
          </a:p>
        </p:txBody>
      </p:sp>
      <p:sp>
        <p:nvSpPr>
          <p:cNvPr id="9" name="Номер слайда 8"/>
          <p:cNvSpPr>
            <a:spLocks noGrp="1"/>
          </p:cNvSpPr>
          <p:nvPr>
            <p:ph type="sldNum" sz="quarter" idx="12"/>
          </p:nvPr>
        </p:nvSpPr>
        <p:spPr>
          <a:xfrm>
            <a:off x="11511752" y="6607070"/>
            <a:ext cx="808441" cy="379409"/>
          </a:xfrm>
        </p:spPr>
        <p:txBody>
          <a:bodyPr/>
          <a:lstStyle/>
          <a:p>
            <a:fld id="{952B6C0E-C4B9-4094-8E59-5B7DF00D5415}" type="slidenum">
              <a:rPr lang="ru-RU" smtClean="0">
                <a:solidFill>
                  <a:schemeClr val="tx1"/>
                </a:solidFill>
              </a:rPr>
              <a:t>18</a:t>
            </a:fld>
            <a:endParaRPr lang="ru-RU" dirty="0">
              <a:solidFill>
                <a:schemeClr val="tx1"/>
              </a:solidFill>
            </a:endParaRPr>
          </a:p>
        </p:txBody>
      </p:sp>
    </p:spTree>
    <p:extLst>
      <p:ext uri="{BB962C8B-B14F-4D97-AF65-F5344CB8AC3E}">
        <p14:creationId xmlns:p14="http://schemas.microsoft.com/office/powerpoint/2010/main" val="13568429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AutoShape 4"/>
          <p:cNvSpPr>
            <a:spLocks noChangeArrowheads="1"/>
          </p:cNvSpPr>
          <p:nvPr/>
        </p:nvSpPr>
        <p:spPr bwMode="auto">
          <a:xfrm>
            <a:off x="789509" y="322263"/>
            <a:ext cx="11593287" cy="6553200"/>
          </a:xfrm>
          <a:prstGeom prst="roundRect">
            <a:avLst>
              <a:gd name="adj" fmla="val 16667"/>
            </a:avLst>
          </a:prstGeom>
          <a:solidFill>
            <a:schemeClr val="bg1">
              <a:alpha val="50195"/>
            </a:scheme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9" name="AutoShape 5"/>
          <p:cNvSpPr>
            <a:spLocks noChangeArrowheads="1"/>
          </p:cNvSpPr>
          <p:nvPr/>
        </p:nvSpPr>
        <p:spPr bwMode="auto">
          <a:xfrm>
            <a:off x="2373685" y="322264"/>
            <a:ext cx="8064128" cy="720601"/>
          </a:xfrm>
          <a:prstGeom prst="roundRect">
            <a:avLst>
              <a:gd name="adj" fmla="val 37469"/>
            </a:avLst>
          </a:prstGeom>
          <a:solidFill>
            <a:srgbClr val="FFFFFF">
              <a:alpha val="78822"/>
            </a:srgb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2" name="Заголовок 1"/>
          <p:cNvSpPr txBox="1">
            <a:spLocks noGrp="1"/>
          </p:cNvSpPr>
          <p:nvPr>
            <p:ph type="title" idx="4294967295"/>
          </p:nvPr>
        </p:nvSpPr>
        <p:spPr>
          <a:xfrm>
            <a:off x="1887538" y="309616"/>
            <a:ext cx="8550275" cy="730257"/>
          </a:xfrm>
          <a:prstGeom prst="rect">
            <a:avLst/>
          </a:prstGeom>
        </p:spPr>
        <p:txBody>
          <a:bodyPr wrap="square">
            <a:noAutofit/>
          </a:bodyPr>
          <a:lstStyle/>
          <a:p>
            <a:pPr lvl="0"/>
            <a:r>
              <a:rPr lang="ru-RU" sz="3949" dirty="0"/>
              <a:t>Гипотеза однородности  2</a:t>
            </a:r>
          </a:p>
        </p:txBody>
      </p:sp>
      <p:sp>
        <p:nvSpPr>
          <p:cNvPr id="3" name="Текст 2"/>
          <p:cNvSpPr txBox="1">
            <a:spLocks noGrp="1"/>
          </p:cNvSpPr>
          <p:nvPr>
            <p:ph type="body" idx="4294967295"/>
          </p:nvPr>
        </p:nvSpPr>
        <p:spPr>
          <a:xfrm>
            <a:off x="1195390" y="1583341"/>
            <a:ext cx="10251304" cy="3347956"/>
          </a:xfrm>
          <a:prstGeom prst="rect">
            <a:avLst/>
          </a:prstGeom>
        </p:spPr>
        <p:txBody>
          <a:bodyPr wrap="square"/>
          <a:lstStyle/>
          <a:p>
            <a:pPr marL="0" indent="0">
              <a:lnSpc>
                <a:spcPct val="90000"/>
              </a:lnSpc>
              <a:spcBef>
                <a:spcPts val="674"/>
              </a:spcBef>
              <a:buClr>
                <a:srgbClr val="CC9900"/>
              </a:buClr>
              <a:buSzPct val="65000"/>
              <a:buFont typeface="Wingdings" pitchFamily="2"/>
              <a:buChar char=""/>
              <a:tabLst>
                <a:tab pos="0" algn="l"/>
                <a:tab pos="110352" algn="l"/>
                <a:tab pos="577199" algn="l"/>
                <a:tab pos="1044046" algn="l"/>
                <a:tab pos="1510893" algn="l"/>
                <a:tab pos="1977740" algn="l"/>
                <a:tab pos="2444587" algn="l"/>
                <a:tab pos="2911434" algn="l"/>
                <a:tab pos="3378279" algn="l"/>
                <a:tab pos="3845127" algn="l"/>
                <a:tab pos="4311973" algn="l"/>
                <a:tab pos="4778447" algn="l"/>
                <a:tab pos="5245294" algn="l"/>
                <a:tab pos="5712141" algn="l"/>
                <a:tab pos="6178987" algn="l"/>
                <a:tab pos="6645833" algn="l"/>
                <a:tab pos="7112681" algn="l"/>
                <a:tab pos="7579527" algn="l"/>
                <a:tab pos="8046375" algn="l"/>
                <a:tab pos="8513222" algn="l"/>
                <a:tab pos="8980068" algn="l"/>
              </a:tabLst>
            </a:pPr>
            <a:r>
              <a:rPr lang="ru-RU" sz="2702" dirty="0"/>
              <a:t> Обозначим </a:t>
            </a:r>
            <a:r>
              <a:rPr lang="en-US" sz="2702" i="1" dirty="0" err="1"/>
              <a:t>F</a:t>
            </a:r>
            <a:r>
              <a:rPr lang="en-US" sz="2702" i="1" baseline="-25000" dirty="0" err="1"/>
              <a:t>x</a:t>
            </a:r>
            <a:r>
              <a:rPr lang="en-US" sz="2702" i="1" dirty="0"/>
              <a:t>(t)</a:t>
            </a:r>
            <a:r>
              <a:rPr lang="ru-RU" sz="2702" dirty="0"/>
              <a:t>  </a:t>
            </a:r>
            <a:r>
              <a:rPr lang="en-US" sz="2702" dirty="0"/>
              <a:t> </a:t>
            </a:r>
            <a:r>
              <a:rPr lang="ru-RU" sz="2702" dirty="0"/>
              <a:t>функцию распределения случайной величины Х.</a:t>
            </a:r>
          </a:p>
          <a:p>
            <a:pPr marL="0" indent="0">
              <a:lnSpc>
                <a:spcPct val="90000"/>
              </a:lnSpc>
              <a:spcBef>
                <a:spcPts val="674"/>
              </a:spcBef>
              <a:buClr>
                <a:srgbClr val="CC9900"/>
              </a:buClr>
              <a:buSzPct val="65000"/>
              <a:buFont typeface="Wingdings" pitchFamily="2"/>
              <a:buChar char=""/>
              <a:tabLst>
                <a:tab pos="0" algn="l"/>
                <a:tab pos="110352" algn="l"/>
                <a:tab pos="577199" algn="l"/>
                <a:tab pos="1044046" algn="l"/>
                <a:tab pos="1510893" algn="l"/>
                <a:tab pos="1977740" algn="l"/>
                <a:tab pos="2444587" algn="l"/>
                <a:tab pos="2911434" algn="l"/>
                <a:tab pos="3378279" algn="l"/>
                <a:tab pos="3845127" algn="l"/>
                <a:tab pos="4311973" algn="l"/>
                <a:tab pos="4778447" algn="l"/>
                <a:tab pos="5245294" algn="l"/>
                <a:tab pos="5712141" algn="l"/>
                <a:tab pos="6178987" algn="l"/>
                <a:tab pos="6645833" algn="l"/>
                <a:tab pos="7112681" algn="l"/>
                <a:tab pos="7579527" algn="l"/>
                <a:tab pos="8046375" algn="l"/>
                <a:tab pos="8513222" algn="l"/>
                <a:tab pos="8980068" algn="l"/>
              </a:tabLst>
            </a:pPr>
            <a:r>
              <a:rPr lang="ru-RU" sz="2702" dirty="0"/>
              <a:t> Обозначим </a:t>
            </a:r>
            <a:r>
              <a:rPr lang="en-US" sz="2702" i="1" dirty="0"/>
              <a:t>F</a:t>
            </a:r>
            <a:r>
              <a:rPr lang="en-US" sz="2702" i="1" baseline="-25000" dirty="0"/>
              <a:t>Y</a:t>
            </a:r>
            <a:r>
              <a:rPr lang="en-US" sz="2702" i="1" dirty="0"/>
              <a:t>(t)</a:t>
            </a:r>
            <a:r>
              <a:rPr lang="ru-RU" sz="2702" dirty="0"/>
              <a:t>   функцию распределения случайной величины </a:t>
            </a:r>
            <a:r>
              <a:rPr lang="en-US" sz="2702" dirty="0"/>
              <a:t>Y</a:t>
            </a:r>
          </a:p>
          <a:p>
            <a:pPr marL="0" indent="0">
              <a:lnSpc>
                <a:spcPct val="90000"/>
              </a:lnSpc>
              <a:spcBef>
                <a:spcPts val="674"/>
              </a:spcBef>
              <a:buClr>
                <a:srgbClr val="CC9900"/>
              </a:buClr>
              <a:buSzPct val="65000"/>
              <a:buFont typeface="Wingdings" pitchFamily="2"/>
              <a:buChar char=""/>
              <a:tabLst>
                <a:tab pos="0" algn="l"/>
                <a:tab pos="110352" algn="l"/>
                <a:tab pos="577199" algn="l"/>
                <a:tab pos="1044046" algn="l"/>
                <a:tab pos="1510893" algn="l"/>
                <a:tab pos="1977740" algn="l"/>
                <a:tab pos="2444587" algn="l"/>
                <a:tab pos="2911434" algn="l"/>
                <a:tab pos="3378279" algn="l"/>
                <a:tab pos="3845127" algn="l"/>
                <a:tab pos="4311973" algn="l"/>
                <a:tab pos="4778447" algn="l"/>
                <a:tab pos="5245294" algn="l"/>
                <a:tab pos="5712141" algn="l"/>
                <a:tab pos="6178987" algn="l"/>
                <a:tab pos="6645833" algn="l"/>
                <a:tab pos="7112681" algn="l"/>
                <a:tab pos="7579527" algn="l"/>
                <a:tab pos="8046375" algn="l"/>
                <a:tab pos="8513222" algn="l"/>
                <a:tab pos="8980068" algn="l"/>
              </a:tabLst>
            </a:pPr>
            <a:r>
              <a:rPr lang="ru-RU" sz="2702" dirty="0">
                <a:solidFill>
                  <a:srgbClr val="FF0000"/>
                </a:solidFill>
              </a:rPr>
              <a:t> Гипотеза</a:t>
            </a:r>
            <a:r>
              <a:rPr lang="ru-RU" sz="2702" dirty="0"/>
              <a:t> : функции распределения совпадают</a:t>
            </a:r>
            <a:r>
              <a:rPr lang="en-US" sz="2702" dirty="0"/>
              <a:t>  </a:t>
            </a:r>
          </a:p>
          <a:p>
            <a:pPr marL="354624" indent="-354624">
              <a:lnSpc>
                <a:spcPct val="90000"/>
              </a:lnSpc>
              <a:spcBef>
                <a:spcPts val="674"/>
              </a:spcBef>
              <a:tabLst>
                <a:tab pos="354624" algn="l"/>
                <a:tab pos="464976" algn="l"/>
                <a:tab pos="931823" algn="l"/>
                <a:tab pos="1398670" algn="l"/>
                <a:tab pos="1865517" algn="l"/>
                <a:tab pos="2332364" algn="l"/>
                <a:tab pos="2799211" algn="l"/>
                <a:tab pos="3266058" algn="l"/>
                <a:tab pos="3732903" algn="l"/>
                <a:tab pos="4199751" algn="l"/>
                <a:tab pos="4666597" algn="l"/>
                <a:tab pos="5133071" algn="l"/>
                <a:tab pos="5599918" algn="l"/>
                <a:tab pos="6066765" algn="l"/>
                <a:tab pos="6533611" algn="l"/>
                <a:tab pos="7000457" algn="l"/>
                <a:tab pos="7467305" algn="l"/>
                <a:tab pos="7934151" algn="l"/>
                <a:tab pos="8400999" algn="l"/>
                <a:tab pos="8867846" algn="l"/>
                <a:tab pos="9334693" algn="l"/>
              </a:tabLst>
            </a:pPr>
            <a:endParaRPr lang="ru-RU" sz="2702" dirty="0"/>
          </a:p>
          <a:p>
            <a:pPr marL="0" indent="0">
              <a:lnSpc>
                <a:spcPct val="90000"/>
              </a:lnSpc>
              <a:spcBef>
                <a:spcPts val="674"/>
              </a:spcBef>
              <a:buClr>
                <a:srgbClr val="CC9900"/>
              </a:buClr>
              <a:buSzPct val="65000"/>
              <a:buFont typeface="Wingdings" pitchFamily="2"/>
              <a:buChar char=""/>
              <a:tabLst>
                <a:tab pos="0" algn="l"/>
                <a:tab pos="110352" algn="l"/>
                <a:tab pos="577199" algn="l"/>
                <a:tab pos="1044046" algn="l"/>
                <a:tab pos="1510893" algn="l"/>
                <a:tab pos="1977740" algn="l"/>
                <a:tab pos="2444587" algn="l"/>
                <a:tab pos="2911434" algn="l"/>
                <a:tab pos="3378279" algn="l"/>
                <a:tab pos="3845127" algn="l"/>
                <a:tab pos="4311973" algn="l"/>
                <a:tab pos="4778447" algn="l"/>
                <a:tab pos="5245294" algn="l"/>
                <a:tab pos="5712141" algn="l"/>
                <a:tab pos="6178987" algn="l"/>
                <a:tab pos="6645833" algn="l"/>
                <a:tab pos="7112681" algn="l"/>
                <a:tab pos="7579527" algn="l"/>
                <a:tab pos="8046375" algn="l"/>
                <a:tab pos="8513222" algn="l"/>
                <a:tab pos="8980068" algn="l"/>
              </a:tabLst>
            </a:pPr>
            <a:endParaRPr lang="ru-RU" sz="2702" dirty="0"/>
          </a:p>
          <a:p>
            <a:pPr marL="0" indent="0">
              <a:lnSpc>
                <a:spcPct val="90000"/>
              </a:lnSpc>
              <a:spcBef>
                <a:spcPts val="674"/>
              </a:spcBef>
              <a:buClr>
                <a:srgbClr val="CC9900"/>
              </a:buClr>
              <a:buSzPct val="65000"/>
              <a:buFont typeface="Wingdings" pitchFamily="2"/>
              <a:buChar char=""/>
              <a:tabLst>
                <a:tab pos="0" algn="l"/>
                <a:tab pos="110352" algn="l"/>
                <a:tab pos="577199" algn="l"/>
                <a:tab pos="1044046" algn="l"/>
                <a:tab pos="1510893" algn="l"/>
                <a:tab pos="1977740" algn="l"/>
                <a:tab pos="2444587" algn="l"/>
                <a:tab pos="2911434" algn="l"/>
                <a:tab pos="3378279" algn="l"/>
                <a:tab pos="3845127" algn="l"/>
                <a:tab pos="4311973" algn="l"/>
                <a:tab pos="4778447" algn="l"/>
                <a:tab pos="5245294" algn="l"/>
                <a:tab pos="5712141" algn="l"/>
                <a:tab pos="6178987" algn="l"/>
                <a:tab pos="6645833" algn="l"/>
                <a:tab pos="7112681" algn="l"/>
                <a:tab pos="7579527" algn="l"/>
                <a:tab pos="8046375" algn="l"/>
                <a:tab pos="8513222" algn="l"/>
                <a:tab pos="8980068" algn="l"/>
              </a:tabLst>
            </a:pPr>
            <a:r>
              <a:rPr lang="ru-RU" sz="2702" dirty="0"/>
              <a:t> Кому и когда приходится проверять гипотезу однородности?</a:t>
            </a:r>
          </a:p>
        </p:txBody>
      </p:sp>
      <p:sp>
        <p:nvSpPr>
          <p:cNvPr id="4" name="Полилиния 3"/>
          <p:cNvSpPr/>
          <p:nvPr/>
        </p:nvSpPr>
        <p:spPr>
          <a:xfrm>
            <a:off x="1583268" y="0"/>
            <a:ext cx="9501717" cy="1496"/>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noFill/>
          <a:ln>
            <a:noFill/>
            <a:prstDash val="solid"/>
          </a:ln>
        </p:spPr>
        <p:txBody>
          <a:bodyPr vert="horz" wrap="none" lIns="93521" tIns="48631" rIns="93521" bIns="48631" anchor="ctr" anchorCtr="0" compatLnSpc="1">
            <a:noAutofit/>
          </a:bodyPr>
          <a:lstStyle/>
          <a:p>
            <a:pPr>
              <a:spcBef>
                <a:spcPts val="0"/>
              </a:spcBef>
              <a:spcAft>
                <a:spcPts val="0"/>
              </a:spcAft>
              <a:tabLst>
                <a:tab pos="0" algn="l"/>
                <a:tab pos="466472" algn="l"/>
                <a:tab pos="933319" algn="l"/>
                <a:tab pos="1400166" algn="l"/>
                <a:tab pos="1867013" algn="l"/>
                <a:tab pos="2333860" algn="l"/>
                <a:tab pos="2800707" algn="l"/>
                <a:tab pos="3267554" algn="l"/>
                <a:tab pos="3734401" algn="l"/>
                <a:tab pos="4201247" algn="l"/>
                <a:tab pos="4668094" algn="l"/>
                <a:tab pos="5134940" algn="l"/>
                <a:tab pos="5601788" algn="l"/>
                <a:tab pos="6068635" algn="l"/>
                <a:tab pos="6535482" algn="l"/>
                <a:tab pos="7002329" algn="l"/>
                <a:tab pos="7469175" algn="l"/>
                <a:tab pos="7936022" algn="l"/>
                <a:tab pos="8402868" algn="l"/>
                <a:tab pos="8869716" algn="l"/>
                <a:tab pos="9336563" algn="l"/>
              </a:tabLst>
            </a:pPr>
            <a:endParaRPr lang="ru-RU" sz="1870">
              <a:solidFill>
                <a:srgbClr val="000000"/>
              </a:solidFill>
              <a:latin typeface="Arial" pitchFamily="2"/>
              <a:ea typeface="Arial" pitchFamily="2"/>
              <a:cs typeface="Arial" pitchFamily="2"/>
            </a:endParaRPr>
          </a:p>
        </p:txBody>
      </p:sp>
      <p:pic>
        <p:nvPicPr>
          <p:cNvPr id="7" name="Рисунок 6"/>
          <p:cNvPicPr>
            <a:picLocks noChangeAspect="1"/>
          </p:cNvPicPr>
          <p:nvPr/>
        </p:nvPicPr>
        <p:blipFill>
          <a:blip r:embed="rId3">
            <a:alphaModFix/>
          </a:blip>
          <a:srcRect/>
          <a:stretch>
            <a:fillRect/>
          </a:stretch>
        </p:blipFill>
        <p:spPr>
          <a:xfrm>
            <a:off x="4965973" y="3035897"/>
            <a:ext cx="2094866" cy="580577"/>
          </a:xfrm>
          <a:prstGeom prst="rect">
            <a:avLst/>
          </a:prstGeom>
          <a:noFill/>
          <a:ln>
            <a:noFill/>
          </a:ln>
        </p:spPr>
      </p:pic>
      <p:sp>
        <p:nvSpPr>
          <p:cNvPr id="5" name="Номер слайда 4"/>
          <p:cNvSpPr>
            <a:spLocks noGrp="1"/>
          </p:cNvSpPr>
          <p:nvPr>
            <p:ph type="sldNum" sz="quarter" idx="12"/>
          </p:nvPr>
        </p:nvSpPr>
        <p:spPr>
          <a:xfrm>
            <a:off x="11673662" y="6614320"/>
            <a:ext cx="736433" cy="379409"/>
          </a:xfrm>
        </p:spPr>
        <p:txBody>
          <a:bodyPr/>
          <a:lstStyle/>
          <a:p>
            <a:fld id="{952B6C0E-C4B9-4094-8E59-5B7DF00D5415}" type="slidenum">
              <a:rPr lang="ru-RU" sz="1400">
                <a:solidFill>
                  <a:schemeClr val="tx1"/>
                </a:solidFill>
              </a:rPr>
              <a:t>19</a:t>
            </a:fld>
            <a:endParaRPr lang="ru-RU" sz="1400" dirty="0">
              <a:solidFill>
                <a:schemeClr val="tx1"/>
              </a:solidFill>
            </a:endParaRPr>
          </a:p>
        </p:txBody>
      </p:sp>
    </p:spTree>
    <p:extLst>
      <p:ext uri="{BB962C8B-B14F-4D97-AF65-F5344CB8AC3E}">
        <p14:creationId xmlns:p14="http://schemas.microsoft.com/office/powerpoint/2010/main" val="32576281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4"/>
          <p:cNvSpPr>
            <a:spLocks noChangeArrowheads="1"/>
          </p:cNvSpPr>
          <p:nvPr/>
        </p:nvSpPr>
        <p:spPr bwMode="auto">
          <a:xfrm>
            <a:off x="1438275" y="322263"/>
            <a:ext cx="10872513" cy="6553200"/>
          </a:xfrm>
          <a:prstGeom prst="roundRect">
            <a:avLst>
              <a:gd name="adj" fmla="val 16667"/>
            </a:avLst>
          </a:prstGeom>
          <a:solidFill>
            <a:schemeClr val="bg1">
              <a:alpha val="50195"/>
            </a:scheme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5" name="AutoShape 5"/>
          <p:cNvSpPr>
            <a:spLocks noChangeArrowheads="1"/>
          </p:cNvSpPr>
          <p:nvPr/>
        </p:nvSpPr>
        <p:spPr bwMode="auto">
          <a:xfrm>
            <a:off x="2373685" y="322264"/>
            <a:ext cx="8064128" cy="720601"/>
          </a:xfrm>
          <a:prstGeom prst="roundRect">
            <a:avLst>
              <a:gd name="adj" fmla="val 37469"/>
            </a:avLst>
          </a:prstGeom>
          <a:solidFill>
            <a:srgbClr val="FFFFFF">
              <a:alpha val="78822"/>
            </a:srgb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2" name="Заголовок 1"/>
          <p:cNvSpPr txBox="1">
            <a:spLocks noGrp="1"/>
          </p:cNvSpPr>
          <p:nvPr>
            <p:ph type="title" idx="4294967295"/>
          </p:nvPr>
        </p:nvSpPr>
        <p:spPr>
          <a:xfrm>
            <a:off x="1195389" y="288926"/>
            <a:ext cx="8550275" cy="1184275"/>
          </a:xfrm>
          <a:prstGeom prst="rect">
            <a:avLst/>
          </a:prstGeom>
        </p:spPr>
        <p:txBody>
          <a:bodyPr wrap="square">
            <a:noAutofit/>
          </a:bodyPr>
          <a:lstStyle/>
          <a:p>
            <a:pPr lvl="0"/>
            <a:r>
              <a:rPr lang="ru-RU" sz="3949"/>
              <a:t>Например,</a:t>
            </a:r>
            <a:br>
              <a:rPr lang="ru-RU" sz="3949"/>
            </a:br>
            <a:endParaRPr lang="ru-RU" sz="3949"/>
          </a:p>
        </p:txBody>
      </p:sp>
      <p:sp>
        <p:nvSpPr>
          <p:cNvPr id="3" name="Текст 2"/>
          <p:cNvSpPr txBox="1">
            <a:spLocks noGrp="1"/>
          </p:cNvSpPr>
          <p:nvPr>
            <p:ph type="body" idx="4294967295"/>
          </p:nvPr>
        </p:nvSpPr>
        <p:spPr>
          <a:xfrm>
            <a:off x="933525" y="1575031"/>
            <a:ext cx="11118277" cy="4708525"/>
          </a:xfrm>
          <a:prstGeom prst="rect">
            <a:avLst/>
          </a:prstGeom>
        </p:spPr>
        <p:txBody>
          <a:bodyPr wrap="square"/>
          <a:lstStyle/>
          <a:p>
            <a:pPr marL="0" indent="0">
              <a:buClr>
                <a:srgbClr val="CC9900"/>
              </a:buClr>
              <a:buSzPct val="65000"/>
              <a:buFont typeface="Wingdings" pitchFamily="2"/>
              <a:buChar char=""/>
              <a:tabLst>
                <a:tab pos="0" algn="l"/>
                <a:tab pos="110352" algn="l"/>
                <a:tab pos="577199" algn="l"/>
                <a:tab pos="1044046" algn="l"/>
                <a:tab pos="1510893" algn="l"/>
                <a:tab pos="1977740" algn="l"/>
                <a:tab pos="2444587" algn="l"/>
                <a:tab pos="2911434" algn="l"/>
                <a:tab pos="3378279" algn="l"/>
                <a:tab pos="3845127" algn="l"/>
                <a:tab pos="4311973" algn="l"/>
                <a:tab pos="4778447" algn="l"/>
                <a:tab pos="5245294" algn="l"/>
                <a:tab pos="5712141" algn="l"/>
                <a:tab pos="6178987" algn="l"/>
                <a:tab pos="6645833" algn="l"/>
                <a:tab pos="7112681" algn="l"/>
                <a:tab pos="7579527" algn="l"/>
                <a:tab pos="8046375" algn="l"/>
                <a:tab pos="8513222" algn="l"/>
                <a:tab pos="8980068" algn="l"/>
              </a:tabLst>
            </a:pPr>
            <a:r>
              <a:rPr lang="ru-RU" sz="2800" dirty="0"/>
              <a:t> Распределение продаж до рекламной акции и после нее (пример с разными источниками рекламы).</a:t>
            </a:r>
          </a:p>
          <a:p>
            <a:pPr marL="0" indent="0">
              <a:buClr>
                <a:srgbClr val="CC9900"/>
              </a:buClr>
              <a:buSzPct val="65000"/>
              <a:buFont typeface="Wingdings" pitchFamily="2"/>
              <a:buChar char=""/>
              <a:tabLst>
                <a:tab pos="0" algn="l"/>
                <a:tab pos="110352" algn="l"/>
                <a:tab pos="577199" algn="l"/>
                <a:tab pos="1044046" algn="l"/>
                <a:tab pos="1510893" algn="l"/>
                <a:tab pos="1977740" algn="l"/>
                <a:tab pos="2444587" algn="l"/>
                <a:tab pos="2911434" algn="l"/>
                <a:tab pos="3378279" algn="l"/>
                <a:tab pos="3845127" algn="l"/>
                <a:tab pos="4311973" algn="l"/>
                <a:tab pos="4778447" algn="l"/>
                <a:tab pos="5245294" algn="l"/>
                <a:tab pos="5712141" algn="l"/>
                <a:tab pos="6178987" algn="l"/>
                <a:tab pos="6645833" algn="l"/>
                <a:tab pos="7112681" algn="l"/>
                <a:tab pos="7579527" algn="l"/>
                <a:tab pos="8046375" algn="l"/>
                <a:tab pos="8513222" algn="l"/>
                <a:tab pos="8980068" algn="l"/>
              </a:tabLst>
            </a:pPr>
            <a:r>
              <a:rPr lang="ru-RU" sz="2800" dirty="0"/>
              <a:t> Если распределение продаж не изменилось, то улучшения нет.</a:t>
            </a:r>
          </a:p>
          <a:p>
            <a:pPr marL="354624" indent="-354624">
              <a:tabLst>
                <a:tab pos="354624" algn="l"/>
                <a:tab pos="464976" algn="l"/>
                <a:tab pos="931823" algn="l"/>
                <a:tab pos="1398670" algn="l"/>
                <a:tab pos="1865517" algn="l"/>
                <a:tab pos="2332364" algn="l"/>
                <a:tab pos="2799211" algn="l"/>
                <a:tab pos="3266058" algn="l"/>
                <a:tab pos="3732903" algn="l"/>
                <a:tab pos="4199751" algn="l"/>
                <a:tab pos="4666597" algn="l"/>
                <a:tab pos="5133071" algn="l"/>
                <a:tab pos="5599918" algn="l"/>
                <a:tab pos="6066765" algn="l"/>
                <a:tab pos="6533611" algn="l"/>
                <a:tab pos="7000457" algn="l"/>
                <a:tab pos="7467305" algn="l"/>
                <a:tab pos="7934151" algn="l"/>
                <a:tab pos="8400999" algn="l"/>
                <a:tab pos="8867846" algn="l"/>
                <a:tab pos="9334693" algn="l"/>
              </a:tabLst>
            </a:pPr>
            <a:endParaRPr lang="ru-RU" sz="2800" dirty="0"/>
          </a:p>
          <a:p>
            <a:pPr marL="0" indent="0">
              <a:buClr>
                <a:srgbClr val="CC9900"/>
              </a:buClr>
              <a:buSzPct val="65000"/>
              <a:buFont typeface="Wingdings" pitchFamily="2"/>
              <a:buChar char=""/>
              <a:tabLst>
                <a:tab pos="0" algn="l"/>
                <a:tab pos="110352" algn="l"/>
                <a:tab pos="577199" algn="l"/>
                <a:tab pos="1044046" algn="l"/>
                <a:tab pos="1510893" algn="l"/>
                <a:tab pos="1977740" algn="l"/>
                <a:tab pos="2444587" algn="l"/>
                <a:tab pos="2911434" algn="l"/>
                <a:tab pos="3378279" algn="l"/>
                <a:tab pos="3845127" algn="l"/>
                <a:tab pos="4311973" algn="l"/>
                <a:tab pos="4778447" algn="l"/>
                <a:tab pos="5245294" algn="l"/>
                <a:tab pos="5712141" algn="l"/>
                <a:tab pos="6178987" algn="l"/>
                <a:tab pos="6645833" algn="l"/>
                <a:tab pos="7112681" algn="l"/>
                <a:tab pos="7579527" algn="l"/>
                <a:tab pos="8046375" algn="l"/>
                <a:tab pos="8513222" algn="l"/>
                <a:tab pos="8980068" algn="l"/>
              </a:tabLst>
            </a:pPr>
            <a:r>
              <a:rPr lang="ru-RU" sz="2800" dirty="0"/>
              <a:t> Может сравниваться распределение покупателей по возрасту. Например, если реклама была нацелена на конкретный сегмент, например, на молодых мам.</a:t>
            </a:r>
          </a:p>
        </p:txBody>
      </p:sp>
      <p:sp>
        <p:nvSpPr>
          <p:cNvPr id="7" name="Номер слайда 6"/>
          <p:cNvSpPr>
            <a:spLocks noGrp="1"/>
          </p:cNvSpPr>
          <p:nvPr>
            <p:ph type="sldNum" sz="quarter" idx="12"/>
          </p:nvPr>
        </p:nvSpPr>
        <p:spPr>
          <a:xfrm>
            <a:off x="11343436" y="6496054"/>
            <a:ext cx="952457" cy="379409"/>
          </a:xfrm>
        </p:spPr>
        <p:txBody>
          <a:bodyPr/>
          <a:lstStyle/>
          <a:p>
            <a:fld id="{952B6C0E-C4B9-4094-8E59-5B7DF00D5415}" type="slidenum">
              <a:rPr lang="ru-RU" sz="1400">
                <a:solidFill>
                  <a:schemeClr val="tx1"/>
                </a:solidFill>
              </a:rPr>
              <a:t>20</a:t>
            </a:fld>
            <a:endParaRPr lang="ru-RU" sz="1400" dirty="0">
              <a:solidFill>
                <a:schemeClr val="tx1"/>
              </a:solidFill>
            </a:endParaRPr>
          </a:p>
        </p:txBody>
      </p:sp>
    </p:spTree>
    <p:extLst>
      <p:ext uri="{BB962C8B-B14F-4D97-AF65-F5344CB8AC3E}">
        <p14:creationId xmlns:p14="http://schemas.microsoft.com/office/powerpoint/2010/main" val="7271311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4"/>
          <p:cNvSpPr>
            <a:spLocks noChangeArrowheads="1"/>
          </p:cNvSpPr>
          <p:nvPr/>
        </p:nvSpPr>
        <p:spPr bwMode="auto">
          <a:xfrm>
            <a:off x="1438275" y="322263"/>
            <a:ext cx="10872513" cy="6553200"/>
          </a:xfrm>
          <a:prstGeom prst="roundRect">
            <a:avLst>
              <a:gd name="adj" fmla="val 16667"/>
            </a:avLst>
          </a:prstGeom>
          <a:solidFill>
            <a:schemeClr val="bg1">
              <a:alpha val="50195"/>
            </a:scheme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6" name="AutoShape 5"/>
          <p:cNvSpPr>
            <a:spLocks noChangeArrowheads="1"/>
          </p:cNvSpPr>
          <p:nvPr/>
        </p:nvSpPr>
        <p:spPr bwMode="auto">
          <a:xfrm>
            <a:off x="2373685" y="322264"/>
            <a:ext cx="8064128" cy="720601"/>
          </a:xfrm>
          <a:prstGeom prst="roundRect">
            <a:avLst>
              <a:gd name="adj" fmla="val 37469"/>
            </a:avLst>
          </a:prstGeom>
          <a:solidFill>
            <a:srgbClr val="FFFFFF">
              <a:alpha val="78822"/>
            </a:srgb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2" name="Заголовок 1"/>
          <p:cNvSpPr txBox="1">
            <a:spLocks noGrp="1"/>
          </p:cNvSpPr>
          <p:nvPr>
            <p:ph type="title" idx="4294967295"/>
          </p:nvPr>
        </p:nvSpPr>
        <p:spPr>
          <a:xfrm>
            <a:off x="1886223" y="401639"/>
            <a:ext cx="8550275" cy="754063"/>
          </a:xfrm>
          <a:prstGeom prst="rect">
            <a:avLst/>
          </a:prstGeom>
        </p:spPr>
        <p:txBody>
          <a:bodyPr wrap="square">
            <a:noAutofit/>
          </a:bodyPr>
          <a:lstStyle/>
          <a:p>
            <a:pPr lvl="0"/>
            <a:r>
              <a:rPr lang="ru-RU" dirty="0"/>
              <a:t> 3.  Гипотеза независимости</a:t>
            </a:r>
          </a:p>
        </p:txBody>
      </p:sp>
      <p:sp>
        <p:nvSpPr>
          <p:cNvPr id="3" name="Текст 2"/>
          <p:cNvSpPr txBox="1">
            <a:spLocks noGrp="1"/>
          </p:cNvSpPr>
          <p:nvPr>
            <p:ph type="body" idx="4294967295"/>
          </p:nvPr>
        </p:nvSpPr>
        <p:spPr>
          <a:xfrm>
            <a:off x="1051906" y="1363633"/>
            <a:ext cx="10872513" cy="1913781"/>
          </a:xfrm>
          <a:prstGeom prst="rect">
            <a:avLst/>
          </a:prstGeom>
        </p:spPr>
        <p:txBody>
          <a:bodyPr wrap="square">
            <a:normAutofit lnSpcReduction="10000"/>
          </a:bodyPr>
          <a:lstStyle/>
          <a:p>
            <a:pPr marL="0" indent="0">
              <a:buClr>
                <a:srgbClr val="CC9900"/>
              </a:buClr>
              <a:buSzPct val="65000"/>
              <a:buFont typeface="Wingdings" pitchFamily="2"/>
              <a:buChar char=""/>
              <a:tabLst>
                <a:tab pos="0" algn="l"/>
                <a:tab pos="110352" algn="l"/>
                <a:tab pos="577199" algn="l"/>
                <a:tab pos="1044046" algn="l"/>
                <a:tab pos="1510893" algn="l"/>
                <a:tab pos="1977740" algn="l"/>
                <a:tab pos="2444587" algn="l"/>
                <a:tab pos="2911434" algn="l"/>
                <a:tab pos="3378279" algn="l"/>
                <a:tab pos="3845127" algn="l"/>
                <a:tab pos="4311973" algn="l"/>
                <a:tab pos="4778447" algn="l"/>
                <a:tab pos="5245294" algn="l"/>
                <a:tab pos="5712141" algn="l"/>
                <a:tab pos="6178987" algn="l"/>
                <a:tab pos="6645833" algn="l"/>
                <a:tab pos="7112681" algn="l"/>
                <a:tab pos="7579527" algn="l"/>
                <a:tab pos="8046375" algn="l"/>
                <a:tab pos="8513222" algn="l"/>
                <a:tab pos="8980068" algn="l"/>
              </a:tabLst>
            </a:pPr>
            <a:r>
              <a:rPr lang="ru-RU" sz="2800" dirty="0">
                <a:solidFill>
                  <a:srgbClr val="FF0000"/>
                </a:solidFill>
              </a:rPr>
              <a:t>Гипотеза</a:t>
            </a:r>
            <a:r>
              <a:rPr lang="ru-RU" sz="2800" dirty="0"/>
              <a:t> : случайные величины </a:t>
            </a:r>
            <a:r>
              <a:rPr lang="en-US" sz="2800" dirty="0"/>
              <a:t>X</a:t>
            </a:r>
            <a:r>
              <a:rPr lang="ru-RU" sz="2800" dirty="0"/>
              <a:t> и </a:t>
            </a:r>
            <a:r>
              <a:rPr lang="en-US" sz="2800" dirty="0"/>
              <a:t>Y </a:t>
            </a:r>
            <a:r>
              <a:rPr lang="ru-RU" sz="2800" dirty="0"/>
              <a:t>независимы</a:t>
            </a:r>
            <a:r>
              <a:rPr lang="en-US" sz="2800" dirty="0"/>
              <a:t> </a:t>
            </a:r>
            <a:r>
              <a:rPr lang="ru-RU" sz="2800" dirty="0"/>
              <a:t> (хотя более интересен обратный вопрос)</a:t>
            </a:r>
            <a:r>
              <a:rPr lang="en-US" sz="2800" dirty="0"/>
              <a:t> </a:t>
            </a:r>
            <a:endParaRPr lang="ru-RU" sz="2800" dirty="0"/>
          </a:p>
          <a:p>
            <a:pPr marL="0" indent="0">
              <a:buClr>
                <a:srgbClr val="CC9900"/>
              </a:buClr>
              <a:buSzPct val="65000"/>
              <a:buFont typeface="Wingdings" pitchFamily="2"/>
              <a:buChar char=""/>
              <a:tabLst>
                <a:tab pos="0" algn="l"/>
                <a:tab pos="110352" algn="l"/>
                <a:tab pos="577199" algn="l"/>
                <a:tab pos="1044046" algn="l"/>
                <a:tab pos="1510893" algn="l"/>
                <a:tab pos="1977740" algn="l"/>
                <a:tab pos="2444587" algn="l"/>
                <a:tab pos="2911434" algn="l"/>
                <a:tab pos="3378279" algn="l"/>
                <a:tab pos="3845127" algn="l"/>
                <a:tab pos="4311973" algn="l"/>
                <a:tab pos="4778447" algn="l"/>
                <a:tab pos="5245294" algn="l"/>
                <a:tab pos="5712141" algn="l"/>
                <a:tab pos="6178987" algn="l"/>
                <a:tab pos="6645833" algn="l"/>
                <a:tab pos="7112681" algn="l"/>
                <a:tab pos="7579527" algn="l"/>
                <a:tab pos="8046375" algn="l"/>
                <a:tab pos="8513222" algn="l"/>
                <a:tab pos="8980068" algn="l"/>
              </a:tabLst>
            </a:pPr>
            <a:endParaRPr lang="en-US" sz="2800" dirty="0"/>
          </a:p>
          <a:p>
            <a:pPr marL="0" indent="0">
              <a:buClr>
                <a:srgbClr val="CC9900"/>
              </a:buClr>
              <a:buSzPct val="65000"/>
              <a:buFont typeface="Wingdings" pitchFamily="2"/>
              <a:buChar char=""/>
              <a:tabLst>
                <a:tab pos="0" algn="l"/>
                <a:tab pos="110352" algn="l"/>
                <a:tab pos="577199" algn="l"/>
                <a:tab pos="1044046" algn="l"/>
                <a:tab pos="1510893" algn="l"/>
                <a:tab pos="1977740" algn="l"/>
                <a:tab pos="2444587" algn="l"/>
                <a:tab pos="2911434" algn="l"/>
                <a:tab pos="3378279" algn="l"/>
                <a:tab pos="3845127" algn="l"/>
                <a:tab pos="4311973" algn="l"/>
                <a:tab pos="4778447" algn="l"/>
                <a:tab pos="5245294" algn="l"/>
                <a:tab pos="5712141" algn="l"/>
                <a:tab pos="6178987" algn="l"/>
                <a:tab pos="6645833" algn="l"/>
                <a:tab pos="7112681" algn="l"/>
                <a:tab pos="7579527" algn="l"/>
                <a:tab pos="8046375" algn="l"/>
                <a:tab pos="8513222" algn="l"/>
                <a:tab pos="8980068" algn="l"/>
              </a:tabLst>
            </a:pPr>
            <a:r>
              <a:rPr lang="ru-RU" sz="2800" dirty="0"/>
              <a:t>Кому и когда приходится проверять гипотезу независимости?</a:t>
            </a:r>
          </a:p>
        </p:txBody>
      </p:sp>
      <p:sp>
        <p:nvSpPr>
          <p:cNvPr id="4" name="Полилиния 3"/>
          <p:cNvSpPr/>
          <p:nvPr/>
        </p:nvSpPr>
        <p:spPr>
          <a:xfrm>
            <a:off x="1583268" y="0"/>
            <a:ext cx="9501717" cy="1496"/>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noFill/>
          <a:ln>
            <a:noFill/>
            <a:prstDash val="solid"/>
          </a:ln>
        </p:spPr>
        <p:txBody>
          <a:bodyPr vert="horz" wrap="none" lIns="93521" tIns="48631" rIns="93521" bIns="48631" anchor="ctr" anchorCtr="0" compatLnSpc="1">
            <a:noAutofit/>
          </a:bodyPr>
          <a:lstStyle/>
          <a:p>
            <a:pPr>
              <a:spcBef>
                <a:spcPts val="0"/>
              </a:spcBef>
              <a:spcAft>
                <a:spcPts val="0"/>
              </a:spcAft>
              <a:tabLst>
                <a:tab pos="0" algn="l"/>
                <a:tab pos="466472" algn="l"/>
                <a:tab pos="933319" algn="l"/>
                <a:tab pos="1400166" algn="l"/>
                <a:tab pos="1867013" algn="l"/>
                <a:tab pos="2333860" algn="l"/>
                <a:tab pos="2800707" algn="l"/>
                <a:tab pos="3267554" algn="l"/>
                <a:tab pos="3734401" algn="l"/>
                <a:tab pos="4201247" algn="l"/>
                <a:tab pos="4668094" algn="l"/>
                <a:tab pos="5134940" algn="l"/>
                <a:tab pos="5601788" algn="l"/>
                <a:tab pos="6068635" algn="l"/>
                <a:tab pos="6535482" algn="l"/>
                <a:tab pos="7002329" algn="l"/>
                <a:tab pos="7469175" algn="l"/>
                <a:tab pos="7936022" algn="l"/>
                <a:tab pos="8402868" algn="l"/>
                <a:tab pos="8869716" algn="l"/>
                <a:tab pos="9336563" algn="l"/>
              </a:tabLst>
            </a:pPr>
            <a:endParaRPr lang="ru-RU" sz="1870">
              <a:solidFill>
                <a:srgbClr val="000000"/>
              </a:solidFill>
              <a:latin typeface="Arial" pitchFamily="2"/>
              <a:ea typeface="Arial" pitchFamily="2"/>
              <a:cs typeface="Arial" pitchFamily="2"/>
            </a:endParaRPr>
          </a:p>
        </p:txBody>
      </p:sp>
      <p:sp>
        <p:nvSpPr>
          <p:cNvPr id="8" name="Текст 2"/>
          <p:cNvSpPr txBox="1">
            <a:spLocks/>
          </p:cNvSpPr>
          <p:nvPr/>
        </p:nvSpPr>
        <p:spPr>
          <a:xfrm>
            <a:off x="1062953" y="3962513"/>
            <a:ext cx="11142747" cy="2161192"/>
          </a:xfrm>
          <a:prstGeom prst="rect">
            <a:avLst/>
          </a:prstGeom>
        </p:spPr>
        <p:txBody>
          <a:bodyPr wrap="square"/>
          <a:lstStyle>
            <a:lvl1pPr marL="373063" indent="-373063" algn="l" defTabSz="993775" rtl="0" fontAlgn="base">
              <a:spcBef>
                <a:spcPct val="20000"/>
              </a:spcBef>
              <a:spcAft>
                <a:spcPct val="0"/>
              </a:spcAft>
              <a:buChar char="•"/>
              <a:defRPr sz="3500" kern="1200">
                <a:solidFill>
                  <a:schemeClr val="tx1"/>
                </a:solidFill>
                <a:latin typeface="+mn-lt"/>
                <a:ea typeface="+mn-ea"/>
                <a:cs typeface="+mn-cs"/>
              </a:defRPr>
            </a:lvl1pPr>
            <a:lvl2pPr marL="808038" indent="-311150" algn="l" defTabSz="993775" rtl="0" fontAlgn="base">
              <a:spcBef>
                <a:spcPct val="20000"/>
              </a:spcBef>
              <a:spcAft>
                <a:spcPct val="0"/>
              </a:spcAft>
              <a:buChar char="–"/>
              <a:defRPr sz="3000" kern="1200">
                <a:solidFill>
                  <a:schemeClr val="tx1"/>
                </a:solidFill>
                <a:latin typeface="+mn-lt"/>
                <a:ea typeface="+mn-ea"/>
                <a:cs typeface="+mn-cs"/>
              </a:defRPr>
            </a:lvl2pPr>
            <a:lvl3pPr marL="1243013" indent="-249238" algn="l" defTabSz="993775" rtl="0" fontAlgn="base">
              <a:spcBef>
                <a:spcPct val="20000"/>
              </a:spcBef>
              <a:spcAft>
                <a:spcPct val="0"/>
              </a:spcAft>
              <a:buChar char="•"/>
              <a:defRPr sz="2600" kern="1200">
                <a:solidFill>
                  <a:schemeClr val="tx1"/>
                </a:solidFill>
                <a:latin typeface="+mn-lt"/>
                <a:ea typeface="+mn-ea"/>
                <a:cs typeface="+mn-cs"/>
              </a:defRPr>
            </a:lvl3pPr>
            <a:lvl4pPr marL="1739900" indent="-247650" algn="l" defTabSz="993775" rtl="0" fontAlgn="base">
              <a:spcBef>
                <a:spcPct val="20000"/>
              </a:spcBef>
              <a:spcAft>
                <a:spcPct val="0"/>
              </a:spcAft>
              <a:buChar char="–"/>
              <a:defRPr sz="2200" kern="1200">
                <a:solidFill>
                  <a:schemeClr val="tx1"/>
                </a:solidFill>
                <a:latin typeface="+mn-lt"/>
                <a:ea typeface="+mn-ea"/>
                <a:cs typeface="+mn-cs"/>
              </a:defRPr>
            </a:lvl4pPr>
            <a:lvl5pPr marL="2236788" indent="-247650" algn="l" defTabSz="993775" rtl="0" fontAlgn="base">
              <a:spcBef>
                <a:spcPct val="20000"/>
              </a:spcBef>
              <a:spcAft>
                <a:spcPct val="0"/>
              </a:spcAft>
              <a:buChar char="»"/>
              <a:defRPr sz="2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Clr>
                <a:srgbClr val="CC9900"/>
              </a:buClr>
              <a:buSzPct val="65000"/>
              <a:buFont typeface="Wingdings" pitchFamily="2"/>
              <a:buChar char=""/>
              <a:tabLst>
                <a:tab pos="0" algn="l"/>
                <a:tab pos="110352" algn="l"/>
                <a:tab pos="577199" algn="l"/>
                <a:tab pos="1044046" algn="l"/>
                <a:tab pos="1510893" algn="l"/>
                <a:tab pos="1977740" algn="l"/>
                <a:tab pos="2444587" algn="l"/>
                <a:tab pos="2911434" algn="l"/>
                <a:tab pos="3378279" algn="l"/>
                <a:tab pos="3845127" algn="l"/>
                <a:tab pos="4311973" algn="l"/>
                <a:tab pos="4778447" algn="l"/>
                <a:tab pos="5245294" algn="l"/>
                <a:tab pos="5712141" algn="l"/>
                <a:tab pos="6178987" algn="l"/>
                <a:tab pos="6645833" algn="l"/>
                <a:tab pos="7112681" algn="l"/>
                <a:tab pos="7579527" algn="l"/>
                <a:tab pos="8046375" algn="l"/>
                <a:tab pos="8513222" algn="l"/>
                <a:tab pos="8980068" algn="l"/>
              </a:tabLst>
            </a:pPr>
            <a:r>
              <a:rPr lang="ru-RU" sz="2400" dirty="0"/>
              <a:t>Если возраст покупателей и объем покупки зависимы, то возраст надо учитывать при сегментации покупателей.</a:t>
            </a:r>
          </a:p>
          <a:p>
            <a:pPr marL="354624" indent="-354624">
              <a:tabLst>
                <a:tab pos="354624" algn="l"/>
                <a:tab pos="464976" algn="l"/>
                <a:tab pos="931823" algn="l"/>
                <a:tab pos="1398670" algn="l"/>
                <a:tab pos="1865517" algn="l"/>
                <a:tab pos="2332364" algn="l"/>
                <a:tab pos="2799211" algn="l"/>
                <a:tab pos="3266058" algn="l"/>
                <a:tab pos="3732903" algn="l"/>
                <a:tab pos="4199751" algn="l"/>
                <a:tab pos="4666597" algn="l"/>
                <a:tab pos="5133071" algn="l"/>
                <a:tab pos="5599918" algn="l"/>
                <a:tab pos="6066765" algn="l"/>
                <a:tab pos="6533611" algn="l"/>
                <a:tab pos="7000457" algn="l"/>
                <a:tab pos="7467305" algn="l"/>
                <a:tab pos="7934151" algn="l"/>
                <a:tab pos="8400999" algn="l"/>
                <a:tab pos="8867846" algn="l"/>
                <a:tab pos="9334693" algn="l"/>
              </a:tabLst>
            </a:pPr>
            <a:endParaRPr lang="ru-RU" sz="2400" dirty="0"/>
          </a:p>
          <a:p>
            <a:pPr marL="0" indent="0">
              <a:buClr>
                <a:srgbClr val="CC9900"/>
              </a:buClr>
              <a:buSzPct val="65000"/>
              <a:buFont typeface="Wingdings" pitchFamily="2"/>
              <a:buChar char=""/>
              <a:tabLst>
                <a:tab pos="0" algn="l"/>
                <a:tab pos="110352" algn="l"/>
                <a:tab pos="577199" algn="l"/>
                <a:tab pos="1044046" algn="l"/>
                <a:tab pos="1510893" algn="l"/>
                <a:tab pos="1977740" algn="l"/>
                <a:tab pos="2444587" algn="l"/>
                <a:tab pos="2911434" algn="l"/>
                <a:tab pos="3378279" algn="l"/>
                <a:tab pos="3845127" algn="l"/>
                <a:tab pos="4311973" algn="l"/>
                <a:tab pos="4778447" algn="l"/>
                <a:tab pos="5245294" algn="l"/>
                <a:tab pos="5712141" algn="l"/>
                <a:tab pos="6178987" algn="l"/>
                <a:tab pos="6645833" algn="l"/>
                <a:tab pos="7112681" algn="l"/>
                <a:tab pos="7579527" algn="l"/>
                <a:tab pos="8046375" algn="l"/>
                <a:tab pos="8513222" algn="l"/>
                <a:tab pos="8980068" algn="l"/>
              </a:tabLst>
            </a:pPr>
            <a:r>
              <a:rPr lang="ru-RU" sz="2400" dirty="0"/>
              <a:t>Иногда зависимость бывает неочевидной.</a:t>
            </a:r>
          </a:p>
          <a:p>
            <a:pPr marL="0" indent="0">
              <a:buClr>
                <a:srgbClr val="CC9900"/>
              </a:buClr>
              <a:buSzPct val="65000"/>
              <a:buFont typeface="Wingdings" pitchFamily="2"/>
              <a:buChar char=""/>
              <a:tabLst>
                <a:tab pos="0" algn="l"/>
                <a:tab pos="110352" algn="l"/>
                <a:tab pos="577199" algn="l"/>
                <a:tab pos="1044046" algn="l"/>
                <a:tab pos="1510893" algn="l"/>
                <a:tab pos="1977740" algn="l"/>
                <a:tab pos="2444587" algn="l"/>
                <a:tab pos="2911434" algn="l"/>
                <a:tab pos="3378279" algn="l"/>
                <a:tab pos="3845127" algn="l"/>
                <a:tab pos="4311973" algn="l"/>
                <a:tab pos="4778447" algn="l"/>
                <a:tab pos="5245294" algn="l"/>
                <a:tab pos="5712141" algn="l"/>
                <a:tab pos="6178987" algn="l"/>
                <a:tab pos="6645833" algn="l"/>
                <a:tab pos="7112681" algn="l"/>
                <a:tab pos="7579527" algn="l"/>
                <a:tab pos="8046375" algn="l"/>
                <a:tab pos="8513222" algn="l"/>
                <a:tab pos="8980068" algn="l"/>
              </a:tabLst>
            </a:pPr>
            <a:r>
              <a:rPr lang="ru-RU" sz="2400" dirty="0"/>
              <a:t>Длина волос и рост людей – зависимые переменные.</a:t>
            </a:r>
          </a:p>
        </p:txBody>
      </p:sp>
      <p:sp>
        <p:nvSpPr>
          <p:cNvPr id="9" name="Заголовок 1"/>
          <p:cNvSpPr txBox="1">
            <a:spLocks/>
          </p:cNvSpPr>
          <p:nvPr/>
        </p:nvSpPr>
        <p:spPr>
          <a:xfrm>
            <a:off x="3803184" y="3284593"/>
            <a:ext cx="4973083" cy="744577"/>
          </a:xfrm>
          <a:prstGeom prst="rect">
            <a:avLst/>
          </a:prstGeom>
        </p:spPr>
        <p:txBody>
          <a:bodyPr wrap="square">
            <a:noAutofit/>
          </a:bodyPr>
          <a:lstStyle>
            <a:lvl1pPr algn="ctr" defTabSz="993775" rtl="0" fontAlgn="base">
              <a:spcBef>
                <a:spcPct val="0"/>
              </a:spcBef>
              <a:spcAft>
                <a:spcPct val="0"/>
              </a:spcAft>
              <a:defRPr sz="4800" kern="1200">
                <a:solidFill>
                  <a:schemeClr val="tx2"/>
                </a:solidFill>
                <a:latin typeface="+mj-lt"/>
                <a:ea typeface="+mj-ea"/>
                <a:cs typeface="+mj-cs"/>
              </a:defRPr>
            </a:lvl1pPr>
            <a:lvl2pPr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2pPr>
            <a:lvl3pPr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3pPr>
            <a:lvl4pPr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4pPr>
            <a:lvl5pPr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5pPr>
            <a:lvl6pPr marL="457200"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6pPr>
            <a:lvl7pPr marL="914400"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7pPr>
            <a:lvl8pPr marL="1371600"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8pPr>
            <a:lvl9pPr marL="1828800"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9pPr>
          </a:lstStyle>
          <a:p>
            <a:r>
              <a:rPr lang="ru-RU" sz="3600" dirty="0"/>
              <a:t>Например,</a:t>
            </a:r>
          </a:p>
        </p:txBody>
      </p:sp>
      <p:sp>
        <p:nvSpPr>
          <p:cNvPr id="10" name="Номер слайда 9"/>
          <p:cNvSpPr>
            <a:spLocks noGrp="1"/>
          </p:cNvSpPr>
          <p:nvPr>
            <p:ph type="sldNum" sz="quarter" idx="12"/>
          </p:nvPr>
        </p:nvSpPr>
        <p:spPr>
          <a:xfrm>
            <a:off x="11663830" y="6564037"/>
            <a:ext cx="521177" cy="379409"/>
          </a:xfrm>
        </p:spPr>
        <p:txBody>
          <a:bodyPr vert="horz" lIns="91440" tIns="45720" rIns="91440" bIns="45720" rtlCol="0" anchor="ctr"/>
          <a:lstStyle/>
          <a:p>
            <a:fld id="{952B6C0E-C4B9-4094-8E59-5B7DF00D5415}" type="slidenum">
              <a:rPr lang="ru-RU" sz="1400">
                <a:solidFill>
                  <a:schemeClr val="tx1"/>
                </a:solidFill>
              </a:rPr>
              <a:pPr/>
              <a:t>21</a:t>
            </a:fld>
            <a:endParaRPr lang="ru-RU" sz="1400" dirty="0">
              <a:solidFill>
                <a:schemeClr val="tx1"/>
              </a:solidFill>
            </a:endParaRPr>
          </a:p>
        </p:txBody>
      </p:sp>
    </p:spTree>
    <p:extLst>
      <p:ext uri="{BB962C8B-B14F-4D97-AF65-F5344CB8AC3E}">
        <p14:creationId xmlns:p14="http://schemas.microsoft.com/office/powerpoint/2010/main" val="1469262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4"/>
          <p:cNvSpPr>
            <a:spLocks noChangeArrowheads="1"/>
          </p:cNvSpPr>
          <p:nvPr/>
        </p:nvSpPr>
        <p:spPr bwMode="auto">
          <a:xfrm>
            <a:off x="789509" y="335193"/>
            <a:ext cx="11449271" cy="6553200"/>
          </a:xfrm>
          <a:prstGeom prst="roundRect">
            <a:avLst>
              <a:gd name="adj" fmla="val 16667"/>
            </a:avLst>
          </a:prstGeom>
          <a:solidFill>
            <a:schemeClr val="bg1">
              <a:alpha val="50195"/>
            </a:scheme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5" name="AutoShape 5"/>
          <p:cNvSpPr>
            <a:spLocks noChangeArrowheads="1"/>
          </p:cNvSpPr>
          <p:nvPr/>
        </p:nvSpPr>
        <p:spPr bwMode="auto">
          <a:xfrm>
            <a:off x="2373685" y="322264"/>
            <a:ext cx="8064128" cy="720601"/>
          </a:xfrm>
          <a:prstGeom prst="roundRect">
            <a:avLst>
              <a:gd name="adj" fmla="val 37469"/>
            </a:avLst>
          </a:prstGeom>
          <a:solidFill>
            <a:srgbClr val="FFFFFF">
              <a:alpha val="78822"/>
            </a:srgb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2" name="Заголовок 1"/>
          <p:cNvSpPr txBox="1">
            <a:spLocks noGrp="1"/>
          </p:cNvSpPr>
          <p:nvPr>
            <p:ph type="title" idx="4294967295"/>
          </p:nvPr>
        </p:nvSpPr>
        <p:spPr>
          <a:xfrm>
            <a:off x="2023270" y="348395"/>
            <a:ext cx="8550275" cy="1184275"/>
          </a:xfrm>
          <a:prstGeom prst="rect">
            <a:avLst/>
          </a:prstGeom>
        </p:spPr>
        <p:txBody>
          <a:bodyPr wrap="square">
            <a:noAutofit/>
          </a:bodyPr>
          <a:lstStyle/>
          <a:p>
            <a:pPr lvl="0"/>
            <a:r>
              <a:rPr lang="ru-RU" dirty="0"/>
              <a:t>На шаг дальше…</a:t>
            </a:r>
          </a:p>
        </p:txBody>
      </p:sp>
      <p:sp>
        <p:nvSpPr>
          <p:cNvPr id="3" name="Текст 2"/>
          <p:cNvSpPr txBox="1">
            <a:spLocks noGrp="1"/>
          </p:cNvSpPr>
          <p:nvPr>
            <p:ph type="body" idx="4294967295"/>
          </p:nvPr>
        </p:nvSpPr>
        <p:spPr>
          <a:xfrm>
            <a:off x="1017419" y="1532671"/>
            <a:ext cx="10993450" cy="4046698"/>
          </a:xfrm>
          <a:prstGeom prst="rect">
            <a:avLst/>
          </a:prstGeom>
        </p:spPr>
        <p:txBody>
          <a:bodyPr wrap="square"/>
          <a:lstStyle/>
          <a:p>
            <a:pPr marL="0" indent="185738">
              <a:buClr>
                <a:srgbClr val="CC9900"/>
              </a:buClr>
              <a:buSzPct val="65000"/>
              <a:buFont typeface="Wingdings" pitchFamily="2"/>
              <a:buChar char=""/>
            </a:pPr>
            <a:r>
              <a:rPr lang="ru-RU" sz="2800" dirty="0"/>
              <a:t>В эконометрике редко интересен сам факт </a:t>
            </a:r>
            <a:r>
              <a:rPr lang="ru-RU" sz="2800" b="1" dirty="0"/>
              <a:t>зависимости</a:t>
            </a:r>
            <a:r>
              <a:rPr lang="ru-RU" sz="2800" dirty="0"/>
              <a:t>. </a:t>
            </a:r>
            <a:endParaRPr lang="en-US" sz="2800" dirty="0"/>
          </a:p>
          <a:p>
            <a:pPr marL="0" indent="0">
              <a:buClr>
                <a:srgbClr val="CC9900"/>
              </a:buClr>
              <a:buSzPct val="65000"/>
              <a:buNone/>
            </a:pPr>
            <a:r>
              <a:rPr lang="ru-RU" sz="2800" dirty="0"/>
              <a:t>Обычно идут дальше, пытаются описать зависимость.</a:t>
            </a:r>
          </a:p>
          <a:p>
            <a:pPr marL="0" indent="185738"/>
            <a:endParaRPr lang="ru-RU" sz="2800" dirty="0"/>
          </a:p>
          <a:p>
            <a:pPr marL="0" indent="185738">
              <a:buClr>
                <a:srgbClr val="CC9900"/>
              </a:buClr>
              <a:buSzPct val="65000"/>
              <a:buFont typeface="Wingdings" pitchFamily="2"/>
              <a:buChar char=""/>
            </a:pPr>
            <a:r>
              <a:rPr lang="ru-RU" sz="2800" dirty="0"/>
              <a:t>Подобные задачи решаются, в частности, методами регрессионного анализа.</a:t>
            </a:r>
          </a:p>
          <a:p>
            <a:pPr marL="0" indent="185738">
              <a:buClr>
                <a:srgbClr val="CC9900"/>
              </a:buClr>
              <a:buSzPct val="65000"/>
              <a:buFont typeface="Wingdings" pitchFamily="2"/>
              <a:buChar char=""/>
            </a:pPr>
            <a:r>
              <a:rPr lang="ru-RU" sz="2800" dirty="0"/>
              <a:t>Регрессионный анализ – следующая наша тема.</a:t>
            </a:r>
          </a:p>
        </p:txBody>
      </p:sp>
      <p:sp>
        <p:nvSpPr>
          <p:cNvPr id="7" name="Номер слайда 6"/>
          <p:cNvSpPr>
            <a:spLocks noGrp="1"/>
          </p:cNvSpPr>
          <p:nvPr>
            <p:ph type="sldNum" sz="quarter" idx="12"/>
          </p:nvPr>
        </p:nvSpPr>
        <p:spPr>
          <a:xfrm>
            <a:off x="11484760" y="6582145"/>
            <a:ext cx="736433" cy="379409"/>
          </a:xfrm>
        </p:spPr>
        <p:txBody>
          <a:bodyPr/>
          <a:lstStyle/>
          <a:p>
            <a:fld id="{952B6C0E-C4B9-4094-8E59-5B7DF00D5415}" type="slidenum">
              <a:rPr lang="ru-RU" smtClean="0">
                <a:solidFill>
                  <a:schemeClr val="tx1"/>
                </a:solidFill>
              </a:rPr>
              <a:t>22</a:t>
            </a:fld>
            <a:endParaRPr lang="ru-RU" dirty="0">
              <a:solidFill>
                <a:schemeClr val="tx1"/>
              </a:solidFill>
            </a:endParaRPr>
          </a:p>
        </p:txBody>
      </p:sp>
    </p:spTree>
    <p:extLst>
      <p:ext uri="{BB962C8B-B14F-4D97-AF65-F5344CB8AC3E}">
        <p14:creationId xmlns:p14="http://schemas.microsoft.com/office/powerpoint/2010/main" val="10645593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4"/>
          <p:cNvSpPr>
            <a:spLocks noChangeArrowheads="1"/>
          </p:cNvSpPr>
          <p:nvPr/>
        </p:nvSpPr>
        <p:spPr bwMode="auto">
          <a:xfrm>
            <a:off x="1438275" y="322263"/>
            <a:ext cx="10800505" cy="6553200"/>
          </a:xfrm>
          <a:prstGeom prst="roundRect">
            <a:avLst>
              <a:gd name="adj" fmla="val 16667"/>
            </a:avLst>
          </a:prstGeom>
          <a:solidFill>
            <a:schemeClr val="bg1">
              <a:alpha val="50195"/>
            </a:scheme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200">
              <a:solidFill>
                <a:schemeClr val="bg1"/>
              </a:solidFill>
            </a:endParaRPr>
          </a:p>
        </p:txBody>
      </p:sp>
      <p:sp>
        <p:nvSpPr>
          <p:cNvPr id="5" name="AutoShape 5"/>
          <p:cNvSpPr>
            <a:spLocks noChangeArrowheads="1"/>
          </p:cNvSpPr>
          <p:nvPr/>
        </p:nvSpPr>
        <p:spPr bwMode="auto">
          <a:xfrm>
            <a:off x="2373685" y="322264"/>
            <a:ext cx="8064128" cy="1440681"/>
          </a:xfrm>
          <a:prstGeom prst="roundRect">
            <a:avLst>
              <a:gd name="adj" fmla="val 37469"/>
            </a:avLst>
          </a:prstGeom>
          <a:solidFill>
            <a:srgbClr val="FFFFFF">
              <a:alpha val="78822"/>
            </a:srgb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200">
              <a:solidFill>
                <a:schemeClr val="bg1"/>
              </a:solidFill>
            </a:endParaRPr>
          </a:p>
        </p:txBody>
      </p:sp>
      <p:sp>
        <p:nvSpPr>
          <p:cNvPr id="2" name="Заголовок 1"/>
          <p:cNvSpPr txBox="1">
            <a:spLocks noGrp="1"/>
          </p:cNvSpPr>
          <p:nvPr>
            <p:ph type="title" idx="4294967295"/>
          </p:nvPr>
        </p:nvSpPr>
        <p:spPr>
          <a:xfrm>
            <a:off x="2453640" y="322264"/>
            <a:ext cx="7416800" cy="1184275"/>
          </a:xfrm>
          <a:prstGeom prst="rect">
            <a:avLst/>
          </a:prstGeom>
        </p:spPr>
        <p:txBody>
          <a:bodyPr wrap="square">
            <a:noAutofit/>
          </a:bodyPr>
          <a:lstStyle/>
          <a:p>
            <a:pPr lvl="0"/>
            <a:r>
              <a:rPr lang="ru-RU" sz="4000" dirty="0"/>
              <a:t>4.  Гипотезы о параметре распределения</a:t>
            </a:r>
          </a:p>
        </p:txBody>
      </p:sp>
      <p:sp>
        <p:nvSpPr>
          <p:cNvPr id="3" name="Текст 2"/>
          <p:cNvSpPr txBox="1">
            <a:spLocks noGrp="1"/>
          </p:cNvSpPr>
          <p:nvPr>
            <p:ph type="body" idx="4294967295"/>
          </p:nvPr>
        </p:nvSpPr>
        <p:spPr>
          <a:xfrm>
            <a:off x="1200873" y="1762945"/>
            <a:ext cx="10574338" cy="1008062"/>
          </a:xfrm>
          <a:prstGeom prst="rect">
            <a:avLst/>
          </a:prstGeom>
        </p:spPr>
        <p:txBody>
          <a:bodyPr wrap="square">
            <a:normAutofit/>
          </a:bodyPr>
          <a:lstStyle/>
          <a:p>
            <a:pPr marL="0" indent="0">
              <a:buClr>
                <a:srgbClr val="CC9900"/>
              </a:buClr>
              <a:buSzPct val="65000"/>
              <a:buFont typeface="Wingdings" pitchFamily="2"/>
              <a:buChar char=""/>
              <a:tabLst>
                <a:tab pos="0" algn="l"/>
                <a:tab pos="110352" algn="l"/>
                <a:tab pos="577199" algn="l"/>
                <a:tab pos="1044046" algn="l"/>
                <a:tab pos="1510893" algn="l"/>
                <a:tab pos="1977740" algn="l"/>
                <a:tab pos="2444587" algn="l"/>
                <a:tab pos="2911434" algn="l"/>
                <a:tab pos="3378279" algn="l"/>
                <a:tab pos="3845127" algn="l"/>
                <a:tab pos="4311973" algn="l"/>
                <a:tab pos="4778447" algn="l"/>
                <a:tab pos="5245294" algn="l"/>
                <a:tab pos="5712141" algn="l"/>
                <a:tab pos="6178987" algn="l"/>
                <a:tab pos="6645833" algn="l"/>
                <a:tab pos="7112681" algn="l"/>
                <a:tab pos="7579527" algn="l"/>
                <a:tab pos="8046375" algn="l"/>
                <a:tab pos="8513222" algn="l"/>
                <a:tab pos="8980068" algn="l"/>
              </a:tabLst>
            </a:pPr>
            <a:r>
              <a:rPr lang="ru-RU" sz="2400" i="1" dirty="0">
                <a:solidFill>
                  <a:srgbClr val="0070C0"/>
                </a:solidFill>
              </a:rPr>
              <a:t> Очень часто не так важно распределение случайной величины. Интересна лишь одна из характеристик распределения.</a:t>
            </a:r>
          </a:p>
          <a:p>
            <a:pPr indent="-354624"/>
            <a:endParaRPr lang="ru-RU" sz="2400" i="1" dirty="0">
              <a:solidFill>
                <a:srgbClr val="0070C0"/>
              </a:solidFill>
            </a:endParaRPr>
          </a:p>
        </p:txBody>
      </p:sp>
      <p:sp>
        <p:nvSpPr>
          <p:cNvPr id="7" name="Заголовок 1"/>
          <p:cNvSpPr txBox="1">
            <a:spLocks/>
          </p:cNvSpPr>
          <p:nvPr/>
        </p:nvSpPr>
        <p:spPr>
          <a:xfrm>
            <a:off x="1178021" y="2947221"/>
            <a:ext cx="10597551" cy="801683"/>
          </a:xfrm>
          <a:prstGeom prst="rect">
            <a:avLst/>
          </a:prstGeom>
        </p:spPr>
        <p:txBody>
          <a:bodyPr wrap="square">
            <a:noAutofit/>
          </a:bodyPr>
          <a:lstStyle>
            <a:lvl1pPr algn="ctr" defTabSz="993775" rtl="0" fontAlgn="base">
              <a:spcBef>
                <a:spcPct val="0"/>
              </a:spcBef>
              <a:spcAft>
                <a:spcPct val="0"/>
              </a:spcAft>
              <a:defRPr sz="4800" kern="1200">
                <a:solidFill>
                  <a:schemeClr val="tx2"/>
                </a:solidFill>
                <a:latin typeface="+mj-lt"/>
                <a:ea typeface="+mj-ea"/>
                <a:cs typeface="+mj-cs"/>
              </a:defRPr>
            </a:lvl1pPr>
            <a:lvl2pPr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2pPr>
            <a:lvl3pPr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3pPr>
            <a:lvl4pPr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4pPr>
            <a:lvl5pPr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5pPr>
            <a:lvl6pPr marL="457200"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6pPr>
            <a:lvl7pPr marL="914400"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7pPr>
            <a:lvl8pPr marL="1371600"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8pPr>
            <a:lvl9pPr marL="1828800"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9pPr>
          </a:lstStyle>
          <a:p>
            <a:pPr algn="l"/>
            <a:r>
              <a:rPr lang="ru-RU" sz="2400" dirty="0"/>
              <a:t>Если анализируются продажи магазина, то в первую очередь интересно… </a:t>
            </a:r>
            <a:br>
              <a:rPr lang="ru-RU" sz="2400" dirty="0"/>
            </a:br>
            <a:endParaRPr lang="ru-RU" sz="2400" dirty="0"/>
          </a:p>
        </p:txBody>
      </p:sp>
      <p:sp>
        <p:nvSpPr>
          <p:cNvPr id="8" name="Текст 2"/>
          <p:cNvSpPr txBox="1">
            <a:spLocks/>
          </p:cNvSpPr>
          <p:nvPr/>
        </p:nvSpPr>
        <p:spPr>
          <a:xfrm>
            <a:off x="1209182" y="3948733"/>
            <a:ext cx="10597551" cy="2256583"/>
          </a:xfrm>
          <a:prstGeom prst="rect">
            <a:avLst/>
          </a:prstGeom>
        </p:spPr>
        <p:txBody>
          <a:bodyPr wrap="square"/>
          <a:lstStyle>
            <a:lvl1pPr marL="373063" indent="-373063" algn="l" defTabSz="993775" rtl="0" fontAlgn="base">
              <a:spcBef>
                <a:spcPct val="20000"/>
              </a:spcBef>
              <a:spcAft>
                <a:spcPct val="0"/>
              </a:spcAft>
              <a:buChar char="•"/>
              <a:defRPr sz="3500" kern="1200">
                <a:solidFill>
                  <a:schemeClr val="tx1"/>
                </a:solidFill>
                <a:latin typeface="+mn-lt"/>
                <a:ea typeface="+mn-ea"/>
                <a:cs typeface="+mn-cs"/>
              </a:defRPr>
            </a:lvl1pPr>
            <a:lvl2pPr marL="808038" indent="-311150" algn="l" defTabSz="993775" rtl="0" fontAlgn="base">
              <a:spcBef>
                <a:spcPct val="20000"/>
              </a:spcBef>
              <a:spcAft>
                <a:spcPct val="0"/>
              </a:spcAft>
              <a:buChar char="–"/>
              <a:defRPr sz="3000" kern="1200">
                <a:solidFill>
                  <a:schemeClr val="tx1"/>
                </a:solidFill>
                <a:latin typeface="+mn-lt"/>
                <a:ea typeface="+mn-ea"/>
                <a:cs typeface="+mn-cs"/>
              </a:defRPr>
            </a:lvl2pPr>
            <a:lvl3pPr marL="1243013" indent="-249238" algn="l" defTabSz="993775" rtl="0" fontAlgn="base">
              <a:spcBef>
                <a:spcPct val="20000"/>
              </a:spcBef>
              <a:spcAft>
                <a:spcPct val="0"/>
              </a:spcAft>
              <a:buChar char="•"/>
              <a:defRPr sz="2600" kern="1200">
                <a:solidFill>
                  <a:schemeClr val="tx1"/>
                </a:solidFill>
                <a:latin typeface="+mn-lt"/>
                <a:ea typeface="+mn-ea"/>
                <a:cs typeface="+mn-cs"/>
              </a:defRPr>
            </a:lvl3pPr>
            <a:lvl4pPr marL="1739900" indent="-247650" algn="l" defTabSz="993775" rtl="0" fontAlgn="base">
              <a:spcBef>
                <a:spcPct val="20000"/>
              </a:spcBef>
              <a:spcAft>
                <a:spcPct val="0"/>
              </a:spcAft>
              <a:buChar char="–"/>
              <a:defRPr sz="2200" kern="1200">
                <a:solidFill>
                  <a:schemeClr val="tx1"/>
                </a:solidFill>
                <a:latin typeface="+mn-lt"/>
                <a:ea typeface="+mn-ea"/>
                <a:cs typeface="+mn-cs"/>
              </a:defRPr>
            </a:lvl4pPr>
            <a:lvl5pPr marL="2236788" indent="-247650" algn="l" defTabSz="993775" rtl="0" fontAlgn="base">
              <a:spcBef>
                <a:spcPct val="20000"/>
              </a:spcBef>
              <a:spcAft>
                <a:spcPct val="0"/>
              </a:spcAft>
              <a:buChar char="»"/>
              <a:defRPr sz="2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357188">
              <a:buClr>
                <a:srgbClr val="CC9900"/>
              </a:buClr>
              <a:buSzPct val="65000"/>
              <a:buFont typeface="Wingdings" pitchFamily="2"/>
              <a:buChar char=""/>
              <a:tabLst>
                <a:tab pos="0" algn="l"/>
                <a:tab pos="110352" algn="l"/>
                <a:tab pos="577199" algn="l"/>
                <a:tab pos="1044046" algn="l"/>
                <a:tab pos="1510893" algn="l"/>
                <a:tab pos="1977740" algn="l"/>
                <a:tab pos="2444587" algn="l"/>
                <a:tab pos="2911434" algn="l"/>
                <a:tab pos="3378279" algn="l"/>
                <a:tab pos="3845127" algn="l"/>
                <a:tab pos="4311973" algn="l"/>
                <a:tab pos="4778447" algn="l"/>
                <a:tab pos="5245294" algn="l"/>
                <a:tab pos="5712141" algn="l"/>
                <a:tab pos="6178987" algn="l"/>
                <a:tab pos="6645833" algn="l"/>
                <a:tab pos="7112681" algn="l"/>
                <a:tab pos="7579527" algn="l"/>
                <a:tab pos="8046375" algn="l"/>
                <a:tab pos="8513222" algn="l"/>
                <a:tab pos="8980068" algn="l"/>
              </a:tabLst>
            </a:pPr>
            <a:r>
              <a:rPr lang="ru-RU" sz="2400" dirty="0"/>
              <a:t>Математическое ожидание</a:t>
            </a:r>
          </a:p>
          <a:p>
            <a:pPr marL="0" indent="0">
              <a:buClr>
                <a:srgbClr val="CC9900"/>
              </a:buClr>
              <a:buSzPct val="65000"/>
              <a:buNone/>
              <a:tabLst>
                <a:tab pos="354624" algn="l"/>
                <a:tab pos="464976" algn="l"/>
                <a:tab pos="931823" algn="l"/>
                <a:tab pos="1398670" algn="l"/>
                <a:tab pos="1865517" algn="l"/>
                <a:tab pos="2332364" algn="l"/>
                <a:tab pos="2799211" algn="l"/>
                <a:tab pos="3266058" algn="l"/>
                <a:tab pos="3732903" algn="l"/>
                <a:tab pos="4199751" algn="l"/>
                <a:tab pos="4666597" algn="l"/>
                <a:tab pos="5133071" algn="l"/>
                <a:tab pos="5599918" algn="l"/>
                <a:tab pos="6066765" algn="l"/>
                <a:tab pos="6533611" algn="l"/>
                <a:tab pos="7000457" algn="l"/>
                <a:tab pos="7467305" algn="l"/>
                <a:tab pos="7934151" algn="l"/>
                <a:tab pos="8400999" algn="l"/>
                <a:tab pos="8867846" algn="l"/>
                <a:tab pos="9334693" algn="l"/>
              </a:tabLst>
            </a:pPr>
            <a:endParaRPr lang="ru-RU" sz="2400" dirty="0"/>
          </a:p>
          <a:p>
            <a:pPr marL="0" indent="0">
              <a:buClr>
                <a:srgbClr val="CC9900"/>
              </a:buClr>
              <a:buSzPct val="65000"/>
              <a:buNone/>
              <a:tabLst>
                <a:tab pos="0" algn="l"/>
                <a:tab pos="110352" algn="l"/>
                <a:tab pos="577199" algn="l"/>
                <a:tab pos="1044046" algn="l"/>
                <a:tab pos="1510893" algn="l"/>
                <a:tab pos="1977740" algn="l"/>
                <a:tab pos="2444587" algn="l"/>
                <a:tab pos="2911434" algn="l"/>
                <a:tab pos="3378279" algn="l"/>
                <a:tab pos="3845127" algn="l"/>
                <a:tab pos="4311973" algn="l"/>
                <a:tab pos="4778447" algn="l"/>
                <a:tab pos="5245294" algn="l"/>
                <a:tab pos="5712141" algn="l"/>
                <a:tab pos="6178987" algn="l"/>
                <a:tab pos="6645833" algn="l"/>
                <a:tab pos="7112681" algn="l"/>
                <a:tab pos="7579527" algn="l"/>
                <a:tab pos="8046375" algn="l"/>
                <a:tab pos="8513222" algn="l"/>
                <a:tab pos="8980068" algn="l"/>
              </a:tabLst>
            </a:pPr>
            <a:r>
              <a:rPr lang="ru-RU" sz="2400" dirty="0"/>
              <a:t>Так как математическое ожидание – вероятностная модель для среднего значения. В данном случае для средних продаж.</a:t>
            </a:r>
          </a:p>
        </p:txBody>
      </p:sp>
      <p:sp>
        <p:nvSpPr>
          <p:cNvPr id="9" name="Номер слайда 8"/>
          <p:cNvSpPr>
            <a:spLocks noGrp="1"/>
          </p:cNvSpPr>
          <p:nvPr>
            <p:ph type="sldNum" sz="quarter" idx="12"/>
          </p:nvPr>
        </p:nvSpPr>
        <p:spPr>
          <a:xfrm>
            <a:off x="11294693" y="6541296"/>
            <a:ext cx="1088550" cy="379409"/>
          </a:xfrm>
        </p:spPr>
        <p:txBody>
          <a:bodyPr/>
          <a:lstStyle/>
          <a:p>
            <a:fld id="{952B6C0E-C4B9-4094-8E59-5B7DF00D5415}" type="slidenum">
              <a:rPr lang="ru-RU" smtClean="0">
                <a:solidFill>
                  <a:schemeClr val="tx1"/>
                </a:solidFill>
              </a:rPr>
              <a:t>23</a:t>
            </a:fld>
            <a:endParaRPr lang="ru-RU" dirty="0">
              <a:solidFill>
                <a:schemeClr val="tx1"/>
              </a:solidFill>
            </a:endParaRPr>
          </a:p>
        </p:txBody>
      </p:sp>
    </p:spTree>
    <p:extLst>
      <p:ext uri="{BB962C8B-B14F-4D97-AF65-F5344CB8AC3E}">
        <p14:creationId xmlns:p14="http://schemas.microsoft.com/office/powerpoint/2010/main" val="17119790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AutoShape 4"/>
          <p:cNvSpPr>
            <a:spLocks noChangeArrowheads="1"/>
          </p:cNvSpPr>
          <p:nvPr/>
        </p:nvSpPr>
        <p:spPr bwMode="auto">
          <a:xfrm>
            <a:off x="1438275" y="322263"/>
            <a:ext cx="10800505" cy="6553200"/>
          </a:xfrm>
          <a:prstGeom prst="roundRect">
            <a:avLst>
              <a:gd name="adj" fmla="val 16667"/>
            </a:avLst>
          </a:prstGeom>
          <a:solidFill>
            <a:schemeClr val="bg1">
              <a:alpha val="50195"/>
            </a:scheme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8" name="AutoShape 5"/>
          <p:cNvSpPr>
            <a:spLocks noChangeArrowheads="1"/>
          </p:cNvSpPr>
          <p:nvPr/>
        </p:nvSpPr>
        <p:spPr bwMode="auto">
          <a:xfrm>
            <a:off x="2373685" y="322264"/>
            <a:ext cx="8064128" cy="720601"/>
          </a:xfrm>
          <a:prstGeom prst="roundRect">
            <a:avLst>
              <a:gd name="adj" fmla="val 37469"/>
            </a:avLst>
          </a:prstGeom>
          <a:solidFill>
            <a:srgbClr val="FFFFFF">
              <a:alpha val="78822"/>
            </a:srgb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algn="ctr" eaLnBrk="1" hangingPunct="1"/>
            <a:r>
              <a:rPr lang="ru-RU" altLang="ru-RU" sz="3500" dirty="0">
                <a:solidFill>
                  <a:srgbClr val="0070C0"/>
                </a:solidFill>
              </a:rPr>
              <a:t>Формулировка гипотез</a:t>
            </a:r>
          </a:p>
        </p:txBody>
      </p:sp>
      <p:sp>
        <p:nvSpPr>
          <p:cNvPr id="3" name="Текст 2"/>
          <p:cNvSpPr txBox="1">
            <a:spLocks noGrp="1"/>
          </p:cNvSpPr>
          <p:nvPr>
            <p:ph type="body" idx="4294967295"/>
          </p:nvPr>
        </p:nvSpPr>
        <p:spPr>
          <a:xfrm>
            <a:off x="1581597" y="1690937"/>
            <a:ext cx="10153127" cy="4708525"/>
          </a:xfrm>
          <a:prstGeom prst="rect">
            <a:avLst/>
          </a:prstGeom>
        </p:spPr>
        <p:txBody>
          <a:bodyPr wrap="square"/>
          <a:lstStyle/>
          <a:p>
            <a:pPr marL="0" indent="0">
              <a:buClr>
                <a:srgbClr val="CC9900"/>
              </a:buClr>
              <a:buSzPct val="65000"/>
              <a:buFont typeface="Wingdings" pitchFamily="2"/>
              <a:buChar char=""/>
              <a:tabLst>
                <a:tab pos="0" algn="l"/>
                <a:tab pos="110352" algn="l"/>
                <a:tab pos="577199" algn="l"/>
                <a:tab pos="1044046" algn="l"/>
                <a:tab pos="1510893" algn="l"/>
                <a:tab pos="1977740" algn="l"/>
                <a:tab pos="2444587" algn="l"/>
                <a:tab pos="2911434" algn="l"/>
                <a:tab pos="3378279" algn="l"/>
                <a:tab pos="3845127" algn="l"/>
                <a:tab pos="4311973" algn="l"/>
                <a:tab pos="4778447" algn="l"/>
                <a:tab pos="5245294" algn="l"/>
                <a:tab pos="5712141" algn="l"/>
                <a:tab pos="6178987" algn="l"/>
                <a:tab pos="6645833" algn="l"/>
                <a:tab pos="7112681" algn="l"/>
                <a:tab pos="7579527" algn="l"/>
                <a:tab pos="8046375" algn="l"/>
                <a:tab pos="8513222" algn="l"/>
                <a:tab pos="8980068" algn="l"/>
              </a:tabLst>
            </a:pPr>
            <a:r>
              <a:rPr lang="ru-RU" sz="3200" dirty="0">
                <a:solidFill>
                  <a:srgbClr val="FF0000"/>
                </a:solidFill>
              </a:rPr>
              <a:t>Гипотеза</a:t>
            </a:r>
            <a:r>
              <a:rPr lang="ru-RU" sz="3200" dirty="0"/>
              <a:t>. Математические ожидания случайных величин </a:t>
            </a:r>
            <a:r>
              <a:rPr lang="en-US" sz="3200" dirty="0"/>
              <a:t>X</a:t>
            </a:r>
            <a:r>
              <a:rPr lang="ru-RU" sz="3200" dirty="0"/>
              <a:t> и </a:t>
            </a:r>
            <a:r>
              <a:rPr lang="en-US" sz="3200" dirty="0"/>
              <a:t>Y</a:t>
            </a:r>
            <a:r>
              <a:rPr lang="ru-RU" sz="3200" dirty="0"/>
              <a:t> одинаковы.</a:t>
            </a:r>
          </a:p>
          <a:p>
            <a:pPr marL="0" indent="0" algn="ctr">
              <a:buClr>
                <a:srgbClr val="CC9900"/>
              </a:buClr>
              <a:buSzPct val="65000"/>
              <a:buNone/>
              <a:tabLst>
                <a:tab pos="0" algn="l"/>
                <a:tab pos="110352" algn="l"/>
                <a:tab pos="577199" algn="l"/>
                <a:tab pos="1044046" algn="l"/>
                <a:tab pos="1510893" algn="l"/>
                <a:tab pos="1977740" algn="l"/>
                <a:tab pos="2444587" algn="l"/>
                <a:tab pos="2911434" algn="l"/>
                <a:tab pos="3378279" algn="l"/>
                <a:tab pos="3845127" algn="l"/>
                <a:tab pos="4311973" algn="l"/>
                <a:tab pos="4778447" algn="l"/>
                <a:tab pos="5245294" algn="l"/>
                <a:tab pos="5712141" algn="l"/>
                <a:tab pos="6178987" algn="l"/>
                <a:tab pos="6645833" algn="l"/>
                <a:tab pos="7112681" algn="l"/>
                <a:tab pos="7579527" algn="l"/>
                <a:tab pos="8046375" algn="l"/>
                <a:tab pos="8513222" algn="l"/>
                <a:tab pos="8980068" algn="l"/>
              </a:tabLst>
            </a:pPr>
            <a:r>
              <a:rPr lang="en-US" sz="3200" dirty="0">
                <a:solidFill>
                  <a:srgbClr val="0000FF"/>
                </a:solidFill>
                <a:sym typeface="Symbol" panose="05050102010706020507" pitchFamily="18" charset="2"/>
              </a:rPr>
              <a:t></a:t>
            </a:r>
            <a:r>
              <a:rPr lang="en-US" sz="3200" baseline="-25000" dirty="0">
                <a:solidFill>
                  <a:srgbClr val="0000FF"/>
                </a:solidFill>
              </a:rPr>
              <a:t>X</a:t>
            </a:r>
            <a:r>
              <a:rPr lang="en-US" sz="3200" dirty="0">
                <a:solidFill>
                  <a:srgbClr val="0000FF"/>
                </a:solidFill>
              </a:rPr>
              <a:t> =</a:t>
            </a:r>
            <a:r>
              <a:rPr lang="en-US" sz="3200" dirty="0">
                <a:solidFill>
                  <a:srgbClr val="0000FF"/>
                </a:solidFill>
                <a:sym typeface="Symbol" panose="05050102010706020507" pitchFamily="18" charset="2"/>
              </a:rPr>
              <a:t> </a:t>
            </a:r>
            <a:r>
              <a:rPr lang="en-US" sz="3200" baseline="-25000" dirty="0">
                <a:solidFill>
                  <a:srgbClr val="0000FF"/>
                </a:solidFill>
              </a:rPr>
              <a:t>Y</a:t>
            </a:r>
            <a:endParaRPr lang="ru-RU" sz="3200" baseline="-25000" dirty="0">
              <a:solidFill>
                <a:srgbClr val="0000FF"/>
              </a:solidFill>
            </a:endParaRPr>
          </a:p>
          <a:p>
            <a:pPr marL="0" indent="0" algn="ctr">
              <a:buClr>
                <a:srgbClr val="CC9900"/>
              </a:buClr>
              <a:buSzPct val="65000"/>
              <a:buNone/>
              <a:tabLst>
                <a:tab pos="0" algn="l"/>
                <a:tab pos="110352" algn="l"/>
                <a:tab pos="577199" algn="l"/>
                <a:tab pos="1044046" algn="l"/>
                <a:tab pos="1510893" algn="l"/>
                <a:tab pos="1977740" algn="l"/>
                <a:tab pos="2444587" algn="l"/>
                <a:tab pos="2911434" algn="l"/>
                <a:tab pos="3378279" algn="l"/>
                <a:tab pos="3845127" algn="l"/>
                <a:tab pos="4311973" algn="l"/>
                <a:tab pos="4778447" algn="l"/>
                <a:tab pos="5245294" algn="l"/>
                <a:tab pos="5712141" algn="l"/>
                <a:tab pos="6178987" algn="l"/>
                <a:tab pos="6645833" algn="l"/>
                <a:tab pos="7112681" algn="l"/>
                <a:tab pos="7579527" algn="l"/>
                <a:tab pos="8046375" algn="l"/>
                <a:tab pos="8513222" algn="l"/>
                <a:tab pos="8980068" algn="l"/>
              </a:tabLst>
            </a:pPr>
            <a:endParaRPr lang="en-US" sz="3200" dirty="0"/>
          </a:p>
          <a:p>
            <a:pPr marL="0" indent="0">
              <a:buClr>
                <a:srgbClr val="CC9900"/>
              </a:buClr>
              <a:buSzPct val="65000"/>
              <a:buFont typeface="Wingdings" pitchFamily="2"/>
              <a:buChar char=""/>
              <a:tabLst>
                <a:tab pos="0" algn="l"/>
                <a:tab pos="110352" algn="l"/>
                <a:tab pos="577199" algn="l"/>
                <a:tab pos="1044046" algn="l"/>
                <a:tab pos="1510893" algn="l"/>
                <a:tab pos="1977740" algn="l"/>
                <a:tab pos="2444587" algn="l"/>
                <a:tab pos="2911434" algn="l"/>
                <a:tab pos="3378279" algn="l"/>
                <a:tab pos="3845127" algn="l"/>
                <a:tab pos="4311973" algn="l"/>
                <a:tab pos="4778447" algn="l"/>
                <a:tab pos="5245294" algn="l"/>
                <a:tab pos="5712141" algn="l"/>
                <a:tab pos="6178987" algn="l"/>
                <a:tab pos="6645833" algn="l"/>
                <a:tab pos="7112681" algn="l"/>
                <a:tab pos="7579527" algn="l"/>
                <a:tab pos="8046375" algn="l"/>
                <a:tab pos="8513222" algn="l"/>
                <a:tab pos="8980068" algn="l"/>
              </a:tabLst>
            </a:pPr>
            <a:r>
              <a:rPr lang="ru-RU" sz="3200" dirty="0">
                <a:solidFill>
                  <a:srgbClr val="FF0000"/>
                </a:solidFill>
              </a:rPr>
              <a:t>Гипотеза. </a:t>
            </a:r>
            <a:r>
              <a:rPr lang="ru-RU" sz="3200" dirty="0"/>
              <a:t>Медианы случайных величин </a:t>
            </a:r>
            <a:r>
              <a:rPr lang="en-US" sz="3200" dirty="0"/>
              <a:t>X</a:t>
            </a:r>
            <a:r>
              <a:rPr lang="ru-RU" sz="3200" dirty="0"/>
              <a:t> и </a:t>
            </a:r>
            <a:r>
              <a:rPr lang="en-US" sz="3200" dirty="0"/>
              <a:t>Y</a:t>
            </a:r>
            <a:r>
              <a:rPr lang="ru-RU" sz="3200" dirty="0"/>
              <a:t> одинаковы.</a:t>
            </a:r>
          </a:p>
          <a:p>
            <a:pPr marL="0" indent="0" algn="ctr">
              <a:buClr>
                <a:srgbClr val="CC9900"/>
              </a:buClr>
              <a:buSzPct val="65000"/>
              <a:buNone/>
              <a:tabLst>
                <a:tab pos="0" algn="l"/>
                <a:tab pos="110352" algn="l"/>
                <a:tab pos="577199" algn="l"/>
                <a:tab pos="1044046" algn="l"/>
                <a:tab pos="1510893" algn="l"/>
                <a:tab pos="1977740" algn="l"/>
                <a:tab pos="2444587" algn="l"/>
                <a:tab pos="2911434" algn="l"/>
                <a:tab pos="3378279" algn="l"/>
                <a:tab pos="3845127" algn="l"/>
                <a:tab pos="4311973" algn="l"/>
                <a:tab pos="4778447" algn="l"/>
                <a:tab pos="5245294" algn="l"/>
                <a:tab pos="5712141" algn="l"/>
                <a:tab pos="6178987" algn="l"/>
                <a:tab pos="6645833" algn="l"/>
                <a:tab pos="7112681" algn="l"/>
                <a:tab pos="7579527" algn="l"/>
                <a:tab pos="8046375" algn="l"/>
                <a:tab pos="8513222" algn="l"/>
                <a:tab pos="8980068" algn="l"/>
              </a:tabLst>
            </a:pPr>
            <a:r>
              <a:rPr lang="ru-RU" sz="3200" dirty="0">
                <a:solidFill>
                  <a:srgbClr val="0000FF"/>
                </a:solidFill>
              </a:rPr>
              <a:t>   </a:t>
            </a:r>
            <a:r>
              <a:rPr lang="en-US" sz="3200" dirty="0">
                <a:solidFill>
                  <a:srgbClr val="0000FF"/>
                </a:solidFill>
              </a:rPr>
              <a:t>med(X) = med(Y)</a:t>
            </a:r>
          </a:p>
          <a:p>
            <a:pPr marL="0" indent="0" algn="ctr">
              <a:buClr>
                <a:srgbClr val="CC9900"/>
              </a:buClr>
              <a:buSzPct val="65000"/>
              <a:buNone/>
              <a:tabLst>
                <a:tab pos="0" algn="l"/>
                <a:tab pos="110352" algn="l"/>
                <a:tab pos="577199" algn="l"/>
                <a:tab pos="1044046" algn="l"/>
                <a:tab pos="1510893" algn="l"/>
                <a:tab pos="1977740" algn="l"/>
                <a:tab pos="2444587" algn="l"/>
                <a:tab pos="2911434" algn="l"/>
                <a:tab pos="3378279" algn="l"/>
                <a:tab pos="3845127" algn="l"/>
                <a:tab pos="4311973" algn="l"/>
                <a:tab pos="4778447" algn="l"/>
                <a:tab pos="5245294" algn="l"/>
                <a:tab pos="5712141" algn="l"/>
                <a:tab pos="6178987" algn="l"/>
                <a:tab pos="6645833" algn="l"/>
                <a:tab pos="7112681" algn="l"/>
                <a:tab pos="7579527" algn="l"/>
                <a:tab pos="8046375" algn="l"/>
                <a:tab pos="8513222" algn="l"/>
                <a:tab pos="8980068" algn="l"/>
              </a:tabLst>
            </a:pPr>
            <a:r>
              <a:rPr lang="en-US" dirty="0"/>
              <a:t> </a:t>
            </a:r>
          </a:p>
        </p:txBody>
      </p:sp>
      <p:sp>
        <p:nvSpPr>
          <p:cNvPr id="2" name="Номер слайда 1"/>
          <p:cNvSpPr>
            <a:spLocks noGrp="1"/>
          </p:cNvSpPr>
          <p:nvPr>
            <p:ph type="sldNum" sz="quarter" idx="12"/>
          </p:nvPr>
        </p:nvSpPr>
        <p:spPr/>
        <p:txBody>
          <a:bodyPr/>
          <a:lstStyle/>
          <a:p>
            <a:fld id="{952B6C0E-C4B9-4094-8E59-5B7DF00D5415}" type="slidenum">
              <a:rPr lang="ru-RU" smtClean="0">
                <a:solidFill>
                  <a:schemeClr val="tx1"/>
                </a:solidFill>
              </a:rPr>
              <a:t>24</a:t>
            </a:fld>
            <a:endParaRPr lang="ru-RU" dirty="0">
              <a:solidFill>
                <a:schemeClr val="tx1"/>
              </a:solidFill>
            </a:endParaRPr>
          </a:p>
        </p:txBody>
      </p:sp>
    </p:spTree>
    <p:extLst>
      <p:ext uri="{BB962C8B-B14F-4D97-AF65-F5344CB8AC3E}">
        <p14:creationId xmlns:p14="http://schemas.microsoft.com/office/powerpoint/2010/main" val="20707524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4"/>
          <p:cNvSpPr>
            <a:spLocks noChangeArrowheads="1"/>
          </p:cNvSpPr>
          <p:nvPr/>
        </p:nvSpPr>
        <p:spPr bwMode="auto">
          <a:xfrm>
            <a:off x="1438275" y="322263"/>
            <a:ext cx="10948119" cy="6553200"/>
          </a:xfrm>
          <a:prstGeom prst="roundRect">
            <a:avLst>
              <a:gd name="adj" fmla="val 16667"/>
            </a:avLst>
          </a:prstGeom>
          <a:solidFill>
            <a:schemeClr val="bg1">
              <a:alpha val="50195"/>
            </a:scheme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5" name="AutoShape 5"/>
          <p:cNvSpPr>
            <a:spLocks noChangeArrowheads="1"/>
          </p:cNvSpPr>
          <p:nvPr/>
        </p:nvSpPr>
        <p:spPr bwMode="auto">
          <a:xfrm>
            <a:off x="2373685" y="322263"/>
            <a:ext cx="8064128" cy="1415132"/>
          </a:xfrm>
          <a:prstGeom prst="roundRect">
            <a:avLst>
              <a:gd name="adj" fmla="val 37469"/>
            </a:avLst>
          </a:prstGeom>
          <a:solidFill>
            <a:srgbClr val="FFFFFF">
              <a:alpha val="78822"/>
            </a:srgb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2" name="Заголовок 1"/>
          <p:cNvSpPr txBox="1">
            <a:spLocks noGrp="1"/>
          </p:cNvSpPr>
          <p:nvPr>
            <p:ph type="title" idx="4294967295"/>
          </p:nvPr>
        </p:nvSpPr>
        <p:spPr>
          <a:xfrm>
            <a:off x="2339777" y="437692"/>
            <a:ext cx="7629525" cy="1184275"/>
          </a:xfrm>
          <a:prstGeom prst="rect">
            <a:avLst/>
          </a:prstGeom>
        </p:spPr>
        <p:txBody>
          <a:bodyPr wrap="square">
            <a:noAutofit/>
          </a:bodyPr>
          <a:lstStyle/>
          <a:p>
            <a:pPr lvl="0"/>
            <a:r>
              <a:rPr lang="ru-RU" sz="3949" dirty="0"/>
              <a:t>Основные условия применения статистических тестов</a:t>
            </a:r>
          </a:p>
        </p:txBody>
      </p:sp>
      <p:sp>
        <p:nvSpPr>
          <p:cNvPr id="3" name="Текст 2"/>
          <p:cNvSpPr txBox="1">
            <a:spLocks noGrp="1"/>
          </p:cNvSpPr>
          <p:nvPr>
            <p:ph type="body" idx="4294967295"/>
          </p:nvPr>
        </p:nvSpPr>
        <p:spPr>
          <a:xfrm>
            <a:off x="1438274" y="2258254"/>
            <a:ext cx="10368459" cy="3177099"/>
          </a:xfrm>
          <a:prstGeom prst="rect">
            <a:avLst/>
          </a:prstGeom>
        </p:spPr>
        <p:txBody>
          <a:bodyPr wrap="square"/>
          <a:lstStyle/>
          <a:p>
            <a:pPr marL="360363" indent="-360363">
              <a:buClr>
                <a:srgbClr val="CC9900"/>
              </a:buClr>
              <a:buSzPct val="100000"/>
              <a:buFont typeface="+mj-lt"/>
              <a:buAutoNum type="arabicPeriod"/>
            </a:pPr>
            <a:r>
              <a:rPr lang="ru-RU" sz="2800" dirty="0"/>
              <a:t>Вопрос должен касаться какой-либо характеристики массового явления.</a:t>
            </a:r>
          </a:p>
          <a:p>
            <a:pPr marL="360363" indent="-360363">
              <a:buClr>
                <a:srgbClr val="CC9900"/>
              </a:buClr>
              <a:buSzPct val="100000"/>
              <a:buFont typeface="+mj-lt"/>
              <a:buAutoNum type="arabicPeriod"/>
            </a:pPr>
            <a:r>
              <a:rPr lang="ru-RU" sz="2800" dirty="0"/>
              <a:t>Характеристика меняется случайным образом от наблюдения к наблюдению.</a:t>
            </a:r>
          </a:p>
          <a:p>
            <a:pPr marL="360363" indent="-360363">
              <a:buClr>
                <a:srgbClr val="CC9900"/>
              </a:buClr>
              <a:buSzPct val="100000"/>
              <a:buFont typeface="+mj-lt"/>
              <a:buAutoNum type="arabicPeriod"/>
            </a:pPr>
            <a:r>
              <a:rPr lang="ru-RU" sz="2800" dirty="0"/>
              <a:t>Вопрос должен быть относительно простым и четко сформулированным.</a:t>
            </a:r>
          </a:p>
        </p:txBody>
      </p:sp>
      <p:sp>
        <p:nvSpPr>
          <p:cNvPr id="7" name="Номер слайда 6"/>
          <p:cNvSpPr>
            <a:spLocks noGrp="1"/>
          </p:cNvSpPr>
          <p:nvPr>
            <p:ph type="sldNum" sz="quarter" idx="12"/>
          </p:nvPr>
        </p:nvSpPr>
        <p:spPr/>
        <p:txBody>
          <a:bodyPr/>
          <a:lstStyle/>
          <a:p>
            <a:fld id="{952B6C0E-C4B9-4094-8E59-5B7DF00D5415}" type="slidenum">
              <a:rPr lang="ru-RU" smtClean="0">
                <a:solidFill>
                  <a:schemeClr val="tx1"/>
                </a:solidFill>
              </a:rPr>
              <a:t>25</a:t>
            </a:fld>
            <a:endParaRPr lang="ru-RU" dirty="0">
              <a:solidFill>
                <a:schemeClr val="tx1"/>
              </a:solidFill>
            </a:endParaRPr>
          </a:p>
        </p:txBody>
      </p:sp>
    </p:spTree>
    <p:extLst>
      <p:ext uri="{BB962C8B-B14F-4D97-AF65-F5344CB8AC3E}">
        <p14:creationId xmlns:p14="http://schemas.microsoft.com/office/powerpoint/2010/main" val="38564142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4"/>
          <p:cNvSpPr>
            <a:spLocks noChangeArrowheads="1"/>
          </p:cNvSpPr>
          <p:nvPr/>
        </p:nvSpPr>
        <p:spPr bwMode="auto">
          <a:xfrm>
            <a:off x="1438275" y="322263"/>
            <a:ext cx="10948119" cy="6553200"/>
          </a:xfrm>
          <a:prstGeom prst="roundRect">
            <a:avLst>
              <a:gd name="adj" fmla="val 16667"/>
            </a:avLst>
          </a:prstGeom>
          <a:solidFill>
            <a:schemeClr val="bg1">
              <a:alpha val="50195"/>
            </a:scheme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5" name="AutoShape 5"/>
          <p:cNvSpPr>
            <a:spLocks noChangeArrowheads="1"/>
          </p:cNvSpPr>
          <p:nvPr/>
        </p:nvSpPr>
        <p:spPr bwMode="auto">
          <a:xfrm>
            <a:off x="2373685" y="322264"/>
            <a:ext cx="8064128" cy="720601"/>
          </a:xfrm>
          <a:prstGeom prst="roundRect">
            <a:avLst>
              <a:gd name="adj" fmla="val 37469"/>
            </a:avLst>
          </a:prstGeom>
          <a:solidFill>
            <a:srgbClr val="FFFFFF">
              <a:alpha val="78822"/>
            </a:srgb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2" name="Заголовок 1"/>
          <p:cNvSpPr txBox="1">
            <a:spLocks noGrp="1"/>
          </p:cNvSpPr>
          <p:nvPr>
            <p:ph type="title" idx="4294967295"/>
          </p:nvPr>
        </p:nvSpPr>
        <p:spPr>
          <a:xfrm>
            <a:off x="3247054" y="320341"/>
            <a:ext cx="5356225" cy="838200"/>
          </a:xfrm>
          <a:prstGeom prst="rect">
            <a:avLst/>
          </a:prstGeom>
        </p:spPr>
        <p:txBody>
          <a:bodyPr wrap="square">
            <a:noAutofit/>
          </a:bodyPr>
          <a:lstStyle/>
          <a:p>
            <a:pPr lvl="0" algn="ctr"/>
            <a:r>
              <a:rPr lang="ru-RU" sz="4400" dirty="0"/>
              <a:t>Пример 1</a:t>
            </a:r>
          </a:p>
        </p:txBody>
      </p:sp>
      <p:sp>
        <p:nvSpPr>
          <p:cNvPr id="3" name="Текст 2"/>
          <p:cNvSpPr txBox="1">
            <a:spLocks noGrp="1"/>
          </p:cNvSpPr>
          <p:nvPr>
            <p:ph type="body" idx="4294967295"/>
          </p:nvPr>
        </p:nvSpPr>
        <p:spPr>
          <a:xfrm>
            <a:off x="944213" y="1871114"/>
            <a:ext cx="10627474" cy="2239888"/>
          </a:xfrm>
          <a:prstGeom prst="rect">
            <a:avLst/>
          </a:prstGeom>
        </p:spPr>
        <p:txBody>
          <a:bodyPr wrap="square">
            <a:normAutofit/>
          </a:bodyPr>
          <a:lstStyle/>
          <a:p>
            <a:pPr marL="0" indent="357188">
              <a:buClr>
                <a:srgbClr val="CC9900"/>
              </a:buClr>
              <a:buSzPct val="65000"/>
              <a:buFont typeface="Wingdings" pitchFamily="2"/>
              <a:buChar char=""/>
            </a:pPr>
            <a:r>
              <a:rPr lang="ru-RU" sz="2400" dirty="0"/>
              <a:t>В обычных условиях зафиксирован некоторый уровень продаж. Затем была проведена рекламная акция.</a:t>
            </a:r>
          </a:p>
          <a:p>
            <a:pPr marL="0" indent="357188">
              <a:buClr>
                <a:srgbClr val="CC9900"/>
              </a:buClr>
              <a:buSzPct val="65000"/>
              <a:buFont typeface="Wingdings" pitchFamily="2"/>
              <a:buChar char=""/>
            </a:pPr>
            <a:r>
              <a:rPr lang="ru-RU" sz="2400" dirty="0"/>
              <a:t>Руководству фирмы надо оценить результат.</a:t>
            </a:r>
          </a:p>
          <a:p>
            <a:pPr marL="0" indent="357188">
              <a:buClr>
                <a:srgbClr val="CC9900"/>
              </a:buClr>
              <a:buSzPct val="65000"/>
              <a:buFont typeface="Wingdings" pitchFamily="2"/>
              <a:buChar char=""/>
            </a:pPr>
            <a:r>
              <a:rPr lang="ru-RU" sz="2400" dirty="0"/>
              <a:t>Для этого нужно выяснить, было ли существенное увеличение продаж. В частности, окупились ли затраты на рекламу.</a:t>
            </a:r>
          </a:p>
        </p:txBody>
      </p:sp>
      <p:sp>
        <p:nvSpPr>
          <p:cNvPr id="7" name="Прямоугольник 6"/>
          <p:cNvSpPr/>
          <p:nvPr/>
        </p:nvSpPr>
        <p:spPr>
          <a:xfrm>
            <a:off x="4173885" y="1354871"/>
            <a:ext cx="3502562" cy="400110"/>
          </a:xfrm>
          <a:prstGeom prst="rect">
            <a:avLst/>
          </a:prstGeom>
        </p:spPr>
        <p:txBody>
          <a:bodyPr wrap="none">
            <a:spAutoFit/>
          </a:bodyPr>
          <a:lstStyle/>
          <a:p>
            <a:r>
              <a:rPr lang="ru-RU" b="1" i="1" dirty="0">
                <a:solidFill>
                  <a:srgbClr val="0070C0"/>
                </a:solidFill>
              </a:rPr>
              <a:t>Гипотеза о зависимости</a:t>
            </a:r>
          </a:p>
        </p:txBody>
      </p:sp>
      <p:sp>
        <p:nvSpPr>
          <p:cNvPr id="8" name="Номер слайда 7"/>
          <p:cNvSpPr>
            <a:spLocks noGrp="1"/>
          </p:cNvSpPr>
          <p:nvPr>
            <p:ph type="sldNum" sz="quarter" idx="12"/>
          </p:nvPr>
        </p:nvSpPr>
        <p:spPr/>
        <p:txBody>
          <a:bodyPr/>
          <a:lstStyle/>
          <a:p>
            <a:fld id="{952B6C0E-C4B9-4094-8E59-5B7DF00D5415}" type="slidenum">
              <a:rPr lang="ru-RU" smtClean="0">
                <a:solidFill>
                  <a:schemeClr val="tx1"/>
                </a:solidFill>
              </a:rPr>
              <a:t>26</a:t>
            </a:fld>
            <a:endParaRPr lang="ru-RU" dirty="0">
              <a:solidFill>
                <a:schemeClr val="tx1"/>
              </a:solidFill>
            </a:endParaRPr>
          </a:p>
        </p:txBody>
      </p:sp>
      <p:sp>
        <p:nvSpPr>
          <p:cNvPr id="9" name="Текст 2"/>
          <p:cNvSpPr txBox="1">
            <a:spLocks/>
          </p:cNvSpPr>
          <p:nvPr/>
        </p:nvSpPr>
        <p:spPr>
          <a:xfrm>
            <a:off x="861517" y="4157049"/>
            <a:ext cx="11089232" cy="2628433"/>
          </a:xfrm>
          <a:prstGeom prst="rect">
            <a:avLst/>
          </a:prstGeom>
        </p:spPr>
        <p:txBody>
          <a:bodyPr vert="horz" wrap="square" lIns="91440" tIns="45720" rIns="91440" bIns="45720" rtlCol="0">
            <a:normAutofit/>
          </a:bodyPr>
          <a:lstStyle>
            <a:lvl1pPr marL="356307" indent="-356307" algn="l" defTabSz="950153" rtl="0" eaLnBrk="1" latinLnBrk="0" hangingPunct="1">
              <a:spcBef>
                <a:spcPct val="20000"/>
              </a:spcBef>
              <a:buFont typeface="Arial" panose="020B0604020202020204" pitchFamily="34" charset="0"/>
              <a:buChar char="•"/>
              <a:defRPr sz="3325" kern="1200">
                <a:solidFill>
                  <a:schemeClr val="tx1"/>
                </a:solidFill>
                <a:latin typeface="+mn-lt"/>
                <a:ea typeface="+mn-ea"/>
                <a:cs typeface="+mn-cs"/>
              </a:defRPr>
            </a:lvl1pPr>
            <a:lvl2pPr marL="771999" indent="-296923" algn="l" defTabSz="950153" rtl="0" eaLnBrk="1" latinLnBrk="0" hangingPunct="1">
              <a:spcBef>
                <a:spcPct val="20000"/>
              </a:spcBef>
              <a:buFont typeface="Arial" panose="020B0604020202020204" pitchFamily="34" charset="0"/>
              <a:buChar char="–"/>
              <a:defRPr sz="2909" kern="1200">
                <a:solidFill>
                  <a:schemeClr val="tx1"/>
                </a:solidFill>
                <a:latin typeface="+mn-lt"/>
                <a:ea typeface="+mn-ea"/>
                <a:cs typeface="+mn-cs"/>
              </a:defRPr>
            </a:lvl2pPr>
            <a:lvl3pPr marL="1187691" indent="-237538" algn="l" defTabSz="950153" rtl="0" eaLnBrk="1" latinLnBrk="0" hangingPunct="1">
              <a:spcBef>
                <a:spcPct val="20000"/>
              </a:spcBef>
              <a:buFont typeface="Arial" panose="020B0604020202020204" pitchFamily="34" charset="0"/>
              <a:buChar char="•"/>
              <a:defRPr sz="2494" kern="1200">
                <a:solidFill>
                  <a:schemeClr val="tx1"/>
                </a:solidFill>
                <a:latin typeface="+mn-lt"/>
                <a:ea typeface="+mn-ea"/>
                <a:cs typeface="+mn-cs"/>
              </a:defRPr>
            </a:lvl3pPr>
            <a:lvl4pPr marL="1662768" indent="-237538" algn="l" defTabSz="950153" rtl="0" eaLnBrk="1" latinLnBrk="0" hangingPunct="1">
              <a:spcBef>
                <a:spcPct val="20000"/>
              </a:spcBef>
              <a:buFont typeface="Arial" panose="020B0604020202020204" pitchFamily="34" charset="0"/>
              <a:buChar char="–"/>
              <a:defRPr sz="2078" kern="1200">
                <a:solidFill>
                  <a:schemeClr val="tx1"/>
                </a:solidFill>
                <a:latin typeface="+mn-lt"/>
                <a:ea typeface="+mn-ea"/>
                <a:cs typeface="+mn-cs"/>
              </a:defRPr>
            </a:lvl4pPr>
            <a:lvl5pPr marL="2137844" indent="-237538" algn="l" defTabSz="950153" rtl="0" eaLnBrk="1" latinLnBrk="0" hangingPunct="1">
              <a:spcBef>
                <a:spcPct val="20000"/>
              </a:spcBef>
              <a:buFont typeface="Arial" panose="020B0604020202020204" pitchFamily="34" charset="0"/>
              <a:buChar char="»"/>
              <a:defRPr sz="2078" kern="1200">
                <a:solidFill>
                  <a:schemeClr val="tx1"/>
                </a:solidFill>
                <a:latin typeface="+mn-lt"/>
                <a:ea typeface="+mn-ea"/>
                <a:cs typeface="+mn-cs"/>
              </a:defRPr>
            </a:lvl5pPr>
            <a:lvl6pPr marL="2612921" indent="-237538" algn="l" defTabSz="950153" rtl="0" eaLnBrk="1" latinLnBrk="0" hangingPunct="1">
              <a:spcBef>
                <a:spcPct val="20000"/>
              </a:spcBef>
              <a:buFont typeface="Arial" panose="020B0604020202020204" pitchFamily="34" charset="0"/>
              <a:buChar char="•"/>
              <a:defRPr sz="2078" kern="1200">
                <a:solidFill>
                  <a:schemeClr val="tx1"/>
                </a:solidFill>
                <a:latin typeface="+mn-lt"/>
                <a:ea typeface="+mn-ea"/>
                <a:cs typeface="+mn-cs"/>
              </a:defRPr>
            </a:lvl6pPr>
            <a:lvl7pPr marL="3087997" indent="-237538" algn="l" defTabSz="950153" rtl="0" eaLnBrk="1" latinLnBrk="0" hangingPunct="1">
              <a:spcBef>
                <a:spcPct val="20000"/>
              </a:spcBef>
              <a:buFont typeface="Arial" panose="020B0604020202020204" pitchFamily="34" charset="0"/>
              <a:buChar char="•"/>
              <a:defRPr sz="2078" kern="1200">
                <a:solidFill>
                  <a:schemeClr val="tx1"/>
                </a:solidFill>
                <a:latin typeface="+mn-lt"/>
                <a:ea typeface="+mn-ea"/>
                <a:cs typeface="+mn-cs"/>
              </a:defRPr>
            </a:lvl7pPr>
            <a:lvl8pPr marL="3563074" indent="-237538" algn="l" defTabSz="950153" rtl="0" eaLnBrk="1" latinLnBrk="0" hangingPunct="1">
              <a:spcBef>
                <a:spcPct val="20000"/>
              </a:spcBef>
              <a:buFont typeface="Arial" panose="020B0604020202020204" pitchFamily="34" charset="0"/>
              <a:buChar char="•"/>
              <a:defRPr sz="2078" kern="1200">
                <a:solidFill>
                  <a:schemeClr val="tx1"/>
                </a:solidFill>
                <a:latin typeface="+mn-lt"/>
                <a:ea typeface="+mn-ea"/>
                <a:cs typeface="+mn-cs"/>
              </a:defRPr>
            </a:lvl8pPr>
            <a:lvl9pPr marL="4038150" indent="-237538" algn="l" defTabSz="950153" rtl="0" eaLnBrk="1" latinLnBrk="0" hangingPunct="1">
              <a:spcBef>
                <a:spcPct val="20000"/>
              </a:spcBef>
              <a:buFont typeface="Arial" panose="020B0604020202020204" pitchFamily="34" charset="0"/>
              <a:buChar char="•"/>
              <a:defRPr sz="2078" kern="1200">
                <a:solidFill>
                  <a:schemeClr val="tx1"/>
                </a:solidFill>
                <a:latin typeface="+mn-lt"/>
                <a:ea typeface="+mn-ea"/>
                <a:cs typeface="+mn-cs"/>
              </a:defRPr>
            </a:lvl9pPr>
          </a:lstStyle>
          <a:p>
            <a:pPr marL="0" indent="357188" fontAlgn="auto">
              <a:spcAft>
                <a:spcPts val="0"/>
              </a:spcAft>
              <a:buClr>
                <a:srgbClr val="CC9900"/>
              </a:buClr>
              <a:buSzPct val="65000"/>
              <a:buFont typeface="Wingdings" pitchFamily="2"/>
              <a:buChar char=""/>
            </a:pPr>
            <a:r>
              <a:rPr lang="ru-RU" sz="2400" dirty="0"/>
              <a:t>Увеличение продаж могло быть вызвано случайными факторами:</a:t>
            </a:r>
          </a:p>
          <a:p>
            <a:pPr marL="434975" lvl="1" indent="357188" fontAlgn="auto">
              <a:spcAft>
                <a:spcPts val="0"/>
              </a:spcAft>
              <a:buClr>
                <a:srgbClr val="CC9900"/>
              </a:buClr>
              <a:buSzPct val="65000"/>
              <a:buFont typeface="Wingdings" pitchFamily="2"/>
              <a:buChar char=""/>
            </a:pPr>
            <a:r>
              <a:rPr lang="ru-RU" sz="2400" dirty="0"/>
              <a:t>Продажи все время меняются, случайным образом отклоняются от заданного значения.</a:t>
            </a:r>
          </a:p>
          <a:p>
            <a:pPr marL="434975" lvl="1" indent="357188" fontAlgn="auto">
              <a:spcAft>
                <a:spcPts val="0"/>
              </a:spcAft>
              <a:buClr>
                <a:srgbClr val="CC9900"/>
              </a:buClr>
              <a:buSzPct val="65000"/>
              <a:buFont typeface="Wingdings" pitchFamily="2"/>
              <a:buChar char=""/>
            </a:pPr>
            <a:r>
              <a:rPr lang="ru-RU" sz="2400" dirty="0"/>
              <a:t>Статистически значимое отклонение должно превышать эти случайные отклонения.</a:t>
            </a:r>
          </a:p>
        </p:txBody>
      </p:sp>
    </p:spTree>
    <p:extLst>
      <p:ext uri="{BB962C8B-B14F-4D97-AF65-F5344CB8AC3E}">
        <p14:creationId xmlns:p14="http://schemas.microsoft.com/office/powerpoint/2010/main" val="34346280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4"/>
          <p:cNvSpPr>
            <a:spLocks noChangeArrowheads="1"/>
          </p:cNvSpPr>
          <p:nvPr/>
        </p:nvSpPr>
        <p:spPr bwMode="auto">
          <a:xfrm>
            <a:off x="1438275" y="322263"/>
            <a:ext cx="10800505" cy="6553200"/>
          </a:xfrm>
          <a:prstGeom prst="roundRect">
            <a:avLst>
              <a:gd name="adj" fmla="val 16667"/>
            </a:avLst>
          </a:prstGeom>
          <a:solidFill>
            <a:schemeClr val="bg1">
              <a:alpha val="50195"/>
            </a:scheme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5" name="AutoShape 5"/>
          <p:cNvSpPr>
            <a:spLocks noChangeArrowheads="1"/>
          </p:cNvSpPr>
          <p:nvPr/>
        </p:nvSpPr>
        <p:spPr bwMode="auto">
          <a:xfrm>
            <a:off x="2373685" y="322264"/>
            <a:ext cx="8064128" cy="720601"/>
          </a:xfrm>
          <a:prstGeom prst="roundRect">
            <a:avLst>
              <a:gd name="adj" fmla="val 37469"/>
            </a:avLst>
          </a:prstGeom>
          <a:solidFill>
            <a:srgbClr val="FFFFFF">
              <a:alpha val="78822"/>
            </a:srgb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2" name="Заголовок 1"/>
          <p:cNvSpPr txBox="1">
            <a:spLocks noGrp="1"/>
          </p:cNvSpPr>
          <p:nvPr>
            <p:ph type="title" idx="4294967295"/>
          </p:nvPr>
        </p:nvSpPr>
        <p:spPr>
          <a:xfrm>
            <a:off x="2516188" y="331162"/>
            <a:ext cx="6553200" cy="754063"/>
          </a:xfrm>
          <a:prstGeom prst="rect">
            <a:avLst/>
          </a:prstGeom>
        </p:spPr>
        <p:txBody>
          <a:bodyPr wrap="square">
            <a:noAutofit/>
          </a:bodyPr>
          <a:lstStyle/>
          <a:p>
            <a:pPr lvl="0"/>
            <a:r>
              <a:rPr lang="ru-RU" dirty="0"/>
              <a:t>Пример 2</a:t>
            </a:r>
          </a:p>
        </p:txBody>
      </p:sp>
      <p:sp>
        <p:nvSpPr>
          <p:cNvPr id="3" name="Текст 2"/>
          <p:cNvSpPr txBox="1">
            <a:spLocks noGrp="1"/>
          </p:cNvSpPr>
          <p:nvPr>
            <p:ph type="body" idx="4294967295"/>
          </p:nvPr>
        </p:nvSpPr>
        <p:spPr>
          <a:xfrm>
            <a:off x="1582737" y="2235496"/>
            <a:ext cx="10007971" cy="2447925"/>
          </a:xfrm>
          <a:prstGeom prst="rect">
            <a:avLst/>
          </a:prstGeom>
        </p:spPr>
        <p:txBody>
          <a:bodyPr wrap="square"/>
          <a:lstStyle/>
          <a:p>
            <a:pPr marL="0" indent="271463">
              <a:buClr>
                <a:srgbClr val="CC9900"/>
              </a:buClr>
              <a:buSzPct val="65000"/>
              <a:buFont typeface="Wingdings" pitchFamily="2"/>
              <a:buChar char=""/>
            </a:pPr>
            <a:r>
              <a:rPr lang="ru-RU" sz="2800" dirty="0"/>
              <a:t>Разработан новый вариант упаковки товара.</a:t>
            </a:r>
          </a:p>
          <a:p>
            <a:pPr marL="0" indent="271463">
              <a:buClr>
                <a:srgbClr val="CC9900"/>
              </a:buClr>
              <a:buSzPct val="65000"/>
              <a:buFont typeface="Wingdings" pitchFamily="2"/>
              <a:buChar char=""/>
            </a:pPr>
            <a:r>
              <a:rPr lang="ru-RU" sz="2800" dirty="0"/>
              <a:t>Требуется проверить предположение, что товар в новой упаковке имеет в данном регионе больший уровень продаж, чем вариант в старой упаковке.</a:t>
            </a:r>
          </a:p>
        </p:txBody>
      </p:sp>
      <p:sp>
        <p:nvSpPr>
          <p:cNvPr id="7" name="Прямоугольник 6"/>
          <p:cNvSpPr/>
          <p:nvPr/>
        </p:nvSpPr>
        <p:spPr>
          <a:xfrm>
            <a:off x="4046292" y="1690491"/>
            <a:ext cx="4281557" cy="400110"/>
          </a:xfrm>
          <a:prstGeom prst="rect">
            <a:avLst/>
          </a:prstGeom>
        </p:spPr>
        <p:txBody>
          <a:bodyPr wrap="none">
            <a:spAutoFit/>
          </a:bodyPr>
          <a:lstStyle/>
          <a:p>
            <a:r>
              <a:rPr lang="ru-RU" b="1" i="1" dirty="0">
                <a:solidFill>
                  <a:srgbClr val="0070C0"/>
                </a:solidFill>
              </a:rPr>
              <a:t>Гипотеза о равенстве средних</a:t>
            </a:r>
          </a:p>
        </p:txBody>
      </p:sp>
      <p:sp>
        <p:nvSpPr>
          <p:cNvPr id="8" name="Номер слайда 7"/>
          <p:cNvSpPr>
            <a:spLocks noGrp="1"/>
          </p:cNvSpPr>
          <p:nvPr>
            <p:ph type="sldNum" sz="quarter" idx="12"/>
          </p:nvPr>
        </p:nvSpPr>
        <p:spPr/>
        <p:txBody>
          <a:bodyPr/>
          <a:lstStyle/>
          <a:p>
            <a:fld id="{952B6C0E-C4B9-4094-8E59-5B7DF00D5415}" type="slidenum">
              <a:rPr lang="ru-RU" smtClean="0">
                <a:solidFill>
                  <a:schemeClr val="tx1"/>
                </a:solidFill>
              </a:rPr>
              <a:t>27</a:t>
            </a:fld>
            <a:endParaRPr lang="ru-RU" dirty="0">
              <a:solidFill>
                <a:schemeClr val="tx1"/>
              </a:solidFill>
            </a:endParaRPr>
          </a:p>
        </p:txBody>
      </p:sp>
    </p:spTree>
    <p:extLst>
      <p:ext uri="{BB962C8B-B14F-4D97-AF65-F5344CB8AC3E}">
        <p14:creationId xmlns:p14="http://schemas.microsoft.com/office/powerpoint/2010/main" val="13504497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AutoShape 4"/>
          <p:cNvSpPr>
            <a:spLocks noChangeArrowheads="1"/>
          </p:cNvSpPr>
          <p:nvPr/>
        </p:nvSpPr>
        <p:spPr bwMode="auto">
          <a:xfrm>
            <a:off x="789509" y="367505"/>
            <a:ext cx="11593287" cy="6553200"/>
          </a:xfrm>
          <a:prstGeom prst="roundRect">
            <a:avLst>
              <a:gd name="adj" fmla="val 16667"/>
            </a:avLst>
          </a:prstGeom>
          <a:solidFill>
            <a:schemeClr val="bg1">
              <a:alpha val="50195"/>
            </a:scheme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8" name="AutoShape 5"/>
          <p:cNvSpPr>
            <a:spLocks noChangeArrowheads="1"/>
          </p:cNvSpPr>
          <p:nvPr/>
        </p:nvSpPr>
        <p:spPr bwMode="auto">
          <a:xfrm>
            <a:off x="2373685" y="322264"/>
            <a:ext cx="8064128" cy="720601"/>
          </a:xfrm>
          <a:prstGeom prst="roundRect">
            <a:avLst>
              <a:gd name="adj" fmla="val 37469"/>
            </a:avLst>
          </a:prstGeom>
          <a:solidFill>
            <a:srgbClr val="FFFFFF">
              <a:alpha val="78822"/>
            </a:srgb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2" name="Заголовок 1"/>
          <p:cNvSpPr txBox="1">
            <a:spLocks noGrp="1"/>
          </p:cNvSpPr>
          <p:nvPr>
            <p:ph type="title" idx="4294967295"/>
          </p:nvPr>
        </p:nvSpPr>
        <p:spPr>
          <a:xfrm>
            <a:off x="2661717" y="288926"/>
            <a:ext cx="7083946" cy="1184275"/>
          </a:xfrm>
          <a:prstGeom prst="rect">
            <a:avLst/>
          </a:prstGeom>
        </p:spPr>
        <p:txBody>
          <a:bodyPr wrap="square">
            <a:noAutofit/>
          </a:bodyPr>
          <a:lstStyle/>
          <a:p>
            <a:pPr lvl="0"/>
            <a:r>
              <a:rPr lang="ru-RU" dirty="0"/>
              <a:t>Пример 3</a:t>
            </a:r>
          </a:p>
        </p:txBody>
      </p:sp>
      <p:sp>
        <p:nvSpPr>
          <p:cNvPr id="3" name="Текст 2"/>
          <p:cNvSpPr txBox="1">
            <a:spLocks noGrp="1"/>
          </p:cNvSpPr>
          <p:nvPr>
            <p:ph type="body" idx="4294967295"/>
          </p:nvPr>
        </p:nvSpPr>
        <p:spPr>
          <a:xfrm>
            <a:off x="1428341" y="2044701"/>
            <a:ext cx="10046938" cy="3268662"/>
          </a:xfrm>
          <a:prstGeom prst="rect">
            <a:avLst/>
          </a:prstGeom>
        </p:spPr>
        <p:txBody>
          <a:bodyPr wrap="square"/>
          <a:lstStyle/>
          <a:p>
            <a:pPr marL="0" indent="271463">
              <a:buClr>
                <a:srgbClr val="CC9900"/>
              </a:buClr>
              <a:buSzPct val="65000"/>
              <a:buFont typeface="Wingdings" pitchFamily="2"/>
              <a:buChar char=""/>
            </a:pPr>
            <a:r>
              <a:rPr lang="ru-RU" sz="2800" dirty="0"/>
              <a:t>Верно ли, что основной конкурент действует на том же сегменте рынка, что и фирма «Х»?</a:t>
            </a:r>
          </a:p>
          <a:p>
            <a:pPr marL="0" indent="271463">
              <a:buClr>
                <a:srgbClr val="CC9900"/>
              </a:buClr>
              <a:buSzPct val="65000"/>
              <a:buFont typeface="Wingdings" pitchFamily="2"/>
              <a:buChar char=""/>
            </a:pPr>
            <a:r>
              <a:rPr lang="ru-RU" sz="2800" dirty="0"/>
              <a:t>При ответе на этот вопрос может потребоваться проверить, одинаково ли распределение по возрасту у покупателей товаров фирмы «Х» и ее основного конкурента.</a:t>
            </a:r>
          </a:p>
        </p:txBody>
      </p:sp>
      <p:sp>
        <p:nvSpPr>
          <p:cNvPr id="10" name="Прямоугольник 9"/>
          <p:cNvSpPr/>
          <p:nvPr/>
        </p:nvSpPr>
        <p:spPr>
          <a:xfrm>
            <a:off x="3806640" y="1306556"/>
            <a:ext cx="5198218" cy="400110"/>
          </a:xfrm>
          <a:prstGeom prst="rect">
            <a:avLst/>
          </a:prstGeom>
        </p:spPr>
        <p:txBody>
          <a:bodyPr wrap="none">
            <a:spAutoFit/>
          </a:bodyPr>
          <a:lstStyle/>
          <a:p>
            <a:r>
              <a:rPr lang="ru-RU" b="1" i="1" dirty="0">
                <a:solidFill>
                  <a:srgbClr val="0070C0"/>
                </a:solidFill>
              </a:rPr>
              <a:t>Гипотеза о равенстве распределений</a:t>
            </a:r>
          </a:p>
        </p:txBody>
      </p:sp>
      <p:sp>
        <p:nvSpPr>
          <p:cNvPr id="4" name="Номер слайда 3"/>
          <p:cNvSpPr>
            <a:spLocks noGrp="1"/>
          </p:cNvSpPr>
          <p:nvPr>
            <p:ph type="sldNum" sz="quarter" idx="12"/>
          </p:nvPr>
        </p:nvSpPr>
        <p:spPr>
          <a:xfrm>
            <a:off x="11574355" y="6541296"/>
            <a:ext cx="808441" cy="379409"/>
          </a:xfrm>
        </p:spPr>
        <p:txBody>
          <a:bodyPr/>
          <a:lstStyle/>
          <a:p>
            <a:fld id="{952B6C0E-C4B9-4094-8E59-5B7DF00D5415}" type="slidenum">
              <a:rPr lang="ru-RU" smtClean="0">
                <a:solidFill>
                  <a:schemeClr val="tx1"/>
                </a:solidFill>
              </a:rPr>
              <a:t>28</a:t>
            </a:fld>
            <a:endParaRPr lang="ru-RU" dirty="0">
              <a:solidFill>
                <a:schemeClr val="tx1"/>
              </a:solidFill>
            </a:endParaRPr>
          </a:p>
        </p:txBody>
      </p:sp>
    </p:spTree>
    <p:extLst>
      <p:ext uri="{BB962C8B-B14F-4D97-AF65-F5344CB8AC3E}">
        <p14:creationId xmlns:p14="http://schemas.microsoft.com/office/powerpoint/2010/main" val="19237299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4"/>
          <p:cNvSpPr>
            <a:spLocks noChangeArrowheads="1"/>
          </p:cNvSpPr>
          <p:nvPr/>
        </p:nvSpPr>
        <p:spPr bwMode="auto">
          <a:xfrm>
            <a:off x="1438275" y="322263"/>
            <a:ext cx="10948119" cy="6553200"/>
          </a:xfrm>
          <a:prstGeom prst="roundRect">
            <a:avLst>
              <a:gd name="adj" fmla="val 16667"/>
            </a:avLst>
          </a:prstGeom>
          <a:solidFill>
            <a:schemeClr val="bg1">
              <a:alpha val="50195"/>
            </a:scheme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5" name="AutoShape 5"/>
          <p:cNvSpPr>
            <a:spLocks noChangeArrowheads="1"/>
          </p:cNvSpPr>
          <p:nvPr/>
        </p:nvSpPr>
        <p:spPr bwMode="auto">
          <a:xfrm>
            <a:off x="2373685" y="322264"/>
            <a:ext cx="8064128" cy="720601"/>
          </a:xfrm>
          <a:prstGeom prst="roundRect">
            <a:avLst>
              <a:gd name="adj" fmla="val 37469"/>
            </a:avLst>
          </a:prstGeom>
          <a:solidFill>
            <a:srgbClr val="FFFFFF">
              <a:alpha val="78822"/>
            </a:srgb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2" name="Заголовок 1"/>
          <p:cNvSpPr txBox="1">
            <a:spLocks noGrp="1"/>
          </p:cNvSpPr>
          <p:nvPr>
            <p:ph type="title" idx="4294967295"/>
          </p:nvPr>
        </p:nvSpPr>
        <p:spPr>
          <a:xfrm>
            <a:off x="1725614" y="170604"/>
            <a:ext cx="8550275" cy="1184275"/>
          </a:xfrm>
          <a:prstGeom prst="rect">
            <a:avLst/>
          </a:prstGeom>
        </p:spPr>
        <p:txBody>
          <a:bodyPr wrap="square">
            <a:noAutofit/>
          </a:bodyPr>
          <a:lstStyle/>
          <a:p>
            <a:pPr lvl="0"/>
            <a:r>
              <a:rPr lang="ru-RU" dirty="0"/>
              <a:t>Пример 4</a:t>
            </a:r>
          </a:p>
        </p:txBody>
      </p:sp>
      <p:sp>
        <p:nvSpPr>
          <p:cNvPr id="3" name="Текст 2"/>
          <p:cNvSpPr txBox="1">
            <a:spLocks noGrp="1"/>
          </p:cNvSpPr>
          <p:nvPr>
            <p:ph type="body" idx="4294967295"/>
          </p:nvPr>
        </p:nvSpPr>
        <p:spPr>
          <a:xfrm>
            <a:off x="1077541" y="2036777"/>
            <a:ext cx="10948119" cy="3805238"/>
          </a:xfrm>
          <a:prstGeom prst="rect">
            <a:avLst/>
          </a:prstGeom>
        </p:spPr>
        <p:txBody>
          <a:bodyPr wrap="square"/>
          <a:lstStyle/>
          <a:p>
            <a:pPr marL="0" indent="357188">
              <a:lnSpc>
                <a:spcPct val="90000"/>
              </a:lnSpc>
              <a:spcBef>
                <a:spcPts val="724"/>
              </a:spcBef>
              <a:buClr>
                <a:srgbClr val="CC9900"/>
              </a:buClr>
              <a:buSzPct val="65000"/>
              <a:buFont typeface="Wingdings" pitchFamily="2"/>
              <a:buChar char=""/>
            </a:pPr>
            <a:r>
              <a:rPr lang="ru-RU" sz="2909" dirty="0"/>
              <a:t>Фирма изучает постоянных покупателей своей продукции, чтобы увеличить их лояльность и количество.</a:t>
            </a:r>
          </a:p>
          <a:p>
            <a:pPr marL="0" indent="357188">
              <a:lnSpc>
                <a:spcPct val="90000"/>
              </a:lnSpc>
              <a:spcBef>
                <a:spcPts val="724"/>
              </a:spcBef>
            </a:pPr>
            <a:endParaRPr lang="ru-RU" sz="2909" dirty="0"/>
          </a:p>
          <a:p>
            <a:pPr marL="0" indent="357188">
              <a:lnSpc>
                <a:spcPct val="90000"/>
              </a:lnSpc>
              <a:spcBef>
                <a:spcPts val="724"/>
              </a:spcBef>
              <a:buClr>
                <a:srgbClr val="CC9900"/>
              </a:buClr>
              <a:buSzPct val="65000"/>
              <a:buFont typeface="Wingdings" pitchFamily="2"/>
              <a:buChar char=""/>
            </a:pPr>
            <a:r>
              <a:rPr lang="ru-RU" sz="2909" dirty="0"/>
              <a:t>В рамках этой задачи аналитик проверяет, зависит ли лояльность потребителя от его пола, возраста, уровня образования.</a:t>
            </a:r>
          </a:p>
        </p:txBody>
      </p:sp>
      <p:sp>
        <p:nvSpPr>
          <p:cNvPr id="7" name="Прямоугольник 6"/>
          <p:cNvSpPr/>
          <p:nvPr/>
        </p:nvSpPr>
        <p:spPr>
          <a:xfrm>
            <a:off x="4249469" y="1382126"/>
            <a:ext cx="3502562" cy="400110"/>
          </a:xfrm>
          <a:prstGeom prst="rect">
            <a:avLst/>
          </a:prstGeom>
        </p:spPr>
        <p:txBody>
          <a:bodyPr wrap="none">
            <a:spAutoFit/>
          </a:bodyPr>
          <a:lstStyle/>
          <a:p>
            <a:r>
              <a:rPr lang="ru-RU" b="1" i="1" dirty="0">
                <a:solidFill>
                  <a:srgbClr val="0070C0"/>
                </a:solidFill>
              </a:rPr>
              <a:t>Гипотеза о зависимости</a:t>
            </a:r>
          </a:p>
        </p:txBody>
      </p:sp>
      <p:sp>
        <p:nvSpPr>
          <p:cNvPr id="8" name="Номер слайда 7"/>
          <p:cNvSpPr>
            <a:spLocks noGrp="1"/>
          </p:cNvSpPr>
          <p:nvPr>
            <p:ph type="sldNum" sz="quarter" idx="12"/>
          </p:nvPr>
        </p:nvSpPr>
        <p:spPr/>
        <p:txBody>
          <a:bodyPr/>
          <a:lstStyle/>
          <a:p>
            <a:fld id="{952B6C0E-C4B9-4094-8E59-5B7DF00D5415}" type="slidenum">
              <a:rPr lang="ru-RU" smtClean="0">
                <a:solidFill>
                  <a:schemeClr val="tx1"/>
                </a:solidFill>
              </a:rPr>
              <a:t>29</a:t>
            </a:fld>
            <a:endParaRPr lang="ru-RU" dirty="0">
              <a:solidFill>
                <a:schemeClr val="tx1"/>
              </a:solidFill>
            </a:endParaRPr>
          </a:p>
        </p:txBody>
      </p:sp>
    </p:spTree>
    <p:extLst>
      <p:ext uri="{BB962C8B-B14F-4D97-AF65-F5344CB8AC3E}">
        <p14:creationId xmlns:p14="http://schemas.microsoft.com/office/powerpoint/2010/main" val="35737660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4"/>
          <p:cNvSpPr>
            <a:spLocks noChangeArrowheads="1"/>
          </p:cNvSpPr>
          <p:nvPr/>
        </p:nvSpPr>
        <p:spPr bwMode="auto">
          <a:xfrm>
            <a:off x="645494" y="466799"/>
            <a:ext cx="11521279" cy="6408663"/>
          </a:xfrm>
          <a:prstGeom prst="roundRect">
            <a:avLst>
              <a:gd name="adj" fmla="val 16667"/>
            </a:avLst>
          </a:prstGeom>
          <a:solidFill>
            <a:schemeClr val="bg1">
              <a:alpha val="50195"/>
            </a:scheme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5" name="AutoShape 5"/>
          <p:cNvSpPr>
            <a:spLocks noChangeArrowheads="1"/>
          </p:cNvSpPr>
          <p:nvPr/>
        </p:nvSpPr>
        <p:spPr bwMode="auto">
          <a:xfrm>
            <a:off x="2373685" y="322264"/>
            <a:ext cx="8064128" cy="720601"/>
          </a:xfrm>
          <a:prstGeom prst="roundRect">
            <a:avLst>
              <a:gd name="adj" fmla="val 37469"/>
            </a:avLst>
          </a:prstGeom>
          <a:solidFill>
            <a:srgbClr val="FFFFFF">
              <a:alpha val="78822"/>
            </a:srgb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2" name="Заголовок 1"/>
          <p:cNvSpPr txBox="1">
            <a:spLocks noGrp="1"/>
          </p:cNvSpPr>
          <p:nvPr>
            <p:ph type="title" idx="4294967295"/>
          </p:nvPr>
        </p:nvSpPr>
        <p:spPr>
          <a:xfrm>
            <a:off x="1195389" y="288926"/>
            <a:ext cx="8550275" cy="1184275"/>
          </a:xfrm>
          <a:prstGeom prst="rect">
            <a:avLst/>
          </a:prstGeom>
        </p:spPr>
        <p:txBody>
          <a:bodyPr wrap="square">
            <a:noAutofit/>
          </a:bodyPr>
          <a:lstStyle/>
          <a:p>
            <a:pPr lvl="0"/>
            <a:r>
              <a:rPr lang="ru-RU"/>
              <a:t>Пример 4. Часть 2</a:t>
            </a:r>
          </a:p>
        </p:txBody>
      </p:sp>
      <p:sp>
        <p:nvSpPr>
          <p:cNvPr id="3" name="Текст 2"/>
          <p:cNvSpPr txBox="1">
            <a:spLocks noGrp="1"/>
          </p:cNvSpPr>
          <p:nvPr>
            <p:ph type="body" idx="4294967295"/>
          </p:nvPr>
        </p:nvSpPr>
        <p:spPr>
          <a:xfrm>
            <a:off x="972725" y="1848187"/>
            <a:ext cx="11050031" cy="4451261"/>
          </a:xfrm>
          <a:prstGeom prst="rect">
            <a:avLst/>
          </a:prstGeom>
        </p:spPr>
        <p:txBody>
          <a:bodyPr wrap="square"/>
          <a:lstStyle/>
          <a:p>
            <a:pPr marL="0" indent="271463">
              <a:spcBef>
                <a:spcPts val="751"/>
              </a:spcBef>
              <a:buClr>
                <a:srgbClr val="CC9900"/>
              </a:buClr>
              <a:buSzPct val="65000"/>
              <a:buFont typeface="Wingdings" pitchFamily="2"/>
              <a:buChar char=""/>
            </a:pPr>
            <a:r>
              <a:rPr lang="ru-RU" sz="2800" dirty="0"/>
              <a:t>Статистическая формулировка: проверить гипотезы о независимости уровня лояльности и</a:t>
            </a:r>
          </a:p>
          <a:p>
            <a:pPr marL="0" indent="271463">
              <a:spcBef>
                <a:spcPts val="751"/>
              </a:spcBef>
              <a:buClr>
                <a:srgbClr val="CC9900"/>
              </a:buClr>
              <a:buSzPct val="65000"/>
              <a:buFont typeface="Wingdings" pitchFamily="2"/>
              <a:buChar char=""/>
            </a:pPr>
            <a:r>
              <a:rPr lang="ru-RU" sz="2800" dirty="0"/>
              <a:t>а) пола покупателя;</a:t>
            </a:r>
          </a:p>
          <a:p>
            <a:pPr marL="0" indent="271463">
              <a:spcBef>
                <a:spcPts val="751"/>
              </a:spcBef>
              <a:buClr>
                <a:srgbClr val="CC9900"/>
              </a:buClr>
              <a:buSzPct val="65000"/>
              <a:buFont typeface="Wingdings" pitchFamily="2"/>
              <a:buChar char=""/>
            </a:pPr>
            <a:r>
              <a:rPr lang="ru-RU" sz="2800" dirty="0"/>
              <a:t>б) возраста покупателя;</a:t>
            </a:r>
          </a:p>
          <a:p>
            <a:pPr marL="0" indent="271463">
              <a:spcBef>
                <a:spcPts val="751"/>
              </a:spcBef>
              <a:buClr>
                <a:srgbClr val="CC9900"/>
              </a:buClr>
              <a:buSzPct val="65000"/>
              <a:buFont typeface="Wingdings" pitchFamily="2"/>
              <a:buChar char=""/>
            </a:pPr>
            <a:r>
              <a:rPr lang="ru-RU" sz="2800" dirty="0"/>
              <a:t>в)  уровня образования покупателя.</a:t>
            </a:r>
          </a:p>
          <a:p>
            <a:pPr marL="0" indent="271463">
              <a:buClr>
                <a:srgbClr val="CC9900"/>
              </a:buClr>
              <a:buSzPct val="65000"/>
              <a:buFont typeface="Wingdings" pitchFamily="2"/>
              <a:buChar char=""/>
            </a:pPr>
            <a:r>
              <a:rPr lang="ru-RU" sz="2800" dirty="0"/>
              <a:t>Далее, можно проверить, различаются ли средние значения изучаемых показателей у лояльных и нелояльных покупателей.</a:t>
            </a:r>
          </a:p>
        </p:txBody>
      </p:sp>
      <p:sp>
        <p:nvSpPr>
          <p:cNvPr id="7" name="Прямоугольник 6"/>
          <p:cNvSpPr/>
          <p:nvPr/>
        </p:nvSpPr>
        <p:spPr>
          <a:xfrm>
            <a:off x="4582844" y="1316007"/>
            <a:ext cx="3502562" cy="400110"/>
          </a:xfrm>
          <a:prstGeom prst="rect">
            <a:avLst/>
          </a:prstGeom>
        </p:spPr>
        <p:txBody>
          <a:bodyPr wrap="none">
            <a:spAutoFit/>
          </a:bodyPr>
          <a:lstStyle/>
          <a:p>
            <a:r>
              <a:rPr lang="ru-RU" b="1" i="1" dirty="0">
                <a:solidFill>
                  <a:srgbClr val="0070C0"/>
                </a:solidFill>
              </a:rPr>
              <a:t>Гипотеза о зависимости</a:t>
            </a:r>
          </a:p>
        </p:txBody>
      </p:sp>
      <p:sp>
        <p:nvSpPr>
          <p:cNvPr id="8" name="Номер слайда 7"/>
          <p:cNvSpPr>
            <a:spLocks noGrp="1"/>
          </p:cNvSpPr>
          <p:nvPr>
            <p:ph type="sldNum" sz="quarter" idx="12"/>
          </p:nvPr>
        </p:nvSpPr>
        <p:spPr>
          <a:xfrm>
            <a:off x="11510525" y="6614320"/>
            <a:ext cx="880449" cy="379409"/>
          </a:xfrm>
        </p:spPr>
        <p:txBody>
          <a:bodyPr/>
          <a:lstStyle/>
          <a:p>
            <a:fld id="{952B6C0E-C4B9-4094-8E59-5B7DF00D5415}" type="slidenum">
              <a:rPr lang="ru-RU" sz="1400">
                <a:solidFill>
                  <a:schemeClr val="tx1"/>
                </a:solidFill>
              </a:rPr>
              <a:t>30</a:t>
            </a:fld>
            <a:endParaRPr lang="ru-RU" sz="1400">
              <a:solidFill>
                <a:schemeClr val="tx1"/>
              </a:solidFill>
            </a:endParaRPr>
          </a:p>
        </p:txBody>
      </p:sp>
    </p:spTree>
    <p:extLst>
      <p:ext uri="{BB962C8B-B14F-4D97-AF65-F5344CB8AC3E}">
        <p14:creationId xmlns:p14="http://schemas.microsoft.com/office/powerpoint/2010/main" val="42881534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999" name="AutoShape 7"/>
          <p:cNvSpPr>
            <a:spLocks noChangeArrowheads="1"/>
          </p:cNvSpPr>
          <p:nvPr/>
        </p:nvSpPr>
        <p:spPr bwMode="auto">
          <a:xfrm>
            <a:off x="1868488" y="3140076"/>
            <a:ext cx="9329738" cy="1287463"/>
          </a:xfrm>
          <a:prstGeom prst="roundRect">
            <a:avLst>
              <a:gd name="adj" fmla="val 16667"/>
            </a:avLst>
          </a:prstGeom>
          <a:solidFill>
            <a:srgbClr val="464646">
              <a:alpha val="50000"/>
            </a:srgb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9441" tIns="49721" rIns="99441" bIns="49721" anchor="ctr"/>
          <a:lstStyle>
            <a:lvl1pPr marL="982663" defTabSz="993775">
              <a:defRPr>
                <a:solidFill>
                  <a:schemeClr val="tx1"/>
                </a:solidFill>
                <a:latin typeface="Arial" panose="020B0604020202020204" pitchFamily="34" charset="0"/>
              </a:defRPr>
            </a:lvl1pPr>
            <a:lvl2pPr marL="1177925" defTabSz="993775">
              <a:defRPr>
                <a:solidFill>
                  <a:schemeClr val="tx1"/>
                </a:solidFill>
                <a:latin typeface="Arial" panose="020B0604020202020204" pitchFamily="34" charset="0"/>
              </a:defRPr>
            </a:lvl2pPr>
            <a:lvl3pPr marL="1373188" defTabSz="993775">
              <a:defRPr>
                <a:solidFill>
                  <a:schemeClr val="tx1"/>
                </a:solidFill>
                <a:latin typeface="Arial" panose="020B0604020202020204" pitchFamily="34" charset="0"/>
              </a:defRPr>
            </a:lvl3pPr>
            <a:lvl4pPr marL="1566863" defTabSz="993775">
              <a:defRPr>
                <a:solidFill>
                  <a:schemeClr val="tx1"/>
                </a:solidFill>
                <a:latin typeface="Arial" panose="020B0604020202020204" pitchFamily="34" charset="0"/>
              </a:defRPr>
            </a:lvl4pPr>
            <a:lvl5pPr marL="1989138" defTabSz="993775">
              <a:defRPr>
                <a:solidFill>
                  <a:schemeClr val="tx1"/>
                </a:solidFill>
                <a:latin typeface="Arial" panose="020B0604020202020204" pitchFamily="34" charset="0"/>
              </a:defRPr>
            </a:lvl5pPr>
            <a:lvl6pPr marL="2446338" defTabSz="993775" fontAlgn="base">
              <a:spcBef>
                <a:spcPct val="0"/>
              </a:spcBef>
              <a:spcAft>
                <a:spcPct val="0"/>
              </a:spcAft>
              <a:defRPr>
                <a:solidFill>
                  <a:schemeClr val="tx1"/>
                </a:solidFill>
                <a:latin typeface="Arial" panose="020B0604020202020204" pitchFamily="34" charset="0"/>
              </a:defRPr>
            </a:lvl6pPr>
            <a:lvl7pPr marL="2903538" defTabSz="993775" fontAlgn="base">
              <a:spcBef>
                <a:spcPct val="0"/>
              </a:spcBef>
              <a:spcAft>
                <a:spcPct val="0"/>
              </a:spcAft>
              <a:defRPr>
                <a:solidFill>
                  <a:schemeClr val="tx1"/>
                </a:solidFill>
                <a:latin typeface="Arial" panose="020B0604020202020204" pitchFamily="34" charset="0"/>
              </a:defRPr>
            </a:lvl7pPr>
            <a:lvl8pPr marL="3360738" defTabSz="993775" fontAlgn="base">
              <a:spcBef>
                <a:spcPct val="0"/>
              </a:spcBef>
              <a:spcAft>
                <a:spcPct val="0"/>
              </a:spcAft>
              <a:defRPr>
                <a:solidFill>
                  <a:schemeClr val="tx1"/>
                </a:solidFill>
                <a:latin typeface="Arial" panose="020B0604020202020204" pitchFamily="34" charset="0"/>
              </a:defRPr>
            </a:lvl8pPr>
            <a:lvl9pPr marL="3817938" defTabSz="993775" fontAlgn="base">
              <a:spcBef>
                <a:spcPct val="0"/>
              </a:spcBef>
              <a:spcAft>
                <a:spcPct val="0"/>
              </a:spcAft>
              <a:defRPr>
                <a:solidFill>
                  <a:schemeClr val="tx1"/>
                </a:solidFill>
                <a:latin typeface="Arial" panose="020B0604020202020204" pitchFamily="34" charset="0"/>
              </a:defRPr>
            </a:lvl9pPr>
          </a:lstStyle>
          <a:p>
            <a:endParaRPr lang="ru-RU" altLang="ru-RU" sz="3500">
              <a:solidFill>
                <a:schemeClr val="bg1"/>
              </a:solidFill>
            </a:endParaRPr>
          </a:p>
        </p:txBody>
      </p:sp>
      <p:sp>
        <p:nvSpPr>
          <p:cNvPr id="213000" name="AutoShape 8"/>
          <p:cNvSpPr>
            <a:spLocks noChangeArrowheads="1"/>
          </p:cNvSpPr>
          <p:nvPr/>
        </p:nvSpPr>
        <p:spPr bwMode="auto">
          <a:xfrm>
            <a:off x="2225676" y="3362326"/>
            <a:ext cx="596900" cy="854075"/>
          </a:xfrm>
          <a:prstGeom prst="roundRect">
            <a:avLst>
              <a:gd name="adj" fmla="val 16667"/>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9441" tIns="49721" rIns="99441" bIns="49721" anchor="ctr"/>
          <a:lstStyle>
            <a:lvl1pPr defTabSz="993775">
              <a:defRPr>
                <a:solidFill>
                  <a:schemeClr val="tx1"/>
                </a:solidFill>
                <a:latin typeface="Arial" panose="020B0604020202020204" pitchFamily="34" charset="0"/>
              </a:defRPr>
            </a:lvl1pPr>
            <a:lvl2pPr marL="496888" defTabSz="993775">
              <a:defRPr>
                <a:solidFill>
                  <a:schemeClr val="tx1"/>
                </a:solidFill>
                <a:latin typeface="Arial" panose="020B0604020202020204" pitchFamily="34" charset="0"/>
              </a:defRPr>
            </a:lvl2pPr>
            <a:lvl3pPr marL="993775" defTabSz="993775">
              <a:defRPr>
                <a:solidFill>
                  <a:schemeClr val="tx1"/>
                </a:solidFill>
                <a:latin typeface="Arial" panose="020B0604020202020204" pitchFamily="34" charset="0"/>
              </a:defRPr>
            </a:lvl3pPr>
            <a:lvl4pPr marL="1492250" defTabSz="993775">
              <a:defRPr>
                <a:solidFill>
                  <a:schemeClr val="tx1"/>
                </a:solidFill>
                <a:latin typeface="Arial" panose="020B0604020202020204" pitchFamily="34" charset="0"/>
              </a:defRPr>
            </a:lvl4pPr>
            <a:lvl5pPr marL="1989138" defTabSz="993775">
              <a:defRPr>
                <a:solidFill>
                  <a:schemeClr val="tx1"/>
                </a:solidFill>
                <a:latin typeface="Arial" panose="020B0604020202020204" pitchFamily="34" charset="0"/>
              </a:defRPr>
            </a:lvl5pPr>
            <a:lvl6pPr marL="2446338" defTabSz="993775" fontAlgn="base">
              <a:spcBef>
                <a:spcPct val="0"/>
              </a:spcBef>
              <a:spcAft>
                <a:spcPct val="0"/>
              </a:spcAft>
              <a:defRPr>
                <a:solidFill>
                  <a:schemeClr val="tx1"/>
                </a:solidFill>
                <a:latin typeface="Arial" panose="020B0604020202020204" pitchFamily="34" charset="0"/>
              </a:defRPr>
            </a:lvl6pPr>
            <a:lvl7pPr marL="2903538" defTabSz="993775" fontAlgn="base">
              <a:spcBef>
                <a:spcPct val="0"/>
              </a:spcBef>
              <a:spcAft>
                <a:spcPct val="0"/>
              </a:spcAft>
              <a:defRPr>
                <a:solidFill>
                  <a:schemeClr val="tx1"/>
                </a:solidFill>
                <a:latin typeface="Arial" panose="020B0604020202020204" pitchFamily="34" charset="0"/>
              </a:defRPr>
            </a:lvl7pPr>
            <a:lvl8pPr marL="3360738" defTabSz="993775" fontAlgn="base">
              <a:spcBef>
                <a:spcPct val="0"/>
              </a:spcBef>
              <a:spcAft>
                <a:spcPct val="0"/>
              </a:spcAft>
              <a:defRPr>
                <a:solidFill>
                  <a:schemeClr val="tx1"/>
                </a:solidFill>
                <a:latin typeface="Arial" panose="020B0604020202020204" pitchFamily="34" charset="0"/>
              </a:defRPr>
            </a:lvl8pPr>
            <a:lvl9pPr marL="3817938" defTabSz="993775" fontAlgn="base">
              <a:spcBef>
                <a:spcPct val="0"/>
              </a:spcBef>
              <a:spcAft>
                <a:spcPct val="0"/>
              </a:spcAft>
              <a:defRPr>
                <a:solidFill>
                  <a:schemeClr val="tx1"/>
                </a:solidFill>
                <a:latin typeface="Arial" panose="020B0604020202020204" pitchFamily="34" charset="0"/>
              </a:defRPr>
            </a:lvl9pPr>
          </a:lstStyle>
          <a:p>
            <a:pPr algn="ctr"/>
            <a:r>
              <a:rPr lang="ru-RU" altLang="ru-RU" sz="3000" b="1" dirty="0">
                <a:solidFill>
                  <a:schemeClr val="bg1"/>
                </a:solidFill>
              </a:rPr>
              <a:t>2</a:t>
            </a:r>
          </a:p>
        </p:txBody>
      </p:sp>
      <p:sp>
        <p:nvSpPr>
          <p:cNvPr id="5" name="AutoShape 27"/>
          <p:cNvSpPr>
            <a:spLocks noChangeArrowheads="1"/>
          </p:cNvSpPr>
          <p:nvPr/>
        </p:nvSpPr>
        <p:spPr bwMode="auto">
          <a:xfrm>
            <a:off x="3169057" y="3162045"/>
            <a:ext cx="6680284" cy="1179704"/>
          </a:xfrm>
          <a:prstGeom prst="roundRect">
            <a:avLst>
              <a:gd name="adj" fmla="val 16667"/>
            </a:avLst>
          </a:prstGeom>
          <a:noFill/>
          <a:ln>
            <a:noFill/>
          </a:ln>
          <a:effectLst/>
          <a:extLst>
            <a:ext uri="{909E8E84-426E-40DD-AFC4-6F175D3DCCD1}">
              <a14:hiddenFill xmlns:a14="http://schemas.microsoft.com/office/drawing/2010/main">
                <a:solidFill>
                  <a:srgbClr val="464646">
                    <a:alpha val="50000"/>
                  </a:srgbClr>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9441" tIns="49721" rIns="99441" bIns="49721" anchor="ctr"/>
          <a:lstStyle>
            <a:lvl1pPr marL="982663" defTabSz="993775">
              <a:defRPr>
                <a:solidFill>
                  <a:schemeClr val="tx1"/>
                </a:solidFill>
                <a:latin typeface="Arial" panose="020B0604020202020204" pitchFamily="34" charset="0"/>
              </a:defRPr>
            </a:lvl1pPr>
            <a:lvl2pPr marL="1177925" defTabSz="993775">
              <a:defRPr>
                <a:solidFill>
                  <a:schemeClr val="tx1"/>
                </a:solidFill>
                <a:latin typeface="Arial" panose="020B0604020202020204" pitchFamily="34" charset="0"/>
              </a:defRPr>
            </a:lvl2pPr>
            <a:lvl3pPr marL="1373188" defTabSz="993775">
              <a:defRPr>
                <a:solidFill>
                  <a:schemeClr val="tx1"/>
                </a:solidFill>
                <a:latin typeface="Arial" panose="020B0604020202020204" pitchFamily="34" charset="0"/>
              </a:defRPr>
            </a:lvl3pPr>
            <a:lvl4pPr marL="1566863" defTabSz="993775">
              <a:defRPr>
                <a:solidFill>
                  <a:schemeClr val="tx1"/>
                </a:solidFill>
                <a:latin typeface="Arial" panose="020B0604020202020204" pitchFamily="34" charset="0"/>
              </a:defRPr>
            </a:lvl4pPr>
            <a:lvl5pPr marL="1989138" defTabSz="993775">
              <a:defRPr>
                <a:solidFill>
                  <a:schemeClr val="tx1"/>
                </a:solidFill>
                <a:latin typeface="Arial" panose="020B0604020202020204" pitchFamily="34" charset="0"/>
              </a:defRPr>
            </a:lvl5pPr>
            <a:lvl6pPr marL="2446338" defTabSz="993775" fontAlgn="base">
              <a:spcBef>
                <a:spcPct val="0"/>
              </a:spcBef>
              <a:spcAft>
                <a:spcPct val="0"/>
              </a:spcAft>
              <a:defRPr>
                <a:solidFill>
                  <a:schemeClr val="tx1"/>
                </a:solidFill>
                <a:latin typeface="Arial" panose="020B0604020202020204" pitchFamily="34" charset="0"/>
              </a:defRPr>
            </a:lvl6pPr>
            <a:lvl7pPr marL="2903538" defTabSz="993775" fontAlgn="base">
              <a:spcBef>
                <a:spcPct val="0"/>
              </a:spcBef>
              <a:spcAft>
                <a:spcPct val="0"/>
              </a:spcAft>
              <a:defRPr>
                <a:solidFill>
                  <a:schemeClr val="tx1"/>
                </a:solidFill>
                <a:latin typeface="Arial" panose="020B0604020202020204" pitchFamily="34" charset="0"/>
              </a:defRPr>
            </a:lvl7pPr>
            <a:lvl8pPr marL="3360738" defTabSz="993775" fontAlgn="base">
              <a:spcBef>
                <a:spcPct val="0"/>
              </a:spcBef>
              <a:spcAft>
                <a:spcPct val="0"/>
              </a:spcAft>
              <a:defRPr>
                <a:solidFill>
                  <a:schemeClr val="tx1"/>
                </a:solidFill>
                <a:latin typeface="Arial" panose="020B0604020202020204" pitchFamily="34" charset="0"/>
              </a:defRPr>
            </a:lvl8pPr>
            <a:lvl9pPr marL="3817938" defTabSz="993775" fontAlgn="base">
              <a:spcBef>
                <a:spcPct val="0"/>
              </a:spcBef>
              <a:spcAft>
                <a:spcPct val="0"/>
              </a:spcAft>
              <a:defRPr>
                <a:solidFill>
                  <a:schemeClr val="tx1"/>
                </a:solidFill>
                <a:latin typeface="Arial" panose="020B0604020202020204" pitchFamily="34" charset="0"/>
              </a:defRPr>
            </a:lvl9pPr>
          </a:lstStyle>
          <a:p>
            <a:pPr marL="0" algn="ctr"/>
            <a:r>
              <a:rPr lang="ru-RU" sz="4400" dirty="0">
                <a:solidFill>
                  <a:schemeClr val="bg1"/>
                </a:solidFill>
              </a:rPr>
              <a:t>Технологии проверки</a:t>
            </a:r>
          </a:p>
          <a:p>
            <a:pPr marL="0" algn="ctr"/>
            <a:r>
              <a:rPr lang="ru-RU" sz="4400" dirty="0">
                <a:solidFill>
                  <a:schemeClr val="bg1"/>
                </a:solidFill>
              </a:rPr>
              <a:t>статистических гипотез</a:t>
            </a:r>
          </a:p>
        </p:txBody>
      </p:sp>
      <p:sp>
        <p:nvSpPr>
          <p:cNvPr id="2" name="Номер слайда 1"/>
          <p:cNvSpPr>
            <a:spLocks noGrp="1"/>
          </p:cNvSpPr>
          <p:nvPr>
            <p:ph type="sldNum" sz="quarter" idx="12"/>
          </p:nvPr>
        </p:nvSpPr>
        <p:spPr/>
        <p:txBody>
          <a:bodyPr/>
          <a:lstStyle/>
          <a:p>
            <a:fld id="{952B6C0E-C4B9-4094-8E59-5B7DF00D5415}" type="slidenum">
              <a:rPr lang="ru-RU" sz="1400">
                <a:solidFill>
                  <a:schemeClr val="tx1"/>
                </a:solidFill>
              </a:rPr>
              <a:t>31</a:t>
            </a:fld>
            <a:endParaRPr lang="ru-RU" dirty="0">
              <a:solidFill>
                <a:schemeClr val="tx1"/>
              </a:solidFill>
            </a:endParaRPr>
          </a:p>
        </p:txBody>
      </p:sp>
    </p:spTree>
    <p:extLst>
      <p:ext uri="{BB962C8B-B14F-4D97-AF65-F5344CB8AC3E}">
        <p14:creationId xmlns:p14="http://schemas.microsoft.com/office/powerpoint/2010/main" val="37426984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2373685" y="322264"/>
            <a:ext cx="8064128" cy="720601"/>
          </a:xfrm>
          <a:prstGeom prst="roundRect">
            <a:avLst>
              <a:gd name="adj" fmla="val 37469"/>
            </a:avLst>
          </a:prstGeom>
          <a:solidFill>
            <a:srgbClr val="FFFFFF">
              <a:alpha val="78822"/>
            </a:srgb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4" name="AutoShape 4"/>
          <p:cNvSpPr>
            <a:spLocks noChangeArrowheads="1"/>
          </p:cNvSpPr>
          <p:nvPr/>
        </p:nvSpPr>
        <p:spPr bwMode="auto">
          <a:xfrm>
            <a:off x="1005533" y="322263"/>
            <a:ext cx="10873207" cy="6553200"/>
          </a:xfrm>
          <a:prstGeom prst="roundRect">
            <a:avLst>
              <a:gd name="adj" fmla="val 16667"/>
            </a:avLst>
          </a:prstGeom>
          <a:solidFill>
            <a:schemeClr val="bg1">
              <a:alpha val="50195"/>
            </a:scheme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2" name="Заголовок 1"/>
          <p:cNvSpPr txBox="1">
            <a:spLocks noGrp="1"/>
          </p:cNvSpPr>
          <p:nvPr>
            <p:ph type="title" idx="4294967295"/>
          </p:nvPr>
        </p:nvSpPr>
        <p:spPr>
          <a:xfrm>
            <a:off x="2023270" y="322264"/>
            <a:ext cx="8550275" cy="1184275"/>
          </a:xfrm>
          <a:prstGeom prst="rect">
            <a:avLst/>
          </a:prstGeom>
        </p:spPr>
        <p:txBody>
          <a:bodyPr wrap="square">
            <a:noAutofit/>
          </a:bodyPr>
          <a:lstStyle/>
          <a:p>
            <a:pPr lvl="0"/>
            <a:r>
              <a:rPr lang="ru-RU" dirty="0"/>
              <a:t>Определение</a:t>
            </a:r>
          </a:p>
        </p:txBody>
      </p:sp>
      <p:sp>
        <p:nvSpPr>
          <p:cNvPr id="3" name="Текст 2"/>
          <p:cNvSpPr txBox="1">
            <a:spLocks noGrp="1"/>
          </p:cNvSpPr>
          <p:nvPr>
            <p:ph type="body" idx="4294967295"/>
          </p:nvPr>
        </p:nvSpPr>
        <p:spPr>
          <a:xfrm>
            <a:off x="2130612" y="1840707"/>
            <a:ext cx="8550275" cy="2333625"/>
          </a:xfrm>
          <a:prstGeom prst="rect">
            <a:avLst/>
          </a:prstGeom>
        </p:spPr>
        <p:txBody>
          <a:bodyPr wrap="square"/>
          <a:lstStyle/>
          <a:p>
            <a:pPr marL="0" indent="0">
              <a:buClr>
                <a:srgbClr val="CC9900"/>
              </a:buClr>
              <a:buSzPct val="65000"/>
              <a:buFont typeface="Wingdings" pitchFamily="2"/>
              <a:buChar char=""/>
              <a:tabLst>
                <a:tab pos="0" algn="l"/>
                <a:tab pos="110352" algn="l"/>
                <a:tab pos="577199" algn="l"/>
                <a:tab pos="1044046" algn="l"/>
                <a:tab pos="1510893" algn="l"/>
                <a:tab pos="1977740" algn="l"/>
                <a:tab pos="2444587" algn="l"/>
                <a:tab pos="2911434" algn="l"/>
                <a:tab pos="3378279" algn="l"/>
                <a:tab pos="3845127" algn="l"/>
                <a:tab pos="4311973" algn="l"/>
                <a:tab pos="4778447" algn="l"/>
                <a:tab pos="5245294" algn="l"/>
                <a:tab pos="5712141" algn="l"/>
                <a:tab pos="6178987" algn="l"/>
                <a:tab pos="6645833" algn="l"/>
                <a:tab pos="7112681" algn="l"/>
                <a:tab pos="7579527" algn="l"/>
                <a:tab pos="8046375" algn="l"/>
                <a:tab pos="8513222" algn="l"/>
                <a:tab pos="8980068" algn="l"/>
              </a:tabLst>
            </a:pPr>
            <a:r>
              <a:rPr lang="ru-RU" sz="3200" dirty="0"/>
              <a:t> Проверку гипотез на основе выборочных статистических данных называют </a:t>
            </a:r>
            <a:r>
              <a:rPr lang="ru-RU" sz="3200" b="1" i="1" dirty="0">
                <a:solidFill>
                  <a:srgbClr val="0000FF"/>
                </a:solidFill>
              </a:rPr>
              <a:t>статистической проверкой гипотез.</a:t>
            </a:r>
          </a:p>
        </p:txBody>
      </p:sp>
      <p:sp>
        <p:nvSpPr>
          <p:cNvPr id="7" name="Номер слайда 6"/>
          <p:cNvSpPr>
            <a:spLocks noGrp="1"/>
          </p:cNvSpPr>
          <p:nvPr>
            <p:ph type="sldNum" sz="quarter" idx="12"/>
          </p:nvPr>
        </p:nvSpPr>
        <p:spPr>
          <a:xfrm>
            <a:off x="11294500" y="6424616"/>
            <a:ext cx="736433" cy="379409"/>
          </a:xfrm>
        </p:spPr>
        <p:txBody>
          <a:bodyPr/>
          <a:lstStyle/>
          <a:p>
            <a:fld id="{952B6C0E-C4B9-4094-8E59-5B7DF00D5415}" type="slidenum">
              <a:rPr lang="ru-RU" smtClean="0">
                <a:solidFill>
                  <a:schemeClr val="tx1"/>
                </a:solidFill>
              </a:rPr>
              <a:t>32</a:t>
            </a:fld>
            <a:endParaRPr lang="ru-RU" dirty="0">
              <a:solidFill>
                <a:schemeClr val="tx1"/>
              </a:solidFill>
            </a:endParaRPr>
          </a:p>
        </p:txBody>
      </p:sp>
    </p:spTree>
    <p:extLst>
      <p:ext uri="{BB962C8B-B14F-4D97-AF65-F5344CB8AC3E}">
        <p14:creationId xmlns:p14="http://schemas.microsoft.com/office/powerpoint/2010/main" val="7629235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2373685" y="322264"/>
            <a:ext cx="8064128" cy="720601"/>
          </a:xfrm>
          <a:prstGeom prst="roundRect">
            <a:avLst>
              <a:gd name="adj" fmla="val 37469"/>
            </a:avLst>
          </a:prstGeom>
          <a:solidFill>
            <a:srgbClr val="FFFFFF">
              <a:alpha val="78822"/>
            </a:srgb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4" name="AutoShape 4"/>
          <p:cNvSpPr>
            <a:spLocks noChangeArrowheads="1"/>
          </p:cNvSpPr>
          <p:nvPr/>
        </p:nvSpPr>
        <p:spPr bwMode="auto">
          <a:xfrm>
            <a:off x="1438275" y="322263"/>
            <a:ext cx="10948119" cy="6586670"/>
          </a:xfrm>
          <a:prstGeom prst="roundRect">
            <a:avLst>
              <a:gd name="adj" fmla="val 16667"/>
            </a:avLst>
          </a:prstGeom>
          <a:solidFill>
            <a:schemeClr val="bg1">
              <a:alpha val="50195"/>
            </a:scheme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6" name="AutoShape 6"/>
          <p:cNvSpPr>
            <a:spLocks noChangeArrowheads="1"/>
          </p:cNvSpPr>
          <p:nvPr/>
        </p:nvSpPr>
        <p:spPr bwMode="auto">
          <a:xfrm>
            <a:off x="1582738" y="1127585"/>
            <a:ext cx="10530282" cy="5603416"/>
          </a:xfrm>
          <a:prstGeom prst="roundRect">
            <a:avLst>
              <a:gd name="adj" fmla="val 16667"/>
            </a:avLst>
          </a:prstGeom>
          <a:solidFill>
            <a:srgbClr val="FFFFFF">
              <a:alpha val="78822"/>
            </a:srgb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2" name="Заголовок 1"/>
          <p:cNvSpPr txBox="1">
            <a:spLocks noGrp="1"/>
          </p:cNvSpPr>
          <p:nvPr>
            <p:ph type="title" idx="4294967295"/>
          </p:nvPr>
        </p:nvSpPr>
        <p:spPr>
          <a:xfrm>
            <a:off x="1195389" y="288925"/>
            <a:ext cx="8550275" cy="693738"/>
          </a:xfrm>
          <a:prstGeom prst="rect">
            <a:avLst/>
          </a:prstGeom>
        </p:spPr>
        <p:txBody>
          <a:bodyPr wrap="square">
            <a:noAutofit/>
          </a:bodyPr>
          <a:lstStyle/>
          <a:p>
            <a:pPr lvl="0"/>
            <a:r>
              <a:rPr lang="ru-RU" dirty="0"/>
              <a:t>Альтернативные гипотезы</a:t>
            </a:r>
          </a:p>
        </p:txBody>
      </p:sp>
      <p:sp>
        <p:nvSpPr>
          <p:cNvPr id="3" name="Текст 2"/>
          <p:cNvSpPr txBox="1">
            <a:spLocks noGrp="1"/>
          </p:cNvSpPr>
          <p:nvPr>
            <p:ph type="body" idx="4294967295"/>
          </p:nvPr>
        </p:nvSpPr>
        <p:spPr>
          <a:xfrm>
            <a:off x="861518" y="1042864"/>
            <a:ext cx="11233248" cy="5664200"/>
          </a:xfrm>
          <a:prstGeom prst="rect">
            <a:avLst/>
          </a:prstGeom>
        </p:spPr>
        <p:txBody>
          <a:bodyPr wrap="square">
            <a:normAutofit/>
          </a:bodyPr>
          <a:lstStyle/>
          <a:p>
            <a:r>
              <a:rPr lang="ru-RU" sz="2400" dirty="0"/>
              <a:t>При проверке статистических гипотез исследователь всегда имеет дело не с одной, а с двумя гипотезами, которые обозначаются как </a:t>
            </a:r>
            <a:r>
              <a:rPr lang="ru-RU" sz="2400" b="1" i="1" dirty="0"/>
              <a:t>Н</a:t>
            </a:r>
            <a:r>
              <a:rPr lang="ru-RU" sz="2400" baseline="-25000" dirty="0"/>
              <a:t>0</a:t>
            </a:r>
            <a:r>
              <a:rPr lang="ru-RU" sz="2400" dirty="0"/>
              <a:t> и </a:t>
            </a:r>
            <a:r>
              <a:rPr lang="ru-RU" sz="2400" b="1" i="1" dirty="0"/>
              <a:t>Н</a:t>
            </a:r>
            <a:r>
              <a:rPr lang="ru-RU" sz="2400" baseline="-25000" dirty="0"/>
              <a:t>1</a:t>
            </a:r>
            <a:r>
              <a:rPr lang="ru-RU" sz="2400" dirty="0"/>
              <a:t>. Одна из этих гипотез называется </a:t>
            </a:r>
            <a:r>
              <a:rPr lang="ru-RU" sz="2400" b="1" dirty="0"/>
              <a:t>основной</a:t>
            </a:r>
            <a:r>
              <a:rPr lang="ru-RU" sz="2400" dirty="0"/>
              <a:t>, другая – </a:t>
            </a:r>
            <a:r>
              <a:rPr lang="ru-RU" sz="2400" b="1" dirty="0"/>
              <a:t>альтернативной</a:t>
            </a:r>
            <a:r>
              <a:rPr lang="ru-RU" sz="2400" dirty="0"/>
              <a:t>, т.е. опровергающей нулевую.</a:t>
            </a:r>
          </a:p>
          <a:p>
            <a:r>
              <a:rPr lang="ru-RU" sz="2400" b="1" i="1" dirty="0"/>
              <a:t>Нулевая гипотеза Н</a:t>
            </a:r>
            <a:r>
              <a:rPr lang="ru-RU" sz="2400" baseline="-25000" dirty="0"/>
              <a:t>0</a:t>
            </a:r>
            <a:r>
              <a:rPr lang="ru-RU" sz="2400" dirty="0"/>
              <a:t> всегда конкретна. Она всегда утверждает какое-то конкретное значение параметра распределения. Например, гипотеза, касающаяся математического ожидания, может формулироваться следующим образом: </a:t>
            </a:r>
            <a:r>
              <a:rPr lang="ru-RU" sz="2400" b="1" i="1" dirty="0">
                <a:solidFill>
                  <a:srgbClr val="0000FF"/>
                </a:solidFill>
              </a:rPr>
              <a:t>μ = А</a:t>
            </a:r>
            <a:r>
              <a:rPr lang="ru-RU" sz="2400" b="1" i="1" dirty="0"/>
              <a:t>,</a:t>
            </a:r>
            <a:r>
              <a:rPr lang="ru-RU" sz="2400" dirty="0"/>
              <a:t> где </a:t>
            </a:r>
            <a:r>
              <a:rPr lang="ru-RU" sz="2400" b="1" i="1" dirty="0"/>
              <a:t>А</a:t>
            </a:r>
            <a:r>
              <a:rPr lang="ru-RU" sz="2400" dirty="0"/>
              <a:t> – некоторое конкретное значение μ, а гипотеза, касающаяся равенства двух величин дисперсии:</a:t>
            </a:r>
            <a:r>
              <a:rPr lang="ru-RU" sz="2400" b="1" i="1" dirty="0">
                <a:solidFill>
                  <a:srgbClr val="0000FF"/>
                </a:solidFill>
              </a:rPr>
              <a:t> σ</a:t>
            </a:r>
            <a:r>
              <a:rPr lang="ru-RU" sz="2400" b="1" i="1" baseline="-25000" dirty="0">
                <a:solidFill>
                  <a:srgbClr val="0000FF"/>
                </a:solidFill>
              </a:rPr>
              <a:t>1</a:t>
            </a:r>
            <a:r>
              <a:rPr lang="ru-RU" sz="2400" b="1" i="1" dirty="0">
                <a:solidFill>
                  <a:srgbClr val="0000FF"/>
                </a:solidFill>
              </a:rPr>
              <a:t> = σ</a:t>
            </a:r>
            <a:r>
              <a:rPr lang="ru-RU" sz="2400" b="1" i="1" baseline="-25000" dirty="0">
                <a:solidFill>
                  <a:srgbClr val="0000FF"/>
                </a:solidFill>
              </a:rPr>
              <a:t>2</a:t>
            </a:r>
            <a:r>
              <a:rPr lang="ru-RU" sz="2400" dirty="0"/>
              <a:t>.</a:t>
            </a:r>
          </a:p>
          <a:p>
            <a:r>
              <a:rPr lang="ru-RU" sz="2400" b="1" i="1" dirty="0"/>
              <a:t>Альтернативная гипотеза Н</a:t>
            </a:r>
            <a:r>
              <a:rPr lang="ru-RU" sz="2400" baseline="-25000" dirty="0"/>
              <a:t>1</a:t>
            </a:r>
            <a:r>
              <a:rPr lang="ru-RU" sz="2400" dirty="0"/>
              <a:t> формулируется всегда менее конкретно, например: μ &gt; </a:t>
            </a:r>
            <a:r>
              <a:rPr lang="ru-RU" sz="2400" b="1" i="1" dirty="0"/>
              <a:t>А</a:t>
            </a:r>
            <a:r>
              <a:rPr lang="ru-RU" sz="2400" dirty="0"/>
              <a:t>. Но, как правило, оказывается так, что экспериментатора интересует не конкретная нулевая гипотеза </a:t>
            </a:r>
            <a:r>
              <a:rPr lang="ru-RU" sz="2400" b="1" i="1" dirty="0"/>
              <a:t> Н</a:t>
            </a:r>
            <a:r>
              <a:rPr lang="ru-RU" sz="2400" baseline="-25000" dirty="0"/>
              <a:t>0</a:t>
            </a:r>
            <a:r>
              <a:rPr lang="ru-RU" sz="2400" dirty="0"/>
              <a:t>, а как раз менее конкретная альтернативная гипотеза </a:t>
            </a:r>
            <a:r>
              <a:rPr lang="ru-RU" sz="2400" b="1" i="1" dirty="0"/>
              <a:t> Н</a:t>
            </a:r>
            <a:r>
              <a:rPr lang="ru-RU" sz="2400" baseline="-25000" dirty="0"/>
              <a:t>1</a:t>
            </a:r>
            <a:r>
              <a:rPr lang="ru-RU" sz="2400" dirty="0"/>
              <a:t>, так как именно она в большей степени соответствует проверяемой им в эксперименте научной гипотезе.</a:t>
            </a:r>
          </a:p>
        </p:txBody>
      </p:sp>
      <p:sp>
        <p:nvSpPr>
          <p:cNvPr id="7" name="Номер слайда 6"/>
          <p:cNvSpPr>
            <a:spLocks noGrp="1"/>
          </p:cNvSpPr>
          <p:nvPr>
            <p:ph type="sldNum" sz="quarter" idx="12"/>
          </p:nvPr>
        </p:nvSpPr>
        <p:spPr/>
        <p:txBody>
          <a:bodyPr/>
          <a:lstStyle/>
          <a:p>
            <a:fld id="{952B6C0E-C4B9-4094-8E59-5B7DF00D5415}" type="slidenum">
              <a:rPr lang="ru-RU" smtClean="0">
                <a:solidFill>
                  <a:schemeClr val="tx1"/>
                </a:solidFill>
              </a:rPr>
              <a:t>33</a:t>
            </a:fld>
            <a:endParaRPr lang="ru-RU" dirty="0">
              <a:solidFill>
                <a:schemeClr val="tx1"/>
              </a:solidFill>
            </a:endParaRPr>
          </a:p>
        </p:txBody>
      </p:sp>
    </p:spTree>
    <p:extLst>
      <p:ext uri="{BB962C8B-B14F-4D97-AF65-F5344CB8AC3E}">
        <p14:creationId xmlns:p14="http://schemas.microsoft.com/office/powerpoint/2010/main" val="9965174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AutoShape 4"/>
          <p:cNvSpPr>
            <a:spLocks noChangeArrowheads="1"/>
          </p:cNvSpPr>
          <p:nvPr/>
        </p:nvSpPr>
        <p:spPr bwMode="auto">
          <a:xfrm>
            <a:off x="501477" y="322263"/>
            <a:ext cx="11737303" cy="6553200"/>
          </a:xfrm>
          <a:prstGeom prst="roundRect">
            <a:avLst>
              <a:gd name="adj" fmla="val 16667"/>
            </a:avLst>
          </a:prstGeom>
          <a:solidFill>
            <a:schemeClr val="bg1">
              <a:alpha val="50195"/>
            </a:scheme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eaLnBrk="0" hangingPunct="0">
              <a:defRPr sz="2000">
                <a:solidFill>
                  <a:schemeClr val="tx1"/>
                </a:solidFill>
                <a:latin typeface="Arial" panose="020B0604020202020204" pitchFamily="34" charset="0"/>
                <a:cs typeface="Arial" panose="020B0604020202020204" pitchFamily="34" charset="0"/>
              </a:defRPr>
            </a:lvl1pPr>
            <a:lvl2pPr marL="742950" indent="-285750" defTabSz="993775" eaLnBrk="0" hangingPunct="0">
              <a:defRPr sz="2000">
                <a:solidFill>
                  <a:schemeClr val="tx1"/>
                </a:solidFill>
                <a:latin typeface="Arial" panose="020B0604020202020204" pitchFamily="34" charset="0"/>
                <a:cs typeface="Arial" panose="020B0604020202020204" pitchFamily="34" charset="0"/>
              </a:defRPr>
            </a:lvl2pPr>
            <a:lvl3pPr marL="1143000" indent="-228600" defTabSz="993775" eaLnBrk="0" hangingPunct="0">
              <a:defRPr sz="2000">
                <a:solidFill>
                  <a:schemeClr val="tx1"/>
                </a:solidFill>
                <a:latin typeface="Arial" panose="020B0604020202020204" pitchFamily="34" charset="0"/>
                <a:cs typeface="Arial" panose="020B0604020202020204" pitchFamily="34" charset="0"/>
              </a:defRPr>
            </a:lvl3pPr>
            <a:lvl4pPr marL="1600200" indent="-228600" defTabSz="993775" eaLnBrk="0" hangingPunct="0">
              <a:defRPr sz="2000">
                <a:solidFill>
                  <a:schemeClr val="tx1"/>
                </a:solidFill>
                <a:latin typeface="Arial" panose="020B0604020202020204" pitchFamily="34" charset="0"/>
                <a:cs typeface="Arial" panose="020B0604020202020204" pitchFamily="34" charset="0"/>
              </a:defRPr>
            </a:lvl4pPr>
            <a:lvl5pPr marL="2057400" indent="-228600" defTabSz="993775" eaLnBrk="0" hangingPunct="0">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graphicFrame>
        <p:nvGraphicFramePr>
          <p:cNvPr id="12291" name="Object 4"/>
          <p:cNvGraphicFramePr>
            <a:graphicFrameLocks noChangeAspect="1"/>
          </p:cNvGraphicFramePr>
          <p:nvPr>
            <p:extLst>
              <p:ext uri="{D42A27DB-BD31-4B8C-83A1-F6EECF244321}">
                <p14:modId xmlns:p14="http://schemas.microsoft.com/office/powerpoint/2010/main" val="3599849813"/>
              </p:ext>
            </p:extLst>
          </p:nvPr>
        </p:nvGraphicFramePr>
        <p:xfrm>
          <a:off x="2229670" y="1155794"/>
          <a:ext cx="7862791" cy="3954580"/>
        </p:xfrm>
        <a:graphic>
          <a:graphicData uri="http://schemas.openxmlformats.org/presentationml/2006/ole">
            <mc:AlternateContent xmlns:mc="http://schemas.openxmlformats.org/markup-compatibility/2006">
              <mc:Choice xmlns:v="urn:schemas-microsoft-com:vml" Requires="v">
                <p:oleObj spid="_x0000_s18567" name="Document" r:id="rId3" imgW="5837385" imgH="2941564" progId="Word.Document.8">
                  <p:embed/>
                </p:oleObj>
              </mc:Choice>
              <mc:Fallback>
                <p:oleObj name="Document" r:id="rId3" imgW="5837385" imgH="2941564" progId="Word.Document.8">
                  <p:embed/>
                  <p:pic>
                    <p:nvPicPr>
                      <p:cNvPr id="0" name=""/>
                      <p:cNvPicPr>
                        <a:picLocks noChangeAspect="1" noChangeArrowheads="1"/>
                      </p:cNvPicPr>
                      <p:nvPr/>
                    </p:nvPicPr>
                    <p:blipFill>
                      <a:blip r:embed="rId4"/>
                      <a:srcRect/>
                      <a:stretch>
                        <a:fillRect/>
                      </a:stretch>
                    </p:blipFill>
                    <p:spPr bwMode="auto">
                      <a:xfrm>
                        <a:off x="2229670" y="1155794"/>
                        <a:ext cx="7862791" cy="3954580"/>
                      </a:xfrm>
                      <a:prstGeom prst="rect">
                        <a:avLst/>
                      </a:prstGeom>
                      <a:noFill/>
                      <a:ln>
                        <a:noFill/>
                      </a:ln>
                      <a:effectLst/>
                    </p:spPr>
                  </p:pic>
                </p:oleObj>
              </mc:Fallback>
            </mc:AlternateContent>
          </a:graphicData>
        </a:graphic>
      </p:graphicFrame>
      <p:sp>
        <p:nvSpPr>
          <p:cNvPr id="12292" name="Text Box 7"/>
          <p:cNvSpPr txBox="1">
            <a:spLocks noChangeArrowheads="1"/>
          </p:cNvSpPr>
          <p:nvPr/>
        </p:nvSpPr>
        <p:spPr bwMode="auto">
          <a:xfrm>
            <a:off x="1141199" y="5473397"/>
            <a:ext cx="11025573" cy="1061829"/>
          </a:xfrm>
          <a:prstGeom prst="rect">
            <a:avLst/>
          </a:prstGeom>
          <a:noFill/>
          <a:ln>
            <a:noFill/>
          </a:ln>
          <a:effectLst/>
        </p:spPr>
        <p:txBody>
          <a:bodyPr wrap="square">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50000"/>
              </a:spcBef>
              <a:buClrTx/>
              <a:buSzTx/>
              <a:buFontTx/>
              <a:buNone/>
            </a:pPr>
            <a:r>
              <a:rPr lang="ru-RU" altLang="ru-RU" sz="1800" b="1" dirty="0"/>
              <a:t>Заметим</a:t>
            </a:r>
            <a:r>
              <a:rPr lang="ru-RU" altLang="ru-RU" sz="1800" dirty="0"/>
              <a:t>: ошибку 1-го рода можно сделать только </a:t>
            </a:r>
            <a:r>
              <a:rPr lang="ru-RU" altLang="ru-RU" sz="1800" u="sng" dirty="0"/>
              <a:t>отвергая </a:t>
            </a:r>
            <a:r>
              <a:rPr lang="ru-RU" altLang="ru-RU" sz="1800" dirty="0"/>
              <a:t>Н</a:t>
            </a:r>
            <a:r>
              <a:rPr lang="ru-RU" altLang="ru-RU" sz="1800" baseline="-25000" dirty="0"/>
              <a:t>0</a:t>
            </a:r>
            <a:r>
              <a:rPr lang="ru-RU" altLang="ru-RU" sz="1800" dirty="0"/>
              <a:t>, а ошибку 2-го рода – только «</a:t>
            </a:r>
            <a:r>
              <a:rPr lang="ru-RU" altLang="ru-RU" sz="1800" u="sng" dirty="0"/>
              <a:t>принимая</a:t>
            </a:r>
            <a:r>
              <a:rPr lang="ru-RU" altLang="ru-RU" sz="1800" dirty="0"/>
              <a:t>» Н</a:t>
            </a:r>
            <a:r>
              <a:rPr lang="ru-RU" altLang="ru-RU" sz="1800" baseline="-25000" dirty="0"/>
              <a:t>0</a:t>
            </a:r>
            <a:r>
              <a:rPr lang="ru-RU" altLang="ru-RU" sz="1800" dirty="0"/>
              <a:t> (нельзя сделать одновременно обе ошибки).</a:t>
            </a:r>
          </a:p>
          <a:p>
            <a:pPr eaLnBrk="1" hangingPunct="1">
              <a:spcBef>
                <a:spcPct val="50000"/>
              </a:spcBef>
              <a:buClrTx/>
              <a:buSzTx/>
              <a:buFontTx/>
              <a:buNone/>
            </a:pPr>
            <a:r>
              <a:rPr lang="ru-RU" altLang="ru-RU" sz="1800" dirty="0"/>
              <a:t>И мощность нас интересует, в первую очередь, если мы не отвергли Н</a:t>
            </a:r>
            <a:r>
              <a:rPr lang="ru-RU" altLang="ru-RU" sz="1800" baseline="-25000" dirty="0"/>
              <a:t>0</a:t>
            </a:r>
          </a:p>
        </p:txBody>
      </p:sp>
      <p:sp>
        <p:nvSpPr>
          <p:cNvPr id="12293" name="Text Box 8"/>
          <p:cNvSpPr txBox="1">
            <a:spLocks noChangeArrowheads="1"/>
          </p:cNvSpPr>
          <p:nvPr/>
        </p:nvSpPr>
        <p:spPr bwMode="auto">
          <a:xfrm>
            <a:off x="7333555" y="3481600"/>
            <a:ext cx="673038" cy="494783"/>
          </a:xfrm>
          <a:prstGeom prst="rect">
            <a:avLst/>
          </a:prstGeom>
          <a:solidFill>
            <a:schemeClr val="bg1">
              <a:alpha val="54117"/>
            </a:schemeClr>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50000"/>
              </a:spcBef>
              <a:buClrTx/>
              <a:buSzTx/>
              <a:buFontTx/>
              <a:buNone/>
            </a:pPr>
            <a:r>
              <a:rPr lang="en-US" altLang="ru-RU" sz="2494" dirty="0"/>
              <a:t>1-</a:t>
            </a:r>
            <a:r>
              <a:rPr lang="el-GR" altLang="ru-RU" sz="2494" dirty="0">
                <a:latin typeface="Times New Roman" panose="02020603050405020304" pitchFamily="18" charset="0"/>
                <a:cs typeface="Times New Roman" panose="02020603050405020304" pitchFamily="18" charset="0"/>
              </a:rPr>
              <a:t>β</a:t>
            </a:r>
          </a:p>
        </p:txBody>
      </p:sp>
      <p:sp>
        <p:nvSpPr>
          <p:cNvPr id="12294" name="Text Box 9"/>
          <p:cNvSpPr txBox="1">
            <a:spLocks noChangeArrowheads="1"/>
          </p:cNvSpPr>
          <p:nvPr/>
        </p:nvSpPr>
        <p:spPr bwMode="auto">
          <a:xfrm>
            <a:off x="7460431" y="2346926"/>
            <a:ext cx="374459" cy="494783"/>
          </a:xfrm>
          <a:prstGeom prst="rect">
            <a:avLst/>
          </a:prstGeom>
          <a:solidFill>
            <a:schemeClr val="bg1">
              <a:alpha val="54117"/>
            </a:schemeClr>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50000"/>
              </a:spcBef>
              <a:buClrTx/>
              <a:buSzTx/>
              <a:buFontTx/>
              <a:buNone/>
            </a:pPr>
            <a:r>
              <a:rPr lang="el-GR" altLang="ru-RU" sz="2494">
                <a:latin typeface="Times New Roman" panose="02020603050405020304" pitchFamily="18" charset="0"/>
                <a:cs typeface="Times New Roman" panose="02020603050405020304" pitchFamily="18" charset="0"/>
              </a:rPr>
              <a:t>β</a:t>
            </a:r>
          </a:p>
        </p:txBody>
      </p:sp>
      <p:sp>
        <p:nvSpPr>
          <p:cNvPr id="12295" name="Text Box 10"/>
          <p:cNvSpPr txBox="1">
            <a:spLocks noChangeArrowheads="1"/>
          </p:cNvSpPr>
          <p:nvPr/>
        </p:nvSpPr>
        <p:spPr bwMode="auto">
          <a:xfrm>
            <a:off x="6959095" y="3481600"/>
            <a:ext cx="374461" cy="494783"/>
          </a:xfrm>
          <a:prstGeom prst="rect">
            <a:avLst/>
          </a:prstGeom>
          <a:solidFill>
            <a:schemeClr val="bg1">
              <a:alpha val="54117"/>
            </a:schemeClr>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50000"/>
              </a:spcBef>
              <a:buClrTx/>
              <a:buSzTx/>
              <a:buFontTx/>
              <a:buNone/>
            </a:pPr>
            <a:r>
              <a:rPr lang="el-GR" altLang="ru-RU" sz="2494" dirty="0">
                <a:latin typeface="Times New Roman" panose="02020603050405020304" pitchFamily="18" charset="0"/>
                <a:cs typeface="Times New Roman" panose="02020603050405020304" pitchFamily="18" charset="0"/>
              </a:rPr>
              <a:t>α</a:t>
            </a:r>
          </a:p>
        </p:txBody>
      </p:sp>
      <p:sp>
        <p:nvSpPr>
          <p:cNvPr id="12296" name="Text Box 11"/>
          <p:cNvSpPr txBox="1">
            <a:spLocks noChangeArrowheads="1"/>
          </p:cNvSpPr>
          <p:nvPr/>
        </p:nvSpPr>
        <p:spPr bwMode="auto">
          <a:xfrm>
            <a:off x="6884990" y="2364773"/>
            <a:ext cx="597156" cy="494783"/>
          </a:xfrm>
          <a:prstGeom prst="rect">
            <a:avLst/>
          </a:prstGeom>
          <a:solidFill>
            <a:schemeClr val="bg1">
              <a:alpha val="54117"/>
            </a:schemeClr>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6113" rIns="56113">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50000"/>
              </a:spcBef>
              <a:buClrTx/>
              <a:buSzTx/>
              <a:buFontTx/>
              <a:buNone/>
            </a:pPr>
            <a:r>
              <a:rPr lang="en-US" altLang="ru-RU" sz="2494"/>
              <a:t>1-</a:t>
            </a:r>
            <a:r>
              <a:rPr lang="el-GR" altLang="ru-RU" sz="2494">
                <a:latin typeface="Times New Roman" panose="02020603050405020304" pitchFamily="18" charset="0"/>
                <a:cs typeface="Times New Roman" panose="02020603050405020304" pitchFamily="18" charset="0"/>
              </a:rPr>
              <a:t>α</a:t>
            </a:r>
          </a:p>
        </p:txBody>
      </p:sp>
      <p:sp>
        <p:nvSpPr>
          <p:cNvPr id="12" name="AutoShape 5"/>
          <p:cNvSpPr>
            <a:spLocks noChangeArrowheads="1"/>
          </p:cNvSpPr>
          <p:nvPr/>
        </p:nvSpPr>
        <p:spPr bwMode="auto">
          <a:xfrm>
            <a:off x="2085977" y="395289"/>
            <a:ext cx="8351837" cy="499771"/>
          </a:xfrm>
          <a:prstGeom prst="roundRect">
            <a:avLst>
              <a:gd name="adj" fmla="val 16667"/>
            </a:avLst>
          </a:prstGeom>
          <a:solidFill>
            <a:srgbClr val="FFFFFF">
              <a:alpha val="78822"/>
            </a:srgb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eaLnBrk="0" hangingPunct="0">
              <a:defRPr sz="2000">
                <a:solidFill>
                  <a:schemeClr val="tx1"/>
                </a:solidFill>
                <a:latin typeface="Arial" panose="020B0604020202020204" pitchFamily="34" charset="0"/>
                <a:cs typeface="Arial" panose="020B0604020202020204" pitchFamily="34" charset="0"/>
              </a:defRPr>
            </a:lvl1pPr>
            <a:lvl2pPr marL="742950" indent="-285750" defTabSz="993775" eaLnBrk="0" hangingPunct="0">
              <a:defRPr sz="2000">
                <a:solidFill>
                  <a:schemeClr val="tx1"/>
                </a:solidFill>
                <a:latin typeface="Arial" panose="020B0604020202020204" pitchFamily="34" charset="0"/>
                <a:cs typeface="Arial" panose="020B0604020202020204" pitchFamily="34" charset="0"/>
              </a:defRPr>
            </a:lvl2pPr>
            <a:lvl3pPr marL="1143000" indent="-228600" defTabSz="993775" eaLnBrk="0" hangingPunct="0">
              <a:defRPr sz="2000">
                <a:solidFill>
                  <a:schemeClr val="tx1"/>
                </a:solidFill>
                <a:latin typeface="Arial" panose="020B0604020202020204" pitchFamily="34" charset="0"/>
                <a:cs typeface="Arial" panose="020B0604020202020204" pitchFamily="34" charset="0"/>
              </a:defRPr>
            </a:lvl3pPr>
            <a:lvl4pPr marL="1600200" indent="-228600" defTabSz="993775" eaLnBrk="0" hangingPunct="0">
              <a:defRPr sz="2000">
                <a:solidFill>
                  <a:schemeClr val="tx1"/>
                </a:solidFill>
                <a:latin typeface="Arial" panose="020B0604020202020204" pitchFamily="34" charset="0"/>
                <a:cs typeface="Arial" panose="020B0604020202020204" pitchFamily="34" charset="0"/>
              </a:defRPr>
            </a:lvl4pPr>
            <a:lvl5pPr marL="2057400" indent="-228600" defTabSz="993775" eaLnBrk="0" hangingPunct="0">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ru-RU" altLang="ru-RU" sz="3600" b="1" dirty="0"/>
              <a:t>Тестирование гипотез в статистике</a:t>
            </a:r>
          </a:p>
        </p:txBody>
      </p:sp>
      <p:sp>
        <p:nvSpPr>
          <p:cNvPr id="2" name="TextBox 1"/>
          <p:cNvSpPr txBox="1"/>
          <p:nvPr/>
        </p:nvSpPr>
        <p:spPr>
          <a:xfrm>
            <a:off x="1141200" y="4368556"/>
            <a:ext cx="10801199" cy="923330"/>
          </a:xfrm>
          <a:prstGeom prst="rect">
            <a:avLst/>
          </a:prstGeom>
          <a:noFill/>
        </p:spPr>
        <p:txBody>
          <a:bodyPr wrap="square" rtlCol="0">
            <a:spAutoFit/>
          </a:bodyPr>
          <a:lstStyle/>
          <a:p>
            <a:pPr marL="285750" indent="-285750">
              <a:buClr>
                <a:srgbClr val="CC9900"/>
              </a:buClr>
              <a:buSzPct val="65000"/>
              <a:buFont typeface="Wingdings" pitchFamily="2"/>
              <a:buChar char=""/>
              <a:tabLst>
                <a:tab pos="0" algn="l"/>
                <a:tab pos="110352" algn="l"/>
                <a:tab pos="577199" algn="l"/>
                <a:tab pos="1044046" algn="l"/>
                <a:tab pos="1510893" algn="l"/>
                <a:tab pos="1977740" algn="l"/>
                <a:tab pos="2444587" algn="l"/>
                <a:tab pos="2911434" algn="l"/>
                <a:tab pos="3378279" algn="l"/>
                <a:tab pos="3845127" algn="l"/>
                <a:tab pos="4311973" algn="l"/>
                <a:tab pos="4778447" algn="l"/>
                <a:tab pos="5245294" algn="l"/>
                <a:tab pos="5712141" algn="l"/>
                <a:tab pos="6178987" algn="l"/>
                <a:tab pos="6645833" algn="l"/>
                <a:tab pos="7112681" algn="l"/>
                <a:tab pos="7579527" algn="l"/>
                <a:tab pos="8046375" algn="l"/>
                <a:tab pos="8513222" algn="l"/>
                <a:tab pos="8980068" algn="l"/>
              </a:tabLst>
            </a:pPr>
            <a:r>
              <a:rPr lang="ru-RU" sz="1800" b="1" dirty="0"/>
              <a:t>Ошибкой первого рода </a:t>
            </a:r>
            <a:r>
              <a:rPr lang="ru-RU" sz="1800" dirty="0"/>
              <a:t>называется ошибка, состоящая в отвержении верной нулевой гипотезы.</a:t>
            </a:r>
          </a:p>
          <a:p>
            <a:pPr marL="285750" indent="-285750">
              <a:buClr>
                <a:srgbClr val="CC9900"/>
              </a:buClr>
              <a:buSzPct val="65000"/>
              <a:buFont typeface="Wingdings" pitchFamily="2"/>
              <a:buChar char=""/>
              <a:tabLst>
                <a:tab pos="0" algn="l"/>
                <a:tab pos="110352" algn="l"/>
                <a:tab pos="577199" algn="l"/>
                <a:tab pos="1044046" algn="l"/>
                <a:tab pos="1510893" algn="l"/>
                <a:tab pos="1977740" algn="l"/>
                <a:tab pos="2444587" algn="l"/>
                <a:tab pos="2911434" algn="l"/>
                <a:tab pos="3378279" algn="l"/>
                <a:tab pos="3845127" algn="l"/>
                <a:tab pos="4311973" algn="l"/>
                <a:tab pos="4778447" algn="l"/>
                <a:tab pos="5245294" algn="l"/>
                <a:tab pos="5712141" algn="l"/>
                <a:tab pos="6178987" algn="l"/>
                <a:tab pos="6645833" algn="l"/>
                <a:tab pos="7112681" algn="l"/>
                <a:tab pos="7579527" algn="l"/>
                <a:tab pos="8046375" algn="l"/>
                <a:tab pos="8513222" algn="l"/>
                <a:tab pos="8980068" algn="l"/>
              </a:tabLst>
            </a:pPr>
            <a:r>
              <a:rPr lang="ru-RU" sz="1800" b="1" dirty="0"/>
              <a:t>Ошибкой второго рода</a:t>
            </a:r>
            <a:r>
              <a:rPr lang="ru-RU" sz="1800" dirty="0"/>
              <a:t> принятие основной гипотезы при том, что она ложна.</a:t>
            </a:r>
          </a:p>
        </p:txBody>
      </p:sp>
      <p:sp>
        <p:nvSpPr>
          <p:cNvPr id="3" name="Номер слайда 2"/>
          <p:cNvSpPr>
            <a:spLocks noGrp="1"/>
          </p:cNvSpPr>
          <p:nvPr>
            <p:ph type="sldNum" sz="quarter" idx="12"/>
          </p:nvPr>
        </p:nvSpPr>
        <p:spPr>
          <a:xfrm>
            <a:off x="11432943" y="6614320"/>
            <a:ext cx="866530" cy="379409"/>
          </a:xfrm>
        </p:spPr>
        <p:txBody>
          <a:bodyPr/>
          <a:lstStyle/>
          <a:p>
            <a:fld id="{952B6C0E-C4B9-4094-8E59-5B7DF00D5415}" type="slidenum">
              <a:rPr lang="ru-RU" smtClean="0">
                <a:solidFill>
                  <a:schemeClr val="tx1"/>
                </a:solidFill>
              </a:rPr>
              <a:t>34</a:t>
            </a:fld>
            <a:endParaRPr lang="ru-RU" dirty="0">
              <a:solidFill>
                <a:schemeClr val="tx1"/>
              </a:solidFill>
            </a:endParaRPr>
          </a:p>
        </p:txBody>
      </p:sp>
    </p:spTree>
    <p:extLst>
      <p:ext uri="{BB962C8B-B14F-4D97-AF65-F5344CB8AC3E}">
        <p14:creationId xmlns:p14="http://schemas.microsoft.com/office/powerpoint/2010/main" val="6700616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2292"/>
                                        </p:tgtEl>
                                        <p:attrNameLst>
                                          <p:attrName>style.visibility</p:attrName>
                                        </p:attrNameLst>
                                      </p:cBhvr>
                                      <p:to>
                                        <p:strVal val="visible"/>
                                      </p:to>
                                    </p:set>
                                    <p:animEffect transition="in" filter="fade">
                                      <p:cBhvr>
                                        <p:cTn id="12" dur="500"/>
                                        <p:tgtEl>
                                          <p:spTgt spid="122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2" grpId="0"/>
      <p:bldP spid="2"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4"/>
          <p:cNvSpPr>
            <a:spLocks noChangeArrowheads="1"/>
          </p:cNvSpPr>
          <p:nvPr/>
        </p:nvSpPr>
        <p:spPr bwMode="auto">
          <a:xfrm>
            <a:off x="1438275" y="322263"/>
            <a:ext cx="10872513" cy="6553200"/>
          </a:xfrm>
          <a:prstGeom prst="roundRect">
            <a:avLst>
              <a:gd name="adj" fmla="val 16667"/>
            </a:avLst>
          </a:prstGeom>
          <a:solidFill>
            <a:schemeClr val="bg1">
              <a:alpha val="50195"/>
            </a:scheme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5" name="AutoShape 5"/>
          <p:cNvSpPr>
            <a:spLocks noChangeArrowheads="1"/>
          </p:cNvSpPr>
          <p:nvPr/>
        </p:nvSpPr>
        <p:spPr bwMode="auto">
          <a:xfrm>
            <a:off x="2373685" y="322264"/>
            <a:ext cx="8064128" cy="720601"/>
          </a:xfrm>
          <a:prstGeom prst="roundRect">
            <a:avLst>
              <a:gd name="adj" fmla="val 37469"/>
            </a:avLst>
          </a:prstGeom>
          <a:solidFill>
            <a:srgbClr val="FFFFFF">
              <a:alpha val="78822"/>
            </a:srgb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2" name="Заголовок 1"/>
          <p:cNvSpPr txBox="1">
            <a:spLocks noGrp="1"/>
          </p:cNvSpPr>
          <p:nvPr>
            <p:ph type="title" idx="4294967295"/>
          </p:nvPr>
        </p:nvSpPr>
        <p:spPr>
          <a:xfrm>
            <a:off x="1195389" y="288926"/>
            <a:ext cx="8550275" cy="1184275"/>
          </a:xfrm>
          <a:prstGeom prst="rect">
            <a:avLst/>
          </a:prstGeom>
        </p:spPr>
        <p:txBody>
          <a:bodyPr wrap="square">
            <a:noAutofit/>
          </a:bodyPr>
          <a:lstStyle/>
          <a:p>
            <a:r>
              <a:rPr lang="ru-RU" dirty="0"/>
              <a:t>Как правильно?</a:t>
            </a:r>
          </a:p>
        </p:txBody>
      </p:sp>
      <p:sp>
        <p:nvSpPr>
          <p:cNvPr id="3" name="Текст 2"/>
          <p:cNvSpPr txBox="1">
            <a:spLocks noGrp="1"/>
          </p:cNvSpPr>
          <p:nvPr>
            <p:ph type="body" idx="4294967295"/>
          </p:nvPr>
        </p:nvSpPr>
        <p:spPr>
          <a:xfrm>
            <a:off x="1438274" y="1473201"/>
            <a:ext cx="10351441" cy="4668079"/>
          </a:xfrm>
          <a:prstGeom prst="rect">
            <a:avLst/>
          </a:prstGeom>
        </p:spPr>
        <p:txBody>
          <a:bodyPr wrap="square"/>
          <a:lstStyle/>
          <a:p>
            <a:pPr marL="0" indent="357188">
              <a:buClr>
                <a:srgbClr val="CC9900"/>
              </a:buClr>
              <a:buSzPct val="65000"/>
              <a:buFont typeface="Wingdings" pitchFamily="2"/>
              <a:buChar char=""/>
              <a:tabLst>
                <a:tab pos="0" algn="l"/>
                <a:tab pos="110352" algn="l"/>
                <a:tab pos="577199" algn="l"/>
                <a:tab pos="1044046" algn="l"/>
                <a:tab pos="1510893" algn="l"/>
                <a:tab pos="1977740" algn="l"/>
                <a:tab pos="2444587" algn="l"/>
                <a:tab pos="2911434" algn="l"/>
                <a:tab pos="3378279" algn="l"/>
                <a:tab pos="3845127" algn="l"/>
                <a:tab pos="4311973" algn="l"/>
                <a:tab pos="4778447" algn="l"/>
                <a:tab pos="5245294" algn="l"/>
                <a:tab pos="5712141" algn="l"/>
                <a:tab pos="6178987" algn="l"/>
                <a:tab pos="6645833" algn="l"/>
                <a:tab pos="7112681" algn="l"/>
                <a:tab pos="7579527" algn="l"/>
                <a:tab pos="8046375" algn="l"/>
                <a:tab pos="8513222" algn="l"/>
                <a:tab pos="8980068" algn="l"/>
              </a:tabLst>
            </a:pPr>
            <a:r>
              <a:rPr lang="ru-RU" sz="2400" dirty="0">
                <a:solidFill>
                  <a:srgbClr val="FF5050"/>
                </a:solidFill>
              </a:rPr>
              <a:t>Неточно говорить </a:t>
            </a:r>
            <a:r>
              <a:rPr lang="ru-RU" sz="2400" dirty="0"/>
              <a:t>«…выбрана (принята) основная гипотеза…» или «…выбрана альтернативная гипотеза…»</a:t>
            </a:r>
          </a:p>
        </p:txBody>
      </p:sp>
      <p:sp>
        <p:nvSpPr>
          <p:cNvPr id="8" name="Прямоугольник 7"/>
          <p:cNvSpPr/>
          <p:nvPr/>
        </p:nvSpPr>
        <p:spPr>
          <a:xfrm>
            <a:off x="1438276" y="2398963"/>
            <a:ext cx="10333580" cy="2554545"/>
          </a:xfrm>
          <a:prstGeom prst="rect">
            <a:avLst/>
          </a:prstGeom>
        </p:spPr>
        <p:txBody>
          <a:bodyPr wrap="square">
            <a:spAutoFit/>
          </a:bodyPr>
          <a:lstStyle/>
          <a:p>
            <a:pPr marL="342900" indent="-342900">
              <a:buFont typeface="Arial" panose="020B0604020202020204" pitchFamily="34" charset="0"/>
              <a:buChar char="•"/>
            </a:pPr>
            <a:r>
              <a:rPr lang="ru-RU" b="1" dirty="0"/>
              <a:t>Гипотеза либо отвергается, либо не отвергается. </a:t>
            </a:r>
          </a:p>
          <a:p>
            <a:pPr marL="342900" indent="-342900">
              <a:buFont typeface="Arial" panose="020B0604020202020204" pitchFamily="34" charset="0"/>
              <a:buChar char="•"/>
            </a:pPr>
            <a:r>
              <a:rPr lang="ru-RU" dirty="0"/>
              <a:t>Рекомендуется не употреблять слов "принимаем гипотезу" потому что невозможность отвергнуть гипотезу не означает, что она верна и ее стоит принять. Может быть, просто недостаточно оснований или наблюдений, чтобы её отвергнуть. </a:t>
            </a:r>
          </a:p>
          <a:p>
            <a:pPr marL="342900" indent="-342900">
              <a:buFont typeface="Arial" panose="020B0604020202020204" pitchFamily="34" charset="0"/>
              <a:buChar char="•"/>
            </a:pPr>
            <a:r>
              <a:rPr lang="ru-RU" dirty="0"/>
              <a:t>Если очень хочется или удобно работать именно при таком предположении, то вместо «не отвергаем гипотезу» можно сказать, что  мы «придерживаемся» этой гипотезы.</a:t>
            </a:r>
          </a:p>
        </p:txBody>
      </p:sp>
      <p:sp>
        <p:nvSpPr>
          <p:cNvPr id="7" name="Номер слайда 6"/>
          <p:cNvSpPr>
            <a:spLocks noGrp="1"/>
          </p:cNvSpPr>
          <p:nvPr>
            <p:ph type="sldNum" sz="quarter" idx="12"/>
          </p:nvPr>
        </p:nvSpPr>
        <p:spPr>
          <a:xfrm>
            <a:off x="11314886" y="6517036"/>
            <a:ext cx="880449" cy="379409"/>
          </a:xfrm>
        </p:spPr>
        <p:txBody>
          <a:bodyPr/>
          <a:lstStyle/>
          <a:p>
            <a:fld id="{952B6C0E-C4B9-4094-8E59-5B7DF00D5415}" type="slidenum">
              <a:rPr lang="ru-RU" smtClean="0">
                <a:solidFill>
                  <a:schemeClr val="tx1"/>
                </a:solidFill>
              </a:rPr>
              <a:t>35</a:t>
            </a:fld>
            <a:endParaRPr lang="ru-RU" dirty="0">
              <a:solidFill>
                <a:schemeClr val="tx1"/>
              </a:solidFill>
            </a:endParaRPr>
          </a:p>
        </p:txBody>
      </p:sp>
      <p:sp>
        <p:nvSpPr>
          <p:cNvPr id="9" name="Текст 2"/>
          <p:cNvSpPr txBox="1">
            <a:spLocks/>
          </p:cNvSpPr>
          <p:nvPr/>
        </p:nvSpPr>
        <p:spPr>
          <a:xfrm>
            <a:off x="1622383" y="5118658"/>
            <a:ext cx="10132727" cy="1439342"/>
          </a:xfrm>
          <a:prstGeom prst="rect">
            <a:avLst/>
          </a:prstGeom>
        </p:spPr>
        <p:txBody>
          <a:bodyPr vert="horz" wrap="square" lIns="91440" tIns="45720" rIns="91440" bIns="45720" rtlCol="0">
            <a:normAutofit/>
          </a:bodyPr>
          <a:lstStyle>
            <a:lvl1pPr marL="356307" indent="-356307" algn="l" defTabSz="950153" rtl="0" eaLnBrk="1" latinLnBrk="0" hangingPunct="1">
              <a:spcBef>
                <a:spcPct val="20000"/>
              </a:spcBef>
              <a:buFont typeface="Arial" panose="020B0604020202020204" pitchFamily="34" charset="0"/>
              <a:buChar char="•"/>
              <a:defRPr sz="3325" kern="1200">
                <a:solidFill>
                  <a:schemeClr val="tx1"/>
                </a:solidFill>
                <a:latin typeface="+mn-lt"/>
                <a:ea typeface="+mn-ea"/>
                <a:cs typeface="+mn-cs"/>
              </a:defRPr>
            </a:lvl1pPr>
            <a:lvl2pPr marL="771999" indent="-296923" algn="l" defTabSz="950153" rtl="0" eaLnBrk="1" latinLnBrk="0" hangingPunct="1">
              <a:spcBef>
                <a:spcPct val="20000"/>
              </a:spcBef>
              <a:buFont typeface="Arial" panose="020B0604020202020204" pitchFamily="34" charset="0"/>
              <a:buChar char="–"/>
              <a:defRPr sz="2909" kern="1200">
                <a:solidFill>
                  <a:schemeClr val="tx1"/>
                </a:solidFill>
                <a:latin typeface="+mn-lt"/>
                <a:ea typeface="+mn-ea"/>
                <a:cs typeface="+mn-cs"/>
              </a:defRPr>
            </a:lvl2pPr>
            <a:lvl3pPr marL="1187691" indent="-237538" algn="l" defTabSz="950153" rtl="0" eaLnBrk="1" latinLnBrk="0" hangingPunct="1">
              <a:spcBef>
                <a:spcPct val="20000"/>
              </a:spcBef>
              <a:buFont typeface="Arial" panose="020B0604020202020204" pitchFamily="34" charset="0"/>
              <a:buChar char="•"/>
              <a:defRPr sz="2494" kern="1200">
                <a:solidFill>
                  <a:schemeClr val="tx1"/>
                </a:solidFill>
                <a:latin typeface="+mn-lt"/>
                <a:ea typeface="+mn-ea"/>
                <a:cs typeface="+mn-cs"/>
              </a:defRPr>
            </a:lvl3pPr>
            <a:lvl4pPr marL="1662768" indent="-237538" algn="l" defTabSz="950153" rtl="0" eaLnBrk="1" latinLnBrk="0" hangingPunct="1">
              <a:spcBef>
                <a:spcPct val="20000"/>
              </a:spcBef>
              <a:buFont typeface="Arial" panose="020B0604020202020204" pitchFamily="34" charset="0"/>
              <a:buChar char="–"/>
              <a:defRPr sz="2078" kern="1200">
                <a:solidFill>
                  <a:schemeClr val="tx1"/>
                </a:solidFill>
                <a:latin typeface="+mn-lt"/>
                <a:ea typeface="+mn-ea"/>
                <a:cs typeface="+mn-cs"/>
              </a:defRPr>
            </a:lvl4pPr>
            <a:lvl5pPr marL="2137844" indent="-237538" algn="l" defTabSz="950153" rtl="0" eaLnBrk="1" latinLnBrk="0" hangingPunct="1">
              <a:spcBef>
                <a:spcPct val="20000"/>
              </a:spcBef>
              <a:buFont typeface="Arial" panose="020B0604020202020204" pitchFamily="34" charset="0"/>
              <a:buChar char="»"/>
              <a:defRPr sz="2078" kern="1200">
                <a:solidFill>
                  <a:schemeClr val="tx1"/>
                </a:solidFill>
                <a:latin typeface="+mn-lt"/>
                <a:ea typeface="+mn-ea"/>
                <a:cs typeface="+mn-cs"/>
              </a:defRPr>
            </a:lvl5pPr>
            <a:lvl6pPr marL="2612921" indent="-237538" algn="l" defTabSz="950153" rtl="0" eaLnBrk="1" latinLnBrk="0" hangingPunct="1">
              <a:spcBef>
                <a:spcPct val="20000"/>
              </a:spcBef>
              <a:buFont typeface="Arial" panose="020B0604020202020204" pitchFamily="34" charset="0"/>
              <a:buChar char="•"/>
              <a:defRPr sz="2078" kern="1200">
                <a:solidFill>
                  <a:schemeClr val="tx1"/>
                </a:solidFill>
                <a:latin typeface="+mn-lt"/>
                <a:ea typeface="+mn-ea"/>
                <a:cs typeface="+mn-cs"/>
              </a:defRPr>
            </a:lvl6pPr>
            <a:lvl7pPr marL="3087997" indent="-237538" algn="l" defTabSz="950153" rtl="0" eaLnBrk="1" latinLnBrk="0" hangingPunct="1">
              <a:spcBef>
                <a:spcPct val="20000"/>
              </a:spcBef>
              <a:buFont typeface="Arial" panose="020B0604020202020204" pitchFamily="34" charset="0"/>
              <a:buChar char="•"/>
              <a:defRPr sz="2078" kern="1200">
                <a:solidFill>
                  <a:schemeClr val="tx1"/>
                </a:solidFill>
                <a:latin typeface="+mn-lt"/>
                <a:ea typeface="+mn-ea"/>
                <a:cs typeface="+mn-cs"/>
              </a:defRPr>
            </a:lvl7pPr>
            <a:lvl8pPr marL="3563074" indent="-237538" algn="l" defTabSz="950153" rtl="0" eaLnBrk="1" latinLnBrk="0" hangingPunct="1">
              <a:spcBef>
                <a:spcPct val="20000"/>
              </a:spcBef>
              <a:buFont typeface="Arial" panose="020B0604020202020204" pitchFamily="34" charset="0"/>
              <a:buChar char="•"/>
              <a:defRPr sz="2078" kern="1200">
                <a:solidFill>
                  <a:schemeClr val="tx1"/>
                </a:solidFill>
                <a:latin typeface="+mn-lt"/>
                <a:ea typeface="+mn-ea"/>
                <a:cs typeface="+mn-cs"/>
              </a:defRPr>
            </a:lvl8pPr>
            <a:lvl9pPr marL="4038150" indent="-237538" algn="l" defTabSz="950153" rtl="0" eaLnBrk="1" latinLnBrk="0" hangingPunct="1">
              <a:spcBef>
                <a:spcPct val="20000"/>
              </a:spcBef>
              <a:buFont typeface="Arial" panose="020B0604020202020204" pitchFamily="34" charset="0"/>
              <a:buChar char="•"/>
              <a:defRPr sz="2078" kern="1200">
                <a:solidFill>
                  <a:schemeClr val="tx1"/>
                </a:solidFill>
                <a:latin typeface="+mn-lt"/>
                <a:ea typeface="+mn-ea"/>
                <a:cs typeface="+mn-cs"/>
              </a:defRPr>
            </a:lvl9pPr>
          </a:lstStyle>
          <a:p>
            <a:pPr marL="0" indent="271463" fontAlgn="auto">
              <a:spcAft>
                <a:spcPts val="0"/>
              </a:spcAft>
              <a:buClr>
                <a:srgbClr val="CC9900"/>
              </a:buClr>
              <a:buSzPct val="65000"/>
              <a:buFont typeface="Wingdings" pitchFamily="2"/>
              <a:buChar char=""/>
            </a:pPr>
            <a:r>
              <a:rPr lang="ru-RU" sz="2200" dirty="0"/>
              <a:t>Хотя часто можно услышать, что (основная) гипотеза принята, такое выражение неточно.</a:t>
            </a:r>
          </a:p>
          <a:p>
            <a:pPr marL="0" indent="271463" fontAlgn="auto">
              <a:spcAft>
                <a:spcPts val="0"/>
              </a:spcAft>
              <a:buClr>
                <a:srgbClr val="CC9900"/>
              </a:buClr>
              <a:buSzPct val="65000"/>
              <a:buFont typeface="Wingdings" pitchFamily="2"/>
              <a:buChar char=""/>
            </a:pPr>
            <a:r>
              <a:rPr lang="ru-RU" sz="2200" dirty="0"/>
              <a:t>Точнее говорить, что (основная) гипотеза не отвергнута.</a:t>
            </a:r>
          </a:p>
        </p:txBody>
      </p:sp>
    </p:spTree>
    <p:extLst>
      <p:ext uri="{BB962C8B-B14F-4D97-AF65-F5344CB8AC3E}">
        <p14:creationId xmlns:p14="http://schemas.microsoft.com/office/powerpoint/2010/main" val="1166041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4"/>
          <p:cNvSpPr>
            <a:spLocks noChangeArrowheads="1"/>
          </p:cNvSpPr>
          <p:nvPr/>
        </p:nvSpPr>
        <p:spPr bwMode="auto">
          <a:xfrm>
            <a:off x="861517" y="322263"/>
            <a:ext cx="11089231" cy="6553200"/>
          </a:xfrm>
          <a:prstGeom prst="roundRect">
            <a:avLst>
              <a:gd name="adj" fmla="val 16667"/>
            </a:avLst>
          </a:prstGeom>
          <a:solidFill>
            <a:schemeClr val="bg1">
              <a:alpha val="50195"/>
            </a:scheme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5" name="AutoShape 5"/>
          <p:cNvSpPr>
            <a:spLocks noChangeArrowheads="1"/>
          </p:cNvSpPr>
          <p:nvPr/>
        </p:nvSpPr>
        <p:spPr bwMode="auto">
          <a:xfrm>
            <a:off x="2373685" y="322264"/>
            <a:ext cx="8064128" cy="720601"/>
          </a:xfrm>
          <a:prstGeom prst="roundRect">
            <a:avLst>
              <a:gd name="adj" fmla="val 37469"/>
            </a:avLst>
          </a:prstGeom>
          <a:solidFill>
            <a:srgbClr val="FFFFFF">
              <a:alpha val="78822"/>
            </a:srgb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2" name="Заголовок 1"/>
          <p:cNvSpPr txBox="1">
            <a:spLocks noGrp="1"/>
          </p:cNvSpPr>
          <p:nvPr>
            <p:ph type="title" idx="4294967295"/>
          </p:nvPr>
        </p:nvSpPr>
        <p:spPr>
          <a:xfrm>
            <a:off x="2805733" y="288926"/>
            <a:ext cx="6939930" cy="1184275"/>
          </a:xfrm>
          <a:prstGeom prst="rect">
            <a:avLst/>
          </a:prstGeom>
        </p:spPr>
        <p:txBody>
          <a:bodyPr wrap="square">
            <a:noAutofit/>
          </a:bodyPr>
          <a:lstStyle/>
          <a:p>
            <a:r>
              <a:rPr lang="ru-RU" dirty="0"/>
              <a:t>Как не правильно:</a:t>
            </a:r>
          </a:p>
        </p:txBody>
      </p:sp>
      <p:sp>
        <p:nvSpPr>
          <p:cNvPr id="8" name="Прямоугольник 7"/>
          <p:cNvSpPr/>
          <p:nvPr/>
        </p:nvSpPr>
        <p:spPr>
          <a:xfrm>
            <a:off x="2902401" y="2869020"/>
            <a:ext cx="7424312" cy="461665"/>
          </a:xfrm>
          <a:prstGeom prst="rect">
            <a:avLst/>
          </a:prstGeom>
        </p:spPr>
        <p:txBody>
          <a:bodyPr wrap="square">
            <a:spAutoFit/>
          </a:bodyPr>
          <a:lstStyle/>
          <a:p>
            <a:pPr lvl="0"/>
            <a:r>
              <a:rPr lang="ru-RU" sz="2400" strike="sngStrike" dirty="0">
                <a:solidFill>
                  <a:srgbClr val="FF0000"/>
                </a:solidFill>
              </a:rPr>
              <a:t>Гипотеза справедлива с вероятностью 0.86</a:t>
            </a:r>
          </a:p>
        </p:txBody>
      </p:sp>
      <p:sp>
        <p:nvSpPr>
          <p:cNvPr id="9" name="Прямоугольник 8"/>
          <p:cNvSpPr/>
          <p:nvPr/>
        </p:nvSpPr>
        <p:spPr>
          <a:xfrm>
            <a:off x="2373685" y="1863024"/>
            <a:ext cx="9001000" cy="830997"/>
          </a:xfrm>
          <a:prstGeom prst="rect">
            <a:avLst/>
          </a:prstGeom>
        </p:spPr>
        <p:txBody>
          <a:bodyPr wrap="square">
            <a:spAutoFit/>
          </a:bodyPr>
          <a:lstStyle/>
          <a:p>
            <a:pPr lvl="0"/>
            <a:r>
              <a:rPr lang="ru-RU" sz="2400" dirty="0"/>
              <a:t>Специалисты по анализу данных пока не научились утверждать степень достоверности:</a:t>
            </a:r>
          </a:p>
        </p:txBody>
      </p:sp>
      <p:sp>
        <p:nvSpPr>
          <p:cNvPr id="3" name="Номер слайда 2"/>
          <p:cNvSpPr>
            <a:spLocks noGrp="1"/>
          </p:cNvSpPr>
          <p:nvPr>
            <p:ph type="sldNum" sz="quarter" idx="12"/>
          </p:nvPr>
        </p:nvSpPr>
        <p:spPr>
          <a:xfrm>
            <a:off x="11618535" y="6614320"/>
            <a:ext cx="664425" cy="379409"/>
          </a:xfrm>
        </p:spPr>
        <p:txBody>
          <a:bodyPr/>
          <a:lstStyle/>
          <a:p>
            <a:fld id="{952B6C0E-C4B9-4094-8E59-5B7DF00D5415}" type="slidenum">
              <a:rPr lang="ru-RU" smtClean="0">
                <a:solidFill>
                  <a:schemeClr val="tx1"/>
                </a:solidFill>
              </a:rPr>
              <a:t>36</a:t>
            </a:fld>
            <a:endParaRPr lang="ru-RU" dirty="0">
              <a:solidFill>
                <a:schemeClr val="tx1"/>
              </a:solidFill>
            </a:endParaRPr>
          </a:p>
        </p:txBody>
      </p:sp>
    </p:spTree>
    <p:extLst>
      <p:ext uri="{BB962C8B-B14F-4D97-AF65-F5344CB8AC3E}">
        <p14:creationId xmlns:p14="http://schemas.microsoft.com/office/powerpoint/2010/main" val="32438381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4"/>
          <p:cNvSpPr>
            <a:spLocks noChangeArrowheads="1"/>
          </p:cNvSpPr>
          <p:nvPr/>
        </p:nvSpPr>
        <p:spPr bwMode="auto">
          <a:xfrm>
            <a:off x="1438275" y="322263"/>
            <a:ext cx="10872513" cy="6553200"/>
          </a:xfrm>
          <a:prstGeom prst="roundRect">
            <a:avLst>
              <a:gd name="adj" fmla="val 16667"/>
            </a:avLst>
          </a:prstGeom>
          <a:solidFill>
            <a:schemeClr val="bg1">
              <a:alpha val="50195"/>
            </a:scheme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5" name="AutoShape 5"/>
          <p:cNvSpPr>
            <a:spLocks noChangeArrowheads="1"/>
          </p:cNvSpPr>
          <p:nvPr/>
        </p:nvSpPr>
        <p:spPr bwMode="auto">
          <a:xfrm>
            <a:off x="2373685" y="322264"/>
            <a:ext cx="8064128" cy="720601"/>
          </a:xfrm>
          <a:prstGeom prst="roundRect">
            <a:avLst>
              <a:gd name="adj" fmla="val 37469"/>
            </a:avLst>
          </a:prstGeom>
          <a:solidFill>
            <a:srgbClr val="FFFFFF">
              <a:alpha val="78822"/>
            </a:srgb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2" name="Заголовок 1"/>
          <p:cNvSpPr txBox="1">
            <a:spLocks noGrp="1"/>
          </p:cNvSpPr>
          <p:nvPr>
            <p:ph type="title" idx="4294967295"/>
          </p:nvPr>
        </p:nvSpPr>
        <p:spPr>
          <a:xfrm>
            <a:off x="2573820" y="220650"/>
            <a:ext cx="7227962" cy="838660"/>
          </a:xfrm>
          <a:prstGeom prst="rect">
            <a:avLst/>
          </a:prstGeom>
        </p:spPr>
        <p:txBody>
          <a:bodyPr wrap="square">
            <a:noAutofit/>
          </a:bodyPr>
          <a:lstStyle/>
          <a:p>
            <a:pPr lvl="0"/>
            <a:r>
              <a:rPr lang="ru-RU" sz="3949" dirty="0"/>
              <a:t>Пример</a:t>
            </a:r>
          </a:p>
        </p:txBody>
      </p:sp>
      <p:sp>
        <p:nvSpPr>
          <p:cNvPr id="3" name="Текст 2"/>
          <p:cNvSpPr txBox="1">
            <a:spLocks noGrp="1"/>
          </p:cNvSpPr>
          <p:nvPr>
            <p:ph type="body" idx="4294967295"/>
          </p:nvPr>
        </p:nvSpPr>
        <p:spPr>
          <a:xfrm>
            <a:off x="985587" y="1111140"/>
            <a:ext cx="10887569" cy="1844301"/>
          </a:xfrm>
          <a:prstGeom prst="rect">
            <a:avLst/>
          </a:prstGeom>
        </p:spPr>
        <p:txBody>
          <a:bodyPr wrap="square">
            <a:noAutofit/>
          </a:bodyPr>
          <a:lstStyle/>
          <a:p>
            <a:pPr marL="360363" indent="0">
              <a:lnSpc>
                <a:spcPct val="90000"/>
              </a:lnSpc>
              <a:spcBef>
                <a:spcPts val="674"/>
              </a:spcBef>
              <a:buClr>
                <a:srgbClr val="CC9900"/>
              </a:buClr>
              <a:buSzPct val="65000"/>
              <a:buNone/>
            </a:pPr>
            <a:r>
              <a:rPr lang="ru-RU" sz="2400" i="1" dirty="0"/>
              <a:t>Фармацевтическая компания выпускает лекарство, аналогичное уже существующему, так называемый "</a:t>
            </a:r>
            <a:r>
              <a:rPr lang="ru-RU" sz="2400" i="1" dirty="0" err="1"/>
              <a:t>дженерик</a:t>
            </a:r>
            <a:r>
              <a:rPr lang="ru-RU" sz="2400" i="1" dirty="0"/>
              <a:t>" (</a:t>
            </a:r>
            <a:r>
              <a:rPr lang="ru-RU" sz="2400" i="1" dirty="0" err="1"/>
              <a:t>generic</a:t>
            </a:r>
            <a:r>
              <a:rPr lang="ru-RU" sz="2400" i="1" dirty="0"/>
              <a:t>) вместо оригинального, производимого разработчиком ("</a:t>
            </a:r>
            <a:r>
              <a:rPr lang="ru-RU" sz="2400" i="1" dirty="0" err="1"/>
              <a:t>brand-named</a:t>
            </a:r>
            <a:r>
              <a:rPr lang="ru-RU" sz="2400" i="1" dirty="0"/>
              <a:t>").  Компания проводит исследование, проверяющее, что лекарство-аналог эквивалентно уже существующему.</a:t>
            </a:r>
          </a:p>
        </p:txBody>
      </p:sp>
      <p:sp>
        <p:nvSpPr>
          <p:cNvPr id="7" name="Номер слайда 6"/>
          <p:cNvSpPr>
            <a:spLocks noGrp="1"/>
          </p:cNvSpPr>
          <p:nvPr>
            <p:ph type="sldNum" sz="quarter" idx="12"/>
          </p:nvPr>
        </p:nvSpPr>
        <p:spPr>
          <a:xfrm>
            <a:off x="11662717" y="6614320"/>
            <a:ext cx="808441" cy="379409"/>
          </a:xfrm>
        </p:spPr>
        <p:txBody>
          <a:bodyPr/>
          <a:lstStyle/>
          <a:p>
            <a:fld id="{952B6C0E-C4B9-4094-8E59-5B7DF00D5415}" type="slidenum">
              <a:rPr lang="ru-RU" smtClean="0">
                <a:solidFill>
                  <a:schemeClr val="tx1"/>
                </a:solidFill>
              </a:rPr>
              <a:t>37</a:t>
            </a:fld>
            <a:endParaRPr lang="ru-RU" dirty="0">
              <a:solidFill>
                <a:schemeClr val="tx1"/>
              </a:solidFill>
            </a:endParaRPr>
          </a:p>
        </p:txBody>
      </p:sp>
      <p:sp>
        <p:nvSpPr>
          <p:cNvPr id="8" name="Заголовок 1"/>
          <p:cNvSpPr txBox="1">
            <a:spLocks/>
          </p:cNvSpPr>
          <p:nvPr/>
        </p:nvSpPr>
        <p:spPr>
          <a:xfrm>
            <a:off x="1479194" y="3023715"/>
            <a:ext cx="9649359" cy="477838"/>
          </a:xfrm>
          <a:prstGeom prst="rect">
            <a:avLst/>
          </a:prstGeom>
        </p:spPr>
        <p:txBody>
          <a:bodyPr vert="horz" wrap="square" lIns="91440" tIns="45720" rIns="91440" bIns="45720" rtlCol="0" anchor="ctr">
            <a:noAutofit/>
          </a:bodyPr>
          <a:lstStyle>
            <a:lvl1pPr algn="ctr" defTabSz="950153" rtl="0" eaLnBrk="1" latinLnBrk="0" hangingPunct="1">
              <a:spcBef>
                <a:spcPct val="0"/>
              </a:spcBef>
              <a:buNone/>
              <a:defRPr sz="4572" kern="1200">
                <a:solidFill>
                  <a:schemeClr val="tx1"/>
                </a:solidFill>
                <a:latin typeface="+mj-lt"/>
                <a:ea typeface="+mj-ea"/>
                <a:cs typeface="+mj-cs"/>
              </a:defRPr>
            </a:lvl1pPr>
          </a:lstStyle>
          <a:p>
            <a:pPr fontAlgn="auto">
              <a:spcAft>
                <a:spcPts val="0"/>
              </a:spcAft>
            </a:pPr>
            <a:r>
              <a:rPr lang="ru-RU" sz="3200" dirty="0"/>
              <a:t>Не отвергнуть гипотезу недостаточно</a:t>
            </a:r>
          </a:p>
        </p:txBody>
      </p:sp>
      <p:sp>
        <p:nvSpPr>
          <p:cNvPr id="9" name="Текст 2"/>
          <p:cNvSpPr txBox="1">
            <a:spLocks/>
          </p:cNvSpPr>
          <p:nvPr/>
        </p:nvSpPr>
        <p:spPr>
          <a:xfrm>
            <a:off x="1277905" y="3627022"/>
            <a:ext cx="10600836" cy="2927186"/>
          </a:xfrm>
          <a:prstGeom prst="rect">
            <a:avLst/>
          </a:prstGeom>
        </p:spPr>
        <p:txBody>
          <a:bodyPr vert="horz" wrap="square" lIns="91440" tIns="45720" rIns="91440" bIns="45720" rtlCol="0">
            <a:normAutofit/>
          </a:bodyPr>
          <a:lstStyle>
            <a:lvl1pPr marL="356307" indent="-356307" algn="l" defTabSz="950153" rtl="0" eaLnBrk="1" latinLnBrk="0" hangingPunct="1">
              <a:spcBef>
                <a:spcPct val="20000"/>
              </a:spcBef>
              <a:buFont typeface="Arial" panose="020B0604020202020204" pitchFamily="34" charset="0"/>
              <a:buChar char="•"/>
              <a:defRPr sz="3325" kern="1200">
                <a:solidFill>
                  <a:schemeClr val="tx1"/>
                </a:solidFill>
                <a:latin typeface="+mn-lt"/>
                <a:ea typeface="+mn-ea"/>
                <a:cs typeface="+mn-cs"/>
              </a:defRPr>
            </a:lvl1pPr>
            <a:lvl2pPr marL="771999" indent="-296923" algn="l" defTabSz="950153" rtl="0" eaLnBrk="1" latinLnBrk="0" hangingPunct="1">
              <a:spcBef>
                <a:spcPct val="20000"/>
              </a:spcBef>
              <a:buFont typeface="Arial" panose="020B0604020202020204" pitchFamily="34" charset="0"/>
              <a:buChar char="–"/>
              <a:defRPr sz="2909" kern="1200">
                <a:solidFill>
                  <a:schemeClr val="tx1"/>
                </a:solidFill>
                <a:latin typeface="+mn-lt"/>
                <a:ea typeface="+mn-ea"/>
                <a:cs typeface="+mn-cs"/>
              </a:defRPr>
            </a:lvl2pPr>
            <a:lvl3pPr marL="1187691" indent="-237538" algn="l" defTabSz="950153" rtl="0" eaLnBrk="1" latinLnBrk="0" hangingPunct="1">
              <a:spcBef>
                <a:spcPct val="20000"/>
              </a:spcBef>
              <a:buFont typeface="Arial" panose="020B0604020202020204" pitchFamily="34" charset="0"/>
              <a:buChar char="•"/>
              <a:defRPr sz="2494" kern="1200">
                <a:solidFill>
                  <a:schemeClr val="tx1"/>
                </a:solidFill>
                <a:latin typeface="+mn-lt"/>
                <a:ea typeface="+mn-ea"/>
                <a:cs typeface="+mn-cs"/>
              </a:defRPr>
            </a:lvl3pPr>
            <a:lvl4pPr marL="1662768" indent="-237538" algn="l" defTabSz="950153" rtl="0" eaLnBrk="1" latinLnBrk="0" hangingPunct="1">
              <a:spcBef>
                <a:spcPct val="20000"/>
              </a:spcBef>
              <a:buFont typeface="Arial" panose="020B0604020202020204" pitchFamily="34" charset="0"/>
              <a:buChar char="–"/>
              <a:defRPr sz="2078" kern="1200">
                <a:solidFill>
                  <a:schemeClr val="tx1"/>
                </a:solidFill>
                <a:latin typeface="+mn-lt"/>
                <a:ea typeface="+mn-ea"/>
                <a:cs typeface="+mn-cs"/>
              </a:defRPr>
            </a:lvl4pPr>
            <a:lvl5pPr marL="2137844" indent="-237538" algn="l" defTabSz="950153" rtl="0" eaLnBrk="1" latinLnBrk="0" hangingPunct="1">
              <a:spcBef>
                <a:spcPct val="20000"/>
              </a:spcBef>
              <a:buFont typeface="Arial" panose="020B0604020202020204" pitchFamily="34" charset="0"/>
              <a:buChar char="»"/>
              <a:defRPr sz="2078" kern="1200">
                <a:solidFill>
                  <a:schemeClr val="tx1"/>
                </a:solidFill>
                <a:latin typeface="+mn-lt"/>
                <a:ea typeface="+mn-ea"/>
                <a:cs typeface="+mn-cs"/>
              </a:defRPr>
            </a:lvl5pPr>
            <a:lvl6pPr marL="2612921" indent="-237538" algn="l" defTabSz="950153" rtl="0" eaLnBrk="1" latinLnBrk="0" hangingPunct="1">
              <a:spcBef>
                <a:spcPct val="20000"/>
              </a:spcBef>
              <a:buFont typeface="Arial" panose="020B0604020202020204" pitchFamily="34" charset="0"/>
              <a:buChar char="•"/>
              <a:defRPr sz="2078" kern="1200">
                <a:solidFill>
                  <a:schemeClr val="tx1"/>
                </a:solidFill>
                <a:latin typeface="+mn-lt"/>
                <a:ea typeface="+mn-ea"/>
                <a:cs typeface="+mn-cs"/>
              </a:defRPr>
            </a:lvl6pPr>
            <a:lvl7pPr marL="3087997" indent="-237538" algn="l" defTabSz="950153" rtl="0" eaLnBrk="1" latinLnBrk="0" hangingPunct="1">
              <a:spcBef>
                <a:spcPct val="20000"/>
              </a:spcBef>
              <a:buFont typeface="Arial" panose="020B0604020202020204" pitchFamily="34" charset="0"/>
              <a:buChar char="•"/>
              <a:defRPr sz="2078" kern="1200">
                <a:solidFill>
                  <a:schemeClr val="tx1"/>
                </a:solidFill>
                <a:latin typeface="+mn-lt"/>
                <a:ea typeface="+mn-ea"/>
                <a:cs typeface="+mn-cs"/>
              </a:defRPr>
            </a:lvl7pPr>
            <a:lvl8pPr marL="3563074" indent="-237538" algn="l" defTabSz="950153" rtl="0" eaLnBrk="1" latinLnBrk="0" hangingPunct="1">
              <a:spcBef>
                <a:spcPct val="20000"/>
              </a:spcBef>
              <a:buFont typeface="Arial" panose="020B0604020202020204" pitchFamily="34" charset="0"/>
              <a:buChar char="•"/>
              <a:defRPr sz="2078" kern="1200">
                <a:solidFill>
                  <a:schemeClr val="tx1"/>
                </a:solidFill>
                <a:latin typeface="+mn-lt"/>
                <a:ea typeface="+mn-ea"/>
                <a:cs typeface="+mn-cs"/>
              </a:defRPr>
            </a:lvl8pPr>
            <a:lvl9pPr marL="4038150" indent="-237538" algn="l" defTabSz="950153" rtl="0" eaLnBrk="1" latinLnBrk="0" hangingPunct="1">
              <a:spcBef>
                <a:spcPct val="20000"/>
              </a:spcBef>
              <a:buFont typeface="Arial" panose="020B0604020202020204" pitchFamily="34" charset="0"/>
              <a:buChar char="•"/>
              <a:defRPr sz="2078" kern="1200">
                <a:solidFill>
                  <a:schemeClr val="tx1"/>
                </a:solidFill>
                <a:latin typeface="+mn-lt"/>
                <a:ea typeface="+mn-ea"/>
                <a:cs typeface="+mn-cs"/>
              </a:defRPr>
            </a:lvl9pPr>
          </a:lstStyle>
          <a:p>
            <a:pPr marL="0" indent="357188" fontAlgn="auto">
              <a:spcAft>
                <a:spcPts val="0"/>
              </a:spcAft>
              <a:buClr>
                <a:srgbClr val="CC9900"/>
              </a:buClr>
              <a:buSzPct val="65000"/>
              <a:buFont typeface="Wingdings" pitchFamily="2"/>
              <a:buChar char=""/>
            </a:pPr>
            <a:r>
              <a:rPr lang="ru-RU" sz="2400" dirty="0"/>
              <a:t>Основная гипотеза при анализе: отличия между лекарствами нет.</a:t>
            </a:r>
          </a:p>
          <a:p>
            <a:pPr marL="0" indent="357188" fontAlgn="auto">
              <a:spcAft>
                <a:spcPts val="0"/>
              </a:spcAft>
              <a:buClr>
                <a:srgbClr val="CC9900"/>
              </a:buClr>
              <a:buSzPct val="65000"/>
              <a:buFont typeface="Wingdings" pitchFamily="2"/>
              <a:buChar char=""/>
            </a:pPr>
            <a:r>
              <a:rPr lang="ru-RU" sz="2400" dirty="0"/>
              <a:t>Дело касается здоровья людей, и не отвергнуть гипотезу недостаточно.</a:t>
            </a:r>
          </a:p>
          <a:p>
            <a:pPr marL="0" indent="357188" fontAlgn="auto">
              <a:spcAft>
                <a:spcPts val="0"/>
              </a:spcAft>
              <a:buClr>
                <a:srgbClr val="CC9900"/>
              </a:buClr>
              <a:buSzPct val="65000"/>
              <a:buFont typeface="Wingdings" pitchFamily="2"/>
              <a:buChar char=""/>
            </a:pPr>
            <a:r>
              <a:rPr lang="ru-RU" sz="2400" dirty="0"/>
              <a:t>Необходимы более жесткие требования к процедуре. Надо проверить еще и побочные эффекты у лиц страдающих заболеванием «х1», «х2», и так далее…</a:t>
            </a:r>
          </a:p>
          <a:p>
            <a:pPr marL="354624" indent="-354624" fontAlgn="auto">
              <a:spcAft>
                <a:spcPts val="0"/>
              </a:spcAft>
              <a:tabLst>
                <a:tab pos="354624" algn="l"/>
                <a:tab pos="464976" algn="l"/>
                <a:tab pos="931823" algn="l"/>
                <a:tab pos="1398670" algn="l"/>
                <a:tab pos="1865517" algn="l"/>
                <a:tab pos="2332364" algn="l"/>
                <a:tab pos="2799211" algn="l"/>
                <a:tab pos="3266058" algn="l"/>
                <a:tab pos="3732903" algn="l"/>
                <a:tab pos="4199751" algn="l"/>
                <a:tab pos="4666597" algn="l"/>
                <a:tab pos="5133071" algn="l"/>
                <a:tab pos="5599918" algn="l"/>
                <a:tab pos="6066765" algn="l"/>
                <a:tab pos="6533611" algn="l"/>
                <a:tab pos="7000457" algn="l"/>
                <a:tab pos="7467305" algn="l"/>
                <a:tab pos="7934151" algn="l"/>
                <a:tab pos="8400999" algn="l"/>
                <a:tab pos="8867846" algn="l"/>
                <a:tab pos="9334693" algn="l"/>
              </a:tabLst>
            </a:pPr>
            <a:endParaRPr lang="ru-RU" sz="2400" dirty="0"/>
          </a:p>
        </p:txBody>
      </p:sp>
    </p:spTree>
    <p:extLst>
      <p:ext uri="{BB962C8B-B14F-4D97-AF65-F5344CB8AC3E}">
        <p14:creationId xmlns:p14="http://schemas.microsoft.com/office/powerpoint/2010/main" val="22070220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AutoShape 4"/>
          <p:cNvSpPr>
            <a:spLocks noChangeArrowheads="1"/>
          </p:cNvSpPr>
          <p:nvPr/>
        </p:nvSpPr>
        <p:spPr bwMode="auto">
          <a:xfrm>
            <a:off x="1438275" y="322263"/>
            <a:ext cx="10872513" cy="6553200"/>
          </a:xfrm>
          <a:prstGeom prst="roundRect">
            <a:avLst>
              <a:gd name="adj" fmla="val 16667"/>
            </a:avLst>
          </a:prstGeom>
          <a:solidFill>
            <a:schemeClr val="bg1">
              <a:alpha val="50195"/>
            </a:scheme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eaLnBrk="0" hangingPunct="0">
              <a:defRPr sz="2000">
                <a:solidFill>
                  <a:schemeClr val="tx1"/>
                </a:solidFill>
                <a:latin typeface="Arial" panose="020B0604020202020204" pitchFamily="34" charset="0"/>
                <a:cs typeface="Arial" panose="020B0604020202020204" pitchFamily="34" charset="0"/>
              </a:defRPr>
            </a:lvl1pPr>
            <a:lvl2pPr marL="742950" indent="-285750" defTabSz="993775" eaLnBrk="0" hangingPunct="0">
              <a:defRPr sz="2000">
                <a:solidFill>
                  <a:schemeClr val="tx1"/>
                </a:solidFill>
                <a:latin typeface="Arial" panose="020B0604020202020204" pitchFamily="34" charset="0"/>
                <a:cs typeface="Arial" panose="020B0604020202020204" pitchFamily="34" charset="0"/>
              </a:defRPr>
            </a:lvl2pPr>
            <a:lvl3pPr marL="1143000" indent="-228600" defTabSz="993775" eaLnBrk="0" hangingPunct="0">
              <a:defRPr sz="2000">
                <a:solidFill>
                  <a:schemeClr val="tx1"/>
                </a:solidFill>
                <a:latin typeface="Arial" panose="020B0604020202020204" pitchFamily="34" charset="0"/>
                <a:cs typeface="Arial" panose="020B0604020202020204" pitchFamily="34" charset="0"/>
              </a:defRPr>
            </a:lvl3pPr>
            <a:lvl4pPr marL="1600200" indent="-228600" defTabSz="993775" eaLnBrk="0" hangingPunct="0">
              <a:defRPr sz="2000">
                <a:solidFill>
                  <a:schemeClr val="tx1"/>
                </a:solidFill>
                <a:latin typeface="Arial" panose="020B0604020202020204" pitchFamily="34" charset="0"/>
                <a:cs typeface="Arial" panose="020B0604020202020204" pitchFamily="34" charset="0"/>
              </a:defRPr>
            </a:lvl4pPr>
            <a:lvl5pPr marL="2057400" indent="-228600" defTabSz="993775" eaLnBrk="0" hangingPunct="0">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11267" name="Text Box 4"/>
          <p:cNvSpPr txBox="1">
            <a:spLocks noChangeArrowheads="1"/>
          </p:cNvSpPr>
          <p:nvPr/>
        </p:nvSpPr>
        <p:spPr bwMode="auto">
          <a:xfrm>
            <a:off x="2071498" y="1255833"/>
            <a:ext cx="8909508" cy="15345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ru-RU" altLang="ru-RU" sz="2494" dirty="0">
                <a:solidFill>
                  <a:srgbClr val="669900"/>
                </a:solidFill>
              </a:rPr>
              <a:t>Пример.</a:t>
            </a:r>
            <a:endParaRPr lang="en-US" altLang="ru-RU" sz="2494" dirty="0">
              <a:solidFill>
                <a:srgbClr val="669900"/>
              </a:solidFill>
            </a:endParaRPr>
          </a:p>
          <a:p>
            <a:pPr eaLnBrk="1" hangingPunct="1">
              <a:spcBef>
                <a:spcPct val="0"/>
              </a:spcBef>
              <a:buClrTx/>
              <a:buSzTx/>
              <a:buFontTx/>
              <a:buNone/>
            </a:pPr>
            <a:endParaRPr lang="ru-RU" altLang="ru-RU" sz="2078" dirty="0">
              <a:solidFill>
                <a:srgbClr val="669900"/>
              </a:solidFill>
            </a:endParaRPr>
          </a:p>
          <a:p>
            <a:pPr eaLnBrk="1" hangingPunct="1">
              <a:spcBef>
                <a:spcPct val="0"/>
              </a:spcBef>
              <a:buClrTx/>
              <a:buSzTx/>
              <a:buFontTx/>
              <a:buNone/>
            </a:pPr>
            <a:r>
              <a:rPr lang="ru-RU" altLang="ru-RU" sz="2400" dirty="0"/>
              <a:t>Мы хотим узнать, отличается ли </a:t>
            </a:r>
            <a:r>
              <a:rPr lang="en-US" altLang="ru-RU" sz="2400" dirty="0"/>
              <a:t>IQ </a:t>
            </a:r>
            <a:r>
              <a:rPr lang="ru-RU" altLang="ru-RU" sz="2400" dirty="0"/>
              <a:t>студентов </a:t>
            </a:r>
            <a:r>
              <a:rPr lang="ru-RU" altLang="ru-RU" sz="2400" dirty="0" err="1"/>
              <a:t>ФКТиПМ</a:t>
            </a:r>
            <a:r>
              <a:rPr lang="ru-RU" altLang="ru-RU" sz="2400" dirty="0"/>
              <a:t> от 100 – среднего уровня в стране?</a:t>
            </a:r>
          </a:p>
        </p:txBody>
      </p:sp>
      <p:sp>
        <p:nvSpPr>
          <p:cNvPr id="37893" name="Text Box 5"/>
          <p:cNvSpPr txBox="1">
            <a:spLocks noChangeArrowheads="1"/>
          </p:cNvSpPr>
          <p:nvPr/>
        </p:nvSpPr>
        <p:spPr bwMode="auto">
          <a:xfrm>
            <a:off x="2144133" y="3114452"/>
            <a:ext cx="5630153" cy="21236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20000"/>
              </a:spcBef>
              <a:spcAft>
                <a:spcPct val="0"/>
              </a:spcAft>
              <a:defRPr sz="2400">
                <a:solidFill>
                  <a:schemeClr val="tx1"/>
                </a:solidFill>
                <a:latin typeface="Arial" panose="020B0604020202020204" pitchFamily="34" charset="0"/>
              </a:defRPr>
            </a:lvl6pPr>
            <a:lvl7pPr marL="2971800" indent="-228600" eaLnBrk="0" fontAlgn="base" hangingPunct="0">
              <a:spcBef>
                <a:spcPct val="20000"/>
              </a:spcBef>
              <a:spcAft>
                <a:spcPct val="0"/>
              </a:spcAft>
              <a:defRPr sz="2400">
                <a:solidFill>
                  <a:schemeClr val="tx1"/>
                </a:solidFill>
                <a:latin typeface="Arial" panose="020B0604020202020204" pitchFamily="34" charset="0"/>
              </a:defRPr>
            </a:lvl7pPr>
            <a:lvl8pPr marL="3429000" indent="-228600" eaLnBrk="0" fontAlgn="base" hangingPunct="0">
              <a:spcBef>
                <a:spcPct val="20000"/>
              </a:spcBef>
              <a:spcAft>
                <a:spcPct val="0"/>
              </a:spcAft>
              <a:defRPr sz="2400">
                <a:solidFill>
                  <a:schemeClr val="tx1"/>
                </a:solidFill>
                <a:latin typeface="Arial" panose="020B0604020202020204" pitchFamily="34" charset="0"/>
              </a:defRPr>
            </a:lvl8pPr>
            <a:lvl9pPr marL="3886200" indent="-228600" eaLnBrk="0" fontAlgn="base" hangingPunct="0">
              <a:spcBef>
                <a:spcPct val="20000"/>
              </a:spcBef>
              <a:spcAft>
                <a:spcPct val="0"/>
              </a:spcAft>
              <a:defRPr sz="2400">
                <a:solidFill>
                  <a:schemeClr val="tx1"/>
                </a:solidFill>
                <a:latin typeface="Arial" panose="020B0604020202020204" pitchFamily="34" charset="0"/>
              </a:defRPr>
            </a:lvl9pPr>
          </a:lstStyle>
          <a:p>
            <a:pPr eaLnBrk="1" hangingPunct="1">
              <a:defRPr/>
            </a:pPr>
            <a:r>
              <a:rPr lang="en-US" altLang="ru-RU" sz="2800" b="1" dirty="0">
                <a:solidFill>
                  <a:srgbClr val="CC3300"/>
                </a:solidFill>
                <a:effectLst>
                  <a:outerShdw blurRad="38100" dist="38100" dir="2700000" algn="tl">
                    <a:srgbClr val="C0C0C0"/>
                  </a:outerShdw>
                </a:effectLst>
              </a:rPr>
              <a:t>H</a:t>
            </a:r>
            <a:r>
              <a:rPr lang="en-US" altLang="ru-RU" sz="2800" b="1" baseline="-25000" dirty="0">
                <a:solidFill>
                  <a:srgbClr val="CC3300"/>
                </a:solidFill>
                <a:effectLst>
                  <a:outerShdw blurRad="38100" dist="38100" dir="2700000" algn="tl">
                    <a:srgbClr val="C0C0C0"/>
                  </a:outerShdw>
                </a:effectLst>
              </a:rPr>
              <a:t>0</a:t>
            </a:r>
            <a:r>
              <a:rPr lang="ru-RU" altLang="ru-RU" sz="2800" dirty="0"/>
              <a:t>: </a:t>
            </a:r>
            <a:r>
              <a:rPr lang="el-GR" altLang="ru-RU" sz="2800" i="1" dirty="0"/>
              <a:t>μ</a:t>
            </a:r>
            <a:r>
              <a:rPr lang="ru-RU" altLang="ru-RU" sz="2800" dirty="0"/>
              <a:t> =100; </a:t>
            </a:r>
          </a:p>
          <a:p>
            <a:pPr eaLnBrk="1" hangingPunct="1">
              <a:defRPr/>
            </a:pPr>
            <a:r>
              <a:rPr lang="en-US" altLang="ru-RU" sz="2800" b="1" dirty="0">
                <a:solidFill>
                  <a:srgbClr val="CC3300"/>
                </a:solidFill>
                <a:effectLst>
                  <a:outerShdw blurRad="38100" dist="38100" dir="2700000" algn="tl">
                    <a:srgbClr val="C0C0C0"/>
                  </a:outerShdw>
                </a:effectLst>
              </a:rPr>
              <a:t>H</a:t>
            </a:r>
            <a:r>
              <a:rPr lang="ru-RU" altLang="ru-RU" sz="2800" b="1" baseline="-25000" dirty="0">
                <a:solidFill>
                  <a:srgbClr val="CC3300"/>
                </a:solidFill>
                <a:effectLst>
                  <a:outerShdw blurRad="38100" dist="38100" dir="2700000" algn="tl">
                    <a:srgbClr val="C0C0C0"/>
                  </a:outerShdw>
                </a:effectLst>
              </a:rPr>
              <a:t>1 </a:t>
            </a:r>
            <a:r>
              <a:rPr lang="ru-RU" altLang="ru-RU" sz="2800" dirty="0"/>
              <a:t>: </a:t>
            </a:r>
            <a:r>
              <a:rPr lang="el-GR" altLang="ru-RU" sz="2800" i="1" dirty="0"/>
              <a:t>μ</a:t>
            </a:r>
            <a:r>
              <a:rPr lang="en-US" altLang="ru-RU" sz="2800" i="1" dirty="0"/>
              <a:t> </a:t>
            </a:r>
            <a:r>
              <a:rPr lang="en-US" altLang="ru-RU" sz="2800" dirty="0"/>
              <a:t>≠</a:t>
            </a:r>
            <a:r>
              <a:rPr lang="ru-RU" altLang="ru-RU" sz="2800" dirty="0"/>
              <a:t>100</a:t>
            </a:r>
          </a:p>
          <a:p>
            <a:pPr eaLnBrk="1" hangingPunct="1">
              <a:defRPr/>
            </a:pPr>
            <a:endParaRPr lang="ru-RU" altLang="ru-RU" sz="2800" dirty="0"/>
          </a:p>
          <a:p>
            <a:pPr eaLnBrk="1" hangingPunct="1">
              <a:defRPr/>
            </a:pPr>
            <a:r>
              <a:rPr lang="el-GR" altLang="ru-RU" i="1" dirty="0"/>
              <a:t>μ</a:t>
            </a:r>
            <a:r>
              <a:rPr lang="ru-RU" altLang="ru-RU" i="1" dirty="0"/>
              <a:t> </a:t>
            </a:r>
            <a:r>
              <a:rPr lang="ru-RU" altLang="ru-RU" dirty="0"/>
              <a:t>– среднее в </a:t>
            </a:r>
            <a:r>
              <a:rPr lang="ru-RU" altLang="ru-RU" u="sng" dirty="0"/>
              <a:t>популяции</a:t>
            </a:r>
            <a:r>
              <a:rPr lang="ru-RU" altLang="ru-RU" dirty="0"/>
              <a:t> студентов, которая, как мы думаем,</a:t>
            </a:r>
            <a:r>
              <a:rPr lang="en-US" altLang="ru-RU" dirty="0"/>
              <a:t> </a:t>
            </a:r>
            <a:r>
              <a:rPr lang="ru-RU" altLang="ru-RU" dirty="0"/>
              <a:t>равна 100 </a:t>
            </a:r>
            <a:endParaRPr lang="en-US" altLang="ru-RU" dirty="0"/>
          </a:p>
        </p:txBody>
      </p:sp>
      <p:pic>
        <p:nvPicPr>
          <p:cNvPr id="11269" name="Picture 16" descr="student2"/>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8134325" y="2803270"/>
            <a:ext cx="2533791" cy="29923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AutoShape 5"/>
          <p:cNvSpPr>
            <a:spLocks noChangeArrowheads="1"/>
          </p:cNvSpPr>
          <p:nvPr/>
        </p:nvSpPr>
        <p:spPr bwMode="auto">
          <a:xfrm>
            <a:off x="2085977" y="395289"/>
            <a:ext cx="8351837" cy="499771"/>
          </a:xfrm>
          <a:prstGeom prst="roundRect">
            <a:avLst>
              <a:gd name="adj" fmla="val 16667"/>
            </a:avLst>
          </a:prstGeom>
          <a:solidFill>
            <a:srgbClr val="FFFFFF">
              <a:alpha val="78822"/>
            </a:srgb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eaLnBrk="0" hangingPunct="0">
              <a:defRPr sz="2000">
                <a:solidFill>
                  <a:schemeClr val="tx1"/>
                </a:solidFill>
                <a:latin typeface="Arial" panose="020B0604020202020204" pitchFamily="34" charset="0"/>
                <a:cs typeface="Arial" panose="020B0604020202020204" pitchFamily="34" charset="0"/>
              </a:defRPr>
            </a:lvl1pPr>
            <a:lvl2pPr marL="742950" indent="-285750" defTabSz="993775" eaLnBrk="0" hangingPunct="0">
              <a:defRPr sz="2000">
                <a:solidFill>
                  <a:schemeClr val="tx1"/>
                </a:solidFill>
                <a:latin typeface="Arial" panose="020B0604020202020204" pitchFamily="34" charset="0"/>
                <a:cs typeface="Arial" panose="020B0604020202020204" pitchFamily="34" charset="0"/>
              </a:defRPr>
            </a:lvl2pPr>
            <a:lvl3pPr marL="1143000" indent="-228600" defTabSz="993775" eaLnBrk="0" hangingPunct="0">
              <a:defRPr sz="2000">
                <a:solidFill>
                  <a:schemeClr val="tx1"/>
                </a:solidFill>
                <a:latin typeface="Arial" panose="020B0604020202020204" pitchFamily="34" charset="0"/>
                <a:cs typeface="Arial" panose="020B0604020202020204" pitchFamily="34" charset="0"/>
              </a:defRPr>
            </a:lvl3pPr>
            <a:lvl4pPr marL="1600200" indent="-228600" defTabSz="993775" eaLnBrk="0" hangingPunct="0">
              <a:defRPr sz="2000">
                <a:solidFill>
                  <a:schemeClr val="tx1"/>
                </a:solidFill>
                <a:latin typeface="Arial" panose="020B0604020202020204" pitchFamily="34" charset="0"/>
                <a:cs typeface="Arial" panose="020B0604020202020204" pitchFamily="34" charset="0"/>
              </a:defRPr>
            </a:lvl4pPr>
            <a:lvl5pPr marL="2057400" indent="-228600" defTabSz="993775" eaLnBrk="0" hangingPunct="0">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ru-RU" altLang="ru-RU" sz="3600" b="1" dirty="0"/>
              <a:t>Тестирование гипотез в статистике</a:t>
            </a:r>
          </a:p>
        </p:txBody>
      </p:sp>
      <p:sp>
        <p:nvSpPr>
          <p:cNvPr id="2" name="Номер слайда 1"/>
          <p:cNvSpPr>
            <a:spLocks noGrp="1"/>
          </p:cNvSpPr>
          <p:nvPr>
            <p:ph type="sldNum" sz="quarter" idx="12"/>
          </p:nvPr>
        </p:nvSpPr>
        <p:spPr>
          <a:xfrm>
            <a:off x="11806733" y="6512253"/>
            <a:ext cx="664425" cy="379409"/>
          </a:xfrm>
        </p:spPr>
        <p:txBody>
          <a:bodyPr/>
          <a:lstStyle/>
          <a:p>
            <a:fld id="{952B6C0E-C4B9-4094-8E59-5B7DF00D5415}" type="slidenum">
              <a:rPr lang="ru-RU" sz="1400">
                <a:solidFill>
                  <a:schemeClr val="tx1"/>
                </a:solidFill>
              </a:rPr>
              <a:t>38</a:t>
            </a:fld>
            <a:endParaRPr lang="ru-RU" sz="1400">
              <a:solidFill>
                <a:schemeClr val="tx1"/>
              </a:solidFill>
            </a:endParaRPr>
          </a:p>
        </p:txBody>
      </p:sp>
    </p:spTree>
    <p:extLst>
      <p:ext uri="{BB962C8B-B14F-4D97-AF65-F5344CB8AC3E}">
        <p14:creationId xmlns:p14="http://schemas.microsoft.com/office/powerpoint/2010/main" val="39132010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AutoShape 4"/>
          <p:cNvSpPr>
            <a:spLocks noChangeArrowheads="1"/>
          </p:cNvSpPr>
          <p:nvPr/>
        </p:nvSpPr>
        <p:spPr bwMode="auto">
          <a:xfrm>
            <a:off x="1438275" y="322263"/>
            <a:ext cx="10800505" cy="6553200"/>
          </a:xfrm>
          <a:prstGeom prst="roundRect">
            <a:avLst>
              <a:gd name="adj" fmla="val 16667"/>
            </a:avLst>
          </a:prstGeom>
          <a:solidFill>
            <a:schemeClr val="bg1">
              <a:alpha val="50195"/>
            </a:scheme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eaLnBrk="0" hangingPunct="0">
              <a:defRPr sz="2000">
                <a:solidFill>
                  <a:schemeClr val="tx1"/>
                </a:solidFill>
                <a:latin typeface="Arial" panose="020B0604020202020204" pitchFamily="34" charset="0"/>
                <a:cs typeface="Arial" panose="020B0604020202020204" pitchFamily="34" charset="0"/>
              </a:defRPr>
            </a:lvl1pPr>
            <a:lvl2pPr marL="742950" indent="-285750" defTabSz="993775" eaLnBrk="0" hangingPunct="0">
              <a:defRPr sz="2000">
                <a:solidFill>
                  <a:schemeClr val="tx1"/>
                </a:solidFill>
                <a:latin typeface="Arial" panose="020B0604020202020204" pitchFamily="34" charset="0"/>
                <a:cs typeface="Arial" panose="020B0604020202020204" pitchFamily="34" charset="0"/>
              </a:defRPr>
            </a:lvl2pPr>
            <a:lvl3pPr marL="1143000" indent="-228600" defTabSz="993775" eaLnBrk="0" hangingPunct="0">
              <a:defRPr sz="2000">
                <a:solidFill>
                  <a:schemeClr val="tx1"/>
                </a:solidFill>
                <a:latin typeface="Arial" panose="020B0604020202020204" pitchFamily="34" charset="0"/>
                <a:cs typeface="Arial" panose="020B0604020202020204" pitchFamily="34" charset="0"/>
              </a:defRPr>
            </a:lvl3pPr>
            <a:lvl4pPr marL="1600200" indent="-228600" defTabSz="993775" eaLnBrk="0" hangingPunct="0">
              <a:defRPr sz="2000">
                <a:solidFill>
                  <a:schemeClr val="tx1"/>
                </a:solidFill>
                <a:latin typeface="Arial" panose="020B0604020202020204" pitchFamily="34" charset="0"/>
                <a:cs typeface="Arial" panose="020B0604020202020204" pitchFamily="34" charset="0"/>
              </a:defRPr>
            </a:lvl4pPr>
            <a:lvl5pPr marL="2057400" indent="-228600" defTabSz="993775" eaLnBrk="0" hangingPunct="0">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34819" name="Text Box 3"/>
          <p:cNvSpPr txBox="1">
            <a:spLocks noChangeArrowheads="1"/>
          </p:cNvSpPr>
          <p:nvPr/>
        </p:nvSpPr>
        <p:spPr bwMode="auto">
          <a:xfrm>
            <a:off x="1149549" y="1336210"/>
            <a:ext cx="10674756" cy="45583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20000"/>
              </a:spcBef>
              <a:spcAft>
                <a:spcPct val="0"/>
              </a:spcAft>
              <a:defRPr sz="2400">
                <a:solidFill>
                  <a:schemeClr val="tx1"/>
                </a:solidFill>
                <a:latin typeface="Arial" panose="020B0604020202020204" pitchFamily="34" charset="0"/>
              </a:defRPr>
            </a:lvl6pPr>
            <a:lvl7pPr marL="2971800" indent="-228600" eaLnBrk="0" fontAlgn="base" hangingPunct="0">
              <a:spcBef>
                <a:spcPct val="20000"/>
              </a:spcBef>
              <a:spcAft>
                <a:spcPct val="0"/>
              </a:spcAft>
              <a:defRPr sz="2400">
                <a:solidFill>
                  <a:schemeClr val="tx1"/>
                </a:solidFill>
                <a:latin typeface="Arial" panose="020B0604020202020204" pitchFamily="34" charset="0"/>
              </a:defRPr>
            </a:lvl7pPr>
            <a:lvl8pPr marL="3429000" indent="-228600" eaLnBrk="0" fontAlgn="base" hangingPunct="0">
              <a:spcBef>
                <a:spcPct val="20000"/>
              </a:spcBef>
              <a:spcAft>
                <a:spcPct val="0"/>
              </a:spcAft>
              <a:defRPr sz="2400">
                <a:solidFill>
                  <a:schemeClr val="tx1"/>
                </a:solidFill>
                <a:latin typeface="Arial" panose="020B0604020202020204" pitchFamily="34" charset="0"/>
              </a:defRPr>
            </a:lvl8pPr>
            <a:lvl9pPr marL="3886200" indent="-228600" eaLnBrk="0" fontAlgn="base" hangingPunct="0">
              <a:spcBef>
                <a:spcPct val="20000"/>
              </a:spcBef>
              <a:spcAft>
                <a:spcPct val="0"/>
              </a:spcAft>
              <a:defRPr sz="2400">
                <a:solidFill>
                  <a:schemeClr val="tx1"/>
                </a:solidFill>
                <a:latin typeface="Arial" panose="020B0604020202020204" pitchFamily="34" charset="0"/>
              </a:defRPr>
            </a:lvl9pPr>
          </a:lstStyle>
          <a:p>
            <a:pPr eaLnBrk="1" hangingPunct="1">
              <a:defRPr/>
            </a:pPr>
            <a:r>
              <a:rPr lang="ru-RU" altLang="ru-RU" b="1" dirty="0">
                <a:solidFill>
                  <a:srgbClr val="CC0000"/>
                </a:solidFill>
              </a:rPr>
              <a:t>ОШИБКА 1 рода</a:t>
            </a:r>
            <a:r>
              <a:rPr lang="ru-RU" altLang="ru-RU" i="1" dirty="0"/>
              <a:t>: вероятность </a:t>
            </a:r>
            <a:r>
              <a:rPr lang="ru-RU" altLang="ru-RU" i="1" dirty="0">
                <a:solidFill>
                  <a:srgbClr val="990000"/>
                </a:solidFill>
              </a:rPr>
              <a:t>найти</a:t>
            </a:r>
            <a:r>
              <a:rPr lang="ru-RU" altLang="ru-RU" i="1" dirty="0"/>
              <a:t> различия, где их </a:t>
            </a:r>
            <a:r>
              <a:rPr lang="ru-RU" altLang="ru-RU" i="1" dirty="0">
                <a:solidFill>
                  <a:srgbClr val="990000"/>
                </a:solidFill>
              </a:rPr>
              <a:t>нет.</a:t>
            </a:r>
          </a:p>
          <a:p>
            <a:pPr eaLnBrk="1" hangingPunct="1">
              <a:defRPr/>
            </a:pPr>
            <a:endParaRPr lang="ru-RU" altLang="ru-RU" sz="2078" dirty="0"/>
          </a:p>
          <a:p>
            <a:pPr eaLnBrk="1" hangingPunct="1">
              <a:defRPr/>
            </a:pPr>
            <a:r>
              <a:rPr lang="ru-RU" altLang="ru-RU" sz="2078" dirty="0"/>
              <a:t>(</a:t>
            </a:r>
            <a:r>
              <a:rPr lang="en-US" altLang="ru-RU" sz="2078" dirty="0"/>
              <a:t>IQ</a:t>
            </a:r>
            <a:r>
              <a:rPr lang="ru-RU" altLang="ru-RU" sz="2078" dirty="0"/>
              <a:t> студентов </a:t>
            </a:r>
            <a:r>
              <a:rPr lang="ru-RU" altLang="ru-RU" sz="2000" dirty="0" err="1"/>
              <a:t>ФКТиПМ</a:t>
            </a:r>
            <a:r>
              <a:rPr lang="ru-RU" altLang="ru-RU" sz="2078" dirty="0"/>
              <a:t> такой же, как у всех. Но нам показалось, глядя на выборку, что они отличаются от остальных).</a:t>
            </a:r>
          </a:p>
          <a:p>
            <a:pPr eaLnBrk="1" hangingPunct="1">
              <a:defRPr/>
            </a:pPr>
            <a:r>
              <a:rPr lang="ru-RU" altLang="ru-RU" sz="2494" dirty="0"/>
              <a:t>Это – </a:t>
            </a:r>
            <a:r>
              <a:rPr lang="ru-RU" altLang="ru-RU" sz="2494" u="sng" dirty="0"/>
              <a:t>нездоровые сенсации</a:t>
            </a:r>
            <a:r>
              <a:rPr lang="ru-RU" altLang="ru-RU" sz="2494" dirty="0"/>
              <a:t>, которые могут принести большой вред.</a:t>
            </a:r>
          </a:p>
          <a:p>
            <a:pPr eaLnBrk="1" hangingPunct="1">
              <a:defRPr/>
            </a:pPr>
            <a:endParaRPr lang="ru-RU" altLang="ru-RU" sz="1455" i="1" dirty="0">
              <a:solidFill>
                <a:srgbClr val="CC0000"/>
              </a:solidFill>
              <a:effectLst>
                <a:outerShdw blurRad="38100" dist="38100" dir="2700000" algn="tl">
                  <a:srgbClr val="C0C0C0"/>
                </a:outerShdw>
              </a:effectLst>
            </a:endParaRPr>
          </a:p>
          <a:p>
            <a:pPr eaLnBrk="1" hangingPunct="1">
              <a:defRPr/>
            </a:pPr>
            <a:r>
              <a:rPr lang="ru-RU" altLang="ru-RU" sz="2494" b="1" dirty="0">
                <a:solidFill>
                  <a:srgbClr val="CC0000"/>
                </a:solidFill>
              </a:rPr>
              <a:t>ОШИБКА 2 рода</a:t>
            </a:r>
            <a:r>
              <a:rPr lang="ru-RU" altLang="ru-RU" sz="2494" dirty="0"/>
              <a:t>: </a:t>
            </a:r>
            <a:r>
              <a:rPr lang="ru-RU" altLang="ru-RU" sz="2494" i="1" dirty="0"/>
              <a:t>вероятность </a:t>
            </a:r>
            <a:r>
              <a:rPr lang="ru-RU" altLang="ru-RU" sz="2494" i="1" dirty="0">
                <a:solidFill>
                  <a:srgbClr val="990000"/>
                </a:solidFill>
              </a:rPr>
              <a:t>не увидеть</a:t>
            </a:r>
            <a:r>
              <a:rPr lang="ru-RU" altLang="ru-RU" sz="2494" i="1" dirty="0"/>
              <a:t> различий, где они </a:t>
            </a:r>
            <a:r>
              <a:rPr lang="ru-RU" altLang="ru-RU" sz="2494" i="1" dirty="0">
                <a:solidFill>
                  <a:srgbClr val="990000"/>
                </a:solidFill>
              </a:rPr>
              <a:t>есть</a:t>
            </a:r>
            <a:r>
              <a:rPr lang="ru-RU" altLang="ru-RU" sz="2494" i="1" dirty="0"/>
              <a:t>.</a:t>
            </a:r>
          </a:p>
          <a:p>
            <a:pPr eaLnBrk="1" hangingPunct="1">
              <a:defRPr/>
            </a:pPr>
            <a:r>
              <a:rPr lang="ru-RU" altLang="ru-RU" sz="2078" dirty="0"/>
              <a:t>(На самом деле </a:t>
            </a:r>
            <a:r>
              <a:rPr lang="en-US" altLang="ru-RU" sz="2078" dirty="0"/>
              <a:t>c</a:t>
            </a:r>
            <a:r>
              <a:rPr lang="ru-RU" altLang="ru-RU" sz="2078" dirty="0" err="1"/>
              <a:t>туденты</a:t>
            </a:r>
            <a:r>
              <a:rPr lang="ru-RU" altLang="ru-RU" sz="2078" dirty="0"/>
              <a:t> </a:t>
            </a:r>
            <a:r>
              <a:rPr lang="ru-RU" altLang="ru-RU" sz="2078" dirty="0" err="1"/>
              <a:t>ФКТиПМ</a:t>
            </a:r>
            <a:r>
              <a:rPr lang="ru-RU" altLang="ru-RU" sz="2078" dirty="0"/>
              <a:t> намного умнее других! Но мы были слишком строги к себе и посчитали, что этих различий недостаточно.)</a:t>
            </a:r>
          </a:p>
          <a:p>
            <a:pPr eaLnBrk="1" hangingPunct="1">
              <a:defRPr/>
            </a:pPr>
            <a:r>
              <a:rPr lang="ru-RU" altLang="ru-RU" sz="2494" dirty="0"/>
              <a:t>Это «близорукость», или «</a:t>
            </a:r>
            <a:r>
              <a:rPr lang="ru-RU" altLang="ru-RU" sz="2494" u="sng" dirty="0"/>
              <a:t>слепота</a:t>
            </a:r>
            <a:r>
              <a:rPr lang="ru-RU" altLang="ru-RU" sz="2494" dirty="0"/>
              <a:t>» критерия, вред от неё в данном случае не очень большой. </a:t>
            </a:r>
          </a:p>
          <a:p>
            <a:pPr eaLnBrk="1" hangingPunct="1">
              <a:defRPr/>
            </a:pPr>
            <a:r>
              <a:rPr lang="ru-RU" dirty="0"/>
              <a:t>Шанс возникновения ошибки 2-го рода обозначается β;</a:t>
            </a:r>
          </a:p>
          <a:p>
            <a:pPr eaLnBrk="1" hangingPunct="1">
              <a:defRPr/>
            </a:pPr>
            <a:r>
              <a:rPr lang="ru-RU" dirty="0"/>
              <a:t> а величина (1-β) называется </a:t>
            </a:r>
            <a:r>
              <a:rPr lang="ru-RU" i="1" dirty="0"/>
              <a:t>мощностью критерия</a:t>
            </a:r>
            <a:r>
              <a:rPr lang="ru-RU" dirty="0"/>
              <a:t>. </a:t>
            </a:r>
            <a:endParaRPr lang="ru-RU" altLang="ru-RU" dirty="0"/>
          </a:p>
        </p:txBody>
      </p:sp>
      <p:pic>
        <p:nvPicPr>
          <p:cNvPr id="13317" name="Picture 15" descr="student"/>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0433265" y="4859288"/>
            <a:ext cx="976565" cy="12800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AutoShape 5"/>
          <p:cNvSpPr>
            <a:spLocks noChangeArrowheads="1"/>
          </p:cNvSpPr>
          <p:nvPr/>
        </p:nvSpPr>
        <p:spPr bwMode="auto">
          <a:xfrm>
            <a:off x="2085977" y="395289"/>
            <a:ext cx="8351837" cy="499771"/>
          </a:xfrm>
          <a:prstGeom prst="roundRect">
            <a:avLst>
              <a:gd name="adj" fmla="val 16667"/>
            </a:avLst>
          </a:prstGeom>
          <a:solidFill>
            <a:srgbClr val="FFFFFF">
              <a:alpha val="78822"/>
            </a:srgb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eaLnBrk="0" hangingPunct="0">
              <a:defRPr sz="2000">
                <a:solidFill>
                  <a:schemeClr val="tx1"/>
                </a:solidFill>
                <a:latin typeface="Arial" panose="020B0604020202020204" pitchFamily="34" charset="0"/>
                <a:cs typeface="Arial" panose="020B0604020202020204" pitchFamily="34" charset="0"/>
              </a:defRPr>
            </a:lvl1pPr>
            <a:lvl2pPr marL="742950" indent="-285750" defTabSz="993775" eaLnBrk="0" hangingPunct="0">
              <a:defRPr sz="2000">
                <a:solidFill>
                  <a:schemeClr val="tx1"/>
                </a:solidFill>
                <a:latin typeface="Arial" panose="020B0604020202020204" pitchFamily="34" charset="0"/>
                <a:cs typeface="Arial" panose="020B0604020202020204" pitchFamily="34" charset="0"/>
              </a:defRPr>
            </a:lvl2pPr>
            <a:lvl3pPr marL="1143000" indent="-228600" defTabSz="993775" eaLnBrk="0" hangingPunct="0">
              <a:defRPr sz="2000">
                <a:solidFill>
                  <a:schemeClr val="tx1"/>
                </a:solidFill>
                <a:latin typeface="Arial" panose="020B0604020202020204" pitchFamily="34" charset="0"/>
                <a:cs typeface="Arial" panose="020B0604020202020204" pitchFamily="34" charset="0"/>
              </a:defRPr>
            </a:lvl3pPr>
            <a:lvl4pPr marL="1600200" indent="-228600" defTabSz="993775" eaLnBrk="0" hangingPunct="0">
              <a:defRPr sz="2000">
                <a:solidFill>
                  <a:schemeClr val="tx1"/>
                </a:solidFill>
                <a:latin typeface="Arial" panose="020B0604020202020204" pitchFamily="34" charset="0"/>
                <a:cs typeface="Arial" panose="020B0604020202020204" pitchFamily="34" charset="0"/>
              </a:defRPr>
            </a:lvl4pPr>
            <a:lvl5pPr marL="2057400" indent="-228600" defTabSz="993775" eaLnBrk="0" hangingPunct="0">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ru-RU" altLang="ru-RU" sz="3600" b="1" dirty="0"/>
              <a:t>Тестирование гипотез в статистике</a:t>
            </a:r>
          </a:p>
        </p:txBody>
      </p:sp>
      <p:sp>
        <p:nvSpPr>
          <p:cNvPr id="2" name="Номер слайда 1"/>
          <p:cNvSpPr>
            <a:spLocks noGrp="1"/>
          </p:cNvSpPr>
          <p:nvPr>
            <p:ph type="sldNum" sz="quarter" idx="12"/>
          </p:nvPr>
        </p:nvSpPr>
        <p:spPr/>
        <p:txBody>
          <a:bodyPr/>
          <a:lstStyle/>
          <a:p>
            <a:fld id="{952B6C0E-C4B9-4094-8E59-5B7DF00D5415}" type="slidenum">
              <a:rPr lang="ru-RU" sz="1400">
                <a:solidFill>
                  <a:schemeClr val="tx1"/>
                </a:solidFill>
              </a:rPr>
              <a:t>39</a:t>
            </a:fld>
            <a:endParaRPr lang="ru-RU" sz="1400">
              <a:solidFill>
                <a:schemeClr val="tx1"/>
              </a:solidFill>
            </a:endParaRPr>
          </a:p>
        </p:txBody>
      </p:sp>
    </p:spTree>
    <p:extLst>
      <p:ext uri="{BB962C8B-B14F-4D97-AF65-F5344CB8AC3E}">
        <p14:creationId xmlns:p14="http://schemas.microsoft.com/office/powerpoint/2010/main" val="32792345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4"/>
          <p:cNvSpPr>
            <a:spLocks noChangeArrowheads="1"/>
          </p:cNvSpPr>
          <p:nvPr/>
        </p:nvSpPr>
        <p:spPr bwMode="auto">
          <a:xfrm>
            <a:off x="789509" y="322263"/>
            <a:ext cx="11521279" cy="6553200"/>
          </a:xfrm>
          <a:prstGeom prst="roundRect">
            <a:avLst>
              <a:gd name="adj" fmla="val 16667"/>
            </a:avLst>
          </a:prstGeom>
          <a:solidFill>
            <a:schemeClr val="bg1">
              <a:alpha val="50195"/>
            </a:scheme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5" name="AutoShape 5"/>
          <p:cNvSpPr>
            <a:spLocks noChangeArrowheads="1"/>
          </p:cNvSpPr>
          <p:nvPr/>
        </p:nvSpPr>
        <p:spPr bwMode="auto">
          <a:xfrm>
            <a:off x="2058353" y="322264"/>
            <a:ext cx="8740268" cy="720601"/>
          </a:xfrm>
          <a:prstGeom prst="roundRect">
            <a:avLst>
              <a:gd name="adj" fmla="val 37469"/>
            </a:avLst>
          </a:prstGeom>
          <a:solidFill>
            <a:srgbClr val="FFFFFF">
              <a:alpha val="78822"/>
            </a:srgb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7" name="AutoShape 5"/>
          <p:cNvSpPr>
            <a:spLocks noChangeArrowheads="1"/>
          </p:cNvSpPr>
          <p:nvPr/>
        </p:nvSpPr>
        <p:spPr bwMode="auto">
          <a:xfrm>
            <a:off x="1870720" y="432678"/>
            <a:ext cx="8351837" cy="499771"/>
          </a:xfrm>
          <a:prstGeom prst="roundRect">
            <a:avLst>
              <a:gd name="adj" fmla="val 16667"/>
            </a:avLst>
          </a:prstGeom>
          <a:solidFill>
            <a:srgbClr val="FFFFFF">
              <a:alpha val="78822"/>
            </a:srgb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eaLnBrk="0" hangingPunct="0">
              <a:defRPr sz="2000">
                <a:solidFill>
                  <a:schemeClr val="tx1"/>
                </a:solidFill>
                <a:latin typeface="Arial" panose="020B0604020202020204" pitchFamily="34" charset="0"/>
                <a:cs typeface="Arial" panose="020B0604020202020204" pitchFamily="34" charset="0"/>
              </a:defRPr>
            </a:lvl1pPr>
            <a:lvl2pPr marL="742950" indent="-285750" defTabSz="993775" eaLnBrk="0" hangingPunct="0">
              <a:defRPr sz="2000">
                <a:solidFill>
                  <a:schemeClr val="tx1"/>
                </a:solidFill>
                <a:latin typeface="Arial" panose="020B0604020202020204" pitchFamily="34" charset="0"/>
                <a:cs typeface="Arial" panose="020B0604020202020204" pitchFamily="34" charset="0"/>
              </a:defRPr>
            </a:lvl2pPr>
            <a:lvl3pPr marL="1143000" indent="-228600" defTabSz="993775" eaLnBrk="0" hangingPunct="0">
              <a:defRPr sz="2000">
                <a:solidFill>
                  <a:schemeClr val="tx1"/>
                </a:solidFill>
                <a:latin typeface="Arial" panose="020B0604020202020204" pitchFamily="34" charset="0"/>
                <a:cs typeface="Arial" panose="020B0604020202020204" pitchFamily="34" charset="0"/>
              </a:defRPr>
            </a:lvl3pPr>
            <a:lvl4pPr marL="1600200" indent="-228600" defTabSz="993775" eaLnBrk="0" hangingPunct="0">
              <a:defRPr sz="2000">
                <a:solidFill>
                  <a:schemeClr val="tx1"/>
                </a:solidFill>
                <a:latin typeface="Arial" panose="020B0604020202020204" pitchFamily="34" charset="0"/>
                <a:cs typeface="Arial" panose="020B0604020202020204" pitchFamily="34" charset="0"/>
              </a:defRPr>
            </a:lvl4pPr>
            <a:lvl5pPr marL="2057400" indent="-228600" defTabSz="993775" eaLnBrk="0" hangingPunct="0">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ru-RU" altLang="ru-RU" sz="3600" b="1" dirty="0"/>
              <a:t>Тестирование гипотез в статистике</a:t>
            </a:r>
          </a:p>
        </p:txBody>
      </p:sp>
      <p:sp>
        <p:nvSpPr>
          <p:cNvPr id="2" name="Номер слайда 1"/>
          <p:cNvSpPr>
            <a:spLocks noGrp="1"/>
          </p:cNvSpPr>
          <p:nvPr>
            <p:ph type="sldNum" sz="quarter" idx="12"/>
          </p:nvPr>
        </p:nvSpPr>
        <p:spPr>
          <a:xfrm>
            <a:off x="11574355" y="6496054"/>
            <a:ext cx="736433" cy="379409"/>
          </a:xfrm>
        </p:spPr>
        <p:txBody>
          <a:bodyPr/>
          <a:lstStyle/>
          <a:p>
            <a:fld id="{952B6C0E-C4B9-4094-8E59-5B7DF00D5415}" type="slidenum">
              <a:rPr lang="ru-RU" sz="1400">
                <a:solidFill>
                  <a:schemeClr val="tx1"/>
                </a:solidFill>
              </a:rPr>
              <a:t>40</a:t>
            </a:fld>
            <a:endParaRPr lang="ru-RU" sz="1400" dirty="0">
              <a:solidFill>
                <a:schemeClr val="tx1"/>
              </a:solidFill>
            </a:endParaRPr>
          </a:p>
        </p:txBody>
      </p:sp>
      <p:sp>
        <p:nvSpPr>
          <p:cNvPr id="8" name="Rectangle 1"/>
          <p:cNvSpPr>
            <a:spLocks noChangeArrowheads="1"/>
          </p:cNvSpPr>
          <p:nvPr/>
        </p:nvSpPr>
        <p:spPr bwMode="auto">
          <a:xfrm>
            <a:off x="1272065" y="1355745"/>
            <a:ext cx="10512760" cy="41549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hangingPunct="0"/>
            <a:r>
              <a:rPr lang="ru-RU" altLang="ru-RU" sz="2400" dirty="0"/>
              <a:t>Допустим, что на предприятии о качестве продукции судят по результатам выборочного контроля. Если выборочная доля брака не превышает заранее установленной величины </a:t>
            </a:r>
            <a:r>
              <a:rPr lang="ru-RU" altLang="ru-RU" sz="2400" i="1" dirty="0"/>
              <a:t>p</a:t>
            </a:r>
            <a:r>
              <a:rPr lang="ru-RU" altLang="ru-RU" sz="2400" i="1" baseline="-30000" dirty="0"/>
              <a:t>0</a:t>
            </a:r>
            <a:r>
              <a:rPr lang="ru-RU" altLang="ru-RU" sz="2400" dirty="0"/>
              <a:t>, то партия принимается.</a:t>
            </a:r>
          </a:p>
          <a:p>
            <a:pPr eaLnBrk="0" hangingPunct="0"/>
            <a:endParaRPr lang="ru-RU" altLang="ru-RU" sz="2400" dirty="0"/>
          </a:p>
          <a:p>
            <a:pPr eaLnBrk="0" hangingPunct="0"/>
            <a:r>
              <a:rPr lang="ru-RU" altLang="ru-RU" sz="2400" dirty="0"/>
              <a:t>Другими словами, выдвигается нулевая гипотеза: </a:t>
            </a:r>
            <a:r>
              <a:rPr lang="ru-RU" altLang="ru-RU" sz="2400" i="1" dirty="0"/>
              <a:t>Н</a:t>
            </a:r>
            <a:r>
              <a:rPr lang="ru-RU" altLang="ru-RU" sz="2400" dirty="0"/>
              <a:t> </a:t>
            </a:r>
            <a:r>
              <a:rPr lang="ru-RU" altLang="ru-RU" sz="2400" baseline="-30000" dirty="0"/>
              <a:t>0</a:t>
            </a:r>
            <a:r>
              <a:rPr lang="ru-RU" altLang="ru-RU" sz="2400" dirty="0"/>
              <a:t>: </a:t>
            </a:r>
            <a:r>
              <a:rPr lang="ru-RU" altLang="ru-RU" sz="2400" i="1" dirty="0"/>
              <a:t>p</a:t>
            </a:r>
            <a:r>
              <a:rPr lang="ru-RU" altLang="ru-RU" sz="2400" dirty="0"/>
              <a:t> </a:t>
            </a:r>
            <a:r>
              <a:rPr lang="ru-RU" altLang="ru-RU" sz="2400" dirty="0">
                <a:sym typeface="Symbol" panose="05050102010706020507" pitchFamily="18" charset="2"/>
              </a:rPr>
              <a:t> </a:t>
            </a:r>
            <a:r>
              <a:rPr lang="ru-RU" altLang="ru-RU" sz="1050" dirty="0"/>
              <a:t> </a:t>
            </a:r>
            <a:r>
              <a:rPr lang="ru-RU" altLang="ru-RU" sz="2400" i="1" dirty="0"/>
              <a:t>p</a:t>
            </a:r>
            <a:r>
              <a:rPr lang="ru-RU" altLang="ru-RU" sz="2400" i="1" baseline="-30000" dirty="0"/>
              <a:t>0</a:t>
            </a:r>
            <a:r>
              <a:rPr lang="ru-RU" altLang="ru-RU" sz="2400" dirty="0"/>
              <a:t>. Если при проверке этой гипотезы допущена ошибка первого рода, то мы забракуем годную продукцию. Если же совершена ошибка второго рода, то потребителю будет отправлен брак. Очевидно, что последствия ошибки второго рода здесь могут быть значительно более серьезными.</a:t>
            </a:r>
          </a:p>
        </p:txBody>
      </p:sp>
    </p:spTree>
    <p:extLst>
      <p:ext uri="{BB962C8B-B14F-4D97-AF65-F5344CB8AC3E}">
        <p14:creationId xmlns:p14="http://schemas.microsoft.com/office/powerpoint/2010/main" val="20189280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4"/>
          <p:cNvSpPr>
            <a:spLocks noChangeArrowheads="1"/>
          </p:cNvSpPr>
          <p:nvPr/>
        </p:nvSpPr>
        <p:spPr bwMode="auto">
          <a:xfrm>
            <a:off x="1438276" y="322263"/>
            <a:ext cx="10837408" cy="6553200"/>
          </a:xfrm>
          <a:prstGeom prst="roundRect">
            <a:avLst>
              <a:gd name="adj" fmla="val 16667"/>
            </a:avLst>
          </a:prstGeom>
          <a:solidFill>
            <a:schemeClr val="bg1">
              <a:alpha val="50195"/>
            </a:scheme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5" name="AutoShape 5"/>
          <p:cNvSpPr>
            <a:spLocks noChangeArrowheads="1"/>
          </p:cNvSpPr>
          <p:nvPr/>
        </p:nvSpPr>
        <p:spPr bwMode="auto">
          <a:xfrm>
            <a:off x="2058353" y="322264"/>
            <a:ext cx="8740268" cy="720601"/>
          </a:xfrm>
          <a:prstGeom prst="roundRect">
            <a:avLst>
              <a:gd name="adj" fmla="val 37469"/>
            </a:avLst>
          </a:prstGeom>
          <a:solidFill>
            <a:srgbClr val="FFFFFF">
              <a:alpha val="78822"/>
            </a:srgb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7" name="AutoShape 5"/>
          <p:cNvSpPr>
            <a:spLocks noChangeArrowheads="1"/>
          </p:cNvSpPr>
          <p:nvPr/>
        </p:nvSpPr>
        <p:spPr bwMode="auto">
          <a:xfrm>
            <a:off x="2265012" y="437539"/>
            <a:ext cx="8351837" cy="499771"/>
          </a:xfrm>
          <a:prstGeom prst="roundRect">
            <a:avLst>
              <a:gd name="adj" fmla="val 16667"/>
            </a:avLst>
          </a:prstGeom>
          <a:solidFill>
            <a:srgbClr val="FFFFFF">
              <a:alpha val="78822"/>
            </a:srgb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eaLnBrk="0" hangingPunct="0">
              <a:defRPr sz="2000">
                <a:solidFill>
                  <a:schemeClr val="tx1"/>
                </a:solidFill>
                <a:latin typeface="Arial" panose="020B0604020202020204" pitchFamily="34" charset="0"/>
                <a:cs typeface="Arial" panose="020B0604020202020204" pitchFamily="34" charset="0"/>
              </a:defRPr>
            </a:lvl1pPr>
            <a:lvl2pPr marL="742950" indent="-285750" defTabSz="993775" eaLnBrk="0" hangingPunct="0">
              <a:defRPr sz="2000">
                <a:solidFill>
                  <a:schemeClr val="tx1"/>
                </a:solidFill>
                <a:latin typeface="Arial" panose="020B0604020202020204" pitchFamily="34" charset="0"/>
                <a:cs typeface="Arial" panose="020B0604020202020204" pitchFamily="34" charset="0"/>
              </a:defRPr>
            </a:lvl2pPr>
            <a:lvl3pPr marL="1143000" indent="-228600" defTabSz="993775" eaLnBrk="0" hangingPunct="0">
              <a:defRPr sz="2000">
                <a:solidFill>
                  <a:schemeClr val="tx1"/>
                </a:solidFill>
                <a:latin typeface="Arial" panose="020B0604020202020204" pitchFamily="34" charset="0"/>
                <a:cs typeface="Arial" panose="020B0604020202020204" pitchFamily="34" charset="0"/>
              </a:defRPr>
            </a:lvl3pPr>
            <a:lvl4pPr marL="1600200" indent="-228600" defTabSz="993775" eaLnBrk="0" hangingPunct="0">
              <a:defRPr sz="2000">
                <a:solidFill>
                  <a:schemeClr val="tx1"/>
                </a:solidFill>
                <a:latin typeface="Arial" panose="020B0604020202020204" pitchFamily="34" charset="0"/>
                <a:cs typeface="Arial" panose="020B0604020202020204" pitchFamily="34" charset="0"/>
              </a:defRPr>
            </a:lvl4pPr>
            <a:lvl5pPr marL="2057400" indent="-228600" defTabSz="993775" eaLnBrk="0" hangingPunct="0">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ru-RU" altLang="ru-RU" sz="3600" b="1" dirty="0"/>
              <a:t>Тестирование гипотез в статистике</a:t>
            </a:r>
          </a:p>
        </p:txBody>
      </p:sp>
      <p:sp>
        <p:nvSpPr>
          <p:cNvPr id="2" name="Номер слайда 1"/>
          <p:cNvSpPr>
            <a:spLocks noGrp="1"/>
          </p:cNvSpPr>
          <p:nvPr>
            <p:ph type="sldNum" sz="quarter" idx="12"/>
          </p:nvPr>
        </p:nvSpPr>
        <p:spPr>
          <a:xfrm>
            <a:off x="11662717" y="6424616"/>
            <a:ext cx="815081" cy="379409"/>
          </a:xfrm>
        </p:spPr>
        <p:txBody>
          <a:bodyPr/>
          <a:lstStyle/>
          <a:p>
            <a:fld id="{952B6C0E-C4B9-4094-8E59-5B7DF00D5415}" type="slidenum">
              <a:rPr lang="ru-RU" sz="1400">
                <a:solidFill>
                  <a:schemeClr val="tx1"/>
                </a:solidFill>
              </a:rPr>
              <a:t>41</a:t>
            </a:fld>
            <a:endParaRPr lang="ru-RU" sz="1400" dirty="0">
              <a:solidFill>
                <a:schemeClr val="tx1"/>
              </a:solidFill>
            </a:endParaRPr>
          </a:p>
        </p:txBody>
      </p:sp>
      <p:sp>
        <p:nvSpPr>
          <p:cNvPr id="8" name="Rectangle 1"/>
          <p:cNvSpPr>
            <a:spLocks noChangeArrowheads="1"/>
          </p:cNvSpPr>
          <p:nvPr/>
        </p:nvSpPr>
        <p:spPr bwMode="auto">
          <a:xfrm>
            <a:off x="1077542" y="1511808"/>
            <a:ext cx="11089232" cy="47089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indent="357188" eaLnBrk="0" hangingPunct="0"/>
            <a:r>
              <a:rPr lang="ru-RU" altLang="ru-RU" dirty="0"/>
              <a:t>Другой пример можно привести из области юриспруденции. Будем рассматривать работу судей как действия по проверке презумпции невиновности подсудимого. В качестве основной проверяемой гипотезы следует рассмотреть гипотезу </a:t>
            </a:r>
            <a:r>
              <a:rPr lang="ru-RU" altLang="ru-RU" i="1" dirty="0">
                <a:solidFill>
                  <a:srgbClr val="0070C0"/>
                </a:solidFill>
              </a:rPr>
              <a:t>Н</a:t>
            </a:r>
            <a:r>
              <a:rPr lang="ru-RU" altLang="ru-RU" i="1" baseline="-30000" dirty="0">
                <a:solidFill>
                  <a:srgbClr val="0070C0"/>
                </a:solidFill>
              </a:rPr>
              <a:t>0</a:t>
            </a:r>
            <a:r>
              <a:rPr lang="ru-RU" altLang="ru-RU" dirty="0">
                <a:solidFill>
                  <a:srgbClr val="0070C0"/>
                </a:solidFill>
              </a:rPr>
              <a:t>: подсудимый невиновен. </a:t>
            </a:r>
            <a:r>
              <a:rPr lang="ru-RU" altLang="ru-RU" dirty="0"/>
              <a:t>Тогда альтернативной гипотезой </a:t>
            </a:r>
            <a:r>
              <a:rPr lang="ru-RU" altLang="ru-RU" i="1" dirty="0"/>
              <a:t>Н</a:t>
            </a:r>
            <a:r>
              <a:rPr lang="ru-RU" altLang="ru-RU" i="1" baseline="-30000" dirty="0"/>
              <a:t>1</a:t>
            </a:r>
            <a:r>
              <a:rPr lang="ru-RU" altLang="ru-RU" dirty="0"/>
              <a:t> является гипотеза: обвиняемый виновен в совершении преступления. </a:t>
            </a:r>
          </a:p>
          <a:p>
            <a:pPr indent="357188" eaLnBrk="0" hangingPunct="0"/>
            <a:r>
              <a:rPr lang="ru-RU" altLang="ru-RU" dirty="0"/>
              <a:t>Очевидно, что суд может совершить ошибки первого или второго рода при вынесении приговора подсудимому.</a:t>
            </a:r>
          </a:p>
          <a:p>
            <a:pPr indent="357188" eaLnBrk="0" hangingPunct="0"/>
            <a:r>
              <a:rPr lang="ru-RU" altLang="ru-RU" dirty="0"/>
              <a:t>Если допущена ошибка первого рода, то это означает, что суд наказал невиновного: подсудимому был вынесен обвинительный приговор, когда на самом деле он не совершал преступления. Если же судьи допустили ошибку второго рода, то это значит, что суд вынес оправдательный приговор, когда на самом деле обвиняемый виновен в совершении преступления. </a:t>
            </a:r>
          </a:p>
          <a:p>
            <a:pPr indent="357188" eaLnBrk="0" hangingPunct="0"/>
            <a:r>
              <a:rPr lang="ru-RU" altLang="ru-RU" dirty="0">
                <a:solidFill>
                  <a:srgbClr val="0070C0"/>
                </a:solidFill>
              </a:rPr>
              <a:t>Очевидно, что последствия ошибки первого рода для обвиняемого будут значительно более серьезными, в то время как для общества наиболее опасными являются последствия ошибки второго рода.</a:t>
            </a:r>
          </a:p>
        </p:txBody>
      </p:sp>
    </p:spTree>
    <p:extLst>
      <p:ext uri="{BB962C8B-B14F-4D97-AF65-F5344CB8AC3E}">
        <p14:creationId xmlns:p14="http://schemas.microsoft.com/office/powerpoint/2010/main" val="112959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4"/>
          <p:cNvSpPr>
            <a:spLocks noChangeArrowheads="1"/>
          </p:cNvSpPr>
          <p:nvPr/>
        </p:nvSpPr>
        <p:spPr bwMode="auto">
          <a:xfrm>
            <a:off x="1438275" y="322263"/>
            <a:ext cx="10872513" cy="6553200"/>
          </a:xfrm>
          <a:prstGeom prst="roundRect">
            <a:avLst>
              <a:gd name="adj" fmla="val 16667"/>
            </a:avLst>
          </a:prstGeom>
          <a:solidFill>
            <a:schemeClr val="bg1">
              <a:alpha val="50195"/>
            </a:scheme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5" name="AutoShape 5"/>
          <p:cNvSpPr>
            <a:spLocks noChangeArrowheads="1"/>
          </p:cNvSpPr>
          <p:nvPr/>
        </p:nvSpPr>
        <p:spPr bwMode="auto">
          <a:xfrm>
            <a:off x="2058353" y="322264"/>
            <a:ext cx="8740268" cy="720601"/>
          </a:xfrm>
          <a:prstGeom prst="roundRect">
            <a:avLst>
              <a:gd name="adj" fmla="val 37469"/>
            </a:avLst>
          </a:prstGeom>
          <a:solidFill>
            <a:srgbClr val="FFFFFF">
              <a:alpha val="78822"/>
            </a:srgb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7" name="AutoShape 5"/>
          <p:cNvSpPr>
            <a:spLocks noChangeArrowheads="1"/>
          </p:cNvSpPr>
          <p:nvPr/>
        </p:nvSpPr>
        <p:spPr bwMode="auto">
          <a:xfrm>
            <a:off x="2265012" y="437539"/>
            <a:ext cx="8351837" cy="499771"/>
          </a:xfrm>
          <a:prstGeom prst="roundRect">
            <a:avLst>
              <a:gd name="adj" fmla="val 16667"/>
            </a:avLst>
          </a:prstGeom>
          <a:solidFill>
            <a:srgbClr val="FFFFFF">
              <a:alpha val="78822"/>
            </a:srgb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eaLnBrk="0" hangingPunct="0">
              <a:defRPr sz="2000">
                <a:solidFill>
                  <a:schemeClr val="tx1"/>
                </a:solidFill>
                <a:latin typeface="Arial" panose="020B0604020202020204" pitchFamily="34" charset="0"/>
                <a:cs typeface="Arial" panose="020B0604020202020204" pitchFamily="34" charset="0"/>
              </a:defRPr>
            </a:lvl1pPr>
            <a:lvl2pPr marL="742950" indent="-285750" defTabSz="993775" eaLnBrk="0" hangingPunct="0">
              <a:defRPr sz="2000">
                <a:solidFill>
                  <a:schemeClr val="tx1"/>
                </a:solidFill>
                <a:latin typeface="Arial" panose="020B0604020202020204" pitchFamily="34" charset="0"/>
                <a:cs typeface="Arial" panose="020B0604020202020204" pitchFamily="34" charset="0"/>
              </a:defRPr>
            </a:lvl2pPr>
            <a:lvl3pPr marL="1143000" indent="-228600" defTabSz="993775" eaLnBrk="0" hangingPunct="0">
              <a:defRPr sz="2000">
                <a:solidFill>
                  <a:schemeClr val="tx1"/>
                </a:solidFill>
                <a:latin typeface="Arial" panose="020B0604020202020204" pitchFamily="34" charset="0"/>
                <a:cs typeface="Arial" panose="020B0604020202020204" pitchFamily="34" charset="0"/>
              </a:defRPr>
            </a:lvl3pPr>
            <a:lvl4pPr marL="1600200" indent="-228600" defTabSz="993775" eaLnBrk="0" hangingPunct="0">
              <a:defRPr sz="2000">
                <a:solidFill>
                  <a:schemeClr val="tx1"/>
                </a:solidFill>
                <a:latin typeface="Arial" panose="020B0604020202020204" pitchFamily="34" charset="0"/>
                <a:cs typeface="Arial" panose="020B0604020202020204" pitchFamily="34" charset="0"/>
              </a:defRPr>
            </a:lvl4pPr>
            <a:lvl5pPr marL="2057400" indent="-228600" defTabSz="993775" eaLnBrk="0" hangingPunct="0">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ru-RU" altLang="ru-RU" sz="3600" b="1" dirty="0"/>
              <a:t>Тестирование гипотез в статистике</a:t>
            </a:r>
          </a:p>
        </p:txBody>
      </p:sp>
      <p:sp>
        <p:nvSpPr>
          <p:cNvPr id="2" name="Номер слайда 1"/>
          <p:cNvSpPr>
            <a:spLocks noGrp="1"/>
          </p:cNvSpPr>
          <p:nvPr>
            <p:ph type="sldNum" sz="quarter" idx="12"/>
          </p:nvPr>
        </p:nvSpPr>
        <p:spPr>
          <a:xfrm>
            <a:off x="11648149" y="6512253"/>
            <a:ext cx="736433" cy="379409"/>
          </a:xfrm>
        </p:spPr>
        <p:txBody>
          <a:bodyPr/>
          <a:lstStyle/>
          <a:p>
            <a:fld id="{952B6C0E-C4B9-4094-8E59-5B7DF00D5415}" type="slidenum">
              <a:rPr lang="ru-RU" sz="1400">
                <a:solidFill>
                  <a:schemeClr val="tx1"/>
                </a:solidFill>
              </a:rPr>
              <a:t>42</a:t>
            </a:fld>
            <a:endParaRPr lang="ru-RU" sz="1400" dirty="0">
              <a:solidFill>
                <a:schemeClr val="tx1"/>
              </a:solidFill>
            </a:endParaRPr>
          </a:p>
        </p:txBody>
      </p:sp>
      <p:sp>
        <p:nvSpPr>
          <p:cNvPr id="8" name="Rectangle 1"/>
          <p:cNvSpPr>
            <a:spLocks noChangeArrowheads="1"/>
          </p:cNvSpPr>
          <p:nvPr/>
        </p:nvSpPr>
        <p:spPr bwMode="auto">
          <a:xfrm>
            <a:off x="1077541" y="1552149"/>
            <a:ext cx="11233247" cy="40934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ru-RU" b="1" dirty="0"/>
              <a:t>Вредоносное программное обеспечение</a:t>
            </a:r>
          </a:p>
          <a:p>
            <a:r>
              <a:rPr lang="ru-RU" dirty="0"/>
              <a:t>Понятие </a:t>
            </a:r>
            <a:r>
              <a:rPr lang="ru-RU" i="1" dirty="0"/>
              <a:t>ошибки первого рода</a:t>
            </a:r>
            <a:r>
              <a:rPr lang="ru-RU" dirty="0"/>
              <a:t> также используется, когда антивирусное  программное обеспечение ошибочно классифицирует безвредный файл как вирус. Неверное обнаружение может быть вызвано особенностями эвристики, либо неправильной сигнатурой вируса в базе данных. Подобные проблемы могут происходить также и с </a:t>
            </a:r>
            <a:r>
              <a:rPr lang="ru-RU" dirty="0" err="1"/>
              <a:t>антитроянскими</a:t>
            </a:r>
            <a:r>
              <a:rPr lang="ru-RU" dirty="0"/>
              <a:t> и антишпионскими программами.</a:t>
            </a:r>
            <a:endParaRPr lang="en-US" dirty="0"/>
          </a:p>
          <a:p>
            <a:endParaRPr lang="en-US" dirty="0"/>
          </a:p>
          <a:p>
            <a:r>
              <a:rPr lang="ru-RU" i="1" dirty="0"/>
              <a:t>Ошибки второго рода</a:t>
            </a:r>
            <a:r>
              <a:rPr lang="ru-RU" dirty="0"/>
              <a:t> являются существенной проблемой </a:t>
            </a:r>
            <a:r>
              <a:rPr lang="ru-RU" b="1" dirty="0"/>
              <a:t>в медицинском тестировании</a:t>
            </a:r>
            <a:r>
              <a:rPr lang="ru-RU" dirty="0"/>
              <a:t>. Они дают пациенту и врачу ложное убеждение, что заболевание отсутствует, в то время как в действительности оно есть. Это зачастую приводит к неуместному или неадекватному лечению. Типичным примером является доверие результатам велоэргометрии при выявлении коронарного атеросклероза, хотя известно, что велоэргометрия выявляет только те затруднения кровотока в коронарной артерии, которые вызваны стенозом.</a:t>
            </a:r>
          </a:p>
        </p:txBody>
      </p:sp>
    </p:spTree>
    <p:extLst>
      <p:ext uri="{BB962C8B-B14F-4D97-AF65-F5344CB8AC3E}">
        <p14:creationId xmlns:p14="http://schemas.microsoft.com/office/powerpoint/2010/main" val="11476252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4"/>
          <p:cNvSpPr>
            <a:spLocks noChangeArrowheads="1"/>
          </p:cNvSpPr>
          <p:nvPr/>
        </p:nvSpPr>
        <p:spPr bwMode="auto">
          <a:xfrm>
            <a:off x="1438275" y="322263"/>
            <a:ext cx="10656489" cy="6553200"/>
          </a:xfrm>
          <a:prstGeom prst="roundRect">
            <a:avLst>
              <a:gd name="adj" fmla="val 16667"/>
            </a:avLst>
          </a:prstGeom>
          <a:solidFill>
            <a:schemeClr val="bg1">
              <a:alpha val="50195"/>
            </a:scheme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5" name="AutoShape 5"/>
          <p:cNvSpPr>
            <a:spLocks noChangeArrowheads="1"/>
          </p:cNvSpPr>
          <p:nvPr/>
        </p:nvSpPr>
        <p:spPr bwMode="auto">
          <a:xfrm>
            <a:off x="2157661" y="322264"/>
            <a:ext cx="8450740" cy="720601"/>
          </a:xfrm>
          <a:prstGeom prst="roundRect">
            <a:avLst>
              <a:gd name="adj" fmla="val 37469"/>
            </a:avLst>
          </a:prstGeom>
          <a:solidFill>
            <a:srgbClr val="FFFFFF">
              <a:alpha val="78822"/>
            </a:srgb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2" name="Заголовок 1"/>
          <p:cNvSpPr txBox="1">
            <a:spLocks noGrp="1"/>
          </p:cNvSpPr>
          <p:nvPr>
            <p:ph type="title" idx="4294967295"/>
          </p:nvPr>
        </p:nvSpPr>
        <p:spPr>
          <a:xfrm>
            <a:off x="1195388" y="288925"/>
            <a:ext cx="8548688" cy="1182688"/>
          </a:xfrm>
          <a:prstGeom prst="rect">
            <a:avLst/>
          </a:prstGeom>
        </p:spPr>
        <p:txBody>
          <a:bodyPr/>
          <a:lstStyle/>
          <a:p>
            <a:pPr lvl="0"/>
            <a:r>
              <a:rPr lang="ru-RU" sz="4000" dirty="0"/>
              <a:t>Гипотеза: нужна срочная операция</a:t>
            </a:r>
          </a:p>
        </p:txBody>
      </p:sp>
      <p:graphicFrame>
        <p:nvGraphicFramePr>
          <p:cNvPr id="3" name="Таблица 2"/>
          <p:cNvGraphicFramePr>
            <a:graphicFrameLocks noGrp="1"/>
          </p:cNvGraphicFramePr>
          <p:nvPr>
            <p:ph type="tbl" idx="4294967295"/>
            <p:extLst>
              <p:ext uri="{D42A27DB-BD31-4B8C-83A1-F6EECF244321}">
                <p14:modId xmlns:p14="http://schemas.microsoft.com/office/powerpoint/2010/main" val="116179116"/>
              </p:ext>
            </p:extLst>
          </p:nvPr>
        </p:nvGraphicFramePr>
        <p:xfrm>
          <a:off x="1869629" y="2941682"/>
          <a:ext cx="8425106" cy="3213750"/>
        </p:xfrm>
        <a:graphic>
          <a:graphicData uri="http://schemas.openxmlformats.org/drawingml/2006/table">
            <a:tbl>
              <a:tblPr firstRow="1" bandRow="1"/>
              <a:tblGrid>
                <a:gridCol w="2808618">
                  <a:extLst>
                    <a:ext uri="{9D8B030D-6E8A-4147-A177-3AD203B41FA5}">
                      <a16:colId xmlns:a16="http://schemas.microsoft.com/office/drawing/2014/main" val="20000"/>
                    </a:ext>
                  </a:extLst>
                </a:gridCol>
                <a:gridCol w="2808618">
                  <a:extLst>
                    <a:ext uri="{9D8B030D-6E8A-4147-A177-3AD203B41FA5}">
                      <a16:colId xmlns:a16="http://schemas.microsoft.com/office/drawing/2014/main" val="20001"/>
                    </a:ext>
                  </a:extLst>
                </a:gridCol>
                <a:gridCol w="2807870">
                  <a:extLst>
                    <a:ext uri="{9D8B030D-6E8A-4147-A177-3AD203B41FA5}">
                      <a16:colId xmlns:a16="http://schemas.microsoft.com/office/drawing/2014/main" val="20002"/>
                    </a:ext>
                  </a:extLst>
                </a:gridCol>
              </a:tblGrid>
              <a:tr h="1071001">
                <a:tc>
                  <a:txBody>
                    <a:bodyPr/>
                    <a:lstStyle/>
                    <a:p>
                      <a:pPr marL="0" marR="0" indent="0" algn="l" rtl="0" hangingPunct="1">
                        <a:lnSpc>
                          <a:spcPct val="100000"/>
                        </a:lnSpc>
                        <a:spcBef>
                          <a:spcPts val="0"/>
                        </a:spcBef>
                        <a:spcAft>
                          <a:spcPts val="0"/>
                        </a:spcAft>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endParaRPr lang="ru-RU" sz="1900" b="0" i="0" u="none" strike="noStrike" cap="none" baseline="0">
                        <a:ln>
                          <a:noFill/>
                        </a:ln>
                        <a:solidFill>
                          <a:srgbClr val="000000"/>
                        </a:solidFill>
                        <a:latin typeface="Arial" pitchFamily="2"/>
                        <a:cs typeface="Arial" pitchFamily="2"/>
                      </a:endParaRPr>
                    </a:p>
                  </a:txBody>
                  <a:tcPr marL="95017" marR="95017" marT="47509" marB="47509"/>
                </a:tc>
                <a:tc>
                  <a:txBody>
                    <a:bodyPr/>
                    <a:lstStyle/>
                    <a:p>
                      <a:pPr marL="0" marR="0" lvl="0" indent="0" algn="ctr" rtl="0" hangingPunct="1">
                        <a:lnSpc>
                          <a:spcPct val="100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endParaRPr lang="ru-RU" sz="1900" b="0" i="0" u="none" strike="noStrike" cap="none" baseline="0" dirty="0">
                        <a:ln>
                          <a:noFill/>
                        </a:ln>
                        <a:solidFill>
                          <a:srgbClr val="000000"/>
                        </a:solidFill>
                        <a:latin typeface="Arial" pitchFamily="2"/>
                        <a:ea typeface="Arial" pitchFamily="2"/>
                        <a:cs typeface="Arial" pitchFamily="2"/>
                      </a:endParaRPr>
                    </a:p>
                    <a:p>
                      <a:pPr marL="0" marR="0" lvl="0" indent="0" algn="ctr" rtl="0" hangingPunct="1">
                        <a:lnSpc>
                          <a:spcPct val="100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r>
                        <a:rPr lang="ru-RU" sz="1900" b="0" i="0" u="none" strike="noStrike" cap="none" baseline="0" dirty="0">
                          <a:ln>
                            <a:noFill/>
                          </a:ln>
                          <a:solidFill>
                            <a:srgbClr val="000000"/>
                          </a:solidFill>
                          <a:latin typeface="Arial" pitchFamily="2"/>
                          <a:ea typeface="Arial" pitchFamily="2"/>
                          <a:cs typeface="Arial" pitchFamily="2"/>
                        </a:rPr>
                        <a:t>Гипотеза верна</a:t>
                      </a:r>
                    </a:p>
                  </a:txBody>
                  <a:tcPr marL="95017" marR="95017" marT="47509" marB="47509"/>
                </a:tc>
                <a:tc>
                  <a:txBody>
                    <a:bodyPr/>
                    <a:lstStyle/>
                    <a:p>
                      <a:pPr marL="0" marR="0" lvl="0" indent="0" algn="ctr" rtl="0" hangingPunct="1">
                        <a:lnSpc>
                          <a:spcPct val="100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endParaRPr lang="ru-RU" sz="1900" b="0" i="0" u="none" strike="noStrike" cap="none" baseline="0">
                        <a:ln>
                          <a:noFill/>
                        </a:ln>
                        <a:solidFill>
                          <a:srgbClr val="000000"/>
                        </a:solidFill>
                        <a:latin typeface="Arial" pitchFamily="2"/>
                        <a:ea typeface="Arial" pitchFamily="2"/>
                        <a:cs typeface="Arial" pitchFamily="2"/>
                      </a:endParaRPr>
                    </a:p>
                    <a:p>
                      <a:pPr marL="0" marR="0" lvl="0" indent="0" algn="ctr" rtl="0" hangingPunct="1">
                        <a:lnSpc>
                          <a:spcPct val="100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r>
                        <a:rPr lang="ru-RU" sz="1900" b="0" i="0" u="none" strike="noStrike" cap="none" baseline="0">
                          <a:ln>
                            <a:noFill/>
                          </a:ln>
                          <a:solidFill>
                            <a:srgbClr val="000000"/>
                          </a:solidFill>
                          <a:latin typeface="Arial" pitchFamily="2"/>
                          <a:ea typeface="Arial" pitchFamily="2"/>
                          <a:cs typeface="Arial" pitchFamily="2"/>
                        </a:rPr>
                        <a:t>Гипотеза не верна</a:t>
                      </a:r>
                    </a:p>
                  </a:txBody>
                  <a:tcPr marL="95017" marR="95017" marT="47509" marB="47509"/>
                </a:tc>
                <a:extLst>
                  <a:ext uri="{0D108BD9-81ED-4DB2-BD59-A6C34878D82A}">
                    <a16:rowId xmlns:a16="http://schemas.microsoft.com/office/drawing/2014/main" val="10000"/>
                  </a:ext>
                </a:extLst>
              </a:tr>
              <a:tr h="1071001">
                <a:tc>
                  <a:txBody>
                    <a:bodyPr/>
                    <a:lstStyle/>
                    <a:p>
                      <a:pPr marL="0" marR="0" lvl="0" indent="0" algn="ctr" rtl="0" hangingPunct="1">
                        <a:lnSpc>
                          <a:spcPct val="100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endParaRPr lang="ru-RU" sz="1900" b="0" i="0" u="none" strike="noStrike" cap="none" baseline="0" dirty="0">
                        <a:ln>
                          <a:noFill/>
                        </a:ln>
                        <a:solidFill>
                          <a:srgbClr val="000000"/>
                        </a:solidFill>
                        <a:latin typeface="Arial" pitchFamily="2"/>
                        <a:ea typeface="Arial" pitchFamily="2"/>
                        <a:cs typeface="Arial" pitchFamily="2"/>
                      </a:endParaRPr>
                    </a:p>
                    <a:p>
                      <a:pPr marL="0" marR="0" lvl="0" indent="0" algn="ctr" rtl="0" hangingPunct="1">
                        <a:lnSpc>
                          <a:spcPct val="100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r>
                        <a:rPr lang="ru-RU" sz="1900" b="0" i="0" u="none" strike="noStrike" cap="none" baseline="0" dirty="0">
                          <a:ln>
                            <a:noFill/>
                          </a:ln>
                          <a:solidFill>
                            <a:srgbClr val="000000"/>
                          </a:solidFill>
                          <a:latin typeface="Arial" pitchFamily="2"/>
                          <a:ea typeface="Arial" pitchFamily="2"/>
                          <a:cs typeface="Arial" pitchFamily="2"/>
                        </a:rPr>
                        <a:t>Гипотеза не отвергается</a:t>
                      </a:r>
                    </a:p>
                  </a:txBody>
                  <a:tcPr marL="95017" marR="95017" marT="47509" marB="47509"/>
                </a:tc>
                <a:tc>
                  <a:txBody>
                    <a:bodyPr/>
                    <a:lstStyle/>
                    <a:p>
                      <a:pPr marL="0" marR="0" lvl="0" indent="0" algn="ctr" rtl="0" hangingPunct="1">
                        <a:lnSpc>
                          <a:spcPct val="100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endParaRPr lang="ru-RU" sz="1900" b="0" i="0" u="none" strike="noStrike" cap="none" baseline="0" dirty="0">
                        <a:ln>
                          <a:noFill/>
                        </a:ln>
                        <a:solidFill>
                          <a:srgbClr val="000000"/>
                        </a:solidFill>
                        <a:latin typeface="Arial" pitchFamily="2"/>
                        <a:ea typeface="Arial" pitchFamily="2"/>
                        <a:cs typeface="Arial" pitchFamily="2"/>
                      </a:endParaRPr>
                    </a:p>
                    <a:p>
                      <a:pPr marL="0" marR="0" lvl="0" indent="0" algn="ctr" rtl="0" hangingPunct="1">
                        <a:lnSpc>
                          <a:spcPct val="100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r>
                        <a:rPr lang="ru-RU" sz="2500" b="1" i="0" u="none" strike="noStrike" cap="none" baseline="0" dirty="0">
                          <a:ln>
                            <a:noFill/>
                          </a:ln>
                          <a:solidFill>
                            <a:srgbClr val="000000"/>
                          </a:solidFill>
                          <a:latin typeface="Arial" pitchFamily="2"/>
                          <a:ea typeface="Arial" pitchFamily="2"/>
                          <a:cs typeface="Arial" pitchFamily="2"/>
                        </a:rPr>
                        <a:t>+</a:t>
                      </a:r>
                    </a:p>
                  </a:txBody>
                  <a:tcPr marL="95017" marR="95017" marT="47509" marB="47509"/>
                </a:tc>
                <a:tc>
                  <a:txBody>
                    <a:bodyPr/>
                    <a:lstStyle/>
                    <a:p>
                      <a:pPr marL="0" marR="0" lvl="0" indent="0" algn="ctr" rtl="0" hangingPunct="1">
                        <a:lnSpc>
                          <a:spcPct val="100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endParaRPr lang="ru-RU" sz="1900" b="0" i="0" u="none" strike="noStrike" cap="none" baseline="0" dirty="0">
                        <a:ln>
                          <a:noFill/>
                        </a:ln>
                        <a:solidFill>
                          <a:srgbClr val="000000"/>
                        </a:solidFill>
                        <a:latin typeface="Arial" pitchFamily="2"/>
                        <a:ea typeface="Arial" pitchFamily="2"/>
                        <a:cs typeface="Arial" pitchFamily="2"/>
                      </a:endParaRPr>
                    </a:p>
                  </a:txBody>
                  <a:tcPr marL="95017" marR="95017" marT="47509" marB="47509"/>
                </a:tc>
                <a:extLst>
                  <a:ext uri="{0D108BD9-81ED-4DB2-BD59-A6C34878D82A}">
                    <a16:rowId xmlns:a16="http://schemas.microsoft.com/office/drawing/2014/main" val="10001"/>
                  </a:ext>
                </a:extLst>
              </a:tr>
              <a:tr h="1071748">
                <a:tc>
                  <a:txBody>
                    <a:bodyPr/>
                    <a:lstStyle/>
                    <a:p>
                      <a:pPr marL="0" marR="0" lvl="0" indent="0" algn="ctr" rtl="0" hangingPunct="1">
                        <a:lnSpc>
                          <a:spcPct val="100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endParaRPr lang="ru-RU" sz="1900" b="0" i="0" u="none" strike="noStrike" cap="none" baseline="0">
                        <a:ln>
                          <a:noFill/>
                        </a:ln>
                        <a:solidFill>
                          <a:srgbClr val="000000"/>
                        </a:solidFill>
                        <a:latin typeface="Arial" pitchFamily="2"/>
                        <a:ea typeface="Arial" pitchFamily="2"/>
                        <a:cs typeface="Arial" pitchFamily="2"/>
                      </a:endParaRPr>
                    </a:p>
                    <a:p>
                      <a:pPr marL="0" marR="0" lvl="0" indent="0" algn="ctr" rtl="0" hangingPunct="1">
                        <a:lnSpc>
                          <a:spcPct val="100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r>
                        <a:rPr lang="ru-RU" sz="1900" b="0" i="0" u="none" strike="noStrike" cap="none" baseline="0">
                          <a:ln>
                            <a:noFill/>
                          </a:ln>
                          <a:solidFill>
                            <a:srgbClr val="000000"/>
                          </a:solidFill>
                          <a:latin typeface="Arial" pitchFamily="2"/>
                          <a:ea typeface="Arial" pitchFamily="2"/>
                          <a:cs typeface="Arial" pitchFamily="2"/>
                        </a:rPr>
                        <a:t>Гипотеза отвергнута</a:t>
                      </a:r>
                    </a:p>
                  </a:txBody>
                  <a:tcPr marL="95017" marR="95017" marT="47509" marB="47509"/>
                </a:tc>
                <a:tc>
                  <a:txBody>
                    <a:bodyPr/>
                    <a:lstStyle/>
                    <a:p>
                      <a:pPr marL="0" marR="0" lvl="0" indent="0" algn="ctr" rtl="0" hangingPunct="1">
                        <a:lnSpc>
                          <a:spcPct val="100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endParaRPr lang="ru-RU" sz="1900" b="0" i="0" u="none" strike="noStrike" cap="none" baseline="0" dirty="0">
                        <a:ln>
                          <a:noFill/>
                        </a:ln>
                        <a:solidFill>
                          <a:srgbClr val="000000"/>
                        </a:solidFill>
                        <a:latin typeface="Arial" pitchFamily="2"/>
                        <a:ea typeface="Arial" pitchFamily="2"/>
                        <a:cs typeface="Arial" pitchFamily="2"/>
                      </a:endParaRPr>
                    </a:p>
                  </a:txBody>
                  <a:tcPr marL="95017" marR="95017" marT="47509" marB="47509"/>
                </a:tc>
                <a:tc>
                  <a:txBody>
                    <a:bodyPr/>
                    <a:lstStyle/>
                    <a:p>
                      <a:pPr marL="0" marR="0" lvl="0" indent="0" algn="ctr" rtl="0" hangingPunct="1">
                        <a:lnSpc>
                          <a:spcPct val="100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endParaRPr lang="ru-RU" sz="1900" b="0" i="0" u="none" strike="noStrike" cap="none" baseline="0" dirty="0">
                        <a:ln>
                          <a:noFill/>
                        </a:ln>
                        <a:solidFill>
                          <a:srgbClr val="000000"/>
                        </a:solidFill>
                        <a:latin typeface="Arial" pitchFamily="2"/>
                        <a:ea typeface="Arial" pitchFamily="2"/>
                        <a:cs typeface="Arial" pitchFamily="2"/>
                      </a:endParaRPr>
                    </a:p>
                    <a:p>
                      <a:pPr marL="0" marR="0" lvl="0" indent="0" algn="ctr" rtl="0" hangingPunct="1">
                        <a:lnSpc>
                          <a:spcPct val="100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r>
                        <a:rPr lang="ru-RU" sz="2500" b="1" i="0" u="none" strike="noStrike" cap="none" baseline="0" dirty="0">
                          <a:ln>
                            <a:noFill/>
                          </a:ln>
                          <a:solidFill>
                            <a:srgbClr val="000000"/>
                          </a:solidFill>
                          <a:latin typeface="Arial" pitchFamily="2"/>
                          <a:ea typeface="Arial" pitchFamily="2"/>
                          <a:cs typeface="Arial" pitchFamily="2"/>
                        </a:rPr>
                        <a:t>+</a:t>
                      </a:r>
                    </a:p>
                  </a:txBody>
                  <a:tcPr marL="95017" marR="95017" marT="47509" marB="47509"/>
                </a:tc>
                <a:extLst>
                  <a:ext uri="{0D108BD9-81ED-4DB2-BD59-A6C34878D82A}">
                    <a16:rowId xmlns:a16="http://schemas.microsoft.com/office/drawing/2014/main" val="10002"/>
                  </a:ext>
                </a:extLst>
              </a:tr>
            </a:tbl>
          </a:graphicData>
        </a:graphic>
      </p:graphicFrame>
      <p:sp>
        <p:nvSpPr>
          <p:cNvPr id="7" name="Прямоугольник 6"/>
          <p:cNvSpPr/>
          <p:nvPr/>
        </p:nvSpPr>
        <p:spPr>
          <a:xfrm>
            <a:off x="4812881" y="4164378"/>
            <a:ext cx="2945591" cy="707886"/>
          </a:xfrm>
          <a:prstGeom prst="rect">
            <a:avLst/>
          </a:prstGeom>
        </p:spPr>
        <p:txBody>
          <a:bodyPr wrap="square">
            <a:spAutoFit/>
          </a:bodyPr>
          <a:lstStyle/>
          <a:p>
            <a:r>
              <a:rPr lang="ru-RU" dirty="0">
                <a:solidFill>
                  <a:srgbClr val="0070C0"/>
                </a:solidFill>
                <a:latin typeface="Arial" pitchFamily="2"/>
                <a:ea typeface="Arial" pitchFamily="2"/>
                <a:cs typeface="Arial" pitchFamily="2"/>
              </a:rPr>
              <a:t>Риск операции ниже риска заболевания</a:t>
            </a:r>
            <a:endParaRPr lang="ru-RU" dirty="0">
              <a:solidFill>
                <a:srgbClr val="0070C0"/>
              </a:solidFill>
            </a:endParaRPr>
          </a:p>
        </p:txBody>
      </p:sp>
      <p:sp>
        <p:nvSpPr>
          <p:cNvPr id="8" name="Прямоугольник 7"/>
          <p:cNvSpPr/>
          <p:nvPr/>
        </p:nvSpPr>
        <p:spPr>
          <a:xfrm>
            <a:off x="7601111" y="5179398"/>
            <a:ext cx="2837641" cy="707886"/>
          </a:xfrm>
          <a:prstGeom prst="rect">
            <a:avLst/>
          </a:prstGeom>
        </p:spPr>
        <p:txBody>
          <a:bodyPr wrap="square">
            <a:spAutoFit/>
          </a:bodyPr>
          <a:lstStyle/>
          <a:p>
            <a:r>
              <a:rPr lang="ru-RU" dirty="0">
                <a:solidFill>
                  <a:srgbClr val="0070C0"/>
                </a:solidFill>
                <a:latin typeface="Arial" pitchFamily="2"/>
                <a:ea typeface="Arial" pitchFamily="2"/>
                <a:cs typeface="Arial" pitchFamily="2"/>
              </a:rPr>
              <a:t>Риск операции выше риска заболевания</a:t>
            </a:r>
            <a:endParaRPr lang="ru-RU" dirty="0">
              <a:solidFill>
                <a:srgbClr val="0070C0"/>
              </a:solidFill>
            </a:endParaRPr>
          </a:p>
        </p:txBody>
      </p:sp>
      <p:sp>
        <p:nvSpPr>
          <p:cNvPr id="9" name="Прямоугольник 8"/>
          <p:cNvSpPr/>
          <p:nvPr/>
        </p:nvSpPr>
        <p:spPr>
          <a:xfrm>
            <a:off x="4740615" y="5344059"/>
            <a:ext cx="2711406" cy="707886"/>
          </a:xfrm>
          <a:prstGeom prst="rect">
            <a:avLst/>
          </a:prstGeom>
        </p:spPr>
        <p:txBody>
          <a:bodyPr wrap="square">
            <a:spAutoFit/>
          </a:bodyPr>
          <a:lstStyle/>
          <a:p>
            <a:r>
              <a:rPr lang="ru-RU" dirty="0">
                <a:solidFill>
                  <a:srgbClr val="FF0000"/>
                </a:solidFill>
                <a:latin typeface="Arial" pitchFamily="2"/>
                <a:ea typeface="Arial" pitchFamily="2"/>
                <a:cs typeface="Arial" pitchFamily="2"/>
              </a:rPr>
              <a:t>Не делает операцию и пациент умирает </a:t>
            </a:r>
            <a:endParaRPr lang="ru-RU" dirty="0">
              <a:solidFill>
                <a:srgbClr val="FF0000"/>
              </a:solidFill>
            </a:endParaRPr>
          </a:p>
        </p:txBody>
      </p:sp>
      <p:sp>
        <p:nvSpPr>
          <p:cNvPr id="10" name="Прямоугольник 9"/>
          <p:cNvSpPr/>
          <p:nvPr/>
        </p:nvSpPr>
        <p:spPr>
          <a:xfrm>
            <a:off x="7667922" y="4147067"/>
            <a:ext cx="2589929" cy="1015663"/>
          </a:xfrm>
          <a:prstGeom prst="rect">
            <a:avLst/>
          </a:prstGeom>
        </p:spPr>
        <p:txBody>
          <a:bodyPr wrap="square">
            <a:spAutoFit/>
          </a:bodyPr>
          <a:lstStyle/>
          <a:p>
            <a:r>
              <a:rPr lang="ru-RU" dirty="0">
                <a:solidFill>
                  <a:srgbClr val="FF0000"/>
                </a:solidFill>
                <a:latin typeface="Arial" pitchFamily="2"/>
                <a:ea typeface="Arial" pitchFamily="2"/>
                <a:cs typeface="Arial" pitchFamily="2"/>
              </a:rPr>
              <a:t>Делает операцию и пациент умирает (или нет?)</a:t>
            </a:r>
            <a:endParaRPr lang="ru-RU" dirty="0">
              <a:solidFill>
                <a:srgbClr val="FF0000"/>
              </a:solidFill>
            </a:endParaRPr>
          </a:p>
        </p:txBody>
      </p:sp>
      <p:sp>
        <p:nvSpPr>
          <p:cNvPr id="11" name="Номер слайда 10"/>
          <p:cNvSpPr>
            <a:spLocks noGrp="1"/>
          </p:cNvSpPr>
          <p:nvPr>
            <p:ph type="sldNum" sz="quarter" idx="12"/>
          </p:nvPr>
        </p:nvSpPr>
        <p:spPr/>
        <p:txBody>
          <a:bodyPr/>
          <a:lstStyle/>
          <a:p>
            <a:fld id="{952B6C0E-C4B9-4094-8E59-5B7DF00D5415}" type="slidenum">
              <a:rPr lang="ru-RU" sz="1400">
                <a:solidFill>
                  <a:schemeClr val="tx1"/>
                </a:solidFill>
              </a:rPr>
              <a:t>43</a:t>
            </a:fld>
            <a:endParaRPr lang="ru-RU" sz="1400">
              <a:solidFill>
                <a:schemeClr val="tx1"/>
              </a:solidFill>
            </a:endParaRPr>
          </a:p>
        </p:txBody>
      </p:sp>
      <p:sp>
        <p:nvSpPr>
          <p:cNvPr id="12" name="Прямоугольник 11"/>
          <p:cNvSpPr/>
          <p:nvPr/>
        </p:nvSpPr>
        <p:spPr>
          <a:xfrm>
            <a:off x="4568597" y="5063805"/>
            <a:ext cx="1451038" cy="307777"/>
          </a:xfrm>
          <a:prstGeom prst="rect">
            <a:avLst/>
          </a:prstGeom>
        </p:spPr>
        <p:txBody>
          <a:bodyPr wrap="none">
            <a:spAutoFit/>
          </a:bodyPr>
          <a:lstStyle/>
          <a:p>
            <a:pPr algn="ctr">
              <a:spcBef>
                <a:spcPts val="0"/>
              </a:spcBef>
              <a:spcAft>
                <a:spcPts val="0"/>
              </a:spcAft>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r>
              <a:rPr lang="ru-RU" sz="1400" dirty="0">
                <a:solidFill>
                  <a:srgbClr val="000000"/>
                </a:solidFill>
                <a:latin typeface="Arial" pitchFamily="2"/>
                <a:ea typeface="Arial" pitchFamily="2"/>
                <a:cs typeface="Arial" pitchFamily="2"/>
              </a:rPr>
              <a:t>Ошибка 1 рода</a:t>
            </a:r>
          </a:p>
        </p:txBody>
      </p:sp>
      <p:sp>
        <p:nvSpPr>
          <p:cNvPr id="13" name="Прямоугольник 12"/>
          <p:cNvSpPr/>
          <p:nvPr/>
        </p:nvSpPr>
        <p:spPr>
          <a:xfrm>
            <a:off x="7452021" y="3951411"/>
            <a:ext cx="1451038" cy="307777"/>
          </a:xfrm>
          <a:prstGeom prst="rect">
            <a:avLst/>
          </a:prstGeom>
        </p:spPr>
        <p:txBody>
          <a:bodyPr wrap="none">
            <a:spAutoFit/>
          </a:bodyPr>
          <a:lstStyle/>
          <a:p>
            <a:pPr algn="ctr">
              <a:spcBef>
                <a:spcPts val="0"/>
              </a:spcBef>
              <a:spcAft>
                <a:spcPts val="0"/>
              </a:spcAft>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r>
              <a:rPr lang="ru-RU" sz="1400" dirty="0">
                <a:solidFill>
                  <a:srgbClr val="000000"/>
                </a:solidFill>
                <a:latin typeface="Arial" pitchFamily="2"/>
                <a:ea typeface="Arial" pitchFamily="2"/>
                <a:cs typeface="Arial" pitchFamily="2"/>
              </a:rPr>
              <a:t>Ошибка 2 рода</a:t>
            </a:r>
          </a:p>
        </p:txBody>
      </p:sp>
      <p:sp>
        <p:nvSpPr>
          <p:cNvPr id="14" name="Текст 2"/>
          <p:cNvSpPr txBox="1">
            <a:spLocks/>
          </p:cNvSpPr>
          <p:nvPr/>
        </p:nvSpPr>
        <p:spPr>
          <a:xfrm>
            <a:off x="2152556" y="1582281"/>
            <a:ext cx="8551863" cy="1152525"/>
          </a:xfrm>
          <a:prstGeom prst="rect">
            <a:avLst/>
          </a:prstGeom>
        </p:spPr>
        <p:txBody>
          <a:bodyPr vert="horz" wrap="square" lIns="91440" tIns="45720" rIns="91440" bIns="45720" rtlCol="0">
            <a:normAutofit/>
          </a:bodyPr>
          <a:lstStyle>
            <a:lvl1pPr marL="356307" indent="-356307" algn="l" defTabSz="950153" rtl="0" eaLnBrk="1" latinLnBrk="0" hangingPunct="1">
              <a:spcBef>
                <a:spcPct val="20000"/>
              </a:spcBef>
              <a:buFont typeface="Arial" panose="020B0604020202020204" pitchFamily="34" charset="0"/>
              <a:buChar char="•"/>
              <a:defRPr sz="3325" kern="1200">
                <a:solidFill>
                  <a:schemeClr val="tx1"/>
                </a:solidFill>
                <a:latin typeface="+mn-lt"/>
                <a:ea typeface="+mn-ea"/>
                <a:cs typeface="+mn-cs"/>
              </a:defRPr>
            </a:lvl1pPr>
            <a:lvl2pPr marL="771999" indent="-296923" algn="l" defTabSz="950153" rtl="0" eaLnBrk="1" latinLnBrk="0" hangingPunct="1">
              <a:spcBef>
                <a:spcPct val="20000"/>
              </a:spcBef>
              <a:buFont typeface="Arial" panose="020B0604020202020204" pitchFamily="34" charset="0"/>
              <a:buChar char="–"/>
              <a:defRPr sz="2909" kern="1200">
                <a:solidFill>
                  <a:schemeClr val="tx1"/>
                </a:solidFill>
                <a:latin typeface="+mn-lt"/>
                <a:ea typeface="+mn-ea"/>
                <a:cs typeface="+mn-cs"/>
              </a:defRPr>
            </a:lvl2pPr>
            <a:lvl3pPr marL="1187691" indent="-237538" algn="l" defTabSz="950153" rtl="0" eaLnBrk="1" latinLnBrk="0" hangingPunct="1">
              <a:spcBef>
                <a:spcPct val="20000"/>
              </a:spcBef>
              <a:buFont typeface="Arial" panose="020B0604020202020204" pitchFamily="34" charset="0"/>
              <a:buChar char="•"/>
              <a:defRPr sz="2494" kern="1200">
                <a:solidFill>
                  <a:schemeClr val="tx1"/>
                </a:solidFill>
                <a:latin typeface="+mn-lt"/>
                <a:ea typeface="+mn-ea"/>
                <a:cs typeface="+mn-cs"/>
              </a:defRPr>
            </a:lvl3pPr>
            <a:lvl4pPr marL="1662768" indent="-237538" algn="l" defTabSz="950153" rtl="0" eaLnBrk="1" latinLnBrk="0" hangingPunct="1">
              <a:spcBef>
                <a:spcPct val="20000"/>
              </a:spcBef>
              <a:buFont typeface="Arial" panose="020B0604020202020204" pitchFamily="34" charset="0"/>
              <a:buChar char="–"/>
              <a:defRPr sz="2078" kern="1200">
                <a:solidFill>
                  <a:schemeClr val="tx1"/>
                </a:solidFill>
                <a:latin typeface="+mn-lt"/>
                <a:ea typeface="+mn-ea"/>
                <a:cs typeface="+mn-cs"/>
              </a:defRPr>
            </a:lvl4pPr>
            <a:lvl5pPr marL="2137844" indent="-237538" algn="l" defTabSz="950153" rtl="0" eaLnBrk="1" latinLnBrk="0" hangingPunct="1">
              <a:spcBef>
                <a:spcPct val="20000"/>
              </a:spcBef>
              <a:buFont typeface="Arial" panose="020B0604020202020204" pitchFamily="34" charset="0"/>
              <a:buChar char="»"/>
              <a:defRPr sz="2078" kern="1200">
                <a:solidFill>
                  <a:schemeClr val="tx1"/>
                </a:solidFill>
                <a:latin typeface="+mn-lt"/>
                <a:ea typeface="+mn-ea"/>
                <a:cs typeface="+mn-cs"/>
              </a:defRPr>
            </a:lvl5pPr>
            <a:lvl6pPr marL="2612921" indent="-237538" algn="l" defTabSz="950153" rtl="0" eaLnBrk="1" latinLnBrk="0" hangingPunct="1">
              <a:spcBef>
                <a:spcPct val="20000"/>
              </a:spcBef>
              <a:buFont typeface="Arial" panose="020B0604020202020204" pitchFamily="34" charset="0"/>
              <a:buChar char="•"/>
              <a:defRPr sz="2078" kern="1200">
                <a:solidFill>
                  <a:schemeClr val="tx1"/>
                </a:solidFill>
                <a:latin typeface="+mn-lt"/>
                <a:ea typeface="+mn-ea"/>
                <a:cs typeface="+mn-cs"/>
              </a:defRPr>
            </a:lvl6pPr>
            <a:lvl7pPr marL="3087997" indent="-237538" algn="l" defTabSz="950153" rtl="0" eaLnBrk="1" latinLnBrk="0" hangingPunct="1">
              <a:spcBef>
                <a:spcPct val="20000"/>
              </a:spcBef>
              <a:buFont typeface="Arial" panose="020B0604020202020204" pitchFamily="34" charset="0"/>
              <a:buChar char="•"/>
              <a:defRPr sz="2078" kern="1200">
                <a:solidFill>
                  <a:schemeClr val="tx1"/>
                </a:solidFill>
                <a:latin typeface="+mn-lt"/>
                <a:ea typeface="+mn-ea"/>
                <a:cs typeface="+mn-cs"/>
              </a:defRPr>
            </a:lvl7pPr>
            <a:lvl8pPr marL="3563074" indent="-237538" algn="l" defTabSz="950153" rtl="0" eaLnBrk="1" latinLnBrk="0" hangingPunct="1">
              <a:spcBef>
                <a:spcPct val="20000"/>
              </a:spcBef>
              <a:buFont typeface="Arial" panose="020B0604020202020204" pitchFamily="34" charset="0"/>
              <a:buChar char="•"/>
              <a:defRPr sz="2078" kern="1200">
                <a:solidFill>
                  <a:schemeClr val="tx1"/>
                </a:solidFill>
                <a:latin typeface="+mn-lt"/>
                <a:ea typeface="+mn-ea"/>
                <a:cs typeface="+mn-cs"/>
              </a:defRPr>
            </a:lvl8pPr>
            <a:lvl9pPr marL="4038150" indent="-237538" algn="l" defTabSz="950153" rtl="0" eaLnBrk="1" latinLnBrk="0" hangingPunct="1">
              <a:spcBef>
                <a:spcPct val="20000"/>
              </a:spcBef>
              <a:buFont typeface="Arial" panose="020B0604020202020204" pitchFamily="34" charset="0"/>
              <a:buChar char="•"/>
              <a:defRPr sz="2078" kern="1200">
                <a:solidFill>
                  <a:schemeClr val="tx1"/>
                </a:solidFill>
                <a:latin typeface="+mn-lt"/>
                <a:ea typeface="+mn-ea"/>
                <a:cs typeface="+mn-cs"/>
              </a:defRPr>
            </a:lvl9pPr>
          </a:lstStyle>
          <a:p>
            <a:pPr marL="0" indent="0" fontAlgn="auto">
              <a:spcAft>
                <a:spcPts val="0"/>
              </a:spcAft>
              <a:buClr>
                <a:srgbClr val="CC9900"/>
              </a:buClr>
              <a:buSzPct val="65000"/>
              <a:buFont typeface="Wingdings" pitchFamily="2"/>
              <a:buChar char=""/>
            </a:pPr>
            <a:r>
              <a:rPr lang="ru-RU" sz="3200"/>
              <a:t>В больнице врач принимает решение, направлять пациента на операцию, или нет.</a:t>
            </a:r>
            <a:endParaRPr lang="ru-RU" sz="3200" dirty="0"/>
          </a:p>
        </p:txBody>
      </p:sp>
    </p:spTree>
    <p:extLst>
      <p:ext uri="{BB962C8B-B14F-4D97-AF65-F5344CB8AC3E}">
        <p14:creationId xmlns:p14="http://schemas.microsoft.com/office/powerpoint/2010/main" val="18286779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4"/>
          <p:cNvSpPr>
            <a:spLocks noChangeArrowheads="1"/>
          </p:cNvSpPr>
          <p:nvPr/>
        </p:nvSpPr>
        <p:spPr bwMode="auto">
          <a:xfrm>
            <a:off x="1438275" y="322263"/>
            <a:ext cx="10872513" cy="6553200"/>
          </a:xfrm>
          <a:prstGeom prst="roundRect">
            <a:avLst>
              <a:gd name="adj" fmla="val 16667"/>
            </a:avLst>
          </a:prstGeom>
          <a:solidFill>
            <a:schemeClr val="bg1">
              <a:alpha val="50195"/>
            </a:scheme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5" name="AutoShape 5"/>
          <p:cNvSpPr>
            <a:spLocks noChangeArrowheads="1"/>
          </p:cNvSpPr>
          <p:nvPr/>
        </p:nvSpPr>
        <p:spPr bwMode="auto">
          <a:xfrm>
            <a:off x="2058353" y="322264"/>
            <a:ext cx="8740268" cy="720601"/>
          </a:xfrm>
          <a:prstGeom prst="roundRect">
            <a:avLst>
              <a:gd name="adj" fmla="val 37469"/>
            </a:avLst>
          </a:prstGeom>
          <a:solidFill>
            <a:srgbClr val="FFFFFF">
              <a:alpha val="78822"/>
            </a:srgb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3" name="Текст 2"/>
          <p:cNvSpPr txBox="1">
            <a:spLocks noGrp="1"/>
          </p:cNvSpPr>
          <p:nvPr>
            <p:ph type="body" idx="4294967295"/>
          </p:nvPr>
        </p:nvSpPr>
        <p:spPr>
          <a:xfrm>
            <a:off x="2265012" y="1838340"/>
            <a:ext cx="8550275" cy="2765425"/>
          </a:xfrm>
          <a:prstGeom prst="rect">
            <a:avLst/>
          </a:prstGeom>
        </p:spPr>
        <p:txBody>
          <a:bodyPr wrap="square"/>
          <a:lstStyle/>
          <a:p>
            <a:pPr marL="0" indent="442913">
              <a:buClr>
                <a:srgbClr val="CC9900"/>
              </a:buClr>
              <a:buSzPct val="65000"/>
              <a:buFont typeface="Wingdings" pitchFamily="2"/>
              <a:buChar char=""/>
            </a:pPr>
            <a:r>
              <a:rPr lang="ru-RU" sz="3200" dirty="0"/>
              <a:t>Может ли врач свести частоту (вероятность) ошибок первого рода к нулю?</a:t>
            </a:r>
          </a:p>
          <a:p>
            <a:pPr marL="0" indent="442913">
              <a:buClr>
                <a:srgbClr val="CC9900"/>
              </a:buClr>
              <a:buSzPct val="65000"/>
              <a:buFont typeface="Wingdings" pitchFamily="2"/>
              <a:buChar char=""/>
            </a:pPr>
            <a:r>
              <a:rPr lang="ru-RU" sz="3200" dirty="0"/>
              <a:t>Может ли врач свести частоту (вероятность) ошибок второго рода к нулю?</a:t>
            </a:r>
          </a:p>
        </p:txBody>
      </p:sp>
      <p:sp>
        <p:nvSpPr>
          <p:cNvPr id="7" name="AutoShape 5"/>
          <p:cNvSpPr>
            <a:spLocks noChangeArrowheads="1"/>
          </p:cNvSpPr>
          <p:nvPr/>
        </p:nvSpPr>
        <p:spPr bwMode="auto">
          <a:xfrm>
            <a:off x="2265012" y="437539"/>
            <a:ext cx="8351837" cy="499771"/>
          </a:xfrm>
          <a:prstGeom prst="roundRect">
            <a:avLst>
              <a:gd name="adj" fmla="val 16667"/>
            </a:avLst>
          </a:prstGeom>
          <a:solidFill>
            <a:srgbClr val="FFFFFF">
              <a:alpha val="78822"/>
            </a:srgb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eaLnBrk="0" hangingPunct="0">
              <a:defRPr sz="2000">
                <a:solidFill>
                  <a:schemeClr val="tx1"/>
                </a:solidFill>
                <a:latin typeface="Arial" panose="020B0604020202020204" pitchFamily="34" charset="0"/>
                <a:cs typeface="Arial" panose="020B0604020202020204" pitchFamily="34" charset="0"/>
              </a:defRPr>
            </a:lvl1pPr>
            <a:lvl2pPr marL="742950" indent="-285750" defTabSz="993775" eaLnBrk="0" hangingPunct="0">
              <a:defRPr sz="2000">
                <a:solidFill>
                  <a:schemeClr val="tx1"/>
                </a:solidFill>
                <a:latin typeface="Arial" panose="020B0604020202020204" pitchFamily="34" charset="0"/>
                <a:cs typeface="Arial" panose="020B0604020202020204" pitchFamily="34" charset="0"/>
              </a:defRPr>
            </a:lvl2pPr>
            <a:lvl3pPr marL="1143000" indent="-228600" defTabSz="993775" eaLnBrk="0" hangingPunct="0">
              <a:defRPr sz="2000">
                <a:solidFill>
                  <a:schemeClr val="tx1"/>
                </a:solidFill>
                <a:latin typeface="Arial" panose="020B0604020202020204" pitchFamily="34" charset="0"/>
                <a:cs typeface="Arial" panose="020B0604020202020204" pitchFamily="34" charset="0"/>
              </a:defRPr>
            </a:lvl3pPr>
            <a:lvl4pPr marL="1600200" indent="-228600" defTabSz="993775" eaLnBrk="0" hangingPunct="0">
              <a:defRPr sz="2000">
                <a:solidFill>
                  <a:schemeClr val="tx1"/>
                </a:solidFill>
                <a:latin typeface="Arial" panose="020B0604020202020204" pitchFamily="34" charset="0"/>
                <a:cs typeface="Arial" panose="020B0604020202020204" pitchFamily="34" charset="0"/>
              </a:defRPr>
            </a:lvl4pPr>
            <a:lvl5pPr marL="2057400" indent="-228600" defTabSz="993775" eaLnBrk="0" hangingPunct="0">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ru-RU" altLang="ru-RU" sz="3600" b="1" dirty="0"/>
              <a:t>Тестирование гипотез в статистике</a:t>
            </a:r>
          </a:p>
        </p:txBody>
      </p:sp>
      <p:sp>
        <p:nvSpPr>
          <p:cNvPr id="2" name="Номер слайда 1"/>
          <p:cNvSpPr>
            <a:spLocks noGrp="1"/>
          </p:cNvSpPr>
          <p:nvPr>
            <p:ph type="sldNum" sz="quarter" idx="12"/>
          </p:nvPr>
        </p:nvSpPr>
        <p:spPr>
          <a:xfrm>
            <a:off x="11734725" y="6512253"/>
            <a:ext cx="736433" cy="379409"/>
          </a:xfrm>
        </p:spPr>
        <p:txBody>
          <a:bodyPr/>
          <a:lstStyle/>
          <a:p>
            <a:fld id="{952B6C0E-C4B9-4094-8E59-5B7DF00D5415}" type="slidenum">
              <a:rPr lang="ru-RU" sz="1400">
                <a:solidFill>
                  <a:schemeClr val="tx1"/>
                </a:solidFill>
              </a:rPr>
              <a:t>44</a:t>
            </a:fld>
            <a:endParaRPr lang="ru-RU" sz="1400" dirty="0">
              <a:solidFill>
                <a:schemeClr val="tx1"/>
              </a:solidFill>
            </a:endParaRPr>
          </a:p>
        </p:txBody>
      </p:sp>
    </p:spTree>
    <p:extLst>
      <p:ext uri="{BB962C8B-B14F-4D97-AF65-F5344CB8AC3E}">
        <p14:creationId xmlns:p14="http://schemas.microsoft.com/office/powerpoint/2010/main" val="9958809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4"/>
          <p:cNvSpPr>
            <a:spLocks noChangeArrowheads="1"/>
          </p:cNvSpPr>
          <p:nvPr/>
        </p:nvSpPr>
        <p:spPr bwMode="auto">
          <a:xfrm>
            <a:off x="1438275" y="322263"/>
            <a:ext cx="10872513" cy="6553200"/>
          </a:xfrm>
          <a:prstGeom prst="roundRect">
            <a:avLst>
              <a:gd name="adj" fmla="val 16667"/>
            </a:avLst>
          </a:prstGeom>
          <a:solidFill>
            <a:schemeClr val="bg1">
              <a:alpha val="50195"/>
            </a:scheme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5" name="AutoShape 5"/>
          <p:cNvSpPr>
            <a:spLocks noChangeArrowheads="1"/>
          </p:cNvSpPr>
          <p:nvPr/>
        </p:nvSpPr>
        <p:spPr bwMode="auto">
          <a:xfrm>
            <a:off x="2373685" y="322264"/>
            <a:ext cx="8064128" cy="720601"/>
          </a:xfrm>
          <a:prstGeom prst="roundRect">
            <a:avLst>
              <a:gd name="adj" fmla="val 37469"/>
            </a:avLst>
          </a:prstGeom>
          <a:solidFill>
            <a:srgbClr val="FFFFFF">
              <a:alpha val="78822"/>
            </a:srgb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2" name="Заголовок 1"/>
          <p:cNvSpPr txBox="1">
            <a:spLocks noGrp="1"/>
          </p:cNvSpPr>
          <p:nvPr>
            <p:ph type="title" idx="4294967295"/>
          </p:nvPr>
        </p:nvSpPr>
        <p:spPr>
          <a:xfrm>
            <a:off x="1195389" y="288926"/>
            <a:ext cx="8550275" cy="1184275"/>
          </a:xfrm>
          <a:prstGeom prst="rect">
            <a:avLst/>
          </a:prstGeom>
        </p:spPr>
        <p:txBody>
          <a:bodyPr wrap="square">
            <a:noAutofit/>
          </a:bodyPr>
          <a:lstStyle/>
          <a:p>
            <a:pPr lvl="0"/>
            <a:r>
              <a:rPr lang="ru-RU"/>
              <a:t>Есть исключения</a:t>
            </a:r>
          </a:p>
        </p:txBody>
      </p:sp>
      <p:sp>
        <p:nvSpPr>
          <p:cNvPr id="3" name="Текст 2"/>
          <p:cNvSpPr txBox="1">
            <a:spLocks noGrp="1"/>
          </p:cNvSpPr>
          <p:nvPr>
            <p:ph type="body" idx="4294967295"/>
          </p:nvPr>
        </p:nvSpPr>
        <p:spPr>
          <a:xfrm>
            <a:off x="1581597" y="1747839"/>
            <a:ext cx="10585175" cy="4708525"/>
          </a:xfrm>
          <a:prstGeom prst="rect">
            <a:avLst/>
          </a:prstGeom>
        </p:spPr>
        <p:txBody>
          <a:bodyPr wrap="square"/>
          <a:lstStyle/>
          <a:p>
            <a:pPr marL="0" indent="449263">
              <a:buClr>
                <a:srgbClr val="CC9900"/>
              </a:buClr>
              <a:buSzPct val="65000"/>
              <a:buFont typeface="Wingdings" pitchFamily="2"/>
              <a:buChar char=""/>
            </a:pPr>
            <a:r>
              <a:rPr lang="ru-RU" sz="3200" dirty="0"/>
              <a:t>Например,</a:t>
            </a:r>
          </a:p>
          <a:p>
            <a:pPr marL="0" indent="449263">
              <a:buClr>
                <a:srgbClr val="CC9900"/>
              </a:buClr>
              <a:buSzPct val="65000"/>
              <a:buFont typeface="Wingdings" pitchFamily="2"/>
              <a:buChar char=""/>
            </a:pPr>
            <a:r>
              <a:rPr lang="ru-RU" sz="3200" dirty="0"/>
              <a:t>если мы будем вакцинацию считать операцией,</a:t>
            </a:r>
          </a:p>
          <a:p>
            <a:pPr marL="0" indent="449263">
              <a:buClr>
                <a:srgbClr val="CC9900"/>
              </a:buClr>
              <a:buSzPct val="65000"/>
              <a:buFont typeface="Wingdings" pitchFamily="2"/>
              <a:buChar char=""/>
            </a:pPr>
            <a:r>
              <a:rPr lang="ru-RU" sz="3200" dirty="0"/>
              <a:t>то получается, что врачи предпочитают делать маленькую "превентивную" операцию всем, чтобы исключить ошибки первого рода.</a:t>
            </a:r>
          </a:p>
        </p:txBody>
      </p:sp>
      <p:sp>
        <p:nvSpPr>
          <p:cNvPr id="7" name="Номер слайда 6"/>
          <p:cNvSpPr>
            <a:spLocks noGrp="1"/>
          </p:cNvSpPr>
          <p:nvPr>
            <p:ph type="sldNum" sz="quarter" idx="12"/>
          </p:nvPr>
        </p:nvSpPr>
        <p:spPr>
          <a:xfrm>
            <a:off x="11574355" y="6601838"/>
            <a:ext cx="736433" cy="379409"/>
          </a:xfrm>
        </p:spPr>
        <p:txBody>
          <a:bodyPr/>
          <a:lstStyle/>
          <a:p>
            <a:fld id="{952B6C0E-C4B9-4094-8E59-5B7DF00D5415}" type="slidenum">
              <a:rPr lang="ru-RU" smtClean="0">
                <a:solidFill>
                  <a:schemeClr val="tx1"/>
                </a:solidFill>
              </a:rPr>
              <a:t>45</a:t>
            </a:fld>
            <a:endParaRPr lang="ru-RU">
              <a:solidFill>
                <a:schemeClr val="tx1"/>
              </a:solidFill>
            </a:endParaRPr>
          </a:p>
        </p:txBody>
      </p:sp>
    </p:spTree>
    <p:extLst>
      <p:ext uri="{BB962C8B-B14F-4D97-AF65-F5344CB8AC3E}">
        <p14:creationId xmlns:p14="http://schemas.microsoft.com/office/powerpoint/2010/main" val="41006367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4"/>
          <p:cNvSpPr>
            <a:spLocks noChangeArrowheads="1"/>
          </p:cNvSpPr>
          <p:nvPr/>
        </p:nvSpPr>
        <p:spPr bwMode="auto">
          <a:xfrm>
            <a:off x="1438275" y="322263"/>
            <a:ext cx="10728497" cy="6553200"/>
          </a:xfrm>
          <a:prstGeom prst="roundRect">
            <a:avLst>
              <a:gd name="adj" fmla="val 16667"/>
            </a:avLst>
          </a:prstGeom>
          <a:solidFill>
            <a:schemeClr val="bg1">
              <a:alpha val="50195"/>
            </a:scheme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5" name="AutoShape 5"/>
          <p:cNvSpPr>
            <a:spLocks noChangeArrowheads="1"/>
          </p:cNvSpPr>
          <p:nvPr/>
        </p:nvSpPr>
        <p:spPr bwMode="auto">
          <a:xfrm>
            <a:off x="2373685" y="322263"/>
            <a:ext cx="8064128" cy="1195700"/>
          </a:xfrm>
          <a:prstGeom prst="roundRect">
            <a:avLst>
              <a:gd name="adj" fmla="val 37469"/>
            </a:avLst>
          </a:prstGeom>
          <a:solidFill>
            <a:srgbClr val="FFFFFF">
              <a:alpha val="78822"/>
            </a:srgb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2" name="Заголовок 1"/>
          <p:cNvSpPr txBox="1">
            <a:spLocks noGrp="1"/>
          </p:cNvSpPr>
          <p:nvPr>
            <p:ph type="title" idx="4294967295"/>
          </p:nvPr>
        </p:nvSpPr>
        <p:spPr>
          <a:xfrm>
            <a:off x="2058989" y="363230"/>
            <a:ext cx="8550275" cy="1184275"/>
          </a:xfrm>
          <a:prstGeom prst="rect">
            <a:avLst/>
          </a:prstGeom>
        </p:spPr>
        <p:txBody>
          <a:bodyPr wrap="square">
            <a:noAutofit/>
          </a:bodyPr>
          <a:lstStyle/>
          <a:p>
            <a:pPr lvl="0"/>
            <a:r>
              <a:rPr lang="ru-RU" sz="3600" dirty="0"/>
              <a:t>Последствия ошибок могут быть различными</a:t>
            </a:r>
          </a:p>
        </p:txBody>
      </p:sp>
      <p:sp>
        <p:nvSpPr>
          <p:cNvPr id="3" name="Текст 2"/>
          <p:cNvSpPr txBox="1">
            <a:spLocks noGrp="1"/>
          </p:cNvSpPr>
          <p:nvPr>
            <p:ph type="body" idx="4294967295"/>
          </p:nvPr>
        </p:nvSpPr>
        <p:spPr>
          <a:xfrm>
            <a:off x="988246" y="2039876"/>
            <a:ext cx="10386439" cy="3827524"/>
          </a:xfrm>
          <a:prstGeom prst="rect">
            <a:avLst/>
          </a:prstGeom>
        </p:spPr>
        <p:txBody>
          <a:bodyPr wrap="square">
            <a:normAutofit/>
          </a:bodyPr>
          <a:lstStyle/>
          <a:p>
            <a:pPr marL="0" indent="357188">
              <a:buClr>
                <a:srgbClr val="CC9900"/>
              </a:buClr>
              <a:buSzPct val="65000"/>
              <a:buFont typeface="Wingdings" pitchFamily="2"/>
              <a:buChar char=""/>
            </a:pPr>
            <a:r>
              <a:rPr lang="ru-RU" sz="2800" dirty="0"/>
              <a:t>Опасность этих ошибок может быть неодинакова. Очень часто ошибка первого рода альфа </a:t>
            </a:r>
            <a:r>
              <a:rPr lang="ru-RU" sz="2800" dirty="0">
                <a:solidFill>
                  <a:schemeClr val="bg2">
                    <a:lumMod val="50000"/>
                  </a:schemeClr>
                </a:solidFill>
              </a:rPr>
              <a:t>в медицине  </a:t>
            </a:r>
            <a:r>
              <a:rPr lang="ru-RU" sz="2800" dirty="0"/>
              <a:t>— пропуск крайне тяжелого состояния — более опасна, чем бета — его ошибочная диагностика. В таком случае желательно, чтобы был обеспечен меньший уровень ошибок первого рода.</a:t>
            </a:r>
          </a:p>
          <a:p>
            <a:pPr marL="0" indent="357188">
              <a:buClr>
                <a:srgbClr val="CC9900"/>
              </a:buClr>
              <a:buSzPct val="65000"/>
              <a:buFont typeface="Wingdings" pitchFamily="2"/>
              <a:buChar char=""/>
            </a:pPr>
            <a:r>
              <a:rPr lang="ru-RU" sz="2800" dirty="0"/>
              <a:t>В</a:t>
            </a:r>
            <a:r>
              <a:rPr lang="ru-RU" sz="2800" dirty="0">
                <a:solidFill>
                  <a:schemeClr val="bg2">
                    <a:lumMod val="50000"/>
                  </a:schemeClr>
                </a:solidFill>
              </a:rPr>
              <a:t> юриспруденции </a:t>
            </a:r>
            <a:r>
              <a:rPr lang="ru-RU" sz="2800" dirty="0"/>
              <a:t>ошибка второго рода может оказаться более опасной </a:t>
            </a:r>
            <a:r>
              <a:rPr lang="ru-RU" sz="2800" dirty="0">
                <a:solidFill>
                  <a:schemeClr val="bg2">
                    <a:lumMod val="50000"/>
                  </a:schemeClr>
                </a:solidFill>
              </a:rPr>
              <a:t>для общества</a:t>
            </a:r>
            <a:r>
              <a:rPr lang="ru-RU" sz="2800" dirty="0"/>
              <a:t>.</a:t>
            </a:r>
          </a:p>
        </p:txBody>
      </p:sp>
      <p:sp>
        <p:nvSpPr>
          <p:cNvPr id="7" name="Номер слайда 6"/>
          <p:cNvSpPr>
            <a:spLocks noGrp="1"/>
          </p:cNvSpPr>
          <p:nvPr>
            <p:ph type="sldNum" sz="quarter" idx="12"/>
          </p:nvPr>
        </p:nvSpPr>
        <p:spPr/>
        <p:txBody>
          <a:bodyPr/>
          <a:lstStyle/>
          <a:p>
            <a:fld id="{952B6C0E-C4B9-4094-8E59-5B7DF00D5415}" type="slidenum">
              <a:rPr lang="ru-RU" sz="1400">
                <a:solidFill>
                  <a:schemeClr val="tx1"/>
                </a:solidFill>
              </a:rPr>
              <a:t>46</a:t>
            </a:fld>
            <a:endParaRPr lang="ru-RU" sz="1400">
              <a:solidFill>
                <a:schemeClr val="tx1"/>
              </a:solidFill>
            </a:endParaRPr>
          </a:p>
        </p:txBody>
      </p:sp>
    </p:spTree>
    <p:extLst>
      <p:ext uri="{BB962C8B-B14F-4D97-AF65-F5344CB8AC3E}">
        <p14:creationId xmlns:p14="http://schemas.microsoft.com/office/powerpoint/2010/main" val="7298175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4"/>
          <p:cNvSpPr>
            <a:spLocks noChangeArrowheads="1"/>
          </p:cNvSpPr>
          <p:nvPr/>
        </p:nvSpPr>
        <p:spPr bwMode="auto">
          <a:xfrm>
            <a:off x="789510" y="178175"/>
            <a:ext cx="11245329" cy="6553200"/>
          </a:xfrm>
          <a:prstGeom prst="roundRect">
            <a:avLst>
              <a:gd name="adj" fmla="val 16667"/>
            </a:avLst>
          </a:prstGeom>
          <a:solidFill>
            <a:schemeClr val="bg1">
              <a:alpha val="50195"/>
            </a:scheme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5" name="AutoShape 5"/>
          <p:cNvSpPr>
            <a:spLocks noChangeArrowheads="1"/>
          </p:cNvSpPr>
          <p:nvPr/>
        </p:nvSpPr>
        <p:spPr bwMode="auto">
          <a:xfrm>
            <a:off x="2373685" y="322263"/>
            <a:ext cx="8064128" cy="1195700"/>
          </a:xfrm>
          <a:prstGeom prst="roundRect">
            <a:avLst>
              <a:gd name="adj" fmla="val 37469"/>
            </a:avLst>
          </a:prstGeom>
          <a:solidFill>
            <a:srgbClr val="FFFFFF">
              <a:alpha val="78822"/>
            </a:srgb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2" name="Заголовок 1"/>
          <p:cNvSpPr txBox="1">
            <a:spLocks noGrp="1"/>
          </p:cNvSpPr>
          <p:nvPr>
            <p:ph type="title" idx="4294967295"/>
          </p:nvPr>
        </p:nvSpPr>
        <p:spPr>
          <a:xfrm>
            <a:off x="2058989" y="363230"/>
            <a:ext cx="8550275" cy="1184275"/>
          </a:xfrm>
          <a:prstGeom prst="rect">
            <a:avLst/>
          </a:prstGeom>
        </p:spPr>
        <p:txBody>
          <a:bodyPr wrap="square">
            <a:noAutofit/>
          </a:bodyPr>
          <a:lstStyle/>
          <a:p>
            <a:pPr lvl="0"/>
            <a:r>
              <a:rPr lang="ru-RU" sz="3600" dirty="0"/>
              <a:t>Последствия ошибок могут быть различными</a:t>
            </a:r>
          </a:p>
        </p:txBody>
      </p:sp>
      <p:sp>
        <p:nvSpPr>
          <p:cNvPr id="3" name="Текст 2"/>
          <p:cNvSpPr txBox="1">
            <a:spLocks noGrp="1"/>
          </p:cNvSpPr>
          <p:nvPr>
            <p:ph type="body" idx="4294967295"/>
          </p:nvPr>
        </p:nvSpPr>
        <p:spPr>
          <a:xfrm>
            <a:off x="1005533" y="2039876"/>
            <a:ext cx="10873207" cy="3827524"/>
          </a:xfrm>
          <a:prstGeom prst="rect">
            <a:avLst/>
          </a:prstGeom>
        </p:spPr>
        <p:txBody>
          <a:bodyPr wrap="square">
            <a:normAutofit fontScale="92500" lnSpcReduction="10000"/>
          </a:bodyPr>
          <a:lstStyle/>
          <a:p>
            <a:pPr marL="0" indent="357188">
              <a:buClr>
                <a:srgbClr val="CC9900"/>
              </a:buClr>
              <a:buSzPct val="65000"/>
              <a:buFont typeface="Wingdings" pitchFamily="2"/>
              <a:buChar char=""/>
            </a:pPr>
            <a:r>
              <a:rPr lang="ru-RU" sz="2800" dirty="0"/>
              <a:t>Таким образом, последствия этих ошибок могут оказаться весьма различными. </a:t>
            </a:r>
          </a:p>
          <a:p>
            <a:pPr marL="0" indent="357188">
              <a:buClr>
                <a:srgbClr val="CC9900"/>
              </a:buClr>
              <a:buSzPct val="65000"/>
              <a:buFont typeface="Wingdings" pitchFamily="2"/>
              <a:buChar char=""/>
            </a:pPr>
            <a:r>
              <a:rPr lang="ru-RU" sz="2800" dirty="0"/>
              <a:t>Например, если отвергнуто правильное решение «продолжать</a:t>
            </a:r>
            <a:br>
              <a:rPr lang="ru-RU" sz="2800" dirty="0"/>
            </a:br>
            <a:r>
              <a:rPr lang="ru-RU" sz="2800" dirty="0"/>
              <a:t>строительство жилого дома», то эта ошибка первого рода повлечёт материальный ущерб.</a:t>
            </a:r>
          </a:p>
          <a:p>
            <a:pPr marL="0" indent="357188">
              <a:buClr>
                <a:srgbClr val="CC9900"/>
              </a:buClr>
              <a:buSzPct val="65000"/>
              <a:buFont typeface="Wingdings" pitchFamily="2"/>
              <a:buChar char=""/>
            </a:pPr>
            <a:r>
              <a:rPr lang="ru-RU" sz="2800" dirty="0"/>
              <a:t>Если же принято неправильное решение «продолжать строительство», несмотря на опасность обвала стройки, то эта ошибка второго рода может повлечь гибель людей. Можно еще привести примеры, когда ошибка первого рода влечёт более тяжёлые последствия, чем ошибка второго рода.</a:t>
            </a:r>
          </a:p>
        </p:txBody>
      </p:sp>
      <p:sp>
        <p:nvSpPr>
          <p:cNvPr id="7" name="Номер слайда 6"/>
          <p:cNvSpPr>
            <a:spLocks noGrp="1"/>
          </p:cNvSpPr>
          <p:nvPr>
            <p:ph type="sldNum" sz="quarter" idx="12"/>
          </p:nvPr>
        </p:nvSpPr>
        <p:spPr/>
        <p:txBody>
          <a:bodyPr/>
          <a:lstStyle/>
          <a:p>
            <a:fld id="{952B6C0E-C4B9-4094-8E59-5B7DF00D5415}" type="slidenum">
              <a:rPr lang="ru-RU" sz="1400">
                <a:solidFill>
                  <a:schemeClr val="tx1"/>
                </a:solidFill>
              </a:rPr>
              <a:t>47</a:t>
            </a:fld>
            <a:endParaRPr lang="ru-RU" sz="1400">
              <a:solidFill>
                <a:schemeClr val="tx1"/>
              </a:solidFill>
            </a:endParaRPr>
          </a:p>
        </p:txBody>
      </p:sp>
    </p:spTree>
    <p:extLst>
      <p:ext uri="{BB962C8B-B14F-4D97-AF65-F5344CB8AC3E}">
        <p14:creationId xmlns:p14="http://schemas.microsoft.com/office/powerpoint/2010/main" val="41623215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AutoShape 4"/>
          <p:cNvSpPr>
            <a:spLocks noChangeArrowheads="1"/>
          </p:cNvSpPr>
          <p:nvPr/>
        </p:nvSpPr>
        <p:spPr bwMode="auto">
          <a:xfrm>
            <a:off x="861517" y="322263"/>
            <a:ext cx="11449272" cy="6553200"/>
          </a:xfrm>
          <a:prstGeom prst="roundRect">
            <a:avLst>
              <a:gd name="adj" fmla="val 16667"/>
            </a:avLst>
          </a:prstGeom>
          <a:solidFill>
            <a:schemeClr val="bg1">
              <a:alpha val="50195"/>
            </a:scheme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eaLnBrk="0" hangingPunct="0">
              <a:defRPr sz="2000">
                <a:solidFill>
                  <a:schemeClr val="tx1"/>
                </a:solidFill>
                <a:latin typeface="Arial" panose="020B0604020202020204" pitchFamily="34" charset="0"/>
                <a:cs typeface="Arial" panose="020B0604020202020204" pitchFamily="34" charset="0"/>
              </a:defRPr>
            </a:lvl1pPr>
            <a:lvl2pPr marL="742950" indent="-285750" defTabSz="993775" eaLnBrk="0" hangingPunct="0">
              <a:defRPr sz="2000">
                <a:solidFill>
                  <a:schemeClr val="tx1"/>
                </a:solidFill>
                <a:latin typeface="Arial" panose="020B0604020202020204" pitchFamily="34" charset="0"/>
                <a:cs typeface="Arial" panose="020B0604020202020204" pitchFamily="34" charset="0"/>
              </a:defRPr>
            </a:lvl2pPr>
            <a:lvl3pPr marL="1143000" indent="-228600" defTabSz="993775" eaLnBrk="0" hangingPunct="0">
              <a:defRPr sz="2000">
                <a:solidFill>
                  <a:schemeClr val="tx1"/>
                </a:solidFill>
                <a:latin typeface="Arial" panose="020B0604020202020204" pitchFamily="34" charset="0"/>
                <a:cs typeface="Arial" panose="020B0604020202020204" pitchFamily="34" charset="0"/>
              </a:defRPr>
            </a:lvl3pPr>
            <a:lvl4pPr marL="1600200" indent="-228600" defTabSz="993775" eaLnBrk="0" hangingPunct="0">
              <a:defRPr sz="2000">
                <a:solidFill>
                  <a:schemeClr val="tx1"/>
                </a:solidFill>
                <a:latin typeface="Arial" panose="020B0604020202020204" pitchFamily="34" charset="0"/>
                <a:cs typeface="Arial" panose="020B0604020202020204" pitchFamily="34" charset="0"/>
              </a:defRPr>
            </a:lvl4pPr>
            <a:lvl5pPr marL="2057400" indent="-228600" defTabSz="993775" eaLnBrk="0" hangingPunct="0">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34819" name="Text Box 3"/>
          <p:cNvSpPr txBox="1">
            <a:spLocks noChangeArrowheads="1"/>
          </p:cNvSpPr>
          <p:nvPr/>
        </p:nvSpPr>
        <p:spPr bwMode="auto">
          <a:xfrm>
            <a:off x="1077541" y="1506684"/>
            <a:ext cx="11233248" cy="4462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20000"/>
              </a:spcBef>
              <a:spcAft>
                <a:spcPct val="0"/>
              </a:spcAft>
              <a:defRPr sz="2400">
                <a:solidFill>
                  <a:schemeClr val="tx1"/>
                </a:solidFill>
                <a:latin typeface="Arial" panose="020B0604020202020204" pitchFamily="34" charset="0"/>
              </a:defRPr>
            </a:lvl6pPr>
            <a:lvl7pPr marL="2971800" indent="-228600" eaLnBrk="0" fontAlgn="base" hangingPunct="0">
              <a:spcBef>
                <a:spcPct val="20000"/>
              </a:spcBef>
              <a:spcAft>
                <a:spcPct val="0"/>
              </a:spcAft>
              <a:defRPr sz="2400">
                <a:solidFill>
                  <a:schemeClr val="tx1"/>
                </a:solidFill>
                <a:latin typeface="Arial" panose="020B0604020202020204" pitchFamily="34" charset="0"/>
              </a:defRPr>
            </a:lvl7pPr>
            <a:lvl8pPr marL="3429000" indent="-228600" eaLnBrk="0" fontAlgn="base" hangingPunct="0">
              <a:spcBef>
                <a:spcPct val="20000"/>
              </a:spcBef>
              <a:spcAft>
                <a:spcPct val="0"/>
              </a:spcAft>
              <a:defRPr sz="2400">
                <a:solidFill>
                  <a:schemeClr val="tx1"/>
                </a:solidFill>
                <a:latin typeface="Arial" panose="020B0604020202020204" pitchFamily="34" charset="0"/>
              </a:defRPr>
            </a:lvl8pPr>
            <a:lvl9pPr marL="3886200" indent="-228600" eaLnBrk="0" fontAlgn="base" hangingPunct="0">
              <a:spcBef>
                <a:spcPct val="20000"/>
              </a:spcBef>
              <a:spcAft>
                <a:spcPct val="0"/>
              </a:spcAft>
              <a:defRPr sz="2400">
                <a:solidFill>
                  <a:schemeClr val="tx1"/>
                </a:solidFill>
                <a:latin typeface="Arial" panose="020B0604020202020204" pitchFamily="34" charset="0"/>
              </a:defRPr>
            </a:lvl9pPr>
          </a:lstStyle>
          <a:p>
            <a:pPr indent="357188"/>
            <a:r>
              <a:rPr lang="ru-RU" altLang="ru-RU" sz="2000" dirty="0"/>
              <a:t>В большинстве практических ситуаций принято считать, что </a:t>
            </a:r>
            <a:r>
              <a:rPr lang="ru-RU" altLang="ru-RU" sz="2000" b="1" i="1" dirty="0"/>
              <a:t>нулевая гипотеза</a:t>
            </a:r>
            <a:r>
              <a:rPr lang="ru-RU" altLang="ru-RU" sz="2000" b="1" dirty="0"/>
              <a:t> </a:t>
            </a:r>
            <a:r>
              <a:rPr lang="ru-RU" altLang="ru-RU" sz="2000" b="1" i="1" dirty="0">
                <a:solidFill>
                  <a:srgbClr val="FF0000"/>
                </a:solidFill>
              </a:rPr>
              <a:t>Н</a:t>
            </a:r>
            <a:r>
              <a:rPr lang="ru-RU" altLang="ru-RU" sz="2000" b="1" i="1" baseline="-25000" dirty="0">
                <a:solidFill>
                  <a:srgbClr val="FF0000"/>
                </a:solidFill>
              </a:rPr>
              <a:t>0</a:t>
            </a:r>
            <a:r>
              <a:rPr lang="ru-RU" altLang="ru-RU" sz="2000" baseline="-25000" dirty="0"/>
              <a:t> </a:t>
            </a:r>
            <a:r>
              <a:rPr lang="ru-RU" altLang="ru-RU" sz="2000" dirty="0"/>
              <a:t>соответствует состоянию «по умолчанию» (естественному, наиболее ожидаемому положению вещей) — например, что обследуемый человек здоров, или что проходящий через рамку </a:t>
            </a:r>
            <a:r>
              <a:rPr lang="ru-RU" altLang="ru-RU" sz="2000" dirty="0" err="1"/>
              <a:t>металлодетектора</a:t>
            </a:r>
            <a:r>
              <a:rPr lang="ru-RU" altLang="ru-RU" sz="2000" dirty="0"/>
              <a:t> пассажир не имеет запрещённых металлических предметов. </a:t>
            </a:r>
            <a:endParaRPr lang="en-US" altLang="ru-RU" sz="2000" dirty="0"/>
          </a:p>
          <a:p>
            <a:pPr indent="357188"/>
            <a:r>
              <a:rPr lang="ru-RU" altLang="ru-RU" sz="2000" dirty="0"/>
              <a:t>Соответственно, </a:t>
            </a:r>
            <a:r>
              <a:rPr lang="ru-RU" altLang="ru-RU" sz="2000" i="1" dirty="0"/>
              <a:t>альтернативная гипотеза</a:t>
            </a:r>
            <a:r>
              <a:rPr lang="ru-RU" altLang="ru-RU" sz="2000" dirty="0"/>
              <a:t> </a:t>
            </a:r>
            <a:r>
              <a:rPr lang="ru-RU" altLang="ru-RU" sz="2000" b="1" i="1" dirty="0">
                <a:solidFill>
                  <a:srgbClr val="FF0000"/>
                </a:solidFill>
              </a:rPr>
              <a:t>Н</a:t>
            </a:r>
            <a:r>
              <a:rPr lang="ru-RU" altLang="ru-RU" sz="2000" b="1" i="1" baseline="-25000" dirty="0">
                <a:solidFill>
                  <a:srgbClr val="FF0000"/>
                </a:solidFill>
              </a:rPr>
              <a:t>1</a:t>
            </a:r>
            <a:r>
              <a:rPr lang="ru-RU" altLang="ru-RU" dirty="0"/>
              <a:t> </a:t>
            </a:r>
            <a:r>
              <a:rPr lang="ru-RU" altLang="ru-RU" sz="2000" dirty="0"/>
              <a:t>обозначает противоположную ситуацию, которая обычно трактуется как менее вероятная, неординарная, требующая какой-либо реакции. </a:t>
            </a:r>
          </a:p>
          <a:p>
            <a:pPr indent="357188"/>
            <a:r>
              <a:rPr lang="ru-RU" altLang="ru-RU" sz="2000" dirty="0"/>
              <a:t>С учётом вышесказанного, </a:t>
            </a:r>
            <a:r>
              <a:rPr lang="ru-RU" altLang="ru-RU" sz="2000" i="1" dirty="0"/>
              <a:t>ошибку первого рода</a:t>
            </a:r>
            <a:r>
              <a:rPr lang="ru-RU" altLang="ru-RU" sz="2000" dirty="0"/>
              <a:t> часто называют </a:t>
            </a:r>
            <a:r>
              <a:rPr lang="ru-RU" altLang="ru-RU" sz="2000" b="1" dirty="0"/>
              <a:t>ложной тревогой</a:t>
            </a:r>
            <a:r>
              <a:rPr lang="ru-RU" altLang="ru-RU" sz="2000" dirty="0"/>
              <a:t>, </a:t>
            </a:r>
            <a:r>
              <a:rPr lang="ru-RU" altLang="ru-RU" sz="2000" b="1" dirty="0"/>
              <a:t>ложным срабатыванием</a:t>
            </a:r>
            <a:r>
              <a:rPr lang="ru-RU" altLang="ru-RU" sz="2000" dirty="0"/>
              <a:t> или </a:t>
            </a:r>
            <a:r>
              <a:rPr lang="ru-RU" altLang="ru-RU" sz="2000" b="1" dirty="0"/>
              <a:t>ложноположительным</a:t>
            </a:r>
            <a:r>
              <a:rPr lang="en-US" altLang="ru-RU" sz="2000" b="1" dirty="0"/>
              <a:t> </a:t>
            </a:r>
            <a:r>
              <a:rPr lang="ru-RU" altLang="ru-RU" sz="2000" b="1" dirty="0"/>
              <a:t>срабатыванием</a:t>
            </a:r>
            <a:r>
              <a:rPr lang="ru-RU" altLang="ru-RU" sz="2000" dirty="0"/>
              <a:t>. Если, например, анализ крови показал наличие заболевания, хотя на самом деле человек здоров, или </a:t>
            </a:r>
            <a:r>
              <a:rPr lang="ru-RU" altLang="ru-RU" sz="2000" dirty="0" err="1"/>
              <a:t>металлодетектор</a:t>
            </a:r>
            <a:r>
              <a:rPr lang="ru-RU" altLang="ru-RU" sz="2000" dirty="0"/>
              <a:t> выдал сигнал тревоги, сработав на металлическую пряжку ремня, то принятая гипотеза не верна, а следовательно совершена ошибка первого рода. Слово «ложноположительный» в данном случае не имеет отношения к желательности или нежелательности самого события. </a:t>
            </a:r>
          </a:p>
        </p:txBody>
      </p:sp>
      <p:pic>
        <p:nvPicPr>
          <p:cNvPr id="13317" name="Picture 15" descr="student"/>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9822057" y="5546952"/>
            <a:ext cx="976565" cy="12800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AutoShape 5"/>
          <p:cNvSpPr>
            <a:spLocks noChangeArrowheads="1"/>
          </p:cNvSpPr>
          <p:nvPr/>
        </p:nvSpPr>
        <p:spPr bwMode="auto">
          <a:xfrm>
            <a:off x="2085977" y="395289"/>
            <a:ext cx="8351837" cy="499771"/>
          </a:xfrm>
          <a:prstGeom prst="roundRect">
            <a:avLst>
              <a:gd name="adj" fmla="val 16667"/>
            </a:avLst>
          </a:prstGeom>
          <a:solidFill>
            <a:srgbClr val="FFFFFF">
              <a:alpha val="78822"/>
            </a:srgb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eaLnBrk="0" hangingPunct="0">
              <a:defRPr sz="2000">
                <a:solidFill>
                  <a:schemeClr val="tx1"/>
                </a:solidFill>
                <a:latin typeface="Arial" panose="020B0604020202020204" pitchFamily="34" charset="0"/>
                <a:cs typeface="Arial" panose="020B0604020202020204" pitchFamily="34" charset="0"/>
              </a:defRPr>
            </a:lvl1pPr>
            <a:lvl2pPr marL="742950" indent="-285750" defTabSz="993775" eaLnBrk="0" hangingPunct="0">
              <a:defRPr sz="2000">
                <a:solidFill>
                  <a:schemeClr val="tx1"/>
                </a:solidFill>
                <a:latin typeface="Arial" panose="020B0604020202020204" pitchFamily="34" charset="0"/>
                <a:cs typeface="Arial" panose="020B0604020202020204" pitchFamily="34" charset="0"/>
              </a:defRPr>
            </a:lvl2pPr>
            <a:lvl3pPr marL="1143000" indent="-228600" defTabSz="993775" eaLnBrk="0" hangingPunct="0">
              <a:defRPr sz="2000">
                <a:solidFill>
                  <a:schemeClr val="tx1"/>
                </a:solidFill>
                <a:latin typeface="Arial" panose="020B0604020202020204" pitchFamily="34" charset="0"/>
                <a:cs typeface="Arial" panose="020B0604020202020204" pitchFamily="34" charset="0"/>
              </a:defRPr>
            </a:lvl3pPr>
            <a:lvl4pPr marL="1600200" indent="-228600" defTabSz="993775" eaLnBrk="0" hangingPunct="0">
              <a:defRPr sz="2000">
                <a:solidFill>
                  <a:schemeClr val="tx1"/>
                </a:solidFill>
                <a:latin typeface="Arial" panose="020B0604020202020204" pitchFamily="34" charset="0"/>
                <a:cs typeface="Arial" panose="020B0604020202020204" pitchFamily="34" charset="0"/>
              </a:defRPr>
            </a:lvl4pPr>
            <a:lvl5pPr marL="2057400" indent="-228600" defTabSz="993775" eaLnBrk="0" hangingPunct="0">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ru-RU" altLang="ru-RU" sz="3600" b="1" dirty="0"/>
              <a:t>Тестирование гипотез в статистике</a:t>
            </a:r>
          </a:p>
        </p:txBody>
      </p:sp>
      <p:sp>
        <p:nvSpPr>
          <p:cNvPr id="2" name="Номер слайда 1"/>
          <p:cNvSpPr>
            <a:spLocks noGrp="1"/>
          </p:cNvSpPr>
          <p:nvPr>
            <p:ph type="sldNum" sz="quarter" idx="12"/>
          </p:nvPr>
        </p:nvSpPr>
        <p:spPr>
          <a:xfrm>
            <a:off x="10998292" y="6581068"/>
            <a:ext cx="1312497" cy="379409"/>
          </a:xfrm>
        </p:spPr>
        <p:txBody>
          <a:bodyPr/>
          <a:lstStyle/>
          <a:p>
            <a:fld id="{952B6C0E-C4B9-4094-8E59-5B7DF00D5415}" type="slidenum">
              <a:rPr lang="ru-RU" sz="1400">
                <a:solidFill>
                  <a:schemeClr val="tx1"/>
                </a:solidFill>
              </a:rPr>
              <a:t>48</a:t>
            </a:fld>
            <a:endParaRPr lang="ru-RU" sz="1400" dirty="0">
              <a:solidFill>
                <a:schemeClr val="tx1"/>
              </a:solidFill>
            </a:endParaRPr>
          </a:p>
        </p:txBody>
      </p:sp>
    </p:spTree>
    <p:extLst>
      <p:ext uri="{BB962C8B-B14F-4D97-AF65-F5344CB8AC3E}">
        <p14:creationId xmlns:p14="http://schemas.microsoft.com/office/powerpoint/2010/main" val="6660440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AutoShape 4"/>
          <p:cNvSpPr>
            <a:spLocks noChangeArrowheads="1"/>
          </p:cNvSpPr>
          <p:nvPr/>
        </p:nvSpPr>
        <p:spPr bwMode="auto">
          <a:xfrm>
            <a:off x="1438275" y="322263"/>
            <a:ext cx="10944521" cy="6553200"/>
          </a:xfrm>
          <a:prstGeom prst="roundRect">
            <a:avLst>
              <a:gd name="adj" fmla="val 16667"/>
            </a:avLst>
          </a:prstGeom>
          <a:solidFill>
            <a:schemeClr val="bg1">
              <a:alpha val="50195"/>
            </a:scheme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eaLnBrk="0" hangingPunct="0">
              <a:defRPr sz="2000">
                <a:solidFill>
                  <a:schemeClr val="tx1"/>
                </a:solidFill>
                <a:latin typeface="Arial" panose="020B0604020202020204" pitchFamily="34" charset="0"/>
                <a:cs typeface="Arial" panose="020B0604020202020204" pitchFamily="34" charset="0"/>
              </a:defRPr>
            </a:lvl1pPr>
            <a:lvl2pPr marL="742950" indent="-285750" defTabSz="993775" eaLnBrk="0" hangingPunct="0">
              <a:defRPr sz="2000">
                <a:solidFill>
                  <a:schemeClr val="tx1"/>
                </a:solidFill>
                <a:latin typeface="Arial" panose="020B0604020202020204" pitchFamily="34" charset="0"/>
                <a:cs typeface="Arial" panose="020B0604020202020204" pitchFamily="34" charset="0"/>
              </a:defRPr>
            </a:lvl2pPr>
            <a:lvl3pPr marL="1143000" indent="-228600" defTabSz="993775" eaLnBrk="0" hangingPunct="0">
              <a:defRPr sz="2000">
                <a:solidFill>
                  <a:schemeClr val="tx1"/>
                </a:solidFill>
                <a:latin typeface="Arial" panose="020B0604020202020204" pitchFamily="34" charset="0"/>
                <a:cs typeface="Arial" panose="020B0604020202020204" pitchFamily="34" charset="0"/>
              </a:defRPr>
            </a:lvl3pPr>
            <a:lvl4pPr marL="1600200" indent="-228600" defTabSz="993775" eaLnBrk="0" hangingPunct="0">
              <a:defRPr sz="2000">
                <a:solidFill>
                  <a:schemeClr val="tx1"/>
                </a:solidFill>
                <a:latin typeface="Arial" panose="020B0604020202020204" pitchFamily="34" charset="0"/>
                <a:cs typeface="Arial" panose="020B0604020202020204" pitchFamily="34" charset="0"/>
              </a:defRPr>
            </a:lvl4pPr>
            <a:lvl5pPr marL="2057400" indent="-228600" defTabSz="993775" eaLnBrk="0" hangingPunct="0">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14339" name="Text Box 3"/>
          <p:cNvSpPr txBox="1">
            <a:spLocks noChangeArrowheads="1"/>
          </p:cNvSpPr>
          <p:nvPr/>
        </p:nvSpPr>
        <p:spPr bwMode="auto">
          <a:xfrm>
            <a:off x="1005533" y="1436137"/>
            <a:ext cx="10944521" cy="40534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50000"/>
              </a:spcBef>
              <a:buClrTx/>
              <a:buSzTx/>
              <a:buFontTx/>
              <a:buNone/>
            </a:pPr>
            <a:r>
              <a:rPr lang="ru-RU" sz="2200" dirty="0"/>
              <a:t>Максимальный шанс (вероятность) допустить ошибку 1-го рода обозначается </a:t>
            </a:r>
            <a:r>
              <a:rPr lang="ru-RU" sz="2200" b="1" i="1" dirty="0"/>
              <a:t>α</a:t>
            </a:r>
            <a:r>
              <a:rPr lang="ru-RU" sz="2200" dirty="0"/>
              <a:t> (альфа). Это </a:t>
            </a:r>
            <a:r>
              <a:rPr lang="ru-RU" sz="2200" b="1" i="1" dirty="0"/>
              <a:t>уровень значимости критерия</a:t>
            </a:r>
            <a:r>
              <a:rPr lang="ru-RU" sz="2200" dirty="0"/>
              <a:t>; нулевую гипотезу отвергают, если наше значение </a:t>
            </a:r>
            <a:r>
              <a:rPr lang="ru-RU" sz="2200" i="1" dirty="0"/>
              <a:t>p</a:t>
            </a:r>
            <a:r>
              <a:rPr lang="ru-RU" sz="2200" dirty="0"/>
              <a:t> ниже уровня значимости, т. е., если </a:t>
            </a:r>
            <a:r>
              <a:rPr lang="ru-RU" sz="2200" b="1" i="1" dirty="0"/>
              <a:t>p </a:t>
            </a:r>
            <a:r>
              <a:rPr lang="en-US" sz="2200" b="1" i="1" dirty="0"/>
              <a:t>&lt;</a:t>
            </a:r>
            <a:r>
              <a:rPr lang="ru-RU" sz="2200" b="1" i="1" dirty="0"/>
              <a:t> α</a:t>
            </a:r>
            <a:r>
              <a:rPr lang="ru-RU" sz="2200" dirty="0"/>
              <a:t>.</a:t>
            </a:r>
          </a:p>
          <a:p>
            <a:r>
              <a:rPr lang="ru-RU" sz="2200" dirty="0"/>
              <a:t>Следует принять решение относительно значения </a:t>
            </a:r>
            <a:r>
              <a:rPr lang="ru-RU" sz="2200" b="1" i="1" dirty="0"/>
              <a:t>α</a:t>
            </a:r>
            <a:r>
              <a:rPr lang="ru-RU" sz="2200" dirty="0"/>
              <a:t> прежде, чем будут собраны данные; обычно назначают условное значение 0,05, хотя можно выбрать более ограничивающее значение, например 0,01. </a:t>
            </a:r>
            <a:br>
              <a:rPr lang="ru-RU" sz="2200" dirty="0"/>
            </a:br>
            <a:r>
              <a:rPr lang="ru-RU" sz="2200" dirty="0"/>
              <a:t>Шанс допустить ошибку 1-го рода никогда не превысит выбранного уровня значимости, скажем </a:t>
            </a:r>
            <a:r>
              <a:rPr lang="ru-RU" sz="2200" b="1" i="1" dirty="0"/>
              <a:t>α = 0,05</a:t>
            </a:r>
            <a:r>
              <a:rPr lang="ru-RU" sz="2200" dirty="0"/>
              <a:t>, так как нулевую гипотезу отвергают только тогда, когда </a:t>
            </a:r>
            <a:r>
              <a:rPr lang="ru-RU" sz="2200" i="1" dirty="0"/>
              <a:t>p</a:t>
            </a:r>
            <a:r>
              <a:rPr lang="ru-RU" sz="2200" dirty="0"/>
              <a:t>&lt; 0,05. Если обнаружено, что </a:t>
            </a:r>
            <a:r>
              <a:rPr lang="ru-RU" sz="2200" i="1" dirty="0"/>
              <a:t>p</a:t>
            </a:r>
            <a:r>
              <a:rPr lang="ru-RU" sz="2200" dirty="0"/>
              <a:t> &gt; 0,05, то нулевую гипотезу не отвергнут и, следовательно, не допустят ошибки 1-го рода.</a:t>
            </a:r>
          </a:p>
          <a:p>
            <a:pPr eaLnBrk="1" hangingPunct="1">
              <a:spcBef>
                <a:spcPct val="50000"/>
              </a:spcBef>
              <a:buClrTx/>
              <a:buSzTx/>
              <a:buFontTx/>
              <a:buNone/>
            </a:pPr>
            <a:r>
              <a:rPr lang="ru-RU" sz="2200" dirty="0"/>
              <a:t> </a:t>
            </a:r>
            <a:r>
              <a:rPr lang="ru-RU" sz="2200" b="1" i="1" dirty="0"/>
              <a:t>Мощность</a:t>
            </a:r>
            <a:r>
              <a:rPr lang="ru-RU" sz="2200" b="1" dirty="0"/>
              <a:t> </a:t>
            </a:r>
            <a:r>
              <a:rPr lang="ru-RU" sz="2200" dirty="0"/>
              <a:t>— это вероятность отклонения нулевой гипотезы, когда она ложна.</a:t>
            </a:r>
            <a:endParaRPr lang="ru-RU" altLang="ru-RU" sz="2200" dirty="0"/>
          </a:p>
        </p:txBody>
      </p:sp>
      <p:sp>
        <p:nvSpPr>
          <p:cNvPr id="10" name="AutoShape 5"/>
          <p:cNvSpPr>
            <a:spLocks noChangeArrowheads="1"/>
          </p:cNvSpPr>
          <p:nvPr/>
        </p:nvSpPr>
        <p:spPr bwMode="auto">
          <a:xfrm>
            <a:off x="2085977" y="395289"/>
            <a:ext cx="8351837" cy="499771"/>
          </a:xfrm>
          <a:prstGeom prst="roundRect">
            <a:avLst>
              <a:gd name="adj" fmla="val 16667"/>
            </a:avLst>
          </a:prstGeom>
          <a:solidFill>
            <a:srgbClr val="FFFFFF">
              <a:alpha val="78822"/>
            </a:srgb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eaLnBrk="0" hangingPunct="0">
              <a:defRPr sz="2000">
                <a:solidFill>
                  <a:schemeClr val="tx1"/>
                </a:solidFill>
                <a:latin typeface="Arial" panose="020B0604020202020204" pitchFamily="34" charset="0"/>
                <a:cs typeface="Arial" panose="020B0604020202020204" pitchFamily="34" charset="0"/>
              </a:defRPr>
            </a:lvl1pPr>
            <a:lvl2pPr marL="742950" indent="-285750" defTabSz="993775" eaLnBrk="0" hangingPunct="0">
              <a:defRPr sz="2000">
                <a:solidFill>
                  <a:schemeClr val="tx1"/>
                </a:solidFill>
                <a:latin typeface="Arial" panose="020B0604020202020204" pitchFamily="34" charset="0"/>
                <a:cs typeface="Arial" panose="020B0604020202020204" pitchFamily="34" charset="0"/>
              </a:defRPr>
            </a:lvl2pPr>
            <a:lvl3pPr marL="1143000" indent="-228600" defTabSz="993775" eaLnBrk="0" hangingPunct="0">
              <a:defRPr sz="2000">
                <a:solidFill>
                  <a:schemeClr val="tx1"/>
                </a:solidFill>
                <a:latin typeface="Arial" panose="020B0604020202020204" pitchFamily="34" charset="0"/>
                <a:cs typeface="Arial" panose="020B0604020202020204" pitchFamily="34" charset="0"/>
              </a:defRPr>
            </a:lvl3pPr>
            <a:lvl4pPr marL="1600200" indent="-228600" defTabSz="993775" eaLnBrk="0" hangingPunct="0">
              <a:defRPr sz="2000">
                <a:solidFill>
                  <a:schemeClr val="tx1"/>
                </a:solidFill>
                <a:latin typeface="Arial" panose="020B0604020202020204" pitchFamily="34" charset="0"/>
                <a:cs typeface="Arial" panose="020B0604020202020204" pitchFamily="34" charset="0"/>
              </a:defRPr>
            </a:lvl4pPr>
            <a:lvl5pPr marL="2057400" indent="-228600" defTabSz="993775" eaLnBrk="0" hangingPunct="0">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ru-RU" altLang="ru-RU" sz="3600" b="1" dirty="0"/>
              <a:t>Тестирование гипотез в статистике</a:t>
            </a:r>
          </a:p>
        </p:txBody>
      </p:sp>
      <p:sp>
        <p:nvSpPr>
          <p:cNvPr id="2" name="Номер слайда 1"/>
          <p:cNvSpPr>
            <a:spLocks noGrp="1"/>
          </p:cNvSpPr>
          <p:nvPr>
            <p:ph type="sldNum" sz="quarter" idx="12"/>
          </p:nvPr>
        </p:nvSpPr>
        <p:spPr>
          <a:xfrm>
            <a:off x="11605002" y="6594114"/>
            <a:ext cx="808441" cy="379409"/>
          </a:xfrm>
        </p:spPr>
        <p:txBody>
          <a:bodyPr/>
          <a:lstStyle/>
          <a:p>
            <a:fld id="{952B6C0E-C4B9-4094-8E59-5B7DF00D5415}" type="slidenum">
              <a:rPr lang="ru-RU" sz="1400">
                <a:solidFill>
                  <a:schemeClr val="tx1"/>
                </a:solidFill>
              </a:rPr>
              <a:t>49</a:t>
            </a:fld>
            <a:endParaRPr lang="ru-RU" sz="1400">
              <a:solidFill>
                <a:schemeClr val="tx1"/>
              </a:solidFill>
            </a:endParaRPr>
          </a:p>
        </p:txBody>
      </p:sp>
    </p:spTree>
    <p:extLst>
      <p:ext uri="{BB962C8B-B14F-4D97-AF65-F5344CB8AC3E}">
        <p14:creationId xmlns:p14="http://schemas.microsoft.com/office/powerpoint/2010/main" val="28913987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4"/>
          <p:cNvSpPr>
            <a:spLocks noChangeArrowheads="1"/>
          </p:cNvSpPr>
          <p:nvPr/>
        </p:nvSpPr>
        <p:spPr bwMode="auto">
          <a:xfrm>
            <a:off x="933525" y="422079"/>
            <a:ext cx="11452869" cy="6553200"/>
          </a:xfrm>
          <a:prstGeom prst="roundRect">
            <a:avLst>
              <a:gd name="adj" fmla="val 16667"/>
            </a:avLst>
          </a:prstGeom>
          <a:solidFill>
            <a:schemeClr val="bg1">
              <a:alpha val="50195"/>
            </a:scheme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pic>
        <p:nvPicPr>
          <p:cNvPr id="8" name="Рисунок 7"/>
          <p:cNvPicPr>
            <a:picLocks noChangeAspect="1"/>
          </p:cNvPicPr>
          <p:nvPr/>
        </p:nvPicPr>
        <p:blipFill>
          <a:blip r:embed="rId3"/>
          <a:stretch>
            <a:fillRect/>
          </a:stretch>
        </p:blipFill>
        <p:spPr>
          <a:xfrm>
            <a:off x="4006881" y="3663807"/>
            <a:ext cx="4847524" cy="3266136"/>
          </a:xfrm>
          <a:prstGeom prst="rect">
            <a:avLst/>
          </a:prstGeom>
        </p:spPr>
      </p:pic>
      <p:sp>
        <p:nvSpPr>
          <p:cNvPr id="5" name="AutoShape 5"/>
          <p:cNvSpPr>
            <a:spLocks noChangeArrowheads="1"/>
          </p:cNvSpPr>
          <p:nvPr/>
        </p:nvSpPr>
        <p:spPr bwMode="auto">
          <a:xfrm>
            <a:off x="2373685" y="322264"/>
            <a:ext cx="8064128" cy="720601"/>
          </a:xfrm>
          <a:prstGeom prst="roundRect">
            <a:avLst>
              <a:gd name="adj" fmla="val 37469"/>
            </a:avLst>
          </a:prstGeom>
          <a:solidFill>
            <a:srgbClr val="FFFFFF">
              <a:alpha val="78822"/>
            </a:srgb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2" name="Заголовок 1"/>
          <p:cNvSpPr txBox="1">
            <a:spLocks noGrp="1"/>
          </p:cNvSpPr>
          <p:nvPr>
            <p:ph type="title" idx="4294967295"/>
          </p:nvPr>
        </p:nvSpPr>
        <p:spPr>
          <a:xfrm>
            <a:off x="2517961" y="332872"/>
            <a:ext cx="7371978" cy="794714"/>
          </a:xfrm>
          <a:prstGeom prst="rect">
            <a:avLst/>
          </a:prstGeom>
        </p:spPr>
        <p:txBody>
          <a:bodyPr wrap="square">
            <a:noAutofit/>
          </a:bodyPr>
          <a:lstStyle/>
          <a:p>
            <a:pPr lvl="0"/>
            <a:r>
              <a:rPr lang="ru-RU" dirty="0"/>
              <a:t>Уровень значимости</a:t>
            </a:r>
          </a:p>
        </p:txBody>
      </p:sp>
      <p:sp>
        <p:nvSpPr>
          <p:cNvPr id="3" name="Текст 2"/>
          <p:cNvSpPr txBox="1">
            <a:spLocks noGrp="1"/>
          </p:cNvSpPr>
          <p:nvPr>
            <p:ph type="body" idx="4294967295"/>
          </p:nvPr>
        </p:nvSpPr>
        <p:spPr>
          <a:xfrm>
            <a:off x="1200026" y="1258888"/>
            <a:ext cx="10534699" cy="2494375"/>
          </a:xfrm>
          <a:prstGeom prst="rect">
            <a:avLst/>
          </a:prstGeom>
        </p:spPr>
        <p:txBody>
          <a:bodyPr wrap="square"/>
          <a:lstStyle/>
          <a:p>
            <a:pPr marL="0" indent="360363">
              <a:buClr>
                <a:srgbClr val="CC9900"/>
              </a:buClr>
              <a:buSzPct val="65000"/>
              <a:buFont typeface="Wingdings" pitchFamily="2"/>
              <a:buChar char=""/>
            </a:pPr>
            <a:r>
              <a:rPr lang="ru-RU" sz="2400" dirty="0"/>
              <a:t>Долю ошибок первого рода ограничивают сверху числом, называемым </a:t>
            </a:r>
            <a:r>
              <a:rPr lang="ru-RU" sz="2400" b="1" i="1" dirty="0">
                <a:solidFill>
                  <a:srgbClr val="FF0000"/>
                </a:solidFill>
              </a:rPr>
              <a:t>уровень значимости</a:t>
            </a:r>
            <a:r>
              <a:rPr lang="ru-RU" sz="2400" dirty="0"/>
              <a:t>.</a:t>
            </a:r>
          </a:p>
          <a:p>
            <a:pPr marL="0" indent="360363">
              <a:buClr>
                <a:srgbClr val="CC9900"/>
              </a:buClr>
              <a:buSzPct val="65000"/>
              <a:buFont typeface="Wingdings" pitchFamily="2"/>
              <a:buChar char=""/>
            </a:pPr>
            <a:r>
              <a:rPr lang="ru-RU" sz="2400" dirty="0"/>
              <a:t>Исторически сложилось так, что в качестве уровня значимости чаще всего выбирают одно из чисел 0.005, 0.01, 0.05.</a:t>
            </a:r>
          </a:p>
          <a:p>
            <a:pPr marL="0" indent="360363">
              <a:buClr>
                <a:srgbClr val="CC9900"/>
              </a:buClr>
              <a:buSzPct val="65000"/>
              <a:buFont typeface="Wingdings" pitchFamily="2"/>
              <a:buChar char=""/>
            </a:pPr>
            <a:r>
              <a:rPr lang="ru-RU" sz="2400" dirty="0"/>
              <a:t>То есть аналитик допускает, что (в среднем) одна проверка из 200, 100, 20 будет давать неверный результат.</a:t>
            </a:r>
          </a:p>
        </p:txBody>
      </p:sp>
      <p:sp>
        <p:nvSpPr>
          <p:cNvPr id="7" name="Номер слайда 6"/>
          <p:cNvSpPr>
            <a:spLocks noGrp="1"/>
          </p:cNvSpPr>
          <p:nvPr>
            <p:ph type="sldNum" sz="quarter" idx="12"/>
          </p:nvPr>
        </p:nvSpPr>
        <p:spPr/>
        <p:txBody>
          <a:bodyPr/>
          <a:lstStyle/>
          <a:p>
            <a:fld id="{952B6C0E-C4B9-4094-8E59-5B7DF00D5415}" type="slidenum">
              <a:rPr lang="ru-RU" sz="1400">
                <a:solidFill>
                  <a:schemeClr val="tx1"/>
                </a:solidFill>
              </a:rPr>
              <a:t>50</a:t>
            </a:fld>
            <a:endParaRPr lang="ru-RU" sz="1400">
              <a:solidFill>
                <a:schemeClr val="tx1"/>
              </a:solidFill>
            </a:endParaRPr>
          </a:p>
        </p:txBody>
      </p:sp>
    </p:spTree>
    <p:extLst>
      <p:ext uri="{BB962C8B-B14F-4D97-AF65-F5344CB8AC3E}">
        <p14:creationId xmlns:p14="http://schemas.microsoft.com/office/powerpoint/2010/main" val="102832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4"/>
          <p:cNvSpPr>
            <a:spLocks noChangeArrowheads="1"/>
          </p:cNvSpPr>
          <p:nvPr/>
        </p:nvSpPr>
        <p:spPr bwMode="auto">
          <a:xfrm>
            <a:off x="645495" y="322263"/>
            <a:ext cx="11740900" cy="6553200"/>
          </a:xfrm>
          <a:prstGeom prst="roundRect">
            <a:avLst>
              <a:gd name="adj" fmla="val 16667"/>
            </a:avLst>
          </a:prstGeom>
          <a:solidFill>
            <a:schemeClr val="bg1">
              <a:alpha val="50195"/>
            </a:scheme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5" name="AutoShape 5"/>
          <p:cNvSpPr>
            <a:spLocks noChangeArrowheads="1"/>
          </p:cNvSpPr>
          <p:nvPr/>
        </p:nvSpPr>
        <p:spPr bwMode="auto">
          <a:xfrm>
            <a:off x="2373685" y="322264"/>
            <a:ext cx="8064128" cy="720601"/>
          </a:xfrm>
          <a:prstGeom prst="roundRect">
            <a:avLst>
              <a:gd name="adj" fmla="val 37469"/>
            </a:avLst>
          </a:prstGeom>
          <a:solidFill>
            <a:srgbClr val="FFFFFF">
              <a:alpha val="78822"/>
            </a:srgb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2" name="Заголовок 1"/>
          <p:cNvSpPr txBox="1">
            <a:spLocks noGrp="1"/>
          </p:cNvSpPr>
          <p:nvPr>
            <p:ph type="title" idx="4294967295"/>
          </p:nvPr>
        </p:nvSpPr>
        <p:spPr>
          <a:xfrm>
            <a:off x="2949749" y="288926"/>
            <a:ext cx="6795914" cy="1184275"/>
          </a:xfrm>
          <a:prstGeom prst="rect">
            <a:avLst/>
          </a:prstGeom>
        </p:spPr>
        <p:txBody>
          <a:bodyPr wrap="square">
            <a:noAutofit/>
          </a:bodyPr>
          <a:lstStyle/>
          <a:p>
            <a:pPr lvl="0"/>
            <a:r>
              <a:rPr lang="ru-RU" dirty="0"/>
              <a:t>Для новичков!</a:t>
            </a:r>
          </a:p>
        </p:txBody>
      </p:sp>
      <p:sp>
        <p:nvSpPr>
          <p:cNvPr id="7" name="Текст 2"/>
          <p:cNvSpPr txBox="1">
            <a:spLocks/>
          </p:cNvSpPr>
          <p:nvPr/>
        </p:nvSpPr>
        <p:spPr>
          <a:xfrm>
            <a:off x="1074638" y="1459114"/>
            <a:ext cx="10948117" cy="2047985"/>
          </a:xfrm>
          <a:prstGeom prst="rect">
            <a:avLst/>
          </a:prstGeom>
        </p:spPr>
        <p:txBody>
          <a:bodyPr wrap="square"/>
          <a:lstStyle>
            <a:lvl1pPr marL="373063" indent="-373063" algn="l" defTabSz="993775" rtl="0" fontAlgn="base">
              <a:spcBef>
                <a:spcPct val="20000"/>
              </a:spcBef>
              <a:spcAft>
                <a:spcPct val="0"/>
              </a:spcAft>
              <a:buChar char="•"/>
              <a:defRPr sz="3500" kern="1200">
                <a:solidFill>
                  <a:schemeClr val="tx1"/>
                </a:solidFill>
                <a:latin typeface="+mn-lt"/>
                <a:ea typeface="+mn-ea"/>
                <a:cs typeface="+mn-cs"/>
              </a:defRPr>
            </a:lvl1pPr>
            <a:lvl2pPr marL="808038" indent="-311150" algn="l" defTabSz="993775" rtl="0" fontAlgn="base">
              <a:spcBef>
                <a:spcPct val="20000"/>
              </a:spcBef>
              <a:spcAft>
                <a:spcPct val="0"/>
              </a:spcAft>
              <a:buChar char="–"/>
              <a:defRPr sz="3000" kern="1200">
                <a:solidFill>
                  <a:schemeClr val="tx1"/>
                </a:solidFill>
                <a:latin typeface="+mn-lt"/>
                <a:ea typeface="+mn-ea"/>
                <a:cs typeface="+mn-cs"/>
              </a:defRPr>
            </a:lvl2pPr>
            <a:lvl3pPr marL="1243013" indent="-249238" algn="l" defTabSz="993775" rtl="0" fontAlgn="base">
              <a:spcBef>
                <a:spcPct val="20000"/>
              </a:spcBef>
              <a:spcAft>
                <a:spcPct val="0"/>
              </a:spcAft>
              <a:buChar char="•"/>
              <a:defRPr sz="2600" kern="1200">
                <a:solidFill>
                  <a:schemeClr val="tx1"/>
                </a:solidFill>
                <a:latin typeface="+mn-lt"/>
                <a:ea typeface="+mn-ea"/>
                <a:cs typeface="+mn-cs"/>
              </a:defRPr>
            </a:lvl3pPr>
            <a:lvl4pPr marL="1739900" indent="-247650" algn="l" defTabSz="993775" rtl="0" fontAlgn="base">
              <a:spcBef>
                <a:spcPct val="20000"/>
              </a:spcBef>
              <a:spcAft>
                <a:spcPct val="0"/>
              </a:spcAft>
              <a:buChar char="–"/>
              <a:defRPr sz="2200" kern="1200">
                <a:solidFill>
                  <a:schemeClr val="tx1"/>
                </a:solidFill>
                <a:latin typeface="+mn-lt"/>
                <a:ea typeface="+mn-ea"/>
                <a:cs typeface="+mn-cs"/>
              </a:defRPr>
            </a:lvl4pPr>
            <a:lvl5pPr marL="2236788" indent="-247650" algn="l" defTabSz="993775" rtl="0" fontAlgn="base">
              <a:spcBef>
                <a:spcPct val="20000"/>
              </a:spcBef>
              <a:spcAft>
                <a:spcPct val="0"/>
              </a:spcAft>
              <a:buChar char="»"/>
              <a:defRPr sz="2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4013" indent="-354013">
              <a:buClr>
                <a:srgbClr val="CC9900"/>
              </a:buClr>
              <a:buSzPct val="65000"/>
              <a:buFont typeface="Wingdings" pitchFamily="2"/>
              <a:buChar char=""/>
            </a:pPr>
            <a:r>
              <a:rPr lang="ru-RU" sz="2400" dirty="0"/>
              <a:t>В эконометрике чаще всего уровень значимости равен </a:t>
            </a:r>
            <a:r>
              <a:rPr lang="ru-RU" sz="2400" b="1" i="1" dirty="0">
                <a:solidFill>
                  <a:srgbClr val="0000FF"/>
                </a:solidFill>
              </a:rPr>
              <a:t>0.05</a:t>
            </a:r>
          </a:p>
          <a:p>
            <a:pPr marL="354013" indent="-354013">
              <a:buClr>
                <a:srgbClr val="CC9900"/>
              </a:buClr>
              <a:buSzPct val="65000"/>
              <a:buFont typeface="Wingdings" pitchFamily="2"/>
              <a:buChar char=""/>
            </a:pPr>
            <a:r>
              <a:rPr lang="ru-RU" sz="2400" dirty="0"/>
              <a:t>В генетике — </a:t>
            </a:r>
            <a:r>
              <a:rPr lang="ru-RU" sz="2400" b="1" i="1" dirty="0">
                <a:solidFill>
                  <a:srgbClr val="0000FF"/>
                </a:solidFill>
              </a:rPr>
              <a:t>0.01</a:t>
            </a:r>
          </a:p>
          <a:p>
            <a:pPr marL="354013" indent="-354013">
              <a:buClr>
                <a:srgbClr val="CC9900"/>
              </a:buClr>
              <a:buSzPct val="65000"/>
              <a:buFont typeface="Wingdings" pitchFamily="2"/>
              <a:buChar char=""/>
            </a:pPr>
            <a:r>
              <a:rPr lang="ru-RU" sz="2400" dirty="0"/>
              <a:t>Выбор уровня значимости – большая проблема! Зависит, например, от числа наблюдений!</a:t>
            </a:r>
          </a:p>
          <a:p>
            <a:pPr marL="0" indent="0">
              <a:buNone/>
              <a:tabLst>
                <a:tab pos="341280" algn="l"/>
                <a:tab pos="447480" algn="l"/>
                <a:tab pos="896760" algn="l"/>
                <a:tab pos="1346040" algn="l"/>
                <a:tab pos="1795320" algn="l"/>
                <a:tab pos="2244600" algn="l"/>
                <a:tab pos="2693880" algn="l"/>
                <a:tab pos="3143160" algn="l"/>
                <a:tab pos="3592439" algn="l"/>
                <a:tab pos="4041720" algn="l"/>
                <a:tab pos="4490999" algn="l"/>
                <a:tab pos="4939920" algn="l"/>
                <a:tab pos="5389200" algn="l"/>
                <a:tab pos="5838480" algn="l"/>
                <a:tab pos="6287760" algn="l"/>
                <a:tab pos="6737039" algn="l"/>
                <a:tab pos="7186320" algn="l"/>
                <a:tab pos="7635599" algn="l"/>
                <a:tab pos="8084880" algn="l"/>
                <a:tab pos="8534160" algn="l"/>
                <a:tab pos="8983440" algn="l"/>
              </a:tabLst>
            </a:pPr>
            <a:endParaRPr lang="en-US" sz="2400" dirty="0"/>
          </a:p>
        </p:txBody>
      </p:sp>
      <p:sp>
        <p:nvSpPr>
          <p:cNvPr id="8" name="Rectangle 1"/>
          <p:cNvSpPr>
            <a:spLocks noChangeArrowheads="1"/>
          </p:cNvSpPr>
          <p:nvPr/>
        </p:nvSpPr>
        <p:spPr bwMode="auto">
          <a:xfrm>
            <a:off x="1074637" y="3492613"/>
            <a:ext cx="10948119" cy="3416320"/>
          </a:xfrm>
          <a:prstGeom prst="rect">
            <a:avLst/>
          </a:prstGeom>
        </p:spPr>
        <p:txBody>
          <a:bodyPr wrap="square"/>
          <a:lstStyle/>
          <a:p>
            <a:pPr defTabSz="993775">
              <a:spcBef>
                <a:spcPct val="20000"/>
              </a:spcBef>
              <a:buClr>
                <a:srgbClr val="CC9900"/>
              </a:buClr>
              <a:buSzPct val="65000"/>
              <a:buFont typeface="Wingdings"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ru-RU" altLang="ru-RU" sz="2400" dirty="0">
                <a:latin typeface="+mn-lt"/>
                <a:cs typeface="+mn-cs"/>
              </a:rPr>
              <a:t>И тут возникает мысль, что чем меньше «альфа», тем вроде бы лучше. Но это только вроде: при уменьшении вероятности  </a:t>
            </a:r>
            <a:r>
              <a:rPr lang="el-GR" altLang="ru-RU" sz="2800" b="1" i="1" dirty="0">
                <a:solidFill>
                  <a:srgbClr val="0000FF"/>
                </a:solidFill>
                <a:latin typeface="Times New Roman" panose="02020603050405020304" pitchFamily="18" charset="0"/>
                <a:cs typeface="Times New Roman" panose="02020603050405020304" pitchFamily="18" charset="0"/>
              </a:rPr>
              <a:t>α</a:t>
            </a:r>
            <a:r>
              <a:rPr lang="ru-RU" altLang="ru-RU" sz="2400" dirty="0">
                <a:latin typeface="+mn-lt"/>
                <a:cs typeface="+mn-cs"/>
              </a:rPr>
              <a:t> - отвергнуть правильную гипотезу растёт вероятность  </a:t>
            </a:r>
            <a:r>
              <a:rPr lang="el-GR" altLang="ru-RU" sz="2800" b="1" i="1" dirty="0">
                <a:solidFill>
                  <a:srgbClr val="0000FF"/>
                </a:solidFill>
                <a:latin typeface="Times New Roman" panose="02020603050405020304" pitchFamily="18" charset="0"/>
                <a:cs typeface="Times New Roman" panose="02020603050405020304" pitchFamily="18" charset="0"/>
              </a:rPr>
              <a:t>β</a:t>
            </a:r>
            <a:r>
              <a:rPr lang="ru-RU" altLang="ru-RU" sz="2400" dirty="0">
                <a:latin typeface="+mn-lt"/>
                <a:cs typeface="+mn-cs"/>
              </a:rPr>
              <a:t>  - принять неверную гипотезу (при прочих равных условиях). Поэтому перед исследователем стоит задача грамотно подобрать соотношение вероятностей </a:t>
            </a:r>
            <a:r>
              <a:rPr lang="el-GR" altLang="ru-RU" sz="2400" b="1" i="1" dirty="0">
                <a:solidFill>
                  <a:srgbClr val="0000FF"/>
                </a:solidFill>
                <a:latin typeface="Times New Roman" panose="02020603050405020304" pitchFamily="18" charset="0"/>
                <a:cs typeface="Times New Roman" panose="02020603050405020304" pitchFamily="18" charset="0"/>
              </a:rPr>
              <a:t> α</a:t>
            </a:r>
            <a:r>
              <a:rPr lang="ru-RU" altLang="ru-RU" sz="2400" dirty="0">
                <a:latin typeface="+mn-lt"/>
                <a:cs typeface="+mn-cs"/>
              </a:rPr>
              <a:t>   и  </a:t>
            </a:r>
            <a:r>
              <a:rPr lang="el-GR" altLang="ru-RU" sz="2400" b="1" i="1" dirty="0">
                <a:solidFill>
                  <a:srgbClr val="0000FF"/>
                </a:solidFill>
                <a:latin typeface="Times New Roman" panose="02020603050405020304" pitchFamily="18" charset="0"/>
                <a:cs typeface="Times New Roman" panose="02020603050405020304" pitchFamily="18" charset="0"/>
              </a:rPr>
              <a:t>β</a:t>
            </a:r>
            <a:r>
              <a:rPr lang="ru-RU" altLang="ru-RU" sz="2400" dirty="0"/>
              <a:t> </a:t>
            </a:r>
            <a:r>
              <a:rPr lang="ru-RU" altLang="ru-RU" sz="2400" dirty="0">
                <a:latin typeface="+mn-lt"/>
                <a:cs typeface="+mn-cs"/>
              </a:rPr>
              <a:t>, при этом </a:t>
            </a:r>
            <a:r>
              <a:rPr lang="ru-RU" altLang="ru-RU" sz="2400" b="1" i="1" dirty="0">
                <a:solidFill>
                  <a:srgbClr val="0000FF"/>
                </a:solidFill>
                <a:latin typeface="Times New Roman" panose="02020603050405020304" pitchFamily="18" charset="0"/>
                <a:cs typeface="Times New Roman" panose="02020603050405020304" pitchFamily="18" charset="0"/>
              </a:rPr>
              <a:t>учитывается тяжесть последствий, которые повлекут за собой та и другая ошибки. </a:t>
            </a:r>
          </a:p>
        </p:txBody>
      </p:sp>
      <p:pic>
        <p:nvPicPr>
          <p:cNvPr id="19460" name="Picture 4" descr="http://mathprofi.ru/v/statisticheskie_gipotezy_clip_image012_0001.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V="1">
            <a:off x="7377512" y="4514007"/>
            <a:ext cx="128521" cy="45719"/>
          </a:xfrm>
          <a:prstGeom prst="rect">
            <a:avLst/>
          </a:prstGeom>
          <a:noFill/>
          <a:extLst>
            <a:ext uri="{909E8E84-426E-40DD-AFC4-6F175D3DCCD1}">
              <a14:hiddenFill xmlns:a14="http://schemas.microsoft.com/office/drawing/2010/main">
                <a:solidFill>
                  <a:srgbClr val="FFFFFF"/>
                </a:solidFill>
              </a14:hiddenFill>
            </a:ext>
          </a:extLst>
        </p:spPr>
      </p:pic>
      <p:pic>
        <p:nvPicPr>
          <p:cNvPr id="19461" name="Picture 5" descr="http://mathprofi.ru/v/statisticheskie_gipotezy_clip_image014_0001.gif"/>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V="1">
            <a:off x="7601350" y="4571157"/>
            <a:ext cx="128521" cy="45719"/>
          </a:xfrm>
          <a:prstGeom prst="rect">
            <a:avLst/>
          </a:prstGeom>
          <a:noFill/>
          <a:extLst>
            <a:ext uri="{909E8E84-426E-40DD-AFC4-6F175D3DCCD1}">
              <a14:hiddenFill xmlns:a14="http://schemas.microsoft.com/office/drawing/2010/main">
                <a:solidFill>
                  <a:srgbClr val="FFFFFF"/>
                </a:solidFill>
              </a14:hiddenFill>
            </a:ext>
          </a:extLst>
        </p:spPr>
      </p:pic>
      <p:sp>
        <p:nvSpPr>
          <p:cNvPr id="3" name="Номер слайда 2"/>
          <p:cNvSpPr>
            <a:spLocks noGrp="1"/>
          </p:cNvSpPr>
          <p:nvPr>
            <p:ph type="sldNum" sz="quarter" idx="12"/>
          </p:nvPr>
        </p:nvSpPr>
        <p:spPr/>
        <p:txBody>
          <a:bodyPr/>
          <a:lstStyle/>
          <a:p>
            <a:fld id="{952B6C0E-C4B9-4094-8E59-5B7DF00D5415}" type="slidenum">
              <a:rPr lang="ru-RU" smtClean="0">
                <a:solidFill>
                  <a:schemeClr val="tx1"/>
                </a:solidFill>
              </a:rPr>
              <a:t>51</a:t>
            </a:fld>
            <a:endParaRPr lang="ru-RU" dirty="0">
              <a:solidFill>
                <a:schemeClr val="tx1"/>
              </a:solidFill>
            </a:endParaRPr>
          </a:p>
        </p:txBody>
      </p:sp>
    </p:spTree>
    <p:extLst>
      <p:ext uri="{BB962C8B-B14F-4D97-AF65-F5344CB8AC3E}">
        <p14:creationId xmlns:p14="http://schemas.microsoft.com/office/powerpoint/2010/main" val="21222865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4"/>
          <p:cNvSpPr>
            <a:spLocks noChangeArrowheads="1"/>
          </p:cNvSpPr>
          <p:nvPr/>
        </p:nvSpPr>
        <p:spPr bwMode="auto">
          <a:xfrm>
            <a:off x="1438275" y="322263"/>
            <a:ext cx="10948119" cy="6553200"/>
          </a:xfrm>
          <a:prstGeom prst="roundRect">
            <a:avLst>
              <a:gd name="adj" fmla="val 16667"/>
            </a:avLst>
          </a:prstGeom>
          <a:solidFill>
            <a:schemeClr val="bg1">
              <a:alpha val="50195"/>
            </a:scheme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5" name="AutoShape 5"/>
          <p:cNvSpPr>
            <a:spLocks noChangeArrowheads="1"/>
          </p:cNvSpPr>
          <p:nvPr/>
        </p:nvSpPr>
        <p:spPr bwMode="auto">
          <a:xfrm>
            <a:off x="2373685" y="322264"/>
            <a:ext cx="8064128" cy="720601"/>
          </a:xfrm>
          <a:prstGeom prst="roundRect">
            <a:avLst>
              <a:gd name="adj" fmla="val 37469"/>
            </a:avLst>
          </a:prstGeom>
          <a:solidFill>
            <a:srgbClr val="FFFFFF">
              <a:alpha val="78822"/>
            </a:srgb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7" name="Прямоугольник 6"/>
          <p:cNvSpPr/>
          <p:nvPr/>
        </p:nvSpPr>
        <p:spPr>
          <a:xfrm>
            <a:off x="1293565" y="1440329"/>
            <a:ext cx="10633643" cy="4062651"/>
          </a:xfrm>
          <a:prstGeom prst="rect">
            <a:avLst/>
          </a:prstGeom>
        </p:spPr>
        <p:txBody>
          <a:bodyPr wrap="square">
            <a:spAutoFit/>
          </a:bodyPr>
          <a:lstStyle/>
          <a:p>
            <a:r>
              <a:rPr lang="ru-RU" sz="2400" dirty="0">
                <a:solidFill>
                  <a:srgbClr val="000000"/>
                </a:solidFill>
                <a:latin typeface="Times New Roman" panose="02020603050405020304" pitchFamily="18" charset="0"/>
              </a:rPr>
              <a:t>С каждым из используемых для проверки гипотезы  </a:t>
            </a:r>
            <a:r>
              <a:rPr lang="ru-RU" sz="2400" i="1" dirty="0">
                <a:solidFill>
                  <a:srgbClr val="000000"/>
                </a:solidFill>
                <a:latin typeface="Times New Roman" panose="02020603050405020304" pitchFamily="18" charset="0"/>
              </a:rPr>
              <a:t>H</a:t>
            </a:r>
            <a:r>
              <a:rPr lang="ru-RU" sz="2400" i="1" baseline="-25000" dirty="0">
                <a:solidFill>
                  <a:srgbClr val="000000"/>
                </a:solidFill>
                <a:latin typeface="Times New Roman" panose="02020603050405020304" pitchFamily="18" charset="0"/>
              </a:rPr>
              <a:t>0</a:t>
            </a:r>
            <a:r>
              <a:rPr lang="ru-RU" sz="6600" dirty="0">
                <a:solidFill>
                  <a:srgbClr val="000000"/>
                </a:solidFill>
                <a:latin typeface="Times New Roman" panose="02020603050405020304" pitchFamily="18" charset="0"/>
              </a:rPr>
              <a:t> </a:t>
            </a:r>
            <a:r>
              <a:rPr lang="ru-RU" sz="2400" dirty="0">
                <a:solidFill>
                  <a:srgbClr val="000000"/>
                </a:solidFill>
                <a:latin typeface="Times New Roman" panose="02020603050405020304" pitchFamily="18" charset="0"/>
              </a:rPr>
              <a:t>критериев связана статистика</a:t>
            </a:r>
            <a:r>
              <a:rPr lang="ru-RU" sz="2400" i="1" dirty="0">
                <a:solidFill>
                  <a:srgbClr val="000000"/>
                </a:solidFill>
                <a:latin typeface="Times New Roman" panose="02020603050405020304" pitchFamily="18" charset="0"/>
              </a:rPr>
              <a:t> S</a:t>
            </a:r>
            <a:r>
              <a:rPr lang="ru-RU" sz="2400" dirty="0">
                <a:solidFill>
                  <a:srgbClr val="000000"/>
                </a:solidFill>
                <a:latin typeface="Times New Roman" panose="02020603050405020304" pitchFamily="18" charset="0"/>
              </a:rPr>
              <a:t>, которая представляет собой некоторую меру для измерения вероятности соответствия (несоответствия) анализируемых выборок проверяемой гипотезе </a:t>
            </a:r>
            <a:r>
              <a:rPr lang="ru-RU" sz="2400" i="1" dirty="0">
                <a:solidFill>
                  <a:srgbClr val="000000"/>
                </a:solidFill>
                <a:latin typeface="Times New Roman" panose="02020603050405020304" pitchFamily="18" charset="0"/>
              </a:rPr>
              <a:t>H</a:t>
            </a:r>
            <a:r>
              <a:rPr lang="ru-RU" sz="2400" i="1" baseline="-25000" dirty="0">
                <a:solidFill>
                  <a:srgbClr val="000000"/>
                </a:solidFill>
                <a:latin typeface="Times New Roman" panose="02020603050405020304" pitchFamily="18" charset="0"/>
              </a:rPr>
              <a:t>0</a:t>
            </a:r>
            <a:r>
              <a:rPr lang="ru-RU" sz="2400" dirty="0">
                <a:solidFill>
                  <a:srgbClr val="000000"/>
                </a:solidFill>
                <a:latin typeface="Times New Roman" panose="02020603050405020304" pitchFamily="18" charset="0"/>
              </a:rPr>
              <a:t>.</a:t>
            </a:r>
          </a:p>
          <a:p>
            <a:r>
              <a:rPr lang="ru-RU" sz="2400" dirty="0">
                <a:solidFill>
                  <a:srgbClr val="000000"/>
                </a:solidFill>
                <a:latin typeface="Times New Roman" panose="02020603050405020304" pitchFamily="18" charset="0"/>
              </a:rPr>
              <a:t> Именно на основании значения статистики</a:t>
            </a:r>
            <a:r>
              <a:rPr lang="en-US" sz="2400" dirty="0">
                <a:solidFill>
                  <a:srgbClr val="000000"/>
                </a:solidFill>
                <a:latin typeface="Times New Roman" panose="02020603050405020304" pitchFamily="18" charset="0"/>
              </a:rPr>
              <a:t> </a:t>
            </a:r>
            <a:r>
              <a:rPr lang="ru-RU" sz="2400" i="1" dirty="0">
                <a:solidFill>
                  <a:srgbClr val="000000"/>
                </a:solidFill>
                <a:latin typeface="Times New Roman" panose="02020603050405020304" pitchFamily="18" charset="0"/>
              </a:rPr>
              <a:t>S</a:t>
            </a:r>
            <a:r>
              <a:rPr lang="ru-RU" sz="2400" dirty="0">
                <a:solidFill>
                  <a:srgbClr val="000000"/>
                </a:solidFill>
                <a:latin typeface="Times New Roman" panose="02020603050405020304" pitchFamily="18" charset="0"/>
              </a:rPr>
              <a:t>, вычисляемой по выборке или выборкам, делается вывод о принятии или отклонении проверяемой</a:t>
            </a:r>
            <a:r>
              <a:rPr lang="en-US" sz="2400" dirty="0">
                <a:solidFill>
                  <a:srgbClr val="000000"/>
                </a:solidFill>
                <a:latin typeface="Times New Roman" panose="02020603050405020304" pitchFamily="18" charset="0"/>
              </a:rPr>
              <a:t> </a:t>
            </a:r>
            <a:r>
              <a:rPr lang="ru-RU" sz="2400" dirty="0">
                <a:solidFill>
                  <a:srgbClr val="000000"/>
                </a:solidFill>
                <a:latin typeface="Times New Roman" panose="02020603050405020304" pitchFamily="18" charset="0"/>
              </a:rPr>
              <a:t>гипотезы. При справедливости проверяемой гипотезы </a:t>
            </a:r>
            <a:r>
              <a:rPr lang="ru-RU" sz="2400" i="1" dirty="0">
                <a:solidFill>
                  <a:srgbClr val="000000"/>
                </a:solidFill>
                <a:latin typeface="Times New Roman" panose="02020603050405020304" pitchFamily="18" charset="0"/>
              </a:rPr>
              <a:t>H</a:t>
            </a:r>
            <a:r>
              <a:rPr lang="ru-RU" sz="2400" i="1" baseline="-25000" dirty="0">
                <a:solidFill>
                  <a:srgbClr val="000000"/>
                </a:solidFill>
                <a:latin typeface="Times New Roman" panose="02020603050405020304" pitchFamily="18" charset="0"/>
              </a:rPr>
              <a:t>0  </a:t>
            </a:r>
            <a:r>
              <a:rPr lang="ru-RU" sz="2400" dirty="0">
                <a:solidFill>
                  <a:srgbClr val="000000"/>
                </a:solidFill>
                <a:latin typeface="Times New Roman" panose="02020603050405020304" pitchFamily="18" charset="0"/>
              </a:rPr>
              <a:t>статистика S подчиняется некоторому распределению </a:t>
            </a:r>
            <a:r>
              <a:rPr lang="en-US" sz="2400" dirty="0">
                <a:solidFill>
                  <a:srgbClr val="000000"/>
                </a:solidFill>
                <a:latin typeface="Times New Roman" panose="02020603050405020304" pitchFamily="18" charset="0"/>
              </a:rPr>
              <a:t>g</a:t>
            </a:r>
            <a:r>
              <a:rPr lang="ru-RU" sz="2400" dirty="0">
                <a:solidFill>
                  <a:srgbClr val="000000"/>
                </a:solidFill>
                <a:latin typeface="Times New Roman" panose="02020603050405020304" pitchFamily="18" charset="0"/>
              </a:rPr>
              <a:t> (S</a:t>
            </a:r>
            <a:r>
              <a:rPr lang="en-US" sz="2400" dirty="0">
                <a:solidFill>
                  <a:srgbClr val="000000"/>
                </a:solidFill>
                <a:latin typeface="Times New Roman" panose="02020603050405020304" pitchFamily="18" charset="0"/>
              </a:rPr>
              <a:t>|</a:t>
            </a:r>
            <a:r>
              <a:rPr lang="ru-RU" sz="2400" dirty="0">
                <a:solidFill>
                  <a:srgbClr val="000000"/>
                </a:solidFill>
                <a:latin typeface="Times New Roman" panose="02020603050405020304" pitchFamily="18" charset="0"/>
              </a:rPr>
              <a:t> </a:t>
            </a:r>
            <a:r>
              <a:rPr lang="ru-RU" sz="2400" i="1" dirty="0">
                <a:solidFill>
                  <a:srgbClr val="000000"/>
                </a:solidFill>
                <a:latin typeface="Times New Roman" panose="02020603050405020304" pitchFamily="18" charset="0"/>
              </a:rPr>
              <a:t>H</a:t>
            </a:r>
            <a:r>
              <a:rPr lang="ru-RU" sz="2400" i="1" baseline="-25000" dirty="0">
                <a:solidFill>
                  <a:srgbClr val="000000"/>
                </a:solidFill>
                <a:latin typeface="Times New Roman" panose="02020603050405020304" pitchFamily="18" charset="0"/>
              </a:rPr>
              <a:t>0</a:t>
            </a:r>
            <a:r>
              <a:rPr lang="ru-RU" sz="2400" dirty="0">
                <a:solidFill>
                  <a:srgbClr val="000000"/>
                </a:solidFill>
                <a:latin typeface="Times New Roman" panose="02020603050405020304" pitchFamily="18" charset="0"/>
              </a:rPr>
              <a:t> )  . </a:t>
            </a:r>
            <a:br>
              <a:rPr lang="ru-RU" sz="2400" dirty="0">
                <a:solidFill>
                  <a:srgbClr val="000000"/>
                </a:solidFill>
                <a:latin typeface="Times New Roman" panose="02020603050405020304" pitchFamily="18" charset="0"/>
              </a:rPr>
            </a:br>
            <a:endParaRPr lang="ru-RU" sz="2400" dirty="0">
              <a:solidFill>
                <a:srgbClr val="000000"/>
              </a:solidFill>
              <a:latin typeface="Times New Roman" panose="02020603050405020304" pitchFamily="18" charset="0"/>
            </a:endParaRPr>
          </a:p>
        </p:txBody>
      </p:sp>
      <p:sp>
        <p:nvSpPr>
          <p:cNvPr id="9" name="AutoShape 5"/>
          <p:cNvSpPr>
            <a:spLocks noChangeArrowheads="1"/>
          </p:cNvSpPr>
          <p:nvPr/>
        </p:nvSpPr>
        <p:spPr bwMode="auto">
          <a:xfrm>
            <a:off x="2085977" y="395289"/>
            <a:ext cx="8351837" cy="499771"/>
          </a:xfrm>
          <a:prstGeom prst="roundRect">
            <a:avLst>
              <a:gd name="adj" fmla="val 16667"/>
            </a:avLst>
          </a:prstGeom>
          <a:solidFill>
            <a:srgbClr val="FFFFFF">
              <a:alpha val="78822"/>
            </a:srgb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eaLnBrk="0" hangingPunct="0">
              <a:defRPr sz="2000">
                <a:solidFill>
                  <a:schemeClr val="tx1"/>
                </a:solidFill>
                <a:latin typeface="Arial" panose="020B0604020202020204" pitchFamily="34" charset="0"/>
                <a:cs typeface="Arial" panose="020B0604020202020204" pitchFamily="34" charset="0"/>
              </a:defRPr>
            </a:lvl1pPr>
            <a:lvl2pPr marL="742950" indent="-285750" defTabSz="993775" eaLnBrk="0" hangingPunct="0">
              <a:defRPr sz="2000">
                <a:solidFill>
                  <a:schemeClr val="tx1"/>
                </a:solidFill>
                <a:latin typeface="Arial" panose="020B0604020202020204" pitchFamily="34" charset="0"/>
                <a:cs typeface="Arial" panose="020B0604020202020204" pitchFamily="34" charset="0"/>
              </a:defRPr>
            </a:lvl2pPr>
            <a:lvl3pPr marL="1143000" indent="-228600" defTabSz="993775" eaLnBrk="0" hangingPunct="0">
              <a:defRPr sz="2000">
                <a:solidFill>
                  <a:schemeClr val="tx1"/>
                </a:solidFill>
                <a:latin typeface="Arial" panose="020B0604020202020204" pitchFamily="34" charset="0"/>
                <a:cs typeface="Arial" panose="020B0604020202020204" pitchFamily="34" charset="0"/>
              </a:defRPr>
            </a:lvl3pPr>
            <a:lvl4pPr marL="1600200" indent="-228600" defTabSz="993775" eaLnBrk="0" hangingPunct="0">
              <a:defRPr sz="2000">
                <a:solidFill>
                  <a:schemeClr val="tx1"/>
                </a:solidFill>
                <a:latin typeface="Arial" panose="020B0604020202020204" pitchFamily="34" charset="0"/>
                <a:cs typeface="Arial" panose="020B0604020202020204" pitchFamily="34" charset="0"/>
              </a:defRPr>
            </a:lvl4pPr>
            <a:lvl5pPr marL="2057400" indent="-228600" defTabSz="993775" eaLnBrk="0" hangingPunct="0">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ru-RU" altLang="ru-RU" sz="3600" b="1" dirty="0"/>
              <a:t>Тестирование гипотез в статистике</a:t>
            </a:r>
          </a:p>
        </p:txBody>
      </p:sp>
      <p:sp>
        <p:nvSpPr>
          <p:cNvPr id="2" name="Номер слайда 1"/>
          <p:cNvSpPr>
            <a:spLocks noGrp="1"/>
          </p:cNvSpPr>
          <p:nvPr>
            <p:ph type="sldNum" sz="quarter" idx="12"/>
          </p:nvPr>
        </p:nvSpPr>
        <p:spPr/>
        <p:txBody>
          <a:bodyPr/>
          <a:lstStyle/>
          <a:p>
            <a:fld id="{952B6C0E-C4B9-4094-8E59-5B7DF00D5415}" type="slidenum">
              <a:rPr lang="ru-RU" sz="1400">
                <a:solidFill>
                  <a:schemeClr val="tx1"/>
                </a:solidFill>
              </a:rPr>
              <a:t>52</a:t>
            </a:fld>
            <a:endParaRPr lang="ru-RU" sz="1400">
              <a:solidFill>
                <a:schemeClr val="tx1"/>
              </a:solidFill>
            </a:endParaRPr>
          </a:p>
        </p:txBody>
      </p:sp>
    </p:spTree>
    <p:extLst>
      <p:ext uri="{BB962C8B-B14F-4D97-AF65-F5344CB8AC3E}">
        <p14:creationId xmlns:p14="http://schemas.microsoft.com/office/powerpoint/2010/main" val="5402320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4"/>
          <p:cNvSpPr>
            <a:spLocks noChangeArrowheads="1"/>
          </p:cNvSpPr>
          <p:nvPr/>
        </p:nvSpPr>
        <p:spPr bwMode="auto">
          <a:xfrm>
            <a:off x="1438275" y="322263"/>
            <a:ext cx="10872513" cy="6553200"/>
          </a:xfrm>
          <a:prstGeom prst="roundRect">
            <a:avLst>
              <a:gd name="adj" fmla="val 16667"/>
            </a:avLst>
          </a:prstGeom>
          <a:solidFill>
            <a:schemeClr val="bg1">
              <a:alpha val="50195"/>
            </a:scheme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5" name="AutoShape 5"/>
          <p:cNvSpPr>
            <a:spLocks noChangeArrowheads="1"/>
          </p:cNvSpPr>
          <p:nvPr/>
        </p:nvSpPr>
        <p:spPr bwMode="auto">
          <a:xfrm>
            <a:off x="2373685" y="322264"/>
            <a:ext cx="8064128" cy="720601"/>
          </a:xfrm>
          <a:prstGeom prst="roundRect">
            <a:avLst>
              <a:gd name="adj" fmla="val 37469"/>
            </a:avLst>
          </a:prstGeom>
          <a:solidFill>
            <a:srgbClr val="FFFFFF">
              <a:alpha val="78822"/>
            </a:srgb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9" name="AutoShape 5"/>
          <p:cNvSpPr>
            <a:spLocks noChangeArrowheads="1"/>
          </p:cNvSpPr>
          <p:nvPr/>
        </p:nvSpPr>
        <p:spPr bwMode="auto">
          <a:xfrm>
            <a:off x="2085977" y="395289"/>
            <a:ext cx="8351837" cy="499771"/>
          </a:xfrm>
          <a:prstGeom prst="roundRect">
            <a:avLst>
              <a:gd name="adj" fmla="val 16667"/>
            </a:avLst>
          </a:prstGeom>
          <a:solidFill>
            <a:srgbClr val="FFFFFF">
              <a:alpha val="78822"/>
            </a:srgb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eaLnBrk="0" hangingPunct="0">
              <a:defRPr sz="2000">
                <a:solidFill>
                  <a:schemeClr val="tx1"/>
                </a:solidFill>
                <a:latin typeface="Arial" panose="020B0604020202020204" pitchFamily="34" charset="0"/>
                <a:cs typeface="Arial" panose="020B0604020202020204" pitchFamily="34" charset="0"/>
              </a:defRPr>
            </a:lvl1pPr>
            <a:lvl2pPr marL="742950" indent="-285750" defTabSz="993775" eaLnBrk="0" hangingPunct="0">
              <a:defRPr sz="2000">
                <a:solidFill>
                  <a:schemeClr val="tx1"/>
                </a:solidFill>
                <a:latin typeface="Arial" panose="020B0604020202020204" pitchFamily="34" charset="0"/>
                <a:cs typeface="Arial" panose="020B0604020202020204" pitchFamily="34" charset="0"/>
              </a:defRPr>
            </a:lvl2pPr>
            <a:lvl3pPr marL="1143000" indent="-228600" defTabSz="993775" eaLnBrk="0" hangingPunct="0">
              <a:defRPr sz="2000">
                <a:solidFill>
                  <a:schemeClr val="tx1"/>
                </a:solidFill>
                <a:latin typeface="Arial" panose="020B0604020202020204" pitchFamily="34" charset="0"/>
                <a:cs typeface="Arial" panose="020B0604020202020204" pitchFamily="34" charset="0"/>
              </a:defRPr>
            </a:lvl3pPr>
            <a:lvl4pPr marL="1600200" indent="-228600" defTabSz="993775" eaLnBrk="0" hangingPunct="0">
              <a:defRPr sz="2000">
                <a:solidFill>
                  <a:schemeClr val="tx1"/>
                </a:solidFill>
                <a:latin typeface="Arial" panose="020B0604020202020204" pitchFamily="34" charset="0"/>
                <a:cs typeface="Arial" panose="020B0604020202020204" pitchFamily="34" charset="0"/>
              </a:defRPr>
            </a:lvl4pPr>
            <a:lvl5pPr marL="2057400" indent="-228600" defTabSz="993775" eaLnBrk="0" hangingPunct="0">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ru-RU" altLang="ru-RU" sz="3600" b="1" dirty="0"/>
              <a:t>Тестирование гипотез в статистике</a:t>
            </a:r>
          </a:p>
        </p:txBody>
      </p:sp>
      <p:pic>
        <p:nvPicPr>
          <p:cNvPr id="2" name="Рисунок 1"/>
          <p:cNvPicPr>
            <a:picLocks noChangeAspect="1"/>
          </p:cNvPicPr>
          <p:nvPr/>
        </p:nvPicPr>
        <p:blipFill>
          <a:blip r:embed="rId3"/>
          <a:stretch>
            <a:fillRect/>
          </a:stretch>
        </p:blipFill>
        <p:spPr>
          <a:xfrm>
            <a:off x="2517701" y="1702580"/>
            <a:ext cx="7344816" cy="3619184"/>
          </a:xfrm>
          <a:prstGeom prst="rect">
            <a:avLst/>
          </a:prstGeom>
        </p:spPr>
      </p:pic>
      <p:sp>
        <p:nvSpPr>
          <p:cNvPr id="3" name="Прямоугольник 2"/>
          <p:cNvSpPr/>
          <p:nvPr/>
        </p:nvSpPr>
        <p:spPr>
          <a:xfrm>
            <a:off x="2012828" y="5400408"/>
            <a:ext cx="9145710" cy="1200329"/>
          </a:xfrm>
          <a:prstGeom prst="rect">
            <a:avLst/>
          </a:prstGeom>
        </p:spPr>
        <p:txBody>
          <a:bodyPr wrap="square">
            <a:spAutoFit/>
          </a:bodyPr>
          <a:lstStyle/>
          <a:p>
            <a:r>
              <a:rPr lang="ru-RU" sz="2400" dirty="0">
                <a:solidFill>
                  <a:srgbClr val="000000"/>
                </a:solidFill>
                <a:latin typeface="Times New Roman" panose="02020603050405020304" pitchFamily="18" charset="0"/>
              </a:rPr>
              <a:t>Плотность распределения статистики при справедливости гипотезы </a:t>
            </a:r>
            <a:r>
              <a:rPr lang="ru-RU" sz="2400" i="1" dirty="0">
                <a:solidFill>
                  <a:srgbClr val="000000"/>
                </a:solidFill>
                <a:latin typeface="Times New Roman" panose="02020603050405020304" pitchFamily="18" charset="0"/>
              </a:rPr>
              <a:t>H</a:t>
            </a:r>
            <a:r>
              <a:rPr lang="ru-RU" sz="2400" baseline="-25000" dirty="0">
                <a:solidFill>
                  <a:srgbClr val="000000"/>
                </a:solidFill>
                <a:latin typeface="Times New Roman" panose="02020603050405020304" pitchFamily="18" charset="0"/>
              </a:rPr>
              <a:t>0</a:t>
            </a:r>
            <a:r>
              <a:rPr lang="ru-RU" sz="2400" dirty="0">
                <a:solidFill>
                  <a:srgbClr val="000000"/>
                </a:solidFill>
                <a:latin typeface="Times New Roman" panose="02020603050405020304" pitchFamily="18" charset="0"/>
              </a:rPr>
              <a:t> и</a:t>
            </a:r>
            <a:r>
              <a:rPr lang="en-US" sz="2400" dirty="0">
                <a:solidFill>
                  <a:srgbClr val="000000"/>
                </a:solidFill>
                <a:latin typeface="Times New Roman" panose="02020603050405020304" pitchFamily="18" charset="0"/>
              </a:rPr>
              <a:t> </a:t>
            </a:r>
            <a:r>
              <a:rPr lang="ru-RU" sz="2400" dirty="0">
                <a:solidFill>
                  <a:srgbClr val="000000"/>
                </a:solidFill>
                <a:latin typeface="Times New Roman" panose="02020603050405020304" pitchFamily="18" charset="0"/>
              </a:rPr>
              <a:t>критическое значение для правостороннего критерия</a:t>
            </a:r>
            <a:r>
              <a:rPr lang="ru-RU" sz="2400" dirty="0"/>
              <a:t> </a:t>
            </a:r>
            <a:br>
              <a:rPr lang="ru-RU" sz="2400" dirty="0"/>
            </a:br>
            <a:endParaRPr lang="ru-RU" sz="2400" dirty="0"/>
          </a:p>
        </p:txBody>
      </p:sp>
      <p:sp>
        <p:nvSpPr>
          <p:cNvPr id="7" name="Номер слайда 6"/>
          <p:cNvSpPr>
            <a:spLocks noGrp="1"/>
          </p:cNvSpPr>
          <p:nvPr>
            <p:ph type="sldNum" sz="quarter" idx="12"/>
          </p:nvPr>
        </p:nvSpPr>
        <p:spPr>
          <a:xfrm>
            <a:off x="11514148" y="6583698"/>
            <a:ext cx="808441" cy="379409"/>
          </a:xfrm>
        </p:spPr>
        <p:txBody>
          <a:bodyPr/>
          <a:lstStyle/>
          <a:p>
            <a:fld id="{952B6C0E-C4B9-4094-8E59-5B7DF00D5415}" type="slidenum">
              <a:rPr lang="ru-RU" smtClean="0">
                <a:solidFill>
                  <a:schemeClr val="tx1"/>
                </a:solidFill>
              </a:rPr>
              <a:t>53</a:t>
            </a:fld>
            <a:endParaRPr lang="ru-RU" dirty="0">
              <a:solidFill>
                <a:schemeClr val="tx1"/>
              </a:solidFill>
            </a:endParaRPr>
          </a:p>
        </p:txBody>
      </p:sp>
    </p:spTree>
    <p:extLst>
      <p:ext uri="{BB962C8B-B14F-4D97-AF65-F5344CB8AC3E}">
        <p14:creationId xmlns:p14="http://schemas.microsoft.com/office/powerpoint/2010/main" val="10400063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4"/>
          <p:cNvSpPr>
            <a:spLocks noChangeArrowheads="1"/>
          </p:cNvSpPr>
          <p:nvPr/>
        </p:nvSpPr>
        <p:spPr bwMode="auto">
          <a:xfrm>
            <a:off x="1438275" y="322263"/>
            <a:ext cx="10948119" cy="6553200"/>
          </a:xfrm>
          <a:prstGeom prst="roundRect">
            <a:avLst>
              <a:gd name="adj" fmla="val 16667"/>
            </a:avLst>
          </a:prstGeom>
          <a:solidFill>
            <a:schemeClr val="bg1">
              <a:alpha val="50195"/>
            </a:scheme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5" name="AutoShape 5"/>
          <p:cNvSpPr>
            <a:spLocks noChangeArrowheads="1"/>
          </p:cNvSpPr>
          <p:nvPr/>
        </p:nvSpPr>
        <p:spPr bwMode="auto">
          <a:xfrm>
            <a:off x="2373685" y="322264"/>
            <a:ext cx="8064128" cy="720601"/>
          </a:xfrm>
          <a:prstGeom prst="roundRect">
            <a:avLst>
              <a:gd name="adj" fmla="val 37469"/>
            </a:avLst>
          </a:prstGeom>
          <a:solidFill>
            <a:srgbClr val="FFFFFF">
              <a:alpha val="78822"/>
            </a:srgb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9" name="AutoShape 5"/>
          <p:cNvSpPr>
            <a:spLocks noChangeArrowheads="1"/>
          </p:cNvSpPr>
          <p:nvPr/>
        </p:nvSpPr>
        <p:spPr bwMode="auto">
          <a:xfrm>
            <a:off x="2085977" y="395289"/>
            <a:ext cx="8351837" cy="499771"/>
          </a:xfrm>
          <a:prstGeom prst="roundRect">
            <a:avLst>
              <a:gd name="adj" fmla="val 16667"/>
            </a:avLst>
          </a:prstGeom>
          <a:solidFill>
            <a:srgbClr val="FFFFFF">
              <a:alpha val="78822"/>
            </a:srgb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eaLnBrk="0" hangingPunct="0">
              <a:defRPr sz="2000">
                <a:solidFill>
                  <a:schemeClr val="tx1"/>
                </a:solidFill>
                <a:latin typeface="Arial" panose="020B0604020202020204" pitchFamily="34" charset="0"/>
                <a:cs typeface="Arial" panose="020B0604020202020204" pitchFamily="34" charset="0"/>
              </a:defRPr>
            </a:lvl1pPr>
            <a:lvl2pPr marL="742950" indent="-285750" defTabSz="993775" eaLnBrk="0" hangingPunct="0">
              <a:defRPr sz="2000">
                <a:solidFill>
                  <a:schemeClr val="tx1"/>
                </a:solidFill>
                <a:latin typeface="Arial" panose="020B0604020202020204" pitchFamily="34" charset="0"/>
                <a:cs typeface="Arial" panose="020B0604020202020204" pitchFamily="34" charset="0"/>
              </a:defRPr>
            </a:lvl2pPr>
            <a:lvl3pPr marL="1143000" indent="-228600" defTabSz="993775" eaLnBrk="0" hangingPunct="0">
              <a:defRPr sz="2000">
                <a:solidFill>
                  <a:schemeClr val="tx1"/>
                </a:solidFill>
                <a:latin typeface="Arial" panose="020B0604020202020204" pitchFamily="34" charset="0"/>
                <a:cs typeface="Arial" panose="020B0604020202020204" pitchFamily="34" charset="0"/>
              </a:defRPr>
            </a:lvl3pPr>
            <a:lvl4pPr marL="1600200" indent="-228600" defTabSz="993775" eaLnBrk="0" hangingPunct="0">
              <a:defRPr sz="2000">
                <a:solidFill>
                  <a:schemeClr val="tx1"/>
                </a:solidFill>
                <a:latin typeface="Arial" panose="020B0604020202020204" pitchFamily="34" charset="0"/>
                <a:cs typeface="Arial" panose="020B0604020202020204" pitchFamily="34" charset="0"/>
              </a:defRPr>
            </a:lvl4pPr>
            <a:lvl5pPr marL="2057400" indent="-228600" defTabSz="993775" eaLnBrk="0" hangingPunct="0">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ru-RU" altLang="ru-RU" sz="3600" b="1" dirty="0"/>
              <a:t>Тестирование гипотез в статистике</a:t>
            </a:r>
          </a:p>
        </p:txBody>
      </p:sp>
      <p:sp>
        <p:nvSpPr>
          <p:cNvPr id="3" name="Прямоугольник 2"/>
          <p:cNvSpPr/>
          <p:nvPr/>
        </p:nvSpPr>
        <p:spPr>
          <a:xfrm>
            <a:off x="1868366" y="4877567"/>
            <a:ext cx="9145710" cy="830997"/>
          </a:xfrm>
          <a:prstGeom prst="rect">
            <a:avLst/>
          </a:prstGeom>
        </p:spPr>
        <p:txBody>
          <a:bodyPr wrap="square">
            <a:spAutoFit/>
          </a:bodyPr>
          <a:lstStyle/>
          <a:p>
            <a:r>
              <a:rPr lang="ru-RU" sz="2400" dirty="0">
                <a:solidFill>
                  <a:srgbClr val="000000"/>
                </a:solidFill>
                <a:latin typeface="Times New Roman" panose="02020603050405020304" pitchFamily="18" charset="0"/>
              </a:rPr>
              <a:t>Плотность распределения статистики при справедливости гипотезы </a:t>
            </a:r>
            <a:r>
              <a:rPr lang="ru-RU" sz="2400" i="1" dirty="0">
                <a:solidFill>
                  <a:srgbClr val="000000"/>
                </a:solidFill>
                <a:latin typeface="Times New Roman" panose="02020603050405020304" pitchFamily="18" charset="0"/>
              </a:rPr>
              <a:t>H</a:t>
            </a:r>
            <a:r>
              <a:rPr lang="ru-RU" sz="2400" i="1" baseline="-25000" dirty="0">
                <a:solidFill>
                  <a:srgbClr val="000000"/>
                </a:solidFill>
                <a:latin typeface="Times New Roman" panose="02020603050405020304" pitchFamily="18" charset="0"/>
              </a:rPr>
              <a:t>0</a:t>
            </a:r>
            <a:r>
              <a:rPr lang="ru-RU" sz="2400" i="1" dirty="0">
                <a:solidFill>
                  <a:srgbClr val="000000"/>
                </a:solidFill>
                <a:latin typeface="Times New Roman" panose="02020603050405020304" pitchFamily="18" charset="0"/>
              </a:rPr>
              <a:t> </a:t>
            </a:r>
            <a:r>
              <a:rPr lang="ru-RU" sz="2400" dirty="0">
                <a:solidFill>
                  <a:srgbClr val="000000"/>
                </a:solidFill>
                <a:latin typeface="Times New Roman" panose="02020603050405020304" pitchFamily="18" charset="0"/>
              </a:rPr>
              <a:t>и</a:t>
            </a:r>
            <a:r>
              <a:rPr lang="en-US" sz="2400" dirty="0">
                <a:solidFill>
                  <a:srgbClr val="000000"/>
                </a:solidFill>
                <a:latin typeface="Times New Roman" panose="02020603050405020304" pitchFamily="18" charset="0"/>
              </a:rPr>
              <a:t>  </a:t>
            </a:r>
            <a:r>
              <a:rPr lang="ru-RU" sz="2400" dirty="0">
                <a:solidFill>
                  <a:srgbClr val="000000"/>
                </a:solidFill>
                <a:latin typeface="Times New Roman" panose="02020603050405020304" pitchFamily="18" charset="0"/>
              </a:rPr>
              <a:t>достигнутый уровень значимости </a:t>
            </a:r>
            <a:endParaRPr lang="ru-RU" sz="2400" dirty="0"/>
          </a:p>
        </p:txBody>
      </p:sp>
      <p:pic>
        <p:nvPicPr>
          <p:cNvPr id="7" name="Рисунок 6"/>
          <p:cNvPicPr>
            <a:picLocks noChangeAspect="1"/>
          </p:cNvPicPr>
          <p:nvPr/>
        </p:nvPicPr>
        <p:blipFill>
          <a:blip r:embed="rId3"/>
          <a:stretch>
            <a:fillRect/>
          </a:stretch>
        </p:blipFill>
        <p:spPr>
          <a:xfrm>
            <a:off x="2805733" y="1275390"/>
            <a:ext cx="6912768" cy="3660967"/>
          </a:xfrm>
          <a:prstGeom prst="rect">
            <a:avLst/>
          </a:prstGeom>
        </p:spPr>
      </p:pic>
      <p:sp>
        <p:nvSpPr>
          <p:cNvPr id="2" name="Номер слайда 1"/>
          <p:cNvSpPr>
            <a:spLocks noGrp="1"/>
          </p:cNvSpPr>
          <p:nvPr>
            <p:ph type="sldNum" sz="quarter" idx="12"/>
          </p:nvPr>
        </p:nvSpPr>
        <p:spPr/>
        <p:txBody>
          <a:bodyPr/>
          <a:lstStyle/>
          <a:p>
            <a:fld id="{952B6C0E-C4B9-4094-8E59-5B7DF00D5415}" type="slidenum">
              <a:rPr lang="ru-RU" smtClean="0">
                <a:solidFill>
                  <a:schemeClr val="tx1"/>
                </a:solidFill>
              </a:rPr>
              <a:t>54</a:t>
            </a:fld>
            <a:endParaRPr lang="ru-RU" dirty="0">
              <a:solidFill>
                <a:schemeClr val="tx1"/>
              </a:solidFill>
            </a:endParaRPr>
          </a:p>
        </p:txBody>
      </p:sp>
      <p:pic>
        <p:nvPicPr>
          <p:cNvPr id="8" name="Рисунок 7"/>
          <p:cNvPicPr>
            <a:picLocks noChangeAspect="1"/>
          </p:cNvPicPr>
          <p:nvPr/>
        </p:nvPicPr>
        <p:blipFill>
          <a:blip r:embed="rId4"/>
          <a:stretch>
            <a:fillRect/>
          </a:stretch>
        </p:blipFill>
        <p:spPr>
          <a:xfrm>
            <a:off x="3237781" y="5720283"/>
            <a:ext cx="5643692" cy="804153"/>
          </a:xfrm>
          <a:prstGeom prst="rect">
            <a:avLst/>
          </a:prstGeom>
        </p:spPr>
      </p:pic>
    </p:spTree>
    <p:extLst>
      <p:ext uri="{BB962C8B-B14F-4D97-AF65-F5344CB8AC3E}">
        <p14:creationId xmlns:p14="http://schemas.microsoft.com/office/powerpoint/2010/main" val="26612414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4"/>
          <p:cNvSpPr>
            <a:spLocks noChangeArrowheads="1"/>
          </p:cNvSpPr>
          <p:nvPr/>
        </p:nvSpPr>
        <p:spPr bwMode="auto">
          <a:xfrm>
            <a:off x="1438275" y="322263"/>
            <a:ext cx="10948119" cy="6553200"/>
          </a:xfrm>
          <a:prstGeom prst="roundRect">
            <a:avLst>
              <a:gd name="adj" fmla="val 16667"/>
            </a:avLst>
          </a:prstGeom>
          <a:solidFill>
            <a:schemeClr val="bg1">
              <a:alpha val="50195"/>
            </a:scheme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5" name="AutoShape 5"/>
          <p:cNvSpPr>
            <a:spLocks noChangeArrowheads="1"/>
          </p:cNvSpPr>
          <p:nvPr/>
        </p:nvSpPr>
        <p:spPr bwMode="auto">
          <a:xfrm>
            <a:off x="2373685" y="322264"/>
            <a:ext cx="8064128" cy="720601"/>
          </a:xfrm>
          <a:prstGeom prst="roundRect">
            <a:avLst>
              <a:gd name="adj" fmla="val 37469"/>
            </a:avLst>
          </a:prstGeom>
          <a:solidFill>
            <a:srgbClr val="FFFFFF">
              <a:alpha val="78822"/>
            </a:srgb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9" name="AutoShape 5"/>
          <p:cNvSpPr>
            <a:spLocks noChangeArrowheads="1"/>
          </p:cNvSpPr>
          <p:nvPr/>
        </p:nvSpPr>
        <p:spPr bwMode="auto">
          <a:xfrm>
            <a:off x="2085977" y="395289"/>
            <a:ext cx="8351837" cy="499771"/>
          </a:xfrm>
          <a:prstGeom prst="roundRect">
            <a:avLst>
              <a:gd name="adj" fmla="val 16667"/>
            </a:avLst>
          </a:prstGeom>
          <a:solidFill>
            <a:srgbClr val="FFFFFF">
              <a:alpha val="78822"/>
            </a:srgb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eaLnBrk="0" hangingPunct="0">
              <a:defRPr sz="2000">
                <a:solidFill>
                  <a:schemeClr val="tx1"/>
                </a:solidFill>
                <a:latin typeface="Arial" panose="020B0604020202020204" pitchFamily="34" charset="0"/>
                <a:cs typeface="Arial" panose="020B0604020202020204" pitchFamily="34" charset="0"/>
              </a:defRPr>
            </a:lvl1pPr>
            <a:lvl2pPr marL="742950" indent="-285750" defTabSz="993775" eaLnBrk="0" hangingPunct="0">
              <a:defRPr sz="2000">
                <a:solidFill>
                  <a:schemeClr val="tx1"/>
                </a:solidFill>
                <a:latin typeface="Arial" panose="020B0604020202020204" pitchFamily="34" charset="0"/>
                <a:cs typeface="Arial" panose="020B0604020202020204" pitchFamily="34" charset="0"/>
              </a:defRPr>
            </a:lvl2pPr>
            <a:lvl3pPr marL="1143000" indent="-228600" defTabSz="993775" eaLnBrk="0" hangingPunct="0">
              <a:defRPr sz="2000">
                <a:solidFill>
                  <a:schemeClr val="tx1"/>
                </a:solidFill>
                <a:latin typeface="Arial" panose="020B0604020202020204" pitchFamily="34" charset="0"/>
                <a:cs typeface="Arial" panose="020B0604020202020204" pitchFamily="34" charset="0"/>
              </a:defRPr>
            </a:lvl3pPr>
            <a:lvl4pPr marL="1600200" indent="-228600" defTabSz="993775" eaLnBrk="0" hangingPunct="0">
              <a:defRPr sz="2000">
                <a:solidFill>
                  <a:schemeClr val="tx1"/>
                </a:solidFill>
                <a:latin typeface="Arial" panose="020B0604020202020204" pitchFamily="34" charset="0"/>
                <a:cs typeface="Arial" panose="020B0604020202020204" pitchFamily="34" charset="0"/>
              </a:defRPr>
            </a:lvl4pPr>
            <a:lvl5pPr marL="2057400" indent="-228600" defTabSz="993775" eaLnBrk="0" hangingPunct="0">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ru-RU" altLang="ru-RU" sz="3600" b="1" dirty="0"/>
              <a:t>Тестирование гипотез в статистике</a:t>
            </a:r>
          </a:p>
        </p:txBody>
      </p:sp>
      <p:sp>
        <p:nvSpPr>
          <p:cNvPr id="7" name="Прямоугольник 6"/>
          <p:cNvSpPr/>
          <p:nvPr/>
        </p:nvSpPr>
        <p:spPr>
          <a:xfrm>
            <a:off x="2061122" y="1204626"/>
            <a:ext cx="8689254" cy="830997"/>
          </a:xfrm>
          <a:prstGeom prst="rect">
            <a:avLst/>
          </a:prstGeom>
        </p:spPr>
        <p:txBody>
          <a:bodyPr wrap="square">
            <a:spAutoFit/>
          </a:bodyPr>
          <a:lstStyle/>
          <a:p>
            <a:r>
              <a:rPr lang="ru-RU" sz="2400" dirty="0">
                <a:solidFill>
                  <a:srgbClr val="000000"/>
                </a:solidFill>
                <a:latin typeface="Times New Roman" panose="02020603050405020304" pitchFamily="18" charset="0"/>
              </a:rPr>
              <a:t>Если задана конкурирующая гипотеза </a:t>
            </a:r>
            <a:r>
              <a:rPr lang="ru-RU" sz="2400" b="1" i="1" dirty="0">
                <a:solidFill>
                  <a:srgbClr val="000000"/>
                </a:solidFill>
                <a:latin typeface="Times New Roman" panose="02020603050405020304" pitchFamily="18" charset="0"/>
              </a:rPr>
              <a:t>H</a:t>
            </a:r>
            <a:r>
              <a:rPr lang="ru-RU" sz="2400" b="1" i="1" baseline="-25000" dirty="0">
                <a:solidFill>
                  <a:srgbClr val="000000"/>
                </a:solidFill>
                <a:latin typeface="Times New Roman" panose="02020603050405020304" pitchFamily="18" charset="0"/>
              </a:rPr>
              <a:t>1</a:t>
            </a:r>
            <a:r>
              <a:rPr lang="ru-RU" sz="2400" dirty="0">
                <a:solidFill>
                  <a:srgbClr val="000000"/>
                </a:solidFill>
                <a:latin typeface="Times New Roman" panose="02020603050405020304" pitchFamily="18" charset="0"/>
              </a:rPr>
              <a:t> , то можно говорить об ошибке 2-го рода и её вероятности</a:t>
            </a:r>
            <a:r>
              <a:rPr lang="en-US" sz="2400" dirty="0">
                <a:solidFill>
                  <a:srgbClr val="000000"/>
                </a:solidFill>
                <a:latin typeface="Times New Roman" panose="02020603050405020304" pitchFamily="18" charset="0"/>
              </a:rPr>
              <a:t>.</a:t>
            </a:r>
            <a:endParaRPr lang="ru-RU" sz="2400" dirty="0">
              <a:solidFill>
                <a:srgbClr val="000000"/>
              </a:solidFill>
              <a:latin typeface="Times New Roman" panose="02020603050405020304" pitchFamily="18" charset="0"/>
            </a:endParaRPr>
          </a:p>
        </p:txBody>
      </p:sp>
      <p:pic>
        <p:nvPicPr>
          <p:cNvPr id="10" name="Рисунок 9"/>
          <p:cNvPicPr>
            <a:picLocks noChangeAspect="1"/>
          </p:cNvPicPr>
          <p:nvPr/>
        </p:nvPicPr>
        <p:blipFill>
          <a:blip r:embed="rId3"/>
          <a:stretch>
            <a:fillRect/>
          </a:stretch>
        </p:blipFill>
        <p:spPr>
          <a:xfrm>
            <a:off x="2176532" y="2181794"/>
            <a:ext cx="6946466" cy="3652042"/>
          </a:xfrm>
          <a:prstGeom prst="rect">
            <a:avLst/>
          </a:prstGeom>
        </p:spPr>
      </p:pic>
      <p:sp>
        <p:nvSpPr>
          <p:cNvPr id="11" name="Прямоугольник 10"/>
          <p:cNvSpPr/>
          <p:nvPr/>
        </p:nvSpPr>
        <p:spPr>
          <a:xfrm>
            <a:off x="1867151" y="5821307"/>
            <a:ext cx="9362824" cy="830997"/>
          </a:xfrm>
          <a:prstGeom prst="rect">
            <a:avLst/>
          </a:prstGeom>
        </p:spPr>
        <p:txBody>
          <a:bodyPr wrap="square">
            <a:spAutoFit/>
          </a:bodyPr>
          <a:lstStyle/>
          <a:p>
            <a:r>
              <a:rPr lang="ru-RU" sz="2400" dirty="0">
                <a:solidFill>
                  <a:srgbClr val="000000"/>
                </a:solidFill>
                <a:latin typeface="Times New Roman" panose="02020603050405020304" pitchFamily="18" charset="0"/>
              </a:rPr>
              <a:t>Плотности распределения статистик при справедливости соответственно</a:t>
            </a:r>
            <a:r>
              <a:rPr lang="en-US" sz="2400" dirty="0">
                <a:solidFill>
                  <a:srgbClr val="000000"/>
                </a:solidFill>
                <a:latin typeface="Times New Roman" panose="02020603050405020304" pitchFamily="18" charset="0"/>
              </a:rPr>
              <a:t> </a:t>
            </a:r>
            <a:r>
              <a:rPr lang="ru-RU" sz="2400" dirty="0">
                <a:solidFill>
                  <a:srgbClr val="000000"/>
                </a:solidFill>
                <a:latin typeface="Times New Roman" panose="02020603050405020304" pitchFamily="18" charset="0"/>
              </a:rPr>
              <a:t>гипотез H</a:t>
            </a:r>
            <a:r>
              <a:rPr lang="ru-RU" sz="2400" baseline="-25000" dirty="0">
                <a:solidFill>
                  <a:srgbClr val="000000"/>
                </a:solidFill>
                <a:latin typeface="Times New Roman" panose="02020603050405020304" pitchFamily="18" charset="0"/>
              </a:rPr>
              <a:t>0</a:t>
            </a:r>
            <a:r>
              <a:rPr lang="ru-RU" sz="2400" dirty="0">
                <a:solidFill>
                  <a:srgbClr val="000000"/>
                </a:solidFill>
                <a:latin typeface="Times New Roman" panose="02020603050405020304" pitchFamily="18" charset="0"/>
              </a:rPr>
              <a:t> и H</a:t>
            </a:r>
            <a:r>
              <a:rPr lang="ru-RU" sz="2400" baseline="-25000" dirty="0">
                <a:solidFill>
                  <a:srgbClr val="000000"/>
                </a:solidFill>
                <a:latin typeface="Times New Roman" panose="02020603050405020304" pitchFamily="18" charset="0"/>
              </a:rPr>
              <a:t>1</a:t>
            </a:r>
            <a:r>
              <a:rPr lang="ru-RU" sz="2400" dirty="0">
                <a:solidFill>
                  <a:srgbClr val="000000"/>
                </a:solidFill>
                <a:latin typeface="Times New Roman" panose="02020603050405020304" pitchFamily="18" charset="0"/>
              </a:rPr>
              <a:t> в случае правостороннего критерия </a:t>
            </a:r>
          </a:p>
        </p:txBody>
      </p:sp>
      <p:pic>
        <p:nvPicPr>
          <p:cNvPr id="8" name="Рисунок 7"/>
          <p:cNvPicPr>
            <a:picLocks noChangeAspect="1"/>
          </p:cNvPicPr>
          <p:nvPr/>
        </p:nvPicPr>
        <p:blipFill>
          <a:blip r:embed="rId4"/>
          <a:stretch>
            <a:fillRect/>
          </a:stretch>
        </p:blipFill>
        <p:spPr>
          <a:xfrm>
            <a:off x="7634695" y="1654325"/>
            <a:ext cx="2803118" cy="1054936"/>
          </a:xfrm>
          <a:prstGeom prst="rect">
            <a:avLst/>
          </a:prstGeom>
        </p:spPr>
      </p:pic>
      <p:sp>
        <p:nvSpPr>
          <p:cNvPr id="2" name="Номер слайда 1"/>
          <p:cNvSpPr>
            <a:spLocks noGrp="1"/>
          </p:cNvSpPr>
          <p:nvPr>
            <p:ph type="sldNum" sz="quarter" idx="12"/>
          </p:nvPr>
        </p:nvSpPr>
        <p:spPr/>
        <p:txBody>
          <a:bodyPr/>
          <a:lstStyle/>
          <a:p>
            <a:fld id="{952B6C0E-C4B9-4094-8E59-5B7DF00D5415}" type="slidenum">
              <a:rPr lang="ru-RU" smtClean="0">
                <a:solidFill>
                  <a:schemeClr val="tx1"/>
                </a:solidFill>
              </a:rPr>
              <a:t>55</a:t>
            </a:fld>
            <a:endParaRPr lang="ru-RU" dirty="0">
              <a:solidFill>
                <a:schemeClr val="tx1"/>
              </a:solidFill>
            </a:endParaRPr>
          </a:p>
        </p:txBody>
      </p:sp>
    </p:spTree>
    <p:extLst>
      <p:ext uri="{BB962C8B-B14F-4D97-AF65-F5344CB8AC3E}">
        <p14:creationId xmlns:p14="http://schemas.microsoft.com/office/powerpoint/2010/main" val="15037412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4"/>
          <p:cNvSpPr>
            <a:spLocks noChangeArrowheads="1"/>
          </p:cNvSpPr>
          <p:nvPr/>
        </p:nvSpPr>
        <p:spPr bwMode="auto">
          <a:xfrm>
            <a:off x="1438275" y="322263"/>
            <a:ext cx="10944521" cy="6553200"/>
          </a:xfrm>
          <a:prstGeom prst="roundRect">
            <a:avLst>
              <a:gd name="adj" fmla="val 16667"/>
            </a:avLst>
          </a:prstGeom>
          <a:solidFill>
            <a:schemeClr val="bg1">
              <a:alpha val="50195"/>
            </a:scheme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5" name="AutoShape 5"/>
          <p:cNvSpPr>
            <a:spLocks noChangeArrowheads="1"/>
          </p:cNvSpPr>
          <p:nvPr/>
        </p:nvSpPr>
        <p:spPr bwMode="auto">
          <a:xfrm>
            <a:off x="2373685" y="322264"/>
            <a:ext cx="8064128" cy="720601"/>
          </a:xfrm>
          <a:prstGeom prst="roundRect">
            <a:avLst>
              <a:gd name="adj" fmla="val 37469"/>
            </a:avLst>
          </a:prstGeom>
          <a:solidFill>
            <a:srgbClr val="FFFFFF">
              <a:alpha val="78822"/>
            </a:srgb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2" name="Заголовок 1"/>
          <p:cNvSpPr txBox="1">
            <a:spLocks noGrp="1"/>
          </p:cNvSpPr>
          <p:nvPr>
            <p:ph type="title" idx="4294967295"/>
          </p:nvPr>
        </p:nvSpPr>
        <p:spPr>
          <a:xfrm>
            <a:off x="2023269" y="319428"/>
            <a:ext cx="8550275" cy="1184275"/>
          </a:xfrm>
          <a:prstGeom prst="rect">
            <a:avLst/>
          </a:prstGeom>
        </p:spPr>
        <p:txBody>
          <a:bodyPr wrap="square">
            <a:noAutofit/>
          </a:bodyPr>
          <a:lstStyle/>
          <a:p>
            <a:pPr lvl="0"/>
            <a:r>
              <a:rPr lang="ru-RU" sz="3949" dirty="0"/>
              <a:t>Ошибка второго рода и мощность</a:t>
            </a:r>
          </a:p>
        </p:txBody>
      </p:sp>
      <p:sp>
        <p:nvSpPr>
          <p:cNvPr id="3" name="Текст 2"/>
          <p:cNvSpPr txBox="1">
            <a:spLocks noGrp="1"/>
          </p:cNvSpPr>
          <p:nvPr>
            <p:ph type="body" idx="4294967295"/>
          </p:nvPr>
        </p:nvSpPr>
        <p:spPr>
          <a:xfrm>
            <a:off x="1892301" y="1879821"/>
            <a:ext cx="10274472" cy="4708525"/>
          </a:xfrm>
          <a:prstGeom prst="rect">
            <a:avLst/>
          </a:prstGeom>
        </p:spPr>
        <p:txBody>
          <a:bodyPr wrap="square"/>
          <a:lstStyle/>
          <a:p>
            <a:pPr marL="0" indent="360363">
              <a:buClr>
                <a:srgbClr val="CC9900"/>
              </a:buClr>
              <a:buSzPct val="65000"/>
              <a:buFont typeface="Wingdings" pitchFamily="2"/>
              <a:buChar char=""/>
              <a:tabLst>
                <a:tab pos="0" algn="l"/>
                <a:tab pos="110352" algn="l"/>
                <a:tab pos="577199" algn="l"/>
                <a:tab pos="1044046" algn="l"/>
                <a:tab pos="1510893" algn="l"/>
                <a:tab pos="1977740" algn="l"/>
                <a:tab pos="2444587" algn="l"/>
                <a:tab pos="2911434" algn="l"/>
                <a:tab pos="3378279" algn="l"/>
                <a:tab pos="3845127" algn="l"/>
                <a:tab pos="4311973" algn="l"/>
                <a:tab pos="4778447" algn="l"/>
                <a:tab pos="5245294" algn="l"/>
                <a:tab pos="5712141" algn="l"/>
                <a:tab pos="6178987" algn="l"/>
                <a:tab pos="6645833" algn="l"/>
                <a:tab pos="7112681" algn="l"/>
                <a:tab pos="7579527" algn="l"/>
                <a:tab pos="8046375" algn="l"/>
                <a:tab pos="8513222" algn="l"/>
                <a:tab pos="8980068" algn="l"/>
              </a:tabLst>
            </a:pPr>
            <a:r>
              <a:rPr lang="ru-RU" sz="2800" dirty="0"/>
              <a:t>Как добиться того, чтобы вероятность ошибки второго рода была малой?</a:t>
            </a:r>
          </a:p>
          <a:p>
            <a:pPr marL="0" indent="360363">
              <a:buClr>
                <a:srgbClr val="CC9900"/>
              </a:buClr>
              <a:buSzPct val="65000"/>
              <a:buFont typeface="Wingdings" pitchFamily="2"/>
              <a:buChar char=""/>
              <a:tabLst>
                <a:tab pos="0" algn="l"/>
                <a:tab pos="110352" algn="l"/>
                <a:tab pos="577199" algn="l"/>
                <a:tab pos="1044046" algn="l"/>
                <a:tab pos="1510893" algn="l"/>
                <a:tab pos="1977740" algn="l"/>
                <a:tab pos="2444587" algn="l"/>
                <a:tab pos="2911434" algn="l"/>
                <a:tab pos="3378279" algn="l"/>
                <a:tab pos="3845127" algn="l"/>
                <a:tab pos="4311973" algn="l"/>
                <a:tab pos="4778447" algn="l"/>
                <a:tab pos="5245294" algn="l"/>
                <a:tab pos="5712141" algn="l"/>
                <a:tab pos="6178987" algn="l"/>
                <a:tab pos="6645833" algn="l"/>
                <a:tab pos="7112681" algn="l"/>
                <a:tab pos="7579527" algn="l"/>
                <a:tab pos="8046375" algn="l"/>
                <a:tab pos="8513222" algn="l"/>
                <a:tab pos="8980068" algn="l"/>
              </a:tabLst>
            </a:pPr>
            <a:r>
              <a:rPr lang="ru-RU" sz="2800" dirty="0"/>
              <a:t>Очень сложно </a:t>
            </a:r>
            <a:r>
              <a:rPr lang="ru-RU" sz="2800" dirty="0">
                <a:sym typeface="Symbol" panose="05050102010706020507" pitchFamily="18" charset="2"/>
              </a:rPr>
              <a:t> </a:t>
            </a:r>
            <a:r>
              <a:rPr lang="ru-RU" sz="2800" dirty="0"/>
              <a:t>Нужны состоятельные критерии.</a:t>
            </a:r>
          </a:p>
          <a:p>
            <a:pPr marL="0" indent="360363">
              <a:buClr>
                <a:srgbClr val="CC9900"/>
              </a:buClr>
              <a:buSzPct val="65000"/>
              <a:buFont typeface="Wingdings" pitchFamily="2"/>
              <a:buChar char=""/>
              <a:tabLst>
                <a:tab pos="0" algn="l"/>
                <a:tab pos="110352" algn="l"/>
                <a:tab pos="577199" algn="l"/>
                <a:tab pos="1044046" algn="l"/>
                <a:tab pos="1510893" algn="l"/>
                <a:tab pos="1977740" algn="l"/>
                <a:tab pos="2444587" algn="l"/>
                <a:tab pos="2911434" algn="l"/>
                <a:tab pos="3378279" algn="l"/>
                <a:tab pos="3845127" algn="l"/>
                <a:tab pos="4311973" algn="l"/>
                <a:tab pos="4778447" algn="l"/>
                <a:tab pos="5245294" algn="l"/>
                <a:tab pos="5712141" algn="l"/>
                <a:tab pos="6178987" algn="l"/>
                <a:tab pos="6645833" algn="l"/>
                <a:tab pos="7112681" algn="l"/>
                <a:tab pos="7579527" algn="l"/>
                <a:tab pos="8046375" algn="l"/>
                <a:tab pos="8513222" algn="l"/>
                <a:tab pos="8980068" algn="l"/>
              </a:tabLst>
            </a:pPr>
            <a:r>
              <a:rPr lang="ru-RU" sz="2800" dirty="0"/>
              <a:t>Ошибку можно уменьшить, если увеличить число анализируемых наблюдений  </a:t>
            </a:r>
            <a:r>
              <a:rPr lang="ru-RU" sz="2800" dirty="0">
                <a:sym typeface="Symbol" panose="05050102010706020507" pitchFamily="18" charset="2"/>
              </a:rPr>
              <a:t> </a:t>
            </a:r>
            <a:r>
              <a:rPr lang="ru-RU" sz="2800" dirty="0"/>
              <a:t>Необходимы б</a:t>
            </a:r>
            <a:r>
              <a:rPr lang="ru-RU" sz="2800" b="1" i="1" dirty="0"/>
              <a:t>о</a:t>
            </a:r>
            <a:r>
              <a:rPr lang="ru-RU" sz="2800" dirty="0"/>
              <a:t>льшие выборки.</a:t>
            </a:r>
          </a:p>
        </p:txBody>
      </p:sp>
      <p:sp>
        <p:nvSpPr>
          <p:cNvPr id="7" name="Номер слайда 6"/>
          <p:cNvSpPr>
            <a:spLocks noGrp="1"/>
          </p:cNvSpPr>
          <p:nvPr>
            <p:ph type="sldNum" sz="quarter" idx="12"/>
          </p:nvPr>
        </p:nvSpPr>
        <p:spPr>
          <a:xfrm>
            <a:off x="11646363" y="6513119"/>
            <a:ext cx="736433" cy="379409"/>
          </a:xfrm>
        </p:spPr>
        <p:txBody>
          <a:bodyPr/>
          <a:lstStyle/>
          <a:p>
            <a:fld id="{952B6C0E-C4B9-4094-8E59-5B7DF00D5415}" type="slidenum">
              <a:rPr lang="ru-RU" smtClean="0">
                <a:solidFill>
                  <a:schemeClr val="tx1"/>
                </a:solidFill>
              </a:rPr>
              <a:t>56</a:t>
            </a:fld>
            <a:endParaRPr lang="ru-RU" dirty="0">
              <a:solidFill>
                <a:schemeClr val="tx1"/>
              </a:solidFill>
            </a:endParaRPr>
          </a:p>
        </p:txBody>
      </p:sp>
    </p:spTree>
    <p:extLst>
      <p:ext uri="{BB962C8B-B14F-4D97-AF65-F5344CB8AC3E}">
        <p14:creationId xmlns:p14="http://schemas.microsoft.com/office/powerpoint/2010/main" val="4121458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4"/>
          <p:cNvSpPr>
            <a:spLocks noChangeArrowheads="1"/>
          </p:cNvSpPr>
          <p:nvPr/>
        </p:nvSpPr>
        <p:spPr bwMode="auto">
          <a:xfrm>
            <a:off x="1438275" y="322263"/>
            <a:ext cx="10872513" cy="6553200"/>
          </a:xfrm>
          <a:prstGeom prst="roundRect">
            <a:avLst>
              <a:gd name="adj" fmla="val 16667"/>
            </a:avLst>
          </a:prstGeom>
          <a:solidFill>
            <a:schemeClr val="bg1">
              <a:alpha val="50195"/>
            </a:scheme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5" name="AutoShape 5"/>
          <p:cNvSpPr>
            <a:spLocks noChangeArrowheads="1"/>
          </p:cNvSpPr>
          <p:nvPr/>
        </p:nvSpPr>
        <p:spPr bwMode="auto">
          <a:xfrm>
            <a:off x="2373685" y="322264"/>
            <a:ext cx="8064128" cy="720601"/>
          </a:xfrm>
          <a:prstGeom prst="roundRect">
            <a:avLst>
              <a:gd name="adj" fmla="val 37469"/>
            </a:avLst>
          </a:prstGeom>
          <a:solidFill>
            <a:srgbClr val="FFFFFF">
              <a:alpha val="78822"/>
            </a:srgb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2" name="Заголовок 1"/>
          <p:cNvSpPr txBox="1">
            <a:spLocks noGrp="1"/>
          </p:cNvSpPr>
          <p:nvPr>
            <p:ph type="title" idx="4294967295"/>
          </p:nvPr>
        </p:nvSpPr>
        <p:spPr>
          <a:xfrm>
            <a:off x="2130612" y="253437"/>
            <a:ext cx="8550275" cy="1184275"/>
          </a:xfrm>
          <a:prstGeom prst="rect">
            <a:avLst/>
          </a:prstGeom>
        </p:spPr>
        <p:txBody>
          <a:bodyPr wrap="square">
            <a:noAutofit/>
          </a:bodyPr>
          <a:lstStyle/>
          <a:p>
            <a:pPr lvl="0"/>
            <a:r>
              <a:rPr lang="ru-RU" dirty="0"/>
              <a:t>Дополнительно</a:t>
            </a:r>
          </a:p>
        </p:txBody>
      </p:sp>
      <p:sp>
        <p:nvSpPr>
          <p:cNvPr id="3" name="Текст 2"/>
          <p:cNvSpPr txBox="1">
            <a:spLocks noGrp="1"/>
          </p:cNvSpPr>
          <p:nvPr>
            <p:ph type="body" idx="4294967295"/>
          </p:nvPr>
        </p:nvSpPr>
        <p:spPr>
          <a:xfrm>
            <a:off x="1380416" y="1653223"/>
            <a:ext cx="10512003" cy="4708525"/>
          </a:xfrm>
          <a:prstGeom prst="rect">
            <a:avLst/>
          </a:prstGeom>
        </p:spPr>
        <p:txBody>
          <a:bodyPr wrap="square"/>
          <a:lstStyle/>
          <a:p>
            <a:pPr marL="0" indent="269875">
              <a:lnSpc>
                <a:spcPct val="90000"/>
              </a:lnSpc>
              <a:spcBef>
                <a:spcPts val="544"/>
              </a:spcBef>
              <a:buClr>
                <a:srgbClr val="CC9900"/>
              </a:buClr>
              <a:buSzPct val="65000"/>
              <a:buFont typeface="Wingdings" pitchFamily="2"/>
              <a:buChar char=""/>
            </a:pPr>
            <a:r>
              <a:rPr lang="ru-RU" sz="2400" dirty="0"/>
              <a:t>Если выборка маленькая (часто границей между большой и маленькой выборкой рекомендуют считать 30 наблюдений), проверить гипотезу по малой выборке удастся.</a:t>
            </a:r>
          </a:p>
          <a:p>
            <a:pPr marL="0" indent="0">
              <a:lnSpc>
                <a:spcPct val="90000"/>
              </a:lnSpc>
              <a:spcBef>
                <a:spcPts val="544"/>
              </a:spcBef>
              <a:buClr>
                <a:srgbClr val="CC9900"/>
              </a:buClr>
              <a:buSzPct val="65000"/>
              <a:buNone/>
            </a:pPr>
            <a:r>
              <a:rPr lang="ru-RU" sz="2400" b="1" dirty="0"/>
              <a:t>Но</a:t>
            </a:r>
          </a:p>
          <a:p>
            <a:pPr marL="0" indent="269875">
              <a:lnSpc>
                <a:spcPct val="90000"/>
              </a:lnSpc>
              <a:spcBef>
                <a:spcPts val="544"/>
              </a:spcBef>
              <a:buClr>
                <a:srgbClr val="CC9900"/>
              </a:buClr>
              <a:buSzPct val="65000"/>
              <a:buFont typeface="Wingdings" pitchFamily="2"/>
              <a:buChar char=""/>
            </a:pPr>
            <a:r>
              <a:rPr lang="ru-RU" sz="2400" dirty="0"/>
              <a:t>Платой за малый размер будет неприемлемо б</a:t>
            </a:r>
            <a:r>
              <a:rPr lang="ru-RU" sz="2400" b="1" i="1" dirty="0"/>
              <a:t>о</a:t>
            </a:r>
            <a:r>
              <a:rPr lang="ru-RU" sz="2400" dirty="0"/>
              <a:t>льшая вероятность ошибки второго рода.</a:t>
            </a:r>
          </a:p>
          <a:p>
            <a:pPr marL="0" indent="269875">
              <a:lnSpc>
                <a:spcPct val="90000"/>
              </a:lnSpc>
              <a:spcBef>
                <a:spcPts val="544"/>
              </a:spcBef>
              <a:buClr>
                <a:srgbClr val="CC9900"/>
              </a:buClr>
              <a:buSzPct val="65000"/>
              <a:buFont typeface="Wingdings" pitchFamily="2"/>
              <a:buChar char=""/>
            </a:pPr>
            <a:r>
              <a:rPr lang="ru-RU" sz="2400" dirty="0"/>
              <a:t>Большинство практиков игнорируют ошибку второго рода.</a:t>
            </a:r>
          </a:p>
          <a:p>
            <a:pPr marL="415692" lvl="1" indent="269875">
              <a:lnSpc>
                <a:spcPct val="90000"/>
              </a:lnSpc>
              <a:spcBef>
                <a:spcPts val="544"/>
              </a:spcBef>
              <a:buClr>
                <a:srgbClr val="CC9900"/>
              </a:buClr>
              <a:buSzPct val="65000"/>
              <a:buFont typeface="Wingdings" pitchFamily="2"/>
              <a:buChar char=""/>
            </a:pPr>
            <a:r>
              <a:rPr lang="ru-RU" sz="2000" dirty="0"/>
              <a:t>Это неверно.</a:t>
            </a:r>
          </a:p>
          <a:p>
            <a:pPr marL="0" indent="269875">
              <a:lnSpc>
                <a:spcPct val="90000"/>
              </a:lnSpc>
              <a:spcBef>
                <a:spcPts val="544"/>
              </a:spcBef>
              <a:buClr>
                <a:srgbClr val="CC9900"/>
              </a:buClr>
              <a:buSzPct val="65000"/>
              <a:buFont typeface="Wingdings" pitchFamily="2"/>
              <a:buChar char=""/>
            </a:pPr>
            <a:r>
              <a:rPr lang="ru-RU" sz="2400" dirty="0"/>
              <a:t>Профессиональные статистики в таких ситуациях часто увеличивают уровень значимости (например до 0.15 или 0.2), чтобы сделать вероятности ошибок сопоставимыми.</a:t>
            </a:r>
          </a:p>
          <a:p>
            <a:pPr marL="354624" indent="-354624">
              <a:lnSpc>
                <a:spcPct val="90000"/>
              </a:lnSpc>
              <a:spcBef>
                <a:spcPts val="544"/>
              </a:spcBef>
              <a:tabLst>
                <a:tab pos="354624" algn="l"/>
                <a:tab pos="464976" algn="l"/>
                <a:tab pos="931823" algn="l"/>
                <a:tab pos="1398670" algn="l"/>
                <a:tab pos="1865517" algn="l"/>
                <a:tab pos="2332364" algn="l"/>
                <a:tab pos="2799211" algn="l"/>
                <a:tab pos="3266058" algn="l"/>
                <a:tab pos="3732903" algn="l"/>
                <a:tab pos="4199751" algn="l"/>
                <a:tab pos="4666597" algn="l"/>
                <a:tab pos="5133071" algn="l"/>
                <a:tab pos="5599918" algn="l"/>
                <a:tab pos="6066765" algn="l"/>
                <a:tab pos="6533611" algn="l"/>
                <a:tab pos="7000457" algn="l"/>
                <a:tab pos="7467305" algn="l"/>
                <a:tab pos="7934151" algn="l"/>
                <a:tab pos="8400999" algn="l"/>
                <a:tab pos="8867846" algn="l"/>
                <a:tab pos="9334693" algn="l"/>
              </a:tabLst>
            </a:pPr>
            <a:endParaRPr lang="ru-RU" sz="2400" dirty="0"/>
          </a:p>
        </p:txBody>
      </p:sp>
      <p:sp>
        <p:nvSpPr>
          <p:cNvPr id="7" name="Номер слайда 6"/>
          <p:cNvSpPr>
            <a:spLocks noGrp="1"/>
          </p:cNvSpPr>
          <p:nvPr>
            <p:ph type="sldNum" sz="quarter" idx="12"/>
          </p:nvPr>
        </p:nvSpPr>
        <p:spPr>
          <a:xfrm>
            <a:off x="11416190" y="6577259"/>
            <a:ext cx="952457" cy="379409"/>
          </a:xfrm>
        </p:spPr>
        <p:txBody>
          <a:bodyPr/>
          <a:lstStyle/>
          <a:p>
            <a:fld id="{952B6C0E-C4B9-4094-8E59-5B7DF00D5415}" type="slidenum">
              <a:rPr lang="ru-RU" smtClean="0">
                <a:solidFill>
                  <a:schemeClr val="tx1"/>
                </a:solidFill>
              </a:rPr>
              <a:t>57</a:t>
            </a:fld>
            <a:endParaRPr lang="ru-RU" dirty="0">
              <a:solidFill>
                <a:schemeClr val="tx1"/>
              </a:solidFill>
            </a:endParaRPr>
          </a:p>
        </p:txBody>
      </p:sp>
    </p:spTree>
    <p:extLst>
      <p:ext uri="{BB962C8B-B14F-4D97-AF65-F5344CB8AC3E}">
        <p14:creationId xmlns:p14="http://schemas.microsoft.com/office/powerpoint/2010/main" val="10239334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4"/>
          <p:cNvSpPr>
            <a:spLocks noChangeArrowheads="1"/>
          </p:cNvSpPr>
          <p:nvPr/>
        </p:nvSpPr>
        <p:spPr bwMode="auto">
          <a:xfrm>
            <a:off x="501477" y="322263"/>
            <a:ext cx="11953328" cy="6481761"/>
          </a:xfrm>
          <a:prstGeom prst="roundRect">
            <a:avLst>
              <a:gd name="adj" fmla="val 16667"/>
            </a:avLst>
          </a:prstGeom>
          <a:solidFill>
            <a:schemeClr val="bg1">
              <a:alpha val="50195"/>
            </a:scheme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5" name="AutoShape 5"/>
          <p:cNvSpPr>
            <a:spLocks noChangeArrowheads="1"/>
          </p:cNvSpPr>
          <p:nvPr/>
        </p:nvSpPr>
        <p:spPr bwMode="auto">
          <a:xfrm>
            <a:off x="2373685" y="322264"/>
            <a:ext cx="8064128" cy="1224657"/>
          </a:xfrm>
          <a:prstGeom prst="roundRect">
            <a:avLst>
              <a:gd name="adj" fmla="val 37469"/>
            </a:avLst>
          </a:prstGeom>
          <a:solidFill>
            <a:srgbClr val="FFFFFF">
              <a:alpha val="78822"/>
            </a:srgb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2" name="Заголовок 1"/>
          <p:cNvSpPr txBox="1">
            <a:spLocks noGrp="1"/>
          </p:cNvSpPr>
          <p:nvPr>
            <p:ph type="title" idx="4294967295"/>
          </p:nvPr>
        </p:nvSpPr>
        <p:spPr>
          <a:xfrm>
            <a:off x="1901441" y="481495"/>
            <a:ext cx="9008615" cy="864145"/>
          </a:xfrm>
          <a:prstGeom prst="rect">
            <a:avLst/>
          </a:prstGeom>
        </p:spPr>
        <p:txBody>
          <a:bodyPr wrap="square">
            <a:noAutofit/>
          </a:bodyPr>
          <a:lstStyle/>
          <a:p>
            <a:pPr lvl="0"/>
            <a:r>
              <a:rPr lang="ru-RU" sz="3600" dirty="0"/>
              <a:t>Алгоритм проверки статистических гипотез </a:t>
            </a:r>
          </a:p>
        </p:txBody>
      </p:sp>
      <p:sp>
        <p:nvSpPr>
          <p:cNvPr id="3" name="Текст 2"/>
          <p:cNvSpPr txBox="1">
            <a:spLocks noGrp="1"/>
          </p:cNvSpPr>
          <p:nvPr>
            <p:ph type="body" idx="4294967295"/>
          </p:nvPr>
        </p:nvSpPr>
        <p:spPr>
          <a:xfrm>
            <a:off x="717501" y="1546921"/>
            <a:ext cx="11305255" cy="3598863"/>
          </a:xfrm>
          <a:prstGeom prst="rect">
            <a:avLst/>
          </a:prstGeom>
        </p:spPr>
        <p:txBody>
          <a:bodyPr wrap="square">
            <a:normAutofit/>
          </a:bodyPr>
          <a:lstStyle/>
          <a:p>
            <a:pPr marL="0" indent="0">
              <a:buClr>
                <a:srgbClr val="CC9900"/>
              </a:buClr>
              <a:buSzPct val="65000"/>
              <a:buFont typeface="Wingdings" pitchFamily="2"/>
              <a:buChar char=""/>
              <a:tabLst>
                <a:tab pos="0" algn="l"/>
                <a:tab pos="110352" algn="l"/>
                <a:tab pos="577199" algn="l"/>
                <a:tab pos="1044046" algn="l"/>
                <a:tab pos="1510893" algn="l"/>
                <a:tab pos="1977740" algn="l"/>
                <a:tab pos="2444587" algn="l"/>
                <a:tab pos="2911434" algn="l"/>
                <a:tab pos="3378279" algn="l"/>
                <a:tab pos="3845127" algn="l"/>
                <a:tab pos="4311973" algn="l"/>
                <a:tab pos="4778447" algn="l"/>
                <a:tab pos="5245294" algn="l"/>
                <a:tab pos="5712141" algn="l"/>
                <a:tab pos="6178987" algn="l"/>
                <a:tab pos="6645833" algn="l"/>
                <a:tab pos="7112681" algn="l"/>
                <a:tab pos="7579527" algn="l"/>
                <a:tab pos="8046375" algn="l"/>
                <a:tab pos="8513222" algn="l"/>
                <a:tab pos="8980068" algn="l"/>
              </a:tabLst>
            </a:pPr>
            <a:r>
              <a:rPr lang="ru-RU" sz="2400" dirty="0"/>
              <a:t>1. Имеются n наблюдений, то есть n  чисел, полученных, например, в результате опроса.</a:t>
            </a:r>
          </a:p>
          <a:p>
            <a:pPr marL="0" indent="0">
              <a:buClr>
                <a:srgbClr val="CC9900"/>
              </a:buClr>
              <a:buSzPct val="65000"/>
              <a:buFont typeface="Wingdings" pitchFamily="2"/>
              <a:buChar char=""/>
              <a:tabLst>
                <a:tab pos="0" algn="l"/>
                <a:tab pos="110352" algn="l"/>
                <a:tab pos="577199" algn="l"/>
                <a:tab pos="1044046" algn="l"/>
                <a:tab pos="1510893" algn="l"/>
                <a:tab pos="1977740" algn="l"/>
                <a:tab pos="2444587" algn="l"/>
                <a:tab pos="2911434" algn="l"/>
                <a:tab pos="3378279" algn="l"/>
                <a:tab pos="3845127" algn="l"/>
                <a:tab pos="4311973" algn="l"/>
                <a:tab pos="4778447" algn="l"/>
                <a:tab pos="5245294" algn="l"/>
                <a:tab pos="5712141" algn="l"/>
                <a:tab pos="6178987" algn="l"/>
                <a:tab pos="6645833" algn="l"/>
                <a:tab pos="7112681" algn="l"/>
                <a:tab pos="7579527" algn="l"/>
                <a:tab pos="8046375" algn="l"/>
                <a:tab pos="8513222" algn="l"/>
                <a:tab pos="8980068" algn="l"/>
              </a:tabLst>
            </a:pPr>
            <a:r>
              <a:rPr lang="ru-RU" sz="2400" dirty="0"/>
              <a:t>2. Заранее задан уровень значимости α. Обычно это одно из чисел 0.005, 0.01, 0.05.</a:t>
            </a:r>
          </a:p>
          <a:p>
            <a:pPr marL="0" indent="0">
              <a:buClr>
                <a:srgbClr val="CC9900"/>
              </a:buClr>
              <a:buSzPct val="65000"/>
              <a:buFont typeface="Wingdings" pitchFamily="2"/>
              <a:buChar char=""/>
              <a:tabLst>
                <a:tab pos="0" algn="l"/>
                <a:tab pos="110352" algn="l"/>
                <a:tab pos="577199" algn="l"/>
                <a:tab pos="1044046" algn="l"/>
                <a:tab pos="1510893" algn="l"/>
                <a:tab pos="1977740" algn="l"/>
                <a:tab pos="2444587" algn="l"/>
                <a:tab pos="2911434" algn="l"/>
                <a:tab pos="3378279" algn="l"/>
                <a:tab pos="3845127" algn="l"/>
                <a:tab pos="4311973" algn="l"/>
                <a:tab pos="4778447" algn="l"/>
                <a:tab pos="5245294" algn="l"/>
                <a:tab pos="5712141" algn="l"/>
                <a:tab pos="6178987" algn="l"/>
                <a:tab pos="6645833" algn="l"/>
                <a:tab pos="7112681" algn="l"/>
                <a:tab pos="7579527" algn="l"/>
                <a:tab pos="8046375" algn="l"/>
                <a:tab pos="8513222" algn="l"/>
                <a:tab pos="8980068" algn="l"/>
              </a:tabLst>
            </a:pPr>
            <a:r>
              <a:rPr lang="ru-RU" sz="2400" dirty="0"/>
              <a:t>3. Задан статистический критерий, то есть функция от наблюдений.</a:t>
            </a:r>
          </a:p>
          <a:p>
            <a:pPr marL="0" indent="0">
              <a:buClr>
                <a:srgbClr val="CC9900"/>
              </a:buClr>
              <a:buSzPct val="65000"/>
              <a:buFont typeface="Wingdings" pitchFamily="2"/>
              <a:buChar char=""/>
              <a:tabLst>
                <a:tab pos="0" algn="l"/>
                <a:tab pos="110352" algn="l"/>
                <a:tab pos="577199" algn="l"/>
                <a:tab pos="1044046" algn="l"/>
                <a:tab pos="1510893" algn="l"/>
                <a:tab pos="1977740" algn="l"/>
                <a:tab pos="2444587" algn="l"/>
                <a:tab pos="2911434" algn="l"/>
                <a:tab pos="3378279" algn="l"/>
                <a:tab pos="3845127" algn="l"/>
                <a:tab pos="4311973" algn="l"/>
                <a:tab pos="4778447" algn="l"/>
                <a:tab pos="5245294" algn="l"/>
                <a:tab pos="5712141" algn="l"/>
                <a:tab pos="6178987" algn="l"/>
                <a:tab pos="6645833" algn="l"/>
                <a:tab pos="7112681" algn="l"/>
                <a:tab pos="7579527" algn="l"/>
                <a:tab pos="8046375" algn="l"/>
                <a:tab pos="8513222" algn="l"/>
                <a:tab pos="8980068" algn="l"/>
              </a:tabLst>
            </a:pPr>
            <a:r>
              <a:rPr lang="ru-RU" sz="2400" dirty="0"/>
              <a:t>4. Найдено p-значение (p-</a:t>
            </a:r>
            <a:r>
              <a:rPr lang="ru-RU" sz="2400" dirty="0" err="1"/>
              <a:t>value</a:t>
            </a:r>
            <a:r>
              <a:rPr lang="ru-RU" sz="2400" dirty="0"/>
              <a:t>).</a:t>
            </a:r>
          </a:p>
          <a:p>
            <a:pPr marL="0" indent="0">
              <a:buClr>
                <a:srgbClr val="CC9900"/>
              </a:buClr>
              <a:buSzPct val="65000"/>
              <a:buNone/>
            </a:pPr>
            <a:r>
              <a:rPr lang="ru-RU" sz="2400" dirty="0"/>
              <a:t>Иногда переводится как значимость (</a:t>
            </a:r>
            <a:r>
              <a:rPr lang="ru-RU" sz="2400" dirty="0" err="1"/>
              <a:t>Significance</a:t>
            </a:r>
            <a:r>
              <a:rPr lang="ru-RU" sz="2400" dirty="0"/>
              <a:t>).</a:t>
            </a:r>
          </a:p>
          <a:p>
            <a:pPr marL="0" indent="0">
              <a:buClr>
                <a:srgbClr val="CC9900"/>
              </a:buClr>
              <a:buSzPct val="65000"/>
              <a:buFont typeface="Wingdings" pitchFamily="2"/>
              <a:buChar char=""/>
              <a:tabLst>
                <a:tab pos="0" algn="l"/>
                <a:tab pos="110352" algn="l"/>
                <a:tab pos="577199" algn="l"/>
                <a:tab pos="1044046" algn="l"/>
                <a:tab pos="1510893" algn="l"/>
                <a:tab pos="1977740" algn="l"/>
                <a:tab pos="2444587" algn="l"/>
                <a:tab pos="2911434" algn="l"/>
                <a:tab pos="3378279" algn="l"/>
                <a:tab pos="3845127" algn="l"/>
                <a:tab pos="4311973" algn="l"/>
                <a:tab pos="4778447" algn="l"/>
                <a:tab pos="5245294" algn="l"/>
                <a:tab pos="5712141" algn="l"/>
                <a:tab pos="6178987" algn="l"/>
                <a:tab pos="6645833" algn="l"/>
                <a:tab pos="7112681" algn="l"/>
                <a:tab pos="7579527" algn="l"/>
                <a:tab pos="8046375" algn="l"/>
                <a:tab pos="8513222" algn="l"/>
                <a:tab pos="8980068" algn="l"/>
              </a:tabLst>
            </a:pPr>
            <a:endParaRPr lang="ru-RU" sz="2400" dirty="0"/>
          </a:p>
        </p:txBody>
      </p:sp>
      <p:sp>
        <p:nvSpPr>
          <p:cNvPr id="7" name="Номер слайда 6"/>
          <p:cNvSpPr>
            <a:spLocks noGrp="1"/>
          </p:cNvSpPr>
          <p:nvPr>
            <p:ph type="sldNum" sz="quarter" idx="12"/>
          </p:nvPr>
        </p:nvSpPr>
        <p:spPr>
          <a:xfrm>
            <a:off x="11772039" y="6496754"/>
            <a:ext cx="521177" cy="379409"/>
          </a:xfrm>
        </p:spPr>
        <p:txBody>
          <a:bodyPr/>
          <a:lstStyle/>
          <a:p>
            <a:fld id="{952B6C0E-C4B9-4094-8E59-5B7DF00D5415}" type="slidenum">
              <a:rPr lang="ru-RU" smtClean="0">
                <a:solidFill>
                  <a:schemeClr val="tx1"/>
                </a:solidFill>
              </a:rPr>
              <a:t>58</a:t>
            </a:fld>
            <a:endParaRPr lang="ru-RU" dirty="0">
              <a:solidFill>
                <a:schemeClr val="tx1"/>
              </a:solidFill>
            </a:endParaRPr>
          </a:p>
        </p:txBody>
      </p:sp>
      <p:sp>
        <p:nvSpPr>
          <p:cNvPr id="8" name="Текст 2">
            <a:extLst>
              <a:ext uri="{FF2B5EF4-FFF2-40B4-BE49-F238E27FC236}">
                <a16:creationId xmlns:a16="http://schemas.microsoft.com/office/drawing/2014/main" id="{ABA22709-607C-43D6-9659-D04D55474180}"/>
              </a:ext>
            </a:extLst>
          </p:cNvPr>
          <p:cNvSpPr txBox="1">
            <a:spLocks/>
          </p:cNvSpPr>
          <p:nvPr/>
        </p:nvSpPr>
        <p:spPr>
          <a:xfrm>
            <a:off x="531109" y="4210097"/>
            <a:ext cx="10008418" cy="2286657"/>
          </a:xfrm>
          <a:prstGeom prst="rect">
            <a:avLst/>
          </a:prstGeom>
        </p:spPr>
        <p:txBody>
          <a:bodyPr vert="horz" wrap="square" lIns="91440" tIns="45720" rIns="91440" bIns="45720" rtlCol="0">
            <a:normAutofit/>
          </a:bodyPr>
          <a:lstStyle>
            <a:lvl1pPr marL="356307" indent="-356307" algn="l" defTabSz="950153" rtl="0" eaLnBrk="1" latinLnBrk="0" hangingPunct="1">
              <a:spcBef>
                <a:spcPct val="20000"/>
              </a:spcBef>
              <a:buFont typeface="Arial" panose="020B0604020202020204" pitchFamily="34" charset="0"/>
              <a:buChar char="•"/>
              <a:defRPr sz="3325" kern="1200">
                <a:solidFill>
                  <a:schemeClr val="tx1"/>
                </a:solidFill>
                <a:latin typeface="+mn-lt"/>
                <a:ea typeface="+mn-ea"/>
                <a:cs typeface="+mn-cs"/>
              </a:defRPr>
            </a:lvl1pPr>
            <a:lvl2pPr marL="771999" indent="-296923" algn="l" defTabSz="950153" rtl="0" eaLnBrk="1" latinLnBrk="0" hangingPunct="1">
              <a:spcBef>
                <a:spcPct val="20000"/>
              </a:spcBef>
              <a:buFont typeface="Arial" panose="020B0604020202020204" pitchFamily="34" charset="0"/>
              <a:buChar char="–"/>
              <a:defRPr sz="2909" kern="1200">
                <a:solidFill>
                  <a:schemeClr val="tx1"/>
                </a:solidFill>
                <a:latin typeface="+mn-lt"/>
                <a:ea typeface="+mn-ea"/>
                <a:cs typeface="+mn-cs"/>
              </a:defRPr>
            </a:lvl2pPr>
            <a:lvl3pPr marL="1187691" indent="-237538" algn="l" defTabSz="950153" rtl="0" eaLnBrk="1" latinLnBrk="0" hangingPunct="1">
              <a:spcBef>
                <a:spcPct val="20000"/>
              </a:spcBef>
              <a:buFont typeface="Arial" panose="020B0604020202020204" pitchFamily="34" charset="0"/>
              <a:buChar char="•"/>
              <a:defRPr sz="2494" kern="1200">
                <a:solidFill>
                  <a:schemeClr val="tx1"/>
                </a:solidFill>
                <a:latin typeface="+mn-lt"/>
                <a:ea typeface="+mn-ea"/>
                <a:cs typeface="+mn-cs"/>
              </a:defRPr>
            </a:lvl3pPr>
            <a:lvl4pPr marL="1662768" indent="-237538" algn="l" defTabSz="950153" rtl="0" eaLnBrk="1" latinLnBrk="0" hangingPunct="1">
              <a:spcBef>
                <a:spcPct val="20000"/>
              </a:spcBef>
              <a:buFont typeface="Arial" panose="020B0604020202020204" pitchFamily="34" charset="0"/>
              <a:buChar char="–"/>
              <a:defRPr sz="2078" kern="1200">
                <a:solidFill>
                  <a:schemeClr val="tx1"/>
                </a:solidFill>
                <a:latin typeface="+mn-lt"/>
                <a:ea typeface="+mn-ea"/>
                <a:cs typeface="+mn-cs"/>
              </a:defRPr>
            </a:lvl4pPr>
            <a:lvl5pPr marL="2137844" indent="-237538" algn="l" defTabSz="950153" rtl="0" eaLnBrk="1" latinLnBrk="0" hangingPunct="1">
              <a:spcBef>
                <a:spcPct val="20000"/>
              </a:spcBef>
              <a:buFont typeface="Arial" panose="020B0604020202020204" pitchFamily="34" charset="0"/>
              <a:buChar char="»"/>
              <a:defRPr sz="2078" kern="1200">
                <a:solidFill>
                  <a:schemeClr val="tx1"/>
                </a:solidFill>
                <a:latin typeface="+mn-lt"/>
                <a:ea typeface="+mn-ea"/>
                <a:cs typeface="+mn-cs"/>
              </a:defRPr>
            </a:lvl5pPr>
            <a:lvl6pPr marL="2612921" indent="-237538" algn="l" defTabSz="950153" rtl="0" eaLnBrk="1" latinLnBrk="0" hangingPunct="1">
              <a:spcBef>
                <a:spcPct val="20000"/>
              </a:spcBef>
              <a:buFont typeface="Arial" panose="020B0604020202020204" pitchFamily="34" charset="0"/>
              <a:buChar char="•"/>
              <a:defRPr sz="2078" kern="1200">
                <a:solidFill>
                  <a:schemeClr val="tx1"/>
                </a:solidFill>
                <a:latin typeface="+mn-lt"/>
                <a:ea typeface="+mn-ea"/>
                <a:cs typeface="+mn-cs"/>
              </a:defRPr>
            </a:lvl6pPr>
            <a:lvl7pPr marL="3087997" indent="-237538" algn="l" defTabSz="950153" rtl="0" eaLnBrk="1" latinLnBrk="0" hangingPunct="1">
              <a:spcBef>
                <a:spcPct val="20000"/>
              </a:spcBef>
              <a:buFont typeface="Arial" panose="020B0604020202020204" pitchFamily="34" charset="0"/>
              <a:buChar char="•"/>
              <a:defRPr sz="2078" kern="1200">
                <a:solidFill>
                  <a:schemeClr val="tx1"/>
                </a:solidFill>
                <a:latin typeface="+mn-lt"/>
                <a:ea typeface="+mn-ea"/>
                <a:cs typeface="+mn-cs"/>
              </a:defRPr>
            </a:lvl7pPr>
            <a:lvl8pPr marL="3563074" indent="-237538" algn="l" defTabSz="950153" rtl="0" eaLnBrk="1" latinLnBrk="0" hangingPunct="1">
              <a:spcBef>
                <a:spcPct val="20000"/>
              </a:spcBef>
              <a:buFont typeface="Arial" panose="020B0604020202020204" pitchFamily="34" charset="0"/>
              <a:buChar char="•"/>
              <a:defRPr sz="2078" kern="1200">
                <a:solidFill>
                  <a:schemeClr val="tx1"/>
                </a:solidFill>
                <a:latin typeface="+mn-lt"/>
                <a:ea typeface="+mn-ea"/>
                <a:cs typeface="+mn-cs"/>
              </a:defRPr>
            </a:lvl8pPr>
            <a:lvl9pPr marL="4038150" indent="-237538" algn="l" defTabSz="950153" rtl="0" eaLnBrk="1" latinLnBrk="0" hangingPunct="1">
              <a:spcBef>
                <a:spcPct val="20000"/>
              </a:spcBef>
              <a:buFont typeface="Arial" panose="020B0604020202020204" pitchFamily="34" charset="0"/>
              <a:buChar char="•"/>
              <a:defRPr sz="2078" kern="1200">
                <a:solidFill>
                  <a:schemeClr val="tx1"/>
                </a:solidFill>
                <a:latin typeface="+mn-lt"/>
                <a:ea typeface="+mn-ea"/>
                <a:cs typeface="+mn-cs"/>
              </a:defRPr>
            </a:lvl9pPr>
          </a:lstStyle>
          <a:p>
            <a:pPr marL="169863" indent="273050" fontAlgn="auto">
              <a:spcAft>
                <a:spcPts val="0"/>
              </a:spcAft>
              <a:buClr>
                <a:srgbClr val="CC9900"/>
              </a:buClr>
              <a:buSzPct val="65000"/>
              <a:buFont typeface="Wingdings" pitchFamily="2"/>
              <a:buChar char=""/>
            </a:pPr>
            <a:r>
              <a:rPr lang="ru-RU" sz="2400" dirty="0"/>
              <a:t>5.Если </a:t>
            </a:r>
            <a:r>
              <a:rPr lang="en-US" sz="2400" dirty="0"/>
              <a:t>p&lt; </a:t>
            </a:r>
            <a:r>
              <a:rPr lang="ru-RU" sz="2400" dirty="0"/>
              <a:t>α</a:t>
            </a:r>
            <a:r>
              <a:rPr lang="en-US" sz="2400" dirty="0"/>
              <a:t>  -</a:t>
            </a:r>
            <a:r>
              <a:rPr lang="ru-RU" sz="2400" dirty="0"/>
              <a:t> гипотезу отвергаем, </a:t>
            </a:r>
            <a:r>
              <a:rPr lang="en-US" sz="2400" dirty="0"/>
              <a:t> </a:t>
            </a:r>
            <a:r>
              <a:rPr lang="ru-RU" sz="2400" dirty="0"/>
              <a:t>если </a:t>
            </a:r>
            <a:r>
              <a:rPr lang="en-US" sz="2400" dirty="0"/>
              <a:t>p&gt; </a:t>
            </a:r>
            <a:r>
              <a:rPr lang="ru-RU" sz="2400" dirty="0"/>
              <a:t>α</a:t>
            </a:r>
            <a:r>
              <a:rPr lang="en-US" sz="2400" dirty="0"/>
              <a:t>  </a:t>
            </a:r>
            <a:r>
              <a:rPr lang="ru-RU" sz="2400" dirty="0"/>
              <a:t>- не отвергаем.</a:t>
            </a:r>
          </a:p>
          <a:p>
            <a:pPr marL="169863" indent="273050" fontAlgn="auto">
              <a:spcAft>
                <a:spcPts val="0"/>
              </a:spcAft>
              <a:buClr>
                <a:srgbClr val="CC9900"/>
              </a:buClr>
              <a:buSzPct val="65000"/>
              <a:buFont typeface="Wingdings" pitchFamily="2"/>
              <a:buChar char=""/>
            </a:pPr>
            <a:endParaRPr lang="ru-RU" sz="2400" dirty="0"/>
          </a:p>
          <a:p>
            <a:pPr marL="898525" indent="273050" fontAlgn="auto">
              <a:spcAft>
                <a:spcPts val="0"/>
              </a:spcAft>
              <a:buClr>
                <a:srgbClr val="CC9900"/>
              </a:buClr>
              <a:buSzPct val="65000"/>
              <a:buFont typeface="Wingdings" pitchFamily="2"/>
              <a:buChar char=""/>
            </a:pPr>
            <a:r>
              <a:rPr lang="ru-RU" sz="2400" dirty="0"/>
              <a:t>Напомним:</a:t>
            </a:r>
          </a:p>
          <a:p>
            <a:pPr marL="898525" lvl="1" indent="273050" fontAlgn="auto">
              <a:spcBef>
                <a:spcPts val="777"/>
              </a:spcBef>
              <a:spcAft>
                <a:spcPts val="0"/>
              </a:spcAft>
              <a:buClr>
                <a:srgbClr val="000000"/>
              </a:buClr>
              <a:buSzPct val="100000"/>
              <a:buFont typeface="Times New Roman" pitchFamily="18"/>
              <a:buChar char="–"/>
            </a:pPr>
            <a:r>
              <a:rPr lang="ru-RU" sz="2000" dirty="0">
                <a:solidFill>
                  <a:srgbClr val="000000"/>
                </a:solidFill>
                <a:latin typeface="Arial" pitchFamily="2"/>
                <a:cs typeface="Arial" pitchFamily="2"/>
              </a:rPr>
              <a:t>α – уровень значимости</a:t>
            </a:r>
          </a:p>
          <a:p>
            <a:pPr marL="898525" lvl="1" indent="273050" fontAlgn="auto">
              <a:spcBef>
                <a:spcPts val="777"/>
              </a:spcBef>
              <a:spcAft>
                <a:spcPts val="0"/>
              </a:spcAft>
              <a:buClr>
                <a:srgbClr val="000000"/>
              </a:buClr>
              <a:buSzPct val="100000"/>
              <a:buFont typeface="Times New Roman" pitchFamily="18"/>
              <a:buChar char="–"/>
            </a:pPr>
            <a:r>
              <a:rPr lang="ru-RU" sz="2000" dirty="0">
                <a:solidFill>
                  <a:srgbClr val="000000"/>
                </a:solidFill>
                <a:latin typeface="Arial" pitchFamily="2"/>
                <a:cs typeface="Arial" pitchFamily="2"/>
              </a:rPr>
              <a:t>p -  p-</a:t>
            </a:r>
            <a:r>
              <a:rPr lang="ru-RU" sz="2000" dirty="0" err="1">
                <a:solidFill>
                  <a:srgbClr val="000000"/>
                </a:solidFill>
                <a:latin typeface="Arial" pitchFamily="2"/>
                <a:cs typeface="Arial" pitchFamily="2"/>
              </a:rPr>
              <a:t>value</a:t>
            </a:r>
            <a:r>
              <a:rPr lang="ru-RU" sz="2000" dirty="0">
                <a:solidFill>
                  <a:srgbClr val="000000"/>
                </a:solidFill>
                <a:latin typeface="Arial" pitchFamily="2"/>
                <a:cs typeface="Arial" pitchFamily="2"/>
              </a:rPr>
              <a:t>.</a:t>
            </a:r>
          </a:p>
        </p:txBody>
      </p:sp>
    </p:spTree>
    <p:extLst>
      <p:ext uri="{BB962C8B-B14F-4D97-AF65-F5344CB8AC3E}">
        <p14:creationId xmlns:p14="http://schemas.microsoft.com/office/powerpoint/2010/main" val="23401888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4"/>
          <p:cNvSpPr>
            <a:spLocks noChangeArrowheads="1"/>
          </p:cNvSpPr>
          <p:nvPr/>
        </p:nvSpPr>
        <p:spPr bwMode="auto">
          <a:xfrm>
            <a:off x="1438275" y="322263"/>
            <a:ext cx="10944521" cy="6553200"/>
          </a:xfrm>
          <a:prstGeom prst="roundRect">
            <a:avLst>
              <a:gd name="adj" fmla="val 16667"/>
            </a:avLst>
          </a:prstGeom>
          <a:solidFill>
            <a:schemeClr val="bg1">
              <a:alpha val="50195"/>
            </a:scheme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5" name="AutoShape 5"/>
          <p:cNvSpPr>
            <a:spLocks noChangeArrowheads="1"/>
          </p:cNvSpPr>
          <p:nvPr/>
        </p:nvSpPr>
        <p:spPr bwMode="auto">
          <a:xfrm>
            <a:off x="2373685" y="322264"/>
            <a:ext cx="8064128" cy="720601"/>
          </a:xfrm>
          <a:prstGeom prst="roundRect">
            <a:avLst>
              <a:gd name="adj" fmla="val 37469"/>
            </a:avLst>
          </a:prstGeom>
          <a:solidFill>
            <a:srgbClr val="FFFFFF">
              <a:alpha val="78822"/>
            </a:srgb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7" name="Rectangle 1"/>
          <p:cNvSpPr>
            <a:spLocks noChangeArrowheads="1"/>
          </p:cNvSpPr>
          <p:nvPr/>
        </p:nvSpPr>
        <p:spPr bwMode="auto">
          <a:xfrm>
            <a:off x="1221557" y="1500173"/>
            <a:ext cx="10729191" cy="4493538"/>
          </a:xfrm>
          <a:prstGeom prst="rect">
            <a:avLst/>
          </a:prstGeom>
          <a:noFill/>
          <a:ln>
            <a:noFill/>
          </a:ln>
          <a:effectLst/>
        </p:spPr>
        <p:txBody>
          <a:bodyPr vert="horz" wrap="square" lIns="91440" tIns="45720" rIns="91440" bIns="45720" numCol="1" anchor="ctr"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ru-RU" altLang="ru-RU" sz="2200" dirty="0">
                <a:latin typeface="Barlow"/>
              </a:rPr>
              <a:t>Предположим, у нас имеются данные по суточному потреблению энергии, поступающей с пищей (кДж/сутки), для 11 женщин (пример заимствован из книги </a:t>
            </a:r>
            <a:r>
              <a:rPr lang="ru-RU" altLang="ru-RU" sz="2200" i="1" dirty="0" err="1">
                <a:latin typeface="Barlow"/>
              </a:rPr>
              <a:t>Altman</a:t>
            </a:r>
            <a:r>
              <a:rPr lang="ru-RU" altLang="ru-RU" sz="2200" i="1" dirty="0">
                <a:latin typeface="Barlow"/>
              </a:rPr>
              <a:t> D. G. (1981) Practical </a:t>
            </a:r>
            <a:r>
              <a:rPr lang="ru-RU" altLang="ru-RU" sz="2200" i="1" dirty="0" err="1">
                <a:latin typeface="Barlow"/>
              </a:rPr>
              <a:t>Statistics</a:t>
            </a:r>
            <a:r>
              <a:rPr lang="ru-RU" altLang="ru-RU" sz="2200" i="1" dirty="0">
                <a:latin typeface="Barlow"/>
              </a:rPr>
              <a:t> </a:t>
            </a:r>
            <a:r>
              <a:rPr lang="ru-RU" altLang="ru-RU" sz="2200" i="1" dirty="0" err="1">
                <a:latin typeface="Barlow"/>
              </a:rPr>
              <a:t>for</a:t>
            </a:r>
            <a:r>
              <a:rPr lang="ru-RU" altLang="ru-RU" sz="2200" i="1" dirty="0">
                <a:latin typeface="Barlow"/>
              </a:rPr>
              <a:t> Medical </a:t>
            </a:r>
            <a:r>
              <a:rPr lang="ru-RU" altLang="ru-RU" sz="2200" i="1" dirty="0" err="1">
                <a:latin typeface="Barlow"/>
              </a:rPr>
              <a:t>Research</a:t>
            </a:r>
            <a:r>
              <a:rPr lang="ru-RU" altLang="ru-RU" sz="2200" i="1" dirty="0">
                <a:latin typeface="Barlow"/>
              </a:rPr>
              <a:t>, </a:t>
            </a:r>
            <a:r>
              <a:rPr lang="ru-RU" altLang="ru-RU" sz="2200" i="1" dirty="0" err="1">
                <a:latin typeface="Barlow"/>
              </a:rPr>
              <a:t>Chapman</a:t>
            </a:r>
            <a:r>
              <a:rPr lang="ru-RU" altLang="ru-RU" sz="2200" i="1" dirty="0">
                <a:latin typeface="Barlow"/>
              </a:rPr>
              <a:t> &amp; </a:t>
            </a:r>
            <a:r>
              <a:rPr lang="ru-RU" altLang="ru-RU" sz="2200" i="1" dirty="0" err="1">
                <a:latin typeface="Barlow"/>
              </a:rPr>
              <a:t>Hall</a:t>
            </a:r>
            <a:r>
              <a:rPr lang="ru-RU" altLang="ru-RU" sz="2200" i="1" dirty="0">
                <a:latin typeface="Barlow"/>
              </a:rPr>
              <a:t>, </a:t>
            </a:r>
            <a:r>
              <a:rPr lang="ru-RU" altLang="ru-RU" sz="2200" i="1" dirty="0" err="1">
                <a:latin typeface="Barlow"/>
              </a:rPr>
              <a:t>London</a:t>
            </a:r>
            <a:r>
              <a:rPr lang="ru-RU" altLang="ru-RU" sz="2200" dirty="0">
                <a:latin typeface="Barlow"/>
              </a:rPr>
              <a:t>):</a:t>
            </a:r>
            <a:endParaRPr lang="ru-RU" altLang="ru-RU" sz="2200" dirty="0"/>
          </a:p>
          <a:p>
            <a:br>
              <a:rPr lang="ru-RU" altLang="ru-RU" sz="2200" dirty="0"/>
            </a:br>
            <a:endParaRPr lang="ru-RU" altLang="ru-RU" sz="2200" dirty="0"/>
          </a:p>
          <a:p>
            <a:r>
              <a:rPr lang="ru-RU" altLang="ru-RU" sz="2200" b="1" dirty="0" err="1">
                <a:solidFill>
                  <a:srgbClr val="656565"/>
                </a:solidFill>
                <a:latin typeface="Courier New" panose="02070309020205020404" pitchFamily="49" charset="0"/>
                <a:cs typeface="Courier New" panose="02070309020205020404" pitchFamily="49" charset="0"/>
              </a:rPr>
              <a:t>d.intake</a:t>
            </a:r>
            <a:r>
              <a:rPr lang="ru-RU" altLang="ru-RU" sz="2200" b="1" dirty="0">
                <a:solidFill>
                  <a:srgbClr val="656565"/>
                </a:solidFill>
                <a:latin typeface="Courier New" panose="02070309020205020404" pitchFamily="49" charset="0"/>
                <a:cs typeface="Courier New" panose="02070309020205020404" pitchFamily="49" charset="0"/>
              </a:rPr>
              <a:t> &lt;- </a:t>
            </a:r>
            <a:r>
              <a:rPr lang="ru-RU" altLang="ru-RU" sz="2200" b="1" dirty="0">
                <a:solidFill>
                  <a:srgbClr val="003399"/>
                </a:solidFill>
                <a:latin typeface="Courier New" panose="02070309020205020404" pitchFamily="49" charset="0"/>
                <a:cs typeface="Courier New" panose="02070309020205020404" pitchFamily="49" charset="0"/>
                <a:hlinkClick r:id="rId3"/>
              </a:rPr>
              <a:t>c</a:t>
            </a:r>
            <a:r>
              <a:rPr lang="ru-RU" altLang="ru-RU" sz="2200" b="1" dirty="0">
                <a:solidFill>
                  <a:srgbClr val="009900"/>
                </a:solidFill>
                <a:latin typeface="Courier New" panose="02070309020205020404" pitchFamily="49" charset="0"/>
                <a:cs typeface="Courier New" panose="02070309020205020404" pitchFamily="49" charset="0"/>
              </a:rPr>
              <a:t>(</a:t>
            </a:r>
            <a:r>
              <a:rPr lang="ru-RU" altLang="ru-RU" sz="2200" b="1" dirty="0">
                <a:solidFill>
                  <a:srgbClr val="CC66CC"/>
                </a:solidFill>
                <a:latin typeface="Courier New" panose="02070309020205020404" pitchFamily="49" charset="0"/>
                <a:cs typeface="Courier New" panose="02070309020205020404" pitchFamily="49" charset="0"/>
              </a:rPr>
              <a:t>5260</a:t>
            </a:r>
            <a:r>
              <a:rPr lang="ru-RU" altLang="ru-RU" sz="2200" b="1" dirty="0">
                <a:solidFill>
                  <a:srgbClr val="339933"/>
                </a:solidFill>
                <a:latin typeface="Courier New" panose="02070309020205020404" pitchFamily="49" charset="0"/>
                <a:cs typeface="Courier New" panose="02070309020205020404" pitchFamily="49" charset="0"/>
              </a:rPr>
              <a:t>,</a:t>
            </a:r>
            <a:r>
              <a:rPr lang="ru-RU" altLang="ru-RU" sz="2200" b="1" dirty="0">
                <a:solidFill>
                  <a:srgbClr val="656565"/>
                </a:solidFill>
                <a:latin typeface="Courier New" panose="02070309020205020404" pitchFamily="49" charset="0"/>
                <a:cs typeface="Courier New" panose="02070309020205020404" pitchFamily="49" charset="0"/>
              </a:rPr>
              <a:t> </a:t>
            </a:r>
            <a:r>
              <a:rPr lang="ru-RU" altLang="ru-RU" sz="2200" b="1" dirty="0">
                <a:solidFill>
                  <a:srgbClr val="CC66CC"/>
                </a:solidFill>
                <a:latin typeface="Courier New" panose="02070309020205020404" pitchFamily="49" charset="0"/>
                <a:cs typeface="Courier New" panose="02070309020205020404" pitchFamily="49" charset="0"/>
              </a:rPr>
              <a:t>5470</a:t>
            </a:r>
            <a:r>
              <a:rPr lang="ru-RU" altLang="ru-RU" sz="2200" b="1" dirty="0">
                <a:solidFill>
                  <a:srgbClr val="339933"/>
                </a:solidFill>
                <a:latin typeface="Courier New" panose="02070309020205020404" pitchFamily="49" charset="0"/>
                <a:cs typeface="Courier New" panose="02070309020205020404" pitchFamily="49" charset="0"/>
              </a:rPr>
              <a:t>,</a:t>
            </a:r>
            <a:r>
              <a:rPr lang="ru-RU" altLang="ru-RU" sz="2200" b="1" dirty="0">
                <a:solidFill>
                  <a:srgbClr val="656565"/>
                </a:solidFill>
                <a:latin typeface="Courier New" panose="02070309020205020404" pitchFamily="49" charset="0"/>
                <a:cs typeface="Courier New" panose="02070309020205020404" pitchFamily="49" charset="0"/>
              </a:rPr>
              <a:t> </a:t>
            </a:r>
            <a:r>
              <a:rPr lang="ru-RU" altLang="ru-RU" sz="2200" b="1" dirty="0">
                <a:solidFill>
                  <a:srgbClr val="CC66CC"/>
                </a:solidFill>
                <a:latin typeface="Courier New" panose="02070309020205020404" pitchFamily="49" charset="0"/>
                <a:cs typeface="Courier New" panose="02070309020205020404" pitchFamily="49" charset="0"/>
              </a:rPr>
              <a:t>5640</a:t>
            </a:r>
            <a:r>
              <a:rPr lang="ru-RU" altLang="ru-RU" sz="2200" b="1" dirty="0">
                <a:solidFill>
                  <a:srgbClr val="339933"/>
                </a:solidFill>
                <a:latin typeface="Courier New" panose="02070309020205020404" pitchFamily="49" charset="0"/>
                <a:cs typeface="Courier New" panose="02070309020205020404" pitchFamily="49" charset="0"/>
              </a:rPr>
              <a:t>,</a:t>
            </a:r>
            <a:r>
              <a:rPr lang="ru-RU" altLang="ru-RU" sz="2200" b="1" dirty="0">
                <a:solidFill>
                  <a:srgbClr val="656565"/>
                </a:solidFill>
                <a:latin typeface="Courier New" panose="02070309020205020404" pitchFamily="49" charset="0"/>
                <a:cs typeface="Courier New" panose="02070309020205020404" pitchFamily="49" charset="0"/>
              </a:rPr>
              <a:t> </a:t>
            </a:r>
            <a:r>
              <a:rPr lang="ru-RU" altLang="ru-RU" sz="2200" b="1" dirty="0">
                <a:solidFill>
                  <a:srgbClr val="CC66CC"/>
                </a:solidFill>
                <a:latin typeface="Courier New" panose="02070309020205020404" pitchFamily="49" charset="0"/>
                <a:cs typeface="Courier New" panose="02070309020205020404" pitchFamily="49" charset="0"/>
              </a:rPr>
              <a:t>6180</a:t>
            </a:r>
            <a:r>
              <a:rPr lang="ru-RU" altLang="ru-RU" sz="2200" b="1" dirty="0">
                <a:solidFill>
                  <a:srgbClr val="339933"/>
                </a:solidFill>
                <a:latin typeface="Courier New" panose="02070309020205020404" pitchFamily="49" charset="0"/>
                <a:cs typeface="Courier New" panose="02070309020205020404" pitchFamily="49" charset="0"/>
              </a:rPr>
              <a:t>,</a:t>
            </a:r>
            <a:r>
              <a:rPr lang="ru-RU" altLang="ru-RU" sz="2200" b="1" dirty="0">
                <a:solidFill>
                  <a:srgbClr val="656565"/>
                </a:solidFill>
                <a:latin typeface="Courier New" panose="02070309020205020404" pitchFamily="49" charset="0"/>
                <a:cs typeface="Courier New" panose="02070309020205020404" pitchFamily="49" charset="0"/>
              </a:rPr>
              <a:t> </a:t>
            </a:r>
            <a:r>
              <a:rPr lang="ru-RU" altLang="ru-RU" sz="2200" b="1" dirty="0">
                <a:solidFill>
                  <a:srgbClr val="CC66CC"/>
                </a:solidFill>
                <a:latin typeface="Courier New" panose="02070309020205020404" pitchFamily="49" charset="0"/>
                <a:cs typeface="Courier New" panose="02070309020205020404" pitchFamily="49" charset="0"/>
              </a:rPr>
              <a:t>6390</a:t>
            </a:r>
            <a:r>
              <a:rPr lang="ru-RU" altLang="ru-RU" sz="2200" b="1" dirty="0">
                <a:solidFill>
                  <a:srgbClr val="339933"/>
                </a:solidFill>
                <a:latin typeface="Courier New" panose="02070309020205020404" pitchFamily="49" charset="0"/>
                <a:cs typeface="Courier New" panose="02070309020205020404" pitchFamily="49" charset="0"/>
              </a:rPr>
              <a:t>,</a:t>
            </a:r>
            <a:r>
              <a:rPr lang="ru-RU" altLang="ru-RU" sz="2200" b="1" dirty="0">
                <a:solidFill>
                  <a:srgbClr val="656565"/>
                </a:solidFill>
                <a:latin typeface="Courier New" panose="02070309020205020404" pitchFamily="49" charset="0"/>
                <a:cs typeface="Courier New" panose="02070309020205020404" pitchFamily="49" charset="0"/>
              </a:rPr>
              <a:t> </a:t>
            </a:r>
            <a:r>
              <a:rPr lang="ru-RU" altLang="ru-RU" sz="2200" b="1" dirty="0">
                <a:solidFill>
                  <a:srgbClr val="CC66CC"/>
                </a:solidFill>
                <a:latin typeface="Courier New" panose="02070309020205020404" pitchFamily="49" charset="0"/>
                <a:cs typeface="Courier New" panose="02070309020205020404" pitchFamily="49" charset="0"/>
              </a:rPr>
              <a:t>6515</a:t>
            </a:r>
            <a:r>
              <a:rPr lang="ru-RU" altLang="ru-RU" sz="2200" b="1" dirty="0">
                <a:solidFill>
                  <a:srgbClr val="339933"/>
                </a:solidFill>
                <a:latin typeface="Courier New" panose="02070309020205020404" pitchFamily="49" charset="0"/>
                <a:cs typeface="Courier New" panose="02070309020205020404" pitchFamily="49" charset="0"/>
              </a:rPr>
              <a:t>,</a:t>
            </a:r>
            <a:r>
              <a:rPr lang="ru-RU" altLang="ru-RU" sz="2200" b="1" dirty="0">
                <a:solidFill>
                  <a:srgbClr val="656565"/>
                </a:solidFill>
                <a:latin typeface="Courier New" panose="02070309020205020404" pitchFamily="49" charset="0"/>
                <a:cs typeface="Courier New" panose="02070309020205020404" pitchFamily="49" charset="0"/>
              </a:rPr>
              <a:t> </a:t>
            </a:r>
            <a:r>
              <a:rPr lang="ru-RU" altLang="ru-RU" sz="2200" b="1" dirty="0">
                <a:solidFill>
                  <a:srgbClr val="CC66CC"/>
                </a:solidFill>
                <a:latin typeface="Courier New" panose="02070309020205020404" pitchFamily="49" charset="0"/>
                <a:cs typeface="Courier New" panose="02070309020205020404" pitchFamily="49" charset="0"/>
              </a:rPr>
              <a:t>6805</a:t>
            </a:r>
            <a:r>
              <a:rPr lang="ru-RU" altLang="ru-RU" sz="2200" b="1" dirty="0">
                <a:solidFill>
                  <a:srgbClr val="339933"/>
                </a:solidFill>
                <a:latin typeface="Courier New" panose="02070309020205020404" pitchFamily="49" charset="0"/>
                <a:cs typeface="Courier New" panose="02070309020205020404" pitchFamily="49" charset="0"/>
              </a:rPr>
              <a:t>,</a:t>
            </a:r>
            <a:r>
              <a:rPr lang="ru-RU" altLang="ru-RU" sz="2200" b="1" dirty="0">
                <a:solidFill>
                  <a:srgbClr val="656565"/>
                </a:solidFill>
                <a:latin typeface="Courier New" panose="02070309020205020404" pitchFamily="49" charset="0"/>
                <a:cs typeface="Courier New" panose="02070309020205020404" pitchFamily="49" charset="0"/>
              </a:rPr>
              <a:t> </a:t>
            </a:r>
            <a:r>
              <a:rPr lang="ru-RU" altLang="ru-RU" sz="2200" b="1" dirty="0">
                <a:solidFill>
                  <a:srgbClr val="CC66CC"/>
                </a:solidFill>
                <a:latin typeface="Courier New" panose="02070309020205020404" pitchFamily="49" charset="0"/>
                <a:cs typeface="Courier New" panose="02070309020205020404" pitchFamily="49" charset="0"/>
              </a:rPr>
              <a:t>7515</a:t>
            </a:r>
            <a:r>
              <a:rPr lang="ru-RU" altLang="ru-RU" sz="2200" b="1" dirty="0">
                <a:solidFill>
                  <a:srgbClr val="339933"/>
                </a:solidFill>
                <a:latin typeface="Courier New" panose="02070309020205020404" pitchFamily="49" charset="0"/>
                <a:cs typeface="Courier New" panose="02070309020205020404" pitchFamily="49" charset="0"/>
              </a:rPr>
              <a:t>,</a:t>
            </a:r>
            <a:r>
              <a:rPr lang="ru-RU" altLang="ru-RU" sz="2200" b="1" dirty="0">
                <a:solidFill>
                  <a:srgbClr val="656565"/>
                </a:solidFill>
                <a:latin typeface="Courier New" panose="02070309020205020404" pitchFamily="49" charset="0"/>
                <a:cs typeface="Courier New" panose="02070309020205020404" pitchFamily="49" charset="0"/>
              </a:rPr>
              <a:t> </a:t>
            </a:r>
            <a:r>
              <a:rPr lang="ru-RU" altLang="ru-RU" sz="2200" b="1" dirty="0">
                <a:solidFill>
                  <a:srgbClr val="CC66CC"/>
                </a:solidFill>
                <a:latin typeface="Courier New" panose="02070309020205020404" pitchFamily="49" charset="0"/>
                <a:cs typeface="Courier New" panose="02070309020205020404" pitchFamily="49" charset="0"/>
              </a:rPr>
              <a:t>7515</a:t>
            </a:r>
            <a:r>
              <a:rPr lang="ru-RU" altLang="ru-RU" sz="2200" b="1" dirty="0">
                <a:solidFill>
                  <a:srgbClr val="339933"/>
                </a:solidFill>
                <a:latin typeface="Courier New" panose="02070309020205020404" pitchFamily="49" charset="0"/>
                <a:cs typeface="Courier New" panose="02070309020205020404" pitchFamily="49" charset="0"/>
              </a:rPr>
              <a:t>,</a:t>
            </a:r>
            <a:r>
              <a:rPr lang="ru-RU" altLang="ru-RU" sz="2200" b="1" dirty="0">
                <a:solidFill>
                  <a:srgbClr val="656565"/>
                </a:solidFill>
                <a:latin typeface="Courier New" panose="02070309020205020404" pitchFamily="49" charset="0"/>
                <a:cs typeface="Courier New" panose="02070309020205020404" pitchFamily="49" charset="0"/>
              </a:rPr>
              <a:t> </a:t>
            </a:r>
            <a:r>
              <a:rPr lang="ru-RU" altLang="ru-RU" sz="2200" b="1" dirty="0">
                <a:solidFill>
                  <a:srgbClr val="CC66CC"/>
                </a:solidFill>
                <a:latin typeface="Courier New" panose="02070309020205020404" pitchFamily="49" charset="0"/>
                <a:cs typeface="Courier New" panose="02070309020205020404" pitchFamily="49" charset="0"/>
              </a:rPr>
              <a:t>8230</a:t>
            </a:r>
            <a:r>
              <a:rPr lang="ru-RU" altLang="ru-RU" sz="2200" b="1" dirty="0">
                <a:solidFill>
                  <a:srgbClr val="339933"/>
                </a:solidFill>
                <a:latin typeface="Courier New" panose="02070309020205020404" pitchFamily="49" charset="0"/>
                <a:cs typeface="Courier New" panose="02070309020205020404" pitchFamily="49" charset="0"/>
              </a:rPr>
              <a:t>,</a:t>
            </a:r>
            <a:r>
              <a:rPr lang="ru-RU" altLang="ru-RU" sz="2200" b="1" dirty="0">
                <a:solidFill>
                  <a:srgbClr val="656565"/>
                </a:solidFill>
                <a:latin typeface="Courier New" panose="02070309020205020404" pitchFamily="49" charset="0"/>
                <a:cs typeface="Courier New" panose="02070309020205020404" pitchFamily="49" charset="0"/>
              </a:rPr>
              <a:t> </a:t>
            </a:r>
            <a:r>
              <a:rPr lang="ru-RU" altLang="ru-RU" sz="2200" b="1" dirty="0">
                <a:solidFill>
                  <a:srgbClr val="CC66CC"/>
                </a:solidFill>
                <a:latin typeface="Courier New" panose="02070309020205020404" pitchFamily="49" charset="0"/>
                <a:cs typeface="Courier New" panose="02070309020205020404" pitchFamily="49" charset="0"/>
              </a:rPr>
              <a:t>8770</a:t>
            </a:r>
            <a:r>
              <a:rPr lang="ru-RU" altLang="ru-RU" sz="2200" b="1" dirty="0">
                <a:solidFill>
                  <a:srgbClr val="009900"/>
                </a:solidFill>
                <a:latin typeface="Courier New" panose="02070309020205020404" pitchFamily="49" charset="0"/>
                <a:cs typeface="Courier New" panose="02070309020205020404" pitchFamily="49" charset="0"/>
              </a:rPr>
              <a:t>)</a:t>
            </a:r>
            <a:endParaRPr lang="ru-RU" altLang="ru-RU" sz="2200" b="1" dirty="0"/>
          </a:p>
          <a:p>
            <a:br>
              <a:rPr lang="ru-RU" altLang="ru-RU" sz="2200" dirty="0"/>
            </a:br>
            <a:r>
              <a:rPr lang="ru-RU" altLang="ru-RU" sz="2200" dirty="0">
                <a:latin typeface="Barlow"/>
              </a:rPr>
              <a:t>Среднее значение для этих 11 наблюдений составляет:</a:t>
            </a:r>
            <a:br>
              <a:rPr lang="ru-RU" altLang="ru-RU" sz="2200" dirty="0"/>
            </a:br>
            <a:br>
              <a:rPr lang="ru-RU" altLang="ru-RU" sz="2200" dirty="0"/>
            </a:br>
            <a:endParaRPr lang="ru-RU" altLang="ru-RU" sz="2200" dirty="0"/>
          </a:p>
          <a:p>
            <a:r>
              <a:rPr lang="ru-RU" altLang="ru-RU" sz="2200" b="1" dirty="0" err="1">
                <a:solidFill>
                  <a:srgbClr val="003399"/>
                </a:solidFill>
                <a:latin typeface="Courier New" panose="02070309020205020404" pitchFamily="49" charset="0"/>
                <a:cs typeface="Courier New" panose="02070309020205020404" pitchFamily="49" charset="0"/>
                <a:hlinkClick r:id="rId4"/>
              </a:rPr>
              <a:t>mean</a:t>
            </a:r>
            <a:r>
              <a:rPr lang="ru-RU" altLang="ru-RU" sz="2200" dirty="0">
                <a:solidFill>
                  <a:srgbClr val="009900"/>
                </a:solidFill>
                <a:latin typeface="Courier New" panose="02070309020205020404" pitchFamily="49" charset="0"/>
                <a:cs typeface="Courier New" panose="02070309020205020404" pitchFamily="49" charset="0"/>
              </a:rPr>
              <a:t>(</a:t>
            </a:r>
            <a:r>
              <a:rPr lang="ru-RU" altLang="ru-RU" sz="2200" dirty="0" err="1">
                <a:solidFill>
                  <a:srgbClr val="656565"/>
                </a:solidFill>
                <a:latin typeface="Courier New" panose="02070309020205020404" pitchFamily="49" charset="0"/>
                <a:cs typeface="Courier New" panose="02070309020205020404" pitchFamily="49" charset="0"/>
              </a:rPr>
              <a:t>d.intake</a:t>
            </a:r>
            <a:r>
              <a:rPr lang="ru-RU" altLang="ru-RU" sz="2200" dirty="0">
                <a:solidFill>
                  <a:srgbClr val="009900"/>
                </a:solidFill>
                <a:latin typeface="Courier New" panose="02070309020205020404" pitchFamily="49" charset="0"/>
                <a:cs typeface="Courier New" panose="02070309020205020404" pitchFamily="49" charset="0"/>
              </a:rPr>
              <a:t>)</a:t>
            </a:r>
            <a:r>
              <a:rPr lang="ru-RU" altLang="ru-RU" sz="2200" dirty="0">
                <a:solidFill>
                  <a:srgbClr val="656565"/>
                </a:solidFill>
                <a:latin typeface="Courier New" panose="02070309020205020404" pitchFamily="49" charset="0"/>
                <a:cs typeface="Courier New" panose="02070309020205020404" pitchFamily="49" charset="0"/>
              </a:rPr>
              <a:t> </a:t>
            </a:r>
            <a:r>
              <a:rPr lang="ru-RU" altLang="ru-RU" sz="2200" dirty="0">
                <a:solidFill>
                  <a:srgbClr val="009900"/>
                </a:solidFill>
                <a:latin typeface="Courier New" panose="02070309020205020404" pitchFamily="49" charset="0"/>
                <a:cs typeface="Courier New" panose="02070309020205020404" pitchFamily="49" charset="0"/>
              </a:rPr>
              <a:t>[</a:t>
            </a:r>
            <a:r>
              <a:rPr lang="ru-RU" altLang="ru-RU" sz="2200" dirty="0">
                <a:solidFill>
                  <a:srgbClr val="CC66CC"/>
                </a:solidFill>
                <a:latin typeface="Courier New" panose="02070309020205020404" pitchFamily="49" charset="0"/>
                <a:cs typeface="Courier New" panose="02070309020205020404" pitchFamily="49" charset="0"/>
              </a:rPr>
              <a:t>1</a:t>
            </a:r>
            <a:r>
              <a:rPr lang="ru-RU" altLang="ru-RU" sz="2200" dirty="0">
                <a:solidFill>
                  <a:srgbClr val="009900"/>
                </a:solidFill>
                <a:latin typeface="Courier New" panose="02070309020205020404" pitchFamily="49" charset="0"/>
                <a:cs typeface="Courier New" panose="02070309020205020404" pitchFamily="49" charset="0"/>
              </a:rPr>
              <a:t>]</a:t>
            </a:r>
            <a:r>
              <a:rPr lang="ru-RU" altLang="ru-RU" sz="2200" dirty="0">
                <a:solidFill>
                  <a:srgbClr val="656565"/>
                </a:solidFill>
                <a:latin typeface="Courier New" panose="02070309020205020404" pitchFamily="49" charset="0"/>
                <a:cs typeface="Courier New" panose="02070309020205020404" pitchFamily="49" charset="0"/>
              </a:rPr>
              <a:t> </a:t>
            </a:r>
            <a:r>
              <a:rPr lang="ru-RU" altLang="ru-RU" sz="2200" dirty="0">
                <a:solidFill>
                  <a:srgbClr val="CC66CC"/>
                </a:solidFill>
                <a:latin typeface="Courier New" panose="02070309020205020404" pitchFamily="49" charset="0"/>
                <a:cs typeface="Courier New" panose="02070309020205020404" pitchFamily="49" charset="0"/>
              </a:rPr>
              <a:t>6753.6</a:t>
            </a:r>
            <a:endParaRPr lang="ru-RU" altLang="ru-RU" sz="2200" dirty="0"/>
          </a:p>
        </p:txBody>
      </p:sp>
      <p:sp>
        <p:nvSpPr>
          <p:cNvPr id="8" name="Заголовок 1"/>
          <p:cNvSpPr txBox="1">
            <a:spLocks/>
          </p:cNvSpPr>
          <p:nvPr/>
        </p:nvSpPr>
        <p:spPr>
          <a:xfrm>
            <a:off x="2542736" y="347890"/>
            <a:ext cx="7876173" cy="754071"/>
          </a:xfrm>
          <a:prstGeom prst="rect">
            <a:avLst/>
          </a:prstGeom>
        </p:spPr>
        <p:txBody>
          <a:bodyPr wrap="square">
            <a:noAutofit/>
          </a:bodyPr>
          <a:lstStyle>
            <a:lvl1pPr algn="ctr" defTabSz="993775" rtl="0" fontAlgn="base">
              <a:spcBef>
                <a:spcPct val="0"/>
              </a:spcBef>
              <a:spcAft>
                <a:spcPct val="0"/>
              </a:spcAft>
              <a:defRPr sz="4800" kern="1200">
                <a:solidFill>
                  <a:schemeClr val="tx2"/>
                </a:solidFill>
                <a:latin typeface="+mj-lt"/>
                <a:ea typeface="+mj-ea"/>
                <a:cs typeface="+mj-cs"/>
              </a:defRPr>
            </a:lvl1pPr>
            <a:lvl2pPr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2pPr>
            <a:lvl3pPr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3pPr>
            <a:lvl4pPr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4pPr>
            <a:lvl5pPr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5pPr>
            <a:lvl6pPr marL="457200"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6pPr>
            <a:lvl7pPr marL="914400"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7pPr>
            <a:lvl8pPr marL="1371600"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8pPr>
            <a:lvl9pPr marL="1828800"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9pPr>
          </a:lstStyle>
          <a:p>
            <a:r>
              <a:rPr lang="ru-RU" sz="3600"/>
              <a:t>Задача о калориях </a:t>
            </a:r>
            <a:r>
              <a:rPr lang="ru-RU" sz="3200"/>
              <a:t>(одновыборочная)</a:t>
            </a:r>
            <a:endParaRPr lang="ru-RU" sz="3200" dirty="0"/>
          </a:p>
        </p:txBody>
      </p:sp>
      <p:sp>
        <p:nvSpPr>
          <p:cNvPr id="2" name="Номер слайда 1"/>
          <p:cNvSpPr>
            <a:spLocks noGrp="1"/>
          </p:cNvSpPr>
          <p:nvPr>
            <p:ph type="sldNum" sz="quarter" idx="12"/>
          </p:nvPr>
        </p:nvSpPr>
        <p:spPr>
          <a:xfrm>
            <a:off x="11502347" y="6496054"/>
            <a:ext cx="880449" cy="379409"/>
          </a:xfrm>
        </p:spPr>
        <p:txBody>
          <a:bodyPr/>
          <a:lstStyle/>
          <a:p>
            <a:fld id="{952B6C0E-C4B9-4094-8E59-5B7DF00D5415}" type="slidenum">
              <a:rPr lang="ru-RU" smtClean="0">
                <a:solidFill>
                  <a:schemeClr val="tx1"/>
                </a:solidFill>
              </a:rPr>
              <a:t>59</a:t>
            </a:fld>
            <a:endParaRPr lang="ru-RU" dirty="0">
              <a:solidFill>
                <a:schemeClr val="tx1"/>
              </a:solidFill>
            </a:endParaRPr>
          </a:p>
        </p:txBody>
      </p:sp>
      <p:sp>
        <p:nvSpPr>
          <p:cNvPr id="9" name="TextBox 8">
            <a:extLst>
              <a:ext uri="{FF2B5EF4-FFF2-40B4-BE49-F238E27FC236}">
                <a16:creationId xmlns:a16="http://schemas.microsoft.com/office/drawing/2014/main" id="{4B47A333-C4B2-47A8-ACFE-857641CD11D3}"/>
              </a:ext>
            </a:extLst>
          </p:cNvPr>
          <p:cNvSpPr txBox="1"/>
          <p:nvPr/>
        </p:nvSpPr>
        <p:spPr>
          <a:xfrm>
            <a:off x="1185916" y="1091411"/>
            <a:ext cx="1907849" cy="400110"/>
          </a:xfrm>
          <a:prstGeom prst="rect">
            <a:avLst/>
          </a:prstGeom>
          <a:noFill/>
        </p:spPr>
        <p:txBody>
          <a:bodyPr wrap="square">
            <a:spAutoFit/>
          </a:bodyPr>
          <a:lstStyle/>
          <a:p>
            <a:r>
              <a:rPr lang="ru-RU" altLang="ru-RU" sz="2000" b="1" i="1" dirty="0">
                <a:latin typeface="Barlow"/>
              </a:rPr>
              <a:t>Пример:</a:t>
            </a:r>
            <a:endParaRPr lang="ru-RU" b="1" i="1" dirty="0"/>
          </a:p>
        </p:txBody>
      </p:sp>
    </p:spTree>
    <p:extLst>
      <p:ext uri="{BB962C8B-B14F-4D97-AF65-F5344CB8AC3E}">
        <p14:creationId xmlns:p14="http://schemas.microsoft.com/office/powerpoint/2010/main" val="11840765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4"/>
          <p:cNvSpPr>
            <a:spLocks noChangeArrowheads="1"/>
          </p:cNvSpPr>
          <p:nvPr/>
        </p:nvSpPr>
        <p:spPr bwMode="auto">
          <a:xfrm>
            <a:off x="1438275" y="322263"/>
            <a:ext cx="11088537" cy="6553200"/>
          </a:xfrm>
          <a:prstGeom prst="roundRect">
            <a:avLst>
              <a:gd name="adj" fmla="val 16667"/>
            </a:avLst>
          </a:prstGeom>
          <a:solidFill>
            <a:schemeClr val="bg1">
              <a:alpha val="50195"/>
            </a:scheme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5" name="AutoShape 5"/>
          <p:cNvSpPr>
            <a:spLocks noChangeArrowheads="1"/>
          </p:cNvSpPr>
          <p:nvPr/>
        </p:nvSpPr>
        <p:spPr bwMode="auto">
          <a:xfrm>
            <a:off x="2373685" y="322264"/>
            <a:ext cx="8064128" cy="720601"/>
          </a:xfrm>
          <a:prstGeom prst="roundRect">
            <a:avLst>
              <a:gd name="adj" fmla="val 37469"/>
            </a:avLst>
          </a:prstGeom>
          <a:solidFill>
            <a:srgbClr val="FFFFFF">
              <a:alpha val="78822"/>
            </a:srgb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2" name="Заголовок 1"/>
          <p:cNvSpPr txBox="1">
            <a:spLocks noGrp="1"/>
          </p:cNvSpPr>
          <p:nvPr>
            <p:ph type="title" idx="4294967295"/>
          </p:nvPr>
        </p:nvSpPr>
        <p:spPr>
          <a:xfrm>
            <a:off x="2467956" y="331163"/>
            <a:ext cx="7875587" cy="754062"/>
          </a:xfrm>
          <a:prstGeom prst="rect">
            <a:avLst/>
          </a:prstGeom>
        </p:spPr>
        <p:txBody>
          <a:bodyPr wrap="square">
            <a:noAutofit/>
          </a:bodyPr>
          <a:lstStyle/>
          <a:p>
            <a:pPr lvl="0"/>
            <a:r>
              <a:rPr lang="ru-RU" sz="3600" dirty="0"/>
              <a:t>Задача о калориях </a:t>
            </a:r>
            <a:r>
              <a:rPr lang="ru-RU" sz="3200" dirty="0"/>
              <a:t>(</a:t>
            </a:r>
            <a:r>
              <a:rPr lang="ru-RU" sz="3200" dirty="0" err="1"/>
              <a:t>одновыборочная</a:t>
            </a:r>
            <a:r>
              <a:rPr lang="ru-RU" sz="3200" dirty="0"/>
              <a:t>)</a:t>
            </a:r>
          </a:p>
        </p:txBody>
      </p:sp>
      <p:sp>
        <p:nvSpPr>
          <p:cNvPr id="3" name="Rectangle 1"/>
          <p:cNvSpPr>
            <a:spLocks noChangeArrowheads="1"/>
          </p:cNvSpPr>
          <p:nvPr/>
        </p:nvSpPr>
        <p:spPr bwMode="auto">
          <a:xfrm>
            <a:off x="645493" y="1343970"/>
            <a:ext cx="11740901" cy="5170646"/>
          </a:xfrm>
          <a:prstGeom prst="rect">
            <a:avLst/>
          </a:prstGeom>
          <a:noFill/>
          <a:ln>
            <a:noFill/>
          </a:ln>
          <a:effectLst/>
        </p:spPr>
        <p:txBody>
          <a:bodyPr vert="horz" wrap="square" lIns="91440" tIns="45720" rIns="91440" bIns="45720" numCol="1" anchor="ctr"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ru-RU" altLang="ru-RU" sz="2200" dirty="0">
                <a:latin typeface="Barlow"/>
              </a:rPr>
              <a:t>Вопрос: отличается ли это выборочное среднее значение от установленной нормы в 7725 кДж/сутки? Разница между нашим выборочным значением и этим нормативом довольно прилична: 7725 - 6753.6 = 971.4. </a:t>
            </a:r>
            <a:r>
              <a:rPr lang="ru-RU" altLang="ru-RU" sz="2200" b="1" dirty="0">
                <a:latin typeface="Barlow"/>
              </a:rPr>
              <a:t>Но насколько велика эта разница статистически?</a:t>
            </a:r>
            <a:r>
              <a:rPr lang="ru-RU" altLang="ru-RU" sz="2200" dirty="0">
                <a:latin typeface="Barlow"/>
              </a:rPr>
              <a:t> </a:t>
            </a:r>
          </a:p>
          <a:p>
            <a:r>
              <a:rPr lang="ru-RU" altLang="ru-RU" sz="2200" dirty="0">
                <a:latin typeface="Barlow"/>
              </a:rPr>
              <a:t>Ответить на этот вопрос поможет </a:t>
            </a:r>
            <a:r>
              <a:rPr lang="ru-RU" altLang="ru-RU" sz="2200" dirty="0" err="1">
                <a:latin typeface="Barlow"/>
              </a:rPr>
              <a:t>одновыборочный</a:t>
            </a:r>
            <a:r>
              <a:rPr lang="ru-RU" altLang="ru-RU" sz="2200" dirty="0">
                <a:latin typeface="Barlow"/>
              </a:rPr>
              <a:t> </a:t>
            </a:r>
            <a:r>
              <a:rPr lang="ru-RU" altLang="ru-RU" sz="2200" i="1" dirty="0">
                <a:latin typeface="Barlow"/>
              </a:rPr>
              <a:t>t</a:t>
            </a:r>
            <a:r>
              <a:rPr lang="ru-RU" altLang="ru-RU" sz="2200" dirty="0">
                <a:latin typeface="Barlow"/>
              </a:rPr>
              <a:t>-тест. Как и другие варианты </a:t>
            </a:r>
            <a:r>
              <a:rPr lang="ru-RU" altLang="ru-RU" sz="2200" i="1" dirty="0">
                <a:latin typeface="Barlow"/>
              </a:rPr>
              <a:t>t</a:t>
            </a:r>
            <a:r>
              <a:rPr lang="ru-RU" altLang="ru-RU" sz="2200" dirty="0">
                <a:latin typeface="Barlow"/>
              </a:rPr>
              <a:t>-теста, </a:t>
            </a:r>
            <a:r>
              <a:rPr lang="ru-RU" altLang="ru-RU" sz="2200" dirty="0" err="1">
                <a:latin typeface="Barlow"/>
              </a:rPr>
              <a:t>одновыборочный</a:t>
            </a:r>
            <a:r>
              <a:rPr lang="ru-RU" altLang="ru-RU" sz="2200" dirty="0">
                <a:latin typeface="Barlow"/>
              </a:rPr>
              <a:t> тест Стьюдента выполняется в R при помощи функции </a:t>
            </a:r>
            <a:r>
              <a:rPr lang="ru-RU" altLang="ru-RU" sz="2200" dirty="0" err="1">
                <a:latin typeface="Courier New" panose="02070309020205020404" pitchFamily="49" charset="0"/>
                <a:cs typeface="Courier New" panose="02070309020205020404" pitchFamily="49" charset="0"/>
              </a:rPr>
              <a:t>t.test</a:t>
            </a:r>
            <a:r>
              <a:rPr lang="ru-RU" altLang="ru-RU" sz="2200" dirty="0">
                <a:latin typeface="Courier New" panose="02070309020205020404" pitchFamily="49" charset="0"/>
                <a:cs typeface="Courier New" panose="02070309020205020404" pitchFamily="49" charset="0"/>
              </a:rPr>
              <a:t>()</a:t>
            </a:r>
            <a:r>
              <a:rPr lang="ru-RU" altLang="ru-RU" sz="2200" dirty="0">
                <a:latin typeface="Barlow"/>
              </a:rPr>
              <a:t>:</a:t>
            </a:r>
            <a:endParaRPr lang="ru-RU" altLang="ru-RU" sz="2200" dirty="0"/>
          </a:p>
          <a:p>
            <a:br>
              <a:rPr lang="ru-RU" altLang="ru-RU" dirty="0"/>
            </a:br>
            <a:r>
              <a:rPr lang="ru-RU" altLang="ru-RU" b="1" dirty="0">
                <a:solidFill>
                  <a:srgbClr val="003399"/>
                </a:solidFill>
                <a:latin typeface="Courier New" panose="02070309020205020404" pitchFamily="49" charset="0"/>
                <a:cs typeface="Courier New" panose="02070309020205020404" pitchFamily="49" charset="0"/>
              </a:rPr>
              <a:t>t.test</a:t>
            </a:r>
            <a:r>
              <a:rPr lang="ru-RU" altLang="ru-RU" b="1" dirty="0">
                <a:solidFill>
                  <a:srgbClr val="009900"/>
                </a:solidFill>
                <a:latin typeface="Courier New" panose="02070309020205020404" pitchFamily="49" charset="0"/>
                <a:cs typeface="Courier New" panose="02070309020205020404" pitchFamily="49" charset="0"/>
              </a:rPr>
              <a:t>(</a:t>
            </a:r>
            <a:r>
              <a:rPr lang="ru-RU" altLang="ru-RU" b="1" dirty="0" err="1">
                <a:solidFill>
                  <a:srgbClr val="656565"/>
                </a:solidFill>
                <a:latin typeface="Courier New" panose="02070309020205020404" pitchFamily="49" charset="0"/>
                <a:cs typeface="Courier New" panose="02070309020205020404" pitchFamily="49" charset="0"/>
              </a:rPr>
              <a:t>d.intake</a:t>
            </a:r>
            <a:r>
              <a:rPr lang="ru-RU" altLang="ru-RU" b="1" dirty="0">
                <a:solidFill>
                  <a:srgbClr val="339933"/>
                </a:solidFill>
                <a:latin typeface="Courier New" panose="02070309020205020404" pitchFamily="49" charset="0"/>
                <a:cs typeface="Courier New" panose="02070309020205020404" pitchFamily="49" charset="0"/>
              </a:rPr>
              <a:t>,</a:t>
            </a:r>
            <a:r>
              <a:rPr lang="ru-RU" altLang="ru-RU" b="1" dirty="0">
                <a:solidFill>
                  <a:srgbClr val="656565"/>
                </a:solidFill>
                <a:latin typeface="Courier New" panose="02070309020205020404" pitchFamily="49" charset="0"/>
                <a:cs typeface="Courier New" panose="02070309020205020404" pitchFamily="49" charset="0"/>
              </a:rPr>
              <a:t> </a:t>
            </a:r>
            <a:r>
              <a:rPr lang="ru-RU" altLang="ru-RU" b="1" dirty="0" err="1">
                <a:solidFill>
                  <a:srgbClr val="656565"/>
                </a:solidFill>
                <a:latin typeface="Courier New" panose="02070309020205020404" pitchFamily="49" charset="0"/>
                <a:cs typeface="Courier New" panose="02070309020205020404" pitchFamily="49" charset="0"/>
              </a:rPr>
              <a:t>mu</a:t>
            </a:r>
            <a:r>
              <a:rPr lang="ru-RU" altLang="ru-RU" b="1" dirty="0">
                <a:solidFill>
                  <a:srgbClr val="656565"/>
                </a:solidFill>
                <a:latin typeface="Courier New" panose="02070309020205020404" pitchFamily="49" charset="0"/>
                <a:cs typeface="Courier New" panose="02070309020205020404" pitchFamily="49" charset="0"/>
              </a:rPr>
              <a:t> = </a:t>
            </a:r>
            <a:r>
              <a:rPr lang="ru-RU" altLang="ru-RU" b="1" dirty="0">
                <a:solidFill>
                  <a:srgbClr val="CC66CC"/>
                </a:solidFill>
                <a:latin typeface="Courier New" panose="02070309020205020404" pitchFamily="49" charset="0"/>
                <a:cs typeface="Courier New" panose="02070309020205020404" pitchFamily="49" charset="0"/>
              </a:rPr>
              <a:t>7725</a:t>
            </a:r>
            <a:r>
              <a:rPr lang="ru-RU" altLang="ru-RU" b="1" dirty="0">
                <a:solidFill>
                  <a:srgbClr val="009900"/>
                </a:solidFill>
                <a:latin typeface="Courier New" panose="02070309020205020404" pitchFamily="49" charset="0"/>
                <a:cs typeface="Courier New" panose="02070309020205020404" pitchFamily="49" charset="0"/>
              </a:rPr>
              <a:t>)</a:t>
            </a:r>
            <a:r>
              <a:rPr lang="ru-RU" altLang="ru-RU" b="1" dirty="0">
                <a:solidFill>
                  <a:srgbClr val="656565"/>
                </a:solidFill>
                <a:latin typeface="Courier New" panose="02070309020205020404" pitchFamily="49" charset="0"/>
                <a:cs typeface="Courier New" panose="02070309020205020404" pitchFamily="49" charset="0"/>
              </a:rPr>
              <a:t> </a:t>
            </a:r>
            <a:endParaRPr lang="en-US" altLang="ru-RU" b="1" dirty="0">
              <a:solidFill>
                <a:srgbClr val="656565"/>
              </a:solidFill>
              <a:latin typeface="Courier New" panose="02070309020205020404" pitchFamily="49" charset="0"/>
              <a:cs typeface="Courier New" panose="02070309020205020404" pitchFamily="49" charset="0"/>
            </a:endParaRPr>
          </a:p>
          <a:p>
            <a:r>
              <a:rPr lang="ru-RU" altLang="ru-RU" b="1" dirty="0">
                <a:solidFill>
                  <a:srgbClr val="656565"/>
                </a:solidFill>
                <a:latin typeface="Courier New" panose="02070309020205020404" pitchFamily="49" charset="0"/>
                <a:cs typeface="Courier New" panose="02070309020205020404" pitchFamily="49" charset="0"/>
              </a:rPr>
              <a:t>  </a:t>
            </a:r>
            <a:endParaRPr lang="en-US" altLang="ru-RU" b="1" dirty="0">
              <a:solidFill>
                <a:srgbClr val="656565"/>
              </a:solidFill>
              <a:latin typeface="Courier New" panose="02070309020205020404" pitchFamily="49" charset="0"/>
              <a:cs typeface="Courier New" panose="02070309020205020404" pitchFamily="49" charset="0"/>
            </a:endParaRPr>
          </a:p>
          <a:p>
            <a:r>
              <a:rPr lang="ru-RU" altLang="ru-RU" b="1" dirty="0">
                <a:solidFill>
                  <a:srgbClr val="656565"/>
                </a:solidFill>
                <a:latin typeface="Courier New" panose="02070309020205020404" pitchFamily="49" charset="0"/>
                <a:cs typeface="Courier New" panose="02070309020205020404" pitchFamily="49" charset="0"/>
              </a:rPr>
              <a:t>One </a:t>
            </a:r>
            <a:r>
              <a:rPr lang="ru-RU" altLang="ru-RU" b="1" dirty="0" err="1">
                <a:solidFill>
                  <a:srgbClr val="656565"/>
                </a:solidFill>
                <a:latin typeface="Courier New" panose="02070309020205020404" pitchFamily="49" charset="0"/>
                <a:cs typeface="Courier New" panose="02070309020205020404" pitchFamily="49" charset="0"/>
              </a:rPr>
              <a:t>Sample</a:t>
            </a:r>
            <a:r>
              <a:rPr lang="ru-RU" altLang="ru-RU" b="1" dirty="0">
                <a:solidFill>
                  <a:srgbClr val="656565"/>
                </a:solidFill>
                <a:latin typeface="Courier New" panose="02070309020205020404" pitchFamily="49" charset="0"/>
                <a:cs typeface="Courier New" panose="02070309020205020404" pitchFamily="49" charset="0"/>
              </a:rPr>
              <a:t> t-</a:t>
            </a:r>
            <a:r>
              <a:rPr lang="ru-RU" altLang="ru-RU" b="1" dirty="0" err="1">
                <a:solidFill>
                  <a:srgbClr val="656565"/>
                </a:solidFill>
                <a:latin typeface="Courier New" panose="02070309020205020404" pitchFamily="49" charset="0"/>
                <a:cs typeface="Courier New" panose="02070309020205020404" pitchFamily="49" charset="0"/>
              </a:rPr>
              <a:t>test</a:t>
            </a:r>
            <a:r>
              <a:rPr lang="ru-RU" altLang="ru-RU" b="1" dirty="0">
                <a:solidFill>
                  <a:srgbClr val="656565"/>
                </a:solidFill>
                <a:latin typeface="Courier New" panose="02070309020205020404" pitchFamily="49" charset="0"/>
                <a:cs typeface="Courier New" panose="02070309020205020404" pitchFamily="49" charset="0"/>
              </a:rPr>
              <a:t>   </a:t>
            </a:r>
            <a:endParaRPr lang="en-US" altLang="ru-RU" b="1" dirty="0">
              <a:solidFill>
                <a:srgbClr val="656565"/>
              </a:solidFill>
              <a:latin typeface="Courier New" panose="02070309020205020404" pitchFamily="49" charset="0"/>
              <a:cs typeface="Courier New" panose="02070309020205020404" pitchFamily="49" charset="0"/>
            </a:endParaRPr>
          </a:p>
          <a:p>
            <a:r>
              <a:rPr lang="ru-RU" altLang="ru-RU" b="1" dirty="0">
                <a:solidFill>
                  <a:srgbClr val="003399"/>
                </a:solidFill>
                <a:latin typeface="Courier New" panose="02070309020205020404" pitchFamily="49" charset="0"/>
                <a:cs typeface="Courier New" panose="02070309020205020404" pitchFamily="49" charset="0"/>
              </a:rPr>
              <a:t>data</a:t>
            </a:r>
            <a:r>
              <a:rPr lang="ru-RU" altLang="ru-RU" b="1" dirty="0">
                <a:solidFill>
                  <a:srgbClr val="656565"/>
                </a:solidFill>
                <a:latin typeface="Courier New" panose="02070309020205020404" pitchFamily="49" charset="0"/>
                <a:cs typeface="Courier New" panose="02070309020205020404" pitchFamily="49" charset="0"/>
              </a:rPr>
              <a:t>: </a:t>
            </a:r>
            <a:r>
              <a:rPr lang="ru-RU" altLang="ru-RU" b="1" dirty="0" err="1">
                <a:solidFill>
                  <a:srgbClr val="656565"/>
                </a:solidFill>
                <a:latin typeface="Courier New" panose="02070309020205020404" pitchFamily="49" charset="0"/>
                <a:cs typeface="Courier New" panose="02070309020205020404" pitchFamily="49" charset="0"/>
              </a:rPr>
              <a:t>d.intake</a:t>
            </a:r>
            <a:r>
              <a:rPr lang="ru-RU" altLang="ru-RU" b="1" dirty="0">
                <a:solidFill>
                  <a:srgbClr val="656565"/>
                </a:solidFill>
                <a:latin typeface="Courier New" panose="02070309020205020404" pitchFamily="49" charset="0"/>
                <a:cs typeface="Courier New" panose="02070309020205020404" pitchFamily="49" charset="0"/>
              </a:rPr>
              <a:t> </a:t>
            </a:r>
            <a:endParaRPr lang="en-US" altLang="ru-RU" b="1" dirty="0">
              <a:solidFill>
                <a:srgbClr val="656565"/>
              </a:solidFill>
              <a:latin typeface="Courier New" panose="02070309020205020404" pitchFamily="49" charset="0"/>
              <a:cs typeface="Courier New" panose="02070309020205020404" pitchFamily="49" charset="0"/>
            </a:endParaRPr>
          </a:p>
          <a:p>
            <a:r>
              <a:rPr lang="ru-RU" altLang="ru-RU" b="1" dirty="0">
                <a:solidFill>
                  <a:srgbClr val="003399"/>
                </a:solidFill>
                <a:latin typeface="Courier New" panose="02070309020205020404" pitchFamily="49" charset="0"/>
                <a:cs typeface="Courier New" panose="02070309020205020404" pitchFamily="49" charset="0"/>
              </a:rPr>
              <a:t>t</a:t>
            </a:r>
            <a:r>
              <a:rPr lang="ru-RU" altLang="ru-RU" b="1" dirty="0">
                <a:solidFill>
                  <a:srgbClr val="656565"/>
                </a:solidFill>
                <a:latin typeface="Courier New" panose="02070309020205020404" pitchFamily="49" charset="0"/>
                <a:cs typeface="Courier New" panose="02070309020205020404" pitchFamily="49" charset="0"/>
              </a:rPr>
              <a:t> = -</a:t>
            </a:r>
            <a:r>
              <a:rPr lang="ru-RU" altLang="ru-RU" b="1" dirty="0">
                <a:solidFill>
                  <a:srgbClr val="CC66CC"/>
                </a:solidFill>
                <a:latin typeface="Courier New" panose="02070309020205020404" pitchFamily="49" charset="0"/>
                <a:cs typeface="Courier New" panose="02070309020205020404" pitchFamily="49" charset="0"/>
              </a:rPr>
              <a:t>2.8208</a:t>
            </a:r>
            <a:r>
              <a:rPr lang="ru-RU" altLang="ru-RU" b="1" dirty="0">
                <a:solidFill>
                  <a:srgbClr val="339933"/>
                </a:solidFill>
                <a:latin typeface="Courier New" panose="02070309020205020404" pitchFamily="49" charset="0"/>
                <a:cs typeface="Courier New" panose="02070309020205020404" pitchFamily="49" charset="0"/>
              </a:rPr>
              <a:t>,</a:t>
            </a:r>
            <a:r>
              <a:rPr lang="ru-RU" altLang="ru-RU" b="1" dirty="0">
                <a:solidFill>
                  <a:srgbClr val="656565"/>
                </a:solidFill>
                <a:latin typeface="Courier New" panose="02070309020205020404" pitchFamily="49" charset="0"/>
                <a:cs typeface="Courier New" panose="02070309020205020404" pitchFamily="49" charset="0"/>
              </a:rPr>
              <a:t> </a:t>
            </a:r>
            <a:r>
              <a:rPr lang="ru-RU" altLang="ru-RU" b="1" dirty="0" err="1">
                <a:solidFill>
                  <a:srgbClr val="003399"/>
                </a:solidFill>
                <a:latin typeface="Courier New" panose="02070309020205020404" pitchFamily="49" charset="0"/>
                <a:cs typeface="Courier New" panose="02070309020205020404" pitchFamily="49" charset="0"/>
                <a:hlinkClick r:id="rId3"/>
              </a:rPr>
              <a:t>df</a:t>
            </a:r>
            <a:r>
              <a:rPr lang="ru-RU" altLang="ru-RU" b="1" dirty="0">
                <a:solidFill>
                  <a:srgbClr val="656565"/>
                </a:solidFill>
                <a:latin typeface="Courier New" panose="02070309020205020404" pitchFamily="49" charset="0"/>
                <a:cs typeface="Courier New" panose="02070309020205020404" pitchFamily="49" charset="0"/>
              </a:rPr>
              <a:t> = </a:t>
            </a:r>
            <a:r>
              <a:rPr lang="ru-RU" altLang="ru-RU" b="1" dirty="0">
                <a:solidFill>
                  <a:srgbClr val="CC66CC"/>
                </a:solidFill>
                <a:latin typeface="Courier New" panose="02070309020205020404" pitchFamily="49" charset="0"/>
                <a:cs typeface="Courier New" panose="02070309020205020404" pitchFamily="49" charset="0"/>
              </a:rPr>
              <a:t>10</a:t>
            </a:r>
            <a:r>
              <a:rPr lang="ru-RU" altLang="ru-RU" b="1" dirty="0">
                <a:solidFill>
                  <a:srgbClr val="339933"/>
                </a:solidFill>
                <a:latin typeface="Courier New" panose="02070309020205020404" pitchFamily="49" charset="0"/>
                <a:cs typeface="Courier New" panose="02070309020205020404" pitchFamily="49" charset="0"/>
              </a:rPr>
              <a:t>,</a:t>
            </a:r>
            <a:r>
              <a:rPr lang="ru-RU" altLang="ru-RU" b="1" dirty="0">
                <a:solidFill>
                  <a:srgbClr val="656565"/>
                </a:solidFill>
                <a:latin typeface="Courier New" panose="02070309020205020404" pitchFamily="49" charset="0"/>
                <a:cs typeface="Courier New" panose="02070309020205020404" pitchFamily="49" charset="0"/>
              </a:rPr>
              <a:t> p-</a:t>
            </a:r>
            <a:r>
              <a:rPr lang="ru-RU" altLang="ru-RU" b="1" dirty="0" err="1">
                <a:solidFill>
                  <a:srgbClr val="656565"/>
                </a:solidFill>
                <a:latin typeface="Courier New" panose="02070309020205020404" pitchFamily="49" charset="0"/>
                <a:cs typeface="Courier New" panose="02070309020205020404" pitchFamily="49" charset="0"/>
              </a:rPr>
              <a:t>value</a:t>
            </a:r>
            <a:r>
              <a:rPr lang="ru-RU" altLang="ru-RU" b="1" dirty="0">
                <a:solidFill>
                  <a:srgbClr val="656565"/>
                </a:solidFill>
                <a:latin typeface="Courier New" panose="02070309020205020404" pitchFamily="49" charset="0"/>
                <a:cs typeface="Courier New" panose="02070309020205020404" pitchFamily="49" charset="0"/>
              </a:rPr>
              <a:t> = </a:t>
            </a:r>
            <a:r>
              <a:rPr lang="ru-RU" altLang="ru-RU" b="1" dirty="0">
                <a:solidFill>
                  <a:srgbClr val="CC66CC"/>
                </a:solidFill>
                <a:latin typeface="Courier New" panose="02070309020205020404" pitchFamily="49" charset="0"/>
                <a:cs typeface="Courier New" panose="02070309020205020404" pitchFamily="49" charset="0"/>
              </a:rPr>
              <a:t>0.01814</a:t>
            </a:r>
            <a:r>
              <a:rPr lang="ru-RU" altLang="ru-RU" b="1" dirty="0">
                <a:solidFill>
                  <a:srgbClr val="656565"/>
                </a:solidFill>
                <a:latin typeface="Courier New" panose="02070309020205020404" pitchFamily="49" charset="0"/>
                <a:cs typeface="Courier New" panose="02070309020205020404" pitchFamily="49" charset="0"/>
              </a:rPr>
              <a:t> </a:t>
            </a:r>
            <a:endParaRPr lang="en-US" altLang="ru-RU" b="1" dirty="0">
              <a:solidFill>
                <a:srgbClr val="656565"/>
              </a:solidFill>
              <a:latin typeface="Courier New" panose="02070309020205020404" pitchFamily="49" charset="0"/>
              <a:cs typeface="Courier New" panose="02070309020205020404" pitchFamily="49" charset="0"/>
            </a:endParaRPr>
          </a:p>
          <a:p>
            <a:r>
              <a:rPr lang="ru-RU" altLang="ru-RU" b="1" dirty="0" err="1">
                <a:solidFill>
                  <a:srgbClr val="656565"/>
                </a:solidFill>
                <a:latin typeface="Courier New" panose="02070309020205020404" pitchFamily="49" charset="0"/>
                <a:cs typeface="Courier New" panose="02070309020205020404" pitchFamily="49" charset="0"/>
              </a:rPr>
              <a:t>alternative</a:t>
            </a:r>
            <a:r>
              <a:rPr lang="ru-RU" altLang="ru-RU" b="1" dirty="0">
                <a:solidFill>
                  <a:srgbClr val="656565"/>
                </a:solidFill>
                <a:latin typeface="Courier New" panose="02070309020205020404" pitchFamily="49" charset="0"/>
                <a:cs typeface="Courier New" panose="02070309020205020404" pitchFamily="49" charset="0"/>
              </a:rPr>
              <a:t> </a:t>
            </a:r>
            <a:r>
              <a:rPr lang="ru-RU" altLang="ru-RU" b="1" dirty="0" err="1">
                <a:solidFill>
                  <a:srgbClr val="656565"/>
                </a:solidFill>
                <a:latin typeface="Courier New" panose="02070309020205020404" pitchFamily="49" charset="0"/>
                <a:cs typeface="Courier New" panose="02070309020205020404" pitchFamily="49" charset="0"/>
              </a:rPr>
              <a:t>hypothesis</a:t>
            </a:r>
            <a:r>
              <a:rPr lang="ru-RU" altLang="ru-RU" b="1" dirty="0">
                <a:solidFill>
                  <a:srgbClr val="656565"/>
                </a:solidFill>
                <a:latin typeface="Courier New" panose="02070309020205020404" pitchFamily="49" charset="0"/>
                <a:cs typeface="Courier New" panose="02070309020205020404" pitchFamily="49" charset="0"/>
              </a:rPr>
              <a:t>: </a:t>
            </a:r>
            <a:r>
              <a:rPr lang="ru-RU" altLang="ru-RU" b="1" dirty="0" err="1">
                <a:solidFill>
                  <a:srgbClr val="656565"/>
                </a:solidFill>
                <a:latin typeface="Courier New" panose="02070309020205020404" pitchFamily="49" charset="0"/>
                <a:cs typeface="Courier New" panose="02070309020205020404" pitchFamily="49" charset="0"/>
              </a:rPr>
              <a:t>true</a:t>
            </a:r>
            <a:r>
              <a:rPr lang="ru-RU" altLang="ru-RU" b="1" dirty="0">
                <a:solidFill>
                  <a:srgbClr val="656565"/>
                </a:solidFill>
                <a:latin typeface="Courier New" panose="02070309020205020404" pitchFamily="49" charset="0"/>
                <a:cs typeface="Courier New" panose="02070309020205020404" pitchFamily="49" charset="0"/>
              </a:rPr>
              <a:t> </a:t>
            </a:r>
            <a:r>
              <a:rPr lang="ru-RU" altLang="ru-RU" b="1" dirty="0" err="1">
                <a:solidFill>
                  <a:srgbClr val="003399"/>
                </a:solidFill>
                <a:latin typeface="Courier New" panose="02070309020205020404" pitchFamily="49" charset="0"/>
                <a:cs typeface="Courier New" panose="02070309020205020404" pitchFamily="49" charset="0"/>
              </a:rPr>
              <a:t>mean</a:t>
            </a:r>
            <a:r>
              <a:rPr lang="ru-RU" altLang="ru-RU" b="1" dirty="0">
                <a:solidFill>
                  <a:srgbClr val="000000"/>
                </a:solidFill>
                <a:latin typeface="Courier New" panose="02070309020205020404" pitchFamily="49" charset="0"/>
                <a:cs typeface="Courier New" panose="02070309020205020404" pitchFamily="49" charset="0"/>
              </a:rPr>
              <a:t> </a:t>
            </a:r>
            <a:r>
              <a:rPr lang="ru-RU" altLang="ru-RU" b="1" dirty="0" err="1">
                <a:solidFill>
                  <a:srgbClr val="003399"/>
                </a:solidFill>
                <a:latin typeface="Courier New" panose="02070309020205020404" pitchFamily="49" charset="0"/>
                <a:cs typeface="Courier New" panose="02070309020205020404" pitchFamily="49" charset="0"/>
              </a:rPr>
              <a:t>is</a:t>
            </a:r>
            <a:r>
              <a:rPr lang="ru-RU" altLang="ru-RU" b="1" dirty="0">
                <a:solidFill>
                  <a:srgbClr val="656565"/>
                </a:solidFill>
                <a:latin typeface="Courier New" panose="02070309020205020404" pitchFamily="49" charset="0"/>
                <a:cs typeface="Courier New" panose="02070309020205020404" pitchFamily="49" charset="0"/>
              </a:rPr>
              <a:t> </a:t>
            </a:r>
            <a:r>
              <a:rPr lang="ru-RU" altLang="ru-RU" b="1" dirty="0" err="1">
                <a:solidFill>
                  <a:srgbClr val="656565"/>
                </a:solidFill>
                <a:latin typeface="Courier New" panose="02070309020205020404" pitchFamily="49" charset="0"/>
                <a:cs typeface="Courier New" panose="02070309020205020404" pitchFamily="49" charset="0"/>
              </a:rPr>
              <a:t>not</a:t>
            </a:r>
            <a:r>
              <a:rPr lang="ru-RU" altLang="ru-RU" b="1" dirty="0">
                <a:solidFill>
                  <a:srgbClr val="656565"/>
                </a:solidFill>
                <a:latin typeface="Courier New" panose="02070309020205020404" pitchFamily="49" charset="0"/>
                <a:cs typeface="Courier New" panose="02070309020205020404" pitchFamily="49" charset="0"/>
              </a:rPr>
              <a:t> </a:t>
            </a:r>
            <a:r>
              <a:rPr lang="ru-RU" altLang="ru-RU" b="1" dirty="0" err="1">
                <a:solidFill>
                  <a:srgbClr val="656565"/>
                </a:solidFill>
                <a:latin typeface="Courier New" panose="02070309020205020404" pitchFamily="49" charset="0"/>
                <a:cs typeface="Courier New" panose="02070309020205020404" pitchFamily="49" charset="0"/>
              </a:rPr>
              <a:t>equal</a:t>
            </a:r>
            <a:r>
              <a:rPr lang="ru-RU" altLang="ru-RU" b="1" dirty="0">
                <a:solidFill>
                  <a:srgbClr val="656565"/>
                </a:solidFill>
                <a:latin typeface="Courier New" panose="02070309020205020404" pitchFamily="49" charset="0"/>
                <a:cs typeface="Courier New" panose="02070309020205020404" pitchFamily="49" charset="0"/>
              </a:rPr>
              <a:t> </a:t>
            </a:r>
            <a:r>
              <a:rPr lang="ru-RU" altLang="ru-RU" b="1" dirty="0" err="1">
                <a:solidFill>
                  <a:srgbClr val="656565"/>
                </a:solidFill>
                <a:latin typeface="Courier New" panose="02070309020205020404" pitchFamily="49" charset="0"/>
                <a:cs typeface="Courier New" panose="02070309020205020404" pitchFamily="49" charset="0"/>
              </a:rPr>
              <a:t>to</a:t>
            </a:r>
            <a:r>
              <a:rPr lang="ru-RU" altLang="ru-RU" b="1" dirty="0">
                <a:solidFill>
                  <a:srgbClr val="656565"/>
                </a:solidFill>
                <a:latin typeface="Courier New" panose="02070309020205020404" pitchFamily="49" charset="0"/>
                <a:cs typeface="Courier New" panose="02070309020205020404" pitchFamily="49" charset="0"/>
              </a:rPr>
              <a:t> </a:t>
            </a:r>
            <a:r>
              <a:rPr lang="ru-RU" altLang="ru-RU" b="1" dirty="0">
                <a:solidFill>
                  <a:srgbClr val="CC66CC"/>
                </a:solidFill>
                <a:latin typeface="Courier New" panose="02070309020205020404" pitchFamily="49" charset="0"/>
                <a:cs typeface="Courier New" panose="02070309020205020404" pitchFamily="49" charset="0"/>
              </a:rPr>
              <a:t>7725</a:t>
            </a:r>
            <a:r>
              <a:rPr lang="ru-RU" altLang="ru-RU" b="1" dirty="0">
                <a:solidFill>
                  <a:srgbClr val="656565"/>
                </a:solidFill>
                <a:latin typeface="Courier New" panose="02070309020205020404" pitchFamily="49" charset="0"/>
                <a:cs typeface="Courier New" panose="02070309020205020404" pitchFamily="49" charset="0"/>
              </a:rPr>
              <a:t> </a:t>
            </a:r>
            <a:endParaRPr lang="en-US" altLang="ru-RU" b="1" dirty="0">
              <a:solidFill>
                <a:srgbClr val="656565"/>
              </a:solidFill>
              <a:latin typeface="Courier New" panose="02070309020205020404" pitchFamily="49" charset="0"/>
              <a:cs typeface="Courier New" panose="02070309020205020404" pitchFamily="49" charset="0"/>
            </a:endParaRPr>
          </a:p>
          <a:p>
            <a:r>
              <a:rPr lang="ru-RU" altLang="ru-RU" b="1" dirty="0">
                <a:solidFill>
                  <a:srgbClr val="CC66CC"/>
                </a:solidFill>
                <a:latin typeface="Courier New" panose="02070309020205020404" pitchFamily="49" charset="0"/>
                <a:cs typeface="Courier New" panose="02070309020205020404" pitchFamily="49" charset="0"/>
              </a:rPr>
              <a:t>95</a:t>
            </a:r>
            <a:r>
              <a:rPr lang="ru-RU" altLang="ru-RU" b="1" dirty="0">
                <a:solidFill>
                  <a:srgbClr val="656565"/>
                </a:solidFill>
                <a:latin typeface="Courier New" panose="02070309020205020404" pitchFamily="49" charset="0"/>
                <a:cs typeface="Courier New" panose="02070309020205020404" pitchFamily="49" charset="0"/>
              </a:rPr>
              <a:t> </a:t>
            </a:r>
            <a:r>
              <a:rPr lang="ru-RU" altLang="ru-RU" b="1" dirty="0" err="1">
                <a:solidFill>
                  <a:srgbClr val="656565"/>
                </a:solidFill>
                <a:latin typeface="Courier New" panose="02070309020205020404" pitchFamily="49" charset="0"/>
                <a:cs typeface="Courier New" panose="02070309020205020404" pitchFamily="49" charset="0"/>
              </a:rPr>
              <a:t>percent</a:t>
            </a:r>
            <a:r>
              <a:rPr lang="ru-RU" altLang="ru-RU" b="1" dirty="0">
                <a:solidFill>
                  <a:srgbClr val="656565"/>
                </a:solidFill>
                <a:latin typeface="Courier New" panose="02070309020205020404" pitchFamily="49" charset="0"/>
                <a:cs typeface="Courier New" panose="02070309020205020404" pitchFamily="49" charset="0"/>
              </a:rPr>
              <a:t> </a:t>
            </a:r>
            <a:r>
              <a:rPr lang="ru-RU" altLang="ru-RU" b="1" dirty="0" err="1">
                <a:solidFill>
                  <a:srgbClr val="656565"/>
                </a:solidFill>
                <a:latin typeface="Courier New" panose="02070309020205020404" pitchFamily="49" charset="0"/>
                <a:cs typeface="Courier New" panose="02070309020205020404" pitchFamily="49" charset="0"/>
              </a:rPr>
              <a:t>confidence</a:t>
            </a:r>
            <a:r>
              <a:rPr lang="ru-RU" altLang="ru-RU" b="1" dirty="0">
                <a:solidFill>
                  <a:srgbClr val="656565"/>
                </a:solidFill>
                <a:latin typeface="Courier New" panose="02070309020205020404" pitchFamily="49" charset="0"/>
                <a:cs typeface="Courier New" panose="02070309020205020404" pitchFamily="49" charset="0"/>
              </a:rPr>
              <a:t> </a:t>
            </a:r>
            <a:r>
              <a:rPr lang="ru-RU" altLang="ru-RU" b="1" dirty="0" err="1">
                <a:solidFill>
                  <a:srgbClr val="656565"/>
                </a:solidFill>
                <a:latin typeface="Courier New" panose="02070309020205020404" pitchFamily="49" charset="0"/>
                <a:cs typeface="Courier New" panose="02070309020205020404" pitchFamily="49" charset="0"/>
              </a:rPr>
              <a:t>interval</a:t>
            </a:r>
            <a:r>
              <a:rPr lang="ru-RU" altLang="ru-RU" b="1" dirty="0">
                <a:solidFill>
                  <a:srgbClr val="656565"/>
                </a:solidFill>
                <a:latin typeface="Courier New" panose="02070309020205020404" pitchFamily="49" charset="0"/>
                <a:cs typeface="Courier New" panose="02070309020205020404" pitchFamily="49" charset="0"/>
              </a:rPr>
              <a:t>: </a:t>
            </a:r>
            <a:endParaRPr lang="en-US" altLang="ru-RU" b="1" dirty="0">
              <a:solidFill>
                <a:srgbClr val="656565"/>
              </a:solidFill>
              <a:latin typeface="Courier New" panose="02070309020205020404" pitchFamily="49" charset="0"/>
              <a:cs typeface="Courier New" panose="02070309020205020404" pitchFamily="49" charset="0"/>
            </a:endParaRPr>
          </a:p>
          <a:p>
            <a:r>
              <a:rPr lang="ru-RU" altLang="ru-RU" b="1" dirty="0">
                <a:solidFill>
                  <a:srgbClr val="CC66CC"/>
                </a:solidFill>
                <a:latin typeface="Courier New" panose="02070309020205020404" pitchFamily="49" charset="0"/>
                <a:cs typeface="Courier New" panose="02070309020205020404" pitchFamily="49" charset="0"/>
              </a:rPr>
              <a:t>5986.348</a:t>
            </a:r>
            <a:r>
              <a:rPr lang="ru-RU" altLang="ru-RU" b="1" dirty="0">
                <a:solidFill>
                  <a:srgbClr val="656565"/>
                </a:solidFill>
                <a:latin typeface="Courier New" panose="02070309020205020404" pitchFamily="49" charset="0"/>
                <a:cs typeface="Courier New" panose="02070309020205020404" pitchFamily="49" charset="0"/>
              </a:rPr>
              <a:t> </a:t>
            </a:r>
            <a:r>
              <a:rPr lang="ru-RU" altLang="ru-RU" b="1" dirty="0">
                <a:solidFill>
                  <a:srgbClr val="CC66CC"/>
                </a:solidFill>
                <a:latin typeface="Courier New" panose="02070309020205020404" pitchFamily="49" charset="0"/>
                <a:cs typeface="Courier New" panose="02070309020205020404" pitchFamily="49" charset="0"/>
              </a:rPr>
              <a:t>7520.925</a:t>
            </a:r>
            <a:r>
              <a:rPr lang="ru-RU" altLang="ru-RU" b="1" dirty="0">
                <a:solidFill>
                  <a:srgbClr val="656565"/>
                </a:solidFill>
                <a:latin typeface="Courier New" panose="02070309020205020404" pitchFamily="49" charset="0"/>
                <a:cs typeface="Courier New" panose="02070309020205020404" pitchFamily="49" charset="0"/>
              </a:rPr>
              <a:t> </a:t>
            </a:r>
            <a:endParaRPr lang="en-US" altLang="ru-RU" b="1" dirty="0">
              <a:solidFill>
                <a:srgbClr val="656565"/>
              </a:solidFill>
              <a:latin typeface="Courier New" panose="02070309020205020404" pitchFamily="49" charset="0"/>
              <a:cs typeface="Courier New" panose="02070309020205020404" pitchFamily="49" charset="0"/>
            </a:endParaRPr>
          </a:p>
          <a:p>
            <a:r>
              <a:rPr lang="ru-RU" altLang="ru-RU" b="1" dirty="0" err="1">
                <a:solidFill>
                  <a:srgbClr val="003399"/>
                </a:solidFill>
                <a:latin typeface="Courier New" panose="02070309020205020404" pitchFamily="49" charset="0"/>
                <a:cs typeface="Courier New" panose="02070309020205020404" pitchFamily="49" charset="0"/>
              </a:rPr>
              <a:t>sample</a:t>
            </a:r>
            <a:r>
              <a:rPr lang="ru-RU" altLang="ru-RU" b="1" dirty="0">
                <a:solidFill>
                  <a:srgbClr val="656565"/>
                </a:solidFill>
                <a:latin typeface="Courier New" panose="02070309020205020404" pitchFamily="49" charset="0"/>
                <a:cs typeface="Courier New" panose="02070309020205020404" pitchFamily="49" charset="0"/>
              </a:rPr>
              <a:t> </a:t>
            </a:r>
            <a:r>
              <a:rPr lang="ru-RU" altLang="ru-RU" b="1" dirty="0" err="1">
                <a:solidFill>
                  <a:srgbClr val="656565"/>
                </a:solidFill>
                <a:latin typeface="Courier New" panose="02070309020205020404" pitchFamily="49" charset="0"/>
                <a:cs typeface="Courier New" panose="02070309020205020404" pitchFamily="49" charset="0"/>
              </a:rPr>
              <a:t>estimates</a:t>
            </a:r>
            <a:r>
              <a:rPr lang="ru-RU" altLang="ru-RU" b="1" dirty="0">
                <a:solidFill>
                  <a:srgbClr val="656565"/>
                </a:solidFill>
                <a:latin typeface="Courier New" panose="02070309020205020404" pitchFamily="49" charset="0"/>
                <a:cs typeface="Courier New" panose="02070309020205020404" pitchFamily="49" charset="0"/>
              </a:rPr>
              <a:t>: </a:t>
            </a:r>
            <a:endParaRPr lang="en-US" altLang="ru-RU" b="1" dirty="0">
              <a:solidFill>
                <a:srgbClr val="656565"/>
              </a:solidFill>
              <a:latin typeface="Courier New" panose="02070309020205020404" pitchFamily="49" charset="0"/>
              <a:cs typeface="Courier New" panose="02070309020205020404" pitchFamily="49" charset="0"/>
            </a:endParaRPr>
          </a:p>
          <a:p>
            <a:r>
              <a:rPr lang="ru-RU" altLang="ru-RU" b="1" dirty="0" err="1">
                <a:solidFill>
                  <a:srgbClr val="003399"/>
                </a:solidFill>
                <a:latin typeface="Courier New" panose="02070309020205020404" pitchFamily="49" charset="0"/>
                <a:cs typeface="Courier New" panose="02070309020205020404" pitchFamily="49" charset="0"/>
              </a:rPr>
              <a:t>mean</a:t>
            </a:r>
            <a:r>
              <a:rPr lang="ru-RU" altLang="ru-RU" b="1" dirty="0">
                <a:solidFill>
                  <a:srgbClr val="656565"/>
                </a:solidFill>
                <a:latin typeface="Courier New" panose="02070309020205020404" pitchFamily="49" charset="0"/>
                <a:cs typeface="Courier New" panose="02070309020205020404" pitchFamily="49" charset="0"/>
              </a:rPr>
              <a:t> </a:t>
            </a:r>
            <a:r>
              <a:rPr lang="ru-RU" altLang="ru-RU" b="1" dirty="0" err="1">
                <a:solidFill>
                  <a:srgbClr val="656565"/>
                </a:solidFill>
                <a:latin typeface="Courier New" panose="02070309020205020404" pitchFamily="49" charset="0"/>
                <a:cs typeface="Courier New" panose="02070309020205020404" pitchFamily="49" charset="0"/>
              </a:rPr>
              <a:t>of</a:t>
            </a:r>
            <a:r>
              <a:rPr lang="ru-RU" altLang="ru-RU" b="1" dirty="0">
                <a:solidFill>
                  <a:srgbClr val="656565"/>
                </a:solidFill>
                <a:latin typeface="Courier New" panose="02070309020205020404" pitchFamily="49" charset="0"/>
                <a:cs typeface="Courier New" panose="02070309020205020404" pitchFamily="49" charset="0"/>
              </a:rPr>
              <a:t> x </a:t>
            </a:r>
            <a:r>
              <a:rPr lang="ru-RU" altLang="ru-RU" b="1" dirty="0">
                <a:solidFill>
                  <a:srgbClr val="CC66CC"/>
                </a:solidFill>
                <a:latin typeface="Courier New" panose="02070309020205020404" pitchFamily="49" charset="0"/>
                <a:cs typeface="Courier New" panose="02070309020205020404" pitchFamily="49" charset="0"/>
              </a:rPr>
              <a:t>6753.636</a:t>
            </a:r>
            <a:endParaRPr lang="ru-RU" altLang="ru-RU" b="1" dirty="0"/>
          </a:p>
        </p:txBody>
      </p:sp>
      <p:sp>
        <p:nvSpPr>
          <p:cNvPr id="7" name="Номер слайда 6"/>
          <p:cNvSpPr>
            <a:spLocks noGrp="1"/>
          </p:cNvSpPr>
          <p:nvPr>
            <p:ph type="sldNum" sz="quarter" idx="12"/>
          </p:nvPr>
        </p:nvSpPr>
        <p:spPr/>
        <p:txBody>
          <a:bodyPr/>
          <a:lstStyle/>
          <a:p>
            <a:fld id="{952B6C0E-C4B9-4094-8E59-5B7DF00D5415}" type="slidenum">
              <a:rPr lang="ru-RU" smtClean="0">
                <a:solidFill>
                  <a:schemeClr val="tx1"/>
                </a:solidFill>
              </a:rPr>
              <a:t>60</a:t>
            </a:fld>
            <a:endParaRPr lang="ru-RU" dirty="0">
              <a:solidFill>
                <a:schemeClr val="tx1"/>
              </a:solidFill>
            </a:endParaRPr>
          </a:p>
        </p:txBody>
      </p:sp>
    </p:spTree>
    <p:extLst>
      <p:ext uri="{BB962C8B-B14F-4D97-AF65-F5344CB8AC3E}">
        <p14:creationId xmlns:p14="http://schemas.microsoft.com/office/powerpoint/2010/main" val="3752726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4"/>
          <p:cNvSpPr>
            <a:spLocks noChangeArrowheads="1"/>
          </p:cNvSpPr>
          <p:nvPr/>
        </p:nvSpPr>
        <p:spPr bwMode="auto">
          <a:xfrm>
            <a:off x="1438275" y="322263"/>
            <a:ext cx="10948119" cy="6553200"/>
          </a:xfrm>
          <a:prstGeom prst="roundRect">
            <a:avLst>
              <a:gd name="adj" fmla="val 16667"/>
            </a:avLst>
          </a:prstGeom>
          <a:solidFill>
            <a:schemeClr val="bg1">
              <a:alpha val="50195"/>
            </a:scheme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5" name="AutoShape 5"/>
          <p:cNvSpPr>
            <a:spLocks noChangeArrowheads="1"/>
          </p:cNvSpPr>
          <p:nvPr/>
        </p:nvSpPr>
        <p:spPr bwMode="auto">
          <a:xfrm>
            <a:off x="2373685" y="322264"/>
            <a:ext cx="8064128" cy="720601"/>
          </a:xfrm>
          <a:prstGeom prst="roundRect">
            <a:avLst>
              <a:gd name="adj" fmla="val 37469"/>
            </a:avLst>
          </a:prstGeom>
          <a:solidFill>
            <a:srgbClr val="FFFFFF">
              <a:alpha val="78822"/>
            </a:srgb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8" name="Прямоугольник 7"/>
          <p:cNvSpPr/>
          <p:nvPr/>
        </p:nvSpPr>
        <p:spPr>
          <a:xfrm>
            <a:off x="861517" y="1288460"/>
            <a:ext cx="10948119" cy="5262979"/>
          </a:xfrm>
          <a:prstGeom prst="rect">
            <a:avLst/>
          </a:prstGeom>
        </p:spPr>
        <p:txBody>
          <a:bodyPr wrap="square">
            <a:spAutoFit/>
          </a:bodyPr>
          <a:lstStyle/>
          <a:p>
            <a:pPr indent="449263" algn="just"/>
            <a:r>
              <a:rPr lang="ru-RU" sz="2100" dirty="0">
                <a:latin typeface="Barlow"/>
              </a:rPr>
              <a:t>Видим, что для имеющихся выборочных данных </a:t>
            </a:r>
            <a:r>
              <a:rPr lang="ru-RU" sz="2100" i="1" dirty="0">
                <a:latin typeface="Barlow"/>
              </a:rPr>
              <a:t>t</a:t>
            </a:r>
            <a:r>
              <a:rPr lang="ru-RU" sz="2100" dirty="0">
                <a:latin typeface="Barlow"/>
              </a:rPr>
              <a:t>-критерий составляет -2.821 при 10 степенях свободы (</a:t>
            </a:r>
            <a:r>
              <a:rPr lang="ru-RU" sz="2100" dirty="0" err="1">
                <a:latin typeface="courier new" panose="02070309020205020404" pitchFamily="49" charset="0"/>
              </a:rPr>
              <a:t>df</a:t>
            </a:r>
            <a:r>
              <a:rPr lang="ru-RU" sz="2100" dirty="0">
                <a:latin typeface="Barlow"/>
              </a:rPr>
              <a:t>). </a:t>
            </a:r>
          </a:p>
          <a:p>
            <a:pPr indent="449263" algn="just"/>
            <a:r>
              <a:rPr lang="ru-RU" sz="2100" dirty="0">
                <a:latin typeface="Barlow"/>
              </a:rPr>
              <a:t>Вероятность получить такое (либо большее) значение </a:t>
            </a:r>
            <a:r>
              <a:rPr lang="ru-RU" sz="2100" i="1" dirty="0">
                <a:latin typeface="Barlow"/>
              </a:rPr>
              <a:t>t</a:t>
            </a:r>
            <a:r>
              <a:rPr lang="ru-RU" sz="2100" dirty="0">
                <a:latin typeface="Barlow"/>
              </a:rPr>
              <a:t> при условии, что проверяемая нулевая гипотеза верна, оказалась весьма мала: </a:t>
            </a:r>
            <a:r>
              <a:rPr lang="ru-RU" sz="2100" b="1" dirty="0">
                <a:solidFill>
                  <a:srgbClr val="0000FF"/>
                </a:solidFill>
                <a:latin typeface="courier new" panose="02070309020205020404" pitchFamily="49" charset="0"/>
              </a:rPr>
              <a:t>p-</a:t>
            </a:r>
            <a:r>
              <a:rPr lang="ru-RU" sz="2100" b="1" dirty="0" err="1">
                <a:solidFill>
                  <a:srgbClr val="0000FF"/>
                </a:solidFill>
                <a:latin typeface="courier new" panose="02070309020205020404" pitchFamily="49" charset="0"/>
              </a:rPr>
              <a:t>value</a:t>
            </a:r>
            <a:r>
              <a:rPr lang="ru-RU" sz="2100" b="1" dirty="0">
                <a:solidFill>
                  <a:srgbClr val="0000FF"/>
                </a:solidFill>
                <a:latin typeface="courier new" panose="02070309020205020404" pitchFamily="49" charset="0"/>
              </a:rPr>
              <a:t> = 0.01814</a:t>
            </a:r>
            <a:r>
              <a:rPr lang="ru-RU" sz="2100" b="1" dirty="0">
                <a:solidFill>
                  <a:srgbClr val="0000FF"/>
                </a:solidFill>
                <a:latin typeface="Barlow"/>
              </a:rPr>
              <a:t> </a:t>
            </a:r>
            <a:r>
              <a:rPr lang="ru-RU" sz="2100" dirty="0">
                <a:latin typeface="Barlow"/>
              </a:rPr>
              <a:t> (во всяком случае, это меньше 5%). Следовательно, мы можем отклонить проверяемую нулевую гипотезу о равенстве выборочного среднего значения нормативу и принять альтернативную гипотезу </a:t>
            </a:r>
            <a:r>
              <a:rPr lang="ru-RU" sz="2100" b="1" dirty="0">
                <a:solidFill>
                  <a:srgbClr val="0000FF"/>
                </a:solidFill>
                <a:latin typeface="Barlow"/>
              </a:rPr>
              <a:t>(</a:t>
            </a:r>
            <a:r>
              <a:rPr lang="ru-RU" sz="2100" b="1" dirty="0" err="1">
                <a:solidFill>
                  <a:srgbClr val="0000FF"/>
                </a:solidFill>
                <a:latin typeface="courier new" panose="02070309020205020404" pitchFamily="49" charset="0"/>
              </a:rPr>
              <a:t>alternative</a:t>
            </a:r>
            <a:r>
              <a:rPr lang="ru-RU" sz="2100" b="1" dirty="0">
                <a:solidFill>
                  <a:srgbClr val="0000FF"/>
                </a:solidFill>
                <a:latin typeface="courier new" panose="02070309020205020404" pitchFamily="49" charset="0"/>
              </a:rPr>
              <a:t> </a:t>
            </a:r>
            <a:r>
              <a:rPr lang="ru-RU" sz="2100" b="1" dirty="0" err="1">
                <a:solidFill>
                  <a:srgbClr val="0000FF"/>
                </a:solidFill>
                <a:latin typeface="courier new" panose="02070309020205020404" pitchFamily="49" charset="0"/>
              </a:rPr>
              <a:t>hypothesis</a:t>
            </a:r>
            <a:r>
              <a:rPr lang="ru-RU" sz="2100" b="1" dirty="0">
                <a:solidFill>
                  <a:srgbClr val="0000FF"/>
                </a:solidFill>
                <a:latin typeface="courier new" panose="02070309020205020404" pitchFamily="49" charset="0"/>
              </a:rPr>
              <a:t>: </a:t>
            </a:r>
            <a:r>
              <a:rPr lang="ru-RU" sz="2100" b="1" dirty="0" err="1">
                <a:solidFill>
                  <a:srgbClr val="0000FF"/>
                </a:solidFill>
                <a:latin typeface="courier new" panose="02070309020205020404" pitchFamily="49" charset="0"/>
              </a:rPr>
              <a:t>true</a:t>
            </a:r>
            <a:r>
              <a:rPr lang="ru-RU" sz="2100" b="1" dirty="0">
                <a:solidFill>
                  <a:srgbClr val="0000FF"/>
                </a:solidFill>
                <a:latin typeface="courier new" panose="02070309020205020404" pitchFamily="49" charset="0"/>
              </a:rPr>
              <a:t> </a:t>
            </a:r>
            <a:r>
              <a:rPr lang="ru-RU" sz="2100" b="1" dirty="0" err="1">
                <a:solidFill>
                  <a:srgbClr val="0000FF"/>
                </a:solidFill>
                <a:latin typeface="courier new" panose="02070309020205020404" pitchFamily="49" charset="0"/>
              </a:rPr>
              <a:t>mean</a:t>
            </a:r>
            <a:r>
              <a:rPr lang="ru-RU" sz="2100" b="1" dirty="0">
                <a:solidFill>
                  <a:srgbClr val="0000FF"/>
                </a:solidFill>
                <a:latin typeface="courier new" panose="02070309020205020404" pitchFamily="49" charset="0"/>
              </a:rPr>
              <a:t> </a:t>
            </a:r>
            <a:r>
              <a:rPr lang="ru-RU" sz="2100" b="1" dirty="0" err="1">
                <a:solidFill>
                  <a:srgbClr val="0000FF"/>
                </a:solidFill>
                <a:latin typeface="courier new" panose="02070309020205020404" pitchFamily="49" charset="0"/>
              </a:rPr>
              <a:t>is</a:t>
            </a:r>
            <a:r>
              <a:rPr lang="ru-RU" sz="2100" b="1" dirty="0">
                <a:solidFill>
                  <a:srgbClr val="0000FF"/>
                </a:solidFill>
                <a:latin typeface="courier new" panose="02070309020205020404" pitchFamily="49" charset="0"/>
              </a:rPr>
              <a:t> </a:t>
            </a:r>
            <a:r>
              <a:rPr lang="ru-RU" sz="2100" b="1" dirty="0" err="1">
                <a:solidFill>
                  <a:srgbClr val="0000FF"/>
                </a:solidFill>
                <a:latin typeface="courier new" panose="02070309020205020404" pitchFamily="49" charset="0"/>
              </a:rPr>
              <a:t>not</a:t>
            </a:r>
            <a:r>
              <a:rPr lang="ru-RU" sz="2100" b="1" dirty="0">
                <a:solidFill>
                  <a:srgbClr val="0000FF"/>
                </a:solidFill>
                <a:latin typeface="courier new" panose="02070309020205020404" pitchFamily="49" charset="0"/>
              </a:rPr>
              <a:t> </a:t>
            </a:r>
            <a:r>
              <a:rPr lang="ru-RU" sz="2100" b="1" dirty="0" err="1">
                <a:solidFill>
                  <a:srgbClr val="0000FF"/>
                </a:solidFill>
                <a:latin typeface="courier new" panose="02070309020205020404" pitchFamily="49" charset="0"/>
              </a:rPr>
              <a:t>equal</a:t>
            </a:r>
            <a:r>
              <a:rPr lang="ru-RU" sz="2100" b="1" dirty="0">
                <a:solidFill>
                  <a:srgbClr val="0000FF"/>
                </a:solidFill>
                <a:latin typeface="courier new" panose="02070309020205020404" pitchFamily="49" charset="0"/>
              </a:rPr>
              <a:t> </a:t>
            </a:r>
            <a:r>
              <a:rPr lang="ru-RU" sz="2100" b="1" dirty="0" err="1">
                <a:solidFill>
                  <a:srgbClr val="0000FF"/>
                </a:solidFill>
                <a:latin typeface="courier new" panose="02070309020205020404" pitchFamily="49" charset="0"/>
              </a:rPr>
              <a:t>to</a:t>
            </a:r>
            <a:r>
              <a:rPr lang="ru-RU" sz="2100" b="1" dirty="0">
                <a:solidFill>
                  <a:srgbClr val="0000FF"/>
                </a:solidFill>
                <a:latin typeface="courier new" panose="02070309020205020404" pitchFamily="49" charset="0"/>
              </a:rPr>
              <a:t> 7725</a:t>
            </a:r>
            <a:r>
              <a:rPr lang="ru-RU" sz="2100" b="1" dirty="0">
                <a:solidFill>
                  <a:srgbClr val="0000FF"/>
                </a:solidFill>
                <a:latin typeface="Barlow"/>
              </a:rPr>
              <a:t>).</a:t>
            </a:r>
            <a:r>
              <a:rPr lang="ru-RU" sz="2100" dirty="0">
                <a:latin typeface="Barlow"/>
              </a:rPr>
              <a:t> Делая это, мы рискуем ошибиться с вероятностью менее 5%.</a:t>
            </a:r>
          </a:p>
          <a:p>
            <a:pPr indent="449263" algn="just"/>
            <a:endParaRPr lang="ru-RU" sz="2100" dirty="0">
              <a:latin typeface="Barlow"/>
            </a:endParaRPr>
          </a:p>
          <a:p>
            <a:pPr indent="449263" algn="just"/>
            <a:r>
              <a:rPr lang="ru-RU" sz="2100" dirty="0">
                <a:latin typeface="Barlow"/>
              </a:rPr>
              <a:t>Помимо </a:t>
            </a:r>
            <a:r>
              <a:rPr lang="ru-RU" sz="2100" i="1" dirty="0">
                <a:latin typeface="Barlow"/>
              </a:rPr>
              <a:t>t</a:t>
            </a:r>
            <a:r>
              <a:rPr lang="ru-RU" sz="2100" dirty="0">
                <a:latin typeface="Barlow"/>
              </a:rPr>
              <a:t>-критерия, количества степеней свободы, Р-значения и выборочного среднего </a:t>
            </a:r>
            <a:r>
              <a:rPr lang="ru-RU" sz="2100" b="1" dirty="0">
                <a:solidFill>
                  <a:srgbClr val="0000FF"/>
                </a:solidFill>
                <a:latin typeface="courier new" panose="02070309020205020404" pitchFamily="49" charset="0"/>
              </a:rPr>
              <a:t>(</a:t>
            </a:r>
            <a:r>
              <a:rPr lang="ru-RU" sz="2100" b="1" dirty="0" err="1">
                <a:solidFill>
                  <a:srgbClr val="0000FF"/>
                </a:solidFill>
                <a:latin typeface="courier new" panose="02070309020205020404" pitchFamily="49" charset="0"/>
              </a:rPr>
              <a:t>sample</a:t>
            </a:r>
            <a:r>
              <a:rPr lang="ru-RU" sz="2100" b="1" dirty="0">
                <a:solidFill>
                  <a:srgbClr val="0000FF"/>
                </a:solidFill>
                <a:latin typeface="courier new" panose="02070309020205020404" pitchFamily="49" charset="0"/>
              </a:rPr>
              <a:t> </a:t>
            </a:r>
            <a:r>
              <a:rPr lang="ru-RU" sz="2100" b="1" dirty="0" err="1">
                <a:solidFill>
                  <a:srgbClr val="0000FF"/>
                </a:solidFill>
                <a:latin typeface="courier new" panose="02070309020205020404" pitchFamily="49" charset="0"/>
              </a:rPr>
              <a:t>estimates</a:t>
            </a:r>
            <a:r>
              <a:rPr lang="ru-RU" sz="2100" b="1" dirty="0">
                <a:solidFill>
                  <a:srgbClr val="0000FF"/>
                </a:solidFill>
                <a:latin typeface="courier new" panose="02070309020205020404" pitchFamily="49" charset="0"/>
              </a:rPr>
              <a:t>: </a:t>
            </a:r>
            <a:r>
              <a:rPr lang="ru-RU" sz="2100" b="1" dirty="0" err="1">
                <a:solidFill>
                  <a:srgbClr val="0000FF"/>
                </a:solidFill>
                <a:latin typeface="courier new" panose="02070309020205020404" pitchFamily="49" charset="0"/>
              </a:rPr>
              <a:t>mean</a:t>
            </a:r>
            <a:r>
              <a:rPr lang="ru-RU" sz="2100" b="1" dirty="0">
                <a:solidFill>
                  <a:srgbClr val="0000FF"/>
                </a:solidFill>
                <a:latin typeface="courier new" panose="02070309020205020404" pitchFamily="49" charset="0"/>
              </a:rPr>
              <a:t> </a:t>
            </a:r>
            <a:r>
              <a:rPr lang="ru-RU" sz="2100" b="1" dirty="0" err="1">
                <a:solidFill>
                  <a:srgbClr val="0000FF"/>
                </a:solidFill>
                <a:latin typeface="courier new" panose="02070309020205020404" pitchFamily="49" charset="0"/>
              </a:rPr>
              <a:t>of</a:t>
            </a:r>
            <a:r>
              <a:rPr lang="ru-RU" sz="2100" b="1" dirty="0">
                <a:solidFill>
                  <a:srgbClr val="0000FF"/>
                </a:solidFill>
                <a:latin typeface="courier new" panose="02070309020205020404" pitchFamily="49" charset="0"/>
              </a:rPr>
              <a:t> x), </a:t>
            </a:r>
            <a:r>
              <a:rPr lang="ru-RU" sz="2100" dirty="0">
                <a:latin typeface="Barlow"/>
              </a:rPr>
              <a:t>программа рассчитала также 95%-</a:t>
            </a:r>
            <a:r>
              <a:rPr lang="ru-RU" sz="2100" dirty="0" err="1">
                <a:latin typeface="Barlow"/>
              </a:rPr>
              <a:t>ный</a:t>
            </a:r>
            <a:r>
              <a:rPr lang="ru-RU" sz="2100" dirty="0">
                <a:latin typeface="Barlow"/>
              </a:rPr>
              <a:t> доверительный интервал </a:t>
            </a:r>
            <a:r>
              <a:rPr lang="ru-RU" sz="2100" b="1" dirty="0">
                <a:solidFill>
                  <a:srgbClr val="0000FF"/>
                </a:solidFill>
                <a:latin typeface="courier new" panose="02070309020205020404" pitchFamily="49" charset="0"/>
              </a:rPr>
              <a:t>(95 </a:t>
            </a:r>
            <a:r>
              <a:rPr lang="ru-RU" sz="2100" b="1" dirty="0" err="1">
                <a:solidFill>
                  <a:srgbClr val="0000FF"/>
                </a:solidFill>
                <a:latin typeface="courier new" panose="02070309020205020404" pitchFamily="49" charset="0"/>
              </a:rPr>
              <a:t>percent</a:t>
            </a:r>
            <a:r>
              <a:rPr lang="ru-RU" sz="2100" b="1" dirty="0">
                <a:solidFill>
                  <a:srgbClr val="0000FF"/>
                </a:solidFill>
                <a:latin typeface="courier new" panose="02070309020205020404" pitchFamily="49" charset="0"/>
              </a:rPr>
              <a:t> </a:t>
            </a:r>
            <a:r>
              <a:rPr lang="ru-RU" sz="2100" b="1" dirty="0" err="1">
                <a:solidFill>
                  <a:srgbClr val="0000FF"/>
                </a:solidFill>
                <a:latin typeface="courier new" panose="02070309020205020404" pitchFamily="49" charset="0"/>
              </a:rPr>
              <a:t>confidence</a:t>
            </a:r>
            <a:r>
              <a:rPr lang="ru-RU" sz="2100" b="1" dirty="0">
                <a:solidFill>
                  <a:srgbClr val="0000FF"/>
                </a:solidFill>
                <a:latin typeface="courier new" panose="02070309020205020404" pitchFamily="49" charset="0"/>
              </a:rPr>
              <a:t> </a:t>
            </a:r>
            <a:r>
              <a:rPr lang="ru-RU" sz="2100" b="1" dirty="0" err="1">
                <a:solidFill>
                  <a:srgbClr val="0000FF"/>
                </a:solidFill>
                <a:latin typeface="courier new" panose="02070309020205020404" pitchFamily="49" charset="0"/>
              </a:rPr>
              <a:t>interval</a:t>
            </a:r>
            <a:r>
              <a:rPr lang="ru-RU" sz="2100" b="1" dirty="0">
                <a:solidFill>
                  <a:srgbClr val="0000FF"/>
                </a:solidFill>
                <a:latin typeface="courier new" panose="02070309020205020404" pitchFamily="49" charset="0"/>
              </a:rPr>
              <a:t>) </a:t>
            </a:r>
            <a:r>
              <a:rPr lang="ru-RU" sz="2100" dirty="0">
                <a:latin typeface="Barlow"/>
              </a:rPr>
              <a:t>для истинной разницы между выборочным средним значением суточного потребления энергии и нормативом. Если бы мы повторили аналогичный тест много раз для разных групп из 11 женщин, то в 95% случаев эта разница оказалась бы в диапазоне от 5986.3 до 7520.9 кДж/сутки.</a:t>
            </a:r>
          </a:p>
        </p:txBody>
      </p:sp>
      <p:sp>
        <p:nvSpPr>
          <p:cNvPr id="9" name="Заголовок 1"/>
          <p:cNvSpPr txBox="1">
            <a:spLocks/>
          </p:cNvSpPr>
          <p:nvPr/>
        </p:nvSpPr>
        <p:spPr>
          <a:xfrm>
            <a:off x="2542736" y="347890"/>
            <a:ext cx="7876173" cy="754071"/>
          </a:xfrm>
          <a:prstGeom prst="rect">
            <a:avLst/>
          </a:prstGeom>
        </p:spPr>
        <p:txBody>
          <a:bodyPr wrap="square">
            <a:noAutofit/>
          </a:bodyPr>
          <a:lstStyle>
            <a:lvl1pPr algn="ctr" defTabSz="993775" rtl="0" fontAlgn="base">
              <a:spcBef>
                <a:spcPct val="0"/>
              </a:spcBef>
              <a:spcAft>
                <a:spcPct val="0"/>
              </a:spcAft>
              <a:defRPr sz="4800" kern="1200">
                <a:solidFill>
                  <a:schemeClr val="tx2"/>
                </a:solidFill>
                <a:latin typeface="+mj-lt"/>
                <a:ea typeface="+mj-ea"/>
                <a:cs typeface="+mj-cs"/>
              </a:defRPr>
            </a:lvl1pPr>
            <a:lvl2pPr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2pPr>
            <a:lvl3pPr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3pPr>
            <a:lvl4pPr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4pPr>
            <a:lvl5pPr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5pPr>
            <a:lvl6pPr marL="457200"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6pPr>
            <a:lvl7pPr marL="914400"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7pPr>
            <a:lvl8pPr marL="1371600"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8pPr>
            <a:lvl9pPr marL="1828800"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9pPr>
          </a:lstStyle>
          <a:p>
            <a:r>
              <a:rPr lang="ru-RU" sz="3600"/>
              <a:t>Задача о калориях </a:t>
            </a:r>
            <a:r>
              <a:rPr lang="ru-RU" sz="3200"/>
              <a:t>(одновыборочная)</a:t>
            </a:r>
            <a:endParaRPr lang="ru-RU" sz="3200" dirty="0"/>
          </a:p>
        </p:txBody>
      </p:sp>
      <p:sp>
        <p:nvSpPr>
          <p:cNvPr id="2" name="Номер слайда 1"/>
          <p:cNvSpPr>
            <a:spLocks noGrp="1"/>
          </p:cNvSpPr>
          <p:nvPr>
            <p:ph type="sldNum" sz="quarter" idx="12"/>
          </p:nvPr>
        </p:nvSpPr>
        <p:spPr/>
        <p:txBody>
          <a:bodyPr/>
          <a:lstStyle/>
          <a:p>
            <a:fld id="{952B6C0E-C4B9-4094-8E59-5B7DF00D5415}" type="slidenum">
              <a:rPr lang="ru-RU" sz="1400">
                <a:solidFill>
                  <a:schemeClr val="tx1"/>
                </a:solidFill>
              </a:rPr>
              <a:t>61</a:t>
            </a:fld>
            <a:endParaRPr lang="ru-RU" sz="1400">
              <a:solidFill>
                <a:schemeClr val="tx1"/>
              </a:solidFill>
            </a:endParaRPr>
          </a:p>
        </p:txBody>
      </p:sp>
    </p:spTree>
    <p:extLst>
      <p:ext uri="{BB962C8B-B14F-4D97-AF65-F5344CB8AC3E}">
        <p14:creationId xmlns:p14="http://schemas.microsoft.com/office/powerpoint/2010/main" val="16253843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AutoShape 4"/>
          <p:cNvSpPr>
            <a:spLocks noChangeArrowheads="1"/>
          </p:cNvSpPr>
          <p:nvPr/>
        </p:nvSpPr>
        <p:spPr bwMode="auto">
          <a:xfrm>
            <a:off x="645494" y="322263"/>
            <a:ext cx="11593288" cy="6121201"/>
          </a:xfrm>
          <a:prstGeom prst="roundRect">
            <a:avLst>
              <a:gd name="adj" fmla="val 16667"/>
            </a:avLst>
          </a:prstGeom>
          <a:solidFill>
            <a:schemeClr val="bg1">
              <a:alpha val="50195"/>
            </a:scheme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5" name="AutoShape 5"/>
          <p:cNvSpPr>
            <a:spLocks noChangeArrowheads="1"/>
          </p:cNvSpPr>
          <p:nvPr/>
        </p:nvSpPr>
        <p:spPr bwMode="auto">
          <a:xfrm>
            <a:off x="2373685" y="322264"/>
            <a:ext cx="8064128" cy="1296665"/>
          </a:xfrm>
          <a:prstGeom prst="roundRect">
            <a:avLst>
              <a:gd name="adj" fmla="val 37469"/>
            </a:avLst>
          </a:prstGeom>
          <a:solidFill>
            <a:srgbClr val="FFFFFF">
              <a:alpha val="78822"/>
            </a:srgb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2" name="Заголовок 1"/>
          <p:cNvSpPr txBox="1">
            <a:spLocks noGrp="1"/>
          </p:cNvSpPr>
          <p:nvPr>
            <p:ph type="title" idx="4294967295"/>
          </p:nvPr>
        </p:nvSpPr>
        <p:spPr>
          <a:xfrm>
            <a:off x="1887539" y="322264"/>
            <a:ext cx="8550275" cy="1184275"/>
          </a:xfrm>
          <a:prstGeom prst="rect">
            <a:avLst/>
          </a:prstGeom>
        </p:spPr>
        <p:txBody>
          <a:bodyPr wrap="square">
            <a:noAutofit/>
          </a:bodyPr>
          <a:lstStyle/>
          <a:p>
            <a:pPr lvl="0"/>
            <a:r>
              <a:rPr lang="ru-RU" sz="3949" dirty="0"/>
              <a:t>Статистика критерия или </a:t>
            </a:r>
            <a:br>
              <a:rPr lang="ru-RU" sz="3949" dirty="0"/>
            </a:br>
            <a:r>
              <a:rPr lang="ru-RU" sz="3949" dirty="0"/>
              <a:t>тестовая статистикой</a:t>
            </a:r>
          </a:p>
        </p:txBody>
      </p:sp>
      <p:sp>
        <p:nvSpPr>
          <p:cNvPr id="3" name="Текст 2"/>
          <p:cNvSpPr txBox="1">
            <a:spLocks noGrp="1"/>
          </p:cNvSpPr>
          <p:nvPr>
            <p:ph type="body" idx="4294967295"/>
          </p:nvPr>
        </p:nvSpPr>
        <p:spPr>
          <a:xfrm>
            <a:off x="1077541" y="1905355"/>
            <a:ext cx="11161240" cy="1657789"/>
          </a:xfrm>
          <a:prstGeom prst="rect">
            <a:avLst/>
          </a:prstGeom>
        </p:spPr>
        <p:txBody>
          <a:bodyPr wrap="square">
            <a:normAutofit/>
          </a:bodyPr>
          <a:lstStyle/>
          <a:p>
            <a:pPr marL="0" indent="357188">
              <a:buClr>
                <a:srgbClr val="CC9900"/>
              </a:buClr>
              <a:buSzPct val="65000"/>
              <a:buFont typeface="Wingdings" pitchFamily="2"/>
              <a:buChar char=""/>
            </a:pPr>
            <a:r>
              <a:rPr lang="ru-RU" sz="2400" dirty="0"/>
              <a:t>Иногда используют статистику критерия или тестовую статистику.</a:t>
            </a:r>
          </a:p>
          <a:p>
            <a:pPr marL="0" indent="357188">
              <a:buClr>
                <a:srgbClr val="CC9900"/>
              </a:buClr>
              <a:buSzPct val="65000"/>
              <a:buFont typeface="Wingdings" pitchFamily="2"/>
              <a:buChar char=""/>
            </a:pPr>
            <a:r>
              <a:rPr lang="ru-RU" sz="2400" dirty="0"/>
              <a:t>Изредка она важна сама по себе  (например, коэффициент корреляции), в таких конкретных случаях мы будем ее указывать.</a:t>
            </a:r>
          </a:p>
        </p:txBody>
      </p:sp>
      <p:sp>
        <p:nvSpPr>
          <p:cNvPr id="7" name="Номер слайда 6"/>
          <p:cNvSpPr>
            <a:spLocks noGrp="1"/>
          </p:cNvSpPr>
          <p:nvPr>
            <p:ph type="sldNum" sz="quarter" idx="12"/>
          </p:nvPr>
        </p:nvSpPr>
        <p:spPr>
          <a:xfrm>
            <a:off x="11636723" y="6614320"/>
            <a:ext cx="808441" cy="379409"/>
          </a:xfrm>
        </p:spPr>
        <p:txBody>
          <a:bodyPr/>
          <a:lstStyle/>
          <a:p>
            <a:fld id="{952B6C0E-C4B9-4094-8E59-5B7DF00D5415}" type="slidenum">
              <a:rPr lang="ru-RU" smtClean="0">
                <a:solidFill>
                  <a:schemeClr val="tx1"/>
                </a:solidFill>
              </a:rPr>
              <a:t>62</a:t>
            </a:fld>
            <a:endParaRPr lang="ru-RU" dirty="0">
              <a:solidFill>
                <a:schemeClr val="tx1"/>
              </a:solidFill>
            </a:endParaRPr>
          </a:p>
        </p:txBody>
      </p:sp>
      <p:sp>
        <p:nvSpPr>
          <p:cNvPr id="8" name="Прямоугольник 7"/>
          <p:cNvSpPr/>
          <p:nvPr/>
        </p:nvSpPr>
        <p:spPr>
          <a:xfrm>
            <a:off x="841611" y="3821208"/>
            <a:ext cx="11397170" cy="2154436"/>
          </a:xfrm>
          <a:prstGeom prst="rect">
            <a:avLst/>
          </a:prstGeom>
        </p:spPr>
        <p:txBody>
          <a:bodyPr wrap="square">
            <a:spAutoFit/>
          </a:bodyPr>
          <a:lstStyle/>
          <a:p>
            <a:r>
              <a:rPr lang="ru-RU" b="1" i="1" baseline="30000" dirty="0"/>
              <a:t>*) </a:t>
            </a:r>
            <a:r>
              <a:rPr lang="ru-RU" b="1" i="1" dirty="0"/>
              <a:t>t</a:t>
            </a:r>
            <a:r>
              <a:rPr lang="ru-RU" dirty="0"/>
              <a:t>-критерий Стьюдента используется для определения статистической значимости различий средних величин.</a:t>
            </a:r>
          </a:p>
          <a:p>
            <a:pPr marL="457200" indent="-457200">
              <a:buFont typeface="+mj-lt"/>
              <a:buAutoNum type="arabicPeriod"/>
            </a:pPr>
            <a:r>
              <a:rPr lang="ru-RU" sz="1800" dirty="0"/>
              <a:t>Если рассчитанное значение t-критерия Стьюдента равно или больше критического, найденного по таблице, делаем вывод о статистической значимости различий между сравниваемыми величинами.</a:t>
            </a:r>
          </a:p>
          <a:p>
            <a:pPr marL="457200" indent="-457200">
              <a:buFont typeface="+mj-lt"/>
              <a:buAutoNum type="arabicPeriod"/>
            </a:pPr>
            <a:r>
              <a:rPr lang="ru-RU" sz="1800" dirty="0"/>
              <a:t>Если значение рассчитанного t-критерия Стьюдента меньше табличного, значит различия сравниваемых величин статистически не значимы</a:t>
            </a:r>
            <a:r>
              <a:rPr lang="ru-RU" dirty="0"/>
              <a:t>.</a:t>
            </a:r>
          </a:p>
          <a:p>
            <a:endParaRPr lang="ru-RU" dirty="0"/>
          </a:p>
        </p:txBody>
      </p:sp>
    </p:spTree>
    <p:extLst>
      <p:ext uri="{BB962C8B-B14F-4D97-AF65-F5344CB8AC3E}">
        <p14:creationId xmlns:p14="http://schemas.microsoft.com/office/powerpoint/2010/main" val="40401471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AutoShape 4"/>
          <p:cNvSpPr>
            <a:spLocks noChangeArrowheads="1"/>
          </p:cNvSpPr>
          <p:nvPr/>
        </p:nvSpPr>
        <p:spPr bwMode="auto">
          <a:xfrm>
            <a:off x="1438275" y="322263"/>
            <a:ext cx="10800505" cy="6553200"/>
          </a:xfrm>
          <a:prstGeom prst="roundRect">
            <a:avLst>
              <a:gd name="adj" fmla="val 16667"/>
            </a:avLst>
          </a:prstGeom>
          <a:solidFill>
            <a:schemeClr val="bg1">
              <a:alpha val="50195"/>
            </a:scheme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5" name="AutoShape 5"/>
          <p:cNvSpPr>
            <a:spLocks noChangeArrowheads="1"/>
          </p:cNvSpPr>
          <p:nvPr/>
        </p:nvSpPr>
        <p:spPr bwMode="auto">
          <a:xfrm>
            <a:off x="2373685" y="322264"/>
            <a:ext cx="8064128" cy="720601"/>
          </a:xfrm>
          <a:prstGeom prst="roundRect">
            <a:avLst>
              <a:gd name="adj" fmla="val 37469"/>
            </a:avLst>
          </a:prstGeom>
          <a:solidFill>
            <a:srgbClr val="FFFFFF">
              <a:alpha val="78822"/>
            </a:srgb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2" name="Заголовок 1"/>
          <p:cNvSpPr txBox="1">
            <a:spLocks noGrp="1"/>
          </p:cNvSpPr>
          <p:nvPr>
            <p:ph type="title" idx="4294967295"/>
          </p:nvPr>
        </p:nvSpPr>
        <p:spPr>
          <a:xfrm>
            <a:off x="2338611" y="257176"/>
            <a:ext cx="8042275" cy="738188"/>
          </a:xfrm>
          <a:prstGeom prst="rect">
            <a:avLst/>
          </a:prstGeom>
        </p:spPr>
        <p:txBody>
          <a:bodyPr wrap="square">
            <a:noAutofit/>
          </a:bodyPr>
          <a:lstStyle/>
          <a:p>
            <a:pPr lvl="0"/>
            <a:r>
              <a:rPr lang="ru-RU" sz="3600" dirty="0"/>
              <a:t>Интерпретация статистики критерия</a:t>
            </a:r>
          </a:p>
        </p:txBody>
      </p:sp>
      <p:sp>
        <p:nvSpPr>
          <p:cNvPr id="3" name="Текст 2"/>
          <p:cNvSpPr txBox="1">
            <a:spLocks noGrp="1"/>
          </p:cNvSpPr>
          <p:nvPr>
            <p:ph type="body" idx="4294967295"/>
          </p:nvPr>
        </p:nvSpPr>
        <p:spPr>
          <a:xfrm>
            <a:off x="1910358" y="1120652"/>
            <a:ext cx="8551863" cy="1252538"/>
          </a:xfrm>
          <a:prstGeom prst="rect">
            <a:avLst/>
          </a:prstGeom>
        </p:spPr>
        <p:txBody>
          <a:bodyPr wrap="square"/>
          <a:lstStyle/>
          <a:p>
            <a:pPr marL="0" indent="0">
              <a:buClr>
                <a:srgbClr val="CC9900"/>
              </a:buClr>
              <a:buSzPct val="65000"/>
              <a:buFont typeface="Wingdings" pitchFamily="2"/>
              <a:buChar char=""/>
              <a:tabLst>
                <a:tab pos="0" algn="l"/>
                <a:tab pos="110352" algn="l"/>
                <a:tab pos="577199" algn="l"/>
                <a:tab pos="1044046" algn="l"/>
                <a:tab pos="1510893" algn="l"/>
                <a:tab pos="1977740" algn="l"/>
                <a:tab pos="2444587" algn="l"/>
                <a:tab pos="2911434" algn="l"/>
                <a:tab pos="3378279" algn="l"/>
                <a:tab pos="3845127" algn="l"/>
                <a:tab pos="4311973" algn="l"/>
                <a:tab pos="4778447" algn="l"/>
                <a:tab pos="5245294" algn="l"/>
                <a:tab pos="5712141" algn="l"/>
                <a:tab pos="6178987" algn="l"/>
                <a:tab pos="6645833" algn="l"/>
                <a:tab pos="7112681" algn="l"/>
                <a:tab pos="7579527" algn="l"/>
                <a:tab pos="8046375" algn="l"/>
                <a:tab pos="8513222" algn="l"/>
                <a:tab pos="8980068" algn="l"/>
              </a:tabLst>
            </a:pPr>
            <a:r>
              <a:rPr lang="ru-RU" sz="2400" dirty="0"/>
              <a:t>Значение статистики критерия (обычно) измеряет, насколько данные согласуются с гипотезой.</a:t>
            </a:r>
          </a:p>
        </p:txBody>
      </p:sp>
      <p:sp>
        <p:nvSpPr>
          <p:cNvPr id="7" name="Прямоугольник 6"/>
          <p:cNvSpPr/>
          <p:nvPr/>
        </p:nvSpPr>
        <p:spPr>
          <a:xfrm>
            <a:off x="1910357" y="5774018"/>
            <a:ext cx="9145710" cy="830997"/>
          </a:xfrm>
          <a:prstGeom prst="rect">
            <a:avLst/>
          </a:prstGeom>
        </p:spPr>
        <p:txBody>
          <a:bodyPr wrap="square">
            <a:spAutoFit/>
          </a:bodyPr>
          <a:lstStyle/>
          <a:p>
            <a:r>
              <a:rPr lang="ru-RU" sz="2400" dirty="0">
                <a:solidFill>
                  <a:srgbClr val="000000"/>
                </a:solidFill>
                <a:latin typeface="Times New Roman" panose="02020603050405020304" pitchFamily="18" charset="0"/>
              </a:rPr>
              <a:t>Плотность распределения статистики при справедливости гипотезы </a:t>
            </a:r>
            <a:r>
              <a:rPr lang="ru-RU" sz="2400" i="1" dirty="0">
                <a:solidFill>
                  <a:srgbClr val="000000"/>
                </a:solidFill>
                <a:latin typeface="Times New Roman" panose="02020603050405020304" pitchFamily="18" charset="0"/>
              </a:rPr>
              <a:t>H</a:t>
            </a:r>
            <a:r>
              <a:rPr lang="ru-RU" sz="2400" i="1" baseline="-25000" dirty="0">
                <a:solidFill>
                  <a:srgbClr val="000000"/>
                </a:solidFill>
                <a:latin typeface="Times New Roman" panose="02020603050405020304" pitchFamily="18" charset="0"/>
              </a:rPr>
              <a:t>0</a:t>
            </a:r>
            <a:r>
              <a:rPr lang="ru-RU" sz="2400" i="1" dirty="0">
                <a:solidFill>
                  <a:srgbClr val="000000"/>
                </a:solidFill>
                <a:latin typeface="Times New Roman" panose="02020603050405020304" pitchFamily="18" charset="0"/>
              </a:rPr>
              <a:t> </a:t>
            </a:r>
            <a:r>
              <a:rPr lang="ru-RU" sz="2400" dirty="0">
                <a:solidFill>
                  <a:srgbClr val="000000"/>
                </a:solidFill>
                <a:latin typeface="Times New Roman" panose="02020603050405020304" pitchFamily="18" charset="0"/>
              </a:rPr>
              <a:t>и</a:t>
            </a:r>
            <a:r>
              <a:rPr lang="en-US" sz="2400" dirty="0">
                <a:solidFill>
                  <a:srgbClr val="000000"/>
                </a:solidFill>
                <a:latin typeface="Times New Roman" panose="02020603050405020304" pitchFamily="18" charset="0"/>
              </a:rPr>
              <a:t> </a:t>
            </a:r>
            <a:r>
              <a:rPr lang="ru-RU" sz="2400" dirty="0">
                <a:solidFill>
                  <a:srgbClr val="000000"/>
                </a:solidFill>
                <a:latin typeface="Times New Roman" panose="02020603050405020304" pitchFamily="18" charset="0"/>
              </a:rPr>
              <a:t>и</a:t>
            </a:r>
            <a:r>
              <a:rPr lang="en-US" sz="2400" dirty="0">
                <a:solidFill>
                  <a:srgbClr val="000000"/>
                </a:solidFill>
                <a:latin typeface="Times New Roman" panose="02020603050405020304" pitchFamily="18" charset="0"/>
              </a:rPr>
              <a:t> </a:t>
            </a:r>
            <a:r>
              <a:rPr lang="ru-RU" sz="2400" dirty="0">
                <a:solidFill>
                  <a:srgbClr val="000000"/>
                </a:solidFill>
                <a:latin typeface="Times New Roman" panose="02020603050405020304" pitchFamily="18" charset="0"/>
              </a:rPr>
              <a:t>достигнутый уровень значимости </a:t>
            </a:r>
            <a:endParaRPr lang="ru-RU" sz="2400" dirty="0"/>
          </a:p>
        </p:txBody>
      </p:sp>
      <p:pic>
        <p:nvPicPr>
          <p:cNvPr id="8" name="Рисунок 7"/>
          <p:cNvPicPr>
            <a:picLocks noChangeAspect="1"/>
          </p:cNvPicPr>
          <p:nvPr/>
        </p:nvPicPr>
        <p:blipFill>
          <a:blip r:embed="rId3"/>
          <a:stretch>
            <a:fillRect/>
          </a:stretch>
        </p:blipFill>
        <p:spPr>
          <a:xfrm>
            <a:off x="2661717" y="2167248"/>
            <a:ext cx="6912768" cy="3660967"/>
          </a:xfrm>
          <a:prstGeom prst="rect">
            <a:avLst/>
          </a:prstGeom>
        </p:spPr>
      </p:pic>
      <p:sp>
        <p:nvSpPr>
          <p:cNvPr id="9" name="Номер слайда 8"/>
          <p:cNvSpPr>
            <a:spLocks noGrp="1"/>
          </p:cNvSpPr>
          <p:nvPr>
            <p:ph type="sldNum" sz="quarter" idx="12"/>
          </p:nvPr>
        </p:nvSpPr>
        <p:spPr/>
        <p:txBody>
          <a:bodyPr/>
          <a:lstStyle/>
          <a:p>
            <a:fld id="{952B6C0E-C4B9-4094-8E59-5B7DF00D5415}" type="slidenum">
              <a:rPr lang="ru-RU" sz="1400">
                <a:solidFill>
                  <a:schemeClr val="tx1"/>
                </a:solidFill>
              </a:rPr>
              <a:t>63</a:t>
            </a:fld>
            <a:endParaRPr lang="ru-RU" sz="1400">
              <a:solidFill>
                <a:schemeClr val="tx1"/>
              </a:solidFill>
            </a:endParaRPr>
          </a:p>
        </p:txBody>
      </p:sp>
    </p:spTree>
    <p:extLst>
      <p:ext uri="{BB962C8B-B14F-4D97-AF65-F5344CB8AC3E}">
        <p14:creationId xmlns:p14="http://schemas.microsoft.com/office/powerpoint/2010/main" val="29843162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AutoShape 4"/>
          <p:cNvSpPr>
            <a:spLocks noChangeArrowheads="1"/>
          </p:cNvSpPr>
          <p:nvPr/>
        </p:nvSpPr>
        <p:spPr bwMode="auto">
          <a:xfrm>
            <a:off x="1438275" y="322263"/>
            <a:ext cx="10872513" cy="6553200"/>
          </a:xfrm>
          <a:prstGeom prst="roundRect">
            <a:avLst>
              <a:gd name="adj" fmla="val 16667"/>
            </a:avLst>
          </a:prstGeom>
          <a:solidFill>
            <a:schemeClr val="bg1">
              <a:alpha val="50195"/>
            </a:scheme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5" name="AutoShape 5"/>
          <p:cNvSpPr>
            <a:spLocks noChangeArrowheads="1"/>
          </p:cNvSpPr>
          <p:nvPr/>
        </p:nvSpPr>
        <p:spPr bwMode="auto">
          <a:xfrm>
            <a:off x="2373685" y="322264"/>
            <a:ext cx="8064128" cy="720601"/>
          </a:xfrm>
          <a:prstGeom prst="roundRect">
            <a:avLst>
              <a:gd name="adj" fmla="val 37469"/>
            </a:avLst>
          </a:prstGeom>
          <a:solidFill>
            <a:srgbClr val="FFFFFF">
              <a:alpha val="78822"/>
            </a:srgb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3" name="Текст 2"/>
          <p:cNvSpPr txBox="1">
            <a:spLocks noGrp="1"/>
          </p:cNvSpPr>
          <p:nvPr>
            <p:ph type="body" idx="4294967295"/>
          </p:nvPr>
        </p:nvSpPr>
        <p:spPr>
          <a:xfrm>
            <a:off x="1581597" y="1618929"/>
            <a:ext cx="10046017" cy="2549525"/>
          </a:xfrm>
          <a:prstGeom prst="rect">
            <a:avLst/>
          </a:prstGeom>
        </p:spPr>
        <p:txBody>
          <a:bodyPr wrap="square"/>
          <a:lstStyle/>
          <a:p>
            <a:pPr marL="0" indent="0">
              <a:buClr>
                <a:srgbClr val="CC9900"/>
              </a:buClr>
              <a:buSzPct val="65000"/>
              <a:buFont typeface="Wingdings" pitchFamily="2"/>
              <a:buChar char=""/>
              <a:tabLst>
                <a:tab pos="0" algn="l"/>
                <a:tab pos="110352" algn="l"/>
                <a:tab pos="577199" algn="l"/>
                <a:tab pos="1044046" algn="l"/>
                <a:tab pos="1510893" algn="l"/>
                <a:tab pos="1977740" algn="l"/>
                <a:tab pos="2444587" algn="l"/>
                <a:tab pos="2911434" algn="l"/>
                <a:tab pos="3378279" algn="l"/>
                <a:tab pos="3845127" algn="l"/>
                <a:tab pos="4311973" algn="l"/>
                <a:tab pos="4778447" algn="l"/>
                <a:tab pos="5245294" algn="l"/>
                <a:tab pos="5712141" algn="l"/>
                <a:tab pos="6178987" algn="l"/>
                <a:tab pos="6645833" algn="l"/>
                <a:tab pos="7112681" algn="l"/>
                <a:tab pos="7579527" algn="l"/>
                <a:tab pos="8046375" algn="l"/>
                <a:tab pos="8513222" algn="l"/>
                <a:tab pos="8980068" algn="l"/>
              </a:tabLst>
            </a:pPr>
            <a:r>
              <a:rPr lang="ru-RU" sz="2800" dirty="0"/>
              <a:t>"Маленькие" значения статистики критерия</a:t>
            </a:r>
            <a:r>
              <a:rPr lang="en-US" sz="2800" dirty="0"/>
              <a:t> </a:t>
            </a:r>
            <a:r>
              <a:rPr lang="ru-RU" sz="2800" dirty="0"/>
              <a:t>указывают, что  данные «ведут себя» в соответствии с гипотезой.</a:t>
            </a:r>
          </a:p>
          <a:p>
            <a:pPr marL="0" indent="0">
              <a:buClr>
                <a:srgbClr val="CC9900"/>
              </a:buClr>
              <a:buSzPct val="65000"/>
              <a:buFont typeface="Wingdings" pitchFamily="2"/>
              <a:buChar char=""/>
              <a:tabLst>
                <a:tab pos="0" algn="l"/>
                <a:tab pos="110352" algn="l"/>
                <a:tab pos="577199" algn="l"/>
                <a:tab pos="1044046" algn="l"/>
                <a:tab pos="1510893" algn="l"/>
                <a:tab pos="1977740" algn="l"/>
                <a:tab pos="2444587" algn="l"/>
                <a:tab pos="2911434" algn="l"/>
                <a:tab pos="3378279" algn="l"/>
                <a:tab pos="3845127" algn="l"/>
                <a:tab pos="4311973" algn="l"/>
                <a:tab pos="4778447" algn="l"/>
                <a:tab pos="5245294" algn="l"/>
                <a:tab pos="5712141" algn="l"/>
                <a:tab pos="6178987" algn="l"/>
                <a:tab pos="6645833" algn="l"/>
                <a:tab pos="7112681" algn="l"/>
                <a:tab pos="7579527" algn="l"/>
                <a:tab pos="8046375" algn="l"/>
                <a:tab pos="8513222" algn="l"/>
                <a:tab pos="8980068" algn="l"/>
              </a:tabLst>
            </a:pPr>
            <a:r>
              <a:rPr lang="ru-RU" sz="2800" dirty="0"/>
              <a:t>В этом случае гипотеза не отвергается.</a:t>
            </a:r>
          </a:p>
          <a:p>
            <a:pPr marL="354624" indent="-354624">
              <a:tabLst>
                <a:tab pos="354624" algn="l"/>
                <a:tab pos="464976" algn="l"/>
                <a:tab pos="931823" algn="l"/>
                <a:tab pos="1398670" algn="l"/>
                <a:tab pos="1865517" algn="l"/>
                <a:tab pos="2332364" algn="l"/>
                <a:tab pos="2799211" algn="l"/>
                <a:tab pos="3266058" algn="l"/>
                <a:tab pos="3732903" algn="l"/>
                <a:tab pos="4199751" algn="l"/>
                <a:tab pos="4666597" algn="l"/>
                <a:tab pos="5133071" algn="l"/>
                <a:tab pos="5599918" algn="l"/>
                <a:tab pos="6066765" algn="l"/>
                <a:tab pos="6533611" algn="l"/>
                <a:tab pos="7000457" algn="l"/>
                <a:tab pos="7467305" algn="l"/>
                <a:tab pos="7934151" algn="l"/>
                <a:tab pos="8400999" algn="l"/>
                <a:tab pos="8867846" algn="l"/>
                <a:tab pos="9334693" algn="l"/>
              </a:tabLst>
            </a:pPr>
            <a:endParaRPr lang="ru-RU" sz="2800" dirty="0"/>
          </a:p>
          <a:p>
            <a:pPr marL="354624" indent="-354624">
              <a:tabLst>
                <a:tab pos="354624" algn="l"/>
                <a:tab pos="464976" algn="l"/>
                <a:tab pos="931823" algn="l"/>
                <a:tab pos="1398670" algn="l"/>
                <a:tab pos="1865517" algn="l"/>
                <a:tab pos="2332364" algn="l"/>
                <a:tab pos="2799211" algn="l"/>
                <a:tab pos="3266058" algn="l"/>
                <a:tab pos="3732903" algn="l"/>
                <a:tab pos="4199751" algn="l"/>
                <a:tab pos="4666597" algn="l"/>
                <a:tab pos="5133071" algn="l"/>
                <a:tab pos="5599918" algn="l"/>
                <a:tab pos="6066765" algn="l"/>
                <a:tab pos="6533611" algn="l"/>
                <a:tab pos="7000457" algn="l"/>
                <a:tab pos="7467305" algn="l"/>
                <a:tab pos="7934151" algn="l"/>
                <a:tab pos="8400999" algn="l"/>
                <a:tab pos="8867846" algn="l"/>
                <a:tab pos="9334693" algn="l"/>
              </a:tabLst>
            </a:pPr>
            <a:endParaRPr lang="ru-RU" sz="2800" dirty="0"/>
          </a:p>
        </p:txBody>
      </p:sp>
      <p:sp>
        <p:nvSpPr>
          <p:cNvPr id="7" name="Текст 2"/>
          <p:cNvSpPr txBox="1">
            <a:spLocks/>
          </p:cNvSpPr>
          <p:nvPr/>
        </p:nvSpPr>
        <p:spPr>
          <a:xfrm>
            <a:off x="1636017" y="3949149"/>
            <a:ext cx="10046730" cy="2404774"/>
          </a:xfrm>
          <a:prstGeom prst="rect">
            <a:avLst/>
          </a:prstGeom>
        </p:spPr>
        <p:txBody>
          <a:bodyPr wrap="square"/>
          <a:lstStyle>
            <a:lvl1pPr marL="373063" indent="-373063" algn="l" defTabSz="993775" rtl="0" fontAlgn="base">
              <a:spcBef>
                <a:spcPct val="20000"/>
              </a:spcBef>
              <a:spcAft>
                <a:spcPct val="0"/>
              </a:spcAft>
              <a:buChar char="•"/>
              <a:defRPr sz="3500" kern="1200">
                <a:solidFill>
                  <a:schemeClr val="tx1"/>
                </a:solidFill>
                <a:latin typeface="+mn-lt"/>
                <a:ea typeface="+mn-ea"/>
                <a:cs typeface="+mn-cs"/>
              </a:defRPr>
            </a:lvl1pPr>
            <a:lvl2pPr marL="808038" indent="-311150" algn="l" defTabSz="993775" rtl="0" fontAlgn="base">
              <a:spcBef>
                <a:spcPct val="20000"/>
              </a:spcBef>
              <a:spcAft>
                <a:spcPct val="0"/>
              </a:spcAft>
              <a:buChar char="–"/>
              <a:defRPr sz="3000" kern="1200">
                <a:solidFill>
                  <a:schemeClr val="tx1"/>
                </a:solidFill>
                <a:latin typeface="+mn-lt"/>
                <a:ea typeface="+mn-ea"/>
                <a:cs typeface="+mn-cs"/>
              </a:defRPr>
            </a:lvl2pPr>
            <a:lvl3pPr marL="1243013" indent="-249238" algn="l" defTabSz="993775" rtl="0" fontAlgn="base">
              <a:spcBef>
                <a:spcPct val="20000"/>
              </a:spcBef>
              <a:spcAft>
                <a:spcPct val="0"/>
              </a:spcAft>
              <a:buChar char="•"/>
              <a:defRPr sz="2600" kern="1200">
                <a:solidFill>
                  <a:schemeClr val="tx1"/>
                </a:solidFill>
                <a:latin typeface="+mn-lt"/>
                <a:ea typeface="+mn-ea"/>
                <a:cs typeface="+mn-cs"/>
              </a:defRPr>
            </a:lvl3pPr>
            <a:lvl4pPr marL="1739900" indent="-247650" algn="l" defTabSz="993775" rtl="0" fontAlgn="base">
              <a:spcBef>
                <a:spcPct val="20000"/>
              </a:spcBef>
              <a:spcAft>
                <a:spcPct val="0"/>
              </a:spcAft>
              <a:buChar char="–"/>
              <a:defRPr sz="2200" kern="1200">
                <a:solidFill>
                  <a:schemeClr val="tx1"/>
                </a:solidFill>
                <a:latin typeface="+mn-lt"/>
                <a:ea typeface="+mn-ea"/>
                <a:cs typeface="+mn-cs"/>
              </a:defRPr>
            </a:lvl4pPr>
            <a:lvl5pPr marL="2236788" indent="-247650" algn="l" defTabSz="993775" rtl="0" fontAlgn="base">
              <a:spcBef>
                <a:spcPct val="20000"/>
              </a:spcBef>
              <a:spcAft>
                <a:spcPct val="0"/>
              </a:spcAft>
              <a:buChar char="»"/>
              <a:defRPr sz="2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Clr>
                <a:srgbClr val="CC9900"/>
              </a:buClr>
              <a:buSzPct val="65000"/>
              <a:buFont typeface="Wingdings" pitchFamily="2"/>
              <a:buChar char=""/>
              <a:tabLst>
                <a:tab pos="0" algn="l"/>
                <a:tab pos="110352" algn="l"/>
                <a:tab pos="577199" algn="l"/>
                <a:tab pos="1044046" algn="l"/>
                <a:tab pos="1510893" algn="l"/>
                <a:tab pos="1977740" algn="l"/>
                <a:tab pos="2444587" algn="l"/>
                <a:tab pos="2911434" algn="l"/>
                <a:tab pos="3378279" algn="l"/>
                <a:tab pos="3845127" algn="l"/>
                <a:tab pos="4311973" algn="l"/>
                <a:tab pos="4778447" algn="l"/>
                <a:tab pos="5245294" algn="l"/>
                <a:tab pos="5712141" algn="l"/>
                <a:tab pos="6178987" algn="l"/>
                <a:tab pos="6645833" algn="l"/>
                <a:tab pos="7112681" algn="l"/>
                <a:tab pos="7579527" algn="l"/>
                <a:tab pos="8046375" algn="l"/>
                <a:tab pos="8513222" algn="l"/>
                <a:tab pos="8980068" algn="l"/>
              </a:tabLst>
            </a:pPr>
            <a:r>
              <a:rPr lang="ru-RU" sz="2800" dirty="0"/>
              <a:t>"Большие" значения статистики критерия указывают, что данные не соответствуют гипотезе, противоречат ей.</a:t>
            </a:r>
          </a:p>
          <a:p>
            <a:pPr marL="0" indent="0">
              <a:buClr>
                <a:srgbClr val="CC9900"/>
              </a:buClr>
              <a:buSzPct val="65000"/>
              <a:buFont typeface="Wingdings" pitchFamily="2"/>
              <a:buChar char=""/>
              <a:tabLst>
                <a:tab pos="0" algn="l"/>
                <a:tab pos="110352" algn="l"/>
                <a:tab pos="577199" algn="l"/>
                <a:tab pos="1044046" algn="l"/>
                <a:tab pos="1510893" algn="l"/>
                <a:tab pos="1977740" algn="l"/>
                <a:tab pos="2444587" algn="l"/>
                <a:tab pos="2911434" algn="l"/>
                <a:tab pos="3378279" algn="l"/>
                <a:tab pos="3845127" algn="l"/>
                <a:tab pos="4311973" algn="l"/>
                <a:tab pos="4778447" algn="l"/>
                <a:tab pos="5245294" algn="l"/>
                <a:tab pos="5712141" algn="l"/>
                <a:tab pos="6178987" algn="l"/>
                <a:tab pos="6645833" algn="l"/>
                <a:tab pos="7112681" algn="l"/>
                <a:tab pos="7579527" algn="l"/>
                <a:tab pos="8046375" algn="l"/>
                <a:tab pos="8513222" algn="l"/>
                <a:tab pos="8980068" algn="l"/>
              </a:tabLst>
            </a:pPr>
            <a:r>
              <a:rPr lang="ru-RU" sz="2800" dirty="0"/>
              <a:t>Гипотеза отвергается.</a:t>
            </a:r>
          </a:p>
        </p:txBody>
      </p:sp>
      <p:sp>
        <p:nvSpPr>
          <p:cNvPr id="8" name="Заголовок 1"/>
          <p:cNvSpPr txBox="1">
            <a:spLocks/>
          </p:cNvSpPr>
          <p:nvPr/>
        </p:nvSpPr>
        <p:spPr>
          <a:xfrm>
            <a:off x="2277105" y="344191"/>
            <a:ext cx="8042605" cy="738961"/>
          </a:xfrm>
          <a:prstGeom prst="rect">
            <a:avLst/>
          </a:prstGeom>
        </p:spPr>
        <p:txBody>
          <a:bodyPr wrap="square">
            <a:noAutofit/>
          </a:bodyPr>
          <a:lstStyle>
            <a:lvl1pPr algn="ctr" defTabSz="993775" rtl="0" fontAlgn="base">
              <a:spcBef>
                <a:spcPct val="0"/>
              </a:spcBef>
              <a:spcAft>
                <a:spcPct val="0"/>
              </a:spcAft>
              <a:defRPr sz="4800" kern="1200">
                <a:solidFill>
                  <a:schemeClr val="tx2"/>
                </a:solidFill>
                <a:latin typeface="+mj-lt"/>
                <a:ea typeface="+mj-ea"/>
                <a:cs typeface="+mj-cs"/>
              </a:defRPr>
            </a:lvl1pPr>
            <a:lvl2pPr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2pPr>
            <a:lvl3pPr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3pPr>
            <a:lvl4pPr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4pPr>
            <a:lvl5pPr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5pPr>
            <a:lvl6pPr marL="457200"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6pPr>
            <a:lvl7pPr marL="914400"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7pPr>
            <a:lvl8pPr marL="1371600"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8pPr>
            <a:lvl9pPr marL="1828800"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9pPr>
          </a:lstStyle>
          <a:p>
            <a:r>
              <a:rPr lang="ru-RU" sz="3600" dirty="0"/>
              <a:t>Интерпретация статистики критерия</a:t>
            </a:r>
          </a:p>
        </p:txBody>
      </p:sp>
      <p:sp>
        <p:nvSpPr>
          <p:cNvPr id="2" name="Номер слайда 1"/>
          <p:cNvSpPr>
            <a:spLocks noGrp="1"/>
          </p:cNvSpPr>
          <p:nvPr>
            <p:ph type="sldNum" sz="quarter" idx="12"/>
          </p:nvPr>
        </p:nvSpPr>
        <p:spPr>
          <a:xfrm>
            <a:off x="11627614" y="6541296"/>
            <a:ext cx="808441" cy="379409"/>
          </a:xfrm>
        </p:spPr>
        <p:txBody>
          <a:bodyPr/>
          <a:lstStyle/>
          <a:p>
            <a:fld id="{952B6C0E-C4B9-4094-8E59-5B7DF00D5415}" type="slidenum">
              <a:rPr lang="ru-RU" smtClean="0">
                <a:solidFill>
                  <a:schemeClr val="tx1"/>
                </a:solidFill>
              </a:rPr>
              <a:t>64</a:t>
            </a:fld>
            <a:endParaRPr lang="ru-RU" dirty="0">
              <a:solidFill>
                <a:schemeClr val="tx1"/>
              </a:solidFill>
            </a:endParaRPr>
          </a:p>
        </p:txBody>
      </p:sp>
    </p:spTree>
    <p:extLst>
      <p:ext uri="{BB962C8B-B14F-4D97-AF65-F5344CB8AC3E}">
        <p14:creationId xmlns:p14="http://schemas.microsoft.com/office/powerpoint/2010/main" val="35002473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AutoShape 4"/>
          <p:cNvSpPr>
            <a:spLocks noChangeArrowheads="1"/>
          </p:cNvSpPr>
          <p:nvPr/>
        </p:nvSpPr>
        <p:spPr bwMode="auto">
          <a:xfrm>
            <a:off x="1438275" y="322263"/>
            <a:ext cx="10728497" cy="6553200"/>
          </a:xfrm>
          <a:prstGeom prst="roundRect">
            <a:avLst>
              <a:gd name="adj" fmla="val 16667"/>
            </a:avLst>
          </a:prstGeom>
          <a:solidFill>
            <a:schemeClr val="bg1">
              <a:alpha val="50195"/>
            </a:scheme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5" name="AutoShape 5"/>
          <p:cNvSpPr>
            <a:spLocks noChangeArrowheads="1"/>
          </p:cNvSpPr>
          <p:nvPr/>
        </p:nvSpPr>
        <p:spPr bwMode="auto">
          <a:xfrm>
            <a:off x="2373685" y="322264"/>
            <a:ext cx="8064128" cy="720601"/>
          </a:xfrm>
          <a:prstGeom prst="roundRect">
            <a:avLst>
              <a:gd name="adj" fmla="val 37469"/>
            </a:avLst>
          </a:prstGeom>
          <a:solidFill>
            <a:srgbClr val="FFFFFF">
              <a:alpha val="78822"/>
            </a:srgb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2" name="Заголовок 1"/>
          <p:cNvSpPr txBox="1">
            <a:spLocks noGrp="1"/>
          </p:cNvSpPr>
          <p:nvPr>
            <p:ph type="title" idx="4294967295"/>
          </p:nvPr>
        </p:nvSpPr>
        <p:spPr>
          <a:xfrm>
            <a:off x="3165773" y="288926"/>
            <a:ext cx="6579890" cy="1184275"/>
          </a:xfrm>
          <a:prstGeom prst="rect">
            <a:avLst/>
          </a:prstGeom>
        </p:spPr>
        <p:txBody>
          <a:bodyPr wrap="square">
            <a:noAutofit/>
          </a:bodyPr>
          <a:lstStyle/>
          <a:p>
            <a:pPr lvl="0"/>
            <a:r>
              <a:rPr lang="ru-RU" dirty="0"/>
              <a:t>Пример</a:t>
            </a:r>
          </a:p>
        </p:txBody>
      </p:sp>
      <p:sp>
        <p:nvSpPr>
          <p:cNvPr id="3" name="Текст 2"/>
          <p:cNvSpPr txBox="1">
            <a:spLocks noGrp="1"/>
          </p:cNvSpPr>
          <p:nvPr>
            <p:ph type="body" idx="4294967295"/>
          </p:nvPr>
        </p:nvSpPr>
        <p:spPr>
          <a:xfrm>
            <a:off x="1581597" y="1373188"/>
            <a:ext cx="9891266" cy="1828800"/>
          </a:xfrm>
          <a:prstGeom prst="rect">
            <a:avLst/>
          </a:prstGeom>
        </p:spPr>
        <p:txBody>
          <a:bodyPr wrap="square"/>
          <a:lstStyle/>
          <a:p>
            <a:pPr marL="0" indent="449263">
              <a:buClr>
                <a:srgbClr val="CC9900"/>
              </a:buClr>
              <a:buSzPct val="65000"/>
              <a:buFont typeface="Wingdings" pitchFamily="2"/>
              <a:buChar char=""/>
              <a:tabLst>
                <a:tab pos="0" algn="l"/>
                <a:tab pos="110352" algn="l"/>
                <a:tab pos="577199" algn="l"/>
                <a:tab pos="1044046" algn="l"/>
                <a:tab pos="1510893" algn="l"/>
                <a:tab pos="1977740" algn="l"/>
                <a:tab pos="2444587" algn="l"/>
                <a:tab pos="2911434" algn="l"/>
                <a:tab pos="3378279" algn="l"/>
                <a:tab pos="3845127" algn="l"/>
                <a:tab pos="4311973" algn="l"/>
                <a:tab pos="4778447" algn="l"/>
                <a:tab pos="5245294" algn="l"/>
                <a:tab pos="5712141" algn="l"/>
                <a:tab pos="6178987" algn="l"/>
                <a:tab pos="6645833" algn="l"/>
                <a:tab pos="7112681" algn="l"/>
                <a:tab pos="7579527" algn="l"/>
                <a:tab pos="8046375" algn="l"/>
                <a:tab pos="8513222" algn="l"/>
                <a:tab pos="8980068" algn="l"/>
              </a:tabLst>
            </a:pPr>
            <a:r>
              <a:rPr lang="ru-RU" sz="2400" dirty="0"/>
              <a:t>Нормальное распределение с дисперсией 1</a:t>
            </a:r>
          </a:p>
          <a:p>
            <a:pPr marL="0" indent="449263">
              <a:buClr>
                <a:srgbClr val="CC9900"/>
              </a:buClr>
              <a:buSzPct val="65000"/>
              <a:buFont typeface="Wingdings" pitchFamily="2"/>
              <a:buChar char=""/>
              <a:tabLst>
                <a:tab pos="0" algn="l"/>
                <a:tab pos="110352" algn="l"/>
                <a:tab pos="577199" algn="l"/>
                <a:tab pos="1044046" algn="l"/>
                <a:tab pos="1510893" algn="l"/>
                <a:tab pos="1977740" algn="l"/>
                <a:tab pos="2444587" algn="l"/>
                <a:tab pos="2911434" algn="l"/>
                <a:tab pos="3378279" algn="l"/>
                <a:tab pos="3845127" algn="l"/>
                <a:tab pos="4311973" algn="l"/>
                <a:tab pos="4778447" algn="l"/>
                <a:tab pos="5245294" algn="l"/>
                <a:tab pos="5712141" algn="l"/>
                <a:tab pos="6178987" algn="l"/>
                <a:tab pos="6645833" algn="l"/>
                <a:tab pos="7112681" algn="l"/>
                <a:tab pos="7579527" algn="l"/>
                <a:tab pos="8046375" algn="l"/>
                <a:tab pos="8513222" algn="l"/>
                <a:tab pos="8980068" algn="l"/>
              </a:tabLst>
            </a:pPr>
            <a:r>
              <a:rPr lang="ru-RU" sz="2400" dirty="0"/>
              <a:t>Имеется </a:t>
            </a:r>
            <a:r>
              <a:rPr lang="en-US" sz="2400" dirty="0"/>
              <a:t>n </a:t>
            </a:r>
            <a:r>
              <a:rPr lang="ru-RU" sz="2400" dirty="0"/>
              <a:t>наблюдений</a:t>
            </a:r>
          </a:p>
          <a:p>
            <a:pPr marL="0" indent="449263">
              <a:buClr>
                <a:srgbClr val="CC9900"/>
              </a:buClr>
              <a:buSzPct val="65000"/>
              <a:buFont typeface="Wingdings" pitchFamily="2"/>
              <a:buChar char=""/>
              <a:tabLst>
                <a:tab pos="0" algn="l"/>
                <a:tab pos="110352" algn="l"/>
                <a:tab pos="577199" algn="l"/>
                <a:tab pos="1044046" algn="l"/>
                <a:tab pos="1510893" algn="l"/>
                <a:tab pos="1977740" algn="l"/>
                <a:tab pos="2444587" algn="l"/>
                <a:tab pos="2911434" algn="l"/>
                <a:tab pos="3378279" algn="l"/>
                <a:tab pos="3845127" algn="l"/>
                <a:tab pos="4311973" algn="l"/>
                <a:tab pos="4778447" algn="l"/>
                <a:tab pos="5245294" algn="l"/>
                <a:tab pos="5712141" algn="l"/>
                <a:tab pos="6178987" algn="l"/>
                <a:tab pos="6645833" algn="l"/>
                <a:tab pos="7112681" algn="l"/>
                <a:tab pos="7579527" algn="l"/>
                <a:tab pos="8046375" algn="l"/>
                <a:tab pos="8513222" algn="l"/>
                <a:tab pos="8980068" algn="l"/>
              </a:tabLst>
            </a:pPr>
            <a:r>
              <a:rPr lang="ru-RU" sz="2400" dirty="0"/>
              <a:t>Основная гипотеза: математическое ожидание равно 11</a:t>
            </a:r>
          </a:p>
          <a:p>
            <a:pPr marL="0" indent="449263">
              <a:buClr>
                <a:srgbClr val="CC9900"/>
              </a:buClr>
              <a:buSzPct val="65000"/>
              <a:buFont typeface="Wingdings" pitchFamily="2"/>
              <a:buChar char=""/>
              <a:tabLst>
                <a:tab pos="0" algn="l"/>
                <a:tab pos="110352" algn="l"/>
                <a:tab pos="577199" algn="l"/>
                <a:tab pos="1044046" algn="l"/>
                <a:tab pos="1510893" algn="l"/>
                <a:tab pos="1977740" algn="l"/>
                <a:tab pos="2444587" algn="l"/>
                <a:tab pos="2911434" algn="l"/>
                <a:tab pos="3378279" algn="l"/>
                <a:tab pos="3845127" algn="l"/>
                <a:tab pos="4311973" algn="l"/>
                <a:tab pos="4778447" algn="l"/>
                <a:tab pos="5245294" algn="l"/>
                <a:tab pos="5712141" algn="l"/>
                <a:tab pos="6178987" algn="l"/>
                <a:tab pos="6645833" algn="l"/>
                <a:tab pos="7112681" algn="l"/>
                <a:tab pos="7579527" algn="l"/>
                <a:tab pos="8046375" algn="l"/>
                <a:tab pos="8513222" algn="l"/>
                <a:tab pos="8980068" algn="l"/>
              </a:tabLst>
            </a:pPr>
            <a:r>
              <a:rPr lang="ru-RU" sz="2400" dirty="0"/>
              <a:t>Альтернативная гипотеза: </a:t>
            </a:r>
            <a:r>
              <a:rPr lang="en-US" sz="2400" i="1" dirty="0"/>
              <a:t>μ = </a:t>
            </a:r>
            <a:r>
              <a:rPr lang="ru-RU" sz="2400" i="1" dirty="0"/>
              <a:t>12</a:t>
            </a:r>
          </a:p>
          <a:p>
            <a:pPr marL="354624" indent="-354624">
              <a:tabLst>
                <a:tab pos="354624" algn="l"/>
                <a:tab pos="464976" algn="l"/>
                <a:tab pos="931823" algn="l"/>
                <a:tab pos="1398670" algn="l"/>
                <a:tab pos="1865517" algn="l"/>
                <a:tab pos="2332364" algn="l"/>
                <a:tab pos="2799211" algn="l"/>
                <a:tab pos="3266058" algn="l"/>
                <a:tab pos="3732903" algn="l"/>
                <a:tab pos="4199751" algn="l"/>
                <a:tab pos="4666597" algn="l"/>
                <a:tab pos="5133071" algn="l"/>
                <a:tab pos="5599918" algn="l"/>
                <a:tab pos="6066765" algn="l"/>
                <a:tab pos="6533611" algn="l"/>
                <a:tab pos="7000457" algn="l"/>
                <a:tab pos="7467305" algn="l"/>
                <a:tab pos="7934151" algn="l"/>
                <a:tab pos="8400999" algn="l"/>
                <a:tab pos="8867846" algn="l"/>
                <a:tab pos="9334693" algn="l"/>
              </a:tabLst>
            </a:pPr>
            <a:endParaRPr lang="ru-RU" sz="2400" dirty="0"/>
          </a:p>
        </p:txBody>
      </p:sp>
      <p:grpSp>
        <p:nvGrpSpPr>
          <p:cNvPr id="19" name="Группа 18"/>
          <p:cNvGrpSpPr/>
          <p:nvPr/>
        </p:nvGrpSpPr>
        <p:grpSpPr>
          <a:xfrm>
            <a:off x="1581597" y="3251252"/>
            <a:ext cx="5720157" cy="3120204"/>
            <a:chOff x="2185017" y="3575857"/>
            <a:chExt cx="5328592" cy="2806778"/>
          </a:xfrm>
        </p:grpSpPr>
        <p:pic>
          <p:nvPicPr>
            <p:cNvPr id="8" name="Рисунок 7"/>
            <p:cNvPicPr>
              <a:picLocks noChangeAspect="1"/>
            </p:cNvPicPr>
            <p:nvPr/>
          </p:nvPicPr>
          <p:blipFill>
            <a:blip r:embed="rId3"/>
            <a:stretch>
              <a:fillRect/>
            </a:stretch>
          </p:blipFill>
          <p:spPr>
            <a:xfrm>
              <a:off x="2185017" y="3575857"/>
              <a:ext cx="5328592" cy="2801459"/>
            </a:xfrm>
            <a:prstGeom prst="rect">
              <a:avLst/>
            </a:prstGeom>
          </p:spPr>
        </p:pic>
        <p:cxnSp>
          <p:nvCxnSpPr>
            <p:cNvPr id="9" name="Прямая соединительная линия 8"/>
            <p:cNvCxnSpPr/>
            <p:nvPr/>
          </p:nvCxnSpPr>
          <p:spPr bwMode="auto">
            <a:xfrm>
              <a:off x="3031455" y="4139208"/>
              <a:ext cx="46608" cy="1940990"/>
            </a:xfrm>
            <a:prstGeom prst="line">
              <a:avLst/>
            </a:prstGeom>
            <a:solidFill>
              <a:schemeClr val="accent1"/>
            </a:solidFill>
            <a:ln w="9525" cap="flat" cmpd="sng" algn="ctr">
              <a:solidFill>
                <a:srgbClr val="92D05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 name="Прямая соединительная линия 15"/>
            <p:cNvCxnSpPr/>
            <p:nvPr/>
          </p:nvCxnSpPr>
          <p:spPr bwMode="auto">
            <a:xfrm>
              <a:off x="4274641" y="4931296"/>
              <a:ext cx="0" cy="1148902"/>
            </a:xfrm>
            <a:prstGeom prst="line">
              <a:avLst/>
            </a:prstGeom>
            <a:solidFill>
              <a:schemeClr val="accent1"/>
            </a:solidFill>
            <a:ln w="9525" cap="flat" cmpd="sng" algn="ctr">
              <a:solidFill>
                <a:srgbClr val="92D05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8" name="TextBox 17"/>
            <p:cNvSpPr txBox="1"/>
            <p:nvPr/>
          </p:nvSpPr>
          <p:spPr>
            <a:xfrm>
              <a:off x="2928022" y="6161872"/>
              <a:ext cx="300082" cy="215444"/>
            </a:xfrm>
            <a:prstGeom prst="rect">
              <a:avLst/>
            </a:prstGeom>
            <a:noFill/>
          </p:spPr>
          <p:txBody>
            <a:bodyPr wrap="none" rtlCol="0">
              <a:spAutoFit/>
            </a:bodyPr>
            <a:lstStyle/>
            <a:p>
              <a:r>
                <a:rPr lang="en-US" sz="800" dirty="0"/>
                <a:t>11</a:t>
              </a:r>
              <a:endParaRPr lang="ru-RU" sz="800" dirty="0"/>
            </a:p>
          </p:txBody>
        </p:sp>
        <p:sp>
          <p:nvSpPr>
            <p:cNvPr id="20" name="TextBox 19"/>
            <p:cNvSpPr txBox="1"/>
            <p:nvPr/>
          </p:nvSpPr>
          <p:spPr>
            <a:xfrm>
              <a:off x="4124600" y="6167191"/>
              <a:ext cx="300082" cy="215444"/>
            </a:xfrm>
            <a:prstGeom prst="rect">
              <a:avLst/>
            </a:prstGeom>
            <a:noFill/>
          </p:spPr>
          <p:txBody>
            <a:bodyPr wrap="none" rtlCol="0">
              <a:spAutoFit/>
            </a:bodyPr>
            <a:lstStyle/>
            <a:p>
              <a:r>
                <a:rPr lang="en-US" sz="800" dirty="0"/>
                <a:t>12</a:t>
              </a:r>
              <a:endParaRPr lang="ru-RU" sz="800" dirty="0"/>
            </a:p>
          </p:txBody>
        </p:sp>
      </p:grpSp>
      <p:sp>
        <p:nvSpPr>
          <p:cNvPr id="21" name="Прямоугольник 20"/>
          <p:cNvSpPr/>
          <p:nvPr/>
        </p:nvSpPr>
        <p:spPr>
          <a:xfrm>
            <a:off x="7481255" y="3281459"/>
            <a:ext cx="4397485" cy="1384995"/>
          </a:xfrm>
          <a:prstGeom prst="rect">
            <a:avLst/>
          </a:prstGeom>
        </p:spPr>
        <p:txBody>
          <a:bodyPr wrap="square">
            <a:spAutoFit/>
          </a:bodyPr>
          <a:lstStyle/>
          <a:p>
            <a:r>
              <a:rPr lang="ru-RU" dirty="0"/>
              <a:t>Нужно выбрать такое значение критерия (</a:t>
            </a:r>
            <a:r>
              <a:rPr lang="en-US" i="1" dirty="0"/>
              <a:t>S</a:t>
            </a:r>
            <a:r>
              <a:rPr lang="el-GR" i="1" dirty="0">
                <a:latin typeface="Times New Roman" panose="02020603050405020304" pitchFamily="18" charset="0"/>
                <a:cs typeface="Times New Roman" panose="02020603050405020304" pitchFamily="18" charset="0"/>
              </a:rPr>
              <a:t>α</a:t>
            </a:r>
            <a:r>
              <a:rPr lang="ru-RU" dirty="0"/>
              <a:t>), при котором мы будем считать, что </a:t>
            </a:r>
            <a:r>
              <a:rPr lang="en-US" i="1" dirty="0"/>
              <a:t>μ  </a:t>
            </a:r>
            <a:r>
              <a:rPr lang="ru-RU" dirty="0"/>
              <a:t>ближе к 11,</a:t>
            </a:r>
          </a:p>
          <a:p>
            <a:r>
              <a:rPr lang="ru-RU" dirty="0"/>
              <a:t>помня, что</a:t>
            </a:r>
            <a:r>
              <a:rPr lang="ru-RU" i="1" dirty="0"/>
              <a:t> </a:t>
            </a:r>
            <a:r>
              <a:rPr lang="en-US" i="1" dirty="0"/>
              <a:t>p{</a:t>
            </a:r>
            <a:r>
              <a:rPr lang="ru-RU" i="1" dirty="0" err="1"/>
              <a:t>ош</a:t>
            </a:r>
            <a:r>
              <a:rPr lang="ru-RU" i="1" dirty="0"/>
              <a:t> 1 рода</a:t>
            </a:r>
            <a:r>
              <a:rPr lang="en-US" i="1" dirty="0"/>
              <a:t>}</a:t>
            </a:r>
            <a:r>
              <a:rPr lang="ru-RU" i="1" dirty="0"/>
              <a:t>=</a:t>
            </a:r>
            <a:r>
              <a:rPr lang="el-GR" i="1" dirty="0">
                <a:latin typeface="Times New Roman" panose="02020603050405020304" pitchFamily="18" charset="0"/>
                <a:cs typeface="Times New Roman" panose="02020603050405020304" pitchFamily="18" charset="0"/>
              </a:rPr>
              <a:t> </a:t>
            </a:r>
            <a:r>
              <a:rPr lang="el-GR" sz="2400" i="1" dirty="0">
                <a:latin typeface="Times New Roman" panose="02020603050405020304" pitchFamily="18" charset="0"/>
                <a:cs typeface="Times New Roman" panose="02020603050405020304" pitchFamily="18" charset="0"/>
              </a:rPr>
              <a:t>α</a:t>
            </a:r>
            <a:r>
              <a:rPr lang="ru-RU" i="1" dirty="0"/>
              <a:t> </a:t>
            </a:r>
          </a:p>
        </p:txBody>
      </p:sp>
      <p:sp>
        <p:nvSpPr>
          <p:cNvPr id="22" name="Прямоугольник 21"/>
          <p:cNvSpPr/>
          <p:nvPr/>
        </p:nvSpPr>
        <p:spPr>
          <a:xfrm>
            <a:off x="7581137" y="5087348"/>
            <a:ext cx="4270591" cy="461665"/>
          </a:xfrm>
          <a:prstGeom prst="rect">
            <a:avLst/>
          </a:prstGeom>
        </p:spPr>
        <p:txBody>
          <a:bodyPr wrap="square">
            <a:spAutoFit/>
          </a:bodyPr>
          <a:lstStyle/>
          <a:p>
            <a:r>
              <a:rPr lang="ru-RU" dirty="0"/>
              <a:t>Заметим, что</a:t>
            </a:r>
            <a:r>
              <a:rPr lang="ru-RU" i="1" dirty="0"/>
              <a:t> </a:t>
            </a:r>
            <a:r>
              <a:rPr lang="en-US" i="1" dirty="0"/>
              <a:t>p{</a:t>
            </a:r>
            <a:r>
              <a:rPr lang="ru-RU" i="1" dirty="0" err="1"/>
              <a:t>ош</a:t>
            </a:r>
            <a:r>
              <a:rPr lang="ru-RU" i="1" dirty="0"/>
              <a:t> 2 рода</a:t>
            </a:r>
            <a:r>
              <a:rPr lang="en-US" i="1" dirty="0"/>
              <a:t>}</a:t>
            </a:r>
            <a:r>
              <a:rPr lang="ru-RU" i="1" dirty="0"/>
              <a:t>=</a:t>
            </a:r>
            <a:r>
              <a:rPr lang="el-GR" i="1" dirty="0">
                <a:latin typeface="Times New Roman" panose="02020603050405020304" pitchFamily="18" charset="0"/>
                <a:cs typeface="Times New Roman" panose="02020603050405020304" pitchFamily="18" charset="0"/>
              </a:rPr>
              <a:t> </a:t>
            </a:r>
            <a:r>
              <a:rPr lang="el-GR" sz="2400" i="1" dirty="0">
                <a:latin typeface="Times New Roman" panose="02020603050405020304" pitchFamily="18" charset="0"/>
                <a:cs typeface="Times New Roman" panose="02020603050405020304" pitchFamily="18" charset="0"/>
              </a:rPr>
              <a:t>β</a:t>
            </a:r>
            <a:r>
              <a:rPr lang="ru-RU" i="1" dirty="0"/>
              <a:t> </a:t>
            </a:r>
          </a:p>
        </p:txBody>
      </p:sp>
      <p:sp>
        <p:nvSpPr>
          <p:cNvPr id="7" name="Номер слайда 6"/>
          <p:cNvSpPr>
            <a:spLocks noGrp="1"/>
          </p:cNvSpPr>
          <p:nvPr>
            <p:ph type="sldNum" sz="quarter" idx="12"/>
          </p:nvPr>
        </p:nvSpPr>
        <p:spPr/>
        <p:txBody>
          <a:bodyPr/>
          <a:lstStyle/>
          <a:p>
            <a:fld id="{952B6C0E-C4B9-4094-8E59-5B7DF00D5415}" type="slidenum">
              <a:rPr lang="ru-RU" smtClean="0">
                <a:solidFill>
                  <a:schemeClr val="tx1"/>
                </a:solidFill>
              </a:rPr>
              <a:t>65</a:t>
            </a:fld>
            <a:endParaRPr lang="ru-RU">
              <a:solidFill>
                <a:schemeClr val="tx1"/>
              </a:solidFill>
            </a:endParaRPr>
          </a:p>
        </p:txBody>
      </p:sp>
    </p:spTree>
    <p:extLst>
      <p:ext uri="{BB962C8B-B14F-4D97-AF65-F5344CB8AC3E}">
        <p14:creationId xmlns:p14="http://schemas.microsoft.com/office/powerpoint/2010/main" val="9811252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4"/>
          <p:cNvSpPr>
            <a:spLocks noChangeArrowheads="1"/>
          </p:cNvSpPr>
          <p:nvPr/>
        </p:nvSpPr>
        <p:spPr bwMode="auto">
          <a:xfrm>
            <a:off x="817565" y="322263"/>
            <a:ext cx="11637240" cy="6553200"/>
          </a:xfrm>
          <a:prstGeom prst="roundRect">
            <a:avLst>
              <a:gd name="adj" fmla="val 16667"/>
            </a:avLst>
          </a:prstGeom>
          <a:solidFill>
            <a:schemeClr val="bg1">
              <a:alpha val="50195"/>
            </a:scheme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5" name="AutoShape 5"/>
          <p:cNvSpPr>
            <a:spLocks noChangeArrowheads="1"/>
          </p:cNvSpPr>
          <p:nvPr/>
        </p:nvSpPr>
        <p:spPr bwMode="auto">
          <a:xfrm>
            <a:off x="2373685" y="322263"/>
            <a:ext cx="8064128" cy="1195700"/>
          </a:xfrm>
          <a:prstGeom prst="roundRect">
            <a:avLst>
              <a:gd name="adj" fmla="val 37469"/>
            </a:avLst>
          </a:prstGeom>
          <a:solidFill>
            <a:srgbClr val="FFFFFF">
              <a:alpha val="78822"/>
            </a:srgb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2" name="Заголовок 1"/>
          <p:cNvSpPr txBox="1">
            <a:spLocks noGrp="1"/>
          </p:cNvSpPr>
          <p:nvPr>
            <p:ph type="title" idx="4294967295"/>
          </p:nvPr>
        </p:nvSpPr>
        <p:spPr>
          <a:xfrm>
            <a:off x="1941253" y="396307"/>
            <a:ext cx="8928991" cy="754062"/>
          </a:xfrm>
          <a:prstGeom prst="rect">
            <a:avLst/>
          </a:prstGeom>
        </p:spPr>
        <p:txBody>
          <a:bodyPr wrap="square">
            <a:noAutofit/>
          </a:bodyPr>
          <a:lstStyle/>
          <a:p>
            <a:pPr lvl="0"/>
            <a:r>
              <a:rPr lang="ru-RU" sz="3600" dirty="0"/>
              <a:t>Напоминание из теории вероятностей</a:t>
            </a:r>
          </a:p>
        </p:txBody>
      </p:sp>
      <p:sp>
        <p:nvSpPr>
          <p:cNvPr id="3" name="Текст 2"/>
          <p:cNvSpPr txBox="1">
            <a:spLocks noGrp="1"/>
          </p:cNvSpPr>
          <p:nvPr>
            <p:ph type="body" idx="4294967295"/>
          </p:nvPr>
        </p:nvSpPr>
        <p:spPr>
          <a:xfrm>
            <a:off x="1005533" y="2184910"/>
            <a:ext cx="10828560" cy="4175125"/>
          </a:xfrm>
          <a:prstGeom prst="rect">
            <a:avLst/>
          </a:prstGeom>
        </p:spPr>
        <p:txBody>
          <a:bodyPr wrap="square"/>
          <a:lstStyle/>
          <a:p>
            <a:pPr marL="447675" indent="-447675">
              <a:buClr>
                <a:srgbClr val="CC9900"/>
              </a:buClr>
              <a:buSzPct val="65000"/>
              <a:buFont typeface="Wingdings" pitchFamily="2"/>
              <a:buChar char=""/>
              <a:tabLst>
                <a:tab pos="354013" algn="l"/>
                <a:tab pos="576263" algn="l"/>
                <a:tab pos="1042988" algn="l"/>
                <a:tab pos="1509713" algn="l"/>
                <a:tab pos="1976438" algn="l"/>
                <a:tab pos="2443163" algn="l"/>
                <a:tab pos="2909888" algn="l"/>
                <a:tab pos="3378200" algn="l"/>
                <a:tab pos="3844925" algn="l"/>
                <a:tab pos="4311650" algn="l"/>
                <a:tab pos="4778375" algn="l"/>
                <a:tab pos="5245100" algn="l"/>
                <a:tab pos="5711825" algn="l"/>
                <a:tab pos="6178550" algn="l"/>
                <a:tab pos="6645275" algn="l"/>
                <a:tab pos="7112000" algn="l"/>
                <a:tab pos="7578725" algn="l"/>
                <a:tab pos="8045450" algn="l"/>
                <a:tab pos="8512175" algn="l"/>
                <a:tab pos="8978900" algn="l"/>
              </a:tabLst>
            </a:pPr>
            <a:r>
              <a:rPr lang="ru-RU" sz="2800" dirty="0"/>
              <a:t>Среднее арифметическое </a:t>
            </a:r>
            <a:r>
              <a:rPr lang="en-US" sz="2800" dirty="0"/>
              <a:t>n</a:t>
            </a:r>
            <a:r>
              <a:rPr lang="ru-RU" sz="2800" dirty="0"/>
              <a:t> независимых одинаково распределенных случайных величин с общим нормальным распределением </a:t>
            </a:r>
            <a:r>
              <a:rPr lang="en-US" sz="2800" dirty="0"/>
              <a:t>N(a, b) </a:t>
            </a:r>
            <a:r>
              <a:rPr lang="ru-RU" sz="2800" dirty="0"/>
              <a:t>имеет нормальное распределение </a:t>
            </a:r>
            <a:r>
              <a:rPr lang="en-US" sz="2800" dirty="0"/>
              <a:t>N(a, b/n)</a:t>
            </a:r>
            <a:endParaRPr lang="ru-RU" sz="2800" dirty="0"/>
          </a:p>
          <a:p>
            <a:pPr marL="447675" indent="-447675">
              <a:buClr>
                <a:srgbClr val="CC9900"/>
              </a:buClr>
              <a:buSzPct val="65000"/>
              <a:buFont typeface="Wingdings" pitchFamily="2"/>
              <a:buChar char=""/>
              <a:tabLst>
                <a:tab pos="354013" algn="l"/>
                <a:tab pos="576263" algn="l"/>
                <a:tab pos="1042988" algn="l"/>
                <a:tab pos="1509713" algn="l"/>
                <a:tab pos="1976438" algn="l"/>
                <a:tab pos="2443163" algn="l"/>
                <a:tab pos="2909888" algn="l"/>
                <a:tab pos="3378200" algn="l"/>
                <a:tab pos="3844925" algn="l"/>
                <a:tab pos="4311650" algn="l"/>
                <a:tab pos="4778375" algn="l"/>
                <a:tab pos="5245100" algn="l"/>
                <a:tab pos="5711825" algn="l"/>
                <a:tab pos="6178550" algn="l"/>
                <a:tab pos="6645275" algn="l"/>
                <a:tab pos="7112000" algn="l"/>
                <a:tab pos="7578725" algn="l"/>
                <a:tab pos="8045450" algn="l"/>
                <a:tab pos="8512175" algn="l"/>
                <a:tab pos="8978900" algn="l"/>
              </a:tabLst>
            </a:pPr>
            <a:r>
              <a:rPr lang="ru-RU" sz="2800" dirty="0"/>
              <a:t>Чем больше наблюдений, тем меньше дисперсия и тем меньше ошибка второго рода.</a:t>
            </a:r>
            <a:endParaRPr lang="en-US" sz="2800" dirty="0"/>
          </a:p>
        </p:txBody>
      </p:sp>
      <p:sp>
        <p:nvSpPr>
          <p:cNvPr id="7" name="Номер слайда 6"/>
          <p:cNvSpPr>
            <a:spLocks noGrp="1"/>
          </p:cNvSpPr>
          <p:nvPr>
            <p:ph type="sldNum" sz="quarter" idx="12"/>
          </p:nvPr>
        </p:nvSpPr>
        <p:spPr>
          <a:xfrm>
            <a:off x="11430340" y="6614320"/>
            <a:ext cx="1024465" cy="379409"/>
          </a:xfrm>
        </p:spPr>
        <p:txBody>
          <a:bodyPr/>
          <a:lstStyle/>
          <a:p>
            <a:fld id="{952B6C0E-C4B9-4094-8E59-5B7DF00D5415}" type="slidenum">
              <a:rPr lang="ru-RU" smtClean="0">
                <a:solidFill>
                  <a:schemeClr val="tx1"/>
                </a:solidFill>
              </a:rPr>
              <a:t>66</a:t>
            </a:fld>
            <a:endParaRPr lang="ru-RU" dirty="0">
              <a:solidFill>
                <a:schemeClr val="tx1"/>
              </a:solidFill>
            </a:endParaRPr>
          </a:p>
        </p:txBody>
      </p:sp>
    </p:spTree>
    <p:extLst>
      <p:ext uri="{BB962C8B-B14F-4D97-AF65-F5344CB8AC3E}">
        <p14:creationId xmlns:p14="http://schemas.microsoft.com/office/powerpoint/2010/main" val="39869892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Группа 3">
            <a:extLst>
              <a:ext uri="{FF2B5EF4-FFF2-40B4-BE49-F238E27FC236}">
                <a16:creationId xmlns:a16="http://schemas.microsoft.com/office/drawing/2014/main" id="{01279146-CCA9-4087-9732-3932C577022F}"/>
              </a:ext>
            </a:extLst>
          </p:cNvPr>
          <p:cNvGrpSpPr/>
          <p:nvPr/>
        </p:nvGrpSpPr>
        <p:grpSpPr>
          <a:xfrm>
            <a:off x="1797621" y="2274328"/>
            <a:ext cx="9329738" cy="1287463"/>
            <a:chOff x="1868488" y="3140076"/>
            <a:chExt cx="9329738" cy="1287463"/>
          </a:xfrm>
        </p:grpSpPr>
        <p:sp>
          <p:nvSpPr>
            <p:cNvPr id="212999" name="AutoShape 7"/>
            <p:cNvSpPr>
              <a:spLocks noChangeArrowheads="1"/>
            </p:cNvSpPr>
            <p:nvPr/>
          </p:nvSpPr>
          <p:spPr bwMode="auto">
            <a:xfrm>
              <a:off x="1868488" y="3140076"/>
              <a:ext cx="9329738" cy="1287463"/>
            </a:xfrm>
            <a:prstGeom prst="roundRect">
              <a:avLst>
                <a:gd name="adj" fmla="val 16667"/>
              </a:avLst>
            </a:prstGeom>
            <a:solidFill>
              <a:srgbClr val="464646">
                <a:alpha val="50000"/>
              </a:srgb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9441" tIns="49721" rIns="99441" bIns="49721" anchor="ctr"/>
            <a:lstStyle>
              <a:lvl1pPr marL="982663" defTabSz="993775">
                <a:defRPr>
                  <a:solidFill>
                    <a:schemeClr val="tx1"/>
                  </a:solidFill>
                  <a:latin typeface="Arial" panose="020B0604020202020204" pitchFamily="34" charset="0"/>
                </a:defRPr>
              </a:lvl1pPr>
              <a:lvl2pPr marL="1177925" defTabSz="993775">
                <a:defRPr>
                  <a:solidFill>
                    <a:schemeClr val="tx1"/>
                  </a:solidFill>
                  <a:latin typeface="Arial" panose="020B0604020202020204" pitchFamily="34" charset="0"/>
                </a:defRPr>
              </a:lvl2pPr>
              <a:lvl3pPr marL="1373188" defTabSz="993775">
                <a:defRPr>
                  <a:solidFill>
                    <a:schemeClr val="tx1"/>
                  </a:solidFill>
                  <a:latin typeface="Arial" panose="020B0604020202020204" pitchFamily="34" charset="0"/>
                </a:defRPr>
              </a:lvl3pPr>
              <a:lvl4pPr marL="1566863" defTabSz="993775">
                <a:defRPr>
                  <a:solidFill>
                    <a:schemeClr val="tx1"/>
                  </a:solidFill>
                  <a:latin typeface="Arial" panose="020B0604020202020204" pitchFamily="34" charset="0"/>
                </a:defRPr>
              </a:lvl4pPr>
              <a:lvl5pPr marL="1989138" defTabSz="993775">
                <a:defRPr>
                  <a:solidFill>
                    <a:schemeClr val="tx1"/>
                  </a:solidFill>
                  <a:latin typeface="Arial" panose="020B0604020202020204" pitchFamily="34" charset="0"/>
                </a:defRPr>
              </a:lvl5pPr>
              <a:lvl6pPr marL="2446338" defTabSz="993775" fontAlgn="base">
                <a:spcBef>
                  <a:spcPct val="0"/>
                </a:spcBef>
                <a:spcAft>
                  <a:spcPct val="0"/>
                </a:spcAft>
                <a:defRPr>
                  <a:solidFill>
                    <a:schemeClr val="tx1"/>
                  </a:solidFill>
                  <a:latin typeface="Arial" panose="020B0604020202020204" pitchFamily="34" charset="0"/>
                </a:defRPr>
              </a:lvl6pPr>
              <a:lvl7pPr marL="2903538" defTabSz="993775" fontAlgn="base">
                <a:spcBef>
                  <a:spcPct val="0"/>
                </a:spcBef>
                <a:spcAft>
                  <a:spcPct val="0"/>
                </a:spcAft>
                <a:defRPr>
                  <a:solidFill>
                    <a:schemeClr val="tx1"/>
                  </a:solidFill>
                  <a:latin typeface="Arial" panose="020B0604020202020204" pitchFamily="34" charset="0"/>
                </a:defRPr>
              </a:lvl7pPr>
              <a:lvl8pPr marL="3360738" defTabSz="993775" fontAlgn="base">
                <a:spcBef>
                  <a:spcPct val="0"/>
                </a:spcBef>
                <a:spcAft>
                  <a:spcPct val="0"/>
                </a:spcAft>
                <a:defRPr>
                  <a:solidFill>
                    <a:schemeClr val="tx1"/>
                  </a:solidFill>
                  <a:latin typeface="Arial" panose="020B0604020202020204" pitchFamily="34" charset="0"/>
                </a:defRPr>
              </a:lvl8pPr>
              <a:lvl9pPr marL="3817938" defTabSz="993775" fontAlgn="base">
                <a:spcBef>
                  <a:spcPct val="0"/>
                </a:spcBef>
                <a:spcAft>
                  <a:spcPct val="0"/>
                </a:spcAft>
                <a:defRPr>
                  <a:solidFill>
                    <a:schemeClr val="tx1"/>
                  </a:solidFill>
                  <a:latin typeface="Arial" panose="020B0604020202020204" pitchFamily="34" charset="0"/>
                </a:defRPr>
              </a:lvl9pPr>
            </a:lstStyle>
            <a:p>
              <a:endParaRPr lang="ru-RU" altLang="ru-RU" sz="3500">
                <a:solidFill>
                  <a:schemeClr val="bg1"/>
                </a:solidFill>
              </a:endParaRPr>
            </a:p>
          </p:txBody>
        </p:sp>
        <p:sp>
          <p:nvSpPr>
            <p:cNvPr id="213000" name="AutoShape 8"/>
            <p:cNvSpPr>
              <a:spLocks noChangeArrowheads="1"/>
            </p:cNvSpPr>
            <p:nvPr/>
          </p:nvSpPr>
          <p:spPr bwMode="auto">
            <a:xfrm>
              <a:off x="2225676" y="3362326"/>
              <a:ext cx="596900" cy="854075"/>
            </a:xfrm>
            <a:prstGeom prst="roundRect">
              <a:avLst>
                <a:gd name="adj" fmla="val 16667"/>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9441" tIns="49721" rIns="99441" bIns="49721" anchor="ctr"/>
            <a:lstStyle>
              <a:lvl1pPr defTabSz="993775">
                <a:defRPr>
                  <a:solidFill>
                    <a:schemeClr val="tx1"/>
                  </a:solidFill>
                  <a:latin typeface="Arial" panose="020B0604020202020204" pitchFamily="34" charset="0"/>
                </a:defRPr>
              </a:lvl1pPr>
              <a:lvl2pPr marL="496888" defTabSz="993775">
                <a:defRPr>
                  <a:solidFill>
                    <a:schemeClr val="tx1"/>
                  </a:solidFill>
                  <a:latin typeface="Arial" panose="020B0604020202020204" pitchFamily="34" charset="0"/>
                </a:defRPr>
              </a:lvl2pPr>
              <a:lvl3pPr marL="993775" defTabSz="993775">
                <a:defRPr>
                  <a:solidFill>
                    <a:schemeClr val="tx1"/>
                  </a:solidFill>
                  <a:latin typeface="Arial" panose="020B0604020202020204" pitchFamily="34" charset="0"/>
                </a:defRPr>
              </a:lvl3pPr>
              <a:lvl4pPr marL="1492250" defTabSz="993775">
                <a:defRPr>
                  <a:solidFill>
                    <a:schemeClr val="tx1"/>
                  </a:solidFill>
                  <a:latin typeface="Arial" panose="020B0604020202020204" pitchFamily="34" charset="0"/>
                </a:defRPr>
              </a:lvl4pPr>
              <a:lvl5pPr marL="1989138" defTabSz="993775">
                <a:defRPr>
                  <a:solidFill>
                    <a:schemeClr val="tx1"/>
                  </a:solidFill>
                  <a:latin typeface="Arial" panose="020B0604020202020204" pitchFamily="34" charset="0"/>
                </a:defRPr>
              </a:lvl5pPr>
              <a:lvl6pPr marL="2446338" defTabSz="993775" fontAlgn="base">
                <a:spcBef>
                  <a:spcPct val="0"/>
                </a:spcBef>
                <a:spcAft>
                  <a:spcPct val="0"/>
                </a:spcAft>
                <a:defRPr>
                  <a:solidFill>
                    <a:schemeClr val="tx1"/>
                  </a:solidFill>
                  <a:latin typeface="Arial" panose="020B0604020202020204" pitchFamily="34" charset="0"/>
                </a:defRPr>
              </a:lvl6pPr>
              <a:lvl7pPr marL="2903538" defTabSz="993775" fontAlgn="base">
                <a:spcBef>
                  <a:spcPct val="0"/>
                </a:spcBef>
                <a:spcAft>
                  <a:spcPct val="0"/>
                </a:spcAft>
                <a:defRPr>
                  <a:solidFill>
                    <a:schemeClr val="tx1"/>
                  </a:solidFill>
                  <a:latin typeface="Arial" panose="020B0604020202020204" pitchFamily="34" charset="0"/>
                </a:defRPr>
              </a:lvl7pPr>
              <a:lvl8pPr marL="3360738" defTabSz="993775" fontAlgn="base">
                <a:spcBef>
                  <a:spcPct val="0"/>
                </a:spcBef>
                <a:spcAft>
                  <a:spcPct val="0"/>
                </a:spcAft>
                <a:defRPr>
                  <a:solidFill>
                    <a:schemeClr val="tx1"/>
                  </a:solidFill>
                  <a:latin typeface="Arial" panose="020B0604020202020204" pitchFamily="34" charset="0"/>
                </a:defRPr>
              </a:lvl8pPr>
              <a:lvl9pPr marL="3817938" defTabSz="993775" fontAlgn="base">
                <a:spcBef>
                  <a:spcPct val="0"/>
                </a:spcBef>
                <a:spcAft>
                  <a:spcPct val="0"/>
                </a:spcAft>
                <a:defRPr>
                  <a:solidFill>
                    <a:schemeClr val="tx1"/>
                  </a:solidFill>
                  <a:latin typeface="Arial" panose="020B0604020202020204" pitchFamily="34" charset="0"/>
                </a:defRPr>
              </a:lvl9pPr>
            </a:lstStyle>
            <a:p>
              <a:pPr algn="ctr"/>
              <a:r>
                <a:rPr lang="ru-RU" altLang="ru-RU" sz="3000" b="1" dirty="0">
                  <a:solidFill>
                    <a:schemeClr val="bg1"/>
                  </a:solidFill>
                </a:rPr>
                <a:t>3</a:t>
              </a:r>
            </a:p>
          </p:txBody>
        </p:sp>
        <p:sp>
          <p:nvSpPr>
            <p:cNvPr id="5" name="AutoShape 27"/>
            <p:cNvSpPr>
              <a:spLocks noChangeArrowheads="1"/>
            </p:cNvSpPr>
            <p:nvPr/>
          </p:nvSpPr>
          <p:spPr bwMode="auto">
            <a:xfrm>
              <a:off x="3169057" y="3162045"/>
              <a:ext cx="6680284" cy="1179704"/>
            </a:xfrm>
            <a:prstGeom prst="roundRect">
              <a:avLst>
                <a:gd name="adj" fmla="val 16667"/>
              </a:avLst>
            </a:prstGeom>
            <a:noFill/>
            <a:ln>
              <a:noFill/>
            </a:ln>
            <a:effectLst/>
            <a:extLst>
              <a:ext uri="{909E8E84-426E-40DD-AFC4-6F175D3DCCD1}">
                <a14:hiddenFill xmlns:a14="http://schemas.microsoft.com/office/drawing/2010/main">
                  <a:solidFill>
                    <a:srgbClr val="464646">
                      <a:alpha val="50000"/>
                    </a:srgbClr>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9441" tIns="49721" rIns="99441" bIns="49721" anchor="ctr"/>
            <a:lstStyle>
              <a:lvl1pPr marL="982663" defTabSz="993775">
                <a:defRPr>
                  <a:solidFill>
                    <a:schemeClr val="tx1"/>
                  </a:solidFill>
                  <a:latin typeface="Arial" panose="020B0604020202020204" pitchFamily="34" charset="0"/>
                </a:defRPr>
              </a:lvl1pPr>
              <a:lvl2pPr marL="1177925" defTabSz="993775">
                <a:defRPr>
                  <a:solidFill>
                    <a:schemeClr val="tx1"/>
                  </a:solidFill>
                  <a:latin typeface="Arial" panose="020B0604020202020204" pitchFamily="34" charset="0"/>
                </a:defRPr>
              </a:lvl2pPr>
              <a:lvl3pPr marL="1373188" defTabSz="993775">
                <a:defRPr>
                  <a:solidFill>
                    <a:schemeClr val="tx1"/>
                  </a:solidFill>
                  <a:latin typeface="Arial" panose="020B0604020202020204" pitchFamily="34" charset="0"/>
                </a:defRPr>
              </a:lvl3pPr>
              <a:lvl4pPr marL="1566863" defTabSz="993775">
                <a:defRPr>
                  <a:solidFill>
                    <a:schemeClr val="tx1"/>
                  </a:solidFill>
                  <a:latin typeface="Arial" panose="020B0604020202020204" pitchFamily="34" charset="0"/>
                </a:defRPr>
              </a:lvl4pPr>
              <a:lvl5pPr marL="1989138" defTabSz="993775">
                <a:defRPr>
                  <a:solidFill>
                    <a:schemeClr val="tx1"/>
                  </a:solidFill>
                  <a:latin typeface="Arial" panose="020B0604020202020204" pitchFamily="34" charset="0"/>
                </a:defRPr>
              </a:lvl5pPr>
              <a:lvl6pPr marL="2446338" defTabSz="993775" fontAlgn="base">
                <a:spcBef>
                  <a:spcPct val="0"/>
                </a:spcBef>
                <a:spcAft>
                  <a:spcPct val="0"/>
                </a:spcAft>
                <a:defRPr>
                  <a:solidFill>
                    <a:schemeClr val="tx1"/>
                  </a:solidFill>
                  <a:latin typeface="Arial" panose="020B0604020202020204" pitchFamily="34" charset="0"/>
                </a:defRPr>
              </a:lvl6pPr>
              <a:lvl7pPr marL="2903538" defTabSz="993775" fontAlgn="base">
                <a:spcBef>
                  <a:spcPct val="0"/>
                </a:spcBef>
                <a:spcAft>
                  <a:spcPct val="0"/>
                </a:spcAft>
                <a:defRPr>
                  <a:solidFill>
                    <a:schemeClr val="tx1"/>
                  </a:solidFill>
                  <a:latin typeface="Arial" panose="020B0604020202020204" pitchFamily="34" charset="0"/>
                </a:defRPr>
              </a:lvl7pPr>
              <a:lvl8pPr marL="3360738" defTabSz="993775" fontAlgn="base">
                <a:spcBef>
                  <a:spcPct val="0"/>
                </a:spcBef>
                <a:spcAft>
                  <a:spcPct val="0"/>
                </a:spcAft>
                <a:defRPr>
                  <a:solidFill>
                    <a:schemeClr val="tx1"/>
                  </a:solidFill>
                  <a:latin typeface="Arial" panose="020B0604020202020204" pitchFamily="34" charset="0"/>
                </a:defRPr>
              </a:lvl8pPr>
              <a:lvl9pPr marL="3817938" defTabSz="993775" fontAlgn="base">
                <a:spcBef>
                  <a:spcPct val="0"/>
                </a:spcBef>
                <a:spcAft>
                  <a:spcPct val="0"/>
                </a:spcAft>
                <a:defRPr>
                  <a:solidFill>
                    <a:schemeClr val="tx1"/>
                  </a:solidFill>
                  <a:latin typeface="Arial" panose="020B0604020202020204" pitchFamily="34" charset="0"/>
                </a:defRPr>
              </a:lvl9pPr>
            </a:lstStyle>
            <a:p>
              <a:pPr marL="0" algn="ctr"/>
              <a:r>
                <a:rPr lang="ru-RU" sz="4400" dirty="0">
                  <a:solidFill>
                    <a:schemeClr val="bg1"/>
                  </a:solidFill>
                </a:rPr>
                <a:t>Дополнительные условия </a:t>
              </a:r>
            </a:p>
            <a:p>
              <a:pPr marL="0" algn="ctr"/>
              <a:r>
                <a:rPr lang="ru-RU" sz="4400" dirty="0">
                  <a:solidFill>
                    <a:schemeClr val="bg1"/>
                  </a:solidFill>
                </a:rPr>
                <a:t>проверки гипотез</a:t>
              </a:r>
            </a:p>
          </p:txBody>
        </p:sp>
      </p:grpSp>
      <p:sp>
        <p:nvSpPr>
          <p:cNvPr id="2" name="Номер слайда 1"/>
          <p:cNvSpPr>
            <a:spLocks noGrp="1"/>
          </p:cNvSpPr>
          <p:nvPr>
            <p:ph type="sldNum" sz="quarter" idx="12"/>
          </p:nvPr>
        </p:nvSpPr>
        <p:spPr>
          <a:xfrm>
            <a:off x="11662717" y="6587480"/>
            <a:ext cx="736433" cy="379409"/>
          </a:xfrm>
        </p:spPr>
        <p:txBody>
          <a:bodyPr/>
          <a:lstStyle/>
          <a:p>
            <a:fld id="{952B6C0E-C4B9-4094-8E59-5B7DF00D5415}" type="slidenum">
              <a:rPr lang="ru-RU" smtClean="0">
                <a:solidFill>
                  <a:schemeClr val="tx1"/>
                </a:solidFill>
              </a:rPr>
              <a:t>67</a:t>
            </a:fld>
            <a:endParaRPr lang="ru-RU" dirty="0">
              <a:solidFill>
                <a:schemeClr val="tx1"/>
              </a:solidFill>
            </a:endParaRPr>
          </a:p>
        </p:txBody>
      </p:sp>
      <p:sp>
        <p:nvSpPr>
          <p:cNvPr id="7" name="TextBox 6">
            <a:extLst>
              <a:ext uri="{FF2B5EF4-FFF2-40B4-BE49-F238E27FC236}">
                <a16:creationId xmlns:a16="http://schemas.microsoft.com/office/drawing/2014/main" id="{738EF524-E030-4A26-9DE4-D46D2ECED497}"/>
              </a:ext>
            </a:extLst>
          </p:cNvPr>
          <p:cNvSpPr txBox="1"/>
          <p:nvPr/>
        </p:nvSpPr>
        <p:spPr>
          <a:xfrm>
            <a:off x="1869629" y="3995192"/>
            <a:ext cx="8640960" cy="1323439"/>
          </a:xfrm>
          <a:prstGeom prst="rect">
            <a:avLst/>
          </a:prstGeom>
          <a:noFill/>
        </p:spPr>
        <p:txBody>
          <a:bodyPr wrap="square">
            <a:spAutoFit/>
          </a:bodyPr>
          <a:lstStyle/>
          <a:p>
            <a:r>
              <a:rPr lang="ru-RU" sz="2000" dirty="0">
                <a:solidFill>
                  <a:srgbClr val="FF0000"/>
                </a:solidFill>
              </a:rPr>
              <a:t>Внимание!</a:t>
            </a:r>
            <a:r>
              <a:rPr lang="ru-RU" sz="2000" dirty="0"/>
              <a:t> </a:t>
            </a:r>
          </a:p>
          <a:p>
            <a:r>
              <a:rPr lang="ru-RU" sz="2000" dirty="0"/>
              <a:t>Прежде, чем перейти к применению тестов на проверку гипотезы, необходимо провести предварительное исследование: </a:t>
            </a:r>
            <a:r>
              <a:rPr lang="ru-RU" sz="2000" b="1" dirty="0"/>
              <a:t>какой тест подходит для оценки ваших данных</a:t>
            </a:r>
            <a:endParaRPr lang="ru-RU" b="1" dirty="0"/>
          </a:p>
        </p:txBody>
      </p:sp>
    </p:spTree>
    <p:extLst>
      <p:ext uri="{BB962C8B-B14F-4D97-AF65-F5344CB8AC3E}">
        <p14:creationId xmlns:p14="http://schemas.microsoft.com/office/powerpoint/2010/main" val="18886808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999" name="AutoShape 7"/>
          <p:cNvSpPr>
            <a:spLocks noChangeArrowheads="1"/>
          </p:cNvSpPr>
          <p:nvPr/>
        </p:nvSpPr>
        <p:spPr bwMode="auto">
          <a:xfrm>
            <a:off x="1649180" y="1906961"/>
            <a:ext cx="9329738" cy="1287463"/>
          </a:xfrm>
          <a:prstGeom prst="roundRect">
            <a:avLst>
              <a:gd name="adj" fmla="val 16667"/>
            </a:avLst>
          </a:prstGeom>
          <a:solidFill>
            <a:srgbClr val="464646">
              <a:alpha val="50000"/>
            </a:srgb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9441" tIns="49721" rIns="99441" bIns="49721" anchor="ctr"/>
          <a:lstStyle>
            <a:lvl1pPr marL="982663" defTabSz="993775">
              <a:defRPr>
                <a:solidFill>
                  <a:schemeClr val="tx1"/>
                </a:solidFill>
                <a:latin typeface="Arial" panose="020B0604020202020204" pitchFamily="34" charset="0"/>
              </a:defRPr>
            </a:lvl1pPr>
            <a:lvl2pPr marL="1177925" defTabSz="993775">
              <a:defRPr>
                <a:solidFill>
                  <a:schemeClr val="tx1"/>
                </a:solidFill>
                <a:latin typeface="Arial" panose="020B0604020202020204" pitchFamily="34" charset="0"/>
              </a:defRPr>
            </a:lvl2pPr>
            <a:lvl3pPr marL="1373188" defTabSz="993775">
              <a:defRPr>
                <a:solidFill>
                  <a:schemeClr val="tx1"/>
                </a:solidFill>
                <a:latin typeface="Arial" panose="020B0604020202020204" pitchFamily="34" charset="0"/>
              </a:defRPr>
            </a:lvl3pPr>
            <a:lvl4pPr marL="1566863" defTabSz="993775">
              <a:defRPr>
                <a:solidFill>
                  <a:schemeClr val="tx1"/>
                </a:solidFill>
                <a:latin typeface="Arial" panose="020B0604020202020204" pitchFamily="34" charset="0"/>
              </a:defRPr>
            </a:lvl4pPr>
            <a:lvl5pPr marL="1989138" defTabSz="993775">
              <a:defRPr>
                <a:solidFill>
                  <a:schemeClr val="tx1"/>
                </a:solidFill>
                <a:latin typeface="Arial" panose="020B0604020202020204" pitchFamily="34" charset="0"/>
              </a:defRPr>
            </a:lvl5pPr>
            <a:lvl6pPr marL="2446338" defTabSz="993775" fontAlgn="base">
              <a:spcBef>
                <a:spcPct val="0"/>
              </a:spcBef>
              <a:spcAft>
                <a:spcPct val="0"/>
              </a:spcAft>
              <a:defRPr>
                <a:solidFill>
                  <a:schemeClr val="tx1"/>
                </a:solidFill>
                <a:latin typeface="Arial" panose="020B0604020202020204" pitchFamily="34" charset="0"/>
              </a:defRPr>
            </a:lvl6pPr>
            <a:lvl7pPr marL="2903538" defTabSz="993775" fontAlgn="base">
              <a:spcBef>
                <a:spcPct val="0"/>
              </a:spcBef>
              <a:spcAft>
                <a:spcPct val="0"/>
              </a:spcAft>
              <a:defRPr>
                <a:solidFill>
                  <a:schemeClr val="tx1"/>
                </a:solidFill>
                <a:latin typeface="Arial" panose="020B0604020202020204" pitchFamily="34" charset="0"/>
              </a:defRPr>
            </a:lvl7pPr>
            <a:lvl8pPr marL="3360738" defTabSz="993775" fontAlgn="base">
              <a:spcBef>
                <a:spcPct val="0"/>
              </a:spcBef>
              <a:spcAft>
                <a:spcPct val="0"/>
              </a:spcAft>
              <a:defRPr>
                <a:solidFill>
                  <a:schemeClr val="tx1"/>
                </a:solidFill>
                <a:latin typeface="Arial" panose="020B0604020202020204" pitchFamily="34" charset="0"/>
              </a:defRPr>
            </a:lvl8pPr>
            <a:lvl9pPr marL="3817938" defTabSz="993775" fontAlgn="base">
              <a:spcBef>
                <a:spcPct val="0"/>
              </a:spcBef>
              <a:spcAft>
                <a:spcPct val="0"/>
              </a:spcAft>
              <a:defRPr>
                <a:solidFill>
                  <a:schemeClr val="tx1"/>
                </a:solidFill>
                <a:latin typeface="Arial" panose="020B0604020202020204" pitchFamily="34" charset="0"/>
              </a:defRPr>
            </a:lvl9pPr>
          </a:lstStyle>
          <a:p>
            <a:endParaRPr lang="ru-RU" altLang="ru-RU" sz="3500">
              <a:solidFill>
                <a:schemeClr val="bg1"/>
              </a:solidFill>
            </a:endParaRPr>
          </a:p>
        </p:txBody>
      </p:sp>
      <p:sp>
        <p:nvSpPr>
          <p:cNvPr id="213000" name="AutoShape 8"/>
          <p:cNvSpPr>
            <a:spLocks noChangeArrowheads="1"/>
          </p:cNvSpPr>
          <p:nvPr/>
        </p:nvSpPr>
        <p:spPr bwMode="auto">
          <a:xfrm>
            <a:off x="2006368" y="2129211"/>
            <a:ext cx="596900" cy="854075"/>
          </a:xfrm>
          <a:prstGeom prst="roundRect">
            <a:avLst>
              <a:gd name="adj" fmla="val 16667"/>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9441" tIns="49721" rIns="99441" bIns="49721" anchor="ctr"/>
          <a:lstStyle>
            <a:lvl1pPr defTabSz="993775">
              <a:defRPr>
                <a:solidFill>
                  <a:schemeClr val="tx1"/>
                </a:solidFill>
                <a:latin typeface="Arial" panose="020B0604020202020204" pitchFamily="34" charset="0"/>
              </a:defRPr>
            </a:lvl1pPr>
            <a:lvl2pPr marL="496888" defTabSz="993775">
              <a:defRPr>
                <a:solidFill>
                  <a:schemeClr val="tx1"/>
                </a:solidFill>
                <a:latin typeface="Arial" panose="020B0604020202020204" pitchFamily="34" charset="0"/>
              </a:defRPr>
            </a:lvl2pPr>
            <a:lvl3pPr marL="993775" defTabSz="993775">
              <a:defRPr>
                <a:solidFill>
                  <a:schemeClr val="tx1"/>
                </a:solidFill>
                <a:latin typeface="Arial" panose="020B0604020202020204" pitchFamily="34" charset="0"/>
              </a:defRPr>
            </a:lvl3pPr>
            <a:lvl4pPr marL="1492250" defTabSz="993775">
              <a:defRPr>
                <a:solidFill>
                  <a:schemeClr val="tx1"/>
                </a:solidFill>
                <a:latin typeface="Arial" panose="020B0604020202020204" pitchFamily="34" charset="0"/>
              </a:defRPr>
            </a:lvl4pPr>
            <a:lvl5pPr marL="1989138" defTabSz="993775">
              <a:defRPr>
                <a:solidFill>
                  <a:schemeClr val="tx1"/>
                </a:solidFill>
                <a:latin typeface="Arial" panose="020B0604020202020204" pitchFamily="34" charset="0"/>
              </a:defRPr>
            </a:lvl5pPr>
            <a:lvl6pPr marL="2446338" defTabSz="993775" fontAlgn="base">
              <a:spcBef>
                <a:spcPct val="0"/>
              </a:spcBef>
              <a:spcAft>
                <a:spcPct val="0"/>
              </a:spcAft>
              <a:defRPr>
                <a:solidFill>
                  <a:schemeClr val="tx1"/>
                </a:solidFill>
                <a:latin typeface="Arial" panose="020B0604020202020204" pitchFamily="34" charset="0"/>
              </a:defRPr>
            </a:lvl6pPr>
            <a:lvl7pPr marL="2903538" defTabSz="993775" fontAlgn="base">
              <a:spcBef>
                <a:spcPct val="0"/>
              </a:spcBef>
              <a:spcAft>
                <a:spcPct val="0"/>
              </a:spcAft>
              <a:defRPr>
                <a:solidFill>
                  <a:schemeClr val="tx1"/>
                </a:solidFill>
                <a:latin typeface="Arial" panose="020B0604020202020204" pitchFamily="34" charset="0"/>
              </a:defRPr>
            </a:lvl7pPr>
            <a:lvl8pPr marL="3360738" defTabSz="993775" fontAlgn="base">
              <a:spcBef>
                <a:spcPct val="0"/>
              </a:spcBef>
              <a:spcAft>
                <a:spcPct val="0"/>
              </a:spcAft>
              <a:defRPr>
                <a:solidFill>
                  <a:schemeClr val="tx1"/>
                </a:solidFill>
                <a:latin typeface="Arial" panose="020B0604020202020204" pitchFamily="34" charset="0"/>
              </a:defRPr>
            </a:lvl8pPr>
            <a:lvl9pPr marL="3817938" defTabSz="993775" fontAlgn="base">
              <a:spcBef>
                <a:spcPct val="0"/>
              </a:spcBef>
              <a:spcAft>
                <a:spcPct val="0"/>
              </a:spcAft>
              <a:defRPr>
                <a:solidFill>
                  <a:schemeClr val="tx1"/>
                </a:solidFill>
                <a:latin typeface="Arial" panose="020B0604020202020204" pitchFamily="34" charset="0"/>
              </a:defRPr>
            </a:lvl9pPr>
          </a:lstStyle>
          <a:p>
            <a:pPr algn="ctr"/>
            <a:r>
              <a:rPr lang="ru-RU" altLang="ru-RU" sz="3000" b="1" dirty="0">
                <a:solidFill>
                  <a:schemeClr val="bg1"/>
                </a:solidFill>
              </a:rPr>
              <a:t>3</a:t>
            </a:r>
          </a:p>
        </p:txBody>
      </p:sp>
      <p:sp>
        <p:nvSpPr>
          <p:cNvPr id="5" name="AutoShape 27"/>
          <p:cNvSpPr>
            <a:spLocks noChangeArrowheads="1"/>
          </p:cNvSpPr>
          <p:nvPr/>
        </p:nvSpPr>
        <p:spPr bwMode="auto">
          <a:xfrm>
            <a:off x="2949749" y="1928930"/>
            <a:ext cx="6680284" cy="1179704"/>
          </a:xfrm>
          <a:prstGeom prst="roundRect">
            <a:avLst>
              <a:gd name="adj" fmla="val 16667"/>
            </a:avLst>
          </a:prstGeom>
          <a:noFill/>
          <a:ln>
            <a:noFill/>
          </a:ln>
          <a:effectLst/>
          <a:extLst>
            <a:ext uri="{909E8E84-426E-40DD-AFC4-6F175D3DCCD1}">
              <a14:hiddenFill xmlns:a14="http://schemas.microsoft.com/office/drawing/2010/main">
                <a:solidFill>
                  <a:srgbClr val="464646">
                    <a:alpha val="50000"/>
                  </a:srgbClr>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9441" tIns="49721" rIns="99441" bIns="49721" anchor="ctr"/>
          <a:lstStyle>
            <a:lvl1pPr marL="982663" defTabSz="993775">
              <a:defRPr>
                <a:solidFill>
                  <a:schemeClr val="tx1"/>
                </a:solidFill>
                <a:latin typeface="Arial" panose="020B0604020202020204" pitchFamily="34" charset="0"/>
              </a:defRPr>
            </a:lvl1pPr>
            <a:lvl2pPr marL="1177925" defTabSz="993775">
              <a:defRPr>
                <a:solidFill>
                  <a:schemeClr val="tx1"/>
                </a:solidFill>
                <a:latin typeface="Arial" panose="020B0604020202020204" pitchFamily="34" charset="0"/>
              </a:defRPr>
            </a:lvl2pPr>
            <a:lvl3pPr marL="1373188" defTabSz="993775">
              <a:defRPr>
                <a:solidFill>
                  <a:schemeClr val="tx1"/>
                </a:solidFill>
                <a:latin typeface="Arial" panose="020B0604020202020204" pitchFamily="34" charset="0"/>
              </a:defRPr>
            </a:lvl3pPr>
            <a:lvl4pPr marL="1566863" defTabSz="993775">
              <a:defRPr>
                <a:solidFill>
                  <a:schemeClr val="tx1"/>
                </a:solidFill>
                <a:latin typeface="Arial" panose="020B0604020202020204" pitchFamily="34" charset="0"/>
              </a:defRPr>
            </a:lvl4pPr>
            <a:lvl5pPr marL="1989138" defTabSz="993775">
              <a:defRPr>
                <a:solidFill>
                  <a:schemeClr val="tx1"/>
                </a:solidFill>
                <a:latin typeface="Arial" panose="020B0604020202020204" pitchFamily="34" charset="0"/>
              </a:defRPr>
            </a:lvl5pPr>
            <a:lvl6pPr marL="2446338" defTabSz="993775" fontAlgn="base">
              <a:spcBef>
                <a:spcPct val="0"/>
              </a:spcBef>
              <a:spcAft>
                <a:spcPct val="0"/>
              </a:spcAft>
              <a:defRPr>
                <a:solidFill>
                  <a:schemeClr val="tx1"/>
                </a:solidFill>
                <a:latin typeface="Arial" panose="020B0604020202020204" pitchFamily="34" charset="0"/>
              </a:defRPr>
            </a:lvl6pPr>
            <a:lvl7pPr marL="2903538" defTabSz="993775" fontAlgn="base">
              <a:spcBef>
                <a:spcPct val="0"/>
              </a:spcBef>
              <a:spcAft>
                <a:spcPct val="0"/>
              </a:spcAft>
              <a:defRPr>
                <a:solidFill>
                  <a:schemeClr val="tx1"/>
                </a:solidFill>
                <a:latin typeface="Arial" panose="020B0604020202020204" pitchFamily="34" charset="0"/>
              </a:defRPr>
            </a:lvl7pPr>
            <a:lvl8pPr marL="3360738" defTabSz="993775" fontAlgn="base">
              <a:spcBef>
                <a:spcPct val="0"/>
              </a:spcBef>
              <a:spcAft>
                <a:spcPct val="0"/>
              </a:spcAft>
              <a:defRPr>
                <a:solidFill>
                  <a:schemeClr val="tx1"/>
                </a:solidFill>
                <a:latin typeface="Arial" panose="020B0604020202020204" pitchFamily="34" charset="0"/>
              </a:defRPr>
            </a:lvl8pPr>
            <a:lvl9pPr marL="3817938" defTabSz="993775" fontAlgn="base">
              <a:spcBef>
                <a:spcPct val="0"/>
              </a:spcBef>
              <a:spcAft>
                <a:spcPct val="0"/>
              </a:spcAft>
              <a:defRPr>
                <a:solidFill>
                  <a:schemeClr val="tx1"/>
                </a:solidFill>
                <a:latin typeface="Arial" panose="020B0604020202020204" pitchFamily="34" charset="0"/>
              </a:defRPr>
            </a:lvl9pPr>
          </a:lstStyle>
          <a:p>
            <a:pPr marL="0" algn="ctr"/>
            <a:r>
              <a:rPr lang="ru-RU" sz="4400" dirty="0">
                <a:solidFill>
                  <a:schemeClr val="bg1"/>
                </a:solidFill>
              </a:rPr>
              <a:t>Дополнительные условия </a:t>
            </a:r>
          </a:p>
          <a:p>
            <a:pPr marL="0" algn="ctr"/>
            <a:r>
              <a:rPr lang="ru-RU" sz="4400" dirty="0">
                <a:solidFill>
                  <a:schemeClr val="bg1"/>
                </a:solidFill>
              </a:rPr>
              <a:t>проверки гипотез</a:t>
            </a:r>
          </a:p>
        </p:txBody>
      </p:sp>
      <p:sp>
        <p:nvSpPr>
          <p:cNvPr id="7" name="AutoShape 7"/>
          <p:cNvSpPr>
            <a:spLocks noChangeArrowheads="1"/>
          </p:cNvSpPr>
          <p:nvPr/>
        </p:nvSpPr>
        <p:spPr bwMode="auto">
          <a:xfrm>
            <a:off x="2154378" y="3350916"/>
            <a:ext cx="8824541" cy="1076325"/>
          </a:xfrm>
          <a:prstGeom prst="roundRect">
            <a:avLst>
              <a:gd name="adj" fmla="val 16667"/>
            </a:avLst>
          </a:prstGeom>
          <a:solidFill>
            <a:srgbClr val="464646">
              <a:alpha val="50000"/>
            </a:srgb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9441" tIns="49721" rIns="99441" bIns="49721" anchor="ctr"/>
          <a:lstStyle>
            <a:lvl1pPr marL="982663" defTabSz="993775">
              <a:defRPr>
                <a:solidFill>
                  <a:schemeClr val="tx1"/>
                </a:solidFill>
                <a:latin typeface="Arial" panose="020B0604020202020204" pitchFamily="34" charset="0"/>
              </a:defRPr>
            </a:lvl1pPr>
            <a:lvl2pPr marL="1177925" defTabSz="993775">
              <a:defRPr>
                <a:solidFill>
                  <a:schemeClr val="tx1"/>
                </a:solidFill>
                <a:latin typeface="Arial" panose="020B0604020202020204" pitchFamily="34" charset="0"/>
              </a:defRPr>
            </a:lvl2pPr>
            <a:lvl3pPr marL="1373188" defTabSz="993775">
              <a:defRPr>
                <a:solidFill>
                  <a:schemeClr val="tx1"/>
                </a:solidFill>
                <a:latin typeface="Arial" panose="020B0604020202020204" pitchFamily="34" charset="0"/>
              </a:defRPr>
            </a:lvl3pPr>
            <a:lvl4pPr marL="1566863" defTabSz="993775">
              <a:defRPr>
                <a:solidFill>
                  <a:schemeClr val="tx1"/>
                </a:solidFill>
                <a:latin typeface="Arial" panose="020B0604020202020204" pitchFamily="34" charset="0"/>
              </a:defRPr>
            </a:lvl4pPr>
            <a:lvl5pPr marL="1989138" defTabSz="993775">
              <a:defRPr>
                <a:solidFill>
                  <a:schemeClr val="tx1"/>
                </a:solidFill>
                <a:latin typeface="Arial" panose="020B0604020202020204" pitchFamily="34" charset="0"/>
              </a:defRPr>
            </a:lvl5pPr>
            <a:lvl6pPr marL="2446338" defTabSz="993775" fontAlgn="base">
              <a:spcBef>
                <a:spcPct val="0"/>
              </a:spcBef>
              <a:spcAft>
                <a:spcPct val="0"/>
              </a:spcAft>
              <a:defRPr>
                <a:solidFill>
                  <a:schemeClr val="tx1"/>
                </a:solidFill>
                <a:latin typeface="Arial" panose="020B0604020202020204" pitchFamily="34" charset="0"/>
              </a:defRPr>
            </a:lvl6pPr>
            <a:lvl7pPr marL="2903538" defTabSz="993775" fontAlgn="base">
              <a:spcBef>
                <a:spcPct val="0"/>
              </a:spcBef>
              <a:spcAft>
                <a:spcPct val="0"/>
              </a:spcAft>
              <a:defRPr>
                <a:solidFill>
                  <a:schemeClr val="tx1"/>
                </a:solidFill>
                <a:latin typeface="Arial" panose="020B0604020202020204" pitchFamily="34" charset="0"/>
              </a:defRPr>
            </a:lvl7pPr>
            <a:lvl8pPr marL="3360738" defTabSz="993775" fontAlgn="base">
              <a:spcBef>
                <a:spcPct val="0"/>
              </a:spcBef>
              <a:spcAft>
                <a:spcPct val="0"/>
              </a:spcAft>
              <a:defRPr>
                <a:solidFill>
                  <a:schemeClr val="tx1"/>
                </a:solidFill>
                <a:latin typeface="Arial" panose="020B0604020202020204" pitchFamily="34" charset="0"/>
              </a:defRPr>
            </a:lvl8pPr>
            <a:lvl9pPr marL="3817938" defTabSz="993775" fontAlgn="base">
              <a:spcBef>
                <a:spcPct val="0"/>
              </a:spcBef>
              <a:spcAft>
                <a:spcPct val="0"/>
              </a:spcAft>
              <a:defRPr>
                <a:solidFill>
                  <a:schemeClr val="tx1"/>
                </a:solidFill>
                <a:latin typeface="Arial" panose="020B0604020202020204" pitchFamily="34" charset="0"/>
              </a:defRPr>
            </a:lvl9pPr>
          </a:lstStyle>
          <a:p>
            <a:endParaRPr lang="ru-RU" altLang="ru-RU" sz="3500">
              <a:solidFill>
                <a:schemeClr val="bg1"/>
              </a:solidFill>
            </a:endParaRPr>
          </a:p>
        </p:txBody>
      </p:sp>
      <p:sp>
        <p:nvSpPr>
          <p:cNvPr id="8" name="AutoShape 8"/>
          <p:cNvSpPr>
            <a:spLocks noChangeArrowheads="1"/>
          </p:cNvSpPr>
          <p:nvPr/>
        </p:nvSpPr>
        <p:spPr bwMode="auto">
          <a:xfrm>
            <a:off x="2603268" y="3457294"/>
            <a:ext cx="596900" cy="854075"/>
          </a:xfrm>
          <a:prstGeom prst="roundRect">
            <a:avLst>
              <a:gd name="adj" fmla="val 16667"/>
            </a:avLst>
          </a:prstGeom>
          <a:solidFill>
            <a:schemeClr val="accent1"/>
          </a:solidFill>
          <a:ln w="28575">
            <a:solidFill>
              <a:srgbClr val="FF505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9441" tIns="49721" rIns="99441" bIns="49721" anchor="ctr"/>
          <a:lstStyle>
            <a:lvl1pPr defTabSz="993775">
              <a:defRPr>
                <a:solidFill>
                  <a:schemeClr val="tx1"/>
                </a:solidFill>
                <a:latin typeface="Arial" panose="020B0604020202020204" pitchFamily="34" charset="0"/>
              </a:defRPr>
            </a:lvl1pPr>
            <a:lvl2pPr marL="496888" defTabSz="993775">
              <a:defRPr>
                <a:solidFill>
                  <a:schemeClr val="tx1"/>
                </a:solidFill>
                <a:latin typeface="Arial" panose="020B0604020202020204" pitchFamily="34" charset="0"/>
              </a:defRPr>
            </a:lvl2pPr>
            <a:lvl3pPr marL="993775" defTabSz="993775">
              <a:defRPr>
                <a:solidFill>
                  <a:schemeClr val="tx1"/>
                </a:solidFill>
                <a:latin typeface="Arial" panose="020B0604020202020204" pitchFamily="34" charset="0"/>
              </a:defRPr>
            </a:lvl3pPr>
            <a:lvl4pPr marL="1492250" defTabSz="993775">
              <a:defRPr>
                <a:solidFill>
                  <a:schemeClr val="tx1"/>
                </a:solidFill>
                <a:latin typeface="Arial" panose="020B0604020202020204" pitchFamily="34" charset="0"/>
              </a:defRPr>
            </a:lvl4pPr>
            <a:lvl5pPr marL="1989138" defTabSz="993775">
              <a:defRPr>
                <a:solidFill>
                  <a:schemeClr val="tx1"/>
                </a:solidFill>
                <a:latin typeface="Arial" panose="020B0604020202020204" pitchFamily="34" charset="0"/>
              </a:defRPr>
            </a:lvl5pPr>
            <a:lvl6pPr marL="2446338" defTabSz="993775" fontAlgn="base">
              <a:spcBef>
                <a:spcPct val="0"/>
              </a:spcBef>
              <a:spcAft>
                <a:spcPct val="0"/>
              </a:spcAft>
              <a:defRPr>
                <a:solidFill>
                  <a:schemeClr val="tx1"/>
                </a:solidFill>
                <a:latin typeface="Arial" panose="020B0604020202020204" pitchFamily="34" charset="0"/>
              </a:defRPr>
            </a:lvl6pPr>
            <a:lvl7pPr marL="2903538" defTabSz="993775" fontAlgn="base">
              <a:spcBef>
                <a:spcPct val="0"/>
              </a:spcBef>
              <a:spcAft>
                <a:spcPct val="0"/>
              </a:spcAft>
              <a:defRPr>
                <a:solidFill>
                  <a:schemeClr val="tx1"/>
                </a:solidFill>
                <a:latin typeface="Arial" panose="020B0604020202020204" pitchFamily="34" charset="0"/>
              </a:defRPr>
            </a:lvl7pPr>
            <a:lvl8pPr marL="3360738" defTabSz="993775" fontAlgn="base">
              <a:spcBef>
                <a:spcPct val="0"/>
              </a:spcBef>
              <a:spcAft>
                <a:spcPct val="0"/>
              </a:spcAft>
              <a:defRPr>
                <a:solidFill>
                  <a:schemeClr val="tx1"/>
                </a:solidFill>
                <a:latin typeface="Arial" panose="020B0604020202020204" pitchFamily="34" charset="0"/>
              </a:defRPr>
            </a:lvl8pPr>
            <a:lvl9pPr marL="3817938" defTabSz="993775" fontAlgn="base">
              <a:spcBef>
                <a:spcPct val="0"/>
              </a:spcBef>
              <a:spcAft>
                <a:spcPct val="0"/>
              </a:spcAft>
              <a:defRPr>
                <a:solidFill>
                  <a:schemeClr val="tx1"/>
                </a:solidFill>
                <a:latin typeface="Arial" panose="020B0604020202020204" pitchFamily="34" charset="0"/>
              </a:defRPr>
            </a:lvl9pPr>
          </a:lstStyle>
          <a:p>
            <a:pPr algn="ctr"/>
            <a:r>
              <a:rPr lang="ru-RU" altLang="ru-RU" sz="3000" b="1" dirty="0">
                <a:solidFill>
                  <a:schemeClr val="bg1"/>
                </a:solidFill>
              </a:rPr>
              <a:t>3</a:t>
            </a:r>
            <a:r>
              <a:rPr lang="en-US" altLang="ru-RU" sz="3000" b="1" dirty="0">
                <a:solidFill>
                  <a:schemeClr val="bg1"/>
                </a:solidFill>
              </a:rPr>
              <a:t>.</a:t>
            </a:r>
            <a:r>
              <a:rPr lang="ru-RU" altLang="ru-RU" sz="3000" b="1" dirty="0">
                <a:solidFill>
                  <a:schemeClr val="bg1"/>
                </a:solidFill>
              </a:rPr>
              <a:t>1</a:t>
            </a:r>
          </a:p>
        </p:txBody>
      </p:sp>
      <p:sp>
        <p:nvSpPr>
          <p:cNvPr id="9" name="AutoShape 27"/>
          <p:cNvSpPr>
            <a:spLocks noChangeArrowheads="1"/>
          </p:cNvSpPr>
          <p:nvPr/>
        </p:nvSpPr>
        <p:spPr bwMode="auto">
          <a:xfrm>
            <a:off x="3378033" y="3410350"/>
            <a:ext cx="6252000" cy="957454"/>
          </a:xfrm>
          <a:prstGeom prst="roundRect">
            <a:avLst>
              <a:gd name="adj" fmla="val 16667"/>
            </a:avLst>
          </a:prstGeom>
          <a:noFill/>
          <a:ln>
            <a:noFill/>
          </a:ln>
          <a:effectLst/>
          <a:extLst>
            <a:ext uri="{909E8E84-426E-40DD-AFC4-6F175D3DCCD1}">
              <a14:hiddenFill xmlns:a14="http://schemas.microsoft.com/office/drawing/2010/main">
                <a:solidFill>
                  <a:srgbClr val="464646">
                    <a:alpha val="50000"/>
                  </a:srgbClr>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9441" tIns="49721" rIns="99441" bIns="49721" anchor="ctr"/>
          <a:lstStyle>
            <a:lvl1pPr marL="982663" defTabSz="993775">
              <a:defRPr>
                <a:solidFill>
                  <a:schemeClr val="tx1"/>
                </a:solidFill>
                <a:latin typeface="Arial" panose="020B0604020202020204" pitchFamily="34" charset="0"/>
              </a:defRPr>
            </a:lvl1pPr>
            <a:lvl2pPr marL="1177925" defTabSz="993775">
              <a:defRPr>
                <a:solidFill>
                  <a:schemeClr val="tx1"/>
                </a:solidFill>
                <a:latin typeface="Arial" panose="020B0604020202020204" pitchFamily="34" charset="0"/>
              </a:defRPr>
            </a:lvl2pPr>
            <a:lvl3pPr marL="1373188" defTabSz="993775">
              <a:defRPr>
                <a:solidFill>
                  <a:schemeClr val="tx1"/>
                </a:solidFill>
                <a:latin typeface="Arial" panose="020B0604020202020204" pitchFamily="34" charset="0"/>
              </a:defRPr>
            </a:lvl3pPr>
            <a:lvl4pPr marL="1566863" defTabSz="993775">
              <a:defRPr>
                <a:solidFill>
                  <a:schemeClr val="tx1"/>
                </a:solidFill>
                <a:latin typeface="Arial" panose="020B0604020202020204" pitchFamily="34" charset="0"/>
              </a:defRPr>
            </a:lvl4pPr>
            <a:lvl5pPr marL="1989138" defTabSz="993775">
              <a:defRPr>
                <a:solidFill>
                  <a:schemeClr val="tx1"/>
                </a:solidFill>
                <a:latin typeface="Arial" panose="020B0604020202020204" pitchFamily="34" charset="0"/>
              </a:defRPr>
            </a:lvl5pPr>
            <a:lvl6pPr marL="2446338" defTabSz="993775" fontAlgn="base">
              <a:spcBef>
                <a:spcPct val="0"/>
              </a:spcBef>
              <a:spcAft>
                <a:spcPct val="0"/>
              </a:spcAft>
              <a:defRPr>
                <a:solidFill>
                  <a:schemeClr val="tx1"/>
                </a:solidFill>
                <a:latin typeface="Arial" panose="020B0604020202020204" pitchFamily="34" charset="0"/>
              </a:defRPr>
            </a:lvl6pPr>
            <a:lvl7pPr marL="2903538" defTabSz="993775" fontAlgn="base">
              <a:spcBef>
                <a:spcPct val="0"/>
              </a:spcBef>
              <a:spcAft>
                <a:spcPct val="0"/>
              </a:spcAft>
              <a:defRPr>
                <a:solidFill>
                  <a:schemeClr val="tx1"/>
                </a:solidFill>
                <a:latin typeface="Arial" panose="020B0604020202020204" pitchFamily="34" charset="0"/>
              </a:defRPr>
            </a:lvl7pPr>
            <a:lvl8pPr marL="3360738" defTabSz="993775" fontAlgn="base">
              <a:spcBef>
                <a:spcPct val="0"/>
              </a:spcBef>
              <a:spcAft>
                <a:spcPct val="0"/>
              </a:spcAft>
              <a:defRPr>
                <a:solidFill>
                  <a:schemeClr val="tx1"/>
                </a:solidFill>
                <a:latin typeface="Arial" panose="020B0604020202020204" pitchFamily="34" charset="0"/>
              </a:defRPr>
            </a:lvl8pPr>
            <a:lvl9pPr marL="3817938" defTabSz="993775" fontAlgn="base">
              <a:spcBef>
                <a:spcPct val="0"/>
              </a:spcBef>
              <a:spcAft>
                <a:spcPct val="0"/>
              </a:spcAft>
              <a:defRPr>
                <a:solidFill>
                  <a:schemeClr val="tx1"/>
                </a:solidFill>
                <a:latin typeface="Arial" panose="020B0604020202020204" pitchFamily="34" charset="0"/>
              </a:defRPr>
            </a:lvl9pPr>
          </a:lstStyle>
          <a:p>
            <a:pPr marL="0"/>
            <a:r>
              <a:rPr lang="ru-RU" sz="3600" dirty="0">
                <a:solidFill>
                  <a:schemeClr val="bg1"/>
                </a:solidFill>
              </a:rPr>
              <a:t>Гипотеза о нормальности </a:t>
            </a:r>
          </a:p>
          <a:p>
            <a:pPr marL="0"/>
            <a:r>
              <a:rPr lang="ru-RU" sz="3600" dirty="0">
                <a:solidFill>
                  <a:schemeClr val="bg1"/>
                </a:solidFill>
              </a:rPr>
              <a:t>распределения</a:t>
            </a:r>
          </a:p>
        </p:txBody>
      </p:sp>
      <p:sp>
        <p:nvSpPr>
          <p:cNvPr id="10" name="AutoShape 7"/>
          <p:cNvSpPr>
            <a:spLocks noChangeArrowheads="1"/>
          </p:cNvSpPr>
          <p:nvPr/>
        </p:nvSpPr>
        <p:spPr bwMode="auto">
          <a:xfrm>
            <a:off x="2154378" y="4571256"/>
            <a:ext cx="8824541" cy="1038808"/>
          </a:xfrm>
          <a:prstGeom prst="roundRect">
            <a:avLst>
              <a:gd name="adj" fmla="val 16667"/>
            </a:avLst>
          </a:prstGeom>
          <a:solidFill>
            <a:srgbClr val="464646">
              <a:alpha val="50000"/>
            </a:srgb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9441" tIns="49721" rIns="99441" bIns="49721" anchor="ctr"/>
          <a:lstStyle>
            <a:lvl1pPr marL="982663" defTabSz="993775">
              <a:defRPr>
                <a:solidFill>
                  <a:schemeClr val="tx1"/>
                </a:solidFill>
                <a:latin typeface="Arial" panose="020B0604020202020204" pitchFamily="34" charset="0"/>
              </a:defRPr>
            </a:lvl1pPr>
            <a:lvl2pPr marL="1177925" defTabSz="993775">
              <a:defRPr>
                <a:solidFill>
                  <a:schemeClr val="tx1"/>
                </a:solidFill>
                <a:latin typeface="Arial" panose="020B0604020202020204" pitchFamily="34" charset="0"/>
              </a:defRPr>
            </a:lvl2pPr>
            <a:lvl3pPr marL="1373188" defTabSz="993775">
              <a:defRPr>
                <a:solidFill>
                  <a:schemeClr val="tx1"/>
                </a:solidFill>
                <a:latin typeface="Arial" panose="020B0604020202020204" pitchFamily="34" charset="0"/>
              </a:defRPr>
            </a:lvl3pPr>
            <a:lvl4pPr marL="1566863" defTabSz="993775">
              <a:defRPr>
                <a:solidFill>
                  <a:schemeClr val="tx1"/>
                </a:solidFill>
                <a:latin typeface="Arial" panose="020B0604020202020204" pitchFamily="34" charset="0"/>
              </a:defRPr>
            </a:lvl4pPr>
            <a:lvl5pPr marL="1989138" defTabSz="993775">
              <a:defRPr>
                <a:solidFill>
                  <a:schemeClr val="tx1"/>
                </a:solidFill>
                <a:latin typeface="Arial" panose="020B0604020202020204" pitchFamily="34" charset="0"/>
              </a:defRPr>
            </a:lvl5pPr>
            <a:lvl6pPr marL="2446338" defTabSz="993775" fontAlgn="base">
              <a:spcBef>
                <a:spcPct val="0"/>
              </a:spcBef>
              <a:spcAft>
                <a:spcPct val="0"/>
              </a:spcAft>
              <a:defRPr>
                <a:solidFill>
                  <a:schemeClr val="tx1"/>
                </a:solidFill>
                <a:latin typeface="Arial" panose="020B0604020202020204" pitchFamily="34" charset="0"/>
              </a:defRPr>
            </a:lvl6pPr>
            <a:lvl7pPr marL="2903538" defTabSz="993775" fontAlgn="base">
              <a:spcBef>
                <a:spcPct val="0"/>
              </a:spcBef>
              <a:spcAft>
                <a:spcPct val="0"/>
              </a:spcAft>
              <a:defRPr>
                <a:solidFill>
                  <a:schemeClr val="tx1"/>
                </a:solidFill>
                <a:latin typeface="Arial" panose="020B0604020202020204" pitchFamily="34" charset="0"/>
              </a:defRPr>
            </a:lvl7pPr>
            <a:lvl8pPr marL="3360738" defTabSz="993775" fontAlgn="base">
              <a:spcBef>
                <a:spcPct val="0"/>
              </a:spcBef>
              <a:spcAft>
                <a:spcPct val="0"/>
              </a:spcAft>
              <a:defRPr>
                <a:solidFill>
                  <a:schemeClr val="tx1"/>
                </a:solidFill>
                <a:latin typeface="Arial" panose="020B0604020202020204" pitchFamily="34" charset="0"/>
              </a:defRPr>
            </a:lvl8pPr>
            <a:lvl9pPr marL="3817938" defTabSz="993775" fontAlgn="base">
              <a:spcBef>
                <a:spcPct val="0"/>
              </a:spcBef>
              <a:spcAft>
                <a:spcPct val="0"/>
              </a:spcAft>
              <a:defRPr>
                <a:solidFill>
                  <a:schemeClr val="tx1"/>
                </a:solidFill>
                <a:latin typeface="Arial" panose="020B0604020202020204" pitchFamily="34" charset="0"/>
              </a:defRPr>
            </a:lvl9pPr>
          </a:lstStyle>
          <a:p>
            <a:endParaRPr lang="ru-RU" altLang="ru-RU" sz="3500">
              <a:solidFill>
                <a:schemeClr val="bg1"/>
              </a:solidFill>
            </a:endParaRPr>
          </a:p>
        </p:txBody>
      </p:sp>
      <p:sp>
        <p:nvSpPr>
          <p:cNvPr id="11" name="AutoShape 8"/>
          <p:cNvSpPr>
            <a:spLocks noChangeArrowheads="1"/>
          </p:cNvSpPr>
          <p:nvPr/>
        </p:nvSpPr>
        <p:spPr bwMode="auto">
          <a:xfrm>
            <a:off x="2651299" y="4708293"/>
            <a:ext cx="596900" cy="854075"/>
          </a:xfrm>
          <a:prstGeom prst="roundRect">
            <a:avLst>
              <a:gd name="adj" fmla="val 16667"/>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9441" tIns="49721" rIns="99441" bIns="49721" anchor="ctr"/>
          <a:lstStyle>
            <a:lvl1pPr defTabSz="993775">
              <a:defRPr>
                <a:solidFill>
                  <a:schemeClr val="tx1"/>
                </a:solidFill>
                <a:latin typeface="Arial" panose="020B0604020202020204" pitchFamily="34" charset="0"/>
              </a:defRPr>
            </a:lvl1pPr>
            <a:lvl2pPr marL="496888" defTabSz="993775">
              <a:defRPr>
                <a:solidFill>
                  <a:schemeClr val="tx1"/>
                </a:solidFill>
                <a:latin typeface="Arial" panose="020B0604020202020204" pitchFamily="34" charset="0"/>
              </a:defRPr>
            </a:lvl2pPr>
            <a:lvl3pPr marL="993775" defTabSz="993775">
              <a:defRPr>
                <a:solidFill>
                  <a:schemeClr val="tx1"/>
                </a:solidFill>
                <a:latin typeface="Arial" panose="020B0604020202020204" pitchFamily="34" charset="0"/>
              </a:defRPr>
            </a:lvl3pPr>
            <a:lvl4pPr marL="1492250" defTabSz="993775">
              <a:defRPr>
                <a:solidFill>
                  <a:schemeClr val="tx1"/>
                </a:solidFill>
                <a:latin typeface="Arial" panose="020B0604020202020204" pitchFamily="34" charset="0"/>
              </a:defRPr>
            </a:lvl4pPr>
            <a:lvl5pPr marL="1989138" defTabSz="993775">
              <a:defRPr>
                <a:solidFill>
                  <a:schemeClr val="tx1"/>
                </a:solidFill>
                <a:latin typeface="Arial" panose="020B0604020202020204" pitchFamily="34" charset="0"/>
              </a:defRPr>
            </a:lvl5pPr>
            <a:lvl6pPr marL="2446338" defTabSz="993775" fontAlgn="base">
              <a:spcBef>
                <a:spcPct val="0"/>
              </a:spcBef>
              <a:spcAft>
                <a:spcPct val="0"/>
              </a:spcAft>
              <a:defRPr>
                <a:solidFill>
                  <a:schemeClr val="tx1"/>
                </a:solidFill>
                <a:latin typeface="Arial" panose="020B0604020202020204" pitchFamily="34" charset="0"/>
              </a:defRPr>
            </a:lvl6pPr>
            <a:lvl7pPr marL="2903538" defTabSz="993775" fontAlgn="base">
              <a:spcBef>
                <a:spcPct val="0"/>
              </a:spcBef>
              <a:spcAft>
                <a:spcPct val="0"/>
              </a:spcAft>
              <a:defRPr>
                <a:solidFill>
                  <a:schemeClr val="tx1"/>
                </a:solidFill>
                <a:latin typeface="Arial" panose="020B0604020202020204" pitchFamily="34" charset="0"/>
              </a:defRPr>
            </a:lvl7pPr>
            <a:lvl8pPr marL="3360738" defTabSz="993775" fontAlgn="base">
              <a:spcBef>
                <a:spcPct val="0"/>
              </a:spcBef>
              <a:spcAft>
                <a:spcPct val="0"/>
              </a:spcAft>
              <a:defRPr>
                <a:solidFill>
                  <a:schemeClr val="tx1"/>
                </a:solidFill>
                <a:latin typeface="Arial" panose="020B0604020202020204" pitchFamily="34" charset="0"/>
              </a:defRPr>
            </a:lvl8pPr>
            <a:lvl9pPr marL="3817938" defTabSz="993775" fontAlgn="base">
              <a:spcBef>
                <a:spcPct val="0"/>
              </a:spcBef>
              <a:spcAft>
                <a:spcPct val="0"/>
              </a:spcAft>
              <a:defRPr>
                <a:solidFill>
                  <a:schemeClr val="tx1"/>
                </a:solidFill>
                <a:latin typeface="Arial" panose="020B0604020202020204" pitchFamily="34" charset="0"/>
              </a:defRPr>
            </a:lvl9pPr>
          </a:lstStyle>
          <a:p>
            <a:pPr algn="ctr"/>
            <a:r>
              <a:rPr lang="ru-RU" altLang="ru-RU" sz="3000" b="1" dirty="0">
                <a:solidFill>
                  <a:schemeClr val="bg1"/>
                </a:solidFill>
              </a:rPr>
              <a:t>3</a:t>
            </a:r>
            <a:r>
              <a:rPr lang="en-US" altLang="ru-RU" sz="3000" b="1" dirty="0">
                <a:solidFill>
                  <a:schemeClr val="bg1"/>
                </a:solidFill>
              </a:rPr>
              <a:t>.</a:t>
            </a:r>
            <a:r>
              <a:rPr lang="ru-RU" altLang="ru-RU" sz="3000" b="1" dirty="0">
                <a:solidFill>
                  <a:schemeClr val="bg1"/>
                </a:solidFill>
              </a:rPr>
              <a:t>2</a:t>
            </a:r>
          </a:p>
        </p:txBody>
      </p:sp>
      <p:sp>
        <p:nvSpPr>
          <p:cNvPr id="12" name="AutoShape 27"/>
          <p:cNvSpPr>
            <a:spLocks noChangeArrowheads="1"/>
          </p:cNvSpPr>
          <p:nvPr/>
        </p:nvSpPr>
        <p:spPr bwMode="auto">
          <a:xfrm>
            <a:off x="3682525" y="4690946"/>
            <a:ext cx="6680284" cy="775984"/>
          </a:xfrm>
          <a:prstGeom prst="roundRect">
            <a:avLst>
              <a:gd name="adj" fmla="val 16667"/>
            </a:avLst>
          </a:prstGeom>
          <a:noFill/>
          <a:ln>
            <a:noFill/>
          </a:ln>
          <a:effectLst/>
          <a:extLst>
            <a:ext uri="{909E8E84-426E-40DD-AFC4-6F175D3DCCD1}">
              <a14:hiddenFill xmlns:a14="http://schemas.microsoft.com/office/drawing/2010/main">
                <a:solidFill>
                  <a:srgbClr val="464646">
                    <a:alpha val="50000"/>
                  </a:srgbClr>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9441" tIns="49721" rIns="99441" bIns="49721" anchor="ctr"/>
          <a:lstStyle>
            <a:lvl1pPr marL="982663" defTabSz="993775">
              <a:defRPr>
                <a:solidFill>
                  <a:schemeClr val="tx1"/>
                </a:solidFill>
                <a:latin typeface="Arial" panose="020B0604020202020204" pitchFamily="34" charset="0"/>
              </a:defRPr>
            </a:lvl1pPr>
            <a:lvl2pPr marL="1177925" defTabSz="993775">
              <a:defRPr>
                <a:solidFill>
                  <a:schemeClr val="tx1"/>
                </a:solidFill>
                <a:latin typeface="Arial" panose="020B0604020202020204" pitchFamily="34" charset="0"/>
              </a:defRPr>
            </a:lvl2pPr>
            <a:lvl3pPr marL="1373188" defTabSz="993775">
              <a:defRPr>
                <a:solidFill>
                  <a:schemeClr val="tx1"/>
                </a:solidFill>
                <a:latin typeface="Arial" panose="020B0604020202020204" pitchFamily="34" charset="0"/>
              </a:defRPr>
            </a:lvl3pPr>
            <a:lvl4pPr marL="1566863" defTabSz="993775">
              <a:defRPr>
                <a:solidFill>
                  <a:schemeClr val="tx1"/>
                </a:solidFill>
                <a:latin typeface="Arial" panose="020B0604020202020204" pitchFamily="34" charset="0"/>
              </a:defRPr>
            </a:lvl4pPr>
            <a:lvl5pPr marL="1989138" defTabSz="993775">
              <a:defRPr>
                <a:solidFill>
                  <a:schemeClr val="tx1"/>
                </a:solidFill>
                <a:latin typeface="Arial" panose="020B0604020202020204" pitchFamily="34" charset="0"/>
              </a:defRPr>
            </a:lvl5pPr>
            <a:lvl6pPr marL="2446338" defTabSz="993775" fontAlgn="base">
              <a:spcBef>
                <a:spcPct val="0"/>
              </a:spcBef>
              <a:spcAft>
                <a:spcPct val="0"/>
              </a:spcAft>
              <a:defRPr>
                <a:solidFill>
                  <a:schemeClr val="tx1"/>
                </a:solidFill>
                <a:latin typeface="Arial" panose="020B0604020202020204" pitchFamily="34" charset="0"/>
              </a:defRPr>
            </a:lvl6pPr>
            <a:lvl7pPr marL="2903538" defTabSz="993775" fontAlgn="base">
              <a:spcBef>
                <a:spcPct val="0"/>
              </a:spcBef>
              <a:spcAft>
                <a:spcPct val="0"/>
              </a:spcAft>
              <a:defRPr>
                <a:solidFill>
                  <a:schemeClr val="tx1"/>
                </a:solidFill>
                <a:latin typeface="Arial" panose="020B0604020202020204" pitchFamily="34" charset="0"/>
              </a:defRPr>
            </a:lvl7pPr>
            <a:lvl8pPr marL="3360738" defTabSz="993775" fontAlgn="base">
              <a:spcBef>
                <a:spcPct val="0"/>
              </a:spcBef>
              <a:spcAft>
                <a:spcPct val="0"/>
              </a:spcAft>
              <a:defRPr>
                <a:solidFill>
                  <a:schemeClr val="tx1"/>
                </a:solidFill>
                <a:latin typeface="Arial" panose="020B0604020202020204" pitchFamily="34" charset="0"/>
              </a:defRPr>
            </a:lvl8pPr>
            <a:lvl9pPr marL="3817938" defTabSz="993775" fontAlgn="base">
              <a:spcBef>
                <a:spcPct val="0"/>
              </a:spcBef>
              <a:spcAft>
                <a:spcPct val="0"/>
              </a:spcAft>
              <a:defRPr>
                <a:solidFill>
                  <a:schemeClr val="tx1"/>
                </a:solidFill>
                <a:latin typeface="Arial" panose="020B0604020202020204" pitchFamily="34" charset="0"/>
              </a:defRPr>
            </a:lvl9pPr>
          </a:lstStyle>
          <a:p>
            <a:pPr marL="0" algn="ctr"/>
            <a:r>
              <a:rPr lang="ru-RU" sz="3600" dirty="0">
                <a:solidFill>
                  <a:schemeClr val="bg1"/>
                </a:solidFill>
              </a:rPr>
              <a:t>Парные и независимые выборки</a:t>
            </a:r>
          </a:p>
        </p:txBody>
      </p:sp>
      <p:sp>
        <p:nvSpPr>
          <p:cNvPr id="13" name="AutoShape 7"/>
          <p:cNvSpPr>
            <a:spLocks noChangeArrowheads="1"/>
          </p:cNvSpPr>
          <p:nvPr/>
        </p:nvSpPr>
        <p:spPr bwMode="auto">
          <a:xfrm>
            <a:off x="2154378" y="5766298"/>
            <a:ext cx="8824541" cy="965199"/>
          </a:xfrm>
          <a:prstGeom prst="roundRect">
            <a:avLst>
              <a:gd name="adj" fmla="val 16667"/>
            </a:avLst>
          </a:prstGeom>
          <a:solidFill>
            <a:srgbClr val="464646">
              <a:alpha val="50000"/>
            </a:srgb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9441" tIns="49721" rIns="99441" bIns="49721" anchor="ctr"/>
          <a:lstStyle>
            <a:lvl1pPr marL="982663" defTabSz="993775">
              <a:defRPr>
                <a:solidFill>
                  <a:schemeClr val="tx1"/>
                </a:solidFill>
                <a:latin typeface="Arial" panose="020B0604020202020204" pitchFamily="34" charset="0"/>
              </a:defRPr>
            </a:lvl1pPr>
            <a:lvl2pPr marL="1177925" defTabSz="993775">
              <a:defRPr>
                <a:solidFill>
                  <a:schemeClr val="tx1"/>
                </a:solidFill>
                <a:latin typeface="Arial" panose="020B0604020202020204" pitchFamily="34" charset="0"/>
              </a:defRPr>
            </a:lvl2pPr>
            <a:lvl3pPr marL="1373188" defTabSz="993775">
              <a:defRPr>
                <a:solidFill>
                  <a:schemeClr val="tx1"/>
                </a:solidFill>
                <a:latin typeface="Arial" panose="020B0604020202020204" pitchFamily="34" charset="0"/>
              </a:defRPr>
            </a:lvl3pPr>
            <a:lvl4pPr marL="1566863" defTabSz="993775">
              <a:defRPr>
                <a:solidFill>
                  <a:schemeClr val="tx1"/>
                </a:solidFill>
                <a:latin typeface="Arial" panose="020B0604020202020204" pitchFamily="34" charset="0"/>
              </a:defRPr>
            </a:lvl4pPr>
            <a:lvl5pPr marL="1989138" defTabSz="993775">
              <a:defRPr>
                <a:solidFill>
                  <a:schemeClr val="tx1"/>
                </a:solidFill>
                <a:latin typeface="Arial" panose="020B0604020202020204" pitchFamily="34" charset="0"/>
              </a:defRPr>
            </a:lvl5pPr>
            <a:lvl6pPr marL="2446338" defTabSz="993775" fontAlgn="base">
              <a:spcBef>
                <a:spcPct val="0"/>
              </a:spcBef>
              <a:spcAft>
                <a:spcPct val="0"/>
              </a:spcAft>
              <a:defRPr>
                <a:solidFill>
                  <a:schemeClr val="tx1"/>
                </a:solidFill>
                <a:latin typeface="Arial" panose="020B0604020202020204" pitchFamily="34" charset="0"/>
              </a:defRPr>
            </a:lvl6pPr>
            <a:lvl7pPr marL="2903538" defTabSz="993775" fontAlgn="base">
              <a:spcBef>
                <a:spcPct val="0"/>
              </a:spcBef>
              <a:spcAft>
                <a:spcPct val="0"/>
              </a:spcAft>
              <a:defRPr>
                <a:solidFill>
                  <a:schemeClr val="tx1"/>
                </a:solidFill>
                <a:latin typeface="Arial" panose="020B0604020202020204" pitchFamily="34" charset="0"/>
              </a:defRPr>
            </a:lvl7pPr>
            <a:lvl8pPr marL="3360738" defTabSz="993775" fontAlgn="base">
              <a:spcBef>
                <a:spcPct val="0"/>
              </a:spcBef>
              <a:spcAft>
                <a:spcPct val="0"/>
              </a:spcAft>
              <a:defRPr>
                <a:solidFill>
                  <a:schemeClr val="tx1"/>
                </a:solidFill>
                <a:latin typeface="Arial" panose="020B0604020202020204" pitchFamily="34" charset="0"/>
              </a:defRPr>
            </a:lvl8pPr>
            <a:lvl9pPr marL="3817938" defTabSz="993775" fontAlgn="base">
              <a:spcBef>
                <a:spcPct val="0"/>
              </a:spcBef>
              <a:spcAft>
                <a:spcPct val="0"/>
              </a:spcAft>
              <a:defRPr>
                <a:solidFill>
                  <a:schemeClr val="tx1"/>
                </a:solidFill>
                <a:latin typeface="Arial" panose="020B0604020202020204" pitchFamily="34" charset="0"/>
              </a:defRPr>
            </a:lvl9pPr>
          </a:lstStyle>
          <a:p>
            <a:endParaRPr lang="ru-RU" altLang="ru-RU" sz="3500">
              <a:solidFill>
                <a:schemeClr val="bg1"/>
              </a:solidFill>
            </a:endParaRPr>
          </a:p>
        </p:txBody>
      </p:sp>
      <p:sp>
        <p:nvSpPr>
          <p:cNvPr id="14" name="AutoShape 8"/>
          <p:cNvSpPr>
            <a:spLocks noChangeArrowheads="1"/>
          </p:cNvSpPr>
          <p:nvPr/>
        </p:nvSpPr>
        <p:spPr bwMode="auto">
          <a:xfrm>
            <a:off x="2620001" y="5821859"/>
            <a:ext cx="596900" cy="854075"/>
          </a:xfrm>
          <a:prstGeom prst="roundRect">
            <a:avLst>
              <a:gd name="adj" fmla="val 16667"/>
            </a:avLst>
          </a:prstGeom>
          <a:solidFill>
            <a:schemeClr val="accent1"/>
          </a:solidFill>
          <a:ln w="28575">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9441" tIns="49721" rIns="99441" bIns="49721" anchor="ctr"/>
          <a:lstStyle>
            <a:lvl1pPr defTabSz="993775">
              <a:defRPr>
                <a:solidFill>
                  <a:schemeClr val="tx1"/>
                </a:solidFill>
                <a:latin typeface="Arial" panose="020B0604020202020204" pitchFamily="34" charset="0"/>
              </a:defRPr>
            </a:lvl1pPr>
            <a:lvl2pPr marL="496888" defTabSz="993775">
              <a:defRPr>
                <a:solidFill>
                  <a:schemeClr val="tx1"/>
                </a:solidFill>
                <a:latin typeface="Arial" panose="020B0604020202020204" pitchFamily="34" charset="0"/>
              </a:defRPr>
            </a:lvl2pPr>
            <a:lvl3pPr marL="993775" defTabSz="993775">
              <a:defRPr>
                <a:solidFill>
                  <a:schemeClr val="tx1"/>
                </a:solidFill>
                <a:latin typeface="Arial" panose="020B0604020202020204" pitchFamily="34" charset="0"/>
              </a:defRPr>
            </a:lvl3pPr>
            <a:lvl4pPr marL="1492250" defTabSz="993775">
              <a:defRPr>
                <a:solidFill>
                  <a:schemeClr val="tx1"/>
                </a:solidFill>
                <a:latin typeface="Arial" panose="020B0604020202020204" pitchFamily="34" charset="0"/>
              </a:defRPr>
            </a:lvl4pPr>
            <a:lvl5pPr marL="1989138" defTabSz="993775">
              <a:defRPr>
                <a:solidFill>
                  <a:schemeClr val="tx1"/>
                </a:solidFill>
                <a:latin typeface="Arial" panose="020B0604020202020204" pitchFamily="34" charset="0"/>
              </a:defRPr>
            </a:lvl5pPr>
            <a:lvl6pPr marL="2446338" defTabSz="993775" fontAlgn="base">
              <a:spcBef>
                <a:spcPct val="0"/>
              </a:spcBef>
              <a:spcAft>
                <a:spcPct val="0"/>
              </a:spcAft>
              <a:defRPr>
                <a:solidFill>
                  <a:schemeClr val="tx1"/>
                </a:solidFill>
                <a:latin typeface="Arial" panose="020B0604020202020204" pitchFamily="34" charset="0"/>
              </a:defRPr>
            </a:lvl6pPr>
            <a:lvl7pPr marL="2903538" defTabSz="993775" fontAlgn="base">
              <a:spcBef>
                <a:spcPct val="0"/>
              </a:spcBef>
              <a:spcAft>
                <a:spcPct val="0"/>
              </a:spcAft>
              <a:defRPr>
                <a:solidFill>
                  <a:schemeClr val="tx1"/>
                </a:solidFill>
                <a:latin typeface="Arial" panose="020B0604020202020204" pitchFamily="34" charset="0"/>
              </a:defRPr>
            </a:lvl7pPr>
            <a:lvl8pPr marL="3360738" defTabSz="993775" fontAlgn="base">
              <a:spcBef>
                <a:spcPct val="0"/>
              </a:spcBef>
              <a:spcAft>
                <a:spcPct val="0"/>
              </a:spcAft>
              <a:defRPr>
                <a:solidFill>
                  <a:schemeClr val="tx1"/>
                </a:solidFill>
                <a:latin typeface="Arial" panose="020B0604020202020204" pitchFamily="34" charset="0"/>
              </a:defRPr>
            </a:lvl8pPr>
            <a:lvl9pPr marL="3817938" defTabSz="993775" fontAlgn="base">
              <a:spcBef>
                <a:spcPct val="0"/>
              </a:spcBef>
              <a:spcAft>
                <a:spcPct val="0"/>
              </a:spcAft>
              <a:defRPr>
                <a:solidFill>
                  <a:schemeClr val="tx1"/>
                </a:solidFill>
                <a:latin typeface="Arial" panose="020B0604020202020204" pitchFamily="34" charset="0"/>
              </a:defRPr>
            </a:lvl9pPr>
          </a:lstStyle>
          <a:p>
            <a:pPr algn="ctr"/>
            <a:r>
              <a:rPr lang="ru-RU" altLang="ru-RU" sz="3000" b="1" dirty="0">
                <a:solidFill>
                  <a:schemeClr val="bg1"/>
                </a:solidFill>
              </a:rPr>
              <a:t>3</a:t>
            </a:r>
            <a:r>
              <a:rPr lang="en-US" altLang="ru-RU" sz="3000" b="1" dirty="0">
                <a:solidFill>
                  <a:schemeClr val="bg1"/>
                </a:solidFill>
              </a:rPr>
              <a:t>.</a:t>
            </a:r>
            <a:r>
              <a:rPr lang="ru-RU" altLang="ru-RU" sz="3000" b="1" dirty="0">
                <a:solidFill>
                  <a:schemeClr val="bg1"/>
                </a:solidFill>
              </a:rPr>
              <a:t>3</a:t>
            </a:r>
          </a:p>
        </p:txBody>
      </p:sp>
      <p:sp>
        <p:nvSpPr>
          <p:cNvPr id="15" name="AutoShape 27"/>
          <p:cNvSpPr>
            <a:spLocks noChangeArrowheads="1"/>
          </p:cNvSpPr>
          <p:nvPr/>
        </p:nvSpPr>
        <p:spPr bwMode="auto">
          <a:xfrm>
            <a:off x="3682525" y="5766297"/>
            <a:ext cx="6680284" cy="851720"/>
          </a:xfrm>
          <a:prstGeom prst="roundRect">
            <a:avLst>
              <a:gd name="adj" fmla="val 16667"/>
            </a:avLst>
          </a:prstGeom>
          <a:noFill/>
          <a:ln>
            <a:noFill/>
          </a:ln>
          <a:effectLst/>
          <a:extLst>
            <a:ext uri="{909E8E84-426E-40DD-AFC4-6F175D3DCCD1}">
              <a14:hiddenFill xmlns:a14="http://schemas.microsoft.com/office/drawing/2010/main">
                <a:solidFill>
                  <a:srgbClr val="464646">
                    <a:alpha val="50000"/>
                  </a:srgbClr>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9441" tIns="49721" rIns="99441" bIns="49721" anchor="ctr"/>
          <a:lstStyle>
            <a:lvl1pPr marL="982663" defTabSz="993775">
              <a:defRPr>
                <a:solidFill>
                  <a:schemeClr val="tx1"/>
                </a:solidFill>
                <a:latin typeface="Arial" panose="020B0604020202020204" pitchFamily="34" charset="0"/>
              </a:defRPr>
            </a:lvl1pPr>
            <a:lvl2pPr marL="1177925" defTabSz="993775">
              <a:defRPr>
                <a:solidFill>
                  <a:schemeClr val="tx1"/>
                </a:solidFill>
                <a:latin typeface="Arial" panose="020B0604020202020204" pitchFamily="34" charset="0"/>
              </a:defRPr>
            </a:lvl2pPr>
            <a:lvl3pPr marL="1373188" defTabSz="993775">
              <a:defRPr>
                <a:solidFill>
                  <a:schemeClr val="tx1"/>
                </a:solidFill>
                <a:latin typeface="Arial" panose="020B0604020202020204" pitchFamily="34" charset="0"/>
              </a:defRPr>
            </a:lvl3pPr>
            <a:lvl4pPr marL="1566863" defTabSz="993775">
              <a:defRPr>
                <a:solidFill>
                  <a:schemeClr val="tx1"/>
                </a:solidFill>
                <a:latin typeface="Arial" panose="020B0604020202020204" pitchFamily="34" charset="0"/>
              </a:defRPr>
            </a:lvl4pPr>
            <a:lvl5pPr marL="1989138" defTabSz="993775">
              <a:defRPr>
                <a:solidFill>
                  <a:schemeClr val="tx1"/>
                </a:solidFill>
                <a:latin typeface="Arial" panose="020B0604020202020204" pitchFamily="34" charset="0"/>
              </a:defRPr>
            </a:lvl5pPr>
            <a:lvl6pPr marL="2446338" defTabSz="993775" fontAlgn="base">
              <a:spcBef>
                <a:spcPct val="0"/>
              </a:spcBef>
              <a:spcAft>
                <a:spcPct val="0"/>
              </a:spcAft>
              <a:defRPr>
                <a:solidFill>
                  <a:schemeClr val="tx1"/>
                </a:solidFill>
                <a:latin typeface="Arial" panose="020B0604020202020204" pitchFamily="34" charset="0"/>
              </a:defRPr>
            </a:lvl6pPr>
            <a:lvl7pPr marL="2903538" defTabSz="993775" fontAlgn="base">
              <a:spcBef>
                <a:spcPct val="0"/>
              </a:spcBef>
              <a:spcAft>
                <a:spcPct val="0"/>
              </a:spcAft>
              <a:defRPr>
                <a:solidFill>
                  <a:schemeClr val="tx1"/>
                </a:solidFill>
                <a:latin typeface="Arial" panose="020B0604020202020204" pitchFamily="34" charset="0"/>
              </a:defRPr>
            </a:lvl7pPr>
            <a:lvl8pPr marL="3360738" defTabSz="993775" fontAlgn="base">
              <a:spcBef>
                <a:spcPct val="0"/>
              </a:spcBef>
              <a:spcAft>
                <a:spcPct val="0"/>
              </a:spcAft>
              <a:defRPr>
                <a:solidFill>
                  <a:schemeClr val="tx1"/>
                </a:solidFill>
                <a:latin typeface="Arial" panose="020B0604020202020204" pitchFamily="34" charset="0"/>
              </a:defRPr>
            </a:lvl8pPr>
            <a:lvl9pPr marL="3817938" defTabSz="993775" fontAlgn="base">
              <a:spcBef>
                <a:spcPct val="0"/>
              </a:spcBef>
              <a:spcAft>
                <a:spcPct val="0"/>
              </a:spcAft>
              <a:defRPr>
                <a:solidFill>
                  <a:schemeClr val="tx1"/>
                </a:solidFill>
                <a:latin typeface="Arial" panose="020B0604020202020204" pitchFamily="34" charset="0"/>
              </a:defRPr>
            </a:lvl9pPr>
          </a:lstStyle>
          <a:p>
            <a:pPr marL="0" algn="ctr"/>
            <a:r>
              <a:rPr lang="ru-RU" sz="3600" dirty="0">
                <a:solidFill>
                  <a:schemeClr val="bg1"/>
                </a:solidFill>
              </a:rPr>
              <a:t>Гипотеза о равенстве дисперсий</a:t>
            </a:r>
          </a:p>
        </p:txBody>
      </p:sp>
      <p:sp>
        <p:nvSpPr>
          <p:cNvPr id="2" name="Номер слайда 1"/>
          <p:cNvSpPr>
            <a:spLocks noGrp="1"/>
          </p:cNvSpPr>
          <p:nvPr>
            <p:ph type="sldNum" sz="quarter" idx="12"/>
          </p:nvPr>
        </p:nvSpPr>
        <p:spPr/>
        <p:txBody>
          <a:bodyPr/>
          <a:lstStyle/>
          <a:p>
            <a:fld id="{952B6C0E-C4B9-4094-8E59-5B7DF00D5415}" type="slidenum">
              <a:rPr lang="ru-RU" smtClean="0">
                <a:solidFill>
                  <a:schemeClr val="tx1"/>
                </a:solidFill>
              </a:rPr>
              <a:t>68</a:t>
            </a:fld>
            <a:endParaRPr lang="ru-RU" dirty="0">
              <a:solidFill>
                <a:schemeClr val="tx1"/>
              </a:solidFill>
            </a:endParaRPr>
          </a:p>
        </p:txBody>
      </p:sp>
    </p:spTree>
    <p:extLst>
      <p:ext uri="{BB962C8B-B14F-4D97-AF65-F5344CB8AC3E}">
        <p14:creationId xmlns:p14="http://schemas.microsoft.com/office/powerpoint/2010/main" val="33719502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4"/>
          <p:cNvSpPr>
            <a:spLocks noChangeArrowheads="1"/>
          </p:cNvSpPr>
          <p:nvPr/>
        </p:nvSpPr>
        <p:spPr bwMode="auto">
          <a:xfrm>
            <a:off x="1438275" y="322263"/>
            <a:ext cx="10944521" cy="6553200"/>
          </a:xfrm>
          <a:prstGeom prst="roundRect">
            <a:avLst>
              <a:gd name="adj" fmla="val 16667"/>
            </a:avLst>
          </a:prstGeom>
          <a:solidFill>
            <a:schemeClr val="bg1">
              <a:alpha val="50195"/>
            </a:scheme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5" name="AutoShape 5"/>
          <p:cNvSpPr>
            <a:spLocks noChangeArrowheads="1"/>
          </p:cNvSpPr>
          <p:nvPr/>
        </p:nvSpPr>
        <p:spPr bwMode="auto">
          <a:xfrm>
            <a:off x="2373685" y="322263"/>
            <a:ext cx="8064128" cy="1195700"/>
          </a:xfrm>
          <a:prstGeom prst="roundRect">
            <a:avLst>
              <a:gd name="adj" fmla="val 37469"/>
            </a:avLst>
          </a:prstGeom>
          <a:solidFill>
            <a:srgbClr val="FFFFFF">
              <a:alpha val="78822"/>
            </a:srgb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2" name="Заголовок 1"/>
          <p:cNvSpPr txBox="1">
            <a:spLocks noGrp="1"/>
          </p:cNvSpPr>
          <p:nvPr>
            <p:ph type="title" idx="4294967295"/>
          </p:nvPr>
        </p:nvSpPr>
        <p:spPr>
          <a:xfrm>
            <a:off x="2404344" y="242889"/>
            <a:ext cx="7227887" cy="1108075"/>
          </a:xfrm>
          <a:prstGeom prst="rect">
            <a:avLst/>
          </a:prstGeom>
        </p:spPr>
        <p:txBody>
          <a:bodyPr wrap="square">
            <a:noAutofit/>
          </a:bodyPr>
          <a:lstStyle/>
          <a:p>
            <a:pPr lvl="0"/>
            <a:r>
              <a:rPr lang="ru-RU" sz="3600" dirty="0"/>
              <a:t>Классификация методов тестирования гипотез </a:t>
            </a:r>
          </a:p>
        </p:txBody>
      </p:sp>
      <p:pic>
        <p:nvPicPr>
          <p:cNvPr id="7" name="Рисунок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55808" y="1517963"/>
            <a:ext cx="6356634" cy="4738959"/>
          </a:xfrm>
          <a:prstGeom prst="rect">
            <a:avLst/>
          </a:prstGeom>
        </p:spPr>
      </p:pic>
      <p:sp>
        <p:nvSpPr>
          <p:cNvPr id="3" name="Номер слайда 2"/>
          <p:cNvSpPr>
            <a:spLocks noGrp="1"/>
          </p:cNvSpPr>
          <p:nvPr>
            <p:ph type="sldNum" sz="quarter" idx="12"/>
          </p:nvPr>
        </p:nvSpPr>
        <p:spPr>
          <a:xfrm>
            <a:off x="11453107" y="6572220"/>
            <a:ext cx="952457" cy="379409"/>
          </a:xfrm>
        </p:spPr>
        <p:txBody>
          <a:bodyPr/>
          <a:lstStyle/>
          <a:p>
            <a:fld id="{952B6C0E-C4B9-4094-8E59-5B7DF00D5415}" type="slidenum">
              <a:rPr lang="ru-RU" sz="1400">
                <a:solidFill>
                  <a:schemeClr val="tx1"/>
                </a:solidFill>
              </a:rPr>
              <a:t>69</a:t>
            </a:fld>
            <a:endParaRPr lang="ru-RU" sz="1400" dirty="0">
              <a:solidFill>
                <a:schemeClr val="tx1"/>
              </a:solidFill>
            </a:endParaRPr>
          </a:p>
        </p:txBody>
      </p:sp>
    </p:spTree>
    <p:extLst>
      <p:ext uri="{BB962C8B-B14F-4D97-AF65-F5344CB8AC3E}">
        <p14:creationId xmlns:p14="http://schemas.microsoft.com/office/powerpoint/2010/main" val="33530581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4"/>
          <p:cNvSpPr>
            <a:spLocks noChangeArrowheads="1"/>
          </p:cNvSpPr>
          <p:nvPr/>
        </p:nvSpPr>
        <p:spPr bwMode="auto">
          <a:xfrm>
            <a:off x="1438275" y="322263"/>
            <a:ext cx="10944521" cy="6553200"/>
          </a:xfrm>
          <a:prstGeom prst="roundRect">
            <a:avLst>
              <a:gd name="adj" fmla="val 16667"/>
            </a:avLst>
          </a:prstGeom>
          <a:solidFill>
            <a:schemeClr val="bg1">
              <a:alpha val="50195"/>
            </a:scheme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5" name="AutoShape 5"/>
          <p:cNvSpPr>
            <a:spLocks noChangeArrowheads="1"/>
          </p:cNvSpPr>
          <p:nvPr/>
        </p:nvSpPr>
        <p:spPr bwMode="auto">
          <a:xfrm>
            <a:off x="2373685" y="322263"/>
            <a:ext cx="8064128" cy="1195700"/>
          </a:xfrm>
          <a:prstGeom prst="roundRect">
            <a:avLst>
              <a:gd name="adj" fmla="val 37469"/>
            </a:avLst>
          </a:prstGeom>
          <a:solidFill>
            <a:srgbClr val="FFFFFF">
              <a:alpha val="78822"/>
            </a:srgb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2" name="Заголовок 1"/>
          <p:cNvSpPr txBox="1">
            <a:spLocks noGrp="1"/>
          </p:cNvSpPr>
          <p:nvPr>
            <p:ph type="title" idx="4294967295"/>
          </p:nvPr>
        </p:nvSpPr>
        <p:spPr>
          <a:xfrm>
            <a:off x="1992933" y="222228"/>
            <a:ext cx="8825631" cy="490678"/>
          </a:xfrm>
          <a:prstGeom prst="rect">
            <a:avLst/>
          </a:prstGeom>
        </p:spPr>
        <p:txBody>
          <a:bodyPr wrap="square">
            <a:noAutofit/>
          </a:bodyPr>
          <a:lstStyle/>
          <a:p>
            <a:pPr lvl="0"/>
            <a:r>
              <a:rPr lang="ru-RU" sz="2800" dirty="0"/>
              <a:t>Классификация методов тестирования гипотез </a:t>
            </a:r>
          </a:p>
        </p:txBody>
      </p:sp>
      <p:sp>
        <p:nvSpPr>
          <p:cNvPr id="3" name="Номер слайда 2"/>
          <p:cNvSpPr>
            <a:spLocks noGrp="1"/>
          </p:cNvSpPr>
          <p:nvPr>
            <p:ph type="sldNum" sz="quarter" idx="12"/>
          </p:nvPr>
        </p:nvSpPr>
        <p:spPr>
          <a:xfrm>
            <a:off x="11453107" y="6572220"/>
            <a:ext cx="952457" cy="379409"/>
          </a:xfrm>
        </p:spPr>
        <p:txBody>
          <a:bodyPr/>
          <a:lstStyle/>
          <a:p>
            <a:fld id="{952B6C0E-C4B9-4094-8E59-5B7DF00D5415}" type="slidenum">
              <a:rPr lang="ru-RU" sz="1400">
                <a:solidFill>
                  <a:schemeClr val="tx1"/>
                </a:solidFill>
              </a:rPr>
              <a:t>70</a:t>
            </a:fld>
            <a:endParaRPr lang="ru-RU" sz="1400" dirty="0">
              <a:solidFill>
                <a:schemeClr val="tx1"/>
              </a:solidFill>
            </a:endParaRPr>
          </a:p>
        </p:txBody>
      </p:sp>
      <p:graphicFrame>
        <p:nvGraphicFramePr>
          <p:cNvPr id="6" name="Таблица 5">
            <a:extLst>
              <a:ext uri="{FF2B5EF4-FFF2-40B4-BE49-F238E27FC236}">
                <a16:creationId xmlns:a16="http://schemas.microsoft.com/office/drawing/2014/main" id="{ED496016-BD23-4060-878F-E6F429BFCDAC}"/>
              </a:ext>
            </a:extLst>
          </p:cNvPr>
          <p:cNvGraphicFramePr>
            <a:graphicFrameLocks noGrp="1"/>
          </p:cNvGraphicFramePr>
          <p:nvPr>
            <p:extLst>
              <p:ext uri="{D42A27DB-BD31-4B8C-83A1-F6EECF244321}">
                <p14:modId xmlns:p14="http://schemas.microsoft.com/office/powerpoint/2010/main" val="2534058731"/>
              </p:ext>
            </p:extLst>
          </p:nvPr>
        </p:nvGraphicFramePr>
        <p:xfrm>
          <a:off x="1077541" y="1179709"/>
          <a:ext cx="10051391" cy="5603264"/>
        </p:xfrm>
        <a:graphic>
          <a:graphicData uri="http://schemas.openxmlformats.org/drawingml/2006/table">
            <a:tbl>
              <a:tblPr/>
              <a:tblGrid>
                <a:gridCol w="878203">
                  <a:extLst>
                    <a:ext uri="{9D8B030D-6E8A-4147-A177-3AD203B41FA5}">
                      <a16:colId xmlns:a16="http://schemas.microsoft.com/office/drawing/2014/main" val="4075186988"/>
                    </a:ext>
                  </a:extLst>
                </a:gridCol>
                <a:gridCol w="1858101">
                  <a:extLst>
                    <a:ext uri="{9D8B030D-6E8A-4147-A177-3AD203B41FA5}">
                      <a16:colId xmlns:a16="http://schemas.microsoft.com/office/drawing/2014/main" val="3701137832"/>
                    </a:ext>
                  </a:extLst>
                </a:gridCol>
                <a:gridCol w="2787091">
                  <a:extLst>
                    <a:ext uri="{9D8B030D-6E8A-4147-A177-3AD203B41FA5}">
                      <a16:colId xmlns:a16="http://schemas.microsoft.com/office/drawing/2014/main" val="1866817207"/>
                    </a:ext>
                  </a:extLst>
                </a:gridCol>
                <a:gridCol w="2151733">
                  <a:extLst>
                    <a:ext uri="{9D8B030D-6E8A-4147-A177-3AD203B41FA5}">
                      <a16:colId xmlns:a16="http://schemas.microsoft.com/office/drawing/2014/main" val="104774632"/>
                    </a:ext>
                  </a:extLst>
                </a:gridCol>
                <a:gridCol w="2376263">
                  <a:extLst>
                    <a:ext uri="{9D8B030D-6E8A-4147-A177-3AD203B41FA5}">
                      <a16:colId xmlns:a16="http://schemas.microsoft.com/office/drawing/2014/main" val="2068860550"/>
                    </a:ext>
                  </a:extLst>
                </a:gridCol>
              </a:tblGrid>
              <a:tr h="506182">
                <a:tc>
                  <a:txBody>
                    <a:bodyPr/>
                    <a:lstStyle/>
                    <a:p>
                      <a:r>
                        <a:rPr lang="ru-RU" sz="1800"/>
                        <a:t>Число групп</a:t>
                      </a:r>
                    </a:p>
                  </a:txBody>
                  <a:tcPr marL="69979" marR="69979" marT="34990" marB="349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ru-RU" sz="1800"/>
                        <a:t>Зависимость</a:t>
                      </a:r>
                    </a:p>
                  </a:txBody>
                  <a:tcPr marL="69979" marR="69979" marT="34990" marB="349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ru-RU" sz="1800"/>
                        <a:t>Условия</a:t>
                      </a:r>
                    </a:p>
                  </a:txBody>
                  <a:tcPr marL="69979" marR="69979" marT="34990" marB="349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ru-RU" sz="1800"/>
                        <a:t>Параметрический тест</a:t>
                      </a:r>
                    </a:p>
                  </a:txBody>
                  <a:tcPr marL="69979" marR="69979" marT="34990" marB="349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ru-RU" sz="1800" dirty="0"/>
                        <a:t>Непараметрический аналог</a:t>
                      </a:r>
                    </a:p>
                  </a:txBody>
                  <a:tcPr marL="69979" marR="69979" marT="34990" marB="349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78740696"/>
                  </a:ext>
                </a:extLst>
              </a:tr>
              <a:tr h="506182">
                <a:tc>
                  <a:txBody>
                    <a:bodyPr/>
                    <a:lstStyle/>
                    <a:p>
                      <a:r>
                        <a:rPr lang="ru-RU" sz="1800"/>
                        <a:t>1</a:t>
                      </a:r>
                    </a:p>
                  </a:txBody>
                  <a:tcPr marL="69979" marR="69979" marT="34990" marB="349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ru-RU" sz="1800" dirty="0"/>
                        <a:t>—</a:t>
                      </a:r>
                    </a:p>
                  </a:txBody>
                  <a:tcPr marL="69979" marR="69979" marT="34990" marB="349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ru-RU" sz="1800"/>
                        <a:t>нормальность</a:t>
                      </a:r>
                    </a:p>
                  </a:txBody>
                  <a:tcPr marL="69979" marR="69979" marT="34990" marB="349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a:t>t-</a:t>
                      </a:r>
                      <a:r>
                        <a:rPr lang="ru-RU" sz="1800"/>
                        <a:t>тест (одновыборочный)</a:t>
                      </a:r>
                    </a:p>
                  </a:txBody>
                  <a:tcPr marL="69979" marR="69979" marT="34990" marB="349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ru-RU" sz="1800"/>
                        <a:t>Знаковый тест, Вилкоксона</a:t>
                      </a:r>
                    </a:p>
                  </a:txBody>
                  <a:tcPr marL="69979" marR="69979" marT="34990" marB="349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15572942"/>
                  </a:ext>
                </a:extLst>
              </a:tr>
              <a:tr h="724284">
                <a:tc>
                  <a:txBody>
                    <a:bodyPr/>
                    <a:lstStyle/>
                    <a:p>
                      <a:r>
                        <a:rPr lang="ru-RU" sz="1800"/>
                        <a:t>2</a:t>
                      </a:r>
                    </a:p>
                  </a:txBody>
                  <a:tcPr marL="69979" marR="69979" marT="34990" marB="349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ru-RU" sz="1800"/>
                        <a:t>независимые</a:t>
                      </a:r>
                    </a:p>
                  </a:txBody>
                  <a:tcPr marL="69979" marR="69979" marT="34990" marB="349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ru-RU" sz="1800"/>
                        <a:t>нормальность + равенство дисперсий</a:t>
                      </a:r>
                    </a:p>
                  </a:txBody>
                  <a:tcPr marL="69979" marR="69979" marT="34990" marB="349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a:t>t-</a:t>
                      </a:r>
                      <a:r>
                        <a:rPr lang="ru-RU" sz="1800"/>
                        <a:t>тест Стьюдента (независимые выборки)</a:t>
                      </a:r>
                    </a:p>
                  </a:txBody>
                  <a:tcPr marL="69979" marR="69979" marT="34990" marB="349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a:t>U-</a:t>
                      </a:r>
                      <a:r>
                        <a:rPr lang="ru-RU" sz="1800"/>
                        <a:t>тест Манна–Уитни</a:t>
                      </a:r>
                    </a:p>
                  </a:txBody>
                  <a:tcPr marL="69979" marR="69979" marT="34990" marB="349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82762185"/>
                  </a:ext>
                </a:extLst>
              </a:tr>
              <a:tr h="506182">
                <a:tc>
                  <a:txBody>
                    <a:bodyPr/>
                    <a:lstStyle/>
                    <a:p>
                      <a:r>
                        <a:rPr lang="ru-RU" sz="1800"/>
                        <a:t>2</a:t>
                      </a:r>
                    </a:p>
                  </a:txBody>
                  <a:tcPr marL="69979" marR="69979" marT="34990" marB="349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ru-RU" sz="1800"/>
                        <a:t>независимые</a:t>
                      </a:r>
                    </a:p>
                  </a:txBody>
                  <a:tcPr marL="69979" marR="69979" marT="34990" marB="349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ru-RU" sz="1800"/>
                        <a:t>нормальность + дисперсии неравны</a:t>
                      </a:r>
                    </a:p>
                  </a:txBody>
                  <a:tcPr marL="69979" marR="69979" marT="34990" marB="349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a:t>t-</a:t>
                      </a:r>
                      <a:r>
                        <a:rPr lang="ru-RU" sz="1800"/>
                        <a:t>тест Уэлча</a:t>
                      </a:r>
                    </a:p>
                  </a:txBody>
                  <a:tcPr marL="69979" marR="69979" marT="34990" marB="349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a:t>U-</a:t>
                      </a:r>
                      <a:r>
                        <a:rPr lang="ru-RU" sz="1800"/>
                        <a:t>тест Манна–Уитни</a:t>
                      </a:r>
                    </a:p>
                  </a:txBody>
                  <a:tcPr marL="69979" marR="69979" marT="34990" marB="349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23347247"/>
                  </a:ext>
                </a:extLst>
              </a:tr>
              <a:tr h="506182">
                <a:tc>
                  <a:txBody>
                    <a:bodyPr/>
                    <a:lstStyle/>
                    <a:p>
                      <a:r>
                        <a:rPr lang="ru-RU" sz="1800"/>
                        <a:t>2</a:t>
                      </a:r>
                    </a:p>
                  </a:txBody>
                  <a:tcPr marL="69979" marR="69979" marT="34990" marB="349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ru-RU" sz="1800"/>
                        <a:t>зависимые (парные)</a:t>
                      </a:r>
                    </a:p>
                  </a:txBody>
                  <a:tcPr marL="69979" marR="69979" marT="34990" marB="349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ru-RU" sz="1800"/>
                        <a:t>нормальность разностей</a:t>
                      </a:r>
                    </a:p>
                  </a:txBody>
                  <a:tcPr marL="69979" marR="69979" marT="34990" marB="349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a:t>t-</a:t>
                      </a:r>
                      <a:r>
                        <a:rPr lang="ru-RU" sz="1800"/>
                        <a:t>тест для парных выборок</a:t>
                      </a:r>
                    </a:p>
                  </a:txBody>
                  <a:tcPr marL="69979" marR="69979" marT="34990" marB="349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a:t>T-</a:t>
                      </a:r>
                      <a:r>
                        <a:rPr lang="ru-RU" sz="1800"/>
                        <a:t>тест Вилкоксона</a:t>
                      </a:r>
                    </a:p>
                  </a:txBody>
                  <a:tcPr marL="69979" marR="69979" marT="34990" marB="349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71054674"/>
                  </a:ext>
                </a:extLst>
              </a:tr>
              <a:tr h="724284">
                <a:tc>
                  <a:txBody>
                    <a:bodyPr/>
                    <a:lstStyle/>
                    <a:p>
                      <a:r>
                        <a:rPr lang="ru-RU" sz="1800"/>
                        <a:t>≥3</a:t>
                      </a:r>
                    </a:p>
                  </a:txBody>
                  <a:tcPr marL="69979" marR="69979" marT="34990" marB="349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ru-RU" sz="1800"/>
                        <a:t>независимые</a:t>
                      </a:r>
                    </a:p>
                  </a:txBody>
                  <a:tcPr marL="69979" marR="69979" marT="34990" marB="349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ru-RU" sz="1800"/>
                        <a:t>нормальность + гомогенность дисперсий</a:t>
                      </a:r>
                    </a:p>
                  </a:txBody>
                  <a:tcPr marL="69979" marR="69979" marT="34990" marB="349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ru-RU" sz="1800"/>
                        <a:t>Однофакторный </a:t>
                      </a:r>
                      <a:r>
                        <a:rPr lang="en-US" sz="1800"/>
                        <a:t>ANOVA</a:t>
                      </a:r>
                    </a:p>
                  </a:txBody>
                  <a:tcPr marL="69979" marR="69979" marT="34990" marB="349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a:t>H-</a:t>
                      </a:r>
                      <a:r>
                        <a:rPr lang="ru-RU" sz="1800"/>
                        <a:t>тест Краскела–Уоллиса</a:t>
                      </a:r>
                    </a:p>
                  </a:txBody>
                  <a:tcPr marL="69979" marR="69979" marT="34990" marB="349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01649587"/>
                  </a:ext>
                </a:extLst>
              </a:tr>
              <a:tr h="506182">
                <a:tc>
                  <a:txBody>
                    <a:bodyPr/>
                    <a:lstStyle/>
                    <a:p>
                      <a:r>
                        <a:rPr lang="ru-RU" sz="1800"/>
                        <a:t>≥3</a:t>
                      </a:r>
                    </a:p>
                  </a:txBody>
                  <a:tcPr marL="69979" marR="69979" marT="34990" marB="349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ru-RU" sz="1800"/>
                        <a:t>независимые</a:t>
                      </a:r>
                    </a:p>
                  </a:txBody>
                  <a:tcPr marL="69979" marR="69979" marT="34990" marB="349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ru-RU" sz="1800"/>
                        <a:t>нарушена гомогенность</a:t>
                      </a:r>
                    </a:p>
                  </a:txBody>
                  <a:tcPr marL="69979" marR="69979" marT="34990" marB="349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a:t>ANOVA </a:t>
                      </a:r>
                      <a:r>
                        <a:rPr lang="ru-RU" sz="1800"/>
                        <a:t>Уэлча (однофакторный)</a:t>
                      </a:r>
                    </a:p>
                  </a:txBody>
                  <a:tcPr marL="69979" marR="69979" marT="34990" marB="349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a:t>H-</a:t>
                      </a:r>
                      <a:r>
                        <a:rPr lang="ru-RU" sz="1800"/>
                        <a:t>тест Краскела–Уоллиса</a:t>
                      </a:r>
                    </a:p>
                  </a:txBody>
                  <a:tcPr marL="69979" marR="69979" marT="34990" marB="349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73577417"/>
                  </a:ext>
                </a:extLst>
              </a:tr>
              <a:tr h="724284">
                <a:tc>
                  <a:txBody>
                    <a:bodyPr/>
                    <a:lstStyle/>
                    <a:p>
                      <a:r>
                        <a:rPr lang="ru-RU" sz="1800"/>
                        <a:t>≥3</a:t>
                      </a:r>
                    </a:p>
                  </a:txBody>
                  <a:tcPr marL="69979" marR="69979" marT="34990" marB="349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ru-RU" sz="1800"/>
                        <a:t>зависимые (повторные измерения)</a:t>
                      </a:r>
                    </a:p>
                  </a:txBody>
                  <a:tcPr marL="69979" marR="69979" marT="34990" marB="349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ru-RU" sz="1800"/>
                        <a:t>нормальность</a:t>
                      </a:r>
                    </a:p>
                  </a:txBody>
                  <a:tcPr marL="69979" marR="69979" marT="34990" marB="349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a:t>ANOVA </a:t>
                      </a:r>
                      <a:r>
                        <a:rPr lang="ru-RU" sz="1800"/>
                        <a:t>повторных измерений</a:t>
                      </a:r>
                    </a:p>
                  </a:txBody>
                  <a:tcPr marL="69979" marR="69979" marT="34990" marB="349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dirty="0"/>
                        <a:t>Q-</a:t>
                      </a:r>
                      <a:r>
                        <a:rPr lang="ru-RU" sz="1800" dirty="0"/>
                        <a:t>тест Фридмана</a:t>
                      </a:r>
                    </a:p>
                  </a:txBody>
                  <a:tcPr marL="69979" marR="69979" marT="34990" marB="349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72996155"/>
                  </a:ext>
                </a:extLst>
              </a:tr>
            </a:tbl>
          </a:graphicData>
        </a:graphic>
      </p:graphicFrame>
      <p:sp>
        <p:nvSpPr>
          <p:cNvPr id="9" name="TextBox 8">
            <a:extLst>
              <a:ext uri="{FF2B5EF4-FFF2-40B4-BE49-F238E27FC236}">
                <a16:creationId xmlns:a16="http://schemas.microsoft.com/office/drawing/2014/main" id="{6C66B9C9-4393-4708-AE3F-683A06942FA2}"/>
              </a:ext>
            </a:extLst>
          </p:cNvPr>
          <p:cNvSpPr txBox="1"/>
          <p:nvPr/>
        </p:nvSpPr>
        <p:spPr>
          <a:xfrm>
            <a:off x="1814304" y="687109"/>
            <a:ext cx="9182887" cy="400110"/>
          </a:xfrm>
          <a:prstGeom prst="rect">
            <a:avLst/>
          </a:prstGeom>
          <a:noFill/>
        </p:spPr>
        <p:txBody>
          <a:bodyPr wrap="square">
            <a:spAutoFit/>
          </a:bodyPr>
          <a:lstStyle/>
          <a:p>
            <a:pPr algn="ctr"/>
            <a:r>
              <a:rPr lang="ru-RU" b="1" dirty="0"/>
              <a:t>Сравнение групп (количественные или порядковые данные)</a:t>
            </a:r>
          </a:p>
        </p:txBody>
      </p:sp>
    </p:spTree>
    <p:extLst>
      <p:ext uri="{BB962C8B-B14F-4D97-AF65-F5344CB8AC3E}">
        <p14:creationId xmlns:p14="http://schemas.microsoft.com/office/powerpoint/2010/main" val="41761438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4"/>
          <p:cNvSpPr>
            <a:spLocks noChangeArrowheads="1"/>
          </p:cNvSpPr>
          <p:nvPr/>
        </p:nvSpPr>
        <p:spPr bwMode="auto">
          <a:xfrm>
            <a:off x="861517" y="322263"/>
            <a:ext cx="11515253" cy="6553200"/>
          </a:xfrm>
          <a:prstGeom prst="roundRect">
            <a:avLst>
              <a:gd name="adj" fmla="val 16667"/>
            </a:avLst>
          </a:prstGeom>
          <a:solidFill>
            <a:schemeClr val="bg1">
              <a:alpha val="50195"/>
            </a:scheme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5" name="AutoShape 5"/>
          <p:cNvSpPr>
            <a:spLocks noChangeArrowheads="1"/>
          </p:cNvSpPr>
          <p:nvPr/>
        </p:nvSpPr>
        <p:spPr bwMode="auto">
          <a:xfrm>
            <a:off x="2373685" y="322263"/>
            <a:ext cx="8064128" cy="1195700"/>
          </a:xfrm>
          <a:prstGeom prst="roundRect">
            <a:avLst>
              <a:gd name="adj" fmla="val 37469"/>
            </a:avLst>
          </a:prstGeom>
          <a:solidFill>
            <a:srgbClr val="FFFFFF">
              <a:alpha val="78822"/>
            </a:srgb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2" name="Заголовок 1"/>
          <p:cNvSpPr txBox="1">
            <a:spLocks noGrp="1"/>
          </p:cNvSpPr>
          <p:nvPr>
            <p:ph type="title" idx="4294967295"/>
          </p:nvPr>
        </p:nvSpPr>
        <p:spPr>
          <a:xfrm>
            <a:off x="1992933" y="222228"/>
            <a:ext cx="8825631" cy="490678"/>
          </a:xfrm>
          <a:prstGeom prst="rect">
            <a:avLst/>
          </a:prstGeom>
        </p:spPr>
        <p:txBody>
          <a:bodyPr wrap="square">
            <a:noAutofit/>
          </a:bodyPr>
          <a:lstStyle/>
          <a:p>
            <a:pPr lvl="0"/>
            <a:r>
              <a:rPr lang="ru-RU" sz="2800" dirty="0"/>
              <a:t>Классификация методов тестирования гипотез </a:t>
            </a:r>
          </a:p>
        </p:txBody>
      </p:sp>
      <p:sp>
        <p:nvSpPr>
          <p:cNvPr id="3" name="Номер слайда 2"/>
          <p:cNvSpPr>
            <a:spLocks noGrp="1"/>
          </p:cNvSpPr>
          <p:nvPr>
            <p:ph type="sldNum" sz="quarter" idx="12"/>
          </p:nvPr>
        </p:nvSpPr>
        <p:spPr>
          <a:xfrm>
            <a:off x="11453107" y="6572220"/>
            <a:ext cx="952457" cy="379409"/>
          </a:xfrm>
        </p:spPr>
        <p:txBody>
          <a:bodyPr/>
          <a:lstStyle/>
          <a:p>
            <a:fld id="{952B6C0E-C4B9-4094-8E59-5B7DF00D5415}" type="slidenum">
              <a:rPr lang="ru-RU" sz="1400">
                <a:solidFill>
                  <a:schemeClr val="tx1"/>
                </a:solidFill>
              </a:rPr>
              <a:t>71</a:t>
            </a:fld>
            <a:endParaRPr lang="ru-RU" sz="1400" dirty="0">
              <a:solidFill>
                <a:schemeClr val="tx1"/>
              </a:solidFill>
            </a:endParaRPr>
          </a:p>
        </p:txBody>
      </p:sp>
      <p:sp>
        <p:nvSpPr>
          <p:cNvPr id="9" name="TextBox 8">
            <a:extLst>
              <a:ext uri="{FF2B5EF4-FFF2-40B4-BE49-F238E27FC236}">
                <a16:creationId xmlns:a16="http://schemas.microsoft.com/office/drawing/2014/main" id="{6C66B9C9-4393-4708-AE3F-683A06942FA2}"/>
              </a:ext>
            </a:extLst>
          </p:cNvPr>
          <p:cNvSpPr txBox="1"/>
          <p:nvPr/>
        </p:nvSpPr>
        <p:spPr>
          <a:xfrm>
            <a:off x="1814304" y="687109"/>
            <a:ext cx="9182887" cy="400110"/>
          </a:xfrm>
          <a:prstGeom prst="rect">
            <a:avLst/>
          </a:prstGeom>
          <a:noFill/>
        </p:spPr>
        <p:txBody>
          <a:bodyPr wrap="square">
            <a:spAutoFit/>
          </a:bodyPr>
          <a:lstStyle/>
          <a:p>
            <a:pPr algn="ctr"/>
            <a:r>
              <a:rPr lang="ru-RU" b="1" dirty="0"/>
              <a:t>Анализ категориальных (номинальных) данных (частоты)</a:t>
            </a:r>
          </a:p>
        </p:txBody>
      </p:sp>
      <p:graphicFrame>
        <p:nvGraphicFramePr>
          <p:cNvPr id="8" name="Таблица 7">
            <a:extLst>
              <a:ext uri="{FF2B5EF4-FFF2-40B4-BE49-F238E27FC236}">
                <a16:creationId xmlns:a16="http://schemas.microsoft.com/office/drawing/2014/main" id="{680A1992-6D4E-47A0-ADA0-434219F43B90}"/>
              </a:ext>
            </a:extLst>
          </p:cNvPr>
          <p:cNvGraphicFramePr>
            <a:graphicFrameLocks noGrp="1"/>
          </p:cNvGraphicFramePr>
          <p:nvPr>
            <p:extLst>
              <p:ext uri="{D42A27DB-BD31-4B8C-83A1-F6EECF244321}">
                <p14:modId xmlns:p14="http://schemas.microsoft.com/office/powerpoint/2010/main" val="2643497185"/>
              </p:ext>
            </p:extLst>
          </p:nvPr>
        </p:nvGraphicFramePr>
        <p:xfrm>
          <a:off x="1438275" y="1712593"/>
          <a:ext cx="10139660" cy="2484120"/>
        </p:xfrm>
        <a:graphic>
          <a:graphicData uri="http://schemas.openxmlformats.org/drawingml/2006/table">
            <a:tbl>
              <a:tblPr/>
              <a:tblGrid>
                <a:gridCol w="5069830">
                  <a:extLst>
                    <a:ext uri="{9D8B030D-6E8A-4147-A177-3AD203B41FA5}">
                      <a16:colId xmlns:a16="http://schemas.microsoft.com/office/drawing/2014/main" val="2270035724"/>
                    </a:ext>
                  </a:extLst>
                </a:gridCol>
                <a:gridCol w="5069830">
                  <a:extLst>
                    <a:ext uri="{9D8B030D-6E8A-4147-A177-3AD203B41FA5}">
                      <a16:colId xmlns:a16="http://schemas.microsoft.com/office/drawing/2014/main" val="3914886205"/>
                    </a:ext>
                  </a:extLst>
                </a:gridCol>
              </a:tblGrid>
              <a:tr h="376428">
                <a:tc>
                  <a:txBody>
                    <a:bodyPr/>
                    <a:lstStyle/>
                    <a:p>
                      <a:r>
                        <a:rPr lang="ru-RU" sz="1900"/>
                        <a:t>Цель</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ru-RU" sz="1900"/>
                        <a:t>Тест</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10218851"/>
                  </a:ext>
                </a:extLst>
              </a:tr>
              <a:tr h="661416">
                <a:tc>
                  <a:txBody>
                    <a:bodyPr/>
                    <a:lstStyle/>
                    <a:p>
                      <a:r>
                        <a:rPr lang="ru-RU" sz="1900"/>
                        <a:t>Соответствие наблюдаемых частот ожидаемым (одна номинальная переменная)</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l-GR" sz="1900"/>
                        <a:t>χ² (</a:t>
                      </a:r>
                      <a:r>
                        <a:rPr lang="ru-RU" sz="1900"/>
                        <a:t>хи-квадрат) согласия</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33493224"/>
                  </a:ext>
                </a:extLst>
              </a:tr>
              <a:tr h="661416">
                <a:tc>
                  <a:txBody>
                    <a:bodyPr/>
                    <a:lstStyle/>
                    <a:p>
                      <a:r>
                        <a:rPr lang="ru-RU" sz="1900"/>
                        <a:t>Независимость двух номинальных признаков (таблица сопряжённости)</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ru-RU" sz="1900"/>
                        <a:t>χ² независимости, точный критерий Фишера (при малых 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83717664"/>
                  </a:ext>
                </a:extLst>
              </a:tr>
              <a:tr h="376428">
                <a:tc>
                  <a:txBody>
                    <a:bodyPr/>
                    <a:lstStyle/>
                    <a:p>
                      <a:r>
                        <a:rPr lang="ru-RU" sz="1900"/>
                        <a:t>Сравнение долей в двух независимых группах</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ru-RU" sz="1900"/>
                        <a:t>z-критерий для долей (эквивалентен χ²)</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84107959"/>
                  </a:ext>
                </a:extLst>
              </a:tr>
              <a:tr h="376428">
                <a:tc>
                  <a:txBody>
                    <a:bodyPr/>
                    <a:lstStyle/>
                    <a:p>
                      <a:r>
                        <a:rPr lang="ru-RU" sz="1900"/>
                        <a:t>Сравнение долей в двух зависимых группах</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ru-RU" sz="1900" dirty="0"/>
                        <a:t>Критерий Мак-</a:t>
                      </a:r>
                      <a:r>
                        <a:rPr lang="ru-RU" sz="1900" dirty="0" err="1"/>
                        <a:t>Немара</a:t>
                      </a:r>
                      <a:endParaRPr lang="ru-RU" sz="19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30144919"/>
                  </a:ext>
                </a:extLst>
              </a:tr>
            </a:tbl>
          </a:graphicData>
        </a:graphic>
      </p:graphicFrame>
    </p:spTree>
    <p:extLst>
      <p:ext uri="{BB962C8B-B14F-4D97-AF65-F5344CB8AC3E}">
        <p14:creationId xmlns:p14="http://schemas.microsoft.com/office/powerpoint/2010/main" val="21397851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4"/>
          <p:cNvSpPr>
            <a:spLocks noChangeArrowheads="1"/>
          </p:cNvSpPr>
          <p:nvPr/>
        </p:nvSpPr>
        <p:spPr bwMode="auto">
          <a:xfrm>
            <a:off x="789509" y="242462"/>
            <a:ext cx="11305256" cy="6553200"/>
          </a:xfrm>
          <a:prstGeom prst="roundRect">
            <a:avLst>
              <a:gd name="adj" fmla="val 16667"/>
            </a:avLst>
          </a:prstGeom>
          <a:solidFill>
            <a:schemeClr val="bg1">
              <a:alpha val="50195"/>
            </a:scheme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5" name="AutoShape 5"/>
          <p:cNvSpPr>
            <a:spLocks noChangeArrowheads="1"/>
          </p:cNvSpPr>
          <p:nvPr/>
        </p:nvSpPr>
        <p:spPr bwMode="auto">
          <a:xfrm>
            <a:off x="2373685" y="322264"/>
            <a:ext cx="8064128" cy="720601"/>
          </a:xfrm>
          <a:prstGeom prst="roundRect">
            <a:avLst>
              <a:gd name="adj" fmla="val 37469"/>
            </a:avLst>
          </a:prstGeom>
          <a:solidFill>
            <a:srgbClr val="FFFFFF">
              <a:alpha val="78822"/>
            </a:srgb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2" name="Заголовок 1"/>
          <p:cNvSpPr txBox="1">
            <a:spLocks noGrp="1"/>
          </p:cNvSpPr>
          <p:nvPr>
            <p:ph type="title" idx="4294967295"/>
          </p:nvPr>
        </p:nvSpPr>
        <p:spPr>
          <a:xfrm>
            <a:off x="1894756" y="322264"/>
            <a:ext cx="8550275" cy="1184275"/>
          </a:xfrm>
          <a:prstGeom prst="rect">
            <a:avLst/>
          </a:prstGeom>
        </p:spPr>
        <p:txBody>
          <a:bodyPr wrap="square">
            <a:noAutofit/>
          </a:bodyPr>
          <a:lstStyle/>
          <a:p>
            <a:pPr lvl="0"/>
            <a:r>
              <a:rPr lang="ru-RU" sz="3949" dirty="0"/>
              <a:t>Проверка условий применимости</a:t>
            </a:r>
          </a:p>
        </p:txBody>
      </p:sp>
      <p:sp>
        <p:nvSpPr>
          <p:cNvPr id="3" name="Текст 2"/>
          <p:cNvSpPr txBox="1">
            <a:spLocks noGrp="1"/>
          </p:cNvSpPr>
          <p:nvPr>
            <p:ph type="body" idx="4294967295"/>
          </p:nvPr>
        </p:nvSpPr>
        <p:spPr>
          <a:xfrm>
            <a:off x="1437581" y="3324732"/>
            <a:ext cx="9007449" cy="1894597"/>
          </a:xfrm>
          <a:prstGeom prst="rect">
            <a:avLst/>
          </a:prstGeom>
          <a:ln>
            <a:solidFill>
              <a:schemeClr val="accent6"/>
            </a:solidFill>
          </a:ln>
        </p:spPr>
        <p:txBody>
          <a:bodyPr wrap="square"/>
          <a:lstStyle/>
          <a:p>
            <a:pPr marL="0" indent="0">
              <a:buClr>
                <a:srgbClr val="CC9900"/>
              </a:buClr>
              <a:buSzPct val="65000"/>
              <a:buFont typeface="Wingdings" pitchFamily="2"/>
              <a:buChar char=""/>
              <a:tabLst>
                <a:tab pos="0" algn="l"/>
                <a:tab pos="110352" algn="l"/>
                <a:tab pos="577199" algn="l"/>
                <a:tab pos="1044046" algn="l"/>
                <a:tab pos="1510893" algn="l"/>
                <a:tab pos="1977740" algn="l"/>
                <a:tab pos="2444587" algn="l"/>
                <a:tab pos="2911434" algn="l"/>
                <a:tab pos="3378279" algn="l"/>
                <a:tab pos="3845127" algn="l"/>
                <a:tab pos="4311973" algn="l"/>
                <a:tab pos="4778447" algn="l"/>
                <a:tab pos="5245294" algn="l"/>
                <a:tab pos="5712141" algn="l"/>
                <a:tab pos="6178987" algn="l"/>
                <a:tab pos="6645833" algn="l"/>
                <a:tab pos="7112681" algn="l"/>
                <a:tab pos="7579527" algn="l"/>
                <a:tab pos="8046375" algn="l"/>
                <a:tab pos="8513222" algn="l"/>
                <a:tab pos="8980068" algn="l"/>
              </a:tabLst>
            </a:pPr>
            <a:r>
              <a:rPr lang="ru-RU" sz="2800" dirty="0"/>
              <a:t> Например, для применения t – критерия Стьюдента или для проверки гипотезы независимости с помощью критерия Пирсона надо проверить близость распределения переменных к нормальному.</a:t>
            </a:r>
          </a:p>
          <a:p>
            <a:pPr marL="354624" indent="-354624">
              <a:tabLst>
                <a:tab pos="354624" algn="l"/>
                <a:tab pos="464976" algn="l"/>
                <a:tab pos="931823" algn="l"/>
                <a:tab pos="1398670" algn="l"/>
                <a:tab pos="1865517" algn="l"/>
                <a:tab pos="2332364" algn="l"/>
                <a:tab pos="2799211" algn="l"/>
                <a:tab pos="3266058" algn="l"/>
                <a:tab pos="3732903" algn="l"/>
                <a:tab pos="4199751" algn="l"/>
                <a:tab pos="4666597" algn="l"/>
                <a:tab pos="5133071" algn="l"/>
                <a:tab pos="5599918" algn="l"/>
                <a:tab pos="6066765" algn="l"/>
                <a:tab pos="6533611" algn="l"/>
                <a:tab pos="7000457" algn="l"/>
                <a:tab pos="7467305" algn="l"/>
                <a:tab pos="7934151" algn="l"/>
                <a:tab pos="8400999" algn="l"/>
                <a:tab pos="8867846" algn="l"/>
                <a:tab pos="9334693" algn="l"/>
              </a:tabLst>
            </a:pPr>
            <a:endParaRPr lang="ru-RU" sz="2800" dirty="0"/>
          </a:p>
        </p:txBody>
      </p:sp>
      <p:sp>
        <p:nvSpPr>
          <p:cNvPr id="7" name="Текст 2"/>
          <p:cNvSpPr txBox="1">
            <a:spLocks/>
          </p:cNvSpPr>
          <p:nvPr/>
        </p:nvSpPr>
        <p:spPr>
          <a:xfrm>
            <a:off x="1886269" y="1576307"/>
            <a:ext cx="8551545" cy="1008112"/>
          </a:xfrm>
          <a:prstGeom prst="rect">
            <a:avLst/>
          </a:prstGeom>
        </p:spPr>
        <p:txBody>
          <a:bodyPr wrap="square"/>
          <a:lstStyle>
            <a:lvl1pPr marL="373063" indent="-373063" algn="l" defTabSz="993775" rtl="0" fontAlgn="base">
              <a:spcBef>
                <a:spcPct val="20000"/>
              </a:spcBef>
              <a:spcAft>
                <a:spcPct val="0"/>
              </a:spcAft>
              <a:buChar char="•"/>
              <a:defRPr sz="3500" kern="1200">
                <a:solidFill>
                  <a:schemeClr val="tx1"/>
                </a:solidFill>
                <a:latin typeface="+mn-lt"/>
                <a:ea typeface="+mn-ea"/>
                <a:cs typeface="+mn-cs"/>
              </a:defRPr>
            </a:lvl1pPr>
            <a:lvl2pPr marL="808038" indent="-311150" algn="l" defTabSz="993775" rtl="0" fontAlgn="base">
              <a:spcBef>
                <a:spcPct val="20000"/>
              </a:spcBef>
              <a:spcAft>
                <a:spcPct val="0"/>
              </a:spcAft>
              <a:buChar char="–"/>
              <a:defRPr sz="3000" kern="1200">
                <a:solidFill>
                  <a:schemeClr val="tx1"/>
                </a:solidFill>
                <a:latin typeface="+mn-lt"/>
                <a:ea typeface="+mn-ea"/>
                <a:cs typeface="+mn-cs"/>
              </a:defRPr>
            </a:lvl2pPr>
            <a:lvl3pPr marL="1243013" indent="-249238" algn="l" defTabSz="993775" rtl="0" fontAlgn="base">
              <a:spcBef>
                <a:spcPct val="20000"/>
              </a:spcBef>
              <a:spcAft>
                <a:spcPct val="0"/>
              </a:spcAft>
              <a:buChar char="•"/>
              <a:defRPr sz="2600" kern="1200">
                <a:solidFill>
                  <a:schemeClr val="tx1"/>
                </a:solidFill>
                <a:latin typeface="+mn-lt"/>
                <a:ea typeface="+mn-ea"/>
                <a:cs typeface="+mn-cs"/>
              </a:defRPr>
            </a:lvl3pPr>
            <a:lvl4pPr marL="1739900" indent="-247650" algn="l" defTabSz="993775" rtl="0" fontAlgn="base">
              <a:spcBef>
                <a:spcPct val="20000"/>
              </a:spcBef>
              <a:spcAft>
                <a:spcPct val="0"/>
              </a:spcAft>
              <a:buChar char="–"/>
              <a:defRPr sz="2200" kern="1200">
                <a:solidFill>
                  <a:schemeClr val="tx1"/>
                </a:solidFill>
                <a:latin typeface="+mn-lt"/>
                <a:ea typeface="+mn-ea"/>
                <a:cs typeface="+mn-cs"/>
              </a:defRPr>
            </a:lvl4pPr>
            <a:lvl5pPr marL="2236788" indent="-247650" algn="l" defTabSz="993775" rtl="0" fontAlgn="base">
              <a:spcBef>
                <a:spcPct val="20000"/>
              </a:spcBef>
              <a:spcAft>
                <a:spcPct val="0"/>
              </a:spcAft>
              <a:buChar char="»"/>
              <a:defRPr sz="2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ru-RU" sz="2800"/>
              <a:t>Проверка гипотезы о нормальности распределения случайной величины</a:t>
            </a:r>
            <a:endParaRPr lang="ru-RU" sz="2800" dirty="0"/>
          </a:p>
        </p:txBody>
      </p:sp>
      <p:sp>
        <p:nvSpPr>
          <p:cNvPr id="8" name="Номер слайда 7"/>
          <p:cNvSpPr>
            <a:spLocks noGrp="1"/>
          </p:cNvSpPr>
          <p:nvPr>
            <p:ph type="sldNum" sz="quarter" idx="12"/>
          </p:nvPr>
        </p:nvSpPr>
        <p:spPr/>
        <p:txBody>
          <a:bodyPr/>
          <a:lstStyle/>
          <a:p>
            <a:fld id="{952B6C0E-C4B9-4094-8E59-5B7DF00D5415}" type="slidenum">
              <a:rPr lang="ru-RU" smtClean="0">
                <a:solidFill>
                  <a:schemeClr val="tx1"/>
                </a:solidFill>
              </a:rPr>
              <a:t>72</a:t>
            </a:fld>
            <a:endParaRPr lang="ru-RU" dirty="0">
              <a:solidFill>
                <a:schemeClr val="tx1"/>
              </a:solidFill>
            </a:endParaRPr>
          </a:p>
        </p:txBody>
      </p:sp>
    </p:spTree>
    <p:extLst>
      <p:ext uri="{BB962C8B-B14F-4D97-AF65-F5344CB8AC3E}">
        <p14:creationId xmlns:p14="http://schemas.microsoft.com/office/powerpoint/2010/main" val="36924197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4"/>
          <p:cNvSpPr>
            <a:spLocks noChangeArrowheads="1"/>
          </p:cNvSpPr>
          <p:nvPr/>
        </p:nvSpPr>
        <p:spPr bwMode="auto">
          <a:xfrm>
            <a:off x="1438276" y="322263"/>
            <a:ext cx="10656489" cy="6553200"/>
          </a:xfrm>
          <a:prstGeom prst="roundRect">
            <a:avLst>
              <a:gd name="adj" fmla="val 16667"/>
            </a:avLst>
          </a:prstGeom>
          <a:solidFill>
            <a:schemeClr val="bg1">
              <a:alpha val="50195"/>
            </a:scheme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5" name="AutoShape 5"/>
          <p:cNvSpPr>
            <a:spLocks noChangeArrowheads="1"/>
          </p:cNvSpPr>
          <p:nvPr/>
        </p:nvSpPr>
        <p:spPr bwMode="auto">
          <a:xfrm>
            <a:off x="2373685" y="322264"/>
            <a:ext cx="8064128" cy="720601"/>
          </a:xfrm>
          <a:prstGeom prst="roundRect">
            <a:avLst>
              <a:gd name="adj" fmla="val 37469"/>
            </a:avLst>
          </a:prstGeom>
          <a:solidFill>
            <a:srgbClr val="FFFFFF">
              <a:alpha val="78822"/>
            </a:srgb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2" name="Заголовок 1"/>
          <p:cNvSpPr txBox="1">
            <a:spLocks noGrp="1"/>
          </p:cNvSpPr>
          <p:nvPr>
            <p:ph type="title" idx="4294967295"/>
          </p:nvPr>
        </p:nvSpPr>
        <p:spPr>
          <a:xfrm>
            <a:off x="2023269" y="410554"/>
            <a:ext cx="8550275" cy="838200"/>
          </a:xfrm>
          <a:prstGeom prst="rect">
            <a:avLst/>
          </a:prstGeom>
        </p:spPr>
        <p:txBody>
          <a:bodyPr wrap="square">
            <a:noAutofit/>
          </a:bodyPr>
          <a:lstStyle/>
          <a:p>
            <a:pPr lvl="0"/>
            <a:r>
              <a:rPr lang="ru-RU" sz="4000" dirty="0"/>
              <a:t>Статистическая формулировка</a:t>
            </a:r>
          </a:p>
        </p:txBody>
      </p:sp>
      <p:sp>
        <p:nvSpPr>
          <p:cNvPr id="3" name="Текст 2"/>
          <p:cNvSpPr txBox="1">
            <a:spLocks noGrp="1"/>
          </p:cNvSpPr>
          <p:nvPr>
            <p:ph type="body" idx="4294967295"/>
          </p:nvPr>
        </p:nvSpPr>
        <p:spPr>
          <a:xfrm>
            <a:off x="1884218" y="2208123"/>
            <a:ext cx="9634483" cy="3078934"/>
          </a:xfrm>
          <a:prstGeom prst="rect">
            <a:avLst/>
          </a:prstGeom>
        </p:spPr>
        <p:txBody>
          <a:bodyPr wrap="square"/>
          <a:lstStyle/>
          <a:p>
            <a:pPr marL="0" indent="0">
              <a:buClr>
                <a:srgbClr val="CC9900"/>
              </a:buClr>
              <a:buSzPct val="65000"/>
              <a:buFont typeface="Wingdings" pitchFamily="2"/>
              <a:buChar char=""/>
              <a:tabLst>
                <a:tab pos="0" algn="l"/>
                <a:tab pos="110352" algn="l"/>
                <a:tab pos="577199" algn="l"/>
                <a:tab pos="1044046" algn="l"/>
                <a:tab pos="1510893" algn="l"/>
                <a:tab pos="1977740" algn="l"/>
                <a:tab pos="2444587" algn="l"/>
                <a:tab pos="2911434" algn="l"/>
                <a:tab pos="3378279" algn="l"/>
                <a:tab pos="3845127" algn="l"/>
                <a:tab pos="4311973" algn="l"/>
                <a:tab pos="4778447" algn="l"/>
                <a:tab pos="5245294" algn="l"/>
                <a:tab pos="5712141" algn="l"/>
                <a:tab pos="6178987" algn="l"/>
                <a:tab pos="6645833" algn="l"/>
                <a:tab pos="7112681" algn="l"/>
                <a:tab pos="7579527" algn="l"/>
                <a:tab pos="8046375" algn="l"/>
                <a:tab pos="8513222" algn="l"/>
                <a:tab pos="8980068" algn="l"/>
              </a:tabLst>
            </a:pPr>
            <a:r>
              <a:rPr lang="ru-RU" sz="3200" dirty="0">
                <a:solidFill>
                  <a:srgbClr val="FF0000"/>
                </a:solidFill>
              </a:rPr>
              <a:t> Гипотеза</a:t>
            </a:r>
            <a:r>
              <a:rPr lang="ru-RU" sz="3200" dirty="0"/>
              <a:t>: Случайная величина имеет нормальное распределение, значения параметров распределения заранее не известны.</a:t>
            </a:r>
          </a:p>
          <a:p>
            <a:pPr marL="0" indent="0">
              <a:buClr>
                <a:srgbClr val="CC9900"/>
              </a:buClr>
              <a:buSzPct val="65000"/>
              <a:buFont typeface="Wingdings" pitchFamily="2"/>
              <a:buChar char=""/>
              <a:tabLst>
                <a:tab pos="0" algn="l"/>
                <a:tab pos="110352" algn="l"/>
                <a:tab pos="577199" algn="l"/>
                <a:tab pos="1044046" algn="l"/>
                <a:tab pos="1510893" algn="l"/>
                <a:tab pos="1977740" algn="l"/>
                <a:tab pos="2444587" algn="l"/>
                <a:tab pos="2911434" algn="l"/>
                <a:tab pos="3378279" algn="l"/>
                <a:tab pos="3845127" algn="l"/>
                <a:tab pos="4311973" algn="l"/>
                <a:tab pos="4778447" algn="l"/>
                <a:tab pos="5245294" algn="l"/>
                <a:tab pos="5712141" algn="l"/>
                <a:tab pos="6178987" algn="l"/>
                <a:tab pos="6645833" algn="l"/>
                <a:tab pos="7112681" algn="l"/>
                <a:tab pos="7579527" algn="l"/>
                <a:tab pos="8046375" algn="l"/>
                <a:tab pos="8513222" algn="l"/>
                <a:tab pos="8980068" algn="l"/>
              </a:tabLst>
            </a:pPr>
            <a:r>
              <a:rPr lang="ru-RU" sz="3200" dirty="0">
                <a:solidFill>
                  <a:srgbClr val="FF0000"/>
                </a:solidFill>
              </a:rPr>
              <a:t> Конкурирующая гипотеза</a:t>
            </a:r>
            <a:r>
              <a:rPr lang="ru-RU" sz="3200" dirty="0"/>
              <a:t>: Распределение случайной величины отличается от нормального.</a:t>
            </a:r>
          </a:p>
        </p:txBody>
      </p:sp>
      <p:sp>
        <p:nvSpPr>
          <p:cNvPr id="7" name="Номер слайда 6"/>
          <p:cNvSpPr>
            <a:spLocks noGrp="1"/>
          </p:cNvSpPr>
          <p:nvPr>
            <p:ph type="sldNum" sz="quarter" idx="12"/>
          </p:nvPr>
        </p:nvSpPr>
        <p:spPr>
          <a:xfrm>
            <a:off x="11878741" y="6527751"/>
            <a:ext cx="521177" cy="379409"/>
          </a:xfrm>
        </p:spPr>
        <p:txBody>
          <a:bodyPr/>
          <a:lstStyle/>
          <a:p>
            <a:fld id="{952B6C0E-C4B9-4094-8E59-5B7DF00D5415}" type="slidenum">
              <a:rPr lang="ru-RU" smtClean="0">
                <a:solidFill>
                  <a:schemeClr val="tx1"/>
                </a:solidFill>
              </a:rPr>
              <a:t>73</a:t>
            </a:fld>
            <a:endParaRPr lang="ru-RU" dirty="0">
              <a:solidFill>
                <a:schemeClr val="tx1"/>
              </a:solidFill>
            </a:endParaRPr>
          </a:p>
        </p:txBody>
      </p:sp>
    </p:spTree>
    <p:extLst>
      <p:ext uri="{BB962C8B-B14F-4D97-AF65-F5344CB8AC3E}">
        <p14:creationId xmlns:p14="http://schemas.microsoft.com/office/powerpoint/2010/main" val="41981325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4"/>
          <p:cNvSpPr>
            <a:spLocks noChangeArrowheads="1"/>
          </p:cNvSpPr>
          <p:nvPr/>
        </p:nvSpPr>
        <p:spPr bwMode="auto">
          <a:xfrm>
            <a:off x="1438275" y="322263"/>
            <a:ext cx="10656489" cy="6553200"/>
          </a:xfrm>
          <a:prstGeom prst="roundRect">
            <a:avLst>
              <a:gd name="adj" fmla="val 16667"/>
            </a:avLst>
          </a:prstGeom>
          <a:solidFill>
            <a:schemeClr val="bg1">
              <a:alpha val="50195"/>
            </a:scheme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5" name="AutoShape 5"/>
          <p:cNvSpPr>
            <a:spLocks noChangeArrowheads="1"/>
          </p:cNvSpPr>
          <p:nvPr/>
        </p:nvSpPr>
        <p:spPr bwMode="auto">
          <a:xfrm>
            <a:off x="2373685" y="322264"/>
            <a:ext cx="8064128" cy="720601"/>
          </a:xfrm>
          <a:prstGeom prst="roundRect">
            <a:avLst>
              <a:gd name="adj" fmla="val 37469"/>
            </a:avLst>
          </a:prstGeom>
          <a:solidFill>
            <a:srgbClr val="FFFFFF">
              <a:alpha val="78822"/>
            </a:srgb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2" name="Заголовок 1"/>
          <p:cNvSpPr txBox="1">
            <a:spLocks noGrp="1"/>
          </p:cNvSpPr>
          <p:nvPr>
            <p:ph type="title" idx="4294967295"/>
          </p:nvPr>
        </p:nvSpPr>
        <p:spPr>
          <a:xfrm>
            <a:off x="1195389" y="288926"/>
            <a:ext cx="8550275" cy="1184275"/>
          </a:xfrm>
          <a:prstGeom prst="rect">
            <a:avLst/>
          </a:prstGeom>
        </p:spPr>
        <p:txBody>
          <a:bodyPr wrap="square">
            <a:noAutofit/>
          </a:bodyPr>
          <a:lstStyle/>
          <a:p>
            <a:pPr lvl="0"/>
            <a:r>
              <a:rPr lang="ru-RU"/>
              <a:t>Критерий Шапиро-Уилка</a:t>
            </a:r>
          </a:p>
        </p:txBody>
      </p:sp>
      <p:sp>
        <p:nvSpPr>
          <p:cNvPr id="3" name="Текст 2"/>
          <p:cNvSpPr txBox="1">
            <a:spLocks noGrp="1"/>
          </p:cNvSpPr>
          <p:nvPr>
            <p:ph type="body" idx="4294967295"/>
          </p:nvPr>
        </p:nvSpPr>
        <p:spPr>
          <a:xfrm>
            <a:off x="2130612" y="1684845"/>
            <a:ext cx="8550275" cy="4708525"/>
          </a:xfrm>
          <a:prstGeom prst="rect">
            <a:avLst/>
          </a:prstGeom>
        </p:spPr>
        <p:txBody>
          <a:bodyPr wrap="square"/>
          <a:lstStyle/>
          <a:p>
            <a:pPr indent="-354624"/>
            <a:endParaRPr lang="ru-RU" dirty="0"/>
          </a:p>
          <a:p>
            <a:pPr marL="0" indent="449263">
              <a:buClr>
                <a:srgbClr val="CC9900"/>
              </a:buClr>
              <a:buSzPct val="65000"/>
              <a:buFont typeface="Wingdings" pitchFamily="2"/>
              <a:buChar char=""/>
              <a:tabLst>
                <a:tab pos="0" algn="l"/>
                <a:tab pos="110352" algn="l"/>
                <a:tab pos="577199" algn="l"/>
                <a:tab pos="1044046" algn="l"/>
                <a:tab pos="1510893" algn="l"/>
                <a:tab pos="1977740" algn="l"/>
                <a:tab pos="2444587" algn="l"/>
                <a:tab pos="2911434" algn="l"/>
                <a:tab pos="3378279" algn="l"/>
                <a:tab pos="3845127" algn="l"/>
                <a:tab pos="4311973" algn="l"/>
                <a:tab pos="4778447" algn="l"/>
                <a:tab pos="5245294" algn="l"/>
                <a:tab pos="5712141" algn="l"/>
                <a:tab pos="6178987" algn="l"/>
                <a:tab pos="6645833" algn="l"/>
                <a:tab pos="7112681" algn="l"/>
                <a:tab pos="7579527" algn="l"/>
                <a:tab pos="8046375" algn="l"/>
                <a:tab pos="8513222" algn="l"/>
                <a:tab pos="8980068" algn="l"/>
              </a:tabLst>
            </a:pPr>
            <a:r>
              <a:rPr lang="ru-RU" dirty="0"/>
              <a:t>Критерий Шапиро-</a:t>
            </a:r>
            <a:r>
              <a:rPr lang="ru-RU" dirty="0" err="1"/>
              <a:t>Уилка</a:t>
            </a:r>
            <a:r>
              <a:rPr lang="ru-RU" dirty="0"/>
              <a:t>.</a:t>
            </a:r>
          </a:p>
          <a:p>
            <a:pPr marL="0" indent="449263">
              <a:buClr>
                <a:srgbClr val="CC9900"/>
              </a:buClr>
              <a:buSzPct val="65000"/>
              <a:buFont typeface="Wingdings" pitchFamily="2"/>
              <a:buChar char=""/>
              <a:tabLst>
                <a:tab pos="0" algn="l"/>
                <a:tab pos="110352" algn="l"/>
                <a:tab pos="577199" algn="l"/>
                <a:tab pos="1044046" algn="l"/>
                <a:tab pos="1510893" algn="l"/>
                <a:tab pos="1977740" algn="l"/>
                <a:tab pos="2444587" algn="l"/>
                <a:tab pos="2911434" algn="l"/>
                <a:tab pos="3378279" algn="l"/>
                <a:tab pos="3845127" algn="l"/>
                <a:tab pos="4311973" algn="l"/>
                <a:tab pos="4778447" algn="l"/>
                <a:tab pos="5245294" algn="l"/>
                <a:tab pos="5712141" algn="l"/>
                <a:tab pos="6178987" algn="l"/>
                <a:tab pos="6645833" algn="l"/>
                <a:tab pos="7112681" algn="l"/>
                <a:tab pos="7579527" algn="l"/>
                <a:tab pos="8046375" algn="l"/>
                <a:tab pos="8513222" algn="l"/>
                <a:tab pos="8980068" algn="l"/>
              </a:tabLst>
            </a:pPr>
            <a:r>
              <a:rPr lang="ru-RU" dirty="0" err="1"/>
              <a:t>shapiro.test</a:t>
            </a:r>
            <a:r>
              <a:rPr lang="ru-RU" dirty="0"/>
              <a:t>(data)</a:t>
            </a:r>
          </a:p>
          <a:p>
            <a:pPr marL="0" indent="449263">
              <a:buClr>
                <a:srgbClr val="CC9900"/>
              </a:buClr>
              <a:buSzPct val="65000"/>
              <a:buFont typeface="Wingdings" pitchFamily="2"/>
              <a:buChar char=""/>
              <a:tabLst>
                <a:tab pos="0" algn="l"/>
                <a:tab pos="110352" algn="l"/>
                <a:tab pos="577199" algn="l"/>
                <a:tab pos="1044046" algn="l"/>
                <a:tab pos="1510893" algn="l"/>
                <a:tab pos="1977740" algn="l"/>
                <a:tab pos="2444587" algn="l"/>
                <a:tab pos="2911434" algn="l"/>
                <a:tab pos="3378279" algn="l"/>
                <a:tab pos="3845127" algn="l"/>
                <a:tab pos="4311973" algn="l"/>
                <a:tab pos="4778447" algn="l"/>
                <a:tab pos="5245294" algn="l"/>
                <a:tab pos="5712141" algn="l"/>
                <a:tab pos="6178987" algn="l"/>
                <a:tab pos="6645833" algn="l"/>
                <a:tab pos="7112681" algn="l"/>
                <a:tab pos="7579527" algn="l"/>
                <a:tab pos="8046375" algn="l"/>
                <a:tab pos="8513222" algn="l"/>
                <a:tab pos="8980068" algn="l"/>
              </a:tabLst>
            </a:pPr>
            <a:r>
              <a:rPr lang="ru-RU" dirty="0"/>
              <a:t>От 3 до 5000 наблюдений</a:t>
            </a:r>
          </a:p>
        </p:txBody>
      </p:sp>
      <p:sp>
        <p:nvSpPr>
          <p:cNvPr id="7" name="Номер слайда 6"/>
          <p:cNvSpPr>
            <a:spLocks noGrp="1"/>
          </p:cNvSpPr>
          <p:nvPr>
            <p:ph type="sldNum" sz="quarter" idx="12"/>
          </p:nvPr>
        </p:nvSpPr>
        <p:spPr>
          <a:xfrm>
            <a:off x="11590709" y="6545285"/>
            <a:ext cx="664425" cy="379409"/>
          </a:xfrm>
        </p:spPr>
        <p:txBody>
          <a:bodyPr/>
          <a:lstStyle/>
          <a:p>
            <a:fld id="{952B6C0E-C4B9-4094-8E59-5B7DF00D5415}" type="slidenum">
              <a:rPr lang="ru-RU" smtClean="0">
                <a:solidFill>
                  <a:schemeClr val="tx1"/>
                </a:solidFill>
              </a:rPr>
              <a:t>74</a:t>
            </a:fld>
            <a:endParaRPr lang="ru-RU" dirty="0">
              <a:solidFill>
                <a:schemeClr val="tx1"/>
              </a:solidFill>
            </a:endParaRPr>
          </a:p>
        </p:txBody>
      </p:sp>
    </p:spTree>
    <p:extLst>
      <p:ext uri="{BB962C8B-B14F-4D97-AF65-F5344CB8AC3E}">
        <p14:creationId xmlns:p14="http://schemas.microsoft.com/office/powerpoint/2010/main" val="26311687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4"/>
          <p:cNvSpPr>
            <a:spLocks noChangeArrowheads="1"/>
          </p:cNvSpPr>
          <p:nvPr/>
        </p:nvSpPr>
        <p:spPr bwMode="auto">
          <a:xfrm>
            <a:off x="861517" y="322263"/>
            <a:ext cx="11305256" cy="6553200"/>
          </a:xfrm>
          <a:prstGeom prst="roundRect">
            <a:avLst>
              <a:gd name="adj" fmla="val 16667"/>
            </a:avLst>
          </a:prstGeom>
          <a:solidFill>
            <a:schemeClr val="bg1">
              <a:alpha val="50195"/>
            </a:scheme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5" name="AutoShape 5"/>
          <p:cNvSpPr>
            <a:spLocks noChangeArrowheads="1"/>
          </p:cNvSpPr>
          <p:nvPr/>
        </p:nvSpPr>
        <p:spPr bwMode="auto">
          <a:xfrm>
            <a:off x="2373685" y="322264"/>
            <a:ext cx="8064128" cy="720601"/>
          </a:xfrm>
          <a:prstGeom prst="roundRect">
            <a:avLst>
              <a:gd name="adj" fmla="val 37469"/>
            </a:avLst>
          </a:prstGeom>
          <a:solidFill>
            <a:srgbClr val="FFFFFF">
              <a:alpha val="78822"/>
            </a:srgb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2" name="Заголовок 1"/>
          <p:cNvSpPr txBox="1">
            <a:spLocks noGrp="1"/>
          </p:cNvSpPr>
          <p:nvPr>
            <p:ph type="title" idx="4294967295"/>
          </p:nvPr>
        </p:nvSpPr>
        <p:spPr>
          <a:xfrm>
            <a:off x="2130612" y="287129"/>
            <a:ext cx="8550275" cy="1184275"/>
          </a:xfrm>
          <a:prstGeom prst="rect">
            <a:avLst/>
          </a:prstGeom>
        </p:spPr>
        <p:txBody>
          <a:bodyPr wrap="square">
            <a:noAutofit/>
          </a:bodyPr>
          <a:lstStyle/>
          <a:p>
            <a:pPr lvl="0"/>
            <a:r>
              <a:rPr lang="ru-RU" dirty="0"/>
              <a:t>Критерий Шапиро-</a:t>
            </a:r>
            <a:r>
              <a:rPr lang="ru-RU" dirty="0" err="1"/>
              <a:t>Уилка</a:t>
            </a:r>
            <a:endParaRPr lang="ru-RU" dirty="0"/>
          </a:p>
        </p:txBody>
      </p:sp>
      <p:sp>
        <p:nvSpPr>
          <p:cNvPr id="7" name="Прямоугольник 6"/>
          <p:cNvSpPr/>
          <p:nvPr/>
        </p:nvSpPr>
        <p:spPr>
          <a:xfrm>
            <a:off x="2031828" y="1531273"/>
            <a:ext cx="8927163" cy="4309385"/>
          </a:xfrm>
          <a:prstGeom prst="rect">
            <a:avLst/>
          </a:prstGeom>
        </p:spPr>
        <p:txBody>
          <a:bodyPr wrap="square">
            <a:spAutoFit/>
          </a:bodyPr>
          <a:lstStyle/>
          <a:p>
            <a:pPr marR="13335" indent="449263" defTabSz="993775" eaLnBrk="0" hangingPunct="0">
              <a:lnSpc>
                <a:spcPct val="103000"/>
              </a:lnSpc>
              <a:spcBef>
                <a:spcPct val="20000"/>
              </a:spcBef>
              <a:buClr>
                <a:srgbClr val="CC9900"/>
              </a:buClr>
              <a:buSzPct val="65000"/>
              <a:buFont typeface="Wingdings" pitchFamily="2"/>
              <a:buChar char=""/>
            </a:pPr>
            <a:r>
              <a:rPr lang="ru-RU" dirty="0">
                <a:latin typeface="+mn-lt"/>
                <a:cs typeface="+mn-cs"/>
              </a:rPr>
              <a:t>Применим тест Шапиро-</a:t>
            </a:r>
            <a:r>
              <a:rPr lang="ru-RU" dirty="0" err="1">
                <a:latin typeface="+mn-lt"/>
                <a:cs typeface="+mn-cs"/>
              </a:rPr>
              <a:t>Уилка</a:t>
            </a:r>
            <a:r>
              <a:rPr lang="ru-RU" dirty="0">
                <a:latin typeface="+mn-lt"/>
                <a:cs typeface="+mn-cs"/>
              </a:rPr>
              <a:t> к выборкам из различных распределений, сгенерированных с помощью стандартных функций языка  R.</a:t>
            </a:r>
          </a:p>
          <a:p>
            <a:pPr marL="342900" marR="13335" indent="-342900" eaLnBrk="0" hangingPunct="0">
              <a:spcBef>
                <a:spcPts val="395"/>
              </a:spcBef>
              <a:spcAft>
                <a:spcPts val="0"/>
              </a:spcAft>
              <a:buClr>
                <a:srgbClr val="7F7F7F"/>
              </a:buClr>
              <a:buSzPts val="500"/>
              <a:buFont typeface="+mj-lt"/>
              <a:buAutoNum type="arabicPeriod"/>
              <a:tabLst>
                <a:tab pos="704850" algn="l"/>
              </a:tabLst>
            </a:pPr>
            <a:r>
              <a:rPr lang="ru-RU" sz="1600" dirty="0">
                <a:solidFill>
                  <a:srgbClr val="0000FF"/>
                </a:solidFill>
                <a:latin typeface="+mn-lt"/>
                <a:ea typeface="Times New Roman" panose="02020603050405020304" pitchFamily="18" charset="0"/>
              </a:rPr>
              <a:t>&gt;</a:t>
            </a:r>
            <a:r>
              <a:rPr lang="ru-RU" sz="1600" spc="90" dirty="0">
                <a:solidFill>
                  <a:srgbClr val="0000FF"/>
                </a:solidFill>
                <a:latin typeface="+mn-lt"/>
                <a:ea typeface="Times New Roman" panose="02020603050405020304" pitchFamily="18" charset="0"/>
              </a:rPr>
              <a:t> </a:t>
            </a:r>
            <a:r>
              <a:rPr lang="ru-RU" sz="1600" spc="40" dirty="0" err="1">
                <a:solidFill>
                  <a:srgbClr val="0000FF"/>
                </a:solidFill>
                <a:latin typeface="+mn-lt"/>
                <a:ea typeface="Times New Roman" panose="02020603050405020304" pitchFamily="18" charset="0"/>
              </a:rPr>
              <a:t>set</a:t>
            </a:r>
            <a:r>
              <a:rPr lang="ru-RU" sz="1600" spc="-340" dirty="0">
                <a:solidFill>
                  <a:srgbClr val="0000FF"/>
                </a:solidFill>
                <a:latin typeface="+mn-lt"/>
                <a:ea typeface="Times New Roman" panose="02020603050405020304" pitchFamily="18" charset="0"/>
              </a:rPr>
              <a:t> </a:t>
            </a:r>
            <a:r>
              <a:rPr lang="ru-RU" sz="1600" dirty="0">
                <a:solidFill>
                  <a:srgbClr val="0000FF"/>
                </a:solidFill>
                <a:latin typeface="+mn-lt"/>
                <a:ea typeface="Times New Roman" panose="02020603050405020304" pitchFamily="18" charset="0"/>
              </a:rPr>
              <a:t>.</a:t>
            </a:r>
            <a:r>
              <a:rPr lang="ru-RU" sz="1600" spc="-340" dirty="0">
                <a:solidFill>
                  <a:srgbClr val="0000FF"/>
                </a:solidFill>
                <a:latin typeface="+mn-lt"/>
                <a:ea typeface="Times New Roman" panose="02020603050405020304" pitchFamily="18" charset="0"/>
              </a:rPr>
              <a:t> </a:t>
            </a:r>
            <a:r>
              <a:rPr lang="ru-RU" sz="1600" spc="45" dirty="0" err="1">
                <a:solidFill>
                  <a:srgbClr val="0000FF"/>
                </a:solidFill>
                <a:latin typeface="+mn-lt"/>
                <a:ea typeface="Times New Roman" panose="02020603050405020304" pitchFamily="18" charset="0"/>
              </a:rPr>
              <a:t>seed</a:t>
            </a:r>
            <a:r>
              <a:rPr lang="ru-RU" sz="1600" spc="-315" dirty="0">
                <a:solidFill>
                  <a:srgbClr val="0000FF"/>
                </a:solidFill>
                <a:latin typeface="+mn-lt"/>
                <a:ea typeface="Times New Roman" panose="02020603050405020304" pitchFamily="18" charset="0"/>
              </a:rPr>
              <a:t> </a:t>
            </a:r>
            <a:r>
              <a:rPr lang="ru-RU" sz="1600" spc="40" dirty="0">
                <a:solidFill>
                  <a:srgbClr val="0000FF"/>
                </a:solidFill>
                <a:latin typeface="+mn-lt"/>
                <a:ea typeface="Times New Roman" panose="02020603050405020304" pitchFamily="18" charset="0"/>
              </a:rPr>
              <a:t>(0)</a:t>
            </a:r>
            <a:endParaRPr lang="ru-RU" sz="2800" dirty="0">
              <a:solidFill>
                <a:srgbClr val="0000FF"/>
              </a:solidFill>
              <a:latin typeface="+mn-lt"/>
              <a:ea typeface="Times New Roman" panose="02020603050405020304" pitchFamily="18" charset="0"/>
            </a:endParaRPr>
          </a:p>
          <a:p>
            <a:pPr marL="342900" marR="13335" indent="-342900" eaLnBrk="0" hangingPunct="0">
              <a:spcBef>
                <a:spcPts val="40"/>
              </a:spcBef>
              <a:spcAft>
                <a:spcPts val="0"/>
              </a:spcAft>
              <a:buClr>
                <a:srgbClr val="7F7F7F"/>
              </a:buClr>
              <a:buSzPts val="500"/>
              <a:buFont typeface="+mj-lt"/>
              <a:buAutoNum type="arabicPeriod"/>
              <a:tabLst>
                <a:tab pos="704850" algn="l"/>
              </a:tabLst>
            </a:pPr>
            <a:r>
              <a:rPr lang="en-US" sz="1600" dirty="0">
                <a:solidFill>
                  <a:srgbClr val="0000FF"/>
                </a:solidFill>
                <a:latin typeface="+mn-lt"/>
                <a:ea typeface="Times New Roman" panose="02020603050405020304" pitchFamily="18" charset="0"/>
              </a:rPr>
              <a:t>&gt;</a:t>
            </a:r>
            <a:r>
              <a:rPr lang="en-US" sz="1600" spc="140" dirty="0">
                <a:solidFill>
                  <a:srgbClr val="0000FF"/>
                </a:solidFill>
                <a:latin typeface="+mn-lt"/>
                <a:ea typeface="Times New Roman" panose="02020603050405020304" pitchFamily="18" charset="0"/>
              </a:rPr>
              <a:t> </a:t>
            </a:r>
            <a:r>
              <a:rPr lang="en-US" sz="1600" dirty="0">
                <a:solidFill>
                  <a:srgbClr val="0000FF"/>
                </a:solidFill>
                <a:latin typeface="+mn-lt"/>
                <a:ea typeface="Times New Roman" panose="02020603050405020304" pitchFamily="18" charset="0"/>
              </a:rPr>
              <a:t>s</a:t>
            </a:r>
            <a:r>
              <a:rPr lang="en-US" sz="1600" spc="-370" dirty="0">
                <a:solidFill>
                  <a:srgbClr val="0000FF"/>
                </a:solidFill>
                <a:latin typeface="+mn-lt"/>
                <a:ea typeface="Times New Roman" panose="02020603050405020304" pitchFamily="18" charset="0"/>
              </a:rPr>
              <a:t> </a:t>
            </a:r>
            <a:r>
              <a:rPr lang="en-US" sz="1600" dirty="0">
                <a:solidFill>
                  <a:srgbClr val="0000FF"/>
                </a:solidFill>
                <a:latin typeface="+mn-lt"/>
                <a:ea typeface="Times New Roman" panose="02020603050405020304" pitchFamily="18" charset="0"/>
              </a:rPr>
              <a:t>h</a:t>
            </a:r>
            <a:r>
              <a:rPr lang="en-US" sz="1600" spc="-365" dirty="0">
                <a:solidFill>
                  <a:srgbClr val="0000FF"/>
                </a:solidFill>
                <a:latin typeface="+mn-lt"/>
                <a:ea typeface="Times New Roman" panose="02020603050405020304" pitchFamily="18" charset="0"/>
              </a:rPr>
              <a:t> </a:t>
            </a:r>
            <a:r>
              <a:rPr lang="en-US" sz="1600" dirty="0">
                <a:solidFill>
                  <a:srgbClr val="0000FF"/>
                </a:solidFill>
                <a:latin typeface="+mn-lt"/>
                <a:ea typeface="Times New Roman" panose="02020603050405020304" pitchFamily="18" charset="0"/>
              </a:rPr>
              <a:t>a</a:t>
            </a:r>
            <a:r>
              <a:rPr lang="en-US" sz="1600" spc="-365" dirty="0">
                <a:solidFill>
                  <a:srgbClr val="0000FF"/>
                </a:solidFill>
                <a:latin typeface="+mn-lt"/>
                <a:ea typeface="Times New Roman" panose="02020603050405020304" pitchFamily="18" charset="0"/>
              </a:rPr>
              <a:t> </a:t>
            </a:r>
            <a:r>
              <a:rPr lang="en-US" sz="1600" dirty="0">
                <a:solidFill>
                  <a:srgbClr val="0000FF"/>
                </a:solidFill>
                <a:latin typeface="+mn-lt"/>
                <a:ea typeface="Times New Roman" panose="02020603050405020304" pitchFamily="18" charset="0"/>
              </a:rPr>
              <a:t>p</a:t>
            </a:r>
            <a:r>
              <a:rPr lang="en-US" sz="1600" spc="-365" dirty="0">
                <a:solidFill>
                  <a:srgbClr val="0000FF"/>
                </a:solidFill>
                <a:latin typeface="+mn-lt"/>
                <a:ea typeface="Times New Roman" panose="02020603050405020304" pitchFamily="18" charset="0"/>
              </a:rPr>
              <a:t> </a:t>
            </a:r>
            <a:r>
              <a:rPr lang="en-US" sz="1600" dirty="0" err="1">
                <a:solidFill>
                  <a:srgbClr val="0000FF"/>
                </a:solidFill>
                <a:latin typeface="+mn-lt"/>
                <a:ea typeface="Times New Roman" panose="02020603050405020304" pitchFamily="18" charset="0"/>
              </a:rPr>
              <a:t>i</a:t>
            </a:r>
            <a:r>
              <a:rPr lang="en-US" sz="1600" spc="-370" dirty="0">
                <a:solidFill>
                  <a:srgbClr val="0000FF"/>
                </a:solidFill>
                <a:latin typeface="+mn-lt"/>
                <a:ea typeface="Times New Roman" panose="02020603050405020304" pitchFamily="18" charset="0"/>
              </a:rPr>
              <a:t> </a:t>
            </a:r>
            <a:r>
              <a:rPr lang="en-US" sz="1600" dirty="0">
                <a:solidFill>
                  <a:srgbClr val="0000FF"/>
                </a:solidFill>
                <a:latin typeface="+mn-lt"/>
                <a:ea typeface="Times New Roman" panose="02020603050405020304" pitchFamily="18" charset="0"/>
              </a:rPr>
              <a:t>r</a:t>
            </a:r>
            <a:r>
              <a:rPr lang="en-US" sz="1600" spc="-365" dirty="0">
                <a:solidFill>
                  <a:srgbClr val="0000FF"/>
                </a:solidFill>
                <a:latin typeface="+mn-lt"/>
                <a:ea typeface="Times New Roman" panose="02020603050405020304" pitchFamily="18" charset="0"/>
              </a:rPr>
              <a:t> </a:t>
            </a:r>
            <a:r>
              <a:rPr lang="en-US" sz="1600" dirty="0">
                <a:solidFill>
                  <a:srgbClr val="0000FF"/>
                </a:solidFill>
                <a:latin typeface="+mn-lt"/>
                <a:ea typeface="Times New Roman" panose="02020603050405020304" pitchFamily="18" charset="0"/>
              </a:rPr>
              <a:t>o</a:t>
            </a:r>
            <a:r>
              <a:rPr lang="en-US" sz="1600" spc="-325" dirty="0">
                <a:solidFill>
                  <a:srgbClr val="0000FF"/>
                </a:solidFill>
                <a:latin typeface="+mn-lt"/>
                <a:ea typeface="Times New Roman" panose="02020603050405020304" pitchFamily="18" charset="0"/>
              </a:rPr>
              <a:t> </a:t>
            </a:r>
            <a:r>
              <a:rPr lang="en-US" sz="1600" dirty="0">
                <a:solidFill>
                  <a:srgbClr val="0000FF"/>
                </a:solidFill>
                <a:latin typeface="+mn-lt"/>
                <a:ea typeface="Times New Roman" panose="02020603050405020304" pitchFamily="18" charset="0"/>
              </a:rPr>
              <a:t>.</a:t>
            </a:r>
            <a:r>
              <a:rPr lang="en-US" sz="1600" spc="-325" dirty="0">
                <a:solidFill>
                  <a:srgbClr val="0000FF"/>
                </a:solidFill>
                <a:latin typeface="+mn-lt"/>
                <a:ea typeface="Times New Roman" panose="02020603050405020304" pitchFamily="18" charset="0"/>
              </a:rPr>
              <a:t> </a:t>
            </a:r>
            <a:r>
              <a:rPr lang="en-US" sz="1600" spc="45" dirty="0">
                <a:solidFill>
                  <a:srgbClr val="0000FF"/>
                </a:solidFill>
                <a:latin typeface="+mn-lt"/>
                <a:ea typeface="Times New Roman" panose="02020603050405020304" pitchFamily="18" charset="0"/>
              </a:rPr>
              <a:t>test</a:t>
            </a:r>
            <a:r>
              <a:rPr lang="en-US" sz="1600" spc="-330" dirty="0">
                <a:solidFill>
                  <a:srgbClr val="0000FF"/>
                </a:solidFill>
                <a:latin typeface="+mn-lt"/>
                <a:ea typeface="Times New Roman" panose="02020603050405020304" pitchFamily="18" charset="0"/>
              </a:rPr>
              <a:t> </a:t>
            </a:r>
            <a:r>
              <a:rPr lang="en-US" sz="1600" dirty="0">
                <a:solidFill>
                  <a:srgbClr val="0000FF"/>
                </a:solidFill>
                <a:latin typeface="+mn-lt"/>
                <a:ea typeface="Times New Roman" panose="02020603050405020304" pitchFamily="18" charset="0"/>
              </a:rPr>
              <a:t>(</a:t>
            </a:r>
            <a:r>
              <a:rPr lang="en-US" sz="1600" spc="-330" dirty="0">
                <a:solidFill>
                  <a:srgbClr val="0000FF"/>
                </a:solidFill>
                <a:latin typeface="+mn-lt"/>
                <a:ea typeface="Times New Roman" panose="02020603050405020304" pitchFamily="18" charset="0"/>
              </a:rPr>
              <a:t> </a:t>
            </a:r>
            <a:r>
              <a:rPr lang="en-US" sz="1600" dirty="0">
                <a:solidFill>
                  <a:srgbClr val="0000FF"/>
                </a:solidFill>
                <a:latin typeface="+mn-lt"/>
                <a:ea typeface="Times New Roman" panose="02020603050405020304" pitchFamily="18" charset="0"/>
              </a:rPr>
              <a:t>r</a:t>
            </a:r>
            <a:r>
              <a:rPr lang="en-US" sz="1600" spc="-365" dirty="0">
                <a:solidFill>
                  <a:srgbClr val="0000FF"/>
                </a:solidFill>
                <a:latin typeface="+mn-lt"/>
                <a:ea typeface="Times New Roman" panose="02020603050405020304" pitchFamily="18" charset="0"/>
              </a:rPr>
              <a:t> </a:t>
            </a:r>
            <a:r>
              <a:rPr lang="en-US" sz="1600" dirty="0">
                <a:solidFill>
                  <a:srgbClr val="0000FF"/>
                </a:solidFill>
                <a:latin typeface="+mn-lt"/>
                <a:ea typeface="Times New Roman" panose="02020603050405020304" pitchFamily="18" charset="0"/>
              </a:rPr>
              <a:t>n</a:t>
            </a:r>
            <a:r>
              <a:rPr lang="en-US" sz="1600" spc="-365" dirty="0">
                <a:solidFill>
                  <a:srgbClr val="0000FF"/>
                </a:solidFill>
                <a:latin typeface="+mn-lt"/>
                <a:ea typeface="Times New Roman" panose="02020603050405020304" pitchFamily="18" charset="0"/>
              </a:rPr>
              <a:t> </a:t>
            </a:r>
            <a:r>
              <a:rPr lang="en-US" sz="1600" dirty="0">
                <a:solidFill>
                  <a:srgbClr val="0000FF"/>
                </a:solidFill>
                <a:latin typeface="+mn-lt"/>
                <a:ea typeface="Times New Roman" panose="02020603050405020304" pitchFamily="18" charset="0"/>
              </a:rPr>
              <a:t>o</a:t>
            </a:r>
            <a:r>
              <a:rPr lang="en-US" sz="1600" spc="-370" dirty="0">
                <a:solidFill>
                  <a:srgbClr val="0000FF"/>
                </a:solidFill>
                <a:latin typeface="+mn-lt"/>
                <a:ea typeface="Times New Roman" panose="02020603050405020304" pitchFamily="18" charset="0"/>
              </a:rPr>
              <a:t> </a:t>
            </a:r>
            <a:r>
              <a:rPr lang="en-US" sz="1600" dirty="0">
                <a:solidFill>
                  <a:srgbClr val="0000FF"/>
                </a:solidFill>
                <a:latin typeface="+mn-lt"/>
                <a:ea typeface="Times New Roman" panose="02020603050405020304" pitchFamily="18" charset="0"/>
              </a:rPr>
              <a:t>r</a:t>
            </a:r>
            <a:r>
              <a:rPr lang="en-US" sz="1600" spc="-365" dirty="0">
                <a:solidFill>
                  <a:srgbClr val="0000FF"/>
                </a:solidFill>
                <a:latin typeface="+mn-lt"/>
                <a:ea typeface="Times New Roman" panose="02020603050405020304" pitchFamily="18" charset="0"/>
              </a:rPr>
              <a:t> </a:t>
            </a:r>
            <a:r>
              <a:rPr lang="en-US" sz="1600" dirty="0">
                <a:solidFill>
                  <a:srgbClr val="0000FF"/>
                </a:solidFill>
                <a:latin typeface="+mn-lt"/>
                <a:ea typeface="Times New Roman" panose="02020603050405020304" pitchFamily="18" charset="0"/>
              </a:rPr>
              <a:t>m</a:t>
            </a:r>
            <a:r>
              <a:rPr lang="en-US" sz="1600" spc="-310" dirty="0">
                <a:solidFill>
                  <a:srgbClr val="0000FF"/>
                </a:solidFill>
                <a:latin typeface="+mn-lt"/>
                <a:ea typeface="Times New Roman" panose="02020603050405020304" pitchFamily="18" charset="0"/>
              </a:rPr>
              <a:t> </a:t>
            </a:r>
            <a:r>
              <a:rPr lang="en-US" sz="1600" spc="45" dirty="0">
                <a:solidFill>
                  <a:srgbClr val="0000FF"/>
                </a:solidFill>
                <a:latin typeface="+mn-lt"/>
                <a:ea typeface="Times New Roman" panose="02020603050405020304" pitchFamily="18" charset="0"/>
              </a:rPr>
              <a:t>(100</a:t>
            </a:r>
            <a:r>
              <a:rPr lang="en-US" sz="1600" spc="-320" dirty="0">
                <a:solidFill>
                  <a:srgbClr val="0000FF"/>
                </a:solidFill>
                <a:latin typeface="+mn-lt"/>
                <a:ea typeface="Times New Roman" panose="02020603050405020304" pitchFamily="18" charset="0"/>
              </a:rPr>
              <a:t> </a:t>
            </a:r>
            <a:r>
              <a:rPr lang="en-US" sz="1600" dirty="0">
                <a:solidFill>
                  <a:srgbClr val="0000FF"/>
                </a:solidFill>
                <a:latin typeface="+mn-lt"/>
                <a:ea typeface="Times New Roman" panose="02020603050405020304" pitchFamily="18" charset="0"/>
              </a:rPr>
              <a:t>,</a:t>
            </a:r>
            <a:r>
              <a:rPr lang="en-US" sz="1600" spc="165" dirty="0">
                <a:solidFill>
                  <a:srgbClr val="0000FF"/>
                </a:solidFill>
                <a:latin typeface="+mn-lt"/>
                <a:ea typeface="Times New Roman" panose="02020603050405020304" pitchFamily="18" charset="0"/>
              </a:rPr>
              <a:t> </a:t>
            </a:r>
            <a:r>
              <a:rPr lang="en-US" sz="1600" spc="45" dirty="0">
                <a:solidFill>
                  <a:srgbClr val="0000FF"/>
                </a:solidFill>
                <a:latin typeface="+mn-lt"/>
                <a:ea typeface="Times New Roman" panose="02020603050405020304" pitchFamily="18" charset="0"/>
              </a:rPr>
              <a:t>mean</a:t>
            </a:r>
            <a:r>
              <a:rPr lang="en-US" sz="1600" spc="145" dirty="0">
                <a:solidFill>
                  <a:srgbClr val="0000FF"/>
                </a:solidFill>
                <a:latin typeface="+mn-lt"/>
                <a:ea typeface="Times New Roman" panose="02020603050405020304" pitchFamily="18" charset="0"/>
              </a:rPr>
              <a:t> </a:t>
            </a:r>
            <a:r>
              <a:rPr lang="en-US" sz="1600" dirty="0">
                <a:solidFill>
                  <a:srgbClr val="0000FF"/>
                </a:solidFill>
                <a:latin typeface="+mn-lt"/>
                <a:ea typeface="Times New Roman" panose="02020603050405020304" pitchFamily="18" charset="0"/>
              </a:rPr>
              <a:t>=</a:t>
            </a:r>
            <a:r>
              <a:rPr lang="en-US" sz="1600" spc="125" dirty="0">
                <a:solidFill>
                  <a:srgbClr val="0000FF"/>
                </a:solidFill>
                <a:latin typeface="+mn-lt"/>
                <a:ea typeface="Times New Roman" panose="02020603050405020304" pitchFamily="18" charset="0"/>
              </a:rPr>
              <a:t> </a:t>
            </a:r>
            <a:r>
              <a:rPr lang="en-US" sz="1600" dirty="0">
                <a:solidFill>
                  <a:srgbClr val="0000FF"/>
                </a:solidFill>
                <a:latin typeface="+mn-lt"/>
                <a:ea typeface="Times New Roman" panose="02020603050405020304" pitchFamily="18" charset="0"/>
              </a:rPr>
              <a:t>2</a:t>
            </a:r>
            <a:r>
              <a:rPr lang="en-US" sz="1600" spc="-360" dirty="0">
                <a:solidFill>
                  <a:srgbClr val="0000FF"/>
                </a:solidFill>
                <a:latin typeface="+mn-lt"/>
                <a:ea typeface="Times New Roman" panose="02020603050405020304" pitchFamily="18" charset="0"/>
              </a:rPr>
              <a:t> </a:t>
            </a:r>
            <a:r>
              <a:rPr lang="en-US" sz="1600" dirty="0">
                <a:solidFill>
                  <a:srgbClr val="0000FF"/>
                </a:solidFill>
                <a:latin typeface="+mn-lt"/>
                <a:ea typeface="Times New Roman" panose="02020603050405020304" pitchFamily="18" charset="0"/>
              </a:rPr>
              <a:t>,</a:t>
            </a:r>
            <a:r>
              <a:rPr lang="en-US" sz="1600" spc="140" dirty="0">
                <a:solidFill>
                  <a:srgbClr val="0000FF"/>
                </a:solidFill>
                <a:latin typeface="+mn-lt"/>
                <a:ea typeface="Times New Roman" panose="02020603050405020304" pitchFamily="18" charset="0"/>
              </a:rPr>
              <a:t> </a:t>
            </a:r>
            <a:r>
              <a:rPr lang="en-US" sz="1600" spc="25" dirty="0" err="1">
                <a:solidFill>
                  <a:srgbClr val="0000FF"/>
                </a:solidFill>
                <a:latin typeface="+mn-lt"/>
                <a:ea typeface="Times New Roman" panose="02020603050405020304" pitchFamily="18" charset="0"/>
              </a:rPr>
              <a:t>sd</a:t>
            </a:r>
            <a:r>
              <a:rPr lang="en-US" sz="1600" spc="135" dirty="0">
                <a:solidFill>
                  <a:srgbClr val="0000FF"/>
                </a:solidFill>
                <a:latin typeface="+mn-lt"/>
                <a:ea typeface="Times New Roman" panose="02020603050405020304" pitchFamily="18" charset="0"/>
              </a:rPr>
              <a:t> </a:t>
            </a:r>
            <a:r>
              <a:rPr lang="en-US" sz="1600" dirty="0">
                <a:solidFill>
                  <a:srgbClr val="0000FF"/>
                </a:solidFill>
                <a:latin typeface="+mn-lt"/>
                <a:ea typeface="Times New Roman" panose="02020603050405020304" pitchFamily="18" charset="0"/>
              </a:rPr>
              <a:t>=</a:t>
            </a:r>
            <a:r>
              <a:rPr lang="en-US" sz="1600" spc="135" dirty="0">
                <a:solidFill>
                  <a:srgbClr val="0000FF"/>
                </a:solidFill>
                <a:latin typeface="+mn-lt"/>
                <a:ea typeface="Times New Roman" panose="02020603050405020304" pitchFamily="18" charset="0"/>
              </a:rPr>
              <a:t> </a:t>
            </a:r>
            <a:r>
              <a:rPr lang="en-US" sz="1600" spc="25" dirty="0">
                <a:solidFill>
                  <a:srgbClr val="0000FF"/>
                </a:solidFill>
                <a:latin typeface="+mn-lt"/>
                <a:ea typeface="Times New Roman" panose="02020603050405020304" pitchFamily="18" charset="0"/>
              </a:rPr>
              <a:t>5)</a:t>
            </a:r>
            <a:r>
              <a:rPr lang="en-US" sz="1600" spc="-345" dirty="0">
                <a:solidFill>
                  <a:srgbClr val="0000FF"/>
                </a:solidFill>
                <a:latin typeface="+mn-lt"/>
                <a:ea typeface="Times New Roman" panose="02020603050405020304" pitchFamily="18" charset="0"/>
              </a:rPr>
              <a:t> </a:t>
            </a:r>
            <a:r>
              <a:rPr lang="en-US" sz="1600" dirty="0">
                <a:solidFill>
                  <a:srgbClr val="0000FF"/>
                </a:solidFill>
                <a:latin typeface="+mn-lt"/>
                <a:ea typeface="Times New Roman" panose="02020603050405020304" pitchFamily="18" charset="0"/>
              </a:rPr>
              <a:t>)</a:t>
            </a:r>
            <a:endParaRPr lang="ru-RU" sz="2800" dirty="0">
              <a:solidFill>
                <a:srgbClr val="0000FF"/>
              </a:solidFill>
              <a:latin typeface="+mn-lt"/>
              <a:ea typeface="Times New Roman" panose="02020603050405020304" pitchFamily="18" charset="0"/>
            </a:endParaRPr>
          </a:p>
          <a:p>
            <a:pPr marR="13335" eaLnBrk="0" hangingPunct="0">
              <a:spcBef>
                <a:spcPts val="235"/>
              </a:spcBef>
              <a:spcAft>
                <a:spcPts val="0"/>
              </a:spcAft>
            </a:pPr>
            <a:r>
              <a:rPr lang="en-US" sz="1050" dirty="0">
                <a:solidFill>
                  <a:srgbClr val="0000FF"/>
                </a:solidFill>
                <a:latin typeface="+mn-lt"/>
                <a:ea typeface="Times New Roman" panose="02020603050405020304" pitchFamily="18" charset="0"/>
              </a:rPr>
              <a:t>3</a:t>
            </a:r>
            <a:endParaRPr lang="ru-RU" sz="2800" dirty="0">
              <a:solidFill>
                <a:srgbClr val="0000FF"/>
              </a:solidFill>
              <a:latin typeface="+mn-lt"/>
              <a:ea typeface="Times New Roman" panose="02020603050405020304" pitchFamily="18" charset="0"/>
            </a:endParaRPr>
          </a:p>
          <a:p>
            <a:pPr marR="13335" eaLnBrk="0" hangingPunct="0">
              <a:spcBef>
                <a:spcPts val="175"/>
              </a:spcBef>
              <a:spcAft>
                <a:spcPts val="0"/>
              </a:spcAft>
              <a:tabLst>
                <a:tab pos="1222375" algn="l"/>
              </a:tabLst>
            </a:pPr>
            <a:r>
              <a:rPr lang="en-US" sz="1050" dirty="0">
                <a:solidFill>
                  <a:srgbClr val="0000FF"/>
                </a:solidFill>
                <a:latin typeface="+mn-lt"/>
                <a:ea typeface="Times New Roman" panose="02020603050405020304" pitchFamily="18" charset="0"/>
              </a:rPr>
              <a:t>4	</a:t>
            </a:r>
            <a:r>
              <a:rPr lang="en-US" sz="1600" spc="55" dirty="0">
                <a:solidFill>
                  <a:srgbClr val="0000FF"/>
                </a:solidFill>
                <a:latin typeface="+mn-lt"/>
                <a:ea typeface="Times New Roman" panose="02020603050405020304" pitchFamily="18" charset="0"/>
              </a:rPr>
              <a:t>Shapiro</a:t>
            </a:r>
            <a:r>
              <a:rPr lang="en-US" sz="1600" spc="-285" dirty="0">
                <a:solidFill>
                  <a:srgbClr val="0000FF"/>
                </a:solidFill>
                <a:latin typeface="+mn-lt"/>
                <a:ea typeface="Times New Roman" panose="02020603050405020304" pitchFamily="18" charset="0"/>
              </a:rPr>
              <a:t> </a:t>
            </a:r>
            <a:r>
              <a:rPr lang="en-US" sz="1600" dirty="0">
                <a:solidFill>
                  <a:srgbClr val="0000FF"/>
                </a:solidFill>
                <a:latin typeface="+mn-lt"/>
                <a:ea typeface="Times New Roman" panose="02020603050405020304" pitchFamily="18" charset="0"/>
              </a:rPr>
              <a:t>-</a:t>
            </a:r>
            <a:r>
              <a:rPr lang="en-US" sz="1600" spc="-330" dirty="0">
                <a:solidFill>
                  <a:srgbClr val="0000FF"/>
                </a:solidFill>
                <a:latin typeface="+mn-lt"/>
                <a:ea typeface="Times New Roman" panose="02020603050405020304" pitchFamily="18" charset="0"/>
              </a:rPr>
              <a:t> </a:t>
            </a:r>
            <a:r>
              <a:rPr lang="en-US" sz="1600" spc="45" dirty="0">
                <a:solidFill>
                  <a:srgbClr val="0000FF"/>
                </a:solidFill>
                <a:latin typeface="+mn-lt"/>
                <a:ea typeface="Times New Roman" panose="02020603050405020304" pitchFamily="18" charset="0"/>
              </a:rPr>
              <a:t>Wilk</a:t>
            </a:r>
            <a:r>
              <a:rPr lang="en-US" sz="1600" spc="145" dirty="0">
                <a:solidFill>
                  <a:srgbClr val="0000FF"/>
                </a:solidFill>
                <a:latin typeface="+mn-lt"/>
                <a:ea typeface="Times New Roman" panose="02020603050405020304" pitchFamily="18" charset="0"/>
              </a:rPr>
              <a:t> </a:t>
            </a:r>
            <a:r>
              <a:rPr lang="en-US" sz="1600" dirty="0">
                <a:solidFill>
                  <a:srgbClr val="0000FF"/>
                </a:solidFill>
                <a:latin typeface="+mn-lt"/>
                <a:ea typeface="Times New Roman" panose="02020603050405020304" pitchFamily="18" charset="0"/>
              </a:rPr>
              <a:t>n</a:t>
            </a:r>
            <a:r>
              <a:rPr lang="en-US" sz="1600" spc="-365" dirty="0">
                <a:solidFill>
                  <a:srgbClr val="0000FF"/>
                </a:solidFill>
                <a:latin typeface="+mn-lt"/>
                <a:ea typeface="Times New Roman" panose="02020603050405020304" pitchFamily="18" charset="0"/>
              </a:rPr>
              <a:t> </a:t>
            </a:r>
            <a:r>
              <a:rPr lang="en-US" sz="1600" dirty="0">
                <a:solidFill>
                  <a:srgbClr val="0000FF"/>
                </a:solidFill>
                <a:latin typeface="+mn-lt"/>
                <a:ea typeface="Times New Roman" panose="02020603050405020304" pitchFamily="18" charset="0"/>
              </a:rPr>
              <a:t>o</a:t>
            </a:r>
            <a:r>
              <a:rPr lang="en-US" sz="1600" spc="-365" dirty="0">
                <a:solidFill>
                  <a:srgbClr val="0000FF"/>
                </a:solidFill>
                <a:latin typeface="+mn-lt"/>
                <a:ea typeface="Times New Roman" panose="02020603050405020304" pitchFamily="18" charset="0"/>
              </a:rPr>
              <a:t> </a:t>
            </a:r>
            <a:r>
              <a:rPr lang="en-US" sz="1600" dirty="0">
                <a:solidFill>
                  <a:srgbClr val="0000FF"/>
                </a:solidFill>
                <a:latin typeface="+mn-lt"/>
                <a:ea typeface="Times New Roman" panose="02020603050405020304" pitchFamily="18" charset="0"/>
              </a:rPr>
              <a:t>r</a:t>
            </a:r>
            <a:r>
              <a:rPr lang="en-US" sz="1600" spc="-365" dirty="0">
                <a:solidFill>
                  <a:srgbClr val="0000FF"/>
                </a:solidFill>
                <a:latin typeface="+mn-lt"/>
                <a:ea typeface="Times New Roman" panose="02020603050405020304" pitchFamily="18" charset="0"/>
              </a:rPr>
              <a:t> </a:t>
            </a:r>
            <a:r>
              <a:rPr lang="en-US" sz="1600" dirty="0">
                <a:solidFill>
                  <a:srgbClr val="0000FF"/>
                </a:solidFill>
                <a:latin typeface="+mn-lt"/>
                <a:ea typeface="Times New Roman" panose="02020603050405020304" pitchFamily="18" charset="0"/>
              </a:rPr>
              <a:t>m</a:t>
            </a:r>
            <a:r>
              <a:rPr lang="en-US" sz="1600" spc="-365" dirty="0">
                <a:solidFill>
                  <a:srgbClr val="0000FF"/>
                </a:solidFill>
                <a:latin typeface="+mn-lt"/>
                <a:ea typeface="Times New Roman" panose="02020603050405020304" pitchFamily="18" charset="0"/>
              </a:rPr>
              <a:t> </a:t>
            </a:r>
            <a:r>
              <a:rPr lang="en-US" sz="1600" dirty="0">
                <a:solidFill>
                  <a:srgbClr val="0000FF"/>
                </a:solidFill>
                <a:latin typeface="+mn-lt"/>
                <a:ea typeface="Times New Roman" panose="02020603050405020304" pitchFamily="18" charset="0"/>
              </a:rPr>
              <a:t>a</a:t>
            </a:r>
            <a:r>
              <a:rPr lang="en-US" sz="1600" spc="-365" dirty="0">
                <a:solidFill>
                  <a:srgbClr val="0000FF"/>
                </a:solidFill>
                <a:latin typeface="+mn-lt"/>
                <a:ea typeface="Times New Roman" panose="02020603050405020304" pitchFamily="18" charset="0"/>
              </a:rPr>
              <a:t> </a:t>
            </a:r>
            <a:r>
              <a:rPr lang="en-US" sz="1600" dirty="0">
                <a:solidFill>
                  <a:srgbClr val="0000FF"/>
                </a:solidFill>
                <a:latin typeface="+mn-lt"/>
                <a:ea typeface="Times New Roman" panose="02020603050405020304" pitchFamily="18" charset="0"/>
              </a:rPr>
              <a:t>l</a:t>
            </a:r>
            <a:r>
              <a:rPr lang="en-US" sz="1600" spc="-365" dirty="0">
                <a:solidFill>
                  <a:srgbClr val="0000FF"/>
                </a:solidFill>
                <a:latin typeface="+mn-lt"/>
                <a:ea typeface="Times New Roman" panose="02020603050405020304" pitchFamily="18" charset="0"/>
              </a:rPr>
              <a:t> </a:t>
            </a:r>
            <a:r>
              <a:rPr lang="en-US" sz="1600" dirty="0" err="1">
                <a:solidFill>
                  <a:srgbClr val="0000FF"/>
                </a:solidFill>
                <a:latin typeface="+mn-lt"/>
                <a:ea typeface="Times New Roman" panose="02020603050405020304" pitchFamily="18" charset="0"/>
              </a:rPr>
              <a:t>i</a:t>
            </a:r>
            <a:r>
              <a:rPr lang="en-US" sz="1600" spc="-370" dirty="0">
                <a:solidFill>
                  <a:srgbClr val="0000FF"/>
                </a:solidFill>
                <a:latin typeface="+mn-lt"/>
                <a:ea typeface="Times New Roman" panose="02020603050405020304" pitchFamily="18" charset="0"/>
              </a:rPr>
              <a:t> </a:t>
            </a:r>
            <a:r>
              <a:rPr lang="en-US" sz="1600" dirty="0">
                <a:solidFill>
                  <a:srgbClr val="0000FF"/>
                </a:solidFill>
                <a:latin typeface="+mn-lt"/>
                <a:ea typeface="Times New Roman" panose="02020603050405020304" pitchFamily="18" charset="0"/>
              </a:rPr>
              <a:t>t</a:t>
            </a:r>
            <a:r>
              <a:rPr lang="en-US" sz="1600" spc="-365" dirty="0">
                <a:solidFill>
                  <a:srgbClr val="0000FF"/>
                </a:solidFill>
                <a:latin typeface="+mn-lt"/>
                <a:ea typeface="Times New Roman" panose="02020603050405020304" pitchFamily="18" charset="0"/>
              </a:rPr>
              <a:t> </a:t>
            </a:r>
            <a:r>
              <a:rPr lang="en-US" sz="1600" dirty="0">
                <a:solidFill>
                  <a:srgbClr val="0000FF"/>
                </a:solidFill>
                <a:latin typeface="+mn-lt"/>
                <a:ea typeface="Times New Roman" panose="02020603050405020304" pitchFamily="18" charset="0"/>
              </a:rPr>
              <a:t>y</a:t>
            </a:r>
            <a:r>
              <a:rPr lang="en-US" sz="1600" spc="150" dirty="0">
                <a:solidFill>
                  <a:srgbClr val="0000FF"/>
                </a:solidFill>
                <a:latin typeface="+mn-lt"/>
                <a:ea typeface="Times New Roman" panose="02020603050405020304" pitchFamily="18" charset="0"/>
              </a:rPr>
              <a:t> </a:t>
            </a:r>
            <a:r>
              <a:rPr lang="en-US" sz="1600" spc="45" dirty="0">
                <a:solidFill>
                  <a:srgbClr val="0000FF"/>
                </a:solidFill>
                <a:latin typeface="+mn-lt"/>
                <a:ea typeface="Times New Roman" panose="02020603050405020304" pitchFamily="18" charset="0"/>
              </a:rPr>
              <a:t>test</a:t>
            </a:r>
            <a:endParaRPr lang="ru-RU" sz="2800" dirty="0">
              <a:solidFill>
                <a:srgbClr val="0000FF"/>
              </a:solidFill>
              <a:latin typeface="+mn-lt"/>
              <a:ea typeface="Times New Roman" panose="02020603050405020304" pitchFamily="18" charset="0"/>
            </a:endParaRPr>
          </a:p>
          <a:p>
            <a:pPr marR="13335" eaLnBrk="0" hangingPunct="0">
              <a:spcBef>
                <a:spcPts val="235"/>
              </a:spcBef>
              <a:spcAft>
                <a:spcPts val="0"/>
              </a:spcAft>
            </a:pPr>
            <a:r>
              <a:rPr lang="en-US" sz="1050" dirty="0">
                <a:solidFill>
                  <a:srgbClr val="0000FF"/>
                </a:solidFill>
                <a:latin typeface="+mn-lt"/>
                <a:ea typeface="Times New Roman" panose="02020603050405020304" pitchFamily="18" charset="0"/>
              </a:rPr>
              <a:t>5   </a:t>
            </a:r>
            <a:r>
              <a:rPr lang="en-US" sz="1050" spc="75" dirty="0">
                <a:solidFill>
                  <a:srgbClr val="0000FF"/>
                </a:solidFill>
                <a:latin typeface="+mn-lt"/>
                <a:ea typeface="Times New Roman" panose="02020603050405020304" pitchFamily="18" charset="0"/>
              </a:rPr>
              <a:t> </a:t>
            </a:r>
            <a:r>
              <a:rPr lang="en-US" sz="1600" spc="45" dirty="0">
                <a:solidFill>
                  <a:srgbClr val="0000FF"/>
                </a:solidFill>
                <a:latin typeface="+mn-lt"/>
                <a:ea typeface="Times New Roman" panose="02020603050405020304" pitchFamily="18" charset="0"/>
              </a:rPr>
              <a:t>data</a:t>
            </a:r>
            <a:r>
              <a:rPr lang="en-US" sz="1600" spc="-320" dirty="0">
                <a:solidFill>
                  <a:srgbClr val="0000FF"/>
                </a:solidFill>
                <a:latin typeface="+mn-lt"/>
                <a:ea typeface="Times New Roman" panose="02020603050405020304" pitchFamily="18" charset="0"/>
              </a:rPr>
              <a:t> </a:t>
            </a:r>
            <a:r>
              <a:rPr lang="en-US" sz="1600" dirty="0">
                <a:solidFill>
                  <a:srgbClr val="0000FF"/>
                </a:solidFill>
                <a:latin typeface="+mn-lt"/>
                <a:ea typeface="Times New Roman" panose="02020603050405020304" pitchFamily="18" charset="0"/>
              </a:rPr>
              <a:t>:	r</a:t>
            </a:r>
            <a:r>
              <a:rPr lang="en-US" sz="1600" spc="-365" dirty="0">
                <a:solidFill>
                  <a:srgbClr val="0000FF"/>
                </a:solidFill>
                <a:latin typeface="+mn-lt"/>
                <a:ea typeface="Times New Roman" panose="02020603050405020304" pitchFamily="18" charset="0"/>
              </a:rPr>
              <a:t> </a:t>
            </a:r>
            <a:r>
              <a:rPr lang="en-US" sz="1600" dirty="0">
                <a:solidFill>
                  <a:srgbClr val="0000FF"/>
                </a:solidFill>
                <a:latin typeface="+mn-lt"/>
                <a:ea typeface="Times New Roman" panose="02020603050405020304" pitchFamily="18" charset="0"/>
              </a:rPr>
              <a:t>n</a:t>
            </a:r>
            <a:r>
              <a:rPr lang="en-US" sz="1600" spc="-365" dirty="0">
                <a:solidFill>
                  <a:srgbClr val="0000FF"/>
                </a:solidFill>
                <a:latin typeface="+mn-lt"/>
                <a:ea typeface="Times New Roman" panose="02020603050405020304" pitchFamily="18" charset="0"/>
              </a:rPr>
              <a:t> </a:t>
            </a:r>
            <a:r>
              <a:rPr lang="en-US" sz="1600" dirty="0">
                <a:solidFill>
                  <a:srgbClr val="0000FF"/>
                </a:solidFill>
                <a:latin typeface="+mn-lt"/>
                <a:ea typeface="Times New Roman" panose="02020603050405020304" pitchFamily="18" charset="0"/>
              </a:rPr>
              <a:t>o</a:t>
            </a:r>
            <a:r>
              <a:rPr lang="en-US" sz="1600" spc="-365" dirty="0">
                <a:solidFill>
                  <a:srgbClr val="0000FF"/>
                </a:solidFill>
                <a:latin typeface="+mn-lt"/>
                <a:ea typeface="Times New Roman" panose="02020603050405020304" pitchFamily="18" charset="0"/>
              </a:rPr>
              <a:t> </a:t>
            </a:r>
            <a:r>
              <a:rPr lang="en-US" sz="1600" dirty="0">
                <a:solidFill>
                  <a:srgbClr val="0000FF"/>
                </a:solidFill>
                <a:latin typeface="+mn-lt"/>
                <a:ea typeface="Times New Roman" panose="02020603050405020304" pitchFamily="18" charset="0"/>
              </a:rPr>
              <a:t>r</a:t>
            </a:r>
            <a:r>
              <a:rPr lang="en-US" sz="1600" spc="-365" dirty="0">
                <a:solidFill>
                  <a:srgbClr val="0000FF"/>
                </a:solidFill>
                <a:latin typeface="+mn-lt"/>
                <a:ea typeface="Times New Roman" panose="02020603050405020304" pitchFamily="18" charset="0"/>
              </a:rPr>
              <a:t> </a:t>
            </a:r>
            <a:r>
              <a:rPr lang="en-US" sz="1600" dirty="0">
                <a:solidFill>
                  <a:srgbClr val="0000FF"/>
                </a:solidFill>
                <a:latin typeface="+mn-lt"/>
                <a:ea typeface="Times New Roman" panose="02020603050405020304" pitchFamily="18" charset="0"/>
              </a:rPr>
              <a:t>m</a:t>
            </a:r>
            <a:r>
              <a:rPr lang="en-US" sz="1600" spc="-310" dirty="0">
                <a:solidFill>
                  <a:srgbClr val="0000FF"/>
                </a:solidFill>
                <a:latin typeface="+mn-lt"/>
                <a:ea typeface="Times New Roman" panose="02020603050405020304" pitchFamily="18" charset="0"/>
              </a:rPr>
              <a:t> </a:t>
            </a:r>
            <a:r>
              <a:rPr lang="en-US" sz="1600" spc="45" dirty="0">
                <a:solidFill>
                  <a:srgbClr val="0000FF"/>
                </a:solidFill>
                <a:latin typeface="+mn-lt"/>
                <a:ea typeface="Times New Roman" panose="02020603050405020304" pitchFamily="18" charset="0"/>
              </a:rPr>
              <a:t>(100</a:t>
            </a:r>
            <a:r>
              <a:rPr lang="en-US" sz="1600" spc="-320" dirty="0">
                <a:solidFill>
                  <a:srgbClr val="0000FF"/>
                </a:solidFill>
                <a:latin typeface="+mn-lt"/>
                <a:ea typeface="Times New Roman" panose="02020603050405020304" pitchFamily="18" charset="0"/>
              </a:rPr>
              <a:t> </a:t>
            </a:r>
            <a:r>
              <a:rPr lang="en-US" sz="1600" dirty="0">
                <a:solidFill>
                  <a:srgbClr val="0000FF"/>
                </a:solidFill>
                <a:latin typeface="+mn-lt"/>
                <a:ea typeface="Times New Roman" panose="02020603050405020304" pitchFamily="18" charset="0"/>
              </a:rPr>
              <a:t>,</a:t>
            </a:r>
            <a:r>
              <a:rPr lang="en-US" sz="1600" spc="175" dirty="0">
                <a:solidFill>
                  <a:srgbClr val="0000FF"/>
                </a:solidFill>
                <a:latin typeface="+mn-lt"/>
                <a:ea typeface="Times New Roman" panose="02020603050405020304" pitchFamily="18" charset="0"/>
              </a:rPr>
              <a:t> </a:t>
            </a:r>
            <a:r>
              <a:rPr lang="en-US" sz="1600" spc="45" dirty="0">
                <a:solidFill>
                  <a:srgbClr val="0000FF"/>
                </a:solidFill>
                <a:latin typeface="+mn-lt"/>
                <a:ea typeface="Times New Roman" panose="02020603050405020304" pitchFamily="18" charset="0"/>
              </a:rPr>
              <a:t>mean</a:t>
            </a:r>
            <a:r>
              <a:rPr lang="en-US" sz="1600" spc="150" dirty="0">
                <a:solidFill>
                  <a:srgbClr val="0000FF"/>
                </a:solidFill>
                <a:latin typeface="+mn-lt"/>
                <a:ea typeface="Times New Roman" panose="02020603050405020304" pitchFamily="18" charset="0"/>
              </a:rPr>
              <a:t> </a:t>
            </a:r>
            <a:r>
              <a:rPr lang="en-US" sz="1600" dirty="0">
                <a:solidFill>
                  <a:srgbClr val="0000FF"/>
                </a:solidFill>
                <a:latin typeface="+mn-lt"/>
                <a:ea typeface="Times New Roman" panose="02020603050405020304" pitchFamily="18" charset="0"/>
              </a:rPr>
              <a:t>=</a:t>
            </a:r>
            <a:r>
              <a:rPr lang="en-US" sz="1600" spc="130" dirty="0">
                <a:solidFill>
                  <a:srgbClr val="0000FF"/>
                </a:solidFill>
                <a:latin typeface="+mn-lt"/>
                <a:ea typeface="Times New Roman" panose="02020603050405020304" pitchFamily="18" charset="0"/>
              </a:rPr>
              <a:t> </a:t>
            </a:r>
            <a:r>
              <a:rPr lang="en-US" sz="1600" dirty="0">
                <a:solidFill>
                  <a:srgbClr val="0000FF"/>
                </a:solidFill>
                <a:latin typeface="+mn-lt"/>
                <a:ea typeface="Times New Roman" panose="02020603050405020304" pitchFamily="18" charset="0"/>
              </a:rPr>
              <a:t>2</a:t>
            </a:r>
            <a:r>
              <a:rPr lang="en-US" sz="1600" spc="-355" dirty="0">
                <a:solidFill>
                  <a:srgbClr val="0000FF"/>
                </a:solidFill>
                <a:latin typeface="+mn-lt"/>
                <a:ea typeface="Times New Roman" panose="02020603050405020304" pitchFamily="18" charset="0"/>
              </a:rPr>
              <a:t> </a:t>
            </a:r>
            <a:r>
              <a:rPr lang="en-US" sz="1600" dirty="0">
                <a:solidFill>
                  <a:srgbClr val="0000FF"/>
                </a:solidFill>
                <a:latin typeface="+mn-lt"/>
                <a:ea typeface="Times New Roman" panose="02020603050405020304" pitchFamily="18" charset="0"/>
              </a:rPr>
              <a:t>,</a:t>
            </a:r>
            <a:r>
              <a:rPr lang="en-US" sz="1600" spc="140" dirty="0">
                <a:solidFill>
                  <a:srgbClr val="0000FF"/>
                </a:solidFill>
                <a:latin typeface="+mn-lt"/>
                <a:ea typeface="Times New Roman" panose="02020603050405020304" pitchFamily="18" charset="0"/>
              </a:rPr>
              <a:t> </a:t>
            </a:r>
            <a:r>
              <a:rPr lang="en-US" sz="1600" spc="25" dirty="0" err="1">
                <a:solidFill>
                  <a:srgbClr val="0000FF"/>
                </a:solidFill>
                <a:latin typeface="+mn-lt"/>
                <a:ea typeface="Times New Roman" panose="02020603050405020304" pitchFamily="18" charset="0"/>
              </a:rPr>
              <a:t>sd</a:t>
            </a:r>
            <a:r>
              <a:rPr lang="en-US" sz="1600" spc="145" dirty="0">
                <a:solidFill>
                  <a:srgbClr val="0000FF"/>
                </a:solidFill>
                <a:latin typeface="+mn-lt"/>
                <a:ea typeface="Times New Roman" panose="02020603050405020304" pitchFamily="18" charset="0"/>
              </a:rPr>
              <a:t> </a:t>
            </a:r>
            <a:r>
              <a:rPr lang="en-US" sz="1600" dirty="0">
                <a:solidFill>
                  <a:srgbClr val="0000FF"/>
                </a:solidFill>
                <a:latin typeface="+mn-lt"/>
                <a:ea typeface="Times New Roman" panose="02020603050405020304" pitchFamily="18" charset="0"/>
              </a:rPr>
              <a:t>=</a:t>
            </a:r>
            <a:r>
              <a:rPr lang="en-US" sz="1600" spc="145" dirty="0">
                <a:solidFill>
                  <a:srgbClr val="0000FF"/>
                </a:solidFill>
                <a:latin typeface="+mn-lt"/>
                <a:ea typeface="Times New Roman" panose="02020603050405020304" pitchFamily="18" charset="0"/>
              </a:rPr>
              <a:t> </a:t>
            </a:r>
            <a:r>
              <a:rPr lang="en-US" sz="1600" spc="25" dirty="0">
                <a:solidFill>
                  <a:srgbClr val="0000FF"/>
                </a:solidFill>
                <a:latin typeface="+mn-lt"/>
                <a:ea typeface="Times New Roman" panose="02020603050405020304" pitchFamily="18" charset="0"/>
              </a:rPr>
              <a:t>5)</a:t>
            </a:r>
            <a:endParaRPr lang="ru-RU" sz="2800" dirty="0">
              <a:solidFill>
                <a:srgbClr val="0000FF"/>
              </a:solidFill>
              <a:latin typeface="+mn-lt"/>
              <a:ea typeface="Times New Roman" panose="02020603050405020304" pitchFamily="18" charset="0"/>
            </a:endParaRPr>
          </a:p>
          <a:p>
            <a:pPr marR="13335" eaLnBrk="0" hangingPunct="0">
              <a:spcBef>
                <a:spcPts val="40"/>
              </a:spcBef>
              <a:spcAft>
                <a:spcPts val="0"/>
              </a:spcAft>
            </a:pPr>
            <a:r>
              <a:rPr lang="ru-RU" sz="1050" dirty="0">
                <a:solidFill>
                  <a:srgbClr val="0000FF"/>
                </a:solidFill>
                <a:latin typeface="+mn-lt"/>
                <a:ea typeface="Times New Roman" panose="02020603050405020304" pitchFamily="18" charset="0"/>
              </a:rPr>
              <a:t>7   </a:t>
            </a:r>
            <a:r>
              <a:rPr lang="ru-RU" sz="1050" spc="15" dirty="0">
                <a:solidFill>
                  <a:srgbClr val="0000FF"/>
                </a:solidFill>
                <a:latin typeface="+mn-lt"/>
                <a:ea typeface="Times New Roman" panose="02020603050405020304" pitchFamily="18" charset="0"/>
              </a:rPr>
              <a:t> </a:t>
            </a:r>
            <a:r>
              <a:rPr lang="ru-RU" sz="1600" dirty="0">
                <a:solidFill>
                  <a:srgbClr val="0000FF"/>
                </a:solidFill>
                <a:latin typeface="+mn-lt"/>
                <a:ea typeface="Times New Roman" panose="02020603050405020304" pitchFamily="18" charset="0"/>
              </a:rPr>
              <a:t>W</a:t>
            </a:r>
            <a:r>
              <a:rPr lang="ru-RU" sz="1600" spc="145" dirty="0">
                <a:solidFill>
                  <a:srgbClr val="0000FF"/>
                </a:solidFill>
                <a:latin typeface="+mn-lt"/>
                <a:ea typeface="Times New Roman" panose="02020603050405020304" pitchFamily="18" charset="0"/>
              </a:rPr>
              <a:t> </a:t>
            </a:r>
            <a:r>
              <a:rPr lang="ru-RU" sz="1600" dirty="0">
                <a:solidFill>
                  <a:srgbClr val="0000FF"/>
                </a:solidFill>
                <a:latin typeface="+mn-lt"/>
                <a:ea typeface="Times New Roman" panose="02020603050405020304" pitchFamily="18" charset="0"/>
              </a:rPr>
              <a:t>=</a:t>
            </a:r>
            <a:r>
              <a:rPr lang="ru-RU" sz="1600" spc="165" dirty="0">
                <a:solidFill>
                  <a:srgbClr val="0000FF"/>
                </a:solidFill>
                <a:latin typeface="+mn-lt"/>
                <a:ea typeface="Times New Roman" panose="02020603050405020304" pitchFamily="18" charset="0"/>
              </a:rPr>
              <a:t> </a:t>
            </a:r>
            <a:r>
              <a:rPr lang="ru-RU" sz="1600" spc="50" dirty="0">
                <a:solidFill>
                  <a:srgbClr val="0000FF"/>
                </a:solidFill>
                <a:latin typeface="+mn-lt"/>
                <a:ea typeface="Times New Roman" panose="02020603050405020304" pitchFamily="18" charset="0"/>
              </a:rPr>
              <a:t>0.9896</a:t>
            </a:r>
            <a:r>
              <a:rPr lang="ru-RU" sz="1600" spc="-310" dirty="0">
                <a:solidFill>
                  <a:srgbClr val="0000FF"/>
                </a:solidFill>
                <a:latin typeface="+mn-lt"/>
                <a:ea typeface="Times New Roman" panose="02020603050405020304" pitchFamily="18" charset="0"/>
              </a:rPr>
              <a:t> </a:t>
            </a:r>
            <a:r>
              <a:rPr lang="ru-RU" sz="1600" dirty="0">
                <a:solidFill>
                  <a:srgbClr val="0000FF"/>
                </a:solidFill>
                <a:latin typeface="+mn-lt"/>
                <a:ea typeface="Times New Roman" panose="02020603050405020304" pitchFamily="18" charset="0"/>
              </a:rPr>
              <a:t>,</a:t>
            </a:r>
            <a:r>
              <a:rPr lang="ru-RU" sz="1600" spc="150" dirty="0">
                <a:solidFill>
                  <a:srgbClr val="0000FF"/>
                </a:solidFill>
                <a:latin typeface="+mn-lt"/>
                <a:ea typeface="Times New Roman" panose="02020603050405020304" pitchFamily="18" charset="0"/>
              </a:rPr>
              <a:t> </a:t>
            </a:r>
            <a:r>
              <a:rPr lang="ru-RU" sz="1600" dirty="0">
                <a:solidFill>
                  <a:srgbClr val="0000FF"/>
                </a:solidFill>
                <a:latin typeface="+mn-lt"/>
                <a:ea typeface="Times New Roman" panose="02020603050405020304" pitchFamily="18" charset="0"/>
              </a:rPr>
              <a:t>p</a:t>
            </a:r>
            <a:r>
              <a:rPr lang="ru-RU" sz="1600" spc="-340" dirty="0">
                <a:solidFill>
                  <a:srgbClr val="0000FF"/>
                </a:solidFill>
                <a:latin typeface="+mn-lt"/>
                <a:ea typeface="Times New Roman" panose="02020603050405020304" pitchFamily="18" charset="0"/>
              </a:rPr>
              <a:t> </a:t>
            </a:r>
            <a:r>
              <a:rPr lang="ru-RU" sz="1600" dirty="0">
                <a:solidFill>
                  <a:srgbClr val="0000FF"/>
                </a:solidFill>
                <a:latin typeface="+mn-lt"/>
                <a:ea typeface="Times New Roman" panose="02020603050405020304" pitchFamily="18" charset="0"/>
              </a:rPr>
              <a:t>-</a:t>
            </a:r>
            <a:r>
              <a:rPr lang="ru-RU" sz="1600" spc="-325" dirty="0">
                <a:solidFill>
                  <a:srgbClr val="0000FF"/>
                </a:solidFill>
                <a:latin typeface="+mn-lt"/>
                <a:ea typeface="Times New Roman" panose="02020603050405020304" pitchFamily="18" charset="0"/>
              </a:rPr>
              <a:t> </a:t>
            </a:r>
            <a:r>
              <a:rPr lang="ru-RU" sz="1600" dirty="0">
                <a:solidFill>
                  <a:srgbClr val="0000FF"/>
                </a:solidFill>
                <a:latin typeface="+mn-lt"/>
                <a:ea typeface="Times New Roman" panose="02020603050405020304" pitchFamily="18" charset="0"/>
              </a:rPr>
              <a:t>v</a:t>
            </a:r>
            <a:r>
              <a:rPr lang="ru-RU" sz="1600" spc="-360" dirty="0">
                <a:solidFill>
                  <a:srgbClr val="0000FF"/>
                </a:solidFill>
                <a:latin typeface="+mn-lt"/>
                <a:ea typeface="Times New Roman" panose="02020603050405020304" pitchFamily="18" charset="0"/>
              </a:rPr>
              <a:t> </a:t>
            </a:r>
            <a:r>
              <a:rPr lang="ru-RU" sz="1600" dirty="0">
                <a:solidFill>
                  <a:srgbClr val="0000FF"/>
                </a:solidFill>
                <a:latin typeface="+mn-lt"/>
                <a:ea typeface="Times New Roman" panose="02020603050405020304" pitchFamily="18" charset="0"/>
              </a:rPr>
              <a:t>a</a:t>
            </a:r>
            <a:r>
              <a:rPr lang="ru-RU" sz="1600" spc="-365" dirty="0">
                <a:solidFill>
                  <a:srgbClr val="0000FF"/>
                </a:solidFill>
                <a:latin typeface="+mn-lt"/>
                <a:ea typeface="Times New Roman" panose="02020603050405020304" pitchFamily="18" charset="0"/>
              </a:rPr>
              <a:t> </a:t>
            </a:r>
            <a:r>
              <a:rPr lang="ru-RU" sz="1600" dirty="0">
                <a:solidFill>
                  <a:srgbClr val="0000FF"/>
                </a:solidFill>
                <a:latin typeface="+mn-lt"/>
                <a:ea typeface="Times New Roman" panose="02020603050405020304" pitchFamily="18" charset="0"/>
              </a:rPr>
              <a:t>l</a:t>
            </a:r>
            <a:r>
              <a:rPr lang="ru-RU" sz="1600" spc="-365" dirty="0">
                <a:solidFill>
                  <a:srgbClr val="0000FF"/>
                </a:solidFill>
                <a:latin typeface="+mn-lt"/>
                <a:ea typeface="Times New Roman" panose="02020603050405020304" pitchFamily="18" charset="0"/>
              </a:rPr>
              <a:t> </a:t>
            </a:r>
            <a:r>
              <a:rPr lang="ru-RU" sz="1600" dirty="0">
                <a:solidFill>
                  <a:srgbClr val="0000FF"/>
                </a:solidFill>
                <a:latin typeface="+mn-lt"/>
                <a:ea typeface="Times New Roman" panose="02020603050405020304" pitchFamily="18" charset="0"/>
              </a:rPr>
              <a:t>u</a:t>
            </a:r>
            <a:r>
              <a:rPr lang="ru-RU" sz="1600" spc="-365" dirty="0">
                <a:solidFill>
                  <a:srgbClr val="0000FF"/>
                </a:solidFill>
                <a:latin typeface="+mn-lt"/>
                <a:ea typeface="Times New Roman" panose="02020603050405020304" pitchFamily="18" charset="0"/>
              </a:rPr>
              <a:t> </a:t>
            </a:r>
            <a:r>
              <a:rPr lang="ru-RU" sz="1600" dirty="0">
                <a:solidFill>
                  <a:srgbClr val="0000FF"/>
                </a:solidFill>
                <a:latin typeface="+mn-lt"/>
                <a:ea typeface="Times New Roman" panose="02020603050405020304" pitchFamily="18" charset="0"/>
              </a:rPr>
              <a:t>e</a:t>
            </a:r>
            <a:r>
              <a:rPr lang="ru-RU" sz="1600" spc="170" dirty="0">
                <a:solidFill>
                  <a:srgbClr val="0000FF"/>
                </a:solidFill>
                <a:latin typeface="+mn-lt"/>
                <a:ea typeface="Times New Roman" panose="02020603050405020304" pitchFamily="18" charset="0"/>
              </a:rPr>
              <a:t> </a:t>
            </a:r>
            <a:r>
              <a:rPr lang="ru-RU" sz="1600" dirty="0">
                <a:solidFill>
                  <a:srgbClr val="0000FF"/>
                </a:solidFill>
                <a:latin typeface="+mn-lt"/>
                <a:ea typeface="Times New Roman" panose="02020603050405020304" pitchFamily="18" charset="0"/>
              </a:rPr>
              <a:t>=</a:t>
            </a:r>
            <a:r>
              <a:rPr lang="ru-RU" sz="1600" spc="170" dirty="0">
                <a:solidFill>
                  <a:srgbClr val="0000FF"/>
                </a:solidFill>
                <a:latin typeface="+mn-lt"/>
                <a:ea typeface="Times New Roman" panose="02020603050405020304" pitchFamily="18" charset="0"/>
              </a:rPr>
              <a:t> </a:t>
            </a:r>
            <a:r>
              <a:rPr lang="ru-RU" sz="1600" dirty="0">
                <a:solidFill>
                  <a:srgbClr val="0000FF"/>
                </a:solidFill>
                <a:latin typeface="+mn-lt"/>
                <a:ea typeface="Times New Roman" panose="02020603050405020304" pitchFamily="18" charset="0"/>
              </a:rPr>
              <a:t>0</a:t>
            </a:r>
            <a:r>
              <a:rPr lang="ru-RU" sz="1600" spc="-365" dirty="0">
                <a:solidFill>
                  <a:srgbClr val="0000FF"/>
                </a:solidFill>
                <a:latin typeface="+mn-lt"/>
                <a:ea typeface="Times New Roman" panose="02020603050405020304" pitchFamily="18" charset="0"/>
              </a:rPr>
              <a:t> </a:t>
            </a:r>
            <a:r>
              <a:rPr lang="ru-RU" sz="1600" dirty="0">
                <a:solidFill>
                  <a:srgbClr val="0000FF"/>
                </a:solidFill>
                <a:latin typeface="+mn-lt"/>
                <a:ea typeface="Times New Roman" panose="02020603050405020304" pitchFamily="18" charset="0"/>
              </a:rPr>
              <a:t>.</a:t>
            </a:r>
            <a:r>
              <a:rPr lang="ru-RU" sz="1600" spc="-365" dirty="0">
                <a:solidFill>
                  <a:srgbClr val="0000FF"/>
                </a:solidFill>
                <a:latin typeface="+mn-lt"/>
                <a:ea typeface="Times New Roman" panose="02020603050405020304" pitchFamily="18" charset="0"/>
              </a:rPr>
              <a:t> </a:t>
            </a:r>
            <a:r>
              <a:rPr lang="ru-RU" sz="1600" dirty="0">
                <a:solidFill>
                  <a:srgbClr val="0000FF"/>
                </a:solidFill>
                <a:latin typeface="+mn-lt"/>
                <a:ea typeface="Times New Roman" panose="02020603050405020304" pitchFamily="18" charset="0"/>
              </a:rPr>
              <a:t>6</a:t>
            </a:r>
            <a:r>
              <a:rPr lang="ru-RU" sz="1600" spc="-360" dirty="0">
                <a:solidFill>
                  <a:srgbClr val="0000FF"/>
                </a:solidFill>
                <a:latin typeface="+mn-lt"/>
                <a:ea typeface="Times New Roman" panose="02020603050405020304" pitchFamily="18" charset="0"/>
              </a:rPr>
              <a:t> </a:t>
            </a:r>
            <a:r>
              <a:rPr lang="ru-RU" sz="1600" dirty="0">
                <a:solidFill>
                  <a:srgbClr val="0000FF"/>
                </a:solidFill>
                <a:latin typeface="+mn-lt"/>
                <a:ea typeface="Times New Roman" panose="02020603050405020304" pitchFamily="18" charset="0"/>
              </a:rPr>
              <a:t>3</a:t>
            </a:r>
            <a:r>
              <a:rPr lang="ru-RU" sz="1600" spc="-365" dirty="0">
                <a:solidFill>
                  <a:srgbClr val="0000FF"/>
                </a:solidFill>
                <a:latin typeface="+mn-lt"/>
                <a:ea typeface="Times New Roman" panose="02020603050405020304" pitchFamily="18" charset="0"/>
              </a:rPr>
              <a:t> </a:t>
            </a:r>
            <a:r>
              <a:rPr lang="ru-RU" sz="1600" dirty="0">
                <a:solidFill>
                  <a:srgbClr val="0000FF"/>
                </a:solidFill>
                <a:latin typeface="+mn-lt"/>
                <a:ea typeface="Times New Roman" panose="02020603050405020304" pitchFamily="18" charset="0"/>
              </a:rPr>
              <a:t>0</a:t>
            </a:r>
            <a:r>
              <a:rPr lang="ru-RU" sz="1600" spc="-365" dirty="0">
                <a:solidFill>
                  <a:srgbClr val="0000FF"/>
                </a:solidFill>
                <a:latin typeface="+mn-lt"/>
                <a:ea typeface="Times New Roman" panose="02020603050405020304" pitchFamily="18" charset="0"/>
              </a:rPr>
              <a:t> </a:t>
            </a:r>
            <a:r>
              <a:rPr lang="ru-RU" sz="1600" dirty="0">
                <a:solidFill>
                  <a:srgbClr val="0000FF"/>
                </a:solidFill>
                <a:latin typeface="+mn-lt"/>
                <a:ea typeface="Times New Roman" panose="02020603050405020304" pitchFamily="18" charset="0"/>
              </a:rPr>
              <a:t>3</a:t>
            </a:r>
            <a:endParaRPr lang="ru-RU" sz="2800" dirty="0">
              <a:solidFill>
                <a:srgbClr val="0000FF"/>
              </a:solidFill>
              <a:latin typeface="+mn-lt"/>
              <a:ea typeface="Times New Roman" panose="02020603050405020304" pitchFamily="18" charset="0"/>
            </a:endParaRPr>
          </a:p>
          <a:p>
            <a:pPr marR="13335" eaLnBrk="0" hangingPunct="0">
              <a:spcBef>
                <a:spcPts val="235"/>
              </a:spcBef>
              <a:spcAft>
                <a:spcPts val="0"/>
              </a:spcAft>
            </a:pPr>
            <a:r>
              <a:rPr lang="ru-RU" sz="1050" dirty="0">
                <a:solidFill>
                  <a:srgbClr val="0000FF"/>
                </a:solidFill>
                <a:latin typeface="+mn-lt"/>
                <a:ea typeface="Times New Roman" panose="02020603050405020304" pitchFamily="18" charset="0"/>
              </a:rPr>
              <a:t>8</a:t>
            </a:r>
            <a:endParaRPr lang="ru-RU" sz="2800" dirty="0">
              <a:solidFill>
                <a:srgbClr val="0000FF"/>
              </a:solidFill>
              <a:latin typeface="+mn-lt"/>
              <a:ea typeface="Times New Roman" panose="02020603050405020304" pitchFamily="18" charset="0"/>
            </a:endParaRPr>
          </a:p>
          <a:p>
            <a:pPr marL="342900" marR="13335" indent="-342900" eaLnBrk="0" hangingPunct="0">
              <a:spcBef>
                <a:spcPts val="175"/>
              </a:spcBef>
              <a:spcAft>
                <a:spcPts val="0"/>
              </a:spcAft>
              <a:buClr>
                <a:srgbClr val="7F7F7F"/>
              </a:buClr>
              <a:buSzPts val="500"/>
              <a:buFont typeface="+mj-lt"/>
              <a:buAutoNum type="arabicPeriod" startAt="9"/>
              <a:tabLst>
                <a:tab pos="704850" algn="l"/>
              </a:tabLst>
            </a:pPr>
            <a:r>
              <a:rPr lang="ru-RU" sz="1600" dirty="0">
                <a:solidFill>
                  <a:srgbClr val="0000FF"/>
                </a:solidFill>
                <a:latin typeface="+mn-lt"/>
                <a:ea typeface="Times New Roman" panose="02020603050405020304" pitchFamily="18" charset="0"/>
              </a:rPr>
              <a:t>&gt;</a:t>
            </a:r>
            <a:r>
              <a:rPr lang="ru-RU" sz="1600" spc="90" dirty="0">
                <a:solidFill>
                  <a:srgbClr val="0000FF"/>
                </a:solidFill>
                <a:latin typeface="+mn-lt"/>
                <a:ea typeface="Times New Roman" panose="02020603050405020304" pitchFamily="18" charset="0"/>
              </a:rPr>
              <a:t> </a:t>
            </a:r>
            <a:r>
              <a:rPr lang="ru-RU" sz="1600" spc="40" dirty="0" err="1">
                <a:solidFill>
                  <a:srgbClr val="0000FF"/>
                </a:solidFill>
                <a:latin typeface="+mn-lt"/>
                <a:ea typeface="Times New Roman" panose="02020603050405020304" pitchFamily="18" charset="0"/>
              </a:rPr>
              <a:t>set</a:t>
            </a:r>
            <a:r>
              <a:rPr lang="ru-RU" sz="1600" spc="-340" dirty="0">
                <a:solidFill>
                  <a:srgbClr val="0000FF"/>
                </a:solidFill>
                <a:latin typeface="+mn-lt"/>
                <a:ea typeface="Times New Roman" panose="02020603050405020304" pitchFamily="18" charset="0"/>
              </a:rPr>
              <a:t> </a:t>
            </a:r>
            <a:r>
              <a:rPr lang="ru-RU" sz="1600" dirty="0">
                <a:solidFill>
                  <a:srgbClr val="0000FF"/>
                </a:solidFill>
                <a:latin typeface="+mn-lt"/>
                <a:ea typeface="Times New Roman" panose="02020603050405020304" pitchFamily="18" charset="0"/>
              </a:rPr>
              <a:t>.</a:t>
            </a:r>
            <a:r>
              <a:rPr lang="ru-RU" sz="1600" spc="-340" dirty="0">
                <a:solidFill>
                  <a:srgbClr val="0000FF"/>
                </a:solidFill>
                <a:latin typeface="+mn-lt"/>
                <a:ea typeface="Times New Roman" panose="02020603050405020304" pitchFamily="18" charset="0"/>
              </a:rPr>
              <a:t> </a:t>
            </a:r>
            <a:r>
              <a:rPr lang="ru-RU" sz="1600" spc="45" dirty="0" err="1">
                <a:solidFill>
                  <a:srgbClr val="0000FF"/>
                </a:solidFill>
                <a:latin typeface="+mn-lt"/>
                <a:ea typeface="Times New Roman" panose="02020603050405020304" pitchFamily="18" charset="0"/>
              </a:rPr>
              <a:t>seed</a:t>
            </a:r>
            <a:r>
              <a:rPr lang="ru-RU" sz="1600" spc="-315" dirty="0">
                <a:solidFill>
                  <a:srgbClr val="0000FF"/>
                </a:solidFill>
                <a:latin typeface="+mn-lt"/>
                <a:ea typeface="Times New Roman" panose="02020603050405020304" pitchFamily="18" charset="0"/>
              </a:rPr>
              <a:t> </a:t>
            </a:r>
            <a:r>
              <a:rPr lang="ru-RU" sz="1600" spc="40" dirty="0">
                <a:solidFill>
                  <a:srgbClr val="0000FF"/>
                </a:solidFill>
                <a:latin typeface="+mn-lt"/>
                <a:ea typeface="Times New Roman" panose="02020603050405020304" pitchFamily="18" charset="0"/>
              </a:rPr>
              <a:t>(0)</a:t>
            </a:r>
            <a:endParaRPr lang="ru-RU" sz="2800" dirty="0">
              <a:solidFill>
                <a:srgbClr val="0000FF"/>
              </a:solidFill>
              <a:latin typeface="+mn-lt"/>
              <a:ea typeface="Times New Roman" panose="02020603050405020304" pitchFamily="18" charset="0"/>
            </a:endParaRPr>
          </a:p>
          <a:p>
            <a:pPr marL="342900" marR="13335" indent="-342900" eaLnBrk="0" hangingPunct="0">
              <a:spcBef>
                <a:spcPts val="40"/>
              </a:spcBef>
              <a:spcAft>
                <a:spcPts val="0"/>
              </a:spcAft>
              <a:buClr>
                <a:srgbClr val="7F7F7F"/>
              </a:buClr>
              <a:buSzPts val="500"/>
              <a:buFont typeface="+mj-lt"/>
              <a:buAutoNum type="arabicPeriod" startAt="9"/>
              <a:tabLst>
                <a:tab pos="704850" algn="l"/>
              </a:tabLst>
            </a:pPr>
            <a:r>
              <a:rPr lang="en-US" sz="1600" dirty="0">
                <a:solidFill>
                  <a:srgbClr val="0000FF"/>
                </a:solidFill>
                <a:latin typeface="+mn-lt"/>
                <a:ea typeface="Times New Roman" panose="02020603050405020304" pitchFamily="18" charset="0"/>
              </a:rPr>
              <a:t>&gt;</a:t>
            </a:r>
            <a:r>
              <a:rPr lang="en-US" sz="1600" spc="135" dirty="0">
                <a:solidFill>
                  <a:srgbClr val="0000FF"/>
                </a:solidFill>
                <a:latin typeface="+mn-lt"/>
                <a:ea typeface="Times New Roman" panose="02020603050405020304" pitchFamily="18" charset="0"/>
              </a:rPr>
              <a:t> </a:t>
            </a:r>
            <a:r>
              <a:rPr lang="en-US" sz="1600" dirty="0">
                <a:solidFill>
                  <a:srgbClr val="0000FF"/>
                </a:solidFill>
                <a:latin typeface="+mn-lt"/>
                <a:ea typeface="Times New Roman" panose="02020603050405020304" pitchFamily="18" charset="0"/>
              </a:rPr>
              <a:t>s</a:t>
            </a:r>
            <a:r>
              <a:rPr lang="en-US" sz="1600" spc="-365" dirty="0">
                <a:solidFill>
                  <a:srgbClr val="0000FF"/>
                </a:solidFill>
                <a:latin typeface="+mn-lt"/>
                <a:ea typeface="Times New Roman" panose="02020603050405020304" pitchFamily="18" charset="0"/>
              </a:rPr>
              <a:t> </a:t>
            </a:r>
            <a:r>
              <a:rPr lang="en-US" sz="1600" dirty="0">
                <a:solidFill>
                  <a:srgbClr val="0000FF"/>
                </a:solidFill>
                <a:latin typeface="+mn-lt"/>
                <a:ea typeface="Times New Roman" panose="02020603050405020304" pitchFamily="18" charset="0"/>
              </a:rPr>
              <a:t>h</a:t>
            </a:r>
            <a:r>
              <a:rPr lang="en-US" sz="1600" spc="-365" dirty="0">
                <a:solidFill>
                  <a:srgbClr val="0000FF"/>
                </a:solidFill>
                <a:latin typeface="+mn-lt"/>
                <a:ea typeface="Times New Roman" panose="02020603050405020304" pitchFamily="18" charset="0"/>
              </a:rPr>
              <a:t> </a:t>
            </a:r>
            <a:r>
              <a:rPr lang="en-US" sz="1600" dirty="0">
                <a:solidFill>
                  <a:srgbClr val="0000FF"/>
                </a:solidFill>
                <a:latin typeface="+mn-lt"/>
                <a:ea typeface="Times New Roman" panose="02020603050405020304" pitchFamily="18" charset="0"/>
              </a:rPr>
              <a:t>a</a:t>
            </a:r>
            <a:r>
              <a:rPr lang="en-US" sz="1600" spc="-370" dirty="0">
                <a:solidFill>
                  <a:srgbClr val="0000FF"/>
                </a:solidFill>
                <a:latin typeface="+mn-lt"/>
                <a:ea typeface="Times New Roman" panose="02020603050405020304" pitchFamily="18" charset="0"/>
              </a:rPr>
              <a:t> </a:t>
            </a:r>
            <a:r>
              <a:rPr lang="en-US" sz="1600" dirty="0">
                <a:solidFill>
                  <a:srgbClr val="0000FF"/>
                </a:solidFill>
                <a:latin typeface="+mn-lt"/>
                <a:ea typeface="Times New Roman" panose="02020603050405020304" pitchFamily="18" charset="0"/>
              </a:rPr>
              <a:t>p</a:t>
            </a:r>
            <a:r>
              <a:rPr lang="en-US" sz="1600" spc="-365" dirty="0">
                <a:solidFill>
                  <a:srgbClr val="0000FF"/>
                </a:solidFill>
                <a:latin typeface="+mn-lt"/>
                <a:ea typeface="Times New Roman" panose="02020603050405020304" pitchFamily="18" charset="0"/>
              </a:rPr>
              <a:t> </a:t>
            </a:r>
            <a:r>
              <a:rPr lang="en-US" sz="1600" dirty="0" err="1">
                <a:solidFill>
                  <a:srgbClr val="0000FF"/>
                </a:solidFill>
                <a:latin typeface="+mn-lt"/>
                <a:ea typeface="Times New Roman" panose="02020603050405020304" pitchFamily="18" charset="0"/>
              </a:rPr>
              <a:t>i</a:t>
            </a:r>
            <a:r>
              <a:rPr lang="en-US" sz="1600" spc="-365" dirty="0">
                <a:solidFill>
                  <a:srgbClr val="0000FF"/>
                </a:solidFill>
                <a:latin typeface="+mn-lt"/>
                <a:ea typeface="Times New Roman" panose="02020603050405020304" pitchFamily="18" charset="0"/>
              </a:rPr>
              <a:t> </a:t>
            </a:r>
            <a:r>
              <a:rPr lang="en-US" sz="1600" dirty="0">
                <a:solidFill>
                  <a:srgbClr val="0000FF"/>
                </a:solidFill>
                <a:latin typeface="+mn-lt"/>
                <a:ea typeface="Times New Roman" panose="02020603050405020304" pitchFamily="18" charset="0"/>
              </a:rPr>
              <a:t>r</a:t>
            </a:r>
            <a:r>
              <a:rPr lang="en-US" sz="1600" spc="-370" dirty="0">
                <a:solidFill>
                  <a:srgbClr val="0000FF"/>
                </a:solidFill>
                <a:latin typeface="+mn-lt"/>
                <a:ea typeface="Times New Roman" panose="02020603050405020304" pitchFamily="18" charset="0"/>
              </a:rPr>
              <a:t> </a:t>
            </a:r>
            <a:r>
              <a:rPr lang="en-US" sz="1600" dirty="0">
                <a:solidFill>
                  <a:srgbClr val="0000FF"/>
                </a:solidFill>
                <a:latin typeface="+mn-lt"/>
                <a:ea typeface="Times New Roman" panose="02020603050405020304" pitchFamily="18" charset="0"/>
              </a:rPr>
              <a:t>o</a:t>
            </a:r>
            <a:r>
              <a:rPr lang="en-US" sz="1600" spc="-325" dirty="0">
                <a:solidFill>
                  <a:srgbClr val="0000FF"/>
                </a:solidFill>
                <a:latin typeface="+mn-lt"/>
                <a:ea typeface="Times New Roman" panose="02020603050405020304" pitchFamily="18" charset="0"/>
              </a:rPr>
              <a:t> </a:t>
            </a:r>
            <a:r>
              <a:rPr lang="en-US" sz="1600" dirty="0">
                <a:solidFill>
                  <a:srgbClr val="0000FF"/>
                </a:solidFill>
                <a:latin typeface="+mn-lt"/>
                <a:ea typeface="Times New Roman" panose="02020603050405020304" pitchFamily="18" charset="0"/>
              </a:rPr>
              <a:t>.</a:t>
            </a:r>
            <a:r>
              <a:rPr lang="en-US" sz="1600" spc="-325" dirty="0">
                <a:solidFill>
                  <a:srgbClr val="0000FF"/>
                </a:solidFill>
                <a:latin typeface="+mn-lt"/>
                <a:ea typeface="Times New Roman" panose="02020603050405020304" pitchFamily="18" charset="0"/>
              </a:rPr>
              <a:t> </a:t>
            </a:r>
            <a:r>
              <a:rPr lang="en-US" sz="1600" spc="45" dirty="0">
                <a:solidFill>
                  <a:srgbClr val="0000FF"/>
                </a:solidFill>
                <a:latin typeface="+mn-lt"/>
                <a:ea typeface="Times New Roman" panose="02020603050405020304" pitchFamily="18" charset="0"/>
              </a:rPr>
              <a:t>test</a:t>
            </a:r>
            <a:r>
              <a:rPr lang="en-US" sz="1600" spc="-330" dirty="0">
                <a:solidFill>
                  <a:srgbClr val="0000FF"/>
                </a:solidFill>
                <a:latin typeface="+mn-lt"/>
                <a:ea typeface="Times New Roman" panose="02020603050405020304" pitchFamily="18" charset="0"/>
              </a:rPr>
              <a:t> </a:t>
            </a:r>
            <a:r>
              <a:rPr lang="en-US" sz="1600" dirty="0">
                <a:solidFill>
                  <a:srgbClr val="0000FF"/>
                </a:solidFill>
                <a:latin typeface="+mn-lt"/>
                <a:ea typeface="Times New Roman" panose="02020603050405020304" pitchFamily="18" charset="0"/>
              </a:rPr>
              <a:t>(</a:t>
            </a:r>
            <a:r>
              <a:rPr lang="en-US" sz="1600" spc="-330" dirty="0">
                <a:solidFill>
                  <a:srgbClr val="0000FF"/>
                </a:solidFill>
                <a:latin typeface="+mn-lt"/>
                <a:ea typeface="Times New Roman" panose="02020603050405020304" pitchFamily="18" charset="0"/>
              </a:rPr>
              <a:t> </a:t>
            </a:r>
            <a:r>
              <a:rPr lang="en-US" sz="1600" dirty="0">
                <a:solidFill>
                  <a:srgbClr val="0000FF"/>
                </a:solidFill>
                <a:latin typeface="+mn-lt"/>
                <a:ea typeface="Times New Roman" panose="02020603050405020304" pitchFamily="18" charset="0"/>
              </a:rPr>
              <a:t>r</a:t>
            </a:r>
            <a:r>
              <a:rPr lang="en-US" sz="1600" spc="-365" dirty="0">
                <a:solidFill>
                  <a:srgbClr val="0000FF"/>
                </a:solidFill>
                <a:latin typeface="+mn-lt"/>
                <a:ea typeface="Times New Roman" panose="02020603050405020304" pitchFamily="18" charset="0"/>
              </a:rPr>
              <a:t> </a:t>
            </a:r>
            <a:r>
              <a:rPr lang="en-US" sz="1600" dirty="0">
                <a:solidFill>
                  <a:srgbClr val="0000FF"/>
                </a:solidFill>
                <a:latin typeface="+mn-lt"/>
                <a:ea typeface="Times New Roman" panose="02020603050405020304" pitchFamily="18" charset="0"/>
              </a:rPr>
              <a:t>u</a:t>
            </a:r>
            <a:r>
              <a:rPr lang="en-US" sz="1600" spc="-370" dirty="0">
                <a:solidFill>
                  <a:srgbClr val="0000FF"/>
                </a:solidFill>
                <a:latin typeface="+mn-lt"/>
                <a:ea typeface="Times New Roman" panose="02020603050405020304" pitchFamily="18" charset="0"/>
              </a:rPr>
              <a:t> </a:t>
            </a:r>
            <a:r>
              <a:rPr lang="en-US" sz="1600" dirty="0">
                <a:solidFill>
                  <a:srgbClr val="0000FF"/>
                </a:solidFill>
                <a:latin typeface="+mn-lt"/>
                <a:ea typeface="Times New Roman" panose="02020603050405020304" pitchFamily="18" charset="0"/>
              </a:rPr>
              <a:t>n</a:t>
            </a:r>
            <a:r>
              <a:rPr lang="en-US" sz="1600" spc="-365" dirty="0">
                <a:solidFill>
                  <a:srgbClr val="0000FF"/>
                </a:solidFill>
                <a:latin typeface="+mn-lt"/>
                <a:ea typeface="Times New Roman" panose="02020603050405020304" pitchFamily="18" charset="0"/>
              </a:rPr>
              <a:t> </a:t>
            </a:r>
            <a:r>
              <a:rPr lang="en-US" sz="1600" dirty="0" err="1">
                <a:solidFill>
                  <a:srgbClr val="0000FF"/>
                </a:solidFill>
                <a:latin typeface="+mn-lt"/>
                <a:ea typeface="Times New Roman" panose="02020603050405020304" pitchFamily="18" charset="0"/>
              </a:rPr>
              <a:t>i</a:t>
            </a:r>
            <a:r>
              <a:rPr lang="en-US" sz="1600" spc="-365" dirty="0">
                <a:solidFill>
                  <a:srgbClr val="0000FF"/>
                </a:solidFill>
                <a:latin typeface="+mn-lt"/>
                <a:ea typeface="Times New Roman" panose="02020603050405020304" pitchFamily="18" charset="0"/>
              </a:rPr>
              <a:t> </a:t>
            </a:r>
            <a:r>
              <a:rPr lang="en-US" sz="1600" dirty="0">
                <a:solidFill>
                  <a:srgbClr val="0000FF"/>
                </a:solidFill>
                <a:latin typeface="+mn-lt"/>
                <a:ea typeface="Times New Roman" panose="02020603050405020304" pitchFamily="18" charset="0"/>
              </a:rPr>
              <a:t>f</a:t>
            </a:r>
            <a:r>
              <a:rPr lang="en-US" sz="1600" spc="-310" dirty="0">
                <a:solidFill>
                  <a:srgbClr val="0000FF"/>
                </a:solidFill>
                <a:latin typeface="+mn-lt"/>
                <a:ea typeface="Times New Roman" panose="02020603050405020304" pitchFamily="18" charset="0"/>
              </a:rPr>
              <a:t> </a:t>
            </a:r>
            <a:r>
              <a:rPr lang="en-US" sz="1600" spc="45" dirty="0">
                <a:solidFill>
                  <a:srgbClr val="0000FF"/>
                </a:solidFill>
                <a:latin typeface="+mn-lt"/>
                <a:ea typeface="Times New Roman" panose="02020603050405020304" pitchFamily="18" charset="0"/>
              </a:rPr>
              <a:t>(100</a:t>
            </a:r>
            <a:r>
              <a:rPr lang="en-US" sz="1600" spc="-320" dirty="0">
                <a:solidFill>
                  <a:srgbClr val="0000FF"/>
                </a:solidFill>
                <a:latin typeface="+mn-lt"/>
                <a:ea typeface="Times New Roman" panose="02020603050405020304" pitchFamily="18" charset="0"/>
              </a:rPr>
              <a:t> </a:t>
            </a:r>
            <a:r>
              <a:rPr lang="en-US" sz="1600" dirty="0">
                <a:solidFill>
                  <a:srgbClr val="0000FF"/>
                </a:solidFill>
                <a:latin typeface="+mn-lt"/>
                <a:ea typeface="Times New Roman" panose="02020603050405020304" pitchFamily="18" charset="0"/>
              </a:rPr>
              <a:t>,</a:t>
            </a:r>
            <a:r>
              <a:rPr lang="en-US" sz="1600" spc="155" dirty="0">
                <a:solidFill>
                  <a:srgbClr val="0000FF"/>
                </a:solidFill>
                <a:latin typeface="+mn-lt"/>
                <a:ea typeface="Times New Roman" panose="02020603050405020304" pitchFamily="18" charset="0"/>
              </a:rPr>
              <a:t> </a:t>
            </a:r>
            <a:r>
              <a:rPr lang="en-US" sz="1600" spc="40" dirty="0">
                <a:solidFill>
                  <a:srgbClr val="0000FF"/>
                </a:solidFill>
                <a:latin typeface="+mn-lt"/>
                <a:ea typeface="Times New Roman" panose="02020603050405020304" pitchFamily="18" charset="0"/>
              </a:rPr>
              <a:t>min</a:t>
            </a:r>
            <a:r>
              <a:rPr lang="en-US" sz="1600" spc="140" dirty="0">
                <a:solidFill>
                  <a:srgbClr val="0000FF"/>
                </a:solidFill>
                <a:latin typeface="+mn-lt"/>
                <a:ea typeface="Times New Roman" panose="02020603050405020304" pitchFamily="18" charset="0"/>
              </a:rPr>
              <a:t> </a:t>
            </a:r>
            <a:r>
              <a:rPr lang="en-US" sz="1600" dirty="0">
                <a:solidFill>
                  <a:srgbClr val="0000FF"/>
                </a:solidFill>
                <a:latin typeface="+mn-lt"/>
                <a:ea typeface="Times New Roman" panose="02020603050405020304" pitchFamily="18" charset="0"/>
              </a:rPr>
              <a:t>=</a:t>
            </a:r>
            <a:r>
              <a:rPr lang="en-US" sz="1600" spc="170" dirty="0">
                <a:solidFill>
                  <a:srgbClr val="0000FF"/>
                </a:solidFill>
                <a:latin typeface="+mn-lt"/>
                <a:ea typeface="Times New Roman" panose="02020603050405020304" pitchFamily="18" charset="0"/>
              </a:rPr>
              <a:t> </a:t>
            </a:r>
            <a:r>
              <a:rPr lang="en-US" sz="1600" spc="30" dirty="0">
                <a:solidFill>
                  <a:srgbClr val="0000FF"/>
                </a:solidFill>
                <a:latin typeface="+mn-lt"/>
                <a:ea typeface="Times New Roman" panose="02020603050405020304" pitchFamily="18" charset="0"/>
              </a:rPr>
              <a:t>-10</a:t>
            </a:r>
            <a:r>
              <a:rPr lang="en-US" sz="1600" spc="-340" dirty="0">
                <a:solidFill>
                  <a:srgbClr val="0000FF"/>
                </a:solidFill>
                <a:latin typeface="+mn-lt"/>
                <a:ea typeface="Times New Roman" panose="02020603050405020304" pitchFamily="18" charset="0"/>
              </a:rPr>
              <a:t> </a:t>
            </a:r>
            <a:r>
              <a:rPr lang="en-US" sz="1600" dirty="0">
                <a:solidFill>
                  <a:srgbClr val="0000FF"/>
                </a:solidFill>
                <a:latin typeface="+mn-lt"/>
                <a:ea typeface="Times New Roman" panose="02020603050405020304" pitchFamily="18" charset="0"/>
              </a:rPr>
              <a:t>,</a:t>
            </a:r>
            <a:r>
              <a:rPr lang="en-US" sz="1600" spc="145" dirty="0">
                <a:solidFill>
                  <a:srgbClr val="0000FF"/>
                </a:solidFill>
                <a:latin typeface="+mn-lt"/>
                <a:ea typeface="Times New Roman" panose="02020603050405020304" pitchFamily="18" charset="0"/>
              </a:rPr>
              <a:t> </a:t>
            </a:r>
            <a:r>
              <a:rPr lang="en-US" sz="1600" spc="40" dirty="0">
                <a:solidFill>
                  <a:srgbClr val="0000FF"/>
                </a:solidFill>
                <a:latin typeface="+mn-lt"/>
                <a:ea typeface="Times New Roman" panose="02020603050405020304" pitchFamily="18" charset="0"/>
              </a:rPr>
              <a:t>max</a:t>
            </a:r>
            <a:r>
              <a:rPr lang="en-US" sz="1600" spc="140" dirty="0">
                <a:solidFill>
                  <a:srgbClr val="0000FF"/>
                </a:solidFill>
                <a:latin typeface="+mn-lt"/>
                <a:ea typeface="Times New Roman" panose="02020603050405020304" pitchFamily="18" charset="0"/>
              </a:rPr>
              <a:t> </a:t>
            </a:r>
            <a:r>
              <a:rPr lang="en-US" sz="1600" dirty="0">
                <a:solidFill>
                  <a:srgbClr val="0000FF"/>
                </a:solidFill>
                <a:latin typeface="+mn-lt"/>
                <a:ea typeface="Times New Roman" panose="02020603050405020304" pitchFamily="18" charset="0"/>
              </a:rPr>
              <a:t>=</a:t>
            </a:r>
            <a:r>
              <a:rPr lang="en-US" sz="1600" spc="135" dirty="0">
                <a:solidFill>
                  <a:srgbClr val="0000FF"/>
                </a:solidFill>
                <a:latin typeface="+mn-lt"/>
                <a:ea typeface="Times New Roman" panose="02020603050405020304" pitchFamily="18" charset="0"/>
              </a:rPr>
              <a:t> </a:t>
            </a:r>
            <a:r>
              <a:rPr lang="en-US" sz="1600" spc="40" dirty="0">
                <a:solidFill>
                  <a:srgbClr val="0000FF"/>
                </a:solidFill>
                <a:latin typeface="+mn-lt"/>
                <a:ea typeface="Times New Roman" panose="02020603050405020304" pitchFamily="18" charset="0"/>
              </a:rPr>
              <a:t>10)</a:t>
            </a:r>
            <a:r>
              <a:rPr lang="en-US" sz="1600" spc="-330" dirty="0">
                <a:solidFill>
                  <a:srgbClr val="0000FF"/>
                </a:solidFill>
                <a:latin typeface="+mn-lt"/>
                <a:ea typeface="Times New Roman" panose="02020603050405020304" pitchFamily="18" charset="0"/>
              </a:rPr>
              <a:t> </a:t>
            </a:r>
            <a:r>
              <a:rPr lang="en-US" sz="1600" dirty="0">
                <a:solidFill>
                  <a:srgbClr val="0000FF"/>
                </a:solidFill>
                <a:latin typeface="+mn-lt"/>
                <a:ea typeface="Times New Roman" panose="02020603050405020304" pitchFamily="18" charset="0"/>
              </a:rPr>
              <a:t>) #</a:t>
            </a:r>
            <a:r>
              <a:rPr lang="ru-RU" sz="1600" dirty="0">
                <a:solidFill>
                  <a:srgbClr val="0000FF"/>
                </a:solidFill>
                <a:latin typeface="+mn-lt"/>
                <a:ea typeface="Times New Roman" panose="02020603050405020304" pitchFamily="18" charset="0"/>
              </a:rPr>
              <a:t>равномерное распределение</a:t>
            </a:r>
            <a:endParaRPr lang="ru-RU" sz="2800" dirty="0">
              <a:solidFill>
                <a:srgbClr val="0000FF"/>
              </a:solidFill>
              <a:latin typeface="+mn-lt"/>
              <a:ea typeface="Times New Roman" panose="02020603050405020304" pitchFamily="18" charset="0"/>
            </a:endParaRPr>
          </a:p>
          <a:p>
            <a:pPr marR="13335" eaLnBrk="0" hangingPunct="0">
              <a:spcBef>
                <a:spcPts val="235"/>
              </a:spcBef>
              <a:spcAft>
                <a:spcPts val="0"/>
              </a:spcAft>
            </a:pPr>
            <a:r>
              <a:rPr lang="en-US" sz="1050" dirty="0">
                <a:solidFill>
                  <a:srgbClr val="0000FF"/>
                </a:solidFill>
                <a:latin typeface="+mn-lt"/>
                <a:ea typeface="Times New Roman" panose="02020603050405020304" pitchFamily="18" charset="0"/>
              </a:rPr>
              <a:t>11</a:t>
            </a:r>
            <a:endParaRPr lang="ru-RU" sz="2800" dirty="0">
              <a:solidFill>
                <a:srgbClr val="0000FF"/>
              </a:solidFill>
              <a:latin typeface="+mn-lt"/>
              <a:ea typeface="Times New Roman" panose="02020603050405020304" pitchFamily="18" charset="0"/>
            </a:endParaRPr>
          </a:p>
          <a:p>
            <a:pPr marR="13335" eaLnBrk="0" hangingPunct="0">
              <a:spcBef>
                <a:spcPts val="175"/>
              </a:spcBef>
              <a:spcAft>
                <a:spcPts val="0"/>
              </a:spcAft>
              <a:tabLst>
                <a:tab pos="1222375" algn="l"/>
              </a:tabLst>
            </a:pPr>
            <a:r>
              <a:rPr lang="en-US" sz="1050" dirty="0">
                <a:solidFill>
                  <a:srgbClr val="0000FF"/>
                </a:solidFill>
                <a:latin typeface="+mn-lt"/>
                <a:ea typeface="Times New Roman" panose="02020603050405020304" pitchFamily="18" charset="0"/>
              </a:rPr>
              <a:t>12	</a:t>
            </a:r>
            <a:r>
              <a:rPr lang="en-US" sz="1600" spc="55" dirty="0">
                <a:solidFill>
                  <a:srgbClr val="0000FF"/>
                </a:solidFill>
                <a:latin typeface="+mn-lt"/>
                <a:ea typeface="Times New Roman" panose="02020603050405020304" pitchFamily="18" charset="0"/>
              </a:rPr>
              <a:t>Shapiro</a:t>
            </a:r>
            <a:r>
              <a:rPr lang="en-US" sz="1600" spc="-355" dirty="0">
                <a:solidFill>
                  <a:srgbClr val="0000FF"/>
                </a:solidFill>
                <a:latin typeface="+mn-lt"/>
                <a:ea typeface="Times New Roman" panose="02020603050405020304" pitchFamily="18" charset="0"/>
              </a:rPr>
              <a:t> </a:t>
            </a:r>
            <a:r>
              <a:rPr lang="en-US" sz="1600" dirty="0">
                <a:solidFill>
                  <a:srgbClr val="0000FF"/>
                </a:solidFill>
                <a:latin typeface="+mn-lt"/>
                <a:ea typeface="Times New Roman" panose="02020603050405020304" pitchFamily="18" charset="0"/>
              </a:rPr>
              <a:t>-</a:t>
            </a:r>
            <a:r>
              <a:rPr lang="en-US" sz="1600" spc="-385" dirty="0">
                <a:solidFill>
                  <a:srgbClr val="0000FF"/>
                </a:solidFill>
                <a:latin typeface="+mn-lt"/>
                <a:ea typeface="Times New Roman" panose="02020603050405020304" pitchFamily="18" charset="0"/>
              </a:rPr>
              <a:t> </a:t>
            </a:r>
            <a:r>
              <a:rPr lang="en-US" sz="1600" spc="45" dirty="0">
                <a:solidFill>
                  <a:srgbClr val="0000FF"/>
                </a:solidFill>
                <a:latin typeface="+mn-lt"/>
                <a:ea typeface="Times New Roman" panose="02020603050405020304" pitchFamily="18" charset="0"/>
              </a:rPr>
              <a:t>Wilk</a:t>
            </a:r>
            <a:r>
              <a:rPr lang="en-US" sz="1600" spc="-60" dirty="0">
                <a:solidFill>
                  <a:srgbClr val="0000FF"/>
                </a:solidFill>
                <a:latin typeface="+mn-lt"/>
                <a:ea typeface="Times New Roman" panose="02020603050405020304" pitchFamily="18" charset="0"/>
              </a:rPr>
              <a:t> </a:t>
            </a:r>
            <a:r>
              <a:rPr lang="en-US" sz="1600" dirty="0">
                <a:solidFill>
                  <a:srgbClr val="0000FF"/>
                </a:solidFill>
                <a:latin typeface="+mn-lt"/>
                <a:ea typeface="Times New Roman" panose="02020603050405020304" pitchFamily="18" charset="0"/>
              </a:rPr>
              <a:t>n</a:t>
            </a:r>
            <a:r>
              <a:rPr lang="en-US" sz="1600" spc="-410" dirty="0">
                <a:solidFill>
                  <a:srgbClr val="0000FF"/>
                </a:solidFill>
                <a:latin typeface="+mn-lt"/>
                <a:ea typeface="Times New Roman" panose="02020603050405020304" pitchFamily="18" charset="0"/>
              </a:rPr>
              <a:t> </a:t>
            </a:r>
            <a:r>
              <a:rPr lang="en-US" sz="1600" dirty="0">
                <a:solidFill>
                  <a:srgbClr val="0000FF"/>
                </a:solidFill>
                <a:latin typeface="+mn-lt"/>
                <a:ea typeface="Times New Roman" panose="02020603050405020304" pitchFamily="18" charset="0"/>
              </a:rPr>
              <a:t>o</a:t>
            </a:r>
            <a:r>
              <a:rPr lang="en-US" sz="1600" spc="-410" dirty="0">
                <a:solidFill>
                  <a:srgbClr val="0000FF"/>
                </a:solidFill>
                <a:latin typeface="+mn-lt"/>
                <a:ea typeface="Times New Roman" panose="02020603050405020304" pitchFamily="18" charset="0"/>
              </a:rPr>
              <a:t> </a:t>
            </a:r>
            <a:r>
              <a:rPr lang="en-US" sz="1600" dirty="0">
                <a:solidFill>
                  <a:srgbClr val="0000FF"/>
                </a:solidFill>
                <a:latin typeface="+mn-lt"/>
                <a:ea typeface="Times New Roman" panose="02020603050405020304" pitchFamily="18" charset="0"/>
              </a:rPr>
              <a:t>r</a:t>
            </a:r>
            <a:r>
              <a:rPr lang="en-US" sz="1600" spc="-410" dirty="0">
                <a:solidFill>
                  <a:srgbClr val="0000FF"/>
                </a:solidFill>
                <a:latin typeface="+mn-lt"/>
                <a:ea typeface="Times New Roman" panose="02020603050405020304" pitchFamily="18" charset="0"/>
              </a:rPr>
              <a:t> </a:t>
            </a:r>
            <a:r>
              <a:rPr lang="en-US" sz="1600" dirty="0">
                <a:solidFill>
                  <a:srgbClr val="0000FF"/>
                </a:solidFill>
                <a:latin typeface="+mn-lt"/>
                <a:ea typeface="Times New Roman" panose="02020603050405020304" pitchFamily="18" charset="0"/>
              </a:rPr>
              <a:t>m</a:t>
            </a:r>
            <a:r>
              <a:rPr lang="en-US" sz="1600" spc="-410" dirty="0">
                <a:solidFill>
                  <a:srgbClr val="0000FF"/>
                </a:solidFill>
                <a:latin typeface="+mn-lt"/>
                <a:ea typeface="Times New Roman" panose="02020603050405020304" pitchFamily="18" charset="0"/>
              </a:rPr>
              <a:t> </a:t>
            </a:r>
            <a:r>
              <a:rPr lang="en-US" sz="1600" dirty="0">
                <a:solidFill>
                  <a:srgbClr val="0000FF"/>
                </a:solidFill>
                <a:latin typeface="+mn-lt"/>
                <a:ea typeface="Times New Roman" panose="02020603050405020304" pitchFamily="18" charset="0"/>
              </a:rPr>
              <a:t>a</a:t>
            </a:r>
            <a:r>
              <a:rPr lang="en-US" sz="1600" spc="-410" dirty="0">
                <a:solidFill>
                  <a:srgbClr val="0000FF"/>
                </a:solidFill>
                <a:latin typeface="+mn-lt"/>
                <a:ea typeface="Times New Roman" panose="02020603050405020304" pitchFamily="18" charset="0"/>
              </a:rPr>
              <a:t> </a:t>
            </a:r>
            <a:r>
              <a:rPr lang="en-US" sz="1600" dirty="0">
                <a:solidFill>
                  <a:srgbClr val="0000FF"/>
                </a:solidFill>
                <a:latin typeface="+mn-lt"/>
                <a:ea typeface="Times New Roman" panose="02020603050405020304" pitchFamily="18" charset="0"/>
              </a:rPr>
              <a:t>l</a:t>
            </a:r>
            <a:r>
              <a:rPr lang="en-US" sz="1600" spc="-410" dirty="0">
                <a:solidFill>
                  <a:srgbClr val="0000FF"/>
                </a:solidFill>
                <a:latin typeface="+mn-lt"/>
                <a:ea typeface="Times New Roman" panose="02020603050405020304" pitchFamily="18" charset="0"/>
              </a:rPr>
              <a:t> </a:t>
            </a:r>
            <a:r>
              <a:rPr lang="en-US" sz="1600" dirty="0" err="1">
                <a:solidFill>
                  <a:srgbClr val="0000FF"/>
                </a:solidFill>
                <a:latin typeface="+mn-lt"/>
                <a:ea typeface="Times New Roman" panose="02020603050405020304" pitchFamily="18" charset="0"/>
              </a:rPr>
              <a:t>i</a:t>
            </a:r>
            <a:r>
              <a:rPr lang="en-US" sz="1600" spc="-410" dirty="0">
                <a:solidFill>
                  <a:srgbClr val="0000FF"/>
                </a:solidFill>
                <a:latin typeface="+mn-lt"/>
                <a:ea typeface="Times New Roman" panose="02020603050405020304" pitchFamily="18" charset="0"/>
              </a:rPr>
              <a:t> </a:t>
            </a:r>
            <a:r>
              <a:rPr lang="en-US" sz="1600" dirty="0">
                <a:solidFill>
                  <a:srgbClr val="0000FF"/>
                </a:solidFill>
                <a:latin typeface="+mn-lt"/>
                <a:ea typeface="Times New Roman" panose="02020603050405020304" pitchFamily="18" charset="0"/>
              </a:rPr>
              <a:t>t</a:t>
            </a:r>
            <a:r>
              <a:rPr lang="en-US" sz="1600" spc="-410" dirty="0">
                <a:solidFill>
                  <a:srgbClr val="0000FF"/>
                </a:solidFill>
                <a:latin typeface="+mn-lt"/>
                <a:ea typeface="Times New Roman" panose="02020603050405020304" pitchFamily="18" charset="0"/>
              </a:rPr>
              <a:t> </a:t>
            </a:r>
            <a:r>
              <a:rPr lang="en-US" sz="1600" dirty="0">
                <a:solidFill>
                  <a:srgbClr val="0000FF"/>
                </a:solidFill>
                <a:latin typeface="+mn-lt"/>
                <a:ea typeface="Times New Roman" panose="02020603050405020304" pitchFamily="18" charset="0"/>
              </a:rPr>
              <a:t>y</a:t>
            </a:r>
            <a:r>
              <a:rPr lang="en-US" sz="1600" spc="-55" dirty="0">
                <a:solidFill>
                  <a:srgbClr val="0000FF"/>
                </a:solidFill>
                <a:latin typeface="+mn-lt"/>
                <a:ea typeface="Times New Roman" panose="02020603050405020304" pitchFamily="18" charset="0"/>
              </a:rPr>
              <a:t> </a:t>
            </a:r>
            <a:r>
              <a:rPr lang="en-US" sz="1600" spc="45" dirty="0">
                <a:solidFill>
                  <a:srgbClr val="0000FF"/>
                </a:solidFill>
                <a:latin typeface="+mn-lt"/>
                <a:ea typeface="Times New Roman" panose="02020603050405020304" pitchFamily="18" charset="0"/>
              </a:rPr>
              <a:t>test</a:t>
            </a:r>
            <a:endParaRPr lang="ru-RU" sz="2800" dirty="0">
              <a:solidFill>
                <a:srgbClr val="0000FF"/>
              </a:solidFill>
              <a:latin typeface="+mn-lt"/>
              <a:ea typeface="Times New Roman" panose="02020603050405020304" pitchFamily="18" charset="0"/>
            </a:endParaRPr>
          </a:p>
          <a:p>
            <a:pPr marR="13335" eaLnBrk="0" hangingPunct="0">
              <a:spcBef>
                <a:spcPts val="235"/>
              </a:spcBef>
              <a:spcAft>
                <a:spcPts val="0"/>
              </a:spcAft>
            </a:pPr>
            <a:r>
              <a:rPr lang="en-US" sz="1050" dirty="0">
                <a:solidFill>
                  <a:srgbClr val="0000FF"/>
                </a:solidFill>
                <a:latin typeface="+mn-lt"/>
                <a:ea typeface="Times New Roman" panose="02020603050405020304" pitchFamily="18" charset="0"/>
              </a:rPr>
              <a:t>13</a:t>
            </a:r>
            <a:endParaRPr lang="ru-RU" sz="2800" dirty="0">
              <a:solidFill>
                <a:srgbClr val="0000FF"/>
              </a:solidFill>
              <a:latin typeface="+mn-lt"/>
              <a:ea typeface="Times New Roman" panose="02020603050405020304" pitchFamily="18" charset="0"/>
            </a:endParaRPr>
          </a:p>
          <a:p>
            <a:pPr marR="13335" eaLnBrk="0" hangingPunct="0">
              <a:spcBef>
                <a:spcPts val="175"/>
              </a:spcBef>
              <a:spcAft>
                <a:spcPts val="0"/>
              </a:spcAft>
              <a:tabLst>
                <a:tab pos="1158240" algn="l"/>
              </a:tabLst>
            </a:pPr>
            <a:r>
              <a:rPr lang="en-US" sz="1050" dirty="0">
                <a:solidFill>
                  <a:srgbClr val="0000FF"/>
                </a:solidFill>
                <a:latin typeface="+mn-lt"/>
                <a:ea typeface="Times New Roman" panose="02020603050405020304" pitchFamily="18" charset="0"/>
              </a:rPr>
              <a:t>14  </a:t>
            </a:r>
            <a:r>
              <a:rPr lang="en-US" sz="1050" spc="90" dirty="0">
                <a:solidFill>
                  <a:srgbClr val="0000FF"/>
                </a:solidFill>
                <a:latin typeface="+mn-lt"/>
                <a:ea typeface="Times New Roman" panose="02020603050405020304" pitchFamily="18" charset="0"/>
              </a:rPr>
              <a:t> </a:t>
            </a:r>
            <a:r>
              <a:rPr lang="en-US" sz="1600" spc="50" dirty="0">
                <a:solidFill>
                  <a:srgbClr val="0000FF"/>
                </a:solidFill>
                <a:latin typeface="+mn-lt"/>
                <a:ea typeface="Times New Roman" panose="02020603050405020304" pitchFamily="18" charset="0"/>
              </a:rPr>
              <a:t>data</a:t>
            </a:r>
            <a:r>
              <a:rPr lang="en-US" sz="1600" spc="-385" dirty="0">
                <a:solidFill>
                  <a:srgbClr val="0000FF"/>
                </a:solidFill>
                <a:latin typeface="+mn-lt"/>
                <a:ea typeface="Times New Roman" panose="02020603050405020304" pitchFamily="18" charset="0"/>
              </a:rPr>
              <a:t> </a:t>
            </a:r>
            <a:r>
              <a:rPr lang="en-US" sz="1600" dirty="0">
                <a:solidFill>
                  <a:srgbClr val="0000FF"/>
                </a:solidFill>
                <a:latin typeface="+mn-lt"/>
                <a:ea typeface="Times New Roman" panose="02020603050405020304" pitchFamily="18" charset="0"/>
              </a:rPr>
              <a:t>:	r</a:t>
            </a:r>
            <a:r>
              <a:rPr lang="en-US" sz="1600" spc="-435" dirty="0">
                <a:solidFill>
                  <a:srgbClr val="0000FF"/>
                </a:solidFill>
                <a:latin typeface="+mn-lt"/>
                <a:ea typeface="Times New Roman" panose="02020603050405020304" pitchFamily="18" charset="0"/>
              </a:rPr>
              <a:t> </a:t>
            </a:r>
            <a:r>
              <a:rPr lang="en-US" sz="1600" dirty="0">
                <a:solidFill>
                  <a:srgbClr val="0000FF"/>
                </a:solidFill>
                <a:latin typeface="+mn-lt"/>
                <a:ea typeface="Times New Roman" panose="02020603050405020304" pitchFamily="18" charset="0"/>
              </a:rPr>
              <a:t>u</a:t>
            </a:r>
            <a:r>
              <a:rPr lang="en-US" sz="1600" spc="-430" dirty="0">
                <a:solidFill>
                  <a:srgbClr val="0000FF"/>
                </a:solidFill>
                <a:latin typeface="+mn-lt"/>
                <a:ea typeface="Times New Roman" panose="02020603050405020304" pitchFamily="18" charset="0"/>
              </a:rPr>
              <a:t> </a:t>
            </a:r>
            <a:r>
              <a:rPr lang="en-US" sz="1600" dirty="0">
                <a:solidFill>
                  <a:srgbClr val="0000FF"/>
                </a:solidFill>
                <a:latin typeface="+mn-lt"/>
                <a:ea typeface="Times New Roman" panose="02020603050405020304" pitchFamily="18" charset="0"/>
              </a:rPr>
              <a:t>n</a:t>
            </a:r>
            <a:r>
              <a:rPr lang="en-US" sz="1600" spc="-435" dirty="0">
                <a:solidFill>
                  <a:srgbClr val="0000FF"/>
                </a:solidFill>
                <a:latin typeface="+mn-lt"/>
                <a:ea typeface="Times New Roman" panose="02020603050405020304" pitchFamily="18" charset="0"/>
              </a:rPr>
              <a:t> </a:t>
            </a:r>
            <a:r>
              <a:rPr lang="en-US" sz="1600" dirty="0" err="1">
                <a:solidFill>
                  <a:srgbClr val="0000FF"/>
                </a:solidFill>
                <a:latin typeface="+mn-lt"/>
                <a:ea typeface="Times New Roman" panose="02020603050405020304" pitchFamily="18" charset="0"/>
              </a:rPr>
              <a:t>i</a:t>
            </a:r>
            <a:r>
              <a:rPr lang="en-US" sz="1600" spc="-435" dirty="0">
                <a:solidFill>
                  <a:srgbClr val="0000FF"/>
                </a:solidFill>
                <a:latin typeface="+mn-lt"/>
                <a:ea typeface="Times New Roman" panose="02020603050405020304" pitchFamily="18" charset="0"/>
              </a:rPr>
              <a:t> </a:t>
            </a:r>
            <a:r>
              <a:rPr lang="en-US" sz="1600" dirty="0">
                <a:solidFill>
                  <a:srgbClr val="0000FF"/>
                </a:solidFill>
                <a:latin typeface="+mn-lt"/>
                <a:ea typeface="Times New Roman" panose="02020603050405020304" pitchFamily="18" charset="0"/>
              </a:rPr>
              <a:t>f</a:t>
            </a:r>
            <a:r>
              <a:rPr lang="en-US" sz="1600" spc="-395" dirty="0">
                <a:solidFill>
                  <a:srgbClr val="0000FF"/>
                </a:solidFill>
                <a:latin typeface="+mn-lt"/>
                <a:ea typeface="Times New Roman" panose="02020603050405020304" pitchFamily="18" charset="0"/>
              </a:rPr>
              <a:t> </a:t>
            </a:r>
            <a:r>
              <a:rPr lang="en-US" sz="1600" spc="50" dirty="0">
                <a:solidFill>
                  <a:srgbClr val="0000FF"/>
                </a:solidFill>
                <a:latin typeface="+mn-lt"/>
                <a:ea typeface="Times New Roman" panose="02020603050405020304" pitchFamily="18" charset="0"/>
              </a:rPr>
              <a:t>(100</a:t>
            </a:r>
            <a:r>
              <a:rPr lang="en-US" sz="1600" spc="-400" dirty="0">
                <a:solidFill>
                  <a:srgbClr val="0000FF"/>
                </a:solidFill>
                <a:latin typeface="+mn-lt"/>
                <a:ea typeface="Times New Roman" panose="02020603050405020304" pitchFamily="18" charset="0"/>
              </a:rPr>
              <a:t> </a:t>
            </a:r>
            <a:r>
              <a:rPr lang="en-US" sz="1600" dirty="0">
                <a:solidFill>
                  <a:srgbClr val="0000FF"/>
                </a:solidFill>
                <a:latin typeface="+mn-lt"/>
                <a:ea typeface="Times New Roman" panose="02020603050405020304" pitchFamily="18" charset="0"/>
              </a:rPr>
              <a:t>,</a:t>
            </a:r>
            <a:r>
              <a:rPr lang="en-US" sz="1600" spc="-70" dirty="0">
                <a:solidFill>
                  <a:srgbClr val="0000FF"/>
                </a:solidFill>
                <a:latin typeface="+mn-lt"/>
                <a:ea typeface="Times New Roman" panose="02020603050405020304" pitchFamily="18" charset="0"/>
              </a:rPr>
              <a:t> </a:t>
            </a:r>
            <a:r>
              <a:rPr lang="en-US" sz="1600" spc="45" dirty="0">
                <a:solidFill>
                  <a:srgbClr val="0000FF"/>
                </a:solidFill>
                <a:latin typeface="+mn-lt"/>
                <a:ea typeface="Times New Roman" panose="02020603050405020304" pitchFamily="18" charset="0"/>
              </a:rPr>
              <a:t>min</a:t>
            </a:r>
            <a:r>
              <a:rPr lang="en-US" sz="1600" spc="-80" dirty="0">
                <a:solidFill>
                  <a:srgbClr val="0000FF"/>
                </a:solidFill>
                <a:latin typeface="+mn-lt"/>
                <a:ea typeface="Times New Roman" panose="02020603050405020304" pitchFamily="18" charset="0"/>
              </a:rPr>
              <a:t> </a:t>
            </a:r>
            <a:r>
              <a:rPr lang="en-US" sz="1600" dirty="0">
                <a:solidFill>
                  <a:srgbClr val="0000FF"/>
                </a:solidFill>
                <a:latin typeface="+mn-lt"/>
                <a:ea typeface="Times New Roman" panose="02020603050405020304" pitchFamily="18" charset="0"/>
              </a:rPr>
              <a:t>=</a:t>
            </a:r>
            <a:r>
              <a:rPr lang="en-US" sz="1600" spc="-60" dirty="0">
                <a:solidFill>
                  <a:srgbClr val="0000FF"/>
                </a:solidFill>
                <a:latin typeface="+mn-lt"/>
                <a:ea typeface="Times New Roman" panose="02020603050405020304" pitchFamily="18" charset="0"/>
              </a:rPr>
              <a:t> </a:t>
            </a:r>
            <a:r>
              <a:rPr lang="en-US" sz="1600" spc="30" dirty="0">
                <a:solidFill>
                  <a:srgbClr val="0000FF"/>
                </a:solidFill>
                <a:latin typeface="+mn-lt"/>
                <a:ea typeface="Times New Roman" panose="02020603050405020304" pitchFamily="18" charset="0"/>
              </a:rPr>
              <a:t>-10</a:t>
            </a:r>
            <a:r>
              <a:rPr lang="en-US" sz="1600" spc="-420" dirty="0">
                <a:solidFill>
                  <a:srgbClr val="0000FF"/>
                </a:solidFill>
                <a:latin typeface="+mn-lt"/>
                <a:ea typeface="Times New Roman" panose="02020603050405020304" pitchFamily="18" charset="0"/>
              </a:rPr>
              <a:t> </a:t>
            </a:r>
            <a:r>
              <a:rPr lang="en-US" sz="1600" dirty="0">
                <a:solidFill>
                  <a:srgbClr val="0000FF"/>
                </a:solidFill>
                <a:latin typeface="+mn-lt"/>
                <a:ea typeface="Times New Roman" panose="02020603050405020304" pitchFamily="18" charset="0"/>
              </a:rPr>
              <a:t>,</a:t>
            </a:r>
            <a:r>
              <a:rPr lang="en-US" sz="1600" spc="-75" dirty="0">
                <a:solidFill>
                  <a:srgbClr val="0000FF"/>
                </a:solidFill>
                <a:latin typeface="+mn-lt"/>
                <a:ea typeface="Times New Roman" panose="02020603050405020304" pitchFamily="18" charset="0"/>
              </a:rPr>
              <a:t> </a:t>
            </a:r>
            <a:r>
              <a:rPr lang="en-US" sz="1600" spc="45" dirty="0">
                <a:solidFill>
                  <a:srgbClr val="0000FF"/>
                </a:solidFill>
                <a:latin typeface="+mn-lt"/>
                <a:ea typeface="Times New Roman" panose="02020603050405020304" pitchFamily="18" charset="0"/>
              </a:rPr>
              <a:t>max</a:t>
            </a:r>
            <a:r>
              <a:rPr lang="en-US" sz="1600" spc="-85" dirty="0">
                <a:solidFill>
                  <a:srgbClr val="0000FF"/>
                </a:solidFill>
                <a:latin typeface="+mn-lt"/>
                <a:ea typeface="Times New Roman" panose="02020603050405020304" pitchFamily="18" charset="0"/>
              </a:rPr>
              <a:t> </a:t>
            </a:r>
            <a:r>
              <a:rPr lang="en-US" sz="1600" dirty="0">
                <a:solidFill>
                  <a:srgbClr val="0000FF"/>
                </a:solidFill>
                <a:latin typeface="+mn-lt"/>
                <a:ea typeface="Times New Roman" panose="02020603050405020304" pitchFamily="18" charset="0"/>
              </a:rPr>
              <a:t>=</a:t>
            </a:r>
            <a:r>
              <a:rPr lang="en-US" sz="1600" spc="-80" dirty="0">
                <a:solidFill>
                  <a:srgbClr val="0000FF"/>
                </a:solidFill>
                <a:latin typeface="+mn-lt"/>
                <a:ea typeface="Times New Roman" panose="02020603050405020304" pitchFamily="18" charset="0"/>
              </a:rPr>
              <a:t> </a:t>
            </a:r>
            <a:r>
              <a:rPr lang="en-US" sz="1600" spc="45" dirty="0">
                <a:solidFill>
                  <a:srgbClr val="0000FF"/>
                </a:solidFill>
                <a:latin typeface="+mn-lt"/>
                <a:ea typeface="Times New Roman" panose="02020603050405020304" pitchFamily="18" charset="0"/>
              </a:rPr>
              <a:t>10)</a:t>
            </a:r>
            <a:endParaRPr lang="ru-RU" sz="2800" dirty="0">
              <a:solidFill>
                <a:srgbClr val="0000FF"/>
              </a:solidFill>
              <a:latin typeface="+mn-lt"/>
              <a:ea typeface="Times New Roman" panose="02020603050405020304" pitchFamily="18" charset="0"/>
            </a:endParaRPr>
          </a:p>
          <a:p>
            <a:pPr marR="13335" eaLnBrk="0" hangingPunct="0">
              <a:spcBef>
                <a:spcPts val="40"/>
              </a:spcBef>
              <a:spcAft>
                <a:spcPts val="0"/>
              </a:spcAft>
            </a:pPr>
            <a:r>
              <a:rPr lang="ru-RU" sz="1050" dirty="0">
                <a:solidFill>
                  <a:srgbClr val="0000FF"/>
                </a:solidFill>
                <a:latin typeface="+mn-lt"/>
                <a:ea typeface="Times New Roman" panose="02020603050405020304" pitchFamily="18" charset="0"/>
              </a:rPr>
              <a:t>15  </a:t>
            </a:r>
            <a:r>
              <a:rPr lang="ru-RU" sz="1050" spc="65" dirty="0">
                <a:solidFill>
                  <a:srgbClr val="0000FF"/>
                </a:solidFill>
                <a:latin typeface="+mn-lt"/>
                <a:ea typeface="Times New Roman" panose="02020603050405020304" pitchFamily="18" charset="0"/>
              </a:rPr>
              <a:t> </a:t>
            </a:r>
            <a:r>
              <a:rPr lang="ru-RU" sz="1600" dirty="0">
                <a:solidFill>
                  <a:srgbClr val="0000FF"/>
                </a:solidFill>
                <a:latin typeface="+mn-lt"/>
                <a:ea typeface="Times New Roman" panose="02020603050405020304" pitchFamily="18" charset="0"/>
              </a:rPr>
              <a:t>W</a:t>
            </a:r>
            <a:r>
              <a:rPr lang="ru-RU" sz="1600" spc="45" dirty="0">
                <a:solidFill>
                  <a:srgbClr val="0000FF"/>
                </a:solidFill>
                <a:latin typeface="+mn-lt"/>
                <a:ea typeface="Times New Roman" panose="02020603050405020304" pitchFamily="18" charset="0"/>
              </a:rPr>
              <a:t> </a:t>
            </a:r>
            <a:r>
              <a:rPr lang="ru-RU" sz="1600" dirty="0">
                <a:solidFill>
                  <a:srgbClr val="0000FF"/>
                </a:solidFill>
                <a:latin typeface="+mn-lt"/>
                <a:ea typeface="Times New Roman" panose="02020603050405020304" pitchFamily="18" charset="0"/>
              </a:rPr>
              <a:t>=</a:t>
            </a:r>
            <a:r>
              <a:rPr lang="ru-RU" sz="1600" spc="70" dirty="0">
                <a:solidFill>
                  <a:srgbClr val="0000FF"/>
                </a:solidFill>
                <a:latin typeface="+mn-lt"/>
                <a:ea typeface="Times New Roman" panose="02020603050405020304" pitchFamily="18" charset="0"/>
              </a:rPr>
              <a:t> </a:t>
            </a:r>
            <a:r>
              <a:rPr lang="ru-RU" sz="1600" spc="50" dirty="0">
                <a:solidFill>
                  <a:srgbClr val="0000FF"/>
                </a:solidFill>
                <a:latin typeface="+mn-lt"/>
                <a:ea typeface="Times New Roman" panose="02020603050405020304" pitchFamily="18" charset="0"/>
              </a:rPr>
              <a:t>0.9561</a:t>
            </a:r>
            <a:r>
              <a:rPr lang="ru-RU" sz="1600" spc="-345" dirty="0">
                <a:solidFill>
                  <a:srgbClr val="0000FF"/>
                </a:solidFill>
                <a:latin typeface="+mn-lt"/>
                <a:ea typeface="Times New Roman" panose="02020603050405020304" pitchFamily="18" charset="0"/>
              </a:rPr>
              <a:t> </a:t>
            </a:r>
            <a:r>
              <a:rPr lang="ru-RU" sz="1600" dirty="0">
                <a:solidFill>
                  <a:srgbClr val="0000FF"/>
                </a:solidFill>
                <a:latin typeface="+mn-lt"/>
                <a:ea typeface="Times New Roman" panose="02020603050405020304" pitchFamily="18" charset="0"/>
              </a:rPr>
              <a:t>,</a:t>
            </a:r>
            <a:r>
              <a:rPr lang="ru-RU" sz="1600" spc="55" dirty="0">
                <a:solidFill>
                  <a:srgbClr val="0000FF"/>
                </a:solidFill>
                <a:latin typeface="+mn-lt"/>
                <a:ea typeface="Times New Roman" panose="02020603050405020304" pitchFamily="18" charset="0"/>
              </a:rPr>
              <a:t> </a:t>
            </a:r>
            <a:r>
              <a:rPr lang="ru-RU" sz="1600" dirty="0">
                <a:solidFill>
                  <a:srgbClr val="0000FF"/>
                </a:solidFill>
                <a:latin typeface="+mn-lt"/>
                <a:ea typeface="Times New Roman" panose="02020603050405020304" pitchFamily="18" charset="0"/>
              </a:rPr>
              <a:t>p</a:t>
            </a:r>
            <a:r>
              <a:rPr lang="ru-RU" sz="1600" spc="-375" dirty="0">
                <a:solidFill>
                  <a:srgbClr val="0000FF"/>
                </a:solidFill>
                <a:latin typeface="+mn-lt"/>
                <a:ea typeface="Times New Roman" panose="02020603050405020304" pitchFamily="18" charset="0"/>
              </a:rPr>
              <a:t> </a:t>
            </a:r>
            <a:r>
              <a:rPr lang="ru-RU" sz="1600" dirty="0">
                <a:solidFill>
                  <a:srgbClr val="0000FF"/>
                </a:solidFill>
                <a:latin typeface="+mn-lt"/>
                <a:ea typeface="Times New Roman" panose="02020603050405020304" pitchFamily="18" charset="0"/>
              </a:rPr>
              <a:t>-</a:t>
            </a:r>
            <a:r>
              <a:rPr lang="ru-RU" sz="1600" spc="-365" dirty="0">
                <a:solidFill>
                  <a:srgbClr val="0000FF"/>
                </a:solidFill>
                <a:latin typeface="+mn-lt"/>
                <a:ea typeface="Times New Roman" panose="02020603050405020304" pitchFamily="18" charset="0"/>
              </a:rPr>
              <a:t> </a:t>
            </a:r>
            <a:r>
              <a:rPr lang="ru-RU" sz="1600" dirty="0">
                <a:solidFill>
                  <a:srgbClr val="0000FF"/>
                </a:solidFill>
                <a:latin typeface="+mn-lt"/>
                <a:ea typeface="Times New Roman" panose="02020603050405020304" pitchFamily="18" charset="0"/>
              </a:rPr>
              <a:t>v</a:t>
            </a:r>
            <a:r>
              <a:rPr lang="ru-RU" sz="1600" spc="-395" dirty="0">
                <a:solidFill>
                  <a:srgbClr val="0000FF"/>
                </a:solidFill>
                <a:latin typeface="+mn-lt"/>
                <a:ea typeface="Times New Roman" panose="02020603050405020304" pitchFamily="18" charset="0"/>
              </a:rPr>
              <a:t> </a:t>
            </a:r>
            <a:r>
              <a:rPr lang="ru-RU" sz="1600" dirty="0">
                <a:solidFill>
                  <a:srgbClr val="0000FF"/>
                </a:solidFill>
                <a:latin typeface="+mn-lt"/>
                <a:ea typeface="Times New Roman" panose="02020603050405020304" pitchFamily="18" charset="0"/>
              </a:rPr>
              <a:t>a</a:t>
            </a:r>
            <a:r>
              <a:rPr lang="ru-RU" sz="1600" spc="-395" dirty="0">
                <a:solidFill>
                  <a:srgbClr val="0000FF"/>
                </a:solidFill>
                <a:latin typeface="+mn-lt"/>
                <a:ea typeface="Times New Roman" panose="02020603050405020304" pitchFamily="18" charset="0"/>
              </a:rPr>
              <a:t> </a:t>
            </a:r>
            <a:r>
              <a:rPr lang="ru-RU" sz="1600" dirty="0">
                <a:solidFill>
                  <a:srgbClr val="0000FF"/>
                </a:solidFill>
                <a:latin typeface="+mn-lt"/>
                <a:ea typeface="Times New Roman" panose="02020603050405020304" pitchFamily="18" charset="0"/>
              </a:rPr>
              <a:t>l</a:t>
            </a:r>
            <a:r>
              <a:rPr lang="ru-RU" sz="1600" spc="-395" dirty="0">
                <a:solidFill>
                  <a:srgbClr val="0000FF"/>
                </a:solidFill>
                <a:latin typeface="+mn-lt"/>
                <a:ea typeface="Times New Roman" panose="02020603050405020304" pitchFamily="18" charset="0"/>
              </a:rPr>
              <a:t> </a:t>
            </a:r>
            <a:r>
              <a:rPr lang="ru-RU" sz="1600" dirty="0">
                <a:solidFill>
                  <a:srgbClr val="0000FF"/>
                </a:solidFill>
                <a:latin typeface="+mn-lt"/>
                <a:ea typeface="Times New Roman" panose="02020603050405020304" pitchFamily="18" charset="0"/>
              </a:rPr>
              <a:t>u</a:t>
            </a:r>
            <a:r>
              <a:rPr lang="ru-RU" sz="1600" spc="-400" dirty="0">
                <a:solidFill>
                  <a:srgbClr val="0000FF"/>
                </a:solidFill>
                <a:latin typeface="+mn-lt"/>
                <a:ea typeface="Times New Roman" panose="02020603050405020304" pitchFamily="18" charset="0"/>
              </a:rPr>
              <a:t> </a:t>
            </a:r>
            <a:r>
              <a:rPr lang="ru-RU" sz="1600" dirty="0">
                <a:solidFill>
                  <a:srgbClr val="0000FF"/>
                </a:solidFill>
                <a:latin typeface="+mn-lt"/>
                <a:ea typeface="Times New Roman" panose="02020603050405020304" pitchFamily="18" charset="0"/>
              </a:rPr>
              <a:t>e</a:t>
            </a:r>
            <a:r>
              <a:rPr lang="ru-RU" sz="1600" spc="75" dirty="0">
                <a:solidFill>
                  <a:srgbClr val="0000FF"/>
                </a:solidFill>
                <a:latin typeface="+mn-lt"/>
                <a:ea typeface="Times New Roman" panose="02020603050405020304" pitchFamily="18" charset="0"/>
              </a:rPr>
              <a:t> </a:t>
            </a:r>
            <a:r>
              <a:rPr lang="ru-RU" sz="1600" dirty="0">
                <a:solidFill>
                  <a:srgbClr val="0000FF"/>
                </a:solidFill>
                <a:latin typeface="+mn-lt"/>
                <a:ea typeface="Times New Roman" panose="02020603050405020304" pitchFamily="18" charset="0"/>
              </a:rPr>
              <a:t>=</a:t>
            </a:r>
            <a:r>
              <a:rPr lang="ru-RU" sz="1600" spc="75" dirty="0">
                <a:solidFill>
                  <a:srgbClr val="0000FF"/>
                </a:solidFill>
                <a:latin typeface="+mn-lt"/>
                <a:ea typeface="Times New Roman" panose="02020603050405020304" pitchFamily="18" charset="0"/>
              </a:rPr>
              <a:t> </a:t>
            </a:r>
            <a:r>
              <a:rPr lang="ru-RU" sz="1600" dirty="0">
                <a:solidFill>
                  <a:srgbClr val="0000FF"/>
                </a:solidFill>
                <a:latin typeface="+mn-lt"/>
                <a:ea typeface="Times New Roman" panose="02020603050405020304" pitchFamily="18" charset="0"/>
              </a:rPr>
              <a:t>0</a:t>
            </a:r>
            <a:r>
              <a:rPr lang="ru-RU" sz="1600" spc="-390" dirty="0">
                <a:solidFill>
                  <a:srgbClr val="0000FF"/>
                </a:solidFill>
                <a:latin typeface="+mn-lt"/>
                <a:ea typeface="Times New Roman" panose="02020603050405020304" pitchFamily="18" charset="0"/>
              </a:rPr>
              <a:t> </a:t>
            </a:r>
            <a:r>
              <a:rPr lang="ru-RU" sz="1600" dirty="0">
                <a:solidFill>
                  <a:srgbClr val="0000FF"/>
                </a:solidFill>
                <a:latin typeface="+mn-lt"/>
                <a:ea typeface="Times New Roman" panose="02020603050405020304" pitchFamily="18" charset="0"/>
              </a:rPr>
              <a:t>.</a:t>
            </a:r>
            <a:r>
              <a:rPr lang="ru-RU" sz="1600" spc="-390" dirty="0">
                <a:solidFill>
                  <a:srgbClr val="0000FF"/>
                </a:solidFill>
                <a:latin typeface="+mn-lt"/>
                <a:ea typeface="Times New Roman" panose="02020603050405020304" pitchFamily="18" charset="0"/>
              </a:rPr>
              <a:t> </a:t>
            </a:r>
            <a:r>
              <a:rPr lang="ru-RU" sz="1600" dirty="0">
                <a:solidFill>
                  <a:srgbClr val="0000FF"/>
                </a:solidFill>
                <a:latin typeface="+mn-lt"/>
                <a:ea typeface="Times New Roman" panose="02020603050405020304" pitchFamily="18" charset="0"/>
              </a:rPr>
              <a:t>0</a:t>
            </a:r>
            <a:r>
              <a:rPr lang="ru-RU" sz="1600" spc="-395" dirty="0">
                <a:solidFill>
                  <a:srgbClr val="0000FF"/>
                </a:solidFill>
                <a:latin typeface="+mn-lt"/>
                <a:ea typeface="Times New Roman" panose="02020603050405020304" pitchFamily="18" charset="0"/>
              </a:rPr>
              <a:t> </a:t>
            </a:r>
            <a:r>
              <a:rPr lang="ru-RU" sz="1600" dirty="0">
                <a:solidFill>
                  <a:srgbClr val="0000FF"/>
                </a:solidFill>
                <a:latin typeface="+mn-lt"/>
                <a:ea typeface="Times New Roman" panose="02020603050405020304" pitchFamily="18" charset="0"/>
              </a:rPr>
              <a:t>0</a:t>
            </a:r>
            <a:r>
              <a:rPr lang="ru-RU" sz="1600" spc="-390" dirty="0">
                <a:solidFill>
                  <a:srgbClr val="0000FF"/>
                </a:solidFill>
                <a:latin typeface="+mn-lt"/>
                <a:ea typeface="Times New Roman" panose="02020603050405020304" pitchFamily="18" charset="0"/>
              </a:rPr>
              <a:t> </a:t>
            </a:r>
            <a:r>
              <a:rPr lang="ru-RU" sz="1600" dirty="0">
                <a:solidFill>
                  <a:srgbClr val="0000FF"/>
                </a:solidFill>
                <a:latin typeface="+mn-lt"/>
                <a:ea typeface="Times New Roman" panose="02020603050405020304" pitchFamily="18" charset="0"/>
              </a:rPr>
              <a:t>2</a:t>
            </a:r>
            <a:r>
              <a:rPr lang="ru-RU" sz="1600" spc="-395" dirty="0">
                <a:solidFill>
                  <a:srgbClr val="0000FF"/>
                </a:solidFill>
                <a:latin typeface="+mn-lt"/>
                <a:ea typeface="Times New Roman" panose="02020603050405020304" pitchFamily="18" charset="0"/>
              </a:rPr>
              <a:t> </a:t>
            </a:r>
            <a:r>
              <a:rPr lang="ru-RU" sz="1600" dirty="0">
                <a:solidFill>
                  <a:srgbClr val="0000FF"/>
                </a:solidFill>
                <a:latin typeface="+mn-lt"/>
                <a:ea typeface="Times New Roman" panose="02020603050405020304" pitchFamily="18" charset="0"/>
              </a:rPr>
              <a:t>1</a:t>
            </a:r>
            <a:r>
              <a:rPr lang="ru-RU" sz="1600" spc="-390" dirty="0">
                <a:solidFill>
                  <a:srgbClr val="0000FF"/>
                </a:solidFill>
                <a:latin typeface="+mn-lt"/>
                <a:ea typeface="Times New Roman" panose="02020603050405020304" pitchFamily="18" charset="0"/>
              </a:rPr>
              <a:t> </a:t>
            </a:r>
            <a:r>
              <a:rPr lang="ru-RU" sz="1600" dirty="0">
                <a:solidFill>
                  <a:srgbClr val="0000FF"/>
                </a:solidFill>
                <a:latin typeface="+mn-lt"/>
                <a:ea typeface="Times New Roman" panose="02020603050405020304" pitchFamily="18" charset="0"/>
              </a:rPr>
              <a:t>2</a:t>
            </a:r>
            <a:r>
              <a:rPr lang="ru-RU" sz="1600" spc="-390" dirty="0">
                <a:solidFill>
                  <a:srgbClr val="0000FF"/>
                </a:solidFill>
                <a:latin typeface="+mn-lt"/>
                <a:ea typeface="Times New Roman" panose="02020603050405020304" pitchFamily="18" charset="0"/>
              </a:rPr>
              <a:t> </a:t>
            </a:r>
            <a:r>
              <a:rPr lang="ru-RU" sz="1600" dirty="0">
                <a:solidFill>
                  <a:srgbClr val="0000FF"/>
                </a:solidFill>
                <a:latin typeface="+mn-lt"/>
                <a:ea typeface="Times New Roman" panose="02020603050405020304" pitchFamily="18" charset="0"/>
              </a:rPr>
              <a:t>6</a:t>
            </a:r>
            <a:endParaRPr lang="ru-RU" sz="2800" dirty="0">
              <a:solidFill>
                <a:srgbClr val="0000FF"/>
              </a:solidFill>
              <a:latin typeface="+mn-lt"/>
              <a:ea typeface="Times New Roman" panose="02020603050405020304" pitchFamily="18" charset="0"/>
            </a:endParaRPr>
          </a:p>
          <a:p>
            <a:pPr marL="834390" marR="13335" indent="-127000" algn="just" eaLnBrk="0" hangingPunct="0">
              <a:lnSpc>
                <a:spcPts val="1200"/>
              </a:lnSpc>
              <a:spcBef>
                <a:spcPts val="295"/>
              </a:spcBef>
              <a:spcAft>
                <a:spcPts val="0"/>
              </a:spcAft>
            </a:pPr>
            <a:r>
              <a:rPr lang="ru-RU" dirty="0">
                <a:latin typeface="Times New Roman" panose="02020603050405020304" pitchFamily="18" charset="0"/>
                <a:ea typeface="Times New Roman" panose="02020603050405020304" pitchFamily="18" charset="0"/>
              </a:rPr>
              <a:t> </a:t>
            </a:r>
            <a:endParaRPr lang="ru-RU" sz="1200" dirty="0">
              <a:ea typeface="Times New Roman" panose="02020603050405020304" pitchFamily="18" charset="0"/>
            </a:endParaRPr>
          </a:p>
        </p:txBody>
      </p:sp>
      <p:sp>
        <p:nvSpPr>
          <p:cNvPr id="3" name="Прямоугольник 2"/>
          <p:cNvSpPr/>
          <p:nvPr/>
        </p:nvSpPr>
        <p:spPr bwMode="auto">
          <a:xfrm>
            <a:off x="3423912" y="3501785"/>
            <a:ext cx="1944216" cy="216024"/>
          </a:xfrm>
          <a:prstGeom prst="rect">
            <a:avLst/>
          </a:prstGeom>
          <a:noFill/>
          <a:ln w="9525" cap="flat" cmpd="sng" algn="ctr">
            <a:solidFill>
              <a:srgbClr val="FF505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defTabSz="993775"/>
            <a:endParaRPr lang="ru-RU"/>
          </a:p>
        </p:txBody>
      </p:sp>
      <p:sp>
        <p:nvSpPr>
          <p:cNvPr id="8" name="Прямоугольник 7"/>
          <p:cNvSpPr/>
          <p:nvPr/>
        </p:nvSpPr>
        <p:spPr bwMode="auto">
          <a:xfrm>
            <a:off x="3423912" y="5331223"/>
            <a:ext cx="1944216" cy="216024"/>
          </a:xfrm>
          <a:prstGeom prst="rect">
            <a:avLst/>
          </a:prstGeom>
          <a:noFill/>
          <a:ln w="9525" cap="flat" cmpd="sng" algn="ctr">
            <a:solidFill>
              <a:srgbClr val="FF505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defTabSz="993775"/>
            <a:endParaRPr lang="ru-RU"/>
          </a:p>
        </p:txBody>
      </p:sp>
      <p:cxnSp>
        <p:nvCxnSpPr>
          <p:cNvPr id="10" name="Прямая соединительная линия 9"/>
          <p:cNvCxnSpPr/>
          <p:nvPr/>
        </p:nvCxnSpPr>
        <p:spPr bwMode="auto">
          <a:xfrm>
            <a:off x="2070771" y="3897032"/>
            <a:ext cx="8262738" cy="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11" name="Рисунок 10"/>
          <p:cNvPicPr>
            <a:picLocks noChangeAspect="1"/>
          </p:cNvPicPr>
          <p:nvPr/>
        </p:nvPicPr>
        <p:blipFill>
          <a:blip r:embed="rId3"/>
          <a:stretch>
            <a:fillRect/>
          </a:stretch>
        </p:blipFill>
        <p:spPr>
          <a:xfrm>
            <a:off x="7653557" y="2239202"/>
            <a:ext cx="2612409" cy="1859282"/>
          </a:xfrm>
          <a:prstGeom prst="rect">
            <a:avLst/>
          </a:prstGeom>
        </p:spPr>
      </p:pic>
      <p:pic>
        <p:nvPicPr>
          <p:cNvPr id="12" name="Рисунок 11"/>
          <p:cNvPicPr>
            <a:picLocks noChangeAspect="1"/>
          </p:cNvPicPr>
          <p:nvPr/>
        </p:nvPicPr>
        <p:blipFill>
          <a:blip r:embed="rId4"/>
          <a:stretch>
            <a:fillRect/>
          </a:stretch>
        </p:blipFill>
        <p:spPr>
          <a:xfrm>
            <a:off x="7593801" y="4439783"/>
            <a:ext cx="2672165" cy="1823010"/>
          </a:xfrm>
          <a:prstGeom prst="rect">
            <a:avLst/>
          </a:prstGeom>
        </p:spPr>
      </p:pic>
      <p:sp>
        <p:nvSpPr>
          <p:cNvPr id="9" name="Номер слайда 8"/>
          <p:cNvSpPr>
            <a:spLocks noGrp="1"/>
          </p:cNvSpPr>
          <p:nvPr>
            <p:ph type="sldNum" sz="quarter" idx="12"/>
          </p:nvPr>
        </p:nvSpPr>
        <p:spPr>
          <a:xfrm>
            <a:off x="11286324" y="6531188"/>
            <a:ext cx="880449" cy="379409"/>
          </a:xfrm>
        </p:spPr>
        <p:txBody>
          <a:bodyPr/>
          <a:lstStyle/>
          <a:p>
            <a:fld id="{952B6C0E-C4B9-4094-8E59-5B7DF00D5415}" type="slidenum">
              <a:rPr lang="ru-RU" smtClean="0">
                <a:solidFill>
                  <a:schemeClr val="tx1"/>
                </a:solidFill>
              </a:rPr>
              <a:t>75</a:t>
            </a:fld>
            <a:endParaRPr lang="ru-RU">
              <a:solidFill>
                <a:schemeClr val="tx1"/>
              </a:solidFill>
            </a:endParaRPr>
          </a:p>
        </p:txBody>
      </p:sp>
    </p:spTree>
    <p:extLst>
      <p:ext uri="{BB962C8B-B14F-4D97-AF65-F5344CB8AC3E}">
        <p14:creationId xmlns:p14="http://schemas.microsoft.com/office/powerpoint/2010/main" val="41491484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4"/>
          <p:cNvSpPr>
            <a:spLocks noChangeArrowheads="1"/>
          </p:cNvSpPr>
          <p:nvPr/>
        </p:nvSpPr>
        <p:spPr bwMode="auto">
          <a:xfrm>
            <a:off x="1438275" y="322263"/>
            <a:ext cx="10948119" cy="6553200"/>
          </a:xfrm>
          <a:prstGeom prst="roundRect">
            <a:avLst>
              <a:gd name="adj" fmla="val 16667"/>
            </a:avLst>
          </a:prstGeom>
          <a:solidFill>
            <a:schemeClr val="bg1">
              <a:alpha val="50195"/>
            </a:scheme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5" name="AutoShape 5"/>
          <p:cNvSpPr>
            <a:spLocks noChangeArrowheads="1"/>
          </p:cNvSpPr>
          <p:nvPr/>
        </p:nvSpPr>
        <p:spPr bwMode="auto">
          <a:xfrm>
            <a:off x="2373685" y="322264"/>
            <a:ext cx="8064128" cy="720601"/>
          </a:xfrm>
          <a:prstGeom prst="roundRect">
            <a:avLst>
              <a:gd name="adj" fmla="val 37469"/>
            </a:avLst>
          </a:prstGeom>
          <a:solidFill>
            <a:srgbClr val="FFFFFF">
              <a:alpha val="78822"/>
            </a:srgb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2" name="Заголовок 1"/>
          <p:cNvSpPr txBox="1">
            <a:spLocks noGrp="1"/>
          </p:cNvSpPr>
          <p:nvPr>
            <p:ph type="title" idx="4294967295"/>
          </p:nvPr>
        </p:nvSpPr>
        <p:spPr>
          <a:xfrm>
            <a:off x="1195389" y="288925"/>
            <a:ext cx="8550275" cy="1525588"/>
          </a:xfrm>
          <a:prstGeom prst="rect">
            <a:avLst/>
          </a:prstGeom>
        </p:spPr>
        <p:txBody>
          <a:bodyPr/>
          <a:lstStyle/>
          <a:p>
            <a:r>
              <a:rPr lang="ru-RU" dirty="0"/>
              <a:t>Проверка на нормальность</a:t>
            </a:r>
          </a:p>
        </p:txBody>
      </p:sp>
      <p:sp>
        <p:nvSpPr>
          <p:cNvPr id="3" name="Rectangle 1"/>
          <p:cNvSpPr>
            <a:spLocks noChangeArrowheads="1"/>
          </p:cNvSpPr>
          <p:nvPr/>
        </p:nvSpPr>
        <p:spPr bwMode="auto">
          <a:xfrm>
            <a:off x="2733726" y="1547137"/>
            <a:ext cx="2873859" cy="600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0" numCol="1" anchor="ctr" anchorCtr="0" compatLnSpc="1">
            <a:prstTxWarp prst="textNoShape">
              <a:avLst/>
            </a:prstTxWarp>
            <a:spAutoFit/>
          </a:bodyPr>
          <a:lstStyle/>
          <a:p>
            <a:pPr eaLnBrk="0" hangingPunct="0"/>
            <a:r>
              <a:rPr lang="ru-RU" altLang="ru-RU" sz="1800" dirty="0" err="1">
                <a:solidFill>
                  <a:srgbClr val="0000FF"/>
                </a:solidFill>
                <a:latin typeface="Lucida Console" panose="020B0609040504020204" pitchFamily="49" charset="0"/>
              </a:rPr>
              <a:t>numb</a:t>
            </a:r>
            <a:r>
              <a:rPr lang="ru-RU" altLang="ru-RU" sz="1800" dirty="0">
                <a:solidFill>
                  <a:srgbClr val="0000FF"/>
                </a:solidFill>
                <a:latin typeface="Lucida Console" panose="020B0609040504020204" pitchFamily="49" charset="0"/>
              </a:rPr>
              <a:t>=</a:t>
            </a:r>
            <a:r>
              <a:rPr lang="ru-RU" altLang="ru-RU" sz="1800" dirty="0" err="1">
                <a:solidFill>
                  <a:srgbClr val="0000FF"/>
                </a:solidFill>
                <a:latin typeface="Lucida Console" panose="020B0609040504020204" pitchFamily="49" charset="0"/>
              </a:rPr>
              <a:t>rnorm</a:t>
            </a:r>
            <a:r>
              <a:rPr lang="ru-RU" altLang="ru-RU" sz="1800" dirty="0">
                <a:solidFill>
                  <a:srgbClr val="0000FF"/>
                </a:solidFill>
                <a:latin typeface="Lucida Console" panose="020B0609040504020204" pitchFamily="49" charset="0"/>
              </a:rPr>
              <a:t>(100); </a:t>
            </a:r>
          </a:p>
          <a:p>
            <a:pPr eaLnBrk="0" hangingPunct="0"/>
            <a:r>
              <a:rPr lang="en-US" altLang="ru-RU" sz="1800" dirty="0" err="1">
                <a:solidFill>
                  <a:srgbClr val="0000FF"/>
                </a:solidFill>
                <a:latin typeface="Lucida Console" panose="020B0609040504020204" pitchFamily="49" charset="0"/>
                <a:ea typeface="Times New Roman" panose="02020603050405020304" pitchFamily="18" charset="0"/>
                <a:cs typeface="Courier New" panose="02070309020205020404" pitchFamily="49" charset="0"/>
              </a:rPr>
              <a:t>hist</a:t>
            </a:r>
            <a:r>
              <a:rPr lang="ru-RU" altLang="ru-RU" sz="1800" dirty="0">
                <a:solidFill>
                  <a:srgbClr val="0000FF"/>
                </a:solidFill>
                <a:latin typeface="Lucida Console" panose="020B0609040504020204" pitchFamily="49" charset="0"/>
                <a:ea typeface="Times New Roman" panose="02020603050405020304" pitchFamily="18" charset="0"/>
                <a:cs typeface="Courier New" panose="02070309020205020404" pitchFamily="49" charset="0"/>
              </a:rPr>
              <a:t>(</a:t>
            </a:r>
            <a:r>
              <a:rPr lang="ru-RU" altLang="ru-RU" sz="1800" dirty="0" err="1">
                <a:solidFill>
                  <a:srgbClr val="0000FF"/>
                </a:solidFill>
                <a:latin typeface="Lucida Console" panose="020B0609040504020204" pitchFamily="49" charset="0"/>
                <a:ea typeface="Times New Roman" panose="02020603050405020304" pitchFamily="18" charset="0"/>
                <a:cs typeface="Courier New" panose="02070309020205020404" pitchFamily="49" charset="0"/>
              </a:rPr>
              <a:t>numb</a:t>
            </a:r>
            <a:r>
              <a:rPr lang="ru-RU" altLang="ru-RU" sz="1800" dirty="0">
                <a:solidFill>
                  <a:srgbClr val="0000FF"/>
                </a:solidFill>
                <a:latin typeface="Lucida Console" panose="020B0609040504020204" pitchFamily="49" charset="0"/>
                <a:ea typeface="Times New Roman" panose="02020603050405020304" pitchFamily="18" charset="0"/>
                <a:cs typeface="Courier New" panose="02070309020205020404" pitchFamily="49" charset="0"/>
              </a:rPr>
              <a:t>)</a:t>
            </a:r>
            <a:endParaRPr lang="ru-RU" altLang="ru-RU" sz="1800" dirty="0"/>
          </a:p>
        </p:txBody>
      </p:sp>
      <p:sp>
        <p:nvSpPr>
          <p:cNvPr id="9" name="Rectangle 3"/>
          <p:cNvSpPr>
            <a:spLocks noChangeArrowheads="1"/>
          </p:cNvSpPr>
          <p:nvPr/>
        </p:nvSpPr>
        <p:spPr bwMode="auto">
          <a:xfrm>
            <a:off x="6452512" y="1550879"/>
            <a:ext cx="4035308" cy="5386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0" numCol="1" anchor="ctr" anchorCtr="0" compatLnSpc="1">
            <a:prstTxWarp prst="textNoShape">
              <a:avLst/>
            </a:prstTxWarp>
            <a:spAutoFit/>
          </a:bodyPr>
          <a:lstStyle/>
          <a:p>
            <a:pPr eaLnBrk="0" hangingPunct="0"/>
            <a:r>
              <a:rPr lang="ru-RU" altLang="ru-RU" sz="1600" dirty="0">
                <a:solidFill>
                  <a:srgbClr val="0000FF"/>
                </a:solidFill>
                <a:latin typeface="Lucida Console" panose="020B0609040504020204" pitchFamily="49" charset="0"/>
              </a:rPr>
              <a:t>n&lt;-</a:t>
            </a:r>
            <a:r>
              <a:rPr lang="ru-RU" altLang="ru-RU" sz="1600" dirty="0" err="1">
                <a:solidFill>
                  <a:srgbClr val="0000FF"/>
                </a:solidFill>
                <a:latin typeface="Lucida Console" panose="020B0609040504020204" pitchFamily="49" charset="0"/>
              </a:rPr>
              <a:t>runif</a:t>
            </a:r>
            <a:r>
              <a:rPr lang="ru-RU" altLang="ru-RU" sz="1600" dirty="0">
                <a:solidFill>
                  <a:srgbClr val="0000FF"/>
                </a:solidFill>
                <a:latin typeface="Lucida Console" panose="020B0609040504020204" pitchFamily="49" charset="0"/>
              </a:rPr>
              <a:t>(100, </a:t>
            </a:r>
            <a:r>
              <a:rPr lang="ru-RU" altLang="ru-RU" sz="1600" dirty="0" err="1">
                <a:solidFill>
                  <a:srgbClr val="0000FF"/>
                </a:solidFill>
                <a:latin typeface="Lucida Console" panose="020B0609040504020204" pitchFamily="49" charset="0"/>
              </a:rPr>
              <a:t>min</a:t>
            </a:r>
            <a:r>
              <a:rPr lang="ru-RU" altLang="ru-RU" sz="1600" dirty="0">
                <a:solidFill>
                  <a:srgbClr val="0000FF"/>
                </a:solidFill>
                <a:latin typeface="Lucida Console" panose="020B0609040504020204" pitchFamily="49" charset="0"/>
              </a:rPr>
              <a:t>=-10, </a:t>
            </a:r>
            <a:r>
              <a:rPr lang="ru-RU" altLang="ru-RU" sz="1600" dirty="0" err="1">
                <a:solidFill>
                  <a:srgbClr val="0000FF"/>
                </a:solidFill>
                <a:latin typeface="Lucida Console" panose="020B0609040504020204" pitchFamily="49" charset="0"/>
              </a:rPr>
              <a:t>max</a:t>
            </a:r>
            <a:r>
              <a:rPr lang="ru-RU" altLang="ru-RU" sz="1600" dirty="0">
                <a:solidFill>
                  <a:srgbClr val="0000FF"/>
                </a:solidFill>
                <a:latin typeface="Lucida Console" panose="020B0609040504020204" pitchFamily="49" charset="0"/>
              </a:rPr>
              <a:t> =10)</a:t>
            </a:r>
          </a:p>
          <a:p>
            <a:pPr eaLnBrk="0" hangingPunct="0"/>
            <a:r>
              <a:rPr lang="en-US" altLang="ru-RU" sz="1600" dirty="0" err="1">
                <a:solidFill>
                  <a:srgbClr val="0000FF"/>
                </a:solidFill>
                <a:latin typeface="Lucida Console" panose="020B0609040504020204" pitchFamily="49" charset="0"/>
              </a:rPr>
              <a:t>hist</a:t>
            </a:r>
            <a:r>
              <a:rPr lang="ru-RU" altLang="ru-RU" sz="1600" dirty="0">
                <a:solidFill>
                  <a:srgbClr val="0000FF"/>
                </a:solidFill>
                <a:latin typeface="Lucida Console" panose="020B0609040504020204" pitchFamily="49" charset="0"/>
              </a:rPr>
              <a:t>(n)</a:t>
            </a:r>
          </a:p>
        </p:txBody>
      </p:sp>
      <p:pic>
        <p:nvPicPr>
          <p:cNvPr id="7" name="Рисунок 6"/>
          <p:cNvPicPr>
            <a:picLocks noChangeAspect="1"/>
          </p:cNvPicPr>
          <p:nvPr/>
        </p:nvPicPr>
        <p:blipFill>
          <a:blip r:embed="rId3"/>
          <a:stretch>
            <a:fillRect/>
          </a:stretch>
        </p:blipFill>
        <p:spPr>
          <a:xfrm>
            <a:off x="1825160" y="2495950"/>
            <a:ext cx="4424674" cy="3149092"/>
          </a:xfrm>
          <a:prstGeom prst="rect">
            <a:avLst/>
          </a:prstGeom>
        </p:spPr>
      </p:pic>
      <p:pic>
        <p:nvPicPr>
          <p:cNvPr id="8" name="Рисунок 7"/>
          <p:cNvPicPr>
            <a:picLocks noChangeAspect="1"/>
          </p:cNvPicPr>
          <p:nvPr/>
        </p:nvPicPr>
        <p:blipFill>
          <a:blip r:embed="rId4"/>
          <a:stretch>
            <a:fillRect/>
          </a:stretch>
        </p:blipFill>
        <p:spPr>
          <a:xfrm>
            <a:off x="6405750" y="2471386"/>
            <a:ext cx="4651939" cy="3173656"/>
          </a:xfrm>
          <a:prstGeom prst="rect">
            <a:avLst/>
          </a:prstGeom>
        </p:spPr>
      </p:pic>
      <p:sp>
        <p:nvSpPr>
          <p:cNvPr id="10" name="Номер слайда 9"/>
          <p:cNvSpPr>
            <a:spLocks noGrp="1"/>
          </p:cNvSpPr>
          <p:nvPr>
            <p:ph type="sldNum" sz="quarter" idx="12"/>
          </p:nvPr>
        </p:nvSpPr>
        <p:spPr/>
        <p:txBody>
          <a:bodyPr/>
          <a:lstStyle/>
          <a:p>
            <a:fld id="{952B6C0E-C4B9-4094-8E59-5B7DF00D5415}" type="slidenum">
              <a:rPr lang="ru-RU" smtClean="0">
                <a:solidFill>
                  <a:schemeClr val="tx1"/>
                </a:solidFill>
              </a:rPr>
              <a:t>76</a:t>
            </a:fld>
            <a:endParaRPr lang="ru-RU" dirty="0">
              <a:solidFill>
                <a:schemeClr val="tx1"/>
              </a:solidFill>
            </a:endParaRPr>
          </a:p>
        </p:txBody>
      </p:sp>
    </p:spTree>
    <p:extLst>
      <p:ext uri="{BB962C8B-B14F-4D97-AF65-F5344CB8AC3E}">
        <p14:creationId xmlns:p14="http://schemas.microsoft.com/office/powerpoint/2010/main" val="1046795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4"/>
          <p:cNvSpPr>
            <a:spLocks noChangeArrowheads="1"/>
          </p:cNvSpPr>
          <p:nvPr/>
        </p:nvSpPr>
        <p:spPr bwMode="auto">
          <a:xfrm>
            <a:off x="1438275" y="322263"/>
            <a:ext cx="10816859" cy="6553200"/>
          </a:xfrm>
          <a:prstGeom prst="roundRect">
            <a:avLst>
              <a:gd name="adj" fmla="val 16667"/>
            </a:avLst>
          </a:prstGeom>
          <a:solidFill>
            <a:schemeClr val="bg1">
              <a:alpha val="50195"/>
            </a:scheme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5" name="AutoShape 5"/>
          <p:cNvSpPr>
            <a:spLocks noChangeArrowheads="1"/>
          </p:cNvSpPr>
          <p:nvPr/>
        </p:nvSpPr>
        <p:spPr bwMode="auto">
          <a:xfrm>
            <a:off x="2373685" y="322264"/>
            <a:ext cx="8064128" cy="720601"/>
          </a:xfrm>
          <a:prstGeom prst="roundRect">
            <a:avLst>
              <a:gd name="adj" fmla="val 37469"/>
            </a:avLst>
          </a:prstGeom>
          <a:solidFill>
            <a:srgbClr val="FFFFFF">
              <a:alpha val="78822"/>
            </a:srgb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2" name="Заголовок 1"/>
          <p:cNvSpPr txBox="1">
            <a:spLocks noGrp="1"/>
          </p:cNvSpPr>
          <p:nvPr>
            <p:ph type="title" idx="4294967295"/>
          </p:nvPr>
        </p:nvSpPr>
        <p:spPr>
          <a:xfrm>
            <a:off x="1195389" y="288926"/>
            <a:ext cx="8550275" cy="1184275"/>
          </a:xfrm>
          <a:prstGeom prst="rect">
            <a:avLst/>
          </a:prstGeom>
        </p:spPr>
        <p:txBody>
          <a:bodyPr wrap="square">
            <a:noAutofit/>
          </a:bodyPr>
          <a:lstStyle/>
          <a:p>
            <a:pPr lvl="0"/>
            <a:r>
              <a:rPr lang="ru-RU"/>
              <a:t>Критерий Шапиро-Уилка</a:t>
            </a:r>
          </a:p>
        </p:txBody>
      </p:sp>
      <p:sp>
        <p:nvSpPr>
          <p:cNvPr id="7" name="Прямоугольник 6"/>
          <p:cNvSpPr/>
          <p:nvPr/>
        </p:nvSpPr>
        <p:spPr>
          <a:xfrm>
            <a:off x="1653606" y="1341400"/>
            <a:ext cx="9865096" cy="4942122"/>
          </a:xfrm>
          <a:prstGeom prst="rect">
            <a:avLst/>
          </a:prstGeom>
        </p:spPr>
        <p:txBody>
          <a:bodyPr wrap="square">
            <a:spAutoFit/>
          </a:bodyPr>
          <a:lstStyle/>
          <a:p>
            <a:pPr marL="342900" marR="13335" indent="-342900" eaLnBrk="0" hangingPunct="0">
              <a:spcBef>
                <a:spcPts val="395"/>
              </a:spcBef>
              <a:spcAft>
                <a:spcPts val="0"/>
              </a:spcAft>
              <a:buClr>
                <a:srgbClr val="7F7F7F"/>
              </a:buClr>
              <a:buSzPts val="500"/>
              <a:buFont typeface="+mj-lt"/>
              <a:buAutoNum type="arabicPeriod"/>
              <a:tabLst>
                <a:tab pos="704850" algn="l"/>
              </a:tabLst>
            </a:pPr>
            <a:r>
              <a:rPr lang="ru-RU" sz="1600" dirty="0">
                <a:solidFill>
                  <a:srgbClr val="0000FF"/>
                </a:solidFill>
                <a:latin typeface="+mn-lt"/>
                <a:ea typeface="Times New Roman" panose="02020603050405020304" pitchFamily="18" charset="0"/>
              </a:rPr>
              <a:t>&gt;</a:t>
            </a:r>
            <a:r>
              <a:rPr lang="ru-RU" sz="1600" spc="90" dirty="0">
                <a:solidFill>
                  <a:srgbClr val="0000FF"/>
                </a:solidFill>
                <a:latin typeface="+mn-lt"/>
                <a:ea typeface="Times New Roman" panose="02020603050405020304" pitchFamily="18" charset="0"/>
              </a:rPr>
              <a:t> </a:t>
            </a:r>
            <a:r>
              <a:rPr lang="ru-RU" sz="1600" spc="40" dirty="0" err="1">
                <a:solidFill>
                  <a:srgbClr val="0000FF"/>
                </a:solidFill>
                <a:latin typeface="+mn-lt"/>
                <a:ea typeface="Times New Roman" panose="02020603050405020304" pitchFamily="18" charset="0"/>
              </a:rPr>
              <a:t>set</a:t>
            </a:r>
            <a:r>
              <a:rPr lang="ru-RU" sz="1600" spc="-340" dirty="0">
                <a:solidFill>
                  <a:srgbClr val="0000FF"/>
                </a:solidFill>
                <a:latin typeface="+mn-lt"/>
                <a:ea typeface="Times New Roman" panose="02020603050405020304" pitchFamily="18" charset="0"/>
              </a:rPr>
              <a:t> </a:t>
            </a:r>
            <a:r>
              <a:rPr lang="ru-RU" sz="1600" dirty="0">
                <a:solidFill>
                  <a:srgbClr val="0000FF"/>
                </a:solidFill>
                <a:latin typeface="+mn-lt"/>
                <a:ea typeface="Times New Roman" panose="02020603050405020304" pitchFamily="18" charset="0"/>
              </a:rPr>
              <a:t>.</a:t>
            </a:r>
            <a:r>
              <a:rPr lang="ru-RU" sz="1600" spc="-340" dirty="0">
                <a:solidFill>
                  <a:srgbClr val="0000FF"/>
                </a:solidFill>
                <a:latin typeface="+mn-lt"/>
                <a:ea typeface="Times New Roman" panose="02020603050405020304" pitchFamily="18" charset="0"/>
              </a:rPr>
              <a:t> </a:t>
            </a:r>
            <a:r>
              <a:rPr lang="ru-RU" sz="1600" spc="45" dirty="0" err="1">
                <a:solidFill>
                  <a:srgbClr val="0000FF"/>
                </a:solidFill>
                <a:latin typeface="+mn-lt"/>
                <a:ea typeface="Times New Roman" panose="02020603050405020304" pitchFamily="18" charset="0"/>
              </a:rPr>
              <a:t>seed</a:t>
            </a:r>
            <a:r>
              <a:rPr lang="ru-RU" sz="1600" spc="-315" dirty="0">
                <a:solidFill>
                  <a:srgbClr val="0000FF"/>
                </a:solidFill>
                <a:latin typeface="+mn-lt"/>
                <a:ea typeface="Times New Roman" panose="02020603050405020304" pitchFamily="18" charset="0"/>
              </a:rPr>
              <a:t> </a:t>
            </a:r>
            <a:r>
              <a:rPr lang="ru-RU" sz="1600" spc="40" dirty="0">
                <a:solidFill>
                  <a:srgbClr val="0000FF"/>
                </a:solidFill>
                <a:latin typeface="+mn-lt"/>
                <a:ea typeface="Times New Roman" panose="02020603050405020304" pitchFamily="18" charset="0"/>
              </a:rPr>
              <a:t>(0)</a:t>
            </a:r>
            <a:endParaRPr lang="ru-RU" sz="2800" dirty="0">
              <a:solidFill>
                <a:srgbClr val="0000FF"/>
              </a:solidFill>
              <a:latin typeface="+mn-lt"/>
              <a:ea typeface="Times New Roman" panose="02020603050405020304" pitchFamily="18" charset="0"/>
            </a:endParaRPr>
          </a:p>
          <a:p>
            <a:pPr marL="342900" marR="13335" indent="-342900" eaLnBrk="0" hangingPunct="0">
              <a:spcBef>
                <a:spcPts val="40"/>
              </a:spcBef>
              <a:spcAft>
                <a:spcPts val="0"/>
              </a:spcAft>
              <a:buClr>
                <a:srgbClr val="7F7F7F"/>
              </a:buClr>
              <a:buSzPts val="500"/>
              <a:buFont typeface="+mj-lt"/>
              <a:buAutoNum type="arabicPeriod"/>
              <a:tabLst>
                <a:tab pos="704850" algn="l"/>
              </a:tabLst>
            </a:pPr>
            <a:r>
              <a:rPr lang="en-US" sz="1600" dirty="0">
                <a:solidFill>
                  <a:srgbClr val="0000FF"/>
                </a:solidFill>
                <a:latin typeface="+mn-lt"/>
                <a:ea typeface="Times New Roman" panose="02020603050405020304" pitchFamily="18" charset="0"/>
              </a:rPr>
              <a:t>&gt;</a:t>
            </a:r>
            <a:r>
              <a:rPr lang="en-US" sz="1600" spc="140" dirty="0">
                <a:solidFill>
                  <a:srgbClr val="0000FF"/>
                </a:solidFill>
                <a:latin typeface="+mn-lt"/>
                <a:ea typeface="Times New Roman" panose="02020603050405020304" pitchFamily="18" charset="0"/>
              </a:rPr>
              <a:t> </a:t>
            </a:r>
            <a:r>
              <a:rPr lang="en-US" sz="1600" dirty="0">
                <a:solidFill>
                  <a:srgbClr val="0000FF"/>
                </a:solidFill>
                <a:latin typeface="+mn-lt"/>
                <a:ea typeface="Times New Roman" panose="02020603050405020304" pitchFamily="18" charset="0"/>
              </a:rPr>
              <a:t>s</a:t>
            </a:r>
            <a:r>
              <a:rPr lang="en-US" sz="1600" spc="-370" dirty="0">
                <a:solidFill>
                  <a:srgbClr val="0000FF"/>
                </a:solidFill>
                <a:latin typeface="+mn-lt"/>
                <a:ea typeface="Times New Roman" panose="02020603050405020304" pitchFamily="18" charset="0"/>
              </a:rPr>
              <a:t> </a:t>
            </a:r>
            <a:r>
              <a:rPr lang="en-US" sz="1600" dirty="0">
                <a:solidFill>
                  <a:srgbClr val="0000FF"/>
                </a:solidFill>
                <a:latin typeface="+mn-lt"/>
                <a:ea typeface="Times New Roman" panose="02020603050405020304" pitchFamily="18" charset="0"/>
              </a:rPr>
              <a:t>h</a:t>
            </a:r>
            <a:r>
              <a:rPr lang="en-US" sz="1600" spc="-365" dirty="0">
                <a:solidFill>
                  <a:srgbClr val="0000FF"/>
                </a:solidFill>
                <a:latin typeface="+mn-lt"/>
                <a:ea typeface="Times New Roman" panose="02020603050405020304" pitchFamily="18" charset="0"/>
              </a:rPr>
              <a:t> </a:t>
            </a:r>
            <a:r>
              <a:rPr lang="en-US" sz="1600" dirty="0">
                <a:solidFill>
                  <a:srgbClr val="0000FF"/>
                </a:solidFill>
                <a:latin typeface="+mn-lt"/>
                <a:ea typeface="Times New Roman" panose="02020603050405020304" pitchFamily="18" charset="0"/>
              </a:rPr>
              <a:t>a</a:t>
            </a:r>
            <a:r>
              <a:rPr lang="en-US" sz="1600" spc="-365" dirty="0">
                <a:solidFill>
                  <a:srgbClr val="0000FF"/>
                </a:solidFill>
                <a:latin typeface="+mn-lt"/>
                <a:ea typeface="Times New Roman" panose="02020603050405020304" pitchFamily="18" charset="0"/>
              </a:rPr>
              <a:t> </a:t>
            </a:r>
            <a:r>
              <a:rPr lang="en-US" sz="1600" dirty="0">
                <a:solidFill>
                  <a:srgbClr val="0000FF"/>
                </a:solidFill>
                <a:latin typeface="+mn-lt"/>
                <a:ea typeface="Times New Roman" panose="02020603050405020304" pitchFamily="18" charset="0"/>
              </a:rPr>
              <a:t>p</a:t>
            </a:r>
            <a:r>
              <a:rPr lang="en-US" sz="1600" spc="-365" dirty="0">
                <a:solidFill>
                  <a:srgbClr val="0000FF"/>
                </a:solidFill>
                <a:latin typeface="+mn-lt"/>
                <a:ea typeface="Times New Roman" panose="02020603050405020304" pitchFamily="18" charset="0"/>
              </a:rPr>
              <a:t> </a:t>
            </a:r>
            <a:r>
              <a:rPr lang="en-US" sz="1600" dirty="0" err="1">
                <a:solidFill>
                  <a:srgbClr val="0000FF"/>
                </a:solidFill>
                <a:latin typeface="+mn-lt"/>
                <a:ea typeface="Times New Roman" panose="02020603050405020304" pitchFamily="18" charset="0"/>
              </a:rPr>
              <a:t>i</a:t>
            </a:r>
            <a:r>
              <a:rPr lang="en-US" sz="1600" spc="-370" dirty="0">
                <a:solidFill>
                  <a:srgbClr val="0000FF"/>
                </a:solidFill>
                <a:latin typeface="+mn-lt"/>
                <a:ea typeface="Times New Roman" panose="02020603050405020304" pitchFamily="18" charset="0"/>
              </a:rPr>
              <a:t> </a:t>
            </a:r>
            <a:r>
              <a:rPr lang="en-US" sz="1600" dirty="0">
                <a:solidFill>
                  <a:srgbClr val="0000FF"/>
                </a:solidFill>
                <a:latin typeface="+mn-lt"/>
                <a:ea typeface="Times New Roman" panose="02020603050405020304" pitchFamily="18" charset="0"/>
              </a:rPr>
              <a:t>r</a:t>
            </a:r>
            <a:r>
              <a:rPr lang="en-US" sz="1600" spc="-365" dirty="0">
                <a:solidFill>
                  <a:srgbClr val="0000FF"/>
                </a:solidFill>
                <a:latin typeface="+mn-lt"/>
                <a:ea typeface="Times New Roman" panose="02020603050405020304" pitchFamily="18" charset="0"/>
              </a:rPr>
              <a:t> </a:t>
            </a:r>
            <a:r>
              <a:rPr lang="en-US" sz="1600" dirty="0">
                <a:solidFill>
                  <a:srgbClr val="0000FF"/>
                </a:solidFill>
                <a:latin typeface="+mn-lt"/>
                <a:ea typeface="Times New Roman" panose="02020603050405020304" pitchFamily="18" charset="0"/>
              </a:rPr>
              <a:t>o</a:t>
            </a:r>
            <a:r>
              <a:rPr lang="en-US" sz="1600" spc="-325" dirty="0">
                <a:solidFill>
                  <a:srgbClr val="0000FF"/>
                </a:solidFill>
                <a:latin typeface="+mn-lt"/>
                <a:ea typeface="Times New Roman" panose="02020603050405020304" pitchFamily="18" charset="0"/>
              </a:rPr>
              <a:t> </a:t>
            </a:r>
            <a:r>
              <a:rPr lang="en-US" sz="1600" dirty="0">
                <a:solidFill>
                  <a:srgbClr val="0000FF"/>
                </a:solidFill>
                <a:latin typeface="+mn-lt"/>
                <a:ea typeface="Times New Roman" panose="02020603050405020304" pitchFamily="18" charset="0"/>
              </a:rPr>
              <a:t>.</a:t>
            </a:r>
            <a:r>
              <a:rPr lang="en-US" sz="1600" spc="-325" dirty="0">
                <a:solidFill>
                  <a:srgbClr val="0000FF"/>
                </a:solidFill>
                <a:latin typeface="+mn-lt"/>
                <a:ea typeface="Times New Roman" panose="02020603050405020304" pitchFamily="18" charset="0"/>
              </a:rPr>
              <a:t> </a:t>
            </a:r>
            <a:r>
              <a:rPr lang="en-US" sz="1600" spc="45" dirty="0">
                <a:solidFill>
                  <a:srgbClr val="0000FF"/>
                </a:solidFill>
                <a:latin typeface="+mn-lt"/>
                <a:ea typeface="Times New Roman" panose="02020603050405020304" pitchFamily="18" charset="0"/>
              </a:rPr>
              <a:t>test</a:t>
            </a:r>
            <a:r>
              <a:rPr lang="en-US" sz="1600" spc="-330" dirty="0">
                <a:solidFill>
                  <a:srgbClr val="0000FF"/>
                </a:solidFill>
                <a:latin typeface="+mn-lt"/>
                <a:ea typeface="Times New Roman" panose="02020603050405020304" pitchFamily="18" charset="0"/>
              </a:rPr>
              <a:t> </a:t>
            </a:r>
            <a:r>
              <a:rPr lang="en-US" sz="1600" dirty="0">
                <a:solidFill>
                  <a:srgbClr val="0000FF"/>
                </a:solidFill>
                <a:latin typeface="+mn-lt"/>
                <a:ea typeface="Times New Roman" panose="02020603050405020304" pitchFamily="18" charset="0"/>
              </a:rPr>
              <a:t>(</a:t>
            </a:r>
            <a:r>
              <a:rPr lang="en-US" sz="1600" spc="-330" dirty="0">
                <a:solidFill>
                  <a:srgbClr val="0000FF"/>
                </a:solidFill>
                <a:latin typeface="+mn-lt"/>
                <a:ea typeface="Times New Roman" panose="02020603050405020304" pitchFamily="18" charset="0"/>
              </a:rPr>
              <a:t> </a:t>
            </a:r>
            <a:r>
              <a:rPr lang="en-US" sz="1600" dirty="0">
                <a:solidFill>
                  <a:srgbClr val="0000FF"/>
                </a:solidFill>
                <a:latin typeface="+mn-lt"/>
                <a:ea typeface="Times New Roman" panose="02020603050405020304" pitchFamily="18" charset="0"/>
              </a:rPr>
              <a:t>r</a:t>
            </a:r>
            <a:r>
              <a:rPr lang="en-US" sz="1600" spc="-365" dirty="0">
                <a:solidFill>
                  <a:srgbClr val="0000FF"/>
                </a:solidFill>
                <a:latin typeface="+mn-lt"/>
                <a:ea typeface="Times New Roman" panose="02020603050405020304" pitchFamily="18" charset="0"/>
              </a:rPr>
              <a:t> </a:t>
            </a:r>
            <a:r>
              <a:rPr lang="en-US" sz="1600" dirty="0">
                <a:solidFill>
                  <a:srgbClr val="0000FF"/>
                </a:solidFill>
                <a:latin typeface="+mn-lt"/>
                <a:ea typeface="Times New Roman" panose="02020603050405020304" pitchFamily="18" charset="0"/>
              </a:rPr>
              <a:t>n</a:t>
            </a:r>
            <a:r>
              <a:rPr lang="en-US" sz="1600" spc="-365" dirty="0">
                <a:solidFill>
                  <a:srgbClr val="0000FF"/>
                </a:solidFill>
                <a:latin typeface="+mn-lt"/>
                <a:ea typeface="Times New Roman" panose="02020603050405020304" pitchFamily="18" charset="0"/>
              </a:rPr>
              <a:t> </a:t>
            </a:r>
            <a:r>
              <a:rPr lang="en-US" sz="1600" dirty="0">
                <a:solidFill>
                  <a:srgbClr val="0000FF"/>
                </a:solidFill>
                <a:latin typeface="+mn-lt"/>
                <a:ea typeface="Times New Roman" panose="02020603050405020304" pitchFamily="18" charset="0"/>
              </a:rPr>
              <a:t>o</a:t>
            </a:r>
            <a:r>
              <a:rPr lang="en-US" sz="1600" spc="-370" dirty="0">
                <a:solidFill>
                  <a:srgbClr val="0000FF"/>
                </a:solidFill>
                <a:latin typeface="+mn-lt"/>
                <a:ea typeface="Times New Roman" panose="02020603050405020304" pitchFamily="18" charset="0"/>
              </a:rPr>
              <a:t> </a:t>
            </a:r>
            <a:r>
              <a:rPr lang="en-US" sz="1600" dirty="0">
                <a:solidFill>
                  <a:srgbClr val="0000FF"/>
                </a:solidFill>
                <a:latin typeface="+mn-lt"/>
                <a:ea typeface="Times New Roman" panose="02020603050405020304" pitchFamily="18" charset="0"/>
              </a:rPr>
              <a:t>r</a:t>
            </a:r>
            <a:r>
              <a:rPr lang="en-US" sz="1600" spc="-365" dirty="0">
                <a:solidFill>
                  <a:srgbClr val="0000FF"/>
                </a:solidFill>
                <a:latin typeface="+mn-lt"/>
                <a:ea typeface="Times New Roman" panose="02020603050405020304" pitchFamily="18" charset="0"/>
              </a:rPr>
              <a:t> </a:t>
            </a:r>
            <a:r>
              <a:rPr lang="en-US" sz="1600" dirty="0">
                <a:solidFill>
                  <a:srgbClr val="0000FF"/>
                </a:solidFill>
                <a:latin typeface="+mn-lt"/>
                <a:ea typeface="Times New Roman" panose="02020603050405020304" pitchFamily="18" charset="0"/>
              </a:rPr>
              <a:t>m</a:t>
            </a:r>
            <a:r>
              <a:rPr lang="en-US" sz="1600" spc="-310" dirty="0">
                <a:solidFill>
                  <a:srgbClr val="0000FF"/>
                </a:solidFill>
                <a:latin typeface="+mn-lt"/>
                <a:ea typeface="Times New Roman" panose="02020603050405020304" pitchFamily="18" charset="0"/>
              </a:rPr>
              <a:t> </a:t>
            </a:r>
            <a:r>
              <a:rPr lang="en-US" sz="1600" spc="45" dirty="0">
                <a:solidFill>
                  <a:srgbClr val="0000FF"/>
                </a:solidFill>
                <a:latin typeface="+mn-lt"/>
                <a:ea typeface="Times New Roman" panose="02020603050405020304" pitchFamily="18" charset="0"/>
              </a:rPr>
              <a:t>(100</a:t>
            </a:r>
            <a:r>
              <a:rPr lang="en-US" sz="1600" spc="-320" dirty="0">
                <a:solidFill>
                  <a:srgbClr val="0000FF"/>
                </a:solidFill>
                <a:latin typeface="+mn-lt"/>
                <a:ea typeface="Times New Roman" panose="02020603050405020304" pitchFamily="18" charset="0"/>
              </a:rPr>
              <a:t> </a:t>
            </a:r>
            <a:r>
              <a:rPr lang="en-US" sz="1600" dirty="0">
                <a:solidFill>
                  <a:srgbClr val="0000FF"/>
                </a:solidFill>
                <a:latin typeface="+mn-lt"/>
                <a:ea typeface="Times New Roman" panose="02020603050405020304" pitchFamily="18" charset="0"/>
              </a:rPr>
              <a:t>,</a:t>
            </a:r>
            <a:r>
              <a:rPr lang="en-US" sz="1600" spc="165" dirty="0">
                <a:solidFill>
                  <a:srgbClr val="0000FF"/>
                </a:solidFill>
                <a:latin typeface="+mn-lt"/>
                <a:ea typeface="Times New Roman" panose="02020603050405020304" pitchFamily="18" charset="0"/>
              </a:rPr>
              <a:t> </a:t>
            </a:r>
            <a:r>
              <a:rPr lang="en-US" sz="1600" spc="45" dirty="0">
                <a:solidFill>
                  <a:srgbClr val="0000FF"/>
                </a:solidFill>
                <a:latin typeface="+mn-lt"/>
                <a:ea typeface="Times New Roman" panose="02020603050405020304" pitchFamily="18" charset="0"/>
              </a:rPr>
              <a:t>mean</a:t>
            </a:r>
            <a:r>
              <a:rPr lang="en-US" sz="1600" spc="145" dirty="0">
                <a:solidFill>
                  <a:srgbClr val="0000FF"/>
                </a:solidFill>
                <a:latin typeface="+mn-lt"/>
                <a:ea typeface="Times New Roman" panose="02020603050405020304" pitchFamily="18" charset="0"/>
              </a:rPr>
              <a:t> </a:t>
            </a:r>
            <a:r>
              <a:rPr lang="en-US" sz="1600" dirty="0">
                <a:solidFill>
                  <a:srgbClr val="0000FF"/>
                </a:solidFill>
                <a:latin typeface="+mn-lt"/>
                <a:ea typeface="Times New Roman" panose="02020603050405020304" pitchFamily="18" charset="0"/>
              </a:rPr>
              <a:t>=</a:t>
            </a:r>
            <a:r>
              <a:rPr lang="en-US" sz="1600" spc="125" dirty="0">
                <a:solidFill>
                  <a:srgbClr val="0000FF"/>
                </a:solidFill>
                <a:latin typeface="+mn-lt"/>
                <a:ea typeface="Times New Roman" panose="02020603050405020304" pitchFamily="18" charset="0"/>
              </a:rPr>
              <a:t> </a:t>
            </a:r>
            <a:r>
              <a:rPr lang="en-US" sz="1600" dirty="0">
                <a:solidFill>
                  <a:srgbClr val="0000FF"/>
                </a:solidFill>
                <a:latin typeface="+mn-lt"/>
                <a:ea typeface="Times New Roman" panose="02020603050405020304" pitchFamily="18" charset="0"/>
              </a:rPr>
              <a:t>2</a:t>
            </a:r>
            <a:r>
              <a:rPr lang="en-US" sz="1600" spc="-360" dirty="0">
                <a:solidFill>
                  <a:srgbClr val="0000FF"/>
                </a:solidFill>
                <a:latin typeface="+mn-lt"/>
                <a:ea typeface="Times New Roman" panose="02020603050405020304" pitchFamily="18" charset="0"/>
              </a:rPr>
              <a:t> </a:t>
            </a:r>
            <a:r>
              <a:rPr lang="en-US" sz="1600" dirty="0">
                <a:solidFill>
                  <a:srgbClr val="0000FF"/>
                </a:solidFill>
                <a:latin typeface="+mn-lt"/>
                <a:ea typeface="Times New Roman" panose="02020603050405020304" pitchFamily="18" charset="0"/>
              </a:rPr>
              <a:t>,</a:t>
            </a:r>
            <a:r>
              <a:rPr lang="en-US" sz="1600" spc="140" dirty="0">
                <a:solidFill>
                  <a:srgbClr val="0000FF"/>
                </a:solidFill>
                <a:latin typeface="+mn-lt"/>
                <a:ea typeface="Times New Roman" panose="02020603050405020304" pitchFamily="18" charset="0"/>
              </a:rPr>
              <a:t> </a:t>
            </a:r>
            <a:r>
              <a:rPr lang="en-US" sz="1600" spc="25" dirty="0" err="1">
                <a:solidFill>
                  <a:srgbClr val="0000FF"/>
                </a:solidFill>
                <a:latin typeface="+mn-lt"/>
                <a:ea typeface="Times New Roman" panose="02020603050405020304" pitchFamily="18" charset="0"/>
              </a:rPr>
              <a:t>sd</a:t>
            </a:r>
            <a:r>
              <a:rPr lang="en-US" sz="1600" spc="135" dirty="0">
                <a:solidFill>
                  <a:srgbClr val="0000FF"/>
                </a:solidFill>
                <a:latin typeface="+mn-lt"/>
                <a:ea typeface="Times New Roman" panose="02020603050405020304" pitchFamily="18" charset="0"/>
              </a:rPr>
              <a:t> </a:t>
            </a:r>
            <a:r>
              <a:rPr lang="en-US" sz="1600" dirty="0">
                <a:solidFill>
                  <a:srgbClr val="0000FF"/>
                </a:solidFill>
                <a:latin typeface="+mn-lt"/>
                <a:ea typeface="Times New Roman" panose="02020603050405020304" pitchFamily="18" charset="0"/>
              </a:rPr>
              <a:t>=</a:t>
            </a:r>
            <a:r>
              <a:rPr lang="en-US" sz="1600" spc="135" dirty="0">
                <a:solidFill>
                  <a:srgbClr val="0000FF"/>
                </a:solidFill>
                <a:latin typeface="+mn-lt"/>
                <a:ea typeface="Times New Roman" panose="02020603050405020304" pitchFamily="18" charset="0"/>
              </a:rPr>
              <a:t> </a:t>
            </a:r>
            <a:r>
              <a:rPr lang="en-US" sz="1600" spc="25" dirty="0">
                <a:solidFill>
                  <a:srgbClr val="0000FF"/>
                </a:solidFill>
                <a:latin typeface="+mn-lt"/>
                <a:ea typeface="Times New Roman" panose="02020603050405020304" pitchFamily="18" charset="0"/>
              </a:rPr>
              <a:t>5)</a:t>
            </a:r>
            <a:r>
              <a:rPr lang="en-US" sz="1600" spc="-345" dirty="0">
                <a:solidFill>
                  <a:srgbClr val="0000FF"/>
                </a:solidFill>
                <a:latin typeface="+mn-lt"/>
                <a:ea typeface="Times New Roman" panose="02020603050405020304" pitchFamily="18" charset="0"/>
              </a:rPr>
              <a:t> </a:t>
            </a:r>
            <a:r>
              <a:rPr lang="en-US" sz="1600" dirty="0">
                <a:solidFill>
                  <a:srgbClr val="0000FF"/>
                </a:solidFill>
                <a:latin typeface="+mn-lt"/>
                <a:ea typeface="Times New Roman" panose="02020603050405020304" pitchFamily="18" charset="0"/>
              </a:rPr>
              <a:t>)</a:t>
            </a:r>
            <a:endParaRPr lang="ru-RU" sz="2800" dirty="0">
              <a:solidFill>
                <a:srgbClr val="0000FF"/>
              </a:solidFill>
              <a:latin typeface="+mn-lt"/>
              <a:ea typeface="Times New Roman" panose="02020603050405020304" pitchFamily="18" charset="0"/>
            </a:endParaRPr>
          </a:p>
          <a:p>
            <a:pPr marR="13335" eaLnBrk="0" hangingPunct="0">
              <a:spcBef>
                <a:spcPts val="235"/>
              </a:spcBef>
              <a:spcAft>
                <a:spcPts val="0"/>
              </a:spcAft>
            </a:pPr>
            <a:r>
              <a:rPr lang="en-US" sz="1050" dirty="0">
                <a:solidFill>
                  <a:srgbClr val="0000FF"/>
                </a:solidFill>
                <a:latin typeface="+mn-lt"/>
                <a:ea typeface="Times New Roman" panose="02020603050405020304" pitchFamily="18" charset="0"/>
              </a:rPr>
              <a:t>3</a:t>
            </a:r>
            <a:endParaRPr lang="ru-RU" sz="2800" dirty="0">
              <a:solidFill>
                <a:srgbClr val="0000FF"/>
              </a:solidFill>
              <a:latin typeface="+mn-lt"/>
              <a:ea typeface="Times New Roman" panose="02020603050405020304" pitchFamily="18" charset="0"/>
            </a:endParaRPr>
          </a:p>
          <a:p>
            <a:pPr marR="13335" eaLnBrk="0" hangingPunct="0">
              <a:spcBef>
                <a:spcPts val="175"/>
              </a:spcBef>
              <a:spcAft>
                <a:spcPts val="0"/>
              </a:spcAft>
              <a:tabLst>
                <a:tab pos="1222375" algn="l"/>
              </a:tabLst>
            </a:pPr>
            <a:r>
              <a:rPr lang="en-US" sz="1050" dirty="0">
                <a:solidFill>
                  <a:srgbClr val="0000FF"/>
                </a:solidFill>
                <a:latin typeface="+mn-lt"/>
                <a:ea typeface="Times New Roman" panose="02020603050405020304" pitchFamily="18" charset="0"/>
              </a:rPr>
              <a:t>4	</a:t>
            </a:r>
            <a:r>
              <a:rPr lang="en-US" sz="1600" spc="55" dirty="0">
                <a:solidFill>
                  <a:srgbClr val="0000FF"/>
                </a:solidFill>
                <a:latin typeface="+mn-lt"/>
                <a:ea typeface="Times New Roman" panose="02020603050405020304" pitchFamily="18" charset="0"/>
              </a:rPr>
              <a:t>Shapiro</a:t>
            </a:r>
            <a:r>
              <a:rPr lang="en-US" sz="1600" spc="-285" dirty="0">
                <a:solidFill>
                  <a:srgbClr val="0000FF"/>
                </a:solidFill>
                <a:latin typeface="+mn-lt"/>
                <a:ea typeface="Times New Roman" panose="02020603050405020304" pitchFamily="18" charset="0"/>
              </a:rPr>
              <a:t> </a:t>
            </a:r>
            <a:r>
              <a:rPr lang="en-US" sz="1600" dirty="0">
                <a:solidFill>
                  <a:srgbClr val="0000FF"/>
                </a:solidFill>
                <a:latin typeface="+mn-lt"/>
                <a:ea typeface="Times New Roman" panose="02020603050405020304" pitchFamily="18" charset="0"/>
              </a:rPr>
              <a:t>-</a:t>
            </a:r>
            <a:r>
              <a:rPr lang="en-US" sz="1600" spc="-330" dirty="0">
                <a:solidFill>
                  <a:srgbClr val="0000FF"/>
                </a:solidFill>
                <a:latin typeface="+mn-lt"/>
                <a:ea typeface="Times New Roman" panose="02020603050405020304" pitchFamily="18" charset="0"/>
              </a:rPr>
              <a:t> </a:t>
            </a:r>
            <a:r>
              <a:rPr lang="en-US" sz="1600" spc="45" dirty="0">
                <a:solidFill>
                  <a:srgbClr val="0000FF"/>
                </a:solidFill>
                <a:latin typeface="+mn-lt"/>
                <a:ea typeface="Times New Roman" panose="02020603050405020304" pitchFamily="18" charset="0"/>
              </a:rPr>
              <a:t>Wilk</a:t>
            </a:r>
            <a:r>
              <a:rPr lang="en-US" sz="1600" spc="145" dirty="0">
                <a:solidFill>
                  <a:srgbClr val="0000FF"/>
                </a:solidFill>
                <a:latin typeface="+mn-lt"/>
                <a:ea typeface="Times New Roman" panose="02020603050405020304" pitchFamily="18" charset="0"/>
              </a:rPr>
              <a:t> </a:t>
            </a:r>
            <a:r>
              <a:rPr lang="en-US" sz="1600" dirty="0">
                <a:solidFill>
                  <a:srgbClr val="0000FF"/>
                </a:solidFill>
                <a:latin typeface="+mn-lt"/>
                <a:ea typeface="Times New Roman" panose="02020603050405020304" pitchFamily="18" charset="0"/>
              </a:rPr>
              <a:t>n</a:t>
            </a:r>
            <a:r>
              <a:rPr lang="en-US" sz="1600" spc="-365" dirty="0">
                <a:solidFill>
                  <a:srgbClr val="0000FF"/>
                </a:solidFill>
                <a:latin typeface="+mn-lt"/>
                <a:ea typeface="Times New Roman" panose="02020603050405020304" pitchFamily="18" charset="0"/>
              </a:rPr>
              <a:t> </a:t>
            </a:r>
            <a:r>
              <a:rPr lang="en-US" sz="1600" dirty="0">
                <a:solidFill>
                  <a:srgbClr val="0000FF"/>
                </a:solidFill>
                <a:latin typeface="+mn-lt"/>
                <a:ea typeface="Times New Roman" panose="02020603050405020304" pitchFamily="18" charset="0"/>
              </a:rPr>
              <a:t>o</a:t>
            </a:r>
            <a:r>
              <a:rPr lang="en-US" sz="1600" spc="-365" dirty="0">
                <a:solidFill>
                  <a:srgbClr val="0000FF"/>
                </a:solidFill>
                <a:latin typeface="+mn-lt"/>
                <a:ea typeface="Times New Roman" panose="02020603050405020304" pitchFamily="18" charset="0"/>
              </a:rPr>
              <a:t> </a:t>
            </a:r>
            <a:r>
              <a:rPr lang="en-US" sz="1600" dirty="0">
                <a:solidFill>
                  <a:srgbClr val="0000FF"/>
                </a:solidFill>
                <a:latin typeface="+mn-lt"/>
                <a:ea typeface="Times New Roman" panose="02020603050405020304" pitchFamily="18" charset="0"/>
              </a:rPr>
              <a:t>r</a:t>
            </a:r>
            <a:r>
              <a:rPr lang="en-US" sz="1600" spc="-365" dirty="0">
                <a:solidFill>
                  <a:srgbClr val="0000FF"/>
                </a:solidFill>
                <a:latin typeface="+mn-lt"/>
                <a:ea typeface="Times New Roman" panose="02020603050405020304" pitchFamily="18" charset="0"/>
              </a:rPr>
              <a:t> </a:t>
            </a:r>
            <a:r>
              <a:rPr lang="en-US" sz="1600" dirty="0">
                <a:solidFill>
                  <a:srgbClr val="0000FF"/>
                </a:solidFill>
                <a:latin typeface="+mn-lt"/>
                <a:ea typeface="Times New Roman" panose="02020603050405020304" pitchFamily="18" charset="0"/>
              </a:rPr>
              <a:t>m</a:t>
            </a:r>
            <a:r>
              <a:rPr lang="en-US" sz="1600" spc="-365" dirty="0">
                <a:solidFill>
                  <a:srgbClr val="0000FF"/>
                </a:solidFill>
                <a:latin typeface="+mn-lt"/>
                <a:ea typeface="Times New Roman" panose="02020603050405020304" pitchFamily="18" charset="0"/>
              </a:rPr>
              <a:t> </a:t>
            </a:r>
            <a:r>
              <a:rPr lang="en-US" sz="1600" dirty="0">
                <a:solidFill>
                  <a:srgbClr val="0000FF"/>
                </a:solidFill>
                <a:latin typeface="+mn-lt"/>
                <a:ea typeface="Times New Roman" panose="02020603050405020304" pitchFamily="18" charset="0"/>
              </a:rPr>
              <a:t>a</a:t>
            </a:r>
            <a:r>
              <a:rPr lang="en-US" sz="1600" spc="-365" dirty="0">
                <a:solidFill>
                  <a:srgbClr val="0000FF"/>
                </a:solidFill>
                <a:latin typeface="+mn-lt"/>
                <a:ea typeface="Times New Roman" panose="02020603050405020304" pitchFamily="18" charset="0"/>
              </a:rPr>
              <a:t> </a:t>
            </a:r>
            <a:r>
              <a:rPr lang="en-US" sz="1600" dirty="0">
                <a:solidFill>
                  <a:srgbClr val="0000FF"/>
                </a:solidFill>
                <a:latin typeface="+mn-lt"/>
                <a:ea typeface="Times New Roman" panose="02020603050405020304" pitchFamily="18" charset="0"/>
              </a:rPr>
              <a:t>l</a:t>
            </a:r>
            <a:r>
              <a:rPr lang="en-US" sz="1600" spc="-365" dirty="0">
                <a:solidFill>
                  <a:srgbClr val="0000FF"/>
                </a:solidFill>
                <a:latin typeface="+mn-lt"/>
                <a:ea typeface="Times New Roman" panose="02020603050405020304" pitchFamily="18" charset="0"/>
              </a:rPr>
              <a:t> </a:t>
            </a:r>
            <a:r>
              <a:rPr lang="en-US" sz="1600" dirty="0" err="1">
                <a:solidFill>
                  <a:srgbClr val="0000FF"/>
                </a:solidFill>
                <a:latin typeface="+mn-lt"/>
                <a:ea typeface="Times New Roman" panose="02020603050405020304" pitchFamily="18" charset="0"/>
              </a:rPr>
              <a:t>i</a:t>
            </a:r>
            <a:r>
              <a:rPr lang="en-US" sz="1600" spc="-370" dirty="0">
                <a:solidFill>
                  <a:srgbClr val="0000FF"/>
                </a:solidFill>
                <a:latin typeface="+mn-lt"/>
                <a:ea typeface="Times New Roman" panose="02020603050405020304" pitchFamily="18" charset="0"/>
              </a:rPr>
              <a:t> </a:t>
            </a:r>
            <a:r>
              <a:rPr lang="en-US" sz="1600" dirty="0">
                <a:solidFill>
                  <a:srgbClr val="0000FF"/>
                </a:solidFill>
                <a:latin typeface="+mn-lt"/>
                <a:ea typeface="Times New Roman" panose="02020603050405020304" pitchFamily="18" charset="0"/>
              </a:rPr>
              <a:t>t</a:t>
            </a:r>
            <a:r>
              <a:rPr lang="en-US" sz="1600" spc="-365" dirty="0">
                <a:solidFill>
                  <a:srgbClr val="0000FF"/>
                </a:solidFill>
                <a:latin typeface="+mn-lt"/>
                <a:ea typeface="Times New Roman" panose="02020603050405020304" pitchFamily="18" charset="0"/>
              </a:rPr>
              <a:t> </a:t>
            </a:r>
            <a:r>
              <a:rPr lang="en-US" sz="1600" dirty="0">
                <a:solidFill>
                  <a:srgbClr val="0000FF"/>
                </a:solidFill>
                <a:latin typeface="+mn-lt"/>
                <a:ea typeface="Times New Roman" panose="02020603050405020304" pitchFamily="18" charset="0"/>
              </a:rPr>
              <a:t>y</a:t>
            </a:r>
            <a:r>
              <a:rPr lang="en-US" sz="1600" spc="150" dirty="0">
                <a:solidFill>
                  <a:srgbClr val="0000FF"/>
                </a:solidFill>
                <a:latin typeface="+mn-lt"/>
                <a:ea typeface="Times New Roman" panose="02020603050405020304" pitchFamily="18" charset="0"/>
              </a:rPr>
              <a:t> </a:t>
            </a:r>
            <a:r>
              <a:rPr lang="en-US" sz="1600" spc="45" dirty="0">
                <a:solidFill>
                  <a:srgbClr val="0000FF"/>
                </a:solidFill>
                <a:latin typeface="+mn-lt"/>
                <a:ea typeface="Times New Roman" panose="02020603050405020304" pitchFamily="18" charset="0"/>
              </a:rPr>
              <a:t>test</a:t>
            </a:r>
            <a:endParaRPr lang="ru-RU" sz="2800" dirty="0">
              <a:solidFill>
                <a:srgbClr val="0000FF"/>
              </a:solidFill>
              <a:latin typeface="+mn-lt"/>
              <a:ea typeface="Times New Roman" panose="02020603050405020304" pitchFamily="18" charset="0"/>
            </a:endParaRPr>
          </a:p>
          <a:p>
            <a:pPr marR="13335" eaLnBrk="0" hangingPunct="0">
              <a:spcBef>
                <a:spcPts val="235"/>
              </a:spcBef>
              <a:spcAft>
                <a:spcPts val="0"/>
              </a:spcAft>
            </a:pPr>
            <a:r>
              <a:rPr lang="en-US" sz="1050" dirty="0">
                <a:solidFill>
                  <a:srgbClr val="0000FF"/>
                </a:solidFill>
                <a:latin typeface="+mn-lt"/>
                <a:ea typeface="Times New Roman" panose="02020603050405020304" pitchFamily="18" charset="0"/>
              </a:rPr>
              <a:t>5   </a:t>
            </a:r>
            <a:r>
              <a:rPr lang="en-US" sz="1050" spc="75" dirty="0">
                <a:solidFill>
                  <a:srgbClr val="0000FF"/>
                </a:solidFill>
                <a:latin typeface="+mn-lt"/>
                <a:ea typeface="Times New Roman" panose="02020603050405020304" pitchFamily="18" charset="0"/>
              </a:rPr>
              <a:t> </a:t>
            </a:r>
            <a:r>
              <a:rPr lang="en-US" sz="1600" spc="45" dirty="0">
                <a:solidFill>
                  <a:srgbClr val="0000FF"/>
                </a:solidFill>
                <a:latin typeface="+mn-lt"/>
                <a:ea typeface="Times New Roman" panose="02020603050405020304" pitchFamily="18" charset="0"/>
              </a:rPr>
              <a:t>data</a:t>
            </a:r>
            <a:r>
              <a:rPr lang="en-US" sz="1600" spc="-320" dirty="0">
                <a:solidFill>
                  <a:srgbClr val="0000FF"/>
                </a:solidFill>
                <a:latin typeface="+mn-lt"/>
                <a:ea typeface="Times New Roman" panose="02020603050405020304" pitchFamily="18" charset="0"/>
              </a:rPr>
              <a:t> </a:t>
            </a:r>
            <a:r>
              <a:rPr lang="en-US" sz="1600" dirty="0">
                <a:solidFill>
                  <a:srgbClr val="0000FF"/>
                </a:solidFill>
                <a:latin typeface="+mn-lt"/>
                <a:ea typeface="Times New Roman" panose="02020603050405020304" pitchFamily="18" charset="0"/>
              </a:rPr>
              <a:t>:	r</a:t>
            </a:r>
            <a:r>
              <a:rPr lang="en-US" sz="1600" spc="-365" dirty="0">
                <a:solidFill>
                  <a:srgbClr val="0000FF"/>
                </a:solidFill>
                <a:latin typeface="+mn-lt"/>
                <a:ea typeface="Times New Roman" panose="02020603050405020304" pitchFamily="18" charset="0"/>
              </a:rPr>
              <a:t> </a:t>
            </a:r>
            <a:r>
              <a:rPr lang="en-US" sz="1600" dirty="0">
                <a:solidFill>
                  <a:srgbClr val="0000FF"/>
                </a:solidFill>
                <a:latin typeface="+mn-lt"/>
                <a:ea typeface="Times New Roman" panose="02020603050405020304" pitchFamily="18" charset="0"/>
              </a:rPr>
              <a:t>n</a:t>
            </a:r>
            <a:r>
              <a:rPr lang="en-US" sz="1600" spc="-365" dirty="0">
                <a:solidFill>
                  <a:srgbClr val="0000FF"/>
                </a:solidFill>
                <a:latin typeface="+mn-lt"/>
                <a:ea typeface="Times New Roman" panose="02020603050405020304" pitchFamily="18" charset="0"/>
              </a:rPr>
              <a:t> </a:t>
            </a:r>
            <a:r>
              <a:rPr lang="en-US" sz="1600" dirty="0">
                <a:solidFill>
                  <a:srgbClr val="0000FF"/>
                </a:solidFill>
                <a:latin typeface="+mn-lt"/>
                <a:ea typeface="Times New Roman" panose="02020603050405020304" pitchFamily="18" charset="0"/>
              </a:rPr>
              <a:t>o</a:t>
            </a:r>
            <a:r>
              <a:rPr lang="en-US" sz="1600" spc="-365" dirty="0">
                <a:solidFill>
                  <a:srgbClr val="0000FF"/>
                </a:solidFill>
                <a:latin typeface="+mn-lt"/>
                <a:ea typeface="Times New Roman" panose="02020603050405020304" pitchFamily="18" charset="0"/>
              </a:rPr>
              <a:t> </a:t>
            </a:r>
            <a:r>
              <a:rPr lang="en-US" sz="1600" dirty="0">
                <a:solidFill>
                  <a:srgbClr val="0000FF"/>
                </a:solidFill>
                <a:latin typeface="+mn-lt"/>
                <a:ea typeface="Times New Roman" panose="02020603050405020304" pitchFamily="18" charset="0"/>
              </a:rPr>
              <a:t>r</a:t>
            </a:r>
            <a:r>
              <a:rPr lang="en-US" sz="1600" spc="-365" dirty="0">
                <a:solidFill>
                  <a:srgbClr val="0000FF"/>
                </a:solidFill>
                <a:latin typeface="+mn-lt"/>
                <a:ea typeface="Times New Roman" panose="02020603050405020304" pitchFamily="18" charset="0"/>
              </a:rPr>
              <a:t> </a:t>
            </a:r>
            <a:r>
              <a:rPr lang="en-US" sz="1600" dirty="0">
                <a:solidFill>
                  <a:srgbClr val="0000FF"/>
                </a:solidFill>
                <a:latin typeface="+mn-lt"/>
                <a:ea typeface="Times New Roman" panose="02020603050405020304" pitchFamily="18" charset="0"/>
              </a:rPr>
              <a:t>m</a:t>
            </a:r>
            <a:r>
              <a:rPr lang="en-US" sz="1600" spc="-310" dirty="0">
                <a:solidFill>
                  <a:srgbClr val="0000FF"/>
                </a:solidFill>
                <a:latin typeface="+mn-lt"/>
                <a:ea typeface="Times New Roman" panose="02020603050405020304" pitchFamily="18" charset="0"/>
              </a:rPr>
              <a:t> </a:t>
            </a:r>
            <a:r>
              <a:rPr lang="en-US" sz="1600" spc="45" dirty="0">
                <a:solidFill>
                  <a:srgbClr val="0000FF"/>
                </a:solidFill>
                <a:latin typeface="+mn-lt"/>
                <a:ea typeface="Times New Roman" panose="02020603050405020304" pitchFamily="18" charset="0"/>
              </a:rPr>
              <a:t>(100</a:t>
            </a:r>
            <a:r>
              <a:rPr lang="en-US" sz="1600" spc="-320" dirty="0">
                <a:solidFill>
                  <a:srgbClr val="0000FF"/>
                </a:solidFill>
                <a:latin typeface="+mn-lt"/>
                <a:ea typeface="Times New Roman" panose="02020603050405020304" pitchFamily="18" charset="0"/>
              </a:rPr>
              <a:t> </a:t>
            </a:r>
            <a:r>
              <a:rPr lang="en-US" sz="1600" dirty="0">
                <a:solidFill>
                  <a:srgbClr val="0000FF"/>
                </a:solidFill>
                <a:latin typeface="+mn-lt"/>
                <a:ea typeface="Times New Roman" panose="02020603050405020304" pitchFamily="18" charset="0"/>
              </a:rPr>
              <a:t>,</a:t>
            </a:r>
            <a:r>
              <a:rPr lang="en-US" sz="1600" spc="175" dirty="0">
                <a:solidFill>
                  <a:srgbClr val="0000FF"/>
                </a:solidFill>
                <a:latin typeface="+mn-lt"/>
                <a:ea typeface="Times New Roman" panose="02020603050405020304" pitchFamily="18" charset="0"/>
              </a:rPr>
              <a:t> </a:t>
            </a:r>
            <a:r>
              <a:rPr lang="en-US" sz="1600" spc="45" dirty="0">
                <a:solidFill>
                  <a:srgbClr val="0000FF"/>
                </a:solidFill>
                <a:latin typeface="+mn-lt"/>
                <a:ea typeface="Times New Roman" panose="02020603050405020304" pitchFamily="18" charset="0"/>
              </a:rPr>
              <a:t>mean</a:t>
            </a:r>
            <a:r>
              <a:rPr lang="en-US" sz="1600" spc="150" dirty="0">
                <a:solidFill>
                  <a:srgbClr val="0000FF"/>
                </a:solidFill>
                <a:latin typeface="+mn-lt"/>
                <a:ea typeface="Times New Roman" panose="02020603050405020304" pitchFamily="18" charset="0"/>
              </a:rPr>
              <a:t> </a:t>
            </a:r>
            <a:r>
              <a:rPr lang="en-US" sz="1600" dirty="0">
                <a:solidFill>
                  <a:srgbClr val="0000FF"/>
                </a:solidFill>
                <a:latin typeface="+mn-lt"/>
                <a:ea typeface="Times New Roman" panose="02020603050405020304" pitchFamily="18" charset="0"/>
              </a:rPr>
              <a:t>=</a:t>
            </a:r>
            <a:r>
              <a:rPr lang="en-US" sz="1600" spc="130" dirty="0">
                <a:solidFill>
                  <a:srgbClr val="0000FF"/>
                </a:solidFill>
                <a:latin typeface="+mn-lt"/>
                <a:ea typeface="Times New Roman" panose="02020603050405020304" pitchFamily="18" charset="0"/>
              </a:rPr>
              <a:t> </a:t>
            </a:r>
            <a:r>
              <a:rPr lang="en-US" sz="1600" dirty="0">
                <a:solidFill>
                  <a:srgbClr val="0000FF"/>
                </a:solidFill>
                <a:latin typeface="+mn-lt"/>
                <a:ea typeface="Times New Roman" panose="02020603050405020304" pitchFamily="18" charset="0"/>
              </a:rPr>
              <a:t>2</a:t>
            </a:r>
            <a:r>
              <a:rPr lang="en-US" sz="1600" spc="-355" dirty="0">
                <a:solidFill>
                  <a:srgbClr val="0000FF"/>
                </a:solidFill>
                <a:latin typeface="+mn-lt"/>
                <a:ea typeface="Times New Roman" panose="02020603050405020304" pitchFamily="18" charset="0"/>
              </a:rPr>
              <a:t> </a:t>
            </a:r>
            <a:r>
              <a:rPr lang="en-US" sz="1600" dirty="0">
                <a:solidFill>
                  <a:srgbClr val="0000FF"/>
                </a:solidFill>
                <a:latin typeface="+mn-lt"/>
                <a:ea typeface="Times New Roman" panose="02020603050405020304" pitchFamily="18" charset="0"/>
              </a:rPr>
              <a:t>,</a:t>
            </a:r>
            <a:r>
              <a:rPr lang="en-US" sz="1600" spc="140" dirty="0">
                <a:solidFill>
                  <a:srgbClr val="0000FF"/>
                </a:solidFill>
                <a:latin typeface="+mn-lt"/>
                <a:ea typeface="Times New Roman" panose="02020603050405020304" pitchFamily="18" charset="0"/>
              </a:rPr>
              <a:t> </a:t>
            </a:r>
            <a:r>
              <a:rPr lang="en-US" sz="1600" spc="25" dirty="0" err="1">
                <a:solidFill>
                  <a:srgbClr val="0000FF"/>
                </a:solidFill>
                <a:latin typeface="+mn-lt"/>
                <a:ea typeface="Times New Roman" panose="02020603050405020304" pitchFamily="18" charset="0"/>
              </a:rPr>
              <a:t>sd</a:t>
            </a:r>
            <a:r>
              <a:rPr lang="en-US" sz="1600" spc="145" dirty="0">
                <a:solidFill>
                  <a:srgbClr val="0000FF"/>
                </a:solidFill>
                <a:latin typeface="+mn-lt"/>
                <a:ea typeface="Times New Roman" panose="02020603050405020304" pitchFamily="18" charset="0"/>
              </a:rPr>
              <a:t> </a:t>
            </a:r>
            <a:r>
              <a:rPr lang="en-US" sz="1600" dirty="0">
                <a:solidFill>
                  <a:srgbClr val="0000FF"/>
                </a:solidFill>
                <a:latin typeface="+mn-lt"/>
                <a:ea typeface="Times New Roman" panose="02020603050405020304" pitchFamily="18" charset="0"/>
              </a:rPr>
              <a:t>=</a:t>
            </a:r>
            <a:r>
              <a:rPr lang="en-US" sz="1600" spc="145" dirty="0">
                <a:solidFill>
                  <a:srgbClr val="0000FF"/>
                </a:solidFill>
                <a:latin typeface="+mn-lt"/>
                <a:ea typeface="Times New Roman" panose="02020603050405020304" pitchFamily="18" charset="0"/>
              </a:rPr>
              <a:t> </a:t>
            </a:r>
            <a:r>
              <a:rPr lang="en-US" sz="1600" spc="25" dirty="0">
                <a:solidFill>
                  <a:srgbClr val="0000FF"/>
                </a:solidFill>
                <a:latin typeface="+mn-lt"/>
                <a:ea typeface="Times New Roman" panose="02020603050405020304" pitchFamily="18" charset="0"/>
              </a:rPr>
              <a:t>5)</a:t>
            </a:r>
            <a:endParaRPr lang="ru-RU" sz="2800" dirty="0">
              <a:solidFill>
                <a:srgbClr val="0000FF"/>
              </a:solidFill>
              <a:latin typeface="+mn-lt"/>
              <a:ea typeface="Times New Roman" panose="02020603050405020304" pitchFamily="18" charset="0"/>
            </a:endParaRPr>
          </a:p>
          <a:p>
            <a:pPr marR="13335" eaLnBrk="0" hangingPunct="0">
              <a:spcBef>
                <a:spcPts val="40"/>
              </a:spcBef>
              <a:spcAft>
                <a:spcPts val="0"/>
              </a:spcAft>
            </a:pPr>
            <a:r>
              <a:rPr lang="ru-RU" sz="1050" dirty="0">
                <a:solidFill>
                  <a:srgbClr val="0000FF"/>
                </a:solidFill>
                <a:latin typeface="+mn-lt"/>
                <a:ea typeface="Times New Roman" panose="02020603050405020304" pitchFamily="18" charset="0"/>
              </a:rPr>
              <a:t>7   </a:t>
            </a:r>
            <a:r>
              <a:rPr lang="ru-RU" sz="1050" spc="15" dirty="0">
                <a:solidFill>
                  <a:srgbClr val="0000FF"/>
                </a:solidFill>
                <a:latin typeface="+mn-lt"/>
                <a:ea typeface="Times New Roman" panose="02020603050405020304" pitchFamily="18" charset="0"/>
              </a:rPr>
              <a:t> </a:t>
            </a:r>
            <a:r>
              <a:rPr lang="ru-RU" sz="1600" dirty="0">
                <a:solidFill>
                  <a:srgbClr val="0000FF"/>
                </a:solidFill>
                <a:latin typeface="+mn-lt"/>
                <a:ea typeface="Times New Roman" panose="02020603050405020304" pitchFamily="18" charset="0"/>
              </a:rPr>
              <a:t>W</a:t>
            </a:r>
            <a:r>
              <a:rPr lang="ru-RU" sz="1600" spc="145" dirty="0">
                <a:solidFill>
                  <a:srgbClr val="0000FF"/>
                </a:solidFill>
                <a:latin typeface="+mn-lt"/>
                <a:ea typeface="Times New Roman" panose="02020603050405020304" pitchFamily="18" charset="0"/>
              </a:rPr>
              <a:t> </a:t>
            </a:r>
            <a:r>
              <a:rPr lang="ru-RU" sz="1600" dirty="0">
                <a:solidFill>
                  <a:srgbClr val="0000FF"/>
                </a:solidFill>
                <a:latin typeface="+mn-lt"/>
                <a:ea typeface="Times New Roman" panose="02020603050405020304" pitchFamily="18" charset="0"/>
              </a:rPr>
              <a:t>=</a:t>
            </a:r>
            <a:r>
              <a:rPr lang="ru-RU" sz="1600" spc="165" dirty="0">
                <a:solidFill>
                  <a:srgbClr val="0000FF"/>
                </a:solidFill>
                <a:latin typeface="+mn-lt"/>
                <a:ea typeface="Times New Roman" panose="02020603050405020304" pitchFamily="18" charset="0"/>
              </a:rPr>
              <a:t> </a:t>
            </a:r>
            <a:r>
              <a:rPr lang="ru-RU" sz="1600" spc="50" dirty="0">
                <a:solidFill>
                  <a:srgbClr val="0000FF"/>
                </a:solidFill>
                <a:latin typeface="+mn-lt"/>
                <a:ea typeface="Times New Roman" panose="02020603050405020304" pitchFamily="18" charset="0"/>
              </a:rPr>
              <a:t>0.9896</a:t>
            </a:r>
            <a:r>
              <a:rPr lang="ru-RU" sz="1600" spc="-310" dirty="0">
                <a:solidFill>
                  <a:srgbClr val="0000FF"/>
                </a:solidFill>
                <a:latin typeface="+mn-lt"/>
                <a:ea typeface="Times New Roman" panose="02020603050405020304" pitchFamily="18" charset="0"/>
              </a:rPr>
              <a:t> </a:t>
            </a:r>
            <a:r>
              <a:rPr lang="ru-RU" sz="1600" b="1" dirty="0">
                <a:solidFill>
                  <a:srgbClr val="0000FF"/>
                </a:solidFill>
                <a:latin typeface="+mn-lt"/>
                <a:ea typeface="Times New Roman" panose="02020603050405020304" pitchFamily="18" charset="0"/>
              </a:rPr>
              <a:t>,</a:t>
            </a:r>
            <a:r>
              <a:rPr lang="ru-RU" sz="1600" b="1" spc="150" dirty="0">
                <a:solidFill>
                  <a:srgbClr val="0000FF"/>
                </a:solidFill>
                <a:latin typeface="+mn-lt"/>
                <a:ea typeface="Times New Roman" panose="02020603050405020304" pitchFamily="18" charset="0"/>
              </a:rPr>
              <a:t> </a:t>
            </a:r>
            <a:r>
              <a:rPr lang="ru-RU" sz="1600" b="1" dirty="0">
                <a:solidFill>
                  <a:srgbClr val="0000FF"/>
                </a:solidFill>
                <a:latin typeface="+mn-lt"/>
                <a:ea typeface="Times New Roman" panose="02020603050405020304" pitchFamily="18" charset="0"/>
              </a:rPr>
              <a:t>p</a:t>
            </a:r>
            <a:r>
              <a:rPr lang="ru-RU" sz="1600" b="1" spc="-340" dirty="0">
                <a:solidFill>
                  <a:srgbClr val="0000FF"/>
                </a:solidFill>
                <a:latin typeface="+mn-lt"/>
                <a:ea typeface="Times New Roman" panose="02020603050405020304" pitchFamily="18" charset="0"/>
              </a:rPr>
              <a:t> </a:t>
            </a:r>
            <a:r>
              <a:rPr lang="ru-RU" sz="1600" b="1" dirty="0">
                <a:solidFill>
                  <a:srgbClr val="0000FF"/>
                </a:solidFill>
                <a:latin typeface="+mn-lt"/>
                <a:ea typeface="Times New Roman" panose="02020603050405020304" pitchFamily="18" charset="0"/>
              </a:rPr>
              <a:t>-</a:t>
            </a:r>
            <a:r>
              <a:rPr lang="ru-RU" sz="1600" b="1" spc="-325" dirty="0">
                <a:solidFill>
                  <a:srgbClr val="0000FF"/>
                </a:solidFill>
                <a:latin typeface="+mn-lt"/>
                <a:ea typeface="Times New Roman" panose="02020603050405020304" pitchFamily="18" charset="0"/>
              </a:rPr>
              <a:t> </a:t>
            </a:r>
            <a:r>
              <a:rPr lang="ru-RU" sz="1600" b="1" dirty="0">
                <a:solidFill>
                  <a:srgbClr val="0000FF"/>
                </a:solidFill>
                <a:latin typeface="+mn-lt"/>
                <a:ea typeface="Times New Roman" panose="02020603050405020304" pitchFamily="18" charset="0"/>
              </a:rPr>
              <a:t>v</a:t>
            </a:r>
            <a:r>
              <a:rPr lang="ru-RU" sz="1600" b="1" spc="-360" dirty="0">
                <a:solidFill>
                  <a:srgbClr val="0000FF"/>
                </a:solidFill>
                <a:latin typeface="+mn-lt"/>
                <a:ea typeface="Times New Roman" panose="02020603050405020304" pitchFamily="18" charset="0"/>
              </a:rPr>
              <a:t> </a:t>
            </a:r>
            <a:r>
              <a:rPr lang="ru-RU" sz="1600" b="1" dirty="0">
                <a:solidFill>
                  <a:srgbClr val="0000FF"/>
                </a:solidFill>
                <a:latin typeface="+mn-lt"/>
                <a:ea typeface="Times New Roman" panose="02020603050405020304" pitchFamily="18" charset="0"/>
              </a:rPr>
              <a:t>a</a:t>
            </a:r>
            <a:r>
              <a:rPr lang="ru-RU" sz="1600" b="1" spc="-365" dirty="0">
                <a:solidFill>
                  <a:srgbClr val="0000FF"/>
                </a:solidFill>
                <a:latin typeface="+mn-lt"/>
                <a:ea typeface="Times New Roman" panose="02020603050405020304" pitchFamily="18" charset="0"/>
              </a:rPr>
              <a:t> </a:t>
            </a:r>
            <a:r>
              <a:rPr lang="ru-RU" sz="1600" b="1" dirty="0">
                <a:solidFill>
                  <a:srgbClr val="0000FF"/>
                </a:solidFill>
                <a:latin typeface="+mn-lt"/>
                <a:ea typeface="Times New Roman" panose="02020603050405020304" pitchFamily="18" charset="0"/>
              </a:rPr>
              <a:t>l</a:t>
            </a:r>
            <a:r>
              <a:rPr lang="ru-RU" sz="1600" b="1" spc="-365" dirty="0">
                <a:solidFill>
                  <a:srgbClr val="0000FF"/>
                </a:solidFill>
                <a:latin typeface="+mn-lt"/>
                <a:ea typeface="Times New Roman" panose="02020603050405020304" pitchFamily="18" charset="0"/>
              </a:rPr>
              <a:t> </a:t>
            </a:r>
            <a:r>
              <a:rPr lang="ru-RU" sz="1600" b="1" dirty="0">
                <a:solidFill>
                  <a:srgbClr val="0000FF"/>
                </a:solidFill>
                <a:latin typeface="+mn-lt"/>
                <a:ea typeface="Times New Roman" panose="02020603050405020304" pitchFamily="18" charset="0"/>
              </a:rPr>
              <a:t>u</a:t>
            </a:r>
            <a:r>
              <a:rPr lang="ru-RU" sz="1600" b="1" spc="-365" dirty="0">
                <a:solidFill>
                  <a:srgbClr val="0000FF"/>
                </a:solidFill>
                <a:latin typeface="+mn-lt"/>
                <a:ea typeface="Times New Roman" panose="02020603050405020304" pitchFamily="18" charset="0"/>
              </a:rPr>
              <a:t> </a:t>
            </a:r>
            <a:r>
              <a:rPr lang="ru-RU" sz="1600" b="1" dirty="0">
                <a:solidFill>
                  <a:srgbClr val="0000FF"/>
                </a:solidFill>
                <a:latin typeface="+mn-lt"/>
                <a:ea typeface="Times New Roman" panose="02020603050405020304" pitchFamily="18" charset="0"/>
              </a:rPr>
              <a:t>e</a:t>
            </a:r>
            <a:r>
              <a:rPr lang="ru-RU" sz="1600" b="1" spc="170" dirty="0">
                <a:solidFill>
                  <a:srgbClr val="0000FF"/>
                </a:solidFill>
                <a:latin typeface="+mn-lt"/>
                <a:ea typeface="Times New Roman" panose="02020603050405020304" pitchFamily="18" charset="0"/>
              </a:rPr>
              <a:t> </a:t>
            </a:r>
            <a:r>
              <a:rPr lang="ru-RU" sz="1600" b="1" dirty="0">
                <a:solidFill>
                  <a:srgbClr val="0000FF"/>
                </a:solidFill>
                <a:latin typeface="+mn-lt"/>
                <a:ea typeface="Times New Roman" panose="02020603050405020304" pitchFamily="18" charset="0"/>
              </a:rPr>
              <a:t>=</a:t>
            </a:r>
            <a:r>
              <a:rPr lang="ru-RU" sz="1600" b="1" spc="170" dirty="0">
                <a:solidFill>
                  <a:srgbClr val="0000FF"/>
                </a:solidFill>
                <a:latin typeface="+mn-lt"/>
                <a:ea typeface="Times New Roman" panose="02020603050405020304" pitchFamily="18" charset="0"/>
              </a:rPr>
              <a:t> </a:t>
            </a:r>
            <a:r>
              <a:rPr lang="ru-RU" sz="1600" b="1" dirty="0">
                <a:solidFill>
                  <a:srgbClr val="0000FF"/>
                </a:solidFill>
                <a:latin typeface="+mn-lt"/>
                <a:ea typeface="Times New Roman" panose="02020603050405020304" pitchFamily="18" charset="0"/>
              </a:rPr>
              <a:t>0</a:t>
            </a:r>
            <a:r>
              <a:rPr lang="ru-RU" sz="1600" b="1" spc="-365" dirty="0">
                <a:solidFill>
                  <a:srgbClr val="0000FF"/>
                </a:solidFill>
                <a:latin typeface="+mn-lt"/>
                <a:ea typeface="Times New Roman" panose="02020603050405020304" pitchFamily="18" charset="0"/>
              </a:rPr>
              <a:t> </a:t>
            </a:r>
            <a:r>
              <a:rPr lang="ru-RU" sz="1600" b="1" dirty="0">
                <a:solidFill>
                  <a:srgbClr val="0000FF"/>
                </a:solidFill>
                <a:latin typeface="+mn-lt"/>
                <a:ea typeface="Times New Roman" panose="02020603050405020304" pitchFamily="18" charset="0"/>
              </a:rPr>
              <a:t>.</a:t>
            </a:r>
            <a:r>
              <a:rPr lang="ru-RU" sz="1600" b="1" spc="-365" dirty="0">
                <a:solidFill>
                  <a:srgbClr val="0000FF"/>
                </a:solidFill>
                <a:latin typeface="+mn-lt"/>
                <a:ea typeface="Times New Roman" panose="02020603050405020304" pitchFamily="18" charset="0"/>
              </a:rPr>
              <a:t> </a:t>
            </a:r>
            <a:r>
              <a:rPr lang="ru-RU" sz="1600" b="1" dirty="0">
                <a:solidFill>
                  <a:srgbClr val="0000FF"/>
                </a:solidFill>
                <a:latin typeface="+mn-lt"/>
                <a:ea typeface="Times New Roman" panose="02020603050405020304" pitchFamily="18" charset="0"/>
              </a:rPr>
              <a:t>6</a:t>
            </a:r>
            <a:r>
              <a:rPr lang="ru-RU" sz="1600" b="1" spc="-360" dirty="0">
                <a:solidFill>
                  <a:srgbClr val="0000FF"/>
                </a:solidFill>
                <a:latin typeface="+mn-lt"/>
                <a:ea typeface="Times New Roman" panose="02020603050405020304" pitchFamily="18" charset="0"/>
              </a:rPr>
              <a:t> </a:t>
            </a:r>
            <a:r>
              <a:rPr lang="ru-RU" sz="1600" b="1" dirty="0">
                <a:solidFill>
                  <a:srgbClr val="0000FF"/>
                </a:solidFill>
                <a:latin typeface="+mn-lt"/>
                <a:ea typeface="Times New Roman" panose="02020603050405020304" pitchFamily="18" charset="0"/>
              </a:rPr>
              <a:t>3</a:t>
            </a:r>
            <a:r>
              <a:rPr lang="ru-RU" sz="1600" b="1" spc="-365" dirty="0">
                <a:solidFill>
                  <a:srgbClr val="0000FF"/>
                </a:solidFill>
                <a:latin typeface="+mn-lt"/>
                <a:ea typeface="Times New Roman" panose="02020603050405020304" pitchFamily="18" charset="0"/>
              </a:rPr>
              <a:t> </a:t>
            </a:r>
            <a:r>
              <a:rPr lang="ru-RU" sz="1600" b="1" dirty="0">
                <a:solidFill>
                  <a:srgbClr val="0000FF"/>
                </a:solidFill>
                <a:latin typeface="+mn-lt"/>
                <a:ea typeface="Times New Roman" panose="02020603050405020304" pitchFamily="18" charset="0"/>
              </a:rPr>
              <a:t>0</a:t>
            </a:r>
            <a:r>
              <a:rPr lang="ru-RU" sz="1600" b="1" spc="-365" dirty="0">
                <a:solidFill>
                  <a:srgbClr val="0000FF"/>
                </a:solidFill>
                <a:latin typeface="+mn-lt"/>
                <a:ea typeface="Times New Roman" panose="02020603050405020304" pitchFamily="18" charset="0"/>
              </a:rPr>
              <a:t> </a:t>
            </a:r>
            <a:r>
              <a:rPr lang="ru-RU" sz="1600" b="1" dirty="0">
                <a:solidFill>
                  <a:srgbClr val="0000FF"/>
                </a:solidFill>
                <a:latin typeface="+mn-lt"/>
                <a:ea typeface="Times New Roman" panose="02020603050405020304" pitchFamily="18" charset="0"/>
              </a:rPr>
              <a:t>3</a:t>
            </a:r>
            <a:endParaRPr lang="ru-RU" sz="2800" b="1" dirty="0">
              <a:solidFill>
                <a:srgbClr val="0000FF"/>
              </a:solidFill>
              <a:latin typeface="+mn-lt"/>
              <a:ea typeface="Times New Roman" panose="02020603050405020304" pitchFamily="18" charset="0"/>
            </a:endParaRPr>
          </a:p>
          <a:p>
            <a:pPr marR="13335" eaLnBrk="0" hangingPunct="0">
              <a:spcBef>
                <a:spcPts val="235"/>
              </a:spcBef>
              <a:spcAft>
                <a:spcPts val="0"/>
              </a:spcAft>
            </a:pPr>
            <a:r>
              <a:rPr lang="ru-RU" sz="1050" dirty="0">
                <a:solidFill>
                  <a:srgbClr val="0000FF"/>
                </a:solidFill>
                <a:latin typeface="+mn-lt"/>
                <a:ea typeface="Times New Roman" panose="02020603050405020304" pitchFamily="18" charset="0"/>
              </a:rPr>
              <a:t>8</a:t>
            </a:r>
            <a:endParaRPr lang="ru-RU" sz="2800" dirty="0">
              <a:solidFill>
                <a:srgbClr val="0000FF"/>
              </a:solidFill>
              <a:latin typeface="+mn-lt"/>
              <a:ea typeface="Times New Roman" panose="02020603050405020304" pitchFamily="18" charset="0"/>
            </a:endParaRPr>
          </a:p>
          <a:p>
            <a:pPr marL="342900" marR="13335" indent="-342900" eaLnBrk="0" hangingPunct="0">
              <a:spcBef>
                <a:spcPts val="175"/>
              </a:spcBef>
              <a:spcAft>
                <a:spcPts val="0"/>
              </a:spcAft>
              <a:buClr>
                <a:srgbClr val="7F7F7F"/>
              </a:buClr>
              <a:buSzPts val="500"/>
              <a:buFont typeface="+mj-lt"/>
              <a:buAutoNum type="arabicPeriod" startAt="9"/>
              <a:tabLst>
                <a:tab pos="704850" algn="l"/>
              </a:tabLst>
            </a:pPr>
            <a:r>
              <a:rPr lang="ru-RU" sz="1600" dirty="0">
                <a:solidFill>
                  <a:srgbClr val="0000FF"/>
                </a:solidFill>
                <a:latin typeface="+mn-lt"/>
                <a:ea typeface="Times New Roman" panose="02020603050405020304" pitchFamily="18" charset="0"/>
              </a:rPr>
              <a:t>&gt;</a:t>
            </a:r>
            <a:r>
              <a:rPr lang="ru-RU" sz="1600" spc="90" dirty="0">
                <a:solidFill>
                  <a:srgbClr val="0000FF"/>
                </a:solidFill>
                <a:latin typeface="+mn-lt"/>
                <a:ea typeface="Times New Roman" panose="02020603050405020304" pitchFamily="18" charset="0"/>
              </a:rPr>
              <a:t> </a:t>
            </a:r>
            <a:r>
              <a:rPr lang="ru-RU" sz="1600" spc="40" dirty="0" err="1">
                <a:solidFill>
                  <a:srgbClr val="0000FF"/>
                </a:solidFill>
                <a:latin typeface="+mn-lt"/>
                <a:ea typeface="Times New Roman" panose="02020603050405020304" pitchFamily="18" charset="0"/>
              </a:rPr>
              <a:t>set</a:t>
            </a:r>
            <a:r>
              <a:rPr lang="ru-RU" sz="1600" spc="-340" dirty="0">
                <a:solidFill>
                  <a:srgbClr val="0000FF"/>
                </a:solidFill>
                <a:latin typeface="+mn-lt"/>
                <a:ea typeface="Times New Roman" panose="02020603050405020304" pitchFamily="18" charset="0"/>
              </a:rPr>
              <a:t> </a:t>
            </a:r>
            <a:r>
              <a:rPr lang="ru-RU" sz="1600" dirty="0">
                <a:solidFill>
                  <a:srgbClr val="0000FF"/>
                </a:solidFill>
                <a:latin typeface="+mn-lt"/>
                <a:ea typeface="Times New Roman" panose="02020603050405020304" pitchFamily="18" charset="0"/>
              </a:rPr>
              <a:t>.</a:t>
            </a:r>
            <a:r>
              <a:rPr lang="ru-RU" sz="1600" spc="-340" dirty="0">
                <a:solidFill>
                  <a:srgbClr val="0000FF"/>
                </a:solidFill>
                <a:latin typeface="+mn-lt"/>
                <a:ea typeface="Times New Roman" panose="02020603050405020304" pitchFamily="18" charset="0"/>
              </a:rPr>
              <a:t> </a:t>
            </a:r>
            <a:r>
              <a:rPr lang="ru-RU" sz="1600" spc="45" dirty="0" err="1">
                <a:solidFill>
                  <a:srgbClr val="0000FF"/>
                </a:solidFill>
                <a:latin typeface="+mn-lt"/>
                <a:ea typeface="Times New Roman" panose="02020603050405020304" pitchFamily="18" charset="0"/>
              </a:rPr>
              <a:t>seed</a:t>
            </a:r>
            <a:r>
              <a:rPr lang="ru-RU" sz="1600" spc="-315" dirty="0">
                <a:solidFill>
                  <a:srgbClr val="0000FF"/>
                </a:solidFill>
                <a:latin typeface="+mn-lt"/>
                <a:ea typeface="Times New Roman" panose="02020603050405020304" pitchFamily="18" charset="0"/>
              </a:rPr>
              <a:t> </a:t>
            </a:r>
            <a:r>
              <a:rPr lang="ru-RU" sz="1600" spc="40" dirty="0">
                <a:solidFill>
                  <a:srgbClr val="0000FF"/>
                </a:solidFill>
                <a:latin typeface="+mn-lt"/>
                <a:ea typeface="Times New Roman" panose="02020603050405020304" pitchFamily="18" charset="0"/>
              </a:rPr>
              <a:t>(0)</a:t>
            </a:r>
            <a:endParaRPr lang="ru-RU" sz="2800" dirty="0">
              <a:solidFill>
                <a:srgbClr val="0000FF"/>
              </a:solidFill>
              <a:latin typeface="+mn-lt"/>
              <a:ea typeface="Times New Roman" panose="02020603050405020304" pitchFamily="18" charset="0"/>
            </a:endParaRPr>
          </a:p>
          <a:p>
            <a:pPr marL="342900" marR="13335" indent="-342900" eaLnBrk="0" hangingPunct="0">
              <a:spcBef>
                <a:spcPts val="40"/>
              </a:spcBef>
              <a:spcAft>
                <a:spcPts val="0"/>
              </a:spcAft>
              <a:buClr>
                <a:srgbClr val="7F7F7F"/>
              </a:buClr>
              <a:buSzPts val="500"/>
              <a:buFont typeface="+mj-lt"/>
              <a:buAutoNum type="arabicPeriod" startAt="9"/>
              <a:tabLst>
                <a:tab pos="704850" algn="l"/>
              </a:tabLst>
            </a:pPr>
            <a:r>
              <a:rPr lang="en-US" sz="1600" dirty="0">
                <a:solidFill>
                  <a:srgbClr val="0000FF"/>
                </a:solidFill>
                <a:latin typeface="+mn-lt"/>
                <a:ea typeface="Times New Roman" panose="02020603050405020304" pitchFamily="18" charset="0"/>
              </a:rPr>
              <a:t>&gt;</a:t>
            </a:r>
            <a:r>
              <a:rPr lang="en-US" sz="1600" spc="135" dirty="0">
                <a:solidFill>
                  <a:srgbClr val="0000FF"/>
                </a:solidFill>
                <a:latin typeface="+mn-lt"/>
                <a:ea typeface="Times New Roman" panose="02020603050405020304" pitchFamily="18" charset="0"/>
              </a:rPr>
              <a:t> </a:t>
            </a:r>
            <a:r>
              <a:rPr lang="en-US" sz="1600" dirty="0">
                <a:solidFill>
                  <a:srgbClr val="0000FF"/>
                </a:solidFill>
                <a:latin typeface="+mn-lt"/>
                <a:ea typeface="Times New Roman" panose="02020603050405020304" pitchFamily="18" charset="0"/>
              </a:rPr>
              <a:t>s</a:t>
            </a:r>
            <a:r>
              <a:rPr lang="en-US" sz="1600" spc="-365" dirty="0">
                <a:solidFill>
                  <a:srgbClr val="0000FF"/>
                </a:solidFill>
                <a:latin typeface="+mn-lt"/>
                <a:ea typeface="Times New Roman" panose="02020603050405020304" pitchFamily="18" charset="0"/>
              </a:rPr>
              <a:t> </a:t>
            </a:r>
            <a:r>
              <a:rPr lang="en-US" sz="1600" dirty="0">
                <a:solidFill>
                  <a:srgbClr val="0000FF"/>
                </a:solidFill>
                <a:latin typeface="+mn-lt"/>
                <a:ea typeface="Times New Roman" panose="02020603050405020304" pitchFamily="18" charset="0"/>
              </a:rPr>
              <a:t>h</a:t>
            </a:r>
            <a:r>
              <a:rPr lang="en-US" sz="1600" spc="-365" dirty="0">
                <a:solidFill>
                  <a:srgbClr val="0000FF"/>
                </a:solidFill>
                <a:latin typeface="+mn-lt"/>
                <a:ea typeface="Times New Roman" panose="02020603050405020304" pitchFamily="18" charset="0"/>
              </a:rPr>
              <a:t> </a:t>
            </a:r>
            <a:r>
              <a:rPr lang="en-US" sz="1600" dirty="0">
                <a:solidFill>
                  <a:srgbClr val="0000FF"/>
                </a:solidFill>
                <a:latin typeface="+mn-lt"/>
                <a:ea typeface="Times New Roman" panose="02020603050405020304" pitchFamily="18" charset="0"/>
              </a:rPr>
              <a:t>a</a:t>
            </a:r>
            <a:r>
              <a:rPr lang="en-US" sz="1600" spc="-370" dirty="0">
                <a:solidFill>
                  <a:srgbClr val="0000FF"/>
                </a:solidFill>
                <a:latin typeface="+mn-lt"/>
                <a:ea typeface="Times New Roman" panose="02020603050405020304" pitchFamily="18" charset="0"/>
              </a:rPr>
              <a:t> </a:t>
            </a:r>
            <a:r>
              <a:rPr lang="en-US" sz="1600" dirty="0">
                <a:solidFill>
                  <a:srgbClr val="0000FF"/>
                </a:solidFill>
                <a:latin typeface="+mn-lt"/>
                <a:ea typeface="Times New Roman" panose="02020603050405020304" pitchFamily="18" charset="0"/>
              </a:rPr>
              <a:t>p</a:t>
            </a:r>
            <a:r>
              <a:rPr lang="en-US" sz="1600" spc="-365" dirty="0">
                <a:solidFill>
                  <a:srgbClr val="0000FF"/>
                </a:solidFill>
                <a:latin typeface="+mn-lt"/>
                <a:ea typeface="Times New Roman" panose="02020603050405020304" pitchFamily="18" charset="0"/>
              </a:rPr>
              <a:t> </a:t>
            </a:r>
            <a:r>
              <a:rPr lang="en-US" sz="1600" dirty="0" err="1">
                <a:solidFill>
                  <a:srgbClr val="0000FF"/>
                </a:solidFill>
                <a:latin typeface="+mn-lt"/>
                <a:ea typeface="Times New Roman" panose="02020603050405020304" pitchFamily="18" charset="0"/>
              </a:rPr>
              <a:t>i</a:t>
            </a:r>
            <a:r>
              <a:rPr lang="en-US" sz="1600" spc="-365" dirty="0">
                <a:solidFill>
                  <a:srgbClr val="0000FF"/>
                </a:solidFill>
                <a:latin typeface="+mn-lt"/>
                <a:ea typeface="Times New Roman" panose="02020603050405020304" pitchFamily="18" charset="0"/>
              </a:rPr>
              <a:t> </a:t>
            </a:r>
            <a:r>
              <a:rPr lang="en-US" sz="1600" dirty="0">
                <a:solidFill>
                  <a:srgbClr val="0000FF"/>
                </a:solidFill>
                <a:latin typeface="+mn-lt"/>
                <a:ea typeface="Times New Roman" panose="02020603050405020304" pitchFamily="18" charset="0"/>
              </a:rPr>
              <a:t>r</a:t>
            </a:r>
            <a:r>
              <a:rPr lang="en-US" sz="1600" spc="-370" dirty="0">
                <a:solidFill>
                  <a:srgbClr val="0000FF"/>
                </a:solidFill>
                <a:latin typeface="+mn-lt"/>
                <a:ea typeface="Times New Roman" panose="02020603050405020304" pitchFamily="18" charset="0"/>
              </a:rPr>
              <a:t> </a:t>
            </a:r>
            <a:r>
              <a:rPr lang="en-US" sz="1600" dirty="0">
                <a:solidFill>
                  <a:srgbClr val="0000FF"/>
                </a:solidFill>
                <a:latin typeface="+mn-lt"/>
                <a:ea typeface="Times New Roman" panose="02020603050405020304" pitchFamily="18" charset="0"/>
              </a:rPr>
              <a:t>o</a:t>
            </a:r>
            <a:r>
              <a:rPr lang="en-US" sz="1600" spc="-325" dirty="0">
                <a:solidFill>
                  <a:srgbClr val="0000FF"/>
                </a:solidFill>
                <a:latin typeface="+mn-lt"/>
                <a:ea typeface="Times New Roman" panose="02020603050405020304" pitchFamily="18" charset="0"/>
              </a:rPr>
              <a:t> </a:t>
            </a:r>
            <a:r>
              <a:rPr lang="en-US" sz="1600" dirty="0">
                <a:solidFill>
                  <a:srgbClr val="0000FF"/>
                </a:solidFill>
                <a:latin typeface="+mn-lt"/>
                <a:ea typeface="Times New Roman" panose="02020603050405020304" pitchFamily="18" charset="0"/>
              </a:rPr>
              <a:t>.</a:t>
            </a:r>
            <a:r>
              <a:rPr lang="en-US" sz="1600" spc="-325" dirty="0">
                <a:solidFill>
                  <a:srgbClr val="0000FF"/>
                </a:solidFill>
                <a:latin typeface="+mn-lt"/>
                <a:ea typeface="Times New Roman" panose="02020603050405020304" pitchFamily="18" charset="0"/>
              </a:rPr>
              <a:t> </a:t>
            </a:r>
            <a:r>
              <a:rPr lang="en-US" sz="1600" spc="45" dirty="0">
                <a:solidFill>
                  <a:srgbClr val="0000FF"/>
                </a:solidFill>
                <a:latin typeface="+mn-lt"/>
                <a:ea typeface="Times New Roman" panose="02020603050405020304" pitchFamily="18" charset="0"/>
              </a:rPr>
              <a:t>test</a:t>
            </a:r>
            <a:r>
              <a:rPr lang="en-US" sz="1600" spc="-330" dirty="0">
                <a:solidFill>
                  <a:srgbClr val="0000FF"/>
                </a:solidFill>
                <a:latin typeface="+mn-lt"/>
                <a:ea typeface="Times New Roman" panose="02020603050405020304" pitchFamily="18" charset="0"/>
              </a:rPr>
              <a:t> </a:t>
            </a:r>
            <a:r>
              <a:rPr lang="en-US" sz="1600" dirty="0">
                <a:solidFill>
                  <a:srgbClr val="0000FF"/>
                </a:solidFill>
                <a:latin typeface="+mn-lt"/>
                <a:ea typeface="Times New Roman" panose="02020603050405020304" pitchFamily="18" charset="0"/>
              </a:rPr>
              <a:t>(</a:t>
            </a:r>
            <a:r>
              <a:rPr lang="en-US" sz="1600" spc="-330" dirty="0">
                <a:solidFill>
                  <a:srgbClr val="0000FF"/>
                </a:solidFill>
                <a:latin typeface="+mn-lt"/>
                <a:ea typeface="Times New Roman" panose="02020603050405020304" pitchFamily="18" charset="0"/>
              </a:rPr>
              <a:t> </a:t>
            </a:r>
            <a:r>
              <a:rPr lang="en-US" sz="1600" dirty="0">
                <a:solidFill>
                  <a:srgbClr val="0000FF"/>
                </a:solidFill>
                <a:latin typeface="+mn-lt"/>
                <a:ea typeface="Times New Roman" panose="02020603050405020304" pitchFamily="18" charset="0"/>
              </a:rPr>
              <a:t>r</a:t>
            </a:r>
            <a:r>
              <a:rPr lang="en-US" sz="1600" spc="-365" dirty="0">
                <a:solidFill>
                  <a:srgbClr val="0000FF"/>
                </a:solidFill>
                <a:latin typeface="+mn-lt"/>
                <a:ea typeface="Times New Roman" panose="02020603050405020304" pitchFamily="18" charset="0"/>
              </a:rPr>
              <a:t> </a:t>
            </a:r>
            <a:r>
              <a:rPr lang="en-US" sz="1600" dirty="0">
                <a:solidFill>
                  <a:srgbClr val="0000FF"/>
                </a:solidFill>
                <a:latin typeface="+mn-lt"/>
                <a:ea typeface="Times New Roman" panose="02020603050405020304" pitchFamily="18" charset="0"/>
              </a:rPr>
              <a:t>u</a:t>
            </a:r>
            <a:r>
              <a:rPr lang="en-US" sz="1600" spc="-370" dirty="0">
                <a:solidFill>
                  <a:srgbClr val="0000FF"/>
                </a:solidFill>
                <a:latin typeface="+mn-lt"/>
                <a:ea typeface="Times New Roman" panose="02020603050405020304" pitchFamily="18" charset="0"/>
              </a:rPr>
              <a:t> </a:t>
            </a:r>
            <a:r>
              <a:rPr lang="en-US" sz="1600" dirty="0">
                <a:solidFill>
                  <a:srgbClr val="0000FF"/>
                </a:solidFill>
                <a:latin typeface="+mn-lt"/>
                <a:ea typeface="Times New Roman" panose="02020603050405020304" pitchFamily="18" charset="0"/>
              </a:rPr>
              <a:t>n</a:t>
            </a:r>
            <a:r>
              <a:rPr lang="en-US" sz="1600" spc="-365" dirty="0">
                <a:solidFill>
                  <a:srgbClr val="0000FF"/>
                </a:solidFill>
                <a:latin typeface="+mn-lt"/>
                <a:ea typeface="Times New Roman" panose="02020603050405020304" pitchFamily="18" charset="0"/>
              </a:rPr>
              <a:t> </a:t>
            </a:r>
            <a:r>
              <a:rPr lang="en-US" sz="1600" dirty="0" err="1">
                <a:solidFill>
                  <a:srgbClr val="0000FF"/>
                </a:solidFill>
                <a:latin typeface="+mn-lt"/>
                <a:ea typeface="Times New Roman" panose="02020603050405020304" pitchFamily="18" charset="0"/>
              </a:rPr>
              <a:t>i</a:t>
            </a:r>
            <a:r>
              <a:rPr lang="en-US" sz="1600" spc="-365" dirty="0">
                <a:solidFill>
                  <a:srgbClr val="0000FF"/>
                </a:solidFill>
                <a:latin typeface="+mn-lt"/>
                <a:ea typeface="Times New Roman" panose="02020603050405020304" pitchFamily="18" charset="0"/>
              </a:rPr>
              <a:t> </a:t>
            </a:r>
            <a:r>
              <a:rPr lang="en-US" sz="1600" dirty="0">
                <a:solidFill>
                  <a:srgbClr val="0000FF"/>
                </a:solidFill>
                <a:latin typeface="+mn-lt"/>
                <a:ea typeface="Times New Roman" panose="02020603050405020304" pitchFamily="18" charset="0"/>
              </a:rPr>
              <a:t>f</a:t>
            </a:r>
            <a:r>
              <a:rPr lang="en-US" sz="1600" spc="-310" dirty="0">
                <a:solidFill>
                  <a:srgbClr val="0000FF"/>
                </a:solidFill>
                <a:latin typeface="+mn-lt"/>
                <a:ea typeface="Times New Roman" panose="02020603050405020304" pitchFamily="18" charset="0"/>
              </a:rPr>
              <a:t> </a:t>
            </a:r>
            <a:r>
              <a:rPr lang="en-US" sz="1600" spc="45" dirty="0">
                <a:solidFill>
                  <a:srgbClr val="0000FF"/>
                </a:solidFill>
                <a:latin typeface="+mn-lt"/>
                <a:ea typeface="Times New Roman" panose="02020603050405020304" pitchFamily="18" charset="0"/>
              </a:rPr>
              <a:t>(100</a:t>
            </a:r>
            <a:r>
              <a:rPr lang="en-US" sz="1600" spc="-320" dirty="0">
                <a:solidFill>
                  <a:srgbClr val="0000FF"/>
                </a:solidFill>
                <a:latin typeface="+mn-lt"/>
                <a:ea typeface="Times New Roman" panose="02020603050405020304" pitchFamily="18" charset="0"/>
              </a:rPr>
              <a:t> </a:t>
            </a:r>
            <a:r>
              <a:rPr lang="en-US" sz="1600" dirty="0">
                <a:solidFill>
                  <a:srgbClr val="0000FF"/>
                </a:solidFill>
                <a:latin typeface="+mn-lt"/>
                <a:ea typeface="Times New Roman" panose="02020603050405020304" pitchFamily="18" charset="0"/>
              </a:rPr>
              <a:t>,</a:t>
            </a:r>
            <a:r>
              <a:rPr lang="en-US" sz="1600" spc="155" dirty="0">
                <a:solidFill>
                  <a:srgbClr val="0000FF"/>
                </a:solidFill>
                <a:latin typeface="+mn-lt"/>
                <a:ea typeface="Times New Roman" panose="02020603050405020304" pitchFamily="18" charset="0"/>
              </a:rPr>
              <a:t> </a:t>
            </a:r>
            <a:r>
              <a:rPr lang="en-US" sz="1600" spc="40" dirty="0">
                <a:solidFill>
                  <a:srgbClr val="0000FF"/>
                </a:solidFill>
                <a:latin typeface="+mn-lt"/>
                <a:ea typeface="Times New Roman" panose="02020603050405020304" pitchFamily="18" charset="0"/>
              </a:rPr>
              <a:t>min</a:t>
            </a:r>
            <a:r>
              <a:rPr lang="en-US" sz="1600" spc="140" dirty="0">
                <a:solidFill>
                  <a:srgbClr val="0000FF"/>
                </a:solidFill>
                <a:latin typeface="+mn-lt"/>
                <a:ea typeface="Times New Roman" panose="02020603050405020304" pitchFamily="18" charset="0"/>
              </a:rPr>
              <a:t> </a:t>
            </a:r>
            <a:r>
              <a:rPr lang="en-US" sz="1600" dirty="0">
                <a:solidFill>
                  <a:srgbClr val="0000FF"/>
                </a:solidFill>
                <a:latin typeface="+mn-lt"/>
                <a:ea typeface="Times New Roman" panose="02020603050405020304" pitchFamily="18" charset="0"/>
              </a:rPr>
              <a:t>=</a:t>
            </a:r>
            <a:r>
              <a:rPr lang="en-US" sz="1600" spc="170" dirty="0">
                <a:solidFill>
                  <a:srgbClr val="0000FF"/>
                </a:solidFill>
                <a:latin typeface="+mn-lt"/>
                <a:ea typeface="Times New Roman" panose="02020603050405020304" pitchFamily="18" charset="0"/>
              </a:rPr>
              <a:t> </a:t>
            </a:r>
            <a:r>
              <a:rPr lang="en-US" sz="1600" spc="30" dirty="0">
                <a:solidFill>
                  <a:srgbClr val="0000FF"/>
                </a:solidFill>
                <a:latin typeface="+mn-lt"/>
                <a:ea typeface="Times New Roman" panose="02020603050405020304" pitchFamily="18" charset="0"/>
              </a:rPr>
              <a:t>-10</a:t>
            </a:r>
            <a:r>
              <a:rPr lang="en-US" sz="1600" spc="-340" dirty="0">
                <a:solidFill>
                  <a:srgbClr val="0000FF"/>
                </a:solidFill>
                <a:latin typeface="+mn-lt"/>
                <a:ea typeface="Times New Roman" panose="02020603050405020304" pitchFamily="18" charset="0"/>
              </a:rPr>
              <a:t> </a:t>
            </a:r>
            <a:r>
              <a:rPr lang="en-US" sz="1600" dirty="0">
                <a:solidFill>
                  <a:srgbClr val="0000FF"/>
                </a:solidFill>
                <a:latin typeface="+mn-lt"/>
                <a:ea typeface="Times New Roman" panose="02020603050405020304" pitchFamily="18" charset="0"/>
              </a:rPr>
              <a:t>,</a:t>
            </a:r>
            <a:r>
              <a:rPr lang="en-US" sz="1600" spc="145" dirty="0">
                <a:solidFill>
                  <a:srgbClr val="0000FF"/>
                </a:solidFill>
                <a:latin typeface="+mn-lt"/>
                <a:ea typeface="Times New Roman" panose="02020603050405020304" pitchFamily="18" charset="0"/>
              </a:rPr>
              <a:t> </a:t>
            </a:r>
            <a:r>
              <a:rPr lang="en-US" sz="1600" spc="40" dirty="0">
                <a:solidFill>
                  <a:srgbClr val="0000FF"/>
                </a:solidFill>
                <a:latin typeface="+mn-lt"/>
                <a:ea typeface="Times New Roman" panose="02020603050405020304" pitchFamily="18" charset="0"/>
              </a:rPr>
              <a:t>max</a:t>
            </a:r>
            <a:r>
              <a:rPr lang="en-US" sz="1600" spc="140" dirty="0">
                <a:solidFill>
                  <a:srgbClr val="0000FF"/>
                </a:solidFill>
                <a:latin typeface="+mn-lt"/>
                <a:ea typeface="Times New Roman" panose="02020603050405020304" pitchFamily="18" charset="0"/>
              </a:rPr>
              <a:t> </a:t>
            </a:r>
            <a:r>
              <a:rPr lang="en-US" sz="1600" dirty="0">
                <a:solidFill>
                  <a:srgbClr val="0000FF"/>
                </a:solidFill>
                <a:latin typeface="+mn-lt"/>
                <a:ea typeface="Times New Roman" panose="02020603050405020304" pitchFamily="18" charset="0"/>
              </a:rPr>
              <a:t>=</a:t>
            </a:r>
            <a:r>
              <a:rPr lang="en-US" sz="1600" spc="135" dirty="0">
                <a:solidFill>
                  <a:srgbClr val="0000FF"/>
                </a:solidFill>
                <a:latin typeface="+mn-lt"/>
                <a:ea typeface="Times New Roman" panose="02020603050405020304" pitchFamily="18" charset="0"/>
              </a:rPr>
              <a:t> </a:t>
            </a:r>
            <a:r>
              <a:rPr lang="en-US" sz="1600" spc="40" dirty="0">
                <a:solidFill>
                  <a:srgbClr val="0000FF"/>
                </a:solidFill>
                <a:latin typeface="+mn-lt"/>
                <a:ea typeface="Times New Roman" panose="02020603050405020304" pitchFamily="18" charset="0"/>
              </a:rPr>
              <a:t>10)</a:t>
            </a:r>
            <a:r>
              <a:rPr lang="en-US" sz="1600" spc="-330" dirty="0">
                <a:solidFill>
                  <a:srgbClr val="0000FF"/>
                </a:solidFill>
                <a:latin typeface="+mn-lt"/>
                <a:ea typeface="Times New Roman" panose="02020603050405020304" pitchFamily="18" charset="0"/>
              </a:rPr>
              <a:t> </a:t>
            </a:r>
            <a:r>
              <a:rPr lang="en-US" sz="1600" dirty="0">
                <a:solidFill>
                  <a:srgbClr val="0000FF"/>
                </a:solidFill>
                <a:latin typeface="+mn-lt"/>
                <a:ea typeface="Times New Roman" panose="02020603050405020304" pitchFamily="18" charset="0"/>
              </a:rPr>
              <a:t>)</a:t>
            </a:r>
            <a:endParaRPr lang="ru-RU" sz="2800" dirty="0">
              <a:solidFill>
                <a:srgbClr val="0000FF"/>
              </a:solidFill>
              <a:latin typeface="+mn-lt"/>
              <a:ea typeface="Times New Roman" panose="02020603050405020304" pitchFamily="18" charset="0"/>
            </a:endParaRPr>
          </a:p>
          <a:p>
            <a:pPr marR="13335" eaLnBrk="0" hangingPunct="0">
              <a:spcBef>
                <a:spcPts val="235"/>
              </a:spcBef>
              <a:spcAft>
                <a:spcPts val="0"/>
              </a:spcAft>
            </a:pPr>
            <a:r>
              <a:rPr lang="en-US" sz="1050" dirty="0">
                <a:solidFill>
                  <a:srgbClr val="0000FF"/>
                </a:solidFill>
                <a:latin typeface="+mn-lt"/>
                <a:ea typeface="Times New Roman" panose="02020603050405020304" pitchFamily="18" charset="0"/>
              </a:rPr>
              <a:t>11</a:t>
            </a:r>
            <a:endParaRPr lang="ru-RU" sz="2800" dirty="0">
              <a:solidFill>
                <a:srgbClr val="0000FF"/>
              </a:solidFill>
              <a:latin typeface="+mn-lt"/>
              <a:ea typeface="Times New Roman" panose="02020603050405020304" pitchFamily="18" charset="0"/>
            </a:endParaRPr>
          </a:p>
          <a:p>
            <a:pPr marR="13335" eaLnBrk="0" hangingPunct="0">
              <a:spcBef>
                <a:spcPts val="175"/>
              </a:spcBef>
              <a:spcAft>
                <a:spcPts val="0"/>
              </a:spcAft>
              <a:tabLst>
                <a:tab pos="1222375" algn="l"/>
              </a:tabLst>
            </a:pPr>
            <a:r>
              <a:rPr lang="en-US" sz="1050" dirty="0">
                <a:solidFill>
                  <a:srgbClr val="0000FF"/>
                </a:solidFill>
                <a:latin typeface="+mn-lt"/>
                <a:ea typeface="Times New Roman" panose="02020603050405020304" pitchFamily="18" charset="0"/>
              </a:rPr>
              <a:t>12	</a:t>
            </a:r>
            <a:r>
              <a:rPr lang="en-US" sz="1600" spc="55" dirty="0">
                <a:solidFill>
                  <a:srgbClr val="0000FF"/>
                </a:solidFill>
                <a:latin typeface="+mn-lt"/>
                <a:ea typeface="Times New Roman" panose="02020603050405020304" pitchFamily="18" charset="0"/>
              </a:rPr>
              <a:t>Shapiro</a:t>
            </a:r>
            <a:r>
              <a:rPr lang="en-US" sz="1600" spc="-355" dirty="0">
                <a:solidFill>
                  <a:srgbClr val="0000FF"/>
                </a:solidFill>
                <a:latin typeface="+mn-lt"/>
                <a:ea typeface="Times New Roman" panose="02020603050405020304" pitchFamily="18" charset="0"/>
              </a:rPr>
              <a:t> </a:t>
            </a:r>
            <a:r>
              <a:rPr lang="en-US" sz="1600" dirty="0">
                <a:solidFill>
                  <a:srgbClr val="0000FF"/>
                </a:solidFill>
                <a:latin typeface="+mn-lt"/>
                <a:ea typeface="Times New Roman" panose="02020603050405020304" pitchFamily="18" charset="0"/>
              </a:rPr>
              <a:t>-</a:t>
            </a:r>
            <a:r>
              <a:rPr lang="en-US" sz="1600" spc="-385" dirty="0">
                <a:solidFill>
                  <a:srgbClr val="0000FF"/>
                </a:solidFill>
                <a:latin typeface="+mn-lt"/>
                <a:ea typeface="Times New Roman" panose="02020603050405020304" pitchFamily="18" charset="0"/>
              </a:rPr>
              <a:t> </a:t>
            </a:r>
            <a:r>
              <a:rPr lang="en-US" sz="1600" spc="45" dirty="0">
                <a:solidFill>
                  <a:srgbClr val="0000FF"/>
                </a:solidFill>
                <a:latin typeface="+mn-lt"/>
                <a:ea typeface="Times New Roman" panose="02020603050405020304" pitchFamily="18" charset="0"/>
              </a:rPr>
              <a:t>Wilk</a:t>
            </a:r>
            <a:r>
              <a:rPr lang="en-US" sz="1600" spc="-60" dirty="0">
                <a:solidFill>
                  <a:srgbClr val="0000FF"/>
                </a:solidFill>
                <a:latin typeface="+mn-lt"/>
                <a:ea typeface="Times New Roman" panose="02020603050405020304" pitchFamily="18" charset="0"/>
              </a:rPr>
              <a:t> </a:t>
            </a:r>
            <a:r>
              <a:rPr lang="en-US" sz="1600" dirty="0">
                <a:solidFill>
                  <a:srgbClr val="0000FF"/>
                </a:solidFill>
                <a:latin typeface="+mn-lt"/>
                <a:ea typeface="Times New Roman" panose="02020603050405020304" pitchFamily="18" charset="0"/>
              </a:rPr>
              <a:t>n</a:t>
            </a:r>
            <a:r>
              <a:rPr lang="en-US" sz="1600" spc="-410" dirty="0">
                <a:solidFill>
                  <a:srgbClr val="0000FF"/>
                </a:solidFill>
                <a:latin typeface="+mn-lt"/>
                <a:ea typeface="Times New Roman" panose="02020603050405020304" pitchFamily="18" charset="0"/>
              </a:rPr>
              <a:t> </a:t>
            </a:r>
            <a:r>
              <a:rPr lang="en-US" sz="1600" dirty="0">
                <a:solidFill>
                  <a:srgbClr val="0000FF"/>
                </a:solidFill>
                <a:latin typeface="+mn-lt"/>
                <a:ea typeface="Times New Roman" panose="02020603050405020304" pitchFamily="18" charset="0"/>
              </a:rPr>
              <a:t>o</a:t>
            </a:r>
            <a:r>
              <a:rPr lang="en-US" sz="1600" spc="-410" dirty="0">
                <a:solidFill>
                  <a:srgbClr val="0000FF"/>
                </a:solidFill>
                <a:latin typeface="+mn-lt"/>
                <a:ea typeface="Times New Roman" panose="02020603050405020304" pitchFamily="18" charset="0"/>
              </a:rPr>
              <a:t> </a:t>
            </a:r>
            <a:r>
              <a:rPr lang="en-US" sz="1600" dirty="0">
                <a:solidFill>
                  <a:srgbClr val="0000FF"/>
                </a:solidFill>
                <a:latin typeface="+mn-lt"/>
                <a:ea typeface="Times New Roman" panose="02020603050405020304" pitchFamily="18" charset="0"/>
              </a:rPr>
              <a:t>r</a:t>
            </a:r>
            <a:r>
              <a:rPr lang="en-US" sz="1600" spc="-410" dirty="0">
                <a:solidFill>
                  <a:srgbClr val="0000FF"/>
                </a:solidFill>
                <a:latin typeface="+mn-lt"/>
                <a:ea typeface="Times New Roman" panose="02020603050405020304" pitchFamily="18" charset="0"/>
              </a:rPr>
              <a:t> </a:t>
            </a:r>
            <a:r>
              <a:rPr lang="en-US" sz="1600" dirty="0">
                <a:solidFill>
                  <a:srgbClr val="0000FF"/>
                </a:solidFill>
                <a:latin typeface="+mn-lt"/>
                <a:ea typeface="Times New Roman" panose="02020603050405020304" pitchFamily="18" charset="0"/>
              </a:rPr>
              <a:t>m</a:t>
            </a:r>
            <a:r>
              <a:rPr lang="en-US" sz="1600" spc="-410" dirty="0">
                <a:solidFill>
                  <a:srgbClr val="0000FF"/>
                </a:solidFill>
                <a:latin typeface="+mn-lt"/>
                <a:ea typeface="Times New Roman" panose="02020603050405020304" pitchFamily="18" charset="0"/>
              </a:rPr>
              <a:t> </a:t>
            </a:r>
            <a:r>
              <a:rPr lang="en-US" sz="1600" dirty="0">
                <a:solidFill>
                  <a:srgbClr val="0000FF"/>
                </a:solidFill>
                <a:latin typeface="+mn-lt"/>
                <a:ea typeface="Times New Roman" panose="02020603050405020304" pitchFamily="18" charset="0"/>
              </a:rPr>
              <a:t>a</a:t>
            </a:r>
            <a:r>
              <a:rPr lang="en-US" sz="1600" spc="-410" dirty="0">
                <a:solidFill>
                  <a:srgbClr val="0000FF"/>
                </a:solidFill>
                <a:latin typeface="+mn-lt"/>
                <a:ea typeface="Times New Roman" panose="02020603050405020304" pitchFamily="18" charset="0"/>
              </a:rPr>
              <a:t> </a:t>
            </a:r>
            <a:r>
              <a:rPr lang="en-US" sz="1600" dirty="0">
                <a:solidFill>
                  <a:srgbClr val="0000FF"/>
                </a:solidFill>
                <a:latin typeface="+mn-lt"/>
                <a:ea typeface="Times New Roman" panose="02020603050405020304" pitchFamily="18" charset="0"/>
              </a:rPr>
              <a:t>l</a:t>
            </a:r>
            <a:r>
              <a:rPr lang="en-US" sz="1600" spc="-410" dirty="0">
                <a:solidFill>
                  <a:srgbClr val="0000FF"/>
                </a:solidFill>
                <a:latin typeface="+mn-lt"/>
                <a:ea typeface="Times New Roman" panose="02020603050405020304" pitchFamily="18" charset="0"/>
              </a:rPr>
              <a:t> </a:t>
            </a:r>
            <a:r>
              <a:rPr lang="en-US" sz="1600" dirty="0" err="1">
                <a:solidFill>
                  <a:srgbClr val="0000FF"/>
                </a:solidFill>
                <a:latin typeface="+mn-lt"/>
                <a:ea typeface="Times New Roman" panose="02020603050405020304" pitchFamily="18" charset="0"/>
              </a:rPr>
              <a:t>i</a:t>
            </a:r>
            <a:r>
              <a:rPr lang="en-US" sz="1600" spc="-410" dirty="0">
                <a:solidFill>
                  <a:srgbClr val="0000FF"/>
                </a:solidFill>
                <a:latin typeface="+mn-lt"/>
                <a:ea typeface="Times New Roman" panose="02020603050405020304" pitchFamily="18" charset="0"/>
              </a:rPr>
              <a:t> </a:t>
            </a:r>
            <a:r>
              <a:rPr lang="en-US" sz="1600" dirty="0">
                <a:solidFill>
                  <a:srgbClr val="0000FF"/>
                </a:solidFill>
                <a:latin typeface="+mn-lt"/>
                <a:ea typeface="Times New Roman" panose="02020603050405020304" pitchFamily="18" charset="0"/>
              </a:rPr>
              <a:t>t</a:t>
            </a:r>
            <a:r>
              <a:rPr lang="en-US" sz="1600" spc="-410" dirty="0">
                <a:solidFill>
                  <a:srgbClr val="0000FF"/>
                </a:solidFill>
                <a:latin typeface="+mn-lt"/>
                <a:ea typeface="Times New Roman" panose="02020603050405020304" pitchFamily="18" charset="0"/>
              </a:rPr>
              <a:t> </a:t>
            </a:r>
            <a:r>
              <a:rPr lang="en-US" sz="1600" dirty="0">
                <a:solidFill>
                  <a:srgbClr val="0000FF"/>
                </a:solidFill>
                <a:latin typeface="+mn-lt"/>
                <a:ea typeface="Times New Roman" panose="02020603050405020304" pitchFamily="18" charset="0"/>
              </a:rPr>
              <a:t>y</a:t>
            </a:r>
            <a:r>
              <a:rPr lang="en-US" sz="1600" spc="-55" dirty="0">
                <a:solidFill>
                  <a:srgbClr val="0000FF"/>
                </a:solidFill>
                <a:latin typeface="+mn-lt"/>
                <a:ea typeface="Times New Roman" panose="02020603050405020304" pitchFamily="18" charset="0"/>
              </a:rPr>
              <a:t> </a:t>
            </a:r>
            <a:r>
              <a:rPr lang="en-US" sz="1600" spc="45" dirty="0">
                <a:solidFill>
                  <a:srgbClr val="0000FF"/>
                </a:solidFill>
                <a:latin typeface="+mn-lt"/>
                <a:ea typeface="Times New Roman" panose="02020603050405020304" pitchFamily="18" charset="0"/>
              </a:rPr>
              <a:t>test</a:t>
            </a:r>
            <a:endParaRPr lang="ru-RU" sz="2800" dirty="0">
              <a:solidFill>
                <a:srgbClr val="0000FF"/>
              </a:solidFill>
              <a:latin typeface="+mn-lt"/>
              <a:ea typeface="Times New Roman" panose="02020603050405020304" pitchFamily="18" charset="0"/>
            </a:endParaRPr>
          </a:p>
          <a:p>
            <a:pPr marR="13335" eaLnBrk="0" hangingPunct="0">
              <a:spcBef>
                <a:spcPts val="235"/>
              </a:spcBef>
              <a:spcAft>
                <a:spcPts val="0"/>
              </a:spcAft>
            </a:pPr>
            <a:r>
              <a:rPr lang="en-US" sz="1050" dirty="0">
                <a:solidFill>
                  <a:srgbClr val="0000FF"/>
                </a:solidFill>
                <a:latin typeface="+mn-lt"/>
                <a:ea typeface="Times New Roman" panose="02020603050405020304" pitchFamily="18" charset="0"/>
              </a:rPr>
              <a:t>13</a:t>
            </a:r>
            <a:endParaRPr lang="ru-RU" sz="2800" dirty="0">
              <a:solidFill>
                <a:srgbClr val="0000FF"/>
              </a:solidFill>
              <a:latin typeface="+mn-lt"/>
              <a:ea typeface="Times New Roman" panose="02020603050405020304" pitchFamily="18" charset="0"/>
            </a:endParaRPr>
          </a:p>
          <a:p>
            <a:pPr marR="13335" eaLnBrk="0" hangingPunct="0">
              <a:spcBef>
                <a:spcPts val="175"/>
              </a:spcBef>
              <a:spcAft>
                <a:spcPts val="0"/>
              </a:spcAft>
              <a:tabLst>
                <a:tab pos="1158240" algn="l"/>
              </a:tabLst>
            </a:pPr>
            <a:r>
              <a:rPr lang="en-US" sz="1050" dirty="0">
                <a:solidFill>
                  <a:srgbClr val="0000FF"/>
                </a:solidFill>
                <a:latin typeface="+mn-lt"/>
                <a:ea typeface="Times New Roman" panose="02020603050405020304" pitchFamily="18" charset="0"/>
              </a:rPr>
              <a:t>14  </a:t>
            </a:r>
            <a:r>
              <a:rPr lang="en-US" sz="1050" spc="90" dirty="0">
                <a:solidFill>
                  <a:srgbClr val="0000FF"/>
                </a:solidFill>
                <a:latin typeface="+mn-lt"/>
                <a:ea typeface="Times New Roman" panose="02020603050405020304" pitchFamily="18" charset="0"/>
              </a:rPr>
              <a:t> </a:t>
            </a:r>
            <a:r>
              <a:rPr lang="en-US" sz="1600" spc="50" dirty="0">
                <a:solidFill>
                  <a:srgbClr val="0000FF"/>
                </a:solidFill>
                <a:latin typeface="+mn-lt"/>
                <a:ea typeface="Times New Roman" panose="02020603050405020304" pitchFamily="18" charset="0"/>
              </a:rPr>
              <a:t>data</a:t>
            </a:r>
            <a:r>
              <a:rPr lang="en-US" sz="1600" spc="-385" dirty="0">
                <a:solidFill>
                  <a:srgbClr val="0000FF"/>
                </a:solidFill>
                <a:latin typeface="+mn-lt"/>
                <a:ea typeface="Times New Roman" panose="02020603050405020304" pitchFamily="18" charset="0"/>
              </a:rPr>
              <a:t> </a:t>
            </a:r>
            <a:r>
              <a:rPr lang="en-US" sz="1600" dirty="0">
                <a:solidFill>
                  <a:srgbClr val="0000FF"/>
                </a:solidFill>
                <a:latin typeface="+mn-lt"/>
                <a:ea typeface="Times New Roman" panose="02020603050405020304" pitchFamily="18" charset="0"/>
              </a:rPr>
              <a:t>:	r</a:t>
            </a:r>
            <a:r>
              <a:rPr lang="en-US" sz="1600" spc="-435" dirty="0">
                <a:solidFill>
                  <a:srgbClr val="0000FF"/>
                </a:solidFill>
                <a:latin typeface="+mn-lt"/>
                <a:ea typeface="Times New Roman" panose="02020603050405020304" pitchFamily="18" charset="0"/>
              </a:rPr>
              <a:t> </a:t>
            </a:r>
            <a:r>
              <a:rPr lang="en-US" sz="1600" dirty="0">
                <a:solidFill>
                  <a:srgbClr val="0000FF"/>
                </a:solidFill>
                <a:latin typeface="+mn-lt"/>
                <a:ea typeface="Times New Roman" panose="02020603050405020304" pitchFamily="18" charset="0"/>
              </a:rPr>
              <a:t>u</a:t>
            </a:r>
            <a:r>
              <a:rPr lang="en-US" sz="1600" spc="-430" dirty="0">
                <a:solidFill>
                  <a:srgbClr val="0000FF"/>
                </a:solidFill>
                <a:latin typeface="+mn-lt"/>
                <a:ea typeface="Times New Roman" panose="02020603050405020304" pitchFamily="18" charset="0"/>
              </a:rPr>
              <a:t> </a:t>
            </a:r>
            <a:r>
              <a:rPr lang="en-US" sz="1600" dirty="0">
                <a:solidFill>
                  <a:srgbClr val="0000FF"/>
                </a:solidFill>
                <a:latin typeface="+mn-lt"/>
                <a:ea typeface="Times New Roman" panose="02020603050405020304" pitchFamily="18" charset="0"/>
              </a:rPr>
              <a:t>n</a:t>
            </a:r>
            <a:r>
              <a:rPr lang="en-US" sz="1600" spc="-435" dirty="0">
                <a:solidFill>
                  <a:srgbClr val="0000FF"/>
                </a:solidFill>
                <a:latin typeface="+mn-lt"/>
                <a:ea typeface="Times New Roman" panose="02020603050405020304" pitchFamily="18" charset="0"/>
              </a:rPr>
              <a:t> </a:t>
            </a:r>
            <a:r>
              <a:rPr lang="en-US" sz="1600" dirty="0" err="1">
                <a:solidFill>
                  <a:srgbClr val="0000FF"/>
                </a:solidFill>
                <a:latin typeface="+mn-lt"/>
                <a:ea typeface="Times New Roman" panose="02020603050405020304" pitchFamily="18" charset="0"/>
              </a:rPr>
              <a:t>i</a:t>
            </a:r>
            <a:r>
              <a:rPr lang="en-US" sz="1600" spc="-435" dirty="0">
                <a:solidFill>
                  <a:srgbClr val="0000FF"/>
                </a:solidFill>
                <a:latin typeface="+mn-lt"/>
                <a:ea typeface="Times New Roman" panose="02020603050405020304" pitchFamily="18" charset="0"/>
              </a:rPr>
              <a:t> </a:t>
            </a:r>
            <a:r>
              <a:rPr lang="en-US" sz="1600" dirty="0">
                <a:solidFill>
                  <a:srgbClr val="0000FF"/>
                </a:solidFill>
                <a:latin typeface="+mn-lt"/>
                <a:ea typeface="Times New Roman" panose="02020603050405020304" pitchFamily="18" charset="0"/>
              </a:rPr>
              <a:t>f</a:t>
            </a:r>
            <a:r>
              <a:rPr lang="en-US" sz="1600" spc="-395" dirty="0">
                <a:solidFill>
                  <a:srgbClr val="0000FF"/>
                </a:solidFill>
                <a:latin typeface="+mn-lt"/>
                <a:ea typeface="Times New Roman" panose="02020603050405020304" pitchFamily="18" charset="0"/>
              </a:rPr>
              <a:t> </a:t>
            </a:r>
            <a:r>
              <a:rPr lang="en-US" sz="1600" spc="50" dirty="0">
                <a:solidFill>
                  <a:srgbClr val="0000FF"/>
                </a:solidFill>
                <a:latin typeface="+mn-lt"/>
                <a:ea typeface="Times New Roman" panose="02020603050405020304" pitchFamily="18" charset="0"/>
              </a:rPr>
              <a:t>(100</a:t>
            </a:r>
            <a:r>
              <a:rPr lang="en-US" sz="1600" spc="-400" dirty="0">
                <a:solidFill>
                  <a:srgbClr val="0000FF"/>
                </a:solidFill>
                <a:latin typeface="+mn-lt"/>
                <a:ea typeface="Times New Roman" panose="02020603050405020304" pitchFamily="18" charset="0"/>
              </a:rPr>
              <a:t> </a:t>
            </a:r>
            <a:r>
              <a:rPr lang="en-US" sz="1600" dirty="0">
                <a:solidFill>
                  <a:srgbClr val="0000FF"/>
                </a:solidFill>
                <a:latin typeface="+mn-lt"/>
                <a:ea typeface="Times New Roman" panose="02020603050405020304" pitchFamily="18" charset="0"/>
              </a:rPr>
              <a:t>,</a:t>
            </a:r>
            <a:r>
              <a:rPr lang="en-US" sz="1600" spc="-70" dirty="0">
                <a:solidFill>
                  <a:srgbClr val="0000FF"/>
                </a:solidFill>
                <a:latin typeface="+mn-lt"/>
                <a:ea typeface="Times New Roman" panose="02020603050405020304" pitchFamily="18" charset="0"/>
              </a:rPr>
              <a:t> </a:t>
            </a:r>
            <a:r>
              <a:rPr lang="en-US" sz="1600" spc="45" dirty="0">
                <a:solidFill>
                  <a:srgbClr val="0000FF"/>
                </a:solidFill>
                <a:latin typeface="+mn-lt"/>
                <a:ea typeface="Times New Roman" panose="02020603050405020304" pitchFamily="18" charset="0"/>
              </a:rPr>
              <a:t>min</a:t>
            </a:r>
            <a:r>
              <a:rPr lang="en-US" sz="1600" spc="-80" dirty="0">
                <a:solidFill>
                  <a:srgbClr val="0000FF"/>
                </a:solidFill>
                <a:latin typeface="+mn-lt"/>
                <a:ea typeface="Times New Roman" panose="02020603050405020304" pitchFamily="18" charset="0"/>
              </a:rPr>
              <a:t> </a:t>
            </a:r>
            <a:r>
              <a:rPr lang="en-US" sz="1600" dirty="0">
                <a:solidFill>
                  <a:srgbClr val="0000FF"/>
                </a:solidFill>
                <a:latin typeface="+mn-lt"/>
                <a:ea typeface="Times New Roman" panose="02020603050405020304" pitchFamily="18" charset="0"/>
              </a:rPr>
              <a:t>=</a:t>
            </a:r>
            <a:r>
              <a:rPr lang="en-US" sz="1600" spc="-60" dirty="0">
                <a:solidFill>
                  <a:srgbClr val="0000FF"/>
                </a:solidFill>
                <a:latin typeface="+mn-lt"/>
                <a:ea typeface="Times New Roman" panose="02020603050405020304" pitchFamily="18" charset="0"/>
              </a:rPr>
              <a:t> </a:t>
            </a:r>
            <a:r>
              <a:rPr lang="en-US" sz="1600" spc="30" dirty="0">
                <a:solidFill>
                  <a:srgbClr val="0000FF"/>
                </a:solidFill>
                <a:latin typeface="+mn-lt"/>
                <a:ea typeface="Times New Roman" panose="02020603050405020304" pitchFamily="18" charset="0"/>
              </a:rPr>
              <a:t>-10</a:t>
            </a:r>
            <a:r>
              <a:rPr lang="en-US" sz="1600" spc="-420" dirty="0">
                <a:solidFill>
                  <a:srgbClr val="0000FF"/>
                </a:solidFill>
                <a:latin typeface="+mn-lt"/>
                <a:ea typeface="Times New Roman" panose="02020603050405020304" pitchFamily="18" charset="0"/>
              </a:rPr>
              <a:t> </a:t>
            </a:r>
            <a:r>
              <a:rPr lang="en-US" sz="1600" dirty="0">
                <a:solidFill>
                  <a:srgbClr val="0000FF"/>
                </a:solidFill>
                <a:latin typeface="+mn-lt"/>
                <a:ea typeface="Times New Roman" panose="02020603050405020304" pitchFamily="18" charset="0"/>
              </a:rPr>
              <a:t>,</a:t>
            </a:r>
            <a:r>
              <a:rPr lang="en-US" sz="1600" spc="-75" dirty="0">
                <a:solidFill>
                  <a:srgbClr val="0000FF"/>
                </a:solidFill>
                <a:latin typeface="+mn-lt"/>
                <a:ea typeface="Times New Roman" panose="02020603050405020304" pitchFamily="18" charset="0"/>
              </a:rPr>
              <a:t> </a:t>
            </a:r>
            <a:r>
              <a:rPr lang="en-US" sz="1600" spc="45" dirty="0">
                <a:solidFill>
                  <a:srgbClr val="0000FF"/>
                </a:solidFill>
                <a:latin typeface="+mn-lt"/>
                <a:ea typeface="Times New Roman" panose="02020603050405020304" pitchFamily="18" charset="0"/>
              </a:rPr>
              <a:t>max</a:t>
            </a:r>
            <a:r>
              <a:rPr lang="en-US" sz="1600" spc="-85" dirty="0">
                <a:solidFill>
                  <a:srgbClr val="0000FF"/>
                </a:solidFill>
                <a:latin typeface="+mn-lt"/>
                <a:ea typeface="Times New Roman" panose="02020603050405020304" pitchFamily="18" charset="0"/>
              </a:rPr>
              <a:t> </a:t>
            </a:r>
            <a:r>
              <a:rPr lang="en-US" sz="1600" dirty="0">
                <a:solidFill>
                  <a:srgbClr val="0000FF"/>
                </a:solidFill>
                <a:latin typeface="+mn-lt"/>
                <a:ea typeface="Times New Roman" panose="02020603050405020304" pitchFamily="18" charset="0"/>
              </a:rPr>
              <a:t>=</a:t>
            </a:r>
            <a:r>
              <a:rPr lang="en-US" sz="1600" spc="-80" dirty="0">
                <a:solidFill>
                  <a:srgbClr val="0000FF"/>
                </a:solidFill>
                <a:latin typeface="+mn-lt"/>
                <a:ea typeface="Times New Roman" panose="02020603050405020304" pitchFamily="18" charset="0"/>
              </a:rPr>
              <a:t> </a:t>
            </a:r>
            <a:r>
              <a:rPr lang="en-US" sz="1600" spc="45" dirty="0">
                <a:solidFill>
                  <a:srgbClr val="0000FF"/>
                </a:solidFill>
                <a:latin typeface="+mn-lt"/>
                <a:ea typeface="Times New Roman" panose="02020603050405020304" pitchFamily="18" charset="0"/>
              </a:rPr>
              <a:t>10)</a:t>
            </a:r>
            <a:endParaRPr lang="ru-RU" sz="2800" dirty="0">
              <a:solidFill>
                <a:srgbClr val="0000FF"/>
              </a:solidFill>
              <a:latin typeface="+mn-lt"/>
              <a:ea typeface="Times New Roman" panose="02020603050405020304" pitchFamily="18" charset="0"/>
            </a:endParaRPr>
          </a:p>
          <a:p>
            <a:pPr marR="13335" eaLnBrk="0" hangingPunct="0">
              <a:spcBef>
                <a:spcPts val="40"/>
              </a:spcBef>
              <a:spcAft>
                <a:spcPts val="0"/>
              </a:spcAft>
            </a:pPr>
            <a:r>
              <a:rPr lang="ru-RU" sz="1050" dirty="0">
                <a:solidFill>
                  <a:srgbClr val="0000FF"/>
                </a:solidFill>
                <a:latin typeface="+mn-lt"/>
                <a:ea typeface="Times New Roman" panose="02020603050405020304" pitchFamily="18" charset="0"/>
              </a:rPr>
              <a:t>15  </a:t>
            </a:r>
            <a:r>
              <a:rPr lang="ru-RU" sz="1050" spc="65" dirty="0">
                <a:solidFill>
                  <a:srgbClr val="0000FF"/>
                </a:solidFill>
                <a:latin typeface="+mn-lt"/>
                <a:ea typeface="Times New Roman" panose="02020603050405020304" pitchFamily="18" charset="0"/>
              </a:rPr>
              <a:t> </a:t>
            </a:r>
            <a:r>
              <a:rPr lang="ru-RU" sz="1600" dirty="0">
                <a:solidFill>
                  <a:srgbClr val="0000FF"/>
                </a:solidFill>
                <a:latin typeface="+mn-lt"/>
                <a:ea typeface="Times New Roman" panose="02020603050405020304" pitchFamily="18" charset="0"/>
              </a:rPr>
              <a:t>W</a:t>
            </a:r>
            <a:r>
              <a:rPr lang="ru-RU" sz="1600" spc="45" dirty="0">
                <a:solidFill>
                  <a:srgbClr val="0000FF"/>
                </a:solidFill>
                <a:latin typeface="+mn-lt"/>
                <a:ea typeface="Times New Roman" panose="02020603050405020304" pitchFamily="18" charset="0"/>
              </a:rPr>
              <a:t> </a:t>
            </a:r>
            <a:r>
              <a:rPr lang="ru-RU" sz="1600" dirty="0">
                <a:solidFill>
                  <a:srgbClr val="0000FF"/>
                </a:solidFill>
                <a:latin typeface="+mn-lt"/>
                <a:ea typeface="Times New Roman" panose="02020603050405020304" pitchFamily="18" charset="0"/>
              </a:rPr>
              <a:t>=</a:t>
            </a:r>
            <a:r>
              <a:rPr lang="ru-RU" sz="1600" spc="70" dirty="0">
                <a:solidFill>
                  <a:srgbClr val="0000FF"/>
                </a:solidFill>
                <a:latin typeface="+mn-lt"/>
                <a:ea typeface="Times New Roman" panose="02020603050405020304" pitchFamily="18" charset="0"/>
              </a:rPr>
              <a:t> </a:t>
            </a:r>
            <a:r>
              <a:rPr lang="ru-RU" sz="1600" spc="50" dirty="0">
                <a:solidFill>
                  <a:srgbClr val="0000FF"/>
                </a:solidFill>
                <a:latin typeface="+mn-lt"/>
                <a:ea typeface="Times New Roman" panose="02020603050405020304" pitchFamily="18" charset="0"/>
              </a:rPr>
              <a:t>0.9561</a:t>
            </a:r>
            <a:r>
              <a:rPr lang="ru-RU" sz="1600" spc="-345" dirty="0">
                <a:solidFill>
                  <a:srgbClr val="0000FF"/>
                </a:solidFill>
                <a:latin typeface="+mn-lt"/>
                <a:ea typeface="Times New Roman" panose="02020603050405020304" pitchFamily="18" charset="0"/>
              </a:rPr>
              <a:t> </a:t>
            </a:r>
            <a:r>
              <a:rPr lang="ru-RU" sz="1600" dirty="0">
                <a:solidFill>
                  <a:srgbClr val="0000FF"/>
                </a:solidFill>
                <a:latin typeface="+mn-lt"/>
                <a:ea typeface="Times New Roman" panose="02020603050405020304" pitchFamily="18" charset="0"/>
              </a:rPr>
              <a:t>,</a:t>
            </a:r>
            <a:r>
              <a:rPr lang="ru-RU" sz="1600" spc="55" dirty="0">
                <a:solidFill>
                  <a:srgbClr val="0000FF"/>
                </a:solidFill>
                <a:latin typeface="+mn-lt"/>
                <a:ea typeface="Times New Roman" panose="02020603050405020304" pitchFamily="18" charset="0"/>
              </a:rPr>
              <a:t> </a:t>
            </a:r>
            <a:r>
              <a:rPr lang="ru-RU" sz="1600" b="1" dirty="0">
                <a:solidFill>
                  <a:srgbClr val="0000FF"/>
                </a:solidFill>
                <a:latin typeface="+mn-lt"/>
                <a:ea typeface="Times New Roman" panose="02020603050405020304" pitchFamily="18" charset="0"/>
              </a:rPr>
              <a:t>p</a:t>
            </a:r>
            <a:r>
              <a:rPr lang="ru-RU" sz="1600" b="1" spc="-375" dirty="0">
                <a:solidFill>
                  <a:srgbClr val="0000FF"/>
                </a:solidFill>
                <a:latin typeface="+mn-lt"/>
                <a:ea typeface="Times New Roman" panose="02020603050405020304" pitchFamily="18" charset="0"/>
              </a:rPr>
              <a:t> </a:t>
            </a:r>
            <a:r>
              <a:rPr lang="ru-RU" sz="1600" b="1" dirty="0">
                <a:solidFill>
                  <a:srgbClr val="0000FF"/>
                </a:solidFill>
                <a:latin typeface="+mn-lt"/>
                <a:ea typeface="Times New Roman" panose="02020603050405020304" pitchFamily="18" charset="0"/>
              </a:rPr>
              <a:t>-</a:t>
            </a:r>
            <a:r>
              <a:rPr lang="ru-RU" sz="1600" b="1" spc="-365" dirty="0">
                <a:solidFill>
                  <a:srgbClr val="0000FF"/>
                </a:solidFill>
                <a:latin typeface="+mn-lt"/>
                <a:ea typeface="Times New Roman" panose="02020603050405020304" pitchFamily="18" charset="0"/>
              </a:rPr>
              <a:t> </a:t>
            </a:r>
            <a:r>
              <a:rPr lang="ru-RU" sz="1600" b="1" dirty="0">
                <a:solidFill>
                  <a:srgbClr val="0000FF"/>
                </a:solidFill>
                <a:latin typeface="+mn-lt"/>
                <a:ea typeface="Times New Roman" panose="02020603050405020304" pitchFamily="18" charset="0"/>
              </a:rPr>
              <a:t>v</a:t>
            </a:r>
            <a:r>
              <a:rPr lang="ru-RU" sz="1600" b="1" spc="-395" dirty="0">
                <a:solidFill>
                  <a:srgbClr val="0000FF"/>
                </a:solidFill>
                <a:latin typeface="+mn-lt"/>
                <a:ea typeface="Times New Roman" panose="02020603050405020304" pitchFamily="18" charset="0"/>
              </a:rPr>
              <a:t> </a:t>
            </a:r>
            <a:r>
              <a:rPr lang="ru-RU" sz="1600" b="1" dirty="0">
                <a:solidFill>
                  <a:srgbClr val="0000FF"/>
                </a:solidFill>
                <a:latin typeface="+mn-lt"/>
                <a:ea typeface="Times New Roman" panose="02020603050405020304" pitchFamily="18" charset="0"/>
              </a:rPr>
              <a:t>a</a:t>
            </a:r>
            <a:r>
              <a:rPr lang="ru-RU" sz="1600" b="1" spc="-395" dirty="0">
                <a:solidFill>
                  <a:srgbClr val="0000FF"/>
                </a:solidFill>
                <a:latin typeface="+mn-lt"/>
                <a:ea typeface="Times New Roman" panose="02020603050405020304" pitchFamily="18" charset="0"/>
              </a:rPr>
              <a:t> </a:t>
            </a:r>
            <a:r>
              <a:rPr lang="ru-RU" sz="1600" b="1" dirty="0">
                <a:solidFill>
                  <a:srgbClr val="0000FF"/>
                </a:solidFill>
                <a:latin typeface="+mn-lt"/>
                <a:ea typeface="Times New Roman" panose="02020603050405020304" pitchFamily="18" charset="0"/>
              </a:rPr>
              <a:t>l</a:t>
            </a:r>
            <a:r>
              <a:rPr lang="ru-RU" sz="1600" b="1" spc="-395" dirty="0">
                <a:solidFill>
                  <a:srgbClr val="0000FF"/>
                </a:solidFill>
                <a:latin typeface="+mn-lt"/>
                <a:ea typeface="Times New Roman" panose="02020603050405020304" pitchFamily="18" charset="0"/>
              </a:rPr>
              <a:t> </a:t>
            </a:r>
            <a:r>
              <a:rPr lang="ru-RU" sz="1600" b="1" dirty="0">
                <a:solidFill>
                  <a:srgbClr val="0000FF"/>
                </a:solidFill>
                <a:latin typeface="+mn-lt"/>
                <a:ea typeface="Times New Roman" panose="02020603050405020304" pitchFamily="18" charset="0"/>
              </a:rPr>
              <a:t>u</a:t>
            </a:r>
            <a:r>
              <a:rPr lang="ru-RU" sz="1600" b="1" spc="-400" dirty="0">
                <a:solidFill>
                  <a:srgbClr val="0000FF"/>
                </a:solidFill>
                <a:latin typeface="+mn-lt"/>
                <a:ea typeface="Times New Roman" panose="02020603050405020304" pitchFamily="18" charset="0"/>
              </a:rPr>
              <a:t> </a:t>
            </a:r>
            <a:r>
              <a:rPr lang="ru-RU" sz="1600" b="1" dirty="0">
                <a:solidFill>
                  <a:srgbClr val="0000FF"/>
                </a:solidFill>
                <a:latin typeface="+mn-lt"/>
                <a:ea typeface="Times New Roman" panose="02020603050405020304" pitchFamily="18" charset="0"/>
              </a:rPr>
              <a:t>e</a:t>
            </a:r>
            <a:r>
              <a:rPr lang="ru-RU" sz="1600" b="1" spc="75" dirty="0">
                <a:solidFill>
                  <a:srgbClr val="0000FF"/>
                </a:solidFill>
                <a:latin typeface="+mn-lt"/>
                <a:ea typeface="Times New Roman" panose="02020603050405020304" pitchFamily="18" charset="0"/>
              </a:rPr>
              <a:t> </a:t>
            </a:r>
            <a:r>
              <a:rPr lang="ru-RU" sz="1600" b="1" dirty="0">
                <a:solidFill>
                  <a:srgbClr val="0000FF"/>
                </a:solidFill>
                <a:latin typeface="+mn-lt"/>
                <a:ea typeface="Times New Roman" panose="02020603050405020304" pitchFamily="18" charset="0"/>
              </a:rPr>
              <a:t>=</a:t>
            </a:r>
            <a:r>
              <a:rPr lang="ru-RU" sz="1600" b="1" spc="75" dirty="0">
                <a:solidFill>
                  <a:srgbClr val="0000FF"/>
                </a:solidFill>
                <a:latin typeface="+mn-lt"/>
                <a:ea typeface="Times New Roman" panose="02020603050405020304" pitchFamily="18" charset="0"/>
              </a:rPr>
              <a:t> </a:t>
            </a:r>
            <a:r>
              <a:rPr lang="ru-RU" sz="1600" b="1" dirty="0">
                <a:solidFill>
                  <a:srgbClr val="0000FF"/>
                </a:solidFill>
                <a:latin typeface="+mn-lt"/>
                <a:ea typeface="Times New Roman" panose="02020603050405020304" pitchFamily="18" charset="0"/>
              </a:rPr>
              <a:t>0</a:t>
            </a:r>
            <a:r>
              <a:rPr lang="ru-RU" sz="1600" b="1" spc="-390" dirty="0">
                <a:solidFill>
                  <a:srgbClr val="0000FF"/>
                </a:solidFill>
                <a:latin typeface="+mn-lt"/>
                <a:ea typeface="Times New Roman" panose="02020603050405020304" pitchFamily="18" charset="0"/>
              </a:rPr>
              <a:t> </a:t>
            </a:r>
            <a:r>
              <a:rPr lang="ru-RU" sz="1600" b="1" dirty="0">
                <a:solidFill>
                  <a:srgbClr val="0000FF"/>
                </a:solidFill>
                <a:latin typeface="+mn-lt"/>
                <a:ea typeface="Times New Roman" panose="02020603050405020304" pitchFamily="18" charset="0"/>
              </a:rPr>
              <a:t>.</a:t>
            </a:r>
            <a:r>
              <a:rPr lang="ru-RU" sz="1600" b="1" spc="-390" dirty="0">
                <a:solidFill>
                  <a:srgbClr val="0000FF"/>
                </a:solidFill>
                <a:latin typeface="+mn-lt"/>
                <a:ea typeface="Times New Roman" panose="02020603050405020304" pitchFamily="18" charset="0"/>
              </a:rPr>
              <a:t> </a:t>
            </a:r>
            <a:r>
              <a:rPr lang="ru-RU" sz="1600" b="1" dirty="0">
                <a:solidFill>
                  <a:srgbClr val="0000FF"/>
                </a:solidFill>
                <a:latin typeface="+mn-lt"/>
                <a:ea typeface="Times New Roman" panose="02020603050405020304" pitchFamily="18" charset="0"/>
              </a:rPr>
              <a:t>0</a:t>
            </a:r>
            <a:r>
              <a:rPr lang="ru-RU" sz="1600" b="1" spc="-395" dirty="0">
                <a:solidFill>
                  <a:srgbClr val="0000FF"/>
                </a:solidFill>
                <a:latin typeface="+mn-lt"/>
                <a:ea typeface="Times New Roman" panose="02020603050405020304" pitchFamily="18" charset="0"/>
              </a:rPr>
              <a:t> </a:t>
            </a:r>
            <a:r>
              <a:rPr lang="ru-RU" sz="1600" b="1" dirty="0">
                <a:solidFill>
                  <a:srgbClr val="0000FF"/>
                </a:solidFill>
                <a:latin typeface="+mn-lt"/>
                <a:ea typeface="Times New Roman" panose="02020603050405020304" pitchFamily="18" charset="0"/>
              </a:rPr>
              <a:t>0</a:t>
            </a:r>
            <a:r>
              <a:rPr lang="ru-RU" sz="1600" b="1" spc="-390" dirty="0">
                <a:solidFill>
                  <a:srgbClr val="0000FF"/>
                </a:solidFill>
                <a:latin typeface="+mn-lt"/>
                <a:ea typeface="Times New Roman" panose="02020603050405020304" pitchFamily="18" charset="0"/>
              </a:rPr>
              <a:t> </a:t>
            </a:r>
            <a:r>
              <a:rPr lang="ru-RU" sz="1600" b="1" dirty="0">
                <a:solidFill>
                  <a:srgbClr val="0000FF"/>
                </a:solidFill>
                <a:latin typeface="+mn-lt"/>
                <a:ea typeface="Times New Roman" panose="02020603050405020304" pitchFamily="18" charset="0"/>
              </a:rPr>
              <a:t>2</a:t>
            </a:r>
            <a:r>
              <a:rPr lang="ru-RU" sz="1600" b="1" spc="-395" dirty="0">
                <a:solidFill>
                  <a:srgbClr val="0000FF"/>
                </a:solidFill>
                <a:latin typeface="+mn-lt"/>
                <a:ea typeface="Times New Roman" panose="02020603050405020304" pitchFamily="18" charset="0"/>
              </a:rPr>
              <a:t> </a:t>
            </a:r>
            <a:r>
              <a:rPr lang="ru-RU" sz="1600" b="1" dirty="0">
                <a:solidFill>
                  <a:srgbClr val="0000FF"/>
                </a:solidFill>
                <a:latin typeface="+mn-lt"/>
                <a:ea typeface="Times New Roman" panose="02020603050405020304" pitchFamily="18" charset="0"/>
              </a:rPr>
              <a:t>1</a:t>
            </a:r>
            <a:r>
              <a:rPr lang="ru-RU" sz="1600" b="1" spc="-390" dirty="0">
                <a:solidFill>
                  <a:srgbClr val="0000FF"/>
                </a:solidFill>
                <a:latin typeface="+mn-lt"/>
                <a:ea typeface="Times New Roman" panose="02020603050405020304" pitchFamily="18" charset="0"/>
              </a:rPr>
              <a:t> </a:t>
            </a:r>
            <a:r>
              <a:rPr lang="ru-RU" sz="1600" b="1" dirty="0">
                <a:solidFill>
                  <a:srgbClr val="0000FF"/>
                </a:solidFill>
                <a:latin typeface="+mn-lt"/>
                <a:ea typeface="Times New Roman" panose="02020603050405020304" pitchFamily="18" charset="0"/>
              </a:rPr>
              <a:t>2</a:t>
            </a:r>
            <a:r>
              <a:rPr lang="ru-RU" sz="1600" b="1" spc="-390" dirty="0">
                <a:solidFill>
                  <a:srgbClr val="0000FF"/>
                </a:solidFill>
                <a:latin typeface="+mn-lt"/>
                <a:ea typeface="Times New Roman" panose="02020603050405020304" pitchFamily="18" charset="0"/>
              </a:rPr>
              <a:t> </a:t>
            </a:r>
            <a:r>
              <a:rPr lang="ru-RU" sz="1600" b="1" dirty="0">
                <a:solidFill>
                  <a:srgbClr val="0000FF"/>
                </a:solidFill>
                <a:latin typeface="+mn-lt"/>
                <a:ea typeface="Times New Roman" panose="02020603050405020304" pitchFamily="18" charset="0"/>
              </a:rPr>
              <a:t>6</a:t>
            </a:r>
            <a:endParaRPr lang="ru-RU" sz="2800" b="1" dirty="0">
              <a:solidFill>
                <a:srgbClr val="0000FF"/>
              </a:solidFill>
              <a:latin typeface="+mn-lt"/>
              <a:ea typeface="Times New Roman" panose="02020603050405020304" pitchFamily="18" charset="0"/>
            </a:endParaRPr>
          </a:p>
          <a:p>
            <a:pPr marL="834390" marR="13335" indent="-127000" algn="just" eaLnBrk="0" hangingPunct="0">
              <a:lnSpc>
                <a:spcPts val="1200"/>
              </a:lnSpc>
              <a:spcBef>
                <a:spcPts val="295"/>
              </a:spcBef>
              <a:spcAft>
                <a:spcPts val="0"/>
              </a:spcAft>
            </a:pPr>
            <a:r>
              <a:rPr lang="ru-RU" dirty="0">
                <a:latin typeface="Times New Roman" panose="02020603050405020304" pitchFamily="18" charset="0"/>
                <a:ea typeface="Times New Roman" panose="02020603050405020304" pitchFamily="18" charset="0"/>
              </a:rPr>
              <a:t> </a:t>
            </a:r>
            <a:endParaRPr lang="ru-RU" sz="1200" dirty="0">
              <a:ea typeface="Times New Roman" panose="02020603050405020304" pitchFamily="18" charset="0"/>
            </a:endParaRPr>
          </a:p>
          <a:p>
            <a:pPr marL="90488" marR="13335" indent="449263" defTabSz="993775" eaLnBrk="0" hangingPunct="0">
              <a:lnSpc>
                <a:spcPct val="103000"/>
              </a:lnSpc>
              <a:spcBef>
                <a:spcPct val="20000"/>
              </a:spcBef>
              <a:buClr>
                <a:srgbClr val="CC9900"/>
              </a:buClr>
              <a:buSzPct val="65000"/>
              <a:buFont typeface="Wingdings" pitchFamily="2"/>
              <a:buChar char=""/>
              <a:tabLst>
                <a:tab pos="0" algn="l"/>
                <a:tab pos="109538" algn="l"/>
                <a:tab pos="576263" algn="l"/>
                <a:tab pos="1509713" algn="l"/>
                <a:tab pos="1976438" algn="l"/>
                <a:tab pos="2443163" algn="l"/>
                <a:tab pos="2909888" algn="l"/>
                <a:tab pos="3378200" algn="l"/>
                <a:tab pos="3844925" algn="l"/>
                <a:tab pos="4311650" algn="l"/>
                <a:tab pos="4778375" algn="l"/>
                <a:tab pos="5245100" algn="l"/>
                <a:tab pos="5711825" algn="l"/>
                <a:tab pos="6178550" algn="l"/>
                <a:tab pos="6645275" algn="l"/>
                <a:tab pos="7112000" algn="l"/>
                <a:tab pos="7578725" algn="l"/>
                <a:tab pos="8045450" algn="l"/>
                <a:tab pos="8512175" algn="l"/>
                <a:tab pos="8978900" algn="l"/>
              </a:tabLst>
            </a:pPr>
            <a:r>
              <a:rPr lang="ru-RU" dirty="0">
                <a:latin typeface="+mn-lt"/>
                <a:cs typeface="+mn-cs"/>
              </a:rPr>
              <a:t>В данном случае при уровне значимости, например, α = 0.05 для выборки, сгенерированной функцией </a:t>
            </a:r>
            <a:r>
              <a:rPr lang="ru-RU" b="1" i="1" dirty="0" err="1">
                <a:latin typeface="+mn-lt"/>
                <a:cs typeface="+mn-cs"/>
              </a:rPr>
              <a:t>rnorm</a:t>
            </a:r>
            <a:r>
              <a:rPr lang="ru-RU" dirty="0">
                <a:latin typeface="+mn-lt"/>
                <a:cs typeface="+mn-cs"/>
              </a:rPr>
              <a:t>, гипотеза </a:t>
            </a:r>
            <a:r>
              <a:rPr lang="ru-RU" i="1" dirty="0"/>
              <a:t>H</a:t>
            </a:r>
            <a:r>
              <a:rPr lang="ru-RU" i="1" baseline="-25000" dirty="0"/>
              <a:t>0</a:t>
            </a:r>
            <a:r>
              <a:rPr lang="ru-RU" dirty="0">
                <a:latin typeface="+mn-lt"/>
                <a:cs typeface="+mn-cs"/>
              </a:rPr>
              <a:t> должна быть принята (так как p-</a:t>
            </a:r>
            <a:r>
              <a:rPr lang="ru-RU" dirty="0" err="1">
                <a:latin typeface="+mn-lt"/>
                <a:cs typeface="+mn-cs"/>
              </a:rPr>
              <a:t>value</a:t>
            </a:r>
            <a:r>
              <a:rPr lang="ru-RU" dirty="0">
                <a:latin typeface="+mn-lt"/>
                <a:cs typeface="+mn-cs"/>
              </a:rPr>
              <a:t> &gt; α), а для выборки, полученной с помощью</a:t>
            </a:r>
            <a:r>
              <a:rPr lang="ru-RU" b="1" i="1" dirty="0">
                <a:latin typeface="+mn-lt"/>
                <a:cs typeface="+mn-cs"/>
              </a:rPr>
              <a:t> </a:t>
            </a:r>
            <a:r>
              <a:rPr lang="ru-RU" b="1" i="1" dirty="0" err="1">
                <a:latin typeface="+mn-lt"/>
                <a:cs typeface="+mn-cs"/>
              </a:rPr>
              <a:t>runif</a:t>
            </a:r>
            <a:r>
              <a:rPr lang="ru-RU" dirty="0">
                <a:latin typeface="+mn-lt"/>
                <a:cs typeface="+mn-cs"/>
              </a:rPr>
              <a:t>, </a:t>
            </a:r>
            <a:r>
              <a:rPr lang="ru-RU" i="1" dirty="0">
                <a:latin typeface="+mn-lt"/>
                <a:cs typeface="+mn-cs"/>
              </a:rPr>
              <a:t>H</a:t>
            </a:r>
            <a:r>
              <a:rPr lang="ru-RU" i="1" baseline="-25000" dirty="0">
                <a:latin typeface="+mn-lt"/>
                <a:cs typeface="+mn-cs"/>
              </a:rPr>
              <a:t>0</a:t>
            </a:r>
            <a:r>
              <a:rPr lang="ru-RU" dirty="0">
                <a:latin typeface="+mn-lt"/>
                <a:cs typeface="+mn-cs"/>
              </a:rPr>
              <a:t> следует отклонить, приняв альтернативную гипотезу.</a:t>
            </a:r>
          </a:p>
        </p:txBody>
      </p:sp>
      <p:sp>
        <p:nvSpPr>
          <p:cNvPr id="8" name="Прямоугольник 7"/>
          <p:cNvSpPr/>
          <p:nvPr/>
        </p:nvSpPr>
        <p:spPr bwMode="auto">
          <a:xfrm>
            <a:off x="3007470" y="2627040"/>
            <a:ext cx="1767469" cy="216024"/>
          </a:xfrm>
          <a:prstGeom prst="rect">
            <a:avLst/>
          </a:prstGeom>
          <a:noFill/>
          <a:ln w="9525" cap="flat" cmpd="sng" algn="ctr">
            <a:solidFill>
              <a:srgbClr val="FF505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defTabSz="993775"/>
            <a:endParaRPr lang="ru-RU"/>
          </a:p>
        </p:txBody>
      </p:sp>
      <p:sp>
        <p:nvSpPr>
          <p:cNvPr id="9" name="Прямоугольник 8"/>
          <p:cNvSpPr/>
          <p:nvPr/>
        </p:nvSpPr>
        <p:spPr bwMode="auto">
          <a:xfrm>
            <a:off x="3021757" y="4468681"/>
            <a:ext cx="1944216" cy="216024"/>
          </a:xfrm>
          <a:prstGeom prst="rect">
            <a:avLst/>
          </a:prstGeom>
          <a:noFill/>
          <a:ln w="9525" cap="flat" cmpd="sng" algn="ctr">
            <a:solidFill>
              <a:srgbClr val="FF505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defTabSz="993775"/>
            <a:endParaRPr lang="ru-RU"/>
          </a:p>
        </p:txBody>
      </p:sp>
      <p:sp>
        <p:nvSpPr>
          <p:cNvPr id="3" name="Номер слайда 2"/>
          <p:cNvSpPr>
            <a:spLocks noGrp="1"/>
          </p:cNvSpPr>
          <p:nvPr>
            <p:ph type="sldNum" sz="quarter" idx="12"/>
          </p:nvPr>
        </p:nvSpPr>
        <p:spPr>
          <a:xfrm>
            <a:off x="11518701" y="6496054"/>
            <a:ext cx="736433" cy="379409"/>
          </a:xfrm>
        </p:spPr>
        <p:txBody>
          <a:bodyPr/>
          <a:lstStyle/>
          <a:p>
            <a:fld id="{952B6C0E-C4B9-4094-8E59-5B7DF00D5415}" type="slidenum">
              <a:rPr lang="ru-RU" smtClean="0">
                <a:solidFill>
                  <a:schemeClr val="tx1"/>
                </a:solidFill>
              </a:rPr>
              <a:t>77</a:t>
            </a:fld>
            <a:endParaRPr lang="ru-RU" dirty="0">
              <a:solidFill>
                <a:schemeClr val="tx1"/>
              </a:solidFill>
            </a:endParaRPr>
          </a:p>
        </p:txBody>
      </p:sp>
    </p:spTree>
    <p:extLst>
      <p:ext uri="{BB962C8B-B14F-4D97-AF65-F5344CB8AC3E}">
        <p14:creationId xmlns:p14="http://schemas.microsoft.com/office/powerpoint/2010/main" val="9595216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4"/>
          <p:cNvSpPr>
            <a:spLocks noChangeArrowheads="1"/>
          </p:cNvSpPr>
          <p:nvPr/>
        </p:nvSpPr>
        <p:spPr bwMode="auto">
          <a:xfrm>
            <a:off x="1438275" y="322263"/>
            <a:ext cx="10656489" cy="6553200"/>
          </a:xfrm>
          <a:prstGeom prst="roundRect">
            <a:avLst>
              <a:gd name="adj" fmla="val 16667"/>
            </a:avLst>
          </a:prstGeom>
          <a:solidFill>
            <a:schemeClr val="bg1">
              <a:alpha val="50195"/>
            </a:scheme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5" name="AutoShape 5"/>
          <p:cNvSpPr>
            <a:spLocks noChangeArrowheads="1"/>
          </p:cNvSpPr>
          <p:nvPr/>
        </p:nvSpPr>
        <p:spPr bwMode="auto">
          <a:xfrm>
            <a:off x="2373685" y="322264"/>
            <a:ext cx="8064128" cy="720601"/>
          </a:xfrm>
          <a:prstGeom prst="roundRect">
            <a:avLst>
              <a:gd name="adj" fmla="val 37469"/>
            </a:avLst>
          </a:prstGeom>
          <a:solidFill>
            <a:srgbClr val="FFFFFF">
              <a:alpha val="78822"/>
            </a:srgb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2" name="Заголовок 1"/>
          <p:cNvSpPr txBox="1">
            <a:spLocks noGrp="1"/>
          </p:cNvSpPr>
          <p:nvPr>
            <p:ph type="title" idx="4294967295"/>
          </p:nvPr>
        </p:nvSpPr>
        <p:spPr>
          <a:xfrm>
            <a:off x="1878968" y="322264"/>
            <a:ext cx="8550275" cy="969963"/>
          </a:xfrm>
          <a:prstGeom prst="rect">
            <a:avLst/>
          </a:prstGeom>
        </p:spPr>
        <p:txBody>
          <a:bodyPr/>
          <a:lstStyle/>
          <a:p>
            <a:r>
              <a:rPr lang="ru-RU" dirty="0"/>
              <a:t>Проверка на нормальность</a:t>
            </a:r>
          </a:p>
        </p:txBody>
      </p:sp>
      <p:pic>
        <p:nvPicPr>
          <p:cNvPr id="19458" name="Picture 2" descr="типичный квантиль квантиль qq сюжет"/>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09789" y="1127586"/>
            <a:ext cx="5688632" cy="55489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Прямоугольник 6"/>
          <p:cNvSpPr/>
          <p:nvPr/>
        </p:nvSpPr>
        <p:spPr>
          <a:xfrm>
            <a:off x="4238712" y="6415612"/>
            <a:ext cx="4190827" cy="400110"/>
          </a:xfrm>
          <a:prstGeom prst="rect">
            <a:avLst/>
          </a:prstGeom>
        </p:spPr>
        <p:txBody>
          <a:bodyPr wrap="none">
            <a:spAutoFit/>
          </a:bodyPr>
          <a:lstStyle/>
          <a:p>
            <a:pPr indent="270510" algn="ctr">
              <a:spcBef>
                <a:spcPts val="1200"/>
              </a:spcBef>
              <a:spcAft>
                <a:spcPts val="300"/>
              </a:spcAft>
            </a:pPr>
            <a:r>
              <a:rPr lang="ru-RU" dirty="0" err="1">
                <a:latin typeface="Times New Roman" panose="02020603050405020304" pitchFamily="18" charset="0"/>
              </a:rPr>
              <a:t>Квантильно-квантильный</a:t>
            </a:r>
            <a:r>
              <a:rPr lang="ru-RU" dirty="0">
                <a:latin typeface="Times New Roman" panose="02020603050405020304" pitchFamily="18" charset="0"/>
              </a:rPr>
              <a:t> график.</a:t>
            </a:r>
            <a:endParaRPr lang="ru-RU" sz="2400" b="1" i="1" dirty="0"/>
          </a:p>
        </p:txBody>
      </p:sp>
      <p:sp>
        <p:nvSpPr>
          <p:cNvPr id="3" name="Номер слайда 2"/>
          <p:cNvSpPr>
            <a:spLocks noGrp="1"/>
          </p:cNvSpPr>
          <p:nvPr>
            <p:ph type="sldNum" sz="quarter" idx="12"/>
          </p:nvPr>
        </p:nvSpPr>
        <p:spPr>
          <a:xfrm>
            <a:off x="11597439" y="6496054"/>
            <a:ext cx="521177" cy="379409"/>
          </a:xfrm>
        </p:spPr>
        <p:txBody>
          <a:bodyPr/>
          <a:lstStyle/>
          <a:p>
            <a:fld id="{952B6C0E-C4B9-4094-8E59-5B7DF00D5415}" type="slidenum">
              <a:rPr lang="ru-RU" smtClean="0">
                <a:solidFill>
                  <a:schemeClr val="tx1"/>
                </a:solidFill>
              </a:rPr>
              <a:t>78</a:t>
            </a:fld>
            <a:endParaRPr lang="ru-RU" dirty="0">
              <a:solidFill>
                <a:schemeClr val="tx1"/>
              </a:solidFill>
            </a:endParaRPr>
          </a:p>
        </p:txBody>
      </p:sp>
    </p:spTree>
    <p:extLst>
      <p:ext uri="{BB962C8B-B14F-4D97-AF65-F5344CB8AC3E}">
        <p14:creationId xmlns:p14="http://schemas.microsoft.com/office/powerpoint/2010/main" val="19113441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4"/>
          <p:cNvSpPr>
            <a:spLocks noChangeArrowheads="1"/>
          </p:cNvSpPr>
          <p:nvPr/>
        </p:nvSpPr>
        <p:spPr bwMode="auto">
          <a:xfrm>
            <a:off x="1438276" y="322263"/>
            <a:ext cx="10728498" cy="6553200"/>
          </a:xfrm>
          <a:prstGeom prst="roundRect">
            <a:avLst>
              <a:gd name="adj" fmla="val 16667"/>
            </a:avLst>
          </a:prstGeom>
          <a:solidFill>
            <a:schemeClr val="bg1">
              <a:alpha val="50195"/>
            </a:scheme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5" name="AutoShape 5"/>
          <p:cNvSpPr>
            <a:spLocks noChangeArrowheads="1"/>
          </p:cNvSpPr>
          <p:nvPr/>
        </p:nvSpPr>
        <p:spPr bwMode="auto">
          <a:xfrm>
            <a:off x="2373685" y="322264"/>
            <a:ext cx="8064128" cy="720601"/>
          </a:xfrm>
          <a:prstGeom prst="roundRect">
            <a:avLst>
              <a:gd name="adj" fmla="val 37469"/>
            </a:avLst>
          </a:prstGeom>
          <a:solidFill>
            <a:srgbClr val="FFFFFF">
              <a:alpha val="78822"/>
            </a:srgb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2" name="Заголовок 1"/>
          <p:cNvSpPr txBox="1">
            <a:spLocks noGrp="1"/>
          </p:cNvSpPr>
          <p:nvPr>
            <p:ph type="title" idx="4294967295"/>
          </p:nvPr>
        </p:nvSpPr>
        <p:spPr>
          <a:xfrm>
            <a:off x="2130612" y="288925"/>
            <a:ext cx="8550275" cy="1101622"/>
          </a:xfrm>
          <a:prstGeom prst="rect">
            <a:avLst/>
          </a:prstGeom>
        </p:spPr>
        <p:txBody>
          <a:bodyPr/>
          <a:lstStyle/>
          <a:p>
            <a:r>
              <a:rPr lang="ru-RU" dirty="0"/>
              <a:t>Проверка на нормальность</a:t>
            </a:r>
          </a:p>
        </p:txBody>
      </p:sp>
      <p:sp>
        <p:nvSpPr>
          <p:cNvPr id="3" name="Rectangle 1"/>
          <p:cNvSpPr>
            <a:spLocks noChangeArrowheads="1"/>
          </p:cNvSpPr>
          <p:nvPr/>
        </p:nvSpPr>
        <p:spPr bwMode="auto">
          <a:xfrm>
            <a:off x="2884203" y="1390548"/>
            <a:ext cx="2873859" cy="877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0" numCol="1" anchor="ctr" anchorCtr="0" compatLnSpc="1">
            <a:prstTxWarp prst="textNoShape">
              <a:avLst/>
            </a:prstTxWarp>
            <a:spAutoFit/>
          </a:bodyPr>
          <a:lstStyle/>
          <a:p>
            <a:pPr eaLnBrk="0" hangingPunct="0"/>
            <a:r>
              <a:rPr lang="ru-RU" altLang="ru-RU" sz="1800" dirty="0" err="1">
                <a:solidFill>
                  <a:srgbClr val="0000FF"/>
                </a:solidFill>
                <a:latin typeface="Lucida Console" panose="020B0609040504020204" pitchFamily="49" charset="0"/>
              </a:rPr>
              <a:t>numb</a:t>
            </a:r>
            <a:r>
              <a:rPr lang="ru-RU" altLang="ru-RU" sz="1800" dirty="0">
                <a:solidFill>
                  <a:srgbClr val="0000FF"/>
                </a:solidFill>
                <a:latin typeface="Lucida Console" panose="020B0609040504020204" pitchFamily="49" charset="0"/>
              </a:rPr>
              <a:t>=</a:t>
            </a:r>
            <a:r>
              <a:rPr lang="ru-RU" altLang="ru-RU" sz="1800" dirty="0" err="1">
                <a:solidFill>
                  <a:srgbClr val="0000FF"/>
                </a:solidFill>
                <a:latin typeface="Lucida Console" panose="020B0609040504020204" pitchFamily="49" charset="0"/>
              </a:rPr>
              <a:t>rnorm</a:t>
            </a:r>
            <a:r>
              <a:rPr lang="ru-RU" altLang="ru-RU" sz="1800" dirty="0">
                <a:solidFill>
                  <a:srgbClr val="0000FF"/>
                </a:solidFill>
                <a:latin typeface="Lucida Console" panose="020B0609040504020204" pitchFamily="49" charset="0"/>
              </a:rPr>
              <a:t>(100); </a:t>
            </a:r>
          </a:p>
          <a:p>
            <a:pPr eaLnBrk="0" hangingPunct="0"/>
            <a:r>
              <a:rPr lang="ru-RU" altLang="ru-RU" sz="1800" dirty="0" err="1">
                <a:solidFill>
                  <a:srgbClr val="0000FF"/>
                </a:solidFill>
                <a:latin typeface="Lucida Console" panose="020B0609040504020204" pitchFamily="49" charset="0"/>
                <a:ea typeface="Times New Roman" panose="02020603050405020304" pitchFamily="18" charset="0"/>
                <a:cs typeface="Courier New" panose="02070309020205020404" pitchFamily="49" charset="0"/>
              </a:rPr>
              <a:t>qqnorm</a:t>
            </a:r>
            <a:r>
              <a:rPr lang="ru-RU" altLang="ru-RU" sz="1800" dirty="0">
                <a:solidFill>
                  <a:srgbClr val="0000FF"/>
                </a:solidFill>
                <a:latin typeface="Lucida Console" panose="020B0609040504020204" pitchFamily="49" charset="0"/>
                <a:ea typeface="Times New Roman" panose="02020603050405020304" pitchFamily="18" charset="0"/>
                <a:cs typeface="Courier New" panose="02070309020205020404" pitchFamily="49" charset="0"/>
              </a:rPr>
              <a:t>(</a:t>
            </a:r>
            <a:r>
              <a:rPr lang="ru-RU" altLang="ru-RU" sz="1800" dirty="0" err="1">
                <a:solidFill>
                  <a:srgbClr val="0000FF"/>
                </a:solidFill>
                <a:latin typeface="Lucida Console" panose="020B0609040504020204" pitchFamily="49" charset="0"/>
                <a:ea typeface="Times New Roman" panose="02020603050405020304" pitchFamily="18" charset="0"/>
                <a:cs typeface="Courier New" panose="02070309020205020404" pitchFamily="49" charset="0"/>
              </a:rPr>
              <a:t>numb</a:t>
            </a:r>
            <a:r>
              <a:rPr lang="ru-RU" altLang="ru-RU" sz="1800" dirty="0">
                <a:solidFill>
                  <a:srgbClr val="0000FF"/>
                </a:solidFill>
                <a:latin typeface="Lucida Console" panose="020B0609040504020204" pitchFamily="49" charset="0"/>
                <a:ea typeface="Times New Roman" panose="02020603050405020304" pitchFamily="18" charset="0"/>
                <a:cs typeface="Courier New" panose="02070309020205020404" pitchFamily="49" charset="0"/>
              </a:rPr>
              <a:t>) </a:t>
            </a:r>
            <a:r>
              <a:rPr lang="ru-RU" altLang="ru-RU" sz="1800" dirty="0" err="1">
                <a:solidFill>
                  <a:srgbClr val="0000FF"/>
                </a:solidFill>
                <a:latin typeface="Lucida Console" panose="020B0609040504020204" pitchFamily="49" charset="0"/>
                <a:ea typeface="Times New Roman" panose="02020603050405020304" pitchFamily="18" charset="0"/>
                <a:cs typeface="Courier New" panose="02070309020205020404" pitchFamily="49" charset="0"/>
              </a:rPr>
              <a:t>qqline</a:t>
            </a:r>
            <a:r>
              <a:rPr lang="ru-RU" altLang="ru-RU" sz="1800" dirty="0">
                <a:solidFill>
                  <a:srgbClr val="0000FF"/>
                </a:solidFill>
                <a:latin typeface="Lucida Console" panose="020B0609040504020204" pitchFamily="49" charset="0"/>
                <a:ea typeface="Times New Roman" panose="02020603050405020304" pitchFamily="18" charset="0"/>
                <a:cs typeface="Courier New" panose="02070309020205020404" pitchFamily="49" charset="0"/>
              </a:rPr>
              <a:t>(</a:t>
            </a:r>
            <a:r>
              <a:rPr lang="ru-RU" altLang="ru-RU" sz="1800" dirty="0" err="1">
                <a:solidFill>
                  <a:srgbClr val="0000FF"/>
                </a:solidFill>
                <a:latin typeface="Lucida Console" panose="020B0609040504020204" pitchFamily="49" charset="0"/>
                <a:ea typeface="Times New Roman" panose="02020603050405020304" pitchFamily="18" charset="0"/>
                <a:cs typeface="Courier New" panose="02070309020205020404" pitchFamily="49" charset="0"/>
              </a:rPr>
              <a:t>numb,col</a:t>
            </a:r>
            <a:r>
              <a:rPr lang="ru-RU" altLang="ru-RU" sz="1800" dirty="0">
                <a:solidFill>
                  <a:srgbClr val="0000FF"/>
                </a:solidFill>
                <a:latin typeface="Lucida Console" panose="020B0609040504020204" pitchFamily="49" charset="0"/>
                <a:ea typeface="Times New Roman" panose="02020603050405020304" pitchFamily="18" charset="0"/>
                <a:cs typeface="Courier New" panose="02070309020205020404" pitchFamily="49" charset="0"/>
              </a:rPr>
              <a:t>=2)</a:t>
            </a:r>
            <a:r>
              <a:rPr lang="ru-RU" altLang="ru-RU" sz="1800" dirty="0"/>
              <a:t> </a:t>
            </a:r>
          </a:p>
        </p:txBody>
      </p:sp>
      <p:sp>
        <p:nvSpPr>
          <p:cNvPr id="9" name="Rectangle 3"/>
          <p:cNvSpPr>
            <a:spLocks noChangeArrowheads="1"/>
          </p:cNvSpPr>
          <p:nvPr/>
        </p:nvSpPr>
        <p:spPr bwMode="auto">
          <a:xfrm>
            <a:off x="6534302" y="1390547"/>
            <a:ext cx="4516394" cy="877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0" numCol="1" anchor="ctr" anchorCtr="0" compatLnSpc="1">
            <a:prstTxWarp prst="textNoShape">
              <a:avLst/>
            </a:prstTxWarp>
            <a:spAutoFit/>
          </a:bodyPr>
          <a:lstStyle/>
          <a:p>
            <a:pPr eaLnBrk="0" hangingPunct="0"/>
            <a:r>
              <a:rPr lang="ru-RU" altLang="ru-RU" sz="1800" dirty="0">
                <a:solidFill>
                  <a:srgbClr val="0000FF"/>
                </a:solidFill>
                <a:latin typeface="Lucida Console" panose="020B0609040504020204" pitchFamily="49" charset="0"/>
              </a:rPr>
              <a:t>n&lt;-</a:t>
            </a:r>
            <a:r>
              <a:rPr lang="ru-RU" altLang="ru-RU" sz="1800" dirty="0" err="1">
                <a:solidFill>
                  <a:srgbClr val="0000FF"/>
                </a:solidFill>
                <a:latin typeface="Lucida Console" panose="020B0609040504020204" pitchFamily="49" charset="0"/>
              </a:rPr>
              <a:t>runif</a:t>
            </a:r>
            <a:r>
              <a:rPr lang="ru-RU" altLang="ru-RU" sz="1800" dirty="0">
                <a:solidFill>
                  <a:srgbClr val="0000FF"/>
                </a:solidFill>
                <a:latin typeface="Lucida Console" panose="020B0609040504020204" pitchFamily="49" charset="0"/>
              </a:rPr>
              <a:t>(100, </a:t>
            </a:r>
            <a:r>
              <a:rPr lang="ru-RU" altLang="ru-RU" sz="1800" dirty="0" err="1">
                <a:solidFill>
                  <a:srgbClr val="0000FF"/>
                </a:solidFill>
                <a:latin typeface="Lucida Console" panose="020B0609040504020204" pitchFamily="49" charset="0"/>
              </a:rPr>
              <a:t>min</a:t>
            </a:r>
            <a:r>
              <a:rPr lang="ru-RU" altLang="ru-RU" sz="1800" dirty="0">
                <a:solidFill>
                  <a:srgbClr val="0000FF"/>
                </a:solidFill>
                <a:latin typeface="Lucida Console" panose="020B0609040504020204" pitchFamily="49" charset="0"/>
              </a:rPr>
              <a:t>=-10, </a:t>
            </a:r>
            <a:r>
              <a:rPr lang="ru-RU" altLang="ru-RU" sz="1800" dirty="0" err="1">
                <a:solidFill>
                  <a:srgbClr val="0000FF"/>
                </a:solidFill>
                <a:latin typeface="Lucida Console" panose="020B0609040504020204" pitchFamily="49" charset="0"/>
              </a:rPr>
              <a:t>max</a:t>
            </a:r>
            <a:r>
              <a:rPr lang="ru-RU" altLang="ru-RU" sz="1800" dirty="0">
                <a:solidFill>
                  <a:srgbClr val="0000FF"/>
                </a:solidFill>
                <a:latin typeface="Lucida Console" panose="020B0609040504020204" pitchFamily="49" charset="0"/>
              </a:rPr>
              <a:t> =10)</a:t>
            </a:r>
          </a:p>
          <a:p>
            <a:pPr eaLnBrk="0" hangingPunct="0"/>
            <a:r>
              <a:rPr lang="ru-RU" altLang="ru-RU" sz="1800" dirty="0" err="1">
                <a:solidFill>
                  <a:srgbClr val="0000FF"/>
                </a:solidFill>
                <a:latin typeface="Lucida Console" panose="020B0609040504020204" pitchFamily="49" charset="0"/>
              </a:rPr>
              <a:t>qqnorm</a:t>
            </a:r>
            <a:r>
              <a:rPr lang="ru-RU" altLang="ru-RU" sz="1800" dirty="0">
                <a:solidFill>
                  <a:srgbClr val="0000FF"/>
                </a:solidFill>
                <a:latin typeface="Lucida Console" panose="020B0609040504020204" pitchFamily="49" charset="0"/>
              </a:rPr>
              <a:t>(n)</a:t>
            </a:r>
          </a:p>
          <a:p>
            <a:pPr eaLnBrk="0" hangingPunct="0"/>
            <a:r>
              <a:rPr lang="ru-RU" altLang="ru-RU" sz="1800" dirty="0" err="1">
                <a:solidFill>
                  <a:srgbClr val="0000FF"/>
                </a:solidFill>
                <a:latin typeface="Lucida Console" panose="020B0609040504020204" pitchFamily="49" charset="0"/>
              </a:rPr>
              <a:t>qqline</a:t>
            </a:r>
            <a:r>
              <a:rPr lang="ru-RU" altLang="ru-RU" sz="1800" dirty="0">
                <a:solidFill>
                  <a:srgbClr val="0000FF"/>
                </a:solidFill>
                <a:latin typeface="Lucida Console" panose="020B0609040504020204" pitchFamily="49" charset="0"/>
              </a:rPr>
              <a:t>(</a:t>
            </a:r>
            <a:r>
              <a:rPr lang="ru-RU" altLang="ru-RU" sz="1800" dirty="0" err="1">
                <a:solidFill>
                  <a:srgbClr val="0000FF"/>
                </a:solidFill>
                <a:latin typeface="Lucida Console" panose="020B0609040504020204" pitchFamily="49" charset="0"/>
              </a:rPr>
              <a:t>n,col</a:t>
            </a:r>
            <a:r>
              <a:rPr lang="ru-RU" altLang="ru-RU" sz="1800" dirty="0">
                <a:solidFill>
                  <a:srgbClr val="0000FF"/>
                </a:solidFill>
                <a:latin typeface="Lucida Console" panose="020B0609040504020204" pitchFamily="49" charset="0"/>
              </a:rPr>
              <a:t>=2)</a:t>
            </a:r>
            <a:endParaRPr lang="ru-RU" altLang="ru-RU" sz="4400" dirty="0"/>
          </a:p>
        </p:txBody>
      </p:sp>
      <p:pic>
        <p:nvPicPr>
          <p:cNvPr id="20485" name="Рисунок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50627" y="2825737"/>
            <a:ext cx="4347780" cy="2894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486" name="Рисунок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40180" y="2759181"/>
            <a:ext cx="4273896" cy="2960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Номер слайда 6"/>
          <p:cNvSpPr>
            <a:spLocks noGrp="1"/>
          </p:cNvSpPr>
          <p:nvPr>
            <p:ph type="sldNum" sz="quarter" idx="12"/>
          </p:nvPr>
        </p:nvSpPr>
        <p:spPr>
          <a:xfrm>
            <a:off x="11590709" y="6496054"/>
            <a:ext cx="736433" cy="379409"/>
          </a:xfrm>
        </p:spPr>
        <p:txBody>
          <a:bodyPr/>
          <a:lstStyle/>
          <a:p>
            <a:fld id="{952B6C0E-C4B9-4094-8E59-5B7DF00D5415}" type="slidenum">
              <a:rPr lang="ru-RU" smtClean="0">
                <a:solidFill>
                  <a:schemeClr val="tx1"/>
                </a:solidFill>
              </a:rPr>
              <a:t>79</a:t>
            </a:fld>
            <a:endParaRPr lang="ru-RU" dirty="0">
              <a:solidFill>
                <a:schemeClr val="tx1"/>
              </a:solidFill>
            </a:endParaRPr>
          </a:p>
        </p:txBody>
      </p:sp>
    </p:spTree>
    <p:extLst>
      <p:ext uri="{BB962C8B-B14F-4D97-AF65-F5344CB8AC3E}">
        <p14:creationId xmlns:p14="http://schemas.microsoft.com/office/powerpoint/2010/main" val="9366866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4"/>
          <p:cNvSpPr>
            <a:spLocks noChangeArrowheads="1"/>
          </p:cNvSpPr>
          <p:nvPr/>
        </p:nvSpPr>
        <p:spPr bwMode="auto">
          <a:xfrm>
            <a:off x="1438275" y="322263"/>
            <a:ext cx="10800505" cy="6553200"/>
          </a:xfrm>
          <a:prstGeom prst="roundRect">
            <a:avLst>
              <a:gd name="adj" fmla="val 16667"/>
            </a:avLst>
          </a:prstGeom>
          <a:solidFill>
            <a:schemeClr val="bg1">
              <a:alpha val="50195"/>
            </a:scheme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5" name="AutoShape 5"/>
          <p:cNvSpPr>
            <a:spLocks noChangeArrowheads="1"/>
          </p:cNvSpPr>
          <p:nvPr/>
        </p:nvSpPr>
        <p:spPr bwMode="auto">
          <a:xfrm>
            <a:off x="2373685" y="322264"/>
            <a:ext cx="8064128" cy="720601"/>
          </a:xfrm>
          <a:prstGeom prst="roundRect">
            <a:avLst>
              <a:gd name="adj" fmla="val 37469"/>
            </a:avLst>
          </a:prstGeom>
          <a:solidFill>
            <a:srgbClr val="FFFFFF">
              <a:alpha val="78822"/>
            </a:srgb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2" name="Заголовок 1"/>
          <p:cNvSpPr txBox="1">
            <a:spLocks noGrp="1"/>
          </p:cNvSpPr>
          <p:nvPr>
            <p:ph type="title" idx="4294967295"/>
          </p:nvPr>
        </p:nvSpPr>
        <p:spPr>
          <a:xfrm>
            <a:off x="1942272" y="246565"/>
            <a:ext cx="8550275" cy="1142289"/>
          </a:xfrm>
          <a:prstGeom prst="rect">
            <a:avLst/>
          </a:prstGeom>
        </p:spPr>
        <p:txBody>
          <a:bodyPr/>
          <a:lstStyle/>
          <a:p>
            <a:r>
              <a:rPr lang="ru-RU" dirty="0"/>
              <a:t>Проверка на нормальность</a:t>
            </a:r>
          </a:p>
        </p:txBody>
      </p:sp>
      <p:sp>
        <p:nvSpPr>
          <p:cNvPr id="10" name="Rectangle 1"/>
          <p:cNvSpPr>
            <a:spLocks noChangeArrowheads="1"/>
          </p:cNvSpPr>
          <p:nvPr/>
        </p:nvSpPr>
        <p:spPr bwMode="auto">
          <a:xfrm>
            <a:off x="2077627" y="1431215"/>
            <a:ext cx="5189111" cy="877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0" numCol="1" anchor="ctr" anchorCtr="0" compatLnSpc="1">
            <a:prstTxWarp prst="textNoShape">
              <a:avLst/>
            </a:prstTxWarp>
            <a:spAutoFit/>
          </a:bodyPr>
          <a:lstStyle/>
          <a:p>
            <a:pPr eaLnBrk="0" hangingPunct="0"/>
            <a:r>
              <a:rPr lang="ru-RU" altLang="ru-RU" sz="1800" dirty="0" err="1">
                <a:solidFill>
                  <a:srgbClr val="0000FF"/>
                </a:solidFill>
                <a:latin typeface="Lucida Console" panose="020B0609040504020204" pitchFamily="49" charset="0"/>
              </a:rPr>
              <a:t>install.packages</a:t>
            </a:r>
            <a:r>
              <a:rPr lang="ru-RU" altLang="ru-RU" sz="1800" dirty="0">
                <a:solidFill>
                  <a:srgbClr val="0000FF"/>
                </a:solidFill>
                <a:latin typeface="Lucida Console" panose="020B0609040504020204" pitchFamily="49" charset="0"/>
              </a:rPr>
              <a:t>('</a:t>
            </a:r>
            <a:r>
              <a:rPr lang="ru-RU" altLang="ru-RU" sz="1800" dirty="0" err="1">
                <a:solidFill>
                  <a:srgbClr val="0000FF"/>
                </a:solidFill>
                <a:latin typeface="Lucida Console" panose="020B0609040504020204" pitchFamily="49" charset="0"/>
              </a:rPr>
              <a:t>car</a:t>
            </a:r>
            <a:r>
              <a:rPr lang="ru-RU" altLang="ru-RU" sz="1800" dirty="0">
                <a:solidFill>
                  <a:srgbClr val="0000FF"/>
                </a:solidFill>
                <a:latin typeface="Lucida Console" panose="020B0609040504020204" pitchFamily="49" charset="0"/>
              </a:rPr>
              <a:t>')</a:t>
            </a:r>
            <a:endParaRPr lang="en-US" altLang="ru-RU" sz="1800" dirty="0">
              <a:solidFill>
                <a:srgbClr val="0000FF"/>
              </a:solidFill>
              <a:latin typeface="Lucida Console" panose="020B0609040504020204" pitchFamily="49" charset="0"/>
            </a:endParaRPr>
          </a:p>
          <a:p>
            <a:pPr eaLnBrk="0" hangingPunct="0"/>
            <a:r>
              <a:rPr lang="ru-RU" altLang="ru-RU" sz="1800" dirty="0" err="1">
                <a:solidFill>
                  <a:srgbClr val="0000FF"/>
                </a:solidFill>
                <a:latin typeface="Lucida Console" panose="020B0609040504020204" pitchFamily="49" charset="0"/>
              </a:rPr>
              <a:t>library</a:t>
            </a:r>
            <a:r>
              <a:rPr lang="ru-RU" altLang="ru-RU" sz="1800" dirty="0">
                <a:solidFill>
                  <a:srgbClr val="0000FF"/>
                </a:solidFill>
                <a:latin typeface="Lucida Console" panose="020B0609040504020204" pitchFamily="49" charset="0"/>
              </a:rPr>
              <a:t>(</a:t>
            </a:r>
            <a:r>
              <a:rPr lang="ru-RU" altLang="ru-RU" sz="1800" dirty="0" err="1">
                <a:solidFill>
                  <a:srgbClr val="0000FF"/>
                </a:solidFill>
                <a:latin typeface="Lucida Console" panose="020B0609040504020204" pitchFamily="49" charset="0"/>
              </a:rPr>
              <a:t>car</a:t>
            </a:r>
            <a:r>
              <a:rPr lang="ru-RU" altLang="ru-RU" sz="1800" dirty="0">
                <a:solidFill>
                  <a:srgbClr val="0000FF"/>
                </a:solidFill>
                <a:latin typeface="Lucida Console" panose="020B0609040504020204" pitchFamily="49" charset="0"/>
              </a:rPr>
              <a:t>)</a:t>
            </a:r>
            <a:r>
              <a:rPr lang="en-US" altLang="ru-RU" sz="1800" dirty="0">
                <a:solidFill>
                  <a:srgbClr val="0000FF"/>
                </a:solidFill>
                <a:latin typeface="Lucida Console" panose="020B0609040504020204" pitchFamily="49" charset="0"/>
              </a:rPr>
              <a:t> </a:t>
            </a:r>
          </a:p>
          <a:p>
            <a:pPr eaLnBrk="0" hangingPunct="0"/>
            <a:r>
              <a:rPr lang="ru-RU" altLang="ru-RU" sz="1800" dirty="0" err="1">
                <a:solidFill>
                  <a:srgbClr val="0000FF"/>
                </a:solidFill>
                <a:latin typeface="Lucida Console" panose="020B0609040504020204" pitchFamily="49" charset="0"/>
              </a:rPr>
              <a:t>qqPlot</a:t>
            </a:r>
            <a:r>
              <a:rPr lang="ru-RU" altLang="ru-RU" sz="1800" dirty="0">
                <a:solidFill>
                  <a:srgbClr val="0000FF"/>
                </a:solidFill>
                <a:latin typeface="Lucida Console" panose="020B0609040504020204" pitchFamily="49" charset="0"/>
              </a:rPr>
              <a:t>(</a:t>
            </a:r>
            <a:r>
              <a:rPr lang="ru-RU" altLang="ru-RU" sz="1800" dirty="0" err="1">
                <a:solidFill>
                  <a:srgbClr val="0000FF"/>
                </a:solidFill>
                <a:latin typeface="Lucida Console" panose="020B0609040504020204" pitchFamily="49" charset="0"/>
              </a:rPr>
              <a:t>numb</a:t>
            </a:r>
            <a:r>
              <a:rPr lang="ru-RU" altLang="ru-RU" sz="1800" dirty="0">
                <a:solidFill>
                  <a:srgbClr val="0000FF"/>
                </a:solidFill>
                <a:latin typeface="Lucida Console" panose="020B0609040504020204" pitchFamily="49" charset="0"/>
              </a:rPr>
              <a:t>)</a:t>
            </a:r>
            <a:endParaRPr lang="en-US" altLang="ru-RU" sz="1800" dirty="0">
              <a:solidFill>
                <a:srgbClr val="0000FF"/>
              </a:solidFill>
              <a:latin typeface="Lucida Console" panose="020B0609040504020204" pitchFamily="49" charset="0"/>
            </a:endParaRPr>
          </a:p>
        </p:txBody>
      </p:sp>
      <p:pic>
        <p:nvPicPr>
          <p:cNvPr id="21506" name="Рисунок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81597" y="2654301"/>
            <a:ext cx="4635812" cy="3163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507" name="Рисунок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61871" y="2612007"/>
            <a:ext cx="4660824" cy="32054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Прямоугольник 10"/>
          <p:cNvSpPr/>
          <p:nvPr/>
        </p:nvSpPr>
        <p:spPr>
          <a:xfrm>
            <a:off x="7761625" y="1864819"/>
            <a:ext cx="1569660" cy="400110"/>
          </a:xfrm>
          <a:prstGeom prst="rect">
            <a:avLst/>
          </a:prstGeom>
        </p:spPr>
        <p:txBody>
          <a:bodyPr wrap="none">
            <a:spAutoFit/>
          </a:bodyPr>
          <a:lstStyle/>
          <a:p>
            <a:pPr eaLnBrk="0" hangingPunct="0"/>
            <a:r>
              <a:rPr lang="ru-RU" altLang="ru-RU" dirty="0" err="1">
                <a:solidFill>
                  <a:srgbClr val="0000FF"/>
                </a:solidFill>
                <a:latin typeface="Lucida Console" panose="020B0609040504020204" pitchFamily="49" charset="0"/>
              </a:rPr>
              <a:t>qqPlot</a:t>
            </a:r>
            <a:r>
              <a:rPr lang="ru-RU" altLang="ru-RU" dirty="0">
                <a:solidFill>
                  <a:srgbClr val="0000FF"/>
                </a:solidFill>
                <a:latin typeface="Lucida Console" panose="020B0609040504020204" pitchFamily="49" charset="0"/>
              </a:rPr>
              <a:t>(n)</a:t>
            </a:r>
            <a:endParaRPr lang="en-US" altLang="ru-RU" dirty="0">
              <a:solidFill>
                <a:srgbClr val="0000FF"/>
              </a:solidFill>
              <a:latin typeface="Lucida Console" panose="020B0609040504020204" pitchFamily="49" charset="0"/>
            </a:endParaRPr>
          </a:p>
        </p:txBody>
      </p:sp>
      <p:sp>
        <p:nvSpPr>
          <p:cNvPr id="3" name="Номер слайда 2"/>
          <p:cNvSpPr>
            <a:spLocks noGrp="1"/>
          </p:cNvSpPr>
          <p:nvPr>
            <p:ph type="sldNum" sz="quarter" idx="12"/>
          </p:nvPr>
        </p:nvSpPr>
        <p:spPr>
          <a:xfrm>
            <a:off x="11699622" y="6571752"/>
            <a:ext cx="664425" cy="379409"/>
          </a:xfrm>
        </p:spPr>
        <p:txBody>
          <a:bodyPr/>
          <a:lstStyle/>
          <a:p>
            <a:fld id="{952B6C0E-C4B9-4094-8E59-5B7DF00D5415}" type="slidenum">
              <a:rPr lang="ru-RU" smtClean="0">
                <a:solidFill>
                  <a:schemeClr val="tx1"/>
                </a:solidFill>
              </a:rPr>
              <a:t>80</a:t>
            </a:fld>
            <a:endParaRPr lang="ru-RU" dirty="0">
              <a:solidFill>
                <a:schemeClr val="tx1"/>
              </a:solidFill>
            </a:endParaRPr>
          </a:p>
        </p:txBody>
      </p:sp>
    </p:spTree>
    <p:extLst>
      <p:ext uri="{BB962C8B-B14F-4D97-AF65-F5344CB8AC3E}">
        <p14:creationId xmlns:p14="http://schemas.microsoft.com/office/powerpoint/2010/main" val="6422755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4"/>
          <p:cNvSpPr>
            <a:spLocks noChangeArrowheads="1"/>
          </p:cNvSpPr>
          <p:nvPr/>
        </p:nvSpPr>
        <p:spPr bwMode="auto">
          <a:xfrm>
            <a:off x="1438275" y="322263"/>
            <a:ext cx="10800505" cy="6553200"/>
          </a:xfrm>
          <a:prstGeom prst="roundRect">
            <a:avLst>
              <a:gd name="adj" fmla="val 16667"/>
            </a:avLst>
          </a:prstGeom>
          <a:solidFill>
            <a:schemeClr val="bg1">
              <a:alpha val="50195"/>
            </a:scheme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5" name="AutoShape 5"/>
          <p:cNvSpPr>
            <a:spLocks noChangeArrowheads="1"/>
          </p:cNvSpPr>
          <p:nvPr/>
        </p:nvSpPr>
        <p:spPr bwMode="auto">
          <a:xfrm>
            <a:off x="2373685" y="322264"/>
            <a:ext cx="8064128" cy="720601"/>
          </a:xfrm>
          <a:prstGeom prst="roundRect">
            <a:avLst>
              <a:gd name="adj" fmla="val 37469"/>
            </a:avLst>
          </a:prstGeom>
          <a:solidFill>
            <a:srgbClr val="FFFFFF">
              <a:alpha val="78822"/>
            </a:srgb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2" name="Заголовок 1"/>
          <p:cNvSpPr txBox="1">
            <a:spLocks noGrp="1"/>
          </p:cNvSpPr>
          <p:nvPr>
            <p:ph type="title" idx="4294967295"/>
          </p:nvPr>
        </p:nvSpPr>
        <p:spPr>
          <a:xfrm>
            <a:off x="1195389" y="288925"/>
            <a:ext cx="8550275" cy="1525588"/>
          </a:xfrm>
          <a:prstGeom prst="rect">
            <a:avLst/>
          </a:prstGeom>
        </p:spPr>
        <p:txBody>
          <a:bodyPr/>
          <a:lstStyle/>
          <a:p>
            <a:r>
              <a:rPr lang="ru-RU" dirty="0"/>
              <a:t>Проверка на нормальность</a:t>
            </a:r>
          </a:p>
        </p:txBody>
      </p:sp>
      <p:sp>
        <p:nvSpPr>
          <p:cNvPr id="3" name="Текст 2"/>
          <p:cNvSpPr txBox="1">
            <a:spLocks noGrp="1"/>
          </p:cNvSpPr>
          <p:nvPr>
            <p:ph type="body" idx="4294967295"/>
          </p:nvPr>
        </p:nvSpPr>
        <p:spPr>
          <a:xfrm>
            <a:off x="1438275" y="1790621"/>
            <a:ext cx="10352830" cy="3860800"/>
          </a:xfrm>
          <a:prstGeom prst="rect">
            <a:avLst/>
          </a:prstGeom>
        </p:spPr>
        <p:txBody>
          <a:bodyPr wrap="square"/>
          <a:lstStyle/>
          <a:p>
            <a:pPr marL="0" indent="357188">
              <a:spcBef>
                <a:spcPts val="674"/>
              </a:spcBef>
              <a:buClr>
                <a:srgbClr val="CC9900"/>
              </a:buClr>
              <a:buSzPct val="65000"/>
              <a:buFont typeface="Wingdings" pitchFamily="2"/>
              <a:buChar char=""/>
            </a:pPr>
            <a:r>
              <a:rPr lang="ru-RU" sz="2800" dirty="0"/>
              <a:t>Как оказалось, для тех методов, которые рассматриваются в данном курсе, требование нормальности распределения можно заметно ослабить.</a:t>
            </a:r>
          </a:p>
          <a:p>
            <a:pPr marL="0" indent="357188">
              <a:spcBef>
                <a:spcPts val="674"/>
              </a:spcBef>
              <a:buClr>
                <a:srgbClr val="CC9900"/>
              </a:buClr>
              <a:buSzPct val="65000"/>
              <a:buFont typeface="Wingdings" pitchFamily="2"/>
              <a:buChar char=""/>
            </a:pPr>
            <a:r>
              <a:rPr lang="ru-RU" sz="2800" dirty="0"/>
              <a:t>Эти методы работают не только когда переменные имеют нормальное распределение, но и когда, как говорят, «</a:t>
            </a:r>
            <a:r>
              <a:rPr lang="ru-RU" sz="2800" b="1" i="1" dirty="0"/>
              <a:t>распределение данных несущественно отличается от нормального</a:t>
            </a:r>
            <a:r>
              <a:rPr lang="ru-RU" sz="2800" dirty="0"/>
              <a:t>».</a:t>
            </a:r>
          </a:p>
        </p:txBody>
      </p:sp>
      <p:sp>
        <p:nvSpPr>
          <p:cNvPr id="7" name="Номер слайда 6"/>
          <p:cNvSpPr>
            <a:spLocks noGrp="1"/>
          </p:cNvSpPr>
          <p:nvPr>
            <p:ph type="sldNum" sz="quarter" idx="12"/>
          </p:nvPr>
        </p:nvSpPr>
        <p:spPr/>
        <p:txBody>
          <a:bodyPr/>
          <a:lstStyle/>
          <a:p>
            <a:fld id="{952B6C0E-C4B9-4094-8E59-5B7DF00D5415}" type="slidenum">
              <a:rPr lang="ru-RU" smtClean="0">
                <a:solidFill>
                  <a:schemeClr val="tx1"/>
                </a:solidFill>
              </a:rPr>
              <a:t>81</a:t>
            </a:fld>
            <a:endParaRPr lang="ru-RU" dirty="0">
              <a:solidFill>
                <a:schemeClr val="tx1"/>
              </a:solidFill>
            </a:endParaRPr>
          </a:p>
        </p:txBody>
      </p:sp>
    </p:spTree>
    <p:extLst>
      <p:ext uri="{BB962C8B-B14F-4D97-AF65-F5344CB8AC3E}">
        <p14:creationId xmlns:p14="http://schemas.microsoft.com/office/powerpoint/2010/main" val="9604840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4"/>
          <p:cNvSpPr>
            <a:spLocks noChangeArrowheads="1"/>
          </p:cNvSpPr>
          <p:nvPr/>
        </p:nvSpPr>
        <p:spPr bwMode="auto">
          <a:xfrm>
            <a:off x="1438275" y="322263"/>
            <a:ext cx="10948119" cy="6553200"/>
          </a:xfrm>
          <a:prstGeom prst="roundRect">
            <a:avLst>
              <a:gd name="adj" fmla="val 16667"/>
            </a:avLst>
          </a:prstGeom>
          <a:solidFill>
            <a:schemeClr val="bg1">
              <a:alpha val="50195"/>
            </a:scheme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5" name="AutoShape 5"/>
          <p:cNvSpPr>
            <a:spLocks noChangeArrowheads="1"/>
          </p:cNvSpPr>
          <p:nvPr/>
        </p:nvSpPr>
        <p:spPr bwMode="auto">
          <a:xfrm>
            <a:off x="2373685" y="322264"/>
            <a:ext cx="8064128" cy="720601"/>
          </a:xfrm>
          <a:prstGeom prst="roundRect">
            <a:avLst>
              <a:gd name="adj" fmla="val 37469"/>
            </a:avLst>
          </a:prstGeom>
          <a:solidFill>
            <a:srgbClr val="FFFFFF">
              <a:alpha val="78822"/>
            </a:srgb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2" name="Заголовок 1"/>
          <p:cNvSpPr txBox="1">
            <a:spLocks noGrp="1"/>
          </p:cNvSpPr>
          <p:nvPr>
            <p:ph type="title" idx="4294967295"/>
          </p:nvPr>
        </p:nvSpPr>
        <p:spPr>
          <a:xfrm>
            <a:off x="1195389" y="288926"/>
            <a:ext cx="8550275" cy="1184275"/>
          </a:xfrm>
          <a:prstGeom prst="rect">
            <a:avLst/>
          </a:prstGeom>
        </p:spPr>
        <p:txBody>
          <a:bodyPr wrap="square">
            <a:noAutofit/>
          </a:bodyPr>
          <a:lstStyle/>
          <a:p>
            <a:pPr lvl="0"/>
            <a:r>
              <a:rPr lang="ru-RU"/>
              <a:t>Существенные отклонения</a:t>
            </a:r>
          </a:p>
        </p:txBody>
      </p:sp>
      <p:sp>
        <p:nvSpPr>
          <p:cNvPr id="3" name="Текст 2"/>
          <p:cNvSpPr txBox="1">
            <a:spLocks noGrp="1"/>
          </p:cNvSpPr>
          <p:nvPr>
            <p:ph type="body" idx="4294967295"/>
          </p:nvPr>
        </p:nvSpPr>
        <p:spPr>
          <a:xfrm>
            <a:off x="1729823" y="1972471"/>
            <a:ext cx="9951106" cy="3268662"/>
          </a:xfrm>
          <a:prstGeom prst="rect">
            <a:avLst/>
          </a:prstGeom>
        </p:spPr>
        <p:txBody>
          <a:bodyPr wrap="square"/>
          <a:lstStyle/>
          <a:p>
            <a:pPr marL="0" indent="0">
              <a:buClr>
                <a:srgbClr val="CC9900"/>
              </a:buClr>
              <a:buSzPct val="65000"/>
              <a:buNone/>
              <a:tabLst>
                <a:tab pos="0" algn="l"/>
                <a:tab pos="110352" algn="l"/>
                <a:tab pos="577199" algn="l"/>
                <a:tab pos="1044046" algn="l"/>
                <a:tab pos="1510893" algn="l"/>
                <a:tab pos="1977740" algn="l"/>
                <a:tab pos="2444587" algn="l"/>
                <a:tab pos="2911434" algn="l"/>
                <a:tab pos="3378279" algn="l"/>
                <a:tab pos="3845127" algn="l"/>
                <a:tab pos="4311973" algn="l"/>
                <a:tab pos="4778447" algn="l"/>
                <a:tab pos="5245294" algn="l"/>
                <a:tab pos="5712141" algn="l"/>
                <a:tab pos="6178987" algn="l"/>
                <a:tab pos="6645833" algn="l"/>
                <a:tab pos="7112681" algn="l"/>
                <a:tab pos="7579527" algn="l"/>
                <a:tab pos="8046375" algn="l"/>
                <a:tab pos="8513222" algn="l"/>
                <a:tab pos="8980068" algn="l"/>
              </a:tabLst>
            </a:pPr>
            <a:r>
              <a:rPr lang="ru-RU" sz="3200" dirty="0"/>
              <a:t>1.  Наличие выбросов в данных.</a:t>
            </a:r>
          </a:p>
          <a:p>
            <a:pPr marL="0" indent="0">
              <a:buClr>
                <a:srgbClr val="CC9900"/>
              </a:buClr>
              <a:buSzPct val="65000"/>
              <a:buNone/>
              <a:tabLst>
                <a:tab pos="0" algn="l"/>
                <a:tab pos="110352" algn="l"/>
                <a:tab pos="577199" algn="l"/>
                <a:tab pos="1044046" algn="l"/>
                <a:tab pos="1510893" algn="l"/>
                <a:tab pos="1977740" algn="l"/>
                <a:tab pos="2444587" algn="l"/>
                <a:tab pos="2911434" algn="l"/>
                <a:tab pos="3378279" algn="l"/>
                <a:tab pos="3845127" algn="l"/>
                <a:tab pos="4311973" algn="l"/>
                <a:tab pos="4778447" algn="l"/>
                <a:tab pos="5245294" algn="l"/>
                <a:tab pos="5712141" algn="l"/>
                <a:tab pos="6178987" algn="l"/>
                <a:tab pos="6645833" algn="l"/>
                <a:tab pos="7112681" algn="l"/>
                <a:tab pos="7579527" algn="l"/>
                <a:tab pos="8046375" algn="l"/>
                <a:tab pos="8513222" algn="l"/>
                <a:tab pos="8980068" algn="l"/>
              </a:tabLst>
            </a:pPr>
            <a:r>
              <a:rPr lang="ru-RU" sz="3200" dirty="0"/>
              <a:t>2.  Явная асимметрия гистограммы.</a:t>
            </a:r>
          </a:p>
          <a:p>
            <a:pPr marL="0" indent="0">
              <a:buClr>
                <a:srgbClr val="CC9900"/>
              </a:buClr>
              <a:buSzPct val="65000"/>
              <a:buNone/>
              <a:tabLst>
                <a:tab pos="0" algn="l"/>
                <a:tab pos="110352" algn="l"/>
                <a:tab pos="577199" algn="l"/>
                <a:tab pos="1044046" algn="l"/>
                <a:tab pos="1510893" algn="l"/>
                <a:tab pos="1977740" algn="l"/>
                <a:tab pos="2444587" algn="l"/>
                <a:tab pos="2911434" algn="l"/>
                <a:tab pos="3378279" algn="l"/>
                <a:tab pos="3845127" algn="l"/>
                <a:tab pos="4311973" algn="l"/>
                <a:tab pos="4778447" algn="l"/>
                <a:tab pos="5245294" algn="l"/>
                <a:tab pos="5712141" algn="l"/>
                <a:tab pos="6178987" algn="l"/>
                <a:tab pos="6645833" algn="l"/>
                <a:tab pos="7112681" algn="l"/>
                <a:tab pos="7579527" algn="l"/>
                <a:tab pos="8046375" algn="l"/>
                <a:tab pos="8513222" algn="l"/>
                <a:tab pos="8980068" algn="l"/>
              </a:tabLst>
            </a:pPr>
            <a:r>
              <a:rPr lang="ru-RU" sz="3200" dirty="0"/>
              <a:t>3.  Очень сильное отклонение формы гистограммы от колоколообразной формы.</a:t>
            </a:r>
          </a:p>
        </p:txBody>
      </p:sp>
      <p:sp>
        <p:nvSpPr>
          <p:cNvPr id="7" name="Номер слайда 6"/>
          <p:cNvSpPr>
            <a:spLocks noGrp="1"/>
          </p:cNvSpPr>
          <p:nvPr>
            <p:ph type="sldNum" sz="quarter" idx="12"/>
          </p:nvPr>
        </p:nvSpPr>
        <p:spPr/>
        <p:txBody>
          <a:bodyPr/>
          <a:lstStyle/>
          <a:p>
            <a:fld id="{952B6C0E-C4B9-4094-8E59-5B7DF00D5415}" type="slidenum">
              <a:rPr lang="ru-RU" sz="1400">
                <a:solidFill>
                  <a:schemeClr val="tx1"/>
                </a:solidFill>
              </a:rPr>
              <a:t>82</a:t>
            </a:fld>
            <a:endParaRPr lang="ru-RU" sz="1400">
              <a:solidFill>
                <a:schemeClr val="tx1"/>
              </a:solidFill>
            </a:endParaRPr>
          </a:p>
        </p:txBody>
      </p:sp>
    </p:spTree>
    <p:extLst>
      <p:ext uri="{BB962C8B-B14F-4D97-AF65-F5344CB8AC3E}">
        <p14:creationId xmlns:p14="http://schemas.microsoft.com/office/powerpoint/2010/main" val="850767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4"/>
          <p:cNvSpPr>
            <a:spLocks noChangeArrowheads="1"/>
          </p:cNvSpPr>
          <p:nvPr/>
        </p:nvSpPr>
        <p:spPr bwMode="auto">
          <a:xfrm>
            <a:off x="1438275" y="322263"/>
            <a:ext cx="10944521" cy="6553200"/>
          </a:xfrm>
          <a:prstGeom prst="roundRect">
            <a:avLst>
              <a:gd name="adj" fmla="val 16667"/>
            </a:avLst>
          </a:prstGeom>
          <a:solidFill>
            <a:schemeClr val="bg1">
              <a:alpha val="50195"/>
            </a:scheme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5" name="AutoShape 5"/>
          <p:cNvSpPr>
            <a:spLocks noChangeArrowheads="1"/>
          </p:cNvSpPr>
          <p:nvPr/>
        </p:nvSpPr>
        <p:spPr bwMode="auto">
          <a:xfrm>
            <a:off x="2373685" y="322264"/>
            <a:ext cx="8064128" cy="720601"/>
          </a:xfrm>
          <a:prstGeom prst="roundRect">
            <a:avLst>
              <a:gd name="adj" fmla="val 37469"/>
            </a:avLst>
          </a:prstGeom>
          <a:solidFill>
            <a:srgbClr val="FFFFFF">
              <a:alpha val="78822"/>
            </a:srgb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2" name="Заголовок 1"/>
          <p:cNvSpPr txBox="1">
            <a:spLocks noGrp="1"/>
          </p:cNvSpPr>
          <p:nvPr>
            <p:ph type="title" idx="4294967295"/>
          </p:nvPr>
        </p:nvSpPr>
        <p:spPr>
          <a:xfrm>
            <a:off x="3309789" y="288926"/>
            <a:ext cx="6435875" cy="1184275"/>
          </a:xfrm>
          <a:prstGeom prst="rect">
            <a:avLst/>
          </a:prstGeom>
        </p:spPr>
        <p:txBody>
          <a:bodyPr wrap="square">
            <a:noAutofit/>
          </a:bodyPr>
          <a:lstStyle/>
          <a:p>
            <a:pPr lvl="0"/>
            <a:r>
              <a:rPr lang="ru-RU" dirty="0"/>
              <a:t>Рекомендуется</a:t>
            </a:r>
          </a:p>
        </p:txBody>
      </p:sp>
      <p:sp>
        <p:nvSpPr>
          <p:cNvPr id="3" name="Текст 2"/>
          <p:cNvSpPr txBox="1">
            <a:spLocks noGrp="1"/>
          </p:cNvSpPr>
          <p:nvPr>
            <p:ph type="body" idx="4294967295"/>
          </p:nvPr>
        </p:nvSpPr>
        <p:spPr>
          <a:xfrm>
            <a:off x="1438275" y="1660710"/>
            <a:ext cx="10584482" cy="4708525"/>
          </a:xfrm>
          <a:prstGeom prst="rect">
            <a:avLst/>
          </a:prstGeom>
        </p:spPr>
        <p:txBody>
          <a:bodyPr wrap="square"/>
          <a:lstStyle/>
          <a:p>
            <a:pPr marL="0" indent="623888">
              <a:spcBef>
                <a:spcPts val="674"/>
              </a:spcBef>
              <a:buClr>
                <a:srgbClr val="CC9900"/>
              </a:buClr>
              <a:buSzPct val="65000"/>
              <a:buFont typeface="Wingdings" pitchFamily="2"/>
              <a:buChar char=""/>
              <a:tabLst>
                <a:tab pos="0" algn="l"/>
                <a:tab pos="110352" algn="l"/>
                <a:tab pos="577199" algn="l"/>
                <a:tab pos="1044046" algn="l"/>
                <a:tab pos="1510893" algn="l"/>
                <a:tab pos="1977740" algn="l"/>
                <a:tab pos="2444587" algn="l"/>
                <a:tab pos="2911434" algn="l"/>
                <a:tab pos="3378279" algn="l"/>
                <a:tab pos="3845127" algn="l"/>
                <a:tab pos="4311973" algn="l"/>
                <a:tab pos="4778447" algn="l"/>
                <a:tab pos="5245294" algn="l"/>
                <a:tab pos="5712141" algn="l"/>
                <a:tab pos="6178987" algn="l"/>
                <a:tab pos="6645833" algn="l"/>
                <a:tab pos="7112681" algn="l"/>
                <a:tab pos="7579527" algn="l"/>
                <a:tab pos="8046375" algn="l"/>
                <a:tab pos="8513222" algn="l"/>
                <a:tab pos="8980068" algn="l"/>
              </a:tabLst>
            </a:pPr>
            <a:r>
              <a:rPr lang="ru-RU" sz="2800" dirty="0"/>
              <a:t>строго относиться к присутствию выбросов,</a:t>
            </a:r>
          </a:p>
          <a:p>
            <a:pPr marL="0" indent="623888">
              <a:spcBef>
                <a:spcPts val="674"/>
              </a:spcBef>
              <a:buClr>
                <a:srgbClr val="CC9900"/>
              </a:buClr>
              <a:buSzPct val="65000"/>
              <a:buFont typeface="Wingdings" pitchFamily="2"/>
              <a:buChar char=""/>
              <a:tabLst>
                <a:tab pos="0" algn="l"/>
                <a:tab pos="110352" algn="l"/>
                <a:tab pos="577199" algn="l"/>
                <a:tab pos="1044046" algn="l"/>
                <a:tab pos="1510893" algn="l"/>
                <a:tab pos="1977740" algn="l"/>
                <a:tab pos="2444587" algn="l"/>
                <a:tab pos="2911434" algn="l"/>
                <a:tab pos="3378279" algn="l"/>
                <a:tab pos="3845127" algn="l"/>
                <a:tab pos="4311973" algn="l"/>
                <a:tab pos="4778447" algn="l"/>
                <a:tab pos="5245294" algn="l"/>
                <a:tab pos="5712141" algn="l"/>
                <a:tab pos="6178987" algn="l"/>
                <a:tab pos="6645833" algn="l"/>
                <a:tab pos="7112681" algn="l"/>
                <a:tab pos="7579527" algn="l"/>
                <a:tab pos="8046375" algn="l"/>
                <a:tab pos="8513222" algn="l"/>
                <a:tab pos="8980068" algn="l"/>
              </a:tabLst>
            </a:pPr>
            <a:r>
              <a:rPr lang="ru-RU" sz="2800" dirty="0"/>
              <a:t>снисходительно к отклонениям от симметрии.</a:t>
            </a:r>
          </a:p>
          <a:p>
            <a:pPr marL="0" indent="623888">
              <a:spcBef>
                <a:spcPts val="674"/>
              </a:spcBef>
              <a:buClr>
                <a:srgbClr val="CC9900"/>
              </a:buClr>
              <a:buSzPct val="65000"/>
              <a:buFont typeface="Wingdings" pitchFamily="2"/>
              <a:buChar char=""/>
              <a:tabLst>
                <a:tab pos="0" algn="l"/>
                <a:tab pos="110352" algn="l"/>
                <a:tab pos="577199" algn="l"/>
                <a:tab pos="1044046" algn="l"/>
                <a:tab pos="1510893" algn="l"/>
                <a:tab pos="1977740" algn="l"/>
                <a:tab pos="2444587" algn="l"/>
                <a:tab pos="2911434" algn="l"/>
                <a:tab pos="3378279" algn="l"/>
                <a:tab pos="3845127" algn="l"/>
                <a:tab pos="4311973" algn="l"/>
                <a:tab pos="4778447" algn="l"/>
                <a:tab pos="5245294" algn="l"/>
                <a:tab pos="5712141" algn="l"/>
                <a:tab pos="6178987" algn="l"/>
                <a:tab pos="6645833" algn="l"/>
                <a:tab pos="7112681" algn="l"/>
                <a:tab pos="7579527" algn="l"/>
                <a:tab pos="8046375" algn="l"/>
                <a:tab pos="8513222" algn="l"/>
                <a:tab pos="8980068" algn="l"/>
              </a:tabLst>
            </a:pPr>
            <a:r>
              <a:rPr lang="ru-RU" sz="2800" dirty="0"/>
              <a:t>Наше отношение к колоколообразной форме гистограммы зависит от числа наблюдений. Если имеется меньше 30 наблюдений, наше отношение в высшей степени либерально, если число наблюдений находится между 30 и 150, мы относимся к отклонениям снисходительно, если имеется больше 150 наблюдений – строго.</a:t>
            </a:r>
          </a:p>
        </p:txBody>
      </p:sp>
      <p:sp>
        <p:nvSpPr>
          <p:cNvPr id="7" name="Номер слайда 6"/>
          <p:cNvSpPr>
            <a:spLocks noGrp="1"/>
          </p:cNvSpPr>
          <p:nvPr>
            <p:ph type="sldNum" sz="quarter" idx="12"/>
          </p:nvPr>
        </p:nvSpPr>
        <p:spPr>
          <a:xfrm>
            <a:off x="11574355" y="6514854"/>
            <a:ext cx="808441" cy="379409"/>
          </a:xfrm>
        </p:spPr>
        <p:txBody>
          <a:bodyPr/>
          <a:lstStyle/>
          <a:p>
            <a:fld id="{952B6C0E-C4B9-4094-8E59-5B7DF00D5415}" type="slidenum">
              <a:rPr lang="ru-RU" sz="1400">
                <a:solidFill>
                  <a:schemeClr val="tx1"/>
                </a:solidFill>
              </a:rPr>
              <a:t>83</a:t>
            </a:fld>
            <a:endParaRPr lang="ru-RU" sz="1400" dirty="0">
              <a:solidFill>
                <a:schemeClr val="tx1"/>
              </a:solidFill>
            </a:endParaRPr>
          </a:p>
        </p:txBody>
      </p:sp>
    </p:spTree>
    <p:extLst>
      <p:ext uri="{BB962C8B-B14F-4D97-AF65-F5344CB8AC3E}">
        <p14:creationId xmlns:p14="http://schemas.microsoft.com/office/powerpoint/2010/main" val="28412169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4"/>
          <p:cNvSpPr>
            <a:spLocks noChangeArrowheads="1"/>
          </p:cNvSpPr>
          <p:nvPr/>
        </p:nvSpPr>
        <p:spPr bwMode="auto">
          <a:xfrm>
            <a:off x="1438275" y="322263"/>
            <a:ext cx="10656489" cy="6553200"/>
          </a:xfrm>
          <a:prstGeom prst="roundRect">
            <a:avLst>
              <a:gd name="adj" fmla="val 16667"/>
            </a:avLst>
          </a:prstGeom>
          <a:solidFill>
            <a:schemeClr val="bg1">
              <a:alpha val="50195"/>
            </a:scheme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pic>
        <p:nvPicPr>
          <p:cNvPr id="2" name="Рисунок 1"/>
          <p:cNvPicPr>
            <a:picLocks noChangeAspect="1"/>
          </p:cNvPicPr>
          <p:nvPr/>
        </p:nvPicPr>
        <p:blipFill>
          <a:blip r:embed="rId3">
            <a:alphaModFix/>
          </a:blip>
          <a:srcRect/>
          <a:stretch>
            <a:fillRect/>
          </a:stretch>
        </p:blipFill>
        <p:spPr>
          <a:xfrm>
            <a:off x="2877741" y="532573"/>
            <a:ext cx="7560840" cy="6061142"/>
          </a:xfrm>
          <a:prstGeom prst="rect">
            <a:avLst/>
          </a:prstGeom>
          <a:noFill/>
          <a:ln>
            <a:noFill/>
          </a:ln>
        </p:spPr>
      </p:pic>
      <p:sp>
        <p:nvSpPr>
          <p:cNvPr id="4" name="Номер слайда 3"/>
          <p:cNvSpPr>
            <a:spLocks noGrp="1"/>
          </p:cNvSpPr>
          <p:nvPr>
            <p:ph type="sldNum" sz="quarter" idx="12"/>
          </p:nvPr>
        </p:nvSpPr>
        <p:spPr>
          <a:xfrm>
            <a:off x="11124225" y="6438382"/>
            <a:ext cx="1096473" cy="379409"/>
          </a:xfrm>
        </p:spPr>
        <p:txBody>
          <a:bodyPr/>
          <a:lstStyle/>
          <a:p>
            <a:fld id="{952B6C0E-C4B9-4094-8E59-5B7DF00D5415}" type="slidenum">
              <a:rPr lang="ru-RU" sz="1400">
                <a:solidFill>
                  <a:schemeClr val="tx1"/>
                </a:solidFill>
              </a:rPr>
              <a:t>84</a:t>
            </a:fld>
            <a:endParaRPr lang="ru-RU" sz="1400">
              <a:solidFill>
                <a:schemeClr val="tx1"/>
              </a:solidFill>
            </a:endParaRPr>
          </a:p>
        </p:txBody>
      </p:sp>
    </p:spTree>
    <p:extLst>
      <p:ext uri="{BB962C8B-B14F-4D97-AF65-F5344CB8AC3E}">
        <p14:creationId xmlns:p14="http://schemas.microsoft.com/office/powerpoint/2010/main" val="3655465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4"/>
          <p:cNvSpPr>
            <a:spLocks noChangeArrowheads="1"/>
          </p:cNvSpPr>
          <p:nvPr/>
        </p:nvSpPr>
        <p:spPr bwMode="auto">
          <a:xfrm>
            <a:off x="1438275" y="322263"/>
            <a:ext cx="10584481" cy="6553200"/>
          </a:xfrm>
          <a:prstGeom prst="roundRect">
            <a:avLst>
              <a:gd name="adj" fmla="val 16667"/>
            </a:avLst>
          </a:prstGeom>
          <a:solidFill>
            <a:schemeClr val="bg1">
              <a:alpha val="50195"/>
            </a:scheme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pic>
        <p:nvPicPr>
          <p:cNvPr id="2" name="Рисунок 1"/>
          <p:cNvPicPr>
            <a:picLocks noChangeAspect="1"/>
          </p:cNvPicPr>
          <p:nvPr/>
        </p:nvPicPr>
        <p:blipFill>
          <a:blip r:embed="rId3">
            <a:alphaModFix/>
          </a:blip>
          <a:srcRect/>
          <a:stretch>
            <a:fillRect/>
          </a:stretch>
        </p:blipFill>
        <p:spPr>
          <a:xfrm>
            <a:off x="2647535" y="754832"/>
            <a:ext cx="7373183" cy="5941940"/>
          </a:xfrm>
          <a:prstGeom prst="rect">
            <a:avLst/>
          </a:prstGeom>
          <a:noFill/>
          <a:ln>
            <a:noFill/>
          </a:ln>
        </p:spPr>
      </p:pic>
      <p:sp>
        <p:nvSpPr>
          <p:cNvPr id="4" name="Номер слайда 3"/>
          <p:cNvSpPr>
            <a:spLocks noGrp="1"/>
          </p:cNvSpPr>
          <p:nvPr>
            <p:ph type="sldNum" sz="quarter" idx="12"/>
          </p:nvPr>
        </p:nvSpPr>
        <p:spPr/>
        <p:txBody>
          <a:bodyPr/>
          <a:lstStyle/>
          <a:p>
            <a:fld id="{952B6C0E-C4B9-4094-8E59-5B7DF00D5415}" type="slidenum">
              <a:rPr lang="ru-RU" sz="1400">
                <a:solidFill>
                  <a:schemeClr val="tx1"/>
                </a:solidFill>
              </a:rPr>
              <a:t>85</a:t>
            </a:fld>
            <a:endParaRPr lang="ru-RU" dirty="0">
              <a:solidFill>
                <a:schemeClr val="tx1"/>
              </a:solidFill>
            </a:endParaRPr>
          </a:p>
        </p:txBody>
      </p:sp>
    </p:spTree>
    <p:extLst>
      <p:ext uri="{BB962C8B-B14F-4D97-AF65-F5344CB8AC3E}">
        <p14:creationId xmlns:p14="http://schemas.microsoft.com/office/powerpoint/2010/main" val="7040415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4"/>
          <p:cNvSpPr>
            <a:spLocks noChangeArrowheads="1"/>
          </p:cNvSpPr>
          <p:nvPr/>
        </p:nvSpPr>
        <p:spPr bwMode="auto">
          <a:xfrm>
            <a:off x="1438275" y="322263"/>
            <a:ext cx="10800505" cy="6553200"/>
          </a:xfrm>
          <a:prstGeom prst="roundRect">
            <a:avLst>
              <a:gd name="adj" fmla="val 16667"/>
            </a:avLst>
          </a:prstGeom>
          <a:solidFill>
            <a:schemeClr val="bg1">
              <a:alpha val="50195"/>
            </a:scheme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5" name="AutoShape 5"/>
          <p:cNvSpPr>
            <a:spLocks noChangeArrowheads="1"/>
          </p:cNvSpPr>
          <p:nvPr/>
        </p:nvSpPr>
        <p:spPr bwMode="auto">
          <a:xfrm>
            <a:off x="2058353" y="322264"/>
            <a:ext cx="8379460" cy="720601"/>
          </a:xfrm>
          <a:prstGeom prst="roundRect">
            <a:avLst>
              <a:gd name="adj" fmla="val 37469"/>
            </a:avLst>
          </a:prstGeom>
          <a:solidFill>
            <a:srgbClr val="FFFFFF">
              <a:alpha val="78822"/>
            </a:srgb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2" name="Заголовок 1"/>
          <p:cNvSpPr txBox="1">
            <a:spLocks noGrp="1"/>
          </p:cNvSpPr>
          <p:nvPr>
            <p:ph type="title" idx="4294967295"/>
          </p:nvPr>
        </p:nvSpPr>
        <p:spPr>
          <a:xfrm>
            <a:off x="2242151" y="274287"/>
            <a:ext cx="8550275" cy="838200"/>
          </a:xfrm>
          <a:prstGeom prst="rect">
            <a:avLst/>
          </a:prstGeom>
        </p:spPr>
        <p:txBody>
          <a:bodyPr wrap="square">
            <a:noAutofit/>
          </a:bodyPr>
          <a:lstStyle/>
          <a:p>
            <a:pPr lvl="0"/>
            <a:r>
              <a:rPr lang="ru-RU" sz="3949" dirty="0"/>
              <a:t>Сравнение центров распределений</a:t>
            </a:r>
          </a:p>
        </p:txBody>
      </p:sp>
      <p:sp>
        <p:nvSpPr>
          <p:cNvPr id="3" name="Текст 2"/>
          <p:cNvSpPr txBox="1">
            <a:spLocks noGrp="1"/>
          </p:cNvSpPr>
          <p:nvPr>
            <p:ph type="body" idx="4294967295"/>
          </p:nvPr>
        </p:nvSpPr>
        <p:spPr>
          <a:xfrm>
            <a:off x="1537242" y="1419273"/>
            <a:ext cx="9694979" cy="3457575"/>
          </a:xfrm>
          <a:prstGeom prst="rect">
            <a:avLst/>
          </a:prstGeom>
        </p:spPr>
        <p:txBody>
          <a:bodyPr wrap="square"/>
          <a:lstStyle/>
          <a:p>
            <a:pPr marL="0" indent="357188">
              <a:buClr>
                <a:srgbClr val="CC9900"/>
              </a:buClr>
              <a:buSzPct val="65000"/>
              <a:buFont typeface="Wingdings" pitchFamily="2"/>
              <a:buChar char=""/>
            </a:pPr>
            <a:r>
              <a:rPr lang="ru-RU" sz="3200" i="1" dirty="0"/>
              <a:t>Центр распределения</a:t>
            </a:r>
            <a:r>
              <a:rPr lang="ru-RU" sz="3200" dirty="0"/>
              <a:t> - то одно единственное число, которое характеризовало бы выборку.</a:t>
            </a:r>
          </a:p>
          <a:p>
            <a:pPr marL="0" indent="357188">
              <a:buClr>
                <a:srgbClr val="CC9900"/>
              </a:buClr>
              <a:buSzPct val="65000"/>
              <a:buFont typeface="Wingdings" pitchFamily="2"/>
              <a:buChar char=""/>
            </a:pPr>
            <a:r>
              <a:rPr lang="ru-RU" sz="3200" dirty="0"/>
              <a:t>В качестве центра чаще всего используют </a:t>
            </a:r>
            <a:r>
              <a:rPr lang="ru-RU" sz="3200" b="1" i="1" dirty="0">
                <a:solidFill>
                  <a:srgbClr val="0000FF"/>
                </a:solidFill>
              </a:rPr>
              <a:t>среднее арифметическое, медиану или усеченное среднее.</a:t>
            </a:r>
          </a:p>
        </p:txBody>
      </p:sp>
      <p:sp>
        <p:nvSpPr>
          <p:cNvPr id="7" name="Прямоугольник 6"/>
          <p:cNvSpPr/>
          <p:nvPr/>
        </p:nvSpPr>
        <p:spPr>
          <a:xfrm>
            <a:off x="1295687" y="5575725"/>
            <a:ext cx="9821410" cy="923330"/>
          </a:xfrm>
          <a:prstGeom prst="rect">
            <a:avLst/>
          </a:prstGeom>
        </p:spPr>
        <p:txBody>
          <a:bodyPr wrap="square">
            <a:spAutoFit/>
          </a:bodyPr>
          <a:lstStyle/>
          <a:p>
            <a:r>
              <a:rPr lang="ru-RU" sz="1800" b="1" i="1" dirty="0"/>
              <a:t>Среднее</a:t>
            </a:r>
            <a:r>
              <a:rPr lang="ru-RU" sz="1800" i="1" dirty="0"/>
              <a:t> </a:t>
            </a:r>
            <a:r>
              <a:rPr lang="ru-RU" sz="1800" b="1" i="1" dirty="0"/>
              <a:t>усечённое</a:t>
            </a:r>
            <a:r>
              <a:rPr lang="ru-RU" sz="1800" i="1" dirty="0"/>
              <a:t> представляет собой статистическую меру центральной тенденции, рассчитанную как </a:t>
            </a:r>
            <a:r>
              <a:rPr lang="ru-RU" sz="1800" b="1" i="1" dirty="0"/>
              <a:t>среднее</a:t>
            </a:r>
            <a:r>
              <a:rPr lang="ru-RU" sz="1800" i="1" dirty="0"/>
              <a:t> значение для имеющегося набора данных, из которого исключены k % наибольших и k % наименьших значений.</a:t>
            </a:r>
          </a:p>
        </p:txBody>
      </p:sp>
      <p:sp>
        <p:nvSpPr>
          <p:cNvPr id="8" name="Номер слайда 7"/>
          <p:cNvSpPr>
            <a:spLocks noGrp="1"/>
          </p:cNvSpPr>
          <p:nvPr>
            <p:ph type="sldNum" sz="quarter" idx="12"/>
          </p:nvPr>
        </p:nvSpPr>
        <p:spPr/>
        <p:txBody>
          <a:bodyPr/>
          <a:lstStyle/>
          <a:p>
            <a:fld id="{952B6C0E-C4B9-4094-8E59-5B7DF00D5415}" type="slidenum">
              <a:rPr lang="ru-RU" sz="1400">
                <a:solidFill>
                  <a:schemeClr val="tx1"/>
                </a:solidFill>
              </a:rPr>
              <a:t>86</a:t>
            </a:fld>
            <a:endParaRPr lang="ru-RU" dirty="0">
              <a:solidFill>
                <a:schemeClr val="tx1"/>
              </a:solidFill>
            </a:endParaRPr>
          </a:p>
        </p:txBody>
      </p:sp>
    </p:spTree>
    <p:extLst>
      <p:ext uri="{BB962C8B-B14F-4D97-AF65-F5344CB8AC3E}">
        <p14:creationId xmlns:p14="http://schemas.microsoft.com/office/powerpoint/2010/main" val="3365615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4"/>
          <p:cNvSpPr>
            <a:spLocks noChangeArrowheads="1"/>
          </p:cNvSpPr>
          <p:nvPr/>
        </p:nvSpPr>
        <p:spPr bwMode="auto">
          <a:xfrm>
            <a:off x="1438275" y="322263"/>
            <a:ext cx="10800505" cy="6553200"/>
          </a:xfrm>
          <a:prstGeom prst="roundRect">
            <a:avLst>
              <a:gd name="adj" fmla="val 16667"/>
            </a:avLst>
          </a:prstGeom>
          <a:solidFill>
            <a:schemeClr val="bg1">
              <a:alpha val="50195"/>
            </a:scheme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5" name="AutoShape 5"/>
          <p:cNvSpPr>
            <a:spLocks noChangeArrowheads="1"/>
          </p:cNvSpPr>
          <p:nvPr/>
        </p:nvSpPr>
        <p:spPr bwMode="auto">
          <a:xfrm>
            <a:off x="2373685" y="322264"/>
            <a:ext cx="8064128" cy="720601"/>
          </a:xfrm>
          <a:prstGeom prst="roundRect">
            <a:avLst>
              <a:gd name="adj" fmla="val 37469"/>
            </a:avLst>
          </a:prstGeom>
          <a:solidFill>
            <a:srgbClr val="FFFFFF">
              <a:alpha val="78822"/>
            </a:srgb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2" name="Заголовок 1"/>
          <p:cNvSpPr txBox="1">
            <a:spLocks noGrp="1"/>
          </p:cNvSpPr>
          <p:nvPr>
            <p:ph type="title" idx="4294967295"/>
          </p:nvPr>
        </p:nvSpPr>
        <p:spPr>
          <a:xfrm>
            <a:off x="2130612" y="197876"/>
            <a:ext cx="8550275" cy="1184275"/>
          </a:xfrm>
          <a:prstGeom prst="rect">
            <a:avLst/>
          </a:prstGeom>
        </p:spPr>
        <p:txBody>
          <a:bodyPr wrap="square">
            <a:noAutofit/>
          </a:bodyPr>
          <a:lstStyle/>
          <a:p>
            <a:pPr lvl="0"/>
            <a:r>
              <a:rPr lang="ru-RU" sz="4400" dirty="0"/>
              <a:t>Выбор центра распределения</a:t>
            </a:r>
          </a:p>
        </p:txBody>
      </p:sp>
      <p:sp>
        <p:nvSpPr>
          <p:cNvPr id="3" name="Текст 2"/>
          <p:cNvSpPr txBox="1">
            <a:spLocks noGrp="1"/>
          </p:cNvSpPr>
          <p:nvPr>
            <p:ph type="body" idx="4294967295"/>
          </p:nvPr>
        </p:nvSpPr>
        <p:spPr>
          <a:xfrm>
            <a:off x="1622029" y="1835150"/>
            <a:ext cx="9567439" cy="3455987"/>
          </a:xfrm>
          <a:prstGeom prst="rect">
            <a:avLst/>
          </a:prstGeom>
        </p:spPr>
        <p:txBody>
          <a:bodyPr wrap="square"/>
          <a:lstStyle/>
          <a:p>
            <a:pPr marL="0" indent="357188">
              <a:buClr>
                <a:srgbClr val="CC9900"/>
              </a:buClr>
              <a:buSzPct val="65000"/>
              <a:buFont typeface="Wingdings" pitchFamily="2"/>
              <a:buChar char=""/>
            </a:pPr>
            <a:r>
              <a:rPr lang="ru-RU" sz="2800" dirty="0"/>
              <a:t>Если центром распределения выбрана медиана, то центры сравниваются с помощью критерия Манна – Уитни-</a:t>
            </a:r>
            <a:r>
              <a:rPr lang="ru-RU" sz="2800" dirty="0" err="1"/>
              <a:t>Вилкоксона</a:t>
            </a:r>
            <a:r>
              <a:rPr lang="ru-RU" sz="2800" dirty="0"/>
              <a:t> (непараметрическое).</a:t>
            </a:r>
          </a:p>
          <a:p>
            <a:pPr marL="0" indent="357188">
              <a:buClr>
                <a:srgbClr val="CC9900"/>
              </a:buClr>
              <a:buSzPct val="65000"/>
              <a:buFont typeface="Wingdings" pitchFamily="2"/>
              <a:buChar char=""/>
            </a:pPr>
            <a:r>
              <a:rPr lang="ru-RU" sz="2800" dirty="0"/>
              <a:t>Если центром распределения выбрано среднее арифметическое, то центры сравниваются с помощью одной из версий  критерия Стьюдента (параметрическое).</a:t>
            </a:r>
          </a:p>
        </p:txBody>
      </p:sp>
      <p:sp>
        <p:nvSpPr>
          <p:cNvPr id="7" name="Номер слайда 6"/>
          <p:cNvSpPr>
            <a:spLocks noGrp="1"/>
          </p:cNvSpPr>
          <p:nvPr>
            <p:ph type="sldNum" sz="quarter" idx="12"/>
          </p:nvPr>
        </p:nvSpPr>
        <p:spPr>
          <a:xfrm>
            <a:off x="11502347" y="6471241"/>
            <a:ext cx="736433" cy="379409"/>
          </a:xfrm>
        </p:spPr>
        <p:txBody>
          <a:bodyPr/>
          <a:lstStyle/>
          <a:p>
            <a:fld id="{952B6C0E-C4B9-4094-8E59-5B7DF00D5415}" type="slidenum">
              <a:rPr lang="ru-RU" smtClean="0">
                <a:solidFill>
                  <a:schemeClr val="tx1"/>
                </a:solidFill>
              </a:rPr>
              <a:t>87</a:t>
            </a:fld>
            <a:endParaRPr lang="ru-RU" dirty="0">
              <a:solidFill>
                <a:schemeClr val="tx1"/>
              </a:solidFill>
            </a:endParaRPr>
          </a:p>
        </p:txBody>
      </p:sp>
    </p:spTree>
    <p:extLst>
      <p:ext uri="{BB962C8B-B14F-4D97-AF65-F5344CB8AC3E}">
        <p14:creationId xmlns:p14="http://schemas.microsoft.com/office/powerpoint/2010/main" val="19177915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4"/>
          <p:cNvSpPr>
            <a:spLocks noChangeArrowheads="1"/>
          </p:cNvSpPr>
          <p:nvPr/>
        </p:nvSpPr>
        <p:spPr bwMode="auto">
          <a:xfrm>
            <a:off x="1438275" y="322263"/>
            <a:ext cx="10800505" cy="6553200"/>
          </a:xfrm>
          <a:prstGeom prst="roundRect">
            <a:avLst>
              <a:gd name="adj" fmla="val 16667"/>
            </a:avLst>
          </a:prstGeom>
          <a:solidFill>
            <a:schemeClr val="bg1">
              <a:alpha val="50195"/>
            </a:scheme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5" name="AutoShape 5"/>
          <p:cNvSpPr>
            <a:spLocks noChangeArrowheads="1"/>
          </p:cNvSpPr>
          <p:nvPr/>
        </p:nvSpPr>
        <p:spPr bwMode="auto">
          <a:xfrm>
            <a:off x="2401679" y="322264"/>
            <a:ext cx="8036134" cy="1296665"/>
          </a:xfrm>
          <a:prstGeom prst="roundRect">
            <a:avLst>
              <a:gd name="adj" fmla="val 37469"/>
            </a:avLst>
          </a:prstGeom>
          <a:solidFill>
            <a:srgbClr val="FFFFFF">
              <a:alpha val="78822"/>
            </a:srgb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2" name="Заголовок 1"/>
          <p:cNvSpPr txBox="1">
            <a:spLocks noGrp="1"/>
          </p:cNvSpPr>
          <p:nvPr>
            <p:ph type="title" idx="4294967295"/>
          </p:nvPr>
        </p:nvSpPr>
        <p:spPr>
          <a:xfrm>
            <a:off x="2171701" y="378933"/>
            <a:ext cx="7588250" cy="754063"/>
          </a:xfrm>
          <a:prstGeom prst="rect">
            <a:avLst/>
          </a:prstGeom>
        </p:spPr>
        <p:txBody>
          <a:bodyPr wrap="square">
            <a:noAutofit/>
          </a:bodyPr>
          <a:lstStyle/>
          <a:p>
            <a:pPr lvl="0"/>
            <a:r>
              <a:rPr lang="ru-RU" sz="3949" dirty="0"/>
              <a:t>Среднее арифметическое или медиана?</a:t>
            </a:r>
          </a:p>
        </p:txBody>
      </p:sp>
      <p:sp>
        <p:nvSpPr>
          <p:cNvPr id="3" name="Текст 2"/>
          <p:cNvSpPr txBox="1">
            <a:spLocks noGrp="1"/>
          </p:cNvSpPr>
          <p:nvPr>
            <p:ph type="body" idx="4294967295"/>
          </p:nvPr>
        </p:nvSpPr>
        <p:spPr>
          <a:xfrm>
            <a:off x="1466756" y="1834952"/>
            <a:ext cx="10152434" cy="4076700"/>
          </a:xfrm>
          <a:prstGeom prst="rect">
            <a:avLst/>
          </a:prstGeom>
        </p:spPr>
        <p:txBody>
          <a:bodyPr wrap="square"/>
          <a:lstStyle/>
          <a:p>
            <a:pPr marL="0" indent="442913">
              <a:spcBef>
                <a:spcPts val="674"/>
              </a:spcBef>
              <a:buClr>
                <a:srgbClr val="CC9900"/>
              </a:buClr>
              <a:buSzPct val="65000"/>
              <a:buFont typeface="Wingdings" pitchFamily="2"/>
              <a:buChar char=""/>
            </a:pPr>
            <a:r>
              <a:rPr lang="ru-RU" sz="2702" dirty="0"/>
              <a:t>Если распределение хотя бы одной из выборок существенно отличается от нормального, в качестве центра предлагается использовать медиану.</a:t>
            </a:r>
          </a:p>
          <a:p>
            <a:pPr marL="0" indent="442913">
              <a:spcBef>
                <a:spcPts val="674"/>
              </a:spcBef>
              <a:buClr>
                <a:srgbClr val="CC9900"/>
              </a:buClr>
              <a:buSzPct val="65000"/>
              <a:buFont typeface="Wingdings" pitchFamily="2"/>
              <a:buChar char=""/>
            </a:pPr>
            <a:r>
              <a:rPr lang="ru-RU" sz="2702" dirty="0"/>
              <a:t>В остальных случаях, то есть если  распределение каждой выборки можно считать нормальным или несущественно отличающимся от нормального, в качестве центра предлагается использовать среднее арифметическое.</a:t>
            </a:r>
          </a:p>
        </p:txBody>
      </p:sp>
      <p:sp>
        <p:nvSpPr>
          <p:cNvPr id="7" name="Номер слайда 6"/>
          <p:cNvSpPr>
            <a:spLocks noGrp="1"/>
          </p:cNvSpPr>
          <p:nvPr>
            <p:ph type="sldNum" sz="quarter" idx="12"/>
          </p:nvPr>
        </p:nvSpPr>
        <p:spPr/>
        <p:txBody>
          <a:bodyPr/>
          <a:lstStyle/>
          <a:p>
            <a:fld id="{952B6C0E-C4B9-4094-8E59-5B7DF00D5415}" type="slidenum">
              <a:rPr lang="ru-RU" sz="1400">
                <a:solidFill>
                  <a:schemeClr val="tx1"/>
                </a:solidFill>
              </a:rPr>
              <a:t>88</a:t>
            </a:fld>
            <a:endParaRPr lang="ru-RU" sz="1400" dirty="0">
              <a:solidFill>
                <a:schemeClr val="tx1"/>
              </a:solidFill>
            </a:endParaRPr>
          </a:p>
        </p:txBody>
      </p:sp>
    </p:spTree>
    <p:extLst>
      <p:ext uri="{BB962C8B-B14F-4D97-AF65-F5344CB8AC3E}">
        <p14:creationId xmlns:p14="http://schemas.microsoft.com/office/powerpoint/2010/main" val="11206733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AutoShape 4"/>
          <p:cNvSpPr>
            <a:spLocks noChangeArrowheads="1"/>
          </p:cNvSpPr>
          <p:nvPr/>
        </p:nvSpPr>
        <p:spPr bwMode="auto">
          <a:xfrm>
            <a:off x="1438275" y="322263"/>
            <a:ext cx="10800505" cy="6553200"/>
          </a:xfrm>
          <a:prstGeom prst="roundRect">
            <a:avLst>
              <a:gd name="adj" fmla="val 16667"/>
            </a:avLst>
          </a:prstGeom>
          <a:solidFill>
            <a:schemeClr val="bg1">
              <a:alpha val="50195"/>
            </a:scheme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8" name="AutoShape 5"/>
          <p:cNvSpPr>
            <a:spLocks noChangeArrowheads="1"/>
          </p:cNvSpPr>
          <p:nvPr/>
        </p:nvSpPr>
        <p:spPr bwMode="auto">
          <a:xfrm>
            <a:off x="2058353" y="322263"/>
            <a:ext cx="8379460" cy="887144"/>
          </a:xfrm>
          <a:prstGeom prst="roundRect">
            <a:avLst>
              <a:gd name="adj" fmla="val 37469"/>
            </a:avLst>
          </a:prstGeom>
          <a:solidFill>
            <a:srgbClr val="FFFFFF">
              <a:alpha val="78822"/>
            </a:srgb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2" name="object 2"/>
          <p:cNvSpPr txBox="1">
            <a:spLocks noGrp="1"/>
          </p:cNvSpPr>
          <p:nvPr>
            <p:ph type="title"/>
          </p:nvPr>
        </p:nvSpPr>
        <p:spPr>
          <a:xfrm>
            <a:off x="2260770" y="269186"/>
            <a:ext cx="8134001" cy="690434"/>
          </a:xfrm>
          <a:prstGeom prst="rect">
            <a:avLst/>
          </a:prstGeom>
        </p:spPr>
        <p:txBody>
          <a:bodyPr vert="horz" wrap="square" lIns="0" tIns="13197" rIns="0" bIns="0" rtlCol="0" anchor="ctr">
            <a:spAutoFit/>
          </a:bodyPr>
          <a:lstStyle/>
          <a:p>
            <a:pPr marL="13197">
              <a:spcBef>
                <a:spcPts val="104"/>
              </a:spcBef>
            </a:pPr>
            <a:r>
              <a:rPr sz="4400" spc="-16" dirty="0"/>
              <a:t>Одновыборочные</a:t>
            </a:r>
            <a:r>
              <a:rPr sz="4400" spc="-5" dirty="0"/>
              <a:t> </a:t>
            </a:r>
            <a:r>
              <a:rPr sz="4400" spc="-10" dirty="0"/>
              <a:t>критерии</a:t>
            </a:r>
          </a:p>
        </p:txBody>
      </p:sp>
      <p:sp>
        <p:nvSpPr>
          <p:cNvPr id="3" name="object 3"/>
          <p:cNvSpPr txBox="1"/>
          <p:nvPr/>
        </p:nvSpPr>
        <p:spPr>
          <a:xfrm>
            <a:off x="1492916" y="1365127"/>
            <a:ext cx="9233697" cy="5255582"/>
          </a:xfrm>
          <a:prstGeom prst="rect">
            <a:avLst/>
          </a:prstGeom>
        </p:spPr>
        <p:txBody>
          <a:bodyPr vert="horz" wrap="square" lIns="0" tIns="102275" rIns="0" bIns="0" rtlCol="0">
            <a:spAutoFit/>
          </a:bodyPr>
          <a:lstStyle/>
          <a:p>
            <a:pPr marL="438786" marR="31672">
              <a:spcBef>
                <a:spcPts val="836"/>
              </a:spcBef>
            </a:pPr>
            <a:r>
              <a:rPr lang="ru-RU" sz="2494" dirty="0">
                <a:latin typeface="Arial"/>
                <a:cs typeface="Arial"/>
              </a:rPr>
              <a:t>Мы </a:t>
            </a:r>
            <a:r>
              <a:rPr lang="ru-RU" sz="2494" spc="-21" dirty="0">
                <a:latin typeface="Arial"/>
                <a:cs typeface="Arial"/>
              </a:rPr>
              <a:t>хотим </a:t>
            </a:r>
            <a:r>
              <a:rPr lang="ru-RU" sz="2494" spc="-10" dirty="0">
                <a:latin typeface="Arial"/>
                <a:cs typeface="Arial"/>
              </a:rPr>
              <a:t>узнать, </a:t>
            </a:r>
            <a:r>
              <a:rPr lang="ru-RU" sz="2494" spc="-26" dirty="0">
                <a:latin typeface="Arial"/>
                <a:cs typeface="Arial"/>
              </a:rPr>
              <a:t>отличается </a:t>
            </a:r>
            <a:r>
              <a:rPr lang="ru-RU" sz="2494" spc="-5" dirty="0">
                <a:latin typeface="Arial"/>
                <a:cs typeface="Arial"/>
              </a:rPr>
              <a:t>ли </a:t>
            </a:r>
            <a:r>
              <a:rPr lang="ru-RU" sz="2494" spc="-10" dirty="0">
                <a:latin typeface="Arial"/>
                <a:cs typeface="Arial"/>
              </a:rPr>
              <a:t>средняя </a:t>
            </a:r>
            <a:r>
              <a:rPr lang="ru-RU" sz="2494" spc="-5" dirty="0">
                <a:latin typeface="Arial"/>
                <a:cs typeface="Arial"/>
              </a:rPr>
              <a:t>масса  </a:t>
            </a:r>
            <a:r>
              <a:rPr lang="ru-RU" sz="2494" spc="-10" dirty="0">
                <a:latin typeface="Arial"/>
                <a:cs typeface="Arial"/>
              </a:rPr>
              <a:t>землероек </a:t>
            </a:r>
            <a:r>
              <a:rPr lang="ru-RU" sz="2494" dirty="0">
                <a:latin typeface="Arial"/>
                <a:cs typeface="Arial"/>
              </a:rPr>
              <a:t>в </a:t>
            </a:r>
            <a:r>
              <a:rPr lang="ru-RU" sz="2494" spc="-10" dirty="0">
                <a:latin typeface="Arial"/>
                <a:cs typeface="Arial"/>
              </a:rPr>
              <a:t>Заповеднике </a:t>
            </a:r>
            <a:r>
              <a:rPr lang="ru-RU" sz="2494" spc="-26" dirty="0">
                <a:latin typeface="Arial"/>
                <a:cs typeface="Arial"/>
              </a:rPr>
              <a:t>от средней </a:t>
            </a:r>
            <a:r>
              <a:rPr lang="ru-RU" sz="2494" dirty="0">
                <a:latin typeface="Arial"/>
                <a:cs typeface="Arial"/>
              </a:rPr>
              <a:t>массы </a:t>
            </a:r>
            <a:r>
              <a:rPr lang="ru-RU" sz="2494" spc="-10" dirty="0">
                <a:latin typeface="Arial"/>
                <a:cs typeface="Arial"/>
              </a:rPr>
              <a:t>землероек </a:t>
            </a:r>
            <a:r>
              <a:rPr lang="ru-RU" sz="2494" dirty="0">
                <a:latin typeface="Arial"/>
                <a:cs typeface="Arial"/>
              </a:rPr>
              <a:t>= </a:t>
            </a:r>
            <a:r>
              <a:rPr lang="ru-RU" sz="2494" spc="-5" dirty="0">
                <a:latin typeface="Arial"/>
                <a:cs typeface="Arial"/>
              </a:rPr>
              <a:t>90</a:t>
            </a:r>
            <a:r>
              <a:rPr lang="ru-RU" sz="2494" spc="36" dirty="0">
                <a:latin typeface="Arial"/>
                <a:cs typeface="Arial"/>
              </a:rPr>
              <a:t> </a:t>
            </a:r>
            <a:r>
              <a:rPr lang="ru-RU" sz="2494" spc="-151" dirty="0">
                <a:latin typeface="Arial"/>
                <a:cs typeface="Arial"/>
              </a:rPr>
              <a:t>г.</a:t>
            </a:r>
            <a:endParaRPr lang="ru-RU" sz="2494" dirty="0">
              <a:latin typeface="Arial"/>
              <a:cs typeface="Arial"/>
            </a:endParaRPr>
          </a:p>
          <a:p>
            <a:pPr marL="438786">
              <a:spcBef>
                <a:spcPts val="1252"/>
              </a:spcBef>
            </a:pPr>
            <a:r>
              <a:rPr lang="ru-RU" sz="2078" dirty="0">
                <a:latin typeface="Arial"/>
                <a:cs typeface="Arial"/>
              </a:rPr>
              <a:t>Мы </a:t>
            </a:r>
            <a:r>
              <a:rPr lang="ru-RU" sz="2078" u="heavy" dirty="0">
                <a:uFill>
                  <a:solidFill>
                    <a:srgbClr val="000000"/>
                  </a:solidFill>
                </a:uFill>
                <a:latin typeface="Arial"/>
                <a:cs typeface="Arial"/>
              </a:rPr>
              <a:t>знаем</a:t>
            </a:r>
            <a:r>
              <a:rPr lang="ru-RU" sz="2078" dirty="0">
                <a:latin typeface="Arial"/>
                <a:cs typeface="Arial"/>
              </a:rPr>
              <a:t>, </a:t>
            </a:r>
            <a:r>
              <a:rPr lang="ru-RU" sz="2078" spc="-10" dirty="0">
                <a:latin typeface="Arial"/>
                <a:cs typeface="Arial"/>
              </a:rPr>
              <a:t>что </a:t>
            </a:r>
            <a:r>
              <a:rPr lang="ru-RU" sz="2078" i="1" dirty="0">
                <a:latin typeface="Arial"/>
                <a:cs typeface="Arial"/>
              </a:rPr>
              <a:t>μ</a:t>
            </a:r>
            <a:r>
              <a:rPr lang="ru-RU" sz="2078" dirty="0">
                <a:latin typeface="Arial"/>
                <a:cs typeface="Arial"/>
              </a:rPr>
              <a:t>=90, </a:t>
            </a:r>
            <a:r>
              <a:rPr lang="ru-RU" sz="2078" i="1" dirty="0">
                <a:latin typeface="Arial"/>
                <a:cs typeface="Arial"/>
              </a:rPr>
              <a:t>σ</a:t>
            </a:r>
            <a:r>
              <a:rPr lang="ru-RU" sz="2078" dirty="0">
                <a:latin typeface="Arial"/>
                <a:cs typeface="Arial"/>
              </a:rPr>
              <a:t>=20; и собираемся </a:t>
            </a:r>
            <a:r>
              <a:rPr lang="ru-RU" sz="2078" spc="-10" dirty="0">
                <a:latin typeface="Arial"/>
                <a:cs typeface="Arial"/>
              </a:rPr>
              <a:t>поймать </a:t>
            </a:r>
            <a:r>
              <a:rPr lang="ru-RU" sz="2078" dirty="0">
                <a:latin typeface="Arial"/>
                <a:cs typeface="Arial"/>
              </a:rPr>
              <a:t>25</a:t>
            </a:r>
            <a:r>
              <a:rPr lang="ru-RU" sz="2078" spc="-218" dirty="0">
                <a:latin typeface="Arial"/>
                <a:cs typeface="Arial"/>
              </a:rPr>
              <a:t> </a:t>
            </a:r>
            <a:r>
              <a:rPr lang="ru-RU" sz="2078" spc="-5" dirty="0">
                <a:latin typeface="Arial"/>
                <a:cs typeface="Arial"/>
              </a:rPr>
              <a:t>зверьков.</a:t>
            </a:r>
            <a:endParaRPr lang="ru-RU" sz="2078" dirty="0">
              <a:latin typeface="Arial"/>
              <a:cs typeface="Arial"/>
            </a:endParaRPr>
          </a:p>
          <a:p>
            <a:pPr>
              <a:lnSpc>
                <a:spcPct val="100000"/>
              </a:lnSpc>
            </a:pPr>
            <a:endParaRPr lang="ru-RU" sz="2286" dirty="0">
              <a:latin typeface="Times New Roman"/>
              <a:cs typeface="Times New Roman"/>
            </a:endParaRPr>
          </a:p>
          <a:p>
            <a:pPr marL="440106">
              <a:spcBef>
                <a:spcPts val="1579"/>
              </a:spcBef>
            </a:pPr>
            <a:r>
              <a:rPr lang="ru-RU" sz="2494" b="1" spc="-5" dirty="0">
                <a:latin typeface="Arial"/>
                <a:cs typeface="Arial"/>
              </a:rPr>
              <a:t>1. </a:t>
            </a:r>
            <a:r>
              <a:rPr lang="ru-RU" sz="2494" b="1" spc="-31" dirty="0">
                <a:latin typeface="Arial"/>
                <a:cs typeface="Arial"/>
              </a:rPr>
              <a:t>Формулируем </a:t>
            </a:r>
            <a:r>
              <a:rPr lang="ru-RU" sz="2494" b="1" spc="-5" dirty="0">
                <a:latin typeface="Arial"/>
                <a:cs typeface="Arial"/>
              </a:rPr>
              <a:t>Н</a:t>
            </a:r>
            <a:r>
              <a:rPr lang="ru-RU" sz="2494" b="1" spc="-7" baseline="-20833" dirty="0">
                <a:latin typeface="Arial"/>
                <a:cs typeface="Arial"/>
              </a:rPr>
              <a:t>0 </a:t>
            </a:r>
            <a:r>
              <a:rPr lang="ru-RU" sz="2494" b="1" dirty="0">
                <a:latin typeface="Arial"/>
                <a:cs typeface="Arial"/>
              </a:rPr>
              <a:t>и </a:t>
            </a:r>
            <a:r>
              <a:rPr lang="ru-RU" sz="2494" b="1" spc="-10" dirty="0">
                <a:latin typeface="Arial"/>
                <a:cs typeface="Arial"/>
              </a:rPr>
              <a:t>Н</a:t>
            </a:r>
            <a:r>
              <a:rPr lang="ru-RU" sz="2494" b="1" spc="-16" baseline="-20833" dirty="0">
                <a:latin typeface="Arial"/>
                <a:cs typeface="Arial"/>
              </a:rPr>
              <a:t>1</a:t>
            </a:r>
            <a:r>
              <a:rPr lang="ru-RU" sz="2494" b="1" spc="132" baseline="-20833" dirty="0">
                <a:latin typeface="Arial"/>
                <a:cs typeface="Arial"/>
              </a:rPr>
              <a:t> </a:t>
            </a:r>
            <a:r>
              <a:rPr lang="ru-RU" sz="2494" b="1" dirty="0">
                <a:latin typeface="Arial"/>
                <a:cs typeface="Arial"/>
              </a:rPr>
              <a:t>:</a:t>
            </a:r>
            <a:endParaRPr lang="ru-RU" sz="2494" dirty="0">
              <a:latin typeface="Arial"/>
              <a:cs typeface="Arial"/>
            </a:endParaRPr>
          </a:p>
          <a:p>
            <a:pPr marR="5011397" algn="ctr">
              <a:spcBef>
                <a:spcPts val="369"/>
              </a:spcBef>
            </a:pPr>
            <a:r>
              <a:rPr lang="ru-RU" sz="2961" i="1" spc="62" dirty="0">
                <a:latin typeface="Times New Roman"/>
                <a:cs typeface="Times New Roman"/>
              </a:rPr>
              <a:t>H </a:t>
            </a:r>
            <a:r>
              <a:rPr lang="ru-RU" sz="2572" spc="46" baseline="-25252" dirty="0">
                <a:latin typeface="Times New Roman"/>
                <a:cs typeface="Times New Roman"/>
              </a:rPr>
              <a:t>0 </a:t>
            </a:r>
            <a:r>
              <a:rPr lang="ru-RU" sz="2961" spc="21" dirty="0">
                <a:latin typeface="Times New Roman"/>
                <a:cs typeface="Times New Roman"/>
              </a:rPr>
              <a:t>: </a:t>
            </a:r>
            <a:r>
              <a:rPr lang="ru-RU" sz="3117" i="1" spc="-42" dirty="0">
                <a:latin typeface="Symbol"/>
                <a:cs typeface="Symbol"/>
              </a:rPr>
              <a:t></a:t>
            </a:r>
            <a:r>
              <a:rPr lang="ru-RU" sz="3117" i="1" spc="-42" dirty="0">
                <a:latin typeface="Times New Roman"/>
                <a:cs typeface="Times New Roman"/>
              </a:rPr>
              <a:t> </a:t>
            </a:r>
            <a:r>
              <a:rPr lang="ru-RU" sz="2961" spc="47" dirty="0">
                <a:latin typeface="Symbol"/>
                <a:cs typeface="Symbol"/>
              </a:rPr>
              <a:t></a:t>
            </a:r>
            <a:r>
              <a:rPr lang="ru-RU" sz="2961" spc="-291" dirty="0">
                <a:latin typeface="Times New Roman"/>
                <a:cs typeface="Times New Roman"/>
              </a:rPr>
              <a:t> </a:t>
            </a:r>
            <a:r>
              <a:rPr lang="ru-RU" sz="2961" spc="-16" dirty="0">
                <a:latin typeface="Times New Roman"/>
                <a:cs typeface="Times New Roman"/>
              </a:rPr>
              <a:t>90</a:t>
            </a:r>
            <a:endParaRPr lang="ru-RU" sz="2961" dirty="0">
              <a:latin typeface="Times New Roman"/>
              <a:cs typeface="Times New Roman"/>
            </a:endParaRPr>
          </a:p>
          <a:p>
            <a:pPr marR="5044389" algn="ctr">
              <a:spcBef>
                <a:spcPts val="920"/>
              </a:spcBef>
            </a:pPr>
            <a:r>
              <a:rPr lang="ru-RU" sz="2961" i="1" spc="104" dirty="0">
                <a:latin typeface="Times New Roman"/>
                <a:cs typeface="Times New Roman"/>
              </a:rPr>
              <a:t>H</a:t>
            </a:r>
            <a:r>
              <a:rPr lang="ru-RU" sz="2572" spc="156" baseline="-25252" dirty="0">
                <a:latin typeface="Times New Roman"/>
                <a:cs typeface="Times New Roman"/>
              </a:rPr>
              <a:t>1 </a:t>
            </a:r>
            <a:r>
              <a:rPr lang="ru-RU" sz="2961" spc="21" dirty="0">
                <a:latin typeface="Times New Roman"/>
                <a:cs typeface="Times New Roman"/>
              </a:rPr>
              <a:t>: </a:t>
            </a:r>
            <a:r>
              <a:rPr lang="ru-RU" sz="3117" i="1" spc="-42" dirty="0">
                <a:latin typeface="Symbol"/>
                <a:cs typeface="Symbol"/>
              </a:rPr>
              <a:t></a:t>
            </a:r>
            <a:r>
              <a:rPr lang="ru-RU" sz="3117" i="1" spc="-42" dirty="0">
                <a:latin typeface="Times New Roman"/>
                <a:cs typeface="Times New Roman"/>
              </a:rPr>
              <a:t> </a:t>
            </a:r>
            <a:r>
              <a:rPr lang="ru-RU" sz="2961" spc="47" dirty="0">
                <a:latin typeface="Symbol"/>
                <a:cs typeface="Symbol"/>
              </a:rPr>
              <a:t></a:t>
            </a:r>
            <a:r>
              <a:rPr lang="ru-RU" sz="2961" spc="68" dirty="0">
                <a:latin typeface="Times New Roman"/>
                <a:cs typeface="Times New Roman"/>
              </a:rPr>
              <a:t> </a:t>
            </a:r>
            <a:r>
              <a:rPr lang="ru-RU" sz="2961" spc="-16" dirty="0">
                <a:latin typeface="Times New Roman"/>
                <a:cs typeface="Times New Roman"/>
              </a:rPr>
              <a:t>90</a:t>
            </a:r>
            <a:endParaRPr lang="ru-RU" sz="2961" dirty="0">
              <a:latin typeface="Times New Roman"/>
              <a:cs typeface="Times New Roman"/>
            </a:endParaRPr>
          </a:p>
          <a:p>
            <a:pPr marR="5035811" algn="ctr">
              <a:spcBef>
                <a:spcPts val="2000"/>
              </a:spcBef>
            </a:pPr>
            <a:r>
              <a:rPr lang="ru-RU" sz="2078" spc="-5" dirty="0">
                <a:latin typeface="Arial"/>
                <a:cs typeface="Arial"/>
              </a:rPr>
              <a:t>Рисуем </a:t>
            </a:r>
            <a:r>
              <a:rPr lang="ru-RU" sz="2078" dirty="0">
                <a:latin typeface="Arial"/>
                <a:cs typeface="Arial"/>
              </a:rPr>
              <a:t>3</a:t>
            </a:r>
            <a:r>
              <a:rPr lang="ru-RU" sz="2078" spc="-42" dirty="0">
                <a:latin typeface="Arial"/>
                <a:cs typeface="Arial"/>
              </a:rPr>
              <a:t> </a:t>
            </a:r>
            <a:r>
              <a:rPr lang="ru-RU" sz="2078" spc="-16" dirty="0">
                <a:latin typeface="Arial"/>
                <a:cs typeface="Arial"/>
              </a:rPr>
              <a:t>распределения:</a:t>
            </a:r>
            <a:endParaRPr lang="ru-RU" sz="2078" dirty="0">
              <a:latin typeface="Arial"/>
              <a:cs typeface="Arial"/>
            </a:endParaRPr>
          </a:p>
          <a:p>
            <a:pPr>
              <a:spcBef>
                <a:spcPts val="21"/>
              </a:spcBef>
            </a:pPr>
            <a:endParaRPr lang="ru-RU" sz="1922" dirty="0">
              <a:latin typeface="Times New Roman"/>
              <a:cs typeface="Times New Roman"/>
            </a:endParaRPr>
          </a:p>
          <a:p>
            <a:pPr marL="605063" indent="-165617">
              <a:spcBef>
                <a:spcPts val="5"/>
              </a:spcBef>
              <a:buChar char="•"/>
              <a:tabLst>
                <a:tab pos="605723" algn="l"/>
              </a:tabLst>
            </a:pPr>
            <a:r>
              <a:rPr lang="ru-RU" sz="2078" spc="-10" dirty="0">
                <a:latin typeface="Arial"/>
                <a:cs typeface="Arial"/>
              </a:rPr>
              <a:t>просто </a:t>
            </a:r>
            <a:r>
              <a:rPr lang="ru-RU" sz="2078" dirty="0">
                <a:latin typeface="Arial"/>
                <a:cs typeface="Arial"/>
              </a:rPr>
              <a:t>масса </a:t>
            </a:r>
            <a:r>
              <a:rPr lang="ru-RU" sz="2078" spc="-5" dirty="0">
                <a:latin typeface="Arial"/>
                <a:cs typeface="Arial"/>
              </a:rPr>
              <a:t>землероек </a:t>
            </a:r>
            <a:r>
              <a:rPr lang="ru-RU" sz="2078" spc="-31" dirty="0">
                <a:latin typeface="Arial"/>
                <a:cs typeface="Arial"/>
              </a:rPr>
              <a:t>этого </a:t>
            </a:r>
            <a:r>
              <a:rPr lang="ru-RU" sz="2078" spc="-5" dirty="0">
                <a:latin typeface="Arial"/>
                <a:cs typeface="Arial"/>
              </a:rPr>
              <a:t>вида </a:t>
            </a:r>
            <a:r>
              <a:rPr lang="ru-RU" sz="2078" spc="10" dirty="0">
                <a:latin typeface="Arial"/>
                <a:cs typeface="Arial"/>
              </a:rPr>
              <a:t>со </a:t>
            </a:r>
            <a:r>
              <a:rPr lang="ru-RU" sz="2078" spc="-10" dirty="0">
                <a:latin typeface="Arial"/>
                <a:cs typeface="Arial"/>
              </a:rPr>
              <a:t>средним=90</a:t>
            </a:r>
            <a:r>
              <a:rPr lang="ru-RU" sz="2078" spc="-118" dirty="0">
                <a:latin typeface="Arial"/>
                <a:cs typeface="Arial"/>
              </a:rPr>
              <a:t> </a:t>
            </a:r>
            <a:r>
              <a:rPr lang="ru-RU" sz="2078" spc="-125" dirty="0">
                <a:latin typeface="Arial"/>
                <a:cs typeface="Arial"/>
              </a:rPr>
              <a:t>г.</a:t>
            </a:r>
            <a:endParaRPr lang="ru-RU" sz="2078" dirty="0">
              <a:latin typeface="Arial"/>
              <a:cs typeface="Arial"/>
            </a:endParaRPr>
          </a:p>
          <a:p>
            <a:pPr marL="605063" indent="-165617">
              <a:buChar char="•"/>
              <a:tabLst>
                <a:tab pos="605723" algn="l"/>
              </a:tabLst>
            </a:pPr>
            <a:r>
              <a:rPr lang="ru-RU" sz="2078" spc="-16" dirty="0">
                <a:latin typeface="Arial"/>
                <a:cs typeface="Arial"/>
              </a:rPr>
              <a:t>распределение </a:t>
            </a:r>
            <a:r>
              <a:rPr lang="ru-RU" sz="2078" u="heavy" spc="-5" dirty="0">
                <a:uFill>
                  <a:solidFill>
                    <a:srgbClr val="000000"/>
                  </a:solidFill>
                </a:uFill>
                <a:latin typeface="Arial"/>
                <a:cs typeface="Arial"/>
              </a:rPr>
              <a:t>выборочных </a:t>
            </a:r>
            <a:r>
              <a:rPr lang="ru-RU" sz="2078" u="heavy" spc="-10" dirty="0">
                <a:uFill>
                  <a:solidFill>
                    <a:srgbClr val="000000"/>
                  </a:solidFill>
                </a:uFill>
                <a:latin typeface="Arial"/>
                <a:cs typeface="Arial"/>
              </a:rPr>
              <a:t>средних</a:t>
            </a:r>
            <a:r>
              <a:rPr lang="ru-RU" sz="2078" spc="-10" dirty="0">
                <a:latin typeface="Arial"/>
                <a:cs typeface="Arial"/>
              </a:rPr>
              <a:t> </a:t>
            </a:r>
            <a:r>
              <a:rPr lang="ru-RU" sz="2078" spc="-5" dirty="0">
                <a:latin typeface="Arial"/>
                <a:cs typeface="Arial"/>
              </a:rPr>
              <a:t>для выборок</a:t>
            </a:r>
            <a:r>
              <a:rPr lang="ru-RU" sz="2078" spc="-94" dirty="0">
                <a:latin typeface="Arial"/>
                <a:cs typeface="Arial"/>
              </a:rPr>
              <a:t> </a:t>
            </a:r>
            <a:r>
              <a:rPr lang="ru-RU" sz="2078" dirty="0">
                <a:latin typeface="Arial"/>
                <a:cs typeface="Arial"/>
              </a:rPr>
              <a:t>N=25</a:t>
            </a:r>
          </a:p>
          <a:p>
            <a:pPr marL="605063" indent="-165617">
              <a:buChar char="•"/>
              <a:tabLst>
                <a:tab pos="605723" algn="l"/>
              </a:tabLst>
            </a:pPr>
            <a:r>
              <a:rPr lang="ru-RU" sz="2078" spc="-16" dirty="0">
                <a:latin typeface="Arial"/>
                <a:cs typeface="Arial"/>
              </a:rPr>
              <a:t>распределение </a:t>
            </a:r>
            <a:r>
              <a:rPr lang="ru-RU" sz="2078" u="heavy" spc="-10" dirty="0">
                <a:uFill>
                  <a:solidFill>
                    <a:srgbClr val="000000"/>
                  </a:solidFill>
                </a:uFill>
                <a:latin typeface="Arial"/>
                <a:cs typeface="Arial"/>
              </a:rPr>
              <a:t>статистики </a:t>
            </a:r>
            <a:r>
              <a:rPr lang="ru-RU" sz="2078" u="heavy" spc="-5" dirty="0">
                <a:uFill>
                  <a:solidFill>
                    <a:srgbClr val="000000"/>
                  </a:solidFill>
                </a:uFill>
                <a:latin typeface="Arial"/>
                <a:cs typeface="Arial"/>
              </a:rPr>
              <a:t>критерия</a:t>
            </a:r>
            <a:r>
              <a:rPr lang="ru-RU" sz="2078" spc="-83" dirty="0">
                <a:latin typeface="Arial"/>
                <a:cs typeface="Arial"/>
              </a:rPr>
              <a:t> </a:t>
            </a:r>
            <a:r>
              <a:rPr lang="ru-RU" sz="2078" i="1" dirty="0">
                <a:latin typeface="Arial"/>
                <a:cs typeface="Arial"/>
              </a:rPr>
              <a:t>z</a:t>
            </a:r>
            <a:endParaRPr lang="ru-RU" sz="2078" dirty="0">
              <a:latin typeface="Arial"/>
              <a:cs typeface="Arial"/>
            </a:endParaRPr>
          </a:p>
        </p:txBody>
      </p:sp>
      <p:sp>
        <p:nvSpPr>
          <p:cNvPr id="4" name="object 4"/>
          <p:cNvSpPr/>
          <p:nvPr/>
        </p:nvSpPr>
        <p:spPr>
          <a:xfrm>
            <a:off x="5735385" y="3038438"/>
            <a:ext cx="4620474" cy="1839374"/>
          </a:xfrm>
          <a:prstGeom prst="rect">
            <a:avLst/>
          </a:prstGeom>
          <a:blipFill>
            <a:blip r:embed="rId2" cstate="print"/>
            <a:stretch>
              <a:fillRect/>
            </a:stretch>
          </a:blipFill>
        </p:spPr>
        <p:txBody>
          <a:bodyPr wrap="square" lIns="0" tIns="0" rIns="0" bIns="0" rtlCol="0"/>
          <a:lstStyle/>
          <a:p>
            <a:endParaRPr sz="2078"/>
          </a:p>
        </p:txBody>
      </p:sp>
      <p:sp>
        <p:nvSpPr>
          <p:cNvPr id="5" name="object 5"/>
          <p:cNvSpPr/>
          <p:nvPr/>
        </p:nvSpPr>
        <p:spPr>
          <a:xfrm>
            <a:off x="9027000" y="5033532"/>
            <a:ext cx="1987077" cy="1156342"/>
          </a:xfrm>
          <a:prstGeom prst="rect">
            <a:avLst/>
          </a:prstGeom>
          <a:blipFill>
            <a:blip r:embed="rId3" cstate="print"/>
            <a:stretch>
              <a:fillRect/>
            </a:stretch>
          </a:blipFill>
        </p:spPr>
        <p:txBody>
          <a:bodyPr wrap="square" lIns="0" tIns="0" rIns="0" bIns="0" rtlCol="0"/>
          <a:lstStyle/>
          <a:p>
            <a:endParaRPr sz="2078"/>
          </a:p>
        </p:txBody>
      </p:sp>
      <p:sp>
        <p:nvSpPr>
          <p:cNvPr id="10" name="Прямоугольник 9"/>
          <p:cNvSpPr/>
          <p:nvPr/>
        </p:nvSpPr>
        <p:spPr>
          <a:xfrm>
            <a:off x="2764011" y="854725"/>
            <a:ext cx="7673803" cy="400110"/>
          </a:xfrm>
          <a:prstGeom prst="rect">
            <a:avLst/>
          </a:prstGeom>
        </p:spPr>
        <p:txBody>
          <a:bodyPr wrap="square">
            <a:spAutoFit/>
          </a:bodyPr>
          <a:lstStyle/>
          <a:p>
            <a:pPr marL="344430">
              <a:spcBef>
                <a:spcPts val="805"/>
              </a:spcBef>
            </a:pPr>
            <a:r>
              <a:rPr lang="ru-RU" spc="-5" dirty="0">
                <a:solidFill>
                  <a:srgbClr val="CC0000"/>
                </a:solidFill>
                <a:latin typeface="Arial"/>
                <a:cs typeface="Arial"/>
              </a:rPr>
              <a:t>сравнивающие </a:t>
            </a:r>
            <a:r>
              <a:rPr lang="ru-RU" spc="-10" dirty="0">
                <a:solidFill>
                  <a:srgbClr val="CC0000"/>
                </a:solidFill>
                <a:latin typeface="Arial"/>
                <a:cs typeface="Arial"/>
              </a:rPr>
              <a:t>среднее </a:t>
            </a:r>
            <a:r>
              <a:rPr lang="ru-RU" spc="-5" dirty="0">
                <a:solidFill>
                  <a:srgbClr val="CC0000"/>
                </a:solidFill>
                <a:latin typeface="Arial"/>
                <a:cs typeface="Arial"/>
              </a:rPr>
              <a:t>значение </a:t>
            </a:r>
            <a:r>
              <a:rPr lang="ru-RU" dirty="0">
                <a:solidFill>
                  <a:srgbClr val="CC0000"/>
                </a:solidFill>
                <a:latin typeface="Arial"/>
                <a:cs typeface="Arial"/>
              </a:rPr>
              <a:t>с </a:t>
            </a:r>
            <a:r>
              <a:rPr lang="ru-RU" spc="-5" dirty="0">
                <a:solidFill>
                  <a:srgbClr val="CC0000"/>
                </a:solidFill>
                <a:latin typeface="Arial"/>
                <a:cs typeface="Arial"/>
              </a:rPr>
              <a:t>заданным</a:t>
            </a:r>
            <a:r>
              <a:rPr lang="ru-RU" spc="-166" dirty="0">
                <a:solidFill>
                  <a:srgbClr val="CC0000"/>
                </a:solidFill>
                <a:latin typeface="Arial"/>
                <a:cs typeface="Arial"/>
              </a:rPr>
              <a:t> </a:t>
            </a:r>
            <a:r>
              <a:rPr lang="ru-RU" dirty="0">
                <a:solidFill>
                  <a:srgbClr val="CC0000"/>
                </a:solidFill>
                <a:latin typeface="Arial"/>
                <a:cs typeface="Arial"/>
              </a:rPr>
              <a:t>числом.</a:t>
            </a:r>
            <a:endParaRPr lang="ru-RU" dirty="0">
              <a:latin typeface="Arial"/>
              <a:cs typeface="Arial"/>
            </a:endParaRPr>
          </a:p>
        </p:txBody>
      </p:sp>
      <p:sp>
        <p:nvSpPr>
          <p:cNvPr id="6" name="Номер слайда 5"/>
          <p:cNvSpPr>
            <a:spLocks noGrp="1"/>
          </p:cNvSpPr>
          <p:nvPr>
            <p:ph type="sldNum" sz="quarter" idx="12"/>
          </p:nvPr>
        </p:nvSpPr>
        <p:spPr>
          <a:xfrm>
            <a:off x="11402511" y="6568285"/>
            <a:ext cx="808441" cy="379409"/>
          </a:xfrm>
        </p:spPr>
        <p:txBody>
          <a:bodyPr/>
          <a:lstStyle/>
          <a:p>
            <a:fld id="{952B6C0E-C4B9-4094-8E59-5B7DF00D5415}" type="slidenum">
              <a:rPr lang="ru-RU" smtClean="0">
                <a:solidFill>
                  <a:schemeClr val="tx1"/>
                </a:solidFill>
              </a:rPr>
              <a:t>89</a:t>
            </a:fld>
            <a:endParaRPr lang="ru-RU" dirty="0">
              <a:solidFill>
                <a:schemeClr val="tx1"/>
              </a:solidFill>
            </a:endParaRPr>
          </a:p>
        </p:txBody>
      </p:sp>
    </p:spTree>
    <p:extLst>
      <p:ext uri="{BB962C8B-B14F-4D97-AF65-F5344CB8AC3E}">
        <p14:creationId xmlns:p14="http://schemas.microsoft.com/office/powerpoint/2010/main" val="10542228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AutoShape 4"/>
          <p:cNvSpPr>
            <a:spLocks noChangeArrowheads="1"/>
          </p:cNvSpPr>
          <p:nvPr/>
        </p:nvSpPr>
        <p:spPr bwMode="auto">
          <a:xfrm>
            <a:off x="1438275" y="322263"/>
            <a:ext cx="10800505" cy="6553200"/>
          </a:xfrm>
          <a:prstGeom prst="roundRect">
            <a:avLst>
              <a:gd name="adj" fmla="val 16667"/>
            </a:avLst>
          </a:prstGeom>
          <a:solidFill>
            <a:schemeClr val="bg1">
              <a:alpha val="50195"/>
            </a:scheme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24" name="AutoShape 5"/>
          <p:cNvSpPr>
            <a:spLocks noChangeArrowheads="1"/>
          </p:cNvSpPr>
          <p:nvPr/>
        </p:nvSpPr>
        <p:spPr bwMode="auto">
          <a:xfrm>
            <a:off x="2058353" y="322264"/>
            <a:ext cx="8379460" cy="860019"/>
          </a:xfrm>
          <a:prstGeom prst="roundRect">
            <a:avLst>
              <a:gd name="adj" fmla="val 37469"/>
            </a:avLst>
          </a:prstGeom>
          <a:solidFill>
            <a:srgbClr val="FFFFFF">
              <a:alpha val="78822"/>
            </a:srgb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3" name="object 3"/>
          <p:cNvSpPr/>
          <p:nvPr/>
        </p:nvSpPr>
        <p:spPr>
          <a:xfrm>
            <a:off x="4489440" y="2749110"/>
            <a:ext cx="356314" cy="0"/>
          </a:xfrm>
          <a:custGeom>
            <a:avLst/>
            <a:gdLst/>
            <a:ahLst/>
            <a:cxnLst/>
            <a:rect l="l" t="t" r="r" b="b"/>
            <a:pathLst>
              <a:path w="342900">
                <a:moveTo>
                  <a:pt x="0" y="0"/>
                </a:moveTo>
                <a:lnTo>
                  <a:pt x="342785" y="0"/>
                </a:lnTo>
              </a:path>
            </a:pathLst>
          </a:custGeom>
          <a:ln w="18236">
            <a:solidFill>
              <a:srgbClr val="000000"/>
            </a:solidFill>
          </a:ln>
        </p:spPr>
        <p:txBody>
          <a:bodyPr wrap="square" lIns="0" tIns="0" rIns="0" bIns="0" rtlCol="0"/>
          <a:lstStyle/>
          <a:p>
            <a:endParaRPr sz="2078"/>
          </a:p>
        </p:txBody>
      </p:sp>
      <p:sp>
        <p:nvSpPr>
          <p:cNvPr id="4" name="object 4"/>
          <p:cNvSpPr/>
          <p:nvPr/>
        </p:nvSpPr>
        <p:spPr>
          <a:xfrm>
            <a:off x="5033228" y="3712962"/>
            <a:ext cx="207190" cy="0"/>
          </a:xfrm>
          <a:custGeom>
            <a:avLst/>
            <a:gdLst/>
            <a:ahLst/>
            <a:cxnLst/>
            <a:rect l="l" t="t" r="r" b="b"/>
            <a:pathLst>
              <a:path w="199389">
                <a:moveTo>
                  <a:pt x="0" y="0"/>
                </a:moveTo>
                <a:lnTo>
                  <a:pt x="198875" y="0"/>
                </a:lnTo>
              </a:path>
            </a:pathLst>
          </a:custGeom>
          <a:ln w="10420">
            <a:solidFill>
              <a:srgbClr val="000000"/>
            </a:solidFill>
          </a:ln>
        </p:spPr>
        <p:txBody>
          <a:bodyPr wrap="square" lIns="0" tIns="0" rIns="0" bIns="0" rtlCol="0"/>
          <a:lstStyle/>
          <a:p>
            <a:endParaRPr sz="2078"/>
          </a:p>
        </p:txBody>
      </p:sp>
      <p:sp>
        <p:nvSpPr>
          <p:cNvPr id="5" name="object 5"/>
          <p:cNvSpPr/>
          <p:nvPr/>
        </p:nvSpPr>
        <p:spPr>
          <a:xfrm>
            <a:off x="4452278" y="3334910"/>
            <a:ext cx="1122390" cy="0"/>
          </a:xfrm>
          <a:custGeom>
            <a:avLst/>
            <a:gdLst/>
            <a:ahLst/>
            <a:cxnLst/>
            <a:rect l="l" t="t" r="r" b="b"/>
            <a:pathLst>
              <a:path w="1080135">
                <a:moveTo>
                  <a:pt x="0" y="0"/>
                </a:moveTo>
                <a:lnTo>
                  <a:pt x="1079790" y="0"/>
                </a:lnTo>
              </a:path>
            </a:pathLst>
          </a:custGeom>
          <a:ln w="18236">
            <a:solidFill>
              <a:srgbClr val="000000"/>
            </a:solidFill>
          </a:ln>
        </p:spPr>
        <p:txBody>
          <a:bodyPr wrap="square" lIns="0" tIns="0" rIns="0" bIns="0" rtlCol="0"/>
          <a:lstStyle/>
          <a:p>
            <a:endParaRPr sz="2078"/>
          </a:p>
        </p:txBody>
      </p:sp>
      <p:sp>
        <p:nvSpPr>
          <p:cNvPr id="6" name="object 6"/>
          <p:cNvSpPr txBox="1"/>
          <p:nvPr/>
        </p:nvSpPr>
        <p:spPr>
          <a:xfrm>
            <a:off x="5036351" y="3689406"/>
            <a:ext cx="180797" cy="327941"/>
          </a:xfrm>
          <a:prstGeom prst="rect">
            <a:avLst/>
          </a:prstGeom>
        </p:spPr>
        <p:txBody>
          <a:bodyPr vert="horz" wrap="square" lIns="0" tIns="13197" rIns="0" bIns="0" rtlCol="0">
            <a:spAutoFit/>
          </a:bodyPr>
          <a:lstStyle/>
          <a:p>
            <a:pPr marL="13197">
              <a:spcBef>
                <a:spcPts val="104"/>
              </a:spcBef>
            </a:pPr>
            <a:r>
              <a:rPr sz="1974" i="1" spc="5" dirty="0">
                <a:latin typeface="Times New Roman"/>
                <a:cs typeface="Times New Roman"/>
              </a:rPr>
              <a:t>X</a:t>
            </a:r>
            <a:endParaRPr sz="1974" dirty="0">
              <a:latin typeface="Times New Roman"/>
              <a:cs typeface="Times New Roman"/>
            </a:endParaRPr>
          </a:p>
        </p:txBody>
      </p:sp>
      <p:sp>
        <p:nvSpPr>
          <p:cNvPr id="7" name="object 7"/>
          <p:cNvSpPr txBox="1"/>
          <p:nvPr/>
        </p:nvSpPr>
        <p:spPr>
          <a:xfrm>
            <a:off x="4690132" y="3328224"/>
            <a:ext cx="287691" cy="583600"/>
          </a:xfrm>
          <a:prstGeom prst="rect">
            <a:avLst/>
          </a:prstGeom>
        </p:spPr>
        <p:txBody>
          <a:bodyPr vert="horz" wrap="square" lIns="0" tIns="18476" rIns="0" bIns="0" rtlCol="0">
            <a:spAutoFit/>
          </a:bodyPr>
          <a:lstStyle/>
          <a:p>
            <a:pPr marL="13197">
              <a:spcBef>
                <a:spcPts val="145"/>
              </a:spcBef>
            </a:pPr>
            <a:r>
              <a:rPr sz="3533" i="1" spc="-78" dirty="0">
                <a:latin typeface="Symbol"/>
                <a:cs typeface="Symbol"/>
              </a:rPr>
              <a:t></a:t>
            </a:r>
            <a:endParaRPr sz="3533">
              <a:latin typeface="Symbol"/>
              <a:cs typeface="Symbol"/>
            </a:endParaRPr>
          </a:p>
        </p:txBody>
      </p:sp>
      <p:sp>
        <p:nvSpPr>
          <p:cNvPr id="8" name="object 8"/>
          <p:cNvSpPr txBox="1"/>
          <p:nvPr/>
        </p:nvSpPr>
        <p:spPr>
          <a:xfrm>
            <a:off x="4504356" y="2698441"/>
            <a:ext cx="1022754" cy="562331"/>
          </a:xfrm>
          <a:prstGeom prst="rect">
            <a:avLst/>
          </a:prstGeom>
        </p:spPr>
        <p:txBody>
          <a:bodyPr vert="horz" wrap="square" lIns="0" tIns="18476" rIns="0" bIns="0" rtlCol="0">
            <a:spAutoFit/>
          </a:bodyPr>
          <a:lstStyle/>
          <a:p>
            <a:pPr marL="13197">
              <a:spcBef>
                <a:spcPts val="145"/>
              </a:spcBef>
            </a:pPr>
            <a:r>
              <a:rPr sz="3377" i="1" spc="16" dirty="0">
                <a:latin typeface="Times New Roman"/>
                <a:cs typeface="Times New Roman"/>
              </a:rPr>
              <a:t>X </a:t>
            </a:r>
            <a:r>
              <a:rPr sz="3377" spc="10" dirty="0">
                <a:latin typeface="Symbol"/>
                <a:cs typeface="Symbol"/>
              </a:rPr>
              <a:t></a:t>
            </a:r>
            <a:r>
              <a:rPr sz="3377" spc="130" dirty="0">
                <a:latin typeface="Times New Roman"/>
                <a:cs typeface="Times New Roman"/>
              </a:rPr>
              <a:t> </a:t>
            </a:r>
            <a:r>
              <a:rPr sz="3533" i="1" spc="-78" dirty="0">
                <a:latin typeface="Symbol"/>
                <a:cs typeface="Symbol"/>
              </a:rPr>
              <a:t></a:t>
            </a:r>
            <a:endParaRPr sz="3533" dirty="0">
              <a:latin typeface="Symbol"/>
              <a:cs typeface="Symbol"/>
            </a:endParaRPr>
          </a:p>
        </p:txBody>
      </p:sp>
      <p:sp>
        <p:nvSpPr>
          <p:cNvPr id="9" name="object 9"/>
          <p:cNvSpPr txBox="1"/>
          <p:nvPr/>
        </p:nvSpPr>
        <p:spPr>
          <a:xfrm>
            <a:off x="3790177" y="3002669"/>
            <a:ext cx="556906" cy="554682"/>
          </a:xfrm>
          <a:prstGeom prst="rect">
            <a:avLst/>
          </a:prstGeom>
        </p:spPr>
        <p:txBody>
          <a:bodyPr vert="horz" wrap="square" lIns="0" tIns="14517" rIns="0" bIns="0" rtlCol="0">
            <a:spAutoFit/>
          </a:bodyPr>
          <a:lstStyle/>
          <a:p>
            <a:pPr marL="13197">
              <a:spcBef>
                <a:spcPts val="114"/>
              </a:spcBef>
            </a:pPr>
            <a:r>
              <a:rPr sz="3377" i="1" spc="5" dirty="0">
                <a:latin typeface="Times New Roman"/>
                <a:cs typeface="Times New Roman"/>
              </a:rPr>
              <a:t>z</a:t>
            </a:r>
            <a:r>
              <a:rPr sz="3377" i="1" spc="47" dirty="0">
                <a:latin typeface="Times New Roman"/>
                <a:cs typeface="Times New Roman"/>
              </a:rPr>
              <a:t> </a:t>
            </a:r>
            <a:r>
              <a:rPr sz="3377" spc="10" dirty="0">
                <a:latin typeface="Symbol"/>
                <a:cs typeface="Symbol"/>
              </a:rPr>
              <a:t></a:t>
            </a:r>
            <a:endParaRPr sz="3377">
              <a:latin typeface="Symbol"/>
              <a:cs typeface="Symbol"/>
            </a:endParaRPr>
          </a:p>
        </p:txBody>
      </p:sp>
      <p:sp>
        <p:nvSpPr>
          <p:cNvPr id="10" name="object 10"/>
          <p:cNvSpPr/>
          <p:nvPr/>
        </p:nvSpPr>
        <p:spPr>
          <a:xfrm>
            <a:off x="3709672" y="2660745"/>
            <a:ext cx="1955110" cy="1394245"/>
          </a:xfrm>
          <a:custGeom>
            <a:avLst/>
            <a:gdLst/>
            <a:ahLst/>
            <a:cxnLst/>
            <a:rect l="l" t="t" r="r" b="b"/>
            <a:pathLst>
              <a:path w="1881504" h="1341754">
                <a:moveTo>
                  <a:pt x="0" y="1341501"/>
                </a:moveTo>
                <a:lnTo>
                  <a:pt x="1881251" y="1341501"/>
                </a:lnTo>
                <a:lnTo>
                  <a:pt x="1881251" y="0"/>
                </a:lnTo>
                <a:lnTo>
                  <a:pt x="0" y="0"/>
                </a:lnTo>
                <a:lnTo>
                  <a:pt x="0" y="1341501"/>
                </a:lnTo>
                <a:close/>
              </a:path>
            </a:pathLst>
          </a:custGeom>
          <a:ln w="9525">
            <a:solidFill>
              <a:srgbClr val="669900"/>
            </a:solidFill>
          </a:ln>
        </p:spPr>
        <p:txBody>
          <a:bodyPr wrap="square" lIns="0" tIns="0" rIns="0" bIns="0" rtlCol="0"/>
          <a:lstStyle/>
          <a:p>
            <a:endParaRPr sz="2078"/>
          </a:p>
        </p:txBody>
      </p:sp>
      <p:grpSp>
        <p:nvGrpSpPr>
          <p:cNvPr id="28" name="Группа 27"/>
          <p:cNvGrpSpPr/>
          <p:nvPr/>
        </p:nvGrpSpPr>
        <p:grpSpPr>
          <a:xfrm>
            <a:off x="1887903" y="1346943"/>
            <a:ext cx="8422033" cy="827010"/>
            <a:chOff x="707529" y="1196557"/>
            <a:chExt cx="8422033" cy="827010"/>
          </a:xfrm>
        </p:grpSpPr>
        <p:sp>
          <p:nvSpPr>
            <p:cNvPr id="11" name="object 11"/>
            <p:cNvSpPr txBox="1"/>
            <p:nvPr/>
          </p:nvSpPr>
          <p:spPr>
            <a:xfrm>
              <a:off x="707529" y="1470074"/>
              <a:ext cx="1965008" cy="397149"/>
            </a:xfrm>
            <a:prstGeom prst="rect">
              <a:avLst/>
            </a:prstGeom>
          </p:spPr>
          <p:txBody>
            <a:bodyPr vert="horz" wrap="square" lIns="0" tIns="13197" rIns="0" bIns="0" rtlCol="0">
              <a:spAutoFit/>
            </a:bodyPr>
            <a:lstStyle/>
            <a:p>
              <a:pPr marL="13197">
                <a:spcBef>
                  <a:spcPts val="104"/>
                </a:spcBef>
              </a:pPr>
              <a:r>
                <a:rPr sz="2494" spc="-5" dirty="0">
                  <a:latin typeface="Arial"/>
                  <a:cs typeface="Arial"/>
                </a:rPr>
                <a:t>Статистика</a:t>
              </a:r>
              <a:r>
                <a:rPr sz="2494" spc="-83" dirty="0">
                  <a:latin typeface="Arial"/>
                  <a:cs typeface="Arial"/>
                </a:rPr>
                <a:t> </a:t>
              </a:r>
              <a:r>
                <a:rPr sz="2494" dirty="0">
                  <a:latin typeface="Arial"/>
                  <a:cs typeface="Arial"/>
                </a:rPr>
                <a:t>=</a:t>
              </a:r>
            </a:p>
          </p:txBody>
        </p:sp>
        <p:sp>
          <p:nvSpPr>
            <p:cNvPr id="12" name="object 12"/>
            <p:cNvSpPr/>
            <p:nvPr/>
          </p:nvSpPr>
          <p:spPr>
            <a:xfrm>
              <a:off x="2844572" y="1667684"/>
              <a:ext cx="6284990" cy="660"/>
            </a:xfrm>
            <a:custGeom>
              <a:avLst/>
              <a:gdLst/>
              <a:ahLst/>
              <a:cxnLst/>
              <a:rect l="l" t="t" r="r" b="b"/>
              <a:pathLst>
                <a:path w="6048375" h="634">
                  <a:moveTo>
                    <a:pt x="0" y="126"/>
                  </a:moveTo>
                  <a:lnTo>
                    <a:pt x="6048375" y="0"/>
                  </a:lnTo>
                </a:path>
              </a:pathLst>
            </a:custGeom>
            <a:ln w="9525">
              <a:solidFill>
                <a:srgbClr val="000000"/>
              </a:solidFill>
            </a:ln>
          </p:spPr>
          <p:txBody>
            <a:bodyPr wrap="square" lIns="0" tIns="0" rIns="0" bIns="0" rtlCol="0"/>
            <a:lstStyle/>
            <a:p>
              <a:endParaRPr sz="2078"/>
            </a:p>
          </p:txBody>
        </p:sp>
        <p:sp>
          <p:nvSpPr>
            <p:cNvPr id="13" name="object 13"/>
            <p:cNvSpPr txBox="1"/>
            <p:nvPr/>
          </p:nvSpPr>
          <p:spPr>
            <a:xfrm>
              <a:off x="2831111" y="1196557"/>
              <a:ext cx="6173476" cy="827010"/>
            </a:xfrm>
            <a:prstGeom prst="rect">
              <a:avLst/>
            </a:prstGeom>
          </p:spPr>
          <p:txBody>
            <a:bodyPr vert="horz" wrap="square" lIns="0" tIns="13197" rIns="0" bIns="0" rtlCol="0">
              <a:spAutoFit/>
            </a:bodyPr>
            <a:lstStyle/>
            <a:p>
              <a:pPr marL="108872" marR="5279" indent="-95675">
                <a:lnSpc>
                  <a:spcPct val="105500"/>
                </a:lnSpc>
                <a:spcBef>
                  <a:spcPts val="104"/>
                </a:spcBef>
              </a:pPr>
              <a:r>
                <a:rPr sz="2494" spc="-16" dirty="0">
                  <a:latin typeface="Arial"/>
                  <a:cs typeface="Arial"/>
                </a:rPr>
                <a:t>параметр </a:t>
              </a:r>
              <a:r>
                <a:rPr sz="2494" spc="-5" dirty="0">
                  <a:latin typeface="Arial"/>
                  <a:cs typeface="Arial"/>
                </a:rPr>
                <a:t>выборки </a:t>
              </a:r>
              <a:r>
                <a:rPr sz="2494" dirty="0">
                  <a:latin typeface="Arial"/>
                  <a:cs typeface="Arial"/>
                </a:rPr>
                <a:t>– </a:t>
              </a:r>
              <a:r>
                <a:rPr sz="2494" spc="-16" dirty="0">
                  <a:latin typeface="Arial"/>
                  <a:cs typeface="Arial"/>
                </a:rPr>
                <a:t>параметр </a:t>
              </a:r>
              <a:r>
                <a:rPr sz="2494" spc="-10" dirty="0">
                  <a:latin typeface="Arial"/>
                  <a:cs typeface="Arial"/>
                </a:rPr>
                <a:t>популяции  стандартная </a:t>
              </a:r>
              <a:r>
                <a:rPr sz="2494" spc="5" dirty="0">
                  <a:latin typeface="Arial"/>
                  <a:cs typeface="Arial"/>
                </a:rPr>
                <a:t>ошибка </a:t>
              </a:r>
              <a:r>
                <a:rPr sz="2494" spc="-16" dirty="0">
                  <a:latin typeface="Arial"/>
                  <a:cs typeface="Arial"/>
                </a:rPr>
                <a:t>параметра</a:t>
              </a:r>
              <a:r>
                <a:rPr sz="2494" spc="-31" dirty="0">
                  <a:latin typeface="Arial"/>
                  <a:cs typeface="Arial"/>
                </a:rPr>
                <a:t> </a:t>
              </a:r>
              <a:r>
                <a:rPr sz="2494" spc="-5" dirty="0">
                  <a:latin typeface="Arial"/>
                  <a:cs typeface="Arial"/>
                </a:rPr>
                <a:t>выборки</a:t>
              </a:r>
              <a:endParaRPr sz="2494" dirty="0">
                <a:latin typeface="Arial"/>
                <a:cs typeface="Arial"/>
              </a:endParaRPr>
            </a:p>
          </p:txBody>
        </p:sp>
      </p:grpSp>
      <p:sp>
        <p:nvSpPr>
          <p:cNvPr id="14" name="object 14"/>
          <p:cNvSpPr/>
          <p:nvPr/>
        </p:nvSpPr>
        <p:spPr>
          <a:xfrm>
            <a:off x="6632769" y="2303742"/>
            <a:ext cx="2757254" cy="1670960"/>
          </a:xfrm>
          <a:prstGeom prst="rect">
            <a:avLst/>
          </a:prstGeom>
          <a:blipFill>
            <a:blip r:embed="rId2" cstate="print"/>
            <a:stretch>
              <a:fillRect/>
            </a:stretch>
          </a:blipFill>
        </p:spPr>
        <p:txBody>
          <a:bodyPr wrap="square" lIns="0" tIns="0" rIns="0" bIns="0" rtlCol="0"/>
          <a:lstStyle/>
          <a:p>
            <a:endParaRPr sz="2078"/>
          </a:p>
        </p:txBody>
      </p:sp>
      <p:sp>
        <p:nvSpPr>
          <p:cNvPr id="15" name="object 15"/>
          <p:cNvSpPr/>
          <p:nvPr/>
        </p:nvSpPr>
        <p:spPr>
          <a:xfrm>
            <a:off x="6482590" y="4148764"/>
            <a:ext cx="3054565" cy="1945299"/>
          </a:xfrm>
          <a:prstGeom prst="rect">
            <a:avLst/>
          </a:prstGeom>
          <a:blipFill>
            <a:blip r:embed="rId3" cstate="print"/>
            <a:stretch>
              <a:fillRect/>
            </a:stretch>
          </a:blipFill>
        </p:spPr>
        <p:txBody>
          <a:bodyPr wrap="square" lIns="0" tIns="0" rIns="0" bIns="0" rtlCol="0"/>
          <a:lstStyle/>
          <a:p>
            <a:endParaRPr sz="2078"/>
          </a:p>
        </p:txBody>
      </p:sp>
      <p:sp>
        <p:nvSpPr>
          <p:cNvPr id="16" name="object 16"/>
          <p:cNvSpPr/>
          <p:nvPr/>
        </p:nvSpPr>
        <p:spPr>
          <a:xfrm>
            <a:off x="2924986" y="4673190"/>
            <a:ext cx="2052837" cy="1881438"/>
          </a:xfrm>
          <a:prstGeom prst="rect">
            <a:avLst/>
          </a:prstGeom>
          <a:blipFill>
            <a:blip r:embed="rId4" cstate="print"/>
            <a:stretch>
              <a:fillRect/>
            </a:stretch>
          </a:blipFill>
        </p:spPr>
        <p:txBody>
          <a:bodyPr wrap="square" lIns="0" tIns="0" rIns="0" bIns="0" rtlCol="0"/>
          <a:lstStyle/>
          <a:p>
            <a:endParaRPr sz="2078"/>
          </a:p>
        </p:txBody>
      </p:sp>
      <p:sp>
        <p:nvSpPr>
          <p:cNvPr id="17" name="object 17"/>
          <p:cNvSpPr txBox="1"/>
          <p:nvPr/>
        </p:nvSpPr>
        <p:spPr>
          <a:xfrm>
            <a:off x="1653533" y="2152963"/>
            <a:ext cx="2778592" cy="333760"/>
          </a:xfrm>
          <a:prstGeom prst="rect">
            <a:avLst/>
          </a:prstGeom>
        </p:spPr>
        <p:txBody>
          <a:bodyPr vert="horz" wrap="square" lIns="0" tIns="13857" rIns="0" bIns="0" rtlCol="0">
            <a:spAutoFit/>
          </a:bodyPr>
          <a:lstStyle/>
          <a:p>
            <a:pPr marL="13197">
              <a:spcBef>
                <a:spcPts val="109"/>
              </a:spcBef>
            </a:pPr>
            <a:r>
              <a:rPr sz="2078" spc="-5" dirty="0">
                <a:latin typeface="Arial"/>
                <a:cs typeface="Arial"/>
              </a:rPr>
              <a:t>разность</a:t>
            </a:r>
            <a:r>
              <a:rPr sz="2078" spc="-99" dirty="0">
                <a:latin typeface="Arial"/>
                <a:cs typeface="Arial"/>
              </a:rPr>
              <a:t> </a:t>
            </a:r>
            <a:r>
              <a:rPr sz="2078" u="heavy" spc="-10" dirty="0">
                <a:uFill>
                  <a:solidFill>
                    <a:srgbClr val="000000"/>
                  </a:solidFill>
                </a:uFill>
                <a:latin typeface="Arial"/>
                <a:cs typeface="Arial"/>
              </a:rPr>
              <a:t>выборочного</a:t>
            </a:r>
            <a:endParaRPr sz="2078" dirty="0">
              <a:latin typeface="Arial"/>
              <a:cs typeface="Arial"/>
            </a:endParaRPr>
          </a:p>
        </p:txBody>
      </p:sp>
      <p:sp>
        <p:nvSpPr>
          <p:cNvPr id="18" name="object 18"/>
          <p:cNvSpPr txBox="1"/>
          <p:nvPr/>
        </p:nvSpPr>
        <p:spPr>
          <a:xfrm>
            <a:off x="1653533" y="2469687"/>
            <a:ext cx="2003279" cy="653526"/>
          </a:xfrm>
          <a:prstGeom prst="rect">
            <a:avLst/>
          </a:prstGeom>
        </p:spPr>
        <p:txBody>
          <a:bodyPr vert="horz" wrap="square" lIns="0" tIns="13857" rIns="0" bIns="0" rtlCol="0">
            <a:spAutoFit/>
          </a:bodyPr>
          <a:lstStyle/>
          <a:p>
            <a:pPr marL="13197" marR="5279">
              <a:spcBef>
                <a:spcPts val="109"/>
              </a:spcBef>
            </a:pPr>
            <a:r>
              <a:rPr sz="2078" spc="-16" dirty="0">
                <a:latin typeface="Arial"/>
                <a:cs typeface="Arial"/>
              </a:rPr>
              <a:t>среднего </a:t>
            </a:r>
            <a:r>
              <a:rPr sz="2078" dirty="0">
                <a:latin typeface="Arial"/>
                <a:cs typeface="Arial"/>
              </a:rPr>
              <a:t>и  </a:t>
            </a:r>
            <a:r>
              <a:rPr sz="2078" spc="-5" dirty="0">
                <a:latin typeface="Arial"/>
                <a:cs typeface="Arial"/>
              </a:rPr>
              <a:t>поп</a:t>
            </a:r>
            <a:r>
              <a:rPr sz="2078" spc="-62" dirty="0">
                <a:latin typeface="Arial"/>
                <a:cs typeface="Arial"/>
              </a:rPr>
              <a:t>у</a:t>
            </a:r>
            <a:r>
              <a:rPr sz="2078" spc="-5" dirty="0">
                <a:latin typeface="Arial"/>
                <a:cs typeface="Arial"/>
              </a:rPr>
              <a:t>л</a:t>
            </a:r>
            <a:r>
              <a:rPr sz="2078" spc="-16" dirty="0">
                <a:latin typeface="Arial"/>
                <a:cs typeface="Arial"/>
              </a:rPr>
              <a:t>я</a:t>
            </a:r>
            <a:r>
              <a:rPr sz="2078" dirty="0">
                <a:latin typeface="Arial"/>
                <a:cs typeface="Arial"/>
              </a:rPr>
              <a:t>ционно</a:t>
            </a:r>
            <a:r>
              <a:rPr sz="2078" spc="-52" dirty="0">
                <a:latin typeface="Arial"/>
                <a:cs typeface="Arial"/>
              </a:rPr>
              <a:t>г</a:t>
            </a:r>
            <a:r>
              <a:rPr sz="2078" dirty="0">
                <a:latin typeface="Arial"/>
                <a:cs typeface="Arial"/>
              </a:rPr>
              <a:t>о</a:t>
            </a:r>
          </a:p>
        </p:txBody>
      </p:sp>
      <p:sp>
        <p:nvSpPr>
          <p:cNvPr id="19" name="object 19"/>
          <p:cNvSpPr/>
          <p:nvPr/>
        </p:nvSpPr>
        <p:spPr>
          <a:xfrm>
            <a:off x="3709409" y="2579585"/>
            <a:ext cx="604415" cy="316064"/>
          </a:xfrm>
          <a:custGeom>
            <a:avLst/>
            <a:gdLst/>
            <a:ahLst/>
            <a:cxnLst/>
            <a:rect l="l" t="t" r="r" b="b"/>
            <a:pathLst>
              <a:path w="581660" h="304164">
                <a:moveTo>
                  <a:pt x="517553" y="277879"/>
                </a:moveTo>
                <a:lnTo>
                  <a:pt x="423417" y="282066"/>
                </a:lnTo>
                <a:lnTo>
                  <a:pt x="418719" y="287273"/>
                </a:lnTo>
                <a:lnTo>
                  <a:pt x="419226" y="299465"/>
                </a:lnTo>
                <a:lnTo>
                  <a:pt x="424433" y="304164"/>
                </a:lnTo>
                <a:lnTo>
                  <a:pt x="581151" y="297179"/>
                </a:lnTo>
                <a:lnTo>
                  <a:pt x="580977" y="296925"/>
                </a:lnTo>
                <a:lnTo>
                  <a:pt x="555751" y="296925"/>
                </a:lnTo>
                <a:lnTo>
                  <a:pt x="517553" y="277879"/>
                </a:lnTo>
                <a:close/>
              </a:path>
              <a:path w="581660" h="304164">
                <a:moveTo>
                  <a:pt x="540258" y="276863"/>
                </a:moveTo>
                <a:lnTo>
                  <a:pt x="517553" y="277879"/>
                </a:lnTo>
                <a:lnTo>
                  <a:pt x="555751" y="296925"/>
                </a:lnTo>
                <a:lnTo>
                  <a:pt x="557530" y="293369"/>
                </a:lnTo>
                <a:lnTo>
                  <a:pt x="551560" y="293369"/>
                </a:lnTo>
                <a:lnTo>
                  <a:pt x="540258" y="276863"/>
                </a:lnTo>
                <a:close/>
              </a:path>
              <a:path w="581660" h="304164">
                <a:moveTo>
                  <a:pt x="485520" y="166623"/>
                </a:moveTo>
                <a:lnTo>
                  <a:pt x="480440" y="170052"/>
                </a:lnTo>
                <a:lnTo>
                  <a:pt x="475488" y="173481"/>
                </a:lnTo>
                <a:lnTo>
                  <a:pt x="474090" y="180466"/>
                </a:lnTo>
                <a:lnTo>
                  <a:pt x="477646" y="185419"/>
                </a:lnTo>
                <a:lnTo>
                  <a:pt x="527352" y="258013"/>
                </a:lnTo>
                <a:lnTo>
                  <a:pt x="565657" y="277113"/>
                </a:lnTo>
                <a:lnTo>
                  <a:pt x="555751" y="296925"/>
                </a:lnTo>
                <a:lnTo>
                  <a:pt x="580977" y="296925"/>
                </a:lnTo>
                <a:lnTo>
                  <a:pt x="495934" y="172973"/>
                </a:lnTo>
                <a:lnTo>
                  <a:pt x="492505" y="167893"/>
                </a:lnTo>
                <a:lnTo>
                  <a:pt x="485520" y="166623"/>
                </a:lnTo>
                <a:close/>
              </a:path>
              <a:path w="581660" h="304164">
                <a:moveTo>
                  <a:pt x="560196" y="275970"/>
                </a:moveTo>
                <a:lnTo>
                  <a:pt x="540258" y="276863"/>
                </a:lnTo>
                <a:lnTo>
                  <a:pt x="551560" y="293369"/>
                </a:lnTo>
                <a:lnTo>
                  <a:pt x="560196" y="275970"/>
                </a:lnTo>
                <a:close/>
              </a:path>
              <a:path w="581660" h="304164">
                <a:moveTo>
                  <a:pt x="563365" y="275970"/>
                </a:moveTo>
                <a:lnTo>
                  <a:pt x="560196" y="275970"/>
                </a:lnTo>
                <a:lnTo>
                  <a:pt x="551560" y="293369"/>
                </a:lnTo>
                <a:lnTo>
                  <a:pt x="557530" y="293369"/>
                </a:lnTo>
                <a:lnTo>
                  <a:pt x="565657" y="277113"/>
                </a:lnTo>
                <a:lnTo>
                  <a:pt x="563365" y="275970"/>
                </a:lnTo>
                <a:close/>
              </a:path>
              <a:path w="581660" h="304164">
                <a:moveTo>
                  <a:pt x="9905" y="0"/>
                </a:moveTo>
                <a:lnTo>
                  <a:pt x="0" y="19811"/>
                </a:lnTo>
                <a:lnTo>
                  <a:pt x="517553" y="277879"/>
                </a:lnTo>
                <a:lnTo>
                  <a:pt x="540258" y="276863"/>
                </a:lnTo>
                <a:lnTo>
                  <a:pt x="527352" y="258013"/>
                </a:lnTo>
                <a:lnTo>
                  <a:pt x="9905" y="0"/>
                </a:lnTo>
                <a:close/>
              </a:path>
              <a:path w="581660" h="304164">
                <a:moveTo>
                  <a:pt x="527352" y="258013"/>
                </a:moveTo>
                <a:lnTo>
                  <a:pt x="540258" y="276863"/>
                </a:lnTo>
                <a:lnTo>
                  <a:pt x="560196" y="275970"/>
                </a:lnTo>
                <a:lnTo>
                  <a:pt x="563365" y="275970"/>
                </a:lnTo>
                <a:lnTo>
                  <a:pt x="527352" y="258013"/>
                </a:lnTo>
                <a:close/>
              </a:path>
            </a:pathLst>
          </a:custGeom>
          <a:solidFill>
            <a:srgbClr val="99CC00"/>
          </a:solidFill>
        </p:spPr>
        <p:txBody>
          <a:bodyPr wrap="square" lIns="0" tIns="0" rIns="0" bIns="0" rtlCol="0"/>
          <a:lstStyle/>
          <a:p>
            <a:endParaRPr sz="2078"/>
          </a:p>
        </p:txBody>
      </p:sp>
      <p:sp>
        <p:nvSpPr>
          <p:cNvPr id="20" name="object 20"/>
          <p:cNvSpPr/>
          <p:nvPr/>
        </p:nvSpPr>
        <p:spPr>
          <a:xfrm>
            <a:off x="3785949" y="3695113"/>
            <a:ext cx="902002" cy="403823"/>
          </a:xfrm>
          <a:custGeom>
            <a:avLst/>
            <a:gdLst/>
            <a:ahLst/>
            <a:cxnLst/>
            <a:rect l="l" t="t" r="r" b="b"/>
            <a:pathLst>
              <a:path w="868044" h="388620">
                <a:moveTo>
                  <a:pt x="802882" y="32539"/>
                </a:moveTo>
                <a:lnTo>
                  <a:pt x="0" y="367538"/>
                </a:lnTo>
                <a:lnTo>
                  <a:pt x="8636" y="388112"/>
                </a:lnTo>
                <a:lnTo>
                  <a:pt x="811516" y="53064"/>
                </a:lnTo>
                <a:lnTo>
                  <a:pt x="825697" y="35104"/>
                </a:lnTo>
                <a:lnTo>
                  <a:pt x="802882" y="32539"/>
                </a:lnTo>
                <a:close/>
              </a:path>
              <a:path w="868044" h="388620">
                <a:moveTo>
                  <a:pt x="854396" y="16001"/>
                </a:moveTo>
                <a:lnTo>
                  <a:pt x="842518" y="16001"/>
                </a:lnTo>
                <a:lnTo>
                  <a:pt x="851026" y="36575"/>
                </a:lnTo>
                <a:lnTo>
                  <a:pt x="811516" y="53064"/>
                </a:lnTo>
                <a:lnTo>
                  <a:pt x="753237" y="126873"/>
                </a:lnTo>
                <a:lnTo>
                  <a:pt x="753999" y="133857"/>
                </a:lnTo>
                <a:lnTo>
                  <a:pt x="763651" y="141477"/>
                </a:lnTo>
                <a:lnTo>
                  <a:pt x="770636" y="140588"/>
                </a:lnTo>
                <a:lnTo>
                  <a:pt x="867918" y="17525"/>
                </a:lnTo>
                <a:lnTo>
                  <a:pt x="854396" y="16001"/>
                </a:lnTo>
                <a:close/>
              </a:path>
              <a:path w="868044" h="388620">
                <a:moveTo>
                  <a:pt x="825697" y="35104"/>
                </a:moveTo>
                <a:lnTo>
                  <a:pt x="811516" y="53064"/>
                </a:lnTo>
                <a:lnTo>
                  <a:pt x="849201" y="37337"/>
                </a:lnTo>
                <a:lnTo>
                  <a:pt x="845566" y="37337"/>
                </a:lnTo>
                <a:lnTo>
                  <a:pt x="825697" y="35104"/>
                </a:lnTo>
                <a:close/>
              </a:path>
              <a:path w="868044" h="388620">
                <a:moveTo>
                  <a:pt x="838073" y="19430"/>
                </a:moveTo>
                <a:lnTo>
                  <a:pt x="825697" y="35104"/>
                </a:lnTo>
                <a:lnTo>
                  <a:pt x="845566" y="37337"/>
                </a:lnTo>
                <a:lnTo>
                  <a:pt x="838073" y="19430"/>
                </a:lnTo>
                <a:close/>
              </a:path>
              <a:path w="868044" h="388620">
                <a:moveTo>
                  <a:pt x="843936" y="19430"/>
                </a:moveTo>
                <a:lnTo>
                  <a:pt x="838073" y="19430"/>
                </a:lnTo>
                <a:lnTo>
                  <a:pt x="845566" y="37337"/>
                </a:lnTo>
                <a:lnTo>
                  <a:pt x="849201" y="37337"/>
                </a:lnTo>
                <a:lnTo>
                  <a:pt x="851026" y="36575"/>
                </a:lnTo>
                <a:lnTo>
                  <a:pt x="843936" y="19430"/>
                </a:lnTo>
                <a:close/>
              </a:path>
              <a:path w="868044" h="388620">
                <a:moveTo>
                  <a:pt x="842518" y="16001"/>
                </a:moveTo>
                <a:lnTo>
                  <a:pt x="802882" y="32539"/>
                </a:lnTo>
                <a:lnTo>
                  <a:pt x="825697" y="35104"/>
                </a:lnTo>
                <a:lnTo>
                  <a:pt x="838073" y="19430"/>
                </a:lnTo>
                <a:lnTo>
                  <a:pt x="843936" y="19430"/>
                </a:lnTo>
                <a:lnTo>
                  <a:pt x="842518" y="16001"/>
                </a:lnTo>
                <a:close/>
              </a:path>
              <a:path w="868044" h="388620">
                <a:moveTo>
                  <a:pt x="711962" y="0"/>
                </a:moveTo>
                <a:lnTo>
                  <a:pt x="706501" y="4317"/>
                </a:lnTo>
                <a:lnTo>
                  <a:pt x="705866" y="10413"/>
                </a:lnTo>
                <a:lnTo>
                  <a:pt x="705104" y="16510"/>
                </a:lnTo>
                <a:lnTo>
                  <a:pt x="709549" y="22098"/>
                </a:lnTo>
                <a:lnTo>
                  <a:pt x="802882" y="32539"/>
                </a:lnTo>
                <a:lnTo>
                  <a:pt x="842518" y="16001"/>
                </a:lnTo>
                <a:lnTo>
                  <a:pt x="854396" y="16001"/>
                </a:lnTo>
                <a:lnTo>
                  <a:pt x="711962" y="0"/>
                </a:lnTo>
                <a:close/>
              </a:path>
            </a:pathLst>
          </a:custGeom>
          <a:solidFill>
            <a:srgbClr val="99CC00"/>
          </a:solidFill>
        </p:spPr>
        <p:txBody>
          <a:bodyPr wrap="square" lIns="0" tIns="0" rIns="0" bIns="0" rtlCol="0"/>
          <a:lstStyle/>
          <a:p>
            <a:endParaRPr sz="2078"/>
          </a:p>
        </p:txBody>
      </p:sp>
      <p:sp>
        <p:nvSpPr>
          <p:cNvPr id="21" name="object 21"/>
          <p:cNvSpPr txBox="1"/>
          <p:nvPr/>
        </p:nvSpPr>
        <p:spPr>
          <a:xfrm>
            <a:off x="1732804" y="4017110"/>
            <a:ext cx="2128648" cy="333093"/>
          </a:xfrm>
          <a:prstGeom prst="rect">
            <a:avLst/>
          </a:prstGeom>
        </p:spPr>
        <p:txBody>
          <a:bodyPr vert="horz" wrap="square" lIns="0" tIns="13197" rIns="0" bIns="0" rtlCol="0">
            <a:spAutoFit/>
          </a:bodyPr>
          <a:lstStyle/>
          <a:p>
            <a:pPr marL="13197">
              <a:spcBef>
                <a:spcPts val="104"/>
              </a:spcBef>
            </a:pPr>
            <a:r>
              <a:rPr sz="2078" spc="5" dirty="0">
                <a:latin typeface="Arial"/>
                <a:cs typeface="Arial"/>
              </a:rPr>
              <a:t>ошибка</a:t>
            </a:r>
            <a:r>
              <a:rPr sz="2078" spc="-88" dirty="0">
                <a:latin typeface="Arial"/>
                <a:cs typeface="Arial"/>
              </a:rPr>
              <a:t> </a:t>
            </a:r>
            <a:r>
              <a:rPr sz="2078" spc="-16" dirty="0">
                <a:latin typeface="Arial"/>
                <a:cs typeface="Arial"/>
              </a:rPr>
              <a:t>среднего</a:t>
            </a:r>
            <a:endParaRPr sz="2078" dirty="0">
              <a:latin typeface="Arial"/>
              <a:cs typeface="Arial"/>
            </a:endParaRPr>
          </a:p>
        </p:txBody>
      </p:sp>
      <p:sp>
        <p:nvSpPr>
          <p:cNvPr id="22" name="object 22"/>
          <p:cNvSpPr txBox="1"/>
          <p:nvPr/>
        </p:nvSpPr>
        <p:spPr>
          <a:xfrm>
            <a:off x="2973289" y="6317168"/>
            <a:ext cx="7318961" cy="316461"/>
          </a:xfrm>
          <a:prstGeom prst="rect">
            <a:avLst/>
          </a:prstGeom>
        </p:spPr>
        <p:txBody>
          <a:bodyPr vert="horz" wrap="square" lIns="0" tIns="12537" rIns="0" bIns="0" rtlCol="0">
            <a:spAutoFit/>
          </a:bodyPr>
          <a:lstStyle/>
          <a:p>
            <a:pPr marL="13197" marR="5279">
              <a:spcBef>
                <a:spcPts val="99"/>
              </a:spcBef>
            </a:pPr>
            <a:r>
              <a:rPr sz="1974" spc="-5" dirty="0">
                <a:latin typeface="Arial"/>
                <a:cs typeface="Arial"/>
              </a:rPr>
              <a:t>Всё </a:t>
            </a:r>
            <a:r>
              <a:rPr sz="1974" spc="-26" dirty="0">
                <a:latin typeface="Arial"/>
                <a:cs typeface="Arial"/>
              </a:rPr>
              <a:t>это </a:t>
            </a:r>
            <a:r>
              <a:rPr sz="1974" spc="-5" dirty="0">
                <a:latin typeface="Arial"/>
                <a:cs typeface="Arial"/>
              </a:rPr>
              <a:t>мы </a:t>
            </a:r>
            <a:r>
              <a:rPr sz="1974" spc="-16" dirty="0">
                <a:latin typeface="Arial"/>
                <a:cs typeface="Arial"/>
              </a:rPr>
              <a:t>производим </a:t>
            </a:r>
            <a:r>
              <a:rPr sz="1974" spc="-10" dirty="0">
                <a:latin typeface="Arial"/>
                <a:cs typeface="Arial"/>
              </a:rPr>
              <a:t>ДО </a:t>
            </a:r>
            <a:r>
              <a:rPr sz="1974" spc="-16" dirty="0">
                <a:latin typeface="Arial"/>
                <a:cs typeface="Arial"/>
              </a:rPr>
              <a:t>взвешивания </a:t>
            </a:r>
            <a:r>
              <a:rPr sz="1974" spc="-10" dirty="0">
                <a:latin typeface="Arial"/>
                <a:cs typeface="Arial"/>
              </a:rPr>
              <a:t>землероек! </a:t>
            </a:r>
            <a:endParaRPr sz="1974" dirty="0">
              <a:latin typeface="Arial"/>
              <a:cs typeface="Arial"/>
            </a:endParaRPr>
          </a:p>
        </p:txBody>
      </p:sp>
      <p:sp>
        <p:nvSpPr>
          <p:cNvPr id="26" name="object 2"/>
          <p:cNvSpPr txBox="1">
            <a:spLocks/>
          </p:cNvSpPr>
          <p:nvPr/>
        </p:nvSpPr>
        <p:spPr>
          <a:xfrm>
            <a:off x="2448274" y="210705"/>
            <a:ext cx="8134001" cy="690434"/>
          </a:xfrm>
          <a:prstGeom prst="rect">
            <a:avLst/>
          </a:prstGeom>
        </p:spPr>
        <p:txBody>
          <a:bodyPr vert="horz" wrap="square" lIns="0" tIns="13197" rIns="0" bIns="0" rtlCol="0">
            <a:spAutoFit/>
          </a:bodyPr>
          <a:lstStyle>
            <a:lvl1pPr algn="ctr" defTabSz="993775" rtl="0" fontAlgn="base">
              <a:spcBef>
                <a:spcPct val="0"/>
              </a:spcBef>
              <a:spcAft>
                <a:spcPct val="0"/>
              </a:spcAft>
              <a:defRPr sz="4800" kern="1200">
                <a:solidFill>
                  <a:schemeClr val="tx2"/>
                </a:solidFill>
                <a:latin typeface="+mj-lt"/>
                <a:ea typeface="+mj-ea"/>
                <a:cs typeface="+mj-cs"/>
              </a:defRPr>
            </a:lvl1pPr>
            <a:lvl2pPr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2pPr>
            <a:lvl3pPr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3pPr>
            <a:lvl4pPr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4pPr>
            <a:lvl5pPr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5pPr>
            <a:lvl6pPr marL="457200"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6pPr>
            <a:lvl7pPr marL="914400"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7pPr>
            <a:lvl8pPr marL="1371600"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8pPr>
            <a:lvl9pPr marL="1828800"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9pPr>
          </a:lstStyle>
          <a:p>
            <a:pPr marL="13197">
              <a:spcBef>
                <a:spcPts val="104"/>
              </a:spcBef>
            </a:pPr>
            <a:r>
              <a:rPr lang="ru-RU" sz="4400" spc="-16" dirty="0" err="1"/>
              <a:t>Одновыборочные</a:t>
            </a:r>
            <a:r>
              <a:rPr lang="ru-RU" sz="4400" spc="-5" dirty="0"/>
              <a:t> </a:t>
            </a:r>
            <a:r>
              <a:rPr lang="ru-RU" sz="4400" spc="-10" dirty="0"/>
              <a:t>критерии</a:t>
            </a:r>
          </a:p>
        </p:txBody>
      </p:sp>
      <p:sp>
        <p:nvSpPr>
          <p:cNvPr id="27" name="Прямоугольник 26"/>
          <p:cNvSpPr/>
          <p:nvPr/>
        </p:nvSpPr>
        <p:spPr>
          <a:xfrm>
            <a:off x="2908472" y="812395"/>
            <a:ext cx="7673803" cy="400110"/>
          </a:xfrm>
          <a:prstGeom prst="rect">
            <a:avLst/>
          </a:prstGeom>
        </p:spPr>
        <p:txBody>
          <a:bodyPr wrap="square">
            <a:spAutoFit/>
          </a:bodyPr>
          <a:lstStyle/>
          <a:p>
            <a:pPr marL="344430">
              <a:spcBef>
                <a:spcPts val="805"/>
              </a:spcBef>
            </a:pPr>
            <a:r>
              <a:rPr lang="ru-RU" spc="-5" dirty="0">
                <a:solidFill>
                  <a:srgbClr val="CC0000"/>
                </a:solidFill>
                <a:latin typeface="Arial"/>
                <a:cs typeface="Arial"/>
              </a:rPr>
              <a:t>сравнивающие </a:t>
            </a:r>
            <a:r>
              <a:rPr lang="ru-RU" spc="-10" dirty="0">
                <a:solidFill>
                  <a:srgbClr val="CC0000"/>
                </a:solidFill>
                <a:latin typeface="Arial"/>
                <a:cs typeface="Arial"/>
              </a:rPr>
              <a:t>среднее </a:t>
            </a:r>
            <a:r>
              <a:rPr lang="ru-RU" spc="-5" dirty="0">
                <a:solidFill>
                  <a:srgbClr val="CC0000"/>
                </a:solidFill>
                <a:latin typeface="Arial"/>
                <a:cs typeface="Arial"/>
              </a:rPr>
              <a:t>значение </a:t>
            </a:r>
            <a:r>
              <a:rPr lang="ru-RU" dirty="0">
                <a:solidFill>
                  <a:srgbClr val="CC0000"/>
                </a:solidFill>
                <a:latin typeface="Arial"/>
                <a:cs typeface="Arial"/>
              </a:rPr>
              <a:t>с </a:t>
            </a:r>
            <a:r>
              <a:rPr lang="ru-RU" spc="-5" dirty="0">
                <a:solidFill>
                  <a:srgbClr val="CC0000"/>
                </a:solidFill>
                <a:latin typeface="Arial"/>
                <a:cs typeface="Arial"/>
              </a:rPr>
              <a:t>заданным</a:t>
            </a:r>
            <a:r>
              <a:rPr lang="ru-RU" spc="-166" dirty="0">
                <a:solidFill>
                  <a:srgbClr val="CC0000"/>
                </a:solidFill>
                <a:latin typeface="Arial"/>
                <a:cs typeface="Arial"/>
              </a:rPr>
              <a:t> </a:t>
            </a:r>
            <a:r>
              <a:rPr lang="ru-RU" dirty="0">
                <a:solidFill>
                  <a:srgbClr val="CC0000"/>
                </a:solidFill>
                <a:latin typeface="Arial"/>
                <a:cs typeface="Arial"/>
              </a:rPr>
              <a:t>числом.</a:t>
            </a:r>
            <a:endParaRPr lang="ru-RU" dirty="0">
              <a:latin typeface="Arial"/>
              <a:cs typeface="Arial"/>
            </a:endParaRPr>
          </a:p>
        </p:txBody>
      </p:sp>
      <p:sp>
        <p:nvSpPr>
          <p:cNvPr id="2" name="Номер слайда 1"/>
          <p:cNvSpPr>
            <a:spLocks noGrp="1"/>
          </p:cNvSpPr>
          <p:nvPr>
            <p:ph type="sldNum" sz="quarter" idx="7"/>
          </p:nvPr>
        </p:nvSpPr>
        <p:spPr>
          <a:xfrm>
            <a:off x="11374685" y="6633628"/>
            <a:ext cx="660153" cy="350133"/>
          </a:xfrm>
        </p:spPr>
        <p:txBody>
          <a:bodyPr/>
          <a:lstStyle/>
          <a:p>
            <a:fld id="{B6F15528-21DE-4FAA-801E-634DDDAF4B2B}" type="slidenum">
              <a:rPr lang="ru-RU" smtClean="0">
                <a:solidFill>
                  <a:schemeClr val="tx1"/>
                </a:solidFill>
              </a:rPr>
              <a:t>90</a:t>
            </a:fld>
            <a:endParaRPr lang="ru-RU">
              <a:solidFill>
                <a:schemeClr val="tx1"/>
              </a:solidFill>
            </a:endParaRPr>
          </a:p>
        </p:txBody>
      </p:sp>
    </p:spTree>
    <p:extLst>
      <p:ext uri="{BB962C8B-B14F-4D97-AF65-F5344CB8AC3E}">
        <p14:creationId xmlns:p14="http://schemas.microsoft.com/office/powerpoint/2010/main" val="2259023806"/>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AutoShape 4"/>
          <p:cNvSpPr>
            <a:spLocks noChangeArrowheads="1"/>
          </p:cNvSpPr>
          <p:nvPr/>
        </p:nvSpPr>
        <p:spPr bwMode="auto">
          <a:xfrm>
            <a:off x="1438275" y="322263"/>
            <a:ext cx="11088537" cy="6553200"/>
          </a:xfrm>
          <a:prstGeom prst="roundRect">
            <a:avLst>
              <a:gd name="adj" fmla="val 16667"/>
            </a:avLst>
          </a:prstGeom>
          <a:solidFill>
            <a:schemeClr val="bg1">
              <a:alpha val="50195"/>
            </a:scheme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2" name="object 2"/>
          <p:cNvSpPr txBox="1"/>
          <p:nvPr/>
        </p:nvSpPr>
        <p:spPr>
          <a:xfrm>
            <a:off x="1931041" y="1413619"/>
            <a:ext cx="4059935" cy="628879"/>
          </a:xfrm>
          <a:prstGeom prst="rect">
            <a:avLst/>
          </a:prstGeom>
        </p:spPr>
        <p:txBody>
          <a:bodyPr vert="horz" wrap="square" lIns="0" tIns="13197" rIns="0" bIns="0" rtlCol="0">
            <a:spAutoFit/>
          </a:bodyPr>
          <a:lstStyle/>
          <a:p>
            <a:pPr marL="39590" marR="31672" algn="just">
              <a:spcBef>
                <a:spcPts val="104"/>
              </a:spcBef>
            </a:pPr>
            <a:r>
              <a:rPr b="1" spc="-5" dirty="0">
                <a:latin typeface="Arial"/>
                <a:cs typeface="Arial"/>
              </a:rPr>
              <a:t>2. </a:t>
            </a:r>
            <a:r>
              <a:rPr b="1" spc="-31" dirty="0">
                <a:latin typeface="Arial"/>
                <a:cs typeface="Arial"/>
              </a:rPr>
              <a:t>Устанавливаем </a:t>
            </a:r>
            <a:r>
              <a:rPr b="1" spc="-21" dirty="0">
                <a:latin typeface="Arial"/>
                <a:cs typeface="Arial"/>
              </a:rPr>
              <a:t>условия</a:t>
            </a:r>
            <a:r>
              <a:rPr b="1" spc="-21" dirty="0">
                <a:solidFill>
                  <a:srgbClr val="3A812E"/>
                </a:solidFill>
                <a:latin typeface="Arial"/>
                <a:cs typeface="Arial"/>
              </a:rPr>
              <a:t>, </a:t>
            </a:r>
            <a:r>
              <a:rPr b="1" spc="-21" dirty="0">
                <a:latin typeface="Arial"/>
                <a:cs typeface="Arial"/>
              </a:rPr>
              <a:t> </a:t>
            </a:r>
            <a:r>
              <a:rPr b="1" dirty="0">
                <a:latin typeface="Arial"/>
                <a:cs typeface="Arial"/>
              </a:rPr>
              <a:t>при </a:t>
            </a:r>
            <a:r>
              <a:rPr b="1" spc="-26" dirty="0">
                <a:latin typeface="Arial"/>
                <a:cs typeface="Arial"/>
              </a:rPr>
              <a:t>которых </a:t>
            </a:r>
            <a:r>
              <a:rPr b="1" dirty="0">
                <a:latin typeface="Arial"/>
                <a:cs typeface="Arial"/>
              </a:rPr>
              <a:t>мы </a:t>
            </a:r>
            <a:r>
              <a:rPr b="1" spc="-26" dirty="0">
                <a:latin typeface="Arial"/>
                <a:cs typeface="Arial"/>
              </a:rPr>
              <a:t>отвергнем  </a:t>
            </a:r>
            <a:r>
              <a:rPr b="1" spc="-5" dirty="0">
                <a:latin typeface="Arial"/>
                <a:cs typeface="Arial"/>
              </a:rPr>
              <a:t>Н</a:t>
            </a:r>
            <a:r>
              <a:rPr b="1" spc="-7" baseline="-20833" dirty="0">
                <a:latin typeface="Arial"/>
                <a:cs typeface="Arial"/>
              </a:rPr>
              <a:t>0</a:t>
            </a:r>
            <a:endParaRPr baseline="-20833" dirty="0">
              <a:latin typeface="Arial"/>
              <a:cs typeface="Arial"/>
            </a:endParaRPr>
          </a:p>
        </p:txBody>
      </p:sp>
      <p:sp>
        <p:nvSpPr>
          <p:cNvPr id="4" name="object 4"/>
          <p:cNvSpPr/>
          <p:nvPr/>
        </p:nvSpPr>
        <p:spPr>
          <a:xfrm>
            <a:off x="2661718" y="2375809"/>
            <a:ext cx="2887751" cy="1597521"/>
          </a:xfrm>
          <a:prstGeom prst="rect">
            <a:avLst/>
          </a:prstGeom>
          <a:blipFill>
            <a:blip r:embed="rId2" cstate="print"/>
            <a:stretch>
              <a:fillRect/>
            </a:stretch>
          </a:blipFill>
        </p:spPr>
        <p:txBody>
          <a:bodyPr wrap="square" lIns="0" tIns="0" rIns="0" bIns="0" rtlCol="0"/>
          <a:lstStyle/>
          <a:p>
            <a:endParaRPr sz="2078"/>
          </a:p>
        </p:txBody>
      </p:sp>
      <p:sp>
        <p:nvSpPr>
          <p:cNvPr id="5" name="object 5"/>
          <p:cNvSpPr/>
          <p:nvPr/>
        </p:nvSpPr>
        <p:spPr>
          <a:xfrm>
            <a:off x="2661718" y="4086553"/>
            <a:ext cx="2967545" cy="2136051"/>
          </a:xfrm>
          <a:prstGeom prst="rect">
            <a:avLst/>
          </a:prstGeom>
          <a:blipFill>
            <a:blip r:embed="rId3" cstate="print"/>
            <a:stretch>
              <a:fillRect/>
            </a:stretch>
          </a:blipFill>
        </p:spPr>
        <p:txBody>
          <a:bodyPr wrap="square" lIns="0" tIns="0" rIns="0" bIns="0" rtlCol="0"/>
          <a:lstStyle/>
          <a:p>
            <a:endParaRPr sz="2078"/>
          </a:p>
        </p:txBody>
      </p:sp>
      <p:sp>
        <p:nvSpPr>
          <p:cNvPr id="6" name="object 6"/>
          <p:cNvSpPr txBox="1"/>
          <p:nvPr/>
        </p:nvSpPr>
        <p:spPr>
          <a:xfrm>
            <a:off x="2302660" y="6320434"/>
            <a:ext cx="4442712" cy="652860"/>
          </a:xfrm>
          <a:prstGeom prst="rect">
            <a:avLst/>
          </a:prstGeom>
        </p:spPr>
        <p:txBody>
          <a:bodyPr vert="horz" wrap="square" lIns="0" tIns="13197" rIns="0" bIns="0" rtlCol="0">
            <a:spAutoFit/>
          </a:bodyPr>
          <a:lstStyle/>
          <a:p>
            <a:pPr marL="13197" marR="5279">
              <a:spcBef>
                <a:spcPts val="104"/>
              </a:spcBef>
            </a:pPr>
            <a:r>
              <a:rPr sz="2078" u="heavy" dirty="0">
                <a:uFill>
                  <a:solidFill>
                    <a:srgbClr val="000000"/>
                  </a:solidFill>
                </a:uFill>
                <a:latin typeface="Arial"/>
                <a:cs typeface="Arial"/>
              </a:rPr>
              <a:t>Критическое </a:t>
            </a:r>
            <a:r>
              <a:rPr sz="2078" u="heavy" spc="-5" dirty="0">
                <a:uFill>
                  <a:solidFill>
                    <a:srgbClr val="000000"/>
                  </a:solidFill>
                </a:uFill>
                <a:latin typeface="Arial"/>
                <a:cs typeface="Arial"/>
              </a:rPr>
              <a:t>значение</a:t>
            </a:r>
            <a:r>
              <a:rPr sz="2078" spc="-5" dirty="0">
                <a:latin typeface="Arial"/>
                <a:cs typeface="Arial"/>
              </a:rPr>
              <a:t> </a:t>
            </a:r>
            <a:r>
              <a:rPr sz="2078" dirty="0">
                <a:latin typeface="Arial"/>
                <a:cs typeface="Arial"/>
              </a:rPr>
              <a:t>– </a:t>
            </a:r>
            <a:r>
              <a:rPr sz="2078" spc="-5" dirty="0">
                <a:latin typeface="Arial"/>
                <a:cs typeface="Arial"/>
              </a:rPr>
              <a:t>начало  </a:t>
            </a:r>
            <a:r>
              <a:rPr sz="2078" dirty="0">
                <a:latin typeface="Arial"/>
                <a:cs typeface="Arial"/>
              </a:rPr>
              <a:t>критической </a:t>
            </a:r>
            <a:r>
              <a:rPr sz="2078" spc="-16" dirty="0">
                <a:latin typeface="Arial"/>
                <a:cs typeface="Arial"/>
              </a:rPr>
              <a:t>области </a:t>
            </a:r>
            <a:r>
              <a:rPr sz="1870" spc="-5" dirty="0">
                <a:latin typeface="Arial"/>
                <a:cs typeface="Arial"/>
              </a:rPr>
              <a:t>(rejection</a:t>
            </a:r>
            <a:r>
              <a:rPr sz="1870" spc="-78" dirty="0">
                <a:latin typeface="Arial"/>
                <a:cs typeface="Arial"/>
              </a:rPr>
              <a:t> </a:t>
            </a:r>
            <a:r>
              <a:rPr sz="1870" spc="-5" dirty="0">
                <a:latin typeface="Arial"/>
                <a:cs typeface="Arial"/>
              </a:rPr>
              <a:t>region)</a:t>
            </a:r>
            <a:endParaRPr sz="1870" dirty="0">
              <a:latin typeface="Arial"/>
              <a:cs typeface="Arial"/>
            </a:endParaRPr>
          </a:p>
        </p:txBody>
      </p:sp>
      <p:sp>
        <p:nvSpPr>
          <p:cNvPr id="7" name="object 7"/>
          <p:cNvSpPr txBox="1"/>
          <p:nvPr/>
        </p:nvSpPr>
        <p:spPr>
          <a:xfrm>
            <a:off x="1651374" y="3079776"/>
            <a:ext cx="1198272" cy="397149"/>
          </a:xfrm>
          <a:prstGeom prst="rect">
            <a:avLst/>
          </a:prstGeom>
        </p:spPr>
        <p:txBody>
          <a:bodyPr vert="horz" wrap="square" lIns="0" tIns="13197" rIns="0" bIns="0" rtlCol="0">
            <a:spAutoFit/>
          </a:bodyPr>
          <a:lstStyle/>
          <a:p>
            <a:pPr marL="13197">
              <a:spcBef>
                <a:spcPts val="104"/>
              </a:spcBef>
            </a:pPr>
            <a:r>
              <a:rPr sz="2494" b="1" i="1" dirty="0">
                <a:latin typeface="Arial"/>
                <a:cs typeface="Arial"/>
              </a:rPr>
              <a:t>α </a:t>
            </a:r>
            <a:r>
              <a:rPr sz="2494" dirty="0">
                <a:latin typeface="Arial"/>
                <a:cs typeface="Arial"/>
              </a:rPr>
              <a:t>=</a:t>
            </a:r>
            <a:r>
              <a:rPr sz="2494" spc="-99" dirty="0">
                <a:latin typeface="Arial"/>
                <a:cs typeface="Arial"/>
              </a:rPr>
              <a:t> </a:t>
            </a:r>
            <a:r>
              <a:rPr sz="2494" spc="-5" dirty="0">
                <a:latin typeface="Arial"/>
                <a:cs typeface="Arial"/>
              </a:rPr>
              <a:t>0.05</a:t>
            </a:r>
            <a:endParaRPr sz="2494" dirty="0">
              <a:latin typeface="Arial"/>
              <a:cs typeface="Arial"/>
            </a:endParaRPr>
          </a:p>
        </p:txBody>
      </p:sp>
      <p:sp>
        <p:nvSpPr>
          <p:cNvPr id="8" name="object 8"/>
          <p:cNvSpPr/>
          <p:nvPr/>
        </p:nvSpPr>
        <p:spPr>
          <a:xfrm>
            <a:off x="9979833" y="963009"/>
            <a:ext cx="261957" cy="0"/>
          </a:xfrm>
          <a:custGeom>
            <a:avLst/>
            <a:gdLst/>
            <a:ahLst/>
            <a:cxnLst/>
            <a:rect l="l" t="t" r="r" b="b"/>
            <a:pathLst>
              <a:path w="252095">
                <a:moveTo>
                  <a:pt x="0" y="0"/>
                </a:moveTo>
                <a:lnTo>
                  <a:pt x="251918" y="0"/>
                </a:lnTo>
              </a:path>
            </a:pathLst>
          </a:custGeom>
          <a:ln w="16056">
            <a:solidFill>
              <a:srgbClr val="000000"/>
            </a:solidFill>
          </a:ln>
        </p:spPr>
        <p:txBody>
          <a:bodyPr wrap="square" lIns="0" tIns="0" rIns="0" bIns="0" rtlCol="0"/>
          <a:lstStyle/>
          <a:p>
            <a:endParaRPr sz="2078"/>
          </a:p>
        </p:txBody>
      </p:sp>
      <p:sp>
        <p:nvSpPr>
          <p:cNvPr id="9" name="object 9"/>
          <p:cNvSpPr txBox="1"/>
          <p:nvPr/>
        </p:nvSpPr>
        <p:spPr>
          <a:xfrm>
            <a:off x="6600550" y="1326386"/>
            <a:ext cx="3837264" cy="425092"/>
          </a:xfrm>
          <a:prstGeom prst="rect">
            <a:avLst/>
          </a:prstGeom>
        </p:spPr>
        <p:txBody>
          <a:bodyPr vert="horz" wrap="square" lIns="0" tIns="14517" rIns="0" bIns="0" rtlCol="0">
            <a:spAutoFit/>
          </a:bodyPr>
          <a:lstStyle/>
          <a:p>
            <a:pPr marL="13197">
              <a:lnSpc>
                <a:spcPts val="3563"/>
              </a:lnSpc>
              <a:spcBef>
                <a:spcPts val="114"/>
              </a:spcBef>
              <a:tabLst>
                <a:tab pos="3508967" algn="l"/>
              </a:tabLst>
            </a:pPr>
            <a:r>
              <a:rPr lang="ru-RU" sz="2200" b="1" spc="-5" dirty="0">
                <a:latin typeface="Arial"/>
                <a:cs typeface="Arial"/>
              </a:rPr>
              <a:t>3</a:t>
            </a:r>
            <a:r>
              <a:rPr lang="ru-RU" sz="2200" b="1" dirty="0">
                <a:latin typeface="Arial"/>
                <a:cs typeface="Arial"/>
              </a:rPr>
              <a:t>.</a:t>
            </a:r>
            <a:r>
              <a:rPr lang="ru-RU" sz="2200" b="1" spc="-5" dirty="0">
                <a:latin typeface="Arial"/>
                <a:cs typeface="Arial"/>
              </a:rPr>
              <a:t> </a:t>
            </a:r>
            <a:r>
              <a:rPr lang="ru-RU" sz="2200" b="1" spc="-52" dirty="0">
                <a:latin typeface="Arial"/>
                <a:cs typeface="Arial"/>
              </a:rPr>
              <a:t>С</a:t>
            </a:r>
            <a:r>
              <a:rPr lang="ru-RU" sz="2200" b="1" dirty="0">
                <a:latin typeface="Arial"/>
                <a:cs typeface="Arial"/>
              </a:rPr>
              <a:t>чи</a:t>
            </a:r>
            <a:r>
              <a:rPr lang="ru-RU" sz="2200" b="1" spc="-31" dirty="0">
                <a:latin typeface="Arial"/>
                <a:cs typeface="Arial"/>
              </a:rPr>
              <a:t>т</a:t>
            </a:r>
            <a:r>
              <a:rPr lang="ru-RU" sz="2200" b="1" spc="-5" dirty="0">
                <a:latin typeface="Arial"/>
                <a:cs typeface="Arial"/>
              </a:rPr>
              <a:t>а</a:t>
            </a:r>
            <a:r>
              <a:rPr lang="ru-RU" sz="2200" b="1" spc="-47" dirty="0">
                <a:latin typeface="Arial"/>
                <a:cs typeface="Arial"/>
              </a:rPr>
              <a:t>е</a:t>
            </a:r>
            <a:r>
              <a:rPr lang="ru-RU" sz="2200" b="1" dirty="0">
                <a:latin typeface="Arial"/>
                <a:cs typeface="Arial"/>
              </a:rPr>
              <a:t>м</a:t>
            </a:r>
            <a:r>
              <a:rPr lang="ru-RU" sz="2200" b="1" spc="42" dirty="0">
                <a:latin typeface="Arial"/>
                <a:cs typeface="Arial"/>
              </a:rPr>
              <a:t> </a:t>
            </a:r>
            <a:r>
              <a:rPr lang="ru-RU" sz="2200" b="1" dirty="0">
                <a:latin typeface="Arial"/>
                <a:cs typeface="Arial"/>
              </a:rPr>
              <a:t>значения </a:t>
            </a:r>
            <a:r>
              <a:rPr lang="en-US" sz="2200" b="1" i="1" dirty="0">
                <a:latin typeface="Arial"/>
                <a:cs typeface="Arial"/>
              </a:rPr>
              <a:t>x</a:t>
            </a:r>
            <a:r>
              <a:rPr lang="en-US" sz="2200" b="1" dirty="0">
                <a:latin typeface="Arial"/>
                <a:cs typeface="Arial"/>
              </a:rPr>
              <a:t> </a:t>
            </a:r>
            <a:r>
              <a:rPr lang="ru-RU" sz="2200" b="1" dirty="0">
                <a:latin typeface="Arial"/>
                <a:cs typeface="Arial"/>
              </a:rPr>
              <a:t>и</a:t>
            </a:r>
            <a:r>
              <a:rPr lang="ru-RU" sz="2200" b="1" spc="-16" dirty="0">
                <a:latin typeface="Arial"/>
                <a:cs typeface="Arial"/>
              </a:rPr>
              <a:t> </a:t>
            </a:r>
            <a:r>
              <a:rPr lang="ru-RU" sz="2200" b="1" i="1" dirty="0">
                <a:latin typeface="Arial"/>
                <a:cs typeface="Arial"/>
              </a:rPr>
              <a:t>z</a:t>
            </a:r>
            <a:endParaRPr lang="ru-RU" sz="2200" dirty="0">
              <a:latin typeface="Arial"/>
              <a:cs typeface="Arial"/>
            </a:endParaRPr>
          </a:p>
        </p:txBody>
      </p:sp>
      <p:sp>
        <p:nvSpPr>
          <p:cNvPr id="10" name="object 10"/>
          <p:cNvSpPr/>
          <p:nvPr/>
        </p:nvSpPr>
        <p:spPr>
          <a:xfrm>
            <a:off x="7313163" y="4326282"/>
            <a:ext cx="2707464" cy="2317360"/>
          </a:xfrm>
          <a:prstGeom prst="rect">
            <a:avLst/>
          </a:prstGeom>
          <a:blipFill>
            <a:blip r:embed="rId4" cstate="print"/>
            <a:stretch>
              <a:fillRect/>
            </a:stretch>
          </a:blipFill>
        </p:spPr>
        <p:txBody>
          <a:bodyPr wrap="square" lIns="0" tIns="0" rIns="0" bIns="0" rtlCol="0"/>
          <a:lstStyle/>
          <a:p>
            <a:endParaRPr sz="2078"/>
          </a:p>
        </p:txBody>
      </p:sp>
      <p:sp>
        <p:nvSpPr>
          <p:cNvPr id="11" name="object 11"/>
          <p:cNvSpPr/>
          <p:nvPr/>
        </p:nvSpPr>
        <p:spPr>
          <a:xfrm>
            <a:off x="7385171" y="1915799"/>
            <a:ext cx="2563448" cy="2170754"/>
          </a:xfrm>
          <a:prstGeom prst="rect">
            <a:avLst/>
          </a:prstGeom>
          <a:blipFill>
            <a:blip r:embed="rId5" cstate="print"/>
            <a:stretch>
              <a:fillRect/>
            </a:stretch>
          </a:blipFill>
        </p:spPr>
        <p:txBody>
          <a:bodyPr wrap="square" lIns="0" tIns="0" rIns="0" bIns="0" rtlCol="0"/>
          <a:lstStyle/>
          <a:p>
            <a:endParaRPr sz="2078"/>
          </a:p>
        </p:txBody>
      </p:sp>
      <p:sp>
        <p:nvSpPr>
          <p:cNvPr id="15" name="AutoShape 5"/>
          <p:cNvSpPr>
            <a:spLocks noChangeArrowheads="1"/>
          </p:cNvSpPr>
          <p:nvPr/>
        </p:nvSpPr>
        <p:spPr bwMode="auto">
          <a:xfrm>
            <a:off x="2058353" y="322264"/>
            <a:ext cx="8379460" cy="860019"/>
          </a:xfrm>
          <a:prstGeom prst="roundRect">
            <a:avLst>
              <a:gd name="adj" fmla="val 37469"/>
            </a:avLst>
          </a:prstGeom>
          <a:solidFill>
            <a:srgbClr val="FFFFFF">
              <a:alpha val="78822"/>
            </a:srgb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16" name="object 2"/>
          <p:cNvSpPr txBox="1">
            <a:spLocks/>
          </p:cNvSpPr>
          <p:nvPr/>
        </p:nvSpPr>
        <p:spPr>
          <a:xfrm>
            <a:off x="2448274" y="210705"/>
            <a:ext cx="8134001" cy="690434"/>
          </a:xfrm>
          <a:prstGeom prst="rect">
            <a:avLst/>
          </a:prstGeom>
        </p:spPr>
        <p:txBody>
          <a:bodyPr vert="horz" wrap="square" lIns="0" tIns="13197" rIns="0" bIns="0" rtlCol="0">
            <a:spAutoFit/>
          </a:bodyPr>
          <a:lstStyle>
            <a:lvl1pPr algn="ctr" defTabSz="993775" rtl="0" fontAlgn="base">
              <a:spcBef>
                <a:spcPct val="0"/>
              </a:spcBef>
              <a:spcAft>
                <a:spcPct val="0"/>
              </a:spcAft>
              <a:defRPr sz="4800" kern="1200">
                <a:solidFill>
                  <a:schemeClr val="tx2"/>
                </a:solidFill>
                <a:latin typeface="+mj-lt"/>
                <a:ea typeface="+mj-ea"/>
                <a:cs typeface="+mj-cs"/>
              </a:defRPr>
            </a:lvl1pPr>
            <a:lvl2pPr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2pPr>
            <a:lvl3pPr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3pPr>
            <a:lvl4pPr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4pPr>
            <a:lvl5pPr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5pPr>
            <a:lvl6pPr marL="457200"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6pPr>
            <a:lvl7pPr marL="914400"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7pPr>
            <a:lvl8pPr marL="1371600"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8pPr>
            <a:lvl9pPr marL="1828800"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9pPr>
          </a:lstStyle>
          <a:p>
            <a:pPr marL="13197">
              <a:spcBef>
                <a:spcPts val="104"/>
              </a:spcBef>
            </a:pPr>
            <a:r>
              <a:rPr lang="ru-RU" sz="4400" spc="-16" dirty="0" err="1"/>
              <a:t>Одновыборочные</a:t>
            </a:r>
            <a:r>
              <a:rPr lang="ru-RU" sz="4400" spc="-5" dirty="0"/>
              <a:t> </a:t>
            </a:r>
            <a:r>
              <a:rPr lang="ru-RU" sz="4400" spc="-10" dirty="0"/>
              <a:t>критерии</a:t>
            </a:r>
          </a:p>
        </p:txBody>
      </p:sp>
      <p:sp>
        <p:nvSpPr>
          <p:cNvPr id="17" name="Прямоугольник 16"/>
          <p:cNvSpPr/>
          <p:nvPr/>
        </p:nvSpPr>
        <p:spPr>
          <a:xfrm>
            <a:off x="2908472" y="726491"/>
            <a:ext cx="7673803" cy="400110"/>
          </a:xfrm>
          <a:prstGeom prst="rect">
            <a:avLst/>
          </a:prstGeom>
        </p:spPr>
        <p:txBody>
          <a:bodyPr wrap="square">
            <a:spAutoFit/>
          </a:bodyPr>
          <a:lstStyle/>
          <a:p>
            <a:pPr marL="344430">
              <a:spcBef>
                <a:spcPts val="805"/>
              </a:spcBef>
            </a:pPr>
            <a:r>
              <a:rPr lang="ru-RU" spc="-5" dirty="0">
                <a:solidFill>
                  <a:srgbClr val="CC0000"/>
                </a:solidFill>
                <a:latin typeface="Arial"/>
                <a:cs typeface="Arial"/>
              </a:rPr>
              <a:t>сравнивающие </a:t>
            </a:r>
            <a:r>
              <a:rPr lang="ru-RU" spc="-10" dirty="0">
                <a:solidFill>
                  <a:srgbClr val="CC0000"/>
                </a:solidFill>
                <a:latin typeface="Arial"/>
                <a:cs typeface="Arial"/>
              </a:rPr>
              <a:t>среднее </a:t>
            </a:r>
            <a:r>
              <a:rPr lang="ru-RU" spc="-5" dirty="0">
                <a:solidFill>
                  <a:srgbClr val="CC0000"/>
                </a:solidFill>
                <a:latin typeface="Arial"/>
                <a:cs typeface="Arial"/>
              </a:rPr>
              <a:t>значение </a:t>
            </a:r>
            <a:r>
              <a:rPr lang="ru-RU" dirty="0">
                <a:solidFill>
                  <a:srgbClr val="CC0000"/>
                </a:solidFill>
                <a:latin typeface="Arial"/>
                <a:cs typeface="Arial"/>
              </a:rPr>
              <a:t>с </a:t>
            </a:r>
            <a:r>
              <a:rPr lang="ru-RU" spc="-5" dirty="0">
                <a:solidFill>
                  <a:srgbClr val="CC0000"/>
                </a:solidFill>
                <a:latin typeface="Arial"/>
                <a:cs typeface="Arial"/>
              </a:rPr>
              <a:t>заданным</a:t>
            </a:r>
            <a:r>
              <a:rPr lang="ru-RU" spc="-166" dirty="0">
                <a:solidFill>
                  <a:srgbClr val="CC0000"/>
                </a:solidFill>
                <a:latin typeface="Arial"/>
                <a:cs typeface="Arial"/>
              </a:rPr>
              <a:t> </a:t>
            </a:r>
            <a:r>
              <a:rPr lang="ru-RU" dirty="0">
                <a:solidFill>
                  <a:srgbClr val="CC0000"/>
                </a:solidFill>
                <a:latin typeface="Arial"/>
                <a:cs typeface="Arial"/>
              </a:rPr>
              <a:t>числом.</a:t>
            </a:r>
            <a:endParaRPr lang="ru-RU" dirty="0">
              <a:latin typeface="Arial"/>
              <a:cs typeface="Arial"/>
            </a:endParaRPr>
          </a:p>
        </p:txBody>
      </p:sp>
      <p:sp>
        <p:nvSpPr>
          <p:cNvPr id="18" name="Прямоугольник 17"/>
          <p:cNvSpPr/>
          <p:nvPr/>
        </p:nvSpPr>
        <p:spPr>
          <a:xfrm>
            <a:off x="9611809" y="3180070"/>
            <a:ext cx="1259960" cy="307777"/>
          </a:xfrm>
          <a:prstGeom prst="rect">
            <a:avLst/>
          </a:prstGeom>
        </p:spPr>
        <p:txBody>
          <a:bodyPr wrap="none">
            <a:spAutoFit/>
          </a:bodyPr>
          <a:lstStyle/>
          <a:p>
            <a:pPr marL="39590" marR="31672" algn="just">
              <a:spcBef>
                <a:spcPts val="104"/>
              </a:spcBef>
            </a:pPr>
            <a:r>
              <a:rPr lang="en-US" sz="1400" b="1" spc="-5" dirty="0">
                <a:latin typeface="Arial"/>
                <a:cs typeface="Arial"/>
              </a:rPr>
              <a:t>max=102,99</a:t>
            </a:r>
            <a:endParaRPr lang="ru-RU" sz="1400" baseline="-20833" dirty="0">
              <a:latin typeface="Arial"/>
              <a:cs typeface="Arial"/>
            </a:endParaRPr>
          </a:p>
        </p:txBody>
      </p:sp>
      <p:sp>
        <p:nvSpPr>
          <p:cNvPr id="3" name="Номер слайда 2"/>
          <p:cNvSpPr>
            <a:spLocks noGrp="1"/>
          </p:cNvSpPr>
          <p:nvPr>
            <p:ph type="sldNum" sz="quarter" idx="7"/>
          </p:nvPr>
        </p:nvSpPr>
        <p:spPr/>
        <p:txBody>
          <a:bodyPr/>
          <a:lstStyle/>
          <a:p>
            <a:fld id="{B6F15528-21DE-4FAA-801E-634DDDAF4B2B}" type="slidenum">
              <a:rPr lang="ru-RU" smtClean="0"/>
              <a:t>91</a:t>
            </a:fld>
            <a:endParaRPr lang="ru-RU"/>
          </a:p>
        </p:txBody>
      </p:sp>
    </p:spTree>
    <p:extLst>
      <p:ext uri="{BB962C8B-B14F-4D97-AF65-F5344CB8AC3E}">
        <p14:creationId xmlns:p14="http://schemas.microsoft.com/office/powerpoint/2010/main" val="3286354694"/>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AutoShape 4"/>
          <p:cNvSpPr>
            <a:spLocks noChangeArrowheads="1"/>
          </p:cNvSpPr>
          <p:nvPr/>
        </p:nvSpPr>
        <p:spPr bwMode="auto">
          <a:xfrm>
            <a:off x="1438275" y="322263"/>
            <a:ext cx="10800505" cy="6553200"/>
          </a:xfrm>
          <a:prstGeom prst="roundRect">
            <a:avLst>
              <a:gd name="adj" fmla="val 16667"/>
            </a:avLst>
          </a:prstGeom>
          <a:solidFill>
            <a:schemeClr val="bg1">
              <a:alpha val="50195"/>
            </a:scheme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3" name="object 3"/>
          <p:cNvSpPr txBox="1"/>
          <p:nvPr/>
        </p:nvSpPr>
        <p:spPr>
          <a:xfrm>
            <a:off x="1695304" y="1238159"/>
            <a:ext cx="9937103" cy="1741158"/>
          </a:xfrm>
          <a:prstGeom prst="rect">
            <a:avLst/>
          </a:prstGeom>
        </p:spPr>
        <p:txBody>
          <a:bodyPr vert="horz" wrap="square" lIns="0" tIns="102275" rIns="0" bIns="0" rtlCol="0">
            <a:spAutoFit/>
          </a:bodyPr>
          <a:lstStyle/>
          <a:p>
            <a:pPr marL="1548617">
              <a:spcBef>
                <a:spcPts val="836"/>
              </a:spcBef>
            </a:pPr>
            <a:r>
              <a:rPr lang="ru-RU" sz="2494" b="1" spc="-5" dirty="0">
                <a:latin typeface="Arial"/>
                <a:cs typeface="Arial"/>
              </a:rPr>
              <a:t>4. </a:t>
            </a:r>
            <a:r>
              <a:rPr lang="ru-RU" sz="2494" b="1" spc="-21" dirty="0">
                <a:latin typeface="Arial"/>
                <a:cs typeface="Arial"/>
              </a:rPr>
              <a:t>Интерпретируем</a:t>
            </a:r>
            <a:r>
              <a:rPr lang="ru-RU" sz="2494" b="1" spc="47" dirty="0">
                <a:latin typeface="Arial"/>
                <a:cs typeface="Arial"/>
              </a:rPr>
              <a:t> </a:t>
            </a:r>
            <a:r>
              <a:rPr lang="ru-RU" sz="2494" b="1" spc="-42" dirty="0">
                <a:latin typeface="Arial"/>
                <a:cs typeface="Arial"/>
              </a:rPr>
              <a:t>результаты</a:t>
            </a:r>
          </a:p>
          <a:p>
            <a:pPr marL="1548617">
              <a:spcBef>
                <a:spcPts val="836"/>
              </a:spcBef>
            </a:pPr>
            <a:endParaRPr lang="ru-RU" sz="2494" dirty="0">
              <a:latin typeface="Arial"/>
              <a:cs typeface="Arial"/>
            </a:endParaRPr>
          </a:p>
          <a:p>
            <a:pPr marL="52786" marR="424270"/>
            <a:r>
              <a:rPr lang="ru-RU" sz="2494" dirty="0">
                <a:latin typeface="Arial"/>
                <a:cs typeface="Arial"/>
              </a:rPr>
              <a:t>Мы </a:t>
            </a:r>
            <a:r>
              <a:rPr lang="ru-RU" sz="2494" u="heavy" spc="-5" dirty="0">
                <a:uFill>
                  <a:solidFill>
                    <a:srgbClr val="000000"/>
                  </a:solidFill>
                </a:uFill>
                <a:latin typeface="Arial"/>
                <a:cs typeface="Arial"/>
              </a:rPr>
              <a:t>не </a:t>
            </a:r>
            <a:r>
              <a:rPr lang="ru-RU" sz="2494" u="heavy" spc="-21" dirty="0">
                <a:uFill>
                  <a:solidFill>
                    <a:srgbClr val="000000"/>
                  </a:solidFill>
                </a:uFill>
                <a:latin typeface="Arial"/>
                <a:cs typeface="Arial"/>
              </a:rPr>
              <a:t>отвергаем</a:t>
            </a:r>
            <a:r>
              <a:rPr lang="ru-RU" sz="2494" spc="-21" dirty="0">
                <a:latin typeface="Arial"/>
                <a:cs typeface="Arial"/>
              </a:rPr>
              <a:t> </a:t>
            </a:r>
            <a:r>
              <a:rPr lang="ru-RU" sz="2494" spc="-5" dirty="0">
                <a:latin typeface="Arial"/>
                <a:cs typeface="Arial"/>
              </a:rPr>
              <a:t>Н</a:t>
            </a:r>
            <a:r>
              <a:rPr lang="ru-RU" sz="2494" spc="-7" baseline="-20833" dirty="0">
                <a:latin typeface="Arial"/>
                <a:cs typeface="Arial"/>
              </a:rPr>
              <a:t>0</a:t>
            </a:r>
            <a:r>
              <a:rPr lang="ru-RU" sz="2494" spc="-5" dirty="0">
                <a:latin typeface="Arial"/>
                <a:cs typeface="Arial"/>
              </a:rPr>
              <a:t>, </a:t>
            </a:r>
            <a:r>
              <a:rPr lang="ru-RU" sz="2494" spc="-57" dirty="0">
                <a:latin typeface="Arial"/>
                <a:cs typeface="Arial"/>
              </a:rPr>
              <a:t>т.е., </a:t>
            </a:r>
            <a:r>
              <a:rPr lang="ru-RU" sz="2494" dirty="0">
                <a:latin typeface="Arial"/>
                <a:cs typeface="Arial"/>
              </a:rPr>
              <a:t>мы </a:t>
            </a:r>
            <a:r>
              <a:rPr lang="ru-RU" sz="2494" spc="-5" dirty="0">
                <a:latin typeface="Arial"/>
                <a:cs typeface="Arial"/>
              </a:rPr>
              <a:t>не нашли </a:t>
            </a:r>
            <a:r>
              <a:rPr lang="ru-RU" sz="2494" spc="-10" dirty="0">
                <a:latin typeface="Arial"/>
                <a:cs typeface="Arial"/>
              </a:rPr>
              <a:t>значимых достоверных различий </a:t>
            </a:r>
            <a:r>
              <a:rPr lang="ru-RU" sz="2494" dirty="0">
                <a:latin typeface="Arial"/>
                <a:cs typeface="Arial"/>
              </a:rPr>
              <a:t>по массе </a:t>
            </a:r>
            <a:r>
              <a:rPr lang="ru-RU" sz="2494" spc="-5" dirty="0">
                <a:latin typeface="Arial"/>
                <a:cs typeface="Arial"/>
              </a:rPr>
              <a:t>между</a:t>
            </a:r>
            <a:r>
              <a:rPr lang="ru-RU" sz="2494" spc="-47" dirty="0">
                <a:latin typeface="Arial"/>
                <a:cs typeface="Arial"/>
              </a:rPr>
              <a:t> </a:t>
            </a:r>
            <a:r>
              <a:rPr lang="ru-RU" sz="2494" spc="-5" dirty="0">
                <a:latin typeface="Arial"/>
                <a:cs typeface="Arial"/>
              </a:rPr>
              <a:t>землеройками.</a:t>
            </a:r>
            <a:endParaRPr lang="ru-RU" sz="2494" dirty="0">
              <a:latin typeface="Arial"/>
              <a:cs typeface="Arial"/>
            </a:endParaRPr>
          </a:p>
        </p:txBody>
      </p:sp>
      <p:sp>
        <p:nvSpPr>
          <p:cNvPr id="4" name="object 4"/>
          <p:cNvSpPr/>
          <p:nvPr/>
        </p:nvSpPr>
        <p:spPr>
          <a:xfrm>
            <a:off x="2777436" y="3463853"/>
            <a:ext cx="6384894" cy="2226253"/>
          </a:xfrm>
          <a:prstGeom prst="rect">
            <a:avLst/>
          </a:prstGeom>
          <a:blipFill>
            <a:blip r:embed="rId2" cstate="print"/>
            <a:stretch>
              <a:fillRect/>
            </a:stretch>
          </a:blipFill>
        </p:spPr>
        <p:txBody>
          <a:bodyPr wrap="square" lIns="0" tIns="0" rIns="0" bIns="0" rtlCol="0"/>
          <a:lstStyle/>
          <a:p>
            <a:endParaRPr sz="2078"/>
          </a:p>
        </p:txBody>
      </p:sp>
      <p:sp>
        <p:nvSpPr>
          <p:cNvPr id="5" name="object 5"/>
          <p:cNvSpPr txBox="1"/>
          <p:nvPr/>
        </p:nvSpPr>
        <p:spPr>
          <a:xfrm>
            <a:off x="2157662" y="6351587"/>
            <a:ext cx="2182755" cy="301097"/>
          </a:xfrm>
          <a:prstGeom prst="rect">
            <a:avLst/>
          </a:prstGeom>
        </p:spPr>
        <p:txBody>
          <a:bodyPr vert="horz" wrap="square" lIns="0" tIns="13197" rIns="0" bIns="0" rtlCol="0">
            <a:spAutoFit/>
          </a:bodyPr>
          <a:lstStyle/>
          <a:p>
            <a:pPr marL="13197">
              <a:spcBef>
                <a:spcPts val="104"/>
              </a:spcBef>
            </a:pPr>
            <a:r>
              <a:rPr sz="1870" spc="-5" dirty="0">
                <a:latin typeface="Arial"/>
                <a:cs typeface="Arial"/>
              </a:rPr>
              <a:t>d </a:t>
            </a:r>
            <a:r>
              <a:rPr sz="1870" dirty="0">
                <a:latin typeface="Arial"/>
                <a:cs typeface="Arial"/>
              </a:rPr>
              <a:t>– </a:t>
            </a:r>
            <a:r>
              <a:rPr sz="1870" spc="-10" dirty="0">
                <a:latin typeface="Arial"/>
                <a:cs typeface="Arial"/>
              </a:rPr>
              <a:t>effect </a:t>
            </a:r>
            <a:r>
              <a:rPr sz="1870" spc="-5" dirty="0">
                <a:latin typeface="Arial"/>
                <a:cs typeface="Arial"/>
              </a:rPr>
              <a:t>size</a:t>
            </a:r>
            <a:r>
              <a:rPr sz="1870" spc="-31" dirty="0">
                <a:latin typeface="Arial"/>
                <a:cs typeface="Arial"/>
              </a:rPr>
              <a:t> </a:t>
            </a:r>
            <a:r>
              <a:rPr sz="1870" spc="-10" dirty="0">
                <a:latin typeface="Arial"/>
                <a:cs typeface="Arial"/>
              </a:rPr>
              <a:t>index.</a:t>
            </a:r>
            <a:endParaRPr sz="1870" dirty="0">
              <a:latin typeface="Arial"/>
              <a:cs typeface="Arial"/>
            </a:endParaRPr>
          </a:p>
        </p:txBody>
      </p:sp>
      <p:sp>
        <p:nvSpPr>
          <p:cNvPr id="10" name="AutoShape 5"/>
          <p:cNvSpPr>
            <a:spLocks noChangeArrowheads="1"/>
          </p:cNvSpPr>
          <p:nvPr/>
        </p:nvSpPr>
        <p:spPr bwMode="auto">
          <a:xfrm>
            <a:off x="2058353" y="322264"/>
            <a:ext cx="8379460" cy="860019"/>
          </a:xfrm>
          <a:prstGeom prst="roundRect">
            <a:avLst>
              <a:gd name="adj" fmla="val 37469"/>
            </a:avLst>
          </a:prstGeom>
          <a:solidFill>
            <a:srgbClr val="FFFFFF">
              <a:alpha val="78822"/>
            </a:srgb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11" name="object 2"/>
          <p:cNvSpPr txBox="1">
            <a:spLocks/>
          </p:cNvSpPr>
          <p:nvPr/>
        </p:nvSpPr>
        <p:spPr>
          <a:xfrm>
            <a:off x="2448274" y="210705"/>
            <a:ext cx="8134001" cy="690434"/>
          </a:xfrm>
          <a:prstGeom prst="rect">
            <a:avLst/>
          </a:prstGeom>
        </p:spPr>
        <p:txBody>
          <a:bodyPr vert="horz" wrap="square" lIns="0" tIns="13197" rIns="0" bIns="0" rtlCol="0">
            <a:spAutoFit/>
          </a:bodyPr>
          <a:lstStyle>
            <a:lvl1pPr algn="ctr" defTabSz="993775" rtl="0" fontAlgn="base">
              <a:spcBef>
                <a:spcPct val="0"/>
              </a:spcBef>
              <a:spcAft>
                <a:spcPct val="0"/>
              </a:spcAft>
              <a:defRPr sz="4800" kern="1200">
                <a:solidFill>
                  <a:schemeClr val="tx2"/>
                </a:solidFill>
                <a:latin typeface="+mj-lt"/>
                <a:ea typeface="+mj-ea"/>
                <a:cs typeface="+mj-cs"/>
              </a:defRPr>
            </a:lvl1pPr>
            <a:lvl2pPr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2pPr>
            <a:lvl3pPr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3pPr>
            <a:lvl4pPr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4pPr>
            <a:lvl5pPr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5pPr>
            <a:lvl6pPr marL="457200"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6pPr>
            <a:lvl7pPr marL="914400"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7pPr>
            <a:lvl8pPr marL="1371600"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8pPr>
            <a:lvl9pPr marL="1828800"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9pPr>
          </a:lstStyle>
          <a:p>
            <a:pPr marL="13197">
              <a:spcBef>
                <a:spcPts val="104"/>
              </a:spcBef>
            </a:pPr>
            <a:r>
              <a:rPr lang="ru-RU" sz="4400" spc="-16" dirty="0" err="1"/>
              <a:t>Одновыборочные</a:t>
            </a:r>
            <a:r>
              <a:rPr lang="ru-RU" sz="4400" spc="-5" dirty="0"/>
              <a:t> </a:t>
            </a:r>
            <a:r>
              <a:rPr lang="ru-RU" sz="4400" spc="-10" dirty="0"/>
              <a:t>критерии</a:t>
            </a:r>
          </a:p>
        </p:txBody>
      </p:sp>
      <p:sp>
        <p:nvSpPr>
          <p:cNvPr id="12" name="Прямоугольник 11"/>
          <p:cNvSpPr/>
          <p:nvPr/>
        </p:nvSpPr>
        <p:spPr>
          <a:xfrm>
            <a:off x="2908472" y="726491"/>
            <a:ext cx="7673803" cy="400110"/>
          </a:xfrm>
          <a:prstGeom prst="rect">
            <a:avLst/>
          </a:prstGeom>
        </p:spPr>
        <p:txBody>
          <a:bodyPr wrap="square">
            <a:spAutoFit/>
          </a:bodyPr>
          <a:lstStyle/>
          <a:p>
            <a:pPr marL="344430">
              <a:spcBef>
                <a:spcPts val="805"/>
              </a:spcBef>
            </a:pPr>
            <a:r>
              <a:rPr lang="ru-RU" spc="-5" dirty="0">
                <a:solidFill>
                  <a:srgbClr val="CC0000"/>
                </a:solidFill>
                <a:latin typeface="Arial"/>
                <a:cs typeface="Arial"/>
              </a:rPr>
              <a:t>сравнивающие </a:t>
            </a:r>
            <a:r>
              <a:rPr lang="ru-RU" spc="-10" dirty="0">
                <a:solidFill>
                  <a:srgbClr val="CC0000"/>
                </a:solidFill>
                <a:latin typeface="Arial"/>
                <a:cs typeface="Arial"/>
              </a:rPr>
              <a:t>среднее </a:t>
            </a:r>
            <a:r>
              <a:rPr lang="ru-RU" spc="-5" dirty="0">
                <a:solidFill>
                  <a:srgbClr val="CC0000"/>
                </a:solidFill>
                <a:latin typeface="Arial"/>
                <a:cs typeface="Arial"/>
              </a:rPr>
              <a:t>значение </a:t>
            </a:r>
            <a:r>
              <a:rPr lang="ru-RU" dirty="0">
                <a:solidFill>
                  <a:srgbClr val="CC0000"/>
                </a:solidFill>
                <a:latin typeface="Arial"/>
                <a:cs typeface="Arial"/>
              </a:rPr>
              <a:t>с </a:t>
            </a:r>
            <a:r>
              <a:rPr lang="ru-RU" spc="-5" dirty="0">
                <a:solidFill>
                  <a:srgbClr val="CC0000"/>
                </a:solidFill>
                <a:latin typeface="Arial"/>
                <a:cs typeface="Arial"/>
              </a:rPr>
              <a:t>заданным</a:t>
            </a:r>
            <a:r>
              <a:rPr lang="ru-RU" spc="-166" dirty="0">
                <a:solidFill>
                  <a:srgbClr val="CC0000"/>
                </a:solidFill>
                <a:latin typeface="Arial"/>
                <a:cs typeface="Arial"/>
              </a:rPr>
              <a:t> </a:t>
            </a:r>
            <a:r>
              <a:rPr lang="ru-RU" dirty="0">
                <a:solidFill>
                  <a:srgbClr val="CC0000"/>
                </a:solidFill>
                <a:latin typeface="Arial"/>
                <a:cs typeface="Arial"/>
              </a:rPr>
              <a:t>числом.</a:t>
            </a:r>
            <a:endParaRPr lang="ru-RU" dirty="0">
              <a:latin typeface="Arial"/>
              <a:cs typeface="Arial"/>
            </a:endParaRPr>
          </a:p>
        </p:txBody>
      </p:sp>
      <p:sp>
        <p:nvSpPr>
          <p:cNvPr id="2" name="Номер слайда 1"/>
          <p:cNvSpPr>
            <a:spLocks noGrp="1"/>
          </p:cNvSpPr>
          <p:nvPr>
            <p:ph type="sldNum" sz="quarter" idx="12"/>
          </p:nvPr>
        </p:nvSpPr>
        <p:spPr>
          <a:xfrm>
            <a:off x="11229975" y="6605015"/>
            <a:ext cx="804864" cy="379409"/>
          </a:xfrm>
        </p:spPr>
        <p:txBody>
          <a:bodyPr/>
          <a:lstStyle/>
          <a:p>
            <a:fld id="{952B6C0E-C4B9-4094-8E59-5B7DF00D5415}" type="slidenum">
              <a:rPr lang="ru-RU" smtClean="0">
                <a:solidFill>
                  <a:schemeClr val="tx1"/>
                </a:solidFill>
              </a:rPr>
              <a:t>92</a:t>
            </a:fld>
            <a:endParaRPr lang="ru-RU">
              <a:solidFill>
                <a:schemeClr val="tx1"/>
              </a:solidFill>
            </a:endParaRPr>
          </a:p>
        </p:txBody>
      </p:sp>
    </p:spTree>
    <p:extLst>
      <p:ext uri="{BB962C8B-B14F-4D97-AF65-F5344CB8AC3E}">
        <p14:creationId xmlns:p14="http://schemas.microsoft.com/office/powerpoint/2010/main" val="37348169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2" name="AutoShape 4"/>
          <p:cNvSpPr>
            <a:spLocks noChangeArrowheads="1"/>
          </p:cNvSpPr>
          <p:nvPr/>
        </p:nvSpPr>
        <p:spPr bwMode="auto">
          <a:xfrm>
            <a:off x="1438275" y="322263"/>
            <a:ext cx="10944521" cy="6553200"/>
          </a:xfrm>
          <a:prstGeom prst="roundRect">
            <a:avLst>
              <a:gd name="adj" fmla="val 16667"/>
            </a:avLst>
          </a:prstGeom>
          <a:solidFill>
            <a:schemeClr val="bg1">
              <a:alpha val="50195"/>
            </a:scheme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7" name="object 7"/>
          <p:cNvSpPr txBox="1"/>
          <p:nvPr/>
        </p:nvSpPr>
        <p:spPr>
          <a:xfrm>
            <a:off x="1878786" y="1382026"/>
            <a:ext cx="5043168" cy="1575935"/>
          </a:xfrm>
          <a:prstGeom prst="rect">
            <a:avLst/>
          </a:prstGeom>
        </p:spPr>
        <p:txBody>
          <a:bodyPr vert="horz" wrap="square" lIns="0" tIns="40250" rIns="0" bIns="0" rtlCol="0">
            <a:spAutoFit/>
          </a:bodyPr>
          <a:lstStyle/>
          <a:p>
            <a:pPr marL="45528">
              <a:spcBef>
                <a:spcPts val="249"/>
              </a:spcBef>
            </a:pPr>
            <a:r>
              <a:rPr lang="ru-RU" sz="2400" b="1" spc="-16" dirty="0">
                <a:latin typeface="Arial"/>
                <a:cs typeface="Arial"/>
              </a:rPr>
              <a:t>Односторонняя </a:t>
            </a:r>
            <a:r>
              <a:rPr lang="ru-RU" sz="2400" b="1" spc="-31" dirty="0">
                <a:latin typeface="Arial"/>
                <a:cs typeface="Arial"/>
              </a:rPr>
              <a:t>альтернатива</a:t>
            </a:r>
            <a:endParaRPr sz="2400" dirty="0">
              <a:latin typeface="Arial"/>
              <a:cs typeface="Arial"/>
            </a:endParaRPr>
          </a:p>
          <a:p>
            <a:pPr marL="45528"/>
            <a:r>
              <a:rPr sz="2400" spc="-5" dirty="0">
                <a:latin typeface="Arial"/>
                <a:cs typeface="Arial"/>
              </a:rPr>
              <a:t>(one-tailed</a:t>
            </a:r>
            <a:r>
              <a:rPr sz="2400" spc="16" dirty="0">
                <a:latin typeface="Arial"/>
                <a:cs typeface="Arial"/>
              </a:rPr>
              <a:t> </a:t>
            </a:r>
            <a:r>
              <a:rPr sz="2400" spc="-5" dirty="0">
                <a:latin typeface="Arial"/>
                <a:cs typeface="Arial"/>
              </a:rPr>
              <a:t>hypothesis)</a:t>
            </a:r>
            <a:endParaRPr sz="2400" dirty="0">
              <a:latin typeface="Arial"/>
              <a:cs typeface="Arial"/>
            </a:endParaRPr>
          </a:p>
          <a:p>
            <a:pPr marL="45528"/>
            <a:r>
              <a:rPr sz="2400" b="1" spc="-5" dirty="0">
                <a:latin typeface="Arial"/>
                <a:cs typeface="Arial"/>
              </a:rPr>
              <a:t>H</a:t>
            </a:r>
            <a:r>
              <a:rPr sz="2400" b="1" spc="-7" baseline="-20833" dirty="0">
                <a:latin typeface="Arial"/>
                <a:cs typeface="Arial"/>
              </a:rPr>
              <a:t>0</a:t>
            </a:r>
            <a:r>
              <a:rPr sz="2400" spc="-5" dirty="0">
                <a:latin typeface="Arial"/>
                <a:cs typeface="Arial"/>
              </a:rPr>
              <a:t>: </a:t>
            </a:r>
            <a:r>
              <a:rPr sz="2400" i="1" dirty="0">
                <a:latin typeface="Arial"/>
                <a:cs typeface="Arial"/>
              </a:rPr>
              <a:t>μ </a:t>
            </a:r>
            <a:r>
              <a:rPr sz="2400" dirty="0">
                <a:latin typeface="Arial"/>
                <a:cs typeface="Arial"/>
              </a:rPr>
              <a:t>≤ </a:t>
            </a:r>
            <a:r>
              <a:rPr sz="2400" spc="-5" dirty="0">
                <a:latin typeface="Arial"/>
                <a:cs typeface="Arial"/>
              </a:rPr>
              <a:t>90</a:t>
            </a:r>
            <a:r>
              <a:rPr sz="2400" spc="-125" dirty="0">
                <a:latin typeface="Arial"/>
                <a:cs typeface="Arial"/>
              </a:rPr>
              <a:t> </a:t>
            </a:r>
            <a:r>
              <a:rPr sz="2400" dirty="0">
                <a:latin typeface="Arial"/>
                <a:cs typeface="Arial"/>
              </a:rPr>
              <a:t>г;</a:t>
            </a:r>
          </a:p>
          <a:p>
            <a:pPr marL="45528"/>
            <a:r>
              <a:rPr sz="2400" b="1" spc="-5" dirty="0">
                <a:latin typeface="Arial"/>
                <a:cs typeface="Arial"/>
              </a:rPr>
              <a:t>H</a:t>
            </a:r>
            <a:r>
              <a:rPr sz="2400" b="1" spc="-7" baseline="-20833" dirty="0">
                <a:latin typeface="Arial"/>
                <a:cs typeface="Arial"/>
              </a:rPr>
              <a:t>1 </a:t>
            </a:r>
            <a:r>
              <a:rPr sz="2400" dirty="0">
                <a:latin typeface="Arial"/>
                <a:cs typeface="Arial"/>
              </a:rPr>
              <a:t>: </a:t>
            </a:r>
            <a:r>
              <a:rPr sz="2400" i="1" dirty="0">
                <a:latin typeface="Arial"/>
                <a:cs typeface="Arial"/>
              </a:rPr>
              <a:t>μ </a:t>
            </a:r>
            <a:r>
              <a:rPr sz="2400" dirty="0">
                <a:latin typeface="Arial"/>
                <a:cs typeface="Arial"/>
              </a:rPr>
              <a:t>&gt; </a:t>
            </a:r>
            <a:r>
              <a:rPr sz="2400" spc="-5" dirty="0">
                <a:latin typeface="Arial"/>
                <a:cs typeface="Arial"/>
              </a:rPr>
              <a:t>90</a:t>
            </a:r>
            <a:r>
              <a:rPr sz="2400" spc="-109" dirty="0">
                <a:latin typeface="Arial"/>
                <a:cs typeface="Arial"/>
              </a:rPr>
              <a:t> </a:t>
            </a:r>
            <a:r>
              <a:rPr sz="2400" dirty="0">
                <a:latin typeface="Arial"/>
                <a:cs typeface="Arial"/>
              </a:rPr>
              <a:t>г</a:t>
            </a:r>
          </a:p>
        </p:txBody>
      </p:sp>
      <p:sp>
        <p:nvSpPr>
          <p:cNvPr id="8" name="object 8"/>
          <p:cNvSpPr/>
          <p:nvPr/>
        </p:nvSpPr>
        <p:spPr>
          <a:xfrm>
            <a:off x="2542626" y="2957960"/>
            <a:ext cx="4607674" cy="1813696"/>
          </a:xfrm>
          <a:prstGeom prst="rect">
            <a:avLst/>
          </a:prstGeom>
          <a:blipFill>
            <a:blip r:embed="rId2" cstate="print"/>
            <a:stretch>
              <a:fillRect/>
            </a:stretch>
          </a:blipFill>
        </p:spPr>
        <p:txBody>
          <a:bodyPr wrap="square" lIns="0" tIns="0" rIns="0" bIns="0" rtlCol="0"/>
          <a:lstStyle/>
          <a:p>
            <a:endParaRPr sz="2078"/>
          </a:p>
        </p:txBody>
      </p:sp>
      <p:sp>
        <p:nvSpPr>
          <p:cNvPr id="9" name="object 9"/>
          <p:cNvSpPr txBox="1"/>
          <p:nvPr/>
        </p:nvSpPr>
        <p:spPr>
          <a:xfrm>
            <a:off x="1899358" y="4788337"/>
            <a:ext cx="5638345" cy="1608679"/>
          </a:xfrm>
          <a:prstGeom prst="rect">
            <a:avLst/>
          </a:prstGeom>
        </p:spPr>
        <p:txBody>
          <a:bodyPr vert="horz" wrap="square" lIns="0" tIns="13197" rIns="0" bIns="0" rtlCol="0">
            <a:spAutoFit/>
          </a:bodyPr>
          <a:lstStyle/>
          <a:p>
            <a:pPr marL="39590" marR="31672">
              <a:spcBef>
                <a:spcPts val="104"/>
              </a:spcBef>
            </a:pPr>
            <a:r>
              <a:rPr sz="2494" dirty="0">
                <a:latin typeface="Arial"/>
                <a:cs typeface="Arial"/>
              </a:rPr>
              <a:t>Мы </a:t>
            </a:r>
            <a:r>
              <a:rPr sz="2494" u="heavy" spc="-21" dirty="0">
                <a:uFill>
                  <a:solidFill>
                    <a:srgbClr val="000000"/>
                  </a:solidFill>
                </a:uFill>
                <a:latin typeface="Arial"/>
                <a:cs typeface="Arial"/>
              </a:rPr>
              <a:t>отвергаем</a:t>
            </a:r>
            <a:r>
              <a:rPr sz="2494" spc="-21" dirty="0">
                <a:latin typeface="Arial"/>
                <a:cs typeface="Arial"/>
              </a:rPr>
              <a:t> </a:t>
            </a:r>
            <a:r>
              <a:rPr sz="2494" spc="-5" dirty="0">
                <a:latin typeface="Arial"/>
                <a:cs typeface="Arial"/>
              </a:rPr>
              <a:t>Н</a:t>
            </a:r>
            <a:r>
              <a:rPr sz="2494" spc="-7" baseline="-20833" dirty="0">
                <a:latin typeface="Arial"/>
                <a:cs typeface="Arial"/>
              </a:rPr>
              <a:t>0</a:t>
            </a:r>
            <a:r>
              <a:rPr sz="2494" spc="-5" dirty="0">
                <a:latin typeface="Arial"/>
                <a:cs typeface="Arial"/>
              </a:rPr>
              <a:t>, </a:t>
            </a:r>
            <a:r>
              <a:rPr sz="2494" spc="-57" dirty="0">
                <a:latin typeface="Arial"/>
                <a:cs typeface="Arial"/>
              </a:rPr>
              <a:t>т.е., </a:t>
            </a:r>
            <a:r>
              <a:rPr sz="2494" dirty="0">
                <a:latin typeface="Arial"/>
                <a:cs typeface="Arial"/>
              </a:rPr>
              <a:t>масса  </a:t>
            </a:r>
            <a:r>
              <a:rPr sz="2494" spc="-10" dirty="0">
                <a:latin typeface="Arial"/>
                <a:cs typeface="Arial"/>
              </a:rPr>
              <a:t>землероек </a:t>
            </a:r>
            <a:r>
              <a:rPr sz="2494" dirty="0">
                <a:latin typeface="Arial"/>
                <a:cs typeface="Arial"/>
              </a:rPr>
              <a:t>в </a:t>
            </a:r>
            <a:r>
              <a:rPr sz="2494" spc="-10" dirty="0">
                <a:latin typeface="Arial"/>
                <a:cs typeface="Arial"/>
              </a:rPr>
              <a:t>заповеднике </a:t>
            </a:r>
            <a:r>
              <a:rPr sz="2494" u="heavy" spc="-10" dirty="0">
                <a:uFill>
                  <a:solidFill>
                    <a:srgbClr val="000000"/>
                  </a:solidFill>
                </a:uFill>
                <a:latin typeface="Arial"/>
                <a:cs typeface="Arial"/>
              </a:rPr>
              <a:t>достоверно </a:t>
            </a:r>
            <a:r>
              <a:rPr sz="2494" spc="-10" dirty="0">
                <a:latin typeface="Arial"/>
                <a:cs typeface="Arial"/>
              </a:rPr>
              <a:t> </a:t>
            </a:r>
            <a:r>
              <a:rPr sz="2494" dirty="0">
                <a:latin typeface="Arial"/>
                <a:cs typeface="Arial"/>
              </a:rPr>
              <a:t>(с </a:t>
            </a:r>
            <a:r>
              <a:rPr sz="2494" spc="-10" dirty="0">
                <a:latin typeface="Arial"/>
                <a:cs typeface="Arial"/>
              </a:rPr>
              <a:t>уровнем значимости </a:t>
            </a:r>
            <a:r>
              <a:rPr sz="2494" spc="-5" dirty="0">
                <a:latin typeface="Arial"/>
                <a:cs typeface="Arial"/>
              </a:rPr>
              <a:t>0.05)  </a:t>
            </a:r>
            <a:r>
              <a:rPr sz="2494" spc="-26" dirty="0">
                <a:latin typeface="Arial"/>
                <a:cs typeface="Arial"/>
              </a:rPr>
              <a:t>отличается </a:t>
            </a:r>
            <a:r>
              <a:rPr sz="2494" spc="-31" dirty="0">
                <a:latin typeface="Arial"/>
                <a:cs typeface="Arial"/>
              </a:rPr>
              <a:t>от </a:t>
            </a:r>
            <a:r>
              <a:rPr sz="2494" spc="-5" dirty="0">
                <a:latin typeface="Arial"/>
                <a:cs typeface="Arial"/>
              </a:rPr>
              <a:t>90</a:t>
            </a:r>
            <a:r>
              <a:rPr sz="2494" spc="31" dirty="0">
                <a:latin typeface="Arial"/>
                <a:cs typeface="Arial"/>
              </a:rPr>
              <a:t> </a:t>
            </a:r>
            <a:r>
              <a:rPr sz="2494" spc="-151" dirty="0">
                <a:latin typeface="Arial"/>
                <a:cs typeface="Arial"/>
              </a:rPr>
              <a:t>г.</a:t>
            </a:r>
            <a:endParaRPr sz="2494" dirty="0">
              <a:latin typeface="Arial"/>
              <a:cs typeface="Arial"/>
            </a:endParaRPr>
          </a:p>
        </p:txBody>
      </p:sp>
      <p:sp>
        <p:nvSpPr>
          <p:cNvPr id="10" name="object 10"/>
          <p:cNvSpPr/>
          <p:nvPr/>
        </p:nvSpPr>
        <p:spPr>
          <a:xfrm>
            <a:off x="7381690" y="1761777"/>
            <a:ext cx="2918083" cy="4196592"/>
          </a:xfrm>
          <a:prstGeom prst="rect">
            <a:avLst/>
          </a:prstGeom>
          <a:blipFill>
            <a:blip r:embed="rId3" cstate="print"/>
            <a:stretch>
              <a:fillRect/>
            </a:stretch>
          </a:blipFill>
        </p:spPr>
        <p:txBody>
          <a:bodyPr wrap="square" lIns="0" tIns="0" rIns="0" bIns="0" rtlCol="0"/>
          <a:lstStyle/>
          <a:p>
            <a:endParaRPr sz="2078"/>
          </a:p>
        </p:txBody>
      </p:sp>
      <p:sp>
        <p:nvSpPr>
          <p:cNvPr id="11" name="object 11"/>
          <p:cNvSpPr/>
          <p:nvPr/>
        </p:nvSpPr>
        <p:spPr>
          <a:xfrm>
            <a:off x="7408723" y="6035144"/>
            <a:ext cx="3014196" cy="1030144"/>
          </a:xfrm>
          <a:prstGeom prst="rect">
            <a:avLst/>
          </a:prstGeom>
          <a:blipFill>
            <a:blip r:embed="rId4" cstate="print"/>
            <a:stretch>
              <a:fillRect/>
            </a:stretch>
          </a:blipFill>
        </p:spPr>
        <p:txBody>
          <a:bodyPr wrap="square" lIns="0" tIns="0" rIns="0" bIns="0" rtlCol="0"/>
          <a:lstStyle/>
          <a:p>
            <a:endParaRPr sz="2078"/>
          </a:p>
        </p:txBody>
      </p:sp>
      <p:sp>
        <p:nvSpPr>
          <p:cNvPr id="16" name="AutoShape 5"/>
          <p:cNvSpPr>
            <a:spLocks noChangeArrowheads="1"/>
          </p:cNvSpPr>
          <p:nvPr/>
        </p:nvSpPr>
        <p:spPr bwMode="auto">
          <a:xfrm>
            <a:off x="2058353" y="322264"/>
            <a:ext cx="8379460" cy="860019"/>
          </a:xfrm>
          <a:prstGeom prst="roundRect">
            <a:avLst>
              <a:gd name="adj" fmla="val 37469"/>
            </a:avLst>
          </a:prstGeom>
          <a:solidFill>
            <a:srgbClr val="FFFFFF">
              <a:alpha val="78822"/>
            </a:srgb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17" name="object 2"/>
          <p:cNvSpPr txBox="1">
            <a:spLocks/>
          </p:cNvSpPr>
          <p:nvPr/>
        </p:nvSpPr>
        <p:spPr>
          <a:xfrm>
            <a:off x="2448274" y="210705"/>
            <a:ext cx="8134001" cy="690434"/>
          </a:xfrm>
          <a:prstGeom prst="rect">
            <a:avLst/>
          </a:prstGeom>
        </p:spPr>
        <p:txBody>
          <a:bodyPr vert="horz" wrap="square" lIns="0" tIns="13197" rIns="0" bIns="0" rtlCol="0">
            <a:spAutoFit/>
          </a:bodyPr>
          <a:lstStyle>
            <a:lvl1pPr algn="ctr" defTabSz="993775" rtl="0" fontAlgn="base">
              <a:spcBef>
                <a:spcPct val="0"/>
              </a:spcBef>
              <a:spcAft>
                <a:spcPct val="0"/>
              </a:spcAft>
              <a:defRPr sz="4800" kern="1200">
                <a:solidFill>
                  <a:schemeClr val="tx2"/>
                </a:solidFill>
                <a:latin typeface="+mj-lt"/>
                <a:ea typeface="+mj-ea"/>
                <a:cs typeface="+mj-cs"/>
              </a:defRPr>
            </a:lvl1pPr>
            <a:lvl2pPr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2pPr>
            <a:lvl3pPr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3pPr>
            <a:lvl4pPr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4pPr>
            <a:lvl5pPr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5pPr>
            <a:lvl6pPr marL="457200"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6pPr>
            <a:lvl7pPr marL="914400"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7pPr>
            <a:lvl8pPr marL="1371600"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8pPr>
            <a:lvl9pPr marL="1828800"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9pPr>
          </a:lstStyle>
          <a:p>
            <a:pPr marL="13197">
              <a:spcBef>
                <a:spcPts val="104"/>
              </a:spcBef>
            </a:pPr>
            <a:r>
              <a:rPr lang="ru-RU" sz="4400" spc="-16" dirty="0" err="1"/>
              <a:t>Одновыборочные</a:t>
            </a:r>
            <a:r>
              <a:rPr lang="ru-RU" sz="4400" spc="-5" dirty="0"/>
              <a:t> </a:t>
            </a:r>
            <a:r>
              <a:rPr lang="ru-RU" sz="4400" spc="-10" dirty="0"/>
              <a:t>критерии</a:t>
            </a:r>
          </a:p>
        </p:txBody>
      </p:sp>
      <p:sp>
        <p:nvSpPr>
          <p:cNvPr id="18" name="Прямоугольник 17"/>
          <p:cNvSpPr/>
          <p:nvPr/>
        </p:nvSpPr>
        <p:spPr>
          <a:xfrm>
            <a:off x="2908472" y="726491"/>
            <a:ext cx="7673803" cy="400110"/>
          </a:xfrm>
          <a:prstGeom prst="rect">
            <a:avLst/>
          </a:prstGeom>
        </p:spPr>
        <p:txBody>
          <a:bodyPr wrap="square">
            <a:spAutoFit/>
          </a:bodyPr>
          <a:lstStyle/>
          <a:p>
            <a:pPr marL="344430">
              <a:spcBef>
                <a:spcPts val="805"/>
              </a:spcBef>
            </a:pPr>
            <a:r>
              <a:rPr lang="ru-RU" spc="-5" dirty="0">
                <a:solidFill>
                  <a:srgbClr val="CC0000"/>
                </a:solidFill>
                <a:latin typeface="Arial"/>
                <a:cs typeface="Arial"/>
              </a:rPr>
              <a:t>сравнивающие </a:t>
            </a:r>
            <a:r>
              <a:rPr lang="ru-RU" spc="-10" dirty="0">
                <a:solidFill>
                  <a:srgbClr val="CC0000"/>
                </a:solidFill>
                <a:latin typeface="Arial"/>
                <a:cs typeface="Arial"/>
              </a:rPr>
              <a:t>среднее </a:t>
            </a:r>
            <a:r>
              <a:rPr lang="ru-RU" spc="-5" dirty="0">
                <a:solidFill>
                  <a:srgbClr val="CC0000"/>
                </a:solidFill>
                <a:latin typeface="Arial"/>
                <a:cs typeface="Arial"/>
              </a:rPr>
              <a:t>значение </a:t>
            </a:r>
            <a:r>
              <a:rPr lang="ru-RU" dirty="0">
                <a:solidFill>
                  <a:srgbClr val="CC0000"/>
                </a:solidFill>
                <a:latin typeface="Arial"/>
                <a:cs typeface="Arial"/>
              </a:rPr>
              <a:t>с </a:t>
            </a:r>
            <a:r>
              <a:rPr lang="ru-RU" spc="-5" dirty="0">
                <a:solidFill>
                  <a:srgbClr val="CC0000"/>
                </a:solidFill>
                <a:latin typeface="Arial"/>
                <a:cs typeface="Arial"/>
              </a:rPr>
              <a:t>заданным</a:t>
            </a:r>
            <a:r>
              <a:rPr lang="ru-RU" spc="-166" dirty="0">
                <a:solidFill>
                  <a:srgbClr val="CC0000"/>
                </a:solidFill>
                <a:latin typeface="Arial"/>
                <a:cs typeface="Arial"/>
              </a:rPr>
              <a:t> </a:t>
            </a:r>
            <a:r>
              <a:rPr lang="ru-RU" dirty="0">
                <a:solidFill>
                  <a:srgbClr val="CC0000"/>
                </a:solidFill>
                <a:latin typeface="Arial"/>
                <a:cs typeface="Arial"/>
              </a:rPr>
              <a:t>числом.</a:t>
            </a:r>
            <a:endParaRPr lang="ru-RU" dirty="0">
              <a:latin typeface="Arial"/>
              <a:cs typeface="Arial"/>
            </a:endParaRPr>
          </a:p>
        </p:txBody>
      </p:sp>
      <p:sp>
        <p:nvSpPr>
          <p:cNvPr id="2" name="Номер слайда 1"/>
          <p:cNvSpPr>
            <a:spLocks noGrp="1"/>
          </p:cNvSpPr>
          <p:nvPr>
            <p:ph type="sldNum" sz="quarter" idx="12"/>
          </p:nvPr>
        </p:nvSpPr>
        <p:spPr/>
        <p:txBody>
          <a:bodyPr/>
          <a:lstStyle/>
          <a:p>
            <a:fld id="{952B6C0E-C4B9-4094-8E59-5B7DF00D5415}" type="slidenum">
              <a:rPr lang="ru-RU" sz="1400">
                <a:solidFill>
                  <a:schemeClr val="tx1"/>
                </a:solidFill>
              </a:rPr>
              <a:t>93</a:t>
            </a:fld>
            <a:endParaRPr lang="ru-RU" sz="1400">
              <a:solidFill>
                <a:schemeClr val="tx1"/>
              </a:solidFill>
            </a:endParaRPr>
          </a:p>
        </p:txBody>
      </p:sp>
    </p:spTree>
    <p:extLst>
      <p:ext uri="{BB962C8B-B14F-4D97-AF65-F5344CB8AC3E}">
        <p14:creationId xmlns:p14="http://schemas.microsoft.com/office/powerpoint/2010/main" val="2480330281"/>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AutoShape 4"/>
          <p:cNvSpPr>
            <a:spLocks noChangeArrowheads="1"/>
          </p:cNvSpPr>
          <p:nvPr/>
        </p:nvSpPr>
        <p:spPr bwMode="auto">
          <a:xfrm>
            <a:off x="1438275" y="322263"/>
            <a:ext cx="11088537" cy="6553200"/>
          </a:xfrm>
          <a:prstGeom prst="roundRect">
            <a:avLst>
              <a:gd name="adj" fmla="val 16667"/>
            </a:avLst>
          </a:prstGeom>
          <a:solidFill>
            <a:schemeClr val="bg1">
              <a:alpha val="50195"/>
            </a:scheme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17" name="AutoShape 5"/>
          <p:cNvSpPr>
            <a:spLocks noChangeArrowheads="1"/>
          </p:cNvSpPr>
          <p:nvPr/>
        </p:nvSpPr>
        <p:spPr bwMode="auto">
          <a:xfrm>
            <a:off x="2058353" y="322264"/>
            <a:ext cx="8379460" cy="720601"/>
          </a:xfrm>
          <a:prstGeom prst="roundRect">
            <a:avLst>
              <a:gd name="adj" fmla="val 37469"/>
            </a:avLst>
          </a:prstGeom>
          <a:solidFill>
            <a:srgbClr val="FFFFFF">
              <a:alpha val="78822"/>
            </a:srgb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200">
              <a:solidFill>
                <a:schemeClr val="bg1"/>
              </a:solidFill>
            </a:endParaRPr>
          </a:p>
        </p:txBody>
      </p:sp>
      <p:sp>
        <p:nvSpPr>
          <p:cNvPr id="2" name="object 2"/>
          <p:cNvSpPr/>
          <p:nvPr/>
        </p:nvSpPr>
        <p:spPr>
          <a:xfrm>
            <a:off x="5471749" y="751370"/>
            <a:ext cx="61953" cy="61623"/>
          </a:xfrm>
          <a:prstGeom prst="rect">
            <a:avLst/>
          </a:prstGeom>
          <a:blipFill>
            <a:blip r:embed="rId2" cstate="print"/>
            <a:stretch>
              <a:fillRect/>
            </a:stretch>
          </a:blipFill>
        </p:spPr>
        <p:txBody>
          <a:bodyPr wrap="square" lIns="0" tIns="0" rIns="0" bIns="0" rtlCol="0"/>
          <a:lstStyle/>
          <a:p>
            <a:endParaRPr/>
          </a:p>
        </p:txBody>
      </p:sp>
      <p:sp>
        <p:nvSpPr>
          <p:cNvPr id="3" name="object 3"/>
          <p:cNvSpPr txBox="1">
            <a:spLocks noGrp="1"/>
          </p:cNvSpPr>
          <p:nvPr>
            <p:ph type="title"/>
          </p:nvPr>
        </p:nvSpPr>
        <p:spPr>
          <a:xfrm>
            <a:off x="2445693" y="430513"/>
            <a:ext cx="7704856" cy="505768"/>
          </a:xfrm>
          <a:prstGeom prst="rect">
            <a:avLst/>
          </a:prstGeom>
        </p:spPr>
        <p:txBody>
          <a:bodyPr vert="horz" wrap="square" lIns="0" tIns="13197" rIns="0" bIns="0" rtlCol="0" anchor="ctr">
            <a:spAutoFit/>
          </a:bodyPr>
          <a:lstStyle/>
          <a:p>
            <a:pPr marL="13197">
              <a:spcBef>
                <a:spcPts val="104"/>
              </a:spcBef>
            </a:pPr>
            <a:r>
              <a:rPr sz="3200" b="1" dirty="0">
                <a:solidFill>
                  <a:srgbClr val="000000"/>
                </a:solidFill>
                <a:latin typeface="Arial"/>
                <a:cs typeface="Arial"/>
              </a:rPr>
              <a:t>Общая </a:t>
            </a:r>
            <a:r>
              <a:rPr sz="3200" b="1" spc="-42" dirty="0">
                <a:solidFill>
                  <a:srgbClr val="000000"/>
                </a:solidFill>
                <a:latin typeface="Arial"/>
                <a:cs typeface="Arial"/>
              </a:rPr>
              <a:t>схема </a:t>
            </a:r>
            <a:r>
              <a:rPr sz="3200" b="1" spc="-16" dirty="0">
                <a:solidFill>
                  <a:srgbClr val="000000"/>
                </a:solidFill>
                <a:latin typeface="Arial"/>
                <a:cs typeface="Arial"/>
              </a:rPr>
              <a:t>тестирования</a:t>
            </a:r>
            <a:r>
              <a:rPr sz="3200" b="1" spc="88" dirty="0">
                <a:solidFill>
                  <a:srgbClr val="000000"/>
                </a:solidFill>
                <a:latin typeface="Arial"/>
                <a:cs typeface="Arial"/>
              </a:rPr>
              <a:t> </a:t>
            </a:r>
            <a:r>
              <a:rPr sz="3200" b="1" spc="-16" dirty="0">
                <a:solidFill>
                  <a:srgbClr val="000000"/>
                </a:solidFill>
                <a:latin typeface="Arial"/>
                <a:cs typeface="Arial"/>
              </a:rPr>
              <a:t>гипотезы:</a:t>
            </a:r>
          </a:p>
        </p:txBody>
      </p:sp>
      <p:sp>
        <p:nvSpPr>
          <p:cNvPr id="4" name="object 4"/>
          <p:cNvSpPr txBox="1"/>
          <p:nvPr/>
        </p:nvSpPr>
        <p:spPr>
          <a:xfrm>
            <a:off x="1831368" y="1113632"/>
            <a:ext cx="9005516" cy="2603779"/>
          </a:xfrm>
          <a:prstGeom prst="rect">
            <a:avLst/>
          </a:prstGeom>
        </p:spPr>
        <p:txBody>
          <a:bodyPr vert="horz" wrap="square" lIns="0" tIns="13197" rIns="0" bIns="0" rtlCol="0">
            <a:spAutoFit/>
          </a:bodyPr>
          <a:lstStyle/>
          <a:p>
            <a:pPr marL="554256" marR="84458" indent="-475077">
              <a:spcBef>
                <a:spcPts val="104"/>
              </a:spcBef>
              <a:buAutoNum type="arabicPeriod"/>
              <a:tabLst>
                <a:tab pos="553596" algn="l"/>
                <a:tab pos="554256" algn="l"/>
              </a:tabLst>
            </a:pPr>
            <a:r>
              <a:rPr spc="-10" dirty="0">
                <a:latin typeface="Arial"/>
                <a:cs typeface="Arial"/>
              </a:rPr>
              <a:t>Формулируем </a:t>
            </a:r>
            <a:r>
              <a:rPr dirty="0">
                <a:latin typeface="Arial"/>
                <a:cs typeface="Arial"/>
              </a:rPr>
              <a:t>Н</a:t>
            </a:r>
            <a:r>
              <a:rPr baseline="-20833" dirty="0">
                <a:latin typeface="Arial"/>
                <a:cs typeface="Arial"/>
              </a:rPr>
              <a:t>0 </a:t>
            </a:r>
            <a:r>
              <a:rPr dirty="0">
                <a:latin typeface="Arial"/>
                <a:cs typeface="Arial"/>
              </a:rPr>
              <a:t>и </a:t>
            </a:r>
            <a:r>
              <a:rPr spc="-5" dirty="0">
                <a:latin typeface="Arial"/>
                <a:cs typeface="Arial"/>
              </a:rPr>
              <a:t>Н</a:t>
            </a:r>
            <a:r>
              <a:rPr spc="-7" baseline="-20833" dirty="0">
                <a:latin typeface="Arial"/>
                <a:cs typeface="Arial"/>
              </a:rPr>
              <a:t>1</a:t>
            </a:r>
            <a:r>
              <a:rPr spc="-5" dirty="0">
                <a:latin typeface="Arial"/>
                <a:cs typeface="Arial"/>
              </a:rPr>
              <a:t>. Строим </a:t>
            </a:r>
            <a:r>
              <a:rPr spc="-16" dirty="0">
                <a:latin typeface="Arial"/>
                <a:cs typeface="Arial"/>
              </a:rPr>
              <a:t>распределения </a:t>
            </a:r>
            <a:r>
              <a:rPr spc="-10" dirty="0">
                <a:latin typeface="Arial"/>
                <a:cs typeface="Arial"/>
              </a:rPr>
              <a:t>такие, </a:t>
            </a:r>
            <a:r>
              <a:rPr spc="10" dirty="0">
                <a:latin typeface="Arial"/>
                <a:cs typeface="Arial"/>
              </a:rPr>
              <a:t>как  </a:t>
            </a:r>
            <a:r>
              <a:rPr spc="-36" dirty="0">
                <a:latin typeface="Arial"/>
                <a:cs typeface="Arial"/>
              </a:rPr>
              <a:t>будто </a:t>
            </a:r>
            <a:r>
              <a:rPr spc="-5" dirty="0">
                <a:latin typeface="Arial"/>
                <a:cs typeface="Arial"/>
              </a:rPr>
              <a:t>Н</a:t>
            </a:r>
            <a:r>
              <a:rPr spc="-7" baseline="-20833" dirty="0">
                <a:latin typeface="Arial"/>
                <a:cs typeface="Arial"/>
              </a:rPr>
              <a:t>0</a:t>
            </a:r>
            <a:r>
              <a:rPr spc="38" baseline="-20833" dirty="0">
                <a:latin typeface="Arial"/>
                <a:cs typeface="Arial"/>
              </a:rPr>
              <a:t> </a:t>
            </a:r>
            <a:r>
              <a:rPr spc="-10" dirty="0">
                <a:latin typeface="Arial"/>
                <a:cs typeface="Arial"/>
              </a:rPr>
              <a:t>верна</a:t>
            </a:r>
            <a:r>
              <a:rPr sz="1800" spc="-10" dirty="0">
                <a:latin typeface="Arial"/>
                <a:cs typeface="Arial"/>
              </a:rPr>
              <a:t>:</a:t>
            </a:r>
            <a:endParaRPr sz="1800" dirty="0">
              <a:latin typeface="Arial"/>
              <a:cs typeface="Arial"/>
            </a:endParaRPr>
          </a:p>
          <a:p>
            <a:pPr marL="1029332" lvl="1" indent="-475735">
              <a:spcBef>
                <a:spcPts val="1003"/>
              </a:spcBef>
              <a:buChar char="•"/>
              <a:tabLst>
                <a:tab pos="1029332" algn="l"/>
                <a:tab pos="1029992" algn="l"/>
              </a:tabLst>
            </a:pPr>
            <a:r>
              <a:rPr spc="-16" dirty="0">
                <a:latin typeface="Arial"/>
                <a:cs typeface="Arial"/>
              </a:rPr>
              <a:t>распределение </a:t>
            </a:r>
            <a:r>
              <a:rPr spc="-10" dirty="0">
                <a:latin typeface="Arial"/>
                <a:cs typeface="Arial"/>
              </a:rPr>
              <a:t>исследуемой</a:t>
            </a:r>
            <a:r>
              <a:rPr spc="-57" dirty="0">
                <a:latin typeface="Arial"/>
                <a:cs typeface="Arial"/>
              </a:rPr>
              <a:t> </a:t>
            </a:r>
            <a:r>
              <a:rPr spc="-5" dirty="0">
                <a:latin typeface="Arial"/>
                <a:cs typeface="Arial"/>
              </a:rPr>
              <a:t>переменной;</a:t>
            </a:r>
            <a:endParaRPr dirty="0">
              <a:latin typeface="Arial"/>
              <a:cs typeface="Arial"/>
            </a:endParaRPr>
          </a:p>
          <a:p>
            <a:pPr marL="1029332" lvl="1" indent="-475735">
              <a:buChar char="•"/>
              <a:tabLst>
                <a:tab pos="1029332" algn="l"/>
                <a:tab pos="1029992" algn="l"/>
              </a:tabLst>
            </a:pPr>
            <a:r>
              <a:rPr spc="-16" dirty="0">
                <a:latin typeface="Arial"/>
                <a:cs typeface="Arial"/>
              </a:rPr>
              <a:t>распределение </a:t>
            </a:r>
            <a:r>
              <a:rPr spc="-10" dirty="0">
                <a:latin typeface="Arial"/>
                <a:cs typeface="Arial"/>
              </a:rPr>
              <a:t>параметра</a:t>
            </a:r>
            <a:r>
              <a:rPr spc="-57" dirty="0">
                <a:latin typeface="Arial"/>
                <a:cs typeface="Arial"/>
              </a:rPr>
              <a:t> </a:t>
            </a:r>
            <a:r>
              <a:rPr spc="-5" dirty="0">
                <a:latin typeface="Arial"/>
                <a:cs typeface="Arial"/>
              </a:rPr>
              <a:t>выборки;</a:t>
            </a:r>
            <a:endParaRPr dirty="0">
              <a:latin typeface="Arial"/>
              <a:cs typeface="Arial"/>
            </a:endParaRPr>
          </a:p>
          <a:p>
            <a:pPr marL="1029332" lvl="1" indent="-475735">
              <a:buChar char="•"/>
              <a:tabLst>
                <a:tab pos="1029332" algn="l"/>
                <a:tab pos="1029992" algn="l"/>
              </a:tabLst>
            </a:pPr>
            <a:r>
              <a:rPr spc="-16" dirty="0">
                <a:latin typeface="Arial"/>
                <a:cs typeface="Arial"/>
              </a:rPr>
              <a:t>распределение </a:t>
            </a:r>
            <a:r>
              <a:rPr u="heavy" spc="-10" dirty="0">
                <a:uFill>
                  <a:solidFill>
                    <a:srgbClr val="000000"/>
                  </a:solidFill>
                </a:uFill>
                <a:latin typeface="Arial"/>
                <a:cs typeface="Arial"/>
              </a:rPr>
              <a:t>статистики</a:t>
            </a:r>
            <a:r>
              <a:rPr u="heavy" spc="-52" dirty="0">
                <a:uFill>
                  <a:solidFill>
                    <a:srgbClr val="000000"/>
                  </a:solidFill>
                </a:uFill>
                <a:latin typeface="Arial"/>
                <a:cs typeface="Arial"/>
              </a:rPr>
              <a:t> </a:t>
            </a:r>
            <a:r>
              <a:rPr u="heavy" spc="-5" dirty="0">
                <a:uFill>
                  <a:solidFill>
                    <a:srgbClr val="000000"/>
                  </a:solidFill>
                </a:uFill>
                <a:latin typeface="Arial"/>
                <a:cs typeface="Arial"/>
              </a:rPr>
              <a:t>критерия</a:t>
            </a:r>
            <a:r>
              <a:rPr spc="-5" dirty="0">
                <a:latin typeface="Arial"/>
                <a:cs typeface="Arial"/>
              </a:rPr>
              <a:t>.</a:t>
            </a:r>
            <a:endParaRPr dirty="0">
              <a:latin typeface="Arial"/>
              <a:cs typeface="Arial"/>
            </a:endParaRPr>
          </a:p>
          <a:p>
            <a:pPr marL="554256" indent="-475077">
              <a:spcBef>
                <a:spcPts val="1190"/>
              </a:spcBef>
              <a:buAutoNum type="arabicPeriod"/>
              <a:tabLst>
                <a:tab pos="553596" algn="l"/>
                <a:tab pos="554256" algn="l"/>
              </a:tabLst>
            </a:pPr>
            <a:r>
              <a:rPr spc="-26" dirty="0">
                <a:latin typeface="Arial"/>
                <a:cs typeface="Arial"/>
              </a:rPr>
              <a:t>Устанавливаем </a:t>
            </a:r>
            <a:r>
              <a:rPr spc="-5" dirty="0">
                <a:latin typeface="Arial"/>
                <a:cs typeface="Arial"/>
              </a:rPr>
              <a:t>условия, при </a:t>
            </a:r>
            <a:r>
              <a:rPr spc="-10" dirty="0">
                <a:latin typeface="Arial"/>
                <a:cs typeface="Arial"/>
              </a:rPr>
              <a:t>которых </a:t>
            </a:r>
            <a:r>
              <a:rPr dirty="0">
                <a:latin typeface="Arial"/>
                <a:cs typeface="Arial"/>
              </a:rPr>
              <a:t>мы </a:t>
            </a:r>
            <a:r>
              <a:rPr spc="-16" dirty="0">
                <a:latin typeface="Arial"/>
                <a:cs typeface="Arial"/>
              </a:rPr>
              <a:t>отвергнем </a:t>
            </a:r>
            <a:r>
              <a:rPr spc="5" dirty="0">
                <a:latin typeface="Arial"/>
                <a:cs typeface="Arial"/>
              </a:rPr>
              <a:t>Н</a:t>
            </a:r>
            <a:r>
              <a:rPr spc="7" baseline="-20833" dirty="0">
                <a:latin typeface="Arial"/>
                <a:cs typeface="Arial"/>
              </a:rPr>
              <a:t>0</a:t>
            </a:r>
            <a:r>
              <a:rPr spc="358" baseline="-20833" dirty="0">
                <a:latin typeface="Arial"/>
                <a:cs typeface="Arial"/>
              </a:rPr>
              <a:t> </a:t>
            </a:r>
            <a:r>
              <a:rPr dirty="0">
                <a:latin typeface="Arial"/>
                <a:cs typeface="Arial"/>
              </a:rPr>
              <a:t>–</a:t>
            </a:r>
            <a:r>
              <a:rPr lang="ru-RU" dirty="0">
                <a:latin typeface="Arial"/>
                <a:cs typeface="Arial"/>
              </a:rPr>
              <a:t> </a:t>
            </a:r>
          </a:p>
          <a:p>
            <a:pPr marL="79179">
              <a:spcBef>
                <a:spcPts val="1190"/>
              </a:spcBef>
              <a:tabLst>
                <a:tab pos="553596" algn="l"/>
                <a:tab pos="554256" algn="l"/>
              </a:tabLst>
            </a:pPr>
            <a:r>
              <a:rPr lang="ru-RU" spc="-21" dirty="0">
                <a:latin typeface="Arial"/>
                <a:cs typeface="Arial"/>
              </a:rPr>
              <a:t>определяем</a:t>
            </a:r>
            <a:endParaRPr dirty="0">
              <a:latin typeface="Arial"/>
              <a:cs typeface="Arial"/>
            </a:endParaRPr>
          </a:p>
        </p:txBody>
      </p:sp>
      <p:sp>
        <p:nvSpPr>
          <p:cNvPr id="6" name="object 6"/>
          <p:cNvSpPr txBox="1"/>
          <p:nvPr/>
        </p:nvSpPr>
        <p:spPr>
          <a:xfrm>
            <a:off x="2157507" y="3715364"/>
            <a:ext cx="6062623" cy="973294"/>
          </a:xfrm>
          <a:prstGeom prst="rect">
            <a:avLst/>
          </a:prstGeom>
        </p:spPr>
        <p:txBody>
          <a:bodyPr vert="horz" wrap="square" lIns="0" tIns="13857" rIns="0" bIns="0" rtlCol="0">
            <a:spAutoFit/>
          </a:bodyPr>
          <a:lstStyle/>
          <a:p>
            <a:pPr marL="488273" indent="-475735">
              <a:spcBef>
                <a:spcPts val="109"/>
              </a:spcBef>
              <a:buChar char="•"/>
              <a:tabLst>
                <a:tab pos="488273" algn="l"/>
                <a:tab pos="488932" algn="l"/>
              </a:tabLst>
            </a:pPr>
            <a:r>
              <a:rPr spc="-10" dirty="0">
                <a:latin typeface="Arial"/>
                <a:cs typeface="Arial"/>
              </a:rPr>
              <a:t>уровень</a:t>
            </a:r>
            <a:r>
              <a:rPr spc="-36" dirty="0">
                <a:latin typeface="Arial"/>
                <a:cs typeface="Arial"/>
              </a:rPr>
              <a:t> </a:t>
            </a:r>
            <a:r>
              <a:rPr spc="-5" dirty="0">
                <a:latin typeface="Arial"/>
                <a:cs typeface="Arial"/>
              </a:rPr>
              <a:t>значимости;</a:t>
            </a:r>
            <a:endParaRPr dirty="0">
              <a:latin typeface="Arial"/>
              <a:cs typeface="Arial"/>
            </a:endParaRPr>
          </a:p>
          <a:p>
            <a:pPr marL="488273" indent="-475735">
              <a:buChar char="•"/>
              <a:tabLst>
                <a:tab pos="488273" algn="l"/>
                <a:tab pos="488932" algn="l"/>
              </a:tabLst>
            </a:pPr>
            <a:r>
              <a:rPr spc="-10" dirty="0">
                <a:latin typeface="Arial"/>
                <a:cs typeface="Arial"/>
              </a:rPr>
              <a:t>односторонний </a:t>
            </a:r>
            <a:r>
              <a:rPr spc="-5" dirty="0">
                <a:latin typeface="Arial"/>
                <a:cs typeface="Arial"/>
              </a:rPr>
              <a:t>или </a:t>
            </a:r>
            <a:r>
              <a:rPr spc="-10" dirty="0">
                <a:latin typeface="Arial"/>
                <a:cs typeface="Arial"/>
              </a:rPr>
              <a:t>двусторонний </a:t>
            </a:r>
            <a:r>
              <a:rPr spc="-42" dirty="0">
                <a:latin typeface="Arial"/>
                <a:cs typeface="Arial"/>
              </a:rPr>
              <a:t>будет</a:t>
            </a:r>
            <a:r>
              <a:rPr spc="-151" dirty="0">
                <a:latin typeface="Arial"/>
                <a:cs typeface="Arial"/>
              </a:rPr>
              <a:t> </a:t>
            </a:r>
            <a:r>
              <a:rPr spc="-5" dirty="0">
                <a:latin typeface="Arial"/>
                <a:cs typeface="Arial"/>
              </a:rPr>
              <a:t>тест;</a:t>
            </a:r>
            <a:endParaRPr dirty="0">
              <a:latin typeface="Arial"/>
              <a:cs typeface="Arial"/>
            </a:endParaRPr>
          </a:p>
          <a:p>
            <a:pPr marL="488273" indent="-475735">
              <a:buFont typeface="Arial"/>
              <a:buChar char="•"/>
              <a:tabLst>
                <a:tab pos="488273" algn="l"/>
                <a:tab pos="488932" algn="l"/>
              </a:tabLst>
            </a:pPr>
            <a:r>
              <a:rPr b="1" spc="-10" dirty="0">
                <a:latin typeface="Arial"/>
                <a:cs typeface="Arial"/>
              </a:rPr>
              <a:t>критическое </a:t>
            </a:r>
            <a:r>
              <a:rPr b="1" spc="-5" dirty="0">
                <a:latin typeface="Arial"/>
                <a:cs typeface="Arial"/>
              </a:rPr>
              <a:t>значение </a:t>
            </a:r>
            <a:r>
              <a:rPr spc="-10" dirty="0">
                <a:latin typeface="Arial"/>
                <a:cs typeface="Arial"/>
              </a:rPr>
              <a:t>статистики</a:t>
            </a:r>
            <a:r>
              <a:rPr spc="-94" dirty="0">
                <a:latin typeface="Arial"/>
                <a:cs typeface="Arial"/>
              </a:rPr>
              <a:t> </a:t>
            </a:r>
            <a:r>
              <a:rPr spc="-5" dirty="0">
                <a:latin typeface="Arial"/>
                <a:cs typeface="Arial"/>
              </a:rPr>
              <a:t>критерия.</a:t>
            </a:r>
            <a:endParaRPr dirty="0">
              <a:latin typeface="Arial"/>
              <a:cs typeface="Arial"/>
            </a:endParaRPr>
          </a:p>
        </p:txBody>
      </p:sp>
      <p:sp>
        <p:nvSpPr>
          <p:cNvPr id="7" name="object 7"/>
          <p:cNvSpPr txBox="1"/>
          <p:nvPr/>
        </p:nvSpPr>
        <p:spPr>
          <a:xfrm>
            <a:off x="2016784" y="4857460"/>
            <a:ext cx="8634684" cy="1883068"/>
          </a:xfrm>
          <a:prstGeom prst="rect">
            <a:avLst/>
          </a:prstGeom>
        </p:spPr>
        <p:txBody>
          <a:bodyPr vert="horz" wrap="square" lIns="0" tIns="13197" rIns="0" bIns="0" rtlCol="0">
            <a:spAutoFit/>
          </a:bodyPr>
          <a:lstStyle/>
          <a:p>
            <a:pPr marL="514666" marR="31672" indent="-475077">
              <a:spcBef>
                <a:spcPts val="104"/>
              </a:spcBef>
              <a:buAutoNum type="arabicPeriod" startAt="3"/>
              <a:tabLst>
                <a:tab pos="514006" algn="l"/>
                <a:tab pos="514666" algn="l"/>
              </a:tabLst>
            </a:pPr>
            <a:r>
              <a:rPr spc="-10" dirty="0">
                <a:latin typeface="Arial"/>
                <a:cs typeface="Arial"/>
              </a:rPr>
              <a:t>Считаем </a:t>
            </a:r>
            <a:r>
              <a:rPr u="heavy" spc="-16" dirty="0">
                <a:uFill>
                  <a:solidFill>
                    <a:srgbClr val="000000"/>
                  </a:solidFill>
                </a:uFill>
                <a:latin typeface="Arial"/>
                <a:cs typeface="Arial"/>
              </a:rPr>
              <a:t>параметр</a:t>
            </a:r>
            <a:r>
              <a:rPr spc="-16" dirty="0">
                <a:latin typeface="Arial"/>
                <a:cs typeface="Arial"/>
              </a:rPr>
              <a:t> </a:t>
            </a:r>
            <a:r>
              <a:rPr spc="-5" dirty="0">
                <a:latin typeface="Arial"/>
                <a:cs typeface="Arial"/>
              </a:rPr>
              <a:t>выборки </a:t>
            </a:r>
            <a:r>
              <a:rPr dirty="0">
                <a:latin typeface="Arial"/>
                <a:cs typeface="Arial"/>
              </a:rPr>
              <a:t>и </a:t>
            </a:r>
            <a:r>
              <a:rPr u="heavy" spc="-5" dirty="0">
                <a:uFill>
                  <a:solidFill>
                    <a:srgbClr val="000000"/>
                  </a:solidFill>
                </a:uFill>
                <a:latin typeface="Arial"/>
                <a:cs typeface="Arial"/>
              </a:rPr>
              <a:t>статистику критерия</a:t>
            </a:r>
            <a:r>
              <a:rPr spc="-5" dirty="0">
                <a:latin typeface="Arial"/>
                <a:cs typeface="Arial"/>
              </a:rPr>
              <a:t> для </a:t>
            </a:r>
            <a:r>
              <a:rPr u="heavy" spc="-5" dirty="0">
                <a:uFill>
                  <a:solidFill>
                    <a:srgbClr val="000000"/>
                  </a:solidFill>
                </a:uFill>
                <a:latin typeface="Arial"/>
                <a:cs typeface="Arial"/>
              </a:rPr>
              <a:t> реальной</a:t>
            </a:r>
            <a:r>
              <a:rPr spc="-5" dirty="0">
                <a:latin typeface="Arial"/>
                <a:cs typeface="Arial"/>
              </a:rPr>
              <a:t> выборки, </a:t>
            </a:r>
            <a:r>
              <a:rPr spc="-10" dirty="0">
                <a:latin typeface="Arial"/>
                <a:cs typeface="Arial"/>
              </a:rPr>
              <a:t>сравниваем </a:t>
            </a:r>
            <a:r>
              <a:rPr dirty="0">
                <a:latin typeface="Arial"/>
                <a:cs typeface="Arial"/>
              </a:rPr>
              <a:t>их с критическими  </a:t>
            </a:r>
            <a:r>
              <a:rPr spc="-10" dirty="0">
                <a:latin typeface="Arial"/>
                <a:cs typeface="Arial"/>
              </a:rPr>
              <a:t>значениями.</a:t>
            </a:r>
            <a:endParaRPr dirty="0">
              <a:latin typeface="Arial"/>
              <a:cs typeface="Arial"/>
            </a:endParaRPr>
          </a:p>
          <a:p>
            <a:pPr marL="514666" indent="-475077">
              <a:spcBef>
                <a:spcPts val="899"/>
              </a:spcBef>
              <a:buAutoNum type="arabicPeriod" startAt="3"/>
              <a:tabLst>
                <a:tab pos="514006" algn="l"/>
                <a:tab pos="514666" algn="l"/>
              </a:tabLst>
            </a:pPr>
            <a:r>
              <a:rPr spc="-16" dirty="0">
                <a:latin typeface="Arial"/>
                <a:cs typeface="Arial"/>
              </a:rPr>
              <a:t>Интерпретируем</a:t>
            </a:r>
            <a:r>
              <a:rPr spc="-5" dirty="0">
                <a:latin typeface="Arial"/>
                <a:cs typeface="Arial"/>
              </a:rPr>
              <a:t> </a:t>
            </a:r>
            <a:r>
              <a:rPr spc="-42" dirty="0">
                <a:latin typeface="Arial"/>
                <a:cs typeface="Arial"/>
              </a:rPr>
              <a:t>результаты:</a:t>
            </a:r>
            <a:endParaRPr dirty="0">
              <a:latin typeface="Arial"/>
              <a:cs typeface="Arial"/>
            </a:endParaRPr>
          </a:p>
          <a:p>
            <a:pPr marL="989743" marR="124707" lvl="1" indent="-475735">
              <a:spcBef>
                <a:spcPts val="5"/>
              </a:spcBef>
              <a:buChar char="•"/>
              <a:tabLst>
                <a:tab pos="989743" algn="l"/>
                <a:tab pos="990403" algn="l"/>
              </a:tabLst>
            </a:pPr>
            <a:r>
              <a:rPr sz="1800" dirty="0">
                <a:latin typeface="Arial"/>
                <a:cs typeface="Arial"/>
              </a:rPr>
              <a:t>Можем </a:t>
            </a:r>
            <a:r>
              <a:rPr sz="1800" spc="-5" dirty="0">
                <a:latin typeface="Arial"/>
                <a:cs typeface="Arial"/>
              </a:rPr>
              <a:t>ли </a:t>
            </a:r>
            <a:r>
              <a:rPr sz="1800" dirty="0">
                <a:latin typeface="Arial"/>
                <a:cs typeface="Arial"/>
              </a:rPr>
              <a:t>мы </a:t>
            </a:r>
            <a:r>
              <a:rPr sz="1800" spc="-10" dirty="0">
                <a:latin typeface="Arial"/>
                <a:cs typeface="Arial"/>
              </a:rPr>
              <a:t>отвергнуть </a:t>
            </a:r>
            <a:r>
              <a:rPr sz="1800" spc="10" dirty="0">
                <a:latin typeface="Arial"/>
                <a:cs typeface="Arial"/>
              </a:rPr>
              <a:t>Н</a:t>
            </a:r>
            <a:r>
              <a:rPr sz="1800" spc="16" baseline="-21367" dirty="0">
                <a:latin typeface="Arial"/>
                <a:cs typeface="Arial"/>
              </a:rPr>
              <a:t>0</a:t>
            </a:r>
            <a:r>
              <a:rPr sz="1800" spc="10" dirty="0">
                <a:latin typeface="Arial"/>
                <a:cs typeface="Arial"/>
              </a:rPr>
              <a:t>? </a:t>
            </a:r>
            <a:r>
              <a:rPr sz="1800" spc="-47" dirty="0">
                <a:latin typeface="Arial"/>
                <a:cs typeface="Arial"/>
              </a:rPr>
              <a:t>Т.е., </a:t>
            </a:r>
            <a:r>
              <a:rPr sz="1800" spc="-10" dirty="0">
                <a:latin typeface="Arial"/>
                <a:cs typeface="Arial"/>
              </a:rPr>
              <a:t>достоверны </a:t>
            </a:r>
            <a:r>
              <a:rPr sz="1800" spc="-5" dirty="0">
                <a:latin typeface="Arial"/>
                <a:cs typeface="Arial"/>
              </a:rPr>
              <a:t>ли </a:t>
            </a:r>
            <a:r>
              <a:rPr sz="1800" spc="-42" dirty="0">
                <a:latin typeface="Arial"/>
                <a:cs typeface="Arial"/>
              </a:rPr>
              <a:t>результаты  </a:t>
            </a:r>
            <a:r>
              <a:rPr sz="1800" spc="-5" dirty="0">
                <a:latin typeface="Arial"/>
                <a:cs typeface="Arial"/>
              </a:rPr>
              <a:t>статистически?</a:t>
            </a:r>
            <a:endParaRPr sz="1800" dirty="0">
              <a:latin typeface="Arial"/>
              <a:cs typeface="Arial"/>
            </a:endParaRPr>
          </a:p>
          <a:p>
            <a:pPr marL="989743" lvl="1" indent="-475735">
              <a:buChar char="•"/>
              <a:tabLst>
                <a:tab pos="989743" algn="l"/>
                <a:tab pos="990403" algn="l"/>
              </a:tabLst>
            </a:pPr>
            <a:r>
              <a:rPr sz="1800" spc="-10" dirty="0">
                <a:latin typeface="Arial"/>
                <a:cs typeface="Arial"/>
              </a:rPr>
              <a:t>Если </a:t>
            </a:r>
            <a:r>
              <a:rPr sz="1800" spc="-5" dirty="0">
                <a:latin typeface="Arial"/>
                <a:cs typeface="Arial"/>
              </a:rPr>
              <a:t>да, </a:t>
            </a:r>
            <a:r>
              <a:rPr sz="1800" spc="-10" dirty="0">
                <a:latin typeface="Arial"/>
                <a:cs typeface="Arial"/>
              </a:rPr>
              <a:t>достоверны </a:t>
            </a:r>
            <a:r>
              <a:rPr sz="1800" spc="-5" dirty="0">
                <a:latin typeface="Arial"/>
                <a:cs typeface="Arial"/>
              </a:rPr>
              <a:t>ли они</a:t>
            </a:r>
            <a:r>
              <a:rPr sz="1800" spc="-99" dirty="0">
                <a:latin typeface="Arial"/>
                <a:cs typeface="Arial"/>
              </a:rPr>
              <a:t> </a:t>
            </a:r>
            <a:r>
              <a:rPr sz="1800" spc="-16" dirty="0">
                <a:latin typeface="Arial"/>
                <a:cs typeface="Arial"/>
              </a:rPr>
              <a:t>ПРАКТИЧЕСКИ?</a:t>
            </a:r>
            <a:endParaRPr sz="1800" dirty="0">
              <a:latin typeface="Arial"/>
              <a:cs typeface="Arial"/>
            </a:endParaRPr>
          </a:p>
        </p:txBody>
      </p:sp>
      <p:sp>
        <p:nvSpPr>
          <p:cNvPr id="8" name="object 8"/>
          <p:cNvSpPr/>
          <p:nvPr/>
        </p:nvSpPr>
        <p:spPr>
          <a:xfrm>
            <a:off x="2288543" y="1146379"/>
            <a:ext cx="2677431" cy="292338"/>
          </a:xfrm>
          <a:custGeom>
            <a:avLst/>
            <a:gdLst/>
            <a:ahLst/>
            <a:cxnLst/>
            <a:rect l="l" t="t" r="r" b="b"/>
            <a:pathLst>
              <a:path w="3240404" h="503555">
                <a:moveTo>
                  <a:pt x="0" y="503237"/>
                </a:moveTo>
                <a:lnTo>
                  <a:pt x="3240151" y="503237"/>
                </a:lnTo>
                <a:lnTo>
                  <a:pt x="3240151" y="0"/>
                </a:lnTo>
                <a:lnTo>
                  <a:pt x="0" y="0"/>
                </a:lnTo>
                <a:lnTo>
                  <a:pt x="0" y="503237"/>
                </a:lnTo>
                <a:close/>
              </a:path>
            </a:pathLst>
          </a:custGeom>
          <a:ln w="19049">
            <a:solidFill>
              <a:srgbClr val="CC0000"/>
            </a:solidFill>
          </a:ln>
        </p:spPr>
        <p:txBody>
          <a:bodyPr wrap="square" lIns="0" tIns="0" rIns="0" bIns="0" rtlCol="0"/>
          <a:lstStyle/>
          <a:p>
            <a:endParaRPr/>
          </a:p>
        </p:txBody>
      </p:sp>
      <p:sp>
        <p:nvSpPr>
          <p:cNvPr id="9" name="object 9"/>
          <p:cNvSpPr/>
          <p:nvPr/>
        </p:nvSpPr>
        <p:spPr>
          <a:xfrm>
            <a:off x="2049345" y="3723019"/>
            <a:ext cx="6284990" cy="673038"/>
          </a:xfrm>
          <a:custGeom>
            <a:avLst/>
            <a:gdLst/>
            <a:ahLst/>
            <a:cxnLst/>
            <a:rect l="l" t="t" r="r" b="b"/>
            <a:pathLst>
              <a:path w="6048375" h="647700">
                <a:moveTo>
                  <a:pt x="0" y="647700"/>
                </a:moveTo>
                <a:lnTo>
                  <a:pt x="6048375" y="647700"/>
                </a:lnTo>
                <a:lnTo>
                  <a:pt x="6048375" y="0"/>
                </a:lnTo>
                <a:lnTo>
                  <a:pt x="0" y="0"/>
                </a:lnTo>
                <a:lnTo>
                  <a:pt x="0" y="647700"/>
                </a:lnTo>
                <a:close/>
              </a:path>
            </a:pathLst>
          </a:custGeom>
          <a:ln w="19050">
            <a:solidFill>
              <a:srgbClr val="CC0000"/>
            </a:solidFill>
          </a:ln>
        </p:spPr>
        <p:txBody>
          <a:bodyPr wrap="square" lIns="0" tIns="0" rIns="0" bIns="0" rtlCol="0"/>
          <a:lstStyle/>
          <a:p>
            <a:endParaRPr/>
          </a:p>
        </p:txBody>
      </p:sp>
      <p:sp>
        <p:nvSpPr>
          <p:cNvPr id="10" name="object 10"/>
          <p:cNvSpPr/>
          <p:nvPr/>
        </p:nvSpPr>
        <p:spPr>
          <a:xfrm>
            <a:off x="2251261" y="6447555"/>
            <a:ext cx="6583898" cy="300228"/>
          </a:xfrm>
          <a:custGeom>
            <a:avLst/>
            <a:gdLst/>
            <a:ahLst/>
            <a:cxnLst/>
            <a:rect l="l" t="t" r="r" b="b"/>
            <a:pathLst>
              <a:path w="6336030" h="288925">
                <a:moveTo>
                  <a:pt x="0" y="288925"/>
                </a:moveTo>
                <a:lnTo>
                  <a:pt x="6335776" y="288925"/>
                </a:lnTo>
                <a:lnTo>
                  <a:pt x="6335776" y="0"/>
                </a:lnTo>
                <a:lnTo>
                  <a:pt x="0" y="0"/>
                </a:lnTo>
                <a:lnTo>
                  <a:pt x="0" y="288925"/>
                </a:lnTo>
                <a:close/>
              </a:path>
            </a:pathLst>
          </a:custGeom>
          <a:ln w="19050">
            <a:solidFill>
              <a:srgbClr val="CC0000"/>
            </a:solidFill>
          </a:ln>
        </p:spPr>
        <p:txBody>
          <a:bodyPr wrap="square" lIns="0" tIns="0" rIns="0" bIns="0" rtlCol="0"/>
          <a:lstStyle/>
          <a:p>
            <a:endParaRPr/>
          </a:p>
        </p:txBody>
      </p:sp>
      <p:sp>
        <p:nvSpPr>
          <p:cNvPr id="11" name="object 11"/>
          <p:cNvSpPr/>
          <p:nvPr/>
        </p:nvSpPr>
        <p:spPr>
          <a:xfrm>
            <a:off x="6694166" y="1438717"/>
            <a:ext cx="2413273" cy="1534529"/>
          </a:xfrm>
          <a:custGeom>
            <a:avLst/>
            <a:gdLst/>
            <a:ahLst/>
            <a:cxnLst/>
            <a:rect l="l" t="t" r="r" b="b"/>
            <a:pathLst>
              <a:path w="3316604" h="1953260">
                <a:moveTo>
                  <a:pt x="32541" y="19096"/>
                </a:moveTo>
                <a:lnTo>
                  <a:pt x="41809" y="35568"/>
                </a:lnTo>
                <a:lnTo>
                  <a:pt x="3306699" y="1952878"/>
                </a:lnTo>
                <a:lnTo>
                  <a:pt x="3316351" y="1936496"/>
                </a:lnTo>
                <a:lnTo>
                  <a:pt x="51404" y="19151"/>
                </a:lnTo>
                <a:lnTo>
                  <a:pt x="32541" y="19096"/>
                </a:lnTo>
                <a:close/>
              </a:path>
              <a:path w="3316604" h="1953260">
                <a:moveTo>
                  <a:pt x="0" y="0"/>
                </a:moveTo>
                <a:lnTo>
                  <a:pt x="51180" y="91186"/>
                </a:lnTo>
                <a:lnTo>
                  <a:pt x="53721" y="95758"/>
                </a:lnTo>
                <a:lnTo>
                  <a:pt x="59562" y="97409"/>
                </a:lnTo>
                <a:lnTo>
                  <a:pt x="64135" y="94741"/>
                </a:lnTo>
                <a:lnTo>
                  <a:pt x="68707" y="92201"/>
                </a:lnTo>
                <a:lnTo>
                  <a:pt x="70358" y="86360"/>
                </a:lnTo>
                <a:lnTo>
                  <a:pt x="67817" y="81787"/>
                </a:lnTo>
                <a:lnTo>
                  <a:pt x="41809" y="35568"/>
                </a:lnTo>
                <a:lnTo>
                  <a:pt x="11302" y="17652"/>
                </a:lnTo>
                <a:lnTo>
                  <a:pt x="20954" y="1270"/>
                </a:lnTo>
                <a:lnTo>
                  <a:pt x="110744" y="1270"/>
                </a:lnTo>
                <a:lnTo>
                  <a:pt x="109727" y="253"/>
                </a:lnTo>
                <a:lnTo>
                  <a:pt x="0" y="0"/>
                </a:lnTo>
                <a:close/>
              </a:path>
              <a:path w="3316604" h="1953260">
                <a:moveTo>
                  <a:pt x="20954" y="1270"/>
                </a:moveTo>
                <a:lnTo>
                  <a:pt x="11302" y="17652"/>
                </a:lnTo>
                <a:lnTo>
                  <a:pt x="41809" y="35568"/>
                </a:lnTo>
                <a:lnTo>
                  <a:pt x="32541" y="19096"/>
                </a:lnTo>
                <a:lnTo>
                  <a:pt x="16255" y="19050"/>
                </a:lnTo>
                <a:lnTo>
                  <a:pt x="24511" y="4825"/>
                </a:lnTo>
                <a:lnTo>
                  <a:pt x="27010" y="4825"/>
                </a:lnTo>
                <a:lnTo>
                  <a:pt x="20954" y="1270"/>
                </a:lnTo>
                <a:close/>
              </a:path>
              <a:path w="3316604" h="1953260">
                <a:moveTo>
                  <a:pt x="110744" y="1270"/>
                </a:moveTo>
                <a:lnTo>
                  <a:pt x="20954" y="1270"/>
                </a:lnTo>
                <a:lnTo>
                  <a:pt x="51404" y="19151"/>
                </a:lnTo>
                <a:lnTo>
                  <a:pt x="104394" y="19303"/>
                </a:lnTo>
                <a:lnTo>
                  <a:pt x="109727" y="19303"/>
                </a:lnTo>
                <a:lnTo>
                  <a:pt x="114046" y="15112"/>
                </a:lnTo>
                <a:lnTo>
                  <a:pt x="114046" y="4572"/>
                </a:lnTo>
                <a:lnTo>
                  <a:pt x="110744" y="1270"/>
                </a:lnTo>
                <a:close/>
              </a:path>
              <a:path w="3316604" h="1953260">
                <a:moveTo>
                  <a:pt x="27010" y="4825"/>
                </a:moveTo>
                <a:lnTo>
                  <a:pt x="24511" y="4825"/>
                </a:lnTo>
                <a:lnTo>
                  <a:pt x="32541" y="19096"/>
                </a:lnTo>
                <a:lnTo>
                  <a:pt x="51404" y="19151"/>
                </a:lnTo>
                <a:lnTo>
                  <a:pt x="27010" y="4825"/>
                </a:lnTo>
                <a:close/>
              </a:path>
              <a:path w="3316604" h="1953260">
                <a:moveTo>
                  <a:pt x="24511" y="4825"/>
                </a:moveTo>
                <a:lnTo>
                  <a:pt x="16255" y="19050"/>
                </a:lnTo>
                <a:lnTo>
                  <a:pt x="32541" y="19096"/>
                </a:lnTo>
                <a:lnTo>
                  <a:pt x="24511" y="4825"/>
                </a:lnTo>
                <a:close/>
              </a:path>
            </a:pathLst>
          </a:custGeom>
          <a:solidFill>
            <a:srgbClr val="CC0000"/>
          </a:solidFill>
        </p:spPr>
        <p:txBody>
          <a:bodyPr wrap="square" lIns="0" tIns="0" rIns="0" bIns="0" rtlCol="0"/>
          <a:lstStyle/>
          <a:p>
            <a:endParaRPr/>
          </a:p>
        </p:txBody>
      </p:sp>
      <p:sp>
        <p:nvSpPr>
          <p:cNvPr id="12" name="object 12"/>
          <p:cNvSpPr/>
          <p:nvPr/>
        </p:nvSpPr>
        <p:spPr>
          <a:xfrm>
            <a:off x="8503288" y="3553774"/>
            <a:ext cx="453971" cy="183436"/>
          </a:xfrm>
          <a:custGeom>
            <a:avLst/>
            <a:gdLst/>
            <a:ahLst/>
            <a:cxnLst/>
            <a:rect l="l" t="t" r="r" b="b"/>
            <a:pathLst>
              <a:path w="436879" h="176529">
                <a:moveTo>
                  <a:pt x="78485" y="70612"/>
                </a:moveTo>
                <a:lnTo>
                  <a:pt x="72517" y="70992"/>
                </a:lnTo>
                <a:lnTo>
                  <a:pt x="69087" y="74929"/>
                </a:lnTo>
                <a:lnTo>
                  <a:pt x="0" y="153542"/>
                </a:lnTo>
                <a:lnTo>
                  <a:pt x="102361" y="174878"/>
                </a:lnTo>
                <a:lnTo>
                  <a:pt x="107442" y="176021"/>
                </a:lnTo>
                <a:lnTo>
                  <a:pt x="112522" y="172719"/>
                </a:lnTo>
                <a:lnTo>
                  <a:pt x="113665" y="167512"/>
                </a:lnTo>
                <a:lnTo>
                  <a:pt x="114680" y="162432"/>
                </a:lnTo>
                <a:lnTo>
                  <a:pt x="111378" y="157352"/>
                </a:lnTo>
                <a:lnTo>
                  <a:pt x="107992" y="156590"/>
                </a:lnTo>
                <a:lnTo>
                  <a:pt x="20954" y="156590"/>
                </a:lnTo>
                <a:lnTo>
                  <a:pt x="14985" y="138429"/>
                </a:lnTo>
                <a:lnTo>
                  <a:pt x="48397" y="127296"/>
                </a:lnTo>
                <a:lnTo>
                  <a:pt x="83311" y="87502"/>
                </a:lnTo>
                <a:lnTo>
                  <a:pt x="86868" y="83565"/>
                </a:lnTo>
                <a:lnTo>
                  <a:pt x="86486" y="77596"/>
                </a:lnTo>
                <a:lnTo>
                  <a:pt x="78485" y="70612"/>
                </a:lnTo>
                <a:close/>
              </a:path>
              <a:path w="436879" h="176529">
                <a:moveTo>
                  <a:pt x="48397" y="127296"/>
                </a:moveTo>
                <a:lnTo>
                  <a:pt x="14985" y="138429"/>
                </a:lnTo>
                <a:lnTo>
                  <a:pt x="20954" y="156590"/>
                </a:lnTo>
                <a:lnTo>
                  <a:pt x="29334" y="153796"/>
                </a:lnTo>
                <a:lnTo>
                  <a:pt x="25146" y="153796"/>
                </a:lnTo>
                <a:lnTo>
                  <a:pt x="19939" y="138175"/>
                </a:lnTo>
                <a:lnTo>
                  <a:pt x="38851" y="138175"/>
                </a:lnTo>
                <a:lnTo>
                  <a:pt x="48397" y="127296"/>
                </a:lnTo>
                <a:close/>
              </a:path>
              <a:path w="436879" h="176529">
                <a:moveTo>
                  <a:pt x="54523" y="145398"/>
                </a:moveTo>
                <a:lnTo>
                  <a:pt x="20954" y="156590"/>
                </a:lnTo>
                <a:lnTo>
                  <a:pt x="107992" y="156590"/>
                </a:lnTo>
                <a:lnTo>
                  <a:pt x="106299" y="156209"/>
                </a:lnTo>
                <a:lnTo>
                  <a:pt x="54523" y="145398"/>
                </a:lnTo>
                <a:close/>
              </a:path>
              <a:path w="436879" h="176529">
                <a:moveTo>
                  <a:pt x="19939" y="138175"/>
                </a:moveTo>
                <a:lnTo>
                  <a:pt x="25146" y="153796"/>
                </a:lnTo>
                <a:lnTo>
                  <a:pt x="35923" y="141513"/>
                </a:lnTo>
                <a:lnTo>
                  <a:pt x="19939" y="138175"/>
                </a:lnTo>
                <a:close/>
              </a:path>
              <a:path w="436879" h="176529">
                <a:moveTo>
                  <a:pt x="35923" y="141513"/>
                </a:moveTo>
                <a:lnTo>
                  <a:pt x="25146" y="153796"/>
                </a:lnTo>
                <a:lnTo>
                  <a:pt x="29334" y="153796"/>
                </a:lnTo>
                <a:lnTo>
                  <a:pt x="54523" y="145398"/>
                </a:lnTo>
                <a:lnTo>
                  <a:pt x="35923" y="141513"/>
                </a:lnTo>
                <a:close/>
              </a:path>
              <a:path w="436879" h="176529">
                <a:moveTo>
                  <a:pt x="430402" y="0"/>
                </a:moveTo>
                <a:lnTo>
                  <a:pt x="48397" y="127296"/>
                </a:lnTo>
                <a:lnTo>
                  <a:pt x="35923" y="141513"/>
                </a:lnTo>
                <a:lnTo>
                  <a:pt x="54523" y="145398"/>
                </a:lnTo>
                <a:lnTo>
                  <a:pt x="436499" y="18033"/>
                </a:lnTo>
                <a:lnTo>
                  <a:pt x="430402" y="0"/>
                </a:lnTo>
                <a:close/>
              </a:path>
              <a:path w="436879" h="176529">
                <a:moveTo>
                  <a:pt x="38851" y="138175"/>
                </a:moveTo>
                <a:lnTo>
                  <a:pt x="19939" y="138175"/>
                </a:lnTo>
                <a:lnTo>
                  <a:pt x="35923" y="141513"/>
                </a:lnTo>
                <a:lnTo>
                  <a:pt x="38851" y="138175"/>
                </a:lnTo>
                <a:close/>
              </a:path>
            </a:pathLst>
          </a:custGeom>
          <a:solidFill>
            <a:srgbClr val="CC0000"/>
          </a:solidFill>
        </p:spPr>
        <p:txBody>
          <a:bodyPr wrap="square" lIns="0" tIns="0" rIns="0" bIns="0" rtlCol="0"/>
          <a:lstStyle/>
          <a:p>
            <a:endParaRPr/>
          </a:p>
        </p:txBody>
      </p:sp>
      <p:sp>
        <p:nvSpPr>
          <p:cNvPr id="13" name="object 13"/>
          <p:cNvSpPr/>
          <p:nvPr/>
        </p:nvSpPr>
        <p:spPr>
          <a:xfrm>
            <a:off x="8846669" y="4085210"/>
            <a:ext cx="713948" cy="2620890"/>
          </a:xfrm>
          <a:custGeom>
            <a:avLst/>
            <a:gdLst/>
            <a:ahLst/>
            <a:cxnLst/>
            <a:rect l="l" t="t" r="r" b="b"/>
            <a:pathLst>
              <a:path w="687070" h="2522220">
                <a:moveTo>
                  <a:pt x="13080" y="2408047"/>
                </a:moveTo>
                <a:lnTo>
                  <a:pt x="2921" y="2410917"/>
                </a:lnTo>
                <a:lnTo>
                  <a:pt x="0" y="2416175"/>
                </a:lnTo>
                <a:lnTo>
                  <a:pt x="1397" y="2421242"/>
                </a:lnTo>
                <a:lnTo>
                  <a:pt x="29972" y="2521813"/>
                </a:lnTo>
                <a:lnTo>
                  <a:pt x="45709" y="2505900"/>
                </a:lnTo>
                <a:lnTo>
                  <a:pt x="43942" y="2505900"/>
                </a:lnTo>
                <a:lnTo>
                  <a:pt x="25400" y="2501150"/>
                </a:lnTo>
                <a:lnTo>
                  <a:pt x="34201" y="2466915"/>
                </a:lnTo>
                <a:lnTo>
                  <a:pt x="19812" y="2416035"/>
                </a:lnTo>
                <a:lnTo>
                  <a:pt x="18288" y="2410980"/>
                </a:lnTo>
                <a:lnTo>
                  <a:pt x="13080" y="2408047"/>
                </a:lnTo>
                <a:close/>
              </a:path>
              <a:path w="687070" h="2522220">
                <a:moveTo>
                  <a:pt x="34201" y="2466915"/>
                </a:moveTo>
                <a:lnTo>
                  <a:pt x="25400" y="2501150"/>
                </a:lnTo>
                <a:lnTo>
                  <a:pt x="43942" y="2505900"/>
                </a:lnTo>
                <a:lnTo>
                  <a:pt x="45225" y="2500909"/>
                </a:lnTo>
                <a:lnTo>
                  <a:pt x="43815" y="2500909"/>
                </a:lnTo>
                <a:lnTo>
                  <a:pt x="27940" y="2496807"/>
                </a:lnTo>
                <a:lnTo>
                  <a:pt x="39379" y="2485226"/>
                </a:lnTo>
                <a:lnTo>
                  <a:pt x="34201" y="2466915"/>
                </a:lnTo>
                <a:close/>
              </a:path>
              <a:path w="687070" h="2522220">
                <a:moveTo>
                  <a:pt x="99695" y="2430310"/>
                </a:moveTo>
                <a:lnTo>
                  <a:pt x="93599" y="2430335"/>
                </a:lnTo>
                <a:lnTo>
                  <a:pt x="52732" y="2471707"/>
                </a:lnTo>
                <a:lnTo>
                  <a:pt x="43942" y="2505900"/>
                </a:lnTo>
                <a:lnTo>
                  <a:pt x="45709" y="2505900"/>
                </a:lnTo>
                <a:lnTo>
                  <a:pt x="107188" y="2443734"/>
                </a:lnTo>
                <a:lnTo>
                  <a:pt x="107188" y="2437701"/>
                </a:lnTo>
                <a:lnTo>
                  <a:pt x="103377" y="2434005"/>
                </a:lnTo>
                <a:lnTo>
                  <a:pt x="99695" y="2430310"/>
                </a:lnTo>
                <a:close/>
              </a:path>
              <a:path w="687070" h="2522220">
                <a:moveTo>
                  <a:pt x="39379" y="2485226"/>
                </a:moveTo>
                <a:lnTo>
                  <a:pt x="27940" y="2496807"/>
                </a:lnTo>
                <a:lnTo>
                  <a:pt x="43815" y="2500909"/>
                </a:lnTo>
                <a:lnTo>
                  <a:pt x="39379" y="2485226"/>
                </a:lnTo>
                <a:close/>
              </a:path>
              <a:path w="687070" h="2522220">
                <a:moveTo>
                  <a:pt x="52732" y="2471707"/>
                </a:moveTo>
                <a:lnTo>
                  <a:pt x="39379" y="2485226"/>
                </a:lnTo>
                <a:lnTo>
                  <a:pt x="43815" y="2500909"/>
                </a:lnTo>
                <a:lnTo>
                  <a:pt x="45225" y="2500909"/>
                </a:lnTo>
                <a:lnTo>
                  <a:pt x="52732" y="2471707"/>
                </a:lnTo>
                <a:close/>
              </a:path>
              <a:path w="687070" h="2522220">
                <a:moveTo>
                  <a:pt x="668401" y="0"/>
                </a:moveTo>
                <a:lnTo>
                  <a:pt x="34201" y="2466915"/>
                </a:lnTo>
                <a:lnTo>
                  <a:pt x="39379" y="2485226"/>
                </a:lnTo>
                <a:lnTo>
                  <a:pt x="52732" y="2471707"/>
                </a:lnTo>
                <a:lnTo>
                  <a:pt x="686943" y="4825"/>
                </a:lnTo>
                <a:lnTo>
                  <a:pt x="668401" y="0"/>
                </a:lnTo>
                <a:close/>
              </a:path>
            </a:pathLst>
          </a:custGeom>
          <a:solidFill>
            <a:srgbClr val="CC0000"/>
          </a:solidFill>
        </p:spPr>
        <p:txBody>
          <a:bodyPr wrap="square" lIns="0" tIns="0" rIns="0" bIns="0" rtlCol="0"/>
          <a:lstStyle/>
          <a:p>
            <a:endParaRPr/>
          </a:p>
        </p:txBody>
      </p:sp>
      <p:sp>
        <p:nvSpPr>
          <p:cNvPr id="14" name="object 14"/>
          <p:cNvSpPr txBox="1"/>
          <p:nvPr/>
        </p:nvSpPr>
        <p:spPr>
          <a:xfrm>
            <a:off x="9149009" y="2841093"/>
            <a:ext cx="1658841" cy="973294"/>
          </a:xfrm>
          <a:prstGeom prst="rect">
            <a:avLst/>
          </a:prstGeom>
        </p:spPr>
        <p:txBody>
          <a:bodyPr vert="horz" wrap="square" lIns="0" tIns="13857" rIns="0" bIns="0" rtlCol="0">
            <a:spAutoFit/>
          </a:bodyPr>
          <a:lstStyle/>
          <a:p>
            <a:pPr marL="13197" marR="5279">
              <a:spcBef>
                <a:spcPts val="109"/>
              </a:spcBef>
            </a:pPr>
            <a:r>
              <a:rPr sz="2078" i="1" spc="-16" dirty="0">
                <a:latin typeface="Arial"/>
                <a:cs typeface="Arial"/>
              </a:rPr>
              <a:t>это </a:t>
            </a:r>
            <a:r>
              <a:rPr sz="2078" i="1" spc="-21" dirty="0">
                <a:latin typeface="Arial"/>
                <a:cs typeface="Arial"/>
              </a:rPr>
              <a:t>делает  человек, </a:t>
            </a:r>
            <a:r>
              <a:rPr sz="2078" i="1" dirty="0">
                <a:latin typeface="Arial"/>
                <a:cs typeface="Arial"/>
              </a:rPr>
              <a:t>а</a:t>
            </a:r>
            <a:r>
              <a:rPr sz="2078" i="1" spc="-52" dirty="0">
                <a:latin typeface="Arial"/>
                <a:cs typeface="Arial"/>
              </a:rPr>
              <a:t> </a:t>
            </a:r>
            <a:r>
              <a:rPr sz="2078" i="1" spc="-5" dirty="0">
                <a:latin typeface="Arial"/>
                <a:cs typeface="Arial"/>
              </a:rPr>
              <a:t>не  компьютер</a:t>
            </a:r>
            <a:endParaRPr sz="2078">
              <a:latin typeface="Arial"/>
              <a:cs typeface="Arial"/>
            </a:endParaRPr>
          </a:p>
        </p:txBody>
      </p:sp>
      <p:sp>
        <p:nvSpPr>
          <p:cNvPr id="15" name="object 15"/>
          <p:cNvSpPr/>
          <p:nvPr/>
        </p:nvSpPr>
        <p:spPr>
          <a:xfrm>
            <a:off x="8953696" y="2739925"/>
            <a:ext cx="1945213" cy="1272174"/>
          </a:xfrm>
          <a:custGeom>
            <a:avLst/>
            <a:gdLst/>
            <a:ahLst/>
            <a:cxnLst/>
            <a:rect l="l" t="t" r="r" b="b"/>
            <a:pathLst>
              <a:path w="1871979" h="1224279">
                <a:moveTo>
                  <a:pt x="0" y="612013"/>
                </a:moveTo>
                <a:lnTo>
                  <a:pt x="6766" y="538050"/>
                </a:lnTo>
                <a:lnTo>
                  <a:pt x="26542" y="466703"/>
                </a:lnTo>
                <a:lnTo>
                  <a:pt x="58546" y="398485"/>
                </a:lnTo>
                <a:lnTo>
                  <a:pt x="78889" y="365709"/>
                </a:lnTo>
                <a:lnTo>
                  <a:pt x="101995" y="333907"/>
                </a:lnTo>
                <a:lnTo>
                  <a:pt x="127766" y="303144"/>
                </a:lnTo>
                <a:lnTo>
                  <a:pt x="156105" y="273483"/>
                </a:lnTo>
                <a:lnTo>
                  <a:pt x="186914" y="244988"/>
                </a:lnTo>
                <a:lnTo>
                  <a:pt x="220094" y="217724"/>
                </a:lnTo>
                <a:lnTo>
                  <a:pt x="255548" y="191755"/>
                </a:lnTo>
                <a:lnTo>
                  <a:pt x="293178" y="167144"/>
                </a:lnTo>
                <a:lnTo>
                  <a:pt x="332887" y="143957"/>
                </a:lnTo>
                <a:lnTo>
                  <a:pt x="374575" y="122255"/>
                </a:lnTo>
                <a:lnTo>
                  <a:pt x="418147" y="102105"/>
                </a:lnTo>
                <a:lnTo>
                  <a:pt x="463502" y="83570"/>
                </a:lnTo>
                <a:lnTo>
                  <a:pt x="510545" y="66714"/>
                </a:lnTo>
                <a:lnTo>
                  <a:pt x="559176" y="51601"/>
                </a:lnTo>
                <a:lnTo>
                  <a:pt x="609299" y="38295"/>
                </a:lnTo>
                <a:lnTo>
                  <a:pt x="660814" y="26861"/>
                </a:lnTo>
                <a:lnTo>
                  <a:pt x="713625" y="17362"/>
                </a:lnTo>
                <a:lnTo>
                  <a:pt x="767633" y="9862"/>
                </a:lnTo>
                <a:lnTo>
                  <a:pt x="822740" y="4425"/>
                </a:lnTo>
                <a:lnTo>
                  <a:pt x="878850" y="1117"/>
                </a:lnTo>
                <a:lnTo>
                  <a:pt x="935863" y="0"/>
                </a:lnTo>
                <a:lnTo>
                  <a:pt x="992862" y="1117"/>
                </a:lnTo>
                <a:lnTo>
                  <a:pt x="1048960" y="4425"/>
                </a:lnTo>
                <a:lnTo>
                  <a:pt x="1104059" y="9862"/>
                </a:lnTo>
                <a:lnTo>
                  <a:pt x="1158059" y="17362"/>
                </a:lnTo>
                <a:lnTo>
                  <a:pt x="1210864" y="26861"/>
                </a:lnTo>
                <a:lnTo>
                  <a:pt x="1262375" y="38295"/>
                </a:lnTo>
                <a:lnTo>
                  <a:pt x="1312494" y="51601"/>
                </a:lnTo>
                <a:lnTo>
                  <a:pt x="1361124" y="66714"/>
                </a:lnTo>
                <a:lnTo>
                  <a:pt x="1408166" y="83570"/>
                </a:lnTo>
                <a:lnTo>
                  <a:pt x="1453522" y="102105"/>
                </a:lnTo>
                <a:lnTo>
                  <a:pt x="1497095" y="122255"/>
                </a:lnTo>
                <a:lnTo>
                  <a:pt x="1538786" y="143957"/>
                </a:lnTo>
                <a:lnTo>
                  <a:pt x="1578497" y="167144"/>
                </a:lnTo>
                <a:lnTo>
                  <a:pt x="1616131" y="191755"/>
                </a:lnTo>
                <a:lnTo>
                  <a:pt x="1651589" y="217724"/>
                </a:lnTo>
                <a:lnTo>
                  <a:pt x="1684774" y="244988"/>
                </a:lnTo>
                <a:lnTo>
                  <a:pt x="1715587" y="273483"/>
                </a:lnTo>
                <a:lnTo>
                  <a:pt x="1743931" y="303144"/>
                </a:lnTo>
                <a:lnTo>
                  <a:pt x="1769707" y="333907"/>
                </a:lnTo>
                <a:lnTo>
                  <a:pt x="1792817" y="365709"/>
                </a:lnTo>
                <a:lnTo>
                  <a:pt x="1813164" y="398485"/>
                </a:lnTo>
                <a:lnTo>
                  <a:pt x="1845176" y="466703"/>
                </a:lnTo>
                <a:lnTo>
                  <a:pt x="1864957" y="538050"/>
                </a:lnTo>
                <a:lnTo>
                  <a:pt x="1871726" y="612013"/>
                </a:lnTo>
                <a:lnTo>
                  <a:pt x="1870017" y="649302"/>
                </a:lnTo>
                <a:lnTo>
                  <a:pt x="1856644" y="722041"/>
                </a:lnTo>
                <a:lnTo>
                  <a:pt x="1830650" y="791901"/>
                </a:lnTo>
                <a:lnTo>
                  <a:pt x="1792817" y="858370"/>
                </a:lnTo>
                <a:lnTo>
                  <a:pt x="1769707" y="890174"/>
                </a:lnTo>
                <a:lnTo>
                  <a:pt x="1743931" y="920938"/>
                </a:lnTo>
                <a:lnTo>
                  <a:pt x="1715587" y="950598"/>
                </a:lnTo>
                <a:lnTo>
                  <a:pt x="1684774" y="979091"/>
                </a:lnTo>
                <a:lnTo>
                  <a:pt x="1651589" y="1006353"/>
                </a:lnTo>
                <a:lnTo>
                  <a:pt x="1616131" y="1032319"/>
                </a:lnTo>
                <a:lnTo>
                  <a:pt x="1578497" y="1056926"/>
                </a:lnTo>
                <a:lnTo>
                  <a:pt x="1538786" y="1080110"/>
                </a:lnTo>
                <a:lnTo>
                  <a:pt x="1497095" y="1101807"/>
                </a:lnTo>
                <a:lnTo>
                  <a:pt x="1453522" y="1121953"/>
                </a:lnTo>
                <a:lnTo>
                  <a:pt x="1408166" y="1140483"/>
                </a:lnTo>
                <a:lnTo>
                  <a:pt x="1361124" y="1157334"/>
                </a:lnTo>
                <a:lnTo>
                  <a:pt x="1312494" y="1172443"/>
                </a:lnTo>
                <a:lnTo>
                  <a:pt x="1262375" y="1185744"/>
                </a:lnTo>
                <a:lnTo>
                  <a:pt x="1210864" y="1197175"/>
                </a:lnTo>
                <a:lnTo>
                  <a:pt x="1158059" y="1206671"/>
                </a:lnTo>
                <a:lnTo>
                  <a:pt x="1104059" y="1214167"/>
                </a:lnTo>
                <a:lnTo>
                  <a:pt x="1048960" y="1219601"/>
                </a:lnTo>
                <a:lnTo>
                  <a:pt x="992862" y="1222909"/>
                </a:lnTo>
                <a:lnTo>
                  <a:pt x="935863" y="1224026"/>
                </a:lnTo>
                <a:lnTo>
                  <a:pt x="878850" y="1222909"/>
                </a:lnTo>
                <a:lnTo>
                  <a:pt x="822740" y="1219601"/>
                </a:lnTo>
                <a:lnTo>
                  <a:pt x="767633" y="1214167"/>
                </a:lnTo>
                <a:lnTo>
                  <a:pt x="713625" y="1206671"/>
                </a:lnTo>
                <a:lnTo>
                  <a:pt x="660814" y="1197175"/>
                </a:lnTo>
                <a:lnTo>
                  <a:pt x="609299" y="1185744"/>
                </a:lnTo>
                <a:lnTo>
                  <a:pt x="559176" y="1172443"/>
                </a:lnTo>
                <a:lnTo>
                  <a:pt x="510545" y="1157334"/>
                </a:lnTo>
                <a:lnTo>
                  <a:pt x="463502" y="1140483"/>
                </a:lnTo>
                <a:lnTo>
                  <a:pt x="418147" y="1121953"/>
                </a:lnTo>
                <a:lnTo>
                  <a:pt x="374575" y="1101807"/>
                </a:lnTo>
                <a:lnTo>
                  <a:pt x="332887" y="1080110"/>
                </a:lnTo>
                <a:lnTo>
                  <a:pt x="293178" y="1056926"/>
                </a:lnTo>
                <a:lnTo>
                  <a:pt x="255548" y="1032319"/>
                </a:lnTo>
                <a:lnTo>
                  <a:pt x="220094" y="1006353"/>
                </a:lnTo>
                <a:lnTo>
                  <a:pt x="186914" y="979091"/>
                </a:lnTo>
                <a:lnTo>
                  <a:pt x="156105" y="950598"/>
                </a:lnTo>
                <a:lnTo>
                  <a:pt x="127766" y="920938"/>
                </a:lnTo>
                <a:lnTo>
                  <a:pt x="101995" y="890174"/>
                </a:lnTo>
                <a:lnTo>
                  <a:pt x="78889" y="858370"/>
                </a:lnTo>
                <a:lnTo>
                  <a:pt x="58546" y="825591"/>
                </a:lnTo>
                <a:lnTo>
                  <a:pt x="26542" y="757363"/>
                </a:lnTo>
                <a:lnTo>
                  <a:pt x="6766" y="685999"/>
                </a:lnTo>
                <a:lnTo>
                  <a:pt x="0" y="612013"/>
                </a:lnTo>
                <a:close/>
              </a:path>
            </a:pathLst>
          </a:custGeom>
          <a:ln w="19050">
            <a:solidFill>
              <a:srgbClr val="CC0000"/>
            </a:solidFill>
          </a:ln>
        </p:spPr>
        <p:txBody>
          <a:bodyPr wrap="square" lIns="0" tIns="0" rIns="0" bIns="0" rtlCol="0"/>
          <a:lstStyle/>
          <a:p>
            <a:endParaRPr sz="2078"/>
          </a:p>
        </p:txBody>
      </p:sp>
      <p:sp>
        <p:nvSpPr>
          <p:cNvPr id="5" name="Номер слайда 4"/>
          <p:cNvSpPr>
            <a:spLocks noGrp="1"/>
          </p:cNvSpPr>
          <p:nvPr>
            <p:ph type="sldNum" sz="quarter" idx="12"/>
          </p:nvPr>
        </p:nvSpPr>
        <p:spPr>
          <a:xfrm>
            <a:off x="11278007" y="6605015"/>
            <a:ext cx="756832" cy="379409"/>
          </a:xfrm>
        </p:spPr>
        <p:txBody>
          <a:bodyPr/>
          <a:lstStyle/>
          <a:p>
            <a:fld id="{952B6C0E-C4B9-4094-8E59-5B7DF00D5415}" type="slidenum">
              <a:rPr lang="ru-RU" smtClean="0">
                <a:solidFill>
                  <a:schemeClr val="tx1"/>
                </a:solidFill>
              </a:rPr>
              <a:t>94</a:t>
            </a:fld>
            <a:endParaRPr lang="ru-RU" dirty="0">
              <a:solidFill>
                <a:schemeClr val="tx1"/>
              </a:solidFill>
            </a:endParaRPr>
          </a:p>
        </p:txBody>
      </p:sp>
    </p:spTree>
    <p:extLst>
      <p:ext uri="{BB962C8B-B14F-4D97-AF65-F5344CB8AC3E}">
        <p14:creationId xmlns:p14="http://schemas.microsoft.com/office/powerpoint/2010/main" val="7578376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 name="AutoShape 4"/>
          <p:cNvSpPr>
            <a:spLocks noChangeArrowheads="1"/>
          </p:cNvSpPr>
          <p:nvPr/>
        </p:nvSpPr>
        <p:spPr bwMode="auto">
          <a:xfrm>
            <a:off x="1438275" y="322263"/>
            <a:ext cx="11016529" cy="6553200"/>
          </a:xfrm>
          <a:prstGeom prst="roundRect">
            <a:avLst>
              <a:gd name="adj" fmla="val 16667"/>
            </a:avLst>
          </a:prstGeom>
          <a:solidFill>
            <a:schemeClr val="bg1">
              <a:alpha val="50195"/>
            </a:scheme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2" name="object 2"/>
          <p:cNvSpPr txBox="1"/>
          <p:nvPr/>
        </p:nvSpPr>
        <p:spPr>
          <a:xfrm>
            <a:off x="1871089" y="864715"/>
            <a:ext cx="6924376" cy="2777288"/>
          </a:xfrm>
          <a:prstGeom prst="rect">
            <a:avLst/>
          </a:prstGeom>
        </p:spPr>
        <p:txBody>
          <a:bodyPr vert="horz" wrap="square" lIns="0" tIns="13197" rIns="0" bIns="0" rtlCol="0">
            <a:spAutoFit/>
          </a:bodyPr>
          <a:lstStyle/>
          <a:p>
            <a:pPr marL="217743" algn="just">
              <a:spcBef>
                <a:spcPts val="104"/>
              </a:spcBef>
            </a:pPr>
            <a:r>
              <a:rPr sz="2494" spc="-16" dirty="0">
                <a:solidFill>
                  <a:srgbClr val="CC0000"/>
                </a:solidFill>
                <a:latin typeface="Arial"/>
                <a:cs typeface="Arial"/>
              </a:rPr>
              <a:t>Одновыборочные</a:t>
            </a:r>
            <a:r>
              <a:rPr sz="2494" spc="-5" dirty="0">
                <a:solidFill>
                  <a:srgbClr val="CC0000"/>
                </a:solidFill>
                <a:latin typeface="Arial"/>
                <a:cs typeface="Arial"/>
              </a:rPr>
              <a:t> </a:t>
            </a:r>
            <a:r>
              <a:rPr sz="2494" spc="-10" dirty="0">
                <a:solidFill>
                  <a:srgbClr val="CC0000"/>
                </a:solidFill>
                <a:latin typeface="Arial"/>
                <a:cs typeface="Arial"/>
              </a:rPr>
              <a:t>критерии</a:t>
            </a:r>
            <a:endParaRPr sz="2494" dirty="0">
              <a:latin typeface="Arial"/>
              <a:cs typeface="Arial"/>
            </a:endParaRPr>
          </a:p>
          <a:p>
            <a:pPr marL="217743" algn="just"/>
            <a:r>
              <a:rPr sz="2078" spc="-5" dirty="0">
                <a:solidFill>
                  <a:srgbClr val="CC0000"/>
                </a:solidFill>
                <a:latin typeface="Arial"/>
                <a:cs typeface="Arial"/>
              </a:rPr>
              <a:t>сравнивающие </a:t>
            </a:r>
            <a:r>
              <a:rPr sz="2078" spc="-10" dirty="0">
                <a:solidFill>
                  <a:srgbClr val="CC0000"/>
                </a:solidFill>
                <a:latin typeface="Arial"/>
                <a:cs typeface="Arial"/>
              </a:rPr>
              <a:t>среднее </a:t>
            </a:r>
            <a:r>
              <a:rPr sz="2078" spc="-5" dirty="0">
                <a:solidFill>
                  <a:srgbClr val="CC0000"/>
                </a:solidFill>
                <a:latin typeface="Arial"/>
                <a:cs typeface="Arial"/>
              </a:rPr>
              <a:t>значение </a:t>
            </a:r>
            <a:r>
              <a:rPr sz="2078" dirty="0">
                <a:solidFill>
                  <a:srgbClr val="CC0000"/>
                </a:solidFill>
                <a:latin typeface="Arial"/>
                <a:cs typeface="Arial"/>
              </a:rPr>
              <a:t>с </a:t>
            </a:r>
            <a:r>
              <a:rPr sz="2078" spc="-5" dirty="0">
                <a:solidFill>
                  <a:srgbClr val="CC0000"/>
                </a:solidFill>
                <a:latin typeface="Arial"/>
                <a:cs typeface="Arial"/>
              </a:rPr>
              <a:t>заданным</a:t>
            </a:r>
            <a:r>
              <a:rPr sz="2078" spc="-166" dirty="0">
                <a:solidFill>
                  <a:srgbClr val="CC0000"/>
                </a:solidFill>
                <a:latin typeface="Arial"/>
                <a:cs typeface="Arial"/>
              </a:rPr>
              <a:t> </a:t>
            </a:r>
            <a:r>
              <a:rPr sz="2078" dirty="0">
                <a:solidFill>
                  <a:srgbClr val="CC0000"/>
                </a:solidFill>
                <a:latin typeface="Arial"/>
                <a:cs typeface="Arial"/>
              </a:rPr>
              <a:t>числом.</a:t>
            </a:r>
            <a:endParaRPr sz="2078" dirty="0">
              <a:latin typeface="Arial"/>
              <a:cs typeface="Arial"/>
            </a:endParaRPr>
          </a:p>
          <a:p>
            <a:pPr marL="13197" marR="692820" algn="just">
              <a:spcBef>
                <a:spcPts val="1294"/>
              </a:spcBef>
            </a:pPr>
            <a:r>
              <a:rPr sz="2494" b="1" spc="-10" dirty="0">
                <a:latin typeface="Arial"/>
                <a:cs typeface="Arial"/>
              </a:rPr>
              <a:t>Одновыборочный t-критерий </a:t>
            </a:r>
            <a:r>
              <a:rPr sz="2494" dirty="0">
                <a:latin typeface="Arial"/>
                <a:cs typeface="Arial"/>
              </a:rPr>
              <a:t>(в случае,  </a:t>
            </a:r>
            <a:r>
              <a:rPr sz="2494" spc="-5" dirty="0">
                <a:latin typeface="Arial"/>
                <a:cs typeface="Arial"/>
              </a:rPr>
              <a:t>если дисперсия </a:t>
            </a:r>
            <a:r>
              <a:rPr sz="2494" dirty="0">
                <a:latin typeface="Arial"/>
                <a:cs typeface="Arial"/>
              </a:rPr>
              <a:t>в </a:t>
            </a:r>
            <a:r>
              <a:rPr sz="2494" spc="-10" dirty="0">
                <a:latin typeface="Arial"/>
                <a:cs typeface="Arial"/>
              </a:rPr>
              <a:t>популяции</a:t>
            </a:r>
            <a:r>
              <a:rPr sz="2494" spc="-21" dirty="0">
                <a:latin typeface="Arial"/>
                <a:cs typeface="Arial"/>
              </a:rPr>
              <a:t> </a:t>
            </a:r>
            <a:r>
              <a:rPr sz="2494" u="heavy" spc="-10" dirty="0">
                <a:uFill>
                  <a:solidFill>
                    <a:srgbClr val="000000"/>
                  </a:solidFill>
                </a:uFill>
                <a:latin typeface="Arial"/>
                <a:cs typeface="Arial"/>
              </a:rPr>
              <a:t>неизвестна</a:t>
            </a:r>
            <a:r>
              <a:rPr sz="2494" spc="-10" dirty="0">
                <a:latin typeface="Arial"/>
                <a:cs typeface="Arial"/>
              </a:rPr>
              <a:t>)</a:t>
            </a:r>
            <a:endParaRPr sz="2494" dirty="0">
              <a:latin typeface="Arial"/>
              <a:cs typeface="Arial"/>
            </a:endParaRPr>
          </a:p>
          <a:p>
            <a:pPr marL="13197" marR="449342" algn="just">
              <a:spcBef>
                <a:spcPts val="1252"/>
              </a:spcBef>
            </a:pPr>
            <a:r>
              <a:rPr sz="2078" spc="-10" dirty="0">
                <a:latin typeface="Arial"/>
                <a:cs typeface="Arial"/>
              </a:rPr>
              <a:t>Превышает </a:t>
            </a:r>
            <a:r>
              <a:rPr sz="2078" spc="-5" dirty="0">
                <a:latin typeface="Arial"/>
                <a:cs typeface="Arial"/>
              </a:rPr>
              <a:t>ли </a:t>
            </a:r>
            <a:r>
              <a:rPr sz="2078" dirty="0">
                <a:latin typeface="Arial"/>
                <a:cs typeface="Arial"/>
              </a:rPr>
              <a:t>масса </a:t>
            </a:r>
            <a:r>
              <a:rPr sz="2078" spc="-5" dirty="0">
                <a:latin typeface="Arial"/>
                <a:cs typeface="Arial"/>
              </a:rPr>
              <a:t>землероек </a:t>
            </a:r>
            <a:r>
              <a:rPr sz="2078" dirty="0">
                <a:latin typeface="Arial"/>
                <a:cs typeface="Arial"/>
              </a:rPr>
              <a:t>в </a:t>
            </a:r>
            <a:r>
              <a:rPr sz="2078" spc="-10" dirty="0">
                <a:latin typeface="Arial"/>
                <a:cs typeface="Arial"/>
              </a:rPr>
              <a:t>заповеднике </a:t>
            </a:r>
            <a:r>
              <a:rPr sz="2078" spc="-5" dirty="0">
                <a:latin typeface="Arial"/>
                <a:cs typeface="Arial"/>
              </a:rPr>
              <a:t>90г?  </a:t>
            </a:r>
            <a:r>
              <a:rPr sz="2078" dirty="0">
                <a:latin typeface="Arial"/>
                <a:cs typeface="Arial"/>
              </a:rPr>
              <a:t>Мы </a:t>
            </a:r>
            <a:r>
              <a:rPr sz="2078" u="heavy" dirty="0">
                <a:uFill>
                  <a:solidFill>
                    <a:srgbClr val="000000"/>
                  </a:solidFill>
                </a:uFill>
                <a:latin typeface="Arial"/>
                <a:cs typeface="Arial"/>
              </a:rPr>
              <a:t>знаем</a:t>
            </a:r>
            <a:r>
              <a:rPr sz="2078" dirty="0">
                <a:latin typeface="Arial"/>
                <a:cs typeface="Arial"/>
              </a:rPr>
              <a:t>, </a:t>
            </a:r>
            <a:r>
              <a:rPr sz="2078" spc="-10" dirty="0">
                <a:latin typeface="Arial"/>
                <a:cs typeface="Arial"/>
              </a:rPr>
              <a:t>что </a:t>
            </a:r>
            <a:r>
              <a:rPr sz="2078" i="1" dirty="0">
                <a:latin typeface="Arial"/>
                <a:cs typeface="Arial"/>
              </a:rPr>
              <a:t>μ</a:t>
            </a:r>
            <a:r>
              <a:rPr sz="2078" dirty="0">
                <a:latin typeface="Arial"/>
                <a:cs typeface="Arial"/>
              </a:rPr>
              <a:t>=90, </a:t>
            </a:r>
            <a:r>
              <a:rPr sz="2078" spc="-5" dirty="0">
                <a:latin typeface="Arial"/>
                <a:cs typeface="Arial"/>
              </a:rPr>
              <a:t>но </a:t>
            </a:r>
            <a:r>
              <a:rPr sz="2078" u="heavy" spc="-5" dirty="0">
                <a:uFill>
                  <a:solidFill>
                    <a:srgbClr val="000000"/>
                  </a:solidFill>
                </a:uFill>
                <a:latin typeface="Arial"/>
                <a:cs typeface="Arial"/>
              </a:rPr>
              <a:t>не знаем </a:t>
            </a:r>
            <a:r>
              <a:rPr sz="2078" i="1" u="heavy" dirty="0">
                <a:uFill>
                  <a:solidFill>
                    <a:srgbClr val="000000"/>
                  </a:solidFill>
                </a:uFill>
                <a:latin typeface="Arial"/>
                <a:cs typeface="Arial"/>
              </a:rPr>
              <a:t>σ</a:t>
            </a:r>
            <a:r>
              <a:rPr sz="2078" i="1" dirty="0">
                <a:latin typeface="Arial"/>
                <a:cs typeface="Arial"/>
              </a:rPr>
              <a:t> </a:t>
            </a:r>
            <a:r>
              <a:rPr sz="2078" dirty="0">
                <a:latin typeface="Arial"/>
                <a:cs typeface="Arial"/>
              </a:rPr>
              <a:t>; </a:t>
            </a:r>
            <a:r>
              <a:rPr sz="2078" spc="-10" dirty="0">
                <a:latin typeface="Arial"/>
                <a:cs typeface="Arial"/>
              </a:rPr>
              <a:t>исследовали</a:t>
            </a:r>
            <a:r>
              <a:rPr sz="2078" spc="-238" dirty="0">
                <a:latin typeface="Arial"/>
                <a:cs typeface="Arial"/>
              </a:rPr>
              <a:t> </a:t>
            </a:r>
            <a:r>
              <a:rPr sz="2078" spc="-5" dirty="0">
                <a:latin typeface="Arial"/>
                <a:cs typeface="Arial"/>
              </a:rPr>
              <a:t>25  зверьков.</a:t>
            </a:r>
            <a:endParaRPr sz="2078" dirty="0">
              <a:latin typeface="Arial"/>
              <a:cs typeface="Arial"/>
            </a:endParaRPr>
          </a:p>
        </p:txBody>
      </p:sp>
      <p:sp>
        <p:nvSpPr>
          <p:cNvPr id="3" name="object 3"/>
          <p:cNvSpPr txBox="1"/>
          <p:nvPr/>
        </p:nvSpPr>
        <p:spPr>
          <a:xfrm>
            <a:off x="1816154" y="3837287"/>
            <a:ext cx="5803305" cy="2473784"/>
          </a:xfrm>
          <a:prstGeom prst="rect">
            <a:avLst/>
          </a:prstGeom>
        </p:spPr>
        <p:txBody>
          <a:bodyPr vert="horz" wrap="square" lIns="0" tIns="13197" rIns="0" bIns="0" rtlCol="0">
            <a:spAutoFit/>
          </a:bodyPr>
          <a:lstStyle/>
          <a:p>
            <a:pPr marL="39590" marR="31672">
              <a:spcBef>
                <a:spcPts val="104"/>
              </a:spcBef>
            </a:pPr>
            <a:r>
              <a:rPr sz="2494" spc="-10" dirty="0">
                <a:latin typeface="Arial"/>
                <a:cs typeface="Arial"/>
              </a:rPr>
              <a:t>Формулируем </a:t>
            </a:r>
            <a:r>
              <a:rPr sz="2494" spc="-5" dirty="0">
                <a:latin typeface="Arial"/>
                <a:cs typeface="Arial"/>
              </a:rPr>
              <a:t>Н</a:t>
            </a:r>
            <a:r>
              <a:rPr sz="2494" spc="-7" baseline="-20833" dirty="0">
                <a:latin typeface="Arial"/>
                <a:cs typeface="Arial"/>
              </a:rPr>
              <a:t>0 </a:t>
            </a:r>
            <a:r>
              <a:rPr sz="2494" dirty="0">
                <a:latin typeface="Arial"/>
                <a:cs typeface="Arial"/>
              </a:rPr>
              <a:t>и </a:t>
            </a:r>
            <a:r>
              <a:rPr sz="2494" spc="-5" dirty="0">
                <a:latin typeface="Arial"/>
                <a:cs typeface="Arial"/>
              </a:rPr>
              <a:t>Н</a:t>
            </a:r>
            <a:r>
              <a:rPr sz="2494" spc="-7" baseline="-20833" dirty="0">
                <a:latin typeface="Arial"/>
                <a:cs typeface="Arial"/>
              </a:rPr>
              <a:t>1</a:t>
            </a:r>
            <a:r>
              <a:rPr sz="2494" spc="-5" dirty="0">
                <a:latin typeface="Arial"/>
                <a:cs typeface="Arial"/>
              </a:rPr>
              <a:t>, </a:t>
            </a:r>
            <a:r>
              <a:rPr sz="2494" spc="-16" dirty="0">
                <a:latin typeface="Arial"/>
                <a:cs typeface="Arial"/>
              </a:rPr>
              <a:t>создаём  распределения </a:t>
            </a:r>
            <a:r>
              <a:rPr sz="2494" spc="-10" dirty="0">
                <a:latin typeface="Arial"/>
                <a:cs typeface="Arial"/>
              </a:rPr>
              <a:t>выборочных средних </a:t>
            </a:r>
            <a:r>
              <a:rPr sz="2494" dirty="0">
                <a:latin typeface="Arial"/>
                <a:cs typeface="Arial"/>
              </a:rPr>
              <a:t>и  </a:t>
            </a:r>
            <a:r>
              <a:rPr sz="2494" spc="-10" dirty="0">
                <a:latin typeface="Arial"/>
                <a:cs typeface="Arial"/>
              </a:rPr>
              <a:t>статистики </a:t>
            </a:r>
            <a:r>
              <a:rPr sz="2494" spc="-5" dirty="0">
                <a:latin typeface="Arial"/>
                <a:cs typeface="Arial"/>
              </a:rPr>
              <a:t>критерия </a:t>
            </a:r>
            <a:r>
              <a:rPr sz="2494" dirty="0">
                <a:latin typeface="Arial"/>
                <a:cs typeface="Arial"/>
              </a:rPr>
              <a:t>-</a:t>
            </a:r>
            <a:r>
              <a:rPr sz="2494" spc="-47" dirty="0">
                <a:latin typeface="Arial"/>
                <a:cs typeface="Arial"/>
              </a:rPr>
              <a:t> </a:t>
            </a:r>
            <a:r>
              <a:rPr sz="2494" i="1" dirty="0">
                <a:latin typeface="Arial"/>
                <a:cs typeface="Arial"/>
              </a:rPr>
              <a:t>t</a:t>
            </a:r>
            <a:endParaRPr sz="2494" dirty="0">
              <a:latin typeface="Arial"/>
              <a:cs typeface="Arial"/>
            </a:endParaRPr>
          </a:p>
          <a:p>
            <a:pPr marL="980505">
              <a:spcBef>
                <a:spcPts val="2161"/>
              </a:spcBef>
            </a:pPr>
            <a:r>
              <a:rPr sz="2546" i="1" spc="88" dirty="0">
                <a:latin typeface="Times New Roman"/>
                <a:cs typeface="Times New Roman"/>
              </a:rPr>
              <a:t>H </a:t>
            </a:r>
            <a:r>
              <a:rPr sz="2260" spc="31" baseline="-24904" dirty="0">
                <a:latin typeface="Times New Roman"/>
                <a:cs typeface="Times New Roman"/>
              </a:rPr>
              <a:t>0 </a:t>
            </a:r>
            <a:r>
              <a:rPr sz="2546" spc="31" dirty="0">
                <a:latin typeface="Times New Roman"/>
                <a:cs typeface="Times New Roman"/>
              </a:rPr>
              <a:t>: </a:t>
            </a:r>
            <a:r>
              <a:rPr sz="2702" i="1" spc="-21" dirty="0">
                <a:latin typeface="Symbol"/>
                <a:cs typeface="Symbol"/>
              </a:rPr>
              <a:t></a:t>
            </a:r>
            <a:r>
              <a:rPr sz="2702" i="1" spc="-21" dirty="0">
                <a:latin typeface="Times New Roman"/>
                <a:cs typeface="Times New Roman"/>
              </a:rPr>
              <a:t> </a:t>
            </a:r>
            <a:r>
              <a:rPr lang="ru-RU" sz="2546" spc="68" dirty="0">
                <a:latin typeface="Times New Roman"/>
                <a:cs typeface="Times New Roman"/>
              </a:rPr>
              <a:t>=</a:t>
            </a:r>
            <a:r>
              <a:rPr sz="2546" spc="-301" dirty="0">
                <a:latin typeface="Times New Roman"/>
                <a:cs typeface="Times New Roman"/>
              </a:rPr>
              <a:t> </a:t>
            </a:r>
            <a:r>
              <a:rPr sz="2546" spc="10" dirty="0">
                <a:latin typeface="Times New Roman"/>
                <a:cs typeface="Times New Roman"/>
              </a:rPr>
              <a:t>90</a:t>
            </a:r>
            <a:endParaRPr sz="2546" dirty="0">
              <a:latin typeface="Times New Roman"/>
              <a:cs typeface="Times New Roman"/>
            </a:endParaRPr>
          </a:p>
          <a:p>
            <a:pPr marL="980505">
              <a:spcBef>
                <a:spcPts val="836"/>
              </a:spcBef>
            </a:pPr>
            <a:r>
              <a:rPr sz="2546" i="1" spc="104" dirty="0">
                <a:latin typeface="Times New Roman"/>
                <a:cs typeface="Times New Roman"/>
              </a:rPr>
              <a:t>H</a:t>
            </a:r>
            <a:r>
              <a:rPr sz="2260" spc="156" baseline="-24904" dirty="0">
                <a:latin typeface="Times New Roman"/>
                <a:cs typeface="Times New Roman"/>
              </a:rPr>
              <a:t>1 </a:t>
            </a:r>
            <a:r>
              <a:rPr sz="2546" spc="31" dirty="0">
                <a:latin typeface="Times New Roman"/>
                <a:cs typeface="Times New Roman"/>
              </a:rPr>
              <a:t>: </a:t>
            </a:r>
            <a:r>
              <a:rPr sz="2702" i="1" spc="-21" dirty="0">
                <a:latin typeface="Symbol"/>
                <a:cs typeface="Symbol"/>
              </a:rPr>
              <a:t></a:t>
            </a:r>
            <a:r>
              <a:rPr sz="2702" i="1" spc="-21" dirty="0">
                <a:latin typeface="Times New Roman"/>
                <a:cs typeface="Times New Roman"/>
              </a:rPr>
              <a:t> </a:t>
            </a:r>
            <a:r>
              <a:rPr lang="ru-RU" sz="2800" spc="47" dirty="0">
                <a:latin typeface="Symbol"/>
                <a:cs typeface="Symbol"/>
              </a:rPr>
              <a:t></a:t>
            </a:r>
            <a:r>
              <a:rPr sz="2546" spc="21" dirty="0">
                <a:latin typeface="Times New Roman"/>
                <a:cs typeface="Times New Roman"/>
              </a:rPr>
              <a:t> </a:t>
            </a:r>
            <a:r>
              <a:rPr sz="2546" spc="10" dirty="0">
                <a:latin typeface="Times New Roman"/>
                <a:cs typeface="Times New Roman"/>
              </a:rPr>
              <a:t>90</a:t>
            </a:r>
            <a:endParaRPr sz="2546" dirty="0">
              <a:latin typeface="Times New Roman"/>
              <a:cs typeface="Times New Roman"/>
            </a:endParaRPr>
          </a:p>
        </p:txBody>
      </p:sp>
      <p:sp>
        <p:nvSpPr>
          <p:cNvPr id="5" name="object 5"/>
          <p:cNvSpPr/>
          <p:nvPr/>
        </p:nvSpPr>
        <p:spPr>
          <a:xfrm>
            <a:off x="9817296" y="576012"/>
            <a:ext cx="1959729" cy="2619570"/>
          </a:xfrm>
          <a:prstGeom prst="rect">
            <a:avLst/>
          </a:prstGeom>
          <a:blipFill>
            <a:blip r:embed="rId2" cstate="print"/>
            <a:stretch>
              <a:fillRect/>
            </a:stretch>
          </a:blipFill>
        </p:spPr>
        <p:txBody>
          <a:bodyPr wrap="square" lIns="0" tIns="0" rIns="0" bIns="0" rtlCol="0"/>
          <a:lstStyle/>
          <a:p>
            <a:endParaRPr sz="2078"/>
          </a:p>
        </p:txBody>
      </p:sp>
      <p:sp>
        <p:nvSpPr>
          <p:cNvPr id="6" name="object 6"/>
          <p:cNvSpPr txBox="1"/>
          <p:nvPr/>
        </p:nvSpPr>
        <p:spPr>
          <a:xfrm>
            <a:off x="9487704" y="3308665"/>
            <a:ext cx="2618911" cy="588868"/>
          </a:xfrm>
          <a:prstGeom prst="rect">
            <a:avLst/>
          </a:prstGeom>
        </p:spPr>
        <p:txBody>
          <a:bodyPr vert="horz" wrap="square" lIns="0" tIns="13197" rIns="0" bIns="0" rtlCol="0">
            <a:spAutoFit/>
          </a:bodyPr>
          <a:lstStyle/>
          <a:p>
            <a:pPr marL="114150">
              <a:spcBef>
                <a:spcPts val="104"/>
              </a:spcBef>
            </a:pPr>
            <a:r>
              <a:rPr sz="1870" b="1" i="1" spc="-5" dirty="0">
                <a:latin typeface="Arial"/>
                <a:cs typeface="Arial"/>
              </a:rPr>
              <a:t>William Sealy</a:t>
            </a:r>
            <a:r>
              <a:rPr sz="1870" b="1" i="1" spc="-36" dirty="0">
                <a:latin typeface="Arial"/>
                <a:cs typeface="Arial"/>
              </a:rPr>
              <a:t> </a:t>
            </a:r>
            <a:r>
              <a:rPr sz="1870" b="1" i="1" spc="-5" dirty="0">
                <a:latin typeface="Arial"/>
                <a:cs typeface="Arial"/>
              </a:rPr>
              <a:t>Gosset</a:t>
            </a:r>
            <a:endParaRPr sz="1870" dirty="0">
              <a:latin typeface="Arial"/>
              <a:cs typeface="Arial"/>
            </a:endParaRPr>
          </a:p>
          <a:p>
            <a:pPr marL="13197"/>
            <a:r>
              <a:rPr sz="1870" i="1" spc="-5" dirty="0">
                <a:latin typeface="Arial"/>
                <a:cs typeface="Arial"/>
              </a:rPr>
              <a:t>(1876–1937) </a:t>
            </a:r>
            <a:r>
              <a:rPr sz="1870" i="1" dirty="0">
                <a:latin typeface="Arial"/>
                <a:cs typeface="Arial"/>
              </a:rPr>
              <a:t>=</a:t>
            </a:r>
            <a:r>
              <a:rPr sz="1870" i="1" spc="-26" dirty="0">
                <a:latin typeface="Arial"/>
                <a:cs typeface="Arial"/>
              </a:rPr>
              <a:t> </a:t>
            </a:r>
            <a:r>
              <a:rPr sz="1870" i="1" spc="-5" dirty="0">
                <a:latin typeface="Arial"/>
                <a:cs typeface="Arial"/>
              </a:rPr>
              <a:t>“Student”</a:t>
            </a:r>
            <a:endParaRPr sz="1870" dirty="0">
              <a:latin typeface="Arial"/>
              <a:cs typeface="Arial"/>
            </a:endParaRPr>
          </a:p>
        </p:txBody>
      </p:sp>
      <p:sp>
        <p:nvSpPr>
          <p:cNvPr id="10" name="object 8"/>
          <p:cNvSpPr/>
          <p:nvPr/>
        </p:nvSpPr>
        <p:spPr>
          <a:xfrm>
            <a:off x="6190109" y="4741930"/>
            <a:ext cx="4071316" cy="1647067"/>
          </a:xfrm>
          <a:prstGeom prst="rect">
            <a:avLst/>
          </a:prstGeom>
          <a:blipFill>
            <a:blip r:embed="rId3" cstate="print"/>
            <a:stretch>
              <a:fillRect/>
            </a:stretch>
          </a:blipFill>
        </p:spPr>
        <p:txBody>
          <a:bodyPr wrap="square" lIns="0" tIns="0" rIns="0" bIns="0" rtlCol="0"/>
          <a:lstStyle/>
          <a:p>
            <a:endParaRPr sz="2078"/>
          </a:p>
        </p:txBody>
      </p:sp>
      <p:sp>
        <p:nvSpPr>
          <p:cNvPr id="4" name="Номер слайда 3"/>
          <p:cNvSpPr>
            <a:spLocks noGrp="1"/>
          </p:cNvSpPr>
          <p:nvPr>
            <p:ph type="sldNum" sz="quarter" idx="7"/>
          </p:nvPr>
        </p:nvSpPr>
        <p:spPr/>
        <p:txBody>
          <a:bodyPr/>
          <a:lstStyle/>
          <a:p>
            <a:fld id="{B6F15528-21DE-4FAA-801E-634DDDAF4B2B}" type="slidenum">
              <a:rPr lang="ru-RU" smtClean="0">
                <a:solidFill>
                  <a:schemeClr val="tx1"/>
                </a:solidFill>
              </a:rPr>
              <a:t>95</a:t>
            </a:fld>
            <a:endParaRPr lang="ru-RU" dirty="0">
              <a:solidFill>
                <a:schemeClr val="tx1"/>
              </a:solidFill>
            </a:endParaRPr>
          </a:p>
        </p:txBody>
      </p:sp>
    </p:spTree>
    <p:extLst>
      <p:ext uri="{BB962C8B-B14F-4D97-AF65-F5344CB8AC3E}">
        <p14:creationId xmlns:p14="http://schemas.microsoft.com/office/powerpoint/2010/main" val="41128315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999" name="AutoShape 7"/>
          <p:cNvSpPr>
            <a:spLocks noChangeArrowheads="1"/>
          </p:cNvSpPr>
          <p:nvPr/>
        </p:nvSpPr>
        <p:spPr bwMode="auto">
          <a:xfrm>
            <a:off x="1649180" y="1906961"/>
            <a:ext cx="9329738" cy="1287463"/>
          </a:xfrm>
          <a:prstGeom prst="roundRect">
            <a:avLst>
              <a:gd name="adj" fmla="val 16667"/>
            </a:avLst>
          </a:prstGeom>
          <a:solidFill>
            <a:srgbClr val="464646">
              <a:alpha val="50000"/>
            </a:srgb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9441" tIns="49721" rIns="99441" bIns="49721" anchor="ctr"/>
          <a:lstStyle>
            <a:lvl1pPr marL="982663" defTabSz="993775">
              <a:defRPr>
                <a:solidFill>
                  <a:schemeClr val="tx1"/>
                </a:solidFill>
                <a:latin typeface="Arial" panose="020B0604020202020204" pitchFamily="34" charset="0"/>
              </a:defRPr>
            </a:lvl1pPr>
            <a:lvl2pPr marL="1177925" defTabSz="993775">
              <a:defRPr>
                <a:solidFill>
                  <a:schemeClr val="tx1"/>
                </a:solidFill>
                <a:latin typeface="Arial" panose="020B0604020202020204" pitchFamily="34" charset="0"/>
              </a:defRPr>
            </a:lvl2pPr>
            <a:lvl3pPr marL="1373188" defTabSz="993775">
              <a:defRPr>
                <a:solidFill>
                  <a:schemeClr val="tx1"/>
                </a:solidFill>
                <a:latin typeface="Arial" panose="020B0604020202020204" pitchFamily="34" charset="0"/>
              </a:defRPr>
            </a:lvl3pPr>
            <a:lvl4pPr marL="1566863" defTabSz="993775">
              <a:defRPr>
                <a:solidFill>
                  <a:schemeClr val="tx1"/>
                </a:solidFill>
                <a:latin typeface="Arial" panose="020B0604020202020204" pitchFamily="34" charset="0"/>
              </a:defRPr>
            </a:lvl4pPr>
            <a:lvl5pPr marL="1989138" defTabSz="993775">
              <a:defRPr>
                <a:solidFill>
                  <a:schemeClr val="tx1"/>
                </a:solidFill>
                <a:latin typeface="Arial" panose="020B0604020202020204" pitchFamily="34" charset="0"/>
              </a:defRPr>
            </a:lvl5pPr>
            <a:lvl6pPr marL="2446338" defTabSz="993775" fontAlgn="base">
              <a:spcBef>
                <a:spcPct val="0"/>
              </a:spcBef>
              <a:spcAft>
                <a:spcPct val="0"/>
              </a:spcAft>
              <a:defRPr>
                <a:solidFill>
                  <a:schemeClr val="tx1"/>
                </a:solidFill>
                <a:latin typeface="Arial" panose="020B0604020202020204" pitchFamily="34" charset="0"/>
              </a:defRPr>
            </a:lvl6pPr>
            <a:lvl7pPr marL="2903538" defTabSz="993775" fontAlgn="base">
              <a:spcBef>
                <a:spcPct val="0"/>
              </a:spcBef>
              <a:spcAft>
                <a:spcPct val="0"/>
              </a:spcAft>
              <a:defRPr>
                <a:solidFill>
                  <a:schemeClr val="tx1"/>
                </a:solidFill>
                <a:latin typeface="Arial" panose="020B0604020202020204" pitchFamily="34" charset="0"/>
              </a:defRPr>
            </a:lvl7pPr>
            <a:lvl8pPr marL="3360738" defTabSz="993775" fontAlgn="base">
              <a:spcBef>
                <a:spcPct val="0"/>
              </a:spcBef>
              <a:spcAft>
                <a:spcPct val="0"/>
              </a:spcAft>
              <a:defRPr>
                <a:solidFill>
                  <a:schemeClr val="tx1"/>
                </a:solidFill>
                <a:latin typeface="Arial" panose="020B0604020202020204" pitchFamily="34" charset="0"/>
              </a:defRPr>
            </a:lvl8pPr>
            <a:lvl9pPr marL="3817938" defTabSz="993775" fontAlgn="base">
              <a:spcBef>
                <a:spcPct val="0"/>
              </a:spcBef>
              <a:spcAft>
                <a:spcPct val="0"/>
              </a:spcAft>
              <a:defRPr>
                <a:solidFill>
                  <a:schemeClr val="tx1"/>
                </a:solidFill>
                <a:latin typeface="Arial" panose="020B0604020202020204" pitchFamily="34" charset="0"/>
              </a:defRPr>
            </a:lvl9pPr>
          </a:lstStyle>
          <a:p>
            <a:endParaRPr lang="ru-RU" altLang="ru-RU" sz="3500">
              <a:solidFill>
                <a:schemeClr val="bg1"/>
              </a:solidFill>
            </a:endParaRPr>
          </a:p>
        </p:txBody>
      </p:sp>
      <p:sp>
        <p:nvSpPr>
          <p:cNvPr id="213000" name="AutoShape 8"/>
          <p:cNvSpPr>
            <a:spLocks noChangeArrowheads="1"/>
          </p:cNvSpPr>
          <p:nvPr/>
        </p:nvSpPr>
        <p:spPr bwMode="auto">
          <a:xfrm>
            <a:off x="2006368" y="2129211"/>
            <a:ext cx="596900" cy="854075"/>
          </a:xfrm>
          <a:prstGeom prst="roundRect">
            <a:avLst>
              <a:gd name="adj" fmla="val 16667"/>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9441" tIns="49721" rIns="99441" bIns="49721" anchor="ctr"/>
          <a:lstStyle>
            <a:lvl1pPr defTabSz="993775">
              <a:defRPr>
                <a:solidFill>
                  <a:schemeClr val="tx1"/>
                </a:solidFill>
                <a:latin typeface="Arial" panose="020B0604020202020204" pitchFamily="34" charset="0"/>
              </a:defRPr>
            </a:lvl1pPr>
            <a:lvl2pPr marL="496888" defTabSz="993775">
              <a:defRPr>
                <a:solidFill>
                  <a:schemeClr val="tx1"/>
                </a:solidFill>
                <a:latin typeface="Arial" panose="020B0604020202020204" pitchFamily="34" charset="0"/>
              </a:defRPr>
            </a:lvl2pPr>
            <a:lvl3pPr marL="993775" defTabSz="993775">
              <a:defRPr>
                <a:solidFill>
                  <a:schemeClr val="tx1"/>
                </a:solidFill>
                <a:latin typeface="Arial" panose="020B0604020202020204" pitchFamily="34" charset="0"/>
              </a:defRPr>
            </a:lvl3pPr>
            <a:lvl4pPr marL="1492250" defTabSz="993775">
              <a:defRPr>
                <a:solidFill>
                  <a:schemeClr val="tx1"/>
                </a:solidFill>
                <a:latin typeface="Arial" panose="020B0604020202020204" pitchFamily="34" charset="0"/>
              </a:defRPr>
            </a:lvl4pPr>
            <a:lvl5pPr marL="1989138" defTabSz="993775">
              <a:defRPr>
                <a:solidFill>
                  <a:schemeClr val="tx1"/>
                </a:solidFill>
                <a:latin typeface="Arial" panose="020B0604020202020204" pitchFamily="34" charset="0"/>
              </a:defRPr>
            </a:lvl5pPr>
            <a:lvl6pPr marL="2446338" defTabSz="993775" fontAlgn="base">
              <a:spcBef>
                <a:spcPct val="0"/>
              </a:spcBef>
              <a:spcAft>
                <a:spcPct val="0"/>
              </a:spcAft>
              <a:defRPr>
                <a:solidFill>
                  <a:schemeClr val="tx1"/>
                </a:solidFill>
                <a:latin typeface="Arial" panose="020B0604020202020204" pitchFamily="34" charset="0"/>
              </a:defRPr>
            </a:lvl6pPr>
            <a:lvl7pPr marL="2903538" defTabSz="993775" fontAlgn="base">
              <a:spcBef>
                <a:spcPct val="0"/>
              </a:spcBef>
              <a:spcAft>
                <a:spcPct val="0"/>
              </a:spcAft>
              <a:defRPr>
                <a:solidFill>
                  <a:schemeClr val="tx1"/>
                </a:solidFill>
                <a:latin typeface="Arial" panose="020B0604020202020204" pitchFamily="34" charset="0"/>
              </a:defRPr>
            </a:lvl7pPr>
            <a:lvl8pPr marL="3360738" defTabSz="993775" fontAlgn="base">
              <a:spcBef>
                <a:spcPct val="0"/>
              </a:spcBef>
              <a:spcAft>
                <a:spcPct val="0"/>
              </a:spcAft>
              <a:defRPr>
                <a:solidFill>
                  <a:schemeClr val="tx1"/>
                </a:solidFill>
                <a:latin typeface="Arial" panose="020B0604020202020204" pitchFamily="34" charset="0"/>
              </a:defRPr>
            </a:lvl8pPr>
            <a:lvl9pPr marL="3817938" defTabSz="993775" fontAlgn="base">
              <a:spcBef>
                <a:spcPct val="0"/>
              </a:spcBef>
              <a:spcAft>
                <a:spcPct val="0"/>
              </a:spcAft>
              <a:defRPr>
                <a:solidFill>
                  <a:schemeClr val="tx1"/>
                </a:solidFill>
                <a:latin typeface="Arial" panose="020B0604020202020204" pitchFamily="34" charset="0"/>
              </a:defRPr>
            </a:lvl9pPr>
          </a:lstStyle>
          <a:p>
            <a:pPr algn="ctr"/>
            <a:r>
              <a:rPr lang="ru-RU" altLang="ru-RU" sz="3000" b="1" dirty="0">
                <a:solidFill>
                  <a:schemeClr val="bg1"/>
                </a:solidFill>
              </a:rPr>
              <a:t>3</a:t>
            </a:r>
          </a:p>
        </p:txBody>
      </p:sp>
      <p:sp>
        <p:nvSpPr>
          <p:cNvPr id="5" name="AutoShape 27"/>
          <p:cNvSpPr>
            <a:spLocks noChangeArrowheads="1"/>
          </p:cNvSpPr>
          <p:nvPr/>
        </p:nvSpPr>
        <p:spPr bwMode="auto">
          <a:xfrm>
            <a:off x="2949749" y="1928930"/>
            <a:ext cx="6680284" cy="1179704"/>
          </a:xfrm>
          <a:prstGeom prst="roundRect">
            <a:avLst>
              <a:gd name="adj" fmla="val 16667"/>
            </a:avLst>
          </a:prstGeom>
          <a:noFill/>
          <a:ln>
            <a:noFill/>
          </a:ln>
          <a:effectLst/>
          <a:extLst>
            <a:ext uri="{909E8E84-426E-40DD-AFC4-6F175D3DCCD1}">
              <a14:hiddenFill xmlns:a14="http://schemas.microsoft.com/office/drawing/2010/main">
                <a:solidFill>
                  <a:srgbClr val="464646">
                    <a:alpha val="50000"/>
                  </a:srgbClr>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9441" tIns="49721" rIns="99441" bIns="49721" anchor="ctr"/>
          <a:lstStyle>
            <a:lvl1pPr marL="982663" defTabSz="993775">
              <a:defRPr>
                <a:solidFill>
                  <a:schemeClr val="tx1"/>
                </a:solidFill>
                <a:latin typeface="Arial" panose="020B0604020202020204" pitchFamily="34" charset="0"/>
              </a:defRPr>
            </a:lvl1pPr>
            <a:lvl2pPr marL="1177925" defTabSz="993775">
              <a:defRPr>
                <a:solidFill>
                  <a:schemeClr val="tx1"/>
                </a:solidFill>
                <a:latin typeface="Arial" panose="020B0604020202020204" pitchFamily="34" charset="0"/>
              </a:defRPr>
            </a:lvl2pPr>
            <a:lvl3pPr marL="1373188" defTabSz="993775">
              <a:defRPr>
                <a:solidFill>
                  <a:schemeClr val="tx1"/>
                </a:solidFill>
                <a:latin typeface="Arial" panose="020B0604020202020204" pitchFamily="34" charset="0"/>
              </a:defRPr>
            </a:lvl3pPr>
            <a:lvl4pPr marL="1566863" defTabSz="993775">
              <a:defRPr>
                <a:solidFill>
                  <a:schemeClr val="tx1"/>
                </a:solidFill>
                <a:latin typeface="Arial" panose="020B0604020202020204" pitchFamily="34" charset="0"/>
              </a:defRPr>
            </a:lvl4pPr>
            <a:lvl5pPr marL="1989138" defTabSz="993775">
              <a:defRPr>
                <a:solidFill>
                  <a:schemeClr val="tx1"/>
                </a:solidFill>
                <a:latin typeface="Arial" panose="020B0604020202020204" pitchFamily="34" charset="0"/>
              </a:defRPr>
            </a:lvl5pPr>
            <a:lvl6pPr marL="2446338" defTabSz="993775" fontAlgn="base">
              <a:spcBef>
                <a:spcPct val="0"/>
              </a:spcBef>
              <a:spcAft>
                <a:spcPct val="0"/>
              </a:spcAft>
              <a:defRPr>
                <a:solidFill>
                  <a:schemeClr val="tx1"/>
                </a:solidFill>
                <a:latin typeface="Arial" panose="020B0604020202020204" pitchFamily="34" charset="0"/>
              </a:defRPr>
            </a:lvl6pPr>
            <a:lvl7pPr marL="2903538" defTabSz="993775" fontAlgn="base">
              <a:spcBef>
                <a:spcPct val="0"/>
              </a:spcBef>
              <a:spcAft>
                <a:spcPct val="0"/>
              </a:spcAft>
              <a:defRPr>
                <a:solidFill>
                  <a:schemeClr val="tx1"/>
                </a:solidFill>
                <a:latin typeface="Arial" panose="020B0604020202020204" pitchFamily="34" charset="0"/>
              </a:defRPr>
            </a:lvl7pPr>
            <a:lvl8pPr marL="3360738" defTabSz="993775" fontAlgn="base">
              <a:spcBef>
                <a:spcPct val="0"/>
              </a:spcBef>
              <a:spcAft>
                <a:spcPct val="0"/>
              </a:spcAft>
              <a:defRPr>
                <a:solidFill>
                  <a:schemeClr val="tx1"/>
                </a:solidFill>
                <a:latin typeface="Arial" panose="020B0604020202020204" pitchFamily="34" charset="0"/>
              </a:defRPr>
            </a:lvl8pPr>
            <a:lvl9pPr marL="3817938" defTabSz="993775" fontAlgn="base">
              <a:spcBef>
                <a:spcPct val="0"/>
              </a:spcBef>
              <a:spcAft>
                <a:spcPct val="0"/>
              </a:spcAft>
              <a:defRPr>
                <a:solidFill>
                  <a:schemeClr val="tx1"/>
                </a:solidFill>
                <a:latin typeface="Arial" panose="020B0604020202020204" pitchFamily="34" charset="0"/>
              </a:defRPr>
            </a:lvl9pPr>
          </a:lstStyle>
          <a:p>
            <a:pPr marL="0" algn="ctr"/>
            <a:r>
              <a:rPr lang="ru-RU" sz="4400" dirty="0">
                <a:solidFill>
                  <a:schemeClr val="bg1"/>
                </a:solidFill>
              </a:rPr>
              <a:t>Дополнительные условия </a:t>
            </a:r>
          </a:p>
          <a:p>
            <a:pPr marL="0" algn="ctr"/>
            <a:r>
              <a:rPr lang="ru-RU" sz="4400" dirty="0">
                <a:solidFill>
                  <a:schemeClr val="bg1"/>
                </a:solidFill>
              </a:rPr>
              <a:t>проверки гипотез</a:t>
            </a:r>
          </a:p>
        </p:txBody>
      </p:sp>
      <p:sp>
        <p:nvSpPr>
          <p:cNvPr id="7" name="AutoShape 7"/>
          <p:cNvSpPr>
            <a:spLocks noChangeArrowheads="1"/>
          </p:cNvSpPr>
          <p:nvPr/>
        </p:nvSpPr>
        <p:spPr bwMode="auto">
          <a:xfrm>
            <a:off x="2154378" y="3275113"/>
            <a:ext cx="8824541" cy="1193815"/>
          </a:xfrm>
          <a:prstGeom prst="roundRect">
            <a:avLst>
              <a:gd name="adj" fmla="val 16667"/>
            </a:avLst>
          </a:prstGeom>
          <a:solidFill>
            <a:srgbClr val="464646">
              <a:alpha val="50000"/>
            </a:srgb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9441" tIns="49721" rIns="99441" bIns="49721" anchor="ctr"/>
          <a:lstStyle>
            <a:lvl1pPr marL="982663" defTabSz="993775">
              <a:defRPr>
                <a:solidFill>
                  <a:schemeClr val="tx1"/>
                </a:solidFill>
                <a:latin typeface="Arial" panose="020B0604020202020204" pitchFamily="34" charset="0"/>
              </a:defRPr>
            </a:lvl1pPr>
            <a:lvl2pPr marL="1177925" defTabSz="993775">
              <a:defRPr>
                <a:solidFill>
                  <a:schemeClr val="tx1"/>
                </a:solidFill>
                <a:latin typeface="Arial" panose="020B0604020202020204" pitchFamily="34" charset="0"/>
              </a:defRPr>
            </a:lvl2pPr>
            <a:lvl3pPr marL="1373188" defTabSz="993775">
              <a:defRPr>
                <a:solidFill>
                  <a:schemeClr val="tx1"/>
                </a:solidFill>
                <a:latin typeface="Arial" panose="020B0604020202020204" pitchFamily="34" charset="0"/>
              </a:defRPr>
            </a:lvl3pPr>
            <a:lvl4pPr marL="1566863" defTabSz="993775">
              <a:defRPr>
                <a:solidFill>
                  <a:schemeClr val="tx1"/>
                </a:solidFill>
                <a:latin typeface="Arial" panose="020B0604020202020204" pitchFamily="34" charset="0"/>
              </a:defRPr>
            </a:lvl4pPr>
            <a:lvl5pPr marL="1989138" defTabSz="993775">
              <a:defRPr>
                <a:solidFill>
                  <a:schemeClr val="tx1"/>
                </a:solidFill>
                <a:latin typeface="Arial" panose="020B0604020202020204" pitchFamily="34" charset="0"/>
              </a:defRPr>
            </a:lvl5pPr>
            <a:lvl6pPr marL="2446338" defTabSz="993775" fontAlgn="base">
              <a:spcBef>
                <a:spcPct val="0"/>
              </a:spcBef>
              <a:spcAft>
                <a:spcPct val="0"/>
              </a:spcAft>
              <a:defRPr>
                <a:solidFill>
                  <a:schemeClr val="tx1"/>
                </a:solidFill>
                <a:latin typeface="Arial" panose="020B0604020202020204" pitchFamily="34" charset="0"/>
              </a:defRPr>
            </a:lvl6pPr>
            <a:lvl7pPr marL="2903538" defTabSz="993775" fontAlgn="base">
              <a:spcBef>
                <a:spcPct val="0"/>
              </a:spcBef>
              <a:spcAft>
                <a:spcPct val="0"/>
              </a:spcAft>
              <a:defRPr>
                <a:solidFill>
                  <a:schemeClr val="tx1"/>
                </a:solidFill>
                <a:latin typeface="Arial" panose="020B0604020202020204" pitchFamily="34" charset="0"/>
              </a:defRPr>
            </a:lvl7pPr>
            <a:lvl8pPr marL="3360738" defTabSz="993775" fontAlgn="base">
              <a:spcBef>
                <a:spcPct val="0"/>
              </a:spcBef>
              <a:spcAft>
                <a:spcPct val="0"/>
              </a:spcAft>
              <a:defRPr>
                <a:solidFill>
                  <a:schemeClr val="tx1"/>
                </a:solidFill>
                <a:latin typeface="Arial" panose="020B0604020202020204" pitchFamily="34" charset="0"/>
              </a:defRPr>
            </a:lvl8pPr>
            <a:lvl9pPr marL="3817938" defTabSz="993775" fontAlgn="base">
              <a:spcBef>
                <a:spcPct val="0"/>
              </a:spcBef>
              <a:spcAft>
                <a:spcPct val="0"/>
              </a:spcAft>
              <a:defRPr>
                <a:solidFill>
                  <a:schemeClr val="tx1"/>
                </a:solidFill>
                <a:latin typeface="Arial" panose="020B0604020202020204" pitchFamily="34" charset="0"/>
              </a:defRPr>
            </a:lvl9pPr>
          </a:lstStyle>
          <a:p>
            <a:endParaRPr lang="ru-RU" altLang="ru-RU" sz="3500">
              <a:solidFill>
                <a:schemeClr val="bg1"/>
              </a:solidFill>
            </a:endParaRPr>
          </a:p>
        </p:txBody>
      </p:sp>
      <p:sp>
        <p:nvSpPr>
          <p:cNvPr id="8" name="AutoShape 8"/>
          <p:cNvSpPr>
            <a:spLocks noChangeArrowheads="1"/>
          </p:cNvSpPr>
          <p:nvPr/>
        </p:nvSpPr>
        <p:spPr bwMode="auto">
          <a:xfrm>
            <a:off x="2511565" y="3497363"/>
            <a:ext cx="596900" cy="854075"/>
          </a:xfrm>
          <a:prstGeom prst="roundRect">
            <a:avLst>
              <a:gd name="adj" fmla="val 16667"/>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9441" tIns="49721" rIns="99441" bIns="49721" anchor="ctr"/>
          <a:lstStyle>
            <a:lvl1pPr defTabSz="993775">
              <a:defRPr>
                <a:solidFill>
                  <a:schemeClr val="tx1"/>
                </a:solidFill>
                <a:latin typeface="Arial" panose="020B0604020202020204" pitchFamily="34" charset="0"/>
              </a:defRPr>
            </a:lvl1pPr>
            <a:lvl2pPr marL="496888" defTabSz="993775">
              <a:defRPr>
                <a:solidFill>
                  <a:schemeClr val="tx1"/>
                </a:solidFill>
                <a:latin typeface="Arial" panose="020B0604020202020204" pitchFamily="34" charset="0"/>
              </a:defRPr>
            </a:lvl2pPr>
            <a:lvl3pPr marL="993775" defTabSz="993775">
              <a:defRPr>
                <a:solidFill>
                  <a:schemeClr val="tx1"/>
                </a:solidFill>
                <a:latin typeface="Arial" panose="020B0604020202020204" pitchFamily="34" charset="0"/>
              </a:defRPr>
            </a:lvl3pPr>
            <a:lvl4pPr marL="1492250" defTabSz="993775">
              <a:defRPr>
                <a:solidFill>
                  <a:schemeClr val="tx1"/>
                </a:solidFill>
                <a:latin typeface="Arial" panose="020B0604020202020204" pitchFamily="34" charset="0"/>
              </a:defRPr>
            </a:lvl4pPr>
            <a:lvl5pPr marL="1989138" defTabSz="993775">
              <a:defRPr>
                <a:solidFill>
                  <a:schemeClr val="tx1"/>
                </a:solidFill>
                <a:latin typeface="Arial" panose="020B0604020202020204" pitchFamily="34" charset="0"/>
              </a:defRPr>
            </a:lvl5pPr>
            <a:lvl6pPr marL="2446338" defTabSz="993775" fontAlgn="base">
              <a:spcBef>
                <a:spcPct val="0"/>
              </a:spcBef>
              <a:spcAft>
                <a:spcPct val="0"/>
              </a:spcAft>
              <a:defRPr>
                <a:solidFill>
                  <a:schemeClr val="tx1"/>
                </a:solidFill>
                <a:latin typeface="Arial" panose="020B0604020202020204" pitchFamily="34" charset="0"/>
              </a:defRPr>
            </a:lvl6pPr>
            <a:lvl7pPr marL="2903538" defTabSz="993775" fontAlgn="base">
              <a:spcBef>
                <a:spcPct val="0"/>
              </a:spcBef>
              <a:spcAft>
                <a:spcPct val="0"/>
              </a:spcAft>
              <a:defRPr>
                <a:solidFill>
                  <a:schemeClr val="tx1"/>
                </a:solidFill>
                <a:latin typeface="Arial" panose="020B0604020202020204" pitchFamily="34" charset="0"/>
              </a:defRPr>
            </a:lvl7pPr>
            <a:lvl8pPr marL="3360738" defTabSz="993775" fontAlgn="base">
              <a:spcBef>
                <a:spcPct val="0"/>
              </a:spcBef>
              <a:spcAft>
                <a:spcPct val="0"/>
              </a:spcAft>
              <a:defRPr>
                <a:solidFill>
                  <a:schemeClr val="tx1"/>
                </a:solidFill>
                <a:latin typeface="Arial" panose="020B0604020202020204" pitchFamily="34" charset="0"/>
              </a:defRPr>
            </a:lvl8pPr>
            <a:lvl9pPr marL="3817938" defTabSz="993775" fontAlgn="base">
              <a:spcBef>
                <a:spcPct val="0"/>
              </a:spcBef>
              <a:spcAft>
                <a:spcPct val="0"/>
              </a:spcAft>
              <a:defRPr>
                <a:solidFill>
                  <a:schemeClr val="tx1"/>
                </a:solidFill>
                <a:latin typeface="Arial" panose="020B0604020202020204" pitchFamily="34" charset="0"/>
              </a:defRPr>
            </a:lvl9pPr>
          </a:lstStyle>
          <a:p>
            <a:pPr algn="ctr"/>
            <a:r>
              <a:rPr lang="ru-RU" altLang="ru-RU" sz="3000" b="1" dirty="0">
                <a:solidFill>
                  <a:schemeClr val="bg1"/>
                </a:solidFill>
              </a:rPr>
              <a:t>3</a:t>
            </a:r>
            <a:r>
              <a:rPr lang="en-US" altLang="ru-RU" sz="3000" b="1" dirty="0">
                <a:solidFill>
                  <a:schemeClr val="bg1"/>
                </a:solidFill>
              </a:rPr>
              <a:t>.</a:t>
            </a:r>
            <a:r>
              <a:rPr lang="ru-RU" altLang="ru-RU" sz="3000" b="1" dirty="0">
                <a:solidFill>
                  <a:schemeClr val="bg1"/>
                </a:solidFill>
              </a:rPr>
              <a:t>1</a:t>
            </a:r>
          </a:p>
        </p:txBody>
      </p:sp>
      <p:sp>
        <p:nvSpPr>
          <p:cNvPr id="9" name="AutoShape 27"/>
          <p:cNvSpPr>
            <a:spLocks noChangeArrowheads="1"/>
          </p:cNvSpPr>
          <p:nvPr/>
        </p:nvSpPr>
        <p:spPr bwMode="auto">
          <a:xfrm>
            <a:off x="3378033" y="3415716"/>
            <a:ext cx="6252000" cy="957454"/>
          </a:xfrm>
          <a:prstGeom prst="roundRect">
            <a:avLst>
              <a:gd name="adj" fmla="val 16667"/>
            </a:avLst>
          </a:prstGeom>
          <a:noFill/>
          <a:ln>
            <a:noFill/>
          </a:ln>
          <a:effectLst/>
          <a:extLst>
            <a:ext uri="{909E8E84-426E-40DD-AFC4-6F175D3DCCD1}">
              <a14:hiddenFill xmlns:a14="http://schemas.microsoft.com/office/drawing/2010/main">
                <a:solidFill>
                  <a:srgbClr val="464646">
                    <a:alpha val="50000"/>
                  </a:srgbClr>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9441" tIns="49721" rIns="99441" bIns="49721" anchor="ctr"/>
          <a:lstStyle>
            <a:lvl1pPr marL="982663" defTabSz="993775">
              <a:defRPr>
                <a:solidFill>
                  <a:schemeClr val="tx1"/>
                </a:solidFill>
                <a:latin typeface="Arial" panose="020B0604020202020204" pitchFamily="34" charset="0"/>
              </a:defRPr>
            </a:lvl1pPr>
            <a:lvl2pPr marL="1177925" defTabSz="993775">
              <a:defRPr>
                <a:solidFill>
                  <a:schemeClr val="tx1"/>
                </a:solidFill>
                <a:latin typeface="Arial" panose="020B0604020202020204" pitchFamily="34" charset="0"/>
              </a:defRPr>
            </a:lvl2pPr>
            <a:lvl3pPr marL="1373188" defTabSz="993775">
              <a:defRPr>
                <a:solidFill>
                  <a:schemeClr val="tx1"/>
                </a:solidFill>
                <a:latin typeface="Arial" panose="020B0604020202020204" pitchFamily="34" charset="0"/>
              </a:defRPr>
            </a:lvl3pPr>
            <a:lvl4pPr marL="1566863" defTabSz="993775">
              <a:defRPr>
                <a:solidFill>
                  <a:schemeClr val="tx1"/>
                </a:solidFill>
                <a:latin typeface="Arial" panose="020B0604020202020204" pitchFamily="34" charset="0"/>
              </a:defRPr>
            </a:lvl4pPr>
            <a:lvl5pPr marL="1989138" defTabSz="993775">
              <a:defRPr>
                <a:solidFill>
                  <a:schemeClr val="tx1"/>
                </a:solidFill>
                <a:latin typeface="Arial" panose="020B0604020202020204" pitchFamily="34" charset="0"/>
              </a:defRPr>
            </a:lvl5pPr>
            <a:lvl6pPr marL="2446338" defTabSz="993775" fontAlgn="base">
              <a:spcBef>
                <a:spcPct val="0"/>
              </a:spcBef>
              <a:spcAft>
                <a:spcPct val="0"/>
              </a:spcAft>
              <a:defRPr>
                <a:solidFill>
                  <a:schemeClr val="tx1"/>
                </a:solidFill>
                <a:latin typeface="Arial" panose="020B0604020202020204" pitchFamily="34" charset="0"/>
              </a:defRPr>
            </a:lvl6pPr>
            <a:lvl7pPr marL="2903538" defTabSz="993775" fontAlgn="base">
              <a:spcBef>
                <a:spcPct val="0"/>
              </a:spcBef>
              <a:spcAft>
                <a:spcPct val="0"/>
              </a:spcAft>
              <a:defRPr>
                <a:solidFill>
                  <a:schemeClr val="tx1"/>
                </a:solidFill>
                <a:latin typeface="Arial" panose="020B0604020202020204" pitchFamily="34" charset="0"/>
              </a:defRPr>
            </a:lvl7pPr>
            <a:lvl8pPr marL="3360738" defTabSz="993775" fontAlgn="base">
              <a:spcBef>
                <a:spcPct val="0"/>
              </a:spcBef>
              <a:spcAft>
                <a:spcPct val="0"/>
              </a:spcAft>
              <a:defRPr>
                <a:solidFill>
                  <a:schemeClr val="tx1"/>
                </a:solidFill>
                <a:latin typeface="Arial" panose="020B0604020202020204" pitchFamily="34" charset="0"/>
              </a:defRPr>
            </a:lvl8pPr>
            <a:lvl9pPr marL="3817938" defTabSz="993775" fontAlgn="base">
              <a:spcBef>
                <a:spcPct val="0"/>
              </a:spcBef>
              <a:spcAft>
                <a:spcPct val="0"/>
              </a:spcAft>
              <a:defRPr>
                <a:solidFill>
                  <a:schemeClr val="tx1"/>
                </a:solidFill>
                <a:latin typeface="Arial" panose="020B0604020202020204" pitchFamily="34" charset="0"/>
              </a:defRPr>
            </a:lvl9pPr>
          </a:lstStyle>
          <a:p>
            <a:pPr marL="0"/>
            <a:r>
              <a:rPr lang="ru-RU" sz="3600" dirty="0">
                <a:solidFill>
                  <a:schemeClr val="bg1"/>
                </a:solidFill>
              </a:rPr>
              <a:t>Гипотеза о нормальности </a:t>
            </a:r>
          </a:p>
          <a:p>
            <a:pPr marL="0"/>
            <a:r>
              <a:rPr lang="ru-RU" sz="3600" dirty="0">
                <a:solidFill>
                  <a:schemeClr val="bg1"/>
                </a:solidFill>
              </a:rPr>
              <a:t>распределения</a:t>
            </a:r>
          </a:p>
        </p:txBody>
      </p:sp>
      <p:sp>
        <p:nvSpPr>
          <p:cNvPr id="10" name="AutoShape 7"/>
          <p:cNvSpPr>
            <a:spLocks noChangeArrowheads="1"/>
          </p:cNvSpPr>
          <p:nvPr/>
        </p:nvSpPr>
        <p:spPr bwMode="auto">
          <a:xfrm>
            <a:off x="2154378" y="4571257"/>
            <a:ext cx="8824541" cy="965199"/>
          </a:xfrm>
          <a:prstGeom prst="roundRect">
            <a:avLst>
              <a:gd name="adj" fmla="val 16667"/>
            </a:avLst>
          </a:prstGeom>
          <a:solidFill>
            <a:srgbClr val="464646">
              <a:alpha val="50000"/>
            </a:srgb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9441" tIns="49721" rIns="99441" bIns="49721" anchor="ctr"/>
          <a:lstStyle>
            <a:lvl1pPr marL="982663" defTabSz="993775">
              <a:defRPr>
                <a:solidFill>
                  <a:schemeClr val="tx1"/>
                </a:solidFill>
                <a:latin typeface="Arial" panose="020B0604020202020204" pitchFamily="34" charset="0"/>
              </a:defRPr>
            </a:lvl1pPr>
            <a:lvl2pPr marL="1177925" defTabSz="993775">
              <a:defRPr>
                <a:solidFill>
                  <a:schemeClr val="tx1"/>
                </a:solidFill>
                <a:latin typeface="Arial" panose="020B0604020202020204" pitchFamily="34" charset="0"/>
              </a:defRPr>
            </a:lvl2pPr>
            <a:lvl3pPr marL="1373188" defTabSz="993775">
              <a:defRPr>
                <a:solidFill>
                  <a:schemeClr val="tx1"/>
                </a:solidFill>
                <a:latin typeface="Arial" panose="020B0604020202020204" pitchFamily="34" charset="0"/>
              </a:defRPr>
            </a:lvl3pPr>
            <a:lvl4pPr marL="1566863" defTabSz="993775">
              <a:defRPr>
                <a:solidFill>
                  <a:schemeClr val="tx1"/>
                </a:solidFill>
                <a:latin typeface="Arial" panose="020B0604020202020204" pitchFamily="34" charset="0"/>
              </a:defRPr>
            </a:lvl4pPr>
            <a:lvl5pPr marL="1989138" defTabSz="993775">
              <a:defRPr>
                <a:solidFill>
                  <a:schemeClr val="tx1"/>
                </a:solidFill>
                <a:latin typeface="Arial" panose="020B0604020202020204" pitchFamily="34" charset="0"/>
              </a:defRPr>
            </a:lvl5pPr>
            <a:lvl6pPr marL="2446338" defTabSz="993775" fontAlgn="base">
              <a:spcBef>
                <a:spcPct val="0"/>
              </a:spcBef>
              <a:spcAft>
                <a:spcPct val="0"/>
              </a:spcAft>
              <a:defRPr>
                <a:solidFill>
                  <a:schemeClr val="tx1"/>
                </a:solidFill>
                <a:latin typeface="Arial" panose="020B0604020202020204" pitchFamily="34" charset="0"/>
              </a:defRPr>
            </a:lvl6pPr>
            <a:lvl7pPr marL="2903538" defTabSz="993775" fontAlgn="base">
              <a:spcBef>
                <a:spcPct val="0"/>
              </a:spcBef>
              <a:spcAft>
                <a:spcPct val="0"/>
              </a:spcAft>
              <a:defRPr>
                <a:solidFill>
                  <a:schemeClr val="tx1"/>
                </a:solidFill>
                <a:latin typeface="Arial" panose="020B0604020202020204" pitchFamily="34" charset="0"/>
              </a:defRPr>
            </a:lvl7pPr>
            <a:lvl8pPr marL="3360738" defTabSz="993775" fontAlgn="base">
              <a:spcBef>
                <a:spcPct val="0"/>
              </a:spcBef>
              <a:spcAft>
                <a:spcPct val="0"/>
              </a:spcAft>
              <a:defRPr>
                <a:solidFill>
                  <a:schemeClr val="tx1"/>
                </a:solidFill>
                <a:latin typeface="Arial" panose="020B0604020202020204" pitchFamily="34" charset="0"/>
              </a:defRPr>
            </a:lvl8pPr>
            <a:lvl9pPr marL="3817938" defTabSz="993775" fontAlgn="base">
              <a:spcBef>
                <a:spcPct val="0"/>
              </a:spcBef>
              <a:spcAft>
                <a:spcPct val="0"/>
              </a:spcAft>
              <a:defRPr>
                <a:solidFill>
                  <a:schemeClr val="tx1"/>
                </a:solidFill>
                <a:latin typeface="Arial" panose="020B0604020202020204" pitchFamily="34" charset="0"/>
              </a:defRPr>
            </a:lvl9pPr>
          </a:lstStyle>
          <a:p>
            <a:endParaRPr lang="ru-RU" altLang="ru-RU" sz="3500">
              <a:solidFill>
                <a:schemeClr val="bg1"/>
              </a:solidFill>
            </a:endParaRPr>
          </a:p>
        </p:txBody>
      </p:sp>
      <p:sp>
        <p:nvSpPr>
          <p:cNvPr id="11" name="AutoShape 8"/>
          <p:cNvSpPr>
            <a:spLocks noChangeArrowheads="1"/>
          </p:cNvSpPr>
          <p:nvPr/>
        </p:nvSpPr>
        <p:spPr bwMode="auto">
          <a:xfrm>
            <a:off x="2509697" y="4630889"/>
            <a:ext cx="596900" cy="854075"/>
          </a:xfrm>
          <a:prstGeom prst="roundRect">
            <a:avLst>
              <a:gd name="adj" fmla="val 16667"/>
            </a:avLst>
          </a:prstGeom>
          <a:solidFill>
            <a:schemeClr val="accent1"/>
          </a:solidFill>
          <a:ln w="2857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9441" tIns="49721" rIns="99441" bIns="49721" anchor="ctr"/>
          <a:lstStyle>
            <a:lvl1pPr defTabSz="993775">
              <a:defRPr>
                <a:solidFill>
                  <a:schemeClr val="tx1"/>
                </a:solidFill>
                <a:latin typeface="Arial" panose="020B0604020202020204" pitchFamily="34" charset="0"/>
              </a:defRPr>
            </a:lvl1pPr>
            <a:lvl2pPr marL="496888" defTabSz="993775">
              <a:defRPr>
                <a:solidFill>
                  <a:schemeClr val="tx1"/>
                </a:solidFill>
                <a:latin typeface="Arial" panose="020B0604020202020204" pitchFamily="34" charset="0"/>
              </a:defRPr>
            </a:lvl2pPr>
            <a:lvl3pPr marL="993775" defTabSz="993775">
              <a:defRPr>
                <a:solidFill>
                  <a:schemeClr val="tx1"/>
                </a:solidFill>
                <a:latin typeface="Arial" panose="020B0604020202020204" pitchFamily="34" charset="0"/>
              </a:defRPr>
            </a:lvl3pPr>
            <a:lvl4pPr marL="1492250" defTabSz="993775">
              <a:defRPr>
                <a:solidFill>
                  <a:schemeClr val="tx1"/>
                </a:solidFill>
                <a:latin typeface="Arial" panose="020B0604020202020204" pitchFamily="34" charset="0"/>
              </a:defRPr>
            </a:lvl4pPr>
            <a:lvl5pPr marL="1989138" defTabSz="993775">
              <a:defRPr>
                <a:solidFill>
                  <a:schemeClr val="tx1"/>
                </a:solidFill>
                <a:latin typeface="Arial" panose="020B0604020202020204" pitchFamily="34" charset="0"/>
              </a:defRPr>
            </a:lvl5pPr>
            <a:lvl6pPr marL="2446338" defTabSz="993775" fontAlgn="base">
              <a:spcBef>
                <a:spcPct val="0"/>
              </a:spcBef>
              <a:spcAft>
                <a:spcPct val="0"/>
              </a:spcAft>
              <a:defRPr>
                <a:solidFill>
                  <a:schemeClr val="tx1"/>
                </a:solidFill>
                <a:latin typeface="Arial" panose="020B0604020202020204" pitchFamily="34" charset="0"/>
              </a:defRPr>
            </a:lvl6pPr>
            <a:lvl7pPr marL="2903538" defTabSz="993775" fontAlgn="base">
              <a:spcBef>
                <a:spcPct val="0"/>
              </a:spcBef>
              <a:spcAft>
                <a:spcPct val="0"/>
              </a:spcAft>
              <a:defRPr>
                <a:solidFill>
                  <a:schemeClr val="tx1"/>
                </a:solidFill>
                <a:latin typeface="Arial" panose="020B0604020202020204" pitchFamily="34" charset="0"/>
              </a:defRPr>
            </a:lvl7pPr>
            <a:lvl8pPr marL="3360738" defTabSz="993775" fontAlgn="base">
              <a:spcBef>
                <a:spcPct val="0"/>
              </a:spcBef>
              <a:spcAft>
                <a:spcPct val="0"/>
              </a:spcAft>
              <a:defRPr>
                <a:solidFill>
                  <a:schemeClr val="tx1"/>
                </a:solidFill>
                <a:latin typeface="Arial" panose="020B0604020202020204" pitchFamily="34" charset="0"/>
              </a:defRPr>
            </a:lvl8pPr>
            <a:lvl9pPr marL="3817938" defTabSz="993775" fontAlgn="base">
              <a:spcBef>
                <a:spcPct val="0"/>
              </a:spcBef>
              <a:spcAft>
                <a:spcPct val="0"/>
              </a:spcAft>
              <a:defRPr>
                <a:solidFill>
                  <a:schemeClr val="tx1"/>
                </a:solidFill>
                <a:latin typeface="Arial" panose="020B0604020202020204" pitchFamily="34" charset="0"/>
              </a:defRPr>
            </a:lvl9pPr>
          </a:lstStyle>
          <a:p>
            <a:pPr algn="ctr"/>
            <a:r>
              <a:rPr lang="ru-RU" altLang="ru-RU" sz="3000" b="1" dirty="0">
                <a:solidFill>
                  <a:schemeClr val="bg1"/>
                </a:solidFill>
              </a:rPr>
              <a:t>3</a:t>
            </a:r>
            <a:r>
              <a:rPr lang="en-US" altLang="ru-RU" sz="3000" b="1" dirty="0">
                <a:solidFill>
                  <a:schemeClr val="bg1"/>
                </a:solidFill>
              </a:rPr>
              <a:t>.</a:t>
            </a:r>
            <a:r>
              <a:rPr lang="ru-RU" altLang="ru-RU" sz="3000" b="1" dirty="0">
                <a:solidFill>
                  <a:schemeClr val="bg1"/>
                </a:solidFill>
              </a:rPr>
              <a:t>2</a:t>
            </a:r>
          </a:p>
        </p:txBody>
      </p:sp>
      <p:sp>
        <p:nvSpPr>
          <p:cNvPr id="12" name="AutoShape 27"/>
          <p:cNvSpPr>
            <a:spLocks noChangeArrowheads="1"/>
          </p:cNvSpPr>
          <p:nvPr/>
        </p:nvSpPr>
        <p:spPr bwMode="auto">
          <a:xfrm>
            <a:off x="3682525" y="4571256"/>
            <a:ext cx="6680284" cy="851720"/>
          </a:xfrm>
          <a:prstGeom prst="roundRect">
            <a:avLst>
              <a:gd name="adj" fmla="val 16667"/>
            </a:avLst>
          </a:prstGeom>
          <a:noFill/>
          <a:ln>
            <a:noFill/>
          </a:ln>
          <a:effectLst/>
          <a:extLst>
            <a:ext uri="{909E8E84-426E-40DD-AFC4-6F175D3DCCD1}">
              <a14:hiddenFill xmlns:a14="http://schemas.microsoft.com/office/drawing/2010/main">
                <a:solidFill>
                  <a:srgbClr val="464646">
                    <a:alpha val="50000"/>
                  </a:srgbClr>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9441" tIns="49721" rIns="99441" bIns="49721" anchor="ctr"/>
          <a:lstStyle>
            <a:lvl1pPr marL="982663" defTabSz="993775">
              <a:defRPr>
                <a:solidFill>
                  <a:schemeClr val="tx1"/>
                </a:solidFill>
                <a:latin typeface="Arial" panose="020B0604020202020204" pitchFamily="34" charset="0"/>
              </a:defRPr>
            </a:lvl1pPr>
            <a:lvl2pPr marL="1177925" defTabSz="993775">
              <a:defRPr>
                <a:solidFill>
                  <a:schemeClr val="tx1"/>
                </a:solidFill>
                <a:latin typeface="Arial" panose="020B0604020202020204" pitchFamily="34" charset="0"/>
              </a:defRPr>
            </a:lvl2pPr>
            <a:lvl3pPr marL="1373188" defTabSz="993775">
              <a:defRPr>
                <a:solidFill>
                  <a:schemeClr val="tx1"/>
                </a:solidFill>
                <a:latin typeface="Arial" panose="020B0604020202020204" pitchFamily="34" charset="0"/>
              </a:defRPr>
            </a:lvl3pPr>
            <a:lvl4pPr marL="1566863" defTabSz="993775">
              <a:defRPr>
                <a:solidFill>
                  <a:schemeClr val="tx1"/>
                </a:solidFill>
                <a:latin typeface="Arial" panose="020B0604020202020204" pitchFamily="34" charset="0"/>
              </a:defRPr>
            </a:lvl4pPr>
            <a:lvl5pPr marL="1989138" defTabSz="993775">
              <a:defRPr>
                <a:solidFill>
                  <a:schemeClr val="tx1"/>
                </a:solidFill>
                <a:latin typeface="Arial" panose="020B0604020202020204" pitchFamily="34" charset="0"/>
              </a:defRPr>
            </a:lvl5pPr>
            <a:lvl6pPr marL="2446338" defTabSz="993775" fontAlgn="base">
              <a:spcBef>
                <a:spcPct val="0"/>
              </a:spcBef>
              <a:spcAft>
                <a:spcPct val="0"/>
              </a:spcAft>
              <a:defRPr>
                <a:solidFill>
                  <a:schemeClr val="tx1"/>
                </a:solidFill>
                <a:latin typeface="Arial" panose="020B0604020202020204" pitchFamily="34" charset="0"/>
              </a:defRPr>
            </a:lvl6pPr>
            <a:lvl7pPr marL="2903538" defTabSz="993775" fontAlgn="base">
              <a:spcBef>
                <a:spcPct val="0"/>
              </a:spcBef>
              <a:spcAft>
                <a:spcPct val="0"/>
              </a:spcAft>
              <a:defRPr>
                <a:solidFill>
                  <a:schemeClr val="tx1"/>
                </a:solidFill>
                <a:latin typeface="Arial" panose="020B0604020202020204" pitchFamily="34" charset="0"/>
              </a:defRPr>
            </a:lvl7pPr>
            <a:lvl8pPr marL="3360738" defTabSz="993775" fontAlgn="base">
              <a:spcBef>
                <a:spcPct val="0"/>
              </a:spcBef>
              <a:spcAft>
                <a:spcPct val="0"/>
              </a:spcAft>
              <a:defRPr>
                <a:solidFill>
                  <a:schemeClr val="tx1"/>
                </a:solidFill>
                <a:latin typeface="Arial" panose="020B0604020202020204" pitchFamily="34" charset="0"/>
              </a:defRPr>
            </a:lvl8pPr>
            <a:lvl9pPr marL="3817938" defTabSz="993775" fontAlgn="base">
              <a:spcBef>
                <a:spcPct val="0"/>
              </a:spcBef>
              <a:spcAft>
                <a:spcPct val="0"/>
              </a:spcAft>
              <a:defRPr>
                <a:solidFill>
                  <a:schemeClr val="tx1"/>
                </a:solidFill>
                <a:latin typeface="Arial" panose="020B0604020202020204" pitchFamily="34" charset="0"/>
              </a:defRPr>
            </a:lvl9pPr>
          </a:lstStyle>
          <a:p>
            <a:pPr marL="0" algn="ctr"/>
            <a:r>
              <a:rPr lang="ru-RU" sz="3600" dirty="0">
                <a:solidFill>
                  <a:schemeClr val="bg1"/>
                </a:solidFill>
              </a:rPr>
              <a:t>Парные и независимые выборки</a:t>
            </a:r>
          </a:p>
        </p:txBody>
      </p:sp>
      <p:sp>
        <p:nvSpPr>
          <p:cNvPr id="13" name="AutoShape 7"/>
          <p:cNvSpPr>
            <a:spLocks noChangeArrowheads="1"/>
          </p:cNvSpPr>
          <p:nvPr/>
        </p:nvSpPr>
        <p:spPr bwMode="auto">
          <a:xfrm>
            <a:off x="2155756" y="5694290"/>
            <a:ext cx="8824541" cy="965199"/>
          </a:xfrm>
          <a:prstGeom prst="roundRect">
            <a:avLst>
              <a:gd name="adj" fmla="val 16667"/>
            </a:avLst>
          </a:prstGeom>
          <a:solidFill>
            <a:srgbClr val="464646">
              <a:alpha val="50000"/>
            </a:srgb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9441" tIns="49721" rIns="99441" bIns="49721" anchor="ctr"/>
          <a:lstStyle>
            <a:lvl1pPr marL="982663" defTabSz="993775">
              <a:defRPr>
                <a:solidFill>
                  <a:schemeClr val="tx1"/>
                </a:solidFill>
                <a:latin typeface="Arial" panose="020B0604020202020204" pitchFamily="34" charset="0"/>
              </a:defRPr>
            </a:lvl1pPr>
            <a:lvl2pPr marL="1177925" defTabSz="993775">
              <a:defRPr>
                <a:solidFill>
                  <a:schemeClr val="tx1"/>
                </a:solidFill>
                <a:latin typeface="Arial" panose="020B0604020202020204" pitchFamily="34" charset="0"/>
              </a:defRPr>
            </a:lvl2pPr>
            <a:lvl3pPr marL="1373188" defTabSz="993775">
              <a:defRPr>
                <a:solidFill>
                  <a:schemeClr val="tx1"/>
                </a:solidFill>
                <a:latin typeface="Arial" panose="020B0604020202020204" pitchFamily="34" charset="0"/>
              </a:defRPr>
            </a:lvl3pPr>
            <a:lvl4pPr marL="1566863" defTabSz="993775">
              <a:defRPr>
                <a:solidFill>
                  <a:schemeClr val="tx1"/>
                </a:solidFill>
                <a:latin typeface="Arial" panose="020B0604020202020204" pitchFamily="34" charset="0"/>
              </a:defRPr>
            </a:lvl4pPr>
            <a:lvl5pPr marL="1989138" defTabSz="993775">
              <a:defRPr>
                <a:solidFill>
                  <a:schemeClr val="tx1"/>
                </a:solidFill>
                <a:latin typeface="Arial" panose="020B0604020202020204" pitchFamily="34" charset="0"/>
              </a:defRPr>
            </a:lvl5pPr>
            <a:lvl6pPr marL="2446338" defTabSz="993775" fontAlgn="base">
              <a:spcBef>
                <a:spcPct val="0"/>
              </a:spcBef>
              <a:spcAft>
                <a:spcPct val="0"/>
              </a:spcAft>
              <a:defRPr>
                <a:solidFill>
                  <a:schemeClr val="tx1"/>
                </a:solidFill>
                <a:latin typeface="Arial" panose="020B0604020202020204" pitchFamily="34" charset="0"/>
              </a:defRPr>
            </a:lvl6pPr>
            <a:lvl7pPr marL="2903538" defTabSz="993775" fontAlgn="base">
              <a:spcBef>
                <a:spcPct val="0"/>
              </a:spcBef>
              <a:spcAft>
                <a:spcPct val="0"/>
              </a:spcAft>
              <a:defRPr>
                <a:solidFill>
                  <a:schemeClr val="tx1"/>
                </a:solidFill>
                <a:latin typeface="Arial" panose="020B0604020202020204" pitchFamily="34" charset="0"/>
              </a:defRPr>
            </a:lvl7pPr>
            <a:lvl8pPr marL="3360738" defTabSz="993775" fontAlgn="base">
              <a:spcBef>
                <a:spcPct val="0"/>
              </a:spcBef>
              <a:spcAft>
                <a:spcPct val="0"/>
              </a:spcAft>
              <a:defRPr>
                <a:solidFill>
                  <a:schemeClr val="tx1"/>
                </a:solidFill>
                <a:latin typeface="Arial" panose="020B0604020202020204" pitchFamily="34" charset="0"/>
              </a:defRPr>
            </a:lvl8pPr>
            <a:lvl9pPr marL="3817938" defTabSz="993775" fontAlgn="base">
              <a:spcBef>
                <a:spcPct val="0"/>
              </a:spcBef>
              <a:spcAft>
                <a:spcPct val="0"/>
              </a:spcAft>
              <a:defRPr>
                <a:solidFill>
                  <a:schemeClr val="tx1"/>
                </a:solidFill>
                <a:latin typeface="Arial" panose="020B0604020202020204" pitchFamily="34" charset="0"/>
              </a:defRPr>
            </a:lvl9pPr>
          </a:lstStyle>
          <a:p>
            <a:endParaRPr lang="ru-RU" altLang="ru-RU" sz="3500">
              <a:solidFill>
                <a:schemeClr val="bg1"/>
              </a:solidFill>
            </a:endParaRPr>
          </a:p>
        </p:txBody>
      </p:sp>
      <p:sp>
        <p:nvSpPr>
          <p:cNvPr id="14" name="AutoShape 8"/>
          <p:cNvSpPr>
            <a:spLocks noChangeArrowheads="1"/>
          </p:cNvSpPr>
          <p:nvPr/>
        </p:nvSpPr>
        <p:spPr bwMode="auto">
          <a:xfrm>
            <a:off x="2511075" y="5753922"/>
            <a:ext cx="596900" cy="854075"/>
          </a:xfrm>
          <a:prstGeom prst="roundRect">
            <a:avLst>
              <a:gd name="adj" fmla="val 16667"/>
            </a:avLst>
          </a:prstGeom>
          <a:solidFill>
            <a:schemeClr val="accent1"/>
          </a:solidFill>
          <a:ln w="28575">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9441" tIns="49721" rIns="99441" bIns="49721" anchor="ctr"/>
          <a:lstStyle>
            <a:lvl1pPr defTabSz="993775">
              <a:defRPr>
                <a:solidFill>
                  <a:schemeClr val="tx1"/>
                </a:solidFill>
                <a:latin typeface="Arial" panose="020B0604020202020204" pitchFamily="34" charset="0"/>
              </a:defRPr>
            </a:lvl1pPr>
            <a:lvl2pPr marL="496888" defTabSz="993775">
              <a:defRPr>
                <a:solidFill>
                  <a:schemeClr val="tx1"/>
                </a:solidFill>
                <a:latin typeface="Arial" panose="020B0604020202020204" pitchFamily="34" charset="0"/>
              </a:defRPr>
            </a:lvl2pPr>
            <a:lvl3pPr marL="993775" defTabSz="993775">
              <a:defRPr>
                <a:solidFill>
                  <a:schemeClr val="tx1"/>
                </a:solidFill>
                <a:latin typeface="Arial" panose="020B0604020202020204" pitchFamily="34" charset="0"/>
              </a:defRPr>
            </a:lvl3pPr>
            <a:lvl4pPr marL="1492250" defTabSz="993775">
              <a:defRPr>
                <a:solidFill>
                  <a:schemeClr val="tx1"/>
                </a:solidFill>
                <a:latin typeface="Arial" panose="020B0604020202020204" pitchFamily="34" charset="0"/>
              </a:defRPr>
            </a:lvl4pPr>
            <a:lvl5pPr marL="1989138" defTabSz="993775">
              <a:defRPr>
                <a:solidFill>
                  <a:schemeClr val="tx1"/>
                </a:solidFill>
                <a:latin typeface="Arial" panose="020B0604020202020204" pitchFamily="34" charset="0"/>
              </a:defRPr>
            </a:lvl5pPr>
            <a:lvl6pPr marL="2446338" defTabSz="993775" fontAlgn="base">
              <a:spcBef>
                <a:spcPct val="0"/>
              </a:spcBef>
              <a:spcAft>
                <a:spcPct val="0"/>
              </a:spcAft>
              <a:defRPr>
                <a:solidFill>
                  <a:schemeClr val="tx1"/>
                </a:solidFill>
                <a:latin typeface="Arial" panose="020B0604020202020204" pitchFamily="34" charset="0"/>
              </a:defRPr>
            </a:lvl6pPr>
            <a:lvl7pPr marL="2903538" defTabSz="993775" fontAlgn="base">
              <a:spcBef>
                <a:spcPct val="0"/>
              </a:spcBef>
              <a:spcAft>
                <a:spcPct val="0"/>
              </a:spcAft>
              <a:defRPr>
                <a:solidFill>
                  <a:schemeClr val="tx1"/>
                </a:solidFill>
                <a:latin typeface="Arial" panose="020B0604020202020204" pitchFamily="34" charset="0"/>
              </a:defRPr>
            </a:lvl7pPr>
            <a:lvl8pPr marL="3360738" defTabSz="993775" fontAlgn="base">
              <a:spcBef>
                <a:spcPct val="0"/>
              </a:spcBef>
              <a:spcAft>
                <a:spcPct val="0"/>
              </a:spcAft>
              <a:defRPr>
                <a:solidFill>
                  <a:schemeClr val="tx1"/>
                </a:solidFill>
                <a:latin typeface="Arial" panose="020B0604020202020204" pitchFamily="34" charset="0"/>
              </a:defRPr>
            </a:lvl8pPr>
            <a:lvl9pPr marL="3817938" defTabSz="993775" fontAlgn="base">
              <a:spcBef>
                <a:spcPct val="0"/>
              </a:spcBef>
              <a:spcAft>
                <a:spcPct val="0"/>
              </a:spcAft>
              <a:defRPr>
                <a:solidFill>
                  <a:schemeClr val="tx1"/>
                </a:solidFill>
                <a:latin typeface="Arial" panose="020B0604020202020204" pitchFamily="34" charset="0"/>
              </a:defRPr>
            </a:lvl9pPr>
          </a:lstStyle>
          <a:p>
            <a:pPr algn="ctr"/>
            <a:r>
              <a:rPr lang="ru-RU" altLang="ru-RU" sz="3000" b="1" dirty="0">
                <a:solidFill>
                  <a:schemeClr val="bg1"/>
                </a:solidFill>
              </a:rPr>
              <a:t>3</a:t>
            </a:r>
            <a:r>
              <a:rPr lang="en-US" altLang="ru-RU" sz="3000" b="1" dirty="0">
                <a:solidFill>
                  <a:schemeClr val="bg1"/>
                </a:solidFill>
              </a:rPr>
              <a:t>.</a:t>
            </a:r>
            <a:r>
              <a:rPr lang="ru-RU" altLang="ru-RU" sz="3000" b="1" dirty="0">
                <a:solidFill>
                  <a:schemeClr val="bg1"/>
                </a:solidFill>
              </a:rPr>
              <a:t>3</a:t>
            </a:r>
          </a:p>
        </p:txBody>
      </p:sp>
      <p:sp>
        <p:nvSpPr>
          <p:cNvPr id="15" name="AutoShape 27"/>
          <p:cNvSpPr>
            <a:spLocks noChangeArrowheads="1"/>
          </p:cNvSpPr>
          <p:nvPr/>
        </p:nvSpPr>
        <p:spPr bwMode="auto">
          <a:xfrm>
            <a:off x="3683903" y="5694289"/>
            <a:ext cx="6680284" cy="851720"/>
          </a:xfrm>
          <a:prstGeom prst="roundRect">
            <a:avLst>
              <a:gd name="adj" fmla="val 16667"/>
            </a:avLst>
          </a:prstGeom>
          <a:noFill/>
          <a:ln>
            <a:noFill/>
          </a:ln>
          <a:effectLst/>
          <a:extLst>
            <a:ext uri="{909E8E84-426E-40DD-AFC4-6F175D3DCCD1}">
              <a14:hiddenFill xmlns:a14="http://schemas.microsoft.com/office/drawing/2010/main">
                <a:solidFill>
                  <a:srgbClr val="464646">
                    <a:alpha val="50000"/>
                  </a:srgbClr>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9441" tIns="49721" rIns="99441" bIns="49721" anchor="ctr"/>
          <a:lstStyle>
            <a:lvl1pPr marL="982663" defTabSz="993775">
              <a:defRPr>
                <a:solidFill>
                  <a:schemeClr val="tx1"/>
                </a:solidFill>
                <a:latin typeface="Arial" panose="020B0604020202020204" pitchFamily="34" charset="0"/>
              </a:defRPr>
            </a:lvl1pPr>
            <a:lvl2pPr marL="1177925" defTabSz="993775">
              <a:defRPr>
                <a:solidFill>
                  <a:schemeClr val="tx1"/>
                </a:solidFill>
                <a:latin typeface="Arial" panose="020B0604020202020204" pitchFamily="34" charset="0"/>
              </a:defRPr>
            </a:lvl2pPr>
            <a:lvl3pPr marL="1373188" defTabSz="993775">
              <a:defRPr>
                <a:solidFill>
                  <a:schemeClr val="tx1"/>
                </a:solidFill>
                <a:latin typeface="Arial" panose="020B0604020202020204" pitchFamily="34" charset="0"/>
              </a:defRPr>
            </a:lvl3pPr>
            <a:lvl4pPr marL="1566863" defTabSz="993775">
              <a:defRPr>
                <a:solidFill>
                  <a:schemeClr val="tx1"/>
                </a:solidFill>
                <a:latin typeface="Arial" panose="020B0604020202020204" pitchFamily="34" charset="0"/>
              </a:defRPr>
            </a:lvl4pPr>
            <a:lvl5pPr marL="1989138" defTabSz="993775">
              <a:defRPr>
                <a:solidFill>
                  <a:schemeClr val="tx1"/>
                </a:solidFill>
                <a:latin typeface="Arial" panose="020B0604020202020204" pitchFamily="34" charset="0"/>
              </a:defRPr>
            </a:lvl5pPr>
            <a:lvl6pPr marL="2446338" defTabSz="993775" fontAlgn="base">
              <a:spcBef>
                <a:spcPct val="0"/>
              </a:spcBef>
              <a:spcAft>
                <a:spcPct val="0"/>
              </a:spcAft>
              <a:defRPr>
                <a:solidFill>
                  <a:schemeClr val="tx1"/>
                </a:solidFill>
                <a:latin typeface="Arial" panose="020B0604020202020204" pitchFamily="34" charset="0"/>
              </a:defRPr>
            </a:lvl6pPr>
            <a:lvl7pPr marL="2903538" defTabSz="993775" fontAlgn="base">
              <a:spcBef>
                <a:spcPct val="0"/>
              </a:spcBef>
              <a:spcAft>
                <a:spcPct val="0"/>
              </a:spcAft>
              <a:defRPr>
                <a:solidFill>
                  <a:schemeClr val="tx1"/>
                </a:solidFill>
                <a:latin typeface="Arial" panose="020B0604020202020204" pitchFamily="34" charset="0"/>
              </a:defRPr>
            </a:lvl7pPr>
            <a:lvl8pPr marL="3360738" defTabSz="993775" fontAlgn="base">
              <a:spcBef>
                <a:spcPct val="0"/>
              </a:spcBef>
              <a:spcAft>
                <a:spcPct val="0"/>
              </a:spcAft>
              <a:defRPr>
                <a:solidFill>
                  <a:schemeClr val="tx1"/>
                </a:solidFill>
                <a:latin typeface="Arial" panose="020B0604020202020204" pitchFamily="34" charset="0"/>
              </a:defRPr>
            </a:lvl8pPr>
            <a:lvl9pPr marL="3817938" defTabSz="993775" fontAlgn="base">
              <a:spcBef>
                <a:spcPct val="0"/>
              </a:spcBef>
              <a:spcAft>
                <a:spcPct val="0"/>
              </a:spcAft>
              <a:defRPr>
                <a:solidFill>
                  <a:schemeClr val="tx1"/>
                </a:solidFill>
                <a:latin typeface="Arial" panose="020B0604020202020204" pitchFamily="34" charset="0"/>
              </a:defRPr>
            </a:lvl9pPr>
          </a:lstStyle>
          <a:p>
            <a:pPr marL="0" algn="ctr"/>
            <a:r>
              <a:rPr lang="ru-RU" sz="3600" dirty="0">
                <a:solidFill>
                  <a:schemeClr val="bg1"/>
                </a:solidFill>
              </a:rPr>
              <a:t>Гипотеза о равенстве дисперсий</a:t>
            </a:r>
          </a:p>
        </p:txBody>
      </p:sp>
      <p:sp>
        <p:nvSpPr>
          <p:cNvPr id="2" name="Номер слайда 1"/>
          <p:cNvSpPr>
            <a:spLocks noGrp="1"/>
          </p:cNvSpPr>
          <p:nvPr>
            <p:ph type="sldNum" sz="quarter" idx="12"/>
          </p:nvPr>
        </p:nvSpPr>
        <p:spPr/>
        <p:txBody>
          <a:bodyPr/>
          <a:lstStyle/>
          <a:p>
            <a:fld id="{952B6C0E-C4B9-4094-8E59-5B7DF00D5415}" type="slidenum">
              <a:rPr lang="ru-RU" smtClean="0">
                <a:solidFill>
                  <a:schemeClr val="tx1"/>
                </a:solidFill>
              </a:rPr>
              <a:t>96</a:t>
            </a:fld>
            <a:endParaRPr lang="ru-RU" dirty="0">
              <a:solidFill>
                <a:schemeClr val="tx1"/>
              </a:solidFill>
            </a:endParaRPr>
          </a:p>
        </p:txBody>
      </p:sp>
    </p:spTree>
    <p:extLst>
      <p:ext uri="{BB962C8B-B14F-4D97-AF65-F5344CB8AC3E}">
        <p14:creationId xmlns:p14="http://schemas.microsoft.com/office/powerpoint/2010/main" val="41626269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4"/>
          <p:cNvSpPr>
            <a:spLocks noChangeArrowheads="1"/>
          </p:cNvSpPr>
          <p:nvPr/>
        </p:nvSpPr>
        <p:spPr bwMode="auto">
          <a:xfrm>
            <a:off x="861517" y="1906959"/>
            <a:ext cx="11377264" cy="4968503"/>
          </a:xfrm>
          <a:prstGeom prst="roundRect">
            <a:avLst>
              <a:gd name="adj" fmla="val 16667"/>
            </a:avLst>
          </a:prstGeom>
          <a:solidFill>
            <a:schemeClr val="bg1">
              <a:alpha val="50195"/>
            </a:scheme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5" name="AutoShape 5"/>
          <p:cNvSpPr>
            <a:spLocks noChangeArrowheads="1"/>
          </p:cNvSpPr>
          <p:nvPr/>
        </p:nvSpPr>
        <p:spPr bwMode="auto">
          <a:xfrm>
            <a:off x="2373685" y="322264"/>
            <a:ext cx="8064128" cy="720601"/>
          </a:xfrm>
          <a:prstGeom prst="roundRect">
            <a:avLst>
              <a:gd name="adj" fmla="val 37469"/>
            </a:avLst>
          </a:prstGeom>
          <a:solidFill>
            <a:srgbClr val="FFFFFF">
              <a:alpha val="78822"/>
            </a:srgb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2" name="Заголовок 1"/>
          <p:cNvSpPr txBox="1">
            <a:spLocks noGrp="1"/>
          </p:cNvSpPr>
          <p:nvPr>
            <p:ph type="title" idx="4294967295"/>
          </p:nvPr>
        </p:nvSpPr>
        <p:spPr>
          <a:xfrm>
            <a:off x="1887538" y="2050976"/>
            <a:ext cx="8550275" cy="1728192"/>
          </a:xfrm>
          <a:prstGeom prst="rect">
            <a:avLst/>
          </a:prstGeom>
        </p:spPr>
        <p:txBody>
          <a:bodyPr wrap="square">
            <a:noAutofit/>
          </a:bodyPr>
          <a:lstStyle/>
          <a:p>
            <a:pPr lvl="0"/>
            <a:r>
              <a:rPr lang="ru-RU" sz="3200" dirty="0"/>
              <a:t>Прежде, чем говорить о парных сравнениях, разберем несколько примеров с одиночными критериями </a:t>
            </a:r>
          </a:p>
        </p:txBody>
      </p:sp>
      <p:sp>
        <p:nvSpPr>
          <p:cNvPr id="7" name="Номер слайда 6"/>
          <p:cNvSpPr>
            <a:spLocks noGrp="1"/>
          </p:cNvSpPr>
          <p:nvPr>
            <p:ph type="sldNum" sz="quarter" idx="12"/>
          </p:nvPr>
        </p:nvSpPr>
        <p:spPr/>
        <p:txBody>
          <a:bodyPr/>
          <a:lstStyle/>
          <a:p>
            <a:fld id="{952B6C0E-C4B9-4094-8E59-5B7DF00D5415}" type="slidenum">
              <a:rPr lang="ru-RU" sz="1400">
                <a:solidFill>
                  <a:schemeClr val="tx1"/>
                </a:solidFill>
              </a:rPr>
              <a:t>97</a:t>
            </a:fld>
            <a:endParaRPr lang="ru-RU" sz="1400">
              <a:solidFill>
                <a:schemeClr val="tx1"/>
              </a:solidFill>
            </a:endParaRPr>
          </a:p>
        </p:txBody>
      </p:sp>
    </p:spTree>
    <p:extLst>
      <p:ext uri="{BB962C8B-B14F-4D97-AF65-F5344CB8AC3E}">
        <p14:creationId xmlns:p14="http://schemas.microsoft.com/office/powerpoint/2010/main" val="9548974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4"/>
          <p:cNvSpPr>
            <a:spLocks noChangeArrowheads="1"/>
          </p:cNvSpPr>
          <p:nvPr/>
        </p:nvSpPr>
        <p:spPr bwMode="auto">
          <a:xfrm>
            <a:off x="861517" y="1092775"/>
            <a:ext cx="11377264" cy="5782688"/>
          </a:xfrm>
          <a:prstGeom prst="roundRect">
            <a:avLst>
              <a:gd name="adj" fmla="val 16667"/>
            </a:avLst>
          </a:prstGeom>
          <a:solidFill>
            <a:schemeClr val="bg1">
              <a:alpha val="50195"/>
            </a:scheme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5" name="AutoShape 5"/>
          <p:cNvSpPr>
            <a:spLocks noChangeArrowheads="1"/>
          </p:cNvSpPr>
          <p:nvPr/>
        </p:nvSpPr>
        <p:spPr bwMode="auto">
          <a:xfrm>
            <a:off x="2373685" y="322264"/>
            <a:ext cx="8064128" cy="720601"/>
          </a:xfrm>
          <a:prstGeom prst="roundRect">
            <a:avLst>
              <a:gd name="adj" fmla="val 37469"/>
            </a:avLst>
          </a:prstGeom>
          <a:solidFill>
            <a:srgbClr val="FFFFFF">
              <a:alpha val="78822"/>
            </a:srgb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2" name="Заголовок 1"/>
          <p:cNvSpPr txBox="1">
            <a:spLocks noGrp="1"/>
          </p:cNvSpPr>
          <p:nvPr>
            <p:ph type="title" idx="4294967295"/>
          </p:nvPr>
        </p:nvSpPr>
        <p:spPr>
          <a:xfrm>
            <a:off x="2058987" y="444702"/>
            <a:ext cx="8550275" cy="648072"/>
          </a:xfrm>
          <a:prstGeom prst="rect">
            <a:avLst/>
          </a:prstGeom>
        </p:spPr>
        <p:txBody>
          <a:bodyPr wrap="square">
            <a:noAutofit/>
          </a:bodyPr>
          <a:lstStyle/>
          <a:p>
            <a:pPr lvl="0"/>
            <a:r>
              <a:rPr lang="ru-RU" sz="3200" dirty="0"/>
              <a:t>Критерии статистики</a:t>
            </a:r>
          </a:p>
        </p:txBody>
      </p:sp>
      <p:sp>
        <p:nvSpPr>
          <p:cNvPr id="7" name="Номер слайда 6"/>
          <p:cNvSpPr>
            <a:spLocks noGrp="1"/>
          </p:cNvSpPr>
          <p:nvPr>
            <p:ph type="sldNum" sz="quarter" idx="12"/>
          </p:nvPr>
        </p:nvSpPr>
        <p:spPr/>
        <p:txBody>
          <a:bodyPr/>
          <a:lstStyle/>
          <a:p>
            <a:fld id="{952B6C0E-C4B9-4094-8E59-5B7DF00D5415}" type="slidenum">
              <a:rPr lang="ru-RU" sz="1400">
                <a:solidFill>
                  <a:schemeClr val="tx1"/>
                </a:solidFill>
              </a:rPr>
              <a:t>98</a:t>
            </a:fld>
            <a:endParaRPr lang="ru-RU" sz="1400">
              <a:solidFill>
                <a:schemeClr val="tx1"/>
              </a:solidFill>
            </a:endParaRPr>
          </a:p>
        </p:txBody>
      </p:sp>
      <p:sp>
        <p:nvSpPr>
          <p:cNvPr id="8" name="TextBox 7">
            <a:extLst>
              <a:ext uri="{FF2B5EF4-FFF2-40B4-BE49-F238E27FC236}">
                <a16:creationId xmlns:a16="http://schemas.microsoft.com/office/drawing/2014/main" id="{867C0FBB-7178-4626-8014-5AF98AE0BC05}"/>
              </a:ext>
            </a:extLst>
          </p:cNvPr>
          <p:cNvSpPr txBox="1"/>
          <p:nvPr/>
        </p:nvSpPr>
        <p:spPr>
          <a:xfrm>
            <a:off x="853223" y="1071704"/>
            <a:ext cx="11377264" cy="1200329"/>
          </a:xfrm>
          <a:prstGeom prst="rect">
            <a:avLst/>
          </a:prstGeom>
          <a:noFill/>
        </p:spPr>
        <p:txBody>
          <a:bodyPr wrap="square">
            <a:spAutoFit/>
          </a:bodyPr>
          <a:lstStyle/>
          <a:p>
            <a:r>
              <a:rPr lang="ru-RU" sz="1800" b="1" dirty="0"/>
              <a:t>Z-критерий (Z-тест)</a:t>
            </a:r>
            <a:r>
              <a:rPr lang="ru-RU" sz="1800" dirty="0"/>
              <a:t> — это статистический метод для проверки гипотез о среднем значении в выборке относительно генеральной совокупности. Он основан на стандартном нормальном распределении и позволяет оценить, </a:t>
            </a:r>
            <a:r>
              <a:rPr lang="ru-RU" sz="1800" b="1" dirty="0"/>
              <a:t>насколько различие между средним значением выборки и гипотетическим значением, предполагаемым для генеральной совокупности, является статистически значимым.</a:t>
            </a:r>
          </a:p>
        </p:txBody>
      </p:sp>
      <p:sp>
        <p:nvSpPr>
          <p:cNvPr id="9" name="TextBox 8">
            <a:extLst>
              <a:ext uri="{FF2B5EF4-FFF2-40B4-BE49-F238E27FC236}">
                <a16:creationId xmlns:a16="http://schemas.microsoft.com/office/drawing/2014/main" id="{02017220-4250-41D4-92D4-DC528812A11E}"/>
              </a:ext>
            </a:extLst>
          </p:cNvPr>
          <p:cNvSpPr txBox="1"/>
          <p:nvPr/>
        </p:nvSpPr>
        <p:spPr>
          <a:xfrm>
            <a:off x="882914" y="2508426"/>
            <a:ext cx="10585176" cy="1969770"/>
          </a:xfrm>
          <a:prstGeom prst="rect">
            <a:avLst/>
          </a:prstGeom>
          <a:noFill/>
        </p:spPr>
        <p:txBody>
          <a:bodyPr wrap="square">
            <a:spAutoFit/>
          </a:bodyPr>
          <a:lstStyle/>
          <a:p>
            <a:r>
              <a:rPr lang="ru-RU" b="1" dirty="0"/>
              <a:t>Формула Z-статистики</a:t>
            </a:r>
          </a:p>
          <a:p>
            <a:r>
              <a:rPr lang="ru-RU" dirty="0"/>
              <a:t>                                               Z = (</a:t>
            </a:r>
            <a:r>
              <a:rPr lang="en-US" dirty="0"/>
              <a:t>X </a:t>
            </a:r>
            <a:r>
              <a:rPr lang="ru-RU" dirty="0"/>
              <a:t>- </a:t>
            </a:r>
            <a:r>
              <a:rPr lang="ru-RU" sz="2000" i="1" dirty="0"/>
              <a:t>μ</a:t>
            </a:r>
            <a:r>
              <a:rPr lang="en-US" sz="2000" i="1" baseline="-25000" dirty="0"/>
              <a:t>0</a:t>
            </a:r>
            <a:r>
              <a:rPr lang="ru-RU" sz="2000" i="1" dirty="0"/>
              <a:t> </a:t>
            </a:r>
            <a:r>
              <a:rPr lang="ru-RU" dirty="0"/>
              <a:t>)/(σ / √(n)),</a:t>
            </a:r>
          </a:p>
          <a:p>
            <a:r>
              <a:rPr lang="ru-RU" sz="1800" dirty="0"/>
              <a:t>где:</a:t>
            </a:r>
          </a:p>
          <a:p>
            <a:pPr marL="285750" indent="-285750">
              <a:buFont typeface="Arial" panose="020B0604020202020204" pitchFamily="34" charset="0"/>
              <a:buChar char="−"/>
            </a:pPr>
            <a:r>
              <a:rPr lang="ru-RU" sz="1600" i="1" dirty="0"/>
              <a:t>x — среднее значение выборки;</a:t>
            </a:r>
          </a:p>
          <a:p>
            <a:pPr marL="285750" indent="-285750">
              <a:buFont typeface="Arial" panose="020B0604020202020204" pitchFamily="34" charset="0"/>
              <a:buChar char="−"/>
            </a:pPr>
            <a:r>
              <a:rPr lang="ru-RU" sz="1600" i="1" dirty="0"/>
              <a:t>μ</a:t>
            </a:r>
            <a:r>
              <a:rPr lang="en-US" sz="1600" i="1" baseline="-25000" dirty="0"/>
              <a:t>0</a:t>
            </a:r>
            <a:r>
              <a:rPr lang="ru-RU" sz="1600" i="1" dirty="0"/>
              <a:t> — ожидаемое среднее значение (обычно согласно нулевой гипотезе);</a:t>
            </a:r>
          </a:p>
          <a:p>
            <a:pPr marL="285750" indent="-285750">
              <a:buFont typeface="Arial" panose="020B0604020202020204" pitchFamily="34" charset="0"/>
              <a:buChar char="−"/>
            </a:pPr>
            <a:r>
              <a:rPr lang="ru-RU" sz="1600" i="1" dirty="0"/>
              <a:t>σ — стандартное отклонение генеральной совокупности;</a:t>
            </a:r>
          </a:p>
          <a:p>
            <a:pPr marL="285750" indent="-285750">
              <a:buFont typeface="Arial" panose="020B0604020202020204" pitchFamily="34" charset="0"/>
              <a:buChar char="−"/>
            </a:pPr>
            <a:r>
              <a:rPr lang="ru-RU" sz="1600" i="1" dirty="0"/>
              <a:t>n — размер выборки.</a:t>
            </a:r>
          </a:p>
        </p:txBody>
      </p:sp>
      <p:sp>
        <p:nvSpPr>
          <p:cNvPr id="11" name="Rectangle 2">
            <a:extLst>
              <a:ext uri="{FF2B5EF4-FFF2-40B4-BE49-F238E27FC236}">
                <a16:creationId xmlns:a16="http://schemas.microsoft.com/office/drawing/2014/main" id="{68315468-AD82-43A3-A6B4-076DE5A3FFF0}"/>
              </a:ext>
            </a:extLst>
          </p:cNvPr>
          <p:cNvSpPr>
            <a:spLocks noChangeArrowheads="1"/>
          </p:cNvSpPr>
          <p:nvPr/>
        </p:nvSpPr>
        <p:spPr bwMode="auto">
          <a:xfrm>
            <a:off x="833106" y="4895413"/>
            <a:ext cx="10942637"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ru-RU" altLang="ru-RU" sz="1800" b="1" i="0" u="none" strike="noStrike" cap="none" normalizeH="0" baseline="0" dirty="0">
                <a:ln>
                  <a:noFill/>
                </a:ln>
                <a:solidFill>
                  <a:schemeClr val="tx1"/>
                </a:solidFill>
                <a:effectLst/>
                <a:latin typeface="Arial" panose="020B0604020202020204" pitchFamily="34" charset="0"/>
              </a:rPr>
              <a:t>Большая выборка.</a:t>
            </a:r>
            <a:r>
              <a:rPr kumimoji="0" lang="ru-RU" altLang="ru-RU" sz="1800" b="0" i="0" u="none" strike="noStrike" cap="none" normalizeH="0" baseline="0" dirty="0">
                <a:ln>
                  <a:noFill/>
                </a:ln>
                <a:solidFill>
                  <a:schemeClr val="tx1"/>
                </a:solidFill>
                <a:effectLst/>
                <a:latin typeface="Arial" panose="020B0604020202020204" pitchFamily="34" charset="0"/>
              </a:rPr>
              <a:t> Обычно требуется не менее 30 наблюдений, но это эмпирическое правило.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ru-RU" altLang="ru-RU" sz="1800" b="1" i="0" u="none" strike="noStrike" cap="none" normalizeH="0" baseline="0" dirty="0">
                <a:ln>
                  <a:noFill/>
                </a:ln>
                <a:solidFill>
                  <a:schemeClr val="tx1"/>
                </a:solidFill>
                <a:effectLst/>
                <a:latin typeface="Arial" panose="020B0604020202020204" pitchFamily="34" charset="0"/>
              </a:rPr>
              <a:t>Известно стандартное отклонение генеральной совокупности.</a:t>
            </a:r>
            <a:r>
              <a:rPr kumimoji="0" lang="ru-RU" altLang="ru-RU" sz="1800" b="0" i="0" u="none" strike="noStrike" cap="none" normalizeH="0" baseline="0" dirty="0">
                <a:ln>
                  <a:noFill/>
                </a:ln>
                <a:solidFill>
                  <a:schemeClr val="tx1"/>
                </a:solidFill>
                <a:effectLst/>
                <a:latin typeface="Arial" panose="020B0604020202020204" pitchFamily="34" charset="0"/>
              </a:rPr>
              <a:t> </a:t>
            </a:r>
            <a:r>
              <a:rPr kumimoji="0" lang="ru-RU" altLang="ru-RU" sz="1800" b="1" i="0" u="none" strike="noStrike" cap="none" normalizeH="0" baseline="0" dirty="0">
                <a:ln>
                  <a:noFill/>
                </a:ln>
                <a:solidFill>
                  <a:schemeClr val="tx1"/>
                </a:solidFill>
                <a:effectLst/>
                <a:latin typeface="Arial" panose="020B0604020202020204" pitchFamily="34" charset="0"/>
              </a:rPr>
              <a:t>Это отличает Z-тест от t-теста</a:t>
            </a:r>
            <a:r>
              <a:rPr kumimoji="0" lang="ru-RU" altLang="ru-RU" sz="1800" b="0" i="0" u="none" strike="noStrike" cap="none" normalizeH="0" baseline="0" dirty="0">
                <a:ln>
                  <a:noFill/>
                </a:ln>
                <a:solidFill>
                  <a:schemeClr val="tx1"/>
                </a:solidFill>
                <a:effectLst/>
                <a:latin typeface="Arial" panose="020B0604020202020204" pitchFamily="34" charset="0"/>
              </a:rPr>
              <a:t>, который используется, когда стандартное отклонение генеральной совокупности неизвестно и оценивается по выборке.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ru-RU" altLang="ru-RU" sz="1800" b="1" i="0" u="none" strike="noStrike" cap="none" normalizeH="0" baseline="0" dirty="0">
                <a:ln>
                  <a:noFill/>
                </a:ln>
                <a:solidFill>
                  <a:schemeClr val="tx1"/>
                </a:solidFill>
                <a:effectLst/>
                <a:latin typeface="Arial" panose="020B0604020202020204" pitchFamily="34" charset="0"/>
              </a:rPr>
              <a:t>Данные должны быть приближены к нормальному распределению.</a:t>
            </a:r>
            <a:r>
              <a:rPr kumimoji="0" lang="ru-RU" altLang="ru-RU" sz="1800" b="0" i="0" u="none" strike="noStrike" cap="none" normalizeH="0" baseline="0" dirty="0">
                <a:ln>
                  <a:noFill/>
                </a:ln>
                <a:solidFill>
                  <a:schemeClr val="tx1"/>
                </a:solidFill>
                <a:effectLst/>
                <a:latin typeface="Arial" panose="020B0604020202020204" pitchFamily="34" charset="0"/>
              </a:rPr>
              <a:t> Однако при достаточно большом размере выборки это предположение можно игнорировать благодаря центральной предельной теореме.  </a:t>
            </a:r>
          </a:p>
        </p:txBody>
      </p:sp>
      <p:sp>
        <p:nvSpPr>
          <p:cNvPr id="13" name="TextBox 12">
            <a:extLst>
              <a:ext uri="{FF2B5EF4-FFF2-40B4-BE49-F238E27FC236}">
                <a16:creationId xmlns:a16="http://schemas.microsoft.com/office/drawing/2014/main" id="{C9F725EB-C2B3-4D6D-9768-A03BAA60DF52}"/>
              </a:ext>
            </a:extLst>
          </p:cNvPr>
          <p:cNvSpPr txBox="1"/>
          <p:nvPr/>
        </p:nvSpPr>
        <p:spPr>
          <a:xfrm>
            <a:off x="3238369" y="4507035"/>
            <a:ext cx="6334760" cy="400110"/>
          </a:xfrm>
          <a:prstGeom prst="rect">
            <a:avLst/>
          </a:prstGeom>
          <a:noFill/>
        </p:spPr>
        <p:txBody>
          <a:bodyPr wrap="square">
            <a:spAutoFit/>
          </a:bodyPr>
          <a:lstStyle/>
          <a:p>
            <a:pPr algn="ctr"/>
            <a:r>
              <a:rPr lang="ru-RU" sz="2000" b="1" dirty="0"/>
              <a:t>Z-критерий   используется когда </a:t>
            </a:r>
            <a:endParaRPr lang="ru-RU" dirty="0"/>
          </a:p>
        </p:txBody>
      </p:sp>
      <p:pic>
        <p:nvPicPr>
          <p:cNvPr id="19" name="Рисунок 18">
            <a:extLst>
              <a:ext uri="{FF2B5EF4-FFF2-40B4-BE49-F238E27FC236}">
                <a16:creationId xmlns:a16="http://schemas.microsoft.com/office/drawing/2014/main" id="{35339B3C-AE75-4AA9-9418-A0A549134313}"/>
              </a:ext>
            </a:extLst>
          </p:cNvPr>
          <p:cNvPicPr>
            <a:picLocks noChangeAspect="1"/>
          </p:cNvPicPr>
          <p:nvPr/>
        </p:nvPicPr>
        <p:blipFill>
          <a:blip r:embed="rId3"/>
          <a:stretch>
            <a:fillRect/>
          </a:stretch>
        </p:blipFill>
        <p:spPr>
          <a:xfrm>
            <a:off x="7990309" y="2771028"/>
            <a:ext cx="1440228" cy="576092"/>
          </a:xfrm>
          <a:prstGeom prst="rect">
            <a:avLst/>
          </a:prstGeom>
          <a:ln>
            <a:solidFill>
              <a:srgbClr val="FF0000"/>
            </a:solidFill>
          </a:ln>
        </p:spPr>
      </p:pic>
      <p:cxnSp>
        <p:nvCxnSpPr>
          <p:cNvPr id="21" name="Прямая соединительная линия 20">
            <a:extLst>
              <a:ext uri="{FF2B5EF4-FFF2-40B4-BE49-F238E27FC236}">
                <a16:creationId xmlns:a16="http://schemas.microsoft.com/office/drawing/2014/main" id="{B60ED9F5-7EDE-4238-95DF-C8268FD2C2E0}"/>
              </a:ext>
            </a:extLst>
          </p:cNvPr>
          <p:cNvCxnSpPr/>
          <p:nvPr/>
        </p:nvCxnSpPr>
        <p:spPr>
          <a:xfrm>
            <a:off x="4749949" y="2843064"/>
            <a:ext cx="216024"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22" name="Прямая соединительная линия 21">
            <a:extLst>
              <a:ext uri="{FF2B5EF4-FFF2-40B4-BE49-F238E27FC236}">
                <a16:creationId xmlns:a16="http://schemas.microsoft.com/office/drawing/2014/main" id="{59E46511-92E8-4E2F-9FEF-ED8EB624434E}"/>
              </a:ext>
            </a:extLst>
          </p:cNvPr>
          <p:cNvCxnSpPr>
            <a:cxnSpLocks/>
          </p:cNvCxnSpPr>
          <p:nvPr/>
        </p:nvCxnSpPr>
        <p:spPr>
          <a:xfrm>
            <a:off x="6210429" y="2861648"/>
            <a:ext cx="432048" cy="0"/>
          </a:xfrm>
          <a:prstGeom prst="line">
            <a:avLst/>
          </a:prstGeom>
          <a:ln w="9525"/>
        </p:spPr>
        <p:style>
          <a:lnRef idx="1">
            <a:schemeClr val="dk1"/>
          </a:lnRef>
          <a:fillRef idx="0">
            <a:schemeClr val="dk1"/>
          </a:fillRef>
          <a:effectRef idx="0">
            <a:schemeClr val="dk1"/>
          </a:effectRef>
          <a:fontRef idx="minor">
            <a:schemeClr val="tx1"/>
          </a:fontRef>
        </p:style>
      </p:cxnSp>
      <p:sp>
        <p:nvSpPr>
          <p:cNvPr id="25" name="TextBox 24">
            <a:extLst>
              <a:ext uri="{FF2B5EF4-FFF2-40B4-BE49-F238E27FC236}">
                <a16:creationId xmlns:a16="http://schemas.microsoft.com/office/drawing/2014/main" id="{0618ECFA-77F5-4DCA-9B2E-6194DD967D26}"/>
              </a:ext>
            </a:extLst>
          </p:cNvPr>
          <p:cNvSpPr txBox="1"/>
          <p:nvPr/>
        </p:nvSpPr>
        <p:spPr>
          <a:xfrm>
            <a:off x="9573130" y="2843064"/>
            <a:ext cx="505412" cy="400110"/>
          </a:xfrm>
          <a:prstGeom prst="rect">
            <a:avLst/>
          </a:prstGeom>
          <a:noFill/>
        </p:spPr>
        <p:txBody>
          <a:bodyPr wrap="square">
            <a:spAutoFit/>
          </a:bodyPr>
          <a:lstStyle/>
          <a:p>
            <a:r>
              <a:rPr lang="ru-RU" b="1" dirty="0"/>
              <a:t>(1)</a:t>
            </a:r>
            <a:endParaRPr lang="ru-RU" dirty="0"/>
          </a:p>
        </p:txBody>
      </p:sp>
    </p:spTree>
    <p:extLst>
      <p:ext uri="{BB962C8B-B14F-4D97-AF65-F5344CB8AC3E}">
        <p14:creationId xmlns:p14="http://schemas.microsoft.com/office/powerpoint/2010/main" val="29033629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4"/>
          <p:cNvSpPr>
            <a:spLocks noChangeArrowheads="1"/>
          </p:cNvSpPr>
          <p:nvPr/>
        </p:nvSpPr>
        <p:spPr bwMode="auto">
          <a:xfrm>
            <a:off x="861517" y="1092775"/>
            <a:ext cx="11377264" cy="5782688"/>
          </a:xfrm>
          <a:prstGeom prst="roundRect">
            <a:avLst>
              <a:gd name="adj" fmla="val 16667"/>
            </a:avLst>
          </a:prstGeom>
          <a:solidFill>
            <a:schemeClr val="bg1">
              <a:alpha val="50195"/>
            </a:scheme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5" name="AutoShape 5"/>
          <p:cNvSpPr>
            <a:spLocks noChangeArrowheads="1"/>
          </p:cNvSpPr>
          <p:nvPr/>
        </p:nvSpPr>
        <p:spPr bwMode="auto">
          <a:xfrm>
            <a:off x="2373685" y="322264"/>
            <a:ext cx="8064128" cy="720601"/>
          </a:xfrm>
          <a:prstGeom prst="roundRect">
            <a:avLst>
              <a:gd name="adj" fmla="val 37469"/>
            </a:avLst>
          </a:prstGeom>
          <a:solidFill>
            <a:srgbClr val="FFFFFF">
              <a:alpha val="78822"/>
            </a:srgb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2" name="Заголовок 1"/>
          <p:cNvSpPr txBox="1">
            <a:spLocks noGrp="1"/>
          </p:cNvSpPr>
          <p:nvPr>
            <p:ph type="title" idx="4294967295"/>
          </p:nvPr>
        </p:nvSpPr>
        <p:spPr>
          <a:xfrm>
            <a:off x="2058987" y="444702"/>
            <a:ext cx="8550275" cy="648072"/>
          </a:xfrm>
          <a:prstGeom prst="rect">
            <a:avLst/>
          </a:prstGeom>
        </p:spPr>
        <p:txBody>
          <a:bodyPr wrap="square">
            <a:noAutofit/>
          </a:bodyPr>
          <a:lstStyle/>
          <a:p>
            <a:pPr lvl="0"/>
            <a:r>
              <a:rPr lang="ru-RU" sz="3200" dirty="0"/>
              <a:t>Критерии статистики</a:t>
            </a:r>
          </a:p>
        </p:txBody>
      </p:sp>
      <p:sp>
        <p:nvSpPr>
          <p:cNvPr id="7" name="Номер слайда 6"/>
          <p:cNvSpPr>
            <a:spLocks noGrp="1"/>
          </p:cNvSpPr>
          <p:nvPr>
            <p:ph type="sldNum" sz="quarter" idx="12"/>
          </p:nvPr>
        </p:nvSpPr>
        <p:spPr/>
        <p:txBody>
          <a:bodyPr/>
          <a:lstStyle/>
          <a:p>
            <a:fld id="{952B6C0E-C4B9-4094-8E59-5B7DF00D5415}" type="slidenum">
              <a:rPr lang="ru-RU" sz="1400">
                <a:solidFill>
                  <a:schemeClr val="tx1"/>
                </a:solidFill>
              </a:rPr>
              <a:t>99</a:t>
            </a:fld>
            <a:endParaRPr lang="ru-RU" sz="1400">
              <a:solidFill>
                <a:schemeClr val="tx1"/>
              </a:solidFill>
            </a:endParaRPr>
          </a:p>
        </p:txBody>
      </p:sp>
      <p:sp>
        <p:nvSpPr>
          <p:cNvPr id="12" name="TextBox 11">
            <a:extLst>
              <a:ext uri="{FF2B5EF4-FFF2-40B4-BE49-F238E27FC236}">
                <a16:creationId xmlns:a16="http://schemas.microsoft.com/office/drawing/2014/main" id="{D5BF8DF3-AD49-48CC-A0F3-14687C051AC5}"/>
              </a:ext>
            </a:extLst>
          </p:cNvPr>
          <p:cNvSpPr txBox="1"/>
          <p:nvPr/>
        </p:nvSpPr>
        <p:spPr>
          <a:xfrm>
            <a:off x="455802" y="1092774"/>
            <a:ext cx="11812910" cy="3262432"/>
          </a:xfrm>
          <a:prstGeom prst="rect">
            <a:avLst/>
          </a:prstGeom>
          <a:noFill/>
        </p:spPr>
        <p:txBody>
          <a:bodyPr wrap="square">
            <a:spAutoFit/>
          </a:bodyPr>
          <a:lstStyle/>
          <a:p>
            <a:r>
              <a:rPr lang="ru-RU" b="1" dirty="0"/>
              <a:t>t‑критерий Стьюдента</a:t>
            </a:r>
          </a:p>
          <a:p>
            <a:r>
              <a:rPr lang="ru-RU" sz="1800" dirty="0"/>
              <a:t>Это статистический метод для проверки гипотез, основанный на распределении Стьюдента. Он позволяет оценить, являются ли </a:t>
            </a:r>
            <a:r>
              <a:rPr lang="ru-RU" sz="1800" b="1" dirty="0"/>
              <a:t>различия между средними значениями двух групп </a:t>
            </a:r>
            <a:r>
              <a:rPr lang="ru-RU" sz="1800" dirty="0"/>
              <a:t>(или между средним значением выборки и эталонным значением) </a:t>
            </a:r>
            <a:r>
              <a:rPr lang="ru-RU" sz="1800" b="1" dirty="0"/>
              <a:t>статистически значимыми </a:t>
            </a:r>
            <a:r>
              <a:rPr lang="ru-RU" sz="1800" dirty="0"/>
              <a:t>— </a:t>
            </a:r>
            <a:r>
              <a:rPr lang="ru-RU" sz="1800" b="1" dirty="0"/>
              <a:t>или они могли возникнуть случайно.</a:t>
            </a:r>
          </a:p>
          <a:p>
            <a:r>
              <a:rPr lang="ru-RU" sz="1800" dirty="0"/>
              <a:t>Критерий назван в честь Уильяма </a:t>
            </a:r>
            <a:r>
              <a:rPr lang="ru-RU" sz="1800" dirty="0" err="1"/>
              <a:t>Госсета</a:t>
            </a:r>
            <a:r>
              <a:rPr lang="ru-RU" sz="1800" dirty="0"/>
              <a:t>, который разработал его в 1908 году и публиковал свои работы под псевдонимом «</a:t>
            </a:r>
            <a:r>
              <a:rPr lang="ru-RU" sz="1800" dirty="0" err="1"/>
              <a:t>Student</a:t>
            </a:r>
            <a:r>
              <a:rPr lang="ru-RU" sz="1800" dirty="0"/>
              <a:t>» («Студент»). Изначально метод использовался для контроля качества продукции на пивоваренной фабрике </a:t>
            </a:r>
            <a:r>
              <a:rPr lang="ru-RU" sz="1800" dirty="0" err="1"/>
              <a:t>Guinness</a:t>
            </a:r>
            <a:r>
              <a:rPr lang="ru-RU" sz="1800" dirty="0"/>
              <a:t>.</a:t>
            </a:r>
          </a:p>
          <a:p>
            <a:endParaRPr lang="ru-RU" b="1" dirty="0"/>
          </a:p>
          <a:p>
            <a:r>
              <a:rPr lang="ru-RU" b="1" dirty="0" err="1"/>
              <a:t>Одновыборочный</a:t>
            </a:r>
            <a:r>
              <a:rPr lang="ru-RU" b="1" dirty="0"/>
              <a:t> t‑критерий</a:t>
            </a:r>
            <a:r>
              <a:rPr lang="ru-RU" dirty="0"/>
              <a:t> (One‑</a:t>
            </a:r>
            <a:r>
              <a:rPr lang="ru-RU" dirty="0" err="1"/>
              <a:t>sample</a:t>
            </a:r>
            <a:r>
              <a:rPr lang="ru-RU" dirty="0"/>
              <a:t> t-</a:t>
            </a:r>
            <a:r>
              <a:rPr lang="ru-RU" dirty="0" err="1"/>
              <a:t>test</a:t>
            </a:r>
            <a:r>
              <a:rPr lang="ru-RU" dirty="0"/>
              <a:t>):</a:t>
            </a:r>
          </a:p>
          <a:p>
            <a:pPr marL="742950" lvl="1" indent="-285750">
              <a:buFont typeface="+mj-lt"/>
              <a:buAutoNum type="arabicPeriod"/>
            </a:pPr>
            <a:r>
              <a:rPr lang="ru-RU" dirty="0"/>
              <a:t>Проверяется, отличается ли среднее значение X от гипотетического μ</a:t>
            </a:r>
            <a:r>
              <a:rPr lang="ru-RU" baseline="-25000" dirty="0"/>
              <a:t>0</a:t>
            </a:r>
            <a:r>
              <a:rPr lang="ru-RU" dirty="0"/>
              <a:t>​.</a:t>
            </a:r>
          </a:p>
        </p:txBody>
      </p:sp>
      <p:sp>
        <p:nvSpPr>
          <p:cNvPr id="14" name="TextBox 13">
            <a:extLst>
              <a:ext uri="{FF2B5EF4-FFF2-40B4-BE49-F238E27FC236}">
                <a16:creationId xmlns:a16="http://schemas.microsoft.com/office/drawing/2014/main" id="{FAF9B310-C304-4A27-A94B-2407448E46DD}"/>
              </a:ext>
            </a:extLst>
          </p:cNvPr>
          <p:cNvSpPr txBox="1"/>
          <p:nvPr/>
        </p:nvSpPr>
        <p:spPr>
          <a:xfrm>
            <a:off x="613409" y="5713658"/>
            <a:ext cx="11712770" cy="1323439"/>
          </a:xfrm>
          <a:prstGeom prst="rect">
            <a:avLst/>
          </a:prstGeom>
          <a:noFill/>
        </p:spPr>
        <p:txBody>
          <a:bodyPr wrap="square">
            <a:spAutoFit/>
          </a:bodyPr>
          <a:lstStyle/>
          <a:p>
            <a:r>
              <a:rPr lang="ru-RU" dirty="0"/>
              <a:t>В реальных задачах генеральная дисперсия чаще </a:t>
            </a:r>
            <a:r>
              <a:rPr lang="ru-RU" b="1" dirty="0"/>
              <a:t>неизвестна</a:t>
            </a:r>
            <a:r>
              <a:rPr lang="ru-RU" dirty="0"/>
              <a:t>, поэтому при сравнении средних двух независимых выборок обычно используется </a:t>
            </a:r>
            <a:r>
              <a:rPr lang="ru-RU" b="1" dirty="0"/>
              <a:t>t-критерий</a:t>
            </a:r>
            <a:r>
              <a:rPr lang="ru-RU" dirty="0"/>
              <a:t> (Стьюдента или Уэлча), а z-критерий остаётся для сравнения долей или для ситуаций, где дисперсия известна априори (редко).</a:t>
            </a:r>
          </a:p>
        </p:txBody>
      </p:sp>
      <p:pic>
        <p:nvPicPr>
          <p:cNvPr id="15" name="Рисунок 14">
            <a:extLst>
              <a:ext uri="{FF2B5EF4-FFF2-40B4-BE49-F238E27FC236}">
                <a16:creationId xmlns:a16="http://schemas.microsoft.com/office/drawing/2014/main" id="{4087F259-C09C-48A3-B132-F0505410FE91}"/>
              </a:ext>
            </a:extLst>
          </p:cNvPr>
          <p:cNvPicPr>
            <a:picLocks noChangeAspect="1"/>
          </p:cNvPicPr>
          <p:nvPr/>
        </p:nvPicPr>
        <p:blipFill>
          <a:blip r:embed="rId3"/>
          <a:stretch>
            <a:fillRect/>
          </a:stretch>
        </p:blipFill>
        <p:spPr>
          <a:xfrm>
            <a:off x="1295759" y="4453785"/>
            <a:ext cx="1526455" cy="774970"/>
          </a:xfrm>
          <a:prstGeom prst="rect">
            <a:avLst/>
          </a:prstGeom>
          <a:ln>
            <a:solidFill>
              <a:srgbClr val="FF0000"/>
            </a:solidFill>
          </a:ln>
        </p:spPr>
      </p:pic>
      <p:grpSp>
        <p:nvGrpSpPr>
          <p:cNvPr id="21" name="Группа 20">
            <a:extLst>
              <a:ext uri="{FF2B5EF4-FFF2-40B4-BE49-F238E27FC236}">
                <a16:creationId xmlns:a16="http://schemas.microsoft.com/office/drawing/2014/main" id="{4D1EF000-52B3-4F6C-8C41-6F0170518558}"/>
              </a:ext>
            </a:extLst>
          </p:cNvPr>
          <p:cNvGrpSpPr/>
          <p:nvPr/>
        </p:nvGrpSpPr>
        <p:grpSpPr>
          <a:xfrm>
            <a:off x="4173885" y="4143998"/>
            <a:ext cx="6556719" cy="1569660"/>
            <a:chOff x="4173885" y="4143998"/>
            <a:chExt cx="6556719" cy="1569660"/>
          </a:xfrm>
        </p:grpSpPr>
        <p:sp>
          <p:nvSpPr>
            <p:cNvPr id="17" name="TextBox 16">
              <a:extLst>
                <a:ext uri="{FF2B5EF4-FFF2-40B4-BE49-F238E27FC236}">
                  <a16:creationId xmlns:a16="http://schemas.microsoft.com/office/drawing/2014/main" id="{15EDA80A-641F-4491-83BB-CE5056052C54}"/>
                </a:ext>
              </a:extLst>
            </p:cNvPr>
            <p:cNvSpPr txBox="1"/>
            <p:nvPr/>
          </p:nvSpPr>
          <p:spPr>
            <a:xfrm>
              <a:off x="4173885" y="4143998"/>
              <a:ext cx="6556719" cy="1569660"/>
            </a:xfrm>
            <a:prstGeom prst="rect">
              <a:avLst/>
            </a:prstGeom>
            <a:noFill/>
          </p:spPr>
          <p:txBody>
            <a:bodyPr wrap="square">
              <a:spAutoFit/>
            </a:bodyPr>
            <a:lstStyle/>
            <a:p>
              <a:r>
                <a:rPr lang="ru-RU" sz="1600" dirty="0"/>
                <a:t>где:</a:t>
              </a:r>
            </a:p>
            <a:p>
              <a:pPr>
                <a:buFont typeface="Arial" panose="020B0604020202020204" pitchFamily="34" charset="0"/>
                <a:buChar char="•"/>
              </a:pPr>
              <a:r>
                <a:rPr lang="ru-RU" sz="1600" dirty="0"/>
                <a:t>X — выборочное среднее,</a:t>
              </a:r>
            </a:p>
            <a:p>
              <a:pPr>
                <a:buFont typeface="Arial" panose="020B0604020202020204" pitchFamily="34" charset="0"/>
                <a:buChar char="•"/>
              </a:pPr>
              <a:r>
                <a:rPr lang="ru-RU" sz="1600" dirty="0"/>
                <a:t>μ</a:t>
              </a:r>
              <a:r>
                <a:rPr lang="ru-RU" sz="1600" baseline="-25000" dirty="0"/>
                <a:t>0</a:t>
              </a:r>
              <a:r>
                <a:rPr lang="ru-RU" sz="1600" dirty="0"/>
                <a:t> — гипотетическое генеральное среднее,</a:t>
              </a:r>
            </a:p>
            <a:p>
              <a:pPr>
                <a:buFont typeface="Arial" panose="020B0604020202020204" pitchFamily="34" charset="0"/>
                <a:buChar char="•"/>
              </a:pPr>
              <a:r>
                <a:rPr lang="ru-RU" sz="1600" dirty="0"/>
                <a:t>s — выборочное стандартное отклонение </a:t>
              </a:r>
            </a:p>
            <a:p>
              <a:pPr>
                <a:buFont typeface="Arial" panose="020B0604020202020204" pitchFamily="34" charset="0"/>
                <a:buChar char="•"/>
              </a:pPr>
              <a:r>
                <a:rPr lang="ru-RU" sz="1600" dirty="0"/>
                <a:t>n — объём выборки.</a:t>
              </a:r>
            </a:p>
            <a:p>
              <a:r>
                <a:rPr lang="ru-RU" sz="1600" b="1" dirty="0"/>
                <a:t>Степени свободы:</a:t>
              </a:r>
              <a:r>
                <a:rPr lang="ru-RU" sz="1600" dirty="0"/>
                <a:t> </a:t>
              </a:r>
              <a:r>
                <a:rPr lang="ru-RU" sz="1600" dirty="0" err="1"/>
                <a:t>df</a:t>
              </a:r>
              <a:r>
                <a:rPr lang="ru-RU" sz="1600" dirty="0"/>
                <a:t>=n−1.</a:t>
              </a:r>
            </a:p>
          </p:txBody>
        </p:sp>
        <p:pic>
          <p:nvPicPr>
            <p:cNvPr id="19" name="Рисунок 18">
              <a:extLst>
                <a:ext uri="{FF2B5EF4-FFF2-40B4-BE49-F238E27FC236}">
                  <a16:creationId xmlns:a16="http://schemas.microsoft.com/office/drawing/2014/main" id="{F38B0A98-FE70-4BCE-B958-4E54E086FAC2}"/>
                </a:ext>
              </a:extLst>
            </p:cNvPr>
            <p:cNvPicPr>
              <a:picLocks noChangeAspect="1"/>
            </p:cNvPicPr>
            <p:nvPr/>
          </p:nvPicPr>
          <p:blipFill>
            <a:blip r:embed="rId4"/>
            <a:stretch>
              <a:fillRect/>
            </a:stretch>
          </p:blipFill>
          <p:spPr>
            <a:xfrm>
              <a:off x="8566373" y="4487981"/>
              <a:ext cx="1609950" cy="495369"/>
            </a:xfrm>
            <a:prstGeom prst="rect">
              <a:avLst/>
            </a:prstGeom>
          </p:spPr>
        </p:pic>
      </p:grpSp>
      <p:sp>
        <p:nvSpPr>
          <p:cNvPr id="20" name="TextBox 19">
            <a:extLst>
              <a:ext uri="{FF2B5EF4-FFF2-40B4-BE49-F238E27FC236}">
                <a16:creationId xmlns:a16="http://schemas.microsoft.com/office/drawing/2014/main" id="{F27A783D-D2EF-44E2-88C6-A09046E94EF5}"/>
              </a:ext>
            </a:extLst>
          </p:cNvPr>
          <p:cNvSpPr txBox="1"/>
          <p:nvPr/>
        </p:nvSpPr>
        <p:spPr>
          <a:xfrm>
            <a:off x="2971532" y="4688844"/>
            <a:ext cx="505412" cy="400110"/>
          </a:xfrm>
          <a:prstGeom prst="rect">
            <a:avLst/>
          </a:prstGeom>
          <a:noFill/>
        </p:spPr>
        <p:txBody>
          <a:bodyPr wrap="square">
            <a:spAutoFit/>
          </a:bodyPr>
          <a:lstStyle/>
          <a:p>
            <a:r>
              <a:rPr lang="ru-RU" b="1" dirty="0"/>
              <a:t>(2)</a:t>
            </a:r>
            <a:endParaRPr lang="ru-RU" dirty="0"/>
          </a:p>
        </p:txBody>
      </p:sp>
    </p:spTree>
    <p:extLst>
      <p:ext uri="{BB962C8B-B14F-4D97-AF65-F5344CB8AC3E}">
        <p14:creationId xmlns:p14="http://schemas.microsoft.com/office/powerpoint/2010/main" val="22807837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4"/>
          <p:cNvSpPr>
            <a:spLocks noChangeArrowheads="1"/>
          </p:cNvSpPr>
          <p:nvPr/>
        </p:nvSpPr>
        <p:spPr bwMode="auto">
          <a:xfrm>
            <a:off x="1016725" y="530470"/>
            <a:ext cx="11377264" cy="5782688"/>
          </a:xfrm>
          <a:prstGeom prst="roundRect">
            <a:avLst>
              <a:gd name="adj" fmla="val 16667"/>
            </a:avLst>
          </a:prstGeom>
          <a:solidFill>
            <a:schemeClr val="bg1">
              <a:alpha val="50195"/>
            </a:scheme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5" name="AutoShape 5"/>
          <p:cNvSpPr>
            <a:spLocks noChangeArrowheads="1"/>
          </p:cNvSpPr>
          <p:nvPr/>
        </p:nvSpPr>
        <p:spPr bwMode="auto">
          <a:xfrm>
            <a:off x="2373685" y="322264"/>
            <a:ext cx="8064128" cy="720601"/>
          </a:xfrm>
          <a:prstGeom prst="roundRect">
            <a:avLst>
              <a:gd name="adj" fmla="val 37469"/>
            </a:avLst>
          </a:prstGeom>
          <a:solidFill>
            <a:srgbClr val="FFFFFF">
              <a:alpha val="78822"/>
            </a:srgb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2" name="Заголовок 1"/>
          <p:cNvSpPr txBox="1">
            <a:spLocks noGrp="1"/>
          </p:cNvSpPr>
          <p:nvPr>
            <p:ph type="title" idx="4294967295"/>
          </p:nvPr>
        </p:nvSpPr>
        <p:spPr>
          <a:xfrm>
            <a:off x="2058987" y="444702"/>
            <a:ext cx="8550275" cy="648072"/>
          </a:xfrm>
          <a:prstGeom prst="rect">
            <a:avLst/>
          </a:prstGeom>
        </p:spPr>
        <p:txBody>
          <a:bodyPr wrap="square">
            <a:noAutofit/>
          </a:bodyPr>
          <a:lstStyle/>
          <a:p>
            <a:pPr lvl="0"/>
            <a:r>
              <a:rPr lang="ru-RU" sz="3200" dirty="0"/>
              <a:t>Критерии статистики</a:t>
            </a:r>
          </a:p>
        </p:txBody>
      </p:sp>
      <p:sp>
        <p:nvSpPr>
          <p:cNvPr id="7" name="Номер слайда 6"/>
          <p:cNvSpPr>
            <a:spLocks noGrp="1"/>
          </p:cNvSpPr>
          <p:nvPr>
            <p:ph type="sldNum" sz="quarter" idx="12"/>
          </p:nvPr>
        </p:nvSpPr>
        <p:spPr/>
        <p:txBody>
          <a:bodyPr/>
          <a:lstStyle/>
          <a:p>
            <a:fld id="{952B6C0E-C4B9-4094-8E59-5B7DF00D5415}" type="slidenum">
              <a:rPr lang="ru-RU" sz="1400">
                <a:solidFill>
                  <a:schemeClr val="tx1"/>
                </a:solidFill>
              </a:rPr>
              <a:t>100</a:t>
            </a:fld>
            <a:endParaRPr lang="ru-RU" sz="1400">
              <a:solidFill>
                <a:schemeClr val="tx1"/>
              </a:solidFill>
            </a:endParaRPr>
          </a:p>
        </p:txBody>
      </p:sp>
      <p:sp>
        <p:nvSpPr>
          <p:cNvPr id="12" name="TextBox 11">
            <a:extLst>
              <a:ext uri="{FF2B5EF4-FFF2-40B4-BE49-F238E27FC236}">
                <a16:creationId xmlns:a16="http://schemas.microsoft.com/office/drawing/2014/main" id="{BBE4EB51-544C-4F74-B78F-B37AA8611DFC}"/>
              </a:ext>
            </a:extLst>
          </p:cNvPr>
          <p:cNvSpPr txBox="1"/>
          <p:nvPr/>
        </p:nvSpPr>
        <p:spPr>
          <a:xfrm>
            <a:off x="1113544" y="1931928"/>
            <a:ext cx="10441160" cy="1631216"/>
          </a:xfrm>
          <a:prstGeom prst="rect">
            <a:avLst/>
          </a:prstGeom>
          <a:noFill/>
        </p:spPr>
        <p:txBody>
          <a:bodyPr wrap="square">
            <a:spAutoFit/>
          </a:bodyPr>
          <a:lstStyle/>
          <a:p>
            <a:r>
              <a:rPr lang="ru-RU" dirty="0"/>
              <a:t>t-статистика — это стандартизированная мера различия (сигнал/шум). p-</a:t>
            </a:r>
            <a:r>
              <a:rPr lang="ru-RU" dirty="0" err="1"/>
              <a:t>value</a:t>
            </a:r>
            <a:r>
              <a:rPr lang="ru-RU" dirty="0"/>
              <a:t> — это вероятность увидеть такое (или более сильное) различие случайно. Они обратно связаны: чем больше ∣t∣, тем меньше p-</a:t>
            </a:r>
            <a:r>
              <a:rPr lang="ru-RU" dirty="0" err="1"/>
              <a:t>value</a:t>
            </a:r>
            <a:r>
              <a:rPr lang="ru-RU" dirty="0"/>
              <a:t>. Чтобы получить p-</a:t>
            </a:r>
            <a:r>
              <a:rPr lang="ru-RU" dirty="0" err="1"/>
              <a:t>value</a:t>
            </a:r>
            <a:r>
              <a:rPr lang="ru-RU" dirty="0"/>
              <a:t>, нужно вычислить интеграл от плотности распределения Стьюдента от ∣t∣ до бесконечности (и умножить на 2).</a:t>
            </a:r>
          </a:p>
        </p:txBody>
      </p:sp>
      <p:sp>
        <p:nvSpPr>
          <p:cNvPr id="14" name="TextBox 13">
            <a:extLst>
              <a:ext uri="{FF2B5EF4-FFF2-40B4-BE49-F238E27FC236}">
                <a16:creationId xmlns:a16="http://schemas.microsoft.com/office/drawing/2014/main" id="{E891D7A6-A643-48DD-99CD-7FB96080AAE6}"/>
              </a:ext>
            </a:extLst>
          </p:cNvPr>
          <p:cNvSpPr txBox="1"/>
          <p:nvPr/>
        </p:nvSpPr>
        <p:spPr>
          <a:xfrm>
            <a:off x="3021757" y="1165303"/>
            <a:ext cx="6334760" cy="400110"/>
          </a:xfrm>
          <a:prstGeom prst="rect">
            <a:avLst/>
          </a:prstGeom>
          <a:noFill/>
        </p:spPr>
        <p:txBody>
          <a:bodyPr wrap="square">
            <a:spAutoFit/>
          </a:bodyPr>
          <a:lstStyle/>
          <a:p>
            <a:pPr algn="ctr"/>
            <a:r>
              <a:rPr lang="ru-RU" b="1" dirty="0"/>
              <a:t>Как связан t-критерий с p-</a:t>
            </a:r>
            <a:r>
              <a:rPr lang="ru-RU" b="1" dirty="0" err="1"/>
              <a:t>value</a:t>
            </a:r>
            <a:r>
              <a:rPr lang="ru-RU" b="1" dirty="0"/>
              <a:t>?</a:t>
            </a:r>
          </a:p>
        </p:txBody>
      </p:sp>
      <p:sp>
        <p:nvSpPr>
          <p:cNvPr id="16" name="TextBox 15">
            <a:extLst>
              <a:ext uri="{FF2B5EF4-FFF2-40B4-BE49-F238E27FC236}">
                <a16:creationId xmlns:a16="http://schemas.microsoft.com/office/drawing/2014/main" id="{4263A8F1-8074-4B02-B208-71E0654EC3D1}"/>
              </a:ext>
            </a:extLst>
          </p:cNvPr>
          <p:cNvSpPr txBox="1"/>
          <p:nvPr/>
        </p:nvSpPr>
        <p:spPr>
          <a:xfrm>
            <a:off x="2881339" y="4945485"/>
            <a:ext cx="8349330" cy="1323439"/>
          </a:xfrm>
          <a:prstGeom prst="rect">
            <a:avLst/>
          </a:prstGeom>
          <a:noFill/>
        </p:spPr>
        <p:txBody>
          <a:bodyPr wrap="square">
            <a:spAutoFit/>
          </a:bodyPr>
          <a:lstStyle/>
          <a:p>
            <a:r>
              <a:rPr lang="ru-RU" b="1" dirty="0"/>
              <a:t>Пример:</a:t>
            </a:r>
            <a:endParaRPr lang="ru-RU" dirty="0"/>
          </a:p>
          <a:p>
            <a:pPr>
              <a:buFont typeface="Arial" panose="020B0604020202020204" pitchFamily="34" charset="0"/>
              <a:buChar char="•"/>
            </a:pPr>
            <a:r>
              <a:rPr lang="ru-RU" dirty="0"/>
              <a:t>Вычислили t=2.5 при </a:t>
            </a:r>
            <a:r>
              <a:rPr lang="ru-RU" dirty="0" err="1"/>
              <a:t>df</a:t>
            </a:r>
            <a:r>
              <a:rPr lang="ru-RU" dirty="0"/>
              <a:t>=20.</a:t>
            </a:r>
          </a:p>
          <a:p>
            <a:pPr>
              <a:buFont typeface="Arial" panose="020B0604020202020204" pitchFamily="34" charset="0"/>
              <a:buChar char="•"/>
            </a:pPr>
            <a:r>
              <a:rPr lang="ru-RU" dirty="0"/>
              <a:t>По таблице или в программе</a:t>
            </a:r>
            <a:r>
              <a:rPr lang="en-US" dirty="0"/>
              <a:t> </a:t>
            </a:r>
            <a:r>
              <a:rPr lang="ru-RU" dirty="0"/>
              <a:t>получили: P(T≥2.5)≈0.0106.</a:t>
            </a:r>
          </a:p>
          <a:p>
            <a:pPr>
              <a:buFont typeface="Arial" panose="020B0604020202020204" pitchFamily="34" charset="0"/>
              <a:buChar char="•"/>
            </a:pPr>
            <a:r>
              <a:rPr lang="ru-RU" dirty="0"/>
              <a:t>Для двустороннего теста: p-value≈2×0.0106=0.0212</a:t>
            </a:r>
          </a:p>
        </p:txBody>
      </p:sp>
      <p:pic>
        <p:nvPicPr>
          <p:cNvPr id="6" name="Рисунок 5">
            <a:extLst>
              <a:ext uri="{FF2B5EF4-FFF2-40B4-BE49-F238E27FC236}">
                <a16:creationId xmlns:a16="http://schemas.microsoft.com/office/drawing/2014/main" id="{6A77FCAE-B725-40A0-A4CD-BEB339C70596}"/>
              </a:ext>
            </a:extLst>
          </p:cNvPr>
          <p:cNvPicPr>
            <a:picLocks noChangeAspect="1"/>
          </p:cNvPicPr>
          <p:nvPr/>
        </p:nvPicPr>
        <p:blipFill>
          <a:blip r:embed="rId3"/>
          <a:stretch>
            <a:fillRect/>
          </a:stretch>
        </p:blipFill>
        <p:spPr>
          <a:xfrm>
            <a:off x="5048070" y="3415486"/>
            <a:ext cx="3314575" cy="380562"/>
          </a:xfrm>
          <a:prstGeom prst="rect">
            <a:avLst/>
          </a:prstGeom>
        </p:spPr>
      </p:pic>
      <p:sp>
        <p:nvSpPr>
          <p:cNvPr id="13" name="TextBox 12">
            <a:extLst>
              <a:ext uri="{FF2B5EF4-FFF2-40B4-BE49-F238E27FC236}">
                <a16:creationId xmlns:a16="http://schemas.microsoft.com/office/drawing/2014/main" id="{D525DD3E-CF9D-4E1F-B8CA-DE1BC942A14E}"/>
              </a:ext>
            </a:extLst>
          </p:cNvPr>
          <p:cNvSpPr txBox="1"/>
          <p:nvPr/>
        </p:nvSpPr>
        <p:spPr>
          <a:xfrm>
            <a:off x="1114149" y="3975057"/>
            <a:ext cx="11272246" cy="707886"/>
          </a:xfrm>
          <a:prstGeom prst="rect">
            <a:avLst/>
          </a:prstGeom>
          <a:noFill/>
        </p:spPr>
        <p:txBody>
          <a:bodyPr wrap="square">
            <a:spAutoFit/>
          </a:bodyPr>
          <a:lstStyle/>
          <a:p>
            <a:r>
              <a:rPr lang="ru-RU" dirty="0"/>
              <a:t>p-</a:t>
            </a:r>
            <a:r>
              <a:rPr lang="ru-RU" dirty="0" err="1"/>
              <a:t>value</a:t>
            </a:r>
            <a:r>
              <a:rPr lang="ru-RU" dirty="0"/>
              <a:t> — это вероятность получить значение t-статистики, равное или более экстремальное (дальше от нуля), чем наблюдаемое значение </a:t>
            </a:r>
            <a:r>
              <a:rPr lang="ru-RU" dirty="0" err="1"/>
              <a:t>t</a:t>
            </a:r>
            <a:r>
              <a:rPr lang="ru-RU" baseline="-25000" dirty="0" err="1">
                <a:effectLst/>
              </a:rPr>
              <a:t>набл</a:t>
            </a:r>
            <a:r>
              <a:rPr lang="ru-RU" dirty="0"/>
              <a:t>​, при условии, что нулевая гипотеза верна.</a:t>
            </a:r>
          </a:p>
        </p:txBody>
      </p:sp>
    </p:spTree>
    <p:extLst>
      <p:ext uri="{BB962C8B-B14F-4D97-AF65-F5344CB8AC3E}">
        <p14:creationId xmlns:p14="http://schemas.microsoft.com/office/powerpoint/2010/main" val="27541690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4"/>
          <p:cNvSpPr>
            <a:spLocks noChangeArrowheads="1"/>
          </p:cNvSpPr>
          <p:nvPr/>
        </p:nvSpPr>
        <p:spPr bwMode="auto">
          <a:xfrm>
            <a:off x="501477" y="1069937"/>
            <a:ext cx="11953328" cy="5782688"/>
          </a:xfrm>
          <a:prstGeom prst="roundRect">
            <a:avLst>
              <a:gd name="adj" fmla="val 16667"/>
            </a:avLst>
          </a:prstGeom>
          <a:solidFill>
            <a:schemeClr val="bg1">
              <a:alpha val="50195"/>
            </a:scheme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5" name="AutoShape 5"/>
          <p:cNvSpPr>
            <a:spLocks noChangeArrowheads="1"/>
          </p:cNvSpPr>
          <p:nvPr/>
        </p:nvSpPr>
        <p:spPr bwMode="auto">
          <a:xfrm>
            <a:off x="2373685" y="322264"/>
            <a:ext cx="8064128" cy="720601"/>
          </a:xfrm>
          <a:prstGeom prst="roundRect">
            <a:avLst>
              <a:gd name="adj" fmla="val 37469"/>
            </a:avLst>
          </a:prstGeom>
          <a:solidFill>
            <a:srgbClr val="FFFFFF">
              <a:alpha val="78822"/>
            </a:srgb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2" name="Заголовок 1"/>
          <p:cNvSpPr txBox="1">
            <a:spLocks noGrp="1"/>
          </p:cNvSpPr>
          <p:nvPr>
            <p:ph type="title" idx="4294967295"/>
          </p:nvPr>
        </p:nvSpPr>
        <p:spPr>
          <a:xfrm>
            <a:off x="2058987" y="444702"/>
            <a:ext cx="8550275" cy="648072"/>
          </a:xfrm>
          <a:prstGeom prst="rect">
            <a:avLst/>
          </a:prstGeom>
        </p:spPr>
        <p:txBody>
          <a:bodyPr wrap="square">
            <a:noAutofit/>
          </a:bodyPr>
          <a:lstStyle/>
          <a:p>
            <a:pPr lvl="0"/>
            <a:r>
              <a:rPr lang="ru-RU" sz="3200" dirty="0"/>
              <a:t>Критерии статистики</a:t>
            </a:r>
          </a:p>
        </p:txBody>
      </p:sp>
      <p:sp>
        <p:nvSpPr>
          <p:cNvPr id="7" name="Номер слайда 6"/>
          <p:cNvSpPr>
            <a:spLocks noGrp="1"/>
          </p:cNvSpPr>
          <p:nvPr>
            <p:ph type="sldNum" sz="quarter" idx="12"/>
          </p:nvPr>
        </p:nvSpPr>
        <p:spPr/>
        <p:txBody>
          <a:bodyPr/>
          <a:lstStyle/>
          <a:p>
            <a:fld id="{952B6C0E-C4B9-4094-8E59-5B7DF00D5415}" type="slidenum">
              <a:rPr lang="ru-RU" sz="1400">
                <a:solidFill>
                  <a:schemeClr val="tx1"/>
                </a:solidFill>
              </a:rPr>
              <a:t>101</a:t>
            </a:fld>
            <a:endParaRPr lang="ru-RU" sz="1400">
              <a:solidFill>
                <a:schemeClr val="tx1"/>
              </a:solidFill>
            </a:endParaRPr>
          </a:p>
        </p:txBody>
      </p:sp>
      <p:sp>
        <p:nvSpPr>
          <p:cNvPr id="12" name="TextBox 11">
            <a:extLst>
              <a:ext uri="{FF2B5EF4-FFF2-40B4-BE49-F238E27FC236}">
                <a16:creationId xmlns:a16="http://schemas.microsoft.com/office/drawing/2014/main" id="{BBE4EB51-544C-4F74-B78F-B37AA8611DFC}"/>
              </a:ext>
            </a:extLst>
          </p:cNvPr>
          <p:cNvSpPr txBox="1"/>
          <p:nvPr/>
        </p:nvSpPr>
        <p:spPr>
          <a:xfrm>
            <a:off x="713903" y="1565413"/>
            <a:ext cx="11672492" cy="1938992"/>
          </a:xfrm>
          <a:prstGeom prst="rect">
            <a:avLst/>
          </a:prstGeom>
          <a:noFill/>
        </p:spPr>
        <p:txBody>
          <a:bodyPr wrap="square">
            <a:spAutoFit/>
          </a:bodyPr>
          <a:lstStyle/>
          <a:p>
            <a:r>
              <a:rPr lang="ru-RU" dirty="0"/>
              <a:t>Допустим, что компания, производящая сыр, желает проверить качество поставляемого молока. В частности, ее интересует, не подмешивает ли поставщик воду в молоко. Как известно, добавление воды снижает температуру замерзания молока, которая равна –0,545°С. Стандартное отклонение температуры замерзания молока равно 0,008°С. Поскольку компанию интересует, не стала ли температура замерзания молока ниже номинальной, область отклонения гипотезы теперь ограничена лишь левым хвостом распределения.</a:t>
            </a:r>
          </a:p>
        </p:txBody>
      </p:sp>
      <p:sp>
        <p:nvSpPr>
          <p:cNvPr id="14" name="TextBox 13">
            <a:extLst>
              <a:ext uri="{FF2B5EF4-FFF2-40B4-BE49-F238E27FC236}">
                <a16:creationId xmlns:a16="http://schemas.microsoft.com/office/drawing/2014/main" id="{E891D7A6-A643-48DD-99CD-7FB96080AAE6}"/>
              </a:ext>
            </a:extLst>
          </p:cNvPr>
          <p:cNvSpPr txBox="1"/>
          <p:nvPr/>
        </p:nvSpPr>
        <p:spPr>
          <a:xfrm>
            <a:off x="3021757" y="1165303"/>
            <a:ext cx="6334760" cy="400110"/>
          </a:xfrm>
          <a:prstGeom prst="rect">
            <a:avLst/>
          </a:prstGeom>
          <a:noFill/>
        </p:spPr>
        <p:txBody>
          <a:bodyPr wrap="square">
            <a:spAutoFit/>
          </a:bodyPr>
          <a:lstStyle/>
          <a:p>
            <a:pPr algn="ctr"/>
            <a:r>
              <a:rPr lang="ru-RU" b="1" dirty="0"/>
              <a:t>Рассмотрим пример</a:t>
            </a:r>
          </a:p>
        </p:txBody>
      </p:sp>
      <p:sp>
        <p:nvSpPr>
          <p:cNvPr id="18" name="TextBox 17">
            <a:extLst>
              <a:ext uri="{FF2B5EF4-FFF2-40B4-BE49-F238E27FC236}">
                <a16:creationId xmlns:a16="http://schemas.microsoft.com/office/drawing/2014/main" id="{23216DC7-DE2E-4C2E-B25E-B58B4FE47065}"/>
              </a:ext>
            </a:extLst>
          </p:cNvPr>
          <p:cNvSpPr txBox="1"/>
          <p:nvPr/>
        </p:nvSpPr>
        <p:spPr>
          <a:xfrm>
            <a:off x="645493" y="3660600"/>
            <a:ext cx="11809312" cy="2862322"/>
          </a:xfrm>
          <a:prstGeom prst="rect">
            <a:avLst/>
          </a:prstGeom>
          <a:noFill/>
        </p:spPr>
        <p:txBody>
          <a:bodyPr wrap="square">
            <a:spAutoFit/>
          </a:bodyPr>
          <a:lstStyle/>
          <a:p>
            <a:r>
              <a:rPr lang="ru-RU" dirty="0"/>
              <a:t>В данном примере нулевая и альтернативная гипотезы формулируются так:</a:t>
            </a:r>
          </a:p>
          <a:p>
            <a:endParaRPr lang="ru-RU" dirty="0"/>
          </a:p>
          <a:p>
            <a:r>
              <a:rPr lang="ru-RU" b="1" dirty="0"/>
              <a:t>Шаг 1. </a:t>
            </a:r>
            <a:r>
              <a:rPr lang="ru-RU" dirty="0"/>
              <a:t>Н</a:t>
            </a:r>
            <a:r>
              <a:rPr lang="ru-RU" baseline="-25000" dirty="0"/>
              <a:t>0</a:t>
            </a:r>
            <a:r>
              <a:rPr lang="ru-RU" dirty="0"/>
              <a:t>: μ ≥ –0,545°С. </a:t>
            </a:r>
            <a:r>
              <a:rPr lang="ru-RU" b="1" dirty="0"/>
              <a:t>Шаг 2. </a:t>
            </a:r>
            <a:r>
              <a:rPr lang="ru-RU" dirty="0"/>
              <a:t>Н</a:t>
            </a:r>
            <a:r>
              <a:rPr lang="ru-RU" baseline="-25000" dirty="0"/>
              <a:t>1</a:t>
            </a:r>
            <a:r>
              <a:rPr lang="ru-RU" dirty="0"/>
              <a:t>: μ &lt; –0,545°С.</a:t>
            </a:r>
          </a:p>
          <a:p>
            <a:endParaRPr lang="ru-RU" dirty="0"/>
          </a:p>
          <a:p>
            <a:r>
              <a:rPr lang="ru-RU" dirty="0"/>
              <a:t>Обратите внимание на то, что наша цель — доказать альтернативную гипотезу. Если нулевая гипотеза отклоняется, значит, у нас есть веские доказательства того, что температура замерзания молока меньше естественной. Если нулевая гипотеза не отклоняется, значит, у нас нет достаточных доказательств, чтобы утверждать, будто температура замерзания молока меньше естественной.</a:t>
            </a:r>
          </a:p>
        </p:txBody>
      </p:sp>
      <p:sp>
        <p:nvSpPr>
          <p:cNvPr id="20" name="TextBox 19">
            <a:extLst>
              <a:ext uri="{FF2B5EF4-FFF2-40B4-BE49-F238E27FC236}">
                <a16:creationId xmlns:a16="http://schemas.microsoft.com/office/drawing/2014/main" id="{7C1D96C2-D525-4D61-B430-4907572A4932}"/>
              </a:ext>
            </a:extLst>
          </p:cNvPr>
          <p:cNvSpPr txBox="1"/>
          <p:nvPr/>
        </p:nvSpPr>
        <p:spPr>
          <a:xfrm>
            <a:off x="713903" y="6555172"/>
            <a:ext cx="6334760" cy="400110"/>
          </a:xfrm>
          <a:prstGeom prst="rect">
            <a:avLst/>
          </a:prstGeom>
          <a:noFill/>
        </p:spPr>
        <p:txBody>
          <a:bodyPr wrap="square">
            <a:spAutoFit/>
          </a:bodyPr>
          <a:lstStyle/>
          <a:p>
            <a:r>
              <a:rPr lang="ru-RU" b="1" dirty="0"/>
              <a:t>Шаг 3. </a:t>
            </a:r>
            <a:r>
              <a:rPr lang="el-GR" dirty="0"/>
              <a:t>α = 0,05. </a:t>
            </a:r>
            <a:r>
              <a:rPr lang="ru-RU" b="1" dirty="0"/>
              <a:t>Шаг 4. </a:t>
            </a:r>
            <a:r>
              <a:rPr lang="en-US" i="1" dirty="0"/>
              <a:t>n</a:t>
            </a:r>
            <a:r>
              <a:rPr lang="en-US" dirty="0"/>
              <a:t> = 25.</a:t>
            </a:r>
            <a:endParaRPr lang="ru-RU" dirty="0"/>
          </a:p>
        </p:txBody>
      </p:sp>
    </p:spTree>
    <p:extLst>
      <p:ext uri="{BB962C8B-B14F-4D97-AF65-F5344CB8AC3E}">
        <p14:creationId xmlns:p14="http://schemas.microsoft.com/office/powerpoint/2010/main" val="26090615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4"/>
          <p:cNvSpPr>
            <a:spLocks noChangeArrowheads="1"/>
          </p:cNvSpPr>
          <p:nvPr/>
        </p:nvSpPr>
        <p:spPr bwMode="auto">
          <a:xfrm>
            <a:off x="429469" y="1069937"/>
            <a:ext cx="11809312" cy="5782688"/>
          </a:xfrm>
          <a:prstGeom prst="roundRect">
            <a:avLst>
              <a:gd name="adj" fmla="val 16667"/>
            </a:avLst>
          </a:prstGeom>
          <a:solidFill>
            <a:schemeClr val="bg1">
              <a:alpha val="50195"/>
            </a:scheme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5" name="AutoShape 5"/>
          <p:cNvSpPr>
            <a:spLocks noChangeArrowheads="1"/>
          </p:cNvSpPr>
          <p:nvPr/>
        </p:nvSpPr>
        <p:spPr bwMode="auto">
          <a:xfrm>
            <a:off x="2373685" y="322264"/>
            <a:ext cx="8064128" cy="720601"/>
          </a:xfrm>
          <a:prstGeom prst="roundRect">
            <a:avLst>
              <a:gd name="adj" fmla="val 37469"/>
            </a:avLst>
          </a:prstGeom>
          <a:solidFill>
            <a:srgbClr val="FFFFFF">
              <a:alpha val="78822"/>
            </a:srgb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2" name="Заголовок 1"/>
          <p:cNvSpPr txBox="1">
            <a:spLocks noGrp="1"/>
          </p:cNvSpPr>
          <p:nvPr>
            <p:ph type="title" idx="4294967295"/>
          </p:nvPr>
        </p:nvSpPr>
        <p:spPr>
          <a:xfrm>
            <a:off x="2058987" y="444702"/>
            <a:ext cx="8550275" cy="648072"/>
          </a:xfrm>
          <a:prstGeom prst="rect">
            <a:avLst/>
          </a:prstGeom>
        </p:spPr>
        <p:txBody>
          <a:bodyPr wrap="square">
            <a:noAutofit/>
          </a:bodyPr>
          <a:lstStyle/>
          <a:p>
            <a:pPr lvl="0"/>
            <a:r>
              <a:rPr lang="ru-RU" sz="3200" dirty="0"/>
              <a:t>Критерии статистики</a:t>
            </a:r>
          </a:p>
        </p:txBody>
      </p:sp>
      <p:sp>
        <p:nvSpPr>
          <p:cNvPr id="7" name="Номер слайда 6"/>
          <p:cNvSpPr>
            <a:spLocks noGrp="1"/>
          </p:cNvSpPr>
          <p:nvPr>
            <p:ph type="sldNum" sz="quarter" idx="12"/>
          </p:nvPr>
        </p:nvSpPr>
        <p:spPr/>
        <p:txBody>
          <a:bodyPr/>
          <a:lstStyle/>
          <a:p>
            <a:fld id="{952B6C0E-C4B9-4094-8E59-5B7DF00D5415}" type="slidenum">
              <a:rPr lang="ru-RU" sz="1400">
                <a:solidFill>
                  <a:schemeClr val="tx1"/>
                </a:solidFill>
              </a:rPr>
              <a:t>102</a:t>
            </a:fld>
            <a:endParaRPr lang="ru-RU" sz="1400">
              <a:solidFill>
                <a:schemeClr val="tx1"/>
              </a:solidFill>
            </a:endParaRPr>
          </a:p>
        </p:txBody>
      </p:sp>
      <p:sp>
        <p:nvSpPr>
          <p:cNvPr id="10" name="TextBox 9">
            <a:extLst>
              <a:ext uri="{FF2B5EF4-FFF2-40B4-BE49-F238E27FC236}">
                <a16:creationId xmlns:a16="http://schemas.microsoft.com/office/drawing/2014/main" id="{B2A3C96B-D35D-416A-AF63-36181BB64263}"/>
              </a:ext>
            </a:extLst>
          </p:cNvPr>
          <p:cNvSpPr txBox="1"/>
          <p:nvPr/>
        </p:nvSpPr>
        <p:spPr>
          <a:xfrm>
            <a:off x="466116" y="1569375"/>
            <a:ext cx="11736015" cy="3139321"/>
          </a:xfrm>
          <a:prstGeom prst="rect">
            <a:avLst/>
          </a:prstGeom>
          <a:noFill/>
        </p:spPr>
        <p:txBody>
          <a:bodyPr wrap="square">
            <a:spAutoFit/>
          </a:bodyPr>
          <a:lstStyle/>
          <a:p>
            <a:r>
              <a:rPr lang="ru-RU" sz="1800" b="1" dirty="0"/>
              <a:t>Шаг 5. </a:t>
            </a:r>
            <a:r>
              <a:rPr lang="ru-RU" sz="1800" dirty="0"/>
              <a:t>Для проверки гипотезы применяется </a:t>
            </a:r>
            <a:r>
              <a:rPr lang="ru-RU" sz="1800" i="1" dirty="0"/>
              <a:t>Z</a:t>
            </a:r>
            <a:r>
              <a:rPr lang="ru-RU" sz="1800" dirty="0"/>
              <a:t>-критерий, поскольку стандартное отклонение температуры замерзания молока </a:t>
            </a:r>
            <a:r>
              <a:rPr lang="ru-RU" sz="1800" b="1" dirty="0"/>
              <a:t>известно</a:t>
            </a:r>
            <a:r>
              <a:rPr lang="ru-RU" sz="1800" dirty="0"/>
              <a:t>.</a:t>
            </a:r>
          </a:p>
          <a:p>
            <a:r>
              <a:rPr lang="ru-RU" sz="1800" b="1" dirty="0"/>
              <a:t>Шаг 6. </a:t>
            </a:r>
            <a:r>
              <a:rPr lang="ru-RU" sz="1800" dirty="0"/>
              <a:t>Область отклонения гипотезы целиком ограничена левым хвостом распределения выборочных средних, поскольку мы хотим отклонить нулевую гипотезу </a:t>
            </a:r>
            <a:r>
              <a:rPr lang="ru-RU" sz="1800" i="1" dirty="0"/>
              <a:t>Н</a:t>
            </a:r>
            <a:r>
              <a:rPr lang="ru-RU" sz="1800" i="1" baseline="-25000" dirty="0"/>
              <a:t>0</a:t>
            </a:r>
            <a:r>
              <a:rPr lang="ru-RU" sz="1800" dirty="0"/>
              <a:t>, только если выборочное среднее </a:t>
            </a:r>
            <a:r>
              <a:rPr lang="ru-RU" sz="1800" b="1" dirty="0"/>
              <a:t>значительно</a:t>
            </a:r>
            <a:r>
              <a:rPr lang="ru-RU" sz="1800" dirty="0"/>
              <a:t> меньше –0,545°С. Когда область отклонения гипотезы ограничена только одним хвостом распределения, критерий называется односторонним или направленным. Если альтернативная гипотеза содержит знак «меньше», критическое значение тестовой статистики </a:t>
            </a:r>
            <a:r>
              <a:rPr lang="ru-RU" sz="1800" i="1" dirty="0"/>
              <a:t>Z</a:t>
            </a:r>
            <a:r>
              <a:rPr lang="ru-RU" sz="1800" dirty="0"/>
              <a:t> должно быть отрицательным. Поскольку вся область отклонения гипотезы ограничена левым хвостом стандартизованного нормального распределения и его площадь превышает 0,05, то площадь, ограниченная кривой и критическим значением тестовой статистики должна быть равной 0,05 (рис). Критическое значение тестовой статистики </a:t>
            </a:r>
            <a:r>
              <a:rPr lang="ru-RU" sz="1800" i="1" dirty="0"/>
              <a:t>Z</a:t>
            </a:r>
            <a:r>
              <a:rPr lang="ru-RU" sz="1800" dirty="0"/>
              <a:t> = НОРМ.СТ.ОБР(0,05) = –1,645.</a:t>
            </a:r>
          </a:p>
        </p:txBody>
      </p:sp>
      <p:pic>
        <p:nvPicPr>
          <p:cNvPr id="22530" name="Picture 2">
            <a:extLst>
              <a:ext uri="{FF2B5EF4-FFF2-40B4-BE49-F238E27FC236}">
                <a16:creationId xmlns:a16="http://schemas.microsoft.com/office/drawing/2014/main" id="{0CD26F4A-8391-43D1-9592-6F92B45292F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97821" y="4680442"/>
            <a:ext cx="3240360" cy="2105132"/>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FB0B3C91-260F-4F8C-BB03-F27557404EF9}"/>
              </a:ext>
            </a:extLst>
          </p:cNvPr>
          <p:cNvSpPr txBox="1"/>
          <p:nvPr/>
        </p:nvSpPr>
        <p:spPr>
          <a:xfrm>
            <a:off x="7297981" y="5001360"/>
            <a:ext cx="4940800" cy="1077218"/>
          </a:xfrm>
          <a:prstGeom prst="rect">
            <a:avLst/>
          </a:prstGeom>
          <a:noFill/>
        </p:spPr>
        <p:txBody>
          <a:bodyPr wrap="square">
            <a:spAutoFit/>
          </a:bodyPr>
          <a:lstStyle/>
          <a:p>
            <a:r>
              <a:rPr lang="ru-RU" sz="1600" dirty="0"/>
              <a:t>Односторонний критерий для проверки гипотезы о математическом ожидании генеральной совокупности при известном стандартном отклонении и уровне значимости, равном 0,05</a:t>
            </a:r>
          </a:p>
        </p:txBody>
      </p:sp>
      <p:sp>
        <p:nvSpPr>
          <p:cNvPr id="15" name="TextBox 14">
            <a:extLst>
              <a:ext uri="{FF2B5EF4-FFF2-40B4-BE49-F238E27FC236}">
                <a16:creationId xmlns:a16="http://schemas.microsoft.com/office/drawing/2014/main" id="{41D47FC6-F4B1-4F50-95A0-6221E6C13DDA}"/>
              </a:ext>
            </a:extLst>
          </p:cNvPr>
          <p:cNvSpPr txBox="1"/>
          <p:nvPr/>
        </p:nvSpPr>
        <p:spPr>
          <a:xfrm>
            <a:off x="3021757" y="1165303"/>
            <a:ext cx="6334760" cy="400110"/>
          </a:xfrm>
          <a:prstGeom prst="rect">
            <a:avLst/>
          </a:prstGeom>
          <a:noFill/>
        </p:spPr>
        <p:txBody>
          <a:bodyPr wrap="square">
            <a:spAutoFit/>
          </a:bodyPr>
          <a:lstStyle/>
          <a:p>
            <a:pPr algn="ctr"/>
            <a:r>
              <a:rPr lang="ru-RU" b="1" dirty="0"/>
              <a:t>Рассмотрим пример (продолжение)</a:t>
            </a:r>
          </a:p>
        </p:txBody>
      </p:sp>
    </p:spTree>
    <p:extLst>
      <p:ext uri="{BB962C8B-B14F-4D97-AF65-F5344CB8AC3E}">
        <p14:creationId xmlns:p14="http://schemas.microsoft.com/office/powerpoint/2010/main" val="17747215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4"/>
          <p:cNvSpPr>
            <a:spLocks noChangeArrowheads="1"/>
          </p:cNvSpPr>
          <p:nvPr/>
        </p:nvSpPr>
        <p:spPr bwMode="auto">
          <a:xfrm>
            <a:off x="861517" y="1069937"/>
            <a:ext cx="11377264" cy="5782688"/>
          </a:xfrm>
          <a:prstGeom prst="roundRect">
            <a:avLst>
              <a:gd name="adj" fmla="val 16667"/>
            </a:avLst>
          </a:prstGeom>
          <a:solidFill>
            <a:schemeClr val="bg1">
              <a:alpha val="50195"/>
            </a:scheme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5" name="AutoShape 5"/>
          <p:cNvSpPr>
            <a:spLocks noChangeArrowheads="1"/>
          </p:cNvSpPr>
          <p:nvPr/>
        </p:nvSpPr>
        <p:spPr bwMode="auto">
          <a:xfrm>
            <a:off x="2373685" y="322264"/>
            <a:ext cx="8064128" cy="720601"/>
          </a:xfrm>
          <a:prstGeom prst="roundRect">
            <a:avLst>
              <a:gd name="adj" fmla="val 37469"/>
            </a:avLst>
          </a:prstGeom>
          <a:solidFill>
            <a:srgbClr val="FFFFFF">
              <a:alpha val="78822"/>
            </a:srgb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2" name="Заголовок 1"/>
          <p:cNvSpPr txBox="1">
            <a:spLocks noGrp="1"/>
          </p:cNvSpPr>
          <p:nvPr>
            <p:ph type="title" idx="4294967295"/>
          </p:nvPr>
        </p:nvSpPr>
        <p:spPr>
          <a:xfrm>
            <a:off x="2058987" y="444702"/>
            <a:ext cx="8550275" cy="648072"/>
          </a:xfrm>
          <a:prstGeom prst="rect">
            <a:avLst/>
          </a:prstGeom>
        </p:spPr>
        <p:txBody>
          <a:bodyPr wrap="square">
            <a:noAutofit/>
          </a:bodyPr>
          <a:lstStyle/>
          <a:p>
            <a:pPr lvl="0"/>
            <a:r>
              <a:rPr lang="ru-RU" sz="3200" dirty="0"/>
              <a:t>Критерии статистики</a:t>
            </a:r>
          </a:p>
        </p:txBody>
      </p:sp>
      <p:sp>
        <p:nvSpPr>
          <p:cNvPr id="7" name="Номер слайда 6"/>
          <p:cNvSpPr>
            <a:spLocks noGrp="1"/>
          </p:cNvSpPr>
          <p:nvPr>
            <p:ph type="sldNum" sz="quarter" idx="12"/>
          </p:nvPr>
        </p:nvSpPr>
        <p:spPr/>
        <p:txBody>
          <a:bodyPr/>
          <a:lstStyle/>
          <a:p>
            <a:fld id="{952B6C0E-C4B9-4094-8E59-5B7DF00D5415}" type="slidenum">
              <a:rPr lang="ru-RU" sz="1400">
                <a:solidFill>
                  <a:schemeClr val="tx1"/>
                </a:solidFill>
              </a:rPr>
              <a:t>103</a:t>
            </a:fld>
            <a:endParaRPr lang="ru-RU" sz="1400">
              <a:solidFill>
                <a:schemeClr val="tx1"/>
              </a:solidFill>
            </a:endParaRPr>
          </a:p>
        </p:txBody>
      </p:sp>
      <p:sp>
        <p:nvSpPr>
          <p:cNvPr id="14" name="TextBox 13">
            <a:extLst>
              <a:ext uri="{FF2B5EF4-FFF2-40B4-BE49-F238E27FC236}">
                <a16:creationId xmlns:a16="http://schemas.microsoft.com/office/drawing/2014/main" id="{E891D7A6-A643-48DD-99CD-7FB96080AAE6}"/>
              </a:ext>
            </a:extLst>
          </p:cNvPr>
          <p:cNvSpPr txBox="1"/>
          <p:nvPr/>
        </p:nvSpPr>
        <p:spPr>
          <a:xfrm>
            <a:off x="3021757" y="1165303"/>
            <a:ext cx="6334760" cy="400110"/>
          </a:xfrm>
          <a:prstGeom prst="rect">
            <a:avLst/>
          </a:prstGeom>
          <a:noFill/>
        </p:spPr>
        <p:txBody>
          <a:bodyPr wrap="square">
            <a:spAutoFit/>
          </a:bodyPr>
          <a:lstStyle/>
          <a:p>
            <a:pPr algn="ctr"/>
            <a:r>
              <a:rPr lang="ru-RU" b="1" dirty="0"/>
              <a:t>Рассмотрим пример (окончание)</a:t>
            </a:r>
          </a:p>
        </p:txBody>
      </p:sp>
      <p:sp>
        <p:nvSpPr>
          <p:cNvPr id="11" name="TextBox 10">
            <a:extLst>
              <a:ext uri="{FF2B5EF4-FFF2-40B4-BE49-F238E27FC236}">
                <a16:creationId xmlns:a16="http://schemas.microsoft.com/office/drawing/2014/main" id="{1C0E007B-AA82-45F8-BD0C-23C18E7CF2C5}"/>
              </a:ext>
            </a:extLst>
          </p:cNvPr>
          <p:cNvSpPr txBox="1"/>
          <p:nvPr/>
        </p:nvSpPr>
        <p:spPr>
          <a:xfrm>
            <a:off x="713903" y="1834952"/>
            <a:ext cx="11524878" cy="1323439"/>
          </a:xfrm>
          <a:prstGeom prst="rect">
            <a:avLst/>
          </a:prstGeom>
          <a:noFill/>
        </p:spPr>
        <p:txBody>
          <a:bodyPr wrap="square">
            <a:spAutoFit/>
          </a:bodyPr>
          <a:lstStyle/>
          <a:p>
            <a:r>
              <a:rPr lang="ru-RU" dirty="0"/>
              <a:t>Решающее правило выглядит следующим образом: Если Z &lt; –1,645, гипотеза </a:t>
            </a:r>
            <a:r>
              <a:rPr lang="ru-RU" i="1" dirty="0"/>
              <a:t>Н</a:t>
            </a:r>
            <a:r>
              <a:rPr lang="ru-RU" i="1" baseline="-25000" dirty="0"/>
              <a:t>0</a:t>
            </a:r>
            <a:r>
              <a:rPr lang="ru-RU" dirty="0"/>
              <a:t> отклоняется; в противном случае она не отклоняется.</a:t>
            </a:r>
          </a:p>
          <a:p>
            <a:r>
              <a:rPr lang="ru-RU" b="1" dirty="0"/>
              <a:t>Шаг 7. </a:t>
            </a:r>
            <a:r>
              <a:rPr lang="ru-RU" dirty="0"/>
              <a:t>Допустим, что из партии молока выбраны 25 бидонов. Выборочная средняя температура замерзания равна –0,550°С. Используя формулу (1), получаем:</a:t>
            </a:r>
          </a:p>
        </p:txBody>
      </p:sp>
      <p:pic>
        <p:nvPicPr>
          <p:cNvPr id="23554" name="Picture 2">
            <a:extLst>
              <a:ext uri="{FF2B5EF4-FFF2-40B4-BE49-F238E27FC236}">
                <a16:creationId xmlns:a16="http://schemas.microsoft.com/office/drawing/2014/main" id="{99B120EB-D59A-4614-B88B-F99716688DF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69390" y="3283755"/>
            <a:ext cx="3839494" cy="1233628"/>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0D617136-15C7-4FAA-BE52-BD8620C1DBEC}"/>
              </a:ext>
            </a:extLst>
          </p:cNvPr>
          <p:cNvSpPr txBox="1"/>
          <p:nvPr/>
        </p:nvSpPr>
        <p:spPr>
          <a:xfrm>
            <a:off x="701643" y="4842000"/>
            <a:ext cx="11524878" cy="1631216"/>
          </a:xfrm>
          <a:prstGeom prst="rect">
            <a:avLst/>
          </a:prstGeom>
          <a:noFill/>
        </p:spPr>
        <p:txBody>
          <a:bodyPr wrap="square">
            <a:spAutoFit/>
          </a:bodyPr>
          <a:lstStyle/>
          <a:p>
            <a:r>
              <a:rPr lang="ru-RU" b="1" dirty="0"/>
              <a:t>Шаг 8. </a:t>
            </a:r>
            <a:r>
              <a:rPr lang="ru-RU" dirty="0"/>
              <a:t>Поскольку </a:t>
            </a:r>
            <a:r>
              <a:rPr lang="ru-RU" i="1" dirty="0"/>
              <a:t>Z</a:t>
            </a:r>
            <a:r>
              <a:rPr lang="ru-RU" dirty="0"/>
              <a:t> = –3,125 &lt; –1,645, гипотеза </a:t>
            </a:r>
            <a:r>
              <a:rPr lang="ru-RU" i="1" dirty="0"/>
              <a:t>Н</a:t>
            </a:r>
            <a:r>
              <a:rPr lang="ru-RU" i="1" baseline="-25000" dirty="0"/>
              <a:t>0</a:t>
            </a:r>
            <a:r>
              <a:rPr lang="ru-RU" dirty="0"/>
              <a:t> отклоняется, так как тестовая статистика лежит в области отклонения гипотезы (рис).</a:t>
            </a:r>
          </a:p>
          <a:p>
            <a:r>
              <a:rPr lang="ru-RU" b="1" dirty="0"/>
              <a:t>Шаг 9. </a:t>
            </a:r>
            <a:r>
              <a:rPr lang="ru-RU" dirty="0"/>
              <a:t>Таким образом, средняя температура замерзания молока оказалось меньше –0,545°С. Молоко сильно разбавлено, и компания должна провести тщательное расследование этого факта.</a:t>
            </a:r>
          </a:p>
        </p:txBody>
      </p:sp>
    </p:spTree>
    <p:extLst>
      <p:ext uri="{BB962C8B-B14F-4D97-AF65-F5344CB8AC3E}">
        <p14:creationId xmlns:p14="http://schemas.microsoft.com/office/powerpoint/2010/main" val="25985180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4"/>
          <p:cNvSpPr>
            <a:spLocks noChangeArrowheads="1"/>
          </p:cNvSpPr>
          <p:nvPr/>
        </p:nvSpPr>
        <p:spPr bwMode="auto">
          <a:xfrm>
            <a:off x="861517" y="1069937"/>
            <a:ext cx="11377264" cy="5782688"/>
          </a:xfrm>
          <a:prstGeom prst="roundRect">
            <a:avLst>
              <a:gd name="adj" fmla="val 16667"/>
            </a:avLst>
          </a:prstGeom>
          <a:solidFill>
            <a:schemeClr val="bg1">
              <a:alpha val="50195"/>
            </a:scheme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5" name="AutoShape 5"/>
          <p:cNvSpPr>
            <a:spLocks noChangeArrowheads="1"/>
          </p:cNvSpPr>
          <p:nvPr/>
        </p:nvSpPr>
        <p:spPr bwMode="auto">
          <a:xfrm>
            <a:off x="2373685" y="322264"/>
            <a:ext cx="8064128" cy="720601"/>
          </a:xfrm>
          <a:prstGeom prst="roundRect">
            <a:avLst>
              <a:gd name="adj" fmla="val 37469"/>
            </a:avLst>
          </a:prstGeom>
          <a:solidFill>
            <a:srgbClr val="FFFFFF">
              <a:alpha val="78822"/>
            </a:srgb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2" name="Заголовок 1"/>
          <p:cNvSpPr txBox="1">
            <a:spLocks noGrp="1"/>
          </p:cNvSpPr>
          <p:nvPr>
            <p:ph type="title" idx="4294967295"/>
          </p:nvPr>
        </p:nvSpPr>
        <p:spPr>
          <a:xfrm>
            <a:off x="2058987" y="233066"/>
            <a:ext cx="8550275" cy="648072"/>
          </a:xfrm>
          <a:prstGeom prst="rect">
            <a:avLst/>
          </a:prstGeom>
        </p:spPr>
        <p:txBody>
          <a:bodyPr wrap="square">
            <a:noAutofit/>
          </a:bodyPr>
          <a:lstStyle/>
          <a:p>
            <a:pPr lvl="0"/>
            <a:r>
              <a:rPr lang="ru-RU" sz="3200" dirty="0"/>
              <a:t>Критерии статистики</a:t>
            </a:r>
          </a:p>
        </p:txBody>
      </p:sp>
      <p:sp>
        <p:nvSpPr>
          <p:cNvPr id="7" name="Номер слайда 6"/>
          <p:cNvSpPr>
            <a:spLocks noGrp="1"/>
          </p:cNvSpPr>
          <p:nvPr>
            <p:ph type="sldNum" sz="quarter" idx="12"/>
          </p:nvPr>
        </p:nvSpPr>
        <p:spPr/>
        <p:txBody>
          <a:bodyPr/>
          <a:lstStyle/>
          <a:p>
            <a:fld id="{952B6C0E-C4B9-4094-8E59-5B7DF00D5415}" type="slidenum">
              <a:rPr lang="ru-RU" sz="1400">
                <a:solidFill>
                  <a:schemeClr val="tx1"/>
                </a:solidFill>
              </a:rPr>
              <a:t>104</a:t>
            </a:fld>
            <a:endParaRPr lang="ru-RU" sz="1400">
              <a:solidFill>
                <a:schemeClr val="tx1"/>
              </a:solidFill>
            </a:endParaRPr>
          </a:p>
        </p:txBody>
      </p:sp>
      <p:sp>
        <p:nvSpPr>
          <p:cNvPr id="14" name="TextBox 13">
            <a:extLst>
              <a:ext uri="{FF2B5EF4-FFF2-40B4-BE49-F238E27FC236}">
                <a16:creationId xmlns:a16="http://schemas.microsoft.com/office/drawing/2014/main" id="{E891D7A6-A643-48DD-99CD-7FB96080AAE6}"/>
              </a:ext>
            </a:extLst>
          </p:cNvPr>
          <p:cNvSpPr txBox="1"/>
          <p:nvPr/>
        </p:nvSpPr>
        <p:spPr>
          <a:xfrm>
            <a:off x="1185552" y="796876"/>
            <a:ext cx="10297144" cy="707886"/>
          </a:xfrm>
          <a:prstGeom prst="rect">
            <a:avLst/>
          </a:prstGeom>
          <a:noFill/>
        </p:spPr>
        <p:txBody>
          <a:bodyPr wrap="square">
            <a:spAutoFit/>
          </a:bodyPr>
          <a:lstStyle/>
          <a:p>
            <a:pPr algn="ctr"/>
            <a:r>
              <a:rPr lang="ru-RU" b="1" dirty="0"/>
              <a:t>Использование t-критерия для проверки гипотезы о математическом ожидании при неизвестном стандартном отклонении</a:t>
            </a:r>
          </a:p>
        </p:txBody>
      </p:sp>
      <p:sp>
        <p:nvSpPr>
          <p:cNvPr id="11" name="TextBox 10">
            <a:extLst>
              <a:ext uri="{FF2B5EF4-FFF2-40B4-BE49-F238E27FC236}">
                <a16:creationId xmlns:a16="http://schemas.microsoft.com/office/drawing/2014/main" id="{1C0E007B-AA82-45F8-BD0C-23C18E7CF2C5}"/>
              </a:ext>
            </a:extLst>
          </p:cNvPr>
          <p:cNvSpPr txBox="1"/>
          <p:nvPr/>
        </p:nvSpPr>
        <p:spPr>
          <a:xfrm>
            <a:off x="714091" y="1586178"/>
            <a:ext cx="11672303" cy="1938992"/>
          </a:xfrm>
          <a:prstGeom prst="rect">
            <a:avLst/>
          </a:prstGeom>
          <a:noFill/>
        </p:spPr>
        <p:txBody>
          <a:bodyPr wrap="square">
            <a:spAutoFit/>
          </a:bodyPr>
          <a:lstStyle/>
          <a:p>
            <a:r>
              <a:rPr lang="ru-RU" dirty="0"/>
              <a:t>В большинстве ситуаций, касающихся числовых данных, стандартное отклонение σ неизвестно. Однако эту величину можно оценить, вычислив выборочное стандартное отклонение S. Если генеральная совокупность является нормально распределенной, выборочное среднее обладает t-распределением с n – 1 степенями свободы. Это дает возможность сформулировать t-критерий для оценки разности между выборочным средним и математическим ожиданием генеральной совокупности μ</a:t>
            </a:r>
            <a:r>
              <a:rPr lang="ru-RU" baseline="-25000" dirty="0"/>
              <a:t>0</a:t>
            </a:r>
            <a:r>
              <a:rPr lang="ru-RU" dirty="0"/>
              <a:t>:</a:t>
            </a:r>
          </a:p>
        </p:txBody>
      </p:sp>
      <p:pic>
        <p:nvPicPr>
          <p:cNvPr id="12" name="Рисунок 11">
            <a:extLst>
              <a:ext uri="{FF2B5EF4-FFF2-40B4-BE49-F238E27FC236}">
                <a16:creationId xmlns:a16="http://schemas.microsoft.com/office/drawing/2014/main" id="{B0D456F6-4297-4DD3-A71F-653C9A0CD53C}"/>
              </a:ext>
            </a:extLst>
          </p:cNvPr>
          <p:cNvPicPr>
            <a:picLocks noChangeAspect="1"/>
          </p:cNvPicPr>
          <p:nvPr/>
        </p:nvPicPr>
        <p:blipFill>
          <a:blip r:embed="rId3"/>
          <a:stretch>
            <a:fillRect/>
          </a:stretch>
        </p:blipFill>
        <p:spPr>
          <a:xfrm>
            <a:off x="4533925" y="3227860"/>
            <a:ext cx="1526455" cy="570371"/>
          </a:xfrm>
          <a:prstGeom prst="rect">
            <a:avLst/>
          </a:prstGeom>
          <a:ln>
            <a:solidFill>
              <a:srgbClr val="FF0000"/>
            </a:solidFill>
          </a:ln>
        </p:spPr>
      </p:pic>
      <p:sp>
        <p:nvSpPr>
          <p:cNvPr id="13" name="TextBox 12">
            <a:extLst>
              <a:ext uri="{FF2B5EF4-FFF2-40B4-BE49-F238E27FC236}">
                <a16:creationId xmlns:a16="http://schemas.microsoft.com/office/drawing/2014/main" id="{600F68E4-D7BC-4F70-9CA5-F6B8A9FCDF81}"/>
              </a:ext>
            </a:extLst>
          </p:cNvPr>
          <p:cNvSpPr txBox="1"/>
          <p:nvPr/>
        </p:nvSpPr>
        <p:spPr>
          <a:xfrm>
            <a:off x="6153043" y="3298907"/>
            <a:ext cx="505412" cy="400110"/>
          </a:xfrm>
          <a:prstGeom prst="rect">
            <a:avLst/>
          </a:prstGeom>
          <a:noFill/>
        </p:spPr>
        <p:txBody>
          <a:bodyPr wrap="square">
            <a:spAutoFit/>
          </a:bodyPr>
          <a:lstStyle/>
          <a:p>
            <a:r>
              <a:rPr lang="ru-RU" b="1" dirty="0"/>
              <a:t>(2)</a:t>
            </a:r>
            <a:endParaRPr lang="ru-RU" dirty="0"/>
          </a:p>
        </p:txBody>
      </p:sp>
      <p:sp>
        <p:nvSpPr>
          <p:cNvPr id="16" name="TextBox 15">
            <a:extLst>
              <a:ext uri="{FF2B5EF4-FFF2-40B4-BE49-F238E27FC236}">
                <a16:creationId xmlns:a16="http://schemas.microsoft.com/office/drawing/2014/main" id="{E53081F1-8E94-4D5C-ACF9-66B3413F614C}"/>
              </a:ext>
            </a:extLst>
          </p:cNvPr>
          <p:cNvSpPr txBox="1"/>
          <p:nvPr/>
        </p:nvSpPr>
        <p:spPr>
          <a:xfrm>
            <a:off x="882025" y="4163525"/>
            <a:ext cx="11356755" cy="1938992"/>
          </a:xfrm>
          <a:prstGeom prst="rect">
            <a:avLst/>
          </a:prstGeom>
          <a:noFill/>
        </p:spPr>
        <p:txBody>
          <a:bodyPr wrap="square">
            <a:spAutoFit/>
          </a:bodyPr>
          <a:lstStyle/>
          <a:p>
            <a:r>
              <a:rPr lang="ru-RU" dirty="0"/>
              <a:t>Для примера рассмотрим задачу об аудиторской проверке в компании </a:t>
            </a:r>
            <a:r>
              <a:rPr lang="ru-RU" dirty="0" err="1"/>
              <a:t>Saxon</a:t>
            </a:r>
            <a:r>
              <a:rPr lang="ru-RU" dirty="0"/>
              <a:t> Company. Для проверки аудитор извлекает из информационной системы выборку накладных, заполненных в течение последнего месяца. Средняя сумма накладных за последние пять лет равна 120 долл. Аудитор должен оценить, изменилась ли сумма накладных. Иначе говоря, в ходе проверки гипотезы требуется доказать, что средняя сумма накладных увеличивается или уменьшается.</a:t>
            </a:r>
          </a:p>
        </p:txBody>
      </p:sp>
    </p:spTree>
    <p:extLst>
      <p:ext uri="{BB962C8B-B14F-4D97-AF65-F5344CB8AC3E}">
        <p14:creationId xmlns:p14="http://schemas.microsoft.com/office/powerpoint/2010/main" val="33485161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4"/>
          <p:cNvSpPr>
            <a:spLocks noChangeArrowheads="1"/>
          </p:cNvSpPr>
          <p:nvPr/>
        </p:nvSpPr>
        <p:spPr bwMode="auto">
          <a:xfrm>
            <a:off x="645493" y="1069937"/>
            <a:ext cx="11740902" cy="5445535"/>
          </a:xfrm>
          <a:prstGeom prst="roundRect">
            <a:avLst>
              <a:gd name="adj" fmla="val 16667"/>
            </a:avLst>
          </a:prstGeom>
          <a:solidFill>
            <a:schemeClr val="bg1">
              <a:alpha val="50195"/>
            </a:scheme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5" name="AutoShape 5"/>
          <p:cNvSpPr>
            <a:spLocks noChangeArrowheads="1"/>
          </p:cNvSpPr>
          <p:nvPr/>
        </p:nvSpPr>
        <p:spPr bwMode="auto">
          <a:xfrm>
            <a:off x="2373685" y="322264"/>
            <a:ext cx="8064128" cy="720601"/>
          </a:xfrm>
          <a:prstGeom prst="roundRect">
            <a:avLst>
              <a:gd name="adj" fmla="val 37469"/>
            </a:avLst>
          </a:prstGeom>
          <a:solidFill>
            <a:srgbClr val="FFFFFF">
              <a:alpha val="78822"/>
            </a:srgb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2" name="Заголовок 1"/>
          <p:cNvSpPr txBox="1">
            <a:spLocks noGrp="1"/>
          </p:cNvSpPr>
          <p:nvPr>
            <p:ph type="title" idx="4294967295"/>
          </p:nvPr>
        </p:nvSpPr>
        <p:spPr>
          <a:xfrm>
            <a:off x="2058987" y="233066"/>
            <a:ext cx="8550275" cy="648072"/>
          </a:xfrm>
          <a:prstGeom prst="rect">
            <a:avLst/>
          </a:prstGeom>
        </p:spPr>
        <p:txBody>
          <a:bodyPr wrap="square">
            <a:noAutofit/>
          </a:bodyPr>
          <a:lstStyle/>
          <a:p>
            <a:pPr lvl="0"/>
            <a:r>
              <a:rPr lang="ru-RU" sz="3200" dirty="0"/>
              <a:t>Критерии статистики</a:t>
            </a:r>
          </a:p>
        </p:txBody>
      </p:sp>
      <p:sp>
        <p:nvSpPr>
          <p:cNvPr id="7" name="Номер слайда 6"/>
          <p:cNvSpPr>
            <a:spLocks noGrp="1"/>
          </p:cNvSpPr>
          <p:nvPr>
            <p:ph type="sldNum" sz="quarter" idx="12"/>
          </p:nvPr>
        </p:nvSpPr>
        <p:spPr/>
        <p:txBody>
          <a:bodyPr/>
          <a:lstStyle/>
          <a:p>
            <a:fld id="{952B6C0E-C4B9-4094-8E59-5B7DF00D5415}" type="slidenum">
              <a:rPr lang="ru-RU" sz="1400">
                <a:solidFill>
                  <a:schemeClr val="tx1"/>
                </a:solidFill>
              </a:rPr>
              <a:t>105</a:t>
            </a:fld>
            <a:endParaRPr lang="ru-RU" sz="1400">
              <a:solidFill>
                <a:schemeClr val="tx1"/>
              </a:solidFill>
            </a:endParaRPr>
          </a:p>
        </p:txBody>
      </p:sp>
      <p:sp>
        <p:nvSpPr>
          <p:cNvPr id="14" name="TextBox 13">
            <a:extLst>
              <a:ext uri="{FF2B5EF4-FFF2-40B4-BE49-F238E27FC236}">
                <a16:creationId xmlns:a16="http://schemas.microsoft.com/office/drawing/2014/main" id="{E891D7A6-A643-48DD-99CD-7FB96080AAE6}"/>
              </a:ext>
            </a:extLst>
          </p:cNvPr>
          <p:cNvSpPr txBox="1"/>
          <p:nvPr/>
        </p:nvSpPr>
        <p:spPr>
          <a:xfrm>
            <a:off x="1185552" y="796876"/>
            <a:ext cx="10297144" cy="707886"/>
          </a:xfrm>
          <a:prstGeom prst="rect">
            <a:avLst/>
          </a:prstGeom>
          <a:noFill/>
        </p:spPr>
        <p:txBody>
          <a:bodyPr wrap="square">
            <a:spAutoFit/>
          </a:bodyPr>
          <a:lstStyle/>
          <a:p>
            <a:pPr algn="ctr"/>
            <a:r>
              <a:rPr lang="ru-RU" b="1" dirty="0"/>
              <a:t>Использование t-критерия для проверки гипотезы о математическом ожидании при неизвестном стандартном отклонении</a:t>
            </a:r>
          </a:p>
        </p:txBody>
      </p:sp>
      <p:sp>
        <p:nvSpPr>
          <p:cNvPr id="15" name="TextBox 14">
            <a:extLst>
              <a:ext uri="{FF2B5EF4-FFF2-40B4-BE49-F238E27FC236}">
                <a16:creationId xmlns:a16="http://schemas.microsoft.com/office/drawing/2014/main" id="{A7CC5A70-F7C0-4144-9F97-7EB7321F62ED}"/>
              </a:ext>
            </a:extLst>
          </p:cNvPr>
          <p:cNvSpPr txBox="1"/>
          <p:nvPr/>
        </p:nvSpPr>
        <p:spPr>
          <a:xfrm>
            <a:off x="645493" y="1745895"/>
            <a:ext cx="11377263" cy="3785652"/>
          </a:xfrm>
          <a:prstGeom prst="rect">
            <a:avLst/>
          </a:prstGeom>
          <a:noFill/>
        </p:spPr>
        <p:txBody>
          <a:bodyPr wrap="square">
            <a:spAutoFit/>
          </a:bodyPr>
          <a:lstStyle/>
          <a:p>
            <a:r>
              <a:rPr lang="ru-RU" b="1" dirty="0"/>
              <a:t>Шаги 1 и 2. </a:t>
            </a:r>
            <a:r>
              <a:rPr lang="ru-RU" dirty="0"/>
              <a:t>Формулируем нулевую и альтернативную гипотезы: Н</a:t>
            </a:r>
            <a:r>
              <a:rPr lang="ru-RU" baseline="-25000" dirty="0"/>
              <a:t>0</a:t>
            </a:r>
            <a:r>
              <a:rPr lang="ru-RU" dirty="0"/>
              <a:t>: μ = 120 долл. Н</a:t>
            </a:r>
            <a:r>
              <a:rPr lang="ru-RU" baseline="-25000" dirty="0"/>
              <a:t>1</a:t>
            </a:r>
            <a:r>
              <a:rPr lang="ru-RU" dirty="0"/>
              <a:t>: μ ≠ 120</a:t>
            </a:r>
            <a:r>
              <a:rPr lang="en-US" dirty="0"/>
              <a:t>$</a:t>
            </a:r>
            <a:r>
              <a:rPr lang="ru-RU" dirty="0"/>
              <a:t>.</a:t>
            </a:r>
          </a:p>
          <a:p>
            <a:r>
              <a:rPr lang="ru-RU" dirty="0"/>
              <a:t>Обратите внимание на то, что предметом доказательства является альтернативная гипотеза. Если нулевая гипотеза отклоняется, значит, у нас есть веские доказательства того, что средняя сумма накладных отличается от 120 </a:t>
            </a:r>
            <a:r>
              <a:rPr lang="en-US" dirty="0"/>
              <a:t>$</a:t>
            </a:r>
            <a:r>
              <a:rPr lang="ru-RU" dirty="0"/>
              <a:t>. Если нулевая гипотеза не отклоняется, значит, у нас нет достаточных доказательств, чтобы утверждать, будто средняя сумма накладных отличается от 120 </a:t>
            </a:r>
            <a:r>
              <a:rPr lang="en-US" dirty="0"/>
              <a:t>$</a:t>
            </a:r>
            <a:r>
              <a:rPr lang="ru-RU" dirty="0"/>
              <a:t>.</a:t>
            </a:r>
          </a:p>
          <a:p>
            <a:r>
              <a:rPr lang="ru-RU" b="1" dirty="0"/>
              <a:t>Шаг 3</a:t>
            </a:r>
            <a:r>
              <a:rPr lang="ru-RU" dirty="0"/>
              <a:t>. Полагаем α = 0,05.</a:t>
            </a:r>
          </a:p>
          <a:p>
            <a:r>
              <a:rPr lang="ru-RU" b="1" dirty="0"/>
              <a:t>Шаг 4. </a:t>
            </a:r>
            <a:r>
              <a:rPr lang="ru-RU" dirty="0"/>
              <a:t>Из генеральной совокупности накладных извлекается случайная выборка, состоящая из </a:t>
            </a:r>
            <a:r>
              <a:rPr lang="ru-RU" i="1" dirty="0"/>
              <a:t>n</a:t>
            </a:r>
            <a:r>
              <a:rPr lang="ru-RU" dirty="0"/>
              <a:t> = 12 накладных.</a:t>
            </a:r>
          </a:p>
          <a:p>
            <a:r>
              <a:rPr lang="ru-RU" b="1" dirty="0"/>
              <a:t>Шаг 5. </a:t>
            </a:r>
            <a:r>
              <a:rPr lang="ru-RU" dirty="0"/>
              <a:t>Поскольку предполагается, что генеральная совокупность является нормально распределенной и стандартное отклонение генеральной совокупности не известно, применяется </a:t>
            </a:r>
            <a:r>
              <a:rPr lang="ru-RU" i="1" dirty="0"/>
              <a:t>t</a:t>
            </a:r>
            <a:r>
              <a:rPr lang="ru-RU" dirty="0"/>
              <a:t>-критерий.</a:t>
            </a:r>
          </a:p>
        </p:txBody>
      </p:sp>
    </p:spTree>
    <p:extLst>
      <p:ext uri="{BB962C8B-B14F-4D97-AF65-F5344CB8AC3E}">
        <p14:creationId xmlns:p14="http://schemas.microsoft.com/office/powerpoint/2010/main" val="21664967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4"/>
          <p:cNvSpPr>
            <a:spLocks noChangeArrowheads="1"/>
          </p:cNvSpPr>
          <p:nvPr/>
        </p:nvSpPr>
        <p:spPr bwMode="auto">
          <a:xfrm>
            <a:off x="645493" y="1069937"/>
            <a:ext cx="11740902" cy="5445535"/>
          </a:xfrm>
          <a:prstGeom prst="roundRect">
            <a:avLst>
              <a:gd name="adj" fmla="val 16667"/>
            </a:avLst>
          </a:prstGeom>
          <a:solidFill>
            <a:schemeClr val="bg1">
              <a:alpha val="50195"/>
            </a:scheme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5" name="AutoShape 5"/>
          <p:cNvSpPr>
            <a:spLocks noChangeArrowheads="1"/>
          </p:cNvSpPr>
          <p:nvPr/>
        </p:nvSpPr>
        <p:spPr bwMode="auto">
          <a:xfrm>
            <a:off x="2373685" y="322264"/>
            <a:ext cx="8064128" cy="720601"/>
          </a:xfrm>
          <a:prstGeom prst="roundRect">
            <a:avLst>
              <a:gd name="adj" fmla="val 37469"/>
            </a:avLst>
          </a:prstGeom>
          <a:solidFill>
            <a:srgbClr val="FFFFFF">
              <a:alpha val="78822"/>
            </a:srgb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2" name="Заголовок 1"/>
          <p:cNvSpPr txBox="1">
            <a:spLocks noGrp="1"/>
          </p:cNvSpPr>
          <p:nvPr>
            <p:ph type="title" idx="4294967295"/>
          </p:nvPr>
        </p:nvSpPr>
        <p:spPr>
          <a:xfrm>
            <a:off x="2058987" y="233066"/>
            <a:ext cx="8550275" cy="648072"/>
          </a:xfrm>
          <a:prstGeom prst="rect">
            <a:avLst/>
          </a:prstGeom>
        </p:spPr>
        <p:txBody>
          <a:bodyPr wrap="square">
            <a:noAutofit/>
          </a:bodyPr>
          <a:lstStyle/>
          <a:p>
            <a:pPr lvl="0"/>
            <a:r>
              <a:rPr lang="ru-RU" sz="3200" dirty="0"/>
              <a:t>Критерии статистики</a:t>
            </a:r>
          </a:p>
        </p:txBody>
      </p:sp>
      <p:sp>
        <p:nvSpPr>
          <p:cNvPr id="7" name="Номер слайда 6"/>
          <p:cNvSpPr>
            <a:spLocks noGrp="1"/>
          </p:cNvSpPr>
          <p:nvPr>
            <p:ph type="sldNum" sz="quarter" idx="12"/>
          </p:nvPr>
        </p:nvSpPr>
        <p:spPr/>
        <p:txBody>
          <a:bodyPr/>
          <a:lstStyle/>
          <a:p>
            <a:fld id="{952B6C0E-C4B9-4094-8E59-5B7DF00D5415}" type="slidenum">
              <a:rPr lang="ru-RU" sz="1400">
                <a:solidFill>
                  <a:schemeClr val="tx1"/>
                </a:solidFill>
              </a:rPr>
              <a:t>106</a:t>
            </a:fld>
            <a:endParaRPr lang="ru-RU" sz="1400">
              <a:solidFill>
                <a:schemeClr val="tx1"/>
              </a:solidFill>
            </a:endParaRPr>
          </a:p>
        </p:txBody>
      </p:sp>
      <p:sp>
        <p:nvSpPr>
          <p:cNvPr id="14" name="TextBox 13">
            <a:extLst>
              <a:ext uri="{FF2B5EF4-FFF2-40B4-BE49-F238E27FC236}">
                <a16:creationId xmlns:a16="http://schemas.microsoft.com/office/drawing/2014/main" id="{E891D7A6-A643-48DD-99CD-7FB96080AAE6}"/>
              </a:ext>
            </a:extLst>
          </p:cNvPr>
          <p:cNvSpPr txBox="1"/>
          <p:nvPr/>
        </p:nvSpPr>
        <p:spPr>
          <a:xfrm>
            <a:off x="1185552" y="796876"/>
            <a:ext cx="10297144" cy="707886"/>
          </a:xfrm>
          <a:prstGeom prst="rect">
            <a:avLst/>
          </a:prstGeom>
          <a:noFill/>
        </p:spPr>
        <p:txBody>
          <a:bodyPr wrap="square">
            <a:spAutoFit/>
          </a:bodyPr>
          <a:lstStyle/>
          <a:p>
            <a:pPr algn="ctr"/>
            <a:r>
              <a:rPr lang="ru-RU" b="1" dirty="0"/>
              <a:t>Использование t-критерия для проверки гипотезы о математическом ожидании при неизвестном стандартном отклонении</a:t>
            </a:r>
          </a:p>
        </p:txBody>
      </p:sp>
      <p:sp>
        <p:nvSpPr>
          <p:cNvPr id="15" name="TextBox 14">
            <a:extLst>
              <a:ext uri="{FF2B5EF4-FFF2-40B4-BE49-F238E27FC236}">
                <a16:creationId xmlns:a16="http://schemas.microsoft.com/office/drawing/2014/main" id="{A7CC5A70-F7C0-4144-9F97-7EB7321F62ED}"/>
              </a:ext>
            </a:extLst>
          </p:cNvPr>
          <p:cNvSpPr txBox="1"/>
          <p:nvPr/>
        </p:nvSpPr>
        <p:spPr>
          <a:xfrm>
            <a:off x="645493" y="1745895"/>
            <a:ext cx="11377263" cy="2246769"/>
          </a:xfrm>
          <a:prstGeom prst="rect">
            <a:avLst/>
          </a:prstGeom>
          <a:noFill/>
        </p:spPr>
        <p:txBody>
          <a:bodyPr wrap="square">
            <a:spAutoFit/>
          </a:bodyPr>
          <a:lstStyle/>
          <a:p>
            <a:r>
              <a:rPr lang="ru-RU" b="1" dirty="0"/>
              <a:t>Шаг 6. </a:t>
            </a:r>
            <a:r>
              <a:rPr lang="ru-RU" dirty="0"/>
              <a:t>При фиксированном объеме выборки </a:t>
            </a:r>
            <a:r>
              <a:rPr lang="ru-RU" i="1" dirty="0"/>
              <a:t>n</a:t>
            </a:r>
            <a:r>
              <a:rPr lang="ru-RU" dirty="0"/>
              <a:t> тестовая статистика </a:t>
            </a:r>
            <a:r>
              <a:rPr lang="ru-RU" i="1" dirty="0"/>
              <a:t>t</a:t>
            </a:r>
            <a:r>
              <a:rPr lang="ru-RU" dirty="0"/>
              <a:t> имеет </a:t>
            </a:r>
            <a:r>
              <a:rPr lang="ru-RU" i="1" dirty="0"/>
              <a:t>t</a:t>
            </a:r>
            <a:r>
              <a:rPr lang="ru-RU" dirty="0"/>
              <a:t>-распределение с </a:t>
            </a:r>
            <a:r>
              <a:rPr lang="ru-RU" i="1" dirty="0"/>
              <a:t>n – 1</a:t>
            </a:r>
            <a:r>
              <a:rPr lang="ru-RU" dirty="0"/>
              <a:t> степенями свободы. Поскольку альтернативная гипотеза Н</a:t>
            </a:r>
            <a:r>
              <a:rPr lang="ru-RU" baseline="-25000" dirty="0"/>
              <a:t>1</a:t>
            </a:r>
            <a:r>
              <a:rPr lang="ru-RU" dirty="0"/>
              <a:t>: μ ≠ 120 </a:t>
            </a:r>
            <a:r>
              <a:rPr lang="en-US" dirty="0"/>
              <a:t>$</a:t>
            </a:r>
            <a:r>
              <a:rPr lang="ru-RU" dirty="0"/>
              <a:t>. является ненаправленной, область отклонения гипотезы в </a:t>
            </a:r>
            <a:r>
              <a:rPr lang="ru-RU" i="1" dirty="0"/>
              <a:t>t</a:t>
            </a:r>
            <a:r>
              <a:rPr lang="ru-RU" dirty="0"/>
              <a:t>-критерии разделяется на две части, ограниченные левым и правым хвостами </a:t>
            </a:r>
            <a:r>
              <a:rPr lang="ru-RU" i="1" dirty="0"/>
              <a:t>t</a:t>
            </a:r>
            <a:r>
              <a:rPr lang="ru-RU" dirty="0"/>
              <a:t>-распределения. Площадь каждой из областей равна 0,025. Если заданный уровень значимости одностороннего α равен 0,025, а количество степеней свободы = 12 – 1 = 11, критические значения </a:t>
            </a:r>
            <a:r>
              <a:rPr lang="ru-RU" i="1" dirty="0"/>
              <a:t>t</a:t>
            </a:r>
            <a:r>
              <a:rPr lang="ru-RU" dirty="0"/>
              <a:t>-распределения составляют: левое = СТЬЮДЕНТ.ОБР(0,025;11) = –2,201, правое = СТЬЮДЕНТ.ОБР(0,975;11) = 2,201 (рис.).</a:t>
            </a:r>
          </a:p>
        </p:txBody>
      </p:sp>
      <p:pic>
        <p:nvPicPr>
          <p:cNvPr id="26626" name="Picture 2">
            <a:extLst>
              <a:ext uri="{FF2B5EF4-FFF2-40B4-BE49-F238E27FC236}">
                <a16:creationId xmlns:a16="http://schemas.microsoft.com/office/drawing/2014/main" id="{72E61AF9-90E0-4298-8E6B-08078BAE41C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9509" y="3972308"/>
            <a:ext cx="3600400" cy="2861556"/>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47B79289-2CD2-444C-AC4A-32C7D7073261}"/>
              </a:ext>
            </a:extLst>
          </p:cNvPr>
          <p:cNvSpPr txBox="1"/>
          <p:nvPr/>
        </p:nvSpPr>
        <p:spPr>
          <a:xfrm>
            <a:off x="4533925" y="5177416"/>
            <a:ext cx="7776864" cy="1015663"/>
          </a:xfrm>
          <a:prstGeom prst="rect">
            <a:avLst/>
          </a:prstGeom>
          <a:noFill/>
        </p:spPr>
        <p:txBody>
          <a:bodyPr wrap="square">
            <a:spAutoFit/>
          </a:bodyPr>
          <a:lstStyle/>
          <a:p>
            <a:r>
              <a:rPr lang="ru-RU" dirty="0"/>
              <a:t>Проверка гипотезы о математическом ожидании при неизвестном стандартном отклонении, уровне значимости, равном 0,05 (двустороннем), и 11 степенях свободы</a:t>
            </a:r>
          </a:p>
        </p:txBody>
      </p:sp>
    </p:spTree>
    <p:extLst>
      <p:ext uri="{BB962C8B-B14F-4D97-AF65-F5344CB8AC3E}">
        <p14:creationId xmlns:p14="http://schemas.microsoft.com/office/powerpoint/2010/main" val="17337775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4"/>
          <p:cNvSpPr>
            <a:spLocks noChangeArrowheads="1"/>
          </p:cNvSpPr>
          <p:nvPr/>
        </p:nvSpPr>
        <p:spPr bwMode="auto">
          <a:xfrm>
            <a:off x="535297" y="1444948"/>
            <a:ext cx="11851097" cy="5445535"/>
          </a:xfrm>
          <a:prstGeom prst="roundRect">
            <a:avLst>
              <a:gd name="adj" fmla="val 16667"/>
            </a:avLst>
          </a:prstGeom>
          <a:solidFill>
            <a:schemeClr val="bg1">
              <a:alpha val="50195"/>
            </a:scheme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5" name="AutoShape 5"/>
          <p:cNvSpPr>
            <a:spLocks noChangeArrowheads="1"/>
          </p:cNvSpPr>
          <p:nvPr/>
        </p:nvSpPr>
        <p:spPr bwMode="auto">
          <a:xfrm>
            <a:off x="2373685" y="322264"/>
            <a:ext cx="8064128" cy="720601"/>
          </a:xfrm>
          <a:prstGeom prst="roundRect">
            <a:avLst>
              <a:gd name="adj" fmla="val 37469"/>
            </a:avLst>
          </a:prstGeom>
          <a:solidFill>
            <a:srgbClr val="FFFFFF">
              <a:alpha val="78822"/>
            </a:srgb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2" name="Заголовок 1"/>
          <p:cNvSpPr txBox="1">
            <a:spLocks noGrp="1"/>
          </p:cNvSpPr>
          <p:nvPr>
            <p:ph type="title" idx="4294967295"/>
          </p:nvPr>
        </p:nvSpPr>
        <p:spPr>
          <a:xfrm>
            <a:off x="2058987" y="233066"/>
            <a:ext cx="8550275" cy="648072"/>
          </a:xfrm>
          <a:prstGeom prst="rect">
            <a:avLst/>
          </a:prstGeom>
        </p:spPr>
        <p:txBody>
          <a:bodyPr wrap="square">
            <a:noAutofit/>
          </a:bodyPr>
          <a:lstStyle/>
          <a:p>
            <a:pPr lvl="0"/>
            <a:r>
              <a:rPr lang="ru-RU" sz="3200" dirty="0"/>
              <a:t>Критерии статистики</a:t>
            </a:r>
          </a:p>
        </p:txBody>
      </p:sp>
      <p:sp>
        <p:nvSpPr>
          <p:cNvPr id="7" name="Номер слайда 6"/>
          <p:cNvSpPr>
            <a:spLocks noGrp="1"/>
          </p:cNvSpPr>
          <p:nvPr>
            <p:ph type="sldNum" sz="quarter" idx="12"/>
          </p:nvPr>
        </p:nvSpPr>
        <p:spPr/>
        <p:txBody>
          <a:bodyPr/>
          <a:lstStyle/>
          <a:p>
            <a:fld id="{952B6C0E-C4B9-4094-8E59-5B7DF00D5415}" type="slidenum">
              <a:rPr lang="ru-RU" sz="1400">
                <a:solidFill>
                  <a:schemeClr val="tx1"/>
                </a:solidFill>
              </a:rPr>
              <a:t>107</a:t>
            </a:fld>
            <a:endParaRPr lang="ru-RU" sz="1400">
              <a:solidFill>
                <a:schemeClr val="tx1"/>
              </a:solidFill>
            </a:endParaRPr>
          </a:p>
        </p:txBody>
      </p:sp>
      <p:sp>
        <p:nvSpPr>
          <p:cNvPr id="14" name="TextBox 13">
            <a:extLst>
              <a:ext uri="{FF2B5EF4-FFF2-40B4-BE49-F238E27FC236}">
                <a16:creationId xmlns:a16="http://schemas.microsoft.com/office/drawing/2014/main" id="{E891D7A6-A643-48DD-99CD-7FB96080AAE6}"/>
              </a:ext>
            </a:extLst>
          </p:cNvPr>
          <p:cNvSpPr txBox="1"/>
          <p:nvPr/>
        </p:nvSpPr>
        <p:spPr>
          <a:xfrm>
            <a:off x="1185552" y="796876"/>
            <a:ext cx="10297144" cy="707886"/>
          </a:xfrm>
          <a:prstGeom prst="rect">
            <a:avLst/>
          </a:prstGeom>
          <a:noFill/>
        </p:spPr>
        <p:txBody>
          <a:bodyPr wrap="square">
            <a:spAutoFit/>
          </a:bodyPr>
          <a:lstStyle/>
          <a:p>
            <a:pPr algn="ctr"/>
            <a:r>
              <a:rPr lang="ru-RU" b="1" dirty="0"/>
              <a:t>Использование t-критерия для проверки гипотезы о математическом ожидании при неизвестном стандартном отклонении</a:t>
            </a:r>
          </a:p>
        </p:txBody>
      </p:sp>
      <p:pic>
        <p:nvPicPr>
          <p:cNvPr id="26626" name="Picture 2">
            <a:extLst>
              <a:ext uri="{FF2B5EF4-FFF2-40B4-BE49-F238E27FC236}">
                <a16:creationId xmlns:a16="http://schemas.microsoft.com/office/drawing/2014/main" id="{72E61AF9-90E0-4298-8E6B-08078BAE41C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6859" y="1622203"/>
            <a:ext cx="3600400" cy="2861556"/>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30A60E5F-740A-4777-BFB7-25096F61462E}"/>
              </a:ext>
            </a:extLst>
          </p:cNvPr>
          <p:cNvSpPr txBox="1"/>
          <p:nvPr/>
        </p:nvSpPr>
        <p:spPr>
          <a:xfrm>
            <a:off x="4418821" y="1613170"/>
            <a:ext cx="7714132" cy="2554545"/>
          </a:xfrm>
          <a:prstGeom prst="rect">
            <a:avLst/>
          </a:prstGeom>
          <a:noFill/>
        </p:spPr>
        <p:txBody>
          <a:bodyPr wrap="square">
            <a:spAutoFit/>
          </a:bodyPr>
          <a:lstStyle/>
          <a:p>
            <a:r>
              <a:rPr lang="ru-RU" dirty="0"/>
              <a:t>Решающее правило таково: если t &lt; –t</a:t>
            </a:r>
            <a:r>
              <a:rPr lang="ru-RU" baseline="-25000" dirty="0"/>
              <a:t>11 </a:t>
            </a:r>
            <a:r>
              <a:rPr lang="ru-RU" dirty="0"/>
              <a:t>= –2,201 или t &gt; t</a:t>
            </a:r>
            <a:r>
              <a:rPr lang="ru-RU" baseline="-25000" dirty="0"/>
              <a:t>11</a:t>
            </a:r>
            <a:r>
              <a:rPr lang="ru-RU" dirty="0"/>
              <a:t> = +2,201, нулевая гипотеза отклоняется, в противном случае она не отклоняется.</a:t>
            </a:r>
          </a:p>
          <a:p>
            <a:r>
              <a:rPr lang="ru-RU" b="1" dirty="0"/>
              <a:t>Шаг 7. </a:t>
            </a:r>
            <a:r>
              <a:rPr lang="ru-RU" dirty="0"/>
              <a:t>Данные о суммах (в долларах) из выборки, состоящей из 12 накладных: 108,98; 152,22; 111,45; 110,59; 127,46; 107,26; 93,32; 91,97; 111,56; 75,71; 128,58; 135,11. Результаты вычислений, связанных с аудиторской проверкой компании </a:t>
            </a:r>
            <a:r>
              <a:rPr lang="ru-RU" dirty="0" err="1"/>
              <a:t>Saxon</a:t>
            </a:r>
            <a:r>
              <a:rPr lang="ru-RU" dirty="0"/>
              <a:t> Company:</a:t>
            </a:r>
          </a:p>
        </p:txBody>
      </p:sp>
      <p:pic>
        <p:nvPicPr>
          <p:cNvPr id="27650" name="Picture 2">
            <a:extLst>
              <a:ext uri="{FF2B5EF4-FFF2-40B4-BE49-F238E27FC236}">
                <a16:creationId xmlns:a16="http://schemas.microsoft.com/office/drawing/2014/main" id="{5F1BFB62-ACE6-41E4-A26C-3BE0F32BE28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62153" y="3785459"/>
            <a:ext cx="5425228" cy="916433"/>
          </a:xfrm>
          <a:prstGeom prst="rect">
            <a:avLst/>
          </a:prstGeom>
          <a:noFill/>
          <a:extLst>
            <a:ext uri="{909E8E84-426E-40DD-AFC4-6F175D3DCCD1}">
              <a14:hiddenFill xmlns:a14="http://schemas.microsoft.com/office/drawing/2010/main">
                <a:solidFill>
                  <a:srgbClr val="FFFFFF"/>
                </a:solidFill>
              </a14:hiddenFill>
            </a:ext>
          </a:extLst>
        </p:spPr>
      </p:pic>
      <p:sp>
        <p:nvSpPr>
          <p:cNvPr id="16" name="TextBox 15">
            <a:extLst>
              <a:ext uri="{FF2B5EF4-FFF2-40B4-BE49-F238E27FC236}">
                <a16:creationId xmlns:a16="http://schemas.microsoft.com/office/drawing/2014/main" id="{EBC75B22-3758-4A91-9DEF-995C6DBD4A90}"/>
              </a:ext>
            </a:extLst>
          </p:cNvPr>
          <p:cNvSpPr txBox="1"/>
          <p:nvPr/>
        </p:nvSpPr>
        <p:spPr>
          <a:xfrm>
            <a:off x="538357" y="4782393"/>
            <a:ext cx="6334760" cy="400110"/>
          </a:xfrm>
          <a:prstGeom prst="rect">
            <a:avLst/>
          </a:prstGeom>
          <a:noFill/>
        </p:spPr>
        <p:txBody>
          <a:bodyPr wrap="square">
            <a:spAutoFit/>
          </a:bodyPr>
          <a:lstStyle/>
          <a:p>
            <a:r>
              <a:rPr lang="ru-RU" dirty="0"/>
              <a:t>В соответствии с формулой (2) </a:t>
            </a:r>
            <a:r>
              <a:rPr lang="ru-RU" i="1" dirty="0"/>
              <a:t>t</a:t>
            </a:r>
            <a:r>
              <a:rPr lang="ru-RU" dirty="0"/>
              <a:t>-статистика равна:</a:t>
            </a:r>
          </a:p>
        </p:txBody>
      </p:sp>
      <p:pic>
        <p:nvPicPr>
          <p:cNvPr id="27652" name="Picture 4">
            <a:extLst>
              <a:ext uri="{FF2B5EF4-FFF2-40B4-BE49-F238E27FC236}">
                <a16:creationId xmlns:a16="http://schemas.microsoft.com/office/drawing/2014/main" id="{701E21EB-8650-4A5F-9792-A1C3DC550ED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060133" y="4731525"/>
            <a:ext cx="3350311" cy="781593"/>
          </a:xfrm>
          <a:prstGeom prst="rect">
            <a:avLst/>
          </a:prstGeom>
          <a:noFill/>
          <a:extLst>
            <a:ext uri="{909E8E84-426E-40DD-AFC4-6F175D3DCCD1}">
              <a14:hiddenFill xmlns:a14="http://schemas.microsoft.com/office/drawing/2010/main">
                <a:solidFill>
                  <a:srgbClr val="FFFFFF"/>
                </a:solidFill>
              </a14:hiddenFill>
            </a:ext>
          </a:extLst>
        </p:spPr>
      </p:pic>
      <p:sp>
        <p:nvSpPr>
          <p:cNvPr id="17" name="TextBox 16">
            <a:extLst>
              <a:ext uri="{FF2B5EF4-FFF2-40B4-BE49-F238E27FC236}">
                <a16:creationId xmlns:a16="http://schemas.microsoft.com/office/drawing/2014/main" id="{5C886B48-2249-4C3B-9CC7-277772258D01}"/>
              </a:ext>
            </a:extLst>
          </p:cNvPr>
          <p:cNvSpPr txBox="1"/>
          <p:nvPr/>
        </p:nvSpPr>
        <p:spPr>
          <a:xfrm>
            <a:off x="601627" y="5367675"/>
            <a:ext cx="11921052" cy="1631216"/>
          </a:xfrm>
          <a:prstGeom prst="rect">
            <a:avLst/>
          </a:prstGeom>
          <a:noFill/>
        </p:spPr>
        <p:txBody>
          <a:bodyPr wrap="square">
            <a:spAutoFit/>
          </a:bodyPr>
          <a:lstStyle/>
          <a:p>
            <a:r>
              <a:rPr lang="ru-RU" b="1" dirty="0"/>
              <a:t>Шаг 8. </a:t>
            </a:r>
            <a:r>
              <a:rPr lang="ru-RU" dirty="0"/>
              <a:t>Поскольку –2,201 &lt; t = –1,19 &lt; 2,201, тестовая статистика попадает в область принятия гипотезы (см. рис.).</a:t>
            </a:r>
          </a:p>
          <a:p>
            <a:r>
              <a:rPr lang="ru-RU" b="1" dirty="0"/>
              <a:t>Шаг 9. </a:t>
            </a:r>
            <a:r>
              <a:rPr lang="ru-RU" dirty="0"/>
              <a:t>Гипотеза </a:t>
            </a:r>
            <a:r>
              <a:rPr lang="ru-RU" i="1" dirty="0"/>
              <a:t>Н</a:t>
            </a:r>
            <a:r>
              <a:rPr lang="ru-RU" i="1" baseline="-25000" dirty="0"/>
              <a:t>0</a:t>
            </a:r>
            <a:r>
              <a:rPr lang="ru-RU" dirty="0"/>
              <a:t> не отклоняется.</a:t>
            </a:r>
          </a:p>
          <a:p>
            <a:r>
              <a:rPr lang="ru-RU" b="1" dirty="0"/>
              <a:t>Шаг 10. </a:t>
            </a:r>
            <a:r>
              <a:rPr lang="ru-RU" dirty="0"/>
              <a:t>Аудитор не имеет оснований утверждать, что средняя сумма накладных за последний месяц значительно отличается от 120 долл.</a:t>
            </a:r>
          </a:p>
        </p:txBody>
      </p:sp>
    </p:spTree>
    <p:extLst>
      <p:ext uri="{BB962C8B-B14F-4D97-AF65-F5344CB8AC3E}">
        <p14:creationId xmlns:p14="http://schemas.microsoft.com/office/powerpoint/2010/main" val="21417066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4"/>
          <p:cNvSpPr>
            <a:spLocks noChangeArrowheads="1"/>
          </p:cNvSpPr>
          <p:nvPr/>
        </p:nvSpPr>
        <p:spPr bwMode="auto">
          <a:xfrm>
            <a:off x="861517" y="322263"/>
            <a:ext cx="11377264" cy="6553200"/>
          </a:xfrm>
          <a:prstGeom prst="roundRect">
            <a:avLst>
              <a:gd name="adj" fmla="val 16667"/>
            </a:avLst>
          </a:prstGeom>
          <a:solidFill>
            <a:schemeClr val="bg1">
              <a:alpha val="50195"/>
            </a:scheme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5" name="AutoShape 5"/>
          <p:cNvSpPr>
            <a:spLocks noChangeArrowheads="1"/>
          </p:cNvSpPr>
          <p:nvPr/>
        </p:nvSpPr>
        <p:spPr bwMode="auto">
          <a:xfrm>
            <a:off x="2373685" y="322264"/>
            <a:ext cx="8064128" cy="720601"/>
          </a:xfrm>
          <a:prstGeom prst="roundRect">
            <a:avLst>
              <a:gd name="adj" fmla="val 37469"/>
            </a:avLst>
          </a:prstGeom>
          <a:solidFill>
            <a:srgbClr val="FFFFFF">
              <a:alpha val="78822"/>
            </a:srgb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2" name="Заголовок 1"/>
          <p:cNvSpPr txBox="1">
            <a:spLocks noGrp="1"/>
          </p:cNvSpPr>
          <p:nvPr>
            <p:ph type="title" idx="4294967295"/>
          </p:nvPr>
        </p:nvSpPr>
        <p:spPr>
          <a:xfrm>
            <a:off x="2023270" y="311150"/>
            <a:ext cx="8550275" cy="1184275"/>
          </a:xfrm>
          <a:prstGeom prst="rect">
            <a:avLst/>
          </a:prstGeom>
        </p:spPr>
        <p:txBody>
          <a:bodyPr wrap="square">
            <a:noAutofit/>
          </a:bodyPr>
          <a:lstStyle/>
          <a:p>
            <a:pPr lvl="0"/>
            <a:r>
              <a:rPr lang="ru-RU" sz="3949" dirty="0"/>
              <a:t>Парные и независимые выборки</a:t>
            </a:r>
          </a:p>
        </p:txBody>
      </p:sp>
      <p:sp>
        <p:nvSpPr>
          <p:cNvPr id="3" name="Текст 2"/>
          <p:cNvSpPr txBox="1">
            <a:spLocks noGrp="1"/>
          </p:cNvSpPr>
          <p:nvPr>
            <p:ph type="body" idx="4294967295"/>
          </p:nvPr>
        </p:nvSpPr>
        <p:spPr>
          <a:xfrm>
            <a:off x="1437581" y="1592042"/>
            <a:ext cx="10369152" cy="2088232"/>
          </a:xfrm>
          <a:prstGeom prst="rect">
            <a:avLst/>
          </a:prstGeom>
        </p:spPr>
        <p:txBody>
          <a:bodyPr wrap="square">
            <a:normAutofit/>
          </a:bodyPr>
          <a:lstStyle/>
          <a:p>
            <a:pPr marL="0" indent="0">
              <a:buClr>
                <a:srgbClr val="CC9900"/>
              </a:buClr>
              <a:buSzPct val="65000"/>
              <a:buFont typeface="Wingdings" pitchFamily="2"/>
              <a:buChar char=""/>
              <a:tabLst>
                <a:tab pos="0" algn="l"/>
                <a:tab pos="110352" algn="l"/>
                <a:tab pos="577199" algn="l"/>
                <a:tab pos="1044046" algn="l"/>
                <a:tab pos="1510893" algn="l"/>
                <a:tab pos="1977740" algn="l"/>
                <a:tab pos="2444587" algn="l"/>
                <a:tab pos="2911434" algn="l"/>
                <a:tab pos="3378279" algn="l"/>
                <a:tab pos="3845127" algn="l"/>
                <a:tab pos="4311973" algn="l"/>
                <a:tab pos="4778447" algn="l"/>
                <a:tab pos="5245294" algn="l"/>
                <a:tab pos="5712141" algn="l"/>
                <a:tab pos="6178987" algn="l"/>
                <a:tab pos="6645833" algn="l"/>
                <a:tab pos="7112681" algn="l"/>
                <a:tab pos="7579527" algn="l"/>
                <a:tab pos="8046375" algn="l"/>
                <a:tab pos="8513222" algn="l"/>
                <a:tab pos="8980068" algn="l"/>
              </a:tabLst>
            </a:pPr>
            <a:r>
              <a:rPr lang="ru-RU" sz="2800" dirty="0"/>
              <a:t> В случае </a:t>
            </a:r>
            <a:r>
              <a:rPr lang="ru-RU" sz="2800" i="1" dirty="0"/>
              <a:t>парных выборок </a:t>
            </a:r>
            <a:r>
              <a:rPr lang="ru-RU" sz="2800" dirty="0"/>
              <a:t>имеются пары наблюдений (измерений) одного и того же объекта.</a:t>
            </a:r>
          </a:p>
          <a:p>
            <a:pPr marL="354624" indent="-354624">
              <a:tabLst>
                <a:tab pos="354624" algn="l"/>
                <a:tab pos="464976" algn="l"/>
                <a:tab pos="931823" algn="l"/>
                <a:tab pos="1398670" algn="l"/>
                <a:tab pos="1865517" algn="l"/>
                <a:tab pos="2332364" algn="l"/>
                <a:tab pos="2799211" algn="l"/>
                <a:tab pos="3266058" algn="l"/>
                <a:tab pos="3732903" algn="l"/>
                <a:tab pos="4199751" algn="l"/>
                <a:tab pos="4666597" algn="l"/>
                <a:tab pos="5133071" algn="l"/>
                <a:tab pos="5599918" algn="l"/>
                <a:tab pos="6066765" algn="l"/>
                <a:tab pos="6533611" algn="l"/>
                <a:tab pos="7000457" algn="l"/>
                <a:tab pos="7467305" algn="l"/>
                <a:tab pos="7934151" algn="l"/>
                <a:tab pos="8400999" algn="l"/>
                <a:tab pos="8867846" algn="l"/>
                <a:tab pos="9334693" algn="l"/>
              </a:tabLst>
            </a:pPr>
            <a:endParaRPr lang="ru-RU" sz="2800" dirty="0"/>
          </a:p>
          <a:p>
            <a:pPr marL="0" indent="0">
              <a:buClr>
                <a:srgbClr val="CC9900"/>
              </a:buClr>
              <a:buSzPct val="65000"/>
              <a:buFont typeface="Wingdings" pitchFamily="2"/>
              <a:buChar char=""/>
              <a:tabLst>
                <a:tab pos="0" algn="l"/>
                <a:tab pos="110352" algn="l"/>
                <a:tab pos="577199" algn="l"/>
                <a:tab pos="1044046" algn="l"/>
                <a:tab pos="1510893" algn="l"/>
                <a:tab pos="1977740" algn="l"/>
                <a:tab pos="2444587" algn="l"/>
                <a:tab pos="2911434" algn="l"/>
                <a:tab pos="3378279" algn="l"/>
                <a:tab pos="3845127" algn="l"/>
                <a:tab pos="4311973" algn="l"/>
                <a:tab pos="4778447" algn="l"/>
                <a:tab pos="5245294" algn="l"/>
                <a:tab pos="5712141" algn="l"/>
                <a:tab pos="6178987" algn="l"/>
                <a:tab pos="6645833" algn="l"/>
                <a:tab pos="7112681" algn="l"/>
                <a:tab pos="7579527" algn="l"/>
                <a:tab pos="8046375" algn="l"/>
                <a:tab pos="8513222" algn="l"/>
                <a:tab pos="8980068" algn="l"/>
              </a:tabLst>
            </a:pPr>
            <a:r>
              <a:rPr lang="ru-RU" sz="2800" dirty="0"/>
              <a:t> Вариант: пары измерений делались в один и тот же момент.</a:t>
            </a:r>
          </a:p>
        </p:txBody>
      </p:sp>
      <p:sp>
        <p:nvSpPr>
          <p:cNvPr id="7" name="Номер слайда 6"/>
          <p:cNvSpPr>
            <a:spLocks noGrp="1"/>
          </p:cNvSpPr>
          <p:nvPr>
            <p:ph type="sldNum" sz="quarter" idx="12"/>
          </p:nvPr>
        </p:nvSpPr>
        <p:spPr/>
        <p:txBody>
          <a:bodyPr/>
          <a:lstStyle/>
          <a:p>
            <a:fld id="{952B6C0E-C4B9-4094-8E59-5B7DF00D5415}" type="slidenum">
              <a:rPr lang="ru-RU" sz="1400">
                <a:solidFill>
                  <a:schemeClr val="tx1"/>
                </a:solidFill>
              </a:rPr>
              <a:t>108</a:t>
            </a:fld>
            <a:endParaRPr lang="ru-RU" sz="1400">
              <a:solidFill>
                <a:schemeClr val="tx1"/>
              </a:solidFill>
            </a:endParaRPr>
          </a:p>
        </p:txBody>
      </p:sp>
      <p:sp>
        <p:nvSpPr>
          <p:cNvPr id="8" name="Текст 2">
            <a:extLst>
              <a:ext uri="{FF2B5EF4-FFF2-40B4-BE49-F238E27FC236}">
                <a16:creationId xmlns:a16="http://schemas.microsoft.com/office/drawing/2014/main" id="{EED8BAE6-A1D3-47D2-B5CF-682F153F6186}"/>
              </a:ext>
            </a:extLst>
          </p:cNvPr>
          <p:cNvSpPr txBox="1">
            <a:spLocks/>
          </p:cNvSpPr>
          <p:nvPr/>
        </p:nvSpPr>
        <p:spPr>
          <a:xfrm>
            <a:off x="1437581" y="3803604"/>
            <a:ext cx="10729192" cy="2692450"/>
          </a:xfrm>
          <a:prstGeom prst="rect">
            <a:avLst/>
          </a:prstGeom>
        </p:spPr>
        <p:txBody>
          <a:bodyPr vert="horz" wrap="square" lIns="91440" tIns="45720" rIns="91440" bIns="45720" rtlCol="0">
            <a:normAutofit/>
          </a:bodyPr>
          <a:lstStyle>
            <a:lvl1pPr marL="356307" indent="-356307" algn="l" defTabSz="950153" rtl="0" eaLnBrk="1" latinLnBrk="0" hangingPunct="1">
              <a:spcBef>
                <a:spcPct val="20000"/>
              </a:spcBef>
              <a:buFont typeface="Arial" panose="020B0604020202020204" pitchFamily="34" charset="0"/>
              <a:buChar char="•"/>
              <a:defRPr sz="3325" kern="1200">
                <a:solidFill>
                  <a:schemeClr val="tx1"/>
                </a:solidFill>
                <a:latin typeface="+mn-lt"/>
                <a:ea typeface="+mn-ea"/>
                <a:cs typeface="+mn-cs"/>
              </a:defRPr>
            </a:lvl1pPr>
            <a:lvl2pPr marL="771999" indent="-296923" algn="l" defTabSz="950153" rtl="0" eaLnBrk="1" latinLnBrk="0" hangingPunct="1">
              <a:spcBef>
                <a:spcPct val="20000"/>
              </a:spcBef>
              <a:buFont typeface="Arial" panose="020B0604020202020204" pitchFamily="34" charset="0"/>
              <a:buChar char="–"/>
              <a:defRPr sz="2909" kern="1200">
                <a:solidFill>
                  <a:schemeClr val="tx1"/>
                </a:solidFill>
                <a:latin typeface="+mn-lt"/>
                <a:ea typeface="+mn-ea"/>
                <a:cs typeface="+mn-cs"/>
              </a:defRPr>
            </a:lvl2pPr>
            <a:lvl3pPr marL="1187691" indent="-237538" algn="l" defTabSz="950153" rtl="0" eaLnBrk="1" latinLnBrk="0" hangingPunct="1">
              <a:spcBef>
                <a:spcPct val="20000"/>
              </a:spcBef>
              <a:buFont typeface="Arial" panose="020B0604020202020204" pitchFamily="34" charset="0"/>
              <a:buChar char="•"/>
              <a:defRPr sz="2494" kern="1200">
                <a:solidFill>
                  <a:schemeClr val="tx1"/>
                </a:solidFill>
                <a:latin typeface="+mn-lt"/>
                <a:ea typeface="+mn-ea"/>
                <a:cs typeface="+mn-cs"/>
              </a:defRPr>
            </a:lvl3pPr>
            <a:lvl4pPr marL="1662768" indent="-237538" algn="l" defTabSz="950153" rtl="0" eaLnBrk="1" latinLnBrk="0" hangingPunct="1">
              <a:spcBef>
                <a:spcPct val="20000"/>
              </a:spcBef>
              <a:buFont typeface="Arial" panose="020B0604020202020204" pitchFamily="34" charset="0"/>
              <a:buChar char="–"/>
              <a:defRPr sz="2078" kern="1200">
                <a:solidFill>
                  <a:schemeClr val="tx1"/>
                </a:solidFill>
                <a:latin typeface="+mn-lt"/>
                <a:ea typeface="+mn-ea"/>
                <a:cs typeface="+mn-cs"/>
              </a:defRPr>
            </a:lvl4pPr>
            <a:lvl5pPr marL="2137844" indent="-237538" algn="l" defTabSz="950153" rtl="0" eaLnBrk="1" latinLnBrk="0" hangingPunct="1">
              <a:spcBef>
                <a:spcPct val="20000"/>
              </a:spcBef>
              <a:buFont typeface="Arial" panose="020B0604020202020204" pitchFamily="34" charset="0"/>
              <a:buChar char="»"/>
              <a:defRPr sz="2078" kern="1200">
                <a:solidFill>
                  <a:schemeClr val="tx1"/>
                </a:solidFill>
                <a:latin typeface="+mn-lt"/>
                <a:ea typeface="+mn-ea"/>
                <a:cs typeface="+mn-cs"/>
              </a:defRPr>
            </a:lvl5pPr>
            <a:lvl6pPr marL="2612921" indent="-237538" algn="l" defTabSz="950153" rtl="0" eaLnBrk="1" latinLnBrk="0" hangingPunct="1">
              <a:spcBef>
                <a:spcPct val="20000"/>
              </a:spcBef>
              <a:buFont typeface="Arial" panose="020B0604020202020204" pitchFamily="34" charset="0"/>
              <a:buChar char="•"/>
              <a:defRPr sz="2078" kern="1200">
                <a:solidFill>
                  <a:schemeClr val="tx1"/>
                </a:solidFill>
                <a:latin typeface="+mn-lt"/>
                <a:ea typeface="+mn-ea"/>
                <a:cs typeface="+mn-cs"/>
              </a:defRPr>
            </a:lvl6pPr>
            <a:lvl7pPr marL="3087997" indent="-237538" algn="l" defTabSz="950153" rtl="0" eaLnBrk="1" latinLnBrk="0" hangingPunct="1">
              <a:spcBef>
                <a:spcPct val="20000"/>
              </a:spcBef>
              <a:buFont typeface="Arial" panose="020B0604020202020204" pitchFamily="34" charset="0"/>
              <a:buChar char="•"/>
              <a:defRPr sz="2078" kern="1200">
                <a:solidFill>
                  <a:schemeClr val="tx1"/>
                </a:solidFill>
                <a:latin typeface="+mn-lt"/>
                <a:ea typeface="+mn-ea"/>
                <a:cs typeface="+mn-cs"/>
              </a:defRPr>
            </a:lvl7pPr>
            <a:lvl8pPr marL="3563074" indent="-237538" algn="l" defTabSz="950153" rtl="0" eaLnBrk="1" latinLnBrk="0" hangingPunct="1">
              <a:spcBef>
                <a:spcPct val="20000"/>
              </a:spcBef>
              <a:buFont typeface="Arial" panose="020B0604020202020204" pitchFamily="34" charset="0"/>
              <a:buChar char="•"/>
              <a:defRPr sz="2078" kern="1200">
                <a:solidFill>
                  <a:schemeClr val="tx1"/>
                </a:solidFill>
                <a:latin typeface="+mn-lt"/>
                <a:ea typeface="+mn-ea"/>
                <a:cs typeface="+mn-cs"/>
              </a:defRPr>
            </a:lvl8pPr>
            <a:lvl9pPr marL="4038150" indent="-237538" algn="l" defTabSz="950153" rtl="0" eaLnBrk="1" latinLnBrk="0" hangingPunct="1">
              <a:spcBef>
                <a:spcPct val="20000"/>
              </a:spcBef>
              <a:buFont typeface="Arial" panose="020B0604020202020204" pitchFamily="34" charset="0"/>
              <a:buChar char="•"/>
              <a:defRPr sz="2078" kern="1200">
                <a:solidFill>
                  <a:schemeClr val="tx1"/>
                </a:solidFill>
                <a:latin typeface="+mn-lt"/>
                <a:ea typeface="+mn-ea"/>
                <a:cs typeface="+mn-cs"/>
              </a:defRPr>
            </a:lvl9pPr>
          </a:lstStyle>
          <a:p>
            <a:pPr marL="0" indent="357188" fontAlgn="auto">
              <a:spcAft>
                <a:spcPts val="0"/>
              </a:spcAft>
              <a:buClr>
                <a:srgbClr val="CC9900"/>
              </a:buClr>
              <a:buSzPct val="65000"/>
              <a:buFont typeface="Wingdings" pitchFamily="2"/>
              <a:buChar char=""/>
              <a:tabLst>
                <a:tab pos="0" algn="l"/>
                <a:tab pos="110352" algn="l"/>
                <a:tab pos="577199" algn="l"/>
                <a:tab pos="1044046" algn="l"/>
                <a:tab pos="1510893" algn="l"/>
                <a:tab pos="1977740" algn="l"/>
                <a:tab pos="2444587" algn="l"/>
                <a:tab pos="2911434" algn="l"/>
                <a:tab pos="3378279" algn="l"/>
                <a:tab pos="3845127" algn="l"/>
                <a:tab pos="4311973" algn="l"/>
                <a:tab pos="4778447" algn="l"/>
                <a:tab pos="5245294" algn="l"/>
                <a:tab pos="5712141" algn="l"/>
                <a:tab pos="6178987" algn="l"/>
                <a:tab pos="6645833" algn="l"/>
                <a:tab pos="7112681" algn="l"/>
                <a:tab pos="7579527" algn="l"/>
                <a:tab pos="8046375" algn="l"/>
                <a:tab pos="8513222" algn="l"/>
                <a:tab pos="8980068" algn="l"/>
              </a:tabLst>
            </a:pPr>
            <a:r>
              <a:rPr lang="ru-RU" sz="2800" dirty="0"/>
              <a:t>В случае </a:t>
            </a:r>
            <a:r>
              <a:rPr lang="ru-RU" sz="2800" i="1" dirty="0"/>
              <a:t>независимых выборок</a:t>
            </a:r>
            <a:r>
              <a:rPr lang="ru-RU" sz="2800" dirty="0"/>
              <a:t> каждое наблюдение соответствует отдельному объекту, т.е. измеряются разные объекты.</a:t>
            </a:r>
          </a:p>
          <a:p>
            <a:pPr marL="0" indent="357188" fontAlgn="auto">
              <a:spcAft>
                <a:spcPts val="0"/>
              </a:spcAft>
              <a:tabLst>
                <a:tab pos="354624" algn="l"/>
                <a:tab pos="464976" algn="l"/>
                <a:tab pos="931823" algn="l"/>
                <a:tab pos="1398670" algn="l"/>
                <a:tab pos="1865517" algn="l"/>
                <a:tab pos="2332364" algn="l"/>
                <a:tab pos="2799211" algn="l"/>
                <a:tab pos="3266058" algn="l"/>
                <a:tab pos="3732903" algn="l"/>
                <a:tab pos="4199751" algn="l"/>
                <a:tab pos="4666597" algn="l"/>
                <a:tab pos="5133071" algn="l"/>
                <a:tab pos="5599918" algn="l"/>
                <a:tab pos="6066765" algn="l"/>
                <a:tab pos="6533611" algn="l"/>
                <a:tab pos="7000457" algn="l"/>
                <a:tab pos="7467305" algn="l"/>
                <a:tab pos="7934151" algn="l"/>
                <a:tab pos="8400999" algn="l"/>
                <a:tab pos="8867846" algn="l"/>
                <a:tab pos="9334693" algn="l"/>
              </a:tabLst>
            </a:pPr>
            <a:endParaRPr lang="ru-RU" sz="2800" dirty="0"/>
          </a:p>
          <a:p>
            <a:pPr marL="85725" indent="357188" fontAlgn="auto">
              <a:spcAft>
                <a:spcPts val="0"/>
              </a:spcAft>
              <a:buClr>
                <a:srgbClr val="CC9900"/>
              </a:buClr>
              <a:buSzPct val="65000"/>
              <a:buFont typeface="Wingdings" pitchFamily="2"/>
              <a:buChar char=""/>
              <a:tabLst>
                <a:tab pos="1171575" algn="l"/>
                <a:tab pos="1509713" algn="l"/>
                <a:tab pos="1976438" algn="l"/>
                <a:tab pos="2443163" algn="l"/>
                <a:tab pos="2909888" algn="l"/>
                <a:tab pos="3378200" algn="l"/>
                <a:tab pos="3844925" algn="l"/>
                <a:tab pos="4311650" algn="l"/>
                <a:tab pos="4778375" algn="l"/>
                <a:tab pos="5245100" algn="l"/>
                <a:tab pos="5711825" algn="l"/>
                <a:tab pos="6178550" algn="l"/>
                <a:tab pos="6645275" algn="l"/>
                <a:tab pos="7112000" algn="l"/>
                <a:tab pos="7578725" algn="l"/>
                <a:tab pos="8045450" algn="l"/>
                <a:tab pos="8512175" algn="l"/>
                <a:tab pos="8978900" algn="l"/>
              </a:tabLst>
            </a:pPr>
            <a:r>
              <a:rPr lang="ru-RU" sz="2800" dirty="0"/>
              <a:t>Принадлежность объектов выборкам определяется по значениям</a:t>
            </a:r>
            <a:r>
              <a:rPr lang="en-US" sz="2800" dirty="0"/>
              <a:t> </a:t>
            </a:r>
            <a:r>
              <a:rPr lang="ru-RU" sz="2800" dirty="0">
                <a:solidFill>
                  <a:srgbClr val="FF0000"/>
                </a:solidFill>
              </a:rPr>
              <a:t>дополнительной группирующей переменной.</a:t>
            </a:r>
          </a:p>
        </p:txBody>
      </p:sp>
    </p:spTree>
    <p:extLst>
      <p:ext uri="{BB962C8B-B14F-4D97-AF65-F5344CB8AC3E}">
        <p14:creationId xmlns:p14="http://schemas.microsoft.com/office/powerpoint/2010/main" val="42420848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4"/>
          <p:cNvSpPr>
            <a:spLocks noChangeArrowheads="1"/>
          </p:cNvSpPr>
          <p:nvPr/>
        </p:nvSpPr>
        <p:spPr bwMode="auto">
          <a:xfrm>
            <a:off x="1438276" y="322263"/>
            <a:ext cx="11016528" cy="6553200"/>
          </a:xfrm>
          <a:prstGeom prst="roundRect">
            <a:avLst>
              <a:gd name="adj" fmla="val 16667"/>
            </a:avLst>
          </a:prstGeom>
          <a:solidFill>
            <a:schemeClr val="bg1">
              <a:alpha val="50195"/>
            </a:scheme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5" name="AutoShape 5"/>
          <p:cNvSpPr>
            <a:spLocks noChangeArrowheads="1"/>
          </p:cNvSpPr>
          <p:nvPr/>
        </p:nvSpPr>
        <p:spPr bwMode="auto">
          <a:xfrm>
            <a:off x="2373685" y="322264"/>
            <a:ext cx="8064128" cy="720601"/>
          </a:xfrm>
          <a:prstGeom prst="roundRect">
            <a:avLst>
              <a:gd name="adj" fmla="val 37469"/>
            </a:avLst>
          </a:prstGeom>
          <a:solidFill>
            <a:srgbClr val="FFFFFF">
              <a:alpha val="78822"/>
            </a:srgb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2" name="Заголовок 1"/>
          <p:cNvSpPr txBox="1">
            <a:spLocks noGrp="1"/>
          </p:cNvSpPr>
          <p:nvPr>
            <p:ph type="title" idx="4294967295"/>
          </p:nvPr>
        </p:nvSpPr>
        <p:spPr>
          <a:xfrm>
            <a:off x="2201863" y="391892"/>
            <a:ext cx="8235950" cy="649288"/>
          </a:xfrm>
          <a:prstGeom prst="rect">
            <a:avLst/>
          </a:prstGeom>
        </p:spPr>
        <p:txBody>
          <a:bodyPr wrap="square">
            <a:noAutofit/>
          </a:bodyPr>
          <a:lstStyle/>
          <a:p>
            <a:pPr lvl="0"/>
            <a:r>
              <a:rPr lang="ru-RU" sz="3949" dirty="0"/>
              <a:t>Независимые и парные выборки</a:t>
            </a:r>
          </a:p>
        </p:txBody>
      </p:sp>
      <p:sp>
        <p:nvSpPr>
          <p:cNvPr id="3" name="Текст 2"/>
          <p:cNvSpPr txBox="1">
            <a:spLocks noGrp="1"/>
          </p:cNvSpPr>
          <p:nvPr>
            <p:ph type="body" idx="4294967295"/>
          </p:nvPr>
        </p:nvSpPr>
        <p:spPr>
          <a:xfrm>
            <a:off x="1293565" y="1409170"/>
            <a:ext cx="10585175" cy="2630487"/>
          </a:xfrm>
          <a:prstGeom prst="rect">
            <a:avLst/>
          </a:prstGeom>
        </p:spPr>
        <p:txBody>
          <a:bodyPr wrap="square">
            <a:normAutofit/>
          </a:bodyPr>
          <a:lstStyle/>
          <a:p>
            <a:pPr marL="0" indent="0">
              <a:buClr>
                <a:srgbClr val="CC9900"/>
              </a:buClr>
              <a:buSzPct val="65000"/>
              <a:buFont typeface="Wingdings" pitchFamily="2"/>
              <a:buChar char=""/>
              <a:tabLst>
                <a:tab pos="0" algn="l"/>
                <a:tab pos="110352" algn="l"/>
                <a:tab pos="577199" algn="l"/>
                <a:tab pos="1044046" algn="l"/>
                <a:tab pos="1510893" algn="l"/>
                <a:tab pos="1977740" algn="l"/>
                <a:tab pos="2444587" algn="l"/>
                <a:tab pos="2911434" algn="l"/>
                <a:tab pos="3378279" algn="l"/>
                <a:tab pos="3845127" algn="l"/>
                <a:tab pos="4311973" algn="l"/>
                <a:tab pos="4778447" algn="l"/>
                <a:tab pos="5245294" algn="l"/>
                <a:tab pos="5712141" algn="l"/>
                <a:tab pos="6178987" algn="l"/>
                <a:tab pos="6645833" algn="l"/>
                <a:tab pos="7112681" algn="l"/>
                <a:tab pos="7579527" algn="l"/>
                <a:tab pos="8046375" algn="l"/>
                <a:tab pos="8513222" algn="l"/>
                <a:tab pos="8980068" algn="l"/>
              </a:tabLst>
            </a:pPr>
            <a:r>
              <a:rPr lang="ru-RU" sz="2800" dirty="0"/>
              <a:t> Если выборки парные, используется опция </a:t>
            </a:r>
            <a:r>
              <a:rPr lang="ru-RU" sz="2800" dirty="0" err="1">
                <a:solidFill>
                  <a:srgbClr val="0000FF"/>
                </a:solidFill>
              </a:rPr>
              <a:t>paired</a:t>
            </a:r>
            <a:r>
              <a:rPr lang="ru-RU" sz="2800" dirty="0">
                <a:solidFill>
                  <a:srgbClr val="0000FF"/>
                </a:solidFill>
              </a:rPr>
              <a:t> = TRUE.</a:t>
            </a:r>
          </a:p>
          <a:p>
            <a:pPr marL="434975" lvl="1" indent="0">
              <a:buClr>
                <a:srgbClr val="CC9900"/>
              </a:buClr>
              <a:buSzPct val="65000"/>
              <a:buFont typeface="Wingdings" pitchFamily="2"/>
              <a:buChar char=""/>
              <a:tabLst>
                <a:tab pos="0" algn="l"/>
                <a:tab pos="110352" algn="l"/>
                <a:tab pos="577199" algn="l"/>
                <a:tab pos="1044046" algn="l"/>
                <a:tab pos="1510893" algn="l"/>
                <a:tab pos="1977740" algn="l"/>
                <a:tab pos="2444587" algn="l"/>
                <a:tab pos="2911434" algn="l"/>
                <a:tab pos="3378279" algn="l"/>
                <a:tab pos="3845127" algn="l"/>
                <a:tab pos="4311973" algn="l"/>
                <a:tab pos="4778447" algn="l"/>
                <a:tab pos="5245294" algn="l"/>
                <a:tab pos="5712141" algn="l"/>
                <a:tab pos="6178987" algn="l"/>
                <a:tab pos="6645833" algn="l"/>
                <a:tab pos="7112681" algn="l"/>
                <a:tab pos="7579527" algn="l"/>
                <a:tab pos="8046375" algn="l"/>
                <a:tab pos="8513222" algn="l"/>
                <a:tab pos="8980068" algn="l"/>
              </a:tabLst>
            </a:pPr>
            <a:r>
              <a:rPr lang="ru-RU" sz="2300" i="1" dirty="0"/>
              <a:t> Примерами парных выборок являются  повторные измерения одного и того же объекта </a:t>
            </a:r>
          </a:p>
          <a:p>
            <a:pPr marL="0" indent="0">
              <a:buClr>
                <a:srgbClr val="CC9900"/>
              </a:buClr>
              <a:buSzPct val="65000"/>
              <a:buFont typeface="Wingdings" pitchFamily="2"/>
              <a:buChar char=""/>
              <a:tabLst>
                <a:tab pos="0" algn="l"/>
                <a:tab pos="110352" algn="l"/>
                <a:tab pos="577199" algn="l"/>
                <a:tab pos="1044046" algn="l"/>
                <a:tab pos="1510893" algn="l"/>
                <a:tab pos="1977740" algn="l"/>
                <a:tab pos="2444587" algn="l"/>
                <a:tab pos="2911434" algn="l"/>
                <a:tab pos="3378279" algn="l"/>
                <a:tab pos="3845127" algn="l"/>
                <a:tab pos="4311973" algn="l"/>
                <a:tab pos="4778447" algn="l"/>
                <a:tab pos="5245294" algn="l"/>
                <a:tab pos="5712141" algn="l"/>
                <a:tab pos="6178987" algn="l"/>
                <a:tab pos="6645833" algn="l"/>
                <a:tab pos="7112681" algn="l"/>
                <a:tab pos="7579527" algn="l"/>
                <a:tab pos="8046375" algn="l"/>
                <a:tab pos="8513222" algn="l"/>
                <a:tab pos="8980068" algn="l"/>
              </a:tabLst>
            </a:pPr>
            <a:r>
              <a:rPr lang="ru-RU" sz="2800" dirty="0"/>
              <a:t> Если выборки независимые, используется опция </a:t>
            </a:r>
            <a:r>
              <a:rPr lang="ru-RU" sz="2800" dirty="0" err="1">
                <a:solidFill>
                  <a:srgbClr val="0000FF"/>
                </a:solidFill>
              </a:rPr>
              <a:t>paired</a:t>
            </a:r>
            <a:r>
              <a:rPr lang="ru-RU" sz="2800" dirty="0">
                <a:solidFill>
                  <a:srgbClr val="0000FF"/>
                </a:solidFill>
              </a:rPr>
              <a:t> = FALSE.</a:t>
            </a:r>
          </a:p>
        </p:txBody>
      </p:sp>
      <p:sp>
        <p:nvSpPr>
          <p:cNvPr id="7" name="Прямоугольник 6"/>
          <p:cNvSpPr/>
          <p:nvPr/>
        </p:nvSpPr>
        <p:spPr>
          <a:xfrm>
            <a:off x="3435913" y="4198914"/>
            <a:ext cx="6912768" cy="954107"/>
          </a:xfrm>
          <a:prstGeom prst="rect">
            <a:avLst/>
          </a:prstGeom>
        </p:spPr>
        <p:txBody>
          <a:bodyPr wrap="square">
            <a:spAutoFit/>
          </a:bodyPr>
          <a:lstStyle/>
          <a:p>
            <a:pPr marR="709248">
              <a:tabLst>
                <a:tab pos="356494" algn="l"/>
              </a:tabLst>
            </a:pPr>
            <a:r>
              <a:rPr lang="en-US" sz="2800" dirty="0" err="1">
                <a:solidFill>
                  <a:srgbClr val="0000FF"/>
                </a:solidFill>
                <a:latin typeface="Arial" pitchFamily="34"/>
              </a:rPr>
              <a:t>t.test</a:t>
            </a:r>
            <a:r>
              <a:rPr lang="en-US" sz="2800" dirty="0">
                <a:solidFill>
                  <a:srgbClr val="0000FF"/>
                </a:solidFill>
                <a:latin typeface="Arial" pitchFamily="34"/>
              </a:rPr>
              <a:t>(x, y, alternative = "</a:t>
            </a:r>
            <a:r>
              <a:rPr lang="en-US" sz="2800" dirty="0" err="1">
                <a:solidFill>
                  <a:srgbClr val="0000FF"/>
                </a:solidFill>
                <a:latin typeface="Arial" pitchFamily="34"/>
              </a:rPr>
              <a:t>two.sided</a:t>
            </a:r>
            <a:r>
              <a:rPr lang="en-US" sz="2800" dirty="0">
                <a:solidFill>
                  <a:srgbClr val="0000FF"/>
                </a:solidFill>
                <a:latin typeface="Arial" pitchFamily="34"/>
              </a:rPr>
              <a:t>", paired = FALSE, </a:t>
            </a:r>
            <a:r>
              <a:rPr lang="en-US" sz="2800" dirty="0" err="1">
                <a:solidFill>
                  <a:srgbClr val="0000FF"/>
                </a:solidFill>
                <a:latin typeface="Arial" pitchFamily="34"/>
              </a:rPr>
              <a:t>var.equal</a:t>
            </a:r>
            <a:r>
              <a:rPr lang="en-US" sz="2800" dirty="0">
                <a:solidFill>
                  <a:srgbClr val="0000FF"/>
                </a:solidFill>
                <a:latin typeface="Arial" pitchFamily="34"/>
              </a:rPr>
              <a:t> = FALSE)</a:t>
            </a:r>
          </a:p>
        </p:txBody>
      </p:sp>
      <p:sp>
        <p:nvSpPr>
          <p:cNvPr id="8" name="Прямоугольник 7"/>
          <p:cNvSpPr/>
          <p:nvPr/>
        </p:nvSpPr>
        <p:spPr>
          <a:xfrm>
            <a:off x="4516033" y="3658958"/>
            <a:ext cx="4068230" cy="523220"/>
          </a:xfrm>
          <a:prstGeom prst="rect">
            <a:avLst/>
          </a:prstGeom>
        </p:spPr>
        <p:txBody>
          <a:bodyPr wrap="none">
            <a:spAutoFit/>
          </a:bodyPr>
          <a:lstStyle/>
          <a:p>
            <a:r>
              <a:rPr lang="ru-RU" sz="2800" dirty="0"/>
              <a:t>T-критерий Стьюдента</a:t>
            </a:r>
            <a:r>
              <a:rPr lang="en-US" sz="2800" dirty="0"/>
              <a:t>:</a:t>
            </a:r>
            <a:endParaRPr lang="ru-RU" sz="2800" dirty="0"/>
          </a:p>
        </p:txBody>
      </p:sp>
      <p:sp>
        <p:nvSpPr>
          <p:cNvPr id="9" name="Номер слайда 8"/>
          <p:cNvSpPr>
            <a:spLocks noGrp="1"/>
          </p:cNvSpPr>
          <p:nvPr>
            <p:ph type="sldNum" sz="quarter" idx="12"/>
          </p:nvPr>
        </p:nvSpPr>
        <p:spPr>
          <a:xfrm>
            <a:off x="11718371" y="6541296"/>
            <a:ext cx="736433" cy="379409"/>
          </a:xfrm>
        </p:spPr>
        <p:txBody>
          <a:bodyPr/>
          <a:lstStyle/>
          <a:p>
            <a:fld id="{952B6C0E-C4B9-4094-8E59-5B7DF00D5415}" type="slidenum">
              <a:rPr lang="ru-RU" smtClean="0">
                <a:solidFill>
                  <a:schemeClr val="tx1"/>
                </a:solidFill>
              </a:rPr>
              <a:t>109</a:t>
            </a:fld>
            <a:endParaRPr lang="ru-RU" dirty="0">
              <a:solidFill>
                <a:schemeClr val="tx1"/>
              </a:solidFill>
            </a:endParaRPr>
          </a:p>
        </p:txBody>
      </p:sp>
      <p:sp>
        <p:nvSpPr>
          <p:cNvPr id="10" name="Облачко с текстом: овальное 9">
            <a:extLst>
              <a:ext uri="{FF2B5EF4-FFF2-40B4-BE49-F238E27FC236}">
                <a16:creationId xmlns:a16="http://schemas.microsoft.com/office/drawing/2014/main" id="{5365E08D-85D6-48E5-BA15-E84B9A894ED9}"/>
              </a:ext>
            </a:extLst>
          </p:cNvPr>
          <p:cNvSpPr/>
          <p:nvPr/>
        </p:nvSpPr>
        <p:spPr>
          <a:xfrm>
            <a:off x="2373685" y="5648874"/>
            <a:ext cx="4680520" cy="730736"/>
          </a:xfrm>
          <a:prstGeom prst="wedgeEllipseCallout">
            <a:avLst>
              <a:gd name="adj1" fmla="val 37853"/>
              <a:gd name="adj2" fmla="val -124920"/>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b="1" dirty="0"/>
              <a:t>Параметр определяет эквивалентность дисперсии</a:t>
            </a:r>
          </a:p>
        </p:txBody>
      </p:sp>
    </p:spTree>
    <p:extLst>
      <p:ext uri="{BB962C8B-B14F-4D97-AF65-F5344CB8AC3E}">
        <p14:creationId xmlns:p14="http://schemas.microsoft.com/office/powerpoint/2010/main" val="41920221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4"/>
          <p:cNvSpPr>
            <a:spLocks noChangeArrowheads="1"/>
          </p:cNvSpPr>
          <p:nvPr/>
        </p:nvSpPr>
        <p:spPr bwMode="auto">
          <a:xfrm>
            <a:off x="1438275" y="322263"/>
            <a:ext cx="10944521" cy="6409233"/>
          </a:xfrm>
          <a:prstGeom prst="roundRect">
            <a:avLst>
              <a:gd name="adj" fmla="val 16667"/>
            </a:avLst>
          </a:prstGeom>
          <a:solidFill>
            <a:schemeClr val="bg1">
              <a:alpha val="50195"/>
            </a:scheme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6" name="AutoShape 5"/>
          <p:cNvSpPr>
            <a:spLocks noChangeArrowheads="1"/>
          </p:cNvSpPr>
          <p:nvPr/>
        </p:nvSpPr>
        <p:spPr bwMode="auto">
          <a:xfrm>
            <a:off x="2373685" y="322264"/>
            <a:ext cx="8064128" cy="720601"/>
          </a:xfrm>
          <a:prstGeom prst="roundRect">
            <a:avLst>
              <a:gd name="adj" fmla="val 37469"/>
            </a:avLst>
          </a:prstGeom>
          <a:solidFill>
            <a:srgbClr val="FFFFFF">
              <a:alpha val="78822"/>
            </a:srgb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2" name="object 2"/>
          <p:cNvSpPr txBox="1"/>
          <p:nvPr/>
        </p:nvSpPr>
        <p:spPr>
          <a:xfrm>
            <a:off x="2842023" y="295394"/>
            <a:ext cx="6912768" cy="846363"/>
          </a:xfrm>
          <a:prstGeom prst="rect">
            <a:avLst/>
          </a:prstGeom>
        </p:spPr>
        <p:txBody>
          <a:bodyPr wrap="square">
            <a:noAutofit/>
          </a:bodyPr>
          <a:lstStyle>
            <a:lvl1pPr lvl="0" algn="ctr" defTabSz="993775">
              <a:defRPr sz="3949">
                <a:solidFill>
                  <a:schemeClr val="tx2"/>
                </a:solidFill>
                <a:latin typeface="+mj-lt"/>
                <a:ea typeface="+mj-ea"/>
                <a:cs typeface="+mj-cs"/>
              </a:defRPr>
            </a:lvl1pPr>
            <a:lvl2pPr algn="ctr" defTabSz="993775">
              <a:defRPr sz="4800">
                <a:solidFill>
                  <a:schemeClr val="tx2"/>
                </a:solidFill>
              </a:defRPr>
            </a:lvl2pPr>
            <a:lvl3pPr algn="ctr" defTabSz="993775">
              <a:defRPr sz="4800">
                <a:solidFill>
                  <a:schemeClr val="tx2"/>
                </a:solidFill>
              </a:defRPr>
            </a:lvl3pPr>
            <a:lvl4pPr algn="ctr" defTabSz="993775">
              <a:defRPr sz="4800">
                <a:solidFill>
                  <a:schemeClr val="tx2"/>
                </a:solidFill>
              </a:defRPr>
            </a:lvl4pPr>
            <a:lvl5pPr algn="ctr" defTabSz="993775">
              <a:defRPr sz="4800">
                <a:solidFill>
                  <a:schemeClr val="tx2"/>
                </a:solidFill>
              </a:defRPr>
            </a:lvl5pPr>
            <a:lvl6pPr marL="457200" algn="ctr" defTabSz="993775" fontAlgn="base">
              <a:spcBef>
                <a:spcPct val="0"/>
              </a:spcBef>
              <a:spcAft>
                <a:spcPct val="0"/>
              </a:spcAft>
              <a:defRPr sz="4800">
                <a:solidFill>
                  <a:schemeClr val="tx2"/>
                </a:solidFill>
              </a:defRPr>
            </a:lvl6pPr>
            <a:lvl7pPr marL="914400" algn="ctr" defTabSz="993775" fontAlgn="base">
              <a:spcBef>
                <a:spcPct val="0"/>
              </a:spcBef>
              <a:spcAft>
                <a:spcPct val="0"/>
              </a:spcAft>
              <a:defRPr sz="4800">
                <a:solidFill>
                  <a:schemeClr val="tx2"/>
                </a:solidFill>
              </a:defRPr>
            </a:lvl7pPr>
            <a:lvl8pPr marL="1371600" algn="ctr" defTabSz="993775" fontAlgn="base">
              <a:spcBef>
                <a:spcPct val="0"/>
              </a:spcBef>
              <a:spcAft>
                <a:spcPct val="0"/>
              </a:spcAft>
              <a:defRPr sz="4800">
                <a:solidFill>
                  <a:schemeClr val="tx2"/>
                </a:solidFill>
              </a:defRPr>
            </a:lvl8pPr>
            <a:lvl9pPr marL="1828800" algn="ctr" defTabSz="993775" fontAlgn="base">
              <a:spcBef>
                <a:spcPct val="0"/>
              </a:spcBef>
              <a:spcAft>
                <a:spcPct val="0"/>
              </a:spcAft>
              <a:defRPr sz="4800">
                <a:solidFill>
                  <a:schemeClr val="tx2"/>
                </a:solidFill>
              </a:defRPr>
            </a:lvl9pPr>
          </a:lstStyle>
          <a:p>
            <a:r>
              <a:rPr dirty="0" err="1"/>
              <a:t>Двухвыборочные</a:t>
            </a:r>
            <a:r>
              <a:rPr dirty="0"/>
              <a:t> </a:t>
            </a:r>
            <a:r>
              <a:rPr dirty="0" err="1"/>
              <a:t>критерии</a:t>
            </a:r>
            <a:endParaRPr dirty="0"/>
          </a:p>
        </p:txBody>
      </p:sp>
      <p:sp>
        <p:nvSpPr>
          <p:cNvPr id="3" name="object 3"/>
          <p:cNvSpPr txBox="1">
            <a:spLocks noGrp="1"/>
          </p:cNvSpPr>
          <p:nvPr>
            <p:ph type="title"/>
          </p:nvPr>
        </p:nvSpPr>
        <p:spPr>
          <a:xfrm>
            <a:off x="3015696" y="1268342"/>
            <a:ext cx="6565422" cy="1037349"/>
          </a:xfrm>
          <a:prstGeom prst="rect">
            <a:avLst/>
          </a:prstGeom>
        </p:spPr>
        <p:txBody>
          <a:bodyPr vert="horz" wrap="square" lIns="0" tIns="13857" rIns="0" bIns="0" rtlCol="0" anchor="ctr">
            <a:spAutoFit/>
          </a:bodyPr>
          <a:lstStyle/>
          <a:p>
            <a:pPr marR="5279" indent="12700">
              <a:spcBef>
                <a:spcPts val="109"/>
              </a:spcBef>
            </a:pPr>
            <a:r>
              <a:rPr sz="3325" spc="-5" dirty="0">
                <a:solidFill>
                  <a:srgbClr val="000000"/>
                </a:solidFill>
              </a:rPr>
              <a:t>Сравнение </a:t>
            </a:r>
            <a:r>
              <a:rPr sz="3325" spc="-10" dirty="0">
                <a:solidFill>
                  <a:srgbClr val="000000"/>
                </a:solidFill>
              </a:rPr>
              <a:t>между </a:t>
            </a:r>
            <a:r>
              <a:rPr sz="3325" dirty="0">
                <a:solidFill>
                  <a:srgbClr val="000000"/>
                </a:solidFill>
              </a:rPr>
              <a:t>собой </a:t>
            </a:r>
            <a:r>
              <a:rPr sz="3325" spc="-16" dirty="0">
                <a:solidFill>
                  <a:srgbClr val="000000"/>
                </a:solidFill>
              </a:rPr>
              <a:t>средних  значений </a:t>
            </a:r>
            <a:r>
              <a:rPr sz="3325" dirty="0">
                <a:solidFill>
                  <a:srgbClr val="000000"/>
                </a:solidFill>
              </a:rPr>
              <a:t>2-х</a:t>
            </a:r>
            <a:r>
              <a:rPr sz="3325" spc="-16" dirty="0">
                <a:solidFill>
                  <a:srgbClr val="000000"/>
                </a:solidFill>
              </a:rPr>
              <a:t> </a:t>
            </a:r>
            <a:r>
              <a:rPr sz="3325" spc="-5" dirty="0">
                <a:solidFill>
                  <a:srgbClr val="000000"/>
                </a:solidFill>
              </a:rPr>
              <a:t>выборок</a:t>
            </a:r>
            <a:endParaRPr sz="3325" dirty="0"/>
          </a:p>
        </p:txBody>
      </p:sp>
      <p:sp>
        <p:nvSpPr>
          <p:cNvPr id="4" name="object 4"/>
          <p:cNvSpPr txBox="1"/>
          <p:nvPr/>
        </p:nvSpPr>
        <p:spPr>
          <a:xfrm>
            <a:off x="2229670" y="2814635"/>
            <a:ext cx="8269423" cy="1859985"/>
          </a:xfrm>
          <a:prstGeom prst="rect">
            <a:avLst/>
          </a:prstGeom>
        </p:spPr>
        <p:txBody>
          <a:bodyPr vert="horz" wrap="square" lIns="0" tIns="13197" rIns="0" bIns="0" rtlCol="0">
            <a:spAutoFit/>
          </a:bodyPr>
          <a:lstStyle/>
          <a:p>
            <a:pPr marL="13197">
              <a:spcBef>
                <a:spcPts val="104"/>
              </a:spcBef>
            </a:pPr>
            <a:r>
              <a:rPr sz="2400" i="1" spc="-5" dirty="0">
                <a:latin typeface="Arial"/>
                <a:cs typeface="Arial"/>
              </a:rPr>
              <a:t>Зависимая </a:t>
            </a:r>
            <a:r>
              <a:rPr sz="2400" i="1" spc="-10" dirty="0">
                <a:latin typeface="Arial"/>
                <a:cs typeface="Arial"/>
              </a:rPr>
              <a:t>переменная </a:t>
            </a:r>
            <a:r>
              <a:rPr sz="2400" dirty="0">
                <a:latin typeface="Arial"/>
                <a:cs typeface="Arial"/>
              </a:rPr>
              <a:t>– </a:t>
            </a:r>
            <a:r>
              <a:rPr sz="2400" spc="-10" dirty="0">
                <a:latin typeface="Arial"/>
                <a:cs typeface="Arial"/>
              </a:rPr>
              <a:t>та, которая </a:t>
            </a:r>
            <a:r>
              <a:rPr sz="2400" spc="-5" dirty="0">
                <a:latin typeface="Arial"/>
                <a:cs typeface="Arial"/>
              </a:rPr>
              <a:t>нас</a:t>
            </a:r>
            <a:r>
              <a:rPr sz="2400" spc="73" dirty="0">
                <a:latin typeface="Arial"/>
                <a:cs typeface="Arial"/>
              </a:rPr>
              <a:t> </a:t>
            </a:r>
            <a:r>
              <a:rPr sz="2400" spc="-21" dirty="0">
                <a:latin typeface="Arial"/>
                <a:cs typeface="Arial"/>
              </a:rPr>
              <a:t>интересует</a:t>
            </a:r>
            <a:endParaRPr sz="2400" dirty="0">
              <a:latin typeface="Arial"/>
              <a:cs typeface="Arial"/>
            </a:endParaRPr>
          </a:p>
          <a:p>
            <a:pPr marL="13197"/>
            <a:r>
              <a:rPr sz="2400" i="1" spc="-5" dirty="0">
                <a:solidFill>
                  <a:srgbClr val="0000FF"/>
                </a:solidFill>
                <a:latin typeface="Arial"/>
                <a:cs typeface="Arial"/>
              </a:rPr>
              <a:t>(</a:t>
            </a:r>
            <a:r>
              <a:rPr sz="2400" i="1" spc="-5" dirty="0">
                <a:solidFill>
                  <a:srgbClr val="0000FF"/>
                </a:solidFill>
                <a:uFill>
                  <a:solidFill>
                    <a:srgbClr val="000000"/>
                  </a:solidFill>
                </a:uFill>
                <a:latin typeface="Arial"/>
                <a:cs typeface="Arial"/>
              </a:rPr>
              <a:t>dependent variable)</a:t>
            </a:r>
            <a:r>
              <a:rPr lang="ru-RU" sz="2400" i="1" spc="-5" dirty="0">
                <a:solidFill>
                  <a:srgbClr val="0000FF"/>
                </a:solidFill>
                <a:uFill>
                  <a:solidFill>
                    <a:srgbClr val="000000"/>
                  </a:solidFill>
                </a:uFill>
                <a:latin typeface="Arial"/>
                <a:cs typeface="Arial"/>
              </a:rPr>
              <a:t> – </a:t>
            </a:r>
            <a:r>
              <a:rPr lang="en-US" sz="2400" i="1" spc="-5" dirty="0">
                <a:solidFill>
                  <a:srgbClr val="0000FF"/>
                </a:solidFill>
                <a:uFill>
                  <a:solidFill>
                    <a:srgbClr val="000000"/>
                  </a:solidFill>
                </a:uFill>
                <a:latin typeface="Arial"/>
                <a:cs typeface="Arial"/>
              </a:rPr>
              <a:t>x</a:t>
            </a:r>
            <a:r>
              <a:rPr sz="2400" i="1" spc="-5" dirty="0">
                <a:solidFill>
                  <a:srgbClr val="0000FF"/>
                </a:solidFill>
                <a:uFill>
                  <a:solidFill>
                    <a:srgbClr val="000000"/>
                  </a:solidFill>
                </a:uFill>
                <a:latin typeface="Arial"/>
                <a:cs typeface="Arial"/>
              </a:rPr>
              <a:t>.</a:t>
            </a:r>
            <a:r>
              <a:rPr lang="ru-RU" sz="2400" i="1" spc="-5" dirty="0">
                <a:solidFill>
                  <a:srgbClr val="0000FF"/>
                </a:solidFill>
                <a:uFill>
                  <a:solidFill>
                    <a:srgbClr val="000000"/>
                  </a:solidFill>
                </a:uFill>
                <a:latin typeface="Arial"/>
                <a:cs typeface="Arial"/>
              </a:rPr>
              <a:t> </a:t>
            </a:r>
            <a:r>
              <a:rPr lang="ru-RU" i="1" spc="-5" dirty="0">
                <a:solidFill>
                  <a:srgbClr val="0000FF"/>
                </a:solidFill>
                <a:uFill>
                  <a:solidFill>
                    <a:srgbClr val="000000"/>
                  </a:solidFill>
                </a:uFill>
                <a:latin typeface="Arial"/>
                <a:cs typeface="Arial"/>
              </a:rPr>
              <a:t>(например, как вес зависит от пола)</a:t>
            </a:r>
            <a:endParaRPr i="1" spc="-5" dirty="0">
              <a:solidFill>
                <a:srgbClr val="0000FF"/>
              </a:solidFill>
              <a:uFill>
                <a:solidFill>
                  <a:srgbClr val="000000"/>
                </a:solidFill>
              </a:uFill>
              <a:latin typeface="Arial"/>
              <a:cs typeface="Arial"/>
            </a:endParaRPr>
          </a:p>
          <a:p>
            <a:pPr>
              <a:spcBef>
                <a:spcPts val="5"/>
              </a:spcBef>
            </a:pPr>
            <a:endParaRPr sz="2400" dirty="0">
              <a:latin typeface="Times New Roman"/>
              <a:cs typeface="Times New Roman"/>
            </a:endParaRPr>
          </a:p>
          <a:p>
            <a:pPr marL="13197" marR="5279"/>
            <a:r>
              <a:rPr sz="2400" i="1" spc="-10" dirty="0">
                <a:latin typeface="Arial"/>
                <a:cs typeface="Arial"/>
              </a:rPr>
              <a:t>Независимая переменная </a:t>
            </a:r>
            <a:r>
              <a:rPr sz="2400" dirty="0">
                <a:latin typeface="Arial"/>
                <a:cs typeface="Arial"/>
              </a:rPr>
              <a:t>– </a:t>
            </a:r>
            <a:r>
              <a:rPr sz="2400" spc="-31" dirty="0">
                <a:latin typeface="Arial"/>
                <a:cs typeface="Arial"/>
              </a:rPr>
              <a:t>определяет </a:t>
            </a:r>
            <a:r>
              <a:rPr sz="2400" spc="-10" dirty="0">
                <a:latin typeface="Arial"/>
                <a:cs typeface="Arial"/>
              </a:rPr>
              <a:t>нахождение </a:t>
            </a:r>
            <a:r>
              <a:rPr sz="2400" dirty="0">
                <a:latin typeface="Arial"/>
                <a:cs typeface="Arial"/>
              </a:rPr>
              <a:t>в  </a:t>
            </a:r>
            <a:r>
              <a:rPr sz="2400" spc="-10" dirty="0">
                <a:latin typeface="Arial"/>
                <a:cs typeface="Arial"/>
              </a:rPr>
              <a:t>той </a:t>
            </a:r>
            <a:r>
              <a:rPr sz="2400" dirty="0">
                <a:latin typeface="Arial"/>
                <a:cs typeface="Arial"/>
              </a:rPr>
              <a:t>или иной </a:t>
            </a:r>
            <a:r>
              <a:rPr sz="2400" spc="-10" dirty="0">
                <a:latin typeface="Arial"/>
                <a:cs typeface="Arial"/>
              </a:rPr>
              <a:t>группе. </a:t>
            </a:r>
            <a:r>
              <a:rPr sz="2400" dirty="0">
                <a:latin typeface="Arial"/>
                <a:cs typeface="Arial"/>
              </a:rPr>
              <a:t>В </a:t>
            </a:r>
            <a:r>
              <a:rPr sz="2400" spc="-5" dirty="0">
                <a:latin typeface="Arial"/>
                <a:cs typeface="Arial"/>
              </a:rPr>
              <a:t>статистике </a:t>
            </a:r>
            <a:r>
              <a:rPr sz="2400" dirty="0">
                <a:latin typeface="Arial"/>
                <a:cs typeface="Arial"/>
              </a:rPr>
              <a:t>– </a:t>
            </a:r>
            <a:r>
              <a:rPr sz="2400" i="1" spc="-5" dirty="0">
                <a:solidFill>
                  <a:srgbClr val="0000FF"/>
                </a:solidFill>
                <a:uFill>
                  <a:solidFill>
                    <a:srgbClr val="000000"/>
                  </a:solidFill>
                </a:uFill>
                <a:latin typeface="Arial"/>
                <a:cs typeface="Arial"/>
              </a:rPr>
              <a:t>grouping variable</a:t>
            </a:r>
            <a:r>
              <a:rPr lang="ru-RU" sz="2400" i="1" spc="-5" dirty="0">
                <a:solidFill>
                  <a:srgbClr val="0000FF"/>
                </a:solidFill>
                <a:uFill>
                  <a:solidFill>
                    <a:srgbClr val="000000"/>
                  </a:solidFill>
                </a:uFill>
                <a:latin typeface="Arial"/>
                <a:cs typeface="Arial"/>
              </a:rPr>
              <a:t> </a:t>
            </a:r>
            <a:r>
              <a:rPr lang="en-US" sz="2400" i="1" spc="-5" dirty="0">
                <a:solidFill>
                  <a:srgbClr val="0000FF"/>
                </a:solidFill>
                <a:uFill>
                  <a:solidFill>
                    <a:srgbClr val="000000"/>
                  </a:solidFill>
                </a:uFill>
                <a:latin typeface="Arial"/>
                <a:cs typeface="Arial"/>
              </a:rPr>
              <a:t> - q</a:t>
            </a:r>
            <a:r>
              <a:rPr sz="2400" i="1" spc="-5" dirty="0">
                <a:solidFill>
                  <a:srgbClr val="0000FF"/>
                </a:solidFill>
                <a:uFill>
                  <a:solidFill>
                    <a:srgbClr val="000000"/>
                  </a:solidFill>
                </a:uFill>
                <a:latin typeface="Arial"/>
                <a:cs typeface="Arial"/>
              </a:rPr>
              <a:t>.</a:t>
            </a:r>
            <a:r>
              <a:rPr lang="ru-RU" sz="2400" i="1" spc="-5" dirty="0">
                <a:solidFill>
                  <a:srgbClr val="0000FF"/>
                </a:solidFill>
                <a:uFill>
                  <a:solidFill>
                    <a:srgbClr val="000000"/>
                  </a:solidFill>
                </a:uFill>
                <a:latin typeface="Arial"/>
                <a:cs typeface="Arial"/>
              </a:rPr>
              <a:t> </a:t>
            </a:r>
            <a:endParaRPr sz="2400" i="1" spc="-5" dirty="0">
              <a:solidFill>
                <a:srgbClr val="0000FF"/>
              </a:solidFill>
              <a:uFill>
                <a:solidFill>
                  <a:srgbClr val="000000"/>
                </a:solidFill>
              </a:uFill>
              <a:latin typeface="Arial"/>
              <a:cs typeface="Arial"/>
            </a:endParaRPr>
          </a:p>
        </p:txBody>
      </p:sp>
      <p:sp>
        <p:nvSpPr>
          <p:cNvPr id="8" name="Номер слайда 7"/>
          <p:cNvSpPr>
            <a:spLocks noGrp="1"/>
          </p:cNvSpPr>
          <p:nvPr>
            <p:ph type="sldNum" sz="quarter" idx="12"/>
          </p:nvPr>
        </p:nvSpPr>
        <p:spPr/>
        <p:txBody>
          <a:bodyPr/>
          <a:lstStyle/>
          <a:p>
            <a:fld id="{952B6C0E-C4B9-4094-8E59-5B7DF00D5415}" type="slidenum">
              <a:rPr lang="ru-RU" sz="1400">
                <a:solidFill>
                  <a:schemeClr val="tx1"/>
                </a:solidFill>
              </a:rPr>
              <a:t>110</a:t>
            </a:fld>
            <a:endParaRPr lang="ru-RU" sz="1400">
              <a:solidFill>
                <a:schemeClr val="tx1"/>
              </a:solidFill>
            </a:endParaRPr>
          </a:p>
        </p:txBody>
      </p:sp>
    </p:spTree>
    <p:extLst>
      <p:ext uri="{BB962C8B-B14F-4D97-AF65-F5344CB8AC3E}">
        <p14:creationId xmlns:p14="http://schemas.microsoft.com/office/powerpoint/2010/main" val="37936551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AutoShape 4"/>
          <p:cNvSpPr>
            <a:spLocks noChangeArrowheads="1"/>
          </p:cNvSpPr>
          <p:nvPr/>
        </p:nvSpPr>
        <p:spPr bwMode="auto">
          <a:xfrm>
            <a:off x="1438275" y="322263"/>
            <a:ext cx="10872513" cy="6553200"/>
          </a:xfrm>
          <a:prstGeom prst="roundRect">
            <a:avLst>
              <a:gd name="adj" fmla="val 16667"/>
            </a:avLst>
          </a:prstGeom>
          <a:solidFill>
            <a:schemeClr val="bg1">
              <a:alpha val="50195"/>
            </a:scheme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dirty="0">
              <a:solidFill>
                <a:schemeClr val="bg1"/>
              </a:solidFill>
            </a:endParaRPr>
          </a:p>
        </p:txBody>
      </p:sp>
      <p:sp>
        <p:nvSpPr>
          <p:cNvPr id="9" name="AutoShape 5"/>
          <p:cNvSpPr>
            <a:spLocks noChangeArrowheads="1"/>
          </p:cNvSpPr>
          <p:nvPr/>
        </p:nvSpPr>
        <p:spPr bwMode="auto">
          <a:xfrm>
            <a:off x="2373685" y="322264"/>
            <a:ext cx="8064128" cy="720601"/>
          </a:xfrm>
          <a:prstGeom prst="roundRect">
            <a:avLst>
              <a:gd name="adj" fmla="val 37469"/>
            </a:avLst>
          </a:prstGeom>
          <a:solidFill>
            <a:srgbClr val="FFFFFF">
              <a:alpha val="78822"/>
            </a:srgb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2" name="object 2"/>
          <p:cNvSpPr txBox="1"/>
          <p:nvPr/>
        </p:nvSpPr>
        <p:spPr>
          <a:xfrm>
            <a:off x="3400734" y="3964857"/>
            <a:ext cx="900684" cy="397149"/>
          </a:xfrm>
          <a:prstGeom prst="rect">
            <a:avLst/>
          </a:prstGeom>
        </p:spPr>
        <p:txBody>
          <a:bodyPr vert="horz" wrap="square" lIns="0" tIns="13197" rIns="0" bIns="0" rtlCol="0">
            <a:spAutoFit/>
          </a:bodyPr>
          <a:lstStyle/>
          <a:p>
            <a:pPr marL="13197">
              <a:spcBef>
                <a:spcPts val="104"/>
              </a:spcBef>
            </a:pPr>
            <a:r>
              <a:rPr sz="2494" dirty="0">
                <a:latin typeface="Arial"/>
                <a:cs typeface="Arial"/>
              </a:rPr>
              <a:t>сам</a:t>
            </a:r>
            <a:r>
              <a:rPr sz="2494" spc="52" dirty="0">
                <a:latin typeface="Arial"/>
                <a:cs typeface="Arial"/>
              </a:rPr>
              <a:t>к</a:t>
            </a:r>
            <a:r>
              <a:rPr sz="2494" dirty="0">
                <a:latin typeface="Arial"/>
                <a:cs typeface="Arial"/>
              </a:rPr>
              <a:t>а</a:t>
            </a:r>
            <a:endParaRPr sz="2494">
              <a:latin typeface="Arial"/>
              <a:cs typeface="Arial"/>
            </a:endParaRPr>
          </a:p>
        </p:txBody>
      </p:sp>
      <p:sp>
        <p:nvSpPr>
          <p:cNvPr id="3" name="object 3"/>
          <p:cNvSpPr txBox="1"/>
          <p:nvPr/>
        </p:nvSpPr>
        <p:spPr>
          <a:xfrm>
            <a:off x="7688913" y="3732012"/>
            <a:ext cx="937635" cy="397149"/>
          </a:xfrm>
          <a:prstGeom prst="rect">
            <a:avLst/>
          </a:prstGeom>
        </p:spPr>
        <p:txBody>
          <a:bodyPr vert="horz" wrap="square" lIns="0" tIns="13197" rIns="0" bIns="0" rtlCol="0">
            <a:spAutoFit/>
          </a:bodyPr>
          <a:lstStyle/>
          <a:p>
            <a:pPr marL="13197">
              <a:spcBef>
                <a:spcPts val="104"/>
              </a:spcBef>
            </a:pPr>
            <a:r>
              <a:rPr sz="2494" dirty="0">
                <a:latin typeface="Arial"/>
                <a:cs typeface="Arial"/>
              </a:rPr>
              <a:t>самец</a:t>
            </a:r>
            <a:endParaRPr sz="2494">
              <a:latin typeface="Arial"/>
              <a:cs typeface="Arial"/>
            </a:endParaRPr>
          </a:p>
        </p:txBody>
      </p:sp>
      <p:sp>
        <p:nvSpPr>
          <p:cNvPr id="4" name="object 4"/>
          <p:cNvSpPr txBox="1"/>
          <p:nvPr/>
        </p:nvSpPr>
        <p:spPr>
          <a:xfrm>
            <a:off x="1718432" y="2506446"/>
            <a:ext cx="9231391" cy="1121322"/>
          </a:xfrm>
          <a:prstGeom prst="rect">
            <a:avLst/>
          </a:prstGeom>
        </p:spPr>
        <p:txBody>
          <a:bodyPr vert="horz" wrap="square" lIns="0" tIns="13197" rIns="0" bIns="0" rtlCol="0">
            <a:spAutoFit/>
          </a:bodyPr>
          <a:lstStyle/>
          <a:p>
            <a:pPr marL="13197">
              <a:spcBef>
                <a:spcPts val="104"/>
              </a:spcBef>
            </a:pPr>
            <a:r>
              <a:rPr sz="2400" dirty="0">
                <a:latin typeface="Arial"/>
                <a:cs typeface="Arial"/>
              </a:rPr>
              <a:t>Мы </a:t>
            </a:r>
            <a:r>
              <a:rPr sz="2400" spc="-10" dirty="0">
                <a:latin typeface="Arial"/>
                <a:cs typeface="Arial"/>
              </a:rPr>
              <a:t>анализируем </a:t>
            </a:r>
            <a:r>
              <a:rPr sz="2400" spc="-16" dirty="0">
                <a:latin typeface="Arial"/>
                <a:cs typeface="Arial"/>
              </a:rPr>
              <a:t>влияние </a:t>
            </a:r>
            <a:r>
              <a:rPr sz="2400" u="heavy" spc="-16" dirty="0">
                <a:uFill>
                  <a:solidFill>
                    <a:srgbClr val="000000"/>
                  </a:solidFill>
                </a:uFill>
                <a:latin typeface="Arial"/>
                <a:cs typeface="Arial"/>
              </a:rPr>
              <a:t>пола</a:t>
            </a:r>
            <a:r>
              <a:rPr sz="2400" spc="-16" dirty="0">
                <a:latin typeface="Arial"/>
                <a:cs typeface="Arial"/>
              </a:rPr>
              <a:t> </a:t>
            </a:r>
            <a:r>
              <a:rPr sz="2400" spc="-5" dirty="0">
                <a:latin typeface="Arial"/>
                <a:cs typeface="Arial"/>
              </a:rPr>
              <a:t>на </a:t>
            </a:r>
            <a:r>
              <a:rPr sz="2400" u="heavy" dirty="0">
                <a:uFill>
                  <a:solidFill>
                    <a:srgbClr val="000000"/>
                  </a:solidFill>
                </a:uFill>
                <a:latin typeface="Arial"/>
                <a:cs typeface="Arial"/>
              </a:rPr>
              <a:t>массу</a:t>
            </a:r>
            <a:r>
              <a:rPr sz="2400" u="heavy" spc="10" dirty="0">
                <a:uFill>
                  <a:solidFill>
                    <a:srgbClr val="000000"/>
                  </a:solidFill>
                </a:uFill>
                <a:latin typeface="Arial"/>
                <a:cs typeface="Arial"/>
              </a:rPr>
              <a:t> </a:t>
            </a:r>
            <a:r>
              <a:rPr sz="2400" u="heavy" dirty="0">
                <a:uFill>
                  <a:solidFill>
                    <a:srgbClr val="000000"/>
                  </a:solidFill>
                </a:uFill>
                <a:latin typeface="Arial"/>
                <a:cs typeface="Arial"/>
              </a:rPr>
              <a:t>тигров</a:t>
            </a:r>
            <a:endParaRPr sz="2400" dirty="0">
              <a:latin typeface="Arial"/>
              <a:cs typeface="Arial"/>
            </a:endParaRPr>
          </a:p>
          <a:p>
            <a:pPr marL="13197"/>
            <a:r>
              <a:rPr sz="2400" i="1" spc="-5" dirty="0">
                <a:latin typeface="Arial"/>
                <a:cs typeface="Arial"/>
              </a:rPr>
              <a:t>Зависимая </a:t>
            </a:r>
            <a:r>
              <a:rPr sz="2400" i="1" spc="-10" dirty="0">
                <a:latin typeface="Arial"/>
                <a:cs typeface="Arial"/>
              </a:rPr>
              <a:t>переменная </a:t>
            </a:r>
            <a:r>
              <a:rPr sz="2400" dirty="0">
                <a:latin typeface="Arial"/>
                <a:cs typeface="Arial"/>
              </a:rPr>
              <a:t>–</a:t>
            </a:r>
            <a:r>
              <a:rPr sz="2400" spc="73" dirty="0">
                <a:latin typeface="Arial"/>
                <a:cs typeface="Arial"/>
              </a:rPr>
              <a:t> </a:t>
            </a:r>
            <a:r>
              <a:rPr sz="2400" dirty="0">
                <a:latin typeface="Arial"/>
                <a:cs typeface="Arial"/>
              </a:rPr>
              <a:t>масса</a:t>
            </a:r>
          </a:p>
          <a:p>
            <a:pPr marL="13197" marR="5279">
              <a:tabLst>
                <a:tab pos="4637275" algn="l"/>
              </a:tabLst>
            </a:pPr>
            <a:r>
              <a:rPr sz="2400" i="1" spc="-10" dirty="0">
                <a:latin typeface="Arial"/>
                <a:cs typeface="Arial"/>
              </a:rPr>
              <a:t>Независимая</a:t>
            </a:r>
            <a:r>
              <a:rPr sz="2400" i="1" spc="36" dirty="0">
                <a:latin typeface="Arial"/>
                <a:cs typeface="Arial"/>
              </a:rPr>
              <a:t> </a:t>
            </a:r>
            <a:r>
              <a:rPr sz="2400" i="1" spc="-16" dirty="0">
                <a:latin typeface="Arial"/>
                <a:cs typeface="Arial"/>
              </a:rPr>
              <a:t>(</a:t>
            </a:r>
            <a:r>
              <a:rPr sz="2400" i="1" spc="-16" dirty="0" err="1">
                <a:latin typeface="Arial"/>
                <a:cs typeface="Arial"/>
              </a:rPr>
              <a:t>группирующая</a:t>
            </a:r>
            <a:r>
              <a:rPr sz="2400" i="1" spc="-16" dirty="0">
                <a:latin typeface="Arial"/>
                <a:cs typeface="Arial"/>
              </a:rPr>
              <a:t>)</a:t>
            </a:r>
            <a:r>
              <a:rPr lang="en-US" sz="2400" i="1" spc="-16" dirty="0">
                <a:latin typeface="Arial"/>
                <a:cs typeface="Arial"/>
              </a:rPr>
              <a:t> </a:t>
            </a:r>
            <a:r>
              <a:rPr sz="2400" dirty="0">
                <a:latin typeface="Arial"/>
                <a:cs typeface="Arial"/>
              </a:rPr>
              <a:t>– </a:t>
            </a:r>
            <a:r>
              <a:rPr sz="2400" spc="-21" dirty="0">
                <a:latin typeface="Arial"/>
                <a:cs typeface="Arial"/>
              </a:rPr>
              <a:t>пол </a:t>
            </a:r>
            <a:r>
              <a:rPr sz="2400" spc="-5" dirty="0">
                <a:latin typeface="Arial"/>
                <a:cs typeface="Arial"/>
              </a:rPr>
              <a:t>(группы: 1. </a:t>
            </a:r>
            <a:r>
              <a:rPr sz="2400" dirty="0">
                <a:latin typeface="Arial"/>
                <a:cs typeface="Arial"/>
              </a:rPr>
              <a:t>самцы;</a:t>
            </a:r>
            <a:r>
              <a:rPr sz="2400" spc="-94" dirty="0">
                <a:latin typeface="Arial"/>
                <a:cs typeface="Arial"/>
              </a:rPr>
              <a:t> </a:t>
            </a:r>
            <a:r>
              <a:rPr sz="2400" spc="-5" dirty="0">
                <a:latin typeface="Arial"/>
                <a:cs typeface="Arial"/>
              </a:rPr>
              <a:t>2.  </a:t>
            </a:r>
            <a:r>
              <a:rPr sz="2400" dirty="0">
                <a:latin typeface="Arial"/>
                <a:cs typeface="Arial"/>
              </a:rPr>
              <a:t>самки)</a:t>
            </a:r>
          </a:p>
        </p:txBody>
      </p:sp>
      <p:sp>
        <p:nvSpPr>
          <p:cNvPr id="5" name="object 5"/>
          <p:cNvSpPr txBox="1"/>
          <p:nvPr/>
        </p:nvSpPr>
        <p:spPr>
          <a:xfrm>
            <a:off x="1438275" y="1232596"/>
            <a:ext cx="9993397" cy="1164795"/>
          </a:xfrm>
          <a:prstGeom prst="rect">
            <a:avLst/>
          </a:prstGeom>
        </p:spPr>
        <p:txBody>
          <a:bodyPr vert="horz" wrap="square" lIns="0" tIns="13197" rIns="0" bIns="0" rtlCol="0">
            <a:spAutoFit/>
          </a:bodyPr>
          <a:lstStyle/>
          <a:p>
            <a:pPr marL="332554" marR="5279"/>
            <a:r>
              <a:rPr lang="ru-RU" sz="2400" spc="-26" dirty="0">
                <a:latin typeface="Arial"/>
                <a:cs typeface="Arial"/>
              </a:rPr>
              <a:t>Различаются </a:t>
            </a:r>
            <a:r>
              <a:rPr lang="ru-RU" sz="2400" spc="-5" dirty="0">
                <a:latin typeface="Arial"/>
                <a:cs typeface="Arial"/>
              </a:rPr>
              <a:t>ли </a:t>
            </a:r>
            <a:r>
              <a:rPr lang="ru-RU" sz="2400" i="1" spc="-5" dirty="0">
                <a:latin typeface="Arial"/>
                <a:cs typeface="Arial"/>
              </a:rPr>
              <a:t>по </a:t>
            </a:r>
            <a:r>
              <a:rPr lang="ru-RU" sz="2400" i="1" dirty="0">
                <a:latin typeface="Arial"/>
                <a:cs typeface="Arial"/>
              </a:rPr>
              <a:t>массе </a:t>
            </a:r>
            <a:r>
              <a:rPr lang="ru-RU" sz="2400" dirty="0">
                <a:latin typeface="Arial"/>
                <a:cs typeface="Arial"/>
              </a:rPr>
              <a:t>тигры-</a:t>
            </a:r>
            <a:r>
              <a:rPr lang="ru-RU" sz="2400" u="heavy" dirty="0">
                <a:uFill>
                  <a:solidFill>
                    <a:srgbClr val="000000"/>
                  </a:solidFill>
                </a:uFill>
                <a:latin typeface="Arial"/>
                <a:cs typeface="Arial"/>
              </a:rPr>
              <a:t>самцы</a:t>
            </a:r>
            <a:r>
              <a:rPr lang="ru-RU" sz="2400" dirty="0">
                <a:latin typeface="Arial"/>
                <a:cs typeface="Arial"/>
              </a:rPr>
              <a:t> и тигры-</a:t>
            </a:r>
            <a:r>
              <a:rPr lang="ru-RU" sz="2400" u="heavy" dirty="0">
                <a:uFill>
                  <a:solidFill>
                    <a:srgbClr val="000000"/>
                  </a:solidFill>
                </a:uFill>
                <a:latin typeface="Arial"/>
                <a:cs typeface="Arial"/>
              </a:rPr>
              <a:t>самки </a:t>
            </a:r>
            <a:r>
              <a:rPr lang="ru-RU" sz="2400" dirty="0">
                <a:latin typeface="Arial"/>
                <a:cs typeface="Arial"/>
              </a:rPr>
              <a:t> в</a:t>
            </a:r>
            <a:r>
              <a:rPr lang="ru-RU" sz="2400" spc="-21" dirty="0">
                <a:latin typeface="Arial"/>
                <a:cs typeface="Arial"/>
              </a:rPr>
              <a:t> </a:t>
            </a:r>
            <a:r>
              <a:rPr lang="ru-RU" sz="2400" spc="-5" dirty="0">
                <a:latin typeface="Arial"/>
                <a:cs typeface="Arial"/>
              </a:rPr>
              <a:t>зоопарке? (независимые переменные)</a:t>
            </a:r>
            <a:endParaRPr lang="ru-RU" sz="2400" dirty="0">
              <a:latin typeface="Arial"/>
              <a:cs typeface="Arial"/>
            </a:endParaRPr>
          </a:p>
          <a:p>
            <a:pPr marL="332554"/>
            <a:r>
              <a:rPr lang="ru-RU" sz="2400" spc="-10" dirty="0">
                <a:latin typeface="Arial"/>
                <a:cs typeface="Arial"/>
              </a:rPr>
              <a:t>Сравниваем средние </a:t>
            </a:r>
            <a:r>
              <a:rPr lang="ru-RU" sz="2400" dirty="0">
                <a:latin typeface="Arial"/>
                <a:cs typeface="Arial"/>
              </a:rPr>
              <a:t>массы </a:t>
            </a:r>
            <a:r>
              <a:rPr lang="ru-RU" sz="2400" spc="-5" dirty="0">
                <a:latin typeface="Arial"/>
                <a:cs typeface="Arial"/>
              </a:rPr>
              <a:t>наших</a:t>
            </a:r>
            <a:r>
              <a:rPr lang="ru-RU" sz="2400" spc="10" dirty="0">
                <a:latin typeface="Arial"/>
                <a:cs typeface="Arial"/>
              </a:rPr>
              <a:t> </a:t>
            </a:r>
            <a:r>
              <a:rPr lang="ru-RU" sz="2400" spc="-10" dirty="0">
                <a:latin typeface="Arial"/>
                <a:cs typeface="Arial"/>
              </a:rPr>
              <a:t>зверей.</a:t>
            </a:r>
            <a:endParaRPr lang="ru-RU" sz="2400" dirty="0">
              <a:latin typeface="Arial"/>
              <a:cs typeface="Arial"/>
            </a:endParaRPr>
          </a:p>
        </p:txBody>
      </p:sp>
      <p:sp>
        <p:nvSpPr>
          <p:cNvPr id="6" name="object 6"/>
          <p:cNvSpPr/>
          <p:nvPr/>
        </p:nvSpPr>
        <p:spPr>
          <a:xfrm>
            <a:off x="1939583" y="4412777"/>
            <a:ext cx="4347643" cy="1742193"/>
          </a:xfrm>
          <a:prstGeom prst="rect">
            <a:avLst/>
          </a:prstGeom>
          <a:blipFill>
            <a:blip r:embed="rId2" cstate="print"/>
            <a:stretch>
              <a:fillRect/>
            </a:stretch>
          </a:blipFill>
        </p:spPr>
        <p:txBody>
          <a:bodyPr wrap="square" lIns="0" tIns="0" rIns="0" bIns="0" rtlCol="0"/>
          <a:lstStyle/>
          <a:p>
            <a:endParaRPr sz="2078"/>
          </a:p>
        </p:txBody>
      </p:sp>
      <p:sp>
        <p:nvSpPr>
          <p:cNvPr id="7" name="object 7"/>
          <p:cNvSpPr/>
          <p:nvPr/>
        </p:nvSpPr>
        <p:spPr>
          <a:xfrm>
            <a:off x="6444715" y="4124024"/>
            <a:ext cx="4271429" cy="2260740"/>
          </a:xfrm>
          <a:prstGeom prst="rect">
            <a:avLst/>
          </a:prstGeom>
          <a:blipFill>
            <a:blip r:embed="rId3" cstate="print"/>
            <a:stretch>
              <a:fillRect/>
            </a:stretch>
          </a:blipFill>
        </p:spPr>
        <p:txBody>
          <a:bodyPr wrap="square" lIns="0" tIns="0" rIns="0" bIns="0" rtlCol="0"/>
          <a:lstStyle/>
          <a:p>
            <a:endParaRPr sz="2078"/>
          </a:p>
        </p:txBody>
      </p:sp>
      <p:sp>
        <p:nvSpPr>
          <p:cNvPr id="11" name="object 2"/>
          <p:cNvSpPr txBox="1"/>
          <p:nvPr/>
        </p:nvSpPr>
        <p:spPr>
          <a:xfrm>
            <a:off x="2830841" y="351510"/>
            <a:ext cx="6912768" cy="846363"/>
          </a:xfrm>
          <a:prstGeom prst="rect">
            <a:avLst/>
          </a:prstGeom>
        </p:spPr>
        <p:txBody>
          <a:bodyPr wrap="square">
            <a:noAutofit/>
          </a:bodyPr>
          <a:lstStyle>
            <a:lvl1pPr lvl="0" algn="ctr" defTabSz="993775">
              <a:defRPr sz="3949">
                <a:solidFill>
                  <a:schemeClr val="tx2"/>
                </a:solidFill>
                <a:latin typeface="+mj-lt"/>
                <a:ea typeface="+mj-ea"/>
                <a:cs typeface="+mj-cs"/>
              </a:defRPr>
            </a:lvl1pPr>
            <a:lvl2pPr algn="ctr" defTabSz="993775">
              <a:defRPr sz="4800">
                <a:solidFill>
                  <a:schemeClr val="tx2"/>
                </a:solidFill>
              </a:defRPr>
            </a:lvl2pPr>
            <a:lvl3pPr algn="ctr" defTabSz="993775">
              <a:defRPr sz="4800">
                <a:solidFill>
                  <a:schemeClr val="tx2"/>
                </a:solidFill>
              </a:defRPr>
            </a:lvl3pPr>
            <a:lvl4pPr algn="ctr" defTabSz="993775">
              <a:defRPr sz="4800">
                <a:solidFill>
                  <a:schemeClr val="tx2"/>
                </a:solidFill>
              </a:defRPr>
            </a:lvl4pPr>
            <a:lvl5pPr algn="ctr" defTabSz="993775">
              <a:defRPr sz="4800">
                <a:solidFill>
                  <a:schemeClr val="tx2"/>
                </a:solidFill>
              </a:defRPr>
            </a:lvl5pPr>
            <a:lvl6pPr marL="457200" algn="ctr" defTabSz="993775" fontAlgn="base">
              <a:spcBef>
                <a:spcPct val="0"/>
              </a:spcBef>
              <a:spcAft>
                <a:spcPct val="0"/>
              </a:spcAft>
              <a:defRPr sz="4800">
                <a:solidFill>
                  <a:schemeClr val="tx2"/>
                </a:solidFill>
              </a:defRPr>
            </a:lvl6pPr>
            <a:lvl7pPr marL="914400" algn="ctr" defTabSz="993775" fontAlgn="base">
              <a:spcBef>
                <a:spcPct val="0"/>
              </a:spcBef>
              <a:spcAft>
                <a:spcPct val="0"/>
              </a:spcAft>
              <a:defRPr sz="4800">
                <a:solidFill>
                  <a:schemeClr val="tx2"/>
                </a:solidFill>
              </a:defRPr>
            </a:lvl7pPr>
            <a:lvl8pPr marL="1371600" algn="ctr" defTabSz="993775" fontAlgn="base">
              <a:spcBef>
                <a:spcPct val="0"/>
              </a:spcBef>
              <a:spcAft>
                <a:spcPct val="0"/>
              </a:spcAft>
              <a:defRPr sz="4800">
                <a:solidFill>
                  <a:schemeClr val="tx2"/>
                </a:solidFill>
              </a:defRPr>
            </a:lvl8pPr>
            <a:lvl9pPr marL="1828800" algn="ctr" defTabSz="993775" fontAlgn="base">
              <a:spcBef>
                <a:spcPct val="0"/>
              </a:spcBef>
              <a:spcAft>
                <a:spcPct val="0"/>
              </a:spcAft>
              <a:defRPr sz="4800">
                <a:solidFill>
                  <a:schemeClr val="tx2"/>
                </a:solidFill>
              </a:defRPr>
            </a:lvl9pPr>
          </a:lstStyle>
          <a:p>
            <a:r>
              <a:rPr dirty="0" err="1"/>
              <a:t>Двухвыборочные</a:t>
            </a:r>
            <a:r>
              <a:rPr dirty="0"/>
              <a:t> </a:t>
            </a:r>
            <a:r>
              <a:rPr dirty="0" err="1"/>
              <a:t>критерии</a:t>
            </a:r>
            <a:endParaRPr dirty="0"/>
          </a:p>
        </p:txBody>
      </p:sp>
      <p:sp>
        <p:nvSpPr>
          <p:cNvPr id="12" name="Номер слайда 11"/>
          <p:cNvSpPr>
            <a:spLocks noGrp="1"/>
          </p:cNvSpPr>
          <p:nvPr>
            <p:ph type="sldNum" sz="quarter" idx="7"/>
          </p:nvPr>
        </p:nvSpPr>
        <p:spPr>
          <a:xfrm>
            <a:off x="11431672" y="6519149"/>
            <a:ext cx="808440" cy="356314"/>
          </a:xfrm>
        </p:spPr>
        <p:txBody>
          <a:bodyPr/>
          <a:lstStyle/>
          <a:p>
            <a:fld id="{B6F15528-21DE-4FAA-801E-634DDDAF4B2B}" type="slidenum">
              <a:rPr lang="ru-RU" smtClean="0">
                <a:solidFill>
                  <a:schemeClr val="tx1"/>
                </a:solidFill>
              </a:rPr>
              <a:t>111</a:t>
            </a:fld>
            <a:endParaRPr lang="ru-RU" dirty="0">
              <a:solidFill>
                <a:schemeClr val="tx1"/>
              </a:solidFill>
            </a:endParaRPr>
          </a:p>
        </p:txBody>
      </p:sp>
    </p:spTree>
    <p:extLst>
      <p:ext uri="{BB962C8B-B14F-4D97-AF65-F5344CB8AC3E}">
        <p14:creationId xmlns:p14="http://schemas.microsoft.com/office/powerpoint/2010/main" val="3306434408"/>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AutoShape 5"/>
          <p:cNvSpPr>
            <a:spLocks noChangeArrowheads="1"/>
          </p:cNvSpPr>
          <p:nvPr/>
        </p:nvSpPr>
        <p:spPr bwMode="auto">
          <a:xfrm>
            <a:off x="2373685" y="322264"/>
            <a:ext cx="8064128" cy="720601"/>
          </a:xfrm>
          <a:prstGeom prst="roundRect">
            <a:avLst>
              <a:gd name="adj" fmla="val 37469"/>
            </a:avLst>
          </a:prstGeom>
          <a:solidFill>
            <a:srgbClr val="FFFFFF">
              <a:alpha val="78822"/>
            </a:srgb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2" name="object 2"/>
          <p:cNvSpPr txBox="1"/>
          <p:nvPr/>
        </p:nvSpPr>
        <p:spPr>
          <a:xfrm>
            <a:off x="2159652" y="1485912"/>
            <a:ext cx="1811925" cy="397149"/>
          </a:xfrm>
          <a:prstGeom prst="rect">
            <a:avLst/>
          </a:prstGeom>
        </p:spPr>
        <p:txBody>
          <a:bodyPr vert="horz" wrap="square" lIns="0" tIns="13197" rIns="0" bIns="0" rtlCol="0">
            <a:spAutoFit/>
          </a:bodyPr>
          <a:lstStyle/>
          <a:p>
            <a:pPr marL="13197">
              <a:spcBef>
                <a:spcPts val="104"/>
              </a:spcBef>
            </a:pPr>
            <a:r>
              <a:rPr sz="2494" spc="-16" dirty="0">
                <a:latin typeface="Times New Roman"/>
                <a:cs typeface="Times New Roman"/>
              </a:rPr>
              <a:t>Статистика</a:t>
            </a:r>
            <a:r>
              <a:rPr sz="2494" spc="-62" dirty="0">
                <a:latin typeface="Times New Roman"/>
                <a:cs typeface="Times New Roman"/>
              </a:rPr>
              <a:t> </a:t>
            </a:r>
            <a:r>
              <a:rPr sz="2494" dirty="0">
                <a:latin typeface="Times New Roman"/>
                <a:cs typeface="Times New Roman"/>
              </a:rPr>
              <a:t>=</a:t>
            </a:r>
          </a:p>
        </p:txBody>
      </p:sp>
      <p:sp>
        <p:nvSpPr>
          <p:cNvPr id="3" name="object 3"/>
          <p:cNvSpPr/>
          <p:nvPr/>
        </p:nvSpPr>
        <p:spPr>
          <a:xfrm>
            <a:off x="4296349" y="1667287"/>
            <a:ext cx="5760416" cy="0"/>
          </a:xfrm>
          <a:custGeom>
            <a:avLst/>
            <a:gdLst/>
            <a:ahLst/>
            <a:cxnLst/>
            <a:rect l="l" t="t" r="r" b="b"/>
            <a:pathLst>
              <a:path w="5543550">
                <a:moveTo>
                  <a:pt x="0" y="0"/>
                </a:moveTo>
                <a:lnTo>
                  <a:pt x="5543550" y="0"/>
                </a:lnTo>
              </a:path>
            </a:pathLst>
          </a:custGeom>
          <a:ln w="9525">
            <a:solidFill>
              <a:srgbClr val="000000"/>
            </a:solidFill>
          </a:ln>
        </p:spPr>
        <p:txBody>
          <a:bodyPr wrap="square" lIns="0" tIns="0" rIns="0" bIns="0" rtlCol="0"/>
          <a:lstStyle/>
          <a:p>
            <a:endParaRPr sz="2078"/>
          </a:p>
        </p:txBody>
      </p:sp>
      <p:sp>
        <p:nvSpPr>
          <p:cNvPr id="4" name="object 4"/>
          <p:cNvSpPr txBox="1"/>
          <p:nvPr/>
        </p:nvSpPr>
        <p:spPr>
          <a:xfrm>
            <a:off x="4431222" y="1710575"/>
            <a:ext cx="5489881" cy="397149"/>
          </a:xfrm>
          <a:prstGeom prst="rect">
            <a:avLst/>
          </a:prstGeom>
        </p:spPr>
        <p:txBody>
          <a:bodyPr vert="horz" wrap="square" lIns="0" tIns="13197" rIns="0" bIns="0" rtlCol="0">
            <a:spAutoFit/>
          </a:bodyPr>
          <a:lstStyle/>
          <a:p>
            <a:pPr marL="13197">
              <a:spcBef>
                <a:spcPts val="104"/>
              </a:spcBef>
            </a:pPr>
            <a:r>
              <a:rPr sz="2494" spc="-5" dirty="0">
                <a:latin typeface="Times New Roman"/>
                <a:cs typeface="Times New Roman"/>
              </a:rPr>
              <a:t>стандартная </a:t>
            </a:r>
            <a:r>
              <a:rPr sz="2494" spc="-10" dirty="0">
                <a:latin typeface="Times New Roman"/>
                <a:cs typeface="Times New Roman"/>
              </a:rPr>
              <a:t>ошибка </a:t>
            </a:r>
            <a:r>
              <a:rPr sz="2494" dirty="0">
                <a:latin typeface="Times New Roman"/>
                <a:cs typeface="Times New Roman"/>
              </a:rPr>
              <a:t>параметра</a:t>
            </a:r>
            <a:r>
              <a:rPr sz="2494" spc="5" dirty="0">
                <a:latin typeface="Times New Roman"/>
                <a:cs typeface="Times New Roman"/>
              </a:rPr>
              <a:t> </a:t>
            </a:r>
            <a:r>
              <a:rPr sz="2494" spc="-5" dirty="0">
                <a:latin typeface="Times New Roman"/>
                <a:cs typeface="Times New Roman"/>
              </a:rPr>
              <a:t>выборки</a:t>
            </a:r>
            <a:endParaRPr sz="2494" dirty="0">
              <a:latin typeface="Times New Roman"/>
              <a:cs typeface="Times New Roman"/>
            </a:endParaRPr>
          </a:p>
        </p:txBody>
      </p:sp>
      <p:sp>
        <p:nvSpPr>
          <p:cNvPr id="5" name="object 5"/>
          <p:cNvSpPr txBox="1"/>
          <p:nvPr/>
        </p:nvSpPr>
        <p:spPr>
          <a:xfrm>
            <a:off x="6694165" y="2256572"/>
            <a:ext cx="2185395" cy="432753"/>
          </a:xfrm>
          <a:prstGeom prst="rect">
            <a:avLst/>
          </a:prstGeom>
        </p:spPr>
        <p:txBody>
          <a:bodyPr vert="horz" wrap="square" lIns="0" tIns="17156" rIns="0" bIns="0" rtlCol="0">
            <a:spAutoFit/>
          </a:bodyPr>
          <a:lstStyle/>
          <a:p>
            <a:pPr marL="52786">
              <a:spcBef>
                <a:spcPts val="135"/>
              </a:spcBef>
            </a:pPr>
            <a:r>
              <a:rPr sz="2494" i="1" spc="52" dirty="0">
                <a:latin typeface="Times New Roman"/>
                <a:cs typeface="Times New Roman"/>
              </a:rPr>
              <a:t>H </a:t>
            </a:r>
            <a:r>
              <a:rPr sz="2182" spc="31" baseline="-23809" dirty="0">
                <a:latin typeface="Times New Roman"/>
                <a:cs typeface="Times New Roman"/>
              </a:rPr>
              <a:t>0 </a:t>
            </a:r>
            <a:r>
              <a:rPr sz="2494" spc="21" dirty="0">
                <a:latin typeface="Times New Roman"/>
                <a:cs typeface="Times New Roman"/>
              </a:rPr>
              <a:t>: </a:t>
            </a:r>
            <a:r>
              <a:rPr sz="2598" i="1" spc="10" dirty="0">
                <a:latin typeface="Symbol"/>
                <a:cs typeface="Symbol"/>
              </a:rPr>
              <a:t></a:t>
            </a:r>
            <a:r>
              <a:rPr sz="2182" spc="16" baseline="-23809" dirty="0">
                <a:latin typeface="Times New Roman"/>
                <a:cs typeface="Times New Roman"/>
              </a:rPr>
              <a:t>1 </a:t>
            </a:r>
            <a:r>
              <a:rPr sz="2494" spc="42" dirty="0">
                <a:latin typeface="Symbol"/>
                <a:cs typeface="Symbol"/>
              </a:rPr>
              <a:t></a:t>
            </a:r>
            <a:r>
              <a:rPr sz="2494" spc="42" dirty="0">
                <a:latin typeface="Times New Roman"/>
                <a:cs typeface="Times New Roman"/>
              </a:rPr>
              <a:t> </a:t>
            </a:r>
            <a:r>
              <a:rPr sz="2598" i="1" spc="99" dirty="0">
                <a:latin typeface="Symbol"/>
                <a:cs typeface="Symbol"/>
              </a:rPr>
              <a:t></a:t>
            </a:r>
            <a:r>
              <a:rPr sz="2182" spc="148" baseline="-23809" dirty="0">
                <a:latin typeface="Times New Roman"/>
                <a:cs typeface="Times New Roman"/>
              </a:rPr>
              <a:t>2 </a:t>
            </a:r>
            <a:r>
              <a:rPr sz="2494" spc="42" dirty="0">
                <a:latin typeface="Symbol"/>
                <a:cs typeface="Symbol"/>
              </a:rPr>
              <a:t></a:t>
            </a:r>
            <a:r>
              <a:rPr sz="2494" spc="-405" dirty="0">
                <a:latin typeface="Times New Roman"/>
                <a:cs typeface="Times New Roman"/>
              </a:rPr>
              <a:t> </a:t>
            </a:r>
            <a:r>
              <a:rPr sz="2494" spc="36" dirty="0">
                <a:latin typeface="Times New Roman"/>
                <a:cs typeface="Times New Roman"/>
              </a:rPr>
              <a:t>0</a:t>
            </a:r>
            <a:endParaRPr sz="2494" dirty="0">
              <a:latin typeface="Times New Roman"/>
              <a:cs typeface="Times New Roman"/>
            </a:endParaRPr>
          </a:p>
        </p:txBody>
      </p:sp>
      <p:sp>
        <p:nvSpPr>
          <p:cNvPr id="23" name="object 23"/>
          <p:cNvSpPr txBox="1"/>
          <p:nvPr/>
        </p:nvSpPr>
        <p:spPr>
          <a:xfrm>
            <a:off x="1293565" y="2440442"/>
            <a:ext cx="1428052" cy="844989"/>
          </a:xfrm>
          <a:prstGeom prst="rect">
            <a:avLst/>
          </a:prstGeom>
        </p:spPr>
        <p:txBody>
          <a:bodyPr vert="horz" wrap="square" lIns="0" tIns="13857" rIns="0" bIns="0" rtlCol="0">
            <a:spAutoFit/>
          </a:bodyPr>
          <a:lstStyle/>
          <a:p>
            <a:pPr marL="13197" marR="5279">
              <a:spcBef>
                <a:spcPts val="109"/>
              </a:spcBef>
            </a:pPr>
            <a:r>
              <a:rPr sz="1800" spc="-5" dirty="0">
                <a:latin typeface="Arial"/>
                <a:cs typeface="Arial"/>
              </a:rPr>
              <a:t>разность  вы</a:t>
            </a:r>
            <a:r>
              <a:rPr sz="1800" dirty="0">
                <a:latin typeface="Arial"/>
                <a:cs typeface="Arial"/>
              </a:rPr>
              <a:t>б</a:t>
            </a:r>
            <a:r>
              <a:rPr sz="1800" spc="-5" dirty="0">
                <a:latin typeface="Arial"/>
                <a:cs typeface="Arial"/>
              </a:rPr>
              <a:t>ор</a:t>
            </a:r>
            <a:r>
              <a:rPr sz="1800" spc="-47" dirty="0">
                <a:latin typeface="Arial"/>
                <a:cs typeface="Arial"/>
              </a:rPr>
              <a:t>о</a:t>
            </a:r>
            <a:r>
              <a:rPr sz="1800" dirty="0">
                <a:latin typeface="Arial"/>
                <a:cs typeface="Arial"/>
              </a:rPr>
              <a:t>чных  </a:t>
            </a:r>
            <a:r>
              <a:rPr sz="1800" spc="-10" dirty="0">
                <a:latin typeface="Arial"/>
                <a:cs typeface="Arial"/>
              </a:rPr>
              <a:t>средних</a:t>
            </a:r>
            <a:endParaRPr sz="1800" dirty="0">
              <a:latin typeface="Arial"/>
              <a:cs typeface="Arial"/>
            </a:endParaRPr>
          </a:p>
        </p:txBody>
      </p:sp>
      <p:sp>
        <p:nvSpPr>
          <p:cNvPr id="25" name="object 25"/>
          <p:cNvSpPr txBox="1"/>
          <p:nvPr/>
        </p:nvSpPr>
        <p:spPr>
          <a:xfrm>
            <a:off x="1945460" y="3873302"/>
            <a:ext cx="1136907" cy="321102"/>
          </a:xfrm>
          <a:prstGeom prst="rect">
            <a:avLst/>
          </a:prstGeom>
        </p:spPr>
        <p:txBody>
          <a:bodyPr vert="horz" wrap="square" lIns="0" tIns="13197" rIns="0" bIns="0" rtlCol="0">
            <a:spAutoFit/>
          </a:bodyPr>
          <a:lstStyle/>
          <a:p>
            <a:pPr marL="13197">
              <a:spcBef>
                <a:spcPts val="104"/>
              </a:spcBef>
            </a:pPr>
            <a:r>
              <a:rPr spc="-5" dirty="0">
                <a:latin typeface="Arial"/>
                <a:cs typeface="Arial"/>
              </a:rPr>
              <a:t>о</a:t>
            </a:r>
            <a:r>
              <a:rPr spc="-10" dirty="0">
                <a:latin typeface="Arial"/>
                <a:cs typeface="Arial"/>
              </a:rPr>
              <a:t>ш</a:t>
            </a:r>
            <a:r>
              <a:rPr dirty="0">
                <a:latin typeface="Arial"/>
                <a:cs typeface="Arial"/>
              </a:rPr>
              <a:t>и</a:t>
            </a:r>
            <a:r>
              <a:rPr spc="5" dirty="0">
                <a:latin typeface="Arial"/>
                <a:cs typeface="Arial"/>
              </a:rPr>
              <a:t>б</a:t>
            </a:r>
            <a:r>
              <a:rPr spc="52" dirty="0">
                <a:latin typeface="Arial"/>
                <a:cs typeface="Arial"/>
              </a:rPr>
              <a:t>к</a:t>
            </a:r>
            <a:r>
              <a:rPr dirty="0">
                <a:latin typeface="Arial"/>
                <a:cs typeface="Arial"/>
              </a:rPr>
              <a:t>а</a:t>
            </a:r>
          </a:p>
        </p:txBody>
      </p:sp>
      <p:sp>
        <p:nvSpPr>
          <p:cNvPr id="26" name="object 26"/>
          <p:cNvSpPr txBox="1"/>
          <p:nvPr/>
        </p:nvSpPr>
        <p:spPr>
          <a:xfrm>
            <a:off x="696996" y="4579288"/>
            <a:ext cx="4737236" cy="567324"/>
          </a:xfrm>
          <a:prstGeom prst="rect">
            <a:avLst/>
          </a:prstGeom>
        </p:spPr>
        <p:txBody>
          <a:bodyPr vert="horz" wrap="square" lIns="0" tIns="13197" rIns="0" bIns="0" rtlCol="0">
            <a:spAutoFit/>
          </a:bodyPr>
          <a:lstStyle/>
          <a:p>
            <a:pPr marL="13197" marR="5279">
              <a:spcBef>
                <a:spcPts val="104"/>
              </a:spcBef>
            </a:pPr>
            <a:r>
              <a:rPr sz="1800" spc="10" dirty="0">
                <a:latin typeface="Arial"/>
                <a:cs typeface="Arial"/>
              </a:rPr>
              <a:t>Ошибка </a:t>
            </a:r>
            <a:r>
              <a:rPr sz="1800" spc="-21" dirty="0">
                <a:latin typeface="Arial"/>
                <a:cs typeface="Arial"/>
              </a:rPr>
              <a:t>считается </a:t>
            </a:r>
            <a:r>
              <a:rPr sz="1800" dirty="0">
                <a:latin typeface="Arial"/>
                <a:cs typeface="Arial"/>
              </a:rPr>
              <a:t>из</a:t>
            </a:r>
            <a:r>
              <a:rPr sz="1800" spc="-118" dirty="0">
                <a:latin typeface="Arial"/>
                <a:cs typeface="Arial"/>
              </a:rPr>
              <a:t> </a:t>
            </a:r>
            <a:r>
              <a:rPr sz="1800" spc="-10" dirty="0">
                <a:latin typeface="Arial"/>
                <a:cs typeface="Arial"/>
              </a:rPr>
              <a:t>средних  </a:t>
            </a:r>
            <a:r>
              <a:rPr sz="1800" spc="-16" dirty="0">
                <a:latin typeface="Arial"/>
                <a:cs typeface="Arial"/>
              </a:rPr>
              <a:t>квадратов </a:t>
            </a:r>
            <a:r>
              <a:rPr sz="1800" spc="-10" dirty="0">
                <a:latin typeface="Arial"/>
                <a:cs typeface="Arial"/>
              </a:rPr>
              <a:t>стандартных  </a:t>
            </a:r>
            <a:r>
              <a:rPr sz="1800" spc="-5" dirty="0">
                <a:latin typeface="Arial"/>
                <a:cs typeface="Arial"/>
              </a:rPr>
              <a:t>отклонений </a:t>
            </a:r>
            <a:r>
              <a:rPr sz="1800" dirty="0">
                <a:latin typeface="Arial"/>
                <a:cs typeface="Arial"/>
              </a:rPr>
              <a:t>в</a:t>
            </a:r>
            <a:r>
              <a:rPr sz="1800" spc="-62" dirty="0">
                <a:latin typeface="Arial"/>
                <a:cs typeface="Arial"/>
              </a:rPr>
              <a:t> </a:t>
            </a:r>
            <a:r>
              <a:rPr sz="1800" dirty="0">
                <a:latin typeface="Arial"/>
                <a:cs typeface="Arial"/>
              </a:rPr>
              <a:t>выборках</a:t>
            </a:r>
          </a:p>
        </p:txBody>
      </p:sp>
      <p:sp>
        <p:nvSpPr>
          <p:cNvPr id="27" name="object 27"/>
          <p:cNvSpPr txBox="1"/>
          <p:nvPr/>
        </p:nvSpPr>
        <p:spPr>
          <a:xfrm>
            <a:off x="2062358" y="6487587"/>
            <a:ext cx="8498758" cy="397149"/>
          </a:xfrm>
          <a:prstGeom prst="rect">
            <a:avLst/>
          </a:prstGeom>
        </p:spPr>
        <p:txBody>
          <a:bodyPr vert="horz" wrap="square" lIns="0" tIns="13197" rIns="0" bIns="0" rtlCol="0">
            <a:spAutoFit/>
          </a:bodyPr>
          <a:lstStyle/>
          <a:p>
            <a:pPr marL="13197">
              <a:spcBef>
                <a:spcPts val="104"/>
              </a:spcBef>
            </a:pPr>
            <a:r>
              <a:rPr sz="2494" spc="-5" dirty="0">
                <a:latin typeface="Arial"/>
                <a:cs typeface="Arial"/>
              </a:rPr>
              <a:t>Основное </a:t>
            </a:r>
            <a:r>
              <a:rPr sz="2494" spc="-16" dirty="0">
                <a:latin typeface="Arial"/>
                <a:cs typeface="Arial"/>
              </a:rPr>
              <a:t>распределение </a:t>
            </a:r>
            <a:r>
              <a:rPr sz="2494" dirty="0">
                <a:latin typeface="Arial"/>
                <a:cs typeface="Arial"/>
              </a:rPr>
              <a:t>- </a:t>
            </a:r>
            <a:r>
              <a:rPr sz="2494" i="1" spc="-16" dirty="0">
                <a:latin typeface="Arial"/>
                <a:cs typeface="Arial"/>
              </a:rPr>
              <a:t>t</a:t>
            </a:r>
            <a:r>
              <a:rPr sz="2494" spc="-16" dirty="0">
                <a:latin typeface="Arial"/>
                <a:cs typeface="Arial"/>
              </a:rPr>
              <a:t>-распределение</a:t>
            </a:r>
            <a:r>
              <a:rPr sz="2494" spc="42" dirty="0">
                <a:latin typeface="Arial"/>
                <a:cs typeface="Arial"/>
              </a:rPr>
              <a:t> </a:t>
            </a:r>
            <a:r>
              <a:rPr sz="2494" spc="-10" dirty="0">
                <a:latin typeface="Arial"/>
                <a:cs typeface="Arial"/>
              </a:rPr>
              <a:t>(Стьюдента)</a:t>
            </a:r>
            <a:endParaRPr sz="2494" dirty="0">
              <a:latin typeface="Arial"/>
              <a:cs typeface="Arial"/>
            </a:endParaRPr>
          </a:p>
        </p:txBody>
      </p:sp>
      <p:sp>
        <p:nvSpPr>
          <p:cNvPr id="28" name="object 28"/>
          <p:cNvSpPr txBox="1"/>
          <p:nvPr/>
        </p:nvSpPr>
        <p:spPr>
          <a:xfrm>
            <a:off x="9079908" y="2179587"/>
            <a:ext cx="1697112" cy="924851"/>
          </a:xfrm>
          <a:prstGeom prst="rect">
            <a:avLst/>
          </a:prstGeom>
        </p:spPr>
        <p:txBody>
          <a:bodyPr vert="horz" wrap="square" lIns="0" tIns="65324" rIns="0" bIns="0" rtlCol="0">
            <a:spAutoFit/>
          </a:bodyPr>
          <a:lstStyle/>
          <a:p>
            <a:pPr marL="39590">
              <a:spcBef>
                <a:spcPts val="514"/>
              </a:spcBef>
            </a:pPr>
            <a:r>
              <a:rPr sz="2494" i="1" spc="57" dirty="0">
                <a:latin typeface="Times New Roman"/>
                <a:cs typeface="Times New Roman"/>
              </a:rPr>
              <a:t>H </a:t>
            </a:r>
            <a:r>
              <a:rPr sz="2182" spc="31" baseline="-23809" dirty="0">
                <a:latin typeface="Times New Roman"/>
                <a:cs typeface="Times New Roman"/>
              </a:rPr>
              <a:t>0  </a:t>
            </a:r>
            <a:r>
              <a:rPr sz="2494" spc="21" dirty="0">
                <a:latin typeface="Times New Roman"/>
                <a:cs typeface="Times New Roman"/>
              </a:rPr>
              <a:t>: </a:t>
            </a:r>
            <a:r>
              <a:rPr sz="2598" i="1" spc="5" dirty="0">
                <a:latin typeface="Symbol"/>
                <a:cs typeface="Symbol"/>
              </a:rPr>
              <a:t></a:t>
            </a:r>
            <a:r>
              <a:rPr sz="2182" spc="7" baseline="-23809" dirty="0">
                <a:latin typeface="Times New Roman"/>
                <a:cs typeface="Times New Roman"/>
              </a:rPr>
              <a:t>1  </a:t>
            </a:r>
            <a:r>
              <a:rPr sz="2494" spc="42" dirty="0">
                <a:latin typeface="Symbol"/>
                <a:cs typeface="Symbol"/>
              </a:rPr>
              <a:t></a:t>
            </a:r>
            <a:r>
              <a:rPr sz="2494" spc="-223" dirty="0">
                <a:latin typeface="Times New Roman"/>
                <a:cs typeface="Times New Roman"/>
              </a:rPr>
              <a:t> </a:t>
            </a:r>
            <a:r>
              <a:rPr sz="2598" i="1" spc="94" dirty="0">
                <a:latin typeface="Symbol"/>
                <a:cs typeface="Symbol"/>
              </a:rPr>
              <a:t></a:t>
            </a:r>
            <a:r>
              <a:rPr sz="2182" spc="140" baseline="-23809" dirty="0">
                <a:latin typeface="Times New Roman"/>
                <a:cs typeface="Times New Roman"/>
              </a:rPr>
              <a:t>2</a:t>
            </a:r>
            <a:endParaRPr sz="2182" baseline="-23809" dirty="0">
              <a:latin typeface="Times New Roman"/>
              <a:cs typeface="Times New Roman"/>
            </a:endParaRPr>
          </a:p>
          <a:p>
            <a:pPr marL="39590">
              <a:spcBef>
                <a:spcPts val="410"/>
              </a:spcBef>
            </a:pPr>
            <a:r>
              <a:rPr sz="2494" i="1" spc="125" dirty="0">
                <a:latin typeface="Times New Roman"/>
                <a:cs typeface="Times New Roman"/>
              </a:rPr>
              <a:t>H</a:t>
            </a:r>
            <a:r>
              <a:rPr sz="2182" spc="186" baseline="-25793" dirty="0">
                <a:latin typeface="Times New Roman"/>
                <a:cs typeface="Times New Roman"/>
              </a:rPr>
              <a:t>1 </a:t>
            </a:r>
            <a:r>
              <a:rPr sz="2494" spc="47" dirty="0">
                <a:latin typeface="Times New Roman"/>
                <a:cs typeface="Times New Roman"/>
              </a:rPr>
              <a:t>: </a:t>
            </a:r>
            <a:r>
              <a:rPr sz="2650" i="1" dirty="0">
                <a:latin typeface="Symbol"/>
                <a:cs typeface="Symbol"/>
              </a:rPr>
              <a:t></a:t>
            </a:r>
            <a:r>
              <a:rPr sz="2182" baseline="-25793" dirty="0">
                <a:latin typeface="Times New Roman"/>
                <a:cs typeface="Times New Roman"/>
              </a:rPr>
              <a:t>1  </a:t>
            </a:r>
            <a:r>
              <a:rPr sz="2494" spc="88" dirty="0">
                <a:latin typeface="Symbol"/>
                <a:cs typeface="Symbol"/>
              </a:rPr>
              <a:t></a:t>
            </a:r>
            <a:r>
              <a:rPr sz="2494" spc="-47" dirty="0">
                <a:latin typeface="Times New Roman"/>
                <a:cs typeface="Times New Roman"/>
              </a:rPr>
              <a:t> </a:t>
            </a:r>
            <a:r>
              <a:rPr sz="2650" i="1" spc="88" dirty="0">
                <a:latin typeface="Symbol"/>
                <a:cs typeface="Symbol"/>
              </a:rPr>
              <a:t></a:t>
            </a:r>
            <a:r>
              <a:rPr sz="2182" spc="132" baseline="-25793" dirty="0">
                <a:latin typeface="Times New Roman"/>
                <a:cs typeface="Times New Roman"/>
              </a:rPr>
              <a:t>2</a:t>
            </a:r>
            <a:endParaRPr sz="2182" baseline="-25793" dirty="0">
              <a:latin typeface="Times New Roman"/>
              <a:cs typeface="Times New Roman"/>
            </a:endParaRPr>
          </a:p>
        </p:txBody>
      </p:sp>
      <p:sp>
        <p:nvSpPr>
          <p:cNvPr id="29" name="object 29"/>
          <p:cNvSpPr txBox="1"/>
          <p:nvPr/>
        </p:nvSpPr>
        <p:spPr>
          <a:xfrm>
            <a:off x="2073739" y="1182157"/>
            <a:ext cx="7943831" cy="780972"/>
          </a:xfrm>
          <a:prstGeom prst="rect">
            <a:avLst/>
          </a:prstGeom>
        </p:spPr>
        <p:txBody>
          <a:bodyPr vert="horz" wrap="square" lIns="0" tIns="13197" rIns="0" bIns="0" rtlCol="0">
            <a:spAutoFit/>
          </a:bodyPr>
          <a:lstStyle/>
          <a:p>
            <a:pPr marL="2332494">
              <a:spcBef>
                <a:spcPts val="135"/>
              </a:spcBef>
            </a:pPr>
            <a:r>
              <a:rPr sz="2494" dirty="0" err="1">
                <a:latin typeface="Times New Roman"/>
                <a:cs typeface="Times New Roman"/>
              </a:rPr>
              <a:t>параметр</a:t>
            </a:r>
            <a:r>
              <a:rPr sz="2494" dirty="0">
                <a:latin typeface="Times New Roman"/>
                <a:cs typeface="Times New Roman"/>
              </a:rPr>
              <a:t> </a:t>
            </a:r>
            <a:r>
              <a:rPr sz="2494" spc="-5" dirty="0">
                <a:latin typeface="Times New Roman"/>
                <a:cs typeface="Times New Roman"/>
              </a:rPr>
              <a:t>выборки </a:t>
            </a:r>
            <a:r>
              <a:rPr sz="2494" dirty="0">
                <a:latin typeface="Times New Roman"/>
                <a:cs typeface="Times New Roman"/>
              </a:rPr>
              <a:t>– параметр</a:t>
            </a:r>
            <a:r>
              <a:rPr sz="2494" spc="-47" dirty="0">
                <a:latin typeface="Times New Roman"/>
                <a:cs typeface="Times New Roman"/>
              </a:rPr>
              <a:t> </a:t>
            </a:r>
            <a:r>
              <a:rPr sz="2494" spc="-16" dirty="0">
                <a:latin typeface="Times New Roman"/>
                <a:cs typeface="Times New Roman"/>
              </a:rPr>
              <a:t>популяции</a:t>
            </a:r>
            <a:endParaRPr sz="2494" dirty="0">
              <a:latin typeface="Times New Roman"/>
              <a:cs typeface="Times New Roman"/>
            </a:endParaRPr>
          </a:p>
        </p:txBody>
      </p:sp>
      <p:sp>
        <p:nvSpPr>
          <p:cNvPr id="33" name="object 2"/>
          <p:cNvSpPr txBox="1"/>
          <p:nvPr/>
        </p:nvSpPr>
        <p:spPr>
          <a:xfrm>
            <a:off x="3015696" y="326861"/>
            <a:ext cx="6912768" cy="846363"/>
          </a:xfrm>
          <a:prstGeom prst="rect">
            <a:avLst/>
          </a:prstGeom>
        </p:spPr>
        <p:txBody>
          <a:bodyPr wrap="square">
            <a:noAutofit/>
          </a:bodyPr>
          <a:lstStyle>
            <a:lvl1pPr lvl="0" algn="ctr" defTabSz="993775">
              <a:defRPr sz="3949">
                <a:solidFill>
                  <a:schemeClr val="tx2"/>
                </a:solidFill>
                <a:latin typeface="+mj-lt"/>
                <a:ea typeface="+mj-ea"/>
                <a:cs typeface="+mj-cs"/>
              </a:defRPr>
            </a:lvl1pPr>
            <a:lvl2pPr algn="ctr" defTabSz="993775">
              <a:defRPr sz="4800">
                <a:solidFill>
                  <a:schemeClr val="tx2"/>
                </a:solidFill>
              </a:defRPr>
            </a:lvl2pPr>
            <a:lvl3pPr algn="ctr" defTabSz="993775">
              <a:defRPr sz="4800">
                <a:solidFill>
                  <a:schemeClr val="tx2"/>
                </a:solidFill>
              </a:defRPr>
            </a:lvl3pPr>
            <a:lvl4pPr algn="ctr" defTabSz="993775">
              <a:defRPr sz="4800">
                <a:solidFill>
                  <a:schemeClr val="tx2"/>
                </a:solidFill>
              </a:defRPr>
            </a:lvl4pPr>
            <a:lvl5pPr algn="ctr" defTabSz="993775">
              <a:defRPr sz="4800">
                <a:solidFill>
                  <a:schemeClr val="tx2"/>
                </a:solidFill>
              </a:defRPr>
            </a:lvl5pPr>
            <a:lvl6pPr marL="457200" algn="ctr" defTabSz="993775" fontAlgn="base">
              <a:spcBef>
                <a:spcPct val="0"/>
              </a:spcBef>
              <a:spcAft>
                <a:spcPct val="0"/>
              </a:spcAft>
              <a:defRPr sz="4800">
                <a:solidFill>
                  <a:schemeClr val="tx2"/>
                </a:solidFill>
              </a:defRPr>
            </a:lvl6pPr>
            <a:lvl7pPr marL="914400" algn="ctr" defTabSz="993775" fontAlgn="base">
              <a:spcBef>
                <a:spcPct val="0"/>
              </a:spcBef>
              <a:spcAft>
                <a:spcPct val="0"/>
              </a:spcAft>
              <a:defRPr sz="4800">
                <a:solidFill>
                  <a:schemeClr val="tx2"/>
                </a:solidFill>
              </a:defRPr>
            </a:lvl7pPr>
            <a:lvl8pPr marL="1371600" algn="ctr" defTabSz="993775" fontAlgn="base">
              <a:spcBef>
                <a:spcPct val="0"/>
              </a:spcBef>
              <a:spcAft>
                <a:spcPct val="0"/>
              </a:spcAft>
              <a:defRPr sz="4800">
                <a:solidFill>
                  <a:schemeClr val="tx2"/>
                </a:solidFill>
              </a:defRPr>
            </a:lvl8pPr>
            <a:lvl9pPr marL="1828800" algn="ctr" defTabSz="993775" fontAlgn="base">
              <a:spcBef>
                <a:spcPct val="0"/>
              </a:spcBef>
              <a:spcAft>
                <a:spcPct val="0"/>
              </a:spcAft>
              <a:defRPr sz="4800">
                <a:solidFill>
                  <a:schemeClr val="tx2"/>
                </a:solidFill>
              </a:defRPr>
            </a:lvl9pPr>
          </a:lstStyle>
          <a:p>
            <a:r>
              <a:rPr dirty="0" err="1"/>
              <a:t>Двухвыборочные</a:t>
            </a:r>
            <a:r>
              <a:rPr dirty="0"/>
              <a:t> </a:t>
            </a:r>
            <a:r>
              <a:rPr dirty="0" err="1"/>
              <a:t>критерии</a:t>
            </a:r>
            <a:endParaRPr dirty="0"/>
          </a:p>
        </p:txBody>
      </p:sp>
      <p:sp>
        <p:nvSpPr>
          <p:cNvPr id="13" name="Номер слайда 12"/>
          <p:cNvSpPr>
            <a:spLocks noGrp="1"/>
          </p:cNvSpPr>
          <p:nvPr>
            <p:ph type="sldNum" sz="quarter" idx="7"/>
          </p:nvPr>
        </p:nvSpPr>
        <p:spPr>
          <a:xfrm>
            <a:off x="11446693" y="6519149"/>
            <a:ext cx="753099" cy="356314"/>
          </a:xfrm>
        </p:spPr>
        <p:txBody>
          <a:bodyPr/>
          <a:lstStyle/>
          <a:p>
            <a:fld id="{B6F15528-21DE-4FAA-801E-634DDDAF4B2B}" type="slidenum">
              <a:rPr lang="ru-RU" smtClean="0">
                <a:solidFill>
                  <a:schemeClr val="tx1"/>
                </a:solidFill>
              </a:rPr>
              <a:t>112</a:t>
            </a:fld>
            <a:endParaRPr lang="ru-RU">
              <a:solidFill>
                <a:schemeClr val="tx1"/>
              </a:solidFill>
            </a:endParaRPr>
          </a:p>
        </p:txBody>
      </p:sp>
      <p:pic>
        <p:nvPicPr>
          <p:cNvPr id="16" name="Рисунок 15">
            <a:extLst>
              <a:ext uri="{FF2B5EF4-FFF2-40B4-BE49-F238E27FC236}">
                <a16:creationId xmlns:a16="http://schemas.microsoft.com/office/drawing/2014/main" id="{CF0E971E-84A2-4C93-B7ED-4E89D78AE263}"/>
              </a:ext>
            </a:extLst>
          </p:cNvPr>
          <p:cNvPicPr>
            <a:picLocks noChangeAspect="1"/>
          </p:cNvPicPr>
          <p:nvPr/>
        </p:nvPicPr>
        <p:blipFill>
          <a:blip r:embed="rId2"/>
          <a:stretch>
            <a:fillRect/>
          </a:stretch>
        </p:blipFill>
        <p:spPr>
          <a:xfrm>
            <a:off x="3528443" y="3270928"/>
            <a:ext cx="5908622" cy="1179412"/>
          </a:xfrm>
          <a:prstGeom prst="rect">
            <a:avLst/>
          </a:prstGeom>
        </p:spPr>
      </p:pic>
      <p:sp>
        <p:nvSpPr>
          <p:cNvPr id="21" name="object 21"/>
          <p:cNvSpPr/>
          <p:nvPr/>
        </p:nvSpPr>
        <p:spPr>
          <a:xfrm>
            <a:off x="4159848" y="4026370"/>
            <a:ext cx="1337457" cy="537120"/>
          </a:xfrm>
          <a:custGeom>
            <a:avLst/>
            <a:gdLst/>
            <a:ahLst/>
            <a:cxnLst/>
            <a:rect l="l" t="t" r="r" b="b"/>
            <a:pathLst>
              <a:path w="1584325" h="1295400">
                <a:moveTo>
                  <a:pt x="0" y="1295400"/>
                </a:moveTo>
                <a:lnTo>
                  <a:pt x="1584325" y="1295400"/>
                </a:lnTo>
                <a:lnTo>
                  <a:pt x="1584325" y="0"/>
                </a:lnTo>
                <a:lnTo>
                  <a:pt x="0" y="0"/>
                </a:lnTo>
                <a:lnTo>
                  <a:pt x="0" y="1295400"/>
                </a:lnTo>
                <a:close/>
              </a:path>
            </a:pathLst>
          </a:custGeom>
          <a:ln w="19050">
            <a:solidFill>
              <a:srgbClr val="FF0000"/>
            </a:solidFill>
          </a:ln>
        </p:spPr>
        <p:txBody>
          <a:bodyPr wrap="square" lIns="0" tIns="0" rIns="0" bIns="0" rtlCol="0"/>
          <a:lstStyle/>
          <a:p>
            <a:endParaRPr sz="2078"/>
          </a:p>
        </p:txBody>
      </p:sp>
      <p:grpSp>
        <p:nvGrpSpPr>
          <p:cNvPr id="32" name="Группа 31">
            <a:extLst>
              <a:ext uri="{FF2B5EF4-FFF2-40B4-BE49-F238E27FC236}">
                <a16:creationId xmlns:a16="http://schemas.microsoft.com/office/drawing/2014/main" id="{8B52ACB0-8DB1-4EDC-85C7-8FE04FD8ABC7}"/>
              </a:ext>
            </a:extLst>
          </p:cNvPr>
          <p:cNvGrpSpPr/>
          <p:nvPr/>
        </p:nvGrpSpPr>
        <p:grpSpPr>
          <a:xfrm>
            <a:off x="861517" y="5378387"/>
            <a:ext cx="11449272" cy="771952"/>
            <a:chOff x="933525" y="5308754"/>
            <a:chExt cx="11449272" cy="771952"/>
          </a:xfrm>
        </p:grpSpPr>
        <p:sp>
          <p:nvSpPr>
            <p:cNvPr id="37" name="TextBox 36">
              <a:extLst>
                <a:ext uri="{FF2B5EF4-FFF2-40B4-BE49-F238E27FC236}">
                  <a16:creationId xmlns:a16="http://schemas.microsoft.com/office/drawing/2014/main" id="{6D57CEC8-A943-49EC-BB9C-B5451AB91768}"/>
                </a:ext>
              </a:extLst>
            </p:cNvPr>
            <p:cNvSpPr txBox="1"/>
            <p:nvPr/>
          </p:nvSpPr>
          <p:spPr>
            <a:xfrm>
              <a:off x="933525" y="5372820"/>
              <a:ext cx="11449272" cy="707886"/>
            </a:xfrm>
            <a:prstGeom prst="rect">
              <a:avLst/>
            </a:prstGeom>
            <a:noFill/>
          </p:spPr>
          <p:txBody>
            <a:bodyPr wrap="square">
              <a:spAutoFit/>
            </a:bodyPr>
            <a:lstStyle/>
            <a:p>
              <a:r>
                <a:rPr lang="ru-RU" dirty="0"/>
                <a:t>где</a:t>
              </a:r>
              <a:r>
                <a:rPr lang="en-US" dirty="0"/>
                <a:t>             - </a:t>
              </a:r>
              <a:r>
                <a:rPr lang="ru-RU" dirty="0"/>
                <a:t>выборочные</a:t>
              </a:r>
              <a:r>
                <a:rPr lang="en-US" dirty="0"/>
                <a:t> </a:t>
              </a:r>
              <a:r>
                <a:rPr lang="ru-RU" dirty="0"/>
                <a:t>средние, s</a:t>
              </a:r>
              <a:r>
                <a:rPr lang="ru-RU" baseline="-25000" dirty="0"/>
                <a:t>1</a:t>
              </a:r>
              <a:r>
                <a:rPr lang="ru-RU" baseline="30000" dirty="0"/>
                <a:t>2</a:t>
              </a:r>
              <a:r>
                <a:rPr lang="ru-RU" dirty="0"/>
                <a:t>, s</a:t>
              </a:r>
              <a:r>
                <a:rPr lang="en-US" baseline="-25000" dirty="0"/>
                <a:t>2</a:t>
              </a:r>
              <a:r>
                <a:rPr lang="ru-RU" baseline="30000" dirty="0"/>
                <a:t>2</a:t>
              </a:r>
              <a:r>
                <a:rPr lang="en-US" baseline="30000" dirty="0"/>
                <a:t> </a:t>
              </a:r>
              <a:r>
                <a:rPr lang="ru-RU" dirty="0"/>
                <a:t>— выборочные дисперсии, n</a:t>
              </a:r>
              <a:r>
                <a:rPr lang="ru-RU" baseline="-25000" dirty="0"/>
                <a:t>1</a:t>
              </a:r>
              <a:r>
                <a:rPr lang="ru-RU" dirty="0"/>
                <a:t>,n</a:t>
              </a:r>
              <a:r>
                <a:rPr lang="ru-RU" baseline="-25000" dirty="0"/>
                <a:t>2</a:t>
              </a:r>
              <a:r>
                <a:rPr lang="ru-RU" dirty="0"/>
                <a:t>​ — объёмы выборок.</a:t>
              </a:r>
              <a:br>
                <a:rPr lang="ru-RU" dirty="0"/>
              </a:br>
              <a:r>
                <a:rPr lang="ru-RU" dirty="0"/>
                <a:t>Степени свободы: </a:t>
              </a:r>
              <a:r>
                <a:rPr lang="ru-RU" dirty="0" err="1"/>
                <a:t>df</a:t>
              </a:r>
              <a:r>
                <a:rPr lang="ru-RU" dirty="0"/>
                <a:t>=n n</a:t>
              </a:r>
              <a:r>
                <a:rPr lang="ru-RU" baseline="-25000" dirty="0"/>
                <a:t>1</a:t>
              </a:r>
              <a:r>
                <a:rPr lang="en-US" dirty="0"/>
                <a:t>+</a:t>
              </a:r>
              <a:r>
                <a:rPr lang="ru-RU" dirty="0"/>
                <a:t>n</a:t>
              </a:r>
              <a:r>
                <a:rPr lang="ru-RU" baseline="-25000" dirty="0"/>
                <a:t>2</a:t>
              </a:r>
              <a:r>
                <a:rPr lang="ru-RU" dirty="0"/>
                <a:t>​ −2.</a:t>
              </a:r>
            </a:p>
          </p:txBody>
        </p:sp>
        <p:pic>
          <p:nvPicPr>
            <p:cNvPr id="20" name="Рисунок 19">
              <a:extLst>
                <a:ext uri="{FF2B5EF4-FFF2-40B4-BE49-F238E27FC236}">
                  <a16:creationId xmlns:a16="http://schemas.microsoft.com/office/drawing/2014/main" id="{4BE18461-F892-4909-A35C-C005DF6D6A49}"/>
                </a:ext>
              </a:extLst>
            </p:cNvPr>
            <p:cNvPicPr>
              <a:picLocks noChangeAspect="1"/>
            </p:cNvPicPr>
            <p:nvPr/>
          </p:nvPicPr>
          <p:blipFill>
            <a:blip r:embed="rId3"/>
            <a:stretch>
              <a:fillRect/>
            </a:stretch>
          </p:blipFill>
          <p:spPr>
            <a:xfrm>
              <a:off x="1483106" y="5308754"/>
              <a:ext cx="711181" cy="401474"/>
            </a:xfrm>
            <a:prstGeom prst="rect">
              <a:avLst/>
            </a:prstGeom>
          </p:spPr>
        </p:pic>
      </p:grpSp>
      <p:sp>
        <p:nvSpPr>
          <p:cNvPr id="24" name="object 24"/>
          <p:cNvSpPr/>
          <p:nvPr/>
        </p:nvSpPr>
        <p:spPr>
          <a:xfrm flipH="1">
            <a:off x="3139190" y="3930566"/>
            <a:ext cx="907012" cy="567324"/>
          </a:xfrm>
          <a:custGeom>
            <a:avLst/>
            <a:gdLst/>
            <a:ahLst/>
            <a:cxnLst/>
            <a:rect l="l" t="t" r="r" b="b"/>
            <a:pathLst>
              <a:path w="938529" h="330835">
                <a:moveTo>
                  <a:pt x="115697" y="184657"/>
                </a:moveTo>
                <a:lnTo>
                  <a:pt x="108712" y="184784"/>
                </a:lnTo>
                <a:lnTo>
                  <a:pt x="104394" y="189229"/>
                </a:lnTo>
                <a:lnTo>
                  <a:pt x="0" y="297941"/>
                </a:lnTo>
                <a:lnTo>
                  <a:pt x="153416" y="330453"/>
                </a:lnTo>
                <a:lnTo>
                  <a:pt x="159384" y="326643"/>
                </a:lnTo>
                <a:lnTo>
                  <a:pt x="160654" y="320674"/>
                </a:lnTo>
                <a:lnTo>
                  <a:pt x="161925" y="314578"/>
                </a:lnTo>
                <a:lnTo>
                  <a:pt x="157988" y="308736"/>
                </a:lnTo>
                <a:lnTo>
                  <a:pt x="125718" y="301878"/>
                </a:lnTo>
                <a:lnTo>
                  <a:pt x="25019" y="301878"/>
                </a:lnTo>
                <a:lnTo>
                  <a:pt x="18542" y="280542"/>
                </a:lnTo>
                <a:lnTo>
                  <a:pt x="59630" y="267919"/>
                </a:lnTo>
                <a:lnTo>
                  <a:pt x="120396" y="204596"/>
                </a:lnTo>
                <a:lnTo>
                  <a:pt x="124714" y="200278"/>
                </a:lnTo>
                <a:lnTo>
                  <a:pt x="124587" y="193166"/>
                </a:lnTo>
                <a:lnTo>
                  <a:pt x="120142" y="188975"/>
                </a:lnTo>
                <a:lnTo>
                  <a:pt x="115697" y="184657"/>
                </a:lnTo>
                <a:close/>
              </a:path>
              <a:path w="938529" h="330835">
                <a:moveTo>
                  <a:pt x="59630" y="267919"/>
                </a:moveTo>
                <a:lnTo>
                  <a:pt x="18542" y="280542"/>
                </a:lnTo>
                <a:lnTo>
                  <a:pt x="25019" y="301878"/>
                </a:lnTo>
                <a:lnTo>
                  <a:pt x="34523" y="298957"/>
                </a:lnTo>
                <a:lnTo>
                  <a:pt x="29845" y="298957"/>
                </a:lnTo>
                <a:lnTo>
                  <a:pt x="24129" y="280288"/>
                </a:lnTo>
                <a:lnTo>
                  <a:pt x="47760" y="280288"/>
                </a:lnTo>
                <a:lnTo>
                  <a:pt x="59630" y="267919"/>
                </a:lnTo>
                <a:close/>
              </a:path>
              <a:path w="938529" h="330835">
                <a:moveTo>
                  <a:pt x="66186" y="289227"/>
                </a:moveTo>
                <a:lnTo>
                  <a:pt x="25019" y="301878"/>
                </a:lnTo>
                <a:lnTo>
                  <a:pt x="125718" y="301878"/>
                </a:lnTo>
                <a:lnTo>
                  <a:pt x="66186" y="289227"/>
                </a:lnTo>
                <a:close/>
              </a:path>
              <a:path w="938529" h="330835">
                <a:moveTo>
                  <a:pt x="24129" y="280288"/>
                </a:moveTo>
                <a:lnTo>
                  <a:pt x="29845" y="298957"/>
                </a:lnTo>
                <a:lnTo>
                  <a:pt x="43757" y="284460"/>
                </a:lnTo>
                <a:lnTo>
                  <a:pt x="24129" y="280288"/>
                </a:lnTo>
                <a:close/>
              </a:path>
              <a:path w="938529" h="330835">
                <a:moveTo>
                  <a:pt x="43757" y="284460"/>
                </a:moveTo>
                <a:lnTo>
                  <a:pt x="29845" y="298957"/>
                </a:lnTo>
                <a:lnTo>
                  <a:pt x="34523" y="298957"/>
                </a:lnTo>
                <a:lnTo>
                  <a:pt x="66186" y="289227"/>
                </a:lnTo>
                <a:lnTo>
                  <a:pt x="43757" y="284460"/>
                </a:lnTo>
                <a:close/>
              </a:path>
              <a:path w="938529" h="330835">
                <a:moveTo>
                  <a:pt x="931672" y="0"/>
                </a:moveTo>
                <a:lnTo>
                  <a:pt x="59630" y="267919"/>
                </a:lnTo>
                <a:lnTo>
                  <a:pt x="43757" y="284460"/>
                </a:lnTo>
                <a:lnTo>
                  <a:pt x="66186" y="289227"/>
                </a:lnTo>
                <a:lnTo>
                  <a:pt x="938276" y="21208"/>
                </a:lnTo>
                <a:lnTo>
                  <a:pt x="931672" y="0"/>
                </a:lnTo>
                <a:close/>
              </a:path>
              <a:path w="938529" h="330835">
                <a:moveTo>
                  <a:pt x="47760" y="280288"/>
                </a:moveTo>
                <a:lnTo>
                  <a:pt x="24129" y="280288"/>
                </a:lnTo>
                <a:lnTo>
                  <a:pt x="43757" y="284460"/>
                </a:lnTo>
                <a:lnTo>
                  <a:pt x="47760" y="280288"/>
                </a:lnTo>
                <a:close/>
              </a:path>
            </a:pathLst>
          </a:custGeom>
          <a:solidFill>
            <a:srgbClr val="99CC00"/>
          </a:solidFill>
        </p:spPr>
        <p:txBody>
          <a:bodyPr wrap="square" lIns="0" tIns="0" rIns="0" bIns="0" rtlCol="0"/>
          <a:lstStyle/>
          <a:p>
            <a:endParaRPr sz="2078"/>
          </a:p>
        </p:txBody>
      </p:sp>
      <p:sp>
        <p:nvSpPr>
          <p:cNvPr id="22" name="object 22"/>
          <p:cNvSpPr/>
          <p:nvPr/>
        </p:nvSpPr>
        <p:spPr>
          <a:xfrm flipH="1">
            <a:off x="2750769" y="2745287"/>
            <a:ext cx="1697112" cy="889437"/>
          </a:xfrm>
          <a:custGeom>
            <a:avLst/>
            <a:gdLst/>
            <a:ahLst/>
            <a:cxnLst/>
            <a:rect l="l" t="t" r="r" b="b"/>
            <a:pathLst>
              <a:path w="1300479" h="600710">
                <a:moveTo>
                  <a:pt x="101346" y="460121"/>
                </a:moveTo>
                <a:lnTo>
                  <a:pt x="94361" y="461010"/>
                </a:lnTo>
                <a:lnTo>
                  <a:pt x="90677" y="465963"/>
                </a:lnTo>
                <a:lnTo>
                  <a:pt x="0" y="586359"/>
                </a:lnTo>
                <a:lnTo>
                  <a:pt x="150113" y="599694"/>
                </a:lnTo>
                <a:lnTo>
                  <a:pt x="156337" y="600329"/>
                </a:lnTo>
                <a:lnTo>
                  <a:pt x="161671" y="595757"/>
                </a:lnTo>
                <a:lnTo>
                  <a:pt x="162178" y="589661"/>
                </a:lnTo>
                <a:lnTo>
                  <a:pt x="162430" y="587248"/>
                </a:lnTo>
                <a:lnTo>
                  <a:pt x="25400" y="587248"/>
                </a:lnTo>
                <a:lnTo>
                  <a:pt x="16383" y="566927"/>
                </a:lnTo>
                <a:lnTo>
                  <a:pt x="55705" y="549435"/>
                </a:lnTo>
                <a:lnTo>
                  <a:pt x="108458" y="479298"/>
                </a:lnTo>
                <a:lnTo>
                  <a:pt x="112140" y="474472"/>
                </a:lnTo>
                <a:lnTo>
                  <a:pt x="111125" y="467487"/>
                </a:lnTo>
                <a:lnTo>
                  <a:pt x="106172" y="463804"/>
                </a:lnTo>
                <a:lnTo>
                  <a:pt x="101346" y="460121"/>
                </a:lnTo>
                <a:close/>
              </a:path>
              <a:path w="1300479" h="600710">
                <a:moveTo>
                  <a:pt x="55705" y="549435"/>
                </a:moveTo>
                <a:lnTo>
                  <a:pt x="16383" y="566927"/>
                </a:lnTo>
                <a:lnTo>
                  <a:pt x="25400" y="587248"/>
                </a:lnTo>
                <a:lnTo>
                  <a:pt x="33109" y="583819"/>
                </a:lnTo>
                <a:lnTo>
                  <a:pt x="29845" y="583819"/>
                </a:lnTo>
                <a:lnTo>
                  <a:pt x="21844" y="566038"/>
                </a:lnTo>
                <a:lnTo>
                  <a:pt x="43217" y="566038"/>
                </a:lnTo>
                <a:lnTo>
                  <a:pt x="55705" y="549435"/>
                </a:lnTo>
                <a:close/>
              </a:path>
              <a:path w="1300479" h="600710">
                <a:moveTo>
                  <a:pt x="64563" y="569827"/>
                </a:moveTo>
                <a:lnTo>
                  <a:pt x="25400" y="587248"/>
                </a:lnTo>
                <a:lnTo>
                  <a:pt x="162430" y="587248"/>
                </a:lnTo>
                <a:lnTo>
                  <a:pt x="162813" y="583564"/>
                </a:lnTo>
                <a:lnTo>
                  <a:pt x="158241" y="578104"/>
                </a:lnTo>
                <a:lnTo>
                  <a:pt x="64563" y="569827"/>
                </a:lnTo>
                <a:close/>
              </a:path>
              <a:path w="1300479" h="600710">
                <a:moveTo>
                  <a:pt x="21844" y="566038"/>
                </a:moveTo>
                <a:lnTo>
                  <a:pt x="29845" y="583819"/>
                </a:lnTo>
                <a:lnTo>
                  <a:pt x="41881" y="567816"/>
                </a:lnTo>
                <a:lnTo>
                  <a:pt x="21844" y="566038"/>
                </a:lnTo>
                <a:close/>
              </a:path>
              <a:path w="1300479" h="600710">
                <a:moveTo>
                  <a:pt x="41881" y="567816"/>
                </a:moveTo>
                <a:lnTo>
                  <a:pt x="29845" y="583819"/>
                </a:lnTo>
                <a:lnTo>
                  <a:pt x="33109" y="583819"/>
                </a:lnTo>
                <a:lnTo>
                  <a:pt x="64563" y="569827"/>
                </a:lnTo>
                <a:lnTo>
                  <a:pt x="41881" y="567816"/>
                </a:lnTo>
                <a:close/>
              </a:path>
              <a:path w="1300479" h="600710">
                <a:moveTo>
                  <a:pt x="1290827" y="0"/>
                </a:moveTo>
                <a:lnTo>
                  <a:pt x="55705" y="549435"/>
                </a:lnTo>
                <a:lnTo>
                  <a:pt x="41881" y="567816"/>
                </a:lnTo>
                <a:lnTo>
                  <a:pt x="64563" y="569827"/>
                </a:lnTo>
                <a:lnTo>
                  <a:pt x="1299972" y="20320"/>
                </a:lnTo>
                <a:lnTo>
                  <a:pt x="1290827" y="0"/>
                </a:lnTo>
                <a:close/>
              </a:path>
              <a:path w="1300479" h="600710">
                <a:moveTo>
                  <a:pt x="43217" y="566038"/>
                </a:moveTo>
                <a:lnTo>
                  <a:pt x="21844" y="566038"/>
                </a:lnTo>
                <a:lnTo>
                  <a:pt x="41881" y="567816"/>
                </a:lnTo>
                <a:lnTo>
                  <a:pt x="43217" y="566038"/>
                </a:lnTo>
                <a:close/>
              </a:path>
            </a:pathLst>
          </a:custGeom>
          <a:solidFill>
            <a:srgbClr val="99CC00"/>
          </a:solidFill>
        </p:spPr>
        <p:txBody>
          <a:bodyPr wrap="square" lIns="0" tIns="0" rIns="0" bIns="0" rtlCol="0"/>
          <a:lstStyle/>
          <a:p>
            <a:endParaRPr sz="2078"/>
          </a:p>
        </p:txBody>
      </p:sp>
    </p:spTree>
    <p:extLst>
      <p:ext uri="{BB962C8B-B14F-4D97-AF65-F5344CB8AC3E}">
        <p14:creationId xmlns:p14="http://schemas.microsoft.com/office/powerpoint/2010/main" val="3986098750"/>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4"/>
          <p:cNvSpPr>
            <a:spLocks noChangeArrowheads="1"/>
          </p:cNvSpPr>
          <p:nvPr/>
        </p:nvSpPr>
        <p:spPr bwMode="auto">
          <a:xfrm>
            <a:off x="1438275" y="322263"/>
            <a:ext cx="10944521" cy="6553200"/>
          </a:xfrm>
          <a:prstGeom prst="roundRect">
            <a:avLst>
              <a:gd name="adj" fmla="val 16667"/>
            </a:avLst>
          </a:prstGeom>
          <a:solidFill>
            <a:schemeClr val="bg1">
              <a:alpha val="50195"/>
            </a:scheme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5" name="AutoShape 5"/>
          <p:cNvSpPr>
            <a:spLocks noChangeArrowheads="1"/>
          </p:cNvSpPr>
          <p:nvPr/>
        </p:nvSpPr>
        <p:spPr bwMode="auto">
          <a:xfrm>
            <a:off x="2373685" y="322264"/>
            <a:ext cx="8064128" cy="720601"/>
          </a:xfrm>
          <a:prstGeom prst="roundRect">
            <a:avLst>
              <a:gd name="adj" fmla="val 37469"/>
            </a:avLst>
          </a:prstGeom>
          <a:solidFill>
            <a:srgbClr val="FFFFFF">
              <a:alpha val="78822"/>
            </a:srgb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2" name="object 2"/>
          <p:cNvSpPr/>
          <p:nvPr/>
        </p:nvSpPr>
        <p:spPr>
          <a:xfrm>
            <a:off x="5757688" y="2066625"/>
            <a:ext cx="509924" cy="706293"/>
          </a:xfrm>
          <a:prstGeom prst="rect">
            <a:avLst/>
          </a:prstGeom>
          <a:blipFill>
            <a:blip r:embed="rId2" cstate="print"/>
            <a:stretch>
              <a:fillRect/>
            </a:stretch>
          </a:blipFill>
        </p:spPr>
        <p:txBody>
          <a:bodyPr wrap="square" lIns="0" tIns="0" rIns="0" bIns="0" rtlCol="0"/>
          <a:lstStyle/>
          <a:p>
            <a:endParaRPr sz="2078"/>
          </a:p>
        </p:txBody>
      </p:sp>
      <p:sp>
        <p:nvSpPr>
          <p:cNvPr id="3" name="object 3"/>
          <p:cNvSpPr txBox="1"/>
          <p:nvPr/>
        </p:nvSpPr>
        <p:spPr>
          <a:xfrm>
            <a:off x="1774533" y="1042865"/>
            <a:ext cx="10260305" cy="5383203"/>
          </a:xfrm>
          <a:prstGeom prst="rect">
            <a:avLst/>
          </a:prstGeom>
        </p:spPr>
        <p:txBody>
          <a:bodyPr vert="horz" wrap="square" lIns="0" tIns="182116" rIns="0" bIns="0" rtlCol="0">
            <a:spAutoFit/>
          </a:bodyPr>
          <a:lstStyle/>
          <a:p>
            <a:pPr marL="326615">
              <a:spcBef>
                <a:spcPts val="1335"/>
              </a:spcBef>
            </a:pPr>
            <a:r>
              <a:rPr sz="2494" spc="-5" dirty="0" err="1">
                <a:latin typeface="Arial"/>
                <a:cs typeface="Arial"/>
              </a:rPr>
              <a:t>Критерий</a:t>
            </a:r>
            <a:r>
              <a:rPr sz="2494" spc="-5" dirty="0">
                <a:latin typeface="Arial"/>
                <a:cs typeface="Arial"/>
              </a:rPr>
              <a:t> </a:t>
            </a:r>
            <a:r>
              <a:rPr sz="2494" spc="-16" dirty="0">
                <a:latin typeface="Arial"/>
                <a:cs typeface="Arial"/>
              </a:rPr>
              <a:t>Стьюдента </a:t>
            </a:r>
            <a:r>
              <a:rPr sz="2494" spc="-5" dirty="0">
                <a:latin typeface="Arial"/>
                <a:cs typeface="Arial"/>
              </a:rPr>
              <a:t>для </a:t>
            </a:r>
            <a:r>
              <a:rPr sz="2494" b="1" spc="-10" dirty="0">
                <a:latin typeface="Arial"/>
                <a:cs typeface="Arial"/>
              </a:rPr>
              <a:t>независимых </a:t>
            </a:r>
            <a:r>
              <a:rPr sz="2494" spc="-5" dirty="0">
                <a:latin typeface="Arial"/>
                <a:cs typeface="Arial"/>
              </a:rPr>
              <a:t>выборок </a:t>
            </a:r>
            <a:r>
              <a:rPr sz="2494" dirty="0">
                <a:latin typeface="Arial"/>
                <a:cs typeface="Arial"/>
              </a:rPr>
              <a:t>(</a:t>
            </a:r>
            <a:r>
              <a:rPr sz="2494" i="1" u="heavy" dirty="0">
                <a:uFill>
                  <a:solidFill>
                    <a:srgbClr val="000000"/>
                  </a:solidFill>
                </a:uFill>
                <a:latin typeface="Arial"/>
                <a:cs typeface="Arial"/>
              </a:rPr>
              <a:t>t-test</a:t>
            </a:r>
            <a:r>
              <a:rPr sz="2494" i="1" u="heavy" spc="10" dirty="0">
                <a:uFill>
                  <a:solidFill>
                    <a:srgbClr val="000000"/>
                  </a:solidFill>
                </a:uFill>
                <a:latin typeface="Arial"/>
                <a:cs typeface="Arial"/>
              </a:rPr>
              <a:t> </a:t>
            </a:r>
            <a:r>
              <a:rPr sz="2494" i="1" u="heavy" dirty="0">
                <a:uFill>
                  <a:solidFill>
                    <a:srgbClr val="000000"/>
                  </a:solidFill>
                </a:uFill>
                <a:latin typeface="Arial"/>
                <a:cs typeface="Arial"/>
              </a:rPr>
              <a:t>for</a:t>
            </a:r>
            <a:endParaRPr sz="2494" dirty="0">
              <a:latin typeface="Arial"/>
              <a:cs typeface="Arial"/>
            </a:endParaRPr>
          </a:p>
          <a:p>
            <a:pPr marL="326615"/>
            <a:r>
              <a:rPr sz="2494" i="1" u="heavy" spc="-5" dirty="0">
                <a:uFill>
                  <a:solidFill>
                    <a:srgbClr val="000000"/>
                  </a:solidFill>
                </a:uFill>
                <a:latin typeface="Arial"/>
                <a:cs typeface="Arial"/>
              </a:rPr>
              <a:t>independent</a:t>
            </a:r>
            <a:r>
              <a:rPr sz="2494" i="1" u="heavy" spc="31" dirty="0">
                <a:uFill>
                  <a:solidFill>
                    <a:srgbClr val="000000"/>
                  </a:solidFill>
                </a:uFill>
                <a:latin typeface="Arial"/>
                <a:cs typeface="Arial"/>
              </a:rPr>
              <a:t> </a:t>
            </a:r>
            <a:r>
              <a:rPr sz="2494" i="1" u="heavy" spc="-5" dirty="0">
                <a:uFill>
                  <a:solidFill>
                    <a:srgbClr val="000000"/>
                  </a:solidFill>
                </a:uFill>
                <a:latin typeface="Arial"/>
                <a:cs typeface="Arial"/>
              </a:rPr>
              <a:t>samples)</a:t>
            </a:r>
            <a:endParaRPr sz="2494" dirty="0">
              <a:latin typeface="Arial"/>
              <a:cs typeface="Arial"/>
            </a:endParaRPr>
          </a:p>
          <a:p>
            <a:pPr marL="100294" marR="203227">
              <a:spcBef>
                <a:spcPts val="2063"/>
              </a:spcBef>
              <a:tabLst>
                <a:tab pos="4205086" algn="l"/>
              </a:tabLst>
            </a:pPr>
            <a:r>
              <a:rPr sz="2400" b="1" i="1" dirty="0">
                <a:solidFill>
                  <a:srgbClr val="0070C0"/>
                </a:solidFill>
                <a:latin typeface="Arial"/>
                <a:cs typeface="Arial"/>
              </a:rPr>
              <a:t>Общий </a:t>
            </a:r>
            <a:r>
              <a:rPr sz="2400" b="1" i="1" spc="-10" dirty="0">
                <a:solidFill>
                  <a:srgbClr val="0070C0"/>
                </a:solidFill>
                <a:latin typeface="Arial"/>
                <a:cs typeface="Arial"/>
              </a:rPr>
              <a:t>вопрос: </a:t>
            </a:r>
            <a:r>
              <a:rPr sz="2400" spc="-10" dirty="0">
                <a:latin typeface="Arial"/>
                <a:cs typeface="Arial"/>
              </a:rPr>
              <a:t>получены </a:t>
            </a:r>
            <a:r>
              <a:rPr sz="2400" dirty="0">
                <a:latin typeface="Arial"/>
                <a:cs typeface="Arial"/>
              </a:rPr>
              <a:t>ли </a:t>
            </a:r>
            <a:r>
              <a:rPr sz="2400" spc="-5" dirty="0">
                <a:latin typeface="Arial"/>
                <a:cs typeface="Arial"/>
              </a:rPr>
              <a:t>выборки </a:t>
            </a:r>
            <a:r>
              <a:rPr sz="2400" dirty="0">
                <a:latin typeface="Arial"/>
                <a:cs typeface="Arial"/>
              </a:rPr>
              <a:t>из </a:t>
            </a:r>
            <a:r>
              <a:rPr sz="2400" spc="-16" dirty="0">
                <a:latin typeface="Arial"/>
                <a:cs typeface="Arial"/>
              </a:rPr>
              <a:t>одной </a:t>
            </a:r>
            <a:r>
              <a:rPr sz="2400" spc="-10" dirty="0">
                <a:latin typeface="Arial"/>
                <a:cs typeface="Arial"/>
              </a:rPr>
              <a:t>популяции?  </a:t>
            </a:r>
            <a:endParaRPr lang="ru-RU" sz="2400" spc="-10" dirty="0">
              <a:latin typeface="Arial"/>
              <a:cs typeface="Arial"/>
            </a:endParaRPr>
          </a:p>
          <a:p>
            <a:pPr marL="100294" marR="203227">
              <a:spcBef>
                <a:spcPts val="1000"/>
              </a:spcBef>
              <a:tabLst>
                <a:tab pos="4205086" algn="l"/>
              </a:tabLst>
            </a:pPr>
            <a:r>
              <a:rPr sz="2400" b="1" i="1" dirty="0" err="1">
                <a:solidFill>
                  <a:srgbClr val="0070C0"/>
                </a:solidFill>
                <a:latin typeface="Arial"/>
                <a:cs typeface="Arial"/>
              </a:rPr>
              <a:t>Частный</a:t>
            </a:r>
            <a:r>
              <a:rPr sz="2400" b="1" i="1" dirty="0">
                <a:solidFill>
                  <a:srgbClr val="0070C0"/>
                </a:solidFill>
                <a:latin typeface="Arial"/>
                <a:cs typeface="Arial"/>
              </a:rPr>
              <a:t> вопрос: </a:t>
            </a:r>
            <a:r>
              <a:rPr sz="2400" u="heavy" spc="-5" dirty="0" err="1">
                <a:uFill>
                  <a:solidFill>
                    <a:srgbClr val="000000"/>
                  </a:solidFill>
                </a:uFill>
                <a:latin typeface="Arial"/>
                <a:cs typeface="Arial"/>
              </a:rPr>
              <a:t>равны</a:t>
            </a:r>
            <a:r>
              <a:rPr sz="2400" spc="21" dirty="0">
                <a:latin typeface="Arial"/>
                <a:cs typeface="Arial"/>
              </a:rPr>
              <a:t> </a:t>
            </a:r>
            <a:r>
              <a:rPr sz="2400" spc="-5" dirty="0" err="1">
                <a:latin typeface="Arial"/>
                <a:cs typeface="Arial"/>
              </a:rPr>
              <a:t>ли</a:t>
            </a:r>
            <a:r>
              <a:rPr lang="ru-RU" sz="2400" spc="-5" dirty="0">
                <a:latin typeface="Arial"/>
                <a:cs typeface="Arial"/>
              </a:rPr>
              <a:t> </a:t>
            </a:r>
            <a:r>
              <a:rPr sz="2400" b="1" spc="-5" dirty="0" err="1">
                <a:latin typeface="Arial"/>
                <a:cs typeface="Arial"/>
              </a:rPr>
              <a:t>средние</a:t>
            </a:r>
            <a:r>
              <a:rPr sz="2400" b="1" spc="-5" dirty="0">
                <a:latin typeface="Arial"/>
                <a:cs typeface="Arial"/>
              </a:rPr>
              <a:t> </a:t>
            </a:r>
            <a:r>
              <a:rPr sz="2400" spc="-10" dirty="0">
                <a:latin typeface="Arial"/>
                <a:cs typeface="Arial"/>
              </a:rPr>
              <a:t>значения </a:t>
            </a:r>
            <a:r>
              <a:rPr sz="2400" spc="-5" dirty="0">
                <a:latin typeface="Arial"/>
                <a:cs typeface="Arial"/>
              </a:rPr>
              <a:t>между  собой?</a:t>
            </a:r>
            <a:endParaRPr sz="2400" dirty="0">
              <a:latin typeface="Arial"/>
              <a:cs typeface="Arial"/>
            </a:endParaRPr>
          </a:p>
          <a:p>
            <a:pPr marL="665767">
              <a:spcBef>
                <a:spcPts val="1200"/>
              </a:spcBef>
            </a:pPr>
            <a:r>
              <a:rPr sz="2494" i="1" spc="57" dirty="0">
                <a:latin typeface="Times New Roman"/>
                <a:cs typeface="Times New Roman"/>
              </a:rPr>
              <a:t>H </a:t>
            </a:r>
            <a:r>
              <a:rPr sz="2182" spc="31" baseline="-23809" dirty="0">
                <a:latin typeface="Times New Roman"/>
                <a:cs typeface="Times New Roman"/>
              </a:rPr>
              <a:t>0 </a:t>
            </a:r>
            <a:r>
              <a:rPr sz="2494" spc="21" dirty="0">
                <a:latin typeface="Times New Roman"/>
                <a:cs typeface="Times New Roman"/>
              </a:rPr>
              <a:t>: </a:t>
            </a:r>
            <a:r>
              <a:rPr sz="2598" i="1" spc="5" dirty="0">
                <a:latin typeface="Symbol"/>
                <a:cs typeface="Symbol"/>
              </a:rPr>
              <a:t></a:t>
            </a:r>
            <a:r>
              <a:rPr sz="2182" spc="7" baseline="-23809" dirty="0">
                <a:latin typeface="Times New Roman"/>
                <a:cs typeface="Times New Roman"/>
              </a:rPr>
              <a:t>1 </a:t>
            </a:r>
            <a:r>
              <a:rPr sz="2494" spc="42" dirty="0">
                <a:latin typeface="Symbol"/>
                <a:cs typeface="Symbol"/>
              </a:rPr>
              <a:t></a:t>
            </a:r>
            <a:r>
              <a:rPr sz="2494" spc="-140" dirty="0">
                <a:latin typeface="Times New Roman"/>
                <a:cs typeface="Times New Roman"/>
              </a:rPr>
              <a:t> </a:t>
            </a:r>
            <a:r>
              <a:rPr sz="2598" i="1" spc="94" dirty="0">
                <a:latin typeface="Symbol"/>
                <a:cs typeface="Symbol"/>
              </a:rPr>
              <a:t></a:t>
            </a:r>
            <a:r>
              <a:rPr sz="2182" spc="140" baseline="-23809" dirty="0">
                <a:latin typeface="Times New Roman"/>
                <a:cs typeface="Times New Roman"/>
              </a:rPr>
              <a:t>2</a:t>
            </a:r>
            <a:endParaRPr sz="2182" baseline="-23809" dirty="0">
              <a:latin typeface="Times New Roman"/>
              <a:cs typeface="Times New Roman"/>
            </a:endParaRPr>
          </a:p>
          <a:p>
            <a:pPr marL="628157">
              <a:spcBef>
                <a:spcPts val="1689"/>
              </a:spcBef>
            </a:pPr>
            <a:r>
              <a:rPr sz="2494" i="1" spc="125" dirty="0">
                <a:latin typeface="Times New Roman"/>
                <a:cs typeface="Times New Roman"/>
              </a:rPr>
              <a:t>H</a:t>
            </a:r>
            <a:r>
              <a:rPr sz="2182" spc="186" baseline="-25793" dirty="0">
                <a:latin typeface="Times New Roman"/>
                <a:cs typeface="Times New Roman"/>
              </a:rPr>
              <a:t>1 </a:t>
            </a:r>
            <a:r>
              <a:rPr sz="2494" spc="47" dirty="0">
                <a:latin typeface="Times New Roman"/>
                <a:cs typeface="Times New Roman"/>
              </a:rPr>
              <a:t>: </a:t>
            </a:r>
            <a:r>
              <a:rPr sz="2650" i="1" dirty="0">
                <a:latin typeface="Symbol"/>
                <a:cs typeface="Symbol"/>
              </a:rPr>
              <a:t></a:t>
            </a:r>
            <a:r>
              <a:rPr sz="2182" baseline="-25793" dirty="0">
                <a:latin typeface="Times New Roman"/>
                <a:cs typeface="Times New Roman"/>
              </a:rPr>
              <a:t>1 </a:t>
            </a:r>
            <a:r>
              <a:rPr sz="2494" spc="88" dirty="0">
                <a:latin typeface="Symbol"/>
                <a:cs typeface="Symbol"/>
              </a:rPr>
              <a:t></a:t>
            </a:r>
            <a:r>
              <a:rPr sz="2494" spc="26" dirty="0">
                <a:latin typeface="Times New Roman"/>
                <a:cs typeface="Times New Roman"/>
              </a:rPr>
              <a:t> </a:t>
            </a:r>
            <a:r>
              <a:rPr sz="2650" i="1" spc="88" dirty="0">
                <a:latin typeface="Symbol"/>
                <a:cs typeface="Symbol"/>
              </a:rPr>
              <a:t></a:t>
            </a:r>
            <a:r>
              <a:rPr sz="2182" spc="132" baseline="-25793" dirty="0">
                <a:latin typeface="Times New Roman"/>
                <a:cs typeface="Times New Roman"/>
              </a:rPr>
              <a:t>2</a:t>
            </a:r>
            <a:endParaRPr sz="2182" baseline="-25793" dirty="0">
              <a:latin typeface="Times New Roman"/>
              <a:cs typeface="Times New Roman"/>
            </a:endParaRPr>
          </a:p>
          <a:p>
            <a:pPr marL="501470" indent="-475077">
              <a:spcBef>
                <a:spcPts val="2083"/>
              </a:spcBef>
              <a:buAutoNum type="arabicPeriod"/>
              <a:tabLst>
                <a:tab pos="500810" algn="l"/>
                <a:tab pos="501470" algn="l"/>
              </a:tabLst>
            </a:pPr>
            <a:r>
              <a:rPr sz="2400" u="heavy" spc="-21" dirty="0">
                <a:uFill>
                  <a:solidFill>
                    <a:srgbClr val="000000"/>
                  </a:solidFill>
                </a:uFill>
                <a:latin typeface="Arial"/>
                <a:cs typeface="Arial"/>
              </a:rPr>
              <a:t>Размеры</a:t>
            </a:r>
            <a:r>
              <a:rPr sz="2400" spc="-21" dirty="0">
                <a:latin typeface="Arial"/>
                <a:cs typeface="Arial"/>
              </a:rPr>
              <a:t> </a:t>
            </a:r>
            <a:r>
              <a:rPr sz="2400" spc="-5" dirty="0">
                <a:latin typeface="Arial"/>
                <a:cs typeface="Arial"/>
              </a:rPr>
              <a:t>выборок </a:t>
            </a:r>
            <a:r>
              <a:rPr sz="2400" dirty="0">
                <a:latin typeface="Arial"/>
                <a:cs typeface="Arial"/>
              </a:rPr>
              <a:t>могут</a:t>
            </a:r>
            <a:r>
              <a:rPr sz="2400" spc="26" dirty="0">
                <a:latin typeface="Arial"/>
                <a:cs typeface="Arial"/>
              </a:rPr>
              <a:t> </a:t>
            </a:r>
            <a:r>
              <a:rPr sz="2400" u="heavy" spc="-21" dirty="0">
                <a:uFill>
                  <a:solidFill>
                    <a:srgbClr val="000000"/>
                  </a:solidFill>
                </a:uFill>
                <a:latin typeface="Arial"/>
                <a:cs typeface="Arial"/>
              </a:rPr>
              <a:t>отличаться</a:t>
            </a:r>
            <a:endParaRPr sz="2400" dirty="0">
              <a:latin typeface="Arial"/>
              <a:cs typeface="Arial"/>
            </a:endParaRPr>
          </a:p>
          <a:p>
            <a:pPr marL="501470" marR="32991" indent="-475077">
              <a:buAutoNum type="arabicPeriod"/>
              <a:tabLst>
                <a:tab pos="500810" algn="l"/>
                <a:tab pos="501470" algn="l"/>
              </a:tabLst>
            </a:pPr>
            <a:r>
              <a:rPr sz="2400" dirty="0">
                <a:latin typeface="Arial"/>
                <a:cs typeface="Arial"/>
              </a:rPr>
              <a:t>Выборки </a:t>
            </a:r>
            <a:r>
              <a:rPr sz="2400" spc="-16" dirty="0">
                <a:latin typeface="Arial"/>
                <a:cs typeface="Arial"/>
              </a:rPr>
              <a:t>должны </a:t>
            </a:r>
            <a:r>
              <a:rPr sz="2400" spc="-21" dirty="0">
                <a:latin typeface="Arial"/>
                <a:cs typeface="Arial"/>
              </a:rPr>
              <a:t>иметь </a:t>
            </a:r>
            <a:r>
              <a:rPr sz="2400" u="heavy" spc="-5" dirty="0">
                <a:uFill>
                  <a:solidFill>
                    <a:srgbClr val="000000"/>
                  </a:solidFill>
                </a:uFill>
                <a:latin typeface="Arial"/>
                <a:cs typeface="Arial"/>
              </a:rPr>
              <a:t>нормальное </a:t>
            </a:r>
            <a:r>
              <a:rPr sz="2400" u="heavy" spc="-16" dirty="0">
                <a:uFill>
                  <a:solidFill>
                    <a:srgbClr val="000000"/>
                  </a:solidFill>
                </a:uFill>
                <a:latin typeface="Arial"/>
                <a:cs typeface="Arial"/>
              </a:rPr>
              <a:t>распределение</a:t>
            </a:r>
            <a:r>
              <a:rPr sz="2400" spc="-16" dirty="0">
                <a:latin typeface="Arial"/>
                <a:cs typeface="Arial"/>
              </a:rPr>
              <a:t>, </a:t>
            </a:r>
            <a:r>
              <a:rPr sz="2400" dirty="0">
                <a:latin typeface="Arial"/>
                <a:cs typeface="Arial"/>
              </a:rPr>
              <a:t>и </a:t>
            </a:r>
            <a:r>
              <a:rPr sz="2400" dirty="0" err="1">
                <a:latin typeface="Arial"/>
                <a:cs typeface="Arial"/>
              </a:rPr>
              <a:t>их</a:t>
            </a:r>
            <a:r>
              <a:rPr lang="ru-RU" sz="2400" dirty="0">
                <a:latin typeface="Arial"/>
                <a:cs typeface="Arial"/>
              </a:rPr>
              <a:t> </a:t>
            </a:r>
            <a:r>
              <a:rPr sz="2400" u="heavy" spc="-5" dirty="0" err="1">
                <a:uFill>
                  <a:solidFill>
                    <a:srgbClr val="000000"/>
                  </a:solidFill>
                </a:uFill>
                <a:latin typeface="Arial"/>
                <a:cs typeface="Arial"/>
              </a:rPr>
              <a:t>дисперсии</a:t>
            </a:r>
            <a:r>
              <a:rPr lang="ru-RU" sz="2400" u="heavy" spc="-5" dirty="0">
                <a:uFill>
                  <a:solidFill>
                    <a:srgbClr val="000000"/>
                  </a:solidFill>
                </a:uFill>
                <a:latin typeface="Arial"/>
                <a:cs typeface="Arial"/>
              </a:rPr>
              <a:t> </a:t>
            </a:r>
            <a:r>
              <a:rPr sz="2400" spc="-16" dirty="0" err="1">
                <a:latin typeface="Arial"/>
                <a:cs typeface="Arial"/>
              </a:rPr>
              <a:t>должны</a:t>
            </a:r>
            <a:r>
              <a:rPr sz="2400" spc="-16" dirty="0">
                <a:latin typeface="Arial"/>
                <a:cs typeface="Arial"/>
              </a:rPr>
              <a:t> </a:t>
            </a:r>
            <a:r>
              <a:rPr sz="2400" dirty="0">
                <a:latin typeface="Arial"/>
                <a:cs typeface="Arial"/>
              </a:rPr>
              <a:t>быть</a:t>
            </a:r>
            <a:r>
              <a:rPr sz="2400" spc="-5" dirty="0">
                <a:latin typeface="Arial"/>
                <a:cs typeface="Arial"/>
              </a:rPr>
              <a:t> </a:t>
            </a:r>
            <a:r>
              <a:rPr sz="2400" u="heavy" spc="-5" dirty="0">
                <a:uFill>
                  <a:solidFill>
                    <a:srgbClr val="000000"/>
                  </a:solidFill>
                </a:uFill>
                <a:latin typeface="Arial"/>
                <a:cs typeface="Arial"/>
              </a:rPr>
              <a:t>равны</a:t>
            </a:r>
            <a:r>
              <a:rPr sz="2400" spc="-5" dirty="0">
                <a:latin typeface="Arial"/>
                <a:cs typeface="Arial"/>
              </a:rPr>
              <a:t>.</a:t>
            </a:r>
            <a:endParaRPr sz="2400" dirty="0">
              <a:latin typeface="Arial"/>
              <a:cs typeface="Arial"/>
            </a:endParaRPr>
          </a:p>
          <a:p>
            <a:pPr marL="501470" indent="-475077">
              <a:buAutoNum type="arabicPeriod"/>
              <a:tabLst>
                <a:tab pos="500810" algn="l"/>
                <a:tab pos="501470" algn="l"/>
              </a:tabLst>
            </a:pPr>
            <a:r>
              <a:rPr sz="2400" spc="-5" dirty="0">
                <a:latin typeface="Arial"/>
                <a:cs typeface="Arial"/>
              </a:rPr>
              <a:t>Ограничение на </a:t>
            </a:r>
            <a:r>
              <a:rPr sz="2400" spc="-10" dirty="0">
                <a:latin typeface="Arial"/>
                <a:cs typeface="Arial"/>
              </a:rPr>
              <a:t>размер </a:t>
            </a:r>
            <a:r>
              <a:rPr sz="2400" spc="-5" dirty="0">
                <a:latin typeface="Arial"/>
                <a:cs typeface="Arial"/>
              </a:rPr>
              <a:t>выборки: </a:t>
            </a:r>
            <a:r>
              <a:rPr sz="2400" dirty="0">
                <a:latin typeface="Arial"/>
                <a:cs typeface="Arial"/>
              </a:rPr>
              <a:t>N ≥ </a:t>
            </a:r>
            <a:r>
              <a:rPr sz="2400" spc="-5" dirty="0">
                <a:latin typeface="Arial"/>
                <a:cs typeface="Arial"/>
              </a:rPr>
              <a:t>10 </a:t>
            </a:r>
            <a:r>
              <a:rPr sz="2400" dirty="0">
                <a:latin typeface="Arial"/>
                <a:cs typeface="Arial"/>
              </a:rPr>
              <a:t>в </a:t>
            </a:r>
            <a:r>
              <a:rPr sz="2400" spc="5" dirty="0">
                <a:latin typeface="Arial"/>
                <a:cs typeface="Arial"/>
              </a:rPr>
              <a:t>каждой</a:t>
            </a:r>
            <a:r>
              <a:rPr sz="2400" dirty="0">
                <a:latin typeface="Arial"/>
                <a:cs typeface="Arial"/>
              </a:rPr>
              <a:t> </a:t>
            </a:r>
            <a:r>
              <a:rPr sz="2400" spc="-10" dirty="0">
                <a:latin typeface="Arial"/>
                <a:cs typeface="Arial"/>
              </a:rPr>
              <a:t>группе.</a:t>
            </a:r>
            <a:endParaRPr sz="2400" dirty="0">
              <a:latin typeface="Arial"/>
              <a:cs typeface="Arial"/>
            </a:endParaRPr>
          </a:p>
          <a:p>
            <a:pPr marL="501470" indent="-475077">
              <a:buAutoNum type="arabicPeriod"/>
              <a:tabLst>
                <a:tab pos="500810" algn="l"/>
                <a:tab pos="501470" algn="l"/>
              </a:tabLst>
            </a:pPr>
            <a:r>
              <a:rPr sz="2400" spc="-5" dirty="0">
                <a:latin typeface="Arial"/>
                <a:cs typeface="Arial"/>
              </a:rPr>
              <a:t>Критерий </a:t>
            </a:r>
            <a:r>
              <a:rPr sz="2400" spc="-26" dirty="0">
                <a:latin typeface="Arial"/>
                <a:cs typeface="Arial"/>
              </a:rPr>
              <a:t>может </a:t>
            </a:r>
            <a:r>
              <a:rPr sz="2400" dirty="0">
                <a:latin typeface="Arial"/>
                <a:cs typeface="Arial"/>
              </a:rPr>
              <a:t>быть </a:t>
            </a:r>
            <a:r>
              <a:rPr sz="2400" spc="-16" dirty="0">
                <a:latin typeface="Arial"/>
                <a:cs typeface="Arial"/>
              </a:rPr>
              <a:t>односторонним </a:t>
            </a:r>
            <a:r>
              <a:rPr sz="2400" dirty="0">
                <a:latin typeface="Arial"/>
                <a:cs typeface="Arial"/>
              </a:rPr>
              <a:t>и</a:t>
            </a:r>
            <a:r>
              <a:rPr sz="2400" spc="16" dirty="0">
                <a:latin typeface="Arial"/>
                <a:cs typeface="Arial"/>
              </a:rPr>
              <a:t> </a:t>
            </a:r>
            <a:r>
              <a:rPr sz="2400" spc="-16" dirty="0">
                <a:latin typeface="Arial"/>
                <a:cs typeface="Arial"/>
              </a:rPr>
              <a:t>двусторонним</a:t>
            </a:r>
            <a:endParaRPr sz="2400" dirty="0">
              <a:latin typeface="Arial"/>
              <a:cs typeface="Arial"/>
            </a:endParaRPr>
          </a:p>
        </p:txBody>
      </p:sp>
      <p:sp>
        <p:nvSpPr>
          <p:cNvPr id="7" name="object 2"/>
          <p:cNvSpPr txBox="1"/>
          <p:nvPr/>
        </p:nvSpPr>
        <p:spPr>
          <a:xfrm>
            <a:off x="3015696" y="326861"/>
            <a:ext cx="6912768" cy="846363"/>
          </a:xfrm>
          <a:prstGeom prst="rect">
            <a:avLst/>
          </a:prstGeom>
        </p:spPr>
        <p:txBody>
          <a:bodyPr wrap="square">
            <a:noAutofit/>
          </a:bodyPr>
          <a:lstStyle>
            <a:lvl1pPr lvl="0" algn="ctr" defTabSz="993775">
              <a:defRPr sz="3949">
                <a:solidFill>
                  <a:schemeClr val="tx2"/>
                </a:solidFill>
                <a:latin typeface="+mj-lt"/>
                <a:ea typeface="+mj-ea"/>
                <a:cs typeface="+mj-cs"/>
              </a:defRPr>
            </a:lvl1pPr>
            <a:lvl2pPr algn="ctr" defTabSz="993775">
              <a:defRPr sz="4800">
                <a:solidFill>
                  <a:schemeClr val="tx2"/>
                </a:solidFill>
              </a:defRPr>
            </a:lvl2pPr>
            <a:lvl3pPr algn="ctr" defTabSz="993775">
              <a:defRPr sz="4800">
                <a:solidFill>
                  <a:schemeClr val="tx2"/>
                </a:solidFill>
              </a:defRPr>
            </a:lvl3pPr>
            <a:lvl4pPr algn="ctr" defTabSz="993775">
              <a:defRPr sz="4800">
                <a:solidFill>
                  <a:schemeClr val="tx2"/>
                </a:solidFill>
              </a:defRPr>
            </a:lvl4pPr>
            <a:lvl5pPr algn="ctr" defTabSz="993775">
              <a:defRPr sz="4800">
                <a:solidFill>
                  <a:schemeClr val="tx2"/>
                </a:solidFill>
              </a:defRPr>
            </a:lvl5pPr>
            <a:lvl6pPr marL="457200" algn="ctr" defTabSz="993775" fontAlgn="base">
              <a:spcBef>
                <a:spcPct val="0"/>
              </a:spcBef>
              <a:spcAft>
                <a:spcPct val="0"/>
              </a:spcAft>
              <a:defRPr sz="4800">
                <a:solidFill>
                  <a:schemeClr val="tx2"/>
                </a:solidFill>
              </a:defRPr>
            </a:lvl6pPr>
            <a:lvl7pPr marL="914400" algn="ctr" defTabSz="993775" fontAlgn="base">
              <a:spcBef>
                <a:spcPct val="0"/>
              </a:spcBef>
              <a:spcAft>
                <a:spcPct val="0"/>
              </a:spcAft>
              <a:defRPr sz="4800">
                <a:solidFill>
                  <a:schemeClr val="tx2"/>
                </a:solidFill>
              </a:defRPr>
            </a:lvl7pPr>
            <a:lvl8pPr marL="1371600" algn="ctr" defTabSz="993775" fontAlgn="base">
              <a:spcBef>
                <a:spcPct val="0"/>
              </a:spcBef>
              <a:spcAft>
                <a:spcPct val="0"/>
              </a:spcAft>
              <a:defRPr sz="4800">
                <a:solidFill>
                  <a:schemeClr val="tx2"/>
                </a:solidFill>
              </a:defRPr>
            </a:lvl8pPr>
            <a:lvl9pPr marL="1828800" algn="ctr" defTabSz="993775" fontAlgn="base">
              <a:spcBef>
                <a:spcPct val="0"/>
              </a:spcBef>
              <a:spcAft>
                <a:spcPct val="0"/>
              </a:spcAft>
              <a:defRPr sz="4800">
                <a:solidFill>
                  <a:schemeClr val="tx2"/>
                </a:solidFill>
              </a:defRPr>
            </a:lvl9pPr>
          </a:lstStyle>
          <a:p>
            <a:r>
              <a:rPr dirty="0" err="1"/>
              <a:t>Двухвыборочные</a:t>
            </a:r>
            <a:r>
              <a:rPr dirty="0"/>
              <a:t> </a:t>
            </a:r>
            <a:r>
              <a:rPr dirty="0" err="1"/>
              <a:t>критерии</a:t>
            </a:r>
            <a:endParaRPr dirty="0"/>
          </a:p>
        </p:txBody>
      </p:sp>
      <p:sp>
        <p:nvSpPr>
          <p:cNvPr id="8" name="Номер слайда 7"/>
          <p:cNvSpPr>
            <a:spLocks noGrp="1"/>
          </p:cNvSpPr>
          <p:nvPr>
            <p:ph type="sldNum" sz="quarter" idx="7"/>
          </p:nvPr>
        </p:nvSpPr>
        <p:spPr/>
        <p:txBody>
          <a:bodyPr/>
          <a:lstStyle/>
          <a:p>
            <a:fld id="{B6F15528-21DE-4FAA-801E-634DDDAF4B2B}" type="slidenum">
              <a:rPr lang="ru-RU" sz="1400">
                <a:solidFill>
                  <a:schemeClr val="tx1"/>
                </a:solidFill>
              </a:rPr>
              <a:t>113</a:t>
            </a:fld>
            <a:endParaRPr lang="ru-RU" dirty="0">
              <a:solidFill>
                <a:schemeClr val="tx1"/>
              </a:solidFill>
            </a:endParaRPr>
          </a:p>
        </p:txBody>
      </p:sp>
      <p:sp>
        <p:nvSpPr>
          <p:cNvPr id="9" name="Прямоугольник 8"/>
          <p:cNvSpPr/>
          <p:nvPr/>
        </p:nvSpPr>
        <p:spPr>
          <a:xfrm>
            <a:off x="1581597" y="4536496"/>
            <a:ext cx="10657184" cy="1943721"/>
          </a:xfrm>
          <a:prstGeom prst="rect">
            <a:avLst/>
          </a:pr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Tree>
    <p:extLst>
      <p:ext uri="{BB962C8B-B14F-4D97-AF65-F5344CB8AC3E}">
        <p14:creationId xmlns:p14="http://schemas.microsoft.com/office/powerpoint/2010/main" val="489215130"/>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4"/>
          <p:cNvSpPr>
            <a:spLocks noChangeArrowheads="1"/>
          </p:cNvSpPr>
          <p:nvPr/>
        </p:nvSpPr>
        <p:spPr bwMode="auto">
          <a:xfrm>
            <a:off x="1438275" y="322263"/>
            <a:ext cx="10944521" cy="6553200"/>
          </a:xfrm>
          <a:prstGeom prst="roundRect">
            <a:avLst>
              <a:gd name="adj" fmla="val 16667"/>
            </a:avLst>
          </a:prstGeom>
          <a:solidFill>
            <a:schemeClr val="bg1">
              <a:alpha val="50195"/>
            </a:scheme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5" name="AutoShape 5"/>
          <p:cNvSpPr>
            <a:spLocks noChangeArrowheads="1"/>
          </p:cNvSpPr>
          <p:nvPr/>
        </p:nvSpPr>
        <p:spPr bwMode="auto">
          <a:xfrm>
            <a:off x="2373685" y="322263"/>
            <a:ext cx="8064128" cy="850960"/>
          </a:xfrm>
          <a:prstGeom prst="roundRect">
            <a:avLst>
              <a:gd name="adj" fmla="val 37469"/>
            </a:avLst>
          </a:prstGeom>
          <a:solidFill>
            <a:srgbClr val="FFFFFF">
              <a:alpha val="78822"/>
            </a:srgb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2" name="object 2"/>
          <p:cNvSpPr txBox="1"/>
          <p:nvPr/>
        </p:nvSpPr>
        <p:spPr>
          <a:xfrm>
            <a:off x="2589901" y="3378962"/>
            <a:ext cx="8784784" cy="1422945"/>
          </a:xfrm>
          <a:prstGeom prst="rect">
            <a:avLst/>
          </a:prstGeom>
          <a:ln w="9525">
            <a:solidFill>
              <a:srgbClr val="FF6600"/>
            </a:solidFill>
          </a:ln>
        </p:spPr>
        <p:txBody>
          <a:bodyPr vert="horz" wrap="square" lIns="0" tIns="40250" rIns="0" bIns="0" rtlCol="0">
            <a:spAutoFit/>
          </a:bodyPr>
          <a:lstStyle/>
          <a:p>
            <a:pPr marL="570092" marR="213124" indent="-475077">
              <a:spcBef>
                <a:spcPts val="317"/>
              </a:spcBef>
              <a:buAutoNum type="arabicPeriod"/>
              <a:tabLst>
                <a:tab pos="570092" algn="l"/>
                <a:tab pos="570752" algn="l"/>
              </a:tabLst>
            </a:pPr>
            <a:r>
              <a:rPr sz="2494" spc="-10" dirty="0">
                <a:latin typeface="Arial"/>
                <a:cs typeface="Arial"/>
              </a:rPr>
              <a:t>Непосредственно </a:t>
            </a:r>
            <a:r>
              <a:rPr sz="2494" spc="-31" dirty="0">
                <a:latin typeface="Arial"/>
                <a:cs typeface="Arial"/>
              </a:rPr>
              <a:t>от </a:t>
            </a:r>
            <a:r>
              <a:rPr sz="2494" u="sng" spc="-10" dirty="0">
                <a:uFill>
                  <a:solidFill>
                    <a:srgbClr val="000000"/>
                  </a:solidFill>
                </a:uFill>
                <a:latin typeface="Arial"/>
                <a:cs typeface="Arial"/>
              </a:rPr>
              <a:t>различий</a:t>
            </a:r>
            <a:r>
              <a:rPr sz="2494" u="sng" spc="-10" dirty="0">
                <a:latin typeface="Arial"/>
                <a:cs typeface="Arial"/>
              </a:rPr>
              <a:t> </a:t>
            </a:r>
            <a:r>
              <a:rPr sz="2494" u="sng" dirty="0">
                <a:latin typeface="Arial"/>
                <a:cs typeface="Arial"/>
              </a:rPr>
              <a:t>в </a:t>
            </a:r>
            <a:r>
              <a:rPr lang="ru-RU" sz="2494" u="sng" spc="-16" dirty="0">
                <a:uFill>
                  <a:solidFill>
                    <a:srgbClr val="000000"/>
                  </a:solidFill>
                </a:uFill>
                <a:latin typeface="Arial"/>
                <a:cs typeface="Arial"/>
              </a:rPr>
              <a:t>средних </a:t>
            </a:r>
            <a:r>
              <a:rPr lang="ru-RU" sz="2494" u="sng" spc="-10" dirty="0">
                <a:latin typeface="Arial"/>
                <a:cs typeface="Arial"/>
              </a:rPr>
              <a:t>значениях</a:t>
            </a:r>
            <a:r>
              <a:rPr lang="ru-RU" sz="2494" spc="-10" dirty="0">
                <a:latin typeface="Arial"/>
                <a:cs typeface="Arial"/>
              </a:rPr>
              <a:t>;</a:t>
            </a:r>
            <a:endParaRPr lang="ru-RU" sz="2494" dirty="0">
              <a:latin typeface="Arial"/>
              <a:cs typeface="Arial"/>
            </a:endParaRPr>
          </a:p>
          <a:p>
            <a:pPr marL="570092" indent="-475735">
              <a:spcBef>
                <a:spcPts val="899"/>
              </a:spcBef>
              <a:buAutoNum type="arabicPeriod"/>
              <a:tabLst>
                <a:tab pos="570092" algn="l"/>
                <a:tab pos="570752" algn="l"/>
              </a:tabLst>
            </a:pPr>
            <a:r>
              <a:rPr sz="2494" dirty="0">
                <a:latin typeface="Arial"/>
                <a:cs typeface="Arial"/>
              </a:rPr>
              <a:t>От </a:t>
            </a:r>
            <a:r>
              <a:rPr sz="2494" u="heavy" spc="-5" dirty="0">
                <a:uFill>
                  <a:solidFill>
                    <a:srgbClr val="000000"/>
                  </a:solidFill>
                </a:uFill>
                <a:latin typeface="Arial"/>
                <a:cs typeface="Arial"/>
              </a:rPr>
              <a:t>изменчивости</a:t>
            </a:r>
            <a:r>
              <a:rPr sz="2494" spc="-5" dirty="0">
                <a:latin typeface="Arial"/>
                <a:cs typeface="Arial"/>
              </a:rPr>
              <a:t> </a:t>
            </a:r>
            <a:r>
              <a:rPr sz="2494" dirty="0">
                <a:latin typeface="Arial"/>
                <a:cs typeface="Arial"/>
              </a:rPr>
              <a:t>в </a:t>
            </a:r>
            <a:r>
              <a:rPr sz="2494" spc="-10" dirty="0">
                <a:latin typeface="Arial"/>
                <a:cs typeface="Arial"/>
              </a:rPr>
              <a:t>обеих</a:t>
            </a:r>
            <a:r>
              <a:rPr sz="2494" spc="-73" dirty="0">
                <a:latin typeface="Arial"/>
                <a:cs typeface="Arial"/>
              </a:rPr>
              <a:t> </a:t>
            </a:r>
            <a:r>
              <a:rPr sz="2494" spc="-10" dirty="0">
                <a:latin typeface="Arial"/>
                <a:cs typeface="Arial"/>
              </a:rPr>
              <a:t>группах;</a:t>
            </a:r>
            <a:endParaRPr sz="2494" dirty="0">
              <a:latin typeface="Arial"/>
              <a:cs typeface="Arial"/>
            </a:endParaRPr>
          </a:p>
          <a:p>
            <a:pPr marL="570092" indent="-475735">
              <a:spcBef>
                <a:spcPts val="899"/>
              </a:spcBef>
              <a:buAutoNum type="arabicPeriod"/>
              <a:tabLst>
                <a:tab pos="570092" algn="l"/>
                <a:tab pos="570752" algn="l"/>
              </a:tabLst>
            </a:pPr>
            <a:r>
              <a:rPr sz="2494" dirty="0">
                <a:latin typeface="Arial"/>
                <a:cs typeface="Arial"/>
              </a:rPr>
              <a:t>От </a:t>
            </a:r>
            <a:r>
              <a:rPr sz="2494" u="heavy" spc="-10" dirty="0">
                <a:uFill>
                  <a:solidFill>
                    <a:srgbClr val="000000"/>
                  </a:solidFill>
                </a:uFill>
                <a:latin typeface="Arial"/>
                <a:cs typeface="Arial"/>
              </a:rPr>
              <a:t>размера</a:t>
            </a:r>
            <a:r>
              <a:rPr sz="2494" u="heavy" spc="-16" dirty="0">
                <a:uFill>
                  <a:solidFill>
                    <a:srgbClr val="000000"/>
                  </a:solidFill>
                </a:uFill>
                <a:latin typeface="Arial"/>
                <a:cs typeface="Arial"/>
              </a:rPr>
              <a:t> </a:t>
            </a:r>
            <a:r>
              <a:rPr sz="2494" u="heavy" spc="-5" dirty="0">
                <a:uFill>
                  <a:solidFill>
                    <a:srgbClr val="000000"/>
                  </a:solidFill>
                </a:uFill>
                <a:latin typeface="Arial"/>
                <a:cs typeface="Arial"/>
              </a:rPr>
              <a:t>выборок</a:t>
            </a:r>
            <a:r>
              <a:rPr sz="2494" spc="-5" dirty="0">
                <a:latin typeface="Arial"/>
                <a:cs typeface="Arial"/>
              </a:rPr>
              <a:t>.</a:t>
            </a:r>
            <a:endParaRPr sz="2494" dirty="0">
              <a:latin typeface="Arial"/>
              <a:cs typeface="Arial"/>
            </a:endParaRPr>
          </a:p>
        </p:txBody>
      </p:sp>
      <p:sp>
        <p:nvSpPr>
          <p:cNvPr id="3" name="object 3"/>
          <p:cNvSpPr txBox="1"/>
          <p:nvPr/>
        </p:nvSpPr>
        <p:spPr>
          <a:xfrm>
            <a:off x="2589901" y="1959675"/>
            <a:ext cx="7488448" cy="780972"/>
          </a:xfrm>
          <a:prstGeom prst="rect">
            <a:avLst/>
          </a:prstGeom>
        </p:spPr>
        <p:txBody>
          <a:bodyPr vert="horz" wrap="square" lIns="0" tIns="13197" rIns="0" bIns="0" rtlCol="0">
            <a:spAutoFit/>
          </a:bodyPr>
          <a:lstStyle/>
          <a:p>
            <a:pPr marL="420311">
              <a:spcBef>
                <a:spcPts val="2515"/>
              </a:spcBef>
              <a:tabLst>
                <a:tab pos="1105873" algn="l"/>
              </a:tabLst>
            </a:pPr>
            <a:r>
              <a:rPr sz="2494" i="1" dirty="0" err="1">
                <a:latin typeface="Arial"/>
                <a:cs typeface="Arial"/>
              </a:rPr>
              <a:t>От</a:t>
            </a:r>
            <a:r>
              <a:rPr sz="2494" i="1" dirty="0">
                <a:latin typeface="Arial"/>
                <a:cs typeface="Arial"/>
              </a:rPr>
              <a:t>	</a:t>
            </a:r>
            <a:r>
              <a:rPr sz="2494" i="1" spc="-5" dirty="0">
                <a:latin typeface="Arial"/>
                <a:cs typeface="Arial"/>
              </a:rPr>
              <a:t>чего </a:t>
            </a:r>
            <a:r>
              <a:rPr sz="2494" i="1" spc="-16" dirty="0">
                <a:latin typeface="Arial"/>
                <a:cs typeface="Arial"/>
              </a:rPr>
              <a:t>будет </a:t>
            </a:r>
            <a:r>
              <a:rPr sz="2494" i="1" spc="-10" dirty="0">
                <a:latin typeface="Arial"/>
                <a:cs typeface="Arial"/>
              </a:rPr>
              <a:t>зависеть, </a:t>
            </a:r>
            <a:r>
              <a:rPr sz="2494" i="1" spc="-16" dirty="0">
                <a:latin typeface="Arial"/>
                <a:cs typeface="Arial"/>
              </a:rPr>
              <a:t>отвергнем </a:t>
            </a:r>
            <a:r>
              <a:rPr sz="2494" i="1" dirty="0">
                <a:latin typeface="Arial"/>
                <a:cs typeface="Arial"/>
              </a:rPr>
              <a:t>ли</a:t>
            </a:r>
            <a:r>
              <a:rPr sz="2494" i="1" spc="-42" dirty="0">
                <a:latin typeface="Arial"/>
                <a:cs typeface="Arial"/>
              </a:rPr>
              <a:t> </a:t>
            </a:r>
            <a:r>
              <a:rPr sz="2494" i="1" dirty="0">
                <a:latin typeface="Arial"/>
                <a:cs typeface="Arial"/>
              </a:rPr>
              <a:t>мы</a:t>
            </a:r>
            <a:endParaRPr sz="2494" dirty="0">
              <a:latin typeface="Arial"/>
              <a:cs typeface="Arial"/>
            </a:endParaRPr>
          </a:p>
          <a:p>
            <a:pPr marL="420311"/>
            <a:r>
              <a:rPr sz="2494" i="1" spc="-21" dirty="0">
                <a:latin typeface="Arial"/>
                <a:cs typeface="Arial"/>
              </a:rPr>
              <a:t>гипотезу </a:t>
            </a:r>
            <a:r>
              <a:rPr sz="2494" i="1" spc="-5" dirty="0">
                <a:latin typeface="Arial"/>
                <a:cs typeface="Arial"/>
              </a:rPr>
              <a:t>Н</a:t>
            </a:r>
            <a:r>
              <a:rPr sz="2494" i="1" spc="-7" baseline="-20833" dirty="0">
                <a:latin typeface="Arial"/>
                <a:cs typeface="Arial"/>
              </a:rPr>
              <a:t>0 </a:t>
            </a:r>
            <a:r>
              <a:rPr sz="2494" i="1" spc="-5" dirty="0">
                <a:latin typeface="Arial"/>
                <a:cs typeface="Arial"/>
              </a:rPr>
              <a:t>или</a:t>
            </a:r>
            <a:r>
              <a:rPr sz="2494" i="1" spc="-208" dirty="0">
                <a:latin typeface="Arial"/>
                <a:cs typeface="Arial"/>
              </a:rPr>
              <a:t> </a:t>
            </a:r>
            <a:r>
              <a:rPr sz="2494" i="1" spc="-10" dirty="0">
                <a:latin typeface="Arial"/>
                <a:cs typeface="Arial"/>
              </a:rPr>
              <a:t>нет?</a:t>
            </a:r>
            <a:endParaRPr sz="2494" dirty="0">
              <a:latin typeface="Arial"/>
              <a:cs typeface="Arial"/>
            </a:endParaRPr>
          </a:p>
        </p:txBody>
      </p:sp>
      <p:sp>
        <p:nvSpPr>
          <p:cNvPr id="7" name="object 2"/>
          <p:cNvSpPr txBox="1"/>
          <p:nvPr/>
        </p:nvSpPr>
        <p:spPr>
          <a:xfrm>
            <a:off x="2949365" y="300252"/>
            <a:ext cx="6912768" cy="846363"/>
          </a:xfrm>
          <a:prstGeom prst="rect">
            <a:avLst/>
          </a:prstGeom>
        </p:spPr>
        <p:txBody>
          <a:bodyPr wrap="square">
            <a:noAutofit/>
          </a:bodyPr>
          <a:lstStyle>
            <a:lvl1pPr lvl="0" algn="ctr" defTabSz="993775">
              <a:defRPr sz="3949">
                <a:solidFill>
                  <a:schemeClr val="tx2"/>
                </a:solidFill>
                <a:latin typeface="+mj-lt"/>
                <a:ea typeface="+mj-ea"/>
                <a:cs typeface="+mj-cs"/>
              </a:defRPr>
            </a:lvl1pPr>
            <a:lvl2pPr algn="ctr" defTabSz="993775">
              <a:defRPr sz="4800">
                <a:solidFill>
                  <a:schemeClr val="tx2"/>
                </a:solidFill>
              </a:defRPr>
            </a:lvl2pPr>
            <a:lvl3pPr algn="ctr" defTabSz="993775">
              <a:defRPr sz="4800">
                <a:solidFill>
                  <a:schemeClr val="tx2"/>
                </a:solidFill>
              </a:defRPr>
            </a:lvl3pPr>
            <a:lvl4pPr algn="ctr" defTabSz="993775">
              <a:defRPr sz="4800">
                <a:solidFill>
                  <a:schemeClr val="tx2"/>
                </a:solidFill>
              </a:defRPr>
            </a:lvl4pPr>
            <a:lvl5pPr algn="ctr" defTabSz="993775">
              <a:defRPr sz="4800">
                <a:solidFill>
                  <a:schemeClr val="tx2"/>
                </a:solidFill>
              </a:defRPr>
            </a:lvl5pPr>
            <a:lvl6pPr marL="457200" algn="ctr" defTabSz="993775" fontAlgn="base">
              <a:spcBef>
                <a:spcPct val="0"/>
              </a:spcBef>
              <a:spcAft>
                <a:spcPct val="0"/>
              </a:spcAft>
              <a:defRPr sz="4800">
                <a:solidFill>
                  <a:schemeClr val="tx2"/>
                </a:solidFill>
              </a:defRPr>
            </a:lvl6pPr>
            <a:lvl7pPr marL="914400" algn="ctr" defTabSz="993775" fontAlgn="base">
              <a:spcBef>
                <a:spcPct val="0"/>
              </a:spcBef>
              <a:spcAft>
                <a:spcPct val="0"/>
              </a:spcAft>
              <a:defRPr sz="4800">
                <a:solidFill>
                  <a:schemeClr val="tx2"/>
                </a:solidFill>
              </a:defRPr>
            </a:lvl7pPr>
            <a:lvl8pPr marL="1371600" algn="ctr" defTabSz="993775" fontAlgn="base">
              <a:spcBef>
                <a:spcPct val="0"/>
              </a:spcBef>
              <a:spcAft>
                <a:spcPct val="0"/>
              </a:spcAft>
              <a:defRPr sz="4800">
                <a:solidFill>
                  <a:schemeClr val="tx2"/>
                </a:solidFill>
              </a:defRPr>
            </a:lvl8pPr>
            <a:lvl9pPr marL="1828800" algn="ctr" defTabSz="993775" fontAlgn="base">
              <a:spcBef>
                <a:spcPct val="0"/>
              </a:spcBef>
              <a:spcAft>
                <a:spcPct val="0"/>
              </a:spcAft>
              <a:defRPr sz="4800">
                <a:solidFill>
                  <a:schemeClr val="tx2"/>
                </a:solidFill>
              </a:defRPr>
            </a:lvl9pPr>
          </a:lstStyle>
          <a:p>
            <a:r>
              <a:rPr dirty="0" err="1"/>
              <a:t>Двухвыборочные</a:t>
            </a:r>
            <a:r>
              <a:rPr dirty="0"/>
              <a:t> </a:t>
            </a:r>
            <a:r>
              <a:rPr dirty="0" err="1"/>
              <a:t>критерии</a:t>
            </a:r>
            <a:endParaRPr dirty="0"/>
          </a:p>
        </p:txBody>
      </p:sp>
      <p:sp>
        <p:nvSpPr>
          <p:cNvPr id="8" name="Номер слайда 7"/>
          <p:cNvSpPr>
            <a:spLocks noGrp="1"/>
          </p:cNvSpPr>
          <p:nvPr>
            <p:ph type="sldNum" sz="quarter" idx="7"/>
          </p:nvPr>
        </p:nvSpPr>
        <p:spPr>
          <a:xfrm>
            <a:off x="11446693" y="6551189"/>
            <a:ext cx="791518" cy="324274"/>
          </a:xfrm>
        </p:spPr>
        <p:txBody>
          <a:bodyPr/>
          <a:lstStyle/>
          <a:p>
            <a:fld id="{B6F15528-21DE-4FAA-801E-634DDDAF4B2B}" type="slidenum">
              <a:rPr lang="ru-RU" smtClean="0">
                <a:solidFill>
                  <a:schemeClr val="tx1"/>
                </a:solidFill>
              </a:rPr>
              <a:t>114</a:t>
            </a:fld>
            <a:endParaRPr lang="ru-RU" dirty="0">
              <a:solidFill>
                <a:schemeClr val="tx1"/>
              </a:solidFill>
            </a:endParaRPr>
          </a:p>
        </p:txBody>
      </p:sp>
    </p:spTree>
    <p:extLst>
      <p:ext uri="{BB962C8B-B14F-4D97-AF65-F5344CB8AC3E}">
        <p14:creationId xmlns:p14="http://schemas.microsoft.com/office/powerpoint/2010/main" val="4187479513"/>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AutoShape 4"/>
          <p:cNvSpPr>
            <a:spLocks noChangeArrowheads="1"/>
          </p:cNvSpPr>
          <p:nvPr/>
        </p:nvSpPr>
        <p:spPr bwMode="auto">
          <a:xfrm>
            <a:off x="1438275" y="322263"/>
            <a:ext cx="10872513" cy="6553200"/>
          </a:xfrm>
          <a:prstGeom prst="roundRect">
            <a:avLst>
              <a:gd name="adj" fmla="val 16667"/>
            </a:avLst>
          </a:prstGeom>
          <a:solidFill>
            <a:schemeClr val="bg1">
              <a:alpha val="50195"/>
            </a:scheme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7" name="AutoShape 5"/>
          <p:cNvSpPr>
            <a:spLocks noChangeArrowheads="1"/>
          </p:cNvSpPr>
          <p:nvPr/>
        </p:nvSpPr>
        <p:spPr bwMode="auto">
          <a:xfrm>
            <a:off x="2373685" y="322263"/>
            <a:ext cx="8064128" cy="850960"/>
          </a:xfrm>
          <a:prstGeom prst="roundRect">
            <a:avLst>
              <a:gd name="adj" fmla="val 37469"/>
            </a:avLst>
          </a:prstGeom>
          <a:solidFill>
            <a:srgbClr val="FFFFFF">
              <a:alpha val="78822"/>
            </a:srgb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2" name="object 2"/>
          <p:cNvSpPr txBox="1"/>
          <p:nvPr/>
        </p:nvSpPr>
        <p:spPr>
          <a:xfrm>
            <a:off x="1438275" y="1415862"/>
            <a:ext cx="9720385" cy="3135399"/>
          </a:xfrm>
          <a:prstGeom prst="rect">
            <a:avLst/>
          </a:prstGeom>
        </p:spPr>
        <p:txBody>
          <a:bodyPr vert="horz" wrap="square" lIns="0" tIns="13197" rIns="0" bIns="0" rtlCol="0">
            <a:spAutoFit/>
          </a:bodyPr>
          <a:lstStyle/>
          <a:p>
            <a:pPr marL="13197" marR="114150">
              <a:spcBef>
                <a:spcPts val="104"/>
              </a:spcBef>
            </a:pPr>
            <a:r>
              <a:rPr sz="2494" spc="-5" dirty="0">
                <a:latin typeface="Arial"/>
                <a:cs typeface="Arial"/>
              </a:rPr>
              <a:t>Критерий </a:t>
            </a:r>
            <a:r>
              <a:rPr sz="2494" spc="-16" dirty="0">
                <a:latin typeface="Arial"/>
                <a:cs typeface="Arial"/>
              </a:rPr>
              <a:t>Стъюдента </a:t>
            </a:r>
            <a:r>
              <a:rPr sz="2494" dirty="0" err="1">
                <a:latin typeface="Arial"/>
                <a:cs typeface="Arial"/>
              </a:rPr>
              <a:t>для</a:t>
            </a:r>
            <a:r>
              <a:rPr sz="2494" dirty="0">
                <a:latin typeface="Arial"/>
                <a:cs typeface="Arial"/>
              </a:rPr>
              <a:t> </a:t>
            </a:r>
            <a:r>
              <a:rPr sz="2494" b="1" spc="-16" dirty="0" err="1">
                <a:latin typeface="Arial"/>
                <a:cs typeface="Arial"/>
              </a:rPr>
              <a:t>связанных</a:t>
            </a:r>
            <a:r>
              <a:rPr lang="ru-RU" sz="2494" b="1" spc="-16" dirty="0">
                <a:latin typeface="Arial"/>
                <a:cs typeface="Arial"/>
              </a:rPr>
              <a:t> (парных)</a:t>
            </a:r>
            <a:r>
              <a:rPr sz="2494" b="1" spc="-16" dirty="0">
                <a:latin typeface="Arial"/>
                <a:cs typeface="Arial"/>
              </a:rPr>
              <a:t> </a:t>
            </a:r>
            <a:r>
              <a:rPr sz="2494" spc="-5" dirty="0">
                <a:latin typeface="Arial"/>
                <a:cs typeface="Arial"/>
              </a:rPr>
              <a:t>выборок </a:t>
            </a:r>
            <a:r>
              <a:rPr sz="2494" i="1" dirty="0">
                <a:latin typeface="Arial"/>
                <a:cs typeface="Arial"/>
              </a:rPr>
              <a:t>(t-test </a:t>
            </a:r>
            <a:r>
              <a:rPr sz="2494" i="1" spc="-5" dirty="0">
                <a:latin typeface="Arial"/>
                <a:cs typeface="Arial"/>
              </a:rPr>
              <a:t>for  dependent</a:t>
            </a:r>
            <a:r>
              <a:rPr sz="2494" i="1" spc="21" dirty="0">
                <a:latin typeface="Arial"/>
                <a:cs typeface="Arial"/>
              </a:rPr>
              <a:t> </a:t>
            </a:r>
            <a:r>
              <a:rPr sz="2494" i="1" spc="-10" dirty="0">
                <a:latin typeface="Arial"/>
                <a:cs typeface="Arial"/>
              </a:rPr>
              <a:t>samples)</a:t>
            </a:r>
            <a:endParaRPr sz="2494" dirty="0">
              <a:latin typeface="Arial"/>
              <a:cs typeface="Arial"/>
            </a:endParaRPr>
          </a:p>
          <a:p>
            <a:pPr marL="13197" marR="5279">
              <a:spcBef>
                <a:spcPts val="998"/>
              </a:spcBef>
            </a:pPr>
            <a:r>
              <a:rPr sz="2494" dirty="0">
                <a:latin typeface="Arial"/>
                <a:cs typeface="Arial"/>
              </a:rPr>
              <a:t>К тиграм-самцам </a:t>
            </a:r>
            <a:r>
              <a:rPr sz="2494" spc="-5" dirty="0">
                <a:latin typeface="Arial"/>
                <a:cs typeface="Arial"/>
              </a:rPr>
              <a:t>пришёл новый </a:t>
            </a:r>
            <a:r>
              <a:rPr sz="2494" spc="-10" dirty="0">
                <a:latin typeface="Arial"/>
                <a:cs typeface="Arial"/>
              </a:rPr>
              <a:t>служитель, </a:t>
            </a:r>
            <a:r>
              <a:rPr sz="2494" dirty="0">
                <a:latin typeface="Arial"/>
                <a:cs typeface="Arial"/>
              </a:rPr>
              <a:t>и </a:t>
            </a:r>
            <a:r>
              <a:rPr sz="2494" spc="-16" dirty="0">
                <a:latin typeface="Arial"/>
                <a:cs typeface="Arial"/>
              </a:rPr>
              <a:t>возможно,  </a:t>
            </a:r>
            <a:r>
              <a:rPr sz="2494" spc="-5" dirty="0">
                <a:latin typeface="Arial"/>
                <a:cs typeface="Arial"/>
              </a:rPr>
              <a:t>они стали </a:t>
            </a:r>
            <a:r>
              <a:rPr sz="2494" spc="-10" dirty="0">
                <a:latin typeface="Arial"/>
                <a:cs typeface="Arial"/>
              </a:rPr>
              <a:t>по-другому питаться. </a:t>
            </a:r>
            <a:r>
              <a:rPr sz="2494" dirty="0">
                <a:latin typeface="Arial"/>
                <a:cs typeface="Arial"/>
              </a:rPr>
              <a:t>Мы </a:t>
            </a:r>
            <a:r>
              <a:rPr sz="2494" spc="-21" dirty="0">
                <a:latin typeface="Arial"/>
                <a:cs typeface="Arial"/>
              </a:rPr>
              <a:t>хотим </a:t>
            </a:r>
            <a:r>
              <a:rPr sz="2494" spc="-10" dirty="0">
                <a:latin typeface="Arial"/>
                <a:cs typeface="Arial"/>
              </a:rPr>
              <a:t>узнать, не  </a:t>
            </a:r>
            <a:r>
              <a:rPr sz="2494" dirty="0">
                <a:latin typeface="Arial"/>
                <a:cs typeface="Arial"/>
              </a:rPr>
              <a:t>изменилась </a:t>
            </a:r>
            <a:r>
              <a:rPr sz="2494" spc="-5" dirty="0">
                <a:latin typeface="Arial"/>
                <a:cs typeface="Arial"/>
              </a:rPr>
              <a:t>ли </a:t>
            </a:r>
            <a:r>
              <a:rPr sz="2494" dirty="0">
                <a:latin typeface="Arial"/>
                <a:cs typeface="Arial"/>
              </a:rPr>
              <a:t>их</a:t>
            </a:r>
            <a:r>
              <a:rPr sz="2494" spc="-42" dirty="0">
                <a:latin typeface="Arial"/>
                <a:cs typeface="Arial"/>
              </a:rPr>
              <a:t> </a:t>
            </a:r>
            <a:r>
              <a:rPr sz="2494" spc="-5" dirty="0">
                <a:latin typeface="Arial"/>
                <a:cs typeface="Arial"/>
              </a:rPr>
              <a:t>масса.</a:t>
            </a:r>
            <a:endParaRPr sz="2494" dirty="0">
              <a:latin typeface="Arial"/>
              <a:cs typeface="Arial"/>
            </a:endParaRPr>
          </a:p>
          <a:p>
            <a:pPr marL="13197" marR="1688501">
              <a:spcBef>
                <a:spcPts val="851"/>
              </a:spcBef>
            </a:pPr>
            <a:r>
              <a:rPr sz="2078" dirty="0">
                <a:latin typeface="Arial"/>
                <a:cs typeface="Arial"/>
              </a:rPr>
              <a:t>Мы </a:t>
            </a:r>
            <a:r>
              <a:rPr sz="2078" spc="-10" dirty="0">
                <a:latin typeface="Arial"/>
                <a:cs typeface="Arial"/>
              </a:rPr>
              <a:t>анализируем влияние </a:t>
            </a:r>
            <a:r>
              <a:rPr sz="2078" u="heavy" spc="-10" dirty="0">
                <a:uFill>
                  <a:solidFill>
                    <a:srgbClr val="000000"/>
                  </a:solidFill>
                </a:uFill>
                <a:latin typeface="Arial"/>
                <a:cs typeface="Arial"/>
              </a:rPr>
              <a:t>служителя</a:t>
            </a:r>
            <a:r>
              <a:rPr sz="2078" spc="-10" dirty="0">
                <a:latin typeface="Arial"/>
                <a:cs typeface="Arial"/>
              </a:rPr>
              <a:t> </a:t>
            </a:r>
            <a:r>
              <a:rPr sz="2078" spc="-5" dirty="0">
                <a:latin typeface="Arial"/>
                <a:cs typeface="Arial"/>
              </a:rPr>
              <a:t>на </a:t>
            </a:r>
            <a:r>
              <a:rPr sz="2078" u="heavy" dirty="0">
                <a:uFill>
                  <a:solidFill>
                    <a:srgbClr val="000000"/>
                  </a:solidFill>
                </a:uFill>
                <a:latin typeface="Arial"/>
                <a:cs typeface="Arial"/>
              </a:rPr>
              <a:t>массу</a:t>
            </a:r>
            <a:r>
              <a:rPr sz="2078" u="heavy" spc="-109" dirty="0">
                <a:uFill>
                  <a:solidFill>
                    <a:srgbClr val="000000"/>
                  </a:solidFill>
                </a:uFill>
                <a:latin typeface="Arial"/>
                <a:cs typeface="Arial"/>
              </a:rPr>
              <a:t> </a:t>
            </a:r>
            <a:r>
              <a:rPr sz="2078" u="heavy" dirty="0">
                <a:uFill>
                  <a:solidFill>
                    <a:srgbClr val="000000"/>
                  </a:solidFill>
                </a:uFill>
                <a:latin typeface="Arial"/>
                <a:cs typeface="Arial"/>
              </a:rPr>
              <a:t>тигров- </a:t>
            </a:r>
            <a:r>
              <a:rPr sz="2078" dirty="0">
                <a:latin typeface="Arial"/>
                <a:cs typeface="Arial"/>
              </a:rPr>
              <a:t> </a:t>
            </a:r>
            <a:r>
              <a:rPr sz="2078" u="heavy" dirty="0">
                <a:uFill>
                  <a:solidFill>
                    <a:srgbClr val="000000"/>
                  </a:solidFill>
                </a:uFill>
                <a:latin typeface="Arial"/>
                <a:cs typeface="Arial"/>
              </a:rPr>
              <a:t>самцов</a:t>
            </a:r>
            <a:r>
              <a:rPr sz="2078" dirty="0">
                <a:latin typeface="Arial"/>
                <a:cs typeface="Arial"/>
              </a:rPr>
              <a:t>.</a:t>
            </a:r>
          </a:p>
          <a:p>
            <a:pPr marL="13197"/>
            <a:r>
              <a:rPr sz="2078" i="1" spc="-5" dirty="0">
                <a:latin typeface="Arial"/>
                <a:cs typeface="Arial"/>
              </a:rPr>
              <a:t>Зависимая переменная </a:t>
            </a:r>
            <a:r>
              <a:rPr sz="2078" dirty="0">
                <a:latin typeface="Arial"/>
                <a:cs typeface="Arial"/>
              </a:rPr>
              <a:t>–</a:t>
            </a:r>
            <a:r>
              <a:rPr sz="2078" spc="-62" dirty="0">
                <a:latin typeface="Arial"/>
                <a:cs typeface="Arial"/>
              </a:rPr>
              <a:t> </a:t>
            </a:r>
            <a:r>
              <a:rPr sz="2078" dirty="0">
                <a:latin typeface="Arial"/>
                <a:cs typeface="Arial"/>
              </a:rPr>
              <a:t>масса.</a:t>
            </a:r>
          </a:p>
          <a:p>
            <a:pPr marL="13197"/>
            <a:r>
              <a:rPr sz="2078" i="1" spc="-5" dirty="0">
                <a:latin typeface="Arial"/>
                <a:cs typeface="Arial"/>
              </a:rPr>
              <a:t>Независимая </a:t>
            </a:r>
            <a:r>
              <a:rPr sz="2078" dirty="0">
                <a:latin typeface="Arial"/>
                <a:cs typeface="Arial"/>
              </a:rPr>
              <a:t>– </a:t>
            </a:r>
            <a:r>
              <a:rPr sz="2078" spc="-5" dirty="0">
                <a:latin typeface="Arial"/>
                <a:cs typeface="Arial"/>
              </a:rPr>
              <a:t>группы: 1. до </a:t>
            </a:r>
            <a:r>
              <a:rPr sz="2078" spc="-16" dirty="0">
                <a:latin typeface="Arial"/>
                <a:cs typeface="Arial"/>
              </a:rPr>
              <a:t>нового </a:t>
            </a:r>
            <a:r>
              <a:rPr sz="2078" spc="-10" dirty="0">
                <a:latin typeface="Arial"/>
                <a:cs typeface="Arial"/>
              </a:rPr>
              <a:t>служителя; </a:t>
            </a:r>
            <a:r>
              <a:rPr sz="2078" spc="-5" dirty="0">
                <a:latin typeface="Arial"/>
                <a:cs typeface="Arial"/>
              </a:rPr>
              <a:t>2.</a:t>
            </a:r>
            <a:r>
              <a:rPr sz="2078" spc="-114" dirty="0">
                <a:latin typeface="Arial"/>
                <a:cs typeface="Arial"/>
              </a:rPr>
              <a:t> </a:t>
            </a:r>
            <a:r>
              <a:rPr sz="2078" spc="-5" dirty="0">
                <a:latin typeface="Arial"/>
                <a:cs typeface="Arial"/>
              </a:rPr>
              <a:t>после)</a:t>
            </a:r>
            <a:endParaRPr sz="2078" dirty="0">
              <a:latin typeface="Arial"/>
              <a:cs typeface="Arial"/>
            </a:endParaRPr>
          </a:p>
        </p:txBody>
      </p:sp>
      <p:sp>
        <p:nvSpPr>
          <p:cNvPr id="4" name="object 4"/>
          <p:cNvSpPr/>
          <p:nvPr/>
        </p:nvSpPr>
        <p:spPr>
          <a:xfrm>
            <a:off x="5631474" y="4954877"/>
            <a:ext cx="3518661" cy="1781426"/>
          </a:xfrm>
          <a:prstGeom prst="rect">
            <a:avLst/>
          </a:prstGeom>
          <a:blipFill>
            <a:blip r:embed="rId2" cstate="print"/>
            <a:stretch>
              <a:fillRect/>
            </a:stretch>
          </a:blipFill>
        </p:spPr>
        <p:txBody>
          <a:bodyPr wrap="square" lIns="0" tIns="0" rIns="0" bIns="0" rtlCol="0"/>
          <a:lstStyle/>
          <a:p>
            <a:endParaRPr sz="2078"/>
          </a:p>
        </p:txBody>
      </p:sp>
      <p:sp>
        <p:nvSpPr>
          <p:cNvPr id="5" name="object 5"/>
          <p:cNvSpPr/>
          <p:nvPr/>
        </p:nvSpPr>
        <p:spPr>
          <a:xfrm>
            <a:off x="9596402" y="3563190"/>
            <a:ext cx="1208450" cy="2764959"/>
          </a:xfrm>
          <a:prstGeom prst="rect">
            <a:avLst/>
          </a:prstGeom>
          <a:blipFill>
            <a:blip r:embed="rId3" cstate="print"/>
            <a:stretch>
              <a:fillRect/>
            </a:stretch>
          </a:blipFill>
        </p:spPr>
        <p:txBody>
          <a:bodyPr wrap="square" lIns="0" tIns="0" rIns="0" bIns="0" rtlCol="0"/>
          <a:lstStyle/>
          <a:p>
            <a:endParaRPr sz="2078"/>
          </a:p>
        </p:txBody>
      </p:sp>
      <p:sp>
        <p:nvSpPr>
          <p:cNvPr id="10" name="object 2"/>
          <p:cNvSpPr txBox="1"/>
          <p:nvPr/>
        </p:nvSpPr>
        <p:spPr>
          <a:xfrm>
            <a:off x="3015696" y="326861"/>
            <a:ext cx="6912768" cy="846363"/>
          </a:xfrm>
          <a:prstGeom prst="rect">
            <a:avLst/>
          </a:prstGeom>
        </p:spPr>
        <p:txBody>
          <a:bodyPr wrap="square">
            <a:noAutofit/>
          </a:bodyPr>
          <a:lstStyle>
            <a:lvl1pPr lvl="0" algn="ctr" defTabSz="993775">
              <a:defRPr sz="3949">
                <a:solidFill>
                  <a:schemeClr val="tx2"/>
                </a:solidFill>
                <a:latin typeface="+mj-lt"/>
                <a:ea typeface="+mj-ea"/>
                <a:cs typeface="+mj-cs"/>
              </a:defRPr>
            </a:lvl1pPr>
            <a:lvl2pPr algn="ctr" defTabSz="993775">
              <a:defRPr sz="4800">
                <a:solidFill>
                  <a:schemeClr val="tx2"/>
                </a:solidFill>
              </a:defRPr>
            </a:lvl2pPr>
            <a:lvl3pPr algn="ctr" defTabSz="993775">
              <a:defRPr sz="4800">
                <a:solidFill>
                  <a:schemeClr val="tx2"/>
                </a:solidFill>
              </a:defRPr>
            </a:lvl3pPr>
            <a:lvl4pPr algn="ctr" defTabSz="993775">
              <a:defRPr sz="4800">
                <a:solidFill>
                  <a:schemeClr val="tx2"/>
                </a:solidFill>
              </a:defRPr>
            </a:lvl4pPr>
            <a:lvl5pPr algn="ctr" defTabSz="993775">
              <a:defRPr sz="4800">
                <a:solidFill>
                  <a:schemeClr val="tx2"/>
                </a:solidFill>
              </a:defRPr>
            </a:lvl5pPr>
            <a:lvl6pPr marL="457200" algn="ctr" defTabSz="993775" fontAlgn="base">
              <a:spcBef>
                <a:spcPct val="0"/>
              </a:spcBef>
              <a:spcAft>
                <a:spcPct val="0"/>
              </a:spcAft>
              <a:defRPr sz="4800">
                <a:solidFill>
                  <a:schemeClr val="tx2"/>
                </a:solidFill>
              </a:defRPr>
            </a:lvl6pPr>
            <a:lvl7pPr marL="914400" algn="ctr" defTabSz="993775" fontAlgn="base">
              <a:spcBef>
                <a:spcPct val="0"/>
              </a:spcBef>
              <a:spcAft>
                <a:spcPct val="0"/>
              </a:spcAft>
              <a:defRPr sz="4800">
                <a:solidFill>
                  <a:schemeClr val="tx2"/>
                </a:solidFill>
              </a:defRPr>
            </a:lvl7pPr>
            <a:lvl8pPr marL="1371600" algn="ctr" defTabSz="993775" fontAlgn="base">
              <a:spcBef>
                <a:spcPct val="0"/>
              </a:spcBef>
              <a:spcAft>
                <a:spcPct val="0"/>
              </a:spcAft>
              <a:defRPr sz="4800">
                <a:solidFill>
                  <a:schemeClr val="tx2"/>
                </a:solidFill>
              </a:defRPr>
            </a:lvl8pPr>
            <a:lvl9pPr marL="1828800" algn="ctr" defTabSz="993775" fontAlgn="base">
              <a:spcBef>
                <a:spcPct val="0"/>
              </a:spcBef>
              <a:spcAft>
                <a:spcPct val="0"/>
              </a:spcAft>
              <a:defRPr sz="4800">
                <a:solidFill>
                  <a:schemeClr val="tx2"/>
                </a:solidFill>
              </a:defRPr>
            </a:lvl9pPr>
          </a:lstStyle>
          <a:p>
            <a:r>
              <a:rPr dirty="0" err="1"/>
              <a:t>Двухвыборочные</a:t>
            </a:r>
            <a:r>
              <a:rPr dirty="0"/>
              <a:t> </a:t>
            </a:r>
            <a:r>
              <a:rPr dirty="0" err="1"/>
              <a:t>критерии</a:t>
            </a:r>
            <a:endParaRPr dirty="0"/>
          </a:p>
        </p:txBody>
      </p:sp>
      <p:sp>
        <p:nvSpPr>
          <p:cNvPr id="3" name="Номер слайда 2"/>
          <p:cNvSpPr>
            <a:spLocks noGrp="1"/>
          </p:cNvSpPr>
          <p:nvPr>
            <p:ph type="sldNum" sz="quarter" idx="12"/>
          </p:nvPr>
        </p:nvSpPr>
        <p:spPr>
          <a:xfrm>
            <a:off x="11471952" y="6541296"/>
            <a:ext cx="804864" cy="379409"/>
          </a:xfrm>
        </p:spPr>
        <p:txBody>
          <a:bodyPr/>
          <a:lstStyle/>
          <a:p>
            <a:fld id="{952B6C0E-C4B9-4094-8E59-5B7DF00D5415}" type="slidenum">
              <a:rPr lang="ru-RU" smtClean="0">
                <a:solidFill>
                  <a:schemeClr val="tx1"/>
                </a:solidFill>
              </a:rPr>
              <a:t>115</a:t>
            </a:fld>
            <a:endParaRPr lang="ru-RU" dirty="0">
              <a:solidFill>
                <a:schemeClr val="tx1"/>
              </a:solidFill>
            </a:endParaRPr>
          </a:p>
        </p:txBody>
      </p:sp>
    </p:spTree>
    <p:extLst>
      <p:ext uri="{BB962C8B-B14F-4D97-AF65-F5344CB8AC3E}">
        <p14:creationId xmlns:p14="http://schemas.microsoft.com/office/powerpoint/2010/main" val="13906504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AutoShape 4"/>
          <p:cNvSpPr>
            <a:spLocks noChangeArrowheads="1"/>
          </p:cNvSpPr>
          <p:nvPr/>
        </p:nvSpPr>
        <p:spPr bwMode="auto">
          <a:xfrm>
            <a:off x="1438275" y="322263"/>
            <a:ext cx="10944521" cy="6553200"/>
          </a:xfrm>
          <a:prstGeom prst="roundRect">
            <a:avLst>
              <a:gd name="adj" fmla="val 16667"/>
            </a:avLst>
          </a:prstGeom>
          <a:solidFill>
            <a:schemeClr val="bg1">
              <a:alpha val="50195"/>
            </a:scheme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30" name="AutoShape 5"/>
          <p:cNvSpPr>
            <a:spLocks noChangeArrowheads="1"/>
          </p:cNvSpPr>
          <p:nvPr/>
        </p:nvSpPr>
        <p:spPr bwMode="auto">
          <a:xfrm>
            <a:off x="2373685" y="322263"/>
            <a:ext cx="8064128" cy="850960"/>
          </a:xfrm>
          <a:prstGeom prst="roundRect">
            <a:avLst>
              <a:gd name="adj" fmla="val 37469"/>
            </a:avLst>
          </a:prstGeom>
          <a:solidFill>
            <a:srgbClr val="FFFFFF">
              <a:alpha val="78822"/>
            </a:srgb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2" name="object 2"/>
          <p:cNvSpPr txBox="1"/>
          <p:nvPr/>
        </p:nvSpPr>
        <p:spPr>
          <a:xfrm>
            <a:off x="5353267" y="3657384"/>
            <a:ext cx="1893745" cy="502356"/>
          </a:xfrm>
          <a:prstGeom prst="rect">
            <a:avLst/>
          </a:prstGeom>
        </p:spPr>
        <p:txBody>
          <a:bodyPr vert="horz" wrap="square" lIns="0" tIns="14517" rIns="0" bIns="0" rtlCol="0">
            <a:spAutoFit/>
          </a:bodyPr>
          <a:lstStyle/>
          <a:p>
            <a:pPr marL="39590">
              <a:spcBef>
                <a:spcPts val="114"/>
              </a:spcBef>
              <a:tabLst>
                <a:tab pos="1346710" algn="l"/>
              </a:tabLst>
            </a:pPr>
            <a:r>
              <a:rPr sz="3013" i="1" spc="26" dirty="0">
                <a:latin typeface="Times New Roman"/>
                <a:cs typeface="Times New Roman"/>
              </a:rPr>
              <a:t>H </a:t>
            </a:r>
            <a:r>
              <a:rPr sz="2572" spc="46" baseline="-25252" dirty="0">
                <a:latin typeface="Times New Roman"/>
                <a:cs typeface="Times New Roman"/>
              </a:rPr>
              <a:t>0 </a:t>
            </a:r>
            <a:r>
              <a:rPr sz="3013" spc="10" dirty="0">
                <a:latin typeface="Times New Roman"/>
                <a:cs typeface="Times New Roman"/>
              </a:rPr>
              <a:t>:</a:t>
            </a:r>
            <a:r>
              <a:rPr sz="3013" spc="-156" dirty="0">
                <a:latin typeface="Times New Roman"/>
                <a:cs typeface="Times New Roman"/>
              </a:rPr>
              <a:t> </a:t>
            </a:r>
            <a:r>
              <a:rPr sz="3169" i="1" spc="-68" dirty="0">
                <a:latin typeface="Symbol"/>
                <a:cs typeface="Symbol"/>
              </a:rPr>
              <a:t></a:t>
            </a:r>
            <a:r>
              <a:rPr sz="3169" i="1" spc="-514" dirty="0">
                <a:latin typeface="Times New Roman"/>
                <a:cs typeface="Times New Roman"/>
              </a:rPr>
              <a:t> </a:t>
            </a:r>
            <a:r>
              <a:rPr sz="2572" i="1" spc="62" baseline="-25252" dirty="0">
                <a:latin typeface="Times New Roman"/>
                <a:cs typeface="Times New Roman"/>
              </a:rPr>
              <a:t>D	</a:t>
            </a:r>
            <a:r>
              <a:rPr sz="3013" spc="21" dirty="0">
                <a:latin typeface="Symbol"/>
                <a:cs typeface="Symbol"/>
              </a:rPr>
              <a:t></a:t>
            </a:r>
            <a:r>
              <a:rPr sz="3013" spc="-36" dirty="0">
                <a:latin typeface="Times New Roman"/>
                <a:cs typeface="Times New Roman"/>
              </a:rPr>
              <a:t> </a:t>
            </a:r>
            <a:r>
              <a:rPr sz="3013" spc="16" dirty="0">
                <a:latin typeface="Times New Roman"/>
                <a:cs typeface="Times New Roman"/>
              </a:rPr>
              <a:t>0</a:t>
            </a:r>
            <a:endParaRPr sz="3013">
              <a:latin typeface="Times New Roman"/>
              <a:cs typeface="Times New Roman"/>
            </a:endParaRPr>
          </a:p>
        </p:txBody>
      </p:sp>
      <p:sp>
        <p:nvSpPr>
          <p:cNvPr id="3" name="object 3"/>
          <p:cNvSpPr txBox="1"/>
          <p:nvPr/>
        </p:nvSpPr>
        <p:spPr>
          <a:xfrm>
            <a:off x="3305351" y="1980681"/>
            <a:ext cx="1836339" cy="321102"/>
          </a:xfrm>
          <a:prstGeom prst="rect">
            <a:avLst/>
          </a:prstGeom>
        </p:spPr>
        <p:txBody>
          <a:bodyPr vert="horz" wrap="square" lIns="0" tIns="13197" rIns="0" bIns="0" rtlCol="0">
            <a:spAutoFit/>
          </a:bodyPr>
          <a:lstStyle/>
          <a:p>
            <a:pPr marL="13197">
              <a:spcBef>
                <a:spcPts val="104"/>
              </a:spcBef>
              <a:tabLst>
                <a:tab pos="711295" algn="l"/>
              </a:tabLst>
            </a:pPr>
            <a:r>
              <a:rPr spc="-10" dirty="0">
                <a:latin typeface="Arial"/>
                <a:cs typeface="Arial"/>
              </a:rPr>
              <a:t>Д</a:t>
            </a:r>
            <a:r>
              <a:rPr dirty="0">
                <a:latin typeface="Arial"/>
                <a:cs typeface="Arial"/>
              </a:rPr>
              <a:t>О	П</a:t>
            </a:r>
            <a:r>
              <a:rPr spc="5" dirty="0">
                <a:latin typeface="Arial"/>
                <a:cs typeface="Arial"/>
              </a:rPr>
              <a:t>О</a:t>
            </a:r>
            <a:r>
              <a:rPr spc="-94" dirty="0">
                <a:latin typeface="Arial"/>
                <a:cs typeface="Arial"/>
              </a:rPr>
              <a:t>С</a:t>
            </a:r>
            <a:r>
              <a:rPr spc="-5" dirty="0">
                <a:latin typeface="Arial"/>
                <a:cs typeface="Arial"/>
              </a:rPr>
              <a:t>ЛЕ</a:t>
            </a:r>
            <a:endParaRPr dirty="0">
              <a:latin typeface="Arial"/>
              <a:cs typeface="Arial"/>
            </a:endParaRPr>
          </a:p>
        </p:txBody>
      </p:sp>
      <p:graphicFrame>
        <p:nvGraphicFramePr>
          <p:cNvPr id="4" name="object 4"/>
          <p:cNvGraphicFramePr>
            <a:graphicFrameLocks noGrp="1"/>
          </p:cNvGraphicFramePr>
          <p:nvPr>
            <p:extLst>
              <p:ext uri="{D42A27DB-BD31-4B8C-83A1-F6EECF244321}">
                <p14:modId xmlns:p14="http://schemas.microsoft.com/office/powerpoint/2010/main" val="869567301"/>
              </p:ext>
            </p:extLst>
          </p:nvPr>
        </p:nvGraphicFramePr>
        <p:xfrm>
          <a:off x="2043930" y="2405884"/>
          <a:ext cx="3516954" cy="2617855"/>
        </p:xfrm>
        <a:graphic>
          <a:graphicData uri="http://schemas.openxmlformats.org/drawingml/2006/table">
            <a:tbl>
              <a:tblPr firstRow="1" bandRow="1">
                <a:tableStyleId>{2D5ABB26-0587-4C30-8999-92F81FD0307C}</a:tableStyleId>
              </a:tblPr>
              <a:tblGrid>
                <a:gridCol w="1197612">
                  <a:extLst>
                    <a:ext uri="{9D8B030D-6E8A-4147-A177-3AD203B41FA5}">
                      <a16:colId xmlns:a16="http://schemas.microsoft.com/office/drawing/2014/main" val="20000"/>
                    </a:ext>
                  </a:extLst>
                </a:gridCol>
                <a:gridCol w="673038">
                  <a:extLst>
                    <a:ext uri="{9D8B030D-6E8A-4147-A177-3AD203B41FA5}">
                      <a16:colId xmlns:a16="http://schemas.microsoft.com/office/drawing/2014/main" val="20001"/>
                    </a:ext>
                  </a:extLst>
                </a:gridCol>
                <a:gridCol w="1646304">
                  <a:extLst>
                    <a:ext uri="{9D8B030D-6E8A-4147-A177-3AD203B41FA5}">
                      <a16:colId xmlns:a16="http://schemas.microsoft.com/office/drawing/2014/main" val="20002"/>
                    </a:ext>
                  </a:extLst>
                </a:gridCol>
              </a:tblGrid>
              <a:tr h="425100">
                <a:tc>
                  <a:txBody>
                    <a:bodyPr/>
                    <a:lstStyle/>
                    <a:p>
                      <a:pPr marR="106045" algn="r">
                        <a:lnSpc>
                          <a:spcPct val="100000"/>
                        </a:lnSpc>
                        <a:spcBef>
                          <a:spcPts val="45"/>
                        </a:spcBef>
                      </a:pPr>
                      <a:r>
                        <a:rPr sz="2500" dirty="0">
                          <a:latin typeface="Times New Roman"/>
                          <a:cs typeface="Times New Roman"/>
                        </a:rPr>
                        <a:t>1</a:t>
                      </a:r>
                      <a:r>
                        <a:rPr sz="2500" spc="-100" dirty="0">
                          <a:latin typeface="Times New Roman"/>
                          <a:cs typeface="Times New Roman"/>
                        </a:rPr>
                        <a:t> </a:t>
                      </a:r>
                      <a:r>
                        <a:rPr sz="2500" spc="-5" dirty="0">
                          <a:latin typeface="Times New Roman"/>
                          <a:cs typeface="Times New Roman"/>
                        </a:rPr>
                        <a:t>тигр</a:t>
                      </a:r>
                      <a:endParaRPr sz="2500" dirty="0">
                        <a:latin typeface="Times New Roman"/>
                        <a:cs typeface="Times New Roman"/>
                      </a:endParaRPr>
                    </a:p>
                  </a:txBody>
                  <a:tcPr marL="0" marR="0" marT="5939" marB="0">
                    <a:lnT w="9525">
                      <a:solidFill>
                        <a:srgbClr val="FF0000"/>
                      </a:solidFill>
                      <a:prstDash val="solid"/>
                    </a:lnT>
                  </a:tcPr>
                </a:tc>
                <a:tc>
                  <a:txBody>
                    <a:bodyPr/>
                    <a:lstStyle/>
                    <a:p>
                      <a:pPr marL="73660">
                        <a:lnSpc>
                          <a:spcPct val="100000"/>
                        </a:lnSpc>
                        <a:spcBef>
                          <a:spcPts val="45"/>
                        </a:spcBef>
                      </a:pPr>
                      <a:r>
                        <a:rPr sz="2500" dirty="0">
                          <a:latin typeface="Times New Roman"/>
                          <a:cs typeface="Times New Roman"/>
                        </a:rPr>
                        <a:t>356</a:t>
                      </a:r>
                    </a:p>
                  </a:txBody>
                  <a:tcPr marL="0" marR="0" marT="5939" marB="0">
                    <a:lnT w="9525">
                      <a:solidFill>
                        <a:srgbClr val="FF0000"/>
                      </a:solidFill>
                      <a:prstDash val="solid"/>
                    </a:lnT>
                  </a:tcPr>
                </a:tc>
                <a:tc>
                  <a:txBody>
                    <a:bodyPr/>
                    <a:lstStyle/>
                    <a:p>
                      <a:pPr marL="264795">
                        <a:lnSpc>
                          <a:spcPct val="100000"/>
                        </a:lnSpc>
                        <a:spcBef>
                          <a:spcPts val="45"/>
                        </a:spcBef>
                      </a:pPr>
                      <a:r>
                        <a:rPr sz="2500" dirty="0">
                          <a:latin typeface="Times New Roman"/>
                          <a:cs typeface="Times New Roman"/>
                        </a:rPr>
                        <a:t>363</a:t>
                      </a:r>
                      <a:endParaRPr sz="2500">
                        <a:latin typeface="Times New Roman"/>
                        <a:cs typeface="Times New Roman"/>
                      </a:endParaRPr>
                    </a:p>
                  </a:txBody>
                  <a:tcPr marL="0" marR="0" marT="5939" marB="0">
                    <a:lnT w="9525">
                      <a:solidFill>
                        <a:srgbClr val="FF0000"/>
                      </a:solidFill>
                      <a:prstDash val="solid"/>
                    </a:lnT>
                  </a:tcPr>
                </a:tc>
                <a:extLst>
                  <a:ext uri="{0D108BD9-81ED-4DB2-BD59-A6C34878D82A}">
                    <a16:rowId xmlns:a16="http://schemas.microsoft.com/office/drawing/2014/main" val="10000"/>
                  </a:ext>
                </a:extLst>
              </a:tr>
              <a:tr h="418208">
                <a:tc>
                  <a:txBody>
                    <a:bodyPr/>
                    <a:lstStyle/>
                    <a:p>
                      <a:pPr marR="106045" algn="r">
                        <a:lnSpc>
                          <a:spcPts val="2875"/>
                        </a:lnSpc>
                      </a:pPr>
                      <a:r>
                        <a:rPr sz="2500" dirty="0">
                          <a:latin typeface="Times New Roman"/>
                          <a:cs typeface="Times New Roman"/>
                        </a:rPr>
                        <a:t>2</a:t>
                      </a:r>
                      <a:r>
                        <a:rPr sz="2500" spc="-100" dirty="0">
                          <a:latin typeface="Times New Roman"/>
                          <a:cs typeface="Times New Roman"/>
                        </a:rPr>
                        <a:t> </a:t>
                      </a:r>
                      <a:r>
                        <a:rPr sz="2500" dirty="0">
                          <a:latin typeface="Times New Roman"/>
                          <a:cs typeface="Times New Roman"/>
                        </a:rPr>
                        <a:t>тигр</a:t>
                      </a:r>
                      <a:endParaRPr sz="2500">
                        <a:latin typeface="Times New Roman"/>
                        <a:cs typeface="Times New Roman"/>
                      </a:endParaRPr>
                    </a:p>
                  </a:txBody>
                  <a:tcPr marL="0" marR="0" marT="0" marB="0"/>
                </a:tc>
                <a:tc>
                  <a:txBody>
                    <a:bodyPr/>
                    <a:lstStyle/>
                    <a:p>
                      <a:pPr marL="73660">
                        <a:lnSpc>
                          <a:spcPts val="2875"/>
                        </a:lnSpc>
                      </a:pPr>
                      <a:r>
                        <a:rPr sz="2500" dirty="0">
                          <a:latin typeface="Times New Roman"/>
                          <a:cs typeface="Times New Roman"/>
                        </a:rPr>
                        <a:t>351</a:t>
                      </a:r>
                      <a:endParaRPr sz="2500">
                        <a:latin typeface="Times New Roman"/>
                        <a:cs typeface="Times New Roman"/>
                      </a:endParaRPr>
                    </a:p>
                  </a:txBody>
                  <a:tcPr marL="0" marR="0" marT="0" marB="0"/>
                </a:tc>
                <a:tc>
                  <a:txBody>
                    <a:bodyPr/>
                    <a:lstStyle/>
                    <a:p>
                      <a:pPr marL="264795">
                        <a:lnSpc>
                          <a:spcPts val="2875"/>
                        </a:lnSpc>
                      </a:pPr>
                      <a:r>
                        <a:rPr sz="2500" dirty="0">
                          <a:latin typeface="Times New Roman"/>
                          <a:cs typeface="Times New Roman"/>
                        </a:rPr>
                        <a:t>361</a:t>
                      </a:r>
                      <a:endParaRPr sz="2500">
                        <a:latin typeface="Times New Roman"/>
                        <a:cs typeface="Times New Roman"/>
                      </a:endParaRPr>
                    </a:p>
                  </a:txBody>
                  <a:tcPr marL="0" marR="0" marT="0" marB="0"/>
                </a:tc>
                <a:extLst>
                  <a:ext uri="{0D108BD9-81ED-4DB2-BD59-A6C34878D82A}">
                    <a16:rowId xmlns:a16="http://schemas.microsoft.com/office/drawing/2014/main" val="10001"/>
                  </a:ext>
                </a:extLst>
              </a:tr>
              <a:tr h="418076">
                <a:tc>
                  <a:txBody>
                    <a:bodyPr/>
                    <a:lstStyle/>
                    <a:p>
                      <a:pPr marR="106045" algn="r">
                        <a:lnSpc>
                          <a:spcPts val="2875"/>
                        </a:lnSpc>
                      </a:pPr>
                      <a:r>
                        <a:rPr sz="2500" dirty="0">
                          <a:latin typeface="Times New Roman"/>
                          <a:cs typeface="Times New Roman"/>
                        </a:rPr>
                        <a:t>3</a:t>
                      </a:r>
                      <a:r>
                        <a:rPr sz="2500" spc="-100" dirty="0">
                          <a:latin typeface="Times New Roman"/>
                          <a:cs typeface="Times New Roman"/>
                        </a:rPr>
                        <a:t> </a:t>
                      </a:r>
                      <a:r>
                        <a:rPr sz="2500" spc="-5" dirty="0">
                          <a:latin typeface="Times New Roman"/>
                          <a:cs typeface="Times New Roman"/>
                        </a:rPr>
                        <a:t>тигр</a:t>
                      </a:r>
                      <a:endParaRPr sz="2500">
                        <a:latin typeface="Times New Roman"/>
                        <a:cs typeface="Times New Roman"/>
                      </a:endParaRPr>
                    </a:p>
                  </a:txBody>
                  <a:tcPr marL="0" marR="0" marT="0" marB="0"/>
                </a:tc>
                <a:tc>
                  <a:txBody>
                    <a:bodyPr/>
                    <a:lstStyle/>
                    <a:p>
                      <a:pPr marL="73660">
                        <a:lnSpc>
                          <a:spcPts val="2875"/>
                        </a:lnSpc>
                      </a:pPr>
                      <a:r>
                        <a:rPr sz="2500" dirty="0">
                          <a:latin typeface="Times New Roman"/>
                          <a:cs typeface="Times New Roman"/>
                        </a:rPr>
                        <a:t>353</a:t>
                      </a:r>
                      <a:endParaRPr sz="2500">
                        <a:latin typeface="Times New Roman"/>
                        <a:cs typeface="Times New Roman"/>
                      </a:endParaRPr>
                    </a:p>
                  </a:txBody>
                  <a:tcPr marL="0" marR="0" marT="0" marB="0"/>
                </a:tc>
                <a:tc>
                  <a:txBody>
                    <a:bodyPr/>
                    <a:lstStyle/>
                    <a:p>
                      <a:pPr marL="264795">
                        <a:lnSpc>
                          <a:spcPts val="2875"/>
                        </a:lnSpc>
                      </a:pPr>
                      <a:r>
                        <a:rPr sz="2500" dirty="0">
                          <a:latin typeface="Times New Roman"/>
                          <a:cs typeface="Times New Roman"/>
                        </a:rPr>
                        <a:t>358</a:t>
                      </a:r>
                    </a:p>
                  </a:txBody>
                  <a:tcPr marL="0" marR="0" marT="0" marB="0"/>
                </a:tc>
                <a:extLst>
                  <a:ext uri="{0D108BD9-81ED-4DB2-BD59-A6C34878D82A}">
                    <a16:rowId xmlns:a16="http://schemas.microsoft.com/office/drawing/2014/main" val="10002"/>
                  </a:ext>
                </a:extLst>
              </a:tr>
              <a:tr h="418132">
                <a:tc>
                  <a:txBody>
                    <a:bodyPr/>
                    <a:lstStyle/>
                    <a:p>
                      <a:pPr marR="106045" algn="r">
                        <a:lnSpc>
                          <a:spcPts val="2875"/>
                        </a:lnSpc>
                      </a:pPr>
                      <a:r>
                        <a:rPr sz="2500" dirty="0">
                          <a:latin typeface="Times New Roman"/>
                          <a:cs typeface="Times New Roman"/>
                        </a:rPr>
                        <a:t>4</a:t>
                      </a:r>
                      <a:r>
                        <a:rPr sz="2500" spc="-100" dirty="0">
                          <a:latin typeface="Times New Roman"/>
                          <a:cs typeface="Times New Roman"/>
                        </a:rPr>
                        <a:t> </a:t>
                      </a:r>
                      <a:r>
                        <a:rPr sz="2500" spc="-5" dirty="0">
                          <a:latin typeface="Times New Roman"/>
                          <a:cs typeface="Times New Roman"/>
                        </a:rPr>
                        <a:t>тигр</a:t>
                      </a:r>
                      <a:endParaRPr sz="2500">
                        <a:latin typeface="Times New Roman"/>
                        <a:cs typeface="Times New Roman"/>
                      </a:endParaRPr>
                    </a:p>
                  </a:txBody>
                  <a:tcPr marL="0" marR="0" marT="0" marB="0"/>
                </a:tc>
                <a:tc>
                  <a:txBody>
                    <a:bodyPr/>
                    <a:lstStyle/>
                    <a:p>
                      <a:pPr marL="73660">
                        <a:lnSpc>
                          <a:spcPts val="2875"/>
                        </a:lnSpc>
                      </a:pPr>
                      <a:r>
                        <a:rPr sz="2500" dirty="0">
                          <a:latin typeface="Times New Roman"/>
                          <a:cs typeface="Times New Roman"/>
                        </a:rPr>
                        <a:t>355</a:t>
                      </a:r>
                      <a:endParaRPr sz="2500">
                        <a:latin typeface="Times New Roman"/>
                        <a:cs typeface="Times New Roman"/>
                      </a:endParaRPr>
                    </a:p>
                  </a:txBody>
                  <a:tcPr marL="0" marR="0" marT="0" marB="0"/>
                </a:tc>
                <a:tc>
                  <a:txBody>
                    <a:bodyPr/>
                    <a:lstStyle/>
                    <a:p>
                      <a:pPr marL="264795">
                        <a:lnSpc>
                          <a:spcPts val="2875"/>
                        </a:lnSpc>
                      </a:pPr>
                      <a:r>
                        <a:rPr sz="2500" dirty="0">
                          <a:latin typeface="Times New Roman"/>
                          <a:cs typeface="Times New Roman"/>
                        </a:rPr>
                        <a:t>356</a:t>
                      </a:r>
                      <a:endParaRPr sz="2500">
                        <a:latin typeface="Times New Roman"/>
                        <a:cs typeface="Times New Roman"/>
                      </a:endParaRPr>
                    </a:p>
                  </a:txBody>
                  <a:tcPr marL="0" marR="0" marT="0" marB="0"/>
                </a:tc>
                <a:extLst>
                  <a:ext uri="{0D108BD9-81ED-4DB2-BD59-A6C34878D82A}">
                    <a16:rowId xmlns:a16="http://schemas.microsoft.com/office/drawing/2014/main" val="10003"/>
                  </a:ext>
                </a:extLst>
              </a:tr>
              <a:tr h="418449">
                <a:tc>
                  <a:txBody>
                    <a:bodyPr/>
                    <a:lstStyle/>
                    <a:p>
                      <a:pPr marR="106680" algn="r">
                        <a:lnSpc>
                          <a:spcPts val="2875"/>
                        </a:lnSpc>
                      </a:pPr>
                      <a:r>
                        <a:rPr sz="2500" dirty="0">
                          <a:latin typeface="Times New Roman"/>
                          <a:cs typeface="Times New Roman"/>
                        </a:rPr>
                        <a:t>5</a:t>
                      </a:r>
                      <a:r>
                        <a:rPr sz="2500" spc="-90" dirty="0">
                          <a:latin typeface="Times New Roman"/>
                          <a:cs typeface="Times New Roman"/>
                        </a:rPr>
                        <a:t> </a:t>
                      </a:r>
                      <a:r>
                        <a:rPr sz="2500" spc="-5" dirty="0">
                          <a:latin typeface="Times New Roman"/>
                          <a:cs typeface="Times New Roman"/>
                        </a:rPr>
                        <a:t>тигр</a:t>
                      </a:r>
                      <a:endParaRPr sz="2500">
                        <a:latin typeface="Times New Roman"/>
                        <a:cs typeface="Times New Roman"/>
                      </a:endParaRPr>
                    </a:p>
                  </a:txBody>
                  <a:tcPr marL="0" marR="0" marT="0" marB="0"/>
                </a:tc>
                <a:tc>
                  <a:txBody>
                    <a:bodyPr/>
                    <a:lstStyle/>
                    <a:p>
                      <a:pPr marL="73660">
                        <a:lnSpc>
                          <a:spcPts val="2875"/>
                        </a:lnSpc>
                      </a:pPr>
                      <a:r>
                        <a:rPr sz="2500" spc="-5" dirty="0">
                          <a:latin typeface="Times New Roman"/>
                          <a:cs typeface="Times New Roman"/>
                        </a:rPr>
                        <a:t>354</a:t>
                      </a:r>
                      <a:endParaRPr sz="2500">
                        <a:latin typeface="Times New Roman"/>
                        <a:cs typeface="Times New Roman"/>
                      </a:endParaRPr>
                    </a:p>
                  </a:txBody>
                  <a:tcPr marL="0" marR="0" marT="0" marB="0"/>
                </a:tc>
                <a:tc>
                  <a:txBody>
                    <a:bodyPr/>
                    <a:lstStyle/>
                    <a:p>
                      <a:pPr marL="264795">
                        <a:lnSpc>
                          <a:spcPts val="2875"/>
                        </a:lnSpc>
                      </a:pPr>
                      <a:r>
                        <a:rPr sz="2500" spc="-5" dirty="0">
                          <a:latin typeface="Times New Roman"/>
                          <a:cs typeface="Times New Roman"/>
                        </a:rPr>
                        <a:t>359</a:t>
                      </a:r>
                      <a:endParaRPr sz="2500">
                        <a:latin typeface="Times New Roman"/>
                        <a:cs typeface="Times New Roman"/>
                      </a:endParaRPr>
                    </a:p>
                  </a:txBody>
                  <a:tcPr marL="0" marR="0" marT="0" marB="0"/>
                </a:tc>
                <a:extLst>
                  <a:ext uri="{0D108BD9-81ED-4DB2-BD59-A6C34878D82A}">
                    <a16:rowId xmlns:a16="http://schemas.microsoft.com/office/drawing/2014/main" val="10004"/>
                  </a:ext>
                </a:extLst>
              </a:tr>
              <a:tr h="519890">
                <a:tc>
                  <a:txBody>
                    <a:bodyPr/>
                    <a:lstStyle/>
                    <a:p>
                      <a:pPr marR="106045" algn="r">
                        <a:lnSpc>
                          <a:spcPts val="2875"/>
                        </a:lnSpc>
                      </a:pPr>
                      <a:r>
                        <a:rPr sz="2500" dirty="0">
                          <a:latin typeface="Times New Roman"/>
                          <a:cs typeface="Times New Roman"/>
                        </a:rPr>
                        <a:t>6</a:t>
                      </a:r>
                      <a:r>
                        <a:rPr sz="2500" spc="-100" dirty="0">
                          <a:latin typeface="Times New Roman"/>
                          <a:cs typeface="Times New Roman"/>
                        </a:rPr>
                        <a:t> </a:t>
                      </a:r>
                      <a:r>
                        <a:rPr sz="2500" dirty="0">
                          <a:latin typeface="Times New Roman"/>
                          <a:cs typeface="Times New Roman"/>
                        </a:rPr>
                        <a:t>тигр</a:t>
                      </a:r>
                      <a:endParaRPr sz="2500">
                        <a:latin typeface="Times New Roman"/>
                        <a:cs typeface="Times New Roman"/>
                      </a:endParaRPr>
                    </a:p>
                  </a:txBody>
                  <a:tcPr marL="0" marR="0" marT="0" marB="0"/>
                </a:tc>
                <a:tc>
                  <a:txBody>
                    <a:bodyPr/>
                    <a:lstStyle/>
                    <a:p>
                      <a:pPr marL="73660">
                        <a:lnSpc>
                          <a:spcPts val="2875"/>
                        </a:lnSpc>
                      </a:pPr>
                      <a:r>
                        <a:rPr sz="2500" dirty="0">
                          <a:latin typeface="Times New Roman"/>
                          <a:cs typeface="Times New Roman"/>
                        </a:rPr>
                        <a:t>355</a:t>
                      </a:r>
                      <a:endParaRPr sz="2500">
                        <a:latin typeface="Times New Roman"/>
                        <a:cs typeface="Times New Roman"/>
                      </a:endParaRPr>
                    </a:p>
                  </a:txBody>
                  <a:tcPr marL="0" marR="0" marT="0" marB="0"/>
                </a:tc>
                <a:tc>
                  <a:txBody>
                    <a:bodyPr/>
                    <a:lstStyle/>
                    <a:p>
                      <a:pPr marL="264795">
                        <a:lnSpc>
                          <a:spcPts val="2875"/>
                        </a:lnSpc>
                      </a:pPr>
                      <a:r>
                        <a:rPr sz="2500" dirty="0">
                          <a:latin typeface="Times New Roman"/>
                          <a:cs typeface="Times New Roman"/>
                        </a:rPr>
                        <a:t>355</a:t>
                      </a:r>
                      <a:endParaRPr sz="2500">
                        <a:latin typeface="Times New Roman"/>
                        <a:cs typeface="Times New Roman"/>
                      </a:endParaRPr>
                    </a:p>
                  </a:txBody>
                  <a:tcPr marL="0" marR="0" marT="0" marB="0"/>
                </a:tc>
                <a:extLst>
                  <a:ext uri="{0D108BD9-81ED-4DB2-BD59-A6C34878D82A}">
                    <a16:rowId xmlns:a16="http://schemas.microsoft.com/office/drawing/2014/main" val="10005"/>
                  </a:ext>
                </a:extLst>
              </a:tr>
            </a:tbl>
          </a:graphicData>
        </a:graphic>
      </p:graphicFrame>
      <p:sp>
        <p:nvSpPr>
          <p:cNvPr id="5" name="object 5"/>
          <p:cNvSpPr/>
          <p:nvPr/>
        </p:nvSpPr>
        <p:spPr>
          <a:xfrm>
            <a:off x="3914647" y="2031358"/>
            <a:ext cx="0" cy="2992381"/>
          </a:xfrm>
          <a:custGeom>
            <a:avLst/>
            <a:gdLst/>
            <a:ahLst/>
            <a:cxnLst/>
            <a:rect l="l" t="t" r="r" b="b"/>
            <a:pathLst>
              <a:path h="2879725">
                <a:moveTo>
                  <a:pt x="0" y="0"/>
                </a:moveTo>
                <a:lnTo>
                  <a:pt x="0" y="2879725"/>
                </a:lnTo>
              </a:path>
            </a:pathLst>
          </a:custGeom>
          <a:ln w="9525">
            <a:solidFill>
              <a:srgbClr val="FF0000"/>
            </a:solidFill>
          </a:ln>
        </p:spPr>
        <p:txBody>
          <a:bodyPr wrap="square" lIns="0" tIns="0" rIns="0" bIns="0" rtlCol="0"/>
          <a:lstStyle/>
          <a:p>
            <a:endParaRPr sz="2078"/>
          </a:p>
        </p:txBody>
      </p:sp>
      <p:sp>
        <p:nvSpPr>
          <p:cNvPr id="6" name="object 6"/>
          <p:cNvSpPr/>
          <p:nvPr/>
        </p:nvSpPr>
        <p:spPr>
          <a:xfrm>
            <a:off x="3241608" y="2031358"/>
            <a:ext cx="0" cy="2992381"/>
          </a:xfrm>
          <a:custGeom>
            <a:avLst/>
            <a:gdLst/>
            <a:ahLst/>
            <a:cxnLst/>
            <a:rect l="l" t="t" r="r" b="b"/>
            <a:pathLst>
              <a:path h="2879725">
                <a:moveTo>
                  <a:pt x="0" y="0"/>
                </a:moveTo>
                <a:lnTo>
                  <a:pt x="0" y="2879725"/>
                </a:lnTo>
              </a:path>
            </a:pathLst>
          </a:custGeom>
          <a:ln w="9525">
            <a:solidFill>
              <a:srgbClr val="FF0000"/>
            </a:solidFill>
          </a:ln>
        </p:spPr>
        <p:txBody>
          <a:bodyPr wrap="square" lIns="0" tIns="0" rIns="0" bIns="0" rtlCol="0"/>
          <a:lstStyle/>
          <a:p>
            <a:endParaRPr sz="2078"/>
          </a:p>
        </p:txBody>
      </p:sp>
      <p:sp>
        <p:nvSpPr>
          <p:cNvPr id="7" name="object 7"/>
          <p:cNvSpPr/>
          <p:nvPr/>
        </p:nvSpPr>
        <p:spPr>
          <a:xfrm>
            <a:off x="3838766" y="2554743"/>
            <a:ext cx="300228" cy="151104"/>
          </a:xfrm>
          <a:custGeom>
            <a:avLst/>
            <a:gdLst/>
            <a:ahLst/>
            <a:cxnLst/>
            <a:rect l="l" t="t" r="r" b="b"/>
            <a:pathLst>
              <a:path w="288925" h="145414">
                <a:moveTo>
                  <a:pt x="130556" y="0"/>
                </a:moveTo>
                <a:lnTo>
                  <a:pt x="126746" y="2158"/>
                </a:lnTo>
                <a:lnTo>
                  <a:pt x="0" y="72516"/>
                </a:lnTo>
                <a:lnTo>
                  <a:pt x="126746" y="143001"/>
                </a:lnTo>
                <a:lnTo>
                  <a:pt x="130556" y="145160"/>
                </a:lnTo>
                <a:lnTo>
                  <a:pt x="135381" y="143763"/>
                </a:lnTo>
                <a:lnTo>
                  <a:pt x="139700" y="136143"/>
                </a:lnTo>
                <a:lnTo>
                  <a:pt x="138303" y="131317"/>
                </a:lnTo>
                <a:lnTo>
                  <a:pt x="134493" y="129158"/>
                </a:lnTo>
                <a:lnTo>
                  <a:pt x="46939" y="80517"/>
                </a:lnTo>
                <a:lnTo>
                  <a:pt x="16256" y="80517"/>
                </a:lnTo>
                <a:lnTo>
                  <a:pt x="16256" y="64642"/>
                </a:lnTo>
                <a:lnTo>
                  <a:pt x="46939" y="64642"/>
                </a:lnTo>
                <a:lnTo>
                  <a:pt x="134493" y="16001"/>
                </a:lnTo>
                <a:lnTo>
                  <a:pt x="138303" y="13842"/>
                </a:lnTo>
                <a:lnTo>
                  <a:pt x="139700" y="9016"/>
                </a:lnTo>
                <a:lnTo>
                  <a:pt x="135381" y="1396"/>
                </a:lnTo>
                <a:lnTo>
                  <a:pt x="130556" y="0"/>
                </a:lnTo>
                <a:close/>
              </a:path>
              <a:path w="288925" h="145414">
                <a:moveTo>
                  <a:pt x="256146" y="72580"/>
                </a:moveTo>
                <a:lnTo>
                  <a:pt x="154305" y="129158"/>
                </a:lnTo>
                <a:lnTo>
                  <a:pt x="150494" y="131317"/>
                </a:lnTo>
                <a:lnTo>
                  <a:pt x="149098" y="136143"/>
                </a:lnTo>
                <a:lnTo>
                  <a:pt x="153416" y="143763"/>
                </a:lnTo>
                <a:lnTo>
                  <a:pt x="158242" y="145160"/>
                </a:lnTo>
                <a:lnTo>
                  <a:pt x="162051" y="143001"/>
                </a:lnTo>
                <a:lnTo>
                  <a:pt x="274613" y="80517"/>
                </a:lnTo>
                <a:lnTo>
                  <a:pt x="272542" y="80517"/>
                </a:lnTo>
                <a:lnTo>
                  <a:pt x="272542" y="79501"/>
                </a:lnTo>
                <a:lnTo>
                  <a:pt x="268605" y="79501"/>
                </a:lnTo>
                <a:lnTo>
                  <a:pt x="256146" y="72580"/>
                </a:lnTo>
                <a:close/>
              </a:path>
              <a:path w="288925" h="145414">
                <a:moveTo>
                  <a:pt x="46939" y="64642"/>
                </a:moveTo>
                <a:lnTo>
                  <a:pt x="16256" y="64642"/>
                </a:lnTo>
                <a:lnTo>
                  <a:pt x="16256" y="80517"/>
                </a:lnTo>
                <a:lnTo>
                  <a:pt x="46939" y="80517"/>
                </a:lnTo>
                <a:lnTo>
                  <a:pt x="45110" y="79501"/>
                </a:lnTo>
                <a:lnTo>
                  <a:pt x="20193" y="79501"/>
                </a:lnTo>
                <a:lnTo>
                  <a:pt x="20193" y="65658"/>
                </a:lnTo>
                <a:lnTo>
                  <a:pt x="45110" y="65658"/>
                </a:lnTo>
                <a:lnTo>
                  <a:pt x="46939" y="64642"/>
                </a:lnTo>
                <a:close/>
              </a:path>
              <a:path w="288925" h="145414">
                <a:moveTo>
                  <a:pt x="241858" y="64642"/>
                </a:moveTo>
                <a:lnTo>
                  <a:pt x="46939" y="64642"/>
                </a:lnTo>
                <a:lnTo>
                  <a:pt x="32766" y="72516"/>
                </a:lnTo>
                <a:lnTo>
                  <a:pt x="46939" y="80517"/>
                </a:lnTo>
                <a:lnTo>
                  <a:pt x="241858" y="80517"/>
                </a:lnTo>
                <a:lnTo>
                  <a:pt x="256031" y="72643"/>
                </a:lnTo>
                <a:lnTo>
                  <a:pt x="241858" y="64642"/>
                </a:lnTo>
                <a:close/>
              </a:path>
              <a:path w="288925" h="145414">
                <a:moveTo>
                  <a:pt x="274410" y="64642"/>
                </a:moveTo>
                <a:lnTo>
                  <a:pt x="272542" y="64642"/>
                </a:lnTo>
                <a:lnTo>
                  <a:pt x="272542" y="80517"/>
                </a:lnTo>
                <a:lnTo>
                  <a:pt x="274613" y="80517"/>
                </a:lnTo>
                <a:lnTo>
                  <a:pt x="288798" y="72643"/>
                </a:lnTo>
                <a:lnTo>
                  <a:pt x="274410" y="64642"/>
                </a:lnTo>
                <a:close/>
              </a:path>
              <a:path w="288925" h="145414">
                <a:moveTo>
                  <a:pt x="20193" y="65658"/>
                </a:moveTo>
                <a:lnTo>
                  <a:pt x="20193" y="79501"/>
                </a:lnTo>
                <a:lnTo>
                  <a:pt x="32537" y="72643"/>
                </a:lnTo>
                <a:lnTo>
                  <a:pt x="20193" y="65658"/>
                </a:lnTo>
                <a:close/>
              </a:path>
              <a:path w="288925" h="145414">
                <a:moveTo>
                  <a:pt x="32651" y="72580"/>
                </a:moveTo>
                <a:lnTo>
                  <a:pt x="20193" y="79501"/>
                </a:lnTo>
                <a:lnTo>
                  <a:pt x="45110" y="79501"/>
                </a:lnTo>
                <a:lnTo>
                  <a:pt x="32651" y="72580"/>
                </a:lnTo>
                <a:close/>
              </a:path>
              <a:path w="288925" h="145414">
                <a:moveTo>
                  <a:pt x="268605" y="65658"/>
                </a:moveTo>
                <a:lnTo>
                  <a:pt x="256260" y="72516"/>
                </a:lnTo>
                <a:lnTo>
                  <a:pt x="268605" y="79501"/>
                </a:lnTo>
                <a:lnTo>
                  <a:pt x="268605" y="65658"/>
                </a:lnTo>
                <a:close/>
              </a:path>
              <a:path w="288925" h="145414">
                <a:moveTo>
                  <a:pt x="272542" y="65658"/>
                </a:moveTo>
                <a:lnTo>
                  <a:pt x="268605" y="65658"/>
                </a:lnTo>
                <a:lnTo>
                  <a:pt x="268605" y="79501"/>
                </a:lnTo>
                <a:lnTo>
                  <a:pt x="272542" y="79501"/>
                </a:lnTo>
                <a:lnTo>
                  <a:pt x="272542" y="65658"/>
                </a:lnTo>
                <a:close/>
              </a:path>
              <a:path w="288925" h="145414">
                <a:moveTo>
                  <a:pt x="45110" y="65658"/>
                </a:moveTo>
                <a:lnTo>
                  <a:pt x="20193" y="65658"/>
                </a:lnTo>
                <a:lnTo>
                  <a:pt x="32651" y="72580"/>
                </a:lnTo>
                <a:lnTo>
                  <a:pt x="45110" y="65658"/>
                </a:lnTo>
                <a:close/>
              </a:path>
              <a:path w="288925" h="145414">
                <a:moveTo>
                  <a:pt x="158242" y="0"/>
                </a:moveTo>
                <a:lnTo>
                  <a:pt x="153416" y="1396"/>
                </a:lnTo>
                <a:lnTo>
                  <a:pt x="149098" y="9016"/>
                </a:lnTo>
                <a:lnTo>
                  <a:pt x="150494" y="13842"/>
                </a:lnTo>
                <a:lnTo>
                  <a:pt x="154305" y="16001"/>
                </a:lnTo>
                <a:lnTo>
                  <a:pt x="256146" y="72580"/>
                </a:lnTo>
                <a:lnTo>
                  <a:pt x="268605" y="65658"/>
                </a:lnTo>
                <a:lnTo>
                  <a:pt x="272542" y="65658"/>
                </a:lnTo>
                <a:lnTo>
                  <a:pt x="272542" y="64642"/>
                </a:lnTo>
                <a:lnTo>
                  <a:pt x="274410" y="64642"/>
                </a:lnTo>
                <a:lnTo>
                  <a:pt x="162051" y="2158"/>
                </a:lnTo>
                <a:lnTo>
                  <a:pt x="158242" y="0"/>
                </a:lnTo>
                <a:close/>
              </a:path>
            </a:pathLst>
          </a:custGeom>
          <a:solidFill>
            <a:srgbClr val="99CC00"/>
          </a:solidFill>
        </p:spPr>
        <p:txBody>
          <a:bodyPr wrap="square" lIns="0" tIns="0" rIns="0" bIns="0" rtlCol="0"/>
          <a:lstStyle/>
          <a:p>
            <a:endParaRPr sz="2078"/>
          </a:p>
        </p:txBody>
      </p:sp>
      <p:sp>
        <p:nvSpPr>
          <p:cNvPr id="8" name="object 8"/>
          <p:cNvSpPr/>
          <p:nvPr/>
        </p:nvSpPr>
        <p:spPr>
          <a:xfrm>
            <a:off x="3764467" y="3003435"/>
            <a:ext cx="374790" cy="151104"/>
          </a:xfrm>
          <a:custGeom>
            <a:avLst/>
            <a:gdLst/>
            <a:ahLst/>
            <a:cxnLst/>
            <a:rect l="l" t="t" r="r" b="b"/>
            <a:pathLst>
              <a:path w="360680" h="145414">
                <a:moveTo>
                  <a:pt x="130682" y="0"/>
                </a:moveTo>
                <a:lnTo>
                  <a:pt x="0" y="72516"/>
                </a:lnTo>
                <a:lnTo>
                  <a:pt x="130682" y="145160"/>
                </a:lnTo>
                <a:lnTo>
                  <a:pt x="135508" y="143763"/>
                </a:lnTo>
                <a:lnTo>
                  <a:pt x="137541" y="139953"/>
                </a:lnTo>
                <a:lnTo>
                  <a:pt x="139700" y="136143"/>
                </a:lnTo>
                <a:lnTo>
                  <a:pt x="138302" y="131317"/>
                </a:lnTo>
                <a:lnTo>
                  <a:pt x="134493" y="129158"/>
                </a:lnTo>
                <a:lnTo>
                  <a:pt x="46939" y="80517"/>
                </a:lnTo>
                <a:lnTo>
                  <a:pt x="16382" y="80517"/>
                </a:lnTo>
                <a:lnTo>
                  <a:pt x="16382" y="64642"/>
                </a:lnTo>
                <a:lnTo>
                  <a:pt x="46939" y="64642"/>
                </a:lnTo>
                <a:lnTo>
                  <a:pt x="134493" y="16001"/>
                </a:lnTo>
                <a:lnTo>
                  <a:pt x="138302" y="13842"/>
                </a:lnTo>
                <a:lnTo>
                  <a:pt x="139700" y="9016"/>
                </a:lnTo>
                <a:lnTo>
                  <a:pt x="137541" y="5206"/>
                </a:lnTo>
                <a:lnTo>
                  <a:pt x="135508" y="1396"/>
                </a:lnTo>
                <a:lnTo>
                  <a:pt x="130682" y="0"/>
                </a:lnTo>
                <a:close/>
              </a:path>
              <a:path w="360680" h="145414">
                <a:moveTo>
                  <a:pt x="327647" y="72580"/>
                </a:moveTo>
                <a:lnTo>
                  <a:pt x="225806" y="129158"/>
                </a:lnTo>
                <a:lnTo>
                  <a:pt x="221995" y="131317"/>
                </a:lnTo>
                <a:lnTo>
                  <a:pt x="220599" y="136143"/>
                </a:lnTo>
                <a:lnTo>
                  <a:pt x="224917" y="143763"/>
                </a:lnTo>
                <a:lnTo>
                  <a:pt x="229743" y="145160"/>
                </a:lnTo>
                <a:lnTo>
                  <a:pt x="233552" y="143001"/>
                </a:lnTo>
                <a:lnTo>
                  <a:pt x="346114" y="80517"/>
                </a:lnTo>
                <a:lnTo>
                  <a:pt x="344043" y="80517"/>
                </a:lnTo>
                <a:lnTo>
                  <a:pt x="344043" y="79501"/>
                </a:lnTo>
                <a:lnTo>
                  <a:pt x="340106" y="79501"/>
                </a:lnTo>
                <a:lnTo>
                  <a:pt x="327647" y="72580"/>
                </a:lnTo>
                <a:close/>
              </a:path>
              <a:path w="360680" h="145414">
                <a:moveTo>
                  <a:pt x="46939" y="64642"/>
                </a:moveTo>
                <a:lnTo>
                  <a:pt x="16382" y="64642"/>
                </a:lnTo>
                <a:lnTo>
                  <a:pt x="16382" y="80517"/>
                </a:lnTo>
                <a:lnTo>
                  <a:pt x="46939" y="80517"/>
                </a:lnTo>
                <a:lnTo>
                  <a:pt x="45110" y="79501"/>
                </a:lnTo>
                <a:lnTo>
                  <a:pt x="20193" y="79501"/>
                </a:lnTo>
                <a:lnTo>
                  <a:pt x="20193" y="65658"/>
                </a:lnTo>
                <a:lnTo>
                  <a:pt x="45110" y="65658"/>
                </a:lnTo>
                <a:lnTo>
                  <a:pt x="46939" y="64642"/>
                </a:lnTo>
                <a:close/>
              </a:path>
              <a:path w="360680" h="145414">
                <a:moveTo>
                  <a:pt x="313359" y="64642"/>
                </a:moveTo>
                <a:lnTo>
                  <a:pt x="46939" y="64642"/>
                </a:lnTo>
                <a:lnTo>
                  <a:pt x="32766" y="72516"/>
                </a:lnTo>
                <a:lnTo>
                  <a:pt x="46939" y="80517"/>
                </a:lnTo>
                <a:lnTo>
                  <a:pt x="313359" y="80517"/>
                </a:lnTo>
                <a:lnTo>
                  <a:pt x="327532" y="72643"/>
                </a:lnTo>
                <a:lnTo>
                  <a:pt x="313359" y="64642"/>
                </a:lnTo>
                <a:close/>
              </a:path>
              <a:path w="360680" h="145414">
                <a:moveTo>
                  <a:pt x="345911" y="64642"/>
                </a:moveTo>
                <a:lnTo>
                  <a:pt x="344043" y="64642"/>
                </a:lnTo>
                <a:lnTo>
                  <a:pt x="344043" y="80517"/>
                </a:lnTo>
                <a:lnTo>
                  <a:pt x="346114" y="80517"/>
                </a:lnTo>
                <a:lnTo>
                  <a:pt x="360299" y="72643"/>
                </a:lnTo>
                <a:lnTo>
                  <a:pt x="345911" y="64642"/>
                </a:lnTo>
                <a:close/>
              </a:path>
              <a:path w="360680" h="145414">
                <a:moveTo>
                  <a:pt x="20193" y="65658"/>
                </a:moveTo>
                <a:lnTo>
                  <a:pt x="20193" y="79501"/>
                </a:lnTo>
                <a:lnTo>
                  <a:pt x="32537" y="72643"/>
                </a:lnTo>
                <a:lnTo>
                  <a:pt x="20193" y="65658"/>
                </a:lnTo>
                <a:close/>
              </a:path>
              <a:path w="360680" h="145414">
                <a:moveTo>
                  <a:pt x="32651" y="72580"/>
                </a:moveTo>
                <a:lnTo>
                  <a:pt x="20193" y="79501"/>
                </a:lnTo>
                <a:lnTo>
                  <a:pt x="45110" y="79501"/>
                </a:lnTo>
                <a:lnTo>
                  <a:pt x="32651" y="72580"/>
                </a:lnTo>
                <a:close/>
              </a:path>
              <a:path w="360680" h="145414">
                <a:moveTo>
                  <a:pt x="340106" y="65658"/>
                </a:moveTo>
                <a:lnTo>
                  <a:pt x="327761" y="72516"/>
                </a:lnTo>
                <a:lnTo>
                  <a:pt x="340106" y="79501"/>
                </a:lnTo>
                <a:lnTo>
                  <a:pt x="340106" y="65658"/>
                </a:lnTo>
                <a:close/>
              </a:path>
              <a:path w="360680" h="145414">
                <a:moveTo>
                  <a:pt x="344043" y="65658"/>
                </a:moveTo>
                <a:lnTo>
                  <a:pt x="340106" y="65658"/>
                </a:lnTo>
                <a:lnTo>
                  <a:pt x="340106" y="79501"/>
                </a:lnTo>
                <a:lnTo>
                  <a:pt x="344043" y="79501"/>
                </a:lnTo>
                <a:lnTo>
                  <a:pt x="344043" y="65658"/>
                </a:lnTo>
                <a:close/>
              </a:path>
              <a:path w="360680" h="145414">
                <a:moveTo>
                  <a:pt x="45110" y="65658"/>
                </a:moveTo>
                <a:lnTo>
                  <a:pt x="20193" y="65658"/>
                </a:lnTo>
                <a:lnTo>
                  <a:pt x="32651" y="72580"/>
                </a:lnTo>
                <a:lnTo>
                  <a:pt x="45110" y="65658"/>
                </a:lnTo>
                <a:close/>
              </a:path>
              <a:path w="360680" h="145414">
                <a:moveTo>
                  <a:pt x="229743" y="0"/>
                </a:moveTo>
                <a:lnTo>
                  <a:pt x="224917" y="1396"/>
                </a:lnTo>
                <a:lnTo>
                  <a:pt x="220599" y="9016"/>
                </a:lnTo>
                <a:lnTo>
                  <a:pt x="221995" y="13842"/>
                </a:lnTo>
                <a:lnTo>
                  <a:pt x="225806" y="16001"/>
                </a:lnTo>
                <a:lnTo>
                  <a:pt x="327647" y="72580"/>
                </a:lnTo>
                <a:lnTo>
                  <a:pt x="340106" y="65658"/>
                </a:lnTo>
                <a:lnTo>
                  <a:pt x="344043" y="65658"/>
                </a:lnTo>
                <a:lnTo>
                  <a:pt x="344043" y="64642"/>
                </a:lnTo>
                <a:lnTo>
                  <a:pt x="345911" y="64642"/>
                </a:lnTo>
                <a:lnTo>
                  <a:pt x="233552" y="2158"/>
                </a:lnTo>
                <a:lnTo>
                  <a:pt x="229743" y="0"/>
                </a:lnTo>
                <a:close/>
              </a:path>
            </a:pathLst>
          </a:custGeom>
          <a:solidFill>
            <a:srgbClr val="99CC00"/>
          </a:solidFill>
        </p:spPr>
        <p:txBody>
          <a:bodyPr wrap="square" lIns="0" tIns="0" rIns="0" bIns="0" rtlCol="0"/>
          <a:lstStyle/>
          <a:p>
            <a:endParaRPr sz="2078"/>
          </a:p>
        </p:txBody>
      </p:sp>
      <p:sp>
        <p:nvSpPr>
          <p:cNvPr id="9" name="object 9"/>
          <p:cNvSpPr/>
          <p:nvPr/>
        </p:nvSpPr>
        <p:spPr>
          <a:xfrm>
            <a:off x="3838765" y="3377960"/>
            <a:ext cx="374790" cy="151104"/>
          </a:xfrm>
          <a:custGeom>
            <a:avLst/>
            <a:gdLst/>
            <a:ahLst/>
            <a:cxnLst/>
            <a:rect l="l" t="t" r="r" b="b"/>
            <a:pathLst>
              <a:path w="360680" h="145414">
                <a:moveTo>
                  <a:pt x="130556" y="0"/>
                </a:moveTo>
                <a:lnTo>
                  <a:pt x="126746" y="2031"/>
                </a:lnTo>
                <a:lnTo>
                  <a:pt x="0" y="72516"/>
                </a:lnTo>
                <a:lnTo>
                  <a:pt x="126746" y="143001"/>
                </a:lnTo>
                <a:lnTo>
                  <a:pt x="130556" y="145033"/>
                </a:lnTo>
                <a:lnTo>
                  <a:pt x="135381" y="143763"/>
                </a:lnTo>
                <a:lnTo>
                  <a:pt x="137541" y="139826"/>
                </a:lnTo>
                <a:lnTo>
                  <a:pt x="139700" y="136016"/>
                </a:lnTo>
                <a:lnTo>
                  <a:pt x="138303" y="131190"/>
                </a:lnTo>
                <a:lnTo>
                  <a:pt x="134493" y="129031"/>
                </a:lnTo>
                <a:lnTo>
                  <a:pt x="46960" y="80402"/>
                </a:lnTo>
                <a:lnTo>
                  <a:pt x="16256" y="80390"/>
                </a:lnTo>
                <a:lnTo>
                  <a:pt x="16256" y="64515"/>
                </a:lnTo>
                <a:lnTo>
                  <a:pt x="47167" y="64515"/>
                </a:lnTo>
                <a:lnTo>
                  <a:pt x="134493" y="16001"/>
                </a:lnTo>
                <a:lnTo>
                  <a:pt x="138303" y="13842"/>
                </a:lnTo>
                <a:lnTo>
                  <a:pt x="139700" y="9016"/>
                </a:lnTo>
                <a:lnTo>
                  <a:pt x="137541" y="5206"/>
                </a:lnTo>
                <a:lnTo>
                  <a:pt x="135381" y="1269"/>
                </a:lnTo>
                <a:lnTo>
                  <a:pt x="130556" y="0"/>
                </a:lnTo>
                <a:close/>
              </a:path>
              <a:path w="360680" h="145414">
                <a:moveTo>
                  <a:pt x="345911" y="64515"/>
                </a:moveTo>
                <a:lnTo>
                  <a:pt x="343916" y="64515"/>
                </a:lnTo>
                <a:lnTo>
                  <a:pt x="343916" y="80517"/>
                </a:lnTo>
                <a:lnTo>
                  <a:pt x="313131" y="80517"/>
                </a:lnTo>
                <a:lnTo>
                  <a:pt x="225806" y="129031"/>
                </a:lnTo>
                <a:lnTo>
                  <a:pt x="221996" y="131190"/>
                </a:lnTo>
                <a:lnTo>
                  <a:pt x="220599" y="136016"/>
                </a:lnTo>
                <a:lnTo>
                  <a:pt x="222757" y="139826"/>
                </a:lnTo>
                <a:lnTo>
                  <a:pt x="224790" y="143763"/>
                </a:lnTo>
                <a:lnTo>
                  <a:pt x="229616" y="145033"/>
                </a:lnTo>
                <a:lnTo>
                  <a:pt x="233553" y="143001"/>
                </a:lnTo>
                <a:lnTo>
                  <a:pt x="345911" y="80517"/>
                </a:lnTo>
                <a:lnTo>
                  <a:pt x="343916" y="80517"/>
                </a:lnTo>
                <a:lnTo>
                  <a:pt x="345933" y="80506"/>
                </a:lnTo>
                <a:lnTo>
                  <a:pt x="360299" y="72516"/>
                </a:lnTo>
                <a:lnTo>
                  <a:pt x="345911" y="64515"/>
                </a:lnTo>
                <a:close/>
              </a:path>
              <a:path w="360680" h="145414">
                <a:moveTo>
                  <a:pt x="327532" y="72516"/>
                </a:moveTo>
                <a:lnTo>
                  <a:pt x="313152" y="80506"/>
                </a:lnTo>
                <a:lnTo>
                  <a:pt x="343916" y="80517"/>
                </a:lnTo>
                <a:lnTo>
                  <a:pt x="343916" y="79501"/>
                </a:lnTo>
                <a:lnTo>
                  <a:pt x="340106" y="79501"/>
                </a:lnTo>
                <a:lnTo>
                  <a:pt x="327532" y="72516"/>
                </a:lnTo>
                <a:close/>
              </a:path>
              <a:path w="360680" h="145414">
                <a:moveTo>
                  <a:pt x="313131" y="64515"/>
                </a:moveTo>
                <a:lnTo>
                  <a:pt x="47167" y="64515"/>
                </a:lnTo>
                <a:lnTo>
                  <a:pt x="32766" y="72516"/>
                </a:lnTo>
                <a:lnTo>
                  <a:pt x="46960" y="80402"/>
                </a:lnTo>
                <a:lnTo>
                  <a:pt x="313152" y="80506"/>
                </a:lnTo>
                <a:lnTo>
                  <a:pt x="327532" y="72516"/>
                </a:lnTo>
                <a:lnTo>
                  <a:pt x="313131" y="64515"/>
                </a:lnTo>
                <a:close/>
              </a:path>
              <a:path w="360680" h="145414">
                <a:moveTo>
                  <a:pt x="47167" y="64515"/>
                </a:moveTo>
                <a:lnTo>
                  <a:pt x="16256" y="64515"/>
                </a:lnTo>
                <a:lnTo>
                  <a:pt x="16256" y="80390"/>
                </a:lnTo>
                <a:lnTo>
                  <a:pt x="46960" y="80402"/>
                </a:lnTo>
                <a:lnTo>
                  <a:pt x="45339" y="79501"/>
                </a:lnTo>
                <a:lnTo>
                  <a:pt x="20193" y="79501"/>
                </a:lnTo>
                <a:lnTo>
                  <a:pt x="20193" y="65531"/>
                </a:lnTo>
                <a:lnTo>
                  <a:pt x="45339" y="65531"/>
                </a:lnTo>
                <a:lnTo>
                  <a:pt x="47167" y="64515"/>
                </a:lnTo>
                <a:close/>
              </a:path>
              <a:path w="360680" h="145414">
                <a:moveTo>
                  <a:pt x="20193" y="65531"/>
                </a:moveTo>
                <a:lnTo>
                  <a:pt x="20193" y="79501"/>
                </a:lnTo>
                <a:lnTo>
                  <a:pt x="32766" y="72516"/>
                </a:lnTo>
                <a:lnTo>
                  <a:pt x="20193" y="65531"/>
                </a:lnTo>
                <a:close/>
              </a:path>
              <a:path w="360680" h="145414">
                <a:moveTo>
                  <a:pt x="32766" y="72516"/>
                </a:moveTo>
                <a:lnTo>
                  <a:pt x="20193" y="79501"/>
                </a:lnTo>
                <a:lnTo>
                  <a:pt x="45339" y="79501"/>
                </a:lnTo>
                <a:lnTo>
                  <a:pt x="32766" y="72516"/>
                </a:lnTo>
                <a:close/>
              </a:path>
              <a:path w="360680" h="145414">
                <a:moveTo>
                  <a:pt x="340106" y="65531"/>
                </a:moveTo>
                <a:lnTo>
                  <a:pt x="327532" y="72516"/>
                </a:lnTo>
                <a:lnTo>
                  <a:pt x="340106" y="79501"/>
                </a:lnTo>
                <a:lnTo>
                  <a:pt x="340106" y="65531"/>
                </a:lnTo>
                <a:close/>
              </a:path>
              <a:path w="360680" h="145414">
                <a:moveTo>
                  <a:pt x="343916" y="65531"/>
                </a:moveTo>
                <a:lnTo>
                  <a:pt x="340106" y="65531"/>
                </a:lnTo>
                <a:lnTo>
                  <a:pt x="340106" y="79501"/>
                </a:lnTo>
                <a:lnTo>
                  <a:pt x="343916" y="79501"/>
                </a:lnTo>
                <a:lnTo>
                  <a:pt x="343916" y="65531"/>
                </a:lnTo>
                <a:close/>
              </a:path>
              <a:path w="360680" h="145414">
                <a:moveTo>
                  <a:pt x="45339" y="65531"/>
                </a:moveTo>
                <a:lnTo>
                  <a:pt x="20193" y="65531"/>
                </a:lnTo>
                <a:lnTo>
                  <a:pt x="32766" y="72516"/>
                </a:lnTo>
                <a:lnTo>
                  <a:pt x="45339" y="65531"/>
                </a:lnTo>
                <a:close/>
              </a:path>
              <a:path w="360680" h="145414">
                <a:moveTo>
                  <a:pt x="229616" y="0"/>
                </a:moveTo>
                <a:lnTo>
                  <a:pt x="224790" y="1269"/>
                </a:lnTo>
                <a:lnTo>
                  <a:pt x="222757" y="5206"/>
                </a:lnTo>
                <a:lnTo>
                  <a:pt x="220599" y="9016"/>
                </a:lnTo>
                <a:lnTo>
                  <a:pt x="221996" y="13842"/>
                </a:lnTo>
                <a:lnTo>
                  <a:pt x="225806" y="16001"/>
                </a:lnTo>
                <a:lnTo>
                  <a:pt x="327532" y="72516"/>
                </a:lnTo>
                <a:lnTo>
                  <a:pt x="340106" y="65531"/>
                </a:lnTo>
                <a:lnTo>
                  <a:pt x="343916" y="65531"/>
                </a:lnTo>
                <a:lnTo>
                  <a:pt x="343916" y="64515"/>
                </a:lnTo>
                <a:lnTo>
                  <a:pt x="345911" y="64515"/>
                </a:lnTo>
                <a:lnTo>
                  <a:pt x="233553" y="2031"/>
                </a:lnTo>
                <a:lnTo>
                  <a:pt x="229616" y="0"/>
                </a:lnTo>
                <a:close/>
              </a:path>
            </a:pathLst>
          </a:custGeom>
          <a:solidFill>
            <a:srgbClr val="99CC00"/>
          </a:solidFill>
        </p:spPr>
        <p:txBody>
          <a:bodyPr wrap="square" lIns="0" tIns="0" rIns="0" bIns="0" rtlCol="0"/>
          <a:lstStyle/>
          <a:p>
            <a:endParaRPr sz="2078"/>
          </a:p>
        </p:txBody>
      </p:sp>
      <p:sp>
        <p:nvSpPr>
          <p:cNvPr id="10" name="object 10"/>
          <p:cNvSpPr/>
          <p:nvPr/>
        </p:nvSpPr>
        <p:spPr>
          <a:xfrm>
            <a:off x="3764467" y="3826652"/>
            <a:ext cx="374790" cy="151104"/>
          </a:xfrm>
          <a:custGeom>
            <a:avLst/>
            <a:gdLst/>
            <a:ahLst/>
            <a:cxnLst/>
            <a:rect l="l" t="t" r="r" b="b"/>
            <a:pathLst>
              <a:path w="360680" h="145414">
                <a:moveTo>
                  <a:pt x="130682" y="0"/>
                </a:moveTo>
                <a:lnTo>
                  <a:pt x="126745" y="2031"/>
                </a:lnTo>
                <a:lnTo>
                  <a:pt x="0" y="72516"/>
                </a:lnTo>
                <a:lnTo>
                  <a:pt x="126745" y="143001"/>
                </a:lnTo>
                <a:lnTo>
                  <a:pt x="130682" y="145033"/>
                </a:lnTo>
                <a:lnTo>
                  <a:pt x="135508" y="143763"/>
                </a:lnTo>
                <a:lnTo>
                  <a:pt x="137541" y="139826"/>
                </a:lnTo>
                <a:lnTo>
                  <a:pt x="139700" y="136016"/>
                </a:lnTo>
                <a:lnTo>
                  <a:pt x="138302" y="131190"/>
                </a:lnTo>
                <a:lnTo>
                  <a:pt x="134493" y="129031"/>
                </a:lnTo>
                <a:lnTo>
                  <a:pt x="46939" y="80390"/>
                </a:lnTo>
                <a:lnTo>
                  <a:pt x="16382" y="80390"/>
                </a:lnTo>
                <a:lnTo>
                  <a:pt x="16382" y="64515"/>
                </a:lnTo>
                <a:lnTo>
                  <a:pt x="47167" y="64515"/>
                </a:lnTo>
                <a:lnTo>
                  <a:pt x="134493" y="16001"/>
                </a:lnTo>
                <a:lnTo>
                  <a:pt x="138302" y="13842"/>
                </a:lnTo>
                <a:lnTo>
                  <a:pt x="139700" y="9016"/>
                </a:lnTo>
                <a:lnTo>
                  <a:pt x="137541" y="5206"/>
                </a:lnTo>
                <a:lnTo>
                  <a:pt x="135508" y="1269"/>
                </a:lnTo>
                <a:lnTo>
                  <a:pt x="130682" y="0"/>
                </a:lnTo>
                <a:close/>
              </a:path>
              <a:path w="360680" h="145414">
                <a:moveTo>
                  <a:pt x="327532" y="72516"/>
                </a:moveTo>
                <a:lnTo>
                  <a:pt x="225806" y="129031"/>
                </a:lnTo>
                <a:lnTo>
                  <a:pt x="221995" y="131190"/>
                </a:lnTo>
                <a:lnTo>
                  <a:pt x="220599" y="136016"/>
                </a:lnTo>
                <a:lnTo>
                  <a:pt x="222757" y="139826"/>
                </a:lnTo>
                <a:lnTo>
                  <a:pt x="224917" y="143763"/>
                </a:lnTo>
                <a:lnTo>
                  <a:pt x="229743" y="145033"/>
                </a:lnTo>
                <a:lnTo>
                  <a:pt x="233552" y="143001"/>
                </a:lnTo>
                <a:lnTo>
                  <a:pt x="346139" y="80390"/>
                </a:lnTo>
                <a:lnTo>
                  <a:pt x="344043" y="80390"/>
                </a:lnTo>
                <a:lnTo>
                  <a:pt x="344043" y="79501"/>
                </a:lnTo>
                <a:lnTo>
                  <a:pt x="340106" y="79501"/>
                </a:lnTo>
                <a:lnTo>
                  <a:pt x="327532" y="72516"/>
                </a:lnTo>
                <a:close/>
              </a:path>
              <a:path w="360680" h="145414">
                <a:moveTo>
                  <a:pt x="47167" y="64515"/>
                </a:moveTo>
                <a:lnTo>
                  <a:pt x="16382" y="64515"/>
                </a:lnTo>
                <a:lnTo>
                  <a:pt x="16382" y="80390"/>
                </a:lnTo>
                <a:lnTo>
                  <a:pt x="46939" y="80390"/>
                </a:lnTo>
                <a:lnTo>
                  <a:pt x="45339" y="79501"/>
                </a:lnTo>
                <a:lnTo>
                  <a:pt x="20193" y="79501"/>
                </a:lnTo>
                <a:lnTo>
                  <a:pt x="20193" y="65531"/>
                </a:lnTo>
                <a:lnTo>
                  <a:pt x="45339" y="65531"/>
                </a:lnTo>
                <a:lnTo>
                  <a:pt x="47167" y="64515"/>
                </a:lnTo>
                <a:close/>
              </a:path>
              <a:path w="360680" h="145414">
                <a:moveTo>
                  <a:pt x="313131" y="64515"/>
                </a:moveTo>
                <a:lnTo>
                  <a:pt x="47167" y="64515"/>
                </a:lnTo>
                <a:lnTo>
                  <a:pt x="32766" y="72516"/>
                </a:lnTo>
                <a:lnTo>
                  <a:pt x="46939" y="80390"/>
                </a:lnTo>
                <a:lnTo>
                  <a:pt x="313359" y="80390"/>
                </a:lnTo>
                <a:lnTo>
                  <a:pt x="327532" y="72516"/>
                </a:lnTo>
                <a:lnTo>
                  <a:pt x="313131" y="64515"/>
                </a:lnTo>
                <a:close/>
              </a:path>
              <a:path w="360680" h="145414">
                <a:moveTo>
                  <a:pt x="345911" y="64515"/>
                </a:moveTo>
                <a:lnTo>
                  <a:pt x="344043" y="64515"/>
                </a:lnTo>
                <a:lnTo>
                  <a:pt x="344043" y="80390"/>
                </a:lnTo>
                <a:lnTo>
                  <a:pt x="346139" y="80390"/>
                </a:lnTo>
                <a:lnTo>
                  <a:pt x="360299" y="72516"/>
                </a:lnTo>
                <a:lnTo>
                  <a:pt x="345911" y="64515"/>
                </a:lnTo>
                <a:close/>
              </a:path>
              <a:path w="360680" h="145414">
                <a:moveTo>
                  <a:pt x="20193" y="65531"/>
                </a:moveTo>
                <a:lnTo>
                  <a:pt x="20193" y="79501"/>
                </a:lnTo>
                <a:lnTo>
                  <a:pt x="32766" y="72516"/>
                </a:lnTo>
                <a:lnTo>
                  <a:pt x="20193" y="65531"/>
                </a:lnTo>
                <a:close/>
              </a:path>
              <a:path w="360680" h="145414">
                <a:moveTo>
                  <a:pt x="32766" y="72516"/>
                </a:moveTo>
                <a:lnTo>
                  <a:pt x="20193" y="79501"/>
                </a:lnTo>
                <a:lnTo>
                  <a:pt x="45339" y="79501"/>
                </a:lnTo>
                <a:lnTo>
                  <a:pt x="32766" y="72516"/>
                </a:lnTo>
                <a:close/>
              </a:path>
              <a:path w="360680" h="145414">
                <a:moveTo>
                  <a:pt x="340106" y="65531"/>
                </a:moveTo>
                <a:lnTo>
                  <a:pt x="327532" y="72516"/>
                </a:lnTo>
                <a:lnTo>
                  <a:pt x="340106" y="79501"/>
                </a:lnTo>
                <a:lnTo>
                  <a:pt x="340106" y="65531"/>
                </a:lnTo>
                <a:close/>
              </a:path>
              <a:path w="360680" h="145414">
                <a:moveTo>
                  <a:pt x="344043" y="65531"/>
                </a:moveTo>
                <a:lnTo>
                  <a:pt x="340106" y="65531"/>
                </a:lnTo>
                <a:lnTo>
                  <a:pt x="340106" y="79501"/>
                </a:lnTo>
                <a:lnTo>
                  <a:pt x="344043" y="79501"/>
                </a:lnTo>
                <a:lnTo>
                  <a:pt x="344043" y="65531"/>
                </a:lnTo>
                <a:close/>
              </a:path>
              <a:path w="360680" h="145414">
                <a:moveTo>
                  <a:pt x="45339" y="65531"/>
                </a:moveTo>
                <a:lnTo>
                  <a:pt x="20193" y="65531"/>
                </a:lnTo>
                <a:lnTo>
                  <a:pt x="32766" y="72516"/>
                </a:lnTo>
                <a:lnTo>
                  <a:pt x="45339" y="65531"/>
                </a:lnTo>
                <a:close/>
              </a:path>
              <a:path w="360680" h="145414">
                <a:moveTo>
                  <a:pt x="229743" y="0"/>
                </a:moveTo>
                <a:lnTo>
                  <a:pt x="224917" y="1269"/>
                </a:lnTo>
                <a:lnTo>
                  <a:pt x="222757" y="5206"/>
                </a:lnTo>
                <a:lnTo>
                  <a:pt x="220599" y="9016"/>
                </a:lnTo>
                <a:lnTo>
                  <a:pt x="221995" y="13842"/>
                </a:lnTo>
                <a:lnTo>
                  <a:pt x="225806" y="16001"/>
                </a:lnTo>
                <a:lnTo>
                  <a:pt x="327532" y="72516"/>
                </a:lnTo>
                <a:lnTo>
                  <a:pt x="340106" y="65531"/>
                </a:lnTo>
                <a:lnTo>
                  <a:pt x="344043" y="65531"/>
                </a:lnTo>
                <a:lnTo>
                  <a:pt x="344043" y="64515"/>
                </a:lnTo>
                <a:lnTo>
                  <a:pt x="345911" y="64515"/>
                </a:lnTo>
                <a:lnTo>
                  <a:pt x="233552" y="2031"/>
                </a:lnTo>
                <a:lnTo>
                  <a:pt x="229743" y="0"/>
                </a:lnTo>
                <a:close/>
              </a:path>
            </a:pathLst>
          </a:custGeom>
          <a:solidFill>
            <a:srgbClr val="99CC00"/>
          </a:solidFill>
        </p:spPr>
        <p:txBody>
          <a:bodyPr wrap="square" lIns="0" tIns="0" rIns="0" bIns="0" rtlCol="0"/>
          <a:lstStyle/>
          <a:p>
            <a:endParaRPr sz="2078"/>
          </a:p>
        </p:txBody>
      </p:sp>
      <p:sp>
        <p:nvSpPr>
          <p:cNvPr id="11" name="object 11"/>
          <p:cNvSpPr txBox="1"/>
          <p:nvPr/>
        </p:nvSpPr>
        <p:spPr>
          <a:xfrm>
            <a:off x="5984131" y="2030921"/>
            <a:ext cx="4459868" cy="1482000"/>
          </a:xfrm>
          <a:prstGeom prst="rect">
            <a:avLst/>
          </a:prstGeom>
        </p:spPr>
        <p:txBody>
          <a:bodyPr vert="horz" wrap="square" lIns="0" tIns="55427" rIns="0" bIns="0" rtlCol="0">
            <a:spAutoFit/>
          </a:bodyPr>
          <a:lstStyle/>
          <a:p>
            <a:pPr marL="337832">
              <a:spcBef>
                <a:spcPts val="436"/>
              </a:spcBef>
              <a:tabLst>
                <a:tab pos="826765" algn="l"/>
              </a:tabLst>
            </a:pPr>
            <a:r>
              <a:rPr sz="2800" i="1" spc="16" dirty="0">
                <a:latin typeface="Times New Roman"/>
                <a:cs typeface="Times New Roman"/>
              </a:rPr>
              <a:t>D</a:t>
            </a:r>
            <a:r>
              <a:rPr sz="2400" i="1" spc="23" baseline="-25252" dirty="0">
                <a:latin typeface="Times New Roman"/>
                <a:cs typeface="Times New Roman"/>
              </a:rPr>
              <a:t>i	</a:t>
            </a:r>
            <a:r>
              <a:rPr sz="2800" spc="21" dirty="0">
                <a:latin typeface="Symbol"/>
                <a:cs typeface="Symbol"/>
              </a:rPr>
              <a:t></a:t>
            </a:r>
            <a:r>
              <a:rPr sz="2800" spc="21" dirty="0">
                <a:latin typeface="Times New Roman"/>
                <a:cs typeface="Times New Roman"/>
              </a:rPr>
              <a:t> </a:t>
            </a:r>
            <a:r>
              <a:rPr sz="2800" i="1" spc="26" dirty="0">
                <a:latin typeface="Times New Roman"/>
                <a:cs typeface="Times New Roman"/>
              </a:rPr>
              <a:t>X </a:t>
            </a:r>
            <a:r>
              <a:rPr sz="2400" i="1" spc="38" baseline="-25252" dirty="0">
                <a:latin typeface="Times New Roman"/>
                <a:cs typeface="Times New Roman"/>
              </a:rPr>
              <a:t>i</a:t>
            </a:r>
            <a:r>
              <a:rPr sz="2400" spc="38" baseline="-25252" dirty="0">
                <a:latin typeface="Times New Roman"/>
                <a:cs typeface="Times New Roman"/>
              </a:rPr>
              <a:t>1 </a:t>
            </a:r>
            <a:r>
              <a:rPr sz="2800" spc="21" dirty="0">
                <a:latin typeface="Symbol"/>
                <a:cs typeface="Symbol"/>
              </a:rPr>
              <a:t></a:t>
            </a:r>
            <a:r>
              <a:rPr sz="2800" spc="21" dirty="0">
                <a:latin typeface="Times New Roman"/>
                <a:cs typeface="Times New Roman"/>
              </a:rPr>
              <a:t> </a:t>
            </a:r>
            <a:r>
              <a:rPr sz="2800" i="1" spc="26" dirty="0">
                <a:latin typeface="Times New Roman"/>
                <a:cs typeface="Times New Roman"/>
              </a:rPr>
              <a:t>X </a:t>
            </a:r>
            <a:r>
              <a:rPr sz="2400" i="1" spc="23" baseline="-25252" dirty="0">
                <a:latin typeface="Times New Roman"/>
                <a:cs typeface="Times New Roman"/>
              </a:rPr>
              <a:t>i</a:t>
            </a:r>
            <a:r>
              <a:rPr sz="2400" i="1" spc="-295" baseline="-25252" dirty="0">
                <a:latin typeface="Times New Roman"/>
                <a:cs typeface="Times New Roman"/>
              </a:rPr>
              <a:t> </a:t>
            </a:r>
            <a:r>
              <a:rPr sz="2400" spc="46" baseline="-25252" dirty="0">
                <a:latin typeface="Times New Roman"/>
                <a:cs typeface="Times New Roman"/>
              </a:rPr>
              <a:t>2</a:t>
            </a:r>
            <a:endParaRPr sz="2400" baseline="-25252" dirty="0">
              <a:latin typeface="Times New Roman"/>
              <a:cs typeface="Times New Roman"/>
            </a:endParaRPr>
          </a:p>
          <a:p>
            <a:pPr marL="39590">
              <a:spcBef>
                <a:spcPts val="275"/>
              </a:spcBef>
            </a:pPr>
            <a:r>
              <a:rPr sz="2400" spc="-26" dirty="0">
                <a:latin typeface="Arial"/>
                <a:cs typeface="Arial"/>
              </a:rPr>
              <a:t>Таких </a:t>
            </a:r>
            <a:r>
              <a:rPr sz="2400" dirty="0">
                <a:latin typeface="Arial"/>
                <a:cs typeface="Arial"/>
              </a:rPr>
              <a:t>D </a:t>
            </a:r>
            <a:r>
              <a:rPr sz="2400" spc="-10" dirty="0">
                <a:latin typeface="Arial"/>
                <a:cs typeface="Arial"/>
              </a:rPr>
              <a:t>столько, </a:t>
            </a:r>
            <a:r>
              <a:rPr sz="2400" spc="-5" dirty="0">
                <a:latin typeface="Arial"/>
                <a:cs typeface="Arial"/>
              </a:rPr>
              <a:t>сколько</a:t>
            </a:r>
            <a:r>
              <a:rPr sz="2400" spc="-62" dirty="0">
                <a:latin typeface="Arial"/>
                <a:cs typeface="Arial"/>
              </a:rPr>
              <a:t> </a:t>
            </a:r>
            <a:r>
              <a:rPr sz="2400" spc="-5" dirty="0">
                <a:latin typeface="Arial"/>
                <a:cs typeface="Arial"/>
              </a:rPr>
              <a:t>пар.</a:t>
            </a:r>
            <a:endParaRPr sz="2400" dirty="0">
              <a:latin typeface="Arial"/>
              <a:cs typeface="Arial"/>
            </a:endParaRPr>
          </a:p>
          <a:p>
            <a:pPr marL="169576">
              <a:spcBef>
                <a:spcPts val="1725"/>
              </a:spcBef>
            </a:pPr>
            <a:r>
              <a:rPr sz="2400" dirty="0">
                <a:latin typeface="Arial"/>
                <a:cs typeface="Arial"/>
              </a:rPr>
              <a:t>У </a:t>
            </a:r>
            <a:r>
              <a:rPr sz="2400" spc="-5" dirty="0">
                <a:latin typeface="Arial"/>
                <a:cs typeface="Arial"/>
              </a:rPr>
              <a:t>них есть</a:t>
            </a:r>
            <a:r>
              <a:rPr sz="2400" spc="-36" dirty="0">
                <a:latin typeface="Arial"/>
                <a:cs typeface="Arial"/>
              </a:rPr>
              <a:t> </a:t>
            </a:r>
            <a:r>
              <a:rPr sz="2400" spc="-10" dirty="0">
                <a:latin typeface="Arial"/>
                <a:cs typeface="Arial"/>
              </a:rPr>
              <a:t>среднее.</a:t>
            </a:r>
            <a:endParaRPr sz="2400" dirty="0">
              <a:latin typeface="Arial"/>
              <a:cs typeface="Arial"/>
            </a:endParaRPr>
          </a:p>
        </p:txBody>
      </p:sp>
      <p:sp>
        <p:nvSpPr>
          <p:cNvPr id="17" name="object 17"/>
          <p:cNvSpPr txBox="1"/>
          <p:nvPr/>
        </p:nvSpPr>
        <p:spPr>
          <a:xfrm>
            <a:off x="5625121" y="4480373"/>
            <a:ext cx="841298" cy="286400"/>
          </a:xfrm>
          <a:prstGeom prst="rect">
            <a:avLst/>
          </a:prstGeom>
        </p:spPr>
        <p:txBody>
          <a:bodyPr vert="horz" wrap="square" lIns="0" tIns="14517" rIns="0" bIns="0" rtlCol="0">
            <a:spAutoFit/>
          </a:bodyPr>
          <a:lstStyle/>
          <a:p>
            <a:pPr marL="13197">
              <a:spcBef>
                <a:spcPts val="114"/>
              </a:spcBef>
              <a:tabLst>
                <a:tab pos="657189" algn="l"/>
              </a:tabLst>
            </a:pPr>
            <a:r>
              <a:rPr sz="1766" spc="42" dirty="0">
                <a:latin typeface="Times New Roman"/>
                <a:cs typeface="Times New Roman"/>
              </a:rPr>
              <a:t>1	</a:t>
            </a:r>
            <a:r>
              <a:rPr sz="1766" i="1" spc="57" dirty="0">
                <a:latin typeface="Times New Roman"/>
                <a:cs typeface="Times New Roman"/>
              </a:rPr>
              <a:t>D</a:t>
            </a:r>
            <a:endParaRPr sz="1766">
              <a:latin typeface="Times New Roman"/>
              <a:cs typeface="Times New Roman"/>
            </a:endParaRPr>
          </a:p>
        </p:txBody>
      </p:sp>
      <p:sp>
        <p:nvSpPr>
          <p:cNvPr id="18" name="object 18"/>
          <p:cNvSpPr txBox="1"/>
          <p:nvPr/>
        </p:nvSpPr>
        <p:spPr>
          <a:xfrm>
            <a:off x="5321726" y="4195653"/>
            <a:ext cx="1805326" cy="510307"/>
          </a:xfrm>
          <a:prstGeom prst="rect">
            <a:avLst/>
          </a:prstGeom>
        </p:spPr>
        <p:txBody>
          <a:bodyPr vert="horz" wrap="square" lIns="0" tIns="14517" rIns="0" bIns="0" rtlCol="0">
            <a:spAutoFit/>
          </a:bodyPr>
          <a:lstStyle/>
          <a:p>
            <a:pPr marL="13197">
              <a:spcBef>
                <a:spcPts val="114"/>
              </a:spcBef>
              <a:tabLst>
                <a:tab pos="519285" algn="l"/>
                <a:tab pos="1272809" algn="l"/>
              </a:tabLst>
            </a:pPr>
            <a:r>
              <a:rPr sz="3013" i="1" spc="114" dirty="0">
                <a:latin typeface="Times New Roman"/>
                <a:cs typeface="Times New Roman"/>
              </a:rPr>
              <a:t>H	</a:t>
            </a:r>
            <a:r>
              <a:rPr sz="3013" spc="42" dirty="0">
                <a:latin typeface="Times New Roman"/>
                <a:cs typeface="Times New Roman"/>
              </a:rPr>
              <a:t>:</a:t>
            </a:r>
            <a:r>
              <a:rPr sz="3013" spc="-192" dirty="0">
                <a:latin typeface="Times New Roman"/>
                <a:cs typeface="Times New Roman"/>
              </a:rPr>
              <a:t> </a:t>
            </a:r>
            <a:r>
              <a:rPr sz="3221" i="1" spc="-31" dirty="0">
                <a:latin typeface="Symbol"/>
                <a:cs typeface="Symbol"/>
              </a:rPr>
              <a:t></a:t>
            </a:r>
            <a:r>
              <a:rPr sz="3221" spc="-31" dirty="0">
                <a:latin typeface="Times New Roman"/>
                <a:cs typeface="Times New Roman"/>
              </a:rPr>
              <a:t>	</a:t>
            </a:r>
            <a:r>
              <a:rPr sz="3013" spc="83" dirty="0">
                <a:latin typeface="Symbol"/>
                <a:cs typeface="Symbol"/>
              </a:rPr>
              <a:t></a:t>
            </a:r>
            <a:r>
              <a:rPr sz="3013" spc="-83" dirty="0">
                <a:latin typeface="Times New Roman"/>
                <a:cs typeface="Times New Roman"/>
              </a:rPr>
              <a:t> </a:t>
            </a:r>
            <a:r>
              <a:rPr sz="3013" spc="78" dirty="0">
                <a:latin typeface="Times New Roman"/>
                <a:cs typeface="Times New Roman"/>
              </a:rPr>
              <a:t>0</a:t>
            </a:r>
            <a:endParaRPr sz="3013">
              <a:latin typeface="Times New Roman"/>
              <a:cs typeface="Times New Roman"/>
            </a:endParaRPr>
          </a:p>
        </p:txBody>
      </p:sp>
      <p:sp>
        <p:nvSpPr>
          <p:cNvPr id="19" name="object 19"/>
          <p:cNvSpPr txBox="1"/>
          <p:nvPr/>
        </p:nvSpPr>
        <p:spPr>
          <a:xfrm>
            <a:off x="2084260" y="5466574"/>
            <a:ext cx="1779592" cy="397149"/>
          </a:xfrm>
          <a:prstGeom prst="rect">
            <a:avLst/>
          </a:prstGeom>
        </p:spPr>
        <p:txBody>
          <a:bodyPr vert="horz" wrap="square" lIns="0" tIns="13197" rIns="0" bIns="0" rtlCol="0">
            <a:spAutoFit/>
          </a:bodyPr>
          <a:lstStyle/>
          <a:p>
            <a:pPr marL="13197">
              <a:spcBef>
                <a:spcPts val="104"/>
              </a:spcBef>
            </a:pPr>
            <a:r>
              <a:rPr sz="2494" spc="-5" dirty="0">
                <a:latin typeface="Arial"/>
                <a:cs typeface="Arial"/>
              </a:rPr>
              <a:t>С</a:t>
            </a:r>
            <a:r>
              <a:rPr sz="2494" spc="-26" dirty="0">
                <a:latin typeface="Arial"/>
                <a:cs typeface="Arial"/>
              </a:rPr>
              <a:t>т</a:t>
            </a:r>
            <a:r>
              <a:rPr sz="2494" spc="-57" dirty="0">
                <a:latin typeface="Arial"/>
                <a:cs typeface="Arial"/>
              </a:rPr>
              <a:t>а</a:t>
            </a:r>
            <a:r>
              <a:rPr sz="2494" dirty="0">
                <a:latin typeface="Arial"/>
                <a:cs typeface="Arial"/>
              </a:rPr>
              <a:t>тисти</a:t>
            </a:r>
            <a:r>
              <a:rPr sz="2494" spc="52" dirty="0">
                <a:latin typeface="Arial"/>
                <a:cs typeface="Arial"/>
              </a:rPr>
              <a:t>к</a:t>
            </a:r>
            <a:r>
              <a:rPr sz="2494" spc="-5" dirty="0">
                <a:latin typeface="Arial"/>
                <a:cs typeface="Arial"/>
              </a:rPr>
              <a:t>а:</a:t>
            </a:r>
            <a:endParaRPr sz="2494">
              <a:latin typeface="Arial"/>
              <a:cs typeface="Arial"/>
            </a:endParaRPr>
          </a:p>
        </p:txBody>
      </p:sp>
      <p:grpSp>
        <p:nvGrpSpPr>
          <p:cNvPr id="34" name="Группа 33"/>
          <p:cNvGrpSpPr/>
          <p:nvPr/>
        </p:nvGrpSpPr>
        <p:grpSpPr>
          <a:xfrm>
            <a:off x="4352421" y="4891522"/>
            <a:ext cx="6505302" cy="1285879"/>
            <a:chOff x="3157033" y="4891521"/>
            <a:chExt cx="6505302" cy="1285879"/>
          </a:xfrm>
        </p:grpSpPr>
        <p:sp>
          <p:nvSpPr>
            <p:cNvPr id="12" name="object 12"/>
            <p:cNvSpPr/>
            <p:nvPr/>
          </p:nvSpPr>
          <p:spPr>
            <a:xfrm>
              <a:off x="3848099" y="5148381"/>
              <a:ext cx="294289" cy="0"/>
            </a:xfrm>
            <a:custGeom>
              <a:avLst/>
              <a:gdLst/>
              <a:ahLst/>
              <a:cxnLst/>
              <a:rect l="l" t="t" r="r" b="b"/>
              <a:pathLst>
                <a:path w="283210">
                  <a:moveTo>
                    <a:pt x="0" y="0"/>
                  </a:moveTo>
                  <a:lnTo>
                    <a:pt x="283163" y="0"/>
                  </a:lnTo>
                </a:path>
              </a:pathLst>
            </a:custGeom>
            <a:ln w="16518">
              <a:solidFill>
                <a:srgbClr val="000000"/>
              </a:solidFill>
            </a:ln>
          </p:spPr>
          <p:txBody>
            <a:bodyPr wrap="square" lIns="0" tIns="0" rIns="0" bIns="0" rtlCol="0"/>
            <a:lstStyle/>
            <a:p>
              <a:endParaRPr sz="1800"/>
            </a:p>
          </p:txBody>
        </p:sp>
        <p:sp>
          <p:nvSpPr>
            <p:cNvPr id="13" name="object 13"/>
            <p:cNvSpPr/>
            <p:nvPr/>
          </p:nvSpPr>
          <p:spPr>
            <a:xfrm>
              <a:off x="4343953" y="5867150"/>
              <a:ext cx="171559" cy="0"/>
            </a:xfrm>
            <a:custGeom>
              <a:avLst/>
              <a:gdLst/>
              <a:ahLst/>
              <a:cxnLst/>
              <a:rect l="l" t="t" r="r" b="b"/>
              <a:pathLst>
                <a:path w="165100">
                  <a:moveTo>
                    <a:pt x="0" y="0"/>
                  </a:moveTo>
                  <a:lnTo>
                    <a:pt x="165100" y="0"/>
                  </a:lnTo>
                </a:path>
              </a:pathLst>
            </a:custGeom>
            <a:ln w="9439">
              <a:solidFill>
                <a:srgbClr val="000000"/>
              </a:solidFill>
            </a:ln>
          </p:spPr>
          <p:txBody>
            <a:bodyPr wrap="square" lIns="0" tIns="0" rIns="0" bIns="0" rtlCol="0"/>
            <a:lstStyle/>
            <a:p>
              <a:endParaRPr sz="1800"/>
            </a:p>
          </p:txBody>
        </p:sp>
        <p:sp>
          <p:nvSpPr>
            <p:cNvPr id="14" name="object 14"/>
            <p:cNvSpPr/>
            <p:nvPr/>
          </p:nvSpPr>
          <p:spPr>
            <a:xfrm>
              <a:off x="3779314" y="5651041"/>
              <a:ext cx="1299228" cy="0"/>
            </a:xfrm>
            <a:custGeom>
              <a:avLst/>
              <a:gdLst/>
              <a:ahLst/>
              <a:cxnLst/>
              <a:rect l="l" t="t" r="r" b="b"/>
              <a:pathLst>
                <a:path w="1250314">
                  <a:moveTo>
                    <a:pt x="0" y="0"/>
                  </a:moveTo>
                  <a:lnTo>
                    <a:pt x="1249903" y="0"/>
                  </a:lnTo>
                </a:path>
              </a:pathLst>
            </a:custGeom>
            <a:ln w="16518">
              <a:solidFill>
                <a:srgbClr val="000000"/>
              </a:solidFill>
            </a:ln>
          </p:spPr>
          <p:txBody>
            <a:bodyPr wrap="square" lIns="0" tIns="0" rIns="0" bIns="0" rtlCol="0"/>
            <a:lstStyle/>
            <a:p>
              <a:endParaRPr sz="1800"/>
            </a:p>
          </p:txBody>
        </p:sp>
        <p:sp>
          <p:nvSpPr>
            <p:cNvPr id="15" name="object 15"/>
            <p:cNvSpPr txBox="1"/>
            <p:nvPr/>
          </p:nvSpPr>
          <p:spPr>
            <a:xfrm>
              <a:off x="4176523" y="5664961"/>
              <a:ext cx="430876" cy="381991"/>
            </a:xfrm>
            <a:prstGeom prst="rect">
              <a:avLst/>
            </a:prstGeom>
          </p:spPr>
          <p:txBody>
            <a:bodyPr vert="horz" wrap="square" lIns="0" tIns="12537" rIns="0" bIns="0" rtlCol="0">
              <a:spAutoFit/>
            </a:bodyPr>
            <a:lstStyle/>
            <a:p>
              <a:pPr marL="39590">
                <a:spcBef>
                  <a:spcPts val="99"/>
                </a:spcBef>
              </a:pPr>
              <a:r>
                <a:rPr sz="2400" i="1" spc="145" dirty="0">
                  <a:latin typeface="Times New Roman"/>
                  <a:cs typeface="Times New Roman"/>
                </a:rPr>
                <a:t>s</a:t>
              </a:r>
              <a:r>
                <a:rPr i="1" spc="217" baseline="-32679" dirty="0">
                  <a:latin typeface="Times New Roman"/>
                  <a:cs typeface="Times New Roman"/>
                </a:rPr>
                <a:t>D</a:t>
              </a:r>
              <a:endParaRPr baseline="-32679">
                <a:latin typeface="Times New Roman"/>
                <a:cs typeface="Times New Roman"/>
              </a:endParaRPr>
            </a:p>
          </p:txBody>
        </p:sp>
        <p:sp>
          <p:nvSpPr>
            <p:cNvPr id="16" name="object 16"/>
            <p:cNvSpPr txBox="1"/>
            <p:nvPr/>
          </p:nvSpPr>
          <p:spPr>
            <a:xfrm>
              <a:off x="3157033" y="5062721"/>
              <a:ext cx="1874610" cy="445546"/>
            </a:xfrm>
            <a:prstGeom prst="rect">
              <a:avLst/>
            </a:prstGeom>
          </p:spPr>
          <p:txBody>
            <a:bodyPr vert="horz" wrap="square" lIns="0" tIns="14517" rIns="0" bIns="0" rtlCol="0">
              <a:spAutoFit/>
            </a:bodyPr>
            <a:lstStyle/>
            <a:p>
              <a:pPr marL="39590">
                <a:spcBef>
                  <a:spcPts val="114"/>
                </a:spcBef>
                <a:tabLst>
                  <a:tab pos="662468" algn="l"/>
                </a:tabLst>
              </a:pPr>
              <a:r>
                <a:rPr sz="4000" i="1" spc="16" baseline="-37664" dirty="0">
                  <a:latin typeface="Times New Roman"/>
                  <a:cs typeface="Times New Roman"/>
                </a:rPr>
                <a:t>t</a:t>
              </a:r>
              <a:r>
                <a:rPr sz="4000" i="1" spc="428" baseline="-37664" dirty="0">
                  <a:latin typeface="Times New Roman"/>
                  <a:cs typeface="Times New Roman"/>
                </a:rPr>
                <a:t> </a:t>
              </a:r>
              <a:r>
                <a:rPr sz="4000" spc="31" baseline="-37664" dirty="0">
                  <a:latin typeface="Symbol"/>
                  <a:cs typeface="Symbol"/>
                </a:rPr>
                <a:t></a:t>
              </a:r>
              <a:r>
                <a:rPr sz="4000" spc="31" baseline="-37664" dirty="0">
                  <a:latin typeface="Times New Roman"/>
                  <a:cs typeface="Times New Roman"/>
                </a:rPr>
                <a:t>	</a:t>
              </a:r>
              <a:r>
                <a:rPr sz="2400" i="1" spc="26" dirty="0">
                  <a:latin typeface="Times New Roman"/>
                  <a:cs typeface="Times New Roman"/>
                </a:rPr>
                <a:t>D </a:t>
              </a:r>
              <a:r>
                <a:rPr sz="2400" spc="21" dirty="0">
                  <a:latin typeface="Symbol"/>
                  <a:cs typeface="Symbol"/>
                </a:rPr>
                <a:t></a:t>
              </a:r>
              <a:r>
                <a:rPr sz="2400" spc="21" dirty="0">
                  <a:latin typeface="Times New Roman"/>
                  <a:cs typeface="Times New Roman"/>
                </a:rPr>
                <a:t> </a:t>
              </a:r>
              <a:r>
                <a:rPr sz="2800" i="1" spc="-68" dirty="0">
                  <a:latin typeface="Symbol"/>
                  <a:cs typeface="Symbol"/>
                </a:rPr>
                <a:t></a:t>
              </a:r>
              <a:r>
                <a:rPr sz="2800" i="1" spc="-291" dirty="0">
                  <a:latin typeface="Times New Roman"/>
                  <a:cs typeface="Times New Roman"/>
                </a:rPr>
                <a:t> </a:t>
              </a:r>
              <a:r>
                <a:rPr i="1" spc="46" baseline="-24509" dirty="0">
                  <a:latin typeface="Times New Roman"/>
                  <a:cs typeface="Times New Roman"/>
                </a:rPr>
                <a:t>D</a:t>
              </a:r>
              <a:endParaRPr baseline="-24509" dirty="0">
                <a:latin typeface="Times New Roman"/>
                <a:cs typeface="Times New Roman"/>
              </a:endParaRPr>
            </a:p>
          </p:txBody>
        </p:sp>
        <p:sp>
          <p:nvSpPr>
            <p:cNvPr id="20" name="object 20"/>
            <p:cNvSpPr/>
            <p:nvPr/>
          </p:nvSpPr>
          <p:spPr>
            <a:xfrm>
              <a:off x="5391049" y="5604084"/>
              <a:ext cx="450672" cy="79181"/>
            </a:xfrm>
            <a:custGeom>
              <a:avLst/>
              <a:gdLst/>
              <a:ahLst/>
              <a:cxnLst/>
              <a:rect l="l" t="t" r="r" b="b"/>
              <a:pathLst>
                <a:path w="433704" h="76200">
                  <a:moveTo>
                    <a:pt x="357250" y="0"/>
                  </a:moveTo>
                  <a:lnTo>
                    <a:pt x="357250" y="76200"/>
                  </a:lnTo>
                  <a:lnTo>
                    <a:pt x="420750" y="44450"/>
                  </a:lnTo>
                  <a:lnTo>
                    <a:pt x="369950" y="44450"/>
                  </a:lnTo>
                  <a:lnTo>
                    <a:pt x="369950" y="31750"/>
                  </a:lnTo>
                  <a:lnTo>
                    <a:pt x="420750" y="31750"/>
                  </a:lnTo>
                  <a:lnTo>
                    <a:pt x="357250" y="0"/>
                  </a:lnTo>
                  <a:close/>
                </a:path>
                <a:path w="433704" h="76200">
                  <a:moveTo>
                    <a:pt x="357250" y="31750"/>
                  </a:moveTo>
                  <a:lnTo>
                    <a:pt x="0" y="31750"/>
                  </a:lnTo>
                  <a:lnTo>
                    <a:pt x="0" y="44450"/>
                  </a:lnTo>
                  <a:lnTo>
                    <a:pt x="357250" y="44450"/>
                  </a:lnTo>
                  <a:lnTo>
                    <a:pt x="357250" y="31750"/>
                  </a:lnTo>
                  <a:close/>
                </a:path>
                <a:path w="433704" h="76200">
                  <a:moveTo>
                    <a:pt x="420750" y="31750"/>
                  </a:moveTo>
                  <a:lnTo>
                    <a:pt x="369950" y="31750"/>
                  </a:lnTo>
                  <a:lnTo>
                    <a:pt x="369950" y="44450"/>
                  </a:lnTo>
                  <a:lnTo>
                    <a:pt x="420750" y="44450"/>
                  </a:lnTo>
                  <a:lnTo>
                    <a:pt x="433450" y="38100"/>
                  </a:lnTo>
                  <a:lnTo>
                    <a:pt x="420750" y="31750"/>
                  </a:lnTo>
                  <a:close/>
                </a:path>
              </a:pathLst>
            </a:custGeom>
            <a:solidFill>
              <a:srgbClr val="FF0000"/>
            </a:solidFill>
          </p:spPr>
          <p:txBody>
            <a:bodyPr wrap="square" lIns="0" tIns="0" rIns="0" bIns="0" rtlCol="0"/>
            <a:lstStyle/>
            <a:p>
              <a:endParaRPr sz="1800"/>
            </a:p>
          </p:txBody>
        </p:sp>
        <p:sp>
          <p:nvSpPr>
            <p:cNvPr id="21" name="object 21"/>
            <p:cNvSpPr/>
            <p:nvPr/>
          </p:nvSpPr>
          <p:spPr>
            <a:xfrm>
              <a:off x="7014605" y="5142544"/>
              <a:ext cx="377429" cy="0"/>
            </a:xfrm>
            <a:custGeom>
              <a:avLst/>
              <a:gdLst/>
              <a:ahLst/>
              <a:cxnLst/>
              <a:rect l="l" t="t" r="r" b="b"/>
              <a:pathLst>
                <a:path w="363220">
                  <a:moveTo>
                    <a:pt x="0" y="0"/>
                  </a:moveTo>
                  <a:lnTo>
                    <a:pt x="362625" y="0"/>
                  </a:lnTo>
                </a:path>
              </a:pathLst>
            </a:custGeom>
            <a:ln w="21127">
              <a:solidFill>
                <a:srgbClr val="000000"/>
              </a:solidFill>
            </a:ln>
          </p:spPr>
          <p:txBody>
            <a:bodyPr wrap="square" lIns="0" tIns="0" rIns="0" bIns="0" rtlCol="0"/>
            <a:lstStyle/>
            <a:p>
              <a:endParaRPr sz="1800"/>
            </a:p>
          </p:txBody>
        </p:sp>
        <p:sp>
          <p:nvSpPr>
            <p:cNvPr id="22" name="object 22"/>
            <p:cNvSpPr/>
            <p:nvPr/>
          </p:nvSpPr>
          <p:spPr>
            <a:xfrm>
              <a:off x="7203320" y="5938644"/>
              <a:ext cx="165580" cy="0"/>
            </a:xfrm>
            <a:custGeom>
              <a:avLst/>
              <a:gdLst/>
              <a:ahLst/>
              <a:cxnLst/>
              <a:rect l="l" t="t" r="r" b="b"/>
              <a:pathLst>
                <a:path w="212090">
                  <a:moveTo>
                    <a:pt x="0" y="0"/>
                  </a:moveTo>
                  <a:lnTo>
                    <a:pt x="211472" y="0"/>
                  </a:lnTo>
                </a:path>
              </a:pathLst>
            </a:custGeom>
            <a:ln w="12073">
              <a:solidFill>
                <a:srgbClr val="000000"/>
              </a:solidFill>
            </a:ln>
          </p:spPr>
          <p:txBody>
            <a:bodyPr wrap="square" lIns="0" tIns="0" rIns="0" bIns="0" rtlCol="0"/>
            <a:lstStyle/>
            <a:p>
              <a:endParaRPr sz="1800"/>
            </a:p>
          </p:txBody>
        </p:sp>
        <p:sp>
          <p:nvSpPr>
            <p:cNvPr id="23" name="object 23"/>
            <p:cNvSpPr/>
            <p:nvPr/>
          </p:nvSpPr>
          <p:spPr>
            <a:xfrm>
              <a:off x="6947714" y="5639107"/>
              <a:ext cx="630808" cy="0"/>
            </a:xfrm>
            <a:custGeom>
              <a:avLst/>
              <a:gdLst/>
              <a:ahLst/>
              <a:cxnLst/>
              <a:rect l="l" t="t" r="r" b="b"/>
              <a:pathLst>
                <a:path w="607059">
                  <a:moveTo>
                    <a:pt x="0" y="0"/>
                  </a:moveTo>
                  <a:lnTo>
                    <a:pt x="606786" y="0"/>
                  </a:lnTo>
                </a:path>
              </a:pathLst>
            </a:custGeom>
            <a:ln w="21127">
              <a:solidFill>
                <a:srgbClr val="000000"/>
              </a:solidFill>
            </a:ln>
          </p:spPr>
          <p:txBody>
            <a:bodyPr wrap="square" lIns="0" tIns="0" rIns="0" bIns="0" rtlCol="0"/>
            <a:lstStyle/>
            <a:p>
              <a:endParaRPr sz="1800"/>
            </a:p>
          </p:txBody>
        </p:sp>
        <p:sp>
          <p:nvSpPr>
            <p:cNvPr id="24" name="object 24"/>
            <p:cNvSpPr txBox="1"/>
            <p:nvPr/>
          </p:nvSpPr>
          <p:spPr>
            <a:xfrm>
              <a:off x="6135086" y="4891521"/>
              <a:ext cx="1549308" cy="1285879"/>
            </a:xfrm>
            <a:prstGeom prst="rect">
              <a:avLst/>
            </a:prstGeom>
            <a:ln w="9525">
              <a:solidFill>
                <a:srgbClr val="FF6600"/>
              </a:solidFill>
            </a:ln>
          </p:spPr>
          <p:txBody>
            <a:bodyPr vert="horz" wrap="square" lIns="0" tIns="568783" rIns="0" bIns="0" rtlCol="0">
              <a:spAutoFit/>
            </a:bodyPr>
            <a:lstStyle/>
            <a:p>
              <a:pPr marL="855797" marR="232918" indent="-789155">
                <a:lnSpc>
                  <a:spcPct val="68100"/>
                </a:lnSpc>
                <a:spcBef>
                  <a:spcPts val="4479"/>
                </a:spcBef>
                <a:tabLst>
                  <a:tab pos="925739" algn="l"/>
                </a:tabLst>
              </a:pPr>
              <a:r>
                <a:rPr sz="3200" i="1" spc="26" dirty="0">
                  <a:latin typeface="Times New Roman"/>
                  <a:cs typeface="Times New Roman"/>
                </a:rPr>
                <a:t>t</a:t>
              </a:r>
              <a:r>
                <a:rPr sz="3200" i="1" spc="338" dirty="0">
                  <a:latin typeface="Times New Roman"/>
                  <a:cs typeface="Times New Roman"/>
                </a:rPr>
                <a:t> </a:t>
              </a:r>
              <a:r>
                <a:rPr sz="3200" spc="52" dirty="0">
                  <a:latin typeface="Symbol"/>
                  <a:cs typeface="Symbol"/>
                </a:rPr>
                <a:t></a:t>
              </a:r>
              <a:r>
                <a:rPr sz="3200" dirty="0">
                  <a:latin typeface="Times New Roman"/>
                  <a:cs typeface="Times New Roman"/>
                </a:rPr>
                <a:t>		</a:t>
              </a:r>
              <a:r>
                <a:rPr sz="4800" i="1" spc="62" baseline="36549" dirty="0">
                  <a:latin typeface="Times New Roman"/>
                  <a:cs typeface="Times New Roman"/>
                </a:rPr>
                <a:t>D </a:t>
              </a:r>
              <a:r>
                <a:rPr sz="4800" i="1" spc="31" baseline="36549" dirty="0">
                  <a:latin typeface="Times New Roman"/>
                  <a:cs typeface="Times New Roman"/>
                </a:rPr>
                <a:t> </a:t>
              </a:r>
              <a:r>
                <a:rPr sz="3200" i="1" spc="317" dirty="0">
                  <a:latin typeface="Times New Roman"/>
                  <a:cs typeface="Times New Roman"/>
                </a:rPr>
                <a:t>s</a:t>
              </a:r>
              <a:r>
                <a:rPr sz="2800" i="1" spc="70" baseline="-32828" dirty="0">
                  <a:latin typeface="Times New Roman"/>
                  <a:cs typeface="Times New Roman"/>
                </a:rPr>
                <a:t>D</a:t>
              </a:r>
              <a:endParaRPr sz="2800" baseline="-32828" dirty="0">
                <a:latin typeface="Times New Roman"/>
                <a:cs typeface="Times New Roman"/>
              </a:endParaRPr>
            </a:p>
          </p:txBody>
        </p:sp>
        <p:sp>
          <p:nvSpPr>
            <p:cNvPr id="25" name="object 25"/>
            <p:cNvSpPr txBox="1"/>
            <p:nvPr/>
          </p:nvSpPr>
          <p:spPr>
            <a:xfrm>
              <a:off x="8155917" y="5340082"/>
              <a:ext cx="1506418" cy="357277"/>
            </a:xfrm>
            <a:prstGeom prst="rect">
              <a:avLst/>
            </a:prstGeom>
            <a:ln w="9525">
              <a:solidFill>
                <a:srgbClr val="3A812E"/>
              </a:solidFill>
            </a:ln>
          </p:spPr>
          <p:txBody>
            <a:bodyPr vert="horz" wrap="square" lIns="0" tIns="0" rIns="0" bIns="0" rtlCol="0">
              <a:spAutoFit/>
            </a:bodyPr>
            <a:lstStyle/>
            <a:p>
              <a:pPr marL="58725">
                <a:lnSpc>
                  <a:spcPts val="3128"/>
                </a:lnSpc>
                <a:tabLst>
                  <a:tab pos="516646" algn="l"/>
                </a:tabLst>
              </a:pPr>
              <a:r>
                <a:rPr i="1" spc="114" dirty="0">
                  <a:latin typeface="Times New Roman"/>
                  <a:cs typeface="Times New Roman"/>
                </a:rPr>
                <a:t>df	</a:t>
              </a:r>
              <a:r>
                <a:rPr spc="109" dirty="0">
                  <a:latin typeface="Symbol"/>
                  <a:cs typeface="Symbol"/>
                </a:rPr>
                <a:t></a:t>
              </a:r>
              <a:r>
                <a:rPr spc="42" dirty="0">
                  <a:latin typeface="Times New Roman"/>
                  <a:cs typeface="Times New Roman"/>
                </a:rPr>
                <a:t> </a:t>
              </a:r>
              <a:r>
                <a:rPr i="1" spc="99" dirty="0">
                  <a:latin typeface="Times New Roman"/>
                  <a:cs typeface="Times New Roman"/>
                </a:rPr>
                <a:t>n</a:t>
              </a:r>
              <a:r>
                <a:rPr i="1" spc="-118" dirty="0">
                  <a:latin typeface="Times New Roman"/>
                  <a:cs typeface="Times New Roman"/>
                </a:rPr>
                <a:t> </a:t>
              </a:r>
              <a:r>
                <a:rPr spc="109" dirty="0">
                  <a:latin typeface="Symbol"/>
                  <a:cs typeface="Symbol"/>
                </a:rPr>
                <a:t></a:t>
              </a:r>
              <a:r>
                <a:rPr spc="-416" dirty="0">
                  <a:latin typeface="Times New Roman"/>
                  <a:cs typeface="Times New Roman"/>
                </a:rPr>
                <a:t> </a:t>
              </a:r>
              <a:r>
                <a:rPr spc="99" dirty="0">
                  <a:latin typeface="Times New Roman"/>
                  <a:cs typeface="Times New Roman"/>
                </a:rPr>
                <a:t>1</a:t>
              </a:r>
              <a:endParaRPr>
                <a:latin typeface="Times New Roman"/>
                <a:cs typeface="Times New Roman"/>
              </a:endParaRPr>
            </a:p>
          </p:txBody>
        </p:sp>
      </p:grpSp>
      <p:sp>
        <p:nvSpPr>
          <p:cNvPr id="26" name="object 26"/>
          <p:cNvSpPr txBox="1"/>
          <p:nvPr/>
        </p:nvSpPr>
        <p:spPr>
          <a:xfrm>
            <a:off x="2705323" y="6404091"/>
            <a:ext cx="6680895" cy="364422"/>
          </a:xfrm>
          <a:prstGeom prst="rect">
            <a:avLst/>
          </a:prstGeom>
        </p:spPr>
        <p:txBody>
          <a:bodyPr vert="horz" wrap="square" lIns="0" tIns="12537" rIns="0" bIns="0" rtlCol="0">
            <a:spAutoFit/>
          </a:bodyPr>
          <a:lstStyle/>
          <a:p>
            <a:pPr marL="13197">
              <a:spcBef>
                <a:spcPts val="99"/>
              </a:spcBef>
            </a:pPr>
            <a:r>
              <a:rPr sz="2286" spc="-36" dirty="0">
                <a:latin typeface="Arial"/>
                <a:cs typeface="Arial"/>
              </a:rPr>
              <a:t>Тест </a:t>
            </a:r>
            <a:r>
              <a:rPr sz="2286" spc="-26" dirty="0">
                <a:latin typeface="Arial"/>
                <a:cs typeface="Arial"/>
              </a:rPr>
              <a:t>может </a:t>
            </a:r>
            <a:r>
              <a:rPr sz="2286" spc="-5" dirty="0">
                <a:latin typeface="Arial"/>
                <a:cs typeface="Arial"/>
              </a:rPr>
              <a:t>быть </a:t>
            </a:r>
            <a:r>
              <a:rPr sz="2286" spc="-16" dirty="0">
                <a:latin typeface="Arial"/>
                <a:cs typeface="Arial"/>
              </a:rPr>
              <a:t>односторонним </a:t>
            </a:r>
            <a:r>
              <a:rPr sz="2286" spc="-5" dirty="0">
                <a:latin typeface="Arial"/>
                <a:cs typeface="Arial"/>
              </a:rPr>
              <a:t>и</a:t>
            </a:r>
            <a:r>
              <a:rPr sz="2286" spc="145" dirty="0">
                <a:latin typeface="Arial"/>
                <a:cs typeface="Arial"/>
              </a:rPr>
              <a:t> </a:t>
            </a:r>
            <a:r>
              <a:rPr sz="2286" spc="-16" dirty="0">
                <a:latin typeface="Arial"/>
                <a:cs typeface="Arial"/>
              </a:rPr>
              <a:t>двусторонним</a:t>
            </a:r>
            <a:endParaRPr sz="2286" dirty="0">
              <a:latin typeface="Arial"/>
              <a:cs typeface="Arial"/>
            </a:endParaRPr>
          </a:p>
        </p:txBody>
      </p:sp>
      <p:sp>
        <p:nvSpPr>
          <p:cNvPr id="27" name="object 27"/>
          <p:cNvSpPr txBox="1"/>
          <p:nvPr/>
        </p:nvSpPr>
        <p:spPr>
          <a:xfrm>
            <a:off x="7585509" y="3730660"/>
            <a:ext cx="4293232" cy="656196"/>
          </a:xfrm>
          <a:prstGeom prst="rect">
            <a:avLst/>
          </a:prstGeom>
          <a:ln w="9525">
            <a:solidFill>
              <a:srgbClr val="CC0000"/>
            </a:solidFill>
          </a:ln>
        </p:spPr>
        <p:txBody>
          <a:bodyPr vert="horz" wrap="square" lIns="0" tIns="40250" rIns="0" bIns="0" rtlCol="0">
            <a:spAutoFit/>
          </a:bodyPr>
          <a:lstStyle/>
          <a:p>
            <a:pPr marL="95675" marR="172875">
              <a:spcBef>
                <a:spcPts val="317"/>
              </a:spcBef>
            </a:pPr>
            <a:r>
              <a:rPr spc="-5" dirty="0">
                <a:latin typeface="Arial"/>
                <a:cs typeface="Arial"/>
              </a:rPr>
              <a:t>Идентично  </a:t>
            </a:r>
            <a:r>
              <a:rPr b="1" spc="-42" dirty="0">
                <a:latin typeface="Arial"/>
                <a:cs typeface="Arial"/>
              </a:rPr>
              <a:t>о</a:t>
            </a:r>
            <a:r>
              <a:rPr b="1" dirty="0">
                <a:latin typeface="Arial"/>
                <a:cs typeface="Arial"/>
              </a:rPr>
              <a:t>дновы</a:t>
            </a:r>
            <a:r>
              <a:rPr b="1" spc="5" dirty="0">
                <a:latin typeface="Arial"/>
                <a:cs typeface="Arial"/>
              </a:rPr>
              <a:t>б</a:t>
            </a:r>
            <a:r>
              <a:rPr b="1" dirty="0">
                <a:latin typeface="Arial"/>
                <a:cs typeface="Arial"/>
              </a:rPr>
              <a:t>ор</a:t>
            </a:r>
            <a:r>
              <a:rPr b="1" spc="-73" dirty="0">
                <a:latin typeface="Arial"/>
                <a:cs typeface="Arial"/>
              </a:rPr>
              <a:t>о</a:t>
            </a:r>
            <a:r>
              <a:rPr b="1" dirty="0">
                <a:latin typeface="Arial"/>
                <a:cs typeface="Arial"/>
              </a:rPr>
              <a:t>чн</a:t>
            </a:r>
            <a:r>
              <a:rPr b="1" spc="-42" dirty="0">
                <a:latin typeface="Arial"/>
                <a:cs typeface="Arial"/>
              </a:rPr>
              <a:t>ом</a:t>
            </a:r>
            <a:r>
              <a:rPr b="1" dirty="0">
                <a:latin typeface="Arial"/>
                <a:cs typeface="Arial"/>
              </a:rPr>
              <a:t>у  </a:t>
            </a:r>
            <a:r>
              <a:rPr b="1" spc="-5" dirty="0">
                <a:latin typeface="Arial"/>
                <a:cs typeface="Arial"/>
              </a:rPr>
              <a:t>t-критерию!</a:t>
            </a:r>
            <a:endParaRPr dirty="0">
              <a:latin typeface="Arial"/>
              <a:cs typeface="Arial"/>
            </a:endParaRPr>
          </a:p>
        </p:txBody>
      </p:sp>
      <p:sp>
        <p:nvSpPr>
          <p:cNvPr id="28" name="object 28"/>
          <p:cNvSpPr txBox="1"/>
          <p:nvPr/>
        </p:nvSpPr>
        <p:spPr>
          <a:xfrm>
            <a:off x="1926347" y="1468800"/>
            <a:ext cx="8931376" cy="360280"/>
          </a:xfrm>
          <a:prstGeom prst="rect">
            <a:avLst/>
          </a:prstGeom>
        </p:spPr>
        <p:txBody>
          <a:bodyPr vert="horz" wrap="square" lIns="0" tIns="13197" rIns="0" bIns="0" rtlCol="0">
            <a:spAutoFit/>
          </a:bodyPr>
          <a:lstStyle/>
          <a:p>
            <a:pPr marL="182772" marR="5279">
              <a:lnSpc>
                <a:spcPts val="2993"/>
              </a:lnSpc>
              <a:spcBef>
                <a:spcPts val="57"/>
              </a:spcBef>
            </a:pPr>
            <a:r>
              <a:rPr lang="ru-RU" dirty="0">
                <a:latin typeface="Arial"/>
                <a:cs typeface="Arial"/>
              </a:rPr>
              <a:t>Каждый тигр </a:t>
            </a:r>
            <a:r>
              <a:rPr lang="ru-RU" b="1" spc="-16" dirty="0">
                <a:latin typeface="Arial"/>
                <a:cs typeface="Arial"/>
              </a:rPr>
              <a:t>два </a:t>
            </a:r>
            <a:r>
              <a:rPr lang="ru-RU" spc="-10" dirty="0">
                <a:latin typeface="Arial"/>
                <a:cs typeface="Arial"/>
              </a:rPr>
              <a:t>раза </a:t>
            </a:r>
            <a:r>
              <a:rPr lang="ru-RU" spc="-21" dirty="0">
                <a:latin typeface="Arial"/>
                <a:cs typeface="Arial"/>
              </a:rPr>
              <a:t>участвует </a:t>
            </a:r>
            <a:r>
              <a:rPr lang="ru-RU" dirty="0">
                <a:latin typeface="Arial"/>
                <a:cs typeface="Arial"/>
              </a:rPr>
              <a:t>в </a:t>
            </a:r>
            <a:r>
              <a:rPr lang="ru-RU" spc="-21" dirty="0">
                <a:latin typeface="Arial"/>
                <a:cs typeface="Arial"/>
              </a:rPr>
              <a:t>наблюдениях:  </a:t>
            </a:r>
            <a:r>
              <a:rPr lang="ru-RU" spc="-5" dirty="0">
                <a:latin typeface="Arial"/>
                <a:cs typeface="Arial"/>
              </a:rPr>
              <a:t>он </a:t>
            </a:r>
            <a:r>
              <a:rPr lang="ru-RU" spc="-21" dirty="0">
                <a:latin typeface="Arial"/>
                <a:cs typeface="Arial"/>
              </a:rPr>
              <a:t>входит </a:t>
            </a:r>
            <a:r>
              <a:rPr lang="ru-RU" dirty="0">
                <a:latin typeface="Arial"/>
                <a:cs typeface="Arial"/>
              </a:rPr>
              <a:t>в </a:t>
            </a:r>
            <a:r>
              <a:rPr lang="ru-RU" spc="-10" dirty="0">
                <a:latin typeface="Arial"/>
                <a:cs typeface="Arial"/>
              </a:rPr>
              <a:t>обе</a:t>
            </a:r>
            <a:r>
              <a:rPr lang="ru-RU" spc="-5" dirty="0">
                <a:latin typeface="Arial"/>
                <a:cs typeface="Arial"/>
              </a:rPr>
              <a:t> </a:t>
            </a:r>
            <a:r>
              <a:rPr lang="ru-RU" spc="-10" dirty="0">
                <a:latin typeface="Arial"/>
                <a:cs typeface="Arial"/>
              </a:rPr>
              <a:t>группы.</a:t>
            </a:r>
            <a:endParaRPr lang="ru-RU" dirty="0">
              <a:latin typeface="Arial"/>
              <a:cs typeface="Arial"/>
            </a:endParaRPr>
          </a:p>
        </p:txBody>
      </p:sp>
      <p:sp>
        <p:nvSpPr>
          <p:cNvPr id="32" name="object 2"/>
          <p:cNvSpPr txBox="1"/>
          <p:nvPr/>
        </p:nvSpPr>
        <p:spPr>
          <a:xfrm>
            <a:off x="3015696" y="326861"/>
            <a:ext cx="6912768" cy="846363"/>
          </a:xfrm>
          <a:prstGeom prst="rect">
            <a:avLst/>
          </a:prstGeom>
        </p:spPr>
        <p:txBody>
          <a:bodyPr wrap="square">
            <a:noAutofit/>
          </a:bodyPr>
          <a:lstStyle>
            <a:lvl1pPr lvl="0" algn="ctr" defTabSz="993775">
              <a:defRPr sz="3949">
                <a:solidFill>
                  <a:schemeClr val="tx2"/>
                </a:solidFill>
                <a:latin typeface="+mj-lt"/>
                <a:ea typeface="+mj-ea"/>
                <a:cs typeface="+mj-cs"/>
              </a:defRPr>
            </a:lvl1pPr>
            <a:lvl2pPr algn="ctr" defTabSz="993775">
              <a:defRPr sz="4800">
                <a:solidFill>
                  <a:schemeClr val="tx2"/>
                </a:solidFill>
              </a:defRPr>
            </a:lvl2pPr>
            <a:lvl3pPr algn="ctr" defTabSz="993775">
              <a:defRPr sz="4800">
                <a:solidFill>
                  <a:schemeClr val="tx2"/>
                </a:solidFill>
              </a:defRPr>
            </a:lvl3pPr>
            <a:lvl4pPr algn="ctr" defTabSz="993775">
              <a:defRPr sz="4800">
                <a:solidFill>
                  <a:schemeClr val="tx2"/>
                </a:solidFill>
              </a:defRPr>
            </a:lvl4pPr>
            <a:lvl5pPr algn="ctr" defTabSz="993775">
              <a:defRPr sz="4800">
                <a:solidFill>
                  <a:schemeClr val="tx2"/>
                </a:solidFill>
              </a:defRPr>
            </a:lvl5pPr>
            <a:lvl6pPr marL="457200" algn="ctr" defTabSz="993775" fontAlgn="base">
              <a:spcBef>
                <a:spcPct val="0"/>
              </a:spcBef>
              <a:spcAft>
                <a:spcPct val="0"/>
              </a:spcAft>
              <a:defRPr sz="4800">
                <a:solidFill>
                  <a:schemeClr val="tx2"/>
                </a:solidFill>
              </a:defRPr>
            </a:lvl6pPr>
            <a:lvl7pPr marL="914400" algn="ctr" defTabSz="993775" fontAlgn="base">
              <a:spcBef>
                <a:spcPct val="0"/>
              </a:spcBef>
              <a:spcAft>
                <a:spcPct val="0"/>
              </a:spcAft>
              <a:defRPr sz="4800">
                <a:solidFill>
                  <a:schemeClr val="tx2"/>
                </a:solidFill>
              </a:defRPr>
            </a:lvl7pPr>
            <a:lvl8pPr marL="1371600" algn="ctr" defTabSz="993775" fontAlgn="base">
              <a:spcBef>
                <a:spcPct val="0"/>
              </a:spcBef>
              <a:spcAft>
                <a:spcPct val="0"/>
              </a:spcAft>
              <a:defRPr sz="4800">
                <a:solidFill>
                  <a:schemeClr val="tx2"/>
                </a:solidFill>
              </a:defRPr>
            </a:lvl8pPr>
            <a:lvl9pPr marL="1828800" algn="ctr" defTabSz="993775" fontAlgn="base">
              <a:spcBef>
                <a:spcPct val="0"/>
              </a:spcBef>
              <a:spcAft>
                <a:spcPct val="0"/>
              </a:spcAft>
              <a:defRPr sz="4800">
                <a:solidFill>
                  <a:schemeClr val="tx2"/>
                </a:solidFill>
              </a:defRPr>
            </a:lvl9pPr>
          </a:lstStyle>
          <a:p>
            <a:r>
              <a:rPr dirty="0" err="1"/>
              <a:t>Двухвыборочные</a:t>
            </a:r>
            <a:r>
              <a:rPr dirty="0"/>
              <a:t> </a:t>
            </a:r>
            <a:r>
              <a:rPr dirty="0" err="1"/>
              <a:t>критерии</a:t>
            </a:r>
            <a:endParaRPr dirty="0"/>
          </a:p>
        </p:txBody>
      </p:sp>
      <p:sp>
        <p:nvSpPr>
          <p:cNvPr id="33" name="Номер слайда 32"/>
          <p:cNvSpPr>
            <a:spLocks noGrp="1"/>
          </p:cNvSpPr>
          <p:nvPr>
            <p:ph type="sldNum" sz="quarter" idx="7"/>
          </p:nvPr>
        </p:nvSpPr>
        <p:spPr/>
        <p:txBody>
          <a:bodyPr/>
          <a:lstStyle/>
          <a:p>
            <a:fld id="{B6F15528-21DE-4FAA-801E-634DDDAF4B2B}" type="slidenum">
              <a:rPr lang="ru-RU" sz="1400">
                <a:solidFill>
                  <a:schemeClr val="tx1"/>
                </a:solidFill>
              </a:rPr>
              <a:t>116</a:t>
            </a:fld>
            <a:endParaRPr lang="ru-RU" dirty="0">
              <a:solidFill>
                <a:schemeClr val="tx1"/>
              </a:solidFill>
            </a:endParaRPr>
          </a:p>
        </p:txBody>
      </p:sp>
    </p:spTree>
    <p:extLst>
      <p:ext uri="{BB962C8B-B14F-4D97-AF65-F5344CB8AC3E}">
        <p14:creationId xmlns:p14="http://schemas.microsoft.com/office/powerpoint/2010/main" val="1962157500"/>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AutoShape 4"/>
          <p:cNvSpPr>
            <a:spLocks noChangeArrowheads="1"/>
          </p:cNvSpPr>
          <p:nvPr/>
        </p:nvSpPr>
        <p:spPr bwMode="auto">
          <a:xfrm>
            <a:off x="1438275" y="322263"/>
            <a:ext cx="11016529" cy="6553200"/>
          </a:xfrm>
          <a:prstGeom prst="roundRect">
            <a:avLst>
              <a:gd name="adj" fmla="val 16667"/>
            </a:avLst>
          </a:prstGeom>
          <a:solidFill>
            <a:schemeClr val="bg1">
              <a:alpha val="50195"/>
            </a:scheme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7" name="AutoShape 5"/>
          <p:cNvSpPr>
            <a:spLocks noChangeArrowheads="1"/>
          </p:cNvSpPr>
          <p:nvPr/>
        </p:nvSpPr>
        <p:spPr bwMode="auto">
          <a:xfrm>
            <a:off x="2373685" y="322263"/>
            <a:ext cx="8064128" cy="1022911"/>
          </a:xfrm>
          <a:prstGeom prst="roundRect">
            <a:avLst>
              <a:gd name="adj" fmla="val 37469"/>
            </a:avLst>
          </a:prstGeom>
          <a:solidFill>
            <a:srgbClr val="FFFFFF">
              <a:alpha val="78822"/>
            </a:srgb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2" name="object 2"/>
          <p:cNvSpPr/>
          <p:nvPr/>
        </p:nvSpPr>
        <p:spPr>
          <a:xfrm>
            <a:off x="2180529" y="1860259"/>
            <a:ext cx="4186694" cy="4087718"/>
          </a:xfrm>
          <a:prstGeom prst="rect">
            <a:avLst/>
          </a:prstGeom>
          <a:blipFill>
            <a:blip r:embed="rId2" cstate="print"/>
            <a:stretch>
              <a:fillRect/>
            </a:stretch>
          </a:blipFill>
        </p:spPr>
        <p:txBody>
          <a:bodyPr wrap="square" lIns="0" tIns="0" rIns="0" bIns="0" rtlCol="0"/>
          <a:lstStyle/>
          <a:p>
            <a:endParaRPr sz="2078"/>
          </a:p>
        </p:txBody>
      </p:sp>
      <p:sp>
        <p:nvSpPr>
          <p:cNvPr id="3" name="object 3"/>
          <p:cNvSpPr txBox="1">
            <a:spLocks noGrp="1"/>
          </p:cNvSpPr>
          <p:nvPr>
            <p:ph type="title"/>
          </p:nvPr>
        </p:nvSpPr>
        <p:spPr>
          <a:xfrm>
            <a:off x="2517701" y="317517"/>
            <a:ext cx="8356158" cy="985235"/>
          </a:xfrm>
          <a:prstGeom prst="rect">
            <a:avLst/>
          </a:prstGeom>
        </p:spPr>
        <p:txBody>
          <a:bodyPr vert="horz" wrap="square" lIns="0" tIns="69943" rIns="0" bIns="0" rtlCol="0" anchor="ctr">
            <a:spAutoFit/>
          </a:bodyPr>
          <a:lstStyle/>
          <a:p>
            <a:pPr marL="4619">
              <a:spcBef>
                <a:spcPts val="551"/>
              </a:spcBef>
            </a:pPr>
            <a:r>
              <a:rPr sz="1870" spc="-16" dirty="0">
                <a:solidFill>
                  <a:srgbClr val="000000"/>
                </a:solidFill>
              </a:rPr>
              <a:t>«табличные» </a:t>
            </a:r>
            <a:r>
              <a:rPr sz="1870" spc="-10" dirty="0">
                <a:solidFill>
                  <a:srgbClr val="000000"/>
                </a:solidFill>
              </a:rPr>
              <a:t>значения </a:t>
            </a:r>
            <a:r>
              <a:rPr sz="1870" spc="-5" dirty="0">
                <a:solidFill>
                  <a:srgbClr val="000000"/>
                </a:solidFill>
              </a:rPr>
              <a:t>критерия </a:t>
            </a:r>
            <a:r>
              <a:rPr sz="1870" spc="-10" dirty="0">
                <a:solidFill>
                  <a:srgbClr val="000000"/>
                </a:solidFill>
              </a:rPr>
              <a:t>Стьюдента </a:t>
            </a:r>
            <a:r>
              <a:rPr sz="1870" dirty="0">
                <a:solidFill>
                  <a:srgbClr val="000000"/>
                </a:solidFill>
              </a:rPr>
              <a:t>для </a:t>
            </a:r>
            <a:r>
              <a:rPr sz="1870" spc="-10" dirty="0">
                <a:solidFill>
                  <a:srgbClr val="000000"/>
                </a:solidFill>
              </a:rPr>
              <a:t>сверки</a:t>
            </a:r>
            <a:r>
              <a:rPr sz="1870" spc="21" dirty="0">
                <a:solidFill>
                  <a:srgbClr val="000000"/>
                </a:solidFill>
              </a:rPr>
              <a:t> </a:t>
            </a:r>
            <a:r>
              <a:rPr sz="1870" dirty="0">
                <a:solidFill>
                  <a:srgbClr val="000000"/>
                </a:solidFill>
              </a:rPr>
              <a:t>-</a:t>
            </a:r>
            <a:endParaRPr sz="1870" dirty="0"/>
          </a:p>
          <a:p>
            <a:pPr>
              <a:spcBef>
                <a:spcPts val="447"/>
              </a:spcBef>
            </a:pPr>
            <a:r>
              <a:rPr sz="1870" spc="-5" dirty="0">
                <a:solidFill>
                  <a:srgbClr val="000000"/>
                </a:solidFill>
              </a:rPr>
              <a:t>искать </a:t>
            </a:r>
            <a:r>
              <a:rPr sz="1870" dirty="0">
                <a:solidFill>
                  <a:srgbClr val="000000"/>
                </a:solidFill>
              </a:rPr>
              <a:t>в </a:t>
            </a:r>
            <a:r>
              <a:rPr sz="1870" spc="-10" dirty="0" err="1">
                <a:solidFill>
                  <a:srgbClr val="000000"/>
                </a:solidFill>
              </a:rPr>
              <a:t>математических</a:t>
            </a:r>
            <a:r>
              <a:rPr sz="1870" spc="-10" dirty="0">
                <a:solidFill>
                  <a:srgbClr val="000000"/>
                </a:solidFill>
              </a:rPr>
              <a:t> </a:t>
            </a:r>
            <a:r>
              <a:rPr sz="1870" spc="-16" dirty="0" err="1">
                <a:solidFill>
                  <a:srgbClr val="000000"/>
                </a:solidFill>
              </a:rPr>
              <a:t>таблицах</a:t>
            </a:r>
            <a:br>
              <a:rPr lang="en-US" sz="1870" spc="-16" dirty="0">
                <a:solidFill>
                  <a:srgbClr val="000000"/>
                </a:solidFill>
              </a:rPr>
            </a:br>
            <a:r>
              <a:rPr sz="1870" spc="-16" dirty="0">
                <a:solidFill>
                  <a:srgbClr val="000000"/>
                </a:solidFill>
              </a:rPr>
              <a:t> </a:t>
            </a:r>
            <a:r>
              <a:rPr sz="1870" dirty="0">
                <a:solidFill>
                  <a:srgbClr val="000000"/>
                </a:solidFill>
              </a:rPr>
              <a:t>в </a:t>
            </a:r>
            <a:r>
              <a:rPr sz="1870" spc="-5" dirty="0">
                <a:solidFill>
                  <a:srgbClr val="000000"/>
                </a:solidFill>
              </a:rPr>
              <a:t>Приложениях </a:t>
            </a:r>
            <a:r>
              <a:rPr sz="1870" dirty="0">
                <a:solidFill>
                  <a:srgbClr val="000000"/>
                </a:solidFill>
              </a:rPr>
              <a:t>в </a:t>
            </a:r>
            <a:r>
              <a:rPr sz="1870" spc="-5" dirty="0">
                <a:solidFill>
                  <a:srgbClr val="000000"/>
                </a:solidFill>
              </a:rPr>
              <a:t>конце </a:t>
            </a:r>
            <a:r>
              <a:rPr sz="1870" dirty="0">
                <a:solidFill>
                  <a:srgbClr val="000000"/>
                </a:solidFill>
              </a:rPr>
              <a:t>книг по</a:t>
            </a:r>
            <a:r>
              <a:rPr sz="1870" spc="-47" dirty="0">
                <a:solidFill>
                  <a:srgbClr val="000000"/>
                </a:solidFill>
              </a:rPr>
              <a:t> </a:t>
            </a:r>
            <a:r>
              <a:rPr sz="1870" spc="-5" dirty="0">
                <a:solidFill>
                  <a:srgbClr val="000000"/>
                </a:solidFill>
              </a:rPr>
              <a:t>статистике:</a:t>
            </a:r>
            <a:endParaRPr sz="1870" dirty="0"/>
          </a:p>
        </p:txBody>
      </p:sp>
      <p:sp>
        <p:nvSpPr>
          <p:cNvPr id="4" name="object 4"/>
          <p:cNvSpPr/>
          <p:nvPr/>
        </p:nvSpPr>
        <p:spPr>
          <a:xfrm>
            <a:off x="6814331" y="2952298"/>
            <a:ext cx="4226284" cy="2316043"/>
          </a:xfrm>
          <a:prstGeom prst="rect">
            <a:avLst/>
          </a:prstGeom>
          <a:blipFill>
            <a:blip r:embed="rId3" cstate="print"/>
            <a:stretch>
              <a:fillRect/>
            </a:stretch>
          </a:blipFill>
        </p:spPr>
        <p:txBody>
          <a:bodyPr wrap="square" lIns="0" tIns="0" rIns="0" bIns="0" rtlCol="0"/>
          <a:lstStyle/>
          <a:p>
            <a:endParaRPr sz="2078"/>
          </a:p>
        </p:txBody>
      </p:sp>
      <p:sp>
        <p:nvSpPr>
          <p:cNvPr id="5" name="object 5"/>
          <p:cNvSpPr txBox="1"/>
          <p:nvPr/>
        </p:nvSpPr>
        <p:spPr>
          <a:xfrm>
            <a:off x="2831659" y="6094777"/>
            <a:ext cx="7663398" cy="652860"/>
          </a:xfrm>
          <a:prstGeom prst="rect">
            <a:avLst/>
          </a:prstGeom>
        </p:spPr>
        <p:txBody>
          <a:bodyPr vert="horz" wrap="square" lIns="0" tIns="13197" rIns="0" bIns="0" rtlCol="0">
            <a:spAutoFit/>
          </a:bodyPr>
          <a:lstStyle/>
          <a:p>
            <a:pPr algn="ctr">
              <a:spcBef>
                <a:spcPts val="104"/>
              </a:spcBef>
            </a:pPr>
            <a:r>
              <a:rPr sz="2078" dirty="0">
                <a:latin typeface="Calibri"/>
                <a:cs typeface="Calibri"/>
              </a:rPr>
              <a:t>если </a:t>
            </a:r>
            <a:r>
              <a:rPr sz="2078" spc="-5" dirty="0">
                <a:latin typeface="Calibri"/>
                <a:cs typeface="Calibri"/>
              </a:rPr>
              <a:t>получившееся </a:t>
            </a:r>
            <a:r>
              <a:rPr sz="2078" dirty="0">
                <a:latin typeface="Calibri"/>
                <a:cs typeface="Calibri"/>
              </a:rPr>
              <a:t>число </a:t>
            </a:r>
            <a:r>
              <a:rPr sz="2078" b="1" spc="-5" dirty="0">
                <a:latin typeface="Calibri"/>
                <a:cs typeface="Calibri"/>
              </a:rPr>
              <a:t>больше </a:t>
            </a:r>
            <a:r>
              <a:rPr sz="2078" spc="-10" dirty="0">
                <a:latin typeface="Calibri"/>
                <a:cs typeface="Calibri"/>
              </a:rPr>
              <a:t>табличного </a:t>
            </a:r>
            <a:r>
              <a:rPr sz="2078" dirty="0">
                <a:latin typeface="Calibri"/>
                <a:cs typeface="Calibri"/>
              </a:rPr>
              <a:t>– </a:t>
            </a:r>
            <a:r>
              <a:rPr sz="2078" spc="-10" dirty="0">
                <a:latin typeface="Calibri"/>
                <a:cs typeface="Calibri"/>
              </a:rPr>
              <a:t>«нулевая»</a:t>
            </a:r>
            <a:r>
              <a:rPr sz="2078" spc="-88" dirty="0">
                <a:latin typeface="Calibri"/>
                <a:cs typeface="Calibri"/>
              </a:rPr>
              <a:t> </a:t>
            </a:r>
            <a:r>
              <a:rPr sz="2078" spc="-5" dirty="0">
                <a:latin typeface="Calibri"/>
                <a:cs typeface="Calibri"/>
              </a:rPr>
              <a:t>гипотеза</a:t>
            </a:r>
            <a:endParaRPr sz="2078">
              <a:latin typeface="Calibri"/>
              <a:cs typeface="Calibri"/>
            </a:endParaRPr>
          </a:p>
          <a:p>
            <a:pPr marL="660" algn="ctr">
              <a:spcBef>
                <a:spcPts val="16"/>
              </a:spcBef>
            </a:pPr>
            <a:r>
              <a:rPr sz="2078" b="1" spc="-5" dirty="0">
                <a:latin typeface="Calibri"/>
                <a:cs typeface="Calibri"/>
              </a:rPr>
              <a:t>отвергается </a:t>
            </a:r>
            <a:r>
              <a:rPr sz="2078" dirty="0">
                <a:latin typeface="Calibri"/>
                <a:cs typeface="Calibri"/>
              </a:rPr>
              <a:t>и </a:t>
            </a:r>
            <a:r>
              <a:rPr sz="2078" spc="-5" dirty="0">
                <a:latin typeface="Calibri"/>
                <a:cs typeface="Calibri"/>
              </a:rPr>
              <a:t>можно говорить об имеющихся</a:t>
            </a:r>
            <a:r>
              <a:rPr sz="2078" spc="-125" dirty="0">
                <a:latin typeface="Calibri"/>
                <a:cs typeface="Calibri"/>
              </a:rPr>
              <a:t> </a:t>
            </a:r>
            <a:r>
              <a:rPr sz="2078" spc="-10" dirty="0">
                <a:latin typeface="Calibri"/>
                <a:cs typeface="Calibri"/>
              </a:rPr>
              <a:t>различиях</a:t>
            </a:r>
            <a:endParaRPr sz="2078">
              <a:latin typeface="Calibri"/>
              <a:cs typeface="Calibri"/>
            </a:endParaRPr>
          </a:p>
        </p:txBody>
      </p:sp>
      <p:sp>
        <p:nvSpPr>
          <p:cNvPr id="9" name="Номер слайда 8"/>
          <p:cNvSpPr>
            <a:spLocks noGrp="1"/>
          </p:cNvSpPr>
          <p:nvPr>
            <p:ph type="sldNum" sz="quarter" idx="12"/>
          </p:nvPr>
        </p:nvSpPr>
        <p:spPr/>
        <p:txBody>
          <a:bodyPr/>
          <a:lstStyle/>
          <a:p>
            <a:fld id="{952B6C0E-C4B9-4094-8E59-5B7DF00D5415}" type="slidenum">
              <a:rPr lang="ru-RU" smtClean="0">
                <a:solidFill>
                  <a:schemeClr val="tx1"/>
                </a:solidFill>
              </a:rPr>
              <a:t>117</a:t>
            </a:fld>
            <a:endParaRPr lang="ru-RU" dirty="0">
              <a:solidFill>
                <a:schemeClr val="tx1"/>
              </a:solidFill>
            </a:endParaRPr>
          </a:p>
        </p:txBody>
      </p:sp>
    </p:spTree>
    <p:extLst>
      <p:ext uri="{BB962C8B-B14F-4D97-AF65-F5344CB8AC3E}">
        <p14:creationId xmlns:p14="http://schemas.microsoft.com/office/powerpoint/2010/main" val="28277843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4"/>
          <p:cNvSpPr>
            <a:spLocks noChangeArrowheads="1"/>
          </p:cNvSpPr>
          <p:nvPr/>
        </p:nvSpPr>
        <p:spPr bwMode="auto">
          <a:xfrm>
            <a:off x="1438275" y="322263"/>
            <a:ext cx="10944521" cy="6553200"/>
          </a:xfrm>
          <a:prstGeom prst="roundRect">
            <a:avLst>
              <a:gd name="adj" fmla="val 16667"/>
            </a:avLst>
          </a:prstGeom>
          <a:solidFill>
            <a:schemeClr val="bg1">
              <a:alpha val="50195"/>
            </a:scheme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6" name="AutoShape 5"/>
          <p:cNvSpPr>
            <a:spLocks noChangeArrowheads="1"/>
          </p:cNvSpPr>
          <p:nvPr/>
        </p:nvSpPr>
        <p:spPr bwMode="auto">
          <a:xfrm>
            <a:off x="2373685" y="322263"/>
            <a:ext cx="8064128" cy="850960"/>
          </a:xfrm>
          <a:prstGeom prst="roundRect">
            <a:avLst>
              <a:gd name="adj" fmla="val 37469"/>
            </a:avLst>
          </a:prstGeom>
          <a:solidFill>
            <a:srgbClr val="FFFFFF">
              <a:alpha val="78822"/>
            </a:srgb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3" name="object 3"/>
          <p:cNvSpPr txBox="1"/>
          <p:nvPr/>
        </p:nvSpPr>
        <p:spPr>
          <a:xfrm>
            <a:off x="1183022" y="1539191"/>
            <a:ext cx="10080426" cy="2646352"/>
          </a:xfrm>
          <a:prstGeom prst="rect">
            <a:avLst/>
          </a:prstGeom>
        </p:spPr>
        <p:txBody>
          <a:bodyPr vert="horz" wrap="square" lIns="0" tIns="13197" rIns="0" bIns="0" rtlCol="0">
            <a:spAutoFit/>
          </a:bodyPr>
          <a:lstStyle/>
          <a:p>
            <a:pPr marL="13197" marR="5279">
              <a:spcBef>
                <a:spcPts val="104"/>
              </a:spcBef>
            </a:pPr>
            <a:r>
              <a:rPr lang="ru-RU" sz="2494">
                <a:latin typeface="Arial"/>
                <a:cs typeface="Arial"/>
              </a:rPr>
              <a:t>В </a:t>
            </a:r>
            <a:r>
              <a:rPr lang="ru-RU" sz="2494" spc="-5">
                <a:latin typeface="Arial"/>
                <a:cs typeface="Arial"/>
              </a:rPr>
              <a:t>принципе, </a:t>
            </a:r>
            <a:r>
              <a:rPr lang="ru-RU" sz="2494" spc="-5">
                <a:uFill>
                  <a:solidFill>
                    <a:srgbClr val="000000"/>
                  </a:solidFill>
                </a:uFill>
                <a:latin typeface="Arial"/>
                <a:cs typeface="Arial"/>
              </a:rPr>
              <a:t>можно</a:t>
            </a:r>
            <a:r>
              <a:rPr lang="ru-RU" sz="2494" spc="-5">
                <a:latin typeface="Arial"/>
                <a:cs typeface="Arial"/>
              </a:rPr>
              <a:t> </a:t>
            </a:r>
            <a:r>
              <a:rPr lang="ru-RU" sz="2494" spc="-16">
                <a:latin typeface="Arial"/>
                <a:cs typeface="Arial"/>
              </a:rPr>
              <a:t>использовать </a:t>
            </a:r>
            <a:r>
              <a:rPr lang="ru-RU" sz="2494" spc="-10">
                <a:latin typeface="Arial"/>
                <a:cs typeface="Arial"/>
              </a:rPr>
              <a:t>тест </a:t>
            </a:r>
            <a:r>
              <a:rPr lang="ru-RU" sz="2494" spc="-5">
                <a:latin typeface="Arial"/>
                <a:cs typeface="Arial"/>
              </a:rPr>
              <a:t>для </a:t>
            </a:r>
            <a:r>
              <a:rPr lang="ru-RU" sz="2494" spc="-10">
                <a:solidFill>
                  <a:srgbClr val="0070C0"/>
                </a:solidFill>
                <a:latin typeface="Arial"/>
                <a:cs typeface="Arial"/>
              </a:rPr>
              <a:t>независимых</a:t>
            </a:r>
            <a:r>
              <a:rPr lang="ru-RU" sz="2494" spc="-10">
                <a:latin typeface="Arial"/>
                <a:cs typeface="Arial"/>
              </a:rPr>
              <a:t>  </a:t>
            </a:r>
            <a:r>
              <a:rPr lang="ru-RU" sz="2494" spc="-5">
                <a:latin typeface="Arial"/>
                <a:cs typeface="Arial"/>
              </a:rPr>
              <a:t>выборок </a:t>
            </a:r>
            <a:r>
              <a:rPr lang="ru-RU" sz="2494">
                <a:latin typeface="Arial"/>
                <a:cs typeface="Arial"/>
              </a:rPr>
              <a:t>и для </a:t>
            </a:r>
            <a:r>
              <a:rPr lang="ru-RU" sz="2494" spc="-10">
                <a:solidFill>
                  <a:srgbClr val="0070C0"/>
                </a:solidFill>
                <a:uFill>
                  <a:solidFill>
                    <a:srgbClr val="000000"/>
                  </a:solidFill>
                </a:uFill>
                <a:latin typeface="Arial"/>
                <a:cs typeface="Arial"/>
              </a:rPr>
              <a:t>связанных</a:t>
            </a:r>
            <a:r>
              <a:rPr lang="ru-RU" sz="2494" spc="-21">
                <a:latin typeface="Arial"/>
                <a:cs typeface="Arial"/>
              </a:rPr>
              <a:t> </a:t>
            </a:r>
            <a:r>
              <a:rPr lang="ru-RU" sz="2494" spc="-5">
                <a:latin typeface="Arial"/>
                <a:cs typeface="Arial"/>
              </a:rPr>
              <a:t>выборок.</a:t>
            </a:r>
            <a:endParaRPr lang="ru-RU" sz="2494">
              <a:latin typeface="Arial"/>
              <a:cs typeface="Arial"/>
            </a:endParaRPr>
          </a:p>
          <a:p>
            <a:pPr marL="13197">
              <a:spcBef>
                <a:spcPts val="1496"/>
              </a:spcBef>
            </a:pPr>
            <a:r>
              <a:rPr lang="ru-RU" sz="2494" spc="-5">
                <a:latin typeface="Arial"/>
                <a:cs typeface="Arial"/>
              </a:rPr>
              <a:t>Но </a:t>
            </a:r>
            <a:r>
              <a:rPr lang="ru-RU" sz="2494">
                <a:latin typeface="Arial"/>
                <a:cs typeface="Arial"/>
              </a:rPr>
              <a:t>мы </a:t>
            </a:r>
            <a:r>
              <a:rPr lang="ru-RU" sz="2494" spc="-5">
                <a:latin typeface="Arial"/>
                <a:cs typeface="Arial"/>
              </a:rPr>
              <a:t>рискуем </a:t>
            </a:r>
            <a:r>
              <a:rPr lang="ru-RU" sz="2494" b="1">
                <a:latin typeface="Arial"/>
                <a:cs typeface="Arial"/>
              </a:rPr>
              <a:t>не </a:t>
            </a:r>
            <a:r>
              <a:rPr lang="ru-RU" sz="2494" b="1" spc="-16">
                <a:latin typeface="Arial"/>
                <a:cs typeface="Arial"/>
              </a:rPr>
              <a:t>увидеть </a:t>
            </a:r>
            <a:r>
              <a:rPr lang="ru-RU" sz="2494" spc="-10">
                <a:latin typeface="Arial"/>
                <a:cs typeface="Arial"/>
              </a:rPr>
              <a:t>существующих</a:t>
            </a:r>
            <a:r>
              <a:rPr lang="ru-RU" sz="2494" spc="36">
                <a:latin typeface="Arial"/>
                <a:cs typeface="Arial"/>
              </a:rPr>
              <a:t> </a:t>
            </a:r>
            <a:r>
              <a:rPr lang="ru-RU" sz="2494" spc="-10">
                <a:latin typeface="Arial"/>
                <a:cs typeface="Arial"/>
              </a:rPr>
              <a:t>различий, </a:t>
            </a:r>
            <a:r>
              <a:rPr lang="ru-RU" sz="2494" spc="-5">
                <a:latin typeface="Arial"/>
                <a:cs typeface="Arial"/>
              </a:rPr>
              <a:t>особенно при </a:t>
            </a:r>
            <a:r>
              <a:rPr lang="ru-RU" sz="2494" b="1" spc="-16">
                <a:latin typeface="Arial"/>
                <a:cs typeface="Arial"/>
              </a:rPr>
              <a:t>большой изменчивости </a:t>
            </a:r>
            <a:r>
              <a:rPr lang="ru-RU" sz="2494">
                <a:latin typeface="Arial"/>
                <a:cs typeface="Arial"/>
              </a:rPr>
              <a:t>в</a:t>
            </a:r>
            <a:r>
              <a:rPr lang="ru-RU" sz="2494" spc="42">
                <a:latin typeface="Arial"/>
                <a:cs typeface="Arial"/>
              </a:rPr>
              <a:t> </a:t>
            </a:r>
            <a:r>
              <a:rPr lang="ru-RU" sz="2494">
                <a:latin typeface="Arial"/>
                <a:cs typeface="Arial"/>
              </a:rPr>
              <a:t>выборках!</a:t>
            </a:r>
          </a:p>
          <a:p>
            <a:pPr marL="13197">
              <a:spcBef>
                <a:spcPts val="1252"/>
              </a:spcBef>
            </a:pPr>
            <a:r>
              <a:rPr lang="ru-RU" sz="2078" spc="-21">
                <a:latin typeface="Arial"/>
                <a:cs typeface="Arial"/>
              </a:rPr>
              <a:t>Тесты </a:t>
            </a:r>
            <a:r>
              <a:rPr lang="ru-RU" sz="2078" spc="-5">
                <a:latin typeface="Arial"/>
                <a:cs typeface="Arial"/>
              </a:rPr>
              <a:t>для связанных выборок </a:t>
            </a:r>
            <a:r>
              <a:rPr lang="ru-RU" sz="2078" spc="16">
                <a:latin typeface="Arial"/>
                <a:cs typeface="Arial"/>
              </a:rPr>
              <a:t>как </a:t>
            </a:r>
            <a:r>
              <a:rPr lang="ru-RU" sz="2078" spc="-10">
                <a:latin typeface="Arial"/>
                <a:cs typeface="Arial"/>
              </a:rPr>
              <a:t>раз </a:t>
            </a:r>
            <a:r>
              <a:rPr lang="ru-RU" sz="2078" spc="-5">
                <a:latin typeface="Arial"/>
                <a:cs typeface="Arial"/>
              </a:rPr>
              <a:t>для </a:t>
            </a:r>
            <a:r>
              <a:rPr lang="ru-RU" sz="2078" spc="-26">
                <a:latin typeface="Arial"/>
                <a:cs typeface="Arial"/>
              </a:rPr>
              <a:t>того </a:t>
            </a:r>
            <a:r>
              <a:rPr lang="ru-RU" sz="2078">
                <a:latin typeface="Arial"/>
                <a:cs typeface="Arial"/>
              </a:rPr>
              <a:t>и</a:t>
            </a:r>
            <a:r>
              <a:rPr lang="ru-RU" sz="2078" spc="-109">
                <a:latin typeface="Arial"/>
                <a:cs typeface="Arial"/>
              </a:rPr>
              <a:t> </a:t>
            </a:r>
            <a:r>
              <a:rPr lang="ru-RU" sz="2078" spc="-36">
                <a:latin typeface="Arial"/>
                <a:cs typeface="Arial"/>
              </a:rPr>
              <a:t>существуют, </a:t>
            </a:r>
            <a:r>
              <a:rPr lang="ru-RU" sz="2078" spc="-10">
                <a:latin typeface="Arial"/>
                <a:cs typeface="Arial"/>
              </a:rPr>
              <a:t>чтобы </a:t>
            </a:r>
            <a:r>
              <a:rPr lang="ru-RU" sz="2078" spc="-5">
                <a:latin typeface="Arial"/>
                <a:cs typeface="Arial"/>
              </a:rPr>
              <a:t>исключить </a:t>
            </a:r>
            <a:r>
              <a:rPr lang="ru-RU" sz="2078">
                <a:latin typeface="Arial"/>
                <a:cs typeface="Arial"/>
              </a:rPr>
              <a:t>из </a:t>
            </a:r>
            <a:r>
              <a:rPr lang="ru-RU" sz="2078" spc="-5">
                <a:latin typeface="Arial"/>
                <a:cs typeface="Arial"/>
              </a:rPr>
              <a:t>анализа </a:t>
            </a:r>
            <a:r>
              <a:rPr lang="ru-RU" sz="2078" spc="-10">
                <a:latin typeface="Arial"/>
                <a:cs typeface="Arial"/>
              </a:rPr>
              <a:t>внутригрупповую</a:t>
            </a:r>
            <a:r>
              <a:rPr lang="ru-RU" sz="2078" spc="-68">
                <a:latin typeface="Arial"/>
                <a:cs typeface="Arial"/>
              </a:rPr>
              <a:t> </a:t>
            </a:r>
            <a:r>
              <a:rPr lang="ru-RU" sz="2078" spc="-5">
                <a:latin typeface="Arial"/>
                <a:cs typeface="Arial"/>
              </a:rPr>
              <a:t>изменчивость.</a:t>
            </a:r>
            <a:endParaRPr lang="ru-RU" sz="2078">
              <a:latin typeface="Arial"/>
              <a:cs typeface="Arial"/>
            </a:endParaRPr>
          </a:p>
        </p:txBody>
      </p:sp>
      <p:sp>
        <p:nvSpPr>
          <p:cNvPr id="4" name="object 4"/>
          <p:cNvSpPr/>
          <p:nvPr/>
        </p:nvSpPr>
        <p:spPr>
          <a:xfrm>
            <a:off x="3381798" y="4294504"/>
            <a:ext cx="5461771" cy="2263256"/>
          </a:xfrm>
          <a:prstGeom prst="rect">
            <a:avLst/>
          </a:prstGeom>
          <a:blipFill>
            <a:blip r:embed="rId2" cstate="print"/>
            <a:stretch>
              <a:fillRect/>
            </a:stretch>
          </a:blipFill>
        </p:spPr>
        <p:txBody>
          <a:bodyPr wrap="square" lIns="0" tIns="0" rIns="0" bIns="0" rtlCol="0"/>
          <a:lstStyle/>
          <a:p>
            <a:endParaRPr sz="2078"/>
          </a:p>
        </p:txBody>
      </p:sp>
      <p:sp>
        <p:nvSpPr>
          <p:cNvPr id="9" name="object 2"/>
          <p:cNvSpPr txBox="1"/>
          <p:nvPr/>
        </p:nvSpPr>
        <p:spPr>
          <a:xfrm>
            <a:off x="3015696" y="326861"/>
            <a:ext cx="6912768" cy="846363"/>
          </a:xfrm>
          <a:prstGeom prst="rect">
            <a:avLst/>
          </a:prstGeom>
        </p:spPr>
        <p:txBody>
          <a:bodyPr wrap="square">
            <a:noAutofit/>
          </a:bodyPr>
          <a:lstStyle>
            <a:lvl1pPr lvl="0" algn="ctr" defTabSz="993775">
              <a:defRPr sz="3949">
                <a:solidFill>
                  <a:schemeClr val="tx2"/>
                </a:solidFill>
                <a:latin typeface="+mj-lt"/>
                <a:ea typeface="+mj-ea"/>
                <a:cs typeface="+mj-cs"/>
              </a:defRPr>
            </a:lvl1pPr>
            <a:lvl2pPr algn="ctr" defTabSz="993775">
              <a:defRPr sz="4800">
                <a:solidFill>
                  <a:schemeClr val="tx2"/>
                </a:solidFill>
              </a:defRPr>
            </a:lvl2pPr>
            <a:lvl3pPr algn="ctr" defTabSz="993775">
              <a:defRPr sz="4800">
                <a:solidFill>
                  <a:schemeClr val="tx2"/>
                </a:solidFill>
              </a:defRPr>
            </a:lvl3pPr>
            <a:lvl4pPr algn="ctr" defTabSz="993775">
              <a:defRPr sz="4800">
                <a:solidFill>
                  <a:schemeClr val="tx2"/>
                </a:solidFill>
              </a:defRPr>
            </a:lvl4pPr>
            <a:lvl5pPr algn="ctr" defTabSz="993775">
              <a:defRPr sz="4800">
                <a:solidFill>
                  <a:schemeClr val="tx2"/>
                </a:solidFill>
              </a:defRPr>
            </a:lvl5pPr>
            <a:lvl6pPr marL="457200" algn="ctr" defTabSz="993775" fontAlgn="base">
              <a:spcBef>
                <a:spcPct val="0"/>
              </a:spcBef>
              <a:spcAft>
                <a:spcPct val="0"/>
              </a:spcAft>
              <a:defRPr sz="4800">
                <a:solidFill>
                  <a:schemeClr val="tx2"/>
                </a:solidFill>
              </a:defRPr>
            </a:lvl6pPr>
            <a:lvl7pPr marL="914400" algn="ctr" defTabSz="993775" fontAlgn="base">
              <a:spcBef>
                <a:spcPct val="0"/>
              </a:spcBef>
              <a:spcAft>
                <a:spcPct val="0"/>
              </a:spcAft>
              <a:defRPr sz="4800">
                <a:solidFill>
                  <a:schemeClr val="tx2"/>
                </a:solidFill>
              </a:defRPr>
            </a:lvl7pPr>
            <a:lvl8pPr marL="1371600" algn="ctr" defTabSz="993775" fontAlgn="base">
              <a:spcBef>
                <a:spcPct val="0"/>
              </a:spcBef>
              <a:spcAft>
                <a:spcPct val="0"/>
              </a:spcAft>
              <a:defRPr sz="4800">
                <a:solidFill>
                  <a:schemeClr val="tx2"/>
                </a:solidFill>
              </a:defRPr>
            </a:lvl8pPr>
            <a:lvl9pPr marL="1828800" algn="ctr" defTabSz="993775" fontAlgn="base">
              <a:spcBef>
                <a:spcPct val="0"/>
              </a:spcBef>
              <a:spcAft>
                <a:spcPct val="0"/>
              </a:spcAft>
              <a:defRPr sz="4800">
                <a:solidFill>
                  <a:schemeClr val="tx2"/>
                </a:solidFill>
              </a:defRPr>
            </a:lvl9pPr>
          </a:lstStyle>
          <a:p>
            <a:r>
              <a:rPr dirty="0" err="1"/>
              <a:t>Двухвыборочные</a:t>
            </a:r>
            <a:r>
              <a:rPr dirty="0"/>
              <a:t> </a:t>
            </a:r>
            <a:r>
              <a:rPr dirty="0" err="1"/>
              <a:t>критерии</a:t>
            </a:r>
            <a:endParaRPr dirty="0"/>
          </a:p>
        </p:txBody>
      </p:sp>
      <p:sp>
        <p:nvSpPr>
          <p:cNvPr id="2" name="Номер слайда 1"/>
          <p:cNvSpPr>
            <a:spLocks noGrp="1"/>
          </p:cNvSpPr>
          <p:nvPr>
            <p:ph type="sldNum" sz="quarter" idx="12"/>
          </p:nvPr>
        </p:nvSpPr>
        <p:spPr>
          <a:xfrm>
            <a:off x="11086653" y="6605015"/>
            <a:ext cx="948186" cy="379409"/>
          </a:xfrm>
        </p:spPr>
        <p:txBody>
          <a:bodyPr/>
          <a:lstStyle/>
          <a:p>
            <a:fld id="{952B6C0E-C4B9-4094-8E59-5B7DF00D5415}" type="slidenum">
              <a:rPr lang="ru-RU" smtClean="0">
                <a:solidFill>
                  <a:schemeClr val="tx1"/>
                </a:solidFill>
              </a:rPr>
              <a:t>118</a:t>
            </a:fld>
            <a:endParaRPr lang="ru-RU" dirty="0">
              <a:solidFill>
                <a:schemeClr val="tx1"/>
              </a:solidFill>
            </a:endParaRPr>
          </a:p>
        </p:txBody>
      </p:sp>
    </p:spTree>
    <p:extLst>
      <p:ext uri="{BB962C8B-B14F-4D97-AF65-F5344CB8AC3E}">
        <p14:creationId xmlns:p14="http://schemas.microsoft.com/office/powerpoint/2010/main" val="2720690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4"/>
          <p:cNvSpPr>
            <a:spLocks noChangeArrowheads="1"/>
          </p:cNvSpPr>
          <p:nvPr/>
        </p:nvSpPr>
        <p:spPr bwMode="auto">
          <a:xfrm>
            <a:off x="1077541" y="322263"/>
            <a:ext cx="11305255" cy="6553200"/>
          </a:xfrm>
          <a:prstGeom prst="roundRect">
            <a:avLst>
              <a:gd name="adj" fmla="val 16667"/>
            </a:avLst>
          </a:prstGeom>
          <a:solidFill>
            <a:schemeClr val="bg1">
              <a:alpha val="50195"/>
            </a:scheme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6" name="AutoShape 5"/>
          <p:cNvSpPr>
            <a:spLocks noChangeArrowheads="1"/>
          </p:cNvSpPr>
          <p:nvPr/>
        </p:nvSpPr>
        <p:spPr bwMode="auto">
          <a:xfrm>
            <a:off x="2373685" y="322263"/>
            <a:ext cx="8064128" cy="850960"/>
          </a:xfrm>
          <a:prstGeom prst="roundRect">
            <a:avLst>
              <a:gd name="adj" fmla="val 37469"/>
            </a:avLst>
          </a:prstGeom>
          <a:solidFill>
            <a:srgbClr val="FFFFFF">
              <a:alpha val="78822"/>
            </a:srgb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2" name="Прямоугольник 1"/>
          <p:cNvSpPr/>
          <p:nvPr/>
        </p:nvSpPr>
        <p:spPr>
          <a:xfrm>
            <a:off x="2535239" y="270690"/>
            <a:ext cx="7597775" cy="954107"/>
          </a:xfrm>
          <a:prstGeom prst="rect">
            <a:avLst/>
          </a:prstGeom>
        </p:spPr>
        <p:txBody>
          <a:bodyPr wrap="square">
            <a:spAutoFit/>
          </a:bodyPr>
          <a:lstStyle/>
          <a:p>
            <a:pPr algn="ctr"/>
            <a:r>
              <a:rPr lang="ru-RU" sz="2800" dirty="0">
                <a:solidFill>
                  <a:schemeClr val="tx2"/>
                </a:solidFill>
                <a:latin typeface="+mj-lt"/>
                <a:ea typeface="+mj-ea"/>
                <a:cs typeface="+mj-cs"/>
              </a:rPr>
              <a:t>Параметрический или непараметрический критерий различия?</a:t>
            </a:r>
          </a:p>
        </p:txBody>
      </p:sp>
      <p:sp>
        <p:nvSpPr>
          <p:cNvPr id="8" name="Прямоугольник 7"/>
          <p:cNvSpPr/>
          <p:nvPr/>
        </p:nvSpPr>
        <p:spPr>
          <a:xfrm>
            <a:off x="1077541" y="1521371"/>
            <a:ext cx="10801200" cy="3416320"/>
          </a:xfrm>
          <a:prstGeom prst="rect">
            <a:avLst/>
          </a:prstGeom>
        </p:spPr>
        <p:txBody>
          <a:bodyPr wrap="square">
            <a:spAutoFit/>
          </a:bodyPr>
          <a:lstStyle/>
          <a:p>
            <a:pPr marL="342900" indent="-342900">
              <a:buFont typeface="Arial" panose="020B0604020202020204" pitchFamily="34" charset="0"/>
              <a:buChar char="•"/>
            </a:pPr>
            <a:r>
              <a:rPr lang="ru-RU" sz="2400" dirty="0">
                <a:solidFill>
                  <a:schemeClr val="accent6"/>
                </a:solidFill>
                <a:latin typeface="Buda"/>
              </a:rPr>
              <a:t>Статистические методы, использующие</a:t>
            </a:r>
            <a:r>
              <a:rPr lang="en-US" sz="2400" dirty="0">
                <a:solidFill>
                  <a:schemeClr val="accent6"/>
                </a:solidFill>
                <a:latin typeface="Buda"/>
              </a:rPr>
              <a:t> </a:t>
            </a:r>
            <a:r>
              <a:rPr lang="ru-RU" sz="2400" i="1" dirty="0">
                <a:solidFill>
                  <a:schemeClr val="accent6"/>
                </a:solidFill>
                <a:latin typeface="Buda"/>
              </a:rPr>
              <a:t>параметры</a:t>
            </a:r>
            <a:r>
              <a:rPr lang="en-US" sz="2400" dirty="0">
                <a:solidFill>
                  <a:schemeClr val="accent6"/>
                </a:solidFill>
                <a:latin typeface="Buda"/>
              </a:rPr>
              <a:t> </a:t>
            </a:r>
            <a:r>
              <a:rPr lang="ru-RU" sz="2400" dirty="0">
                <a:solidFill>
                  <a:schemeClr val="accent6"/>
                </a:solidFill>
                <a:latin typeface="Buda"/>
              </a:rPr>
              <a:t>нормального</a:t>
            </a:r>
            <a:r>
              <a:rPr lang="en-US" sz="2400" dirty="0">
                <a:solidFill>
                  <a:schemeClr val="accent6"/>
                </a:solidFill>
                <a:latin typeface="Buda"/>
              </a:rPr>
              <a:t> </a:t>
            </a:r>
            <a:r>
              <a:rPr lang="ru-RU" sz="2400" dirty="0">
                <a:solidFill>
                  <a:schemeClr val="accent6"/>
                </a:solidFill>
                <a:latin typeface="Buda"/>
              </a:rPr>
              <a:t>распределения данных (среднее, стандартное отклонение и прочее) называются </a:t>
            </a:r>
            <a:r>
              <a:rPr lang="ru-RU" sz="2400" b="1" dirty="0">
                <a:solidFill>
                  <a:schemeClr val="accent6"/>
                </a:solidFill>
                <a:latin typeface="Buda"/>
              </a:rPr>
              <a:t>параметрическими</a:t>
            </a:r>
            <a:r>
              <a:rPr lang="ru-RU" sz="2400" dirty="0">
                <a:solidFill>
                  <a:schemeClr val="accent6"/>
                </a:solidFill>
                <a:latin typeface="Buda"/>
              </a:rPr>
              <a:t>. </a:t>
            </a:r>
          </a:p>
          <a:p>
            <a:pPr marL="342900" indent="-342900">
              <a:buFont typeface="Arial" panose="020B0604020202020204" pitchFamily="34" charset="0"/>
              <a:buChar char="•"/>
            </a:pPr>
            <a:r>
              <a:rPr lang="ru-RU" sz="2400" dirty="0">
                <a:solidFill>
                  <a:srgbClr val="000000"/>
                </a:solidFill>
                <a:latin typeface="Buda"/>
              </a:rPr>
              <a:t>Так например, рассмотренный  </a:t>
            </a:r>
            <a:r>
              <a:rPr lang="ru-RU" sz="2400" u="sng" dirty="0">
                <a:solidFill>
                  <a:srgbClr val="CD2324"/>
                </a:solidFill>
                <a:latin typeface="Buda"/>
                <a:hlinkClick r:id="rId2"/>
              </a:rPr>
              <a:t>t-тест</a:t>
            </a:r>
            <a:r>
              <a:rPr lang="ru-RU" sz="2400" dirty="0">
                <a:solidFill>
                  <a:srgbClr val="000000"/>
                </a:solidFill>
                <a:latin typeface="Buda"/>
              </a:rPr>
              <a:t> является типичным параметрическим методом. Почему? Потому, что главным условием для его проведения является </a:t>
            </a:r>
            <a:r>
              <a:rPr lang="ru-RU" sz="2400" b="1" i="1" dirty="0">
                <a:solidFill>
                  <a:srgbClr val="000000"/>
                </a:solidFill>
                <a:latin typeface="Buda"/>
              </a:rPr>
              <a:t>нормальное распределение</a:t>
            </a:r>
            <a:r>
              <a:rPr lang="en-US" sz="2400" b="1" i="1" dirty="0">
                <a:solidFill>
                  <a:srgbClr val="000000"/>
                </a:solidFill>
                <a:latin typeface="Buda"/>
              </a:rPr>
              <a:t> </a:t>
            </a:r>
            <a:r>
              <a:rPr lang="ru-RU" sz="2400" b="1" i="1" dirty="0">
                <a:solidFill>
                  <a:srgbClr val="000000"/>
                </a:solidFill>
                <a:latin typeface="Buda"/>
              </a:rPr>
              <a:t>количественных</a:t>
            </a:r>
            <a:r>
              <a:rPr lang="en-US" sz="2400" b="1" i="1" dirty="0">
                <a:solidFill>
                  <a:srgbClr val="000000"/>
                </a:solidFill>
                <a:latin typeface="Buda"/>
              </a:rPr>
              <a:t> </a:t>
            </a:r>
            <a:r>
              <a:rPr lang="ru-RU" sz="2400" b="1" i="1" dirty="0">
                <a:solidFill>
                  <a:srgbClr val="000000"/>
                </a:solidFill>
                <a:latin typeface="Buda"/>
              </a:rPr>
              <a:t>данных</a:t>
            </a:r>
            <a:r>
              <a:rPr lang="ru-RU" sz="2400" dirty="0">
                <a:solidFill>
                  <a:srgbClr val="000000"/>
                </a:solidFill>
                <a:latin typeface="Buda"/>
              </a:rPr>
              <a:t>.</a:t>
            </a:r>
            <a:endParaRPr lang="en-US" sz="2400" dirty="0">
              <a:solidFill>
                <a:srgbClr val="000000"/>
              </a:solidFill>
              <a:latin typeface="Buda"/>
            </a:endParaRPr>
          </a:p>
          <a:p>
            <a:pPr marL="342900" indent="-342900">
              <a:buFont typeface="Arial" panose="020B0604020202020204" pitchFamily="34" charset="0"/>
              <a:buChar char="•"/>
            </a:pPr>
            <a:r>
              <a:rPr lang="ru-RU" sz="2400" b="1" dirty="0">
                <a:solidFill>
                  <a:srgbClr val="000000"/>
                </a:solidFill>
                <a:latin typeface="Buda"/>
              </a:rPr>
              <a:t>Непараметрические</a:t>
            </a:r>
            <a:r>
              <a:rPr lang="ru-RU" sz="2400" dirty="0">
                <a:solidFill>
                  <a:srgbClr val="000000"/>
                </a:solidFill>
                <a:latin typeface="Buda"/>
              </a:rPr>
              <a:t> методы, напротив, не зависят от распределения данных и позволяют работать как с количественными, так и с </a:t>
            </a:r>
            <a:r>
              <a:rPr lang="ru-RU" sz="2400" i="1" dirty="0">
                <a:solidFill>
                  <a:srgbClr val="000000"/>
                </a:solidFill>
                <a:latin typeface="Buda"/>
              </a:rPr>
              <a:t>порядковыми</a:t>
            </a:r>
            <a:r>
              <a:rPr lang="ru-RU" sz="2400" dirty="0">
                <a:solidFill>
                  <a:srgbClr val="000000"/>
                </a:solidFill>
                <a:latin typeface="Buda"/>
              </a:rPr>
              <a:t> данными (например: размер обуви, шкала силы землетрясений).</a:t>
            </a:r>
            <a:endParaRPr lang="ru-RU" sz="2400" dirty="0"/>
          </a:p>
        </p:txBody>
      </p:sp>
      <p:sp>
        <p:nvSpPr>
          <p:cNvPr id="3" name="Номер слайда 2"/>
          <p:cNvSpPr>
            <a:spLocks noGrp="1"/>
          </p:cNvSpPr>
          <p:nvPr>
            <p:ph type="sldNum" sz="quarter" idx="12"/>
          </p:nvPr>
        </p:nvSpPr>
        <p:spPr/>
        <p:txBody>
          <a:bodyPr/>
          <a:lstStyle/>
          <a:p>
            <a:fld id="{952B6C0E-C4B9-4094-8E59-5B7DF00D5415}" type="slidenum">
              <a:rPr lang="ru-RU" sz="1400">
                <a:solidFill>
                  <a:schemeClr val="tx1"/>
                </a:solidFill>
              </a:rPr>
              <a:t>119</a:t>
            </a:fld>
            <a:endParaRPr lang="ru-RU" sz="1400">
              <a:solidFill>
                <a:schemeClr val="tx1"/>
              </a:solidFill>
            </a:endParaRPr>
          </a:p>
        </p:txBody>
      </p:sp>
    </p:spTree>
    <p:extLst>
      <p:ext uri="{BB962C8B-B14F-4D97-AF65-F5344CB8AC3E}">
        <p14:creationId xmlns:p14="http://schemas.microsoft.com/office/powerpoint/2010/main" val="32615226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4"/>
          <p:cNvSpPr>
            <a:spLocks noChangeArrowheads="1"/>
          </p:cNvSpPr>
          <p:nvPr/>
        </p:nvSpPr>
        <p:spPr bwMode="auto">
          <a:xfrm>
            <a:off x="1438275" y="322263"/>
            <a:ext cx="10596563" cy="6553200"/>
          </a:xfrm>
          <a:prstGeom prst="roundRect">
            <a:avLst>
              <a:gd name="adj" fmla="val 16667"/>
            </a:avLst>
          </a:prstGeom>
          <a:solidFill>
            <a:schemeClr val="bg1">
              <a:alpha val="50195"/>
            </a:scheme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6" name="AutoShape 5"/>
          <p:cNvSpPr>
            <a:spLocks noChangeArrowheads="1"/>
          </p:cNvSpPr>
          <p:nvPr/>
        </p:nvSpPr>
        <p:spPr bwMode="auto">
          <a:xfrm>
            <a:off x="2373685" y="322263"/>
            <a:ext cx="8064128" cy="850960"/>
          </a:xfrm>
          <a:prstGeom prst="roundRect">
            <a:avLst>
              <a:gd name="adj" fmla="val 37469"/>
            </a:avLst>
          </a:prstGeom>
          <a:solidFill>
            <a:srgbClr val="FFFFFF">
              <a:alpha val="78822"/>
            </a:srgb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2" name="Прямоугольник 1"/>
          <p:cNvSpPr/>
          <p:nvPr/>
        </p:nvSpPr>
        <p:spPr>
          <a:xfrm>
            <a:off x="2535239" y="270690"/>
            <a:ext cx="7597775" cy="954107"/>
          </a:xfrm>
          <a:prstGeom prst="rect">
            <a:avLst/>
          </a:prstGeom>
        </p:spPr>
        <p:txBody>
          <a:bodyPr wrap="square">
            <a:spAutoFit/>
          </a:bodyPr>
          <a:lstStyle/>
          <a:p>
            <a:pPr algn="ctr"/>
            <a:r>
              <a:rPr lang="ru-RU" sz="2800" dirty="0">
                <a:solidFill>
                  <a:schemeClr val="tx2"/>
                </a:solidFill>
                <a:latin typeface="+mj-lt"/>
                <a:ea typeface="+mj-ea"/>
                <a:cs typeface="+mj-cs"/>
              </a:rPr>
              <a:t>Параметрический или непараметрический критерий различия?</a:t>
            </a:r>
          </a:p>
        </p:txBody>
      </p:sp>
      <p:sp>
        <p:nvSpPr>
          <p:cNvPr id="3" name="Прямоугольник 2"/>
          <p:cNvSpPr/>
          <p:nvPr/>
        </p:nvSpPr>
        <p:spPr>
          <a:xfrm>
            <a:off x="1047205" y="1797972"/>
            <a:ext cx="10759528" cy="3477875"/>
          </a:xfrm>
          <a:prstGeom prst="rect">
            <a:avLst/>
          </a:prstGeom>
        </p:spPr>
        <p:txBody>
          <a:bodyPr wrap="square">
            <a:spAutoFit/>
          </a:bodyPr>
          <a:lstStyle/>
          <a:p>
            <a:pPr marL="342900" indent="-342900">
              <a:buFont typeface="Arial" panose="020B0604020202020204" pitchFamily="34" charset="0"/>
              <a:buChar char="•"/>
            </a:pPr>
            <a:r>
              <a:rPr lang="ru-RU" sz="2200" dirty="0">
                <a:solidFill>
                  <a:srgbClr val="000000"/>
                </a:solidFill>
                <a:latin typeface="Buda"/>
              </a:rPr>
              <a:t>При нормальном распределении данных параметрические критерии имеют б</a:t>
            </a:r>
            <a:r>
              <a:rPr lang="ru-RU" sz="2200" b="1" i="1" dirty="0">
                <a:solidFill>
                  <a:srgbClr val="000000"/>
                </a:solidFill>
                <a:latin typeface="Buda"/>
              </a:rPr>
              <a:t>о</a:t>
            </a:r>
            <a:r>
              <a:rPr lang="ru-RU" sz="2200" dirty="0">
                <a:solidFill>
                  <a:srgbClr val="000000"/>
                </a:solidFill>
                <a:latin typeface="Buda"/>
              </a:rPr>
              <a:t>льшую мощность по сравнению с непараметрическими. </a:t>
            </a:r>
            <a:endParaRPr lang="en-US" sz="2200" dirty="0">
              <a:solidFill>
                <a:srgbClr val="000000"/>
              </a:solidFill>
              <a:latin typeface="Buda"/>
            </a:endParaRPr>
          </a:p>
          <a:p>
            <a:pPr marL="342900" indent="-342900">
              <a:buFont typeface="Arial" panose="020B0604020202020204" pitchFamily="34" charset="0"/>
              <a:buChar char="•"/>
            </a:pPr>
            <a:r>
              <a:rPr lang="ru-RU" sz="2200" dirty="0">
                <a:solidFill>
                  <a:srgbClr val="000000"/>
                </a:solidFill>
                <a:latin typeface="Buda"/>
              </a:rPr>
              <a:t>Однако, когда данные выборок не проходят тесты нормальности (такие, как </a:t>
            </a:r>
            <a:r>
              <a:rPr lang="ru-RU" sz="2200" dirty="0" err="1">
                <a:solidFill>
                  <a:srgbClr val="000000"/>
                </a:solidFill>
                <a:latin typeface="Buda"/>
              </a:rPr>
              <a:t>qqplot</a:t>
            </a:r>
            <a:r>
              <a:rPr lang="ru-RU" sz="2200" dirty="0">
                <a:solidFill>
                  <a:srgbClr val="000000"/>
                </a:solidFill>
                <a:latin typeface="Buda"/>
              </a:rPr>
              <a:t> и Шапиро тест), непараметрические методы дают более точные предсказания. Особенно они эффективны с выборками небольшого размера (&lt;100 наблюдений), на распределение которых могут влиять неизвестные факторы. </a:t>
            </a:r>
            <a:endParaRPr lang="en-US" sz="2200" dirty="0">
              <a:solidFill>
                <a:srgbClr val="000000"/>
              </a:solidFill>
              <a:latin typeface="Buda"/>
            </a:endParaRPr>
          </a:p>
          <a:p>
            <a:pPr marL="342900" indent="-342900">
              <a:buFont typeface="Arial" panose="020B0604020202020204" pitchFamily="34" charset="0"/>
              <a:buChar char="•"/>
            </a:pPr>
            <a:r>
              <a:rPr lang="ru-RU" sz="2200" dirty="0">
                <a:solidFill>
                  <a:srgbClr val="000000"/>
                </a:solidFill>
                <a:latin typeface="Buda"/>
              </a:rPr>
              <a:t>Далее мы познакомимся с непараметрическими аналогами t-теста, использующимися также, для сравнения двух выборок. При выборе критерия следует обратить внимание на две вещи: зависимость данных выборок друг от друга и объем выборок.</a:t>
            </a:r>
            <a:endParaRPr lang="ru-RU" sz="2200" dirty="0"/>
          </a:p>
        </p:txBody>
      </p:sp>
      <p:sp>
        <p:nvSpPr>
          <p:cNvPr id="4" name="Номер слайда 3"/>
          <p:cNvSpPr>
            <a:spLocks noGrp="1"/>
          </p:cNvSpPr>
          <p:nvPr>
            <p:ph type="sldNum" sz="quarter" idx="12"/>
          </p:nvPr>
        </p:nvSpPr>
        <p:spPr/>
        <p:txBody>
          <a:bodyPr/>
          <a:lstStyle/>
          <a:p>
            <a:fld id="{952B6C0E-C4B9-4094-8E59-5B7DF00D5415}" type="slidenum">
              <a:rPr lang="ru-RU" sz="1400">
                <a:solidFill>
                  <a:schemeClr val="tx1"/>
                </a:solidFill>
              </a:rPr>
              <a:t>120</a:t>
            </a:fld>
            <a:endParaRPr lang="ru-RU" dirty="0">
              <a:solidFill>
                <a:schemeClr val="tx1"/>
              </a:solidFill>
            </a:endParaRPr>
          </a:p>
        </p:txBody>
      </p:sp>
    </p:spTree>
    <p:extLst>
      <p:ext uri="{BB962C8B-B14F-4D97-AF65-F5344CB8AC3E}">
        <p14:creationId xmlns:p14="http://schemas.microsoft.com/office/powerpoint/2010/main" val="21553642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4"/>
          <p:cNvSpPr>
            <a:spLocks noChangeArrowheads="1"/>
          </p:cNvSpPr>
          <p:nvPr/>
        </p:nvSpPr>
        <p:spPr bwMode="auto">
          <a:xfrm>
            <a:off x="1438275" y="322263"/>
            <a:ext cx="10596563" cy="6553200"/>
          </a:xfrm>
          <a:prstGeom prst="roundRect">
            <a:avLst>
              <a:gd name="adj" fmla="val 16667"/>
            </a:avLst>
          </a:prstGeom>
          <a:solidFill>
            <a:schemeClr val="bg1">
              <a:alpha val="50195"/>
            </a:scheme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6" name="AutoShape 5"/>
          <p:cNvSpPr>
            <a:spLocks noChangeArrowheads="1"/>
          </p:cNvSpPr>
          <p:nvPr/>
        </p:nvSpPr>
        <p:spPr bwMode="auto">
          <a:xfrm>
            <a:off x="2373685" y="322263"/>
            <a:ext cx="8064128" cy="850960"/>
          </a:xfrm>
          <a:prstGeom prst="roundRect">
            <a:avLst>
              <a:gd name="adj" fmla="val 37469"/>
            </a:avLst>
          </a:prstGeom>
          <a:solidFill>
            <a:srgbClr val="FFFFFF">
              <a:alpha val="78822"/>
            </a:srgb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2" name="Прямоугольник 1"/>
          <p:cNvSpPr/>
          <p:nvPr/>
        </p:nvSpPr>
        <p:spPr>
          <a:xfrm>
            <a:off x="2535239" y="270690"/>
            <a:ext cx="8335390" cy="461665"/>
          </a:xfrm>
          <a:prstGeom prst="rect">
            <a:avLst/>
          </a:prstGeom>
        </p:spPr>
        <p:txBody>
          <a:bodyPr wrap="square">
            <a:spAutoFit/>
          </a:bodyPr>
          <a:lstStyle/>
          <a:p>
            <a:r>
              <a:rPr lang="en-US" sz="2400" b="1" dirty="0"/>
              <a:t>U-</a:t>
            </a:r>
            <a:r>
              <a:rPr lang="ru-RU" sz="2400" b="1" dirty="0"/>
              <a:t>критерий Манна-Уитни (</a:t>
            </a:r>
            <a:r>
              <a:rPr lang="en-US" sz="2400" b="1" dirty="0"/>
              <a:t>Wilcoxon Rank Sum Test)</a:t>
            </a:r>
          </a:p>
        </p:txBody>
      </p:sp>
      <p:sp>
        <p:nvSpPr>
          <p:cNvPr id="4" name="Номер слайда 3"/>
          <p:cNvSpPr>
            <a:spLocks noGrp="1"/>
          </p:cNvSpPr>
          <p:nvPr>
            <p:ph type="sldNum" sz="quarter" idx="12"/>
          </p:nvPr>
        </p:nvSpPr>
        <p:spPr/>
        <p:txBody>
          <a:bodyPr/>
          <a:lstStyle/>
          <a:p>
            <a:fld id="{952B6C0E-C4B9-4094-8E59-5B7DF00D5415}" type="slidenum">
              <a:rPr lang="ru-RU" sz="1400">
                <a:solidFill>
                  <a:schemeClr val="tx1"/>
                </a:solidFill>
              </a:rPr>
              <a:t>121</a:t>
            </a:fld>
            <a:endParaRPr lang="ru-RU" dirty="0">
              <a:solidFill>
                <a:schemeClr val="tx1"/>
              </a:solidFill>
            </a:endParaRPr>
          </a:p>
        </p:txBody>
      </p:sp>
      <p:sp>
        <p:nvSpPr>
          <p:cNvPr id="7" name="Rectangle 1">
            <a:extLst>
              <a:ext uri="{FF2B5EF4-FFF2-40B4-BE49-F238E27FC236}">
                <a16:creationId xmlns:a16="http://schemas.microsoft.com/office/drawing/2014/main" id="{C96164CA-3F03-41B8-AFFD-1DAF6A699A16}"/>
              </a:ext>
            </a:extLst>
          </p:cNvPr>
          <p:cNvSpPr>
            <a:spLocks noChangeArrowheads="1"/>
          </p:cNvSpPr>
          <p:nvPr/>
        </p:nvSpPr>
        <p:spPr bwMode="auto">
          <a:xfrm>
            <a:off x="1438274" y="1042864"/>
            <a:ext cx="10294564"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ru-RU" altLang="ru-RU" sz="1800" b="1" i="0" u="none" strike="noStrike" cap="none" normalizeH="0" baseline="0" dirty="0">
                <a:ln>
                  <a:noFill/>
                </a:ln>
                <a:solidFill>
                  <a:schemeClr val="tx1"/>
                </a:solidFill>
                <a:effectLst/>
                <a:latin typeface="Arial" panose="020B0604020202020204" pitchFamily="34" charset="0"/>
              </a:rPr>
              <a:t>Задача</a:t>
            </a:r>
            <a:r>
              <a:rPr kumimoji="0" lang="ru-RU" altLang="ru-RU" sz="1800" b="0" i="0" u="none" strike="noStrike" cap="none" normalizeH="0" baseline="0" dirty="0">
                <a:ln>
                  <a:noFill/>
                </a:ln>
                <a:solidFill>
                  <a:schemeClr val="tx1"/>
                </a:solidFill>
                <a:effectLst/>
                <a:latin typeface="Arial" panose="020B0604020202020204" pitchFamily="34" charset="0"/>
              </a:rPr>
              <a:t>: сравнить длины тела самцов гуппи из двух рек, когда данные не подчиняются нормальному распределению.</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ru-RU" altLang="ru-RU" sz="1800" b="1" i="0" u="none" strike="noStrike" cap="none" normalizeH="0" baseline="0" dirty="0">
                <a:ln>
                  <a:noFill/>
                </a:ln>
                <a:solidFill>
                  <a:schemeClr val="tx1"/>
                </a:solidFill>
                <a:effectLst/>
                <a:latin typeface="Arial" panose="020B0604020202020204" pitchFamily="34" charset="0"/>
              </a:rPr>
              <a:t>Код</a:t>
            </a:r>
            <a:r>
              <a:rPr kumimoji="0" lang="ru-RU" altLang="ru-RU" sz="1800" b="0" i="0" u="none" strike="noStrike" cap="none" normalizeH="0" baseline="0" dirty="0">
                <a:ln>
                  <a:noFill/>
                </a:ln>
                <a:solidFill>
                  <a:schemeClr val="tx1"/>
                </a:solidFill>
                <a:effectLst/>
                <a:latin typeface="Arial" panose="020B0604020202020204" pitchFamily="34" charset="0"/>
              </a:rPr>
              <a:t>:</a:t>
            </a:r>
          </a:p>
        </p:txBody>
      </p:sp>
      <p:sp>
        <p:nvSpPr>
          <p:cNvPr id="13" name="TextBox 12">
            <a:extLst>
              <a:ext uri="{FF2B5EF4-FFF2-40B4-BE49-F238E27FC236}">
                <a16:creationId xmlns:a16="http://schemas.microsoft.com/office/drawing/2014/main" id="{DA0107E7-2CAE-48CA-9412-3754E400696F}"/>
              </a:ext>
            </a:extLst>
          </p:cNvPr>
          <p:cNvSpPr txBox="1"/>
          <p:nvPr/>
        </p:nvSpPr>
        <p:spPr>
          <a:xfrm>
            <a:off x="1581597" y="2269337"/>
            <a:ext cx="8565458" cy="1631216"/>
          </a:xfrm>
          <a:prstGeom prst="rect">
            <a:avLst/>
          </a:prstGeom>
          <a:noFill/>
        </p:spPr>
        <p:txBody>
          <a:bodyPr wrap="square">
            <a:spAutoFit/>
          </a:bodyPr>
          <a:lstStyle/>
          <a:p>
            <a:r>
              <a:rPr lang="ru-RU" dirty="0">
                <a:solidFill>
                  <a:srgbClr val="0070C0"/>
                </a:solidFill>
              </a:rPr>
              <a:t># Создаём данные</a:t>
            </a:r>
            <a:endParaRPr lang="en-US" dirty="0">
              <a:solidFill>
                <a:srgbClr val="0070C0"/>
              </a:solidFill>
            </a:endParaRPr>
          </a:p>
          <a:p>
            <a:r>
              <a:rPr lang="ru-RU" dirty="0" err="1">
                <a:solidFill>
                  <a:srgbClr val="0070C0"/>
                </a:solidFill>
              </a:rPr>
              <a:t>guanapo</a:t>
            </a:r>
            <a:r>
              <a:rPr lang="ru-RU" dirty="0">
                <a:solidFill>
                  <a:srgbClr val="0070C0"/>
                </a:solidFill>
              </a:rPr>
              <a:t> &lt;- c(18, 19, 20, 17, 19, 18)</a:t>
            </a:r>
            <a:endParaRPr lang="en-US" dirty="0">
              <a:solidFill>
                <a:srgbClr val="0070C0"/>
              </a:solidFill>
            </a:endParaRPr>
          </a:p>
          <a:p>
            <a:r>
              <a:rPr lang="ru-RU" dirty="0" err="1">
                <a:solidFill>
                  <a:srgbClr val="0070C0"/>
                </a:solidFill>
              </a:rPr>
              <a:t>aripo</a:t>
            </a:r>
            <a:r>
              <a:rPr lang="ru-RU" dirty="0">
                <a:solidFill>
                  <a:srgbClr val="0070C0"/>
                </a:solidFill>
              </a:rPr>
              <a:t> &lt;- c(21, 20, 22, 19, 20, 21)</a:t>
            </a:r>
            <a:endParaRPr lang="en-US" dirty="0">
              <a:solidFill>
                <a:srgbClr val="0070C0"/>
              </a:solidFill>
            </a:endParaRPr>
          </a:p>
          <a:p>
            <a:r>
              <a:rPr lang="ru-RU" dirty="0">
                <a:solidFill>
                  <a:srgbClr val="0070C0"/>
                </a:solidFill>
              </a:rPr>
              <a:t># Выполняем тест</a:t>
            </a:r>
            <a:r>
              <a:rPr lang="en-US" dirty="0">
                <a:solidFill>
                  <a:srgbClr val="0070C0"/>
                </a:solidFill>
              </a:rPr>
              <a:t> </a:t>
            </a:r>
          </a:p>
          <a:p>
            <a:r>
              <a:rPr lang="ru-RU" dirty="0" err="1">
                <a:solidFill>
                  <a:srgbClr val="0070C0"/>
                </a:solidFill>
              </a:rPr>
              <a:t>wilcox.test</a:t>
            </a:r>
            <a:r>
              <a:rPr lang="ru-RU" dirty="0">
                <a:solidFill>
                  <a:srgbClr val="0070C0"/>
                </a:solidFill>
              </a:rPr>
              <a:t>(</a:t>
            </a:r>
            <a:r>
              <a:rPr lang="ru-RU" dirty="0" err="1">
                <a:solidFill>
                  <a:srgbClr val="0070C0"/>
                </a:solidFill>
              </a:rPr>
              <a:t>guanapo</a:t>
            </a:r>
            <a:r>
              <a:rPr lang="ru-RU" dirty="0">
                <a:solidFill>
                  <a:srgbClr val="0070C0"/>
                </a:solidFill>
              </a:rPr>
              <a:t>, </a:t>
            </a:r>
            <a:r>
              <a:rPr lang="ru-RU" dirty="0" err="1">
                <a:solidFill>
                  <a:srgbClr val="0070C0"/>
                </a:solidFill>
              </a:rPr>
              <a:t>aripo</a:t>
            </a:r>
            <a:r>
              <a:rPr lang="ru-RU" dirty="0">
                <a:solidFill>
                  <a:srgbClr val="0070C0"/>
                </a:solidFill>
              </a:rPr>
              <a:t>, </a:t>
            </a:r>
            <a:r>
              <a:rPr lang="ru-RU" dirty="0" err="1">
                <a:solidFill>
                  <a:srgbClr val="0070C0"/>
                </a:solidFill>
              </a:rPr>
              <a:t>alternative</a:t>
            </a:r>
            <a:r>
              <a:rPr lang="ru-RU" dirty="0">
                <a:solidFill>
                  <a:srgbClr val="0070C0"/>
                </a:solidFill>
              </a:rPr>
              <a:t> = "</a:t>
            </a:r>
            <a:r>
              <a:rPr lang="ru-RU" dirty="0" err="1">
                <a:solidFill>
                  <a:srgbClr val="0070C0"/>
                </a:solidFill>
              </a:rPr>
              <a:t>two.sided</a:t>
            </a:r>
            <a:r>
              <a:rPr lang="ru-RU" dirty="0">
                <a:solidFill>
                  <a:srgbClr val="0070C0"/>
                </a:solidFill>
              </a:rPr>
              <a:t>")</a:t>
            </a:r>
          </a:p>
        </p:txBody>
      </p:sp>
      <p:sp>
        <p:nvSpPr>
          <p:cNvPr id="14" name="Rectangle 4">
            <a:extLst>
              <a:ext uri="{FF2B5EF4-FFF2-40B4-BE49-F238E27FC236}">
                <a16:creationId xmlns:a16="http://schemas.microsoft.com/office/drawing/2014/main" id="{14B4CF82-607F-4FD1-84F9-D249EEFDDA93}"/>
              </a:ext>
            </a:extLst>
          </p:cNvPr>
          <p:cNvSpPr>
            <a:spLocks noChangeArrowheads="1"/>
          </p:cNvSpPr>
          <p:nvPr/>
        </p:nvSpPr>
        <p:spPr bwMode="auto">
          <a:xfrm>
            <a:off x="1577554" y="5650152"/>
            <a:ext cx="9857855" cy="9848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1800" b="1" i="0" u="none" strike="noStrike" cap="none" normalizeH="0" baseline="0" dirty="0">
                <a:ln>
                  <a:noFill/>
                </a:ln>
                <a:solidFill>
                  <a:schemeClr val="tx1"/>
                </a:solidFill>
                <a:effectLst/>
                <a:latin typeface="Arial" panose="020B0604020202020204" pitchFamily="34" charset="0"/>
              </a:rPr>
              <a:t>Что означает результат</a:t>
            </a:r>
            <a:r>
              <a:rPr kumimoji="0" lang="ru-RU" altLang="ru-RU" sz="1800" b="0" i="0" u="none" strike="noStrike" cap="none" normalizeH="0" baseline="0" dirty="0">
                <a:ln>
                  <a:noFill/>
                </a:ln>
                <a:solidFill>
                  <a:schemeClr val="tx1"/>
                </a:solidFill>
                <a:effectLst/>
                <a:latin typeface="Arial" panose="020B0604020202020204" pitchFamily="34" charset="0"/>
              </a:rPr>
              <a:t>: </a:t>
            </a:r>
            <a:endParaRPr kumimoji="0" lang="en-US" altLang="ru-RU"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b="0" i="0" u="none" strike="noStrike" cap="none" normalizeH="0" baseline="0" dirty="0">
                <a:ln>
                  <a:noFill/>
                </a:ln>
                <a:solidFill>
                  <a:schemeClr val="tx1"/>
                </a:solidFill>
                <a:effectLst/>
                <a:latin typeface="Arial Unicode MS" pitchFamily="34" charset="-128"/>
              </a:rPr>
              <a:t>W = </a:t>
            </a:r>
            <a:r>
              <a:rPr kumimoji="0" lang="en-US" altLang="ru-RU" b="0" i="0" u="none" strike="noStrike" cap="none" normalizeH="0" baseline="0" dirty="0">
                <a:ln>
                  <a:noFill/>
                </a:ln>
                <a:solidFill>
                  <a:schemeClr val="tx1"/>
                </a:solidFill>
                <a:effectLst/>
                <a:latin typeface="Arial Unicode MS" pitchFamily="34" charset="-128"/>
              </a:rPr>
              <a:t>3</a:t>
            </a:r>
            <a:r>
              <a:rPr kumimoji="0" lang="ru-RU" altLang="ru-RU" b="0" i="0" u="none" strike="noStrike" cap="none" normalizeH="0" baseline="0" dirty="0">
                <a:ln>
                  <a:noFill/>
                </a:ln>
                <a:solidFill>
                  <a:schemeClr val="tx1"/>
                </a:solidFill>
                <a:effectLst/>
                <a:latin typeface="Arial Unicode MS" pitchFamily="34" charset="-128"/>
              </a:rPr>
              <a:t>, p-</a:t>
            </a:r>
            <a:r>
              <a:rPr kumimoji="0" lang="ru-RU" altLang="ru-RU" b="0" i="0" u="none" strike="noStrike" cap="none" normalizeH="0" baseline="0" dirty="0" err="1">
                <a:ln>
                  <a:noFill/>
                </a:ln>
                <a:solidFill>
                  <a:schemeClr val="tx1"/>
                </a:solidFill>
                <a:effectLst/>
                <a:latin typeface="Arial Unicode MS" pitchFamily="34" charset="-128"/>
              </a:rPr>
              <a:t>value</a:t>
            </a:r>
            <a:r>
              <a:rPr kumimoji="0" lang="ru-RU" altLang="ru-RU" b="0" i="0" u="none" strike="noStrike" cap="none" normalizeH="0" baseline="0" dirty="0">
                <a:ln>
                  <a:noFill/>
                </a:ln>
                <a:solidFill>
                  <a:schemeClr val="tx1"/>
                </a:solidFill>
                <a:effectLst/>
                <a:latin typeface="Arial Unicode MS" pitchFamily="34" charset="-128"/>
              </a:rPr>
              <a:t> = 0.0</a:t>
            </a:r>
            <a:r>
              <a:rPr kumimoji="0" lang="en-US" altLang="ru-RU" b="0" i="0" u="none" strike="noStrike" cap="none" normalizeH="0" baseline="0" dirty="0">
                <a:ln>
                  <a:noFill/>
                </a:ln>
                <a:solidFill>
                  <a:schemeClr val="tx1"/>
                </a:solidFill>
                <a:effectLst/>
                <a:latin typeface="Arial Unicode MS" pitchFamily="34" charset="-128"/>
              </a:rPr>
              <a:t>181</a:t>
            </a:r>
            <a:r>
              <a:rPr kumimoji="0" lang="ru-RU" altLang="ru-RU" b="0" i="0" u="none" strike="noStrike" cap="none" normalizeH="0" baseline="0" dirty="0">
                <a:ln>
                  <a:noFill/>
                </a:ln>
                <a:solidFill>
                  <a:schemeClr val="tx1"/>
                </a:solidFill>
                <a:effectLst/>
              </a:rPr>
              <a:t>. Маленькое p-значение указывает на статистически значимую разницу в длине рыб между двумя популяциями.</a:t>
            </a:r>
            <a:r>
              <a:rPr kumimoji="0" lang="ru-RU" altLang="ru-RU" b="0" i="0" u="none" strike="noStrike" cap="none" normalizeH="0" baseline="0" dirty="0">
                <a:ln>
                  <a:noFill/>
                </a:ln>
                <a:solidFill>
                  <a:schemeClr val="tx1"/>
                </a:solidFill>
                <a:effectLst/>
                <a:latin typeface="Arial" panose="020B0604020202020204" pitchFamily="34" charset="0"/>
              </a:rPr>
              <a:t> </a:t>
            </a:r>
          </a:p>
        </p:txBody>
      </p:sp>
      <p:sp>
        <p:nvSpPr>
          <p:cNvPr id="15" name="Rectangle 5">
            <a:extLst>
              <a:ext uri="{FF2B5EF4-FFF2-40B4-BE49-F238E27FC236}">
                <a16:creationId xmlns:a16="http://schemas.microsoft.com/office/drawing/2014/main" id="{A81D9189-229E-4B2D-843D-A18AD673793B}"/>
              </a:ext>
            </a:extLst>
          </p:cNvPr>
          <p:cNvSpPr>
            <a:spLocks noChangeArrowheads="1"/>
          </p:cNvSpPr>
          <p:nvPr/>
        </p:nvSpPr>
        <p:spPr bwMode="auto">
          <a:xfrm>
            <a:off x="3525813" y="4203696"/>
            <a:ext cx="7488832" cy="98488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1600" b="0" i="0" u="none" strike="noStrike" cap="none" normalizeH="0" baseline="0" dirty="0">
                <a:ln>
                  <a:noFill/>
                </a:ln>
                <a:solidFill>
                  <a:srgbClr val="000000"/>
                </a:solidFill>
                <a:effectLst/>
                <a:latin typeface="Lucida Console" panose="020B0609040504020204" pitchFamily="49" charset="0"/>
              </a:rPr>
              <a:t>Wilcoxon </a:t>
            </a:r>
            <a:r>
              <a:rPr kumimoji="0" lang="ru-RU" altLang="ru-RU" sz="1600" b="0" i="0" u="none" strike="noStrike" cap="none" normalizeH="0" baseline="0" dirty="0" err="1">
                <a:ln>
                  <a:noFill/>
                </a:ln>
                <a:solidFill>
                  <a:srgbClr val="000000"/>
                </a:solidFill>
                <a:effectLst/>
                <a:latin typeface="Lucida Console" panose="020B0609040504020204" pitchFamily="49" charset="0"/>
              </a:rPr>
              <a:t>rank</a:t>
            </a:r>
            <a:r>
              <a:rPr kumimoji="0" lang="ru-RU" altLang="ru-RU" sz="1600" b="0" i="0" u="none" strike="noStrike" cap="none" normalizeH="0" baseline="0" dirty="0">
                <a:ln>
                  <a:noFill/>
                </a:ln>
                <a:solidFill>
                  <a:srgbClr val="000000"/>
                </a:solidFill>
                <a:effectLst/>
                <a:latin typeface="Lucida Console" panose="020B0609040504020204" pitchFamily="49" charset="0"/>
              </a:rPr>
              <a:t> </a:t>
            </a:r>
            <a:r>
              <a:rPr kumimoji="0" lang="ru-RU" altLang="ru-RU" sz="1600" b="0" i="0" u="none" strike="noStrike" cap="none" normalizeH="0" baseline="0" dirty="0" err="1">
                <a:ln>
                  <a:noFill/>
                </a:ln>
                <a:solidFill>
                  <a:srgbClr val="000000"/>
                </a:solidFill>
                <a:effectLst/>
                <a:latin typeface="Lucida Console" panose="020B0609040504020204" pitchFamily="49" charset="0"/>
              </a:rPr>
              <a:t>sum</a:t>
            </a:r>
            <a:r>
              <a:rPr kumimoji="0" lang="ru-RU" altLang="ru-RU" sz="1600" b="0" i="0" u="none" strike="noStrike" cap="none" normalizeH="0" baseline="0" dirty="0">
                <a:ln>
                  <a:noFill/>
                </a:ln>
                <a:solidFill>
                  <a:srgbClr val="000000"/>
                </a:solidFill>
                <a:effectLst/>
                <a:latin typeface="Lucida Console" panose="020B0609040504020204" pitchFamily="49" charset="0"/>
              </a:rPr>
              <a:t> </a:t>
            </a:r>
            <a:r>
              <a:rPr kumimoji="0" lang="ru-RU" altLang="ru-RU" sz="1600" b="0" i="0" u="none" strike="noStrike" cap="none" normalizeH="0" baseline="0" dirty="0" err="1">
                <a:ln>
                  <a:noFill/>
                </a:ln>
                <a:solidFill>
                  <a:srgbClr val="000000"/>
                </a:solidFill>
                <a:effectLst/>
                <a:latin typeface="Lucida Console" panose="020B0609040504020204" pitchFamily="49" charset="0"/>
              </a:rPr>
              <a:t>test</a:t>
            </a:r>
            <a:r>
              <a:rPr kumimoji="0" lang="ru-RU" altLang="ru-RU" sz="1600" b="0" i="0" u="none" strike="noStrike" cap="none" normalizeH="0" baseline="0" dirty="0">
                <a:ln>
                  <a:noFill/>
                </a:ln>
                <a:solidFill>
                  <a:srgbClr val="000000"/>
                </a:solidFill>
                <a:effectLst/>
                <a:latin typeface="Lucida Console" panose="020B0609040504020204" pitchFamily="49" charset="0"/>
              </a:rPr>
              <a:t> </a:t>
            </a:r>
            <a:r>
              <a:rPr kumimoji="0" lang="ru-RU" altLang="ru-RU" sz="1600" b="0" i="0" u="none" strike="noStrike" cap="none" normalizeH="0" baseline="0" dirty="0" err="1">
                <a:ln>
                  <a:noFill/>
                </a:ln>
                <a:solidFill>
                  <a:srgbClr val="000000"/>
                </a:solidFill>
                <a:effectLst/>
                <a:latin typeface="Lucida Console" panose="020B0609040504020204" pitchFamily="49" charset="0"/>
              </a:rPr>
              <a:t>with</a:t>
            </a:r>
            <a:r>
              <a:rPr kumimoji="0" lang="ru-RU" altLang="ru-RU" sz="1600" b="0" i="0" u="none" strike="noStrike" cap="none" normalizeH="0" baseline="0" dirty="0">
                <a:ln>
                  <a:noFill/>
                </a:ln>
                <a:solidFill>
                  <a:srgbClr val="000000"/>
                </a:solidFill>
                <a:effectLst/>
                <a:latin typeface="Lucida Console" panose="020B0609040504020204" pitchFamily="49" charset="0"/>
              </a:rPr>
              <a:t> </a:t>
            </a:r>
            <a:r>
              <a:rPr kumimoji="0" lang="ru-RU" altLang="ru-RU" sz="1600" b="0" i="0" u="none" strike="noStrike" cap="none" normalizeH="0" baseline="0" dirty="0" err="1">
                <a:ln>
                  <a:noFill/>
                </a:ln>
                <a:solidFill>
                  <a:srgbClr val="000000"/>
                </a:solidFill>
                <a:effectLst/>
                <a:latin typeface="Lucida Console" panose="020B0609040504020204" pitchFamily="49" charset="0"/>
              </a:rPr>
              <a:t>continuity</a:t>
            </a:r>
            <a:r>
              <a:rPr kumimoji="0" lang="ru-RU" altLang="ru-RU" sz="1600" b="0" i="0" u="none" strike="noStrike" cap="none" normalizeH="0" baseline="0" dirty="0">
                <a:ln>
                  <a:noFill/>
                </a:ln>
                <a:solidFill>
                  <a:srgbClr val="000000"/>
                </a:solidFill>
                <a:effectLst/>
                <a:latin typeface="Lucida Console" panose="020B0609040504020204" pitchFamily="49" charset="0"/>
              </a:rPr>
              <a:t> </a:t>
            </a:r>
            <a:r>
              <a:rPr kumimoji="0" lang="ru-RU" altLang="ru-RU" sz="1600" b="0" i="0" u="none" strike="noStrike" cap="none" normalizeH="0" baseline="0" dirty="0" err="1">
                <a:ln>
                  <a:noFill/>
                </a:ln>
                <a:solidFill>
                  <a:srgbClr val="000000"/>
                </a:solidFill>
                <a:effectLst/>
                <a:latin typeface="Lucida Console" panose="020B0609040504020204" pitchFamily="49" charset="0"/>
              </a:rPr>
              <a:t>correction</a:t>
            </a:r>
            <a:r>
              <a:rPr kumimoji="0" lang="ru-RU" altLang="ru-RU" sz="1600" b="0" i="0" u="none" strike="noStrike" cap="none" normalizeH="0" baseline="0" dirty="0">
                <a:ln>
                  <a:noFill/>
                </a:ln>
                <a:solidFill>
                  <a:srgbClr val="000000"/>
                </a:solidFill>
                <a:effectLst/>
                <a:latin typeface="Lucida Console" panose="020B0609040504020204" pitchFamily="49" charset="0"/>
              </a:rPr>
              <a:t> </a:t>
            </a:r>
            <a:endParaRPr kumimoji="0" lang="en-US" altLang="ru-RU" sz="1600" b="0" i="0" u="none" strike="noStrike" cap="none" normalizeH="0" baseline="0" dirty="0">
              <a:ln>
                <a:noFill/>
              </a:ln>
              <a:solidFill>
                <a:srgbClr val="000000"/>
              </a:solidFill>
              <a:effectLst/>
              <a:latin typeface="Lucida Console" panose="020B060904050402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1600" b="0" i="0" u="none" strike="noStrike" cap="none" normalizeH="0" baseline="0" dirty="0" err="1">
                <a:ln>
                  <a:noFill/>
                </a:ln>
                <a:solidFill>
                  <a:srgbClr val="000000"/>
                </a:solidFill>
                <a:effectLst/>
                <a:latin typeface="Lucida Console" panose="020B0609040504020204" pitchFamily="49" charset="0"/>
              </a:rPr>
              <a:t>data</a:t>
            </a:r>
            <a:r>
              <a:rPr kumimoji="0" lang="ru-RU" altLang="ru-RU" sz="1600" b="0" i="0" u="none" strike="noStrike" cap="none" normalizeH="0" baseline="0" dirty="0">
                <a:ln>
                  <a:noFill/>
                </a:ln>
                <a:solidFill>
                  <a:srgbClr val="000000"/>
                </a:solidFill>
                <a:effectLst/>
                <a:latin typeface="Lucida Console" panose="020B0609040504020204" pitchFamily="49" charset="0"/>
              </a:rPr>
              <a:t>: </a:t>
            </a:r>
            <a:r>
              <a:rPr kumimoji="0" lang="ru-RU" altLang="ru-RU" sz="1600" b="0" i="0" u="none" strike="noStrike" cap="none" normalizeH="0" baseline="0" dirty="0" err="1">
                <a:ln>
                  <a:noFill/>
                </a:ln>
                <a:solidFill>
                  <a:srgbClr val="000000"/>
                </a:solidFill>
                <a:effectLst/>
                <a:latin typeface="Lucida Console" panose="020B0609040504020204" pitchFamily="49" charset="0"/>
              </a:rPr>
              <a:t>guanapo</a:t>
            </a:r>
            <a:r>
              <a:rPr kumimoji="0" lang="ru-RU" altLang="ru-RU" sz="1600" b="0" i="0" u="none" strike="noStrike" cap="none" normalizeH="0" baseline="0" dirty="0">
                <a:ln>
                  <a:noFill/>
                </a:ln>
                <a:solidFill>
                  <a:srgbClr val="000000"/>
                </a:solidFill>
                <a:effectLst/>
                <a:latin typeface="Lucida Console" panose="020B0609040504020204" pitchFamily="49" charset="0"/>
              </a:rPr>
              <a:t> </a:t>
            </a:r>
            <a:r>
              <a:rPr kumimoji="0" lang="ru-RU" altLang="ru-RU" sz="1600" b="0" i="0" u="none" strike="noStrike" cap="none" normalizeH="0" baseline="0" dirty="0" err="1">
                <a:ln>
                  <a:noFill/>
                </a:ln>
                <a:solidFill>
                  <a:srgbClr val="000000"/>
                </a:solidFill>
                <a:effectLst/>
                <a:latin typeface="Lucida Console" panose="020B0609040504020204" pitchFamily="49" charset="0"/>
              </a:rPr>
              <a:t>and</a:t>
            </a:r>
            <a:r>
              <a:rPr kumimoji="0" lang="ru-RU" altLang="ru-RU" sz="1600" b="0" i="0" u="none" strike="noStrike" cap="none" normalizeH="0" baseline="0" dirty="0">
                <a:ln>
                  <a:noFill/>
                </a:ln>
                <a:solidFill>
                  <a:srgbClr val="000000"/>
                </a:solidFill>
                <a:effectLst/>
                <a:latin typeface="Lucida Console" panose="020B0609040504020204" pitchFamily="49" charset="0"/>
              </a:rPr>
              <a:t> </a:t>
            </a:r>
            <a:r>
              <a:rPr kumimoji="0" lang="ru-RU" altLang="ru-RU" sz="1600" b="0" i="0" u="none" strike="noStrike" cap="none" normalizeH="0" baseline="0" dirty="0" err="1">
                <a:ln>
                  <a:noFill/>
                </a:ln>
                <a:solidFill>
                  <a:srgbClr val="000000"/>
                </a:solidFill>
                <a:effectLst/>
                <a:latin typeface="Lucida Console" panose="020B0609040504020204" pitchFamily="49" charset="0"/>
              </a:rPr>
              <a:t>aripo</a:t>
            </a:r>
            <a:r>
              <a:rPr kumimoji="0" lang="ru-RU" altLang="ru-RU" sz="1600" b="0" i="0" u="none" strike="noStrike" cap="none" normalizeH="0" baseline="0" dirty="0">
                <a:ln>
                  <a:noFill/>
                </a:ln>
                <a:solidFill>
                  <a:srgbClr val="000000"/>
                </a:solidFill>
                <a:effectLst/>
                <a:latin typeface="Lucida Console" panose="020B0609040504020204" pitchFamily="49" charset="0"/>
              </a:rPr>
              <a:t> </a:t>
            </a:r>
            <a:endParaRPr kumimoji="0" lang="en-US" altLang="ru-RU" sz="1600" b="0" i="0" u="none" strike="noStrike" cap="none" normalizeH="0" baseline="0" dirty="0">
              <a:ln>
                <a:noFill/>
              </a:ln>
              <a:solidFill>
                <a:srgbClr val="000000"/>
              </a:solidFill>
              <a:effectLst/>
              <a:latin typeface="Lucida Console" panose="020B060904050402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1600" b="0" i="0" u="none" strike="noStrike" cap="none" normalizeH="0" baseline="0" dirty="0">
                <a:ln>
                  <a:noFill/>
                </a:ln>
                <a:solidFill>
                  <a:srgbClr val="000000"/>
                </a:solidFill>
                <a:effectLst/>
                <a:latin typeface="Lucida Console" panose="020B0609040504020204" pitchFamily="49" charset="0"/>
              </a:rPr>
              <a:t>W = 3, p-</a:t>
            </a:r>
            <a:r>
              <a:rPr kumimoji="0" lang="ru-RU" altLang="ru-RU" sz="1600" b="0" i="0" u="none" strike="noStrike" cap="none" normalizeH="0" baseline="0" dirty="0" err="1">
                <a:ln>
                  <a:noFill/>
                </a:ln>
                <a:solidFill>
                  <a:srgbClr val="000000"/>
                </a:solidFill>
                <a:effectLst/>
                <a:latin typeface="Lucida Console" panose="020B0609040504020204" pitchFamily="49" charset="0"/>
              </a:rPr>
              <a:t>value</a:t>
            </a:r>
            <a:r>
              <a:rPr kumimoji="0" lang="ru-RU" altLang="ru-RU" sz="1600" b="0" i="0" u="none" strike="noStrike" cap="none" normalizeH="0" baseline="0" dirty="0">
                <a:ln>
                  <a:noFill/>
                </a:ln>
                <a:solidFill>
                  <a:srgbClr val="000000"/>
                </a:solidFill>
                <a:effectLst/>
                <a:latin typeface="Lucida Console" panose="020B0609040504020204" pitchFamily="49" charset="0"/>
              </a:rPr>
              <a:t> = 0.0181 </a:t>
            </a:r>
            <a:endParaRPr kumimoji="0" lang="en-US" altLang="ru-RU" sz="1600" b="0" i="0" u="none" strike="noStrike" cap="none" normalizeH="0" baseline="0" dirty="0">
              <a:ln>
                <a:noFill/>
              </a:ln>
              <a:solidFill>
                <a:srgbClr val="000000"/>
              </a:solidFill>
              <a:effectLst/>
              <a:latin typeface="Lucida Console" panose="020B060904050402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1600" b="0" i="0" u="none" strike="noStrike" cap="none" normalizeH="0" baseline="0" dirty="0" err="1">
                <a:ln>
                  <a:noFill/>
                </a:ln>
                <a:solidFill>
                  <a:srgbClr val="000000"/>
                </a:solidFill>
                <a:effectLst/>
                <a:latin typeface="Lucida Console" panose="020B0609040504020204" pitchFamily="49" charset="0"/>
              </a:rPr>
              <a:t>alternative</a:t>
            </a:r>
            <a:r>
              <a:rPr kumimoji="0" lang="ru-RU" altLang="ru-RU" sz="1600" b="0" i="0" u="none" strike="noStrike" cap="none" normalizeH="0" baseline="0" dirty="0">
                <a:ln>
                  <a:noFill/>
                </a:ln>
                <a:solidFill>
                  <a:srgbClr val="000000"/>
                </a:solidFill>
                <a:effectLst/>
                <a:latin typeface="Lucida Console" panose="020B0609040504020204" pitchFamily="49" charset="0"/>
              </a:rPr>
              <a:t> </a:t>
            </a:r>
            <a:r>
              <a:rPr kumimoji="0" lang="ru-RU" altLang="ru-RU" sz="1600" b="0" i="0" u="none" strike="noStrike" cap="none" normalizeH="0" baseline="0" dirty="0" err="1">
                <a:ln>
                  <a:noFill/>
                </a:ln>
                <a:solidFill>
                  <a:srgbClr val="000000"/>
                </a:solidFill>
                <a:effectLst/>
                <a:latin typeface="Lucida Console" panose="020B0609040504020204" pitchFamily="49" charset="0"/>
              </a:rPr>
              <a:t>hypothesis</a:t>
            </a:r>
            <a:r>
              <a:rPr kumimoji="0" lang="ru-RU" altLang="ru-RU" sz="1600" b="0" i="0" u="none" strike="noStrike" cap="none" normalizeH="0" baseline="0" dirty="0">
                <a:ln>
                  <a:noFill/>
                </a:ln>
                <a:solidFill>
                  <a:srgbClr val="000000"/>
                </a:solidFill>
                <a:effectLst/>
                <a:latin typeface="Lucida Console" panose="020B0609040504020204" pitchFamily="49" charset="0"/>
              </a:rPr>
              <a:t>: </a:t>
            </a:r>
            <a:r>
              <a:rPr kumimoji="0" lang="ru-RU" altLang="ru-RU" sz="1600" b="0" i="0" u="none" strike="noStrike" cap="none" normalizeH="0" baseline="0" dirty="0" err="1">
                <a:ln>
                  <a:noFill/>
                </a:ln>
                <a:solidFill>
                  <a:srgbClr val="000000"/>
                </a:solidFill>
                <a:effectLst/>
                <a:latin typeface="Lucida Console" panose="020B0609040504020204" pitchFamily="49" charset="0"/>
              </a:rPr>
              <a:t>true</a:t>
            </a:r>
            <a:r>
              <a:rPr kumimoji="0" lang="ru-RU" altLang="ru-RU" sz="1600" b="0" i="0" u="none" strike="noStrike" cap="none" normalizeH="0" baseline="0" dirty="0">
                <a:ln>
                  <a:noFill/>
                </a:ln>
                <a:solidFill>
                  <a:srgbClr val="000000"/>
                </a:solidFill>
                <a:effectLst/>
                <a:latin typeface="Lucida Console" panose="020B0609040504020204" pitchFamily="49" charset="0"/>
              </a:rPr>
              <a:t> </a:t>
            </a:r>
            <a:r>
              <a:rPr kumimoji="0" lang="ru-RU" altLang="ru-RU" sz="1600" b="0" i="0" u="none" strike="noStrike" cap="none" normalizeH="0" baseline="0" dirty="0" err="1">
                <a:ln>
                  <a:noFill/>
                </a:ln>
                <a:solidFill>
                  <a:srgbClr val="000000"/>
                </a:solidFill>
                <a:effectLst/>
                <a:latin typeface="Lucida Console" panose="020B0609040504020204" pitchFamily="49" charset="0"/>
              </a:rPr>
              <a:t>location</a:t>
            </a:r>
            <a:r>
              <a:rPr kumimoji="0" lang="ru-RU" altLang="ru-RU" sz="1600" b="0" i="0" u="none" strike="noStrike" cap="none" normalizeH="0" baseline="0" dirty="0">
                <a:ln>
                  <a:noFill/>
                </a:ln>
                <a:solidFill>
                  <a:srgbClr val="000000"/>
                </a:solidFill>
                <a:effectLst/>
                <a:latin typeface="Lucida Console" panose="020B0609040504020204" pitchFamily="49" charset="0"/>
              </a:rPr>
              <a:t> </a:t>
            </a:r>
            <a:r>
              <a:rPr kumimoji="0" lang="ru-RU" altLang="ru-RU" sz="1600" b="0" i="0" u="none" strike="noStrike" cap="none" normalizeH="0" baseline="0" dirty="0" err="1">
                <a:ln>
                  <a:noFill/>
                </a:ln>
                <a:solidFill>
                  <a:srgbClr val="000000"/>
                </a:solidFill>
                <a:effectLst/>
                <a:latin typeface="Lucida Console" panose="020B0609040504020204" pitchFamily="49" charset="0"/>
              </a:rPr>
              <a:t>shift</a:t>
            </a:r>
            <a:r>
              <a:rPr kumimoji="0" lang="ru-RU" altLang="ru-RU" sz="1600" b="0" i="0" u="none" strike="noStrike" cap="none" normalizeH="0" baseline="0" dirty="0">
                <a:ln>
                  <a:noFill/>
                </a:ln>
                <a:solidFill>
                  <a:srgbClr val="000000"/>
                </a:solidFill>
                <a:effectLst/>
                <a:latin typeface="Lucida Console" panose="020B0609040504020204" pitchFamily="49" charset="0"/>
              </a:rPr>
              <a:t> </a:t>
            </a:r>
            <a:r>
              <a:rPr kumimoji="0" lang="ru-RU" altLang="ru-RU" sz="1600" b="0" i="0" u="none" strike="noStrike" cap="none" normalizeH="0" baseline="0" dirty="0" err="1">
                <a:ln>
                  <a:noFill/>
                </a:ln>
                <a:solidFill>
                  <a:srgbClr val="000000"/>
                </a:solidFill>
                <a:effectLst/>
                <a:latin typeface="Lucida Console" panose="020B0609040504020204" pitchFamily="49" charset="0"/>
              </a:rPr>
              <a:t>is</a:t>
            </a:r>
            <a:r>
              <a:rPr kumimoji="0" lang="ru-RU" altLang="ru-RU" sz="1600" b="0" i="0" u="none" strike="noStrike" cap="none" normalizeH="0" baseline="0" dirty="0">
                <a:ln>
                  <a:noFill/>
                </a:ln>
                <a:solidFill>
                  <a:srgbClr val="000000"/>
                </a:solidFill>
                <a:effectLst/>
                <a:latin typeface="Lucida Console" panose="020B0609040504020204" pitchFamily="49" charset="0"/>
              </a:rPr>
              <a:t> </a:t>
            </a:r>
            <a:r>
              <a:rPr kumimoji="0" lang="ru-RU" altLang="ru-RU" sz="1600" b="0" i="0" u="none" strike="noStrike" cap="none" normalizeH="0" baseline="0" dirty="0" err="1">
                <a:ln>
                  <a:noFill/>
                </a:ln>
                <a:solidFill>
                  <a:srgbClr val="000000"/>
                </a:solidFill>
                <a:effectLst/>
                <a:latin typeface="Lucida Console" panose="020B0609040504020204" pitchFamily="49" charset="0"/>
              </a:rPr>
              <a:t>not</a:t>
            </a:r>
            <a:r>
              <a:rPr kumimoji="0" lang="ru-RU" altLang="ru-RU" sz="1600" b="0" i="0" u="none" strike="noStrike" cap="none" normalizeH="0" baseline="0" dirty="0">
                <a:ln>
                  <a:noFill/>
                </a:ln>
                <a:solidFill>
                  <a:srgbClr val="000000"/>
                </a:solidFill>
                <a:effectLst/>
                <a:latin typeface="Lucida Console" panose="020B0609040504020204" pitchFamily="49" charset="0"/>
              </a:rPr>
              <a:t> </a:t>
            </a:r>
            <a:r>
              <a:rPr kumimoji="0" lang="ru-RU" altLang="ru-RU" sz="1600" b="0" i="0" u="none" strike="noStrike" cap="none" normalizeH="0" baseline="0" dirty="0" err="1">
                <a:ln>
                  <a:noFill/>
                </a:ln>
                <a:solidFill>
                  <a:srgbClr val="000000"/>
                </a:solidFill>
                <a:effectLst/>
                <a:latin typeface="Lucida Console" panose="020B0609040504020204" pitchFamily="49" charset="0"/>
              </a:rPr>
              <a:t>equal</a:t>
            </a:r>
            <a:r>
              <a:rPr kumimoji="0" lang="ru-RU" altLang="ru-RU" sz="1600" b="0" i="0" u="none" strike="noStrike" cap="none" normalizeH="0" baseline="0" dirty="0">
                <a:ln>
                  <a:noFill/>
                </a:ln>
                <a:solidFill>
                  <a:srgbClr val="000000"/>
                </a:solidFill>
                <a:effectLst/>
                <a:latin typeface="Lucida Console" panose="020B0609040504020204" pitchFamily="49" charset="0"/>
              </a:rPr>
              <a:t> </a:t>
            </a:r>
            <a:r>
              <a:rPr kumimoji="0" lang="ru-RU" altLang="ru-RU" sz="1600" b="0" i="0" u="none" strike="noStrike" cap="none" normalizeH="0" baseline="0" dirty="0" err="1">
                <a:ln>
                  <a:noFill/>
                </a:ln>
                <a:solidFill>
                  <a:srgbClr val="000000"/>
                </a:solidFill>
                <a:effectLst/>
                <a:latin typeface="Lucida Console" panose="020B0609040504020204" pitchFamily="49" charset="0"/>
              </a:rPr>
              <a:t>to</a:t>
            </a:r>
            <a:r>
              <a:rPr kumimoji="0" lang="ru-RU" altLang="ru-RU" sz="1600" b="0" i="0" u="none" strike="noStrike" cap="none" normalizeH="0" baseline="0" dirty="0">
                <a:ln>
                  <a:noFill/>
                </a:ln>
                <a:solidFill>
                  <a:srgbClr val="000000"/>
                </a:solidFill>
                <a:effectLst/>
                <a:latin typeface="Lucida Console" panose="020B0609040504020204" pitchFamily="49" charset="0"/>
              </a:rPr>
              <a:t> 0</a:t>
            </a:r>
            <a:r>
              <a:rPr kumimoji="0" lang="ru-RU" altLang="ru-RU" sz="1600" b="0" i="0" u="none" strike="noStrike" cap="none" normalizeH="0" baseline="0" dirty="0">
                <a:ln>
                  <a:noFill/>
                </a:ln>
                <a:solidFill>
                  <a:schemeClr val="tx1"/>
                </a:solidFill>
                <a:effectLst/>
              </a:rPr>
              <a:t> </a:t>
            </a:r>
          </a:p>
        </p:txBody>
      </p:sp>
    </p:spTree>
    <p:extLst>
      <p:ext uri="{BB962C8B-B14F-4D97-AF65-F5344CB8AC3E}">
        <p14:creationId xmlns:p14="http://schemas.microsoft.com/office/powerpoint/2010/main" val="9452751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4"/>
          <p:cNvSpPr>
            <a:spLocks noChangeArrowheads="1"/>
          </p:cNvSpPr>
          <p:nvPr/>
        </p:nvSpPr>
        <p:spPr bwMode="auto">
          <a:xfrm>
            <a:off x="1438275" y="322263"/>
            <a:ext cx="10596563" cy="6553200"/>
          </a:xfrm>
          <a:prstGeom prst="roundRect">
            <a:avLst>
              <a:gd name="adj" fmla="val 16667"/>
            </a:avLst>
          </a:prstGeom>
          <a:solidFill>
            <a:schemeClr val="bg1">
              <a:alpha val="50195"/>
            </a:scheme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6" name="AutoShape 5"/>
          <p:cNvSpPr>
            <a:spLocks noChangeArrowheads="1"/>
          </p:cNvSpPr>
          <p:nvPr/>
        </p:nvSpPr>
        <p:spPr bwMode="auto">
          <a:xfrm>
            <a:off x="2373685" y="322263"/>
            <a:ext cx="8064128" cy="850960"/>
          </a:xfrm>
          <a:prstGeom prst="roundRect">
            <a:avLst>
              <a:gd name="adj" fmla="val 37469"/>
            </a:avLst>
          </a:prstGeom>
          <a:solidFill>
            <a:srgbClr val="FFFFFF">
              <a:alpha val="78822"/>
            </a:srgb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2" name="Прямоугольник 1"/>
          <p:cNvSpPr/>
          <p:nvPr/>
        </p:nvSpPr>
        <p:spPr>
          <a:xfrm>
            <a:off x="2535239" y="270690"/>
            <a:ext cx="8335390" cy="461665"/>
          </a:xfrm>
          <a:prstGeom prst="rect">
            <a:avLst/>
          </a:prstGeom>
        </p:spPr>
        <p:txBody>
          <a:bodyPr wrap="square">
            <a:spAutoFit/>
          </a:bodyPr>
          <a:lstStyle/>
          <a:p>
            <a:r>
              <a:rPr lang="ru-RU" sz="2400" b="1" dirty="0"/>
              <a:t>Критерий </a:t>
            </a:r>
            <a:r>
              <a:rPr lang="ru-RU" sz="2400" b="1" dirty="0" err="1"/>
              <a:t>Краскела</a:t>
            </a:r>
            <a:r>
              <a:rPr lang="ru-RU" sz="2400" b="1" dirty="0"/>
              <a:t>–</a:t>
            </a:r>
            <a:r>
              <a:rPr lang="ru-RU" sz="2400" b="1" dirty="0" err="1"/>
              <a:t>Уоллиса</a:t>
            </a:r>
            <a:r>
              <a:rPr lang="ru-RU" sz="2400" b="1" dirty="0"/>
              <a:t> (</a:t>
            </a:r>
            <a:r>
              <a:rPr lang="ru-RU" sz="2400" b="1" dirty="0" err="1"/>
              <a:t>Kruskal</a:t>
            </a:r>
            <a:r>
              <a:rPr lang="ru-RU" sz="2400" b="1" dirty="0"/>
              <a:t>–</a:t>
            </a:r>
            <a:r>
              <a:rPr lang="ru-RU" sz="2400" b="1" dirty="0" err="1"/>
              <a:t>Wallis</a:t>
            </a:r>
            <a:r>
              <a:rPr lang="ru-RU" sz="2400" b="1" dirty="0"/>
              <a:t> Test)</a:t>
            </a:r>
            <a:endParaRPr lang="en-US" sz="2400" b="1" dirty="0"/>
          </a:p>
        </p:txBody>
      </p:sp>
      <p:sp>
        <p:nvSpPr>
          <p:cNvPr id="4" name="Номер слайда 3"/>
          <p:cNvSpPr>
            <a:spLocks noGrp="1"/>
          </p:cNvSpPr>
          <p:nvPr>
            <p:ph type="sldNum" sz="quarter" idx="12"/>
          </p:nvPr>
        </p:nvSpPr>
        <p:spPr/>
        <p:txBody>
          <a:bodyPr/>
          <a:lstStyle/>
          <a:p>
            <a:fld id="{952B6C0E-C4B9-4094-8E59-5B7DF00D5415}" type="slidenum">
              <a:rPr lang="ru-RU" sz="1400">
                <a:solidFill>
                  <a:schemeClr val="tx1"/>
                </a:solidFill>
              </a:rPr>
              <a:t>122</a:t>
            </a:fld>
            <a:endParaRPr lang="ru-RU" dirty="0">
              <a:solidFill>
                <a:schemeClr val="tx1"/>
              </a:solidFill>
            </a:endParaRPr>
          </a:p>
        </p:txBody>
      </p:sp>
      <p:sp>
        <p:nvSpPr>
          <p:cNvPr id="13" name="TextBox 12">
            <a:extLst>
              <a:ext uri="{FF2B5EF4-FFF2-40B4-BE49-F238E27FC236}">
                <a16:creationId xmlns:a16="http://schemas.microsoft.com/office/drawing/2014/main" id="{DA0107E7-2CAE-48CA-9412-3754E400696F}"/>
              </a:ext>
            </a:extLst>
          </p:cNvPr>
          <p:cNvSpPr txBox="1"/>
          <p:nvPr/>
        </p:nvSpPr>
        <p:spPr>
          <a:xfrm>
            <a:off x="1581597" y="2269337"/>
            <a:ext cx="8565458" cy="1631216"/>
          </a:xfrm>
          <a:prstGeom prst="rect">
            <a:avLst/>
          </a:prstGeom>
          <a:noFill/>
        </p:spPr>
        <p:txBody>
          <a:bodyPr wrap="square">
            <a:spAutoFit/>
          </a:bodyPr>
          <a:lstStyle/>
          <a:p>
            <a:r>
              <a:rPr lang="ru-RU" dirty="0">
                <a:solidFill>
                  <a:srgbClr val="0070C0"/>
                </a:solidFill>
              </a:rPr>
              <a:t># Создаём данные</a:t>
            </a:r>
            <a:endParaRPr lang="en-US" dirty="0">
              <a:solidFill>
                <a:srgbClr val="0070C0"/>
              </a:solidFill>
            </a:endParaRPr>
          </a:p>
          <a:p>
            <a:r>
              <a:rPr lang="en-US" dirty="0">
                <a:solidFill>
                  <a:srgbClr val="0070C0"/>
                </a:solidFill>
              </a:rPr>
              <a:t>score &lt;- c(85, 90, 88, 92, 87, 78, 82, 80, 85, 79, 95, 91, 94, 89, 93)</a:t>
            </a:r>
          </a:p>
          <a:p>
            <a:r>
              <a:rPr lang="en-US" dirty="0">
                <a:solidFill>
                  <a:srgbClr val="0070C0"/>
                </a:solidFill>
              </a:rPr>
              <a:t>group &lt;- factor(rep(c("A", "B", "C"), each = 5))</a:t>
            </a:r>
          </a:p>
          <a:p>
            <a:r>
              <a:rPr lang="en-US" dirty="0">
                <a:solidFill>
                  <a:srgbClr val="0070C0"/>
                </a:solidFill>
              </a:rPr>
              <a:t># </a:t>
            </a:r>
            <a:r>
              <a:rPr lang="ru-RU" dirty="0">
                <a:solidFill>
                  <a:srgbClr val="0070C0"/>
                </a:solidFill>
              </a:rPr>
              <a:t>Выполняем тест</a:t>
            </a:r>
            <a:endParaRPr lang="en-US" dirty="0">
              <a:solidFill>
                <a:srgbClr val="0070C0"/>
              </a:solidFill>
            </a:endParaRPr>
          </a:p>
          <a:p>
            <a:r>
              <a:rPr lang="en-US" dirty="0" err="1">
                <a:solidFill>
                  <a:srgbClr val="0070C0"/>
                </a:solidFill>
              </a:rPr>
              <a:t>kruskal.test</a:t>
            </a:r>
            <a:r>
              <a:rPr lang="en-US" dirty="0">
                <a:solidFill>
                  <a:srgbClr val="0070C0"/>
                </a:solidFill>
              </a:rPr>
              <a:t>(score ~ group)</a:t>
            </a:r>
            <a:endParaRPr lang="ru-RU" dirty="0">
              <a:solidFill>
                <a:srgbClr val="0070C0"/>
              </a:solidFill>
            </a:endParaRPr>
          </a:p>
        </p:txBody>
      </p:sp>
      <p:sp>
        <p:nvSpPr>
          <p:cNvPr id="14" name="Rectangle 4">
            <a:extLst>
              <a:ext uri="{FF2B5EF4-FFF2-40B4-BE49-F238E27FC236}">
                <a16:creationId xmlns:a16="http://schemas.microsoft.com/office/drawing/2014/main" id="{14B4CF82-607F-4FD1-84F9-D249EEFDDA93}"/>
              </a:ext>
            </a:extLst>
          </p:cNvPr>
          <p:cNvSpPr>
            <a:spLocks noChangeArrowheads="1"/>
          </p:cNvSpPr>
          <p:nvPr/>
        </p:nvSpPr>
        <p:spPr bwMode="auto">
          <a:xfrm>
            <a:off x="1577554" y="5680929"/>
            <a:ext cx="9857855"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1800" b="1" i="0" u="none" strike="noStrike" cap="none" normalizeH="0" baseline="0" dirty="0">
                <a:ln>
                  <a:noFill/>
                </a:ln>
                <a:solidFill>
                  <a:schemeClr val="tx1"/>
                </a:solidFill>
                <a:effectLst/>
                <a:latin typeface="Arial" panose="020B0604020202020204" pitchFamily="34" charset="0"/>
              </a:rPr>
              <a:t>Что означает результат: </a:t>
            </a:r>
            <a:endParaRPr kumimoji="0" lang="en-US" altLang="ru-RU"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1800" i="0" u="none" strike="noStrike" cap="none" normalizeH="0" baseline="0" dirty="0">
                <a:ln>
                  <a:noFill/>
                </a:ln>
                <a:solidFill>
                  <a:schemeClr val="tx1"/>
                </a:solidFill>
                <a:effectLst/>
                <a:latin typeface="Arial" panose="020B0604020202020204" pitchFamily="34" charset="0"/>
              </a:rPr>
              <a:t>При </a:t>
            </a:r>
            <a:r>
              <a:rPr kumimoji="0" lang="ru-RU" altLang="ru-RU" sz="1800" i="0" u="none" strike="noStrike" cap="none" normalizeH="0" baseline="0" dirty="0" err="1">
                <a:ln>
                  <a:noFill/>
                </a:ln>
                <a:solidFill>
                  <a:schemeClr val="tx1"/>
                </a:solidFill>
                <a:effectLst/>
                <a:latin typeface="Arial" panose="020B0604020202020204" pitchFamily="34" charset="0"/>
              </a:rPr>
              <a:t>alpha</a:t>
            </a:r>
            <a:r>
              <a:rPr kumimoji="0" lang="ru-RU" altLang="ru-RU" sz="1800" i="0" u="none" strike="noStrike" cap="none" normalizeH="0" baseline="0" dirty="0">
                <a:ln>
                  <a:noFill/>
                </a:ln>
                <a:solidFill>
                  <a:schemeClr val="tx1"/>
                </a:solidFill>
                <a:effectLst/>
                <a:latin typeface="Arial" panose="020B0604020202020204" pitchFamily="34" charset="0"/>
              </a:rPr>
              <a:t> = 0.05 мы отвергаем нулевую гипотезу, следовательно, между группами есть значимые различия</a:t>
            </a:r>
            <a:endParaRPr kumimoji="0" lang="ru-RU" altLang="ru-RU" i="0" u="none" strike="noStrike" cap="none" normalizeH="0" baseline="0" dirty="0">
              <a:ln>
                <a:noFill/>
              </a:ln>
              <a:solidFill>
                <a:schemeClr val="tx1"/>
              </a:solidFill>
              <a:effectLst/>
              <a:latin typeface="Arial" panose="020B0604020202020204" pitchFamily="34" charset="0"/>
            </a:endParaRPr>
          </a:p>
        </p:txBody>
      </p:sp>
      <p:sp>
        <p:nvSpPr>
          <p:cNvPr id="15" name="Rectangle 5">
            <a:extLst>
              <a:ext uri="{FF2B5EF4-FFF2-40B4-BE49-F238E27FC236}">
                <a16:creationId xmlns:a16="http://schemas.microsoft.com/office/drawing/2014/main" id="{A81D9189-229E-4B2D-843D-A18AD673793B}"/>
              </a:ext>
            </a:extLst>
          </p:cNvPr>
          <p:cNvSpPr>
            <a:spLocks noChangeArrowheads="1"/>
          </p:cNvSpPr>
          <p:nvPr/>
        </p:nvSpPr>
        <p:spPr bwMode="auto">
          <a:xfrm>
            <a:off x="3525813" y="4203696"/>
            <a:ext cx="8064896" cy="98488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ru-RU" sz="1600" b="0" i="0" u="none" strike="noStrike" cap="none" normalizeH="0" baseline="0" dirty="0">
                <a:ln>
                  <a:noFill/>
                </a:ln>
                <a:solidFill>
                  <a:srgbClr val="000000"/>
                </a:solidFill>
                <a:effectLst/>
                <a:latin typeface="Lucida Console" panose="020B0609040504020204" pitchFamily="49" charset="0"/>
              </a:rPr>
              <a:t>Kruskal-Wallis rank sum test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ru-RU" sz="1600" b="0" i="0" u="none" strike="noStrike" cap="none" normalizeH="0" baseline="0" dirty="0">
              <a:ln>
                <a:noFill/>
              </a:ln>
              <a:solidFill>
                <a:srgbClr val="000000"/>
              </a:solidFill>
              <a:effectLst/>
              <a:latin typeface="Lucida Console" panose="020B060904050402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ru-RU" sz="1600" b="0" i="0" u="none" strike="noStrike" cap="none" normalizeH="0" baseline="0" dirty="0">
                <a:ln>
                  <a:noFill/>
                </a:ln>
                <a:solidFill>
                  <a:srgbClr val="000000"/>
                </a:solidFill>
                <a:effectLst/>
                <a:latin typeface="Lucida Console" panose="020B0609040504020204" pitchFamily="49" charset="0"/>
              </a:rPr>
              <a:t>data:  score by group</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ru-RU" sz="1600" b="0" i="0" u="none" strike="noStrike" cap="none" normalizeH="0" baseline="0" dirty="0">
                <a:ln>
                  <a:noFill/>
                </a:ln>
                <a:solidFill>
                  <a:srgbClr val="000000"/>
                </a:solidFill>
                <a:effectLst/>
                <a:latin typeface="Lucida Console" panose="020B0609040504020204" pitchFamily="49" charset="0"/>
              </a:rPr>
              <a:t>Kruskal-Wallis chi-squared = 10.925, df = 2, p-value = 0.004244</a:t>
            </a:r>
          </a:p>
        </p:txBody>
      </p:sp>
      <p:sp>
        <p:nvSpPr>
          <p:cNvPr id="11" name="TextBox 10">
            <a:extLst>
              <a:ext uri="{FF2B5EF4-FFF2-40B4-BE49-F238E27FC236}">
                <a16:creationId xmlns:a16="http://schemas.microsoft.com/office/drawing/2014/main" id="{6860865A-3041-4ACE-9461-78A6BB008BD2}"/>
              </a:ext>
            </a:extLst>
          </p:cNvPr>
          <p:cNvSpPr txBox="1"/>
          <p:nvPr/>
        </p:nvSpPr>
        <p:spPr>
          <a:xfrm>
            <a:off x="1553479" y="1137351"/>
            <a:ext cx="10229179" cy="707886"/>
          </a:xfrm>
          <a:prstGeom prst="rect">
            <a:avLst/>
          </a:prstGeom>
          <a:noFill/>
        </p:spPr>
        <p:txBody>
          <a:bodyPr wrap="square">
            <a:spAutoFit/>
          </a:bodyPr>
          <a:lstStyle/>
          <a:p>
            <a:r>
              <a:rPr lang="ru-RU" b="1" dirty="0"/>
              <a:t>Задача</a:t>
            </a:r>
            <a:r>
              <a:rPr lang="ru-RU" dirty="0"/>
              <a:t>: сравнить эффективность трёх разных методов обучения (Группы A, B, C) по результатам теста, не предполагая нормальности распределения баллов</a:t>
            </a:r>
          </a:p>
        </p:txBody>
      </p:sp>
    </p:spTree>
    <p:extLst>
      <p:ext uri="{BB962C8B-B14F-4D97-AF65-F5344CB8AC3E}">
        <p14:creationId xmlns:p14="http://schemas.microsoft.com/office/powerpoint/2010/main" val="33834373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4"/>
          <p:cNvSpPr>
            <a:spLocks noChangeArrowheads="1"/>
          </p:cNvSpPr>
          <p:nvPr/>
        </p:nvSpPr>
        <p:spPr bwMode="auto">
          <a:xfrm>
            <a:off x="1438275" y="322263"/>
            <a:ext cx="10596563" cy="6553200"/>
          </a:xfrm>
          <a:prstGeom prst="roundRect">
            <a:avLst>
              <a:gd name="adj" fmla="val 16667"/>
            </a:avLst>
          </a:prstGeom>
          <a:solidFill>
            <a:schemeClr val="bg1">
              <a:alpha val="50195"/>
            </a:scheme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6" name="AutoShape 5"/>
          <p:cNvSpPr>
            <a:spLocks noChangeArrowheads="1"/>
          </p:cNvSpPr>
          <p:nvPr/>
        </p:nvSpPr>
        <p:spPr bwMode="auto">
          <a:xfrm>
            <a:off x="2373685" y="322263"/>
            <a:ext cx="8064128" cy="850960"/>
          </a:xfrm>
          <a:prstGeom prst="roundRect">
            <a:avLst>
              <a:gd name="adj" fmla="val 37469"/>
            </a:avLst>
          </a:prstGeom>
          <a:solidFill>
            <a:srgbClr val="FFFFFF">
              <a:alpha val="78822"/>
            </a:srgb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2" name="Прямоугольник 1"/>
          <p:cNvSpPr/>
          <p:nvPr/>
        </p:nvSpPr>
        <p:spPr>
          <a:xfrm>
            <a:off x="1797621" y="270690"/>
            <a:ext cx="9793088" cy="461665"/>
          </a:xfrm>
          <a:prstGeom prst="rect">
            <a:avLst/>
          </a:prstGeom>
        </p:spPr>
        <p:txBody>
          <a:bodyPr wrap="square">
            <a:spAutoFit/>
          </a:bodyPr>
          <a:lstStyle/>
          <a:p>
            <a:r>
              <a:rPr lang="ru-RU" sz="2400" b="1" dirty="0"/>
              <a:t>Знаковый критерий </a:t>
            </a:r>
            <a:r>
              <a:rPr lang="ru-RU" sz="2400" b="1" dirty="0" err="1"/>
              <a:t>Уилкоксона</a:t>
            </a:r>
            <a:r>
              <a:rPr lang="ru-RU" sz="2400" b="1" dirty="0"/>
              <a:t> (</a:t>
            </a:r>
            <a:r>
              <a:rPr lang="en-US" sz="2400" b="1" dirty="0"/>
              <a:t>Wilcoxon Signed-Rank Test)</a:t>
            </a:r>
          </a:p>
        </p:txBody>
      </p:sp>
      <p:sp>
        <p:nvSpPr>
          <p:cNvPr id="4" name="Номер слайда 3"/>
          <p:cNvSpPr>
            <a:spLocks noGrp="1"/>
          </p:cNvSpPr>
          <p:nvPr>
            <p:ph type="sldNum" sz="quarter" idx="12"/>
          </p:nvPr>
        </p:nvSpPr>
        <p:spPr/>
        <p:txBody>
          <a:bodyPr/>
          <a:lstStyle/>
          <a:p>
            <a:fld id="{952B6C0E-C4B9-4094-8E59-5B7DF00D5415}" type="slidenum">
              <a:rPr lang="ru-RU" sz="1400">
                <a:solidFill>
                  <a:schemeClr val="tx1"/>
                </a:solidFill>
              </a:rPr>
              <a:t>123</a:t>
            </a:fld>
            <a:endParaRPr lang="ru-RU" dirty="0">
              <a:solidFill>
                <a:schemeClr val="tx1"/>
              </a:solidFill>
            </a:endParaRPr>
          </a:p>
        </p:txBody>
      </p:sp>
      <p:sp>
        <p:nvSpPr>
          <p:cNvPr id="13" name="TextBox 12">
            <a:extLst>
              <a:ext uri="{FF2B5EF4-FFF2-40B4-BE49-F238E27FC236}">
                <a16:creationId xmlns:a16="http://schemas.microsoft.com/office/drawing/2014/main" id="{DA0107E7-2CAE-48CA-9412-3754E400696F}"/>
              </a:ext>
            </a:extLst>
          </p:cNvPr>
          <p:cNvSpPr txBox="1"/>
          <p:nvPr/>
        </p:nvSpPr>
        <p:spPr>
          <a:xfrm>
            <a:off x="1581597" y="2269337"/>
            <a:ext cx="8565458" cy="1631216"/>
          </a:xfrm>
          <a:prstGeom prst="rect">
            <a:avLst/>
          </a:prstGeom>
          <a:noFill/>
        </p:spPr>
        <p:txBody>
          <a:bodyPr wrap="square">
            <a:spAutoFit/>
          </a:bodyPr>
          <a:lstStyle/>
          <a:p>
            <a:r>
              <a:rPr lang="ru-RU" dirty="0">
                <a:solidFill>
                  <a:srgbClr val="0070C0"/>
                </a:solidFill>
              </a:rPr>
              <a:t># Количество штрафных бросков (из 20) ДО и ПОСЛЕ тренировки</a:t>
            </a:r>
          </a:p>
          <a:p>
            <a:r>
              <a:rPr lang="en-US" dirty="0">
                <a:solidFill>
                  <a:srgbClr val="0070C0"/>
                </a:solidFill>
              </a:rPr>
              <a:t>before &lt;- c(14, 17, 12, 15, 15, 9, 12, 13, 13, 15, 19, 17, 14, 14, 16)</a:t>
            </a:r>
          </a:p>
          <a:p>
            <a:r>
              <a:rPr lang="en-US" dirty="0">
                <a:solidFill>
                  <a:srgbClr val="0070C0"/>
                </a:solidFill>
              </a:rPr>
              <a:t>after &lt;- c(15, 17, 15, 15, 17, 14, 9, 14, 11, 16, 18, 20, 20, 10, 17)</a:t>
            </a:r>
          </a:p>
          <a:p>
            <a:r>
              <a:rPr lang="en-US" dirty="0">
                <a:solidFill>
                  <a:srgbClr val="0070C0"/>
                </a:solidFill>
              </a:rPr>
              <a:t># </a:t>
            </a:r>
            <a:r>
              <a:rPr lang="ru-RU" dirty="0">
                <a:solidFill>
                  <a:srgbClr val="0070C0"/>
                </a:solidFill>
              </a:rPr>
              <a:t>Выполняем тест</a:t>
            </a:r>
          </a:p>
          <a:p>
            <a:r>
              <a:rPr lang="en-US" dirty="0" err="1">
                <a:solidFill>
                  <a:srgbClr val="0070C0"/>
                </a:solidFill>
              </a:rPr>
              <a:t>wilcox.test</a:t>
            </a:r>
            <a:r>
              <a:rPr lang="en-US" dirty="0">
                <a:solidFill>
                  <a:srgbClr val="0070C0"/>
                </a:solidFill>
              </a:rPr>
              <a:t>(before, after, paired = TRUE)</a:t>
            </a:r>
            <a:endParaRPr lang="ru-RU" dirty="0">
              <a:solidFill>
                <a:srgbClr val="0070C0"/>
              </a:solidFill>
            </a:endParaRPr>
          </a:p>
        </p:txBody>
      </p:sp>
      <p:sp>
        <p:nvSpPr>
          <p:cNvPr id="14" name="Rectangle 4">
            <a:extLst>
              <a:ext uri="{FF2B5EF4-FFF2-40B4-BE49-F238E27FC236}">
                <a16:creationId xmlns:a16="http://schemas.microsoft.com/office/drawing/2014/main" id="{14B4CF82-607F-4FD1-84F9-D249EEFDDA93}"/>
              </a:ext>
            </a:extLst>
          </p:cNvPr>
          <p:cNvSpPr>
            <a:spLocks noChangeArrowheads="1"/>
          </p:cNvSpPr>
          <p:nvPr/>
        </p:nvSpPr>
        <p:spPr bwMode="auto">
          <a:xfrm>
            <a:off x="1577554" y="5634762"/>
            <a:ext cx="9881444"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b="1" i="0" u="none" strike="noStrike" cap="none" normalizeH="0" baseline="0" dirty="0">
                <a:ln>
                  <a:noFill/>
                </a:ln>
                <a:solidFill>
                  <a:schemeClr val="tx1"/>
                </a:solidFill>
                <a:effectLst/>
              </a:rPr>
              <a:t>Что означает результат: </a:t>
            </a:r>
            <a:endParaRPr kumimoji="0" lang="en-US" altLang="ru-RU" b="1"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lang="ru-RU" dirty="0"/>
              <a:t>Изменение статистически незначимо, программа не привела к улучшению результатов</a:t>
            </a:r>
            <a:endParaRPr kumimoji="0" lang="ru-RU" altLang="ru-RU" i="0" u="none" strike="noStrike" cap="none" normalizeH="0" baseline="0" dirty="0">
              <a:ln>
                <a:noFill/>
              </a:ln>
              <a:solidFill>
                <a:schemeClr val="tx1"/>
              </a:solidFill>
              <a:effectLst/>
            </a:endParaRPr>
          </a:p>
        </p:txBody>
      </p:sp>
      <p:sp>
        <p:nvSpPr>
          <p:cNvPr id="12" name="TextBox 11">
            <a:extLst>
              <a:ext uri="{FF2B5EF4-FFF2-40B4-BE49-F238E27FC236}">
                <a16:creationId xmlns:a16="http://schemas.microsoft.com/office/drawing/2014/main" id="{04BDA940-A47E-4F6D-B639-8F848E4796B0}"/>
              </a:ext>
            </a:extLst>
          </p:cNvPr>
          <p:cNvSpPr txBox="1"/>
          <p:nvPr/>
        </p:nvSpPr>
        <p:spPr>
          <a:xfrm>
            <a:off x="1586727" y="1047747"/>
            <a:ext cx="10174246" cy="1015663"/>
          </a:xfrm>
          <a:prstGeom prst="rect">
            <a:avLst/>
          </a:prstGeom>
          <a:noFill/>
        </p:spPr>
        <p:txBody>
          <a:bodyPr wrap="square">
            <a:spAutoFit/>
          </a:bodyPr>
          <a:lstStyle/>
          <a:p>
            <a:r>
              <a:rPr lang="ru-RU" b="1" dirty="0"/>
              <a:t>Задача</a:t>
            </a:r>
            <a:r>
              <a:rPr lang="ru-RU" dirty="0"/>
              <a:t>: оценить влияние тренировочной программы на результативность баскетболистов (данные «до» и «после» собраны для одних и тех же игроков) при ненормальном распределении разностей</a:t>
            </a:r>
          </a:p>
        </p:txBody>
      </p:sp>
      <p:sp>
        <p:nvSpPr>
          <p:cNvPr id="7" name="Rectangle 1">
            <a:extLst>
              <a:ext uri="{FF2B5EF4-FFF2-40B4-BE49-F238E27FC236}">
                <a16:creationId xmlns:a16="http://schemas.microsoft.com/office/drawing/2014/main" id="{51B1256F-110C-4DB8-AA51-D6724E320C0D}"/>
              </a:ext>
            </a:extLst>
          </p:cNvPr>
          <p:cNvSpPr>
            <a:spLocks noChangeArrowheads="1"/>
          </p:cNvSpPr>
          <p:nvPr/>
        </p:nvSpPr>
        <p:spPr bwMode="auto">
          <a:xfrm>
            <a:off x="3271136" y="4324215"/>
            <a:ext cx="8187862" cy="738664"/>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eaLnBrk="0" hangingPunct="0"/>
            <a:r>
              <a:rPr lang="ru-RU" altLang="ru-RU" sz="1600" dirty="0">
                <a:solidFill>
                  <a:srgbClr val="000000"/>
                </a:solidFill>
                <a:latin typeface="Lucida Console" panose="020B0609040504020204" pitchFamily="49" charset="0"/>
              </a:rPr>
              <a:t>Wilcoxon </a:t>
            </a:r>
            <a:r>
              <a:rPr lang="ru-RU" altLang="ru-RU" sz="1600" dirty="0" err="1">
                <a:solidFill>
                  <a:srgbClr val="000000"/>
                </a:solidFill>
                <a:latin typeface="Lucida Console" panose="020B0609040504020204" pitchFamily="49" charset="0"/>
              </a:rPr>
              <a:t>signed</a:t>
            </a:r>
            <a:r>
              <a:rPr lang="ru-RU" altLang="ru-RU" sz="1600" dirty="0">
                <a:solidFill>
                  <a:srgbClr val="000000"/>
                </a:solidFill>
                <a:latin typeface="Lucida Console" panose="020B0609040504020204" pitchFamily="49" charset="0"/>
              </a:rPr>
              <a:t> </a:t>
            </a:r>
            <a:r>
              <a:rPr lang="ru-RU" altLang="ru-RU" sz="1600" dirty="0" err="1">
                <a:solidFill>
                  <a:srgbClr val="000000"/>
                </a:solidFill>
                <a:latin typeface="Lucida Console" panose="020B0609040504020204" pitchFamily="49" charset="0"/>
              </a:rPr>
              <a:t>rank</a:t>
            </a:r>
            <a:r>
              <a:rPr lang="ru-RU" altLang="ru-RU" sz="1600" dirty="0">
                <a:solidFill>
                  <a:srgbClr val="000000"/>
                </a:solidFill>
                <a:latin typeface="Lucida Console" panose="020B0609040504020204" pitchFamily="49" charset="0"/>
              </a:rPr>
              <a:t> </a:t>
            </a:r>
            <a:r>
              <a:rPr lang="ru-RU" altLang="ru-RU" sz="1600" dirty="0" err="1">
                <a:solidFill>
                  <a:srgbClr val="000000"/>
                </a:solidFill>
                <a:latin typeface="Lucida Console" panose="020B0609040504020204" pitchFamily="49" charset="0"/>
              </a:rPr>
              <a:t>test</a:t>
            </a:r>
            <a:r>
              <a:rPr lang="ru-RU" altLang="ru-RU" sz="1600" dirty="0">
                <a:solidFill>
                  <a:srgbClr val="000000"/>
                </a:solidFill>
                <a:latin typeface="Lucida Console" panose="020B0609040504020204" pitchFamily="49" charset="0"/>
              </a:rPr>
              <a:t> </a:t>
            </a:r>
            <a:r>
              <a:rPr lang="ru-RU" altLang="ru-RU" sz="1600" dirty="0" err="1">
                <a:solidFill>
                  <a:srgbClr val="000000"/>
                </a:solidFill>
                <a:latin typeface="Lucida Console" panose="020B0609040504020204" pitchFamily="49" charset="0"/>
              </a:rPr>
              <a:t>with</a:t>
            </a:r>
            <a:r>
              <a:rPr lang="ru-RU" altLang="ru-RU" sz="1600" dirty="0">
                <a:solidFill>
                  <a:srgbClr val="000000"/>
                </a:solidFill>
                <a:latin typeface="Lucida Console" panose="020B0609040504020204" pitchFamily="49" charset="0"/>
              </a:rPr>
              <a:t> </a:t>
            </a:r>
            <a:r>
              <a:rPr lang="ru-RU" altLang="ru-RU" sz="1600" dirty="0" err="1">
                <a:solidFill>
                  <a:srgbClr val="000000"/>
                </a:solidFill>
                <a:latin typeface="Lucida Console" panose="020B0609040504020204" pitchFamily="49" charset="0"/>
              </a:rPr>
              <a:t>continuity</a:t>
            </a:r>
            <a:r>
              <a:rPr lang="ru-RU" altLang="ru-RU" sz="1600" dirty="0">
                <a:solidFill>
                  <a:srgbClr val="000000"/>
                </a:solidFill>
                <a:latin typeface="Lucida Console" panose="020B0609040504020204" pitchFamily="49" charset="0"/>
              </a:rPr>
              <a:t> </a:t>
            </a:r>
            <a:r>
              <a:rPr lang="ru-RU" altLang="ru-RU" sz="1600" dirty="0" err="1">
                <a:solidFill>
                  <a:srgbClr val="000000"/>
                </a:solidFill>
                <a:latin typeface="Lucida Console" panose="020B0609040504020204" pitchFamily="49" charset="0"/>
              </a:rPr>
              <a:t>correction</a:t>
            </a:r>
            <a:r>
              <a:rPr lang="ru-RU" altLang="ru-RU" sz="1600" dirty="0">
                <a:solidFill>
                  <a:srgbClr val="000000"/>
                </a:solidFill>
                <a:latin typeface="Lucida Console" panose="020B0609040504020204" pitchFamily="49" charset="0"/>
              </a:rPr>
              <a:t> </a:t>
            </a:r>
            <a:r>
              <a:rPr lang="ru-RU" altLang="ru-RU" sz="1600" dirty="0" err="1">
                <a:solidFill>
                  <a:srgbClr val="000000"/>
                </a:solidFill>
                <a:latin typeface="Lucida Console" panose="020B0609040504020204" pitchFamily="49" charset="0"/>
              </a:rPr>
              <a:t>data</a:t>
            </a:r>
            <a:r>
              <a:rPr lang="ru-RU" altLang="ru-RU" sz="1600" dirty="0">
                <a:solidFill>
                  <a:srgbClr val="000000"/>
                </a:solidFill>
                <a:latin typeface="Lucida Console" panose="020B0609040504020204" pitchFamily="49" charset="0"/>
              </a:rPr>
              <a:t>: </a:t>
            </a:r>
          </a:p>
          <a:p>
            <a:pPr eaLnBrk="0" hangingPunct="0"/>
            <a:r>
              <a:rPr lang="ru-RU" altLang="ru-RU" sz="1600" dirty="0" err="1">
                <a:solidFill>
                  <a:srgbClr val="000000"/>
                </a:solidFill>
                <a:latin typeface="Lucida Console" panose="020B0609040504020204" pitchFamily="49" charset="0"/>
              </a:rPr>
              <a:t>before</a:t>
            </a:r>
            <a:r>
              <a:rPr lang="ru-RU" altLang="ru-RU" sz="1600" dirty="0">
                <a:solidFill>
                  <a:srgbClr val="000000"/>
                </a:solidFill>
                <a:latin typeface="Lucida Console" panose="020B0609040504020204" pitchFamily="49" charset="0"/>
              </a:rPr>
              <a:t> </a:t>
            </a:r>
            <a:r>
              <a:rPr lang="ru-RU" altLang="ru-RU" sz="1600" dirty="0" err="1">
                <a:solidFill>
                  <a:srgbClr val="000000"/>
                </a:solidFill>
                <a:latin typeface="Lucida Console" panose="020B0609040504020204" pitchFamily="49" charset="0"/>
              </a:rPr>
              <a:t>and</a:t>
            </a:r>
            <a:r>
              <a:rPr lang="ru-RU" altLang="ru-RU" sz="1600" dirty="0">
                <a:solidFill>
                  <a:srgbClr val="000000"/>
                </a:solidFill>
                <a:latin typeface="Lucida Console" panose="020B0609040504020204" pitchFamily="49" charset="0"/>
              </a:rPr>
              <a:t> </a:t>
            </a:r>
            <a:r>
              <a:rPr lang="ru-RU" altLang="ru-RU" sz="1600" dirty="0" err="1">
                <a:solidFill>
                  <a:srgbClr val="000000"/>
                </a:solidFill>
                <a:latin typeface="Lucida Console" panose="020B0609040504020204" pitchFamily="49" charset="0"/>
              </a:rPr>
              <a:t>after</a:t>
            </a:r>
            <a:r>
              <a:rPr lang="ru-RU" altLang="ru-RU" sz="1600" dirty="0">
                <a:solidFill>
                  <a:srgbClr val="000000"/>
                </a:solidFill>
                <a:latin typeface="Lucida Console" panose="020B0609040504020204" pitchFamily="49" charset="0"/>
              </a:rPr>
              <a:t> V = 29.5, p-</a:t>
            </a:r>
            <a:r>
              <a:rPr lang="ru-RU" altLang="ru-RU" sz="1600" dirty="0" err="1">
                <a:solidFill>
                  <a:srgbClr val="000000"/>
                </a:solidFill>
                <a:latin typeface="Lucida Console" panose="020B0609040504020204" pitchFamily="49" charset="0"/>
              </a:rPr>
              <a:t>value</a:t>
            </a:r>
            <a:r>
              <a:rPr lang="ru-RU" altLang="ru-RU" sz="1600" dirty="0">
                <a:solidFill>
                  <a:srgbClr val="000000"/>
                </a:solidFill>
                <a:latin typeface="Lucida Console" panose="020B0609040504020204" pitchFamily="49" charset="0"/>
              </a:rPr>
              <a:t> = 0.275 </a:t>
            </a:r>
          </a:p>
          <a:p>
            <a:pPr eaLnBrk="0" hangingPunct="0"/>
            <a:r>
              <a:rPr lang="ru-RU" altLang="ru-RU" sz="1600" dirty="0" err="1">
                <a:solidFill>
                  <a:srgbClr val="000000"/>
                </a:solidFill>
                <a:latin typeface="Lucida Console" panose="020B0609040504020204" pitchFamily="49" charset="0"/>
              </a:rPr>
              <a:t>alternative</a:t>
            </a:r>
            <a:r>
              <a:rPr lang="ru-RU" altLang="ru-RU" sz="1600" dirty="0">
                <a:solidFill>
                  <a:srgbClr val="000000"/>
                </a:solidFill>
                <a:latin typeface="Lucida Console" panose="020B0609040504020204" pitchFamily="49" charset="0"/>
              </a:rPr>
              <a:t> </a:t>
            </a:r>
            <a:r>
              <a:rPr lang="ru-RU" altLang="ru-RU" sz="1600" dirty="0" err="1">
                <a:solidFill>
                  <a:srgbClr val="000000"/>
                </a:solidFill>
                <a:latin typeface="Lucida Console" panose="020B0609040504020204" pitchFamily="49" charset="0"/>
              </a:rPr>
              <a:t>hypothesis</a:t>
            </a:r>
            <a:r>
              <a:rPr lang="ru-RU" altLang="ru-RU" sz="1600" dirty="0">
                <a:solidFill>
                  <a:srgbClr val="000000"/>
                </a:solidFill>
                <a:latin typeface="Lucida Console" panose="020B0609040504020204" pitchFamily="49" charset="0"/>
              </a:rPr>
              <a:t>: </a:t>
            </a:r>
            <a:r>
              <a:rPr lang="ru-RU" altLang="ru-RU" sz="1600" dirty="0" err="1">
                <a:solidFill>
                  <a:srgbClr val="000000"/>
                </a:solidFill>
                <a:latin typeface="Lucida Console" panose="020B0609040504020204" pitchFamily="49" charset="0"/>
              </a:rPr>
              <a:t>true</a:t>
            </a:r>
            <a:r>
              <a:rPr lang="ru-RU" altLang="ru-RU" sz="1600" dirty="0">
                <a:solidFill>
                  <a:srgbClr val="000000"/>
                </a:solidFill>
                <a:latin typeface="Lucida Console" panose="020B0609040504020204" pitchFamily="49" charset="0"/>
              </a:rPr>
              <a:t> </a:t>
            </a:r>
            <a:r>
              <a:rPr lang="ru-RU" altLang="ru-RU" sz="1600" dirty="0" err="1">
                <a:solidFill>
                  <a:srgbClr val="000000"/>
                </a:solidFill>
                <a:latin typeface="Lucida Console" panose="020B0609040504020204" pitchFamily="49" charset="0"/>
              </a:rPr>
              <a:t>location</a:t>
            </a:r>
            <a:r>
              <a:rPr lang="ru-RU" altLang="ru-RU" sz="1600" dirty="0">
                <a:solidFill>
                  <a:srgbClr val="000000"/>
                </a:solidFill>
                <a:latin typeface="Lucida Console" panose="020B0609040504020204" pitchFamily="49" charset="0"/>
              </a:rPr>
              <a:t> </a:t>
            </a:r>
            <a:r>
              <a:rPr lang="ru-RU" altLang="ru-RU" sz="1600" dirty="0" err="1">
                <a:solidFill>
                  <a:srgbClr val="000000"/>
                </a:solidFill>
                <a:latin typeface="Lucida Console" panose="020B0609040504020204" pitchFamily="49" charset="0"/>
              </a:rPr>
              <a:t>shift</a:t>
            </a:r>
            <a:r>
              <a:rPr lang="ru-RU" altLang="ru-RU" sz="1600" dirty="0">
                <a:solidFill>
                  <a:srgbClr val="000000"/>
                </a:solidFill>
                <a:latin typeface="Lucida Console" panose="020B0609040504020204" pitchFamily="49" charset="0"/>
              </a:rPr>
              <a:t> </a:t>
            </a:r>
            <a:r>
              <a:rPr lang="ru-RU" altLang="ru-RU" sz="1600" dirty="0" err="1">
                <a:solidFill>
                  <a:srgbClr val="000000"/>
                </a:solidFill>
                <a:latin typeface="Lucida Console" panose="020B0609040504020204" pitchFamily="49" charset="0"/>
              </a:rPr>
              <a:t>is</a:t>
            </a:r>
            <a:r>
              <a:rPr lang="ru-RU" altLang="ru-RU" sz="1600" dirty="0">
                <a:solidFill>
                  <a:srgbClr val="000000"/>
                </a:solidFill>
                <a:latin typeface="Lucida Console" panose="020B0609040504020204" pitchFamily="49" charset="0"/>
              </a:rPr>
              <a:t> </a:t>
            </a:r>
            <a:r>
              <a:rPr lang="ru-RU" altLang="ru-RU" sz="1600" dirty="0" err="1">
                <a:solidFill>
                  <a:srgbClr val="000000"/>
                </a:solidFill>
                <a:latin typeface="Lucida Console" panose="020B0609040504020204" pitchFamily="49" charset="0"/>
              </a:rPr>
              <a:t>not</a:t>
            </a:r>
            <a:r>
              <a:rPr lang="ru-RU" altLang="ru-RU" sz="1600" dirty="0">
                <a:solidFill>
                  <a:srgbClr val="000000"/>
                </a:solidFill>
                <a:latin typeface="Lucida Console" panose="020B0609040504020204" pitchFamily="49" charset="0"/>
              </a:rPr>
              <a:t> </a:t>
            </a:r>
            <a:r>
              <a:rPr lang="ru-RU" altLang="ru-RU" sz="1600" dirty="0" err="1">
                <a:solidFill>
                  <a:srgbClr val="000000"/>
                </a:solidFill>
                <a:latin typeface="Lucida Console" panose="020B0609040504020204" pitchFamily="49" charset="0"/>
              </a:rPr>
              <a:t>equal</a:t>
            </a:r>
            <a:r>
              <a:rPr lang="ru-RU" altLang="ru-RU" sz="1600" dirty="0">
                <a:solidFill>
                  <a:srgbClr val="000000"/>
                </a:solidFill>
                <a:latin typeface="Lucida Console" panose="020B0609040504020204" pitchFamily="49" charset="0"/>
              </a:rPr>
              <a:t> </a:t>
            </a:r>
            <a:r>
              <a:rPr lang="ru-RU" altLang="ru-RU" sz="1600" dirty="0" err="1">
                <a:solidFill>
                  <a:srgbClr val="000000"/>
                </a:solidFill>
                <a:latin typeface="Lucida Console" panose="020B0609040504020204" pitchFamily="49" charset="0"/>
              </a:rPr>
              <a:t>to</a:t>
            </a:r>
            <a:r>
              <a:rPr lang="ru-RU" altLang="ru-RU" sz="1600" dirty="0">
                <a:solidFill>
                  <a:srgbClr val="000000"/>
                </a:solidFill>
                <a:latin typeface="Lucida Console" panose="020B0609040504020204" pitchFamily="49" charset="0"/>
              </a:rPr>
              <a:t> 0 </a:t>
            </a:r>
          </a:p>
        </p:txBody>
      </p:sp>
    </p:spTree>
    <p:extLst>
      <p:ext uri="{BB962C8B-B14F-4D97-AF65-F5344CB8AC3E}">
        <p14:creationId xmlns:p14="http://schemas.microsoft.com/office/powerpoint/2010/main" val="27329791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4"/>
          <p:cNvSpPr>
            <a:spLocks noChangeArrowheads="1"/>
          </p:cNvSpPr>
          <p:nvPr/>
        </p:nvSpPr>
        <p:spPr bwMode="auto">
          <a:xfrm>
            <a:off x="1438275" y="322263"/>
            <a:ext cx="11016530" cy="6553200"/>
          </a:xfrm>
          <a:prstGeom prst="roundRect">
            <a:avLst>
              <a:gd name="adj" fmla="val 16667"/>
            </a:avLst>
          </a:prstGeom>
          <a:solidFill>
            <a:schemeClr val="bg1">
              <a:alpha val="50195"/>
            </a:scheme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6" name="AutoShape 5"/>
          <p:cNvSpPr>
            <a:spLocks noChangeArrowheads="1"/>
          </p:cNvSpPr>
          <p:nvPr/>
        </p:nvSpPr>
        <p:spPr bwMode="auto">
          <a:xfrm>
            <a:off x="2373685" y="322263"/>
            <a:ext cx="8064128" cy="850960"/>
          </a:xfrm>
          <a:prstGeom prst="roundRect">
            <a:avLst>
              <a:gd name="adj" fmla="val 37469"/>
            </a:avLst>
          </a:prstGeom>
          <a:solidFill>
            <a:srgbClr val="FFFFFF">
              <a:alpha val="78822"/>
            </a:srgb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2" name="Прямоугольник 1"/>
          <p:cNvSpPr/>
          <p:nvPr/>
        </p:nvSpPr>
        <p:spPr>
          <a:xfrm>
            <a:off x="1797621" y="270690"/>
            <a:ext cx="9793088" cy="461665"/>
          </a:xfrm>
          <a:prstGeom prst="rect">
            <a:avLst/>
          </a:prstGeom>
        </p:spPr>
        <p:txBody>
          <a:bodyPr wrap="square">
            <a:spAutoFit/>
          </a:bodyPr>
          <a:lstStyle/>
          <a:p>
            <a:r>
              <a:rPr lang="ru-RU" sz="2400" b="1" dirty="0"/>
              <a:t>Критерий хи-квадрат (</a:t>
            </a:r>
            <a:r>
              <a:rPr lang="en-US" sz="2400" b="1" dirty="0"/>
              <a:t>Chi-Squared Test)</a:t>
            </a:r>
          </a:p>
        </p:txBody>
      </p:sp>
      <p:sp>
        <p:nvSpPr>
          <p:cNvPr id="4" name="Номер слайда 3"/>
          <p:cNvSpPr>
            <a:spLocks noGrp="1"/>
          </p:cNvSpPr>
          <p:nvPr>
            <p:ph type="sldNum" sz="quarter" idx="12"/>
          </p:nvPr>
        </p:nvSpPr>
        <p:spPr/>
        <p:txBody>
          <a:bodyPr/>
          <a:lstStyle/>
          <a:p>
            <a:fld id="{952B6C0E-C4B9-4094-8E59-5B7DF00D5415}" type="slidenum">
              <a:rPr lang="ru-RU" sz="1400">
                <a:solidFill>
                  <a:schemeClr val="tx1"/>
                </a:solidFill>
              </a:rPr>
              <a:t>124</a:t>
            </a:fld>
            <a:endParaRPr lang="ru-RU" dirty="0">
              <a:solidFill>
                <a:schemeClr val="tx1"/>
              </a:solidFill>
            </a:endParaRPr>
          </a:p>
        </p:txBody>
      </p:sp>
      <p:sp>
        <p:nvSpPr>
          <p:cNvPr id="13" name="TextBox 12">
            <a:extLst>
              <a:ext uri="{FF2B5EF4-FFF2-40B4-BE49-F238E27FC236}">
                <a16:creationId xmlns:a16="http://schemas.microsoft.com/office/drawing/2014/main" id="{DA0107E7-2CAE-48CA-9412-3754E400696F}"/>
              </a:ext>
            </a:extLst>
          </p:cNvPr>
          <p:cNvSpPr txBox="1"/>
          <p:nvPr/>
        </p:nvSpPr>
        <p:spPr>
          <a:xfrm>
            <a:off x="1101187" y="1859033"/>
            <a:ext cx="8565458" cy="954107"/>
          </a:xfrm>
          <a:prstGeom prst="rect">
            <a:avLst/>
          </a:prstGeom>
          <a:noFill/>
        </p:spPr>
        <p:txBody>
          <a:bodyPr wrap="square">
            <a:spAutoFit/>
          </a:bodyPr>
          <a:lstStyle/>
          <a:p>
            <a:r>
              <a:rPr lang="ru-RU" sz="1800" dirty="0">
                <a:solidFill>
                  <a:srgbClr val="0070C0"/>
                </a:solidFill>
              </a:rPr>
              <a:t># Выполняем тест</a:t>
            </a:r>
          </a:p>
          <a:p>
            <a:r>
              <a:rPr lang="en-US" sz="1800" dirty="0">
                <a:solidFill>
                  <a:srgbClr val="0070C0"/>
                </a:solidFill>
              </a:rPr>
              <a:t>observed &lt;- c(50, 60, 40, 47, 53)</a:t>
            </a:r>
          </a:p>
          <a:p>
            <a:r>
              <a:rPr lang="en-US" sz="1800" dirty="0" err="1">
                <a:solidFill>
                  <a:srgbClr val="0070C0"/>
                </a:solidFill>
              </a:rPr>
              <a:t>chisq.test</a:t>
            </a:r>
            <a:r>
              <a:rPr lang="en-US" sz="1800" dirty="0">
                <a:solidFill>
                  <a:srgbClr val="0070C0"/>
                </a:solidFill>
              </a:rPr>
              <a:t>(observed, p = c(0.2, 0.2, 0.2, 0.2, 0.2))</a:t>
            </a:r>
            <a:endParaRPr lang="ru-RU" sz="1800" dirty="0">
              <a:solidFill>
                <a:srgbClr val="0070C0"/>
              </a:solidFill>
            </a:endParaRPr>
          </a:p>
        </p:txBody>
      </p:sp>
      <p:sp>
        <p:nvSpPr>
          <p:cNvPr id="14" name="Rectangle 4">
            <a:extLst>
              <a:ext uri="{FF2B5EF4-FFF2-40B4-BE49-F238E27FC236}">
                <a16:creationId xmlns:a16="http://schemas.microsoft.com/office/drawing/2014/main" id="{14B4CF82-607F-4FD1-84F9-D249EEFDDA93}"/>
              </a:ext>
            </a:extLst>
          </p:cNvPr>
          <p:cNvSpPr>
            <a:spLocks noChangeArrowheads="1"/>
          </p:cNvSpPr>
          <p:nvPr/>
        </p:nvSpPr>
        <p:spPr bwMode="auto">
          <a:xfrm>
            <a:off x="1322810" y="3055998"/>
            <a:ext cx="923406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b="1" i="0" u="none" strike="noStrike" cap="none" normalizeH="0" baseline="0" dirty="0">
                <a:ln>
                  <a:noFill/>
                </a:ln>
                <a:solidFill>
                  <a:schemeClr val="tx1"/>
                </a:solidFill>
                <a:effectLst/>
              </a:rPr>
              <a:t>Что означает результат: </a:t>
            </a:r>
            <a:r>
              <a:rPr lang="ru-RU" dirty="0"/>
              <a:t>Гипотеза о равномерности не опровергается</a:t>
            </a:r>
            <a:endParaRPr kumimoji="0" lang="ru-RU" altLang="ru-RU" i="0" u="none" strike="noStrike" cap="none" normalizeH="0" baseline="0" dirty="0">
              <a:ln>
                <a:noFill/>
              </a:ln>
              <a:solidFill>
                <a:schemeClr val="tx1"/>
              </a:solidFill>
              <a:effectLst/>
            </a:endParaRPr>
          </a:p>
        </p:txBody>
      </p:sp>
      <p:sp>
        <p:nvSpPr>
          <p:cNvPr id="12" name="TextBox 11">
            <a:extLst>
              <a:ext uri="{FF2B5EF4-FFF2-40B4-BE49-F238E27FC236}">
                <a16:creationId xmlns:a16="http://schemas.microsoft.com/office/drawing/2014/main" id="{04BDA940-A47E-4F6D-B639-8F848E4796B0}"/>
              </a:ext>
            </a:extLst>
          </p:cNvPr>
          <p:cNvSpPr txBox="1"/>
          <p:nvPr/>
        </p:nvSpPr>
        <p:spPr>
          <a:xfrm>
            <a:off x="1087286" y="1067854"/>
            <a:ext cx="10174246" cy="707886"/>
          </a:xfrm>
          <a:prstGeom prst="rect">
            <a:avLst/>
          </a:prstGeom>
          <a:noFill/>
        </p:spPr>
        <p:txBody>
          <a:bodyPr wrap="square">
            <a:spAutoFit/>
          </a:bodyPr>
          <a:lstStyle/>
          <a:p>
            <a:r>
              <a:rPr lang="ru-RU" b="1" dirty="0"/>
              <a:t>Задача 1</a:t>
            </a:r>
            <a:r>
              <a:rPr lang="ru-RU" dirty="0"/>
              <a:t>: </a:t>
            </a:r>
            <a:r>
              <a:rPr lang="ru-RU" b="1" dirty="0"/>
              <a:t>Критерий согласия</a:t>
            </a:r>
            <a:r>
              <a:rPr lang="ru-RU" dirty="0"/>
              <a:t>: проверяем гипотезу о равномерном распределении покупателей по дням недели</a:t>
            </a:r>
          </a:p>
        </p:txBody>
      </p:sp>
      <p:sp>
        <p:nvSpPr>
          <p:cNvPr id="7" name="Rectangle 1">
            <a:extLst>
              <a:ext uri="{FF2B5EF4-FFF2-40B4-BE49-F238E27FC236}">
                <a16:creationId xmlns:a16="http://schemas.microsoft.com/office/drawing/2014/main" id="{51B1256F-110C-4DB8-AA51-D6724E320C0D}"/>
              </a:ext>
            </a:extLst>
          </p:cNvPr>
          <p:cNvSpPr>
            <a:spLocks noChangeArrowheads="1"/>
          </p:cNvSpPr>
          <p:nvPr/>
        </p:nvSpPr>
        <p:spPr bwMode="auto">
          <a:xfrm>
            <a:off x="6436730" y="1818101"/>
            <a:ext cx="5668276" cy="98488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eaLnBrk="0" hangingPunct="0"/>
            <a:r>
              <a:rPr lang="en-US" altLang="ru-RU" sz="1600" dirty="0">
                <a:solidFill>
                  <a:srgbClr val="000000"/>
                </a:solidFill>
                <a:latin typeface="Lucida Console" panose="020B0609040504020204" pitchFamily="49" charset="0"/>
              </a:rPr>
              <a:t>Chi-squared test for given probabilities</a:t>
            </a:r>
          </a:p>
          <a:p>
            <a:pPr eaLnBrk="0" hangingPunct="0"/>
            <a:endParaRPr lang="en-US" altLang="ru-RU" sz="1600" dirty="0">
              <a:solidFill>
                <a:srgbClr val="000000"/>
              </a:solidFill>
              <a:latin typeface="Lucida Console" panose="020B0609040504020204" pitchFamily="49" charset="0"/>
            </a:endParaRPr>
          </a:p>
          <a:p>
            <a:pPr eaLnBrk="0" hangingPunct="0"/>
            <a:r>
              <a:rPr lang="en-US" altLang="ru-RU" sz="1600" dirty="0">
                <a:solidFill>
                  <a:srgbClr val="000000"/>
                </a:solidFill>
                <a:latin typeface="Lucida Console" panose="020B0609040504020204" pitchFamily="49" charset="0"/>
              </a:rPr>
              <a:t>data:  observed</a:t>
            </a:r>
          </a:p>
          <a:p>
            <a:pPr eaLnBrk="0" hangingPunct="0"/>
            <a:r>
              <a:rPr lang="en-US" altLang="ru-RU" sz="1600" dirty="0">
                <a:solidFill>
                  <a:srgbClr val="000000"/>
                </a:solidFill>
                <a:latin typeface="Lucida Console" panose="020B0609040504020204" pitchFamily="49" charset="0"/>
              </a:rPr>
              <a:t>X-squared = 4.36, df = 4, p-value = 0.3595</a:t>
            </a:r>
            <a:endParaRPr lang="ru-RU" altLang="ru-RU" sz="1600" dirty="0">
              <a:solidFill>
                <a:srgbClr val="000000"/>
              </a:solidFill>
              <a:latin typeface="Lucida Console" panose="020B0609040504020204" pitchFamily="49" charset="0"/>
            </a:endParaRPr>
          </a:p>
        </p:txBody>
      </p:sp>
      <p:sp>
        <p:nvSpPr>
          <p:cNvPr id="11" name="TextBox 10">
            <a:extLst>
              <a:ext uri="{FF2B5EF4-FFF2-40B4-BE49-F238E27FC236}">
                <a16:creationId xmlns:a16="http://schemas.microsoft.com/office/drawing/2014/main" id="{072F2CA4-8A4E-4B51-98A5-4C63D280297A}"/>
              </a:ext>
            </a:extLst>
          </p:cNvPr>
          <p:cNvSpPr txBox="1"/>
          <p:nvPr/>
        </p:nvSpPr>
        <p:spPr>
          <a:xfrm>
            <a:off x="1059566" y="3849842"/>
            <a:ext cx="10348757" cy="707886"/>
          </a:xfrm>
          <a:prstGeom prst="rect">
            <a:avLst/>
          </a:prstGeom>
          <a:noFill/>
        </p:spPr>
        <p:txBody>
          <a:bodyPr wrap="square">
            <a:spAutoFit/>
          </a:bodyPr>
          <a:lstStyle/>
          <a:p>
            <a:r>
              <a:rPr lang="ru-RU" b="1" dirty="0"/>
              <a:t>Задача 2</a:t>
            </a:r>
            <a:r>
              <a:rPr lang="ru-RU" dirty="0"/>
              <a:t>: </a:t>
            </a:r>
            <a:r>
              <a:rPr lang="ru-RU" b="1" dirty="0"/>
              <a:t>Критерий независимости</a:t>
            </a:r>
            <a:r>
              <a:rPr lang="ru-RU" dirty="0"/>
              <a:t>: проверяем, связан ли пол с предпочтениями политической партии. </a:t>
            </a:r>
            <a:r>
              <a:rPr lang="en-US" i="1" dirty="0">
                <a:effectLst/>
              </a:rPr>
              <a:t>H</a:t>
            </a:r>
            <a:r>
              <a:rPr lang="en-US" i="1" baseline="-25000" dirty="0">
                <a:effectLst/>
              </a:rPr>
              <a:t>0</a:t>
            </a:r>
            <a:r>
              <a:rPr lang="en-US" baseline="-25000" dirty="0"/>
              <a:t>​ </a:t>
            </a:r>
            <a:r>
              <a:rPr lang="ru-RU" dirty="0"/>
              <a:t>утверждает, что пол и партия не связаны.</a:t>
            </a:r>
          </a:p>
        </p:txBody>
      </p:sp>
      <p:sp>
        <p:nvSpPr>
          <p:cNvPr id="8" name="Rectangle 1">
            <a:extLst>
              <a:ext uri="{FF2B5EF4-FFF2-40B4-BE49-F238E27FC236}">
                <a16:creationId xmlns:a16="http://schemas.microsoft.com/office/drawing/2014/main" id="{F121A284-FE72-4F7F-B955-8B41681380E7}"/>
              </a:ext>
            </a:extLst>
          </p:cNvPr>
          <p:cNvSpPr>
            <a:spLocks noChangeArrowheads="1"/>
          </p:cNvSpPr>
          <p:nvPr/>
        </p:nvSpPr>
        <p:spPr bwMode="auto">
          <a:xfrm>
            <a:off x="1101188" y="4617625"/>
            <a:ext cx="5520970" cy="1200329"/>
          </a:xfrm>
          <a:prstGeom prst="rect">
            <a:avLst/>
          </a:prstGeom>
          <a:noFill/>
        </p:spPr>
        <p:txBody>
          <a:bodyPr wrap="square">
            <a:spAutoFit/>
          </a:bodyPr>
          <a:lstStyle/>
          <a:p>
            <a:r>
              <a:rPr lang="ru-RU" altLang="ru-RU" sz="1800" dirty="0">
                <a:solidFill>
                  <a:srgbClr val="0070C0"/>
                </a:solidFill>
              </a:rPr>
              <a:t># Выполняем тест </a:t>
            </a:r>
          </a:p>
          <a:p>
            <a:r>
              <a:rPr lang="ru-RU" altLang="ru-RU" sz="1800" dirty="0" err="1">
                <a:solidFill>
                  <a:srgbClr val="0070C0"/>
                </a:solidFill>
              </a:rPr>
              <a:t>data</a:t>
            </a:r>
            <a:r>
              <a:rPr lang="ru-RU" altLang="ru-RU" sz="1800" dirty="0">
                <a:solidFill>
                  <a:srgbClr val="0070C0"/>
                </a:solidFill>
              </a:rPr>
              <a:t> &lt;- </a:t>
            </a:r>
            <a:r>
              <a:rPr lang="ru-RU" altLang="ru-RU" sz="1800" dirty="0" err="1">
                <a:solidFill>
                  <a:srgbClr val="0070C0"/>
                </a:solidFill>
              </a:rPr>
              <a:t>matrix</a:t>
            </a:r>
            <a:r>
              <a:rPr lang="ru-RU" altLang="ru-RU" sz="1800" dirty="0">
                <a:solidFill>
                  <a:srgbClr val="0070C0"/>
                </a:solidFill>
              </a:rPr>
              <a:t>(c(120, 90, 40, 110, 95, 45), </a:t>
            </a:r>
          </a:p>
          <a:p>
            <a:r>
              <a:rPr lang="ru-RU" altLang="ru-RU" sz="1800" dirty="0">
                <a:solidFill>
                  <a:srgbClr val="0070C0"/>
                </a:solidFill>
              </a:rPr>
              <a:t>	        </a:t>
            </a:r>
            <a:r>
              <a:rPr lang="ru-RU" altLang="ru-RU" sz="1800" dirty="0" err="1">
                <a:solidFill>
                  <a:srgbClr val="0070C0"/>
                </a:solidFill>
              </a:rPr>
              <a:t>ncol</a:t>
            </a:r>
            <a:r>
              <a:rPr lang="ru-RU" altLang="ru-RU" sz="1800" dirty="0">
                <a:solidFill>
                  <a:srgbClr val="0070C0"/>
                </a:solidFill>
              </a:rPr>
              <a:t> = 3, </a:t>
            </a:r>
            <a:r>
              <a:rPr lang="ru-RU" altLang="ru-RU" sz="1800" dirty="0" err="1">
                <a:solidFill>
                  <a:srgbClr val="0070C0"/>
                </a:solidFill>
              </a:rPr>
              <a:t>byrow</a:t>
            </a:r>
            <a:r>
              <a:rPr lang="ru-RU" altLang="ru-RU" sz="1800" dirty="0">
                <a:solidFill>
                  <a:srgbClr val="0070C0"/>
                </a:solidFill>
              </a:rPr>
              <a:t> = TRUE) </a:t>
            </a:r>
          </a:p>
          <a:p>
            <a:r>
              <a:rPr lang="ru-RU" altLang="ru-RU" sz="1800" dirty="0" err="1">
                <a:solidFill>
                  <a:srgbClr val="0070C0"/>
                </a:solidFill>
              </a:rPr>
              <a:t>chisq.test</a:t>
            </a:r>
            <a:r>
              <a:rPr lang="ru-RU" altLang="ru-RU" sz="1800" dirty="0">
                <a:solidFill>
                  <a:srgbClr val="0070C0"/>
                </a:solidFill>
              </a:rPr>
              <a:t>(</a:t>
            </a:r>
            <a:r>
              <a:rPr lang="ru-RU" altLang="ru-RU" sz="1800" dirty="0" err="1">
                <a:solidFill>
                  <a:srgbClr val="0070C0"/>
                </a:solidFill>
              </a:rPr>
              <a:t>data</a:t>
            </a:r>
            <a:r>
              <a:rPr lang="ru-RU" altLang="ru-RU" sz="1800" dirty="0">
                <a:solidFill>
                  <a:srgbClr val="0070C0"/>
                </a:solidFill>
              </a:rPr>
              <a:t>) </a:t>
            </a:r>
          </a:p>
        </p:txBody>
      </p:sp>
      <p:sp>
        <p:nvSpPr>
          <p:cNvPr id="15" name="Rectangle 4">
            <a:extLst>
              <a:ext uri="{FF2B5EF4-FFF2-40B4-BE49-F238E27FC236}">
                <a16:creationId xmlns:a16="http://schemas.microsoft.com/office/drawing/2014/main" id="{39D87D68-EF54-46B7-A87D-27E6EC6AD9D5}"/>
              </a:ext>
            </a:extLst>
          </p:cNvPr>
          <p:cNvSpPr>
            <a:spLocks noChangeArrowheads="1"/>
          </p:cNvSpPr>
          <p:nvPr/>
        </p:nvSpPr>
        <p:spPr bwMode="auto">
          <a:xfrm>
            <a:off x="1162915" y="5992715"/>
            <a:ext cx="10547630"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b="1" i="0" u="none" strike="noStrike" cap="none" normalizeH="0" baseline="0" dirty="0">
                <a:ln>
                  <a:noFill/>
                </a:ln>
                <a:solidFill>
                  <a:schemeClr val="tx1"/>
                </a:solidFill>
                <a:effectLst/>
              </a:rPr>
              <a:t>Что означает результат: </a:t>
            </a:r>
            <a:r>
              <a:rPr lang="ru-RU" dirty="0"/>
              <a:t>Статистически значимой связи между полом и партийными предпочтениями нет (нулевая гипотеза не отвергается).</a:t>
            </a:r>
          </a:p>
        </p:txBody>
      </p:sp>
      <p:sp>
        <p:nvSpPr>
          <p:cNvPr id="9" name="Rectangle 2">
            <a:extLst>
              <a:ext uri="{FF2B5EF4-FFF2-40B4-BE49-F238E27FC236}">
                <a16:creationId xmlns:a16="http://schemas.microsoft.com/office/drawing/2014/main" id="{EE2B0D90-34E8-4E90-99C9-99287878D44E}"/>
              </a:ext>
            </a:extLst>
          </p:cNvPr>
          <p:cNvSpPr>
            <a:spLocks noChangeArrowheads="1"/>
          </p:cNvSpPr>
          <p:nvPr/>
        </p:nvSpPr>
        <p:spPr bwMode="auto">
          <a:xfrm>
            <a:off x="6526770" y="4638421"/>
            <a:ext cx="5578236" cy="123110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eaLnBrk="0" hangingPunct="0"/>
            <a:r>
              <a:rPr lang="ru-RU" altLang="ru-RU" sz="1600" dirty="0" err="1">
                <a:solidFill>
                  <a:srgbClr val="000000"/>
                </a:solidFill>
                <a:latin typeface="Lucida Console" panose="020B0609040504020204" pitchFamily="49" charset="0"/>
              </a:rPr>
              <a:t>Pearson's</a:t>
            </a:r>
            <a:r>
              <a:rPr lang="ru-RU" altLang="ru-RU" sz="1600" dirty="0">
                <a:solidFill>
                  <a:srgbClr val="000000"/>
                </a:solidFill>
                <a:latin typeface="Lucida Console" panose="020B0609040504020204" pitchFamily="49" charset="0"/>
              </a:rPr>
              <a:t> </a:t>
            </a:r>
            <a:r>
              <a:rPr lang="ru-RU" altLang="ru-RU" sz="1600" dirty="0" err="1">
                <a:solidFill>
                  <a:srgbClr val="000000"/>
                </a:solidFill>
                <a:latin typeface="Lucida Console" panose="020B0609040504020204" pitchFamily="49" charset="0"/>
              </a:rPr>
              <a:t>Chi-squared</a:t>
            </a:r>
            <a:r>
              <a:rPr lang="ru-RU" altLang="ru-RU" sz="1600" dirty="0">
                <a:solidFill>
                  <a:srgbClr val="000000"/>
                </a:solidFill>
                <a:latin typeface="Lucida Console" panose="020B0609040504020204" pitchFamily="49" charset="0"/>
              </a:rPr>
              <a:t> </a:t>
            </a:r>
            <a:r>
              <a:rPr lang="ru-RU" altLang="ru-RU" sz="1600" dirty="0" err="1">
                <a:solidFill>
                  <a:srgbClr val="000000"/>
                </a:solidFill>
                <a:latin typeface="Lucida Console" panose="020B0609040504020204" pitchFamily="49" charset="0"/>
              </a:rPr>
              <a:t>test</a:t>
            </a:r>
            <a:r>
              <a:rPr lang="ru-RU" altLang="ru-RU" sz="1600" dirty="0">
                <a:solidFill>
                  <a:srgbClr val="000000"/>
                </a:solidFill>
                <a:latin typeface="Lucida Console" panose="020B0609040504020204" pitchFamily="49" charset="0"/>
              </a:rPr>
              <a:t> </a:t>
            </a:r>
          </a:p>
          <a:p>
            <a:pPr eaLnBrk="0" hangingPunct="0"/>
            <a:endParaRPr lang="ru-RU" altLang="ru-RU" sz="1600" dirty="0">
              <a:solidFill>
                <a:srgbClr val="000000"/>
              </a:solidFill>
              <a:latin typeface="Lucida Console" panose="020B0609040504020204" pitchFamily="49" charset="0"/>
            </a:endParaRPr>
          </a:p>
          <a:p>
            <a:pPr eaLnBrk="0" hangingPunct="0"/>
            <a:r>
              <a:rPr lang="ru-RU" altLang="ru-RU" sz="1600" dirty="0" err="1">
                <a:solidFill>
                  <a:srgbClr val="000000"/>
                </a:solidFill>
                <a:latin typeface="Lucida Console" panose="020B0609040504020204" pitchFamily="49" charset="0"/>
              </a:rPr>
              <a:t>data</a:t>
            </a:r>
            <a:r>
              <a:rPr lang="ru-RU" altLang="ru-RU" sz="1600" dirty="0">
                <a:solidFill>
                  <a:srgbClr val="000000"/>
                </a:solidFill>
                <a:latin typeface="Lucida Console" panose="020B0609040504020204" pitchFamily="49" charset="0"/>
              </a:rPr>
              <a:t>: </a:t>
            </a:r>
            <a:r>
              <a:rPr lang="ru-RU" altLang="ru-RU" sz="1600" dirty="0" err="1">
                <a:solidFill>
                  <a:srgbClr val="000000"/>
                </a:solidFill>
                <a:latin typeface="Lucida Console" panose="020B0609040504020204" pitchFamily="49" charset="0"/>
              </a:rPr>
              <a:t>data</a:t>
            </a:r>
            <a:r>
              <a:rPr lang="ru-RU" altLang="ru-RU" sz="1600" dirty="0">
                <a:solidFill>
                  <a:srgbClr val="000000"/>
                </a:solidFill>
                <a:latin typeface="Lucida Console" panose="020B0609040504020204" pitchFamily="49" charset="0"/>
              </a:rPr>
              <a:t> </a:t>
            </a:r>
          </a:p>
          <a:p>
            <a:pPr eaLnBrk="0" hangingPunct="0"/>
            <a:r>
              <a:rPr lang="ru-RU" altLang="ru-RU" sz="1600" dirty="0">
                <a:solidFill>
                  <a:srgbClr val="000000"/>
                </a:solidFill>
                <a:latin typeface="Lucida Console" panose="020B0609040504020204" pitchFamily="49" charset="0"/>
              </a:rPr>
              <a:t>X-</a:t>
            </a:r>
            <a:r>
              <a:rPr lang="ru-RU" altLang="ru-RU" sz="1600" dirty="0" err="1">
                <a:solidFill>
                  <a:srgbClr val="000000"/>
                </a:solidFill>
                <a:latin typeface="Lucida Console" panose="020B0609040504020204" pitchFamily="49" charset="0"/>
              </a:rPr>
              <a:t>squared</a:t>
            </a:r>
            <a:r>
              <a:rPr lang="ru-RU" altLang="ru-RU" sz="1600" dirty="0">
                <a:solidFill>
                  <a:srgbClr val="000000"/>
                </a:solidFill>
                <a:latin typeface="Lucida Console" panose="020B0609040504020204" pitchFamily="49" charset="0"/>
              </a:rPr>
              <a:t> = 0.86404, </a:t>
            </a:r>
            <a:r>
              <a:rPr lang="ru-RU" altLang="ru-RU" sz="1600" dirty="0" err="1">
                <a:solidFill>
                  <a:srgbClr val="000000"/>
                </a:solidFill>
                <a:latin typeface="Lucida Console" panose="020B0609040504020204" pitchFamily="49" charset="0"/>
              </a:rPr>
              <a:t>df</a:t>
            </a:r>
            <a:r>
              <a:rPr lang="ru-RU" altLang="ru-RU" sz="1600" dirty="0">
                <a:solidFill>
                  <a:srgbClr val="000000"/>
                </a:solidFill>
                <a:latin typeface="Lucida Console" panose="020B0609040504020204" pitchFamily="49" charset="0"/>
              </a:rPr>
              <a:t> = 2, p-</a:t>
            </a:r>
            <a:r>
              <a:rPr lang="ru-RU" altLang="ru-RU" sz="1600" dirty="0" err="1">
                <a:solidFill>
                  <a:srgbClr val="000000"/>
                </a:solidFill>
                <a:latin typeface="Lucida Console" panose="020B0609040504020204" pitchFamily="49" charset="0"/>
              </a:rPr>
              <a:t>value</a:t>
            </a:r>
            <a:r>
              <a:rPr lang="ru-RU" altLang="ru-RU" sz="1600" dirty="0">
                <a:solidFill>
                  <a:srgbClr val="000000"/>
                </a:solidFill>
                <a:latin typeface="Lucida Console" panose="020B0609040504020204" pitchFamily="49" charset="0"/>
              </a:rPr>
              <a:t> = 0.6492 </a:t>
            </a:r>
            <a:br>
              <a:rPr lang="ru-RU" altLang="ru-RU" sz="1600" dirty="0">
                <a:solidFill>
                  <a:srgbClr val="000000"/>
                </a:solidFill>
                <a:latin typeface="Lucida Console" panose="020B0609040504020204" pitchFamily="49" charset="0"/>
              </a:rPr>
            </a:br>
            <a:endParaRPr lang="ru-RU" altLang="ru-RU" sz="1600" dirty="0">
              <a:solidFill>
                <a:srgbClr val="000000"/>
              </a:solidFill>
              <a:latin typeface="Lucida Console" panose="020B0609040504020204" pitchFamily="49" charset="0"/>
            </a:endParaRPr>
          </a:p>
        </p:txBody>
      </p:sp>
    </p:spTree>
    <p:extLst>
      <p:ext uri="{BB962C8B-B14F-4D97-AF65-F5344CB8AC3E}">
        <p14:creationId xmlns:p14="http://schemas.microsoft.com/office/powerpoint/2010/main" val="30700989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4"/>
          <p:cNvSpPr>
            <a:spLocks noChangeArrowheads="1"/>
          </p:cNvSpPr>
          <p:nvPr/>
        </p:nvSpPr>
        <p:spPr bwMode="auto">
          <a:xfrm>
            <a:off x="1438275" y="322263"/>
            <a:ext cx="10872514" cy="6553200"/>
          </a:xfrm>
          <a:prstGeom prst="roundRect">
            <a:avLst>
              <a:gd name="adj" fmla="val 16667"/>
            </a:avLst>
          </a:prstGeom>
          <a:solidFill>
            <a:schemeClr val="bg1">
              <a:alpha val="50195"/>
            </a:scheme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6" name="AutoShape 5"/>
          <p:cNvSpPr>
            <a:spLocks noChangeArrowheads="1"/>
          </p:cNvSpPr>
          <p:nvPr/>
        </p:nvSpPr>
        <p:spPr bwMode="auto">
          <a:xfrm>
            <a:off x="2373685" y="322263"/>
            <a:ext cx="8064128" cy="850960"/>
          </a:xfrm>
          <a:prstGeom prst="roundRect">
            <a:avLst>
              <a:gd name="adj" fmla="val 37469"/>
            </a:avLst>
          </a:prstGeom>
          <a:solidFill>
            <a:srgbClr val="FFFFFF">
              <a:alpha val="78822"/>
            </a:srgb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2" name="Прямоугольник 1"/>
          <p:cNvSpPr/>
          <p:nvPr/>
        </p:nvSpPr>
        <p:spPr>
          <a:xfrm>
            <a:off x="1797621" y="270690"/>
            <a:ext cx="9793088" cy="461665"/>
          </a:xfrm>
          <a:prstGeom prst="rect">
            <a:avLst/>
          </a:prstGeom>
        </p:spPr>
        <p:txBody>
          <a:bodyPr wrap="square">
            <a:spAutoFit/>
          </a:bodyPr>
          <a:lstStyle/>
          <a:p>
            <a:r>
              <a:rPr lang="ru-RU" sz="2400" b="1" dirty="0"/>
              <a:t>Точный критерий Фишера (Fisher's </a:t>
            </a:r>
            <a:r>
              <a:rPr lang="ru-RU" sz="2400" b="1" dirty="0" err="1"/>
              <a:t>Exact</a:t>
            </a:r>
            <a:r>
              <a:rPr lang="ru-RU" sz="2400" b="1" dirty="0"/>
              <a:t> Test)</a:t>
            </a:r>
            <a:endParaRPr lang="en-US" sz="2400" b="1" dirty="0"/>
          </a:p>
        </p:txBody>
      </p:sp>
      <p:sp>
        <p:nvSpPr>
          <p:cNvPr id="4" name="Номер слайда 3"/>
          <p:cNvSpPr>
            <a:spLocks noGrp="1"/>
          </p:cNvSpPr>
          <p:nvPr>
            <p:ph type="sldNum" sz="quarter" idx="12"/>
          </p:nvPr>
        </p:nvSpPr>
        <p:spPr/>
        <p:txBody>
          <a:bodyPr/>
          <a:lstStyle/>
          <a:p>
            <a:fld id="{952B6C0E-C4B9-4094-8E59-5B7DF00D5415}" type="slidenum">
              <a:rPr lang="ru-RU" sz="1400">
                <a:solidFill>
                  <a:schemeClr val="tx1"/>
                </a:solidFill>
              </a:rPr>
              <a:t>125</a:t>
            </a:fld>
            <a:endParaRPr lang="ru-RU" dirty="0">
              <a:solidFill>
                <a:schemeClr val="tx1"/>
              </a:solidFill>
            </a:endParaRPr>
          </a:p>
        </p:txBody>
      </p:sp>
      <p:sp>
        <p:nvSpPr>
          <p:cNvPr id="13" name="TextBox 12">
            <a:extLst>
              <a:ext uri="{FF2B5EF4-FFF2-40B4-BE49-F238E27FC236}">
                <a16:creationId xmlns:a16="http://schemas.microsoft.com/office/drawing/2014/main" id="{DA0107E7-2CAE-48CA-9412-3754E400696F}"/>
              </a:ext>
            </a:extLst>
          </p:cNvPr>
          <p:cNvSpPr txBox="1"/>
          <p:nvPr/>
        </p:nvSpPr>
        <p:spPr>
          <a:xfrm>
            <a:off x="1293565" y="2269337"/>
            <a:ext cx="8565458" cy="1938992"/>
          </a:xfrm>
          <a:prstGeom prst="rect">
            <a:avLst/>
          </a:prstGeom>
          <a:noFill/>
        </p:spPr>
        <p:txBody>
          <a:bodyPr wrap="square">
            <a:spAutoFit/>
          </a:bodyPr>
          <a:lstStyle/>
          <a:p>
            <a:r>
              <a:rPr lang="ru-RU" dirty="0">
                <a:solidFill>
                  <a:srgbClr val="0070C0"/>
                </a:solidFill>
              </a:rPr>
              <a:t># Построение таблицы сопряжённости 2</a:t>
            </a:r>
            <a:r>
              <a:rPr lang="en-US" dirty="0">
                <a:solidFill>
                  <a:srgbClr val="0070C0"/>
                </a:solidFill>
              </a:rPr>
              <a:t>x2</a:t>
            </a:r>
          </a:p>
          <a:p>
            <a:r>
              <a:rPr lang="en-US" dirty="0" err="1">
                <a:solidFill>
                  <a:srgbClr val="0070C0"/>
                </a:solidFill>
              </a:rPr>
              <a:t>pizza_data</a:t>
            </a:r>
            <a:r>
              <a:rPr lang="en-US" dirty="0">
                <a:solidFill>
                  <a:srgbClr val="0070C0"/>
                </a:solidFill>
              </a:rPr>
              <a:t> &lt;- matrix(c(2, 5, 9, 4), </a:t>
            </a:r>
            <a:r>
              <a:rPr lang="en-US" dirty="0" err="1">
                <a:solidFill>
                  <a:srgbClr val="0070C0"/>
                </a:solidFill>
              </a:rPr>
              <a:t>nrow</a:t>
            </a:r>
            <a:r>
              <a:rPr lang="en-US" dirty="0">
                <a:solidFill>
                  <a:srgbClr val="0070C0"/>
                </a:solidFill>
              </a:rPr>
              <a:t> = 2, </a:t>
            </a:r>
            <a:r>
              <a:rPr lang="en-US" dirty="0" err="1">
                <a:solidFill>
                  <a:srgbClr val="0070C0"/>
                </a:solidFill>
              </a:rPr>
              <a:t>byrow</a:t>
            </a:r>
            <a:r>
              <a:rPr lang="en-US" dirty="0">
                <a:solidFill>
                  <a:srgbClr val="0070C0"/>
                </a:solidFill>
              </a:rPr>
              <a:t> = TRUE)</a:t>
            </a:r>
          </a:p>
          <a:p>
            <a:r>
              <a:rPr lang="en-US" dirty="0" err="1">
                <a:solidFill>
                  <a:srgbClr val="0070C0"/>
                </a:solidFill>
              </a:rPr>
              <a:t>rownames</a:t>
            </a:r>
            <a:r>
              <a:rPr lang="en-US" dirty="0">
                <a:solidFill>
                  <a:srgbClr val="0070C0"/>
                </a:solidFill>
              </a:rPr>
              <a:t>(</a:t>
            </a:r>
            <a:r>
              <a:rPr lang="en-US" dirty="0" err="1">
                <a:solidFill>
                  <a:srgbClr val="0070C0"/>
                </a:solidFill>
              </a:rPr>
              <a:t>pizza_data</a:t>
            </a:r>
            <a:r>
              <a:rPr lang="en-US" dirty="0">
                <a:solidFill>
                  <a:srgbClr val="0070C0"/>
                </a:solidFill>
              </a:rPr>
              <a:t>) &lt;- c("Male", "Female")</a:t>
            </a:r>
          </a:p>
          <a:p>
            <a:r>
              <a:rPr lang="en-US" dirty="0" err="1">
                <a:solidFill>
                  <a:srgbClr val="0070C0"/>
                </a:solidFill>
              </a:rPr>
              <a:t>colnames</a:t>
            </a:r>
            <a:r>
              <a:rPr lang="en-US" dirty="0">
                <a:solidFill>
                  <a:srgbClr val="0070C0"/>
                </a:solidFill>
              </a:rPr>
              <a:t>(</a:t>
            </a:r>
            <a:r>
              <a:rPr lang="en-US" dirty="0" err="1">
                <a:solidFill>
                  <a:srgbClr val="0070C0"/>
                </a:solidFill>
              </a:rPr>
              <a:t>pizza_data</a:t>
            </a:r>
            <a:r>
              <a:rPr lang="en-US" dirty="0">
                <a:solidFill>
                  <a:srgbClr val="0070C0"/>
                </a:solidFill>
              </a:rPr>
              <a:t>) &lt;- c("Pepperoni", "Margherita")</a:t>
            </a:r>
          </a:p>
          <a:p>
            <a:r>
              <a:rPr lang="en-US" dirty="0">
                <a:solidFill>
                  <a:srgbClr val="0070C0"/>
                </a:solidFill>
              </a:rPr>
              <a:t># </a:t>
            </a:r>
            <a:r>
              <a:rPr lang="ru-RU" dirty="0">
                <a:solidFill>
                  <a:srgbClr val="0070C0"/>
                </a:solidFill>
              </a:rPr>
              <a:t>Выполняем тест</a:t>
            </a:r>
          </a:p>
          <a:p>
            <a:r>
              <a:rPr lang="en-US" dirty="0" err="1">
                <a:solidFill>
                  <a:srgbClr val="0070C0"/>
                </a:solidFill>
              </a:rPr>
              <a:t>fisher.test</a:t>
            </a:r>
            <a:r>
              <a:rPr lang="en-US" dirty="0">
                <a:solidFill>
                  <a:srgbClr val="0070C0"/>
                </a:solidFill>
              </a:rPr>
              <a:t>(</a:t>
            </a:r>
            <a:r>
              <a:rPr lang="en-US" dirty="0" err="1">
                <a:solidFill>
                  <a:srgbClr val="0070C0"/>
                </a:solidFill>
              </a:rPr>
              <a:t>pizza_data</a:t>
            </a:r>
            <a:r>
              <a:rPr lang="en-US" dirty="0">
                <a:solidFill>
                  <a:srgbClr val="0070C0"/>
                </a:solidFill>
              </a:rPr>
              <a:t>)</a:t>
            </a:r>
            <a:endParaRPr lang="ru-RU" dirty="0">
              <a:solidFill>
                <a:srgbClr val="0070C0"/>
              </a:solidFill>
            </a:endParaRPr>
          </a:p>
        </p:txBody>
      </p:sp>
      <p:sp>
        <p:nvSpPr>
          <p:cNvPr id="14" name="Rectangle 4">
            <a:extLst>
              <a:ext uri="{FF2B5EF4-FFF2-40B4-BE49-F238E27FC236}">
                <a16:creationId xmlns:a16="http://schemas.microsoft.com/office/drawing/2014/main" id="{14B4CF82-607F-4FD1-84F9-D249EEFDDA93}"/>
              </a:ext>
            </a:extLst>
          </p:cNvPr>
          <p:cNvSpPr>
            <a:spLocks noChangeArrowheads="1"/>
          </p:cNvSpPr>
          <p:nvPr/>
        </p:nvSpPr>
        <p:spPr bwMode="auto">
          <a:xfrm>
            <a:off x="1577554" y="5788650"/>
            <a:ext cx="9881444"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b="1" i="0" u="none" strike="noStrike" cap="none" normalizeH="0" baseline="0" dirty="0">
                <a:ln>
                  <a:noFill/>
                </a:ln>
                <a:solidFill>
                  <a:schemeClr val="tx1"/>
                </a:solidFill>
                <a:effectLst/>
              </a:rPr>
              <a:t>Что означает результат: </a:t>
            </a:r>
            <a:endParaRPr kumimoji="0" lang="en-US" altLang="ru-RU" b="1"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lang="ru-RU" dirty="0"/>
              <a:t>Так как p-</a:t>
            </a:r>
            <a:r>
              <a:rPr lang="ru-RU" dirty="0" err="1"/>
              <a:t>value</a:t>
            </a:r>
            <a:r>
              <a:rPr lang="ru-RU" dirty="0"/>
              <a:t> &gt; 0.05, нулевая гипотеза об отсутствии связи не отвергается</a:t>
            </a:r>
            <a:endParaRPr kumimoji="0" lang="ru-RU" altLang="ru-RU" i="0" u="none" strike="noStrike" cap="none" normalizeH="0" baseline="0" dirty="0">
              <a:ln>
                <a:noFill/>
              </a:ln>
              <a:solidFill>
                <a:schemeClr val="tx1"/>
              </a:solidFill>
              <a:effectLst/>
            </a:endParaRPr>
          </a:p>
        </p:txBody>
      </p:sp>
      <p:sp>
        <p:nvSpPr>
          <p:cNvPr id="12" name="TextBox 11">
            <a:extLst>
              <a:ext uri="{FF2B5EF4-FFF2-40B4-BE49-F238E27FC236}">
                <a16:creationId xmlns:a16="http://schemas.microsoft.com/office/drawing/2014/main" id="{04BDA940-A47E-4F6D-B639-8F848E4796B0}"/>
              </a:ext>
            </a:extLst>
          </p:cNvPr>
          <p:cNvSpPr txBox="1"/>
          <p:nvPr/>
        </p:nvSpPr>
        <p:spPr>
          <a:xfrm>
            <a:off x="1298695" y="1047747"/>
            <a:ext cx="11012094" cy="707886"/>
          </a:xfrm>
          <a:prstGeom prst="rect">
            <a:avLst/>
          </a:prstGeom>
          <a:noFill/>
        </p:spPr>
        <p:txBody>
          <a:bodyPr wrap="square">
            <a:spAutoFit/>
          </a:bodyPr>
          <a:lstStyle/>
          <a:p>
            <a:r>
              <a:rPr lang="ru-RU" b="1" dirty="0"/>
              <a:t>Задача: </a:t>
            </a:r>
            <a:r>
              <a:rPr lang="ru-RU" dirty="0"/>
              <a:t>проверить связь между полом (Мужской/Женский) и предпочтением типа пиццы (</a:t>
            </a:r>
            <a:r>
              <a:rPr lang="ru-RU" dirty="0" err="1"/>
              <a:t>Пепперони</a:t>
            </a:r>
            <a:r>
              <a:rPr lang="ru-RU" dirty="0"/>
              <a:t>/Маргарита) в малой выборке (одна из ячеек таблицы содержит значение &lt;5)</a:t>
            </a:r>
          </a:p>
        </p:txBody>
      </p:sp>
      <p:sp>
        <p:nvSpPr>
          <p:cNvPr id="3" name="Rectangle 1">
            <a:extLst>
              <a:ext uri="{FF2B5EF4-FFF2-40B4-BE49-F238E27FC236}">
                <a16:creationId xmlns:a16="http://schemas.microsoft.com/office/drawing/2014/main" id="{5E06E694-1E3F-47FA-BAFA-229AD4A214D9}"/>
              </a:ext>
            </a:extLst>
          </p:cNvPr>
          <p:cNvSpPr>
            <a:spLocks noChangeArrowheads="1"/>
          </p:cNvSpPr>
          <p:nvPr/>
        </p:nvSpPr>
        <p:spPr bwMode="auto">
          <a:xfrm>
            <a:off x="4520922" y="3804564"/>
            <a:ext cx="7272808" cy="172354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1600" b="0" i="0" u="none" strike="noStrike" cap="none" normalizeH="0" baseline="0" dirty="0">
                <a:ln>
                  <a:noFill/>
                </a:ln>
                <a:solidFill>
                  <a:srgbClr val="000000"/>
                </a:solidFill>
                <a:effectLst/>
                <a:latin typeface="Lucida Console" panose="020B0609040504020204" pitchFamily="49" charset="0"/>
              </a:rPr>
              <a:t>Fisher's </a:t>
            </a:r>
            <a:r>
              <a:rPr kumimoji="0" lang="ru-RU" altLang="ru-RU" sz="1600" b="0" i="0" u="none" strike="noStrike" cap="none" normalizeH="0" baseline="0" dirty="0" err="1">
                <a:ln>
                  <a:noFill/>
                </a:ln>
                <a:solidFill>
                  <a:srgbClr val="000000"/>
                </a:solidFill>
                <a:effectLst/>
                <a:latin typeface="Lucida Console" panose="020B0609040504020204" pitchFamily="49" charset="0"/>
              </a:rPr>
              <a:t>Exact</a:t>
            </a:r>
            <a:r>
              <a:rPr kumimoji="0" lang="ru-RU" altLang="ru-RU" sz="1600" b="0" i="0" u="none" strike="noStrike" cap="none" normalizeH="0" baseline="0" dirty="0">
                <a:ln>
                  <a:noFill/>
                </a:ln>
                <a:solidFill>
                  <a:srgbClr val="000000"/>
                </a:solidFill>
                <a:effectLst/>
                <a:latin typeface="Lucida Console" panose="020B0609040504020204" pitchFamily="49" charset="0"/>
              </a:rPr>
              <a:t> Test </a:t>
            </a:r>
            <a:r>
              <a:rPr kumimoji="0" lang="ru-RU" altLang="ru-RU" sz="1600" b="0" i="0" u="none" strike="noStrike" cap="none" normalizeH="0" baseline="0" dirty="0" err="1">
                <a:ln>
                  <a:noFill/>
                </a:ln>
                <a:solidFill>
                  <a:srgbClr val="000000"/>
                </a:solidFill>
                <a:effectLst/>
                <a:latin typeface="Lucida Console" panose="020B0609040504020204" pitchFamily="49" charset="0"/>
              </a:rPr>
              <a:t>for</a:t>
            </a:r>
            <a:r>
              <a:rPr kumimoji="0" lang="ru-RU" altLang="ru-RU" sz="1600" b="0" i="0" u="none" strike="noStrike" cap="none" normalizeH="0" baseline="0" dirty="0">
                <a:ln>
                  <a:noFill/>
                </a:ln>
                <a:solidFill>
                  <a:srgbClr val="000000"/>
                </a:solidFill>
                <a:effectLst/>
                <a:latin typeface="Lucida Console" panose="020B0609040504020204" pitchFamily="49" charset="0"/>
              </a:rPr>
              <a:t> </a:t>
            </a:r>
            <a:r>
              <a:rPr kumimoji="0" lang="ru-RU" altLang="ru-RU" sz="1600" b="0" i="0" u="none" strike="noStrike" cap="none" normalizeH="0" baseline="0" dirty="0" err="1">
                <a:ln>
                  <a:noFill/>
                </a:ln>
                <a:solidFill>
                  <a:srgbClr val="000000"/>
                </a:solidFill>
                <a:effectLst/>
                <a:latin typeface="Lucida Console" panose="020B0609040504020204" pitchFamily="49" charset="0"/>
              </a:rPr>
              <a:t>Count</a:t>
            </a:r>
            <a:r>
              <a:rPr kumimoji="0" lang="ru-RU" altLang="ru-RU" sz="1600" b="0" i="0" u="none" strike="noStrike" cap="none" normalizeH="0" baseline="0" dirty="0">
                <a:ln>
                  <a:noFill/>
                </a:ln>
                <a:solidFill>
                  <a:srgbClr val="000000"/>
                </a:solidFill>
                <a:effectLst/>
                <a:latin typeface="Lucida Console" panose="020B0609040504020204" pitchFamily="49" charset="0"/>
              </a:rPr>
              <a:t> Data </a:t>
            </a:r>
            <a:r>
              <a:rPr kumimoji="0" lang="ru-RU" altLang="ru-RU" sz="1600" b="0" i="0" u="none" strike="noStrike" cap="none" normalizeH="0" baseline="0" dirty="0" err="1">
                <a:ln>
                  <a:noFill/>
                </a:ln>
                <a:solidFill>
                  <a:srgbClr val="000000"/>
                </a:solidFill>
                <a:effectLst/>
                <a:latin typeface="Lucida Console" panose="020B0609040504020204" pitchFamily="49" charset="0"/>
              </a:rPr>
              <a:t>data</a:t>
            </a:r>
            <a:r>
              <a:rPr kumimoji="0" lang="ru-RU" altLang="ru-RU" sz="1600" b="0" i="0" u="none" strike="noStrike" cap="none" normalizeH="0" baseline="0" dirty="0">
                <a:ln>
                  <a:noFill/>
                </a:ln>
                <a:solidFill>
                  <a:srgbClr val="000000"/>
                </a:solidFill>
                <a:effectLst/>
                <a:latin typeface="Lucida Console" panose="020B060904050402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endParaRPr lang="ru-RU" altLang="ru-RU" sz="1600" dirty="0">
              <a:solidFill>
                <a:srgbClr val="000000"/>
              </a:solidFill>
              <a:latin typeface="Lucida Console" panose="020B060904050402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1600" b="0" i="0" u="none" strike="noStrike" cap="none" normalizeH="0" baseline="0" dirty="0" err="1">
                <a:ln>
                  <a:noFill/>
                </a:ln>
                <a:solidFill>
                  <a:srgbClr val="000000"/>
                </a:solidFill>
                <a:effectLst/>
                <a:latin typeface="Lucida Console" panose="020B0609040504020204" pitchFamily="49" charset="0"/>
              </a:rPr>
              <a:t>pizza_data</a:t>
            </a:r>
            <a:r>
              <a:rPr kumimoji="0" lang="ru-RU" altLang="ru-RU" sz="1600" b="0" i="0" u="none" strike="noStrike" cap="none" normalizeH="0" baseline="0" dirty="0">
                <a:ln>
                  <a:noFill/>
                </a:ln>
                <a:solidFill>
                  <a:srgbClr val="000000"/>
                </a:solidFill>
                <a:effectLst/>
                <a:latin typeface="Lucida Console" panose="020B060904050402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1600" b="0" i="0" u="none" strike="noStrike" cap="none" normalizeH="0" baseline="0" dirty="0">
                <a:ln>
                  <a:noFill/>
                </a:ln>
                <a:solidFill>
                  <a:srgbClr val="000000"/>
                </a:solidFill>
                <a:effectLst/>
                <a:latin typeface="Lucida Console" panose="020B0609040504020204" pitchFamily="49" charset="0"/>
              </a:rPr>
              <a:t>p-</a:t>
            </a:r>
            <a:r>
              <a:rPr kumimoji="0" lang="ru-RU" altLang="ru-RU" sz="1600" b="0" i="0" u="none" strike="noStrike" cap="none" normalizeH="0" baseline="0" dirty="0" err="1">
                <a:ln>
                  <a:noFill/>
                </a:ln>
                <a:solidFill>
                  <a:srgbClr val="000000"/>
                </a:solidFill>
                <a:effectLst/>
                <a:latin typeface="Lucida Console" panose="020B0609040504020204" pitchFamily="49" charset="0"/>
              </a:rPr>
              <a:t>value</a:t>
            </a:r>
            <a:r>
              <a:rPr kumimoji="0" lang="ru-RU" altLang="ru-RU" sz="1600" b="0" i="0" u="none" strike="noStrike" cap="none" normalizeH="0" baseline="0" dirty="0">
                <a:ln>
                  <a:noFill/>
                </a:ln>
                <a:solidFill>
                  <a:srgbClr val="000000"/>
                </a:solidFill>
                <a:effectLst/>
                <a:latin typeface="Lucida Console" panose="020B0609040504020204" pitchFamily="49" charset="0"/>
              </a:rPr>
              <a:t> = 0.1597 </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1600" b="0" i="0" u="none" strike="noStrike" cap="none" normalizeH="0" baseline="0" dirty="0" err="1">
                <a:ln>
                  <a:noFill/>
                </a:ln>
                <a:solidFill>
                  <a:srgbClr val="000000"/>
                </a:solidFill>
                <a:effectLst/>
                <a:latin typeface="Lucida Console" panose="020B0609040504020204" pitchFamily="49" charset="0"/>
              </a:rPr>
              <a:t>alternative</a:t>
            </a:r>
            <a:r>
              <a:rPr kumimoji="0" lang="ru-RU" altLang="ru-RU" sz="1600" b="0" i="0" u="none" strike="noStrike" cap="none" normalizeH="0" baseline="0" dirty="0">
                <a:ln>
                  <a:noFill/>
                </a:ln>
                <a:solidFill>
                  <a:srgbClr val="000000"/>
                </a:solidFill>
                <a:effectLst/>
                <a:latin typeface="Lucida Console" panose="020B0609040504020204" pitchFamily="49" charset="0"/>
              </a:rPr>
              <a:t> </a:t>
            </a:r>
            <a:r>
              <a:rPr kumimoji="0" lang="ru-RU" altLang="ru-RU" sz="1600" b="0" i="0" u="none" strike="noStrike" cap="none" normalizeH="0" baseline="0" dirty="0" err="1">
                <a:ln>
                  <a:noFill/>
                </a:ln>
                <a:solidFill>
                  <a:srgbClr val="000000"/>
                </a:solidFill>
                <a:effectLst/>
                <a:latin typeface="Lucida Console" panose="020B0609040504020204" pitchFamily="49" charset="0"/>
              </a:rPr>
              <a:t>hypothesis</a:t>
            </a:r>
            <a:r>
              <a:rPr kumimoji="0" lang="ru-RU" altLang="ru-RU" sz="1600" b="0" i="0" u="none" strike="noStrike" cap="none" normalizeH="0" baseline="0" dirty="0">
                <a:ln>
                  <a:noFill/>
                </a:ln>
                <a:solidFill>
                  <a:srgbClr val="000000"/>
                </a:solidFill>
                <a:effectLst/>
                <a:latin typeface="Lucida Console" panose="020B0609040504020204" pitchFamily="49" charset="0"/>
              </a:rPr>
              <a:t>: </a:t>
            </a:r>
            <a:r>
              <a:rPr kumimoji="0" lang="ru-RU" altLang="ru-RU" sz="1600" b="0" i="0" u="none" strike="noStrike" cap="none" normalizeH="0" baseline="0" dirty="0" err="1">
                <a:ln>
                  <a:noFill/>
                </a:ln>
                <a:solidFill>
                  <a:srgbClr val="000000"/>
                </a:solidFill>
                <a:effectLst/>
                <a:latin typeface="Lucida Console" panose="020B0609040504020204" pitchFamily="49" charset="0"/>
              </a:rPr>
              <a:t>true</a:t>
            </a:r>
            <a:r>
              <a:rPr kumimoji="0" lang="ru-RU" altLang="ru-RU" sz="1600" b="0" i="0" u="none" strike="noStrike" cap="none" normalizeH="0" baseline="0" dirty="0">
                <a:ln>
                  <a:noFill/>
                </a:ln>
                <a:solidFill>
                  <a:srgbClr val="000000"/>
                </a:solidFill>
                <a:effectLst/>
                <a:latin typeface="Lucida Console" panose="020B0609040504020204" pitchFamily="49" charset="0"/>
              </a:rPr>
              <a:t> </a:t>
            </a:r>
            <a:r>
              <a:rPr kumimoji="0" lang="ru-RU" altLang="ru-RU" sz="1600" b="0" i="0" u="none" strike="noStrike" cap="none" normalizeH="0" baseline="0" dirty="0" err="1">
                <a:ln>
                  <a:noFill/>
                </a:ln>
                <a:solidFill>
                  <a:srgbClr val="000000"/>
                </a:solidFill>
                <a:effectLst/>
                <a:latin typeface="Lucida Console" panose="020B0609040504020204" pitchFamily="49" charset="0"/>
              </a:rPr>
              <a:t>odds</a:t>
            </a:r>
            <a:r>
              <a:rPr kumimoji="0" lang="ru-RU" altLang="ru-RU" sz="1600" b="0" i="0" u="none" strike="noStrike" cap="none" normalizeH="0" baseline="0" dirty="0">
                <a:ln>
                  <a:noFill/>
                </a:ln>
                <a:solidFill>
                  <a:srgbClr val="000000"/>
                </a:solidFill>
                <a:effectLst/>
                <a:latin typeface="Lucida Console" panose="020B0609040504020204" pitchFamily="49" charset="0"/>
              </a:rPr>
              <a:t> </a:t>
            </a:r>
            <a:r>
              <a:rPr kumimoji="0" lang="ru-RU" altLang="ru-RU" sz="1600" b="0" i="0" u="none" strike="noStrike" cap="none" normalizeH="0" baseline="0" dirty="0" err="1">
                <a:ln>
                  <a:noFill/>
                </a:ln>
                <a:solidFill>
                  <a:srgbClr val="000000"/>
                </a:solidFill>
                <a:effectLst/>
                <a:latin typeface="Lucida Console" panose="020B0609040504020204" pitchFamily="49" charset="0"/>
              </a:rPr>
              <a:t>ratio</a:t>
            </a:r>
            <a:r>
              <a:rPr kumimoji="0" lang="ru-RU" altLang="ru-RU" sz="1600" b="0" i="0" u="none" strike="noStrike" cap="none" normalizeH="0" baseline="0" dirty="0">
                <a:ln>
                  <a:noFill/>
                </a:ln>
                <a:solidFill>
                  <a:srgbClr val="000000"/>
                </a:solidFill>
                <a:effectLst/>
                <a:latin typeface="Lucida Console" panose="020B0609040504020204" pitchFamily="49" charset="0"/>
              </a:rPr>
              <a:t> </a:t>
            </a:r>
            <a:r>
              <a:rPr kumimoji="0" lang="ru-RU" altLang="ru-RU" sz="1600" b="0" i="0" u="none" strike="noStrike" cap="none" normalizeH="0" baseline="0" dirty="0" err="1">
                <a:ln>
                  <a:noFill/>
                </a:ln>
                <a:solidFill>
                  <a:srgbClr val="000000"/>
                </a:solidFill>
                <a:effectLst/>
                <a:latin typeface="Lucida Console" panose="020B0609040504020204" pitchFamily="49" charset="0"/>
              </a:rPr>
              <a:t>is</a:t>
            </a:r>
            <a:r>
              <a:rPr kumimoji="0" lang="ru-RU" altLang="ru-RU" sz="1600" b="0" i="0" u="none" strike="noStrike" cap="none" normalizeH="0" baseline="0" dirty="0">
                <a:ln>
                  <a:noFill/>
                </a:ln>
                <a:solidFill>
                  <a:srgbClr val="000000"/>
                </a:solidFill>
                <a:effectLst/>
                <a:latin typeface="Lucida Console" panose="020B0609040504020204" pitchFamily="49" charset="0"/>
              </a:rPr>
              <a:t> </a:t>
            </a:r>
            <a:r>
              <a:rPr kumimoji="0" lang="ru-RU" altLang="ru-RU" sz="1600" b="0" i="0" u="none" strike="noStrike" cap="none" normalizeH="0" baseline="0" dirty="0" err="1">
                <a:ln>
                  <a:noFill/>
                </a:ln>
                <a:solidFill>
                  <a:srgbClr val="000000"/>
                </a:solidFill>
                <a:effectLst/>
                <a:latin typeface="Lucida Console" panose="020B0609040504020204" pitchFamily="49" charset="0"/>
              </a:rPr>
              <a:t>not</a:t>
            </a:r>
            <a:r>
              <a:rPr kumimoji="0" lang="ru-RU" altLang="ru-RU" sz="1600" b="0" i="0" u="none" strike="noStrike" cap="none" normalizeH="0" baseline="0" dirty="0">
                <a:ln>
                  <a:noFill/>
                </a:ln>
                <a:solidFill>
                  <a:srgbClr val="000000"/>
                </a:solidFill>
                <a:effectLst/>
                <a:latin typeface="Lucida Console" panose="020B0609040504020204" pitchFamily="49" charset="0"/>
              </a:rPr>
              <a:t> </a:t>
            </a:r>
            <a:r>
              <a:rPr kumimoji="0" lang="ru-RU" altLang="ru-RU" sz="1600" b="0" i="0" u="none" strike="noStrike" cap="none" normalizeH="0" baseline="0" dirty="0" err="1">
                <a:ln>
                  <a:noFill/>
                </a:ln>
                <a:solidFill>
                  <a:srgbClr val="000000"/>
                </a:solidFill>
                <a:effectLst/>
                <a:latin typeface="Lucida Console" panose="020B0609040504020204" pitchFamily="49" charset="0"/>
              </a:rPr>
              <a:t>equal</a:t>
            </a:r>
            <a:r>
              <a:rPr kumimoji="0" lang="ru-RU" altLang="ru-RU" sz="1600" b="0" i="0" u="none" strike="noStrike" cap="none" normalizeH="0" baseline="0" dirty="0">
                <a:ln>
                  <a:noFill/>
                </a:ln>
                <a:solidFill>
                  <a:srgbClr val="000000"/>
                </a:solidFill>
                <a:effectLst/>
                <a:latin typeface="Lucida Console" panose="020B0609040504020204" pitchFamily="49" charset="0"/>
              </a:rPr>
              <a:t> </a:t>
            </a:r>
            <a:r>
              <a:rPr kumimoji="0" lang="ru-RU" altLang="ru-RU" sz="1600" b="0" i="0" u="none" strike="noStrike" cap="none" normalizeH="0" baseline="0" dirty="0" err="1">
                <a:ln>
                  <a:noFill/>
                </a:ln>
                <a:solidFill>
                  <a:srgbClr val="000000"/>
                </a:solidFill>
                <a:effectLst/>
                <a:latin typeface="Lucida Console" panose="020B0609040504020204" pitchFamily="49" charset="0"/>
              </a:rPr>
              <a:t>to</a:t>
            </a:r>
            <a:r>
              <a:rPr kumimoji="0" lang="ru-RU" altLang="ru-RU" sz="1600" b="0" i="0" u="none" strike="noStrike" cap="none" normalizeH="0" baseline="0" dirty="0">
                <a:ln>
                  <a:noFill/>
                </a:ln>
                <a:solidFill>
                  <a:srgbClr val="000000"/>
                </a:solidFill>
                <a:effectLst/>
                <a:latin typeface="Lucida Console" panose="020B0609040504020204" pitchFamily="49" charset="0"/>
              </a:rPr>
              <a:t> 1 </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1600" b="0" i="0" u="none" strike="noStrike" cap="none" normalizeH="0" baseline="0" dirty="0">
                <a:ln>
                  <a:noFill/>
                </a:ln>
                <a:solidFill>
                  <a:srgbClr val="000000"/>
                </a:solidFill>
                <a:effectLst/>
                <a:latin typeface="Lucida Console" panose="020B0609040504020204" pitchFamily="49" charset="0"/>
              </a:rPr>
              <a:t>95 </a:t>
            </a:r>
            <a:r>
              <a:rPr kumimoji="0" lang="ru-RU" altLang="ru-RU" sz="1600" b="0" i="0" u="none" strike="noStrike" cap="none" normalizeH="0" baseline="0" dirty="0" err="1">
                <a:ln>
                  <a:noFill/>
                </a:ln>
                <a:solidFill>
                  <a:srgbClr val="000000"/>
                </a:solidFill>
                <a:effectLst/>
                <a:latin typeface="Lucida Console" panose="020B0609040504020204" pitchFamily="49" charset="0"/>
              </a:rPr>
              <a:t>percent</a:t>
            </a:r>
            <a:r>
              <a:rPr kumimoji="0" lang="ru-RU" altLang="ru-RU" sz="1600" b="0" i="0" u="none" strike="noStrike" cap="none" normalizeH="0" baseline="0" dirty="0">
                <a:ln>
                  <a:noFill/>
                </a:ln>
                <a:solidFill>
                  <a:srgbClr val="000000"/>
                </a:solidFill>
                <a:effectLst/>
                <a:latin typeface="Lucida Console" panose="020B0609040504020204" pitchFamily="49" charset="0"/>
              </a:rPr>
              <a:t> </a:t>
            </a:r>
            <a:r>
              <a:rPr kumimoji="0" lang="ru-RU" altLang="ru-RU" sz="1600" b="0" i="0" u="none" strike="noStrike" cap="none" normalizeH="0" baseline="0" dirty="0" err="1">
                <a:ln>
                  <a:noFill/>
                </a:ln>
                <a:solidFill>
                  <a:srgbClr val="000000"/>
                </a:solidFill>
                <a:effectLst/>
                <a:latin typeface="Lucida Console" panose="020B0609040504020204" pitchFamily="49" charset="0"/>
              </a:rPr>
              <a:t>confidence</a:t>
            </a:r>
            <a:r>
              <a:rPr kumimoji="0" lang="ru-RU" altLang="ru-RU" sz="1600" b="0" i="0" u="none" strike="noStrike" cap="none" normalizeH="0" baseline="0" dirty="0">
                <a:ln>
                  <a:noFill/>
                </a:ln>
                <a:solidFill>
                  <a:srgbClr val="000000"/>
                </a:solidFill>
                <a:effectLst/>
                <a:latin typeface="Lucida Console" panose="020B0609040504020204" pitchFamily="49" charset="0"/>
              </a:rPr>
              <a:t> </a:t>
            </a:r>
            <a:r>
              <a:rPr kumimoji="0" lang="ru-RU" altLang="ru-RU" sz="1600" b="0" i="0" u="none" strike="noStrike" cap="none" normalizeH="0" baseline="0" dirty="0" err="1">
                <a:ln>
                  <a:noFill/>
                </a:ln>
                <a:solidFill>
                  <a:srgbClr val="000000"/>
                </a:solidFill>
                <a:effectLst/>
                <a:latin typeface="Lucida Console" panose="020B0609040504020204" pitchFamily="49" charset="0"/>
              </a:rPr>
              <a:t>interval</a:t>
            </a:r>
            <a:r>
              <a:rPr kumimoji="0" lang="ru-RU" altLang="ru-RU" sz="1600" b="0" i="0" u="none" strike="noStrike" cap="none" normalizeH="0" baseline="0" dirty="0">
                <a:ln>
                  <a:noFill/>
                </a:ln>
                <a:solidFill>
                  <a:srgbClr val="000000"/>
                </a:solidFill>
                <a:effectLst/>
                <a:latin typeface="Lucida Console" panose="020B0609040504020204" pitchFamily="49" charset="0"/>
              </a:rPr>
              <a:t>: 0.0130943 1.8397543 </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1600" b="0" i="0" u="none" strike="noStrike" cap="none" normalizeH="0" baseline="0" dirty="0" err="1">
                <a:ln>
                  <a:noFill/>
                </a:ln>
                <a:solidFill>
                  <a:srgbClr val="000000"/>
                </a:solidFill>
                <a:effectLst/>
                <a:latin typeface="Lucida Console" panose="020B0609040504020204" pitchFamily="49" charset="0"/>
              </a:rPr>
              <a:t>sample</a:t>
            </a:r>
            <a:r>
              <a:rPr kumimoji="0" lang="ru-RU" altLang="ru-RU" sz="1600" b="0" i="0" u="none" strike="noStrike" cap="none" normalizeH="0" baseline="0" dirty="0">
                <a:ln>
                  <a:noFill/>
                </a:ln>
                <a:solidFill>
                  <a:srgbClr val="000000"/>
                </a:solidFill>
                <a:effectLst/>
                <a:latin typeface="Lucida Console" panose="020B0609040504020204" pitchFamily="49" charset="0"/>
              </a:rPr>
              <a:t> </a:t>
            </a:r>
            <a:r>
              <a:rPr kumimoji="0" lang="ru-RU" altLang="ru-RU" sz="1600" b="0" i="0" u="none" strike="noStrike" cap="none" normalizeH="0" baseline="0" dirty="0" err="1">
                <a:ln>
                  <a:noFill/>
                </a:ln>
                <a:solidFill>
                  <a:srgbClr val="000000"/>
                </a:solidFill>
                <a:effectLst/>
                <a:latin typeface="Lucida Console" panose="020B0609040504020204" pitchFamily="49" charset="0"/>
              </a:rPr>
              <a:t>estimates</a:t>
            </a:r>
            <a:r>
              <a:rPr kumimoji="0" lang="ru-RU" altLang="ru-RU" sz="1600" b="0" i="0" u="none" strike="noStrike" cap="none" normalizeH="0" baseline="0" dirty="0">
                <a:ln>
                  <a:noFill/>
                </a:ln>
                <a:solidFill>
                  <a:srgbClr val="000000"/>
                </a:solidFill>
                <a:effectLst/>
                <a:latin typeface="Lucida Console" panose="020B0609040504020204" pitchFamily="49" charset="0"/>
              </a:rPr>
              <a:t>: </a:t>
            </a:r>
            <a:r>
              <a:rPr kumimoji="0" lang="ru-RU" altLang="ru-RU" sz="1600" b="0" i="0" u="none" strike="noStrike" cap="none" normalizeH="0" baseline="0" dirty="0" err="1">
                <a:ln>
                  <a:noFill/>
                </a:ln>
                <a:solidFill>
                  <a:srgbClr val="000000"/>
                </a:solidFill>
                <a:effectLst/>
                <a:latin typeface="Lucida Console" panose="020B0609040504020204" pitchFamily="49" charset="0"/>
              </a:rPr>
              <a:t>odds</a:t>
            </a:r>
            <a:r>
              <a:rPr kumimoji="0" lang="ru-RU" altLang="ru-RU" sz="1600" b="0" i="0" u="none" strike="noStrike" cap="none" normalizeH="0" baseline="0" dirty="0">
                <a:ln>
                  <a:noFill/>
                </a:ln>
                <a:solidFill>
                  <a:srgbClr val="000000"/>
                </a:solidFill>
                <a:effectLst/>
                <a:latin typeface="Lucida Console" panose="020B0609040504020204" pitchFamily="49" charset="0"/>
              </a:rPr>
              <a:t> </a:t>
            </a:r>
            <a:r>
              <a:rPr kumimoji="0" lang="ru-RU" altLang="ru-RU" sz="1600" b="0" i="0" u="none" strike="noStrike" cap="none" normalizeH="0" baseline="0" dirty="0" err="1">
                <a:ln>
                  <a:noFill/>
                </a:ln>
                <a:solidFill>
                  <a:srgbClr val="000000"/>
                </a:solidFill>
                <a:effectLst/>
                <a:latin typeface="Lucida Console" panose="020B0609040504020204" pitchFamily="49" charset="0"/>
              </a:rPr>
              <a:t>ratio</a:t>
            </a:r>
            <a:r>
              <a:rPr kumimoji="0" lang="ru-RU" altLang="ru-RU" sz="1600" b="0" i="0" u="none" strike="noStrike" cap="none" normalizeH="0" baseline="0" dirty="0">
                <a:ln>
                  <a:noFill/>
                </a:ln>
                <a:solidFill>
                  <a:srgbClr val="000000"/>
                </a:solidFill>
                <a:effectLst/>
                <a:latin typeface="Lucida Console" panose="020B0609040504020204" pitchFamily="49" charset="0"/>
              </a:rPr>
              <a:t> 0.1957871 </a:t>
            </a:r>
            <a:endParaRPr kumimoji="0" lang="ru-RU" altLang="ru-RU" sz="1600" b="0" i="0" u="none" strike="noStrike" cap="none" normalizeH="0" baseline="0" dirty="0">
              <a:ln>
                <a:noFill/>
              </a:ln>
              <a:solidFill>
                <a:schemeClr val="tx1"/>
              </a:solidFill>
              <a:effectLst/>
            </a:endParaRPr>
          </a:p>
        </p:txBody>
      </p:sp>
      <p:pic>
        <p:nvPicPr>
          <p:cNvPr id="9" name="Рисунок 8">
            <a:extLst>
              <a:ext uri="{FF2B5EF4-FFF2-40B4-BE49-F238E27FC236}">
                <a16:creationId xmlns:a16="http://schemas.microsoft.com/office/drawing/2014/main" id="{F3B9A224-1349-45D8-8C31-5DECF21841B1}"/>
              </a:ext>
            </a:extLst>
          </p:cNvPr>
          <p:cNvPicPr>
            <a:picLocks noChangeAspect="1"/>
          </p:cNvPicPr>
          <p:nvPr/>
        </p:nvPicPr>
        <p:blipFill>
          <a:blip r:embed="rId2"/>
          <a:stretch>
            <a:fillRect/>
          </a:stretch>
        </p:blipFill>
        <p:spPr>
          <a:xfrm>
            <a:off x="8842452" y="2472144"/>
            <a:ext cx="2971916" cy="863810"/>
          </a:xfrm>
          <a:prstGeom prst="rect">
            <a:avLst/>
          </a:prstGeom>
        </p:spPr>
      </p:pic>
    </p:spTree>
    <p:extLst>
      <p:ext uri="{BB962C8B-B14F-4D97-AF65-F5344CB8AC3E}">
        <p14:creationId xmlns:p14="http://schemas.microsoft.com/office/powerpoint/2010/main" val="29564359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4"/>
          <p:cNvSpPr>
            <a:spLocks noChangeArrowheads="1"/>
          </p:cNvSpPr>
          <p:nvPr/>
        </p:nvSpPr>
        <p:spPr bwMode="auto">
          <a:xfrm>
            <a:off x="1438275" y="322263"/>
            <a:ext cx="10872514" cy="6553200"/>
          </a:xfrm>
          <a:prstGeom prst="roundRect">
            <a:avLst>
              <a:gd name="adj" fmla="val 16667"/>
            </a:avLst>
          </a:prstGeom>
          <a:solidFill>
            <a:schemeClr val="bg1">
              <a:alpha val="50195"/>
            </a:scheme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6" name="AutoShape 5"/>
          <p:cNvSpPr>
            <a:spLocks noChangeArrowheads="1"/>
          </p:cNvSpPr>
          <p:nvPr/>
        </p:nvSpPr>
        <p:spPr bwMode="auto">
          <a:xfrm>
            <a:off x="2373685" y="322263"/>
            <a:ext cx="8064128" cy="850960"/>
          </a:xfrm>
          <a:prstGeom prst="roundRect">
            <a:avLst>
              <a:gd name="adj" fmla="val 37469"/>
            </a:avLst>
          </a:prstGeom>
          <a:solidFill>
            <a:srgbClr val="FFFFFF">
              <a:alpha val="78822"/>
            </a:srgb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2" name="Прямоугольник 1"/>
          <p:cNvSpPr/>
          <p:nvPr/>
        </p:nvSpPr>
        <p:spPr>
          <a:xfrm>
            <a:off x="1797621" y="270690"/>
            <a:ext cx="9793088" cy="461665"/>
          </a:xfrm>
          <a:prstGeom prst="rect">
            <a:avLst/>
          </a:prstGeom>
        </p:spPr>
        <p:txBody>
          <a:bodyPr wrap="square">
            <a:spAutoFit/>
          </a:bodyPr>
          <a:lstStyle/>
          <a:p>
            <a:r>
              <a:rPr lang="ru-RU" sz="2400" b="1" dirty="0"/>
              <a:t>Ранговая корреляция </a:t>
            </a:r>
            <a:r>
              <a:rPr lang="ru-RU" sz="2400" b="1" dirty="0" err="1"/>
              <a:t>Спирмена</a:t>
            </a:r>
            <a:r>
              <a:rPr lang="ru-RU" sz="2400" b="1" dirty="0"/>
              <a:t> (</a:t>
            </a:r>
            <a:r>
              <a:rPr lang="en-US" sz="2400" b="1" dirty="0"/>
              <a:t>Spearman's Rank Correlation)</a:t>
            </a:r>
          </a:p>
        </p:txBody>
      </p:sp>
      <p:sp>
        <p:nvSpPr>
          <p:cNvPr id="4" name="Номер слайда 3"/>
          <p:cNvSpPr>
            <a:spLocks noGrp="1"/>
          </p:cNvSpPr>
          <p:nvPr>
            <p:ph type="sldNum" sz="quarter" idx="12"/>
          </p:nvPr>
        </p:nvSpPr>
        <p:spPr/>
        <p:txBody>
          <a:bodyPr/>
          <a:lstStyle/>
          <a:p>
            <a:fld id="{952B6C0E-C4B9-4094-8E59-5B7DF00D5415}" type="slidenum">
              <a:rPr lang="ru-RU" sz="1400">
                <a:solidFill>
                  <a:schemeClr val="tx1"/>
                </a:solidFill>
              </a:rPr>
              <a:t>126</a:t>
            </a:fld>
            <a:endParaRPr lang="ru-RU" dirty="0">
              <a:solidFill>
                <a:schemeClr val="tx1"/>
              </a:solidFill>
            </a:endParaRPr>
          </a:p>
        </p:txBody>
      </p:sp>
      <p:sp>
        <p:nvSpPr>
          <p:cNvPr id="13" name="TextBox 12">
            <a:extLst>
              <a:ext uri="{FF2B5EF4-FFF2-40B4-BE49-F238E27FC236}">
                <a16:creationId xmlns:a16="http://schemas.microsoft.com/office/drawing/2014/main" id="{DA0107E7-2CAE-48CA-9412-3754E400696F}"/>
              </a:ext>
            </a:extLst>
          </p:cNvPr>
          <p:cNvSpPr txBox="1"/>
          <p:nvPr/>
        </p:nvSpPr>
        <p:spPr>
          <a:xfrm>
            <a:off x="1326908" y="2043080"/>
            <a:ext cx="8565458" cy="1631216"/>
          </a:xfrm>
          <a:prstGeom prst="rect">
            <a:avLst/>
          </a:prstGeom>
          <a:noFill/>
        </p:spPr>
        <p:txBody>
          <a:bodyPr wrap="square">
            <a:spAutoFit/>
          </a:bodyPr>
          <a:lstStyle/>
          <a:p>
            <a:r>
              <a:rPr lang="ru-RU" dirty="0">
                <a:solidFill>
                  <a:srgbClr val="0070C0"/>
                </a:solidFill>
              </a:rPr>
              <a:t># Оценки критика №1 и критика №2</a:t>
            </a:r>
          </a:p>
          <a:p>
            <a:r>
              <a:rPr lang="en-US" dirty="0">
                <a:solidFill>
                  <a:srgbClr val="0070C0"/>
                </a:solidFill>
              </a:rPr>
              <a:t>critic1 &lt;- c(5, 7, 8, 6, 9, 10, 4, 7, 8)</a:t>
            </a:r>
          </a:p>
          <a:p>
            <a:r>
              <a:rPr lang="en-US" dirty="0">
                <a:solidFill>
                  <a:srgbClr val="0070C0"/>
                </a:solidFill>
              </a:rPr>
              <a:t>critic2 &lt;- c(6, 8, 7, 5, 9, 9, 3, 6, 10)</a:t>
            </a:r>
          </a:p>
          <a:p>
            <a:r>
              <a:rPr lang="en-US" dirty="0">
                <a:solidFill>
                  <a:srgbClr val="0070C0"/>
                </a:solidFill>
              </a:rPr>
              <a:t># </a:t>
            </a:r>
            <a:r>
              <a:rPr lang="ru-RU" dirty="0">
                <a:solidFill>
                  <a:srgbClr val="0070C0"/>
                </a:solidFill>
              </a:rPr>
              <a:t>Выполняем тест</a:t>
            </a:r>
          </a:p>
          <a:p>
            <a:r>
              <a:rPr lang="en-US" dirty="0" err="1">
                <a:solidFill>
                  <a:srgbClr val="0070C0"/>
                </a:solidFill>
              </a:rPr>
              <a:t>cor.test</a:t>
            </a:r>
            <a:r>
              <a:rPr lang="en-US" dirty="0">
                <a:solidFill>
                  <a:srgbClr val="0070C0"/>
                </a:solidFill>
              </a:rPr>
              <a:t>(critic1, critic2, method = "spearman")</a:t>
            </a:r>
            <a:endParaRPr lang="ru-RU" dirty="0">
              <a:solidFill>
                <a:srgbClr val="0070C0"/>
              </a:solidFill>
            </a:endParaRPr>
          </a:p>
        </p:txBody>
      </p:sp>
      <p:sp>
        <p:nvSpPr>
          <p:cNvPr id="14" name="Rectangle 4">
            <a:extLst>
              <a:ext uri="{FF2B5EF4-FFF2-40B4-BE49-F238E27FC236}">
                <a16:creationId xmlns:a16="http://schemas.microsoft.com/office/drawing/2014/main" id="{14B4CF82-607F-4FD1-84F9-D249EEFDDA93}"/>
              </a:ext>
            </a:extLst>
          </p:cNvPr>
          <p:cNvSpPr>
            <a:spLocks noChangeArrowheads="1"/>
          </p:cNvSpPr>
          <p:nvPr/>
        </p:nvSpPr>
        <p:spPr bwMode="auto">
          <a:xfrm>
            <a:off x="1393403" y="5653276"/>
            <a:ext cx="9881444"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b="1" i="0" u="none" strike="noStrike" cap="none" normalizeH="0" baseline="0" dirty="0">
                <a:ln>
                  <a:noFill/>
                </a:ln>
                <a:solidFill>
                  <a:schemeClr val="tx1"/>
                </a:solidFill>
                <a:effectLst/>
              </a:rPr>
              <a:t>Что означает результат: </a:t>
            </a:r>
            <a:endParaRPr kumimoji="0" lang="en-US" altLang="ru-RU" b="1"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lang="ru-RU" dirty="0"/>
              <a:t>Сильная положительная связь подтверждена статистически, взгляды критиков согласованы.</a:t>
            </a:r>
            <a:endParaRPr kumimoji="0" lang="ru-RU" altLang="ru-RU" i="0" u="none" strike="noStrike" cap="none" normalizeH="0" baseline="0" dirty="0">
              <a:ln>
                <a:noFill/>
              </a:ln>
              <a:solidFill>
                <a:schemeClr val="tx1"/>
              </a:solidFill>
              <a:effectLst/>
            </a:endParaRPr>
          </a:p>
        </p:txBody>
      </p:sp>
      <p:sp>
        <p:nvSpPr>
          <p:cNvPr id="12" name="TextBox 11">
            <a:extLst>
              <a:ext uri="{FF2B5EF4-FFF2-40B4-BE49-F238E27FC236}">
                <a16:creationId xmlns:a16="http://schemas.microsoft.com/office/drawing/2014/main" id="{04BDA940-A47E-4F6D-B639-8F848E4796B0}"/>
              </a:ext>
            </a:extLst>
          </p:cNvPr>
          <p:cNvSpPr txBox="1"/>
          <p:nvPr/>
        </p:nvSpPr>
        <p:spPr>
          <a:xfrm>
            <a:off x="1298695" y="1047747"/>
            <a:ext cx="11012094" cy="707886"/>
          </a:xfrm>
          <a:prstGeom prst="rect">
            <a:avLst/>
          </a:prstGeom>
          <a:noFill/>
        </p:spPr>
        <p:txBody>
          <a:bodyPr wrap="square">
            <a:spAutoFit/>
          </a:bodyPr>
          <a:lstStyle/>
          <a:p>
            <a:r>
              <a:rPr lang="ru-RU" b="1" dirty="0"/>
              <a:t>Задача: </a:t>
            </a:r>
            <a:r>
              <a:rPr lang="ru-RU" dirty="0"/>
              <a:t>измерить связь между оценками двух кинокритиков, выставивших баллы одним и тем же фильмам, когда данные имеют порядковую шкалу</a:t>
            </a:r>
          </a:p>
        </p:txBody>
      </p:sp>
      <p:sp>
        <p:nvSpPr>
          <p:cNvPr id="3" name="Rectangle 1">
            <a:extLst>
              <a:ext uri="{FF2B5EF4-FFF2-40B4-BE49-F238E27FC236}">
                <a16:creationId xmlns:a16="http://schemas.microsoft.com/office/drawing/2014/main" id="{5E06E694-1E3F-47FA-BAFA-229AD4A214D9}"/>
              </a:ext>
            </a:extLst>
          </p:cNvPr>
          <p:cNvSpPr>
            <a:spLocks noChangeArrowheads="1"/>
          </p:cNvSpPr>
          <p:nvPr/>
        </p:nvSpPr>
        <p:spPr bwMode="auto">
          <a:xfrm>
            <a:off x="4808260" y="3709919"/>
            <a:ext cx="6421715" cy="196977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ru-RU" sz="1600" b="0" i="0" u="none" strike="noStrike" cap="none" normalizeH="0" baseline="0" dirty="0">
                <a:ln>
                  <a:noFill/>
                </a:ln>
                <a:solidFill>
                  <a:srgbClr val="000000"/>
                </a:solidFill>
                <a:effectLst/>
                <a:latin typeface="Lucida Console" panose="020B0609040504020204" pitchFamily="49" charset="0"/>
              </a:rPr>
              <a:t>Spearman's rank correlation rho</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ru-RU" sz="1600" b="0" i="0" u="none" strike="noStrike" cap="none" normalizeH="0" baseline="0" dirty="0">
              <a:ln>
                <a:noFill/>
              </a:ln>
              <a:solidFill>
                <a:srgbClr val="000000"/>
              </a:solidFill>
              <a:effectLst/>
              <a:latin typeface="Lucida Console" panose="020B060904050402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ru-RU" sz="1600" b="0" i="0" u="none" strike="noStrike" cap="none" normalizeH="0" baseline="0" dirty="0">
                <a:ln>
                  <a:noFill/>
                </a:ln>
                <a:solidFill>
                  <a:srgbClr val="000000"/>
                </a:solidFill>
                <a:effectLst/>
                <a:latin typeface="Lucida Console" panose="020B0609040504020204" pitchFamily="49" charset="0"/>
              </a:rPr>
              <a:t>data:  critic1 and critic2</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ru-RU" sz="1600" b="0" i="0" u="none" strike="noStrike" cap="none" normalizeH="0" baseline="0" dirty="0">
                <a:ln>
                  <a:noFill/>
                </a:ln>
                <a:solidFill>
                  <a:srgbClr val="000000"/>
                </a:solidFill>
                <a:effectLst/>
                <a:latin typeface="Lucida Console" panose="020B0609040504020204" pitchFamily="49" charset="0"/>
              </a:rPr>
              <a:t>S = 17.797, p-value = 0.003567</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ru-RU" sz="1600" b="0" i="0" u="none" strike="noStrike" cap="none" normalizeH="0" baseline="0" dirty="0">
                <a:ln>
                  <a:noFill/>
                </a:ln>
                <a:solidFill>
                  <a:srgbClr val="000000"/>
                </a:solidFill>
                <a:effectLst/>
                <a:latin typeface="Lucida Console" panose="020B0609040504020204" pitchFamily="49" charset="0"/>
              </a:rPr>
              <a:t>alternative hypothesis: true rho is not equal to 0</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ru-RU" sz="1600" b="0" i="0" u="none" strike="noStrike" cap="none" normalizeH="0" baseline="0" dirty="0">
                <a:ln>
                  <a:noFill/>
                </a:ln>
                <a:solidFill>
                  <a:srgbClr val="000000"/>
                </a:solidFill>
                <a:effectLst/>
                <a:latin typeface="Lucida Console" panose="020B0609040504020204" pitchFamily="49" charset="0"/>
              </a:rPr>
              <a:t>sample estimates: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ru-RU" sz="1600" b="0" i="0" u="none" strike="noStrike" cap="none" normalizeH="0" baseline="0" dirty="0">
                <a:ln>
                  <a:noFill/>
                </a:ln>
                <a:solidFill>
                  <a:srgbClr val="000000"/>
                </a:solidFill>
                <a:effectLst/>
                <a:latin typeface="Lucida Console" panose="020B0609040504020204" pitchFamily="49" charset="0"/>
              </a:rPr>
              <a:t>      rho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ru-RU" sz="1600" b="0" i="0" u="none" strike="noStrike" cap="none" normalizeH="0" baseline="0" dirty="0">
                <a:ln>
                  <a:noFill/>
                </a:ln>
                <a:solidFill>
                  <a:srgbClr val="000000"/>
                </a:solidFill>
                <a:effectLst/>
                <a:latin typeface="Lucida Console" panose="020B0609040504020204" pitchFamily="49" charset="0"/>
              </a:rPr>
              <a:t>0.8516949 </a:t>
            </a:r>
            <a:endParaRPr kumimoji="0" lang="ru-RU" altLang="ru-RU" sz="1600"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18245028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4"/>
          <p:cNvSpPr>
            <a:spLocks noChangeArrowheads="1"/>
          </p:cNvSpPr>
          <p:nvPr/>
        </p:nvSpPr>
        <p:spPr bwMode="auto">
          <a:xfrm>
            <a:off x="1438275" y="322263"/>
            <a:ext cx="11016529" cy="6553200"/>
          </a:xfrm>
          <a:prstGeom prst="roundRect">
            <a:avLst>
              <a:gd name="adj" fmla="val 16667"/>
            </a:avLst>
          </a:prstGeom>
          <a:solidFill>
            <a:schemeClr val="bg1">
              <a:alpha val="50195"/>
            </a:scheme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6" name="AutoShape 5"/>
          <p:cNvSpPr>
            <a:spLocks noChangeArrowheads="1"/>
          </p:cNvSpPr>
          <p:nvPr/>
        </p:nvSpPr>
        <p:spPr bwMode="auto">
          <a:xfrm>
            <a:off x="2373685" y="322263"/>
            <a:ext cx="8064128" cy="850960"/>
          </a:xfrm>
          <a:prstGeom prst="roundRect">
            <a:avLst>
              <a:gd name="adj" fmla="val 37469"/>
            </a:avLst>
          </a:prstGeom>
          <a:solidFill>
            <a:srgbClr val="FFFFFF">
              <a:alpha val="78822"/>
            </a:srgb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2" name="Прямоугольник 1"/>
          <p:cNvSpPr/>
          <p:nvPr/>
        </p:nvSpPr>
        <p:spPr>
          <a:xfrm>
            <a:off x="2535239" y="270690"/>
            <a:ext cx="7597775" cy="954107"/>
          </a:xfrm>
          <a:prstGeom prst="rect">
            <a:avLst/>
          </a:prstGeom>
        </p:spPr>
        <p:txBody>
          <a:bodyPr wrap="square">
            <a:spAutoFit/>
          </a:bodyPr>
          <a:lstStyle/>
          <a:p>
            <a:pPr algn="ctr"/>
            <a:r>
              <a:rPr lang="ru-RU" sz="2800" dirty="0">
                <a:solidFill>
                  <a:schemeClr val="tx2"/>
                </a:solidFill>
                <a:latin typeface="+mj-lt"/>
                <a:ea typeface="+mj-ea"/>
                <a:cs typeface="+mj-cs"/>
              </a:rPr>
              <a:t>Параметрический или непараметрический критерий различия?</a:t>
            </a:r>
          </a:p>
        </p:txBody>
      </p:sp>
      <p:pic>
        <p:nvPicPr>
          <p:cNvPr id="4" name="Рисунок 3"/>
          <p:cNvPicPr>
            <a:picLocks noChangeAspect="1"/>
          </p:cNvPicPr>
          <p:nvPr/>
        </p:nvPicPr>
        <p:blipFill>
          <a:blip r:embed="rId2"/>
          <a:stretch>
            <a:fillRect/>
          </a:stretch>
        </p:blipFill>
        <p:spPr>
          <a:xfrm>
            <a:off x="2535238" y="1220723"/>
            <a:ext cx="7560072" cy="4864524"/>
          </a:xfrm>
          <a:prstGeom prst="rect">
            <a:avLst/>
          </a:prstGeom>
        </p:spPr>
      </p:pic>
      <p:sp>
        <p:nvSpPr>
          <p:cNvPr id="3" name="Номер слайда 2"/>
          <p:cNvSpPr>
            <a:spLocks noGrp="1"/>
          </p:cNvSpPr>
          <p:nvPr>
            <p:ph type="sldNum" sz="quarter" idx="12"/>
          </p:nvPr>
        </p:nvSpPr>
        <p:spPr/>
        <p:txBody>
          <a:bodyPr/>
          <a:lstStyle/>
          <a:p>
            <a:fld id="{952B6C0E-C4B9-4094-8E59-5B7DF00D5415}" type="slidenum">
              <a:rPr lang="ru-RU" sz="1400">
                <a:solidFill>
                  <a:schemeClr val="tx1"/>
                </a:solidFill>
              </a:rPr>
              <a:t>127</a:t>
            </a:fld>
            <a:endParaRPr lang="ru-RU" sz="1400" dirty="0">
              <a:solidFill>
                <a:schemeClr val="tx1"/>
              </a:solidFill>
            </a:endParaRPr>
          </a:p>
        </p:txBody>
      </p:sp>
      <p:sp>
        <p:nvSpPr>
          <p:cNvPr id="8" name="Rectangle 1"/>
          <p:cNvSpPr>
            <a:spLocks noChangeArrowheads="1"/>
          </p:cNvSpPr>
          <p:nvPr/>
        </p:nvSpPr>
        <p:spPr bwMode="auto">
          <a:xfrm>
            <a:off x="8196995" y="5471919"/>
            <a:ext cx="2724292" cy="285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hangingPunct="0"/>
            <a:r>
              <a:rPr lang="ru-RU" altLang="ru-RU" sz="1200" dirty="0" err="1">
                <a:solidFill>
                  <a:srgbClr val="0000FF"/>
                </a:solidFill>
                <a:latin typeface="+mn-lt"/>
              </a:rPr>
              <a:t>wilcox.test</a:t>
            </a:r>
            <a:r>
              <a:rPr lang="ru-RU" altLang="ru-RU" sz="1200" dirty="0">
                <a:solidFill>
                  <a:srgbClr val="0000FF"/>
                </a:solidFill>
                <a:latin typeface="+mn-lt"/>
              </a:rPr>
              <a:t>(</a:t>
            </a:r>
            <a:r>
              <a:rPr lang="ru-RU" altLang="ru-RU" sz="1200" dirty="0">
                <a:solidFill>
                  <a:srgbClr val="800080"/>
                </a:solidFill>
                <a:latin typeface="+mn-lt"/>
              </a:rPr>
              <a:t>"выборка_1", "выборка_2"</a:t>
            </a:r>
            <a:r>
              <a:rPr lang="ru-RU" altLang="ru-RU" sz="1200" dirty="0">
                <a:solidFill>
                  <a:srgbClr val="0000FF"/>
                </a:solidFill>
                <a:latin typeface="+mn-lt"/>
              </a:rPr>
              <a:t>)</a:t>
            </a:r>
            <a:r>
              <a:rPr lang="ru-RU" altLang="ru-RU" sz="1100" dirty="0">
                <a:latin typeface="+mn-lt"/>
              </a:rPr>
              <a:t> </a:t>
            </a:r>
            <a:endParaRPr lang="ru-RU" altLang="ru-RU" sz="2800" dirty="0">
              <a:latin typeface="+mn-lt"/>
            </a:endParaRPr>
          </a:p>
        </p:txBody>
      </p:sp>
      <p:sp>
        <p:nvSpPr>
          <p:cNvPr id="9" name="Rectangle 1"/>
          <p:cNvSpPr>
            <a:spLocks noChangeArrowheads="1"/>
          </p:cNvSpPr>
          <p:nvPr/>
        </p:nvSpPr>
        <p:spPr bwMode="auto">
          <a:xfrm>
            <a:off x="3272086" y="6029318"/>
            <a:ext cx="370047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hangingPunct="0"/>
            <a:r>
              <a:rPr lang="ru-RU" altLang="ru-RU" sz="1200" dirty="0" err="1">
                <a:solidFill>
                  <a:srgbClr val="0000FF"/>
                </a:solidFill>
                <a:latin typeface="+mn-lt"/>
              </a:rPr>
              <a:t>wilcox.test</a:t>
            </a:r>
            <a:r>
              <a:rPr lang="ru-RU" altLang="ru-RU" sz="1200" dirty="0">
                <a:solidFill>
                  <a:srgbClr val="0000FF"/>
                </a:solidFill>
                <a:latin typeface="+mn-lt"/>
              </a:rPr>
              <a:t>(</a:t>
            </a:r>
            <a:r>
              <a:rPr lang="ru-RU" altLang="ru-RU" sz="1200" dirty="0">
                <a:solidFill>
                  <a:srgbClr val="800080"/>
                </a:solidFill>
                <a:latin typeface="+mn-lt"/>
              </a:rPr>
              <a:t>"выборка_1", "выборка_2“</a:t>
            </a:r>
            <a:r>
              <a:rPr lang="en-US" altLang="ru-RU" sz="1200" dirty="0">
                <a:solidFill>
                  <a:srgbClr val="800080"/>
                </a:solidFill>
                <a:latin typeface="+mn-lt"/>
              </a:rPr>
              <a:t>, paired = T</a:t>
            </a:r>
            <a:r>
              <a:rPr lang="ru-RU" altLang="ru-RU" sz="1200" dirty="0">
                <a:solidFill>
                  <a:srgbClr val="0000FF"/>
                </a:solidFill>
                <a:latin typeface="+mn-lt"/>
              </a:rPr>
              <a:t>)</a:t>
            </a:r>
            <a:r>
              <a:rPr lang="ru-RU" altLang="ru-RU" sz="1100" dirty="0">
                <a:latin typeface="+mn-lt"/>
              </a:rPr>
              <a:t> </a:t>
            </a:r>
            <a:endParaRPr lang="ru-RU" altLang="ru-RU" sz="2800" dirty="0">
              <a:latin typeface="+mn-lt"/>
            </a:endParaRPr>
          </a:p>
        </p:txBody>
      </p:sp>
      <p:sp>
        <p:nvSpPr>
          <p:cNvPr id="11" name="Прямоугольник 10"/>
          <p:cNvSpPr/>
          <p:nvPr/>
        </p:nvSpPr>
        <p:spPr>
          <a:xfrm>
            <a:off x="1438277" y="6385370"/>
            <a:ext cx="7488137" cy="338554"/>
          </a:xfrm>
          <a:prstGeom prst="rect">
            <a:avLst/>
          </a:prstGeom>
        </p:spPr>
        <p:txBody>
          <a:bodyPr wrap="square">
            <a:spAutoFit/>
          </a:bodyPr>
          <a:lstStyle/>
          <a:p>
            <a:r>
              <a:rPr lang="ru-RU" sz="1600" dirty="0">
                <a:hlinkClick r:id="rId3"/>
              </a:rPr>
              <a:t>https://agricolamz.github.io/DS_for_DH</a:t>
            </a:r>
            <a:r>
              <a:rPr lang="en-US" sz="1600" dirty="0">
                <a:hlinkClick r:id="rId3"/>
              </a:rPr>
              <a:t>/</a:t>
            </a:r>
            <a:r>
              <a:rPr lang="ru-RU" sz="1600" dirty="0">
                <a:hlinkClick r:id="rId3"/>
              </a:rPr>
              <a:t>проверка-статистических-гипотез.</a:t>
            </a:r>
            <a:r>
              <a:rPr lang="en-US" sz="1600" dirty="0">
                <a:hlinkClick r:id="rId3"/>
              </a:rPr>
              <a:t>html</a:t>
            </a:r>
            <a:r>
              <a:rPr lang="en-US" sz="1600" dirty="0"/>
              <a:t> </a:t>
            </a:r>
            <a:endParaRPr lang="ru-RU" sz="1600" dirty="0"/>
          </a:p>
        </p:txBody>
      </p:sp>
      <p:sp>
        <p:nvSpPr>
          <p:cNvPr id="12" name="Прямоугольник 11"/>
          <p:cNvSpPr/>
          <p:nvPr/>
        </p:nvSpPr>
        <p:spPr>
          <a:xfrm>
            <a:off x="6783302" y="6007892"/>
            <a:ext cx="132568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hangingPunct="0"/>
            <a:r>
              <a:rPr lang="en-US" sz="1200" dirty="0" err="1">
                <a:solidFill>
                  <a:srgbClr val="0000FF"/>
                </a:solidFill>
                <a:latin typeface="+mn-lt"/>
              </a:rPr>
              <a:t>binom.test</a:t>
            </a:r>
            <a:r>
              <a:rPr lang="en-US" sz="1200" dirty="0">
                <a:solidFill>
                  <a:srgbClr val="0000FF"/>
                </a:solidFill>
                <a:latin typeface="+mn-lt"/>
              </a:rPr>
              <a:t>(</a:t>
            </a:r>
            <a:r>
              <a:rPr lang="en-US" sz="1200" dirty="0">
                <a:solidFill>
                  <a:srgbClr val="800080"/>
                </a:solidFill>
                <a:latin typeface="+mn-lt"/>
              </a:rPr>
              <a:t>x, n, p</a:t>
            </a:r>
            <a:r>
              <a:rPr lang="en-US" sz="1200" dirty="0">
                <a:solidFill>
                  <a:srgbClr val="0000FF"/>
                </a:solidFill>
                <a:latin typeface="+mn-lt"/>
              </a:rPr>
              <a:t>)</a:t>
            </a:r>
            <a:endParaRPr lang="ru-RU" sz="1200" dirty="0">
              <a:solidFill>
                <a:srgbClr val="0000FF"/>
              </a:solidFill>
              <a:latin typeface="+mn-lt"/>
            </a:endParaRPr>
          </a:p>
        </p:txBody>
      </p:sp>
    </p:spTree>
    <p:extLst>
      <p:ext uri="{BB962C8B-B14F-4D97-AF65-F5344CB8AC3E}">
        <p14:creationId xmlns:p14="http://schemas.microsoft.com/office/powerpoint/2010/main" val="8888327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4"/>
          <p:cNvSpPr>
            <a:spLocks noChangeArrowheads="1"/>
          </p:cNvSpPr>
          <p:nvPr/>
        </p:nvSpPr>
        <p:spPr bwMode="auto">
          <a:xfrm>
            <a:off x="1438275" y="322263"/>
            <a:ext cx="10656489" cy="6553200"/>
          </a:xfrm>
          <a:prstGeom prst="roundRect">
            <a:avLst>
              <a:gd name="adj" fmla="val 16667"/>
            </a:avLst>
          </a:prstGeom>
          <a:solidFill>
            <a:schemeClr val="bg1">
              <a:alpha val="50195"/>
            </a:scheme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5" name="AutoShape 5"/>
          <p:cNvSpPr>
            <a:spLocks noChangeArrowheads="1"/>
          </p:cNvSpPr>
          <p:nvPr/>
        </p:nvSpPr>
        <p:spPr bwMode="auto">
          <a:xfrm>
            <a:off x="2373685" y="322264"/>
            <a:ext cx="8064128" cy="720601"/>
          </a:xfrm>
          <a:prstGeom prst="roundRect">
            <a:avLst>
              <a:gd name="adj" fmla="val 37469"/>
            </a:avLst>
          </a:prstGeom>
          <a:solidFill>
            <a:srgbClr val="FFFFFF">
              <a:alpha val="78822"/>
            </a:srgb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2" name="Заголовок 1"/>
          <p:cNvSpPr txBox="1">
            <a:spLocks noGrp="1"/>
          </p:cNvSpPr>
          <p:nvPr>
            <p:ph type="title" idx="4294967295"/>
          </p:nvPr>
        </p:nvSpPr>
        <p:spPr>
          <a:xfrm>
            <a:off x="2445731" y="568983"/>
            <a:ext cx="7920037" cy="693738"/>
          </a:xfrm>
          <a:prstGeom prst="rect">
            <a:avLst/>
          </a:prstGeom>
        </p:spPr>
        <p:txBody>
          <a:bodyPr/>
          <a:lstStyle/>
          <a:p>
            <a:pPr lvl="0"/>
            <a:r>
              <a:rPr lang="ru-RU" sz="3600" dirty="0"/>
              <a:t>Ключевые критерии и их статистики.</a:t>
            </a:r>
          </a:p>
        </p:txBody>
      </p:sp>
      <p:sp>
        <p:nvSpPr>
          <p:cNvPr id="7" name="Номер слайда 6"/>
          <p:cNvSpPr>
            <a:spLocks noGrp="1"/>
          </p:cNvSpPr>
          <p:nvPr>
            <p:ph type="sldNum" sz="quarter" idx="12"/>
          </p:nvPr>
        </p:nvSpPr>
        <p:spPr/>
        <p:txBody>
          <a:bodyPr/>
          <a:lstStyle/>
          <a:p>
            <a:fld id="{952B6C0E-C4B9-4094-8E59-5B7DF00D5415}" type="slidenum">
              <a:rPr lang="ru-RU" smtClean="0">
                <a:solidFill>
                  <a:schemeClr val="tx1"/>
                </a:solidFill>
              </a:rPr>
              <a:t>128</a:t>
            </a:fld>
            <a:endParaRPr lang="ru-RU" dirty="0">
              <a:solidFill>
                <a:schemeClr val="tx1"/>
              </a:solidFill>
            </a:endParaRPr>
          </a:p>
        </p:txBody>
      </p:sp>
      <p:sp>
        <p:nvSpPr>
          <p:cNvPr id="8" name="TextBox 7">
            <a:extLst>
              <a:ext uri="{FF2B5EF4-FFF2-40B4-BE49-F238E27FC236}">
                <a16:creationId xmlns:a16="http://schemas.microsoft.com/office/drawing/2014/main" id="{D77D82EB-A0CD-4CBA-B5B6-BB60AF04E84B}"/>
              </a:ext>
            </a:extLst>
          </p:cNvPr>
          <p:cNvSpPr txBox="1"/>
          <p:nvPr/>
        </p:nvSpPr>
        <p:spPr>
          <a:xfrm>
            <a:off x="1203002" y="1892264"/>
            <a:ext cx="10531724" cy="4154984"/>
          </a:xfrm>
          <a:prstGeom prst="rect">
            <a:avLst/>
          </a:prstGeom>
          <a:noFill/>
        </p:spPr>
        <p:txBody>
          <a:bodyPr wrap="square">
            <a:spAutoFit/>
          </a:bodyPr>
          <a:lstStyle/>
          <a:p>
            <a:r>
              <a:rPr lang="ru-RU" sz="2400" dirty="0"/>
              <a:t>Основные случаи:</a:t>
            </a:r>
          </a:p>
          <a:p>
            <a:pPr>
              <a:buFont typeface="+mj-lt"/>
              <a:buAutoNum type="arabicPeriod"/>
            </a:pPr>
            <a:r>
              <a:rPr lang="ru-RU" sz="2400" dirty="0"/>
              <a:t>Сравнение двух средних (независимые выборки):</a:t>
            </a:r>
          </a:p>
          <a:p>
            <a:pPr marL="742950" lvl="1" indent="-285750">
              <a:buFont typeface="+mj-lt"/>
              <a:buAutoNum type="arabicPeriod"/>
            </a:pPr>
            <a:r>
              <a:rPr lang="ru-RU" sz="2400" dirty="0"/>
              <a:t>t-критерий Стьюдента (равные дисперсии)</a:t>
            </a:r>
          </a:p>
          <a:p>
            <a:pPr marL="742950" lvl="1" indent="-285750">
              <a:buFont typeface="+mj-lt"/>
              <a:buAutoNum type="arabicPeriod"/>
            </a:pPr>
            <a:r>
              <a:rPr lang="ru-RU" sz="2400" dirty="0"/>
              <a:t>t-критерий Уэлча (неравные дисперсии)</a:t>
            </a:r>
          </a:p>
          <a:p>
            <a:pPr marL="742950" lvl="1" indent="-285750">
              <a:buFont typeface="+mj-lt"/>
              <a:buAutoNum type="arabicPeriod"/>
            </a:pPr>
            <a:r>
              <a:rPr lang="ru-RU" sz="2400" dirty="0"/>
              <a:t>z-критерий (известные дисперсии)</a:t>
            </a:r>
          </a:p>
          <a:p>
            <a:pPr>
              <a:buFont typeface="+mj-lt"/>
              <a:buAutoNum type="arabicPeriod"/>
            </a:pPr>
            <a:r>
              <a:rPr lang="ru-RU" sz="2400" dirty="0"/>
              <a:t>Сравнение двух средних (зависимые/парные выборки) — парный t-критерий.</a:t>
            </a:r>
          </a:p>
          <a:p>
            <a:pPr>
              <a:buFont typeface="+mj-lt"/>
              <a:buAutoNum type="arabicPeriod"/>
            </a:pPr>
            <a:r>
              <a:rPr lang="ru-RU" sz="2400" dirty="0"/>
              <a:t>Сравнение двух пропорций — z-критерий для долей.</a:t>
            </a:r>
          </a:p>
          <a:p>
            <a:pPr>
              <a:buFont typeface="+mj-lt"/>
              <a:buAutoNum type="arabicPeriod"/>
            </a:pPr>
            <a:r>
              <a:rPr lang="ru-RU" sz="2400" dirty="0"/>
              <a:t>Сравнение двух дисперсий — F-критерий Фишера.</a:t>
            </a:r>
          </a:p>
          <a:p>
            <a:pPr>
              <a:buFont typeface="+mj-lt"/>
              <a:buAutoNum type="arabicPeriod"/>
            </a:pPr>
            <a:r>
              <a:rPr lang="ru-RU" sz="2400" dirty="0"/>
              <a:t>Непараметрические критерии (Манна-Уитни, знаковый критерий, </a:t>
            </a:r>
            <a:r>
              <a:rPr lang="ru-RU" sz="2400" dirty="0" err="1"/>
              <a:t>Вилкоксона</a:t>
            </a:r>
            <a:r>
              <a:rPr lang="ru-RU" sz="2400" dirty="0"/>
              <a:t>) — там формулы основаны на рангах.</a:t>
            </a:r>
          </a:p>
        </p:txBody>
      </p:sp>
    </p:spTree>
    <p:extLst>
      <p:ext uri="{BB962C8B-B14F-4D97-AF65-F5344CB8AC3E}">
        <p14:creationId xmlns:p14="http://schemas.microsoft.com/office/powerpoint/2010/main" val="27016373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999" name="AutoShape 7"/>
          <p:cNvSpPr>
            <a:spLocks noChangeArrowheads="1"/>
          </p:cNvSpPr>
          <p:nvPr/>
        </p:nvSpPr>
        <p:spPr bwMode="auto">
          <a:xfrm>
            <a:off x="1649180" y="1906961"/>
            <a:ext cx="9329738" cy="1287463"/>
          </a:xfrm>
          <a:prstGeom prst="roundRect">
            <a:avLst>
              <a:gd name="adj" fmla="val 16667"/>
            </a:avLst>
          </a:prstGeom>
          <a:solidFill>
            <a:srgbClr val="464646">
              <a:alpha val="50000"/>
            </a:srgb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9441" tIns="49721" rIns="99441" bIns="49721" anchor="ctr"/>
          <a:lstStyle>
            <a:lvl1pPr marL="982663" defTabSz="993775">
              <a:defRPr>
                <a:solidFill>
                  <a:schemeClr val="tx1"/>
                </a:solidFill>
                <a:latin typeface="Arial" panose="020B0604020202020204" pitchFamily="34" charset="0"/>
              </a:defRPr>
            </a:lvl1pPr>
            <a:lvl2pPr marL="1177925" defTabSz="993775">
              <a:defRPr>
                <a:solidFill>
                  <a:schemeClr val="tx1"/>
                </a:solidFill>
                <a:latin typeface="Arial" panose="020B0604020202020204" pitchFamily="34" charset="0"/>
              </a:defRPr>
            </a:lvl2pPr>
            <a:lvl3pPr marL="1373188" defTabSz="993775">
              <a:defRPr>
                <a:solidFill>
                  <a:schemeClr val="tx1"/>
                </a:solidFill>
                <a:latin typeface="Arial" panose="020B0604020202020204" pitchFamily="34" charset="0"/>
              </a:defRPr>
            </a:lvl3pPr>
            <a:lvl4pPr marL="1566863" defTabSz="993775">
              <a:defRPr>
                <a:solidFill>
                  <a:schemeClr val="tx1"/>
                </a:solidFill>
                <a:latin typeface="Arial" panose="020B0604020202020204" pitchFamily="34" charset="0"/>
              </a:defRPr>
            </a:lvl4pPr>
            <a:lvl5pPr marL="1989138" defTabSz="993775">
              <a:defRPr>
                <a:solidFill>
                  <a:schemeClr val="tx1"/>
                </a:solidFill>
                <a:latin typeface="Arial" panose="020B0604020202020204" pitchFamily="34" charset="0"/>
              </a:defRPr>
            </a:lvl5pPr>
            <a:lvl6pPr marL="2446338" defTabSz="993775" fontAlgn="base">
              <a:spcBef>
                <a:spcPct val="0"/>
              </a:spcBef>
              <a:spcAft>
                <a:spcPct val="0"/>
              </a:spcAft>
              <a:defRPr>
                <a:solidFill>
                  <a:schemeClr val="tx1"/>
                </a:solidFill>
                <a:latin typeface="Arial" panose="020B0604020202020204" pitchFamily="34" charset="0"/>
              </a:defRPr>
            </a:lvl6pPr>
            <a:lvl7pPr marL="2903538" defTabSz="993775" fontAlgn="base">
              <a:spcBef>
                <a:spcPct val="0"/>
              </a:spcBef>
              <a:spcAft>
                <a:spcPct val="0"/>
              </a:spcAft>
              <a:defRPr>
                <a:solidFill>
                  <a:schemeClr val="tx1"/>
                </a:solidFill>
                <a:latin typeface="Arial" panose="020B0604020202020204" pitchFamily="34" charset="0"/>
              </a:defRPr>
            </a:lvl7pPr>
            <a:lvl8pPr marL="3360738" defTabSz="993775" fontAlgn="base">
              <a:spcBef>
                <a:spcPct val="0"/>
              </a:spcBef>
              <a:spcAft>
                <a:spcPct val="0"/>
              </a:spcAft>
              <a:defRPr>
                <a:solidFill>
                  <a:schemeClr val="tx1"/>
                </a:solidFill>
                <a:latin typeface="Arial" panose="020B0604020202020204" pitchFamily="34" charset="0"/>
              </a:defRPr>
            </a:lvl8pPr>
            <a:lvl9pPr marL="3817938" defTabSz="993775" fontAlgn="base">
              <a:spcBef>
                <a:spcPct val="0"/>
              </a:spcBef>
              <a:spcAft>
                <a:spcPct val="0"/>
              </a:spcAft>
              <a:defRPr>
                <a:solidFill>
                  <a:schemeClr val="tx1"/>
                </a:solidFill>
                <a:latin typeface="Arial" panose="020B0604020202020204" pitchFamily="34" charset="0"/>
              </a:defRPr>
            </a:lvl9pPr>
          </a:lstStyle>
          <a:p>
            <a:endParaRPr lang="ru-RU" altLang="ru-RU" sz="3500">
              <a:solidFill>
                <a:schemeClr val="bg1"/>
              </a:solidFill>
            </a:endParaRPr>
          </a:p>
        </p:txBody>
      </p:sp>
      <p:sp>
        <p:nvSpPr>
          <p:cNvPr id="213000" name="AutoShape 8"/>
          <p:cNvSpPr>
            <a:spLocks noChangeArrowheads="1"/>
          </p:cNvSpPr>
          <p:nvPr/>
        </p:nvSpPr>
        <p:spPr bwMode="auto">
          <a:xfrm>
            <a:off x="2006368" y="2129211"/>
            <a:ext cx="596900" cy="854075"/>
          </a:xfrm>
          <a:prstGeom prst="roundRect">
            <a:avLst>
              <a:gd name="adj" fmla="val 16667"/>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9441" tIns="49721" rIns="99441" bIns="49721" anchor="ctr"/>
          <a:lstStyle>
            <a:lvl1pPr defTabSz="993775">
              <a:defRPr>
                <a:solidFill>
                  <a:schemeClr val="tx1"/>
                </a:solidFill>
                <a:latin typeface="Arial" panose="020B0604020202020204" pitchFamily="34" charset="0"/>
              </a:defRPr>
            </a:lvl1pPr>
            <a:lvl2pPr marL="496888" defTabSz="993775">
              <a:defRPr>
                <a:solidFill>
                  <a:schemeClr val="tx1"/>
                </a:solidFill>
                <a:latin typeface="Arial" panose="020B0604020202020204" pitchFamily="34" charset="0"/>
              </a:defRPr>
            </a:lvl2pPr>
            <a:lvl3pPr marL="993775" defTabSz="993775">
              <a:defRPr>
                <a:solidFill>
                  <a:schemeClr val="tx1"/>
                </a:solidFill>
                <a:latin typeface="Arial" panose="020B0604020202020204" pitchFamily="34" charset="0"/>
              </a:defRPr>
            </a:lvl3pPr>
            <a:lvl4pPr marL="1492250" defTabSz="993775">
              <a:defRPr>
                <a:solidFill>
                  <a:schemeClr val="tx1"/>
                </a:solidFill>
                <a:latin typeface="Arial" panose="020B0604020202020204" pitchFamily="34" charset="0"/>
              </a:defRPr>
            </a:lvl4pPr>
            <a:lvl5pPr marL="1989138" defTabSz="993775">
              <a:defRPr>
                <a:solidFill>
                  <a:schemeClr val="tx1"/>
                </a:solidFill>
                <a:latin typeface="Arial" panose="020B0604020202020204" pitchFamily="34" charset="0"/>
              </a:defRPr>
            </a:lvl5pPr>
            <a:lvl6pPr marL="2446338" defTabSz="993775" fontAlgn="base">
              <a:spcBef>
                <a:spcPct val="0"/>
              </a:spcBef>
              <a:spcAft>
                <a:spcPct val="0"/>
              </a:spcAft>
              <a:defRPr>
                <a:solidFill>
                  <a:schemeClr val="tx1"/>
                </a:solidFill>
                <a:latin typeface="Arial" panose="020B0604020202020204" pitchFamily="34" charset="0"/>
              </a:defRPr>
            </a:lvl6pPr>
            <a:lvl7pPr marL="2903538" defTabSz="993775" fontAlgn="base">
              <a:spcBef>
                <a:spcPct val="0"/>
              </a:spcBef>
              <a:spcAft>
                <a:spcPct val="0"/>
              </a:spcAft>
              <a:defRPr>
                <a:solidFill>
                  <a:schemeClr val="tx1"/>
                </a:solidFill>
                <a:latin typeface="Arial" panose="020B0604020202020204" pitchFamily="34" charset="0"/>
              </a:defRPr>
            </a:lvl7pPr>
            <a:lvl8pPr marL="3360738" defTabSz="993775" fontAlgn="base">
              <a:spcBef>
                <a:spcPct val="0"/>
              </a:spcBef>
              <a:spcAft>
                <a:spcPct val="0"/>
              </a:spcAft>
              <a:defRPr>
                <a:solidFill>
                  <a:schemeClr val="tx1"/>
                </a:solidFill>
                <a:latin typeface="Arial" panose="020B0604020202020204" pitchFamily="34" charset="0"/>
              </a:defRPr>
            </a:lvl8pPr>
            <a:lvl9pPr marL="3817938" defTabSz="993775" fontAlgn="base">
              <a:spcBef>
                <a:spcPct val="0"/>
              </a:spcBef>
              <a:spcAft>
                <a:spcPct val="0"/>
              </a:spcAft>
              <a:defRPr>
                <a:solidFill>
                  <a:schemeClr val="tx1"/>
                </a:solidFill>
                <a:latin typeface="Arial" panose="020B0604020202020204" pitchFamily="34" charset="0"/>
              </a:defRPr>
            </a:lvl9pPr>
          </a:lstStyle>
          <a:p>
            <a:pPr algn="ctr"/>
            <a:r>
              <a:rPr lang="ru-RU" altLang="ru-RU" sz="3000" b="1" dirty="0">
                <a:solidFill>
                  <a:schemeClr val="bg1"/>
                </a:solidFill>
              </a:rPr>
              <a:t>3</a:t>
            </a:r>
          </a:p>
        </p:txBody>
      </p:sp>
      <p:sp>
        <p:nvSpPr>
          <p:cNvPr id="5" name="AutoShape 27"/>
          <p:cNvSpPr>
            <a:spLocks noChangeArrowheads="1"/>
          </p:cNvSpPr>
          <p:nvPr/>
        </p:nvSpPr>
        <p:spPr bwMode="auto">
          <a:xfrm>
            <a:off x="2949749" y="1928930"/>
            <a:ext cx="6680284" cy="1179704"/>
          </a:xfrm>
          <a:prstGeom prst="roundRect">
            <a:avLst>
              <a:gd name="adj" fmla="val 16667"/>
            </a:avLst>
          </a:prstGeom>
          <a:noFill/>
          <a:ln>
            <a:noFill/>
          </a:ln>
          <a:effectLst/>
          <a:extLst>
            <a:ext uri="{909E8E84-426E-40DD-AFC4-6F175D3DCCD1}">
              <a14:hiddenFill xmlns:a14="http://schemas.microsoft.com/office/drawing/2010/main">
                <a:solidFill>
                  <a:srgbClr val="464646">
                    <a:alpha val="50000"/>
                  </a:srgbClr>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9441" tIns="49721" rIns="99441" bIns="49721" anchor="ctr"/>
          <a:lstStyle>
            <a:lvl1pPr marL="982663" defTabSz="993775">
              <a:defRPr>
                <a:solidFill>
                  <a:schemeClr val="tx1"/>
                </a:solidFill>
                <a:latin typeface="Arial" panose="020B0604020202020204" pitchFamily="34" charset="0"/>
              </a:defRPr>
            </a:lvl1pPr>
            <a:lvl2pPr marL="1177925" defTabSz="993775">
              <a:defRPr>
                <a:solidFill>
                  <a:schemeClr val="tx1"/>
                </a:solidFill>
                <a:latin typeface="Arial" panose="020B0604020202020204" pitchFamily="34" charset="0"/>
              </a:defRPr>
            </a:lvl2pPr>
            <a:lvl3pPr marL="1373188" defTabSz="993775">
              <a:defRPr>
                <a:solidFill>
                  <a:schemeClr val="tx1"/>
                </a:solidFill>
                <a:latin typeface="Arial" panose="020B0604020202020204" pitchFamily="34" charset="0"/>
              </a:defRPr>
            </a:lvl3pPr>
            <a:lvl4pPr marL="1566863" defTabSz="993775">
              <a:defRPr>
                <a:solidFill>
                  <a:schemeClr val="tx1"/>
                </a:solidFill>
                <a:latin typeface="Arial" panose="020B0604020202020204" pitchFamily="34" charset="0"/>
              </a:defRPr>
            </a:lvl4pPr>
            <a:lvl5pPr marL="1989138" defTabSz="993775">
              <a:defRPr>
                <a:solidFill>
                  <a:schemeClr val="tx1"/>
                </a:solidFill>
                <a:latin typeface="Arial" panose="020B0604020202020204" pitchFamily="34" charset="0"/>
              </a:defRPr>
            </a:lvl5pPr>
            <a:lvl6pPr marL="2446338" defTabSz="993775" fontAlgn="base">
              <a:spcBef>
                <a:spcPct val="0"/>
              </a:spcBef>
              <a:spcAft>
                <a:spcPct val="0"/>
              </a:spcAft>
              <a:defRPr>
                <a:solidFill>
                  <a:schemeClr val="tx1"/>
                </a:solidFill>
                <a:latin typeface="Arial" panose="020B0604020202020204" pitchFamily="34" charset="0"/>
              </a:defRPr>
            </a:lvl6pPr>
            <a:lvl7pPr marL="2903538" defTabSz="993775" fontAlgn="base">
              <a:spcBef>
                <a:spcPct val="0"/>
              </a:spcBef>
              <a:spcAft>
                <a:spcPct val="0"/>
              </a:spcAft>
              <a:defRPr>
                <a:solidFill>
                  <a:schemeClr val="tx1"/>
                </a:solidFill>
                <a:latin typeface="Arial" panose="020B0604020202020204" pitchFamily="34" charset="0"/>
              </a:defRPr>
            </a:lvl7pPr>
            <a:lvl8pPr marL="3360738" defTabSz="993775" fontAlgn="base">
              <a:spcBef>
                <a:spcPct val="0"/>
              </a:spcBef>
              <a:spcAft>
                <a:spcPct val="0"/>
              </a:spcAft>
              <a:defRPr>
                <a:solidFill>
                  <a:schemeClr val="tx1"/>
                </a:solidFill>
                <a:latin typeface="Arial" panose="020B0604020202020204" pitchFamily="34" charset="0"/>
              </a:defRPr>
            </a:lvl8pPr>
            <a:lvl9pPr marL="3817938" defTabSz="993775" fontAlgn="base">
              <a:spcBef>
                <a:spcPct val="0"/>
              </a:spcBef>
              <a:spcAft>
                <a:spcPct val="0"/>
              </a:spcAft>
              <a:defRPr>
                <a:solidFill>
                  <a:schemeClr val="tx1"/>
                </a:solidFill>
                <a:latin typeface="Arial" panose="020B0604020202020204" pitchFamily="34" charset="0"/>
              </a:defRPr>
            </a:lvl9pPr>
          </a:lstStyle>
          <a:p>
            <a:pPr marL="0" algn="ctr"/>
            <a:r>
              <a:rPr lang="ru-RU" sz="4400" dirty="0">
                <a:solidFill>
                  <a:schemeClr val="bg1"/>
                </a:solidFill>
              </a:rPr>
              <a:t>Дополнительные условия </a:t>
            </a:r>
          </a:p>
          <a:p>
            <a:pPr marL="0" algn="ctr"/>
            <a:r>
              <a:rPr lang="ru-RU" sz="4400" dirty="0">
                <a:solidFill>
                  <a:schemeClr val="bg1"/>
                </a:solidFill>
              </a:rPr>
              <a:t>проверки гипотез</a:t>
            </a:r>
          </a:p>
        </p:txBody>
      </p:sp>
      <p:sp>
        <p:nvSpPr>
          <p:cNvPr id="7" name="AutoShape 7"/>
          <p:cNvSpPr>
            <a:spLocks noChangeArrowheads="1"/>
          </p:cNvSpPr>
          <p:nvPr/>
        </p:nvSpPr>
        <p:spPr bwMode="auto">
          <a:xfrm>
            <a:off x="2154378" y="3275113"/>
            <a:ext cx="8824541" cy="1193815"/>
          </a:xfrm>
          <a:prstGeom prst="roundRect">
            <a:avLst>
              <a:gd name="adj" fmla="val 16667"/>
            </a:avLst>
          </a:prstGeom>
          <a:solidFill>
            <a:srgbClr val="464646">
              <a:alpha val="50000"/>
            </a:srgb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9441" tIns="49721" rIns="99441" bIns="49721" anchor="ctr"/>
          <a:lstStyle>
            <a:lvl1pPr marL="982663" defTabSz="993775">
              <a:defRPr>
                <a:solidFill>
                  <a:schemeClr val="tx1"/>
                </a:solidFill>
                <a:latin typeface="Arial" panose="020B0604020202020204" pitchFamily="34" charset="0"/>
              </a:defRPr>
            </a:lvl1pPr>
            <a:lvl2pPr marL="1177925" defTabSz="993775">
              <a:defRPr>
                <a:solidFill>
                  <a:schemeClr val="tx1"/>
                </a:solidFill>
                <a:latin typeface="Arial" panose="020B0604020202020204" pitchFamily="34" charset="0"/>
              </a:defRPr>
            </a:lvl2pPr>
            <a:lvl3pPr marL="1373188" defTabSz="993775">
              <a:defRPr>
                <a:solidFill>
                  <a:schemeClr val="tx1"/>
                </a:solidFill>
                <a:latin typeface="Arial" panose="020B0604020202020204" pitchFamily="34" charset="0"/>
              </a:defRPr>
            </a:lvl3pPr>
            <a:lvl4pPr marL="1566863" defTabSz="993775">
              <a:defRPr>
                <a:solidFill>
                  <a:schemeClr val="tx1"/>
                </a:solidFill>
                <a:latin typeface="Arial" panose="020B0604020202020204" pitchFamily="34" charset="0"/>
              </a:defRPr>
            </a:lvl4pPr>
            <a:lvl5pPr marL="1989138" defTabSz="993775">
              <a:defRPr>
                <a:solidFill>
                  <a:schemeClr val="tx1"/>
                </a:solidFill>
                <a:latin typeface="Arial" panose="020B0604020202020204" pitchFamily="34" charset="0"/>
              </a:defRPr>
            </a:lvl5pPr>
            <a:lvl6pPr marL="2446338" defTabSz="993775" fontAlgn="base">
              <a:spcBef>
                <a:spcPct val="0"/>
              </a:spcBef>
              <a:spcAft>
                <a:spcPct val="0"/>
              </a:spcAft>
              <a:defRPr>
                <a:solidFill>
                  <a:schemeClr val="tx1"/>
                </a:solidFill>
                <a:latin typeface="Arial" panose="020B0604020202020204" pitchFamily="34" charset="0"/>
              </a:defRPr>
            </a:lvl6pPr>
            <a:lvl7pPr marL="2903538" defTabSz="993775" fontAlgn="base">
              <a:spcBef>
                <a:spcPct val="0"/>
              </a:spcBef>
              <a:spcAft>
                <a:spcPct val="0"/>
              </a:spcAft>
              <a:defRPr>
                <a:solidFill>
                  <a:schemeClr val="tx1"/>
                </a:solidFill>
                <a:latin typeface="Arial" panose="020B0604020202020204" pitchFamily="34" charset="0"/>
              </a:defRPr>
            </a:lvl7pPr>
            <a:lvl8pPr marL="3360738" defTabSz="993775" fontAlgn="base">
              <a:spcBef>
                <a:spcPct val="0"/>
              </a:spcBef>
              <a:spcAft>
                <a:spcPct val="0"/>
              </a:spcAft>
              <a:defRPr>
                <a:solidFill>
                  <a:schemeClr val="tx1"/>
                </a:solidFill>
                <a:latin typeface="Arial" panose="020B0604020202020204" pitchFamily="34" charset="0"/>
              </a:defRPr>
            </a:lvl8pPr>
            <a:lvl9pPr marL="3817938" defTabSz="993775" fontAlgn="base">
              <a:spcBef>
                <a:spcPct val="0"/>
              </a:spcBef>
              <a:spcAft>
                <a:spcPct val="0"/>
              </a:spcAft>
              <a:defRPr>
                <a:solidFill>
                  <a:schemeClr val="tx1"/>
                </a:solidFill>
                <a:latin typeface="Arial" panose="020B0604020202020204" pitchFamily="34" charset="0"/>
              </a:defRPr>
            </a:lvl9pPr>
          </a:lstStyle>
          <a:p>
            <a:endParaRPr lang="ru-RU" altLang="ru-RU" sz="3500">
              <a:solidFill>
                <a:schemeClr val="bg1"/>
              </a:solidFill>
            </a:endParaRPr>
          </a:p>
        </p:txBody>
      </p:sp>
      <p:sp>
        <p:nvSpPr>
          <p:cNvPr id="8" name="AutoShape 8"/>
          <p:cNvSpPr>
            <a:spLocks noChangeArrowheads="1"/>
          </p:cNvSpPr>
          <p:nvPr/>
        </p:nvSpPr>
        <p:spPr bwMode="auto">
          <a:xfrm>
            <a:off x="2511565" y="3497363"/>
            <a:ext cx="596900" cy="854075"/>
          </a:xfrm>
          <a:prstGeom prst="roundRect">
            <a:avLst>
              <a:gd name="adj" fmla="val 16667"/>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9441" tIns="49721" rIns="99441" bIns="49721" anchor="ctr"/>
          <a:lstStyle>
            <a:lvl1pPr defTabSz="993775">
              <a:defRPr>
                <a:solidFill>
                  <a:schemeClr val="tx1"/>
                </a:solidFill>
                <a:latin typeface="Arial" panose="020B0604020202020204" pitchFamily="34" charset="0"/>
              </a:defRPr>
            </a:lvl1pPr>
            <a:lvl2pPr marL="496888" defTabSz="993775">
              <a:defRPr>
                <a:solidFill>
                  <a:schemeClr val="tx1"/>
                </a:solidFill>
                <a:latin typeface="Arial" panose="020B0604020202020204" pitchFamily="34" charset="0"/>
              </a:defRPr>
            </a:lvl2pPr>
            <a:lvl3pPr marL="993775" defTabSz="993775">
              <a:defRPr>
                <a:solidFill>
                  <a:schemeClr val="tx1"/>
                </a:solidFill>
                <a:latin typeface="Arial" panose="020B0604020202020204" pitchFamily="34" charset="0"/>
              </a:defRPr>
            </a:lvl3pPr>
            <a:lvl4pPr marL="1492250" defTabSz="993775">
              <a:defRPr>
                <a:solidFill>
                  <a:schemeClr val="tx1"/>
                </a:solidFill>
                <a:latin typeface="Arial" panose="020B0604020202020204" pitchFamily="34" charset="0"/>
              </a:defRPr>
            </a:lvl4pPr>
            <a:lvl5pPr marL="1989138" defTabSz="993775">
              <a:defRPr>
                <a:solidFill>
                  <a:schemeClr val="tx1"/>
                </a:solidFill>
                <a:latin typeface="Arial" panose="020B0604020202020204" pitchFamily="34" charset="0"/>
              </a:defRPr>
            </a:lvl5pPr>
            <a:lvl6pPr marL="2446338" defTabSz="993775" fontAlgn="base">
              <a:spcBef>
                <a:spcPct val="0"/>
              </a:spcBef>
              <a:spcAft>
                <a:spcPct val="0"/>
              </a:spcAft>
              <a:defRPr>
                <a:solidFill>
                  <a:schemeClr val="tx1"/>
                </a:solidFill>
                <a:latin typeface="Arial" panose="020B0604020202020204" pitchFamily="34" charset="0"/>
              </a:defRPr>
            </a:lvl6pPr>
            <a:lvl7pPr marL="2903538" defTabSz="993775" fontAlgn="base">
              <a:spcBef>
                <a:spcPct val="0"/>
              </a:spcBef>
              <a:spcAft>
                <a:spcPct val="0"/>
              </a:spcAft>
              <a:defRPr>
                <a:solidFill>
                  <a:schemeClr val="tx1"/>
                </a:solidFill>
                <a:latin typeface="Arial" panose="020B0604020202020204" pitchFamily="34" charset="0"/>
              </a:defRPr>
            </a:lvl7pPr>
            <a:lvl8pPr marL="3360738" defTabSz="993775" fontAlgn="base">
              <a:spcBef>
                <a:spcPct val="0"/>
              </a:spcBef>
              <a:spcAft>
                <a:spcPct val="0"/>
              </a:spcAft>
              <a:defRPr>
                <a:solidFill>
                  <a:schemeClr val="tx1"/>
                </a:solidFill>
                <a:latin typeface="Arial" panose="020B0604020202020204" pitchFamily="34" charset="0"/>
              </a:defRPr>
            </a:lvl8pPr>
            <a:lvl9pPr marL="3817938" defTabSz="993775" fontAlgn="base">
              <a:spcBef>
                <a:spcPct val="0"/>
              </a:spcBef>
              <a:spcAft>
                <a:spcPct val="0"/>
              </a:spcAft>
              <a:defRPr>
                <a:solidFill>
                  <a:schemeClr val="tx1"/>
                </a:solidFill>
                <a:latin typeface="Arial" panose="020B0604020202020204" pitchFamily="34" charset="0"/>
              </a:defRPr>
            </a:lvl9pPr>
          </a:lstStyle>
          <a:p>
            <a:pPr algn="ctr"/>
            <a:r>
              <a:rPr lang="ru-RU" altLang="ru-RU" sz="3000" b="1" dirty="0">
                <a:solidFill>
                  <a:schemeClr val="bg1"/>
                </a:solidFill>
              </a:rPr>
              <a:t>3</a:t>
            </a:r>
            <a:r>
              <a:rPr lang="en-US" altLang="ru-RU" sz="3000" b="1" dirty="0">
                <a:solidFill>
                  <a:schemeClr val="bg1"/>
                </a:solidFill>
              </a:rPr>
              <a:t>.</a:t>
            </a:r>
            <a:r>
              <a:rPr lang="ru-RU" altLang="ru-RU" sz="3000" b="1" dirty="0">
                <a:solidFill>
                  <a:schemeClr val="bg1"/>
                </a:solidFill>
              </a:rPr>
              <a:t>1</a:t>
            </a:r>
          </a:p>
        </p:txBody>
      </p:sp>
      <p:sp>
        <p:nvSpPr>
          <p:cNvPr id="9" name="AutoShape 27"/>
          <p:cNvSpPr>
            <a:spLocks noChangeArrowheads="1"/>
          </p:cNvSpPr>
          <p:nvPr/>
        </p:nvSpPr>
        <p:spPr bwMode="auto">
          <a:xfrm>
            <a:off x="3378033" y="3415716"/>
            <a:ext cx="6252000" cy="957454"/>
          </a:xfrm>
          <a:prstGeom prst="roundRect">
            <a:avLst>
              <a:gd name="adj" fmla="val 16667"/>
            </a:avLst>
          </a:prstGeom>
          <a:noFill/>
          <a:ln>
            <a:noFill/>
          </a:ln>
          <a:effectLst/>
          <a:extLst>
            <a:ext uri="{909E8E84-426E-40DD-AFC4-6F175D3DCCD1}">
              <a14:hiddenFill xmlns:a14="http://schemas.microsoft.com/office/drawing/2010/main">
                <a:solidFill>
                  <a:srgbClr val="464646">
                    <a:alpha val="50000"/>
                  </a:srgbClr>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9441" tIns="49721" rIns="99441" bIns="49721" anchor="ctr"/>
          <a:lstStyle>
            <a:lvl1pPr marL="982663" defTabSz="993775">
              <a:defRPr>
                <a:solidFill>
                  <a:schemeClr val="tx1"/>
                </a:solidFill>
                <a:latin typeface="Arial" panose="020B0604020202020204" pitchFamily="34" charset="0"/>
              </a:defRPr>
            </a:lvl1pPr>
            <a:lvl2pPr marL="1177925" defTabSz="993775">
              <a:defRPr>
                <a:solidFill>
                  <a:schemeClr val="tx1"/>
                </a:solidFill>
                <a:latin typeface="Arial" panose="020B0604020202020204" pitchFamily="34" charset="0"/>
              </a:defRPr>
            </a:lvl2pPr>
            <a:lvl3pPr marL="1373188" defTabSz="993775">
              <a:defRPr>
                <a:solidFill>
                  <a:schemeClr val="tx1"/>
                </a:solidFill>
                <a:latin typeface="Arial" panose="020B0604020202020204" pitchFamily="34" charset="0"/>
              </a:defRPr>
            </a:lvl3pPr>
            <a:lvl4pPr marL="1566863" defTabSz="993775">
              <a:defRPr>
                <a:solidFill>
                  <a:schemeClr val="tx1"/>
                </a:solidFill>
                <a:latin typeface="Arial" panose="020B0604020202020204" pitchFamily="34" charset="0"/>
              </a:defRPr>
            </a:lvl4pPr>
            <a:lvl5pPr marL="1989138" defTabSz="993775">
              <a:defRPr>
                <a:solidFill>
                  <a:schemeClr val="tx1"/>
                </a:solidFill>
                <a:latin typeface="Arial" panose="020B0604020202020204" pitchFamily="34" charset="0"/>
              </a:defRPr>
            </a:lvl5pPr>
            <a:lvl6pPr marL="2446338" defTabSz="993775" fontAlgn="base">
              <a:spcBef>
                <a:spcPct val="0"/>
              </a:spcBef>
              <a:spcAft>
                <a:spcPct val="0"/>
              </a:spcAft>
              <a:defRPr>
                <a:solidFill>
                  <a:schemeClr val="tx1"/>
                </a:solidFill>
                <a:latin typeface="Arial" panose="020B0604020202020204" pitchFamily="34" charset="0"/>
              </a:defRPr>
            </a:lvl6pPr>
            <a:lvl7pPr marL="2903538" defTabSz="993775" fontAlgn="base">
              <a:spcBef>
                <a:spcPct val="0"/>
              </a:spcBef>
              <a:spcAft>
                <a:spcPct val="0"/>
              </a:spcAft>
              <a:defRPr>
                <a:solidFill>
                  <a:schemeClr val="tx1"/>
                </a:solidFill>
                <a:latin typeface="Arial" panose="020B0604020202020204" pitchFamily="34" charset="0"/>
              </a:defRPr>
            </a:lvl7pPr>
            <a:lvl8pPr marL="3360738" defTabSz="993775" fontAlgn="base">
              <a:spcBef>
                <a:spcPct val="0"/>
              </a:spcBef>
              <a:spcAft>
                <a:spcPct val="0"/>
              </a:spcAft>
              <a:defRPr>
                <a:solidFill>
                  <a:schemeClr val="tx1"/>
                </a:solidFill>
                <a:latin typeface="Arial" panose="020B0604020202020204" pitchFamily="34" charset="0"/>
              </a:defRPr>
            </a:lvl8pPr>
            <a:lvl9pPr marL="3817938" defTabSz="993775" fontAlgn="base">
              <a:spcBef>
                <a:spcPct val="0"/>
              </a:spcBef>
              <a:spcAft>
                <a:spcPct val="0"/>
              </a:spcAft>
              <a:defRPr>
                <a:solidFill>
                  <a:schemeClr val="tx1"/>
                </a:solidFill>
                <a:latin typeface="Arial" panose="020B0604020202020204" pitchFamily="34" charset="0"/>
              </a:defRPr>
            </a:lvl9pPr>
          </a:lstStyle>
          <a:p>
            <a:pPr marL="0"/>
            <a:r>
              <a:rPr lang="ru-RU" sz="3600" dirty="0">
                <a:solidFill>
                  <a:schemeClr val="bg1"/>
                </a:solidFill>
              </a:rPr>
              <a:t>Гипотеза о нормальности </a:t>
            </a:r>
          </a:p>
          <a:p>
            <a:pPr marL="0"/>
            <a:r>
              <a:rPr lang="ru-RU" sz="3600" dirty="0">
                <a:solidFill>
                  <a:schemeClr val="bg1"/>
                </a:solidFill>
              </a:rPr>
              <a:t>распределения</a:t>
            </a:r>
          </a:p>
        </p:txBody>
      </p:sp>
      <p:sp>
        <p:nvSpPr>
          <p:cNvPr id="10" name="AutoShape 7"/>
          <p:cNvSpPr>
            <a:spLocks noChangeArrowheads="1"/>
          </p:cNvSpPr>
          <p:nvPr/>
        </p:nvSpPr>
        <p:spPr bwMode="auto">
          <a:xfrm>
            <a:off x="2154378" y="4571257"/>
            <a:ext cx="8824541" cy="965199"/>
          </a:xfrm>
          <a:prstGeom prst="roundRect">
            <a:avLst>
              <a:gd name="adj" fmla="val 16667"/>
            </a:avLst>
          </a:prstGeom>
          <a:solidFill>
            <a:srgbClr val="464646">
              <a:alpha val="50000"/>
            </a:srgb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9441" tIns="49721" rIns="99441" bIns="49721" anchor="ctr"/>
          <a:lstStyle>
            <a:lvl1pPr marL="982663" defTabSz="993775">
              <a:defRPr>
                <a:solidFill>
                  <a:schemeClr val="tx1"/>
                </a:solidFill>
                <a:latin typeface="Arial" panose="020B0604020202020204" pitchFamily="34" charset="0"/>
              </a:defRPr>
            </a:lvl1pPr>
            <a:lvl2pPr marL="1177925" defTabSz="993775">
              <a:defRPr>
                <a:solidFill>
                  <a:schemeClr val="tx1"/>
                </a:solidFill>
                <a:latin typeface="Arial" panose="020B0604020202020204" pitchFamily="34" charset="0"/>
              </a:defRPr>
            </a:lvl2pPr>
            <a:lvl3pPr marL="1373188" defTabSz="993775">
              <a:defRPr>
                <a:solidFill>
                  <a:schemeClr val="tx1"/>
                </a:solidFill>
                <a:latin typeface="Arial" panose="020B0604020202020204" pitchFamily="34" charset="0"/>
              </a:defRPr>
            </a:lvl3pPr>
            <a:lvl4pPr marL="1566863" defTabSz="993775">
              <a:defRPr>
                <a:solidFill>
                  <a:schemeClr val="tx1"/>
                </a:solidFill>
                <a:latin typeface="Arial" panose="020B0604020202020204" pitchFamily="34" charset="0"/>
              </a:defRPr>
            </a:lvl4pPr>
            <a:lvl5pPr marL="1989138" defTabSz="993775">
              <a:defRPr>
                <a:solidFill>
                  <a:schemeClr val="tx1"/>
                </a:solidFill>
                <a:latin typeface="Arial" panose="020B0604020202020204" pitchFamily="34" charset="0"/>
              </a:defRPr>
            </a:lvl5pPr>
            <a:lvl6pPr marL="2446338" defTabSz="993775" fontAlgn="base">
              <a:spcBef>
                <a:spcPct val="0"/>
              </a:spcBef>
              <a:spcAft>
                <a:spcPct val="0"/>
              </a:spcAft>
              <a:defRPr>
                <a:solidFill>
                  <a:schemeClr val="tx1"/>
                </a:solidFill>
                <a:latin typeface="Arial" panose="020B0604020202020204" pitchFamily="34" charset="0"/>
              </a:defRPr>
            </a:lvl6pPr>
            <a:lvl7pPr marL="2903538" defTabSz="993775" fontAlgn="base">
              <a:spcBef>
                <a:spcPct val="0"/>
              </a:spcBef>
              <a:spcAft>
                <a:spcPct val="0"/>
              </a:spcAft>
              <a:defRPr>
                <a:solidFill>
                  <a:schemeClr val="tx1"/>
                </a:solidFill>
                <a:latin typeface="Arial" panose="020B0604020202020204" pitchFamily="34" charset="0"/>
              </a:defRPr>
            </a:lvl7pPr>
            <a:lvl8pPr marL="3360738" defTabSz="993775" fontAlgn="base">
              <a:spcBef>
                <a:spcPct val="0"/>
              </a:spcBef>
              <a:spcAft>
                <a:spcPct val="0"/>
              </a:spcAft>
              <a:defRPr>
                <a:solidFill>
                  <a:schemeClr val="tx1"/>
                </a:solidFill>
                <a:latin typeface="Arial" panose="020B0604020202020204" pitchFamily="34" charset="0"/>
              </a:defRPr>
            </a:lvl8pPr>
            <a:lvl9pPr marL="3817938" defTabSz="993775" fontAlgn="base">
              <a:spcBef>
                <a:spcPct val="0"/>
              </a:spcBef>
              <a:spcAft>
                <a:spcPct val="0"/>
              </a:spcAft>
              <a:defRPr>
                <a:solidFill>
                  <a:schemeClr val="tx1"/>
                </a:solidFill>
                <a:latin typeface="Arial" panose="020B0604020202020204" pitchFamily="34" charset="0"/>
              </a:defRPr>
            </a:lvl9pPr>
          </a:lstStyle>
          <a:p>
            <a:endParaRPr lang="ru-RU" altLang="ru-RU" sz="3500">
              <a:solidFill>
                <a:schemeClr val="bg1"/>
              </a:solidFill>
            </a:endParaRPr>
          </a:p>
        </p:txBody>
      </p:sp>
      <p:sp>
        <p:nvSpPr>
          <p:cNvPr id="11" name="AutoShape 8"/>
          <p:cNvSpPr>
            <a:spLocks noChangeArrowheads="1"/>
          </p:cNvSpPr>
          <p:nvPr/>
        </p:nvSpPr>
        <p:spPr bwMode="auto">
          <a:xfrm>
            <a:off x="2509697" y="4630889"/>
            <a:ext cx="596900" cy="854075"/>
          </a:xfrm>
          <a:prstGeom prst="roundRect">
            <a:avLst>
              <a:gd name="adj" fmla="val 16667"/>
            </a:avLst>
          </a:prstGeom>
          <a:solidFill>
            <a:schemeClr val="accent1"/>
          </a:solidFill>
          <a:ln w="28575">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9441" tIns="49721" rIns="99441" bIns="49721" anchor="ctr"/>
          <a:lstStyle>
            <a:lvl1pPr defTabSz="993775">
              <a:defRPr>
                <a:solidFill>
                  <a:schemeClr val="tx1"/>
                </a:solidFill>
                <a:latin typeface="Arial" panose="020B0604020202020204" pitchFamily="34" charset="0"/>
              </a:defRPr>
            </a:lvl1pPr>
            <a:lvl2pPr marL="496888" defTabSz="993775">
              <a:defRPr>
                <a:solidFill>
                  <a:schemeClr val="tx1"/>
                </a:solidFill>
                <a:latin typeface="Arial" panose="020B0604020202020204" pitchFamily="34" charset="0"/>
              </a:defRPr>
            </a:lvl2pPr>
            <a:lvl3pPr marL="993775" defTabSz="993775">
              <a:defRPr>
                <a:solidFill>
                  <a:schemeClr val="tx1"/>
                </a:solidFill>
                <a:latin typeface="Arial" panose="020B0604020202020204" pitchFamily="34" charset="0"/>
              </a:defRPr>
            </a:lvl3pPr>
            <a:lvl4pPr marL="1492250" defTabSz="993775">
              <a:defRPr>
                <a:solidFill>
                  <a:schemeClr val="tx1"/>
                </a:solidFill>
                <a:latin typeface="Arial" panose="020B0604020202020204" pitchFamily="34" charset="0"/>
              </a:defRPr>
            </a:lvl4pPr>
            <a:lvl5pPr marL="1989138" defTabSz="993775">
              <a:defRPr>
                <a:solidFill>
                  <a:schemeClr val="tx1"/>
                </a:solidFill>
                <a:latin typeface="Arial" panose="020B0604020202020204" pitchFamily="34" charset="0"/>
              </a:defRPr>
            </a:lvl5pPr>
            <a:lvl6pPr marL="2446338" defTabSz="993775" fontAlgn="base">
              <a:spcBef>
                <a:spcPct val="0"/>
              </a:spcBef>
              <a:spcAft>
                <a:spcPct val="0"/>
              </a:spcAft>
              <a:defRPr>
                <a:solidFill>
                  <a:schemeClr val="tx1"/>
                </a:solidFill>
                <a:latin typeface="Arial" panose="020B0604020202020204" pitchFamily="34" charset="0"/>
              </a:defRPr>
            </a:lvl6pPr>
            <a:lvl7pPr marL="2903538" defTabSz="993775" fontAlgn="base">
              <a:spcBef>
                <a:spcPct val="0"/>
              </a:spcBef>
              <a:spcAft>
                <a:spcPct val="0"/>
              </a:spcAft>
              <a:defRPr>
                <a:solidFill>
                  <a:schemeClr val="tx1"/>
                </a:solidFill>
                <a:latin typeface="Arial" panose="020B0604020202020204" pitchFamily="34" charset="0"/>
              </a:defRPr>
            </a:lvl7pPr>
            <a:lvl8pPr marL="3360738" defTabSz="993775" fontAlgn="base">
              <a:spcBef>
                <a:spcPct val="0"/>
              </a:spcBef>
              <a:spcAft>
                <a:spcPct val="0"/>
              </a:spcAft>
              <a:defRPr>
                <a:solidFill>
                  <a:schemeClr val="tx1"/>
                </a:solidFill>
                <a:latin typeface="Arial" panose="020B0604020202020204" pitchFamily="34" charset="0"/>
              </a:defRPr>
            </a:lvl8pPr>
            <a:lvl9pPr marL="3817938" defTabSz="993775" fontAlgn="base">
              <a:spcBef>
                <a:spcPct val="0"/>
              </a:spcBef>
              <a:spcAft>
                <a:spcPct val="0"/>
              </a:spcAft>
              <a:defRPr>
                <a:solidFill>
                  <a:schemeClr val="tx1"/>
                </a:solidFill>
                <a:latin typeface="Arial" panose="020B0604020202020204" pitchFamily="34" charset="0"/>
              </a:defRPr>
            </a:lvl9pPr>
          </a:lstStyle>
          <a:p>
            <a:pPr algn="ctr"/>
            <a:r>
              <a:rPr lang="ru-RU" altLang="ru-RU" sz="3000" b="1" dirty="0">
                <a:solidFill>
                  <a:schemeClr val="bg1"/>
                </a:solidFill>
              </a:rPr>
              <a:t>3</a:t>
            </a:r>
            <a:r>
              <a:rPr lang="en-US" altLang="ru-RU" sz="3000" b="1" dirty="0">
                <a:solidFill>
                  <a:schemeClr val="bg1"/>
                </a:solidFill>
              </a:rPr>
              <a:t>.</a:t>
            </a:r>
            <a:r>
              <a:rPr lang="ru-RU" altLang="ru-RU" sz="3000" b="1" dirty="0">
                <a:solidFill>
                  <a:schemeClr val="bg1"/>
                </a:solidFill>
              </a:rPr>
              <a:t>2</a:t>
            </a:r>
          </a:p>
        </p:txBody>
      </p:sp>
      <p:sp>
        <p:nvSpPr>
          <p:cNvPr id="12" name="AutoShape 27"/>
          <p:cNvSpPr>
            <a:spLocks noChangeArrowheads="1"/>
          </p:cNvSpPr>
          <p:nvPr/>
        </p:nvSpPr>
        <p:spPr bwMode="auto">
          <a:xfrm>
            <a:off x="3682525" y="4571256"/>
            <a:ext cx="6680284" cy="851720"/>
          </a:xfrm>
          <a:prstGeom prst="roundRect">
            <a:avLst>
              <a:gd name="adj" fmla="val 16667"/>
            </a:avLst>
          </a:prstGeom>
          <a:noFill/>
          <a:ln>
            <a:noFill/>
          </a:ln>
          <a:effectLst/>
          <a:extLst>
            <a:ext uri="{909E8E84-426E-40DD-AFC4-6F175D3DCCD1}">
              <a14:hiddenFill xmlns:a14="http://schemas.microsoft.com/office/drawing/2010/main">
                <a:solidFill>
                  <a:srgbClr val="464646">
                    <a:alpha val="50000"/>
                  </a:srgbClr>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9441" tIns="49721" rIns="99441" bIns="49721" anchor="ctr"/>
          <a:lstStyle>
            <a:lvl1pPr marL="982663" defTabSz="993775">
              <a:defRPr>
                <a:solidFill>
                  <a:schemeClr val="tx1"/>
                </a:solidFill>
                <a:latin typeface="Arial" panose="020B0604020202020204" pitchFamily="34" charset="0"/>
              </a:defRPr>
            </a:lvl1pPr>
            <a:lvl2pPr marL="1177925" defTabSz="993775">
              <a:defRPr>
                <a:solidFill>
                  <a:schemeClr val="tx1"/>
                </a:solidFill>
                <a:latin typeface="Arial" panose="020B0604020202020204" pitchFamily="34" charset="0"/>
              </a:defRPr>
            </a:lvl2pPr>
            <a:lvl3pPr marL="1373188" defTabSz="993775">
              <a:defRPr>
                <a:solidFill>
                  <a:schemeClr val="tx1"/>
                </a:solidFill>
                <a:latin typeface="Arial" panose="020B0604020202020204" pitchFamily="34" charset="0"/>
              </a:defRPr>
            </a:lvl3pPr>
            <a:lvl4pPr marL="1566863" defTabSz="993775">
              <a:defRPr>
                <a:solidFill>
                  <a:schemeClr val="tx1"/>
                </a:solidFill>
                <a:latin typeface="Arial" panose="020B0604020202020204" pitchFamily="34" charset="0"/>
              </a:defRPr>
            </a:lvl4pPr>
            <a:lvl5pPr marL="1989138" defTabSz="993775">
              <a:defRPr>
                <a:solidFill>
                  <a:schemeClr val="tx1"/>
                </a:solidFill>
                <a:latin typeface="Arial" panose="020B0604020202020204" pitchFamily="34" charset="0"/>
              </a:defRPr>
            </a:lvl5pPr>
            <a:lvl6pPr marL="2446338" defTabSz="993775" fontAlgn="base">
              <a:spcBef>
                <a:spcPct val="0"/>
              </a:spcBef>
              <a:spcAft>
                <a:spcPct val="0"/>
              </a:spcAft>
              <a:defRPr>
                <a:solidFill>
                  <a:schemeClr val="tx1"/>
                </a:solidFill>
                <a:latin typeface="Arial" panose="020B0604020202020204" pitchFamily="34" charset="0"/>
              </a:defRPr>
            </a:lvl6pPr>
            <a:lvl7pPr marL="2903538" defTabSz="993775" fontAlgn="base">
              <a:spcBef>
                <a:spcPct val="0"/>
              </a:spcBef>
              <a:spcAft>
                <a:spcPct val="0"/>
              </a:spcAft>
              <a:defRPr>
                <a:solidFill>
                  <a:schemeClr val="tx1"/>
                </a:solidFill>
                <a:latin typeface="Arial" panose="020B0604020202020204" pitchFamily="34" charset="0"/>
              </a:defRPr>
            </a:lvl7pPr>
            <a:lvl8pPr marL="3360738" defTabSz="993775" fontAlgn="base">
              <a:spcBef>
                <a:spcPct val="0"/>
              </a:spcBef>
              <a:spcAft>
                <a:spcPct val="0"/>
              </a:spcAft>
              <a:defRPr>
                <a:solidFill>
                  <a:schemeClr val="tx1"/>
                </a:solidFill>
                <a:latin typeface="Arial" panose="020B0604020202020204" pitchFamily="34" charset="0"/>
              </a:defRPr>
            </a:lvl8pPr>
            <a:lvl9pPr marL="3817938" defTabSz="993775" fontAlgn="base">
              <a:spcBef>
                <a:spcPct val="0"/>
              </a:spcBef>
              <a:spcAft>
                <a:spcPct val="0"/>
              </a:spcAft>
              <a:defRPr>
                <a:solidFill>
                  <a:schemeClr val="tx1"/>
                </a:solidFill>
                <a:latin typeface="Arial" panose="020B0604020202020204" pitchFamily="34" charset="0"/>
              </a:defRPr>
            </a:lvl9pPr>
          </a:lstStyle>
          <a:p>
            <a:pPr marL="0" algn="ctr"/>
            <a:r>
              <a:rPr lang="ru-RU" sz="3600" dirty="0">
                <a:solidFill>
                  <a:schemeClr val="bg1"/>
                </a:solidFill>
              </a:rPr>
              <a:t>Парные и независимые выборки</a:t>
            </a:r>
          </a:p>
        </p:txBody>
      </p:sp>
      <p:sp>
        <p:nvSpPr>
          <p:cNvPr id="13" name="AutoShape 7"/>
          <p:cNvSpPr>
            <a:spLocks noChangeArrowheads="1"/>
          </p:cNvSpPr>
          <p:nvPr/>
        </p:nvSpPr>
        <p:spPr bwMode="auto">
          <a:xfrm>
            <a:off x="2155756" y="5694290"/>
            <a:ext cx="8824541" cy="965199"/>
          </a:xfrm>
          <a:prstGeom prst="roundRect">
            <a:avLst>
              <a:gd name="adj" fmla="val 16667"/>
            </a:avLst>
          </a:prstGeom>
          <a:solidFill>
            <a:srgbClr val="464646">
              <a:alpha val="50000"/>
            </a:srgb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9441" tIns="49721" rIns="99441" bIns="49721" anchor="ctr"/>
          <a:lstStyle>
            <a:lvl1pPr marL="982663" defTabSz="993775">
              <a:defRPr>
                <a:solidFill>
                  <a:schemeClr val="tx1"/>
                </a:solidFill>
                <a:latin typeface="Arial" panose="020B0604020202020204" pitchFamily="34" charset="0"/>
              </a:defRPr>
            </a:lvl1pPr>
            <a:lvl2pPr marL="1177925" defTabSz="993775">
              <a:defRPr>
                <a:solidFill>
                  <a:schemeClr val="tx1"/>
                </a:solidFill>
                <a:latin typeface="Arial" panose="020B0604020202020204" pitchFamily="34" charset="0"/>
              </a:defRPr>
            </a:lvl2pPr>
            <a:lvl3pPr marL="1373188" defTabSz="993775">
              <a:defRPr>
                <a:solidFill>
                  <a:schemeClr val="tx1"/>
                </a:solidFill>
                <a:latin typeface="Arial" panose="020B0604020202020204" pitchFamily="34" charset="0"/>
              </a:defRPr>
            </a:lvl3pPr>
            <a:lvl4pPr marL="1566863" defTabSz="993775">
              <a:defRPr>
                <a:solidFill>
                  <a:schemeClr val="tx1"/>
                </a:solidFill>
                <a:latin typeface="Arial" panose="020B0604020202020204" pitchFamily="34" charset="0"/>
              </a:defRPr>
            </a:lvl4pPr>
            <a:lvl5pPr marL="1989138" defTabSz="993775">
              <a:defRPr>
                <a:solidFill>
                  <a:schemeClr val="tx1"/>
                </a:solidFill>
                <a:latin typeface="Arial" panose="020B0604020202020204" pitchFamily="34" charset="0"/>
              </a:defRPr>
            </a:lvl5pPr>
            <a:lvl6pPr marL="2446338" defTabSz="993775" fontAlgn="base">
              <a:spcBef>
                <a:spcPct val="0"/>
              </a:spcBef>
              <a:spcAft>
                <a:spcPct val="0"/>
              </a:spcAft>
              <a:defRPr>
                <a:solidFill>
                  <a:schemeClr val="tx1"/>
                </a:solidFill>
                <a:latin typeface="Arial" panose="020B0604020202020204" pitchFamily="34" charset="0"/>
              </a:defRPr>
            </a:lvl6pPr>
            <a:lvl7pPr marL="2903538" defTabSz="993775" fontAlgn="base">
              <a:spcBef>
                <a:spcPct val="0"/>
              </a:spcBef>
              <a:spcAft>
                <a:spcPct val="0"/>
              </a:spcAft>
              <a:defRPr>
                <a:solidFill>
                  <a:schemeClr val="tx1"/>
                </a:solidFill>
                <a:latin typeface="Arial" panose="020B0604020202020204" pitchFamily="34" charset="0"/>
              </a:defRPr>
            </a:lvl7pPr>
            <a:lvl8pPr marL="3360738" defTabSz="993775" fontAlgn="base">
              <a:spcBef>
                <a:spcPct val="0"/>
              </a:spcBef>
              <a:spcAft>
                <a:spcPct val="0"/>
              </a:spcAft>
              <a:defRPr>
                <a:solidFill>
                  <a:schemeClr val="tx1"/>
                </a:solidFill>
                <a:latin typeface="Arial" panose="020B0604020202020204" pitchFamily="34" charset="0"/>
              </a:defRPr>
            </a:lvl8pPr>
            <a:lvl9pPr marL="3817938" defTabSz="993775" fontAlgn="base">
              <a:spcBef>
                <a:spcPct val="0"/>
              </a:spcBef>
              <a:spcAft>
                <a:spcPct val="0"/>
              </a:spcAft>
              <a:defRPr>
                <a:solidFill>
                  <a:schemeClr val="tx1"/>
                </a:solidFill>
                <a:latin typeface="Arial" panose="020B0604020202020204" pitchFamily="34" charset="0"/>
              </a:defRPr>
            </a:lvl9pPr>
          </a:lstStyle>
          <a:p>
            <a:endParaRPr lang="ru-RU" altLang="ru-RU" sz="3500">
              <a:solidFill>
                <a:schemeClr val="bg1"/>
              </a:solidFill>
            </a:endParaRPr>
          </a:p>
        </p:txBody>
      </p:sp>
      <p:sp>
        <p:nvSpPr>
          <p:cNvPr id="14" name="AutoShape 8"/>
          <p:cNvSpPr>
            <a:spLocks noChangeArrowheads="1"/>
          </p:cNvSpPr>
          <p:nvPr/>
        </p:nvSpPr>
        <p:spPr bwMode="auto">
          <a:xfrm>
            <a:off x="2511075" y="5753922"/>
            <a:ext cx="596900" cy="854075"/>
          </a:xfrm>
          <a:prstGeom prst="roundRect">
            <a:avLst>
              <a:gd name="adj" fmla="val 16667"/>
            </a:avLst>
          </a:prstGeom>
          <a:solidFill>
            <a:schemeClr val="accent1"/>
          </a:solidFill>
          <a:ln w="2857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9441" tIns="49721" rIns="99441" bIns="49721" anchor="ctr"/>
          <a:lstStyle>
            <a:lvl1pPr defTabSz="993775">
              <a:defRPr>
                <a:solidFill>
                  <a:schemeClr val="tx1"/>
                </a:solidFill>
                <a:latin typeface="Arial" panose="020B0604020202020204" pitchFamily="34" charset="0"/>
              </a:defRPr>
            </a:lvl1pPr>
            <a:lvl2pPr marL="496888" defTabSz="993775">
              <a:defRPr>
                <a:solidFill>
                  <a:schemeClr val="tx1"/>
                </a:solidFill>
                <a:latin typeface="Arial" panose="020B0604020202020204" pitchFamily="34" charset="0"/>
              </a:defRPr>
            </a:lvl2pPr>
            <a:lvl3pPr marL="993775" defTabSz="993775">
              <a:defRPr>
                <a:solidFill>
                  <a:schemeClr val="tx1"/>
                </a:solidFill>
                <a:latin typeface="Arial" panose="020B0604020202020204" pitchFamily="34" charset="0"/>
              </a:defRPr>
            </a:lvl3pPr>
            <a:lvl4pPr marL="1492250" defTabSz="993775">
              <a:defRPr>
                <a:solidFill>
                  <a:schemeClr val="tx1"/>
                </a:solidFill>
                <a:latin typeface="Arial" panose="020B0604020202020204" pitchFamily="34" charset="0"/>
              </a:defRPr>
            </a:lvl4pPr>
            <a:lvl5pPr marL="1989138" defTabSz="993775">
              <a:defRPr>
                <a:solidFill>
                  <a:schemeClr val="tx1"/>
                </a:solidFill>
                <a:latin typeface="Arial" panose="020B0604020202020204" pitchFamily="34" charset="0"/>
              </a:defRPr>
            </a:lvl5pPr>
            <a:lvl6pPr marL="2446338" defTabSz="993775" fontAlgn="base">
              <a:spcBef>
                <a:spcPct val="0"/>
              </a:spcBef>
              <a:spcAft>
                <a:spcPct val="0"/>
              </a:spcAft>
              <a:defRPr>
                <a:solidFill>
                  <a:schemeClr val="tx1"/>
                </a:solidFill>
                <a:latin typeface="Arial" panose="020B0604020202020204" pitchFamily="34" charset="0"/>
              </a:defRPr>
            </a:lvl6pPr>
            <a:lvl7pPr marL="2903538" defTabSz="993775" fontAlgn="base">
              <a:spcBef>
                <a:spcPct val="0"/>
              </a:spcBef>
              <a:spcAft>
                <a:spcPct val="0"/>
              </a:spcAft>
              <a:defRPr>
                <a:solidFill>
                  <a:schemeClr val="tx1"/>
                </a:solidFill>
                <a:latin typeface="Arial" panose="020B0604020202020204" pitchFamily="34" charset="0"/>
              </a:defRPr>
            </a:lvl7pPr>
            <a:lvl8pPr marL="3360738" defTabSz="993775" fontAlgn="base">
              <a:spcBef>
                <a:spcPct val="0"/>
              </a:spcBef>
              <a:spcAft>
                <a:spcPct val="0"/>
              </a:spcAft>
              <a:defRPr>
                <a:solidFill>
                  <a:schemeClr val="tx1"/>
                </a:solidFill>
                <a:latin typeface="Arial" panose="020B0604020202020204" pitchFamily="34" charset="0"/>
              </a:defRPr>
            </a:lvl8pPr>
            <a:lvl9pPr marL="3817938" defTabSz="993775" fontAlgn="base">
              <a:spcBef>
                <a:spcPct val="0"/>
              </a:spcBef>
              <a:spcAft>
                <a:spcPct val="0"/>
              </a:spcAft>
              <a:defRPr>
                <a:solidFill>
                  <a:schemeClr val="tx1"/>
                </a:solidFill>
                <a:latin typeface="Arial" panose="020B0604020202020204" pitchFamily="34" charset="0"/>
              </a:defRPr>
            </a:lvl9pPr>
          </a:lstStyle>
          <a:p>
            <a:pPr algn="ctr"/>
            <a:r>
              <a:rPr lang="ru-RU" altLang="ru-RU" sz="3000" b="1" dirty="0">
                <a:solidFill>
                  <a:schemeClr val="bg1"/>
                </a:solidFill>
              </a:rPr>
              <a:t>3</a:t>
            </a:r>
            <a:r>
              <a:rPr lang="en-US" altLang="ru-RU" sz="3000" b="1" dirty="0">
                <a:solidFill>
                  <a:schemeClr val="bg1"/>
                </a:solidFill>
              </a:rPr>
              <a:t>.</a:t>
            </a:r>
            <a:r>
              <a:rPr lang="ru-RU" altLang="ru-RU" sz="3000" b="1" dirty="0">
                <a:solidFill>
                  <a:schemeClr val="bg1"/>
                </a:solidFill>
              </a:rPr>
              <a:t>3</a:t>
            </a:r>
          </a:p>
        </p:txBody>
      </p:sp>
      <p:sp>
        <p:nvSpPr>
          <p:cNvPr id="15" name="AutoShape 27"/>
          <p:cNvSpPr>
            <a:spLocks noChangeArrowheads="1"/>
          </p:cNvSpPr>
          <p:nvPr/>
        </p:nvSpPr>
        <p:spPr bwMode="auto">
          <a:xfrm>
            <a:off x="3683903" y="5694289"/>
            <a:ext cx="6680284" cy="851720"/>
          </a:xfrm>
          <a:prstGeom prst="roundRect">
            <a:avLst>
              <a:gd name="adj" fmla="val 16667"/>
            </a:avLst>
          </a:prstGeom>
          <a:noFill/>
          <a:ln>
            <a:noFill/>
          </a:ln>
          <a:effectLst/>
          <a:extLst>
            <a:ext uri="{909E8E84-426E-40DD-AFC4-6F175D3DCCD1}">
              <a14:hiddenFill xmlns:a14="http://schemas.microsoft.com/office/drawing/2010/main">
                <a:solidFill>
                  <a:srgbClr val="464646">
                    <a:alpha val="50000"/>
                  </a:srgbClr>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9441" tIns="49721" rIns="99441" bIns="49721" anchor="ctr"/>
          <a:lstStyle>
            <a:lvl1pPr marL="982663" defTabSz="993775">
              <a:defRPr>
                <a:solidFill>
                  <a:schemeClr val="tx1"/>
                </a:solidFill>
                <a:latin typeface="Arial" panose="020B0604020202020204" pitchFamily="34" charset="0"/>
              </a:defRPr>
            </a:lvl1pPr>
            <a:lvl2pPr marL="1177925" defTabSz="993775">
              <a:defRPr>
                <a:solidFill>
                  <a:schemeClr val="tx1"/>
                </a:solidFill>
                <a:latin typeface="Arial" panose="020B0604020202020204" pitchFamily="34" charset="0"/>
              </a:defRPr>
            </a:lvl2pPr>
            <a:lvl3pPr marL="1373188" defTabSz="993775">
              <a:defRPr>
                <a:solidFill>
                  <a:schemeClr val="tx1"/>
                </a:solidFill>
                <a:latin typeface="Arial" panose="020B0604020202020204" pitchFamily="34" charset="0"/>
              </a:defRPr>
            </a:lvl3pPr>
            <a:lvl4pPr marL="1566863" defTabSz="993775">
              <a:defRPr>
                <a:solidFill>
                  <a:schemeClr val="tx1"/>
                </a:solidFill>
                <a:latin typeface="Arial" panose="020B0604020202020204" pitchFamily="34" charset="0"/>
              </a:defRPr>
            </a:lvl4pPr>
            <a:lvl5pPr marL="1989138" defTabSz="993775">
              <a:defRPr>
                <a:solidFill>
                  <a:schemeClr val="tx1"/>
                </a:solidFill>
                <a:latin typeface="Arial" panose="020B0604020202020204" pitchFamily="34" charset="0"/>
              </a:defRPr>
            </a:lvl5pPr>
            <a:lvl6pPr marL="2446338" defTabSz="993775" fontAlgn="base">
              <a:spcBef>
                <a:spcPct val="0"/>
              </a:spcBef>
              <a:spcAft>
                <a:spcPct val="0"/>
              </a:spcAft>
              <a:defRPr>
                <a:solidFill>
                  <a:schemeClr val="tx1"/>
                </a:solidFill>
                <a:latin typeface="Arial" panose="020B0604020202020204" pitchFamily="34" charset="0"/>
              </a:defRPr>
            </a:lvl6pPr>
            <a:lvl7pPr marL="2903538" defTabSz="993775" fontAlgn="base">
              <a:spcBef>
                <a:spcPct val="0"/>
              </a:spcBef>
              <a:spcAft>
                <a:spcPct val="0"/>
              </a:spcAft>
              <a:defRPr>
                <a:solidFill>
                  <a:schemeClr val="tx1"/>
                </a:solidFill>
                <a:latin typeface="Arial" panose="020B0604020202020204" pitchFamily="34" charset="0"/>
              </a:defRPr>
            </a:lvl7pPr>
            <a:lvl8pPr marL="3360738" defTabSz="993775" fontAlgn="base">
              <a:spcBef>
                <a:spcPct val="0"/>
              </a:spcBef>
              <a:spcAft>
                <a:spcPct val="0"/>
              </a:spcAft>
              <a:defRPr>
                <a:solidFill>
                  <a:schemeClr val="tx1"/>
                </a:solidFill>
                <a:latin typeface="Arial" panose="020B0604020202020204" pitchFamily="34" charset="0"/>
              </a:defRPr>
            </a:lvl8pPr>
            <a:lvl9pPr marL="3817938" defTabSz="993775" fontAlgn="base">
              <a:spcBef>
                <a:spcPct val="0"/>
              </a:spcBef>
              <a:spcAft>
                <a:spcPct val="0"/>
              </a:spcAft>
              <a:defRPr>
                <a:solidFill>
                  <a:schemeClr val="tx1"/>
                </a:solidFill>
                <a:latin typeface="Arial" panose="020B0604020202020204" pitchFamily="34" charset="0"/>
              </a:defRPr>
            </a:lvl9pPr>
          </a:lstStyle>
          <a:p>
            <a:pPr marL="0" algn="ctr"/>
            <a:r>
              <a:rPr lang="ru-RU" sz="3600" dirty="0">
                <a:solidFill>
                  <a:schemeClr val="bg1"/>
                </a:solidFill>
              </a:rPr>
              <a:t>Гипотеза о равенстве дисперсий</a:t>
            </a:r>
          </a:p>
        </p:txBody>
      </p:sp>
      <p:sp>
        <p:nvSpPr>
          <p:cNvPr id="2" name="Номер слайда 1"/>
          <p:cNvSpPr>
            <a:spLocks noGrp="1"/>
          </p:cNvSpPr>
          <p:nvPr>
            <p:ph type="sldNum" sz="quarter" idx="12"/>
          </p:nvPr>
        </p:nvSpPr>
        <p:spPr>
          <a:xfrm>
            <a:off x="11335615" y="6605015"/>
            <a:ext cx="699223" cy="379409"/>
          </a:xfrm>
        </p:spPr>
        <p:txBody>
          <a:bodyPr/>
          <a:lstStyle/>
          <a:p>
            <a:fld id="{952B6C0E-C4B9-4094-8E59-5B7DF00D5415}" type="slidenum">
              <a:rPr lang="ru-RU" smtClean="0"/>
              <a:t>129</a:t>
            </a:fld>
            <a:endParaRPr lang="ru-RU" dirty="0"/>
          </a:p>
        </p:txBody>
      </p:sp>
    </p:spTree>
    <p:extLst>
      <p:ext uri="{BB962C8B-B14F-4D97-AF65-F5344CB8AC3E}">
        <p14:creationId xmlns:p14="http://schemas.microsoft.com/office/powerpoint/2010/main" val="39124993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AutoShape 8"/>
          <p:cNvSpPr>
            <a:spLocks noChangeArrowheads="1"/>
          </p:cNvSpPr>
          <p:nvPr/>
        </p:nvSpPr>
        <p:spPr bwMode="auto">
          <a:xfrm>
            <a:off x="1417881" y="313814"/>
            <a:ext cx="10948119" cy="6337300"/>
          </a:xfrm>
          <a:prstGeom prst="roundRect">
            <a:avLst>
              <a:gd name="adj" fmla="val 16667"/>
            </a:avLst>
          </a:prstGeom>
          <a:solidFill>
            <a:schemeClr val="bg1">
              <a:alpha val="50195"/>
            </a:scheme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a:solidFill>
                  <a:schemeClr val="tx1"/>
                </a:solidFill>
                <a:latin typeface="Arial" panose="020B0604020202020204" pitchFamily="34" charset="0"/>
                <a:cs typeface="Arial" panose="020B0604020202020204" pitchFamily="34" charset="0"/>
              </a:defRPr>
            </a:lvl1pPr>
            <a:lvl2pPr marL="742950" indent="-285750" defTabSz="993775">
              <a:defRPr>
                <a:solidFill>
                  <a:schemeClr val="tx1"/>
                </a:solidFill>
                <a:latin typeface="Arial" panose="020B0604020202020204" pitchFamily="34" charset="0"/>
                <a:cs typeface="Arial" panose="020B0604020202020204" pitchFamily="34" charset="0"/>
              </a:defRPr>
            </a:lvl2pPr>
            <a:lvl3pPr marL="1143000" indent="-228600" defTabSz="993775">
              <a:defRPr>
                <a:solidFill>
                  <a:schemeClr val="tx1"/>
                </a:solidFill>
                <a:latin typeface="Arial" panose="020B0604020202020204" pitchFamily="34" charset="0"/>
                <a:cs typeface="Arial" panose="020B0604020202020204" pitchFamily="34" charset="0"/>
              </a:defRPr>
            </a:lvl3pPr>
            <a:lvl4pPr marL="1600200" indent="-228600" defTabSz="993775">
              <a:defRPr>
                <a:solidFill>
                  <a:schemeClr val="tx1"/>
                </a:solidFill>
                <a:latin typeface="Arial" panose="020B0604020202020204" pitchFamily="34" charset="0"/>
                <a:cs typeface="Arial" panose="020B0604020202020204" pitchFamily="34" charset="0"/>
              </a:defRPr>
            </a:lvl4pPr>
            <a:lvl5pPr marL="2057400" indent="-228600" defTabSz="993775">
              <a:defRPr>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110595" name="Заголовок 1"/>
          <p:cNvSpPr>
            <a:spLocks noGrp="1"/>
          </p:cNvSpPr>
          <p:nvPr>
            <p:ph type="title" idx="4294967295"/>
          </p:nvPr>
        </p:nvSpPr>
        <p:spPr bwMode="auto">
          <a:xfrm>
            <a:off x="1195389" y="285750"/>
            <a:ext cx="9248775" cy="73025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vert="horz" lIns="99441" tIns="49721" rIns="99441" bIns="49721" rtlCol="0" anchor="ctr">
            <a:normAutofit fontScale="90000"/>
          </a:bodyPr>
          <a:lstStyle/>
          <a:p>
            <a:pPr eaLnBrk="1" hangingPunct="1"/>
            <a:r>
              <a:rPr lang="ru-RU" altLang="ru-RU" sz="3100" b="1" dirty="0"/>
              <a:t>Тесты для проверки гипотез на равенство дисперсий</a:t>
            </a:r>
          </a:p>
        </p:txBody>
      </p:sp>
      <p:sp>
        <p:nvSpPr>
          <p:cNvPr id="110596" name="Text Box 7"/>
          <p:cNvSpPr txBox="1">
            <a:spLocks noChangeArrowheads="1"/>
          </p:cNvSpPr>
          <p:nvPr/>
        </p:nvSpPr>
        <p:spPr bwMode="auto">
          <a:xfrm>
            <a:off x="3905252" y="0"/>
            <a:ext cx="5100637" cy="407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9441" tIns="49721" rIns="99441" bIns="49721">
            <a:spAutoFit/>
          </a:bodyPr>
          <a:lstStyle>
            <a:lvl1pPr defTabSz="993775">
              <a:defRPr>
                <a:solidFill>
                  <a:schemeClr val="tx1"/>
                </a:solidFill>
                <a:latin typeface="Arial" panose="020B0604020202020204" pitchFamily="34" charset="0"/>
                <a:cs typeface="Arial" panose="020B0604020202020204" pitchFamily="34" charset="0"/>
              </a:defRPr>
            </a:lvl1pPr>
            <a:lvl2pPr marL="742950" indent="-285750" defTabSz="993775">
              <a:defRPr>
                <a:solidFill>
                  <a:schemeClr val="tx1"/>
                </a:solidFill>
                <a:latin typeface="Arial" panose="020B0604020202020204" pitchFamily="34" charset="0"/>
                <a:cs typeface="Arial" panose="020B0604020202020204" pitchFamily="34" charset="0"/>
              </a:defRPr>
            </a:lvl2pPr>
            <a:lvl3pPr marL="1143000" indent="-228600" defTabSz="993775">
              <a:defRPr>
                <a:solidFill>
                  <a:schemeClr val="tx1"/>
                </a:solidFill>
                <a:latin typeface="Arial" panose="020B0604020202020204" pitchFamily="34" charset="0"/>
                <a:cs typeface="Arial" panose="020B0604020202020204" pitchFamily="34" charset="0"/>
              </a:defRPr>
            </a:lvl3pPr>
            <a:lvl4pPr marL="1600200" indent="-228600" defTabSz="993775">
              <a:defRPr>
                <a:solidFill>
                  <a:schemeClr val="tx1"/>
                </a:solidFill>
                <a:latin typeface="Arial" panose="020B0604020202020204" pitchFamily="34" charset="0"/>
                <a:cs typeface="Arial" panose="020B0604020202020204" pitchFamily="34" charset="0"/>
              </a:defRPr>
            </a:lvl4pPr>
            <a:lvl5pPr marL="2057400" indent="-228600" defTabSz="993775">
              <a:defRPr>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ru-RU" altLang="ru-RU" b="1" dirty="0">
                <a:solidFill>
                  <a:schemeClr val="bg1"/>
                </a:solidFill>
                <a:latin typeface="Courier New" panose="02070309020205020404" pitchFamily="49" charset="0"/>
              </a:rPr>
              <a:t>Обработка больших данных. Л9</a:t>
            </a:r>
          </a:p>
        </p:txBody>
      </p:sp>
      <p:sp>
        <p:nvSpPr>
          <p:cNvPr id="2" name="Номер слайда 1"/>
          <p:cNvSpPr>
            <a:spLocks noGrp="1"/>
          </p:cNvSpPr>
          <p:nvPr>
            <p:ph type="sldNum" sz="quarter" idx="12"/>
          </p:nvPr>
        </p:nvSpPr>
        <p:spPr/>
        <p:txBody>
          <a:bodyPr/>
          <a:lstStyle/>
          <a:p>
            <a:fld id="{952B6C0E-C4B9-4094-8E59-5B7DF00D5415}" type="slidenum">
              <a:rPr lang="ru-RU" sz="1400">
                <a:solidFill>
                  <a:schemeClr val="tx1"/>
                </a:solidFill>
              </a:rPr>
              <a:t>130</a:t>
            </a:fld>
            <a:endParaRPr lang="ru-RU" sz="1400">
              <a:solidFill>
                <a:schemeClr val="tx1"/>
              </a:solidFill>
            </a:endParaRPr>
          </a:p>
        </p:txBody>
      </p:sp>
      <p:graphicFrame>
        <p:nvGraphicFramePr>
          <p:cNvPr id="3" name="Таблица 2">
            <a:extLst>
              <a:ext uri="{FF2B5EF4-FFF2-40B4-BE49-F238E27FC236}">
                <a16:creationId xmlns:a16="http://schemas.microsoft.com/office/drawing/2014/main" id="{4D35BF01-7DB2-413D-AC0B-93CD56A8CBC1}"/>
              </a:ext>
            </a:extLst>
          </p:cNvPr>
          <p:cNvGraphicFramePr>
            <a:graphicFrameLocks noGrp="1"/>
          </p:cNvGraphicFramePr>
          <p:nvPr>
            <p:extLst>
              <p:ext uri="{D42A27DB-BD31-4B8C-83A1-F6EECF244321}">
                <p14:modId xmlns:p14="http://schemas.microsoft.com/office/powerpoint/2010/main" val="2128024734"/>
              </p:ext>
            </p:extLst>
          </p:nvPr>
        </p:nvGraphicFramePr>
        <p:xfrm>
          <a:off x="1298809" y="1474912"/>
          <a:ext cx="10430668" cy="3651758"/>
        </p:xfrm>
        <a:graphic>
          <a:graphicData uri="http://schemas.openxmlformats.org/drawingml/2006/table">
            <a:tbl>
              <a:tblPr firstRow="1" firstCol="1" bandRow="1">
                <a:tableStyleId>{5C22544A-7EE6-4342-B048-85BDC9FD1C3A}</a:tableStyleId>
              </a:tblPr>
              <a:tblGrid>
                <a:gridCol w="2607667">
                  <a:extLst>
                    <a:ext uri="{9D8B030D-6E8A-4147-A177-3AD203B41FA5}">
                      <a16:colId xmlns:a16="http://schemas.microsoft.com/office/drawing/2014/main" val="1505057295"/>
                    </a:ext>
                  </a:extLst>
                </a:gridCol>
                <a:gridCol w="2283633">
                  <a:extLst>
                    <a:ext uri="{9D8B030D-6E8A-4147-A177-3AD203B41FA5}">
                      <a16:colId xmlns:a16="http://schemas.microsoft.com/office/drawing/2014/main" val="4018130198"/>
                    </a:ext>
                  </a:extLst>
                </a:gridCol>
                <a:gridCol w="2931701">
                  <a:extLst>
                    <a:ext uri="{9D8B030D-6E8A-4147-A177-3AD203B41FA5}">
                      <a16:colId xmlns:a16="http://schemas.microsoft.com/office/drawing/2014/main" val="535324113"/>
                    </a:ext>
                  </a:extLst>
                </a:gridCol>
                <a:gridCol w="2607667">
                  <a:extLst>
                    <a:ext uri="{9D8B030D-6E8A-4147-A177-3AD203B41FA5}">
                      <a16:colId xmlns:a16="http://schemas.microsoft.com/office/drawing/2014/main" val="1433191366"/>
                    </a:ext>
                  </a:extLst>
                </a:gridCol>
              </a:tblGrid>
              <a:tr h="0">
                <a:tc>
                  <a:txBody>
                    <a:bodyPr/>
                    <a:lstStyle/>
                    <a:p>
                      <a:pPr algn="ctr">
                        <a:lnSpc>
                          <a:spcPct val="115000"/>
                        </a:lnSpc>
                      </a:pPr>
                      <a:r>
                        <a:rPr lang="ru-RU" sz="1600" kern="100">
                          <a:effectLst/>
                        </a:rPr>
                        <a:t>Тест</a:t>
                      </a:r>
                      <a:endParaRPr lang="ru-RU" sz="1600" kern="100">
                        <a:effectLst/>
                        <a:latin typeface="Times New Roman" panose="02020603050405020304" pitchFamily="18" charset="0"/>
                        <a:ea typeface="Times New Roman" panose="02020603050405020304" pitchFamily="18" charset="0"/>
                      </a:endParaRPr>
                    </a:p>
                  </a:txBody>
                  <a:tcPr marL="9525" marR="9525" marT="9525" marB="9525" anchor="ctr"/>
                </a:tc>
                <a:tc>
                  <a:txBody>
                    <a:bodyPr/>
                    <a:lstStyle/>
                    <a:p>
                      <a:pPr algn="ctr">
                        <a:lnSpc>
                          <a:spcPct val="115000"/>
                        </a:lnSpc>
                      </a:pPr>
                      <a:r>
                        <a:rPr lang="ru-RU" sz="1600" kern="100">
                          <a:effectLst/>
                        </a:rPr>
                        <a:t>Природа</a:t>
                      </a:r>
                      <a:endParaRPr lang="ru-RU" sz="1600" kern="100">
                        <a:effectLst/>
                        <a:latin typeface="Times New Roman" panose="02020603050405020304" pitchFamily="18" charset="0"/>
                        <a:ea typeface="Times New Roman" panose="02020603050405020304" pitchFamily="18" charset="0"/>
                      </a:endParaRPr>
                    </a:p>
                  </a:txBody>
                  <a:tcPr marL="9525" marR="9525" marT="9525" marB="9525" anchor="ctr"/>
                </a:tc>
                <a:tc>
                  <a:txBody>
                    <a:bodyPr/>
                    <a:lstStyle/>
                    <a:p>
                      <a:pPr algn="ctr">
                        <a:lnSpc>
                          <a:spcPct val="115000"/>
                        </a:lnSpc>
                      </a:pPr>
                      <a:r>
                        <a:rPr lang="ru-RU" sz="1600" kern="100">
                          <a:effectLst/>
                        </a:rPr>
                        <a:t>Основное предположение</a:t>
                      </a:r>
                      <a:endParaRPr lang="ru-RU" sz="1600" kern="100">
                        <a:effectLst/>
                        <a:latin typeface="Times New Roman" panose="02020603050405020304" pitchFamily="18" charset="0"/>
                        <a:ea typeface="Times New Roman" panose="02020603050405020304" pitchFamily="18" charset="0"/>
                      </a:endParaRPr>
                    </a:p>
                  </a:txBody>
                  <a:tcPr marL="9525" marR="9525" marT="9525" marB="9525" anchor="ctr"/>
                </a:tc>
                <a:tc>
                  <a:txBody>
                    <a:bodyPr/>
                    <a:lstStyle/>
                    <a:p>
                      <a:pPr algn="ctr">
                        <a:lnSpc>
                          <a:spcPct val="115000"/>
                        </a:lnSpc>
                      </a:pPr>
                      <a:r>
                        <a:rPr lang="ru-RU" sz="1600" kern="100">
                          <a:effectLst/>
                        </a:rPr>
                        <a:t>Чувствительность к отклонениям от нормальности</a:t>
                      </a:r>
                      <a:endParaRPr lang="ru-RU" sz="1600" kern="100">
                        <a:effectLst/>
                        <a:latin typeface="Times New Roman" panose="02020603050405020304" pitchFamily="18" charset="0"/>
                        <a:ea typeface="Times New Roman" panose="02020603050405020304" pitchFamily="18" charset="0"/>
                      </a:endParaRPr>
                    </a:p>
                  </a:txBody>
                  <a:tcPr marL="9525" marR="9525" marT="9525" marB="9525" anchor="ctr"/>
                </a:tc>
                <a:extLst>
                  <a:ext uri="{0D108BD9-81ED-4DB2-BD59-A6C34878D82A}">
                    <a16:rowId xmlns:a16="http://schemas.microsoft.com/office/drawing/2014/main" val="39643460"/>
                  </a:ext>
                </a:extLst>
              </a:tr>
              <a:tr h="0">
                <a:tc>
                  <a:txBody>
                    <a:bodyPr/>
                    <a:lstStyle/>
                    <a:p>
                      <a:pPr>
                        <a:lnSpc>
                          <a:spcPct val="115000"/>
                        </a:lnSpc>
                      </a:pPr>
                      <a:r>
                        <a:rPr lang="ru-RU" sz="1600" kern="100">
                          <a:effectLst/>
                        </a:rPr>
                        <a:t>F-тест (var.test)</a:t>
                      </a:r>
                      <a:endParaRPr lang="ru-RU" sz="1600" kern="100">
                        <a:effectLst/>
                        <a:latin typeface="Times New Roman" panose="02020603050405020304" pitchFamily="18" charset="0"/>
                        <a:ea typeface="Times New Roman" panose="02020603050405020304" pitchFamily="18" charset="0"/>
                      </a:endParaRPr>
                    </a:p>
                  </a:txBody>
                  <a:tcPr marL="9525" marR="9525" marT="9525" marB="9525" anchor="ctr"/>
                </a:tc>
                <a:tc>
                  <a:txBody>
                    <a:bodyPr/>
                    <a:lstStyle/>
                    <a:p>
                      <a:pPr marL="92075" indent="0">
                        <a:lnSpc>
                          <a:spcPct val="115000"/>
                        </a:lnSpc>
                      </a:pPr>
                      <a:r>
                        <a:rPr lang="ru-RU" sz="1600" kern="100" dirty="0">
                          <a:effectLst/>
                        </a:rPr>
                        <a:t>Параметрический</a:t>
                      </a:r>
                      <a:endParaRPr lang="ru-RU" sz="1600" kern="100" dirty="0">
                        <a:effectLst/>
                        <a:latin typeface="Times New Roman" panose="02020603050405020304" pitchFamily="18" charset="0"/>
                        <a:ea typeface="Times New Roman" panose="02020603050405020304" pitchFamily="18" charset="0"/>
                      </a:endParaRPr>
                    </a:p>
                  </a:txBody>
                  <a:tcPr marL="9525" marR="9525" marT="9525" marB="9525" anchor="ctr"/>
                </a:tc>
                <a:tc>
                  <a:txBody>
                    <a:bodyPr/>
                    <a:lstStyle/>
                    <a:p>
                      <a:pPr>
                        <a:lnSpc>
                          <a:spcPct val="115000"/>
                        </a:lnSpc>
                      </a:pPr>
                      <a:r>
                        <a:rPr lang="ru-RU" sz="1600" kern="100" dirty="0">
                          <a:effectLst/>
                        </a:rPr>
                        <a:t>Нормальное распределение данных</a:t>
                      </a:r>
                      <a:endParaRPr lang="ru-RU" sz="1600" kern="100" dirty="0">
                        <a:effectLst/>
                        <a:latin typeface="Times New Roman" panose="02020603050405020304" pitchFamily="18" charset="0"/>
                        <a:ea typeface="Times New Roman" panose="02020603050405020304" pitchFamily="18" charset="0"/>
                      </a:endParaRPr>
                    </a:p>
                  </a:txBody>
                  <a:tcPr marL="9525" marR="9525" marT="9525" marB="9525" anchor="ctr"/>
                </a:tc>
                <a:tc>
                  <a:txBody>
                    <a:bodyPr/>
                    <a:lstStyle/>
                    <a:p>
                      <a:pPr>
                        <a:lnSpc>
                          <a:spcPct val="115000"/>
                        </a:lnSpc>
                      </a:pPr>
                      <a:r>
                        <a:rPr lang="ru-RU" sz="1600" kern="100">
                          <a:effectLst/>
                        </a:rPr>
                        <a:t>Очень высокая (не рекомендуется для сильно скошенных данных)</a:t>
                      </a:r>
                      <a:endParaRPr lang="ru-RU" sz="1600" kern="100">
                        <a:effectLst/>
                        <a:latin typeface="Times New Roman" panose="02020603050405020304" pitchFamily="18" charset="0"/>
                        <a:ea typeface="Times New Roman" panose="02020603050405020304" pitchFamily="18" charset="0"/>
                      </a:endParaRPr>
                    </a:p>
                  </a:txBody>
                  <a:tcPr marL="9525" marR="9525" marT="9525" marB="9525" anchor="ctr"/>
                </a:tc>
                <a:extLst>
                  <a:ext uri="{0D108BD9-81ED-4DB2-BD59-A6C34878D82A}">
                    <a16:rowId xmlns:a16="http://schemas.microsoft.com/office/drawing/2014/main" val="3749953440"/>
                  </a:ext>
                </a:extLst>
              </a:tr>
              <a:tr h="0">
                <a:tc>
                  <a:txBody>
                    <a:bodyPr/>
                    <a:lstStyle/>
                    <a:p>
                      <a:pPr>
                        <a:lnSpc>
                          <a:spcPct val="115000"/>
                        </a:lnSpc>
                      </a:pPr>
                      <a:r>
                        <a:rPr lang="ru-RU" sz="1600" kern="100">
                          <a:effectLst/>
                        </a:rPr>
                        <a:t>Тест Бартлетта</a:t>
                      </a:r>
                      <a:endParaRPr lang="ru-RU" sz="1600" kern="100">
                        <a:effectLst/>
                        <a:latin typeface="Times New Roman" panose="02020603050405020304" pitchFamily="18" charset="0"/>
                        <a:ea typeface="Times New Roman" panose="02020603050405020304" pitchFamily="18" charset="0"/>
                      </a:endParaRPr>
                    </a:p>
                  </a:txBody>
                  <a:tcPr marL="9525" marR="9525" marT="9525" marB="9525" anchor="ctr"/>
                </a:tc>
                <a:tc>
                  <a:txBody>
                    <a:bodyPr/>
                    <a:lstStyle/>
                    <a:p>
                      <a:pPr marL="92075" indent="0">
                        <a:lnSpc>
                          <a:spcPct val="115000"/>
                        </a:lnSpc>
                      </a:pPr>
                      <a:r>
                        <a:rPr lang="ru-RU" sz="1600" kern="100" dirty="0">
                          <a:effectLst/>
                        </a:rPr>
                        <a:t>Параметрический</a:t>
                      </a:r>
                      <a:endParaRPr lang="ru-RU" sz="1600" kern="100" dirty="0">
                        <a:effectLst/>
                        <a:latin typeface="Times New Roman" panose="02020603050405020304" pitchFamily="18" charset="0"/>
                        <a:ea typeface="Times New Roman" panose="02020603050405020304" pitchFamily="18" charset="0"/>
                      </a:endParaRPr>
                    </a:p>
                  </a:txBody>
                  <a:tcPr marL="9525" marR="9525" marT="9525" marB="9525" anchor="ctr"/>
                </a:tc>
                <a:tc>
                  <a:txBody>
                    <a:bodyPr/>
                    <a:lstStyle/>
                    <a:p>
                      <a:pPr>
                        <a:lnSpc>
                          <a:spcPct val="115000"/>
                        </a:lnSpc>
                      </a:pPr>
                      <a:r>
                        <a:rPr lang="ru-RU" sz="1600" kern="100">
                          <a:effectLst/>
                        </a:rPr>
                        <a:t>Строгое нормальное распределение</a:t>
                      </a:r>
                      <a:endParaRPr lang="ru-RU" sz="1600" kern="100">
                        <a:effectLst/>
                        <a:latin typeface="Times New Roman" panose="02020603050405020304" pitchFamily="18" charset="0"/>
                        <a:ea typeface="Times New Roman" panose="02020603050405020304" pitchFamily="18" charset="0"/>
                      </a:endParaRPr>
                    </a:p>
                  </a:txBody>
                  <a:tcPr marL="9525" marR="9525" marT="9525" marB="9525" anchor="ctr"/>
                </a:tc>
                <a:tc>
                  <a:txBody>
                    <a:bodyPr/>
                    <a:lstStyle/>
                    <a:p>
                      <a:pPr>
                        <a:lnSpc>
                          <a:spcPct val="115000"/>
                        </a:lnSpc>
                      </a:pPr>
                      <a:r>
                        <a:rPr lang="ru-RU" sz="1600" kern="100">
                          <a:effectLst/>
                        </a:rPr>
                        <a:t>Чрезвычайно высокая</a:t>
                      </a:r>
                      <a:endParaRPr lang="ru-RU" sz="1600" kern="100">
                        <a:effectLst/>
                        <a:latin typeface="Times New Roman" panose="02020603050405020304" pitchFamily="18" charset="0"/>
                        <a:ea typeface="Times New Roman" panose="02020603050405020304" pitchFamily="18" charset="0"/>
                      </a:endParaRPr>
                    </a:p>
                  </a:txBody>
                  <a:tcPr marL="9525" marR="9525" marT="9525" marB="9525" anchor="ctr"/>
                </a:tc>
                <a:extLst>
                  <a:ext uri="{0D108BD9-81ED-4DB2-BD59-A6C34878D82A}">
                    <a16:rowId xmlns:a16="http://schemas.microsoft.com/office/drawing/2014/main" val="2524246341"/>
                  </a:ext>
                </a:extLst>
              </a:tr>
              <a:tr h="0">
                <a:tc>
                  <a:txBody>
                    <a:bodyPr/>
                    <a:lstStyle/>
                    <a:p>
                      <a:pPr>
                        <a:lnSpc>
                          <a:spcPct val="115000"/>
                        </a:lnSpc>
                      </a:pPr>
                      <a:r>
                        <a:rPr lang="ru-RU" sz="1600" kern="100" dirty="0">
                          <a:effectLst/>
                        </a:rPr>
                        <a:t>Тест </a:t>
                      </a:r>
                      <a:r>
                        <a:rPr lang="ru-RU" sz="1600" kern="100" dirty="0" err="1">
                          <a:effectLst/>
                        </a:rPr>
                        <a:t>Левена</a:t>
                      </a:r>
                      <a:endParaRPr lang="ru-RU" sz="1600" kern="100" dirty="0">
                        <a:effectLst/>
                        <a:latin typeface="Times New Roman" panose="02020603050405020304" pitchFamily="18" charset="0"/>
                        <a:ea typeface="Times New Roman" panose="02020603050405020304" pitchFamily="18" charset="0"/>
                      </a:endParaRPr>
                    </a:p>
                  </a:txBody>
                  <a:tcPr marL="9525" marR="9525" marT="9525" marB="9525" anchor="ctr"/>
                </a:tc>
                <a:tc>
                  <a:txBody>
                    <a:bodyPr/>
                    <a:lstStyle/>
                    <a:p>
                      <a:pPr marL="92075" indent="0">
                        <a:lnSpc>
                          <a:spcPct val="115000"/>
                        </a:lnSpc>
                      </a:pPr>
                      <a:r>
                        <a:rPr lang="ru-RU" sz="1600" kern="100" dirty="0">
                          <a:effectLst/>
                        </a:rPr>
                        <a:t>Непараметрический</a:t>
                      </a:r>
                      <a:endParaRPr lang="ru-RU" sz="1600" kern="100" dirty="0">
                        <a:effectLst/>
                        <a:latin typeface="Times New Roman" panose="02020603050405020304" pitchFamily="18" charset="0"/>
                        <a:ea typeface="Times New Roman" panose="02020603050405020304" pitchFamily="18" charset="0"/>
                      </a:endParaRPr>
                    </a:p>
                  </a:txBody>
                  <a:tcPr marL="9525" marR="9525" marT="9525" marB="9525" anchor="ctr"/>
                </a:tc>
                <a:tc>
                  <a:txBody>
                    <a:bodyPr/>
                    <a:lstStyle/>
                    <a:p>
                      <a:pPr>
                        <a:lnSpc>
                          <a:spcPct val="115000"/>
                        </a:lnSpc>
                      </a:pPr>
                      <a:r>
                        <a:rPr lang="ru-RU" sz="1600" kern="100">
                          <a:effectLst/>
                        </a:rPr>
                        <a:t>Не требует нормальности, предпочтителен для умеренно скошенных данных</a:t>
                      </a:r>
                      <a:endParaRPr lang="ru-RU" sz="1600" kern="100">
                        <a:effectLst/>
                        <a:latin typeface="Times New Roman" panose="02020603050405020304" pitchFamily="18" charset="0"/>
                        <a:ea typeface="Times New Roman" panose="02020603050405020304" pitchFamily="18" charset="0"/>
                      </a:endParaRPr>
                    </a:p>
                  </a:txBody>
                  <a:tcPr marL="9525" marR="9525" marT="9525" marB="9525" anchor="ctr"/>
                </a:tc>
                <a:tc>
                  <a:txBody>
                    <a:bodyPr/>
                    <a:lstStyle/>
                    <a:p>
                      <a:pPr>
                        <a:lnSpc>
                          <a:spcPct val="115000"/>
                        </a:lnSpc>
                      </a:pPr>
                      <a:r>
                        <a:rPr lang="ru-RU" sz="1600" kern="100">
                          <a:effectLst/>
                        </a:rPr>
                        <a:t>Хорошая устойчивость</a:t>
                      </a:r>
                      <a:endParaRPr lang="ru-RU" sz="1600" kern="100">
                        <a:effectLst/>
                        <a:latin typeface="Times New Roman" panose="02020603050405020304" pitchFamily="18" charset="0"/>
                        <a:ea typeface="Times New Roman" panose="02020603050405020304" pitchFamily="18" charset="0"/>
                      </a:endParaRPr>
                    </a:p>
                  </a:txBody>
                  <a:tcPr marL="9525" marR="9525" marT="9525" marB="9525" anchor="ctr"/>
                </a:tc>
                <a:extLst>
                  <a:ext uri="{0D108BD9-81ED-4DB2-BD59-A6C34878D82A}">
                    <a16:rowId xmlns:a16="http://schemas.microsoft.com/office/drawing/2014/main" val="3007556621"/>
                  </a:ext>
                </a:extLst>
              </a:tr>
              <a:tr h="0">
                <a:tc>
                  <a:txBody>
                    <a:bodyPr/>
                    <a:lstStyle/>
                    <a:p>
                      <a:pPr>
                        <a:lnSpc>
                          <a:spcPct val="115000"/>
                        </a:lnSpc>
                      </a:pPr>
                      <a:r>
                        <a:rPr lang="ru-RU" sz="1600" kern="100">
                          <a:effectLst/>
                        </a:rPr>
                        <a:t>Тест Флигнера-Килина</a:t>
                      </a:r>
                      <a:endParaRPr lang="ru-RU" sz="1600" kern="100">
                        <a:effectLst/>
                        <a:latin typeface="Times New Roman" panose="02020603050405020304" pitchFamily="18" charset="0"/>
                        <a:ea typeface="Times New Roman" panose="02020603050405020304" pitchFamily="18" charset="0"/>
                      </a:endParaRPr>
                    </a:p>
                  </a:txBody>
                  <a:tcPr marL="9525" marR="9525" marT="9525" marB="9525" anchor="ctr"/>
                </a:tc>
                <a:tc>
                  <a:txBody>
                    <a:bodyPr/>
                    <a:lstStyle/>
                    <a:p>
                      <a:pPr marL="92075" indent="0">
                        <a:lnSpc>
                          <a:spcPct val="115000"/>
                        </a:lnSpc>
                      </a:pPr>
                      <a:r>
                        <a:rPr lang="ru-RU" sz="1600" kern="100" dirty="0">
                          <a:effectLst/>
                        </a:rPr>
                        <a:t>Непараметрический</a:t>
                      </a:r>
                      <a:endParaRPr lang="ru-RU" sz="1600" kern="100" dirty="0">
                        <a:effectLst/>
                        <a:latin typeface="Times New Roman" panose="02020603050405020304" pitchFamily="18" charset="0"/>
                        <a:ea typeface="Times New Roman" panose="02020603050405020304" pitchFamily="18" charset="0"/>
                      </a:endParaRPr>
                    </a:p>
                  </a:txBody>
                  <a:tcPr marL="9525" marR="9525" marT="9525" marB="9525" anchor="ctr"/>
                </a:tc>
                <a:tc>
                  <a:txBody>
                    <a:bodyPr/>
                    <a:lstStyle/>
                    <a:p>
                      <a:pPr>
                        <a:lnSpc>
                          <a:spcPct val="115000"/>
                        </a:lnSpc>
                      </a:pPr>
                      <a:r>
                        <a:rPr lang="ru-RU" sz="1600" kern="100">
                          <a:effectLst/>
                        </a:rPr>
                        <a:t>Не требует нормальности, наиболее устойчив к выбросам</a:t>
                      </a:r>
                      <a:endParaRPr lang="ru-RU" sz="1600" kern="100">
                        <a:effectLst/>
                        <a:latin typeface="Times New Roman" panose="02020603050405020304" pitchFamily="18" charset="0"/>
                        <a:ea typeface="Times New Roman" panose="02020603050405020304" pitchFamily="18" charset="0"/>
                      </a:endParaRPr>
                    </a:p>
                  </a:txBody>
                  <a:tcPr marL="9525" marR="9525" marT="9525" marB="9525" anchor="ctr"/>
                </a:tc>
                <a:tc>
                  <a:txBody>
                    <a:bodyPr/>
                    <a:lstStyle/>
                    <a:p>
                      <a:pPr>
                        <a:lnSpc>
                          <a:spcPct val="115000"/>
                        </a:lnSpc>
                      </a:pPr>
                      <a:r>
                        <a:rPr lang="ru-RU" sz="1600" kern="100" dirty="0">
                          <a:effectLst/>
                        </a:rPr>
                        <a:t>Наиболее робастный (устойчивый)</a:t>
                      </a:r>
                      <a:endParaRPr lang="ru-RU" sz="1600" kern="100" dirty="0">
                        <a:effectLst/>
                        <a:latin typeface="Times New Roman" panose="02020603050405020304" pitchFamily="18" charset="0"/>
                        <a:ea typeface="Times New Roman" panose="02020603050405020304" pitchFamily="18" charset="0"/>
                      </a:endParaRPr>
                    </a:p>
                  </a:txBody>
                  <a:tcPr marL="9525" marR="9525" marT="9525" marB="9525" anchor="ctr"/>
                </a:tc>
                <a:extLst>
                  <a:ext uri="{0D108BD9-81ED-4DB2-BD59-A6C34878D82A}">
                    <a16:rowId xmlns:a16="http://schemas.microsoft.com/office/drawing/2014/main" val="3955523521"/>
                  </a:ext>
                </a:extLst>
              </a:tr>
            </a:tbl>
          </a:graphicData>
        </a:graphic>
      </p:graphicFrame>
    </p:spTree>
    <p:extLst>
      <p:ext uri="{BB962C8B-B14F-4D97-AF65-F5344CB8AC3E}">
        <p14:creationId xmlns:p14="http://schemas.microsoft.com/office/powerpoint/2010/main" val="3198131560"/>
      </p:ext>
    </p:extLst>
  </p:cSld>
  <p:clrMapOvr>
    <a:masterClrMapping/>
  </p:clrMapOvr>
  <p:transition spd="slow"/>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AutoShape 8"/>
          <p:cNvSpPr>
            <a:spLocks noChangeArrowheads="1"/>
          </p:cNvSpPr>
          <p:nvPr/>
        </p:nvSpPr>
        <p:spPr bwMode="auto">
          <a:xfrm>
            <a:off x="789509" y="315382"/>
            <a:ext cx="11570147" cy="6337300"/>
          </a:xfrm>
          <a:prstGeom prst="roundRect">
            <a:avLst>
              <a:gd name="adj" fmla="val 16667"/>
            </a:avLst>
          </a:prstGeom>
          <a:solidFill>
            <a:schemeClr val="bg1">
              <a:alpha val="50195"/>
            </a:scheme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a:solidFill>
                  <a:schemeClr val="tx1"/>
                </a:solidFill>
                <a:latin typeface="Arial" panose="020B0604020202020204" pitchFamily="34" charset="0"/>
                <a:cs typeface="Arial" panose="020B0604020202020204" pitchFamily="34" charset="0"/>
              </a:defRPr>
            </a:lvl1pPr>
            <a:lvl2pPr marL="742950" indent="-285750" defTabSz="993775">
              <a:defRPr>
                <a:solidFill>
                  <a:schemeClr val="tx1"/>
                </a:solidFill>
                <a:latin typeface="Arial" panose="020B0604020202020204" pitchFamily="34" charset="0"/>
                <a:cs typeface="Arial" panose="020B0604020202020204" pitchFamily="34" charset="0"/>
              </a:defRPr>
            </a:lvl2pPr>
            <a:lvl3pPr marL="1143000" indent="-228600" defTabSz="993775">
              <a:defRPr>
                <a:solidFill>
                  <a:schemeClr val="tx1"/>
                </a:solidFill>
                <a:latin typeface="Arial" panose="020B0604020202020204" pitchFamily="34" charset="0"/>
                <a:cs typeface="Arial" panose="020B0604020202020204" pitchFamily="34" charset="0"/>
              </a:defRPr>
            </a:lvl3pPr>
            <a:lvl4pPr marL="1600200" indent="-228600" defTabSz="993775">
              <a:defRPr>
                <a:solidFill>
                  <a:schemeClr val="tx1"/>
                </a:solidFill>
                <a:latin typeface="Arial" panose="020B0604020202020204" pitchFamily="34" charset="0"/>
                <a:cs typeface="Arial" panose="020B0604020202020204" pitchFamily="34" charset="0"/>
              </a:defRPr>
            </a:lvl4pPr>
            <a:lvl5pPr marL="2057400" indent="-228600" defTabSz="993775">
              <a:defRPr>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ru-RU" sz="3500" dirty="0">
              <a:solidFill>
                <a:schemeClr val="bg1"/>
              </a:solidFill>
            </a:endParaRPr>
          </a:p>
        </p:txBody>
      </p:sp>
      <p:sp>
        <p:nvSpPr>
          <p:cNvPr id="110595" name="Заголовок 1"/>
          <p:cNvSpPr>
            <a:spLocks noGrp="1"/>
          </p:cNvSpPr>
          <p:nvPr>
            <p:ph type="title" idx="4294967295"/>
          </p:nvPr>
        </p:nvSpPr>
        <p:spPr bwMode="auto">
          <a:xfrm>
            <a:off x="1195389" y="285750"/>
            <a:ext cx="9248775" cy="73025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vert="horz" lIns="99441" tIns="49721" rIns="99441" bIns="49721" rtlCol="0" anchor="ctr">
            <a:normAutofit fontScale="90000"/>
          </a:bodyPr>
          <a:lstStyle/>
          <a:p>
            <a:pPr eaLnBrk="1" hangingPunct="1"/>
            <a:r>
              <a:rPr lang="ru-RU" altLang="ru-RU" sz="3100" b="1" dirty="0"/>
              <a:t>Тесты для проверки гипотез на равенство дисперсий</a:t>
            </a:r>
          </a:p>
        </p:txBody>
      </p:sp>
      <p:sp>
        <p:nvSpPr>
          <p:cNvPr id="110596" name="Text Box 7"/>
          <p:cNvSpPr txBox="1">
            <a:spLocks noChangeArrowheads="1"/>
          </p:cNvSpPr>
          <p:nvPr/>
        </p:nvSpPr>
        <p:spPr bwMode="auto">
          <a:xfrm>
            <a:off x="3905252" y="0"/>
            <a:ext cx="5100637" cy="407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9441" tIns="49721" rIns="99441" bIns="49721">
            <a:spAutoFit/>
          </a:bodyPr>
          <a:lstStyle>
            <a:lvl1pPr defTabSz="993775">
              <a:defRPr>
                <a:solidFill>
                  <a:schemeClr val="tx1"/>
                </a:solidFill>
                <a:latin typeface="Arial" panose="020B0604020202020204" pitchFamily="34" charset="0"/>
                <a:cs typeface="Arial" panose="020B0604020202020204" pitchFamily="34" charset="0"/>
              </a:defRPr>
            </a:lvl1pPr>
            <a:lvl2pPr marL="742950" indent="-285750" defTabSz="993775">
              <a:defRPr>
                <a:solidFill>
                  <a:schemeClr val="tx1"/>
                </a:solidFill>
                <a:latin typeface="Arial" panose="020B0604020202020204" pitchFamily="34" charset="0"/>
                <a:cs typeface="Arial" panose="020B0604020202020204" pitchFamily="34" charset="0"/>
              </a:defRPr>
            </a:lvl2pPr>
            <a:lvl3pPr marL="1143000" indent="-228600" defTabSz="993775">
              <a:defRPr>
                <a:solidFill>
                  <a:schemeClr val="tx1"/>
                </a:solidFill>
                <a:latin typeface="Arial" panose="020B0604020202020204" pitchFamily="34" charset="0"/>
                <a:cs typeface="Arial" panose="020B0604020202020204" pitchFamily="34" charset="0"/>
              </a:defRPr>
            </a:lvl3pPr>
            <a:lvl4pPr marL="1600200" indent="-228600" defTabSz="993775">
              <a:defRPr>
                <a:solidFill>
                  <a:schemeClr val="tx1"/>
                </a:solidFill>
                <a:latin typeface="Arial" panose="020B0604020202020204" pitchFamily="34" charset="0"/>
                <a:cs typeface="Arial" panose="020B0604020202020204" pitchFamily="34" charset="0"/>
              </a:defRPr>
            </a:lvl4pPr>
            <a:lvl5pPr marL="2057400" indent="-228600" defTabSz="993775">
              <a:defRPr>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ru-RU" altLang="ru-RU" b="1" dirty="0">
                <a:solidFill>
                  <a:schemeClr val="bg1"/>
                </a:solidFill>
                <a:latin typeface="Courier New" panose="02070309020205020404" pitchFamily="49" charset="0"/>
              </a:rPr>
              <a:t>Обработка больших данных. Л9</a:t>
            </a:r>
          </a:p>
        </p:txBody>
      </p:sp>
      <p:sp>
        <p:nvSpPr>
          <p:cNvPr id="2" name="Номер слайда 1"/>
          <p:cNvSpPr>
            <a:spLocks noGrp="1"/>
          </p:cNvSpPr>
          <p:nvPr>
            <p:ph type="sldNum" sz="quarter" idx="12"/>
          </p:nvPr>
        </p:nvSpPr>
        <p:spPr/>
        <p:txBody>
          <a:bodyPr/>
          <a:lstStyle/>
          <a:p>
            <a:fld id="{952B6C0E-C4B9-4094-8E59-5B7DF00D5415}" type="slidenum">
              <a:rPr lang="ru-RU" sz="1400">
                <a:solidFill>
                  <a:schemeClr val="tx1"/>
                </a:solidFill>
              </a:rPr>
              <a:t>131</a:t>
            </a:fld>
            <a:endParaRPr lang="ru-RU" sz="1400">
              <a:solidFill>
                <a:schemeClr val="tx1"/>
              </a:solidFill>
            </a:endParaRPr>
          </a:p>
        </p:txBody>
      </p:sp>
      <p:sp>
        <p:nvSpPr>
          <p:cNvPr id="4" name="Rectangle 1">
            <a:extLst>
              <a:ext uri="{FF2B5EF4-FFF2-40B4-BE49-F238E27FC236}">
                <a16:creationId xmlns:a16="http://schemas.microsoft.com/office/drawing/2014/main" id="{ADEE54C7-62EF-4080-A45A-4FF57141467C}"/>
              </a:ext>
            </a:extLst>
          </p:cNvPr>
          <p:cNvSpPr>
            <a:spLocks noChangeArrowheads="1"/>
          </p:cNvSpPr>
          <p:nvPr/>
        </p:nvSpPr>
        <p:spPr bwMode="auto">
          <a:xfrm>
            <a:off x="3165773" y="906592"/>
            <a:ext cx="5938549" cy="402902"/>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vert="horz" lIns="99441" tIns="49721" rIns="99441" bIns="49721" rtlCol="0" anchor="ctr">
            <a:noAutofit/>
          </a:bodyPr>
          <a:lstStyle/>
          <a:p>
            <a:pPr algn="ctr" defTabSz="950153"/>
            <a:r>
              <a:rPr lang="ru-RU" altLang="ru-RU" b="1">
                <a:latin typeface="+mj-lt"/>
                <a:ea typeface="+mj-ea"/>
                <a:cs typeface="+mj-cs"/>
              </a:rPr>
              <a:t>F-тест для двух выборок (var.test)</a:t>
            </a:r>
            <a:endParaRPr lang="ru-RU" altLang="ru-RU" b="1" dirty="0">
              <a:latin typeface="+mj-lt"/>
              <a:ea typeface="+mj-ea"/>
              <a:cs typeface="+mj-cs"/>
            </a:endParaRPr>
          </a:p>
        </p:txBody>
      </p:sp>
      <p:sp>
        <p:nvSpPr>
          <p:cNvPr id="9" name="TextBox 8">
            <a:extLst>
              <a:ext uri="{FF2B5EF4-FFF2-40B4-BE49-F238E27FC236}">
                <a16:creationId xmlns:a16="http://schemas.microsoft.com/office/drawing/2014/main" id="{BC0DE636-69B1-4B0E-A81A-363A2D06337C}"/>
              </a:ext>
            </a:extLst>
          </p:cNvPr>
          <p:cNvSpPr txBox="1"/>
          <p:nvPr/>
        </p:nvSpPr>
        <p:spPr>
          <a:xfrm>
            <a:off x="762770" y="1317714"/>
            <a:ext cx="11603229" cy="707886"/>
          </a:xfrm>
          <a:prstGeom prst="rect">
            <a:avLst/>
          </a:prstGeom>
          <a:noFill/>
        </p:spPr>
        <p:txBody>
          <a:bodyPr wrap="square">
            <a:spAutoFit/>
          </a:bodyPr>
          <a:lstStyle/>
          <a:p>
            <a:r>
              <a:rPr lang="ru-RU" dirty="0"/>
              <a:t>F-тест используется для сравнения дисперсий двух выборок, взятых из нормально распределенных генеральных совокупностей.</a:t>
            </a:r>
          </a:p>
        </p:txBody>
      </p:sp>
      <p:sp>
        <p:nvSpPr>
          <p:cNvPr id="11" name="TextBox 10">
            <a:extLst>
              <a:ext uri="{FF2B5EF4-FFF2-40B4-BE49-F238E27FC236}">
                <a16:creationId xmlns:a16="http://schemas.microsoft.com/office/drawing/2014/main" id="{CD436E3C-EDA7-49B9-8EA4-59561AEA2C08}"/>
              </a:ext>
            </a:extLst>
          </p:cNvPr>
          <p:cNvSpPr txBox="1"/>
          <p:nvPr/>
        </p:nvSpPr>
        <p:spPr>
          <a:xfrm>
            <a:off x="1195388" y="2025600"/>
            <a:ext cx="6334760" cy="400110"/>
          </a:xfrm>
          <a:prstGeom prst="rect">
            <a:avLst/>
          </a:prstGeom>
          <a:noFill/>
        </p:spPr>
        <p:txBody>
          <a:bodyPr wrap="square">
            <a:spAutoFit/>
          </a:bodyPr>
          <a:lstStyle/>
          <a:p>
            <a:r>
              <a:rPr lang="ru-RU" b="1" dirty="0"/>
              <a:t>Гипотезы</a:t>
            </a:r>
            <a:r>
              <a:rPr lang="ru-RU" dirty="0"/>
              <a:t>:</a:t>
            </a:r>
          </a:p>
        </p:txBody>
      </p:sp>
      <p:pic>
        <p:nvPicPr>
          <p:cNvPr id="8" name="Рисунок 7">
            <a:extLst>
              <a:ext uri="{FF2B5EF4-FFF2-40B4-BE49-F238E27FC236}">
                <a16:creationId xmlns:a16="http://schemas.microsoft.com/office/drawing/2014/main" id="{C3C9D5DF-4EA9-41CA-A200-30FC40C5618D}"/>
              </a:ext>
            </a:extLst>
          </p:cNvPr>
          <p:cNvPicPr>
            <a:picLocks noChangeAspect="1"/>
          </p:cNvPicPr>
          <p:nvPr/>
        </p:nvPicPr>
        <p:blipFill>
          <a:blip r:embed="rId2"/>
          <a:stretch>
            <a:fillRect/>
          </a:stretch>
        </p:blipFill>
        <p:spPr>
          <a:xfrm>
            <a:off x="2805733" y="2054859"/>
            <a:ext cx="5944430" cy="638264"/>
          </a:xfrm>
          <a:prstGeom prst="rect">
            <a:avLst/>
          </a:prstGeom>
        </p:spPr>
      </p:pic>
      <p:sp>
        <p:nvSpPr>
          <p:cNvPr id="16" name="TextBox 15">
            <a:extLst>
              <a:ext uri="{FF2B5EF4-FFF2-40B4-BE49-F238E27FC236}">
                <a16:creationId xmlns:a16="http://schemas.microsoft.com/office/drawing/2014/main" id="{B1BC0654-4B70-46CE-9040-40FF59ACDA23}"/>
              </a:ext>
            </a:extLst>
          </p:cNvPr>
          <p:cNvSpPr txBox="1"/>
          <p:nvPr/>
        </p:nvSpPr>
        <p:spPr>
          <a:xfrm>
            <a:off x="913470" y="2762905"/>
            <a:ext cx="10702453" cy="2062103"/>
          </a:xfrm>
          <a:prstGeom prst="rect">
            <a:avLst/>
          </a:prstGeom>
          <a:noFill/>
        </p:spPr>
        <p:txBody>
          <a:bodyPr wrap="square">
            <a:spAutoFit/>
          </a:bodyPr>
          <a:lstStyle>
            <a:defPPr>
              <a:defRPr lang="ru-RU"/>
            </a:defPPr>
            <a:lvl1pPr>
              <a:defRPr>
                <a:solidFill>
                  <a:srgbClr val="0070C0"/>
                </a:solidFill>
              </a:defRPr>
            </a:lvl1pPr>
          </a:lstStyle>
          <a:p>
            <a:r>
              <a:rPr lang="ru-RU" sz="1800" dirty="0"/>
              <a:t># Загружаем встроенный набор данных о цветах ирисов</a:t>
            </a:r>
          </a:p>
          <a:p>
            <a:r>
              <a:rPr lang="ru-RU" sz="1800" dirty="0" err="1"/>
              <a:t>data</a:t>
            </a:r>
            <a:r>
              <a:rPr lang="ru-RU" sz="1800" dirty="0"/>
              <a:t>(</a:t>
            </a:r>
            <a:r>
              <a:rPr lang="ru-RU" sz="1800" dirty="0" err="1"/>
              <a:t>iris</a:t>
            </a:r>
            <a:r>
              <a:rPr lang="ru-RU" sz="1800" dirty="0"/>
              <a:t>)</a:t>
            </a:r>
          </a:p>
          <a:p>
            <a:r>
              <a:rPr lang="ru-RU" sz="1800" dirty="0"/>
              <a:t># Сравним дисперсию длины чашелистика для двух видов: </a:t>
            </a:r>
            <a:r>
              <a:rPr lang="ru-RU" sz="1800" dirty="0" err="1"/>
              <a:t>setosa</a:t>
            </a:r>
            <a:r>
              <a:rPr lang="ru-RU" sz="1800" dirty="0"/>
              <a:t> и </a:t>
            </a:r>
            <a:r>
              <a:rPr lang="ru-RU" sz="1800" dirty="0" err="1"/>
              <a:t>versicolor</a:t>
            </a:r>
            <a:endParaRPr lang="ru-RU" sz="1800" dirty="0"/>
          </a:p>
          <a:p>
            <a:r>
              <a:rPr lang="ru-RU" sz="1800" dirty="0"/>
              <a:t>x &lt;- </a:t>
            </a:r>
            <a:r>
              <a:rPr lang="ru-RU" sz="1800" dirty="0" err="1"/>
              <a:t>iris$Sepal.Length</a:t>
            </a:r>
            <a:r>
              <a:rPr lang="ru-RU" sz="1800" dirty="0"/>
              <a:t>[</a:t>
            </a:r>
            <a:r>
              <a:rPr lang="ru-RU" sz="1800" dirty="0" err="1"/>
              <a:t>iris$Species</a:t>
            </a:r>
            <a:r>
              <a:rPr lang="ru-RU" sz="1800" dirty="0"/>
              <a:t> == "</a:t>
            </a:r>
            <a:r>
              <a:rPr lang="ru-RU" sz="1800" dirty="0" err="1"/>
              <a:t>setosa</a:t>
            </a:r>
            <a:r>
              <a:rPr lang="ru-RU" sz="1800" dirty="0"/>
              <a:t>"]</a:t>
            </a:r>
          </a:p>
          <a:p>
            <a:r>
              <a:rPr lang="ru-RU" sz="1800" dirty="0"/>
              <a:t>y &lt;- </a:t>
            </a:r>
            <a:r>
              <a:rPr lang="ru-RU" sz="1800" dirty="0" err="1"/>
              <a:t>iris$Sepal.Length</a:t>
            </a:r>
            <a:r>
              <a:rPr lang="ru-RU" sz="1800" dirty="0"/>
              <a:t>[</a:t>
            </a:r>
            <a:r>
              <a:rPr lang="ru-RU" sz="1800" dirty="0" err="1"/>
              <a:t>iris$Species</a:t>
            </a:r>
            <a:r>
              <a:rPr lang="ru-RU" sz="1800" dirty="0"/>
              <a:t> == "</a:t>
            </a:r>
            <a:r>
              <a:rPr lang="ru-RU" sz="1800" dirty="0" err="1"/>
              <a:t>versicolor</a:t>
            </a:r>
            <a:r>
              <a:rPr lang="ru-RU" sz="1800" dirty="0"/>
              <a:t>"]</a:t>
            </a:r>
          </a:p>
          <a:p>
            <a:r>
              <a:rPr lang="ru-RU" sz="1800" dirty="0"/>
              <a:t># Проводим F-тест</a:t>
            </a:r>
          </a:p>
          <a:p>
            <a:r>
              <a:rPr lang="ru-RU" sz="1800" dirty="0" err="1"/>
              <a:t>var.test</a:t>
            </a:r>
            <a:r>
              <a:rPr lang="ru-RU" sz="1800" dirty="0"/>
              <a:t>(x, y)</a:t>
            </a:r>
          </a:p>
        </p:txBody>
      </p:sp>
      <p:sp>
        <p:nvSpPr>
          <p:cNvPr id="17" name="Rectangle 1">
            <a:extLst>
              <a:ext uri="{FF2B5EF4-FFF2-40B4-BE49-F238E27FC236}">
                <a16:creationId xmlns:a16="http://schemas.microsoft.com/office/drawing/2014/main" id="{AD6D03E4-D4D0-4689-946B-C513D6A68713}"/>
              </a:ext>
            </a:extLst>
          </p:cNvPr>
          <p:cNvSpPr>
            <a:spLocks noChangeArrowheads="1"/>
          </p:cNvSpPr>
          <p:nvPr/>
        </p:nvSpPr>
        <p:spPr bwMode="auto">
          <a:xfrm>
            <a:off x="4931768" y="4279306"/>
            <a:ext cx="7056784" cy="184665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ru-RU" sz="1200" b="0" i="0" u="none" strike="noStrike" cap="none" normalizeH="0" baseline="0" dirty="0">
                <a:ln>
                  <a:noFill/>
                </a:ln>
                <a:solidFill>
                  <a:srgbClr val="000000"/>
                </a:solidFill>
                <a:effectLst/>
                <a:latin typeface="Lucida Console" panose="020B0609040504020204" pitchFamily="49" charset="0"/>
              </a:rPr>
              <a:t>F test to compare two variances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ru-RU" sz="1200" b="0" i="0" u="none" strike="noStrike" cap="none" normalizeH="0" baseline="0" dirty="0">
              <a:ln>
                <a:noFill/>
              </a:ln>
              <a:solidFill>
                <a:srgbClr val="000000"/>
              </a:solidFill>
              <a:effectLst/>
              <a:latin typeface="Lucida Console" panose="020B060904050402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ru-RU" sz="1200" b="0" i="0" u="none" strike="noStrike" cap="none" normalizeH="0" baseline="0" dirty="0">
                <a:ln>
                  <a:noFill/>
                </a:ln>
                <a:solidFill>
                  <a:srgbClr val="000000"/>
                </a:solidFill>
                <a:effectLst/>
                <a:latin typeface="Lucida Console" panose="020B0609040504020204" pitchFamily="49" charset="0"/>
              </a:rPr>
              <a:t>data:  x and y</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ru-RU" sz="1200" b="0" i="0" u="none" strike="noStrike" cap="none" normalizeH="0" baseline="0" dirty="0">
                <a:ln>
                  <a:noFill/>
                </a:ln>
                <a:solidFill>
                  <a:srgbClr val="000000"/>
                </a:solidFill>
                <a:effectLst/>
                <a:latin typeface="Lucida Console" panose="020B0609040504020204" pitchFamily="49" charset="0"/>
              </a:rPr>
              <a:t>F = 0.46634, num df = 49, </a:t>
            </a:r>
            <a:r>
              <a:rPr kumimoji="0" lang="en-US" altLang="ru-RU" sz="1200" b="0" i="0" u="none" strike="noStrike" cap="none" normalizeH="0" baseline="0" dirty="0" err="1">
                <a:ln>
                  <a:noFill/>
                </a:ln>
                <a:solidFill>
                  <a:srgbClr val="000000"/>
                </a:solidFill>
                <a:effectLst/>
                <a:latin typeface="Lucida Console" panose="020B0609040504020204" pitchFamily="49" charset="0"/>
              </a:rPr>
              <a:t>denom</a:t>
            </a:r>
            <a:r>
              <a:rPr kumimoji="0" lang="en-US" altLang="ru-RU" sz="1200" b="0" i="0" u="none" strike="noStrike" cap="none" normalizeH="0" baseline="0" dirty="0">
                <a:ln>
                  <a:noFill/>
                </a:ln>
                <a:solidFill>
                  <a:srgbClr val="000000"/>
                </a:solidFill>
                <a:effectLst/>
                <a:latin typeface="Lucida Console" panose="020B0609040504020204" pitchFamily="49" charset="0"/>
              </a:rPr>
              <a:t> df = 49, p-value = 0.008657</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ru-RU" sz="1200" b="0" i="0" u="none" strike="noStrike" cap="none" normalizeH="0" baseline="0" dirty="0">
                <a:ln>
                  <a:noFill/>
                </a:ln>
                <a:solidFill>
                  <a:srgbClr val="000000"/>
                </a:solidFill>
                <a:effectLst/>
                <a:latin typeface="Lucida Console" panose="020B0609040504020204" pitchFamily="49" charset="0"/>
              </a:rPr>
              <a:t>alternative hypothesis: true ratio of variances is not equal to 1</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ru-RU" sz="1200" b="0" i="0" u="none" strike="noStrike" cap="none" normalizeH="0" baseline="0" dirty="0">
                <a:ln>
                  <a:noFill/>
                </a:ln>
                <a:solidFill>
                  <a:srgbClr val="000000"/>
                </a:solidFill>
                <a:effectLst/>
                <a:latin typeface="Lucida Console" panose="020B0609040504020204" pitchFamily="49" charset="0"/>
              </a:rPr>
              <a:t>95 percent confidence interval:</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ru-RU" sz="1200" b="0" i="0" u="none" strike="noStrike" cap="none" normalizeH="0" baseline="0" dirty="0">
                <a:ln>
                  <a:noFill/>
                </a:ln>
                <a:solidFill>
                  <a:srgbClr val="000000"/>
                </a:solidFill>
                <a:effectLst/>
                <a:latin typeface="Lucida Console" panose="020B0609040504020204" pitchFamily="49" charset="0"/>
              </a:rPr>
              <a:t> 0.2646385 0.8217841</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ru-RU" sz="1200" b="0" i="0" u="none" strike="noStrike" cap="none" normalizeH="0" baseline="0" dirty="0">
                <a:ln>
                  <a:noFill/>
                </a:ln>
                <a:solidFill>
                  <a:srgbClr val="000000"/>
                </a:solidFill>
                <a:effectLst/>
                <a:latin typeface="Lucida Console" panose="020B0609040504020204" pitchFamily="49" charset="0"/>
              </a:rPr>
              <a:t>sample estimates: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ru-RU" sz="1200" b="0" i="0" u="none" strike="noStrike" cap="none" normalizeH="0" baseline="0" dirty="0">
                <a:ln>
                  <a:noFill/>
                </a:ln>
                <a:solidFill>
                  <a:srgbClr val="000000"/>
                </a:solidFill>
                <a:effectLst/>
                <a:latin typeface="Lucida Console" panose="020B0609040504020204" pitchFamily="49" charset="0"/>
              </a:rPr>
              <a:t>ratio of variances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ru-RU" sz="1200" b="0" i="0" u="none" strike="noStrike" cap="none" normalizeH="0" baseline="0" dirty="0">
                <a:ln>
                  <a:noFill/>
                </a:ln>
                <a:solidFill>
                  <a:srgbClr val="000000"/>
                </a:solidFill>
                <a:effectLst/>
                <a:latin typeface="Lucida Console" panose="020B0609040504020204" pitchFamily="49" charset="0"/>
              </a:rPr>
              <a:t>         0.4663429 </a:t>
            </a:r>
            <a:endParaRPr kumimoji="0" lang="ru-RU" altLang="ru-RU" sz="1200" b="0" i="0" u="none" strike="noStrike" cap="none" normalizeH="0" baseline="0" dirty="0">
              <a:ln>
                <a:noFill/>
              </a:ln>
              <a:solidFill>
                <a:schemeClr val="tx1"/>
              </a:solidFill>
              <a:effectLst/>
            </a:endParaRPr>
          </a:p>
        </p:txBody>
      </p:sp>
      <p:sp>
        <p:nvSpPr>
          <p:cNvPr id="19" name="TextBox 18">
            <a:extLst>
              <a:ext uri="{FF2B5EF4-FFF2-40B4-BE49-F238E27FC236}">
                <a16:creationId xmlns:a16="http://schemas.microsoft.com/office/drawing/2014/main" id="{7E32B470-ADF9-4907-BEF8-5A7CE58D9A47}"/>
              </a:ext>
            </a:extLst>
          </p:cNvPr>
          <p:cNvSpPr txBox="1"/>
          <p:nvPr/>
        </p:nvSpPr>
        <p:spPr>
          <a:xfrm>
            <a:off x="783166" y="6101572"/>
            <a:ext cx="10801200" cy="584775"/>
          </a:xfrm>
          <a:prstGeom prst="rect">
            <a:avLst/>
          </a:prstGeom>
          <a:noFill/>
        </p:spPr>
        <p:txBody>
          <a:bodyPr wrap="square">
            <a:spAutoFit/>
          </a:bodyPr>
          <a:lstStyle/>
          <a:p>
            <a:r>
              <a:rPr lang="ru-RU" sz="1600" b="1" dirty="0"/>
              <a:t>Интерпретация</a:t>
            </a:r>
            <a:r>
              <a:rPr lang="ru-RU" sz="1600" dirty="0"/>
              <a:t>: p-</a:t>
            </a:r>
            <a:r>
              <a:rPr lang="ru-RU" sz="1600" dirty="0" err="1"/>
              <a:t>value</a:t>
            </a:r>
            <a:r>
              <a:rPr lang="ru-RU" sz="1600" dirty="0"/>
              <a:t> (0.</a:t>
            </a:r>
            <a:r>
              <a:rPr lang="en-US" sz="1600" dirty="0"/>
              <a:t>008657</a:t>
            </a:r>
            <a:r>
              <a:rPr lang="ru-RU" sz="1600" dirty="0"/>
              <a:t>) ниже стандартного порога 0.05, следовательно, у нас есть основания отвергнуть нулевую гипотезу о равенстве дисперсий.</a:t>
            </a:r>
          </a:p>
        </p:txBody>
      </p:sp>
    </p:spTree>
    <p:extLst>
      <p:ext uri="{BB962C8B-B14F-4D97-AF65-F5344CB8AC3E}">
        <p14:creationId xmlns:p14="http://schemas.microsoft.com/office/powerpoint/2010/main" val="1178899837"/>
      </p:ext>
    </p:extLst>
  </p:cSld>
  <p:clrMapOvr>
    <a:masterClrMapping/>
  </p:clrMapOvr>
  <p:transition spd="slow"/>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AutoShape 8"/>
          <p:cNvSpPr>
            <a:spLocks noChangeArrowheads="1"/>
          </p:cNvSpPr>
          <p:nvPr/>
        </p:nvSpPr>
        <p:spPr bwMode="auto">
          <a:xfrm>
            <a:off x="789509" y="315382"/>
            <a:ext cx="11570147" cy="6337300"/>
          </a:xfrm>
          <a:prstGeom prst="roundRect">
            <a:avLst>
              <a:gd name="adj" fmla="val 16667"/>
            </a:avLst>
          </a:prstGeom>
          <a:solidFill>
            <a:schemeClr val="bg1">
              <a:alpha val="50195"/>
            </a:scheme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a:solidFill>
                  <a:schemeClr val="tx1"/>
                </a:solidFill>
                <a:latin typeface="Arial" panose="020B0604020202020204" pitchFamily="34" charset="0"/>
                <a:cs typeface="Arial" panose="020B0604020202020204" pitchFamily="34" charset="0"/>
              </a:defRPr>
            </a:lvl1pPr>
            <a:lvl2pPr marL="742950" indent="-285750" defTabSz="993775">
              <a:defRPr>
                <a:solidFill>
                  <a:schemeClr val="tx1"/>
                </a:solidFill>
                <a:latin typeface="Arial" panose="020B0604020202020204" pitchFamily="34" charset="0"/>
                <a:cs typeface="Arial" panose="020B0604020202020204" pitchFamily="34" charset="0"/>
              </a:defRPr>
            </a:lvl2pPr>
            <a:lvl3pPr marL="1143000" indent="-228600" defTabSz="993775">
              <a:defRPr>
                <a:solidFill>
                  <a:schemeClr val="tx1"/>
                </a:solidFill>
                <a:latin typeface="Arial" panose="020B0604020202020204" pitchFamily="34" charset="0"/>
                <a:cs typeface="Arial" panose="020B0604020202020204" pitchFamily="34" charset="0"/>
              </a:defRPr>
            </a:lvl3pPr>
            <a:lvl4pPr marL="1600200" indent="-228600" defTabSz="993775">
              <a:defRPr>
                <a:solidFill>
                  <a:schemeClr val="tx1"/>
                </a:solidFill>
                <a:latin typeface="Arial" panose="020B0604020202020204" pitchFamily="34" charset="0"/>
                <a:cs typeface="Arial" panose="020B0604020202020204" pitchFamily="34" charset="0"/>
              </a:defRPr>
            </a:lvl4pPr>
            <a:lvl5pPr marL="2057400" indent="-228600" defTabSz="993775">
              <a:defRPr>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ru-RU" sz="3500" dirty="0">
              <a:solidFill>
                <a:schemeClr val="bg1"/>
              </a:solidFill>
            </a:endParaRPr>
          </a:p>
        </p:txBody>
      </p:sp>
      <p:sp>
        <p:nvSpPr>
          <p:cNvPr id="110595" name="Заголовок 1"/>
          <p:cNvSpPr>
            <a:spLocks noGrp="1"/>
          </p:cNvSpPr>
          <p:nvPr>
            <p:ph type="title" idx="4294967295"/>
          </p:nvPr>
        </p:nvSpPr>
        <p:spPr bwMode="auto">
          <a:xfrm>
            <a:off x="1195389" y="285750"/>
            <a:ext cx="9248775" cy="73025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vert="horz" lIns="99441" tIns="49721" rIns="99441" bIns="49721" rtlCol="0" anchor="ctr">
            <a:normAutofit fontScale="90000"/>
          </a:bodyPr>
          <a:lstStyle/>
          <a:p>
            <a:pPr eaLnBrk="1" hangingPunct="1"/>
            <a:r>
              <a:rPr lang="ru-RU" altLang="ru-RU" sz="3100" b="1" dirty="0"/>
              <a:t>Тесты для проверки гипотез на равенство дисперсий</a:t>
            </a:r>
          </a:p>
        </p:txBody>
      </p:sp>
      <p:sp>
        <p:nvSpPr>
          <p:cNvPr id="110596" name="Text Box 7"/>
          <p:cNvSpPr txBox="1">
            <a:spLocks noChangeArrowheads="1"/>
          </p:cNvSpPr>
          <p:nvPr/>
        </p:nvSpPr>
        <p:spPr bwMode="auto">
          <a:xfrm>
            <a:off x="3905252" y="0"/>
            <a:ext cx="5100637" cy="407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9441" tIns="49721" rIns="99441" bIns="49721">
            <a:spAutoFit/>
          </a:bodyPr>
          <a:lstStyle>
            <a:lvl1pPr defTabSz="993775">
              <a:defRPr>
                <a:solidFill>
                  <a:schemeClr val="tx1"/>
                </a:solidFill>
                <a:latin typeface="Arial" panose="020B0604020202020204" pitchFamily="34" charset="0"/>
                <a:cs typeface="Arial" panose="020B0604020202020204" pitchFamily="34" charset="0"/>
              </a:defRPr>
            </a:lvl1pPr>
            <a:lvl2pPr marL="742950" indent="-285750" defTabSz="993775">
              <a:defRPr>
                <a:solidFill>
                  <a:schemeClr val="tx1"/>
                </a:solidFill>
                <a:latin typeface="Arial" panose="020B0604020202020204" pitchFamily="34" charset="0"/>
                <a:cs typeface="Arial" panose="020B0604020202020204" pitchFamily="34" charset="0"/>
              </a:defRPr>
            </a:lvl2pPr>
            <a:lvl3pPr marL="1143000" indent="-228600" defTabSz="993775">
              <a:defRPr>
                <a:solidFill>
                  <a:schemeClr val="tx1"/>
                </a:solidFill>
                <a:latin typeface="Arial" panose="020B0604020202020204" pitchFamily="34" charset="0"/>
                <a:cs typeface="Arial" panose="020B0604020202020204" pitchFamily="34" charset="0"/>
              </a:defRPr>
            </a:lvl3pPr>
            <a:lvl4pPr marL="1600200" indent="-228600" defTabSz="993775">
              <a:defRPr>
                <a:solidFill>
                  <a:schemeClr val="tx1"/>
                </a:solidFill>
                <a:latin typeface="Arial" panose="020B0604020202020204" pitchFamily="34" charset="0"/>
                <a:cs typeface="Arial" panose="020B0604020202020204" pitchFamily="34" charset="0"/>
              </a:defRPr>
            </a:lvl4pPr>
            <a:lvl5pPr marL="2057400" indent="-228600" defTabSz="993775">
              <a:defRPr>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ru-RU" altLang="ru-RU" b="1" dirty="0">
                <a:solidFill>
                  <a:schemeClr val="bg1"/>
                </a:solidFill>
                <a:latin typeface="Courier New" panose="02070309020205020404" pitchFamily="49" charset="0"/>
              </a:rPr>
              <a:t>Обработка больших данных. Л9</a:t>
            </a:r>
          </a:p>
        </p:txBody>
      </p:sp>
      <p:sp>
        <p:nvSpPr>
          <p:cNvPr id="2" name="Номер слайда 1"/>
          <p:cNvSpPr>
            <a:spLocks noGrp="1"/>
          </p:cNvSpPr>
          <p:nvPr>
            <p:ph type="sldNum" sz="quarter" idx="12"/>
          </p:nvPr>
        </p:nvSpPr>
        <p:spPr/>
        <p:txBody>
          <a:bodyPr/>
          <a:lstStyle/>
          <a:p>
            <a:fld id="{952B6C0E-C4B9-4094-8E59-5B7DF00D5415}" type="slidenum">
              <a:rPr lang="ru-RU" sz="1400">
                <a:solidFill>
                  <a:schemeClr val="tx1"/>
                </a:solidFill>
              </a:rPr>
              <a:t>132</a:t>
            </a:fld>
            <a:endParaRPr lang="ru-RU" sz="1400">
              <a:solidFill>
                <a:schemeClr val="tx1"/>
              </a:solidFill>
            </a:endParaRPr>
          </a:p>
        </p:txBody>
      </p:sp>
      <p:sp>
        <p:nvSpPr>
          <p:cNvPr id="4" name="Rectangle 1">
            <a:extLst>
              <a:ext uri="{FF2B5EF4-FFF2-40B4-BE49-F238E27FC236}">
                <a16:creationId xmlns:a16="http://schemas.microsoft.com/office/drawing/2014/main" id="{ADEE54C7-62EF-4080-A45A-4FF57141467C}"/>
              </a:ext>
            </a:extLst>
          </p:cNvPr>
          <p:cNvSpPr>
            <a:spLocks noChangeArrowheads="1"/>
          </p:cNvSpPr>
          <p:nvPr/>
        </p:nvSpPr>
        <p:spPr bwMode="auto">
          <a:xfrm>
            <a:off x="3165773" y="906592"/>
            <a:ext cx="5938549" cy="402902"/>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vert="horz" lIns="99441" tIns="49721" rIns="99441" bIns="49721" rtlCol="0" anchor="ctr">
            <a:noAutofit/>
          </a:bodyPr>
          <a:lstStyle/>
          <a:p>
            <a:pPr algn="ctr" defTabSz="950153"/>
            <a:r>
              <a:rPr lang="ru-RU" altLang="ru-RU" b="1" dirty="0">
                <a:latin typeface="+mj-lt"/>
                <a:ea typeface="+mj-ea"/>
                <a:cs typeface="+mj-cs"/>
              </a:rPr>
              <a:t>Тест </a:t>
            </a:r>
            <a:r>
              <a:rPr lang="ru-RU" altLang="ru-RU" b="1" dirty="0" err="1">
                <a:latin typeface="+mj-lt"/>
                <a:ea typeface="+mj-ea"/>
                <a:cs typeface="+mj-cs"/>
              </a:rPr>
              <a:t>Флигнера-Килина</a:t>
            </a:r>
            <a:r>
              <a:rPr lang="ru-RU" altLang="ru-RU" b="1" dirty="0">
                <a:latin typeface="+mj-lt"/>
                <a:ea typeface="+mj-ea"/>
                <a:cs typeface="+mj-cs"/>
              </a:rPr>
              <a:t> (</a:t>
            </a:r>
            <a:r>
              <a:rPr lang="en-US" altLang="ru-RU" b="1" dirty="0" err="1">
                <a:latin typeface="+mj-lt"/>
                <a:ea typeface="+mj-ea"/>
                <a:cs typeface="+mj-cs"/>
              </a:rPr>
              <a:t>fligner.test</a:t>
            </a:r>
            <a:r>
              <a:rPr lang="en-US" altLang="ru-RU" b="1" dirty="0">
                <a:latin typeface="+mj-lt"/>
                <a:ea typeface="+mj-ea"/>
                <a:cs typeface="+mj-cs"/>
              </a:rPr>
              <a:t>)</a:t>
            </a:r>
            <a:endParaRPr lang="ru-RU" altLang="ru-RU" b="1" dirty="0">
              <a:latin typeface="+mj-lt"/>
              <a:ea typeface="+mj-ea"/>
              <a:cs typeface="+mj-cs"/>
            </a:endParaRPr>
          </a:p>
        </p:txBody>
      </p:sp>
      <p:sp>
        <p:nvSpPr>
          <p:cNvPr id="9" name="TextBox 8">
            <a:extLst>
              <a:ext uri="{FF2B5EF4-FFF2-40B4-BE49-F238E27FC236}">
                <a16:creationId xmlns:a16="http://schemas.microsoft.com/office/drawing/2014/main" id="{BC0DE636-69B1-4B0E-A81A-363A2D06337C}"/>
              </a:ext>
            </a:extLst>
          </p:cNvPr>
          <p:cNvSpPr txBox="1"/>
          <p:nvPr/>
        </p:nvSpPr>
        <p:spPr>
          <a:xfrm>
            <a:off x="762770" y="1317714"/>
            <a:ext cx="11603229" cy="707886"/>
          </a:xfrm>
          <a:prstGeom prst="rect">
            <a:avLst/>
          </a:prstGeom>
          <a:noFill/>
        </p:spPr>
        <p:txBody>
          <a:bodyPr wrap="square">
            <a:spAutoFit/>
          </a:bodyPr>
          <a:lstStyle/>
          <a:p>
            <a:r>
              <a:rPr lang="ru-RU" dirty="0"/>
              <a:t>Это непараметрический тест, который является очень устойчивым к отклонениям от нормальности и особенно полезен при наличии выбросов. Он основан на рангах.</a:t>
            </a:r>
          </a:p>
        </p:txBody>
      </p:sp>
      <p:sp>
        <p:nvSpPr>
          <p:cNvPr id="11" name="TextBox 10">
            <a:extLst>
              <a:ext uri="{FF2B5EF4-FFF2-40B4-BE49-F238E27FC236}">
                <a16:creationId xmlns:a16="http://schemas.microsoft.com/office/drawing/2014/main" id="{CD436E3C-EDA7-49B9-8EA4-59561AEA2C08}"/>
              </a:ext>
            </a:extLst>
          </p:cNvPr>
          <p:cNvSpPr txBox="1"/>
          <p:nvPr/>
        </p:nvSpPr>
        <p:spPr>
          <a:xfrm>
            <a:off x="783166" y="2067015"/>
            <a:ext cx="6334760" cy="369332"/>
          </a:xfrm>
          <a:prstGeom prst="rect">
            <a:avLst/>
          </a:prstGeom>
          <a:noFill/>
        </p:spPr>
        <p:txBody>
          <a:bodyPr wrap="square">
            <a:spAutoFit/>
          </a:bodyPr>
          <a:lstStyle/>
          <a:p>
            <a:r>
              <a:rPr lang="ru-RU" sz="1800" b="1" dirty="0"/>
              <a:t>Гипотезы</a:t>
            </a:r>
            <a:r>
              <a:rPr lang="ru-RU" sz="1800" dirty="0"/>
              <a:t>: Те же, что и для предыдущего теста </a:t>
            </a:r>
          </a:p>
        </p:txBody>
      </p:sp>
      <p:sp>
        <p:nvSpPr>
          <p:cNvPr id="16" name="TextBox 15">
            <a:extLst>
              <a:ext uri="{FF2B5EF4-FFF2-40B4-BE49-F238E27FC236}">
                <a16:creationId xmlns:a16="http://schemas.microsoft.com/office/drawing/2014/main" id="{B1BC0654-4B70-46CE-9040-40FF59ACDA23}"/>
              </a:ext>
            </a:extLst>
          </p:cNvPr>
          <p:cNvSpPr txBox="1"/>
          <p:nvPr/>
        </p:nvSpPr>
        <p:spPr>
          <a:xfrm>
            <a:off x="881913" y="2563577"/>
            <a:ext cx="10702453" cy="2062103"/>
          </a:xfrm>
          <a:prstGeom prst="rect">
            <a:avLst/>
          </a:prstGeom>
          <a:noFill/>
        </p:spPr>
        <p:txBody>
          <a:bodyPr wrap="square">
            <a:spAutoFit/>
          </a:bodyPr>
          <a:lstStyle>
            <a:defPPr>
              <a:defRPr lang="ru-RU"/>
            </a:defPPr>
            <a:lvl1pPr>
              <a:defRPr>
                <a:solidFill>
                  <a:srgbClr val="0070C0"/>
                </a:solidFill>
              </a:defRPr>
            </a:lvl1pPr>
          </a:lstStyle>
          <a:p>
            <a:r>
              <a:rPr lang="ru-RU" sz="1800" dirty="0"/>
              <a:t># Проводим тест </a:t>
            </a:r>
            <a:r>
              <a:rPr lang="ru-RU" sz="1800" dirty="0" err="1"/>
              <a:t>Флигнера-Килина</a:t>
            </a:r>
            <a:endParaRPr lang="ru-RU" sz="1800" dirty="0"/>
          </a:p>
          <a:p>
            <a:r>
              <a:rPr lang="en-US" sz="1800" dirty="0" err="1"/>
              <a:t>fligner.test</a:t>
            </a:r>
            <a:r>
              <a:rPr lang="en-US" sz="1800" dirty="0"/>
              <a:t>(</a:t>
            </a:r>
            <a:r>
              <a:rPr lang="en-US" sz="1800" dirty="0" err="1"/>
              <a:t>InsectSprays$count</a:t>
            </a:r>
            <a:r>
              <a:rPr lang="en-US" sz="1800" dirty="0"/>
              <a:t> ~ </a:t>
            </a:r>
            <a:r>
              <a:rPr lang="en-US" sz="1800" dirty="0" err="1"/>
              <a:t>InsectSprays$spray</a:t>
            </a:r>
            <a:r>
              <a:rPr lang="en-US" sz="1800" dirty="0"/>
              <a:t>)</a:t>
            </a:r>
          </a:p>
          <a:p>
            <a:endParaRPr lang="en-US" sz="1800" dirty="0"/>
          </a:p>
          <a:p>
            <a:r>
              <a:rPr lang="en-US" sz="1800" dirty="0"/>
              <a:t>    </a:t>
            </a:r>
            <a:r>
              <a:rPr lang="en-US" sz="1800" dirty="0" err="1"/>
              <a:t>Fligner</a:t>
            </a:r>
            <a:r>
              <a:rPr lang="en-US" sz="1800" dirty="0"/>
              <a:t>-Killeen test of homogeneity of variances</a:t>
            </a:r>
          </a:p>
          <a:p>
            <a:endParaRPr lang="en-US" sz="1800" dirty="0"/>
          </a:p>
          <a:p>
            <a:r>
              <a:rPr lang="en-US" sz="1800" dirty="0"/>
              <a:t>data:  </a:t>
            </a:r>
            <a:r>
              <a:rPr lang="en-US" sz="1800" dirty="0" err="1"/>
              <a:t>InsectSprays$count</a:t>
            </a:r>
            <a:r>
              <a:rPr lang="en-US" sz="1800" dirty="0"/>
              <a:t> by </a:t>
            </a:r>
            <a:r>
              <a:rPr lang="en-US" sz="1800" dirty="0" err="1"/>
              <a:t>InsectSprays$spray</a:t>
            </a:r>
            <a:endParaRPr lang="en-US" sz="1800" dirty="0"/>
          </a:p>
          <a:p>
            <a:r>
              <a:rPr lang="en-US" sz="1800" dirty="0" err="1"/>
              <a:t>Fligner-Killeen:med</a:t>
            </a:r>
            <a:r>
              <a:rPr lang="en-US" sz="1800" dirty="0"/>
              <a:t> chi-squared = 16.848, df = 5, p-value = 0.004816</a:t>
            </a:r>
            <a:endParaRPr lang="ru-RU" sz="1800" dirty="0"/>
          </a:p>
        </p:txBody>
      </p:sp>
      <p:sp>
        <p:nvSpPr>
          <p:cNvPr id="17" name="Rectangle 1">
            <a:extLst>
              <a:ext uri="{FF2B5EF4-FFF2-40B4-BE49-F238E27FC236}">
                <a16:creationId xmlns:a16="http://schemas.microsoft.com/office/drawing/2014/main" id="{AD6D03E4-D4D0-4689-946B-C513D6A68713}"/>
              </a:ext>
            </a:extLst>
          </p:cNvPr>
          <p:cNvSpPr>
            <a:spLocks noChangeArrowheads="1"/>
          </p:cNvSpPr>
          <p:nvPr/>
        </p:nvSpPr>
        <p:spPr bwMode="auto">
          <a:xfrm>
            <a:off x="4317901" y="4794325"/>
            <a:ext cx="7056784" cy="738664"/>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ru-RU" sz="1200" b="0" i="0" u="none" strike="noStrike" cap="none" normalizeH="0" baseline="0" dirty="0" err="1">
                <a:ln>
                  <a:noFill/>
                </a:ln>
                <a:solidFill>
                  <a:srgbClr val="000000"/>
                </a:solidFill>
                <a:effectLst/>
                <a:latin typeface="Lucida Console" panose="020B0609040504020204" pitchFamily="49" charset="0"/>
              </a:rPr>
              <a:t>Fligner</a:t>
            </a:r>
            <a:r>
              <a:rPr kumimoji="0" lang="en-US" altLang="ru-RU" sz="1200" b="0" i="0" u="none" strike="noStrike" cap="none" normalizeH="0" baseline="0" dirty="0">
                <a:ln>
                  <a:noFill/>
                </a:ln>
                <a:solidFill>
                  <a:srgbClr val="000000"/>
                </a:solidFill>
                <a:effectLst/>
                <a:latin typeface="Lucida Console" panose="020B0609040504020204" pitchFamily="49" charset="0"/>
              </a:rPr>
              <a:t>-Killeen test of homogeneity of variances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ru-RU" sz="1200" b="0" i="0" u="none" strike="noStrike" cap="none" normalizeH="0" baseline="0" dirty="0">
              <a:ln>
                <a:noFill/>
              </a:ln>
              <a:solidFill>
                <a:srgbClr val="000000"/>
              </a:solidFill>
              <a:effectLst/>
              <a:latin typeface="Lucida Console" panose="020B060904050402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ru-RU" sz="1200" b="0" i="0" u="none" strike="noStrike" cap="none" normalizeH="0" baseline="0" dirty="0">
                <a:ln>
                  <a:noFill/>
                </a:ln>
                <a:solidFill>
                  <a:srgbClr val="000000"/>
                </a:solidFill>
                <a:effectLst/>
                <a:latin typeface="Lucida Console" panose="020B0609040504020204" pitchFamily="49" charset="0"/>
              </a:rPr>
              <a:t>data:  </a:t>
            </a:r>
            <a:r>
              <a:rPr kumimoji="0" lang="en-US" altLang="ru-RU" sz="1200" b="0" i="0" u="none" strike="noStrike" cap="none" normalizeH="0" baseline="0" dirty="0" err="1">
                <a:ln>
                  <a:noFill/>
                </a:ln>
                <a:solidFill>
                  <a:srgbClr val="000000"/>
                </a:solidFill>
                <a:effectLst/>
                <a:latin typeface="Lucida Console" panose="020B0609040504020204" pitchFamily="49" charset="0"/>
              </a:rPr>
              <a:t>InsectSprays$count</a:t>
            </a:r>
            <a:r>
              <a:rPr kumimoji="0" lang="en-US" altLang="ru-RU" sz="1200" b="0" i="0" u="none" strike="noStrike" cap="none" normalizeH="0" baseline="0" dirty="0">
                <a:ln>
                  <a:noFill/>
                </a:ln>
                <a:solidFill>
                  <a:srgbClr val="000000"/>
                </a:solidFill>
                <a:effectLst/>
                <a:latin typeface="Lucida Console" panose="020B0609040504020204" pitchFamily="49" charset="0"/>
              </a:rPr>
              <a:t> by </a:t>
            </a:r>
            <a:r>
              <a:rPr kumimoji="0" lang="en-US" altLang="ru-RU" sz="1200" b="0" i="0" u="none" strike="noStrike" cap="none" normalizeH="0" baseline="0" dirty="0" err="1">
                <a:ln>
                  <a:noFill/>
                </a:ln>
                <a:solidFill>
                  <a:srgbClr val="000000"/>
                </a:solidFill>
                <a:effectLst/>
                <a:latin typeface="Lucida Console" panose="020B0609040504020204" pitchFamily="49" charset="0"/>
              </a:rPr>
              <a:t>InsectSprays$spray</a:t>
            </a:r>
            <a:endParaRPr kumimoji="0" lang="en-US" altLang="ru-RU" sz="1200" b="0" i="0" u="none" strike="noStrike" cap="none" normalizeH="0" baseline="0" dirty="0">
              <a:ln>
                <a:noFill/>
              </a:ln>
              <a:solidFill>
                <a:srgbClr val="000000"/>
              </a:solidFill>
              <a:effectLst/>
              <a:latin typeface="Lucida Console" panose="020B060904050402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ru-RU" sz="1200" b="0" i="0" u="none" strike="noStrike" cap="none" normalizeH="0" baseline="0" dirty="0" err="1">
                <a:ln>
                  <a:noFill/>
                </a:ln>
                <a:solidFill>
                  <a:srgbClr val="000000"/>
                </a:solidFill>
                <a:effectLst/>
                <a:latin typeface="Lucida Console" panose="020B0609040504020204" pitchFamily="49" charset="0"/>
              </a:rPr>
              <a:t>Fligner-Killeen:med</a:t>
            </a:r>
            <a:r>
              <a:rPr kumimoji="0" lang="en-US" altLang="ru-RU" sz="1200" b="0" i="0" u="none" strike="noStrike" cap="none" normalizeH="0" baseline="0" dirty="0">
                <a:ln>
                  <a:noFill/>
                </a:ln>
                <a:solidFill>
                  <a:srgbClr val="000000"/>
                </a:solidFill>
                <a:effectLst/>
                <a:latin typeface="Lucida Console" panose="020B0609040504020204" pitchFamily="49" charset="0"/>
              </a:rPr>
              <a:t> chi-squared = 14.483, df = 5, p-value = 0.01282</a:t>
            </a:r>
            <a:endParaRPr kumimoji="0" lang="ru-RU" altLang="ru-RU" sz="1200" b="0" i="0" u="none" strike="noStrike" cap="none" normalizeH="0" baseline="0" dirty="0">
              <a:ln>
                <a:noFill/>
              </a:ln>
              <a:solidFill>
                <a:schemeClr val="tx1"/>
              </a:solidFill>
              <a:effectLst/>
            </a:endParaRPr>
          </a:p>
        </p:txBody>
      </p:sp>
      <p:sp>
        <p:nvSpPr>
          <p:cNvPr id="19" name="TextBox 18">
            <a:extLst>
              <a:ext uri="{FF2B5EF4-FFF2-40B4-BE49-F238E27FC236}">
                <a16:creationId xmlns:a16="http://schemas.microsoft.com/office/drawing/2014/main" id="{7E32B470-ADF9-4907-BEF8-5A7CE58D9A47}"/>
              </a:ext>
            </a:extLst>
          </p:cNvPr>
          <p:cNvSpPr txBox="1"/>
          <p:nvPr/>
        </p:nvSpPr>
        <p:spPr>
          <a:xfrm>
            <a:off x="783166" y="6101572"/>
            <a:ext cx="10801200" cy="830997"/>
          </a:xfrm>
          <a:prstGeom prst="rect">
            <a:avLst/>
          </a:prstGeom>
          <a:noFill/>
        </p:spPr>
        <p:txBody>
          <a:bodyPr wrap="square">
            <a:spAutoFit/>
          </a:bodyPr>
          <a:lstStyle/>
          <a:p>
            <a:r>
              <a:rPr lang="ru-RU" sz="1600" b="1" dirty="0"/>
              <a:t>Интерпретация</a:t>
            </a:r>
            <a:r>
              <a:rPr lang="ru-RU" sz="1600" dirty="0"/>
              <a:t>: p-</a:t>
            </a:r>
            <a:r>
              <a:rPr lang="ru-RU" sz="1600" dirty="0" err="1"/>
              <a:t>value</a:t>
            </a:r>
            <a:r>
              <a:rPr lang="ru-RU" sz="1600" dirty="0"/>
              <a:t> (0.</a:t>
            </a:r>
            <a:r>
              <a:rPr lang="en-US" sz="1600" dirty="0"/>
              <a:t>01282</a:t>
            </a:r>
            <a:r>
              <a:rPr lang="ru-RU" sz="1600" dirty="0"/>
              <a:t>) ниже стандартного порога 0.05, следовательно, дисперсии в группах различны. Благодаря своей робастности, тест </a:t>
            </a:r>
            <a:r>
              <a:rPr lang="ru-RU" sz="1600" dirty="0" err="1"/>
              <a:t>Флигнера-Килина</a:t>
            </a:r>
            <a:r>
              <a:rPr lang="ru-RU" sz="1600" dirty="0"/>
              <a:t> считается одним из лучших для проверки гомогенности дисперсий.</a:t>
            </a:r>
          </a:p>
        </p:txBody>
      </p:sp>
    </p:spTree>
    <p:extLst>
      <p:ext uri="{BB962C8B-B14F-4D97-AF65-F5344CB8AC3E}">
        <p14:creationId xmlns:p14="http://schemas.microsoft.com/office/powerpoint/2010/main" val="4273422965"/>
      </p:ext>
    </p:extLst>
  </p:cSld>
  <p:clrMapOvr>
    <a:masterClrMapping/>
  </p:clrMapOvr>
  <p:transition spd="slow"/>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AutoShape 8"/>
          <p:cNvSpPr>
            <a:spLocks noChangeArrowheads="1"/>
          </p:cNvSpPr>
          <p:nvPr/>
        </p:nvSpPr>
        <p:spPr bwMode="auto">
          <a:xfrm>
            <a:off x="789509" y="315382"/>
            <a:ext cx="11570147" cy="6337300"/>
          </a:xfrm>
          <a:prstGeom prst="roundRect">
            <a:avLst>
              <a:gd name="adj" fmla="val 16667"/>
            </a:avLst>
          </a:prstGeom>
          <a:solidFill>
            <a:schemeClr val="bg1">
              <a:alpha val="50195"/>
            </a:scheme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a:solidFill>
                  <a:schemeClr val="tx1"/>
                </a:solidFill>
                <a:latin typeface="Arial" panose="020B0604020202020204" pitchFamily="34" charset="0"/>
                <a:cs typeface="Arial" panose="020B0604020202020204" pitchFamily="34" charset="0"/>
              </a:defRPr>
            </a:lvl1pPr>
            <a:lvl2pPr marL="742950" indent="-285750" defTabSz="993775">
              <a:defRPr>
                <a:solidFill>
                  <a:schemeClr val="tx1"/>
                </a:solidFill>
                <a:latin typeface="Arial" panose="020B0604020202020204" pitchFamily="34" charset="0"/>
                <a:cs typeface="Arial" panose="020B0604020202020204" pitchFamily="34" charset="0"/>
              </a:defRPr>
            </a:lvl2pPr>
            <a:lvl3pPr marL="1143000" indent="-228600" defTabSz="993775">
              <a:defRPr>
                <a:solidFill>
                  <a:schemeClr val="tx1"/>
                </a:solidFill>
                <a:latin typeface="Arial" panose="020B0604020202020204" pitchFamily="34" charset="0"/>
                <a:cs typeface="Arial" panose="020B0604020202020204" pitchFamily="34" charset="0"/>
              </a:defRPr>
            </a:lvl3pPr>
            <a:lvl4pPr marL="1600200" indent="-228600" defTabSz="993775">
              <a:defRPr>
                <a:solidFill>
                  <a:schemeClr val="tx1"/>
                </a:solidFill>
                <a:latin typeface="Arial" panose="020B0604020202020204" pitchFamily="34" charset="0"/>
                <a:cs typeface="Arial" panose="020B0604020202020204" pitchFamily="34" charset="0"/>
              </a:defRPr>
            </a:lvl4pPr>
            <a:lvl5pPr marL="2057400" indent="-228600" defTabSz="993775">
              <a:defRPr>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ru-RU" sz="3500" dirty="0">
              <a:solidFill>
                <a:schemeClr val="bg1"/>
              </a:solidFill>
            </a:endParaRPr>
          </a:p>
        </p:txBody>
      </p:sp>
      <p:sp>
        <p:nvSpPr>
          <p:cNvPr id="110595" name="Заголовок 1"/>
          <p:cNvSpPr>
            <a:spLocks noGrp="1"/>
          </p:cNvSpPr>
          <p:nvPr>
            <p:ph type="title" idx="4294967295"/>
          </p:nvPr>
        </p:nvSpPr>
        <p:spPr bwMode="auto">
          <a:xfrm>
            <a:off x="1195389" y="285750"/>
            <a:ext cx="9248775" cy="73025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vert="horz" lIns="99441" tIns="49721" rIns="99441" bIns="49721" rtlCol="0" anchor="ctr">
            <a:normAutofit fontScale="90000"/>
          </a:bodyPr>
          <a:lstStyle/>
          <a:p>
            <a:pPr eaLnBrk="1" hangingPunct="1"/>
            <a:r>
              <a:rPr lang="ru-RU" altLang="ru-RU" sz="3100" b="1" dirty="0"/>
              <a:t>Тесты для проверки гипотез на равенство дисперсий</a:t>
            </a:r>
          </a:p>
        </p:txBody>
      </p:sp>
      <p:sp>
        <p:nvSpPr>
          <p:cNvPr id="110596" name="Text Box 7"/>
          <p:cNvSpPr txBox="1">
            <a:spLocks noChangeArrowheads="1"/>
          </p:cNvSpPr>
          <p:nvPr/>
        </p:nvSpPr>
        <p:spPr bwMode="auto">
          <a:xfrm>
            <a:off x="3905252" y="0"/>
            <a:ext cx="5100637" cy="407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9441" tIns="49721" rIns="99441" bIns="49721">
            <a:spAutoFit/>
          </a:bodyPr>
          <a:lstStyle>
            <a:lvl1pPr defTabSz="993775">
              <a:defRPr>
                <a:solidFill>
                  <a:schemeClr val="tx1"/>
                </a:solidFill>
                <a:latin typeface="Arial" panose="020B0604020202020204" pitchFamily="34" charset="0"/>
                <a:cs typeface="Arial" panose="020B0604020202020204" pitchFamily="34" charset="0"/>
              </a:defRPr>
            </a:lvl1pPr>
            <a:lvl2pPr marL="742950" indent="-285750" defTabSz="993775">
              <a:defRPr>
                <a:solidFill>
                  <a:schemeClr val="tx1"/>
                </a:solidFill>
                <a:latin typeface="Arial" panose="020B0604020202020204" pitchFamily="34" charset="0"/>
                <a:cs typeface="Arial" panose="020B0604020202020204" pitchFamily="34" charset="0"/>
              </a:defRPr>
            </a:lvl2pPr>
            <a:lvl3pPr marL="1143000" indent="-228600" defTabSz="993775">
              <a:defRPr>
                <a:solidFill>
                  <a:schemeClr val="tx1"/>
                </a:solidFill>
                <a:latin typeface="Arial" panose="020B0604020202020204" pitchFamily="34" charset="0"/>
                <a:cs typeface="Arial" panose="020B0604020202020204" pitchFamily="34" charset="0"/>
              </a:defRPr>
            </a:lvl3pPr>
            <a:lvl4pPr marL="1600200" indent="-228600" defTabSz="993775">
              <a:defRPr>
                <a:solidFill>
                  <a:schemeClr val="tx1"/>
                </a:solidFill>
                <a:latin typeface="Arial" panose="020B0604020202020204" pitchFamily="34" charset="0"/>
                <a:cs typeface="Arial" panose="020B0604020202020204" pitchFamily="34" charset="0"/>
              </a:defRPr>
            </a:lvl4pPr>
            <a:lvl5pPr marL="2057400" indent="-228600" defTabSz="993775">
              <a:defRPr>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ru-RU" altLang="ru-RU" b="1" dirty="0">
                <a:solidFill>
                  <a:schemeClr val="bg1"/>
                </a:solidFill>
                <a:latin typeface="Courier New" panose="02070309020205020404" pitchFamily="49" charset="0"/>
              </a:rPr>
              <a:t>Обработка больших данных. Л9</a:t>
            </a:r>
          </a:p>
        </p:txBody>
      </p:sp>
      <p:sp>
        <p:nvSpPr>
          <p:cNvPr id="2" name="Номер слайда 1"/>
          <p:cNvSpPr>
            <a:spLocks noGrp="1"/>
          </p:cNvSpPr>
          <p:nvPr>
            <p:ph type="sldNum" sz="quarter" idx="12"/>
          </p:nvPr>
        </p:nvSpPr>
        <p:spPr/>
        <p:txBody>
          <a:bodyPr/>
          <a:lstStyle/>
          <a:p>
            <a:fld id="{952B6C0E-C4B9-4094-8E59-5B7DF00D5415}" type="slidenum">
              <a:rPr lang="ru-RU" sz="1400">
                <a:solidFill>
                  <a:schemeClr val="tx1"/>
                </a:solidFill>
              </a:rPr>
              <a:t>133</a:t>
            </a:fld>
            <a:endParaRPr lang="ru-RU" sz="1400">
              <a:solidFill>
                <a:schemeClr val="tx1"/>
              </a:solidFill>
            </a:endParaRPr>
          </a:p>
        </p:txBody>
      </p:sp>
      <p:sp>
        <p:nvSpPr>
          <p:cNvPr id="3" name="Rectangle 1">
            <a:extLst>
              <a:ext uri="{FF2B5EF4-FFF2-40B4-BE49-F238E27FC236}">
                <a16:creationId xmlns:a16="http://schemas.microsoft.com/office/drawing/2014/main" id="{7FE93898-BFE9-4A79-8D04-2805D4590F4E}"/>
              </a:ext>
            </a:extLst>
          </p:cNvPr>
          <p:cNvSpPr>
            <a:spLocks noChangeArrowheads="1"/>
          </p:cNvSpPr>
          <p:nvPr/>
        </p:nvSpPr>
        <p:spPr bwMode="auto">
          <a:xfrm>
            <a:off x="703997" y="1710486"/>
            <a:ext cx="11390768" cy="4729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ts val="2600"/>
              </a:lnSpc>
              <a:spcBef>
                <a:spcPct val="0"/>
              </a:spcBef>
              <a:spcAft>
                <a:spcPct val="0"/>
              </a:spcAft>
              <a:buClrTx/>
              <a:buSzTx/>
              <a:buFontTx/>
              <a:buChar char="•"/>
              <a:tabLst/>
            </a:pPr>
            <a:r>
              <a:rPr kumimoji="0" lang="ru-RU" altLang="ru-RU" sz="1800" b="1" i="0" u="none" strike="noStrike" cap="none" normalizeH="0" baseline="0" dirty="0">
                <a:ln>
                  <a:noFill/>
                </a:ln>
                <a:solidFill>
                  <a:schemeClr val="tx1"/>
                </a:solidFill>
                <a:effectLst/>
                <a:latin typeface="Arial" panose="020B0604020202020204" pitchFamily="34" charset="0"/>
              </a:rPr>
              <a:t>Начните с визуализации</a:t>
            </a:r>
            <a:r>
              <a:rPr kumimoji="0" lang="ru-RU" altLang="ru-RU" sz="1800" b="0" i="0" u="none" strike="noStrike" cap="none" normalizeH="0" baseline="0" dirty="0">
                <a:ln>
                  <a:noFill/>
                </a:ln>
                <a:solidFill>
                  <a:schemeClr val="tx1"/>
                </a:solidFill>
                <a:effectLst/>
                <a:latin typeface="Arial" panose="020B0604020202020204" pitchFamily="34" charset="0"/>
              </a:rPr>
              <a:t>. Прежде чем выполнять тесты, постройте графики «ящик с усами» (</a:t>
            </a:r>
            <a:r>
              <a:rPr kumimoji="0" lang="ru-RU" altLang="ru-RU" sz="1800" b="0" i="0" u="none" strike="noStrike" cap="none" normalizeH="0" baseline="0" dirty="0" err="1">
                <a:ln>
                  <a:noFill/>
                </a:ln>
                <a:solidFill>
                  <a:schemeClr val="tx1"/>
                </a:solidFill>
                <a:effectLst/>
                <a:latin typeface="Arial" panose="020B0604020202020204" pitchFamily="34" charset="0"/>
              </a:rPr>
              <a:t>boxplot</a:t>
            </a:r>
            <a:r>
              <a:rPr kumimoji="0" lang="ru-RU" altLang="ru-RU" sz="1800" b="0" i="0" u="none" strike="noStrike" cap="none" normalizeH="0" baseline="0" dirty="0">
                <a:ln>
                  <a:noFill/>
                </a:ln>
                <a:solidFill>
                  <a:schemeClr val="tx1"/>
                </a:solidFill>
                <a:effectLst/>
                <a:latin typeface="Arial" panose="020B0604020202020204" pitchFamily="34" charset="0"/>
              </a:rPr>
              <a:t>), гистограммы или Q-Q-графики. Они помогут интуитивно оценить разброс данных, асимметрию и наличие выбросов.</a:t>
            </a:r>
          </a:p>
          <a:p>
            <a:pPr marL="0" marR="0" lvl="0" indent="0" algn="l" defTabSz="914400" rtl="0" eaLnBrk="0" fontAlgn="base" latinLnBrk="0" hangingPunct="0">
              <a:lnSpc>
                <a:spcPts val="2600"/>
              </a:lnSpc>
              <a:spcBef>
                <a:spcPct val="0"/>
              </a:spcBef>
              <a:spcAft>
                <a:spcPct val="0"/>
              </a:spcAft>
              <a:buClrTx/>
              <a:buSzTx/>
              <a:buFontTx/>
              <a:buChar char="•"/>
              <a:tabLst/>
            </a:pPr>
            <a:r>
              <a:rPr kumimoji="0" lang="ru-RU" altLang="ru-RU" sz="1800" b="1" i="0" u="none" strike="noStrike" cap="none" normalizeH="0" baseline="0" dirty="0">
                <a:ln>
                  <a:noFill/>
                </a:ln>
                <a:solidFill>
                  <a:schemeClr val="tx1"/>
                </a:solidFill>
                <a:effectLst/>
                <a:latin typeface="Arial" panose="020B0604020202020204" pitchFamily="34" charset="0"/>
              </a:rPr>
              <a:t>Выбирайте тест по ситуации</a:t>
            </a:r>
            <a:r>
              <a:rPr kumimoji="0" lang="ru-RU" altLang="ru-RU" sz="1800" b="0" i="0" u="none" strike="noStrike" cap="none" normalizeH="0" baseline="0" dirty="0">
                <a:ln>
                  <a:noFill/>
                </a:ln>
                <a:solidFill>
                  <a:schemeClr val="tx1"/>
                </a:solidFill>
                <a:effectLst/>
                <a:latin typeface="Arial" panose="020B0604020202020204" pitchFamily="34" charset="0"/>
              </a:rPr>
              <a:t>:</a:t>
            </a:r>
          </a:p>
          <a:p>
            <a:pPr lvl="1" indent="173038" eaLnBrk="0" hangingPunct="0">
              <a:lnSpc>
                <a:spcPts val="2600"/>
              </a:lnSpc>
              <a:buFontTx/>
              <a:buChar char="•"/>
            </a:pPr>
            <a:r>
              <a:rPr kumimoji="0" lang="ru-RU" altLang="ru-RU" sz="1800" b="0" i="0" u="none" strike="noStrike" cap="none" normalizeH="0" baseline="0" dirty="0">
                <a:ln>
                  <a:noFill/>
                </a:ln>
                <a:solidFill>
                  <a:schemeClr val="tx1"/>
                </a:solidFill>
                <a:effectLst/>
                <a:latin typeface="Arial" panose="020B0604020202020204" pitchFamily="34" charset="0"/>
              </a:rPr>
              <a:t>Данные </a:t>
            </a:r>
            <a:r>
              <a:rPr kumimoji="0" lang="ru-RU" altLang="ru-RU" sz="1800" b="1" i="0" u="none" strike="noStrike" cap="none" normalizeH="0" baseline="0" dirty="0">
                <a:ln>
                  <a:noFill/>
                </a:ln>
                <a:solidFill>
                  <a:schemeClr val="tx1"/>
                </a:solidFill>
                <a:effectLst/>
                <a:latin typeface="Arial" panose="020B0604020202020204" pitchFamily="34" charset="0"/>
              </a:rPr>
              <a:t>нормальны</a:t>
            </a:r>
            <a:r>
              <a:rPr kumimoji="0" lang="ru-RU" altLang="ru-RU" sz="1800" b="0" i="0" u="none" strike="noStrike" cap="none" normalizeH="0" baseline="0" dirty="0">
                <a:ln>
                  <a:noFill/>
                </a:ln>
                <a:solidFill>
                  <a:schemeClr val="tx1"/>
                </a:solidFill>
                <a:effectLst/>
                <a:latin typeface="Arial" panose="020B0604020202020204" pitchFamily="34" charset="0"/>
              </a:rPr>
              <a:t> — используйте </a:t>
            </a:r>
            <a:r>
              <a:rPr kumimoji="0" lang="ru-RU" altLang="ru-RU" sz="1800" b="1" i="0" u="none" strike="noStrike" cap="none" normalizeH="0" baseline="0" dirty="0">
                <a:ln>
                  <a:noFill/>
                </a:ln>
                <a:solidFill>
                  <a:schemeClr val="tx1"/>
                </a:solidFill>
                <a:effectLst/>
                <a:latin typeface="Arial" panose="020B0604020202020204" pitchFamily="34" charset="0"/>
              </a:rPr>
              <a:t>тест </a:t>
            </a:r>
            <a:r>
              <a:rPr lang="ru-RU" altLang="ru-RU" sz="1800" b="1" dirty="0"/>
              <a:t>Стьюдента</a:t>
            </a:r>
            <a:r>
              <a:rPr kumimoji="0" lang="ru-RU" altLang="ru-RU" sz="1800" b="0" i="0" u="none" strike="noStrike" cap="none" normalizeH="0" baseline="0" dirty="0">
                <a:ln>
                  <a:noFill/>
                </a:ln>
                <a:solidFill>
                  <a:schemeClr val="tx1"/>
                </a:solidFill>
                <a:effectLst/>
                <a:latin typeface="Arial" panose="020B0604020202020204" pitchFamily="34" charset="0"/>
              </a:rPr>
              <a:t>.</a:t>
            </a:r>
          </a:p>
          <a:p>
            <a:pPr lvl="1" indent="173038" eaLnBrk="0" hangingPunct="0">
              <a:lnSpc>
                <a:spcPts val="2600"/>
              </a:lnSpc>
              <a:buFontTx/>
              <a:buChar char="•"/>
            </a:pPr>
            <a:r>
              <a:rPr kumimoji="0" lang="ru-RU" altLang="ru-RU" sz="1800" b="0" i="0" u="none" strike="noStrike" cap="none" normalizeH="0" baseline="0" dirty="0">
                <a:ln>
                  <a:noFill/>
                </a:ln>
                <a:solidFill>
                  <a:schemeClr val="tx1"/>
                </a:solidFill>
                <a:effectLst/>
                <a:latin typeface="Arial" panose="020B0604020202020204" pitchFamily="34" charset="0"/>
              </a:rPr>
              <a:t>Данные </a:t>
            </a:r>
            <a:r>
              <a:rPr kumimoji="0" lang="ru-RU" altLang="ru-RU" sz="1800" b="1" i="0" u="none" strike="noStrike" cap="none" normalizeH="0" baseline="0" dirty="0">
                <a:ln>
                  <a:noFill/>
                </a:ln>
                <a:solidFill>
                  <a:schemeClr val="tx1"/>
                </a:solidFill>
                <a:effectLst/>
                <a:latin typeface="Arial" panose="020B0604020202020204" pitchFamily="34" charset="0"/>
              </a:rPr>
              <a:t>не нормальны</a:t>
            </a:r>
            <a:r>
              <a:rPr kumimoji="0" lang="ru-RU" altLang="ru-RU" sz="1800" b="0" i="0" u="none" strike="noStrike" cap="none" normalizeH="0" baseline="0" dirty="0">
                <a:ln>
                  <a:noFill/>
                </a:ln>
                <a:solidFill>
                  <a:schemeClr val="tx1"/>
                </a:solidFill>
                <a:effectLst/>
                <a:latin typeface="Arial" panose="020B0604020202020204" pitchFamily="34" charset="0"/>
              </a:rPr>
              <a:t> или </a:t>
            </a:r>
            <a:r>
              <a:rPr kumimoji="0" lang="ru-RU" altLang="ru-RU" sz="1800" b="1" i="0" u="none" strike="noStrike" cap="none" normalizeH="0" baseline="0" dirty="0">
                <a:ln>
                  <a:noFill/>
                </a:ln>
                <a:solidFill>
                  <a:schemeClr val="tx1"/>
                </a:solidFill>
                <a:effectLst/>
                <a:latin typeface="Arial" panose="020B0604020202020204" pitchFamily="34" charset="0"/>
              </a:rPr>
              <a:t>вопрос об их распределении открыт</a:t>
            </a:r>
            <a:r>
              <a:rPr kumimoji="0" lang="ru-RU" altLang="ru-RU" sz="1800" b="0" i="0" u="none" strike="noStrike" cap="none" normalizeH="0" baseline="0" dirty="0">
                <a:ln>
                  <a:noFill/>
                </a:ln>
                <a:solidFill>
                  <a:schemeClr val="tx1"/>
                </a:solidFill>
                <a:effectLst/>
                <a:latin typeface="Arial" panose="020B0604020202020204" pitchFamily="34" charset="0"/>
              </a:rPr>
              <a:t> — ваш выбор — </a:t>
            </a:r>
            <a:r>
              <a:rPr kumimoji="0" lang="ru-RU" altLang="ru-RU" sz="1800" b="1" i="0" u="none" strike="noStrike" cap="none" normalizeH="0" baseline="0" dirty="0">
                <a:ln>
                  <a:noFill/>
                </a:ln>
                <a:solidFill>
                  <a:schemeClr val="tx1"/>
                </a:solidFill>
                <a:effectLst/>
                <a:latin typeface="Arial" panose="020B0604020202020204" pitchFamily="34" charset="0"/>
              </a:rPr>
              <a:t>тест </a:t>
            </a:r>
            <a:r>
              <a:rPr kumimoji="0" lang="ru-RU" altLang="ru-RU" sz="1800" b="1" i="0" u="none" strike="noStrike" cap="none" normalizeH="0" baseline="0" dirty="0" err="1">
                <a:ln>
                  <a:noFill/>
                </a:ln>
                <a:solidFill>
                  <a:schemeClr val="tx1"/>
                </a:solidFill>
                <a:effectLst/>
                <a:latin typeface="Arial" panose="020B0604020202020204" pitchFamily="34" charset="0"/>
              </a:rPr>
              <a:t>Левена</a:t>
            </a:r>
            <a:r>
              <a:rPr kumimoji="0" lang="ru-RU" altLang="ru-RU" sz="1800" b="0" i="0" u="none" strike="noStrike" cap="none" normalizeH="0" baseline="0" dirty="0">
                <a:ln>
                  <a:noFill/>
                </a:ln>
                <a:solidFill>
                  <a:schemeClr val="tx1"/>
                </a:solidFill>
                <a:effectLst/>
                <a:latin typeface="Arial" panose="020B0604020202020204" pitchFamily="34" charset="0"/>
              </a:rPr>
              <a:t> (из пакета </a:t>
            </a:r>
            <a:r>
              <a:rPr kumimoji="0" lang="ru-RU" altLang="ru-RU" b="0" i="0" u="none" strike="noStrike" cap="none" normalizeH="0" baseline="0" dirty="0" err="1">
                <a:ln>
                  <a:noFill/>
                </a:ln>
                <a:solidFill>
                  <a:schemeClr val="tx1"/>
                </a:solidFill>
                <a:effectLst/>
                <a:latin typeface="Arial Unicode MS" pitchFamily="34" charset="-128"/>
              </a:rPr>
              <a:t>car</a:t>
            </a:r>
            <a:r>
              <a:rPr kumimoji="0" lang="ru-RU" altLang="ru-RU" b="0" i="0" u="none" strike="noStrike" cap="none" normalizeH="0" baseline="0" dirty="0">
                <a:ln>
                  <a:noFill/>
                </a:ln>
                <a:solidFill>
                  <a:schemeClr val="tx1"/>
                </a:solidFill>
                <a:effectLst/>
              </a:rPr>
              <a:t>) или </a:t>
            </a:r>
            <a:r>
              <a:rPr kumimoji="0" lang="ru-RU" altLang="ru-RU" sz="1800" b="1" i="0" u="none" strike="noStrike" cap="none" normalizeH="0" baseline="0" dirty="0">
                <a:ln>
                  <a:noFill/>
                </a:ln>
                <a:solidFill>
                  <a:schemeClr val="tx1"/>
                </a:solidFill>
                <a:effectLst/>
                <a:latin typeface="Arial" panose="020B0604020202020204" pitchFamily="34" charset="0"/>
              </a:rPr>
              <a:t>тест </a:t>
            </a:r>
            <a:r>
              <a:rPr kumimoji="0" lang="ru-RU" altLang="ru-RU" sz="1800" b="1" i="0" u="none" strike="noStrike" cap="none" normalizeH="0" baseline="0" dirty="0" err="1">
                <a:ln>
                  <a:noFill/>
                </a:ln>
                <a:solidFill>
                  <a:schemeClr val="tx1"/>
                </a:solidFill>
                <a:effectLst/>
                <a:latin typeface="Arial" panose="020B0604020202020204" pitchFamily="34" charset="0"/>
              </a:rPr>
              <a:t>Флигнера-Килина</a:t>
            </a:r>
            <a:r>
              <a:rPr kumimoji="0" lang="ru-RU" altLang="ru-RU"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ts val="2600"/>
              </a:lnSpc>
              <a:spcBef>
                <a:spcPct val="0"/>
              </a:spcBef>
              <a:spcAft>
                <a:spcPct val="0"/>
              </a:spcAft>
              <a:buClrTx/>
              <a:buSzTx/>
              <a:buFontTx/>
              <a:buChar char="•"/>
              <a:tabLst/>
            </a:pPr>
            <a:r>
              <a:rPr kumimoji="0" lang="ru-RU" altLang="ru-RU" sz="1800" b="1" i="0" u="none" strike="noStrike" cap="none" normalizeH="0" baseline="0" dirty="0">
                <a:ln>
                  <a:noFill/>
                </a:ln>
                <a:solidFill>
                  <a:schemeClr val="tx1"/>
                </a:solidFill>
                <a:effectLst/>
                <a:latin typeface="Arial" panose="020B0604020202020204" pitchFamily="34" charset="0"/>
              </a:rPr>
              <a:t>Что делать при нарушении гомогенности?</a:t>
            </a:r>
            <a:r>
              <a:rPr kumimoji="0" lang="ru-RU" altLang="ru-RU" sz="18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ts val="2600"/>
              </a:lnSpc>
              <a:spcBef>
                <a:spcPct val="0"/>
              </a:spcBef>
              <a:spcAft>
                <a:spcPct val="0"/>
              </a:spcAft>
              <a:buClrTx/>
              <a:buSzTx/>
              <a:tabLst/>
            </a:pPr>
            <a:r>
              <a:rPr kumimoji="0" lang="ru-RU" altLang="ru-RU" sz="1800" b="0" i="0" u="none" strike="noStrike" cap="none" normalizeH="0" baseline="0" dirty="0">
                <a:ln>
                  <a:noFill/>
                </a:ln>
                <a:solidFill>
                  <a:schemeClr val="tx1"/>
                </a:solidFill>
                <a:effectLst/>
                <a:latin typeface="Arial" panose="020B0604020202020204" pitchFamily="34" charset="0"/>
              </a:rPr>
              <a:t>Если тесты показывают значимые различия в дисперсиях, это не конец анализа. Вот что можно предпринять:</a:t>
            </a:r>
          </a:p>
          <a:p>
            <a:pPr marL="803275" lvl="1" indent="-346075" eaLnBrk="0" hangingPunct="0">
              <a:lnSpc>
                <a:spcPts val="2600"/>
              </a:lnSpc>
              <a:buFontTx/>
              <a:buChar char="•"/>
            </a:pPr>
            <a:r>
              <a:rPr kumimoji="0" lang="ru-RU" altLang="ru-RU" sz="1800" b="0" i="0" u="none" strike="noStrike" cap="none" normalizeH="0" baseline="0" dirty="0">
                <a:ln>
                  <a:noFill/>
                </a:ln>
                <a:solidFill>
                  <a:schemeClr val="tx1"/>
                </a:solidFill>
                <a:effectLst/>
                <a:latin typeface="Arial" panose="020B0604020202020204" pitchFamily="34" charset="0"/>
              </a:rPr>
              <a:t>Использовать </a:t>
            </a:r>
            <a:r>
              <a:rPr kumimoji="0" lang="ru-RU" altLang="ru-RU" sz="1800" b="1" i="0" u="none" strike="noStrike" cap="none" normalizeH="0" baseline="0" dirty="0">
                <a:ln>
                  <a:noFill/>
                </a:ln>
                <a:solidFill>
                  <a:schemeClr val="tx1"/>
                </a:solidFill>
                <a:effectLst/>
                <a:latin typeface="Arial" panose="020B0604020202020204" pitchFamily="34" charset="0"/>
              </a:rPr>
              <a:t>робастные статистические тесты</a:t>
            </a:r>
            <a:r>
              <a:rPr kumimoji="0" lang="ru-RU" altLang="ru-RU" sz="1800" b="0" i="0" u="none" strike="noStrike" cap="none" normalizeH="0" baseline="0" dirty="0">
                <a:ln>
                  <a:noFill/>
                </a:ln>
                <a:solidFill>
                  <a:schemeClr val="tx1"/>
                </a:solidFill>
                <a:effectLst/>
                <a:latin typeface="Arial" panose="020B0604020202020204" pitchFamily="34" charset="0"/>
              </a:rPr>
              <a:t> (например, t-критерий Уэлча для двух выборок).</a:t>
            </a:r>
          </a:p>
          <a:p>
            <a:pPr marL="803275" lvl="1" indent="-346075" eaLnBrk="0" hangingPunct="0">
              <a:lnSpc>
                <a:spcPts val="2600"/>
              </a:lnSpc>
              <a:buFontTx/>
              <a:buChar char="•"/>
            </a:pPr>
            <a:r>
              <a:rPr lang="ru-RU" altLang="ru-RU" sz="1800" dirty="0"/>
              <a:t>Преобразовать данные (например, логарифмирование </a:t>
            </a:r>
            <a:r>
              <a:rPr lang="ru-RU" altLang="ru-RU" sz="1800" dirty="0" err="1"/>
              <a:t>log</a:t>
            </a:r>
            <a:r>
              <a:rPr lang="ru-RU" altLang="ru-RU" sz="1800" dirty="0"/>
              <a:t>(</a:t>
            </a:r>
            <a:r>
              <a:rPr lang="ru-RU" altLang="ru-RU" sz="1800" dirty="0" err="1"/>
              <a:t>data</a:t>
            </a:r>
            <a:r>
              <a:rPr lang="ru-RU" altLang="ru-RU" sz="1800" dirty="0"/>
              <a:t>)) для стабилизации дисперсии.</a:t>
            </a:r>
          </a:p>
          <a:p>
            <a:pPr marL="803275" lvl="1" indent="-346075" eaLnBrk="0" hangingPunct="0">
              <a:lnSpc>
                <a:spcPts val="2600"/>
              </a:lnSpc>
              <a:buFontTx/>
              <a:buChar char="•"/>
            </a:pPr>
            <a:r>
              <a:rPr kumimoji="0" lang="ru-RU" altLang="ru-RU" sz="1800" b="0" i="0" u="none" strike="noStrike" cap="none" normalizeH="0" baseline="0" dirty="0">
                <a:ln>
                  <a:noFill/>
                </a:ln>
                <a:solidFill>
                  <a:schemeClr val="tx1"/>
                </a:solidFill>
                <a:effectLst/>
                <a:latin typeface="Arial" panose="020B0604020202020204" pitchFamily="34" charset="0"/>
              </a:rPr>
              <a:t>Вместо параметрического теста использовать </a:t>
            </a:r>
            <a:r>
              <a:rPr kumimoji="0" lang="ru-RU" altLang="ru-RU" sz="1800" b="1" i="0" u="none" strike="noStrike" cap="none" normalizeH="0" baseline="0" dirty="0">
                <a:ln>
                  <a:noFill/>
                </a:ln>
                <a:solidFill>
                  <a:schemeClr val="tx1"/>
                </a:solidFill>
                <a:effectLst/>
                <a:latin typeface="Arial" panose="020B0604020202020204" pitchFamily="34" charset="0"/>
              </a:rPr>
              <a:t>непараметрические критерии</a:t>
            </a:r>
            <a:r>
              <a:rPr kumimoji="0" lang="ru-RU" altLang="ru-RU" sz="1800" b="0" i="0" u="none" strike="noStrike" cap="none" normalizeH="0" baseline="0" dirty="0">
                <a:ln>
                  <a:noFill/>
                </a:ln>
                <a:solidFill>
                  <a:schemeClr val="tx1"/>
                </a:solidFill>
                <a:effectLst/>
                <a:latin typeface="Arial" panose="020B0604020202020204" pitchFamily="34" charset="0"/>
              </a:rPr>
              <a:t>.</a:t>
            </a:r>
          </a:p>
        </p:txBody>
      </p:sp>
      <p:sp>
        <p:nvSpPr>
          <p:cNvPr id="14" name="TextBox 13">
            <a:extLst>
              <a:ext uri="{FF2B5EF4-FFF2-40B4-BE49-F238E27FC236}">
                <a16:creationId xmlns:a16="http://schemas.microsoft.com/office/drawing/2014/main" id="{342D3916-4125-4856-BD15-8DF81B6A5E1A}"/>
              </a:ext>
            </a:extLst>
          </p:cNvPr>
          <p:cNvSpPr txBox="1"/>
          <p:nvPr/>
        </p:nvSpPr>
        <p:spPr>
          <a:xfrm>
            <a:off x="737872" y="1275218"/>
            <a:ext cx="6334760" cy="400110"/>
          </a:xfrm>
          <a:prstGeom prst="rect">
            <a:avLst/>
          </a:prstGeom>
          <a:noFill/>
        </p:spPr>
        <p:txBody>
          <a:bodyPr wrap="square">
            <a:spAutoFit/>
          </a:bodyPr>
          <a:lstStyle/>
          <a:p>
            <a:r>
              <a:rPr lang="ru-RU" b="1" dirty="0"/>
              <a:t>Рекомендации</a:t>
            </a:r>
          </a:p>
        </p:txBody>
      </p:sp>
    </p:spTree>
    <p:extLst>
      <p:ext uri="{BB962C8B-B14F-4D97-AF65-F5344CB8AC3E}">
        <p14:creationId xmlns:p14="http://schemas.microsoft.com/office/powerpoint/2010/main" val="16426110"/>
      </p:ext>
    </p:extLst>
  </p:cSld>
  <p:clrMapOvr>
    <a:masterClrMapping/>
  </p:clrMapOvr>
  <p:transition spd="slow"/>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AutoShape 8"/>
          <p:cNvSpPr>
            <a:spLocks noChangeArrowheads="1"/>
          </p:cNvSpPr>
          <p:nvPr/>
        </p:nvSpPr>
        <p:spPr bwMode="auto">
          <a:xfrm>
            <a:off x="1040084" y="394494"/>
            <a:ext cx="10948119" cy="6337300"/>
          </a:xfrm>
          <a:prstGeom prst="roundRect">
            <a:avLst>
              <a:gd name="adj" fmla="val 16667"/>
            </a:avLst>
          </a:prstGeom>
          <a:solidFill>
            <a:schemeClr val="bg1">
              <a:alpha val="50195"/>
            </a:scheme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a:solidFill>
                  <a:schemeClr val="tx1"/>
                </a:solidFill>
                <a:latin typeface="Arial" panose="020B0604020202020204" pitchFamily="34" charset="0"/>
                <a:cs typeface="Arial" panose="020B0604020202020204" pitchFamily="34" charset="0"/>
              </a:defRPr>
            </a:lvl1pPr>
            <a:lvl2pPr marL="742950" indent="-285750" defTabSz="993775">
              <a:defRPr>
                <a:solidFill>
                  <a:schemeClr val="tx1"/>
                </a:solidFill>
                <a:latin typeface="Arial" panose="020B0604020202020204" pitchFamily="34" charset="0"/>
                <a:cs typeface="Arial" panose="020B0604020202020204" pitchFamily="34" charset="0"/>
              </a:defRPr>
            </a:lvl2pPr>
            <a:lvl3pPr marL="1143000" indent="-228600" defTabSz="993775">
              <a:defRPr>
                <a:solidFill>
                  <a:schemeClr val="tx1"/>
                </a:solidFill>
                <a:latin typeface="Arial" panose="020B0604020202020204" pitchFamily="34" charset="0"/>
                <a:cs typeface="Arial" panose="020B0604020202020204" pitchFamily="34" charset="0"/>
              </a:defRPr>
            </a:lvl3pPr>
            <a:lvl4pPr marL="1600200" indent="-228600" defTabSz="993775">
              <a:defRPr>
                <a:solidFill>
                  <a:schemeClr val="tx1"/>
                </a:solidFill>
                <a:latin typeface="Arial" panose="020B0604020202020204" pitchFamily="34" charset="0"/>
                <a:cs typeface="Arial" panose="020B0604020202020204" pitchFamily="34" charset="0"/>
              </a:defRPr>
            </a:lvl4pPr>
            <a:lvl5pPr marL="2057400" indent="-228600" defTabSz="993775">
              <a:defRPr>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110595" name="Заголовок 1"/>
          <p:cNvSpPr>
            <a:spLocks noGrp="1"/>
          </p:cNvSpPr>
          <p:nvPr>
            <p:ph type="title" idx="4294967295"/>
          </p:nvPr>
        </p:nvSpPr>
        <p:spPr bwMode="auto">
          <a:xfrm>
            <a:off x="1195389" y="285750"/>
            <a:ext cx="9248775" cy="73025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vert="horz" lIns="99441" tIns="49721" rIns="99441" bIns="49721" rtlCol="0" anchor="ctr">
            <a:normAutofit/>
          </a:bodyPr>
          <a:lstStyle/>
          <a:p>
            <a:pPr eaLnBrk="1" hangingPunct="1"/>
            <a:r>
              <a:rPr lang="ru-RU" altLang="ru-RU" sz="3100" b="1" dirty="0"/>
              <a:t>Вопросы</a:t>
            </a:r>
          </a:p>
        </p:txBody>
      </p:sp>
      <p:sp>
        <p:nvSpPr>
          <p:cNvPr id="110596" name="Text Box 7"/>
          <p:cNvSpPr txBox="1">
            <a:spLocks noChangeArrowheads="1"/>
          </p:cNvSpPr>
          <p:nvPr/>
        </p:nvSpPr>
        <p:spPr bwMode="auto">
          <a:xfrm>
            <a:off x="3905252" y="0"/>
            <a:ext cx="5100637" cy="407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9441" tIns="49721" rIns="99441" bIns="49721">
            <a:spAutoFit/>
          </a:bodyPr>
          <a:lstStyle>
            <a:lvl1pPr defTabSz="993775">
              <a:defRPr>
                <a:solidFill>
                  <a:schemeClr val="tx1"/>
                </a:solidFill>
                <a:latin typeface="Arial" panose="020B0604020202020204" pitchFamily="34" charset="0"/>
                <a:cs typeface="Arial" panose="020B0604020202020204" pitchFamily="34" charset="0"/>
              </a:defRPr>
            </a:lvl1pPr>
            <a:lvl2pPr marL="742950" indent="-285750" defTabSz="993775">
              <a:defRPr>
                <a:solidFill>
                  <a:schemeClr val="tx1"/>
                </a:solidFill>
                <a:latin typeface="Arial" panose="020B0604020202020204" pitchFamily="34" charset="0"/>
                <a:cs typeface="Arial" panose="020B0604020202020204" pitchFamily="34" charset="0"/>
              </a:defRPr>
            </a:lvl2pPr>
            <a:lvl3pPr marL="1143000" indent="-228600" defTabSz="993775">
              <a:defRPr>
                <a:solidFill>
                  <a:schemeClr val="tx1"/>
                </a:solidFill>
                <a:latin typeface="Arial" panose="020B0604020202020204" pitchFamily="34" charset="0"/>
                <a:cs typeface="Arial" panose="020B0604020202020204" pitchFamily="34" charset="0"/>
              </a:defRPr>
            </a:lvl3pPr>
            <a:lvl4pPr marL="1600200" indent="-228600" defTabSz="993775">
              <a:defRPr>
                <a:solidFill>
                  <a:schemeClr val="tx1"/>
                </a:solidFill>
                <a:latin typeface="Arial" panose="020B0604020202020204" pitchFamily="34" charset="0"/>
                <a:cs typeface="Arial" panose="020B0604020202020204" pitchFamily="34" charset="0"/>
              </a:defRPr>
            </a:lvl4pPr>
            <a:lvl5pPr marL="2057400" indent="-228600" defTabSz="993775">
              <a:defRPr>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ru-RU" altLang="ru-RU" b="1" dirty="0">
                <a:solidFill>
                  <a:schemeClr val="bg1"/>
                </a:solidFill>
                <a:latin typeface="Courier New" panose="02070309020205020404" pitchFamily="49" charset="0"/>
              </a:rPr>
              <a:t>Обработка больших данных. Л9</a:t>
            </a:r>
          </a:p>
        </p:txBody>
      </p:sp>
      <p:sp>
        <p:nvSpPr>
          <p:cNvPr id="110597" name="TextBox 1"/>
          <p:cNvSpPr txBox="1">
            <a:spLocks noChangeArrowheads="1"/>
          </p:cNvSpPr>
          <p:nvPr/>
        </p:nvSpPr>
        <p:spPr bwMode="auto">
          <a:xfrm>
            <a:off x="1293565" y="1546226"/>
            <a:ext cx="10441159" cy="41549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357188" indent="-357188">
              <a:buFont typeface="+mj-lt"/>
              <a:buAutoNum type="arabicPeriod"/>
            </a:pPr>
            <a:r>
              <a:rPr lang="ru-RU" sz="2400" dirty="0"/>
              <a:t>Что такое статистическая гипотеза? Какие виды гипотез вы знаете?</a:t>
            </a:r>
          </a:p>
          <a:p>
            <a:pPr marL="357188" indent="-357188">
              <a:buFont typeface="+mj-lt"/>
              <a:buAutoNum type="arabicPeriod"/>
            </a:pPr>
            <a:r>
              <a:rPr lang="ru-RU" sz="2400" dirty="0"/>
              <a:t>Как принято формулировать нулевую гипотезу?</a:t>
            </a:r>
          </a:p>
          <a:p>
            <a:pPr marL="357188" indent="-357188">
              <a:buFont typeface="+mj-lt"/>
              <a:buAutoNum type="arabicPeriod"/>
            </a:pPr>
            <a:r>
              <a:rPr lang="ru-RU" sz="2400" dirty="0"/>
              <a:t>Что такое уровень значимости, как он определяется, как влияет на решение о принятие гипотезы?</a:t>
            </a:r>
          </a:p>
          <a:p>
            <a:pPr marL="357188" indent="-357188">
              <a:buFont typeface="+mj-lt"/>
              <a:buAutoNum type="arabicPeriod"/>
            </a:pPr>
            <a:r>
              <a:rPr lang="ru-RU" sz="2400" dirty="0"/>
              <a:t>Каков порядок обработки данных при тестировании гипотезы о равенстве, какие еще тесты при этом должны быть пройдены, какие требования к данным выдвигаются?</a:t>
            </a:r>
          </a:p>
          <a:p>
            <a:pPr marL="357188" indent="-357188">
              <a:buFont typeface="+mj-lt"/>
              <a:buAutoNum type="arabicPeriod"/>
            </a:pPr>
            <a:r>
              <a:rPr lang="ru-RU" sz="2400" dirty="0"/>
              <a:t>Для чего вообще нужна гипотеза о равенстве средних?</a:t>
            </a:r>
          </a:p>
          <a:p>
            <a:pPr marL="357188" indent="-357188">
              <a:buFont typeface="+mj-lt"/>
              <a:buAutoNum type="arabicPeriod"/>
            </a:pPr>
            <a:r>
              <a:rPr lang="ru-RU" sz="2400" dirty="0"/>
              <a:t>Как тестируются независимые и парные выборки?</a:t>
            </a:r>
          </a:p>
          <a:p>
            <a:pPr marL="357188" indent="-357188">
              <a:buFont typeface="+mj-lt"/>
              <a:buAutoNum type="arabicPeriod"/>
            </a:pPr>
            <a:endParaRPr lang="ru-RU" sz="2400" dirty="0"/>
          </a:p>
          <a:p>
            <a:pPr marL="357188" indent="-357188">
              <a:buFont typeface="+mj-lt"/>
              <a:buAutoNum type="arabicPeriod"/>
            </a:pPr>
            <a:endParaRPr lang="ru-RU" sz="2400" dirty="0"/>
          </a:p>
        </p:txBody>
      </p:sp>
      <p:sp>
        <p:nvSpPr>
          <p:cNvPr id="2" name="Номер слайда 1"/>
          <p:cNvSpPr>
            <a:spLocks noGrp="1"/>
          </p:cNvSpPr>
          <p:nvPr>
            <p:ph type="sldNum" sz="quarter" idx="12"/>
          </p:nvPr>
        </p:nvSpPr>
        <p:spPr/>
        <p:txBody>
          <a:bodyPr/>
          <a:lstStyle/>
          <a:p>
            <a:fld id="{952B6C0E-C4B9-4094-8E59-5B7DF00D5415}" type="slidenum">
              <a:rPr lang="ru-RU" sz="1400">
                <a:solidFill>
                  <a:schemeClr val="tx1"/>
                </a:solidFill>
              </a:rPr>
              <a:t>134</a:t>
            </a:fld>
            <a:endParaRPr lang="ru-RU" sz="1400">
              <a:solidFill>
                <a:schemeClr val="tx1"/>
              </a:solidFill>
            </a:endParaRPr>
          </a:p>
        </p:txBody>
      </p:sp>
    </p:spTree>
    <p:extLst>
      <p:ext uri="{BB962C8B-B14F-4D97-AF65-F5344CB8AC3E}">
        <p14:creationId xmlns:p14="http://schemas.microsoft.com/office/powerpoint/2010/main" val="3313767304"/>
      </p:ext>
    </p:extLst>
  </p:cSld>
  <p:clrMapOvr>
    <a:masterClrMapping/>
  </p:clrMapOvr>
  <p:transition spd="slow"/>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AutoShape 8"/>
          <p:cNvSpPr>
            <a:spLocks noChangeArrowheads="1"/>
          </p:cNvSpPr>
          <p:nvPr/>
        </p:nvSpPr>
        <p:spPr bwMode="auto">
          <a:xfrm>
            <a:off x="955627" y="430620"/>
            <a:ext cx="10948119" cy="6337300"/>
          </a:xfrm>
          <a:prstGeom prst="roundRect">
            <a:avLst>
              <a:gd name="adj" fmla="val 16667"/>
            </a:avLst>
          </a:prstGeom>
          <a:solidFill>
            <a:schemeClr val="bg1">
              <a:alpha val="50195"/>
            </a:scheme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a:solidFill>
                  <a:schemeClr val="tx1"/>
                </a:solidFill>
                <a:latin typeface="Arial" panose="020B0604020202020204" pitchFamily="34" charset="0"/>
                <a:cs typeface="Arial" panose="020B0604020202020204" pitchFamily="34" charset="0"/>
              </a:defRPr>
            </a:lvl1pPr>
            <a:lvl2pPr marL="742950" indent="-285750" defTabSz="993775">
              <a:defRPr>
                <a:solidFill>
                  <a:schemeClr val="tx1"/>
                </a:solidFill>
                <a:latin typeface="Arial" panose="020B0604020202020204" pitchFamily="34" charset="0"/>
                <a:cs typeface="Arial" panose="020B0604020202020204" pitchFamily="34" charset="0"/>
              </a:defRPr>
            </a:lvl2pPr>
            <a:lvl3pPr marL="1143000" indent="-228600" defTabSz="993775">
              <a:defRPr>
                <a:solidFill>
                  <a:schemeClr val="tx1"/>
                </a:solidFill>
                <a:latin typeface="Arial" panose="020B0604020202020204" pitchFamily="34" charset="0"/>
                <a:cs typeface="Arial" panose="020B0604020202020204" pitchFamily="34" charset="0"/>
              </a:defRPr>
            </a:lvl3pPr>
            <a:lvl4pPr marL="1600200" indent="-228600" defTabSz="993775">
              <a:defRPr>
                <a:solidFill>
                  <a:schemeClr val="tx1"/>
                </a:solidFill>
                <a:latin typeface="Arial" panose="020B0604020202020204" pitchFamily="34" charset="0"/>
                <a:cs typeface="Arial" panose="020B0604020202020204" pitchFamily="34" charset="0"/>
              </a:defRPr>
            </a:lvl4pPr>
            <a:lvl5pPr marL="2057400" indent="-228600" defTabSz="993775">
              <a:defRPr>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110595" name="Заголовок 1"/>
          <p:cNvSpPr>
            <a:spLocks noGrp="1"/>
          </p:cNvSpPr>
          <p:nvPr>
            <p:ph type="title" idx="4294967295"/>
          </p:nvPr>
        </p:nvSpPr>
        <p:spPr bwMode="auto">
          <a:xfrm>
            <a:off x="1195389" y="285750"/>
            <a:ext cx="9248775" cy="73025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vert="horz" lIns="99441" tIns="49721" rIns="99441" bIns="49721" rtlCol="0" anchor="ctr">
            <a:normAutofit/>
          </a:bodyPr>
          <a:lstStyle/>
          <a:p>
            <a:pPr eaLnBrk="1" hangingPunct="1"/>
            <a:r>
              <a:rPr lang="ru-RU" altLang="ru-RU" sz="3100" b="1" dirty="0"/>
              <a:t>Литература</a:t>
            </a:r>
          </a:p>
        </p:txBody>
      </p:sp>
      <p:sp>
        <p:nvSpPr>
          <p:cNvPr id="110596" name="Text Box 7"/>
          <p:cNvSpPr txBox="1">
            <a:spLocks noChangeArrowheads="1"/>
          </p:cNvSpPr>
          <p:nvPr/>
        </p:nvSpPr>
        <p:spPr bwMode="auto">
          <a:xfrm>
            <a:off x="3905252" y="0"/>
            <a:ext cx="5100637" cy="407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9441" tIns="49721" rIns="99441" bIns="49721">
            <a:spAutoFit/>
          </a:bodyPr>
          <a:lstStyle>
            <a:lvl1pPr defTabSz="993775">
              <a:defRPr>
                <a:solidFill>
                  <a:schemeClr val="tx1"/>
                </a:solidFill>
                <a:latin typeface="Arial" panose="020B0604020202020204" pitchFamily="34" charset="0"/>
                <a:cs typeface="Arial" panose="020B0604020202020204" pitchFamily="34" charset="0"/>
              </a:defRPr>
            </a:lvl1pPr>
            <a:lvl2pPr marL="742950" indent="-285750" defTabSz="993775">
              <a:defRPr>
                <a:solidFill>
                  <a:schemeClr val="tx1"/>
                </a:solidFill>
                <a:latin typeface="Arial" panose="020B0604020202020204" pitchFamily="34" charset="0"/>
                <a:cs typeface="Arial" panose="020B0604020202020204" pitchFamily="34" charset="0"/>
              </a:defRPr>
            </a:lvl2pPr>
            <a:lvl3pPr marL="1143000" indent="-228600" defTabSz="993775">
              <a:defRPr>
                <a:solidFill>
                  <a:schemeClr val="tx1"/>
                </a:solidFill>
                <a:latin typeface="Arial" panose="020B0604020202020204" pitchFamily="34" charset="0"/>
                <a:cs typeface="Arial" panose="020B0604020202020204" pitchFamily="34" charset="0"/>
              </a:defRPr>
            </a:lvl3pPr>
            <a:lvl4pPr marL="1600200" indent="-228600" defTabSz="993775">
              <a:defRPr>
                <a:solidFill>
                  <a:schemeClr val="tx1"/>
                </a:solidFill>
                <a:latin typeface="Arial" panose="020B0604020202020204" pitchFamily="34" charset="0"/>
                <a:cs typeface="Arial" panose="020B0604020202020204" pitchFamily="34" charset="0"/>
              </a:defRPr>
            </a:lvl4pPr>
            <a:lvl5pPr marL="2057400" indent="-228600" defTabSz="993775">
              <a:defRPr>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ru-RU" altLang="ru-RU" b="1" dirty="0">
                <a:solidFill>
                  <a:schemeClr val="bg1"/>
                </a:solidFill>
                <a:latin typeface="Courier New" panose="02070309020205020404" pitchFamily="49" charset="0"/>
              </a:rPr>
              <a:t>Обработка больших данных. Л9</a:t>
            </a:r>
          </a:p>
        </p:txBody>
      </p:sp>
      <p:sp>
        <p:nvSpPr>
          <p:cNvPr id="110597" name="TextBox 1"/>
          <p:cNvSpPr txBox="1">
            <a:spLocks noChangeArrowheads="1"/>
          </p:cNvSpPr>
          <p:nvPr/>
        </p:nvSpPr>
        <p:spPr bwMode="auto">
          <a:xfrm>
            <a:off x="1293565" y="1546226"/>
            <a:ext cx="10441159" cy="18158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357188" indent="-357188">
              <a:buFont typeface="+mj-lt"/>
              <a:buAutoNum type="arabicPeriod"/>
            </a:pPr>
            <a:r>
              <a:rPr lang="ru-RU" sz="2000" b="1" dirty="0"/>
              <a:t>Проверка гипотез: </a:t>
            </a:r>
            <a:r>
              <a:rPr lang="ru-RU" sz="2000" b="1" dirty="0" err="1"/>
              <a:t>одновыборочные</a:t>
            </a:r>
            <a:r>
              <a:rPr lang="ru-RU" sz="2000" b="1" dirty="0"/>
              <a:t> критерии</a:t>
            </a:r>
          </a:p>
          <a:p>
            <a:r>
              <a:rPr lang="en-US" sz="2400" dirty="0">
                <a:hlinkClick r:id="rId2"/>
              </a:rPr>
              <a:t>https://baguzin.ru/wp/proverka-gipotez-odnovyborochnye-kri/</a:t>
            </a:r>
            <a:endParaRPr lang="ru-RU" sz="2400" dirty="0"/>
          </a:p>
          <a:p>
            <a:endParaRPr lang="ru-RU" sz="2400" dirty="0"/>
          </a:p>
          <a:p>
            <a:r>
              <a:rPr lang="ru-RU" sz="2000" b="1" dirty="0"/>
              <a:t>2. Как выполнить тест на коэффициент дисперсии в r (с примером)</a:t>
            </a:r>
          </a:p>
          <a:p>
            <a:r>
              <a:rPr lang="en-US" sz="2400" dirty="0">
                <a:hlinkClick r:id="rId3"/>
              </a:rPr>
              <a:t>https://statorials.org/ru/</a:t>
            </a:r>
            <a:r>
              <a:rPr lang="ru-RU" sz="2400" dirty="0"/>
              <a:t> </a:t>
            </a:r>
          </a:p>
        </p:txBody>
      </p:sp>
      <p:sp>
        <p:nvSpPr>
          <p:cNvPr id="2" name="Номер слайда 1"/>
          <p:cNvSpPr>
            <a:spLocks noGrp="1"/>
          </p:cNvSpPr>
          <p:nvPr>
            <p:ph type="sldNum" sz="quarter" idx="12"/>
          </p:nvPr>
        </p:nvSpPr>
        <p:spPr/>
        <p:txBody>
          <a:bodyPr/>
          <a:lstStyle/>
          <a:p>
            <a:fld id="{952B6C0E-C4B9-4094-8E59-5B7DF00D5415}" type="slidenum">
              <a:rPr lang="ru-RU" sz="1400">
                <a:solidFill>
                  <a:schemeClr val="tx1"/>
                </a:solidFill>
              </a:rPr>
              <a:t>135</a:t>
            </a:fld>
            <a:endParaRPr lang="ru-RU" sz="1400">
              <a:solidFill>
                <a:schemeClr val="tx1"/>
              </a:solidFill>
            </a:endParaRPr>
          </a:p>
        </p:txBody>
      </p:sp>
    </p:spTree>
    <p:extLst>
      <p:ext uri="{BB962C8B-B14F-4D97-AF65-F5344CB8AC3E}">
        <p14:creationId xmlns:p14="http://schemas.microsoft.com/office/powerpoint/2010/main" val="1669841319"/>
      </p:ext>
    </p:extLst>
  </p:cSld>
  <p:clrMapOvr>
    <a:masterClrMapping/>
  </p:clrMapOvr>
  <p:transition spd="slow"/>
</p:sld>
</file>

<file path=ppt/theme/theme1.xml><?xml version="1.0" encoding="utf-8"?>
<a:theme xmlns:a="http://schemas.openxmlformats.org/drawingml/2006/main" name="Texno">
  <a:themeElements>
    <a:clrScheme name="Воздушный поток">
      <a:dk1>
        <a:sysClr val="windowText" lastClr="000000"/>
      </a:dk1>
      <a:lt1>
        <a:sysClr val="window" lastClr="FFFFFF"/>
      </a:lt1>
      <a:dk2>
        <a:srgbClr val="212745"/>
      </a:dk2>
      <a:lt2>
        <a:srgbClr val="B4DCFA"/>
      </a:lt2>
      <a:accent1>
        <a:srgbClr val="4E67C8"/>
      </a:accent1>
      <a:accent2>
        <a:srgbClr val="5ECCF3"/>
      </a:accent2>
      <a:accent3>
        <a:srgbClr val="A7EA52"/>
      </a:accent3>
      <a:accent4>
        <a:srgbClr val="5DCEAF"/>
      </a:accent4>
      <a:accent5>
        <a:srgbClr val="FF8021"/>
      </a:accent5>
      <a:accent6>
        <a:srgbClr val="F14124"/>
      </a:accent6>
      <a:hlink>
        <a:srgbClr val="56C7AA"/>
      </a:hlink>
      <a:folHlink>
        <a:srgbClr val="59A8D1"/>
      </a:folHlink>
    </a:clrScheme>
    <a:fontScheme name="Стандартная">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Texno" id="{0E8BABF9-5FB5-43D1-8D63-51AD53BC32B3}" vid="{3F96F841-BC71-47CB-B1CC-BEF1F6584F8C}"/>
    </a:ext>
  </a:extLst>
</a:theme>
</file>

<file path=ppt/theme/theme2.xml><?xml version="1.0" encoding="utf-8"?>
<a:theme xmlns:a="http://schemas.openxmlformats.org/drawingml/2006/main" name="Тема 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Стандартная">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Texno</Template>
  <TotalTime>50566</TotalTime>
  <Words>10750</Words>
  <Application>Microsoft Office PowerPoint</Application>
  <PresentationFormat>Произвольный</PresentationFormat>
  <Paragraphs>1171</Paragraphs>
  <Slides>135</Slides>
  <Notes>99</Notes>
  <HiddenSlides>6</HiddenSlides>
  <MMClips>0</MMClips>
  <ScaleCrop>false</ScaleCrop>
  <HeadingPairs>
    <vt:vector size="8" baseType="variant">
      <vt:variant>
        <vt:lpstr>Использованные шрифты</vt:lpstr>
      </vt:variant>
      <vt:variant>
        <vt:i4>12</vt:i4>
      </vt:variant>
      <vt:variant>
        <vt:lpstr>Тема</vt:lpstr>
      </vt:variant>
      <vt:variant>
        <vt:i4>1</vt:i4>
      </vt:variant>
      <vt:variant>
        <vt:lpstr>Внедренные серверы OLE</vt:lpstr>
      </vt:variant>
      <vt:variant>
        <vt:i4>1</vt:i4>
      </vt:variant>
      <vt:variant>
        <vt:lpstr>Заголовки слайдов</vt:lpstr>
      </vt:variant>
      <vt:variant>
        <vt:i4>135</vt:i4>
      </vt:variant>
    </vt:vector>
  </HeadingPairs>
  <TitlesOfParts>
    <vt:vector size="149" baseType="lpstr">
      <vt:lpstr>Arial Unicode MS</vt:lpstr>
      <vt:lpstr>Arial</vt:lpstr>
      <vt:lpstr>Barlow</vt:lpstr>
      <vt:lpstr>Buda</vt:lpstr>
      <vt:lpstr>Calibri</vt:lpstr>
      <vt:lpstr>Courier New</vt:lpstr>
      <vt:lpstr>Courier New</vt:lpstr>
      <vt:lpstr>Lucida Console</vt:lpstr>
      <vt:lpstr>Segoe Semibold</vt:lpstr>
      <vt:lpstr>Symbol</vt:lpstr>
      <vt:lpstr>Times New Roman</vt:lpstr>
      <vt:lpstr>Wingdings</vt:lpstr>
      <vt:lpstr>Texno</vt:lpstr>
      <vt:lpstr>Document</vt:lpstr>
      <vt:lpstr>Курс Обработка больших данных</vt:lpstr>
      <vt:lpstr>Содержание</vt:lpstr>
      <vt:lpstr>Содержание</vt:lpstr>
      <vt:lpstr>Презентация PowerPoint</vt:lpstr>
      <vt:lpstr>Определение</vt:lpstr>
      <vt:lpstr>Виды гипотез</vt:lpstr>
      <vt:lpstr>Виды гипотез</vt:lpstr>
      <vt:lpstr>Виды гипотез</vt:lpstr>
      <vt:lpstr>1.  Гипотеза согласия</vt:lpstr>
      <vt:lpstr>1.  Гипотеза согласия</vt:lpstr>
      <vt:lpstr>Пример гипотезы согласия 1</vt:lpstr>
      <vt:lpstr>Почему гипотеза  o нормальности  важна?</vt:lpstr>
      <vt:lpstr>Центральная предельная теорема</vt:lpstr>
      <vt:lpstr>Презентация PowerPoint</vt:lpstr>
      <vt:lpstr>Презентация PowerPoint</vt:lpstr>
      <vt:lpstr>Презентация PowerPoint</vt:lpstr>
      <vt:lpstr>Пример гипотезы согласия 2</vt:lpstr>
      <vt:lpstr>Почему важна гипотеза экспоненциальности?</vt:lpstr>
      <vt:lpstr>Гипотеза однородности  2</vt:lpstr>
      <vt:lpstr>Например, </vt:lpstr>
      <vt:lpstr> 3.  Гипотеза независимости</vt:lpstr>
      <vt:lpstr>На шаг дальше…</vt:lpstr>
      <vt:lpstr>4.  Гипотезы о параметре распределения</vt:lpstr>
      <vt:lpstr>Презентация PowerPoint</vt:lpstr>
      <vt:lpstr>Основные условия применения статистических тестов</vt:lpstr>
      <vt:lpstr>Пример 1</vt:lpstr>
      <vt:lpstr>Пример 2</vt:lpstr>
      <vt:lpstr>Пример 3</vt:lpstr>
      <vt:lpstr>Пример 4</vt:lpstr>
      <vt:lpstr>Пример 4. Часть 2</vt:lpstr>
      <vt:lpstr>Презентация PowerPoint</vt:lpstr>
      <vt:lpstr>Определение</vt:lpstr>
      <vt:lpstr>Альтернативные гипотезы</vt:lpstr>
      <vt:lpstr>Презентация PowerPoint</vt:lpstr>
      <vt:lpstr>Как правильно?</vt:lpstr>
      <vt:lpstr>Как не правильно:</vt:lpstr>
      <vt:lpstr>Пример</vt:lpstr>
      <vt:lpstr>Презентация PowerPoint</vt:lpstr>
      <vt:lpstr>Презентация PowerPoint</vt:lpstr>
      <vt:lpstr>Презентация PowerPoint</vt:lpstr>
      <vt:lpstr>Презентация PowerPoint</vt:lpstr>
      <vt:lpstr>Презентация PowerPoint</vt:lpstr>
      <vt:lpstr>Гипотеза: нужна срочная операция</vt:lpstr>
      <vt:lpstr>Презентация PowerPoint</vt:lpstr>
      <vt:lpstr>Есть исключения</vt:lpstr>
      <vt:lpstr>Последствия ошибок могут быть различными</vt:lpstr>
      <vt:lpstr>Последствия ошибок могут быть различными</vt:lpstr>
      <vt:lpstr>Презентация PowerPoint</vt:lpstr>
      <vt:lpstr>Презентация PowerPoint</vt:lpstr>
      <vt:lpstr>Уровень значимости</vt:lpstr>
      <vt:lpstr>Для новичков!</vt:lpstr>
      <vt:lpstr>Презентация PowerPoint</vt:lpstr>
      <vt:lpstr>Презентация PowerPoint</vt:lpstr>
      <vt:lpstr>Презентация PowerPoint</vt:lpstr>
      <vt:lpstr>Презентация PowerPoint</vt:lpstr>
      <vt:lpstr>Ошибка второго рода и мощность</vt:lpstr>
      <vt:lpstr>Дополнительно</vt:lpstr>
      <vt:lpstr>Алгоритм проверки статистических гипотез </vt:lpstr>
      <vt:lpstr>Презентация PowerPoint</vt:lpstr>
      <vt:lpstr>Задача о калориях (одновыборочная)</vt:lpstr>
      <vt:lpstr>Презентация PowerPoint</vt:lpstr>
      <vt:lpstr>Статистика критерия или  тестовая статистикой</vt:lpstr>
      <vt:lpstr>Интерпретация статистики критерия</vt:lpstr>
      <vt:lpstr>Презентация PowerPoint</vt:lpstr>
      <vt:lpstr>Пример</vt:lpstr>
      <vt:lpstr>Напоминание из теории вероятностей</vt:lpstr>
      <vt:lpstr>Презентация PowerPoint</vt:lpstr>
      <vt:lpstr>Презентация PowerPoint</vt:lpstr>
      <vt:lpstr>Классификация методов тестирования гипотез </vt:lpstr>
      <vt:lpstr>Классификация методов тестирования гипотез </vt:lpstr>
      <vt:lpstr>Классификация методов тестирования гипотез </vt:lpstr>
      <vt:lpstr>Проверка условий применимости</vt:lpstr>
      <vt:lpstr>Статистическая формулировка</vt:lpstr>
      <vt:lpstr>Критерий Шапиро-Уилка</vt:lpstr>
      <vt:lpstr>Критерий Шапиро-Уилка</vt:lpstr>
      <vt:lpstr>Проверка на нормальность</vt:lpstr>
      <vt:lpstr>Критерий Шапиро-Уилка</vt:lpstr>
      <vt:lpstr>Проверка на нормальность</vt:lpstr>
      <vt:lpstr>Проверка на нормальность</vt:lpstr>
      <vt:lpstr>Проверка на нормальность</vt:lpstr>
      <vt:lpstr>Проверка на нормальность</vt:lpstr>
      <vt:lpstr>Существенные отклонения</vt:lpstr>
      <vt:lpstr>Рекомендуется</vt:lpstr>
      <vt:lpstr>Презентация PowerPoint</vt:lpstr>
      <vt:lpstr>Презентация PowerPoint</vt:lpstr>
      <vt:lpstr>Сравнение центров распределений</vt:lpstr>
      <vt:lpstr>Выбор центра распределения</vt:lpstr>
      <vt:lpstr>Среднее арифметическое или медиана?</vt:lpstr>
      <vt:lpstr>Одновыборочные критерии</vt:lpstr>
      <vt:lpstr>Презентация PowerPoint</vt:lpstr>
      <vt:lpstr>Презентация PowerPoint</vt:lpstr>
      <vt:lpstr>Презентация PowerPoint</vt:lpstr>
      <vt:lpstr>Презентация PowerPoint</vt:lpstr>
      <vt:lpstr>Общая схема тестирования гипотезы:</vt:lpstr>
      <vt:lpstr>Презентация PowerPoint</vt:lpstr>
      <vt:lpstr>Презентация PowerPoint</vt:lpstr>
      <vt:lpstr>Прежде, чем говорить о парных сравнениях, разберем несколько примеров с одиночными критериями </vt:lpstr>
      <vt:lpstr>Критерии статистики</vt:lpstr>
      <vt:lpstr>Критерии статистики</vt:lpstr>
      <vt:lpstr>Критерии статистики</vt:lpstr>
      <vt:lpstr>Критерии статистики</vt:lpstr>
      <vt:lpstr>Критерии статистики</vt:lpstr>
      <vt:lpstr>Критерии статистики</vt:lpstr>
      <vt:lpstr>Критерии статистики</vt:lpstr>
      <vt:lpstr>Критерии статистики</vt:lpstr>
      <vt:lpstr>Критерии статистики</vt:lpstr>
      <vt:lpstr>Критерии статистики</vt:lpstr>
      <vt:lpstr>Парные и независимые выборки</vt:lpstr>
      <vt:lpstr>Независимые и парные выборки</vt:lpstr>
      <vt:lpstr>Сравнение между собой средних  значений 2-х выборок</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«табличные» значения критерия Стьюдента для сверки - искать в математических таблицах  в Приложениях в конце книг по статистике:</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Ключевые критерии и их статистики.</vt:lpstr>
      <vt:lpstr>Презентация PowerPoint</vt:lpstr>
      <vt:lpstr>Тесты для проверки гипотез на равенство дисперсий</vt:lpstr>
      <vt:lpstr>Тесты для проверки гипотез на равенство дисперсий</vt:lpstr>
      <vt:lpstr>Тесты для проверки гипотез на равенство дисперсий</vt:lpstr>
      <vt:lpstr>Тесты для проверки гипотез на равенство дисперсий</vt:lpstr>
      <vt:lpstr>Вопросы</vt:lpstr>
      <vt:lpstr>Литература</vt:lpstr>
    </vt:vector>
  </TitlesOfParts>
  <Company>home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Обработка больших данных</dc:title>
  <dc:creator>Tatyana</dc:creator>
  <cp:lastModifiedBy>Tatyana</cp:lastModifiedBy>
  <cp:revision>510</cp:revision>
  <dcterms:created xsi:type="dcterms:W3CDTF">2015-01-17T09:44:41Z</dcterms:created>
  <dcterms:modified xsi:type="dcterms:W3CDTF">2026-04-25T05:43:56Z</dcterms:modified>
</cp:coreProperties>
</file>