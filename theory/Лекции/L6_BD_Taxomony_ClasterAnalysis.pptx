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02"/>
  </p:notesMasterIdLst>
  <p:sldIdLst>
    <p:sldId id="514" r:id="rId2"/>
    <p:sldId id="309" r:id="rId3"/>
    <p:sldId id="364" r:id="rId4"/>
    <p:sldId id="369" r:id="rId5"/>
    <p:sldId id="346" r:id="rId6"/>
    <p:sldId id="347" r:id="rId7"/>
    <p:sldId id="348" r:id="rId8"/>
    <p:sldId id="439" r:id="rId9"/>
    <p:sldId id="506" r:id="rId10"/>
    <p:sldId id="488" r:id="rId11"/>
    <p:sldId id="515" r:id="rId12"/>
    <p:sldId id="489" r:id="rId13"/>
    <p:sldId id="490" r:id="rId14"/>
    <p:sldId id="491" r:id="rId15"/>
    <p:sldId id="492" r:id="rId16"/>
    <p:sldId id="493" r:id="rId17"/>
    <p:sldId id="495" r:id="rId18"/>
    <p:sldId id="496" r:id="rId19"/>
    <p:sldId id="498" r:id="rId20"/>
    <p:sldId id="507" r:id="rId21"/>
    <p:sldId id="499" r:id="rId22"/>
    <p:sldId id="500" r:id="rId23"/>
    <p:sldId id="501" r:id="rId24"/>
    <p:sldId id="502" r:id="rId25"/>
    <p:sldId id="503" r:id="rId26"/>
    <p:sldId id="504" r:id="rId27"/>
    <p:sldId id="505" r:id="rId28"/>
    <p:sldId id="417" r:id="rId29"/>
    <p:sldId id="440" r:id="rId30"/>
    <p:sldId id="418" r:id="rId31"/>
    <p:sldId id="419" r:id="rId32"/>
    <p:sldId id="420" r:id="rId33"/>
    <p:sldId id="513" r:id="rId34"/>
    <p:sldId id="518" r:id="rId35"/>
    <p:sldId id="519" r:id="rId36"/>
    <p:sldId id="421" r:id="rId37"/>
    <p:sldId id="517" r:id="rId38"/>
    <p:sldId id="527" r:id="rId39"/>
    <p:sldId id="528" r:id="rId40"/>
    <p:sldId id="422" r:id="rId41"/>
    <p:sldId id="516" r:id="rId42"/>
    <p:sldId id="441" r:id="rId43"/>
    <p:sldId id="423" r:id="rId44"/>
    <p:sldId id="424" r:id="rId45"/>
    <p:sldId id="425" r:id="rId46"/>
    <p:sldId id="524" r:id="rId47"/>
    <p:sldId id="525" r:id="rId48"/>
    <p:sldId id="511" r:id="rId49"/>
    <p:sldId id="529" r:id="rId50"/>
    <p:sldId id="530" r:id="rId51"/>
    <p:sldId id="428" r:id="rId52"/>
    <p:sldId id="429" r:id="rId53"/>
    <p:sldId id="430" r:id="rId54"/>
    <p:sldId id="431" r:id="rId55"/>
    <p:sldId id="442" r:id="rId56"/>
    <p:sldId id="444" r:id="rId57"/>
    <p:sldId id="445" r:id="rId58"/>
    <p:sldId id="446" r:id="rId59"/>
    <p:sldId id="443" r:id="rId60"/>
    <p:sldId id="447" r:id="rId61"/>
    <p:sldId id="457" r:id="rId62"/>
    <p:sldId id="449" r:id="rId63"/>
    <p:sldId id="450" r:id="rId64"/>
    <p:sldId id="451" r:id="rId65"/>
    <p:sldId id="452" r:id="rId66"/>
    <p:sldId id="453" r:id="rId67"/>
    <p:sldId id="461" r:id="rId68"/>
    <p:sldId id="459" r:id="rId69"/>
    <p:sldId id="458" r:id="rId70"/>
    <p:sldId id="460" r:id="rId71"/>
    <p:sldId id="462" r:id="rId72"/>
    <p:sldId id="508" r:id="rId73"/>
    <p:sldId id="464" r:id="rId74"/>
    <p:sldId id="465" r:id="rId75"/>
    <p:sldId id="466" r:id="rId76"/>
    <p:sldId id="475" r:id="rId77"/>
    <p:sldId id="486" r:id="rId78"/>
    <p:sldId id="476" r:id="rId79"/>
    <p:sldId id="526" r:id="rId80"/>
    <p:sldId id="523" r:id="rId81"/>
    <p:sldId id="478" r:id="rId82"/>
    <p:sldId id="477" r:id="rId83"/>
    <p:sldId id="479" r:id="rId84"/>
    <p:sldId id="480" r:id="rId85"/>
    <p:sldId id="481" r:id="rId86"/>
    <p:sldId id="520" r:id="rId87"/>
    <p:sldId id="468" r:id="rId88"/>
    <p:sldId id="469" r:id="rId89"/>
    <p:sldId id="482" r:id="rId90"/>
    <p:sldId id="471" r:id="rId91"/>
    <p:sldId id="483" r:id="rId92"/>
    <p:sldId id="484" r:id="rId93"/>
    <p:sldId id="470" r:id="rId94"/>
    <p:sldId id="472" r:id="rId95"/>
    <p:sldId id="521" r:id="rId96"/>
    <p:sldId id="522" r:id="rId97"/>
    <p:sldId id="474" r:id="rId98"/>
    <p:sldId id="485" r:id="rId99"/>
    <p:sldId id="512" r:id="rId100"/>
    <p:sldId id="392" r:id="rId101"/>
  </p:sldIdLst>
  <p:sldSz cx="12668250" cy="7126288"/>
  <p:notesSz cx="6858000" cy="9144000"/>
  <p:defaultTextStyle>
    <a:defPPr>
      <a:defRPr lang="ru-RU"/>
    </a:defPPr>
    <a:lvl1pPr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20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45" userDrawn="1">
          <p15:clr>
            <a:srgbClr val="A4A3A4"/>
          </p15:clr>
        </p15:guide>
        <p15:guide id="2" pos="399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6CCFF"/>
    <a:srgbClr val="0000F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129" autoAdjust="0"/>
  </p:normalViewPr>
  <p:slideViewPr>
    <p:cSldViewPr>
      <p:cViewPr varScale="1">
        <p:scale>
          <a:sx n="74" d="100"/>
          <a:sy n="74" d="100"/>
        </p:scale>
        <p:origin x="77" y="331"/>
      </p:cViewPr>
      <p:guideLst>
        <p:guide orient="horz" pos="2245"/>
        <p:guide pos="399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ru-RU" altLang="ru-RU"/>
          </a:p>
        </p:txBody>
      </p:sp>
      <p:sp>
        <p:nvSpPr>
          <p:cNvPr id="71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ru-RU" altLang="ru-RU"/>
          </a:p>
        </p:txBody>
      </p:sp>
      <p:sp>
        <p:nvSpPr>
          <p:cNvPr id="7172"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ru-RU" altLang="ru-RU"/>
              <a:t>Образец текста</a:t>
            </a:r>
          </a:p>
          <a:p>
            <a:pPr lvl="1"/>
            <a:r>
              <a:rPr lang="ru-RU" altLang="ru-RU"/>
              <a:t>Второй уровень</a:t>
            </a:r>
          </a:p>
          <a:p>
            <a:pPr lvl="2"/>
            <a:r>
              <a:rPr lang="ru-RU" altLang="ru-RU"/>
              <a:t>Третий уровень</a:t>
            </a:r>
          </a:p>
          <a:p>
            <a:pPr lvl="3"/>
            <a:r>
              <a:rPr lang="ru-RU" altLang="ru-RU"/>
              <a:t>Четвертый уровень</a:t>
            </a:r>
          </a:p>
          <a:p>
            <a:pPr lvl="4"/>
            <a:r>
              <a:rPr lang="ru-RU" altLang="ru-RU"/>
              <a:t>Пятый уровень</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ru-RU" altLang="ru-RU"/>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2425E847-CC3D-45FB-A3C6-7CB5171DA709}" type="slidenum">
              <a:rPr lang="ru-RU" altLang="ru-RU"/>
              <a:pPr/>
              <a:t>‹#›</a:t>
            </a:fld>
            <a:endParaRPr lang="ru-RU" altLang="ru-RU"/>
          </a:p>
        </p:txBody>
      </p:sp>
    </p:spTree>
    <p:extLst>
      <p:ext uri="{BB962C8B-B14F-4D97-AF65-F5344CB8AC3E}">
        <p14:creationId xmlns:p14="http://schemas.microsoft.com/office/powerpoint/2010/main" val="207312627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fld id="{C5533538-EED8-4C60-9372-8A627DE5F9B0}" type="slidenum">
              <a:rPr lang="ru-RU" altLang="ru-RU" sz="1200" smtClean="0"/>
              <a:pPr/>
              <a:t>1</a:t>
            </a:fld>
            <a:endParaRPr lang="ru-RU" altLang="ru-RU" sz="1200"/>
          </a:p>
        </p:txBody>
      </p:sp>
      <p:sp>
        <p:nvSpPr>
          <p:cNvPr id="5123" name="Образ слайда 1"/>
          <p:cNvSpPr>
            <a:spLocks noGrp="1" noRot="1" noChangeAspect="1" noTextEdit="1"/>
          </p:cNvSpPr>
          <p:nvPr>
            <p:ph type="sldImg"/>
          </p:nvPr>
        </p:nvSpPr>
        <p:spPr>
          <a:xfrm>
            <a:off x="382588" y="685800"/>
            <a:ext cx="6092825" cy="3429000"/>
          </a:xfrm>
          <a:ln/>
        </p:spPr>
      </p:sp>
      <p:sp>
        <p:nvSpPr>
          <p:cNvPr id="5124" name="Заметки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spcBef>
                <a:spcPct val="0"/>
              </a:spcBef>
            </a:pPr>
            <a:r>
              <a:rPr lang="ru-RU" altLang="ru-RU"/>
              <a:t>В последнее время технологии больших данных развиваются высокими темпами. Возникает множество высокотехнологичных компаний, предоставляющих новые инструменты по анализу данных. В то же время растёт мировой спрос на специалистов, способных работать с большими объёмами данных, ставить задачи в этой области, понимать сложность и потенциальную стоимость таких работ. Предполагая нарастающий интерес к этой сфере в России, актуальным и адекватным решением будет систематизация опыта работы с технологиями и задачами анализа больших данных. Анализ образовательного рынка в области больших данных показывает нам, что онлайн-образование в сфере аналитики становится всё более популярным и массовым. Существует несколько курсов на английском языке, в т.ч. курсы </a:t>
            </a:r>
            <a:r>
              <a:rPr lang="en-US" altLang="ru-RU"/>
              <a:t>Data Science and Big Data Analytics </a:t>
            </a:r>
            <a:r>
              <a:rPr lang="ru-RU" altLang="ru-RU"/>
              <a:t>от </a:t>
            </a:r>
            <a:r>
              <a:rPr lang="en-US" altLang="ru-RU"/>
              <a:t>EMC</a:t>
            </a:r>
            <a:r>
              <a:rPr lang="ru-RU" altLang="ru-RU"/>
              <a:t>, ряд курсов на платформах </a:t>
            </a:r>
            <a:r>
              <a:rPr lang="en-US" altLang="ru-RU"/>
              <a:t>Coursera</a:t>
            </a:r>
            <a:r>
              <a:rPr lang="ru-RU" altLang="ru-RU"/>
              <a:t> и </a:t>
            </a:r>
            <a:r>
              <a:rPr lang="en-US" altLang="ru-RU"/>
              <a:t>Udacity</a:t>
            </a:r>
            <a:r>
              <a:rPr lang="ru-RU" altLang="ru-RU"/>
              <a:t>. Однако на русском языке подобные курсы пока отсутствуют. Настоящий курс призван ликвидировать данный пробел. Он представляет собой образовательный инструмент для введения в эту, без сомнения вдохновляющую и перспективную, область. Авторы курса предлагают слушателям окунуться в мир методов и технологий анализа больших данных на простых примерах.</a:t>
            </a:r>
          </a:p>
        </p:txBody>
      </p:sp>
      <p:sp>
        <p:nvSpPr>
          <p:cNvPr id="5125"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r" eaLnBrk="1" hangingPunct="1"/>
            <a:fld id="{CF0B96F7-6A01-4E02-A134-F0B9ED219899}" type="slidenum">
              <a:rPr lang="ru-RU" altLang="ru-RU" sz="1200">
                <a:latin typeface="Calibri" panose="020F0502020204030204" pitchFamily="34" charset="0"/>
              </a:rPr>
              <a:pPr algn="r" eaLnBrk="1" hangingPunct="1"/>
              <a:t>1</a:t>
            </a:fld>
            <a:endParaRPr lang="ru-RU" altLang="ru-RU" sz="1200">
              <a:latin typeface="Calibri" panose="020F0502020204030204" pitchFamily="34" charset="0"/>
            </a:endParaRPr>
          </a:p>
        </p:txBody>
      </p:sp>
    </p:spTree>
    <p:extLst>
      <p:ext uri="{BB962C8B-B14F-4D97-AF65-F5344CB8AC3E}">
        <p14:creationId xmlns:p14="http://schemas.microsoft.com/office/powerpoint/2010/main" val="700644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CD57A7-C113-4CC6-8931-95C51B578C12}" type="slidenum">
              <a:rPr lang="ru-RU" altLang="ru-RU"/>
              <a:pPr/>
              <a:t>2</a:t>
            </a:fld>
            <a:endParaRPr lang="ru-RU" altLang="ru-RU"/>
          </a:p>
        </p:txBody>
      </p:sp>
      <p:sp>
        <p:nvSpPr>
          <p:cNvPr id="100354" name="Rectangle 2"/>
          <p:cNvSpPr>
            <a:spLocks noGrp="1" noRot="1" noChangeAspect="1" noChangeArrowheads="1" noTextEdit="1"/>
          </p:cNvSpPr>
          <p:nvPr>
            <p:ph type="sldImg"/>
          </p:nvPr>
        </p:nvSpPr>
        <p:spPr>
          <a:xfrm>
            <a:off x="382588" y="685800"/>
            <a:ext cx="6092825" cy="3429000"/>
          </a:xfrm>
          <a:ln/>
        </p:spPr>
      </p:sp>
      <p:sp>
        <p:nvSpPr>
          <p:cNvPr id="100355"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94134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3</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3657187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98CA2F-6138-48FA-BC93-500F05910281}" type="slidenum">
              <a:rPr lang="ru-RU" altLang="ru-RU"/>
              <a:pPr/>
              <a:t>4</a:t>
            </a:fld>
            <a:endParaRPr lang="ru-RU" altLang="ru-RU"/>
          </a:p>
        </p:txBody>
      </p:sp>
      <p:sp>
        <p:nvSpPr>
          <p:cNvPr id="224258" name="Rectangle 2"/>
          <p:cNvSpPr>
            <a:spLocks noGrp="1" noRot="1" noChangeAspect="1" noChangeArrowheads="1" noTextEdit="1"/>
          </p:cNvSpPr>
          <p:nvPr>
            <p:ph type="sldImg"/>
          </p:nvPr>
        </p:nvSpPr>
        <p:spPr>
          <a:xfrm>
            <a:off x="382588" y="685800"/>
            <a:ext cx="6092825" cy="3429000"/>
          </a:xfrm>
          <a:ln/>
        </p:spPr>
      </p:sp>
      <p:sp>
        <p:nvSpPr>
          <p:cNvPr id="22425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3230089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CDC4024-3D6A-4AB3-BC13-E91E1ECD8E5B}" type="slidenum">
              <a:rPr lang="ru-RU" altLang="ru-RU"/>
              <a:pPr/>
              <a:t>5</a:t>
            </a:fld>
            <a:endParaRPr lang="ru-RU" altLang="ru-RU"/>
          </a:p>
        </p:txBody>
      </p:sp>
      <p:sp>
        <p:nvSpPr>
          <p:cNvPr id="181250" name="Образ слайда 1"/>
          <p:cNvSpPr>
            <a:spLocks noGrp="1" noRot="1" noChangeAspect="1" noTextEdit="1"/>
          </p:cNvSpPr>
          <p:nvPr>
            <p:ph type="sldImg"/>
          </p:nvPr>
        </p:nvSpPr>
        <p:spPr>
          <a:xfrm>
            <a:off x="382588" y="685800"/>
            <a:ext cx="6092825" cy="3429000"/>
          </a:xfrm>
          <a:ln/>
        </p:spPr>
      </p:sp>
      <p:sp>
        <p:nvSpPr>
          <p:cNvPr id="181251" name="Заметки 2"/>
          <p:cNvSpPr>
            <a:spLocks noGrp="1"/>
          </p:cNvSpPr>
          <p:nvPr>
            <p:ph type="body" idx="1"/>
          </p:nvPr>
        </p:nvSpPr>
        <p:spPr/>
        <p:txBody>
          <a:bodyPr/>
          <a:lstStyle/>
          <a:p>
            <a:pPr>
              <a:spcBef>
                <a:spcPct val="0"/>
              </a:spcBef>
            </a:pPr>
            <a:endParaRPr lang="ru-RU" altLang="ru-RU"/>
          </a:p>
        </p:txBody>
      </p:sp>
      <p:sp>
        <p:nvSpPr>
          <p:cNvPr id="181252" name="Номер слайда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r"/>
            <a:fld id="{183F805B-F43A-4C06-9395-E8EB8FD75494}" type="slidenum">
              <a:rPr lang="ru-RU" altLang="ru-RU" sz="1200">
                <a:latin typeface="Calibri" panose="020F0502020204030204" pitchFamily="34" charset="0"/>
              </a:rPr>
              <a:pPr algn="r"/>
              <a:t>5</a:t>
            </a:fld>
            <a:endParaRPr lang="ru-RU" altLang="ru-RU" sz="1200">
              <a:latin typeface="Calibri" panose="020F0502020204030204" pitchFamily="34" charset="0"/>
            </a:endParaRPr>
          </a:p>
        </p:txBody>
      </p:sp>
    </p:spTree>
    <p:extLst>
      <p:ext uri="{BB962C8B-B14F-4D97-AF65-F5344CB8AC3E}">
        <p14:creationId xmlns:p14="http://schemas.microsoft.com/office/powerpoint/2010/main" val="1885790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C23A2A-9D02-4297-9C80-2F8E7D14B398}" type="slidenum">
              <a:rPr lang="ru-RU" altLang="ru-RU"/>
              <a:pPr/>
              <a:t>8</a:t>
            </a:fld>
            <a:endParaRPr lang="ru-RU" altLang="ru-RU"/>
          </a:p>
        </p:txBody>
      </p:sp>
      <p:sp>
        <p:nvSpPr>
          <p:cNvPr id="185346" name="Rectangle 2"/>
          <p:cNvSpPr>
            <a:spLocks noGrp="1" noRot="1" noChangeAspect="1" noChangeArrowheads="1" noTextEdit="1"/>
          </p:cNvSpPr>
          <p:nvPr>
            <p:ph type="sldImg"/>
          </p:nvPr>
        </p:nvSpPr>
        <p:spPr>
          <a:xfrm>
            <a:off x="382588" y="685800"/>
            <a:ext cx="6092825" cy="3429000"/>
          </a:xfrm>
          <a:ln/>
        </p:spPr>
      </p:sp>
      <p:sp>
        <p:nvSpPr>
          <p:cNvPr id="185347" name="Rectangle 3"/>
          <p:cNvSpPr>
            <a:spLocks noGrp="1" noChangeArrowheads="1"/>
          </p:cNvSpPr>
          <p:nvPr>
            <p:ph type="body" idx="1"/>
          </p:nvPr>
        </p:nvSpPr>
        <p:spPr/>
        <p:txBody>
          <a:bodyPr/>
          <a:lstStyle/>
          <a:p>
            <a:r>
              <a:rPr lang="ru-RU" altLang="ru-RU"/>
              <a:t>Мудрость- это система, отвечающая  а выбор целей, обнаружение проблем, постановку задач.</a:t>
            </a:r>
          </a:p>
          <a:p>
            <a:r>
              <a:rPr lang="ru-RU" altLang="ru-RU"/>
              <a:t>Интеллект строит планы на решение поставленных задач.</a:t>
            </a:r>
          </a:p>
          <a:p>
            <a:r>
              <a:rPr lang="ru-RU" altLang="ru-RU"/>
              <a:t>Воля – система, организующая реальные действия, направленные на решение задач. </a:t>
            </a:r>
          </a:p>
          <a:p>
            <a:r>
              <a:rPr lang="ru-RU" altLang="ru-RU"/>
              <a:t>ИИ -это еще не искусственный разум. Искусственный разум должке включать в себя блок формулировки проблем.</a:t>
            </a:r>
          </a:p>
        </p:txBody>
      </p:sp>
    </p:spTree>
    <p:extLst>
      <p:ext uri="{BB962C8B-B14F-4D97-AF65-F5344CB8AC3E}">
        <p14:creationId xmlns:p14="http://schemas.microsoft.com/office/powerpoint/2010/main" val="3361980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9</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3987540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2ADD72A4-D5D7-49D0-9A41-09C44986CF3C}" type="slidenum">
              <a:rPr lang="ru-RU" altLang="ru-RU" smtClean="0">
                <a:latin typeface="Times New Roman" panose="02020603050405020304" pitchFamily="18" charset="0"/>
              </a:rPr>
              <a:pPr/>
              <a:t>10</a:t>
            </a:fld>
            <a:endParaRPr lang="ru-RU" altLang="ru-RU">
              <a:latin typeface="Times New Roman" panose="02020603050405020304" pitchFamily="18" charset="0"/>
            </a:endParaRPr>
          </a:p>
        </p:txBody>
      </p:sp>
      <p:sp>
        <p:nvSpPr>
          <p:cNvPr id="10243" name="Rectangle 2"/>
          <p:cNvSpPr>
            <a:spLocks noGrp="1" noRot="1" noChangeAspect="1" noChangeArrowheads="1" noTextEdit="1"/>
          </p:cNvSpPr>
          <p:nvPr>
            <p:ph type="sldImg"/>
          </p:nvPr>
        </p:nvSpPr>
        <p:spPr>
          <a:xfrm>
            <a:off x="382588" y="685800"/>
            <a:ext cx="6092825" cy="3429000"/>
          </a:xfrm>
          <a:ln/>
        </p:spPr>
      </p:sp>
      <p:sp>
        <p:nvSpPr>
          <p:cNvPr id="10244" name="Rectangle 3"/>
          <p:cNvSpPr>
            <a:spLocks noGrp="1" noChangeArrowheads="1"/>
          </p:cNvSpPr>
          <p:nvPr>
            <p:ph type="body" idx="1"/>
          </p:nvPr>
        </p:nvSpPr>
        <p:spPr>
          <a:noFill/>
        </p:spPr>
        <p:txBody>
          <a:bodyPr/>
          <a:lstStyle/>
          <a:p>
            <a:pPr>
              <a:lnSpc>
                <a:spcPct val="80000"/>
              </a:lnSpc>
            </a:pPr>
            <a:endParaRPr lang="ru-RU" altLang="ru-RU" sz="800"/>
          </a:p>
        </p:txBody>
      </p:sp>
    </p:spTree>
    <p:extLst>
      <p:ext uri="{BB962C8B-B14F-4D97-AF65-F5344CB8AC3E}">
        <p14:creationId xmlns:p14="http://schemas.microsoft.com/office/powerpoint/2010/main" val="1214975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2ADD72A4-D5D7-49D0-9A41-09C44986CF3C}" type="slidenum">
              <a:rPr lang="ru-RU" altLang="ru-RU" smtClean="0">
                <a:latin typeface="Times New Roman" panose="02020603050405020304" pitchFamily="18" charset="0"/>
              </a:rPr>
              <a:pPr/>
              <a:t>11</a:t>
            </a:fld>
            <a:endParaRPr lang="ru-RU" altLang="ru-RU">
              <a:latin typeface="Times New Roman" panose="02020603050405020304" pitchFamily="18" charset="0"/>
            </a:endParaRPr>
          </a:p>
        </p:txBody>
      </p:sp>
      <p:sp>
        <p:nvSpPr>
          <p:cNvPr id="10243" name="Rectangle 2"/>
          <p:cNvSpPr>
            <a:spLocks noGrp="1" noRot="1" noChangeAspect="1" noChangeArrowheads="1" noTextEdit="1"/>
          </p:cNvSpPr>
          <p:nvPr>
            <p:ph type="sldImg"/>
          </p:nvPr>
        </p:nvSpPr>
        <p:spPr>
          <a:xfrm>
            <a:off x="382588" y="685800"/>
            <a:ext cx="6092825" cy="3429000"/>
          </a:xfrm>
          <a:ln/>
        </p:spPr>
      </p:sp>
      <p:sp>
        <p:nvSpPr>
          <p:cNvPr id="10244" name="Rectangle 3"/>
          <p:cNvSpPr>
            <a:spLocks noGrp="1" noChangeArrowheads="1"/>
          </p:cNvSpPr>
          <p:nvPr>
            <p:ph type="body" idx="1"/>
          </p:nvPr>
        </p:nvSpPr>
        <p:spPr>
          <a:noFill/>
        </p:spPr>
        <p:txBody>
          <a:bodyPr/>
          <a:lstStyle/>
          <a:p>
            <a:pPr>
              <a:lnSpc>
                <a:spcPct val="80000"/>
              </a:lnSpc>
            </a:pPr>
            <a:endParaRPr lang="ru-RU" altLang="ru-RU" sz="800"/>
          </a:p>
        </p:txBody>
      </p:sp>
    </p:spTree>
    <p:extLst>
      <p:ext uri="{BB962C8B-B14F-4D97-AF65-F5344CB8AC3E}">
        <p14:creationId xmlns:p14="http://schemas.microsoft.com/office/powerpoint/2010/main" val="10756757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68479900-636F-4AAE-947C-CB21E1F0FEDC}" type="slidenum">
              <a:rPr lang="ru-RU" altLang="ru-RU" smtClean="0">
                <a:latin typeface="Times New Roman" panose="02020603050405020304" pitchFamily="18" charset="0"/>
              </a:rPr>
              <a:pPr/>
              <a:t>12</a:t>
            </a:fld>
            <a:endParaRPr lang="ru-RU" altLang="ru-RU">
              <a:latin typeface="Times New Roman" panose="02020603050405020304" pitchFamily="18" charset="0"/>
            </a:endParaRPr>
          </a:p>
        </p:txBody>
      </p:sp>
      <p:sp>
        <p:nvSpPr>
          <p:cNvPr id="12291" name="Rectangle 2"/>
          <p:cNvSpPr>
            <a:spLocks noGrp="1" noRot="1" noChangeAspect="1" noChangeArrowheads="1" noTextEdit="1"/>
          </p:cNvSpPr>
          <p:nvPr>
            <p:ph type="sldImg"/>
          </p:nvPr>
        </p:nvSpPr>
        <p:spPr>
          <a:xfrm>
            <a:off x="382588" y="685800"/>
            <a:ext cx="6092825" cy="3429000"/>
          </a:xfrm>
          <a:ln/>
        </p:spPr>
      </p:sp>
      <p:sp>
        <p:nvSpPr>
          <p:cNvPr id="12292" name="Rectangle 3"/>
          <p:cNvSpPr>
            <a:spLocks noGrp="1" noChangeArrowheads="1"/>
          </p:cNvSpPr>
          <p:nvPr>
            <p:ph type="body" idx="1"/>
          </p:nvPr>
        </p:nvSpPr>
        <p:spPr>
          <a:noFill/>
        </p:spPr>
        <p:txBody>
          <a:bodyPr/>
          <a:lstStyle/>
          <a:p>
            <a:pPr>
              <a:lnSpc>
                <a:spcPct val="80000"/>
              </a:lnSpc>
            </a:pPr>
            <a:r>
              <a:rPr lang="ru-RU" altLang="ru-RU" sz="800" b="1" i="1" dirty="0"/>
              <a:t>Задачи </a:t>
            </a:r>
            <a:r>
              <a:rPr lang="en-US" altLang="ru-RU" sz="800" b="1" i="1" dirty="0"/>
              <a:t>Data Analysis</a:t>
            </a:r>
            <a:r>
              <a:rPr lang="ru-RU" altLang="ru-RU" sz="800" b="1" i="1" dirty="0"/>
              <a:t>: </a:t>
            </a:r>
            <a:endParaRPr lang="ru-RU" altLang="ru-RU" sz="800" dirty="0"/>
          </a:p>
          <a:p>
            <a:pPr>
              <a:lnSpc>
                <a:spcPct val="80000"/>
              </a:lnSpc>
            </a:pPr>
            <a:r>
              <a:rPr lang="ru-RU" altLang="ru-RU" sz="800" dirty="0"/>
              <a:t>1. Классификация (</a:t>
            </a:r>
            <a:r>
              <a:rPr lang="ru-RU" altLang="ru-RU" sz="800" dirty="0" err="1"/>
              <a:t>Classification</a:t>
            </a:r>
            <a:r>
              <a:rPr lang="ru-RU" altLang="ru-RU" sz="800" dirty="0"/>
              <a:t>)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a:t>
            </a:r>
            <a:r>
              <a:rPr lang="ru-RU" altLang="ru-RU" sz="800" dirty="0" err="1"/>
              <a:t>Nearest</a:t>
            </a:r>
            <a:r>
              <a:rPr lang="ru-RU" altLang="ru-RU" sz="800" dirty="0"/>
              <a:t> </a:t>
            </a:r>
            <a:r>
              <a:rPr lang="ru-RU" altLang="ru-RU" sz="800" dirty="0" err="1"/>
              <a:t>Neighbor</a:t>
            </a:r>
            <a:r>
              <a:rPr lang="ru-RU" altLang="ru-RU" sz="800" dirty="0"/>
              <a:t>) к-ближайших сосед (k-</a:t>
            </a:r>
            <a:r>
              <a:rPr lang="ru-RU" altLang="ru-RU" sz="800" dirty="0" err="1"/>
              <a:t>Nearest</a:t>
            </a:r>
            <a:r>
              <a:rPr lang="ru-RU" altLang="ru-RU" sz="800" dirty="0"/>
              <a:t> </a:t>
            </a:r>
            <a:r>
              <a:rPr lang="ru-RU" altLang="ru-RU" sz="800" dirty="0" err="1"/>
              <a:t>Neighbor</a:t>
            </a:r>
            <a:r>
              <a:rPr lang="ru-RU" altLang="ru-RU" sz="800" dirty="0"/>
              <a:t>) </a:t>
            </a:r>
            <a:r>
              <a:rPr lang="ru-RU" altLang="ru-RU" sz="800" dirty="0" err="1"/>
              <a:t>Байе-Совские</a:t>
            </a:r>
            <a:r>
              <a:rPr lang="ru-RU" altLang="ru-RU" sz="800" dirty="0"/>
              <a:t> сети (</a:t>
            </a:r>
            <a:r>
              <a:rPr lang="ru-RU" altLang="ru-RU" sz="800" dirty="0" err="1"/>
              <a:t>Bayesian</a:t>
            </a:r>
            <a:r>
              <a:rPr lang="ru-RU" altLang="ru-RU" sz="800" dirty="0"/>
              <a:t> </a:t>
            </a:r>
            <a:r>
              <a:rPr lang="ru-RU" altLang="ru-RU" sz="800" dirty="0" err="1"/>
              <a:t>Networks</a:t>
            </a:r>
            <a:r>
              <a:rPr lang="ru-RU" altLang="ru-RU" sz="800" dirty="0"/>
              <a:t>) индукция деревьев решений; нейронные сети (</a:t>
            </a:r>
            <a:r>
              <a:rPr lang="ru-RU" altLang="ru-RU" sz="800" dirty="0" err="1"/>
              <a:t>neural</a:t>
            </a:r>
            <a:r>
              <a:rPr lang="ru-RU" altLang="ru-RU" sz="800" dirty="0"/>
              <a:t> </a:t>
            </a:r>
            <a:r>
              <a:rPr lang="ru-RU" altLang="ru-RU" sz="800" dirty="0" err="1"/>
              <a:t>networks</a:t>
            </a:r>
            <a:r>
              <a:rPr lang="ru-RU" altLang="ru-RU" sz="800" dirty="0"/>
              <a:t>).</a:t>
            </a:r>
          </a:p>
          <a:p>
            <a:pPr>
              <a:lnSpc>
                <a:spcPct val="80000"/>
              </a:lnSpc>
            </a:pPr>
            <a:r>
              <a:rPr lang="ru-RU" altLang="ru-RU" sz="800" dirty="0"/>
              <a:t>2. Кластеризация (</a:t>
            </a:r>
            <a:r>
              <a:rPr lang="ru-RU" altLang="ru-RU" sz="800" dirty="0" err="1"/>
              <a:t>Clustering</a:t>
            </a:r>
            <a:r>
              <a:rPr lang="ru-RU" altLang="ru-RU" sz="800" dirty="0"/>
              <a:t>) - результатом ее является разделение объектов на группы.</a:t>
            </a:r>
          </a:p>
          <a:p>
            <a:pPr>
              <a:lnSpc>
                <a:spcPct val="80000"/>
              </a:lnSpc>
            </a:pPr>
            <a:r>
              <a:rPr lang="ru-RU" altLang="ru-RU" sz="800" dirty="0"/>
              <a:t>3. Ассоциация (</a:t>
            </a:r>
            <a:r>
              <a:rPr lang="ru-RU" altLang="ru-RU" sz="800" dirty="0" err="1"/>
              <a:t>Associations</a:t>
            </a:r>
            <a:r>
              <a:rPr lang="ru-RU" altLang="ru-RU" sz="800" dirty="0"/>
              <a:t>) - находят закономерности между связанными событиями в наборе данных. Наиболее известный алгоритм решения задачи поиска ассоциативных правил - алгоритм </a:t>
            </a:r>
            <a:r>
              <a:rPr lang="ru-RU" altLang="ru-RU" sz="800" dirty="0" err="1"/>
              <a:t>Аргиоги</a:t>
            </a:r>
            <a:r>
              <a:rPr lang="ru-RU" altLang="ru-RU" sz="800" dirty="0"/>
              <a:t>.</a:t>
            </a:r>
          </a:p>
          <a:p>
            <a:pPr>
              <a:lnSpc>
                <a:spcPct val="80000"/>
              </a:lnSpc>
            </a:pPr>
            <a:r>
              <a:rPr lang="ru-RU" altLang="ru-RU" sz="800" dirty="0"/>
              <a:t>4. Последовательность (</a:t>
            </a:r>
            <a:r>
              <a:rPr lang="ru-RU" altLang="ru-RU" sz="800" dirty="0" err="1"/>
              <a:t>Sequence</a:t>
            </a:r>
            <a:r>
              <a:rPr lang="ru-RU" altLang="ru-RU" sz="800" dirty="0"/>
              <a:t>), или последовательная ассоциация (</a:t>
            </a:r>
            <a:r>
              <a:rPr lang="ru-RU" altLang="ru-RU" sz="800" dirty="0" err="1"/>
              <a:t>sequential</a:t>
            </a:r>
            <a:r>
              <a:rPr lang="ru-RU" altLang="ru-RU" sz="800" dirty="0"/>
              <a:t> </a:t>
            </a:r>
            <a:r>
              <a:rPr lang="ru-RU" altLang="ru-RU" sz="800" dirty="0" err="1"/>
              <a:t>association</a:t>
            </a:r>
            <a:r>
              <a:rPr lang="ru-RU" altLang="ru-RU" sz="800" dirty="0"/>
              <a:t>)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p>
          <a:p>
            <a:pPr>
              <a:lnSpc>
                <a:spcPct val="80000"/>
              </a:lnSpc>
            </a:pPr>
            <a:r>
              <a:rPr lang="ru-RU" altLang="ru-RU" sz="800" dirty="0"/>
              <a:t>5. Прогнозирование (</a:t>
            </a:r>
            <a:r>
              <a:rPr lang="ru-RU" altLang="ru-RU" sz="800" dirty="0" err="1"/>
              <a:t>Forecasting</a:t>
            </a:r>
            <a:r>
              <a:rPr lang="ru-RU" altLang="ru-RU" sz="800" dirty="0"/>
              <a:t>)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p>
          <a:p>
            <a:pPr>
              <a:lnSpc>
                <a:spcPct val="80000"/>
              </a:lnSpc>
            </a:pPr>
            <a:r>
              <a:rPr lang="ru-RU" altLang="ru-RU" sz="800" dirty="0"/>
              <a:t>6. Определение отклонений (</a:t>
            </a:r>
            <a:r>
              <a:rPr lang="ru-RU" altLang="ru-RU" sz="800" dirty="0" err="1"/>
              <a:t>Deviation</a:t>
            </a:r>
            <a:r>
              <a:rPr lang="ru-RU" altLang="ru-RU" sz="800" dirty="0"/>
              <a:t> </a:t>
            </a:r>
            <a:r>
              <a:rPr lang="ru-RU" altLang="ru-RU" sz="800" dirty="0" err="1"/>
              <a:t>Detection</a:t>
            </a:r>
            <a:r>
              <a:rPr lang="ru-RU" altLang="ru-RU" sz="800" dirty="0"/>
              <a:t>), анализ отклонений или выбросов - выявление и анализ данных, наиболее отличаются от общей численности данных, выявление нехарактерных шаблонов.</a:t>
            </a:r>
          </a:p>
          <a:p>
            <a:pPr>
              <a:lnSpc>
                <a:spcPct val="80000"/>
              </a:lnSpc>
            </a:pPr>
            <a:r>
              <a:rPr lang="ru-RU" altLang="ru-RU" sz="800" dirty="0"/>
              <a:t>7. Оценка (</a:t>
            </a:r>
            <a:r>
              <a:rPr lang="ru-RU" altLang="ru-RU" sz="800" dirty="0" err="1"/>
              <a:t>Estimation</a:t>
            </a:r>
            <a:r>
              <a:rPr lang="ru-RU" altLang="ru-RU" sz="800" dirty="0"/>
              <a:t>) - сводится к прогнозу непрерывных значений признаков.</a:t>
            </a:r>
          </a:p>
          <a:p>
            <a:pPr>
              <a:lnSpc>
                <a:spcPct val="80000"/>
              </a:lnSpc>
            </a:pPr>
            <a:r>
              <a:rPr lang="ru-RU" altLang="ru-RU" sz="800" dirty="0"/>
              <a:t>8. Анализ связей (</a:t>
            </a:r>
            <a:r>
              <a:rPr lang="ru-RU" altLang="ru-RU" sz="800" dirty="0" err="1"/>
              <a:t>Link</a:t>
            </a:r>
            <a:r>
              <a:rPr lang="ru-RU" altLang="ru-RU" sz="800" dirty="0"/>
              <a:t> </a:t>
            </a:r>
            <a:r>
              <a:rPr lang="ru-RU" altLang="ru-RU" sz="800" dirty="0" err="1"/>
              <a:t>Analysis</a:t>
            </a:r>
            <a:r>
              <a:rPr lang="ru-RU" altLang="ru-RU" sz="800" dirty="0"/>
              <a:t>) - задача нахождения зависимостей в наборе данных.</a:t>
            </a:r>
          </a:p>
          <a:p>
            <a:pPr>
              <a:lnSpc>
                <a:spcPct val="80000"/>
              </a:lnSpc>
            </a:pPr>
            <a:r>
              <a:rPr lang="ru-RU" altLang="ru-RU" sz="800" dirty="0"/>
              <a:t>9. Визуализация (</a:t>
            </a:r>
            <a:r>
              <a:rPr lang="ru-RU" altLang="ru-RU" sz="800" dirty="0" err="1"/>
              <a:t>Visualization</a:t>
            </a:r>
            <a:r>
              <a:rPr lang="ru-RU" altLang="ru-RU" sz="800" dirty="0"/>
              <a:t>, </a:t>
            </a:r>
            <a:r>
              <a:rPr lang="ru-RU" altLang="ru-RU" sz="800" dirty="0" err="1"/>
              <a:t>Graph</a:t>
            </a:r>
            <a:r>
              <a:rPr lang="ru-RU" altLang="ru-RU" sz="800" dirty="0"/>
              <a:t> </a:t>
            </a:r>
            <a:r>
              <a:rPr lang="ru-RU" altLang="ru-RU" sz="800" dirty="0" err="1"/>
              <a:t>Mining</a:t>
            </a:r>
            <a:r>
              <a:rPr lang="ru-RU" altLang="ru-RU" sz="8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a:lnSpc>
                <a:spcPct val="80000"/>
              </a:lnSpc>
            </a:pPr>
            <a:r>
              <a:rPr lang="ru-RU" altLang="ru-RU" sz="800" dirty="0"/>
              <a:t>10. Подведение итогов (</a:t>
            </a:r>
            <a:r>
              <a:rPr lang="ru-RU" altLang="ru-RU" sz="800" dirty="0" err="1"/>
              <a:t>Summarization</a:t>
            </a:r>
            <a:r>
              <a:rPr lang="ru-RU" altLang="ru-RU" sz="800" dirty="0"/>
              <a:t>) - описание конкретных групп объектов с помощью рассматриваемого набора данных.</a:t>
            </a:r>
          </a:p>
        </p:txBody>
      </p:sp>
    </p:spTree>
    <p:extLst>
      <p:ext uri="{BB962C8B-B14F-4D97-AF65-F5344CB8AC3E}">
        <p14:creationId xmlns:p14="http://schemas.microsoft.com/office/powerpoint/2010/main" val="23602888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99D8768D-5C22-4088-BA12-A387BB9EBCDC}" type="slidenum">
              <a:rPr lang="ru-RU" altLang="ru-RU" smtClean="0">
                <a:latin typeface="Times New Roman" panose="02020603050405020304" pitchFamily="18" charset="0"/>
              </a:rPr>
              <a:pPr/>
              <a:t>13</a:t>
            </a:fld>
            <a:endParaRPr lang="ru-RU" altLang="ru-RU">
              <a:latin typeface="Times New Roman" panose="02020603050405020304" pitchFamily="18" charset="0"/>
            </a:endParaRPr>
          </a:p>
        </p:txBody>
      </p:sp>
      <p:sp>
        <p:nvSpPr>
          <p:cNvPr id="14339" name="Rectangle 2"/>
          <p:cNvSpPr>
            <a:spLocks noGrp="1" noRot="1" noChangeAspect="1" noChangeArrowheads="1" noTextEdit="1"/>
          </p:cNvSpPr>
          <p:nvPr>
            <p:ph type="sldImg"/>
          </p:nvPr>
        </p:nvSpPr>
        <p:spPr>
          <a:xfrm>
            <a:off x="382588" y="685800"/>
            <a:ext cx="6092825" cy="3429000"/>
          </a:xfrm>
          <a:ln/>
        </p:spPr>
      </p:sp>
      <p:sp>
        <p:nvSpPr>
          <p:cNvPr id="14340" name="Rectangle 3"/>
          <p:cNvSpPr>
            <a:spLocks noGrp="1" noChangeArrowheads="1"/>
          </p:cNvSpPr>
          <p:nvPr>
            <p:ph type="body" idx="1"/>
          </p:nvPr>
        </p:nvSpPr>
        <p:spPr>
          <a:noFill/>
        </p:spPr>
        <p:txBody>
          <a:bodyPr/>
          <a:lstStyle/>
          <a:p>
            <a:pPr>
              <a:lnSpc>
                <a:spcPct val="80000"/>
              </a:lnSpc>
            </a:pPr>
            <a:r>
              <a:rPr lang="ru-RU" altLang="ru-RU" sz="800" b="1" i="1" dirty="0"/>
              <a:t>Задачи </a:t>
            </a:r>
            <a:r>
              <a:rPr lang="en-US" altLang="ru-RU" sz="800" b="1" i="1" dirty="0"/>
              <a:t>Data Analysis</a:t>
            </a:r>
            <a:r>
              <a:rPr lang="ru-RU" altLang="ru-RU" sz="800" b="1" i="1" dirty="0"/>
              <a:t>: </a:t>
            </a:r>
            <a:endParaRPr lang="ru-RU" altLang="ru-RU" sz="800" dirty="0"/>
          </a:p>
          <a:p>
            <a:pPr>
              <a:lnSpc>
                <a:spcPct val="80000"/>
              </a:lnSpc>
            </a:pPr>
            <a:r>
              <a:rPr lang="ru-RU" altLang="ru-RU" sz="800" dirty="0"/>
              <a:t>1. Классификация (</a:t>
            </a:r>
            <a:r>
              <a:rPr lang="ru-RU" altLang="ru-RU" sz="800" dirty="0" err="1"/>
              <a:t>Classification</a:t>
            </a:r>
            <a:r>
              <a:rPr lang="ru-RU" altLang="ru-RU" sz="800" dirty="0"/>
              <a:t>)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a:t>
            </a:r>
            <a:r>
              <a:rPr lang="ru-RU" altLang="ru-RU" sz="800" dirty="0" err="1"/>
              <a:t>Nearest</a:t>
            </a:r>
            <a:r>
              <a:rPr lang="ru-RU" altLang="ru-RU" sz="800" dirty="0"/>
              <a:t> </a:t>
            </a:r>
            <a:r>
              <a:rPr lang="ru-RU" altLang="ru-RU" sz="800" dirty="0" err="1"/>
              <a:t>Neighbor</a:t>
            </a:r>
            <a:r>
              <a:rPr lang="ru-RU" altLang="ru-RU" sz="800" dirty="0"/>
              <a:t>) к-ближайших сосед (k-</a:t>
            </a:r>
            <a:r>
              <a:rPr lang="ru-RU" altLang="ru-RU" sz="800" dirty="0" err="1"/>
              <a:t>Nearest</a:t>
            </a:r>
            <a:r>
              <a:rPr lang="ru-RU" altLang="ru-RU" sz="800" dirty="0"/>
              <a:t> </a:t>
            </a:r>
            <a:r>
              <a:rPr lang="ru-RU" altLang="ru-RU" sz="800" dirty="0" err="1"/>
              <a:t>Neighbor</a:t>
            </a:r>
            <a:r>
              <a:rPr lang="ru-RU" altLang="ru-RU" sz="800" dirty="0"/>
              <a:t>) </a:t>
            </a:r>
            <a:r>
              <a:rPr lang="ru-RU" altLang="ru-RU" sz="800" dirty="0" err="1"/>
              <a:t>Байе-Совские</a:t>
            </a:r>
            <a:r>
              <a:rPr lang="ru-RU" altLang="ru-RU" sz="800" dirty="0"/>
              <a:t> сети (</a:t>
            </a:r>
            <a:r>
              <a:rPr lang="ru-RU" altLang="ru-RU" sz="800" dirty="0" err="1"/>
              <a:t>Bayesian</a:t>
            </a:r>
            <a:r>
              <a:rPr lang="ru-RU" altLang="ru-RU" sz="800" dirty="0"/>
              <a:t> </a:t>
            </a:r>
            <a:r>
              <a:rPr lang="ru-RU" altLang="ru-RU" sz="800" dirty="0" err="1"/>
              <a:t>Networks</a:t>
            </a:r>
            <a:r>
              <a:rPr lang="ru-RU" altLang="ru-RU" sz="800" dirty="0"/>
              <a:t>) индукция деревьев решений; нейронные сети (</a:t>
            </a:r>
            <a:r>
              <a:rPr lang="ru-RU" altLang="ru-RU" sz="800" dirty="0" err="1"/>
              <a:t>neural</a:t>
            </a:r>
            <a:r>
              <a:rPr lang="ru-RU" altLang="ru-RU" sz="800" dirty="0"/>
              <a:t> </a:t>
            </a:r>
            <a:r>
              <a:rPr lang="ru-RU" altLang="ru-RU" sz="800" dirty="0" err="1"/>
              <a:t>networks</a:t>
            </a:r>
            <a:r>
              <a:rPr lang="ru-RU" altLang="ru-RU" sz="800" dirty="0"/>
              <a:t>).</a:t>
            </a:r>
          </a:p>
          <a:p>
            <a:pPr>
              <a:lnSpc>
                <a:spcPct val="80000"/>
              </a:lnSpc>
            </a:pPr>
            <a:r>
              <a:rPr lang="ru-RU" altLang="ru-RU" sz="800" dirty="0"/>
              <a:t>2. Кластеризация (</a:t>
            </a:r>
            <a:r>
              <a:rPr lang="ru-RU" altLang="ru-RU" sz="800" dirty="0" err="1"/>
              <a:t>Clustering</a:t>
            </a:r>
            <a:r>
              <a:rPr lang="ru-RU" altLang="ru-RU" sz="800" dirty="0"/>
              <a:t>) - результатом ее является разделение объектов на группы.</a:t>
            </a:r>
          </a:p>
          <a:p>
            <a:pPr>
              <a:lnSpc>
                <a:spcPct val="80000"/>
              </a:lnSpc>
            </a:pPr>
            <a:r>
              <a:rPr lang="ru-RU" altLang="ru-RU" sz="800" dirty="0"/>
              <a:t>3. Ассоциация (</a:t>
            </a:r>
            <a:r>
              <a:rPr lang="ru-RU" altLang="ru-RU" sz="800" dirty="0" err="1"/>
              <a:t>Associations</a:t>
            </a:r>
            <a:r>
              <a:rPr lang="ru-RU" altLang="ru-RU" sz="800" dirty="0"/>
              <a:t>) - находят закономерности между связанными событиями в наборе данных. Наиболее известный алгоритм решения задачи поиска ассоциативных правил - алгоритм </a:t>
            </a:r>
            <a:r>
              <a:rPr lang="ru-RU" altLang="ru-RU" sz="800" dirty="0" err="1"/>
              <a:t>Аргиоги</a:t>
            </a:r>
            <a:r>
              <a:rPr lang="ru-RU" altLang="ru-RU" sz="800" dirty="0"/>
              <a:t>.</a:t>
            </a:r>
          </a:p>
          <a:p>
            <a:pPr>
              <a:lnSpc>
                <a:spcPct val="80000"/>
              </a:lnSpc>
            </a:pPr>
            <a:r>
              <a:rPr lang="ru-RU" altLang="ru-RU" sz="800" dirty="0"/>
              <a:t>4. Последовательность (</a:t>
            </a:r>
            <a:r>
              <a:rPr lang="ru-RU" altLang="ru-RU" sz="800" dirty="0" err="1"/>
              <a:t>Sequence</a:t>
            </a:r>
            <a:r>
              <a:rPr lang="ru-RU" altLang="ru-RU" sz="800" dirty="0"/>
              <a:t>), или последовательная ассоциация (</a:t>
            </a:r>
            <a:r>
              <a:rPr lang="ru-RU" altLang="ru-RU" sz="800" dirty="0" err="1"/>
              <a:t>sequential</a:t>
            </a:r>
            <a:r>
              <a:rPr lang="ru-RU" altLang="ru-RU" sz="800" dirty="0"/>
              <a:t> </a:t>
            </a:r>
            <a:r>
              <a:rPr lang="ru-RU" altLang="ru-RU" sz="800" dirty="0" err="1"/>
              <a:t>association</a:t>
            </a:r>
            <a:r>
              <a:rPr lang="ru-RU" altLang="ru-RU" sz="800" dirty="0"/>
              <a:t>)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p>
          <a:p>
            <a:pPr>
              <a:lnSpc>
                <a:spcPct val="80000"/>
              </a:lnSpc>
            </a:pPr>
            <a:r>
              <a:rPr lang="ru-RU" altLang="ru-RU" sz="800" dirty="0"/>
              <a:t>5. Прогнозирование (</a:t>
            </a:r>
            <a:r>
              <a:rPr lang="ru-RU" altLang="ru-RU" sz="800" dirty="0" err="1"/>
              <a:t>Forecasting</a:t>
            </a:r>
            <a:r>
              <a:rPr lang="ru-RU" altLang="ru-RU" sz="800" dirty="0"/>
              <a:t>)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p>
          <a:p>
            <a:pPr>
              <a:lnSpc>
                <a:spcPct val="80000"/>
              </a:lnSpc>
            </a:pPr>
            <a:r>
              <a:rPr lang="ru-RU" altLang="ru-RU" sz="800" dirty="0"/>
              <a:t>6. Определение отклонений (</a:t>
            </a:r>
            <a:r>
              <a:rPr lang="ru-RU" altLang="ru-RU" sz="800" dirty="0" err="1"/>
              <a:t>Deviation</a:t>
            </a:r>
            <a:r>
              <a:rPr lang="ru-RU" altLang="ru-RU" sz="800" dirty="0"/>
              <a:t> </a:t>
            </a:r>
            <a:r>
              <a:rPr lang="ru-RU" altLang="ru-RU" sz="800" dirty="0" err="1"/>
              <a:t>Detection</a:t>
            </a:r>
            <a:r>
              <a:rPr lang="ru-RU" altLang="ru-RU" sz="800" dirty="0"/>
              <a:t>), анализ отклонений или выбросов - выявление и анализ данных, наиболее отличаются от общей численности данных, выявление нехарактерных шаблонов.</a:t>
            </a:r>
          </a:p>
          <a:p>
            <a:pPr>
              <a:lnSpc>
                <a:spcPct val="80000"/>
              </a:lnSpc>
            </a:pPr>
            <a:r>
              <a:rPr lang="ru-RU" altLang="ru-RU" sz="800" dirty="0"/>
              <a:t>7. Оценка (</a:t>
            </a:r>
            <a:r>
              <a:rPr lang="ru-RU" altLang="ru-RU" sz="800" dirty="0" err="1"/>
              <a:t>Estimation</a:t>
            </a:r>
            <a:r>
              <a:rPr lang="ru-RU" altLang="ru-RU" sz="800" dirty="0"/>
              <a:t>) - сводится к прогнозу непрерывных значений признаков.</a:t>
            </a:r>
          </a:p>
          <a:p>
            <a:pPr>
              <a:lnSpc>
                <a:spcPct val="80000"/>
              </a:lnSpc>
            </a:pPr>
            <a:r>
              <a:rPr lang="ru-RU" altLang="ru-RU" sz="800" dirty="0"/>
              <a:t>8. Анализ связей (</a:t>
            </a:r>
            <a:r>
              <a:rPr lang="ru-RU" altLang="ru-RU" sz="800" dirty="0" err="1"/>
              <a:t>Link</a:t>
            </a:r>
            <a:r>
              <a:rPr lang="ru-RU" altLang="ru-RU" sz="800" dirty="0"/>
              <a:t> </a:t>
            </a:r>
            <a:r>
              <a:rPr lang="ru-RU" altLang="ru-RU" sz="800" dirty="0" err="1"/>
              <a:t>Analysis</a:t>
            </a:r>
            <a:r>
              <a:rPr lang="ru-RU" altLang="ru-RU" sz="800" dirty="0"/>
              <a:t>) - задача нахождения зависимостей в наборе данных.</a:t>
            </a:r>
          </a:p>
          <a:p>
            <a:pPr>
              <a:lnSpc>
                <a:spcPct val="80000"/>
              </a:lnSpc>
            </a:pPr>
            <a:r>
              <a:rPr lang="ru-RU" altLang="ru-RU" sz="800" dirty="0"/>
              <a:t>9. Визуализация (</a:t>
            </a:r>
            <a:r>
              <a:rPr lang="ru-RU" altLang="ru-RU" sz="800" dirty="0" err="1"/>
              <a:t>Visualization</a:t>
            </a:r>
            <a:r>
              <a:rPr lang="ru-RU" altLang="ru-RU" sz="800" dirty="0"/>
              <a:t>, </a:t>
            </a:r>
            <a:r>
              <a:rPr lang="ru-RU" altLang="ru-RU" sz="800" dirty="0" err="1"/>
              <a:t>Graph</a:t>
            </a:r>
            <a:r>
              <a:rPr lang="ru-RU" altLang="ru-RU" sz="800" dirty="0"/>
              <a:t> </a:t>
            </a:r>
            <a:r>
              <a:rPr lang="ru-RU" altLang="ru-RU" sz="800" dirty="0" err="1"/>
              <a:t>Mining</a:t>
            </a:r>
            <a:r>
              <a:rPr lang="ru-RU" altLang="ru-RU" sz="8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a:lnSpc>
                <a:spcPct val="80000"/>
              </a:lnSpc>
            </a:pPr>
            <a:r>
              <a:rPr lang="ru-RU" altLang="ru-RU" sz="800" dirty="0"/>
              <a:t>10. Подведение итогов (</a:t>
            </a:r>
            <a:r>
              <a:rPr lang="ru-RU" altLang="ru-RU" sz="800" dirty="0" err="1"/>
              <a:t>Summarization</a:t>
            </a:r>
            <a:r>
              <a:rPr lang="ru-RU" altLang="ru-RU" sz="800" dirty="0"/>
              <a:t>) - описание конкретных групп объектов с помощью рассматриваемого набора данных.</a:t>
            </a:r>
          </a:p>
        </p:txBody>
      </p:sp>
    </p:spTree>
    <p:extLst>
      <p:ext uri="{BB962C8B-B14F-4D97-AF65-F5344CB8AC3E}">
        <p14:creationId xmlns:p14="http://schemas.microsoft.com/office/powerpoint/2010/main" val="3105095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C001EBF0-EC70-4C83-9E16-BAA484A908B9}" type="slidenum">
              <a:rPr lang="ru-RU" altLang="ru-RU" smtClean="0">
                <a:latin typeface="Times New Roman" panose="02020603050405020304" pitchFamily="18" charset="0"/>
              </a:rPr>
              <a:pPr/>
              <a:t>14</a:t>
            </a:fld>
            <a:endParaRPr lang="ru-RU" altLang="ru-RU">
              <a:latin typeface="Times New Roman" panose="02020603050405020304" pitchFamily="18" charset="0"/>
            </a:endParaRPr>
          </a:p>
        </p:txBody>
      </p:sp>
      <p:sp>
        <p:nvSpPr>
          <p:cNvPr id="16387" name="Rectangle 2"/>
          <p:cNvSpPr>
            <a:spLocks noGrp="1" noRot="1" noChangeAspect="1" noChangeArrowheads="1" noTextEdit="1"/>
          </p:cNvSpPr>
          <p:nvPr>
            <p:ph type="sldImg"/>
          </p:nvPr>
        </p:nvSpPr>
        <p:spPr>
          <a:xfrm>
            <a:off x="382588" y="685800"/>
            <a:ext cx="6092825" cy="3429000"/>
          </a:xfrm>
          <a:ln/>
        </p:spPr>
      </p:sp>
      <p:sp>
        <p:nvSpPr>
          <p:cNvPr id="16388" name="Rectangle 3"/>
          <p:cNvSpPr>
            <a:spLocks noGrp="1" noChangeArrowheads="1"/>
          </p:cNvSpPr>
          <p:nvPr>
            <p:ph type="body" idx="1"/>
          </p:nvPr>
        </p:nvSpPr>
        <p:spPr>
          <a:noFill/>
        </p:spPr>
        <p:txBody>
          <a:bodyPr/>
          <a:lstStyle/>
          <a:p>
            <a:pPr>
              <a:lnSpc>
                <a:spcPct val="80000"/>
              </a:lnSpc>
            </a:pPr>
            <a:endParaRPr lang="ru-RU" altLang="ru-RU" sz="800"/>
          </a:p>
        </p:txBody>
      </p:sp>
    </p:spTree>
    <p:extLst>
      <p:ext uri="{BB962C8B-B14F-4D97-AF65-F5344CB8AC3E}">
        <p14:creationId xmlns:p14="http://schemas.microsoft.com/office/powerpoint/2010/main" val="4147965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96E4BC11-ED4E-48D3-A890-19ED2AF81E9B}" type="slidenum">
              <a:rPr lang="ru-RU" altLang="ru-RU" smtClean="0">
                <a:latin typeface="Times New Roman" panose="02020603050405020304" pitchFamily="18" charset="0"/>
              </a:rPr>
              <a:pPr/>
              <a:t>15</a:t>
            </a:fld>
            <a:endParaRPr lang="ru-RU" altLang="ru-RU">
              <a:latin typeface="Times New Roman" panose="02020603050405020304" pitchFamily="18" charset="0"/>
            </a:endParaRPr>
          </a:p>
        </p:txBody>
      </p:sp>
      <p:sp>
        <p:nvSpPr>
          <p:cNvPr id="18435" name="Rectangle 2"/>
          <p:cNvSpPr>
            <a:spLocks noGrp="1" noRot="1" noChangeAspect="1" noChangeArrowheads="1" noTextEdit="1"/>
          </p:cNvSpPr>
          <p:nvPr>
            <p:ph type="sldImg"/>
          </p:nvPr>
        </p:nvSpPr>
        <p:spPr>
          <a:xfrm>
            <a:off x="382588" y="685800"/>
            <a:ext cx="6092825" cy="3429000"/>
          </a:xfrm>
          <a:ln/>
        </p:spPr>
      </p:sp>
      <p:sp>
        <p:nvSpPr>
          <p:cNvPr id="18436" name="Rectangle 3"/>
          <p:cNvSpPr>
            <a:spLocks noGrp="1" noChangeArrowheads="1"/>
          </p:cNvSpPr>
          <p:nvPr>
            <p:ph type="body" idx="1"/>
          </p:nvPr>
        </p:nvSpPr>
        <p:spPr>
          <a:noFill/>
        </p:spPr>
        <p:txBody>
          <a:bodyPr/>
          <a:lstStyle/>
          <a:p>
            <a:pPr>
              <a:lnSpc>
                <a:spcPct val="80000"/>
              </a:lnSpc>
            </a:pPr>
            <a:r>
              <a:rPr lang="ru-RU" altLang="ru-RU" sz="800" dirty="0"/>
              <a:t>Задачи, решаемые </a:t>
            </a:r>
            <a:r>
              <a:rPr lang="en-US" altLang="ru-RU" sz="800" dirty="0"/>
              <a:t>Data Analysis</a:t>
            </a:r>
            <a:endParaRPr lang="ru-RU" altLang="ru-RU" sz="800" dirty="0"/>
          </a:p>
          <a:p>
            <a:pPr>
              <a:lnSpc>
                <a:spcPct val="80000"/>
              </a:lnSpc>
            </a:pPr>
            <a:r>
              <a:rPr lang="ru-RU" altLang="ru-RU" sz="800" dirty="0"/>
              <a:t>· Классификация — отнесение входного вектора (объекта, события, наблюдения) к одному из заранее известных классов.</a:t>
            </a:r>
          </a:p>
          <a:p>
            <a:pPr>
              <a:lnSpc>
                <a:spcPct val="80000"/>
              </a:lnSpc>
            </a:pPr>
            <a:r>
              <a:rPr lang="ru-RU" altLang="ru-RU" sz="800" dirty="0"/>
              <a:t>· Кластеризация — разделение множества входных векторов на группы (кластеры) по степени «похожести» друг на друга.</a:t>
            </a:r>
          </a:p>
          <a:p>
            <a:pPr>
              <a:lnSpc>
                <a:spcPct val="80000"/>
              </a:lnSpc>
            </a:pPr>
            <a:r>
              <a:rPr lang="ru-RU" altLang="ru-RU" sz="800" dirty="0"/>
              <a:t>· Прогнозирование</a:t>
            </a:r>
          </a:p>
          <a:p>
            <a:pPr>
              <a:lnSpc>
                <a:spcPct val="80000"/>
              </a:lnSpc>
            </a:pPr>
            <a:r>
              <a:rPr lang="ru-RU" altLang="ru-RU" sz="800" dirty="0"/>
              <a:t>· Сокращение описания — для визуализации данных, лаконизма моделей, упрощения счета и интерпретации, сжатия объемов собираемой и хранимой информации.</a:t>
            </a:r>
          </a:p>
          <a:p>
            <a:pPr>
              <a:lnSpc>
                <a:spcPct val="80000"/>
              </a:lnSpc>
            </a:pPr>
            <a:r>
              <a:rPr lang="ru-RU" altLang="ru-RU" sz="800" dirty="0"/>
              <a:t>· Ассоциация — поиск повторяющихся образцов. Например, поиск «устойчивых связей в корзине покупателя» (англ. </a:t>
            </a:r>
            <a:r>
              <a:rPr lang="ru-RU" altLang="ru-RU" sz="800" dirty="0" err="1"/>
              <a:t>market</a:t>
            </a:r>
            <a:r>
              <a:rPr lang="ru-RU" altLang="ru-RU" sz="800" dirty="0"/>
              <a:t> </a:t>
            </a:r>
            <a:r>
              <a:rPr lang="ru-RU" altLang="ru-RU" sz="800" dirty="0" err="1"/>
              <a:t>basket</a:t>
            </a:r>
            <a:r>
              <a:rPr lang="ru-RU" altLang="ru-RU" sz="800" dirty="0"/>
              <a:t> </a:t>
            </a:r>
            <a:r>
              <a:rPr lang="ru-RU" altLang="ru-RU" sz="800" dirty="0" err="1"/>
              <a:t>analysis</a:t>
            </a:r>
            <a:r>
              <a:rPr lang="ru-RU" altLang="ru-RU" sz="800" dirty="0"/>
              <a:t>) — вместе с пивом часто покупают орешки.</a:t>
            </a:r>
          </a:p>
          <a:p>
            <a:pPr>
              <a:lnSpc>
                <a:spcPct val="80000"/>
              </a:lnSpc>
            </a:pPr>
            <a:r>
              <a:rPr lang="ru-RU" altLang="ru-RU" sz="800" dirty="0"/>
              <a:t>· Анализ отклонений — Например, выявление нетипичной сетевой активности позволяет обнаружить вредоносные программы.</a:t>
            </a:r>
          </a:p>
          <a:p>
            <a:pPr>
              <a:lnSpc>
                <a:spcPct val="80000"/>
              </a:lnSpc>
            </a:pPr>
            <a:r>
              <a:rPr lang="ru-RU" altLang="ru-RU" sz="800" dirty="0"/>
              <a:t>· Визуализация</a:t>
            </a:r>
          </a:p>
          <a:p>
            <a:pPr>
              <a:lnSpc>
                <a:spcPct val="80000"/>
              </a:lnSpc>
            </a:pPr>
            <a:r>
              <a:rPr lang="ru-RU" altLang="ru-RU" sz="800" b="1" i="1" dirty="0"/>
              <a:t>Задачи </a:t>
            </a:r>
            <a:r>
              <a:rPr lang="en-US" altLang="ru-RU" sz="800" b="1" i="1" dirty="0"/>
              <a:t>Data Analysis</a:t>
            </a:r>
            <a:r>
              <a:rPr lang="ru-RU" altLang="ru-RU" sz="800" b="1" i="1" dirty="0"/>
              <a:t>: </a:t>
            </a:r>
            <a:endParaRPr lang="ru-RU" altLang="ru-RU" sz="800" dirty="0"/>
          </a:p>
          <a:p>
            <a:pPr>
              <a:lnSpc>
                <a:spcPct val="80000"/>
              </a:lnSpc>
            </a:pPr>
            <a:r>
              <a:rPr lang="ru-RU" altLang="ru-RU" sz="800" dirty="0"/>
              <a:t>1. Классификация (</a:t>
            </a:r>
            <a:r>
              <a:rPr lang="ru-RU" altLang="ru-RU" sz="800" dirty="0" err="1"/>
              <a:t>Classification</a:t>
            </a:r>
            <a:r>
              <a:rPr lang="ru-RU" altLang="ru-RU" sz="800" dirty="0"/>
              <a:t>)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a:t>
            </a:r>
            <a:r>
              <a:rPr lang="ru-RU" altLang="ru-RU" sz="800" dirty="0" err="1"/>
              <a:t>Nearest</a:t>
            </a:r>
            <a:r>
              <a:rPr lang="ru-RU" altLang="ru-RU" sz="800" dirty="0"/>
              <a:t> </a:t>
            </a:r>
            <a:r>
              <a:rPr lang="ru-RU" altLang="ru-RU" sz="800" dirty="0" err="1"/>
              <a:t>Neighbor</a:t>
            </a:r>
            <a:r>
              <a:rPr lang="ru-RU" altLang="ru-RU" sz="800" dirty="0"/>
              <a:t>) к-ближайших сосед (k-</a:t>
            </a:r>
            <a:r>
              <a:rPr lang="ru-RU" altLang="ru-RU" sz="800" dirty="0" err="1"/>
              <a:t>Nearest</a:t>
            </a:r>
            <a:r>
              <a:rPr lang="ru-RU" altLang="ru-RU" sz="800" dirty="0"/>
              <a:t> </a:t>
            </a:r>
            <a:r>
              <a:rPr lang="ru-RU" altLang="ru-RU" sz="800" dirty="0" err="1"/>
              <a:t>Neighbor</a:t>
            </a:r>
            <a:r>
              <a:rPr lang="ru-RU" altLang="ru-RU" sz="800" dirty="0"/>
              <a:t>) </a:t>
            </a:r>
            <a:r>
              <a:rPr lang="ru-RU" altLang="ru-RU" sz="800" dirty="0" err="1"/>
              <a:t>Байе-Совские</a:t>
            </a:r>
            <a:r>
              <a:rPr lang="ru-RU" altLang="ru-RU" sz="800" dirty="0"/>
              <a:t> сети (</a:t>
            </a:r>
            <a:r>
              <a:rPr lang="ru-RU" altLang="ru-RU" sz="800" dirty="0" err="1"/>
              <a:t>Bayesian</a:t>
            </a:r>
            <a:r>
              <a:rPr lang="ru-RU" altLang="ru-RU" sz="800" dirty="0"/>
              <a:t> </a:t>
            </a:r>
            <a:r>
              <a:rPr lang="ru-RU" altLang="ru-RU" sz="800" dirty="0" err="1"/>
              <a:t>Networks</a:t>
            </a:r>
            <a:r>
              <a:rPr lang="ru-RU" altLang="ru-RU" sz="800" dirty="0"/>
              <a:t>) индукция деревьев решений; нейронные сети (</a:t>
            </a:r>
            <a:r>
              <a:rPr lang="ru-RU" altLang="ru-RU" sz="800" dirty="0" err="1"/>
              <a:t>neural</a:t>
            </a:r>
            <a:r>
              <a:rPr lang="ru-RU" altLang="ru-RU" sz="800" dirty="0"/>
              <a:t> </a:t>
            </a:r>
            <a:r>
              <a:rPr lang="ru-RU" altLang="ru-RU" sz="800" dirty="0" err="1"/>
              <a:t>networks</a:t>
            </a:r>
            <a:r>
              <a:rPr lang="ru-RU" altLang="ru-RU" sz="800" dirty="0"/>
              <a:t>).</a:t>
            </a:r>
          </a:p>
          <a:p>
            <a:pPr>
              <a:lnSpc>
                <a:spcPct val="80000"/>
              </a:lnSpc>
            </a:pPr>
            <a:r>
              <a:rPr lang="ru-RU" altLang="ru-RU" sz="800" dirty="0"/>
              <a:t>2. Кластеризация (</a:t>
            </a:r>
            <a:r>
              <a:rPr lang="ru-RU" altLang="ru-RU" sz="800" dirty="0" err="1"/>
              <a:t>Clustering</a:t>
            </a:r>
            <a:r>
              <a:rPr lang="ru-RU" altLang="ru-RU" sz="800" dirty="0"/>
              <a:t>) - результатом ее является разделение объектов на группы.</a:t>
            </a:r>
          </a:p>
          <a:p>
            <a:pPr>
              <a:lnSpc>
                <a:spcPct val="80000"/>
              </a:lnSpc>
            </a:pPr>
            <a:r>
              <a:rPr lang="ru-RU" altLang="ru-RU" sz="800" dirty="0"/>
              <a:t>3. Ассоциация (</a:t>
            </a:r>
            <a:r>
              <a:rPr lang="ru-RU" altLang="ru-RU" sz="800" dirty="0" err="1"/>
              <a:t>Associations</a:t>
            </a:r>
            <a:r>
              <a:rPr lang="ru-RU" altLang="ru-RU" sz="800" dirty="0"/>
              <a:t>) - находят закономерности между связанными событиями в наборе данных. Наиболее известный алгоритм решения задачи поиска ассоциативных правил - алгоритм </a:t>
            </a:r>
            <a:r>
              <a:rPr lang="ru-RU" altLang="ru-RU" sz="800" dirty="0" err="1"/>
              <a:t>Аргиоги</a:t>
            </a:r>
            <a:r>
              <a:rPr lang="ru-RU" altLang="ru-RU" sz="800" dirty="0"/>
              <a:t>.</a:t>
            </a:r>
          </a:p>
          <a:p>
            <a:pPr>
              <a:lnSpc>
                <a:spcPct val="80000"/>
              </a:lnSpc>
            </a:pPr>
            <a:r>
              <a:rPr lang="ru-RU" altLang="ru-RU" sz="800" dirty="0"/>
              <a:t>4. Последовательность (</a:t>
            </a:r>
            <a:r>
              <a:rPr lang="ru-RU" altLang="ru-RU" sz="800" dirty="0" err="1"/>
              <a:t>Sequence</a:t>
            </a:r>
            <a:r>
              <a:rPr lang="ru-RU" altLang="ru-RU" sz="800" dirty="0"/>
              <a:t>), или последовательная ассоциация (</a:t>
            </a:r>
            <a:r>
              <a:rPr lang="ru-RU" altLang="ru-RU" sz="800" dirty="0" err="1"/>
              <a:t>sequential</a:t>
            </a:r>
            <a:r>
              <a:rPr lang="ru-RU" altLang="ru-RU" sz="800" dirty="0"/>
              <a:t> </a:t>
            </a:r>
            <a:r>
              <a:rPr lang="ru-RU" altLang="ru-RU" sz="800" dirty="0" err="1"/>
              <a:t>association</a:t>
            </a:r>
            <a:r>
              <a:rPr lang="ru-RU" altLang="ru-RU" sz="800" dirty="0"/>
              <a:t>)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p>
          <a:p>
            <a:pPr>
              <a:lnSpc>
                <a:spcPct val="80000"/>
              </a:lnSpc>
            </a:pPr>
            <a:r>
              <a:rPr lang="ru-RU" altLang="ru-RU" sz="800" dirty="0"/>
              <a:t>5. Прогнозирование (</a:t>
            </a:r>
            <a:r>
              <a:rPr lang="ru-RU" altLang="ru-RU" sz="800" dirty="0" err="1"/>
              <a:t>Forecasting</a:t>
            </a:r>
            <a:r>
              <a:rPr lang="ru-RU" altLang="ru-RU" sz="800" dirty="0"/>
              <a:t>)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p>
          <a:p>
            <a:pPr>
              <a:lnSpc>
                <a:spcPct val="80000"/>
              </a:lnSpc>
            </a:pPr>
            <a:r>
              <a:rPr lang="ru-RU" altLang="ru-RU" sz="800" dirty="0"/>
              <a:t>6. Определение отклонений (</a:t>
            </a:r>
            <a:r>
              <a:rPr lang="ru-RU" altLang="ru-RU" sz="800" dirty="0" err="1"/>
              <a:t>Deviation</a:t>
            </a:r>
            <a:r>
              <a:rPr lang="ru-RU" altLang="ru-RU" sz="800" dirty="0"/>
              <a:t> </a:t>
            </a:r>
            <a:r>
              <a:rPr lang="ru-RU" altLang="ru-RU" sz="800" dirty="0" err="1"/>
              <a:t>Detection</a:t>
            </a:r>
            <a:r>
              <a:rPr lang="ru-RU" altLang="ru-RU" sz="800" dirty="0"/>
              <a:t>), анализ отклонений или выбросов - выявление и анализ данных, наиболее отличаются от общей численности данных, выявление нехарактерных шаблонов.</a:t>
            </a:r>
          </a:p>
          <a:p>
            <a:pPr>
              <a:lnSpc>
                <a:spcPct val="80000"/>
              </a:lnSpc>
            </a:pPr>
            <a:r>
              <a:rPr lang="ru-RU" altLang="ru-RU" sz="800" dirty="0"/>
              <a:t>7. Оценка (</a:t>
            </a:r>
            <a:r>
              <a:rPr lang="ru-RU" altLang="ru-RU" sz="800" dirty="0" err="1"/>
              <a:t>Estimation</a:t>
            </a:r>
            <a:r>
              <a:rPr lang="ru-RU" altLang="ru-RU" sz="800" dirty="0"/>
              <a:t>) - сводится к прогнозу непрерывных значений признаков.</a:t>
            </a:r>
          </a:p>
          <a:p>
            <a:pPr>
              <a:lnSpc>
                <a:spcPct val="80000"/>
              </a:lnSpc>
            </a:pPr>
            <a:r>
              <a:rPr lang="ru-RU" altLang="ru-RU" sz="800" dirty="0"/>
              <a:t>8. Анализ связей (</a:t>
            </a:r>
            <a:r>
              <a:rPr lang="ru-RU" altLang="ru-RU" sz="800" dirty="0" err="1"/>
              <a:t>Link</a:t>
            </a:r>
            <a:r>
              <a:rPr lang="ru-RU" altLang="ru-RU" sz="800" dirty="0"/>
              <a:t> </a:t>
            </a:r>
            <a:r>
              <a:rPr lang="ru-RU" altLang="ru-RU" sz="800" dirty="0" err="1"/>
              <a:t>Analysis</a:t>
            </a:r>
            <a:r>
              <a:rPr lang="ru-RU" altLang="ru-RU" sz="800" dirty="0"/>
              <a:t>) - задача нахождения зависимостей в наборе данных.</a:t>
            </a:r>
          </a:p>
          <a:p>
            <a:pPr>
              <a:lnSpc>
                <a:spcPct val="80000"/>
              </a:lnSpc>
            </a:pPr>
            <a:r>
              <a:rPr lang="ru-RU" altLang="ru-RU" sz="800" dirty="0"/>
              <a:t>9. Визуализация (</a:t>
            </a:r>
            <a:r>
              <a:rPr lang="ru-RU" altLang="ru-RU" sz="800" dirty="0" err="1"/>
              <a:t>Visualization</a:t>
            </a:r>
            <a:r>
              <a:rPr lang="ru-RU" altLang="ru-RU" sz="800" dirty="0"/>
              <a:t>, </a:t>
            </a:r>
            <a:r>
              <a:rPr lang="ru-RU" altLang="ru-RU" sz="800" dirty="0" err="1"/>
              <a:t>Graph</a:t>
            </a:r>
            <a:r>
              <a:rPr lang="ru-RU" altLang="ru-RU" sz="800" dirty="0"/>
              <a:t> </a:t>
            </a:r>
            <a:r>
              <a:rPr lang="ru-RU" altLang="ru-RU" sz="800" dirty="0" err="1"/>
              <a:t>Mining</a:t>
            </a:r>
            <a:r>
              <a:rPr lang="ru-RU" altLang="ru-RU" sz="8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a:lnSpc>
                <a:spcPct val="80000"/>
              </a:lnSpc>
            </a:pPr>
            <a:r>
              <a:rPr lang="ru-RU" altLang="ru-RU" sz="800" dirty="0"/>
              <a:t>10. Подведение итогов (</a:t>
            </a:r>
            <a:r>
              <a:rPr lang="ru-RU" altLang="ru-RU" sz="800" dirty="0" err="1"/>
              <a:t>Summarization</a:t>
            </a:r>
            <a:r>
              <a:rPr lang="ru-RU" altLang="ru-RU" sz="800" dirty="0"/>
              <a:t>) - описание конкретных групп объектов с помощью рассматриваемого набора данных.</a:t>
            </a:r>
          </a:p>
        </p:txBody>
      </p:sp>
    </p:spTree>
    <p:extLst>
      <p:ext uri="{BB962C8B-B14F-4D97-AF65-F5344CB8AC3E}">
        <p14:creationId xmlns:p14="http://schemas.microsoft.com/office/powerpoint/2010/main" val="18524490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00E58680-6BF1-4870-92D4-43469B67B386}" type="slidenum">
              <a:rPr lang="ru-RU" altLang="ru-RU" smtClean="0">
                <a:latin typeface="Times New Roman" panose="02020603050405020304" pitchFamily="18" charset="0"/>
              </a:rPr>
              <a:pPr/>
              <a:t>16</a:t>
            </a:fld>
            <a:endParaRPr lang="ru-RU" altLang="ru-RU">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xfrm>
            <a:off x="382588" y="685800"/>
            <a:ext cx="6092825" cy="3429000"/>
          </a:xfrm>
          <a:ln/>
        </p:spPr>
      </p:sp>
      <p:sp>
        <p:nvSpPr>
          <p:cNvPr id="20484" name="Rectangle 3"/>
          <p:cNvSpPr>
            <a:spLocks noGrp="1" noChangeArrowheads="1"/>
          </p:cNvSpPr>
          <p:nvPr>
            <p:ph type="body" idx="1"/>
          </p:nvPr>
        </p:nvSpPr>
        <p:spPr>
          <a:noFill/>
        </p:spPr>
        <p:txBody>
          <a:bodyPr/>
          <a:lstStyle/>
          <a:p>
            <a:pPr>
              <a:lnSpc>
                <a:spcPct val="80000"/>
              </a:lnSpc>
            </a:pPr>
            <a:r>
              <a:rPr lang="ru-RU" altLang="ru-RU" sz="800" dirty="0"/>
              <a:t>Задачи, решаемые </a:t>
            </a:r>
            <a:r>
              <a:rPr lang="en-US" altLang="ru-RU" sz="800" dirty="0"/>
              <a:t>Data Analysis</a:t>
            </a:r>
            <a:endParaRPr lang="ru-RU" altLang="ru-RU" sz="800" dirty="0"/>
          </a:p>
          <a:p>
            <a:pPr>
              <a:lnSpc>
                <a:spcPct val="80000"/>
              </a:lnSpc>
            </a:pPr>
            <a:r>
              <a:rPr lang="ru-RU" altLang="ru-RU" sz="800" dirty="0"/>
              <a:t>· Классификация — отнесение входного вектора (объекта, события, наблюдения) к одному из заранее известных классов.</a:t>
            </a:r>
          </a:p>
          <a:p>
            <a:pPr>
              <a:lnSpc>
                <a:spcPct val="80000"/>
              </a:lnSpc>
            </a:pPr>
            <a:r>
              <a:rPr lang="ru-RU" altLang="ru-RU" sz="800" dirty="0"/>
              <a:t>· Кластеризация — разделение множества входных векторов на группы (кластеры) по степени «похожести» друг на друга.</a:t>
            </a:r>
          </a:p>
          <a:p>
            <a:pPr>
              <a:lnSpc>
                <a:spcPct val="80000"/>
              </a:lnSpc>
            </a:pPr>
            <a:r>
              <a:rPr lang="ru-RU" altLang="ru-RU" sz="800" dirty="0"/>
              <a:t>· Прогнозирование</a:t>
            </a:r>
          </a:p>
          <a:p>
            <a:pPr>
              <a:lnSpc>
                <a:spcPct val="80000"/>
              </a:lnSpc>
            </a:pPr>
            <a:r>
              <a:rPr lang="ru-RU" altLang="ru-RU" sz="800" dirty="0"/>
              <a:t>· Сокращение описания — для визуализации данных, лаконизма моделей, упрощения счета и интерпретации, сжатия объемов собираемой и хранимой информации.</a:t>
            </a:r>
          </a:p>
          <a:p>
            <a:pPr>
              <a:lnSpc>
                <a:spcPct val="80000"/>
              </a:lnSpc>
            </a:pPr>
            <a:r>
              <a:rPr lang="ru-RU" altLang="ru-RU" sz="800" dirty="0"/>
              <a:t>· Ассоциация — поиск повторяющихся образцов. Например, поиск «устойчивых связей в корзине покупателя» (англ. </a:t>
            </a:r>
            <a:r>
              <a:rPr lang="ru-RU" altLang="ru-RU" sz="800" dirty="0" err="1"/>
              <a:t>market</a:t>
            </a:r>
            <a:r>
              <a:rPr lang="ru-RU" altLang="ru-RU" sz="800" dirty="0"/>
              <a:t> </a:t>
            </a:r>
            <a:r>
              <a:rPr lang="ru-RU" altLang="ru-RU" sz="800" dirty="0" err="1"/>
              <a:t>basket</a:t>
            </a:r>
            <a:r>
              <a:rPr lang="ru-RU" altLang="ru-RU" sz="800" dirty="0"/>
              <a:t> </a:t>
            </a:r>
            <a:r>
              <a:rPr lang="ru-RU" altLang="ru-RU" sz="800" dirty="0" err="1"/>
              <a:t>analysis</a:t>
            </a:r>
            <a:r>
              <a:rPr lang="ru-RU" altLang="ru-RU" sz="800" dirty="0"/>
              <a:t>) — вместе с пивом часто покупают орешки.</a:t>
            </a:r>
          </a:p>
          <a:p>
            <a:pPr>
              <a:lnSpc>
                <a:spcPct val="80000"/>
              </a:lnSpc>
            </a:pPr>
            <a:r>
              <a:rPr lang="ru-RU" altLang="ru-RU" sz="800" dirty="0"/>
              <a:t>· Анализ отклонений — Например, выявление нетипичной сетевой активности позволяет обнаружить вредоносные программы.</a:t>
            </a:r>
          </a:p>
          <a:p>
            <a:pPr>
              <a:lnSpc>
                <a:spcPct val="80000"/>
              </a:lnSpc>
            </a:pPr>
            <a:r>
              <a:rPr lang="ru-RU" altLang="ru-RU" sz="800" dirty="0"/>
              <a:t>· Визуализация</a:t>
            </a:r>
          </a:p>
          <a:p>
            <a:pPr>
              <a:lnSpc>
                <a:spcPct val="80000"/>
              </a:lnSpc>
            </a:pPr>
            <a:r>
              <a:rPr lang="ru-RU" altLang="ru-RU" sz="800" b="1" i="1" dirty="0"/>
              <a:t>Задачи </a:t>
            </a:r>
            <a:r>
              <a:rPr lang="en-US" altLang="ru-RU" sz="800" b="1" i="1" dirty="0"/>
              <a:t>Data Analysis</a:t>
            </a:r>
            <a:r>
              <a:rPr lang="ru-RU" altLang="ru-RU" sz="800" b="1" i="1" dirty="0"/>
              <a:t>: </a:t>
            </a:r>
            <a:endParaRPr lang="ru-RU" altLang="ru-RU" sz="800" dirty="0"/>
          </a:p>
          <a:p>
            <a:pPr>
              <a:lnSpc>
                <a:spcPct val="80000"/>
              </a:lnSpc>
            </a:pPr>
            <a:r>
              <a:rPr lang="ru-RU" altLang="ru-RU" sz="800" dirty="0"/>
              <a:t>1. Классификация (</a:t>
            </a:r>
            <a:r>
              <a:rPr lang="ru-RU" altLang="ru-RU" sz="800" dirty="0" err="1"/>
              <a:t>Classification</a:t>
            </a:r>
            <a:r>
              <a:rPr lang="ru-RU" altLang="ru-RU" sz="800" dirty="0"/>
              <a:t>)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a:t>
            </a:r>
            <a:r>
              <a:rPr lang="ru-RU" altLang="ru-RU" sz="800" dirty="0" err="1"/>
              <a:t>Nearest</a:t>
            </a:r>
            <a:r>
              <a:rPr lang="ru-RU" altLang="ru-RU" sz="800" dirty="0"/>
              <a:t> </a:t>
            </a:r>
            <a:r>
              <a:rPr lang="ru-RU" altLang="ru-RU" sz="800" dirty="0" err="1"/>
              <a:t>Neighbor</a:t>
            </a:r>
            <a:r>
              <a:rPr lang="ru-RU" altLang="ru-RU" sz="800" dirty="0"/>
              <a:t>) к-ближайших сосед (k-</a:t>
            </a:r>
            <a:r>
              <a:rPr lang="ru-RU" altLang="ru-RU" sz="800" dirty="0" err="1"/>
              <a:t>Nearest</a:t>
            </a:r>
            <a:r>
              <a:rPr lang="ru-RU" altLang="ru-RU" sz="800" dirty="0"/>
              <a:t> </a:t>
            </a:r>
            <a:r>
              <a:rPr lang="ru-RU" altLang="ru-RU" sz="800" dirty="0" err="1"/>
              <a:t>Neighbor</a:t>
            </a:r>
            <a:r>
              <a:rPr lang="ru-RU" altLang="ru-RU" sz="800" dirty="0"/>
              <a:t>) </a:t>
            </a:r>
            <a:r>
              <a:rPr lang="ru-RU" altLang="ru-RU" sz="800" dirty="0" err="1"/>
              <a:t>Байе-Совские</a:t>
            </a:r>
            <a:r>
              <a:rPr lang="ru-RU" altLang="ru-RU" sz="800" dirty="0"/>
              <a:t> сети (</a:t>
            </a:r>
            <a:r>
              <a:rPr lang="ru-RU" altLang="ru-RU" sz="800" dirty="0" err="1"/>
              <a:t>Bayesian</a:t>
            </a:r>
            <a:r>
              <a:rPr lang="ru-RU" altLang="ru-RU" sz="800" dirty="0"/>
              <a:t> </a:t>
            </a:r>
            <a:r>
              <a:rPr lang="ru-RU" altLang="ru-RU" sz="800" dirty="0" err="1"/>
              <a:t>Networks</a:t>
            </a:r>
            <a:r>
              <a:rPr lang="ru-RU" altLang="ru-RU" sz="800" dirty="0"/>
              <a:t>) индукция деревьев решений; нейронные сети (</a:t>
            </a:r>
            <a:r>
              <a:rPr lang="ru-RU" altLang="ru-RU" sz="800" dirty="0" err="1"/>
              <a:t>neural</a:t>
            </a:r>
            <a:r>
              <a:rPr lang="ru-RU" altLang="ru-RU" sz="800" dirty="0"/>
              <a:t> </a:t>
            </a:r>
            <a:r>
              <a:rPr lang="ru-RU" altLang="ru-RU" sz="800" dirty="0" err="1"/>
              <a:t>networks</a:t>
            </a:r>
            <a:r>
              <a:rPr lang="ru-RU" altLang="ru-RU" sz="800" dirty="0"/>
              <a:t>).</a:t>
            </a:r>
          </a:p>
          <a:p>
            <a:pPr>
              <a:lnSpc>
                <a:spcPct val="80000"/>
              </a:lnSpc>
            </a:pPr>
            <a:r>
              <a:rPr lang="ru-RU" altLang="ru-RU" sz="800" dirty="0"/>
              <a:t>2. Кластеризация (</a:t>
            </a:r>
            <a:r>
              <a:rPr lang="ru-RU" altLang="ru-RU" sz="800" dirty="0" err="1"/>
              <a:t>Clustering</a:t>
            </a:r>
            <a:r>
              <a:rPr lang="ru-RU" altLang="ru-RU" sz="800" dirty="0"/>
              <a:t>) - результатом ее является разделение объектов на группы.</a:t>
            </a:r>
          </a:p>
          <a:p>
            <a:pPr>
              <a:lnSpc>
                <a:spcPct val="80000"/>
              </a:lnSpc>
            </a:pPr>
            <a:r>
              <a:rPr lang="ru-RU" altLang="ru-RU" sz="800" dirty="0"/>
              <a:t>3. Ассоциация (</a:t>
            </a:r>
            <a:r>
              <a:rPr lang="ru-RU" altLang="ru-RU" sz="800" dirty="0" err="1"/>
              <a:t>Associations</a:t>
            </a:r>
            <a:r>
              <a:rPr lang="ru-RU" altLang="ru-RU" sz="800" dirty="0"/>
              <a:t>) - находят закономерности между связанными событиями в наборе данных. Наиболее известный алгоритм решения задачи поиска ассоциативных правил - алгоритм </a:t>
            </a:r>
            <a:r>
              <a:rPr lang="ru-RU" altLang="ru-RU" sz="800" dirty="0" err="1"/>
              <a:t>Аргиоги</a:t>
            </a:r>
            <a:r>
              <a:rPr lang="ru-RU" altLang="ru-RU" sz="800" dirty="0"/>
              <a:t>.</a:t>
            </a:r>
          </a:p>
          <a:p>
            <a:pPr>
              <a:lnSpc>
                <a:spcPct val="80000"/>
              </a:lnSpc>
            </a:pPr>
            <a:r>
              <a:rPr lang="ru-RU" altLang="ru-RU" sz="800" dirty="0"/>
              <a:t>4. Последовательность (</a:t>
            </a:r>
            <a:r>
              <a:rPr lang="ru-RU" altLang="ru-RU" sz="800" dirty="0" err="1"/>
              <a:t>Sequence</a:t>
            </a:r>
            <a:r>
              <a:rPr lang="ru-RU" altLang="ru-RU" sz="800" dirty="0"/>
              <a:t>), или последовательная ассоциация (</a:t>
            </a:r>
            <a:r>
              <a:rPr lang="ru-RU" altLang="ru-RU" sz="800" dirty="0" err="1"/>
              <a:t>sequential</a:t>
            </a:r>
            <a:r>
              <a:rPr lang="ru-RU" altLang="ru-RU" sz="800" dirty="0"/>
              <a:t> </a:t>
            </a:r>
            <a:r>
              <a:rPr lang="ru-RU" altLang="ru-RU" sz="800" dirty="0" err="1"/>
              <a:t>association</a:t>
            </a:r>
            <a:r>
              <a:rPr lang="ru-RU" altLang="ru-RU" sz="800" dirty="0"/>
              <a:t>)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p>
          <a:p>
            <a:pPr>
              <a:lnSpc>
                <a:spcPct val="80000"/>
              </a:lnSpc>
            </a:pPr>
            <a:r>
              <a:rPr lang="ru-RU" altLang="ru-RU" sz="800" dirty="0"/>
              <a:t>5. Прогнозирование (</a:t>
            </a:r>
            <a:r>
              <a:rPr lang="ru-RU" altLang="ru-RU" sz="800" dirty="0" err="1"/>
              <a:t>Forecasting</a:t>
            </a:r>
            <a:r>
              <a:rPr lang="ru-RU" altLang="ru-RU" sz="800" dirty="0"/>
              <a:t>)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p>
          <a:p>
            <a:pPr>
              <a:lnSpc>
                <a:spcPct val="80000"/>
              </a:lnSpc>
            </a:pPr>
            <a:r>
              <a:rPr lang="ru-RU" altLang="ru-RU" sz="800" dirty="0"/>
              <a:t>6. Определение отклонений (</a:t>
            </a:r>
            <a:r>
              <a:rPr lang="ru-RU" altLang="ru-RU" sz="800" dirty="0" err="1"/>
              <a:t>Deviation</a:t>
            </a:r>
            <a:r>
              <a:rPr lang="ru-RU" altLang="ru-RU" sz="800" dirty="0"/>
              <a:t> </a:t>
            </a:r>
            <a:r>
              <a:rPr lang="ru-RU" altLang="ru-RU" sz="800" dirty="0" err="1"/>
              <a:t>Detection</a:t>
            </a:r>
            <a:r>
              <a:rPr lang="ru-RU" altLang="ru-RU" sz="800" dirty="0"/>
              <a:t>), анализ отклонений или выбросов - выявление и анализ данных, наиболее отличаются от общей численности данных, выявление нехарактерных шаблонов.</a:t>
            </a:r>
          </a:p>
          <a:p>
            <a:pPr>
              <a:lnSpc>
                <a:spcPct val="80000"/>
              </a:lnSpc>
            </a:pPr>
            <a:r>
              <a:rPr lang="ru-RU" altLang="ru-RU" sz="800" dirty="0"/>
              <a:t>7. Оценка (</a:t>
            </a:r>
            <a:r>
              <a:rPr lang="ru-RU" altLang="ru-RU" sz="800" dirty="0" err="1"/>
              <a:t>Estimation</a:t>
            </a:r>
            <a:r>
              <a:rPr lang="ru-RU" altLang="ru-RU" sz="800" dirty="0"/>
              <a:t>) - сводится к прогнозу непрерывных значений признаков.</a:t>
            </a:r>
          </a:p>
          <a:p>
            <a:pPr>
              <a:lnSpc>
                <a:spcPct val="80000"/>
              </a:lnSpc>
            </a:pPr>
            <a:r>
              <a:rPr lang="ru-RU" altLang="ru-RU" sz="800" dirty="0"/>
              <a:t>8. Анализ связей (</a:t>
            </a:r>
            <a:r>
              <a:rPr lang="ru-RU" altLang="ru-RU" sz="800" dirty="0" err="1"/>
              <a:t>Link</a:t>
            </a:r>
            <a:r>
              <a:rPr lang="ru-RU" altLang="ru-RU" sz="800" dirty="0"/>
              <a:t> </a:t>
            </a:r>
            <a:r>
              <a:rPr lang="ru-RU" altLang="ru-RU" sz="800" dirty="0" err="1"/>
              <a:t>Analysis</a:t>
            </a:r>
            <a:r>
              <a:rPr lang="ru-RU" altLang="ru-RU" sz="800" dirty="0"/>
              <a:t>) - задача нахождения зависимостей в наборе данных.</a:t>
            </a:r>
          </a:p>
          <a:p>
            <a:pPr>
              <a:lnSpc>
                <a:spcPct val="80000"/>
              </a:lnSpc>
            </a:pPr>
            <a:r>
              <a:rPr lang="ru-RU" altLang="ru-RU" sz="800" dirty="0"/>
              <a:t>9. Визуализация (</a:t>
            </a:r>
            <a:r>
              <a:rPr lang="ru-RU" altLang="ru-RU" sz="800" dirty="0" err="1"/>
              <a:t>Visualization</a:t>
            </a:r>
            <a:r>
              <a:rPr lang="ru-RU" altLang="ru-RU" sz="800" dirty="0"/>
              <a:t>, </a:t>
            </a:r>
            <a:r>
              <a:rPr lang="ru-RU" altLang="ru-RU" sz="800" dirty="0" err="1"/>
              <a:t>Graph</a:t>
            </a:r>
            <a:r>
              <a:rPr lang="ru-RU" altLang="ru-RU" sz="800" dirty="0"/>
              <a:t> </a:t>
            </a:r>
            <a:r>
              <a:rPr lang="ru-RU" altLang="ru-RU" sz="800" dirty="0" err="1"/>
              <a:t>Mining</a:t>
            </a:r>
            <a:r>
              <a:rPr lang="ru-RU" altLang="ru-RU" sz="8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a:lnSpc>
                <a:spcPct val="80000"/>
              </a:lnSpc>
            </a:pPr>
            <a:r>
              <a:rPr lang="ru-RU" altLang="ru-RU" sz="800" dirty="0"/>
              <a:t>10. Подведение итогов (</a:t>
            </a:r>
            <a:r>
              <a:rPr lang="ru-RU" altLang="ru-RU" sz="800" dirty="0" err="1"/>
              <a:t>Summarization</a:t>
            </a:r>
            <a:r>
              <a:rPr lang="ru-RU" altLang="ru-RU" sz="800" dirty="0"/>
              <a:t>) - описание конкретных групп объектов с помощью рассматриваемого набора данных.</a:t>
            </a:r>
          </a:p>
        </p:txBody>
      </p:sp>
    </p:spTree>
    <p:extLst>
      <p:ext uri="{BB962C8B-B14F-4D97-AF65-F5344CB8AC3E}">
        <p14:creationId xmlns:p14="http://schemas.microsoft.com/office/powerpoint/2010/main" val="6903234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AB32EF30-0A9B-475D-AE52-5B22548AAC26}" type="slidenum">
              <a:rPr lang="ru-RU" altLang="ru-RU" smtClean="0">
                <a:latin typeface="Times New Roman" panose="02020603050405020304" pitchFamily="18" charset="0"/>
              </a:rPr>
              <a:pPr/>
              <a:t>17</a:t>
            </a:fld>
            <a:endParaRPr lang="ru-RU" altLang="ru-RU">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xfrm>
            <a:off x="382588" y="685800"/>
            <a:ext cx="6092825" cy="3429000"/>
          </a:xfrm>
          <a:ln/>
        </p:spPr>
      </p:sp>
      <p:sp>
        <p:nvSpPr>
          <p:cNvPr id="24580" name="Rectangle 3"/>
          <p:cNvSpPr>
            <a:spLocks noGrp="1" noChangeArrowheads="1"/>
          </p:cNvSpPr>
          <p:nvPr>
            <p:ph type="body" idx="1"/>
          </p:nvPr>
        </p:nvSpPr>
        <p:spPr>
          <a:noFill/>
        </p:spPr>
        <p:txBody>
          <a:bodyPr/>
          <a:lstStyle/>
          <a:p>
            <a:pPr>
              <a:lnSpc>
                <a:spcPct val="80000"/>
              </a:lnSpc>
            </a:pPr>
            <a:r>
              <a:rPr lang="ru-RU" altLang="ru-RU" sz="800" dirty="0"/>
              <a:t>Задачи, решаемые </a:t>
            </a:r>
            <a:r>
              <a:rPr lang="en-US" altLang="ru-RU" sz="800" dirty="0"/>
              <a:t>Data Analysis</a:t>
            </a:r>
            <a:endParaRPr lang="ru-RU" altLang="ru-RU" sz="800" dirty="0"/>
          </a:p>
          <a:p>
            <a:pPr>
              <a:lnSpc>
                <a:spcPct val="80000"/>
              </a:lnSpc>
            </a:pPr>
            <a:r>
              <a:rPr lang="ru-RU" altLang="ru-RU" sz="800" dirty="0"/>
              <a:t>· Классификация — отнесение входного вектора (объекта, события, наблюдения) к одному из заранее известных классов.</a:t>
            </a:r>
          </a:p>
          <a:p>
            <a:pPr>
              <a:lnSpc>
                <a:spcPct val="80000"/>
              </a:lnSpc>
            </a:pPr>
            <a:r>
              <a:rPr lang="ru-RU" altLang="ru-RU" sz="800" dirty="0"/>
              <a:t>· Кластеризация — разделение множества входных векторов на группы (кластеры) по степени «похожести» друг на друга.</a:t>
            </a:r>
          </a:p>
          <a:p>
            <a:pPr>
              <a:lnSpc>
                <a:spcPct val="80000"/>
              </a:lnSpc>
            </a:pPr>
            <a:r>
              <a:rPr lang="ru-RU" altLang="ru-RU" sz="800" dirty="0"/>
              <a:t>· Прогнозирование</a:t>
            </a:r>
          </a:p>
          <a:p>
            <a:pPr>
              <a:lnSpc>
                <a:spcPct val="80000"/>
              </a:lnSpc>
            </a:pPr>
            <a:r>
              <a:rPr lang="ru-RU" altLang="ru-RU" sz="800" dirty="0"/>
              <a:t>· Сокращение описания — для визуализации данных, лаконизма моделей, упрощения счета и интерпретации, сжатия объемов собираемой и хранимой информации.</a:t>
            </a:r>
          </a:p>
          <a:p>
            <a:pPr>
              <a:lnSpc>
                <a:spcPct val="80000"/>
              </a:lnSpc>
            </a:pPr>
            <a:r>
              <a:rPr lang="ru-RU" altLang="ru-RU" sz="800" dirty="0"/>
              <a:t>· Ассоциация — поиск повторяющихся образцов. Например, поиск «устойчивых связей в корзине покупателя» (англ. </a:t>
            </a:r>
            <a:r>
              <a:rPr lang="ru-RU" altLang="ru-RU" sz="800" dirty="0" err="1"/>
              <a:t>market</a:t>
            </a:r>
            <a:r>
              <a:rPr lang="ru-RU" altLang="ru-RU" sz="800" dirty="0"/>
              <a:t> </a:t>
            </a:r>
            <a:r>
              <a:rPr lang="ru-RU" altLang="ru-RU" sz="800" dirty="0" err="1"/>
              <a:t>basket</a:t>
            </a:r>
            <a:r>
              <a:rPr lang="ru-RU" altLang="ru-RU" sz="800" dirty="0"/>
              <a:t> </a:t>
            </a:r>
            <a:r>
              <a:rPr lang="ru-RU" altLang="ru-RU" sz="800" dirty="0" err="1"/>
              <a:t>analysis</a:t>
            </a:r>
            <a:r>
              <a:rPr lang="ru-RU" altLang="ru-RU" sz="800" dirty="0"/>
              <a:t>) — вместе с пивом часто покупают орешки.</a:t>
            </a:r>
          </a:p>
          <a:p>
            <a:pPr>
              <a:lnSpc>
                <a:spcPct val="80000"/>
              </a:lnSpc>
            </a:pPr>
            <a:r>
              <a:rPr lang="ru-RU" altLang="ru-RU" sz="800" dirty="0"/>
              <a:t>· Анализ отклонений — Например, выявление нетипичной сетевой активности позволяет обнаружить вредоносные программы.</a:t>
            </a:r>
          </a:p>
          <a:p>
            <a:pPr>
              <a:lnSpc>
                <a:spcPct val="80000"/>
              </a:lnSpc>
            </a:pPr>
            <a:r>
              <a:rPr lang="ru-RU" altLang="ru-RU" sz="800" dirty="0"/>
              <a:t>· Визуализация</a:t>
            </a:r>
          </a:p>
          <a:p>
            <a:pPr>
              <a:lnSpc>
                <a:spcPct val="80000"/>
              </a:lnSpc>
            </a:pPr>
            <a:r>
              <a:rPr lang="ru-RU" altLang="ru-RU" sz="800" b="1" i="1" dirty="0"/>
              <a:t>Задачи </a:t>
            </a:r>
            <a:r>
              <a:rPr lang="en-US" altLang="ru-RU" sz="800" b="1" i="1" dirty="0"/>
              <a:t>Data Analysis</a:t>
            </a:r>
            <a:r>
              <a:rPr lang="ru-RU" altLang="ru-RU" sz="800" b="1" i="1" dirty="0"/>
              <a:t>: </a:t>
            </a:r>
            <a:endParaRPr lang="ru-RU" altLang="ru-RU" sz="800" dirty="0"/>
          </a:p>
          <a:p>
            <a:pPr>
              <a:lnSpc>
                <a:spcPct val="80000"/>
              </a:lnSpc>
            </a:pPr>
            <a:r>
              <a:rPr lang="ru-RU" altLang="ru-RU" sz="800" dirty="0"/>
              <a:t>1. Классификация (</a:t>
            </a:r>
            <a:r>
              <a:rPr lang="ru-RU" altLang="ru-RU" sz="800" dirty="0" err="1"/>
              <a:t>Classification</a:t>
            </a:r>
            <a:r>
              <a:rPr lang="ru-RU" altLang="ru-RU" sz="800" dirty="0"/>
              <a:t>)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a:t>
            </a:r>
            <a:r>
              <a:rPr lang="ru-RU" altLang="ru-RU" sz="800" dirty="0" err="1"/>
              <a:t>Nearest</a:t>
            </a:r>
            <a:r>
              <a:rPr lang="ru-RU" altLang="ru-RU" sz="800" dirty="0"/>
              <a:t> </a:t>
            </a:r>
            <a:r>
              <a:rPr lang="ru-RU" altLang="ru-RU" sz="800" dirty="0" err="1"/>
              <a:t>Neighbor</a:t>
            </a:r>
            <a:r>
              <a:rPr lang="ru-RU" altLang="ru-RU" sz="800" dirty="0"/>
              <a:t>) к-ближайших сосед (k-</a:t>
            </a:r>
            <a:r>
              <a:rPr lang="ru-RU" altLang="ru-RU" sz="800" dirty="0" err="1"/>
              <a:t>Nearest</a:t>
            </a:r>
            <a:r>
              <a:rPr lang="ru-RU" altLang="ru-RU" sz="800" dirty="0"/>
              <a:t> </a:t>
            </a:r>
            <a:r>
              <a:rPr lang="ru-RU" altLang="ru-RU" sz="800" dirty="0" err="1"/>
              <a:t>Neighbor</a:t>
            </a:r>
            <a:r>
              <a:rPr lang="ru-RU" altLang="ru-RU" sz="800" dirty="0"/>
              <a:t>) </a:t>
            </a:r>
            <a:r>
              <a:rPr lang="ru-RU" altLang="ru-RU" sz="800" dirty="0" err="1"/>
              <a:t>Байе-Совские</a:t>
            </a:r>
            <a:r>
              <a:rPr lang="ru-RU" altLang="ru-RU" sz="800" dirty="0"/>
              <a:t> сети (</a:t>
            </a:r>
            <a:r>
              <a:rPr lang="ru-RU" altLang="ru-RU" sz="800" dirty="0" err="1"/>
              <a:t>Bayesian</a:t>
            </a:r>
            <a:r>
              <a:rPr lang="ru-RU" altLang="ru-RU" sz="800" dirty="0"/>
              <a:t> </a:t>
            </a:r>
            <a:r>
              <a:rPr lang="ru-RU" altLang="ru-RU" sz="800" dirty="0" err="1"/>
              <a:t>Networks</a:t>
            </a:r>
            <a:r>
              <a:rPr lang="ru-RU" altLang="ru-RU" sz="800" dirty="0"/>
              <a:t>) индукция деревьев решений; нейронные сети (</a:t>
            </a:r>
            <a:r>
              <a:rPr lang="ru-RU" altLang="ru-RU" sz="800" dirty="0" err="1"/>
              <a:t>neural</a:t>
            </a:r>
            <a:r>
              <a:rPr lang="ru-RU" altLang="ru-RU" sz="800" dirty="0"/>
              <a:t> </a:t>
            </a:r>
            <a:r>
              <a:rPr lang="ru-RU" altLang="ru-RU" sz="800" dirty="0" err="1"/>
              <a:t>networks</a:t>
            </a:r>
            <a:r>
              <a:rPr lang="ru-RU" altLang="ru-RU" sz="800" dirty="0"/>
              <a:t>).</a:t>
            </a:r>
          </a:p>
          <a:p>
            <a:pPr>
              <a:lnSpc>
                <a:spcPct val="80000"/>
              </a:lnSpc>
            </a:pPr>
            <a:r>
              <a:rPr lang="ru-RU" altLang="ru-RU" sz="800" dirty="0"/>
              <a:t>2. Кластеризация (</a:t>
            </a:r>
            <a:r>
              <a:rPr lang="ru-RU" altLang="ru-RU" sz="800" dirty="0" err="1"/>
              <a:t>Clustering</a:t>
            </a:r>
            <a:r>
              <a:rPr lang="ru-RU" altLang="ru-RU" sz="800" dirty="0"/>
              <a:t>) - результатом ее является разделение объектов на группы.</a:t>
            </a:r>
          </a:p>
          <a:p>
            <a:pPr>
              <a:lnSpc>
                <a:spcPct val="80000"/>
              </a:lnSpc>
            </a:pPr>
            <a:r>
              <a:rPr lang="ru-RU" altLang="ru-RU" sz="800" dirty="0"/>
              <a:t>3. Ассоциация (</a:t>
            </a:r>
            <a:r>
              <a:rPr lang="ru-RU" altLang="ru-RU" sz="800" dirty="0" err="1"/>
              <a:t>Associations</a:t>
            </a:r>
            <a:r>
              <a:rPr lang="ru-RU" altLang="ru-RU" sz="800" dirty="0"/>
              <a:t>) - находят закономерности между связанными событиями в наборе данных. Наиболее известный алгоритм решения задачи поиска ассоциативных правил - алгоритм </a:t>
            </a:r>
            <a:r>
              <a:rPr lang="ru-RU" altLang="ru-RU" sz="800" dirty="0" err="1"/>
              <a:t>Аргиоги</a:t>
            </a:r>
            <a:r>
              <a:rPr lang="ru-RU" altLang="ru-RU" sz="800" dirty="0"/>
              <a:t>.</a:t>
            </a:r>
          </a:p>
          <a:p>
            <a:pPr>
              <a:lnSpc>
                <a:spcPct val="80000"/>
              </a:lnSpc>
            </a:pPr>
            <a:r>
              <a:rPr lang="ru-RU" altLang="ru-RU" sz="800" dirty="0"/>
              <a:t>4. Последовательность (</a:t>
            </a:r>
            <a:r>
              <a:rPr lang="ru-RU" altLang="ru-RU" sz="800" dirty="0" err="1"/>
              <a:t>Sequence</a:t>
            </a:r>
            <a:r>
              <a:rPr lang="ru-RU" altLang="ru-RU" sz="800" dirty="0"/>
              <a:t>), или последовательная ассоциация (</a:t>
            </a:r>
            <a:r>
              <a:rPr lang="ru-RU" altLang="ru-RU" sz="800" dirty="0" err="1"/>
              <a:t>sequential</a:t>
            </a:r>
            <a:r>
              <a:rPr lang="ru-RU" altLang="ru-RU" sz="800" dirty="0"/>
              <a:t> </a:t>
            </a:r>
            <a:r>
              <a:rPr lang="ru-RU" altLang="ru-RU" sz="800" dirty="0" err="1"/>
              <a:t>association</a:t>
            </a:r>
            <a:r>
              <a:rPr lang="ru-RU" altLang="ru-RU" sz="800" dirty="0"/>
              <a:t>)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p>
          <a:p>
            <a:pPr>
              <a:lnSpc>
                <a:spcPct val="80000"/>
              </a:lnSpc>
            </a:pPr>
            <a:r>
              <a:rPr lang="ru-RU" altLang="ru-RU" sz="800" dirty="0"/>
              <a:t>5. Прогнозирование (</a:t>
            </a:r>
            <a:r>
              <a:rPr lang="ru-RU" altLang="ru-RU" sz="800" dirty="0" err="1"/>
              <a:t>Forecasting</a:t>
            </a:r>
            <a:r>
              <a:rPr lang="ru-RU" altLang="ru-RU" sz="800" dirty="0"/>
              <a:t>)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p>
          <a:p>
            <a:pPr>
              <a:lnSpc>
                <a:spcPct val="80000"/>
              </a:lnSpc>
            </a:pPr>
            <a:r>
              <a:rPr lang="ru-RU" altLang="ru-RU" sz="800" dirty="0"/>
              <a:t>6. Определение отклонений (</a:t>
            </a:r>
            <a:r>
              <a:rPr lang="ru-RU" altLang="ru-RU" sz="800" dirty="0" err="1"/>
              <a:t>Deviation</a:t>
            </a:r>
            <a:r>
              <a:rPr lang="ru-RU" altLang="ru-RU" sz="800" dirty="0"/>
              <a:t> </a:t>
            </a:r>
            <a:r>
              <a:rPr lang="ru-RU" altLang="ru-RU" sz="800" dirty="0" err="1"/>
              <a:t>Detection</a:t>
            </a:r>
            <a:r>
              <a:rPr lang="ru-RU" altLang="ru-RU" sz="800" dirty="0"/>
              <a:t>), анализ отклонений или выбросов - выявление и анализ данных, наиболее отличаются от общей численности данных, выявление нехарактерных шаблонов.</a:t>
            </a:r>
          </a:p>
          <a:p>
            <a:pPr>
              <a:lnSpc>
                <a:spcPct val="80000"/>
              </a:lnSpc>
            </a:pPr>
            <a:r>
              <a:rPr lang="ru-RU" altLang="ru-RU" sz="800" dirty="0"/>
              <a:t>7. Оценка (</a:t>
            </a:r>
            <a:r>
              <a:rPr lang="ru-RU" altLang="ru-RU" sz="800" dirty="0" err="1"/>
              <a:t>Estimation</a:t>
            </a:r>
            <a:r>
              <a:rPr lang="ru-RU" altLang="ru-RU" sz="800" dirty="0"/>
              <a:t>) - сводится к прогнозу непрерывных значений признаков.</a:t>
            </a:r>
          </a:p>
          <a:p>
            <a:pPr>
              <a:lnSpc>
                <a:spcPct val="80000"/>
              </a:lnSpc>
            </a:pPr>
            <a:r>
              <a:rPr lang="ru-RU" altLang="ru-RU" sz="800" dirty="0"/>
              <a:t>8. Анализ связей (</a:t>
            </a:r>
            <a:r>
              <a:rPr lang="ru-RU" altLang="ru-RU" sz="800" dirty="0" err="1"/>
              <a:t>Link</a:t>
            </a:r>
            <a:r>
              <a:rPr lang="ru-RU" altLang="ru-RU" sz="800" dirty="0"/>
              <a:t> </a:t>
            </a:r>
            <a:r>
              <a:rPr lang="ru-RU" altLang="ru-RU" sz="800" dirty="0" err="1"/>
              <a:t>Analysis</a:t>
            </a:r>
            <a:r>
              <a:rPr lang="ru-RU" altLang="ru-RU" sz="800" dirty="0"/>
              <a:t>) - задача нахождения зависимостей в наборе данных.</a:t>
            </a:r>
          </a:p>
          <a:p>
            <a:pPr>
              <a:lnSpc>
                <a:spcPct val="80000"/>
              </a:lnSpc>
            </a:pPr>
            <a:r>
              <a:rPr lang="ru-RU" altLang="ru-RU" sz="800" dirty="0"/>
              <a:t>9. Визуализация (</a:t>
            </a:r>
            <a:r>
              <a:rPr lang="ru-RU" altLang="ru-RU" sz="800" dirty="0" err="1"/>
              <a:t>Visualization</a:t>
            </a:r>
            <a:r>
              <a:rPr lang="ru-RU" altLang="ru-RU" sz="800" dirty="0"/>
              <a:t>, </a:t>
            </a:r>
            <a:r>
              <a:rPr lang="ru-RU" altLang="ru-RU" sz="800" dirty="0" err="1"/>
              <a:t>Graph</a:t>
            </a:r>
            <a:r>
              <a:rPr lang="ru-RU" altLang="ru-RU" sz="800" dirty="0"/>
              <a:t> </a:t>
            </a:r>
            <a:r>
              <a:rPr lang="ru-RU" altLang="ru-RU" sz="800" dirty="0" err="1"/>
              <a:t>Mining</a:t>
            </a:r>
            <a:r>
              <a:rPr lang="ru-RU" altLang="ru-RU" sz="8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a:lnSpc>
                <a:spcPct val="80000"/>
              </a:lnSpc>
            </a:pPr>
            <a:r>
              <a:rPr lang="ru-RU" altLang="ru-RU" sz="800" dirty="0"/>
              <a:t>10. Подведение итогов (</a:t>
            </a:r>
            <a:r>
              <a:rPr lang="ru-RU" altLang="ru-RU" sz="800" dirty="0" err="1"/>
              <a:t>Summarization</a:t>
            </a:r>
            <a:r>
              <a:rPr lang="ru-RU" altLang="ru-RU" sz="800" dirty="0"/>
              <a:t>) - описание конкретных групп объектов с помощью рассматриваемого набора данных.</a:t>
            </a:r>
          </a:p>
        </p:txBody>
      </p:sp>
    </p:spTree>
    <p:extLst>
      <p:ext uri="{BB962C8B-B14F-4D97-AF65-F5344CB8AC3E}">
        <p14:creationId xmlns:p14="http://schemas.microsoft.com/office/powerpoint/2010/main" val="1713268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583F6293-E4D3-405C-804B-069F7EC16C2E}" type="slidenum">
              <a:rPr lang="ru-RU" altLang="ru-RU" smtClean="0">
                <a:latin typeface="Times New Roman" panose="02020603050405020304" pitchFamily="18" charset="0"/>
              </a:rPr>
              <a:pPr/>
              <a:t>18</a:t>
            </a:fld>
            <a:endParaRPr lang="ru-RU" altLang="ru-RU">
              <a:latin typeface="Times New Roman" panose="02020603050405020304" pitchFamily="18" charset="0"/>
            </a:endParaRPr>
          </a:p>
        </p:txBody>
      </p:sp>
      <p:sp>
        <p:nvSpPr>
          <p:cNvPr id="26627" name="Rectangle 2"/>
          <p:cNvSpPr>
            <a:spLocks noGrp="1" noRot="1" noChangeAspect="1" noChangeArrowheads="1" noTextEdit="1"/>
          </p:cNvSpPr>
          <p:nvPr>
            <p:ph type="sldImg"/>
          </p:nvPr>
        </p:nvSpPr>
        <p:spPr>
          <a:xfrm>
            <a:off x="382588" y="685800"/>
            <a:ext cx="6092825" cy="3429000"/>
          </a:xfrm>
          <a:ln/>
        </p:spPr>
      </p:sp>
      <p:sp>
        <p:nvSpPr>
          <p:cNvPr id="26628" name="Rectangle 3"/>
          <p:cNvSpPr>
            <a:spLocks noGrp="1" noChangeArrowheads="1"/>
          </p:cNvSpPr>
          <p:nvPr>
            <p:ph type="body" idx="1"/>
          </p:nvPr>
        </p:nvSpPr>
        <p:spPr>
          <a:noFill/>
        </p:spPr>
        <p:txBody>
          <a:bodyPr/>
          <a:lstStyle/>
          <a:p>
            <a:pPr>
              <a:lnSpc>
                <a:spcPct val="80000"/>
              </a:lnSpc>
            </a:pPr>
            <a:r>
              <a:rPr lang="ru-RU" altLang="ru-RU" sz="800" dirty="0"/>
              <a:t>Задачи, решаемые </a:t>
            </a:r>
            <a:r>
              <a:rPr lang="en-US" altLang="ru-RU" sz="800" dirty="0"/>
              <a:t>Data Analysis</a:t>
            </a:r>
            <a:endParaRPr lang="ru-RU" altLang="ru-RU" sz="800" dirty="0"/>
          </a:p>
          <a:p>
            <a:pPr>
              <a:lnSpc>
                <a:spcPct val="80000"/>
              </a:lnSpc>
            </a:pPr>
            <a:r>
              <a:rPr lang="ru-RU" altLang="ru-RU" sz="800" dirty="0"/>
              <a:t>· Классификация — отнесение входного вектора (объекта, события, наблюдения) к одному из заранее известных классов.</a:t>
            </a:r>
          </a:p>
          <a:p>
            <a:pPr>
              <a:lnSpc>
                <a:spcPct val="80000"/>
              </a:lnSpc>
            </a:pPr>
            <a:r>
              <a:rPr lang="ru-RU" altLang="ru-RU" sz="800" dirty="0"/>
              <a:t>· Кластеризация — разделение множества входных векторов на группы (кластеры) по степени «похожести» друг на друга.</a:t>
            </a:r>
          </a:p>
          <a:p>
            <a:pPr>
              <a:lnSpc>
                <a:spcPct val="80000"/>
              </a:lnSpc>
            </a:pPr>
            <a:r>
              <a:rPr lang="ru-RU" altLang="ru-RU" sz="800" dirty="0"/>
              <a:t>· Прогнозирование</a:t>
            </a:r>
          </a:p>
          <a:p>
            <a:pPr>
              <a:lnSpc>
                <a:spcPct val="80000"/>
              </a:lnSpc>
            </a:pPr>
            <a:r>
              <a:rPr lang="ru-RU" altLang="ru-RU" sz="800" dirty="0"/>
              <a:t>· Сокращение описания — для визуализации данных, лаконизма моделей, упрощения счета и интерпретации, сжатия объемов собираемой и хранимой информации.</a:t>
            </a:r>
          </a:p>
          <a:p>
            <a:pPr>
              <a:lnSpc>
                <a:spcPct val="80000"/>
              </a:lnSpc>
            </a:pPr>
            <a:r>
              <a:rPr lang="ru-RU" altLang="ru-RU" sz="800" dirty="0"/>
              <a:t>· Ассоциация — поиск повторяющихся образцов. Например, поиск «устойчивых связей в корзине покупателя» (англ. </a:t>
            </a:r>
            <a:r>
              <a:rPr lang="ru-RU" altLang="ru-RU" sz="800" dirty="0" err="1"/>
              <a:t>market</a:t>
            </a:r>
            <a:r>
              <a:rPr lang="ru-RU" altLang="ru-RU" sz="800" dirty="0"/>
              <a:t> </a:t>
            </a:r>
            <a:r>
              <a:rPr lang="ru-RU" altLang="ru-RU" sz="800" dirty="0" err="1"/>
              <a:t>basket</a:t>
            </a:r>
            <a:r>
              <a:rPr lang="ru-RU" altLang="ru-RU" sz="800" dirty="0"/>
              <a:t> </a:t>
            </a:r>
            <a:r>
              <a:rPr lang="ru-RU" altLang="ru-RU" sz="800" dirty="0" err="1"/>
              <a:t>analysis</a:t>
            </a:r>
            <a:r>
              <a:rPr lang="ru-RU" altLang="ru-RU" sz="800" dirty="0"/>
              <a:t>) — вместе с пивом часто покупают орешки.</a:t>
            </a:r>
          </a:p>
          <a:p>
            <a:pPr>
              <a:lnSpc>
                <a:spcPct val="80000"/>
              </a:lnSpc>
            </a:pPr>
            <a:r>
              <a:rPr lang="ru-RU" altLang="ru-RU" sz="800" dirty="0"/>
              <a:t>· Анализ отклонений — Например, выявление нетипичной сетевой активности позволяет обнаружить вредоносные программы.</a:t>
            </a:r>
          </a:p>
          <a:p>
            <a:pPr>
              <a:lnSpc>
                <a:spcPct val="80000"/>
              </a:lnSpc>
            </a:pPr>
            <a:r>
              <a:rPr lang="ru-RU" altLang="ru-RU" sz="800" dirty="0"/>
              <a:t>· Визуализация</a:t>
            </a:r>
          </a:p>
          <a:p>
            <a:pPr>
              <a:lnSpc>
                <a:spcPct val="80000"/>
              </a:lnSpc>
            </a:pPr>
            <a:r>
              <a:rPr lang="ru-RU" altLang="ru-RU" sz="800" b="1" i="1" dirty="0"/>
              <a:t>Задачи </a:t>
            </a:r>
            <a:r>
              <a:rPr lang="en-US" altLang="ru-RU" sz="800" b="1" i="1" dirty="0"/>
              <a:t>Data Analysis</a:t>
            </a:r>
            <a:r>
              <a:rPr lang="ru-RU" altLang="ru-RU" sz="800" b="1" i="1" dirty="0"/>
              <a:t>: </a:t>
            </a:r>
            <a:endParaRPr lang="ru-RU" altLang="ru-RU" sz="800" dirty="0"/>
          </a:p>
          <a:p>
            <a:pPr>
              <a:lnSpc>
                <a:spcPct val="80000"/>
              </a:lnSpc>
            </a:pPr>
            <a:r>
              <a:rPr lang="ru-RU" altLang="ru-RU" sz="800" dirty="0"/>
              <a:t>1. Классификация (</a:t>
            </a:r>
            <a:r>
              <a:rPr lang="ru-RU" altLang="ru-RU" sz="800" dirty="0" err="1"/>
              <a:t>Classification</a:t>
            </a:r>
            <a:r>
              <a:rPr lang="ru-RU" altLang="ru-RU" sz="800" dirty="0"/>
              <a:t>) - выявляются признаки, характеризующие группы объектов исследуемого набора данных - классы; по этим признакам новый объект можно отнести к тому или иному классу. Для решения задач классификации могут использоваться методы: ближайший сосед (</a:t>
            </a:r>
            <a:r>
              <a:rPr lang="ru-RU" altLang="ru-RU" sz="800" dirty="0" err="1"/>
              <a:t>Nearest</a:t>
            </a:r>
            <a:r>
              <a:rPr lang="ru-RU" altLang="ru-RU" sz="800" dirty="0"/>
              <a:t> </a:t>
            </a:r>
            <a:r>
              <a:rPr lang="ru-RU" altLang="ru-RU" sz="800" dirty="0" err="1"/>
              <a:t>Neighbor</a:t>
            </a:r>
            <a:r>
              <a:rPr lang="ru-RU" altLang="ru-RU" sz="800" dirty="0"/>
              <a:t>) к-ближайших сосед (k-</a:t>
            </a:r>
            <a:r>
              <a:rPr lang="ru-RU" altLang="ru-RU" sz="800" dirty="0" err="1"/>
              <a:t>Nearest</a:t>
            </a:r>
            <a:r>
              <a:rPr lang="ru-RU" altLang="ru-RU" sz="800" dirty="0"/>
              <a:t> </a:t>
            </a:r>
            <a:r>
              <a:rPr lang="ru-RU" altLang="ru-RU" sz="800" dirty="0" err="1"/>
              <a:t>Neighbor</a:t>
            </a:r>
            <a:r>
              <a:rPr lang="ru-RU" altLang="ru-RU" sz="800" dirty="0"/>
              <a:t>) </a:t>
            </a:r>
            <a:r>
              <a:rPr lang="ru-RU" altLang="ru-RU" sz="800" dirty="0" err="1"/>
              <a:t>Байе-Совские</a:t>
            </a:r>
            <a:r>
              <a:rPr lang="ru-RU" altLang="ru-RU" sz="800" dirty="0"/>
              <a:t> сети (</a:t>
            </a:r>
            <a:r>
              <a:rPr lang="ru-RU" altLang="ru-RU" sz="800" dirty="0" err="1"/>
              <a:t>Bayesian</a:t>
            </a:r>
            <a:r>
              <a:rPr lang="ru-RU" altLang="ru-RU" sz="800" dirty="0"/>
              <a:t> </a:t>
            </a:r>
            <a:r>
              <a:rPr lang="ru-RU" altLang="ru-RU" sz="800" dirty="0" err="1"/>
              <a:t>Networks</a:t>
            </a:r>
            <a:r>
              <a:rPr lang="ru-RU" altLang="ru-RU" sz="800" dirty="0"/>
              <a:t>) индукция деревьев решений; нейронные сети (</a:t>
            </a:r>
            <a:r>
              <a:rPr lang="ru-RU" altLang="ru-RU" sz="800" dirty="0" err="1"/>
              <a:t>neural</a:t>
            </a:r>
            <a:r>
              <a:rPr lang="ru-RU" altLang="ru-RU" sz="800" dirty="0"/>
              <a:t> </a:t>
            </a:r>
            <a:r>
              <a:rPr lang="ru-RU" altLang="ru-RU" sz="800" dirty="0" err="1"/>
              <a:t>networks</a:t>
            </a:r>
            <a:r>
              <a:rPr lang="ru-RU" altLang="ru-RU" sz="800" dirty="0"/>
              <a:t>).</a:t>
            </a:r>
          </a:p>
          <a:p>
            <a:pPr>
              <a:lnSpc>
                <a:spcPct val="80000"/>
              </a:lnSpc>
            </a:pPr>
            <a:r>
              <a:rPr lang="ru-RU" altLang="ru-RU" sz="800" dirty="0"/>
              <a:t>2. Кластеризация (</a:t>
            </a:r>
            <a:r>
              <a:rPr lang="ru-RU" altLang="ru-RU" sz="800" dirty="0" err="1"/>
              <a:t>Clustering</a:t>
            </a:r>
            <a:r>
              <a:rPr lang="ru-RU" altLang="ru-RU" sz="800" dirty="0"/>
              <a:t>) - результатом ее является разделение объектов на группы.</a:t>
            </a:r>
          </a:p>
          <a:p>
            <a:pPr>
              <a:lnSpc>
                <a:spcPct val="80000"/>
              </a:lnSpc>
            </a:pPr>
            <a:r>
              <a:rPr lang="ru-RU" altLang="ru-RU" sz="800" dirty="0"/>
              <a:t>3. Ассоциация (</a:t>
            </a:r>
            <a:r>
              <a:rPr lang="ru-RU" altLang="ru-RU" sz="800" dirty="0" err="1"/>
              <a:t>Associations</a:t>
            </a:r>
            <a:r>
              <a:rPr lang="ru-RU" altLang="ru-RU" sz="800" dirty="0"/>
              <a:t>) - находят закономерности между связанными событиями в наборе данных. Наиболее известный алгоритм решения задачи поиска ассоциативных правил - алгоритм </a:t>
            </a:r>
            <a:r>
              <a:rPr lang="ru-RU" altLang="ru-RU" sz="800" dirty="0" err="1"/>
              <a:t>Аргиоги</a:t>
            </a:r>
            <a:r>
              <a:rPr lang="ru-RU" altLang="ru-RU" sz="800" dirty="0"/>
              <a:t>.</a:t>
            </a:r>
          </a:p>
          <a:p>
            <a:pPr>
              <a:lnSpc>
                <a:spcPct val="80000"/>
              </a:lnSpc>
            </a:pPr>
            <a:r>
              <a:rPr lang="ru-RU" altLang="ru-RU" sz="800" dirty="0"/>
              <a:t>4. Последовательность (</a:t>
            </a:r>
            <a:r>
              <a:rPr lang="ru-RU" altLang="ru-RU" sz="800" dirty="0" err="1"/>
              <a:t>Sequence</a:t>
            </a:r>
            <a:r>
              <a:rPr lang="ru-RU" altLang="ru-RU" sz="800" dirty="0"/>
              <a:t>), или последовательная ассоциация (</a:t>
            </a:r>
            <a:r>
              <a:rPr lang="ru-RU" altLang="ru-RU" sz="800" dirty="0" err="1"/>
              <a:t>sequential</a:t>
            </a:r>
            <a:r>
              <a:rPr lang="ru-RU" altLang="ru-RU" sz="800" dirty="0"/>
              <a:t> </a:t>
            </a:r>
            <a:r>
              <a:rPr lang="ru-RU" altLang="ru-RU" sz="800" dirty="0" err="1"/>
              <a:t>association</a:t>
            </a:r>
            <a:r>
              <a:rPr lang="ru-RU" altLang="ru-RU" sz="800" dirty="0"/>
              <a:t>) - дает возможность найти временные закономерности между транзакциями. Задача последовательности вроде ассоциации, но ее целью является установление закономерностей между событиями, связанными по времени, т.е. последовательность определяется высокой вероятностью цепочки связанных по времени событий.</a:t>
            </a:r>
          </a:p>
          <a:p>
            <a:pPr>
              <a:lnSpc>
                <a:spcPct val="80000"/>
              </a:lnSpc>
            </a:pPr>
            <a:r>
              <a:rPr lang="ru-RU" altLang="ru-RU" sz="800" dirty="0"/>
              <a:t>5. Прогнозирование (</a:t>
            </a:r>
            <a:r>
              <a:rPr lang="ru-RU" altLang="ru-RU" sz="800" dirty="0" err="1"/>
              <a:t>Forecasting</a:t>
            </a:r>
            <a:r>
              <a:rPr lang="ru-RU" altLang="ru-RU" sz="800" dirty="0"/>
              <a:t>) - на основе особенностей исторических данных оцениваются будущие значения показателей. Применяются методы математической статистики, нейронные сети и т.п..</a:t>
            </a:r>
          </a:p>
          <a:p>
            <a:pPr>
              <a:lnSpc>
                <a:spcPct val="80000"/>
              </a:lnSpc>
            </a:pPr>
            <a:r>
              <a:rPr lang="ru-RU" altLang="ru-RU" sz="800" dirty="0"/>
              <a:t>6. Определение отклонений (</a:t>
            </a:r>
            <a:r>
              <a:rPr lang="ru-RU" altLang="ru-RU" sz="800" dirty="0" err="1"/>
              <a:t>Deviation</a:t>
            </a:r>
            <a:r>
              <a:rPr lang="ru-RU" altLang="ru-RU" sz="800" dirty="0"/>
              <a:t> </a:t>
            </a:r>
            <a:r>
              <a:rPr lang="ru-RU" altLang="ru-RU" sz="800" dirty="0" err="1"/>
              <a:t>Detection</a:t>
            </a:r>
            <a:r>
              <a:rPr lang="ru-RU" altLang="ru-RU" sz="800" dirty="0"/>
              <a:t>), анализ отклонений или выбросов - выявление и анализ данных, наиболее отличаются от общей численности данных, выявление нехарактерных шаблонов.</a:t>
            </a:r>
          </a:p>
          <a:p>
            <a:pPr>
              <a:lnSpc>
                <a:spcPct val="80000"/>
              </a:lnSpc>
            </a:pPr>
            <a:r>
              <a:rPr lang="ru-RU" altLang="ru-RU" sz="800" dirty="0"/>
              <a:t>7. Оценка (</a:t>
            </a:r>
            <a:r>
              <a:rPr lang="ru-RU" altLang="ru-RU" sz="800" dirty="0" err="1"/>
              <a:t>Estimation</a:t>
            </a:r>
            <a:r>
              <a:rPr lang="ru-RU" altLang="ru-RU" sz="800" dirty="0"/>
              <a:t>) - сводится к прогнозу непрерывных значений признаков.</a:t>
            </a:r>
          </a:p>
          <a:p>
            <a:pPr>
              <a:lnSpc>
                <a:spcPct val="80000"/>
              </a:lnSpc>
            </a:pPr>
            <a:r>
              <a:rPr lang="ru-RU" altLang="ru-RU" sz="800" dirty="0"/>
              <a:t>8. Анализ связей (</a:t>
            </a:r>
            <a:r>
              <a:rPr lang="ru-RU" altLang="ru-RU" sz="800" dirty="0" err="1"/>
              <a:t>Link</a:t>
            </a:r>
            <a:r>
              <a:rPr lang="ru-RU" altLang="ru-RU" sz="800" dirty="0"/>
              <a:t> </a:t>
            </a:r>
            <a:r>
              <a:rPr lang="ru-RU" altLang="ru-RU" sz="800" dirty="0" err="1"/>
              <a:t>Analysis</a:t>
            </a:r>
            <a:r>
              <a:rPr lang="ru-RU" altLang="ru-RU" sz="800" dirty="0"/>
              <a:t>) - задача нахождения зависимостей в наборе данных.</a:t>
            </a:r>
          </a:p>
          <a:p>
            <a:pPr>
              <a:lnSpc>
                <a:spcPct val="80000"/>
              </a:lnSpc>
            </a:pPr>
            <a:r>
              <a:rPr lang="ru-RU" altLang="ru-RU" sz="800" dirty="0"/>
              <a:t>9. Визуализация (</a:t>
            </a:r>
            <a:r>
              <a:rPr lang="ru-RU" altLang="ru-RU" sz="800" dirty="0" err="1"/>
              <a:t>Visualization</a:t>
            </a:r>
            <a:r>
              <a:rPr lang="ru-RU" altLang="ru-RU" sz="800" dirty="0"/>
              <a:t>, </a:t>
            </a:r>
            <a:r>
              <a:rPr lang="ru-RU" altLang="ru-RU" sz="800" dirty="0" err="1"/>
              <a:t>Graph</a:t>
            </a:r>
            <a:r>
              <a:rPr lang="ru-RU" altLang="ru-RU" sz="800" dirty="0"/>
              <a:t> </a:t>
            </a:r>
            <a:r>
              <a:rPr lang="ru-RU" altLang="ru-RU" sz="800" dirty="0" err="1"/>
              <a:t>Mining</a:t>
            </a:r>
            <a:r>
              <a:rPr lang="ru-RU" altLang="ru-RU" sz="8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a:lnSpc>
                <a:spcPct val="80000"/>
              </a:lnSpc>
            </a:pPr>
            <a:r>
              <a:rPr lang="ru-RU" altLang="ru-RU" sz="800" dirty="0"/>
              <a:t>10. Подведение итогов (</a:t>
            </a:r>
            <a:r>
              <a:rPr lang="ru-RU" altLang="ru-RU" sz="800" dirty="0" err="1"/>
              <a:t>Summarization</a:t>
            </a:r>
            <a:r>
              <a:rPr lang="ru-RU" altLang="ru-RU" sz="800" dirty="0"/>
              <a:t>) - описание конкретных групп объектов с помощью рассматриваемого набора данных.</a:t>
            </a:r>
          </a:p>
        </p:txBody>
      </p:sp>
    </p:spTree>
    <p:extLst>
      <p:ext uri="{BB962C8B-B14F-4D97-AF65-F5344CB8AC3E}">
        <p14:creationId xmlns:p14="http://schemas.microsoft.com/office/powerpoint/2010/main" val="3746063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24AD4D83-BABE-432D-9A04-153FA5BA332C}" type="slidenum">
              <a:rPr lang="ru-RU" altLang="ru-RU" smtClean="0">
                <a:latin typeface="Times New Roman" panose="02020603050405020304" pitchFamily="18" charset="0"/>
              </a:rPr>
              <a:pPr/>
              <a:t>19</a:t>
            </a:fld>
            <a:endParaRPr lang="ru-RU" altLang="ru-RU">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xfrm>
            <a:off x="382588" y="685800"/>
            <a:ext cx="6092825" cy="3429000"/>
          </a:xfrm>
          <a:ln/>
        </p:spPr>
      </p:sp>
      <p:sp>
        <p:nvSpPr>
          <p:cNvPr id="30724" name="Rectangle 3"/>
          <p:cNvSpPr>
            <a:spLocks noGrp="1" noChangeArrowheads="1"/>
          </p:cNvSpPr>
          <p:nvPr>
            <p:ph type="body" idx="1"/>
          </p:nvPr>
        </p:nvSpPr>
        <p:spPr>
          <a:noFill/>
        </p:spPr>
        <p:txBody>
          <a:bodyPr/>
          <a:lstStyle/>
          <a:p>
            <a:endParaRPr lang="ru-RU" altLang="ru-RU"/>
          </a:p>
        </p:txBody>
      </p:sp>
    </p:spTree>
    <p:extLst>
      <p:ext uri="{BB962C8B-B14F-4D97-AF65-F5344CB8AC3E}">
        <p14:creationId xmlns:p14="http://schemas.microsoft.com/office/powerpoint/2010/main" val="2637800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20</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13970067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476CA778-808A-48A2-9738-B2C9A897C947}" type="slidenum">
              <a:rPr lang="ru-RU" altLang="ru-RU" smtClean="0">
                <a:latin typeface="Times New Roman" panose="02020603050405020304" pitchFamily="18" charset="0"/>
              </a:rPr>
              <a:pPr/>
              <a:t>21</a:t>
            </a:fld>
            <a:endParaRPr lang="ru-RU" altLang="ru-RU">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xfrm>
            <a:off x="382588" y="685800"/>
            <a:ext cx="6092825" cy="3429000"/>
          </a:xfrm>
          <a:ln/>
        </p:spPr>
      </p:sp>
      <p:sp>
        <p:nvSpPr>
          <p:cNvPr id="32772" name="Rectangle 3"/>
          <p:cNvSpPr>
            <a:spLocks noGrp="1" noChangeArrowheads="1"/>
          </p:cNvSpPr>
          <p:nvPr>
            <p:ph type="body" idx="1"/>
          </p:nvPr>
        </p:nvSpPr>
        <p:spPr>
          <a:noFill/>
        </p:spPr>
        <p:txBody>
          <a:bodyPr/>
          <a:lstStyle/>
          <a:p>
            <a:r>
              <a:rPr lang="ru-RU" altLang="ru-RU" dirty="0"/>
              <a:t>Один из вариантов классификации, являющийся весьма условным,  который тем не менее, можно встретить в литературе.</a:t>
            </a:r>
          </a:p>
          <a:p>
            <a:r>
              <a:rPr lang="ru-RU" altLang="ru-RU" dirty="0"/>
              <a:t>Второй вариант является более формальным, т.к. классифицирует методы </a:t>
            </a:r>
            <a:r>
              <a:rPr lang="en-US" altLang="ru-RU" sz="1000" dirty="0"/>
              <a:t>Data Analysis</a:t>
            </a:r>
            <a:r>
              <a:rPr lang="ru-RU" altLang="ru-RU" sz="1000" dirty="0"/>
              <a:t> более точно.</a:t>
            </a:r>
          </a:p>
        </p:txBody>
      </p:sp>
    </p:spTree>
    <p:extLst>
      <p:ext uri="{BB962C8B-B14F-4D97-AF65-F5344CB8AC3E}">
        <p14:creationId xmlns:p14="http://schemas.microsoft.com/office/powerpoint/2010/main" val="802239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CB561DAA-6A07-451A-B612-60E77901D4C3}" type="slidenum">
              <a:rPr lang="ru-RU" altLang="ru-RU" smtClean="0">
                <a:latin typeface="Times New Roman" panose="02020603050405020304" pitchFamily="18" charset="0"/>
              </a:rPr>
              <a:pPr/>
              <a:t>22</a:t>
            </a:fld>
            <a:endParaRPr lang="ru-RU" altLang="ru-RU">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xfrm>
            <a:off x="382588" y="685800"/>
            <a:ext cx="6092825" cy="3429000"/>
          </a:xfrm>
          <a:ln/>
        </p:spPr>
      </p:sp>
      <p:sp>
        <p:nvSpPr>
          <p:cNvPr id="34820" name="Rectangle 3"/>
          <p:cNvSpPr>
            <a:spLocks noGrp="1" noChangeArrowheads="1"/>
          </p:cNvSpPr>
          <p:nvPr>
            <p:ph type="body" idx="1"/>
          </p:nvPr>
        </p:nvSpPr>
        <p:spPr>
          <a:noFill/>
        </p:spPr>
        <p:txBody>
          <a:bodyPr/>
          <a:lstStyle/>
          <a:p>
            <a:endParaRPr lang="ru-RU" altLang="ru-RU"/>
          </a:p>
        </p:txBody>
      </p:sp>
    </p:spTree>
    <p:extLst>
      <p:ext uri="{BB962C8B-B14F-4D97-AF65-F5344CB8AC3E}">
        <p14:creationId xmlns:p14="http://schemas.microsoft.com/office/powerpoint/2010/main" val="3144583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D13D199D-378F-426D-9664-71DF0498F270}" type="slidenum">
              <a:rPr lang="ru-RU" altLang="ru-RU" smtClean="0">
                <a:latin typeface="Times New Roman" panose="02020603050405020304" pitchFamily="18" charset="0"/>
              </a:rPr>
              <a:pPr/>
              <a:t>23</a:t>
            </a:fld>
            <a:endParaRPr lang="ru-RU" altLang="ru-RU">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xfrm>
            <a:off x="382588" y="685800"/>
            <a:ext cx="6092825" cy="3429000"/>
          </a:xfrm>
          <a:ln/>
        </p:spPr>
      </p:sp>
      <p:sp>
        <p:nvSpPr>
          <p:cNvPr id="36868" name="Rectangle 3"/>
          <p:cNvSpPr>
            <a:spLocks noGrp="1" noChangeArrowheads="1"/>
          </p:cNvSpPr>
          <p:nvPr>
            <p:ph type="body" idx="1"/>
          </p:nvPr>
        </p:nvSpPr>
        <p:spPr>
          <a:noFill/>
        </p:spPr>
        <p:txBody>
          <a:bodyPr/>
          <a:lstStyle/>
          <a:p>
            <a:endParaRPr lang="ru-RU" altLang="ru-RU"/>
          </a:p>
        </p:txBody>
      </p:sp>
    </p:spTree>
    <p:extLst>
      <p:ext uri="{BB962C8B-B14F-4D97-AF65-F5344CB8AC3E}">
        <p14:creationId xmlns:p14="http://schemas.microsoft.com/office/powerpoint/2010/main" val="2242516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9026C877-9B31-435C-9BE8-012A1638638C}" type="slidenum">
              <a:rPr lang="ru-RU" altLang="ru-RU" smtClean="0">
                <a:latin typeface="Times New Roman" panose="02020603050405020304" pitchFamily="18" charset="0"/>
              </a:rPr>
              <a:pPr/>
              <a:t>24</a:t>
            </a:fld>
            <a:endParaRPr lang="ru-RU" altLang="ru-RU">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xfrm>
            <a:off x="382588" y="685800"/>
            <a:ext cx="6092825" cy="3429000"/>
          </a:xfrm>
          <a:ln/>
        </p:spPr>
      </p:sp>
      <p:sp>
        <p:nvSpPr>
          <p:cNvPr id="38916" name="Rectangle 3"/>
          <p:cNvSpPr>
            <a:spLocks noGrp="1" noChangeArrowheads="1"/>
          </p:cNvSpPr>
          <p:nvPr>
            <p:ph type="body" idx="1"/>
          </p:nvPr>
        </p:nvSpPr>
        <p:spPr>
          <a:noFill/>
        </p:spPr>
        <p:txBody>
          <a:bodyPr/>
          <a:lstStyle/>
          <a:p>
            <a:endParaRPr lang="ru-RU" altLang="ru-RU"/>
          </a:p>
        </p:txBody>
      </p:sp>
    </p:spTree>
    <p:extLst>
      <p:ext uri="{BB962C8B-B14F-4D97-AF65-F5344CB8AC3E}">
        <p14:creationId xmlns:p14="http://schemas.microsoft.com/office/powerpoint/2010/main" val="1436615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EA198C6D-9916-47D5-8FC7-4758E3E6AC79}" type="slidenum">
              <a:rPr lang="ru-RU" altLang="ru-RU" smtClean="0">
                <a:latin typeface="Times New Roman" panose="02020603050405020304" pitchFamily="18" charset="0"/>
              </a:rPr>
              <a:pPr/>
              <a:t>25</a:t>
            </a:fld>
            <a:endParaRPr lang="ru-RU" altLang="ru-RU">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xfrm>
            <a:off x="382588" y="685800"/>
            <a:ext cx="6092825" cy="3429000"/>
          </a:xfrm>
          <a:ln/>
        </p:spPr>
      </p:sp>
      <p:sp>
        <p:nvSpPr>
          <p:cNvPr id="40964" name="Rectangle 3"/>
          <p:cNvSpPr>
            <a:spLocks noGrp="1" noChangeArrowheads="1"/>
          </p:cNvSpPr>
          <p:nvPr>
            <p:ph type="body" idx="1"/>
          </p:nvPr>
        </p:nvSpPr>
        <p:spPr>
          <a:noFill/>
        </p:spPr>
        <p:txBody>
          <a:bodyPr/>
          <a:lstStyle/>
          <a:p>
            <a:endParaRPr lang="ru-RU" altLang="ru-RU"/>
          </a:p>
        </p:txBody>
      </p:sp>
    </p:spTree>
    <p:extLst>
      <p:ext uri="{BB962C8B-B14F-4D97-AF65-F5344CB8AC3E}">
        <p14:creationId xmlns:p14="http://schemas.microsoft.com/office/powerpoint/2010/main" val="22925694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fld id="{0309316B-DE3C-47CD-BB7B-ADA4A193A1F5}" type="slidenum">
              <a:rPr lang="ru-RU" altLang="ru-RU" smtClean="0">
                <a:latin typeface="Times New Roman" panose="02020603050405020304" pitchFamily="18" charset="0"/>
              </a:rPr>
              <a:pPr/>
              <a:t>26</a:t>
            </a:fld>
            <a:endParaRPr lang="ru-RU" altLang="ru-RU">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a:xfrm>
            <a:off x="382588" y="685800"/>
            <a:ext cx="6092825" cy="3429000"/>
          </a:xfrm>
          <a:ln/>
        </p:spPr>
      </p:sp>
      <p:sp>
        <p:nvSpPr>
          <p:cNvPr id="43012" name="Rectangle 3"/>
          <p:cNvSpPr>
            <a:spLocks noGrp="1" noChangeArrowheads="1"/>
          </p:cNvSpPr>
          <p:nvPr>
            <p:ph type="body" idx="1"/>
          </p:nvPr>
        </p:nvSpPr>
        <p:spPr>
          <a:noFill/>
        </p:spPr>
        <p:txBody>
          <a:bodyPr/>
          <a:lstStyle/>
          <a:p>
            <a:endParaRPr lang="ru-RU" altLang="ru-RU"/>
          </a:p>
        </p:txBody>
      </p:sp>
    </p:spTree>
    <p:extLst>
      <p:ext uri="{BB962C8B-B14F-4D97-AF65-F5344CB8AC3E}">
        <p14:creationId xmlns:p14="http://schemas.microsoft.com/office/powerpoint/2010/main" val="4292308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428723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770489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690814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243227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778222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556678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799862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40075727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3031766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591319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178179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2346658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5459438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48748E-E7CE-484F-A789-9CA91BFBCF59}" type="slidenum">
              <a:rPr lang="ru-RU" altLang="ru-RU"/>
              <a:pPr/>
              <a:t>72</a:t>
            </a:fld>
            <a:endParaRPr lang="ru-RU" altLang="ru-RU"/>
          </a:p>
        </p:txBody>
      </p:sp>
      <p:sp>
        <p:nvSpPr>
          <p:cNvPr id="214018" name="Rectangle 2"/>
          <p:cNvSpPr>
            <a:spLocks noGrp="1" noRot="1" noChangeAspect="1" noChangeArrowheads="1" noTextEdit="1"/>
          </p:cNvSpPr>
          <p:nvPr>
            <p:ph type="sldImg"/>
          </p:nvPr>
        </p:nvSpPr>
        <p:spPr>
          <a:xfrm>
            <a:off x="382588" y="685800"/>
            <a:ext cx="6092825" cy="3429000"/>
          </a:xfrm>
          <a:ln/>
        </p:spPr>
      </p:sp>
      <p:sp>
        <p:nvSpPr>
          <p:cNvPr id="2140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24596985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7168425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2671903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9685802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5180771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3743287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2510897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6753245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3959937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00875366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0334595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2753030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2283445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5654823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8186315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4295259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3369275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8573031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59832144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22062379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671703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1207521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0" y="777875"/>
            <a:ext cx="0" cy="0"/>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419267422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0" y="777875"/>
            <a:ext cx="0" cy="0"/>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19309025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0" y="777875"/>
            <a:ext cx="0" cy="0"/>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77142540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6133534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96027903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noResize="1"/>
          </p:cNvSpPr>
          <p:nvPr>
            <p:ph type="sldImg"/>
          </p:nvPr>
        </p:nvSpPr>
        <p:spPr>
          <a:xfrm>
            <a:off x="141288" y="777875"/>
            <a:ext cx="6819900" cy="3836988"/>
          </a:xfrm>
          <a:solidFill>
            <a:srgbClr val="729FCF"/>
          </a:solidFill>
          <a:ln w="25400">
            <a:solidFill>
              <a:srgbClr val="3465A4"/>
            </a:solidFill>
            <a:prstDash val="solid"/>
          </a:ln>
        </p:spPr>
      </p:sp>
      <p:sp>
        <p:nvSpPr>
          <p:cNvPr id="3" name="Заметки 2"/>
          <p:cNvSpPr txBox="1">
            <a:spLocks noGrp="1"/>
          </p:cNvSpPr>
          <p:nvPr>
            <p:ph type="body" sz="quarter" idx="1"/>
          </p:nvPr>
        </p:nvSpPr>
        <p:spPr/>
        <p:txBody>
          <a:bodyPr/>
          <a:lstStyle/>
          <a:p>
            <a:endParaRPr lang="ru-RU"/>
          </a:p>
        </p:txBody>
      </p:sp>
    </p:spTree>
    <p:extLst>
      <p:ext uri="{BB962C8B-B14F-4D97-AF65-F5344CB8AC3E}">
        <p14:creationId xmlns:p14="http://schemas.microsoft.com/office/powerpoint/2010/main" val="312037157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4E5886-313B-4495-804E-2420A4440DBC}" type="slidenum">
              <a:rPr lang="ru-RU" altLang="ru-RU"/>
              <a:pPr/>
              <a:t>100</a:t>
            </a:fld>
            <a:endParaRPr lang="ru-RU" altLang="ru-RU"/>
          </a:p>
        </p:txBody>
      </p:sp>
      <p:sp>
        <p:nvSpPr>
          <p:cNvPr id="239618" name="Rectangle 2"/>
          <p:cNvSpPr>
            <a:spLocks noGrp="1" noRot="1" noChangeAspect="1" noChangeArrowheads="1" noTextEdit="1"/>
          </p:cNvSpPr>
          <p:nvPr>
            <p:ph type="sldImg"/>
          </p:nvPr>
        </p:nvSpPr>
        <p:spPr>
          <a:xfrm>
            <a:off x="382588" y="685800"/>
            <a:ext cx="6092825" cy="3429000"/>
          </a:xfrm>
          <a:ln/>
        </p:spPr>
      </p:sp>
      <p:sp>
        <p:nvSpPr>
          <p:cNvPr id="239619" name="Rectangle 3"/>
          <p:cNvSpPr>
            <a:spLocks noGrp="1" noChangeArrowheads="1"/>
          </p:cNvSpPr>
          <p:nvPr>
            <p:ph type="body" idx="1"/>
          </p:nvPr>
        </p:nvSpPr>
        <p:spPr/>
        <p:txBody>
          <a:bodyPr/>
          <a:lstStyle/>
          <a:p>
            <a:endParaRPr lang="ru-RU" altLang="ru-RU"/>
          </a:p>
        </p:txBody>
      </p:sp>
    </p:spTree>
    <p:extLst>
      <p:ext uri="{BB962C8B-B14F-4D97-AF65-F5344CB8AC3E}">
        <p14:creationId xmlns:p14="http://schemas.microsoft.com/office/powerpoint/2010/main" val="6734438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presentation-creation.ru/" TargetMode="External"/><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1093921"/>
            <a:ext cx="6533647" cy="1527533"/>
          </a:xfrm>
        </p:spPr>
        <p:txBody>
          <a:bodyPr/>
          <a:lstStyle/>
          <a:p>
            <a:r>
              <a:rPr lang="ru-RU"/>
              <a:t>Образец заголовка</a:t>
            </a:r>
          </a:p>
        </p:txBody>
      </p:sp>
      <p:sp>
        <p:nvSpPr>
          <p:cNvPr id="3" name="Подзаголовок 2"/>
          <p:cNvSpPr>
            <a:spLocks noGrp="1"/>
          </p:cNvSpPr>
          <p:nvPr>
            <p:ph type="subTitle" idx="1"/>
          </p:nvPr>
        </p:nvSpPr>
        <p:spPr>
          <a:xfrm>
            <a:off x="16537" y="3114194"/>
            <a:ext cx="6417350" cy="1821162"/>
          </a:xfrm>
        </p:spPr>
        <p:txBody>
          <a:bodyPr/>
          <a:lstStyle>
            <a:lvl1pPr marL="0" indent="0" algn="ctr">
              <a:buNone/>
              <a:defRPr>
                <a:solidFill>
                  <a:schemeClr val="tx1">
                    <a:tint val="75000"/>
                  </a:schemeClr>
                </a:solidFill>
              </a:defRPr>
            </a:lvl1pPr>
            <a:lvl2pPr marL="475077" indent="0" algn="ctr">
              <a:buNone/>
              <a:defRPr>
                <a:solidFill>
                  <a:schemeClr val="tx1">
                    <a:tint val="75000"/>
                  </a:schemeClr>
                </a:solidFill>
              </a:defRPr>
            </a:lvl2pPr>
            <a:lvl3pPr marL="950153" indent="0" algn="ctr">
              <a:buNone/>
              <a:defRPr>
                <a:solidFill>
                  <a:schemeClr val="tx1">
                    <a:tint val="75000"/>
                  </a:schemeClr>
                </a:solidFill>
              </a:defRPr>
            </a:lvl3pPr>
            <a:lvl4pPr marL="1425230" indent="0" algn="ctr">
              <a:buNone/>
              <a:defRPr>
                <a:solidFill>
                  <a:schemeClr val="tx1">
                    <a:tint val="75000"/>
                  </a:schemeClr>
                </a:solidFill>
              </a:defRPr>
            </a:lvl4pPr>
            <a:lvl5pPr marL="1900306" indent="0" algn="ctr">
              <a:buNone/>
              <a:defRPr>
                <a:solidFill>
                  <a:schemeClr val="tx1">
                    <a:tint val="75000"/>
                  </a:schemeClr>
                </a:solidFill>
              </a:defRPr>
            </a:lvl5pPr>
            <a:lvl6pPr marL="2375383" indent="0" algn="ctr">
              <a:buNone/>
              <a:defRPr>
                <a:solidFill>
                  <a:schemeClr val="tx1">
                    <a:tint val="75000"/>
                  </a:schemeClr>
                </a:solidFill>
              </a:defRPr>
            </a:lvl6pPr>
            <a:lvl7pPr marL="2850459" indent="0" algn="ctr">
              <a:buNone/>
              <a:defRPr>
                <a:solidFill>
                  <a:schemeClr val="tx1">
                    <a:tint val="75000"/>
                  </a:schemeClr>
                </a:solidFill>
              </a:defRPr>
            </a:lvl7pPr>
            <a:lvl8pPr marL="3325536" indent="0" algn="ctr">
              <a:buNone/>
              <a:defRPr>
                <a:solidFill>
                  <a:schemeClr val="tx1">
                    <a:tint val="75000"/>
                  </a:schemeClr>
                </a:solidFill>
              </a:defRPr>
            </a:lvl8pPr>
            <a:lvl9pPr marL="3800612"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E95EEC7E-0179-4610-AB22-A6568D039B75}" type="datetime1">
              <a:rPr lang="ru-RU" smtClean="0"/>
              <a:t>15.03.2026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
        <p:nvSpPr>
          <p:cNvPr id="7" name="Прямоугольник 6"/>
          <p:cNvSpPr/>
          <p:nvPr/>
        </p:nvSpPr>
        <p:spPr>
          <a:xfrm>
            <a:off x="8785737" y="6742507"/>
            <a:ext cx="3322576" cy="380104"/>
          </a:xfrm>
          <a:prstGeom prst="rect">
            <a:avLst/>
          </a:prstGeom>
        </p:spPr>
        <p:txBody>
          <a:bodyPr wrap="none">
            <a:spAutoFit/>
          </a:bodyPr>
          <a:lstStyle/>
          <a:p>
            <a:pPr lvl="0" algn="ctr">
              <a:spcBef>
                <a:spcPct val="0"/>
              </a:spcBef>
            </a:pPr>
            <a:r>
              <a:rPr lang="en-US" sz="1870" kern="1200" dirty="0">
                <a:solidFill>
                  <a:schemeClr val="tx1"/>
                </a:solidFill>
                <a:latin typeface="+mn-lt"/>
                <a:ea typeface="+mn-ea"/>
                <a:cs typeface="+mn-cs"/>
                <a:hlinkClick r:id="rId3"/>
              </a:rPr>
              <a:t>http://presentation-creation.ru/</a:t>
            </a:r>
            <a:endParaRPr kumimoji="0" lang="en-US" sz="3325"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03715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A8865C3-AD74-4E35-BFBD-7256AD30F34F}" type="datetime1">
              <a:rPr lang="ru-RU" smtClean="0"/>
              <a:t>15.03.2026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56921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0705" y="4579300"/>
            <a:ext cx="10768013" cy="1415360"/>
          </a:xfrm>
        </p:spPr>
        <p:txBody>
          <a:bodyPr anchor="t"/>
          <a:lstStyle>
            <a:lvl1pPr algn="l">
              <a:defRPr sz="4156" b="1" cap="all"/>
            </a:lvl1pPr>
          </a:lstStyle>
          <a:p>
            <a:r>
              <a:rPr lang="ru-RU"/>
              <a:t>Образец заголовка</a:t>
            </a:r>
          </a:p>
        </p:txBody>
      </p:sp>
      <p:sp>
        <p:nvSpPr>
          <p:cNvPr id="3" name="Текст 2"/>
          <p:cNvSpPr>
            <a:spLocks noGrp="1"/>
          </p:cNvSpPr>
          <p:nvPr>
            <p:ph type="body" idx="1"/>
          </p:nvPr>
        </p:nvSpPr>
        <p:spPr>
          <a:xfrm>
            <a:off x="1000705" y="3020426"/>
            <a:ext cx="10768013" cy="1558875"/>
          </a:xfrm>
        </p:spPr>
        <p:txBody>
          <a:bodyPr anchor="b"/>
          <a:lstStyle>
            <a:lvl1pPr marL="0" indent="0">
              <a:buNone/>
              <a:defRPr sz="2078">
                <a:solidFill>
                  <a:schemeClr val="tx1">
                    <a:tint val="75000"/>
                  </a:schemeClr>
                </a:solidFill>
              </a:defRPr>
            </a:lvl1pPr>
            <a:lvl2pPr marL="475077" indent="0">
              <a:buNone/>
              <a:defRPr sz="1870">
                <a:solidFill>
                  <a:schemeClr val="tx1">
                    <a:tint val="75000"/>
                  </a:schemeClr>
                </a:solidFill>
              </a:defRPr>
            </a:lvl2pPr>
            <a:lvl3pPr marL="950153" indent="0">
              <a:buNone/>
              <a:defRPr sz="1663">
                <a:solidFill>
                  <a:schemeClr val="tx1">
                    <a:tint val="75000"/>
                  </a:schemeClr>
                </a:solidFill>
              </a:defRPr>
            </a:lvl3pPr>
            <a:lvl4pPr marL="1425230" indent="0">
              <a:buNone/>
              <a:defRPr sz="1455">
                <a:solidFill>
                  <a:schemeClr val="tx1">
                    <a:tint val="75000"/>
                  </a:schemeClr>
                </a:solidFill>
              </a:defRPr>
            </a:lvl4pPr>
            <a:lvl5pPr marL="1900306" indent="0">
              <a:buNone/>
              <a:defRPr sz="1455">
                <a:solidFill>
                  <a:schemeClr val="tx1">
                    <a:tint val="75000"/>
                  </a:schemeClr>
                </a:solidFill>
              </a:defRPr>
            </a:lvl5pPr>
            <a:lvl6pPr marL="2375383" indent="0">
              <a:buNone/>
              <a:defRPr sz="1455">
                <a:solidFill>
                  <a:schemeClr val="tx1">
                    <a:tint val="75000"/>
                  </a:schemeClr>
                </a:solidFill>
              </a:defRPr>
            </a:lvl6pPr>
            <a:lvl7pPr marL="2850459" indent="0">
              <a:buNone/>
              <a:defRPr sz="1455">
                <a:solidFill>
                  <a:schemeClr val="tx1">
                    <a:tint val="75000"/>
                  </a:schemeClr>
                </a:solidFill>
              </a:defRPr>
            </a:lvl7pPr>
            <a:lvl8pPr marL="3325536" indent="0">
              <a:buNone/>
              <a:defRPr sz="1455">
                <a:solidFill>
                  <a:schemeClr val="tx1">
                    <a:tint val="75000"/>
                  </a:schemeClr>
                </a:solidFill>
              </a:defRPr>
            </a:lvl8pPr>
            <a:lvl9pPr marL="3800612" indent="0">
              <a:buNone/>
              <a:defRPr sz="1455">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733EC886-EA8F-4DD4-BCD1-FDD65F1F0F83}" type="datetime1">
              <a:rPr lang="ru-RU" smtClean="0"/>
              <a:t>15.03.2026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732670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633413" y="1662802"/>
            <a:ext cx="5595144" cy="4703021"/>
          </a:xfrm>
        </p:spPr>
        <p:txBody>
          <a:bodyPr/>
          <a:lstStyle>
            <a:lvl1pPr>
              <a:defRPr sz="2909"/>
            </a:lvl1pPr>
            <a:lvl2pPr>
              <a:defRPr sz="2494"/>
            </a:lvl2pPr>
            <a:lvl3pPr>
              <a:defRPr sz="2078"/>
            </a:lvl3pPr>
            <a:lvl4pPr>
              <a:defRPr sz="1870"/>
            </a:lvl4pPr>
            <a:lvl5pPr>
              <a:defRPr sz="1870"/>
            </a:lvl5pPr>
            <a:lvl6pPr>
              <a:defRPr sz="1870"/>
            </a:lvl6pPr>
            <a:lvl7pPr>
              <a:defRPr sz="1870"/>
            </a:lvl7pPr>
            <a:lvl8pPr>
              <a:defRPr sz="1870"/>
            </a:lvl8pPr>
            <a:lvl9pPr>
              <a:defRPr sz="187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439693" y="1662802"/>
            <a:ext cx="5595144" cy="4703021"/>
          </a:xfrm>
        </p:spPr>
        <p:txBody>
          <a:bodyPr/>
          <a:lstStyle>
            <a:lvl1pPr>
              <a:defRPr sz="2909"/>
            </a:lvl1pPr>
            <a:lvl2pPr>
              <a:defRPr sz="2494"/>
            </a:lvl2pPr>
            <a:lvl3pPr>
              <a:defRPr sz="2078"/>
            </a:lvl3pPr>
            <a:lvl4pPr>
              <a:defRPr sz="1870"/>
            </a:lvl4pPr>
            <a:lvl5pPr>
              <a:defRPr sz="1870"/>
            </a:lvl5pPr>
            <a:lvl6pPr>
              <a:defRPr sz="1870"/>
            </a:lvl6pPr>
            <a:lvl7pPr>
              <a:defRPr sz="1870"/>
            </a:lvl7pPr>
            <a:lvl8pPr>
              <a:defRPr sz="1870"/>
            </a:lvl8pPr>
            <a:lvl9pPr>
              <a:defRPr sz="187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1A36F437-D4E3-408F-A917-DB3C0E821673}" type="datetime1">
              <a:rPr lang="ru-RU" smtClean="0"/>
              <a:t>15.03.2026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464642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633413" y="1595167"/>
            <a:ext cx="5597344" cy="664790"/>
          </a:xfrm>
        </p:spPr>
        <p:txBody>
          <a:bodyPr anchor="b"/>
          <a:lstStyle>
            <a:lvl1pPr marL="0" indent="0">
              <a:buNone/>
              <a:defRPr sz="2494" b="1"/>
            </a:lvl1pPr>
            <a:lvl2pPr marL="475077" indent="0">
              <a:buNone/>
              <a:defRPr sz="2078" b="1"/>
            </a:lvl2pPr>
            <a:lvl3pPr marL="950153" indent="0">
              <a:buNone/>
              <a:defRPr sz="1870" b="1"/>
            </a:lvl3pPr>
            <a:lvl4pPr marL="1425230" indent="0">
              <a:buNone/>
              <a:defRPr sz="1663" b="1"/>
            </a:lvl4pPr>
            <a:lvl5pPr marL="1900306" indent="0">
              <a:buNone/>
              <a:defRPr sz="1663" b="1"/>
            </a:lvl5pPr>
            <a:lvl6pPr marL="2375383" indent="0">
              <a:buNone/>
              <a:defRPr sz="1663" b="1"/>
            </a:lvl6pPr>
            <a:lvl7pPr marL="2850459" indent="0">
              <a:buNone/>
              <a:defRPr sz="1663" b="1"/>
            </a:lvl7pPr>
            <a:lvl8pPr marL="3325536" indent="0">
              <a:buNone/>
              <a:defRPr sz="1663" b="1"/>
            </a:lvl8pPr>
            <a:lvl9pPr marL="3800612" indent="0">
              <a:buNone/>
              <a:defRPr sz="1663" b="1"/>
            </a:lvl9pPr>
          </a:lstStyle>
          <a:p>
            <a:pPr lvl="0"/>
            <a:r>
              <a:rPr lang="ru-RU"/>
              <a:t>Образец текста</a:t>
            </a:r>
          </a:p>
        </p:txBody>
      </p:sp>
      <p:sp>
        <p:nvSpPr>
          <p:cNvPr id="4" name="Объект 3"/>
          <p:cNvSpPr>
            <a:spLocks noGrp="1"/>
          </p:cNvSpPr>
          <p:nvPr>
            <p:ph sz="half" idx="2"/>
          </p:nvPr>
        </p:nvSpPr>
        <p:spPr>
          <a:xfrm>
            <a:off x="633413" y="2259957"/>
            <a:ext cx="5597344" cy="4105864"/>
          </a:xfrm>
        </p:spPr>
        <p:txBody>
          <a:bodyPr/>
          <a:lstStyle>
            <a:lvl1pPr>
              <a:defRPr sz="2494"/>
            </a:lvl1pPr>
            <a:lvl2pPr>
              <a:defRPr sz="2078"/>
            </a:lvl2pPr>
            <a:lvl3pPr>
              <a:defRPr sz="1870"/>
            </a:lvl3pPr>
            <a:lvl4pPr>
              <a:defRPr sz="1663"/>
            </a:lvl4pPr>
            <a:lvl5pPr>
              <a:defRPr sz="1663"/>
            </a:lvl5pPr>
            <a:lvl6pPr>
              <a:defRPr sz="1663"/>
            </a:lvl6pPr>
            <a:lvl7pPr>
              <a:defRPr sz="1663"/>
            </a:lvl7pPr>
            <a:lvl8pPr>
              <a:defRPr sz="1663"/>
            </a:lvl8pPr>
            <a:lvl9pPr>
              <a:defRPr sz="1663"/>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435296" y="1595167"/>
            <a:ext cx="5599543" cy="664790"/>
          </a:xfrm>
        </p:spPr>
        <p:txBody>
          <a:bodyPr anchor="b"/>
          <a:lstStyle>
            <a:lvl1pPr marL="0" indent="0">
              <a:buNone/>
              <a:defRPr sz="2494" b="1"/>
            </a:lvl1pPr>
            <a:lvl2pPr marL="475077" indent="0">
              <a:buNone/>
              <a:defRPr sz="2078" b="1"/>
            </a:lvl2pPr>
            <a:lvl3pPr marL="950153" indent="0">
              <a:buNone/>
              <a:defRPr sz="1870" b="1"/>
            </a:lvl3pPr>
            <a:lvl4pPr marL="1425230" indent="0">
              <a:buNone/>
              <a:defRPr sz="1663" b="1"/>
            </a:lvl4pPr>
            <a:lvl5pPr marL="1900306" indent="0">
              <a:buNone/>
              <a:defRPr sz="1663" b="1"/>
            </a:lvl5pPr>
            <a:lvl6pPr marL="2375383" indent="0">
              <a:buNone/>
              <a:defRPr sz="1663" b="1"/>
            </a:lvl6pPr>
            <a:lvl7pPr marL="2850459" indent="0">
              <a:buNone/>
              <a:defRPr sz="1663" b="1"/>
            </a:lvl7pPr>
            <a:lvl8pPr marL="3325536" indent="0">
              <a:buNone/>
              <a:defRPr sz="1663" b="1"/>
            </a:lvl8pPr>
            <a:lvl9pPr marL="3800612" indent="0">
              <a:buNone/>
              <a:defRPr sz="1663" b="1"/>
            </a:lvl9pPr>
          </a:lstStyle>
          <a:p>
            <a:pPr lvl="0"/>
            <a:r>
              <a:rPr lang="ru-RU"/>
              <a:t>Образец текста</a:t>
            </a:r>
          </a:p>
        </p:txBody>
      </p:sp>
      <p:sp>
        <p:nvSpPr>
          <p:cNvPr id="6" name="Объект 5"/>
          <p:cNvSpPr>
            <a:spLocks noGrp="1"/>
          </p:cNvSpPr>
          <p:nvPr>
            <p:ph sz="quarter" idx="4"/>
          </p:nvPr>
        </p:nvSpPr>
        <p:spPr>
          <a:xfrm>
            <a:off x="6435296" y="2259957"/>
            <a:ext cx="5599543" cy="4105864"/>
          </a:xfrm>
        </p:spPr>
        <p:txBody>
          <a:bodyPr/>
          <a:lstStyle>
            <a:lvl1pPr>
              <a:defRPr sz="2494"/>
            </a:lvl1pPr>
            <a:lvl2pPr>
              <a:defRPr sz="2078"/>
            </a:lvl2pPr>
            <a:lvl3pPr>
              <a:defRPr sz="1870"/>
            </a:lvl3pPr>
            <a:lvl4pPr>
              <a:defRPr sz="1663"/>
            </a:lvl4pPr>
            <a:lvl5pPr>
              <a:defRPr sz="1663"/>
            </a:lvl5pPr>
            <a:lvl6pPr>
              <a:defRPr sz="1663"/>
            </a:lvl6pPr>
            <a:lvl7pPr>
              <a:defRPr sz="1663"/>
            </a:lvl7pPr>
            <a:lvl8pPr>
              <a:defRPr sz="1663"/>
            </a:lvl8pPr>
            <a:lvl9pPr>
              <a:defRPr sz="1663"/>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294E8F0A-F6BB-4136-8E64-DAA07AC82AF1}" type="datetime1">
              <a:rPr lang="ru-RU" smtClean="0"/>
              <a:t>15.03.2026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67642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CEEEF2E6-2503-464B-A5BF-818DE0E223FD}" type="datetime1">
              <a:rPr lang="ru-RU" smtClean="0"/>
              <a:t>15.03.2026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444499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8E4740F4-EE37-4331-AD9D-03E878A6C02C}" type="datetime1">
              <a:rPr lang="ru-RU" smtClean="0"/>
              <a:t>15.03.2026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838261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3414" y="283732"/>
            <a:ext cx="4167766" cy="1207510"/>
          </a:xfrm>
        </p:spPr>
        <p:txBody>
          <a:bodyPr anchor="b"/>
          <a:lstStyle>
            <a:lvl1pPr algn="l">
              <a:defRPr sz="2078" b="1"/>
            </a:lvl1pPr>
          </a:lstStyle>
          <a:p>
            <a:r>
              <a:rPr lang="ru-RU"/>
              <a:t>Образец заголовка</a:t>
            </a:r>
          </a:p>
        </p:txBody>
      </p:sp>
      <p:sp>
        <p:nvSpPr>
          <p:cNvPr id="3" name="Объект 2"/>
          <p:cNvSpPr>
            <a:spLocks noGrp="1"/>
          </p:cNvSpPr>
          <p:nvPr>
            <p:ph idx="1"/>
          </p:nvPr>
        </p:nvSpPr>
        <p:spPr>
          <a:xfrm>
            <a:off x="4952933" y="283734"/>
            <a:ext cx="7081904" cy="6082089"/>
          </a:xfrm>
        </p:spPr>
        <p:txBody>
          <a:bodyPr/>
          <a:lstStyle>
            <a:lvl1pPr>
              <a:defRPr sz="3325"/>
            </a:lvl1pPr>
            <a:lvl2pPr>
              <a:defRPr sz="2909"/>
            </a:lvl2pPr>
            <a:lvl3pPr>
              <a:defRPr sz="2494"/>
            </a:lvl3pPr>
            <a:lvl4pPr>
              <a:defRPr sz="2078"/>
            </a:lvl4pPr>
            <a:lvl5pPr>
              <a:defRPr sz="2078"/>
            </a:lvl5pPr>
            <a:lvl6pPr>
              <a:defRPr sz="2078"/>
            </a:lvl6pPr>
            <a:lvl7pPr>
              <a:defRPr sz="2078"/>
            </a:lvl7pPr>
            <a:lvl8pPr>
              <a:defRPr sz="2078"/>
            </a:lvl8pPr>
            <a:lvl9pPr>
              <a:defRPr sz="2078"/>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3414" y="1491243"/>
            <a:ext cx="4167766" cy="4874579"/>
          </a:xfrm>
        </p:spPr>
        <p:txBody>
          <a:bodyPr/>
          <a:lstStyle>
            <a:lvl1pPr marL="0" indent="0">
              <a:buNone/>
              <a:defRPr sz="1455"/>
            </a:lvl1pPr>
            <a:lvl2pPr marL="475077" indent="0">
              <a:buNone/>
              <a:defRPr sz="1247"/>
            </a:lvl2pPr>
            <a:lvl3pPr marL="950153" indent="0">
              <a:buNone/>
              <a:defRPr sz="1039"/>
            </a:lvl3pPr>
            <a:lvl4pPr marL="1425230" indent="0">
              <a:buNone/>
              <a:defRPr sz="935"/>
            </a:lvl4pPr>
            <a:lvl5pPr marL="1900306" indent="0">
              <a:buNone/>
              <a:defRPr sz="935"/>
            </a:lvl5pPr>
            <a:lvl6pPr marL="2375383" indent="0">
              <a:buNone/>
              <a:defRPr sz="935"/>
            </a:lvl6pPr>
            <a:lvl7pPr marL="2850459" indent="0">
              <a:buNone/>
              <a:defRPr sz="935"/>
            </a:lvl7pPr>
            <a:lvl8pPr marL="3325536" indent="0">
              <a:buNone/>
              <a:defRPr sz="935"/>
            </a:lvl8pPr>
            <a:lvl9pPr marL="3800612" indent="0">
              <a:buNone/>
              <a:defRPr sz="935"/>
            </a:lvl9pPr>
          </a:lstStyle>
          <a:p>
            <a:pPr lvl="0"/>
            <a:r>
              <a:rPr lang="ru-RU"/>
              <a:t>Образец текста</a:t>
            </a:r>
          </a:p>
        </p:txBody>
      </p:sp>
      <p:sp>
        <p:nvSpPr>
          <p:cNvPr id="5" name="Дата 4"/>
          <p:cNvSpPr>
            <a:spLocks noGrp="1"/>
          </p:cNvSpPr>
          <p:nvPr>
            <p:ph type="dt" sz="half" idx="10"/>
          </p:nvPr>
        </p:nvSpPr>
        <p:spPr/>
        <p:txBody>
          <a:bodyPr/>
          <a:lstStyle/>
          <a:p>
            <a:fld id="{BC30A6DB-201B-4499-88AD-CFA1DFAA0EBF}" type="datetime1">
              <a:rPr lang="ru-RU" smtClean="0"/>
              <a:t>15.03.2026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39969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83066" y="4988403"/>
            <a:ext cx="7600950" cy="588909"/>
          </a:xfrm>
        </p:spPr>
        <p:txBody>
          <a:bodyPr anchor="b"/>
          <a:lstStyle>
            <a:lvl1pPr algn="l">
              <a:defRPr sz="2078" b="1"/>
            </a:lvl1pPr>
          </a:lstStyle>
          <a:p>
            <a:r>
              <a:rPr lang="ru-RU"/>
              <a:t>Образец заголовка</a:t>
            </a:r>
          </a:p>
        </p:txBody>
      </p:sp>
      <p:sp>
        <p:nvSpPr>
          <p:cNvPr id="3" name="Рисунок 2"/>
          <p:cNvSpPr>
            <a:spLocks noGrp="1"/>
          </p:cNvSpPr>
          <p:nvPr>
            <p:ph type="pic" idx="1"/>
          </p:nvPr>
        </p:nvSpPr>
        <p:spPr>
          <a:xfrm>
            <a:off x="2483066" y="636748"/>
            <a:ext cx="7600950" cy="4275773"/>
          </a:xfrm>
        </p:spPr>
        <p:txBody>
          <a:bodyPr/>
          <a:lstStyle>
            <a:lvl1pPr marL="0" indent="0">
              <a:buNone/>
              <a:defRPr sz="3325"/>
            </a:lvl1pPr>
            <a:lvl2pPr marL="475077" indent="0">
              <a:buNone/>
              <a:defRPr sz="2909"/>
            </a:lvl2pPr>
            <a:lvl3pPr marL="950153" indent="0">
              <a:buNone/>
              <a:defRPr sz="2494"/>
            </a:lvl3pPr>
            <a:lvl4pPr marL="1425230" indent="0">
              <a:buNone/>
              <a:defRPr sz="2078"/>
            </a:lvl4pPr>
            <a:lvl5pPr marL="1900306" indent="0">
              <a:buNone/>
              <a:defRPr sz="2078"/>
            </a:lvl5pPr>
            <a:lvl6pPr marL="2375383" indent="0">
              <a:buNone/>
              <a:defRPr sz="2078"/>
            </a:lvl6pPr>
            <a:lvl7pPr marL="2850459" indent="0">
              <a:buNone/>
              <a:defRPr sz="2078"/>
            </a:lvl7pPr>
            <a:lvl8pPr marL="3325536" indent="0">
              <a:buNone/>
              <a:defRPr sz="2078"/>
            </a:lvl8pPr>
            <a:lvl9pPr marL="3800612" indent="0">
              <a:buNone/>
              <a:defRPr sz="2078"/>
            </a:lvl9pPr>
          </a:lstStyle>
          <a:p>
            <a:r>
              <a:rPr lang="ru-RU"/>
              <a:t>Вставка рисунка</a:t>
            </a:r>
          </a:p>
        </p:txBody>
      </p:sp>
      <p:sp>
        <p:nvSpPr>
          <p:cNvPr id="4" name="Текст 3"/>
          <p:cNvSpPr>
            <a:spLocks noGrp="1"/>
          </p:cNvSpPr>
          <p:nvPr>
            <p:ph type="body" sz="half" idx="2"/>
          </p:nvPr>
        </p:nvSpPr>
        <p:spPr>
          <a:xfrm>
            <a:off x="2483066" y="5577311"/>
            <a:ext cx="7600950" cy="836349"/>
          </a:xfrm>
        </p:spPr>
        <p:txBody>
          <a:bodyPr/>
          <a:lstStyle>
            <a:lvl1pPr marL="0" indent="0">
              <a:buNone/>
              <a:defRPr sz="1455"/>
            </a:lvl1pPr>
            <a:lvl2pPr marL="475077" indent="0">
              <a:buNone/>
              <a:defRPr sz="1247"/>
            </a:lvl2pPr>
            <a:lvl3pPr marL="950153" indent="0">
              <a:buNone/>
              <a:defRPr sz="1039"/>
            </a:lvl3pPr>
            <a:lvl4pPr marL="1425230" indent="0">
              <a:buNone/>
              <a:defRPr sz="935"/>
            </a:lvl4pPr>
            <a:lvl5pPr marL="1900306" indent="0">
              <a:buNone/>
              <a:defRPr sz="935"/>
            </a:lvl5pPr>
            <a:lvl6pPr marL="2375383" indent="0">
              <a:buNone/>
              <a:defRPr sz="935"/>
            </a:lvl6pPr>
            <a:lvl7pPr marL="2850459" indent="0">
              <a:buNone/>
              <a:defRPr sz="935"/>
            </a:lvl7pPr>
            <a:lvl8pPr marL="3325536" indent="0">
              <a:buNone/>
              <a:defRPr sz="935"/>
            </a:lvl8pPr>
            <a:lvl9pPr marL="3800612" indent="0">
              <a:buNone/>
              <a:defRPr sz="935"/>
            </a:lvl9pPr>
          </a:lstStyle>
          <a:p>
            <a:pPr lvl="0"/>
            <a:r>
              <a:rPr lang="ru-RU"/>
              <a:t>Образец текста</a:t>
            </a:r>
          </a:p>
        </p:txBody>
      </p:sp>
      <p:sp>
        <p:nvSpPr>
          <p:cNvPr id="5" name="Дата 4"/>
          <p:cNvSpPr>
            <a:spLocks noGrp="1"/>
          </p:cNvSpPr>
          <p:nvPr>
            <p:ph type="dt" sz="half" idx="10"/>
          </p:nvPr>
        </p:nvSpPr>
        <p:spPr/>
        <p:txBody>
          <a:bodyPr/>
          <a:lstStyle/>
          <a:p>
            <a:fld id="{D6BC2F20-317D-4A12-BC72-6F9BC4BC59D9}" type="datetime1">
              <a:rPr lang="ru-RU" smtClean="0"/>
              <a:t>15.03.2026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790072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4CB07B6-3E2D-4715-A204-25ADDF7BC3CF}" type="datetime1">
              <a:rPr lang="ru-RU" smtClean="0"/>
              <a:t>15.03.2026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187988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9184481" y="285384"/>
            <a:ext cx="2850356" cy="6080439"/>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33413" y="285384"/>
            <a:ext cx="8339931" cy="608043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CBEC4EDE-7564-4854-BB37-6653834D7C43}" type="datetime1">
              <a:rPr lang="ru-RU" smtClean="0"/>
              <a:t>15.03.2026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52B6C0E-C4B9-4094-8E59-5B7DF00D5415}" type="slidenum">
              <a:rPr lang="ru-RU" smtClean="0"/>
              <a:t>‹#›</a:t>
            </a:fld>
            <a:endParaRPr lang="ru-RU"/>
          </a:p>
        </p:txBody>
      </p:sp>
    </p:spTree>
    <p:extLst>
      <p:ext uri="{BB962C8B-B14F-4D97-AF65-F5344CB8AC3E}">
        <p14:creationId xmlns:p14="http://schemas.microsoft.com/office/powerpoint/2010/main" val="424323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3413" y="285383"/>
            <a:ext cx="11401426" cy="1187715"/>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33413" y="1662802"/>
            <a:ext cx="11401426" cy="4703021"/>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33413" y="6605015"/>
            <a:ext cx="2955926" cy="379409"/>
          </a:xfrm>
          <a:prstGeom prst="rect">
            <a:avLst/>
          </a:prstGeom>
        </p:spPr>
        <p:txBody>
          <a:bodyPr vert="horz" lIns="91440" tIns="45720" rIns="91440" bIns="45720" rtlCol="0" anchor="ctr"/>
          <a:lstStyle>
            <a:lvl1pPr algn="l">
              <a:defRPr sz="1247">
                <a:solidFill>
                  <a:schemeClr val="tx1">
                    <a:tint val="75000"/>
                  </a:schemeClr>
                </a:solidFill>
              </a:defRPr>
            </a:lvl1pPr>
          </a:lstStyle>
          <a:p>
            <a:fld id="{12513D03-E84A-4A3B-8E04-3793B7087933}" type="datetime1">
              <a:rPr lang="ru-RU" smtClean="0"/>
              <a:t>15.03.2026</a:t>
            </a:fld>
            <a:endParaRPr lang="ru-RU"/>
          </a:p>
        </p:txBody>
      </p:sp>
      <p:sp>
        <p:nvSpPr>
          <p:cNvPr id="5" name="Нижний колонтитул 4"/>
          <p:cNvSpPr>
            <a:spLocks noGrp="1"/>
          </p:cNvSpPr>
          <p:nvPr>
            <p:ph type="ftr" sz="quarter" idx="3"/>
          </p:nvPr>
        </p:nvSpPr>
        <p:spPr>
          <a:xfrm>
            <a:off x="4328319" y="6605015"/>
            <a:ext cx="4011613" cy="379409"/>
          </a:xfrm>
          <a:prstGeom prst="rect">
            <a:avLst/>
          </a:prstGeom>
        </p:spPr>
        <p:txBody>
          <a:bodyPr vert="horz" lIns="91440" tIns="45720" rIns="91440" bIns="45720" rtlCol="0" anchor="ctr"/>
          <a:lstStyle>
            <a:lvl1pPr algn="ctr">
              <a:defRPr sz="1247">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9078913" y="6605015"/>
            <a:ext cx="2955926" cy="379409"/>
          </a:xfrm>
          <a:prstGeom prst="rect">
            <a:avLst/>
          </a:prstGeom>
        </p:spPr>
        <p:txBody>
          <a:bodyPr vert="horz" lIns="91440" tIns="45720" rIns="91440" bIns="45720" rtlCol="0" anchor="ctr"/>
          <a:lstStyle>
            <a:lvl1pPr algn="r">
              <a:defRPr sz="1247">
                <a:solidFill>
                  <a:schemeClr val="tx1">
                    <a:tint val="75000"/>
                  </a:schemeClr>
                </a:solidFill>
              </a:defRPr>
            </a:lvl1pPr>
          </a:lstStyle>
          <a:p>
            <a:fld id="{952B6C0E-C4B9-4094-8E59-5B7DF00D5415}" type="slidenum">
              <a:rPr lang="ru-RU" smtClean="0"/>
              <a:t>‹#›</a:t>
            </a:fld>
            <a:endParaRPr lang="ru-RU"/>
          </a:p>
        </p:txBody>
      </p:sp>
    </p:spTree>
    <p:extLst>
      <p:ext uri="{BB962C8B-B14F-4D97-AF65-F5344CB8AC3E}">
        <p14:creationId xmlns:p14="http://schemas.microsoft.com/office/powerpoint/2010/main" val="103412089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50153" rtl="0" eaLnBrk="1" latinLnBrk="0" hangingPunct="1">
        <a:spcBef>
          <a:spcPct val="0"/>
        </a:spcBef>
        <a:buNone/>
        <a:defRPr sz="4572" kern="1200">
          <a:solidFill>
            <a:schemeClr val="tx1"/>
          </a:solidFill>
          <a:latin typeface="+mj-lt"/>
          <a:ea typeface="+mj-ea"/>
          <a:cs typeface="+mj-cs"/>
        </a:defRPr>
      </a:lvl1pPr>
    </p:titleStyle>
    <p:body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p:bodyStyle>
    <p:otherStyle>
      <a:defPPr>
        <a:defRPr lang="ru-RU"/>
      </a:defPPr>
      <a:lvl1pPr marL="0" algn="l" defTabSz="950153" rtl="0" eaLnBrk="1" latinLnBrk="0" hangingPunct="1">
        <a:defRPr sz="1870" kern="1200">
          <a:solidFill>
            <a:schemeClr val="tx1"/>
          </a:solidFill>
          <a:latin typeface="+mn-lt"/>
          <a:ea typeface="+mn-ea"/>
          <a:cs typeface="+mn-cs"/>
        </a:defRPr>
      </a:lvl1pPr>
      <a:lvl2pPr marL="475077" algn="l" defTabSz="950153" rtl="0" eaLnBrk="1" latinLnBrk="0" hangingPunct="1">
        <a:defRPr sz="1870" kern="1200">
          <a:solidFill>
            <a:schemeClr val="tx1"/>
          </a:solidFill>
          <a:latin typeface="+mn-lt"/>
          <a:ea typeface="+mn-ea"/>
          <a:cs typeface="+mn-cs"/>
        </a:defRPr>
      </a:lvl2pPr>
      <a:lvl3pPr marL="950153" algn="l" defTabSz="950153" rtl="0" eaLnBrk="1" latinLnBrk="0" hangingPunct="1">
        <a:defRPr sz="1870" kern="1200">
          <a:solidFill>
            <a:schemeClr val="tx1"/>
          </a:solidFill>
          <a:latin typeface="+mn-lt"/>
          <a:ea typeface="+mn-ea"/>
          <a:cs typeface="+mn-cs"/>
        </a:defRPr>
      </a:lvl3pPr>
      <a:lvl4pPr marL="1425230" algn="l" defTabSz="950153" rtl="0" eaLnBrk="1" latinLnBrk="0" hangingPunct="1">
        <a:defRPr sz="1870" kern="1200">
          <a:solidFill>
            <a:schemeClr val="tx1"/>
          </a:solidFill>
          <a:latin typeface="+mn-lt"/>
          <a:ea typeface="+mn-ea"/>
          <a:cs typeface="+mn-cs"/>
        </a:defRPr>
      </a:lvl4pPr>
      <a:lvl5pPr marL="1900306" algn="l" defTabSz="950153" rtl="0" eaLnBrk="1" latinLnBrk="0" hangingPunct="1">
        <a:defRPr sz="1870" kern="1200">
          <a:solidFill>
            <a:schemeClr val="tx1"/>
          </a:solidFill>
          <a:latin typeface="+mn-lt"/>
          <a:ea typeface="+mn-ea"/>
          <a:cs typeface="+mn-cs"/>
        </a:defRPr>
      </a:lvl5pPr>
      <a:lvl6pPr marL="2375383" algn="l" defTabSz="950153" rtl="0" eaLnBrk="1" latinLnBrk="0" hangingPunct="1">
        <a:defRPr sz="1870" kern="1200">
          <a:solidFill>
            <a:schemeClr val="tx1"/>
          </a:solidFill>
          <a:latin typeface="+mn-lt"/>
          <a:ea typeface="+mn-ea"/>
          <a:cs typeface="+mn-cs"/>
        </a:defRPr>
      </a:lvl6pPr>
      <a:lvl7pPr marL="2850459" algn="l" defTabSz="950153" rtl="0" eaLnBrk="1" latinLnBrk="0" hangingPunct="1">
        <a:defRPr sz="1870" kern="1200">
          <a:solidFill>
            <a:schemeClr val="tx1"/>
          </a:solidFill>
          <a:latin typeface="+mn-lt"/>
          <a:ea typeface="+mn-ea"/>
          <a:cs typeface="+mn-cs"/>
        </a:defRPr>
      </a:lvl7pPr>
      <a:lvl8pPr marL="3325536" algn="l" defTabSz="950153" rtl="0" eaLnBrk="1" latinLnBrk="0" hangingPunct="1">
        <a:defRPr sz="1870" kern="1200">
          <a:solidFill>
            <a:schemeClr val="tx1"/>
          </a:solidFill>
          <a:latin typeface="+mn-lt"/>
          <a:ea typeface="+mn-ea"/>
          <a:cs typeface="+mn-cs"/>
        </a:defRPr>
      </a:lvl8pPr>
      <a:lvl9pPr marL="3800612" algn="l" defTabSz="950153" rtl="0" eaLnBrk="1" latinLnBrk="0" hangingPunct="1">
        <a:defRPr sz="187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NUL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NUL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naftaliharris.com/blog/visualizing-dbscan-clustering/"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9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9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hyperlink" Target="https://blog.sf.education/it-luchshie-biblioteki-yazyka-r/?ysclid=l1vqp9agy5" TargetMode="Externa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Заголовок 1"/>
          <p:cNvSpPr>
            <a:spLocks noGrp="1"/>
          </p:cNvSpPr>
          <p:nvPr>
            <p:ph type="ctrTitle"/>
          </p:nvPr>
        </p:nvSpPr>
        <p:spPr/>
        <p:txBody>
          <a:bodyPr vert="horz" lIns="99441" tIns="49721" rIns="99441" bIns="49721" rtlCol="0" anchor="b">
            <a:normAutofit fontScale="90000"/>
          </a:bodyPr>
          <a:lstStyle/>
          <a:p>
            <a:pPr>
              <a:lnSpc>
                <a:spcPct val="80000"/>
              </a:lnSpc>
              <a:defRPr/>
            </a:pPr>
            <a:r>
              <a:rPr lang="ru-RU" altLang="ru-RU" sz="6600" dirty="0"/>
              <a:t>Курс</a:t>
            </a:r>
            <a:br>
              <a:rPr lang="ru-RU" altLang="ru-RU" sz="6600" dirty="0"/>
            </a:br>
            <a:r>
              <a:rPr lang="ru-RU" altLang="ru-RU" sz="6000" dirty="0"/>
              <a:t>Обработка больших данных</a:t>
            </a:r>
          </a:p>
        </p:txBody>
      </p:sp>
      <p:sp>
        <p:nvSpPr>
          <p:cNvPr id="3075" name="Подзаголовок 2"/>
          <p:cNvSpPr>
            <a:spLocks noGrp="1"/>
          </p:cNvSpPr>
          <p:nvPr>
            <p:ph type="subTitle" idx="1"/>
          </p:nvPr>
        </p:nvSpPr>
        <p:spPr>
          <a:xfrm>
            <a:off x="501477" y="2665772"/>
            <a:ext cx="7917457" cy="2231529"/>
          </a:xfrm>
        </p:spPr>
        <p:txBody>
          <a:bodyPr vert="horz" lIns="99441" tIns="49721" rIns="99441" bIns="49721" rtlCol="0">
            <a:normAutofit fontScale="77500" lnSpcReduction="20000"/>
          </a:bodyPr>
          <a:lstStyle/>
          <a:p>
            <a:pPr>
              <a:defRPr/>
            </a:pPr>
            <a:r>
              <a:rPr lang="ru-RU" altLang="ru-RU" sz="3600" dirty="0"/>
              <a:t>Лекция 6 </a:t>
            </a:r>
            <a:endParaRPr lang="en-US" altLang="ru-RU" sz="3600" dirty="0"/>
          </a:p>
          <a:p>
            <a:pPr>
              <a:defRPr/>
            </a:pPr>
            <a:r>
              <a:rPr lang="ru-RU" altLang="ru-RU" sz="3400" b="1" dirty="0">
                <a:solidFill>
                  <a:srgbClr val="ED8137"/>
                </a:solidFill>
              </a:rPr>
              <a:t>Методы и алгоритмы  </a:t>
            </a:r>
          </a:p>
          <a:p>
            <a:pPr>
              <a:defRPr/>
            </a:pPr>
            <a:r>
              <a:rPr lang="en-US" altLang="ru-RU" sz="3400" b="1" dirty="0">
                <a:solidFill>
                  <a:srgbClr val="ED8137"/>
                </a:solidFill>
              </a:rPr>
              <a:t>Data Analysis</a:t>
            </a:r>
            <a:endParaRPr lang="ru-RU" altLang="ru-RU" sz="3400" b="1" dirty="0">
              <a:solidFill>
                <a:srgbClr val="ED8137"/>
              </a:solidFill>
            </a:endParaRPr>
          </a:p>
          <a:p>
            <a:pPr>
              <a:defRPr/>
            </a:pPr>
            <a:r>
              <a:rPr lang="ru-RU" altLang="ru-RU" sz="3400" b="1" dirty="0">
                <a:solidFill>
                  <a:srgbClr val="ED8137"/>
                </a:solidFill>
              </a:rPr>
              <a:t>Когнитивный анализ данных. </a:t>
            </a:r>
          </a:p>
          <a:p>
            <a:pPr>
              <a:defRPr/>
            </a:pPr>
            <a:r>
              <a:rPr lang="ru-RU" altLang="ru-RU" sz="3400" b="1" dirty="0">
                <a:solidFill>
                  <a:srgbClr val="ED8137"/>
                </a:solidFill>
              </a:rPr>
              <a:t>Кластерный анализ</a:t>
            </a:r>
          </a:p>
        </p:txBody>
      </p:sp>
      <p:sp>
        <p:nvSpPr>
          <p:cNvPr id="5" name="Прямоугольник 1"/>
          <p:cNvSpPr>
            <a:spLocks noChangeArrowheads="1"/>
          </p:cNvSpPr>
          <p:nvPr/>
        </p:nvSpPr>
        <p:spPr bwMode="auto">
          <a:xfrm>
            <a:off x="1162075" y="5154116"/>
            <a:ext cx="51371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cs typeface="Arial" panose="020B0604020202020204" pitchFamily="34" charset="0"/>
              </a:defRPr>
            </a:lvl1pPr>
            <a:lvl2pPr marL="742950" indent="-285750">
              <a:defRPr sz="2000">
                <a:solidFill>
                  <a:schemeClr val="tx1"/>
                </a:solidFill>
                <a:latin typeface="Arial" panose="020B0604020202020204" pitchFamily="34" charset="0"/>
                <a:cs typeface="Arial" panose="020B0604020202020204" pitchFamily="34" charset="0"/>
              </a:defRPr>
            </a:lvl2pPr>
            <a:lvl3pPr marL="1143000" indent="-228600">
              <a:defRPr sz="2000">
                <a:solidFill>
                  <a:schemeClr val="tx1"/>
                </a:solidFill>
                <a:latin typeface="Arial" panose="020B0604020202020204" pitchFamily="34" charset="0"/>
                <a:cs typeface="Arial" panose="020B0604020202020204" pitchFamily="34" charset="0"/>
              </a:defRPr>
            </a:lvl3pPr>
            <a:lvl4pPr marL="1600200" indent="-228600">
              <a:defRPr sz="2000">
                <a:solidFill>
                  <a:schemeClr val="tx1"/>
                </a:solidFill>
                <a:latin typeface="Arial" panose="020B0604020202020204" pitchFamily="34" charset="0"/>
                <a:cs typeface="Arial" panose="020B0604020202020204" pitchFamily="34" charset="0"/>
              </a:defRPr>
            </a:lvl4pPr>
            <a:lvl5pPr marL="2057400" indent="-228600">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r>
              <a:rPr lang="uk-UA" altLang="ru-RU" sz="1600" b="1" i="1" dirty="0"/>
              <a:t>Приходько </a:t>
            </a:r>
            <a:r>
              <a:rPr lang="ru-RU" altLang="ru-RU" sz="1600" b="1" i="1" dirty="0"/>
              <a:t>Татьяна</a:t>
            </a:r>
            <a:r>
              <a:rPr lang="uk-UA" altLang="ru-RU" sz="1600" b="1" i="1" dirty="0"/>
              <a:t> </a:t>
            </a:r>
            <a:r>
              <a:rPr lang="ru-RU" altLang="ru-RU" sz="1600" b="1" i="1" dirty="0"/>
              <a:t>Александровна</a:t>
            </a:r>
            <a:endParaRPr lang="ru-RU" altLang="ru-RU" sz="1600" i="1" dirty="0"/>
          </a:p>
          <a:p>
            <a:pPr algn="ctr" eaLnBrk="1" hangingPunct="1"/>
            <a:r>
              <a:rPr lang="ru-RU" altLang="ru-RU" sz="1400" i="1" dirty="0"/>
              <a:t>доцент кафедры </a:t>
            </a:r>
          </a:p>
          <a:p>
            <a:pPr algn="ctr" eaLnBrk="1" hangingPunct="1"/>
            <a:r>
              <a:rPr lang="ru-RU" altLang="ru-RU" sz="1400" i="1" dirty="0"/>
              <a:t>Вычислительных технологий </a:t>
            </a:r>
            <a:r>
              <a:rPr lang="ru-RU" altLang="ru-RU" sz="1400" i="1" dirty="0" err="1"/>
              <a:t>КубГУ</a:t>
            </a:r>
            <a:endParaRPr lang="ru-RU" altLang="ru-RU" sz="1400" i="1" dirty="0"/>
          </a:p>
        </p:txBody>
      </p:sp>
    </p:spTree>
    <p:extLst>
      <p:ext uri="{BB962C8B-B14F-4D97-AF65-F5344CB8AC3E}">
        <p14:creationId xmlns:p14="http://schemas.microsoft.com/office/powerpoint/2010/main" val="2280526358"/>
      </p:ext>
    </p:extLst>
  </p:cSld>
  <p:clrMapOvr>
    <a:masterClrMapping/>
  </p:clrMapOvr>
  <p:transition spd="slow" advTm="2626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bwMode="auto">
          <a:xfrm>
            <a:off x="2012951" y="466725"/>
            <a:ext cx="8539162" cy="118745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9441" tIns="49721" rIns="99441" bIns="49721" numCol="1" rtlCol="0" anchor="t" anchorCtr="0" compatLnSpc="1">
            <a:prstTxWarp prst="textNoShape">
              <a:avLst/>
            </a:prstTxWarp>
            <a:normAutofit/>
          </a:bodyPr>
          <a:lstStyle/>
          <a:p>
            <a:r>
              <a:rPr lang="ru-RU" altLang="ru-RU"/>
              <a:t>Содержание</a:t>
            </a:r>
          </a:p>
        </p:txBody>
      </p:sp>
      <p:sp>
        <p:nvSpPr>
          <p:cNvPr id="4" name="Номер слайда 3"/>
          <p:cNvSpPr>
            <a:spLocks noGrp="1"/>
          </p:cNvSpPr>
          <p:nvPr>
            <p:ph type="sldNum" sz="quarter" idx="12"/>
          </p:nvPr>
        </p:nvSpPr>
        <p:spPr/>
        <p:txBody>
          <a:bodyPr/>
          <a:lstStyle/>
          <a:p>
            <a:fld id="{952B6C0E-C4B9-4094-8E59-5B7DF00D5415}" type="slidenum">
              <a:rPr lang="ru-RU" smtClean="0"/>
              <a:t>2</a:t>
            </a:fld>
            <a:endParaRPr lang="ru-RU"/>
          </a:p>
        </p:txBody>
      </p:sp>
      <p:sp>
        <p:nvSpPr>
          <p:cNvPr id="24" name="AutoShape 20"/>
          <p:cNvSpPr>
            <a:spLocks noChangeArrowheads="1"/>
          </p:cNvSpPr>
          <p:nvPr/>
        </p:nvSpPr>
        <p:spPr bwMode="auto">
          <a:xfrm>
            <a:off x="2285181" y="4418285"/>
            <a:ext cx="8086725" cy="762000"/>
          </a:xfrm>
          <a:prstGeom prst="roundRect">
            <a:avLst>
              <a:gd name="adj" fmla="val 16667"/>
            </a:avLst>
          </a:prstGeom>
          <a:solidFill>
            <a:srgbClr val="464646">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endParaRPr lang="ru-RU" altLang="ru-RU" sz="3600" b="0">
              <a:solidFill>
                <a:schemeClr val="bg1"/>
              </a:solidFill>
              <a:latin typeface="Arial" panose="020B0604020202020204" pitchFamily="34" charset="0"/>
            </a:endParaRPr>
          </a:p>
        </p:txBody>
      </p:sp>
      <p:sp>
        <p:nvSpPr>
          <p:cNvPr id="25" name="AutoShape 21"/>
          <p:cNvSpPr>
            <a:spLocks noChangeArrowheads="1"/>
          </p:cNvSpPr>
          <p:nvPr/>
        </p:nvSpPr>
        <p:spPr bwMode="auto">
          <a:xfrm>
            <a:off x="2570226" y="4586598"/>
            <a:ext cx="517525" cy="50482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algn="ctr" eaLnBrk="1" hangingPunct="1"/>
            <a:r>
              <a:rPr lang="en-US" altLang="ru-RU" sz="2800" dirty="0">
                <a:solidFill>
                  <a:schemeClr val="bg1"/>
                </a:solidFill>
                <a:latin typeface="Arial" panose="020B0604020202020204" pitchFamily="34" charset="0"/>
              </a:rPr>
              <a:t>4</a:t>
            </a:r>
            <a:endParaRPr lang="ru-RU" altLang="ru-RU" sz="2800" dirty="0">
              <a:solidFill>
                <a:schemeClr val="bg1"/>
              </a:solidFill>
              <a:latin typeface="Arial" panose="020B0604020202020204" pitchFamily="34" charset="0"/>
            </a:endParaRPr>
          </a:p>
        </p:txBody>
      </p:sp>
      <p:sp>
        <p:nvSpPr>
          <p:cNvPr id="26" name="AutoShape 22"/>
          <p:cNvSpPr>
            <a:spLocks noChangeArrowheads="1"/>
          </p:cNvSpPr>
          <p:nvPr/>
        </p:nvSpPr>
        <p:spPr bwMode="auto">
          <a:xfrm>
            <a:off x="2335980" y="4403998"/>
            <a:ext cx="8085138" cy="760413"/>
          </a:xfrm>
          <a:prstGeom prst="roundRect">
            <a:avLst>
              <a:gd name="adj" fmla="val 16667"/>
            </a:avLst>
          </a:prstGeom>
          <a:noFill/>
          <a:ln>
            <a:noFill/>
          </a:ln>
          <a:effectLst/>
          <a:extLst>
            <a:ext uri="{909E8E84-426E-40DD-AFC4-6F175D3DCCD1}">
              <a14:hiddenFill xmlns:a14="http://schemas.microsoft.com/office/drawing/2010/main">
                <a:solidFill>
                  <a:srgbClr val="464646">
                    <a:alpha val="50195"/>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r>
              <a:rPr lang="ru-RU" altLang="ru-RU" sz="3200" b="0" dirty="0">
                <a:solidFill>
                  <a:schemeClr val="bg1"/>
                </a:solidFill>
                <a:latin typeface="Arial" panose="020B0604020202020204" pitchFamily="34" charset="0"/>
              </a:rPr>
              <a:t>Кластеризация</a:t>
            </a:r>
          </a:p>
        </p:txBody>
      </p:sp>
      <p:sp>
        <p:nvSpPr>
          <p:cNvPr id="28" name="AutoShape 25"/>
          <p:cNvSpPr>
            <a:spLocks noChangeArrowheads="1"/>
          </p:cNvSpPr>
          <p:nvPr/>
        </p:nvSpPr>
        <p:spPr bwMode="auto">
          <a:xfrm>
            <a:off x="2285180" y="5363344"/>
            <a:ext cx="8086726" cy="762000"/>
          </a:xfrm>
          <a:prstGeom prst="roundRect">
            <a:avLst>
              <a:gd name="adj" fmla="val 16667"/>
            </a:avLst>
          </a:prstGeom>
          <a:solidFill>
            <a:srgbClr val="464646">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endParaRPr lang="ru-RU" altLang="ru-RU" sz="3200" b="0" dirty="0">
              <a:solidFill>
                <a:schemeClr val="bg1"/>
              </a:solidFill>
              <a:latin typeface="Arial" panose="020B0604020202020204" pitchFamily="34" charset="0"/>
            </a:endParaRPr>
          </a:p>
        </p:txBody>
      </p:sp>
      <p:sp>
        <p:nvSpPr>
          <p:cNvPr id="29" name="AutoShape 26"/>
          <p:cNvSpPr>
            <a:spLocks noChangeArrowheads="1"/>
          </p:cNvSpPr>
          <p:nvPr/>
        </p:nvSpPr>
        <p:spPr bwMode="auto">
          <a:xfrm>
            <a:off x="2594744" y="5495108"/>
            <a:ext cx="517525" cy="50482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algn="ctr" eaLnBrk="1" hangingPunct="1"/>
            <a:r>
              <a:rPr lang="en-US" altLang="ru-RU" sz="2800" dirty="0">
                <a:solidFill>
                  <a:schemeClr val="bg1"/>
                </a:solidFill>
                <a:latin typeface="Arial" panose="020B0604020202020204" pitchFamily="34" charset="0"/>
              </a:rPr>
              <a:t>5</a:t>
            </a:r>
            <a:endParaRPr lang="ru-RU" altLang="ru-RU" sz="2800" dirty="0">
              <a:solidFill>
                <a:schemeClr val="bg1"/>
              </a:solidFill>
              <a:latin typeface="Arial" panose="020B0604020202020204" pitchFamily="34" charset="0"/>
            </a:endParaRPr>
          </a:p>
        </p:txBody>
      </p:sp>
      <p:sp>
        <p:nvSpPr>
          <p:cNvPr id="30" name="AutoShape 27"/>
          <p:cNvSpPr>
            <a:spLocks noChangeArrowheads="1"/>
          </p:cNvSpPr>
          <p:nvPr/>
        </p:nvSpPr>
        <p:spPr bwMode="auto">
          <a:xfrm>
            <a:off x="2343918" y="5379220"/>
            <a:ext cx="8085138" cy="760413"/>
          </a:xfrm>
          <a:prstGeom prst="roundRect">
            <a:avLst>
              <a:gd name="adj" fmla="val 16667"/>
            </a:avLst>
          </a:prstGeom>
          <a:noFill/>
          <a:ln>
            <a:noFill/>
          </a:ln>
          <a:effectLst/>
          <a:extLst>
            <a:ext uri="{909E8E84-426E-40DD-AFC4-6F175D3DCCD1}">
              <a14:hiddenFill xmlns:a14="http://schemas.microsoft.com/office/drawing/2010/main">
                <a:solidFill>
                  <a:srgbClr val="464646">
                    <a:alpha val="50195"/>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26" tIns="45713" rIns="91426" bIns="45713"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r>
              <a:rPr lang="ru-RU" altLang="ru-RU" sz="3200" b="0" dirty="0">
                <a:solidFill>
                  <a:schemeClr val="bg1"/>
                </a:solidFill>
                <a:latin typeface="Arial" panose="020B0604020202020204" pitchFamily="34" charset="0"/>
              </a:rPr>
              <a:t>Примеры кластерного анализа</a:t>
            </a:r>
          </a:p>
        </p:txBody>
      </p:sp>
      <p:grpSp>
        <p:nvGrpSpPr>
          <p:cNvPr id="15" name="Группа 14"/>
          <p:cNvGrpSpPr/>
          <p:nvPr/>
        </p:nvGrpSpPr>
        <p:grpSpPr>
          <a:xfrm>
            <a:off x="2301677" y="1493289"/>
            <a:ext cx="8044182" cy="792162"/>
            <a:chOff x="1111056" y="1711083"/>
            <a:chExt cx="8059976" cy="792162"/>
          </a:xfrm>
        </p:grpSpPr>
        <p:sp>
          <p:nvSpPr>
            <p:cNvPr id="16" name="AutoShape 25"/>
            <p:cNvSpPr>
              <a:spLocks noChangeArrowheads="1"/>
            </p:cNvSpPr>
            <p:nvPr/>
          </p:nvSpPr>
          <p:spPr bwMode="auto">
            <a:xfrm>
              <a:off x="1111056" y="1711083"/>
              <a:ext cx="8059976" cy="792162"/>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17" name="AutoShape 26"/>
            <p:cNvSpPr>
              <a:spLocks noChangeArrowheads="1"/>
            </p:cNvSpPr>
            <p:nvPr/>
          </p:nvSpPr>
          <p:spPr bwMode="auto">
            <a:xfrm>
              <a:off x="1379604" y="1866435"/>
              <a:ext cx="515275" cy="525462"/>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1</a:t>
              </a:r>
            </a:p>
          </p:txBody>
        </p:sp>
        <p:sp>
          <p:nvSpPr>
            <p:cNvPr id="18" name="AutoShape 27"/>
            <p:cNvSpPr>
              <a:spLocks noChangeArrowheads="1"/>
            </p:cNvSpPr>
            <p:nvPr/>
          </p:nvSpPr>
          <p:spPr bwMode="auto">
            <a:xfrm>
              <a:off x="2048568" y="1806091"/>
              <a:ext cx="6906593" cy="621941"/>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marL="0" defTabSz="990600"/>
              <a:r>
                <a:rPr lang="ru-RU" altLang="ru-RU" sz="3500" dirty="0">
                  <a:solidFill>
                    <a:schemeClr val="bg1"/>
                  </a:solidFill>
                </a:rPr>
                <a:t>Когнитивный анализ данных</a:t>
              </a:r>
            </a:p>
          </p:txBody>
        </p:sp>
      </p:grpSp>
      <p:grpSp>
        <p:nvGrpSpPr>
          <p:cNvPr id="3" name="Группа 2"/>
          <p:cNvGrpSpPr/>
          <p:nvPr/>
        </p:nvGrpSpPr>
        <p:grpSpPr>
          <a:xfrm>
            <a:off x="2281583" y="2472590"/>
            <a:ext cx="8090323" cy="791810"/>
            <a:chOff x="1086194" y="2472590"/>
            <a:chExt cx="8147473" cy="791810"/>
          </a:xfrm>
        </p:grpSpPr>
        <p:sp>
          <p:nvSpPr>
            <p:cNvPr id="20" name="AutoShape 4"/>
            <p:cNvSpPr>
              <a:spLocks noChangeArrowheads="1"/>
            </p:cNvSpPr>
            <p:nvPr/>
          </p:nvSpPr>
          <p:spPr bwMode="auto">
            <a:xfrm>
              <a:off x="1086194" y="2472590"/>
              <a:ext cx="8121243" cy="790210"/>
            </a:xfrm>
            <a:prstGeom prst="roundRect">
              <a:avLst>
                <a:gd name="adj" fmla="val 16667"/>
              </a:avLst>
            </a:prstGeom>
            <a:solidFill>
              <a:srgbClr val="464646">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03" tIns="47501" rIns="95003" bIns="47501"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endParaRPr lang="ru-RU" altLang="ru-RU" sz="3325" b="0">
                <a:solidFill>
                  <a:schemeClr val="bg1"/>
                </a:solidFill>
                <a:latin typeface="Arial" panose="020B0604020202020204" pitchFamily="34" charset="0"/>
              </a:endParaRPr>
            </a:p>
          </p:txBody>
        </p:sp>
        <p:sp>
          <p:nvSpPr>
            <p:cNvPr id="21" name="AutoShape 5"/>
            <p:cNvSpPr>
              <a:spLocks noChangeArrowheads="1"/>
            </p:cNvSpPr>
            <p:nvPr/>
          </p:nvSpPr>
          <p:spPr bwMode="auto">
            <a:xfrm>
              <a:off x="1394631" y="2598905"/>
              <a:ext cx="518780" cy="523791"/>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03" tIns="47501" rIns="95003" bIns="47501"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algn="ctr" eaLnBrk="1" hangingPunct="1"/>
              <a:r>
                <a:rPr lang="en-US" altLang="ru-RU" sz="2909" dirty="0">
                  <a:solidFill>
                    <a:schemeClr val="bg1"/>
                  </a:solidFill>
                  <a:latin typeface="Arial" panose="020B0604020202020204" pitchFamily="34" charset="0"/>
                </a:rPr>
                <a:t>2</a:t>
              </a:r>
              <a:endParaRPr lang="ru-RU" altLang="ru-RU" sz="2909" dirty="0">
                <a:solidFill>
                  <a:schemeClr val="bg1"/>
                </a:solidFill>
                <a:latin typeface="Arial" panose="020B0604020202020204" pitchFamily="34" charset="0"/>
              </a:endParaRPr>
            </a:p>
          </p:txBody>
        </p:sp>
        <p:sp>
          <p:nvSpPr>
            <p:cNvPr id="22" name="AutoShape 6"/>
            <p:cNvSpPr>
              <a:spLocks noChangeArrowheads="1"/>
            </p:cNvSpPr>
            <p:nvPr/>
          </p:nvSpPr>
          <p:spPr bwMode="auto">
            <a:xfrm>
              <a:off x="1113882" y="2472590"/>
              <a:ext cx="8119785" cy="791810"/>
            </a:xfrm>
            <a:prstGeom prst="roundRect">
              <a:avLst>
                <a:gd name="adj" fmla="val 16667"/>
              </a:avLst>
            </a:prstGeom>
            <a:noFill/>
            <a:ln>
              <a:noFill/>
            </a:ln>
            <a:effectLst/>
            <a:extLst>
              <a:ext uri="{909E8E84-426E-40DD-AFC4-6F175D3DCCD1}">
                <a14:hiddenFill xmlns:a14="http://schemas.microsoft.com/office/drawing/2010/main">
                  <a:solidFill>
                    <a:srgbClr val="464646">
                      <a:alpha val="50195"/>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03" tIns="47501" rIns="95003" bIns="47501"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r>
                <a:rPr lang="ru-RU" altLang="ru-RU" sz="3200" b="0" dirty="0">
                  <a:solidFill>
                    <a:schemeClr val="bg1"/>
                  </a:solidFill>
                  <a:latin typeface="Arial" panose="020B0604020202020204" pitchFamily="34" charset="0"/>
                </a:rPr>
                <a:t>Задачи </a:t>
              </a:r>
              <a:r>
                <a:rPr lang="en-US" altLang="ru-RU" sz="3200" b="0" dirty="0">
                  <a:solidFill>
                    <a:schemeClr val="bg1"/>
                  </a:solidFill>
                  <a:latin typeface="Arial" panose="020B0604020202020204" pitchFamily="34" charset="0"/>
                </a:rPr>
                <a:t>Data </a:t>
              </a:r>
              <a:r>
                <a:rPr lang="en-US" sz="3200" b="0" dirty="0">
                  <a:solidFill>
                    <a:schemeClr val="bg1"/>
                  </a:solidFill>
                  <a:latin typeface="Arial" panose="020B0604020202020204" pitchFamily="34" charset="0"/>
                </a:rPr>
                <a:t>Analysis</a:t>
              </a:r>
              <a:endParaRPr lang="ru-RU" altLang="ru-RU" sz="3200" b="0" dirty="0">
                <a:solidFill>
                  <a:schemeClr val="bg1"/>
                </a:solidFill>
                <a:latin typeface="Arial" panose="020B0604020202020204" pitchFamily="34" charset="0"/>
              </a:endParaRPr>
            </a:p>
          </p:txBody>
        </p:sp>
      </p:grpSp>
      <p:grpSp>
        <p:nvGrpSpPr>
          <p:cNvPr id="31" name="Group 7"/>
          <p:cNvGrpSpPr>
            <a:grpSpLocks/>
          </p:cNvGrpSpPr>
          <p:nvPr/>
        </p:nvGrpSpPr>
        <p:grpSpPr bwMode="auto">
          <a:xfrm>
            <a:off x="2281910" y="3422072"/>
            <a:ext cx="8058185" cy="790758"/>
            <a:chOff x="861" y="2007"/>
            <a:chExt cx="5573" cy="494"/>
          </a:xfrm>
        </p:grpSpPr>
        <p:sp>
          <p:nvSpPr>
            <p:cNvPr id="32" name="AutoShape 8"/>
            <p:cNvSpPr>
              <a:spLocks noChangeArrowheads="1"/>
            </p:cNvSpPr>
            <p:nvPr/>
          </p:nvSpPr>
          <p:spPr bwMode="auto">
            <a:xfrm>
              <a:off x="861" y="2007"/>
              <a:ext cx="5573" cy="494"/>
            </a:xfrm>
            <a:prstGeom prst="roundRect">
              <a:avLst>
                <a:gd name="adj" fmla="val 16667"/>
              </a:avLst>
            </a:prstGeom>
            <a:solidFill>
              <a:srgbClr val="464646">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03" tIns="47501" rIns="95003" bIns="47501"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endParaRPr lang="ru-RU" altLang="ru-RU" sz="3325" b="0">
                <a:solidFill>
                  <a:schemeClr val="bg1"/>
                </a:solidFill>
                <a:latin typeface="Arial" panose="020B0604020202020204" pitchFamily="34" charset="0"/>
              </a:endParaRPr>
            </a:p>
          </p:txBody>
        </p:sp>
        <p:sp>
          <p:nvSpPr>
            <p:cNvPr id="33" name="AutoShape 9"/>
            <p:cNvSpPr>
              <a:spLocks noChangeArrowheads="1"/>
            </p:cNvSpPr>
            <p:nvPr/>
          </p:nvSpPr>
          <p:spPr bwMode="auto">
            <a:xfrm>
              <a:off x="1073" y="2103"/>
              <a:ext cx="356" cy="329"/>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03" tIns="47501" rIns="95003" bIns="47501"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algn="ctr" eaLnBrk="1" hangingPunct="1"/>
              <a:r>
                <a:rPr lang="en-US" altLang="ru-RU" sz="2909" dirty="0">
                  <a:solidFill>
                    <a:schemeClr val="bg1"/>
                  </a:solidFill>
                  <a:latin typeface="Arial" panose="020B0604020202020204" pitchFamily="34" charset="0"/>
                </a:rPr>
                <a:t>3</a:t>
              </a:r>
              <a:endParaRPr lang="ru-RU" altLang="ru-RU" sz="2909" dirty="0">
                <a:solidFill>
                  <a:schemeClr val="bg1"/>
                </a:solidFill>
                <a:latin typeface="Arial" panose="020B0604020202020204" pitchFamily="34" charset="0"/>
              </a:endParaRPr>
            </a:p>
          </p:txBody>
        </p:sp>
        <p:sp>
          <p:nvSpPr>
            <p:cNvPr id="34" name="AutoShape 10"/>
            <p:cNvSpPr>
              <a:spLocks noChangeArrowheads="1"/>
            </p:cNvSpPr>
            <p:nvPr/>
          </p:nvSpPr>
          <p:spPr bwMode="auto">
            <a:xfrm>
              <a:off x="1413" y="2007"/>
              <a:ext cx="4848" cy="494"/>
            </a:xfrm>
            <a:prstGeom prst="roundRect">
              <a:avLst>
                <a:gd name="adj" fmla="val 16667"/>
              </a:avLst>
            </a:prstGeom>
            <a:noFill/>
            <a:ln>
              <a:noFill/>
            </a:ln>
            <a:effectLst/>
            <a:extLst>
              <a:ext uri="{909E8E84-426E-40DD-AFC4-6F175D3DCCD1}">
                <a14:hiddenFill xmlns:a14="http://schemas.microsoft.com/office/drawing/2010/main">
                  <a:solidFill>
                    <a:srgbClr val="464646">
                      <a:alpha val="50195"/>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5003" tIns="47501" rIns="95003" bIns="47501" anchor="ctr"/>
            <a:lstStyle>
              <a:lvl1pPr marL="903288">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marL="85725"/>
              <a:r>
                <a:rPr lang="ru-RU" altLang="ru-RU" sz="3325" b="0" dirty="0">
                  <a:latin typeface="Arial" panose="020B0604020202020204" pitchFamily="34" charset="0"/>
                </a:rPr>
                <a:t> </a:t>
              </a:r>
              <a:r>
                <a:rPr lang="ru-RU" altLang="ru-RU" sz="3200" b="0" dirty="0">
                  <a:solidFill>
                    <a:schemeClr val="bg1"/>
                  </a:solidFill>
                  <a:latin typeface="Arial" panose="020B0604020202020204" pitchFamily="34" charset="0"/>
                </a:rPr>
                <a:t>Классификация методов </a:t>
              </a:r>
              <a:r>
                <a:rPr lang="en-US" altLang="ru-RU" sz="3200" b="0" dirty="0">
                  <a:solidFill>
                    <a:schemeClr val="bg1"/>
                  </a:solidFill>
                  <a:latin typeface="Arial" panose="020B0604020202020204" pitchFamily="34" charset="0"/>
                </a:rPr>
                <a:t>DA</a:t>
              </a:r>
              <a:endParaRPr lang="ru-RU" altLang="ru-RU" sz="3200" b="0" dirty="0">
                <a:solidFill>
                  <a:schemeClr val="bg1"/>
                </a:solidFill>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1+#ppt_w/2"/>
                                          </p:val>
                                        </p:tav>
                                        <p:tav tm="100000">
                                          <p:val>
                                            <p:strVal val="#ppt_x"/>
                                          </p:val>
                                        </p:tav>
                                      </p:tavLst>
                                    </p:anim>
                                    <p:anim calcmode="lin" valueType="num">
                                      <p:cBhvr additive="base">
                                        <p:cTn id="8"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1</a:t>
            </a:r>
          </a:p>
        </p:txBody>
      </p:sp>
      <p:sp>
        <p:nvSpPr>
          <p:cNvPr id="213001" name="AutoShape 9"/>
          <p:cNvSpPr>
            <a:spLocks noChangeArrowheads="1"/>
          </p:cNvSpPr>
          <p:nvPr/>
        </p:nvSpPr>
        <p:spPr bwMode="auto">
          <a:xfrm>
            <a:off x="2144713" y="3140075"/>
            <a:ext cx="8509892" cy="1284288"/>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r>
              <a:rPr lang="ru-RU" altLang="ru-RU" sz="3500" dirty="0">
                <a:solidFill>
                  <a:schemeClr val="bg1"/>
                </a:solidFill>
              </a:rPr>
              <a:t>Когнитивный анализ данных</a:t>
            </a:r>
          </a:p>
        </p:txBody>
      </p:sp>
      <p:sp>
        <p:nvSpPr>
          <p:cNvPr id="3" name="Номер слайда 2"/>
          <p:cNvSpPr>
            <a:spLocks noGrp="1"/>
          </p:cNvSpPr>
          <p:nvPr>
            <p:ph type="sldNum" sz="quarter" idx="12"/>
          </p:nvPr>
        </p:nvSpPr>
        <p:spPr/>
        <p:txBody>
          <a:bodyPr/>
          <a:lstStyle/>
          <a:p>
            <a:fld id="{952B6C0E-C4B9-4094-8E59-5B7DF00D5415}" type="slidenum">
              <a:rPr lang="ru-RU" smtClean="0"/>
              <a:t>3</a:t>
            </a:fld>
            <a:endParaRPr lang="ru-R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3001"/>
                                        </p:tgtEl>
                                        <p:attrNameLst>
                                          <p:attrName>style.visibility</p:attrName>
                                        </p:attrNameLst>
                                      </p:cBhvr>
                                      <p:to>
                                        <p:strVal val="visible"/>
                                      </p:to>
                                    </p:set>
                                    <p:anim calcmode="lin" valueType="num">
                                      <p:cBhvr additive="base">
                                        <p:cTn id="7" dur="500" fill="hold"/>
                                        <p:tgtEl>
                                          <p:spTgt spid="213001"/>
                                        </p:tgtEl>
                                        <p:attrNameLst>
                                          <p:attrName>ppt_x</p:attrName>
                                        </p:attrNameLst>
                                      </p:cBhvr>
                                      <p:tavLst>
                                        <p:tav tm="0">
                                          <p:val>
                                            <p:strVal val="1+#ppt_w/2"/>
                                          </p:val>
                                        </p:tav>
                                        <p:tav tm="100000">
                                          <p:val>
                                            <p:strVal val="#ppt_x"/>
                                          </p:val>
                                        </p:tav>
                                      </p:tavLst>
                                    </p:anim>
                                    <p:anim calcmode="lin" valueType="num">
                                      <p:cBhvr additive="base">
                                        <p:cTn id="8" dur="500" fill="hold"/>
                                        <p:tgtEl>
                                          <p:spTgt spid="2130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AutoShape 2"/>
          <p:cNvSpPr>
            <a:spLocks noChangeArrowheads="1"/>
          </p:cNvSpPr>
          <p:nvPr/>
        </p:nvSpPr>
        <p:spPr bwMode="auto">
          <a:xfrm>
            <a:off x="1438275" y="322263"/>
            <a:ext cx="10728497" cy="6337300"/>
          </a:xfrm>
          <a:prstGeom prst="roundRect">
            <a:avLst>
              <a:gd name="adj" fmla="val 16667"/>
            </a:avLst>
          </a:prstGeom>
          <a:solidFill>
            <a:schemeClr val="bg1">
              <a:alpha val="85001"/>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23235" name="Rectangle 3"/>
          <p:cNvSpPr>
            <a:spLocks noChangeArrowheads="1"/>
          </p:cNvSpPr>
          <p:nvPr/>
        </p:nvSpPr>
        <p:spPr bwMode="auto">
          <a:xfrm>
            <a:off x="1870076" y="2698750"/>
            <a:ext cx="8928100" cy="2617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r>
              <a:rPr lang="ru-RU" altLang="ru-RU" sz="3600" b="1"/>
              <a:t>Накопление данных</a:t>
            </a:r>
            <a:r>
              <a:rPr lang="en-US" altLang="ru-RU" sz="3600" b="1"/>
              <a:t> -&gt;</a:t>
            </a:r>
            <a:endParaRPr lang="ru-RU" altLang="ru-RU" sz="3600" b="1"/>
          </a:p>
          <a:p>
            <a:r>
              <a:rPr lang="ru-RU" altLang="ru-RU" sz="3600" b="1"/>
              <a:t>анализ данных -</a:t>
            </a:r>
            <a:r>
              <a:rPr lang="en-US" altLang="ru-RU" sz="3600" b="1"/>
              <a:t>&gt; </a:t>
            </a:r>
            <a:r>
              <a:rPr lang="ru-RU" altLang="ru-RU" sz="3600" b="1"/>
              <a:t>извлечение знаний </a:t>
            </a:r>
          </a:p>
          <a:p>
            <a:r>
              <a:rPr lang="ru-RU" altLang="ru-RU" sz="3600" b="1"/>
              <a:t>= </a:t>
            </a:r>
            <a:r>
              <a:rPr lang="ru-RU" altLang="ru-RU" sz="3600" b="1" i="1">
                <a:solidFill>
                  <a:schemeClr val="hlink"/>
                </a:solidFill>
              </a:rPr>
              <a:t>когнитивный процесс</a:t>
            </a:r>
            <a:endParaRPr lang="ru-RU" altLang="ru-RU" sz="3600" i="1">
              <a:solidFill>
                <a:schemeClr val="hlink"/>
              </a:solidFill>
            </a:endParaRPr>
          </a:p>
          <a:p>
            <a:pPr algn="ctr">
              <a:spcBef>
                <a:spcPct val="20000"/>
              </a:spcBef>
            </a:pPr>
            <a:endParaRPr lang="ru-RU" altLang="ru-RU" sz="4800" b="1"/>
          </a:p>
        </p:txBody>
      </p:sp>
      <p:sp>
        <p:nvSpPr>
          <p:cNvPr id="3" name="Номер слайда 2"/>
          <p:cNvSpPr>
            <a:spLocks noGrp="1"/>
          </p:cNvSpPr>
          <p:nvPr>
            <p:ph type="sldNum" sz="quarter" idx="12"/>
          </p:nvPr>
        </p:nvSpPr>
        <p:spPr/>
        <p:txBody>
          <a:bodyPr/>
          <a:lstStyle/>
          <a:p>
            <a:fld id="{952B6C0E-C4B9-4094-8E59-5B7DF00D5415}" type="slidenum">
              <a:rPr lang="ru-RU" smtClean="0"/>
              <a:t>4</a:t>
            </a:fld>
            <a:endParaRPr lang="ru-RU"/>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8" name="AutoShape 4"/>
          <p:cNvSpPr>
            <a:spLocks noChangeArrowheads="1"/>
          </p:cNvSpPr>
          <p:nvPr/>
        </p:nvSpPr>
        <p:spPr bwMode="auto">
          <a:xfrm>
            <a:off x="789509" y="322263"/>
            <a:ext cx="11449272"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5</a:t>
            </a:fld>
            <a:endParaRPr lang="ru-RU" sz="1400" dirty="0">
              <a:solidFill>
                <a:schemeClr val="tx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ru-RU" altLang="ru-RU" b="1">
                <a:solidFill>
                  <a:schemeClr val="hlink"/>
                </a:solidFill>
              </a:rPr>
              <a:t>Экскурс в историю</a:t>
            </a:r>
          </a:p>
        </p:txBody>
      </p:sp>
      <p:sp>
        <p:nvSpPr>
          <p:cNvPr id="180227" name="Объект 2"/>
          <p:cNvSpPr>
            <a:spLocks noGrp="1"/>
          </p:cNvSpPr>
          <p:nvPr>
            <p:ph idx="4294967295"/>
          </p:nvPr>
        </p:nvSpPr>
        <p:spPr bwMode="auto">
          <a:xfrm>
            <a:off x="994146" y="1330326"/>
            <a:ext cx="10596563" cy="540067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noAutofit/>
          </a:bodyPr>
          <a:lstStyle/>
          <a:p>
            <a:pPr marL="269875" indent="-269875" defTabSz="914400">
              <a:buNone/>
            </a:pPr>
            <a:r>
              <a:rPr lang="ru-RU" altLang="ru-RU" sz="2800" b="1" i="1" dirty="0"/>
              <a:t>Коротко об истории Искусственного интеллекта</a:t>
            </a:r>
          </a:p>
          <a:p>
            <a:pPr marL="269875" indent="-269875" defTabSz="914400">
              <a:buNone/>
            </a:pPr>
            <a:endParaRPr lang="ru-RU" altLang="ru-RU" sz="2000" b="1" i="1" dirty="0"/>
          </a:p>
          <a:p>
            <a:pPr marL="269875" indent="-269875" defTabSz="914400">
              <a:buClr>
                <a:srgbClr val="FF5050"/>
              </a:buClr>
              <a:buSzPct val="150000"/>
            </a:pPr>
            <a:r>
              <a:rPr lang="ru-RU" altLang="ru-RU" sz="2400" b="1" dirty="0"/>
              <a:t> </a:t>
            </a:r>
            <a:r>
              <a:rPr lang="ru-RU" altLang="ru-RU" sz="2400" dirty="0"/>
              <a:t>Широкие исследования этой проблемы начались в 60-х годах прошлого века. В 1969 году в Вашингтоне проходила </a:t>
            </a:r>
            <a:r>
              <a:rPr lang="ru-RU" altLang="ru-RU" sz="2400" i="1" dirty="0"/>
              <a:t>Первая Объединенная Международная Конференция по Искусственному Интеллекту (</a:t>
            </a:r>
            <a:r>
              <a:rPr lang="en-US" altLang="ru-RU" sz="2400" i="1" dirty="0"/>
              <a:t>IJCAI</a:t>
            </a:r>
            <a:r>
              <a:rPr lang="ru-RU" altLang="ru-RU" sz="2400" i="1" dirty="0"/>
              <a:t>)</a:t>
            </a:r>
            <a:r>
              <a:rPr lang="ru-RU" altLang="ru-RU" sz="2400" dirty="0"/>
              <a:t>. Главный вопрос, который обсуждался на этой конференции, - что такое Искусственный интеллект? Какую систему можно называть интеллектуальной? </a:t>
            </a:r>
          </a:p>
          <a:p>
            <a:pPr marL="269875" indent="-269875" defTabSz="914400">
              <a:buClr>
                <a:srgbClr val="FF5050"/>
              </a:buClr>
              <a:buSzPct val="150000"/>
            </a:pPr>
            <a:r>
              <a:rPr lang="ru-RU" altLang="ru-RU" sz="2400" dirty="0"/>
              <a:t>Для оценки интеллекта предлагали использовать тест Тьюринга: </a:t>
            </a:r>
          </a:p>
          <a:p>
            <a:pPr marL="742950" lvl="1" indent="-285750" defTabSz="914400"/>
            <a:r>
              <a:rPr lang="ru-RU" altLang="ru-RU" sz="2400" dirty="0"/>
              <a:t>эксперт задает вопросы двум системам, одна из которых есть человек, а вторая - машина. Если, эксперт за заданное время не сможет угадать, какая система человек, а какая машина, то считается, что эта машина обладает интеллектом.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80227">
                                            <p:txEl>
                                              <p:pRg st="4" end="4"/>
                                            </p:txEl>
                                          </p:spTgt>
                                        </p:tgtEl>
                                        <p:attrNameLst>
                                          <p:attrName>style.visibility</p:attrName>
                                        </p:attrNameLst>
                                      </p:cBhvr>
                                      <p:to>
                                        <p:strVal val="visible"/>
                                      </p:to>
                                    </p:set>
                                    <p:animEffect transition="in" filter="wipe(up)">
                                      <p:cBhvr>
                                        <p:cTn id="7" dur="500"/>
                                        <p:tgtEl>
                                          <p:spTgt spid="180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AutoShape 4"/>
          <p:cNvSpPr>
            <a:spLocks noChangeArrowheads="1"/>
          </p:cNvSpPr>
          <p:nvPr/>
        </p:nvSpPr>
        <p:spPr bwMode="auto">
          <a:xfrm>
            <a:off x="633411" y="322263"/>
            <a:ext cx="11677377"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5" name="Номер слайда 4"/>
          <p:cNvSpPr>
            <a:spLocks noGrp="1"/>
          </p:cNvSpPr>
          <p:nvPr>
            <p:ph type="sldNum" sz="quarter" idx="12"/>
          </p:nvPr>
        </p:nvSpPr>
        <p:spPr/>
        <p:txBody>
          <a:bodyPr/>
          <a:lstStyle/>
          <a:p>
            <a:fld id="{952B6C0E-C4B9-4094-8E59-5B7DF00D5415}" type="slidenum">
              <a:rPr lang="ru-RU" smtClean="0">
                <a:solidFill>
                  <a:schemeClr val="tx1"/>
                </a:solidFill>
              </a:rPr>
              <a:t>6</a:t>
            </a:fld>
            <a:endParaRPr lang="ru-RU" dirty="0">
              <a:solidFill>
                <a:schemeClr val="tx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ru-RU" altLang="ru-RU" b="1">
                <a:solidFill>
                  <a:schemeClr val="hlink"/>
                </a:solidFill>
              </a:rPr>
              <a:t>Определение  Д. Мики</a:t>
            </a:r>
          </a:p>
        </p:txBody>
      </p:sp>
      <p:sp>
        <p:nvSpPr>
          <p:cNvPr id="3" name="Объект 2"/>
          <p:cNvSpPr>
            <a:spLocks noGrp="1"/>
          </p:cNvSpPr>
          <p:nvPr>
            <p:ph idx="4294967295"/>
          </p:nvPr>
        </p:nvSpPr>
        <p:spPr bwMode="auto">
          <a:xfrm>
            <a:off x="1195389" y="1520826"/>
            <a:ext cx="8918575" cy="507047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90488" indent="-90488" defTabSz="914400">
              <a:lnSpc>
                <a:spcPct val="105000"/>
              </a:lnSpc>
              <a:spcAft>
                <a:spcPts val="1000"/>
              </a:spcAft>
              <a:buNone/>
            </a:pPr>
            <a:r>
              <a:rPr lang="ru-RU" altLang="ru-RU" sz="2600" b="1" dirty="0">
                <a:ea typeface="Calibri" panose="020F0502020204030204" pitchFamily="34" charset="0"/>
                <a:cs typeface="Times New Roman" panose="02020603050405020304" pitchFamily="18" charset="0"/>
              </a:rPr>
              <a:t>Более конструктивным можно считать определение ИИ, данное Д. Мики. </a:t>
            </a:r>
          </a:p>
          <a:p>
            <a:pPr marL="90488" indent="-90488" defTabSz="914400">
              <a:lnSpc>
                <a:spcPct val="105000"/>
              </a:lnSpc>
              <a:spcAft>
                <a:spcPts val="1000"/>
              </a:spcAft>
              <a:buNone/>
            </a:pPr>
            <a:r>
              <a:rPr lang="ru-RU" altLang="ru-RU" sz="2600" b="1" dirty="0">
                <a:ea typeface="Calibri" panose="020F0502020204030204" pitchFamily="34" charset="0"/>
                <a:cs typeface="Times New Roman" panose="02020603050405020304" pitchFamily="18" charset="0"/>
              </a:rPr>
              <a:t> Он считает, что интеллектуальная система должна:</a:t>
            </a:r>
          </a:p>
          <a:p>
            <a:pPr marL="742950" lvl="1" indent="-285750" defTabSz="914400">
              <a:lnSpc>
                <a:spcPct val="105000"/>
              </a:lnSpc>
              <a:spcAft>
                <a:spcPts val="1000"/>
              </a:spcAft>
            </a:pPr>
            <a:r>
              <a:rPr lang="ru-RU" altLang="ru-RU" sz="2500" b="1" dirty="0">
                <a:ea typeface="Calibri" panose="020F0502020204030204" pitchFamily="34" charset="0"/>
                <a:cs typeface="Times New Roman" panose="02020603050405020304" pitchFamily="18" charset="0"/>
              </a:rPr>
              <a:t>  </a:t>
            </a:r>
            <a:r>
              <a:rPr lang="ru-RU" altLang="ru-RU" sz="2500" dirty="0">
                <a:ea typeface="Calibri" panose="020F0502020204030204" pitchFamily="34" charset="0"/>
                <a:cs typeface="Times New Roman" panose="02020603050405020304" pitchFamily="18" charset="0"/>
              </a:rPr>
              <a:t>строить модель проблемной ситуации;</a:t>
            </a:r>
          </a:p>
          <a:p>
            <a:pPr marL="742950" lvl="1" indent="-285750" defTabSz="914400">
              <a:lnSpc>
                <a:spcPct val="105000"/>
              </a:lnSpc>
              <a:spcAft>
                <a:spcPts val="1000"/>
              </a:spcAft>
            </a:pPr>
            <a:r>
              <a:rPr lang="ru-RU" altLang="ru-RU" sz="2500" dirty="0">
                <a:ea typeface="Calibri" panose="020F0502020204030204" pitchFamily="34" charset="0"/>
                <a:cs typeface="Times New Roman" panose="02020603050405020304" pitchFamily="18" charset="0"/>
              </a:rPr>
              <a:t>  создавать план действий с использованием этой модели; </a:t>
            </a:r>
          </a:p>
          <a:p>
            <a:pPr marL="742950" lvl="1" indent="-285750" defTabSz="914400">
              <a:lnSpc>
                <a:spcPct val="105000"/>
              </a:lnSpc>
              <a:spcAft>
                <a:spcPts val="1000"/>
              </a:spcAft>
            </a:pPr>
            <a:r>
              <a:rPr lang="ru-RU" altLang="ru-RU" sz="2500" dirty="0">
                <a:ea typeface="Calibri" panose="020F0502020204030204" pitchFamily="34" charset="0"/>
                <a:cs typeface="Times New Roman" panose="02020603050405020304" pitchFamily="18" charset="0"/>
              </a:rPr>
              <a:t> уметь изменять план, если встречаются новые ситуации; </a:t>
            </a:r>
          </a:p>
          <a:p>
            <a:pPr marL="742950" lvl="1" indent="-285750" defTabSz="914400">
              <a:lnSpc>
                <a:spcPct val="105000"/>
              </a:lnSpc>
              <a:spcAft>
                <a:spcPts val="1000"/>
              </a:spcAft>
            </a:pPr>
            <a:r>
              <a:rPr lang="ru-RU" altLang="ru-RU" sz="2500" dirty="0">
                <a:ea typeface="Calibri" panose="020F0502020204030204" pitchFamily="34" charset="0"/>
                <a:cs typeface="Times New Roman" panose="02020603050405020304" pitchFamily="18" charset="0"/>
              </a:rPr>
              <a:t> использовать опыт удач и неудач для улучшения модели.</a:t>
            </a:r>
            <a:r>
              <a:rPr lang="ru-RU" altLang="ru-RU" sz="2100" b="1" dirty="0">
                <a:ea typeface="Calibri" panose="020F0502020204030204" pitchFamily="34" charset="0"/>
                <a:cs typeface="Times New Roman" panose="02020603050405020304" pitchFamily="18" charset="0"/>
              </a:rPr>
              <a:t>   </a:t>
            </a:r>
            <a:endParaRPr lang="ru-RU" altLang="ru-RU" sz="21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300" name="AutoShape 4"/>
          <p:cNvSpPr>
            <a:spLocks noChangeArrowheads="1"/>
          </p:cNvSpPr>
          <p:nvPr/>
        </p:nvSpPr>
        <p:spPr bwMode="auto">
          <a:xfrm>
            <a:off x="1438275" y="322263"/>
            <a:ext cx="10800505"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5" name="Номер слайда 4"/>
          <p:cNvSpPr>
            <a:spLocks noGrp="1"/>
          </p:cNvSpPr>
          <p:nvPr>
            <p:ph type="sldNum" sz="quarter" idx="12"/>
          </p:nvPr>
        </p:nvSpPr>
        <p:spPr/>
        <p:txBody>
          <a:bodyPr/>
          <a:lstStyle/>
          <a:p>
            <a:fld id="{952B6C0E-C4B9-4094-8E59-5B7DF00D5415}" type="slidenum">
              <a:rPr lang="ru-RU" smtClean="0">
                <a:solidFill>
                  <a:schemeClr val="tx1"/>
                </a:solidFill>
              </a:rPr>
              <a:t>7</a:t>
            </a:fld>
            <a:endParaRPr lang="ru-RU" dirty="0">
              <a:solidFill>
                <a:schemeClr val="tx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ru-RU" altLang="ru-RU" b="1">
                <a:solidFill>
                  <a:schemeClr val="hlink"/>
                </a:solidFill>
              </a:rPr>
              <a:t>Декатлон</a:t>
            </a:r>
          </a:p>
        </p:txBody>
      </p:sp>
      <p:sp>
        <p:nvSpPr>
          <p:cNvPr id="3" name="Объект 2"/>
          <p:cNvSpPr>
            <a:spLocks noGrp="1"/>
          </p:cNvSpPr>
          <p:nvPr>
            <p:ph idx="4294967295"/>
          </p:nvPr>
        </p:nvSpPr>
        <p:spPr bwMode="auto">
          <a:xfrm>
            <a:off x="1195389" y="1473201"/>
            <a:ext cx="10179296" cy="5141913"/>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666750" indent="-666750" defTabSz="914400">
              <a:lnSpc>
                <a:spcPct val="80000"/>
              </a:lnSpc>
              <a:buNone/>
            </a:pPr>
            <a:r>
              <a:rPr lang="ru-RU" altLang="ru-RU" sz="2300" b="1" dirty="0"/>
              <a:t>В 1972 году на Международном семинаре в Шотландии по робототехнике был разработан перечень из 10 задач, решение которых позволяло бы называть систему интеллектуальной. </a:t>
            </a:r>
          </a:p>
          <a:p>
            <a:pPr marL="1028700" lvl="1" indent="-571500" defTabSz="914400">
              <a:lnSpc>
                <a:spcPct val="80000"/>
              </a:lnSpc>
              <a:buFontTx/>
              <a:buAutoNum type="arabicPeriod"/>
            </a:pPr>
            <a:r>
              <a:rPr lang="ru-RU" altLang="ru-RU" sz="2400" dirty="0"/>
              <a:t>Шахматные программы;</a:t>
            </a:r>
          </a:p>
          <a:p>
            <a:pPr marL="1028700" lvl="1" indent="-571500" defTabSz="914400">
              <a:lnSpc>
                <a:spcPct val="80000"/>
              </a:lnSpc>
              <a:buFontTx/>
              <a:buAutoNum type="arabicPeriod"/>
            </a:pPr>
            <a:r>
              <a:rPr lang="ru-RU" altLang="ru-RU" sz="2400" dirty="0"/>
              <a:t>Машинное творчество  в области музыки, живописи и поэзии;</a:t>
            </a:r>
          </a:p>
          <a:p>
            <a:pPr marL="1028700" lvl="1" indent="-571500" defTabSz="914400">
              <a:lnSpc>
                <a:spcPct val="80000"/>
              </a:lnSpc>
              <a:buFontTx/>
              <a:buAutoNum type="arabicPeriod"/>
            </a:pPr>
            <a:r>
              <a:rPr lang="ru-RU" altLang="ru-RU" sz="2400" dirty="0"/>
              <a:t>Машины, выдерживающие тест Тьюринга;</a:t>
            </a:r>
          </a:p>
          <a:p>
            <a:pPr marL="1028700" lvl="1" indent="-571500" defTabSz="914400">
              <a:lnSpc>
                <a:spcPct val="80000"/>
              </a:lnSpc>
              <a:buFontTx/>
              <a:buAutoNum type="arabicPeriod"/>
            </a:pPr>
            <a:r>
              <a:rPr lang="ru-RU" altLang="ru-RU" sz="2400" dirty="0"/>
              <a:t>Машинное доказательство теорем;</a:t>
            </a:r>
          </a:p>
          <a:p>
            <a:pPr marL="1028700" lvl="1" indent="-571500" defTabSz="914400">
              <a:lnSpc>
                <a:spcPct val="80000"/>
              </a:lnSpc>
              <a:buFontTx/>
              <a:buAutoNum type="arabicPeriod"/>
            </a:pPr>
            <a:r>
              <a:rPr lang="ru-RU" altLang="ru-RU" sz="2400" dirty="0"/>
              <a:t>Программа индуктивного вывода;</a:t>
            </a:r>
          </a:p>
          <a:p>
            <a:pPr marL="1028700" lvl="1" indent="-571500" defTabSz="914400">
              <a:lnSpc>
                <a:spcPct val="80000"/>
              </a:lnSpc>
              <a:buFontTx/>
              <a:buAutoNum type="arabicPeriod"/>
            </a:pPr>
            <a:r>
              <a:rPr lang="ru-RU" altLang="ru-RU" sz="2400" dirty="0"/>
              <a:t>Автоматическое реферирование;</a:t>
            </a:r>
          </a:p>
          <a:p>
            <a:pPr marL="1028700" lvl="1" indent="-571500" defTabSz="914400">
              <a:lnSpc>
                <a:spcPct val="80000"/>
              </a:lnSpc>
              <a:buFontTx/>
              <a:buAutoNum type="arabicPeriod"/>
            </a:pPr>
            <a:r>
              <a:rPr lang="ru-RU" altLang="ru-RU" sz="2400" dirty="0"/>
              <a:t>Автоматический перевод;</a:t>
            </a:r>
          </a:p>
          <a:p>
            <a:pPr marL="1028700" lvl="1" indent="-571500" defTabSz="914400">
              <a:lnSpc>
                <a:spcPct val="80000"/>
              </a:lnSpc>
              <a:buFontTx/>
              <a:buAutoNum type="arabicPeriod"/>
            </a:pPr>
            <a:r>
              <a:rPr lang="ru-RU" altLang="ru-RU" sz="2400" dirty="0"/>
              <a:t>Распознавание и синтез речи;</a:t>
            </a:r>
          </a:p>
          <a:p>
            <a:pPr marL="1028700" lvl="1" indent="-571500" defTabSz="914400">
              <a:lnSpc>
                <a:spcPct val="80000"/>
              </a:lnSpc>
              <a:buFontTx/>
              <a:buAutoNum type="arabicPeriod"/>
            </a:pPr>
            <a:r>
              <a:rPr lang="ru-RU" altLang="ru-RU" sz="2400" dirty="0"/>
              <a:t>Автоматическое вождение автомобилей;</a:t>
            </a:r>
          </a:p>
          <a:p>
            <a:pPr marL="1028700" lvl="1" indent="-571500" defTabSz="914400">
              <a:lnSpc>
                <a:spcPct val="80000"/>
              </a:lnSpc>
              <a:buFontTx/>
              <a:buAutoNum type="arabicPeriod"/>
            </a:pPr>
            <a:r>
              <a:rPr lang="ru-RU" altLang="ru-RU" sz="2400" dirty="0"/>
              <a:t>Роботы сборщики машин, роботы планетоходы.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5" name="AutoShape 5"/>
          <p:cNvSpPr>
            <a:spLocks noChangeArrowheads="1"/>
          </p:cNvSpPr>
          <p:nvPr/>
        </p:nvSpPr>
        <p:spPr bwMode="auto">
          <a:xfrm>
            <a:off x="789509" y="322263"/>
            <a:ext cx="11245329" cy="655320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4" name="Номер слайда 3"/>
          <p:cNvSpPr>
            <a:spLocks noGrp="1"/>
          </p:cNvSpPr>
          <p:nvPr>
            <p:ph type="sldNum" sz="quarter" idx="12"/>
          </p:nvPr>
        </p:nvSpPr>
        <p:spPr/>
        <p:txBody>
          <a:bodyPr/>
          <a:lstStyle/>
          <a:p>
            <a:fld id="{952B6C0E-C4B9-4094-8E59-5B7DF00D5415}" type="slidenum">
              <a:rPr lang="ru-RU" smtClean="0">
                <a:solidFill>
                  <a:schemeClr val="tx1"/>
                </a:solidFill>
              </a:rPr>
              <a:t>8</a:t>
            </a:fld>
            <a:endParaRPr lang="ru-RU">
              <a:solidFill>
                <a:schemeClr val="tx1"/>
              </a:solidFill>
            </a:endParaRPr>
          </a:p>
        </p:txBody>
      </p:sp>
      <p:sp>
        <p:nvSpPr>
          <p:cNvPr id="2" name="Заголовок 1"/>
          <p:cNvSpPr>
            <a:spLocks noGrp="1"/>
          </p:cNvSpPr>
          <p:nvPr>
            <p:ph type="title" idx="4294967295"/>
          </p:nvPr>
        </p:nvSpPr>
        <p:spPr bwMode="auto">
          <a:xfrm>
            <a:off x="1195389" y="285750"/>
            <a:ext cx="9248775" cy="11874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ru-RU" altLang="ru-RU" b="1">
                <a:solidFill>
                  <a:schemeClr val="hlink"/>
                </a:solidFill>
              </a:rPr>
              <a:t>Определение</a:t>
            </a:r>
          </a:p>
        </p:txBody>
      </p:sp>
      <p:sp>
        <p:nvSpPr>
          <p:cNvPr id="184323" name="Объект 2"/>
          <p:cNvSpPr>
            <a:spLocks noGrp="1"/>
          </p:cNvSpPr>
          <p:nvPr>
            <p:ph idx="4294967295"/>
          </p:nvPr>
        </p:nvSpPr>
        <p:spPr bwMode="auto">
          <a:xfrm>
            <a:off x="1563344" y="1928713"/>
            <a:ext cx="9001000" cy="3844925"/>
          </a:xfrm>
          <a:prstGeom prst="rect">
            <a:avLst/>
          </a:prstGeo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a:lstStyle/>
          <a:p>
            <a:pPr marL="90488" indent="-90488" defTabSz="914400"/>
            <a:r>
              <a:rPr lang="ru-RU" altLang="ru-RU" sz="2700" dirty="0"/>
              <a:t>Интеллект – способность делать правильные предсказания</a:t>
            </a:r>
          </a:p>
          <a:p>
            <a:pPr marL="90488" indent="-90488" defTabSz="914400"/>
            <a:endParaRPr lang="ru-RU" altLang="ru-RU" sz="2700" dirty="0"/>
          </a:p>
          <a:p>
            <a:pPr marL="90488" indent="-90488" defTabSz="914400">
              <a:buNone/>
            </a:pPr>
            <a:r>
              <a:rPr lang="ru-RU" altLang="ru-RU" sz="2700" b="1" dirty="0">
                <a:solidFill>
                  <a:srgbClr val="0070C0"/>
                </a:solidFill>
              </a:rPr>
              <a:t>Составляющие системы разума:</a:t>
            </a:r>
          </a:p>
          <a:p>
            <a:pPr marL="90488" indent="-90488" defTabSz="914400"/>
            <a:r>
              <a:rPr lang="ru-RU" altLang="ru-RU" sz="2700" dirty="0"/>
              <a:t>Мудрость                 цель          задача</a:t>
            </a:r>
          </a:p>
          <a:p>
            <a:pPr marL="90488" indent="-90488" defTabSz="914400"/>
            <a:r>
              <a:rPr lang="ru-RU" altLang="ru-RU" sz="2700" dirty="0"/>
              <a:t>Интеллект                план         алгоритм</a:t>
            </a:r>
          </a:p>
          <a:p>
            <a:pPr marL="90488" indent="-90488" defTabSz="914400"/>
            <a:r>
              <a:rPr lang="ru-RU" altLang="ru-RU" sz="2700" dirty="0"/>
              <a:t>Воля                           дело           программа</a:t>
            </a:r>
          </a:p>
          <a:p>
            <a:pPr marL="90488" indent="-90488" defTabSz="914400"/>
            <a:endParaRPr lang="ru-RU" altLang="ru-RU" sz="2700" dirty="0"/>
          </a:p>
        </p:txBody>
      </p:sp>
      <p:cxnSp>
        <p:nvCxnSpPr>
          <p:cNvPr id="5" name="Прямая со стрелкой 4">
            <a:extLst>
              <a:ext uri="{FF2B5EF4-FFF2-40B4-BE49-F238E27FC236}">
                <a16:creationId xmlns:a16="http://schemas.microsoft.com/office/drawing/2014/main" id="{C3179070-B2D3-4C2E-B44C-CD7EA302ED50}"/>
              </a:ext>
            </a:extLst>
          </p:cNvPr>
          <p:cNvCxnSpPr>
            <a:cxnSpLocks/>
          </p:cNvCxnSpPr>
          <p:nvPr/>
        </p:nvCxnSpPr>
        <p:spPr>
          <a:xfrm>
            <a:off x="4533925" y="3851176"/>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Прямая со стрелкой 7">
            <a:extLst>
              <a:ext uri="{FF2B5EF4-FFF2-40B4-BE49-F238E27FC236}">
                <a16:creationId xmlns:a16="http://schemas.microsoft.com/office/drawing/2014/main" id="{3E0FB0C2-F55A-4BB5-8C78-3811589A739F}"/>
              </a:ext>
            </a:extLst>
          </p:cNvPr>
          <p:cNvCxnSpPr/>
          <p:nvPr/>
        </p:nvCxnSpPr>
        <p:spPr>
          <a:xfrm>
            <a:off x="6262117" y="3851176"/>
            <a:ext cx="50405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Прямая со стрелкой 8">
            <a:extLst>
              <a:ext uri="{FF2B5EF4-FFF2-40B4-BE49-F238E27FC236}">
                <a16:creationId xmlns:a16="http://schemas.microsoft.com/office/drawing/2014/main" id="{56FD3BF6-8602-4C05-8C1C-DA9083AEDADE}"/>
              </a:ext>
            </a:extLst>
          </p:cNvPr>
          <p:cNvCxnSpPr>
            <a:cxnSpLocks/>
          </p:cNvCxnSpPr>
          <p:nvPr/>
        </p:nvCxnSpPr>
        <p:spPr>
          <a:xfrm>
            <a:off x="4533925" y="4355232"/>
            <a:ext cx="504056"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Прямая со стрелкой 9">
            <a:extLst>
              <a:ext uri="{FF2B5EF4-FFF2-40B4-BE49-F238E27FC236}">
                <a16:creationId xmlns:a16="http://schemas.microsoft.com/office/drawing/2014/main" id="{78AD8513-201B-4208-B91B-F1110C6F0374}"/>
              </a:ext>
            </a:extLst>
          </p:cNvPr>
          <p:cNvCxnSpPr/>
          <p:nvPr/>
        </p:nvCxnSpPr>
        <p:spPr>
          <a:xfrm>
            <a:off x="6262117" y="4358308"/>
            <a:ext cx="504056"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Прямая со стрелкой 10">
            <a:extLst>
              <a:ext uri="{FF2B5EF4-FFF2-40B4-BE49-F238E27FC236}">
                <a16:creationId xmlns:a16="http://schemas.microsoft.com/office/drawing/2014/main" id="{F5389243-F31C-47EA-A729-8AEDB0E2A0CF}"/>
              </a:ext>
            </a:extLst>
          </p:cNvPr>
          <p:cNvCxnSpPr>
            <a:cxnSpLocks/>
          </p:cNvCxnSpPr>
          <p:nvPr/>
        </p:nvCxnSpPr>
        <p:spPr>
          <a:xfrm>
            <a:off x="4533925" y="4859288"/>
            <a:ext cx="504056" cy="0"/>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Прямая со стрелкой 11">
            <a:extLst>
              <a:ext uri="{FF2B5EF4-FFF2-40B4-BE49-F238E27FC236}">
                <a16:creationId xmlns:a16="http://schemas.microsoft.com/office/drawing/2014/main" id="{D5C52AD9-C49E-4C9B-AAE6-E97A6426C425}"/>
              </a:ext>
            </a:extLst>
          </p:cNvPr>
          <p:cNvCxnSpPr/>
          <p:nvPr/>
        </p:nvCxnSpPr>
        <p:spPr>
          <a:xfrm>
            <a:off x="6262117" y="4862364"/>
            <a:ext cx="504056" cy="0"/>
          </a:xfrm>
          <a:prstGeom prst="straightConnector1">
            <a:avLst/>
          </a:prstGeom>
          <a:ln>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1151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000" b="1" dirty="0">
                <a:solidFill>
                  <a:schemeClr val="bg1"/>
                </a:solidFill>
              </a:rPr>
              <a:t>2</a:t>
            </a:r>
          </a:p>
        </p:txBody>
      </p:sp>
      <p:sp>
        <p:nvSpPr>
          <p:cNvPr id="213001" name="AutoShape 9"/>
          <p:cNvSpPr>
            <a:spLocks noChangeArrowheads="1"/>
          </p:cNvSpPr>
          <p:nvPr/>
        </p:nvSpPr>
        <p:spPr bwMode="auto">
          <a:xfrm>
            <a:off x="2144713" y="3140075"/>
            <a:ext cx="8509892" cy="1284288"/>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eaLnBrk="1" hangingPunct="1"/>
            <a:r>
              <a:rPr lang="ru-RU" altLang="ru-RU" sz="3600" dirty="0">
                <a:solidFill>
                  <a:schemeClr val="bg1"/>
                </a:solidFill>
              </a:rPr>
              <a:t>Задачи </a:t>
            </a:r>
            <a:r>
              <a:rPr lang="en-US" altLang="ru-RU" sz="3600" dirty="0">
                <a:solidFill>
                  <a:schemeClr val="bg1"/>
                </a:solidFill>
              </a:rPr>
              <a:t>Data </a:t>
            </a:r>
            <a:r>
              <a:rPr lang="en-US" sz="3600" dirty="0">
                <a:solidFill>
                  <a:schemeClr val="bg1"/>
                </a:solidFill>
              </a:rPr>
              <a:t>Analysis</a:t>
            </a:r>
            <a:endParaRPr lang="ru-RU" altLang="ru-RU" sz="3600" dirty="0">
              <a:solidFill>
                <a:schemeClr val="bg1"/>
              </a:solidFill>
            </a:endParaRPr>
          </a:p>
        </p:txBody>
      </p:sp>
      <p:sp>
        <p:nvSpPr>
          <p:cNvPr id="3" name="Номер слайда 2"/>
          <p:cNvSpPr>
            <a:spLocks noGrp="1"/>
          </p:cNvSpPr>
          <p:nvPr>
            <p:ph type="sldNum" sz="quarter" idx="12"/>
          </p:nvPr>
        </p:nvSpPr>
        <p:spPr/>
        <p:txBody>
          <a:bodyPr/>
          <a:lstStyle/>
          <a:p>
            <a:fld id="{952B6C0E-C4B9-4094-8E59-5B7DF00D5415}" type="slidenum">
              <a:rPr lang="ru-RU" smtClean="0"/>
              <a:t>9</a:t>
            </a:fld>
            <a:endParaRPr lang="ru-RU"/>
          </a:p>
        </p:txBody>
      </p:sp>
    </p:spTree>
    <p:extLst>
      <p:ext uri="{BB962C8B-B14F-4D97-AF65-F5344CB8AC3E}">
        <p14:creationId xmlns:p14="http://schemas.microsoft.com/office/powerpoint/2010/main" val="412189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3001"/>
                                        </p:tgtEl>
                                        <p:attrNameLst>
                                          <p:attrName>style.visibility</p:attrName>
                                        </p:attrNameLst>
                                      </p:cBhvr>
                                      <p:to>
                                        <p:strVal val="visible"/>
                                      </p:to>
                                    </p:set>
                                    <p:anim calcmode="lin" valueType="num">
                                      <p:cBhvr additive="base">
                                        <p:cTn id="7" dur="500" fill="hold"/>
                                        <p:tgtEl>
                                          <p:spTgt spid="213001"/>
                                        </p:tgtEl>
                                        <p:attrNameLst>
                                          <p:attrName>ppt_x</p:attrName>
                                        </p:attrNameLst>
                                      </p:cBhvr>
                                      <p:tavLst>
                                        <p:tav tm="0">
                                          <p:val>
                                            <p:strVal val="1+#ppt_w/2"/>
                                          </p:val>
                                        </p:tav>
                                        <p:tav tm="100000">
                                          <p:val>
                                            <p:strVal val="#ppt_x"/>
                                          </p:val>
                                        </p:tav>
                                      </p:tavLst>
                                    </p:anim>
                                    <p:anim calcmode="lin" valueType="num">
                                      <p:cBhvr additive="base">
                                        <p:cTn id="8" dur="500" fill="hold"/>
                                        <p:tgtEl>
                                          <p:spTgt spid="2130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1623" name="AutoShape 7"/>
          <p:cNvSpPr>
            <a:spLocks noChangeArrowheads="1"/>
          </p:cNvSpPr>
          <p:nvPr/>
        </p:nvSpPr>
        <p:spPr bwMode="auto">
          <a:xfrm>
            <a:off x="1438276" y="1669398"/>
            <a:ext cx="9053024" cy="4818493"/>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35" tIns="45968" rIns="91935" bIns="45968"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defRPr/>
            </a:pPr>
            <a:endParaRPr lang="ru-RU" altLang="ru-RU" sz="3236">
              <a:solidFill>
                <a:schemeClr val="bg1"/>
              </a:solidFill>
            </a:endParaRPr>
          </a:p>
        </p:txBody>
      </p:sp>
      <p:sp>
        <p:nvSpPr>
          <p:cNvPr id="111618" name="Rectangle 2"/>
          <p:cNvSpPr>
            <a:spLocks noGrp="1" noChangeArrowheads="1"/>
          </p:cNvSpPr>
          <p:nvPr>
            <p:ph type="title"/>
          </p:nvPr>
        </p:nvSpPr>
        <p:spPr>
          <a:xfrm>
            <a:off x="2058354" y="532824"/>
            <a:ext cx="8551545" cy="6367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dirty="0"/>
              <a:t>Задачи </a:t>
            </a:r>
            <a:r>
              <a:rPr lang="en-US" altLang="ru-RU" dirty="0"/>
              <a:t>Data </a:t>
            </a:r>
            <a:r>
              <a:rPr lang="en-US" sz="4800" dirty="0">
                <a:solidFill>
                  <a:schemeClr val="tx2">
                    <a:lumMod val="75000"/>
                  </a:schemeClr>
                </a:solidFill>
              </a:rPr>
              <a:t>Analysis</a:t>
            </a:r>
            <a:endParaRPr lang="ru-RU" altLang="ru-RU" dirty="0"/>
          </a:p>
        </p:txBody>
      </p:sp>
      <p:sp>
        <p:nvSpPr>
          <p:cNvPr id="111619" name="Rectangle 3"/>
          <p:cNvSpPr>
            <a:spLocks noGrp="1" noChangeArrowheads="1"/>
          </p:cNvSpPr>
          <p:nvPr>
            <p:ph idx="1"/>
          </p:nvPr>
        </p:nvSpPr>
        <p:spPr>
          <a:xfrm>
            <a:off x="1077541" y="1805492"/>
            <a:ext cx="4804177" cy="454630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ormAutofit fontScale="92500" lnSpcReduction="20000"/>
          </a:bodyPr>
          <a:lstStyle/>
          <a:p>
            <a:pPr marL="475510" indent="-475510">
              <a:lnSpc>
                <a:spcPct val="90000"/>
              </a:lnSpc>
              <a:buFont typeface="+mj-lt"/>
              <a:buAutoNum type="arabicPeriod"/>
              <a:defRPr/>
            </a:pPr>
            <a:r>
              <a:rPr lang="ru-RU" altLang="ru-RU" sz="2866" dirty="0"/>
              <a:t>Классификация</a:t>
            </a:r>
          </a:p>
          <a:p>
            <a:pPr marL="475510" indent="-475510">
              <a:lnSpc>
                <a:spcPct val="90000"/>
              </a:lnSpc>
              <a:buFont typeface="+mj-lt"/>
              <a:buAutoNum type="arabicPeriod"/>
              <a:defRPr/>
            </a:pPr>
            <a:r>
              <a:rPr lang="ru-RU" altLang="ru-RU" sz="2866" dirty="0"/>
              <a:t>Кластеризация</a:t>
            </a:r>
          </a:p>
          <a:p>
            <a:pPr marL="475510" indent="-475510">
              <a:lnSpc>
                <a:spcPct val="90000"/>
              </a:lnSpc>
              <a:buFont typeface="+mj-lt"/>
              <a:buAutoNum type="arabicPeriod"/>
              <a:defRPr/>
            </a:pPr>
            <a:r>
              <a:rPr lang="ru-RU" altLang="ru-RU" sz="2866" dirty="0"/>
              <a:t>Прогнозирование</a:t>
            </a:r>
          </a:p>
          <a:p>
            <a:pPr marL="475510" indent="-475510">
              <a:lnSpc>
                <a:spcPct val="90000"/>
              </a:lnSpc>
              <a:buFont typeface="+mj-lt"/>
              <a:buAutoNum type="arabicPeriod"/>
              <a:defRPr/>
            </a:pPr>
            <a:r>
              <a:rPr lang="ru-RU" altLang="ru-RU" sz="2866" dirty="0"/>
              <a:t>Ассоциация</a:t>
            </a:r>
          </a:p>
          <a:p>
            <a:pPr marL="475510" indent="-475510">
              <a:lnSpc>
                <a:spcPct val="90000"/>
              </a:lnSpc>
              <a:buFont typeface="+mj-lt"/>
              <a:buAutoNum type="arabicPeriod"/>
              <a:defRPr/>
            </a:pPr>
            <a:r>
              <a:rPr lang="ru-RU" altLang="ru-RU" sz="2866" dirty="0"/>
              <a:t>Обнаружение и анализ и отклонений</a:t>
            </a:r>
          </a:p>
          <a:p>
            <a:pPr marL="475510" indent="-475510">
              <a:lnSpc>
                <a:spcPct val="90000"/>
              </a:lnSpc>
              <a:buFont typeface="+mj-lt"/>
              <a:buAutoNum type="arabicPeriod"/>
              <a:defRPr/>
            </a:pPr>
            <a:r>
              <a:rPr lang="ru-RU" altLang="ru-RU" sz="2866" dirty="0"/>
              <a:t>Понижение размерности</a:t>
            </a:r>
          </a:p>
          <a:p>
            <a:pPr marL="475510" indent="-475510">
              <a:lnSpc>
                <a:spcPct val="90000"/>
              </a:lnSpc>
              <a:buFont typeface="+mj-lt"/>
              <a:buAutoNum type="arabicPeriod"/>
              <a:defRPr/>
            </a:pPr>
            <a:r>
              <a:rPr lang="ru-RU" altLang="ru-RU" sz="2866" dirty="0"/>
              <a:t>Оценивание</a:t>
            </a:r>
          </a:p>
          <a:p>
            <a:pPr marL="475510" indent="-475510">
              <a:lnSpc>
                <a:spcPct val="90000"/>
              </a:lnSpc>
              <a:buFont typeface="+mj-lt"/>
              <a:buAutoNum type="arabicPeriod"/>
              <a:defRPr/>
            </a:pPr>
            <a:r>
              <a:rPr lang="ru-RU" altLang="ru-RU" sz="2866" dirty="0"/>
              <a:t>Анализ связей</a:t>
            </a:r>
          </a:p>
          <a:p>
            <a:pPr marL="475510" indent="-475510">
              <a:lnSpc>
                <a:spcPct val="90000"/>
              </a:lnSpc>
              <a:buFont typeface="+mj-lt"/>
              <a:buAutoNum type="arabicPeriod"/>
              <a:defRPr/>
            </a:pPr>
            <a:r>
              <a:rPr lang="ru-RU" altLang="ru-RU" sz="2866" dirty="0"/>
              <a:t>Визуализация</a:t>
            </a:r>
          </a:p>
          <a:p>
            <a:pPr marL="475510" indent="-475510">
              <a:lnSpc>
                <a:spcPct val="90000"/>
              </a:lnSpc>
              <a:buFont typeface="+mj-lt"/>
              <a:buAutoNum type="arabicPeriod"/>
              <a:defRPr/>
            </a:pPr>
            <a:r>
              <a:rPr lang="ru-RU" altLang="ru-RU" sz="2866" dirty="0"/>
              <a:t>Подведение итогов (</a:t>
            </a:r>
            <a:r>
              <a:rPr lang="en-US" altLang="ru-RU" sz="2866" dirty="0"/>
              <a:t>Summarization</a:t>
            </a:r>
            <a:r>
              <a:rPr lang="ru-RU" altLang="ru-RU" sz="2866" dirty="0"/>
              <a:t>)</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10</a:t>
            </a:fld>
            <a:endParaRPr lang="ru-RU">
              <a:solidFill>
                <a:schemeClr val="tx1"/>
              </a:solidFill>
            </a:endParaRPr>
          </a:p>
        </p:txBody>
      </p:sp>
      <p:pic>
        <p:nvPicPr>
          <p:cNvPr id="2" name="Рисунок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0149" y="1305662"/>
            <a:ext cx="4609582" cy="4609582"/>
          </a:xfrm>
          <a:prstGeom prst="rect">
            <a:avLst/>
          </a:prstGeom>
        </p:spPr>
      </p:pic>
    </p:spTree>
    <p:extLst>
      <p:ext uri="{BB962C8B-B14F-4D97-AF65-F5344CB8AC3E}">
        <p14:creationId xmlns:p14="http://schemas.microsoft.com/office/powerpoint/2010/main" val="2204584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1623" name="AutoShape 7"/>
          <p:cNvSpPr>
            <a:spLocks noChangeArrowheads="1"/>
          </p:cNvSpPr>
          <p:nvPr/>
        </p:nvSpPr>
        <p:spPr bwMode="auto">
          <a:xfrm>
            <a:off x="1807613" y="1669400"/>
            <a:ext cx="9053024" cy="4818493"/>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35" tIns="45968" rIns="91935" bIns="45968"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defRPr/>
            </a:pPr>
            <a:endParaRPr lang="ru-RU" altLang="ru-RU" sz="3236">
              <a:solidFill>
                <a:schemeClr val="bg1"/>
              </a:solidFill>
            </a:endParaRPr>
          </a:p>
        </p:txBody>
      </p:sp>
      <p:sp>
        <p:nvSpPr>
          <p:cNvPr id="111618" name="Rectangle 2"/>
          <p:cNvSpPr>
            <a:spLocks noGrp="1" noChangeArrowheads="1"/>
          </p:cNvSpPr>
          <p:nvPr>
            <p:ph type="title"/>
          </p:nvPr>
        </p:nvSpPr>
        <p:spPr>
          <a:xfrm>
            <a:off x="2058353" y="296636"/>
            <a:ext cx="8551545" cy="67422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dirty="0"/>
              <a:t>Задачи</a:t>
            </a:r>
            <a:r>
              <a:rPr lang="en-US" altLang="ru-RU" dirty="0"/>
              <a:t> </a:t>
            </a:r>
            <a:r>
              <a:rPr lang="ru-RU" altLang="ru-RU" dirty="0"/>
              <a:t>и инструменты </a:t>
            </a:r>
            <a:br>
              <a:rPr lang="en-US" altLang="ru-RU" dirty="0"/>
            </a:br>
            <a:r>
              <a:rPr lang="en-US" altLang="ru-RU" dirty="0"/>
              <a:t>Data </a:t>
            </a:r>
            <a:r>
              <a:rPr lang="en-US" sz="4800" dirty="0">
                <a:solidFill>
                  <a:schemeClr val="tx2">
                    <a:lumMod val="75000"/>
                  </a:schemeClr>
                </a:solidFill>
              </a:rPr>
              <a:t>Analysis</a:t>
            </a:r>
            <a:r>
              <a:rPr lang="ru-RU" altLang="ru-RU" dirty="0"/>
              <a:t> и </a:t>
            </a:r>
            <a:r>
              <a:rPr lang="en-US" altLang="ru-RU" dirty="0"/>
              <a:t>Machine Learning</a:t>
            </a:r>
            <a:endParaRPr lang="ru-RU" altLang="ru-RU" dirty="0"/>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11</a:t>
            </a:fld>
            <a:endParaRPr lang="ru-RU">
              <a:solidFill>
                <a:schemeClr val="tx1"/>
              </a:solidFill>
            </a:endParaRPr>
          </a:p>
        </p:txBody>
      </p:sp>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3565" y="1292107"/>
            <a:ext cx="10462343" cy="5312908"/>
          </a:xfrm>
          <a:prstGeom prst="rect">
            <a:avLst/>
          </a:prstGeom>
        </p:spPr>
      </p:pic>
    </p:spTree>
    <p:extLst>
      <p:ext uri="{BB962C8B-B14F-4D97-AF65-F5344CB8AC3E}">
        <p14:creationId xmlns:p14="http://schemas.microsoft.com/office/powerpoint/2010/main" val="2334145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p:cNvSpPr>
            <a:spLocks noChangeArrowheads="1"/>
          </p:cNvSpPr>
          <p:nvPr/>
        </p:nvSpPr>
        <p:spPr bwMode="auto">
          <a:xfrm>
            <a:off x="789510" y="396119"/>
            <a:ext cx="11593287" cy="630441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52931" name="Rectangle 3"/>
          <p:cNvSpPr>
            <a:spLocks noGrp="1" noChangeArrowheads="1"/>
          </p:cNvSpPr>
          <p:nvPr>
            <p:ph type="title"/>
          </p:nvPr>
        </p:nvSpPr>
        <p:spPr>
          <a:xfrm>
            <a:off x="2058354" y="532824"/>
            <a:ext cx="8551545" cy="6367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dirty="0"/>
              <a:t>Задачи </a:t>
            </a:r>
            <a:r>
              <a:rPr lang="en-US" altLang="ru-RU" dirty="0"/>
              <a:t>Data </a:t>
            </a:r>
            <a:r>
              <a:rPr lang="en-US" sz="4800" dirty="0">
                <a:solidFill>
                  <a:schemeClr val="tx2">
                    <a:lumMod val="75000"/>
                  </a:schemeClr>
                </a:solidFill>
              </a:rPr>
              <a:t>Analysis</a:t>
            </a:r>
            <a:endParaRPr lang="ru-RU" altLang="ru-RU" dirty="0"/>
          </a:p>
        </p:txBody>
      </p:sp>
      <p:sp>
        <p:nvSpPr>
          <p:cNvPr id="3" name="Номер слайда 2"/>
          <p:cNvSpPr>
            <a:spLocks noGrp="1"/>
          </p:cNvSpPr>
          <p:nvPr>
            <p:ph type="sldNum" sz="quarter" idx="12"/>
          </p:nvPr>
        </p:nvSpPr>
        <p:spPr>
          <a:xfrm>
            <a:off x="11770693" y="6510824"/>
            <a:ext cx="588146" cy="379409"/>
          </a:xfrm>
        </p:spPr>
        <p:txBody>
          <a:bodyPr/>
          <a:lstStyle/>
          <a:p>
            <a:fld id="{952B6C0E-C4B9-4094-8E59-5B7DF00D5415}" type="slidenum">
              <a:rPr lang="ru-RU" smtClean="0">
                <a:solidFill>
                  <a:schemeClr val="tx1"/>
                </a:solidFill>
              </a:rPr>
              <a:t>12</a:t>
            </a:fld>
            <a:endParaRPr lang="ru-RU">
              <a:solidFill>
                <a:schemeClr val="tx1"/>
              </a:solidFill>
            </a:endParaRPr>
          </a:p>
        </p:txBody>
      </p:sp>
      <p:pic>
        <p:nvPicPr>
          <p:cNvPr id="11267" name="Рисунок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50679" y="1623131"/>
            <a:ext cx="4569549" cy="2488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Рисунок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618974" y="4395150"/>
            <a:ext cx="2250059" cy="2037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Рисунок 3"/>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25228" y="4395150"/>
            <a:ext cx="1793119" cy="2037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Скругленный прямоугольник 4"/>
          <p:cNvSpPr/>
          <p:nvPr/>
        </p:nvSpPr>
        <p:spPr bwMode="auto">
          <a:xfrm>
            <a:off x="1144384" y="1823564"/>
            <a:ext cx="4569549" cy="1363949"/>
          </a:xfrm>
          <a:prstGeom prst="roundRect">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165842" indent="-165842">
              <a:lnSpc>
                <a:spcPct val="80000"/>
              </a:lnSpc>
              <a:defRPr/>
            </a:pPr>
            <a:r>
              <a:rPr lang="ru-RU" altLang="ru-RU" sz="2218" i="1" dirty="0"/>
              <a:t>Классификация </a:t>
            </a:r>
            <a:r>
              <a:rPr lang="ru-RU" altLang="ru-RU" sz="2218" dirty="0"/>
              <a:t>- </a:t>
            </a:r>
            <a:r>
              <a:rPr lang="ru-RU" altLang="ru-RU" sz="2034" dirty="0"/>
              <a:t>отнесение входного вектора (объекта, события, наблюдения) к одному из заранее известных классов.</a:t>
            </a:r>
          </a:p>
        </p:txBody>
      </p:sp>
      <p:sp>
        <p:nvSpPr>
          <p:cNvPr id="7" name="Скругленный прямоугольник 6"/>
          <p:cNvSpPr/>
          <p:nvPr/>
        </p:nvSpPr>
        <p:spPr bwMode="auto">
          <a:xfrm>
            <a:off x="789510" y="3471408"/>
            <a:ext cx="5760639" cy="2036881"/>
          </a:xfrm>
          <a:prstGeom prst="roundRect">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165842" indent="-165842">
              <a:lnSpc>
                <a:spcPct val="80000"/>
              </a:lnSpc>
            </a:pPr>
            <a:r>
              <a:rPr lang="ru-RU" altLang="ru-RU" sz="2218" i="1" dirty="0"/>
              <a:t>Кластеризация - разделение множества входных векторов на группы (кластеры) по степени «похожести» друг на друга.</a:t>
            </a:r>
          </a:p>
          <a:p>
            <a:pPr marL="542925" lvl="1" indent="-357188">
              <a:buFont typeface="Arial" panose="020B0604020202020204" pitchFamily="34" charset="0"/>
              <a:buChar char="•"/>
            </a:pPr>
            <a:r>
              <a:rPr lang="ru-RU" sz="1800" dirty="0"/>
              <a:t>Внутри каждой группы должны оказаться «похожие» объекты, а объекты разных группы должны быть как можно более отличны.</a:t>
            </a:r>
            <a:endParaRPr lang="ru-RU" altLang="ru-RU" sz="1800" dirty="0"/>
          </a:p>
        </p:txBody>
      </p:sp>
    </p:spTree>
    <p:extLst>
      <p:ext uri="{BB962C8B-B14F-4D97-AF65-F5344CB8AC3E}">
        <p14:creationId xmlns:p14="http://schemas.microsoft.com/office/powerpoint/2010/main" val="1402297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33411" y="322263"/>
            <a:ext cx="11575406"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52931" name="Rectangle 3"/>
          <p:cNvSpPr>
            <a:spLocks noGrp="1" noChangeArrowheads="1"/>
          </p:cNvSpPr>
          <p:nvPr>
            <p:ph type="title"/>
          </p:nvPr>
        </p:nvSpPr>
        <p:spPr>
          <a:xfrm>
            <a:off x="2058354" y="532824"/>
            <a:ext cx="8551545" cy="6367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dirty="0"/>
              <a:t>Задачи и алгоритмы </a:t>
            </a:r>
            <a:r>
              <a:rPr lang="en-US" altLang="ru-RU" dirty="0"/>
              <a:t>Data </a:t>
            </a:r>
            <a:r>
              <a:rPr lang="en-US" sz="4800" dirty="0">
                <a:solidFill>
                  <a:schemeClr val="tx2">
                    <a:lumMod val="75000"/>
                  </a:schemeClr>
                </a:solidFill>
              </a:rPr>
              <a:t>Analysis</a:t>
            </a:r>
            <a:endParaRPr lang="ru-RU" altLang="ru-RU" dirty="0"/>
          </a:p>
        </p:txBody>
      </p:sp>
      <p:sp>
        <p:nvSpPr>
          <p:cNvPr id="3" name="Номер слайда 2"/>
          <p:cNvSpPr>
            <a:spLocks noGrp="1"/>
          </p:cNvSpPr>
          <p:nvPr>
            <p:ph type="sldNum" sz="quarter" idx="12"/>
          </p:nvPr>
        </p:nvSpPr>
        <p:spPr>
          <a:xfrm>
            <a:off x="11548663" y="6515472"/>
            <a:ext cx="660154" cy="379409"/>
          </a:xfrm>
        </p:spPr>
        <p:txBody>
          <a:bodyPr/>
          <a:lstStyle/>
          <a:p>
            <a:fld id="{952B6C0E-C4B9-4094-8E59-5B7DF00D5415}" type="slidenum">
              <a:rPr lang="ru-RU" smtClean="0">
                <a:solidFill>
                  <a:schemeClr val="tx1"/>
                </a:solidFill>
              </a:rPr>
              <a:t>13</a:t>
            </a:fld>
            <a:endParaRPr lang="ru-RU">
              <a:solidFill>
                <a:schemeClr val="tx1"/>
              </a:solidFill>
            </a:endParaRPr>
          </a:p>
        </p:txBody>
      </p:sp>
      <p:sp>
        <p:nvSpPr>
          <p:cNvPr id="5" name="Скругленный прямоугольник 4"/>
          <p:cNvSpPr/>
          <p:nvPr/>
        </p:nvSpPr>
        <p:spPr bwMode="auto">
          <a:xfrm>
            <a:off x="1185552" y="1449323"/>
            <a:ext cx="10297145" cy="4769837"/>
          </a:xfrm>
          <a:prstGeom prst="roundRect">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165842" indent="-165842">
              <a:lnSpc>
                <a:spcPts val="3236"/>
              </a:lnSpc>
              <a:defRPr/>
            </a:pPr>
            <a:r>
              <a:rPr lang="ru-RU" altLang="ru-RU" sz="2400" b="1" i="1" dirty="0"/>
              <a:t>Классификация, кластеризация</a:t>
            </a:r>
            <a:r>
              <a:rPr lang="en-US" altLang="ru-RU" sz="2400" b="1" i="1" dirty="0"/>
              <a:t>. </a:t>
            </a:r>
          </a:p>
          <a:p>
            <a:pPr marL="165842" indent="-165842">
              <a:lnSpc>
                <a:spcPts val="3236"/>
              </a:lnSpc>
              <a:defRPr/>
            </a:pPr>
            <a:r>
              <a:rPr lang="ru-RU" sz="2400" i="1" dirty="0"/>
              <a:t>Методы решения. </a:t>
            </a:r>
          </a:p>
          <a:p>
            <a:pPr marL="165842" indent="-165842">
              <a:lnSpc>
                <a:spcPts val="3236"/>
              </a:lnSpc>
              <a:defRPr/>
            </a:pPr>
            <a:r>
              <a:rPr lang="ru-RU" sz="2400" dirty="0"/>
              <a:t>Для решения задач </a:t>
            </a:r>
            <a:r>
              <a:rPr lang="ru-RU" sz="2400" i="1" dirty="0"/>
              <a:t>классификации и кластеризации</a:t>
            </a:r>
            <a:r>
              <a:rPr lang="ru-RU" sz="2400" dirty="0"/>
              <a:t> могут использоваться алгоритмы: </a:t>
            </a:r>
          </a:p>
          <a:p>
            <a:pPr marL="165842" indent="-165842">
              <a:lnSpc>
                <a:spcPts val="3236"/>
              </a:lnSpc>
              <a:defRPr/>
            </a:pPr>
            <a:endParaRPr lang="ru-RU" sz="2400" dirty="0"/>
          </a:p>
          <a:p>
            <a:pPr marL="317007" indent="-317007">
              <a:lnSpc>
                <a:spcPts val="3236"/>
              </a:lnSpc>
              <a:buFont typeface="Arial" panose="020B0604020202020204" pitchFamily="34" charset="0"/>
              <a:buChar char="•"/>
              <a:defRPr/>
            </a:pPr>
            <a:r>
              <a:rPr lang="ru-RU" sz="2400" dirty="0"/>
              <a:t>ближайшего соседа (</a:t>
            </a:r>
            <a:r>
              <a:rPr lang="en-US" sz="2400" dirty="0"/>
              <a:t>Nearest Neighbor); </a:t>
            </a:r>
            <a:endParaRPr lang="ru-RU" sz="2400" dirty="0"/>
          </a:p>
          <a:p>
            <a:pPr marL="317007" indent="-317007">
              <a:lnSpc>
                <a:spcPts val="3236"/>
              </a:lnSpc>
              <a:buFont typeface="Arial" panose="020B0604020202020204" pitchFamily="34" charset="0"/>
              <a:buChar char="•"/>
              <a:defRPr/>
            </a:pPr>
            <a:r>
              <a:rPr lang="en-US" sz="2400" dirty="0"/>
              <a:t>k-</a:t>
            </a:r>
            <a:r>
              <a:rPr lang="ru-RU" sz="2400" dirty="0"/>
              <a:t>ближайшего соседа (</a:t>
            </a:r>
            <a:r>
              <a:rPr lang="en-US" sz="2400" dirty="0"/>
              <a:t>k-Nearest Neighbor);</a:t>
            </a:r>
            <a:r>
              <a:rPr lang="ru-RU" sz="2400" dirty="0"/>
              <a:t> </a:t>
            </a:r>
          </a:p>
          <a:p>
            <a:pPr marL="317007" indent="-317007">
              <a:lnSpc>
                <a:spcPts val="3236"/>
              </a:lnSpc>
              <a:buFont typeface="Arial" panose="020B0604020202020204" pitchFamily="34" charset="0"/>
              <a:buChar char="•"/>
              <a:defRPr/>
            </a:pPr>
            <a:r>
              <a:rPr lang="ru-RU" sz="2400" dirty="0"/>
              <a:t>байесовские сети (</a:t>
            </a:r>
            <a:r>
              <a:rPr lang="en-US" sz="2400" dirty="0"/>
              <a:t>Bayesian Networks); </a:t>
            </a:r>
            <a:endParaRPr lang="ru-RU" sz="2400" dirty="0"/>
          </a:p>
          <a:p>
            <a:pPr marL="317007" indent="-317007">
              <a:lnSpc>
                <a:spcPts val="3236"/>
              </a:lnSpc>
              <a:buFont typeface="Arial" panose="020B0604020202020204" pitchFamily="34" charset="0"/>
              <a:buChar char="•"/>
              <a:defRPr/>
            </a:pPr>
            <a:r>
              <a:rPr lang="ru-RU" sz="2400" dirty="0"/>
              <a:t>индукция деревьев решений; </a:t>
            </a:r>
          </a:p>
          <a:p>
            <a:pPr marL="317007" indent="-317007">
              <a:lnSpc>
                <a:spcPts val="3236"/>
              </a:lnSpc>
              <a:buFont typeface="Arial" panose="020B0604020202020204" pitchFamily="34" charset="0"/>
              <a:buChar char="•"/>
              <a:defRPr/>
            </a:pPr>
            <a:r>
              <a:rPr lang="ru-RU" sz="2400" dirty="0"/>
              <a:t>нейронные сети (</a:t>
            </a:r>
            <a:r>
              <a:rPr lang="en-US" sz="2400" dirty="0"/>
              <a:t>neural networks). </a:t>
            </a:r>
            <a:endParaRPr lang="ru-RU" altLang="ru-RU" sz="2400" dirty="0"/>
          </a:p>
        </p:txBody>
      </p:sp>
    </p:spTree>
    <p:extLst>
      <p:ext uri="{BB962C8B-B14F-4D97-AF65-F5344CB8AC3E}">
        <p14:creationId xmlns:p14="http://schemas.microsoft.com/office/powerpoint/2010/main" val="3713178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933525" y="322263"/>
            <a:ext cx="11305256"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14</a:t>
            </a:fld>
            <a:endParaRPr lang="ru-RU" dirty="0">
              <a:solidFill>
                <a:schemeClr val="tx1"/>
              </a:solidFill>
            </a:endParaRPr>
          </a:p>
        </p:txBody>
      </p:sp>
      <p:pic>
        <p:nvPicPr>
          <p:cNvPr id="15363" name="Picture 2" descr="&amp;Mcy;&amp;iecy;&amp;tcy;&amp;ocy;&amp;dcy;&amp;ycy; &amp;pcy;&amp;rcy;&amp;ocy;&amp;gcy;&amp;ncy;&amp;ocy;&amp;zcy;&amp;icy;&amp;rcy;&amp;ocy;&amp;vcy;&amp;acy;&amp;ncy;&amp;icy;&amp;yac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6900" y="2944543"/>
            <a:ext cx="6364171" cy="3818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Скругленный прямоугольник 2"/>
          <p:cNvSpPr/>
          <p:nvPr/>
        </p:nvSpPr>
        <p:spPr bwMode="auto">
          <a:xfrm>
            <a:off x="1221557" y="1291642"/>
            <a:ext cx="10657184" cy="1532481"/>
          </a:xfrm>
          <a:prstGeom prst="roundRect">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165842" indent="-165842">
              <a:lnSpc>
                <a:spcPts val="2866"/>
              </a:lnSpc>
              <a:defRPr/>
            </a:pPr>
            <a:r>
              <a:rPr lang="ru-RU" altLang="ru-RU" sz="2400" i="1" dirty="0"/>
              <a:t>Прогнозирование (</a:t>
            </a:r>
            <a:r>
              <a:rPr lang="ru-RU" altLang="ru-RU" sz="2400" i="1" dirty="0" err="1"/>
              <a:t>Forecasting</a:t>
            </a:r>
            <a:r>
              <a:rPr lang="ru-RU" altLang="ru-RU" sz="2400" i="1" dirty="0"/>
              <a:t>)</a:t>
            </a:r>
            <a:r>
              <a:rPr lang="ru-RU" altLang="ru-RU" sz="2400" dirty="0"/>
              <a:t> - на основе особенностей исторических данных оцениваются будущие значения показателей. Применяются методы мат. статистики, нейронные сети.</a:t>
            </a:r>
          </a:p>
        </p:txBody>
      </p:sp>
      <p:sp>
        <p:nvSpPr>
          <p:cNvPr id="9" name="Rectangle 3">
            <a:extLst>
              <a:ext uri="{FF2B5EF4-FFF2-40B4-BE49-F238E27FC236}">
                <a16:creationId xmlns:a16="http://schemas.microsoft.com/office/drawing/2014/main" id="{EAD1B1AF-31A9-493B-BA4E-0B28F6014902}"/>
              </a:ext>
            </a:extLst>
          </p:cNvPr>
          <p:cNvSpPr>
            <a:spLocks noGrp="1" noChangeArrowheads="1"/>
          </p:cNvSpPr>
          <p:nvPr>
            <p:ph type="title"/>
          </p:nvPr>
        </p:nvSpPr>
        <p:spPr>
          <a:xfrm>
            <a:off x="2058354" y="532824"/>
            <a:ext cx="8551545" cy="6367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dirty="0"/>
              <a:t>Задачи и алгоритмы </a:t>
            </a:r>
            <a:r>
              <a:rPr lang="en-US" altLang="ru-RU" dirty="0"/>
              <a:t>Data </a:t>
            </a:r>
            <a:r>
              <a:rPr lang="en-US" sz="4800" dirty="0">
                <a:solidFill>
                  <a:schemeClr val="tx2">
                    <a:lumMod val="75000"/>
                  </a:schemeClr>
                </a:solidFill>
              </a:rPr>
              <a:t>Analysis</a:t>
            </a:r>
            <a:endParaRPr lang="ru-RU" altLang="ru-RU" dirty="0"/>
          </a:p>
        </p:txBody>
      </p:sp>
    </p:spTree>
    <p:extLst>
      <p:ext uri="{BB962C8B-B14F-4D97-AF65-F5344CB8AC3E}">
        <p14:creationId xmlns:p14="http://schemas.microsoft.com/office/powerpoint/2010/main" val="1597413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30525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Номер слайда 4"/>
          <p:cNvSpPr>
            <a:spLocks noGrp="1"/>
          </p:cNvSpPr>
          <p:nvPr>
            <p:ph type="sldNum" sz="quarter" idx="12"/>
          </p:nvPr>
        </p:nvSpPr>
        <p:spPr/>
        <p:txBody>
          <a:bodyPr/>
          <a:lstStyle/>
          <a:p>
            <a:fld id="{952B6C0E-C4B9-4094-8E59-5B7DF00D5415}" type="slidenum">
              <a:rPr lang="ru-RU" sz="1400">
                <a:solidFill>
                  <a:schemeClr val="tx1"/>
                </a:solidFill>
              </a:rPr>
              <a:t>15</a:t>
            </a:fld>
            <a:endParaRPr lang="ru-RU" dirty="0">
              <a:solidFill>
                <a:schemeClr val="tx1"/>
              </a:solidFill>
            </a:endParaRPr>
          </a:p>
        </p:txBody>
      </p:sp>
      <p:sp>
        <p:nvSpPr>
          <p:cNvPr id="2" name="Скругленный прямоугольник 1"/>
          <p:cNvSpPr/>
          <p:nvPr/>
        </p:nvSpPr>
        <p:spPr bwMode="auto">
          <a:xfrm>
            <a:off x="1149549" y="1314736"/>
            <a:ext cx="10657184" cy="5305125"/>
          </a:xfrm>
          <a:prstGeom prst="roundRect">
            <a:avLst>
              <a:gd name="adj" fmla="val 19336"/>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165842" indent="-165842">
              <a:lnSpc>
                <a:spcPct val="80000"/>
              </a:lnSpc>
              <a:defRPr/>
            </a:pPr>
            <a:r>
              <a:rPr lang="ru-RU" altLang="ru-RU" sz="2494" b="1" i="1" dirty="0"/>
              <a:t>Сокращение размерности</a:t>
            </a:r>
            <a:r>
              <a:rPr lang="ru-RU" altLang="ru-RU" sz="2494" b="1" dirty="0"/>
              <a:t> </a:t>
            </a:r>
            <a:r>
              <a:rPr lang="ru-RU" altLang="ru-RU" sz="2494" dirty="0"/>
              <a:t>- для визуализации данных, лаконизма моделей, упрощения счета и интерпретации, сжатия объемов собираемой и хранимой информации.</a:t>
            </a:r>
            <a:endParaRPr lang="en-US" altLang="ru-RU" sz="2494" dirty="0"/>
          </a:p>
          <a:p>
            <a:pPr marL="165842" indent="-165842">
              <a:lnSpc>
                <a:spcPct val="80000"/>
              </a:lnSpc>
              <a:defRPr/>
            </a:pPr>
            <a:endParaRPr lang="ru-RU" altLang="ru-RU" sz="2494" dirty="0"/>
          </a:p>
          <a:p>
            <a:pPr marL="165842" indent="-165842">
              <a:lnSpc>
                <a:spcPct val="80000"/>
              </a:lnSpc>
              <a:defRPr/>
            </a:pPr>
            <a:r>
              <a:rPr lang="ru-RU" altLang="ru-RU" sz="2494" i="1" dirty="0"/>
              <a:t>Ассоциация</a:t>
            </a:r>
            <a:r>
              <a:rPr lang="ru-RU" altLang="ru-RU" sz="2494" dirty="0"/>
              <a:t> (</a:t>
            </a:r>
            <a:r>
              <a:rPr lang="ru-RU" sz="2494" dirty="0" err="1"/>
              <a:t>Association</a:t>
            </a:r>
            <a:r>
              <a:rPr lang="ru-RU" sz="2494" dirty="0"/>
              <a:t> </a:t>
            </a:r>
            <a:r>
              <a:rPr lang="ru-RU" sz="2494" dirty="0" err="1"/>
              <a:t>rule</a:t>
            </a:r>
            <a:r>
              <a:rPr lang="ru-RU" sz="2494" dirty="0"/>
              <a:t> </a:t>
            </a:r>
            <a:r>
              <a:rPr lang="ru-RU" sz="2494" dirty="0" err="1"/>
              <a:t>learning</a:t>
            </a:r>
            <a:r>
              <a:rPr lang="ru-RU" sz="2494" dirty="0"/>
              <a:t>. </a:t>
            </a:r>
            <a:r>
              <a:rPr lang="ru-RU" altLang="ru-RU" sz="2494" dirty="0"/>
              <a:t>)</a:t>
            </a:r>
            <a:r>
              <a:rPr lang="en-US" altLang="ru-RU" sz="2494" dirty="0"/>
              <a:t> </a:t>
            </a:r>
            <a:r>
              <a:rPr lang="ru-RU" altLang="ru-RU" sz="2494" dirty="0"/>
              <a:t>- поиск повторяющихся образцов. Например, поиск «устойчивых связей в корзине покупателя» (англ. </a:t>
            </a:r>
            <a:r>
              <a:rPr lang="ru-RU" altLang="ru-RU" sz="2494" dirty="0" err="1"/>
              <a:t>market</a:t>
            </a:r>
            <a:r>
              <a:rPr lang="ru-RU" altLang="ru-RU" sz="2494" dirty="0"/>
              <a:t> </a:t>
            </a:r>
            <a:r>
              <a:rPr lang="ru-RU" altLang="ru-RU" sz="2494" dirty="0" err="1"/>
              <a:t>basket</a:t>
            </a:r>
            <a:r>
              <a:rPr lang="ru-RU" altLang="ru-RU" sz="2494" dirty="0"/>
              <a:t> </a:t>
            </a:r>
            <a:r>
              <a:rPr lang="ru-RU" altLang="ru-RU" sz="2494" dirty="0" err="1"/>
              <a:t>analysis</a:t>
            </a:r>
            <a:r>
              <a:rPr lang="ru-RU" altLang="ru-RU" sz="2494" dirty="0"/>
              <a:t>) — вместе с творогом часто покупают сметану. </a:t>
            </a:r>
          </a:p>
          <a:p>
            <a:pPr marL="165842" indent="-165842">
              <a:lnSpc>
                <a:spcPct val="80000"/>
              </a:lnSpc>
              <a:defRPr/>
            </a:pPr>
            <a:endParaRPr lang="ru-RU" altLang="ru-RU" sz="2588" dirty="0"/>
          </a:p>
          <a:p>
            <a:pPr marL="588517" lvl="1" indent="-165842">
              <a:lnSpc>
                <a:spcPct val="80000"/>
              </a:lnSpc>
              <a:defRPr/>
            </a:pPr>
            <a:r>
              <a:rPr lang="ru-RU" sz="2218" dirty="0"/>
              <a:t>Другими словами - набор методик для выявления взаимосвязей, т.е. ассоциативных правил, между переменными величинами в больших массивах данных. </a:t>
            </a:r>
            <a:endParaRPr lang="ru-RU" altLang="ru-RU" sz="2218" dirty="0"/>
          </a:p>
          <a:p>
            <a:pPr marL="165842" indent="-165842">
              <a:lnSpc>
                <a:spcPct val="80000"/>
              </a:lnSpc>
              <a:defRPr/>
            </a:pPr>
            <a:endParaRPr lang="ru-RU" altLang="ru-RU" sz="2588" dirty="0"/>
          </a:p>
        </p:txBody>
      </p:sp>
      <p:sp>
        <p:nvSpPr>
          <p:cNvPr id="7" name="Rectangle 3">
            <a:extLst>
              <a:ext uri="{FF2B5EF4-FFF2-40B4-BE49-F238E27FC236}">
                <a16:creationId xmlns:a16="http://schemas.microsoft.com/office/drawing/2014/main" id="{BF966D4C-5055-4D01-AF11-7844F41F9DDE}"/>
              </a:ext>
            </a:extLst>
          </p:cNvPr>
          <p:cNvSpPr txBox="1">
            <a:spLocks noChangeArrowheads="1"/>
          </p:cNvSpPr>
          <p:nvPr/>
        </p:nvSpPr>
        <p:spPr>
          <a:xfrm>
            <a:off x="2058354" y="532824"/>
            <a:ext cx="8551545" cy="6367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lnSpcReduction="20000"/>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defRPr/>
            </a:pPr>
            <a:r>
              <a:rPr lang="ru-RU" altLang="ru-RU"/>
              <a:t>Задачи и алгоритмы </a:t>
            </a:r>
            <a:r>
              <a:rPr lang="en-US" altLang="ru-RU"/>
              <a:t>Data </a:t>
            </a:r>
            <a:r>
              <a:rPr lang="en-US" sz="4800">
                <a:solidFill>
                  <a:schemeClr val="tx2">
                    <a:lumMod val="75000"/>
                  </a:schemeClr>
                </a:solidFill>
              </a:rPr>
              <a:t>Analysis</a:t>
            </a:r>
            <a:endParaRPr lang="ru-RU" altLang="ru-RU" dirty="0"/>
          </a:p>
        </p:txBody>
      </p:sp>
    </p:spTree>
    <p:extLst>
      <p:ext uri="{BB962C8B-B14F-4D97-AF65-F5344CB8AC3E}">
        <p14:creationId xmlns:p14="http://schemas.microsoft.com/office/powerpoint/2010/main" val="170080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2821" y="394270"/>
            <a:ext cx="11743991" cy="6553249"/>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Номер слайда 4"/>
          <p:cNvSpPr>
            <a:spLocks noGrp="1"/>
          </p:cNvSpPr>
          <p:nvPr>
            <p:ph type="sldNum" sz="quarter" idx="12"/>
          </p:nvPr>
        </p:nvSpPr>
        <p:spPr>
          <a:xfrm>
            <a:off x="11374685" y="6605015"/>
            <a:ext cx="660154" cy="379409"/>
          </a:xfrm>
        </p:spPr>
        <p:txBody>
          <a:bodyPr/>
          <a:lstStyle/>
          <a:p>
            <a:fld id="{952B6C0E-C4B9-4094-8E59-5B7DF00D5415}" type="slidenum">
              <a:rPr lang="ru-RU" sz="1400">
                <a:solidFill>
                  <a:schemeClr val="tx1"/>
                </a:solidFill>
              </a:rPr>
              <a:t>16</a:t>
            </a:fld>
            <a:endParaRPr lang="ru-RU" dirty="0">
              <a:solidFill>
                <a:schemeClr val="tx1"/>
              </a:solidFill>
            </a:endParaRPr>
          </a:p>
        </p:txBody>
      </p:sp>
      <p:sp>
        <p:nvSpPr>
          <p:cNvPr id="2" name="Скругленный прямоугольник 1"/>
          <p:cNvSpPr/>
          <p:nvPr/>
        </p:nvSpPr>
        <p:spPr bwMode="auto">
          <a:xfrm>
            <a:off x="782821" y="1114844"/>
            <a:ext cx="11357957" cy="5605353"/>
          </a:xfrm>
          <a:prstGeom prst="roundRect">
            <a:avLst>
              <a:gd name="adj" fmla="val 19336"/>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indent="415338">
              <a:defRPr/>
            </a:pPr>
            <a:r>
              <a:rPr lang="ru-RU" sz="2200" b="1" i="1" dirty="0"/>
              <a:t>Последовательность (</a:t>
            </a:r>
            <a:r>
              <a:rPr lang="ru-RU" sz="2200" b="1" i="1" dirty="0" err="1"/>
              <a:t>Sequence</a:t>
            </a:r>
            <a:r>
              <a:rPr lang="ru-RU" sz="2200" b="1" i="1" dirty="0"/>
              <a:t>), </a:t>
            </a:r>
            <a:r>
              <a:rPr lang="ru-RU" sz="2200" dirty="0"/>
              <a:t>или последовательная ассоциация (</a:t>
            </a:r>
            <a:r>
              <a:rPr lang="ru-RU" sz="2200" dirty="0" err="1"/>
              <a:t>sequential</a:t>
            </a:r>
            <a:r>
              <a:rPr lang="ru-RU" sz="2200" dirty="0"/>
              <a:t> </a:t>
            </a:r>
            <a:r>
              <a:rPr lang="ru-RU" sz="2200" dirty="0" err="1"/>
              <a:t>association</a:t>
            </a:r>
            <a:r>
              <a:rPr lang="ru-RU" sz="2200" dirty="0"/>
              <a:t>)</a:t>
            </a:r>
            <a:r>
              <a:rPr lang="en-US" sz="2200" dirty="0"/>
              <a:t> </a:t>
            </a:r>
            <a:r>
              <a:rPr lang="ru-RU" sz="2200" dirty="0"/>
              <a:t>позволяет найти временн</a:t>
            </a:r>
            <a:r>
              <a:rPr lang="ru-RU" sz="2200" b="1" i="1" dirty="0"/>
              <a:t>ы</a:t>
            </a:r>
            <a:r>
              <a:rPr lang="ru-RU" sz="2200" dirty="0"/>
              <a:t>е закономерности между транзакциями. Задача последовательности подобна ассоциации, но ее целью является установление закономерностей не между одновременно наступающими событиями, а между событиями, связанными во времени (т.е. происходящими с некоторым определенным интервалом во времени). Другими словами, последовательность определяется высокой вероятностью цепочки связанных во времени событий.</a:t>
            </a:r>
            <a:endParaRPr lang="en-US" sz="2200" dirty="0"/>
          </a:p>
          <a:p>
            <a:pPr indent="415338">
              <a:defRPr/>
            </a:pPr>
            <a:r>
              <a:rPr lang="ru-RU" sz="2000" b="1" i="1" dirty="0"/>
              <a:t>Правило последовательности: </a:t>
            </a:r>
            <a:r>
              <a:rPr lang="ru-RU" sz="2000" dirty="0">
                <a:solidFill>
                  <a:schemeClr val="tx1"/>
                </a:solidFill>
              </a:rPr>
              <a:t>после</a:t>
            </a:r>
            <a:r>
              <a:rPr lang="ru-RU" sz="2000" dirty="0"/>
              <a:t> события X через определенное время произойдет событие Y.</a:t>
            </a:r>
          </a:p>
          <a:p>
            <a:pPr indent="415338">
              <a:defRPr/>
            </a:pPr>
            <a:r>
              <a:rPr lang="ru-RU" sz="2000" dirty="0"/>
              <a:t>Пример. После покупки квартиры жильцы в 60% случаев в течение двух недель приобретают холодильник, а в течение двух месяцев в 50% случаев приобретается телевизор. </a:t>
            </a:r>
          </a:p>
          <a:p>
            <a:pPr indent="415338">
              <a:defRPr/>
            </a:pPr>
            <a:r>
              <a:rPr lang="ru-RU" sz="2000" dirty="0"/>
              <a:t>Решение данной задачи широко применяется в маркетинге и менеджменте, например, при управлении циклом работы с клиентом (Customer </a:t>
            </a:r>
            <a:r>
              <a:rPr lang="ru-RU" sz="2000" dirty="0" err="1"/>
              <a:t>Lifecycle</a:t>
            </a:r>
            <a:r>
              <a:rPr lang="ru-RU" sz="2000" dirty="0"/>
              <a:t> Management). </a:t>
            </a:r>
            <a:br>
              <a:rPr lang="ru-RU" sz="2000" dirty="0"/>
            </a:br>
            <a:endParaRPr lang="ru-RU" altLang="ru-RU" sz="2000" dirty="0"/>
          </a:p>
          <a:p>
            <a:pPr indent="415338">
              <a:defRPr/>
            </a:pPr>
            <a:endParaRPr lang="en-US" sz="2200" dirty="0"/>
          </a:p>
        </p:txBody>
      </p:sp>
      <p:sp>
        <p:nvSpPr>
          <p:cNvPr id="7" name="Rectangle 3">
            <a:extLst>
              <a:ext uri="{FF2B5EF4-FFF2-40B4-BE49-F238E27FC236}">
                <a16:creationId xmlns:a16="http://schemas.microsoft.com/office/drawing/2014/main" id="{C459E484-8152-4472-A83B-1270C96C3AD4}"/>
              </a:ext>
            </a:extLst>
          </p:cNvPr>
          <p:cNvSpPr txBox="1">
            <a:spLocks noChangeArrowheads="1"/>
          </p:cNvSpPr>
          <p:nvPr/>
        </p:nvSpPr>
        <p:spPr>
          <a:xfrm>
            <a:off x="2058354" y="532824"/>
            <a:ext cx="8551545" cy="6367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lnSpcReduction="20000"/>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defRPr/>
            </a:pPr>
            <a:r>
              <a:rPr lang="ru-RU" altLang="ru-RU"/>
              <a:t>Задачи и алгоритмы </a:t>
            </a:r>
            <a:r>
              <a:rPr lang="en-US" altLang="ru-RU"/>
              <a:t>Data </a:t>
            </a:r>
            <a:r>
              <a:rPr lang="en-US" sz="4800">
                <a:solidFill>
                  <a:schemeClr val="tx2">
                    <a:lumMod val="75000"/>
                  </a:schemeClr>
                </a:solidFill>
              </a:rPr>
              <a:t>Analysis</a:t>
            </a:r>
            <a:endParaRPr lang="ru-RU" altLang="ru-RU" dirty="0"/>
          </a:p>
        </p:txBody>
      </p:sp>
    </p:spTree>
    <p:extLst>
      <p:ext uri="{BB962C8B-B14F-4D97-AF65-F5344CB8AC3E}">
        <p14:creationId xmlns:p14="http://schemas.microsoft.com/office/powerpoint/2010/main" val="188227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429469" y="250776"/>
            <a:ext cx="11953328"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Скругленный прямоугольник 4"/>
          <p:cNvSpPr/>
          <p:nvPr/>
        </p:nvSpPr>
        <p:spPr bwMode="auto">
          <a:xfrm>
            <a:off x="789509" y="1130270"/>
            <a:ext cx="11161240" cy="5169178"/>
          </a:xfrm>
          <a:prstGeom prst="roundRect">
            <a:avLst>
              <a:gd name="adj" fmla="val 19336"/>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165842" indent="-165842">
              <a:lnSpc>
                <a:spcPct val="80000"/>
              </a:lnSpc>
              <a:defRPr/>
            </a:pPr>
            <a:r>
              <a:rPr lang="ru-RU" altLang="ru-RU" sz="2400" b="1" i="1" dirty="0"/>
              <a:t>Определение (анализ) отклонений (</a:t>
            </a:r>
            <a:r>
              <a:rPr lang="ru-RU" altLang="ru-RU" sz="2400" b="1" i="1" dirty="0" err="1"/>
              <a:t>Deviation</a:t>
            </a:r>
            <a:r>
              <a:rPr lang="ru-RU" altLang="ru-RU" sz="2400" b="1" i="1" dirty="0"/>
              <a:t> </a:t>
            </a:r>
            <a:r>
              <a:rPr lang="ru-RU" altLang="ru-RU" sz="2400" b="1" i="1" dirty="0" err="1"/>
              <a:t>Detection</a:t>
            </a:r>
            <a:r>
              <a:rPr lang="ru-RU" altLang="ru-RU" sz="2400" b="1" i="1" dirty="0"/>
              <a:t>),</a:t>
            </a:r>
            <a:r>
              <a:rPr lang="ru-RU" altLang="ru-RU" sz="2400" dirty="0"/>
              <a:t> анализ отклонений или выбросов - выявление и анализ данных, наиболее отличающихся от общей тенденции в данных, выявление нехарактерных шаблонов. Например, выявление нетипичной сетевой активности позволяет обнаружить вредоносные программы.</a:t>
            </a:r>
            <a:endParaRPr lang="en-US" altLang="ru-RU" sz="2400" dirty="0"/>
          </a:p>
          <a:p>
            <a:pPr marL="165842" indent="-165842">
              <a:lnSpc>
                <a:spcPct val="80000"/>
              </a:lnSpc>
              <a:defRPr/>
            </a:pPr>
            <a:endParaRPr lang="ru-RU" altLang="ru-RU" sz="2400" dirty="0"/>
          </a:p>
          <a:p>
            <a:pPr lvl="1">
              <a:defRPr/>
            </a:pPr>
            <a:r>
              <a:rPr lang="ru-RU" altLang="ru-RU" sz="2200" dirty="0"/>
              <a:t>В известном смысле задача, обратная вышеперечисленным – требуется отыскать «</a:t>
            </a:r>
            <a:r>
              <a:rPr lang="ru-RU" altLang="ru-RU" sz="2200" dirty="0" err="1"/>
              <a:t>незакономерность</a:t>
            </a:r>
            <a:r>
              <a:rPr lang="ru-RU" altLang="ru-RU" sz="2200" dirty="0"/>
              <a:t>», т.е. отклонение от ранее наблюдавшегося поведения</a:t>
            </a:r>
            <a:r>
              <a:rPr lang="en-US" altLang="ru-RU" sz="2200" dirty="0"/>
              <a:t>.</a:t>
            </a:r>
            <a:endParaRPr lang="ru-RU" altLang="ru-RU" sz="2200" dirty="0"/>
          </a:p>
          <a:p>
            <a:pPr lvl="1">
              <a:defRPr/>
            </a:pPr>
            <a:r>
              <a:rPr lang="ru-RU" altLang="ru-RU" sz="2200" u="sng" dirty="0"/>
              <a:t>Бизнес-задачи</a:t>
            </a:r>
            <a:r>
              <a:rPr lang="ru-RU" altLang="ru-RU" sz="2200" dirty="0"/>
              <a:t>: выявление мошенничеств с кредитными карточками, определение вторжения в сеть</a:t>
            </a:r>
            <a:r>
              <a:rPr lang="en-US" altLang="ru-RU" sz="2200" dirty="0"/>
              <a:t>.</a:t>
            </a:r>
            <a:endParaRPr lang="ru-RU" altLang="ru-RU" sz="2200" dirty="0"/>
          </a:p>
          <a:p>
            <a:pPr lvl="1">
              <a:defRPr/>
            </a:pPr>
            <a:r>
              <a:rPr lang="ru-RU" altLang="ru-RU" sz="2200" u="sng" dirty="0"/>
              <a:t>Алгоритмы: </a:t>
            </a:r>
            <a:r>
              <a:rPr lang="ru-RU" altLang="ru-RU" sz="2200" dirty="0"/>
              <a:t>в настоящее время не существует устоявшихся методик</a:t>
            </a:r>
            <a:r>
              <a:rPr lang="en-US" altLang="ru-RU" sz="2200" dirty="0"/>
              <a:t> </a:t>
            </a:r>
            <a:r>
              <a:rPr lang="ru-RU" altLang="ru-RU" sz="2200" dirty="0"/>
              <a:t>анализа отклонений, остается областью активных исследований. Основная проблема: как отличить такие случаи от помех и не отфильтровать вместе с водой ребенка</a:t>
            </a:r>
            <a:r>
              <a:rPr lang="en-US" altLang="ru-RU" sz="2200" dirty="0"/>
              <a:t>.</a:t>
            </a:r>
          </a:p>
        </p:txBody>
      </p:sp>
      <p:sp>
        <p:nvSpPr>
          <p:cNvPr id="252931" name="Rectangle 3"/>
          <p:cNvSpPr>
            <a:spLocks noGrp="1" noChangeArrowheads="1"/>
          </p:cNvSpPr>
          <p:nvPr>
            <p:ph type="title"/>
          </p:nvPr>
        </p:nvSpPr>
        <p:spPr>
          <a:xfrm>
            <a:off x="2057659" y="372150"/>
            <a:ext cx="8551545" cy="636747"/>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dirty="0"/>
              <a:t>Задачи </a:t>
            </a:r>
            <a:r>
              <a:rPr lang="en-US" altLang="ru-RU" dirty="0"/>
              <a:t>Data </a:t>
            </a:r>
            <a:r>
              <a:rPr lang="en-US" sz="4800" dirty="0">
                <a:solidFill>
                  <a:schemeClr val="tx2">
                    <a:lumMod val="75000"/>
                  </a:schemeClr>
                </a:solidFill>
              </a:rPr>
              <a:t>Analysis</a:t>
            </a:r>
            <a:endParaRPr lang="ru-RU" altLang="ru-RU" dirty="0"/>
          </a:p>
        </p:txBody>
      </p:sp>
      <p:sp>
        <p:nvSpPr>
          <p:cNvPr id="3" name="Номер слайда 2"/>
          <p:cNvSpPr>
            <a:spLocks noGrp="1"/>
          </p:cNvSpPr>
          <p:nvPr>
            <p:ph type="sldNum" sz="quarter" idx="12"/>
          </p:nvPr>
        </p:nvSpPr>
        <p:spPr>
          <a:xfrm>
            <a:off x="11409301" y="6605014"/>
            <a:ext cx="677866" cy="379409"/>
          </a:xfrm>
        </p:spPr>
        <p:txBody>
          <a:bodyPr/>
          <a:lstStyle/>
          <a:p>
            <a:fld id="{952B6C0E-C4B9-4094-8E59-5B7DF00D5415}" type="slidenum">
              <a:rPr lang="ru-RU" sz="1400">
                <a:solidFill>
                  <a:schemeClr val="tx1"/>
                </a:solidFill>
              </a:rPr>
              <a:t>17</a:t>
            </a:fld>
            <a:endParaRPr lang="ru-RU" dirty="0">
              <a:solidFill>
                <a:schemeClr val="tx1"/>
              </a:solidFill>
            </a:endParaRPr>
          </a:p>
        </p:txBody>
      </p:sp>
    </p:spTree>
    <p:extLst>
      <p:ext uri="{BB962C8B-B14F-4D97-AF65-F5344CB8AC3E}">
        <p14:creationId xmlns:p14="http://schemas.microsoft.com/office/powerpoint/2010/main" val="119437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429469" y="322263"/>
            <a:ext cx="1159328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Номер слайда 4"/>
          <p:cNvSpPr>
            <a:spLocks noGrp="1"/>
          </p:cNvSpPr>
          <p:nvPr>
            <p:ph type="sldNum" sz="quarter" idx="12"/>
          </p:nvPr>
        </p:nvSpPr>
        <p:spPr>
          <a:xfrm>
            <a:off x="11690542" y="6505025"/>
            <a:ext cx="664425" cy="390958"/>
          </a:xfrm>
        </p:spPr>
        <p:txBody>
          <a:bodyPr/>
          <a:lstStyle/>
          <a:p>
            <a:fld id="{952B6C0E-C4B9-4094-8E59-5B7DF00D5415}" type="slidenum">
              <a:rPr lang="ru-RU" smtClean="0">
                <a:solidFill>
                  <a:schemeClr val="tx1"/>
                </a:solidFill>
              </a:rPr>
              <a:t>18</a:t>
            </a:fld>
            <a:endParaRPr lang="ru-RU" dirty="0">
              <a:solidFill>
                <a:schemeClr val="tx1"/>
              </a:solidFill>
            </a:endParaRPr>
          </a:p>
        </p:txBody>
      </p:sp>
      <p:sp>
        <p:nvSpPr>
          <p:cNvPr id="2" name="Скругленный прямоугольник 1"/>
          <p:cNvSpPr/>
          <p:nvPr/>
        </p:nvSpPr>
        <p:spPr bwMode="auto">
          <a:xfrm>
            <a:off x="861516" y="1380133"/>
            <a:ext cx="11161239" cy="5063332"/>
          </a:xfrm>
          <a:prstGeom prst="roundRect">
            <a:avLst/>
          </a:prstGeom>
          <a:gradFill flip="none" rotWithShape="1">
            <a:gsLst>
              <a:gs pos="0">
                <a:srgbClr val="66CCFF">
                  <a:tint val="66000"/>
                  <a:satMod val="160000"/>
                </a:srgbClr>
              </a:gs>
              <a:gs pos="50000">
                <a:srgbClr val="66CCFF">
                  <a:tint val="44500"/>
                  <a:satMod val="160000"/>
                </a:srgbClr>
              </a:gs>
              <a:gs pos="100000">
                <a:srgbClr val="66CCFF">
                  <a:tint val="23500"/>
                  <a:satMod val="160000"/>
                </a:srgbClr>
              </a:gs>
            </a:gsLst>
            <a:lin ang="5400000" scaled="1"/>
            <a:tileRect/>
          </a:gradFill>
          <a:ln>
            <a:solidFill>
              <a:schemeClr val="bg2"/>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lIns="84538" tIns="42269" rIns="84538" bIns="42269"/>
          <a:lstStyle/>
          <a:p>
            <a:pPr marL="317007" indent="-317007">
              <a:lnSpc>
                <a:spcPct val="80000"/>
              </a:lnSpc>
              <a:spcBef>
                <a:spcPts val="647"/>
              </a:spcBef>
              <a:buFont typeface="Arial" panose="020B0604020202020204" pitchFamily="34" charset="0"/>
              <a:buChar char="•"/>
              <a:defRPr/>
            </a:pPr>
            <a:endParaRPr lang="en-US" altLang="ru-RU" sz="2400" i="1" dirty="0"/>
          </a:p>
          <a:p>
            <a:pPr marL="317007" indent="-317007">
              <a:lnSpc>
                <a:spcPct val="80000"/>
              </a:lnSpc>
              <a:spcBef>
                <a:spcPts val="647"/>
              </a:spcBef>
              <a:buFont typeface="Arial" panose="020B0604020202020204" pitchFamily="34" charset="0"/>
              <a:buChar char="•"/>
              <a:defRPr/>
            </a:pPr>
            <a:r>
              <a:rPr lang="ru-RU" altLang="ru-RU" sz="2400" i="1" dirty="0"/>
              <a:t>Оценка (</a:t>
            </a:r>
            <a:r>
              <a:rPr lang="ru-RU" altLang="ru-RU" sz="2400" i="1" dirty="0" err="1"/>
              <a:t>Estimation</a:t>
            </a:r>
            <a:r>
              <a:rPr lang="ru-RU" altLang="ru-RU" sz="2400" i="1" dirty="0"/>
              <a:t>)</a:t>
            </a:r>
            <a:r>
              <a:rPr lang="ru-RU" altLang="ru-RU" sz="2400" dirty="0"/>
              <a:t> - сводится к прогнозу непрерывных значений признаков.</a:t>
            </a:r>
          </a:p>
          <a:p>
            <a:pPr marL="317007" indent="-317007">
              <a:lnSpc>
                <a:spcPct val="80000"/>
              </a:lnSpc>
              <a:spcBef>
                <a:spcPts val="647"/>
              </a:spcBef>
              <a:buFont typeface="Arial" panose="020B0604020202020204" pitchFamily="34" charset="0"/>
              <a:buChar char="•"/>
              <a:defRPr/>
            </a:pPr>
            <a:r>
              <a:rPr lang="ru-RU" altLang="ru-RU" sz="2400" i="1" dirty="0"/>
              <a:t>Анализ связей (</a:t>
            </a:r>
            <a:r>
              <a:rPr lang="ru-RU" altLang="ru-RU" sz="2400" i="1" dirty="0" err="1"/>
              <a:t>Link</a:t>
            </a:r>
            <a:r>
              <a:rPr lang="ru-RU" altLang="ru-RU" sz="2400" i="1" dirty="0"/>
              <a:t> </a:t>
            </a:r>
            <a:r>
              <a:rPr lang="ru-RU" altLang="ru-RU" sz="2400" i="1" dirty="0" err="1"/>
              <a:t>Analysis</a:t>
            </a:r>
            <a:r>
              <a:rPr lang="ru-RU" altLang="ru-RU" sz="2400" i="1" dirty="0"/>
              <a:t>)</a:t>
            </a:r>
            <a:r>
              <a:rPr lang="ru-RU" altLang="ru-RU" sz="2400" dirty="0"/>
              <a:t> - задача нахождения зависимостей в наборе данных.</a:t>
            </a:r>
          </a:p>
          <a:p>
            <a:pPr marL="317007" indent="-317007">
              <a:lnSpc>
                <a:spcPct val="80000"/>
              </a:lnSpc>
              <a:spcBef>
                <a:spcPts val="647"/>
              </a:spcBef>
              <a:buFont typeface="Arial" panose="020B0604020202020204" pitchFamily="34" charset="0"/>
              <a:buChar char="•"/>
              <a:defRPr/>
            </a:pPr>
            <a:r>
              <a:rPr lang="ru-RU" altLang="ru-RU" sz="2400" i="1" dirty="0"/>
              <a:t>Визуализация (</a:t>
            </a:r>
            <a:r>
              <a:rPr lang="ru-RU" altLang="ru-RU" sz="2400" i="1" dirty="0" err="1"/>
              <a:t>Visualization</a:t>
            </a:r>
            <a:r>
              <a:rPr lang="ru-RU" altLang="ru-RU" sz="2400" i="1" dirty="0"/>
              <a:t>, </a:t>
            </a:r>
            <a:r>
              <a:rPr lang="ru-RU" altLang="ru-RU" sz="2400" i="1" dirty="0" err="1"/>
              <a:t>Graph</a:t>
            </a:r>
            <a:r>
              <a:rPr lang="ru-RU" altLang="ru-RU" sz="2400" i="1" dirty="0"/>
              <a:t> </a:t>
            </a:r>
            <a:r>
              <a:rPr lang="ru-RU" altLang="ru-RU" sz="2400" i="1" dirty="0" err="1"/>
              <a:t>Mining</a:t>
            </a:r>
            <a:r>
              <a:rPr lang="ru-RU" altLang="ru-RU" sz="2400" i="1" dirty="0"/>
              <a:t>)</a:t>
            </a:r>
            <a:r>
              <a:rPr lang="ru-RU" altLang="ru-RU" sz="2400" dirty="0"/>
              <a:t> - создается графический образ анализируемых данных. Для решения задач визуализации используются графические методы, показывающие наличие закономерностей в данных.</a:t>
            </a:r>
          </a:p>
          <a:p>
            <a:pPr marL="317007" indent="-317007">
              <a:lnSpc>
                <a:spcPct val="80000"/>
              </a:lnSpc>
              <a:spcBef>
                <a:spcPts val="647"/>
              </a:spcBef>
              <a:buFont typeface="Arial" panose="020B0604020202020204" pitchFamily="34" charset="0"/>
              <a:buChar char="•"/>
              <a:defRPr/>
            </a:pPr>
            <a:r>
              <a:rPr lang="ru-RU" altLang="ru-RU" sz="2400" i="1" dirty="0"/>
              <a:t>Подведение итогов (</a:t>
            </a:r>
            <a:r>
              <a:rPr lang="ru-RU" altLang="ru-RU" sz="2400" i="1" dirty="0" err="1"/>
              <a:t>Summarization</a:t>
            </a:r>
            <a:r>
              <a:rPr lang="ru-RU" altLang="ru-RU" sz="2400" i="1" dirty="0"/>
              <a:t>)</a:t>
            </a:r>
            <a:r>
              <a:rPr lang="ru-RU" altLang="ru-RU" sz="2400" dirty="0"/>
              <a:t> - описание конкретных групп объектов с помощью рассматриваемого набора данных.</a:t>
            </a:r>
          </a:p>
        </p:txBody>
      </p:sp>
      <p:sp>
        <p:nvSpPr>
          <p:cNvPr id="7" name="Rectangle 3">
            <a:extLst>
              <a:ext uri="{FF2B5EF4-FFF2-40B4-BE49-F238E27FC236}">
                <a16:creationId xmlns:a16="http://schemas.microsoft.com/office/drawing/2014/main" id="{D2912D39-B40D-44EF-B1DC-B2FBC4D04E43}"/>
              </a:ext>
            </a:extLst>
          </p:cNvPr>
          <p:cNvSpPr txBox="1">
            <a:spLocks noChangeArrowheads="1"/>
          </p:cNvSpPr>
          <p:nvPr/>
        </p:nvSpPr>
        <p:spPr>
          <a:xfrm>
            <a:off x="2058354" y="532824"/>
            <a:ext cx="8551545" cy="6367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lnSpcReduction="20000"/>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defRPr/>
            </a:pPr>
            <a:r>
              <a:rPr lang="ru-RU" altLang="ru-RU"/>
              <a:t>Задачи и алгоритмы </a:t>
            </a:r>
            <a:r>
              <a:rPr lang="en-US" altLang="ru-RU"/>
              <a:t>Data </a:t>
            </a:r>
            <a:r>
              <a:rPr lang="en-US" sz="4800">
                <a:solidFill>
                  <a:schemeClr val="tx2">
                    <a:lumMod val="75000"/>
                  </a:schemeClr>
                </a:solidFill>
              </a:rPr>
              <a:t>Analysis</a:t>
            </a:r>
            <a:endParaRPr lang="ru-RU" altLang="ru-RU" dirty="0"/>
          </a:p>
        </p:txBody>
      </p:sp>
    </p:spTree>
    <p:extLst>
      <p:ext uri="{BB962C8B-B14F-4D97-AF65-F5344CB8AC3E}">
        <p14:creationId xmlns:p14="http://schemas.microsoft.com/office/powerpoint/2010/main" val="3952164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501477" y="322263"/>
            <a:ext cx="11533361" cy="640923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Rectangle 2"/>
          <p:cNvSpPr>
            <a:spLocks noGrp="1" noChangeArrowheads="1"/>
          </p:cNvSpPr>
          <p:nvPr>
            <p:ph type="title"/>
          </p:nvPr>
        </p:nvSpPr>
        <p:spPr>
          <a:xfrm>
            <a:off x="2551129" y="578483"/>
            <a:ext cx="7500008" cy="1040446"/>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3325" dirty="0">
                <a:solidFill>
                  <a:schemeClr val="tx2">
                    <a:lumMod val="75000"/>
                  </a:schemeClr>
                </a:solidFill>
              </a:rPr>
              <a:t>Методы </a:t>
            </a:r>
            <a:r>
              <a:rPr lang="ru-RU" altLang="ru-RU" sz="3325" dirty="0" err="1">
                <a:solidFill>
                  <a:schemeClr val="tx2">
                    <a:lumMod val="75000"/>
                  </a:schemeClr>
                </a:solidFill>
              </a:rPr>
              <a:t>Data</a:t>
            </a:r>
            <a:r>
              <a:rPr lang="ru-RU" altLang="ru-RU" sz="3325" dirty="0">
                <a:solidFill>
                  <a:schemeClr val="tx2">
                    <a:lumMod val="75000"/>
                  </a:schemeClr>
                </a:solidFill>
              </a:rPr>
              <a:t> </a:t>
            </a:r>
            <a:r>
              <a:rPr lang="en-US" sz="3325" dirty="0">
                <a:solidFill>
                  <a:schemeClr val="tx2">
                    <a:lumMod val="75000"/>
                  </a:schemeClr>
                </a:solidFill>
              </a:rPr>
              <a:t>Analysis</a:t>
            </a:r>
            <a:r>
              <a:rPr lang="ru-RU" altLang="ru-RU" sz="3325" dirty="0">
                <a:solidFill>
                  <a:schemeClr val="tx2">
                    <a:lumMod val="75000"/>
                  </a:schemeClr>
                </a:solidFill>
              </a:rPr>
              <a:t> </a:t>
            </a:r>
            <a:br>
              <a:rPr lang="ru-RU" altLang="ru-RU" sz="3325" dirty="0">
                <a:solidFill>
                  <a:schemeClr val="tx2">
                    <a:lumMod val="75000"/>
                  </a:schemeClr>
                </a:solidFill>
              </a:rPr>
            </a:br>
            <a:r>
              <a:rPr lang="ru-RU" sz="3325" dirty="0">
                <a:solidFill>
                  <a:schemeClr val="tx2">
                    <a:lumMod val="75000"/>
                  </a:schemeClr>
                </a:solidFill>
              </a:rPr>
              <a:t>Классификация задач </a:t>
            </a:r>
            <a:r>
              <a:rPr lang="ru-RU" sz="3325" dirty="0" err="1">
                <a:solidFill>
                  <a:schemeClr val="tx2">
                    <a:lumMod val="75000"/>
                  </a:schemeClr>
                </a:solidFill>
              </a:rPr>
              <a:t>Data</a:t>
            </a:r>
            <a:r>
              <a:rPr lang="ru-RU" sz="3325" dirty="0">
                <a:solidFill>
                  <a:schemeClr val="tx2">
                    <a:lumMod val="75000"/>
                  </a:schemeClr>
                </a:solidFill>
              </a:rPr>
              <a:t> </a:t>
            </a:r>
            <a:r>
              <a:rPr lang="en-US" sz="3325" dirty="0">
                <a:solidFill>
                  <a:schemeClr val="tx2">
                    <a:lumMod val="75000"/>
                  </a:schemeClr>
                </a:solidFill>
              </a:rPr>
              <a:t>Analysis</a:t>
            </a:r>
            <a:endParaRPr lang="ru-RU" altLang="ru-RU" sz="3325" dirty="0">
              <a:solidFill>
                <a:schemeClr val="tx2">
                  <a:lumMod val="75000"/>
                </a:schemeClr>
              </a:solidFill>
            </a:endParaRPr>
          </a:p>
        </p:txBody>
      </p:sp>
      <p:sp>
        <p:nvSpPr>
          <p:cNvPr id="2" name="Объект 1"/>
          <p:cNvSpPr>
            <a:spLocks noGrp="1"/>
          </p:cNvSpPr>
          <p:nvPr>
            <p:ph idx="1"/>
          </p:nvPr>
        </p:nvSpPr>
        <p:spPr>
          <a:xfrm>
            <a:off x="1077541" y="2208821"/>
            <a:ext cx="10657184" cy="3658821"/>
          </a:xfrm>
        </p:spPr>
        <p:txBody>
          <a:bodyPr>
            <a:normAutofit/>
          </a:bodyPr>
          <a:lstStyle/>
          <a:p>
            <a:pPr>
              <a:defRPr/>
            </a:pPr>
            <a:r>
              <a:rPr lang="ru-RU" sz="2494" b="1" dirty="0"/>
              <a:t>Метод</a:t>
            </a:r>
            <a:r>
              <a:rPr lang="ru-RU" sz="2494" dirty="0"/>
              <a:t> (</a:t>
            </a:r>
            <a:r>
              <a:rPr lang="ru-RU" sz="2494" dirty="0" err="1"/>
              <a:t>method</a:t>
            </a:r>
            <a:r>
              <a:rPr lang="ru-RU" sz="2494" dirty="0"/>
              <a:t>) представляет собой норму или правило, определенный путь, способ, прием решений задачи теоретического, практического, познавательного, управленческого характера.</a:t>
            </a:r>
          </a:p>
          <a:p>
            <a:pPr marL="0" indent="0">
              <a:buNone/>
              <a:defRPr/>
            </a:pPr>
            <a:endParaRPr lang="ru-RU" sz="2494" dirty="0"/>
          </a:p>
          <a:p>
            <a:pPr>
              <a:defRPr/>
            </a:pPr>
            <a:r>
              <a:rPr lang="ru-RU" sz="2494" b="1" dirty="0"/>
              <a:t>Алгоритм</a:t>
            </a:r>
            <a:r>
              <a:rPr lang="ru-RU" sz="2494" dirty="0"/>
              <a:t> (</a:t>
            </a:r>
            <a:r>
              <a:rPr lang="ru-RU" sz="2494" dirty="0" err="1"/>
              <a:t>algorithm</a:t>
            </a:r>
            <a:r>
              <a:rPr lang="ru-RU" sz="2494" dirty="0"/>
              <a:t>) - точное предписание относительно последовательности действий (шагов), преобразующих исходные данные в искомый результат. </a:t>
            </a:r>
            <a:br>
              <a:rPr lang="ru-RU" dirty="0"/>
            </a:br>
            <a:endParaRPr lang="ru-RU" dirty="0"/>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19</a:t>
            </a:fld>
            <a:endParaRPr lang="ru-RU" dirty="0">
              <a:solidFill>
                <a:schemeClr val="tx1"/>
              </a:solidFill>
            </a:endParaRPr>
          </a:p>
        </p:txBody>
      </p:sp>
    </p:spTree>
    <p:extLst>
      <p:ext uri="{BB962C8B-B14F-4D97-AF65-F5344CB8AC3E}">
        <p14:creationId xmlns:p14="http://schemas.microsoft.com/office/powerpoint/2010/main" val="286233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en-US" altLang="ru-RU" sz="3000" b="1" dirty="0">
                <a:solidFill>
                  <a:schemeClr val="bg1"/>
                </a:solidFill>
              </a:rPr>
              <a:t>3</a:t>
            </a:r>
            <a:endParaRPr lang="ru-RU" altLang="ru-RU" sz="3000" b="1" dirty="0">
              <a:solidFill>
                <a:schemeClr val="bg1"/>
              </a:solidFill>
            </a:endParaRPr>
          </a:p>
        </p:txBody>
      </p:sp>
      <p:sp>
        <p:nvSpPr>
          <p:cNvPr id="213001" name="AutoShape 9"/>
          <p:cNvSpPr>
            <a:spLocks noChangeArrowheads="1"/>
          </p:cNvSpPr>
          <p:nvPr/>
        </p:nvSpPr>
        <p:spPr bwMode="auto">
          <a:xfrm>
            <a:off x="2144713" y="3140075"/>
            <a:ext cx="8509892" cy="1284288"/>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r>
              <a:rPr lang="ru-RU" altLang="ru-RU" sz="3500" dirty="0">
                <a:solidFill>
                  <a:schemeClr val="bg1"/>
                </a:solidFill>
              </a:rPr>
              <a:t>Классификация методов </a:t>
            </a:r>
            <a:r>
              <a:rPr lang="en-US" altLang="ru-RU" sz="3500" dirty="0">
                <a:solidFill>
                  <a:schemeClr val="bg1"/>
                </a:solidFill>
              </a:rPr>
              <a:t>DA</a:t>
            </a:r>
            <a:endParaRPr lang="ru-RU" altLang="ru-RU" sz="3500" dirty="0">
              <a:solidFill>
                <a:schemeClr val="bg1"/>
              </a:solidFill>
            </a:endParaRP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20</a:t>
            </a:fld>
            <a:endParaRPr lang="ru-RU" sz="1400">
              <a:solidFill>
                <a:schemeClr val="tx1"/>
              </a:solidFill>
            </a:endParaRPr>
          </a:p>
        </p:txBody>
      </p:sp>
    </p:spTree>
    <p:extLst>
      <p:ext uri="{BB962C8B-B14F-4D97-AF65-F5344CB8AC3E}">
        <p14:creationId xmlns:p14="http://schemas.microsoft.com/office/powerpoint/2010/main" val="71927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3001"/>
                                        </p:tgtEl>
                                        <p:attrNameLst>
                                          <p:attrName>style.visibility</p:attrName>
                                        </p:attrNameLst>
                                      </p:cBhvr>
                                      <p:to>
                                        <p:strVal val="visible"/>
                                      </p:to>
                                    </p:set>
                                    <p:anim calcmode="lin" valueType="num">
                                      <p:cBhvr additive="base">
                                        <p:cTn id="7" dur="500" fill="hold"/>
                                        <p:tgtEl>
                                          <p:spTgt spid="213001"/>
                                        </p:tgtEl>
                                        <p:attrNameLst>
                                          <p:attrName>ppt_x</p:attrName>
                                        </p:attrNameLst>
                                      </p:cBhvr>
                                      <p:tavLst>
                                        <p:tav tm="0">
                                          <p:val>
                                            <p:strVal val="1+#ppt_w/2"/>
                                          </p:val>
                                        </p:tav>
                                        <p:tav tm="100000">
                                          <p:val>
                                            <p:strVal val="#ppt_x"/>
                                          </p:val>
                                        </p:tav>
                                      </p:tavLst>
                                    </p:anim>
                                    <p:anim calcmode="lin" valueType="num">
                                      <p:cBhvr additive="base">
                                        <p:cTn id="8" dur="500" fill="hold"/>
                                        <p:tgtEl>
                                          <p:spTgt spid="2130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201730" name="Rectangle 2"/>
          <p:cNvSpPr>
            <a:spLocks noGrp="1" noChangeArrowheads="1"/>
          </p:cNvSpPr>
          <p:nvPr>
            <p:ph type="title"/>
          </p:nvPr>
        </p:nvSpPr>
        <p:spPr>
          <a:xfrm>
            <a:off x="2058354" y="532824"/>
            <a:ext cx="8551545" cy="577361"/>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3698" dirty="0"/>
              <a:t>Классификация методов </a:t>
            </a:r>
            <a:r>
              <a:rPr lang="ru-RU" altLang="ru-RU" sz="3698" dirty="0" err="1"/>
              <a:t>Data</a:t>
            </a:r>
            <a:r>
              <a:rPr lang="ru-RU" altLang="ru-RU" sz="3698" dirty="0"/>
              <a:t> </a:t>
            </a:r>
            <a:r>
              <a:rPr lang="en-US" altLang="ru-RU" sz="3698" dirty="0"/>
              <a:t>Analysis</a:t>
            </a:r>
            <a:endParaRPr lang="ru-RU" altLang="ru-RU" sz="3698" dirty="0"/>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21</a:t>
            </a:fld>
            <a:endParaRPr lang="ru-RU" dirty="0">
              <a:solidFill>
                <a:schemeClr val="tx1"/>
              </a:solidFill>
            </a:endParaRPr>
          </a:p>
        </p:txBody>
      </p:sp>
      <p:sp>
        <p:nvSpPr>
          <p:cNvPr id="31751" name="AutoShape 4"/>
          <p:cNvSpPr>
            <a:spLocks noChangeArrowheads="1"/>
          </p:cNvSpPr>
          <p:nvPr/>
        </p:nvSpPr>
        <p:spPr bwMode="auto">
          <a:xfrm>
            <a:off x="4586655" y="2225294"/>
            <a:ext cx="504909" cy="443188"/>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endParaRPr lang="ru-RU" altLang="ru-RU" sz="2078"/>
          </a:p>
        </p:txBody>
      </p:sp>
      <p:sp>
        <p:nvSpPr>
          <p:cNvPr id="31752" name="AutoShape 5"/>
          <p:cNvSpPr>
            <a:spLocks noChangeArrowheads="1"/>
          </p:cNvSpPr>
          <p:nvPr/>
        </p:nvSpPr>
        <p:spPr bwMode="auto">
          <a:xfrm>
            <a:off x="6185046" y="2592173"/>
            <a:ext cx="504909" cy="598745"/>
          </a:xfrm>
          <a:prstGeom prst="downArrow">
            <a:avLst>
              <a:gd name="adj1" fmla="val 50000"/>
              <a:gd name="adj2" fmla="val 29651"/>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endParaRPr lang="ru-RU" altLang="ru-RU" sz="2078"/>
          </a:p>
        </p:txBody>
      </p:sp>
      <p:sp>
        <p:nvSpPr>
          <p:cNvPr id="31753" name="Oval 8"/>
          <p:cNvSpPr>
            <a:spLocks noChangeArrowheads="1"/>
          </p:cNvSpPr>
          <p:nvPr/>
        </p:nvSpPr>
        <p:spPr bwMode="auto">
          <a:xfrm>
            <a:off x="4385572" y="1426968"/>
            <a:ext cx="3995243" cy="931870"/>
          </a:xfrm>
          <a:prstGeom prst="ellipse">
            <a:avLst/>
          </a:prstGeom>
          <a:solidFill>
            <a:schemeClr val="bg1"/>
          </a:solidFill>
          <a:ln w="9525">
            <a:solidFill>
              <a:srgbClr val="FF505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lgn="ctr"/>
            <a:r>
              <a:rPr lang="ru-RU" altLang="ru-RU" sz="2078" dirty="0">
                <a:solidFill>
                  <a:srgbClr val="FF5050"/>
                </a:solidFill>
                <a:latin typeface="Arial" panose="020B0604020202020204" pitchFamily="34" charset="0"/>
              </a:rPr>
              <a:t>Виды методов </a:t>
            </a:r>
            <a:r>
              <a:rPr lang="en-US" altLang="ru-RU" sz="2078" dirty="0">
                <a:solidFill>
                  <a:srgbClr val="FF5050"/>
                </a:solidFill>
                <a:latin typeface="Arial" panose="020B0604020202020204" pitchFamily="34" charset="0"/>
              </a:rPr>
              <a:t>Data Analysis</a:t>
            </a:r>
            <a:endParaRPr lang="ru-RU" altLang="ru-RU" sz="2078" dirty="0">
              <a:solidFill>
                <a:srgbClr val="FF5050"/>
              </a:solidFill>
              <a:latin typeface="Arial" panose="020B0604020202020204" pitchFamily="34" charset="0"/>
            </a:endParaRPr>
          </a:p>
        </p:txBody>
      </p:sp>
      <p:sp>
        <p:nvSpPr>
          <p:cNvPr id="31754" name="AutoShape 9"/>
          <p:cNvSpPr>
            <a:spLocks noChangeArrowheads="1"/>
          </p:cNvSpPr>
          <p:nvPr/>
        </p:nvSpPr>
        <p:spPr bwMode="auto">
          <a:xfrm>
            <a:off x="7677758" y="2225294"/>
            <a:ext cx="504909" cy="443188"/>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endParaRPr lang="ru-RU" altLang="ru-RU" sz="2078"/>
          </a:p>
        </p:txBody>
      </p:sp>
      <p:sp>
        <p:nvSpPr>
          <p:cNvPr id="31755" name="Text Box 10"/>
          <p:cNvSpPr txBox="1">
            <a:spLocks noChangeArrowheads="1"/>
          </p:cNvSpPr>
          <p:nvPr/>
        </p:nvSpPr>
        <p:spPr bwMode="auto">
          <a:xfrm>
            <a:off x="2856165" y="2690496"/>
            <a:ext cx="2596468" cy="428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lgn="ctr">
              <a:spcBef>
                <a:spcPct val="50000"/>
              </a:spcBef>
            </a:pPr>
            <a:r>
              <a:rPr lang="ru-RU" altLang="ru-RU" sz="2078">
                <a:solidFill>
                  <a:srgbClr val="FF5050"/>
                </a:solidFill>
                <a:latin typeface="Arial" panose="020B0604020202020204" pitchFamily="34" charset="0"/>
              </a:rPr>
              <a:t>Технологические</a:t>
            </a:r>
          </a:p>
        </p:txBody>
      </p:sp>
      <p:sp>
        <p:nvSpPr>
          <p:cNvPr id="31756" name="Text Box 11"/>
          <p:cNvSpPr txBox="1">
            <a:spLocks noChangeArrowheads="1"/>
          </p:cNvSpPr>
          <p:nvPr/>
        </p:nvSpPr>
        <p:spPr bwMode="auto">
          <a:xfrm>
            <a:off x="5053402" y="3290709"/>
            <a:ext cx="2596468" cy="428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lgn="ctr">
              <a:spcBef>
                <a:spcPct val="50000"/>
              </a:spcBef>
            </a:pPr>
            <a:r>
              <a:rPr lang="ru-RU" altLang="ru-RU" sz="2078">
                <a:solidFill>
                  <a:srgbClr val="FF5050"/>
                </a:solidFill>
                <a:latin typeface="Arial" panose="020B0604020202020204" pitchFamily="34" charset="0"/>
              </a:rPr>
              <a:t>Статистические</a:t>
            </a:r>
          </a:p>
        </p:txBody>
      </p:sp>
      <p:sp>
        <p:nvSpPr>
          <p:cNvPr id="31757" name="Text Box 12"/>
          <p:cNvSpPr txBox="1">
            <a:spLocks noChangeArrowheads="1"/>
          </p:cNvSpPr>
          <p:nvPr/>
        </p:nvSpPr>
        <p:spPr bwMode="auto">
          <a:xfrm>
            <a:off x="7516303" y="2658211"/>
            <a:ext cx="2596468" cy="4285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lgn="ctr">
              <a:spcBef>
                <a:spcPct val="50000"/>
              </a:spcBef>
            </a:pPr>
            <a:r>
              <a:rPr lang="ru-RU" altLang="ru-RU" sz="2078">
                <a:solidFill>
                  <a:srgbClr val="FF5050"/>
                </a:solidFill>
                <a:latin typeface="Arial" panose="020B0604020202020204" pitchFamily="34" charset="0"/>
              </a:rPr>
              <a:t>Кибернетические</a:t>
            </a:r>
          </a:p>
        </p:txBody>
      </p:sp>
      <p:pic>
        <p:nvPicPr>
          <p:cNvPr id="31748" name="Picture 17" descr="DMTechniqu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580" y="4036006"/>
            <a:ext cx="9628340" cy="2768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Text Box 19"/>
          <p:cNvSpPr txBox="1">
            <a:spLocks noChangeArrowheads="1"/>
          </p:cNvSpPr>
          <p:nvPr/>
        </p:nvSpPr>
        <p:spPr bwMode="auto">
          <a:xfrm>
            <a:off x="2073201" y="1699092"/>
            <a:ext cx="466837" cy="42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spcBef>
                <a:spcPct val="50000"/>
              </a:spcBef>
            </a:pPr>
            <a:r>
              <a:rPr lang="ru-RU" altLang="ru-RU" sz="2078">
                <a:latin typeface="Arial" panose="020B0604020202020204" pitchFamily="34" charset="0"/>
              </a:rPr>
              <a:t>1)</a:t>
            </a:r>
          </a:p>
        </p:txBody>
      </p:sp>
      <p:sp>
        <p:nvSpPr>
          <p:cNvPr id="31750" name="Text Box 20"/>
          <p:cNvSpPr txBox="1">
            <a:spLocks noChangeArrowheads="1"/>
          </p:cNvSpPr>
          <p:nvPr/>
        </p:nvSpPr>
        <p:spPr bwMode="auto">
          <a:xfrm>
            <a:off x="2073201" y="3635152"/>
            <a:ext cx="466837" cy="428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spcBef>
                <a:spcPct val="50000"/>
              </a:spcBef>
            </a:pPr>
            <a:r>
              <a:rPr lang="ru-RU" altLang="ru-RU" sz="2078" dirty="0">
                <a:latin typeface="Arial" panose="020B0604020202020204" pitchFamily="34" charset="0"/>
              </a:rPr>
              <a:t>2)</a:t>
            </a:r>
          </a:p>
        </p:txBody>
      </p:sp>
    </p:spTree>
    <p:extLst>
      <p:ext uri="{BB962C8B-B14F-4D97-AF65-F5344CB8AC3E}">
        <p14:creationId xmlns:p14="http://schemas.microsoft.com/office/powerpoint/2010/main" val="111669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5714" name="Rectangle 2"/>
          <p:cNvSpPr>
            <a:spLocks noGrp="1" noChangeArrowheads="1"/>
          </p:cNvSpPr>
          <p:nvPr>
            <p:ph type="title"/>
          </p:nvPr>
        </p:nvSpPr>
        <p:spPr>
          <a:xfrm>
            <a:off x="2739640" y="567464"/>
            <a:ext cx="7124637" cy="1011208"/>
          </a:xfrm>
          <a:solidFill>
            <a:srgbClr val="FFFFFF">
              <a:alpha val="0"/>
            </a:srgbClr>
          </a:solidFill>
          <a:extLs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2958" dirty="0"/>
              <a:t>Методы </a:t>
            </a:r>
            <a:r>
              <a:rPr lang="ru-RU" altLang="ru-RU" sz="2958" dirty="0" err="1"/>
              <a:t>Data</a:t>
            </a:r>
            <a:r>
              <a:rPr lang="ru-RU" altLang="ru-RU" sz="2958" dirty="0"/>
              <a:t> </a:t>
            </a:r>
            <a:r>
              <a:rPr lang="en-US" altLang="ru-RU" sz="2958" dirty="0"/>
              <a:t>Analysis</a:t>
            </a:r>
            <a:br>
              <a:rPr lang="ru-RU" altLang="ru-RU" sz="4068" dirty="0"/>
            </a:br>
            <a:r>
              <a:rPr lang="ru-RU" altLang="ru-RU" sz="4068" dirty="0"/>
              <a:t>Технологические методы</a:t>
            </a:r>
          </a:p>
        </p:txBody>
      </p:sp>
      <p:sp>
        <p:nvSpPr>
          <p:cNvPr id="115715" name="Rectangle 3"/>
          <p:cNvSpPr>
            <a:spLocks noGrp="1" noChangeArrowheads="1"/>
          </p:cNvSpPr>
          <p:nvPr>
            <p:ph idx="1"/>
          </p:nvPr>
        </p:nvSpPr>
        <p:spPr>
          <a:xfrm>
            <a:off x="1221557" y="1870652"/>
            <a:ext cx="10657183" cy="444238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ormAutofit/>
          </a:bodyPr>
          <a:lstStyle/>
          <a:p>
            <a:pPr>
              <a:lnSpc>
                <a:spcPct val="90000"/>
              </a:lnSpc>
              <a:defRPr/>
            </a:pPr>
            <a:r>
              <a:rPr lang="ru-RU" altLang="ru-RU" sz="2588" dirty="0"/>
              <a:t>Непосредственное использование данных, или сохранение данных:</a:t>
            </a:r>
          </a:p>
          <a:p>
            <a:pPr lvl="1">
              <a:lnSpc>
                <a:spcPct val="90000"/>
              </a:lnSpc>
              <a:defRPr/>
            </a:pPr>
            <a:r>
              <a:rPr lang="ru-RU" altLang="ru-RU" sz="2218" dirty="0"/>
              <a:t>кластерный анализ, метод k-ближайшего соседа, рассуждение по аналогии.</a:t>
            </a:r>
          </a:p>
          <a:p>
            <a:pPr>
              <a:lnSpc>
                <a:spcPct val="90000"/>
              </a:lnSpc>
              <a:defRPr/>
            </a:pPr>
            <a:r>
              <a:rPr lang="ru-RU" altLang="ru-RU" sz="2588" dirty="0"/>
              <a:t>Выявление и использование формализованных закономерностей (</a:t>
            </a:r>
            <a:r>
              <a:rPr lang="ru-RU" altLang="ru-RU" sz="2588" i="1" dirty="0"/>
              <a:t>дистилляция шаблонов</a:t>
            </a:r>
            <a:r>
              <a:rPr lang="ru-RU" altLang="ru-RU" sz="2588" dirty="0"/>
              <a:t>):</a:t>
            </a:r>
          </a:p>
          <a:p>
            <a:pPr lvl="1">
              <a:lnSpc>
                <a:spcPct val="90000"/>
              </a:lnSpc>
              <a:defRPr/>
            </a:pPr>
            <a:r>
              <a:rPr lang="ru-RU" altLang="ru-RU" sz="2218" dirty="0"/>
              <a:t>методы визуализации; методы кросс-табуляции; методы, основанные на уравнениях.</a:t>
            </a:r>
          </a:p>
          <a:p>
            <a:pPr lvl="1">
              <a:lnSpc>
                <a:spcPct val="90000"/>
              </a:lnSpc>
              <a:defRPr/>
            </a:pPr>
            <a:r>
              <a:rPr lang="ru-RU" altLang="ru-RU" sz="2218" dirty="0"/>
              <a:t>логические методы, или методы логической индукции, включают нечеткие запросы и анализы, символьные правила, деревья решений, генетические алгоритмы.</a:t>
            </a:r>
          </a:p>
          <a:p>
            <a:pPr lvl="1">
              <a:lnSpc>
                <a:spcPct val="90000"/>
              </a:lnSpc>
              <a:defRPr/>
            </a:pPr>
            <a:endParaRPr lang="ru-RU" altLang="ru-RU" sz="2218" dirty="0"/>
          </a:p>
          <a:p>
            <a:pPr>
              <a:lnSpc>
                <a:spcPct val="90000"/>
              </a:lnSpc>
              <a:buFontTx/>
              <a:buNone/>
              <a:defRPr/>
            </a:pPr>
            <a:r>
              <a:rPr lang="ru-RU" altLang="ru-RU" sz="2311" i="1" dirty="0">
                <a:solidFill>
                  <a:srgbClr val="FF0000"/>
                </a:solidFill>
              </a:rPr>
              <a:t>Методы этой группы хорошо подходят для интерпретации.</a:t>
            </a:r>
            <a:r>
              <a:rPr lang="ru-RU" altLang="ru-RU" sz="2311" dirty="0">
                <a:solidFill>
                  <a:srgbClr val="FF0000"/>
                </a:solidFill>
              </a:rPr>
              <a:t> </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22</a:t>
            </a:fld>
            <a:endParaRPr lang="ru-RU" dirty="0">
              <a:solidFill>
                <a:schemeClr val="tx1"/>
              </a:solidFill>
            </a:endParaRPr>
          </a:p>
        </p:txBody>
      </p:sp>
    </p:spTree>
    <p:extLst>
      <p:ext uri="{BB962C8B-B14F-4D97-AF65-F5344CB8AC3E}">
        <p14:creationId xmlns:p14="http://schemas.microsoft.com/office/powerpoint/2010/main" val="258742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0872514"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7762" name="Rectangle 2"/>
          <p:cNvSpPr>
            <a:spLocks noGrp="1" noChangeArrowheads="1"/>
          </p:cNvSpPr>
          <p:nvPr>
            <p:ph type="title"/>
          </p:nvPr>
        </p:nvSpPr>
        <p:spPr>
          <a:xfrm>
            <a:off x="2606022" y="635098"/>
            <a:ext cx="7122988" cy="115637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2958" dirty="0"/>
              <a:t>Методы </a:t>
            </a:r>
            <a:r>
              <a:rPr lang="ru-RU" altLang="ru-RU" sz="2958" dirty="0" err="1"/>
              <a:t>Data</a:t>
            </a:r>
            <a:r>
              <a:rPr lang="ru-RU" altLang="ru-RU" sz="2958" dirty="0"/>
              <a:t> </a:t>
            </a:r>
            <a:r>
              <a:rPr lang="en-US" altLang="ru-RU" sz="2958" dirty="0"/>
              <a:t>Analysis</a:t>
            </a:r>
            <a:r>
              <a:rPr lang="ru-RU" altLang="ru-RU" sz="4068" dirty="0"/>
              <a:t> </a:t>
            </a:r>
            <a:br>
              <a:rPr lang="ru-RU" altLang="ru-RU" sz="4068" dirty="0"/>
            </a:br>
            <a:r>
              <a:rPr lang="ru-RU" altLang="ru-RU" sz="4068" dirty="0"/>
              <a:t>Статистические методы</a:t>
            </a:r>
          </a:p>
        </p:txBody>
      </p:sp>
      <p:sp>
        <p:nvSpPr>
          <p:cNvPr id="117763" name="Rectangle 3"/>
          <p:cNvSpPr>
            <a:spLocks noGrp="1" noChangeArrowheads="1"/>
          </p:cNvSpPr>
          <p:nvPr>
            <p:ph idx="1"/>
          </p:nvPr>
        </p:nvSpPr>
        <p:spPr>
          <a:xfrm>
            <a:off x="1113545" y="2164395"/>
            <a:ext cx="10441159" cy="3366840"/>
          </a:xfrm>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ormAutofit/>
          </a:bodyPr>
          <a:lstStyle/>
          <a:p>
            <a:pPr marL="563567" indent="-563567" defTabSz="845351">
              <a:lnSpc>
                <a:spcPct val="90000"/>
              </a:lnSpc>
              <a:defRPr/>
            </a:pPr>
            <a:r>
              <a:rPr lang="ru-RU" altLang="ru-RU" sz="2403" dirty="0"/>
              <a:t>Дескриптивный (описательный) анализ и описание исходных данных.</a:t>
            </a:r>
          </a:p>
          <a:p>
            <a:pPr marL="563567" indent="-563567" defTabSz="845351">
              <a:lnSpc>
                <a:spcPct val="90000"/>
              </a:lnSpc>
              <a:defRPr/>
            </a:pPr>
            <a:r>
              <a:rPr lang="ru-RU" altLang="ru-RU" sz="2403" dirty="0"/>
              <a:t>Анализ связей (корреляционный и регрессионный анализ, факторный анализ, дисперсионный анализ).</a:t>
            </a:r>
          </a:p>
          <a:p>
            <a:pPr marL="563567" indent="-563567" defTabSz="845351">
              <a:lnSpc>
                <a:spcPct val="90000"/>
              </a:lnSpc>
              <a:defRPr/>
            </a:pPr>
            <a:r>
              <a:rPr lang="ru-RU" altLang="ru-RU" sz="2403" dirty="0"/>
              <a:t>Многомерный статистический анализ (компонентный анализ, дискриминантный анализ, многомерный регрессионный анализ, канонические корреляции и др.).</a:t>
            </a:r>
          </a:p>
          <a:p>
            <a:pPr marL="563567" indent="-563567" defTabSz="845351">
              <a:lnSpc>
                <a:spcPct val="90000"/>
              </a:lnSpc>
              <a:defRPr/>
            </a:pPr>
            <a:r>
              <a:rPr lang="ru-RU" altLang="ru-RU" sz="2403" dirty="0"/>
              <a:t>Анализ временных рядов (динамические модели и прогнозирование). </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23</a:t>
            </a:fld>
            <a:endParaRPr lang="ru-RU" dirty="0">
              <a:solidFill>
                <a:schemeClr val="tx1"/>
              </a:solidFill>
            </a:endParaRPr>
          </a:p>
        </p:txBody>
      </p:sp>
      <p:sp>
        <p:nvSpPr>
          <p:cNvPr id="5" name="Прямоугольник 4"/>
          <p:cNvSpPr/>
          <p:nvPr/>
        </p:nvSpPr>
        <p:spPr>
          <a:xfrm>
            <a:off x="2229669" y="5640196"/>
            <a:ext cx="8729321" cy="369332"/>
          </a:xfrm>
          <a:prstGeom prst="rect">
            <a:avLst/>
          </a:prstGeom>
        </p:spPr>
        <p:txBody>
          <a:bodyPr wrap="square">
            <a:spAutoFit/>
          </a:bodyPr>
          <a:lstStyle/>
          <a:p>
            <a:pPr>
              <a:lnSpc>
                <a:spcPct val="90000"/>
              </a:lnSpc>
              <a:buFontTx/>
              <a:buNone/>
              <a:defRPr/>
            </a:pPr>
            <a:r>
              <a:rPr lang="ru-RU" altLang="ru-RU" i="1" dirty="0">
                <a:solidFill>
                  <a:srgbClr val="FF0000"/>
                </a:solidFill>
              </a:rPr>
              <a:t>Методы этой группы тоже хорошо подходят для интерпретации.</a:t>
            </a:r>
            <a:r>
              <a:rPr lang="ru-RU" altLang="ru-RU" dirty="0">
                <a:solidFill>
                  <a:srgbClr val="FF0000"/>
                </a:solidFill>
              </a:rPr>
              <a:t> </a:t>
            </a:r>
          </a:p>
        </p:txBody>
      </p:sp>
    </p:spTree>
    <p:extLst>
      <p:ext uri="{BB962C8B-B14F-4D97-AF65-F5344CB8AC3E}">
        <p14:creationId xmlns:p14="http://schemas.microsoft.com/office/powerpoint/2010/main" val="4120788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9810" name="Rectangle 2"/>
          <p:cNvSpPr>
            <a:spLocks noGrp="1" noChangeArrowheads="1"/>
          </p:cNvSpPr>
          <p:nvPr>
            <p:ph type="title"/>
          </p:nvPr>
        </p:nvSpPr>
        <p:spPr>
          <a:xfrm>
            <a:off x="2058354" y="532823"/>
            <a:ext cx="8551545" cy="1158022"/>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2958" dirty="0"/>
              <a:t>Методы </a:t>
            </a:r>
            <a:r>
              <a:rPr lang="ru-RU" altLang="ru-RU" sz="2958" dirty="0" err="1"/>
              <a:t>Data</a:t>
            </a:r>
            <a:r>
              <a:rPr lang="ru-RU" altLang="ru-RU" sz="2958" dirty="0"/>
              <a:t> </a:t>
            </a:r>
            <a:r>
              <a:rPr lang="en-US" altLang="ru-RU" sz="2958" dirty="0"/>
              <a:t>Analysis</a:t>
            </a:r>
            <a:r>
              <a:rPr lang="ru-RU" altLang="ru-RU" sz="4068" dirty="0"/>
              <a:t> </a:t>
            </a:r>
            <a:br>
              <a:rPr lang="ru-RU" altLang="ru-RU" sz="4068" dirty="0"/>
            </a:br>
            <a:r>
              <a:rPr lang="ru-RU" altLang="ru-RU" sz="4068" dirty="0"/>
              <a:t>Кибернетические методы</a:t>
            </a:r>
          </a:p>
        </p:txBody>
      </p:sp>
      <p:sp>
        <p:nvSpPr>
          <p:cNvPr id="119811" name="Rectangle 3"/>
          <p:cNvSpPr>
            <a:spLocks noGrp="1" noChangeArrowheads="1"/>
          </p:cNvSpPr>
          <p:nvPr>
            <p:ph idx="1"/>
          </p:nvPr>
        </p:nvSpPr>
        <p:spPr>
          <a:xfrm>
            <a:off x="1077541" y="1875608"/>
            <a:ext cx="10729192" cy="3643974"/>
          </a:xfrm>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ormAutofit/>
          </a:bodyPr>
          <a:lstStyle/>
          <a:p>
            <a:pPr>
              <a:lnSpc>
                <a:spcPct val="90000"/>
              </a:lnSpc>
              <a:defRPr/>
            </a:pPr>
            <a:r>
              <a:rPr lang="ru-RU" altLang="ru-RU" sz="2403" dirty="0"/>
              <a:t>Искусственные нейронные сети (распознавание, кластеризация, прогноз);</a:t>
            </a:r>
          </a:p>
          <a:p>
            <a:pPr>
              <a:lnSpc>
                <a:spcPct val="90000"/>
              </a:lnSpc>
              <a:defRPr/>
            </a:pPr>
            <a:r>
              <a:rPr lang="ru-RU" altLang="ru-RU" sz="2403" dirty="0"/>
              <a:t>Эволюционное программирование (в </a:t>
            </a:r>
            <a:r>
              <a:rPr lang="ru-RU" altLang="ru-RU" sz="2403" dirty="0" err="1"/>
              <a:t>т.ч</a:t>
            </a:r>
            <a:r>
              <a:rPr lang="ru-RU" altLang="ru-RU" sz="2403" dirty="0"/>
              <a:t>. алгоритмы метода группового учета аргументов); </a:t>
            </a:r>
          </a:p>
          <a:p>
            <a:pPr>
              <a:lnSpc>
                <a:spcPct val="90000"/>
              </a:lnSpc>
              <a:defRPr/>
            </a:pPr>
            <a:r>
              <a:rPr lang="ru-RU" altLang="ru-RU" sz="2403" dirty="0"/>
              <a:t>Генетические алгоритмы (ГА-оптимизация);</a:t>
            </a:r>
          </a:p>
          <a:p>
            <a:pPr>
              <a:lnSpc>
                <a:spcPct val="90000"/>
              </a:lnSpc>
              <a:defRPr/>
            </a:pPr>
            <a:r>
              <a:rPr lang="ru-RU" altLang="ru-RU" sz="2403" dirty="0"/>
              <a:t>Ассоциативная память (поиск аналогов, прототипов);</a:t>
            </a:r>
          </a:p>
          <a:p>
            <a:pPr>
              <a:lnSpc>
                <a:spcPct val="90000"/>
              </a:lnSpc>
              <a:defRPr/>
            </a:pPr>
            <a:r>
              <a:rPr lang="ru-RU" altLang="ru-RU" sz="2403" dirty="0"/>
              <a:t>Нечеткая логика;</a:t>
            </a:r>
          </a:p>
          <a:p>
            <a:pPr>
              <a:lnSpc>
                <a:spcPct val="90000"/>
              </a:lnSpc>
              <a:defRPr/>
            </a:pPr>
            <a:r>
              <a:rPr lang="ru-RU" altLang="ru-RU" sz="2403" dirty="0"/>
              <a:t>Деревья решений; </a:t>
            </a:r>
          </a:p>
          <a:p>
            <a:pPr>
              <a:lnSpc>
                <a:spcPct val="90000"/>
              </a:lnSpc>
              <a:defRPr/>
            </a:pPr>
            <a:r>
              <a:rPr lang="ru-RU" altLang="ru-RU" sz="2403" dirty="0"/>
              <a:t>Системы обработки экспертных знаний.</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24</a:t>
            </a:fld>
            <a:endParaRPr lang="ru-RU" dirty="0">
              <a:solidFill>
                <a:schemeClr val="tx1"/>
              </a:solidFill>
            </a:endParaRPr>
          </a:p>
        </p:txBody>
      </p:sp>
      <p:sp>
        <p:nvSpPr>
          <p:cNvPr id="7" name="Прямоугольник 6"/>
          <p:cNvSpPr/>
          <p:nvPr/>
        </p:nvSpPr>
        <p:spPr>
          <a:xfrm>
            <a:off x="1889720" y="5696935"/>
            <a:ext cx="8729321" cy="646331"/>
          </a:xfrm>
          <a:prstGeom prst="rect">
            <a:avLst/>
          </a:prstGeom>
        </p:spPr>
        <p:txBody>
          <a:bodyPr wrap="square">
            <a:spAutoFit/>
          </a:bodyPr>
          <a:lstStyle/>
          <a:p>
            <a:pPr>
              <a:lnSpc>
                <a:spcPct val="90000"/>
              </a:lnSpc>
              <a:buFontTx/>
              <a:buNone/>
              <a:defRPr/>
            </a:pPr>
            <a:r>
              <a:rPr lang="ru-RU" altLang="ru-RU" i="1" dirty="0">
                <a:solidFill>
                  <a:srgbClr val="FF0000"/>
                </a:solidFill>
              </a:rPr>
              <a:t>Методы этой группы являются эмпирическими и хорошо подходят для  прогнозирования и распознавания.</a:t>
            </a:r>
            <a:r>
              <a:rPr lang="ru-RU" altLang="ru-RU" dirty="0">
                <a:solidFill>
                  <a:srgbClr val="FF0000"/>
                </a:solidFill>
              </a:rPr>
              <a:t> </a:t>
            </a:r>
          </a:p>
        </p:txBody>
      </p:sp>
    </p:spTree>
    <p:extLst>
      <p:ext uri="{BB962C8B-B14F-4D97-AF65-F5344CB8AC3E}">
        <p14:creationId xmlns:p14="http://schemas.microsoft.com/office/powerpoint/2010/main" val="272248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16530"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19810" name="Rectangle 2"/>
          <p:cNvSpPr>
            <a:spLocks noGrp="1" noChangeArrowheads="1"/>
          </p:cNvSpPr>
          <p:nvPr>
            <p:ph type="title"/>
          </p:nvPr>
        </p:nvSpPr>
        <p:spPr>
          <a:xfrm>
            <a:off x="2058354" y="532823"/>
            <a:ext cx="8551545" cy="110853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2958" dirty="0"/>
              <a:t>Методы </a:t>
            </a:r>
            <a:r>
              <a:rPr lang="ru-RU" altLang="ru-RU" sz="2958" dirty="0" err="1"/>
              <a:t>Data</a:t>
            </a:r>
            <a:r>
              <a:rPr lang="ru-RU" altLang="ru-RU" sz="2958" dirty="0"/>
              <a:t> </a:t>
            </a:r>
            <a:r>
              <a:rPr lang="en-US" altLang="ru-RU" sz="2958" dirty="0"/>
              <a:t>Analysis</a:t>
            </a:r>
            <a:r>
              <a:rPr lang="ru-RU" altLang="ru-RU" sz="4068" dirty="0"/>
              <a:t> </a:t>
            </a:r>
            <a:br>
              <a:rPr lang="ru-RU" altLang="ru-RU" sz="4068" dirty="0"/>
            </a:br>
            <a:r>
              <a:rPr lang="ru-RU" sz="3698" b="1" i="1" dirty="0"/>
              <a:t>Свойства методов </a:t>
            </a:r>
            <a:r>
              <a:rPr lang="ru-RU" sz="3698" b="1" i="1" dirty="0" err="1"/>
              <a:t>Data</a:t>
            </a:r>
            <a:r>
              <a:rPr lang="ru-RU" sz="3698" b="1" i="1" dirty="0"/>
              <a:t> </a:t>
            </a:r>
            <a:r>
              <a:rPr lang="en-US" altLang="ru-RU" sz="3700" b="1" i="1" dirty="0"/>
              <a:t>Analysis</a:t>
            </a:r>
            <a:r>
              <a:rPr lang="ru-RU" altLang="ru-RU" sz="5400" dirty="0"/>
              <a:t> </a:t>
            </a:r>
            <a:endParaRPr lang="ru-RU" altLang="ru-RU" sz="4068" dirty="0"/>
          </a:p>
        </p:txBody>
      </p:sp>
      <p:sp>
        <p:nvSpPr>
          <p:cNvPr id="119811" name="Rectangle 3"/>
          <p:cNvSpPr>
            <a:spLocks noGrp="1" noChangeArrowheads="1"/>
          </p:cNvSpPr>
          <p:nvPr>
            <p:ph idx="1"/>
          </p:nvPr>
        </p:nvSpPr>
        <p:spPr>
          <a:xfrm>
            <a:off x="861517" y="1966328"/>
            <a:ext cx="11173321" cy="4345056"/>
          </a:xfrm>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oAutofit/>
          </a:bodyPr>
          <a:lstStyle/>
          <a:p>
            <a:pPr>
              <a:lnSpc>
                <a:spcPts val="3051"/>
              </a:lnSpc>
              <a:spcBef>
                <a:spcPts val="0"/>
              </a:spcBef>
              <a:defRPr/>
            </a:pPr>
            <a:r>
              <a:rPr lang="ru-RU" sz="2400" dirty="0"/>
              <a:t>Различные методы </a:t>
            </a:r>
            <a:r>
              <a:rPr lang="en-US" sz="2400" dirty="0"/>
              <a:t>Data Analysis</a:t>
            </a:r>
            <a:r>
              <a:rPr lang="ru-RU" sz="2400" dirty="0"/>
              <a:t> характеризуются определенными свойствами, которые могут быть определяющими при выборе метода анализа данных. Методы можно сравнивать между собой, оценивая характеристики их свойств.</a:t>
            </a:r>
          </a:p>
          <a:p>
            <a:pPr>
              <a:lnSpc>
                <a:spcPts val="3051"/>
              </a:lnSpc>
              <a:spcBef>
                <a:spcPts val="0"/>
              </a:spcBef>
              <a:defRPr/>
            </a:pPr>
            <a:r>
              <a:rPr lang="ru-RU" sz="2400" dirty="0"/>
              <a:t>Среди основных свойств и характеристик методов </a:t>
            </a:r>
            <a:r>
              <a:rPr lang="en-US" sz="2400" dirty="0"/>
              <a:t>Data Analysis</a:t>
            </a:r>
            <a:r>
              <a:rPr lang="ru-RU" sz="2400" dirty="0"/>
              <a:t> выделим следующие: </a:t>
            </a:r>
          </a:p>
          <a:p>
            <a:pPr marL="664834" indent="0">
              <a:lnSpc>
                <a:spcPts val="3051"/>
              </a:lnSpc>
              <a:spcBef>
                <a:spcPts val="0"/>
              </a:spcBef>
              <a:buNone/>
              <a:defRPr/>
            </a:pPr>
            <a:r>
              <a:rPr lang="ru-RU" sz="2400" i="1" dirty="0"/>
              <a:t>точность, масштабируемость, интерпретируемость, </a:t>
            </a:r>
            <a:r>
              <a:rPr lang="ru-RU" sz="2400" i="1" dirty="0" err="1"/>
              <a:t>проверяемость</a:t>
            </a:r>
            <a:r>
              <a:rPr lang="ru-RU" sz="2400" i="1" dirty="0"/>
              <a:t>, трудоемкость, гибкость, скорость выполнения и популярность. </a:t>
            </a:r>
            <a:br>
              <a:rPr lang="ru-RU" sz="2400" dirty="0"/>
            </a:br>
            <a:endParaRPr lang="ru-RU" altLang="ru-RU" sz="2400" dirty="0"/>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25</a:t>
            </a:fld>
            <a:endParaRPr lang="ru-RU" dirty="0">
              <a:solidFill>
                <a:schemeClr val="tx1"/>
              </a:solidFill>
            </a:endParaRPr>
          </a:p>
        </p:txBody>
      </p:sp>
    </p:spTree>
    <p:extLst>
      <p:ext uri="{BB962C8B-B14F-4D97-AF65-F5344CB8AC3E}">
        <p14:creationId xmlns:p14="http://schemas.microsoft.com/office/powerpoint/2010/main" val="274721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30" name="AutoShape 6"/>
          <p:cNvSpPr>
            <a:spLocks noChangeArrowheads="1"/>
          </p:cNvSpPr>
          <p:nvPr/>
        </p:nvSpPr>
        <p:spPr bwMode="auto">
          <a:xfrm>
            <a:off x="1365573" y="178768"/>
            <a:ext cx="10945216" cy="6480720"/>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35" tIns="45968" rIns="91935" bIns="45968"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defRPr/>
            </a:pPr>
            <a:endParaRPr lang="ru-RU" altLang="ru-RU" sz="3236">
              <a:solidFill>
                <a:schemeClr val="bg1"/>
              </a:solidFill>
            </a:endParaRPr>
          </a:p>
        </p:txBody>
      </p:sp>
      <p:pic>
        <p:nvPicPr>
          <p:cNvPr id="41987" name="Picture 5" descr="ar2small0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038" y="1822578"/>
            <a:ext cx="5126968" cy="379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31" name="AutoShape 7"/>
          <p:cNvSpPr>
            <a:spLocks noChangeArrowheads="1"/>
          </p:cNvSpPr>
          <p:nvPr/>
        </p:nvSpPr>
        <p:spPr bwMode="auto">
          <a:xfrm>
            <a:off x="2445693" y="414662"/>
            <a:ext cx="7721794" cy="916235"/>
          </a:xfrm>
          <a:prstGeom prst="roundRect">
            <a:avLst>
              <a:gd name="adj" fmla="val 16667"/>
            </a:avLst>
          </a:prstGeom>
          <a:solidFill>
            <a:srgbClr val="FFFFFF">
              <a:alpha val="78999"/>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935" tIns="45968" rIns="91935" bIns="45968"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defRPr/>
            </a:pPr>
            <a:endParaRPr lang="ru-RU" altLang="ru-RU" sz="3236">
              <a:solidFill>
                <a:schemeClr val="bg1"/>
              </a:solidFill>
            </a:endParaRPr>
          </a:p>
        </p:txBody>
      </p:sp>
      <p:sp>
        <p:nvSpPr>
          <p:cNvPr id="205826" name="Rectangle 2"/>
          <p:cNvSpPr>
            <a:spLocks noGrp="1" noChangeArrowheads="1"/>
          </p:cNvSpPr>
          <p:nvPr>
            <p:ph type="title"/>
          </p:nvPr>
        </p:nvSpPr>
        <p:spPr>
          <a:xfrm>
            <a:off x="2511678" y="546630"/>
            <a:ext cx="7670657" cy="625199"/>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935" tIns="45968" rIns="91935" bIns="45968" rtlCol="0" anchor="ctr">
            <a:normAutofit fontScale="90000"/>
          </a:bodyPr>
          <a:lstStyle/>
          <a:p>
            <a:pPr>
              <a:defRPr/>
            </a:pPr>
            <a:r>
              <a:rPr lang="ru-RU" altLang="ru-RU" sz="4068" dirty="0"/>
              <a:t>Инструментарий </a:t>
            </a:r>
            <a:r>
              <a:rPr lang="ru-RU" altLang="ru-RU" sz="4068" dirty="0" err="1"/>
              <a:t>Data</a:t>
            </a:r>
            <a:r>
              <a:rPr lang="ru-RU" altLang="ru-RU" sz="4068" dirty="0"/>
              <a:t> </a:t>
            </a:r>
            <a:r>
              <a:rPr lang="en-US" altLang="ru-RU" sz="4400" dirty="0"/>
              <a:t>Analysis</a:t>
            </a:r>
            <a:r>
              <a:rPr lang="ru-RU" altLang="ru-RU" sz="4068" dirty="0"/>
              <a:t> </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26</a:t>
            </a:fld>
            <a:endParaRPr lang="ru-RU" sz="1400" dirty="0">
              <a:solidFill>
                <a:schemeClr val="tx1"/>
              </a:solidFill>
            </a:endParaRPr>
          </a:p>
        </p:txBody>
      </p:sp>
      <p:sp>
        <p:nvSpPr>
          <p:cNvPr id="41990" name="Text Box 8"/>
          <p:cNvSpPr txBox="1">
            <a:spLocks noChangeArrowheads="1"/>
          </p:cNvSpPr>
          <p:nvPr/>
        </p:nvSpPr>
        <p:spPr bwMode="auto">
          <a:xfrm>
            <a:off x="6701696" y="1822578"/>
            <a:ext cx="5333143" cy="3705694"/>
          </a:xfrm>
          <a:prstGeom prst="rect">
            <a:avLst/>
          </a:prstGeom>
          <a:noFill/>
          <a:ln>
            <a:noFill/>
          </a:ln>
          <a:effectLst/>
        </p:spPr>
        <p:txBody>
          <a:bodyPr wrap="square">
            <a:spAutoFit/>
          </a:bodyPr>
          <a:lstStyle>
            <a:lvl1pPr marL="304800" indent="-304800" defTabSz="993775">
              <a:defRPr b="1">
                <a:solidFill>
                  <a:schemeClr val="tx1"/>
                </a:solidFill>
                <a:latin typeface="Segoe Semibold" charset="0"/>
              </a:defRPr>
            </a:lvl1pPr>
            <a:lvl2pPr marL="742950" indent="-285750" defTabSz="993775">
              <a:defRPr b="1">
                <a:solidFill>
                  <a:schemeClr val="tx1"/>
                </a:solidFill>
                <a:latin typeface="Segoe Semibold" charset="0"/>
              </a:defRPr>
            </a:lvl2pPr>
            <a:lvl3pPr marL="1143000" indent="-228600" defTabSz="993775">
              <a:defRPr b="1">
                <a:solidFill>
                  <a:schemeClr val="tx1"/>
                </a:solidFill>
                <a:latin typeface="Segoe Semibold" charset="0"/>
              </a:defRPr>
            </a:lvl3pPr>
            <a:lvl4pPr marL="1600200" indent="-228600" defTabSz="993775">
              <a:defRPr b="1">
                <a:solidFill>
                  <a:schemeClr val="tx1"/>
                </a:solidFill>
                <a:latin typeface="Segoe Semibold" charset="0"/>
              </a:defRPr>
            </a:lvl4pPr>
            <a:lvl5pPr marL="2057400" indent="-228600" defTabSz="993775">
              <a:defRPr b="1">
                <a:solidFill>
                  <a:schemeClr val="tx1"/>
                </a:solidFill>
                <a:latin typeface="Segoe Semibold" charset="0"/>
              </a:defRPr>
            </a:lvl5pPr>
            <a:lvl6pPr marL="2514600" indent="-228600" defTabSz="993775" eaLnBrk="0" fontAlgn="base" hangingPunct="0">
              <a:spcBef>
                <a:spcPct val="0"/>
              </a:spcBef>
              <a:spcAft>
                <a:spcPct val="0"/>
              </a:spcAft>
              <a:defRPr b="1">
                <a:solidFill>
                  <a:schemeClr val="tx1"/>
                </a:solidFill>
                <a:latin typeface="Segoe Semibold" charset="0"/>
              </a:defRPr>
            </a:lvl6pPr>
            <a:lvl7pPr marL="2971800" indent="-228600" defTabSz="993775" eaLnBrk="0" fontAlgn="base" hangingPunct="0">
              <a:spcBef>
                <a:spcPct val="0"/>
              </a:spcBef>
              <a:spcAft>
                <a:spcPct val="0"/>
              </a:spcAft>
              <a:defRPr b="1">
                <a:solidFill>
                  <a:schemeClr val="tx1"/>
                </a:solidFill>
                <a:latin typeface="Segoe Semibold" charset="0"/>
              </a:defRPr>
            </a:lvl7pPr>
            <a:lvl8pPr marL="3429000" indent="-228600" defTabSz="993775" eaLnBrk="0" fontAlgn="base" hangingPunct="0">
              <a:spcBef>
                <a:spcPct val="0"/>
              </a:spcBef>
              <a:spcAft>
                <a:spcPct val="0"/>
              </a:spcAft>
              <a:defRPr b="1">
                <a:solidFill>
                  <a:schemeClr val="tx1"/>
                </a:solidFill>
                <a:latin typeface="Segoe Semibold" charset="0"/>
              </a:defRPr>
            </a:lvl8pPr>
            <a:lvl9pPr marL="3886200" indent="-228600" defTabSz="993775" eaLnBrk="0" fontAlgn="base" hangingPunct="0">
              <a:spcBef>
                <a:spcPct val="0"/>
              </a:spcBef>
              <a:spcAft>
                <a:spcPct val="0"/>
              </a:spcAft>
              <a:defRPr b="1">
                <a:solidFill>
                  <a:schemeClr val="tx1"/>
                </a:solidFill>
                <a:latin typeface="Segoe Semibold" charset="0"/>
              </a:defRPr>
            </a:lvl9pPr>
          </a:lstStyle>
          <a:p>
            <a:pPr>
              <a:spcBef>
                <a:spcPct val="30000"/>
              </a:spcBef>
              <a:buFont typeface="Arial" panose="020B0604020202020204" pitchFamily="34" charset="0"/>
              <a:buChar char="•"/>
            </a:pPr>
            <a:r>
              <a:rPr lang="en-US" altLang="ru-RU" sz="2078" b="0" dirty="0">
                <a:latin typeface="Arial" panose="020B0604020202020204" pitchFamily="34" charset="0"/>
              </a:rPr>
              <a:t>Data Analysis</a:t>
            </a:r>
            <a:r>
              <a:rPr lang="ru-RU" altLang="ru-RU" sz="2078" b="0" dirty="0">
                <a:latin typeface="Arial" panose="020B0604020202020204" pitchFamily="34" charset="0"/>
              </a:rPr>
              <a:t> является </a:t>
            </a:r>
            <a:r>
              <a:rPr lang="ru-RU" altLang="ru-RU" sz="2078" b="0" dirty="0" err="1">
                <a:latin typeface="Arial" panose="020B0604020202020204" pitchFamily="34" charset="0"/>
              </a:rPr>
              <a:t>мультидисциплинарной</a:t>
            </a:r>
            <a:r>
              <a:rPr lang="ru-RU" altLang="ru-RU" sz="2078" b="0" dirty="0">
                <a:latin typeface="Arial" panose="020B0604020202020204" pitchFamily="34" charset="0"/>
              </a:rPr>
              <a:t> областью</a:t>
            </a:r>
            <a:r>
              <a:rPr lang="en-US" altLang="ru-RU" sz="2078" b="0" dirty="0">
                <a:latin typeface="Arial" panose="020B0604020202020204" pitchFamily="34" charset="0"/>
              </a:rPr>
              <a:t>, </a:t>
            </a:r>
            <a:r>
              <a:rPr lang="ru-RU" altLang="ru-RU" sz="2078" b="0" dirty="0">
                <a:latin typeface="Arial" panose="020B0604020202020204" pitchFamily="34" charset="0"/>
              </a:rPr>
              <a:t>отсюда обилие методов и алгоритмов, реализованных в различных действующих системах </a:t>
            </a:r>
            <a:r>
              <a:rPr lang="en-US" altLang="ru-RU" sz="2078" b="0" dirty="0">
                <a:latin typeface="Arial" panose="020B0604020202020204" pitchFamily="34" charset="0"/>
              </a:rPr>
              <a:t>Data Analysis</a:t>
            </a:r>
            <a:r>
              <a:rPr lang="ru-RU" altLang="ru-RU" sz="2078" b="0" dirty="0">
                <a:latin typeface="Arial" panose="020B0604020202020204" pitchFamily="34" charset="0"/>
              </a:rPr>
              <a:t>. </a:t>
            </a:r>
          </a:p>
          <a:p>
            <a:pPr>
              <a:spcBef>
                <a:spcPct val="30000"/>
              </a:spcBef>
              <a:buFont typeface="Arial" panose="020B0604020202020204" pitchFamily="34" charset="0"/>
              <a:buChar char="•"/>
            </a:pPr>
            <a:r>
              <a:rPr lang="ru-RU" altLang="ru-RU" sz="2078" b="0" dirty="0">
                <a:latin typeface="Arial" panose="020B0604020202020204" pitchFamily="34" charset="0"/>
              </a:rPr>
              <a:t>Многие из таких систем интегрируют в себе сразу несколько подходов. Но, как правило, в каждой системе имеется какая-то ключевая компонента, на которую делается главная ставка. </a:t>
            </a:r>
          </a:p>
        </p:txBody>
      </p:sp>
    </p:spTree>
    <p:extLst>
      <p:ext uri="{BB962C8B-B14F-4D97-AF65-F5344CB8AC3E}">
        <p14:creationId xmlns:p14="http://schemas.microsoft.com/office/powerpoint/2010/main" val="3255391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a:xfrm>
            <a:off x="2013646" y="59298"/>
            <a:ext cx="8454219" cy="526224"/>
          </a:xfrm>
        </p:spPr>
        <p:txBody>
          <a:bodyPr>
            <a:normAutofit fontScale="90000"/>
          </a:bodyPr>
          <a:lstStyle/>
          <a:p>
            <a:pPr>
              <a:defRPr/>
            </a:pPr>
            <a:r>
              <a:rPr lang="ru-RU" altLang="ru-RU" sz="3325" dirty="0"/>
              <a:t>Классификация методов </a:t>
            </a:r>
            <a:r>
              <a:rPr lang="en-US" altLang="ru-RU" sz="3325" dirty="0"/>
              <a:t>Data </a:t>
            </a:r>
            <a:r>
              <a:rPr lang="en-US" altLang="ru-RU" sz="3600" dirty="0"/>
              <a:t>Analysis</a:t>
            </a:r>
            <a:endParaRPr lang="en-US" altLang="ru-RU" sz="3325" dirty="0"/>
          </a:p>
        </p:txBody>
      </p:sp>
      <p:sp>
        <p:nvSpPr>
          <p:cNvPr id="4" name="Номер слайда 3"/>
          <p:cNvSpPr>
            <a:spLocks noGrp="1"/>
          </p:cNvSpPr>
          <p:nvPr>
            <p:ph type="sldNum" sz="quarter" idx="12"/>
          </p:nvPr>
        </p:nvSpPr>
        <p:spPr/>
        <p:txBody>
          <a:bodyPr/>
          <a:lstStyle/>
          <a:p>
            <a:fld id="{952B6C0E-C4B9-4094-8E59-5B7DF00D5415}" type="slidenum">
              <a:rPr lang="ru-RU" sz="1400" b="1">
                <a:solidFill>
                  <a:schemeClr val="tx1"/>
                </a:solidFill>
              </a:rPr>
              <a:t>27</a:t>
            </a:fld>
            <a:endParaRPr lang="ru-RU" sz="1400" b="1" dirty="0">
              <a:solidFill>
                <a:schemeClr val="tx1"/>
              </a:solidFill>
            </a:endParaRPr>
          </a:p>
        </p:txBody>
      </p:sp>
      <p:pic>
        <p:nvPicPr>
          <p:cNvPr id="44035" name="Picture 15" descr="http://www.dataminingarticles.com/img_bk/DMTechniques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573" y="640046"/>
            <a:ext cx="10009111" cy="6433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Rectangle 16"/>
          <p:cNvSpPr>
            <a:spLocks noChangeArrowheads="1"/>
          </p:cNvSpPr>
          <p:nvPr/>
        </p:nvSpPr>
        <p:spPr bwMode="auto">
          <a:xfrm>
            <a:off x="2177124" y="6832660"/>
            <a:ext cx="7785010" cy="295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r>
              <a:rPr lang="ru-RU" altLang="ru-RU" sz="1247" dirty="0">
                <a:solidFill>
                  <a:schemeClr val="accent1"/>
                </a:solidFill>
                <a:latin typeface="Arial" panose="020B0604020202020204" pitchFamily="34" charset="0"/>
              </a:rPr>
              <a:t>Источник: http://www.dataminingarticles.com/data-mining-introduction/data-mining-techniques/</a:t>
            </a:r>
          </a:p>
        </p:txBody>
      </p:sp>
      <p:sp>
        <p:nvSpPr>
          <p:cNvPr id="2" name="Прямоугольник 1"/>
          <p:cNvSpPr/>
          <p:nvPr/>
        </p:nvSpPr>
        <p:spPr>
          <a:xfrm>
            <a:off x="1365573" y="4139208"/>
            <a:ext cx="2241744" cy="2202911"/>
          </a:xfrm>
          <a:prstGeom prst="rect">
            <a:avLst/>
          </a:prstGeom>
          <a:solidFill>
            <a:schemeClr val="accent6">
              <a:lumMod val="20000"/>
              <a:lumOff val="80000"/>
            </a:schemeClr>
          </a:solidFill>
        </p:spPr>
        <p:txBody>
          <a:bodyPr wrap="square">
            <a:spAutoFit/>
          </a:bodyPr>
          <a:lstStyle/>
          <a:p>
            <a:pPr marL="178154" indent="-178154">
              <a:buFont typeface="Arial" panose="020B0604020202020204" pitchFamily="34" charset="0"/>
              <a:buChar char="•"/>
              <a:defRPr/>
            </a:pPr>
            <a:r>
              <a:rPr lang="en-US" sz="1143" dirty="0">
                <a:solidFill>
                  <a:srgbClr val="0070C0"/>
                </a:solidFill>
                <a:latin typeface="Segoe Semibold" pitchFamily="34" charset="0"/>
              </a:rPr>
              <a:t>CART- Classification and Regression Tree</a:t>
            </a:r>
          </a:p>
          <a:p>
            <a:pPr marL="178154" indent="-178154">
              <a:buFont typeface="Arial" panose="020B0604020202020204" pitchFamily="34" charset="0"/>
              <a:buChar char="•"/>
              <a:defRPr/>
            </a:pPr>
            <a:r>
              <a:rPr lang="ru-RU" sz="1143" dirty="0">
                <a:solidFill>
                  <a:srgbClr val="0070C0"/>
                </a:solidFill>
                <a:latin typeface="Segoe Semibold" pitchFamily="34" charset="0"/>
              </a:rPr>
              <a:t>C4.5 строит дерево решений с неограниченным количеством ветвей у узла</a:t>
            </a:r>
            <a:endParaRPr lang="en-US" sz="1143" dirty="0">
              <a:solidFill>
                <a:srgbClr val="0070C0"/>
              </a:solidFill>
              <a:latin typeface="Segoe Semibold" pitchFamily="34" charset="0"/>
            </a:endParaRPr>
          </a:p>
          <a:p>
            <a:pPr marL="178154" indent="-178154">
              <a:buFont typeface="Arial" panose="020B0604020202020204" pitchFamily="34" charset="0"/>
              <a:buChar char="•"/>
              <a:defRPr/>
            </a:pPr>
            <a:r>
              <a:rPr lang="en-US" sz="1143" i="1" dirty="0">
                <a:solidFill>
                  <a:srgbClr val="0070C0"/>
                </a:solidFill>
                <a:latin typeface="Segoe Semibold" pitchFamily="34" charset="0"/>
              </a:rPr>
              <a:t>CHAID - </a:t>
            </a:r>
            <a:r>
              <a:rPr lang="en-US" sz="1143" dirty="0">
                <a:solidFill>
                  <a:srgbClr val="0070C0"/>
                </a:solidFill>
                <a:latin typeface="Segoe Semibold" pitchFamily="34" charset="0"/>
              </a:rPr>
              <a:t> (</a:t>
            </a:r>
            <a:r>
              <a:rPr lang="en-US" sz="1143" i="1" dirty="0">
                <a:solidFill>
                  <a:srgbClr val="0070C0"/>
                </a:solidFill>
                <a:latin typeface="Segoe Semibold" pitchFamily="34" charset="0"/>
              </a:rPr>
              <a:t>Chi-Square Automatic Interaction Detection</a:t>
            </a:r>
            <a:r>
              <a:rPr lang="en-US" sz="1143" dirty="0">
                <a:solidFill>
                  <a:srgbClr val="0070C0"/>
                </a:solidFill>
                <a:latin typeface="Segoe Semibold" pitchFamily="34" charset="0"/>
              </a:rPr>
              <a:t> - </a:t>
            </a:r>
            <a:r>
              <a:rPr lang="ru-RU" sz="1143" dirty="0">
                <a:solidFill>
                  <a:srgbClr val="0070C0"/>
                </a:solidFill>
                <a:latin typeface="Segoe Semibold" pitchFamily="34" charset="0"/>
              </a:rPr>
              <a:t>автоматический детектор взаимосвязей на основе критерия </a:t>
            </a:r>
            <a:r>
              <a:rPr lang="el-GR" sz="1143" dirty="0">
                <a:solidFill>
                  <a:srgbClr val="0070C0"/>
                </a:solidFill>
                <a:latin typeface="Segoe Semibold" pitchFamily="34" charset="0"/>
              </a:rPr>
              <a:t>χ2)</a:t>
            </a:r>
            <a:endParaRPr lang="ru-RU" sz="1143" dirty="0">
              <a:solidFill>
                <a:srgbClr val="0070C0"/>
              </a:solidFill>
              <a:latin typeface="Segoe Semibold" pitchFamily="34" charset="0"/>
            </a:endParaRPr>
          </a:p>
        </p:txBody>
      </p:sp>
    </p:spTree>
    <p:extLst>
      <p:ext uri="{BB962C8B-B14F-4D97-AF65-F5344CB8AC3E}">
        <p14:creationId xmlns:p14="http://schemas.microsoft.com/office/powerpoint/2010/main" val="131356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p:cNvSpPr>
            <a:spLocks noGrp="1"/>
          </p:cNvSpPr>
          <p:nvPr>
            <p:ph type="title"/>
          </p:nvPr>
        </p:nvSpPr>
        <p:spPr>
          <a:xfrm>
            <a:off x="2231562" y="3828731"/>
            <a:ext cx="8195231" cy="912230"/>
          </a:xfrm>
        </p:spPr>
        <p:txBody>
          <a:bodyPr/>
          <a:lstStyle/>
          <a:p>
            <a:pPr algn="ctr" eaLnBrk="1" hangingPunct="1">
              <a:defRPr/>
            </a:pPr>
            <a:r>
              <a:rPr lang="en-US" altLang="ru-RU" dirty="0"/>
              <a:t>4</a:t>
            </a:r>
            <a:r>
              <a:rPr lang="ru-RU" altLang="ru-RU" dirty="0"/>
              <a:t>. Кластеризация</a:t>
            </a:r>
            <a:endParaRPr lang="en-US" altLang="ru-RU" dirty="0"/>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28</a:t>
            </a:fld>
            <a:endParaRPr lang="ru-RU" dirty="0">
              <a:solidFill>
                <a:schemeClr val="tx1"/>
              </a:solidFill>
            </a:endParaRPr>
          </a:p>
        </p:txBody>
      </p:sp>
      <p:pic>
        <p:nvPicPr>
          <p:cNvPr id="117763" name="Picture 4" descr="https://encrypted-tbn1.gstatic.com/images?q=tbn:ANd9GcRMjv5S8CujEWjgUezYZDP_tT17jCB9JD14NAqDsAHMT7qUX7q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9986" y="664791"/>
            <a:ext cx="3165589" cy="316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7764" name="Picture 6" descr="http://8cent-emails.com/wp-content/uploads/2013/06/%D0%9A%D0%BB%D0%B0%D1%81%D1%82%D0%B5%D1%80%D0%B8%D0%B7%D0%B0%D1%86%D0%B8%D1%8F-%D1%81%D0%BE%D0%B3%D0%BB%D0%B0%D1%81%D0%BD%D0%BE-%D0%BF%D1%80%D0%BE%D0%B1%D0%BB%D0%B5%D0%BC%D0%B0%D0%BC-%D0%B8-%D0%BF%D0%BE%D1%82%D1%80%D0%B5%D0%B1%D0%BD%D0%BE%D1%81%D1%82%D1%8F%D0%BC-%D1%80%D0%B0%D0%B7%D0%B2%D0%B8%D1%82%D0%B8%D1%8F-%D0%BD%D0%B0%D1%81%D0%B5%D0%BB%D0%B5%D0%BD%D0%B8%D1%8F.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5694" y="629462"/>
            <a:ext cx="3134247" cy="316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0763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452677" y="322263"/>
            <a:ext cx="11837064" cy="628275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3074" name="Rectangle 2"/>
          <p:cNvSpPr>
            <a:spLocks noGrp="1" noChangeArrowheads="1"/>
          </p:cNvSpPr>
          <p:nvPr>
            <p:ph type="title"/>
          </p:nvPr>
        </p:nvSpPr>
        <p:spPr>
          <a:xfrm>
            <a:off x="2877357" y="354065"/>
            <a:ext cx="7056784" cy="983985"/>
          </a:xfrm>
        </p:spPr>
        <p:txBody>
          <a:bodyPr>
            <a:normAutofit/>
          </a:bodyPr>
          <a:lstStyle/>
          <a:p>
            <a:pPr eaLnBrk="1" hangingPunct="1">
              <a:defRPr/>
            </a:pPr>
            <a:r>
              <a:rPr lang="ru-RU" altLang="ru-RU" dirty="0"/>
              <a:t>Кластеризация</a:t>
            </a:r>
            <a:endParaRPr lang="en-US" altLang="ru-RU" dirty="0"/>
          </a:p>
        </p:txBody>
      </p:sp>
      <p:sp>
        <p:nvSpPr>
          <p:cNvPr id="3" name="Объект 2"/>
          <p:cNvSpPr>
            <a:spLocks noGrp="1"/>
          </p:cNvSpPr>
          <p:nvPr>
            <p:ph idx="1"/>
          </p:nvPr>
        </p:nvSpPr>
        <p:spPr>
          <a:xfrm>
            <a:off x="933525" y="1617742"/>
            <a:ext cx="11282048" cy="4412395"/>
          </a:xfrm>
        </p:spPr>
        <p:txBody>
          <a:bodyPr/>
          <a:lstStyle/>
          <a:p>
            <a:pPr marL="0" indent="0">
              <a:buNone/>
            </a:pPr>
            <a:r>
              <a:rPr lang="ru-RU" altLang="ru-RU" sz="2400" dirty="0">
                <a:latin typeface="Helvetica Neue"/>
              </a:rPr>
              <a:t>Под </a:t>
            </a:r>
            <a:r>
              <a:rPr lang="ru-RU" altLang="ru-RU" sz="2400" b="1" i="1" dirty="0">
                <a:solidFill>
                  <a:srgbClr val="0000FF"/>
                </a:solidFill>
                <a:latin typeface="Helvetica Neue"/>
              </a:rPr>
              <a:t>кластеризацией </a:t>
            </a:r>
            <a:r>
              <a:rPr lang="ru-RU" altLang="ru-RU" sz="2400" dirty="0">
                <a:latin typeface="Helvetica Neue"/>
              </a:rPr>
              <a:t>(от англ. </a:t>
            </a:r>
            <a:r>
              <a:rPr lang="ru-RU" altLang="ru-RU" sz="2400" dirty="0" err="1">
                <a:latin typeface="Helvetica Neue"/>
              </a:rPr>
              <a:t>cluster</a:t>
            </a:r>
            <a:r>
              <a:rPr lang="ru-RU" altLang="ru-RU" sz="2400" dirty="0">
                <a:latin typeface="Helvetica Neue"/>
              </a:rPr>
              <a:t> - гроздь, скопление) понимается задача разбиения всей исходной совокупности элементов на отдельные группы однородных объектов, сходных между собой, но имеющих отчетливые отличия этих групп друг от друга. </a:t>
            </a:r>
          </a:p>
          <a:p>
            <a:pPr marL="0" indent="0">
              <a:buNone/>
            </a:pPr>
            <a:r>
              <a:rPr lang="ru-RU" altLang="ru-RU" sz="2400" dirty="0">
                <a:latin typeface="Helvetica Neue"/>
              </a:rPr>
              <a:t>Пусть </a:t>
            </a:r>
            <a:r>
              <a:rPr lang="ru-RU" altLang="ru-RU" sz="2400" i="1" dirty="0">
                <a:latin typeface="MathJax_Math-italic"/>
              </a:rPr>
              <a:t>d</a:t>
            </a:r>
            <a:r>
              <a:rPr lang="ru-RU" altLang="ru-RU" sz="2400" i="1" dirty="0">
                <a:latin typeface="MathJax_Main"/>
              </a:rPr>
              <a:t>(</a:t>
            </a:r>
            <a:r>
              <a:rPr lang="ru-RU" altLang="ru-RU" sz="2400" i="1" dirty="0" err="1">
                <a:latin typeface="STIXGeneral"/>
              </a:rPr>
              <a:t>х</a:t>
            </a:r>
            <a:r>
              <a:rPr lang="ru-RU" altLang="ru-RU" sz="2400" i="1" baseline="-25000" dirty="0" err="1">
                <a:latin typeface="MathJax_Math-italic"/>
              </a:rPr>
              <a:t>i</a:t>
            </a:r>
            <a:r>
              <a:rPr lang="ru-RU" altLang="ru-RU" sz="2400" i="1" dirty="0" err="1">
                <a:latin typeface="MathJax_Main"/>
              </a:rPr>
              <a:t>,</a:t>
            </a:r>
            <a:r>
              <a:rPr lang="ru-RU" altLang="ru-RU" sz="2400" i="1" dirty="0" err="1">
                <a:latin typeface="STIXGeneral"/>
              </a:rPr>
              <a:t>х</a:t>
            </a:r>
            <a:r>
              <a:rPr lang="ru-RU" altLang="ru-RU" sz="2400" i="1" baseline="-25000" dirty="0" err="1">
                <a:latin typeface="MathJax_Math-italic"/>
              </a:rPr>
              <a:t>j</a:t>
            </a:r>
            <a:r>
              <a:rPr lang="ru-RU" altLang="ru-RU" sz="2400" i="1" dirty="0">
                <a:latin typeface="MathJax_Main"/>
              </a:rPr>
              <a:t>)</a:t>
            </a:r>
            <a:r>
              <a:rPr lang="ru-RU" altLang="ru-RU" sz="2400" i="1" dirty="0">
                <a:latin typeface="Helvetica Neue"/>
              </a:rPr>
              <a:t> </a:t>
            </a:r>
            <a:r>
              <a:rPr lang="ru-RU" altLang="ru-RU" sz="2400" dirty="0">
                <a:latin typeface="Helvetica Neue"/>
              </a:rPr>
              <a:t>- некоторая </a:t>
            </a:r>
            <a:r>
              <a:rPr lang="ru-RU" altLang="ru-RU" sz="2400" b="1" i="1" dirty="0">
                <a:solidFill>
                  <a:srgbClr val="0000FF"/>
                </a:solidFill>
                <a:latin typeface="Helvetica Neue"/>
              </a:rPr>
              <a:t>мера близости </a:t>
            </a:r>
            <a:r>
              <a:rPr lang="ru-RU" altLang="ru-RU" sz="2400" dirty="0">
                <a:latin typeface="Helvetica Neue"/>
              </a:rPr>
              <a:t>между каждой парой классифицируемых объектов</a:t>
            </a:r>
            <a:r>
              <a:rPr lang="ru-RU" altLang="ru-RU" sz="2400" i="1" dirty="0">
                <a:latin typeface="Helvetica Neue"/>
              </a:rPr>
              <a:t> </a:t>
            </a:r>
            <a:r>
              <a:rPr lang="ru-RU" altLang="ru-RU" sz="2400" i="1" dirty="0">
                <a:latin typeface="MathJax_Math-italic"/>
              </a:rPr>
              <a:t>i</a:t>
            </a:r>
            <a:r>
              <a:rPr lang="ru-RU" altLang="ru-RU" sz="2400" dirty="0">
                <a:latin typeface="Helvetica Neue"/>
              </a:rPr>
              <a:t> и </a:t>
            </a:r>
            <a:r>
              <a:rPr lang="ru-RU" altLang="ru-RU" sz="2400" i="1" dirty="0">
                <a:latin typeface="MathJax_Math-italic"/>
              </a:rPr>
              <a:t>j</a:t>
            </a:r>
            <a:r>
              <a:rPr lang="ru-RU" altLang="ru-RU" sz="2400" dirty="0">
                <a:latin typeface="Helvetica Neue"/>
              </a:rPr>
              <a:t>. В качестве таковой может использоваться любая полезная функция: </a:t>
            </a:r>
            <a:r>
              <a:rPr lang="ru-RU" altLang="ru-RU" sz="2400" b="1" dirty="0">
                <a:solidFill>
                  <a:schemeClr val="bg2">
                    <a:lumMod val="50000"/>
                  </a:schemeClr>
                </a:solidFill>
                <a:latin typeface="Helvetica Neue"/>
              </a:rPr>
              <a:t>евклидово или манхэттенское расстояние, коэффициент корреляции Пирсона, расстояние </a:t>
            </a:r>
            <a:r>
              <a:rPr lang="ru-RU" altLang="ru-RU" sz="2400" b="1" i="1" dirty="0">
                <a:solidFill>
                  <a:schemeClr val="bg2">
                    <a:lumMod val="50000"/>
                  </a:schemeClr>
                </a:solidFill>
                <a:latin typeface="MathJax_Math-italic"/>
              </a:rPr>
              <a:t>χ</a:t>
            </a:r>
            <a:r>
              <a:rPr lang="ru-RU" altLang="ru-RU" sz="2400" b="1" i="1" baseline="30000" dirty="0">
                <a:solidFill>
                  <a:schemeClr val="bg2">
                    <a:lumMod val="50000"/>
                  </a:schemeClr>
                </a:solidFill>
                <a:latin typeface="MathJax_Main"/>
              </a:rPr>
              <a:t>2</a:t>
            </a:r>
            <a:r>
              <a:rPr lang="ru-RU" altLang="ru-RU" sz="2400" b="1" dirty="0">
                <a:solidFill>
                  <a:schemeClr val="bg2">
                    <a:lumMod val="50000"/>
                  </a:schemeClr>
                </a:solidFill>
                <a:latin typeface="Helvetica Neue"/>
              </a:rPr>
              <a:t>, коэффициенты сходства </a:t>
            </a:r>
            <a:r>
              <a:rPr lang="ru-RU" altLang="ru-RU" sz="2400" b="1" dirty="0" err="1">
                <a:solidFill>
                  <a:schemeClr val="bg2">
                    <a:lumMod val="50000"/>
                  </a:schemeClr>
                </a:solidFill>
                <a:latin typeface="Helvetica Neue"/>
              </a:rPr>
              <a:t>Жаккара</a:t>
            </a:r>
            <a:r>
              <a:rPr lang="ru-RU" altLang="ru-RU" sz="2400" b="1" dirty="0">
                <a:solidFill>
                  <a:schemeClr val="bg2">
                    <a:lumMod val="50000"/>
                  </a:schemeClr>
                </a:solidFill>
                <a:latin typeface="Helvetica Neue"/>
              </a:rPr>
              <a:t>, </a:t>
            </a:r>
            <a:r>
              <a:rPr lang="ru-RU" altLang="ru-RU" sz="2400" b="1" dirty="0" err="1">
                <a:solidFill>
                  <a:schemeClr val="bg2">
                    <a:lumMod val="50000"/>
                  </a:schemeClr>
                </a:solidFill>
                <a:latin typeface="Helvetica Neue"/>
              </a:rPr>
              <a:t>Съеренсена</a:t>
            </a:r>
            <a:r>
              <a:rPr lang="ru-RU" altLang="ru-RU" sz="2400" b="1" dirty="0">
                <a:solidFill>
                  <a:schemeClr val="bg2">
                    <a:lumMod val="50000"/>
                  </a:schemeClr>
                </a:solidFill>
                <a:latin typeface="Helvetica Neue"/>
              </a:rPr>
              <a:t>, </a:t>
            </a:r>
            <a:r>
              <a:rPr lang="ru-RU" altLang="ru-RU" sz="2400" b="1" dirty="0" err="1">
                <a:solidFill>
                  <a:schemeClr val="bg2">
                    <a:lumMod val="50000"/>
                  </a:schemeClr>
                </a:solidFill>
                <a:latin typeface="Helvetica Neue"/>
              </a:rPr>
              <a:t>Ренконена</a:t>
            </a:r>
            <a:r>
              <a:rPr lang="ru-RU" altLang="ru-RU" sz="2400" b="1" dirty="0">
                <a:solidFill>
                  <a:schemeClr val="bg2">
                    <a:lumMod val="50000"/>
                  </a:schemeClr>
                </a:solidFill>
                <a:latin typeface="Helvetica Neue"/>
              </a:rPr>
              <a:t> и другие.</a:t>
            </a:r>
            <a:r>
              <a:rPr lang="ru-RU" altLang="ru-RU" sz="2400" b="1" dirty="0">
                <a:solidFill>
                  <a:schemeClr val="bg2">
                    <a:lumMod val="50000"/>
                  </a:schemeClr>
                </a:solidFill>
              </a:rPr>
              <a:t> </a:t>
            </a:r>
            <a:endParaRPr lang="ru-RU" altLang="ru-RU" sz="2400" b="1" dirty="0">
              <a:solidFill>
                <a:schemeClr val="bg2">
                  <a:lumMod val="50000"/>
                </a:schemeClr>
              </a:solidFill>
              <a:latin typeface="Arial" panose="020B0604020202020204" pitchFamily="34" charset="0"/>
            </a:endParaRPr>
          </a:p>
          <a:p>
            <a:endParaRPr lang="ru-RU" sz="2400" dirty="0"/>
          </a:p>
        </p:txBody>
      </p:sp>
      <p:sp>
        <p:nvSpPr>
          <p:cNvPr id="7" name="Номер слайда 6"/>
          <p:cNvSpPr>
            <a:spLocks noGrp="1"/>
          </p:cNvSpPr>
          <p:nvPr>
            <p:ph type="sldNum" sz="quarter" idx="12"/>
          </p:nvPr>
        </p:nvSpPr>
        <p:spPr/>
        <p:txBody>
          <a:bodyPr/>
          <a:lstStyle/>
          <a:p>
            <a:fld id="{952B6C0E-C4B9-4094-8E59-5B7DF00D5415}" type="slidenum">
              <a:rPr lang="ru-RU" sz="1400">
                <a:solidFill>
                  <a:schemeClr val="tx1"/>
                </a:solidFill>
              </a:rPr>
              <a:t>29</a:t>
            </a:fld>
            <a:endParaRPr lang="ru-RU" dirty="0">
              <a:solidFill>
                <a:schemeClr val="tx1"/>
              </a:solidFill>
            </a:endParaRPr>
          </a:p>
        </p:txBody>
      </p:sp>
    </p:spTree>
    <p:extLst>
      <p:ext uri="{BB962C8B-B14F-4D97-AF65-F5344CB8AC3E}">
        <p14:creationId xmlns:p14="http://schemas.microsoft.com/office/powerpoint/2010/main" val="2321762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33411" y="322263"/>
            <a:ext cx="11823861" cy="656648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6"/>
          <p:cNvSpPr>
            <a:spLocks noChangeArrowheads="1"/>
          </p:cNvSpPr>
          <p:nvPr/>
        </p:nvSpPr>
        <p:spPr bwMode="auto">
          <a:xfrm>
            <a:off x="1582738" y="1127585"/>
            <a:ext cx="9431338" cy="5603416"/>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3074" name="Rectangle 2"/>
          <p:cNvSpPr>
            <a:spLocks noGrp="1" noChangeArrowheads="1"/>
          </p:cNvSpPr>
          <p:nvPr>
            <p:ph type="title"/>
          </p:nvPr>
        </p:nvSpPr>
        <p:spPr>
          <a:xfrm>
            <a:off x="1989071" y="237543"/>
            <a:ext cx="8700009" cy="1182766"/>
          </a:xfrm>
        </p:spPr>
        <p:txBody>
          <a:bodyPr>
            <a:normAutofit fontScale="90000"/>
          </a:bodyPr>
          <a:lstStyle/>
          <a:p>
            <a:pPr eaLnBrk="1" hangingPunct="1">
              <a:defRPr/>
            </a:pPr>
            <a:r>
              <a:rPr lang="ru-RU" altLang="ru-RU" dirty="0"/>
              <a:t>Кластеризация</a:t>
            </a:r>
            <a:br>
              <a:rPr lang="en-US" altLang="ru-RU" dirty="0"/>
            </a:br>
            <a:endParaRPr lang="en-US" altLang="ru-RU" dirty="0"/>
          </a:p>
        </p:txBody>
      </p:sp>
      <p:sp>
        <p:nvSpPr>
          <p:cNvPr id="643075" name="Rectangle 3"/>
          <p:cNvSpPr>
            <a:spLocks noGrp="1" noChangeArrowheads="1"/>
          </p:cNvSpPr>
          <p:nvPr>
            <p:ph idx="1"/>
          </p:nvPr>
        </p:nvSpPr>
        <p:spPr>
          <a:xfrm>
            <a:off x="777875" y="1158726"/>
            <a:ext cx="11460906" cy="5301826"/>
          </a:xfrm>
        </p:spPr>
        <p:txBody>
          <a:bodyPr>
            <a:normAutofit/>
          </a:bodyPr>
          <a:lstStyle/>
          <a:p>
            <a:pPr eaLnBrk="1" hangingPunct="1">
              <a:defRPr/>
            </a:pPr>
            <a:r>
              <a:rPr lang="ru-RU" sz="2400" dirty="0"/>
              <a:t>Кластеризация (или кластерный анализ) — задача разбиения множества объектов на группы, называемые кластерами. Внутри каждой группы должны оказаться «похожие» объекты, а объекты разных групп должны быть как можно более отличны. Главное отличие кластеризации от классификации состоит в том, что перечень групп четко не задан и определяется в процессе работы алгоритма.</a:t>
            </a:r>
          </a:p>
          <a:p>
            <a:pPr eaLnBrk="1" hangingPunct="1">
              <a:defRPr/>
            </a:pPr>
            <a:r>
              <a:rPr lang="ru-RU" altLang="ru-RU" sz="2400" dirty="0"/>
              <a:t>Нахождение «центров конденсации» внутри данных можно еще определить как отыскание или введение </a:t>
            </a:r>
            <a:r>
              <a:rPr lang="ru-RU" altLang="ru-RU" sz="2400" dirty="0">
                <a:solidFill>
                  <a:srgbClr val="0000FF"/>
                </a:solidFill>
              </a:rPr>
              <a:t>переменной</a:t>
            </a:r>
            <a:r>
              <a:rPr lang="ru-RU" altLang="ru-RU" sz="2400" dirty="0"/>
              <a:t>, классифицирующей данные:</a:t>
            </a:r>
          </a:p>
          <a:p>
            <a:pPr lvl="1" eaLnBrk="1" hangingPunct="1">
              <a:defRPr/>
            </a:pPr>
            <a:r>
              <a:rPr lang="ru-RU" altLang="ru-RU" sz="2200" dirty="0"/>
              <a:t>Например, в аэропорту мы видим сгустки пассажиров: одни одеты в майки, шорты и бейсболки (Кластер 1), другие – в валенки, шубы и ушанки (Кластер 2)</a:t>
            </a:r>
          </a:p>
          <a:p>
            <a:pPr lvl="1" eaLnBrk="1" hangingPunct="1">
              <a:defRPr/>
            </a:pPr>
            <a:r>
              <a:rPr lang="ru-RU" altLang="ru-RU" sz="2200" dirty="0"/>
              <a:t>Такой переменной будет </a:t>
            </a:r>
            <a:r>
              <a:rPr lang="ru-RU" altLang="ru-RU" sz="2200" b="1" i="1" dirty="0">
                <a:solidFill>
                  <a:srgbClr val="0000FF"/>
                </a:solidFill>
              </a:rPr>
              <a:t>направление прибытия </a:t>
            </a:r>
            <a:r>
              <a:rPr lang="ru-RU" altLang="ru-RU" sz="2200" dirty="0"/>
              <a:t>(убытия)  -  одни прилетели с севера, другие – с юга</a:t>
            </a:r>
            <a:r>
              <a:rPr lang="en-US" altLang="ru-RU" sz="2200" dirty="0"/>
              <a:t>.</a:t>
            </a:r>
            <a:endParaRPr lang="ru-RU" altLang="ru-RU" sz="22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30</a:t>
            </a:fld>
            <a:endParaRPr lang="ru-RU" sz="1400">
              <a:solidFill>
                <a:schemeClr val="tx1"/>
              </a:solidFill>
            </a:endParaRPr>
          </a:p>
        </p:txBody>
      </p:sp>
    </p:spTree>
    <p:extLst>
      <p:ext uri="{BB962C8B-B14F-4D97-AF65-F5344CB8AC3E}">
        <p14:creationId xmlns:p14="http://schemas.microsoft.com/office/powerpoint/2010/main" val="3125729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3075">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3075">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30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5"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6"/>
          <p:cNvSpPr>
            <a:spLocks noChangeArrowheads="1"/>
          </p:cNvSpPr>
          <p:nvPr/>
        </p:nvSpPr>
        <p:spPr bwMode="auto">
          <a:xfrm>
            <a:off x="1582737" y="1127585"/>
            <a:ext cx="10452101" cy="5603416"/>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3074" name="Rectangle 2"/>
          <p:cNvSpPr>
            <a:spLocks noGrp="1" noChangeArrowheads="1"/>
          </p:cNvSpPr>
          <p:nvPr>
            <p:ph type="title"/>
          </p:nvPr>
        </p:nvSpPr>
        <p:spPr>
          <a:xfrm>
            <a:off x="1989071" y="237543"/>
            <a:ext cx="8700009" cy="1182766"/>
          </a:xfrm>
        </p:spPr>
        <p:txBody>
          <a:bodyPr>
            <a:normAutofit fontScale="90000"/>
          </a:bodyPr>
          <a:lstStyle/>
          <a:p>
            <a:pPr eaLnBrk="1" hangingPunct="1">
              <a:defRPr/>
            </a:pPr>
            <a:r>
              <a:rPr lang="ru-RU" altLang="ru-RU" dirty="0"/>
              <a:t>Кластеризация</a:t>
            </a:r>
            <a:br>
              <a:rPr lang="en-US" altLang="ru-RU" dirty="0"/>
            </a:br>
            <a:endParaRPr lang="en-US" altLang="ru-RU" dirty="0"/>
          </a:p>
        </p:txBody>
      </p:sp>
      <p:sp>
        <p:nvSpPr>
          <p:cNvPr id="643075" name="Rectangle 3"/>
          <p:cNvSpPr>
            <a:spLocks noGrp="1" noChangeArrowheads="1"/>
          </p:cNvSpPr>
          <p:nvPr>
            <p:ph idx="1"/>
          </p:nvPr>
        </p:nvSpPr>
        <p:spPr>
          <a:xfrm>
            <a:off x="861517" y="1343461"/>
            <a:ext cx="11173322" cy="4595947"/>
          </a:xfrm>
        </p:spPr>
        <p:txBody>
          <a:bodyPr/>
          <a:lstStyle/>
          <a:p>
            <a:pPr eaLnBrk="1" hangingPunct="1">
              <a:defRPr/>
            </a:pPr>
            <a:r>
              <a:rPr lang="ru-RU" altLang="ru-RU" sz="2400" dirty="0"/>
              <a:t>Алгоритм работы кластерного алгоритма удобно представлять себе на примере </a:t>
            </a:r>
            <a:r>
              <a:rPr lang="en-US" altLang="ru-RU" sz="2400" dirty="0"/>
              <a:t>n-</a:t>
            </a:r>
            <a:r>
              <a:rPr lang="ru-RU" altLang="ru-RU" sz="2400" dirty="0"/>
              <a:t>мерного пространства, в котором насыпаны точки</a:t>
            </a:r>
          </a:p>
          <a:p>
            <a:pPr lvl="1" eaLnBrk="1" hangingPunct="1">
              <a:defRPr/>
            </a:pPr>
            <a:r>
              <a:rPr lang="ru-RU" altLang="ru-RU" sz="2200" dirty="0"/>
              <a:t>Оси – это атрибуты, точки – это случаи</a:t>
            </a:r>
            <a:r>
              <a:rPr lang="en-US" altLang="ru-RU" sz="2200" dirty="0"/>
              <a:t>,</a:t>
            </a:r>
            <a:endParaRPr lang="ru-RU" altLang="ru-RU" sz="2200" dirty="0"/>
          </a:p>
          <a:p>
            <a:pPr lvl="1" eaLnBrk="1" hangingPunct="1">
              <a:defRPr/>
            </a:pPr>
            <a:r>
              <a:rPr lang="ru-RU" altLang="ru-RU" sz="2200" dirty="0"/>
              <a:t>Исходим из того, что в начальный момент уже есть какие-то кластеры.</a:t>
            </a:r>
          </a:p>
          <a:p>
            <a:pPr lvl="1" eaLnBrk="1" hangingPunct="1">
              <a:defRPr/>
            </a:pPr>
            <a:r>
              <a:rPr lang="ru-RU" altLang="ru-RU" sz="2200" dirty="0"/>
              <a:t>Каждая точка, очевидно, будет относиться к какому-нибудь кластеру.</a:t>
            </a:r>
          </a:p>
          <a:p>
            <a:pPr lvl="1" eaLnBrk="1" hangingPunct="1">
              <a:defRPr/>
            </a:pPr>
            <a:r>
              <a:rPr lang="ru-RU" altLang="ru-RU" sz="2200" dirty="0"/>
              <a:t>После этого пересчитываем центры кластеров как </a:t>
            </a:r>
            <a:r>
              <a:rPr lang="ru-RU" altLang="ru-RU" sz="2200" b="1" dirty="0"/>
              <a:t>среднее</a:t>
            </a:r>
            <a:r>
              <a:rPr lang="ru-RU" altLang="ru-RU" sz="2200" dirty="0"/>
              <a:t> всех точек, которые в него попали,</a:t>
            </a:r>
          </a:p>
          <a:p>
            <a:pPr lvl="1" eaLnBrk="1" hangingPunct="1">
              <a:defRPr/>
            </a:pPr>
            <a:r>
              <a:rPr lang="ru-RU" altLang="ru-RU" sz="2200" dirty="0"/>
              <a:t>Повторяем </a:t>
            </a:r>
            <a:r>
              <a:rPr lang="ru-RU" altLang="ru-RU" sz="2200" dirty="0" err="1"/>
              <a:t>переприсваивание</a:t>
            </a:r>
            <a:r>
              <a:rPr lang="ru-RU" altLang="ru-RU" sz="2200" dirty="0"/>
              <a:t> точек, пока </a:t>
            </a:r>
          </a:p>
          <a:p>
            <a:pPr marL="1143000" lvl="1" indent="-342900">
              <a:defRPr/>
            </a:pPr>
            <a:r>
              <a:rPr lang="ru-RU" altLang="ru-RU" sz="2100" dirty="0"/>
              <a:t>они не перестанут перемещаться между кластерами (алгоритм сошелся)</a:t>
            </a:r>
          </a:p>
          <a:p>
            <a:pPr marL="1143000" lvl="1" indent="-342900">
              <a:defRPr/>
            </a:pPr>
            <a:r>
              <a:rPr lang="ru-RU" altLang="ru-RU" sz="2100" dirty="0"/>
              <a:t>или не придем к выводу, что модель больше не улучшится от дальнейших итераций.</a:t>
            </a:r>
            <a:endParaRPr lang="en-US" altLang="ru-RU" sz="21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31</a:t>
            </a:fld>
            <a:endParaRPr lang="ru-RU" dirty="0">
              <a:solidFill>
                <a:schemeClr val="tx1"/>
              </a:solidFill>
            </a:endParaRPr>
          </a:p>
        </p:txBody>
      </p:sp>
    </p:spTree>
    <p:extLst>
      <p:ext uri="{BB962C8B-B14F-4D97-AF65-F5344CB8AC3E}">
        <p14:creationId xmlns:p14="http://schemas.microsoft.com/office/powerpoint/2010/main" val="171004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643075">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3075">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3075">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430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5"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724360"/>
          </a:xfrm>
        </p:spPr>
        <p:txBody>
          <a:bodyPr>
            <a:normAutofit fontScale="90000"/>
          </a:bodyPr>
          <a:lstStyle/>
          <a:p>
            <a:pPr eaLnBrk="1" hangingPunct="1">
              <a:defRPr/>
            </a:pPr>
            <a:r>
              <a:rPr lang="ru-RU" altLang="ru-RU" dirty="0"/>
              <a:t>Кластеризация</a:t>
            </a:r>
            <a:endParaRPr lang="en-US" altLang="ru-RU" dirty="0"/>
          </a:p>
        </p:txBody>
      </p:sp>
      <p:sp>
        <p:nvSpPr>
          <p:cNvPr id="674819" name="Rectangle 3"/>
          <p:cNvSpPr>
            <a:spLocks noGrp="1" noChangeArrowheads="1"/>
          </p:cNvSpPr>
          <p:nvPr>
            <p:ph idx="1"/>
          </p:nvPr>
        </p:nvSpPr>
        <p:spPr>
          <a:xfrm>
            <a:off x="969559" y="1560121"/>
            <a:ext cx="11065280" cy="5213596"/>
          </a:xfrm>
        </p:spPr>
        <p:txBody>
          <a:bodyPr>
            <a:normAutofit/>
          </a:bodyPr>
          <a:lstStyle/>
          <a:p>
            <a:pPr eaLnBrk="1" hangingPunct="1">
              <a:defRPr/>
            </a:pPr>
            <a:r>
              <a:rPr lang="ru-RU" altLang="ru-RU" sz="2200" dirty="0"/>
              <a:t>Большинство алгоритмов кластеризации предполагают сравнение объектов между собой на основе некоторой меры близости (сходства). </a:t>
            </a:r>
            <a:endParaRPr lang="en-US" altLang="ru-RU" sz="2200" dirty="0"/>
          </a:p>
          <a:p>
            <a:pPr eaLnBrk="1" hangingPunct="1">
              <a:defRPr/>
            </a:pPr>
            <a:r>
              <a:rPr lang="ru-RU" altLang="ru-RU" sz="2200" b="1" i="1" dirty="0">
                <a:solidFill>
                  <a:srgbClr val="0000FF"/>
                </a:solidFill>
              </a:rPr>
              <a:t>Мерой близости </a:t>
            </a:r>
            <a:r>
              <a:rPr lang="ru-RU" altLang="ru-RU" sz="2200" dirty="0"/>
              <a:t>называется величина, имеющая предел и возрастающая с увеличением близости объектов. Меры сходства "изобретаются" по специальным правилам, а выбор конкретных мер зависит от задачи, а также от шкалы измерений. </a:t>
            </a:r>
          </a:p>
          <a:p>
            <a:pPr eaLnBrk="1" hangingPunct="1">
              <a:defRPr/>
            </a:pPr>
            <a:r>
              <a:rPr lang="ru-RU" altLang="ru-RU" sz="2200" dirty="0"/>
              <a:t>В качестве меры близости для числовых атрибутов очень часто используется </a:t>
            </a:r>
            <a:r>
              <a:rPr lang="ru-RU" altLang="ru-RU" sz="2200" b="1" i="1" dirty="0">
                <a:solidFill>
                  <a:srgbClr val="0000FF"/>
                </a:solidFill>
              </a:rPr>
              <a:t>евклидово расстояние </a:t>
            </a:r>
            <a:r>
              <a:rPr lang="ru-RU" altLang="ru-RU" sz="2200" b="1" i="1" dirty="0"/>
              <a:t>(либо его квадрат)</a:t>
            </a:r>
            <a:r>
              <a:rPr lang="ru-RU" altLang="ru-RU" sz="2200" dirty="0"/>
              <a:t>, которое п</a:t>
            </a:r>
            <a:r>
              <a:rPr lang="ru-RU" sz="2200" dirty="0"/>
              <a:t>редставляет собой геометрическое расстояние в многомерном пространстве:</a:t>
            </a:r>
          </a:p>
          <a:p>
            <a:pPr eaLnBrk="1" hangingPunct="1">
              <a:defRPr/>
            </a:pPr>
            <a:endParaRPr lang="ru-RU" sz="2200" dirty="0"/>
          </a:p>
          <a:p>
            <a:pPr eaLnBrk="1" hangingPunct="1">
              <a:defRPr/>
            </a:pPr>
            <a:endParaRPr lang="en-US" sz="2200" dirty="0"/>
          </a:p>
          <a:p>
            <a:pPr eaLnBrk="1" hangingPunct="1">
              <a:defRPr/>
            </a:pPr>
            <a:r>
              <a:rPr lang="ru-RU" sz="2200" dirty="0"/>
              <a:t>Также используется </a:t>
            </a:r>
            <a:r>
              <a:rPr lang="ru-RU" sz="2200" b="1" i="1" dirty="0">
                <a:solidFill>
                  <a:srgbClr val="0000FF"/>
                </a:solidFill>
              </a:rPr>
              <a:t>Расстояние городских кварталов (манхэттенское расстояние), расстояние Чебышева, степенное расстояние.</a:t>
            </a:r>
            <a:endParaRPr lang="ru-RU" altLang="ru-RU" sz="2200" b="1" i="1" dirty="0">
              <a:solidFill>
                <a:srgbClr val="0000FF"/>
              </a:solidFill>
            </a:endParaRPr>
          </a:p>
        </p:txBody>
      </p:sp>
      <p:sp>
        <p:nvSpPr>
          <p:cNvPr id="3" name="Номер слайда 2"/>
          <p:cNvSpPr>
            <a:spLocks noGrp="1"/>
          </p:cNvSpPr>
          <p:nvPr>
            <p:ph type="sldNum" sz="quarter" idx="12"/>
          </p:nvPr>
        </p:nvSpPr>
        <p:spPr>
          <a:xfrm>
            <a:off x="11518701" y="6605015"/>
            <a:ext cx="516138" cy="379409"/>
          </a:xfrm>
        </p:spPr>
        <p:txBody>
          <a:bodyPr/>
          <a:lstStyle/>
          <a:p>
            <a:fld id="{952B6C0E-C4B9-4094-8E59-5B7DF00D5415}" type="slidenum">
              <a:rPr lang="ru-RU" sz="1400">
                <a:solidFill>
                  <a:schemeClr val="tx1"/>
                </a:solidFill>
              </a:rPr>
              <a:t>32</a:t>
            </a:fld>
            <a:endParaRPr lang="ru-RU" dirty="0">
              <a:solidFill>
                <a:schemeClr val="tx1"/>
              </a:solidFill>
            </a:endParaRPr>
          </a:p>
        </p:txBody>
      </p:sp>
      <p:sp>
        <p:nvSpPr>
          <p:cNvPr id="9" name="Rectangle 3"/>
          <p:cNvSpPr txBox="1">
            <a:spLocks noChangeArrowheads="1"/>
          </p:cNvSpPr>
          <p:nvPr/>
        </p:nvSpPr>
        <p:spPr>
          <a:xfrm>
            <a:off x="1713321" y="839520"/>
            <a:ext cx="5700924" cy="520148"/>
          </a:xfrm>
          <a:prstGeom prst="rect">
            <a:avLst/>
          </a:prstGeom>
        </p:spPr>
        <p:txBody>
          <a:bodyPr vert="horz"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0" fontAlgn="auto">
              <a:spcAft>
                <a:spcPts val="0"/>
              </a:spcAft>
              <a:buNone/>
              <a:defRPr/>
            </a:pPr>
            <a:r>
              <a:rPr lang="ru-RU" altLang="ru-RU" sz="2400" b="1" i="1" dirty="0">
                <a:solidFill>
                  <a:srgbClr val="0000FF"/>
                </a:solidFill>
              </a:rPr>
              <a:t>Меры близости (метрики)</a:t>
            </a:r>
          </a:p>
        </p:txBody>
      </p:sp>
    </p:spTree>
    <p:extLst>
      <p:ext uri="{BB962C8B-B14F-4D97-AF65-F5344CB8AC3E}">
        <p14:creationId xmlns:p14="http://schemas.microsoft.com/office/powerpoint/2010/main" val="230016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481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4819">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481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48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19" grpId="0" build="p"/>
      <p:bldP spid="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724360"/>
          </a:xfrm>
        </p:spPr>
        <p:txBody>
          <a:bodyPr>
            <a:normAutofit fontScale="90000"/>
          </a:bodyPr>
          <a:lstStyle/>
          <a:p>
            <a:pPr eaLnBrk="1" hangingPunct="1">
              <a:defRPr/>
            </a:pPr>
            <a:r>
              <a:rPr lang="ru-RU" altLang="ru-RU" dirty="0"/>
              <a:t>Кластеризация</a:t>
            </a:r>
            <a:endParaRPr lang="en-US" altLang="ru-RU" dirty="0"/>
          </a:p>
        </p:txBody>
      </p:sp>
      <p:sp>
        <p:nvSpPr>
          <p:cNvPr id="674819" name="Rectangle 3"/>
          <p:cNvSpPr>
            <a:spLocks noGrp="1" noChangeArrowheads="1"/>
          </p:cNvSpPr>
          <p:nvPr>
            <p:ph idx="1"/>
          </p:nvPr>
        </p:nvSpPr>
        <p:spPr>
          <a:xfrm>
            <a:off x="1715615" y="990967"/>
            <a:ext cx="8722199" cy="520148"/>
          </a:xfrm>
        </p:spPr>
        <p:txBody>
          <a:bodyPr>
            <a:normAutofit/>
          </a:bodyPr>
          <a:lstStyle/>
          <a:p>
            <a:pPr marL="0" indent="0">
              <a:buNone/>
              <a:defRPr/>
            </a:pPr>
            <a:r>
              <a:rPr lang="ru-RU" altLang="ru-RU" sz="2400" b="1" i="1" dirty="0">
                <a:solidFill>
                  <a:srgbClr val="0000FF"/>
                </a:solidFill>
              </a:rPr>
              <a:t>Меры близости (метрики)</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33</a:t>
            </a:fld>
            <a:endParaRPr lang="ru-RU" dirty="0">
              <a:solidFill>
                <a:schemeClr val="tx1"/>
              </a:solidFill>
            </a:endParaRPr>
          </a:p>
        </p:txBody>
      </p:sp>
      <p:pic>
        <p:nvPicPr>
          <p:cNvPr id="4" name="Рисунок 3"/>
          <p:cNvPicPr>
            <a:picLocks noChangeAspect="1"/>
          </p:cNvPicPr>
          <p:nvPr/>
        </p:nvPicPr>
        <p:blipFill>
          <a:blip r:embed="rId2"/>
          <a:stretch>
            <a:fillRect/>
          </a:stretch>
        </p:blipFill>
        <p:spPr>
          <a:xfrm>
            <a:off x="1692382" y="1651827"/>
            <a:ext cx="9537593" cy="4768797"/>
          </a:xfrm>
          <a:prstGeom prst="rect">
            <a:avLst/>
          </a:prstGeom>
        </p:spPr>
      </p:pic>
    </p:spTree>
    <p:extLst>
      <p:ext uri="{BB962C8B-B14F-4D97-AF65-F5344CB8AC3E}">
        <p14:creationId xmlns:p14="http://schemas.microsoft.com/office/powerpoint/2010/main" val="4038610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6"/>
          <p:cNvSpPr>
            <a:spLocks noChangeArrowheads="1"/>
          </p:cNvSpPr>
          <p:nvPr/>
        </p:nvSpPr>
        <p:spPr bwMode="auto">
          <a:xfrm>
            <a:off x="862211" y="967623"/>
            <a:ext cx="10944521" cy="5763378"/>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724360"/>
          </a:xfrm>
        </p:spPr>
        <p:txBody>
          <a:bodyPr>
            <a:normAutofit fontScale="90000"/>
          </a:bodyPr>
          <a:lstStyle/>
          <a:p>
            <a:pPr eaLnBrk="1" hangingPunct="1">
              <a:defRPr/>
            </a:pPr>
            <a:r>
              <a:rPr lang="ru-RU" altLang="ru-RU" dirty="0"/>
              <a:t>Кластеризация</a:t>
            </a:r>
            <a:endParaRPr lang="en-US" altLang="ru-RU"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34</a:t>
            </a:fld>
            <a:endParaRPr lang="ru-RU" dirty="0">
              <a:solidFill>
                <a:schemeClr val="tx1"/>
              </a:solidFill>
            </a:endParaRPr>
          </a:p>
        </p:txBody>
      </p:sp>
      <p:pic>
        <p:nvPicPr>
          <p:cNvPr id="2" name="Рисунок 1"/>
          <p:cNvPicPr>
            <a:picLocks noChangeAspect="1"/>
          </p:cNvPicPr>
          <p:nvPr/>
        </p:nvPicPr>
        <p:blipFill>
          <a:blip r:embed="rId2"/>
          <a:stretch>
            <a:fillRect/>
          </a:stretch>
        </p:blipFill>
        <p:spPr>
          <a:xfrm>
            <a:off x="1737399" y="1675466"/>
            <a:ext cx="8470284" cy="4820588"/>
          </a:xfrm>
          <a:prstGeom prst="rect">
            <a:avLst/>
          </a:prstGeom>
        </p:spPr>
      </p:pic>
      <p:sp>
        <p:nvSpPr>
          <p:cNvPr id="11" name="Rectangle 3">
            <a:extLst>
              <a:ext uri="{FF2B5EF4-FFF2-40B4-BE49-F238E27FC236}">
                <a16:creationId xmlns:a16="http://schemas.microsoft.com/office/drawing/2014/main" id="{CC908966-5B4E-417A-AB36-8A1C4657AB17}"/>
              </a:ext>
            </a:extLst>
          </p:cNvPr>
          <p:cNvSpPr txBox="1">
            <a:spLocks noChangeArrowheads="1"/>
          </p:cNvSpPr>
          <p:nvPr/>
        </p:nvSpPr>
        <p:spPr>
          <a:xfrm>
            <a:off x="1715615" y="990967"/>
            <a:ext cx="8722199" cy="520148"/>
          </a:xfrm>
          <a:prstGeom prst="rect">
            <a:avLst/>
          </a:prstGeom>
        </p:spPr>
        <p:txBody>
          <a:bodyPr vert="horz"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0" fontAlgn="auto">
              <a:spcAft>
                <a:spcPts val="0"/>
              </a:spcAft>
              <a:buNone/>
              <a:defRPr/>
            </a:pPr>
            <a:r>
              <a:rPr lang="ru-RU" altLang="ru-RU" sz="2400" b="1" i="1">
                <a:solidFill>
                  <a:srgbClr val="0000FF"/>
                </a:solidFill>
              </a:rPr>
              <a:t>Меры близости (метрики)</a:t>
            </a:r>
            <a:endParaRPr lang="ru-RU" altLang="ru-RU" sz="2400" b="1" i="1" dirty="0">
              <a:solidFill>
                <a:srgbClr val="0000FF"/>
              </a:solidFill>
            </a:endParaRPr>
          </a:p>
        </p:txBody>
      </p:sp>
    </p:spTree>
    <p:extLst>
      <p:ext uri="{BB962C8B-B14F-4D97-AF65-F5344CB8AC3E}">
        <p14:creationId xmlns:p14="http://schemas.microsoft.com/office/powerpoint/2010/main" val="355157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724360"/>
          </a:xfrm>
        </p:spPr>
        <p:txBody>
          <a:bodyPr>
            <a:normAutofit fontScale="90000"/>
          </a:bodyPr>
          <a:lstStyle/>
          <a:p>
            <a:pPr eaLnBrk="1" hangingPunct="1">
              <a:defRPr/>
            </a:pPr>
            <a:r>
              <a:rPr lang="ru-RU" altLang="ru-RU" dirty="0"/>
              <a:t>Кластеризация</a:t>
            </a:r>
            <a:endParaRPr lang="en-US" altLang="ru-RU"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35</a:t>
            </a:fld>
            <a:endParaRPr lang="ru-RU" dirty="0">
              <a:solidFill>
                <a:schemeClr val="tx1"/>
              </a:solidFill>
            </a:endParaRPr>
          </a:p>
        </p:txBody>
      </p:sp>
      <p:pic>
        <p:nvPicPr>
          <p:cNvPr id="4" name="Рисунок 3"/>
          <p:cNvPicPr>
            <a:picLocks noChangeAspect="1"/>
          </p:cNvPicPr>
          <p:nvPr/>
        </p:nvPicPr>
        <p:blipFill>
          <a:blip r:embed="rId2"/>
          <a:stretch>
            <a:fillRect/>
          </a:stretch>
        </p:blipFill>
        <p:spPr>
          <a:xfrm>
            <a:off x="1326635" y="1365524"/>
            <a:ext cx="9209372" cy="5130530"/>
          </a:xfrm>
          <a:prstGeom prst="rect">
            <a:avLst/>
          </a:prstGeom>
        </p:spPr>
      </p:pic>
      <p:sp>
        <p:nvSpPr>
          <p:cNvPr id="11" name="Rectangle 3">
            <a:extLst>
              <a:ext uri="{FF2B5EF4-FFF2-40B4-BE49-F238E27FC236}">
                <a16:creationId xmlns:a16="http://schemas.microsoft.com/office/drawing/2014/main" id="{397E2114-196E-4D44-9DFB-EA94E6257BBC}"/>
              </a:ext>
            </a:extLst>
          </p:cNvPr>
          <p:cNvSpPr txBox="1">
            <a:spLocks noChangeArrowheads="1"/>
          </p:cNvSpPr>
          <p:nvPr/>
        </p:nvSpPr>
        <p:spPr>
          <a:xfrm>
            <a:off x="1402331" y="837272"/>
            <a:ext cx="8722199" cy="520148"/>
          </a:xfrm>
          <a:prstGeom prst="rect">
            <a:avLst/>
          </a:prstGeom>
        </p:spPr>
        <p:txBody>
          <a:bodyPr vert="horz" lIns="91440" tIns="45720" rIns="91440" bIns="45720" rtlCol="0">
            <a:normAutofit/>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marL="0" indent="0" fontAlgn="auto">
              <a:spcAft>
                <a:spcPts val="0"/>
              </a:spcAft>
              <a:buNone/>
              <a:defRPr/>
            </a:pPr>
            <a:r>
              <a:rPr lang="ru-RU" altLang="ru-RU" sz="2400" b="1" i="1" dirty="0">
                <a:solidFill>
                  <a:srgbClr val="0000FF"/>
                </a:solidFill>
              </a:rPr>
              <a:t>Меры близости (метрики)</a:t>
            </a:r>
          </a:p>
        </p:txBody>
      </p:sp>
    </p:spTree>
    <p:extLst>
      <p:ext uri="{BB962C8B-B14F-4D97-AF65-F5344CB8AC3E}">
        <p14:creationId xmlns:p14="http://schemas.microsoft.com/office/powerpoint/2010/main" val="426238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603710"/>
          </a:xfrm>
        </p:spPr>
        <p:txBody>
          <a:bodyPr>
            <a:normAutofit fontScale="90000"/>
          </a:bodyPr>
          <a:lstStyle/>
          <a:p>
            <a:pPr eaLnBrk="1" hangingPunct="1">
              <a:defRPr/>
            </a:pPr>
            <a:r>
              <a:rPr lang="ru-RU" altLang="ru-RU" dirty="0"/>
              <a:t>Кластеризация</a:t>
            </a:r>
            <a:endParaRPr lang="en-US" altLang="ru-RU"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36</a:t>
            </a:fld>
            <a:endParaRPr lang="ru-RU" dirty="0">
              <a:solidFill>
                <a:schemeClr val="tx1"/>
              </a:solidFill>
            </a:endParaRPr>
          </a:p>
        </p:txBody>
      </p:sp>
      <p:sp>
        <p:nvSpPr>
          <p:cNvPr id="674825" name="Rectangle 9"/>
          <p:cNvSpPr>
            <a:spLocks noChangeArrowheads="1"/>
          </p:cNvSpPr>
          <p:nvPr/>
        </p:nvSpPr>
        <p:spPr bwMode="auto">
          <a:xfrm>
            <a:off x="1005496" y="1649231"/>
            <a:ext cx="10800505" cy="400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85000"/>
              </a:lnSpc>
              <a:spcBef>
                <a:spcPct val="25000"/>
              </a:spcBef>
              <a:buClr>
                <a:srgbClr val="F4BE96"/>
              </a:buClr>
              <a:buSzPct val="80000"/>
              <a:buFont typeface="Segoe" charset="0"/>
              <a:buBlip>
                <a:blip r:embed="rId2"/>
              </a:buBlip>
              <a:defRPr sz="2800">
                <a:solidFill>
                  <a:schemeClr val="tx1"/>
                </a:solidFill>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solidFill>
                  <a:schemeClr val="tx1"/>
                </a:solidFill>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9pPr>
          </a:lstStyle>
          <a:p>
            <a:pPr marL="0" indent="0">
              <a:buNone/>
              <a:defRPr/>
            </a:pPr>
            <a:r>
              <a:rPr lang="ru-RU" altLang="ru-RU" sz="2400" dirty="0">
                <a:effectLst/>
                <a:latin typeface="Times New Roman" panose="02020603050405020304" pitchFamily="18" charset="0"/>
                <a:cs typeface="Times New Roman" panose="02020603050405020304" pitchFamily="18" charset="0"/>
              </a:rPr>
              <a:t>1. Для вычисления степени сходства объектов.</a:t>
            </a:r>
          </a:p>
          <a:p>
            <a:pPr marL="0" indent="0">
              <a:buNone/>
              <a:defRPr/>
            </a:pPr>
            <a:r>
              <a:rPr lang="ru-RU" altLang="ru-RU" sz="2400" dirty="0">
                <a:effectLst/>
                <a:latin typeface="Times New Roman" panose="02020603050405020304" pitchFamily="18" charset="0"/>
                <a:cs typeface="Times New Roman" panose="02020603050405020304" pitchFamily="18" charset="0"/>
              </a:rPr>
              <a:t>Например: содержание каких веб-страниц близко друг к другу, какие пользователи </a:t>
            </a:r>
            <a:r>
              <a:rPr lang="ru-RU" altLang="ru-RU" sz="2400" dirty="0" err="1">
                <a:effectLst/>
                <a:latin typeface="Times New Roman" panose="02020603050405020304" pitchFamily="18" charset="0"/>
                <a:cs typeface="Times New Roman" panose="02020603050405020304" pitchFamily="18" charset="0"/>
              </a:rPr>
              <a:t>соцсети</a:t>
            </a:r>
            <a:r>
              <a:rPr lang="ru-RU" altLang="ru-RU" sz="2400" dirty="0">
                <a:effectLst/>
                <a:latin typeface="Times New Roman" panose="02020603050405020304" pitchFamily="18" charset="0"/>
                <a:cs typeface="Times New Roman" panose="02020603050405020304" pitchFamily="18" charset="0"/>
              </a:rPr>
              <a:t> близки друг к другу по интересам…</a:t>
            </a:r>
          </a:p>
          <a:p>
            <a:pPr marL="0" indent="0">
              <a:buNone/>
              <a:defRPr/>
            </a:pPr>
            <a:r>
              <a:rPr lang="ru-RU" altLang="ru-RU" sz="2400" dirty="0">
                <a:effectLst/>
                <a:latin typeface="Times New Roman" panose="02020603050405020304" pitchFamily="18" charset="0"/>
                <a:cs typeface="Times New Roman" panose="02020603050405020304" pitchFamily="18" charset="0"/>
              </a:rPr>
              <a:t>2. Упростить дальнейшую обработку данных, разбить множество </a:t>
            </a:r>
            <a:r>
              <a:rPr lang="ru-RU" altLang="ru-RU" sz="2400" b="1" i="1" dirty="0">
                <a:effectLst/>
                <a:latin typeface="Times New Roman" panose="02020603050405020304" pitchFamily="18" charset="0"/>
                <a:cs typeface="Times New Roman" panose="02020603050405020304" pitchFamily="18" charset="0"/>
              </a:rPr>
              <a:t>М</a:t>
            </a:r>
            <a:r>
              <a:rPr lang="ru-RU" altLang="ru-RU" sz="2400" dirty="0">
                <a:effectLst/>
                <a:latin typeface="Times New Roman" panose="02020603050405020304" pitchFamily="18" charset="0"/>
                <a:cs typeface="Times New Roman" panose="02020603050405020304" pitchFamily="18" charset="0"/>
              </a:rPr>
              <a:t> на группы схожих объектов чтобы работать с каждой группой в отдельности.</a:t>
            </a:r>
          </a:p>
          <a:p>
            <a:pPr marL="0" indent="0">
              <a:buNone/>
              <a:defRPr/>
            </a:pPr>
            <a:r>
              <a:rPr lang="ru-RU" altLang="ru-RU" sz="2400" dirty="0">
                <a:effectLst/>
                <a:latin typeface="Times New Roman" panose="02020603050405020304" pitchFamily="18" charset="0"/>
                <a:cs typeface="Times New Roman" panose="02020603050405020304" pitchFamily="18" charset="0"/>
              </a:rPr>
              <a:t>3. Сократить объём хранимых данных, оставив по одному представителю (эталону) от каждого кластера (задачи сжатия данных).</a:t>
            </a:r>
          </a:p>
          <a:p>
            <a:pPr marL="0" indent="0">
              <a:buNone/>
              <a:defRPr/>
            </a:pPr>
            <a:r>
              <a:rPr lang="ru-RU" altLang="ru-RU" sz="2400" dirty="0">
                <a:effectLst/>
                <a:latin typeface="Times New Roman" panose="02020603050405020304" pitchFamily="18" charset="0"/>
                <a:cs typeface="Times New Roman" panose="02020603050405020304" pitchFamily="18" charset="0"/>
              </a:rPr>
              <a:t>4. Обнаружение новизны. Выделяются нетипичные объекты, которые не удаётся присоединить ни к одному из кластеров. (Поиск выбросов).</a:t>
            </a:r>
          </a:p>
          <a:p>
            <a:pPr marL="0" indent="0">
              <a:buNone/>
              <a:defRPr/>
            </a:pPr>
            <a:r>
              <a:rPr lang="ru-RU" altLang="ru-RU" sz="2400" dirty="0">
                <a:effectLst/>
                <a:latin typeface="Times New Roman" panose="02020603050405020304" pitchFamily="18" charset="0"/>
                <a:cs typeface="Times New Roman" panose="02020603050405020304" pitchFamily="18" charset="0"/>
              </a:rPr>
              <a:t>5. Разбить признаки на кластеры и оставить по одному признаку из каждого кластера (отбор признаков).</a:t>
            </a:r>
          </a:p>
        </p:txBody>
      </p:sp>
      <p:sp>
        <p:nvSpPr>
          <p:cNvPr id="674826" name="Rectangle 10"/>
          <p:cNvSpPr>
            <a:spLocks noChangeArrowheads="1"/>
          </p:cNvSpPr>
          <p:nvPr/>
        </p:nvSpPr>
        <p:spPr bwMode="auto">
          <a:xfrm>
            <a:off x="3185784" y="912145"/>
            <a:ext cx="7936242" cy="472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eaLnBrk="1" hangingPunct="1">
              <a:defRPr/>
            </a:pPr>
            <a:r>
              <a:rPr lang="ru-RU" altLang="ru-RU" sz="2909" dirty="0">
                <a:effectLst/>
              </a:rPr>
              <a:t>Для чего нужна кластеризация?</a:t>
            </a:r>
            <a:endParaRPr lang="en-US" altLang="ru-RU" sz="2909" dirty="0">
              <a:effectLst/>
            </a:endParaRPr>
          </a:p>
        </p:txBody>
      </p:sp>
    </p:spTree>
    <p:extLst>
      <p:ext uri="{BB962C8B-B14F-4D97-AF65-F5344CB8AC3E}">
        <p14:creationId xmlns:p14="http://schemas.microsoft.com/office/powerpoint/2010/main" val="1939522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48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48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482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482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482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748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149549" y="322263"/>
            <a:ext cx="11161240" cy="619321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603710"/>
          </a:xfrm>
        </p:spPr>
        <p:txBody>
          <a:bodyPr>
            <a:normAutofit fontScale="90000"/>
          </a:bodyPr>
          <a:lstStyle/>
          <a:p>
            <a:pPr eaLnBrk="1" hangingPunct="1">
              <a:defRPr/>
            </a:pPr>
            <a:r>
              <a:rPr lang="ru-RU" altLang="ru-RU" dirty="0"/>
              <a:t>Кластеризация</a:t>
            </a:r>
            <a:endParaRPr lang="en-US" altLang="ru-RU" dirty="0"/>
          </a:p>
        </p:txBody>
      </p:sp>
      <p:sp>
        <p:nvSpPr>
          <p:cNvPr id="3" name="Номер слайда 2"/>
          <p:cNvSpPr>
            <a:spLocks noGrp="1"/>
          </p:cNvSpPr>
          <p:nvPr>
            <p:ph type="sldNum" sz="quarter" idx="12"/>
          </p:nvPr>
        </p:nvSpPr>
        <p:spPr>
          <a:xfrm>
            <a:off x="11302677" y="6605015"/>
            <a:ext cx="732162" cy="379409"/>
          </a:xfrm>
        </p:spPr>
        <p:txBody>
          <a:bodyPr/>
          <a:lstStyle/>
          <a:p>
            <a:fld id="{952B6C0E-C4B9-4094-8E59-5B7DF00D5415}" type="slidenum">
              <a:rPr lang="ru-RU" sz="1400">
                <a:solidFill>
                  <a:schemeClr val="tx1"/>
                </a:solidFill>
              </a:rPr>
              <a:t>37</a:t>
            </a:fld>
            <a:endParaRPr lang="ru-RU" dirty="0">
              <a:solidFill>
                <a:schemeClr val="tx1"/>
              </a:solidFill>
            </a:endParaRPr>
          </a:p>
        </p:txBody>
      </p:sp>
      <p:sp>
        <p:nvSpPr>
          <p:cNvPr id="674825" name="Rectangle 9"/>
          <p:cNvSpPr>
            <a:spLocks noChangeArrowheads="1"/>
          </p:cNvSpPr>
          <p:nvPr/>
        </p:nvSpPr>
        <p:spPr bwMode="auto">
          <a:xfrm>
            <a:off x="1077541" y="2175120"/>
            <a:ext cx="11089232" cy="225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85000"/>
              </a:lnSpc>
              <a:spcBef>
                <a:spcPct val="25000"/>
              </a:spcBef>
              <a:buClr>
                <a:srgbClr val="F4BE96"/>
              </a:buClr>
              <a:buSzPct val="80000"/>
              <a:buFont typeface="Segoe" charset="0"/>
              <a:buBlip>
                <a:blip r:embed="rId2"/>
              </a:buBlip>
              <a:defRPr sz="2800">
                <a:solidFill>
                  <a:schemeClr val="tx1"/>
                </a:solidFill>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solidFill>
                  <a:schemeClr val="tx1"/>
                </a:solidFill>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9pPr>
          </a:lstStyle>
          <a:p>
            <a:pPr eaLnBrk="1" hangingPunct="1">
              <a:buClr>
                <a:srgbClr val="0070C0"/>
              </a:buClr>
              <a:buFont typeface="Wingdings" panose="05000000000000000000" pitchFamily="2" charset="2"/>
              <a:buChar char="Ø"/>
              <a:defRPr/>
            </a:pPr>
            <a:r>
              <a:rPr lang="ru-RU" altLang="ru-RU" sz="2400" dirty="0">
                <a:effectLst/>
                <a:latin typeface="Times New Roman" panose="02020603050405020304" pitchFamily="18" charset="0"/>
                <a:cs typeface="Times New Roman" panose="02020603050405020304" pitchFamily="18" charset="0"/>
              </a:rPr>
              <a:t>Минимально возможное количество проходов по базе данных; </a:t>
            </a:r>
          </a:p>
          <a:p>
            <a:pPr eaLnBrk="1" hangingPunct="1">
              <a:buClr>
                <a:srgbClr val="0070C0"/>
              </a:buClr>
              <a:buFont typeface="Wingdings" panose="05000000000000000000" pitchFamily="2" charset="2"/>
              <a:buChar char="Ø"/>
              <a:defRPr/>
            </a:pPr>
            <a:r>
              <a:rPr lang="ru-RU" altLang="ru-RU" sz="2400" dirty="0">
                <a:effectLst/>
                <a:latin typeface="Times New Roman" panose="02020603050405020304" pitchFamily="18" charset="0"/>
                <a:cs typeface="Times New Roman" panose="02020603050405020304" pitchFamily="18" charset="0"/>
              </a:rPr>
              <a:t>Работа в ограниченном объеме оперативной памяти компьютера; </a:t>
            </a:r>
          </a:p>
          <a:p>
            <a:pPr eaLnBrk="1" hangingPunct="1">
              <a:buClr>
                <a:srgbClr val="0070C0"/>
              </a:buClr>
              <a:buFont typeface="Wingdings" panose="05000000000000000000" pitchFamily="2" charset="2"/>
              <a:buChar char="Ø"/>
              <a:defRPr/>
            </a:pPr>
            <a:r>
              <a:rPr lang="ru-RU" altLang="ru-RU" sz="2400" dirty="0">
                <a:effectLst/>
                <a:latin typeface="Times New Roman" panose="02020603050405020304" pitchFamily="18" charset="0"/>
                <a:cs typeface="Times New Roman" panose="02020603050405020304" pitchFamily="18" charset="0"/>
              </a:rPr>
              <a:t>Работу алгоритма можно прервать с сохранением промежуточных результатов, чтобы продолжить вычисления позже; </a:t>
            </a:r>
          </a:p>
          <a:p>
            <a:pPr eaLnBrk="1" hangingPunct="1">
              <a:buClr>
                <a:srgbClr val="0070C0"/>
              </a:buClr>
              <a:buFont typeface="Wingdings" panose="05000000000000000000" pitchFamily="2" charset="2"/>
              <a:buChar char="Ø"/>
              <a:defRPr/>
            </a:pPr>
            <a:r>
              <a:rPr lang="ru-RU" altLang="ru-RU" sz="2400" dirty="0">
                <a:effectLst/>
                <a:latin typeface="Times New Roman" panose="02020603050405020304" pitchFamily="18" charset="0"/>
                <a:cs typeface="Times New Roman" panose="02020603050405020304" pitchFamily="18" charset="0"/>
              </a:rPr>
              <a:t>Алгоритм должен работать, пока извлекаются объекты из базы данных только в режиме однонаправленного курсора (т.е. в режиме навигации по записям).</a:t>
            </a:r>
          </a:p>
        </p:txBody>
      </p:sp>
      <p:sp>
        <p:nvSpPr>
          <p:cNvPr id="674826" name="Rectangle 10"/>
          <p:cNvSpPr>
            <a:spLocks noChangeArrowheads="1"/>
          </p:cNvSpPr>
          <p:nvPr/>
        </p:nvSpPr>
        <p:spPr bwMode="auto">
          <a:xfrm>
            <a:off x="2165246" y="1368466"/>
            <a:ext cx="7936242" cy="491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eaLnBrk="1" hangingPunct="1">
              <a:defRPr/>
            </a:pPr>
            <a:r>
              <a:rPr lang="ru-RU" altLang="ru-RU" sz="2909" dirty="0">
                <a:effectLst/>
              </a:rPr>
              <a:t>Требования к алгоритмам кластеризации:</a:t>
            </a:r>
            <a:endParaRPr lang="en-US" altLang="ru-RU" sz="2909" dirty="0">
              <a:effectLst/>
            </a:endParaRPr>
          </a:p>
        </p:txBody>
      </p:sp>
    </p:spTree>
    <p:extLst>
      <p:ext uri="{BB962C8B-B14F-4D97-AF65-F5344CB8AC3E}">
        <p14:creationId xmlns:p14="http://schemas.microsoft.com/office/powerpoint/2010/main" val="212080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48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482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482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48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5"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87075" y="314345"/>
            <a:ext cx="12169352" cy="619321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dirty="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603710"/>
          </a:xfrm>
        </p:spPr>
        <p:txBody>
          <a:bodyPr>
            <a:normAutofit fontScale="90000"/>
          </a:bodyPr>
          <a:lstStyle/>
          <a:p>
            <a:pPr eaLnBrk="1" hangingPunct="1">
              <a:defRPr/>
            </a:pPr>
            <a:r>
              <a:rPr lang="ru-RU" altLang="ru-RU" dirty="0"/>
              <a:t>Кластеризация</a:t>
            </a:r>
            <a:endParaRPr lang="en-US" altLang="ru-RU" dirty="0"/>
          </a:p>
        </p:txBody>
      </p:sp>
      <p:sp>
        <p:nvSpPr>
          <p:cNvPr id="3" name="Номер слайда 2"/>
          <p:cNvSpPr>
            <a:spLocks noGrp="1"/>
          </p:cNvSpPr>
          <p:nvPr>
            <p:ph type="sldNum" sz="quarter" idx="12"/>
          </p:nvPr>
        </p:nvSpPr>
        <p:spPr>
          <a:xfrm>
            <a:off x="11302677" y="6605015"/>
            <a:ext cx="732162" cy="379409"/>
          </a:xfrm>
        </p:spPr>
        <p:txBody>
          <a:bodyPr/>
          <a:lstStyle/>
          <a:p>
            <a:fld id="{952B6C0E-C4B9-4094-8E59-5B7DF00D5415}" type="slidenum">
              <a:rPr lang="ru-RU" sz="1400">
                <a:solidFill>
                  <a:schemeClr val="tx1"/>
                </a:solidFill>
              </a:rPr>
              <a:t>38</a:t>
            </a:fld>
            <a:endParaRPr lang="ru-RU" dirty="0">
              <a:solidFill>
                <a:schemeClr val="tx1"/>
              </a:solidFill>
            </a:endParaRPr>
          </a:p>
        </p:txBody>
      </p:sp>
      <p:sp>
        <p:nvSpPr>
          <p:cNvPr id="674825" name="Rectangle 9"/>
          <p:cNvSpPr>
            <a:spLocks noChangeArrowheads="1"/>
          </p:cNvSpPr>
          <p:nvPr/>
        </p:nvSpPr>
        <p:spPr bwMode="auto">
          <a:xfrm>
            <a:off x="472570" y="1460076"/>
            <a:ext cx="11089232"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85000"/>
              </a:lnSpc>
              <a:spcBef>
                <a:spcPct val="25000"/>
              </a:spcBef>
              <a:buClr>
                <a:srgbClr val="F4BE96"/>
              </a:buClr>
              <a:buSzPct val="80000"/>
              <a:buFont typeface="Segoe" charset="0"/>
              <a:buBlip>
                <a:blip r:embed="rId2"/>
              </a:buBlip>
              <a:defRPr sz="2800">
                <a:solidFill>
                  <a:schemeClr val="tx1"/>
                </a:solidFill>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solidFill>
                  <a:schemeClr val="tx1"/>
                </a:solidFill>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9pPr>
          </a:lstStyle>
          <a:p>
            <a:pPr eaLnBrk="1" hangingPunct="1">
              <a:buClr>
                <a:srgbClr val="0070C0"/>
              </a:buClr>
              <a:buFont typeface="Wingdings" panose="05000000000000000000" pitchFamily="2" charset="2"/>
              <a:buChar char="Ø"/>
              <a:defRPr/>
            </a:pPr>
            <a:r>
              <a:rPr lang="ru-RU" altLang="ru-RU" sz="2400" dirty="0">
                <a:effectLst/>
                <a:latin typeface="Times New Roman" panose="02020603050405020304" pitchFamily="18" charset="0"/>
                <a:cs typeface="Times New Roman" panose="02020603050405020304" pitchFamily="18" charset="0"/>
              </a:rPr>
              <a:t>Логично минимизировать </a:t>
            </a:r>
            <a:r>
              <a:rPr lang="ru-RU" altLang="ru-RU" sz="2400" dirty="0" err="1">
                <a:effectLst/>
                <a:latin typeface="Times New Roman" panose="02020603050405020304" pitchFamily="18" charset="0"/>
                <a:cs typeface="Times New Roman" panose="02020603050405020304" pitchFamily="18" charset="0"/>
              </a:rPr>
              <a:t>внутрикластерное</a:t>
            </a:r>
            <a:r>
              <a:rPr lang="ru-RU" altLang="ru-RU" sz="2400" dirty="0">
                <a:effectLst/>
                <a:latin typeface="Times New Roman" panose="02020603050405020304" pitchFamily="18" charset="0"/>
                <a:cs typeface="Times New Roman" panose="02020603050405020304" pitchFamily="18" charset="0"/>
              </a:rPr>
              <a:t> расстояние: </a:t>
            </a:r>
          </a:p>
        </p:txBody>
      </p:sp>
      <p:sp>
        <p:nvSpPr>
          <p:cNvPr id="674826" name="Rectangle 10"/>
          <p:cNvSpPr>
            <a:spLocks noChangeArrowheads="1"/>
          </p:cNvSpPr>
          <p:nvPr/>
        </p:nvSpPr>
        <p:spPr bwMode="auto">
          <a:xfrm>
            <a:off x="1941637" y="856563"/>
            <a:ext cx="9620165" cy="472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wrap="square">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eaLnBrk="1" hangingPunct="1">
              <a:defRPr/>
            </a:pPr>
            <a:r>
              <a:rPr lang="ru-RU" altLang="ru-RU" sz="2909" dirty="0">
                <a:effectLst/>
              </a:rPr>
              <a:t>Как оценить качество (сходство) кластеризации:</a:t>
            </a:r>
            <a:endParaRPr lang="en-US" altLang="ru-RU" sz="2909" dirty="0">
              <a:effectLst/>
            </a:endParaRPr>
          </a:p>
        </p:txBody>
      </p:sp>
      <p:sp>
        <p:nvSpPr>
          <p:cNvPr id="10" name="Rectangle 1">
            <a:extLst>
              <a:ext uri="{FF2B5EF4-FFF2-40B4-BE49-F238E27FC236}">
                <a16:creationId xmlns:a16="http://schemas.microsoft.com/office/drawing/2014/main" id="{D61AFADA-F711-4C83-95A7-60E2BA40DAF3}"/>
              </a:ext>
            </a:extLst>
          </p:cNvPr>
          <p:cNvSpPr>
            <a:spLocks noChangeArrowheads="1"/>
          </p:cNvSpPr>
          <p:nvPr/>
        </p:nvSpPr>
        <p:spPr bwMode="auto">
          <a:xfrm>
            <a:off x="671902" y="5040148"/>
            <a:ext cx="116845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i</a:t>
            </a:r>
            <a:r>
              <a:rPr kumimoji="0" lang="ru-RU" altLang="ru-RU" sz="1600" b="0" i="1" u="none" strike="noStrike" cap="none" normalizeH="0" baseline="-25000" dirty="0">
                <a:ln>
                  <a:noFill/>
                </a:ln>
                <a:solidFill>
                  <a:schemeClr val="tx1"/>
                </a:solidFill>
                <a:effectLst/>
                <a:latin typeface="Arial" panose="020B0604020202020204" pitchFamily="34" charset="0"/>
              </a:rPr>
              <a:t>​</a:t>
            </a:r>
            <a:r>
              <a:rPr kumimoji="0" lang="ru-RU" altLang="ru-RU" sz="1600" b="0" i="1" u="none" strike="noStrike" cap="none" normalizeH="0" baseline="0" dirty="0">
                <a:ln>
                  <a:noFill/>
                </a:ln>
                <a:solidFill>
                  <a:schemeClr val="tx1"/>
                </a:solidFill>
                <a:effectLst/>
                <a:latin typeface="Arial" panose="020B0604020202020204" pitchFamily="34" charset="0"/>
              </a:rPr>
              <a:t>,</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j</a:t>
            </a:r>
            <a:r>
              <a:rPr kumimoji="0" lang="ru-RU" altLang="ru-RU" sz="1600" b="0" i="1" u="none" strike="noStrike" cap="none" normalizeH="0" baseline="-25000" dirty="0">
                <a:ln>
                  <a:noFill/>
                </a:ln>
                <a:solidFill>
                  <a:schemeClr val="tx1"/>
                </a:solidFill>
                <a:effectLst/>
                <a:latin typeface="Arial" panose="020B0604020202020204" pitchFamily="34" charset="0"/>
              </a:rPr>
              <a:t>​</a:t>
            </a:r>
            <a:r>
              <a:rPr kumimoji="0" lang="ru-RU"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 объекты (точки) в </a:t>
            </a:r>
            <a:r>
              <a:rPr kumimoji="0" lang="en-US" altLang="ru-RU" sz="1600" b="0" i="0" u="none" strike="noStrike" cap="none" normalizeH="0" baseline="0" dirty="0">
                <a:ln>
                  <a:noFill/>
                </a:ln>
                <a:solidFill>
                  <a:schemeClr val="tx1"/>
                </a:solidFill>
                <a:effectLst/>
                <a:latin typeface="Arial" panose="020B0604020202020204" pitchFamily="34" charset="0"/>
              </a:rPr>
              <a:t>n</a:t>
            </a:r>
            <a:r>
              <a:rPr kumimoji="0" lang="ru-RU" altLang="ru-RU" sz="1600" b="0" i="0" u="none" strike="noStrike" cap="none" normalizeH="0" baseline="0" dirty="0">
                <a:ln>
                  <a:noFill/>
                </a:ln>
                <a:solidFill>
                  <a:schemeClr val="tx1"/>
                </a:solidFill>
                <a:effectLst/>
                <a:latin typeface="Arial" panose="020B0604020202020204" pitchFamily="34" charset="0"/>
              </a:rPr>
              <a:t>-мерном пространстве.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a:ln>
                  <a:noFill/>
                </a:ln>
                <a:solidFill>
                  <a:schemeClr val="tx1"/>
                </a:solidFill>
                <a:effectLst/>
                <a:latin typeface="Arial" panose="020B0604020202020204" pitchFamily="34" charset="0"/>
              </a:rPr>
              <a:t>c(</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i</a:t>
            </a:r>
            <a:r>
              <a:rPr kumimoji="0" lang="ru-RU"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 номер кластера, к которому отнесена точка </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i</a:t>
            </a:r>
            <a:r>
              <a:rPr kumimoji="0" lang="ru-RU" altLang="ru-RU"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a:ln>
                  <a:noFill/>
                </a:ln>
                <a:solidFill>
                  <a:schemeClr val="tx1"/>
                </a:solidFill>
                <a:effectLst/>
                <a:latin typeface="Arial" panose="020B0604020202020204" pitchFamily="34" charset="0"/>
              </a:rPr>
              <a:t>ρ(</a:t>
            </a:r>
            <a:r>
              <a:rPr kumimoji="0" lang="ru-RU" altLang="ru-RU" sz="1600" b="0" i="1" u="none" strike="noStrike" cap="none" normalizeH="0" baseline="0" dirty="0" err="1">
                <a:ln>
                  <a:noFill/>
                </a:ln>
                <a:solidFill>
                  <a:schemeClr val="tx1"/>
                </a:solidFill>
                <a:effectLst/>
                <a:latin typeface="Arial" panose="020B0604020202020204" pitchFamily="34" charset="0"/>
              </a:rPr>
              <a:t>xi,xj</a:t>
            </a:r>
            <a:r>
              <a:rPr kumimoji="0" lang="ru-RU"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 функция расстояния между точками (например, евклидово расстояние).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Суммирование </a:t>
            </a:r>
            <a:r>
              <a:rPr kumimoji="0" lang="ru-RU" altLang="ru-RU" sz="1600" b="0" i="1" u="none" strike="noStrike" cap="none" normalizeH="0" baseline="0" dirty="0">
                <a:ln>
                  <a:noFill/>
                </a:ln>
                <a:solidFill>
                  <a:schemeClr val="tx1"/>
                </a:solidFill>
                <a:effectLst/>
                <a:latin typeface="Arial" panose="020B0604020202020204" pitchFamily="34" charset="0"/>
              </a:rPr>
              <a:t>∑i&lt;j</a:t>
            </a:r>
            <a:r>
              <a:rPr lang="en-US" altLang="ru-RU" sz="1600" i="1" dirty="0"/>
              <a:t> </a:t>
            </a:r>
            <a:r>
              <a:rPr kumimoji="0" lang="ru-RU" altLang="ru-RU" sz="1600" b="0" i="0" u="none" strike="noStrike" cap="none" normalizeH="0" baseline="0" dirty="0">
                <a:ln>
                  <a:noFill/>
                </a:ln>
                <a:solidFill>
                  <a:schemeClr val="tx1"/>
                </a:solidFill>
                <a:effectLst/>
                <a:latin typeface="Arial" panose="020B0604020202020204" pitchFamily="34" charset="0"/>
              </a:rPr>
              <a:t>означает, что мы рассматриваем все </a:t>
            </a:r>
            <a:r>
              <a:rPr kumimoji="0" lang="ru-RU" altLang="ru-RU" sz="1600" b="1" i="0" u="none" strike="noStrike" cap="none" normalizeH="0" baseline="0" dirty="0">
                <a:ln>
                  <a:noFill/>
                </a:ln>
                <a:solidFill>
                  <a:schemeClr val="tx1"/>
                </a:solidFill>
                <a:effectLst/>
                <a:latin typeface="Arial" panose="020B0604020202020204" pitchFamily="34" charset="0"/>
              </a:rPr>
              <a:t>упорядоченные пары</a:t>
            </a:r>
            <a:r>
              <a:rPr kumimoji="0" lang="ru-RU"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a:ln>
                  <a:noFill/>
                </a:ln>
                <a:solidFill>
                  <a:schemeClr val="tx1"/>
                </a:solidFill>
                <a:effectLst/>
                <a:latin typeface="Arial" panose="020B0604020202020204" pitchFamily="34" charset="0"/>
              </a:rPr>
              <a:t>(</a:t>
            </a:r>
            <a:r>
              <a:rPr kumimoji="0" lang="ru-RU" altLang="ru-RU" sz="1600" b="0" i="1" u="none" strike="noStrike" cap="none" normalizeH="0" baseline="0" dirty="0" err="1">
                <a:ln>
                  <a:noFill/>
                </a:ln>
                <a:solidFill>
                  <a:schemeClr val="tx1"/>
                </a:solidFill>
                <a:effectLst/>
                <a:latin typeface="Arial" panose="020B0604020202020204" pitchFamily="34" charset="0"/>
              </a:rPr>
              <a:t>i,j</a:t>
            </a:r>
            <a:r>
              <a:rPr kumimoji="0" lang="ru-RU" altLang="ru-RU" sz="1600" b="0" i="1" u="none" strike="noStrike" cap="none" normalizeH="0" baseline="0" dirty="0">
                <a:ln>
                  <a:noFill/>
                </a:ln>
                <a:solidFill>
                  <a:schemeClr val="tx1"/>
                </a:solidFill>
                <a:effectLst/>
                <a:latin typeface="Arial" panose="020B0604020202020204" pitchFamily="34" charset="0"/>
              </a:rPr>
              <a:t>)</a:t>
            </a: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с </a:t>
            </a:r>
            <a:r>
              <a:rPr kumimoji="0" lang="ru-RU" altLang="ru-RU" sz="1600" b="0" i="1" u="none" strike="noStrike" cap="none" normalizeH="0" baseline="0" dirty="0">
                <a:ln>
                  <a:noFill/>
                </a:ln>
                <a:solidFill>
                  <a:schemeClr val="tx1"/>
                </a:solidFill>
                <a:effectLst/>
                <a:latin typeface="Arial" panose="020B0604020202020204" pitchFamily="34" charset="0"/>
              </a:rPr>
              <a:t>i&lt;j</a:t>
            </a:r>
            <a:r>
              <a:rPr kumimoji="0" lang="ru-RU" altLang="ru-RU" sz="1600" b="0" i="0" u="none" strike="noStrike" cap="none" normalizeH="0" baseline="0" dirty="0">
                <a:ln>
                  <a:noFill/>
                </a:ln>
                <a:solidFill>
                  <a:schemeClr val="tx1"/>
                </a:solidFill>
                <a:effectLst/>
                <a:latin typeface="Arial" panose="020B0604020202020204" pitchFamily="34" charset="0"/>
              </a:rPr>
              <a:t>, чтобы каждую пару учесть ровно один раз.</a:t>
            </a:r>
          </a:p>
        </p:txBody>
      </p:sp>
      <p:pic>
        <p:nvPicPr>
          <p:cNvPr id="12" name="Рисунок 11">
            <a:extLst>
              <a:ext uri="{FF2B5EF4-FFF2-40B4-BE49-F238E27FC236}">
                <a16:creationId xmlns:a16="http://schemas.microsoft.com/office/drawing/2014/main" id="{6DF57348-AAED-48A1-8356-84ADD25078A0}"/>
              </a:ext>
            </a:extLst>
          </p:cNvPr>
          <p:cNvPicPr>
            <a:picLocks noChangeAspect="1"/>
          </p:cNvPicPr>
          <p:nvPr/>
        </p:nvPicPr>
        <p:blipFill>
          <a:blip r:embed="rId3"/>
          <a:stretch>
            <a:fillRect/>
          </a:stretch>
        </p:blipFill>
        <p:spPr>
          <a:xfrm>
            <a:off x="3597821" y="2042934"/>
            <a:ext cx="3972479" cy="1009791"/>
          </a:xfrm>
          <a:prstGeom prst="rect">
            <a:avLst/>
          </a:prstGeom>
        </p:spPr>
      </p:pic>
      <p:sp>
        <p:nvSpPr>
          <p:cNvPr id="19" name="TextBox 18">
            <a:extLst>
              <a:ext uri="{FF2B5EF4-FFF2-40B4-BE49-F238E27FC236}">
                <a16:creationId xmlns:a16="http://schemas.microsoft.com/office/drawing/2014/main" id="{9DBFE107-C0F0-487B-B308-3DDBBA0BF210}"/>
              </a:ext>
            </a:extLst>
          </p:cNvPr>
          <p:cNvSpPr txBox="1"/>
          <p:nvPr/>
        </p:nvSpPr>
        <p:spPr>
          <a:xfrm>
            <a:off x="698272" y="3229319"/>
            <a:ext cx="12119886" cy="1323439"/>
          </a:xfrm>
          <a:prstGeom prst="rect">
            <a:avLst/>
          </a:prstGeom>
          <a:noFill/>
        </p:spPr>
        <p:txBody>
          <a:bodyPr wrap="square">
            <a:spAutoFit/>
          </a:bodyPr>
          <a:lstStyle/>
          <a:p>
            <a:pPr>
              <a:buFont typeface="Arial" panose="020B0604020202020204" pitchFamily="34" charset="0"/>
              <a:buChar char="•"/>
            </a:pPr>
            <a:r>
              <a:rPr lang="ru-RU" sz="1600" b="1" i="1" dirty="0"/>
              <a:t>Числитель</a:t>
            </a:r>
            <a:r>
              <a:rPr lang="ru-RU" sz="1600" i="1" dirty="0"/>
              <a:t> — сумма расстояний между всеми парами точек, которые </a:t>
            </a:r>
            <a:r>
              <a:rPr lang="ru-RU" sz="1600" b="1" i="1" dirty="0"/>
              <a:t>попали в один кластер</a:t>
            </a:r>
            <a:r>
              <a:rPr lang="ru-RU" sz="1600" i="1" dirty="0"/>
              <a:t>.</a:t>
            </a:r>
          </a:p>
          <a:p>
            <a:pPr>
              <a:buFont typeface="Arial" panose="020B0604020202020204" pitchFamily="34" charset="0"/>
              <a:buChar char="•"/>
            </a:pPr>
            <a:r>
              <a:rPr lang="ru-RU" sz="1600" b="1" i="1" dirty="0"/>
              <a:t>Знаменатель</a:t>
            </a:r>
            <a:r>
              <a:rPr lang="ru-RU" sz="1600" i="1" dirty="0"/>
              <a:t> — количество таких пар (т.е. число пар точек, лежащих в одном кластере).</a:t>
            </a:r>
          </a:p>
          <a:p>
            <a:r>
              <a:rPr lang="ru-RU" sz="1600" b="1" i="1" dirty="0"/>
              <a:t>Результат</a:t>
            </a:r>
            <a:r>
              <a:rPr lang="ru-RU" sz="1600" i="1" dirty="0"/>
              <a:t> — среднее расстояние между точками внутри одного и того же кластера.</a:t>
            </a:r>
            <a:r>
              <a:rPr lang="en-US" sz="1600" i="1" dirty="0"/>
              <a:t> </a:t>
            </a:r>
            <a:r>
              <a:rPr lang="ru-RU" sz="1600" i="1" dirty="0"/>
              <a:t>Логично, что хорошая кластеризация должна делать кластеры компактными: точки внутри кластера должны быть как можно ближе друг к другу. </a:t>
            </a:r>
          </a:p>
        </p:txBody>
      </p:sp>
      <p:sp>
        <p:nvSpPr>
          <p:cNvPr id="27" name="TextBox 26">
            <a:extLst>
              <a:ext uri="{FF2B5EF4-FFF2-40B4-BE49-F238E27FC236}">
                <a16:creationId xmlns:a16="http://schemas.microsoft.com/office/drawing/2014/main" id="{20CEAC9B-A172-478E-AB28-D339A3BFBCD1}"/>
              </a:ext>
            </a:extLst>
          </p:cNvPr>
          <p:cNvSpPr txBox="1"/>
          <p:nvPr/>
        </p:nvSpPr>
        <p:spPr>
          <a:xfrm>
            <a:off x="10758176" y="2341819"/>
            <a:ext cx="720080" cy="40011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(1)</a:t>
            </a:r>
            <a:endParaRPr lang="ru-RU" dirty="0"/>
          </a:p>
        </p:txBody>
      </p:sp>
    </p:spTree>
    <p:extLst>
      <p:ext uri="{BB962C8B-B14F-4D97-AF65-F5344CB8AC3E}">
        <p14:creationId xmlns:p14="http://schemas.microsoft.com/office/powerpoint/2010/main" val="372530517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482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5"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1901826" y="258763"/>
            <a:ext cx="8864600" cy="603710"/>
          </a:xfrm>
        </p:spPr>
        <p:txBody>
          <a:bodyPr>
            <a:normAutofit fontScale="90000"/>
          </a:bodyPr>
          <a:lstStyle/>
          <a:p>
            <a:pPr eaLnBrk="1" hangingPunct="1">
              <a:defRPr/>
            </a:pPr>
            <a:r>
              <a:rPr lang="ru-RU" altLang="ru-RU" dirty="0"/>
              <a:t>Кластеризация</a:t>
            </a:r>
            <a:endParaRPr lang="en-US" altLang="ru-RU" dirty="0"/>
          </a:p>
        </p:txBody>
      </p:sp>
      <p:sp>
        <p:nvSpPr>
          <p:cNvPr id="3" name="Номер слайда 2"/>
          <p:cNvSpPr>
            <a:spLocks noGrp="1"/>
          </p:cNvSpPr>
          <p:nvPr>
            <p:ph type="sldNum" sz="quarter" idx="12"/>
          </p:nvPr>
        </p:nvSpPr>
        <p:spPr>
          <a:xfrm>
            <a:off x="11302677" y="6605015"/>
            <a:ext cx="732162" cy="379409"/>
          </a:xfrm>
        </p:spPr>
        <p:txBody>
          <a:bodyPr/>
          <a:lstStyle/>
          <a:p>
            <a:fld id="{952B6C0E-C4B9-4094-8E59-5B7DF00D5415}" type="slidenum">
              <a:rPr lang="ru-RU" sz="1400">
                <a:solidFill>
                  <a:schemeClr val="tx1"/>
                </a:solidFill>
              </a:rPr>
              <a:t>39</a:t>
            </a:fld>
            <a:endParaRPr lang="ru-RU" dirty="0">
              <a:solidFill>
                <a:schemeClr val="tx1"/>
              </a:solidFill>
            </a:endParaRPr>
          </a:p>
        </p:txBody>
      </p:sp>
      <p:sp>
        <p:nvSpPr>
          <p:cNvPr id="674826" name="Rectangle 10"/>
          <p:cNvSpPr>
            <a:spLocks noChangeArrowheads="1"/>
          </p:cNvSpPr>
          <p:nvPr/>
        </p:nvSpPr>
        <p:spPr bwMode="auto">
          <a:xfrm>
            <a:off x="2578942" y="856563"/>
            <a:ext cx="7936242" cy="491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eaLnBrk="1" hangingPunct="1">
              <a:defRPr/>
            </a:pPr>
            <a:r>
              <a:rPr lang="ru-RU" altLang="ru-RU" sz="2909" dirty="0">
                <a:effectLst/>
              </a:rPr>
              <a:t>Как оценить качество кластеризации:</a:t>
            </a:r>
            <a:endParaRPr lang="en-US" altLang="ru-RU" sz="2909" dirty="0">
              <a:effectLst/>
            </a:endParaRPr>
          </a:p>
        </p:txBody>
      </p:sp>
      <p:sp>
        <p:nvSpPr>
          <p:cNvPr id="14" name="Rectangle 9">
            <a:extLst>
              <a:ext uri="{FF2B5EF4-FFF2-40B4-BE49-F238E27FC236}">
                <a16:creationId xmlns:a16="http://schemas.microsoft.com/office/drawing/2014/main" id="{9C2C8A3C-BDB8-41C0-B519-88A860A847C3}"/>
              </a:ext>
            </a:extLst>
          </p:cNvPr>
          <p:cNvSpPr>
            <a:spLocks noChangeArrowheads="1"/>
          </p:cNvSpPr>
          <p:nvPr/>
        </p:nvSpPr>
        <p:spPr bwMode="auto">
          <a:xfrm>
            <a:off x="652011" y="1546591"/>
            <a:ext cx="11089232"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533400" indent="-533400">
              <a:lnSpc>
                <a:spcPct val="85000"/>
              </a:lnSpc>
              <a:spcBef>
                <a:spcPct val="25000"/>
              </a:spcBef>
              <a:buClr>
                <a:srgbClr val="F4BE96"/>
              </a:buClr>
              <a:buSzPct val="80000"/>
              <a:buFont typeface="Segoe" charset="0"/>
              <a:buBlip>
                <a:blip r:embed="rId2"/>
              </a:buBlip>
              <a:defRPr sz="2800">
                <a:solidFill>
                  <a:schemeClr val="tx1"/>
                </a:solidFill>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solidFill>
                  <a:schemeClr val="tx1"/>
                </a:solidFill>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solidFill>
                  <a:schemeClr val="tx1"/>
                </a:solidFill>
                <a:effectLst>
                  <a:outerShdw blurRad="38100" dist="38100" dir="2700000" algn="tl">
                    <a:srgbClr val="000000"/>
                  </a:outerShdw>
                </a:effectLst>
                <a:latin typeface="Segoe" charset="0"/>
              </a:defRPr>
            </a:lvl9pPr>
          </a:lstStyle>
          <a:p>
            <a:pPr eaLnBrk="1" hangingPunct="1">
              <a:buClr>
                <a:srgbClr val="0070C0"/>
              </a:buClr>
              <a:buFont typeface="Wingdings" panose="05000000000000000000" pitchFamily="2" charset="2"/>
              <a:buChar char="Ø"/>
              <a:defRPr/>
            </a:pPr>
            <a:r>
              <a:rPr lang="ru-RU" altLang="ru-RU" sz="2400" dirty="0">
                <a:effectLst/>
                <a:latin typeface="Times New Roman" panose="02020603050405020304" pitchFamily="18" charset="0"/>
                <a:cs typeface="Times New Roman" panose="02020603050405020304" pitchFamily="18" charset="0"/>
              </a:rPr>
              <a:t>И максимизировать </a:t>
            </a:r>
            <a:r>
              <a:rPr lang="ru-RU" altLang="ru-RU" sz="2400" dirty="0" err="1">
                <a:effectLst/>
                <a:latin typeface="Times New Roman" panose="02020603050405020304" pitchFamily="18" charset="0"/>
                <a:cs typeface="Times New Roman" panose="02020603050405020304" pitchFamily="18" charset="0"/>
              </a:rPr>
              <a:t>межкластерное</a:t>
            </a:r>
            <a:r>
              <a:rPr lang="ru-RU" altLang="ru-RU" sz="2400" dirty="0">
                <a:effectLst/>
                <a:latin typeface="Times New Roman" panose="02020603050405020304" pitchFamily="18" charset="0"/>
                <a:cs typeface="Times New Roman" panose="02020603050405020304" pitchFamily="18" charset="0"/>
              </a:rPr>
              <a:t> расстояние: </a:t>
            </a:r>
          </a:p>
        </p:txBody>
      </p:sp>
      <p:pic>
        <p:nvPicPr>
          <p:cNvPr id="17" name="Рисунок 16">
            <a:extLst>
              <a:ext uri="{FF2B5EF4-FFF2-40B4-BE49-F238E27FC236}">
                <a16:creationId xmlns:a16="http://schemas.microsoft.com/office/drawing/2014/main" id="{70211459-389D-41D0-88C6-697477AF7D18}"/>
              </a:ext>
            </a:extLst>
          </p:cNvPr>
          <p:cNvPicPr>
            <a:picLocks noChangeAspect="1"/>
          </p:cNvPicPr>
          <p:nvPr/>
        </p:nvPicPr>
        <p:blipFill>
          <a:blip r:embed="rId3"/>
          <a:stretch>
            <a:fillRect/>
          </a:stretch>
        </p:blipFill>
        <p:spPr>
          <a:xfrm>
            <a:off x="3755104" y="2046841"/>
            <a:ext cx="4096322" cy="1152686"/>
          </a:xfrm>
          <a:prstGeom prst="rect">
            <a:avLst/>
          </a:prstGeom>
        </p:spPr>
      </p:pic>
      <p:sp>
        <p:nvSpPr>
          <p:cNvPr id="25" name="TextBox 24">
            <a:extLst>
              <a:ext uri="{FF2B5EF4-FFF2-40B4-BE49-F238E27FC236}">
                <a16:creationId xmlns:a16="http://schemas.microsoft.com/office/drawing/2014/main" id="{1165D186-A071-4BA0-B8FD-3879DA88E5C4}"/>
              </a:ext>
            </a:extLst>
          </p:cNvPr>
          <p:cNvSpPr txBox="1"/>
          <p:nvPr/>
        </p:nvSpPr>
        <p:spPr>
          <a:xfrm>
            <a:off x="531440" y="3415167"/>
            <a:ext cx="11605369" cy="1323439"/>
          </a:xfrm>
          <a:prstGeom prst="rect">
            <a:avLst/>
          </a:prstGeom>
          <a:noFill/>
        </p:spPr>
        <p:txBody>
          <a:bodyPr wrap="square">
            <a:spAutoFit/>
          </a:bodyPr>
          <a:lstStyle>
            <a:defPPr>
              <a:defRPr lang="ru-RU"/>
            </a:defPPr>
            <a:lvl1pPr>
              <a:buFont typeface="Arial" panose="020B0604020202020204" pitchFamily="34" charset="0"/>
              <a:buChar char="•"/>
              <a:defRPr sz="1600" b="1" i="1"/>
            </a:lvl1pPr>
          </a:lstStyle>
          <a:p>
            <a:r>
              <a:rPr lang="ru-RU" dirty="0"/>
              <a:t>Числитель</a:t>
            </a:r>
            <a:r>
              <a:rPr lang="ru-RU" b="0" dirty="0"/>
              <a:t> — сумма расстояний между всеми парами точек, которые оказались в разных кластерах.</a:t>
            </a:r>
          </a:p>
          <a:p>
            <a:r>
              <a:rPr lang="ru-RU" dirty="0"/>
              <a:t>Знаменатель</a:t>
            </a:r>
            <a:r>
              <a:rPr lang="ru-RU" b="0" dirty="0"/>
              <a:t> — количество таких пар (число пар точек из разных кластеров).</a:t>
            </a:r>
          </a:p>
          <a:p>
            <a:r>
              <a:rPr lang="ru-RU" dirty="0"/>
              <a:t>Результат</a:t>
            </a:r>
            <a:r>
              <a:rPr lang="ru-RU" b="0" dirty="0"/>
              <a:t> — среднее расстояние между точками из различных кластеров.</a:t>
            </a:r>
            <a:br>
              <a:rPr lang="ru-RU" b="0" dirty="0"/>
            </a:br>
            <a:r>
              <a:rPr lang="ru-RU" b="0" dirty="0"/>
              <a:t>Хорошая кластеризация должна обеспечивать чёткое разделение кластеров: чем дальше друг от друга точки из разных кластеров, тем лучше. </a:t>
            </a:r>
          </a:p>
        </p:txBody>
      </p:sp>
      <p:sp>
        <p:nvSpPr>
          <p:cNvPr id="15" name="TextBox 14">
            <a:extLst>
              <a:ext uri="{FF2B5EF4-FFF2-40B4-BE49-F238E27FC236}">
                <a16:creationId xmlns:a16="http://schemas.microsoft.com/office/drawing/2014/main" id="{87F13345-652B-48A9-8442-D2406C2FFD59}"/>
              </a:ext>
            </a:extLst>
          </p:cNvPr>
          <p:cNvSpPr txBox="1"/>
          <p:nvPr/>
        </p:nvSpPr>
        <p:spPr>
          <a:xfrm>
            <a:off x="10758176" y="2341819"/>
            <a:ext cx="720080" cy="400110"/>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(2)</a:t>
            </a:r>
            <a:endParaRPr lang="ru-RU" dirty="0"/>
          </a:p>
        </p:txBody>
      </p:sp>
      <p:sp>
        <p:nvSpPr>
          <p:cNvPr id="16" name="Rectangle 1">
            <a:extLst>
              <a:ext uri="{FF2B5EF4-FFF2-40B4-BE49-F238E27FC236}">
                <a16:creationId xmlns:a16="http://schemas.microsoft.com/office/drawing/2014/main" id="{6D39EF86-27D5-4C42-83AD-AC1CB79D9DC8}"/>
              </a:ext>
            </a:extLst>
          </p:cNvPr>
          <p:cNvSpPr>
            <a:spLocks noChangeArrowheads="1"/>
          </p:cNvSpPr>
          <p:nvPr/>
        </p:nvSpPr>
        <p:spPr bwMode="auto">
          <a:xfrm>
            <a:off x="671902" y="5040148"/>
            <a:ext cx="116845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i</a:t>
            </a:r>
            <a:r>
              <a:rPr kumimoji="0" lang="ru-RU" altLang="ru-RU" sz="1600" b="0" i="1" u="none" strike="noStrike" cap="none" normalizeH="0" baseline="-25000" dirty="0">
                <a:ln>
                  <a:noFill/>
                </a:ln>
                <a:solidFill>
                  <a:schemeClr val="tx1"/>
                </a:solidFill>
                <a:effectLst/>
                <a:latin typeface="Arial" panose="020B0604020202020204" pitchFamily="34" charset="0"/>
              </a:rPr>
              <a:t>​</a:t>
            </a:r>
            <a:r>
              <a:rPr kumimoji="0" lang="ru-RU" altLang="ru-RU" sz="1600" b="0" i="1" u="none" strike="noStrike" cap="none" normalizeH="0" baseline="0" dirty="0">
                <a:ln>
                  <a:noFill/>
                </a:ln>
                <a:solidFill>
                  <a:schemeClr val="tx1"/>
                </a:solidFill>
                <a:effectLst/>
                <a:latin typeface="Arial" panose="020B0604020202020204" pitchFamily="34" charset="0"/>
              </a:rPr>
              <a:t>,</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j</a:t>
            </a:r>
            <a:r>
              <a:rPr kumimoji="0" lang="ru-RU" altLang="ru-RU" sz="1600" b="0" i="1" u="none" strike="noStrike" cap="none" normalizeH="0" baseline="-25000" dirty="0">
                <a:ln>
                  <a:noFill/>
                </a:ln>
                <a:solidFill>
                  <a:schemeClr val="tx1"/>
                </a:solidFill>
                <a:effectLst/>
                <a:latin typeface="Arial" panose="020B0604020202020204" pitchFamily="34" charset="0"/>
              </a:rPr>
              <a:t>​</a:t>
            </a:r>
            <a:r>
              <a:rPr kumimoji="0" lang="ru-RU"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 объекты (точки) в </a:t>
            </a:r>
            <a:r>
              <a:rPr kumimoji="0" lang="en-US" altLang="ru-RU" sz="1600" b="0" i="0" u="none" strike="noStrike" cap="none" normalizeH="0" baseline="0" dirty="0">
                <a:ln>
                  <a:noFill/>
                </a:ln>
                <a:solidFill>
                  <a:schemeClr val="tx1"/>
                </a:solidFill>
                <a:effectLst/>
                <a:latin typeface="Arial" panose="020B0604020202020204" pitchFamily="34" charset="0"/>
              </a:rPr>
              <a:t>n</a:t>
            </a:r>
            <a:r>
              <a:rPr kumimoji="0" lang="ru-RU" altLang="ru-RU" sz="1600" b="0" i="0" u="none" strike="noStrike" cap="none" normalizeH="0" baseline="0" dirty="0">
                <a:ln>
                  <a:noFill/>
                </a:ln>
                <a:solidFill>
                  <a:schemeClr val="tx1"/>
                </a:solidFill>
                <a:effectLst/>
                <a:latin typeface="Arial" panose="020B0604020202020204" pitchFamily="34" charset="0"/>
              </a:rPr>
              <a:t>-мерном пространстве.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a:ln>
                  <a:noFill/>
                </a:ln>
                <a:solidFill>
                  <a:schemeClr val="tx1"/>
                </a:solidFill>
                <a:effectLst/>
                <a:latin typeface="Arial" panose="020B0604020202020204" pitchFamily="34" charset="0"/>
              </a:rPr>
              <a:t>c(</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i</a:t>
            </a:r>
            <a:r>
              <a:rPr kumimoji="0" lang="ru-RU"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 номер кластера, к которому отнесена точка </a:t>
            </a:r>
            <a:r>
              <a:rPr kumimoji="0" lang="ru-RU" altLang="ru-RU" sz="1600" b="0" i="1" u="none" strike="noStrike" cap="none" normalizeH="0" baseline="0" dirty="0" err="1">
                <a:ln>
                  <a:noFill/>
                </a:ln>
                <a:solidFill>
                  <a:schemeClr val="tx1"/>
                </a:solidFill>
                <a:effectLst/>
                <a:latin typeface="Arial" panose="020B0604020202020204" pitchFamily="34" charset="0"/>
              </a:rPr>
              <a:t>x</a:t>
            </a:r>
            <a:r>
              <a:rPr kumimoji="0" lang="ru-RU" altLang="ru-RU" sz="1600" b="0" i="1" u="none" strike="noStrike" cap="none" normalizeH="0" baseline="-25000" dirty="0" err="1">
                <a:ln>
                  <a:noFill/>
                </a:ln>
                <a:solidFill>
                  <a:schemeClr val="tx1"/>
                </a:solidFill>
                <a:effectLst/>
                <a:latin typeface="Arial" panose="020B0604020202020204" pitchFamily="34" charset="0"/>
              </a:rPr>
              <a:t>i</a:t>
            </a:r>
            <a:r>
              <a:rPr kumimoji="0" lang="ru-RU" altLang="ru-RU"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a:ln>
                  <a:noFill/>
                </a:ln>
                <a:solidFill>
                  <a:schemeClr val="tx1"/>
                </a:solidFill>
                <a:effectLst/>
                <a:latin typeface="Arial" panose="020B0604020202020204" pitchFamily="34" charset="0"/>
              </a:rPr>
              <a:t>ρ(</a:t>
            </a:r>
            <a:r>
              <a:rPr kumimoji="0" lang="ru-RU" altLang="ru-RU" sz="1600" b="0" i="1" u="none" strike="noStrike" cap="none" normalizeH="0" baseline="0" dirty="0" err="1">
                <a:ln>
                  <a:noFill/>
                </a:ln>
                <a:solidFill>
                  <a:schemeClr val="tx1"/>
                </a:solidFill>
                <a:effectLst/>
                <a:latin typeface="Arial" panose="020B0604020202020204" pitchFamily="34" charset="0"/>
              </a:rPr>
              <a:t>xi,xj</a:t>
            </a:r>
            <a:r>
              <a:rPr kumimoji="0" lang="ru-RU" altLang="ru-RU" sz="1600" b="0" i="1"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 функция расстояния между точками (например, евклидово расстояние).</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Суммирование </a:t>
            </a:r>
            <a:r>
              <a:rPr kumimoji="0" lang="ru-RU" altLang="ru-RU" sz="1600" b="0" i="1" u="none" strike="noStrike" cap="none" normalizeH="0" baseline="0" dirty="0">
                <a:ln>
                  <a:noFill/>
                </a:ln>
                <a:solidFill>
                  <a:schemeClr val="tx1"/>
                </a:solidFill>
                <a:effectLst/>
                <a:latin typeface="Arial" panose="020B0604020202020204" pitchFamily="34" charset="0"/>
              </a:rPr>
              <a:t>∑i&lt;j</a:t>
            </a:r>
            <a:r>
              <a:rPr lang="en-US" altLang="ru-RU" sz="1600" i="1" dirty="0"/>
              <a:t> </a:t>
            </a:r>
            <a:r>
              <a:rPr kumimoji="0" lang="ru-RU" altLang="ru-RU" sz="1600" b="0" i="0" u="none" strike="noStrike" cap="none" normalizeH="0" baseline="0" dirty="0">
                <a:ln>
                  <a:noFill/>
                </a:ln>
                <a:solidFill>
                  <a:schemeClr val="tx1"/>
                </a:solidFill>
                <a:effectLst/>
                <a:latin typeface="Arial" panose="020B0604020202020204" pitchFamily="34" charset="0"/>
              </a:rPr>
              <a:t>означает, что мы рассматриваем все </a:t>
            </a:r>
            <a:r>
              <a:rPr kumimoji="0" lang="ru-RU" altLang="ru-RU" sz="1600" b="1" i="0" u="none" strike="noStrike" cap="none" normalizeH="0" baseline="0" dirty="0">
                <a:ln>
                  <a:noFill/>
                </a:ln>
                <a:solidFill>
                  <a:schemeClr val="tx1"/>
                </a:solidFill>
                <a:effectLst/>
                <a:latin typeface="Arial" panose="020B0604020202020204" pitchFamily="34" charset="0"/>
              </a:rPr>
              <a:t>упорядоченные пары</a:t>
            </a:r>
            <a:r>
              <a:rPr kumimoji="0" lang="ru-RU"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1" u="none" strike="noStrike" cap="none" normalizeH="0" baseline="0" dirty="0">
                <a:ln>
                  <a:noFill/>
                </a:ln>
                <a:solidFill>
                  <a:schemeClr val="tx1"/>
                </a:solidFill>
                <a:effectLst/>
                <a:latin typeface="Arial" panose="020B0604020202020204" pitchFamily="34" charset="0"/>
              </a:rPr>
              <a:t>(</a:t>
            </a:r>
            <a:r>
              <a:rPr kumimoji="0" lang="ru-RU" altLang="ru-RU" sz="1600" b="0" i="1" u="none" strike="noStrike" cap="none" normalizeH="0" baseline="0" dirty="0" err="1">
                <a:ln>
                  <a:noFill/>
                </a:ln>
                <a:solidFill>
                  <a:schemeClr val="tx1"/>
                </a:solidFill>
                <a:effectLst/>
                <a:latin typeface="Arial" panose="020B0604020202020204" pitchFamily="34" charset="0"/>
              </a:rPr>
              <a:t>i,j</a:t>
            </a:r>
            <a:r>
              <a:rPr kumimoji="0" lang="ru-RU" altLang="ru-RU" sz="1600" b="0" i="1" u="none" strike="noStrike" cap="none" normalizeH="0" baseline="0" dirty="0">
                <a:ln>
                  <a:noFill/>
                </a:ln>
                <a:solidFill>
                  <a:schemeClr val="tx1"/>
                </a:solidFill>
                <a:effectLst/>
                <a:latin typeface="Arial" panose="020B0604020202020204" pitchFamily="34" charset="0"/>
              </a:rPr>
              <a:t>)</a:t>
            </a:r>
            <a:r>
              <a:rPr kumimoji="0" lang="en-US" altLang="ru-RU" sz="1600" b="0" i="0" u="none" strike="noStrike" cap="none" normalizeH="0" baseline="0" dirty="0">
                <a:ln>
                  <a:noFill/>
                </a:ln>
                <a:solidFill>
                  <a:schemeClr val="tx1"/>
                </a:solidFill>
                <a:effectLst/>
                <a:latin typeface="Arial" panose="020B0604020202020204" pitchFamily="34" charset="0"/>
              </a:rPr>
              <a:t> </a:t>
            </a:r>
            <a:r>
              <a:rPr kumimoji="0" lang="ru-RU" altLang="ru-RU" sz="1600" b="0" i="0" u="none" strike="noStrike" cap="none" normalizeH="0" baseline="0" dirty="0">
                <a:ln>
                  <a:noFill/>
                </a:ln>
                <a:solidFill>
                  <a:schemeClr val="tx1"/>
                </a:solidFill>
                <a:effectLst/>
                <a:latin typeface="Arial" panose="020B0604020202020204" pitchFamily="34" charset="0"/>
              </a:rPr>
              <a:t>с </a:t>
            </a:r>
            <a:r>
              <a:rPr kumimoji="0" lang="ru-RU" altLang="ru-RU" sz="1600" b="0" i="1" u="none" strike="noStrike" cap="none" normalizeH="0" baseline="0" dirty="0">
                <a:ln>
                  <a:noFill/>
                </a:ln>
                <a:solidFill>
                  <a:schemeClr val="tx1"/>
                </a:solidFill>
                <a:effectLst/>
                <a:latin typeface="Arial" panose="020B0604020202020204" pitchFamily="34" charset="0"/>
              </a:rPr>
              <a:t>i&lt;j</a:t>
            </a:r>
            <a:r>
              <a:rPr kumimoji="0" lang="ru-RU" altLang="ru-RU" sz="1600" b="0" i="0" u="none" strike="noStrike" cap="none" normalizeH="0" baseline="0" dirty="0">
                <a:ln>
                  <a:noFill/>
                </a:ln>
                <a:solidFill>
                  <a:schemeClr val="tx1"/>
                </a:solidFill>
                <a:effectLst/>
                <a:latin typeface="Arial" panose="020B0604020202020204" pitchFamily="34" charset="0"/>
              </a:rPr>
              <a:t>, чтобы каждую пару учесть ровно один раз.</a:t>
            </a:r>
          </a:p>
        </p:txBody>
      </p:sp>
    </p:spTree>
    <p:extLst>
      <p:ext uri="{BB962C8B-B14F-4D97-AF65-F5344CB8AC3E}">
        <p14:creationId xmlns:p14="http://schemas.microsoft.com/office/powerpoint/2010/main" val="40966634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501477" y="322263"/>
            <a:ext cx="1180931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3237397" y="243853"/>
            <a:ext cx="6336705" cy="603710"/>
          </a:xfrm>
        </p:spPr>
        <p:txBody>
          <a:bodyPr>
            <a:normAutofit fontScale="90000"/>
          </a:bodyPr>
          <a:lstStyle/>
          <a:p>
            <a:pPr eaLnBrk="1" hangingPunct="1">
              <a:defRPr/>
            </a:pPr>
            <a:r>
              <a:rPr lang="ru-RU" altLang="ru-RU" sz="4000" dirty="0"/>
              <a:t>Кластеризация</a:t>
            </a:r>
            <a:endParaRPr lang="en-US" altLang="ru-RU" sz="40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40</a:t>
            </a:fld>
            <a:endParaRPr lang="ru-RU" sz="1400" dirty="0">
              <a:solidFill>
                <a:schemeClr val="tx1"/>
              </a:solidFill>
            </a:endParaRPr>
          </a:p>
        </p:txBody>
      </p:sp>
      <p:sp>
        <p:nvSpPr>
          <p:cNvPr id="674825" name="Rectangle 9"/>
          <p:cNvSpPr>
            <a:spLocks noChangeArrowheads="1"/>
          </p:cNvSpPr>
          <p:nvPr/>
        </p:nvSpPr>
        <p:spPr bwMode="auto">
          <a:xfrm>
            <a:off x="1070463" y="1758204"/>
            <a:ext cx="11089232" cy="4505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85000"/>
              </a:lnSpc>
              <a:spcBef>
                <a:spcPts val="0"/>
              </a:spcBef>
              <a:buClr>
                <a:srgbClr val="F4BE96"/>
              </a:buClr>
              <a:buSzPct val="80000"/>
              <a:defRPr/>
            </a:pPr>
            <a:r>
              <a:rPr lang="en-US" sz="2400" i="1" dirty="0">
                <a:solidFill>
                  <a:srgbClr val="0000FF"/>
                </a:solidFill>
                <a:latin typeface="Segoe" charset="0"/>
              </a:rPr>
              <a:t>I. </a:t>
            </a:r>
            <a:r>
              <a:rPr lang="ru-RU" sz="2400" i="1" dirty="0">
                <a:solidFill>
                  <a:srgbClr val="0000FF"/>
                </a:solidFill>
                <a:latin typeface="Segoe" charset="0"/>
              </a:rPr>
              <a:t>Иерархические и плоские </a:t>
            </a:r>
            <a:r>
              <a:rPr lang="ru-RU" sz="2078" i="1" dirty="0">
                <a:solidFill>
                  <a:srgbClr val="0000FF"/>
                </a:solidFill>
                <a:latin typeface="Segoe" charset="0"/>
              </a:rPr>
              <a:t>– по способу организации</a:t>
            </a:r>
            <a:endParaRPr lang="ru-RU" sz="2078" dirty="0">
              <a:solidFill>
                <a:srgbClr val="0000FF"/>
              </a:solidFill>
              <a:latin typeface="Segoe" charset="0"/>
            </a:endParaRPr>
          </a:p>
          <a:p>
            <a:pPr marL="844580" lvl="1" indent="-377752">
              <a:lnSpc>
                <a:spcPct val="85000"/>
              </a:lnSpc>
              <a:spcBef>
                <a:spcPts val="0"/>
              </a:spcBef>
              <a:buClr>
                <a:srgbClr val="0070C0"/>
              </a:buClr>
              <a:buSzPct val="80000"/>
              <a:buFont typeface="Wingdings" panose="05000000000000000000" pitchFamily="2" charset="2"/>
              <a:buChar char="Ø"/>
              <a:defRPr/>
            </a:pPr>
            <a:r>
              <a:rPr lang="ru-RU" sz="2078" i="1" dirty="0">
                <a:latin typeface="Segoe" charset="0"/>
              </a:rPr>
              <a:t>Иерархические</a:t>
            </a:r>
            <a:r>
              <a:rPr lang="ru-RU" sz="2078" dirty="0">
                <a:latin typeface="Segoe" charset="0"/>
              </a:rPr>
              <a:t> алгоритмы (также называемые алгоритмами таксономии) строят не одно разбиение выборки на непересекающиеся кластеры, а </a:t>
            </a:r>
            <a:r>
              <a:rPr lang="ru-RU" sz="2078" b="1" i="1" dirty="0">
                <a:latin typeface="Segoe" charset="0"/>
              </a:rPr>
              <a:t>систему вложенных разбиений</a:t>
            </a:r>
            <a:r>
              <a:rPr lang="ru-RU" sz="2078" dirty="0">
                <a:latin typeface="Segoe" charset="0"/>
              </a:rPr>
              <a:t>. </a:t>
            </a:r>
            <a:r>
              <a:rPr lang="ru-RU" sz="2078" dirty="0" err="1">
                <a:latin typeface="Segoe" charset="0"/>
              </a:rPr>
              <a:t>Т.о</a:t>
            </a:r>
            <a:r>
              <a:rPr lang="ru-RU" sz="2078" dirty="0">
                <a:latin typeface="Segoe" charset="0"/>
              </a:rPr>
              <a:t>. на выходе мы получаем дерево кластеров, корнем которого является вся выборка, а листьями — наиболее мелкие кластера.</a:t>
            </a:r>
          </a:p>
          <a:p>
            <a:pPr marL="844580" lvl="1" indent="-377752">
              <a:lnSpc>
                <a:spcPct val="85000"/>
              </a:lnSpc>
              <a:spcBef>
                <a:spcPts val="0"/>
              </a:spcBef>
              <a:buClr>
                <a:srgbClr val="0070C0"/>
              </a:buClr>
              <a:buSzPct val="80000"/>
              <a:buFont typeface="Wingdings" panose="05000000000000000000" pitchFamily="2" charset="2"/>
              <a:buChar char="Ø"/>
              <a:defRPr/>
            </a:pPr>
            <a:r>
              <a:rPr lang="ru-RU" sz="2078" dirty="0">
                <a:latin typeface="Segoe" charset="0"/>
              </a:rPr>
              <a:t>Плоские алгоритмы строят одно разбиение объектов на кластеры, </a:t>
            </a:r>
            <a:r>
              <a:rPr lang="ru-RU" sz="2078" dirty="0" err="1">
                <a:latin typeface="Segoe" charset="0"/>
              </a:rPr>
              <a:t>т.е</a:t>
            </a:r>
            <a:r>
              <a:rPr lang="ru-RU" sz="2078" dirty="0">
                <a:latin typeface="Segoe" charset="0"/>
              </a:rPr>
              <a:t> формируют кластеры одного ранга.</a:t>
            </a:r>
          </a:p>
          <a:p>
            <a:pPr>
              <a:lnSpc>
                <a:spcPct val="85000"/>
              </a:lnSpc>
              <a:spcBef>
                <a:spcPct val="25000"/>
              </a:spcBef>
              <a:buClr>
                <a:srgbClr val="F4BE96"/>
              </a:buClr>
              <a:buSzPct val="80000"/>
              <a:defRPr/>
            </a:pPr>
            <a:r>
              <a:rPr lang="en-US" sz="2400" i="1" dirty="0">
                <a:solidFill>
                  <a:srgbClr val="0000FF"/>
                </a:solidFill>
                <a:latin typeface="Segoe" charset="0"/>
              </a:rPr>
              <a:t>II. </a:t>
            </a:r>
            <a:r>
              <a:rPr lang="ru-RU" sz="2400" i="1" dirty="0">
                <a:solidFill>
                  <a:srgbClr val="0000FF"/>
                </a:solidFill>
                <a:latin typeface="Segoe" charset="0"/>
              </a:rPr>
              <a:t>Четкие и нечеткие </a:t>
            </a:r>
            <a:r>
              <a:rPr lang="ru-RU" sz="2078" i="1" dirty="0">
                <a:solidFill>
                  <a:srgbClr val="0000FF"/>
                </a:solidFill>
                <a:latin typeface="Segoe" charset="0"/>
              </a:rPr>
              <a:t>– по способу определения принадлежности</a:t>
            </a:r>
            <a:endParaRPr lang="ru-RU" sz="2078" dirty="0">
              <a:solidFill>
                <a:srgbClr val="0000FF"/>
              </a:solidFill>
              <a:latin typeface="Segoe" charset="0"/>
            </a:endParaRPr>
          </a:p>
          <a:p>
            <a:pPr marL="844580" lvl="1" indent="-369504">
              <a:lnSpc>
                <a:spcPct val="85000"/>
              </a:lnSpc>
              <a:spcBef>
                <a:spcPct val="25000"/>
              </a:spcBef>
              <a:buClr>
                <a:srgbClr val="0070C0"/>
              </a:buClr>
              <a:buSzPct val="80000"/>
              <a:buFont typeface="Wingdings" panose="05000000000000000000" pitchFamily="2" charset="2"/>
              <a:buChar char="Ø"/>
              <a:defRPr/>
            </a:pPr>
            <a:r>
              <a:rPr lang="ru-RU" sz="2078" i="1" dirty="0">
                <a:latin typeface="Segoe" charset="0"/>
              </a:rPr>
              <a:t>Четкие</a:t>
            </a:r>
            <a:r>
              <a:rPr lang="ru-RU" sz="2078" dirty="0">
                <a:latin typeface="Segoe" charset="0"/>
              </a:rPr>
              <a:t> (или непересекающиеся) алгоритмы каждому объекту выборки ставят в соответствие номер кластера, т.е. каждый объект принадлежит только одному кластеру. </a:t>
            </a:r>
          </a:p>
          <a:p>
            <a:pPr marL="844580" lvl="1" indent="-369504">
              <a:lnSpc>
                <a:spcPct val="85000"/>
              </a:lnSpc>
              <a:spcBef>
                <a:spcPct val="25000"/>
              </a:spcBef>
              <a:buClr>
                <a:srgbClr val="0070C0"/>
              </a:buClr>
              <a:buSzPct val="80000"/>
              <a:buFont typeface="Wingdings" panose="05000000000000000000" pitchFamily="2" charset="2"/>
              <a:buChar char="Ø"/>
              <a:defRPr/>
            </a:pPr>
            <a:r>
              <a:rPr lang="ru-RU" sz="2078" i="1" dirty="0">
                <a:latin typeface="Segoe" charset="0"/>
              </a:rPr>
              <a:t>Нечеткие</a:t>
            </a:r>
            <a:r>
              <a:rPr lang="ru-RU" sz="2078" dirty="0">
                <a:latin typeface="Segoe" charset="0"/>
              </a:rPr>
              <a:t> (или пересекающиеся) алгоритмы каждому объекту ставят в соответствие набор вещественных значений, показывающих степень отношения объекта к кластерам. Т.е. каждый объект относится к каждому кластеру с некоторой вероятностью.</a:t>
            </a:r>
          </a:p>
        </p:txBody>
      </p:sp>
      <p:sp>
        <p:nvSpPr>
          <p:cNvPr id="674826" name="Rectangle 10"/>
          <p:cNvSpPr>
            <a:spLocks noChangeArrowheads="1"/>
          </p:cNvSpPr>
          <p:nvPr/>
        </p:nvSpPr>
        <p:spPr bwMode="auto">
          <a:xfrm>
            <a:off x="2165577" y="1037603"/>
            <a:ext cx="7936242" cy="45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algn="ctr" eaLnBrk="1" hangingPunct="1">
              <a:defRPr/>
            </a:pPr>
            <a:r>
              <a:rPr lang="ru-RU" altLang="ru-RU" sz="2800" b="1" i="1" dirty="0">
                <a:solidFill>
                  <a:schemeClr val="accent1"/>
                </a:solidFill>
                <a:effectLst/>
              </a:rPr>
              <a:t>Виды алгоритмов кластеризации:</a:t>
            </a:r>
            <a:endParaRPr lang="en-US" altLang="ru-RU" sz="2800" b="1" i="1" dirty="0">
              <a:solidFill>
                <a:schemeClr val="accent1"/>
              </a:solidFill>
              <a:effectLst/>
            </a:endParaRPr>
          </a:p>
        </p:txBody>
      </p:sp>
    </p:spTree>
    <p:extLst>
      <p:ext uri="{BB962C8B-B14F-4D97-AF65-F5344CB8AC3E}">
        <p14:creationId xmlns:p14="http://schemas.microsoft.com/office/powerpoint/2010/main" val="2314946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482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482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482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482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482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48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5"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4818" name="Rectangle 2"/>
          <p:cNvSpPr>
            <a:spLocks noGrp="1" noChangeArrowheads="1"/>
          </p:cNvSpPr>
          <p:nvPr>
            <p:ph type="title"/>
          </p:nvPr>
        </p:nvSpPr>
        <p:spPr>
          <a:xfrm>
            <a:off x="3237397" y="254505"/>
            <a:ext cx="6336705" cy="603710"/>
          </a:xfrm>
        </p:spPr>
        <p:txBody>
          <a:bodyPr>
            <a:normAutofit fontScale="90000"/>
          </a:bodyPr>
          <a:lstStyle/>
          <a:p>
            <a:pPr eaLnBrk="1" hangingPunct="1">
              <a:defRPr/>
            </a:pPr>
            <a:r>
              <a:rPr lang="ru-RU" altLang="ru-RU" sz="4000" dirty="0"/>
              <a:t>Кластеризация</a:t>
            </a:r>
            <a:endParaRPr lang="en-US" altLang="ru-RU" sz="40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41</a:t>
            </a:fld>
            <a:endParaRPr lang="ru-RU" sz="1400" dirty="0">
              <a:solidFill>
                <a:schemeClr val="tx1"/>
              </a:solidFill>
            </a:endParaRPr>
          </a:p>
        </p:txBody>
      </p:sp>
      <p:sp>
        <p:nvSpPr>
          <p:cNvPr id="674825" name="Rectangle 9"/>
          <p:cNvSpPr>
            <a:spLocks noChangeArrowheads="1"/>
          </p:cNvSpPr>
          <p:nvPr/>
        </p:nvSpPr>
        <p:spPr bwMode="auto">
          <a:xfrm>
            <a:off x="1293565" y="1372204"/>
            <a:ext cx="993641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b="1" i="1" dirty="0">
                <a:solidFill>
                  <a:schemeClr val="accent1"/>
                </a:solidFill>
              </a:rPr>
              <a:t>1. </a:t>
            </a:r>
            <a:r>
              <a:rPr lang="ru-RU" b="1" i="1" dirty="0">
                <a:solidFill>
                  <a:schemeClr val="accent1"/>
                </a:solidFill>
              </a:rPr>
              <a:t>Алгоритмы, разбивающие данные на заданное число кластеров </a:t>
            </a:r>
            <a:r>
              <a:rPr lang="ru-RU" dirty="0"/>
              <a:t>(то есть число кластеров – это входной параметр алгоритма). Пример: алгоритм k-</a:t>
            </a:r>
            <a:r>
              <a:rPr lang="ru-RU" dirty="0" err="1"/>
              <a:t>means</a:t>
            </a:r>
            <a:r>
              <a:rPr lang="ru-RU" dirty="0"/>
              <a:t>.</a:t>
            </a:r>
          </a:p>
          <a:p>
            <a:r>
              <a:rPr lang="ru-RU" b="1" i="1" dirty="0">
                <a:solidFill>
                  <a:schemeClr val="accent1"/>
                </a:solidFill>
              </a:rPr>
              <a:t>2. Алгоритмы, в которых число кластеров не определено заранее, </a:t>
            </a:r>
            <a:r>
              <a:rPr lang="ru-RU" dirty="0"/>
              <a:t>а вычисляется самим алгоритмом. Пример: алгоритм FOREL.</a:t>
            </a:r>
          </a:p>
        </p:txBody>
      </p:sp>
      <p:sp>
        <p:nvSpPr>
          <p:cNvPr id="674826" name="Rectangle 10"/>
          <p:cNvSpPr>
            <a:spLocks noChangeArrowheads="1"/>
          </p:cNvSpPr>
          <p:nvPr/>
        </p:nvSpPr>
        <p:spPr bwMode="auto">
          <a:xfrm>
            <a:off x="2154003" y="890575"/>
            <a:ext cx="7936242"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algn="ctr" eaLnBrk="1" hangingPunct="1">
              <a:defRPr/>
            </a:pPr>
            <a:r>
              <a:rPr lang="ru-RU" altLang="ru-RU" sz="2400" b="1" i="1" dirty="0">
                <a:solidFill>
                  <a:schemeClr val="accent1"/>
                </a:solidFill>
                <a:effectLst/>
              </a:rPr>
              <a:t>Виды алгоритмов кластеризации:</a:t>
            </a:r>
            <a:endParaRPr lang="en-US" altLang="ru-RU" sz="2400" b="1" i="1" dirty="0">
              <a:solidFill>
                <a:schemeClr val="accent1"/>
              </a:solidFill>
              <a:effectLst/>
            </a:endParaRPr>
          </a:p>
        </p:txBody>
      </p:sp>
      <p:grpSp>
        <p:nvGrpSpPr>
          <p:cNvPr id="674839" name="Группа 674838"/>
          <p:cNvGrpSpPr/>
          <p:nvPr/>
        </p:nvGrpSpPr>
        <p:grpSpPr>
          <a:xfrm>
            <a:off x="1477350" y="2917129"/>
            <a:ext cx="8640054" cy="3466400"/>
            <a:chOff x="602994" y="3289536"/>
            <a:chExt cx="8640054" cy="3466400"/>
          </a:xfrm>
        </p:grpSpPr>
        <p:sp>
          <p:nvSpPr>
            <p:cNvPr id="2" name="Прямоугольник 1"/>
            <p:cNvSpPr/>
            <p:nvPr/>
          </p:nvSpPr>
          <p:spPr>
            <a:xfrm>
              <a:off x="3420331" y="3289536"/>
              <a:ext cx="3240360" cy="5040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Алгоритмы кластеризации </a:t>
              </a:r>
            </a:p>
          </p:txBody>
        </p:sp>
        <p:sp>
          <p:nvSpPr>
            <p:cNvPr id="4" name="Прямоугольник 3"/>
            <p:cNvSpPr/>
            <p:nvPr/>
          </p:nvSpPr>
          <p:spPr>
            <a:xfrm>
              <a:off x="1797051" y="3917686"/>
              <a:ext cx="2304256"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Иерархические</a:t>
              </a:r>
            </a:p>
          </p:txBody>
        </p:sp>
        <p:sp>
          <p:nvSpPr>
            <p:cNvPr id="13" name="Прямоугольник 12"/>
            <p:cNvSpPr/>
            <p:nvPr/>
          </p:nvSpPr>
          <p:spPr>
            <a:xfrm>
              <a:off x="5901223" y="3920236"/>
              <a:ext cx="2304256"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Неиерархические</a:t>
              </a:r>
            </a:p>
          </p:txBody>
        </p:sp>
        <p:sp>
          <p:nvSpPr>
            <p:cNvPr id="14" name="Прямоугольник 13"/>
            <p:cNvSpPr/>
            <p:nvPr/>
          </p:nvSpPr>
          <p:spPr>
            <a:xfrm>
              <a:off x="602994" y="4574020"/>
              <a:ext cx="2076019"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err="1">
                  <a:solidFill>
                    <a:schemeClr val="accent1"/>
                  </a:solidFill>
                </a:rPr>
                <a:t>Агломеративные</a:t>
              </a:r>
              <a:endParaRPr lang="ru-RU" b="1" dirty="0">
                <a:solidFill>
                  <a:schemeClr val="accent1"/>
                </a:solidFill>
              </a:endParaRPr>
            </a:p>
          </p:txBody>
        </p:sp>
        <p:sp>
          <p:nvSpPr>
            <p:cNvPr id="15" name="Прямоугольник 14"/>
            <p:cNvSpPr/>
            <p:nvPr/>
          </p:nvSpPr>
          <p:spPr>
            <a:xfrm>
              <a:off x="2967045" y="4574019"/>
              <a:ext cx="1756515"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err="1">
                  <a:solidFill>
                    <a:schemeClr val="accent1"/>
                  </a:solidFill>
                </a:rPr>
                <a:t>Дивизимные</a:t>
              </a:r>
              <a:endParaRPr lang="ru-RU" b="1" dirty="0">
                <a:solidFill>
                  <a:schemeClr val="accent1"/>
                </a:solidFill>
              </a:endParaRPr>
            </a:p>
          </p:txBody>
        </p:sp>
        <p:sp>
          <p:nvSpPr>
            <p:cNvPr id="18" name="Прямоугольник 17"/>
            <p:cNvSpPr/>
            <p:nvPr/>
          </p:nvSpPr>
          <p:spPr>
            <a:xfrm>
              <a:off x="5381533" y="4566684"/>
              <a:ext cx="1912467"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Четкие</a:t>
              </a:r>
            </a:p>
          </p:txBody>
        </p:sp>
        <p:sp>
          <p:nvSpPr>
            <p:cNvPr id="19" name="Прямоугольник 18"/>
            <p:cNvSpPr/>
            <p:nvPr/>
          </p:nvSpPr>
          <p:spPr>
            <a:xfrm>
              <a:off x="7426080" y="4566683"/>
              <a:ext cx="1756515"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b="1" dirty="0">
                  <a:solidFill>
                    <a:schemeClr val="accent1"/>
                  </a:solidFill>
                </a:rPr>
                <a:t>Нечеткие</a:t>
              </a:r>
            </a:p>
          </p:txBody>
        </p:sp>
        <p:sp>
          <p:nvSpPr>
            <p:cNvPr id="23" name="Прямоугольник 22"/>
            <p:cNvSpPr/>
            <p:nvPr/>
          </p:nvSpPr>
          <p:spPr>
            <a:xfrm>
              <a:off x="896107" y="5274992"/>
              <a:ext cx="1782906" cy="6149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indent="-185738">
                <a:lnSpc>
                  <a:spcPts val="1500"/>
                </a:lnSpc>
                <a:buFont typeface="Arial" panose="020B0604020202020204" pitchFamily="34" charset="0"/>
                <a:buChar char="•"/>
              </a:pPr>
              <a:r>
                <a:rPr lang="en-US" sz="1800" b="1" dirty="0">
                  <a:solidFill>
                    <a:schemeClr val="accent1"/>
                  </a:solidFill>
                </a:rPr>
                <a:t>Single-link</a:t>
              </a:r>
            </a:p>
            <a:p>
              <a:pPr marL="185738" indent="-185738">
                <a:lnSpc>
                  <a:spcPts val="1500"/>
                </a:lnSpc>
                <a:buFont typeface="Arial" panose="020B0604020202020204" pitchFamily="34" charset="0"/>
                <a:buChar char="•"/>
              </a:pPr>
              <a:r>
                <a:rPr lang="en-US" sz="1800" b="1" dirty="0">
                  <a:solidFill>
                    <a:schemeClr val="accent1"/>
                  </a:solidFill>
                </a:rPr>
                <a:t>Complete-link</a:t>
              </a:r>
            </a:p>
            <a:p>
              <a:pPr marL="185738" indent="-185738">
                <a:lnSpc>
                  <a:spcPts val="1500"/>
                </a:lnSpc>
                <a:buFont typeface="Arial" panose="020B0604020202020204" pitchFamily="34" charset="0"/>
                <a:buChar char="•"/>
              </a:pPr>
              <a:r>
                <a:rPr lang="en-US" sz="1800" b="1" dirty="0">
                  <a:solidFill>
                    <a:schemeClr val="accent1"/>
                  </a:solidFill>
                </a:rPr>
                <a:t>CURE</a:t>
              </a:r>
              <a:endParaRPr lang="ru-RU" sz="1800" b="1" dirty="0">
                <a:solidFill>
                  <a:schemeClr val="accent1"/>
                </a:solidFill>
              </a:endParaRPr>
            </a:p>
          </p:txBody>
        </p:sp>
        <p:sp>
          <p:nvSpPr>
            <p:cNvPr id="24" name="Прямоугольник 23"/>
            <p:cNvSpPr/>
            <p:nvPr/>
          </p:nvSpPr>
          <p:spPr>
            <a:xfrm>
              <a:off x="3250278" y="5230352"/>
              <a:ext cx="1480680"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1"/>
                  </a:solidFill>
                </a:rPr>
                <a:t>MST</a:t>
              </a:r>
              <a:endParaRPr lang="ru-RU" b="1" dirty="0">
                <a:solidFill>
                  <a:schemeClr val="accent1"/>
                </a:solidFill>
              </a:endParaRPr>
            </a:p>
          </p:txBody>
        </p:sp>
        <p:sp>
          <p:nvSpPr>
            <p:cNvPr id="25" name="Прямоугольник 24"/>
            <p:cNvSpPr/>
            <p:nvPr/>
          </p:nvSpPr>
          <p:spPr>
            <a:xfrm>
              <a:off x="7596509" y="5213130"/>
              <a:ext cx="1605264" cy="51064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accent1"/>
                  </a:solidFill>
                </a:rPr>
                <a:t>Fuzzy Classifier Means (FSM)</a:t>
              </a:r>
              <a:endParaRPr lang="ru-RU" sz="1800" b="1" dirty="0">
                <a:solidFill>
                  <a:schemeClr val="accent1"/>
                </a:solidFill>
              </a:endParaRPr>
            </a:p>
          </p:txBody>
        </p:sp>
        <p:sp>
          <p:nvSpPr>
            <p:cNvPr id="26" name="Прямоугольник 25"/>
            <p:cNvSpPr/>
            <p:nvPr/>
          </p:nvSpPr>
          <p:spPr>
            <a:xfrm>
              <a:off x="7586159" y="5834921"/>
              <a:ext cx="1656889" cy="7700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200"/>
                </a:lnSpc>
              </a:pPr>
              <a:r>
                <a:rPr lang="ru-RU" sz="1800" b="1" dirty="0">
                  <a:solidFill>
                    <a:schemeClr val="accent1"/>
                  </a:solidFill>
                </a:rPr>
                <a:t>С </a:t>
              </a:r>
              <a:r>
                <a:rPr lang="ru-RU" sz="1800" b="1" dirty="0" err="1">
                  <a:solidFill>
                    <a:schemeClr val="accent1"/>
                  </a:solidFill>
                </a:rPr>
                <a:t>использова</a:t>
              </a:r>
              <a:r>
                <a:rPr lang="ru-RU" sz="1800" b="1" dirty="0">
                  <a:solidFill>
                    <a:schemeClr val="accent1"/>
                  </a:solidFill>
                </a:rPr>
                <a:t>-</a:t>
              </a:r>
            </a:p>
            <a:p>
              <a:pPr algn="ctr">
                <a:lnSpc>
                  <a:spcPts val="1200"/>
                </a:lnSpc>
              </a:pPr>
              <a:r>
                <a:rPr lang="ru-RU" sz="1800" b="1" dirty="0" err="1">
                  <a:solidFill>
                    <a:schemeClr val="accent1"/>
                  </a:solidFill>
                </a:rPr>
                <a:t>нием</a:t>
              </a:r>
              <a:r>
                <a:rPr lang="ru-RU" sz="1800" b="1" dirty="0">
                  <a:solidFill>
                    <a:schemeClr val="accent1"/>
                  </a:solidFill>
                </a:rPr>
                <a:t> генетических алгоритмов</a:t>
              </a:r>
            </a:p>
          </p:txBody>
        </p:sp>
        <p:sp>
          <p:nvSpPr>
            <p:cNvPr id="27" name="Прямоугольник 26"/>
            <p:cNvSpPr/>
            <p:nvPr/>
          </p:nvSpPr>
          <p:spPr>
            <a:xfrm>
              <a:off x="5527032" y="5173756"/>
              <a:ext cx="1755895" cy="158218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5738" indent="-185738">
                <a:lnSpc>
                  <a:spcPts val="1500"/>
                </a:lnSpc>
                <a:buFont typeface="Arial" panose="020B0604020202020204" pitchFamily="34" charset="0"/>
                <a:buChar char="•"/>
              </a:pPr>
              <a:r>
                <a:rPr lang="en-US" sz="1800" b="1" i="1" dirty="0">
                  <a:solidFill>
                    <a:schemeClr val="accent1"/>
                  </a:solidFill>
                </a:rPr>
                <a:t>k</a:t>
              </a:r>
              <a:r>
                <a:rPr lang="en-US" sz="1800" b="1" dirty="0">
                  <a:solidFill>
                    <a:schemeClr val="accent1"/>
                  </a:solidFill>
                </a:rPr>
                <a:t>-means</a:t>
              </a:r>
            </a:p>
            <a:p>
              <a:pPr marL="185738" indent="-185738">
                <a:lnSpc>
                  <a:spcPts val="1500"/>
                </a:lnSpc>
                <a:buFont typeface="Arial" panose="020B0604020202020204" pitchFamily="34" charset="0"/>
                <a:buChar char="•"/>
              </a:pPr>
              <a:r>
                <a:rPr lang="en-US" sz="1800" b="1" dirty="0">
                  <a:solidFill>
                    <a:schemeClr val="accent1"/>
                  </a:solidFill>
                </a:rPr>
                <a:t>Expectation-Maximization</a:t>
              </a:r>
            </a:p>
            <a:p>
              <a:pPr marL="185738" indent="-185738">
                <a:lnSpc>
                  <a:spcPts val="1500"/>
                </a:lnSpc>
                <a:buFont typeface="Arial" panose="020B0604020202020204" pitchFamily="34" charset="0"/>
                <a:buChar char="•"/>
              </a:pPr>
              <a:r>
                <a:rPr lang="ru-RU" sz="1800" b="1" dirty="0">
                  <a:solidFill>
                    <a:schemeClr val="accent1"/>
                  </a:solidFill>
                </a:rPr>
                <a:t>С </a:t>
              </a:r>
              <a:r>
                <a:rPr lang="ru-RU" sz="1800" b="1" dirty="0" err="1">
                  <a:solidFill>
                    <a:schemeClr val="accent1"/>
                  </a:solidFill>
                </a:rPr>
                <a:t>использова</a:t>
              </a:r>
              <a:endParaRPr lang="ru-RU" sz="1800" b="1" dirty="0">
                <a:solidFill>
                  <a:schemeClr val="accent1"/>
                </a:solidFill>
              </a:endParaRPr>
            </a:p>
            <a:p>
              <a:pPr>
                <a:lnSpc>
                  <a:spcPts val="1500"/>
                </a:lnSpc>
              </a:pPr>
              <a:r>
                <a:rPr lang="ru-RU" sz="1800" b="1" dirty="0">
                  <a:solidFill>
                    <a:schemeClr val="accent1"/>
                  </a:solidFill>
                </a:rPr>
                <a:t>-</a:t>
              </a:r>
              <a:r>
                <a:rPr lang="ru-RU" sz="1800" b="1" dirty="0" err="1">
                  <a:solidFill>
                    <a:schemeClr val="accent1"/>
                  </a:solidFill>
                </a:rPr>
                <a:t>нием</a:t>
              </a:r>
              <a:r>
                <a:rPr lang="ru-RU" sz="1800" b="1" dirty="0">
                  <a:solidFill>
                    <a:schemeClr val="accent1"/>
                  </a:solidFill>
                </a:rPr>
                <a:t> ИНС</a:t>
              </a:r>
            </a:p>
            <a:p>
              <a:pPr marL="185738" indent="-185738">
                <a:lnSpc>
                  <a:spcPts val="1500"/>
                </a:lnSpc>
                <a:buFont typeface="Arial" panose="020B0604020202020204" pitchFamily="34" charset="0"/>
                <a:buChar char="•"/>
              </a:pPr>
              <a:r>
                <a:rPr lang="ru-RU" sz="1800" b="1" dirty="0">
                  <a:solidFill>
                    <a:schemeClr val="accent1"/>
                  </a:solidFill>
                </a:rPr>
                <a:t>С </a:t>
              </a:r>
              <a:r>
                <a:rPr lang="ru-RU" sz="1800" b="1" dirty="0" err="1">
                  <a:solidFill>
                    <a:schemeClr val="accent1"/>
                  </a:solidFill>
                </a:rPr>
                <a:t>использова</a:t>
              </a:r>
              <a:endParaRPr lang="ru-RU" sz="1800" b="1" dirty="0">
                <a:solidFill>
                  <a:schemeClr val="accent1"/>
                </a:solidFill>
              </a:endParaRPr>
            </a:p>
            <a:p>
              <a:pPr>
                <a:lnSpc>
                  <a:spcPts val="1500"/>
                </a:lnSpc>
              </a:pPr>
              <a:r>
                <a:rPr lang="ru-RU" sz="1800" b="1" dirty="0">
                  <a:solidFill>
                    <a:schemeClr val="accent1"/>
                  </a:solidFill>
                </a:rPr>
                <a:t>-</a:t>
              </a:r>
              <a:r>
                <a:rPr lang="ru-RU" sz="1800" b="1" dirty="0" err="1">
                  <a:solidFill>
                    <a:schemeClr val="accent1"/>
                  </a:solidFill>
                </a:rPr>
                <a:t>нием</a:t>
              </a:r>
              <a:r>
                <a:rPr lang="ru-RU" sz="1800" b="1" dirty="0">
                  <a:solidFill>
                    <a:schemeClr val="accent1"/>
                  </a:solidFill>
                </a:rPr>
                <a:t> ГА</a:t>
              </a:r>
            </a:p>
          </p:txBody>
        </p:sp>
        <p:cxnSp>
          <p:nvCxnSpPr>
            <p:cNvPr id="21" name="Соединительная линия уступом 20"/>
            <p:cNvCxnSpPr>
              <a:endCxn id="4" idx="0"/>
            </p:cNvCxnSpPr>
            <p:nvPr/>
          </p:nvCxnSpPr>
          <p:spPr>
            <a:xfrm rot="10800000" flipV="1">
              <a:off x="2949179" y="3563144"/>
              <a:ext cx="471152" cy="35454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Соединительная линия уступом 27"/>
            <p:cNvCxnSpPr>
              <a:stCxn id="2" idx="3"/>
              <a:endCxn id="13" idx="0"/>
            </p:cNvCxnSpPr>
            <p:nvPr/>
          </p:nvCxnSpPr>
          <p:spPr>
            <a:xfrm>
              <a:off x="6660691" y="3541564"/>
              <a:ext cx="392660" cy="37867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4816" name="Прямая со стрелкой 674815"/>
            <p:cNvCxnSpPr/>
            <p:nvPr/>
          </p:nvCxnSpPr>
          <p:spPr>
            <a:xfrm>
              <a:off x="3698577" y="4428329"/>
              <a:ext cx="0" cy="145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4819" name="Прямая со стрелкой 674818"/>
            <p:cNvCxnSpPr/>
            <p:nvPr/>
          </p:nvCxnSpPr>
          <p:spPr>
            <a:xfrm>
              <a:off x="2042008" y="4428329"/>
              <a:ext cx="0" cy="138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4833" name="Соединительная линия уступом 674832"/>
            <p:cNvCxnSpPr>
              <a:endCxn id="24" idx="1"/>
            </p:cNvCxnSpPr>
            <p:nvPr/>
          </p:nvCxnSpPr>
          <p:spPr>
            <a:xfrm rot="16200000" flipH="1">
              <a:off x="2986532" y="5221928"/>
              <a:ext cx="401010" cy="1264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Прямая со стрелкой 50"/>
            <p:cNvCxnSpPr/>
            <p:nvPr/>
          </p:nvCxnSpPr>
          <p:spPr>
            <a:xfrm>
              <a:off x="7875041" y="4413657"/>
              <a:ext cx="0" cy="1456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Прямая со стрелкой 51"/>
            <p:cNvCxnSpPr/>
            <p:nvPr/>
          </p:nvCxnSpPr>
          <p:spPr>
            <a:xfrm>
              <a:off x="6532737" y="4420993"/>
              <a:ext cx="0" cy="1383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Соединительная линия уступом 53"/>
            <p:cNvCxnSpPr/>
            <p:nvPr/>
          </p:nvCxnSpPr>
          <p:spPr>
            <a:xfrm rot="16200000" flipH="1">
              <a:off x="615565" y="5204705"/>
              <a:ext cx="401010" cy="1264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Соединительная линия уступом 54"/>
            <p:cNvCxnSpPr/>
            <p:nvPr/>
          </p:nvCxnSpPr>
          <p:spPr>
            <a:xfrm rot="16200000" flipH="1">
              <a:off x="5256159" y="5221929"/>
              <a:ext cx="401010" cy="1264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Соединительная линия уступом 55"/>
            <p:cNvCxnSpPr/>
            <p:nvPr/>
          </p:nvCxnSpPr>
          <p:spPr>
            <a:xfrm rot="16200000" flipH="1">
              <a:off x="7307138" y="5232552"/>
              <a:ext cx="401010" cy="1264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Соединительная линия уступом 56"/>
            <p:cNvCxnSpPr>
              <a:endCxn id="26" idx="1"/>
            </p:cNvCxnSpPr>
            <p:nvPr/>
          </p:nvCxnSpPr>
          <p:spPr>
            <a:xfrm rot="16200000" flipH="1">
              <a:off x="7157145" y="5790954"/>
              <a:ext cx="724386" cy="13364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674840" name="Рисунок 674839"/>
          <p:cNvPicPr>
            <a:picLocks noChangeAspect="1"/>
          </p:cNvPicPr>
          <p:nvPr/>
        </p:nvPicPr>
        <p:blipFill>
          <a:blip r:embed="rId2"/>
          <a:stretch>
            <a:fillRect/>
          </a:stretch>
        </p:blipFill>
        <p:spPr>
          <a:xfrm>
            <a:off x="1690426" y="4844213"/>
            <a:ext cx="3867150" cy="2058594"/>
          </a:xfrm>
          <a:prstGeom prst="rect">
            <a:avLst/>
          </a:prstGeom>
        </p:spPr>
      </p:pic>
      <p:grpSp>
        <p:nvGrpSpPr>
          <p:cNvPr id="37" name="Группа 36"/>
          <p:cNvGrpSpPr/>
          <p:nvPr/>
        </p:nvGrpSpPr>
        <p:grpSpPr>
          <a:xfrm>
            <a:off x="5656900" y="4931298"/>
            <a:ext cx="209673" cy="1884424"/>
            <a:chOff x="4461511" y="4931298"/>
            <a:chExt cx="209673" cy="1884424"/>
          </a:xfrm>
        </p:grpSpPr>
        <p:cxnSp>
          <p:nvCxnSpPr>
            <p:cNvPr id="66" name="Соединительная линия уступом 65"/>
            <p:cNvCxnSpPr/>
            <p:nvPr/>
          </p:nvCxnSpPr>
          <p:spPr>
            <a:xfrm rot="5400000">
              <a:off x="3634162" y="5778700"/>
              <a:ext cx="1884424" cy="189620"/>
            </a:xfrm>
            <a:prstGeom prst="bentConnector3">
              <a:avLst>
                <a:gd name="adj1" fmla="val 10054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Прямая соединительная линия 35"/>
            <p:cNvCxnSpPr/>
            <p:nvPr/>
          </p:nvCxnSpPr>
          <p:spPr>
            <a:xfrm flipH="1">
              <a:off x="4461511" y="4942135"/>
              <a:ext cx="209673"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650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482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482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674840"/>
                                        </p:tgtEl>
                                        <p:attrNameLst>
                                          <p:attrName>style.visibility</p:attrName>
                                        </p:attrNameLst>
                                      </p:cBhvr>
                                      <p:to>
                                        <p:strVal val="visible"/>
                                      </p:to>
                                    </p:set>
                                    <p:anim calcmode="lin" valueType="num">
                                      <p:cBhvr additive="base">
                                        <p:cTn id="15" dur="500" fill="hold"/>
                                        <p:tgtEl>
                                          <p:spTgt spid="674840"/>
                                        </p:tgtEl>
                                        <p:attrNameLst>
                                          <p:attrName>ppt_x</p:attrName>
                                        </p:attrNameLst>
                                      </p:cBhvr>
                                      <p:tavLst>
                                        <p:tav tm="0">
                                          <p:val>
                                            <p:strVal val="#ppt_x"/>
                                          </p:val>
                                        </p:tav>
                                        <p:tav tm="100000">
                                          <p:val>
                                            <p:strVal val="#ppt_x"/>
                                          </p:val>
                                        </p:tav>
                                      </p:tavLst>
                                    </p:anim>
                                    <p:anim calcmode="lin" valueType="num">
                                      <p:cBhvr additive="base">
                                        <p:cTn id="16" dur="500" fill="hold"/>
                                        <p:tgtEl>
                                          <p:spTgt spid="67484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fill="hold"/>
                                        <p:tgtEl>
                                          <p:spTgt spid="37"/>
                                        </p:tgtEl>
                                        <p:attrNameLst>
                                          <p:attrName>ppt_x</p:attrName>
                                        </p:attrNameLst>
                                      </p:cBhvr>
                                      <p:tavLst>
                                        <p:tav tm="0">
                                          <p:val>
                                            <p:strVal val="#ppt_x"/>
                                          </p:val>
                                        </p:tav>
                                        <p:tav tm="100000">
                                          <p:val>
                                            <p:strVal val="#ppt_x"/>
                                          </p:val>
                                        </p:tav>
                                      </p:tavLst>
                                    </p:anim>
                                    <p:anim calcmode="lin" valueType="num">
                                      <p:cBhvr additive="base">
                                        <p:cTn id="20"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42</a:t>
            </a:fld>
            <a:endParaRPr lang="ru-RU" sz="1400" dirty="0">
              <a:solidFill>
                <a:schemeClr val="tx1"/>
              </a:solidFill>
            </a:endParaRPr>
          </a:p>
        </p:txBody>
      </p:sp>
      <p:sp>
        <p:nvSpPr>
          <p:cNvPr id="674825" name="Rectangle 9"/>
          <p:cNvSpPr>
            <a:spLocks noChangeArrowheads="1"/>
          </p:cNvSpPr>
          <p:nvPr/>
        </p:nvSpPr>
        <p:spPr bwMode="auto">
          <a:xfrm>
            <a:off x="1095556" y="1941286"/>
            <a:ext cx="10620385" cy="4286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pPr>
            <a:r>
              <a:rPr lang="ru-RU" sz="2200" dirty="0"/>
              <a:t>На основе дополнительных характеристик, связанных с механизмами представления и обработки исходных данных, можно выделить:</a:t>
            </a:r>
          </a:p>
          <a:p>
            <a:pPr lvl="1">
              <a:lnSpc>
                <a:spcPts val="3000"/>
              </a:lnSpc>
            </a:pPr>
            <a:r>
              <a:rPr lang="ru-RU" sz="2200" dirty="0"/>
              <a:t>• </a:t>
            </a:r>
            <a:r>
              <a:rPr lang="ru-RU" dirty="0"/>
              <a:t>алгоритмы, оперирующие мерами близости/расстояния объектов множества;</a:t>
            </a:r>
          </a:p>
          <a:p>
            <a:pPr lvl="1">
              <a:lnSpc>
                <a:spcPts val="3000"/>
              </a:lnSpc>
            </a:pPr>
            <a:r>
              <a:rPr lang="ru-RU" dirty="0"/>
              <a:t>• алгоритмы, работающие с векторами характеристик;</a:t>
            </a:r>
          </a:p>
          <a:p>
            <a:pPr lvl="1">
              <a:lnSpc>
                <a:spcPts val="3000"/>
              </a:lnSpc>
            </a:pPr>
            <a:r>
              <a:rPr lang="ru-RU" dirty="0"/>
              <a:t>• вероятностные алгоритмы, основанные на порождающей модели (например, НММ-кластеризация семейств последовательностей);</a:t>
            </a:r>
          </a:p>
          <a:p>
            <a:pPr lvl="1">
              <a:lnSpc>
                <a:spcPts val="3000"/>
              </a:lnSpc>
            </a:pPr>
            <a:r>
              <a:rPr lang="ru-RU" dirty="0"/>
              <a:t>• граф-ориентированные — предназначенные для анализа информации, представленной в виде сетей (разного рода карты связей/взаимодействия);</a:t>
            </a:r>
          </a:p>
          <a:p>
            <a:pPr lvl="1">
              <a:lnSpc>
                <a:spcPts val="3000"/>
              </a:lnSpc>
            </a:pPr>
            <a:r>
              <a:rPr lang="ru-RU" dirty="0"/>
              <a:t>• </a:t>
            </a:r>
            <a:r>
              <a:rPr lang="ru-RU" dirty="0" err="1"/>
              <a:t>бикластеризации</a:t>
            </a:r>
            <a:r>
              <a:rPr lang="ru-RU" dirty="0"/>
              <a:t> — обработка данных серии экспериментов над множеством образцов, заключающаяся в выделении наборов строк и столбцов матрицы результатов, с определенными паттернами распределения значений.</a:t>
            </a:r>
          </a:p>
        </p:txBody>
      </p:sp>
      <p:sp>
        <p:nvSpPr>
          <p:cNvPr id="674826" name="Rectangle 10"/>
          <p:cNvSpPr>
            <a:spLocks noChangeArrowheads="1"/>
          </p:cNvSpPr>
          <p:nvPr/>
        </p:nvSpPr>
        <p:spPr bwMode="auto">
          <a:xfrm>
            <a:off x="2085653" y="1207477"/>
            <a:ext cx="7936242" cy="406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A50021">
                      <a:alpha val="6000"/>
                    </a:srgbClr>
                  </a:outerShdw>
                </a:effectLst>
              </a14:hiddenEffects>
            </a:ext>
          </a:extLst>
        </p:spPr>
        <p:txBody>
          <a:bodyPr>
            <a:spAutoFit/>
          </a:bodyPr>
          <a:lstStyle>
            <a:lvl1pPr>
              <a:lnSpc>
                <a:spcPct val="85000"/>
              </a:lnSpc>
              <a:defRPr sz="4000">
                <a:solidFill>
                  <a:schemeClr val="tx2"/>
                </a:solidFill>
                <a:effectLst>
                  <a:outerShdw blurRad="38100" dist="38100" dir="2700000" algn="tl">
                    <a:srgbClr val="000000"/>
                  </a:outerShdw>
                </a:effectLst>
                <a:latin typeface="Segoe Semibold" pitchFamily="34" charset="0"/>
              </a:defRPr>
            </a:lvl1pPr>
            <a:lvl2pPr>
              <a:lnSpc>
                <a:spcPct val="85000"/>
              </a:lnSpc>
              <a:defRPr sz="4000">
                <a:solidFill>
                  <a:schemeClr val="tx2"/>
                </a:solidFill>
                <a:effectLst>
                  <a:outerShdw blurRad="38100" dist="38100" dir="2700000" algn="tl">
                    <a:srgbClr val="000000"/>
                  </a:outerShdw>
                </a:effectLst>
                <a:latin typeface="Segoe Semibold" pitchFamily="34" charset="0"/>
              </a:defRPr>
            </a:lvl2pPr>
            <a:lvl3pPr>
              <a:lnSpc>
                <a:spcPct val="85000"/>
              </a:lnSpc>
              <a:defRPr sz="4000">
                <a:solidFill>
                  <a:schemeClr val="tx2"/>
                </a:solidFill>
                <a:effectLst>
                  <a:outerShdw blurRad="38100" dist="38100" dir="2700000" algn="tl">
                    <a:srgbClr val="000000"/>
                  </a:outerShdw>
                </a:effectLst>
                <a:latin typeface="Segoe Semibold" pitchFamily="34" charset="0"/>
              </a:defRPr>
            </a:lvl3pPr>
            <a:lvl4pPr>
              <a:lnSpc>
                <a:spcPct val="85000"/>
              </a:lnSpc>
              <a:defRPr sz="4000">
                <a:solidFill>
                  <a:schemeClr val="tx2"/>
                </a:solidFill>
                <a:effectLst>
                  <a:outerShdw blurRad="38100" dist="38100" dir="2700000" algn="tl">
                    <a:srgbClr val="000000"/>
                  </a:outerShdw>
                </a:effectLst>
                <a:latin typeface="Segoe Semibold" pitchFamily="34" charset="0"/>
              </a:defRPr>
            </a:lvl4pPr>
            <a:lvl5pPr>
              <a:lnSpc>
                <a:spcPct val="85000"/>
              </a:lnSpc>
              <a:defRPr sz="4000">
                <a:solidFill>
                  <a:schemeClr val="tx2"/>
                </a:solidFill>
                <a:effectLst>
                  <a:outerShdw blurRad="38100" dist="38100" dir="2700000" algn="tl">
                    <a:srgbClr val="000000"/>
                  </a:outerShdw>
                </a:effectLst>
                <a:latin typeface="Segoe Semibold" pitchFamily="34" charset="0"/>
              </a:defRPr>
            </a:lvl5pPr>
            <a:lvl6pPr marL="4572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6pPr>
            <a:lvl7pPr marL="9144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7pPr>
            <a:lvl8pPr marL="13716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8pPr>
            <a:lvl9pPr marL="1828800" fontAlgn="base">
              <a:lnSpc>
                <a:spcPct val="85000"/>
              </a:lnSpc>
              <a:spcBef>
                <a:spcPct val="0"/>
              </a:spcBef>
              <a:spcAft>
                <a:spcPct val="0"/>
              </a:spcAft>
              <a:defRPr sz="4000">
                <a:solidFill>
                  <a:schemeClr val="tx2"/>
                </a:solidFill>
                <a:effectLst>
                  <a:outerShdw blurRad="38100" dist="38100" dir="2700000" algn="tl">
                    <a:srgbClr val="000000"/>
                  </a:outerShdw>
                </a:effectLst>
                <a:latin typeface="Segoe Semibold" pitchFamily="34" charset="0"/>
              </a:defRPr>
            </a:lvl9pPr>
          </a:lstStyle>
          <a:p>
            <a:pPr algn="ctr" eaLnBrk="1" hangingPunct="1">
              <a:defRPr/>
            </a:pPr>
            <a:r>
              <a:rPr lang="ru-RU" altLang="ru-RU" sz="2400" b="1" i="1" dirty="0">
                <a:solidFill>
                  <a:schemeClr val="accent1"/>
                </a:solidFill>
                <a:effectLst/>
              </a:rPr>
              <a:t>Виды алгоритмов кластеризации:</a:t>
            </a:r>
            <a:endParaRPr lang="en-US" altLang="ru-RU" sz="2400" b="1" i="1" dirty="0">
              <a:solidFill>
                <a:schemeClr val="accent1"/>
              </a:solidFill>
              <a:effectLst/>
            </a:endParaRPr>
          </a:p>
        </p:txBody>
      </p:sp>
      <p:sp>
        <p:nvSpPr>
          <p:cNvPr id="10" name="Rectangle 2">
            <a:extLst>
              <a:ext uri="{FF2B5EF4-FFF2-40B4-BE49-F238E27FC236}">
                <a16:creationId xmlns:a16="http://schemas.microsoft.com/office/drawing/2014/main" id="{C190192F-64C4-4B3F-A0B3-8C6EDE8C77B7}"/>
              </a:ext>
            </a:extLst>
          </p:cNvPr>
          <p:cNvSpPr txBox="1">
            <a:spLocks noChangeArrowheads="1"/>
          </p:cNvSpPr>
          <p:nvPr/>
        </p:nvSpPr>
        <p:spPr>
          <a:xfrm>
            <a:off x="3237397" y="254505"/>
            <a:ext cx="6336705" cy="603710"/>
          </a:xfrm>
          <a:prstGeom prst="rect">
            <a:avLst/>
          </a:prstGeom>
        </p:spPr>
        <p:txBody>
          <a:bodyPr vert="horz" lIns="91440" tIns="45720" rIns="91440" bIns="45720" rtlCol="0" anchor="ctr">
            <a:normAutofit fontScale="90000" lnSpcReduction="10000"/>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defRPr/>
            </a:pPr>
            <a:r>
              <a:rPr lang="ru-RU" altLang="ru-RU" sz="4000"/>
              <a:t>Кластеризация</a:t>
            </a:r>
            <a:endParaRPr lang="en-US" altLang="ru-RU" sz="4000" dirty="0"/>
          </a:p>
        </p:txBody>
      </p:sp>
    </p:spTree>
    <p:extLst>
      <p:ext uri="{BB962C8B-B14F-4D97-AF65-F5344CB8AC3E}">
        <p14:creationId xmlns:p14="http://schemas.microsoft.com/office/powerpoint/2010/main" val="3069686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482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482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482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482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482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482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482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75843" name="Rectangle 3"/>
          <p:cNvSpPr>
            <a:spLocks noGrp="1" noChangeArrowheads="1"/>
          </p:cNvSpPr>
          <p:nvPr>
            <p:ph idx="1"/>
          </p:nvPr>
        </p:nvSpPr>
        <p:spPr>
          <a:xfrm>
            <a:off x="1221557" y="946151"/>
            <a:ext cx="10657184" cy="1922510"/>
          </a:xfrm>
        </p:spPr>
        <p:txBody>
          <a:bodyPr>
            <a:noAutofit/>
          </a:bodyPr>
          <a:lstStyle/>
          <a:p>
            <a:pPr marL="0" indent="363538">
              <a:buNone/>
              <a:defRPr/>
            </a:pPr>
            <a:r>
              <a:rPr lang="ru-RU" altLang="ru-RU" sz="2200" b="1" i="1" dirty="0"/>
              <a:t>Масштабируемость</a:t>
            </a:r>
            <a:r>
              <a:rPr lang="ru-RU" altLang="ru-RU" sz="2200" dirty="0"/>
              <a:t> – важнейшее свойство алгоритма, зависящее от его вычислительной сложности и программной реализации. Алгоритм называют масштабируемым, если при неизменной емкости оперативной памяти с увеличением числа записей в базе данных время его работы растет линейно. </a:t>
            </a:r>
          </a:p>
          <a:p>
            <a:pPr marL="261938" lvl="1" indent="-261938">
              <a:defRPr/>
            </a:pPr>
            <a:r>
              <a:rPr lang="ru-RU" altLang="ru-RU" sz="2200" b="1" dirty="0"/>
              <a:t>Кластерные (неиерархические) алгоритмы бывают  </a:t>
            </a:r>
            <a:r>
              <a:rPr lang="ru-RU" altLang="ru-RU" sz="2200" b="1" i="1" dirty="0"/>
              <a:t>масштабируемыми</a:t>
            </a:r>
            <a:r>
              <a:rPr lang="ru-RU" altLang="ru-RU" sz="2200" b="1" dirty="0"/>
              <a:t> и </a:t>
            </a:r>
            <a:r>
              <a:rPr lang="ru-RU" altLang="ru-RU" sz="2200" b="1" i="1" dirty="0" err="1"/>
              <a:t>немасштабируемыми</a:t>
            </a:r>
            <a:r>
              <a:rPr lang="ru-RU" altLang="ru-RU" sz="2200" b="1" i="1" dirty="0"/>
              <a:t>.</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43</a:t>
            </a:fld>
            <a:endParaRPr lang="ru-RU" sz="1400">
              <a:solidFill>
                <a:schemeClr val="tx1"/>
              </a:solidFill>
            </a:endParaRPr>
          </a:p>
        </p:txBody>
      </p:sp>
      <p:pic>
        <p:nvPicPr>
          <p:cNvPr id="123908" name="Picture 4" descr="&amp;Rcy;&amp;iecy;&amp;zcy;&amp;ucy;&amp;lcy;&amp;softcy;&amp;tcy;&amp;acy;&amp;tcy; &amp;kcy;&amp;lcy;&amp;acy;&amp;scy;&amp;tcy;&amp;iecy;&amp;rcy;&amp;icy;&amp;zcy;&amp;acy;&amp;tscy;&amp;icy;&amp;icy; &amp;acy;&amp;lcy;&amp;gcy;&amp;ocy;&amp;rcy;&amp;icy;&amp;tcy;&amp;mcy;&amp;ocy;&amp;mcy; k-mea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8275" y="3162138"/>
            <a:ext cx="3639277" cy="2599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9" name="Rectangle 6"/>
          <p:cNvSpPr>
            <a:spLocks noChangeArrowheads="1"/>
          </p:cNvSpPr>
          <p:nvPr/>
        </p:nvSpPr>
        <p:spPr bwMode="auto">
          <a:xfrm>
            <a:off x="1365854" y="5853230"/>
            <a:ext cx="4122359" cy="627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r>
              <a:rPr lang="en-US" altLang="ru-RU" sz="1663" b="0" dirty="0" err="1"/>
              <a:t>Результат</a:t>
            </a:r>
            <a:r>
              <a:rPr lang="en-US" altLang="ru-RU" sz="1663" b="0" dirty="0"/>
              <a:t> </a:t>
            </a:r>
            <a:r>
              <a:rPr lang="en-US" altLang="ru-RU" sz="1663" b="0" dirty="0" err="1"/>
              <a:t>кластеризации</a:t>
            </a:r>
            <a:r>
              <a:rPr lang="en-US" altLang="ru-RU" sz="1663" b="0" dirty="0"/>
              <a:t> </a:t>
            </a:r>
            <a:r>
              <a:rPr lang="en-US" altLang="ru-RU" sz="1663" b="0" dirty="0" err="1"/>
              <a:t>алгоритмом</a:t>
            </a:r>
            <a:r>
              <a:rPr lang="en-US" altLang="ru-RU" sz="1663" b="0" dirty="0"/>
              <a:t> k-means</a:t>
            </a:r>
            <a:r>
              <a:rPr lang="ru-RU" altLang="ru-RU" sz="1663" b="0" dirty="0">
                <a:latin typeface="Arial" panose="020B0604020202020204" pitchFamily="34" charset="0"/>
              </a:rPr>
              <a:t> (неиерархический алгоритм)</a:t>
            </a:r>
            <a:r>
              <a:rPr lang="en-US" altLang="ru-RU" sz="1663" dirty="0"/>
              <a:t> </a:t>
            </a:r>
          </a:p>
        </p:txBody>
      </p:sp>
      <p:sp>
        <p:nvSpPr>
          <p:cNvPr id="123910" name="Text Box 7"/>
          <p:cNvSpPr txBox="1">
            <a:spLocks noChangeArrowheads="1"/>
          </p:cNvSpPr>
          <p:nvPr/>
        </p:nvSpPr>
        <p:spPr bwMode="auto">
          <a:xfrm>
            <a:off x="5288168" y="3061871"/>
            <a:ext cx="6746671" cy="2862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spcBef>
                <a:spcPct val="50000"/>
              </a:spcBef>
            </a:pPr>
            <a:r>
              <a:rPr lang="ru-RU" altLang="ru-RU" sz="1800" b="0" dirty="0">
                <a:latin typeface="Arial" panose="020B0604020202020204" pitchFamily="34" charset="0"/>
              </a:rPr>
              <a:t>Семейства k-средних (k-</a:t>
            </a:r>
            <a:r>
              <a:rPr lang="ru-RU" altLang="ru-RU" sz="1800" b="0" dirty="0" err="1">
                <a:latin typeface="Arial" panose="020B0604020202020204" pitchFamily="34" charset="0"/>
              </a:rPr>
              <a:t>means</a:t>
            </a:r>
            <a:r>
              <a:rPr lang="ru-RU" altLang="ru-RU" sz="1800" b="0" dirty="0">
                <a:latin typeface="Arial" panose="020B0604020202020204" pitchFamily="34" charset="0"/>
              </a:rPr>
              <a:t>, </a:t>
            </a:r>
            <a:r>
              <a:rPr lang="ru-RU" altLang="ru-RU" sz="1800" b="0" dirty="0" err="1">
                <a:latin typeface="Arial" panose="020B0604020202020204" pitchFamily="34" charset="0"/>
              </a:rPr>
              <a:t>fuzzy</a:t>
            </a:r>
            <a:r>
              <a:rPr lang="ru-RU" altLang="ru-RU" sz="1800" b="0" dirty="0">
                <a:latin typeface="Arial" panose="020B0604020202020204" pitchFamily="34" charset="0"/>
              </a:rPr>
              <a:t> c-</a:t>
            </a:r>
            <a:r>
              <a:rPr lang="ru-RU" altLang="ru-RU" sz="1800" b="0" dirty="0" err="1">
                <a:latin typeface="Arial" panose="020B0604020202020204" pitchFamily="34" charset="0"/>
              </a:rPr>
              <a:t>means</a:t>
            </a:r>
            <a:r>
              <a:rPr lang="ru-RU" altLang="ru-RU" sz="1800" b="0" dirty="0">
                <a:latin typeface="Arial" panose="020B0604020202020204" pitchFamily="34" charset="0"/>
              </a:rPr>
              <a:t>, </a:t>
            </a:r>
            <a:r>
              <a:rPr lang="ru-RU" altLang="ru-RU" sz="1800" b="0" dirty="0" err="1">
                <a:latin typeface="Arial" panose="020B0604020202020204" pitchFamily="34" charset="0"/>
              </a:rPr>
              <a:t>Густафсон-Кесселя</a:t>
            </a:r>
            <a:r>
              <a:rPr lang="ru-RU" altLang="ru-RU" sz="1800" b="0" dirty="0">
                <a:latin typeface="Arial" panose="020B0604020202020204" pitchFamily="34" charset="0"/>
              </a:rPr>
              <a:t>) в качестве целевой функции используют сумму квадратов взвешенных отклонений координат объектов от центров искомых кластеров. Кластеры ищутся сферической либо эллипсоидной формы. В канонической реализации минимизация функции производится на основе метода множителей Лагранжа и позволяет найти только </a:t>
            </a:r>
            <a:r>
              <a:rPr lang="ru-RU" altLang="ru-RU" sz="1800" b="0" dirty="0">
                <a:solidFill>
                  <a:schemeClr val="tx2"/>
                </a:solidFill>
                <a:latin typeface="Arial" panose="020B0604020202020204" pitchFamily="34" charset="0"/>
              </a:rPr>
              <a:t>ближайший локальный минимум</a:t>
            </a:r>
            <a:r>
              <a:rPr lang="ru-RU" altLang="ru-RU" sz="1800" b="0" dirty="0">
                <a:latin typeface="Arial" panose="020B0604020202020204" pitchFamily="34" charset="0"/>
              </a:rPr>
              <a:t>. Использование методов глобального поиска (генетические алгоритмы) значительно увеличит вычислительную </a:t>
            </a:r>
            <a:r>
              <a:rPr lang="ru-RU" altLang="ru-RU" sz="1800" b="0" dirty="0">
                <a:solidFill>
                  <a:schemeClr val="tx2"/>
                </a:solidFill>
                <a:latin typeface="Arial" panose="020B0604020202020204" pitchFamily="34" charset="0"/>
              </a:rPr>
              <a:t>сложность алгоритма.</a:t>
            </a:r>
            <a:r>
              <a:rPr lang="ru-RU" altLang="ru-RU" sz="1800" b="0" dirty="0">
                <a:solidFill>
                  <a:schemeClr val="tx2"/>
                </a:solidFill>
              </a:rPr>
              <a:t> </a:t>
            </a:r>
          </a:p>
        </p:txBody>
      </p:sp>
      <p:sp>
        <p:nvSpPr>
          <p:cNvPr id="123911" name="Rectangle 8"/>
          <p:cNvSpPr>
            <a:spLocks noChangeArrowheads="1"/>
          </p:cNvSpPr>
          <p:nvPr/>
        </p:nvSpPr>
        <p:spPr bwMode="auto">
          <a:xfrm>
            <a:off x="1807222" y="6706813"/>
            <a:ext cx="6073523" cy="3618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accent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Segoe Semibold" charset="0"/>
              </a:defRPr>
            </a:lvl1pPr>
            <a:lvl2pPr marL="742950" indent="-285750">
              <a:defRPr b="1">
                <a:solidFill>
                  <a:schemeClr val="tx1"/>
                </a:solidFill>
                <a:latin typeface="Segoe Semibold" charset="0"/>
              </a:defRPr>
            </a:lvl2pPr>
            <a:lvl3pPr marL="1143000" indent="-228600">
              <a:defRPr b="1">
                <a:solidFill>
                  <a:schemeClr val="tx1"/>
                </a:solidFill>
                <a:latin typeface="Segoe Semibold" charset="0"/>
              </a:defRPr>
            </a:lvl3pPr>
            <a:lvl4pPr marL="1600200" indent="-228600">
              <a:defRPr b="1">
                <a:solidFill>
                  <a:schemeClr val="tx1"/>
                </a:solidFill>
                <a:latin typeface="Segoe Semibold" charset="0"/>
              </a:defRPr>
            </a:lvl4pPr>
            <a:lvl5pPr marL="2057400" indent="-228600">
              <a:defRPr b="1">
                <a:solidFill>
                  <a:schemeClr val="tx1"/>
                </a:solidFill>
                <a:latin typeface="Segoe Semibold" charset="0"/>
              </a:defRPr>
            </a:lvl5pPr>
            <a:lvl6pPr marL="2514600" indent="-228600" eaLnBrk="0" fontAlgn="base" hangingPunct="0">
              <a:spcBef>
                <a:spcPct val="0"/>
              </a:spcBef>
              <a:spcAft>
                <a:spcPct val="0"/>
              </a:spcAft>
              <a:defRPr b="1">
                <a:solidFill>
                  <a:schemeClr val="tx1"/>
                </a:solidFill>
                <a:latin typeface="Segoe Semibold" charset="0"/>
              </a:defRPr>
            </a:lvl6pPr>
            <a:lvl7pPr marL="2971800" indent="-228600" eaLnBrk="0" fontAlgn="base" hangingPunct="0">
              <a:spcBef>
                <a:spcPct val="0"/>
              </a:spcBef>
              <a:spcAft>
                <a:spcPct val="0"/>
              </a:spcAft>
              <a:defRPr b="1">
                <a:solidFill>
                  <a:schemeClr val="tx1"/>
                </a:solidFill>
                <a:latin typeface="Segoe Semibold" charset="0"/>
              </a:defRPr>
            </a:lvl7pPr>
            <a:lvl8pPr marL="3429000" indent="-228600" eaLnBrk="0" fontAlgn="base" hangingPunct="0">
              <a:spcBef>
                <a:spcPct val="0"/>
              </a:spcBef>
              <a:spcAft>
                <a:spcPct val="0"/>
              </a:spcAft>
              <a:defRPr b="1">
                <a:solidFill>
                  <a:schemeClr val="tx1"/>
                </a:solidFill>
                <a:latin typeface="Segoe Semibold" charset="0"/>
              </a:defRPr>
            </a:lvl8pPr>
            <a:lvl9pPr marL="3886200" indent="-228600" eaLnBrk="0" fontAlgn="base" hangingPunct="0">
              <a:spcBef>
                <a:spcPct val="0"/>
              </a:spcBef>
              <a:spcAft>
                <a:spcPct val="0"/>
              </a:spcAft>
              <a:defRPr b="1">
                <a:solidFill>
                  <a:schemeClr val="tx1"/>
                </a:solidFill>
                <a:latin typeface="Segoe Semibold" charset="0"/>
              </a:defRPr>
            </a:lvl9pPr>
          </a:lstStyle>
          <a:p>
            <a:pPr eaLnBrk="1" hangingPunct="1"/>
            <a:r>
              <a:rPr lang="ru-RU" altLang="ru-RU" sz="1663" dirty="0">
                <a:latin typeface="Arial" panose="020B0604020202020204" pitchFamily="34" charset="0"/>
              </a:rPr>
              <a:t>basegroup.ru/</a:t>
            </a:r>
            <a:r>
              <a:rPr lang="ru-RU" altLang="ru-RU" sz="1663" dirty="0" err="1">
                <a:latin typeface="Arial" panose="020B0604020202020204" pitchFamily="34" charset="0"/>
              </a:rPr>
              <a:t>library</a:t>
            </a:r>
            <a:r>
              <a:rPr lang="ru-RU" altLang="ru-RU" sz="1663" dirty="0">
                <a:latin typeface="Arial" panose="020B0604020202020204" pitchFamily="34" charset="0"/>
              </a:rPr>
              <a:t>/</a:t>
            </a:r>
            <a:r>
              <a:rPr lang="ru-RU" altLang="ru-RU" sz="1663" dirty="0" err="1">
                <a:latin typeface="Arial" panose="020B0604020202020204" pitchFamily="34" charset="0"/>
              </a:rPr>
              <a:t>analysis</a:t>
            </a:r>
            <a:r>
              <a:rPr lang="ru-RU" altLang="ru-RU" sz="1663" dirty="0">
                <a:latin typeface="Arial" panose="020B0604020202020204" pitchFamily="34" charset="0"/>
              </a:rPr>
              <a:t>/</a:t>
            </a:r>
            <a:r>
              <a:rPr lang="ru-RU" altLang="ru-RU" sz="1663" dirty="0" err="1">
                <a:latin typeface="Arial" panose="020B0604020202020204" pitchFamily="34" charset="0"/>
              </a:rPr>
              <a:t>clusterization</a:t>
            </a:r>
            <a:r>
              <a:rPr lang="ru-RU" altLang="ru-RU" sz="1663" dirty="0">
                <a:latin typeface="Arial" panose="020B0604020202020204" pitchFamily="34" charset="0"/>
              </a:rPr>
              <a:t>/</a:t>
            </a:r>
            <a:r>
              <a:rPr lang="ru-RU" altLang="ru-RU" sz="1663" dirty="0" err="1">
                <a:latin typeface="Arial" panose="020B0604020202020204" pitchFamily="34" charset="0"/>
              </a:rPr>
              <a:t>datamining</a:t>
            </a:r>
            <a:r>
              <a:rPr lang="ru-RU" altLang="ru-RU" sz="1663" dirty="0">
                <a:latin typeface="Arial" panose="020B0604020202020204" pitchFamily="34" charset="0"/>
              </a:rPr>
              <a:t>/</a:t>
            </a:r>
          </a:p>
        </p:txBody>
      </p:sp>
      <p:sp>
        <p:nvSpPr>
          <p:cNvPr id="14" name="Rectangle 2">
            <a:extLst>
              <a:ext uri="{FF2B5EF4-FFF2-40B4-BE49-F238E27FC236}">
                <a16:creationId xmlns:a16="http://schemas.microsoft.com/office/drawing/2014/main" id="{7379FD82-B809-4E7B-8092-C009C9EDBE71}"/>
              </a:ext>
            </a:extLst>
          </p:cNvPr>
          <p:cNvSpPr txBox="1">
            <a:spLocks noChangeArrowheads="1"/>
          </p:cNvSpPr>
          <p:nvPr/>
        </p:nvSpPr>
        <p:spPr>
          <a:xfrm>
            <a:off x="3237397" y="254505"/>
            <a:ext cx="6336705" cy="603710"/>
          </a:xfrm>
          <a:prstGeom prst="rect">
            <a:avLst/>
          </a:prstGeom>
        </p:spPr>
        <p:txBody>
          <a:bodyPr vert="horz" lIns="91440" tIns="45720" rIns="91440" bIns="45720" rtlCol="0" anchor="ctr">
            <a:normAutofit fontScale="90000" lnSpcReduction="10000"/>
          </a:bodyPr>
          <a:lstStyle>
            <a:lvl1pPr algn="ctr" defTabSz="950153" rtl="0" eaLnBrk="1" latinLnBrk="0" hangingPunct="1">
              <a:spcBef>
                <a:spcPct val="0"/>
              </a:spcBef>
              <a:buNone/>
              <a:defRPr sz="4572" kern="1200">
                <a:solidFill>
                  <a:schemeClr val="tx1"/>
                </a:solidFill>
                <a:latin typeface="+mj-lt"/>
                <a:ea typeface="+mj-ea"/>
                <a:cs typeface="+mj-cs"/>
              </a:defRPr>
            </a:lvl1pPr>
          </a:lstStyle>
          <a:p>
            <a:pPr fontAlgn="auto">
              <a:spcAft>
                <a:spcPts val="0"/>
              </a:spcAft>
              <a:defRPr/>
            </a:pPr>
            <a:r>
              <a:rPr lang="ru-RU" altLang="ru-RU" sz="4000"/>
              <a:t>Кластеризация</a:t>
            </a:r>
            <a:endParaRPr lang="en-US" altLang="ru-RU" sz="4000" dirty="0"/>
          </a:p>
        </p:txBody>
      </p:sp>
    </p:spTree>
    <p:extLst>
      <p:ext uri="{BB962C8B-B14F-4D97-AF65-F5344CB8AC3E}">
        <p14:creationId xmlns:p14="http://schemas.microsoft.com/office/powerpoint/2010/main" val="400236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1016529" cy="568915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9" name="Rectangle 3"/>
          <p:cNvSpPr>
            <a:spLocks noGrp="1" noChangeArrowheads="1"/>
          </p:cNvSpPr>
          <p:nvPr>
            <p:ph idx="1"/>
          </p:nvPr>
        </p:nvSpPr>
        <p:spPr>
          <a:xfrm>
            <a:off x="1921887" y="1285232"/>
            <a:ext cx="8876734" cy="367862"/>
          </a:xfrm>
        </p:spPr>
        <p:txBody>
          <a:bodyPr>
            <a:noAutofit/>
          </a:bodyPr>
          <a:lstStyle/>
          <a:p>
            <a:pPr>
              <a:defRPr/>
            </a:pPr>
            <a:r>
              <a:rPr lang="ru-RU" sz="2400" b="1" i="1" dirty="0">
                <a:solidFill>
                  <a:srgbClr val="0000FF"/>
                </a:solidFill>
              </a:rPr>
              <a:t>Алгоритмы, основанные на теории графов (иерархические)</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44</a:t>
            </a:fld>
            <a:endParaRPr lang="ru-RU" sz="1400">
              <a:solidFill>
                <a:schemeClr val="tx1"/>
              </a:solidFill>
            </a:endParaRPr>
          </a:p>
        </p:txBody>
      </p:sp>
      <p:sp>
        <p:nvSpPr>
          <p:cNvPr id="4" name="Rectangle 3"/>
          <p:cNvSpPr txBox="1">
            <a:spLocks noChangeArrowheads="1"/>
          </p:cNvSpPr>
          <p:nvPr/>
        </p:nvSpPr>
        <p:spPr bwMode="auto">
          <a:xfrm>
            <a:off x="1006921" y="2066258"/>
            <a:ext cx="11231860" cy="26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533400" indent="-533400" eaLnBrk="1" hangingPunct="1">
              <a:lnSpc>
                <a:spcPct val="85000"/>
              </a:lnSpc>
              <a:spcBef>
                <a:spcPct val="25000"/>
              </a:spcBef>
              <a:buClr>
                <a:srgbClr val="F4BE96"/>
              </a:buClr>
              <a:buSzPct val="80000"/>
              <a:buFont typeface="Segoe" charset="0"/>
              <a:buBlip>
                <a:blip r:embed="rId2"/>
              </a:buBlip>
              <a:defRPr sz="2400" b="0">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9pPr>
          </a:lstStyle>
          <a:p>
            <a:pPr>
              <a:buClr>
                <a:srgbClr val="0070C0"/>
              </a:buClr>
              <a:buFont typeface="Wingdings" panose="05000000000000000000" pitchFamily="2" charset="2"/>
              <a:buChar char="Ø"/>
              <a:defRPr/>
            </a:pPr>
            <a:r>
              <a:rPr lang="ru-RU" sz="2000" dirty="0">
                <a:effectLst/>
                <a:latin typeface="Arial" panose="020B0604020202020204" pitchFamily="34" charset="0"/>
              </a:rPr>
              <a:t>Суть таких алгоритмов заключается в том, что выборка объектов представляется в виде графа G=(V, E), вершинам которого соответствуют объекты, а ребра имеют вес, равный «расстоянию» между объектами. </a:t>
            </a:r>
          </a:p>
          <a:p>
            <a:pPr>
              <a:buClr>
                <a:srgbClr val="0070C0"/>
              </a:buClr>
              <a:buFont typeface="Wingdings" panose="05000000000000000000" pitchFamily="2" charset="2"/>
              <a:buChar char="Ø"/>
              <a:defRPr/>
            </a:pPr>
            <a:r>
              <a:rPr lang="ru-RU" sz="2000" dirty="0">
                <a:effectLst/>
                <a:latin typeface="Arial" panose="020B0604020202020204" pitchFamily="34" charset="0"/>
              </a:rPr>
              <a:t>Достоинством </a:t>
            </a:r>
            <a:r>
              <a:rPr lang="ru-RU" sz="2000" dirty="0" err="1">
                <a:effectLst/>
                <a:latin typeface="Arial" panose="020B0604020202020204" pitchFamily="34" charset="0"/>
              </a:rPr>
              <a:t>графовых</a:t>
            </a:r>
            <a:r>
              <a:rPr lang="ru-RU" sz="2000" dirty="0">
                <a:effectLst/>
                <a:latin typeface="Arial" panose="020B0604020202020204" pitchFamily="34" charset="0"/>
              </a:rPr>
              <a:t> алгоритмов кластеризации являются наглядность, относительная простота реализации и возможность внесения различных усовершенствований, основанных на геометрических соображениях. </a:t>
            </a:r>
          </a:p>
          <a:p>
            <a:pPr>
              <a:buClr>
                <a:srgbClr val="0070C0"/>
              </a:buClr>
              <a:buFont typeface="Wingdings" panose="05000000000000000000" pitchFamily="2" charset="2"/>
              <a:buChar char="Ø"/>
              <a:defRPr/>
            </a:pPr>
            <a:r>
              <a:rPr lang="ru-RU" sz="2000" dirty="0">
                <a:effectLst/>
                <a:latin typeface="Arial" panose="020B0604020202020204" pitchFamily="34" charset="0"/>
              </a:rPr>
              <a:t>Основными алгоритмами являются </a:t>
            </a:r>
            <a:r>
              <a:rPr lang="ru-RU" sz="2000" b="1" i="1" dirty="0">
                <a:effectLst/>
                <a:latin typeface="Arial" panose="020B0604020202020204" pitchFamily="34" charset="0"/>
              </a:rPr>
              <a:t>алгоритм выделения связных компонент, алгоритм построения минимального покрывающего (остовного) дерева и алгоритм послойной кластеризации.</a:t>
            </a:r>
          </a:p>
        </p:txBody>
      </p:sp>
      <p:sp>
        <p:nvSpPr>
          <p:cNvPr id="8" name="Rectangle 2">
            <a:extLst>
              <a:ext uri="{FF2B5EF4-FFF2-40B4-BE49-F238E27FC236}">
                <a16:creationId xmlns:a16="http://schemas.microsoft.com/office/drawing/2014/main" id="{69A9E4D3-685B-43C5-900C-1CE96C38B1CA}"/>
              </a:ext>
            </a:extLst>
          </p:cNvPr>
          <p:cNvSpPr>
            <a:spLocks noGrp="1" noChangeArrowheads="1"/>
          </p:cNvSpPr>
          <p:nvPr>
            <p:ph type="title"/>
          </p:nvPr>
        </p:nvSpPr>
        <p:spPr>
          <a:xfrm>
            <a:off x="3237397" y="254505"/>
            <a:ext cx="6336705" cy="603710"/>
          </a:xfrm>
        </p:spPr>
        <p:txBody>
          <a:bodyPr>
            <a:normAutofit fontScale="90000"/>
          </a:bodyPr>
          <a:lstStyle/>
          <a:p>
            <a:pPr eaLnBrk="1" hangingPunct="1">
              <a:defRPr/>
            </a:pPr>
            <a:r>
              <a:rPr lang="ru-RU" altLang="ru-RU" sz="4000" dirty="0"/>
              <a:t>Кластеризация</a:t>
            </a:r>
            <a:endParaRPr lang="en-US" altLang="ru-RU" sz="4000" dirty="0"/>
          </a:p>
        </p:txBody>
      </p:sp>
    </p:spTree>
    <p:extLst>
      <p:ext uri="{BB962C8B-B14F-4D97-AF65-F5344CB8AC3E}">
        <p14:creationId xmlns:p14="http://schemas.microsoft.com/office/powerpoint/2010/main" val="3042639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4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099" grpId="0" build="p" bldLvl="2"/>
      <p:bldP spid="4" grpId="0" build="p" bldLvl="2"/>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861424" y="278940"/>
            <a:ext cx="11305349" cy="5757323"/>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9" name="Rectangle 3"/>
          <p:cNvSpPr>
            <a:spLocks noGrp="1" noChangeArrowheads="1"/>
          </p:cNvSpPr>
          <p:nvPr>
            <p:ph idx="1"/>
          </p:nvPr>
        </p:nvSpPr>
        <p:spPr>
          <a:xfrm>
            <a:off x="1438277" y="1034158"/>
            <a:ext cx="7253307" cy="367862"/>
          </a:xfrm>
        </p:spPr>
        <p:txBody>
          <a:bodyPr>
            <a:noAutofit/>
          </a:bodyPr>
          <a:lstStyle/>
          <a:p>
            <a:pPr>
              <a:defRPr/>
            </a:pPr>
            <a:r>
              <a:rPr lang="ru-RU" sz="2400" b="1" i="1" dirty="0">
                <a:solidFill>
                  <a:srgbClr val="0000FF"/>
                </a:solidFill>
              </a:rPr>
              <a:t>Алгоритмы иерархической кластеризации</a:t>
            </a:r>
          </a:p>
        </p:txBody>
      </p:sp>
      <p:sp>
        <p:nvSpPr>
          <p:cNvPr id="3" name="Номер слайда 2"/>
          <p:cNvSpPr>
            <a:spLocks noGrp="1"/>
          </p:cNvSpPr>
          <p:nvPr>
            <p:ph type="sldNum" sz="quarter" idx="12"/>
          </p:nvPr>
        </p:nvSpPr>
        <p:spPr>
          <a:xfrm>
            <a:off x="11662716" y="6313028"/>
            <a:ext cx="553881" cy="379409"/>
          </a:xfrm>
        </p:spPr>
        <p:txBody>
          <a:bodyPr/>
          <a:lstStyle/>
          <a:p>
            <a:fld id="{952B6C0E-C4B9-4094-8E59-5B7DF00D5415}" type="slidenum">
              <a:rPr lang="ru-RU" sz="1400">
                <a:solidFill>
                  <a:schemeClr val="tx1"/>
                </a:solidFill>
              </a:rPr>
              <a:t>45</a:t>
            </a:fld>
            <a:endParaRPr lang="ru-RU" dirty="0">
              <a:solidFill>
                <a:schemeClr val="tx1"/>
              </a:solidFill>
            </a:endParaRPr>
          </a:p>
        </p:txBody>
      </p:sp>
      <p:sp>
        <p:nvSpPr>
          <p:cNvPr id="4" name="Rectangle 3"/>
          <p:cNvSpPr txBox="1">
            <a:spLocks noChangeArrowheads="1"/>
          </p:cNvSpPr>
          <p:nvPr/>
        </p:nvSpPr>
        <p:spPr bwMode="auto">
          <a:xfrm>
            <a:off x="573053" y="1625825"/>
            <a:ext cx="11233773"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533400" indent="-533400" eaLnBrk="1" hangingPunct="1">
              <a:lnSpc>
                <a:spcPct val="85000"/>
              </a:lnSpc>
              <a:spcBef>
                <a:spcPct val="25000"/>
              </a:spcBef>
              <a:buClr>
                <a:srgbClr val="F4BE96"/>
              </a:buClr>
              <a:buSzPct val="80000"/>
              <a:buFont typeface="Segoe" charset="0"/>
              <a:buBlip>
                <a:blip r:embed="rId2"/>
              </a:buBlip>
              <a:defRPr sz="2400" b="0">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9pPr>
          </a:lstStyle>
          <a:p>
            <a:pPr marL="273050">
              <a:lnSpc>
                <a:spcPct val="100000"/>
              </a:lnSpc>
              <a:buClr>
                <a:srgbClr val="0070C0"/>
              </a:buClr>
              <a:buFont typeface="Wingdings" panose="05000000000000000000" pitchFamily="2" charset="2"/>
              <a:buChar char="Ø"/>
              <a:defRPr/>
            </a:pPr>
            <a:r>
              <a:rPr lang="ru-RU" sz="2000" dirty="0">
                <a:effectLst/>
                <a:latin typeface="Arial" panose="020B0604020202020204" pitchFamily="34" charset="0"/>
              </a:rPr>
              <a:t>Могут быть восходящими и нисходящими. </a:t>
            </a:r>
          </a:p>
          <a:p>
            <a:pPr marL="741363" lvl="2" indent="-533400">
              <a:lnSpc>
                <a:spcPct val="100000"/>
              </a:lnSpc>
              <a:buClr>
                <a:srgbClr val="0070C0"/>
              </a:buClr>
              <a:buSzPct val="80000"/>
              <a:buFont typeface="Wingdings" panose="05000000000000000000" pitchFamily="2" charset="2"/>
              <a:buChar char="Ø"/>
              <a:defRPr/>
            </a:pPr>
            <a:r>
              <a:rPr lang="ru-RU" dirty="0">
                <a:effectLst/>
                <a:latin typeface="Arial" panose="020B0604020202020204" pitchFamily="34" charset="0"/>
              </a:rPr>
              <a:t>Нисходящие (</a:t>
            </a:r>
            <a:r>
              <a:rPr lang="ru-RU" dirty="0" err="1">
                <a:effectLst/>
                <a:latin typeface="Arial" panose="020B0604020202020204" pitchFamily="34" charset="0"/>
              </a:rPr>
              <a:t>дивизимные</a:t>
            </a:r>
            <a:r>
              <a:rPr lang="ru-RU" dirty="0">
                <a:effectLst/>
                <a:latin typeface="Arial" panose="020B0604020202020204" pitchFamily="34" charset="0"/>
              </a:rPr>
              <a:t> или дивизионные методы) работают по принципу «сверху-вниз»: в начале все объекты помещаются в один кластер, который затем разбивается на все более мелкие кластеры. </a:t>
            </a:r>
          </a:p>
          <a:p>
            <a:pPr marL="741363" lvl="2" indent="-533400">
              <a:lnSpc>
                <a:spcPct val="100000"/>
              </a:lnSpc>
              <a:buClr>
                <a:srgbClr val="0070C0"/>
              </a:buClr>
              <a:buSzPct val="80000"/>
              <a:buFont typeface="Wingdings" panose="05000000000000000000" pitchFamily="2" charset="2"/>
              <a:buChar char="Ø"/>
              <a:defRPr/>
            </a:pPr>
            <a:r>
              <a:rPr lang="ru-RU" dirty="0">
                <a:effectLst/>
                <a:latin typeface="Arial" panose="020B0604020202020204" pitchFamily="34" charset="0"/>
              </a:rPr>
              <a:t>Более распространены восходящие  (</a:t>
            </a:r>
            <a:r>
              <a:rPr lang="ru-RU" dirty="0" err="1">
                <a:effectLst/>
                <a:latin typeface="Arial" panose="020B0604020202020204" pitchFamily="34" charset="0"/>
              </a:rPr>
              <a:t>агломеративные</a:t>
            </a:r>
            <a:r>
              <a:rPr lang="ru-RU" dirty="0">
                <a:effectLst/>
                <a:latin typeface="Arial" panose="020B0604020202020204" pitchFamily="34" charset="0"/>
              </a:rPr>
              <a:t> методы ) алгоритмы, которые в начале работы помещают каждый объект в отдельный кластер, а затем объединяют кластеры во все более крупные, пока все объекты выборки не будут содержаться в одном кластере. Таким образом строится система вложенных разбиений. Результаты таких алгоритмов обычно представляют в виде дерева – дендрограммы. Классический пример такого дерева – классификация животных и растений.</a:t>
            </a:r>
            <a:br>
              <a:rPr lang="ru-RU" dirty="0">
                <a:effectLst/>
                <a:latin typeface="Arial" panose="020B0604020202020204" pitchFamily="34" charset="0"/>
              </a:rPr>
            </a:br>
            <a:br>
              <a:rPr lang="ru-RU" sz="1800" dirty="0">
                <a:effectLst/>
                <a:latin typeface="Arial" panose="020B0604020202020204" pitchFamily="34" charset="0"/>
              </a:rPr>
            </a:br>
            <a:endParaRPr lang="ru-RU" sz="1800" dirty="0">
              <a:effectLst/>
              <a:latin typeface="Arial" panose="020B0604020202020204" pitchFamily="34" charset="0"/>
            </a:endParaRPr>
          </a:p>
        </p:txBody>
      </p:sp>
      <p:pic>
        <p:nvPicPr>
          <p:cNvPr id="72709" name="Picture 4" descr="&amp;Pcy;&amp;rcy;&amp;icy;&amp;mcy;&amp;iecy;&amp;rcy; &amp;dcy;&amp;iecy;&amp;ncy;&amp;dcy;&amp;rcy;&amp;ocy;&amp;gcy;&amp;rcy;&amp;acy;&amp;mcy;&amp;mcy;&amp;yc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3965" y="5581856"/>
            <a:ext cx="2091700" cy="1132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a:extLst>
              <a:ext uri="{FF2B5EF4-FFF2-40B4-BE49-F238E27FC236}">
                <a16:creationId xmlns:a16="http://schemas.microsoft.com/office/drawing/2014/main" id="{6330F84B-E91F-4EE5-AD3E-DE11A0613B40}"/>
              </a:ext>
            </a:extLst>
          </p:cNvPr>
          <p:cNvSpPr>
            <a:spLocks noGrp="1" noChangeArrowheads="1"/>
          </p:cNvSpPr>
          <p:nvPr>
            <p:ph type="title"/>
          </p:nvPr>
        </p:nvSpPr>
        <p:spPr>
          <a:xfrm>
            <a:off x="3237397" y="254505"/>
            <a:ext cx="6336705" cy="603710"/>
          </a:xfrm>
        </p:spPr>
        <p:txBody>
          <a:bodyPr>
            <a:normAutofit fontScale="90000"/>
          </a:bodyPr>
          <a:lstStyle/>
          <a:p>
            <a:pPr eaLnBrk="1" hangingPunct="1">
              <a:defRPr/>
            </a:pPr>
            <a:r>
              <a:rPr lang="ru-RU" altLang="ru-RU" sz="4000" dirty="0"/>
              <a:t>Кластеризация</a:t>
            </a:r>
            <a:endParaRPr lang="en-US" altLang="ru-RU" sz="4000" dirty="0"/>
          </a:p>
        </p:txBody>
      </p:sp>
    </p:spTree>
    <p:extLst>
      <p:ext uri="{BB962C8B-B14F-4D97-AF65-F5344CB8AC3E}">
        <p14:creationId xmlns:p14="http://schemas.microsoft.com/office/powerpoint/2010/main" val="4067861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4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27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099" grpId="0" build="p" bldLvl="2"/>
      <p:bldP spid="4" grpId="0" build="p" bldLvl="2"/>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5" name="Номер слайда 14"/>
          <p:cNvSpPr>
            <a:spLocks noGrp="1"/>
          </p:cNvSpPr>
          <p:nvPr>
            <p:ph type="sldNum" sz="quarter" idx="12"/>
          </p:nvPr>
        </p:nvSpPr>
        <p:spPr>
          <a:xfrm>
            <a:off x="11158153" y="6545189"/>
            <a:ext cx="1090070" cy="379409"/>
          </a:xfrm>
        </p:spPr>
        <p:txBody>
          <a:bodyPr/>
          <a:lstStyle/>
          <a:p>
            <a:fld id="{952B6C0E-C4B9-4094-8E59-5B7DF00D5415}" type="slidenum">
              <a:rPr lang="ru-RU" smtClean="0">
                <a:solidFill>
                  <a:schemeClr val="tx1"/>
                </a:solidFill>
              </a:rPr>
              <a:t>46</a:t>
            </a:fld>
            <a:endParaRPr lang="ru-RU" dirty="0">
              <a:solidFill>
                <a:schemeClr val="tx1"/>
              </a:solidFill>
            </a:endParaRPr>
          </a:p>
        </p:txBody>
      </p:sp>
      <p:sp>
        <p:nvSpPr>
          <p:cNvPr id="2" name="Заголовок 1"/>
          <p:cNvSpPr txBox="1">
            <a:spLocks noGrp="1"/>
          </p:cNvSpPr>
          <p:nvPr>
            <p:ph type="title" idx="4294967295"/>
          </p:nvPr>
        </p:nvSpPr>
        <p:spPr>
          <a:xfrm>
            <a:off x="2734890" y="335695"/>
            <a:ext cx="7559675" cy="693738"/>
          </a:xfrm>
          <a:prstGeom prst="rect">
            <a:avLst/>
          </a:prstGeom>
        </p:spPr>
        <p:txBody>
          <a:bodyPr>
            <a:normAutofit fontScale="90000"/>
          </a:bodyPr>
          <a:lstStyle/>
          <a:p>
            <a:r>
              <a:rPr lang="ru-RU" sz="4400" dirty="0"/>
              <a:t>Кластеризация </a:t>
            </a:r>
            <a:r>
              <a:rPr lang="en-US" sz="4400" dirty="0"/>
              <a:t>k-means</a:t>
            </a:r>
            <a:endParaRPr lang="ru-RU" sz="4400" dirty="0"/>
          </a:p>
        </p:txBody>
      </p:sp>
      <p:sp>
        <p:nvSpPr>
          <p:cNvPr id="7" name="Rectangle 1">
            <a:extLst>
              <a:ext uri="{FF2B5EF4-FFF2-40B4-BE49-F238E27FC236}">
                <a16:creationId xmlns:a16="http://schemas.microsoft.com/office/drawing/2014/main" id="{D28C42B8-5E86-4B3B-BAFD-A903D29E1DBA}"/>
              </a:ext>
            </a:extLst>
          </p:cNvPr>
          <p:cNvSpPr>
            <a:spLocks noChangeArrowheads="1"/>
          </p:cNvSpPr>
          <p:nvPr/>
        </p:nvSpPr>
        <p:spPr bwMode="auto">
          <a:xfrm>
            <a:off x="1005533" y="1013299"/>
            <a:ext cx="1123324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ru-RU" altLang="ru-RU" dirty="0"/>
              <a:t>Алгоритм К-средних, самый популярный и простой алгоритм плоской кластеризации и очень легко представляется в виде простого псевдокода:</a:t>
            </a:r>
          </a:p>
          <a:p>
            <a:pPr eaLnBrk="0" hangingPunct="0"/>
            <a:endParaRPr lang="ru-RU" altLang="ru-RU" dirty="0"/>
          </a:p>
          <a:p>
            <a:pPr eaLnBrk="0" hangingPunct="0">
              <a:buFontTx/>
              <a:buAutoNum type="arabicPeriod"/>
            </a:pPr>
            <a:r>
              <a:rPr lang="ru-RU" altLang="ru-RU" dirty="0"/>
              <a:t>Выбрать количество кластеров  </a:t>
            </a:r>
            <a:r>
              <a:rPr lang="en-US" altLang="ru-RU" b="1" i="1" dirty="0"/>
              <a:t>k</a:t>
            </a:r>
            <a:r>
              <a:rPr lang="ru-RU" altLang="ru-RU" dirty="0"/>
              <a:t>, которое нам кажется оптимальным для наших данных. </a:t>
            </a:r>
          </a:p>
          <a:p>
            <a:pPr eaLnBrk="0" hangingPunct="0">
              <a:buFontTx/>
              <a:buAutoNum type="arabicPeriod" startAt="2"/>
            </a:pPr>
            <a:r>
              <a:rPr lang="ru-RU" altLang="ru-RU" dirty="0"/>
              <a:t>Высыпать случайным образом в пространство наших данных </a:t>
            </a:r>
            <a:r>
              <a:rPr lang="en-US" altLang="ru-RU" b="1" i="1" dirty="0"/>
              <a:t>k</a:t>
            </a:r>
            <a:r>
              <a:rPr lang="ru-RU" altLang="ru-RU" dirty="0"/>
              <a:t> точек (</a:t>
            </a:r>
            <a:r>
              <a:rPr lang="ru-RU" altLang="ru-RU" dirty="0" err="1"/>
              <a:t>центроидов</a:t>
            </a:r>
            <a:r>
              <a:rPr lang="ru-RU" altLang="ru-RU" dirty="0"/>
              <a:t>). </a:t>
            </a:r>
          </a:p>
          <a:p>
            <a:pPr eaLnBrk="0" hangingPunct="0">
              <a:buFontTx/>
              <a:buAutoNum type="arabicPeriod" startAt="3"/>
            </a:pPr>
            <a:r>
              <a:rPr lang="ru-RU" altLang="ru-RU" dirty="0"/>
              <a:t>Для каждой точки нашего набора данных посчитать, к какому </a:t>
            </a:r>
            <a:r>
              <a:rPr lang="ru-RU" altLang="ru-RU" dirty="0" err="1"/>
              <a:t>центроиду</a:t>
            </a:r>
            <a:r>
              <a:rPr lang="ru-RU" altLang="ru-RU" dirty="0"/>
              <a:t> она ближе. </a:t>
            </a:r>
          </a:p>
          <a:p>
            <a:pPr eaLnBrk="0" hangingPunct="0">
              <a:buFontTx/>
              <a:buAutoNum type="arabicPeriod" startAt="4"/>
            </a:pPr>
            <a:r>
              <a:rPr lang="ru-RU" altLang="ru-RU" dirty="0"/>
              <a:t>Переместить каждый </a:t>
            </a:r>
            <a:r>
              <a:rPr lang="ru-RU" altLang="ru-RU" dirty="0" err="1"/>
              <a:t>центроид</a:t>
            </a:r>
            <a:r>
              <a:rPr lang="ru-RU" altLang="ru-RU" dirty="0"/>
              <a:t> в центр выборки, которую мы отнесли к этому </a:t>
            </a:r>
            <a:r>
              <a:rPr lang="ru-RU" altLang="ru-RU" dirty="0" err="1"/>
              <a:t>центроиду</a:t>
            </a:r>
            <a:r>
              <a:rPr lang="ru-RU" altLang="ru-RU" dirty="0"/>
              <a:t>. </a:t>
            </a:r>
          </a:p>
          <a:p>
            <a:pPr eaLnBrk="0" hangingPunct="0">
              <a:buFontTx/>
              <a:buAutoNum type="arabicPeriod" startAt="5"/>
            </a:pPr>
            <a:r>
              <a:rPr lang="ru-RU" altLang="ru-RU" dirty="0"/>
              <a:t>Повторять последние два шага фиксированное число раз, либо до тех пор пока </a:t>
            </a:r>
            <a:r>
              <a:rPr lang="ru-RU" altLang="ru-RU" dirty="0" err="1"/>
              <a:t>центроиды</a:t>
            </a:r>
            <a:r>
              <a:rPr lang="ru-RU" altLang="ru-RU" dirty="0"/>
              <a:t> не "сойдутся" (обычно это значит, что их смещение относительно предыдущего положения не превышает какого-то заранее заданного небольшого значения). </a:t>
            </a:r>
          </a:p>
        </p:txBody>
      </p:sp>
      <p:sp>
        <p:nvSpPr>
          <p:cNvPr id="9" name="AutoShape 2" descr="$k$">
            <a:extLst>
              <a:ext uri="{FF2B5EF4-FFF2-40B4-BE49-F238E27FC236}">
                <a16:creationId xmlns:a16="http://schemas.microsoft.com/office/drawing/2014/main" id="{84325B46-FBAD-4A5D-8917-B63C23FED792}"/>
              </a:ext>
            </a:extLst>
          </p:cNvPr>
          <p:cNvSpPr>
            <a:spLocks noChangeAspect="1" noChangeArrowheads="1"/>
          </p:cNvSpPr>
          <p:nvPr/>
        </p:nvSpPr>
        <p:spPr bwMode="auto">
          <a:xfrm>
            <a:off x="491331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AutoShape 3" descr="$k$">
            <a:extLst>
              <a:ext uri="{FF2B5EF4-FFF2-40B4-BE49-F238E27FC236}">
                <a16:creationId xmlns:a16="http://schemas.microsoft.com/office/drawing/2014/main" id="{A903C481-AB0E-4B34-BC29-8AB47ED2008C}"/>
              </a:ext>
            </a:extLst>
          </p:cNvPr>
          <p:cNvSpPr>
            <a:spLocks noChangeAspect="1" noChangeArrowheads="1"/>
          </p:cNvSpPr>
          <p:nvPr/>
        </p:nvSpPr>
        <p:spPr bwMode="auto">
          <a:xfrm>
            <a:off x="8154988" y="1444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7" name="TextBox 16">
            <a:extLst>
              <a:ext uri="{FF2B5EF4-FFF2-40B4-BE49-F238E27FC236}">
                <a16:creationId xmlns:a16="http://schemas.microsoft.com/office/drawing/2014/main" id="{C4A20181-BA9A-4008-8130-8E67FF9CDBE3}"/>
              </a:ext>
            </a:extLst>
          </p:cNvPr>
          <p:cNvSpPr txBox="1"/>
          <p:nvPr/>
        </p:nvSpPr>
        <p:spPr>
          <a:xfrm>
            <a:off x="968382" y="4424710"/>
            <a:ext cx="11233247" cy="707886"/>
          </a:xfrm>
          <a:prstGeom prst="rect">
            <a:avLst/>
          </a:prstGeom>
          <a:noFill/>
        </p:spPr>
        <p:txBody>
          <a:bodyPr wrap="square">
            <a:spAutoFit/>
          </a:bodyPr>
          <a:lstStyle/>
          <a:p>
            <a:r>
              <a:rPr lang="ru-RU" dirty="0"/>
              <a:t>Таким образом, алгоритм стремится минимизировать суммарное квадратичное отклонение точек кластеров от центров этих кластеров: </a:t>
            </a:r>
          </a:p>
        </p:txBody>
      </p:sp>
      <p:pic>
        <p:nvPicPr>
          <p:cNvPr id="14" name="Рисунок 13">
            <a:extLst>
              <a:ext uri="{FF2B5EF4-FFF2-40B4-BE49-F238E27FC236}">
                <a16:creationId xmlns:a16="http://schemas.microsoft.com/office/drawing/2014/main" id="{EBBBBE6E-FC83-4455-AD0E-F595C317A26B}"/>
              </a:ext>
            </a:extLst>
          </p:cNvPr>
          <p:cNvPicPr>
            <a:picLocks noChangeAspect="1"/>
          </p:cNvPicPr>
          <p:nvPr/>
        </p:nvPicPr>
        <p:blipFill>
          <a:blip r:embed="rId3"/>
          <a:stretch>
            <a:fillRect/>
          </a:stretch>
        </p:blipFill>
        <p:spPr>
          <a:xfrm>
            <a:off x="6405749" y="4902856"/>
            <a:ext cx="2440815" cy="728411"/>
          </a:xfrm>
          <a:prstGeom prst="rect">
            <a:avLst/>
          </a:prstGeom>
        </p:spPr>
      </p:pic>
      <p:sp>
        <p:nvSpPr>
          <p:cNvPr id="18" name="Rectangle 4">
            <a:extLst>
              <a:ext uri="{FF2B5EF4-FFF2-40B4-BE49-F238E27FC236}">
                <a16:creationId xmlns:a16="http://schemas.microsoft.com/office/drawing/2014/main" id="{706C2FCB-2330-4667-875F-113DD0744F95}"/>
              </a:ext>
            </a:extLst>
          </p:cNvPr>
          <p:cNvSpPr>
            <a:spLocks noChangeArrowheads="1"/>
          </p:cNvSpPr>
          <p:nvPr/>
        </p:nvSpPr>
        <p:spPr bwMode="auto">
          <a:xfrm>
            <a:off x="1024419" y="5720675"/>
            <a:ext cx="1123324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hangingPunct="0"/>
            <a:r>
              <a:rPr lang="ru-RU" altLang="ru-RU" sz="1800" dirty="0"/>
              <a:t>где </a:t>
            </a:r>
            <a:r>
              <a:rPr lang="en-US" altLang="ru-RU" sz="1800" b="1" i="1" dirty="0"/>
              <a:t>k</a:t>
            </a:r>
            <a:r>
              <a:rPr lang="ru-RU" altLang="ru-RU" sz="1800" dirty="0"/>
              <a:t> — число кластеров,  </a:t>
            </a:r>
            <a:r>
              <a:rPr lang="en-US" altLang="ru-RU" sz="1800" b="1" i="1" dirty="0"/>
              <a:t>S</a:t>
            </a:r>
            <a:r>
              <a:rPr lang="en-US" altLang="ru-RU" sz="1800" b="1" i="1" baseline="-25000" dirty="0"/>
              <a:t>i</a:t>
            </a:r>
            <a:r>
              <a:rPr lang="ru-RU" altLang="ru-RU" sz="1800" b="1" i="1" dirty="0"/>
              <a:t> </a:t>
            </a:r>
            <a:r>
              <a:rPr lang="ru-RU" altLang="ru-RU" sz="1800" dirty="0"/>
              <a:t>— полученные кластеры, </a:t>
            </a:r>
            <a:r>
              <a:rPr lang="en-US" altLang="ru-RU" sz="1800" b="1" i="1" dirty="0" err="1"/>
              <a:t>i</a:t>
            </a:r>
            <a:r>
              <a:rPr lang="en-US" altLang="ru-RU" sz="1800" b="1" i="1" dirty="0"/>
              <a:t>=1,2…k</a:t>
            </a:r>
            <a:r>
              <a:rPr lang="ru-RU" altLang="ru-RU" sz="1800" dirty="0"/>
              <a:t>, а </a:t>
            </a:r>
            <a:r>
              <a:rPr lang="ru-RU" altLang="ru-RU" b="1" i="1" dirty="0"/>
              <a:t>µ</a:t>
            </a:r>
            <a:r>
              <a:rPr lang="en-US" altLang="ru-RU" b="1" i="1" baseline="-25000" dirty="0" err="1"/>
              <a:t>i</a:t>
            </a:r>
            <a:r>
              <a:rPr lang="ru-RU" altLang="ru-RU" b="1" i="1" dirty="0"/>
              <a:t> </a:t>
            </a:r>
            <a:r>
              <a:rPr lang="ru-RU" altLang="ru-RU" sz="1800" dirty="0"/>
              <a:t>— центры масс всех векторов </a:t>
            </a:r>
            <a:r>
              <a:rPr lang="en-US" altLang="ru-RU" sz="1800" b="1" i="1" dirty="0"/>
              <a:t>x</a:t>
            </a:r>
            <a:r>
              <a:rPr lang="ru-RU" altLang="ru-RU" sz="1800" dirty="0"/>
              <a:t> из кластера  </a:t>
            </a:r>
            <a:r>
              <a:rPr lang="en-US" altLang="ru-RU" sz="1800" b="1" i="1" dirty="0"/>
              <a:t>S</a:t>
            </a:r>
            <a:r>
              <a:rPr lang="en-US" altLang="ru-RU" sz="1800" b="1" i="1" baseline="-25000" dirty="0"/>
              <a:t>i</a:t>
            </a:r>
            <a:r>
              <a:rPr lang="ru-RU" altLang="ru-RU" sz="1800" dirty="0"/>
              <a:t>. </a:t>
            </a:r>
          </a:p>
        </p:txBody>
      </p:sp>
    </p:spTree>
    <p:extLst>
      <p:ext uri="{BB962C8B-B14F-4D97-AF65-F5344CB8AC3E}">
        <p14:creationId xmlns:p14="http://schemas.microsoft.com/office/powerpoint/2010/main" val="221831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algn="ctr" eaLnBrk="1" hangingPunct="1"/>
            <a:endParaRPr lang="ru-RU" altLang="ru-RU" sz="3500" dirty="0">
              <a:solidFill>
                <a:schemeClr val="bg1"/>
              </a:solidFill>
            </a:endParaRPr>
          </a:p>
        </p:txBody>
      </p:sp>
      <p:sp>
        <p:nvSpPr>
          <p:cNvPr id="15" name="Номер слайда 14"/>
          <p:cNvSpPr>
            <a:spLocks noGrp="1"/>
          </p:cNvSpPr>
          <p:nvPr>
            <p:ph type="sldNum" sz="quarter" idx="12"/>
          </p:nvPr>
        </p:nvSpPr>
        <p:spPr>
          <a:xfrm>
            <a:off x="11158661" y="6505524"/>
            <a:ext cx="1090070" cy="379409"/>
          </a:xfrm>
        </p:spPr>
        <p:txBody>
          <a:bodyPr/>
          <a:lstStyle/>
          <a:p>
            <a:fld id="{952B6C0E-C4B9-4094-8E59-5B7DF00D5415}" type="slidenum">
              <a:rPr lang="ru-RU" smtClean="0">
                <a:solidFill>
                  <a:schemeClr val="tx1"/>
                </a:solidFill>
              </a:rPr>
              <a:t>47</a:t>
            </a:fld>
            <a:endParaRPr lang="ru-RU" dirty="0">
              <a:solidFill>
                <a:schemeClr val="tx1"/>
              </a:solidFill>
            </a:endParaRPr>
          </a:p>
        </p:txBody>
      </p:sp>
      <p:sp>
        <p:nvSpPr>
          <p:cNvPr id="2" name="Заголовок 1"/>
          <p:cNvSpPr txBox="1">
            <a:spLocks noGrp="1"/>
          </p:cNvSpPr>
          <p:nvPr>
            <p:ph type="title" idx="4294967295"/>
          </p:nvPr>
        </p:nvSpPr>
        <p:spPr>
          <a:xfrm>
            <a:off x="2554287" y="277943"/>
            <a:ext cx="7559675" cy="693738"/>
          </a:xfrm>
          <a:prstGeom prst="rect">
            <a:avLst/>
          </a:prstGeom>
        </p:spPr>
        <p:txBody>
          <a:bodyPr>
            <a:normAutofit fontScale="90000"/>
          </a:bodyPr>
          <a:lstStyle/>
          <a:p>
            <a:r>
              <a:rPr lang="ru-RU" sz="4400" dirty="0"/>
              <a:t>Кластеризация </a:t>
            </a:r>
            <a:r>
              <a:rPr lang="en-US" sz="4400" dirty="0"/>
              <a:t>k-means</a:t>
            </a:r>
            <a:endParaRPr lang="ru-RU" sz="4400" dirty="0"/>
          </a:p>
        </p:txBody>
      </p:sp>
      <p:sp>
        <p:nvSpPr>
          <p:cNvPr id="9" name="AutoShape 2" descr="$k$">
            <a:extLst>
              <a:ext uri="{FF2B5EF4-FFF2-40B4-BE49-F238E27FC236}">
                <a16:creationId xmlns:a16="http://schemas.microsoft.com/office/drawing/2014/main" id="{84325B46-FBAD-4A5D-8917-B63C23FED792}"/>
              </a:ext>
            </a:extLst>
          </p:cNvPr>
          <p:cNvSpPr>
            <a:spLocks noChangeAspect="1" noChangeArrowheads="1"/>
          </p:cNvSpPr>
          <p:nvPr/>
        </p:nvSpPr>
        <p:spPr bwMode="auto">
          <a:xfrm>
            <a:off x="4913313"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AutoShape 3" descr="$k$">
            <a:extLst>
              <a:ext uri="{FF2B5EF4-FFF2-40B4-BE49-F238E27FC236}">
                <a16:creationId xmlns:a16="http://schemas.microsoft.com/office/drawing/2014/main" id="{A903C481-AB0E-4B34-BC29-8AB47ED2008C}"/>
              </a:ext>
            </a:extLst>
          </p:cNvPr>
          <p:cNvSpPr>
            <a:spLocks noChangeAspect="1" noChangeArrowheads="1"/>
          </p:cNvSpPr>
          <p:nvPr/>
        </p:nvSpPr>
        <p:spPr bwMode="auto">
          <a:xfrm>
            <a:off x="8154988" y="1444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6" name="TextBox 15">
            <a:extLst>
              <a:ext uri="{FF2B5EF4-FFF2-40B4-BE49-F238E27FC236}">
                <a16:creationId xmlns:a16="http://schemas.microsoft.com/office/drawing/2014/main" id="{E611E2ED-E307-4232-A6BC-1A1C44107C16}"/>
              </a:ext>
            </a:extLst>
          </p:cNvPr>
          <p:cNvSpPr txBox="1"/>
          <p:nvPr/>
        </p:nvSpPr>
        <p:spPr>
          <a:xfrm>
            <a:off x="1654175" y="1181101"/>
            <a:ext cx="9144446" cy="369332"/>
          </a:xfrm>
          <a:prstGeom prst="rect">
            <a:avLst/>
          </a:prstGeom>
          <a:noFill/>
        </p:spPr>
        <p:txBody>
          <a:bodyPr wrap="square">
            <a:spAutoFit/>
          </a:bodyPr>
          <a:lstStyle/>
          <a:p>
            <a:r>
              <a:rPr lang="ru-RU" sz="1800" dirty="0"/>
              <a:t>Действие алгоритма в двумерном случае. Начальные точки выбраны случайно. </a:t>
            </a:r>
          </a:p>
        </p:txBody>
      </p:sp>
      <p:pic>
        <p:nvPicPr>
          <p:cNvPr id="10" name="Рисунок 9">
            <a:extLst>
              <a:ext uri="{FF2B5EF4-FFF2-40B4-BE49-F238E27FC236}">
                <a16:creationId xmlns:a16="http://schemas.microsoft.com/office/drawing/2014/main" id="{7EE32446-C9E3-49FF-9C3B-04CE95E932CB}"/>
              </a:ext>
            </a:extLst>
          </p:cNvPr>
          <p:cNvPicPr>
            <a:picLocks noChangeAspect="1"/>
          </p:cNvPicPr>
          <p:nvPr/>
        </p:nvPicPr>
        <p:blipFill>
          <a:blip r:embed="rId3"/>
          <a:stretch>
            <a:fillRect/>
          </a:stretch>
        </p:blipFill>
        <p:spPr>
          <a:xfrm>
            <a:off x="522816" y="1853562"/>
            <a:ext cx="8659433" cy="2753109"/>
          </a:xfrm>
          <a:prstGeom prst="rect">
            <a:avLst/>
          </a:prstGeom>
        </p:spPr>
      </p:pic>
      <p:sp>
        <p:nvSpPr>
          <p:cNvPr id="19" name="TextBox 18">
            <a:extLst>
              <a:ext uri="{FF2B5EF4-FFF2-40B4-BE49-F238E27FC236}">
                <a16:creationId xmlns:a16="http://schemas.microsoft.com/office/drawing/2014/main" id="{8E4C1E77-CD8D-4558-A2F1-433B5C294671}"/>
              </a:ext>
            </a:extLst>
          </p:cNvPr>
          <p:cNvSpPr txBox="1"/>
          <p:nvPr/>
        </p:nvSpPr>
        <p:spPr>
          <a:xfrm>
            <a:off x="933525" y="5249550"/>
            <a:ext cx="11449271" cy="1200329"/>
          </a:xfrm>
          <a:prstGeom prst="rect">
            <a:avLst/>
          </a:prstGeom>
          <a:noFill/>
        </p:spPr>
        <p:txBody>
          <a:bodyPr wrap="square">
            <a:spAutoFit/>
          </a:bodyPr>
          <a:lstStyle/>
          <a:p>
            <a:pPr marL="285750" indent="-285750">
              <a:buFont typeface="Wingdings" panose="05000000000000000000" pitchFamily="2" charset="2"/>
              <a:buChar char="§"/>
            </a:pPr>
            <a:r>
              <a:rPr lang="ru-RU" sz="1800" dirty="0"/>
              <a:t>Не гарантируется достижение глобального минимума суммарного квадратичного отклонения </a:t>
            </a:r>
            <a:r>
              <a:rPr lang="ru-RU" sz="1800" i="1" dirty="0"/>
              <a:t>V</a:t>
            </a:r>
            <a:r>
              <a:rPr lang="ru-RU" sz="1800" dirty="0"/>
              <a:t>, а только одного из локальных минимумов.</a:t>
            </a:r>
          </a:p>
          <a:p>
            <a:pPr marL="285750" indent="-285750">
              <a:buFont typeface="Wingdings" panose="05000000000000000000" pitchFamily="2" charset="2"/>
              <a:buChar char="§"/>
            </a:pPr>
            <a:r>
              <a:rPr lang="ru-RU" sz="1800" dirty="0"/>
              <a:t>Результат зависит от выбора исходных центров кластеров, их оптимальный выбор неизвестен.</a:t>
            </a:r>
          </a:p>
          <a:p>
            <a:pPr marL="285750" indent="-285750">
              <a:buFont typeface="Wingdings" panose="05000000000000000000" pitchFamily="2" charset="2"/>
              <a:buChar char="§"/>
            </a:pPr>
            <a:r>
              <a:rPr lang="ru-RU" sz="1800" dirty="0"/>
              <a:t>Число кластеров надо знать заранее.</a:t>
            </a:r>
          </a:p>
        </p:txBody>
      </p:sp>
      <p:sp>
        <p:nvSpPr>
          <p:cNvPr id="21" name="TextBox 20">
            <a:extLst>
              <a:ext uri="{FF2B5EF4-FFF2-40B4-BE49-F238E27FC236}">
                <a16:creationId xmlns:a16="http://schemas.microsoft.com/office/drawing/2014/main" id="{0407327D-79FB-40E3-B857-7BDD5E2C6677}"/>
              </a:ext>
            </a:extLst>
          </p:cNvPr>
          <p:cNvSpPr txBox="1"/>
          <p:nvPr/>
        </p:nvSpPr>
        <p:spPr>
          <a:xfrm>
            <a:off x="4852533" y="4841594"/>
            <a:ext cx="2747731" cy="400110"/>
          </a:xfrm>
          <a:prstGeom prst="rect">
            <a:avLst/>
          </a:prstGeom>
          <a:noFill/>
        </p:spPr>
        <p:txBody>
          <a:bodyPr wrap="square">
            <a:spAutoFit/>
          </a:bodyPr>
          <a:lstStyle/>
          <a:p>
            <a:r>
              <a:rPr lang="ru-RU" b="1" dirty="0"/>
              <a:t>Проблемы </a:t>
            </a:r>
            <a:r>
              <a:rPr lang="en-US" b="1" dirty="0"/>
              <a:t>k-means</a:t>
            </a:r>
          </a:p>
        </p:txBody>
      </p:sp>
      <p:pic>
        <p:nvPicPr>
          <p:cNvPr id="6" name="Рисунок 5">
            <a:extLst>
              <a:ext uri="{FF2B5EF4-FFF2-40B4-BE49-F238E27FC236}">
                <a16:creationId xmlns:a16="http://schemas.microsoft.com/office/drawing/2014/main" id="{0BB3B3AB-00FF-4257-9F18-AAD5A90854CA}"/>
              </a:ext>
            </a:extLst>
          </p:cNvPr>
          <p:cNvPicPr>
            <a:picLocks noChangeAspect="1"/>
          </p:cNvPicPr>
          <p:nvPr/>
        </p:nvPicPr>
        <p:blipFill>
          <a:blip r:embed="rId4"/>
          <a:stretch>
            <a:fillRect/>
          </a:stretch>
        </p:blipFill>
        <p:spPr>
          <a:xfrm>
            <a:off x="9649043" y="1985458"/>
            <a:ext cx="2446510" cy="2173446"/>
          </a:xfrm>
          <a:prstGeom prst="rect">
            <a:avLst/>
          </a:prstGeom>
        </p:spPr>
      </p:pic>
    </p:spTree>
    <p:extLst>
      <p:ext uri="{BB962C8B-B14F-4D97-AF65-F5344CB8AC3E}">
        <p14:creationId xmlns:p14="http://schemas.microsoft.com/office/powerpoint/2010/main" val="1792801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357463" y="322263"/>
            <a:ext cx="11953326"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9" name="Rectangle 3"/>
          <p:cNvSpPr>
            <a:spLocks noGrp="1" noChangeArrowheads="1"/>
          </p:cNvSpPr>
          <p:nvPr>
            <p:ph idx="1"/>
          </p:nvPr>
        </p:nvSpPr>
        <p:spPr>
          <a:xfrm>
            <a:off x="2517701" y="947670"/>
            <a:ext cx="7253307" cy="367862"/>
          </a:xfrm>
        </p:spPr>
        <p:txBody>
          <a:bodyPr>
            <a:noAutofit/>
          </a:bodyPr>
          <a:lstStyle/>
          <a:p>
            <a:pPr marL="0" indent="0" algn="ctr">
              <a:buNone/>
              <a:defRPr/>
            </a:pPr>
            <a:r>
              <a:rPr lang="ru-RU" sz="2400" b="1" i="1" dirty="0">
                <a:solidFill>
                  <a:srgbClr val="0000FF"/>
                </a:solidFill>
              </a:rPr>
              <a:t>Алгоритмы плоской кластеризации</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48</a:t>
            </a:fld>
            <a:endParaRPr lang="ru-RU" sz="1400">
              <a:solidFill>
                <a:schemeClr val="tx1"/>
              </a:solidFill>
            </a:endParaRPr>
          </a:p>
        </p:txBody>
      </p:sp>
      <p:sp>
        <p:nvSpPr>
          <p:cNvPr id="11" name="Rectangle 2"/>
          <p:cNvSpPr txBox="1">
            <a:spLocks noChangeArrowheads="1"/>
          </p:cNvSpPr>
          <p:nvPr/>
        </p:nvSpPr>
        <p:spPr>
          <a:xfrm>
            <a:off x="2949749" y="294148"/>
            <a:ext cx="6768753" cy="725534"/>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altLang="ru-RU" sz="4400" dirty="0"/>
              <a:t>Кластеризация</a:t>
            </a:r>
            <a:endParaRPr lang="en-US" altLang="ru-RU" sz="4400" dirty="0"/>
          </a:p>
        </p:txBody>
      </p:sp>
      <p:sp>
        <p:nvSpPr>
          <p:cNvPr id="9" name="TextBox 8">
            <a:extLst>
              <a:ext uri="{FF2B5EF4-FFF2-40B4-BE49-F238E27FC236}">
                <a16:creationId xmlns:a16="http://schemas.microsoft.com/office/drawing/2014/main" id="{1F080848-BD98-4F9E-9C0E-2AE4F1788635}"/>
              </a:ext>
            </a:extLst>
          </p:cNvPr>
          <p:cNvSpPr txBox="1"/>
          <p:nvPr/>
        </p:nvSpPr>
        <p:spPr>
          <a:xfrm>
            <a:off x="563271" y="1582894"/>
            <a:ext cx="7501720" cy="2246769"/>
          </a:xfrm>
          <a:prstGeom prst="rect">
            <a:avLst/>
          </a:prstGeom>
          <a:noFill/>
        </p:spPr>
        <p:txBody>
          <a:bodyPr wrap="square">
            <a:spAutoFit/>
          </a:bodyPr>
          <a:lstStyle/>
          <a:p>
            <a:r>
              <a:rPr lang="ru-RU" b="1" dirty="0"/>
              <a:t>DBSCAN (</a:t>
            </a:r>
            <a:r>
              <a:rPr lang="ru-RU" b="1" dirty="0" err="1"/>
              <a:t>Density</a:t>
            </a:r>
            <a:r>
              <a:rPr lang="ru-RU" b="1" dirty="0"/>
              <a:t>-Based </a:t>
            </a:r>
            <a:r>
              <a:rPr lang="ru-RU" b="1" dirty="0" err="1"/>
              <a:t>Spatial</a:t>
            </a:r>
            <a:r>
              <a:rPr lang="ru-RU" b="1" dirty="0"/>
              <a:t> </a:t>
            </a:r>
            <a:r>
              <a:rPr lang="ru-RU" b="1" dirty="0" err="1"/>
              <a:t>Clustering</a:t>
            </a:r>
            <a:r>
              <a:rPr lang="ru-RU" b="1" dirty="0"/>
              <a:t> </a:t>
            </a:r>
            <a:r>
              <a:rPr lang="ru-RU" b="1" dirty="0" err="1"/>
              <a:t>of</a:t>
            </a:r>
            <a:r>
              <a:rPr lang="ru-RU" b="1" dirty="0"/>
              <a:t> Applications </a:t>
            </a:r>
            <a:r>
              <a:rPr lang="ru-RU" b="1" dirty="0" err="1"/>
              <a:t>with</a:t>
            </a:r>
            <a:r>
              <a:rPr lang="ru-RU" b="1" dirty="0"/>
              <a:t> </a:t>
            </a:r>
            <a:r>
              <a:rPr lang="ru-RU" b="1" dirty="0" err="1"/>
              <a:t>Noise</a:t>
            </a:r>
            <a:r>
              <a:rPr lang="ru-RU" b="1" dirty="0"/>
              <a:t>)</a:t>
            </a:r>
            <a:r>
              <a:rPr lang="ru-RU" dirty="0"/>
              <a:t> — алгоритм кластеризации, основанный на концепции плотности точек данных в пространстве. В отличие от алгоритмов вроде K-</a:t>
            </a:r>
            <a:r>
              <a:rPr lang="ru-RU" dirty="0" err="1"/>
              <a:t>means</a:t>
            </a:r>
            <a:r>
              <a:rPr lang="ru-RU" dirty="0"/>
              <a:t>, которые требуют предварительного задания количества кластеров, DBSCAN автоматически определяет их число, ориентируясь на локальные характеристики </a:t>
            </a:r>
            <a:r>
              <a:rPr lang="ru-RU" b="1" i="1" dirty="0"/>
              <a:t>плотности данных. </a:t>
            </a:r>
          </a:p>
        </p:txBody>
      </p:sp>
      <p:pic>
        <p:nvPicPr>
          <p:cNvPr id="8" name="Рисунок 7">
            <a:extLst>
              <a:ext uri="{FF2B5EF4-FFF2-40B4-BE49-F238E27FC236}">
                <a16:creationId xmlns:a16="http://schemas.microsoft.com/office/drawing/2014/main" id="{5A8D681E-D4EF-4B42-BE28-961EFF27650E}"/>
              </a:ext>
            </a:extLst>
          </p:cNvPr>
          <p:cNvPicPr>
            <a:picLocks noChangeAspect="1"/>
          </p:cNvPicPr>
          <p:nvPr/>
        </p:nvPicPr>
        <p:blipFill>
          <a:blip r:embed="rId2"/>
          <a:stretch>
            <a:fillRect/>
          </a:stretch>
        </p:blipFill>
        <p:spPr>
          <a:xfrm>
            <a:off x="8154303" y="1427572"/>
            <a:ext cx="3589750" cy="3665324"/>
          </a:xfrm>
          <a:prstGeom prst="rect">
            <a:avLst/>
          </a:prstGeom>
        </p:spPr>
      </p:pic>
      <p:sp>
        <p:nvSpPr>
          <p:cNvPr id="14" name="TextBox 13">
            <a:extLst>
              <a:ext uri="{FF2B5EF4-FFF2-40B4-BE49-F238E27FC236}">
                <a16:creationId xmlns:a16="http://schemas.microsoft.com/office/drawing/2014/main" id="{2AA13E83-E39B-4460-B1D9-A608535FEB86}"/>
              </a:ext>
            </a:extLst>
          </p:cNvPr>
          <p:cNvSpPr txBox="1"/>
          <p:nvPr/>
        </p:nvSpPr>
        <p:spPr>
          <a:xfrm>
            <a:off x="8154304" y="5215505"/>
            <a:ext cx="4156484" cy="1477328"/>
          </a:xfrm>
          <a:prstGeom prst="rect">
            <a:avLst/>
          </a:prstGeom>
          <a:noFill/>
        </p:spPr>
        <p:txBody>
          <a:bodyPr wrap="square">
            <a:spAutoFit/>
          </a:bodyPr>
          <a:lstStyle/>
          <a:p>
            <a:r>
              <a:rPr lang="ru-RU" sz="1800" i="1" dirty="0"/>
              <a:t>Сравнение DBSCAN и k-</a:t>
            </a:r>
            <a:r>
              <a:rPr lang="ru-RU" sz="1800" i="1" dirty="0" err="1"/>
              <a:t>means</a:t>
            </a:r>
            <a:r>
              <a:rPr lang="ru-RU" sz="1800" i="1" dirty="0"/>
              <a:t>. Источник: https://www.geeksforgeeks.org/dbscan-clustering-in-ml-density-based-clustering/</a:t>
            </a:r>
            <a:endParaRPr lang="ru-RU" sz="1800" dirty="0"/>
          </a:p>
        </p:txBody>
      </p:sp>
      <p:sp>
        <p:nvSpPr>
          <p:cNvPr id="16" name="TextBox 15">
            <a:extLst>
              <a:ext uri="{FF2B5EF4-FFF2-40B4-BE49-F238E27FC236}">
                <a16:creationId xmlns:a16="http://schemas.microsoft.com/office/drawing/2014/main" id="{F6DDE623-B8B8-48D0-9E0D-36C106CB31D8}"/>
              </a:ext>
            </a:extLst>
          </p:cNvPr>
          <p:cNvSpPr txBox="1"/>
          <p:nvPr/>
        </p:nvSpPr>
        <p:spPr>
          <a:xfrm>
            <a:off x="473959" y="3941703"/>
            <a:ext cx="7737245" cy="2862322"/>
          </a:xfrm>
          <a:prstGeom prst="rect">
            <a:avLst/>
          </a:prstGeom>
          <a:noFill/>
        </p:spPr>
        <p:txBody>
          <a:bodyPr wrap="square">
            <a:spAutoFit/>
          </a:bodyPr>
          <a:lstStyle/>
          <a:p>
            <a:r>
              <a:rPr lang="ru-RU" b="1" dirty="0"/>
              <a:t>Плотностные алгоритмы кластеризации хорошо подходят к </a:t>
            </a:r>
            <a:r>
              <a:rPr lang="ru-RU" b="1" dirty="0" err="1"/>
              <a:t>геоданным</a:t>
            </a:r>
            <a:r>
              <a:rPr lang="ru-RU" b="1" dirty="0"/>
              <a:t>:</a:t>
            </a:r>
          </a:p>
          <a:p>
            <a:pPr>
              <a:buFont typeface="+mj-lt"/>
              <a:buAutoNum type="arabicPeriod"/>
            </a:pPr>
            <a:r>
              <a:rPr lang="ru-RU" dirty="0"/>
              <a:t>Они умеют обнаруживать кластеры неправильной формы. Происшествия на дороге, как и заболевания, могут быть по-разному расположены на территории.</a:t>
            </a:r>
          </a:p>
          <a:p>
            <a:pPr>
              <a:buFont typeface="+mj-lt"/>
              <a:buAutoNum type="arabicPeriod"/>
            </a:pPr>
            <a:r>
              <a:rPr lang="ru-RU" dirty="0"/>
              <a:t>Плотностные алгоритмы учитывают выбросы. Если одно-два ДТП произошли вдали от города или один случай болезни был намного дальше от остальных, эти объекты не будут относиться в кластеры.</a:t>
            </a:r>
          </a:p>
        </p:txBody>
      </p:sp>
    </p:spTree>
    <p:extLst>
      <p:ext uri="{BB962C8B-B14F-4D97-AF65-F5344CB8AC3E}">
        <p14:creationId xmlns:p14="http://schemas.microsoft.com/office/powerpoint/2010/main" val="169061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357463" y="294148"/>
            <a:ext cx="11953326"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9" name="Rectangle 3"/>
          <p:cNvSpPr>
            <a:spLocks noGrp="1" noChangeArrowheads="1"/>
          </p:cNvSpPr>
          <p:nvPr>
            <p:ph idx="1"/>
          </p:nvPr>
        </p:nvSpPr>
        <p:spPr>
          <a:xfrm>
            <a:off x="2517701" y="947670"/>
            <a:ext cx="7253307" cy="367862"/>
          </a:xfrm>
        </p:spPr>
        <p:txBody>
          <a:bodyPr>
            <a:noAutofit/>
          </a:bodyPr>
          <a:lstStyle/>
          <a:p>
            <a:pPr marL="0" indent="0" algn="ctr">
              <a:buNone/>
              <a:defRPr/>
            </a:pPr>
            <a:r>
              <a:rPr lang="ru-RU" sz="2400" b="1" i="1" dirty="0">
                <a:solidFill>
                  <a:srgbClr val="0000FF"/>
                </a:solidFill>
              </a:rPr>
              <a:t>Алгоритмы плоской кластеризации</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49</a:t>
            </a:fld>
            <a:endParaRPr lang="ru-RU" sz="1400">
              <a:solidFill>
                <a:schemeClr val="tx1"/>
              </a:solidFill>
            </a:endParaRPr>
          </a:p>
        </p:txBody>
      </p:sp>
      <p:sp>
        <p:nvSpPr>
          <p:cNvPr id="11" name="Rectangle 2"/>
          <p:cNvSpPr txBox="1">
            <a:spLocks noChangeArrowheads="1"/>
          </p:cNvSpPr>
          <p:nvPr/>
        </p:nvSpPr>
        <p:spPr>
          <a:xfrm>
            <a:off x="2949749" y="294148"/>
            <a:ext cx="6768753" cy="725534"/>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altLang="ru-RU" sz="4400" dirty="0"/>
              <a:t>Кластеризация</a:t>
            </a:r>
            <a:endParaRPr lang="en-US" altLang="ru-RU" sz="4400" dirty="0"/>
          </a:p>
        </p:txBody>
      </p:sp>
      <p:sp>
        <p:nvSpPr>
          <p:cNvPr id="9" name="TextBox 8">
            <a:extLst>
              <a:ext uri="{FF2B5EF4-FFF2-40B4-BE49-F238E27FC236}">
                <a16:creationId xmlns:a16="http://schemas.microsoft.com/office/drawing/2014/main" id="{1F080848-BD98-4F9E-9C0E-2AE4F1788635}"/>
              </a:ext>
            </a:extLst>
          </p:cNvPr>
          <p:cNvSpPr txBox="1"/>
          <p:nvPr/>
        </p:nvSpPr>
        <p:spPr>
          <a:xfrm>
            <a:off x="409892" y="1643035"/>
            <a:ext cx="7066998" cy="3477875"/>
          </a:xfrm>
          <a:prstGeom prst="rect">
            <a:avLst/>
          </a:prstGeom>
          <a:noFill/>
        </p:spPr>
        <p:txBody>
          <a:bodyPr wrap="square">
            <a:spAutoFit/>
          </a:bodyPr>
          <a:lstStyle/>
          <a:p>
            <a:r>
              <a:rPr lang="ru-RU" dirty="0"/>
              <a:t>Для </a:t>
            </a:r>
            <a:r>
              <a:rPr lang="ru-RU" b="1" dirty="0"/>
              <a:t>DBSCAN</a:t>
            </a:r>
            <a:r>
              <a:rPr lang="ru-RU" dirty="0"/>
              <a:t> основными </a:t>
            </a:r>
            <a:r>
              <a:rPr lang="ru-RU" dirty="0" err="1"/>
              <a:t>гиперпараметрами</a:t>
            </a:r>
            <a:r>
              <a:rPr lang="ru-RU" dirty="0"/>
              <a:t> на входе являются радиус окрестности и минимальное количество точек, которое может быть в одном кластере.</a:t>
            </a:r>
          </a:p>
          <a:p>
            <a:pPr>
              <a:buFont typeface="+mj-lt"/>
              <a:buAutoNum type="arabicPeriod"/>
            </a:pPr>
            <a:r>
              <a:rPr lang="ru-RU" dirty="0"/>
              <a:t>Радиус окрестности. Если расстояние между любыми двумя точками меньше или равно заданному радиусу, эти точки считаются соседними. Радиус окрестности необходимо задавать исходя из расстояния между точками.</a:t>
            </a:r>
          </a:p>
          <a:p>
            <a:pPr>
              <a:buFont typeface="+mj-lt"/>
              <a:buAutoNum type="arabicPeriod"/>
            </a:pPr>
            <a:r>
              <a:rPr lang="ru-RU" dirty="0"/>
              <a:t>Минимальное количество соседей (точек) в радиусе. Чем больше набор данных, тем больше точек должно быть выбрано.</a:t>
            </a:r>
          </a:p>
        </p:txBody>
      </p:sp>
      <p:sp>
        <p:nvSpPr>
          <p:cNvPr id="12" name="TextBox 11">
            <a:extLst>
              <a:ext uri="{FF2B5EF4-FFF2-40B4-BE49-F238E27FC236}">
                <a16:creationId xmlns:a16="http://schemas.microsoft.com/office/drawing/2014/main" id="{8B5B5B3E-95FA-4CF9-8834-D2A8A7C9B76A}"/>
              </a:ext>
            </a:extLst>
          </p:cNvPr>
          <p:cNvSpPr txBox="1"/>
          <p:nvPr/>
        </p:nvSpPr>
        <p:spPr>
          <a:xfrm>
            <a:off x="332497" y="6603970"/>
            <a:ext cx="9151776" cy="400110"/>
          </a:xfrm>
          <a:prstGeom prst="rect">
            <a:avLst/>
          </a:prstGeom>
          <a:noFill/>
        </p:spPr>
        <p:txBody>
          <a:bodyPr wrap="square">
            <a:spAutoFit/>
          </a:bodyPr>
          <a:lstStyle/>
          <a:p>
            <a:r>
              <a:rPr lang="ru-RU" dirty="0"/>
              <a:t>https://cartetika.ru/tpost/k05o2ndpf1-klasterizatsiya-prostranstvennih-dannih</a:t>
            </a:r>
          </a:p>
        </p:txBody>
      </p:sp>
      <p:pic>
        <p:nvPicPr>
          <p:cNvPr id="7" name="Рисунок 6">
            <a:extLst>
              <a:ext uri="{FF2B5EF4-FFF2-40B4-BE49-F238E27FC236}">
                <a16:creationId xmlns:a16="http://schemas.microsoft.com/office/drawing/2014/main" id="{D984393E-36ED-4AD3-BC8A-F5DFBA3EEB59}"/>
              </a:ext>
            </a:extLst>
          </p:cNvPr>
          <p:cNvPicPr>
            <a:picLocks noChangeAspect="1"/>
          </p:cNvPicPr>
          <p:nvPr/>
        </p:nvPicPr>
        <p:blipFill>
          <a:blip r:embed="rId2"/>
          <a:stretch>
            <a:fillRect/>
          </a:stretch>
        </p:blipFill>
        <p:spPr>
          <a:xfrm>
            <a:off x="7483258" y="1428419"/>
            <a:ext cx="4470487" cy="4359419"/>
          </a:xfrm>
          <a:prstGeom prst="rect">
            <a:avLst/>
          </a:prstGeom>
        </p:spPr>
      </p:pic>
      <p:sp>
        <p:nvSpPr>
          <p:cNvPr id="17" name="TextBox 16">
            <a:extLst>
              <a:ext uri="{FF2B5EF4-FFF2-40B4-BE49-F238E27FC236}">
                <a16:creationId xmlns:a16="http://schemas.microsoft.com/office/drawing/2014/main" id="{72EC4ACF-7987-4950-BEF8-0C1D432BABA7}"/>
              </a:ext>
            </a:extLst>
          </p:cNvPr>
          <p:cNvSpPr txBox="1"/>
          <p:nvPr/>
        </p:nvSpPr>
        <p:spPr>
          <a:xfrm>
            <a:off x="386862" y="5607281"/>
            <a:ext cx="7066997" cy="1015663"/>
          </a:xfrm>
          <a:prstGeom prst="rect">
            <a:avLst/>
          </a:prstGeom>
          <a:noFill/>
        </p:spPr>
        <p:txBody>
          <a:bodyPr wrap="square">
            <a:spAutoFit/>
          </a:bodyPr>
          <a:lstStyle/>
          <a:p>
            <a:r>
              <a:rPr lang="ru-RU" dirty="0">
                <a:hlinkClick r:id="rId3"/>
              </a:rPr>
              <a:t>На сайте </a:t>
            </a:r>
            <a:r>
              <a:rPr lang="ru-RU" dirty="0" err="1">
                <a:hlinkClick r:id="rId3"/>
              </a:rPr>
              <a:t>Naftali</a:t>
            </a:r>
            <a:r>
              <a:rPr lang="ru-RU" dirty="0">
                <a:hlinkClick r:id="rId3"/>
              </a:rPr>
              <a:t> Harris</a:t>
            </a:r>
            <a:r>
              <a:rPr lang="ru-RU" dirty="0"/>
              <a:t> можно посмотреть, как работает алгоритм DBSCAN и как будут меняться кластеры в зависимости от подбора </a:t>
            </a:r>
            <a:r>
              <a:rPr lang="ru-RU" dirty="0" err="1"/>
              <a:t>гиперапараметров</a:t>
            </a:r>
            <a:r>
              <a:rPr lang="ru-RU" dirty="0"/>
              <a:t>:</a:t>
            </a:r>
          </a:p>
        </p:txBody>
      </p:sp>
    </p:spTree>
    <p:extLst>
      <p:ext uri="{BB962C8B-B14F-4D97-AF65-F5344CB8AC3E}">
        <p14:creationId xmlns:p14="http://schemas.microsoft.com/office/powerpoint/2010/main" val="25932519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501477" y="557048"/>
            <a:ext cx="11953326" cy="6047967"/>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9" name="Rectangle 3"/>
          <p:cNvSpPr>
            <a:spLocks noGrp="1" noChangeArrowheads="1"/>
          </p:cNvSpPr>
          <p:nvPr>
            <p:ph idx="1"/>
          </p:nvPr>
        </p:nvSpPr>
        <p:spPr>
          <a:xfrm>
            <a:off x="2517701" y="947670"/>
            <a:ext cx="7253307" cy="367862"/>
          </a:xfrm>
        </p:spPr>
        <p:txBody>
          <a:bodyPr>
            <a:noAutofit/>
          </a:bodyPr>
          <a:lstStyle/>
          <a:p>
            <a:pPr marL="0" indent="0" algn="ctr">
              <a:buNone/>
              <a:defRPr/>
            </a:pPr>
            <a:r>
              <a:rPr lang="ru-RU" sz="2400" b="1" i="1" dirty="0">
                <a:solidFill>
                  <a:srgbClr val="0000FF"/>
                </a:solidFill>
              </a:rPr>
              <a:t>Алгоритмы плоской кластеризации DBSCAN</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50</a:t>
            </a:fld>
            <a:endParaRPr lang="ru-RU" sz="1400">
              <a:solidFill>
                <a:schemeClr val="tx1"/>
              </a:solidFill>
            </a:endParaRPr>
          </a:p>
        </p:txBody>
      </p:sp>
      <p:sp>
        <p:nvSpPr>
          <p:cNvPr id="11" name="Rectangle 2"/>
          <p:cNvSpPr txBox="1">
            <a:spLocks noChangeArrowheads="1"/>
          </p:cNvSpPr>
          <p:nvPr/>
        </p:nvSpPr>
        <p:spPr>
          <a:xfrm>
            <a:off x="2949749" y="294148"/>
            <a:ext cx="6768753" cy="725534"/>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altLang="ru-RU" sz="4400" dirty="0"/>
              <a:t>Кластеризация</a:t>
            </a:r>
            <a:endParaRPr lang="en-US" altLang="ru-RU" sz="4400" dirty="0"/>
          </a:p>
        </p:txBody>
      </p:sp>
      <p:pic>
        <p:nvPicPr>
          <p:cNvPr id="6" name="Рисунок 5">
            <a:extLst>
              <a:ext uri="{FF2B5EF4-FFF2-40B4-BE49-F238E27FC236}">
                <a16:creationId xmlns:a16="http://schemas.microsoft.com/office/drawing/2014/main" id="{93BF6AB8-0EE5-4078-9FBB-589C5A0639DA}"/>
              </a:ext>
            </a:extLst>
          </p:cNvPr>
          <p:cNvPicPr>
            <a:picLocks noChangeAspect="1"/>
          </p:cNvPicPr>
          <p:nvPr/>
        </p:nvPicPr>
        <p:blipFill>
          <a:blip r:embed="rId2"/>
          <a:stretch>
            <a:fillRect/>
          </a:stretch>
        </p:blipFill>
        <p:spPr>
          <a:xfrm>
            <a:off x="10638192" y="610816"/>
            <a:ext cx="1457686" cy="1457686"/>
          </a:xfrm>
          <a:prstGeom prst="rect">
            <a:avLst/>
          </a:prstGeom>
        </p:spPr>
      </p:pic>
      <p:sp>
        <p:nvSpPr>
          <p:cNvPr id="18" name="TextBox 17">
            <a:extLst>
              <a:ext uri="{FF2B5EF4-FFF2-40B4-BE49-F238E27FC236}">
                <a16:creationId xmlns:a16="http://schemas.microsoft.com/office/drawing/2014/main" id="{E6379317-5179-4524-A7DB-B2D3259E7DA2}"/>
              </a:ext>
            </a:extLst>
          </p:cNvPr>
          <p:cNvSpPr txBox="1"/>
          <p:nvPr/>
        </p:nvSpPr>
        <p:spPr>
          <a:xfrm>
            <a:off x="661829" y="1546920"/>
            <a:ext cx="9776753" cy="1323439"/>
          </a:xfrm>
          <a:prstGeom prst="rect">
            <a:avLst/>
          </a:prstGeom>
          <a:noFill/>
        </p:spPr>
        <p:txBody>
          <a:bodyPr wrap="square">
            <a:spAutoFit/>
          </a:bodyPr>
          <a:lstStyle/>
          <a:p>
            <a:r>
              <a:rPr lang="ru-RU" dirty="0"/>
              <a:t>1. Алгоритм берет точку и строит от нее окружность указанного радиуса. Если в окружность попадает количество точек больше, чем минимальное количество точек в радиусе, то эта точка становится корневой и от нее строится новый кластер. Так выбираются все корневые точки.</a:t>
            </a:r>
          </a:p>
        </p:txBody>
      </p:sp>
      <p:sp>
        <p:nvSpPr>
          <p:cNvPr id="20" name="TextBox 19">
            <a:extLst>
              <a:ext uri="{FF2B5EF4-FFF2-40B4-BE49-F238E27FC236}">
                <a16:creationId xmlns:a16="http://schemas.microsoft.com/office/drawing/2014/main" id="{F7048E19-5B90-4075-95D4-06197B5DE821}"/>
              </a:ext>
            </a:extLst>
          </p:cNvPr>
          <p:cNvSpPr txBox="1"/>
          <p:nvPr/>
        </p:nvSpPr>
        <p:spPr>
          <a:xfrm>
            <a:off x="661829" y="2948279"/>
            <a:ext cx="9976363" cy="1015663"/>
          </a:xfrm>
          <a:prstGeom prst="rect">
            <a:avLst/>
          </a:prstGeom>
          <a:noFill/>
        </p:spPr>
        <p:txBody>
          <a:bodyPr wrap="square">
            <a:spAutoFit/>
          </a:bodyPr>
          <a:lstStyle/>
          <a:p>
            <a:r>
              <a:rPr lang="ru-RU" dirty="0"/>
              <a:t>2. Далее алгоритм находит точки, у которых в буфере меньше заданного количества соседей, но есть хотя бы одна корневая точка. Эти точки становятся пограничными.</a:t>
            </a:r>
          </a:p>
        </p:txBody>
      </p:sp>
      <p:pic>
        <p:nvPicPr>
          <p:cNvPr id="16" name="Рисунок 15">
            <a:extLst>
              <a:ext uri="{FF2B5EF4-FFF2-40B4-BE49-F238E27FC236}">
                <a16:creationId xmlns:a16="http://schemas.microsoft.com/office/drawing/2014/main" id="{7BB8DB66-A2E4-41C2-9041-747B02AC7462}"/>
              </a:ext>
            </a:extLst>
          </p:cNvPr>
          <p:cNvPicPr>
            <a:picLocks noChangeAspect="1"/>
          </p:cNvPicPr>
          <p:nvPr/>
        </p:nvPicPr>
        <p:blipFill>
          <a:blip r:embed="rId3"/>
          <a:stretch>
            <a:fillRect/>
          </a:stretch>
        </p:blipFill>
        <p:spPr>
          <a:xfrm>
            <a:off x="10620478" y="2068502"/>
            <a:ext cx="1471122" cy="1457687"/>
          </a:xfrm>
          <a:prstGeom prst="rect">
            <a:avLst/>
          </a:prstGeom>
        </p:spPr>
      </p:pic>
      <p:sp>
        <p:nvSpPr>
          <p:cNvPr id="27" name="TextBox 26">
            <a:extLst>
              <a:ext uri="{FF2B5EF4-FFF2-40B4-BE49-F238E27FC236}">
                <a16:creationId xmlns:a16="http://schemas.microsoft.com/office/drawing/2014/main" id="{AD2DE27E-CB96-456F-91C2-78D6664F473A}"/>
              </a:ext>
            </a:extLst>
          </p:cNvPr>
          <p:cNvSpPr txBox="1"/>
          <p:nvPr/>
        </p:nvSpPr>
        <p:spPr>
          <a:xfrm>
            <a:off x="672795" y="4095392"/>
            <a:ext cx="9542063" cy="707886"/>
          </a:xfrm>
          <a:prstGeom prst="rect">
            <a:avLst/>
          </a:prstGeom>
          <a:noFill/>
        </p:spPr>
        <p:txBody>
          <a:bodyPr wrap="square">
            <a:spAutoFit/>
          </a:bodyPr>
          <a:lstStyle/>
          <a:p>
            <a:r>
              <a:rPr lang="ru-RU" dirty="0"/>
              <a:t>3. Остались точки, в буфере от которых меньше указанного числа соседей и нет корневых элементов. Эти точки будут считаться выбросами.</a:t>
            </a:r>
          </a:p>
        </p:txBody>
      </p:sp>
      <p:pic>
        <p:nvPicPr>
          <p:cNvPr id="23" name="Рисунок 22">
            <a:extLst>
              <a:ext uri="{FF2B5EF4-FFF2-40B4-BE49-F238E27FC236}">
                <a16:creationId xmlns:a16="http://schemas.microsoft.com/office/drawing/2014/main" id="{D513F802-FD9E-4FAB-A384-276CC132AA45}"/>
              </a:ext>
            </a:extLst>
          </p:cNvPr>
          <p:cNvPicPr>
            <a:picLocks noChangeAspect="1"/>
          </p:cNvPicPr>
          <p:nvPr/>
        </p:nvPicPr>
        <p:blipFill>
          <a:blip r:embed="rId4"/>
          <a:stretch>
            <a:fillRect/>
          </a:stretch>
        </p:blipFill>
        <p:spPr>
          <a:xfrm>
            <a:off x="10610561" y="3563144"/>
            <a:ext cx="1512948" cy="1451888"/>
          </a:xfrm>
          <a:prstGeom prst="rect">
            <a:avLst/>
          </a:prstGeom>
        </p:spPr>
      </p:pic>
      <p:sp>
        <p:nvSpPr>
          <p:cNvPr id="31" name="TextBox 30">
            <a:extLst>
              <a:ext uri="{FF2B5EF4-FFF2-40B4-BE49-F238E27FC236}">
                <a16:creationId xmlns:a16="http://schemas.microsoft.com/office/drawing/2014/main" id="{DC04BB79-BAC6-446E-86FE-13FB0FBE8B1C}"/>
              </a:ext>
            </a:extLst>
          </p:cNvPr>
          <p:cNvSpPr txBox="1"/>
          <p:nvPr/>
        </p:nvSpPr>
        <p:spPr>
          <a:xfrm>
            <a:off x="642204" y="5051003"/>
            <a:ext cx="9796378" cy="1323439"/>
          </a:xfrm>
          <a:prstGeom prst="rect">
            <a:avLst/>
          </a:prstGeom>
          <a:noFill/>
        </p:spPr>
        <p:txBody>
          <a:bodyPr wrap="square">
            <a:spAutoFit/>
          </a:bodyPr>
          <a:lstStyle/>
          <a:p>
            <a:r>
              <a:rPr lang="ru-RU" dirty="0"/>
              <a:t>4. Если два корневых элемента находятся рядом, то они объединяются в один кластер.</a:t>
            </a:r>
            <a:br>
              <a:rPr lang="ru-RU" dirty="0"/>
            </a:br>
            <a:r>
              <a:rPr lang="ru-RU" dirty="0"/>
              <a:t>5. Пограничные элементы будут отнесены к группе корневого элемента из своей окрестности.</a:t>
            </a:r>
          </a:p>
        </p:txBody>
      </p:sp>
      <p:pic>
        <p:nvPicPr>
          <p:cNvPr id="26" name="Рисунок 25">
            <a:extLst>
              <a:ext uri="{FF2B5EF4-FFF2-40B4-BE49-F238E27FC236}">
                <a16:creationId xmlns:a16="http://schemas.microsoft.com/office/drawing/2014/main" id="{90DA5CBF-5060-48EE-A5EF-49D867CEA460}"/>
              </a:ext>
            </a:extLst>
          </p:cNvPr>
          <p:cNvPicPr>
            <a:picLocks noChangeAspect="1"/>
          </p:cNvPicPr>
          <p:nvPr/>
        </p:nvPicPr>
        <p:blipFill>
          <a:blip r:embed="rId5"/>
          <a:stretch>
            <a:fillRect/>
          </a:stretch>
        </p:blipFill>
        <p:spPr>
          <a:xfrm>
            <a:off x="10594929" y="5015032"/>
            <a:ext cx="1571844" cy="1571844"/>
          </a:xfrm>
          <a:prstGeom prst="rect">
            <a:avLst/>
          </a:prstGeom>
        </p:spPr>
      </p:pic>
    </p:spTree>
    <p:extLst>
      <p:ext uri="{BB962C8B-B14F-4D97-AF65-F5344CB8AC3E}">
        <p14:creationId xmlns:p14="http://schemas.microsoft.com/office/powerpoint/2010/main" val="38258674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7" grpId="0"/>
      <p:bldP spid="3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7581" y="530686"/>
            <a:ext cx="10872513" cy="6074329"/>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3021757" y="295290"/>
            <a:ext cx="6624737" cy="675118"/>
          </a:xfrm>
        </p:spPr>
        <p:txBody>
          <a:bodyPr>
            <a:normAutofit fontScale="90000"/>
          </a:bodyPr>
          <a:lstStyle/>
          <a:p>
            <a:pPr eaLnBrk="1" hangingPunct="1">
              <a:defRPr/>
            </a:pPr>
            <a:r>
              <a:rPr lang="ru-RU" altLang="ru-RU" sz="4400" dirty="0"/>
              <a:t>Кластеризация</a:t>
            </a:r>
            <a:endParaRPr lang="en-US" altLang="ru-RU" sz="4400" dirty="0"/>
          </a:p>
        </p:txBody>
      </p:sp>
      <p:sp>
        <p:nvSpPr>
          <p:cNvPr id="644099" name="Rectangle 3"/>
          <p:cNvSpPr>
            <a:spLocks noGrp="1" noChangeArrowheads="1"/>
          </p:cNvSpPr>
          <p:nvPr>
            <p:ph idx="1"/>
          </p:nvPr>
        </p:nvSpPr>
        <p:spPr>
          <a:xfrm>
            <a:off x="1705339" y="1035631"/>
            <a:ext cx="7253307" cy="367862"/>
          </a:xfrm>
        </p:spPr>
        <p:txBody>
          <a:bodyPr>
            <a:noAutofit/>
          </a:bodyPr>
          <a:lstStyle/>
          <a:p>
            <a:pPr marL="0" indent="0">
              <a:buNone/>
              <a:defRPr/>
            </a:pPr>
            <a:r>
              <a:rPr lang="ru-RU" sz="2400" b="1" i="1" dirty="0">
                <a:solidFill>
                  <a:srgbClr val="0000FF"/>
                </a:solidFill>
              </a:rPr>
              <a:t>Алгоритмы плоской кластеризации</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51</a:t>
            </a:fld>
            <a:endParaRPr lang="ru-RU" sz="1400">
              <a:solidFill>
                <a:schemeClr val="tx1"/>
              </a:solidFill>
            </a:endParaRPr>
          </a:p>
        </p:txBody>
      </p:sp>
      <p:sp>
        <p:nvSpPr>
          <p:cNvPr id="4" name="Rectangle 3"/>
          <p:cNvSpPr txBox="1">
            <a:spLocks noChangeArrowheads="1"/>
          </p:cNvSpPr>
          <p:nvPr/>
        </p:nvSpPr>
        <p:spPr bwMode="auto">
          <a:xfrm>
            <a:off x="717502" y="1528296"/>
            <a:ext cx="11521280" cy="4557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533400" indent="-533400" eaLnBrk="1" hangingPunct="1">
              <a:lnSpc>
                <a:spcPct val="85000"/>
              </a:lnSpc>
              <a:spcBef>
                <a:spcPct val="25000"/>
              </a:spcBef>
              <a:buClr>
                <a:srgbClr val="F4BE96"/>
              </a:buClr>
              <a:buSzPct val="80000"/>
              <a:buFont typeface="Segoe" charset="0"/>
              <a:buBlip>
                <a:blip r:embed="rId2"/>
              </a:buBlip>
              <a:defRPr sz="2400" b="0">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9pPr>
          </a:lstStyle>
          <a:p>
            <a:pPr marL="0" indent="0">
              <a:buNone/>
              <a:defRPr/>
            </a:pPr>
            <a:r>
              <a:rPr lang="ru-RU" sz="2494" b="1" dirty="0">
                <a:effectLst/>
              </a:rPr>
              <a:t>Нечеткие алгоритмы</a:t>
            </a:r>
          </a:p>
          <a:p>
            <a:pPr>
              <a:buClr>
                <a:srgbClr val="0070C0"/>
              </a:buClr>
              <a:buFont typeface="Wingdings" panose="05000000000000000000" pitchFamily="2" charset="2"/>
              <a:buChar char="Ø"/>
              <a:defRPr/>
            </a:pPr>
            <a:r>
              <a:rPr lang="ru-RU" sz="2078" b="1" i="1" dirty="0">
                <a:effectLst/>
              </a:rPr>
              <a:t>Метод с-средних</a:t>
            </a:r>
            <a:r>
              <a:rPr lang="ru-RU" sz="2078" dirty="0">
                <a:effectLst/>
              </a:rPr>
              <a:t> </a:t>
            </a:r>
          </a:p>
          <a:p>
            <a:pPr marL="0" indent="0">
              <a:buNone/>
              <a:defRPr/>
            </a:pPr>
            <a:r>
              <a:rPr lang="ru-RU" sz="2078" dirty="0">
                <a:effectLst/>
              </a:rPr>
              <a:t>Алгоритм является модификацией метода k-средних. </a:t>
            </a:r>
          </a:p>
          <a:p>
            <a:pPr>
              <a:buClr>
                <a:srgbClr val="0070C0"/>
              </a:buClr>
              <a:buFont typeface="Wingdings" panose="05000000000000000000" pitchFamily="2" charset="2"/>
              <a:buChar char="Ø"/>
              <a:defRPr/>
            </a:pPr>
            <a:r>
              <a:rPr lang="ru-RU" sz="2078" dirty="0">
                <a:effectLst/>
              </a:rPr>
              <a:t>Шаги работы алгоритма:</a:t>
            </a:r>
          </a:p>
          <a:p>
            <a:pPr marL="538163" lvl="1" indent="-182563">
              <a:buFont typeface="+mj-lt"/>
              <a:buAutoNum type="arabicPeriod"/>
              <a:defRPr/>
            </a:pPr>
            <a:r>
              <a:rPr lang="ru-RU" sz="1870" dirty="0">
                <a:effectLst/>
              </a:rPr>
              <a:t>1) Выбрать начальное нечеткое разбиение </a:t>
            </a:r>
            <a:r>
              <a:rPr lang="ru-RU" sz="1870" i="1" dirty="0">
                <a:effectLst/>
              </a:rPr>
              <a:t>n</a:t>
            </a:r>
            <a:r>
              <a:rPr lang="ru-RU" sz="1870" dirty="0">
                <a:effectLst/>
              </a:rPr>
              <a:t> объектов на </a:t>
            </a:r>
            <a:r>
              <a:rPr lang="ru-RU" sz="1870" i="1" dirty="0">
                <a:effectLst/>
              </a:rPr>
              <a:t>k</a:t>
            </a:r>
            <a:r>
              <a:rPr lang="ru-RU" sz="1870" dirty="0">
                <a:effectLst/>
              </a:rPr>
              <a:t> кластеров путем выбора матрицы принадлежности </a:t>
            </a:r>
            <a:r>
              <a:rPr lang="ru-RU" sz="1870" i="1" dirty="0">
                <a:effectLst/>
              </a:rPr>
              <a:t>U</a:t>
            </a:r>
            <a:r>
              <a:rPr lang="ru-RU" sz="1870" dirty="0">
                <a:effectLst/>
              </a:rPr>
              <a:t> размера </a:t>
            </a:r>
            <a:r>
              <a:rPr lang="ru-RU" sz="1870" i="1" dirty="0">
                <a:effectLst/>
              </a:rPr>
              <a:t>n x k</a:t>
            </a:r>
            <a:r>
              <a:rPr lang="ru-RU" sz="1870" dirty="0">
                <a:effectLst/>
              </a:rPr>
              <a:t>.</a:t>
            </a:r>
          </a:p>
          <a:p>
            <a:pPr marL="538163" lvl="1" indent="-182563">
              <a:buFont typeface="+mj-lt"/>
              <a:buAutoNum type="arabicPeriod"/>
              <a:defRPr/>
            </a:pPr>
            <a:r>
              <a:rPr lang="ru-RU" sz="1870" dirty="0">
                <a:effectLst/>
              </a:rPr>
              <a:t>2)Используя матрицу U, найти значение критерия нечеткой ошибки:</a:t>
            </a:r>
          </a:p>
          <a:p>
            <a:pPr lvl="1">
              <a:buFont typeface="+mj-lt"/>
              <a:buAutoNum type="arabicPeriod"/>
              <a:defRPr/>
            </a:pPr>
            <a:endParaRPr lang="ru-RU" sz="1870" dirty="0">
              <a:effectLst/>
            </a:endParaRPr>
          </a:p>
          <a:p>
            <a:pPr lvl="1">
              <a:buFont typeface="+mj-lt"/>
              <a:buAutoNum type="arabicPeriod"/>
              <a:defRPr/>
            </a:pPr>
            <a:endParaRPr lang="ru-RU" sz="1870" dirty="0">
              <a:effectLst/>
            </a:endParaRPr>
          </a:p>
          <a:p>
            <a:pPr marL="349709" lvl="1" indent="0">
              <a:buNone/>
              <a:defRPr/>
            </a:pPr>
            <a:r>
              <a:rPr lang="ru-RU" sz="1870" dirty="0">
                <a:effectLst/>
              </a:rPr>
              <a:t>	где </a:t>
            </a:r>
            <a:r>
              <a:rPr lang="ru-RU" sz="1870" i="1" dirty="0" err="1">
                <a:effectLst/>
              </a:rPr>
              <a:t>c</a:t>
            </a:r>
            <a:r>
              <a:rPr lang="ru-RU" sz="1870" i="1" baseline="-25000" dirty="0" err="1">
                <a:effectLst/>
              </a:rPr>
              <a:t>k</a:t>
            </a:r>
            <a:r>
              <a:rPr lang="ru-RU" sz="1870" dirty="0">
                <a:effectLst/>
              </a:rPr>
              <a:t> — «центр масс» нечеткого кластера </a:t>
            </a:r>
            <a:r>
              <a:rPr lang="ru-RU" sz="1870" i="1" dirty="0">
                <a:effectLst/>
              </a:rPr>
              <a:t>k</a:t>
            </a:r>
            <a:r>
              <a:rPr lang="ru-RU" sz="1870" dirty="0">
                <a:effectLst/>
              </a:rPr>
              <a:t>:   </a:t>
            </a:r>
          </a:p>
          <a:p>
            <a:pPr marL="457200" lvl="1">
              <a:buFont typeface="+mj-lt"/>
              <a:buAutoNum type="arabicPeriod" startAt="3"/>
              <a:defRPr/>
            </a:pPr>
            <a:r>
              <a:rPr lang="ru-RU" sz="1870" dirty="0">
                <a:effectLst/>
              </a:rPr>
              <a:t>3)Перегруппировать объекты с целью уменьшения этого значения критерия нечеткой ошибки.</a:t>
            </a:r>
          </a:p>
          <a:p>
            <a:pPr marL="457200" lvl="1">
              <a:buFont typeface="+mj-lt"/>
              <a:buAutoNum type="arabicPeriod" startAt="3"/>
              <a:defRPr/>
            </a:pPr>
            <a:r>
              <a:rPr lang="ru-RU" sz="1870" dirty="0">
                <a:effectLst/>
              </a:rPr>
              <a:t>Возвращаться в п. 2 до тех пор, пока изменения матрицы U не станут незначительными.</a:t>
            </a:r>
          </a:p>
          <a:p>
            <a:pPr>
              <a:buClr>
                <a:srgbClr val="0070C0"/>
              </a:buClr>
              <a:buFont typeface="Wingdings" panose="05000000000000000000" pitchFamily="2" charset="2"/>
              <a:buChar char="Ø"/>
              <a:defRPr/>
            </a:pPr>
            <a:r>
              <a:rPr lang="ru-RU" sz="2078" dirty="0">
                <a:effectLst/>
              </a:rPr>
              <a:t>Этот алгоритм может не подойти, если заранее неизвестно число кластеров, либо необходимо однозначно отнести каждый объект к одному кластеру.</a:t>
            </a:r>
          </a:p>
        </p:txBody>
      </p:sp>
      <p:pic>
        <p:nvPicPr>
          <p:cNvPr id="129029" name="Picture 2" descr="https://habrastorage.org/getpro/habr/post_images/21c/c5d/72b/21cc5d72b0c9bee8ad0476798eb4093c.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516" y="3807286"/>
            <a:ext cx="2985782" cy="600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0" name="Picture 6" descr="https://habrastorage.org/getpro/habr/post_images/5fb/811/641/5fb811641b4fa3c84ba2490811ff53e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06213" y="4211216"/>
            <a:ext cx="1152128" cy="58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014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r>
              <a:rPr lang="ru-RU" altLang="ru-RU" sz="4400"/>
              <a:t>Кластеризация</a:t>
            </a:r>
            <a:endParaRPr lang="en-US" altLang="ru-RU" sz="440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52</a:t>
            </a:fld>
            <a:endParaRPr lang="ru-RU" sz="1400">
              <a:solidFill>
                <a:schemeClr val="tx1"/>
              </a:solidFill>
            </a:endParaRPr>
          </a:p>
        </p:txBody>
      </p:sp>
      <p:sp>
        <p:nvSpPr>
          <p:cNvPr id="4" name="Rectangle 3"/>
          <p:cNvSpPr txBox="1">
            <a:spLocks noChangeArrowheads="1"/>
          </p:cNvSpPr>
          <p:nvPr/>
        </p:nvSpPr>
        <p:spPr bwMode="auto">
          <a:xfrm>
            <a:off x="987069" y="1985490"/>
            <a:ext cx="11047769" cy="3825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533400" indent="-533400" eaLnBrk="1" hangingPunct="1">
              <a:lnSpc>
                <a:spcPct val="85000"/>
              </a:lnSpc>
              <a:spcBef>
                <a:spcPct val="25000"/>
              </a:spcBef>
              <a:buClr>
                <a:srgbClr val="F4BE96"/>
              </a:buClr>
              <a:buSzPct val="80000"/>
              <a:buFont typeface="Segoe" charset="0"/>
              <a:buBlip>
                <a:blip r:embed="rId2"/>
              </a:buBlip>
              <a:defRPr sz="2400" b="0">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9pPr>
          </a:lstStyle>
          <a:p>
            <a:pPr marL="0" indent="0">
              <a:buNone/>
              <a:defRPr/>
            </a:pPr>
            <a:r>
              <a:rPr lang="ru-RU" sz="2078" b="1" dirty="0">
                <a:effectLst/>
              </a:rPr>
              <a:t>Алгоритм выделения связных компонент</a:t>
            </a:r>
          </a:p>
          <a:p>
            <a:pPr>
              <a:buClr>
                <a:srgbClr val="0070C0"/>
              </a:buClr>
              <a:buFont typeface="Wingdings" panose="05000000000000000000" pitchFamily="2" charset="2"/>
              <a:buChar char="Ø"/>
              <a:defRPr/>
            </a:pPr>
            <a:r>
              <a:rPr lang="ru-RU" sz="2078" dirty="0">
                <a:effectLst/>
              </a:rPr>
              <a:t>В алгоритме выделения связных компонент задается входной параметр R и в графе удаляются все ребра, для которых «расстояния» больше R. Соединенными остаются только наиболее близкие пары объектов. </a:t>
            </a:r>
          </a:p>
          <a:p>
            <a:pPr>
              <a:buClr>
                <a:srgbClr val="0070C0"/>
              </a:buClr>
              <a:buFont typeface="Wingdings" panose="05000000000000000000" pitchFamily="2" charset="2"/>
              <a:buChar char="Ø"/>
              <a:defRPr/>
            </a:pPr>
            <a:r>
              <a:rPr lang="ru-RU" sz="2078" dirty="0">
                <a:effectLst/>
              </a:rPr>
              <a:t>Смысл алгоритма заключается в том, чтобы подобрать такое значение R, лежащее в диапазоне всех «расстояний», при котором граф «развалится» на несколько связных компонент. Полученные компоненты и есть кластеры.</a:t>
            </a:r>
          </a:p>
          <a:p>
            <a:pPr>
              <a:buClr>
                <a:srgbClr val="0070C0"/>
              </a:buClr>
              <a:buFont typeface="Wingdings" panose="05000000000000000000" pitchFamily="2" charset="2"/>
              <a:buChar char="Ø"/>
              <a:defRPr/>
            </a:pPr>
            <a:r>
              <a:rPr lang="ru-RU" sz="2078" dirty="0">
                <a:effectLst/>
              </a:rPr>
              <a:t>Для подбора параметра R обычно строится гистограмма распределений попарных расстояний. В задачах с хорошо выраженной кластерной структурой данных на гистограмме будет два пика – один соответствует </a:t>
            </a:r>
            <a:r>
              <a:rPr lang="ru-RU" sz="2078" dirty="0" err="1">
                <a:effectLst/>
              </a:rPr>
              <a:t>внутрикластерным</a:t>
            </a:r>
            <a:r>
              <a:rPr lang="ru-RU" sz="2078" dirty="0">
                <a:effectLst/>
              </a:rPr>
              <a:t> расстояниям, второй – </a:t>
            </a:r>
            <a:r>
              <a:rPr lang="ru-RU" sz="2078" dirty="0" err="1">
                <a:effectLst/>
              </a:rPr>
              <a:t>межкластерным</a:t>
            </a:r>
            <a:r>
              <a:rPr lang="ru-RU" sz="2078" dirty="0">
                <a:effectLst/>
              </a:rPr>
              <a:t> расстояния. </a:t>
            </a:r>
          </a:p>
          <a:p>
            <a:pPr marL="741363" lvl="2" indent="-533400">
              <a:buClr>
                <a:srgbClr val="0070C0"/>
              </a:buClr>
              <a:buSzPct val="80000"/>
              <a:buFont typeface="Wingdings" panose="05000000000000000000" pitchFamily="2" charset="2"/>
              <a:buChar char="Ø"/>
              <a:defRPr/>
            </a:pPr>
            <a:r>
              <a:rPr lang="ru-RU" sz="1678" dirty="0">
                <a:effectLst/>
              </a:rPr>
              <a:t>Параметр R подбирается из зоны минимума между этими пиками. При этом управлять количеством кластеров при помощи порога расстояния довольно затруднительно.</a:t>
            </a:r>
          </a:p>
        </p:txBody>
      </p:sp>
      <p:sp>
        <p:nvSpPr>
          <p:cNvPr id="9" name="Rectangle 3"/>
          <p:cNvSpPr txBox="1">
            <a:spLocks noChangeArrowheads="1"/>
          </p:cNvSpPr>
          <p:nvPr/>
        </p:nvSpPr>
        <p:spPr>
          <a:xfrm>
            <a:off x="1149549" y="988092"/>
            <a:ext cx="10585176" cy="671272"/>
          </a:xfrm>
          <a:prstGeom prst="rect">
            <a:avLst/>
          </a:prstGeom>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ru-RU" sz="2400" b="1" i="1" dirty="0">
                <a:solidFill>
                  <a:srgbClr val="0000FF"/>
                </a:solidFill>
              </a:rPr>
              <a:t>Алгоритмы иерархической кластеризации,  основанные на теории графов</a:t>
            </a:r>
          </a:p>
          <a:p>
            <a:pPr marL="0" indent="0">
              <a:buNone/>
              <a:defRPr/>
            </a:pPr>
            <a:r>
              <a:rPr lang="ru-RU" sz="2400" b="1" i="1" dirty="0">
                <a:solidFill>
                  <a:srgbClr val="0000FF"/>
                </a:solidFill>
              </a:rPr>
              <a:t> </a:t>
            </a:r>
          </a:p>
        </p:txBody>
      </p:sp>
    </p:spTree>
    <p:extLst>
      <p:ext uri="{BB962C8B-B14F-4D97-AF65-F5344CB8AC3E}">
        <p14:creationId xmlns:p14="http://schemas.microsoft.com/office/powerpoint/2010/main" val="2069559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8275" y="322263"/>
            <a:ext cx="10944521" cy="628275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3309789" y="280508"/>
            <a:ext cx="6048672" cy="568503"/>
          </a:xfrm>
        </p:spPr>
        <p:txBody>
          <a:bodyPr>
            <a:normAutofit fontScale="90000"/>
          </a:bodyPr>
          <a:lstStyle/>
          <a:p>
            <a:r>
              <a:rPr lang="ru-RU" altLang="ru-RU" sz="4400"/>
              <a:t>Кластеризация</a:t>
            </a:r>
            <a:endParaRPr lang="en-US" altLang="ru-RU" sz="4400" dirty="0"/>
          </a:p>
        </p:txBody>
      </p:sp>
      <p:sp>
        <p:nvSpPr>
          <p:cNvPr id="5" name="Номер слайда 4"/>
          <p:cNvSpPr>
            <a:spLocks noGrp="1"/>
          </p:cNvSpPr>
          <p:nvPr>
            <p:ph type="sldNum" sz="quarter" idx="12"/>
          </p:nvPr>
        </p:nvSpPr>
        <p:spPr/>
        <p:txBody>
          <a:bodyPr/>
          <a:lstStyle/>
          <a:p>
            <a:fld id="{952B6C0E-C4B9-4094-8E59-5B7DF00D5415}" type="slidenum">
              <a:rPr lang="ru-RU" sz="1400">
                <a:solidFill>
                  <a:schemeClr val="tx1"/>
                </a:solidFill>
              </a:rPr>
              <a:t>53</a:t>
            </a:fld>
            <a:endParaRPr lang="ru-RU" sz="1400">
              <a:solidFill>
                <a:schemeClr val="tx1"/>
              </a:solidFill>
            </a:endParaRPr>
          </a:p>
        </p:txBody>
      </p:sp>
      <p:sp>
        <p:nvSpPr>
          <p:cNvPr id="4" name="Rectangle 3"/>
          <p:cNvSpPr txBox="1">
            <a:spLocks noChangeArrowheads="1"/>
          </p:cNvSpPr>
          <p:nvPr/>
        </p:nvSpPr>
        <p:spPr bwMode="auto">
          <a:xfrm>
            <a:off x="1222252" y="1892560"/>
            <a:ext cx="10944521" cy="1328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533400" indent="-533400" eaLnBrk="1" hangingPunct="1">
              <a:lnSpc>
                <a:spcPct val="85000"/>
              </a:lnSpc>
              <a:spcBef>
                <a:spcPct val="25000"/>
              </a:spcBef>
              <a:buClr>
                <a:srgbClr val="F4BE96"/>
              </a:buClr>
              <a:buSzPct val="80000"/>
              <a:buFont typeface="Segoe" charset="0"/>
              <a:buBlip>
                <a:blip r:embed="rId2"/>
              </a:buBlip>
              <a:defRPr sz="2400" b="0">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9pPr>
          </a:lstStyle>
          <a:p>
            <a:pPr marL="0" indent="0">
              <a:buNone/>
              <a:defRPr/>
            </a:pPr>
            <a:r>
              <a:rPr lang="ru-RU" sz="2200" b="1" dirty="0">
                <a:effectLst/>
              </a:rPr>
              <a:t>Алгоритм минимального покрывающего дерева</a:t>
            </a:r>
          </a:p>
          <a:p>
            <a:pPr>
              <a:defRPr/>
            </a:pPr>
            <a:r>
              <a:rPr lang="ru-RU" sz="2200" dirty="0">
                <a:effectLst/>
              </a:rPr>
              <a:t>сначала строит на графе минимальное покрывающее дерево, а затем последовательно удаляет ребра с наибольшим весом. На рисунке изображено минимальное покрывающее дерево, полученное для девяти объектов.</a:t>
            </a:r>
          </a:p>
        </p:txBody>
      </p:sp>
      <p:pic>
        <p:nvPicPr>
          <p:cNvPr id="77829" name="Picture 2" descr="https://habrastorage.org/getpro/habr/post_images/c0c/322/890/c0c32289017968ce5178d6345c304b3b.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252" y="3455390"/>
            <a:ext cx="3851824" cy="29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Прямоугольник 1"/>
          <p:cNvSpPr/>
          <p:nvPr/>
        </p:nvSpPr>
        <p:spPr>
          <a:xfrm>
            <a:off x="5441349" y="3660478"/>
            <a:ext cx="6564810" cy="2330703"/>
          </a:xfrm>
          <a:prstGeom prst="rect">
            <a:avLst/>
          </a:prstGeom>
        </p:spPr>
        <p:txBody>
          <a:bodyPr wrap="square">
            <a:spAutoFit/>
          </a:bodyPr>
          <a:lstStyle/>
          <a:p>
            <a:pPr>
              <a:defRPr/>
            </a:pPr>
            <a:r>
              <a:rPr lang="ru-RU" sz="2078" dirty="0">
                <a:latin typeface="Segoe" charset="0"/>
              </a:rPr>
              <a:t>Путём удаления связи, помеченной CD, с длиной равной 6 единицам (ребро с максимальным расстоянием), получаем два кластера: {A, B, C} и {D, E, F, G, H, I}. Второй кластер в дальнейшем может быть разделён ещё на два кластера путём удаления ребра EF, которое имеет длину, равную 4,5 единицам.</a:t>
            </a:r>
          </a:p>
        </p:txBody>
      </p:sp>
      <p:sp>
        <p:nvSpPr>
          <p:cNvPr id="18" name="Rectangle 3"/>
          <p:cNvSpPr txBox="1">
            <a:spLocks noChangeArrowheads="1"/>
          </p:cNvSpPr>
          <p:nvPr/>
        </p:nvSpPr>
        <p:spPr>
          <a:xfrm>
            <a:off x="1293565" y="933731"/>
            <a:ext cx="10712594" cy="671272"/>
          </a:xfrm>
          <a:prstGeom prst="rect">
            <a:avLst/>
          </a:prstGeom>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defRPr/>
            </a:pPr>
            <a:r>
              <a:rPr lang="ru-RU" sz="2400" b="1" i="1" dirty="0">
                <a:solidFill>
                  <a:srgbClr val="0000FF"/>
                </a:solidFill>
              </a:rPr>
              <a:t>Алгоритмы иерархической кластеризации,  основанные на теории графов</a:t>
            </a:r>
          </a:p>
          <a:p>
            <a:pPr marL="0" indent="0">
              <a:buNone/>
              <a:defRPr/>
            </a:pPr>
            <a:endParaRPr lang="ru-RU" sz="2400" b="1" i="1" dirty="0">
              <a:solidFill>
                <a:srgbClr val="0000FF"/>
              </a:solidFill>
            </a:endParaRPr>
          </a:p>
        </p:txBody>
      </p:sp>
    </p:spTree>
    <p:extLst>
      <p:ext uri="{BB962C8B-B14F-4D97-AF65-F5344CB8AC3E}">
        <p14:creationId xmlns:p14="http://schemas.microsoft.com/office/powerpoint/2010/main" val="2514120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78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autoUpdateAnimBg="0"/>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1016529" cy="6121201"/>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r>
              <a:rPr lang="ru-RU" altLang="ru-RU" sz="4400"/>
              <a:t>Кластеризация</a:t>
            </a:r>
            <a:endParaRPr lang="en-US" altLang="ru-RU" sz="4400"/>
          </a:p>
        </p:txBody>
      </p:sp>
      <p:sp>
        <p:nvSpPr>
          <p:cNvPr id="644099" name="Rectangle 3"/>
          <p:cNvSpPr>
            <a:spLocks noGrp="1" noChangeArrowheads="1"/>
          </p:cNvSpPr>
          <p:nvPr>
            <p:ph idx="1"/>
          </p:nvPr>
        </p:nvSpPr>
        <p:spPr>
          <a:xfrm>
            <a:off x="1869630" y="926279"/>
            <a:ext cx="7253307" cy="367862"/>
          </a:xfrm>
        </p:spPr>
        <p:txBody>
          <a:bodyPr>
            <a:noAutofit/>
          </a:bodyPr>
          <a:lstStyle/>
          <a:p>
            <a:pPr>
              <a:defRPr/>
            </a:pPr>
            <a:r>
              <a:rPr lang="ru-RU" sz="2400" b="1" i="1" dirty="0">
                <a:solidFill>
                  <a:srgbClr val="0000FF"/>
                </a:solidFill>
              </a:rPr>
              <a:t>Алгоритмы, основанные на теории графов</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54</a:t>
            </a:fld>
            <a:endParaRPr lang="ru-RU" sz="1400">
              <a:solidFill>
                <a:schemeClr val="tx1"/>
              </a:solidFill>
            </a:endParaRPr>
          </a:p>
        </p:txBody>
      </p:sp>
      <p:sp>
        <p:nvSpPr>
          <p:cNvPr id="4" name="Rectangle 3"/>
          <p:cNvSpPr txBox="1">
            <a:spLocks noChangeArrowheads="1"/>
          </p:cNvSpPr>
          <p:nvPr/>
        </p:nvSpPr>
        <p:spPr bwMode="auto">
          <a:xfrm>
            <a:off x="1000390" y="1646881"/>
            <a:ext cx="10810718" cy="4655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533400" indent="-533400" eaLnBrk="1" hangingPunct="1">
              <a:lnSpc>
                <a:spcPct val="85000"/>
              </a:lnSpc>
              <a:spcBef>
                <a:spcPct val="25000"/>
              </a:spcBef>
              <a:buClr>
                <a:srgbClr val="F4BE96"/>
              </a:buClr>
              <a:buSzPct val="80000"/>
              <a:buFont typeface="Segoe" charset="0"/>
              <a:buBlip>
                <a:blip r:embed="rId2"/>
              </a:buBlip>
              <a:defRPr sz="2400" b="0">
                <a:effectLst>
                  <a:outerShdw blurRad="38100" dist="38100" dir="2700000" algn="tl">
                    <a:srgbClr val="000000"/>
                  </a:outerShdw>
                </a:effectLst>
                <a:latin typeface="Segoe" charset="0"/>
              </a:defRPr>
            </a:lvl1pPr>
            <a:lvl2pPr marL="793750" indent="-457200">
              <a:lnSpc>
                <a:spcPct val="85000"/>
              </a:lnSpc>
              <a:spcBef>
                <a:spcPct val="25000"/>
              </a:spcBef>
              <a:buClr>
                <a:srgbClr val="FFFFFF"/>
              </a:buClr>
              <a:buSzPct val="75000"/>
              <a:buFont typeface="Segoe" charset="0"/>
              <a:buBlip>
                <a:blip r:embed="rId2"/>
              </a:buBlip>
              <a:defRPr sz="2400">
                <a:effectLst>
                  <a:outerShdw blurRad="38100" dist="38100" dir="2700000" algn="tl">
                    <a:srgbClr val="000000"/>
                  </a:outerShdw>
                </a:effectLst>
                <a:latin typeface="Segoe" charset="0"/>
              </a:defRPr>
            </a:lvl2pPr>
            <a:lvl3pPr marL="1001713"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3pPr>
            <a:lvl4pPr marL="1295400"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4pPr>
            <a:lvl5pPr marL="1570038" indent="-381000">
              <a:lnSpc>
                <a:spcPct val="85000"/>
              </a:lnSpc>
              <a:spcBef>
                <a:spcPct val="25000"/>
              </a:spcBef>
              <a:buClr>
                <a:srgbClr val="FFFFFF"/>
              </a:buClr>
              <a:buSzPct val="75000"/>
              <a:buFont typeface="Segoe" charset="0"/>
              <a:buBlip>
                <a:blip r:embed="rId2"/>
              </a:buBlip>
              <a:defRPr sz="2000">
                <a:effectLst>
                  <a:outerShdw blurRad="38100" dist="38100" dir="2700000" algn="tl">
                    <a:srgbClr val="000000"/>
                  </a:outerShdw>
                </a:effectLst>
                <a:latin typeface="Segoe" charset="0"/>
              </a:defRPr>
            </a:lvl5pPr>
            <a:lvl6pPr marL="20272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6pPr>
            <a:lvl7pPr marL="24844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7pPr>
            <a:lvl8pPr marL="29416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8pPr>
            <a:lvl9pPr marL="3398838" indent="-381000" fontAlgn="base">
              <a:lnSpc>
                <a:spcPct val="85000"/>
              </a:lnSpc>
              <a:spcBef>
                <a:spcPct val="25000"/>
              </a:spcBef>
              <a:spcAft>
                <a:spcPct val="0"/>
              </a:spcAft>
              <a:buClr>
                <a:srgbClr val="FFFFFF"/>
              </a:buClr>
              <a:buSzPct val="75000"/>
              <a:buFont typeface="Segoe" charset="0"/>
              <a:buBlip>
                <a:blip r:embed="rId2"/>
              </a:buBlip>
              <a:defRPr sz="2000">
                <a:effectLst>
                  <a:outerShdw blurRad="38100" dist="38100" dir="2700000" algn="tl">
                    <a:srgbClr val="000000"/>
                  </a:outerShdw>
                </a:effectLst>
                <a:latin typeface="Segoe" charset="0"/>
              </a:defRPr>
            </a:lvl9pPr>
          </a:lstStyle>
          <a:p>
            <a:pPr marL="0" indent="0">
              <a:buNone/>
              <a:defRPr/>
            </a:pPr>
            <a:r>
              <a:rPr lang="ru-RU" sz="2078" b="1" dirty="0">
                <a:effectLst/>
              </a:rPr>
              <a:t>Послойная кластеризация</a:t>
            </a:r>
          </a:p>
          <a:p>
            <a:pPr>
              <a:buClr>
                <a:srgbClr val="0070C0"/>
              </a:buClr>
              <a:buFont typeface="Wingdings" panose="05000000000000000000" pitchFamily="2" charset="2"/>
              <a:buChar char="Ø"/>
              <a:defRPr/>
            </a:pPr>
            <a:r>
              <a:rPr lang="ru-RU" sz="2078" dirty="0">
                <a:effectLst/>
              </a:rPr>
              <a:t>Алгоритм основан на выделении связных компонент графа на некотором уровне расстояний между объектами (вершинами). Метрика задается порогом расстояния </a:t>
            </a:r>
            <a:r>
              <a:rPr lang="ru-RU" sz="2078" i="1" dirty="0">
                <a:solidFill>
                  <a:srgbClr val="0000FF"/>
                </a:solidFill>
                <a:effectLst/>
              </a:rPr>
              <a:t>c</a:t>
            </a:r>
            <a:r>
              <a:rPr lang="ru-RU" sz="2078" dirty="0">
                <a:solidFill>
                  <a:srgbClr val="0000FF"/>
                </a:solidFill>
                <a:effectLst/>
              </a:rPr>
              <a:t>.</a:t>
            </a:r>
            <a:r>
              <a:rPr lang="ru-RU" sz="2078" dirty="0">
                <a:effectLst/>
              </a:rPr>
              <a:t> Например, если расстояние между объектами </a:t>
            </a:r>
            <a:r>
              <a:rPr lang="ru-RU" sz="2078" i="1" dirty="0">
                <a:solidFill>
                  <a:srgbClr val="0000FF"/>
                </a:solidFill>
                <a:effectLst/>
              </a:rPr>
              <a:t>1</a:t>
            </a:r>
            <a:r>
              <a:rPr lang="ru-RU" sz="2078" i="1" dirty="0">
                <a:solidFill>
                  <a:srgbClr val="0000FF"/>
                </a:solidFill>
                <a:effectLst/>
                <a:sym typeface="Symbol" panose="05050102010706020507" pitchFamily="18" charset="2"/>
              </a:rPr>
              <a:t></a:t>
            </a:r>
            <a:r>
              <a:rPr lang="en-US" sz="2078" i="1" dirty="0">
                <a:solidFill>
                  <a:srgbClr val="0000FF"/>
                </a:solidFill>
                <a:effectLst/>
                <a:sym typeface="Symbol" panose="05050102010706020507" pitchFamily="18" charset="2"/>
              </a:rPr>
              <a:t>D(</a:t>
            </a:r>
            <a:r>
              <a:rPr lang="en-US" sz="2078" i="1" dirty="0" err="1">
                <a:solidFill>
                  <a:srgbClr val="0000FF"/>
                </a:solidFill>
                <a:effectLst/>
                <a:sym typeface="Symbol" panose="05050102010706020507" pitchFamily="18" charset="2"/>
              </a:rPr>
              <a:t>xi,yi</a:t>
            </a:r>
            <a:r>
              <a:rPr lang="en-US" sz="2078" i="1" dirty="0">
                <a:solidFill>
                  <a:srgbClr val="0000FF"/>
                </a:solidFill>
                <a:effectLst/>
                <a:sym typeface="Symbol" panose="05050102010706020507" pitchFamily="18" charset="2"/>
              </a:rPr>
              <a:t>)</a:t>
            </a:r>
            <a:r>
              <a:rPr lang="ru-RU" sz="2078" i="1" dirty="0">
                <a:solidFill>
                  <a:srgbClr val="0000FF"/>
                </a:solidFill>
                <a:effectLst/>
                <a:sym typeface="Symbol" panose="05050102010706020507" pitchFamily="18" charset="2"/>
              </a:rPr>
              <a:t>0</a:t>
            </a:r>
            <a:r>
              <a:rPr lang="en-US" sz="2078" i="1" dirty="0">
                <a:solidFill>
                  <a:srgbClr val="0000FF"/>
                </a:solidFill>
                <a:effectLst/>
                <a:sym typeface="Symbol" panose="05050102010706020507" pitchFamily="18" charset="2"/>
              </a:rPr>
              <a:t>, </a:t>
            </a:r>
            <a:r>
              <a:rPr lang="ru-RU" sz="2078" i="1" dirty="0">
                <a:solidFill>
                  <a:srgbClr val="0000FF"/>
                </a:solidFill>
                <a:effectLst/>
              </a:rPr>
              <a:t> </a:t>
            </a:r>
            <a:r>
              <a:rPr lang="ru-RU" sz="2078" dirty="0">
                <a:effectLst/>
              </a:rPr>
              <a:t>то</a:t>
            </a:r>
            <a:r>
              <a:rPr lang="ru-RU" sz="2078" i="1" dirty="0">
                <a:solidFill>
                  <a:srgbClr val="FFFF00"/>
                </a:solidFill>
                <a:effectLst/>
              </a:rPr>
              <a:t> </a:t>
            </a:r>
            <a:r>
              <a:rPr lang="ru-RU" sz="2078" i="1" dirty="0">
                <a:solidFill>
                  <a:srgbClr val="0000FF"/>
                </a:solidFill>
                <a:effectLst/>
              </a:rPr>
              <a:t>1</a:t>
            </a:r>
            <a:r>
              <a:rPr lang="ru-RU" sz="2078" i="1" dirty="0">
                <a:solidFill>
                  <a:srgbClr val="0000FF"/>
                </a:solidFill>
                <a:effectLst/>
                <a:sym typeface="Symbol" panose="05050102010706020507" pitchFamily="18" charset="2"/>
              </a:rPr>
              <a:t></a:t>
            </a:r>
            <a:r>
              <a:rPr lang="ru-RU" sz="2078" i="1" dirty="0">
                <a:solidFill>
                  <a:srgbClr val="0000FF"/>
                </a:solidFill>
                <a:effectLst/>
              </a:rPr>
              <a:t>с</a:t>
            </a:r>
            <a:r>
              <a:rPr lang="ru-RU" sz="2078" i="1" dirty="0">
                <a:solidFill>
                  <a:srgbClr val="0000FF"/>
                </a:solidFill>
                <a:effectLst/>
                <a:sym typeface="Symbol" panose="05050102010706020507" pitchFamily="18" charset="2"/>
              </a:rPr>
              <a:t>0</a:t>
            </a:r>
            <a:r>
              <a:rPr lang="en-US" sz="2078" i="1" dirty="0">
                <a:solidFill>
                  <a:srgbClr val="0000FF"/>
                </a:solidFill>
                <a:effectLst/>
                <a:sym typeface="Symbol" panose="05050102010706020507" pitchFamily="18" charset="2"/>
              </a:rPr>
              <a:t>.</a:t>
            </a:r>
          </a:p>
          <a:p>
            <a:pPr>
              <a:buClr>
                <a:srgbClr val="0070C0"/>
              </a:buClr>
              <a:buFont typeface="Wingdings" panose="05000000000000000000" pitchFamily="2" charset="2"/>
              <a:buChar char="Ø"/>
              <a:defRPr/>
            </a:pPr>
            <a:r>
              <a:rPr lang="ru-RU" sz="1870" dirty="0">
                <a:effectLst/>
              </a:rPr>
              <a:t>Алгоритм послойной кластеризации формирует последовательность подграфов графа </a:t>
            </a:r>
            <a:r>
              <a:rPr lang="ru-RU" sz="1870" i="1" dirty="0">
                <a:effectLst/>
              </a:rPr>
              <a:t>G</a:t>
            </a:r>
            <a:r>
              <a:rPr lang="ru-RU" sz="1870" dirty="0">
                <a:effectLst/>
              </a:rPr>
              <a:t>, которые отражают иерархические связи между кластерами</a:t>
            </a:r>
            <a:r>
              <a:rPr lang="ru-RU" sz="1870" dirty="0">
                <a:solidFill>
                  <a:srgbClr val="0000FF"/>
                </a:solidFill>
                <a:effectLst/>
              </a:rPr>
              <a:t>:</a:t>
            </a:r>
            <a:r>
              <a:rPr lang="en-US" sz="1870" dirty="0">
                <a:solidFill>
                  <a:srgbClr val="0000FF"/>
                </a:solidFill>
                <a:effectLst/>
              </a:rPr>
              <a:t> </a:t>
            </a:r>
            <a:r>
              <a:rPr lang="en-US" sz="1870" b="1" i="1" dirty="0">
                <a:solidFill>
                  <a:srgbClr val="0000FF"/>
                </a:solidFill>
                <a:effectLst/>
              </a:rPr>
              <a:t>G</a:t>
            </a:r>
            <a:r>
              <a:rPr lang="en-US" sz="1870" b="1" i="1" baseline="30000" dirty="0">
                <a:solidFill>
                  <a:srgbClr val="0000FF"/>
                </a:solidFill>
                <a:effectLst/>
              </a:rPr>
              <a:t>0</a:t>
            </a:r>
            <a:r>
              <a:rPr lang="en-US" sz="1870" b="1" i="1" dirty="0">
                <a:solidFill>
                  <a:srgbClr val="0000FF"/>
                </a:solidFill>
                <a:effectLst/>
                <a:sym typeface="Symbol" panose="05050102010706020507" pitchFamily="18" charset="2"/>
              </a:rPr>
              <a:t>G</a:t>
            </a:r>
            <a:r>
              <a:rPr lang="en-US" sz="1870" b="1" i="1" baseline="30000" dirty="0">
                <a:solidFill>
                  <a:srgbClr val="0000FF"/>
                </a:solidFill>
                <a:effectLst/>
                <a:sym typeface="Symbol" panose="05050102010706020507" pitchFamily="18" charset="2"/>
              </a:rPr>
              <a:t>1</a:t>
            </a:r>
            <a:r>
              <a:rPr lang="en-US" sz="1870" b="1" i="1" dirty="0">
                <a:solidFill>
                  <a:srgbClr val="0000FF"/>
                </a:solidFill>
                <a:effectLst/>
                <a:sym typeface="Symbol" panose="05050102010706020507" pitchFamily="18" charset="2"/>
              </a:rPr>
              <a:t>…G</a:t>
            </a:r>
            <a:r>
              <a:rPr lang="en-US" sz="1870" b="1" i="1" baseline="30000" dirty="0">
                <a:solidFill>
                  <a:srgbClr val="0000FF"/>
                </a:solidFill>
                <a:effectLst/>
                <a:sym typeface="Symbol" panose="05050102010706020507" pitchFamily="18" charset="2"/>
              </a:rPr>
              <a:t>m </a:t>
            </a:r>
          </a:p>
          <a:p>
            <a:pPr>
              <a:buClr>
                <a:srgbClr val="0070C0"/>
              </a:buClr>
              <a:buFont typeface="Wingdings" panose="05000000000000000000" pitchFamily="2" charset="2"/>
              <a:buChar char="Ø"/>
              <a:defRPr/>
            </a:pPr>
            <a:r>
              <a:rPr lang="ru-RU" sz="1870" dirty="0">
                <a:effectLst/>
              </a:rPr>
              <a:t>где</a:t>
            </a:r>
            <a:r>
              <a:rPr lang="ru-RU" sz="1870" b="1" dirty="0">
                <a:solidFill>
                  <a:srgbClr val="FFFF00"/>
                </a:solidFill>
                <a:effectLst/>
              </a:rPr>
              <a:t> </a:t>
            </a:r>
            <a:r>
              <a:rPr lang="ru-RU" sz="1870" b="1" i="1" dirty="0" err="1">
                <a:solidFill>
                  <a:srgbClr val="0000FF"/>
                </a:solidFill>
                <a:effectLst/>
              </a:rPr>
              <a:t>G</a:t>
            </a:r>
            <a:r>
              <a:rPr lang="ru-RU" sz="1870" b="1" i="1" baseline="30000" dirty="0" err="1">
                <a:solidFill>
                  <a:srgbClr val="0000FF"/>
                </a:solidFill>
                <a:effectLst/>
              </a:rPr>
              <a:t>t</a:t>
            </a:r>
            <a:r>
              <a:rPr lang="ru-RU" sz="1870" b="1" i="1" dirty="0">
                <a:solidFill>
                  <a:srgbClr val="0000FF"/>
                </a:solidFill>
                <a:effectLst/>
              </a:rPr>
              <a:t> = (V, </a:t>
            </a:r>
            <a:r>
              <a:rPr lang="ru-RU" sz="1870" b="1" i="1" dirty="0" err="1">
                <a:solidFill>
                  <a:srgbClr val="0000FF"/>
                </a:solidFill>
                <a:effectLst/>
              </a:rPr>
              <a:t>E</a:t>
            </a:r>
            <a:r>
              <a:rPr lang="ru-RU" sz="1870" b="1" i="1" baseline="30000" dirty="0" err="1">
                <a:solidFill>
                  <a:srgbClr val="0000FF"/>
                </a:solidFill>
                <a:effectLst/>
              </a:rPr>
              <a:t>t</a:t>
            </a:r>
            <a:r>
              <a:rPr lang="ru-RU" sz="1870" b="1" i="1" dirty="0">
                <a:solidFill>
                  <a:srgbClr val="0000FF"/>
                </a:solidFill>
                <a:effectLst/>
              </a:rPr>
              <a:t>)</a:t>
            </a:r>
            <a:r>
              <a:rPr lang="ru-RU" sz="1870" b="1" dirty="0">
                <a:solidFill>
                  <a:srgbClr val="0000FF"/>
                </a:solidFill>
                <a:effectLst/>
              </a:rPr>
              <a:t> </a:t>
            </a:r>
            <a:r>
              <a:rPr lang="ru-RU" sz="1870" dirty="0">
                <a:effectLst/>
              </a:rPr>
              <a:t>— граф на уровне </a:t>
            </a:r>
            <a:r>
              <a:rPr lang="ru-RU" sz="1870" b="1" i="1" dirty="0" err="1">
                <a:solidFill>
                  <a:srgbClr val="0000FF"/>
                </a:solidFill>
                <a:effectLst/>
              </a:rPr>
              <a:t>с</a:t>
            </a:r>
            <a:r>
              <a:rPr lang="ru-RU" sz="1870" b="1" i="1" baseline="30000" dirty="0" err="1">
                <a:solidFill>
                  <a:srgbClr val="0000FF"/>
                </a:solidFill>
                <a:effectLst/>
              </a:rPr>
              <a:t>t</a:t>
            </a:r>
            <a:r>
              <a:rPr lang="ru-RU" sz="1870" dirty="0">
                <a:solidFill>
                  <a:srgbClr val="0000FF"/>
                </a:solidFill>
                <a:effectLst/>
              </a:rPr>
              <a:t>,</a:t>
            </a:r>
            <a:r>
              <a:rPr lang="en-US" sz="1870" dirty="0">
                <a:solidFill>
                  <a:srgbClr val="0000FF"/>
                </a:solidFill>
                <a:effectLst/>
              </a:rPr>
              <a:t>  </a:t>
            </a:r>
            <a:r>
              <a:rPr lang="en-US" sz="1870" b="1" i="1" dirty="0">
                <a:solidFill>
                  <a:srgbClr val="0000FF"/>
                </a:solidFill>
                <a:effectLst/>
              </a:rPr>
              <a:t>E</a:t>
            </a:r>
            <a:r>
              <a:rPr lang="en-US" sz="1870" b="1" i="1" baseline="-25000" dirty="0">
                <a:solidFill>
                  <a:srgbClr val="0000FF"/>
                </a:solidFill>
                <a:effectLst/>
              </a:rPr>
              <a:t>t</a:t>
            </a:r>
            <a:r>
              <a:rPr lang="en-US" sz="1870" b="1" i="1" dirty="0">
                <a:solidFill>
                  <a:srgbClr val="0000FF"/>
                </a:solidFill>
                <a:effectLst/>
              </a:rPr>
              <a:t>={</a:t>
            </a:r>
            <a:r>
              <a:rPr lang="en-US" sz="1870" b="1" i="1" dirty="0" err="1">
                <a:solidFill>
                  <a:srgbClr val="0000FF"/>
                </a:solidFill>
                <a:effectLst/>
              </a:rPr>
              <a:t>e</a:t>
            </a:r>
            <a:r>
              <a:rPr lang="en-US" sz="1870" b="1" i="1" baseline="-25000" dirty="0" err="1">
                <a:solidFill>
                  <a:srgbClr val="0000FF"/>
                </a:solidFill>
                <a:effectLst/>
              </a:rPr>
              <a:t>ij</a:t>
            </a:r>
            <a:r>
              <a:rPr lang="en-US" sz="1870" b="1" i="1" dirty="0">
                <a:solidFill>
                  <a:srgbClr val="0000FF"/>
                </a:solidFill>
                <a:effectLst/>
                <a:sym typeface="Symbol" panose="05050102010706020507" pitchFamily="18" charset="2"/>
              </a:rPr>
              <a:t> E:c</a:t>
            </a:r>
            <a:r>
              <a:rPr lang="en-US" sz="1870" b="1" i="1" baseline="-25000" dirty="0">
                <a:solidFill>
                  <a:srgbClr val="0000FF"/>
                </a:solidFill>
                <a:effectLst/>
                <a:sym typeface="Symbol" panose="05050102010706020507" pitchFamily="18" charset="2"/>
              </a:rPr>
              <a:t>t</a:t>
            </a:r>
            <a:r>
              <a:rPr lang="ru-RU" sz="1870" b="1" i="1" baseline="-25000" dirty="0">
                <a:solidFill>
                  <a:srgbClr val="0000FF"/>
                </a:solidFill>
                <a:effectLst/>
                <a:sym typeface="Symbol" panose="05050102010706020507" pitchFamily="18" charset="2"/>
              </a:rPr>
              <a:t> </a:t>
            </a:r>
            <a:r>
              <a:rPr lang="ru-RU" sz="1870" b="1" i="1" dirty="0">
                <a:solidFill>
                  <a:srgbClr val="0000FF"/>
                </a:solidFill>
                <a:effectLst/>
                <a:sym typeface="Symbol" panose="05050102010706020507" pitchFamily="18" charset="2"/>
              </a:rPr>
              <a:t> </a:t>
            </a:r>
            <a:r>
              <a:rPr lang="en-US" sz="1870" b="1" i="1" dirty="0" err="1">
                <a:solidFill>
                  <a:srgbClr val="0000FF"/>
                </a:solidFill>
                <a:effectLst/>
                <a:sym typeface="Symbol" panose="05050102010706020507" pitchFamily="18" charset="2"/>
              </a:rPr>
              <a:t>D</a:t>
            </a:r>
            <a:r>
              <a:rPr lang="en-US" sz="1870" b="1" i="1" baseline="-25000" dirty="0" err="1">
                <a:solidFill>
                  <a:srgbClr val="0000FF"/>
                </a:solidFill>
                <a:effectLst/>
                <a:sym typeface="Symbol" panose="05050102010706020507" pitchFamily="18" charset="2"/>
              </a:rPr>
              <a:t>ij</a:t>
            </a:r>
            <a:r>
              <a:rPr lang="en-US" sz="1870" b="1" i="1" dirty="0">
                <a:solidFill>
                  <a:srgbClr val="0000FF"/>
                </a:solidFill>
                <a:effectLst/>
              </a:rPr>
              <a:t>}</a:t>
            </a:r>
          </a:p>
          <a:p>
            <a:pPr>
              <a:buClr>
                <a:srgbClr val="0070C0"/>
              </a:buClr>
              <a:buFont typeface="Wingdings" panose="05000000000000000000" pitchFamily="2" charset="2"/>
              <a:buChar char="Ø"/>
              <a:defRPr/>
            </a:pPr>
            <a:r>
              <a:rPr lang="ru-RU" sz="1870" b="1" i="1" dirty="0" err="1">
                <a:solidFill>
                  <a:srgbClr val="0000FF"/>
                </a:solidFill>
                <a:effectLst/>
              </a:rPr>
              <a:t>с</a:t>
            </a:r>
            <a:r>
              <a:rPr lang="ru-RU" sz="1870" b="1" i="1" baseline="30000" dirty="0" err="1">
                <a:solidFill>
                  <a:srgbClr val="0000FF"/>
                </a:solidFill>
                <a:effectLst/>
              </a:rPr>
              <a:t>t</a:t>
            </a:r>
            <a:r>
              <a:rPr lang="ru-RU" sz="1870" b="1" dirty="0">
                <a:solidFill>
                  <a:srgbClr val="FFFF00"/>
                </a:solidFill>
                <a:effectLst/>
              </a:rPr>
              <a:t> </a:t>
            </a:r>
            <a:r>
              <a:rPr lang="ru-RU" sz="1870" dirty="0">
                <a:effectLst/>
              </a:rPr>
              <a:t>– t-</a:t>
            </a:r>
            <a:r>
              <a:rPr lang="ru-RU" sz="1870" dirty="0" err="1">
                <a:effectLst/>
              </a:rPr>
              <a:t>ый</a:t>
            </a:r>
            <a:r>
              <a:rPr lang="ru-RU" sz="1870" dirty="0">
                <a:effectLst/>
              </a:rPr>
              <a:t> порог расстояния,</a:t>
            </a:r>
            <a:br>
              <a:rPr lang="ru-RU" sz="1870" dirty="0">
                <a:effectLst/>
              </a:rPr>
            </a:br>
            <a:r>
              <a:rPr lang="ru-RU" sz="1870" b="1" i="1" dirty="0">
                <a:solidFill>
                  <a:srgbClr val="0000FF"/>
                </a:solidFill>
                <a:effectLst/>
              </a:rPr>
              <a:t>m</a:t>
            </a:r>
            <a:r>
              <a:rPr lang="ru-RU" sz="1870" dirty="0">
                <a:solidFill>
                  <a:srgbClr val="0000FF"/>
                </a:solidFill>
                <a:effectLst/>
              </a:rPr>
              <a:t> </a:t>
            </a:r>
            <a:r>
              <a:rPr lang="ru-RU" sz="1870" dirty="0">
                <a:effectLst/>
              </a:rPr>
              <a:t>– количество уровней иерархии,</a:t>
            </a:r>
            <a:br>
              <a:rPr lang="ru-RU" sz="1870" dirty="0">
                <a:effectLst/>
              </a:rPr>
            </a:br>
            <a:r>
              <a:rPr lang="ru-RU" sz="1870" b="1" i="1" dirty="0">
                <a:solidFill>
                  <a:srgbClr val="0000FF"/>
                </a:solidFill>
                <a:effectLst/>
              </a:rPr>
              <a:t>G</a:t>
            </a:r>
            <a:r>
              <a:rPr lang="ru-RU" sz="1870" b="1" i="1" baseline="30000" dirty="0">
                <a:solidFill>
                  <a:srgbClr val="0000FF"/>
                </a:solidFill>
                <a:effectLst/>
              </a:rPr>
              <a:t>0 </a:t>
            </a:r>
            <a:r>
              <a:rPr lang="ru-RU" sz="1870" b="1" i="1" dirty="0">
                <a:solidFill>
                  <a:srgbClr val="0000FF"/>
                </a:solidFill>
                <a:effectLst/>
              </a:rPr>
              <a:t>= (V, 0), </a:t>
            </a:r>
            <a:r>
              <a:rPr lang="ru-RU" sz="1870" dirty="0">
                <a:effectLst/>
              </a:rPr>
              <a:t>0 – пустое множество ребер графа, получаемое при </a:t>
            </a:r>
            <a:r>
              <a:rPr lang="ru-RU" sz="1870" b="1" dirty="0">
                <a:solidFill>
                  <a:srgbClr val="0000FF"/>
                </a:solidFill>
                <a:effectLst/>
              </a:rPr>
              <a:t>t</a:t>
            </a:r>
            <a:r>
              <a:rPr lang="ru-RU" sz="1870" b="1" baseline="30000" dirty="0">
                <a:solidFill>
                  <a:srgbClr val="0000FF"/>
                </a:solidFill>
                <a:effectLst/>
              </a:rPr>
              <a:t>0</a:t>
            </a:r>
            <a:r>
              <a:rPr lang="ru-RU" sz="1870" b="1" dirty="0">
                <a:solidFill>
                  <a:srgbClr val="0000FF"/>
                </a:solidFill>
                <a:effectLst/>
              </a:rPr>
              <a:t> = 1</a:t>
            </a:r>
            <a:r>
              <a:rPr lang="ru-RU" sz="1870" dirty="0">
                <a:solidFill>
                  <a:srgbClr val="0000FF"/>
                </a:solidFill>
                <a:effectLst/>
              </a:rPr>
              <a:t>,</a:t>
            </a:r>
            <a:br>
              <a:rPr lang="ru-RU" sz="1870" dirty="0">
                <a:effectLst/>
              </a:rPr>
            </a:br>
            <a:r>
              <a:rPr lang="ru-RU" sz="1870" b="1" i="1" dirty="0" err="1">
                <a:solidFill>
                  <a:srgbClr val="0000FF"/>
                </a:solidFill>
                <a:effectLst/>
              </a:rPr>
              <a:t>G</a:t>
            </a:r>
            <a:r>
              <a:rPr lang="ru-RU" sz="1870" b="1" i="1" baseline="30000" dirty="0" err="1">
                <a:solidFill>
                  <a:srgbClr val="0000FF"/>
                </a:solidFill>
                <a:effectLst/>
              </a:rPr>
              <a:t>m</a:t>
            </a:r>
            <a:r>
              <a:rPr lang="ru-RU" sz="1870" b="1" i="1" dirty="0">
                <a:solidFill>
                  <a:srgbClr val="0000FF"/>
                </a:solidFill>
                <a:effectLst/>
              </a:rPr>
              <a:t> = G</a:t>
            </a:r>
            <a:r>
              <a:rPr lang="ru-RU" sz="1870" dirty="0">
                <a:solidFill>
                  <a:srgbClr val="0000FF"/>
                </a:solidFill>
                <a:effectLst/>
              </a:rPr>
              <a:t>, </a:t>
            </a:r>
            <a:r>
              <a:rPr lang="ru-RU" sz="1870" dirty="0">
                <a:effectLst/>
              </a:rPr>
              <a:t>то есть граф объектов без ограничений на расстояние (длину ребер графа), поскольку </a:t>
            </a:r>
            <a:r>
              <a:rPr lang="ru-RU" sz="1870" b="1" i="1" dirty="0" err="1">
                <a:solidFill>
                  <a:srgbClr val="0000FF"/>
                </a:solidFill>
                <a:effectLst/>
              </a:rPr>
              <a:t>t</a:t>
            </a:r>
            <a:r>
              <a:rPr lang="ru-RU" sz="1870" b="1" i="1" baseline="30000" dirty="0" err="1">
                <a:solidFill>
                  <a:srgbClr val="0000FF"/>
                </a:solidFill>
                <a:effectLst/>
              </a:rPr>
              <a:t>m</a:t>
            </a:r>
            <a:r>
              <a:rPr lang="ru-RU" sz="1870" b="1" i="1" dirty="0">
                <a:solidFill>
                  <a:srgbClr val="0000FF"/>
                </a:solidFill>
                <a:effectLst/>
              </a:rPr>
              <a:t> = 1</a:t>
            </a:r>
            <a:r>
              <a:rPr lang="ru-RU" sz="1870" dirty="0">
                <a:solidFill>
                  <a:srgbClr val="0000FF"/>
                </a:solidFill>
                <a:effectLst/>
              </a:rPr>
              <a:t>.</a:t>
            </a:r>
            <a:br>
              <a:rPr lang="ru-RU" sz="1870" dirty="0">
                <a:effectLst/>
              </a:rPr>
            </a:br>
            <a:br>
              <a:rPr lang="ru-RU" sz="1870" dirty="0">
                <a:effectLst/>
              </a:rPr>
            </a:br>
            <a:r>
              <a:rPr lang="ru-RU" sz="1870" dirty="0">
                <a:effectLst/>
              </a:rPr>
              <a:t>Посредством изменения порогов расстояния </a:t>
            </a:r>
            <a:r>
              <a:rPr lang="ru-RU" sz="1870" b="1" i="1" dirty="0">
                <a:solidFill>
                  <a:srgbClr val="0000FF"/>
                </a:solidFill>
                <a:effectLst/>
              </a:rPr>
              <a:t>{с</a:t>
            </a:r>
            <a:r>
              <a:rPr lang="ru-RU" sz="1870" b="1" i="1" baseline="30000" dirty="0">
                <a:solidFill>
                  <a:srgbClr val="0000FF"/>
                </a:solidFill>
                <a:effectLst/>
              </a:rPr>
              <a:t>0</a:t>
            </a:r>
            <a:r>
              <a:rPr lang="ru-RU" sz="1870" b="1" i="1" dirty="0">
                <a:solidFill>
                  <a:srgbClr val="0000FF"/>
                </a:solidFill>
                <a:effectLst/>
              </a:rPr>
              <a:t>, …, </a:t>
            </a:r>
            <a:r>
              <a:rPr lang="ru-RU" sz="1870" b="1" i="1" dirty="0" err="1">
                <a:solidFill>
                  <a:srgbClr val="0000FF"/>
                </a:solidFill>
                <a:effectLst/>
              </a:rPr>
              <a:t>с</a:t>
            </a:r>
            <a:r>
              <a:rPr lang="ru-RU" sz="1870" b="1" i="1" baseline="30000" dirty="0" err="1">
                <a:solidFill>
                  <a:srgbClr val="0000FF"/>
                </a:solidFill>
                <a:effectLst/>
              </a:rPr>
              <a:t>m</a:t>
            </a:r>
            <a:r>
              <a:rPr lang="ru-RU" sz="1870" b="1" i="1" dirty="0">
                <a:solidFill>
                  <a:srgbClr val="0000FF"/>
                </a:solidFill>
                <a:effectLst/>
              </a:rPr>
              <a:t>}, </a:t>
            </a:r>
            <a:r>
              <a:rPr lang="ru-RU" sz="1870" dirty="0">
                <a:solidFill>
                  <a:srgbClr val="0000FF"/>
                </a:solidFill>
                <a:effectLst/>
              </a:rPr>
              <a:t>где </a:t>
            </a:r>
            <a:r>
              <a:rPr lang="ru-RU" sz="1870" b="1" i="1" dirty="0">
                <a:solidFill>
                  <a:srgbClr val="0000FF"/>
                </a:solidFill>
                <a:effectLst/>
              </a:rPr>
              <a:t>0 = с</a:t>
            </a:r>
            <a:r>
              <a:rPr lang="ru-RU" sz="1870" b="1" i="1" baseline="30000" dirty="0">
                <a:solidFill>
                  <a:srgbClr val="0000FF"/>
                </a:solidFill>
                <a:effectLst/>
              </a:rPr>
              <a:t>0</a:t>
            </a:r>
            <a:r>
              <a:rPr lang="ru-RU" sz="1870" b="1" i="1" dirty="0">
                <a:solidFill>
                  <a:srgbClr val="0000FF"/>
                </a:solidFill>
                <a:effectLst/>
              </a:rPr>
              <a:t> &lt; с</a:t>
            </a:r>
            <a:r>
              <a:rPr lang="ru-RU" sz="1870" b="1" i="1" baseline="30000" dirty="0">
                <a:solidFill>
                  <a:srgbClr val="0000FF"/>
                </a:solidFill>
                <a:effectLst/>
              </a:rPr>
              <a:t>1</a:t>
            </a:r>
            <a:r>
              <a:rPr lang="ru-RU" sz="1870" b="1" i="1" dirty="0">
                <a:solidFill>
                  <a:srgbClr val="0000FF"/>
                </a:solidFill>
                <a:effectLst/>
              </a:rPr>
              <a:t> &lt; …&lt; </a:t>
            </a:r>
            <a:r>
              <a:rPr lang="ru-RU" sz="1870" b="1" i="1" dirty="0" err="1">
                <a:solidFill>
                  <a:srgbClr val="0000FF"/>
                </a:solidFill>
                <a:effectLst/>
              </a:rPr>
              <a:t>с</a:t>
            </a:r>
            <a:r>
              <a:rPr lang="ru-RU" sz="1870" b="1" i="1" baseline="30000" dirty="0" err="1">
                <a:solidFill>
                  <a:srgbClr val="0000FF"/>
                </a:solidFill>
                <a:effectLst/>
              </a:rPr>
              <a:t>m</a:t>
            </a:r>
            <a:r>
              <a:rPr lang="ru-RU" sz="1870" b="1" i="1" dirty="0">
                <a:solidFill>
                  <a:srgbClr val="0000FF"/>
                </a:solidFill>
                <a:effectLst/>
              </a:rPr>
              <a:t> = 1</a:t>
            </a:r>
            <a:r>
              <a:rPr lang="ru-RU" sz="1870" dirty="0">
                <a:solidFill>
                  <a:srgbClr val="0000FF"/>
                </a:solidFill>
                <a:effectLst/>
              </a:rPr>
              <a:t>, </a:t>
            </a:r>
            <a:r>
              <a:rPr lang="ru-RU" sz="1870" dirty="0">
                <a:effectLst/>
              </a:rPr>
              <a:t>возможно контролировать глубину иерархии получаемых кластеров. Таким образом, алгоритм послойной кластеризации способен создавать как плоское разбиение данных, так и иерархическое.</a:t>
            </a:r>
            <a:endParaRPr lang="ru-RU" sz="1870" b="1" i="1" baseline="30000" dirty="0">
              <a:solidFill>
                <a:srgbClr val="FFFF00"/>
              </a:solidFill>
              <a:effectLst/>
            </a:endParaRPr>
          </a:p>
        </p:txBody>
      </p:sp>
    </p:spTree>
    <p:extLst>
      <p:ext uri="{BB962C8B-B14F-4D97-AF65-F5344CB8AC3E}">
        <p14:creationId xmlns:p14="http://schemas.microsoft.com/office/powerpoint/2010/main" val="4117979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40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099" grpId="0" build="p" bldLvl="2"/>
      <p:bldP spid="4" grpId="0" build="p" bldLvl="2"/>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r>
              <a:rPr lang="ru-RU" sz="4000" dirty="0"/>
              <a:t>Алгоритмы кластерного анализа</a:t>
            </a:r>
            <a:endParaRPr lang="en-US" altLang="ru-RU" sz="4000" dirty="0"/>
          </a:p>
        </p:txBody>
      </p:sp>
      <p:sp>
        <p:nvSpPr>
          <p:cNvPr id="4" name="Номер слайда 3"/>
          <p:cNvSpPr>
            <a:spLocks noGrp="1"/>
          </p:cNvSpPr>
          <p:nvPr>
            <p:ph type="sldNum" sz="quarter" idx="12"/>
          </p:nvPr>
        </p:nvSpPr>
        <p:spPr/>
        <p:txBody>
          <a:bodyPr/>
          <a:lstStyle/>
          <a:p>
            <a:fld id="{952B6C0E-C4B9-4094-8E59-5B7DF00D5415}" type="slidenum">
              <a:rPr lang="ru-RU" sz="1400">
                <a:solidFill>
                  <a:schemeClr val="tx1"/>
                </a:solidFill>
              </a:rPr>
              <a:t>55</a:t>
            </a:fld>
            <a:endParaRPr lang="ru-RU" dirty="0">
              <a:solidFill>
                <a:schemeClr val="tx1"/>
              </a:solidFill>
            </a:endParaRPr>
          </a:p>
        </p:txBody>
      </p:sp>
      <p:sp>
        <p:nvSpPr>
          <p:cNvPr id="10" name="Текст 2"/>
          <p:cNvSpPr txBox="1">
            <a:spLocks/>
          </p:cNvSpPr>
          <p:nvPr/>
        </p:nvSpPr>
        <p:spPr>
          <a:xfrm>
            <a:off x="2733727" y="1064290"/>
            <a:ext cx="7200799" cy="53043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spcBef>
                <a:spcPct val="25000"/>
              </a:spcBef>
              <a:buClr>
                <a:srgbClr val="F4BE96"/>
              </a:buClr>
              <a:buSzPct val="80000"/>
              <a:buNone/>
              <a:defRPr/>
            </a:pPr>
            <a:r>
              <a:rPr lang="ru-RU" sz="2800" dirty="0"/>
              <a:t>Дендрограммы</a:t>
            </a:r>
            <a:endParaRPr lang="ru-RU" sz="2800" dirty="0">
              <a:latin typeface="Segoe" charset="0"/>
              <a:cs typeface="Arial" panose="020B0604020202020204" pitchFamily="34" charset="0"/>
            </a:endParaRPr>
          </a:p>
        </p:txBody>
      </p:sp>
      <p:pic>
        <p:nvPicPr>
          <p:cNvPr id="3074" name="Picture 2" descr="Fig-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618" y="1459298"/>
            <a:ext cx="8104416" cy="4194410"/>
          </a:xfrm>
          <a:prstGeom prst="rect">
            <a:avLst/>
          </a:prstGeom>
          <a:noFill/>
          <a:extLst>
            <a:ext uri="{909E8E84-426E-40DD-AFC4-6F175D3DCCD1}">
              <a14:hiddenFill xmlns:a14="http://schemas.microsoft.com/office/drawing/2010/main">
                <a:solidFill>
                  <a:srgbClr val="FFFFFF"/>
                </a:solidFill>
              </a14:hiddenFill>
            </a:ext>
          </a:extLst>
        </p:spPr>
      </p:pic>
      <p:sp>
        <p:nvSpPr>
          <p:cNvPr id="3" name="Прямоугольник 2"/>
          <p:cNvSpPr/>
          <p:nvPr/>
        </p:nvSpPr>
        <p:spPr>
          <a:xfrm>
            <a:off x="1077541" y="5675135"/>
            <a:ext cx="10513167" cy="923330"/>
          </a:xfrm>
          <a:prstGeom prst="rect">
            <a:avLst/>
          </a:prstGeom>
        </p:spPr>
        <p:txBody>
          <a:bodyPr wrap="square">
            <a:spAutoFit/>
          </a:bodyPr>
          <a:lstStyle/>
          <a:p>
            <a:r>
              <a:rPr lang="ru-RU" sz="1800" i="1" dirty="0">
                <a:solidFill>
                  <a:srgbClr val="000000"/>
                </a:solidFill>
                <a:latin typeface="PT Sans"/>
              </a:rPr>
              <a:t>Реконструированное филогенетическое дерево балто-славянских языков, созданное путем сочетания нескольких методов (</a:t>
            </a:r>
            <a:r>
              <a:rPr lang="ru-RU" sz="1800" i="1" dirty="0" err="1">
                <a:solidFill>
                  <a:srgbClr val="000000"/>
                </a:solidFill>
                <a:latin typeface="PT Sans"/>
              </a:rPr>
              <a:t>StarlingNJ</a:t>
            </a:r>
            <a:r>
              <a:rPr lang="ru-RU" sz="1800" i="1" dirty="0">
                <a:solidFill>
                  <a:srgbClr val="000000"/>
                </a:solidFill>
                <a:latin typeface="PT Sans"/>
              </a:rPr>
              <a:t>, NJ, </a:t>
            </a:r>
            <a:r>
              <a:rPr lang="ru-RU" sz="1800" i="1" dirty="0" err="1">
                <a:solidFill>
                  <a:srgbClr val="000000"/>
                </a:solidFill>
                <a:latin typeface="PT Sans"/>
              </a:rPr>
              <a:t>BioNJ</a:t>
            </a:r>
            <a:r>
              <a:rPr lang="ru-RU" sz="1800" i="1" dirty="0">
                <a:solidFill>
                  <a:srgbClr val="000000"/>
                </a:solidFill>
                <a:latin typeface="PT Sans"/>
              </a:rPr>
              <a:t>, UPGMA, </a:t>
            </a:r>
            <a:r>
              <a:rPr lang="ru-RU" sz="1800" i="1" dirty="0" err="1">
                <a:solidFill>
                  <a:srgbClr val="000000"/>
                </a:solidFill>
                <a:latin typeface="PT Sans"/>
              </a:rPr>
              <a:t>BayesianMCMC</a:t>
            </a:r>
            <a:r>
              <a:rPr lang="ru-RU" sz="1800" i="1" dirty="0">
                <a:solidFill>
                  <a:srgbClr val="000000"/>
                </a:solidFill>
                <a:latin typeface="PT Sans"/>
              </a:rPr>
              <a:t>, UMP). Тройные узлы образованы путем объединения соседних двойных узлов, если временное расстояние между ними было ≤ 300 лет.</a:t>
            </a:r>
            <a:endParaRPr lang="ru-RU" sz="1800" dirty="0"/>
          </a:p>
        </p:txBody>
      </p:sp>
    </p:spTree>
    <p:extLst>
      <p:ext uri="{BB962C8B-B14F-4D97-AF65-F5344CB8AC3E}">
        <p14:creationId xmlns:p14="http://schemas.microsoft.com/office/powerpoint/2010/main" val="244623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pPr eaLnBrk="1" hangingPunct="1">
              <a:defRPr/>
            </a:pPr>
            <a:r>
              <a:rPr lang="ru-RU" sz="4000" dirty="0"/>
              <a:t>Алгоритмы кластерного анализа</a:t>
            </a:r>
            <a:endParaRPr lang="en-US" altLang="ru-RU" sz="4000" dirty="0"/>
          </a:p>
        </p:txBody>
      </p:sp>
      <p:sp>
        <p:nvSpPr>
          <p:cNvPr id="8" name="Номер слайда 7"/>
          <p:cNvSpPr>
            <a:spLocks noGrp="1"/>
          </p:cNvSpPr>
          <p:nvPr>
            <p:ph type="sldNum" sz="quarter" idx="12"/>
          </p:nvPr>
        </p:nvSpPr>
        <p:spPr>
          <a:xfrm>
            <a:off x="11229975" y="6605015"/>
            <a:ext cx="804864" cy="379409"/>
          </a:xfrm>
        </p:spPr>
        <p:txBody>
          <a:bodyPr/>
          <a:lstStyle/>
          <a:p>
            <a:fld id="{952B6C0E-C4B9-4094-8E59-5B7DF00D5415}" type="slidenum">
              <a:rPr lang="ru-RU" sz="1400">
                <a:solidFill>
                  <a:schemeClr val="tx1"/>
                </a:solidFill>
              </a:rPr>
              <a:t>56</a:t>
            </a:fld>
            <a:endParaRPr lang="ru-RU" sz="1400" dirty="0">
              <a:solidFill>
                <a:schemeClr val="tx1"/>
              </a:solidFill>
            </a:endParaRPr>
          </a:p>
        </p:txBody>
      </p:sp>
      <p:sp>
        <p:nvSpPr>
          <p:cNvPr id="10" name="Текст 2"/>
          <p:cNvSpPr txBox="1">
            <a:spLocks/>
          </p:cNvSpPr>
          <p:nvPr/>
        </p:nvSpPr>
        <p:spPr>
          <a:xfrm>
            <a:off x="2733727" y="1064290"/>
            <a:ext cx="7200799" cy="53043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spcBef>
                <a:spcPct val="25000"/>
              </a:spcBef>
              <a:buClr>
                <a:srgbClr val="F4BE96"/>
              </a:buClr>
              <a:buSzPct val="80000"/>
              <a:buNone/>
              <a:defRPr/>
            </a:pPr>
            <a:r>
              <a:rPr lang="ru-RU" sz="2800" dirty="0"/>
              <a:t>Дендрограммы</a:t>
            </a:r>
            <a:endParaRPr lang="ru-RU" sz="2800" dirty="0">
              <a:latin typeface="Segoe" charset="0"/>
              <a:cs typeface="Arial" panose="020B0604020202020204" pitchFamily="34" charset="0"/>
            </a:endParaRPr>
          </a:p>
        </p:txBody>
      </p:sp>
      <p:pic>
        <p:nvPicPr>
          <p:cNvPr id="3074" name="Picture 2" descr="Fig-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284" y="1416938"/>
            <a:ext cx="4981579" cy="2578197"/>
          </a:xfrm>
          <a:prstGeom prst="rect">
            <a:avLst/>
          </a:prstGeom>
          <a:noFill/>
          <a:extLst>
            <a:ext uri="{909E8E84-426E-40DD-AFC4-6F175D3DCCD1}">
              <a14:hiddenFill xmlns:a14="http://schemas.microsoft.com/office/drawing/2010/main">
                <a:solidFill>
                  <a:srgbClr val="FFFFFF"/>
                </a:solidFill>
              </a14:hiddenFill>
            </a:ext>
          </a:extLst>
        </p:spPr>
      </p:pic>
      <p:sp>
        <p:nvSpPr>
          <p:cNvPr id="2" name="Прямоугольник 1"/>
          <p:cNvSpPr/>
          <p:nvPr/>
        </p:nvSpPr>
        <p:spPr>
          <a:xfrm>
            <a:off x="1221558" y="4037496"/>
            <a:ext cx="10800504" cy="2246769"/>
          </a:xfrm>
          <a:prstGeom prst="rect">
            <a:avLst/>
          </a:prstGeom>
        </p:spPr>
        <p:txBody>
          <a:bodyPr wrap="square">
            <a:spAutoFit/>
          </a:bodyPr>
          <a:lstStyle/>
          <a:p>
            <a:r>
              <a:rPr lang="ru-RU" dirty="0">
                <a:solidFill>
                  <a:srgbClr val="000000"/>
                </a:solidFill>
                <a:latin typeface="PT Sans"/>
              </a:rPr>
              <a:t>Дальнейшее разделение славянских языков началось в V-VI веках (около 1300-1500 лет назад): восточная ветвь разделилась на русский и украинский/белорусский, западная ветвь – на </a:t>
            </a:r>
            <a:r>
              <a:rPr lang="ru-RU" dirty="0" err="1">
                <a:solidFill>
                  <a:srgbClr val="000000"/>
                </a:solidFill>
                <a:latin typeface="PT Sans"/>
              </a:rPr>
              <a:t>чешско</a:t>
            </a:r>
            <a:r>
              <a:rPr lang="ru-RU" dirty="0">
                <a:solidFill>
                  <a:srgbClr val="000000"/>
                </a:solidFill>
                <a:latin typeface="PT Sans"/>
              </a:rPr>
              <a:t>/словацкий, </a:t>
            </a:r>
            <a:r>
              <a:rPr lang="ru-RU" dirty="0" err="1">
                <a:solidFill>
                  <a:srgbClr val="000000"/>
                </a:solidFill>
                <a:latin typeface="PT Sans"/>
              </a:rPr>
              <a:t>протосорбсколужицкий</a:t>
            </a:r>
            <a:r>
              <a:rPr lang="ru-RU" dirty="0">
                <a:solidFill>
                  <a:srgbClr val="000000"/>
                </a:solidFill>
                <a:latin typeface="PT Sans"/>
              </a:rPr>
              <a:t> и польский/кашубский, южная ветвь – на сербско-хорватский, болгарский, македонский. Выделение современных языков произошло 1000-500 лет назад. Такая датировка дерева соответствует историческим и археологическим данным, которые говорят о быстром распространении славян по Европе во второй половине 1-го тысячелетия н.э.</a:t>
            </a:r>
            <a:endParaRPr lang="ru-RU" dirty="0"/>
          </a:p>
        </p:txBody>
      </p:sp>
      <p:sp>
        <p:nvSpPr>
          <p:cNvPr id="4" name="Прямоугольник 3"/>
          <p:cNvSpPr/>
          <p:nvPr/>
        </p:nvSpPr>
        <p:spPr>
          <a:xfrm>
            <a:off x="1221557" y="1824925"/>
            <a:ext cx="4402921" cy="1754326"/>
          </a:xfrm>
          <a:prstGeom prst="rect">
            <a:avLst/>
          </a:prstGeom>
        </p:spPr>
        <p:txBody>
          <a:bodyPr wrap="square">
            <a:spAutoFit/>
          </a:bodyPr>
          <a:lstStyle/>
          <a:p>
            <a:r>
              <a:rPr lang="ru-RU" sz="1800" dirty="0">
                <a:solidFill>
                  <a:srgbClr val="000000"/>
                </a:solidFill>
                <a:latin typeface="PT Sans"/>
              </a:rPr>
              <a:t>После разделения </a:t>
            </a:r>
            <a:r>
              <a:rPr lang="ru-RU" sz="1800" dirty="0" err="1">
                <a:solidFill>
                  <a:srgbClr val="000000"/>
                </a:solidFill>
                <a:latin typeface="PT Sans"/>
              </a:rPr>
              <a:t>балтской</a:t>
            </a:r>
            <a:r>
              <a:rPr lang="ru-RU" sz="1800" dirty="0">
                <a:solidFill>
                  <a:srgbClr val="000000"/>
                </a:solidFill>
                <a:latin typeface="PT Sans"/>
              </a:rPr>
              <a:t> и славянской ветвей самая первая развилка на славянской ветви оказалась тройной – разделение славян на западную, восточную и южную ветви – и датированной около 1900 лет назад. </a:t>
            </a:r>
            <a:endParaRPr lang="ru-RU" sz="1800" dirty="0"/>
          </a:p>
        </p:txBody>
      </p:sp>
      <p:cxnSp>
        <p:nvCxnSpPr>
          <p:cNvPr id="9" name="Прямая со стрелкой 8"/>
          <p:cNvCxnSpPr/>
          <p:nvPr/>
        </p:nvCxnSpPr>
        <p:spPr bwMode="auto">
          <a:xfrm flipV="1">
            <a:off x="5326013" y="2706036"/>
            <a:ext cx="2376264" cy="23275"/>
          </a:xfrm>
          <a:prstGeom prst="straightConnector1">
            <a:avLst/>
          </a:prstGeom>
          <a:solidFill>
            <a:schemeClr val="accent1"/>
          </a:solidFill>
          <a:ln w="9525"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6035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pPr eaLnBrk="1" hangingPunct="1">
              <a:defRPr/>
            </a:pPr>
            <a:r>
              <a:rPr lang="ru-RU" sz="4000" dirty="0"/>
              <a:t>Алгоритм кластерного анализа</a:t>
            </a:r>
            <a:endParaRPr lang="en-US" altLang="ru-RU" sz="4000" dirty="0"/>
          </a:p>
        </p:txBody>
      </p:sp>
      <p:sp>
        <p:nvSpPr>
          <p:cNvPr id="3" name="Номер слайда 2"/>
          <p:cNvSpPr>
            <a:spLocks noGrp="1"/>
          </p:cNvSpPr>
          <p:nvPr>
            <p:ph type="sldNum" sz="quarter" idx="12"/>
          </p:nvPr>
        </p:nvSpPr>
        <p:spPr>
          <a:xfrm>
            <a:off x="11518701" y="6514639"/>
            <a:ext cx="659890" cy="379409"/>
          </a:xfrm>
        </p:spPr>
        <p:txBody>
          <a:bodyPr/>
          <a:lstStyle/>
          <a:p>
            <a:fld id="{952B6C0E-C4B9-4094-8E59-5B7DF00D5415}" type="slidenum">
              <a:rPr lang="ru-RU" sz="1400">
                <a:solidFill>
                  <a:schemeClr val="tx1"/>
                </a:solidFill>
              </a:rPr>
              <a:t>57</a:t>
            </a:fld>
            <a:endParaRPr lang="ru-RU" dirty="0">
              <a:solidFill>
                <a:schemeClr val="tx1"/>
              </a:solidFill>
            </a:endParaRPr>
          </a:p>
        </p:txBody>
      </p:sp>
      <p:pic>
        <p:nvPicPr>
          <p:cNvPr id="8" name="Рисунок 7"/>
          <p:cNvPicPr>
            <a:picLocks noChangeAspect="1"/>
          </p:cNvPicPr>
          <p:nvPr/>
        </p:nvPicPr>
        <p:blipFill>
          <a:blip r:embed="rId2">
            <a:alphaModFix/>
          </a:blip>
          <a:srcRect/>
          <a:stretch>
            <a:fillRect/>
          </a:stretch>
        </p:blipFill>
        <p:spPr>
          <a:xfrm>
            <a:off x="1725614" y="2278833"/>
            <a:ext cx="4031307" cy="3092661"/>
          </a:xfrm>
          <a:prstGeom prst="rect">
            <a:avLst/>
          </a:prstGeom>
        </p:spPr>
      </p:pic>
      <p:sp>
        <p:nvSpPr>
          <p:cNvPr id="10" name="Текст 2"/>
          <p:cNvSpPr txBox="1">
            <a:spLocks/>
          </p:cNvSpPr>
          <p:nvPr/>
        </p:nvSpPr>
        <p:spPr>
          <a:xfrm>
            <a:off x="2805350" y="1317752"/>
            <a:ext cx="7200799" cy="53043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85000"/>
              </a:lnSpc>
              <a:spcBef>
                <a:spcPct val="25000"/>
              </a:spcBef>
              <a:buClr>
                <a:srgbClr val="F4BE96"/>
              </a:buClr>
              <a:buSzPct val="80000"/>
              <a:buNone/>
              <a:defRPr/>
            </a:pPr>
            <a:r>
              <a:rPr lang="ru-RU" sz="2800" dirty="0"/>
              <a:t>Алгоритм построения </a:t>
            </a:r>
            <a:r>
              <a:rPr lang="ru-RU" sz="2800" dirty="0" err="1"/>
              <a:t>дендрограммы</a:t>
            </a:r>
            <a:endParaRPr lang="ru-RU" sz="2800" dirty="0">
              <a:latin typeface="Segoe" charset="0"/>
              <a:cs typeface="Arial" panose="020B0604020202020204" pitchFamily="34" charset="0"/>
            </a:endParaRPr>
          </a:p>
        </p:txBody>
      </p:sp>
      <p:pic>
        <p:nvPicPr>
          <p:cNvPr id="9" name="Рисунок 8"/>
          <p:cNvPicPr>
            <a:picLocks noChangeAspect="1"/>
          </p:cNvPicPr>
          <p:nvPr/>
        </p:nvPicPr>
        <p:blipFill>
          <a:blip r:embed="rId3">
            <a:alphaModFix/>
          </a:blip>
          <a:srcRect/>
          <a:stretch>
            <a:fillRect/>
          </a:stretch>
        </p:blipFill>
        <p:spPr>
          <a:xfrm>
            <a:off x="6317613" y="2372792"/>
            <a:ext cx="4647403" cy="2623249"/>
          </a:xfrm>
          <a:prstGeom prst="rect">
            <a:avLst/>
          </a:prstGeom>
          <a:noFill/>
          <a:ln cap="flat">
            <a:noFill/>
          </a:ln>
        </p:spPr>
      </p:pic>
    </p:spTree>
    <p:extLst>
      <p:ext uri="{BB962C8B-B14F-4D97-AF65-F5344CB8AC3E}">
        <p14:creationId xmlns:p14="http://schemas.microsoft.com/office/powerpoint/2010/main" val="383908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pPr eaLnBrk="1" hangingPunct="1">
              <a:defRPr/>
            </a:pPr>
            <a:r>
              <a:rPr lang="ru-RU" sz="4000" dirty="0"/>
              <a:t>Алгоритмы кластерного анализа</a:t>
            </a:r>
            <a:endParaRPr lang="en-US" altLang="ru-RU" sz="40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58</a:t>
            </a:fld>
            <a:endParaRPr lang="ru-RU" sz="1400">
              <a:solidFill>
                <a:schemeClr val="tx1"/>
              </a:solidFill>
            </a:endParaRPr>
          </a:p>
        </p:txBody>
      </p:sp>
      <p:pic>
        <p:nvPicPr>
          <p:cNvPr id="8" name="Рисунок 7"/>
          <p:cNvPicPr>
            <a:picLocks noChangeAspect="1"/>
          </p:cNvPicPr>
          <p:nvPr/>
        </p:nvPicPr>
        <p:blipFill>
          <a:blip r:embed="rId2">
            <a:alphaModFix/>
          </a:blip>
          <a:srcRect/>
          <a:stretch>
            <a:fillRect/>
          </a:stretch>
        </p:blipFill>
        <p:spPr>
          <a:xfrm>
            <a:off x="4701194" y="1188815"/>
            <a:ext cx="2584825" cy="1742042"/>
          </a:xfrm>
          <a:prstGeom prst="rect">
            <a:avLst/>
          </a:prstGeom>
        </p:spPr>
      </p:pic>
      <p:sp>
        <p:nvSpPr>
          <p:cNvPr id="10" name="Текст 2"/>
          <p:cNvSpPr txBox="1">
            <a:spLocks/>
          </p:cNvSpPr>
          <p:nvPr/>
        </p:nvSpPr>
        <p:spPr>
          <a:xfrm>
            <a:off x="2770605" y="3121743"/>
            <a:ext cx="2736688" cy="53043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5000"/>
              </a:lnSpc>
              <a:spcBef>
                <a:spcPct val="25000"/>
              </a:spcBef>
              <a:buClr>
                <a:srgbClr val="F4BE96"/>
              </a:buClr>
              <a:buSzPct val="80000"/>
              <a:buNone/>
              <a:defRPr/>
            </a:pPr>
            <a:r>
              <a:rPr lang="ru-RU" sz="2800" dirty="0" err="1"/>
              <a:t>Дендрограмма</a:t>
            </a:r>
            <a:endParaRPr lang="ru-RU" sz="2800" dirty="0">
              <a:latin typeface="Segoe" charset="0"/>
              <a:cs typeface="Arial" panose="020B0604020202020204" pitchFamily="34" charset="0"/>
            </a:endParaRPr>
          </a:p>
        </p:txBody>
      </p:sp>
      <p:pic>
        <p:nvPicPr>
          <p:cNvPr id="11" name="Рисунок 10"/>
          <p:cNvPicPr>
            <a:picLocks noChangeAspect="1"/>
          </p:cNvPicPr>
          <p:nvPr/>
        </p:nvPicPr>
        <p:blipFill>
          <a:blip r:embed="rId3">
            <a:alphaModFix/>
          </a:blip>
          <a:srcRect/>
          <a:stretch>
            <a:fillRect/>
          </a:stretch>
        </p:blipFill>
        <p:spPr>
          <a:xfrm>
            <a:off x="6932373" y="3652177"/>
            <a:ext cx="3861075" cy="2854622"/>
          </a:xfrm>
          <a:prstGeom prst="rect">
            <a:avLst/>
          </a:prstGeom>
        </p:spPr>
      </p:pic>
      <p:sp>
        <p:nvSpPr>
          <p:cNvPr id="9" name="Текст 2"/>
          <p:cNvSpPr txBox="1">
            <a:spLocks/>
          </p:cNvSpPr>
          <p:nvPr/>
        </p:nvSpPr>
        <p:spPr>
          <a:xfrm>
            <a:off x="6943309" y="2930857"/>
            <a:ext cx="3850138" cy="530434"/>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85000"/>
              </a:lnSpc>
              <a:spcBef>
                <a:spcPct val="25000"/>
              </a:spcBef>
              <a:buClr>
                <a:srgbClr val="F4BE96"/>
              </a:buClr>
              <a:buSzPct val="80000"/>
              <a:buNone/>
              <a:defRPr/>
            </a:pPr>
            <a:r>
              <a:rPr lang="ru-RU" sz="2400" dirty="0"/>
              <a:t>"Каменная осыпь" </a:t>
            </a:r>
            <a:endParaRPr lang="en-US" sz="2400" dirty="0"/>
          </a:p>
          <a:p>
            <a:pPr marL="0" indent="0" algn="ctr">
              <a:lnSpc>
                <a:spcPct val="85000"/>
              </a:lnSpc>
              <a:spcBef>
                <a:spcPct val="25000"/>
              </a:spcBef>
              <a:buClr>
                <a:srgbClr val="F4BE96"/>
              </a:buClr>
              <a:buSzPct val="80000"/>
              <a:buNone/>
              <a:defRPr/>
            </a:pPr>
            <a:r>
              <a:rPr lang="ru-RU" sz="2400" dirty="0"/>
              <a:t>или "Локоть"</a:t>
            </a:r>
            <a:endParaRPr lang="ru-RU" sz="2400" dirty="0">
              <a:latin typeface="Segoe" charset="0"/>
              <a:cs typeface="Arial" panose="020B0604020202020204" pitchFamily="34" charset="0"/>
            </a:endParaRPr>
          </a:p>
        </p:txBody>
      </p:sp>
      <p:pic>
        <p:nvPicPr>
          <p:cNvPr id="12" name="Рисунок 11"/>
          <p:cNvPicPr>
            <a:picLocks noChangeAspect="1"/>
          </p:cNvPicPr>
          <p:nvPr/>
        </p:nvPicPr>
        <p:blipFill>
          <a:blip r:embed="rId4">
            <a:alphaModFix/>
          </a:blip>
          <a:srcRect/>
          <a:stretch>
            <a:fillRect/>
          </a:stretch>
        </p:blipFill>
        <p:spPr>
          <a:xfrm>
            <a:off x="1764776" y="3738119"/>
            <a:ext cx="4585847" cy="2588503"/>
          </a:xfrm>
          <a:prstGeom prst="rect">
            <a:avLst/>
          </a:prstGeom>
          <a:noFill/>
          <a:ln cap="flat">
            <a:noFill/>
          </a:ln>
        </p:spPr>
      </p:pic>
    </p:spTree>
    <p:extLst>
      <p:ext uri="{BB962C8B-B14F-4D97-AF65-F5344CB8AC3E}">
        <p14:creationId xmlns:p14="http://schemas.microsoft.com/office/powerpoint/2010/main" val="2820914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pPr eaLnBrk="1" hangingPunct="1">
              <a:defRPr/>
            </a:pPr>
            <a:r>
              <a:rPr lang="ru-RU" sz="4000" dirty="0"/>
              <a:t>Алгоритмы кластерного анализа</a:t>
            </a:r>
            <a:endParaRPr lang="en-US" altLang="ru-RU" sz="4000" dirty="0"/>
          </a:p>
        </p:txBody>
      </p:sp>
      <p:sp>
        <p:nvSpPr>
          <p:cNvPr id="9" name="Номер слайда 8"/>
          <p:cNvSpPr>
            <a:spLocks noGrp="1"/>
          </p:cNvSpPr>
          <p:nvPr>
            <p:ph type="sldNum" sz="quarter" idx="12"/>
          </p:nvPr>
        </p:nvSpPr>
        <p:spPr/>
        <p:txBody>
          <a:bodyPr/>
          <a:lstStyle/>
          <a:p>
            <a:fld id="{952B6C0E-C4B9-4094-8E59-5B7DF00D5415}" type="slidenum">
              <a:rPr lang="ru-RU" sz="1400">
                <a:solidFill>
                  <a:schemeClr val="tx1"/>
                </a:solidFill>
              </a:rPr>
              <a:t>59</a:t>
            </a:fld>
            <a:endParaRPr lang="ru-RU" sz="1400" dirty="0">
              <a:solidFill>
                <a:schemeClr val="tx1"/>
              </a:solidFill>
            </a:endParaRPr>
          </a:p>
        </p:txBody>
      </p:sp>
      <p:pic>
        <p:nvPicPr>
          <p:cNvPr id="12" name="Рисунок 11"/>
          <p:cNvPicPr>
            <a:picLocks noChangeAspect="1"/>
          </p:cNvPicPr>
          <p:nvPr/>
        </p:nvPicPr>
        <p:blipFill>
          <a:blip r:embed="rId2">
            <a:alphaModFix/>
          </a:blip>
          <a:srcRect/>
          <a:stretch>
            <a:fillRect/>
          </a:stretch>
        </p:blipFill>
        <p:spPr>
          <a:xfrm>
            <a:off x="7097676" y="1011878"/>
            <a:ext cx="3268897" cy="1916703"/>
          </a:xfrm>
          <a:prstGeom prst="rect">
            <a:avLst/>
          </a:prstGeom>
          <a:noFill/>
          <a:ln>
            <a:noFill/>
          </a:ln>
        </p:spPr>
      </p:pic>
      <p:pic>
        <p:nvPicPr>
          <p:cNvPr id="14" name="Рисунок 13"/>
          <p:cNvPicPr>
            <a:picLocks noChangeAspect="1"/>
          </p:cNvPicPr>
          <p:nvPr/>
        </p:nvPicPr>
        <p:blipFill>
          <a:blip r:embed="rId3">
            <a:alphaModFix/>
          </a:blip>
          <a:srcRect/>
          <a:stretch>
            <a:fillRect/>
          </a:stretch>
        </p:blipFill>
        <p:spPr>
          <a:xfrm>
            <a:off x="7097677" y="2970942"/>
            <a:ext cx="3268897" cy="1916703"/>
          </a:xfrm>
          <a:prstGeom prst="rect">
            <a:avLst/>
          </a:prstGeom>
          <a:noFill/>
          <a:ln>
            <a:noFill/>
          </a:ln>
        </p:spPr>
      </p:pic>
      <p:pic>
        <p:nvPicPr>
          <p:cNvPr id="16" name="Рисунок 15"/>
          <p:cNvPicPr>
            <a:picLocks noChangeAspect="1"/>
          </p:cNvPicPr>
          <p:nvPr/>
        </p:nvPicPr>
        <p:blipFill>
          <a:blip r:embed="rId4">
            <a:alphaModFix/>
          </a:blip>
          <a:srcRect/>
          <a:stretch>
            <a:fillRect/>
          </a:stretch>
        </p:blipFill>
        <p:spPr>
          <a:xfrm>
            <a:off x="7152410" y="4935245"/>
            <a:ext cx="3159433" cy="1853507"/>
          </a:xfrm>
          <a:prstGeom prst="rect">
            <a:avLst/>
          </a:prstGeom>
          <a:noFill/>
          <a:ln>
            <a:noFill/>
          </a:ln>
        </p:spPr>
      </p:pic>
      <p:sp>
        <p:nvSpPr>
          <p:cNvPr id="2" name="Двойная стрелка влево/вправо 1"/>
          <p:cNvSpPr/>
          <p:nvPr/>
        </p:nvSpPr>
        <p:spPr bwMode="auto">
          <a:xfrm>
            <a:off x="5470029" y="3773060"/>
            <a:ext cx="936104" cy="582172"/>
          </a:xfrm>
          <a:prstGeom prst="lef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endParaRPr lang="ru-RU"/>
          </a:p>
        </p:txBody>
      </p:sp>
      <p:sp>
        <p:nvSpPr>
          <p:cNvPr id="3" name="Прямоугольник 2"/>
          <p:cNvSpPr/>
          <p:nvPr/>
        </p:nvSpPr>
        <p:spPr>
          <a:xfrm>
            <a:off x="5725621" y="3078013"/>
            <a:ext cx="434734" cy="584775"/>
          </a:xfrm>
          <a:prstGeom prst="rect">
            <a:avLst/>
          </a:prstGeom>
        </p:spPr>
        <p:txBody>
          <a:bodyPr wrap="none">
            <a:spAutoFit/>
          </a:bodyPr>
          <a:lstStyle/>
          <a:p>
            <a:r>
              <a:rPr lang="ru-RU" sz="3200" b="1" dirty="0">
                <a:solidFill>
                  <a:srgbClr val="FF0000"/>
                </a:solidFill>
              </a:rPr>
              <a:t>?</a:t>
            </a:r>
          </a:p>
        </p:txBody>
      </p:sp>
      <p:pic>
        <p:nvPicPr>
          <p:cNvPr id="4" name="Рисунок 3"/>
          <p:cNvPicPr>
            <a:picLocks noChangeAspect="1"/>
          </p:cNvPicPr>
          <p:nvPr/>
        </p:nvPicPr>
        <p:blipFill>
          <a:blip r:embed="rId5"/>
          <a:stretch>
            <a:fillRect/>
          </a:stretch>
        </p:blipFill>
        <p:spPr>
          <a:xfrm>
            <a:off x="2373684" y="1186880"/>
            <a:ext cx="2448272" cy="1829478"/>
          </a:xfrm>
          <a:prstGeom prst="rect">
            <a:avLst/>
          </a:prstGeom>
        </p:spPr>
      </p:pic>
      <p:pic>
        <p:nvPicPr>
          <p:cNvPr id="17" name="Рисунок 16"/>
          <p:cNvPicPr>
            <a:picLocks noChangeAspect="1"/>
          </p:cNvPicPr>
          <p:nvPr/>
        </p:nvPicPr>
        <p:blipFill>
          <a:blip r:embed="rId6"/>
          <a:stretch>
            <a:fillRect/>
          </a:stretch>
        </p:blipFill>
        <p:spPr>
          <a:xfrm>
            <a:off x="2373684" y="3052542"/>
            <a:ext cx="2448273" cy="1806746"/>
          </a:xfrm>
          <a:prstGeom prst="rect">
            <a:avLst/>
          </a:prstGeom>
        </p:spPr>
      </p:pic>
      <p:pic>
        <p:nvPicPr>
          <p:cNvPr id="18" name="Рисунок 17"/>
          <p:cNvPicPr>
            <a:picLocks noChangeAspect="1"/>
          </p:cNvPicPr>
          <p:nvPr/>
        </p:nvPicPr>
        <p:blipFill>
          <a:blip r:embed="rId7"/>
          <a:stretch>
            <a:fillRect/>
          </a:stretch>
        </p:blipFill>
        <p:spPr>
          <a:xfrm>
            <a:off x="2407221" y="4878953"/>
            <a:ext cx="2495669" cy="1852049"/>
          </a:xfrm>
          <a:prstGeom prst="rect">
            <a:avLst/>
          </a:prstGeom>
        </p:spPr>
      </p:pic>
      <p:sp>
        <p:nvSpPr>
          <p:cNvPr id="20" name="Прямоугольник 19"/>
          <p:cNvSpPr/>
          <p:nvPr/>
        </p:nvSpPr>
        <p:spPr>
          <a:xfrm>
            <a:off x="1974119" y="1302597"/>
            <a:ext cx="412292" cy="400110"/>
          </a:xfrm>
          <a:prstGeom prst="rect">
            <a:avLst/>
          </a:prstGeom>
        </p:spPr>
        <p:txBody>
          <a:bodyPr wrap="none">
            <a:spAutoFit/>
          </a:bodyPr>
          <a:lstStyle/>
          <a:p>
            <a:r>
              <a:rPr lang="ru-RU" b="1" dirty="0">
                <a:solidFill>
                  <a:srgbClr val="0000FF"/>
                </a:solidFill>
              </a:rPr>
              <a:t>1)</a:t>
            </a:r>
          </a:p>
        </p:txBody>
      </p:sp>
      <p:sp>
        <p:nvSpPr>
          <p:cNvPr id="21" name="Прямоугольник 20"/>
          <p:cNvSpPr/>
          <p:nvPr/>
        </p:nvSpPr>
        <p:spPr>
          <a:xfrm>
            <a:off x="2000618" y="3023740"/>
            <a:ext cx="412292" cy="400110"/>
          </a:xfrm>
          <a:prstGeom prst="rect">
            <a:avLst/>
          </a:prstGeom>
        </p:spPr>
        <p:txBody>
          <a:bodyPr wrap="none">
            <a:spAutoFit/>
          </a:bodyPr>
          <a:lstStyle/>
          <a:p>
            <a:r>
              <a:rPr lang="ru-RU" b="1" dirty="0">
                <a:solidFill>
                  <a:srgbClr val="0000FF"/>
                </a:solidFill>
              </a:rPr>
              <a:t>2)</a:t>
            </a:r>
          </a:p>
        </p:txBody>
      </p:sp>
      <p:sp>
        <p:nvSpPr>
          <p:cNvPr id="22" name="Прямоугольник 21"/>
          <p:cNvSpPr/>
          <p:nvPr/>
        </p:nvSpPr>
        <p:spPr>
          <a:xfrm>
            <a:off x="1961275" y="4940620"/>
            <a:ext cx="412292" cy="400110"/>
          </a:xfrm>
          <a:prstGeom prst="rect">
            <a:avLst/>
          </a:prstGeom>
        </p:spPr>
        <p:txBody>
          <a:bodyPr wrap="none">
            <a:spAutoFit/>
          </a:bodyPr>
          <a:lstStyle/>
          <a:p>
            <a:r>
              <a:rPr lang="ru-RU" b="1" dirty="0">
                <a:solidFill>
                  <a:srgbClr val="0000FF"/>
                </a:solidFill>
              </a:rPr>
              <a:t>3)</a:t>
            </a:r>
          </a:p>
        </p:txBody>
      </p:sp>
      <p:sp>
        <p:nvSpPr>
          <p:cNvPr id="19" name="Прямоугольник 18"/>
          <p:cNvSpPr/>
          <p:nvPr/>
        </p:nvSpPr>
        <p:spPr>
          <a:xfrm>
            <a:off x="5052188" y="1250976"/>
            <a:ext cx="1771786" cy="1754326"/>
          </a:xfrm>
          <a:prstGeom prst="rect">
            <a:avLst/>
          </a:prstGeom>
        </p:spPr>
        <p:txBody>
          <a:bodyPr wrap="square">
            <a:spAutoFit/>
          </a:bodyPr>
          <a:lstStyle/>
          <a:p>
            <a:pPr lvl="0" algn="ctr">
              <a:buClr>
                <a:srgbClr val="CC9900"/>
              </a:buClr>
              <a:buSzPct val="65000"/>
            </a:pPr>
            <a:r>
              <a:rPr lang="ru-RU" sz="1800" dirty="0"/>
              <a:t>Каждой диаграмме рассеивания поставить в соответствие  дендрограмму</a:t>
            </a:r>
          </a:p>
        </p:txBody>
      </p:sp>
      <p:sp>
        <p:nvSpPr>
          <p:cNvPr id="25" name="Прямоугольник 24"/>
          <p:cNvSpPr/>
          <p:nvPr/>
        </p:nvSpPr>
        <p:spPr>
          <a:xfrm>
            <a:off x="4965973" y="5140675"/>
            <a:ext cx="2050324" cy="1477328"/>
          </a:xfrm>
          <a:prstGeom prst="rect">
            <a:avLst/>
          </a:prstGeom>
        </p:spPr>
        <p:txBody>
          <a:bodyPr wrap="square">
            <a:spAutoFit/>
          </a:bodyPr>
          <a:lstStyle/>
          <a:p>
            <a:pPr lvl="0" algn="ctr">
              <a:buClr>
                <a:srgbClr val="CC9900"/>
              </a:buClr>
              <a:buSzPct val="65000"/>
            </a:pPr>
            <a:r>
              <a:rPr lang="ru-RU" sz="1800" dirty="0"/>
              <a:t>Кластерный анализ всегда найдет решение, даже там, где его нет.</a:t>
            </a:r>
          </a:p>
        </p:txBody>
      </p:sp>
      <p:sp>
        <p:nvSpPr>
          <p:cNvPr id="30" name="Прямоугольник 29"/>
          <p:cNvSpPr/>
          <p:nvPr/>
        </p:nvSpPr>
        <p:spPr>
          <a:xfrm>
            <a:off x="10403666" y="1502652"/>
            <a:ext cx="455574" cy="400110"/>
          </a:xfrm>
          <a:prstGeom prst="rect">
            <a:avLst/>
          </a:prstGeom>
        </p:spPr>
        <p:txBody>
          <a:bodyPr wrap="none">
            <a:spAutoFit/>
          </a:bodyPr>
          <a:lstStyle/>
          <a:p>
            <a:r>
              <a:rPr lang="en-US" b="1" dirty="0">
                <a:solidFill>
                  <a:srgbClr val="0000FF"/>
                </a:solidFill>
              </a:rPr>
              <a:t>A</a:t>
            </a:r>
            <a:r>
              <a:rPr lang="ru-RU" b="1" dirty="0">
                <a:solidFill>
                  <a:srgbClr val="0000FF"/>
                </a:solidFill>
              </a:rPr>
              <a:t>)</a:t>
            </a:r>
          </a:p>
        </p:txBody>
      </p:sp>
      <p:sp>
        <p:nvSpPr>
          <p:cNvPr id="31" name="Прямоугольник 30"/>
          <p:cNvSpPr/>
          <p:nvPr/>
        </p:nvSpPr>
        <p:spPr>
          <a:xfrm>
            <a:off x="10430165" y="3223795"/>
            <a:ext cx="455574" cy="400110"/>
          </a:xfrm>
          <a:prstGeom prst="rect">
            <a:avLst/>
          </a:prstGeom>
        </p:spPr>
        <p:txBody>
          <a:bodyPr wrap="none">
            <a:spAutoFit/>
          </a:bodyPr>
          <a:lstStyle/>
          <a:p>
            <a:r>
              <a:rPr lang="en-US" b="1" dirty="0">
                <a:solidFill>
                  <a:srgbClr val="0000FF"/>
                </a:solidFill>
              </a:rPr>
              <a:t>B</a:t>
            </a:r>
            <a:r>
              <a:rPr lang="ru-RU" b="1" dirty="0">
                <a:solidFill>
                  <a:srgbClr val="0000FF"/>
                </a:solidFill>
              </a:rPr>
              <a:t>)</a:t>
            </a:r>
          </a:p>
        </p:txBody>
      </p:sp>
      <p:sp>
        <p:nvSpPr>
          <p:cNvPr id="32" name="Прямоугольник 31"/>
          <p:cNvSpPr/>
          <p:nvPr/>
        </p:nvSpPr>
        <p:spPr>
          <a:xfrm>
            <a:off x="10390822" y="5140675"/>
            <a:ext cx="455574" cy="400110"/>
          </a:xfrm>
          <a:prstGeom prst="rect">
            <a:avLst/>
          </a:prstGeom>
        </p:spPr>
        <p:txBody>
          <a:bodyPr wrap="none">
            <a:spAutoFit/>
          </a:bodyPr>
          <a:lstStyle/>
          <a:p>
            <a:r>
              <a:rPr lang="en-US" b="1" dirty="0">
                <a:solidFill>
                  <a:srgbClr val="0000FF"/>
                </a:solidFill>
              </a:rPr>
              <a:t>C</a:t>
            </a:r>
            <a:r>
              <a:rPr lang="ru-RU" b="1" dirty="0">
                <a:solidFill>
                  <a:srgbClr val="0000FF"/>
                </a:solidFill>
              </a:rPr>
              <a:t>)</a:t>
            </a:r>
          </a:p>
        </p:txBody>
      </p:sp>
    </p:spTree>
    <p:extLst>
      <p:ext uri="{BB962C8B-B14F-4D97-AF65-F5344CB8AC3E}">
        <p14:creationId xmlns:p14="http://schemas.microsoft.com/office/powerpoint/2010/main" val="586902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44098" name="Rectangle 2"/>
          <p:cNvSpPr>
            <a:spLocks noGrp="1" noChangeArrowheads="1"/>
          </p:cNvSpPr>
          <p:nvPr>
            <p:ph type="title"/>
          </p:nvPr>
        </p:nvSpPr>
        <p:spPr>
          <a:xfrm>
            <a:off x="2000619" y="263937"/>
            <a:ext cx="8700009" cy="633448"/>
          </a:xfrm>
        </p:spPr>
        <p:txBody>
          <a:bodyPr>
            <a:normAutofit fontScale="90000"/>
          </a:bodyPr>
          <a:lstStyle/>
          <a:p>
            <a:pPr eaLnBrk="1" hangingPunct="1">
              <a:defRPr/>
            </a:pPr>
            <a:r>
              <a:rPr lang="ru-RU" sz="4000" dirty="0"/>
              <a:t>Алгоритмы кластерного анализа</a:t>
            </a:r>
            <a:endParaRPr lang="en-US" altLang="ru-RU" sz="4000" dirty="0"/>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60</a:t>
            </a:fld>
            <a:endParaRPr lang="ru-RU" dirty="0">
              <a:solidFill>
                <a:schemeClr val="tx1"/>
              </a:solidFill>
            </a:endParaRPr>
          </a:p>
        </p:txBody>
      </p:sp>
      <p:pic>
        <p:nvPicPr>
          <p:cNvPr id="23" name="Рисунок 22"/>
          <p:cNvPicPr>
            <a:picLocks noChangeAspect="1"/>
          </p:cNvPicPr>
          <p:nvPr/>
        </p:nvPicPr>
        <p:blipFill>
          <a:blip r:embed="rId2">
            <a:alphaModFix/>
          </a:blip>
          <a:srcRect/>
          <a:stretch>
            <a:fillRect/>
          </a:stretch>
        </p:blipFill>
        <p:spPr>
          <a:xfrm>
            <a:off x="1612019" y="1650141"/>
            <a:ext cx="6625783" cy="5067292"/>
          </a:xfrm>
          <a:prstGeom prst="rect">
            <a:avLst/>
          </a:prstGeom>
        </p:spPr>
      </p:pic>
      <p:sp>
        <p:nvSpPr>
          <p:cNvPr id="24" name="Прямоугольник 23"/>
          <p:cNvSpPr/>
          <p:nvPr/>
        </p:nvSpPr>
        <p:spPr>
          <a:xfrm>
            <a:off x="2877741" y="1138245"/>
            <a:ext cx="5904656" cy="461665"/>
          </a:xfrm>
          <a:prstGeom prst="rect">
            <a:avLst/>
          </a:prstGeom>
        </p:spPr>
        <p:txBody>
          <a:bodyPr wrap="square">
            <a:spAutoFit/>
          </a:bodyPr>
          <a:lstStyle/>
          <a:p>
            <a:pPr lvl="0" algn="ctr">
              <a:buClr>
                <a:srgbClr val="CC9900"/>
              </a:buClr>
              <a:buSzPct val="65000"/>
            </a:pPr>
            <a:r>
              <a:rPr lang="ru-RU" sz="2400" dirty="0"/>
              <a:t>Когда остановить кластеризацию?</a:t>
            </a:r>
          </a:p>
        </p:txBody>
      </p:sp>
      <p:cxnSp>
        <p:nvCxnSpPr>
          <p:cNvPr id="11" name="Прямая со стрелкой 10"/>
          <p:cNvCxnSpPr/>
          <p:nvPr/>
        </p:nvCxnSpPr>
        <p:spPr bwMode="auto">
          <a:xfrm flipH="1">
            <a:off x="6622157" y="2122984"/>
            <a:ext cx="2160240" cy="432048"/>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Прямоугольник 24"/>
          <p:cNvSpPr/>
          <p:nvPr/>
        </p:nvSpPr>
        <p:spPr>
          <a:xfrm>
            <a:off x="8818033" y="1938319"/>
            <a:ext cx="2052596" cy="646331"/>
          </a:xfrm>
          <a:prstGeom prst="rect">
            <a:avLst/>
          </a:prstGeom>
        </p:spPr>
        <p:txBody>
          <a:bodyPr wrap="square">
            <a:spAutoFit/>
          </a:bodyPr>
          <a:lstStyle/>
          <a:p>
            <a:pPr lvl="0">
              <a:buClr>
                <a:srgbClr val="CC9900"/>
              </a:buClr>
              <a:buSzPct val="65000"/>
            </a:pPr>
            <a:r>
              <a:rPr lang="ru-RU" sz="1800" dirty="0"/>
              <a:t>Зачем нужна линия разреза?</a:t>
            </a:r>
          </a:p>
        </p:txBody>
      </p:sp>
      <p:cxnSp>
        <p:nvCxnSpPr>
          <p:cNvPr id="4" name="Прямая со стрелкой 3">
            <a:extLst>
              <a:ext uri="{FF2B5EF4-FFF2-40B4-BE49-F238E27FC236}">
                <a16:creationId xmlns:a16="http://schemas.microsoft.com/office/drawing/2014/main" id="{1FABBE33-6042-4BB5-93B0-F47CD937EF9B}"/>
              </a:ext>
            </a:extLst>
          </p:cNvPr>
          <p:cNvCxnSpPr>
            <a:cxnSpLocks/>
          </p:cNvCxnSpPr>
          <p:nvPr/>
        </p:nvCxnSpPr>
        <p:spPr>
          <a:xfrm>
            <a:off x="5830069" y="3995192"/>
            <a:ext cx="792088" cy="0"/>
          </a:xfrm>
          <a:prstGeom prst="straightConnector1">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Прямая со стрелкой 13">
            <a:extLst>
              <a:ext uri="{FF2B5EF4-FFF2-40B4-BE49-F238E27FC236}">
                <a16:creationId xmlns:a16="http://schemas.microsoft.com/office/drawing/2014/main" id="{43C8B403-E3D5-4499-A7B6-02E3C1F6A070}"/>
              </a:ext>
            </a:extLst>
          </p:cNvPr>
          <p:cNvCxnSpPr>
            <a:cxnSpLocks/>
          </p:cNvCxnSpPr>
          <p:nvPr/>
        </p:nvCxnSpPr>
        <p:spPr>
          <a:xfrm>
            <a:off x="5434025" y="4859288"/>
            <a:ext cx="1188132" cy="0"/>
          </a:xfrm>
          <a:prstGeom prst="straightConnector1">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900E8B2-B3ED-4F85-8F5A-8C5BFC672879}"/>
              </a:ext>
            </a:extLst>
          </p:cNvPr>
          <p:cNvSpPr txBox="1"/>
          <p:nvPr/>
        </p:nvSpPr>
        <p:spPr>
          <a:xfrm>
            <a:off x="6046093" y="3954138"/>
            <a:ext cx="288032" cy="261610"/>
          </a:xfrm>
          <a:prstGeom prst="rect">
            <a:avLst/>
          </a:prstGeom>
          <a:noFill/>
        </p:spPr>
        <p:txBody>
          <a:bodyPr wrap="square" rtlCol="0">
            <a:spAutoFit/>
          </a:bodyPr>
          <a:lstStyle/>
          <a:p>
            <a:r>
              <a:rPr lang="en-US" sz="1100" dirty="0">
                <a:solidFill>
                  <a:schemeClr val="accent3">
                    <a:lumMod val="50000"/>
                  </a:schemeClr>
                </a:solidFill>
              </a:rPr>
              <a:t>a</a:t>
            </a:r>
            <a:endParaRPr lang="ru-RU" sz="1100" dirty="0">
              <a:solidFill>
                <a:schemeClr val="accent3">
                  <a:lumMod val="50000"/>
                </a:schemeClr>
              </a:solidFill>
            </a:endParaRPr>
          </a:p>
        </p:txBody>
      </p:sp>
      <p:sp>
        <p:nvSpPr>
          <p:cNvPr id="17" name="TextBox 16">
            <a:extLst>
              <a:ext uri="{FF2B5EF4-FFF2-40B4-BE49-F238E27FC236}">
                <a16:creationId xmlns:a16="http://schemas.microsoft.com/office/drawing/2014/main" id="{D791F834-0C16-4EF4-864C-82D82971B8AB}"/>
              </a:ext>
            </a:extLst>
          </p:cNvPr>
          <p:cNvSpPr txBox="1"/>
          <p:nvPr/>
        </p:nvSpPr>
        <p:spPr>
          <a:xfrm>
            <a:off x="5830069" y="4607499"/>
            <a:ext cx="288032" cy="261610"/>
          </a:xfrm>
          <a:prstGeom prst="rect">
            <a:avLst/>
          </a:prstGeom>
          <a:noFill/>
        </p:spPr>
        <p:txBody>
          <a:bodyPr wrap="square" rtlCol="0">
            <a:spAutoFit/>
          </a:bodyPr>
          <a:lstStyle/>
          <a:p>
            <a:r>
              <a:rPr lang="en-US" sz="1100" dirty="0">
                <a:solidFill>
                  <a:schemeClr val="accent3">
                    <a:lumMod val="50000"/>
                  </a:schemeClr>
                </a:solidFill>
              </a:rPr>
              <a:t>b</a:t>
            </a:r>
            <a:endParaRPr lang="ru-RU" sz="1100" dirty="0">
              <a:solidFill>
                <a:schemeClr val="accent3">
                  <a:lumMod val="50000"/>
                </a:schemeClr>
              </a:solidFill>
            </a:endParaRPr>
          </a:p>
        </p:txBody>
      </p:sp>
      <p:cxnSp>
        <p:nvCxnSpPr>
          <p:cNvPr id="18" name="Прямая со стрелкой 17">
            <a:extLst>
              <a:ext uri="{FF2B5EF4-FFF2-40B4-BE49-F238E27FC236}">
                <a16:creationId xmlns:a16="http://schemas.microsoft.com/office/drawing/2014/main" id="{F08FAABA-9507-4ADC-BB14-579CB14EB46F}"/>
              </a:ext>
            </a:extLst>
          </p:cNvPr>
          <p:cNvCxnSpPr/>
          <p:nvPr/>
        </p:nvCxnSpPr>
        <p:spPr bwMode="auto">
          <a:xfrm flipH="1">
            <a:off x="6550149" y="3743762"/>
            <a:ext cx="2160240" cy="432048"/>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Прямоугольник 18">
            <a:extLst>
              <a:ext uri="{FF2B5EF4-FFF2-40B4-BE49-F238E27FC236}">
                <a16:creationId xmlns:a16="http://schemas.microsoft.com/office/drawing/2014/main" id="{5CCD18EA-A7D4-42DF-8726-B1EFF50690AB}"/>
              </a:ext>
            </a:extLst>
          </p:cNvPr>
          <p:cNvSpPr/>
          <p:nvPr/>
        </p:nvSpPr>
        <p:spPr>
          <a:xfrm>
            <a:off x="8772878" y="3575148"/>
            <a:ext cx="2283354" cy="923330"/>
          </a:xfrm>
          <a:prstGeom prst="rect">
            <a:avLst/>
          </a:prstGeom>
        </p:spPr>
        <p:txBody>
          <a:bodyPr wrap="square">
            <a:spAutoFit/>
          </a:bodyPr>
          <a:lstStyle/>
          <a:p>
            <a:pPr lvl="0">
              <a:buClr>
                <a:srgbClr val="CC9900"/>
              </a:buClr>
              <a:buSzPct val="65000"/>
            </a:pPr>
            <a:r>
              <a:rPr lang="ru-RU" sz="1800" dirty="0"/>
              <a:t>Как интерпретировать эти расстояния?</a:t>
            </a:r>
          </a:p>
        </p:txBody>
      </p:sp>
      <p:cxnSp>
        <p:nvCxnSpPr>
          <p:cNvPr id="20" name="Прямая со стрелкой 19">
            <a:extLst>
              <a:ext uri="{FF2B5EF4-FFF2-40B4-BE49-F238E27FC236}">
                <a16:creationId xmlns:a16="http://schemas.microsoft.com/office/drawing/2014/main" id="{C4A94189-B528-4777-97FC-4244FAFE77C0}"/>
              </a:ext>
            </a:extLst>
          </p:cNvPr>
          <p:cNvCxnSpPr/>
          <p:nvPr/>
        </p:nvCxnSpPr>
        <p:spPr bwMode="auto">
          <a:xfrm flipH="1">
            <a:off x="6208137" y="3954139"/>
            <a:ext cx="2502253" cy="799521"/>
          </a:xfrm>
          <a:prstGeom prst="straightConnector1">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8903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005533" y="322263"/>
            <a:ext cx="1123324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2400" dirty="0">
                <a:solidFill>
                  <a:srgbClr val="0000FF"/>
                </a:solidFill>
              </a:rPr>
              <a:t>Алгоритмы кластерного анализа</a:t>
            </a:r>
            <a:endParaRPr lang="en-US" altLang="ru-RU" sz="2400" dirty="0">
              <a:solidFill>
                <a:srgbClr val="0000FF"/>
              </a:solidFill>
            </a:endParaRPr>
          </a:p>
        </p:txBody>
      </p:sp>
      <p:sp>
        <p:nvSpPr>
          <p:cNvPr id="5" name="Номер слайда 4"/>
          <p:cNvSpPr>
            <a:spLocks noGrp="1"/>
          </p:cNvSpPr>
          <p:nvPr>
            <p:ph type="sldNum" sz="quarter" idx="12"/>
          </p:nvPr>
        </p:nvSpPr>
        <p:spPr/>
        <p:txBody>
          <a:bodyPr/>
          <a:lstStyle/>
          <a:p>
            <a:fld id="{952B6C0E-C4B9-4094-8E59-5B7DF00D5415}" type="slidenum">
              <a:rPr lang="ru-RU" sz="1400">
                <a:solidFill>
                  <a:schemeClr val="tx1"/>
                </a:solidFill>
              </a:rPr>
              <a:t>61</a:t>
            </a:fld>
            <a:endParaRPr lang="ru-RU" sz="1400" dirty="0">
              <a:solidFill>
                <a:schemeClr val="tx1"/>
              </a:solidFill>
            </a:endParaRPr>
          </a:p>
        </p:txBody>
      </p:sp>
      <p:sp>
        <p:nvSpPr>
          <p:cNvPr id="2" name="Заголовок 1"/>
          <p:cNvSpPr txBox="1">
            <a:spLocks noGrp="1"/>
          </p:cNvSpPr>
          <p:nvPr>
            <p:ph type="title" idx="4294967295"/>
          </p:nvPr>
        </p:nvSpPr>
        <p:spPr>
          <a:xfrm>
            <a:off x="3093765" y="2762250"/>
            <a:ext cx="6804025" cy="836613"/>
          </a:xfrm>
          <a:prstGeom prst="rect">
            <a:avLst/>
          </a:prstGeom>
        </p:spPr>
        <p:txBody>
          <a:bodyPr wrap="square">
            <a:noAutofit/>
          </a:bodyPr>
          <a:lstStyle/>
          <a:p>
            <a:pPr lvl="0" algn="ctr"/>
            <a:r>
              <a:rPr lang="ru-RU" sz="5400" dirty="0"/>
              <a:t>Участие аналитика</a:t>
            </a:r>
          </a:p>
        </p:txBody>
      </p:sp>
    </p:spTree>
    <p:extLst>
      <p:ext uri="{BB962C8B-B14F-4D97-AF65-F5344CB8AC3E}">
        <p14:creationId xmlns:p14="http://schemas.microsoft.com/office/powerpoint/2010/main" val="1472347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6"/>
          <p:cNvSpPr>
            <a:spLocks noChangeArrowheads="1"/>
          </p:cNvSpPr>
          <p:nvPr/>
        </p:nvSpPr>
        <p:spPr bwMode="auto">
          <a:xfrm>
            <a:off x="789509" y="1127585"/>
            <a:ext cx="11245329" cy="5603416"/>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500" dirty="0">
                <a:solidFill>
                  <a:schemeClr val="bg1"/>
                </a:solidFill>
              </a:rPr>
              <a:t> </a:t>
            </a: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62</a:t>
            </a:fld>
            <a:endParaRPr lang="ru-RU" dirty="0">
              <a:solidFill>
                <a:schemeClr val="tx1"/>
              </a:solidFill>
            </a:endParaRPr>
          </a:p>
        </p:txBody>
      </p:sp>
      <p:sp>
        <p:nvSpPr>
          <p:cNvPr id="2" name="Заголовок 1"/>
          <p:cNvSpPr txBox="1">
            <a:spLocks noGrp="1"/>
          </p:cNvSpPr>
          <p:nvPr>
            <p:ph type="title" idx="4294967295"/>
          </p:nvPr>
        </p:nvSpPr>
        <p:spPr>
          <a:xfrm>
            <a:off x="1195389" y="1154113"/>
            <a:ext cx="6264275" cy="836612"/>
          </a:xfrm>
          <a:prstGeom prst="rect">
            <a:avLst/>
          </a:prstGeom>
        </p:spPr>
        <p:txBody>
          <a:bodyPr wrap="square">
            <a:noAutofit/>
          </a:bodyPr>
          <a:lstStyle/>
          <a:p>
            <a:pPr lvl="0" algn="ctr"/>
            <a:r>
              <a:rPr lang="ru-RU" sz="4400" dirty="0"/>
              <a:t>Участие аналитика</a:t>
            </a:r>
          </a:p>
        </p:txBody>
      </p:sp>
      <p:sp>
        <p:nvSpPr>
          <p:cNvPr id="3" name="Текст 2"/>
          <p:cNvSpPr txBox="1">
            <a:spLocks noGrp="1"/>
          </p:cNvSpPr>
          <p:nvPr>
            <p:ph type="body" idx="4294967295"/>
          </p:nvPr>
        </p:nvSpPr>
        <p:spPr>
          <a:xfrm>
            <a:off x="1195388" y="2713038"/>
            <a:ext cx="7156450" cy="3009900"/>
          </a:xfrm>
          <a:prstGeom prst="rect">
            <a:avLst/>
          </a:prstGeom>
        </p:spPr>
        <p:txBody>
          <a:bodyPr wrap="square"/>
          <a:lstStyle/>
          <a:p>
            <a:pPr lvl="0">
              <a:buClr>
                <a:srgbClr val="CC9900"/>
              </a:buClr>
              <a:buSzPct val="65000"/>
              <a:buAutoNum type="arabicPeriod"/>
            </a:pPr>
            <a:r>
              <a:rPr lang="ru-RU" sz="3200" dirty="0"/>
              <a:t>Отбор переменных</a:t>
            </a:r>
          </a:p>
          <a:p>
            <a:pPr lvl="0">
              <a:buClr>
                <a:srgbClr val="CC9900"/>
              </a:buClr>
              <a:buSzPct val="65000"/>
              <a:buAutoNum type="arabicPeriod"/>
            </a:pPr>
            <a:r>
              <a:rPr lang="ru-RU" sz="3200" dirty="0"/>
              <a:t>Метод стандартизации</a:t>
            </a:r>
          </a:p>
          <a:p>
            <a:pPr lvl="0">
              <a:buClr>
                <a:srgbClr val="CC9900"/>
              </a:buClr>
              <a:buSzPct val="65000"/>
              <a:buAutoNum type="arabicPeriod"/>
            </a:pPr>
            <a:r>
              <a:rPr lang="ru-RU" sz="3200" dirty="0"/>
              <a:t>Расстояние между кластерами</a:t>
            </a:r>
          </a:p>
          <a:p>
            <a:pPr lvl="0">
              <a:buClr>
                <a:srgbClr val="CC9900"/>
              </a:buClr>
              <a:buSzPct val="65000"/>
              <a:buAutoNum type="arabicPeriod"/>
            </a:pPr>
            <a:r>
              <a:rPr lang="ru-RU" sz="3200" dirty="0"/>
              <a:t>Расстояние между объектами</a:t>
            </a:r>
          </a:p>
        </p:txBody>
      </p:sp>
    </p:spTree>
    <p:extLst>
      <p:ext uri="{BB962C8B-B14F-4D97-AF65-F5344CB8AC3E}">
        <p14:creationId xmlns:p14="http://schemas.microsoft.com/office/powerpoint/2010/main" val="3103372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241519"/>
            <a:ext cx="11593287" cy="6363496"/>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1824998" y="241519"/>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10" name="Номер слайда 9"/>
          <p:cNvSpPr>
            <a:spLocks noGrp="1"/>
          </p:cNvSpPr>
          <p:nvPr>
            <p:ph type="sldNum" sz="quarter" idx="12"/>
          </p:nvPr>
        </p:nvSpPr>
        <p:spPr/>
        <p:txBody>
          <a:bodyPr/>
          <a:lstStyle/>
          <a:p>
            <a:fld id="{952B6C0E-C4B9-4094-8E59-5B7DF00D5415}" type="slidenum">
              <a:rPr lang="ru-RU" smtClean="0">
                <a:solidFill>
                  <a:schemeClr val="tx1"/>
                </a:solidFill>
              </a:rPr>
              <a:t>63</a:t>
            </a:fld>
            <a:endParaRPr lang="ru-RU" dirty="0">
              <a:solidFill>
                <a:schemeClr val="tx1"/>
              </a:solidFill>
            </a:endParaRPr>
          </a:p>
        </p:txBody>
      </p:sp>
      <p:sp>
        <p:nvSpPr>
          <p:cNvPr id="2" name="Заголовок 1"/>
          <p:cNvSpPr txBox="1">
            <a:spLocks noGrp="1"/>
          </p:cNvSpPr>
          <p:nvPr>
            <p:ph type="title" idx="4294967295"/>
          </p:nvPr>
        </p:nvSpPr>
        <p:spPr>
          <a:xfrm>
            <a:off x="2957139" y="897385"/>
            <a:ext cx="6435725" cy="639762"/>
          </a:xfrm>
          <a:prstGeom prst="rect">
            <a:avLst/>
          </a:prstGeom>
        </p:spPr>
        <p:txBody>
          <a:bodyPr wrap="square">
            <a:noAutofit/>
          </a:bodyPr>
          <a:lstStyle/>
          <a:p>
            <a:pPr lvl="0"/>
            <a:r>
              <a:rPr lang="ru-RU" sz="3600" dirty="0"/>
              <a:t>Отбор переменных</a:t>
            </a:r>
          </a:p>
        </p:txBody>
      </p:sp>
      <p:sp>
        <p:nvSpPr>
          <p:cNvPr id="3" name="Текст 2"/>
          <p:cNvSpPr txBox="1">
            <a:spLocks noGrp="1"/>
          </p:cNvSpPr>
          <p:nvPr>
            <p:ph type="body" idx="4294967295"/>
          </p:nvPr>
        </p:nvSpPr>
        <p:spPr>
          <a:xfrm>
            <a:off x="1005533" y="1773239"/>
            <a:ext cx="11449271" cy="3252787"/>
          </a:xfrm>
          <a:prstGeom prst="rect">
            <a:avLst/>
          </a:prstGeom>
        </p:spPr>
        <p:txBody>
          <a:bodyPr wrap="square"/>
          <a:lstStyle/>
          <a:p>
            <a:pPr marL="0" indent="0">
              <a:buClr>
                <a:srgbClr val="CC9900"/>
              </a:buClr>
              <a:buSzPct val="65000"/>
              <a:buNone/>
            </a:pPr>
            <a:r>
              <a:rPr lang="ru-RU" sz="3200" dirty="0">
                <a:solidFill>
                  <a:srgbClr val="0000FF"/>
                </a:solidFill>
              </a:rPr>
              <a:t>1. </a:t>
            </a:r>
            <a:r>
              <a:rPr lang="ru-RU" sz="2400" dirty="0"/>
              <a:t>Какие переменные будут использоваться при анализе?</a:t>
            </a:r>
          </a:p>
          <a:p>
            <a:pPr marL="0" indent="0">
              <a:buClr>
                <a:srgbClr val="CC9900"/>
              </a:buClr>
              <a:buSzPct val="65000"/>
              <a:buNone/>
            </a:pPr>
            <a:endParaRPr lang="ru-RU" sz="2800" dirty="0"/>
          </a:p>
          <a:p>
            <a:pPr>
              <a:buClr>
                <a:srgbClr val="CC9900"/>
              </a:buClr>
              <a:buSzPct val="120000"/>
            </a:pPr>
            <a:r>
              <a:rPr lang="ru-RU" sz="2400" dirty="0"/>
              <a:t>Все?          Чем больше информации, тем лучше результат?</a:t>
            </a:r>
          </a:p>
          <a:p>
            <a:pPr marL="798513" lvl="2" indent="-101600">
              <a:buClr>
                <a:srgbClr val="CC9900"/>
              </a:buClr>
              <a:buSzPct val="120000"/>
              <a:buNone/>
            </a:pPr>
            <a:r>
              <a:rPr lang="ru-RU" sz="1500" dirty="0"/>
              <a:t>  </a:t>
            </a:r>
            <a:r>
              <a:rPr lang="ru-RU" sz="2000" b="1" i="1" dirty="0"/>
              <a:t>Все методы, основанные на деревьях сами отбросят лишние факторы</a:t>
            </a:r>
          </a:p>
          <a:p>
            <a:pPr>
              <a:buClr>
                <a:srgbClr val="CC9900"/>
              </a:buClr>
              <a:buSzPct val="120000"/>
            </a:pPr>
            <a:r>
              <a:rPr lang="ru-RU" sz="2400" dirty="0"/>
              <a:t>Для других методов нужно отбросить незначащие переменные – чем меньше вариативность параметра, тем он менее важен!</a:t>
            </a:r>
          </a:p>
        </p:txBody>
      </p:sp>
      <p:sp>
        <p:nvSpPr>
          <p:cNvPr id="7" name="Стрелка вправо 6"/>
          <p:cNvSpPr/>
          <p:nvPr/>
        </p:nvSpPr>
        <p:spPr bwMode="auto">
          <a:xfrm>
            <a:off x="2229669" y="2926889"/>
            <a:ext cx="432048" cy="288032"/>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endParaRPr lang="ru-RU"/>
          </a:p>
        </p:txBody>
      </p:sp>
      <p:sp>
        <p:nvSpPr>
          <p:cNvPr id="8" name="Прямоугольник 7"/>
          <p:cNvSpPr/>
          <p:nvPr/>
        </p:nvSpPr>
        <p:spPr>
          <a:xfrm>
            <a:off x="1072328" y="4812243"/>
            <a:ext cx="10523594" cy="1323439"/>
          </a:xfrm>
          <a:prstGeom prst="rect">
            <a:avLst/>
          </a:prstGeom>
        </p:spPr>
        <p:txBody>
          <a:bodyPr wrap="square">
            <a:spAutoFit/>
          </a:bodyPr>
          <a:lstStyle/>
          <a:p>
            <a:r>
              <a:rPr lang="ru-RU" dirty="0">
                <a:solidFill>
                  <a:srgbClr val="333333"/>
                </a:solidFill>
                <a:latin typeface="Helvetica Neue"/>
              </a:rPr>
              <a:t> Поскольку многие алгоритмы могут быть чувствительными к наличию предикторов, которые не несут в себе никакой или почти никакой информации, то уже на предварительном этапе некоторые из них разумно идентифицировать как “ненужные” и в дальнейшем исключить из рассмотрения.</a:t>
            </a:r>
            <a:endParaRPr lang="ru-RU" dirty="0"/>
          </a:p>
        </p:txBody>
      </p:sp>
    </p:spTree>
    <p:extLst>
      <p:ext uri="{BB962C8B-B14F-4D97-AF65-F5344CB8AC3E}">
        <p14:creationId xmlns:p14="http://schemas.microsoft.com/office/powerpoint/2010/main" val="2673571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005533" y="322263"/>
            <a:ext cx="11377263" cy="6540088"/>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1653605" y="280519"/>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9" name="Номер слайда 8"/>
          <p:cNvSpPr>
            <a:spLocks noGrp="1"/>
          </p:cNvSpPr>
          <p:nvPr>
            <p:ph type="sldNum" sz="quarter" idx="12"/>
          </p:nvPr>
        </p:nvSpPr>
        <p:spPr/>
        <p:txBody>
          <a:bodyPr/>
          <a:lstStyle/>
          <a:p>
            <a:fld id="{952B6C0E-C4B9-4094-8E59-5B7DF00D5415}" type="slidenum">
              <a:rPr lang="ru-RU" smtClean="0">
                <a:solidFill>
                  <a:schemeClr val="tx1"/>
                </a:solidFill>
              </a:rPr>
              <a:t>64</a:t>
            </a:fld>
            <a:endParaRPr lang="ru-RU" dirty="0">
              <a:solidFill>
                <a:schemeClr val="tx1"/>
              </a:solidFill>
            </a:endParaRPr>
          </a:p>
        </p:txBody>
      </p:sp>
      <p:sp>
        <p:nvSpPr>
          <p:cNvPr id="2" name="Заголовок 1"/>
          <p:cNvSpPr txBox="1">
            <a:spLocks noGrp="1"/>
          </p:cNvSpPr>
          <p:nvPr>
            <p:ph type="title" idx="4294967295"/>
          </p:nvPr>
        </p:nvSpPr>
        <p:spPr>
          <a:xfrm>
            <a:off x="2637162" y="1007491"/>
            <a:ext cx="7419975" cy="573087"/>
          </a:xfrm>
          <a:prstGeom prst="rect">
            <a:avLst/>
          </a:prstGeom>
        </p:spPr>
        <p:txBody>
          <a:bodyPr wrap="square">
            <a:noAutofit/>
          </a:bodyPr>
          <a:lstStyle/>
          <a:p>
            <a:pPr lvl="0"/>
            <a:r>
              <a:rPr lang="ru-RU" sz="3600" dirty="0"/>
              <a:t>С другой стороны</a:t>
            </a:r>
          </a:p>
        </p:txBody>
      </p:sp>
      <p:sp>
        <p:nvSpPr>
          <p:cNvPr id="3" name="Текст 2"/>
          <p:cNvSpPr txBox="1">
            <a:spLocks noGrp="1"/>
          </p:cNvSpPr>
          <p:nvPr>
            <p:ph type="body" idx="4294967295"/>
          </p:nvPr>
        </p:nvSpPr>
        <p:spPr>
          <a:xfrm>
            <a:off x="1005533" y="2079626"/>
            <a:ext cx="10467331" cy="2792413"/>
          </a:xfrm>
          <a:prstGeom prst="rect">
            <a:avLst/>
          </a:prstGeom>
        </p:spPr>
        <p:txBody>
          <a:bodyPr wrap="square"/>
          <a:lstStyle/>
          <a:p>
            <a:pPr>
              <a:lnSpc>
                <a:spcPct val="90000"/>
              </a:lnSpc>
              <a:spcBef>
                <a:spcPts val="674"/>
              </a:spcBef>
              <a:buClr>
                <a:srgbClr val="CC9900"/>
              </a:buClr>
              <a:buSzPct val="65000"/>
              <a:buFont typeface="Wingdings" pitchFamily="2"/>
              <a:buChar char=""/>
            </a:pPr>
            <a:r>
              <a:rPr lang="ru-RU" sz="2400" dirty="0"/>
              <a:t>если нам неизвестны зарплаты/доходы покупателей, но для каждого из них известны профессия, образование и стаж работы, исключение этих трех переменных влечет за собой исключение из рассмотрения платежеспособности покупателей.</a:t>
            </a:r>
          </a:p>
          <a:p>
            <a:pPr>
              <a:lnSpc>
                <a:spcPct val="90000"/>
              </a:lnSpc>
              <a:spcBef>
                <a:spcPts val="674"/>
              </a:spcBef>
              <a:buClr>
                <a:srgbClr val="CC9900"/>
              </a:buClr>
              <a:buSzPct val="65000"/>
              <a:buFont typeface="Wingdings" pitchFamily="2"/>
              <a:buChar char=""/>
            </a:pPr>
            <a:r>
              <a:rPr lang="ru-RU" sz="2400" dirty="0"/>
              <a:t>Если классифицируются школы, и не включены ни переменная «число школьников», ни переменная «число учителей», то кластеры будут формироваться без учета размера школ.</a:t>
            </a:r>
          </a:p>
        </p:txBody>
      </p:sp>
      <p:sp>
        <p:nvSpPr>
          <p:cNvPr id="7" name="Прямоугольник 6"/>
          <p:cNvSpPr/>
          <p:nvPr/>
        </p:nvSpPr>
        <p:spPr>
          <a:xfrm>
            <a:off x="1090318" y="5173645"/>
            <a:ext cx="10944521" cy="400110"/>
          </a:xfrm>
          <a:prstGeom prst="rect">
            <a:avLst/>
          </a:prstGeom>
        </p:spPr>
        <p:txBody>
          <a:bodyPr wrap="square">
            <a:spAutoFit/>
          </a:bodyPr>
          <a:lstStyle/>
          <a:p>
            <a:r>
              <a:rPr lang="ru-RU" dirty="0">
                <a:solidFill>
                  <a:srgbClr val="333333"/>
                </a:solidFill>
                <a:latin typeface="Helvetica Neue"/>
              </a:rPr>
              <a:t> Удалить косвенные параметры, которые могут помочь в исследовании - будет неразумно.</a:t>
            </a:r>
            <a:endParaRPr lang="ru-RU" dirty="0"/>
          </a:p>
        </p:txBody>
      </p:sp>
    </p:spTree>
    <p:extLst>
      <p:ext uri="{BB962C8B-B14F-4D97-AF65-F5344CB8AC3E}">
        <p14:creationId xmlns:p14="http://schemas.microsoft.com/office/powerpoint/2010/main" val="1415618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17501" y="322263"/>
            <a:ext cx="1173730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8" name="Номер слайда 7"/>
          <p:cNvSpPr>
            <a:spLocks noGrp="1"/>
          </p:cNvSpPr>
          <p:nvPr>
            <p:ph type="sldNum" sz="quarter" idx="12"/>
          </p:nvPr>
        </p:nvSpPr>
        <p:spPr>
          <a:xfrm>
            <a:off x="11374437" y="6605015"/>
            <a:ext cx="660401" cy="379409"/>
          </a:xfrm>
        </p:spPr>
        <p:txBody>
          <a:bodyPr/>
          <a:lstStyle/>
          <a:p>
            <a:fld id="{952B6C0E-C4B9-4094-8E59-5B7DF00D5415}" type="slidenum">
              <a:rPr lang="ru-RU" smtClean="0">
                <a:solidFill>
                  <a:schemeClr val="tx1"/>
                </a:solidFill>
              </a:rPr>
              <a:t>65</a:t>
            </a:fld>
            <a:endParaRPr lang="ru-RU" dirty="0">
              <a:solidFill>
                <a:schemeClr val="tx1"/>
              </a:solidFill>
            </a:endParaRPr>
          </a:p>
        </p:txBody>
      </p:sp>
      <p:sp>
        <p:nvSpPr>
          <p:cNvPr id="2" name="Заголовок 1"/>
          <p:cNvSpPr txBox="1">
            <a:spLocks noGrp="1"/>
          </p:cNvSpPr>
          <p:nvPr>
            <p:ph type="title" idx="4294967295"/>
          </p:nvPr>
        </p:nvSpPr>
        <p:spPr>
          <a:xfrm>
            <a:off x="1195389" y="1128714"/>
            <a:ext cx="4490664" cy="720725"/>
          </a:xfrm>
          <a:prstGeom prst="rect">
            <a:avLst/>
          </a:prstGeom>
        </p:spPr>
        <p:txBody>
          <a:bodyPr wrap="square">
            <a:noAutofit/>
          </a:bodyPr>
          <a:lstStyle/>
          <a:p>
            <a:pPr lvl="0" algn="l"/>
            <a:r>
              <a:rPr lang="ru-RU" sz="4400" dirty="0"/>
              <a:t>Вывод</a:t>
            </a:r>
          </a:p>
        </p:txBody>
      </p:sp>
      <p:sp>
        <p:nvSpPr>
          <p:cNvPr id="3" name="Текст 2"/>
          <p:cNvSpPr txBox="1">
            <a:spLocks noGrp="1"/>
          </p:cNvSpPr>
          <p:nvPr>
            <p:ph type="body" idx="4294967295"/>
          </p:nvPr>
        </p:nvSpPr>
        <p:spPr>
          <a:xfrm>
            <a:off x="1195389" y="2116138"/>
            <a:ext cx="9963272" cy="3160712"/>
          </a:xfrm>
          <a:prstGeom prst="rect">
            <a:avLst/>
          </a:prstGeom>
        </p:spPr>
        <p:txBody>
          <a:bodyPr wrap="square"/>
          <a:lstStyle/>
          <a:p>
            <a:pPr lvl="0">
              <a:buClr>
                <a:srgbClr val="CC9900"/>
              </a:buClr>
              <a:buSzPct val="65000"/>
              <a:buFont typeface="Wingdings" pitchFamily="2"/>
              <a:buChar char=""/>
            </a:pPr>
            <a:r>
              <a:rPr lang="ru-RU" sz="2800" dirty="0"/>
              <a:t>Правильный выбор переменных очень важен.</a:t>
            </a:r>
          </a:p>
          <a:p>
            <a:pPr lvl="0">
              <a:buClr>
                <a:srgbClr val="CC9900"/>
              </a:buClr>
              <a:buSzPct val="65000"/>
              <a:buFont typeface="Wingdings" pitchFamily="2"/>
              <a:buChar char=""/>
            </a:pPr>
            <a:r>
              <a:rPr lang="ru-RU" sz="2800" dirty="0"/>
              <a:t>Критерием при отборе переменных для анализа является в первую очередь ясность интерпретации полученного результата, во вторую – интуиция исследователя.</a:t>
            </a:r>
          </a:p>
        </p:txBody>
      </p:sp>
    </p:spTree>
    <p:extLst>
      <p:ext uri="{BB962C8B-B14F-4D97-AF65-F5344CB8AC3E}">
        <p14:creationId xmlns:p14="http://schemas.microsoft.com/office/powerpoint/2010/main" val="1889182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66</a:t>
            </a:fld>
            <a:endParaRPr lang="ru-RU" dirty="0">
              <a:solidFill>
                <a:schemeClr val="tx1"/>
              </a:solidFill>
            </a:endParaRPr>
          </a:p>
        </p:txBody>
      </p:sp>
      <p:sp>
        <p:nvSpPr>
          <p:cNvPr id="2" name="Заголовок 1"/>
          <p:cNvSpPr txBox="1">
            <a:spLocks noGrp="1"/>
          </p:cNvSpPr>
          <p:nvPr>
            <p:ph type="title" idx="4294967295"/>
          </p:nvPr>
        </p:nvSpPr>
        <p:spPr>
          <a:xfrm>
            <a:off x="2301877" y="831851"/>
            <a:ext cx="9170987" cy="1184275"/>
          </a:xfrm>
          <a:prstGeom prst="rect">
            <a:avLst/>
          </a:prstGeom>
        </p:spPr>
        <p:txBody>
          <a:bodyPr wrap="square">
            <a:noAutofit/>
          </a:bodyPr>
          <a:lstStyle/>
          <a:p>
            <a:pPr lvl="0" algn="l"/>
            <a:r>
              <a:rPr lang="ru-RU" sz="3200" dirty="0">
                <a:solidFill>
                  <a:srgbClr val="0000FF"/>
                </a:solidFill>
              </a:rPr>
              <a:t>2. </a:t>
            </a:r>
            <a:r>
              <a:rPr lang="ru-RU" sz="3200" dirty="0"/>
              <a:t>Надо ли стандартизировать переменные?</a:t>
            </a:r>
          </a:p>
        </p:txBody>
      </p:sp>
      <p:sp>
        <p:nvSpPr>
          <p:cNvPr id="11" name="Прямоугольник 10"/>
          <p:cNvSpPr/>
          <p:nvPr/>
        </p:nvSpPr>
        <p:spPr>
          <a:xfrm>
            <a:off x="933526" y="1867190"/>
            <a:ext cx="11101312" cy="1785104"/>
          </a:xfrm>
          <a:prstGeom prst="rect">
            <a:avLst/>
          </a:prstGeom>
        </p:spPr>
        <p:txBody>
          <a:bodyPr wrap="square">
            <a:spAutoFit/>
          </a:bodyPr>
          <a:lstStyle/>
          <a:p>
            <a:r>
              <a:rPr lang="ru-RU" sz="2200" dirty="0">
                <a:solidFill>
                  <a:srgbClr val="212529"/>
                </a:solidFill>
                <a:latin typeface="-apple-system"/>
              </a:rPr>
              <a:t>Некоторые алгоритмы будут обеспечивать лучшую производительность, если ваши данные будут иметь постоянный масштаб или распределение.</a:t>
            </a:r>
          </a:p>
          <a:p>
            <a:endParaRPr lang="ru-RU" sz="2200" dirty="0">
              <a:solidFill>
                <a:srgbClr val="212529"/>
              </a:solidFill>
              <a:latin typeface="-apple-system"/>
            </a:endParaRPr>
          </a:p>
          <a:p>
            <a:r>
              <a:rPr lang="ru-RU" sz="2200" dirty="0">
                <a:solidFill>
                  <a:srgbClr val="212529"/>
                </a:solidFill>
                <a:latin typeface="-apple-system"/>
              </a:rPr>
              <a:t>Двумя методами, которыми вы можете пользоваться для последовательного масштабирования данных временных рядов, являются </a:t>
            </a:r>
            <a:r>
              <a:rPr lang="ru-RU" sz="2200" dirty="0">
                <a:solidFill>
                  <a:srgbClr val="0000FF"/>
                </a:solidFill>
                <a:latin typeface="-apple-system"/>
              </a:rPr>
              <a:t>нормализация и стандартизация.</a:t>
            </a:r>
          </a:p>
        </p:txBody>
      </p:sp>
      <p:sp>
        <p:nvSpPr>
          <p:cNvPr id="12" name="Текст 2"/>
          <p:cNvSpPr txBox="1">
            <a:spLocks/>
          </p:cNvSpPr>
          <p:nvPr/>
        </p:nvSpPr>
        <p:spPr>
          <a:xfrm>
            <a:off x="1581597" y="4187626"/>
            <a:ext cx="5328592" cy="1895798"/>
          </a:xfrm>
          <a:prstGeom prst="rect">
            <a:avLst/>
          </a:prstGeom>
        </p:spPr>
        <p:txBody>
          <a:bodyPr wrap="square"/>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CC9900"/>
              </a:buClr>
              <a:buSzPct val="65000"/>
              <a:buNone/>
            </a:pPr>
            <a:r>
              <a:rPr lang="ru-RU" sz="2800" dirty="0"/>
              <a:t>Правило для новичка:</a:t>
            </a:r>
          </a:p>
          <a:p>
            <a:pPr marL="0" indent="0">
              <a:buClr>
                <a:srgbClr val="CC9900"/>
              </a:buClr>
              <a:buSzPct val="65000"/>
              <a:buNone/>
            </a:pPr>
            <a:r>
              <a:rPr lang="ru-RU" sz="2800" dirty="0"/>
              <a:t>если Вы не знаете, стандартизировать или нет -  стандартизируйте.</a:t>
            </a:r>
          </a:p>
          <a:p>
            <a:pPr marL="0" indent="0">
              <a:buClr>
                <a:srgbClr val="CC9900"/>
              </a:buClr>
              <a:buSzPct val="65000"/>
              <a:buNone/>
            </a:pPr>
            <a:endParaRPr lang="ru-RU" sz="2800" dirty="0"/>
          </a:p>
          <a:p>
            <a:pPr marL="0" indent="0">
              <a:buClr>
                <a:srgbClr val="CC9900"/>
              </a:buClr>
              <a:buSzPct val="65000"/>
              <a:buNone/>
            </a:pPr>
            <a:endParaRPr lang="ru-RU" sz="2800" dirty="0"/>
          </a:p>
        </p:txBody>
      </p:sp>
      <p:graphicFrame>
        <p:nvGraphicFramePr>
          <p:cNvPr id="13" name="Таблица 12"/>
          <p:cNvGraphicFramePr>
            <a:graphicFrameLocks/>
          </p:cNvGraphicFramePr>
          <p:nvPr>
            <p:extLst>
              <p:ext uri="{D42A27DB-BD31-4B8C-83A1-F6EECF244321}">
                <p14:modId xmlns:p14="http://schemas.microsoft.com/office/powerpoint/2010/main" val="1543668636"/>
              </p:ext>
            </p:extLst>
          </p:nvPr>
        </p:nvGraphicFramePr>
        <p:xfrm>
          <a:off x="7342237" y="3955127"/>
          <a:ext cx="3024336" cy="2834200"/>
        </p:xfrm>
        <a:graphic>
          <a:graphicData uri="http://schemas.openxmlformats.org/drawingml/2006/table">
            <a:tbl>
              <a:tblPr firstRow="1" bandRow="1"/>
              <a:tblGrid>
                <a:gridCol w="1800200">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tblGrid>
              <a:tr h="566840">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dirty="0">
                          <a:ln>
                            <a:noFill/>
                          </a:ln>
                          <a:solidFill>
                            <a:srgbClr val="000000"/>
                          </a:solidFill>
                          <a:latin typeface="Arial" pitchFamily="2"/>
                          <a:ea typeface="Arial" pitchFamily="2"/>
                          <a:cs typeface="Arial" pitchFamily="2"/>
                        </a:rPr>
                        <a:t>5296782.7</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0.5</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1</a:t>
                      </a:r>
                    </a:p>
                  </a:txBody>
                  <a:tcPr marL="95017" marR="95017" marT="47509" marB="47509"/>
                </a:tc>
                <a:extLst>
                  <a:ext uri="{0D108BD9-81ED-4DB2-BD59-A6C34878D82A}">
                    <a16:rowId xmlns:a16="http://schemas.microsoft.com/office/drawing/2014/main" val="10000"/>
                  </a:ext>
                </a:extLst>
              </a:tr>
              <a:tr h="566840">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dirty="0">
                          <a:ln>
                            <a:noFill/>
                          </a:ln>
                          <a:solidFill>
                            <a:srgbClr val="000000"/>
                          </a:solidFill>
                          <a:latin typeface="Arial" pitchFamily="2"/>
                          <a:ea typeface="Arial" pitchFamily="2"/>
                          <a:cs typeface="Arial" pitchFamily="2"/>
                        </a:rPr>
                        <a:t>7400381.4</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dirty="0">
                          <a:ln>
                            <a:noFill/>
                          </a:ln>
                          <a:solidFill>
                            <a:srgbClr val="000000"/>
                          </a:solidFill>
                          <a:latin typeface="Arial" pitchFamily="2"/>
                          <a:ea typeface="Arial" pitchFamily="2"/>
                          <a:cs typeface="Arial" pitchFamily="2"/>
                        </a:rPr>
                        <a:t>0.7</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a:t>
                      </a:r>
                    </a:p>
                  </a:txBody>
                  <a:tcPr marL="95017" marR="95017" marT="47509" marB="47509"/>
                </a:tc>
                <a:extLst>
                  <a:ext uri="{0D108BD9-81ED-4DB2-BD59-A6C34878D82A}">
                    <a16:rowId xmlns:a16="http://schemas.microsoft.com/office/drawing/2014/main" val="10001"/>
                  </a:ext>
                </a:extLst>
              </a:tr>
              <a:tr h="566840">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dirty="0">
                          <a:ln>
                            <a:noFill/>
                          </a:ln>
                          <a:solidFill>
                            <a:srgbClr val="000000"/>
                          </a:solidFill>
                          <a:latin typeface="Arial" pitchFamily="2"/>
                          <a:ea typeface="Arial" pitchFamily="2"/>
                          <a:cs typeface="Arial" pitchFamily="2"/>
                        </a:rPr>
                        <a:t>9362870.2</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0.1</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a:t>
                      </a:r>
                    </a:p>
                  </a:txBody>
                  <a:tcPr marL="95017" marR="95017" marT="47509" marB="47509"/>
                </a:tc>
                <a:extLst>
                  <a:ext uri="{0D108BD9-81ED-4DB2-BD59-A6C34878D82A}">
                    <a16:rowId xmlns:a16="http://schemas.microsoft.com/office/drawing/2014/main" val="10002"/>
                  </a:ext>
                </a:extLst>
              </a:tr>
              <a:tr h="566840">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7594038.5</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0.4</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a:t>
                      </a:r>
                    </a:p>
                  </a:txBody>
                  <a:tcPr marL="95017" marR="95017" marT="47509" marB="47509"/>
                </a:tc>
                <a:extLst>
                  <a:ext uri="{0D108BD9-81ED-4DB2-BD59-A6C34878D82A}">
                    <a16:rowId xmlns:a16="http://schemas.microsoft.com/office/drawing/2014/main" val="10003"/>
                  </a:ext>
                </a:extLst>
              </a:tr>
              <a:tr h="566840">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6455034.1</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a:ln>
                            <a:noFill/>
                          </a:ln>
                          <a:solidFill>
                            <a:srgbClr val="000000"/>
                          </a:solidFill>
                          <a:latin typeface="Arial" pitchFamily="2"/>
                          <a:ea typeface="Arial" pitchFamily="2"/>
                          <a:cs typeface="Arial" pitchFamily="2"/>
                        </a:rPr>
                        <a:t>0.4</a:t>
                      </a:r>
                    </a:p>
                  </a:txBody>
                  <a:tcPr marL="95017" marR="95017" marT="47509" marB="47509"/>
                </a:tc>
                <a:tc>
                  <a:txBody>
                    <a:bodyPr/>
                    <a:lstStyle/>
                    <a:p>
                      <a:pPr marL="0" marR="0" lvl="0" indent="0" algn="l" rtl="0" hangingPunct="1">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r>
                        <a:rPr lang="ru-RU" sz="2400" b="0" i="0" u="none" strike="noStrike" cap="none" baseline="0" dirty="0">
                          <a:ln>
                            <a:noFill/>
                          </a:ln>
                          <a:solidFill>
                            <a:srgbClr val="000000"/>
                          </a:solidFill>
                          <a:latin typeface="Arial" pitchFamily="2"/>
                          <a:ea typeface="Arial" pitchFamily="2"/>
                          <a:cs typeface="Arial" pitchFamily="2"/>
                        </a:rPr>
                        <a:t>1</a:t>
                      </a:r>
                    </a:p>
                  </a:txBody>
                  <a:tcPr marL="95017" marR="95017" marT="47509" marB="47509"/>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56883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429469" y="322263"/>
            <a:ext cx="1173730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67</a:t>
            </a:fld>
            <a:endParaRPr lang="ru-RU" dirty="0">
              <a:solidFill>
                <a:schemeClr val="tx1"/>
              </a:solidFill>
            </a:endParaRPr>
          </a:p>
        </p:txBody>
      </p:sp>
      <p:sp>
        <p:nvSpPr>
          <p:cNvPr id="2" name="Заголовок 1"/>
          <p:cNvSpPr txBox="1">
            <a:spLocks noGrp="1"/>
          </p:cNvSpPr>
          <p:nvPr>
            <p:ph type="title" idx="4294967295"/>
          </p:nvPr>
        </p:nvSpPr>
        <p:spPr>
          <a:xfrm>
            <a:off x="2301877" y="777876"/>
            <a:ext cx="9170987" cy="1184275"/>
          </a:xfrm>
          <a:prstGeom prst="rect">
            <a:avLst/>
          </a:prstGeom>
        </p:spPr>
        <p:txBody>
          <a:bodyPr wrap="square">
            <a:noAutofit/>
          </a:bodyPr>
          <a:lstStyle/>
          <a:p>
            <a:pPr lvl="0" algn="l"/>
            <a:r>
              <a:rPr lang="ru-RU" sz="3200" dirty="0">
                <a:solidFill>
                  <a:srgbClr val="0000FF"/>
                </a:solidFill>
              </a:rPr>
              <a:t>2. </a:t>
            </a:r>
            <a:r>
              <a:rPr lang="ru-RU" sz="3200" dirty="0"/>
              <a:t>Надо ли стандартизировать переменные?</a:t>
            </a:r>
          </a:p>
        </p:txBody>
      </p:sp>
      <p:sp>
        <p:nvSpPr>
          <p:cNvPr id="3" name="Прямоугольник 2"/>
          <p:cNvSpPr/>
          <p:nvPr/>
        </p:nvSpPr>
        <p:spPr>
          <a:xfrm>
            <a:off x="888829" y="1560355"/>
            <a:ext cx="10917903" cy="4493538"/>
          </a:xfrm>
          <a:prstGeom prst="rect">
            <a:avLst/>
          </a:prstGeom>
        </p:spPr>
        <p:txBody>
          <a:bodyPr wrap="square">
            <a:spAutoFit/>
          </a:bodyPr>
          <a:lstStyle/>
          <a:p>
            <a:r>
              <a:rPr lang="ru-RU" sz="2200" dirty="0">
                <a:solidFill>
                  <a:srgbClr val="333333"/>
                </a:solidFill>
                <a:latin typeface="PT Sans"/>
              </a:rPr>
              <a:t>Смысл </a:t>
            </a:r>
            <a:r>
              <a:rPr lang="ru-RU" sz="2200" b="1" i="1" dirty="0">
                <a:solidFill>
                  <a:srgbClr val="0000FF"/>
                </a:solidFill>
                <a:latin typeface="PT Sans"/>
              </a:rPr>
              <a:t>нормализации и стандартизации </a:t>
            </a:r>
            <a:r>
              <a:rPr lang="ru-RU" sz="2200" dirty="0">
                <a:solidFill>
                  <a:srgbClr val="333333"/>
                </a:solidFill>
                <a:latin typeface="PT Sans"/>
              </a:rPr>
              <a:t>прост:</a:t>
            </a:r>
            <a:endParaRPr lang="ru-RU" sz="2200" dirty="0"/>
          </a:p>
          <a:p>
            <a:pPr marL="342900" indent="-342900">
              <a:buFont typeface="Arial" panose="020B0604020202020204" pitchFamily="34" charset="0"/>
              <a:buChar char="•"/>
            </a:pPr>
            <a:r>
              <a:rPr lang="ru-RU" sz="2200" dirty="0">
                <a:solidFill>
                  <a:srgbClr val="333333"/>
                </a:solidFill>
                <a:latin typeface="PT Sans"/>
              </a:rPr>
              <a:t>Метрические алгоритмы делают свои выводы на основе оценки расстояния между точками или между точкой и прямой. Пусть у нас есть две переменные, одна изменяется от 0 до 100, вторая - от 0 до 1.</a:t>
            </a:r>
            <a:endParaRPr lang="ru-RU" sz="2200" dirty="0"/>
          </a:p>
          <a:p>
            <a:pPr marL="342900" indent="-342900">
              <a:buFont typeface="Arial" panose="020B0604020202020204" pitchFamily="34" charset="0"/>
              <a:buChar char="•"/>
            </a:pPr>
            <a:r>
              <a:rPr lang="ru-RU" sz="2200" dirty="0">
                <a:solidFill>
                  <a:srgbClr val="333333"/>
                </a:solidFill>
                <a:latin typeface="PT Sans"/>
              </a:rPr>
              <a:t>Возьмем две точки - (0, 0) и (100, 1). Расстояние между ними по евклидовой метрике:</a:t>
            </a:r>
            <a:br>
              <a:rPr lang="ru-RU" sz="2200" dirty="0"/>
            </a:br>
            <a:endParaRPr lang="ru-RU" sz="2200" dirty="0"/>
          </a:p>
          <a:p>
            <a:pPr algn="ctr"/>
            <a:r>
              <a:rPr lang="ru-RU" sz="2200" dirty="0">
                <a:solidFill>
                  <a:srgbClr val="0000FF"/>
                </a:solidFill>
                <a:latin typeface="PT Sans"/>
              </a:rPr>
              <a:t>((100 - 0)</a:t>
            </a:r>
            <a:r>
              <a:rPr lang="ru-RU" sz="2200" baseline="30000" dirty="0">
                <a:solidFill>
                  <a:srgbClr val="0000FF"/>
                </a:solidFill>
                <a:latin typeface="PT Sans"/>
              </a:rPr>
              <a:t>2</a:t>
            </a:r>
            <a:r>
              <a:rPr lang="ru-RU" sz="2200" dirty="0">
                <a:solidFill>
                  <a:srgbClr val="0000FF"/>
                </a:solidFill>
                <a:latin typeface="PT Sans"/>
              </a:rPr>
              <a:t> + (1 - 0) </a:t>
            </a:r>
            <a:r>
              <a:rPr lang="ru-RU" sz="2200" baseline="30000" dirty="0">
                <a:solidFill>
                  <a:srgbClr val="0000FF"/>
                </a:solidFill>
                <a:latin typeface="PT Sans"/>
              </a:rPr>
              <a:t>2</a:t>
            </a:r>
            <a:r>
              <a:rPr lang="ru-RU" sz="2200" dirty="0">
                <a:solidFill>
                  <a:srgbClr val="0000FF"/>
                </a:solidFill>
                <a:latin typeface="PT Sans"/>
              </a:rPr>
              <a:t>) </a:t>
            </a:r>
            <a:r>
              <a:rPr lang="ru-RU" sz="2200" baseline="30000" dirty="0">
                <a:solidFill>
                  <a:srgbClr val="0000FF"/>
                </a:solidFill>
                <a:latin typeface="PT Sans"/>
              </a:rPr>
              <a:t>0.5.</a:t>
            </a:r>
          </a:p>
          <a:p>
            <a:pPr marL="342900" indent="-342900" algn="just">
              <a:buFont typeface="Arial" panose="020B0604020202020204" pitchFamily="34" charset="0"/>
              <a:buChar char="•"/>
            </a:pPr>
            <a:endParaRPr lang="ru-RU" sz="2200" dirty="0"/>
          </a:p>
          <a:p>
            <a:pPr marL="342900" indent="-342900" algn="just">
              <a:buFont typeface="Arial" panose="020B0604020202020204" pitchFamily="34" charset="0"/>
              <a:buChar char="•"/>
            </a:pPr>
            <a:r>
              <a:rPr lang="ru-RU" sz="2200" dirty="0">
                <a:solidFill>
                  <a:srgbClr val="333333"/>
                </a:solidFill>
                <a:latin typeface="PT Sans"/>
              </a:rPr>
              <a:t>Очевидно, что оценка расстояния формируется в основном лишь за счет 1</a:t>
            </a:r>
            <a:r>
              <a:rPr lang="en-US" sz="2200" dirty="0">
                <a:solidFill>
                  <a:srgbClr val="333333"/>
                </a:solidFill>
                <a:latin typeface="PT Sans"/>
              </a:rPr>
              <a:t>-</a:t>
            </a:r>
            <a:r>
              <a:rPr lang="ru-RU" sz="2200" dirty="0">
                <a:solidFill>
                  <a:srgbClr val="333333"/>
                </a:solidFill>
                <a:latin typeface="PT Sans"/>
              </a:rPr>
              <a:t>й переменной. Отсюда следует, что значения 2-й переменной будут слабо влиять на конечный результат работы алгоритма. И это будет связанно только с тем, что данные не нормализованы. А не с тем, что вторая переменная не влияет на результат по сути задачи.</a:t>
            </a:r>
            <a:endParaRPr lang="ru-RU" sz="2200" dirty="0"/>
          </a:p>
        </p:txBody>
      </p:sp>
    </p:spTree>
    <p:extLst>
      <p:ext uri="{BB962C8B-B14F-4D97-AF65-F5344CB8AC3E}">
        <p14:creationId xmlns:p14="http://schemas.microsoft.com/office/powerpoint/2010/main" val="129544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17501" y="322263"/>
            <a:ext cx="11665295" cy="628275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7" name="Rectangle 1"/>
          <p:cNvSpPr>
            <a:spLocks noChangeArrowheads="1"/>
          </p:cNvSpPr>
          <p:nvPr/>
        </p:nvSpPr>
        <p:spPr bwMode="auto">
          <a:xfrm>
            <a:off x="717501" y="1241358"/>
            <a:ext cx="11317337" cy="4524315"/>
          </a:xfrm>
          <a:prstGeom prst="rect">
            <a:avLst/>
          </a:prstGeom>
        </p:spPr>
        <p:txBody>
          <a:bodyPr wrap="square">
            <a:spAutoFit/>
          </a:bodyPr>
          <a:lstStyle/>
          <a:p>
            <a:pPr marL="342900" indent="-342900">
              <a:buFont typeface="Arial" panose="020B0604020202020204" pitchFamily="34" charset="0"/>
              <a:buChar char="•"/>
            </a:pPr>
            <a:r>
              <a:rPr lang="ru-RU" altLang="ru-RU" sz="2400" b="1" i="1" dirty="0">
                <a:solidFill>
                  <a:srgbClr val="0000FF"/>
                </a:solidFill>
                <a:latin typeface="-apple-system"/>
              </a:rPr>
              <a:t>Нормализация </a:t>
            </a:r>
            <a:r>
              <a:rPr lang="ru-RU" altLang="ru-RU" sz="2400" dirty="0">
                <a:solidFill>
                  <a:srgbClr val="212529"/>
                </a:solidFill>
                <a:latin typeface="-apple-system"/>
              </a:rPr>
              <a:t>- это изменение масштаба данных из исходного диапазона, чтобы все значения находились в диапазоне от 0 до 1.</a:t>
            </a:r>
          </a:p>
          <a:p>
            <a:endParaRPr lang="ru-RU" altLang="ru-RU" sz="2400" dirty="0">
              <a:solidFill>
                <a:srgbClr val="212529"/>
              </a:solidFill>
              <a:latin typeface="-apple-system"/>
            </a:endParaRPr>
          </a:p>
          <a:p>
            <a:pPr marL="342900" indent="-342900">
              <a:buFont typeface="Arial" panose="020B0604020202020204" pitchFamily="34" charset="0"/>
              <a:buChar char="•"/>
            </a:pPr>
            <a:r>
              <a:rPr lang="ru-RU" altLang="ru-RU" sz="2400" dirty="0">
                <a:solidFill>
                  <a:srgbClr val="212529"/>
                </a:solidFill>
                <a:latin typeface="-apple-system"/>
              </a:rPr>
              <a:t>Нормализация может быть полезной и даже необходимой в некоторых алгоритмах, когда данные временных рядов имеют входные значения с различными масштабами. Это может потребоваться для алгоритмов, таких как k-N</a:t>
            </a:r>
            <a:r>
              <a:rPr lang="en-US" altLang="ru-RU" sz="2400" dirty="0">
                <a:solidFill>
                  <a:srgbClr val="212529"/>
                </a:solidFill>
                <a:latin typeface="-apple-system"/>
              </a:rPr>
              <a:t>N</a:t>
            </a:r>
            <a:r>
              <a:rPr lang="ru-RU" altLang="ru-RU" sz="2400" dirty="0">
                <a:solidFill>
                  <a:srgbClr val="212529"/>
                </a:solidFill>
                <a:latin typeface="-apple-system"/>
              </a:rPr>
              <a:t>, которые используют вычисления расстояний и линейную регрессию и искусственные нейронные сети, которые принимают весовые значения на вход.</a:t>
            </a:r>
          </a:p>
          <a:p>
            <a:pPr marL="342900" indent="-342900">
              <a:buFont typeface="Arial" panose="020B0604020202020204" pitchFamily="34" charset="0"/>
              <a:buChar char="•"/>
            </a:pPr>
            <a:r>
              <a:rPr lang="ru-RU" altLang="ru-RU" sz="2400" dirty="0">
                <a:solidFill>
                  <a:srgbClr val="212529"/>
                </a:solidFill>
                <a:latin typeface="-apple-system"/>
              </a:rPr>
              <a:t>Нормализация требует, чтобы вы знали или могли точно оценить минимальные и максимальные наблюдаемые значения. </a:t>
            </a:r>
          </a:p>
          <a:p>
            <a:pPr marL="342900" indent="-342900">
              <a:buFont typeface="Arial" panose="020B0604020202020204" pitchFamily="34" charset="0"/>
              <a:buChar char="•"/>
            </a:pPr>
            <a:r>
              <a:rPr lang="ru-RU" altLang="ru-RU" sz="2400" dirty="0">
                <a:solidFill>
                  <a:srgbClr val="212529"/>
                </a:solidFill>
                <a:latin typeface="-apple-system"/>
              </a:rPr>
              <a:t>Значение нормализуется следующим образом:</a:t>
            </a:r>
          </a:p>
          <a:p>
            <a:pPr algn="ctr"/>
            <a:r>
              <a:rPr lang="ru-RU" altLang="ru-RU" sz="2400" dirty="0">
                <a:solidFill>
                  <a:srgbClr val="0000FF"/>
                </a:solidFill>
                <a:latin typeface="-apple-system"/>
              </a:rPr>
              <a:t>y = (x - </a:t>
            </a:r>
            <a:r>
              <a:rPr lang="ru-RU" altLang="ru-RU" sz="2400" dirty="0" err="1">
                <a:solidFill>
                  <a:srgbClr val="0000FF"/>
                </a:solidFill>
                <a:latin typeface="-apple-system"/>
              </a:rPr>
              <a:t>min</a:t>
            </a:r>
            <a:r>
              <a:rPr lang="ru-RU" altLang="ru-RU" sz="2400" dirty="0">
                <a:solidFill>
                  <a:srgbClr val="0000FF"/>
                </a:solidFill>
                <a:latin typeface="-apple-system"/>
              </a:rPr>
              <a:t>) / (</a:t>
            </a:r>
            <a:r>
              <a:rPr lang="ru-RU" altLang="ru-RU" sz="2400" dirty="0" err="1">
                <a:solidFill>
                  <a:srgbClr val="0000FF"/>
                </a:solidFill>
                <a:latin typeface="-apple-system"/>
              </a:rPr>
              <a:t>max</a:t>
            </a:r>
            <a:r>
              <a:rPr lang="ru-RU" altLang="ru-RU" sz="2400" dirty="0">
                <a:solidFill>
                  <a:srgbClr val="0000FF"/>
                </a:solidFill>
                <a:latin typeface="-apple-system"/>
              </a:rPr>
              <a:t> - </a:t>
            </a:r>
            <a:r>
              <a:rPr lang="ru-RU" altLang="ru-RU" sz="2400" dirty="0" err="1">
                <a:solidFill>
                  <a:srgbClr val="0000FF"/>
                </a:solidFill>
                <a:latin typeface="-apple-system"/>
              </a:rPr>
              <a:t>min</a:t>
            </a:r>
            <a:r>
              <a:rPr lang="ru-RU" altLang="ru-RU" sz="2400" dirty="0">
                <a:solidFill>
                  <a:srgbClr val="0000FF"/>
                </a:solidFill>
                <a:latin typeface="-apple-system"/>
              </a:rPr>
              <a:t>) </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68</a:t>
            </a:fld>
            <a:endParaRPr lang="ru-RU" dirty="0">
              <a:solidFill>
                <a:schemeClr val="tx1"/>
              </a:solidFill>
            </a:endParaRPr>
          </a:p>
        </p:txBody>
      </p:sp>
    </p:spTree>
    <p:extLst>
      <p:ext uri="{BB962C8B-B14F-4D97-AF65-F5344CB8AC3E}">
        <p14:creationId xmlns:p14="http://schemas.microsoft.com/office/powerpoint/2010/main" val="1101256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90451" y="322263"/>
            <a:ext cx="11420338" cy="628275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7" name="Rectangle 1"/>
          <p:cNvSpPr>
            <a:spLocks noChangeArrowheads="1"/>
          </p:cNvSpPr>
          <p:nvPr/>
        </p:nvSpPr>
        <p:spPr bwMode="auto">
          <a:xfrm>
            <a:off x="890451" y="1546921"/>
            <a:ext cx="11144388" cy="4154984"/>
          </a:xfrm>
          <a:prstGeom prst="rect">
            <a:avLst/>
          </a:prstGeom>
        </p:spPr>
        <p:txBody>
          <a:bodyPr wrap="square">
            <a:spAutoFit/>
          </a:bodyPr>
          <a:lstStyle/>
          <a:p>
            <a:pPr marL="342900" indent="-342900">
              <a:buFont typeface="Arial" panose="020B0604020202020204" pitchFamily="34" charset="0"/>
              <a:buChar char="•"/>
            </a:pPr>
            <a:r>
              <a:rPr lang="ru-RU" altLang="ru-RU" sz="2400" b="1" i="1" dirty="0">
                <a:solidFill>
                  <a:srgbClr val="0000FF"/>
                </a:solidFill>
                <a:latin typeface="-apple-system"/>
              </a:rPr>
              <a:t>Стандартизация</a:t>
            </a:r>
            <a:r>
              <a:rPr lang="ru-RU" altLang="ru-RU" sz="2400" dirty="0">
                <a:solidFill>
                  <a:srgbClr val="212529"/>
                </a:solidFill>
                <a:latin typeface="-apple-system"/>
              </a:rPr>
              <a:t> набора данных включает в себя изменение масштаба распределения значений так, чтобы среднее значение наблюдаемых значений было 0, а стандартное отклонение - 1.</a:t>
            </a:r>
          </a:p>
          <a:p>
            <a:pPr marL="342900" indent="-342900">
              <a:buFont typeface="Arial" panose="020B0604020202020204" pitchFamily="34" charset="0"/>
              <a:buChar char="•"/>
            </a:pPr>
            <a:r>
              <a:rPr lang="ru-RU" altLang="ru-RU" sz="2400" dirty="0">
                <a:solidFill>
                  <a:srgbClr val="212529"/>
                </a:solidFill>
                <a:latin typeface="-apple-system"/>
              </a:rPr>
              <a:t>Это можно рассматривать как вычитание среднего значения или центрирование данных.</a:t>
            </a:r>
          </a:p>
          <a:p>
            <a:pPr marL="342900" indent="-342900">
              <a:buFont typeface="Arial" panose="020B0604020202020204" pitchFamily="34" charset="0"/>
              <a:buChar char="•"/>
            </a:pPr>
            <a:r>
              <a:rPr lang="ru-RU" altLang="ru-RU" sz="2400" dirty="0">
                <a:solidFill>
                  <a:srgbClr val="212529"/>
                </a:solidFill>
                <a:latin typeface="-apple-system"/>
              </a:rPr>
              <a:t>Как и нормализация, стандартизация может быть полезной и даже необходимой в некоторых алгоритмах, когда ваши данные имеют входные значения с различными масштабами.</a:t>
            </a:r>
          </a:p>
          <a:p>
            <a:pPr marL="342900" indent="-342900">
              <a:buFont typeface="Arial" panose="020B0604020202020204" pitchFamily="34" charset="0"/>
              <a:buChar char="•"/>
            </a:pPr>
            <a:r>
              <a:rPr lang="ru-RU" altLang="ru-RU" sz="2400" dirty="0">
                <a:solidFill>
                  <a:srgbClr val="212529"/>
                </a:solidFill>
                <a:latin typeface="-apple-system"/>
              </a:rPr>
              <a:t>Этого требуют алгоритмы, такие как машины опорных векторов, линейная и логистическая регрессия, и другие алгоритмы, которые предполагают или имеют улучшенную производительность с гауссовыми данными.</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69</a:t>
            </a:fld>
            <a:endParaRPr lang="ru-RU" dirty="0">
              <a:solidFill>
                <a:schemeClr val="tx1"/>
              </a:solidFill>
            </a:endParaRPr>
          </a:p>
        </p:txBody>
      </p:sp>
    </p:spTree>
    <p:extLst>
      <p:ext uri="{BB962C8B-B14F-4D97-AF65-F5344CB8AC3E}">
        <p14:creationId xmlns:p14="http://schemas.microsoft.com/office/powerpoint/2010/main" val="254710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789509" y="322263"/>
            <a:ext cx="11521279" cy="628275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7" name="Rectangle 1"/>
          <p:cNvSpPr>
            <a:spLocks noChangeArrowheads="1"/>
          </p:cNvSpPr>
          <p:nvPr/>
        </p:nvSpPr>
        <p:spPr bwMode="auto">
          <a:xfrm>
            <a:off x="933525" y="1490594"/>
            <a:ext cx="11101314" cy="3785652"/>
          </a:xfrm>
          <a:prstGeom prst="rect">
            <a:avLst/>
          </a:prstGeom>
        </p:spPr>
        <p:txBody>
          <a:bodyPr wrap="square">
            <a:spAutoFit/>
          </a:bodyPr>
          <a:lstStyle/>
          <a:p>
            <a:pPr marL="342900" indent="-342900">
              <a:buFont typeface="Arial" panose="020B0604020202020204" pitchFamily="34" charset="0"/>
              <a:buChar char="•"/>
            </a:pPr>
            <a:r>
              <a:rPr lang="ru-RU" altLang="ru-RU" sz="2400" dirty="0">
                <a:solidFill>
                  <a:srgbClr val="212529"/>
                </a:solidFill>
                <a:latin typeface="-apple-system"/>
              </a:rPr>
              <a:t>Стандартизация предполагает, что ваши наблюдения соответствуют гауссовскому распределению (кривая колокола) со средним значением и стандартным отклонением. </a:t>
            </a:r>
          </a:p>
          <a:p>
            <a:endParaRPr lang="ru-RU" altLang="ru-RU" sz="2400" b="1" i="1" dirty="0">
              <a:solidFill>
                <a:srgbClr val="0000FF"/>
              </a:solidFill>
              <a:latin typeface="-apple-system"/>
            </a:endParaRPr>
          </a:p>
          <a:p>
            <a:pPr marL="342900" indent="-342900">
              <a:buFont typeface="Arial" panose="020B0604020202020204" pitchFamily="34" charset="0"/>
              <a:buChar char="•"/>
            </a:pPr>
            <a:r>
              <a:rPr lang="ru-RU" altLang="ru-RU" sz="2400" b="1" i="1" dirty="0">
                <a:solidFill>
                  <a:srgbClr val="0000FF"/>
                </a:solidFill>
                <a:latin typeface="-apple-system"/>
              </a:rPr>
              <a:t>Стандартизация</a:t>
            </a:r>
            <a:r>
              <a:rPr lang="ru-RU" altLang="ru-RU" sz="2400" dirty="0">
                <a:solidFill>
                  <a:srgbClr val="212529"/>
                </a:solidFill>
                <a:latin typeface="-apple-system"/>
              </a:rPr>
              <a:t> требует, чтобы вы знали или были в состоянии точно оценить среднее и стандартное отклонение наблюдаемых значений. Возможно, вы сможете оценить эти значения по вашим данным обучения.</a:t>
            </a:r>
          </a:p>
          <a:p>
            <a:pPr marL="342900" indent="-342900">
              <a:buFont typeface="Arial" panose="020B0604020202020204" pitchFamily="34" charset="0"/>
              <a:buChar char="•"/>
            </a:pPr>
            <a:r>
              <a:rPr lang="ru-RU" altLang="ru-RU" sz="2400" dirty="0">
                <a:solidFill>
                  <a:srgbClr val="212529"/>
                </a:solidFill>
                <a:latin typeface="-apple-system"/>
              </a:rPr>
              <a:t>Значение стандартизировано следующим образом:</a:t>
            </a:r>
          </a:p>
          <a:p>
            <a:pPr algn="ctr"/>
            <a:endParaRPr lang="ru-RU" altLang="ru-RU" sz="2400" dirty="0">
              <a:solidFill>
                <a:srgbClr val="212529"/>
              </a:solidFill>
              <a:latin typeface="-apple-system"/>
            </a:endParaRPr>
          </a:p>
          <a:p>
            <a:pPr algn="ctr"/>
            <a:r>
              <a:rPr lang="ru-RU" altLang="ru-RU" sz="2400" dirty="0">
                <a:solidFill>
                  <a:srgbClr val="0000FF"/>
                </a:solidFill>
                <a:latin typeface="-apple-system"/>
              </a:rPr>
              <a:t>y = (x - </a:t>
            </a:r>
            <a:r>
              <a:rPr lang="ru-RU" altLang="ru-RU" sz="2400" dirty="0" err="1">
                <a:solidFill>
                  <a:srgbClr val="0000FF"/>
                </a:solidFill>
                <a:latin typeface="-apple-system"/>
              </a:rPr>
              <a:t>mean</a:t>
            </a:r>
            <a:r>
              <a:rPr lang="ru-RU" altLang="ru-RU" sz="2400" dirty="0">
                <a:solidFill>
                  <a:srgbClr val="0000FF"/>
                </a:solidFill>
                <a:latin typeface="-apple-system"/>
              </a:rPr>
              <a:t>) / </a:t>
            </a:r>
            <a:r>
              <a:rPr lang="ru-RU" altLang="ru-RU" sz="2400" dirty="0" err="1">
                <a:solidFill>
                  <a:srgbClr val="0000FF"/>
                </a:solidFill>
                <a:latin typeface="-apple-system"/>
              </a:rPr>
              <a:t>standard_deviation</a:t>
            </a:r>
            <a:r>
              <a:rPr lang="ru-RU" altLang="ru-RU" sz="2400" dirty="0">
                <a:solidFill>
                  <a:srgbClr val="0000FF"/>
                </a:solidFill>
                <a:latin typeface="-apple-system"/>
              </a:rPr>
              <a:t> </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70</a:t>
            </a:fld>
            <a:endParaRPr lang="ru-RU" dirty="0">
              <a:solidFill>
                <a:schemeClr val="tx1"/>
              </a:solidFill>
            </a:endParaRPr>
          </a:p>
        </p:txBody>
      </p:sp>
    </p:spTree>
    <p:extLst>
      <p:ext uri="{BB962C8B-B14F-4D97-AF65-F5344CB8AC3E}">
        <p14:creationId xmlns:p14="http://schemas.microsoft.com/office/powerpoint/2010/main" val="3936972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667185" y="322263"/>
            <a:ext cx="11715612" cy="6282752"/>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Rectangle 2"/>
          <p:cNvSpPr txBox="1">
            <a:spLocks noChangeArrowheads="1"/>
          </p:cNvSpPr>
          <p:nvPr/>
        </p:nvSpPr>
        <p:spPr>
          <a:xfrm>
            <a:off x="2000619" y="263937"/>
            <a:ext cx="8700009" cy="633448"/>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pPr>
              <a:defRPr/>
            </a:pPr>
            <a:r>
              <a:rPr lang="ru-RU" sz="4000"/>
              <a:t>Алгоритмы кластерного анализа</a:t>
            </a:r>
            <a:endParaRPr lang="en-US" altLang="ru-RU" sz="4000" dirty="0"/>
          </a:p>
        </p:txBody>
      </p:sp>
      <p:sp>
        <p:nvSpPr>
          <p:cNvPr id="8" name="Текст 2"/>
          <p:cNvSpPr txBox="1">
            <a:spLocks/>
          </p:cNvSpPr>
          <p:nvPr/>
        </p:nvSpPr>
        <p:spPr>
          <a:xfrm>
            <a:off x="717502" y="2503348"/>
            <a:ext cx="11283564" cy="2619290"/>
          </a:xfrm>
          <a:prstGeom prst="rect">
            <a:avLst/>
          </a:prstGeom>
        </p:spPr>
        <p:txBody>
          <a:bodyPr/>
          <a:lstStyle>
            <a:lvl1pPr marL="373063" indent="-373063" algn="l" defTabSz="993775" rtl="0" fontAlgn="base">
              <a:spcBef>
                <a:spcPct val="20000"/>
              </a:spcBef>
              <a:spcAft>
                <a:spcPct val="0"/>
              </a:spcAft>
              <a:buChar char="•"/>
              <a:defRPr sz="3500" kern="1200">
                <a:solidFill>
                  <a:schemeClr val="tx1"/>
                </a:solidFill>
                <a:latin typeface="+mn-lt"/>
                <a:ea typeface="+mn-ea"/>
                <a:cs typeface="+mn-cs"/>
              </a:defRPr>
            </a:lvl1pPr>
            <a:lvl2pPr marL="808038" indent="-311150" algn="l" defTabSz="993775" rtl="0" fontAlgn="base">
              <a:spcBef>
                <a:spcPct val="20000"/>
              </a:spcBef>
              <a:spcAft>
                <a:spcPct val="0"/>
              </a:spcAft>
              <a:buChar char="–"/>
              <a:defRPr sz="3000" kern="1200">
                <a:solidFill>
                  <a:schemeClr val="tx1"/>
                </a:solidFill>
                <a:latin typeface="+mn-lt"/>
                <a:ea typeface="+mn-ea"/>
                <a:cs typeface="+mn-cs"/>
              </a:defRPr>
            </a:lvl2pPr>
            <a:lvl3pPr marL="1243013" indent="-249238" algn="l" defTabSz="993775" rtl="0" fontAlgn="base">
              <a:spcBef>
                <a:spcPct val="20000"/>
              </a:spcBef>
              <a:spcAft>
                <a:spcPct val="0"/>
              </a:spcAft>
              <a:buChar char="•"/>
              <a:defRPr sz="2600" kern="1200">
                <a:solidFill>
                  <a:schemeClr val="tx1"/>
                </a:solidFill>
                <a:latin typeface="+mn-lt"/>
                <a:ea typeface="+mn-ea"/>
                <a:cs typeface="+mn-cs"/>
              </a:defRPr>
            </a:lvl3pPr>
            <a:lvl4pPr marL="1739900" indent="-247650" algn="l" defTabSz="993775" rtl="0" fontAlgn="base">
              <a:spcBef>
                <a:spcPct val="20000"/>
              </a:spcBef>
              <a:spcAft>
                <a:spcPct val="0"/>
              </a:spcAft>
              <a:buChar char="–"/>
              <a:defRPr sz="2200" kern="1200">
                <a:solidFill>
                  <a:schemeClr val="tx1"/>
                </a:solidFill>
                <a:latin typeface="+mn-lt"/>
                <a:ea typeface="+mn-ea"/>
                <a:cs typeface="+mn-cs"/>
              </a:defRPr>
            </a:lvl4pPr>
            <a:lvl5pPr marL="2236788" indent="-247650" algn="l" defTabSz="993775" rtl="0" fontAlgn="base">
              <a:spcBef>
                <a:spcPct val="20000"/>
              </a:spcBef>
              <a:spcAft>
                <a:spcPct val="0"/>
              </a:spcAft>
              <a:buChar char="»"/>
              <a:defRPr sz="2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529560" indent="0">
              <a:buNone/>
            </a:pPr>
            <a:r>
              <a:rPr lang="ru-RU" sz="2400" dirty="0">
                <a:latin typeface="Times New Roman" pitchFamily="18"/>
              </a:rPr>
              <a:t>Иерархический кластерный анализ требует вдохновенного выбора способа подсчета расстояния между объектами и расстояния между кластерами. </a:t>
            </a:r>
          </a:p>
          <a:p>
            <a:pPr marR="529560" indent="0">
              <a:buNone/>
            </a:pPr>
            <a:r>
              <a:rPr lang="ru-RU" sz="2400" dirty="0">
                <a:latin typeface="Times New Roman" pitchFamily="18"/>
              </a:rPr>
              <a:t>Кроме того, надо подобрать релевантное число кластеров. Потом останется неясной геометрия кластеров. Таким образом, многое надо предугадать и осмыслить. Не всегда это удается с первого раза.</a:t>
            </a:r>
          </a:p>
        </p:txBody>
      </p:sp>
      <p:sp>
        <p:nvSpPr>
          <p:cNvPr id="2" name="Прямоугольник 1"/>
          <p:cNvSpPr/>
          <p:nvPr/>
        </p:nvSpPr>
        <p:spPr>
          <a:xfrm>
            <a:off x="3076744" y="1242685"/>
            <a:ext cx="5137150" cy="830997"/>
          </a:xfrm>
          <a:prstGeom prst="rect">
            <a:avLst/>
          </a:prstGeom>
        </p:spPr>
        <p:txBody>
          <a:bodyPr>
            <a:spAutoFit/>
          </a:bodyPr>
          <a:lstStyle/>
          <a:p>
            <a:pPr marL="457200" indent="-457200">
              <a:buClr>
                <a:srgbClr val="CC9900"/>
              </a:buClr>
              <a:buSzPct val="65000"/>
              <a:buFont typeface="Arial" panose="020B0604020202020204" pitchFamily="34" charset="0"/>
              <a:buChar char="•"/>
            </a:pPr>
            <a:r>
              <a:rPr lang="ru-RU" sz="2400" dirty="0"/>
              <a:t>Расстояние между кластерами</a:t>
            </a:r>
          </a:p>
          <a:p>
            <a:pPr marL="457200" indent="-457200">
              <a:buClr>
                <a:srgbClr val="CC9900"/>
              </a:buClr>
              <a:buSzPct val="65000"/>
              <a:buFont typeface="Arial" panose="020B0604020202020204" pitchFamily="34" charset="0"/>
              <a:buChar char="•"/>
            </a:pPr>
            <a:r>
              <a:rPr lang="ru-RU" sz="2400" dirty="0"/>
              <a:t>Расстояние между объектами</a:t>
            </a: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71</a:t>
            </a:fld>
            <a:endParaRPr lang="ru-RU" dirty="0">
              <a:solidFill>
                <a:schemeClr val="tx1"/>
              </a:solidFill>
            </a:endParaRPr>
          </a:p>
        </p:txBody>
      </p:sp>
    </p:spTree>
    <p:extLst>
      <p:ext uri="{BB962C8B-B14F-4D97-AF65-F5344CB8AC3E}">
        <p14:creationId xmlns:p14="http://schemas.microsoft.com/office/powerpoint/2010/main" val="410569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9" name="AutoShape 7"/>
          <p:cNvSpPr>
            <a:spLocks noChangeArrowheads="1"/>
          </p:cNvSpPr>
          <p:nvPr/>
        </p:nvSpPr>
        <p:spPr bwMode="auto">
          <a:xfrm>
            <a:off x="1868488" y="3140076"/>
            <a:ext cx="9329738" cy="1287463"/>
          </a:xfrm>
          <a:prstGeom prst="roundRect">
            <a:avLst>
              <a:gd name="adj" fmla="val 16667"/>
            </a:avLst>
          </a:prstGeom>
          <a:solidFill>
            <a:srgbClr val="464646">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13000" name="AutoShape 8"/>
          <p:cNvSpPr>
            <a:spLocks noChangeArrowheads="1"/>
          </p:cNvSpPr>
          <p:nvPr/>
        </p:nvSpPr>
        <p:spPr bwMode="auto">
          <a:xfrm>
            <a:off x="2225676" y="3362326"/>
            <a:ext cx="596900" cy="854075"/>
          </a:xfrm>
          <a:prstGeom prst="roundRect">
            <a:avLst>
              <a:gd name="adj" fmla="val 16667"/>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496888" defTabSz="993775">
              <a:defRPr>
                <a:solidFill>
                  <a:schemeClr val="tx1"/>
                </a:solidFill>
                <a:latin typeface="Arial" panose="020B0604020202020204" pitchFamily="34" charset="0"/>
              </a:defRPr>
            </a:lvl2pPr>
            <a:lvl3pPr marL="993775" defTabSz="993775">
              <a:defRPr>
                <a:solidFill>
                  <a:schemeClr val="tx1"/>
                </a:solidFill>
                <a:latin typeface="Arial" panose="020B0604020202020204" pitchFamily="34" charset="0"/>
              </a:defRPr>
            </a:lvl3pPr>
            <a:lvl4pPr marL="1492250"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pPr algn="ctr"/>
            <a:r>
              <a:rPr lang="en-US" altLang="ru-RU" sz="3000" b="1" dirty="0">
                <a:solidFill>
                  <a:schemeClr val="bg1"/>
                </a:solidFill>
              </a:rPr>
              <a:t>5</a:t>
            </a:r>
            <a:endParaRPr lang="ru-RU" altLang="ru-RU" sz="3000" b="1" dirty="0">
              <a:solidFill>
                <a:schemeClr val="bg1"/>
              </a:solidFill>
            </a:endParaRPr>
          </a:p>
        </p:txBody>
      </p:sp>
      <p:sp>
        <p:nvSpPr>
          <p:cNvPr id="213001" name="AutoShape 9"/>
          <p:cNvSpPr>
            <a:spLocks noChangeArrowheads="1"/>
          </p:cNvSpPr>
          <p:nvPr/>
        </p:nvSpPr>
        <p:spPr bwMode="auto">
          <a:xfrm>
            <a:off x="2144713" y="3140075"/>
            <a:ext cx="8509892" cy="1284288"/>
          </a:xfrm>
          <a:prstGeom prst="roundRect">
            <a:avLst>
              <a:gd name="adj" fmla="val 16667"/>
            </a:avLst>
          </a:prstGeom>
          <a:noFill/>
          <a:ln>
            <a:noFill/>
          </a:ln>
          <a:effectLst/>
          <a:extLst>
            <a:ext uri="{909E8E84-426E-40DD-AFC4-6F175D3DCCD1}">
              <a14:hiddenFill xmlns:a14="http://schemas.microsoft.com/office/drawing/2010/main">
                <a:solidFill>
                  <a:srgbClr val="464646">
                    <a:alpha val="50000"/>
                  </a:srgbClr>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marL="982663"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r>
              <a:rPr lang="ru-RU" altLang="ru-RU" sz="3500" dirty="0">
                <a:solidFill>
                  <a:schemeClr val="bg1"/>
                </a:solidFill>
              </a:rPr>
              <a:t>Примеры кластерного анализа</a:t>
            </a:r>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72</a:t>
            </a:fld>
            <a:endParaRPr lang="ru-RU" dirty="0">
              <a:solidFill>
                <a:schemeClr val="tx1"/>
              </a:solidFill>
            </a:endParaRPr>
          </a:p>
        </p:txBody>
      </p:sp>
    </p:spTree>
    <p:extLst>
      <p:ext uri="{BB962C8B-B14F-4D97-AF65-F5344CB8AC3E}">
        <p14:creationId xmlns:p14="http://schemas.microsoft.com/office/powerpoint/2010/main" val="1899747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13001"/>
                                        </p:tgtEl>
                                        <p:attrNameLst>
                                          <p:attrName>style.visibility</p:attrName>
                                        </p:attrNameLst>
                                      </p:cBhvr>
                                      <p:to>
                                        <p:strVal val="visible"/>
                                      </p:to>
                                    </p:set>
                                    <p:anim calcmode="lin" valueType="num">
                                      <p:cBhvr additive="base">
                                        <p:cTn id="7" dur="500" fill="hold"/>
                                        <p:tgtEl>
                                          <p:spTgt spid="213001"/>
                                        </p:tgtEl>
                                        <p:attrNameLst>
                                          <p:attrName>ppt_x</p:attrName>
                                        </p:attrNameLst>
                                      </p:cBhvr>
                                      <p:tavLst>
                                        <p:tav tm="0">
                                          <p:val>
                                            <p:strVal val="1+#ppt_w/2"/>
                                          </p:val>
                                        </p:tav>
                                        <p:tav tm="100000">
                                          <p:val>
                                            <p:strVal val="#ppt_x"/>
                                          </p:val>
                                        </p:tav>
                                      </p:tavLst>
                                    </p:anim>
                                    <p:anim calcmode="lin" valueType="num">
                                      <p:cBhvr additive="base">
                                        <p:cTn id="8" dur="500" fill="hold"/>
                                        <p:tgtEl>
                                          <p:spTgt spid="2130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001"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Номер слайда 7"/>
          <p:cNvSpPr>
            <a:spLocks noGrp="1"/>
          </p:cNvSpPr>
          <p:nvPr>
            <p:ph type="sldNum" sz="quarter" idx="12"/>
          </p:nvPr>
        </p:nvSpPr>
        <p:spPr>
          <a:xfrm>
            <a:off x="11472863" y="6481256"/>
            <a:ext cx="736433" cy="379409"/>
          </a:xfrm>
        </p:spPr>
        <p:txBody>
          <a:bodyPr/>
          <a:lstStyle/>
          <a:p>
            <a:fld id="{952B6C0E-C4B9-4094-8E59-5B7DF00D5415}" type="slidenum">
              <a:rPr lang="ru-RU" smtClean="0">
                <a:solidFill>
                  <a:schemeClr val="tx1"/>
                </a:solidFill>
              </a:rPr>
              <a:t>73</a:t>
            </a:fld>
            <a:endParaRPr lang="ru-RU" dirty="0">
              <a:solidFill>
                <a:schemeClr val="tx1"/>
              </a:solidFill>
            </a:endParaRPr>
          </a:p>
        </p:txBody>
      </p:sp>
      <p:sp>
        <p:nvSpPr>
          <p:cNvPr id="2" name="Заголовок 1"/>
          <p:cNvSpPr txBox="1">
            <a:spLocks noGrp="1"/>
          </p:cNvSpPr>
          <p:nvPr>
            <p:ph type="title" idx="4294967295"/>
          </p:nvPr>
        </p:nvSpPr>
        <p:spPr>
          <a:xfrm>
            <a:off x="2058987" y="373288"/>
            <a:ext cx="8550275" cy="881570"/>
          </a:xfrm>
          <a:prstGeom prst="rect">
            <a:avLst/>
          </a:prstGeom>
        </p:spPr>
        <p:txBody>
          <a:bodyPr wrap="square">
            <a:noAutofit/>
          </a:bodyPr>
          <a:lstStyle/>
          <a:p>
            <a:pPr lvl="0"/>
            <a:r>
              <a:rPr lang="ru-RU" sz="3949" dirty="0"/>
              <a:t>Входные данные: </a:t>
            </a:r>
            <a:br>
              <a:rPr lang="ru-RU" sz="3949" dirty="0"/>
            </a:br>
            <a:r>
              <a:rPr lang="ru-RU" sz="3949" dirty="0"/>
              <a:t>потребление протеинов  в Европе</a:t>
            </a:r>
          </a:p>
        </p:txBody>
      </p:sp>
      <p:sp>
        <p:nvSpPr>
          <p:cNvPr id="3" name="Текст 2"/>
          <p:cNvSpPr txBox="1">
            <a:spLocks noGrp="1"/>
          </p:cNvSpPr>
          <p:nvPr>
            <p:ph type="body" idx="4294967295"/>
          </p:nvPr>
        </p:nvSpPr>
        <p:spPr>
          <a:xfrm>
            <a:off x="2376445" y="1710898"/>
            <a:ext cx="9099178" cy="4708525"/>
          </a:xfrm>
          <a:prstGeom prst="rect">
            <a:avLst/>
          </a:prstGeom>
        </p:spPr>
        <p:txBody>
          <a:bodyPr wrap="square"/>
          <a:lstStyle/>
          <a:p>
            <a:pPr>
              <a:lnSpc>
                <a:spcPct val="80000"/>
              </a:lnSpc>
              <a:spcBef>
                <a:spcPts val="674"/>
              </a:spcBef>
              <a:buClr>
                <a:srgbClr val="CC9900"/>
              </a:buClr>
              <a:buSzPct val="65000"/>
              <a:buFont typeface="Wingdings" pitchFamily="2"/>
              <a:buChar char=""/>
            </a:pPr>
            <a:r>
              <a:rPr lang="ru-RU" sz="2702" u="sng" dirty="0"/>
              <a:t>Переменные</a:t>
            </a:r>
          </a:p>
          <a:p>
            <a:pPr>
              <a:lnSpc>
                <a:spcPct val="80000"/>
              </a:lnSpc>
              <a:spcBef>
                <a:spcPts val="674"/>
              </a:spcBef>
              <a:buClr>
                <a:srgbClr val="CC9900"/>
              </a:buClr>
              <a:buSzPct val="65000"/>
              <a:buFont typeface="Wingdings" pitchFamily="2"/>
              <a:buChar char=""/>
            </a:pPr>
            <a:r>
              <a:rPr lang="en-US" sz="2702" dirty="0" err="1"/>
              <a:t>redmeat</a:t>
            </a:r>
            <a:r>
              <a:rPr lang="en-US" sz="2702" dirty="0"/>
              <a:t>	</a:t>
            </a:r>
            <a:r>
              <a:rPr lang="ru-RU" sz="2702" dirty="0"/>
              <a:t>	Мясо</a:t>
            </a:r>
          </a:p>
          <a:p>
            <a:pPr>
              <a:lnSpc>
                <a:spcPct val="80000"/>
              </a:lnSpc>
              <a:spcBef>
                <a:spcPts val="674"/>
              </a:spcBef>
              <a:buClr>
                <a:srgbClr val="CC9900"/>
              </a:buClr>
              <a:buSzPct val="65000"/>
              <a:buFont typeface="Wingdings" pitchFamily="2"/>
              <a:buChar char=""/>
            </a:pPr>
            <a:r>
              <a:rPr lang="en-US" sz="2702" dirty="0" err="1"/>
              <a:t>whitemeat</a:t>
            </a:r>
            <a:r>
              <a:rPr lang="en-US" sz="2702" dirty="0"/>
              <a:t>	</a:t>
            </a:r>
            <a:r>
              <a:rPr lang="ru-RU" sz="2702" dirty="0"/>
              <a:t>            Птица</a:t>
            </a:r>
          </a:p>
          <a:p>
            <a:pPr>
              <a:lnSpc>
                <a:spcPct val="80000"/>
              </a:lnSpc>
              <a:spcBef>
                <a:spcPts val="674"/>
              </a:spcBef>
              <a:buClr>
                <a:srgbClr val="CC9900"/>
              </a:buClr>
              <a:buSzPct val="65000"/>
              <a:buFont typeface="Wingdings" pitchFamily="2"/>
              <a:buChar char=""/>
            </a:pPr>
            <a:r>
              <a:rPr lang="en-US" sz="2702" dirty="0"/>
              <a:t>eggs	</a:t>
            </a:r>
            <a:r>
              <a:rPr lang="ru-RU" sz="2702" dirty="0"/>
              <a:t>	Яйца </a:t>
            </a:r>
          </a:p>
          <a:p>
            <a:pPr>
              <a:lnSpc>
                <a:spcPct val="80000"/>
              </a:lnSpc>
              <a:spcBef>
                <a:spcPts val="674"/>
              </a:spcBef>
              <a:buClr>
                <a:srgbClr val="CC9900"/>
              </a:buClr>
              <a:buSzPct val="65000"/>
              <a:buFont typeface="Wingdings" pitchFamily="2"/>
              <a:buChar char=""/>
            </a:pPr>
            <a:r>
              <a:rPr lang="en-US" sz="2702" dirty="0"/>
              <a:t>milk		</a:t>
            </a:r>
            <a:r>
              <a:rPr lang="ru-RU" sz="2702" dirty="0"/>
              <a:t>            Молоко</a:t>
            </a:r>
          </a:p>
          <a:p>
            <a:pPr>
              <a:lnSpc>
                <a:spcPct val="80000"/>
              </a:lnSpc>
              <a:spcBef>
                <a:spcPts val="674"/>
              </a:spcBef>
              <a:buClr>
                <a:srgbClr val="CC9900"/>
              </a:buClr>
              <a:buSzPct val="65000"/>
              <a:buFont typeface="Wingdings" pitchFamily="2"/>
              <a:buChar char=""/>
            </a:pPr>
            <a:r>
              <a:rPr lang="en-US" sz="2702" dirty="0"/>
              <a:t>fish		</a:t>
            </a:r>
            <a:r>
              <a:rPr lang="ru-RU" sz="2702" dirty="0"/>
              <a:t>	Рыба</a:t>
            </a:r>
          </a:p>
          <a:p>
            <a:pPr>
              <a:lnSpc>
                <a:spcPct val="80000"/>
              </a:lnSpc>
              <a:spcBef>
                <a:spcPts val="674"/>
              </a:spcBef>
              <a:buClr>
                <a:srgbClr val="CC9900"/>
              </a:buClr>
              <a:buSzPct val="65000"/>
              <a:buFont typeface="Wingdings" pitchFamily="2"/>
              <a:buChar char=""/>
            </a:pPr>
            <a:r>
              <a:rPr lang="en-US" sz="2702" dirty="0"/>
              <a:t>cereals	</a:t>
            </a:r>
            <a:r>
              <a:rPr lang="ru-RU" sz="2702" dirty="0"/>
              <a:t>	</a:t>
            </a:r>
            <a:r>
              <a:rPr lang="ru-RU" sz="2702" dirty="0" err="1"/>
              <a:t>Хлебо</a:t>
            </a:r>
            <a:r>
              <a:rPr lang="en-US" sz="2702" dirty="0"/>
              <a:t>-</a:t>
            </a:r>
            <a:r>
              <a:rPr lang="ru-RU" sz="2702" dirty="0"/>
              <a:t>булочные</a:t>
            </a:r>
          </a:p>
          <a:p>
            <a:pPr>
              <a:lnSpc>
                <a:spcPct val="80000"/>
              </a:lnSpc>
              <a:spcBef>
                <a:spcPts val="674"/>
              </a:spcBef>
              <a:buClr>
                <a:srgbClr val="CC9900"/>
              </a:buClr>
              <a:buSzPct val="65000"/>
              <a:buFont typeface="Wingdings" pitchFamily="2"/>
              <a:buChar char=""/>
            </a:pPr>
            <a:r>
              <a:rPr lang="en-US" sz="2702" dirty="0"/>
              <a:t>starch	</a:t>
            </a:r>
            <a:r>
              <a:rPr lang="ru-RU" sz="2702" dirty="0"/>
              <a:t>	Крахмал: картофель,</a:t>
            </a:r>
            <a:r>
              <a:rPr lang="en-US" sz="2702" dirty="0"/>
              <a:t> </a:t>
            </a:r>
            <a:r>
              <a:rPr lang="ru-RU" sz="2702" dirty="0"/>
              <a:t>макароны</a:t>
            </a:r>
          </a:p>
          <a:p>
            <a:pPr>
              <a:lnSpc>
                <a:spcPct val="80000"/>
              </a:lnSpc>
              <a:spcBef>
                <a:spcPts val="674"/>
              </a:spcBef>
              <a:buClr>
                <a:srgbClr val="CC9900"/>
              </a:buClr>
              <a:buSzPct val="65000"/>
              <a:buFont typeface="Wingdings" pitchFamily="2"/>
              <a:buChar char=""/>
            </a:pPr>
            <a:r>
              <a:rPr lang="en-US" sz="2702" dirty="0"/>
              <a:t>nuts	</a:t>
            </a:r>
            <a:r>
              <a:rPr lang="ru-RU" sz="2702" dirty="0"/>
              <a:t>	Орехи</a:t>
            </a:r>
          </a:p>
          <a:p>
            <a:pPr>
              <a:lnSpc>
                <a:spcPct val="80000"/>
              </a:lnSpc>
              <a:spcBef>
                <a:spcPts val="674"/>
              </a:spcBef>
              <a:buClr>
                <a:srgbClr val="CC9900"/>
              </a:buClr>
              <a:buSzPct val="65000"/>
              <a:buFont typeface="Wingdings" pitchFamily="2"/>
              <a:buChar char=""/>
            </a:pPr>
            <a:r>
              <a:rPr lang="en-US" sz="2702" dirty="0" err="1"/>
              <a:t>fruits_v</a:t>
            </a:r>
            <a:r>
              <a:rPr lang="en-US" sz="2702" dirty="0"/>
              <a:t>	</a:t>
            </a:r>
            <a:r>
              <a:rPr lang="ru-RU" sz="2702" dirty="0"/>
              <a:t>	Фрукты</a:t>
            </a:r>
            <a:r>
              <a:rPr lang="en-US" sz="2702" dirty="0"/>
              <a:t> </a:t>
            </a:r>
            <a:r>
              <a:rPr lang="ru-RU" sz="2702" dirty="0"/>
              <a:t>и</a:t>
            </a:r>
            <a:r>
              <a:rPr lang="en-US" sz="2702" dirty="0"/>
              <a:t> </a:t>
            </a:r>
            <a:r>
              <a:rPr lang="ru-RU" sz="2702" dirty="0"/>
              <a:t>овощи</a:t>
            </a:r>
          </a:p>
        </p:txBody>
      </p:sp>
    </p:spTree>
    <p:extLst>
      <p:ext uri="{BB962C8B-B14F-4D97-AF65-F5344CB8AC3E}">
        <p14:creationId xmlns:p14="http://schemas.microsoft.com/office/powerpoint/2010/main" val="1726566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72513"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6"/>
          <p:cNvSpPr>
            <a:spLocks noChangeArrowheads="1"/>
          </p:cNvSpPr>
          <p:nvPr/>
        </p:nvSpPr>
        <p:spPr bwMode="auto">
          <a:xfrm>
            <a:off x="1438275" y="1092140"/>
            <a:ext cx="10368011" cy="4847268"/>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2800" dirty="0">
                <a:solidFill>
                  <a:schemeClr val="bg1"/>
                </a:solidFill>
              </a:rPr>
              <a:t> </a:t>
            </a:r>
          </a:p>
        </p:txBody>
      </p:sp>
      <p:sp>
        <p:nvSpPr>
          <p:cNvPr id="8" name="Номер слайда 7"/>
          <p:cNvSpPr>
            <a:spLocks noGrp="1"/>
          </p:cNvSpPr>
          <p:nvPr>
            <p:ph type="sldNum" sz="quarter" idx="12"/>
          </p:nvPr>
        </p:nvSpPr>
        <p:spPr>
          <a:xfrm>
            <a:off x="11546527" y="6496054"/>
            <a:ext cx="808441" cy="379409"/>
          </a:xfrm>
        </p:spPr>
        <p:txBody>
          <a:bodyPr/>
          <a:lstStyle/>
          <a:p>
            <a:fld id="{952B6C0E-C4B9-4094-8E59-5B7DF00D5415}" type="slidenum">
              <a:rPr lang="ru-RU" smtClean="0">
                <a:solidFill>
                  <a:schemeClr val="tx1"/>
                </a:solidFill>
              </a:rPr>
              <a:t>74</a:t>
            </a:fld>
            <a:endParaRPr lang="ru-RU" dirty="0">
              <a:solidFill>
                <a:schemeClr val="tx1"/>
              </a:solidFill>
            </a:endParaRPr>
          </a:p>
        </p:txBody>
      </p:sp>
      <p:sp>
        <p:nvSpPr>
          <p:cNvPr id="2" name="Заголовок 1"/>
          <p:cNvSpPr txBox="1">
            <a:spLocks noGrp="1"/>
          </p:cNvSpPr>
          <p:nvPr>
            <p:ph type="title" idx="4294967295"/>
          </p:nvPr>
        </p:nvSpPr>
        <p:spPr>
          <a:xfrm>
            <a:off x="2661717" y="371539"/>
            <a:ext cx="6842125" cy="754062"/>
          </a:xfrm>
          <a:prstGeom prst="rect">
            <a:avLst/>
          </a:prstGeom>
        </p:spPr>
        <p:txBody>
          <a:bodyPr wrap="square">
            <a:noAutofit/>
          </a:bodyPr>
          <a:lstStyle/>
          <a:p>
            <a:pPr lvl="0"/>
            <a:r>
              <a:rPr lang="ru-RU" sz="4400" dirty="0"/>
              <a:t>Задача:</a:t>
            </a:r>
          </a:p>
        </p:txBody>
      </p:sp>
      <p:sp>
        <p:nvSpPr>
          <p:cNvPr id="3" name="Текст 2"/>
          <p:cNvSpPr txBox="1">
            <a:spLocks noGrp="1"/>
          </p:cNvSpPr>
          <p:nvPr>
            <p:ph type="body" idx="4294967295"/>
          </p:nvPr>
        </p:nvSpPr>
        <p:spPr>
          <a:xfrm>
            <a:off x="1460020" y="1511301"/>
            <a:ext cx="10012843" cy="3708027"/>
          </a:xfrm>
          <a:prstGeom prst="rect">
            <a:avLst/>
          </a:prstGeom>
        </p:spPr>
        <p:txBody>
          <a:bodyPr wrap="square"/>
          <a:lstStyle/>
          <a:p>
            <a:pPr marL="0" indent="0">
              <a:buClr>
                <a:srgbClr val="CC9900"/>
              </a:buClr>
              <a:buSzPct val="150000"/>
              <a:buNone/>
            </a:pPr>
            <a:r>
              <a:rPr lang="ru-RU" sz="3200" dirty="0"/>
              <a:t>1. Разбить страны на группы эквивалентному потреблению продуктов.</a:t>
            </a:r>
          </a:p>
          <a:p>
            <a:pPr lvl="1">
              <a:buClr>
                <a:srgbClr val="CC9900"/>
              </a:buClr>
              <a:buSzPct val="150000"/>
            </a:pPr>
            <a:r>
              <a:rPr lang="ru-RU" sz="2784" dirty="0"/>
              <a:t> Надо ли проводить стандартизацию?</a:t>
            </a:r>
          </a:p>
          <a:p>
            <a:pPr>
              <a:buClr>
                <a:srgbClr val="CC9900"/>
              </a:buClr>
              <a:buSzPct val="150000"/>
            </a:pPr>
            <a:endParaRPr lang="ru-RU" sz="3200" dirty="0"/>
          </a:p>
          <a:p>
            <a:pPr marL="0" indent="0">
              <a:buClr>
                <a:srgbClr val="CC9900"/>
              </a:buClr>
              <a:buSzPct val="150000"/>
              <a:buNone/>
            </a:pPr>
            <a:r>
              <a:rPr lang="ru-RU" sz="3200" dirty="0"/>
              <a:t>2. Провести аналитику: как отличаются кластеры и почему?</a:t>
            </a:r>
          </a:p>
          <a:p>
            <a:pPr>
              <a:buClr>
                <a:srgbClr val="CC9900"/>
              </a:buClr>
              <a:buSzPct val="150000"/>
            </a:pPr>
            <a:endParaRPr lang="ru-RU" sz="3200" dirty="0"/>
          </a:p>
        </p:txBody>
      </p:sp>
    </p:spTree>
    <p:extLst>
      <p:ext uri="{BB962C8B-B14F-4D97-AF65-F5344CB8AC3E}">
        <p14:creationId xmlns:p14="http://schemas.microsoft.com/office/powerpoint/2010/main" val="1036864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7581" y="286544"/>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6"/>
          <p:cNvSpPr>
            <a:spLocks noChangeArrowheads="1"/>
          </p:cNvSpPr>
          <p:nvPr/>
        </p:nvSpPr>
        <p:spPr bwMode="auto">
          <a:xfrm>
            <a:off x="1582737" y="1127585"/>
            <a:ext cx="10296003" cy="5603416"/>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500">
                <a:solidFill>
                  <a:schemeClr val="bg1"/>
                </a:solidFill>
              </a:rPr>
              <a:t> </a:t>
            </a:r>
            <a:endParaRPr lang="ru-RU" altLang="ru-RU" sz="3500" dirty="0">
              <a:solidFill>
                <a:schemeClr val="bg1"/>
              </a:solidFill>
            </a:endParaRPr>
          </a:p>
        </p:txBody>
      </p:sp>
      <p:sp>
        <p:nvSpPr>
          <p:cNvPr id="9" name="Номер слайда 8"/>
          <p:cNvSpPr>
            <a:spLocks noGrp="1"/>
          </p:cNvSpPr>
          <p:nvPr>
            <p:ph type="sldNum" sz="quarter" idx="12"/>
          </p:nvPr>
        </p:nvSpPr>
        <p:spPr/>
        <p:txBody>
          <a:bodyPr/>
          <a:lstStyle/>
          <a:p>
            <a:fld id="{952B6C0E-C4B9-4094-8E59-5B7DF00D5415}" type="slidenum">
              <a:rPr lang="ru-RU" smtClean="0">
                <a:solidFill>
                  <a:schemeClr val="tx1"/>
                </a:solidFill>
              </a:rPr>
              <a:t>75</a:t>
            </a:fld>
            <a:endParaRPr lang="ru-RU" dirty="0">
              <a:solidFill>
                <a:schemeClr val="tx1"/>
              </a:solidFill>
            </a:endParaRPr>
          </a:p>
        </p:txBody>
      </p:sp>
      <p:sp>
        <p:nvSpPr>
          <p:cNvPr id="2" name="Заголовок 1"/>
          <p:cNvSpPr txBox="1">
            <a:spLocks noGrp="1"/>
          </p:cNvSpPr>
          <p:nvPr>
            <p:ph type="title" idx="4294967295"/>
          </p:nvPr>
        </p:nvSpPr>
        <p:spPr>
          <a:xfrm>
            <a:off x="3022685" y="403608"/>
            <a:ext cx="7559675" cy="693737"/>
          </a:xfrm>
          <a:prstGeom prst="rect">
            <a:avLst/>
          </a:prstGeom>
        </p:spPr>
        <p:txBody>
          <a:bodyPr>
            <a:normAutofit fontScale="90000"/>
          </a:bodyPr>
          <a:lstStyle/>
          <a:p>
            <a:r>
              <a:rPr lang="ru-RU" sz="4400" dirty="0"/>
              <a:t>Нормализация?</a:t>
            </a:r>
          </a:p>
        </p:txBody>
      </p:sp>
      <p:sp>
        <p:nvSpPr>
          <p:cNvPr id="3" name="Текст 2"/>
          <p:cNvSpPr txBox="1">
            <a:spLocks noGrp="1"/>
          </p:cNvSpPr>
          <p:nvPr>
            <p:ph type="body" idx="4294967295"/>
          </p:nvPr>
        </p:nvSpPr>
        <p:spPr>
          <a:xfrm>
            <a:off x="1653605" y="5591176"/>
            <a:ext cx="9819258" cy="822325"/>
          </a:xfrm>
          <a:prstGeom prst="rect">
            <a:avLst/>
          </a:prstGeom>
        </p:spPr>
        <p:txBody>
          <a:bodyPr wrap="square"/>
          <a:lstStyle/>
          <a:p>
            <a:pPr>
              <a:buClr>
                <a:srgbClr val="CC9900"/>
              </a:buClr>
              <a:buSzPct val="150000"/>
            </a:pPr>
            <a:r>
              <a:rPr lang="ru-RU" sz="2200" dirty="0"/>
              <a:t>Нормализация обязательна, так как средние значения некоторых переменных отличаются в десятки раз.</a:t>
            </a:r>
          </a:p>
        </p:txBody>
      </p:sp>
      <p:pic>
        <p:nvPicPr>
          <p:cNvPr id="8" name="Рисунок 7"/>
          <p:cNvPicPr>
            <a:picLocks noChangeAspect="1"/>
          </p:cNvPicPr>
          <p:nvPr/>
        </p:nvPicPr>
        <p:blipFill>
          <a:blip r:embed="rId3"/>
          <a:stretch>
            <a:fillRect/>
          </a:stretch>
        </p:blipFill>
        <p:spPr>
          <a:xfrm>
            <a:off x="2293330" y="1823526"/>
            <a:ext cx="8171585" cy="3220566"/>
          </a:xfrm>
          <a:prstGeom prst="rect">
            <a:avLst/>
          </a:prstGeom>
        </p:spPr>
      </p:pic>
      <p:sp>
        <p:nvSpPr>
          <p:cNvPr id="10" name="Прямоугольник 9"/>
          <p:cNvSpPr/>
          <p:nvPr/>
        </p:nvSpPr>
        <p:spPr>
          <a:xfrm>
            <a:off x="2112754" y="1309240"/>
            <a:ext cx="8934882" cy="400110"/>
          </a:xfrm>
          <a:prstGeom prst="rect">
            <a:avLst/>
          </a:prstGeom>
        </p:spPr>
        <p:txBody>
          <a:bodyPr wrap="none">
            <a:spAutoFit/>
          </a:bodyPr>
          <a:lstStyle/>
          <a:p>
            <a:r>
              <a:rPr lang="ru-RU" dirty="0">
                <a:solidFill>
                  <a:schemeClr val="accent2">
                    <a:lumMod val="50000"/>
                  </a:schemeClr>
                </a:solidFill>
              </a:rPr>
              <a:t>Исходная таблица потребления продуктов в странах Европы (фрагмент):</a:t>
            </a:r>
            <a:endParaRPr lang="ru-RU" dirty="0"/>
          </a:p>
        </p:txBody>
      </p:sp>
    </p:spTree>
    <p:extLst>
      <p:ext uri="{BB962C8B-B14F-4D97-AF65-F5344CB8AC3E}">
        <p14:creationId xmlns:p14="http://schemas.microsoft.com/office/powerpoint/2010/main" val="161589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Номер слайда 8"/>
          <p:cNvSpPr>
            <a:spLocks noGrp="1"/>
          </p:cNvSpPr>
          <p:nvPr>
            <p:ph type="sldNum" sz="quarter" idx="12"/>
          </p:nvPr>
        </p:nvSpPr>
        <p:spPr>
          <a:xfrm>
            <a:off x="11262757" y="6599870"/>
            <a:ext cx="880746" cy="379409"/>
          </a:xfrm>
        </p:spPr>
        <p:txBody>
          <a:bodyPr/>
          <a:lstStyle/>
          <a:p>
            <a:fld id="{952B6C0E-C4B9-4094-8E59-5B7DF00D5415}" type="slidenum">
              <a:rPr lang="ru-RU" smtClean="0">
                <a:solidFill>
                  <a:schemeClr val="tx1"/>
                </a:solidFill>
              </a:rPr>
              <a:t>76</a:t>
            </a:fld>
            <a:endParaRPr lang="ru-RU" dirty="0">
              <a:solidFill>
                <a:schemeClr val="tx1"/>
              </a:solidFill>
            </a:endParaRPr>
          </a:p>
        </p:txBody>
      </p:sp>
      <p:sp>
        <p:nvSpPr>
          <p:cNvPr id="2" name="Заголовок 1"/>
          <p:cNvSpPr txBox="1">
            <a:spLocks noGrp="1"/>
          </p:cNvSpPr>
          <p:nvPr>
            <p:ph type="title" idx="4294967295"/>
          </p:nvPr>
        </p:nvSpPr>
        <p:spPr>
          <a:xfrm>
            <a:off x="2878138" y="389898"/>
            <a:ext cx="7559675" cy="693737"/>
          </a:xfrm>
          <a:prstGeom prst="rect">
            <a:avLst/>
          </a:prstGeom>
        </p:spPr>
        <p:txBody>
          <a:bodyPr>
            <a:normAutofit fontScale="90000"/>
          </a:bodyPr>
          <a:lstStyle/>
          <a:p>
            <a:r>
              <a:rPr lang="ru-RU" sz="4400" dirty="0"/>
              <a:t>Нормализация</a:t>
            </a:r>
          </a:p>
        </p:txBody>
      </p:sp>
      <p:sp>
        <p:nvSpPr>
          <p:cNvPr id="3" name="Текст 2"/>
          <p:cNvSpPr txBox="1">
            <a:spLocks noGrp="1"/>
          </p:cNvSpPr>
          <p:nvPr>
            <p:ph type="body" idx="4294967295"/>
          </p:nvPr>
        </p:nvSpPr>
        <p:spPr>
          <a:xfrm>
            <a:off x="1438275" y="1187451"/>
            <a:ext cx="10034588" cy="1008063"/>
          </a:xfrm>
          <a:prstGeom prst="rect">
            <a:avLst/>
          </a:prstGeom>
        </p:spPr>
        <p:txBody>
          <a:bodyPr wrap="square"/>
          <a:lstStyle/>
          <a:p>
            <a:pPr>
              <a:buClr>
                <a:srgbClr val="CC9900"/>
              </a:buClr>
              <a:buSzPct val="150000"/>
            </a:pPr>
            <a:r>
              <a:rPr lang="ru-RU" sz="2200" dirty="0"/>
              <a:t>Стандартизация либо нормализация  обязательна, так как средние значения некоторых переменных отличаются в десятки раз.</a:t>
            </a:r>
          </a:p>
          <a:p>
            <a:pPr marL="0" indent="0">
              <a:buClr>
                <a:srgbClr val="CC9900"/>
              </a:buClr>
              <a:buSzPct val="150000"/>
              <a:buNone/>
            </a:pPr>
            <a:endParaRPr lang="en-US" sz="2200" dirty="0"/>
          </a:p>
        </p:txBody>
      </p:sp>
      <p:sp>
        <p:nvSpPr>
          <p:cNvPr id="7" name="Прямоугольник 6"/>
          <p:cNvSpPr/>
          <p:nvPr/>
        </p:nvSpPr>
        <p:spPr>
          <a:xfrm>
            <a:off x="1581597" y="2194993"/>
            <a:ext cx="9891266" cy="4093428"/>
          </a:xfrm>
          <a:prstGeom prst="rect">
            <a:avLst/>
          </a:prstGeom>
        </p:spPr>
        <p:txBody>
          <a:bodyPr wrap="square">
            <a:spAutoFit/>
          </a:bodyPr>
          <a:lstStyle/>
          <a:p>
            <a:r>
              <a:rPr lang="ru-RU" dirty="0">
                <a:solidFill>
                  <a:schemeClr val="accent2">
                    <a:lumMod val="50000"/>
                  </a:schemeClr>
                </a:solidFill>
              </a:rPr>
              <a:t>#   Стандартизировать надо.</a:t>
            </a:r>
          </a:p>
          <a:p>
            <a:r>
              <a:rPr lang="ru-RU" dirty="0">
                <a:solidFill>
                  <a:schemeClr val="accent2">
                    <a:lumMod val="50000"/>
                  </a:schemeClr>
                </a:solidFill>
              </a:rPr>
              <a:t>#protein.02 &lt;- </a:t>
            </a:r>
            <a:r>
              <a:rPr lang="ru-RU" dirty="0" err="1">
                <a:solidFill>
                  <a:schemeClr val="accent2">
                    <a:lumMod val="50000"/>
                  </a:schemeClr>
                </a:solidFill>
              </a:rPr>
              <a:t>scale</a:t>
            </a:r>
            <a:r>
              <a:rPr lang="ru-RU" dirty="0">
                <a:solidFill>
                  <a:schemeClr val="accent2">
                    <a:lumMod val="50000"/>
                  </a:schemeClr>
                </a:solidFill>
              </a:rPr>
              <a:t>(protein.01[,2:10], </a:t>
            </a:r>
            <a:r>
              <a:rPr lang="ru-RU" dirty="0" err="1">
                <a:solidFill>
                  <a:schemeClr val="accent2">
                    <a:lumMod val="50000"/>
                  </a:schemeClr>
                </a:solidFill>
              </a:rPr>
              <a:t>center</a:t>
            </a:r>
            <a:r>
              <a:rPr lang="ru-RU" dirty="0">
                <a:solidFill>
                  <a:schemeClr val="accent2">
                    <a:lumMod val="50000"/>
                  </a:schemeClr>
                </a:solidFill>
              </a:rPr>
              <a:t> = TRUE, </a:t>
            </a:r>
            <a:r>
              <a:rPr lang="ru-RU" dirty="0" err="1">
                <a:solidFill>
                  <a:schemeClr val="accent2">
                    <a:lumMod val="50000"/>
                  </a:schemeClr>
                </a:solidFill>
              </a:rPr>
              <a:t>scale</a:t>
            </a:r>
            <a:r>
              <a:rPr lang="ru-RU" dirty="0">
                <a:solidFill>
                  <a:schemeClr val="accent2">
                    <a:lumMod val="50000"/>
                  </a:schemeClr>
                </a:solidFill>
              </a:rPr>
              <a:t> = TRUE)</a:t>
            </a:r>
          </a:p>
          <a:p>
            <a:r>
              <a:rPr lang="ru-RU" dirty="0">
                <a:solidFill>
                  <a:schemeClr val="accent2">
                    <a:lumMod val="50000"/>
                  </a:schemeClr>
                </a:solidFill>
              </a:rPr>
              <a:t>#   Вариант 1 - к минимуму 0 и максимуму 1</a:t>
            </a:r>
          </a:p>
          <a:p>
            <a:endParaRPr lang="ru-RU" dirty="0">
              <a:solidFill>
                <a:schemeClr val="accent2">
                  <a:lumMod val="50000"/>
                </a:schemeClr>
              </a:solidFill>
            </a:endParaRPr>
          </a:p>
          <a:p>
            <a:r>
              <a:rPr lang="ru-RU" dirty="0">
                <a:solidFill>
                  <a:schemeClr val="accent2">
                    <a:lumMod val="50000"/>
                  </a:schemeClr>
                </a:solidFill>
              </a:rPr>
              <a:t>#   Вариант 2 - к минимуму  и максимуму по </a:t>
            </a:r>
            <a:r>
              <a:rPr lang="ru-RU" dirty="0" err="1">
                <a:solidFill>
                  <a:schemeClr val="accent2">
                    <a:lumMod val="50000"/>
                  </a:schemeClr>
                </a:solidFill>
              </a:rPr>
              <a:t>датафрейму</a:t>
            </a:r>
            <a:r>
              <a:rPr lang="ru-RU" dirty="0">
                <a:solidFill>
                  <a:schemeClr val="accent2">
                    <a:lumMod val="50000"/>
                  </a:schemeClr>
                </a:solidFill>
              </a:rPr>
              <a:t>:</a:t>
            </a:r>
          </a:p>
          <a:p>
            <a:r>
              <a:rPr lang="ru-RU" dirty="0"/>
              <a:t>protein.02&lt;-protein.01[,-1] </a:t>
            </a:r>
            <a:r>
              <a:rPr lang="en-US" dirty="0"/>
              <a:t>  </a:t>
            </a:r>
            <a:r>
              <a:rPr lang="ru-RU" dirty="0"/>
              <a:t>#Исключим колонку "Страна"</a:t>
            </a:r>
          </a:p>
          <a:p>
            <a:r>
              <a:rPr lang="ru-RU" dirty="0" err="1"/>
              <a:t>maxs</a:t>
            </a:r>
            <a:r>
              <a:rPr lang="ru-RU" dirty="0"/>
              <a:t> &lt;- </a:t>
            </a:r>
            <a:r>
              <a:rPr lang="ru-RU" dirty="0" err="1"/>
              <a:t>apply</a:t>
            </a:r>
            <a:r>
              <a:rPr lang="ru-RU" dirty="0"/>
              <a:t>(protein.02, 2, </a:t>
            </a:r>
            <a:r>
              <a:rPr lang="ru-RU" dirty="0" err="1"/>
              <a:t>max</a:t>
            </a:r>
            <a:r>
              <a:rPr lang="ru-RU" dirty="0"/>
              <a:t>)</a:t>
            </a:r>
          </a:p>
          <a:p>
            <a:r>
              <a:rPr lang="ru-RU" dirty="0" err="1"/>
              <a:t>mins</a:t>
            </a:r>
            <a:r>
              <a:rPr lang="ru-RU" dirty="0"/>
              <a:t> &lt;- </a:t>
            </a:r>
            <a:r>
              <a:rPr lang="ru-RU" dirty="0" err="1"/>
              <a:t>apply</a:t>
            </a:r>
            <a:r>
              <a:rPr lang="ru-RU" dirty="0"/>
              <a:t>(protein.02, 2, </a:t>
            </a:r>
            <a:r>
              <a:rPr lang="ru-RU" dirty="0" err="1"/>
              <a:t>min</a:t>
            </a:r>
            <a:r>
              <a:rPr lang="ru-RU" dirty="0"/>
              <a:t>)</a:t>
            </a:r>
          </a:p>
          <a:p>
            <a:r>
              <a:rPr lang="ru-RU" dirty="0"/>
              <a:t>protein.02 &lt;- </a:t>
            </a:r>
            <a:r>
              <a:rPr lang="ru-RU" dirty="0" err="1"/>
              <a:t>scale</a:t>
            </a:r>
            <a:r>
              <a:rPr lang="ru-RU" dirty="0"/>
              <a:t>(protein.02, </a:t>
            </a:r>
            <a:r>
              <a:rPr lang="ru-RU" dirty="0" err="1"/>
              <a:t>center</a:t>
            </a:r>
            <a:r>
              <a:rPr lang="ru-RU" dirty="0"/>
              <a:t> = </a:t>
            </a:r>
            <a:r>
              <a:rPr lang="ru-RU" dirty="0" err="1"/>
              <a:t>mins</a:t>
            </a:r>
            <a:r>
              <a:rPr lang="ru-RU" dirty="0"/>
              <a:t>, </a:t>
            </a:r>
            <a:r>
              <a:rPr lang="ru-RU" dirty="0" err="1"/>
              <a:t>scale</a:t>
            </a:r>
            <a:r>
              <a:rPr lang="ru-RU" dirty="0"/>
              <a:t> = </a:t>
            </a:r>
            <a:r>
              <a:rPr lang="ru-RU" dirty="0" err="1"/>
              <a:t>maxs</a:t>
            </a:r>
            <a:r>
              <a:rPr lang="ru-RU" dirty="0"/>
              <a:t> - </a:t>
            </a:r>
            <a:r>
              <a:rPr lang="ru-RU" dirty="0" err="1"/>
              <a:t>mins</a:t>
            </a:r>
            <a:r>
              <a:rPr lang="ru-RU" dirty="0"/>
              <a:t>)</a:t>
            </a:r>
          </a:p>
          <a:p>
            <a:endParaRPr lang="ru-RU" dirty="0"/>
          </a:p>
          <a:p>
            <a:r>
              <a:rPr lang="ru-RU" dirty="0">
                <a:solidFill>
                  <a:schemeClr val="accent2">
                    <a:lumMod val="50000"/>
                  </a:schemeClr>
                </a:solidFill>
              </a:rPr>
              <a:t>#Колонку "Страна" лучше перенести в названия</a:t>
            </a:r>
          </a:p>
          <a:p>
            <a:r>
              <a:rPr lang="en-US" dirty="0" err="1"/>
              <a:t>rownames</a:t>
            </a:r>
            <a:r>
              <a:rPr lang="en-US" dirty="0"/>
              <a:t>(protein.02)&lt;-protein.02[,1]</a:t>
            </a:r>
            <a:endParaRPr lang="ru-RU" dirty="0"/>
          </a:p>
          <a:p>
            <a:r>
              <a:rPr lang="en-US" dirty="0"/>
              <a:t>protein.0</a:t>
            </a:r>
            <a:r>
              <a:rPr lang="ru-RU" dirty="0"/>
              <a:t>2</a:t>
            </a:r>
            <a:r>
              <a:rPr lang="en-US" dirty="0"/>
              <a:t> &lt;- protein.02[,-1] # </a:t>
            </a:r>
            <a:r>
              <a:rPr lang="ru-RU" dirty="0"/>
              <a:t>убираем названия</a:t>
            </a:r>
          </a:p>
        </p:txBody>
      </p:sp>
    </p:spTree>
    <p:extLst>
      <p:ext uri="{BB962C8B-B14F-4D97-AF65-F5344CB8AC3E}">
        <p14:creationId xmlns:p14="http://schemas.microsoft.com/office/powerpoint/2010/main" val="337665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0771020"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Номер слайда 8"/>
          <p:cNvSpPr>
            <a:spLocks noGrp="1"/>
          </p:cNvSpPr>
          <p:nvPr>
            <p:ph type="sldNum" sz="quarter" idx="12"/>
          </p:nvPr>
        </p:nvSpPr>
        <p:spPr>
          <a:xfrm>
            <a:off x="11472863" y="6541296"/>
            <a:ext cx="736433" cy="379409"/>
          </a:xfrm>
        </p:spPr>
        <p:txBody>
          <a:bodyPr/>
          <a:lstStyle/>
          <a:p>
            <a:fld id="{952B6C0E-C4B9-4094-8E59-5B7DF00D5415}" type="slidenum">
              <a:rPr lang="ru-RU" smtClean="0">
                <a:solidFill>
                  <a:schemeClr val="tx1"/>
                </a:solidFill>
              </a:rPr>
              <a:t>77</a:t>
            </a:fld>
            <a:endParaRPr lang="ru-RU" dirty="0">
              <a:solidFill>
                <a:schemeClr val="tx1"/>
              </a:solidFill>
            </a:endParaRPr>
          </a:p>
        </p:txBody>
      </p:sp>
      <p:sp>
        <p:nvSpPr>
          <p:cNvPr id="2" name="Заголовок 1"/>
          <p:cNvSpPr txBox="1">
            <a:spLocks noGrp="1"/>
          </p:cNvSpPr>
          <p:nvPr>
            <p:ph type="title" idx="4294967295"/>
          </p:nvPr>
        </p:nvSpPr>
        <p:spPr>
          <a:xfrm>
            <a:off x="3006190" y="335695"/>
            <a:ext cx="7559675" cy="693738"/>
          </a:xfrm>
          <a:prstGeom prst="rect">
            <a:avLst/>
          </a:prstGeom>
        </p:spPr>
        <p:txBody>
          <a:bodyPr>
            <a:normAutofit fontScale="90000"/>
          </a:bodyPr>
          <a:lstStyle/>
          <a:p>
            <a:r>
              <a:rPr lang="ru-RU" sz="4400" dirty="0"/>
              <a:t>Нормализация</a:t>
            </a:r>
          </a:p>
        </p:txBody>
      </p:sp>
      <p:sp>
        <p:nvSpPr>
          <p:cNvPr id="10" name="Прямоугольник 9"/>
          <p:cNvSpPr/>
          <p:nvPr/>
        </p:nvSpPr>
        <p:spPr>
          <a:xfrm>
            <a:off x="1899113" y="1098291"/>
            <a:ext cx="4886915" cy="400110"/>
          </a:xfrm>
          <a:prstGeom prst="rect">
            <a:avLst/>
          </a:prstGeom>
        </p:spPr>
        <p:txBody>
          <a:bodyPr wrap="none">
            <a:spAutoFit/>
          </a:bodyPr>
          <a:lstStyle/>
          <a:p>
            <a:r>
              <a:rPr lang="ru-RU" dirty="0">
                <a:solidFill>
                  <a:schemeClr val="accent2">
                    <a:lumMod val="50000"/>
                  </a:schemeClr>
                </a:solidFill>
              </a:rPr>
              <a:t>Нормализованная таблица (фрагмент):</a:t>
            </a:r>
            <a:endParaRPr lang="ru-RU" dirty="0"/>
          </a:p>
        </p:txBody>
      </p:sp>
      <p:pic>
        <p:nvPicPr>
          <p:cNvPr id="8" name="Рисунок 7">
            <a:extLst>
              <a:ext uri="{FF2B5EF4-FFF2-40B4-BE49-F238E27FC236}">
                <a16:creationId xmlns:a16="http://schemas.microsoft.com/office/drawing/2014/main" id="{26AA7A3F-C922-41ED-B1DE-DDAF34D526C9}"/>
              </a:ext>
            </a:extLst>
          </p:cNvPr>
          <p:cNvPicPr>
            <a:picLocks noChangeAspect="1"/>
          </p:cNvPicPr>
          <p:nvPr/>
        </p:nvPicPr>
        <p:blipFill>
          <a:blip r:embed="rId3"/>
          <a:stretch>
            <a:fillRect/>
          </a:stretch>
        </p:blipFill>
        <p:spPr>
          <a:xfrm>
            <a:off x="1752773" y="1659290"/>
            <a:ext cx="9206217" cy="4628896"/>
          </a:xfrm>
          <a:prstGeom prst="rect">
            <a:avLst/>
          </a:prstGeom>
        </p:spPr>
      </p:pic>
    </p:spTree>
    <p:extLst>
      <p:ext uri="{BB962C8B-B14F-4D97-AF65-F5344CB8AC3E}">
        <p14:creationId xmlns:p14="http://schemas.microsoft.com/office/powerpoint/2010/main" val="285291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Номер слайда 6"/>
          <p:cNvSpPr>
            <a:spLocks noGrp="1"/>
          </p:cNvSpPr>
          <p:nvPr>
            <p:ph type="sldNum" sz="quarter" idx="12"/>
          </p:nvPr>
        </p:nvSpPr>
        <p:spPr>
          <a:xfrm>
            <a:off x="11569616" y="6567793"/>
            <a:ext cx="712285" cy="379409"/>
          </a:xfrm>
        </p:spPr>
        <p:txBody>
          <a:bodyPr/>
          <a:lstStyle/>
          <a:p>
            <a:fld id="{952B6C0E-C4B9-4094-8E59-5B7DF00D5415}" type="slidenum">
              <a:rPr lang="ru-RU" smtClean="0">
                <a:solidFill>
                  <a:schemeClr val="tx1"/>
                </a:solidFill>
              </a:rPr>
              <a:t>78</a:t>
            </a:fld>
            <a:endParaRPr lang="ru-RU" dirty="0">
              <a:solidFill>
                <a:schemeClr val="tx1"/>
              </a:solidFill>
            </a:endParaRPr>
          </a:p>
        </p:txBody>
      </p:sp>
      <p:sp>
        <p:nvSpPr>
          <p:cNvPr id="2" name="Заголовок 1"/>
          <p:cNvSpPr txBox="1">
            <a:spLocks noGrp="1"/>
          </p:cNvSpPr>
          <p:nvPr>
            <p:ph type="title" idx="4294967295"/>
          </p:nvPr>
        </p:nvSpPr>
        <p:spPr>
          <a:xfrm>
            <a:off x="2661717" y="336354"/>
            <a:ext cx="7559675" cy="693738"/>
          </a:xfrm>
          <a:prstGeom prst="rect">
            <a:avLst/>
          </a:prstGeom>
        </p:spPr>
        <p:txBody>
          <a:bodyPr>
            <a:normAutofit fontScale="90000"/>
          </a:bodyPr>
          <a:lstStyle/>
          <a:p>
            <a:r>
              <a:rPr lang="ru-RU" sz="4400" dirty="0"/>
              <a:t>Выделение кластеров</a:t>
            </a:r>
          </a:p>
        </p:txBody>
      </p:sp>
      <p:sp>
        <p:nvSpPr>
          <p:cNvPr id="8" name="Прямоугольник 7"/>
          <p:cNvSpPr/>
          <p:nvPr/>
        </p:nvSpPr>
        <p:spPr>
          <a:xfrm>
            <a:off x="1407576" y="1196272"/>
            <a:ext cx="10518182" cy="400110"/>
          </a:xfrm>
          <a:prstGeom prst="rect">
            <a:avLst/>
          </a:prstGeom>
        </p:spPr>
        <p:txBody>
          <a:bodyPr wrap="square">
            <a:spAutoFit/>
          </a:bodyPr>
          <a:lstStyle/>
          <a:p>
            <a:r>
              <a:rPr lang="ru-RU" dirty="0">
                <a:solidFill>
                  <a:schemeClr val="accent2">
                    <a:lumMod val="50000"/>
                  </a:schemeClr>
                </a:solidFill>
              </a:rPr>
              <a:t>#  предварительная оценка числа кластеров – 4 метода (подробно описаны в ЛР 5.1.)</a:t>
            </a:r>
          </a:p>
        </p:txBody>
      </p:sp>
      <p:pic>
        <p:nvPicPr>
          <p:cNvPr id="11" name="Рисунок 10">
            <a:extLst>
              <a:ext uri="{FF2B5EF4-FFF2-40B4-BE49-F238E27FC236}">
                <a16:creationId xmlns:a16="http://schemas.microsoft.com/office/drawing/2014/main" id="{B2A03083-D70B-4C14-A8AC-84F053D489C8}"/>
              </a:ext>
            </a:extLst>
          </p:cNvPr>
          <p:cNvPicPr>
            <a:picLocks noChangeAspect="1"/>
          </p:cNvPicPr>
          <p:nvPr/>
        </p:nvPicPr>
        <p:blipFill>
          <a:blip r:embed="rId3"/>
          <a:stretch>
            <a:fillRect/>
          </a:stretch>
        </p:blipFill>
        <p:spPr>
          <a:xfrm>
            <a:off x="961292" y="2141569"/>
            <a:ext cx="3149948" cy="2102009"/>
          </a:xfrm>
          <a:prstGeom prst="rect">
            <a:avLst/>
          </a:prstGeom>
        </p:spPr>
      </p:pic>
      <p:sp>
        <p:nvSpPr>
          <p:cNvPr id="13" name="TextBox 12">
            <a:extLst>
              <a:ext uri="{FF2B5EF4-FFF2-40B4-BE49-F238E27FC236}">
                <a16:creationId xmlns:a16="http://schemas.microsoft.com/office/drawing/2014/main" id="{04674F3F-6591-4F13-857B-1C0695875857}"/>
              </a:ext>
            </a:extLst>
          </p:cNvPr>
          <p:cNvSpPr txBox="1"/>
          <p:nvPr/>
        </p:nvSpPr>
        <p:spPr>
          <a:xfrm>
            <a:off x="2055407" y="4398121"/>
            <a:ext cx="2209853" cy="369332"/>
          </a:xfrm>
          <a:prstGeom prst="rect">
            <a:avLst/>
          </a:prstGeom>
          <a:noFill/>
        </p:spPr>
        <p:txBody>
          <a:bodyPr wrap="square">
            <a:spAutoFit/>
          </a:bodyPr>
          <a:lstStyle/>
          <a:p>
            <a:r>
              <a:rPr lang="ru-RU" sz="1800" dirty="0"/>
              <a:t>Метод Локтя </a:t>
            </a:r>
          </a:p>
        </p:txBody>
      </p:sp>
      <p:pic>
        <p:nvPicPr>
          <p:cNvPr id="15" name="Рисунок 14">
            <a:extLst>
              <a:ext uri="{FF2B5EF4-FFF2-40B4-BE49-F238E27FC236}">
                <a16:creationId xmlns:a16="http://schemas.microsoft.com/office/drawing/2014/main" id="{35FF157A-98B7-4DE8-AFB1-C25C703466FB}"/>
              </a:ext>
            </a:extLst>
          </p:cNvPr>
          <p:cNvPicPr>
            <a:picLocks noChangeAspect="1"/>
          </p:cNvPicPr>
          <p:nvPr/>
        </p:nvPicPr>
        <p:blipFill>
          <a:blip r:embed="rId4"/>
          <a:stretch>
            <a:fillRect/>
          </a:stretch>
        </p:blipFill>
        <p:spPr>
          <a:xfrm>
            <a:off x="4238039" y="2141568"/>
            <a:ext cx="3050915" cy="2102009"/>
          </a:xfrm>
          <a:prstGeom prst="rect">
            <a:avLst/>
          </a:prstGeom>
        </p:spPr>
      </p:pic>
      <p:sp>
        <p:nvSpPr>
          <p:cNvPr id="16" name="TextBox 15">
            <a:extLst>
              <a:ext uri="{FF2B5EF4-FFF2-40B4-BE49-F238E27FC236}">
                <a16:creationId xmlns:a16="http://schemas.microsoft.com/office/drawing/2014/main" id="{C75AA48D-C508-4278-9539-9AA48867DFB8}"/>
              </a:ext>
            </a:extLst>
          </p:cNvPr>
          <p:cNvSpPr txBox="1"/>
          <p:nvPr/>
        </p:nvSpPr>
        <p:spPr>
          <a:xfrm>
            <a:off x="4591681" y="4361083"/>
            <a:ext cx="3559235" cy="369332"/>
          </a:xfrm>
          <a:prstGeom prst="rect">
            <a:avLst/>
          </a:prstGeom>
          <a:noFill/>
        </p:spPr>
        <p:txBody>
          <a:bodyPr wrap="square">
            <a:spAutoFit/>
          </a:bodyPr>
          <a:lstStyle/>
          <a:p>
            <a:r>
              <a:rPr lang="ru-RU" sz="1800" dirty="0"/>
              <a:t>Метод Статистики разрывов</a:t>
            </a:r>
          </a:p>
        </p:txBody>
      </p:sp>
      <p:sp>
        <p:nvSpPr>
          <p:cNvPr id="17" name="TextBox 16">
            <a:extLst>
              <a:ext uri="{FF2B5EF4-FFF2-40B4-BE49-F238E27FC236}">
                <a16:creationId xmlns:a16="http://schemas.microsoft.com/office/drawing/2014/main" id="{DC1D3730-0310-4307-A264-AD18E36E37FD}"/>
              </a:ext>
            </a:extLst>
          </p:cNvPr>
          <p:cNvSpPr txBox="1"/>
          <p:nvPr/>
        </p:nvSpPr>
        <p:spPr>
          <a:xfrm>
            <a:off x="8876172" y="4394328"/>
            <a:ext cx="2209852" cy="369332"/>
          </a:xfrm>
          <a:prstGeom prst="rect">
            <a:avLst/>
          </a:prstGeom>
          <a:noFill/>
        </p:spPr>
        <p:txBody>
          <a:bodyPr wrap="square">
            <a:spAutoFit/>
          </a:bodyPr>
          <a:lstStyle/>
          <a:p>
            <a:r>
              <a:rPr lang="ru-RU" sz="1800" dirty="0"/>
              <a:t>Метод Силуэта</a:t>
            </a:r>
          </a:p>
        </p:txBody>
      </p:sp>
      <p:pic>
        <p:nvPicPr>
          <p:cNvPr id="19" name="Рисунок 18">
            <a:extLst>
              <a:ext uri="{FF2B5EF4-FFF2-40B4-BE49-F238E27FC236}">
                <a16:creationId xmlns:a16="http://schemas.microsoft.com/office/drawing/2014/main" id="{30A85467-1557-430A-AFE2-07E5B85EF30E}"/>
              </a:ext>
            </a:extLst>
          </p:cNvPr>
          <p:cNvPicPr>
            <a:picLocks noChangeAspect="1"/>
          </p:cNvPicPr>
          <p:nvPr/>
        </p:nvPicPr>
        <p:blipFill>
          <a:blip r:embed="rId5"/>
          <a:stretch>
            <a:fillRect/>
          </a:stretch>
        </p:blipFill>
        <p:spPr>
          <a:xfrm>
            <a:off x="8375612" y="2231900"/>
            <a:ext cx="2740438" cy="2079655"/>
          </a:xfrm>
          <a:prstGeom prst="rect">
            <a:avLst/>
          </a:prstGeom>
        </p:spPr>
      </p:pic>
      <p:sp>
        <p:nvSpPr>
          <p:cNvPr id="22" name="TextBox 21">
            <a:extLst>
              <a:ext uri="{FF2B5EF4-FFF2-40B4-BE49-F238E27FC236}">
                <a16:creationId xmlns:a16="http://schemas.microsoft.com/office/drawing/2014/main" id="{27E4C0F0-F710-4432-BF47-E120AEE834C7}"/>
              </a:ext>
            </a:extLst>
          </p:cNvPr>
          <p:cNvSpPr txBox="1"/>
          <p:nvPr/>
        </p:nvSpPr>
        <p:spPr>
          <a:xfrm>
            <a:off x="1086012" y="5889923"/>
            <a:ext cx="2440219" cy="830997"/>
          </a:xfrm>
          <a:prstGeom prst="rect">
            <a:avLst/>
          </a:prstGeom>
          <a:noFill/>
        </p:spPr>
        <p:txBody>
          <a:bodyPr wrap="square">
            <a:spAutoFit/>
          </a:bodyPr>
          <a:lstStyle/>
          <a:p>
            <a:r>
              <a:rPr lang="ru-RU" sz="1600" dirty="0"/>
              <a:t>Алгоритм на основе консенсуса</a:t>
            </a:r>
            <a:r>
              <a:rPr lang="en-US" sz="1600" dirty="0"/>
              <a:t> </a:t>
            </a:r>
            <a:r>
              <a:rPr lang="ru-RU" sz="1600" dirty="0"/>
              <a:t>обобщает несколько методов</a:t>
            </a:r>
          </a:p>
        </p:txBody>
      </p:sp>
      <p:cxnSp>
        <p:nvCxnSpPr>
          <p:cNvPr id="6" name="Прямая соединительная линия 5">
            <a:extLst>
              <a:ext uri="{FF2B5EF4-FFF2-40B4-BE49-F238E27FC236}">
                <a16:creationId xmlns:a16="http://schemas.microsoft.com/office/drawing/2014/main" id="{796234B0-1ADC-441C-8208-66BCE4941AC0}"/>
              </a:ext>
            </a:extLst>
          </p:cNvPr>
          <p:cNvCxnSpPr/>
          <p:nvPr/>
        </p:nvCxnSpPr>
        <p:spPr>
          <a:xfrm>
            <a:off x="1957690" y="3131096"/>
            <a:ext cx="0" cy="891769"/>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8" name="Прямая соединительная линия 17">
            <a:extLst>
              <a:ext uri="{FF2B5EF4-FFF2-40B4-BE49-F238E27FC236}">
                <a16:creationId xmlns:a16="http://schemas.microsoft.com/office/drawing/2014/main" id="{F4283716-A1F1-4410-9822-4D8154964458}"/>
              </a:ext>
            </a:extLst>
          </p:cNvPr>
          <p:cNvCxnSpPr>
            <a:cxnSpLocks/>
          </p:cNvCxnSpPr>
          <p:nvPr/>
        </p:nvCxnSpPr>
        <p:spPr>
          <a:xfrm>
            <a:off x="2517701" y="3422513"/>
            <a:ext cx="0" cy="503515"/>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7F68D16-0AFC-4CC0-9053-5D2A212F32D4}"/>
              </a:ext>
            </a:extLst>
          </p:cNvPr>
          <p:cNvSpPr txBox="1"/>
          <p:nvPr/>
        </p:nvSpPr>
        <p:spPr>
          <a:xfrm>
            <a:off x="1918603" y="2378649"/>
            <a:ext cx="1643832" cy="769441"/>
          </a:xfrm>
          <a:prstGeom prst="rect">
            <a:avLst/>
          </a:prstGeom>
          <a:noFill/>
        </p:spPr>
        <p:txBody>
          <a:bodyPr wrap="square">
            <a:spAutoFit/>
          </a:bodyPr>
          <a:lstStyle/>
          <a:p>
            <a:r>
              <a:rPr lang="ru-RU" sz="1100" dirty="0"/>
              <a:t>Метод основан на минимизации </a:t>
            </a:r>
            <a:r>
              <a:rPr kumimoji="0" lang="ru-RU" altLang="ru-RU" sz="1100" b="0" i="0" u="none" strike="noStrike" cap="none" normalizeH="0" baseline="0" dirty="0">
                <a:ln>
                  <a:noFill/>
                </a:ln>
                <a:solidFill>
                  <a:schemeClr val="tx1"/>
                </a:solidFill>
                <a:effectLst/>
              </a:rPr>
              <a:t>внутригруппового разброса </a:t>
            </a:r>
            <a:r>
              <a:rPr kumimoji="0" lang="ru-RU" altLang="ru-RU" sz="1100" b="0" i="1" u="none" strike="noStrike" cap="none" normalizeH="0" baseline="0" dirty="0" err="1">
                <a:ln>
                  <a:noFill/>
                </a:ln>
                <a:solidFill>
                  <a:schemeClr val="tx1"/>
                </a:solidFill>
                <a:effectLst/>
                <a:latin typeface="MathJax_Math"/>
              </a:rPr>
              <a:t>W</a:t>
            </a:r>
            <a:r>
              <a:rPr kumimoji="0" lang="ru-RU" altLang="ru-RU" sz="1100" b="0" i="1" u="none" strike="noStrike" cap="none" normalizeH="0" baseline="-25000" dirty="0" err="1">
                <a:ln>
                  <a:noFill/>
                </a:ln>
                <a:solidFill>
                  <a:schemeClr val="tx1"/>
                </a:solidFill>
                <a:effectLst/>
                <a:latin typeface="MathJax_Math"/>
              </a:rPr>
              <a:t>total</a:t>
            </a:r>
            <a:r>
              <a:rPr kumimoji="0" lang="ru-RU" altLang="ru-RU" sz="1100" b="0" i="0" u="none" strike="noStrike" cap="none" normalizeH="0" baseline="0" dirty="0">
                <a:ln>
                  <a:noFill/>
                </a:ln>
                <a:solidFill>
                  <a:schemeClr val="tx1"/>
                </a:solidFill>
                <a:effectLst/>
              </a:rPr>
              <a:t> </a:t>
            </a:r>
          </a:p>
        </p:txBody>
      </p:sp>
      <p:sp>
        <p:nvSpPr>
          <p:cNvPr id="20" name="Надпись 2">
            <a:extLst>
              <a:ext uri="{FF2B5EF4-FFF2-40B4-BE49-F238E27FC236}">
                <a16:creationId xmlns:a16="http://schemas.microsoft.com/office/drawing/2014/main" id="{804E47DE-5B37-484A-ACAB-52EAF8045E71}"/>
              </a:ext>
            </a:extLst>
          </p:cNvPr>
          <p:cNvSpPr txBox="1">
            <a:spLocks noChangeArrowheads="1"/>
          </p:cNvSpPr>
          <p:nvPr/>
        </p:nvSpPr>
        <p:spPr bwMode="auto">
          <a:xfrm>
            <a:off x="10015714" y="2053209"/>
            <a:ext cx="2110540" cy="781050"/>
          </a:xfrm>
          <a:prstGeom prst="rect">
            <a:avLst/>
          </a:prstGeom>
          <a:solidFill>
            <a:srgbClr val="FFFFFF">
              <a:alpha val="14902"/>
            </a:srgbClr>
          </a:solidFill>
          <a:ln w="9525">
            <a:solidFill>
              <a:schemeClr val="bg1"/>
            </a:solidFill>
            <a:miter lim="800000"/>
            <a:headEnd/>
            <a:tailEnd/>
          </a:ln>
        </p:spPr>
        <p:txBody>
          <a:bodyPr rot="0" vert="horz" wrap="square" lIns="91440" tIns="45720" rIns="91440" bIns="45720" anchor="t" anchorCtr="0">
            <a:noAutofit/>
          </a:bodyPr>
          <a:lstStyle/>
          <a:p>
            <a:r>
              <a:rPr lang="ru-RU" sz="1200" dirty="0">
                <a:effectLst/>
                <a:latin typeface="Times New Roman" panose="02020603050405020304" pitchFamily="18" charset="0"/>
                <a:ea typeface="Times New Roman" panose="02020603050405020304" pitchFamily="18" charset="0"/>
              </a:rPr>
              <a:t>Метод Силуэта для нашего примера предполагает 2 кластера – чем  ближе к 1, тем лучше кластеризация.</a:t>
            </a:r>
          </a:p>
        </p:txBody>
      </p:sp>
      <p:sp>
        <p:nvSpPr>
          <p:cNvPr id="25" name="TextBox 24">
            <a:extLst>
              <a:ext uri="{FF2B5EF4-FFF2-40B4-BE49-F238E27FC236}">
                <a16:creationId xmlns:a16="http://schemas.microsoft.com/office/drawing/2014/main" id="{26A247AB-C46E-4835-AE6E-980F2F6D3DEE}"/>
              </a:ext>
            </a:extLst>
          </p:cNvPr>
          <p:cNvSpPr txBox="1"/>
          <p:nvPr/>
        </p:nvSpPr>
        <p:spPr>
          <a:xfrm>
            <a:off x="7125490" y="2231900"/>
            <a:ext cx="1176823" cy="1427630"/>
          </a:xfrm>
          <a:prstGeom prst="rect">
            <a:avLst/>
          </a:prstGeom>
          <a:solidFill>
            <a:srgbClr val="FFFFFF">
              <a:alpha val="18039"/>
            </a:srgbClr>
          </a:solidFill>
          <a:ln w="9525">
            <a:solidFill>
              <a:schemeClr val="bg1"/>
            </a:solidFill>
            <a:miter lim="800000"/>
            <a:headEnd/>
            <a:tailEnd/>
          </a:ln>
        </p:spPr>
        <p:txBody>
          <a:bodyPr rot="0" vert="horz" wrap="square" lIns="91440" tIns="45720" rIns="91440" bIns="45720" anchor="t" anchorCtr="0">
            <a:noAutofit/>
          </a:bodyPr>
          <a:lstStyle>
            <a:defPPr>
              <a:defRPr lang="ru-RU"/>
            </a:defPPr>
            <a:lvl1pPr>
              <a:defRPr sz="1200">
                <a:effectLst/>
                <a:latin typeface="Times New Roman" panose="02020603050405020304" pitchFamily="18" charset="0"/>
                <a:ea typeface="Times New Roman" panose="02020603050405020304" pitchFamily="18" charset="0"/>
              </a:defRPr>
            </a:lvl1pPr>
          </a:lstStyle>
          <a:p>
            <a:r>
              <a:rPr lang="ru-RU" dirty="0"/>
              <a:t>Ищем </a:t>
            </a:r>
            <a:r>
              <a:rPr lang="ru-RU" dirty="0" err="1"/>
              <a:t>k</a:t>
            </a:r>
            <a:r>
              <a:rPr lang="ru-RU" baseline="-25000" dirty="0" err="1"/>
              <a:t>k</a:t>
            </a:r>
            <a:r>
              <a:rPr lang="ru-RU" dirty="0"/>
              <a:t>, где Gap(k) </a:t>
            </a:r>
          </a:p>
          <a:p>
            <a:r>
              <a:rPr lang="ru-RU" dirty="0"/>
              <a:t>достигает максимума или начинает снижаться. </a:t>
            </a:r>
          </a:p>
        </p:txBody>
      </p:sp>
      <p:sp>
        <p:nvSpPr>
          <p:cNvPr id="23" name="TextBox 22">
            <a:extLst>
              <a:ext uri="{FF2B5EF4-FFF2-40B4-BE49-F238E27FC236}">
                <a16:creationId xmlns:a16="http://schemas.microsoft.com/office/drawing/2014/main" id="{DCAB49E3-2B9B-4486-BF7A-BA1ECB914E2E}"/>
              </a:ext>
            </a:extLst>
          </p:cNvPr>
          <p:cNvSpPr txBox="1"/>
          <p:nvPr/>
        </p:nvSpPr>
        <p:spPr>
          <a:xfrm>
            <a:off x="3878494" y="5220274"/>
            <a:ext cx="2752338" cy="1569660"/>
          </a:xfrm>
          <a:prstGeom prst="rect">
            <a:avLst/>
          </a:prstGeom>
          <a:noFill/>
        </p:spPr>
        <p:txBody>
          <a:bodyPr wrap="square">
            <a:spAutoFit/>
          </a:bodyPr>
          <a:lstStyle/>
          <a:p>
            <a:r>
              <a:rPr lang="ru-RU" sz="1600" dirty="0"/>
              <a:t>В нашем случае ни один метод не дал приемлемого значения: пищевые предпочтения могут совпадать, кластеризация этого не учитывает.</a:t>
            </a:r>
          </a:p>
        </p:txBody>
      </p:sp>
      <p:pic>
        <p:nvPicPr>
          <p:cNvPr id="21" name="Рисунок 20">
            <a:extLst>
              <a:ext uri="{FF2B5EF4-FFF2-40B4-BE49-F238E27FC236}">
                <a16:creationId xmlns:a16="http://schemas.microsoft.com/office/drawing/2014/main" id="{EB801421-0DD4-49B4-B8D0-CCBDF2D548FD}"/>
              </a:ext>
            </a:extLst>
          </p:cNvPr>
          <p:cNvPicPr>
            <a:picLocks noChangeAspect="1"/>
          </p:cNvPicPr>
          <p:nvPr/>
        </p:nvPicPr>
        <p:blipFill>
          <a:blip r:embed="rId6"/>
          <a:stretch>
            <a:fillRect/>
          </a:stretch>
        </p:blipFill>
        <p:spPr>
          <a:xfrm>
            <a:off x="3548530" y="4882596"/>
            <a:ext cx="3050915" cy="2094840"/>
          </a:xfrm>
          <a:prstGeom prst="rect">
            <a:avLst/>
          </a:prstGeom>
        </p:spPr>
      </p:pic>
    </p:spTree>
    <p:extLst>
      <p:ext uri="{BB962C8B-B14F-4D97-AF65-F5344CB8AC3E}">
        <p14:creationId xmlns:p14="http://schemas.microsoft.com/office/powerpoint/2010/main" val="1612253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3.03258E-6 -3.89842E-6 L 0.06704 0.0401 C 0.08095 0.04901 0.102 0.05391 0.12406 0.05391 C 0.14899 0.05391 0.16904 0.04901 0.18295 0.0401 L 0.25 -3.89842E-6 " pathEditMode="relative" rAng="0" ptsTypes="AAAAA">
                                      <p:cBhvr>
                                        <p:cTn id="6" dur="2000" fill="hold"/>
                                        <p:tgtEl>
                                          <p:spTgt spid="23"/>
                                        </p:tgtEl>
                                        <p:attrNameLst>
                                          <p:attrName>ppt_x</p:attrName>
                                          <p:attrName>ppt_y</p:attrName>
                                        </p:attrNameLst>
                                      </p:cBhvr>
                                      <p:rCtr x="12494" y="269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Номер слайда 6"/>
          <p:cNvSpPr>
            <a:spLocks noGrp="1"/>
          </p:cNvSpPr>
          <p:nvPr>
            <p:ph type="sldNum" sz="quarter" idx="12"/>
          </p:nvPr>
        </p:nvSpPr>
        <p:spPr>
          <a:xfrm>
            <a:off x="11569616" y="6567793"/>
            <a:ext cx="712285" cy="379409"/>
          </a:xfrm>
        </p:spPr>
        <p:txBody>
          <a:bodyPr/>
          <a:lstStyle/>
          <a:p>
            <a:fld id="{952B6C0E-C4B9-4094-8E59-5B7DF00D5415}" type="slidenum">
              <a:rPr lang="ru-RU" smtClean="0">
                <a:solidFill>
                  <a:schemeClr val="tx1"/>
                </a:solidFill>
              </a:rPr>
              <a:t>79</a:t>
            </a:fld>
            <a:endParaRPr lang="ru-RU" dirty="0">
              <a:solidFill>
                <a:schemeClr val="tx1"/>
              </a:solidFill>
            </a:endParaRPr>
          </a:p>
        </p:txBody>
      </p:sp>
      <p:sp>
        <p:nvSpPr>
          <p:cNvPr id="2" name="Заголовок 1"/>
          <p:cNvSpPr txBox="1">
            <a:spLocks noGrp="1"/>
          </p:cNvSpPr>
          <p:nvPr>
            <p:ph type="title" idx="4294967295"/>
          </p:nvPr>
        </p:nvSpPr>
        <p:spPr>
          <a:xfrm>
            <a:off x="2848357" y="393556"/>
            <a:ext cx="7559675" cy="693738"/>
          </a:xfrm>
          <a:prstGeom prst="rect">
            <a:avLst/>
          </a:prstGeom>
        </p:spPr>
        <p:txBody>
          <a:bodyPr>
            <a:normAutofit fontScale="90000"/>
          </a:bodyPr>
          <a:lstStyle/>
          <a:p>
            <a:r>
              <a:rPr lang="ru-RU" sz="4400" dirty="0"/>
              <a:t>Выделение кластеров</a:t>
            </a:r>
          </a:p>
        </p:txBody>
      </p:sp>
      <p:sp>
        <p:nvSpPr>
          <p:cNvPr id="8" name="Прямоугольник 7"/>
          <p:cNvSpPr/>
          <p:nvPr/>
        </p:nvSpPr>
        <p:spPr>
          <a:xfrm>
            <a:off x="1407576" y="1196272"/>
            <a:ext cx="10518182" cy="400110"/>
          </a:xfrm>
          <a:prstGeom prst="rect">
            <a:avLst/>
          </a:prstGeom>
        </p:spPr>
        <p:txBody>
          <a:bodyPr wrap="square">
            <a:spAutoFit/>
          </a:bodyPr>
          <a:lstStyle/>
          <a:p>
            <a:r>
              <a:rPr lang="ru-RU" dirty="0">
                <a:solidFill>
                  <a:schemeClr val="accent2">
                    <a:lumMod val="50000"/>
                  </a:schemeClr>
                </a:solidFill>
              </a:rPr>
              <a:t>#  предварительная оценка числа кластеров – 4 метода (подробно описаны в ЛР 5.1.)</a:t>
            </a:r>
          </a:p>
        </p:txBody>
      </p:sp>
      <p:graphicFrame>
        <p:nvGraphicFramePr>
          <p:cNvPr id="10" name="Таблица 9">
            <a:extLst>
              <a:ext uri="{FF2B5EF4-FFF2-40B4-BE49-F238E27FC236}">
                <a16:creationId xmlns:a16="http://schemas.microsoft.com/office/drawing/2014/main" id="{C53C43F2-FD68-4017-873F-B7058F9F9772}"/>
              </a:ext>
            </a:extLst>
          </p:cNvPr>
          <p:cNvGraphicFramePr>
            <a:graphicFrameLocks noGrp="1"/>
          </p:cNvGraphicFramePr>
          <p:nvPr>
            <p:extLst>
              <p:ext uri="{D42A27DB-BD31-4B8C-83A1-F6EECF244321}">
                <p14:modId xmlns:p14="http://schemas.microsoft.com/office/powerpoint/2010/main" val="942546877"/>
              </p:ext>
            </p:extLst>
          </p:nvPr>
        </p:nvGraphicFramePr>
        <p:xfrm>
          <a:off x="789510" y="1684951"/>
          <a:ext cx="10713432" cy="4719304"/>
        </p:xfrm>
        <a:graphic>
          <a:graphicData uri="http://schemas.openxmlformats.org/drawingml/2006/table">
            <a:tbl>
              <a:tblPr firstRow="1" firstCol="1" bandRow="1">
                <a:tableStyleId>{5C22544A-7EE6-4342-B048-85BDC9FD1C3A}</a:tableStyleId>
              </a:tblPr>
              <a:tblGrid>
                <a:gridCol w="1414710">
                  <a:extLst>
                    <a:ext uri="{9D8B030D-6E8A-4147-A177-3AD203B41FA5}">
                      <a16:colId xmlns:a16="http://schemas.microsoft.com/office/drawing/2014/main" val="1176082579"/>
                    </a:ext>
                  </a:extLst>
                </a:gridCol>
                <a:gridCol w="2933787">
                  <a:extLst>
                    <a:ext uri="{9D8B030D-6E8A-4147-A177-3AD203B41FA5}">
                      <a16:colId xmlns:a16="http://schemas.microsoft.com/office/drawing/2014/main" val="298752063"/>
                    </a:ext>
                  </a:extLst>
                </a:gridCol>
                <a:gridCol w="3813924">
                  <a:extLst>
                    <a:ext uri="{9D8B030D-6E8A-4147-A177-3AD203B41FA5}">
                      <a16:colId xmlns:a16="http://schemas.microsoft.com/office/drawing/2014/main" val="2320771308"/>
                    </a:ext>
                  </a:extLst>
                </a:gridCol>
                <a:gridCol w="2551011">
                  <a:extLst>
                    <a:ext uri="{9D8B030D-6E8A-4147-A177-3AD203B41FA5}">
                      <a16:colId xmlns:a16="http://schemas.microsoft.com/office/drawing/2014/main" val="3099695397"/>
                    </a:ext>
                  </a:extLst>
                </a:gridCol>
              </a:tblGrid>
              <a:tr h="451371">
                <a:tc>
                  <a:txBody>
                    <a:bodyPr/>
                    <a:lstStyle/>
                    <a:p>
                      <a:r>
                        <a:rPr lang="ru-RU" sz="2000" dirty="0">
                          <a:effectLst/>
                        </a:rPr>
                        <a:t>Метод</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3959" marT="3959" marB="3959" anchor="ctr"/>
                </a:tc>
                <a:tc>
                  <a:txBody>
                    <a:bodyPr/>
                    <a:lstStyle/>
                    <a:p>
                      <a:r>
                        <a:rPr lang="ru-RU" sz="2000">
                          <a:effectLst/>
                        </a:rPr>
                        <a:t>Основан на</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59" marR="3959" marT="3959" marB="3959" anchor="ctr"/>
                </a:tc>
                <a:tc>
                  <a:txBody>
                    <a:bodyPr/>
                    <a:lstStyle/>
                    <a:p>
                      <a:r>
                        <a:rPr lang="ru-RU" sz="2000">
                          <a:effectLst/>
                        </a:rPr>
                        <a:t>Плюсы</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59" marR="3959" marT="3959" marB="3959" anchor="ctr"/>
                </a:tc>
                <a:tc>
                  <a:txBody>
                    <a:bodyPr/>
                    <a:lstStyle/>
                    <a:p>
                      <a:r>
                        <a:rPr lang="ru-RU" sz="2000">
                          <a:effectLst/>
                        </a:rPr>
                        <a:t>Минусы</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59" marR="3959" marT="3959" marB="3959" anchor="ctr"/>
                </a:tc>
                <a:extLst>
                  <a:ext uri="{0D108BD9-81ED-4DB2-BD59-A6C34878D82A}">
                    <a16:rowId xmlns:a16="http://schemas.microsoft.com/office/drawing/2014/main" val="3059550775"/>
                  </a:ext>
                </a:extLst>
              </a:tr>
              <a:tr h="1013605">
                <a:tc>
                  <a:txBody>
                    <a:bodyPr/>
                    <a:lstStyle/>
                    <a:p>
                      <a:pPr marL="84138" indent="0"/>
                      <a:r>
                        <a:rPr lang="ru-RU" sz="2000" dirty="0" err="1">
                          <a:effectLst/>
                        </a:rPr>
                        <a:t>Elbow</a:t>
                      </a:r>
                      <a:r>
                        <a:rPr lang="ru-RU" sz="2000" dirty="0">
                          <a:effectLst/>
                        </a:rPr>
                        <a:t> </a:t>
                      </a:r>
                      <a:r>
                        <a:rPr lang="ru-RU" sz="2000" dirty="0" err="1">
                          <a:effectLst/>
                        </a:rPr>
                        <a:t>Method</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3959" marT="3959" marB="3959" anchor="ctr"/>
                </a:tc>
                <a:tc>
                  <a:txBody>
                    <a:bodyPr/>
                    <a:lstStyle/>
                    <a:p>
                      <a:pPr algn="ctr"/>
                      <a:r>
                        <a:rPr lang="en-US" sz="2000">
                          <a:effectLst/>
                        </a:rPr>
                        <a:t>Within-Cluster-Sum-of-Squares (WCSS)</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r>
                        <a:rPr lang="ru-RU" sz="2000">
                          <a:effectLst/>
                        </a:rPr>
                        <a:t>Простота</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r>
                        <a:rPr lang="ru-RU" sz="2000" dirty="0">
                          <a:effectLst/>
                        </a:rPr>
                        <a:t>Субъективность</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459262303"/>
                  </a:ext>
                </a:extLst>
              </a:tr>
              <a:tr h="1013605">
                <a:tc>
                  <a:txBody>
                    <a:bodyPr/>
                    <a:lstStyle/>
                    <a:p>
                      <a:pPr marL="84138" indent="0"/>
                      <a:r>
                        <a:rPr lang="ru-RU" sz="2000" dirty="0" err="1">
                          <a:effectLst/>
                        </a:rPr>
                        <a:t>Silhouette</a:t>
                      </a:r>
                      <a:r>
                        <a:rPr lang="ru-RU" sz="2000" dirty="0">
                          <a:effectLst/>
                        </a:rPr>
                        <a:t> </a:t>
                      </a:r>
                      <a:r>
                        <a:rPr lang="ru-RU" sz="2000" dirty="0" err="1">
                          <a:effectLst/>
                        </a:rPr>
                        <a:t>Score</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3959" marT="3959" marB="3959" anchor="ctr"/>
                </a:tc>
                <a:tc>
                  <a:txBody>
                    <a:bodyPr/>
                    <a:lstStyle/>
                    <a:p>
                      <a:pPr algn="ctr"/>
                      <a:r>
                        <a:rPr lang="ru-RU" sz="2000">
                          <a:effectLst/>
                        </a:rPr>
                        <a:t>Расстояния внутри/между кластерами</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r>
                        <a:rPr lang="ru-RU" sz="2000" dirty="0">
                          <a:effectLst/>
                        </a:rPr>
                        <a:t>Интерпретируемость</a:t>
                      </a:r>
                      <a:endParaRPr lang="ru-RU" sz="2000" dirty="0">
                        <a:effectLst/>
                        <a:latin typeface="Times New Roman" panose="02020603050405020304" pitchFamily="18" charset="0"/>
                        <a:ea typeface="+mn-ea"/>
                        <a:cs typeface="Times New Roman" panose="02020603050405020304" pitchFamily="18" charset="0"/>
                      </a:endParaRPr>
                    </a:p>
                  </a:txBody>
                  <a:tcPr marL="0" marR="0" marT="0" marB="0" anchor="ctr"/>
                </a:tc>
                <a:tc>
                  <a:txBody>
                    <a:bodyPr/>
                    <a:lstStyle/>
                    <a:p>
                      <a:pPr algn="ctr"/>
                      <a:r>
                        <a:rPr lang="ru-RU" sz="2000" dirty="0">
                          <a:effectLst/>
                        </a:rPr>
                        <a:t>Плохо работает для невыпуклых кластеров</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83353154"/>
                  </a:ext>
                </a:extLst>
              </a:tr>
              <a:tr h="1013605">
                <a:tc>
                  <a:txBody>
                    <a:bodyPr/>
                    <a:lstStyle/>
                    <a:p>
                      <a:pPr marL="84138" indent="0"/>
                      <a:r>
                        <a:rPr lang="ru-RU" sz="2000" dirty="0">
                          <a:effectLst/>
                        </a:rPr>
                        <a:t>Gap </a:t>
                      </a:r>
                      <a:r>
                        <a:rPr lang="ru-RU" sz="2000" dirty="0" err="1">
                          <a:effectLst/>
                        </a:rPr>
                        <a:t>Statistic</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3959" marT="3959" marB="3959" anchor="ctr"/>
                </a:tc>
                <a:tc>
                  <a:txBody>
                    <a:bodyPr/>
                    <a:lstStyle/>
                    <a:p>
                      <a:pPr algn="ctr"/>
                      <a:r>
                        <a:rPr lang="ru-RU" sz="2000">
                          <a:effectLst/>
                        </a:rPr>
                        <a:t>Сравнение с нулевым распределением</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r>
                        <a:rPr lang="ru-RU" sz="2000">
                          <a:effectLst/>
                        </a:rPr>
                        <a:t>Автоматический выбор k</a:t>
                      </a:r>
                      <a:r>
                        <a:rPr lang="ru-RU" sz="2000" baseline="-25000">
                          <a:effectLst/>
                        </a:rPr>
                        <a:t>k</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r>
                        <a:rPr lang="ru-RU" sz="2000">
                          <a:effectLst/>
                        </a:rPr>
                        <a:t>Медленный</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03218758"/>
                  </a:ext>
                </a:extLst>
              </a:tr>
              <a:tr h="1211575">
                <a:tc>
                  <a:txBody>
                    <a:bodyPr/>
                    <a:lstStyle/>
                    <a:p>
                      <a:pPr marL="84138" indent="0"/>
                      <a:r>
                        <a:rPr lang="en-US" sz="2000" dirty="0">
                          <a:effectLst/>
                        </a:rPr>
                        <a:t>C</a:t>
                      </a:r>
                      <a:r>
                        <a:rPr lang="ru-RU" sz="2000" dirty="0">
                          <a:effectLst/>
                        </a:rPr>
                        <a:t>o</a:t>
                      </a:r>
                      <a:r>
                        <a:rPr lang="en-US" sz="2000" dirty="0">
                          <a:effectLst/>
                        </a:rPr>
                        <a:t>n</a:t>
                      </a:r>
                      <a:r>
                        <a:rPr lang="ru-RU" sz="2000" dirty="0">
                          <a:effectLst/>
                        </a:rPr>
                        <a:t>s</a:t>
                      </a:r>
                      <a:r>
                        <a:rPr lang="en-US" sz="2000" dirty="0">
                          <a:effectLst/>
                        </a:rPr>
                        <a:t>e</a:t>
                      </a:r>
                      <a:r>
                        <a:rPr lang="ru-RU" sz="2000" dirty="0">
                          <a:effectLst/>
                        </a:rPr>
                        <a:t>n</a:t>
                      </a:r>
                      <a:r>
                        <a:rPr lang="en-US" sz="2000" dirty="0">
                          <a:effectLst/>
                        </a:rPr>
                        <a:t>s</a:t>
                      </a:r>
                      <a:r>
                        <a:rPr lang="ru-RU" sz="2000" dirty="0">
                          <a:effectLst/>
                        </a:rPr>
                        <a:t>u</a:t>
                      </a:r>
                      <a:r>
                        <a:rPr lang="en-US" sz="2000" dirty="0">
                          <a:effectLst/>
                        </a:rPr>
                        <a:t>s</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3959" marT="3959" marB="3959" anchor="ctr"/>
                </a:tc>
                <a:tc>
                  <a:txBody>
                    <a:bodyPr/>
                    <a:lstStyle/>
                    <a:p>
                      <a:pPr algn="ctr"/>
                      <a:r>
                        <a:rPr lang="ru-RU" sz="2000">
                          <a:effectLst/>
                        </a:rPr>
                        <a:t>Генерация множества кластеризаций</a:t>
                      </a:r>
                    </a:p>
                    <a:p>
                      <a:pPr algn="ctr"/>
                      <a:r>
                        <a:rPr lang="ru-RU" sz="2000">
                          <a:effectLst/>
                        </a:rPr>
                        <a:t> </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59" marR="3959" marT="3959" marB="3959" anchor="ctr"/>
                </a:tc>
                <a:tc>
                  <a:txBody>
                    <a:bodyPr/>
                    <a:lstStyle/>
                    <a:p>
                      <a:pPr algn="ctr"/>
                      <a:r>
                        <a:rPr lang="ru-RU" sz="2000">
                          <a:effectLst/>
                        </a:rPr>
                        <a:t>Устойчивость к шуму и выбросам.</a:t>
                      </a:r>
                    </a:p>
                    <a:p>
                      <a:pPr algn="ctr"/>
                      <a:r>
                        <a:rPr lang="ru-RU" sz="2000">
                          <a:effectLst/>
                        </a:rPr>
                        <a:t>Работает с любым базовым алгоритмом.</a:t>
                      </a:r>
                    </a:p>
                    <a:p>
                      <a:pPr algn="ctr"/>
                      <a:r>
                        <a:rPr lang="ru-RU" sz="2000">
                          <a:effectLst/>
                        </a:rPr>
                        <a:t> </a:t>
                      </a:r>
                      <a:endParaRPr lang="ru-RU"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59" marR="3959" marT="3959" marB="3959" anchor="ctr"/>
                </a:tc>
                <a:tc>
                  <a:txBody>
                    <a:bodyPr/>
                    <a:lstStyle/>
                    <a:p>
                      <a:pPr algn="ctr"/>
                      <a:r>
                        <a:rPr lang="ru-RU" sz="2000" dirty="0">
                          <a:effectLst/>
                        </a:rPr>
                        <a:t>Вычислительно затратен</a:t>
                      </a:r>
                      <a:endParaRPr lang="ru-RU"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959" marR="3959" marT="3959" marB="3959" anchor="ctr"/>
                </a:tc>
                <a:extLst>
                  <a:ext uri="{0D108BD9-81ED-4DB2-BD59-A6C34878D82A}">
                    <a16:rowId xmlns:a16="http://schemas.microsoft.com/office/drawing/2014/main" val="3150401177"/>
                  </a:ext>
                </a:extLst>
              </a:tr>
            </a:tbl>
          </a:graphicData>
        </a:graphic>
      </p:graphicFrame>
    </p:spTree>
    <p:extLst>
      <p:ext uri="{BB962C8B-B14F-4D97-AF65-F5344CB8AC3E}">
        <p14:creationId xmlns:p14="http://schemas.microsoft.com/office/powerpoint/2010/main" val="362754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Номер слайда 6"/>
          <p:cNvSpPr>
            <a:spLocks noGrp="1"/>
          </p:cNvSpPr>
          <p:nvPr>
            <p:ph type="sldNum" sz="quarter" idx="12"/>
          </p:nvPr>
        </p:nvSpPr>
        <p:spPr>
          <a:xfrm>
            <a:off x="11526495" y="6584607"/>
            <a:ext cx="712285" cy="379409"/>
          </a:xfrm>
        </p:spPr>
        <p:txBody>
          <a:bodyPr/>
          <a:lstStyle/>
          <a:p>
            <a:fld id="{952B6C0E-C4B9-4094-8E59-5B7DF00D5415}" type="slidenum">
              <a:rPr lang="ru-RU" smtClean="0">
                <a:solidFill>
                  <a:schemeClr val="tx1"/>
                </a:solidFill>
              </a:rPr>
              <a:t>80</a:t>
            </a:fld>
            <a:endParaRPr lang="ru-RU" dirty="0">
              <a:solidFill>
                <a:schemeClr val="tx1"/>
              </a:solidFill>
            </a:endParaRPr>
          </a:p>
        </p:txBody>
      </p:sp>
      <p:sp>
        <p:nvSpPr>
          <p:cNvPr id="2" name="Заголовок 1"/>
          <p:cNvSpPr txBox="1">
            <a:spLocks noGrp="1"/>
          </p:cNvSpPr>
          <p:nvPr>
            <p:ph type="title" idx="4294967295"/>
          </p:nvPr>
        </p:nvSpPr>
        <p:spPr>
          <a:xfrm>
            <a:off x="2937247" y="479347"/>
            <a:ext cx="7559675" cy="693738"/>
          </a:xfrm>
          <a:prstGeom prst="rect">
            <a:avLst/>
          </a:prstGeom>
        </p:spPr>
        <p:txBody>
          <a:bodyPr>
            <a:normAutofit fontScale="90000"/>
          </a:bodyPr>
          <a:lstStyle/>
          <a:p>
            <a:r>
              <a:rPr lang="ru-RU" sz="4400" dirty="0"/>
              <a:t>Выделение кластеров</a:t>
            </a:r>
          </a:p>
        </p:txBody>
      </p:sp>
      <p:sp>
        <p:nvSpPr>
          <p:cNvPr id="8" name="Прямоугольник 7"/>
          <p:cNvSpPr/>
          <p:nvPr/>
        </p:nvSpPr>
        <p:spPr>
          <a:xfrm>
            <a:off x="1195390" y="1474912"/>
            <a:ext cx="11043390" cy="3477875"/>
          </a:xfrm>
          <a:prstGeom prst="rect">
            <a:avLst/>
          </a:prstGeom>
        </p:spPr>
        <p:txBody>
          <a:bodyPr wrap="square">
            <a:spAutoFit/>
          </a:bodyPr>
          <a:lstStyle/>
          <a:p>
            <a:r>
              <a:rPr lang="ru-RU" dirty="0">
                <a:solidFill>
                  <a:schemeClr val="accent2">
                    <a:lumMod val="50000"/>
                  </a:schemeClr>
                </a:solidFill>
              </a:rPr>
              <a:t>#  Создаем матрицу попарных расстояний (по умолчанию - Евклидово расстояние)</a:t>
            </a:r>
          </a:p>
          <a:p>
            <a:r>
              <a:rPr lang="ru-RU" dirty="0" err="1">
                <a:solidFill>
                  <a:schemeClr val="tx2"/>
                </a:solidFill>
              </a:rPr>
              <a:t>dist.protein</a:t>
            </a:r>
            <a:r>
              <a:rPr lang="ru-RU" dirty="0">
                <a:solidFill>
                  <a:schemeClr val="tx2"/>
                </a:solidFill>
              </a:rPr>
              <a:t> &lt;- </a:t>
            </a:r>
            <a:r>
              <a:rPr lang="ru-RU" dirty="0" err="1">
                <a:solidFill>
                  <a:schemeClr val="tx2"/>
                </a:solidFill>
              </a:rPr>
              <a:t>dist</a:t>
            </a:r>
            <a:r>
              <a:rPr lang="ru-RU" dirty="0">
                <a:solidFill>
                  <a:schemeClr val="tx2"/>
                </a:solidFill>
              </a:rPr>
              <a:t>(protein.02 [,2:10])</a:t>
            </a:r>
          </a:p>
          <a:p>
            <a:endParaRPr lang="ru-RU" dirty="0">
              <a:solidFill>
                <a:schemeClr val="accent2">
                  <a:lumMod val="50000"/>
                </a:schemeClr>
              </a:solidFill>
            </a:endParaRPr>
          </a:p>
          <a:p>
            <a:r>
              <a:rPr lang="ru-RU" dirty="0">
                <a:solidFill>
                  <a:schemeClr val="accent2">
                    <a:lumMod val="50000"/>
                  </a:schemeClr>
                </a:solidFill>
              </a:rPr>
              <a:t>#  Проводим кластерный анализ, </a:t>
            </a:r>
          </a:p>
          <a:p>
            <a:r>
              <a:rPr lang="ru-RU" dirty="0">
                <a:solidFill>
                  <a:schemeClr val="accent2">
                    <a:lumMod val="50000"/>
                  </a:schemeClr>
                </a:solidFill>
              </a:rPr>
              <a:t>#  результаты записываем в список </a:t>
            </a:r>
            <a:r>
              <a:rPr lang="ru-RU" dirty="0" err="1">
                <a:solidFill>
                  <a:schemeClr val="accent2">
                    <a:lumMod val="50000"/>
                  </a:schemeClr>
                </a:solidFill>
              </a:rPr>
              <a:t>clust.protein</a:t>
            </a:r>
            <a:endParaRPr lang="ru-RU" dirty="0">
              <a:solidFill>
                <a:schemeClr val="accent2">
                  <a:lumMod val="50000"/>
                </a:schemeClr>
              </a:solidFill>
            </a:endParaRPr>
          </a:p>
          <a:p>
            <a:r>
              <a:rPr lang="ru-RU" dirty="0">
                <a:solidFill>
                  <a:schemeClr val="accent2">
                    <a:lumMod val="50000"/>
                  </a:schemeClr>
                </a:solidFill>
              </a:rPr>
              <a:t># </a:t>
            </a:r>
            <a:r>
              <a:rPr lang="ru-RU" dirty="0" err="1">
                <a:solidFill>
                  <a:schemeClr val="accent2">
                    <a:lumMod val="50000"/>
                  </a:schemeClr>
                </a:solidFill>
              </a:rPr>
              <a:t>hclust</a:t>
            </a:r>
            <a:r>
              <a:rPr lang="ru-RU" dirty="0">
                <a:solidFill>
                  <a:schemeClr val="accent2">
                    <a:lumMod val="50000"/>
                  </a:schemeClr>
                </a:solidFill>
              </a:rPr>
              <a:t> ожидает матрицу расстояния, а не исходные данные.</a:t>
            </a:r>
          </a:p>
          <a:p>
            <a:endParaRPr lang="ru-RU" dirty="0">
              <a:solidFill>
                <a:schemeClr val="accent2">
                  <a:lumMod val="50000"/>
                </a:schemeClr>
              </a:solidFill>
            </a:endParaRPr>
          </a:p>
          <a:p>
            <a:r>
              <a:rPr lang="ru-RU" dirty="0" err="1">
                <a:solidFill>
                  <a:schemeClr val="tx2"/>
                </a:solidFill>
              </a:rPr>
              <a:t>clust.protein</a:t>
            </a:r>
            <a:r>
              <a:rPr lang="ru-RU" dirty="0">
                <a:solidFill>
                  <a:schemeClr val="tx2"/>
                </a:solidFill>
              </a:rPr>
              <a:t> &lt;- </a:t>
            </a:r>
            <a:r>
              <a:rPr lang="ru-RU" dirty="0" err="1">
                <a:solidFill>
                  <a:schemeClr val="tx2"/>
                </a:solidFill>
              </a:rPr>
              <a:t>hclust</a:t>
            </a:r>
            <a:r>
              <a:rPr lang="ru-RU" dirty="0">
                <a:solidFill>
                  <a:schemeClr val="tx2"/>
                </a:solidFill>
              </a:rPr>
              <a:t>(</a:t>
            </a:r>
            <a:r>
              <a:rPr lang="ru-RU" dirty="0" err="1">
                <a:solidFill>
                  <a:schemeClr val="tx2"/>
                </a:solidFill>
              </a:rPr>
              <a:t>dist.protein</a:t>
            </a:r>
            <a:r>
              <a:rPr lang="ru-RU" dirty="0">
                <a:solidFill>
                  <a:schemeClr val="tx2"/>
                </a:solidFill>
              </a:rPr>
              <a:t>, "</a:t>
            </a:r>
            <a:r>
              <a:rPr lang="ru-RU" dirty="0" err="1">
                <a:solidFill>
                  <a:schemeClr val="tx2"/>
                </a:solidFill>
              </a:rPr>
              <a:t>ward.D</a:t>
            </a:r>
            <a:r>
              <a:rPr lang="ru-RU" dirty="0">
                <a:solidFill>
                  <a:schemeClr val="tx2"/>
                </a:solidFill>
              </a:rPr>
              <a:t>") </a:t>
            </a:r>
            <a:r>
              <a:rPr lang="en-US" dirty="0">
                <a:solidFill>
                  <a:schemeClr val="tx2"/>
                </a:solidFill>
              </a:rPr>
              <a:t>#</a:t>
            </a:r>
            <a:r>
              <a:rPr lang="ru-RU" dirty="0">
                <a:solidFill>
                  <a:schemeClr val="tx2"/>
                </a:solidFill>
              </a:rPr>
              <a:t> кластеризация по методу </a:t>
            </a:r>
            <a:r>
              <a:rPr lang="ru-RU" dirty="0" err="1">
                <a:solidFill>
                  <a:schemeClr val="tx2"/>
                </a:solidFill>
              </a:rPr>
              <a:t>Варда</a:t>
            </a:r>
            <a:endParaRPr lang="ru-RU" dirty="0">
              <a:solidFill>
                <a:schemeClr val="tx2"/>
              </a:solidFill>
            </a:endParaRPr>
          </a:p>
          <a:p>
            <a:endParaRPr lang="ru-RU" dirty="0">
              <a:solidFill>
                <a:schemeClr val="accent2">
                  <a:lumMod val="50000"/>
                </a:schemeClr>
              </a:solidFill>
            </a:endParaRPr>
          </a:p>
          <a:p>
            <a:r>
              <a:rPr lang="ru-RU" dirty="0">
                <a:solidFill>
                  <a:schemeClr val="accent2">
                    <a:lumMod val="50000"/>
                  </a:schemeClr>
                </a:solidFill>
              </a:rPr>
              <a:t>#  Смотрим краткую сводку результатов анализа:</a:t>
            </a:r>
          </a:p>
          <a:p>
            <a:r>
              <a:rPr lang="ru-RU" dirty="0" err="1">
                <a:solidFill>
                  <a:schemeClr val="tx2"/>
                </a:solidFill>
              </a:rPr>
              <a:t>clust.protein</a:t>
            </a:r>
            <a:r>
              <a:rPr lang="ru-RU" dirty="0">
                <a:solidFill>
                  <a:schemeClr val="tx2"/>
                </a:solidFill>
              </a:rPr>
              <a:t> </a:t>
            </a:r>
          </a:p>
        </p:txBody>
      </p:sp>
      <p:sp>
        <p:nvSpPr>
          <p:cNvPr id="9" name="Rectangle 1"/>
          <p:cNvSpPr>
            <a:spLocks noChangeArrowheads="1"/>
          </p:cNvSpPr>
          <p:nvPr/>
        </p:nvSpPr>
        <p:spPr bwMode="auto">
          <a:xfrm>
            <a:off x="2065505" y="5346838"/>
            <a:ext cx="8181201"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ru-RU" altLang="ru-RU" dirty="0" err="1">
                <a:solidFill>
                  <a:srgbClr val="000000"/>
                </a:solidFill>
                <a:latin typeface="Lucida Console" panose="020B0609040504020204" pitchFamily="49" charset="0"/>
              </a:rPr>
              <a:t>Call</a:t>
            </a:r>
            <a:r>
              <a:rPr lang="ru-RU" altLang="ru-RU" dirty="0">
                <a:solidFill>
                  <a:srgbClr val="000000"/>
                </a:solidFill>
                <a:latin typeface="Lucida Console" panose="020B0609040504020204" pitchFamily="49" charset="0"/>
              </a:rPr>
              <a:t>: </a:t>
            </a:r>
            <a:r>
              <a:rPr lang="ru-RU" altLang="ru-RU" dirty="0" err="1">
                <a:solidFill>
                  <a:srgbClr val="000000"/>
                </a:solidFill>
                <a:latin typeface="Lucida Console" panose="020B0609040504020204" pitchFamily="49" charset="0"/>
              </a:rPr>
              <a:t>hclust</a:t>
            </a:r>
            <a:r>
              <a:rPr lang="ru-RU" altLang="ru-RU" dirty="0">
                <a:solidFill>
                  <a:srgbClr val="000000"/>
                </a:solidFill>
                <a:latin typeface="Lucida Console" panose="020B0609040504020204" pitchFamily="49" charset="0"/>
              </a:rPr>
              <a:t>(d = </a:t>
            </a:r>
            <a:r>
              <a:rPr lang="ru-RU" altLang="ru-RU" dirty="0" err="1">
                <a:solidFill>
                  <a:srgbClr val="000000"/>
                </a:solidFill>
                <a:latin typeface="Lucida Console" panose="020B0609040504020204" pitchFamily="49" charset="0"/>
              </a:rPr>
              <a:t>dist.protein</a:t>
            </a:r>
            <a:r>
              <a:rPr lang="ru-RU" altLang="ru-RU" dirty="0">
                <a:solidFill>
                  <a:srgbClr val="000000"/>
                </a:solidFill>
                <a:latin typeface="Lucida Console" panose="020B0609040504020204" pitchFamily="49" charset="0"/>
              </a:rPr>
              <a:t>, </a:t>
            </a:r>
            <a:r>
              <a:rPr lang="ru-RU" altLang="ru-RU" dirty="0" err="1">
                <a:solidFill>
                  <a:srgbClr val="000000"/>
                </a:solidFill>
                <a:latin typeface="Lucida Console" panose="020B0609040504020204" pitchFamily="49" charset="0"/>
              </a:rPr>
              <a:t>method</a:t>
            </a:r>
            <a:r>
              <a:rPr lang="ru-RU" altLang="ru-RU" dirty="0">
                <a:solidFill>
                  <a:srgbClr val="000000"/>
                </a:solidFill>
                <a:latin typeface="Lucida Console" panose="020B0609040504020204" pitchFamily="49" charset="0"/>
              </a:rPr>
              <a:t> = "</a:t>
            </a:r>
            <a:r>
              <a:rPr lang="ru-RU" altLang="ru-RU" dirty="0" err="1">
                <a:solidFill>
                  <a:srgbClr val="000000"/>
                </a:solidFill>
                <a:latin typeface="Lucida Console" panose="020B0609040504020204" pitchFamily="49" charset="0"/>
              </a:rPr>
              <a:t>ward.D</a:t>
            </a:r>
            <a:r>
              <a:rPr lang="ru-RU" altLang="ru-RU" dirty="0">
                <a:solidFill>
                  <a:srgbClr val="000000"/>
                </a:solidFill>
                <a:latin typeface="Lucida Console" panose="020B0609040504020204" pitchFamily="49" charset="0"/>
              </a:rPr>
              <a:t>") </a:t>
            </a:r>
            <a:r>
              <a:rPr lang="ru-RU" altLang="ru-RU" dirty="0" err="1">
                <a:solidFill>
                  <a:srgbClr val="000000"/>
                </a:solidFill>
                <a:latin typeface="Lucida Console" panose="020B0609040504020204" pitchFamily="49" charset="0"/>
              </a:rPr>
              <a:t>Cluster</a:t>
            </a:r>
            <a:r>
              <a:rPr lang="ru-RU" altLang="ru-RU" dirty="0">
                <a:solidFill>
                  <a:srgbClr val="000000"/>
                </a:solidFill>
                <a:latin typeface="Lucida Console" panose="020B0609040504020204" pitchFamily="49" charset="0"/>
              </a:rPr>
              <a:t> </a:t>
            </a:r>
            <a:r>
              <a:rPr lang="ru-RU" altLang="ru-RU" dirty="0" err="1">
                <a:solidFill>
                  <a:srgbClr val="000000"/>
                </a:solidFill>
                <a:latin typeface="Lucida Console" panose="020B0609040504020204" pitchFamily="49" charset="0"/>
              </a:rPr>
              <a:t>method</a:t>
            </a:r>
            <a:r>
              <a:rPr lang="ru-RU" altLang="ru-RU" dirty="0">
                <a:solidFill>
                  <a:srgbClr val="000000"/>
                </a:solidFill>
                <a:latin typeface="Lucida Console" panose="020B0609040504020204" pitchFamily="49" charset="0"/>
              </a:rPr>
              <a:t> : </a:t>
            </a:r>
            <a:r>
              <a:rPr lang="ru-RU" altLang="ru-RU" dirty="0" err="1">
                <a:solidFill>
                  <a:srgbClr val="000000"/>
                </a:solidFill>
                <a:latin typeface="Lucida Console" panose="020B0609040504020204" pitchFamily="49" charset="0"/>
              </a:rPr>
              <a:t>ward.D</a:t>
            </a:r>
            <a:r>
              <a:rPr lang="ru-RU" altLang="ru-RU" dirty="0">
                <a:solidFill>
                  <a:srgbClr val="000000"/>
                </a:solidFill>
                <a:latin typeface="Lucida Console" panose="020B0609040504020204" pitchFamily="49" charset="0"/>
              </a:rPr>
              <a:t> </a:t>
            </a:r>
          </a:p>
          <a:p>
            <a:pPr eaLnBrk="0" hangingPunct="0"/>
            <a:r>
              <a:rPr lang="ru-RU" altLang="ru-RU" dirty="0" err="1">
                <a:solidFill>
                  <a:srgbClr val="000000"/>
                </a:solidFill>
                <a:latin typeface="Lucida Console" panose="020B0609040504020204" pitchFamily="49" charset="0"/>
              </a:rPr>
              <a:t>Distance</a:t>
            </a:r>
            <a:r>
              <a:rPr lang="ru-RU" altLang="ru-RU" dirty="0">
                <a:solidFill>
                  <a:srgbClr val="000000"/>
                </a:solidFill>
                <a:latin typeface="Lucida Console" panose="020B0609040504020204" pitchFamily="49" charset="0"/>
              </a:rPr>
              <a:t> : </a:t>
            </a:r>
            <a:r>
              <a:rPr lang="ru-RU" altLang="ru-RU" dirty="0" err="1">
                <a:solidFill>
                  <a:srgbClr val="000000"/>
                </a:solidFill>
                <a:latin typeface="Lucida Console" panose="020B0609040504020204" pitchFamily="49" charset="0"/>
              </a:rPr>
              <a:t>euclidean</a:t>
            </a:r>
            <a:r>
              <a:rPr lang="ru-RU" altLang="ru-RU" dirty="0">
                <a:solidFill>
                  <a:srgbClr val="000000"/>
                </a:solidFill>
                <a:latin typeface="Lucida Console" panose="020B0609040504020204" pitchFamily="49" charset="0"/>
              </a:rPr>
              <a:t> </a:t>
            </a:r>
          </a:p>
          <a:p>
            <a:pPr eaLnBrk="0" hangingPunct="0"/>
            <a:r>
              <a:rPr lang="ru-RU" altLang="ru-RU" dirty="0" err="1">
                <a:solidFill>
                  <a:srgbClr val="000000"/>
                </a:solidFill>
                <a:latin typeface="Lucida Console" panose="020B0609040504020204" pitchFamily="49" charset="0"/>
              </a:rPr>
              <a:t>Number</a:t>
            </a:r>
            <a:r>
              <a:rPr lang="ru-RU" altLang="ru-RU" dirty="0">
                <a:solidFill>
                  <a:srgbClr val="000000"/>
                </a:solidFill>
                <a:latin typeface="Lucida Console" panose="020B0609040504020204" pitchFamily="49" charset="0"/>
              </a:rPr>
              <a:t> </a:t>
            </a:r>
            <a:r>
              <a:rPr lang="ru-RU" altLang="ru-RU" dirty="0" err="1">
                <a:solidFill>
                  <a:srgbClr val="000000"/>
                </a:solidFill>
                <a:latin typeface="Lucida Console" panose="020B0609040504020204" pitchFamily="49" charset="0"/>
              </a:rPr>
              <a:t>of</a:t>
            </a:r>
            <a:r>
              <a:rPr lang="ru-RU" altLang="ru-RU" dirty="0">
                <a:solidFill>
                  <a:srgbClr val="000000"/>
                </a:solidFill>
                <a:latin typeface="Lucida Console" panose="020B0609040504020204" pitchFamily="49" charset="0"/>
              </a:rPr>
              <a:t> </a:t>
            </a:r>
            <a:r>
              <a:rPr lang="ru-RU" altLang="ru-RU" dirty="0" err="1">
                <a:solidFill>
                  <a:srgbClr val="000000"/>
                </a:solidFill>
                <a:latin typeface="Lucida Console" panose="020B0609040504020204" pitchFamily="49" charset="0"/>
              </a:rPr>
              <a:t>objects</a:t>
            </a:r>
            <a:r>
              <a:rPr lang="ru-RU" altLang="ru-RU" dirty="0">
                <a:solidFill>
                  <a:srgbClr val="000000"/>
                </a:solidFill>
                <a:latin typeface="Lucida Console" panose="020B0609040504020204" pitchFamily="49" charset="0"/>
              </a:rPr>
              <a:t>: 25 </a:t>
            </a:r>
            <a:endParaRPr lang="ru-RU" altLang="ru-RU" dirty="0"/>
          </a:p>
        </p:txBody>
      </p:sp>
      <p:sp>
        <p:nvSpPr>
          <p:cNvPr id="3" name="Прямоугольник 2"/>
          <p:cNvSpPr/>
          <p:nvPr/>
        </p:nvSpPr>
        <p:spPr>
          <a:xfrm>
            <a:off x="1941638" y="4859289"/>
            <a:ext cx="7980659" cy="17457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08233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77509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Номер слайда 8"/>
          <p:cNvSpPr>
            <a:spLocks noGrp="1"/>
          </p:cNvSpPr>
          <p:nvPr>
            <p:ph type="sldNum" sz="quarter" idx="12"/>
          </p:nvPr>
        </p:nvSpPr>
        <p:spPr>
          <a:xfrm>
            <a:off x="11188901" y="6496054"/>
            <a:ext cx="1024465" cy="379409"/>
          </a:xfrm>
        </p:spPr>
        <p:txBody>
          <a:bodyPr/>
          <a:lstStyle/>
          <a:p>
            <a:fld id="{952B6C0E-C4B9-4094-8E59-5B7DF00D5415}" type="slidenum">
              <a:rPr lang="ru-RU" smtClean="0">
                <a:solidFill>
                  <a:schemeClr val="tx1"/>
                </a:solidFill>
              </a:rPr>
              <a:t>81</a:t>
            </a:fld>
            <a:endParaRPr lang="ru-RU">
              <a:solidFill>
                <a:schemeClr val="tx1"/>
              </a:solidFill>
            </a:endParaRPr>
          </a:p>
        </p:txBody>
      </p:sp>
      <p:sp>
        <p:nvSpPr>
          <p:cNvPr id="2" name="Заголовок 1"/>
          <p:cNvSpPr txBox="1">
            <a:spLocks noGrp="1"/>
          </p:cNvSpPr>
          <p:nvPr>
            <p:ph type="title" idx="4294967295"/>
          </p:nvPr>
        </p:nvSpPr>
        <p:spPr>
          <a:xfrm>
            <a:off x="2554287" y="361428"/>
            <a:ext cx="7559675" cy="693738"/>
          </a:xfrm>
          <a:prstGeom prst="rect">
            <a:avLst/>
          </a:prstGeom>
        </p:spPr>
        <p:txBody>
          <a:bodyPr>
            <a:normAutofit fontScale="90000"/>
          </a:bodyPr>
          <a:lstStyle/>
          <a:p>
            <a:r>
              <a:rPr lang="ru-RU" sz="4400" dirty="0"/>
              <a:t>Построение дендрограммы</a:t>
            </a:r>
          </a:p>
        </p:txBody>
      </p:sp>
      <p:sp>
        <p:nvSpPr>
          <p:cNvPr id="3" name="Прямоугольник 2"/>
          <p:cNvSpPr/>
          <p:nvPr/>
        </p:nvSpPr>
        <p:spPr>
          <a:xfrm>
            <a:off x="2121987" y="1179848"/>
            <a:ext cx="8280152" cy="1631216"/>
          </a:xfrm>
          <a:prstGeom prst="rect">
            <a:avLst/>
          </a:prstGeom>
        </p:spPr>
        <p:txBody>
          <a:bodyPr wrap="square">
            <a:spAutoFit/>
          </a:bodyPr>
          <a:lstStyle/>
          <a:p>
            <a:r>
              <a:rPr lang="ru-RU" dirty="0">
                <a:solidFill>
                  <a:schemeClr val="accent2">
                    <a:lumMod val="50000"/>
                  </a:schemeClr>
                </a:solidFill>
              </a:rPr>
              <a:t>#  Шаг 4.  Построение дендрограммы</a:t>
            </a:r>
            <a:endParaRPr lang="en-US" dirty="0">
              <a:solidFill>
                <a:schemeClr val="accent2">
                  <a:lumMod val="50000"/>
                </a:schemeClr>
              </a:solidFill>
            </a:endParaRPr>
          </a:p>
          <a:p>
            <a:r>
              <a:rPr lang="en-US" dirty="0">
                <a:solidFill>
                  <a:schemeClr val="accent2">
                    <a:lumMod val="50000"/>
                  </a:schemeClr>
                </a:solidFill>
              </a:rPr>
              <a:t># </a:t>
            </a:r>
            <a:r>
              <a:rPr lang="ru-RU" dirty="0">
                <a:solidFill>
                  <a:schemeClr val="accent2">
                    <a:lumMod val="50000"/>
                  </a:schemeClr>
                </a:solidFill>
              </a:rPr>
              <a:t>глядя на дендрограмму, предполагаем 5 кластеров</a:t>
            </a:r>
          </a:p>
          <a:p>
            <a:endParaRPr lang="ru-RU" dirty="0">
              <a:solidFill>
                <a:schemeClr val="accent2">
                  <a:lumMod val="50000"/>
                </a:schemeClr>
              </a:solidFill>
            </a:endParaRPr>
          </a:p>
          <a:p>
            <a:r>
              <a:rPr lang="ru-RU" dirty="0" err="1">
                <a:solidFill>
                  <a:schemeClr val="tx2"/>
                </a:solidFill>
              </a:rPr>
              <a:t>plot</a:t>
            </a:r>
            <a:r>
              <a:rPr lang="ru-RU" dirty="0">
                <a:solidFill>
                  <a:schemeClr val="tx2"/>
                </a:solidFill>
              </a:rPr>
              <a:t>(</a:t>
            </a:r>
            <a:r>
              <a:rPr lang="ru-RU" dirty="0" err="1">
                <a:solidFill>
                  <a:schemeClr val="tx2"/>
                </a:solidFill>
              </a:rPr>
              <a:t>clust.protein</a:t>
            </a:r>
            <a:r>
              <a:rPr lang="ru-RU" dirty="0">
                <a:solidFill>
                  <a:schemeClr val="tx2"/>
                </a:solidFill>
              </a:rPr>
              <a:t>, </a:t>
            </a:r>
            <a:r>
              <a:rPr lang="ru-RU" dirty="0" err="1">
                <a:solidFill>
                  <a:schemeClr val="tx2"/>
                </a:solidFill>
              </a:rPr>
              <a:t>labels</a:t>
            </a:r>
            <a:r>
              <a:rPr lang="ru-RU" dirty="0">
                <a:solidFill>
                  <a:schemeClr val="tx2"/>
                </a:solidFill>
              </a:rPr>
              <a:t> = protein.02$Countries)</a:t>
            </a:r>
          </a:p>
          <a:p>
            <a:r>
              <a:rPr lang="ru-RU" dirty="0" err="1">
                <a:solidFill>
                  <a:schemeClr val="tx2"/>
                </a:solidFill>
              </a:rPr>
              <a:t>rect.hclust</a:t>
            </a:r>
            <a:r>
              <a:rPr lang="ru-RU" dirty="0">
                <a:solidFill>
                  <a:schemeClr val="tx2"/>
                </a:solidFill>
              </a:rPr>
              <a:t>(</a:t>
            </a:r>
            <a:r>
              <a:rPr lang="ru-RU" dirty="0" err="1">
                <a:solidFill>
                  <a:schemeClr val="tx2"/>
                </a:solidFill>
              </a:rPr>
              <a:t>clust.protein</a:t>
            </a:r>
            <a:r>
              <a:rPr lang="ru-RU" dirty="0">
                <a:solidFill>
                  <a:schemeClr val="tx2"/>
                </a:solidFill>
              </a:rPr>
              <a:t>, k=5, </a:t>
            </a:r>
            <a:r>
              <a:rPr lang="ru-RU" dirty="0" err="1">
                <a:solidFill>
                  <a:schemeClr val="tx2"/>
                </a:solidFill>
              </a:rPr>
              <a:t>border</a:t>
            </a:r>
            <a:r>
              <a:rPr lang="ru-RU" dirty="0">
                <a:solidFill>
                  <a:schemeClr val="tx2"/>
                </a:solidFill>
              </a:rPr>
              <a:t>="</a:t>
            </a:r>
            <a:r>
              <a:rPr lang="ru-RU" dirty="0" err="1">
                <a:solidFill>
                  <a:schemeClr val="tx2"/>
                </a:solidFill>
              </a:rPr>
              <a:t>red</a:t>
            </a:r>
            <a:r>
              <a:rPr lang="ru-RU" dirty="0">
                <a:solidFill>
                  <a:schemeClr val="tx2"/>
                </a:solidFill>
              </a:rPr>
              <a:t>")</a:t>
            </a:r>
          </a:p>
        </p:txBody>
      </p:sp>
      <p:pic>
        <p:nvPicPr>
          <p:cNvPr id="7" name="Рисунок 6"/>
          <p:cNvPicPr>
            <a:picLocks noChangeAspect="1"/>
          </p:cNvPicPr>
          <p:nvPr/>
        </p:nvPicPr>
        <p:blipFill>
          <a:blip r:embed="rId3"/>
          <a:stretch>
            <a:fillRect/>
          </a:stretch>
        </p:blipFill>
        <p:spPr>
          <a:xfrm>
            <a:off x="2211887" y="2922272"/>
            <a:ext cx="8244478" cy="3697523"/>
          </a:xfrm>
          <a:prstGeom prst="rect">
            <a:avLst/>
          </a:prstGeom>
        </p:spPr>
      </p:pic>
    </p:spTree>
    <p:extLst>
      <p:ext uri="{BB962C8B-B14F-4D97-AF65-F5344CB8AC3E}">
        <p14:creationId xmlns:p14="http://schemas.microsoft.com/office/powerpoint/2010/main" val="3265378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Номер слайда 8"/>
          <p:cNvSpPr>
            <a:spLocks noGrp="1"/>
          </p:cNvSpPr>
          <p:nvPr>
            <p:ph type="sldNum" sz="quarter" idx="12"/>
          </p:nvPr>
        </p:nvSpPr>
        <p:spPr>
          <a:xfrm>
            <a:off x="11475391" y="6474030"/>
            <a:ext cx="903488" cy="379409"/>
          </a:xfrm>
        </p:spPr>
        <p:txBody>
          <a:bodyPr/>
          <a:lstStyle/>
          <a:p>
            <a:fld id="{952B6C0E-C4B9-4094-8E59-5B7DF00D5415}" type="slidenum">
              <a:rPr lang="ru-RU" smtClean="0">
                <a:solidFill>
                  <a:schemeClr val="tx1"/>
                </a:solidFill>
              </a:rPr>
              <a:t>82</a:t>
            </a:fld>
            <a:endParaRPr lang="ru-RU" dirty="0">
              <a:solidFill>
                <a:schemeClr val="tx1"/>
              </a:solidFill>
            </a:endParaRPr>
          </a:p>
        </p:txBody>
      </p:sp>
      <p:sp>
        <p:nvSpPr>
          <p:cNvPr id="2" name="Заголовок 1"/>
          <p:cNvSpPr txBox="1">
            <a:spLocks noGrp="1"/>
          </p:cNvSpPr>
          <p:nvPr>
            <p:ph type="title" idx="4294967295"/>
          </p:nvPr>
        </p:nvSpPr>
        <p:spPr>
          <a:xfrm>
            <a:off x="2554287" y="322262"/>
            <a:ext cx="7559675" cy="693738"/>
          </a:xfrm>
          <a:prstGeom prst="rect">
            <a:avLst/>
          </a:prstGeom>
        </p:spPr>
        <p:txBody>
          <a:bodyPr>
            <a:normAutofit fontScale="90000"/>
          </a:bodyPr>
          <a:lstStyle/>
          <a:p>
            <a:r>
              <a:rPr lang="ru-RU" sz="4400" dirty="0"/>
              <a:t>Построение дендрограммы</a:t>
            </a:r>
          </a:p>
        </p:txBody>
      </p:sp>
      <p:sp>
        <p:nvSpPr>
          <p:cNvPr id="3" name="Прямоугольник 2"/>
          <p:cNvSpPr/>
          <p:nvPr/>
        </p:nvSpPr>
        <p:spPr>
          <a:xfrm>
            <a:off x="2157661" y="1402904"/>
            <a:ext cx="8280152" cy="1631216"/>
          </a:xfrm>
          <a:prstGeom prst="rect">
            <a:avLst/>
          </a:prstGeom>
        </p:spPr>
        <p:txBody>
          <a:bodyPr wrap="square">
            <a:spAutoFit/>
          </a:bodyPr>
          <a:lstStyle/>
          <a:p>
            <a:r>
              <a:rPr lang="ru-RU" dirty="0">
                <a:solidFill>
                  <a:schemeClr val="accent2">
                    <a:lumMod val="50000"/>
                  </a:schemeClr>
                </a:solidFill>
              </a:rPr>
              <a:t>#  Шаг 4.  Построение дендрограммы</a:t>
            </a:r>
          </a:p>
          <a:p>
            <a:endParaRPr lang="ru-RU" dirty="0">
              <a:solidFill>
                <a:schemeClr val="accent2">
                  <a:lumMod val="50000"/>
                </a:schemeClr>
              </a:solidFill>
            </a:endParaRPr>
          </a:p>
          <a:p>
            <a:r>
              <a:rPr lang="ru-RU" dirty="0" err="1">
                <a:solidFill>
                  <a:schemeClr val="accent2">
                    <a:lumMod val="50000"/>
                  </a:schemeClr>
                </a:solidFill>
              </a:rPr>
              <a:t>plot</a:t>
            </a:r>
            <a:r>
              <a:rPr lang="ru-RU" dirty="0">
                <a:solidFill>
                  <a:schemeClr val="accent2">
                    <a:lumMod val="50000"/>
                  </a:schemeClr>
                </a:solidFill>
              </a:rPr>
              <a:t>(</a:t>
            </a:r>
            <a:r>
              <a:rPr lang="ru-RU" dirty="0" err="1">
                <a:solidFill>
                  <a:schemeClr val="accent2">
                    <a:lumMod val="50000"/>
                  </a:schemeClr>
                </a:solidFill>
              </a:rPr>
              <a:t>clust.protein</a:t>
            </a:r>
            <a:r>
              <a:rPr lang="ru-RU" dirty="0">
                <a:solidFill>
                  <a:schemeClr val="accent2">
                    <a:lumMod val="50000"/>
                  </a:schemeClr>
                </a:solidFill>
              </a:rPr>
              <a:t>, </a:t>
            </a:r>
            <a:r>
              <a:rPr lang="ru-RU" dirty="0" err="1">
                <a:solidFill>
                  <a:schemeClr val="accent2">
                    <a:lumMod val="50000"/>
                  </a:schemeClr>
                </a:solidFill>
              </a:rPr>
              <a:t>labels</a:t>
            </a:r>
            <a:r>
              <a:rPr lang="ru-RU" dirty="0">
                <a:solidFill>
                  <a:schemeClr val="accent2">
                    <a:lumMod val="50000"/>
                  </a:schemeClr>
                </a:solidFill>
              </a:rPr>
              <a:t> = protein.02$Countries)</a:t>
            </a:r>
          </a:p>
          <a:p>
            <a:r>
              <a:rPr lang="ru-RU" dirty="0" err="1">
                <a:solidFill>
                  <a:schemeClr val="accent2">
                    <a:lumMod val="50000"/>
                  </a:schemeClr>
                </a:solidFill>
              </a:rPr>
              <a:t>rect.hclust</a:t>
            </a:r>
            <a:r>
              <a:rPr lang="ru-RU" dirty="0">
                <a:solidFill>
                  <a:schemeClr val="accent2">
                    <a:lumMod val="50000"/>
                  </a:schemeClr>
                </a:solidFill>
              </a:rPr>
              <a:t>(</a:t>
            </a:r>
            <a:r>
              <a:rPr lang="ru-RU" dirty="0" err="1">
                <a:solidFill>
                  <a:schemeClr val="accent2">
                    <a:lumMod val="50000"/>
                  </a:schemeClr>
                </a:solidFill>
              </a:rPr>
              <a:t>clust.protein</a:t>
            </a:r>
            <a:r>
              <a:rPr lang="ru-RU" dirty="0">
                <a:solidFill>
                  <a:schemeClr val="accent2">
                    <a:lumMod val="50000"/>
                  </a:schemeClr>
                </a:solidFill>
              </a:rPr>
              <a:t>, k=5, </a:t>
            </a:r>
            <a:r>
              <a:rPr lang="ru-RU" dirty="0" err="1">
                <a:solidFill>
                  <a:schemeClr val="accent2">
                    <a:lumMod val="50000"/>
                  </a:schemeClr>
                </a:solidFill>
              </a:rPr>
              <a:t>border</a:t>
            </a:r>
            <a:r>
              <a:rPr lang="ru-RU" dirty="0">
                <a:solidFill>
                  <a:schemeClr val="accent2">
                    <a:lumMod val="50000"/>
                  </a:schemeClr>
                </a:solidFill>
              </a:rPr>
              <a:t>="</a:t>
            </a:r>
            <a:r>
              <a:rPr lang="ru-RU" dirty="0" err="1">
                <a:solidFill>
                  <a:schemeClr val="accent2">
                    <a:lumMod val="50000"/>
                  </a:schemeClr>
                </a:solidFill>
              </a:rPr>
              <a:t>red</a:t>
            </a:r>
            <a:r>
              <a:rPr lang="ru-RU" dirty="0">
                <a:solidFill>
                  <a:schemeClr val="accent2">
                    <a:lumMod val="50000"/>
                  </a:schemeClr>
                </a:solidFill>
              </a:rPr>
              <a:t>")</a:t>
            </a:r>
          </a:p>
          <a:p>
            <a:r>
              <a:rPr lang="ru-RU" dirty="0" err="1">
                <a:solidFill>
                  <a:schemeClr val="accent2">
                    <a:lumMod val="50000"/>
                  </a:schemeClr>
                </a:solidFill>
              </a:rPr>
              <a:t>abline</a:t>
            </a:r>
            <a:r>
              <a:rPr lang="ru-RU" dirty="0">
                <a:solidFill>
                  <a:schemeClr val="accent2">
                    <a:lumMod val="50000"/>
                  </a:schemeClr>
                </a:solidFill>
              </a:rPr>
              <a:t>(h = 1.5, col = "</a:t>
            </a:r>
            <a:r>
              <a:rPr lang="ru-RU" dirty="0" err="1">
                <a:solidFill>
                  <a:schemeClr val="accent2">
                    <a:lumMod val="50000"/>
                  </a:schemeClr>
                </a:solidFill>
              </a:rPr>
              <a:t>blue</a:t>
            </a:r>
            <a:r>
              <a:rPr lang="ru-RU" dirty="0">
                <a:solidFill>
                  <a:schemeClr val="accent2">
                    <a:lumMod val="50000"/>
                  </a:schemeClr>
                </a:solidFill>
              </a:rPr>
              <a:t>", </a:t>
            </a:r>
            <a:r>
              <a:rPr lang="ru-RU" dirty="0" err="1">
                <a:solidFill>
                  <a:schemeClr val="accent2">
                    <a:lumMod val="50000"/>
                  </a:schemeClr>
                </a:solidFill>
              </a:rPr>
              <a:t>lwd</a:t>
            </a:r>
            <a:r>
              <a:rPr lang="ru-RU" dirty="0">
                <a:solidFill>
                  <a:schemeClr val="accent2">
                    <a:lumMod val="50000"/>
                  </a:schemeClr>
                </a:solidFill>
              </a:rPr>
              <a:t>='3') # h - </a:t>
            </a:r>
            <a:r>
              <a:rPr lang="ru-RU" dirty="0" err="1">
                <a:solidFill>
                  <a:schemeClr val="accent2">
                    <a:lumMod val="50000"/>
                  </a:schemeClr>
                </a:solidFill>
              </a:rPr>
              <a:t>horizontal</a:t>
            </a:r>
            <a:r>
              <a:rPr lang="ru-RU" dirty="0">
                <a:solidFill>
                  <a:schemeClr val="accent2">
                    <a:lumMod val="50000"/>
                  </a:schemeClr>
                </a:solidFill>
              </a:rPr>
              <a:t> </a:t>
            </a:r>
            <a:r>
              <a:rPr lang="ru-RU" dirty="0" err="1">
                <a:solidFill>
                  <a:schemeClr val="accent2">
                    <a:lumMod val="50000"/>
                  </a:schemeClr>
                </a:solidFill>
              </a:rPr>
              <a:t>line</a:t>
            </a:r>
            <a:r>
              <a:rPr lang="ru-RU" dirty="0">
                <a:solidFill>
                  <a:schemeClr val="accent2">
                    <a:lumMod val="50000"/>
                  </a:schemeClr>
                </a:solidFill>
              </a:rPr>
              <a:t>, col - </a:t>
            </a:r>
            <a:r>
              <a:rPr lang="ru-RU" dirty="0" err="1">
                <a:solidFill>
                  <a:schemeClr val="accent2">
                    <a:lumMod val="50000"/>
                  </a:schemeClr>
                </a:solidFill>
              </a:rPr>
              <a:t>color</a:t>
            </a:r>
            <a:endParaRPr lang="ru-RU" dirty="0">
              <a:solidFill>
                <a:schemeClr val="accent2">
                  <a:lumMod val="50000"/>
                </a:schemeClr>
              </a:solidFill>
            </a:endParaRPr>
          </a:p>
        </p:txBody>
      </p:sp>
      <p:pic>
        <p:nvPicPr>
          <p:cNvPr id="7" name="Рисунок 6"/>
          <p:cNvPicPr>
            <a:picLocks noChangeAspect="1"/>
          </p:cNvPicPr>
          <p:nvPr/>
        </p:nvPicPr>
        <p:blipFill>
          <a:blip r:embed="rId3"/>
          <a:stretch>
            <a:fillRect/>
          </a:stretch>
        </p:blipFill>
        <p:spPr>
          <a:xfrm>
            <a:off x="2159278" y="3101385"/>
            <a:ext cx="7896225" cy="3562350"/>
          </a:xfrm>
          <a:prstGeom prst="rect">
            <a:avLst/>
          </a:prstGeom>
        </p:spPr>
      </p:pic>
      <p:sp>
        <p:nvSpPr>
          <p:cNvPr id="8" name="Прямоугольник 7"/>
          <p:cNvSpPr/>
          <p:nvPr/>
        </p:nvSpPr>
        <p:spPr>
          <a:xfrm>
            <a:off x="2157661" y="2699048"/>
            <a:ext cx="7560840" cy="335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83769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Номер слайда 7"/>
          <p:cNvSpPr>
            <a:spLocks noGrp="1"/>
          </p:cNvSpPr>
          <p:nvPr>
            <p:ph type="sldNum" sz="quarter" idx="12"/>
          </p:nvPr>
        </p:nvSpPr>
        <p:spPr>
          <a:xfrm>
            <a:off x="11446693" y="6496054"/>
            <a:ext cx="808441" cy="379409"/>
          </a:xfrm>
        </p:spPr>
        <p:txBody>
          <a:bodyPr/>
          <a:lstStyle/>
          <a:p>
            <a:fld id="{952B6C0E-C4B9-4094-8E59-5B7DF00D5415}" type="slidenum">
              <a:rPr lang="ru-RU" smtClean="0">
                <a:solidFill>
                  <a:schemeClr val="tx1"/>
                </a:solidFill>
              </a:rPr>
              <a:t>83</a:t>
            </a:fld>
            <a:endParaRPr lang="ru-RU" dirty="0">
              <a:solidFill>
                <a:schemeClr val="tx1"/>
              </a:solidFill>
            </a:endParaRPr>
          </a:p>
        </p:txBody>
      </p:sp>
      <p:sp>
        <p:nvSpPr>
          <p:cNvPr id="2" name="Заголовок 1"/>
          <p:cNvSpPr txBox="1">
            <a:spLocks noGrp="1"/>
          </p:cNvSpPr>
          <p:nvPr>
            <p:ph type="title" idx="4294967295"/>
          </p:nvPr>
        </p:nvSpPr>
        <p:spPr>
          <a:xfrm>
            <a:off x="2625911" y="294118"/>
            <a:ext cx="7559675" cy="693737"/>
          </a:xfrm>
          <a:prstGeom prst="rect">
            <a:avLst/>
          </a:prstGeom>
        </p:spPr>
        <p:txBody>
          <a:bodyPr>
            <a:normAutofit fontScale="90000"/>
          </a:bodyPr>
          <a:lstStyle/>
          <a:p>
            <a:r>
              <a:rPr lang="ru-RU" sz="4400" dirty="0"/>
              <a:t>Построение дендрограммы</a:t>
            </a:r>
          </a:p>
        </p:txBody>
      </p:sp>
      <p:sp>
        <p:nvSpPr>
          <p:cNvPr id="3" name="Прямоугольник 2"/>
          <p:cNvSpPr/>
          <p:nvPr/>
        </p:nvSpPr>
        <p:spPr>
          <a:xfrm>
            <a:off x="2157661" y="1402905"/>
            <a:ext cx="8280152" cy="830997"/>
          </a:xfrm>
          <a:prstGeom prst="rect">
            <a:avLst/>
          </a:prstGeom>
        </p:spPr>
        <p:txBody>
          <a:bodyPr wrap="square">
            <a:spAutoFit/>
          </a:bodyPr>
          <a:lstStyle/>
          <a:p>
            <a:r>
              <a:rPr lang="ru-RU" sz="2400" dirty="0"/>
              <a:t>Как проверить, нумерует ли </a:t>
            </a:r>
            <a:r>
              <a:rPr lang="en-US" sz="2400" dirty="0"/>
              <a:t>R </a:t>
            </a:r>
            <a:r>
              <a:rPr lang="ru-RU" sz="2400" dirty="0"/>
              <a:t>кластера в порядке их расположения слева направо?</a:t>
            </a:r>
          </a:p>
        </p:txBody>
      </p:sp>
      <p:sp>
        <p:nvSpPr>
          <p:cNvPr id="9" name="Прямоугольник 8"/>
          <p:cNvSpPr/>
          <p:nvPr/>
        </p:nvSpPr>
        <p:spPr>
          <a:xfrm>
            <a:off x="1653158" y="2318622"/>
            <a:ext cx="9360918" cy="2862322"/>
          </a:xfrm>
          <a:prstGeom prst="rect">
            <a:avLst/>
          </a:prstGeom>
        </p:spPr>
        <p:txBody>
          <a:bodyPr wrap="square">
            <a:spAutoFit/>
          </a:bodyPr>
          <a:lstStyle/>
          <a:p>
            <a:r>
              <a:rPr lang="ru-RU" dirty="0">
                <a:solidFill>
                  <a:schemeClr val="accent2">
                    <a:lumMod val="50000"/>
                  </a:schemeClr>
                </a:solidFill>
              </a:rPr>
              <a:t>#  Разделим страны на 5 кластеров</a:t>
            </a:r>
          </a:p>
          <a:p>
            <a:r>
              <a:rPr lang="ru-RU" dirty="0">
                <a:solidFill>
                  <a:schemeClr val="accent2">
                    <a:lumMod val="50000"/>
                  </a:schemeClr>
                </a:solidFill>
              </a:rPr>
              <a:t>#  Вектор </a:t>
            </a:r>
            <a:r>
              <a:rPr lang="ru-RU" dirty="0" err="1">
                <a:solidFill>
                  <a:schemeClr val="accent2">
                    <a:lumMod val="50000"/>
                  </a:schemeClr>
                </a:solidFill>
              </a:rPr>
              <a:t>groups</a:t>
            </a:r>
            <a:r>
              <a:rPr lang="ru-RU" dirty="0">
                <a:solidFill>
                  <a:schemeClr val="accent2">
                    <a:lumMod val="50000"/>
                  </a:schemeClr>
                </a:solidFill>
              </a:rPr>
              <a:t> содержит номер кластера, в который попал </a:t>
            </a:r>
            <a:endParaRPr lang="en-US" dirty="0">
              <a:solidFill>
                <a:schemeClr val="accent2">
                  <a:lumMod val="50000"/>
                </a:schemeClr>
              </a:solidFill>
            </a:endParaRPr>
          </a:p>
          <a:p>
            <a:r>
              <a:rPr lang="en-US" dirty="0">
                <a:solidFill>
                  <a:schemeClr val="accent2">
                    <a:lumMod val="50000"/>
                  </a:schemeClr>
                </a:solidFill>
              </a:rPr>
              <a:t>#   </a:t>
            </a:r>
            <a:r>
              <a:rPr lang="ru-RU" dirty="0">
                <a:solidFill>
                  <a:schemeClr val="accent2">
                    <a:lumMod val="50000"/>
                  </a:schemeClr>
                </a:solidFill>
              </a:rPr>
              <a:t>классифицируемый объект </a:t>
            </a:r>
            <a:endParaRPr lang="en-US" dirty="0">
              <a:solidFill>
                <a:schemeClr val="accent2">
                  <a:lumMod val="50000"/>
                </a:schemeClr>
              </a:solidFill>
            </a:endParaRPr>
          </a:p>
          <a:p>
            <a:endParaRPr lang="en-US" dirty="0">
              <a:solidFill>
                <a:schemeClr val="accent2">
                  <a:lumMod val="50000"/>
                </a:schemeClr>
              </a:solidFill>
            </a:endParaRPr>
          </a:p>
          <a:p>
            <a:r>
              <a:rPr lang="ru-RU" dirty="0">
                <a:solidFill>
                  <a:schemeClr val="accent2">
                    <a:lumMod val="50000"/>
                  </a:schemeClr>
                </a:solidFill>
              </a:rPr>
              <a:t># Разрезает дерево, например, полученное в результате </a:t>
            </a:r>
            <a:r>
              <a:rPr lang="ru-RU" dirty="0" err="1">
                <a:solidFill>
                  <a:schemeClr val="accent2">
                    <a:lumMod val="50000"/>
                  </a:schemeClr>
                </a:solidFill>
              </a:rPr>
              <a:t>hclust</a:t>
            </a:r>
            <a:r>
              <a:rPr lang="ru-RU" dirty="0">
                <a:solidFill>
                  <a:schemeClr val="accent2">
                    <a:lumMod val="50000"/>
                  </a:schemeClr>
                </a:solidFill>
              </a:rPr>
              <a:t>, на несколько</a:t>
            </a:r>
            <a:endParaRPr lang="en-US" dirty="0">
              <a:solidFill>
                <a:schemeClr val="accent2">
                  <a:lumMod val="50000"/>
                </a:schemeClr>
              </a:solidFill>
            </a:endParaRPr>
          </a:p>
          <a:p>
            <a:r>
              <a:rPr lang="ru-RU" dirty="0">
                <a:solidFill>
                  <a:schemeClr val="accent2">
                    <a:lumMod val="50000"/>
                  </a:schemeClr>
                </a:solidFill>
              </a:rPr>
              <a:t>#</a:t>
            </a:r>
            <a:r>
              <a:rPr lang="en-US" dirty="0">
                <a:solidFill>
                  <a:schemeClr val="accent2">
                    <a:lumMod val="50000"/>
                  </a:schemeClr>
                </a:solidFill>
              </a:rPr>
              <a:t> </a:t>
            </a:r>
            <a:r>
              <a:rPr lang="ru-RU" dirty="0">
                <a:solidFill>
                  <a:schemeClr val="accent2">
                    <a:lumMod val="50000"/>
                  </a:schemeClr>
                </a:solidFill>
              </a:rPr>
              <a:t>групп путем указания желаемого количества групп или высоты среза</a:t>
            </a:r>
            <a:endParaRPr lang="en-US" dirty="0">
              <a:solidFill>
                <a:schemeClr val="accent2">
                  <a:lumMod val="50000"/>
                </a:schemeClr>
              </a:solidFill>
            </a:endParaRPr>
          </a:p>
          <a:p>
            <a:endParaRPr lang="ru-RU" dirty="0">
              <a:solidFill>
                <a:schemeClr val="accent2">
                  <a:lumMod val="50000"/>
                </a:schemeClr>
              </a:solidFill>
            </a:endParaRPr>
          </a:p>
          <a:p>
            <a:r>
              <a:rPr lang="ru-RU" dirty="0" err="1">
                <a:solidFill>
                  <a:schemeClr val="accent2">
                    <a:lumMod val="50000"/>
                  </a:schemeClr>
                </a:solidFill>
              </a:rPr>
              <a:t>groups</a:t>
            </a:r>
            <a:r>
              <a:rPr lang="ru-RU" dirty="0">
                <a:solidFill>
                  <a:schemeClr val="accent2">
                    <a:lumMod val="50000"/>
                  </a:schemeClr>
                </a:solidFill>
              </a:rPr>
              <a:t> &lt;- </a:t>
            </a:r>
            <a:r>
              <a:rPr lang="ru-RU" dirty="0" err="1">
                <a:solidFill>
                  <a:schemeClr val="accent2">
                    <a:lumMod val="50000"/>
                  </a:schemeClr>
                </a:solidFill>
              </a:rPr>
              <a:t>cutree</a:t>
            </a:r>
            <a:r>
              <a:rPr lang="ru-RU" dirty="0">
                <a:solidFill>
                  <a:schemeClr val="accent2">
                    <a:lumMod val="50000"/>
                  </a:schemeClr>
                </a:solidFill>
              </a:rPr>
              <a:t>(</a:t>
            </a:r>
            <a:r>
              <a:rPr lang="ru-RU" dirty="0" err="1">
                <a:solidFill>
                  <a:schemeClr val="accent2">
                    <a:lumMod val="50000"/>
                  </a:schemeClr>
                </a:solidFill>
              </a:rPr>
              <a:t>clust.protein</a:t>
            </a:r>
            <a:r>
              <a:rPr lang="ru-RU" dirty="0">
                <a:solidFill>
                  <a:schemeClr val="accent2">
                    <a:lumMod val="50000"/>
                  </a:schemeClr>
                </a:solidFill>
              </a:rPr>
              <a:t>, k=5) </a:t>
            </a:r>
          </a:p>
          <a:p>
            <a:r>
              <a:rPr lang="ru-RU" dirty="0" err="1">
                <a:solidFill>
                  <a:schemeClr val="accent2">
                    <a:lumMod val="50000"/>
                  </a:schemeClr>
                </a:solidFill>
              </a:rPr>
              <a:t>groups</a:t>
            </a:r>
            <a:endParaRPr lang="ru-RU" dirty="0">
              <a:solidFill>
                <a:schemeClr val="accent2">
                  <a:lumMod val="50000"/>
                </a:schemeClr>
              </a:solidFill>
            </a:endParaRPr>
          </a:p>
        </p:txBody>
      </p:sp>
      <p:pic>
        <p:nvPicPr>
          <p:cNvPr id="11" name="Рисунок 10"/>
          <p:cNvPicPr>
            <a:picLocks noChangeAspect="1"/>
          </p:cNvPicPr>
          <p:nvPr/>
        </p:nvPicPr>
        <p:blipFill>
          <a:blip r:embed="rId3"/>
          <a:stretch>
            <a:fillRect/>
          </a:stretch>
        </p:blipFill>
        <p:spPr>
          <a:xfrm>
            <a:off x="2057283" y="5608266"/>
            <a:ext cx="8553687" cy="650824"/>
          </a:xfrm>
          <a:prstGeom prst="rect">
            <a:avLst/>
          </a:prstGeom>
        </p:spPr>
      </p:pic>
    </p:spTree>
    <p:extLst>
      <p:ext uri="{BB962C8B-B14F-4D97-AF65-F5344CB8AC3E}">
        <p14:creationId xmlns:p14="http://schemas.microsoft.com/office/powerpoint/2010/main" val="1763209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9" name="Номер слайда 8"/>
          <p:cNvSpPr>
            <a:spLocks noGrp="1"/>
          </p:cNvSpPr>
          <p:nvPr>
            <p:ph type="sldNum" sz="quarter" idx="12"/>
          </p:nvPr>
        </p:nvSpPr>
        <p:spPr/>
        <p:txBody>
          <a:bodyPr/>
          <a:lstStyle/>
          <a:p>
            <a:fld id="{952B6C0E-C4B9-4094-8E59-5B7DF00D5415}" type="slidenum">
              <a:rPr lang="ru-RU" smtClean="0">
                <a:solidFill>
                  <a:schemeClr val="tx1"/>
                </a:solidFill>
              </a:rPr>
              <a:t>84</a:t>
            </a:fld>
            <a:endParaRPr lang="ru-RU" dirty="0">
              <a:solidFill>
                <a:schemeClr val="tx1"/>
              </a:solidFill>
            </a:endParaRPr>
          </a:p>
        </p:txBody>
      </p:sp>
      <p:sp>
        <p:nvSpPr>
          <p:cNvPr id="2" name="Заголовок 1"/>
          <p:cNvSpPr txBox="1">
            <a:spLocks noGrp="1"/>
          </p:cNvSpPr>
          <p:nvPr>
            <p:ph type="title" idx="4294967295"/>
          </p:nvPr>
        </p:nvSpPr>
        <p:spPr>
          <a:xfrm>
            <a:off x="2361878" y="335695"/>
            <a:ext cx="7559675" cy="693737"/>
          </a:xfrm>
          <a:prstGeom prst="rect">
            <a:avLst/>
          </a:prstGeom>
        </p:spPr>
        <p:txBody>
          <a:bodyPr>
            <a:normAutofit fontScale="90000"/>
          </a:bodyPr>
          <a:lstStyle/>
          <a:p>
            <a:r>
              <a:rPr lang="ru-RU" sz="4400" dirty="0"/>
              <a:t>Построение дендрограммы</a:t>
            </a:r>
          </a:p>
        </p:txBody>
      </p:sp>
      <p:sp>
        <p:nvSpPr>
          <p:cNvPr id="3" name="Прямоугольник 2"/>
          <p:cNvSpPr/>
          <p:nvPr/>
        </p:nvSpPr>
        <p:spPr>
          <a:xfrm>
            <a:off x="1221557" y="1245730"/>
            <a:ext cx="10585176" cy="830997"/>
          </a:xfrm>
          <a:prstGeom prst="rect">
            <a:avLst/>
          </a:prstGeom>
        </p:spPr>
        <p:txBody>
          <a:bodyPr wrap="square">
            <a:spAutoFit/>
          </a:bodyPr>
          <a:lstStyle/>
          <a:p>
            <a:r>
              <a:rPr lang="ru-RU" sz="2400" dirty="0"/>
              <a:t>Как проверить, нумерует ли </a:t>
            </a:r>
            <a:r>
              <a:rPr lang="en-US" sz="2400" dirty="0"/>
              <a:t>R </a:t>
            </a:r>
            <a:r>
              <a:rPr lang="ru-RU" sz="2400" dirty="0"/>
              <a:t>кластера в порядке их расположения слева направо?</a:t>
            </a:r>
          </a:p>
        </p:txBody>
      </p:sp>
      <p:sp>
        <p:nvSpPr>
          <p:cNvPr id="10" name="Прямоугольник 9"/>
          <p:cNvSpPr/>
          <p:nvPr/>
        </p:nvSpPr>
        <p:spPr>
          <a:xfrm>
            <a:off x="2130798" y="2110196"/>
            <a:ext cx="8451799" cy="1938992"/>
          </a:xfrm>
          <a:prstGeom prst="rect">
            <a:avLst/>
          </a:prstGeom>
        </p:spPr>
        <p:txBody>
          <a:bodyPr wrap="square">
            <a:spAutoFit/>
          </a:bodyPr>
          <a:lstStyle/>
          <a:p>
            <a:r>
              <a:rPr lang="ru-RU" dirty="0">
                <a:solidFill>
                  <a:schemeClr val="accent2">
                    <a:lumMod val="50000"/>
                  </a:schemeClr>
                </a:solidFill>
              </a:rPr>
              <a:t>#  Выведем странны соответственно сформированным кластерам </a:t>
            </a:r>
          </a:p>
          <a:p>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==1, 1]</a:t>
            </a:r>
          </a:p>
          <a:p>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==2, 1]</a:t>
            </a:r>
          </a:p>
          <a:p>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==3, 1]</a:t>
            </a:r>
          </a:p>
          <a:p>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==4, 1]</a:t>
            </a:r>
          </a:p>
          <a:p>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==5, 1]</a:t>
            </a:r>
          </a:p>
        </p:txBody>
      </p:sp>
      <p:sp>
        <p:nvSpPr>
          <p:cNvPr id="8" name="Rectangle 2"/>
          <p:cNvSpPr>
            <a:spLocks noChangeArrowheads="1"/>
          </p:cNvSpPr>
          <p:nvPr/>
        </p:nvSpPr>
        <p:spPr bwMode="auto">
          <a:xfrm>
            <a:off x="1840902" y="4528321"/>
            <a:ext cx="8741694" cy="17235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ru-RU" altLang="ru-RU" sz="1600" dirty="0">
                <a:solidFill>
                  <a:srgbClr val="0000FF"/>
                </a:solidFill>
                <a:latin typeface="Lucida Console" panose="020B0609040504020204" pitchFamily="49" charset="0"/>
              </a:rPr>
              <a:t>&gt; protein.01[</a:t>
            </a:r>
            <a:r>
              <a:rPr lang="ru-RU" altLang="ru-RU" sz="1600" dirty="0" err="1">
                <a:solidFill>
                  <a:srgbClr val="0000FF"/>
                </a:solidFill>
                <a:latin typeface="Lucida Console" panose="020B0609040504020204" pitchFamily="49" charset="0"/>
              </a:rPr>
              <a:t>groups</a:t>
            </a:r>
            <a:r>
              <a:rPr lang="ru-RU" altLang="ru-RU" sz="1600" dirty="0">
                <a:solidFill>
                  <a:srgbClr val="0000FF"/>
                </a:solidFill>
                <a:latin typeface="Lucida Console" panose="020B0609040504020204" pitchFamily="49" charset="0"/>
              </a:rPr>
              <a:t>==1, 1] </a:t>
            </a:r>
            <a:r>
              <a:rPr lang="ru-RU" altLang="ru-RU" sz="1600" dirty="0">
                <a:solidFill>
                  <a:srgbClr val="000000"/>
                </a:solidFill>
                <a:latin typeface="Lucida Console" panose="020B0609040504020204" pitchFamily="49" charset="0"/>
              </a:rPr>
              <a:t>[1] </a:t>
            </a:r>
            <a:r>
              <a:rPr lang="ru-RU" altLang="ru-RU" sz="1600" dirty="0" err="1">
                <a:solidFill>
                  <a:srgbClr val="000000"/>
                </a:solidFill>
                <a:latin typeface="Lucida Console" panose="020B0609040504020204" pitchFamily="49" charset="0"/>
              </a:rPr>
              <a:t>Albania</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Bulgaria</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Romania</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Yugoslavia</a:t>
            </a:r>
            <a:r>
              <a:rPr lang="ru-RU" altLang="ru-RU" sz="1600" dirty="0">
                <a:solidFill>
                  <a:srgbClr val="000000"/>
                </a:solidFill>
                <a:latin typeface="Lucida Console" panose="020B0609040504020204" pitchFamily="49" charset="0"/>
              </a:rPr>
              <a:t> </a:t>
            </a:r>
          </a:p>
          <a:p>
            <a:pPr eaLnBrk="0" hangingPunct="0"/>
            <a:r>
              <a:rPr lang="ru-RU" altLang="ru-RU" sz="1600" dirty="0">
                <a:solidFill>
                  <a:srgbClr val="0000FF"/>
                </a:solidFill>
                <a:latin typeface="Lucida Console" panose="020B0609040504020204" pitchFamily="49" charset="0"/>
              </a:rPr>
              <a:t>&gt; protein.01[</a:t>
            </a:r>
            <a:r>
              <a:rPr lang="ru-RU" altLang="ru-RU" sz="1600" dirty="0" err="1">
                <a:solidFill>
                  <a:srgbClr val="0000FF"/>
                </a:solidFill>
                <a:latin typeface="Lucida Console" panose="020B0609040504020204" pitchFamily="49" charset="0"/>
              </a:rPr>
              <a:t>groups</a:t>
            </a:r>
            <a:r>
              <a:rPr lang="ru-RU" altLang="ru-RU" sz="1600" dirty="0">
                <a:solidFill>
                  <a:srgbClr val="0000FF"/>
                </a:solidFill>
                <a:latin typeface="Lucida Console" panose="020B0609040504020204" pitchFamily="49" charset="0"/>
              </a:rPr>
              <a:t>==2, 1] </a:t>
            </a:r>
            <a:r>
              <a:rPr lang="ru-RU" altLang="ru-RU" sz="1600" dirty="0">
                <a:solidFill>
                  <a:srgbClr val="000000"/>
                </a:solidFill>
                <a:latin typeface="Lucida Console" panose="020B0609040504020204" pitchFamily="49" charset="0"/>
              </a:rPr>
              <a:t>[1] </a:t>
            </a:r>
            <a:r>
              <a:rPr lang="ru-RU" altLang="ru-RU" sz="1600" dirty="0" err="1">
                <a:solidFill>
                  <a:srgbClr val="000000"/>
                </a:solidFill>
                <a:latin typeface="Lucida Console" panose="020B0609040504020204" pitchFamily="49" charset="0"/>
              </a:rPr>
              <a:t>Austria</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Czechoslovakia</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E_Germany</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Hungary</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Netherlands</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Poland</a:t>
            </a:r>
            <a:r>
              <a:rPr lang="ru-RU" altLang="ru-RU" sz="1600" dirty="0">
                <a:solidFill>
                  <a:srgbClr val="000000"/>
                </a:solidFill>
                <a:latin typeface="Lucida Console" panose="020B0609040504020204" pitchFamily="49" charset="0"/>
              </a:rPr>
              <a:t> USSR </a:t>
            </a:r>
          </a:p>
          <a:p>
            <a:pPr eaLnBrk="0" hangingPunct="0"/>
            <a:r>
              <a:rPr lang="ru-RU" altLang="ru-RU" sz="1600" dirty="0">
                <a:solidFill>
                  <a:srgbClr val="0000FF"/>
                </a:solidFill>
                <a:latin typeface="Lucida Console" panose="020B0609040504020204" pitchFamily="49" charset="0"/>
              </a:rPr>
              <a:t>&gt; protein.01[</a:t>
            </a:r>
            <a:r>
              <a:rPr lang="ru-RU" altLang="ru-RU" sz="1600" dirty="0" err="1">
                <a:solidFill>
                  <a:srgbClr val="0000FF"/>
                </a:solidFill>
                <a:latin typeface="Lucida Console" panose="020B0609040504020204" pitchFamily="49" charset="0"/>
              </a:rPr>
              <a:t>groups</a:t>
            </a:r>
            <a:r>
              <a:rPr lang="ru-RU" altLang="ru-RU" sz="1600" dirty="0">
                <a:solidFill>
                  <a:srgbClr val="0000FF"/>
                </a:solidFill>
                <a:latin typeface="Lucida Console" panose="020B0609040504020204" pitchFamily="49" charset="0"/>
              </a:rPr>
              <a:t>==3, 1] </a:t>
            </a:r>
            <a:r>
              <a:rPr lang="ru-RU" altLang="ru-RU" sz="1600" dirty="0">
                <a:solidFill>
                  <a:srgbClr val="000000"/>
                </a:solidFill>
                <a:latin typeface="Lucida Console" panose="020B0609040504020204" pitchFamily="49" charset="0"/>
              </a:rPr>
              <a:t>[1] </a:t>
            </a:r>
            <a:r>
              <a:rPr lang="ru-RU" altLang="ru-RU" sz="1600" dirty="0" err="1">
                <a:solidFill>
                  <a:srgbClr val="000000"/>
                </a:solidFill>
                <a:latin typeface="Lucida Console" panose="020B0609040504020204" pitchFamily="49" charset="0"/>
              </a:rPr>
              <a:t>Belgium</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France</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Ireland</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Switzerland</a:t>
            </a:r>
            <a:r>
              <a:rPr lang="ru-RU" altLang="ru-RU" sz="1600" dirty="0">
                <a:solidFill>
                  <a:srgbClr val="000000"/>
                </a:solidFill>
                <a:latin typeface="Lucida Console" panose="020B0609040504020204" pitchFamily="49" charset="0"/>
              </a:rPr>
              <a:t> UK </a:t>
            </a:r>
            <a:r>
              <a:rPr lang="ru-RU" altLang="ru-RU" sz="1600" dirty="0" err="1">
                <a:solidFill>
                  <a:srgbClr val="000000"/>
                </a:solidFill>
                <a:latin typeface="Lucida Console" panose="020B0609040504020204" pitchFamily="49" charset="0"/>
              </a:rPr>
              <a:t>W_Germany</a:t>
            </a:r>
            <a:r>
              <a:rPr lang="ru-RU" altLang="ru-RU" sz="1600" dirty="0">
                <a:solidFill>
                  <a:srgbClr val="000000"/>
                </a:solidFill>
                <a:latin typeface="Lucida Console" panose="020B0609040504020204" pitchFamily="49" charset="0"/>
              </a:rPr>
              <a:t> </a:t>
            </a:r>
          </a:p>
          <a:p>
            <a:pPr eaLnBrk="0" hangingPunct="0"/>
            <a:r>
              <a:rPr lang="ru-RU" altLang="ru-RU" sz="1600" dirty="0">
                <a:solidFill>
                  <a:srgbClr val="0000FF"/>
                </a:solidFill>
                <a:latin typeface="Lucida Console" panose="020B0609040504020204" pitchFamily="49" charset="0"/>
              </a:rPr>
              <a:t>&gt; protein.01[</a:t>
            </a:r>
            <a:r>
              <a:rPr lang="ru-RU" altLang="ru-RU" sz="1600" dirty="0" err="1">
                <a:solidFill>
                  <a:srgbClr val="0000FF"/>
                </a:solidFill>
                <a:latin typeface="Lucida Console" panose="020B0609040504020204" pitchFamily="49" charset="0"/>
              </a:rPr>
              <a:t>groups</a:t>
            </a:r>
            <a:r>
              <a:rPr lang="ru-RU" altLang="ru-RU" sz="1600" dirty="0">
                <a:solidFill>
                  <a:srgbClr val="0000FF"/>
                </a:solidFill>
                <a:latin typeface="Lucida Console" panose="020B0609040504020204" pitchFamily="49" charset="0"/>
              </a:rPr>
              <a:t>==4, 1] </a:t>
            </a:r>
            <a:r>
              <a:rPr lang="ru-RU" altLang="ru-RU" sz="1600" dirty="0">
                <a:solidFill>
                  <a:srgbClr val="000000"/>
                </a:solidFill>
                <a:latin typeface="Lucida Console" panose="020B0609040504020204" pitchFamily="49" charset="0"/>
              </a:rPr>
              <a:t>[1] </a:t>
            </a:r>
            <a:r>
              <a:rPr lang="ru-RU" altLang="ru-RU" sz="1600" dirty="0" err="1">
                <a:solidFill>
                  <a:srgbClr val="000000"/>
                </a:solidFill>
                <a:latin typeface="Lucida Console" panose="020B0609040504020204" pitchFamily="49" charset="0"/>
              </a:rPr>
              <a:t>Denmark</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Finland</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Norway</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Sweden</a:t>
            </a:r>
            <a:r>
              <a:rPr lang="ru-RU" altLang="ru-RU" sz="1600" dirty="0">
                <a:solidFill>
                  <a:srgbClr val="000000"/>
                </a:solidFill>
                <a:latin typeface="Lucida Console" panose="020B0609040504020204" pitchFamily="49" charset="0"/>
              </a:rPr>
              <a:t> </a:t>
            </a:r>
          </a:p>
          <a:p>
            <a:pPr eaLnBrk="0" hangingPunct="0"/>
            <a:r>
              <a:rPr lang="ru-RU" altLang="ru-RU" sz="1600" dirty="0">
                <a:solidFill>
                  <a:srgbClr val="0000FF"/>
                </a:solidFill>
                <a:latin typeface="Lucida Console" panose="020B0609040504020204" pitchFamily="49" charset="0"/>
              </a:rPr>
              <a:t>&gt; protein.01[</a:t>
            </a:r>
            <a:r>
              <a:rPr lang="ru-RU" altLang="ru-RU" sz="1600" dirty="0" err="1">
                <a:solidFill>
                  <a:srgbClr val="0000FF"/>
                </a:solidFill>
                <a:latin typeface="Lucida Console" panose="020B0609040504020204" pitchFamily="49" charset="0"/>
              </a:rPr>
              <a:t>groups</a:t>
            </a:r>
            <a:r>
              <a:rPr lang="ru-RU" altLang="ru-RU" sz="1600" dirty="0">
                <a:solidFill>
                  <a:srgbClr val="0000FF"/>
                </a:solidFill>
                <a:latin typeface="Lucida Console" panose="020B0609040504020204" pitchFamily="49" charset="0"/>
              </a:rPr>
              <a:t>==5, 1] </a:t>
            </a:r>
            <a:r>
              <a:rPr lang="ru-RU" altLang="ru-RU" sz="1600" dirty="0">
                <a:solidFill>
                  <a:srgbClr val="000000"/>
                </a:solidFill>
                <a:latin typeface="Lucida Console" panose="020B0609040504020204" pitchFamily="49" charset="0"/>
              </a:rPr>
              <a:t>[1] </a:t>
            </a:r>
            <a:r>
              <a:rPr lang="ru-RU" altLang="ru-RU" sz="1600" dirty="0" err="1">
                <a:solidFill>
                  <a:srgbClr val="000000"/>
                </a:solidFill>
                <a:latin typeface="Lucida Console" panose="020B0609040504020204" pitchFamily="49" charset="0"/>
              </a:rPr>
              <a:t>Greece</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Italy</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Portugal</a:t>
            </a:r>
            <a:r>
              <a:rPr lang="ru-RU" altLang="ru-RU" sz="1600" dirty="0">
                <a:solidFill>
                  <a:srgbClr val="000000"/>
                </a:solidFill>
                <a:latin typeface="Lucida Console" panose="020B0609040504020204" pitchFamily="49" charset="0"/>
              </a:rPr>
              <a:t> </a:t>
            </a:r>
            <a:r>
              <a:rPr lang="ru-RU" altLang="ru-RU" sz="1600" dirty="0" err="1">
                <a:solidFill>
                  <a:srgbClr val="000000"/>
                </a:solidFill>
                <a:latin typeface="Lucida Console" panose="020B0609040504020204" pitchFamily="49" charset="0"/>
              </a:rPr>
              <a:t>Spain</a:t>
            </a:r>
            <a:endParaRPr lang="ru-RU" altLang="ru-RU" sz="1600" dirty="0"/>
          </a:p>
        </p:txBody>
      </p:sp>
    </p:spTree>
    <p:extLst>
      <p:ext uri="{BB962C8B-B14F-4D97-AF65-F5344CB8AC3E}">
        <p14:creationId xmlns:p14="http://schemas.microsoft.com/office/powerpoint/2010/main" val="118591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861517" y="322263"/>
            <a:ext cx="1159328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5" name="Номер слайда 14"/>
          <p:cNvSpPr>
            <a:spLocks noGrp="1"/>
          </p:cNvSpPr>
          <p:nvPr>
            <p:ph type="sldNum" sz="quarter" idx="12"/>
          </p:nvPr>
        </p:nvSpPr>
        <p:spPr>
          <a:xfrm>
            <a:off x="11734725" y="6521914"/>
            <a:ext cx="587056" cy="379409"/>
          </a:xfrm>
        </p:spPr>
        <p:txBody>
          <a:bodyPr/>
          <a:lstStyle/>
          <a:p>
            <a:fld id="{952B6C0E-C4B9-4094-8E59-5B7DF00D5415}" type="slidenum">
              <a:rPr lang="ru-RU" sz="1200" smtClean="0">
                <a:solidFill>
                  <a:schemeClr val="tx1"/>
                </a:solidFill>
              </a:rPr>
              <a:t>85</a:t>
            </a:fld>
            <a:endParaRPr lang="ru-RU" sz="1200" dirty="0">
              <a:solidFill>
                <a:schemeClr val="tx1"/>
              </a:solidFill>
            </a:endParaRPr>
          </a:p>
        </p:txBody>
      </p:sp>
      <p:sp>
        <p:nvSpPr>
          <p:cNvPr id="2" name="Заголовок 1"/>
          <p:cNvSpPr txBox="1">
            <a:spLocks noGrp="1"/>
          </p:cNvSpPr>
          <p:nvPr>
            <p:ph type="title" idx="4294967295"/>
          </p:nvPr>
        </p:nvSpPr>
        <p:spPr>
          <a:xfrm>
            <a:off x="2500478" y="250825"/>
            <a:ext cx="7559675" cy="693738"/>
          </a:xfrm>
          <a:prstGeom prst="rect">
            <a:avLst/>
          </a:prstGeom>
        </p:spPr>
        <p:txBody>
          <a:bodyPr>
            <a:normAutofit fontScale="90000"/>
          </a:bodyPr>
          <a:lstStyle/>
          <a:p>
            <a:r>
              <a:rPr lang="ru-RU" sz="4400" dirty="0"/>
              <a:t>Построение дендрограммы</a:t>
            </a:r>
          </a:p>
        </p:txBody>
      </p:sp>
      <p:sp>
        <p:nvSpPr>
          <p:cNvPr id="3" name="Прямоугольник 2"/>
          <p:cNvSpPr/>
          <p:nvPr/>
        </p:nvSpPr>
        <p:spPr>
          <a:xfrm>
            <a:off x="2140240" y="1245730"/>
            <a:ext cx="8280152" cy="830997"/>
          </a:xfrm>
          <a:prstGeom prst="rect">
            <a:avLst/>
          </a:prstGeom>
        </p:spPr>
        <p:txBody>
          <a:bodyPr wrap="square">
            <a:spAutoFit/>
          </a:bodyPr>
          <a:lstStyle/>
          <a:p>
            <a:r>
              <a:rPr lang="ru-RU" sz="2400" dirty="0"/>
              <a:t>Как проверить, нумерует ли </a:t>
            </a:r>
            <a:r>
              <a:rPr lang="en-US" sz="2400" dirty="0"/>
              <a:t>R </a:t>
            </a:r>
            <a:r>
              <a:rPr lang="ru-RU" sz="2400" dirty="0"/>
              <a:t>кластера в порядке их расположения слева направо?</a:t>
            </a:r>
          </a:p>
        </p:txBody>
      </p:sp>
      <p:sp>
        <p:nvSpPr>
          <p:cNvPr id="8" name="Rectangle 2"/>
          <p:cNvSpPr>
            <a:spLocks noChangeArrowheads="1"/>
          </p:cNvSpPr>
          <p:nvPr/>
        </p:nvSpPr>
        <p:spPr bwMode="auto">
          <a:xfrm>
            <a:off x="1827781" y="5648076"/>
            <a:ext cx="9012690"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hangingPunct="0"/>
            <a:r>
              <a:rPr lang="ru-RU" altLang="ru-RU" sz="1200" dirty="0">
                <a:solidFill>
                  <a:srgbClr val="0000FF"/>
                </a:solidFill>
                <a:latin typeface="Lucida Console" panose="020B0609040504020204" pitchFamily="49" charset="0"/>
              </a:rPr>
              <a:t>&gt; protein.01[</a:t>
            </a:r>
            <a:r>
              <a:rPr lang="ru-RU" altLang="ru-RU" sz="1200" dirty="0" err="1">
                <a:solidFill>
                  <a:srgbClr val="0000FF"/>
                </a:solidFill>
                <a:latin typeface="Lucida Console" panose="020B0609040504020204" pitchFamily="49" charset="0"/>
              </a:rPr>
              <a:t>groups</a:t>
            </a:r>
            <a:r>
              <a:rPr lang="ru-RU" altLang="ru-RU" sz="1200" dirty="0">
                <a:solidFill>
                  <a:srgbClr val="0000FF"/>
                </a:solidFill>
                <a:latin typeface="Lucida Console" panose="020B0609040504020204" pitchFamily="49" charset="0"/>
              </a:rPr>
              <a:t>==1, 1] </a:t>
            </a:r>
            <a:r>
              <a:rPr lang="ru-RU" altLang="ru-RU" sz="1200" dirty="0">
                <a:solidFill>
                  <a:srgbClr val="000000"/>
                </a:solidFill>
                <a:latin typeface="Lucida Console" panose="020B0609040504020204" pitchFamily="49" charset="0"/>
              </a:rPr>
              <a:t>[1] </a:t>
            </a:r>
            <a:r>
              <a:rPr lang="ru-RU" altLang="ru-RU" sz="1200" dirty="0" err="1">
                <a:solidFill>
                  <a:srgbClr val="000000"/>
                </a:solidFill>
                <a:latin typeface="Lucida Console" panose="020B0609040504020204" pitchFamily="49" charset="0"/>
              </a:rPr>
              <a:t>Albania</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Bulgaria</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Romania</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Yugoslavia</a:t>
            </a:r>
            <a:r>
              <a:rPr lang="ru-RU" altLang="ru-RU" sz="1200" dirty="0">
                <a:solidFill>
                  <a:srgbClr val="000000"/>
                </a:solidFill>
                <a:latin typeface="Lucida Console" panose="020B0609040504020204" pitchFamily="49" charset="0"/>
              </a:rPr>
              <a:t> </a:t>
            </a:r>
          </a:p>
          <a:p>
            <a:pPr eaLnBrk="0" hangingPunct="0"/>
            <a:r>
              <a:rPr lang="ru-RU" altLang="ru-RU" sz="1200" dirty="0">
                <a:solidFill>
                  <a:srgbClr val="0000FF"/>
                </a:solidFill>
                <a:latin typeface="Lucida Console" panose="020B0609040504020204" pitchFamily="49" charset="0"/>
              </a:rPr>
              <a:t>&gt; protein.01[</a:t>
            </a:r>
            <a:r>
              <a:rPr lang="ru-RU" altLang="ru-RU" sz="1200" dirty="0" err="1">
                <a:solidFill>
                  <a:srgbClr val="0000FF"/>
                </a:solidFill>
                <a:latin typeface="Lucida Console" panose="020B0609040504020204" pitchFamily="49" charset="0"/>
              </a:rPr>
              <a:t>groups</a:t>
            </a:r>
            <a:r>
              <a:rPr lang="ru-RU" altLang="ru-RU" sz="1200" dirty="0">
                <a:solidFill>
                  <a:srgbClr val="0000FF"/>
                </a:solidFill>
                <a:latin typeface="Lucida Console" panose="020B0609040504020204" pitchFamily="49" charset="0"/>
              </a:rPr>
              <a:t>==2, 1] </a:t>
            </a:r>
            <a:r>
              <a:rPr lang="ru-RU" altLang="ru-RU" sz="1200" dirty="0">
                <a:solidFill>
                  <a:srgbClr val="000000"/>
                </a:solidFill>
                <a:latin typeface="Lucida Console" panose="020B0609040504020204" pitchFamily="49" charset="0"/>
              </a:rPr>
              <a:t>[1] </a:t>
            </a:r>
            <a:r>
              <a:rPr lang="ru-RU" altLang="ru-RU" sz="1200" dirty="0" err="1">
                <a:solidFill>
                  <a:srgbClr val="000000"/>
                </a:solidFill>
                <a:latin typeface="Lucida Console" panose="020B0609040504020204" pitchFamily="49" charset="0"/>
              </a:rPr>
              <a:t>Austria</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Czechoslovakia</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E_Germany</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Hungary</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Netherlands</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Poland</a:t>
            </a:r>
            <a:r>
              <a:rPr lang="ru-RU" altLang="ru-RU" sz="1200" dirty="0">
                <a:solidFill>
                  <a:srgbClr val="000000"/>
                </a:solidFill>
                <a:latin typeface="Lucida Console" panose="020B0609040504020204" pitchFamily="49" charset="0"/>
              </a:rPr>
              <a:t> USSR </a:t>
            </a:r>
          </a:p>
          <a:p>
            <a:pPr eaLnBrk="0" hangingPunct="0"/>
            <a:r>
              <a:rPr lang="ru-RU" altLang="ru-RU" sz="1200" dirty="0">
                <a:solidFill>
                  <a:srgbClr val="0000FF"/>
                </a:solidFill>
                <a:latin typeface="Lucida Console" panose="020B0609040504020204" pitchFamily="49" charset="0"/>
              </a:rPr>
              <a:t>&gt; protein.01[</a:t>
            </a:r>
            <a:r>
              <a:rPr lang="ru-RU" altLang="ru-RU" sz="1200" dirty="0" err="1">
                <a:solidFill>
                  <a:srgbClr val="0000FF"/>
                </a:solidFill>
                <a:latin typeface="Lucida Console" panose="020B0609040504020204" pitchFamily="49" charset="0"/>
              </a:rPr>
              <a:t>groups</a:t>
            </a:r>
            <a:r>
              <a:rPr lang="ru-RU" altLang="ru-RU" sz="1200" dirty="0">
                <a:solidFill>
                  <a:srgbClr val="0000FF"/>
                </a:solidFill>
                <a:latin typeface="Lucida Console" panose="020B0609040504020204" pitchFamily="49" charset="0"/>
              </a:rPr>
              <a:t>==3, 1] </a:t>
            </a:r>
            <a:r>
              <a:rPr lang="ru-RU" altLang="ru-RU" sz="1200" dirty="0">
                <a:solidFill>
                  <a:srgbClr val="000000"/>
                </a:solidFill>
                <a:latin typeface="Lucida Console" panose="020B0609040504020204" pitchFamily="49" charset="0"/>
              </a:rPr>
              <a:t>[1] </a:t>
            </a:r>
            <a:r>
              <a:rPr lang="ru-RU" altLang="ru-RU" sz="1200" dirty="0" err="1">
                <a:solidFill>
                  <a:srgbClr val="000000"/>
                </a:solidFill>
                <a:latin typeface="Lucida Console" panose="020B0609040504020204" pitchFamily="49" charset="0"/>
              </a:rPr>
              <a:t>Belgium</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France</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Ireland</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Switzerland</a:t>
            </a:r>
            <a:r>
              <a:rPr lang="ru-RU" altLang="ru-RU" sz="1200" dirty="0">
                <a:solidFill>
                  <a:srgbClr val="000000"/>
                </a:solidFill>
                <a:latin typeface="Lucida Console" panose="020B0609040504020204" pitchFamily="49" charset="0"/>
              </a:rPr>
              <a:t> UK </a:t>
            </a:r>
            <a:r>
              <a:rPr lang="ru-RU" altLang="ru-RU" sz="1200" dirty="0" err="1">
                <a:solidFill>
                  <a:srgbClr val="000000"/>
                </a:solidFill>
                <a:latin typeface="Lucida Console" panose="020B0609040504020204" pitchFamily="49" charset="0"/>
              </a:rPr>
              <a:t>W_Germany</a:t>
            </a:r>
            <a:r>
              <a:rPr lang="ru-RU" altLang="ru-RU" sz="1200" dirty="0">
                <a:solidFill>
                  <a:srgbClr val="000000"/>
                </a:solidFill>
                <a:latin typeface="Lucida Console" panose="020B0609040504020204" pitchFamily="49" charset="0"/>
              </a:rPr>
              <a:t> </a:t>
            </a:r>
          </a:p>
          <a:p>
            <a:pPr eaLnBrk="0" hangingPunct="0"/>
            <a:r>
              <a:rPr lang="ru-RU" altLang="ru-RU" sz="1200" dirty="0">
                <a:solidFill>
                  <a:srgbClr val="0000FF"/>
                </a:solidFill>
                <a:latin typeface="Lucida Console" panose="020B0609040504020204" pitchFamily="49" charset="0"/>
              </a:rPr>
              <a:t>&gt; protein.01[</a:t>
            </a:r>
            <a:r>
              <a:rPr lang="ru-RU" altLang="ru-RU" sz="1200" dirty="0" err="1">
                <a:solidFill>
                  <a:srgbClr val="0000FF"/>
                </a:solidFill>
                <a:latin typeface="Lucida Console" panose="020B0609040504020204" pitchFamily="49" charset="0"/>
              </a:rPr>
              <a:t>groups</a:t>
            </a:r>
            <a:r>
              <a:rPr lang="ru-RU" altLang="ru-RU" sz="1200" dirty="0">
                <a:solidFill>
                  <a:srgbClr val="0000FF"/>
                </a:solidFill>
                <a:latin typeface="Lucida Console" panose="020B0609040504020204" pitchFamily="49" charset="0"/>
              </a:rPr>
              <a:t>==4, 1] </a:t>
            </a:r>
            <a:r>
              <a:rPr lang="ru-RU" altLang="ru-RU" sz="1200" dirty="0">
                <a:solidFill>
                  <a:srgbClr val="000000"/>
                </a:solidFill>
                <a:latin typeface="Lucida Console" panose="020B0609040504020204" pitchFamily="49" charset="0"/>
              </a:rPr>
              <a:t>[1] </a:t>
            </a:r>
            <a:r>
              <a:rPr lang="ru-RU" altLang="ru-RU" sz="1200" dirty="0" err="1">
                <a:solidFill>
                  <a:srgbClr val="000000"/>
                </a:solidFill>
                <a:latin typeface="Lucida Console" panose="020B0609040504020204" pitchFamily="49" charset="0"/>
              </a:rPr>
              <a:t>Denmark</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Finland</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Norway</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Sweden</a:t>
            </a:r>
            <a:r>
              <a:rPr lang="ru-RU" altLang="ru-RU" sz="1200" dirty="0">
                <a:solidFill>
                  <a:srgbClr val="000000"/>
                </a:solidFill>
                <a:latin typeface="Lucida Console" panose="020B0609040504020204" pitchFamily="49" charset="0"/>
              </a:rPr>
              <a:t> </a:t>
            </a:r>
          </a:p>
          <a:p>
            <a:pPr eaLnBrk="0" hangingPunct="0"/>
            <a:r>
              <a:rPr lang="ru-RU" altLang="ru-RU" sz="1200" dirty="0">
                <a:solidFill>
                  <a:srgbClr val="0000FF"/>
                </a:solidFill>
                <a:latin typeface="Lucida Console" panose="020B0609040504020204" pitchFamily="49" charset="0"/>
              </a:rPr>
              <a:t>&gt; protein.01[</a:t>
            </a:r>
            <a:r>
              <a:rPr lang="ru-RU" altLang="ru-RU" sz="1200" dirty="0" err="1">
                <a:solidFill>
                  <a:srgbClr val="0000FF"/>
                </a:solidFill>
                <a:latin typeface="Lucida Console" panose="020B0609040504020204" pitchFamily="49" charset="0"/>
              </a:rPr>
              <a:t>groups</a:t>
            </a:r>
            <a:r>
              <a:rPr lang="ru-RU" altLang="ru-RU" sz="1200" dirty="0">
                <a:solidFill>
                  <a:srgbClr val="0000FF"/>
                </a:solidFill>
                <a:latin typeface="Lucida Console" panose="020B0609040504020204" pitchFamily="49" charset="0"/>
              </a:rPr>
              <a:t>==5, 1] </a:t>
            </a:r>
            <a:r>
              <a:rPr lang="ru-RU" altLang="ru-RU" sz="1200" dirty="0">
                <a:solidFill>
                  <a:srgbClr val="000000"/>
                </a:solidFill>
                <a:latin typeface="Lucida Console" panose="020B0609040504020204" pitchFamily="49" charset="0"/>
              </a:rPr>
              <a:t>[1] </a:t>
            </a:r>
            <a:r>
              <a:rPr lang="ru-RU" altLang="ru-RU" sz="1200" dirty="0" err="1">
                <a:solidFill>
                  <a:srgbClr val="000000"/>
                </a:solidFill>
                <a:latin typeface="Lucida Console" panose="020B0609040504020204" pitchFamily="49" charset="0"/>
              </a:rPr>
              <a:t>Greece</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Italy</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Portugal</a:t>
            </a:r>
            <a:r>
              <a:rPr lang="ru-RU" altLang="ru-RU" sz="1200" dirty="0">
                <a:solidFill>
                  <a:srgbClr val="000000"/>
                </a:solidFill>
                <a:latin typeface="Lucida Console" panose="020B0609040504020204" pitchFamily="49" charset="0"/>
              </a:rPr>
              <a:t> </a:t>
            </a:r>
            <a:r>
              <a:rPr lang="ru-RU" altLang="ru-RU" sz="1200" dirty="0" err="1">
                <a:solidFill>
                  <a:srgbClr val="000000"/>
                </a:solidFill>
                <a:latin typeface="Lucida Console" panose="020B0609040504020204" pitchFamily="49" charset="0"/>
              </a:rPr>
              <a:t>Spain</a:t>
            </a:r>
            <a:endParaRPr lang="ru-RU" altLang="ru-RU" sz="1200" dirty="0"/>
          </a:p>
        </p:txBody>
      </p:sp>
      <p:pic>
        <p:nvPicPr>
          <p:cNvPr id="9" name="Рисунок 8"/>
          <p:cNvPicPr>
            <a:picLocks noChangeAspect="1"/>
          </p:cNvPicPr>
          <p:nvPr/>
        </p:nvPicPr>
        <p:blipFill>
          <a:blip r:embed="rId3"/>
          <a:stretch>
            <a:fillRect/>
          </a:stretch>
        </p:blipFill>
        <p:spPr>
          <a:xfrm>
            <a:off x="2373685" y="2066995"/>
            <a:ext cx="7628991" cy="3421486"/>
          </a:xfrm>
          <a:prstGeom prst="rect">
            <a:avLst/>
          </a:prstGeom>
        </p:spPr>
      </p:pic>
      <p:sp>
        <p:nvSpPr>
          <p:cNvPr id="7" name="Овал 6"/>
          <p:cNvSpPr/>
          <p:nvPr/>
        </p:nvSpPr>
        <p:spPr bwMode="auto">
          <a:xfrm>
            <a:off x="7846293" y="4614214"/>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1</a:t>
            </a:r>
          </a:p>
        </p:txBody>
      </p:sp>
      <p:sp>
        <p:nvSpPr>
          <p:cNvPr id="11" name="Овал 10"/>
          <p:cNvSpPr/>
          <p:nvPr/>
        </p:nvSpPr>
        <p:spPr bwMode="auto">
          <a:xfrm>
            <a:off x="6326731" y="4597343"/>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2</a:t>
            </a:r>
          </a:p>
        </p:txBody>
      </p:sp>
      <p:sp>
        <p:nvSpPr>
          <p:cNvPr id="12" name="Овал 11"/>
          <p:cNvSpPr/>
          <p:nvPr/>
        </p:nvSpPr>
        <p:spPr bwMode="auto">
          <a:xfrm>
            <a:off x="8933807" y="4617751"/>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5</a:t>
            </a:r>
          </a:p>
        </p:txBody>
      </p:sp>
      <p:sp>
        <p:nvSpPr>
          <p:cNvPr id="13" name="Овал 12"/>
          <p:cNvSpPr/>
          <p:nvPr/>
        </p:nvSpPr>
        <p:spPr bwMode="auto">
          <a:xfrm>
            <a:off x="3374403" y="4614214"/>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4</a:t>
            </a:r>
            <a:endParaRPr lang="ru-RU" sz="2400" dirty="0">
              <a:solidFill>
                <a:schemeClr val="bg1"/>
              </a:solidFill>
            </a:endParaRPr>
          </a:p>
        </p:txBody>
      </p:sp>
      <p:sp>
        <p:nvSpPr>
          <p:cNvPr id="14" name="Овал 13"/>
          <p:cNvSpPr/>
          <p:nvPr/>
        </p:nvSpPr>
        <p:spPr bwMode="auto">
          <a:xfrm>
            <a:off x="4780327" y="4614214"/>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3</a:t>
            </a:r>
          </a:p>
        </p:txBody>
      </p:sp>
    </p:spTree>
    <p:extLst>
      <p:ext uri="{BB962C8B-B14F-4D97-AF65-F5344CB8AC3E}">
        <p14:creationId xmlns:p14="http://schemas.microsoft.com/office/powerpoint/2010/main" val="107502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423297" y="322263"/>
            <a:ext cx="12058370"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5" name="Номер слайда 14"/>
          <p:cNvSpPr>
            <a:spLocks noGrp="1"/>
          </p:cNvSpPr>
          <p:nvPr>
            <p:ph type="sldNum" sz="quarter" idx="12"/>
          </p:nvPr>
        </p:nvSpPr>
        <p:spPr>
          <a:xfrm>
            <a:off x="11158537" y="6605015"/>
            <a:ext cx="876301" cy="379409"/>
          </a:xfrm>
        </p:spPr>
        <p:txBody>
          <a:bodyPr/>
          <a:lstStyle/>
          <a:p>
            <a:fld id="{952B6C0E-C4B9-4094-8E59-5B7DF00D5415}" type="slidenum">
              <a:rPr lang="ru-RU" smtClean="0">
                <a:solidFill>
                  <a:schemeClr val="tx1"/>
                </a:solidFill>
              </a:rPr>
              <a:t>86</a:t>
            </a:fld>
            <a:endParaRPr lang="ru-RU" dirty="0">
              <a:solidFill>
                <a:schemeClr val="tx1"/>
              </a:solidFill>
            </a:endParaRPr>
          </a:p>
        </p:txBody>
      </p:sp>
      <p:sp>
        <p:nvSpPr>
          <p:cNvPr id="2" name="Заголовок 1"/>
          <p:cNvSpPr txBox="1">
            <a:spLocks noGrp="1"/>
          </p:cNvSpPr>
          <p:nvPr>
            <p:ph type="title" idx="4294967295"/>
          </p:nvPr>
        </p:nvSpPr>
        <p:spPr>
          <a:xfrm>
            <a:off x="1195389" y="295275"/>
            <a:ext cx="7559675" cy="693738"/>
          </a:xfrm>
          <a:prstGeom prst="rect">
            <a:avLst/>
          </a:prstGeom>
        </p:spPr>
        <p:txBody>
          <a:bodyPr>
            <a:normAutofit fontScale="90000"/>
          </a:bodyPr>
          <a:lstStyle/>
          <a:p>
            <a:r>
              <a:rPr lang="ru-RU" sz="4400" dirty="0"/>
              <a:t>Кластеризация </a:t>
            </a:r>
            <a:r>
              <a:rPr lang="en-US" sz="4400" dirty="0"/>
              <a:t>k-means</a:t>
            </a:r>
            <a:endParaRPr lang="ru-RU" sz="4400" dirty="0"/>
          </a:p>
        </p:txBody>
      </p:sp>
      <p:sp>
        <p:nvSpPr>
          <p:cNvPr id="8" name="Rectangle 2"/>
          <p:cNvSpPr>
            <a:spLocks noChangeArrowheads="1"/>
          </p:cNvSpPr>
          <p:nvPr/>
        </p:nvSpPr>
        <p:spPr bwMode="auto">
          <a:xfrm>
            <a:off x="423296" y="5733100"/>
            <a:ext cx="11815484" cy="923330"/>
          </a:xfrm>
          <a:prstGeom prst="rect">
            <a:avLst/>
          </a:prstGeom>
        </p:spPr>
        <p:txBody>
          <a:bodyPr wrap="square">
            <a:spAutoFit/>
          </a:bodyPr>
          <a:lstStyle/>
          <a:p>
            <a:r>
              <a:rPr lang="ru-RU" altLang="ru-RU" sz="1800" dirty="0"/>
              <a:t>Если присмотреться внимательно, то мы сделаем вывод, что кластера в основном совпадают, только 5 и </a:t>
            </a:r>
            <a:r>
              <a:rPr lang="en-US" altLang="ru-RU" sz="1800" dirty="0"/>
              <a:t>3</a:t>
            </a:r>
            <a:r>
              <a:rPr lang="ru-RU" altLang="ru-RU" sz="1800" dirty="0"/>
              <a:t> поменялись местами относительно </a:t>
            </a:r>
            <a:r>
              <a:rPr lang="ru-RU" altLang="ru-RU" sz="1800" dirty="0" err="1"/>
              <a:t>дендрограммы</a:t>
            </a:r>
            <a:r>
              <a:rPr lang="ru-RU" altLang="ru-RU" sz="1800" dirty="0"/>
              <a:t>.</a:t>
            </a:r>
            <a:endParaRPr lang="en-US" altLang="ru-RU" sz="1800" dirty="0"/>
          </a:p>
          <a:p>
            <a:r>
              <a:rPr lang="ru-RU" altLang="ru-RU" sz="1800" dirty="0"/>
              <a:t>Метод </a:t>
            </a:r>
            <a:r>
              <a:rPr lang="en-US" altLang="ru-RU" sz="1800" dirty="0"/>
              <a:t>k-</a:t>
            </a:r>
            <a:r>
              <a:rPr lang="ru-RU" altLang="ru-RU" sz="1800" dirty="0"/>
              <a:t>средних с примером приведен в ЛР </a:t>
            </a:r>
            <a:r>
              <a:rPr lang="en-US" altLang="ru-RU" sz="1800" dirty="0"/>
              <a:t>5</a:t>
            </a:r>
            <a:r>
              <a:rPr lang="ru-RU" altLang="ru-RU" sz="1800" dirty="0"/>
              <a:t>.1. </a:t>
            </a:r>
          </a:p>
        </p:txBody>
      </p:sp>
      <p:pic>
        <p:nvPicPr>
          <p:cNvPr id="16" name="Рисунок 15">
            <a:extLst>
              <a:ext uri="{FF2B5EF4-FFF2-40B4-BE49-F238E27FC236}">
                <a16:creationId xmlns:a16="http://schemas.microsoft.com/office/drawing/2014/main" id="{1A140F40-8A6C-4B1A-9A9F-130F3C38FAC4}"/>
              </a:ext>
            </a:extLst>
          </p:cNvPr>
          <p:cNvPicPr>
            <a:picLocks noChangeAspect="1"/>
          </p:cNvPicPr>
          <p:nvPr/>
        </p:nvPicPr>
        <p:blipFill>
          <a:blip r:embed="rId3"/>
          <a:stretch>
            <a:fillRect/>
          </a:stretch>
        </p:blipFill>
        <p:spPr>
          <a:xfrm>
            <a:off x="423296" y="894345"/>
            <a:ext cx="6673408" cy="4749913"/>
          </a:xfrm>
          <a:prstGeom prst="rect">
            <a:avLst/>
          </a:prstGeom>
        </p:spPr>
      </p:pic>
      <p:sp>
        <p:nvSpPr>
          <p:cNvPr id="9" name="TextBox 8">
            <a:extLst>
              <a:ext uri="{FF2B5EF4-FFF2-40B4-BE49-F238E27FC236}">
                <a16:creationId xmlns:a16="http://schemas.microsoft.com/office/drawing/2014/main" id="{67D09464-7BB8-4F66-A442-A29D18A3A258}"/>
              </a:ext>
            </a:extLst>
          </p:cNvPr>
          <p:cNvSpPr txBox="1"/>
          <p:nvPr/>
        </p:nvSpPr>
        <p:spPr>
          <a:xfrm>
            <a:off x="7268150" y="1340831"/>
            <a:ext cx="5213516" cy="1938992"/>
          </a:xfrm>
          <a:prstGeom prst="rect">
            <a:avLst/>
          </a:prstGeom>
          <a:noFill/>
        </p:spPr>
        <p:txBody>
          <a:bodyPr wrap="square">
            <a:spAutoFit/>
          </a:bodyPr>
          <a:lstStyle/>
          <a:p>
            <a:r>
              <a:rPr lang="ru-RU" dirty="0">
                <a:solidFill>
                  <a:schemeClr val="accent2">
                    <a:lumMod val="50000"/>
                  </a:schemeClr>
                </a:solidFill>
              </a:rPr>
              <a:t>#perform k-</a:t>
            </a:r>
            <a:r>
              <a:rPr lang="ru-RU" dirty="0" err="1">
                <a:solidFill>
                  <a:schemeClr val="accent2">
                    <a:lumMod val="50000"/>
                  </a:schemeClr>
                </a:solidFill>
              </a:rPr>
              <a:t>means</a:t>
            </a:r>
            <a:r>
              <a:rPr lang="ru-RU" dirty="0">
                <a:solidFill>
                  <a:schemeClr val="accent2">
                    <a:lumMod val="50000"/>
                  </a:schemeClr>
                </a:solidFill>
              </a:rPr>
              <a:t> </a:t>
            </a:r>
            <a:r>
              <a:rPr lang="ru-RU" dirty="0" err="1">
                <a:solidFill>
                  <a:schemeClr val="accent2">
                    <a:lumMod val="50000"/>
                  </a:schemeClr>
                </a:solidFill>
              </a:rPr>
              <a:t>clustering</a:t>
            </a:r>
            <a:r>
              <a:rPr lang="ru-RU" dirty="0">
                <a:solidFill>
                  <a:schemeClr val="accent2">
                    <a:lumMod val="50000"/>
                  </a:schemeClr>
                </a:solidFill>
              </a:rPr>
              <a:t> </a:t>
            </a:r>
            <a:r>
              <a:rPr lang="ru-RU" dirty="0" err="1">
                <a:solidFill>
                  <a:schemeClr val="accent2">
                    <a:lumMod val="50000"/>
                  </a:schemeClr>
                </a:solidFill>
              </a:rPr>
              <a:t>with</a:t>
            </a:r>
            <a:r>
              <a:rPr lang="ru-RU" dirty="0">
                <a:solidFill>
                  <a:schemeClr val="accent2">
                    <a:lumMod val="50000"/>
                  </a:schemeClr>
                </a:solidFill>
              </a:rPr>
              <a:t> k =5  </a:t>
            </a:r>
            <a:endParaRPr lang="en-US" dirty="0">
              <a:solidFill>
                <a:schemeClr val="accent2">
                  <a:lumMod val="50000"/>
                </a:schemeClr>
              </a:solidFill>
            </a:endParaRPr>
          </a:p>
          <a:p>
            <a:r>
              <a:rPr lang="ru-RU" dirty="0" err="1"/>
              <a:t>clusterskm</a:t>
            </a:r>
            <a:r>
              <a:rPr lang="ru-RU" dirty="0"/>
              <a:t> &lt;- </a:t>
            </a:r>
            <a:r>
              <a:rPr lang="ru-RU" dirty="0" err="1"/>
              <a:t>kmeans</a:t>
            </a:r>
            <a:r>
              <a:rPr lang="ru-RU" dirty="0"/>
              <a:t>(protein.03, </a:t>
            </a:r>
            <a:endParaRPr lang="en-US" dirty="0"/>
          </a:p>
          <a:p>
            <a:r>
              <a:rPr lang="en-US" dirty="0"/>
              <a:t>     </a:t>
            </a:r>
            <a:r>
              <a:rPr lang="ru-RU" dirty="0" err="1"/>
              <a:t>centers</a:t>
            </a:r>
            <a:r>
              <a:rPr lang="ru-RU" dirty="0"/>
              <a:t> = 5, </a:t>
            </a:r>
            <a:r>
              <a:rPr lang="ru-RU" dirty="0" err="1"/>
              <a:t>nstart</a:t>
            </a:r>
            <a:r>
              <a:rPr lang="ru-RU" dirty="0"/>
              <a:t> = 5)</a:t>
            </a:r>
            <a:endParaRPr lang="en-US" dirty="0"/>
          </a:p>
          <a:p>
            <a:r>
              <a:rPr lang="ru-RU" dirty="0">
                <a:solidFill>
                  <a:schemeClr val="accent2">
                    <a:lumMod val="50000"/>
                  </a:schemeClr>
                </a:solidFill>
              </a:rPr>
              <a:t>#nstart = 10 - число повторений алгоритма</a:t>
            </a:r>
            <a:endParaRPr lang="en-US" dirty="0">
              <a:solidFill>
                <a:schemeClr val="accent2">
                  <a:lumMod val="50000"/>
                </a:schemeClr>
              </a:solidFill>
            </a:endParaRPr>
          </a:p>
          <a:p>
            <a:r>
              <a:rPr lang="ru-RU" dirty="0">
                <a:solidFill>
                  <a:schemeClr val="accent2">
                    <a:lumMod val="50000"/>
                  </a:schemeClr>
                </a:solidFill>
              </a:rPr>
              <a:t>#view </a:t>
            </a:r>
            <a:r>
              <a:rPr lang="ru-RU" dirty="0" err="1">
                <a:solidFill>
                  <a:schemeClr val="accent2">
                    <a:lumMod val="50000"/>
                  </a:schemeClr>
                </a:solidFill>
              </a:rPr>
              <a:t>results</a:t>
            </a:r>
            <a:endParaRPr lang="en-US" dirty="0">
              <a:solidFill>
                <a:schemeClr val="accent2">
                  <a:lumMod val="50000"/>
                </a:schemeClr>
              </a:solidFill>
            </a:endParaRPr>
          </a:p>
          <a:p>
            <a:r>
              <a:rPr lang="ru-RU" dirty="0" err="1"/>
              <a:t>fviz_cluster</a:t>
            </a:r>
            <a:r>
              <a:rPr lang="ru-RU" dirty="0"/>
              <a:t>(</a:t>
            </a:r>
            <a:r>
              <a:rPr lang="ru-RU" dirty="0" err="1"/>
              <a:t>km</a:t>
            </a:r>
            <a:r>
              <a:rPr lang="ru-RU" dirty="0"/>
              <a:t>, </a:t>
            </a:r>
            <a:r>
              <a:rPr lang="ru-RU" dirty="0" err="1"/>
              <a:t>data</a:t>
            </a:r>
            <a:r>
              <a:rPr lang="ru-RU" dirty="0"/>
              <a:t> = protein.03)</a:t>
            </a:r>
          </a:p>
        </p:txBody>
      </p:sp>
    </p:spTree>
    <p:extLst>
      <p:ext uri="{BB962C8B-B14F-4D97-AF65-F5344CB8AC3E}">
        <p14:creationId xmlns:p14="http://schemas.microsoft.com/office/powerpoint/2010/main" val="9324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p:cNvSpPr>
            <a:spLocks noChangeArrowheads="1"/>
          </p:cNvSpPr>
          <p:nvPr/>
        </p:nvSpPr>
        <p:spPr bwMode="auto">
          <a:xfrm>
            <a:off x="1438275" y="322263"/>
            <a:ext cx="10728497"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pic>
        <p:nvPicPr>
          <p:cNvPr id="2" name="Рисунок 1"/>
          <p:cNvPicPr>
            <a:picLocks noChangeAspect="1"/>
          </p:cNvPicPr>
          <p:nvPr/>
        </p:nvPicPr>
        <p:blipFill>
          <a:blip r:embed="rId3">
            <a:alphaModFix/>
          </a:blip>
          <a:srcRect/>
          <a:stretch>
            <a:fillRect/>
          </a:stretch>
        </p:blipFill>
        <p:spPr>
          <a:xfrm>
            <a:off x="2967376" y="322263"/>
            <a:ext cx="7085961" cy="6604264"/>
          </a:xfrm>
          <a:prstGeom prst="rect">
            <a:avLst/>
          </a:prstGeom>
          <a:noFill/>
          <a:ln>
            <a:noFill/>
          </a:ln>
        </p:spPr>
      </p:pic>
      <p:sp>
        <p:nvSpPr>
          <p:cNvPr id="4" name="Овал 3"/>
          <p:cNvSpPr/>
          <p:nvPr/>
        </p:nvSpPr>
        <p:spPr bwMode="auto">
          <a:xfrm>
            <a:off x="6294331" y="1690936"/>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4</a:t>
            </a:r>
            <a:endParaRPr lang="ru-RU" sz="2400" dirty="0">
              <a:solidFill>
                <a:schemeClr val="bg1"/>
              </a:solidFill>
            </a:endParaRPr>
          </a:p>
        </p:txBody>
      </p:sp>
      <p:sp>
        <p:nvSpPr>
          <p:cNvPr id="5" name="Овал 4"/>
          <p:cNvSpPr/>
          <p:nvPr/>
        </p:nvSpPr>
        <p:spPr bwMode="auto">
          <a:xfrm>
            <a:off x="7702277" y="2627040"/>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2</a:t>
            </a:r>
            <a:endParaRPr lang="ru-RU" sz="2400" dirty="0">
              <a:solidFill>
                <a:schemeClr val="bg1"/>
              </a:solidFill>
            </a:endParaRPr>
          </a:p>
        </p:txBody>
      </p:sp>
      <p:sp>
        <p:nvSpPr>
          <p:cNvPr id="6" name="Овал 5"/>
          <p:cNvSpPr/>
          <p:nvPr/>
        </p:nvSpPr>
        <p:spPr bwMode="auto">
          <a:xfrm>
            <a:off x="5326013" y="3598863"/>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3</a:t>
            </a:r>
            <a:endParaRPr lang="ru-RU" sz="2400" dirty="0">
              <a:solidFill>
                <a:schemeClr val="bg1"/>
              </a:solidFill>
            </a:endParaRPr>
          </a:p>
        </p:txBody>
      </p:sp>
      <p:sp>
        <p:nvSpPr>
          <p:cNvPr id="7" name="Овал 6"/>
          <p:cNvSpPr/>
          <p:nvPr/>
        </p:nvSpPr>
        <p:spPr bwMode="auto">
          <a:xfrm>
            <a:off x="4461917" y="4859288"/>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5</a:t>
            </a:r>
            <a:endParaRPr lang="ru-RU" sz="2400" dirty="0">
              <a:solidFill>
                <a:schemeClr val="bg1"/>
              </a:solidFill>
            </a:endParaRPr>
          </a:p>
        </p:txBody>
      </p:sp>
      <p:sp>
        <p:nvSpPr>
          <p:cNvPr id="8" name="Овал 7"/>
          <p:cNvSpPr/>
          <p:nvPr/>
        </p:nvSpPr>
        <p:spPr bwMode="auto">
          <a:xfrm>
            <a:off x="7486253" y="4303469"/>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1</a:t>
            </a:r>
            <a:endParaRPr lang="ru-RU" sz="2400" dirty="0">
              <a:solidFill>
                <a:schemeClr val="bg1"/>
              </a:solidFill>
            </a:endParaRPr>
          </a:p>
        </p:txBody>
      </p:sp>
      <p:sp>
        <p:nvSpPr>
          <p:cNvPr id="10" name="Номер слайда 9"/>
          <p:cNvSpPr>
            <a:spLocks noGrp="1"/>
          </p:cNvSpPr>
          <p:nvPr>
            <p:ph type="sldNum" sz="quarter" idx="12"/>
          </p:nvPr>
        </p:nvSpPr>
        <p:spPr>
          <a:xfrm>
            <a:off x="11374685" y="6605015"/>
            <a:ext cx="660154" cy="379409"/>
          </a:xfrm>
        </p:spPr>
        <p:txBody>
          <a:bodyPr/>
          <a:lstStyle/>
          <a:p>
            <a:fld id="{952B6C0E-C4B9-4094-8E59-5B7DF00D5415}" type="slidenum">
              <a:rPr lang="ru-RU" smtClean="0">
                <a:solidFill>
                  <a:schemeClr val="tx1"/>
                </a:solidFill>
              </a:rPr>
              <a:t>87</a:t>
            </a:fld>
            <a:endParaRPr lang="ru-RU">
              <a:solidFill>
                <a:schemeClr val="tx1"/>
              </a:solidFill>
            </a:endParaRPr>
          </a:p>
        </p:txBody>
      </p:sp>
    </p:spTree>
    <p:extLst>
      <p:ext uri="{BB962C8B-B14F-4D97-AF65-F5344CB8AC3E}">
        <p14:creationId xmlns:p14="http://schemas.microsoft.com/office/powerpoint/2010/main" val="4262987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7582" y="322264"/>
            <a:ext cx="10597258"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13" name="Номер слайда 12"/>
          <p:cNvSpPr>
            <a:spLocks noGrp="1"/>
          </p:cNvSpPr>
          <p:nvPr>
            <p:ph type="sldNum" sz="quarter" idx="12"/>
          </p:nvPr>
        </p:nvSpPr>
        <p:spPr/>
        <p:txBody>
          <a:bodyPr/>
          <a:lstStyle/>
          <a:p>
            <a:fld id="{952B6C0E-C4B9-4094-8E59-5B7DF00D5415}" type="slidenum">
              <a:rPr lang="ru-RU" smtClean="0">
                <a:solidFill>
                  <a:schemeClr val="tx1"/>
                </a:solidFill>
              </a:rPr>
              <a:t>88</a:t>
            </a:fld>
            <a:endParaRPr lang="ru-RU" dirty="0">
              <a:solidFill>
                <a:schemeClr val="tx1"/>
              </a:solidFill>
            </a:endParaRPr>
          </a:p>
        </p:txBody>
      </p:sp>
      <p:sp>
        <p:nvSpPr>
          <p:cNvPr id="2" name="Заголовок 1"/>
          <p:cNvSpPr txBox="1">
            <a:spLocks noGrp="1"/>
          </p:cNvSpPr>
          <p:nvPr>
            <p:ph type="title" idx="4294967295"/>
          </p:nvPr>
        </p:nvSpPr>
        <p:spPr>
          <a:xfrm>
            <a:off x="1195388" y="331789"/>
            <a:ext cx="7054850" cy="693737"/>
          </a:xfrm>
          <a:prstGeom prst="rect">
            <a:avLst/>
          </a:prstGeom>
        </p:spPr>
        <p:txBody>
          <a:bodyPr>
            <a:normAutofit fontScale="90000"/>
          </a:bodyPr>
          <a:lstStyle/>
          <a:p>
            <a:r>
              <a:rPr lang="ru-RU" sz="4400" dirty="0"/>
              <a:t>Нумерация кластеров</a:t>
            </a:r>
          </a:p>
        </p:txBody>
      </p:sp>
      <p:pic>
        <p:nvPicPr>
          <p:cNvPr id="3" name="Рисунок 2"/>
          <p:cNvPicPr>
            <a:picLocks noChangeAspect="1"/>
          </p:cNvPicPr>
          <p:nvPr/>
        </p:nvPicPr>
        <p:blipFill>
          <a:blip r:embed="rId3">
            <a:alphaModFix/>
          </a:blip>
          <a:srcRect/>
          <a:stretch>
            <a:fillRect/>
          </a:stretch>
        </p:blipFill>
        <p:spPr>
          <a:xfrm>
            <a:off x="1919942" y="1857325"/>
            <a:ext cx="8754298" cy="4315425"/>
          </a:xfrm>
          <a:prstGeom prst="rect">
            <a:avLst/>
          </a:prstGeom>
          <a:noFill/>
          <a:ln>
            <a:noFill/>
          </a:ln>
        </p:spPr>
      </p:pic>
      <p:sp>
        <p:nvSpPr>
          <p:cNvPr id="7" name="Овал 6"/>
          <p:cNvSpPr/>
          <p:nvPr/>
        </p:nvSpPr>
        <p:spPr bwMode="auto">
          <a:xfrm>
            <a:off x="5254005" y="2915072"/>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3</a:t>
            </a:r>
            <a:endParaRPr lang="ru-RU" sz="2400" dirty="0">
              <a:solidFill>
                <a:schemeClr val="bg1"/>
              </a:solidFill>
            </a:endParaRPr>
          </a:p>
        </p:txBody>
      </p:sp>
      <p:sp>
        <p:nvSpPr>
          <p:cNvPr id="8" name="Овал 7"/>
          <p:cNvSpPr/>
          <p:nvPr/>
        </p:nvSpPr>
        <p:spPr bwMode="auto">
          <a:xfrm>
            <a:off x="5254005" y="1788445"/>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1</a:t>
            </a:r>
            <a:endParaRPr lang="ru-RU" sz="2400" dirty="0">
              <a:solidFill>
                <a:schemeClr val="bg1"/>
              </a:solidFill>
            </a:endParaRPr>
          </a:p>
        </p:txBody>
      </p:sp>
      <p:sp>
        <p:nvSpPr>
          <p:cNvPr id="9" name="Овал 8"/>
          <p:cNvSpPr/>
          <p:nvPr/>
        </p:nvSpPr>
        <p:spPr bwMode="auto">
          <a:xfrm>
            <a:off x="5273096" y="3491582"/>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2</a:t>
            </a:r>
            <a:endParaRPr lang="ru-RU" sz="2400" dirty="0">
              <a:solidFill>
                <a:schemeClr val="bg1"/>
              </a:solidFill>
            </a:endParaRPr>
          </a:p>
        </p:txBody>
      </p:sp>
      <p:sp>
        <p:nvSpPr>
          <p:cNvPr id="10" name="Овал 9"/>
          <p:cNvSpPr/>
          <p:nvPr/>
        </p:nvSpPr>
        <p:spPr bwMode="auto">
          <a:xfrm>
            <a:off x="5273096" y="4616141"/>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4</a:t>
            </a:r>
            <a:endParaRPr lang="ru-RU" sz="2400" dirty="0">
              <a:solidFill>
                <a:schemeClr val="bg1"/>
              </a:solidFill>
            </a:endParaRPr>
          </a:p>
        </p:txBody>
      </p:sp>
      <p:sp>
        <p:nvSpPr>
          <p:cNvPr id="11" name="Овал 10"/>
          <p:cNvSpPr/>
          <p:nvPr/>
        </p:nvSpPr>
        <p:spPr bwMode="auto">
          <a:xfrm>
            <a:off x="5273096" y="5308652"/>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defTabSz="993775"/>
            <a:r>
              <a:rPr lang="ru-RU" sz="1600" dirty="0">
                <a:solidFill>
                  <a:schemeClr val="bg1"/>
                </a:solidFill>
              </a:rPr>
              <a:t>5</a:t>
            </a:r>
            <a:endParaRPr lang="ru-RU" sz="2400" dirty="0">
              <a:solidFill>
                <a:schemeClr val="bg1"/>
              </a:solidFill>
            </a:endParaRPr>
          </a:p>
        </p:txBody>
      </p:sp>
    </p:spTree>
    <p:extLst>
      <p:ext uri="{BB962C8B-B14F-4D97-AF65-F5344CB8AC3E}">
        <p14:creationId xmlns:p14="http://schemas.microsoft.com/office/powerpoint/2010/main" val="1179453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Прямоугольник 6"/>
          <p:cNvSpPr/>
          <p:nvPr/>
        </p:nvSpPr>
        <p:spPr>
          <a:xfrm>
            <a:off x="2068024" y="1263597"/>
            <a:ext cx="8946053" cy="1815882"/>
          </a:xfrm>
          <a:prstGeom prst="rect">
            <a:avLst/>
          </a:prstGeom>
        </p:spPr>
        <p:txBody>
          <a:bodyPr wrap="square">
            <a:spAutoFit/>
          </a:bodyPr>
          <a:lstStyle/>
          <a:p>
            <a:r>
              <a:rPr lang="ru-RU" sz="1600" dirty="0">
                <a:solidFill>
                  <a:schemeClr val="accent2">
                    <a:lumMod val="50000"/>
                  </a:schemeClr>
                </a:solidFill>
              </a:rPr>
              <a:t>#  Для каждого вида еды определяем, </a:t>
            </a:r>
          </a:p>
          <a:p>
            <a:r>
              <a:rPr lang="ru-RU" sz="1600" dirty="0">
                <a:solidFill>
                  <a:schemeClr val="accent2">
                    <a:lumMod val="50000"/>
                  </a:schemeClr>
                </a:solidFill>
              </a:rPr>
              <a:t>#  какая часть потребителей в среднем в # кластере (в группе) приобретали этот вид еды</a:t>
            </a:r>
          </a:p>
          <a:p>
            <a:r>
              <a:rPr lang="ru-RU" sz="1600" dirty="0" err="1">
                <a:solidFill>
                  <a:schemeClr val="accent2">
                    <a:lumMod val="50000"/>
                  </a:schemeClr>
                </a:solidFill>
              </a:rPr>
              <a:t>colMeans</a:t>
            </a:r>
            <a:r>
              <a:rPr lang="ru-RU" sz="1600" dirty="0">
                <a:solidFill>
                  <a:schemeClr val="accent2">
                    <a:lumMod val="50000"/>
                  </a:schemeClr>
                </a:solidFill>
              </a:rPr>
              <a:t>(protein.01[</a:t>
            </a:r>
            <a:r>
              <a:rPr lang="ru-RU" sz="1600" dirty="0" err="1">
                <a:solidFill>
                  <a:schemeClr val="accent2">
                    <a:lumMod val="50000"/>
                  </a:schemeClr>
                </a:solidFill>
              </a:rPr>
              <a:t>groups</a:t>
            </a:r>
            <a:r>
              <a:rPr lang="ru-RU" sz="1600" dirty="0">
                <a:solidFill>
                  <a:schemeClr val="accent2">
                    <a:lumMod val="50000"/>
                  </a:schemeClr>
                </a:solidFill>
              </a:rPr>
              <a:t>==1, 2:10]) #  в 1-ом кластере</a:t>
            </a:r>
          </a:p>
          <a:p>
            <a:r>
              <a:rPr lang="ru-RU" sz="1600" dirty="0" err="1">
                <a:solidFill>
                  <a:schemeClr val="accent2">
                    <a:lumMod val="50000"/>
                  </a:schemeClr>
                </a:solidFill>
              </a:rPr>
              <a:t>colMeans</a:t>
            </a:r>
            <a:r>
              <a:rPr lang="ru-RU" sz="1600" dirty="0">
                <a:solidFill>
                  <a:schemeClr val="accent2">
                    <a:lumMod val="50000"/>
                  </a:schemeClr>
                </a:solidFill>
              </a:rPr>
              <a:t>(protein.01[</a:t>
            </a:r>
            <a:r>
              <a:rPr lang="ru-RU" sz="1600" dirty="0" err="1">
                <a:solidFill>
                  <a:schemeClr val="accent2">
                    <a:lumMod val="50000"/>
                  </a:schemeClr>
                </a:solidFill>
              </a:rPr>
              <a:t>groups</a:t>
            </a:r>
            <a:r>
              <a:rPr lang="ru-RU" sz="1600" dirty="0">
                <a:solidFill>
                  <a:schemeClr val="accent2">
                    <a:lumMod val="50000"/>
                  </a:schemeClr>
                </a:solidFill>
              </a:rPr>
              <a:t>==2, 2:10]) #  во 2-ом кластере</a:t>
            </a:r>
          </a:p>
          <a:p>
            <a:r>
              <a:rPr lang="ru-RU" sz="1600" dirty="0" err="1">
                <a:solidFill>
                  <a:schemeClr val="accent2">
                    <a:lumMod val="50000"/>
                  </a:schemeClr>
                </a:solidFill>
              </a:rPr>
              <a:t>colMeans</a:t>
            </a:r>
            <a:r>
              <a:rPr lang="ru-RU" sz="1600" dirty="0">
                <a:solidFill>
                  <a:schemeClr val="accent2">
                    <a:lumMod val="50000"/>
                  </a:schemeClr>
                </a:solidFill>
              </a:rPr>
              <a:t>(protein.01[</a:t>
            </a:r>
            <a:r>
              <a:rPr lang="ru-RU" sz="1600" dirty="0" err="1">
                <a:solidFill>
                  <a:schemeClr val="accent2">
                    <a:lumMod val="50000"/>
                  </a:schemeClr>
                </a:solidFill>
              </a:rPr>
              <a:t>groups</a:t>
            </a:r>
            <a:r>
              <a:rPr lang="ru-RU" sz="1600" dirty="0">
                <a:solidFill>
                  <a:schemeClr val="accent2">
                    <a:lumMod val="50000"/>
                  </a:schemeClr>
                </a:solidFill>
              </a:rPr>
              <a:t>==3, 2:10]) #  в 3-ем кластере</a:t>
            </a:r>
          </a:p>
          <a:p>
            <a:r>
              <a:rPr lang="ru-RU" sz="1600" dirty="0" err="1">
                <a:solidFill>
                  <a:schemeClr val="accent2">
                    <a:lumMod val="50000"/>
                  </a:schemeClr>
                </a:solidFill>
              </a:rPr>
              <a:t>colMeans</a:t>
            </a:r>
            <a:r>
              <a:rPr lang="ru-RU" sz="1600" dirty="0">
                <a:solidFill>
                  <a:schemeClr val="accent2">
                    <a:lumMod val="50000"/>
                  </a:schemeClr>
                </a:solidFill>
              </a:rPr>
              <a:t>(protein.01[</a:t>
            </a:r>
            <a:r>
              <a:rPr lang="ru-RU" sz="1600" dirty="0" err="1">
                <a:solidFill>
                  <a:schemeClr val="accent2">
                    <a:lumMod val="50000"/>
                  </a:schemeClr>
                </a:solidFill>
              </a:rPr>
              <a:t>groups</a:t>
            </a:r>
            <a:r>
              <a:rPr lang="ru-RU" sz="1600" dirty="0">
                <a:solidFill>
                  <a:schemeClr val="accent2">
                    <a:lumMod val="50000"/>
                  </a:schemeClr>
                </a:solidFill>
              </a:rPr>
              <a:t>==4, 2:10]) #  в 4-ом кластере</a:t>
            </a:r>
          </a:p>
          <a:p>
            <a:r>
              <a:rPr lang="ru-RU" sz="1600" dirty="0" err="1">
                <a:solidFill>
                  <a:schemeClr val="accent2">
                    <a:lumMod val="50000"/>
                  </a:schemeClr>
                </a:solidFill>
              </a:rPr>
              <a:t>colMeans</a:t>
            </a:r>
            <a:r>
              <a:rPr lang="ru-RU" sz="1600" dirty="0">
                <a:solidFill>
                  <a:schemeClr val="accent2">
                    <a:lumMod val="50000"/>
                  </a:schemeClr>
                </a:solidFill>
              </a:rPr>
              <a:t>(protein.01[</a:t>
            </a:r>
            <a:r>
              <a:rPr lang="ru-RU" sz="1600" dirty="0" err="1">
                <a:solidFill>
                  <a:schemeClr val="accent2">
                    <a:lumMod val="50000"/>
                  </a:schemeClr>
                </a:solidFill>
              </a:rPr>
              <a:t>groups</a:t>
            </a:r>
            <a:r>
              <a:rPr lang="ru-RU" sz="1600" dirty="0">
                <a:solidFill>
                  <a:schemeClr val="accent2">
                    <a:lumMod val="50000"/>
                  </a:schemeClr>
                </a:solidFill>
              </a:rPr>
              <a:t>==5, 2:10]) #  в 5-oм кластере</a:t>
            </a:r>
          </a:p>
        </p:txBody>
      </p:sp>
      <p:pic>
        <p:nvPicPr>
          <p:cNvPr id="9" name="Рисунок 8"/>
          <p:cNvPicPr>
            <a:picLocks noChangeAspect="1"/>
          </p:cNvPicPr>
          <p:nvPr/>
        </p:nvPicPr>
        <p:blipFill>
          <a:blip r:embed="rId3"/>
          <a:stretch>
            <a:fillRect/>
          </a:stretch>
        </p:blipFill>
        <p:spPr>
          <a:xfrm>
            <a:off x="2094286" y="3215491"/>
            <a:ext cx="8044287" cy="3371989"/>
          </a:xfrm>
          <a:prstGeom prst="rect">
            <a:avLst/>
          </a:prstGeom>
        </p:spPr>
      </p:pic>
      <p:sp>
        <p:nvSpPr>
          <p:cNvPr id="11" name="Заголовок 1"/>
          <p:cNvSpPr txBox="1">
            <a:spLocks/>
          </p:cNvSpPr>
          <p:nvPr/>
        </p:nvSpPr>
        <p:spPr>
          <a:xfrm>
            <a:off x="2058354" y="229053"/>
            <a:ext cx="8551545" cy="754071"/>
          </a:xfrm>
          <a:prstGeom prst="rect">
            <a:avLst/>
          </a:prstGeom>
        </p:spPr>
        <p:txBody>
          <a:bodyPr wrap="square">
            <a:noAutofit/>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2800"/>
              <a:t>Далее, сравниваем потребление в разных кластерах</a:t>
            </a:r>
            <a:endParaRPr lang="ru-RU" sz="2800" dirty="0"/>
          </a:p>
        </p:txBody>
      </p:sp>
      <p:sp>
        <p:nvSpPr>
          <p:cNvPr id="3" name="Номер слайда 2"/>
          <p:cNvSpPr>
            <a:spLocks noGrp="1"/>
          </p:cNvSpPr>
          <p:nvPr>
            <p:ph type="sldNum" sz="quarter" idx="12"/>
          </p:nvPr>
        </p:nvSpPr>
        <p:spPr/>
        <p:txBody>
          <a:bodyPr/>
          <a:lstStyle/>
          <a:p>
            <a:fld id="{952B6C0E-C4B9-4094-8E59-5B7DF00D5415}" type="slidenum">
              <a:rPr lang="ru-RU" smtClean="0">
                <a:solidFill>
                  <a:schemeClr val="tx1"/>
                </a:solidFill>
              </a:rPr>
              <a:t>89</a:t>
            </a:fld>
            <a:endParaRPr lang="ru-RU" dirty="0">
              <a:solidFill>
                <a:schemeClr val="tx1"/>
              </a:solidFill>
            </a:endParaRPr>
          </a:p>
        </p:txBody>
      </p:sp>
    </p:spTree>
    <p:extLst>
      <p:ext uri="{BB962C8B-B14F-4D97-AF65-F5344CB8AC3E}">
        <p14:creationId xmlns:p14="http://schemas.microsoft.com/office/powerpoint/2010/main" val="3562527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944521"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3"/>
            <a:ext cx="8064128" cy="1150878"/>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Номер слайда 7"/>
          <p:cNvSpPr>
            <a:spLocks noGrp="1"/>
          </p:cNvSpPr>
          <p:nvPr>
            <p:ph type="sldNum" sz="quarter" idx="12"/>
          </p:nvPr>
        </p:nvSpPr>
        <p:spPr/>
        <p:txBody>
          <a:bodyPr/>
          <a:lstStyle/>
          <a:p>
            <a:fld id="{952B6C0E-C4B9-4094-8E59-5B7DF00D5415}" type="slidenum">
              <a:rPr lang="ru-RU" smtClean="0">
                <a:solidFill>
                  <a:schemeClr val="tx1"/>
                </a:solidFill>
              </a:rPr>
              <a:t>90</a:t>
            </a:fld>
            <a:endParaRPr lang="ru-RU" dirty="0">
              <a:solidFill>
                <a:schemeClr val="tx1"/>
              </a:solidFill>
            </a:endParaRPr>
          </a:p>
        </p:txBody>
      </p:sp>
      <p:sp>
        <p:nvSpPr>
          <p:cNvPr id="2" name="Заголовок 1"/>
          <p:cNvSpPr txBox="1">
            <a:spLocks noGrp="1"/>
          </p:cNvSpPr>
          <p:nvPr>
            <p:ph type="title" idx="4294967295"/>
          </p:nvPr>
        </p:nvSpPr>
        <p:spPr>
          <a:xfrm>
            <a:off x="1195389" y="288926"/>
            <a:ext cx="10034586" cy="1184275"/>
          </a:xfrm>
          <a:prstGeom prst="rect">
            <a:avLst/>
          </a:prstGeom>
        </p:spPr>
        <p:txBody>
          <a:bodyPr wrap="square">
            <a:noAutofit/>
          </a:bodyPr>
          <a:lstStyle/>
          <a:p>
            <a:pPr lvl="0"/>
            <a:r>
              <a:rPr lang="ru-RU" sz="3600" dirty="0"/>
              <a:t>Далее, сравниваем потребление в разных кластерах</a:t>
            </a:r>
          </a:p>
        </p:txBody>
      </p:sp>
      <p:sp>
        <p:nvSpPr>
          <p:cNvPr id="3" name="Текст 2"/>
          <p:cNvSpPr txBox="1">
            <a:spLocks noGrp="1"/>
          </p:cNvSpPr>
          <p:nvPr>
            <p:ph type="body" idx="4294967295"/>
          </p:nvPr>
        </p:nvSpPr>
        <p:spPr>
          <a:xfrm>
            <a:off x="956444" y="1834952"/>
            <a:ext cx="10755361" cy="3975100"/>
          </a:xfrm>
          <a:prstGeom prst="rect">
            <a:avLst/>
          </a:prstGeom>
        </p:spPr>
        <p:txBody>
          <a:bodyPr wrap="square"/>
          <a:lstStyle/>
          <a:p>
            <a:pPr>
              <a:lnSpc>
                <a:spcPct val="80000"/>
              </a:lnSpc>
              <a:spcBef>
                <a:spcPts val="544"/>
              </a:spcBef>
              <a:buClr>
                <a:srgbClr val="CC9900"/>
              </a:buClr>
              <a:buSzPct val="65000"/>
              <a:buFont typeface="Wingdings" pitchFamily="2"/>
              <a:buChar char=""/>
            </a:pPr>
            <a:r>
              <a:rPr lang="ru-RU" sz="2400" dirty="0">
                <a:solidFill>
                  <a:schemeClr val="accent2">
                    <a:lumMod val="50000"/>
                  </a:schemeClr>
                </a:solidFill>
              </a:rPr>
              <a:t>1 кластер</a:t>
            </a:r>
            <a:r>
              <a:rPr lang="ru-RU" sz="2400" dirty="0"/>
              <a:t>: большое потребление злаков и орехов (</a:t>
            </a:r>
            <a:r>
              <a:rPr lang="en-US" sz="2400" dirty="0"/>
              <a:t>Pulses</a:t>
            </a:r>
            <a:r>
              <a:rPr lang="ru-RU" sz="2400" dirty="0"/>
              <a:t>, </a:t>
            </a:r>
            <a:r>
              <a:rPr lang="en-US" sz="2400" dirty="0"/>
              <a:t>nuts</a:t>
            </a:r>
            <a:r>
              <a:rPr lang="ru-RU" sz="2400" dirty="0"/>
              <a:t>, </a:t>
            </a:r>
            <a:r>
              <a:rPr lang="en-US" sz="2400" dirty="0"/>
              <a:t>and oil</a:t>
            </a:r>
            <a:r>
              <a:rPr lang="ru-RU" sz="2400" dirty="0"/>
              <a:t>-</a:t>
            </a:r>
            <a:r>
              <a:rPr lang="en-US" sz="2400" dirty="0"/>
              <a:t>seeds</a:t>
            </a:r>
            <a:r>
              <a:rPr lang="ru-RU" sz="2400" dirty="0"/>
              <a:t>); маленькое потребление мяса (Red </a:t>
            </a:r>
            <a:r>
              <a:rPr lang="ru-RU" sz="2400" dirty="0" err="1"/>
              <a:t>meat</a:t>
            </a:r>
            <a:r>
              <a:rPr lang="ru-RU" sz="2400" dirty="0"/>
              <a:t>, White </a:t>
            </a:r>
            <a:r>
              <a:rPr lang="ru-RU" sz="2400" dirty="0" err="1"/>
              <a:t>meat</a:t>
            </a:r>
            <a:r>
              <a:rPr lang="ru-RU" sz="2400" dirty="0"/>
              <a:t>), рыбы, крахмалистых продуктов (</a:t>
            </a:r>
            <a:r>
              <a:rPr lang="ru-RU" sz="2400" dirty="0" err="1"/>
              <a:t>Starchy</a:t>
            </a:r>
            <a:r>
              <a:rPr lang="ru-RU" sz="2400" dirty="0"/>
              <a:t> </a:t>
            </a:r>
            <a:r>
              <a:rPr lang="ru-RU" sz="2400" dirty="0" err="1"/>
              <a:t>foods</a:t>
            </a:r>
            <a:r>
              <a:rPr lang="ru-RU" sz="2400" dirty="0"/>
              <a:t>) и яиц.</a:t>
            </a:r>
          </a:p>
          <a:p>
            <a:pPr>
              <a:lnSpc>
                <a:spcPct val="80000"/>
              </a:lnSpc>
              <a:spcBef>
                <a:spcPts val="544"/>
              </a:spcBef>
              <a:buClr>
                <a:srgbClr val="CC9900"/>
              </a:buClr>
              <a:buSzPct val="65000"/>
              <a:buFont typeface="Wingdings" pitchFamily="2"/>
              <a:buChar char=""/>
            </a:pPr>
            <a:r>
              <a:rPr lang="ru-RU" sz="2400" dirty="0">
                <a:solidFill>
                  <a:schemeClr val="accent2">
                    <a:lumMod val="50000"/>
                  </a:schemeClr>
                </a:solidFill>
              </a:rPr>
              <a:t>2 кластер: </a:t>
            </a:r>
            <a:r>
              <a:rPr lang="ru-RU" sz="2400" dirty="0"/>
              <a:t>большое потребление птицы (</a:t>
            </a:r>
            <a:r>
              <a:rPr lang="ru-RU" sz="2400" dirty="0" err="1"/>
              <a:t>White</a:t>
            </a:r>
            <a:r>
              <a:rPr lang="ru-RU" sz="2400" dirty="0"/>
              <a:t> </a:t>
            </a:r>
            <a:r>
              <a:rPr lang="ru-RU" sz="2400" dirty="0" err="1"/>
              <a:t>meat</a:t>
            </a:r>
            <a:r>
              <a:rPr lang="ru-RU" sz="2400" dirty="0"/>
              <a:t>), крахмалистых продуктов; небольшое потребление орехов.</a:t>
            </a:r>
          </a:p>
          <a:p>
            <a:pPr>
              <a:lnSpc>
                <a:spcPct val="80000"/>
              </a:lnSpc>
              <a:spcBef>
                <a:spcPts val="544"/>
              </a:spcBef>
              <a:buClr>
                <a:srgbClr val="CC9900"/>
              </a:buClr>
              <a:buSzPct val="65000"/>
              <a:buFont typeface="Wingdings" pitchFamily="2"/>
              <a:buChar char=""/>
            </a:pPr>
            <a:r>
              <a:rPr lang="ru-RU" sz="2400" dirty="0">
                <a:solidFill>
                  <a:schemeClr val="accent2">
                    <a:lumMod val="50000"/>
                  </a:schemeClr>
                </a:solidFill>
              </a:rPr>
              <a:t>3 кластер: </a:t>
            </a:r>
            <a:r>
              <a:rPr lang="ru-RU" sz="2400" dirty="0"/>
              <a:t>большое потребление мяса, яиц, молока; небольшое потребление злаков и орехов.</a:t>
            </a:r>
          </a:p>
          <a:p>
            <a:pPr>
              <a:lnSpc>
                <a:spcPct val="80000"/>
              </a:lnSpc>
              <a:spcBef>
                <a:spcPts val="544"/>
              </a:spcBef>
              <a:buClr>
                <a:srgbClr val="CC9900"/>
              </a:buClr>
              <a:buSzPct val="65000"/>
              <a:buFont typeface="Wingdings" pitchFamily="2"/>
              <a:buChar char=""/>
            </a:pPr>
            <a:r>
              <a:rPr lang="ru-RU" sz="2400" dirty="0">
                <a:solidFill>
                  <a:schemeClr val="accent2">
                    <a:lumMod val="50000"/>
                  </a:schemeClr>
                </a:solidFill>
              </a:rPr>
              <a:t>4 кластер</a:t>
            </a:r>
            <a:r>
              <a:rPr lang="ru-RU" sz="2400" dirty="0"/>
              <a:t>: большое потребление яиц, молока, рыбы; маленькое потребление злаков, орехов, фруктов и овощей.</a:t>
            </a:r>
          </a:p>
          <a:p>
            <a:pPr>
              <a:lnSpc>
                <a:spcPct val="80000"/>
              </a:lnSpc>
              <a:spcBef>
                <a:spcPts val="544"/>
              </a:spcBef>
              <a:buClr>
                <a:srgbClr val="CC9900"/>
              </a:buClr>
              <a:buSzPct val="65000"/>
              <a:buFont typeface="Wingdings" pitchFamily="2"/>
              <a:buChar char=""/>
            </a:pPr>
            <a:r>
              <a:rPr lang="ru-RU" sz="2400" dirty="0">
                <a:solidFill>
                  <a:schemeClr val="accent2">
                    <a:lumMod val="50000"/>
                  </a:schemeClr>
                </a:solidFill>
              </a:rPr>
              <a:t>5 кластер: </a:t>
            </a:r>
            <a:r>
              <a:rPr lang="ru-RU" sz="2400" dirty="0"/>
              <a:t>большое потребление рыбы, орехов, фруктов и овощей; маленькое потребление птицы.</a:t>
            </a:r>
          </a:p>
        </p:txBody>
      </p:sp>
    </p:spTree>
    <p:extLst>
      <p:ext uri="{BB962C8B-B14F-4D97-AF65-F5344CB8AC3E}">
        <p14:creationId xmlns:p14="http://schemas.microsoft.com/office/powerpoint/2010/main" val="2609120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077541" y="322263"/>
            <a:ext cx="1116123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Прямоугольник 6"/>
          <p:cNvSpPr/>
          <p:nvPr/>
        </p:nvSpPr>
        <p:spPr>
          <a:xfrm>
            <a:off x="358229" y="1194498"/>
            <a:ext cx="8064128" cy="1323439"/>
          </a:xfrm>
          <a:prstGeom prst="rect">
            <a:avLst/>
          </a:prstGeom>
        </p:spPr>
        <p:txBody>
          <a:bodyPr wrap="square">
            <a:spAutoFit/>
          </a:bodyPr>
          <a:lstStyle/>
          <a:p>
            <a:r>
              <a:rPr lang="ru-RU" dirty="0"/>
              <a:t>Как найти  различия в найденных группах?</a:t>
            </a:r>
          </a:p>
          <a:p>
            <a:r>
              <a:rPr lang="ru-RU" dirty="0"/>
              <a:t>Хотелось бы его увидеть в доступной форме, а не искать глазами</a:t>
            </a:r>
          </a:p>
          <a:p>
            <a:endParaRPr lang="ru-RU" dirty="0"/>
          </a:p>
          <a:p>
            <a:r>
              <a:rPr lang="ru-RU" dirty="0"/>
              <a:t>Построим новый набор данных:</a:t>
            </a:r>
          </a:p>
        </p:txBody>
      </p:sp>
      <p:sp>
        <p:nvSpPr>
          <p:cNvPr id="8" name="Заголовок 1"/>
          <p:cNvSpPr txBox="1">
            <a:spLocks/>
          </p:cNvSpPr>
          <p:nvPr/>
        </p:nvSpPr>
        <p:spPr>
          <a:xfrm>
            <a:off x="1941637" y="302161"/>
            <a:ext cx="7560841" cy="694330"/>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4400" dirty="0"/>
              <a:t>Анализ данных</a:t>
            </a:r>
          </a:p>
        </p:txBody>
      </p:sp>
      <p:sp>
        <p:nvSpPr>
          <p:cNvPr id="3" name="Прямоугольник 2"/>
          <p:cNvSpPr/>
          <p:nvPr/>
        </p:nvSpPr>
        <p:spPr>
          <a:xfrm>
            <a:off x="805800" y="3123245"/>
            <a:ext cx="5099282" cy="2554545"/>
          </a:xfrm>
          <a:prstGeom prst="rect">
            <a:avLst/>
          </a:prstGeom>
        </p:spPr>
        <p:txBody>
          <a:bodyPr wrap="square">
            <a:spAutoFit/>
          </a:bodyPr>
          <a:lstStyle/>
          <a:p>
            <a:r>
              <a:rPr lang="ru-RU" dirty="0">
                <a:solidFill>
                  <a:schemeClr val="accent2">
                    <a:lumMod val="50000"/>
                  </a:schemeClr>
                </a:solidFill>
              </a:rPr>
              <a:t>g1&lt;-</a:t>
            </a:r>
            <a:r>
              <a:rPr lang="ru-RU" dirty="0" err="1">
                <a:solidFill>
                  <a:schemeClr val="accent2">
                    <a:lumMod val="50000"/>
                  </a:schemeClr>
                </a:solidFill>
              </a:rPr>
              <a:t>colMeans</a:t>
            </a:r>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==1, 2:10])</a:t>
            </a:r>
          </a:p>
          <a:p>
            <a:r>
              <a:rPr lang="ru-RU" dirty="0">
                <a:solidFill>
                  <a:schemeClr val="accent2">
                    <a:lumMod val="50000"/>
                  </a:schemeClr>
                </a:solidFill>
              </a:rPr>
              <a:t>g2&lt;-</a:t>
            </a:r>
            <a:r>
              <a:rPr lang="ru-RU" dirty="0" err="1">
                <a:solidFill>
                  <a:schemeClr val="accent2">
                    <a:lumMod val="50000"/>
                  </a:schemeClr>
                </a:solidFill>
              </a:rPr>
              <a:t>colMeans</a:t>
            </a:r>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==2, 2:10])</a:t>
            </a:r>
          </a:p>
          <a:p>
            <a:r>
              <a:rPr lang="ru-RU" dirty="0">
                <a:solidFill>
                  <a:schemeClr val="accent2">
                    <a:lumMod val="50000"/>
                  </a:schemeClr>
                </a:solidFill>
              </a:rPr>
              <a:t>g3&lt;-</a:t>
            </a:r>
            <a:r>
              <a:rPr lang="ru-RU" dirty="0" err="1">
                <a:solidFill>
                  <a:schemeClr val="accent2">
                    <a:lumMod val="50000"/>
                  </a:schemeClr>
                </a:solidFill>
              </a:rPr>
              <a:t>colMeans</a:t>
            </a:r>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==3, 2:10])</a:t>
            </a:r>
          </a:p>
          <a:p>
            <a:r>
              <a:rPr lang="ru-RU" dirty="0">
                <a:solidFill>
                  <a:schemeClr val="accent2">
                    <a:lumMod val="50000"/>
                  </a:schemeClr>
                </a:solidFill>
              </a:rPr>
              <a:t>g4&lt;-</a:t>
            </a:r>
            <a:r>
              <a:rPr lang="ru-RU" dirty="0" err="1">
                <a:solidFill>
                  <a:schemeClr val="accent2">
                    <a:lumMod val="50000"/>
                  </a:schemeClr>
                </a:solidFill>
              </a:rPr>
              <a:t>colMeans</a:t>
            </a:r>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==4, 2:10])</a:t>
            </a:r>
          </a:p>
          <a:p>
            <a:r>
              <a:rPr lang="ru-RU" dirty="0">
                <a:solidFill>
                  <a:schemeClr val="accent2">
                    <a:lumMod val="50000"/>
                  </a:schemeClr>
                </a:solidFill>
              </a:rPr>
              <a:t>g5&lt;-</a:t>
            </a:r>
            <a:r>
              <a:rPr lang="ru-RU" dirty="0" err="1">
                <a:solidFill>
                  <a:schemeClr val="accent2">
                    <a:lumMod val="50000"/>
                  </a:schemeClr>
                </a:solidFill>
              </a:rPr>
              <a:t>colMeans</a:t>
            </a:r>
            <a:r>
              <a:rPr lang="ru-RU" dirty="0">
                <a:solidFill>
                  <a:schemeClr val="accent2">
                    <a:lumMod val="50000"/>
                  </a:schemeClr>
                </a:solidFill>
              </a:rPr>
              <a:t>(protein.01[</a:t>
            </a:r>
            <a:r>
              <a:rPr lang="ru-RU" dirty="0" err="1">
                <a:solidFill>
                  <a:schemeClr val="accent2">
                    <a:lumMod val="50000"/>
                  </a:schemeClr>
                </a:solidFill>
              </a:rPr>
              <a:t>groups</a:t>
            </a:r>
            <a:r>
              <a:rPr lang="ru-RU" dirty="0">
                <a:solidFill>
                  <a:schemeClr val="accent2">
                    <a:lumMod val="50000"/>
                  </a:schemeClr>
                </a:solidFill>
              </a:rPr>
              <a:t>==5, 2:10])</a:t>
            </a:r>
          </a:p>
          <a:p>
            <a:endParaRPr lang="ru-RU" dirty="0">
              <a:solidFill>
                <a:schemeClr val="accent2">
                  <a:lumMod val="50000"/>
                </a:schemeClr>
              </a:solidFill>
            </a:endParaRPr>
          </a:p>
          <a:p>
            <a:r>
              <a:rPr lang="ru-RU" dirty="0" err="1">
                <a:solidFill>
                  <a:schemeClr val="accent2">
                    <a:lumMod val="50000"/>
                  </a:schemeClr>
                </a:solidFill>
              </a:rPr>
              <a:t>df</a:t>
            </a:r>
            <a:r>
              <a:rPr lang="ru-RU" dirty="0">
                <a:solidFill>
                  <a:schemeClr val="accent2">
                    <a:lumMod val="50000"/>
                  </a:schemeClr>
                </a:solidFill>
              </a:rPr>
              <a:t>&lt;-</a:t>
            </a:r>
            <a:r>
              <a:rPr lang="ru-RU" dirty="0" err="1">
                <a:solidFill>
                  <a:schemeClr val="accent2">
                    <a:lumMod val="50000"/>
                  </a:schemeClr>
                </a:solidFill>
              </a:rPr>
              <a:t>data.frame</a:t>
            </a:r>
            <a:r>
              <a:rPr lang="ru-RU" dirty="0">
                <a:solidFill>
                  <a:schemeClr val="accent2">
                    <a:lumMod val="50000"/>
                  </a:schemeClr>
                </a:solidFill>
              </a:rPr>
              <a:t>(g1,g2,g3,g4,g5)</a:t>
            </a:r>
          </a:p>
          <a:p>
            <a:r>
              <a:rPr lang="ru-RU" dirty="0">
                <a:solidFill>
                  <a:schemeClr val="accent2">
                    <a:lumMod val="50000"/>
                  </a:schemeClr>
                </a:solidFill>
              </a:rPr>
              <a:t>df1&lt;-t(</a:t>
            </a:r>
            <a:r>
              <a:rPr lang="ru-RU" dirty="0" err="1">
                <a:solidFill>
                  <a:schemeClr val="accent2">
                    <a:lumMod val="50000"/>
                  </a:schemeClr>
                </a:solidFill>
              </a:rPr>
              <a:t>df</a:t>
            </a:r>
            <a:r>
              <a:rPr lang="ru-RU" dirty="0">
                <a:solidFill>
                  <a:schemeClr val="accent2">
                    <a:lumMod val="50000"/>
                  </a:schemeClr>
                </a:solidFill>
              </a:rPr>
              <a:t>)</a:t>
            </a:r>
          </a:p>
        </p:txBody>
      </p:sp>
      <p:pic>
        <p:nvPicPr>
          <p:cNvPr id="10" name="Рисунок 9"/>
          <p:cNvPicPr>
            <a:picLocks noChangeAspect="1"/>
          </p:cNvPicPr>
          <p:nvPr/>
        </p:nvPicPr>
        <p:blipFill>
          <a:blip r:embed="rId3"/>
          <a:stretch>
            <a:fillRect/>
          </a:stretch>
        </p:blipFill>
        <p:spPr>
          <a:xfrm>
            <a:off x="8000569" y="3063109"/>
            <a:ext cx="3861881" cy="2670215"/>
          </a:xfrm>
          <a:prstGeom prst="rect">
            <a:avLst/>
          </a:prstGeom>
        </p:spPr>
      </p:pic>
      <p:sp>
        <p:nvSpPr>
          <p:cNvPr id="9" name="Номер слайда 8"/>
          <p:cNvSpPr>
            <a:spLocks noGrp="1"/>
          </p:cNvSpPr>
          <p:nvPr>
            <p:ph type="sldNum" sz="quarter" idx="12"/>
          </p:nvPr>
        </p:nvSpPr>
        <p:spPr/>
        <p:txBody>
          <a:bodyPr/>
          <a:lstStyle/>
          <a:p>
            <a:fld id="{952B6C0E-C4B9-4094-8E59-5B7DF00D5415}" type="slidenum">
              <a:rPr lang="ru-RU" smtClean="0">
                <a:solidFill>
                  <a:schemeClr val="tx1"/>
                </a:solidFill>
              </a:rPr>
              <a:t>91</a:t>
            </a:fld>
            <a:endParaRPr lang="ru-RU">
              <a:solidFill>
                <a:schemeClr val="tx1"/>
              </a:solidFill>
            </a:endParaRPr>
          </a:p>
        </p:txBody>
      </p:sp>
      <p:pic>
        <p:nvPicPr>
          <p:cNvPr id="2" name="Рисунок 1"/>
          <p:cNvPicPr>
            <a:picLocks noChangeAspect="1"/>
          </p:cNvPicPr>
          <p:nvPr/>
        </p:nvPicPr>
        <p:blipFill>
          <a:blip r:embed="rId4"/>
          <a:stretch>
            <a:fillRect/>
          </a:stretch>
        </p:blipFill>
        <p:spPr>
          <a:xfrm>
            <a:off x="8560913" y="200724"/>
            <a:ext cx="2741195" cy="2482304"/>
          </a:xfrm>
          <a:prstGeom prst="rect">
            <a:avLst/>
          </a:prstGeom>
        </p:spPr>
      </p:pic>
    </p:spTree>
    <p:extLst>
      <p:ext uri="{BB962C8B-B14F-4D97-AF65-F5344CB8AC3E}">
        <p14:creationId xmlns:p14="http://schemas.microsoft.com/office/powerpoint/2010/main" val="1837971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6" name="AutoShape 6"/>
          <p:cNvSpPr>
            <a:spLocks noChangeArrowheads="1"/>
          </p:cNvSpPr>
          <p:nvPr/>
        </p:nvSpPr>
        <p:spPr bwMode="auto">
          <a:xfrm>
            <a:off x="1582738" y="1127585"/>
            <a:ext cx="9431338" cy="5603416"/>
          </a:xfrm>
          <a:prstGeom prst="roundRect">
            <a:avLst>
              <a:gd name="adj" fmla="val 16667"/>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r>
              <a:rPr lang="ru-RU" altLang="ru-RU" sz="3500">
                <a:solidFill>
                  <a:schemeClr val="bg1"/>
                </a:solidFill>
              </a:rPr>
              <a:t> </a:t>
            </a:r>
            <a:endParaRPr lang="ru-RU" altLang="ru-RU" sz="3500" dirty="0">
              <a:solidFill>
                <a:schemeClr val="bg1"/>
              </a:solidFill>
            </a:endParaRPr>
          </a:p>
        </p:txBody>
      </p:sp>
      <p:sp>
        <p:nvSpPr>
          <p:cNvPr id="7" name="Прямоугольник 6"/>
          <p:cNvSpPr/>
          <p:nvPr/>
        </p:nvSpPr>
        <p:spPr>
          <a:xfrm>
            <a:off x="1582739" y="1120786"/>
            <a:ext cx="6565091" cy="707886"/>
          </a:xfrm>
          <a:prstGeom prst="rect">
            <a:avLst/>
          </a:prstGeom>
        </p:spPr>
        <p:txBody>
          <a:bodyPr wrap="square">
            <a:spAutoFit/>
          </a:bodyPr>
          <a:lstStyle/>
          <a:p>
            <a:r>
              <a:rPr lang="ru-RU" dirty="0"/>
              <a:t>И сопоставим разницу в потреблении продуктов разными группами стран:</a:t>
            </a:r>
          </a:p>
        </p:txBody>
      </p:sp>
      <p:sp>
        <p:nvSpPr>
          <p:cNvPr id="8" name="Заголовок 1"/>
          <p:cNvSpPr txBox="1">
            <a:spLocks/>
          </p:cNvSpPr>
          <p:nvPr/>
        </p:nvSpPr>
        <p:spPr>
          <a:xfrm>
            <a:off x="2661717" y="288793"/>
            <a:ext cx="7560841" cy="694330"/>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4400" dirty="0"/>
              <a:t>Анализ данных</a:t>
            </a:r>
          </a:p>
        </p:txBody>
      </p:sp>
      <p:sp>
        <p:nvSpPr>
          <p:cNvPr id="2" name="Прямоугольник 1"/>
          <p:cNvSpPr/>
          <p:nvPr/>
        </p:nvSpPr>
        <p:spPr>
          <a:xfrm>
            <a:off x="1582738" y="1882786"/>
            <a:ext cx="6904536" cy="707886"/>
          </a:xfrm>
          <a:prstGeom prst="rect">
            <a:avLst/>
          </a:prstGeom>
        </p:spPr>
        <p:txBody>
          <a:bodyPr wrap="square">
            <a:spAutoFit/>
          </a:bodyPr>
          <a:lstStyle/>
          <a:p>
            <a:r>
              <a:rPr lang="ru-RU" dirty="0" err="1">
                <a:solidFill>
                  <a:schemeClr val="accent2">
                    <a:lumMod val="50000"/>
                  </a:schemeClr>
                </a:solidFill>
              </a:rPr>
              <a:t>barplot</a:t>
            </a:r>
            <a:r>
              <a:rPr lang="ru-RU" dirty="0">
                <a:solidFill>
                  <a:schemeClr val="accent2">
                    <a:lumMod val="50000"/>
                  </a:schemeClr>
                </a:solidFill>
              </a:rPr>
              <a:t>(df1, </a:t>
            </a:r>
            <a:r>
              <a:rPr lang="en-US" dirty="0">
                <a:solidFill>
                  <a:schemeClr val="accent2">
                    <a:lumMod val="50000"/>
                  </a:schemeClr>
                </a:solidFill>
              </a:rPr>
              <a:t>col=c("magenta", "red“, "</a:t>
            </a:r>
            <a:r>
              <a:rPr lang="en-US" dirty="0" err="1">
                <a:solidFill>
                  <a:schemeClr val="accent2">
                    <a:lumMod val="50000"/>
                  </a:schemeClr>
                </a:solidFill>
              </a:rPr>
              <a:t>yellow",“blue",“green</a:t>
            </a:r>
            <a:r>
              <a:rPr lang="en-US" dirty="0">
                <a:solidFill>
                  <a:schemeClr val="accent2">
                    <a:lumMod val="50000"/>
                  </a:schemeClr>
                </a:solidFill>
              </a:rPr>
              <a:t>"),</a:t>
            </a:r>
          </a:p>
          <a:p>
            <a:r>
              <a:rPr lang="ru-RU" dirty="0" err="1">
                <a:solidFill>
                  <a:schemeClr val="accent2">
                    <a:lumMod val="50000"/>
                  </a:schemeClr>
                </a:solidFill>
              </a:rPr>
              <a:t>legend</a:t>
            </a:r>
            <a:r>
              <a:rPr lang="ru-RU" dirty="0">
                <a:solidFill>
                  <a:schemeClr val="accent2">
                    <a:lumMod val="50000"/>
                  </a:schemeClr>
                </a:solidFill>
              </a:rPr>
              <a:t>=</a:t>
            </a:r>
            <a:r>
              <a:rPr lang="ru-RU" dirty="0" err="1">
                <a:solidFill>
                  <a:schemeClr val="accent2">
                    <a:lumMod val="50000"/>
                  </a:schemeClr>
                </a:solidFill>
              </a:rPr>
              <a:t>rownames</a:t>
            </a:r>
            <a:r>
              <a:rPr lang="ru-RU" dirty="0">
                <a:solidFill>
                  <a:schemeClr val="accent2">
                    <a:lumMod val="50000"/>
                  </a:schemeClr>
                </a:solidFill>
              </a:rPr>
              <a:t>(df1))</a:t>
            </a:r>
          </a:p>
        </p:txBody>
      </p:sp>
      <p:sp>
        <p:nvSpPr>
          <p:cNvPr id="9" name="Номер слайда 8"/>
          <p:cNvSpPr>
            <a:spLocks noGrp="1"/>
          </p:cNvSpPr>
          <p:nvPr>
            <p:ph type="sldNum" sz="quarter" idx="12"/>
          </p:nvPr>
        </p:nvSpPr>
        <p:spPr>
          <a:xfrm>
            <a:off x="11637776" y="6496054"/>
            <a:ext cx="521177" cy="379409"/>
          </a:xfrm>
        </p:spPr>
        <p:txBody>
          <a:bodyPr/>
          <a:lstStyle/>
          <a:p>
            <a:fld id="{952B6C0E-C4B9-4094-8E59-5B7DF00D5415}" type="slidenum">
              <a:rPr lang="ru-RU" smtClean="0">
                <a:solidFill>
                  <a:schemeClr val="tx1"/>
                </a:solidFill>
              </a:rPr>
              <a:t>92</a:t>
            </a:fld>
            <a:endParaRPr lang="ru-RU" dirty="0">
              <a:solidFill>
                <a:schemeClr val="tx1"/>
              </a:solidFill>
            </a:endParaRPr>
          </a:p>
        </p:txBody>
      </p:sp>
      <p:pic>
        <p:nvPicPr>
          <p:cNvPr id="14" name="Рисунок 13"/>
          <p:cNvPicPr>
            <a:picLocks noChangeAspect="1"/>
          </p:cNvPicPr>
          <p:nvPr/>
        </p:nvPicPr>
        <p:blipFill>
          <a:blip r:embed="rId3"/>
          <a:stretch>
            <a:fillRect/>
          </a:stretch>
        </p:blipFill>
        <p:spPr>
          <a:xfrm>
            <a:off x="1669650" y="2745178"/>
            <a:ext cx="9344427" cy="3859836"/>
          </a:xfrm>
          <a:prstGeom prst="rect">
            <a:avLst/>
          </a:prstGeom>
        </p:spPr>
      </p:pic>
      <p:pic>
        <p:nvPicPr>
          <p:cNvPr id="10" name="Рисунок 9"/>
          <p:cNvPicPr>
            <a:picLocks noChangeAspect="1"/>
          </p:cNvPicPr>
          <p:nvPr/>
        </p:nvPicPr>
        <p:blipFill>
          <a:blip r:embed="rId4"/>
          <a:stretch>
            <a:fillRect/>
          </a:stretch>
        </p:blipFill>
        <p:spPr>
          <a:xfrm>
            <a:off x="8543912" y="132899"/>
            <a:ext cx="2866246" cy="2595545"/>
          </a:xfrm>
          <a:prstGeom prst="rect">
            <a:avLst/>
          </a:prstGeom>
        </p:spPr>
      </p:pic>
    </p:spTree>
    <p:extLst>
      <p:ext uri="{BB962C8B-B14F-4D97-AF65-F5344CB8AC3E}">
        <p14:creationId xmlns:p14="http://schemas.microsoft.com/office/powerpoint/2010/main" val="2547420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6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Номер слайда 7"/>
          <p:cNvSpPr>
            <a:spLocks noGrp="1"/>
          </p:cNvSpPr>
          <p:nvPr>
            <p:ph type="sldNum" sz="quarter" idx="12"/>
          </p:nvPr>
        </p:nvSpPr>
        <p:spPr>
          <a:xfrm>
            <a:off x="11472863" y="6605015"/>
            <a:ext cx="561976" cy="379409"/>
          </a:xfrm>
        </p:spPr>
        <p:txBody>
          <a:bodyPr/>
          <a:lstStyle/>
          <a:p>
            <a:fld id="{952B6C0E-C4B9-4094-8E59-5B7DF00D5415}" type="slidenum">
              <a:rPr lang="ru-RU" smtClean="0">
                <a:solidFill>
                  <a:schemeClr val="tx1"/>
                </a:solidFill>
              </a:rPr>
              <a:t>93</a:t>
            </a:fld>
            <a:endParaRPr lang="ru-RU" dirty="0">
              <a:solidFill>
                <a:schemeClr val="tx1"/>
              </a:solidFill>
            </a:endParaRPr>
          </a:p>
        </p:txBody>
      </p:sp>
      <p:sp>
        <p:nvSpPr>
          <p:cNvPr id="3" name="Текст 2"/>
          <p:cNvSpPr txBox="1">
            <a:spLocks noGrp="1"/>
          </p:cNvSpPr>
          <p:nvPr>
            <p:ph type="body" idx="4294967295"/>
          </p:nvPr>
        </p:nvSpPr>
        <p:spPr>
          <a:xfrm>
            <a:off x="691331" y="984711"/>
            <a:ext cx="11187409" cy="1282289"/>
          </a:xfrm>
          <a:prstGeom prst="rect">
            <a:avLst/>
          </a:prstGeom>
        </p:spPr>
        <p:txBody>
          <a:bodyPr wrap="square">
            <a:normAutofit fontScale="92500" lnSpcReduction="10000"/>
          </a:bodyPr>
          <a:lstStyle/>
          <a:p>
            <a:pPr marL="0" indent="0">
              <a:buClr>
                <a:srgbClr val="CC9900"/>
              </a:buClr>
              <a:buSzPct val="150000"/>
              <a:buNone/>
            </a:pPr>
            <a:r>
              <a:rPr lang="ru-RU" sz="2800" i="1" dirty="0"/>
              <a:t>особенности питания зависят от</a:t>
            </a:r>
          </a:p>
          <a:p>
            <a:pPr>
              <a:buClr>
                <a:srgbClr val="CC9900"/>
              </a:buClr>
              <a:buSzPct val="150000"/>
            </a:pPr>
            <a:r>
              <a:rPr lang="ru-RU" sz="2800" dirty="0"/>
              <a:t>географического положения и от экономического строя, что вполне естественно</a:t>
            </a:r>
          </a:p>
        </p:txBody>
      </p:sp>
      <p:sp>
        <p:nvSpPr>
          <p:cNvPr id="7" name="Заголовок 1"/>
          <p:cNvSpPr txBox="1">
            <a:spLocks/>
          </p:cNvSpPr>
          <p:nvPr/>
        </p:nvSpPr>
        <p:spPr>
          <a:xfrm>
            <a:off x="2661717" y="288793"/>
            <a:ext cx="7560841" cy="694330"/>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4400" dirty="0"/>
              <a:t>Анализ данных</a:t>
            </a:r>
          </a:p>
        </p:txBody>
      </p:sp>
      <p:sp>
        <p:nvSpPr>
          <p:cNvPr id="9" name="Текст 2">
            <a:extLst>
              <a:ext uri="{FF2B5EF4-FFF2-40B4-BE49-F238E27FC236}">
                <a16:creationId xmlns:a16="http://schemas.microsoft.com/office/drawing/2014/main" id="{CD1C8B31-321F-4AD3-9DA3-21F02854658D}"/>
              </a:ext>
            </a:extLst>
          </p:cNvPr>
          <p:cNvSpPr txBox="1">
            <a:spLocks/>
          </p:cNvSpPr>
          <p:nvPr/>
        </p:nvSpPr>
        <p:spPr>
          <a:xfrm>
            <a:off x="789510" y="2013957"/>
            <a:ext cx="10839450" cy="1978025"/>
          </a:xfrm>
          <a:prstGeom prst="rect">
            <a:avLst/>
          </a:prstGeom>
        </p:spPr>
        <p:txBody>
          <a:bodyPr vert="horz" wrap="square" lIns="91440" tIns="45720" rIns="91440" bIns="45720" rtlCol="0">
            <a:normAutofit fontScale="92500"/>
          </a:bodyPr>
          <a:lstStyle>
            <a:lvl1pPr marL="356307" indent="-356307" algn="l" defTabSz="950153" rtl="0" eaLnBrk="1" latinLnBrk="0" hangingPunct="1">
              <a:spcBef>
                <a:spcPct val="20000"/>
              </a:spcBef>
              <a:buFont typeface="Arial" panose="020B0604020202020204" pitchFamily="34" charset="0"/>
              <a:buChar char="•"/>
              <a:defRPr sz="3325" kern="1200">
                <a:solidFill>
                  <a:schemeClr val="tx1"/>
                </a:solidFill>
                <a:latin typeface="+mn-lt"/>
                <a:ea typeface="+mn-ea"/>
                <a:cs typeface="+mn-cs"/>
              </a:defRPr>
            </a:lvl1pPr>
            <a:lvl2pPr marL="771999" indent="-296923" algn="l" defTabSz="950153" rtl="0" eaLnBrk="1" latinLnBrk="0" hangingPunct="1">
              <a:spcBef>
                <a:spcPct val="20000"/>
              </a:spcBef>
              <a:buFont typeface="Arial" panose="020B0604020202020204" pitchFamily="34" charset="0"/>
              <a:buChar char="–"/>
              <a:defRPr sz="2909" kern="1200">
                <a:solidFill>
                  <a:schemeClr val="tx1"/>
                </a:solidFill>
                <a:latin typeface="+mn-lt"/>
                <a:ea typeface="+mn-ea"/>
                <a:cs typeface="+mn-cs"/>
              </a:defRPr>
            </a:lvl2pPr>
            <a:lvl3pPr marL="1187691" indent="-237538" algn="l" defTabSz="950153" rtl="0" eaLnBrk="1" latinLnBrk="0" hangingPunct="1">
              <a:spcBef>
                <a:spcPct val="20000"/>
              </a:spcBef>
              <a:buFont typeface="Arial" panose="020B0604020202020204" pitchFamily="34" charset="0"/>
              <a:buChar char="•"/>
              <a:defRPr sz="2494" kern="1200">
                <a:solidFill>
                  <a:schemeClr val="tx1"/>
                </a:solidFill>
                <a:latin typeface="+mn-lt"/>
                <a:ea typeface="+mn-ea"/>
                <a:cs typeface="+mn-cs"/>
              </a:defRPr>
            </a:lvl3pPr>
            <a:lvl4pPr marL="1662768"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4pPr>
            <a:lvl5pPr marL="213784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5pPr>
            <a:lvl6pPr marL="2612921"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6pPr>
            <a:lvl7pPr marL="3087997"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7pPr>
            <a:lvl8pPr marL="3563074"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8pPr>
            <a:lvl9pPr marL="4038150" indent="-237538" algn="l" defTabSz="950153" rtl="0" eaLnBrk="1" latinLnBrk="0" hangingPunct="1">
              <a:spcBef>
                <a:spcPct val="20000"/>
              </a:spcBef>
              <a:buFont typeface="Arial" panose="020B0604020202020204" pitchFamily="34" charset="0"/>
              <a:buChar char="•"/>
              <a:defRPr sz="2078" kern="1200">
                <a:solidFill>
                  <a:schemeClr val="tx1"/>
                </a:solidFill>
                <a:latin typeface="+mn-lt"/>
                <a:ea typeface="+mn-ea"/>
                <a:cs typeface="+mn-cs"/>
              </a:defRPr>
            </a:lvl9pPr>
          </a:lstStyle>
          <a:p>
            <a:pPr fontAlgn="auto">
              <a:spcAft>
                <a:spcPts val="0"/>
              </a:spcAft>
              <a:buClr>
                <a:srgbClr val="CC9900"/>
              </a:buClr>
              <a:buSzPct val="150000"/>
            </a:pPr>
            <a:r>
              <a:rPr lang="ru-RU" sz="2800" dirty="0"/>
              <a:t>Англия и Франция имеют близкие пищевые предпочтения</a:t>
            </a:r>
          </a:p>
          <a:p>
            <a:pPr fontAlgn="auto">
              <a:spcAft>
                <a:spcPts val="0"/>
              </a:spcAft>
              <a:buClr>
                <a:srgbClr val="CC9900"/>
              </a:buClr>
              <a:buSzPct val="150000"/>
            </a:pPr>
            <a:r>
              <a:rPr lang="ru-RU" sz="2800" dirty="0"/>
              <a:t>Социализм или капитализм: две Германии в разных кластерах – принадлежность к какому-то лагерю влияет на  пищевые предпочтения </a:t>
            </a:r>
          </a:p>
          <a:p>
            <a:pPr fontAlgn="auto">
              <a:spcAft>
                <a:spcPts val="0"/>
              </a:spcAft>
              <a:buClr>
                <a:srgbClr val="CC9900"/>
              </a:buClr>
              <a:buSzPct val="150000"/>
            </a:pPr>
            <a:r>
              <a:rPr lang="ru-RU" sz="2800" dirty="0"/>
              <a:t>Два социализма – разница обусловлена географическим положением</a:t>
            </a:r>
          </a:p>
        </p:txBody>
      </p:sp>
      <p:pic>
        <p:nvPicPr>
          <p:cNvPr id="10" name="Рисунок 9">
            <a:extLst>
              <a:ext uri="{FF2B5EF4-FFF2-40B4-BE49-F238E27FC236}">
                <a16:creationId xmlns:a16="http://schemas.microsoft.com/office/drawing/2014/main" id="{4A6E82B1-521E-43A7-AC9A-C4A72C76E611}"/>
              </a:ext>
            </a:extLst>
          </p:cNvPr>
          <p:cNvPicPr>
            <a:picLocks noChangeAspect="1"/>
          </p:cNvPicPr>
          <p:nvPr/>
        </p:nvPicPr>
        <p:blipFill>
          <a:blip r:embed="rId3"/>
          <a:stretch>
            <a:fillRect/>
          </a:stretch>
        </p:blipFill>
        <p:spPr>
          <a:xfrm>
            <a:off x="1575459" y="4023328"/>
            <a:ext cx="3058008" cy="2769196"/>
          </a:xfrm>
          <a:prstGeom prst="rect">
            <a:avLst/>
          </a:prstGeom>
        </p:spPr>
      </p:pic>
      <p:pic>
        <p:nvPicPr>
          <p:cNvPr id="11" name="Рисунок 10">
            <a:extLst>
              <a:ext uri="{FF2B5EF4-FFF2-40B4-BE49-F238E27FC236}">
                <a16:creationId xmlns:a16="http://schemas.microsoft.com/office/drawing/2014/main" id="{3E09435C-62DD-4C9F-AA34-B4A02B77A21D}"/>
              </a:ext>
            </a:extLst>
          </p:cNvPr>
          <p:cNvPicPr>
            <a:picLocks noChangeAspect="1"/>
          </p:cNvPicPr>
          <p:nvPr/>
        </p:nvPicPr>
        <p:blipFill>
          <a:blip r:embed="rId4"/>
          <a:stretch>
            <a:fillRect/>
          </a:stretch>
        </p:blipFill>
        <p:spPr>
          <a:xfrm>
            <a:off x="5542037" y="3868055"/>
            <a:ext cx="5408187" cy="2883481"/>
          </a:xfrm>
          <a:prstGeom prst="rect">
            <a:avLst/>
          </a:prstGeom>
        </p:spPr>
      </p:pic>
    </p:spTree>
    <p:extLst>
      <p:ext uri="{BB962C8B-B14F-4D97-AF65-F5344CB8AC3E}">
        <p14:creationId xmlns:p14="http://schemas.microsoft.com/office/powerpoint/2010/main" val="2659409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613281" y="322263"/>
            <a:ext cx="1188131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3"/>
            <a:ext cx="8064128" cy="1283414"/>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Номер слайда 4"/>
          <p:cNvSpPr>
            <a:spLocks noGrp="1"/>
          </p:cNvSpPr>
          <p:nvPr>
            <p:ph type="sldNum" sz="quarter" idx="12"/>
          </p:nvPr>
        </p:nvSpPr>
        <p:spPr/>
        <p:txBody>
          <a:bodyPr/>
          <a:lstStyle/>
          <a:p>
            <a:fld id="{952B6C0E-C4B9-4094-8E59-5B7DF00D5415}" type="slidenum">
              <a:rPr lang="ru-RU" smtClean="0">
                <a:solidFill>
                  <a:schemeClr val="tx1"/>
                </a:solidFill>
              </a:rPr>
              <a:t>94</a:t>
            </a:fld>
            <a:endParaRPr lang="ru-RU" dirty="0">
              <a:solidFill>
                <a:schemeClr val="tx1"/>
              </a:solidFill>
            </a:endParaRPr>
          </a:p>
        </p:txBody>
      </p:sp>
      <p:pic>
        <p:nvPicPr>
          <p:cNvPr id="12" name="Рисунок 11">
            <a:extLst>
              <a:ext uri="{FF2B5EF4-FFF2-40B4-BE49-F238E27FC236}">
                <a16:creationId xmlns:a16="http://schemas.microsoft.com/office/drawing/2014/main" id="{5D1B0DD7-B6CE-4143-B4F8-DA8B436A885C}"/>
              </a:ext>
            </a:extLst>
          </p:cNvPr>
          <p:cNvPicPr>
            <a:picLocks noChangeAspect="1"/>
          </p:cNvPicPr>
          <p:nvPr/>
        </p:nvPicPr>
        <p:blipFill>
          <a:blip r:embed="rId3"/>
          <a:stretch>
            <a:fillRect/>
          </a:stretch>
        </p:blipFill>
        <p:spPr>
          <a:xfrm>
            <a:off x="5520418" y="1313566"/>
            <a:ext cx="6574347" cy="5069005"/>
          </a:xfrm>
          <a:prstGeom prst="rect">
            <a:avLst/>
          </a:prstGeom>
        </p:spPr>
      </p:pic>
      <p:sp>
        <p:nvSpPr>
          <p:cNvPr id="13" name="Заголовок 1">
            <a:extLst>
              <a:ext uri="{FF2B5EF4-FFF2-40B4-BE49-F238E27FC236}">
                <a16:creationId xmlns:a16="http://schemas.microsoft.com/office/drawing/2014/main" id="{95B9983E-D2A5-4181-988F-29C72B83A350}"/>
              </a:ext>
            </a:extLst>
          </p:cNvPr>
          <p:cNvSpPr txBox="1">
            <a:spLocks/>
          </p:cNvSpPr>
          <p:nvPr/>
        </p:nvSpPr>
        <p:spPr>
          <a:xfrm>
            <a:off x="2661717" y="288793"/>
            <a:ext cx="7560841" cy="694330"/>
          </a:xfrm>
          <a:prstGeom prst="rect">
            <a:avLst/>
          </a:prstGeom>
        </p:spPr>
        <p:txBody>
          <a:bodyPr/>
          <a:lstStyle>
            <a:lvl1pPr algn="ctr" defTabSz="993775" rtl="0" fontAlgn="base">
              <a:spcBef>
                <a:spcPct val="0"/>
              </a:spcBef>
              <a:spcAft>
                <a:spcPct val="0"/>
              </a:spcAft>
              <a:defRPr sz="4800" kern="1200">
                <a:solidFill>
                  <a:schemeClr val="tx2"/>
                </a:solidFill>
                <a:latin typeface="+mj-lt"/>
                <a:ea typeface="+mj-ea"/>
                <a:cs typeface="+mj-cs"/>
              </a:defRPr>
            </a:lvl1pPr>
            <a:lvl2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2pPr>
            <a:lvl3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3pPr>
            <a:lvl4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4pPr>
            <a:lvl5pPr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5pPr>
            <a:lvl6pPr marL="4572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6pPr>
            <a:lvl7pPr marL="9144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7pPr>
            <a:lvl8pPr marL="13716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8pPr>
            <a:lvl9pPr marL="1828800" algn="ctr" defTabSz="993775" rtl="0" fontAlgn="base">
              <a:spcBef>
                <a:spcPct val="0"/>
              </a:spcBef>
              <a:spcAft>
                <a:spcPct val="0"/>
              </a:spcAft>
              <a:defRPr sz="4800">
                <a:solidFill>
                  <a:schemeClr val="tx2"/>
                </a:solidFill>
                <a:latin typeface="Arial" panose="020B0604020202020204" pitchFamily="34" charset="0"/>
                <a:cs typeface="Arial" panose="020B0604020202020204" pitchFamily="34" charset="0"/>
              </a:defRPr>
            </a:lvl9pPr>
          </a:lstStyle>
          <a:p>
            <a:r>
              <a:rPr lang="ru-RU" sz="4400" dirty="0"/>
              <a:t>Анализ данных</a:t>
            </a:r>
          </a:p>
        </p:txBody>
      </p:sp>
      <p:sp>
        <p:nvSpPr>
          <p:cNvPr id="15" name="TextBox 14">
            <a:extLst>
              <a:ext uri="{FF2B5EF4-FFF2-40B4-BE49-F238E27FC236}">
                <a16:creationId xmlns:a16="http://schemas.microsoft.com/office/drawing/2014/main" id="{B36A3CFC-8080-45A1-91F3-A84B32C42911}"/>
              </a:ext>
            </a:extLst>
          </p:cNvPr>
          <p:cNvSpPr txBox="1"/>
          <p:nvPr/>
        </p:nvSpPr>
        <p:spPr>
          <a:xfrm>
            <a:off x="1941637" y="983123"/>
            <a:ext cx="9288338" cy="400110"/>
          </a:xfrm>
          <a:prstGeom prst="rect">
            <a:avLst/>
          </a:prstGeom>
          <a:noFill/>
        </p:spPr>
        <p:txBody>
          <a:bodyPr wrap="square">
            <a:spAutoFit/>
          </a:bodyPr>
          <a:lstStyle/>
          <a:p>
            <a:pPr marL="0" indent="0" algn="ctr">
              <a:buClr>
                <a:srgbClr val="CC9900"/>
              </a:buClr>
              <a:buSzPct val="150000"/>
              <a:buNone/>
            </a:pPr>
            <a:r>
              <a:rPr lang="ru-RU" sz="2000" i="1" dirty="0"/>
              <a:t>Кластеризация </a:t>
            </a:r>
            <a:r>
              <a:rPr lang="en-US" sz="2000" i="1" dirty="0"/>
              <a:t>K-Means</a:t>
            </a:r>
            <a:endParaRPr lang="ru-RU" sz="2000" i="1" dirty="0"/>
          </a:p>
        </p:txBody>
      </p:sp>
      <p:sp>
        <p:nvSpPr>
          <p:cNvPr id="17" name="TextBox 16">
            <a:extLst>
              <a:ext uri="{FF2B5EF4-FFF2-40B4-BE49-F238E27FC236}">
                <a16:creationId xmlns:a16="http://schemas.microsoft.com/office/drawing/2014/main" id="{ECE31D4E-6B04-40B1-98E9-8F11CA0D9715}"/>
              </a:ext>
            </a:extLst>
          </p:cNvPr>
          <p:cNvSpPr txBox="1"/>
          <p:nvPr/>
        </p:nvSpPr>
        <p:spPr>
          <a:xfrm>
            <a:off x="613281" y="1744079"/>
            <a:ext cx="5360804" cy="1938992"/>
          </a:xfrm>
          <a:prstGeom prst="rect">
            <a:avLst/>
          </a:prstGeom>
          <a:noFill/>
        </p:spPr>
        <p:txBody>
          <a:bodyPr wrap="square">
            <a:spAutoFit/>
          </a:bodyPr>
          <a:lstStyle/>
          <a:p>
            <a:r>
              <a:rPr lang="ru-RU" dirty="0"/>
              <a:t>#perform k-</a:t>
            </a:r>
            <a:r>
              <a:rPr lang="ru-RU" dirty="0" err="1"/>
              <a:t>means</a:t>
            </a:r>
            <a:r>
              <a:rPr lang="ru-RU" dirty="0"/>
              <a:t> </a:t>
            </a:r>
            <a:r>
              <a:rPr lang="ru-RU" dirty="0" err="1"/>
              <a:t>clustering</a:t>
            </a:r>
            <a:r>
              <a:rPr lang="ru-RU" dirty="0"/>
              <a:t> </a:t>
            </a:r>
            <a:r>
              <a:rPr lang="ru-RU" dirty="0" err="1"/>
              <a:t>with</a:t>
            </a:r>
            <a:r>
              <a:rPr lang="ru-RU" dirty="0"/>
              <a:t> k =5  </a:t>
            </a:r>
            <a:r>
              <a:rPr lang="en-US" dirty="0"/>
              <a:t>\</a:t>
            </a:r>
          </a:p>
          <a:p>
            <a:r>
              <a:rPr lang="ru-RU" dirty="0" err="1"/>
              <a:t>clusterskm</a:t>
            </a:r>
            <a:r>
              <a:rPr lang="ru-RU" dirty="0"/>
              <a:t> &lt;- </a:t>
            </a:r>
            <a:r>
              <a:rPr lang="ru-RU" dirty="0" err="1"/>
              <a:t>kmeans</a:t>
            </a:r>
            <a:r>
              <a:rPr lang="ru-RU" dirty="0"/>
              <a:t>(protein.03, </a:t>
            </a:r>
            <a:endParaRPr lang="en-US" dirty="0"/>
          </a:p>
          <a:p>
            <a:r>
              <a:rPr lang="en-US" dirty="0"/>
              <a:t>     </a:t>
            </a:r>
            <a:r>
              <a:rPr lang="ru-RU" dirty="0" err="1"/>
              <a:t>centers</a:t>
            </a:r>
            <a:r>
              <a:rPr lang="ru-RU" dirty="0"/>
              <a:t> = 5, </a:t>
            </a:r>
            <a:r>
              <a:rPr lang="ru-RU" dirty="0" err="1"/>
              <a:t>nstart</a:t>
            </a:r>
            <a:r>
              <a:rPr lang="ru-RU" dirty="0"/>
              <a:t> = 5)</a:t>
            </a:r>
            <a:endParaRPr lang="en-US" dirty="0"/>
          </a:p>
          <a:p>
            <a:r>
              <a:rPr lang="ru-RU" dirty="0"/>
              <a:t>#nstart = 10 - число повторений алгоритма</a:t>
            </a:r>
            <a:endParaRPr lang="en-US" dirty="0"/>
          </a:p>
          <a:p>
            <a:r>
              <a:rPr lang="ru-RU" dirty="0"/>
              <a:t>#view </a:t>
            </a:r>
            <a:r>
              <a:rPr lang="ru-RU" dirty="0" err="1"/>
              <a:t>results</a:t>
            </a:r>
            <a:endParaRPr lang="en-US" dirty="0"/>
          </a:p>
          <a:p>
            <a:r>
              <a:rPr lang="ru-RU" dirty="0" err="1"/>
              <a:t>fviz_cluster</a:t>
            </a:r>
            <a:r>
              <a:rPr lang="ru-RU" dirty="0"/>
              <a:t>(</a:t>
            </a:r>
            <a:r>
              <a:rPr lang="ru-RU" dirty="0" err="1"/>
              <a:t>km</a:t>
            </a:r>
            <a:r>
              <a:rPr lang="ru-RU" dirty="0"/>
              <a:t>, </a:t>
            </a:r>
            <a:r>
              <a:rPr lang="ru-RU" dirty="0" err="1"/>
              <a:t>data</a:t>
            </a:r>
            <a:r>
              <a:rPr lang="ru-RU" dirty="0"/>
              <a:t> = protein.03)</a:t>
            </a:r>
          </a:p>
        </p:txBody>
      </p:sp>
    </p:spTree>
    <p:extLst>
      <p:ext uri="{BB962C8B-B14F-4D97-AF65-F5344CB8AC3E}">
        <p14:creationId xmlns:p14="http://schemas.microsoft.com/office/powerpoint/2010/main" val="270445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633411" y="322263"/>
            <a:ext cx="1174938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3"/>
            <a:ext cx="8064128" cy="576262"/>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Номер слайда 4"/>
          <p:cNvSpPr>
            <a:spLocks noGrp="1"/>
          </p:cNvSpPr>
          <p:nvPr>
            <p:ph type="sldNum" sz="quarter" idx="12"/>
          </p:nvPr>
        </p:nvSpPr>
        <p:spPr>
          <a:xfrm>
            <a:off x="11472863" y="6605015"/>
            <a:ext cx="561975" cy="379409"/>
          </a:xfrm>
        </p:spPr>
        <p:txBody>
          <a:bodyPr/>
          <a:lstStyle/>
          <a:p>
            <a:fld id="{952B6C0E-C4B9-4094-8E59-5B7DF00D5415}" type="slidenum">
              <a:rPr lang="ru-RU" smtClean="0">
                <a:solidFill>
                  <a:schemeClr val="tx1"/>
                </a:solidFill>
              </a:rPr>
              <a:t>95</a:t>
            </a:fld>
            <a:endParaRPr lang="ru-RU" dirty="0">
              <a:solidFill>
                <a:schemeClr val="tx1"/>
              </a:solidFill>
            </a:endParaRPr>
          </a:p>
        </p:txBody>
      </p:sp>
      <p:sp>
        <p:nvSpPr>
          <p:cNvPr id="2" name="Заголовок 1"/>
          <p:cNvSpPr txBox="1">
            <a:spLocks noGrp="1"/>
          </p:cNvSpPr>
          <p:nvPr>
            <p:ph type="title" idx="4294967295"/>
          </p:nvPr>
        </p:nvSpPr>
        <p:spPr>
          <a:xfrm>
            <a:off x="2058987" y="267494"/>
            <a:ext cx="8550275" cy="685800"/>
          </a:xfrm>
          <a:prstGeom prst="rect">
            <a:avLst/>
          </a:prstGeom>
        </p:spPr>
        <p:txBody>
          <a:bodyPr>
            <a:normAutofit/>
          </a:bodyPr>
          <a:lstStyle/>
          <a:p>
            <a:pPr lvl="0"/>
            <a:r>
              <a:rPr lang="ru-RU" sz="2800" dirty="0"/>
              <a:t>k -средние против иерархической кластеризации</a:t>
            </a:r>
          </a:p>
        </p:txBody>
      </p:sp>
      <p:sp>
        <p:nvSpPr>
          <p:cNvPr id="11" name="TextBox 10">
            <a:extLst>
              <a:ext uri="{FF2B5EF4-FFF2-40B4-BE49-F238E27FC236}">
                <a16:creationId xmlns:a16="http://schemas.microsoft.com/office/drawing/2014/main" id="{F91145C9-1167-4456-A81D-105B011DD4E3}"/>
              </a:ext>
            </a:extLst>
          </p:cNvPr>
          <p:cNvSpPr txBox="1"/>
          <p:nvPr/>
        </p:nvSpPr>
        <p:spPr>
          <a:xfrm>
            <a:off x="955930" y="1243391"/>
            <a:ext cx="11089232" cy="5016758"/>
          </a:xfrm>
          <a:prstGeom prst="rect">
            <a:avLst/>
          </a:prstGeom>
          <a:noFill/>
        </p:spPr>
        <p:txBody>
          <a:bodyPr wrap="square">
            <a:spAutoFit/>
          </a:bodyPr>
          <a:lstStyle/>
          <a:p>
            <a:r>
              <a:rPr lang="ru-RU" dirty="0"/>
              <a:t>Кластеризация — это скорее субъективный статистический анализ, и подходящих алгоритмов может быть несколько, в зависимости от имеющегося набора данных или типа решаемой проблемы. Таким образом, выбор между </a:t>
            </a:r>
            <a:r>
              <a:rPr lang="ru-RU" i="1" dirty="0"/>
              <a:t>k</a:t>
            </a:r>
            <a:r>
              <a:rPr lang="ru-RU" dirty="0"/>
              <a:t> -средними и иерархической кластеризацией не всегда прост. Более того, ни один метод не лучше другого, каждый из них имеет свои ограничения и преимущества.</a:t>
            </a:r>
          </a:p>
          <a:p>
            <a:endParaRPr lang="ru-RU" dirty="0"/>
          </a:p>
          <a:p>
            <a:r>
              <a:rPr lang="ru-RU" dirty="0"/>
              <a:t>Если у вас есть веские основания полагать, что в вашем наборе данных имеется </a:t>
            </a:r>
            <a:r>
              <a:rPr lang="ru-RU" b="1" dirty="0"/>
              <a:t>определенное количество кластеров</a:t>
            </a:r>
            <a:r>
              <a:rPr lang="ru-RU" dirty="0"/>
              <a:t> (например, если вы хотите различать больных и здоровых пациентов в зависимости от некоторых характеристик, но не знаете, к какой группе относятся пациенты), вам вероятно, следует выбрать кластеризацию </a:t>
            </a:r>
            <a:r>
              <a:rPr lang="ru-RU" i="1" dirty="0"/>
              <a:t>k</a:t>
            </a:r>
            <a:r>
              <a:rPr lang="ru-RU" dirty="0"/>
              <a:t> -средних, поскольку этот метод используется, когда количество групп указано заранее. Если у вас нет никаких оснований полагать, что в вашем наборе данных есть определенное количество групп (например, в маркетинге, когда вы пытаетесь различить клиентов без каких-либо предварительных предположений о количестве различных типов клиентов), то вам, вероятно, следует выбрать иерархическую кластеризацию, чтобы определить, на сколько кластеров следует разделить ваши данные.</a:t>
            </a:r>
          </a:p>
        </p:txBody>
      </p:sp>
    </p:spTree>
    <p:extLst>
      <p:ext uri="{BB962C8B-B14F-4D97-AF65-F5344CB8AC3E}">
        <p14:creationId xmlns:p14="http://schemas.microsoft.com/office/powerpoint/2010/main" val="2305034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4"/>
          <p:cNvSpPr>
            <a:spLocks noChangeArrowheads="1"/>
          </p:cNvSpPr>
          <p:nvPr/>
        </p:nvSpPr>
        <p:spPr bwMode="auto">
          <a:xfrm>
            <a:off x="1438275" y="322263"/>
            <a:ext cx="10800505"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8" name="AutoShape 5"/>
          <p:cNvSpPr>
            <a:spLocks noChangeArrowheads="1"/>
          </p:cNvSpPr>
          <p:nvPr/>
        </p:nvSpPr>
        <p:spPr bwMode="auto">
          <a:xfrm>
            <a:off x="2373685" y="322263"/>
            <a:ext cx="8064128" cy="1283414"/>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Номер слайда 4"/>
          <p:cNvSpPr>
            <a:spLocks noGrp="1"/>
          </p:cNvSpPr>
          <p:nvPr>
            <p:ph type="sldNum" sz="quarter" idx="12"/>
          </p:nvPr>
        </p:nvSpPr>
        <p:spPr>
          <a:xfrm>
            <a:off x="11734724" y="6496754"/>
            <a:ext cx="620029" cy="379409"/>
          </a:xfrm>
        </p:spPr>
        <p:txBody>
          <a:bodyPr/>
          <a:lstStyle/>
          <a:p>
            <a:fld id="{952B6C0E-C4B9-4094-8E59-5B7DF00D5415}" type="slidenum">
              <a:rPr lang="ru-RU" smtClean="0">
                <a:solidFill>
                  <a:schemeClr val="tx1"/>
                </a:solidFill>
              </a:rPr>
              <a:t>96</a:t>
            </a:fld>
            <a:endParaRPr lang="ru-RU" dirty="0">
              <a:solidFill>
                <a:schemeClr val="tx1"/>
              </a:solidFill>
            </a:endParaRPr>
          </a:p>
        </p:txBody>
      </p:sp>
      <p:sp>
        <p:nvSpPr>
          <p:cNvPr id="2" name="Заголовок 1"/>
          <p:cNvSpPr txBox="1">
            <a:spLocks noGrp="1"/>
          </p:cNvSpPr>
          <p:nvPr>
            <p:ph type="title" idx="4294967295"/>
          </p:nvPr>
        </p:nvSpPr>
        <p:spPr>
          <a:xfrm>
            <a:off x="2130611" y="290877"/>
            <a:ext cx="8550275" cy="685800"/>
          </a:xfrm>
          <a:prstGeom prst="rect">
            <a:avLst/>
          </a:prstGeom>
        </p:spPr>
        <p:txBody>
          <a:bodyPr>
            <a:normAutofit/>
          </a:bodyPr>
          <a:lstStyle/>
          <a:p>
            <a:pPr lvl="0"/>
            <a:r>
              <a:rPr lang="ru-RU" sz="2800" dirty="0"/>
              <a:t>k -средние против иерархической кластеризации</a:t>
            </a:r>
          </a:p>
        </p:txBody>
      </p:sp>
      <p:sp>
        <p:nvSpPr>
          <p:cNvPr id="11" name="TextBox 10">
            <a:extLst>
              <a:ext uri="{FF2B5EF4-FFF2-40B4-BE49-F238E27FC236}">
                <a16:creationId xmlns:a16="http://schemas.microsoft.com/office/drawing/2014/main" id="{F91145C9-1167-4456-A81D-105B011DD4E3}"/>
              </a:ext>
            </a:extLst>
          </p:cNvPr>
          <p:cNvSpPr txBox="1"/>
          <p:nvPr/>
        </p:nvSpPr>
        <p:spPr>
          <a:xfrm>
            <a:off x="789509" y="1258888"/>
            <a:ext cx="11255229" cy="2862322"/>
          </a:xfrm>
          <a:prstGeom prst="rect">
            <a:avLst/>
          </a:prstGeom>
          <a:noFill/>
        </p:spPr>
        <p:txBody>
          <a:bodyPr wrap="square">
            <a:spAutoFit/>
          </a:bodyPr>
          <a:lstStyle/>
          <a:p>
            <a:endParaRPr lang="ru-RU" dirty="0"/>
          </a:p>
          <a:p>
            <a:r>
              <a:rPr lang="ru-RU" dirty="0"/>
              <a:t>В дополнение к этому, если вы все еще не определились, обратите внимание, что, с одной стороны, при большом количестве переменных </a:t>
            </a:r>
            <a:r>
              <a:rPr lang="ru-RU" i="1" dirty="0"/>
              <a:t>k</a:t>
            </a:r>
            <a:r>
              <a:rPr lang="ru-RU" dirty="0"/>
              <a:t> -средние могут быть вычислительно быстрее, чем иерархическая кластеризация, если количество кластеров невелико.</a:t>
            </a:r>
          </a:p>
          <a:p>
            <a:r>
              <a:rPr lang="ru-RU" dirty="0"/>
              <a:t> С другой стороны, результатом иерархической кластеризации является структура, более информативная и интерпретируемая, чем неструктурированный набор плоских кластеров, возвращаемый </a:t>
            </a:r>
            <a:r>
              <a:rPr lang="ru-RU" i="1" dirty="0"/>
              <a:t>k</a:t>
            </a:r>
            <a:r>
              <a:rPr lang="ru-RU" dirty="0"/>
              <a:t> -средними. Следовательно, легче определить оптимальное количество кластеров, глядя на дендрограмму иерархической кластеризации, чем пытаться предсказать это оптимальное количество заранее в случае </a:t>
            </a:r>
            <a:r>
              <a:rPr lang="ru-RU" i="1" dirty="0"/>
              <a:t>k</a:t>
            </a:r>
            <a:r>
              <a:rPr lang="ru-RU" dirty="0"/>
              <a:t> -средних.</a:t>
            </a:r>
          </a:p>
        </p:txBody>
      </p:sp>
    </p:spTree>
    <p:extLst>
      <p:ext uri="{BB962C8B-B14F-4D97-AF65-F5344CB8AC3E}">
        <p14:creationId xmlns:p14="http://schemas.microsoft.com/office/powerpoint/2010/main" val="265828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5" y="322263"/>
            <a:ext cx="1101652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Номер слайда 6"/>
          <p:cNvSpPr>
            <a:spLocks noGrp="1"/>
          </p:cNvSpPr>
          <p:nvPr>
            <p:ph type="sldNum" sz="quarter" idx="12"/>
          </p:nvPr>
        </p:nvSpPr>
        <p:spPr>
          <a:xfrm>
            <a:off x="11669789" y="6529391"/>
            <a:ext cx="736433" cy="379409"/>
          </a:xfrm>
        </p:spPr>
        <p:txBody>
          <a:bodyPr/>
          <a:lstStyle/>
          <a:p>
            <a:fld id="{952B6C0E-C4B9-4094-8E59-5B7DF00D5415}" type="slidenum">
              <a:rPr lang="ru-RU" smtClean="0">
                <a:solidFill>
                  <a:schemeClr val="tx1"/>
                </a:solidFill>
              </a:rPr>
              <a:t>97</a:t>
            </a:fld>
            <a:endParaRPr lang="ru-RU" dirty="0">
              <a:solidFill>
                <a:schemeClr val="tx1"/>
              </a:solidFill>
            </a:endParaRPr>
          </a:p>
        </p:txBody>
      </p:sp>
      <p:sp>
        <p:nvSpPr>
          <p:cNvPr id="2" name="Заголовок 1"/>
          <p:cNvSpPr txBox="1">
            <a:spLocks noGrp="1"/>
          </p:cNvSpPr>
          <p:nvPr>
            <p:ph type="title" idx="4294967295"/>
          </p:nvPr>
        </p:nvSpPr>
        <p:spPr>
          <a:xfrm>
            <a:off x="2949749" y="288926"/>
            <a:ext cx="7227888" cy="754063"/>
          </a:xfrm>
          <a:prstGeom prst="rect">
            <a:avLst/>
          </a:prstGeom>
        </p:spPr>
        <p:txBody>
          <a:bodyPr wrap="square">
            <a:noAutofit/>
          </a:bodyPr>
          <a:lstStyle/>
          <a:p>
            <a:pPr lvl="0"/>
            <a:r>
              <a:rPr lang="ru-RU" sz="3600" dirty="0"/>
              <a:t>Задание</a:t>
            </a:r>
          </a:p>
        </p:txBody>
      </p:sp>
      <p:sp>
        <p:nvSpPr>
          <p:cNvPr id="8" name="Прямоугольник 7"/>
          <p:cNvSpPr/>
          <p:nvPr/>
        </p:nvSpPr>
        <p:spPr>
          <a:xfrm>
            <a:off x="1581597" y="1604673"/>
            <a:ext cx="10585176" cy="4708981"/>
          </a:xfrm>
          <a:prstGeom prst="rect">
            <a:avLst/>
          </a:prstGeom>
        </p:spPr>
        <p:txBody>
          <a:bodyPr wrap="square">
            <a:spAutoFit/>
          </a:bodyPr>
          <a:lstStyle/>
          <a:p>
            <a:br>
              <a:rPr lang="ru-RU" dirty="0">
                <a:solidFill>
                  <a:srgbClr val="000000"/>
                </a:solidFill>
                <a:latin typeface="TimesNewRomanPSMT"/>
              </a:rPr>
            </a:br>
            <a:r>
              <a:rPr lang="ru-RU" dirty="0">
                <a:solidFill>
                  <a:srgbClr val="000000"/>
                </a:solidFill>
                <a:latin typeface="TimesNewRomanPSMT"/>
              </a:rPr>
              <a:t>Рассмотрим данные о приеме на работу на некоторое предприятие. </a:t>
            </a:r>
            <a:endParaRPr lang="en-US" dirty="0">
              <a:solidFill>
                <a:srgbClr val="000000"/>
              </a:solidFill>
              <a:latin typeface="TimesNewRomanPSMT"/>
            </a:endParaRPr>
          </a:p>
          <a:p>
            <a:r>
              <a:rPr lang="ru-RU" dirty="0">
                <a:solidFill>
                  <a:srgbClr val="000000"/>
                </a:solidFill>
                <a:latin typeface="TimesNewRomanPSMT"/>
              </a:rPr>
              <a:t>18</a:t>
            </a:r>
            <a:r>
              <a:rPr lang="en-US" dirty="0">
                <a:solidFill>
                  <a:srgbClr val="000000"/>
                </a:solidFill>
                <a:latin typeface="TimesNewRomanPSMT"/>
              </a:rPr>
              <a:t> </a:t>
            </a:r>
            <a:r>
              <a:rPr lang="ru-RU" dirty="0">
                <a:solidFill>
                  <a:srgbClr val="000000"/>
                </a:solidFill>
                <a:latin typeface="TimesNewRomanPSMT"/>
              </a:rPr>
              <a:t>претендентов прошли 10 различных тестов в кадровом отделе. Максимальная</a:t>
            </a:r>
            <a:r>
              <a:rPr lang="en-US" dirty="0">
                <a:solidFill>
                  <a:srgbClr val="000000"/>
                </a:solidFill>
                <a:latin typeface="TimesNewRomanPSMT"/>
              </a:rPr>
              <a:t> </a:t>
            </a:r>
            <a:r>
              <a:rPr lang="ru-RU" dirty="0">
                <a:solidFill>
                  <a:srgbClr val="000000"/>
                </a:solidFill>
                <a:latin typeface="TimesNewRomanPSMT"/>
              </a:rPr>
              <a:t>оценка, которую можно было получить на каждом из тестов, составляет 10</a:t>
            </a:r>
            <a:r>
              <a:rPr lang="en-US" dirty="0">
                <a:solidFill>
                  <a:srgbClr val="000000"/>
                </a:solidFill>
                <a:latin typeface="TimesNewRomanPSMT"/>
              </a:rPr>
              <a:t> </a:t>
            </a:r>
            <a:r>
              <a:rPr lang="ru-RU" dirty="0">
                <a:solidFill>
                  <a:srgbClr val="000000"/>
                </a:solidFill>
                <a:latin typeface="TimesNewRomanPSMT"/>
              </a:rPr>
              <a:t>баллов, минимальная - 1. Проверялись следующие качества:</a:t>
            </a:r>
            <a:br>
              <a:rPr lang="ru-RU" dirty="0">
                <a:solidFill>
                  <a:srgbClr val="000000"/>
                </a:solidFill>
                <a:latin typeface="TimesNewRomanPSMT"/>
              </a:rPr>
            </a:br>
            <a:r>
              <a:rPr lang="ru-RU" dirty="0">
                <a:solidFill>
                  <a:srgbClr val="000000"/>
                </a:solidFill>
                <a:latin typeface="TimesNewRomanPSMT"/>
              </a:rPr>
              <a:t>1. Память на числа</a:t>
            </a:r>
            <a:br>
              <a:rPr lang="ru-RU" dirty="0">
                <a:solidFill>
                  <a:srgbClr val="000000"/>
                </a:solidFill>
                <a:latin typeface="TimesNewRomanPSMT"/>
              </a:rPr>
            </a:br>
            <a:r>
              <a:rPr lang="ru-RU" dirty="0">
                <a:solidFill>
                  <a:srgbClr val="000000"/>
                </a:solidFill>
                <a:latin typeface="TimesNewRomanPSMT"/>
              </a:rPr>
              <a:t>2. Умение решать математические задачи</a:t>
            </a:r>
            <a:br>
              <a:rPr lang="ru-RU" dirty="0">
                <a:solidFill>
                  <a:srgbClr val="000000"/>
                </a:solidFill>
                <a:latin typeface="TimesNewRomanPSMT"/>
              </a:rPr>
            </a:br>
            <a:r>
              <a:rPr lang="ru-RU" dirty="0">
                <a:solidFill>
                  <a:srgbClr val="000000"/>
                </a:solidFill>
                <a:latin typeface="TimesNewRomanPSMT"/>
              </a:rPr>
              <a:t>3. Находчивость при прямом диалоге</a:t>
            </a:r>
            <a:br>
              <a:rPr lang="ru-RU" dirty="0">
                <a:solidFill>
                  <a:srgbClr val="000000"/>
                </a:solidFill>
                <a:latin typeface="TimesNewRomanPSMT"/>
              </a:rPr>
            </a:br>
            <a:r>
              <a:rPr lang="ru-RU" dirty="0">
                <a:solidFill>
                  <a:srgbClr val="000000"/>
                </a:solidFill>
                <a:latin typeface="TimesNewRomanPSMT"/>
              </a:rPr>
              <a:t>4. Умение составлять алгоритмы</a:t>
            </a:r>
            <a:br>
              <a:rPr lang="ru-RU" dirty="0">
                <a:solidFill>
                  <a:srgbClr val="000000"/>
                </a:solidFill>
                <a:latin typeface="TimesNewRomanPSMT"/>
              </a:rPr>
            </a:br>
            <a:r>
              <a:rPr lang="ru-RU" dirty="0">
                <a:solidFill>
                  <a:srgbClr val="000000"/>
                </a:solidFill>
                <a:latin typeface="TimesNewRomanPSMT"/>
              </a:rPr>
              <a:t>5. Уверенность во время выступления</a:t>
            </a:r>
            <a:br>
              <a:rPr lang="ru-RU" dirty="0">
                <a:solidFill>
                  <a:srgbClr val="000000"/>
                </a:solidFill>
                <a:latin typeface="TimesNewRomanPSMT"/>
              </a:rPr>
            </a:br>
            <a:r>
              <a:rPr lang="ru-RU" dirty="0">
                <a:solidFill>
                  <a:srgbClr val="000000"/>
                </a:solidFill>
                <a:latin typeface="TimesNewRomanPSMT"/>
              </a:rPr>
              <a:t>6. Командный дух</a:t>
            </a:r>
            <a:br>
              <a:rPr lang="ru-RU" dirty="0">
                <a:solidFill>
                  <a:srgbClr val="000000"/>
                </a:solidFill>
                <a:latin typeface="TimesNewRomanPSMT"/>
              </a:rPr>
            </a:br>
            <a:r>
              <a:rPr lang="ru-RU" dirty="0">
                <a:solidFill>
                  <a:srgbClr val="000000"/>
                </a:solidFill>
                <a:latin typeface="TimesNewRomanPSMT"/>
              </a:rPr>
              <a:t>7. Находчивость</a:t>
            </a:r>
            <a:br>
              <a:rPr lang="ru-RU" dirty="0">
                <a:solidFill>
                  <a:srgbClr val="000000"/>
                </a:solidFill>
                <a:latin typeface="TimesNewRomanPSMT"/>
              </a:rPr>
            </a:br>
            <a:r>
              <a:rPr lang="ru-RU" dirty="0">
                <a:solidFill>
                  <a:srgbClr val="000000"/>
                </a:solidFill>
                <a:latin typeface="TimesNewRomanPSMT"/>
              </a:rPr>
              <a:t>8. Сотрудничество</a:t>
            </a:r>
            <a:br>
              <a:rPr lang="ru-RU" dirty="0">
                <a:solidFill>
                  <a:srgbClr val="000000"/>
                </a:solidFill>
                <a:latin typeface="TimesNewRomanPSMT"/>
              </a:rPr>
            </a:br>
            <a:r>
              <a:rPr lang="ru-RU" dirty="0">
                <a:solidFill>
                  <a:srgbClr val="000000"/>
                </a:solidFill>
                <a:latin typeface="TimesNewRomanPSMT"/>
              </a:rPr>
              <a:t>9. Признание в коллективе</a:t>
            </a:r>
            <a:br>
              <a:rPr lang="ru-RU" dirty="0">
                <a:solidFill>
                  <a:srgbClr val="000000"/>
                </a:solidFill>
                <a:latin typeface="TimesNewRomanPSMT"/>
              </a:rPr>
            </a:br>
            <a:r>
              <a:rPr lang="ru-RU" dirty="0">
                <a:solidFill>
                  <a:srgbClr val="000000"/>
                </a:solidFill>
                <a:latin typeface="TimesNewRomanPSMT"/>
              </a:rPr>
              <a:t>10. Сила убеждения</a:t>
            </a:r>
            <a:endParaRPr lang="ru-RU" dirty="0"/>
          </a:p>
        </p:txBody>
      </p:sp>
      <p:sp>
        <p:nvSpPr>
          <p:cNvPr id="9" name="Прямоугольник 8"/>
          <p:cNvSpPr/>
          <p:nvPr/>
        </p:nvSpPr>
        <p:spPr>
          <a:xfrm>
            <a:off x="3837174" y="1409001"/>
            <a:ext cx="5737311" cy="400110"/>
          </a:xfrm>
          <a:prstGeom prst="rect">
            <a:avLst/>
          </a:prstGeom>
        </p:spPr>
        <p:txBody>
          <a:bodyPr wrap="square">
            <a:spAutoFit/>
          </a:bodyPr>
          <a:lstStyle/>
          <a:p>
            <a:r>
              <a:rPr lang="ru-RU" dirty="0">
                <a:solidFill>
                  <a:srgbClr val="000000"/>
                </a:solidFill>
                <a:latin typeface="TimesNewRomanPSMT"/>
              </a:rPr>
              <a:t>Кластеризация претендентов (</a:t>
            </a:r>
            <a:r>
              <a:rPr lang="ru-RU" dirty="0" err="1">
                <a:solidFill>
                  <a:srgbClr val="000000"/>
                </a:solidFill>
                <a:latin typeface="TimesNewRomanPSMT"/>
              </a:rPr>
              <a:t>assess</a:t>
            </a:r>
            <a:r>
              <a:rPr lang="ru-RU" dirty="0">
                <a:solidFill>
                  <a:srgbClr val="000000"/>
                </a:solidFill>
                <a:latin typeface="TimesNewRomanPSMT"/>
              </a:rPr>
              <a:t>.</a:t>
            </a:r>
            <a:r>
              <a:rPr lang="en-US" dirty="0" err="1">
                <a:solidFill>
                  <a:srgbClr val="000000"/>
                </a:solidFill>
                <a:latin typeface="TimesNewRomanPSMT"/>
              </a:rPr>
              <a:t>dat</a:t>
            </a:r>
            <a:r>
              <a:rPr lang="ru-RU" dirty="0">
                <a:solidFill>
                  <a:srgbClr val="000000"/>
                </a:solidFill>
                <a:latin typeface="TimesNewRomanPSMT"/>
              </a:rPr>
              <a:t>)</a:t>
            </a:r>
            <a:endParaRPr lang="ru-RU" dirty="0"/>
          </a:p>
        </p:txBody>
      </p:sp>
    </p:spTree>
    <p:extLst>
      <p:ext uri="{BB962C8B-B14F-4D97-AF65-F5344CB8AC3E}">
        <p14:creationId xmlns:p14="http://schemas.microsoft.com/office/powerpoint/2010/main" val="4227612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005533" y="322263"/>
            <a:ext cx="11161239"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98</a:t>
            </a:fld>
            <a:endParaRPr lang="ru-RU">
              <a:solidFill>
                <a:schemeClr val="tx1"/>
              </a:solidFill>
            </a:endParaRPr>
          </a:p>
        </p:txBody>
      </p:sp>
      <p:sp>
        <p:nvSpPr>
          <p:cNvPr id="2" name="Заголовок 1"/>
          <p:cNvSpPr txBox="1">
            <a:spLocks noGrp="1"/>
          </p:cNvSpPr>
          <p:nvPr>
            <p:ph type="title" idx="4294967295"/>
          </p:nvPr>
        </p:nvSpPr>
        <p:spPr>
          <a:xfrm>
            <a:off x="3669829" y="250825"/>
            <a:ext cx="5897563" cy="754063"/>
          </a:xfrm>
          <a:prstGeom prst="rect">
            <a:avLst/>
          </a:prstGeom>
        </p:spPr>
        <p:txBody>
          <a:bodyPr wrap="square">
            <a:noAutofit/>
          </a:bodyPr>
          <a:lstStyle/>
          <a:p>
            <a:pPr lvl="0"/>
            <a:r>
              <a:rPr lang="ru-RU" sz="3600" dirty="0"/>
              <a:t>Задание</a:t>
            </a:r>
          </a:p>
        </p:txBody>
      </p:sp>
      <p:sp>
        <p:nvSpPr>
          <p:cNvPr id="8" name="Прямоугольник 7"/>
          <p:cNvSpPr/>
          <p:nvPr/>
        </p:nvSpPr>
        <p:spPr>
          <a:xfrm>
            <a:off x="933525" y="1918750"/>
            <a:ext cx="10729192" cy="3477875"/>
          </a:xfrm>
          <a:prstGeom prst="rect">
            <a:avLst/>
          </a:prstGeom>
        </p:spPr>
        <p:txBody>
          <a:bodyPr wrap="square">
            <a:spAutoFit/>
          </a:bodyPr>
          <a:lstStyle/>
          <a:p>
            <a:r>
              <a:rPr lang="ru-RU" sz="2200" dirty="0">
                <a:solidFill>
                  <a:srgbClr val="000000"/>
                </a:solidFill>
                <a:latin typeface="TimesNewRomanPSMT"/>
              </a:rPr>
              <a:t>Результаты теста хранятся в файле assess.dat в переменных t1 – t10, соответственно. </a:t>
            </a:r>
            <a:endParaRPr lang="en-US" sz="2200" dirty="0">
              <a:solidFill>
                <a:srgbClr val="000000"/>
              </a:solidFill>
              <a:latin typeface="TimesNewRomanPSMT"/>
            </a:endParaRPr>
          </a:p>
          <a:p>
            <a:r>
              <a:rPr lang="ru-RU" sz="2200" dirty="0">
                <a:solidFill>
                  <a:srgbClr val="000000"/>
                </a:solidFill>
                <a:latin typeface="TimesNewRomanPSMT"/>
              </a:rPr>
              <a:t>В файле присутствуют также переменные с номером и фамилией</a:t>
            </a:r>
            <a:r>
              <a:rPr lang="en-US" sz="2200" dirty="0">
                <a:solidFill>
                  <a:srgbClr val="000000"/>
                </a:solidFill>
                <a:latin typeface="TimesNewRomanPSMT"/>
              </a:rPr>
              <a:t> </a:t>
            </a:r>
            <a:r>
              <a:rPr lang="ru-RU" sz="2200" dirty="0">
                <a:solidFill>
                  <a:srgbClr val="000000"/>
                </a:solidFill>
                <a:latin typeface="TimesNewRomanPSMT"/>
              </a:rPr>
              <a:t>участника.</a:t>
            </a:r>
            <a:endParaRPr lang="en-US" sz="2200" dirty="0">
              <a:solidFill>
                <a:srgbClr val="000000"/>
              </a:solidFill>
              <a:latin typeface="TimesNewRomanPSMT"/>
            </a:endParaRPr>
          </a:p>
          <a:p>
            <a:br>
              <a:rPr lang="ru-RU" sz="2200" dirty="0">
                <a:solidFill>
                  <a:srgbClr val="000000"/>
                </a:solidFill>
                <a:latin typeface="TimesNewRomanPSMT"/>
              </a:rPr>
            </a:br>
            <a:r>
              <a:rPr lang="ru-RU" sz="2200" dirty="0">
                <a:solidFill>
                  <a:srgbClr val="000000"/>
                </a:solidFill>
                <a:latin typeface="TimesNewRomanPSMT"/>
              </a:rPr>
              <a:t>Задача – провести кластерный анализ с целью обнаружения групп кандидатов, близких по своим качествам.</a:t>
            </a:r>
            <a:endParaRPr lang="en-US" sz="2200" dirty="0">
              <a:solidFill>
                <a:srgbClr val="000000"/>
              </a:solidFill>
              <a:latin typeface="TimesNewRomanPSMT"/>
            </a:endParaRPr>
          </a:p>
          <a:p>
            <a:endParaRPr lang="en-US" sz="2200" dirty="0">
              <a:solidFill>
                <a:srgbClr val="000000"/>
              </a:solidFill>
              <a:latin typeface="TimesNewRomanPSMT"/>
            </a:endParaRPr>
          </a:p>
          <a:p>
            <a:r>
              <a:rPr lang="ru-RU" sz="2200" dirty="0">
                <a:solidFill>
                  <a:srgbClr val="000000"/>
                </a:solidFill>
                <a:latin typeface="TimesNewRomanPSMT"/>
              </a:rPr>
              <a:t>Построить дендрограмму (используя матрицу расстояний)</a:t>
            </a:r>
            <a:br>
              <a:rPr lang="ru-RU" sz="2200" dirty="0">
                <a:solidFill>
                  <a:srgbClr val="000000"/>
                </a:solidFill>
                <a:latin typeface="TimesNewRomanPSMT"/>
              </a:rPr>
            </a:br>
            <a:endParaRPr lang="en-US" sz="2200" dirty="0">
              <a:solidFill>
                <a:srgbClr val="000000"/>
              </a:solidFill>
              <a:latin typeface="TimesNewRomanPSMT"/>
            </a:endParaRPr>
          </a:p>
          <a:p>
            <a:r>
              <a:rPr lang="ru-RU" sz="2200" dirty="0">
                <a:solidFill>
                  <a:srgbClr val="000000"/>
                </a:solidFill>
                <a:latin typeface="TimesNewRomanPSMT"/>
              </a:rPr>
              <a:t>Сравнить решения, полученные при разбиении на три и четыре кластера.</a:t>
            </a:r>
            <a:endParaRPr lang="en-US" sz="2200" dirty="0">
              <a:solidFill>
                <a:srgbClr val="000000"/>
              </a:solidFill>
              <a:latin typeface="TimesNewRomanPSMT"/>
            </a:endParaRPr>
          </a:p>
          <a:p>
            <a:r>
              <a:rPr lang="ru-RU" sz="2200" dirty="0">
                <a:solidFill>
                  <a:srgbClr val="000000"/>
                </a:solidFill>
                <a:latin typeface="TimesNewRomanPSMT"/>
              </a:rPr>
              <a:t>Сделать выводы, кого из претендентов следует принять </a:t>
            </a:r>
            <a:r>
              <a:rPr lang="ru-RU" sz="2200" dirty="0"/>
              <a:t> в первую очередь.</a:t>
            </a:r>
          </a:p>
        </p:txBody>
      </p:sp>
      <p:sp>
        <p:nvSpPr>
          <p:cNvPr id="9" name="Прямоугольник 8"/>
          <p:cNvSpPr/>
          <p:nvPr/>
        </p:nvSpPr>
        <p:spPr>
          <a:xfrm>
            <a:off x="3309790" y="1344940"/>
            <a:ext cx="5737311" cy="400110"/>
          </a:xfrm>
          <a:prstGeom prst="rect">
            <a:avLst/>
          </a:prstGeom>
        </p:spPr>
        <p:txBody>
          <a:bodyPr wrap="square">
            <a:spAutoFit/>
          </a:bodyPr>
          <a:lstStyle/>
          <a:p>
            <a:r>
              <a:rPr lang="ru-RU" dirty="0">
                <a:solidFill>
                  <a:srgbClr val="000000"/>
                </a:solidFill>
                <a:latin typeface="TimesNewRomanPSMT"/>
              </a:rPr>
              <a:t>Кластеризация претендентов (</a:t>
            </a:r>
            <a:r>
              <a:rPr lang="ru-RU" dirty="0" err="1">
                <a:solidFill>
                  <a:srgbClr val="000000"/>
                </a:solidFill>
                <a:latin typeface="TimesNewRomanPSMT"/>
              </a:rPr>
              <a:t>assess</a:t>
            </a:r>
            <a:r>
              <a:rPr lang="ru-RU" dirty="0">
                <a:solidFill>
                  <a:srgbClr val="000000"/>
                </a:solidFill>
                <a:latin typeface="TimesNewRomanPSMT"/>
              </a:rPr>
              <a:t>.</a:t>
            </a:r>
            <a:r>
              <a:rPr lang="en-US" dirty="0" err="1">
                <a:solidFill>
                  <a:srgbClr val="000000"/>
                </a:solidFill>
                <a:latin typeface="TimesNewRomanPSMT"/>
              </a:rPr>
              <a:t>dat</a:t>
            </a:r>
            <a:r>
              <a:rPr lang="ru-RU" dirty="0">
                <a:solidFill>
                  <a:srgbClr val="000000"/>
                </a:solidFill>
                <a:latin typeface="TimesNewRomanPSMT"/>
              </a:rPr>
              <a:t>)</a:t>
            </a:r>
            <a:endParaRPr lang="ru-RU" dirty="0"/>
          </a:p>
        </p:txBody>
      </p:sp>
    </p:spTree>
    <p:extLst>
      <p:ext uri="{BB962C8B-B14F-4D97-AF65-F5344CB8AC3E}">
        <p14:creationId xmlns:p14="http://schemas.microsoft.com/office/powerpoint/2010/main" val="1653439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a:spLocks noChangeArrowheads="1"/>
          </p:cNvSpPr>
          <p:nvPr/>
        </p:nvSpPr>
        <p:spPr bwMode="auto">
          <a:xfrm>
            <a:off x="1438276" y="322263"/>
            <a:ext cx="10596564" cy="6553200"/>
          </a:xfrm>
          <a:prstGeom prst="roundRect">
            <a:avLst>
              <a:gd name="adj" fmla="val 16667"/>
            </a:avLst>
          </a:prstGeom>
          <a:solidFill>
            <a:schemeClr val="bg1">
              <a:alpha val="50195"/>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5" name="AutoShape 5"/>
          <p:cNvSpPr>
            <a:spLocks noChangeArrowheads="1"/>
          </p:cNvSpPr>
          <p:nvPr/>
        </p:nvSpPr>
        <p:spPr bwMode="auto">
          <a:xfrm>
            <a:off x="2373685" y="322264"/>
            <a:ext cx="8064128" cy="720601"/>
          </a:xfrm>
          <a:prstGeom prst="roundRect">
            <a:avLst>
              <a:gd name="adj" fmla="val 37469"/>
            </a:avLst>
          </a:prstGeom>
          <a:solidFill>
            <a:srgbClr val="FFFFFF">
              <a:alpha val="78822"/>
            </a:srgbClr>
          </a:solidFill>
          <a:ln>
            <a:noFill/>
          </a:ln>
          <a:extLst>
            <a:ext uri="{91240B29-F687-4F45-9708-019B960494DF}">
              <a14:hiddenLine xmlns:a14="http://schemas.microsoft.com/office/drawing/2010/main" w="9525">
                <a:solidFill>
                  <a:srgbClr val="000000"/>
                </a:solidFill>
                <a:round/>
                <a:headEnd/>
                <a:tailEnd/>
              </a14:hiddenLine>
            </a:ext>
          </a:extLst>
        </p:spPr>
        <p:txBody>
          <a:bodyPr wrap="none" lIns="99441" tIns="49721" rIns="99441" bIns="49721" anchor="ctr"/>
          <a:lstStyle>
            <a:lvl1pPr defTabSz="993775">
              <a:defRPr sz="2000">
                <a:solidFill>
                  <a:schemeClr val="tx1"/>
                </a:solidFill>
                <a:latin typeface="Arial" panose="020B0604020202020204" pitchFamily="34" charset="0"/>
                <a:cs typeface="Arial" panose="020B0604020202020204" pitchFamily="34" charset="0"/>
              </a:defRPr>
            </a:lvl1pPr>
            <a:lvl2pPr marL="742950" indent="-285750" defTabSz="993775">
              <a:defRPr sz="2000">
                <a:solidFill>
                  <a:schemeClr val="tx1"/>
                </a:solidFill>
                <a:latin typeface="Arial" panose="020B0604020202020204" pitchFamily="34" charset="0"/>
                <a:cs typeface="Arial" panose="020B0604020202020204" pitchFamily="34" charset="0"/>
              </a:defRPr>
            </a:lvl2pPr>
            <a:lvl3pPr marL="1143000" indent="-228600" defTabSz="993775">
              <a:defRPr sz="2000">
                <a:solidFill>
                  <a:schemeClr val="tx1"/>
                </a:solidFill>
                <a:latin typeface="Arial" panose="020B0604020202020204" pitchFamily="34" charset="0"/>
                <a:cs typeface="Arial" panose="020B0604020202020204" pitchFamily="34" charset="0"/>
              </a:defRPr>
            </a:lvl3pPr>
            <a:lvl4pPr marL="1600200" indent="-228600" defTabSz="993775">
              <a:defRPr sz="2000">
                <a:solidFill>
                  <a:schemeClr val="tx1"/>
                </a:solidFill>
                <a:latin typeface="Arial" panose="020B0604020202020204" pitchFamily="34" charset="0"/>
                <a:cs typeface="Arial" panose="020B0604020202020204" pitchFamily="34" charset="0"/>
              </a:defRPr>
            </a:lvl4pPr>
            <a:lvl5pPr marL="2057400" indent="-228600" defTabSz="993775">
              <a:defRPr sz="2000">
                <a:solidFill>
                  <a:schemeClr val="tx1"/>
                </a:solidFill>
                <a:latin typeface="Arial" panose="020B0604020202020204" pitchFamily="34" charset="0"/>
                <a:cs typeface="Arial" panose="020B0604020202020204" pitchFamily="34" charset="0"/>
              </a:defRPr>
            </a:lvl5pPr>
            <a:lvl6pPr marL="25146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6pPr>
            <a:lvl7pPr marL="29718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7pPr>
            <a:lvl8pPr marL="34290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8pPr>
            <a:lvl9pPr marL="3886200" indent="-228600" defTabSz="993775" eaLnBrk="0" fontAlgn="base" hangingPunct="0">
              <a:spcBef>
                <a:spcPct val="0"/>
              </a:spcBef>
              <a:spcAft>
                <a:spcPct val="0"/>
              </a:spcAft>
              <a:defRPr sz="2000">
                <a:solidFill>
                  <a:schemeClr val="tx1"/>
                </a:solidFill>
                <a:latin typeface="Arial" panose="020B0604020202020204" pitchFamily="34" charset="0"/>
                <a:cs typeface="Arial" panose="020B0604020202020204" pitchFamily="34" charset="0"/>
              </a:defRPr>
            </a:lvl9pPr>
          </a:lstStyle>
          <a:p>
            <a:pPr eaLnBrk="1" hangingPunct="1"/>
            <a:endParaRPr lang="ru-RU" altLang="ru-RU" sz="3500">
              <a:solidFill>
                <a:schemeClr val="bg1"/>
              </a:solidFill>
            </a:endParaRPr>
          </a:p>
        </p:txBody>
      </p:sp>
      <p:sp>
        <p:nvSpPr>
          <p:cNvPr id="7" name="Номер слайда 6"/>
          <p:cNvSpPr>
            <a:spLocks noGrp="1"/>
          </p:cNvSpPr>
          <p:nvPr>
            <p:ph type="sldNum" sz="quarter" idx="12"/>
          </p:nvPr>
        </p:nvSpPr>
        <p:spPr/>
        <p:txBody>
          <a:bodyPr/>
          <a:lstStyle/>
          <a:p>
            <a:fld id="{952B6C0E-C4B9-4094-8E59-5B7DF00D5415}" type="slidenum">
              <a:rPr lang="ru-RU" smtClean="0">
                <a:solidFill>
                  <a:schemeClr val="tx1"/>
                </a:solidFill>
              </a:rPr>
              <a:t>99</a:t>
            </a:fld>
            <a:endParaRPr lang="ru-RU">
              <a:solidFill>
                <a:schemeClr val="tx1"/>
              </a:solidFill>
            </a:endParaRPr>
          </a:p>
        </p:txBody>
      </p:sp>
      <p:sp>
        <p:nvSpPr>
          <p:cNvPr id="2" name="Заголовок 1"/>
          <p:cNvSpPr txBox="1">
            <a:spLocks noGrp="1"/>
          </p:cNvSpPr>
          <p:nvPr>
            <p:ph type="title" idx="4294967295"/>
          </p:nvPr>
        </p:nvSpPr>
        <p:spPr>
          <a:xfrm>
            <a:off x="3113882" y="106240"/>
            <a:ext cx="6369050" cy="754063"/>
          </a:xfrm>
          <a:prstGeom prst="rect">
            <a:avLst/>
          </a:prstGeom>
        </p:spPr>
        <p:txBody>
          <a:bodyPr wrap="square">
            <a:noAutofit/>
          </a:bodyPr>
          <a:lstStyle/>
          <a:p>
            <a:pPr lvl="0"/>
            <a:r>
              <a:rPr lang="ru-RU" sz="3600" dirty="0"/>
              <a:t>Задание</a:t>
            </a:r>
          </a:p>
        </p:txBody>
      </p:sp>
      <p:sp>
        <p:nvSpPr>
          <p:cNvPr id="9" name="Прямоугольник 8"/>
          <p:cNvSpPr/>
          <p:nvPr/>
        </p:nvSpPr>
        <p:spPr>
          <a:xfrm>
            <a:off x="3309790" y="955253"/>
            <a:ext cx="5737311" cy="400110"/>
          </a:xfrm>
          <a:prstGeom prst="rect">
            <a:avLst/>
          </a:prstGeom>
        </p:spPr>
        <p:txBody>
          <a:bodyPr wrap="square">
            <a:spAutoFit/>
          </a:bodyPr>
          <a:lstStyle/>
          <a:p>
            <a:r>
              <a:rPr lang="ru-RU" dirty="0">
                <a:solidFill>
                  <a:srgbClr val="000000"/>
                </a:solidFill>
                <a:latin typeface="TimesNewRomanPSMT"/>
              </a:rPr>
              <a:t>Кластеризация претендентов (</a:t>
            </a:r>
            <a:r>
              <a:rPr lang="ru-RU" dirty="0" err="1">
                <a:solidFill>
                  <a:srgbClr val="000000"/>
                </a:solidFill>
                <a:latin typeface="TimesNewRomanPSMT"/>
              </a:rPr>
              <a:t>assess</a:t>
            </a:r>
            <a:r>
              <a:rPr lang="ru-RU" dirty="0">
                <a:solidFill>
                  <a:srgbClr val="000000"/>
                </a:solidFill>
                <a:latin typeface="TimesNewRomanPSMT"/>
              </a:rPr>
              <a:t>.</a:t>
            </a:r>
            <a:r>
              <a:rPr lang="en-US" dirty="0" err="1">
                <a:solidFill>
                  <a:srgbClr val="000000"/>
                </a:solidFill>
                <a:latin typeface="TimesNewRomanPSMT"/>
              </a:rPr>
              <a:t>dat</a:t>
            </a:r>
            <a:r>
              <a:rPr lang="ru-RU" dirty="0">
                <a:solidFill>
                  <a:srgbClr val="000000"/>
                </a:solidFill>
                <a:latin typeface="TimesNewRomanPSMT"/>
              </a:rPr>
              <a:t>)</a:t>
            </a:r>
            <a:endParaRPr lang="ru-RU" dirty="0"/>
          </a:p>
        </p:txBody>
      </p:sp>
      <p:pic>
        <p:nvPicPr>
          <p:cNvPr id="3" name="Рисунок 2"/>
          <p:cNvPicPr>
            <a:picLocks noChangeAspect="1"/>
          </p:cNvPicPr>
          <p:nvPr/>
        </p:nvPicPr>
        <p:blipFill>
          <a:blip r:embed="rId3"/>
          <a:stretch>
            <a:fillRect/>
          </a:stretch>
        </p:blipFill>
        <p:spPr>
          <a:xfrm>
            <a:off x="1490286" y="1444119"/>
            <a:ext cx="9376316" cy="4448150"/>
          </a:xfrm>
          <a:prstGeom prst="rect">
            <a:avLst/>
          </a:prstGeom>
        </p:spPr>
      </p:pic>
      <p:sp>
        <p:nvSpPr>
          <p:cNvPr id="10" name="Прямоугольник 9"/>
          <p:cNvSpPr/>
          <p:nvPr/>
        </p:nvSpPr>
        <p:spPr>
          <a:xfrm>
            <a:off x="1462424" y="6030311"/>
            <a:ext cx="10151987" cy="830997"/>
          </a:xfrm>
          <a:prstGeom prst="rect">
            <a:avLst/>
          </a:prstGeom>
        </p:spPr>
        <p:txBody>
          <a:bodyPr wrap="square">
            <a:spAutoFit/>
          </a:bodyPr>
          <a:lstStyle/>
          <a:p>
            <a:pPr lvl="0" eaLnBrk="0" hangingPunct="0"/>
            <a:r>
              <a:rPr lang="ru-RU" sz="1600" dirty="0">
                <a:solidFill>
                  <a:srgbClr val="000000"/>
                </a:solidFill>
                <a:latin typeface="TimesNewRomanPSMT"/>
              </a:rPr>
              <a:t>Тем, у кого есть проблемы с загрузкой рекомендуется установить библиотеку </a:t>
            </a:r>
            <a:r>
              <a:rPr lang="ru-RU" altLang="ru-RU" sz="1600" dirty="0" err="1">
                <a:solidFill>
                  <a:srgbClr val="000000"/>
                </a:solidFill>
                <a:latin typeface="TimesNewRomanPSMT"/>
              </a:rPr>
              <a:t>install.packages</a:t>
            </a:r>
            <a:r>
              <a:rPr lang="ru-RU" altLang="ru-RU" sz="1600" dirty="0">
                <a:solidFill>
                  <a:srgbClr val="000000"/>
                </a:solidFill>
                <a:latin typeface="TimesNewRomanPSMT"/>
              </a:rPr>
              <a:t>("</a:t>
            </a:r>
            <a:r>
              <a:rPr lang="ru-RU" altLang="ru-RU" sz="1600" dirty="0" err="1">
                <a:solidFill>
                  <a:srgbClr val="000000"/>
                </a:solidFill>
                <a:latin typeface="TimesNewRomanPSMT"/>
              </a:rPr>
              <a:t>tidyverse</a:t>
            </a:r>
            <a:r>
              <a:rPr lang="ru-RU" altLang="ru-RU" sz="1600" dirty="0">
                <a:solidFill>
                  <a:srgbClr val="000000"/>
                </a:solidFill>
                <a:latin typeface="TimesNewRomanPSMT"/>
              </a:rPr>
              <a:t>") </a:t>
            </a:r>
          </a:p>
          <a:p>
            <a:pPr lvl="0" eaLnBrk="0" hangingPunct="0"/>
            <a:r>
              <a:rPr lang="ru-RU" altLang="ru-RU" sz="1600" dirty="0">
                <a:solidFill>
                  <a:srgbClr val="000000"/>
                </a:solidFill>
                <a:latin typeface="TimesNewRomanPSMT"/>
              </a:rPr>
              <a:t>О некоторых возможностях этой библиотеки - </a:t>
            </a:r>
            <a:r>
              <a:rPr lang="en-US" altLang="ru-RU" sz="1600" dirty="0">
                <a:solidFill>
                  <a:srgbClr val="000000"/>
                </a:solidFill>
                <a:latin typeface="TimesNewRomanPSMT"/>
                <a:hlinkClick r:id="rId4"/>
              </a:rPr>
              <a:t>https://blog.sf.education/it-luchshie-biblioteki-yazyka-r/?ysclid=l1vqp9agy5</a:t>
            </a:r>
            <a:r>
              <a:rPr lang="ru-RU" altLang="ru-RU" sz="1600" dirty="0">
                <a:solidFill>
                  <a:srgbClr val="000000"/>
                </a:solidFill>
                <a:latin typeface="TimesNewRomanPSMT"/>
              </a:rPr>
              <a:t> </a:t>
            </a:r>
          </a:p>
        </p:txBody>
      </p:sp>
    </p:spTree>
    <p:extLst>
      <p:ext uri="{BB962C8B-B14F-4D97-AF65-F5344CB8AC3E}">
        <p14:creationId xmlns:p14="http://schemas.microsoft.com/office/powerpoint/2010/main" val="1616972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AutoShape 2"/>
          <p:cNvSpPr>
            <a:spLocks noChangeArrowheads="1"/>
          </p:cNvSpPr>
          <p:nvPr/>
        </p:nvSpPr>
        <p:spPr bwMode="auto">
          <a:xfrm>
            <a:off x="1293565" y="265113"/>
            <a:ext cx="11089232" cy="6481241"/>
          </a:xfrm>
          <a:prstGeom prst="roundRect">
            <a:avLst>
              <a:gd name="adj" fmla="val 16667"/>
            </a:avLst>
          </a:prstGeom>
          <a:solidFill>
            <a:schemeClr val="bg1">
              <a:alpha val="50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6" name="Скругленный прямоугольник 5"/>
          <p:cNvSpPr/>
          <p:nvPr/>
        </p:nvSpPr>
        <p:spPr bwMode="auto">
          <a:xfrm>
            <a:off x="633411" y="1065474"/>
            <a:ext cx="11401428" cy="5558850"/>
          </a:xfrm>
          <a:prstGeom prst="roundRect">
            <a:avLst/>
          </a:prstGeom>
          <a:gradFill flip="none" rotWithShape="1">
            <a:gsLst>
              <a:gs pos="0">
                <a:schemeClr val="bg2">
                  <a:shade val="30000"/>
                  <a:satMod val="115000"/>
                </a:schemeClr>
              </a:gs>
              <a:gs pos="50000">
                <a:schemeClr val="bg2">
                  <a:shade val="67500"/>
                  <a:satMod val="115000"/>
                </a:schemeClr>
              </a:gs>
              <a:gs pos="100000">
                <a:schemeClr val="bg2">
                  <a:shade val="100000"/>
                  <a:satMod val="115000"/>
                </a:schemeClr>
              </a:gs>
            </a:gsLst>
            <a:lin ang="18900000" scaled="1"/>
            <a:tileRect/>
          </a:gra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defTabSz="993775"/>
            <a:endParaRPr lang="ru-RU">
              <a:solidFill>
                <a:schemeClr val="tx1"/>
              </a:solidFill>
              <a:latin typeface="Arial" panose="020B0604020202020204" pitchFamily="34" charset="0"/>
              <a:cs typeface="Arial" panose="020B0604020202020204" pitchFamily="34" charset="0"/>
            </a:endParaRPr>
          </a:p>
        </p:txBody>
      </p:sp>
      <p:sp>
        <p:nvSpPr>
          <p:cNvPr id="238596" name="Text Box 4"/>
          <p:cNvSpPr txBox="1">
            <a:spLocks noChangeArrowheads="1"/>
          </p:cNvSpPr>
          <p:nvPr/>
        </p:nvSpPr>
        <p:spPr bwMode="auto">
          <a:xfrm>
            <a:off x="1293565" y="1095815"/>
            <a:ext cx="10597257" cy="5509200"/>
          </a:xfrm>
          <a:prstGeom prst="rect">
            <a:avLst/>
          </a:prstGeom>
          <a:noFill/>
          <a:ln>
            <a:noFill/>
          </a:ln>
          <a:effectLst/>
        </p:spPr>
        <p:txBody>
          <a:bodyPr wrap="square">
            <a:spAutoFit/>
          </a:bodyPr>
          <a:lstStyle>
            <a:lvl1pPr indent="269875"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marL="514350" indent="-514350">
              <a:buClr>
                <a:srgbClr val="FF5050"/>
              </a:buClr>
              <a:buFont typeface="+mj-lt"/>
              <a:buAutoNum type="arabicPeriod"/>
            </a:pPr>
            <a:r>
              <a:rPr lang="ru-RU" altLang="ru-RU" sz="2200" dirty="0">
                <a:solidFill>
                  <a:schemeClr val="bg1"/>
                </a:solidFill>
              </a:rPr>
              <a:t>Основные задачи </a:t>
            </a:r>
            <a:r>
              <a:rPr lang="en-US" altLang="ru-RU" sz="2200" dirty="0">
                <a:solidFill>
                  <a:schemeClr val="bg1"/>
                </a:solidFill>
              </a:rPr>
              <a:t>Data Analysis</a:t>
            </a:r>
            <a:r>
              <a:rPr lang="ru-RU" altLang="ru-RU" sz="2200" dirty="0">
                <a:solidFill>
                  <a:schemeClr val="bg1"/>
                </a:solidFill>
              </a:rPr>
              <a:t>. Какие дисциплины охватывает </a:t>
            </a:r>
            <a:r>
              <a:rPr lang="en-US" altLang="ru-RU" sz="2200" dirty="0">
                <a:solidFill>
                  <a:schemeClr val="bg1"/>
                </a:solidFill>
              </a:rPr>
              <a:t>Data Analysis</a:t>
            </a:r>
            <a:r>
              <a:rPr lang="ru-RU" altLang="ru-RU" sz="2200" dirty="0">
                <a:solidFill>
                  <a:schemeClr val="bg1"/>
                </a:solidFill>
              </a:rPr>
              <a:t>? </a:t>
            </a:r>
          </a:p>
          <a:p>
            <a:pPr marL="514350" indent="-514350">
              <a:buClr>
                <a:srgbClr val="FF5050"/>
              </a:buClr>
              <a:buFont typeface="+mj-lt"/>
              <a:buAutoNum type="arabicPeriod"/>
            </a:pPr>
            <a:r>
              <a:rPr lang="ru-RU" altLang="ru-RU" sz="2200" dirty="0">
                <a:solidFill>
                  <a:schemeClr val="bg1"/>
                </a:solidFill>
              </a:rPr>
              <a:t>Классификация методов DM.</a:t>
            </a:r>
          </a:p>
          <a:p>
            <a:pPr marL="514350" indent="-514350">
              <a:buClr>
                <a:srgbClr val="FF5050"/>
              </a:buClr>
              <a:buFont typeface="+mj-lt"/>
              <a:buAutoNum type="arabicPeriod"/>
            </a:pPr>
            <a:r>
              <a:rPr lang="ru-RU" altLang="ru-RU" sz="2200" dirty="0">
                <a:solidFill>
                  <a:schemeClr val="bg1"/>
                </a:solidFill>
              </a:rPr>
              <a:t>Понятие кластерного анализа, Классификация алгоритмов кластеризации.</a:t>
            </a:r>
          </a:p>
          <a:p>
            <a:pPr marL="514350" indent="-514350">
              <a:buClr>
                <a:srgbClr val="FF5050"/>
              </a:buClr>
              <a:buFont typeface="+mj-lt"/>
              <a:buAutoNum type="arabicPeriod"/>
            </a:pPr>
            <a:r>
              <a:rPr lang="ru-RU" altLang="ru-RU" sz="2200" dirty="0">
                <a:solidFill>
                  <a:schemeClr val="bg1"/>
                </a:solidFill>
              </a:rPr>
              <a:t>Зачем нужна мера близости в кластеризации? В чем достоинства алгоритмов, построенных на основе теории графов? Перечислите виды алгоритмов кластеризации на графах.</a:t>
            </a:r>
          </a:p>
          <a:p>
            <a:pPr marL="514350" indent="-514350">
              <a:buClr>
                <a:srgbClr val="FF5050"/>
              </a:buClr>
              <a:buFont typeface="+mj-lt"/>
              <a:buAutoNum type="arabicPeriod"/>
            </a:pPr>
            <a:r>
              <a:rPr lang="ru-RU" altLang="ru-RU" sz="2200" dirty="0">
                <a:solidFill>
                  <a:schemeClr val="bg1"/>
                </a:solidFill>
              </a:rPr>
              <a:t>В чем суть алгоритмов нахождения квадратичной ошибки? </a:t>
            </a:r>
          </a:p>
          <a:p>
            <a:pPr marL="514350" indent="-514350">
              <a:buClr>
                <a:srgbClr val="FF5050"/>
              </a:buClr>
              <a:buFont typeface="+mj-lt"/>
              <a:buAutoNum type="arabicPeriod"/>
            </a:pPr>
            <a:r>
              <a:rPr lang="ru-RU" altLang="ru-RU" sz="2200" dirty="0">
                <a:solidFill>
                  <a:schemeClr val="bg1"/>
                </a:solidFill>
              </a:rPr>
              <a:t>Поясните суть работы алгоритмов нахождения связных компонент и алгоритмов покрывающего дерева.</a:t>
            </a:r>
          </a:p>
          <a:p>
            <a:pPr marL="514350" indent="-514350">
              <a:buClr>
                <a:srgbClr val="FF5050"/>
              </a:buClr>
              <a:buFont typeface="+mj-lt"/>
              <a:buAutoNum type="arabicPeriod"/>
            </a:pPr>
            <a:r>
              <a:rPr lang="ru-RU" altLang="ru-RU" sz="2200" dirty="0">
                <a:solidFill>
                  <a:schemeClr val="bg1"/>
                </a:solidFill>
              </a:rPr>
              <a:t>Опишите шаги работы </a:t>
            </a:r>
            <a:r>
              <a:rPr lang="en-US" altLang="ru-RU" sz="2200" dirty="0">
                <a:solidFill>
                  <a:schemeClr val="bg1"/>
                </a:solidFill>
              </a:rPr>
              <a:t>DBSCAN</a:t>
            </a:r>
            <a:r>
              <a:rPr lang="ru-RU" altLang="ru-RU" sz="2200" dirty="0">
                <a:solidFill>
                  <a:schemeClr val="bg1"/>
                </a:solidFill>
              </a:rPr>
              <a:t>, и в каких случаях его использование наиболее целесообразно.</a:t>
            </a:r>
            <a:endParaRPr lang="en-US" altLang="ru-RU" sz="2200" dirty="0">
              <a:solidFill>
                <a:schemeClr val="bg1"/>
              </a:solidFill>
            </a:endParaRPr>
          </a:p>
          <a:p>
            <a:pPr marL="514350" indent="-514350">
              <a:buClr>
                <a:srgbClr val="FF5050"/>
              </a:buClr>
              <a:buFont typeface="+mj-lt"/>
              <a:buAutoNum type="arabicPeriod"/>
            </a:pPr>
            <a:r>
              <a:rPr lang="ru-RU" altLang="ru-RU" sz="2200" dirty="0">
                <a:solidFill>
                  <a:schemeClr val="bg1"/>
                </a:solidFill>
              </a:rPr>
              <a:t>Опишите шаги построения </a:t>
            </a:r>
            <a:r>
              <a:rPr lang="ru-RU" altLang="ru-RU" sz="2200" dirty="0" err="1">
                <a:solidFill>
                  <a:schemeClr val="bg1"/>
                </a:solidFill>
              </a:rPr>
              <a:t>дендрограммы</a:t>
            </a:r>
            <a:r>
              <a:rPr lang="ru-RU" altLang="ru-RU" sz="2200" dirty="0">
                <a:solidFill>
                  <a:schemeClr val="bg1"/>
                </a:solidFill>
              </a:rPr>
              <a:t>.</a:t>
            </a:r>
            <a:endParaRPr lang="en-US" altLang="ru-RU" sz="2200" dirty="0">
              <a:solidFill>
                <a:schemeClr val="bg1"/>
              </a:solidFill>
            </a:endParaRPr>
          </a:p>
          <a:p>
            <a:pPr marL="514350" indent="-514350">
              <a:buClr>
                <a:srgbClr val="FF5050"/>
              </a:buClr>
              <a:buFont typeface="+mj-lt"/>
              <a:buAutoNum type="arabicPeriod"/>
            </a:pPr>
            <a:r>
              <a:rPr lang="ru-RU" altLang="ru-RU" sz="2200" dirty="0">
                <a:solidFill>
                  <a:schemeClr val="bg1"/>
                </a:solidFill>
              </a:rPr>
              <a:t>Поясните алгоритм работы </a:t>
            </a:r>
            <a:r>
              <a:rPr lang="ru-RU" altLang="ru-RU" sz="2200" dirty="0" err="1">
                <a:solidFill>
                  <a:schemeClr val="bg1"/>
                </a:solidFill>
              </a:rPr>
              <a:t>кластеризатора</a:t>
            </a:r>
            <a:r>
              <a:rPr lang="ru-RU" altLang="ru-RU" sz="2200" dirty="0">
                <a:solidFill>
                  <a:schemeClr val="bg1"/>
                </a:solidFill>
              </a:rPr>
              <a:t> </a:t>
            </a:r>
            <a:r>
              <a:rPr lang="en-US" altLang="ru-RU" sz="2200" dirty="0">
                <a:solidFill>
                  <a:schemeClr val="bg1"/>
                </a:solidFill>
              </a:rPr>
              <a:t> k-means.</a:t>
            </a:r>
            <a:endParaRPr lang="ru-RU" altLang="ru-RU" sz="2200" dirty="0">
              <a:solidFill>
                <a:schemeClr val="bg1"/>
              </a:solidFill>
            </a:endParaRPr>
          </a:p>
          <a:p>
            <a:pPr marL="514350" indent="-514350">
              <a:buClr>
                <a:srgbClr val="FF5050"/>
              </a:buClr>
              <a:buFont typeface="+mj-lt"/>
              <a:buAutoNum type="arabicPeriod"/>
            </a:pPr>
            <a:r>
              <a:rPr lang="ru-RU" altLang="ru-RU" sz="2200" dirty="0">
                <a:solidFill>
                  <a:schemeClr val="bg1"/>
                </a:solidFill>
              </a:rPr>
              <a:t>В чем состоит суть стандартизации и нормализации переменных, зачем они нужны?</a:t>
            </a:r>
          </a:p>
        </p:txBody>
      </p:sp>
      <p:sp>
        <p:nvSpPr>
          <p:cNvPr id="238597" name="AutoShape 5"/>
          <p:cNvSpPr>
            <a:spLocks noChangeArrowheads="1"/>
          </p:cNvSpPr>
          <p:nvPr/>
        </p:nvSpPr>
        <p:spPr bwMode="auto">
          <a:xfrm>
            <a:off x="2085977" y="379934"/>
            <a:ext cx="8351837" cy="464617"/>
          </a:xfrm>
          <a:prstGeom prst="roundRect">
            <a:avLst>
              <a:gd name="adj" fmla="val 16667"/>
            </a:avLst>
          </a:prstGeom>
          <a:solidFill>
            <a:srgbClr val="FFFFFF">
              <a:alpha val="78999"/>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9441" tIns="49721" rIns="99441" bIns="49721" anchor="ctr"/>
          <a:lstStyle>
            <a:lvl1pPr defTabSz="993775">
              <a:defRPr>
                <a:solidFill>
                  <a:schemeClr val="tx1"/>
                </a:solidFill>
                <a:latin typeface="Arial" panose="020B0604020202020204" pitchFamily="34" charset="0"/>
              </a:defRPr>
            </a:lvl1pPr>
            <a:lvl2pPr marL="1177925" defTabSz="993775">
              <a:defRPr>
                <a:solidFill>
                  <a:schemeClr val="tx1"/>
                </a:solidFill>
                <a:latin typeface="Arial" panose="020B0604020202020204" pitchFamily="34" charset="0"/>
              </a:defRPr>
            </a:lvl2pPr>
            <a:lvl3pPr marL="1373188" defTabSz="993775">
              <a:defRPr>
                <a:solidFill>
                  <a:schemeClr val="tx1"/>
                </a:solidFill>
                <a:latin typeface="Arial" panose="020B0604020202020204" pitchFamily="34" charset="0"/>
              </a:defRPr>
            </a:lvl3pPr>
            <a:lvl4pPr marL="1566863" defTabSz="993775">
              <a:defRPr>
                <a:solidFill>
                  <a:schemeClr val="tx1"/>
                </a:solidFill>
                <a:latin typeface="Arial" panose="020B0604020202020204" pitchFamily="34" charset="0"/>
              </a:defRPr>
            </a:lvl4pPr>
            <a:lvl5pPr marL="1989138" defTabSz="993775">
              <a:defRPr>
                <a:solidFill>
                  <a:schemeClr val="tx1"/>
                </a:solidFill>
                <a:latin typeface="Arial" panose="020B0604020202020204" pitchFamily="34" charset="0"/>
              </a:defRPr>
            </a:lvl5pPr>
            <a:lvl6pPr marL="2446338" defTabSz="993775" fontAlgn="base">
              <a:spcBef>
                <a:spcPct val="0"/>
              </a:spcBef>
              <a:spcAft>
                <a:spcPct val="0"/>
              </a:spcAft>
              <a:defRPr>
                <a:solidFill>
                  <a:schemeClr val="tx1"/>
                </a:solidFill>
                <a:latin typeface="Arial" panose="020B0604020202020204" pitchFamily="34" charset="0"/>
              </a:defRPr>
            </a:lvl6pPr>
            <a:lvl7pPr marL="2903538" defTabSz="993775" fontAlgn="base">
              <a:spcBef>
                <a:spcPct val="0"/>
              </a:spcBef>
              <a:spcAft>
                <a:spcPct val="0"/>
              </a:spcAft>
              <a:defRPr>
                <a:solidFill>
                  <a:schemeClr val="tx1"/>
                </a:solidFill>
                <a:latin typeface="Arial" panose="020B0604020202020204" pitchFamily="34" charset="0"/>
              </a:defRPr>
            </a:lvl7pPr>
            <a:lvl8pPr marL="3360738" defTabSz="993775" fontAlgn="base">
              <a:spcBef>
                <a:spcPct val="0"/>
              </a:spcBef>
              <a:spcAft>
                <a:spcPct val="0"/>
              </a:spcAft>
              <a:defRPr>
                <a:solidFill>
                  <a:schemeClr val="tx1"/>
                </a:solidFill>
                <a:latin typeface="Arial" panose="020B0604020202020204" pitchFamily="34" charset="0"/>
              </a:defRPr>
            </a:lvl8pPr>
            <a:lvl9pPr marL="3817938" defTabSz="993775" fontAlgn="base">
              <a:spcBef>
                <a:spcPct val="0"/>
              </a:spcBef>
              <a:spcAft>
                <a:spcPct val="0"/>
              </a:spcAft>
              <a:defRPr>
                <a:solidFill>
                  <a:schemeClr val="tx1"/>
                </a:solidFill>
                <a:latin typeface="Arial" panose="020B0604020202020204" pitchFamily="34" charset="0"/>
              </a:defRPr>
            </a:lvl9pPr>
          </a:lstStyle>
          <a:p>
            <a:endParaRPr lang="ru-RU" altLang="ru-RU" sz="3500">
              <a:solidFill>
                <a:schemeClr val="bg1"/>
              </a:solidFill>
            </a:endParaRPr>
          </a:p>
        </p:txBody>
      </p:sp>
      <p:sp>
        <p:nvSpPr>
          <p:cNvPr id="238595" name="Rectangle 3"/>
          <p:cNvSpPr>
            <a:spLocks noChangeArrowheads="1"/>
          </p:cNvSpPr>
          <p:nvPr/>
        </p:nvSpPr>
        <p:spPr bwMode="auto">
          <a:xfrm>
            <a:off x="2596358" y="253551"/>
            <a:ext cx="828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993775">
              <a:defRPr>
                <a:solidFill>
                  <a:schemeClr val="tx1"/>
                </a:solidFill>
                <a:latin typeface="Arial" panose="020B0604020202020204" pitchFamily="34" charset="0"/>
              </a:defRPr>
            </a:lvl1pPr>
            <a:lvl2pPr defTabSz="993775">
              <a:defRPr>
                <a:solidFill>
                  <a:schemeClr val="tx1"/>
                </a:solidFill>
                <a:latin typeface="Arial" panose="020B0604020202020204" pitchFamily="34" charset="0"/>
              </a:defRPr>
            </a:lvl2pPr>
            <a:lvl3pPr defTabSz="993775">
              <a:defRPr>
                <a:solidFill>
                  <a:schemeClr val="tx1"/>
                </a:solidFill>
                <a:latin typeface="Arial" panose="020B0604020202020204" pitchFamily="34" charset="0"/>
              </a:defRPr>
            </a:lvl3pPr>
            <a:lvl4pPr defTabSz="993775">
              <a:defRPr>
                <a:solidFill>
                  <a:schemeClr val="tx1"/>
                </a:solidFill>
                <a:latin typeface="Arial" panose="020B0604020202020204" pitchFamily="34" charset="0"/>
              </a:defRPr>
            </a:lvl4pPr>
            <a:lvl5pPr defTabSz="993775">
              <a:defRPr>
                <a:solidFill>
                  <a:schemeClr val="tx1"/>
                </a:solidFill>
                <a:latin typeface="Arial" panose="020B0604020202020204" pitchFamily="34" charset="0"/>
              </a:defRPr>
            </a:lvl5pPr>
            <a:lvl6pPr defTabSz="993775" fontAlgn="base">
              <a:spcBef>
                <a:spcPct val="0"/>
              </a:spcBef>
              <a:spcAft>
                <a:spcPct val="0"/>
              </a:spcAft>
              <a:defRPr>
                <a:solidFill>
                  <a:schemeClr val="tx1"/>
                </a:solidFill>
                <a:latin typeface="Arial" panose="020B0604020202020204" pitchFamily="34" charset="0"/>
              </a:defRPr>
            </a:lvl6pPr>
            <a:lvl7pPr defTabSz="993775" fontAlgn="base">
              <a:spcBef>
                <a:spcPct val="0"/>
              </a:spcBef>
              <a:spcAft>
                <a:spcPct val="0"/>
              </a:spcAft>
              <a:defRPr>
                <a:solidFill>
                  <a:schemeClr val="tx1"/>
                </a:solidFill>
                <a:latin typeface="Arial" panose="020B0604020202020204" pitchFamily="34" charset="0"/>
              </a:defRPr>
            </a:lvl7pPr>
            <a:lvl8pPr defTabSz="993775" fontAlgn="base">
              <a:spcBef>
                <a:spcPct val="0"/>
              </a:spcBef>
              <a:spcAft>
                <a:spcPct val="0"/>
              </a:spcAft>
              <a:defRPr>
                <a:solidFill>
                  <a:schemeClr val="tx1"/>
                </a:solidFill>
                <a:latin typeface="Arial" panose="020B0604020202020204" pitchFamily="34" charset="0"/>
              </a:defRPr>
            </a:lvl8pPr>
            <a:lvl9pPr defTabSz="993775" fontAlgn="base">
              <a:spcBef>
                <a:spcPct val="0"/>
              </a:spcBef>
              <a:spcAft>
                <a:spcPct val="0"/>
              </a:spcAft>
              <a:defRPr>
                <a:solidFill>
                  <a:schemeClr val="tx1"/>
                </a:solidFill>
                <a:latin typeface="Arial" panose="020B0604020202020204" pitchFamily="34" charset="0"/>
              </a:defRPr>
            </a:lvl9pPr>
          </a:lstStyle>
          <a:p>
            <a:pPr algn="ctr"/>
            <a:r>
              <a:rPr lang="ru-RU" altLang="ru-RU" sz="3200" b="1" dirty="0">
                <a:solidFill>
                  <a:schemeClr val="tx2"/>
                </a:solidFill>
              </a:rPr>
              <a:t>Вопросы</a:t>
            </a:r>
          </a:p>
        </p:txBody>
      </p:sp>
      <p:sp>
        <p:nvSpPr>
          <p:cNvPr id="3" name="Номер слайда 2"/>
          <p:cNvSpPr>
            <a:spLocks noGrp="1"/>
          </p:cNvSpPr>
          <p:nvPr>
            <p:ph type="sldNum" sz="quarter" idx="12"/>
          </p:nvPr>
        </p:nvSpPr>
        <p:spPr/>
        <p:txBody>
          <a:bodyPr/>
          <a:lstStyle/>
          <a:p>
            <a:fld id="{952B6C0E-C4B9-4094-8E59-5B7DF00D5415}" type="slidenum">
              <a:rPr lang="ru-RU" sz="1400">
                <a:solidFill>
                  <a:schemeClr val="tx1"/>
                </a:solidFill>
              </a:rPr>
              <a:t>100</a:t>
            </a:fld>
            <a:endParaRPr lang="ru-RU" dirty="0">
              <a:solidFill>
                <a:schemeClr val="tx1"/>
              </a:solidFill>
            </a:endParaRPr>
          </a:p>
        </p:txBody>
      </p:sp>
    </p:spTree>
    <p:extLst>
      <p:ext uri="{BB962C8B-B14F-4D97-AF65-F5344CB8AC3E}">
        <p14:creationId xmlns:p14="http://schemas.microsoft.com/office/powerpoint/2010/main" val="944459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xno">
  <a:themeElements>
    <a:clrScheme name="Воздушный поток">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xno" id="{0E8BABF9-5FB5-43D1-8D63-51AD53BC32B3}" vid="{3F96F841-BC71-47CB-B1CC-BEF1F6584F8C}"/>
    </a:ext>
  </a:ext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76965</TotalTime>
  <Words>10139</Words>
  <Application>Microsoft Office PowerPoint</Application>
  <PresentationFormat>Произвольный</PresentationFormat>
  <Paragraphs>934</Paragraphs>
  <Slides>100</Slides>
  <Notes>66</Notes>
  <HiddenSlides>1</HiddenSlides>
  <MMClips>0</MMClips>
  <ScaleCrop>false</ScaleCrop>
  <HeadingPairs>
    <vt:vector size="6" baseType="variant">
      <vt:variant>
        <vt:lpstr>Использованные шрифты</vt:lpstr>
      </vt:variant>
      <vt:variant>
        <vt:i4>15</vt:i4>
      </vt:variant>
      <vt:variant>
        <vt:lpstr>Тема</vt:lpstr>
      </vt:variant>
      <vt:variant>
        <vt:i4>1</vt:i4>
      </vt:variant>
      <vt:variant>
        <vt:lpstr>Заголовки слайдов</vt:lpstr>
      </vt:variant>
      <vt:variant>
        <vt:i4>100</vt:i4>
      </vt:variant>
    </vt:vector>
  </HeadingPairs>
  <TitlesOfParts>
    <vt:vector size="116" baseType="lpstr">
      <vt:lpstr>-apple-system</vt:lpstr>
      <vt:lpstr>Arial</vt:lpstr>
      <vt:lpstr>Calibri</vt:lpstr>
      <vt:lpstr>Helvetica Neue</vt:lpstr>
      <vt:lpstr>Lucida Console</vt:lpstr>
      <vt:lpstr>MathJax_Main</vt:lpstr>
      <vt:lpstr>MathJax_Math</vt:lpstr>
      <vt:lpstr>MathJax_Math-italic</vt:lpstr>
      <vt:lpstr>PT Sans</vt:lpstr>
      <vt:lpstr>Segoe</vt:lpstr>
      <vt:lpstr>Segoe Semibold</vt:lpstr>
      <vt:lpstr>STIXGeneral</vt:lpstr>
      <vt:lpstr>Times New Roman</vt:lpstr>
      <vt:lpstr>TimesNewRomanPSMT</vt:lpstr>
      <vt:lpstr>Wingdings</vt:lpstr>
      <vt:lpstr>Texno</vt:lpstr>
      <vt:lpstr>Курс Обработка больших данных</vt:lpstr>
      <vt:lpstr>Содержание</vt:lpstr>
      <vt:lpstr>Презентация PowerPoint</vt:lpstr>
      <vt:lpstr>Презентация PowerPoint</vt:lpstr>
      <vt:lpstr>Экскурс в историю</vt:lpstr>
      <vt:lpstr>Определение  Д. Мики</vt:lpstr>
      <vt:lpstr>Декатлон</vt:lpstr>
      <vt:lpstr>Определение</vt:lpstr>
      <vt:lpstr>Презентация PowerPoint</vt:lpstr>
      <vt:lpstr>Задачи Data Analysis</vt:lpstr>
      <vt:lpstr>Задачи и инструменты  Data Analysis и Machine Learning</vt:lpstr>
      <vt:lpstr>Задачи Data Analysis</vt:lpstr>
      <vt:lpstr>Задачи и алгоритмы Data Analysis</vt:lpstr>
      <vt:lpstr>Задачи и алгоритмы Data Analysis</vt:lpstr>
      <vt:lpstr>Презентация PowerPoint</vt:lpstr>
      <vt:lpstr>Презентация PowerPoint</vt:lpstr>
      <vt:lpstr>Задачи Data Analysis</vt:lpstr>
      <vt:lpstr>Презентация PowerPoint</vt:lpstr>
      <vt:lpstr>Методы Data Analysis  Классификация задач Data Analysis</vt:lpstr>
      <vt:lpstr>Презентация PowerPoint</vt:lpstr>
      <vt:lpstr>Классификация методов Data Analysis</vt:lpstr>
      <vt:lpstr>Методы Data Analysis Технологические методы</vt:lpstr>
      <vt:lpstr>Методы Data Analysis  Статистические методы</vt:lpstr>
      <vt:lpstr>Методы Data Analysis  Кибернетические методы</vt:lpstr>
      <vt:lpstr>Методы Data Analysis  Свойства методов Data Analysis </vt:lpstr>
      <vt:lpstr>Инструментарий Data Analysis </vt:lpstr>
      <vt:lpstr>Классификация методов Data Analysis</vt:lpstr>
      <vt:lpstr>4. Кластеризация</vt:lpstr>
      <vt:lpstr>Кластеризация</vt:lpstr>
      <vt:lpstr>Кластеризация </vt:lpstr>
      <vt:lpstr>Кластеризация </vt:lpstr>
      <vt:lpstr>Кластеризация</vt:lpstr>
      <vt:lpstr>Кластеризация</vt:lpstr>
      <vt:lpstr>Кластеризация</vt:lpstr>
      <vt:lpstr>Кластеризация</vt:lpstr>
      <vt:lpstr>Кластеризация</vt:lpstr>
      <vt:lpstr>Кластеризация</vt:lpstr>
      <vt:lpstr>Кластеризация</vt:lpstr>
      <vt:lpstr>Кластеризация</vt:lpstr>
      <vt:lpstr>Кластеризация</vt:lpstr>
      <vt:lpstr>Кластеризация</vt:lpstr>
      <vt:lpstr>Презентация PowerPoint</vt:lpstr>
      <vt:lpstr>Презентация PowerPoint</vt:lpstr>
      <vt:lpstr>Кластеризация</vt:lpstr>
      <vt:lpstr>Кластеризация</vt:lpstr>
      <vt:lpstr>Кластеризация k-means</vt:lpstr>
      <vt:lpstr>Кластеризация k-means</vt:lpstr>
      <vt:lpstr>Презентация PowerPoint</vt:lpstr>
      <vt:lpstr>Презентация PowerPoint</vt:lpstr>
      <vt:lpstr>Презентация PowerPoint</vt:lpstr>
      <vt:lpstr>Кластеризация</vt:lpstr>
      <vt:lpstr>Кластеризация</vt:lpstr>
      <vt:lpstr>Кластеризация</vt:lpstr>
      <vt:lpstr>Кластеризация</vt:lpstr>
      <vt:lpstr>Алгоритмы кластерного анализа</vt:lpstr>
      <vt:lpstr>Алгоритмы кластерного анализа</vt:lpstr>
      <vt:lpstr>Алгоритм кластерного анализа</vt:lpstr>
      <vt:lpstr>Алгоритмы кластерного анализа</vt:lpstr>
      <vt:lpstr>Алгоритмы кластерного анализа</vt:lpstr>
      <vt:lpstr>Алгоритмы кластерного анализа</vt:lpstr>
      <vt:lpstr>Участие аналитика</vt:lpstr>
      <vt:lpstr>Участие аналитика</vt:lpstr>
      <vt:lpstr>Отбор переменных</vt:lpstr>
      <vt:lpstr>С другой стороны</vt:lpstr>
      <vt:lpstr>Вывод</vt:lpstr>
      <vt:lpstr>2. Надо ли стандартизировать переменные?</vt:lpstr>
      <vt:lpstr>2. Надо ли стандартизировать переменные?</vt:lpstr>
      <vt:lpstr>Презентация PowerPoint</vt:lpstr>
      <vt:lpstr>Презентация PowerPoint</vt:lpstr>
      <vt:lpstr>Презентация PowerPoint</vt:lpstr>
      <vt:lpstr>Презентация PowerPoint</vt:lpstr>
      <vt:lpstr>Презентация PowerPoint</vt:lpstr>
      <vt:lpstr>Входные данные:  потребление протеинов  в Европе</vt:lpstr>
      <vt:lpstr>Задача:</vt:lpstr>
      <vt:lpstr>Нормализация?</vt:lpstr>
      <vt:lpstr>Нормализация</vt:lpstr>
      <vt:lpstr>Нормализация</vt:lpstr>
      <vt:lpstr>Выделение кластеров</vt:lpstr>
      <vt:lpstr>Выделение кластеров</vt:lpstr>
      <vt:lpstr>Выделение кластеров</vt:lpstr>
      <vt:lpstr>Построение дендрограммы</vt:lpstr>
      <vt:lpstr>Построение дендрограммы</vt:lpstr>
      <vt:lpstr>Построение дендрограммы</vt:lpstr>
      <vt:lpstr>Построение дендрограммы</vt:lpstr>
      <vt:lpstr>Построение дендрограммы</vt:lpstr>
      <vt:lpstr>Кластеризация k-means</vt:lpstr>
      <vt:lpstr>Презентация PowerPoint</vt:lpstr>
      <vt:lpstr>Нумерация кластеров</vt:lpstr>
      <vt:lpstr>Презентация PowerPoint</vt:lpstr>
      <vt:lpstr>Далее, сравниваем потребление в разных кластерах</vt:lpstr>
      <vt:lpstr>Презентация PowerPoint</vt:lpstr>
      <vt:lpstr>Презентация PowerPoint</vt:lpstr>
      <vt:lpstr>Презентация PowerPoint</vt:lpstr>
      <vt:lpstr>Презентация PowerPoint</vt:lpstr>
      <vt:lpstr>k -средние против иерархической кластеризации</vt:lpstr>
      <vt:lpstr>k -средние против иерархической кластеризации</vt:lpstr>
      <vt:lpstr>Задание</vt:lpstr>
      <vt:lpstr>Задание</vt:lpstr>
      <vt:lpstr>Задание</vt:lpstr>
      <vt:lpstr>Презентация PowerPoint</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Обработка больших данных</dc:title>
  <dc:creator>Tatyana</dc:creator>
  <cp:lastModifiedBy>Tatyana</cp:lastModifiedBy>
  <cp:revision>426</cp:revision>
  <dcterms:created xsi:type="dcterms:W3CDTF">2015-01-17T09:44:41Z</dcterms:created>
  <dcterms:modified xsi:type="dcterms:W3CDTF">2026-03-19T10:46:17Z</dcterms:modified>
</cp:coreProperties>
</file>