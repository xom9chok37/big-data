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84"/>
  </p:notesMasterIdLst>
  <p:sldIdLst>
    <p:sldId id="259" r:id="rId2"/>
    <p:sldId id="260" r:id="rId3"/>
    <p:sldId id="283" r:id="rId4"/>
    <p:sldId id="310" r:id="rId5"/>
    <p:sldId id="284" r:id="rId6"/>
    <p:sldId id="285" r:id="rId7"/>
    <p:sldId id="297" r:id="rId8"/>
    <p:sldId id="286" r:id="rId9"/>
    <p:sldId id="332" r:id="rId10"/>
    <p:sldId id="397" r:id="rId11"/>
    <p:sldId id="398" r:id="rId12"/>
    <p:sldId id="400" r:id="rId13"/>
    <p:sldId id="401" r:id="rId14"/>
    <p:sldId id="291" r:id="rId15"/>
    <p:sldId id="337" r:id="rId16"/>
    <p:sldId id="338" r:id="rId17"/>
    <p:sldId id="339" r:id="rId18"/>
    <p:sldId id="340" r:id="rId19"/>
    <p:sldId id="341" r:id="rId20"/>
    <p:sldId id="342" r:id="rId21"/>
    <p:sldId id="314" r:id="rId22"/>
    <p:sldId id="316" r:id="rId23"/>
    <p:sldId id="317" r:id="rId24"/>
    <p:sldId id="345" r:id="rId25"/>
    <p:sldId id="346" r:id="rId26"/>
    <p:sldId id="298" r:id="rId27"/>
    <p:sldId id="405" r:id="rId28"/>
    <p:sldId id="406" r:id="rId29"/>
    <p:sldId id="319" r:id="rId30"/>
    <p:sldId id="347" r:id="rId31"/>
    <p:sldId id="348" r:id="rId32"/>
    <p:sldId id="349" r:id="rId33"/>
    <p:sldId id="350" r:id="rId34"/>
    <p:sldId id="408" r:id="rId35"/>
    <p:sldId id="409" r:id="rId36"/>
    <p:sldId id="352" r:id="rId37"/>
    <p:sldId id="351" r:id="rId38"/>
    <p:sldId id="410" r:id="rId39"/>
    <p:sldId id="411" r:id="rId40"/>
    <p:sldId id="402" r:id="rId41"/>
    <p:sldId id="353" r:id="rId42"/>
    <p:sldId id="404" r:id="rId43"/>
    <p:sldId id="355" r:id="rId44"/>
    <p:sldId id="356" r:id="rId45"/>
    <p:sldId id="357" r:id="rId46"/>
    <p:sldId id="361" r:id="rId47"/>
    <p:sldId id="360" r:id="rId48"/>
    <p:sldId id="362" r:id="rId49"/>
    <p:sldId id="363" r:id="rId50"/>
    <p:sldId id="364" r:id="rId51"/>
    <p:sldId id="365" r:id="rId52"/>
    <p:sldId id="366" r:id="rId53"/>
    <p:sldId id="367" r:id="rId54"/>
    <p:sldId id="368" r:id="rId55"/>
    <p:sldId id="369" r:id="rId56"/>
    <p:sldId id="370" r:id="rId57"/>
    <p:sldId id="371" r:id="rId58"/>
    <p:sldId id="373" r:id="rId59"/>
    <p:sldId id="374" r:id="rId60"/>
    <p:sldId id="377" r:id="rId61"/>
    <p:sldId id="378" r:id="rId62"/>
    <p:sldId id="379" r:id="rId63"/>
    <p:sldId id="412" r:id="rId64"/>
    <p:sldId id="375" r:id="rId65"/>
    <p:sldId id="376" r:id="rId66"/>
    <p:sldId id="380" r:id="rId67"/>
    <p:sldId id="381" r:id="rId68"/>
    <p:sldId id="382" r:id="rId69"/>
    <p:sldId id="383" r:id="rId70"/>
    <p:sldId id="384" r:id="rId71"/>
    <p:sldId id="385" r:id="rId72"/>
    <p:sldId id="386" r:id="rId73"/>
    <p:sldId id="388" r:id="rId74"/>
    <p:sldId id="389" r:id="rId75"/>
    <p:sldId id="391" r:id="rId76"/>
    <p:sldId id="392" r:id="rId77"/>
    <p:sldId id="394" r:id="rId78"/>
    <p:sldId id="393" r:id="rId79"/>
    <p:sldId id="395" r:id="rId80"/>
    <p:sldId id="403" r:id="rId81"/>
    <p:sldId id="407" r:id="rId82"/>
    <p:sldId id="335" r:id="rId83"/>
  </p:sldIdLst>
  <p:sldSz cx="12668250" cy="7126288"/>
  <p:notesSz cx="6858000" cy="9144000"/>
  <p:defaultTextStyle>
    <a:defPPr>
      <a:defRPr lang="ru-RU"/>
    </a:defPPr>
    <a:lvl1pPr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45" userDrawn="1">
          <p15:clr>
            <a:srgbClr val="A4A3A4"/>
          </p15:clr>
        </p15:guide>
        <p15:guide id="2" pos="39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CCF3"/>
    <a:srgbClr val="FF3300"/>
    <a:srgbClr val="DEFBFE"/>
    <a:srgbClr val="E0F8FC"/>
    <a:srgbClr val="CCECFF"/>
    <a:srgbClr val="66FFFF"/>
    <a:srgbClr val="E5F6F7"/>
    <a:srgbClr val="C1E4F5"/>
    <a:srgbClr val="C8ECEE"/>
    <a:srgbClr val="EAF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129" autoAdjust="0"/>
  </p:normalViewPr>
  <p:slideViewPr>
    <p:cSldViewPr>
      <p:cViewPr varScale="1">
        <p:scale>
          <a:sx n="88" d="100"/>
          <a:sy n="88" d="100"/>
        </p:scale>
        <p:origin x="422" y="82"/>
      </p:cViewPr>
      <p:guideLst>
        <p:guide orient="horz" pos="2245"/>
        <p:guide pos="399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ru-RU" altLang="ru-RU"/>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ru-RU" altLang="ru-RU"/>
          </a:p>
        </p:txBody>
      </p:sp>
      <p:sp>
        <p:nvSpPr>
          <p:cNvPr id="7172"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ru-RU" altLang="ru-RU"/>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7E47F37-5C77-476F-B121-68F204B37E46}" type="slidenum">
              <a:rPr lang="ru-RU" altLang="ru-RU"/>
              <a:pPr/>
              <a:t>‹#›</a:t>
            </a:fld>
            <a:endParaRPr lang="ru-RU" altLang="ru-RU"/>
          </a:p>
        </p:txBody>
      </p:sp>
    </p:spTree>
    <p:extLst>
      <p:ext uri="{BB962C8B-B14F-4D97-AF65-F5344CB8AC3E}">
        <p14:creationId xmlns:p14="http://schemas.microsoft.com/office/powerpoint/2010/main" val="150871251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ACB9FA9-3657-427C-896E-6F1183D7C5BC}" type="slidenum">
              <a:rPr lang="ru-RU" altLang="ru-RU"/>
              <a:pPr/>
              <a:t>1</a:t>
            </a:fld>
            <a:endParaRPr lang="ru-RU" altLang="ru-RU"/>
          </a:p>
        </p:txBody>
      </p:sp>
      <p:sp>
        <p:nvSpPr>
          <p:cNvPr id="11266" name="Образ слайда 1"/>
          <p:cNvSpPr>
            <a:spLocks noGrp="1" noRot="1" noChangeAspect="1" noTextEdit="1"/>
          </p:cNvSpPr>
          <p:nvPr>
            <p:ph type="sldImg"/>
          </p:nvPr>
        </p:nvSpPr>
        <p:spPr>
          <a:xfrm>
            <a:off x="382588" y="685800"/>
            <a:ext cx="6092825" cy="3429000"/>
          </a:xfrm>
          <a:ln/>
        </p:spPr>
      </p:sp>
      <p:sp>
        <p:nvSpPr>
          <p:cNvPr id="11267" name="Заметки 2"/>
          <p:cNvSpPr>
            <a:spLocks noGrp="1"/>
          </p:cNvSpPr>
          <p:nvPr>
            <p:ph type="body" idx="1"/>
          </p:nvPr>
        </p:nvSpPr>
        <p:spPr/>
        <p:txBody>
          <a:bodyPr/>
          <a:lstStyle/>
          <a:p>
            <a:pPr>
              <a:spcBef>
                <a:spcPct val="0"/>
              </a:spcBef>
            </a:pPr>
            <a:endParaRPr lang="ru-RU" altLang="ru-RU">
              <a:latin typeface="Lucida Console" panose="020B0609040504020204" pitchFamily="49" charset="0"/>
            </a:endParaRPr>
          </a:p>
        </p:txBody>
      </p:sp>
      <p:sp>
        <p:nvSpPr>
          <p:cNvPr id="11268"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2CAC88FE-8E93-49A6-8E9E-158B61C9C0C4}" type="slidenum">
              <a:rPr lang="ru-RU" altLang="ru-RU" sz="1200">
                <a:latin typeface="Calibri" panose="020F0502020204030204" pitchFamily="34" charset="0"/>
              </a:rPr>
              <a:pPr algn="r"/>
              <a:t>1</a:t>
            </a:fld>
            <a:endParaRPr lang="ru-RU" altLang="ru-RU" sz="1200">
              <a:latin typeface="Calibri" panose="020F0502020204030204" pitchFamily="34" charset="0"/>
            </a:endParaRPr>
          </a:p>
        </p:txBody>
      </p:sp>
    </p:spTree>
    <p:extLst>
      <p:ext uri="{BB962C8B-B14F-4D97-AF65-F5344CB8AC3E}">
        <p14:creationId xmlns:p14="http://schemas.microsoft.com/office/powerpoint/2010/main" val="28600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D0EB0C5-E645-42CC-B732-4D4B6A3000B1}" type="slidenum">
              <a:rPr lang="ru-RU" altLang="ru-RU"/>
              <a:pPr/>
              <a:t>3</a:t>
            </a:fld>
            <a:endParaRPr lang="ru-RU" altLang="ru-RU"/>
          </a:p>
        </p:txBody>
      </p:sp>
      <p:sp>
        <p:nvSpPr>
          <p:cNvPr id="58370" name="Образ слайда 1"/>
          <p:cNvSpPr>
            <a:spLocks noGrp="1" noRot="1" noChangeAspect="1" noTextEdit="1"/>
          </p:cNvSpPr>
          <p:nvPr>
            <p:ph type="sldImg"/>
          </p:nvPr>
        </p:nvSpPr>
        <p:spPr>
          <a:xfrm>
            <a:off x="382588" y="685800"/>
            <a:ext cx="6092825" cy="3429000"/>
          </a:xfrm>
          <a:ln/>
        </p:spPr>
      </p:sp>
      <p:sp>
        <p:nvSpPr>
          <p:cNvPr id="58371" name="Заметки 2"/>
          <p:cNvSpPr>
            <a:spLocks noGrp="1"/>
          </p:cNvSpPr>
          <p:nvPr>
            <p:ph type="body" idx="1"/>
          </p:nvPr>
        </p:nvSpPr>
        <p:spPr/>
        <p:txBody>
          <a:bodyPr/>
          <a:lstStyle/>
          <a:p>
            <a:pPr>
              <a:spcBef>
                <a:spcPct val="0"/>
              </a:spcBef>
            </a:pPr>
            <a:endParaRPr lang="ru-RU" altLang="ru-RU" sz="900" dirty="0">
              <a:latin typeface="Lucida Console" panose="020B0609040504020204" pitchFamily="49" charset="0"/>
            </a:endParaRPr>
          </a:p>
        </p:txBody>
      </p:sp>
      <p:sp>
        <p:nvSpPr>
          <p:cNvPr id="58372"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4EDFB56E-B478-41D3-986E-C74075A8004D}" type="slidenum">
              <a:rPr lang="ru-RU" altLang="ru-RU" sz="1200">
                <a:latin typeface="Calibri" panose="020F0502020204030204" pitchFamily="34" charset="0"/>
              </a:rPr>
              <a:pPr algn="r"/>
              <a:t>3</a:t>
            </a:fld>
            <a:endParaRPr lang="ru-RU" altLang="ru-RU" sz="1200">
              <a:latin typeface="Calibri" panose="020F0502020204030204" pitchFamily="34" charset="0"/>
            </a:endParaRPr>
          </a:p>
        </p:txBody>
      </p:sp>
    </p:spTree>
    <p:extLst>
      <p:ext uri="{BB962C8B-B14F-4D97-AF65-F5344CB8AC3E}">
        <p14:creationId xmlns:p14="http://schemas.microsoft.com/office/powerpoint/2010/main" val="1925709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18AE67E-8E15-472E-8685-CE372AA297BE}" type="slidenum">
              <a:rPr lang="ru-RU" altLang="ru-RU"/>
              <a:pPr/>
              <a:t>4</a:t>
            </a:fld>
            <a:endParaRPr lang="ru-RU" altLang="ru-RU"/>
          </a:p>
        </p:txBody>
      </p:sp>
      <p:sp>
        <p:nvSpPr>
          <p:cNvPr id="102402" name="Образ слайда 1"/>
          <p:cNvSpPr>
            <a:spLocks noGrp="1" noRot="1" noChangeAspect="1" noTextEdit="1"/>
          </p:cNvSpPr>
          <p:nvPr>
            <p:ph type="sldImg"/>
          </p:nvPr>
        </p:nvSpPr>
        <p:spPr>
          <a:xfrm>
            <a:off x="382588" y="685800"/>
            <a:ext cx="6092825" cy="3429000"/>
          </a:xfrm>
          <a:ln/>
        </p:spPr>
      </p:sp>
      <p:sp>
        <p:nvSpPr>
          <p:cNvPr id="102403" name="Заметки 2"/>
          <p:cNvSpPr>
            <a:spLocks noGrp="1"/>
          </p:cNvSpPr>
          <p:nvPr>
            <p:ph type="body" idx="1"/>
          </p:nvPr>
        </p:nvSpPr>
        <p:spPr/>
        <p:txBody>
          <a:bodyPr/>
          <a:lstStyle/>
          <a:p>
            <a:pPr>
              <a:spcBef>
                <a:spcPct val="0"/>
              </a:spcBef>
            </a:pPr>
            <a:endParaRPr lang="ru-RU" altLang="ru-RU" sz="900" dirty="0">
              <a:latin typeface="Lucida Console" panose="020B0609040504020204" pitchFamily="49" charset="0"/>
            </a:endParaRPr>
          </a:p>
        </p:txBody>
      </p:sp>
      <p:sp>
        <p:nvSpPr>
          <p:cNvPr id="102404"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F66F8DE1-4CD3-4095-9BFE-F9595E6EE496}" type="slidenum">
              <a:rPr lang="ru-RU" altLang="ru-RU" sz="1200">
                <a:latin typeface="Calibri" panose="020F0502020204030204" pitchFamily="34" charset="0"/>
              </a:rPr>
              <a:pPr algn="r"/>
              <a:t>4</a:t>
            </a:fld>
            <a:endParaRPr lang="ru-RU" altLang="ru-RU" sz="1200">
              <a:latin typeface="Calibri" panose="020F0502020204030204" pitchFamily="34" charset="0"/>
            </a:endParaRPr>
          </a:p>
        </p:txBody>
      </p:sp>
    </p:spTree>
    <p:extLst>
      <p:ext uri="{BB962C8B-B14F-4D97-AF65-F5344CB8AC3E}">
        <p14:creationId xmlns:p14="http://schemas.microsoft.com/office/powerpoint/2010/main" val="874136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1B1F308-C4D5-4B30-AD75-D8D7FC43F27C}" type="slidenum">
              <a:rPr lang="ru-RU" altLang="ru-RU"/>
              <a:pPr/>
              <a:t>5</a:t>
            </a:fld>
            <a:endParaRPr lang="ru-RU" altLang="ru-RU"/>
          </a:p>
        </p:txBody>
      </p:sp>
      <p:sp>
        <p:nvSpPr>
          <p:cNvPr id="60418" name="Образ слайда 1"/>
          <p:cNvSpPr>
            <a:spLocks noGrp="1" noRot="1" noChangeAspect="1" noTextEdit="1"/>
          </p:cNvSpPr>
          <p:nvPr>
            <p:ph type="sldImg"/>
          </p:nvPr>
        </p:nvSpPr>
        <p:spPr>
          <a:xfrm>
            <a:off x="382588" y="685800"/>
            <a:ext cx="6092825" cy="3429000"/>
          </a:xfrm>
          <a:ln/>
        </p:spPr>
      </p:sp>
      <p:sp>
        <p:nvSpPr>
          <p:cNvPr id="60419" name="Заметки 2"/>
          <p:cNvSpPr>
            <a:spLocks noGrp="1"/>
          </p:cNvSpPr>
          <p:nvPr>
            <p:ph type="body" idx="1"/>
          </p:nvPr>
        </p:nvSpPr>
        <p:spPr/>
        <p:txBody>
          <a:bodyPr/>
          <a:lstStyle/>
          <a:p>
            <a:pPr>
              <a:spcBef>
                <a:spcPct val="0"/>
              </a:spcBef>
            </a:pPr>
            <a:r>
              <a:rPr lang="ru-RU" altLang="ru-RU" dirty="0"/>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a:t>
            </a:r>
            <a:r>
              <a:rPr lang="en-US" altLang="ru-RU" dirty="0"/>
              <a:t>CRISP</a:t>
            </a:r>
            <a:r>
              <a:rPr lang="ru-RU" altLang="ru-RU" dirty="0"/>
              <a:t>-</a:t>
            </a:r>
            <a:r>
              <a:rPr lang="en-US" altLang="ru-RU" dirty="0"/>
              <a:t>DM</a:t>
            </a:r>
            <a:r>
              <a:rPr lang="ru-RU" altLang="ru-RU" dirty="0"/>
              <a:t>. Здесь есть как процессы загрузки, анализа так и представления результатов. …</a:t>
            </a:r>
          </a:p>
          <a:p>
            <a:pPr>
              <a:spcBef>
                <a:spcPct val="0"/>
              </a:spcBef>
            </a:pPr>
            <a:r>
              <a:rPr lang="ru-RU" altLang="ru-RU" dirty="0"/>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a:t>
            </a:r>
            <a:r>
              <a:rPr lang="en-US" altLang="ru-RU" dirty="0"/>
              <a:t>ETL</a:t>
            </a:r>
            <a:r>
              <a:rPr lang="ru-RU" altLang="ru-RU" dirty="0"/>
              <a:t>. Нам надо рассмотреть, где именно хранятся эти данные, реализован ли там интерфейс </a:t>
            </a:r>
            <a:r>
              <a:rPr lang="en-US" altLang="ru-RU" dirty="0"/>
              <a:t>MapReduce</a:t>
            </a:r>
            <a:r>
              <a:rPr lang="ru-RU" altLang="ru-RU" dirty="0"/>
              <a:t>?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p>
          <a:p>
            <a:pPr>
              <a:spcBef>
                <a:spcPct val="0"/>
              </a:spcBef>
            </a:pPr>
            <a:r>
              <a:rPr lang="ru-RU" altLang="ru-RU" dirty="0"/>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p>
          <a:p>
            <a:pPr>
              <a:spcBef>
                <a:spcPct val="0"/>
              </a:spcBef>
            </a:pPr>
            <a:r>
              <a:rPr lang="ru-RU" altLang="ru-RU" dirty="0"/>
              <a:t> </a:t>
            </a:r>
          </a:p>
          <a:p>
            <a:pPr>
              <a:spcBef>
                <a:spcPct val="0"/>
              </a:spcBef>
            </a:pPr>
            <a:r>
              <a:rPr lang="ru-RU" altLang="ru-RU" dirty="0"/>
              <a:t>Мы уже поняли, что для извлечения данных необходимо использовать массово-параллельные вычисления, например </a:t>
            </a:r>
            <a:r>
              <a:rPr lang="en-US" altLang="ru-RU" dirty="0"/>
              <a:t>MapReduce</a:t>
            </a:r>
            <a:r>
              <a:rPr lang="ru-RU" altLang="ru-RU" dirty="0"/>
              <a:t>. Т.е. в любом проекте с большими данными нам следует помнить о времени исполнения процесса. Чтобы он не затягивался на месяцы </a:t>
            </a:r>
            <a:r>
              <a:rPr lang="ru-RU" altLang="ru-RU" dirty="0">
                <a:sym typeface="Wingdings" panose="05000000000000000000" pitchFamily="2" charset="2"/>
              </a:rPr>
              <a:t></a:t>
            </a:r>
            <a:r>
              <a:rPr lang="ru-RU" altLang="ru-RU" dirty="0"/>
              <a:t>.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a:t>
            </a:r>
            <a:r>
              <a:rPr lang="en-US" altLang="ru-RU" dirty="0"/>
              <a:t>MapReduce</a:t>
            </a:r>
            <a:r>
              <a:rPr lang="ru-RU" altLang="ru-RU" dirty="0"/>
              <a:t> или использовав надстройки над системами кластерных вычислений. Существует ряд решений СУБД, также реализующих парадигму </a:t>
            </a:r>
            <a:r>
              <a:rPr lang="en-US" altLang="ru-RU" dirty="0"/>
              <a:t>MapReduce</a:t>
            </a:r>
            <a:r>
              <a:rPr lang="ru-RU" altLang="ru-RU" dirty="0"/>
              <a:t>, такие как </a:t>
            </a:r>
            <a:r>
              <a:rPr lang="ru-RU" altLang="ru-RU" dirty="0" err="1"/>
              <a:t>Cassandra</a:t>
            </a:r>
            <a:r>
              <a:rPr lang="ru-RU" altLang="ru-RU" dirty="0"/>
              <a:t>, </a:t>
            </a:r>
            <a:r>
              <a:rPr lang="ru-RU" altLang="ru-RU" dirty="0" err="1"/>
              <a:t>MongoDB</a:t>
            </a:r>
            <a:r>
              <a:rPr lang="ru-RU" altLang="ru-RU" dirty="0"/>
              <a:t>. Они позволяют оперировать данными не слишком задумываясь, как они расположены в кластере. Также есть библиотека </a:t>
            </a:r>
            <a:r>
              <a:rPr lang="en-US" altLang="ru-RU" dirty="0"/>
              <a:t>Mahout</a:t>
            </a:r>
            <a:r>
              <a:rPr lang="ru-RU" altLang="ru-RU" dirty="0"/>
              <a:t> от </a:t>
            </a:r>
            <a:r>
              <a:rPr lang="en-US" altLang="ru-RU" dirty="0"/>
              <a:t>Apache</a:t>
            </a:r>
            <a:r>
              <a:rPr lang="ru-RU" altLang="ru-RU" dirty="0"/>
              <a:t> для интеллектуального анализа данных на кластере </a:t>
            </a:r>
            <a:r>
              <a:rPr lang="en-US" altLang="ru-RU" dirty="0"/>
              <a:t>Hadoop</a:t>
            </a:r>
            <a:r>
              <a:rPr lang="ru-RU" altLang="ru-RU" dirty="0"/>
              <a:t>.</a:t>
            </a:r>
          </a:p>
          <a:p>
            <a:pPr>
              <a:spcBef>
                <a:spcPct val="0"/>
              </a:spcBef>
            </a:pPr>
            <a:r>
              <a:rPr lang="ru-RU" altLang="ru-RU" dirty="0"/>
              <a:t> </a:t>
            </a:r>
          </a:p>
          <a:p>
            <a:pPr>
              <a:spcBef>
                <a:spcPct val="0"/>
              </a:spcBef>
            </a:pPr>
            <a:r>
              <a:rPr lang="ru-RU" altLang="ru-RU" dirty="0"/>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p>
        </p:txBody>
      </p:sp>
      <p:sp>
        <p:nvSpPr>
          <p:cNvPr id="60420"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5005E5C7-55D3-4795-91E5-000E9BD29960}" type="slidenum">
              <a:rPr lang="ru-RU" altLang="ru-RU" sz="1200">
                <a:latin typeface="Calibri" panose="020F0502020204030204" pitchFamily="34" charset="0"/>
              </a:rPr>
              <a:pPr algn="r"/>
              <a:t>5</a:t>
            </a:fld>
            <a:endParaRPr lang="ru-RU" altLang="ru-RU" sz="1200">
              <a:latin typeface="Calibri" panose="020F0502020204030204" pitchFamily="34" charset="0"/>
            </a:endParaRPr>
          </a:p>
        </p:txBody>
      </p:sp>
    </p:spTree>
    <p:extLst>
      <p:ext uri="{BB962C8B-B14F-4D97-AF65-F5344CB8AC3E}">
        <p14:creationId xmlns:p14="http://schemas.microsoft.com/office/powerpoint/2010/main" val="3087367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751C0C8-3313-48AE-B50B-72DAA81ABAB2}" type="slidenum">
              <a:rPr lang="ru-RU" altLang="ru-RU"/>
              <a:pPr/>
              <a:t>7</a:t>
            </a:fld>
            <a:endParaRPr lang="ru-RU" altLang="ru-RU"/>
          </a:p>
        </p:txBody>
      </p:sp>
      <p:sp>
        <p:nvSpPr>
          <p:cNvPr id="81922" name="Образ слайда 1"/>
          <p:cNvSpPr>
            <a:spLocks noGrp="1" noRot="1" noChangeAspect="1" noTextEdit="1"/>
          </p:cNvSpPr>
          <p:nvPr>
            <p:ph type="sldImg"/>
          </p:nvPr>
        </p:nvSpPr>
        <p:spPr>
          <a:xfrm>
            <a:off x="382588" y="685800"/>
            <a:ext cx="6092825" cy="3429000"/>
          </a:xfrm>
          <a:ln/>
        </p:spPr>
      </p:sp>
      <p:sp>
        <p:nvSpPr>
          <p:cNvPr id="81923" name="Заметки 2"/>
          <p:cNvSpPr>
            <a:spLocks noGrp="1"/>
          </p:cNvSpPr>
          <p:nvPr>
            <p:ph type="body" idx="1"/>
          </p:nvPr>
        </p:nvSpPr>
        <p:spPr/>
        <p:txBody>
          <a:bodyPr/>
          <a:lstStyle/>
          <a:p>
            <a:pPr>
              <a:spcBef>
                <a:spcPct val="0"/>
              </a:spcBef>
            </a:pPr>
            <a:r>
              <a:rPr lang="ru-RU" altLang="ru-RU" sz="1400"/>
              <a:t>Большие данные позволяют нам отойти от некоторых традиционных схем принятия решений и больше положиться на статистические методы. Если Вы видите, что предложенная Вами схема не работает в нескольких случаях, это ещё не повод её отклонять. Может быть количество случаев неработоспособности схемы составляет более 2%. Тогда эта схема очень даже работоспособна.</a:t>
            </a:r>
          </a:p>
          <a:p>
            <a:pPr>
              <a:spcBef>
                <a:spcPct val="0"/>
              </a:spcBef>
            </a:pPr>
            <a:endParaRPr lang="ru-RU" altLang="ru-RU" sz="1400"/>
          </a:p>
          <a:p>
            <a:pPr>
              <a:spcBef>
                <a:spcPct val="0"/>
              </a:spcBef>
            </a:pPr>
            <a:r>
              <a:rPr lang="ru-RU" altLang="ru-RU" sz="1400"/>
              <a:t>Это значит, что нам не надо обращать внимание на детали. И конечно же необходима культура, чтобы все гипотезы проверять на объёме данных. Ни одна гипотеза не может быть принята или отклонена на основе лишь её кажущейся правдоподобности. Что это значит на практике? Значит, что в процессе предварительного и глубинного анализа данных необходимо все гипотезы фиксировать и проверять. Выводы могут быть сделаны только на основе проверенных гипотез. Как это выглядит в работе аналитика: вот я обозреваю таблицу с данными. Я строю диаграмму и вижу, что часть данных обладает закономерностью. Но это я только вижу. Чтобы сделать заключение об этой закономерности, я сначала явно её формулирую, записываю. Затем перевожу в математический критерий, и запускаю алгоритм, выполняющий этот критерий, подчитываю количество объектов, которые подтверждают мою гипотезу и тех, кто опровергает. Вот это соотношение и является доказательством верности гипотезы.</a:t>
            </a:r>
          </a:p>
          <a:p>
            <a:pPr>
              <a:spcBef>
                <a:spcPct val="0"/>
              </a:spcBef>
            </a:pPr>
            <a:endParaRPr lang="ru-RU" altLang="ru-RU"/>
          </a:p>
        </p:txBody>
      </p:sp>
      <p:sp>
        <p:nvSpPr>
          <p:cNvPr id="81924"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E2F4607-DB07-4784-9D87-DAEE63634608}" type="slidenum">
              <a:rPr lang="ru-RU" altLang="ru-RU" sz="1200">
                <a:latin typeface="Calibri" panose="020F0502020204030204" pitchFamily="34" charset="0"/>
              </a:rPr>
              <a:pPr algn="r"/>
              <a:t>7</a:t>
            </a:fld>
            <a:endParaRPr lang="ru-RU" altLang="ru-RU" sz="1200">
              <a:latin typeface="Calibri" panose="020F0502020204030204" pitchFamily="34" charset="0"/>
            </a:endParaRPr>
          </a:p>
        </p:txBody>
      </p:sp>
    </p:spTree>
    <p:extLst>
      <p:ext uri="{BB962C8B-B14F-4D97-AF65-F5344CB8AC3E}">
        <p14:creationId xmlns:p14="http://schemas.microsoft.com/office/powerpoint/2010/main" val="3853655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40818E-A815-492C-A030-869BBAF35C7E}" type="slidenum">
              <a:rPr lang="ru-RU" altLang="ru-RU"/>
              <a:pPr/>
              <a:t>8</a:t>
            </a:fld>
            <a:endParaRPr lang="ru-RU" altLang="ru-RU"/>
          </a:p>
        </p:txBody>
      </p:sp>
      <p:sp>
        <p:nvSpPr>
          <p:cNvPr id="63490" name="Образ слайда 1"/>
          <p:cNvSpPr>
            <a:spLocks noGrp="1" noRot="1" noChangeAspect="1" noTextEdit="1"/>
          </p:cNvSpPr>
          <p:nvPr>
            <p:ph type="sldImg"/>
          </p:nvPr>
        </p:nvSpPr>
        <p:spPr>
          <a:xfrm>
            <a:off x="382588" y="685800"/>
            <a:ext cx="6092825" cy="3429000"/>
          </a:xfrm>
          <a:ln/>
        </p:spPr>
      </p:sp>
      <p:sp>
        <p:nvSpPr>
          <p:cNvPr id="63491" name="Заметки 2"/>
          <p:cNvSpPr>
            <a:spLocks noGrp="1"/>
          </p:cNvSpPr>
          <p:nvPr>
            <p:ph type="body" idx="1"/>
          </p:nvPr>
        </p:nvSpPr>
        <p:spPr/>
        <p:txBody>
          <a:bodyPr/>
          <a:lstStyle/>
          <a:p>
            <a:pPr>
              <a:spcBef>
                <a:spcPct val="0"/>
              </a:spcBef>
            </a:pPr>
            <a:endParaRPr lang="ru-RU" altLang="ru-RU" dirty="0"/>
          </a:p>
        </p:txBody>
      </p:sp>
      <p:sp>
        <p:nvSpPr>
          <p:cNvPr id="63492"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D767ECD2-DC9F-4F7A-89E7-A6A61A543211}" type="slidenum">
              <a:rPr lang="ru-RU" altLang="ru-RU" sz="1200">
                <a:latin typeface="Calibri" panose="020F0502020204030204" pitchFamily="34" charset="0"/>
              </a:rPr>
              <a:pPr algn="r"/>
              <a:t>8</a:t>
            </a:fld>
            <a:endParaRPr lang="ru-RU" altLang="ru-RU" sz="1200">
              <a:latin typeface="Calibri" panose="020F0502020204030204" pitchFamily="34" charset="0"/>
            </a:endParaRPr>
          </a:p>
        </p:txBody>
      </p:sp>
    </p:spTree>
    <p:extLst>
      <p:ext uri="{BB962C8B-B14F-4D97-AF65-F5344CB8AC3E}">
        <p14:creationId xmlns:p14="http://schemas.microsoft.com/office/powerpoint/2010/main" val="2393176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1B1F308-C4D5-4B30-AD75-D8D7FC43F27C}" type="slidenum">
              <a:rPr lang="ru-RU" altLang="ru-RU"/>
              <a:pPr/>
              <a:t>10</a:t>
            </a:fld>
            <a:endParaRPr lang="ru-RU" altLang="ru-RU"/>
          </a:p>
        </p:txBody>
      </p:sp>
      <p:sp>
        <p:nvSpPr>
          <p:cNvPr id="60418" name="Образ слайда 1"/>
          <p:cNvSpPr>
            <a:spLocks noGrp="1" noRot="1" noChangeAspect="1" noTextEdit="1"/>
          </p:cNvSpPr>
          <p:nvPr>
            <p:ph type="sldImg"/>
          </p:nvPr>
        </p:nvSpPr>
        <p:spPr>
          <a:xfrm>
            <a:off x="382588" y="685800"/>
            <a:ext cx="6092825" cy="3429000"/>
          </a:xfrm>
          <a:ln/>
        </p:spPr>
      </p:sp>
      <p:sp>
        <p:nvSpPr>
          <p:cNvPr id="60419" name="Заметки 2"/>
          <p:cNvSpPr>
            <a:spLocks noGrp="1"/>
          </p:cNvSpPr>
          <p:nvPr>
            <p:ph type="body" idx="1"/>
          </p:nvPr>
        </p:nvSpPr>
        <p:spPr/>
        <p:txBody>
          <a:bodyPr/>
          <a:lstStyle/>
          <a:p>
            <a:pPr>
              <a:spcBef>
                <a:spcPct val="0"/>
              </a:spcBef>
            </a:pPr>
            <a:r>
              <a:rPr lang="ru-RU" altLang="ru-RU" dirty="0"/>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a:t>
            </a:r>
            <a:r>
              <a:rPr lang="en-US" altLang="ru-RU" dirty="0"/>
              <a:t>CRISP</a:t>
            </a:r>
            <a:r>
              <a:rPr lang="ru-RU" altLang="ru-RU" dirty="0"/>
              <a:t>-</a:t>
            </a:r>
            <a:r>
              <a:rPr lang="en-US" altLang="ru-RU" dirty="0"/>
              <a:t>DM</a:t>
            </a:r>
            <a:r>
              <a:rPr lang="ru-RU" altLang="ru-RU" dirty="0"/>
              <a:t>. Здесь есть как процессы загрузки, анализа так и представления результатов. …</a:t>
            </a:r>
          </a:p>
          <a:p>
            <a:pPr>
              <a:spcBef>
                <a:spcPct val="0"/>
              </a:spcBef>
            </a:pPr>
            <a:r>
              <a:rPr lang="ru-RU" altLang="ru-RU" dirty="0"/>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a:t>
            </a:r>
            <a:r>
              <a:rPr lang="en-US" altLang="ru-RU" dirty="0"/>
              <a:t>ETL</a:t>
            </a:r>
            <a:r>
              <a:rPr lang="ru-RU" altLang="ru-RU" dirty="0"/>
              <a:t>. Нам надо рассмотреть, где именно хранятся эти данные, реализован ли там интерфейс </a:t>
            </a:r>
            <a:r>
              <a:rPr lang="en-US" altLang="ru-RU" dirty="0"/>
              <a:t>MapReduce</a:t>
            </a:r>
            <a:r>
              <a:rPr lang="ru-RU" altLang="ru-RU" dirty="0"/>
              <a:t>?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p>
          <a:p>
            <a:pPr>
              <a:spcBef>
                <a:spcPct val="0"/>
              </a:spcBef>
            </a:pPr>
            <a:r>
              <a:rPr lang="ru-RU" altLang="ru-RU" dirty="0"/>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p>
          <a:p>
            <a:pPr>
              <a:spcBef>
                <a:spcPct val="0"/>
              </a:spcBef>
            </a:pPr>
            <a:r>
              <a:rPr lang="ru-RU" altLang="ru-RU" dirty="0"/>
              <a:t> </a:t>
            </a:r>
          </a:p>
          <a:p>
            <a:pPr>
              <a:spcBef>
                <a:spcPct val="0"/>
              </a:spcBef>
            </a:pPr>
            <a:r>
              <a:rPr lang="ru-RU" altLang="ru-RU" dirty="0"/>
              <a:t>Мы уже поняли, что для извлечения данных необходимо использовать массово-параллельные вычисления, например </a:t>
            </a:r>
            <a:r>
              <a:rPr lang="en-US" altLang="ru-RU" dirty="0"/>
              <a:t>MapReduce</a:t>
            </a:r>
            <a:r>
              <a:rPr lang="ru-RU" altLang="ru-RU" dirty="0"/>
              <a:t>. Т.е. в любом проекте с большими данными нам следует помнить о времени исполнения процесса. Чтобы он не затягивался на месяцы </a:t>
            </a:r>
            <a:r>
              <a:rPr lang="ru-RU" altLang="ru-RU" dirty="0">
                <a:sym typeface="Wingdings" panose="05000000000000000000" pitchFamily="2" charset="2"/>
              </a:rPr>
              <a:t></a:t>
            </a:r>
            <a:r>
              <a:rPr lang="ru-RU" altLang="ru-RU" dirty="0"/>
              <a:t>.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a:t>
            </a:r>
            <a:r>
              <a:rPr lang="en-US" altLang="ru-RU" dirty="0"/>
              <a:t>MapReduce</a:t>
            </a:r>
            <a:r>
              <a:rPr lang="ru-RU" altLang="ru-RU" dirty="0"/>
              <a:t> или использовав надстройки над системами кластерных вычислений. Существует ряд решений СУБД, также реализующих парадигму </a:t>
            </a:r>
            <a:r>
              <a:rPr lang="en-US" altLang="ru-RU" dirty="0"/>
              <a:t>MapReduce</a:t>
            </a:r>
            <a:r>
              <a:rPr lang="ru-RU" altLang="ru-RU" dirty="0"/>
              <a:t>, такие как </a:t>
            </a:r>
            <a:r>
              <a:rPr lang="ru-RU" altLang="ru-RU" dirty="0" err="1"/>
              <a:t>Cassandra</a:t>
            </a:r>
            <a:r>
              <a:rPr lang="ru-RU" altLang="ru-RU" dirty="0"/>
              <a:t>, </a:t>
            </a:r>
            <a:r>
              <a:rPr lang="ru-RU" altLang="ru-RU" dirty="0" err="1"/>
              <a:t>MongoDB</a:t>
            </a:r>
            <a:r>
              <a:rPr lang="ru-RU" altLang="ru-RU" dirty="0"/>
              <a:t>. Они позволяют оперировать данными не слишком задумываясь, как они расположены в кластере. Также есть библиотека </a:t>
            </a:r>
            <a:r>
              <a:rPr lang="en-US" altLang="ru-RU" dirty="0"/>
              <a:t>Mahout</a:t>
            </a:r>
            <a:r>
              <a:rPr lang="ru-RU" altLang="ru-RU" dirty="0"/>
              <a:t> от </a:t>
            </a:r>
            <a:r>
              <a:rPr lang="en-US" altLang="ru-RU" dirty="0"/>
              <a:t>Apache</a:t>
            </a:r>
            <a:r>
              <a:rPr lang="ru-RU" altLang="ru-RU" dirty="0"/>
              <a:t> для интеллектуального анализа данных на кластере </a:t>
            </a:r>
            <a:r>
              <a:rPr lang="en-US" altLang="ru-RU" dirty="0"/>
              <a:t>Hadoop</a:t>
            </a:r>
            <a:r>
              <a:rPr lang="ru-RU" altLang="ru-RU" dirty="0"/>
              <a:t>.</a:t>
            </a:r>
          </a:p>
          <a:p>
            <a:pPr>
              <a:spcBef>
                <a:spcPct val="0"/>
              </a:spcBef>
            </a:pPr>
            <a:r>
              <a:rPr lang="ru-RU" altLang="ru-RU" dirty="0"/>
              <a:t> </a:t>
            </a:r>
          </a:p>
          <a:p>
            <a:pPr>
              <a:spcBef>
                <a:spcPct val="0"/>
              </a:spcBef>
            </a:pPr>
            <a:r>
              <a:rPr lang="ru-RU" altLang="ru-RU" dirty="0"/>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p>
        </p:txBody>
      </p:sp>
      <p:sp>
        <p:nvSpPr>
          <p:cNvPr id="60420"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5005E5C7-55D3-4795-91E5-000E9BD29960}" type="slidenum">
              <a:rPr lang="ru-RU" altLang="ru-RU" sz="1200">
                <a:latin typeface="Calibri" panose="020F0502020204030204" pitchFamily="34" charset="0"/>
              </a:rPr>
              <a:pPr algn="r"/>
              <a:t>10</a:t>
            </a:fld>
            <a:endParaRPr lang="ru-RU" altLang="ru-RU" sz="1200">
              <a:latin typeface="Calibri" panose="020F0502020204030204" pitchFamily="34" charset="0"/>
            </a:endParaRPr>
          </a:p>
        </p:txBody>
      </p:sp>
    </p:spTree>
    <p:extLst>
      <p:ext uri="{BB962C8B-B14F-4D97-AF65-F5344CB8AC3E}">
        <p14:creationId xmlns:p14="http://schemas.microsoft.com/office/powerpoint/2010/main" val="4237680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1B1F308-C4D5-4B30-AD75-D8D7FC43F27C}" type="slidenum">
              <a:rPr lang="ru-RU" altLang="ru-RU"/>
              <a:pPr/>
              <a:t>11</a:t>
            </a:fld>
            <a:endParaRPr lang="ru-RU" altLang="ru-RU"/>
          </a:p>
        </p:txBody>
      </p:sp>
      <p:sp>
        <p:nvSpPr>
          <p:cNvPr id="60418" name="Образ слайда 1"/>
          <p:cNvSpPr>
            <a:spLocks noGrp="1" noRot="1" noChangeAspect="1" noTextEdit="1"/>
          </p:cNvSpPr>
          <p:nvPr>
            <p:ph type="sldImg"/>
          </p:nvPr>
        </p:nvSpPr>
        <p:spPr>
          <a:xfrm>
            <a:off x="382588" y="685800"/>
            <a:ext cx="6092825" cy="3429000"/>
          </a:xfrm>
          <a:ln/>
        </p:spPr>
      </p:sp>
      <p:sp>
        <p:nvSpPr>
          <p:cNvPr id="60419" name="Заметки 2"/>
          <p:cNvSpPr>
            <a:spLocks noGrp="1"/>
          </p:cNvSpPr>
          <p:nvPr>
            <p:ph type="body" idx="1"/>
          </p:nvPr>
        </p:nvSpPr>
        <p:spPr/>
        <p:txBody>
          <a:bodyPr/>
          <a:lstStyle/>
          <a:p>
            <a:pPr>
              <a:spcBef>
                <a:spcPct val="0"/>
              </a:spcBef>
            </a:pPr>
            <a:r>
              <a:rPr lang="ru-RU" altLang="ru-RU" dirty="0"/>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a:t>
            </a:r>
            <a:r>
              <a:rPr lang="en-US" altLang="ru-RU" dirty="0"/>
              <a:t>CRISP</a:t>
            </a:r>
            <a:r>
              <a:rPr lang="ru-RU" altLang="ru-RU" dirty="0"/>
              <a:t>-</a:t>
            </a:r>
            <a:r>
              <a:rPr lang="en-US" altLang="ru-RU" dirty="0"/>
              <a:t>DM</a:t>
            </a:r>
            <a:r>
              <a:rPr lang="ru-RU" altLang="ru-RU" dirty="0"/>
              <a:t>. Здесь есть как процессы загрузки, анализа так и представления результатов. …</a:t>
            </a:r>
          </a:p>
          <a:p>
            <a:pPr>
              <a:spcBef>
                <a:spcPct val="0"/>
              </a:spcBef>
            </a:pPr>
            <a:r>
              <a:rPr lang="ru-RU" altLang="ru-RU" dirty="0"/>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a:t>
            </a:r>
            <a:r>
              <a:rPr lang="en-US" altLang="ru-RU" dirty="0"/>
              <a:t>ETL</a:t>
            </a:r>
            <a:r>
              <a:rPr lang="ru-RU" altLang="ru-RU" dirty="0"/>
              <a:t>. Нам надо рассмотреть, где именно хранятся эти данные, реализован ли там интерфейс </a:t>
            </a:r>
            <a:r>
              <a:rPr lang="en-US" altLang="ru-RU" dirty="0"/>
              <a:t>MapReduce</a:t>
            </a:r>
            <a:r>
              <a:rPr lang="ru-RU" altLang="ru-RU" dirty="0"/>
              <a:t>?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p>
          <a:p>
            <a:pPr>
              <a:spcBef>
                <a:spcPct val="0"/>
              </a:spcBef>
            </a:pPr>
            <a:r>
              <a:rPr lang="ru-RU" altLang="ru-RU" dirty="0"/>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p>
          <a:p>
            <a:pPr>
              <a:spcBef>
                <a:spcPct val="0"/>
              </a:spcBef>
            </a:pPr>
            <a:r>
              <a:rPr lang="ru-RU" altLang="ru-RU" dirty="0"/>
              <a:t> </a:t>
            </a:r>
          </a:p>
          <a:p>
            <a:pPr>
              <a:spcBef>
                <a:spcPct val="0"/>
              </a:spcBef>
            </a:pPr>
            <a:r>
              <a:rPr lang="ru-RU" altLang="ru-RU" dirty="0"/>
              <a:t>Мы уже поняли, что для извлечения данных необходимо использовать массово-параллельные вычисления, например </a:t>
            </a:r>
            <a:r>
              <a:rPr lang="en-US" altLang="ru-RU" dirty="0"/>
              <a:t>MapReduce</a:t>
            </a:r>
            <a:r>
              <a:rPr lang="ru-RU" altLang="ru-RU" dirty="0"/>
              <a:t>. Т.е. в любом проекте с большими данными нам следует помнить о времени исполнения процесса. Чтобы он не затягивался на месяцы </a:t>
            </a:r>
            <a:r>
              <a:rPr lang="ru-RU" altLang="ru-RU" dirty="0">
                <a:sym typeface="Wingdings" panose="05000000000000000000" pitchFamily="2" charset="2"/>
              </a:rPr>
              <a:t></a:t>
            </a:r>
            <a:r>
              <a:rPr lang="ru-RU" altLang="ru-RU" dirty="0"/>
              <a:t>.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a:t>
            </a:r>
            <a:r>
              <a:rPr lang="en-US" altLang="ru-RU" dirty="0"/>
              <a:t>MapReduce</a:t>
            </a:r>
            <a:r>
              <a:rPr lang="ru-RU" altLang="ru-RU" dirty="0"/>
              <a:t> или использовав надстройки над системами кластерных вычислений. Существует ряд решений СУБД, также реализующих парадигму </a:t>
            </a:r>
            <a:r>
              <a:rPr lang="en-US" altLang="ru-RU" dirty="0"/>
              <a:t>MapReduce</a:t>
            </a:r>
            <a:r>
              <a:rPr lang="ru-RU" altLang="ru-RU" dirty="0"/>
              <a:t>, такие как </a:t>
            </a:r>
            <a:r>
              <a:rPr lang="ru-RU" altLang="ru-RU" dirty="0" err="1"/>
              <a:t>Cassandra</a:t>
            </a:r>
            <a:r>
              <a:rPr lang="ru-RU" altLang="ru-RU" dirty="0"/>
              <a:t>, </a:t>
            </a:r>
            <a:r>
              <a:rPr lang="ru-RU" altLang="ru-RU" dirty="0" err="1"/>
              <a:t>MongoDB</a:t>
            </a:r>
            <a:r>
              <a:rPr lang="ru-RU" altLang="ru-RU" dirty="0"/>
              <a:t>. Они позволяют оперировать данными не слишком задумываясь, как они расположены в кластере. Также есть библиотека </a:t>
            </a:r>
            <a:r>
              <a:rPr lang="en-US" altLang="ru-RU" dirty="0"/>
              <a:t>Mahout</a:t>
            </a:r>
            <a:r>
              <a:rPr lang="ru-RU" altLang="ru-RU" dirty="0"/>
              <a:t> от </a:t>
            </a:r>
            <a:r>
              <a:rPr lang="en-US" altLang="ru-RU" dirty="0"/>
              <a:t>Apache</a:t>
            </a:r>
            <a:r>
              <a:rPr lang="ru-RU" altLang="ru-RU" dirty="0"/>
              <a:t> для интеллектуального анализа данных на кластере </a:t>
            </a:r>
            <a:r>
              <a:rPr lang="en-US" altLang="ru-RU" dirty="0"/>
              <a:t>Hadoop</a:t>
            </a:r>
            <a:r>
              <a:rPr lang="ru-RU" altLang="ru-RU" dirty="0"/>
              <a:t>.</a:t>
            </a:r>
          </a:p>
          <a:p>
            <a:pPr>
              <a:spcBef>
                <a:spcPct val="0"/>
              </a:spcBef>
            </a:pPr>
            <a:r>
              <a:rPr lang="ru-RU" altLang="ru-RU" dirty="0"/>
              <a:t> </a:t>
            </a:r>
          </a:p>
          <a:p>
            <a:pPr>
              <a:spcBef>
                <a:spcPct val="0"/>
              </a:spcBef>
            </a:pPr>
            <a:r>
              <a:rPr lang="ru-RU" altLang="ru-RU" dirty="0"/>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p>
        </p:txBody>
      </p:sp>
      <p:sp>
        <p:nvSpPr>
          <p:cNvPr id="60420"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5005E5C7-55D3-4795-91E5-000E9BD29960}" type="slidenum">
              <a:rPr lang="ru-RU" altLang="ru-RU" sz="1200">
                <a:latin typeface="Calibri" panose="020F0502020204030204" pitchFamily="34" charset="0"/>
              </a:rPr>
              <a:pPr algn="r"/>
              <a:t>11</a:t>
            </a:fld>
            <a:endParaRPr lang="ru-RU" altLang="ru-RU" sz="1200">
              <a:latin typeface="Calibri" panose="020F0502020204030204" pitchFamily="34" charset="0"/>
            </a:endParaRPr>
          </a:p>
        </p:txBody>
      </p:sp>
    </p:spTree>
    <p:extLst>
      <p:ext uri="{BB962C8B-B14F-4D97-AF65-F5344CB8AC3E}">
        <p14:creationId xmlns:p14="http://schemas.microsoft.com/office/powerpoint/2010/main" val="604180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fld id="{0D830084-FB60-41EE-9A75-94A00648C108}" type="slidenum">
              <a:rPr lang="ru-RU" altLang="ru-RU" sz="1200" smtClean="0"/>
              <a:pPr/>
              <a:t>12</a:t>
            </a:fld>
            <a:endParaRPr lang="ru-RU" altLang="ru-RU" sz="1200"/>
          </a:p>
        </p:txBody>
      </p:sp>
      <p:sp>
        <p:nvSpPr>
          <p:cNvPr id="150531" name="Образ слайда 1"/>
          <p:cNvSpPr>
            <a:spLocks noGrp="1" noRot="1" noChangeAspect="1" noTextEdit="1"/>
          </p:cNvSpPr>
          <p:nvPr>
            <p:ph type="sldImg"/>
          </p:nvPr>
        </p:nvSpPr>
        <p:spPr>
          <a:xfrm>
            <a:off x="382588" y="685800"/>
            <a:ext cx="6092825" cy="3429000"/>
          </a:xfrm>
          <a:ln/>
        </p:spPr>
      </p:sp>
      <p:sp>
        <p:nvSpPr>
          <p:cNvPr id="150532" name="Заметки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ru-RU" altLang="ru-RU"/>
          </a:p>
        </p:txBody>
      </p:sp>
      <p:sp>
        <p:nvSpPr>
          <p:cNvPr id="150533"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r" eaLnBrk="1" hangingPunct="1"/>
            <a:fld id="{AF3E3E43-B4ED-48BE-B930-DA4F45618845}" type="slidenum">
              <a:rPr lang="ru-RU" altLang="ru-RU" sz="1200">
                <a:latin typeface="Calibri" panose="020F0502020204030204" pitchFamily="34" charset="0"/>
              </a:rPr>
              <a:pPr algn="r" eaLnBrk="1" hangingPunct="1"/>
              <a:t>12</a:t>
            </a:fld>
            <a:endParaRPr lang="ru-RU" altLang="ru-RU" sz="1200">
              <a:latin typeface="Calibri" panose="020F0502020204030204" pitchFamily="34" charset="0"/>
            </a:endParaRPr>
          </a:p>
        </p:txBody>
      </p:sp>
    </p:spTree>
    <p:extLst>
      <p:ext uri="{BB962C8B-B14F-4D97-AF65-F5344CB8AC3E}">
        <p14:creationId xmlns:p14="http://schemas.microsoft.com/office/powerpoint/2010/main" val="1504398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fld id="{2335B666-08F6-4FFF-B7A7-2A5C147A9AAA}" type="slidenum">
              <a:rPr lang="ru-RU" altLang="ru-RU" sz="1200" smtClean="0"/>
              <a:pPr/>
              <a:t>13</a:t>
            </a:fld>
            <a:endParaRPr lang="ru-RU" altLang="ru-RU" sz="1200"/>
          </a:p>
        </p:txBody>
      </p:sp>
      <p:sp>
        <p:nvSpPr>
          <p:cNvPr id="152579" name="Образ слайда 1"/>
          <p:cNvSpPr>
            <a:spLocks noGrp="1" noRot="1" noChangeAspect="1" noTextEdit="1"/>
          </p:cNvSpPr>
          <p:nvPr>
            <p:ph type="sldImg"/>
          </p:nvPr>
        </p:nvSpPr>
        <p:spPr>
          <a:xfrm>
            <a:off x="382588" y="685800"/>
            <a:ext cx="6092825" cy="3429000"/>
          </a:xfrm>
          <a:ln/>
        </p:spPr>
      </p:sp>
      <p:sp>
        <p:nvSpPr>
          <p:cNvPr id="152580" name="Заметки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ru-RU" altLang="ru-RU"/>
          </a:p>
        </p:txBody>
      </p:sp>
      <p:sp>
        <p:nvSpPr>
          <p:cNvPr id="152581"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r" eaLnBrk="1" hangingPunct="1"/>
            <a:fld id="{B6817F1A-11C1-4F17-923A-75CA1C4E6657}" type="slidenum">
              <a:rPr lang="ru-RU" altLang="ru-RU" sz="1200">
                <a:latin typeface="Calibri" panose="020F0502020204030204" pitchFamily="34" charset="0"/>
              </a:rPr>
              <a:pPr algn="r" eaLnBrk="1" hangingPunct="1"/>
              <a:t>13</a:t>
            </a:fld>
            <a:endParaRPr lang="ru-RU" altLang="ru-RU" sz="1200">
              <a:latin typeface="Calibri" panose="020F0502020204030204" pitchFamily="34" charset="0"/>
            </a:endParaRPr>
          </a:p>
        </p:txBody>
      </p:sp>
    </p:spTree>
    <p:extLst>
      <p:ext uri="{BB962C8B-B14F-4D97-AF65-F5344CB8AC3E}">
        <p14:creationId xmlns:p14="http://schemas.microsoft.com/office/powerpoint/2010/main" val="206773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86D469-968D-4102-9205-263AABF2FC34}" type="slidenum">
              <a:rPr lang="ru-RU" altLang="ru-RU"/>
              <a:pPr/>
              <a:t>15</a:t>
            </a:fld>
            <a:endParaRPr lang="ru-RU" altLang="ru-RU"/>
          </a:p>
        </p:txBody>
      </p:sp>
      <p:sp>
        <p:nvSpPr>
          <p:cNvPr id="187394" name="Rectangle 2"/>
          <p:cNvSpPr>
            <a:spLocks noGrp="1" noRot="1" noChangeAspect="1" noChangeArrowheads="1" noTextEdit="1"/>
          </p:cNvSpPr>
          <p:nvPr>
            <p:ph type="sldImg"/>
          </p:nvPr>
        </p:nvSpPr>
        <p:spPr>
          <a:xfrm>
            <a:off x="382588" y="685800"/>
            <a:ext cx="6092825" cy="3429000"/>
          </a:xfrm>
          <a:ln/>
        </p:spPr>
      </p:sp>
      <p:sp>
        <p:nvSpPr>
          <p:cNvPr id="187395" name="Rectangle 3"/>
          <p:cNvSpPr>
            <a:spLocks noGrp="1" noChangeArrowheads="1"/>
          </p:cNvSpPr>
          <p:nvPr>
            <p:ph type="body" idx="1"/>
          </p:nvPr>
        </p:nvSpPr>
        <p:spPr/>
        <p:txBody>
          <a:bodyPr/>
          <a:lstStyle/>
          <a:p>
            <a:endParaRPr lang="ru-RU" altLang="ru-RU" dirty="0"/>
          </a:p>
        </p:txBody>
      </p:sp>
    </p:spTree>
    <p:extLst>
      <p:ext uri="{BB962C8B-B14F-4D97-AF65-F5344CB8AC3E}">
        <p14:creationId xmlns:p14="http://schemas.microsoft.com/office/powerpoint/2010/main" val="3107347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027954-9943-4F19-87A3-BCB37BA7FB1C}" type="slidenum">
              <a:rPr lang="ru-RU" altLang="ru-RU"/>
              <a:pPr/>
              <a:t>16</a:t>
            </a:fld>
            <a:endParaRPr lang="ru-RU" altLang="ru-RU"/>
          </a:p>
        </p:txBody>
      </p:sp>
      <p:sp>
        <p:nvSpPr>
          <p:cNvPr id="189442" name="Rectangle 2"/>
          <p:cNvSpPr>
            <a:spLocks noGrp="1" noRot="1" noChangeAspect="1" noChangeArrowheads="1" noTextEdit="1"/>
          </p:cNvSpPr>
          <p:nvPr>
            <p:ph type="sldImg"/>
          </p:nvPr>
        </p:nvSpPr>
        <p:spPr>
          <a:xfrm>
            <a:off x="382588" y="685800"/>
            <a:ext cx="6092825" cy="3429000"/>
          </a:xfrm>
          <a:ln/>
        </p:spPr>
      </p:sp>
      <p:sp>
        <p:nvSpPr>
          <p:cNvPr id="189443" name="Rectangle 3"/>
          <p:cNvSpPr>
            <a:spLocks noGrp="1" noChangeArrowheads="1"/>
          </p:cNvSpPr>
          <p:nvPr>
            <p:ph type="body" idx="1"/>
          </p:nvPr>
        </p:nvSpPr>
        <p:spPr/>
        <p:txBody>
          <a:bodyPr/>
          <a:lstStyle/>
          <a:p>
            <a:r>
              <a:rPr lang="ru-RU" altLang="ru-RU" dirty="0"/>
              <a:t>По мере исследований выдвигается гипотеза об определенной закономерности расположения данных (протокол 1).</a:t>
            </a:r>
          </a:p>
          <a:p>
            <a:r>
              <a:rPr lang="ru-RU" altLang="ru-RU" dirty="0"/>
              <a:t>Здесь заштрихованные области – области, недопустимые для данного исследования, т.е. мы утверждаем, что в этом мире не могут встретиться факты, которые попадут в заштрихованные области – благодаря нашей гипотезе неопределенность уменьшилась.</a:t>
            </a:r>
          </a:p>
          <a:p>
            <a:r>
              <a:rPr lang="ru-RU" altLang="ru-RU" dirty="0"/>
              <a:t>Затем, набирая все больше данных, мы получаем возможность уточнить гипотезу – сузить область допустимых значений.</a:t>
            </a:r>
          </a:p>
          <a:p>
            <a:r>
              <a:rPr lang="ru-RU" altLang="ru-RU" dirty="0"/>
              <a:t>И, в конце концов приходим к функциональной зависимости, которая позволит получать прогнозируемый результат.</a:t>
            </a:r>
          </a:p>
          <a:p>
            <a:r>
              <a:rPr lang="ru-RU" altLang="ru-RU" dirty="0"/>
              <a:t>Подобный результат получил очевидно Ом, когда исследовал зависимость тока от сопротивления. Любые варианты, не попадающие в данную закономерность будут опровергать этот закон.</a:t>
            </a:r>
          </a:p>
        </p:txBody>
      </p:sp>
    </p:spTree>
    <p:extLst>
      <p:ext uri="{BB962C8B-B14F-4D97-AF65-F5344CB8AC3E}">
        <p14:creationId xmlns:p14="http://schemas.microsoft.com/office/powerpoint/2010/main" val="1774056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1B0E37-548D-4F1C-977E-E1CCC3FF3920}" type="slidenum">
              <a:rPr lang="ru-RU" altLang="ru-RU"/>
              <a:pPr/>
              <a:t>18</a:t>
            </a:fld>
            <a:endParaRPr lang="ru-RU" altLang="ru-RU"/>
          </a:p>
        </p:txBody>
      </p:sp>
      <p:sp>
        <p:nvSpPr>
          <p:cNvPr id="192514" name="Rectangle 2"/>
          <p:cNvSpPr>
            <a:spLocks noGrp="1" noRot="1" noChangeAspect="1" noChangeArrowheads="1" noTextEdit="1"/>
          </p:cNvSpPr>
          <p:nvPr>
            <p:ph type="sldImg"/>
          </p:nvPr>
        </p:nvSpPr>
        <p:spPr>
          <a:xfrm>
            <a:off x="382588" y="685800"/>
            <a:ext cx="6092825" cy="3429000"/>
          </a:xfrm>
          <a:ln/>
        </p:spPr>
      </p:sp>
      <p:sp>
        <p:nvSpPr>
          <p:cNvPr id="192515" name="Rectangle 3"/>
          <p:cNvSpPr>
            <a:spLocks noGrp="1" noChangeArrowheads="1"/>
          </p:cNvSpPr>
          <p:nvPr>
            <p:ph type="body" idx="1"/>
          </p:nvPr>
        </p:nvSpPr>
        <p:spPr/>
        <p:txBody>
          <a:bodyPr/>
          <a:lstStyle/>
          <a:p>
            <a:r>
              <a:rPr lang="ru-RU" altLang="ru-RU"/>
              <a:t>Каждый экспериментальный факт, не согласовавшийся с гипотезой формально опровергает ее, это значит, </a:t>
            </a:r>
          </a:p>
          <a:p>
            <a:r>
              <a:rPr lang="ru-RU" altLang="ru-RU"/>
              <a:t>что нужно модернизировать гипотезу, и включить в нее как допустимый тот факт, который ее опровергал. Это называется фальсификацией гипотез. </a:t>
            </a:r>
          </a:p>
        </p:txBody>
      </p:sp>
    </p:spTree>
    <p:extLst>
      <p:ext uri="{BB962C8B-B14F-4D97-AF65-F5344CB8AC3E}">
        <p14:creationId xmlns:p14="http://schemas.microsoft.com/office/powerpoint/2010/main" val="3507428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447875-2174-407B-8F8A-06ED3FBBE471}" type="slidenum">
              <a:rPr lang="ru-RU" altLang="ru-RU"/>
              <a:pPr/>
              <a:t>19</a:t>
            </a:fld>
            <a:endParaRPr lang="ru-RU" altLang="ru-RU"/>
          </a:p>
        </p:txBody>
      </p:sp>
      <p:sp>
        <p:nvSpPr>
          <p:cNvPr id="194562" name="Rectangle 2"/>
          <p:cNvSpPr>
            <a:spLocks noGrp="1" noRot="1" noChangeAspect="1" noChangeArrowheads="1" noTextEdit="1"/>
          </p:cNvSpPr>
          <p:nvPr>
            <p:ph type="sldImg"/>
          </p:nvPr>
        </p:nvSpPr>
        <p:spPr>
          <a:xfrm>
            <a:off x="382588" y="685800"/>
            <a:ext cx="6092825" cy="3429000"/>
          </a:xfrm>
          <a:ln/>
        </p:spPr>
      </p:sp>
      <p:sp>
        <p:nvSpPr>
          <p:cNvPr id="194563" name="Rectangle 3"/>
          <p:cNvSpPr>
            <a:spLocks noGrp="1" noChangeArrowheads="1"/>
          </p:cNvSpPr>
          <p:nvPr>
            <p:ph type="body" idx="1"/>
          </p:nvPr>
        </p:nvSpPr>
        <p:spPr/>
        <p:txBody>
          <a:bodyPr/>
          <a:lstStyle/>
          <a:p>
            <a:r>
              <a:rPr lang="ru-RU" altLang="ru-RU" dirty="0"/>
              <a:t>Чем больше экспериментов, подтверждающих гипотезу, тем сильнее гипотеза и тем больше в нее веры.</a:t>
            </a:r>
          </a:p>
          <a:p>
            <a:r>
              <a:rPr lang="ru-RU" altLang="ru-RU" dirty="0"/>
              <a:t>Степень подтвержденности – чем больше подтверждений, тем больше веры в гипотезу.</a:t>
            </a:r>
          </a:p>
          <a:p>
            <a:r>
              <a:rPr lang="ru-RU" altLang="ru-RU" dirty="0"/>
              <a:t>Если нет объясненности гипотезы – она не является абсолютно доказанной.</a:t>
            </a:r>
          </a:p>
          <a:p>
            <a:r>
              <a:rPr lang="ru-RU" altLang="ru-RU" dirty="0"/>
              <a:t>Форма представления: чем проще и нагляднее, тем лучше.</a:t>
            </a:r>
          </a:p>
          <a:p>
            <a:r>
              <a:rPr lang="ru-RU" altLang="ru-RU" dirty="0"/>
              <a:t>Изящество – пример – структура ДНК. В Лондоне строили модель, но она была очень некрасива – решили, что природа не могла так создать.</a:t>
            </a:r>
          </a:p>
          <a:p>
            <a:r>
              <a:rPr lang="ru-RU" altLang="ru-RU" dirty="0"/>
              <a:t>  </a:t>
            </a:r>
          </a:p>
        </p:txBody>
      </p:sp>
    </p:spTree>
    <p:extLst>
      <p:ext uri="{BB962C8B-B14F-4D97-AF65-F5344CB8AC3E}">
        <p14:creationId xmlns:p14="http://schemas.microsoft.com/office/powerpoint/2010/main" val="853880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2DAFEA-2F30-429E-B9C3-0BB90746B1E9}" type="slidenum">
              <a:rPr lang="ru-RU" altLang="ru-RU"/>
              <a:pPr/>
              <a:t>24</a:t>
            </a:fld>
            <a:endParaRPr lang="ru-RU" altLang="ru-RU"/>
          </a:p>
        </p:txBody>
      </p:sp>
      <p:sp>
        <p:nvSpPr>
          <p:cNvPr id="65538" name="Образ слайда 1"/>
          <p:cNvSpPr>
            <a:spLocks noGrp="1" noRot="1" noChangeAspect="1" noTextEdit="1"/>
          </p:cNvSpPr>
          <p:nvPr>
            <p:ph type="sldImg"/>
          </p:nvPr>
        </p:nvSpPr>
        <p:spPr>
          <a:xfrm>
            <a:off x="382588" y="685800"/>
            <a:ext cx="6092825" cy="3429000"/>
          </a:xfrm>
          <a:ln/>
        </p:spPr>
      </p:sp>
      <p:sp>
        <p:nvSpPr>
          <p:cNvPr id="65539" name="Заметки 2"/>
          <p:cNvSpPr>
            <a:spLocks noGrp="1"/>
          </p:cNvSpPr>
          <p:nvPr>
            <p:ph type="body" idx="1"/>
          </p:nvPr>
        </p:nvSpPr>
        <p:spPr/>
        <p:txBody>
          <a:bodyPr/>
          <a:lstStyle/>
          <a:p>
            <a:pPr>
              <a:spcBef>
                <a:spcPct val="0"/>
              </a:spcBef>
            </a:pPr>
            <a:r>
              <a:rPr lang="ru-RU" altLang="ru-RU" sz="1400"/>
              <a:t>То о чём мы говорили вначале лекции – это были концепции. Существуют технические решения, использующие </a:t>
            </a:r>
            <a:r>
              <a:rPr lang="en-US" altLang="ru-RU" sz="1400"/>
              <a:t>Hadoop </a:t>
            </a:r>
            <a:r>
              <a:rPr lang="ru-RU" altLang="ru-RU" sz="1400"/>
              <a:t>и </a:t>
            </a:r>
            <a:r>
              <a:rPr lang="en-US" altLang="ru-RU" sz="1400"/>
              <a:t>MapReduce</a:t>
            </a:r>
            <a:r>
              <a:rPr lang="ru-RU" altLang="ru-RU" sz="1400"/>
              <a:t>, которые включают в себя полный комплекс для ведения процесса аналитики: и систему сопряжения с хранилищем, и подсистему извлечения данных, подсистему машинного обучения и систему визуализации, представления и распространения результатов аналитики. Таковы, например, решения от </a:t>
            </a:r>
            <a:r>
              <a:rPr lang="en-US" altLang="ru-RU" sz="1400"/>
              <a:t>IBM</a:t>
            </a:r>
            <a:r>
              <a:rPr lang="ru-RU" altLang="ru-RU" sz="1400"/>
              <a:t>: </a:t>
            </a:r>
            <a:r>
              <a:rPr lang="en-US" altLang="ru-RU" sz="1400"/>
              <a:t>BigInsights</a:t>
            </a:r>
            <a:r>
              <a:rPr lang="ru-RU" altLang="ru-RU" sz="1400"/>
              <a:t>, </a:t>
            </a:r>
            <a:r>
              <a:rPr lang="en-US" altLang="ru-RU" sz="1400"/>
              <a:t>BigSheets</a:t>
            </a:r>
            <a:r>
              <a:rPr lang="ru-RU" altLang="ru-RU" sz="1400"/>
              <a:t>, </a:t>
            </a:r>
            <a:r>
              <a:rPr lang="en-US" altLang="ru-RU" sz="1400"/>
              <a:t>Stream</a:t>
            </a:r>
            <a:r>
              <a:rPr lang="ru-RU" altLang="ru-RU" sz="1400"/>
              <a:t>, решения от </a:t>
            </a:r>
            <a:r>
              <a:rPr lang="en-US" altLang="ru-RU" sz="1400"/>
              <a:t>SAP</a:t>
            </a:r>
            <a:r>
              <a:rPr lang="ru-RU" altLang="ru-RU" sz="1400"/>
              <a:t>: </a:t>
            </a:r>
            <a:r>
              <a:rPr lang="en-US" altLang="ru-RU" sz="1400"/>
              <a:t>SAP HANA</a:t>
            </a:r>
            <a:r>
              <a:rPr lang="ru-RU" altLang="ru-RU" sz="1400"/>
              <a:t>, от </a:t>
            </a:r>
            <a:r>
              <a:rPr lang="en-US" altLang="ru-RU" sz="1400"/>
              <a:t>EMC Greenplum</a:t>
            </a:r>
            <a:r>
              <a:rPr lang="ru-RU" altLang="ru-RU" sz="1400"/>
              <a:t>: </a:t>
            </a:r>
            <a:r>
              <a:rPr lang="en-US" altLang="ru-RU" sz="1400"/>
              <a:t>Chorus</a:t>
            </a:r>
            <a:r>
              <a:rPr lang="ru-RU" altLang="ru-RU" sz="1400"/>
              <a:t>.</a:t>
            </a:r>
          </a:p>
          <a:p>
            <a:pPr>
              <a:spcBef>
                <a:spcPct val="0"/>
              </a:spcBef>
            </a:pPr>
            <a:endParaRPr lang="ru-RU" altLang="ru-RU"/>
          </a:p>
        </p:txBody>
      </p:sp>
      <p:sp>
        <p:nvSpPr>
          <p:cNvPr id="65540"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720BBCB-35CF-4C8B-A6A9-0F823069E8E1}" type="slidenum">
              <a:rPr lang="ru-RU" altLang="ru-RU" sz="1200">
                <a:latin typeface="Calibri" panose="020F0502020204030204" pitchFamily="34" charset="0"/>
              </a:rPr>
              <a:pPr algn="r"/>
              <a:t>24</a:t>
            </a:fld>
            <a:endParaRPr lang="ru-RU" altLang="ru-RU" sz="1200">
              <a:latin typeface="Calibri" panose="020F0502020204030204" pitchFamily="34" charset="0"/>
            </a:endParaRPr>
          </a:p>
        </p:txBody>
      </p:sp>
    </p:spTree>
    <p:extLst>
      <p:ext uri="{BB962C8B-B14F-4D97-AF65-F5344CB8AC3E}">
        <p14:creationId xmlns:p14="http://schemas.microsoft.com/office/powerpoint/2010/main" val="1324248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72DAFEA-2F30-429E-B9C3-0BB90746B1E9}" type="slidenum">
              <a:rPr lang="ru-RU" altLang="ru-RU"/>
              <a:pPr/>
              <a:t>25</a:t>
            </a:fld>
            <a:endParaRPr lang="ru-RU" altLang="ru-RU"/>
          </a:p>
        </p:txBody>
      </p:sp>
      <p:sp>
        <p:nvSpPr>
          <p:cNvPr id="65538" name="Образ слайда 1"/>
          <p:cNvSpPr>
            <a:spLocks noGrp="1" noRot="1" noChangeAspect="1" noTextEdit="1"/>
          </p:cNvSpPr>
          <p:nvPr>
            <p:ph type="sldImg"/>
          </p:nvPr>
        </p:nvSpPr>
        <p:spPr>
          <a:xfrm>
            <a:off x="382588" y="685800"/>
            <a:ext cx="6092825" cy="3429000"/>
          </a:xfrm>
          <a:ln/>
        </p:spPr>
      </p:sp>
      <p:sp>
        <p:nvSpPr>
          <p:cNvPr id="65539" name="Заметки 2"/>
          <p:cNvSpPr>
            <a:spLocks noGrp="1"/>
          </p:cNvSpPr>
          <p:nvPr>
            <p:ph type="body" idx="1"/>
          </p:nvPr>
        </p:nvSpPr>
        <p:spPr/>
        <p:txBody>
          <a:bodyPr/>
          <a:lstStyle/>
          <a:p>
            <a:pPr>
              <a:spcBef>
                <a:spcPct val="0"/>
              </a:spcBef>
            </a:pPr>
            <a:r>
              <a:rPr lang="ru-RU" altLang="ru-RU" sz="1400"/>
              <a:t>То о чём мы говорили вначале лекции – это были концепции. Существуют технические решения, использующие </a:t>
            </a:r>
            <a:r>
              <a:rPr lang="en-US" altLang="ru-RU" sz="1400"/>
              <a:t>Hadoop </a:t>
            </a:r>
            <a:r>
              <a:rPr lang="ru-RU" altLang="ru-RU" sz="1400"/>
              <a:t>и </a:t>
            </a:r>
            <a:r>
              <a:rPr lang="en-US" altLang="ru-RU" sz="1400"/>
              <a:t>MapReduce</a:t>
            </a:r>
            <a:r>
              <a:rPr lang="ru-RU" altLang="ru-RU" sz="1400"/>
              <a:t>, которые включают в себя полный комплекс для ведения процесса аналитики: и систему сопряжения с хранилищем, и подсистему извлечения данных, подсистему машинного обучения и систему визуализации, представления и распространения результатов аналитики. Таковы, например, решения от </a:t>
            </a:r>
            <a:r>
              <a:rPr lang="en-US" altLang="ru-RU" sz="1400"/>
              <a:t>IBM</a:t>
            </a:r>
            <a:r>
              <a:rPr lang="ru-RU" altLang="ru-RU" sz="1400"/>
              <a:t>: </a:t>
            </a:r>
            <a:r>
              <a:rPr lang="en-US" altLang="ru-RU" sz="1400"/>
              <a:t>BigInsights</a:t>
            </a:r>
            <a:r>
              <a:rPr lang="ru-RU" altLang="ru-RU" sz="1400"/>
              <a:t>, </a:t>
            </a:r>
            <a:r>
              <a:rPr lang="en-US" altLang="ru-RU" sz="1400"/>
              <a:t>BigSheets</a:t>
            </a:r>
            <a:r>
              <a:rPr lang="ru-RU" altLang="ru-RU" sz="1400"/>
              <a:t>, </a:t>
            </a:r>
            <a:r>
              <a:rPr lang="en-US" altLang="ru-RU" sz="1400"/>
              <a:t>Stream</a:t>
            </a:r>
            <a:r>
              <a:rPr lang="ru-RU" altLang="ru-RU" sz="1400"/>
              <a:t>, решения от </a:t>
            </a:r>
            <a:r>
              <a:rPr lang="en-US" altLang="ru-RU" sz="1400"/>
              <a:t>SAP</a:t>
            </a:r>
            <a:r>
              <a:rPr lang="ru-RU" altLang="ru-RU" sz="1400"/>
              <a:t>: </a:t>
            </a:r>
            <a:r>
              <a:rPr lang="en-US" altLang="ru-RU" sz="1400"/>
              <a:t>SAP HANA</a:t>
            </a:r>
            <a:r>
              <a:rPr lang="ru-RU" altLang="ru-RU" sz="1400"/>
              <a:t>, от </a:t>
            </a:r>
            <a:r>
              <a:rPr lang="en-US" altLang="ru-RU" sz="1400"/>
              <a:t>EMC Greenplum</a:t>
            </a:r>
            <a:r>
              <a:rPr lang="ru-RU" altLang="ru-RU" sz="1400"/>
              <a:t>: </a:t>
            </a:r>
            <a:r>
              <a:rPr lang="en-US" altLang="ru-RU" sz="1400"/>
              <a:t>Chorus</a:t>
            </a:r>
            <a:r>
              <a:rPr lang="ru-RU" altLang="ru-RU" sz="1400"/>
              <a:t>.</a:t>
            </a:r>
          </a:p>
          <a:p>
            <a:pPr>
              <a:spcBef>
                <a:spcPct val="0"/>
              </a:spcBef>
            </a:pPr>
            <a:endParaRPr lang="ru-RU" altLang="ru-RU"/>
          </a:p>
        </p:txBody>
      </p:sp>
      <p:sp>
        <p:nvSpPr>
          <p:cNvPr id="65540"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720BBCB-35CF-4C8B-A6A9-0F823069E8E1}" type="slidenum">
              <a:rPr lang="ru-RU" altLang="ru-RU" sz="1200">
                <a:latin typeface="Calibri" panose="020F0502020204030204" pitchFamily="34" charset="0"/>
              </a:rPr>
              <a:pPr algn="r"/>
              <a:t>25</a:t>
            </a:fld>
            <a:endParaRPr lang="ru-RU" altLang="ru-RU" sz="1200">
              <a:latin typeface="Calibri" panose="020F0502020204030204" pitchFamily="34" charset="0"/>
            </a:endParaRPr>
          </a:p>
        </p:txBody>
      </p:sp>
    </p:spTree>
    <p:extLst>
      <p:ext uri="{BB962C8B-B14F-4D97-AF65-F5344CB8AC3E}">
        <p14:creationId xmlns:p14="http://schemas.microsoft.com/office/powerpoint/2010/main" val="3682931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A534479-02AB-4FFC-B9CA-B7B7834E0A88}" type="slidenum">
              <a:rPr lang="ru-RU" altLang="ru-RU"/>
              <a:pPr/>
              <a:t>26</a:t>
            </a:fld>
            <a:endParaRPr lang="ru-RU" altLang="ru-RU"/>
          </a:p>
        </p:txBody>
      </p:sp>
      <p:sp>
        <p:nvSpPr>
          <p:cNvPr id="87042" name="Образ слайда 1"/>
          <p:cNvSpPr>
            <a:spLocks noGrp="1" noRot="1" noChangeAspect="1" noTextEdit="1"/>
          </p:cNvSpPr>
          <p:nvPr>
            <p:ph type="sldImg"/>
          </p:nvPr>
        </p:nvSpPr>
        <p:spPr>
          <a:xfrm>
            <a:off x="382588" y="685800"/>
            <a:ext cx="6092825" cy="3429000"/>
          </a:xfrm>
          <a:ln/>
        </p:spPr>
      </p:sp>
      <p:sp>
        <p:nvSpPr>
          <p:cNvPr id="87043" name="Заметки 2"/>
          <p:cNvSpPr>
            <a:spLocks noGrp="1"/>
          </p:cNvSpPr>
          <p:nvPr>
            <p:ph type="body" idx="1"/>
          </p:nvPr>
        </p:nvSpPr>
        <p:spPr/>
        <p:txBody>
          <a:bodyPr/>
          <a:lstStyle/>
          <a:p>
            <a:pPr>
              <a:spcBef>
                <a:spcPct val="0"/>
              </a:spcBef>
            </a:pPr>
            <a:endParaRPr lang="ru-RU" altLang="ru-RU" sz="900" dirty="0">
              <a:latin typeface="Lucida Console" panose="020B0609040504020204" pitchFamily="49" charset="0"/>
            </a:endParaRPr>
          </a:p>
        </p:txBody>
      </p:sp>
      <p:sp>
        <p:nvSpPr>
          <p:cNvPr id="87044"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40B868E1-5A6F-403B-B565-698435F7ACDA}" type="slidenum">
              <a:rPr lang="ru-RU" altLang="ru-RU" sz="1200">
                <a:latin typeface="Calibri" panose="020F0502020204030204" pitchFamily="34" charset="0"/>
              </a:rPr>
              <a:pPr algn="r"/>
              <a:t>26</a:t>
            </a:fld>
            <a:endParaRPr lang="ru-RU" altLang="ru-RU" sz="1200">
              <a:latin typeface="Calibri" panose="020F0502020204030204" pitchFamily="34" charset="0"/>
            </a:endParaRPr>
          </a:p>
        </p:txBody>
      </p:sp>
    </p:spTree>
    <p:extLst>
      <p:ext uri="{BB962C8B-B14F-4D97-AF65-F5344CB8AC3E}">
        <p14:creationId xmlns:p14="http://schemas.microsoft.com/office/powerpoint/2010/main" val="37237668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presentation-creation.ru/" TargetMode="External"/><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 y="1093923"/>
            <a:ext cx="6533647" cy="1527533"/>
          </a:xfrm>
        </p:spPr>
        <p:txBody>
          <a:bodyPr/>
          <a:lstStyle/>
          <a:p>
            <a:r>
              <a:rPr lang="ru-RU"/>
              <a:t>Образец заголовка</a:t>
            </a:r>
          </a:p>
        </p:txBody>
      </p:sp>
      <p:sp>
        <p:nvSpPr>
          <p:cNvPr id="3" name="Подзаголовок 2"/>
          <p:cNvSpPr>
            <a:spLocks noGrp="1"/>
          </p:cNvSpPr>
          <p:nvPr>
            <p:ph type="subTitle" idx="1"/>
          </p:nvPr>
        </p:nvSpPr>
        <p:spPr>
          <a:xfrm>
            <a:off x="16537" y="3114194"/>
            <a:ext cx="6417350" cy="1821162"/>
          </a:xfrm>
        </p:spPr>
        <p:txBody>
          <a:bodyPr/>
          <a:lstStyle>
            <a:lvl1pPr marL="0" indent="0" algn="ctr">
              <a:buNone/>
              <a:defRPr>
                <a:solidFill>
                  <a:schemeClr val="tx1">
                    <a:tint val="75000"/>
                  </a:schemeClr>
                </a:solidFill>
              </a:defRPr>
            </a:lvl1pPr>
            <a:lvl2pPr marL="475081" indent="0" algn="ctr">
              <a:buNone/>
              <a:defRPr>
                <a:solidFill>
                  <a:schemeClr val="tx1">
                    <a:tint val="75000"/>
                  </a:schemeClr>
                </a:solidFill>
              </a:defRPr>
            </a:lvl2pPr>
            <a:lvl3pPr marL="950161" indent="0" algn="ctr">
              <a:buNone/>
              <a:defRPr>
                <a:solidFill>
                  <a:schemeClr val="tx1">
                    <a:tint val="75000"/>
                  </a:schemeClr>
                </a:solidFill>
              </a:defRPr>
            </a:lvl3pPr>
            <a:lvl4pPr marL="1425242" indent="0" algn="ctr">
              <a:buNone/>
              <a:defRPr>
                <a:solidFill>
                  <a:schemeClr val="tx1">
                    <a:tint val="75000"/>
                  </a:schemeClr>
                </a:solidFill>
              </a:defRPr>
            </a:lvl4pPr>
            <a:lvl5pPr marL="1900322" indent="0" algn="ctr">
              <a:buNone/>
              <a:defRPr>
                <a:solidFill>
                  <a:schemeClr val="tx1">
                    <a:tint val="75000"/>
                  </a:schemeClr>
                </a:solidFill>
              </a:defRPr>
            </a:lvl5pPr>
            <a:lvl6pPr marL="2375403" indent="0" algn="ctr">
              <a:buNone/>
              <a:defRPr>
                <a:solidFill>
                  <a:schemeClr val="tx1">
                    <a:tint val="75000"/>
                  </a:schemeClr>
                </a:solidFill>
              </a:defRPr>
            </a:lvl6pPr>
            <a:lvl7pPr marL="2850483" indent="0" algn="ctr">
              <a:buNone/>
              <a:defRPr>
                <a:solidFill>
                  <a:schemeClr val="tx1">
                    <a:tint val="75000"/>
                  </a:schemeClr>
                </a:solidFill>
              </a:defRPr>
            </a:lvl7pPr>
            <a:lvl8pPr marL="3325564" indent="0" algn="ctr">
              <a:buNone/>
              <a:defRPr>
                <a:solidFill>
                  <a:schemeClr val="tx1">
                    <a:tint val="75000"/>
                  </a:schemeClr>
                </a:solidFill>
              </a:defRPr>
            </a:lvl8pPr>
            <a:lvl9pPr marL="3800644"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06BE6CBF-D172-4643-B829-998407FEDF73}" type="datetime1">
              <a:rPr lang="ru-RU" smtClean="0"/>
              <a:t>23.02.2026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
        <p:nvSpPr>
          <p:cNvPr id="7" name="Прямоугольник 6"/>
          <p:cNvSpPr/>
          <p:nvPr/>
        </p:nvSpPr>
        <p:spPr>
          <a:xfrm>
            <a:off x="8785737" y="6742508"/>
            <a:ext cx="3322576" cy="380104"/>
          </a:xfrm>
          <a:prstGeom prst="rect">
            <a:avLst/>
          </a:prstGeom>
        </p:spPr>
        <p:txBody>
          <a:bodyPr wrap="none">
            <a:spAutoFit/>
          </a:bodyPr>
          <a:lstStyle/>
          <a:p>
            <a:pPr lvl="0" algn="ctr">
              <a:spcBef>
                <a:spcPct val="0"/>
              </a:spcBef>
            </a:pPr>
            <a:r>
              <a:rPr lang="en-US" sz="1870" kern="1200" dirty="0">
                <a:solidFill>
                  <a:schemeClr val="tx1"/>
                </a:solidFill>
                <a:latin typeface="+mn-lt"/>
                <a:ea typeface="+mn-ea"/>
                <a:cs typeface="+mn-cs"/>
                <a:hlinkClick r:id="rId3"/>
              </a:rPr>
              <a:t>http://presentation-creation.ru/</a:t>
            </a:r>
            <a:endParaRPr kumimoji="0" lang="en-US" sz="3325"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546632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191296E-4DF2-4B9B-AE2E-A2B7E5EEED67}" type="datetime1">
              <a:rPr lang="ru-RU" smtClean="0"/>
              <a:t>23.02.2026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97169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0706" y="4579300"/>
            <a:ext cx="10768013" cy="1415360"/>
          </a:xfrm>
        </p:spPr>
        <p:txBody>
          <a:bodyPr anchor="t"/>
          <a:lstStyle>
            <a:lvl1pPr algn="l">
              <a:defRPr sz="4156" b="1" cap="all"/>
            </a:lvl1pPr>
          </a:lstStyle>
          <a:p>
            <a:r>
              <a:rPr lang="ru-RU"/>
              <a:t>Образец заголовка</a:t>
            </a:r>
          </a:p>
        </p:txBody>
      </p:sp>
      <p:sp>
        <p:nvSpPr>
          <p:cNvPr id="3" name="Текст 2"/>
          <p:cNvSpPr>
            <a:spLocks noGrp="1"/>
          </p:cNvSpPr>
          <p:nvPr>
            <p:ph type="body" idx="1"/>
          </p:nvPr>
        </p:nvSpPr>
        <p:spPr>
          <a:xfrm>
            <a:off x="1000706" y="3020428"/>
            <a:ext cx="10768013" cy="1558875"/>
          </a:xfrm>
        </p:spPr>
        <p:txBody>
          <a:bodyPr anchor="b"/>
          <a:lstStyle>
            <a:lvl1pPr marL="0" indent="0">
              <a:buNone/>
              <a:defRPr sz="2078">
                <a:solidFill>
                  <a:schemeClr val="tx1">
                    <a:tint val="75000"/>
                  </a:schemeClr>
                </a:solidFill>
              </a:defRPr>
            </a:lvl1pPr>
            <a:lvl2pPr marL="475081" indent="0">
              <a:buNone/>
              <a:defRPr sz="1870">
                <a:solidFill>
                  <a:schemeClr val="tx1">
                    <a:tint val="75000"/>
                  </a:schemeClr>
                </a:solidFill>
              </a:defRPr>
            </a:lvl2pPr>
            <a:lvl3pPr marL="950161" indent="0">
              <a:buNone/>
              <a:defRPr sz="1663">
                <a:solidFill>
                  <a:schemeClr val="tx1">
                    <a:tint val="75000"/>
                  </a:schemeClr>
                </a:solidFill>
              </a:defRPr>
            </a:lvl3pPr>
            <a:lvl4pPr marL="1425242" indent="0">
              <a:buNone/>
              <a:defRPr sz="1455">
                <a:solidFill>
                  <a:schemeClr val="tx1">
                    <a:tint val="75000"/>
                  </a:schemeClr>
                </a:solidFill>
              </a:defRPr>
            </a:lvl4pPr>
            <a:lvl5pPr marL="1900322" indent="0">
              <a:buNone/>
              <a:defRPr sz="1455">
                <a:solidFill>
                  <a:schemeClr val="tx1">
                    <a:tint val="75000"/>
                  </a:schemeClr>
                </a:solidFill>
              </a:defRPr>
            </a:lvl5pPr>
            <a:lvl6pPr marL="2375403" indent="0">
              <a:buNone/>
              <a:defRPr sz="1455">
                <a:solidFill>
                  <a:schemeClr val="tx1">
                    <a:tint val="75000"/>
                  </a:schemeClr>
                </a:solidFill>
              </a:defRPr>
            </a:lvl6pPr>
            <a:lvl7pPr marL="2850483" indent="0">
              <a:buNone/>
              <a:defRPr sz="1455">
                <a:solidFill>
                  <a:schemeClr val="tx1">
                    <a:tint val="75000"/>
                  </a:schemeClr>
                </a:solidFill>
              </a:defRPr>
            </a:lvl7pPr>
            <a:lvl8pPr marL="3325564" indent="0">
              <a:buNone/>
              <a:defRPr sz="1455">
                <a:solidFill>
                  <a:schemeClr val="tx1">
                    <a:tint val="75000"/>
                  </a:schemeClr>
                </a:solidFill>
              </a:defRPr>
            </a:lvl8pPr>
            <a:lvl9pPr marL="3800644" indent="0">
              <a:buNone/>
              <a:defRPr sz="1455">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2E5BCC1C-3BC2-4D9F-804F-09D82D8CCD96}" type="datetime1">
              <a:rPr lang="ru-RU" smtClean="0"/>
              <a:t>23.02.2026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80889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33413" y="1662803"/>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439693" y="1662803"/>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F946BB5-62C8-40EA-AE51-472106BE1478}" type="datetime1">
              <a:rPr lang="ru-RU" smtClean="0"/>
              <a:t>23.02.2026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01228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33413" y="1595167"/>
            <a:ext cx="5597344" cy="664790"/>
          </a:xfrm>
        </p:spPr>
        <p:txBody>
          <a:bodyPr anchor="b"/>
          <a:lstStyle>
            <a:lvl1pPr marL="0" indent="0">
              <a:buNone/>
              <a:defRPr sz="2494" b="1"/>
            </a:lvl1pPr>
            <a:lvl2pPr marL="475081" indent="0">
              <a:buNone/>
              <a:defRPr sz="2078" b="1"/>
            </a:lvl2pPr>
            <a:lvl3pPr marL="950161" indent="0">
              <a:buNone/>
              <a:defRPr sz="1870" b="1"/>
            </a:lvl3pPr>
            <a:lvl4pPr marL="1425242" indent="0">
              <a:buNone/>
              <a:defRPr sz="1663" b="1"/>
            </a:lvl4pPr>
            <a:lvl5pPr marL="1900322" indent="0">
              <a:buNone/>
              <a:defRPr sz="1663" b="1"/>
            </a:lvl5pPr>
            <a:lvl6pPr marL="2375403" indent="0">
              <a:buNone/>
              <a:defRPr sz="1663" b="1"/>
            </a:lvl6pPr>
            <a:lvl7pPr marL="2850483" indent="0">
              <a:buNone/>
              <a:defRPr sz="1663" b="1"/>
            </a:lvl7pPr>
            <a:lvl8pPr marL="3325564" indent="0">
              <a:buNone/>
              <a:defRPr sz="1663" b="1"/>
            </a:lvl8pPr>
            <a:lvl9pPr marL="3800644" indent="0">
              <a:buNone/>
              <a:defRPr sz="1663" b="1"/>
            </a:lvl9pPr>
          </a:lstStyle>
          <a:p>
            <a:pPr lvl="0"/>
            <a:r>
              <a:rPr lang="ru-RU"/>
              <a:t>Образец текста</a:t>
            </a:r>
          </a:p>
        </p:txBody>
      </p:sp>
      <p:sp>
        <p:nvSpPr>
          <p:cNvPr id="4" name="Объект 3"/>
          <p:cNvSpPr>
            <a:spLocks noGrp="1"/>
          </p:cNvSpPr>
          <p:nvPr>
            <p:ph sz="half" idx="2"/>
          </p:nvPr>
        </p:nvSpPr>
        <p:spPr>
          <a:xfrm>
            <a:off x="633413" y="2259957"/>
            <a:ext cx="5597344"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435297" y="1595167"/>
            <a:ext cx="5599543" cy="664790"/>
          </a:xfrm>
        </p:spPr>
        <p:txBody>
          <a:bodyPr anchor="b"/>
          <a:lstStyle>
            <a:lvl1pPr marL="0" indent="0">
              <a:buNone/>
              <a:defRPr sz="2494" b="1"/>
            </a:lvl1pPr>
            <a:lvl2pPr marL="475081" indent="0">
              <a:buNone/>
              <a:defRPr sz="2078" b="1"/>
            </a:lvl2pPr>
            <a:lvl3pPr marL="950161" indent="0">
              <a:buNone/>
              <a:defRPr sz="1870" b="1"/>
            </a:lvl3pPr>
            <a:lvl4pPr marL="1425242" indent="0">
              <a:buNone/>
              <a:defRPr sz="1663" b="1"/>
            </a:lvl4pPr>
            <a:lvl5pPr marL="1900322" indent="0">
              <a:buNone/>
              <a:defRPr sz="1663" b="1"/>
            </a:lvl5pPr>
            <a:lvl6pPr marL="2375403" indent="0">
              <a:buNone/>
              <a:defRPr sz="1663" b="1"/>
            </a:lvl6pPr>
            <a:lvl7pPr marL="2850483" indent="0">
              <a:buNone/>
              <a:defRPr sz="1663" b="1"/>
            </a:lvl7pPr>
            <a:lvl8pPr marL="3325564" indent="0">
              <a:buNone/>
              <a:defRPr sz="1663" b="1"/>
            </a:lvl8pPr>
            <a:lvl9pPr marL="3800644" indent="0">
              <a:buNone/>
              <a:defRPr sz="1663" b="1"/>
            </a:lvl9pPr>
          </a:lstStyle>
          <a:p>
            <a:pPr lvl="0"/>
            <a:r>
              <a:rPr lang="ru-RU"/>
              <a:t>Образец текста</a:t>
            </a:r>
          </a:p>
        </p:txBody>
      </p:sp>
      <p:sp>
        <p:nvSpPr>
          <p:cNvPr id="6" name="Объект 5"/>
          <p:cNvSpPr>
            <a:spLocks noGrp="1"/>
          </p:cNvSpPr>
          <p:nvPr>
            <p:ph sz="quarter" idx="4"/>
          </p:nvPr>
        </p:nvSpPr>
        <p:spPr>
          <a:xfrm>
            <a:off x="6435297" y="2259957"/>
            <a:ext cx="5599543"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59C63E44-B6BB-49A9-98DE-31F33A6F43F5}" type="datetime1">
              <a:rPr lang="ru-RU" smtClean="0"/>
              <a:t>23.02.2026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417132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A71E2142-FF76-426F-B489-C54302CAB792}" type="datetime1">
              <a:rPr lang="ru-RU" smtClean="0"/>
              <a:t>23.02.2026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73112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2D87F744-7EC8-45B3-A419-CEA6FC673B55}" type="datetime1">
              <a:rPr lang="ru-RU" smtClean="0"/>
              <a:t>23.02.2026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74324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4" y="283732"/>
            <a:ext cx="4167766" cy="1207510"/>
          </a:xfrm>
        </p:spPr>
        <p:txBody>
          <a:bodyPr anchor="b"/>
          <a:lstStyle>
            <a:lvl1pPr algn="l">
              <a:defRPr sz="2078" b="1"/>
            </a:lvl1pPr>
          </a:lstStyle>
          <a:p>
            <a:r>
              <a:rPr lang="ru-RU"/>
              <a:t>Образец заголовка</a:t>
            </a:r>
          </a:p>
        </p:txBody>
      </p:sp>
      <p:sp>
        <p:nvSpPr>
          <p:cNvPr id="3" name="Объект 2"/>
          <p:cNvSpPr>
            <a:spLocks noGrp="1"/>
          </p:cNvSpPr>
          <p:nvPr>
            <p:ph idx="1"/>
          </p:nvPr>
        </p:nvSpPr>
        <p:spPr>
          <a:xfrm>
            <a:off x="4952933" y="283736"/>
            <a:ext cx="7081904" cy="6082089"/>
          </a:xfrm>
        </p:spPr>
        <p:txBody>
          <a:bodyPr/>
          <a:lstStyle>
            <a:lvl1pPr>
              <a:defRPr sz="3325"/>
            </a:lvl1pPr>
            <a:lvl2pPr>
              <a:defRPr sz="2909"/>
            </a:lvl2pPr>
            <a:lvl3pPr>
              <a:defRPr sz="2494"/>
            </a:lvl3pPr>
            <a:lvl4pPr>
              <a:defRPr sz="2078"/>
            </a:lvl4pPr>
            <a:lvl5pPr>
              <a:defRPr sz="2078"/>
            </a:lvl5pPr>
            <a:lvl6pPr>
              <a:defRPr sz="2078"/>
            </a:lvl6pPr>
            <a:lvl7pPr>
              <a:defRPr sz="2078"/>
            </a:lvl7pPr>
            <a:lvl8pPr>
              <a:defRPr sz="2078"/>
            </a:lvl8pPr>
            <a:lvl9pPr>
              <a:defRPr sz="2078"/>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3414" y="1491244"/>
            <a:ext cx="4167766" cy="4874579"/>
          </a:xfrm>
        </p:spPr>
        <p:txBody>
          <a:bodyPr/>
          <a:lstStyle>
            <a:lvl1pPr marL="0" indent="0">
              <a:buNone/>
              <a:defRPr sz="1455"/>
            </a:lvl1pPr>
            <a:lvl2pPr marL="475081" indent="0">
              <a:buNone/>
              <a:defRPr sz="1247"/>
            </a:lvl2pPr>
            <a:lvl3pPr marL="950161" indent="0">
              <a:buNone/>
              <a:defRPr sz="1039"/>
            </a:lvl3pPr>
            <a:lvl4pPr marL="1425242" indent="0">
              <a:buNone/>
              <a:defRPr sz="935"/>
            </a:lvl4pPr>
            <a:lvl5pPr marL="1900322" indent="0">
              <a:buNone/>
              <a:defRPr sz="935"/>
            </a:lvl5pPr>
            <a:lvl6pPr marL="2375403" indent="0">
              <a:buNone/>
              <a:defRPr sz="935"/>
            </a:lvl6pPr>
            <a:lvl7pPr marL="2850483" indent="0">
              <a:buNone/>
              <a:defRPr sz="935"/>
            </a:lvl7pPr>
            <a:lvl8pPr marL="3325564" indent="0">
              <a:buNone/>
              <a:defRPr sz="935"/>
            </a:lvl8pPr>
            <a:lvl9pPr marL="3800644"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E6574F04-1475-4E79-9B15-408C777EAAA7}" type="datetime1">
              <a:rPr lang="ru-RU" smtClean="0"/>
              <a:t>23.02.2026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415841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83066" y="4988405"/>
            <a:ext cx="7600950" cy="588909"/>
          </a:xfrm>
        </p:spPr>
        <p:txBody>
          <a:bodyPr anchor="b"/>
          <a:lstStyle>
            <a:lvl1pPr algn="l">
              <a:defRPr sz="2078" b="1"/>
            </a:lvl1pPr>
          </a:lstStyle>
          <a:p>
            <a:r>
              <a:rPr lang="ru-RU"/>
              <a:t>Образец заголовка</a:t>
            </a:r>
          </a:p>
        </p:txBody>
      </p:sp>
      <p:sp>
        <p:nvSpPr>
          <p:cNvPr id="3" name="Рисунок 2"/>
          <p:cNvSpPr>
            <a:spLocks noGrp="1"/>
          </p:cNvSpPr>
          <p:nvPr>
            <p:ph type="pic" idx="1"/>
          </p:nvPr>
        </p:nvSpPr>
        <p:spPr>
          <a:xfrm>
            <a:off x="2483066" y="636750"/>
            <a:ext cx="7600950" cy="4275773"/>
          </a:xfrm>
        </p:spPr>
        <p:txBody>
          <a:bodyPr/>
          <a:lstStyle>
            <a:lvl1pPr marL="0" indent="0">
              <a:buNone/>
              <a:defRPr sz="3325"/>
            </a:lvl1pPr>
            <a:lvl2pPr marL="475081" indent="0">
              <a:buNone/>
              <a:defRPr sz="2909"/>
            </a:lvl2pPr>
            <a:lvl3pPr marL="950161" indent="0">
              <a:buNone/>
              <a:defRPr sz="2494"/>
            </a:lvl3pPr>
            <a:lvl4pPr marL="1425242" indent="0">
              <a:buNone/>
              <a:defRPr sz="2078"/>
            </a:lvl4pPr>
            <a:lvl5pPr marL="1900322" indent="0">
              <a:buNone/>
              <a:defRPr sz="2078"/>
            </a:lvl5pPr>
            <a:lvl6pPr marL="2375403" indent="0">
              <a:buNone/>
              <a:defRPr sz="2078"/>
            </a:lvl6pPr>
            <a:lvl7pPr marL="2850483" indent="0">
              <a:buNone/>
              <a:defRPr sz="2078"/>
            </a:lvl7pPr>
            <a:lvl8pPr marL="3325564" indent="0">
              <a:buNone/>
              <a:defRPr sz="2078"/>
            </a:lvl8pPr>
            <a:lvl9pPr marL="3800644" indent="0">
              <a:buNone/>
              <a:defRPr sz="2078"/>
            </a:lvl9pPr>
          </a:lstStyle>
          <a:p>
            <a:r>
              <a:rPr lang="ru-RU"/>
              <a:t>Вставка рисунка</a:t>
            </a:r>
          </a:p>
        </p:txBody>
      </p:sp>
      <p:sp>
        <p:nvSpPr>
          <p:cNvPr id="4" name="Текст 3"/>
          <p:cNvSpPr>
            <a:spLocks noGrp="1"/>
          </p:cNvSpPr>
          <p:nvPr>
            <p:ph type="body" sz="half" idx="2"/>
          </p:nvPr>
        </p:nvSpPr>
        <p:spPr>
          <a:xfrm>
            <a:off x="2483066" y="5577313"/>
            <a:ext cx="7600950" cy="836349"/>
          </a:xfrm>
        </p:spPr>
        <p:txBody>
          <a:bodyPr/>
          <a:lstStyle>
            <a:lvl1pPr marL="0" indent="0">
              <a:buNone/>
              <a:defRPr sz="1455"/>
            </a:lvl1pPr>
            <a:lvl2pPr marL="475081" indent="0">
              <a:buNone/>
              <a:defRPr sz="1247"/>
            </a:lvl2pPr>
            <a:lvl3pPr marL="950161" indent="0">
              <a:buNone/>
              <a:defRPr sz="1039"/>
            </a:lvl3pPr>
            <a:lvl4pPr marL="1425242" indent="0">
              <a:buNone/>
              <a:defRPr sz="935"/>
            </a:lvl4pPr>
            <a:lvl5pPr marL="1900322" indent="0">
              <a:buNone/>
              <a:defRPr sz="935"/>
            </a:lvl5pPr>
            <a:lvl6pPr marL="2375403" indent="0">
              <a:buNone/>
              <a:defRPr sz="935"/>
            </a:lvl6pPr>
            <a:lvl7pPr marL="2850483" indent="0">
              <a:buNone/>
              <a:defRPr sz="935"/>
            </a:lvl7pPr>
            <a:lvl8pPr marL="3325564" indent="0">
              <a:buNone/>
              <a:defRPr sz="935"/>
            </a:lvl8pPr>
            <a:lvl9pPr marL="3800644"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F066382E-E2CA-482B-8957-149AA6E20DAF}" type="datetime1">
              <a:rPr lang="ru-RU" smtClean="0"/>
              <a:t>23.02.2026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2539758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BA0A3C5-4399-4268-AE33-47F1A307291D}" type="datetime1">
              <a:rPr lang="ru-RU" smtClean="0"/>
              <a:t>23.02.2026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003757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9184481" y="285386"/>
            <a:ext cx="2850356" cy="6080439"/>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33414" y="285386"/>
            <a:ext cx="8339931" cy="608043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BA446AD-BCC6-4F52-9F90-5226A0D0E6A7}" type="datetime1">
              <a:rPr lang="ru-RU" smtClean="0"/>
              <a:t>23.02.2026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01304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Пустой слайд">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4307206" y="6627448"/>
            <a:ext cx="4053840" cy="356314"/>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633415" y="6627448"/>
            <a:ext cx="2913697" cy="356314"/>
          </a:xfrm>
          <a:prstGeom prst="rect">
            <a:avLst/>
          </a:prstGeom>
        </p:spPr>
        <p:txBody>
          <a:bodyPr lIns="0" tIns="0" rIns="0" bIns="0"/>
          <a:lstStyle>
            <a:lvl1pPr algn="l">
              <a:defRPr>
                <a:solidFill>
                  <a:schemeClr val="tx1">
                    <a:tint val="75000"/>
                  </a:schemeClr>
                </a:solidFill>
              </a:defRPr>
            </a:lvl1pPr>
          </a:lstStyle>
          <a:p>
            <a:fld id="{5A631B1C-3849-4D9A-B194-3A21FF2A4CA8}" type="datetime1">
              <a:rPr lang="ru-RU" smtClean="0"/>
              <a:t>23.02.2026</a:t>
            </a:fld>
            <a:endParaRPr lang="en-US"/>
          </a:p>
        </p:txBody>
      </p:sp>
      <p:sp>
        <p:nvSpPr>
          <p:cNvPr id="4" name="Holder 4"/>
          <p:cNvSpPr>
            <a:spLocks noGrp="1"/>
          </p:cNvSpPr>
          <p:nvPr>
            <p:ph type="sldNum" sz="quarter" idx="7"/>
          </p:nvPr>
        </p:nvSpPr>
        <p:spPr>
          <a:xfrm>
            <a:off x="9121142" y="6627448"/>
            <a:ext cx="2913697" cy="356314"/>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50959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3" y="285385"/>
            <a:ext cx="11401426" cy="1187715"/>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33413" y="1662803"/>
            <a:ext cx="11401426" cy="470302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33413" y="6605017"/>
            <a:ext cx="2955926" cy="379409"/>
          </a:xfrm>
          <a:prstGeom prst="rect">
            <a:avLst/>
          </a:prstGeom>
        </p:spPr>
        <p:txBody>
          <a:bodyPr vert="horz" lIns="91440" tIns="45720" rIns="91440" bIns="45720" rtlCol="0" anchor="ctr"/>
          <a:lstStyle>
            <a:lvl1pPr algn="l">
              <a:defRPr sz="1247">
                <a:solidFill>
                  <a:schemeClr val="tx1">
                    <a:tint val="75000"/>
                  </a:schemeClr>
                </a:solidFill>
              </a:defRPr>
            </a:lvl1pPr>
          </a:lstStyle>
          <a:p>
            <a:fld id="{8F73EA58-1098-4032-B52D-12E227D17273}" type="datetime1">
              <a:rPr lang="ru-RU" smtClean="0"/>
              <a:t>23.02.2026</a:t>
            </a:fld>
            <a:endParaRPr lang="ru-RU"/>
          </a:p>
        </p:txBody>
      </p:sp>
      <p:sp>
        <p:nvSpPr>
          <p:cNvPr id="5" name="Нижний колонтитул 4"/>
          <p:cNvSpPr>
            <a:spLocks noGrp="1"/>
          </p:cNvSpPr>
          <p:nvPr>
            <p:ph type="ftr" sz="quarter" idx="3"/>
          </p:nvPr>
        </p:nvSpPr>
        <p:spPr>
          <a:xfrm>
            <a:off x="4328319" y="6605017"/>
            <a:ext cx="4011613" cy="379409"/>
          </a:xfrm>
          <a:prstGeom prst="rect">
            <a:avLst/>
          </a:prstGeom>
        </p:spPr>
        <p:txBody>
          <a:bodyPr vert="horz" lIns="91440" tIns="45720" rIns="91440" bIns="45720" rtlCol="0" anchor="ctr"/>
          <a:lstStyle>
            <a:lvl1pPr algn="ctr">
              <a:defRPr sz="1247">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9078913" y="6605017"/>
            <a:ext cx="2955926" cy="379409"/>
          </a:xfrm>
          <a:prstGeom prst="rect">
            <a:avLst/>
          </a:prstGeom>
        </p:spPr>
        <p:txBody>
          <a:bodyPr vert="horz" lIns="91440" tIns="45720" rIns="91440" bIns="45720" rtlCol="0" anchor="ctr"/>
          <a:lstStyle>
            <a:lvl1pPr algn="r">
              <a:defRPr sz="1247">
                <a:solidFill>
                  <a:schemeClr val="tx1">
                    <a:tint val="75000"/>
                  </a:schemeClr>
                </a:solidFill>
              </a:defRPr>
            </a:lvl1pPr>
          </a:lstStyle>
          <a:p>
            <a:fld id="{952B6C0E-C4B9-4094-8E59-5B7DF00D5415}" type="slidenum">
              <a:rPr lang="ru-RU" smtClean="0"/>
              <a:t>‹#›</a:t>
            </a:fld>
            <a:endParaRPr lang="ru-RU"/>
          </a:p>
        </p:txBody>
      </p:sp>
    </p:spTree>
    <p:extLst>
      <p:ext uri="{BB962C8B-B14F-4D97-AF65-F5344CB8AC3E}">
        <p14:creationId xmlns:p14="http://schemas.microsoft.com/office/powerpoint/2010/main" val="153615831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50161" rtl="0" eaLnBrk="1" latinLnBrk="0" hangingPunct="1">
        <a:spcBef>
          <a:spcPct val="0"/>
        </a:spcBef>
        <a:buNone/>
        <a:defRPr sz="4572" kern="1200">
          <a:solidFill>
            <a:schemeClr val="tx1"/>
          </a:solidFill>
          <a:latin typeface="+mj-lt"/>
          <a:ea typeface="+mj-ea"/>
          <a:cs typeface="+mj-cs"/>
        </a:defRPr>
      </a:lvl1pPr>
    </p:titleStyle>
    <p:bodyStyle>
      <a:lvl1pPr marL="356310" indent="-356310" algn="l" defTabSz="950161"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2005" indent="-296925" algn="l" defTabSz="950161"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701" indent="-237540" algn="l" defTabSz="950161"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82"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62"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43"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8023"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104"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84" indent="-237540" algn="l" defTabSz="950161"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p:bodyStyle>
    <p:otherStyle>
      <a:defPPr>
        <a:defRPr lang="ru-RU"/>
      </a:defPPr>
      <a:lvl1pPr marL="0" algn="l" defTabSz="950161" rtl="0" eaLnBrk="1" latinLnBrk="0" hangingPunct="1">
        <a:defRPr sz="1870" kern="1200">
          <a:solidFill>
            <a:schemeClr val="tx1"/>
          </a:solidFill>
          <a:latin typeface="+mn-lt"/>
          <a:ea typeface="+mn-ea"/>
          <a:cs typeface="+mn-cs"/>
        </a:defRPr>
      </a:lvl1pPr>
      <a:lvl2pPr marL="475081" algn="l" defTabSz="950161" rtl="0" eaLnBrk="1" latinLnBrk="0" hangingPunct="1">
        <a:defRPr sz="1870" kern="1200">
          <a:solidFill>
            <a:schemeClr val="tx1"/>
          </a:solidFill>
          <a:latin typeface="+mn-lt"/>
          <a:ea typeface="+mn-ea"/>
          <a:cs typeface="+mn-cs"/>
        </a:defRPr>
      </a:lvl2pPr>
      <a:lvl3pPr marL="950161" algn="l" defTabSz="950161" rtl="0" eaLnBrk="1" latinLnBrk="0" hangingPunct="1">
        <a:defRPr sz="1870" kern="1200">
          <a:solidFill>
            <a:schemeClr val="tx1"/>
          </a:solidFill>
          <a:latin typeface="+mn-lt"/>
          <a:ea typeface="+mn-ea"/>
          <a:cs typeface="+mn-cs"/>
        </a:defRPr>
      </a:lvl3pPr>
      <a:lvl4pPr marL="1425242" algn="l" defTabSz="950161" rtl="0" eaLnBrk="1" latinLnBrk="0" hangingPunct="1">
        <a:defRPr sz="1870" kern="1200">
          <a:solidFill>
            <a:schemeClr val="tx1"/>
          </a:solidFill>
          <a:latin typeface="+mn-lt"/>
          <a:ea typeface="+mn-ea"/>
          <a:cs typeface="+mn-cs"/>
        </a:defRPr>
      </a:lvl4pPr>
      <a:lvl5pPr marL="1900322" algn="l" defTabSz="950161" rtl="0" eaLnBrk="1" latinLnBrk="0" hangingPunct="1">
        <a:defRPr sz="1870" kern="1200">
          <a:solidFill>
            <a:schemeClr val="tx1"/>
          </a:solidFill>
          <a:latin typeface="+mn-lt"/>
          <a:ea typeface="+mn-ea"/>
          <a:cs typeface="+mn-cs"/>
        </a:defRPr>
      </a:lvl5pPr>
      <a:lvl6pPr marL="2375403" algn="l" defTabSz="950161" rtl="0" eaLnBrk="1" latinLnBrk="0" hangingPunct="1">
        <a:defRPr sz="1870" kern="1200">
          <a:solidFill>
            <a:schemeClr val="tx1"/>
          </a:solidFill>
          <a:latin typeface="+mn-lt"/>
          <a:ea typeface="+mn-ea"/>
          <a:cs typeface="+mn-cs"/>
        </a:defRPr>
      </a:lvl6pPr>
      <a:lvl7pPr marL="2850483" algn="l" defTabSz="950161" rtl="0" eaLnBrk="1" latinLnBrk="0" hangingPunct="1">
        <a:defRPr sz="1870" kern="1200">
          <a:solidFill>
            <a:schemeClr val="tx1"/>
          </a:solidFill>
          <a:latin typeface="+mn-lt"/>
          <a:ea typeface="+mn-ea"/>
          <a:cs typeface="+mn-cs"/>
        </a:defRPr>
      </a:lvl7pPr>
      <a:lvl8pPr marL="3325564" algn="l" defTabSz="950161" rtl="0" eaLnBrk="1" latinLnBrk="0" hangingPunct="1">
        <a:defRPr sz="1870" kern="1200">
          <a:solidFill>
            <a:schemeClr val="tx1"/>
          </a:solidFill>
          <a:latin typeface="+mn-lt"/>
          <a:ea typeface="+mn-ea"/>
          <a:cs typeface="+mn-cs"/>
        </a:defRPr>
      </a:lvl8pPr>
      <a:lvl9pPr marL="3800644" algn="l" defTabSz="950161" rtl="0" eaLnBrk="1" latinLnBrk="0" hangingPunct="1">
        <a:defRPr sz="18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hyperlink" Target="https://www.geeksforgeeks.org/deep-learning/statistical-nature-of-the-learning-process-in-neural-networks/" TargetMode="External"/><Relationship Id="rId4" Type="http://schemas.openxmlformats.org/officeDocument/2006/relationships/image" Target="../media/image3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bwMode="auto">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chor="b">
            <a:normAutofit fontScale="90000"/>
          </a:bodyPr>
          <a:lstStyle/>
          <a:p>
            <a:pPr>
              <a:lnSpc>
                <a:spcPct val="80000"/>
              </a:lnSpc>
            </a:pPr>
            <a:r>
              <a:rPr lang="ru-RU" altLang="ru-RU" sz="6600" dirty="0"/>
              <a:t>Курс</a:t>
            </a:r>
            <a:br>
              <a:rPr lang="ru-RU" altLang="ru-RU" sz="6600" dirty="0"/>
            </a:br>
            <a:r>
              <a:rPr lang="ru-RU" altLang="ru-RU" sz="6000" dirty="0"/>
              <a:t>Обработка больших данных</a:t>
            </a:r>
          </a:p>
        </p:txBody>
      </p:sp>
      <p:sp>
        <p:nvSpPr>
          <p:cNvPr id="3" name="Подзаголовок 2"/>
          <p:cNvSpPr>
            <a:spLocks noGrp="1"/>
          </p:cNvSpPr>
          <p:nvPr>
            <p:ph type="subTitle" idx="1"/>
          </p:nvPr>
        </p:nvSpPr>
        <p:spPr bwMode="auto">
          <a:xfrm>
            <a:off x="150954" y="3131096"/>
            <a:ext cx="6417350" cy="18211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ormAutofit fontScale="77500" lnSpcReduction="20000"/>
          </a:bodyPr>
          <a:lstStyle/>
          <a:p>
            <a:pPr marL="0" indent="0" algn="ctr">
              <a:buNone/>
            </a:pPr>
            <a:r>
              <a:rPr lang="ru-RU" altLang="ru-RU" sz="4400" dirty="0"/>
              <a:t>Лекция 5 </a:t>
            </a:r>
          </a:p>
          <a:p>
            <a:pPr defTabSz="950153">
              <a:defRPr/>
            </a:pPr>
            <a:r>
              <a:rPr lang="ru-RU" altLang="ru-RU" sz="4700" b="1" dirty="0">
                <a:solidFill>
                  <a:srgbClr val="ED8137"/>
                </a:solidFill>
              </a:rPr>
              <a:t>Аналитика больших данных.</a:t>
            </a:r>
          </a:p>
          <a:p>
            <a:pPr defTabSz="950153">
              <a:defRPr/>
            </a:pPr>
            <a:r>
              <a:rPr lang="ru-RU" altLang="ru-RU" sz="4700" b="1" dirty="0">
                <a:solidFill>
                  <a:srgbClr val="ED8137"/>
                </a:solidFill>
              </a:rPr>
              <a:t>Статистическое обучение</a:t>
            </a:r>
          </a:p>
        </p:txBody>
      </p:sp>
      <p:sp>
        <p:nvSpPr>
          <p:cNvPr id="4" name="Номер слайда 3">
            <a:extLst>
              <a:ext uri="{FF2B5EF4-FFF2-40B4-BE49-F238E27FC236}">
                <a16:creationId xmlns:a16="http://schemas.microsoft.com/office/drawing/2014/main" id="{094E09BF-5DDC-44DB-8413-D66E65E0ECA0}"/>
              </a:ext>
            </a:extLst>
          </p:cNvPr>
          <p:cNvSpPr>
            <a:spLocks noGrp="1"/>
          </p:cNvSpPr>
          <p:nvPr>
            <p:ph type="sldNum" sz="quarter" idx="12"/>
          </p:nvPr>
        </p:nvSpPr>
        <p:spPr>
          <a:xfrm>
            <a:off x="11374685" y="6605017"/>
            <a:ext cx="660154" cy="379409"/>
          </a:xfrm>
        </p:spPr>
        <p:txBody>
          <a:bodyPr/>
          <a:lstStyle/>
          <a:p>
            <a:fld id="{952B6C0E-C4B9-4094-8E59-5B7DF00D5415}" type="slidenum">
              <a:rPr lang="ru-RU" smtClean="0"/>
              <a:t>1</a:t>
            </a:fld>
            <a:endParaRPr lang="ru-RU"/>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6" name="Group 8"/>
          <p:cNvGrpSpPr>
            <a:grpSpLocks/>
          </p:cNvGrpSpPr>
          <p:nvPr/>
        </p:nvGrpSpPr>
        <p:grpSpPr bwMode="auto">
          <a:xfrm>
            <a:off x="861517" y="179389"/>
            <a:ext cx="11305255" cy="6696075"/>
            <a:chOff x="153" y="113"/>
            <a:chExt cx="6168" cy="4218"/>
          </a:xfrm>
        </p:grpSpPr>
        <p:sp>
          <p:nvSpPr>
            <p:cNvPr id="12297" name="AutoShape 4"/>
            <p:cNvSpPr>
              <a:spLocks noChangeArrowheads="1"/>
            </p:cNvSpPr>
            <p:nvPr/>
          </p:nvSpPr>
          <p:spPr bwMode="auto">
            <a:xfrm>
              <a:off x="153" y="113"/>
              <a:ext cx="6168" cy="421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2298" name="AutoShape 5"/>
            <p:cNvSpPr>
              <a:spLocks noChangeArrowheads="1"/>
            </p:cNvSpPr>
            <p:nvPr/>
          </p:nvSpPr>
          <p:spPr bwMode="auto">
            <a:xfrm>
              <a:off x="561" y="249"/>
              <a:ext cx="5261" cy="544"/>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2299" name="AutoShape 6"/>
            <p:cNvSpPr>
              <a:spLocks noChangeArrowheads="1"/>
            </p:cNvSpPr>
            <p:nvPr/>
          </p:nvSpPr>
          <p:spPr bwMode="auto">
            <a:xfrm>
              <a:off x="244" y="929"/>
              <a:ext cx="5941" cy="331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grpSp>
      <p:sp>
        <p:nvSpPr>
          <p:cNvPr id="2" name="Заголовок 1"/>
          <p:cNvSpPr>
            <a:spLocks noGrp="1"/>
          </p:cNvSpPr>
          <p:nvPr>
            <p:ph type="title" idx="4294967295"/>
          </p:nvPr>
        </p:nvSpPr>
        <p:spPr bwMode="auto">
          <a:xfrm>
            <a:off x="1195389" y="285750"/>
            <a:ext cx="9248775" cy="8842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chor="ctr">
            <a:normAutofit/>
          </a:bodyPr>
          <a:lstStyle/>
          <a:p>
            <a:r>
              <a:rPr lang="ru-RU" altLang="ru-RU" sz="4400"/>
              <a:t>Содержание</a:t>
            </a:r>
          </a:p>
        </p:txBody>
      </p:sp>
      <p:sp>
        <p:nvSpPr>
          <p:cNvPr id="3" name="Объект 2"/>
          <p:cNvSpPr>
            <a:spLocks noGrp="1"/>
          </p:cNvSpPr>
          <p:nvPr>
            <p:ph idx="4294967295"/>
          </p:nvPr>
        </p:nvSpPr>
        <p:spPr bwMode="auto">
          <a:xfrm>
            <a:off x="1399896" y="1433516"/>
            <a:ext cx="10274299" cy="48958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9441" tIns="49721" rIns="99441" bIns="49721" rtlCol="0">
            <a:normAutofit lnSpcReduction="10000"/>
          </a:bodyPr>
          <a:lstStyle/>
          <a:p>
            <a:pPr marL="579443" lvl="1" indent="-376241">
              <a:lnSpc>
                <a:spcPct val="75000"/>
              </a:lnSpc>
              <a:buNone/>
            </a:pPr>
            <a:endParaRPr lang="ru-RU" altLang="ru-RU" sz="2400" dirty="0"/>
          </a:p>
          <a:p>
            <a:pPr marL="144464" indent="-376241">
              <a:lnSpc>
                <a:spcPct val="75000"/>
              </a:lnSpc>
              <a:buFont typeface="Wingdings" panose="05000000000000000000" pitchFamily="2" charset="2"/>
              <a:buChar char="§"/>
            </a:pPr>
            <a:r>
              <a:rPr lang="ru-RU" altLang="ru-RU" sz="2900" dirty="0"/>
              <a:t>Процесс аналитики</a:t>
            </a:r>
          </a:p>
          <a:p>
            <a:pPr lvl="2">
              <a:lnSpc>
                <a:spcPct val="75000"/>
              </a:lnSpc>
              <a:buFont typeface="Wingdings" panose="05000000000000000000" pitchFamily="2" charset="2"/>
              <a:buChar char="§"/>
            </a:pPr>
            <a:r>
              <a:rPr lang="ru-RU" altLang="ru-RU" sz="2400" dirty="0"/>
              <a:t>Стандарты  жизненного цикла </a:t>
            </a:r>
            <a:r>
              <a:rPr lang="en-US" altLang="ru-RU" sz="2400" dirty="0"/>
              <a:t>Big Data</a:t>
            </a:r>
            <a:r>
              <a:rPr lang="ru-RU" altLang="ru-RU" sz="2400" dirty="0"/>
              <a:t>: </a:t>
            </a:r>
            <a:r>
              <a:rPr lang="en-US" altLang="ru-RU" sz="2000" b="1" i="1" dirty="0"/>
              <a:t>CRISP-DM</a:t>
            </a:r>
            <a:endParaRPr lang="ru-RU" altLang="ru-RU" sz="2000" b="1" i="1" dirty="0"/>
          </a:p>
          <a:p>
            <a:pPr lvl="2">
              <a:lnSpc>
                <a:spcPct val="75000"/>
              </a:lnSpc>
              <a:buFont typeface="Wingdings" panose="05000000000000000000" pitchFamily="2" charset="2"/>
              <a:buChar char="§"/>
            </a:pPr>
            <a:r>
              <a:rPr lang="ru-RU" altLang="ru-RU" sz="2400" dirty="0"/>
              <a:t>Принципы и инструменты аналитики</a:t>
            </a:r>
          </a:p>
          <a:p>
            <a:pPr lvl="2">
              <a:lnSpc>
                <a:spcPct val="75000"/>
              </a:lnSpc>
              <a:buFont typeface="Wingdings" panose="05000000000000000000" pitchFamily="2" charset="2"/>
              <a:buChar char="§"/>
            </a:pPr>
            <a:r>
              <a:rPr lang="ru-RU" altLang="ru-RU" sz="2400" dirty="0"/>
              <a:t>Задачи и компетенции аналитиков </a:t>
            </a:r>
            <a:r>
              <a:rPr lang="en-US" altLang="ru-RU" sz="2400" dirty="0"/>
              <a:t>Big Data</a:t>
            </a:r>
            <a:endParaRPr lang="ru-RU" altLang="ru-RU" sz="2400" dirty="0"/>
          </a:p>
          <a:p>
            <a:pPr>
              <a:lnSpc>
                <a:spcPct val="75000"/>
              </a:lnSpc>
              <a:buFont typeface="Wingdings" panose="05000000000000000000" pitchFamily="2" charset="2"/>
              <a:buChar char="§"/>
            </a:pPr>
            <a:r>
              <a:rPr lang="ru-RU" altLang="ru-RU" sz="2800" dirty="0"/>
              <a:t>Примеры эффективного применения аналитики БД</a:t>
            </a:r>
          </a:p>
          <a:p>
            <a:pPr lvl="2">
              <a:lnSpc>
                <a:spcPct val="75000"/>
              </a:lnSpc>
              <a:buFont typeface="Wingdings" panose="05000000000000000000" pitchFamily="2" charset="2"/>
              <a:buChar char="§"/>
            </a:pPr>
            <a:endParaRPr lang="ru-RU" altLang="ru-RU" sz="2000" dirty="0"/>
          </a:p>
          <a:p>
            <a:pPr marL="144464" indent="-376241">
              <a:lnSpc>
                <a:spcPct val="75000"/>
              </a:lnSpc>
              <a:buFont typeface="Wingdings" panose="05000000000000000000" pitchFamily="2" charset="2"/>
              <a:buChar char="§"/>
            </a:pPr>
            <a:r>
              <a:rPr lang="ru-RU" altLang="ru-RU" sz="2900" dirty="0"/>
              <a:t>Big Data – Статистическое обучение</a:t>
            </a:r>
            <a:endParaRPr lang="en-US" altLang="ru-RU" sz="2900" dirty="0"/>
          </a:p>
          <a:p>
            <a:pPr lvl="2">
              <a:lnSpc>
                <a:spcPct val="75000"/>
              </a:lnSpc>
              <a:buFont typeface="Wingdings" panose="05000000000000000000" pitchFamily="2" charset="2"/>
              <a:buChar char="§"/>
            </a:pPr>
            <a:r>
              <a:rPr lang="ru-RU" sz="2400" b="1" dirty="0"/>
              <a:t>Классификация задач </a:t>
            </a:r>
            <a:r>
              <a:rPr lang="en-US" sz="2400" b="1" dirty="0"/>
              <a:t>Data Mining</a:t>
            </a:r>
            <a:r>
              <a:rPr lang="ru-RU" sz="2400" b="1" dirty="0"/>
              <a:t> – описательные и предсказательные модели</a:t>
            </a:r>
          </a:p>
          <a:p>
            <a:pPr lvl="2">
              <a:lnSpc>
                <a:spcPct val="75000"/>
              </a:lnSpc>
              <a:buFont typeface="Wingdings" panose="05000000000000000000" pitchFamily="2" charset="2"/>
              <a:buChar char="§"/>
            </a:pPr>
            <a:r>
              <a:rPr lang="ru-RU" altLang="ru-RU" sz="2400" dirty="0"/>
              <a:t>Параметрические и непараметрические методы</a:t>
            </a:r>
          </a:p>
          <a:p>
            <a:pPr lvl="2">
              <a:lnSpc>
                <a:spcPct val="75000"/>
              </a:lnSpc>
              <a:buFont typeface="Wingdings" panose="05000000000000000000" pitchFamily="2" charset="2"/>
              <a:buChar char="§"/>
            </a:pPr>
            <a:r>
              <a:rPr lang="ru-RU" altLang="ru-RU" sz="2400" dirty="0"/>
              <a:t>Обучение с учителем и без</a:t>
            </a:r>
          </a:p>
          <a:p>
            <a:pPr lvl="2">
              <a:lnSpc>
                <a:spcPct val="75000"/>
              </a:lnSpc>
              <a:buFont typeface="Wingdings" panose="05000000000000000000" pitchFamily="2" charset="2"/>
              <a:buChar char="§"/>
            </a:pPr>
            <a:r>
              <a:rPr lang="ru-RU" altLang="ru-RU" sz="2400" dirty="0"/>
              <a:t>Оценка точности модели</a:t>
            </a:r>
          </a:p>
          <a:p>
            <a:pPr lvl="2">
              <a:lnSpc>
                <a:spcPct val="75000"/>
              </a:lnSpc>
              <a:buFont typeface="Wingdings" panose="05000000000000000000" pitchFamily="2" charset="2"/>
              <a:buChar char="§"/>
            </a:pPr>
            <a:r>
              <a:rPr lang="ru-RU" sz="2400" dirty="0"/>
              <a:t>Фундаментальное свойство статистического обучения</a:t>
            </a:r>
          </a:p>
          <a:p>
            <a:pPr marL="993783" lvl="2" indent="0">
              <a:lnSpc>
                <a:spcPct val="75000"/>
              </a:lnSpc>
              <a:buNone/>
            </a:pPr>
            <a:endParaRPr lang="ru-RU" altLang="ru-RU" sz="2000" dirty="0"/>
          </a:p>
          <a:p>
            <a:pPr marL="993783" lvl="2" indent="0">
              <a:lnSpc>
                <a:spcPct val="75000"/>
              </a:lnSpc>
              <a:buNone/>
            </a:pPr>
            <a:endParaRPr lang="ru-RU" altLang="ru-RU" sz="1800" dirty="0"/>
          </a:p>
        </p:txBody>
      </p:sp>
      <p:sp>
        <p:nvSpPr>
          <p:cNvPr id="12294" name="Text Box 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a:solidFill>
                  <a:schemeClr val="bg1"/>
                </a:solidFill>
                <a:latin typeface="Courier New" panose="02070309020205020404" pitchFamily="49" charset="0"/>
              </a:rPr>
              <a:t>Обработка больших данных. </a:t>
            </a:r>
            <a:r>
              <a:rPr lang="ru-RU" altLang="ru-RU" b="1">
                <a:solidFill>
                  <a:schemeClr val="bg1"/>
                </a:solidFill>
                <a:latin typeface="Times New Roman" panose="02020603050405020304" pitchFamily="18" charset="0"/>
              </a:rPr>
              <a:t>Л3</a:t>
            </a:r>
          </a:p>
        </p:txBody>
      </p:sp>
      <p:pic>
        <p:nvPicPr>
          <p:cNvPr id="12301" name="Picture 13" descr="http://buyingbusinesstravel.com.ru/upload/resize_cache/iblock/2d1/100_1000_1/big%20data%20small.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69688" y="74612"/>
            <a:ext cx="952500" cy="1095376"/>
          </a:xfrm>
          <a:prstGeom prst="rect">
            <a:avLst/>
          </a:prstGeom>
          <a:noFill/>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8066676F-7407-45C2-9F94-FB31105F819C}"/>
              </a:ext>
            </a:extLst>
          </p:cNvPr>
          <p:cNvSpPr>
            <a:spLocks noGrp="1"/>
          </p:cNvSpPr>
          <p:nvPr>
            <p:ph type="sldNum" sz="quarter" idx="12"/>
          </p:nvPr>
        </p:nvSpPr>
        <p:spPr/>
        <p:txBody>
          <a:bodyPr/>
          <a:lstStyle/>
          <a:p>
            <a:fld id="{952B6C0E-C4B9-4094-8E59-5B7DF00D5415}" type="slidenum">
              <a:rPr lang="ru-RU" smtClean="0"/>
              <a:t>2</a:t>
            </a:fld>
            <a:endParaRPr lang="ru-RU"/>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idx="4294967295"/>
          </p:nvPr>
        </p:nvSpPr>
        <p:spPr bwMode="auto">
          <a:xfrm>
            <a:off x="1195389" y="800101"/>
            <a:ext cx="9090025" cy="34845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80000"/>
              </a:lnSpc>
            </a:pPr>
            <a:r>
              <a:rPr lang="ru-RU" altLang="ru-RU" sz="6600" b="1"/>
              <a:t>Процесс аналитики</a:t>
            </a:r>
            <a:endParaRPr lang="ru-RU" altLang="ru-RU" sz="6600"/>
          </a:p>
        </p:txBody>
      </p:sp>
      <p:pic>
        <p:nvPicPr>
          <p:cNvPr id="57349" name="Picture 5" descr="http://buyingbusinesstravel.com.ru/upload/resize_cache/iblock/2d1/100_1000_1/big%20data%20small.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58589" y="252413"/>
            <a:ext cx="952500" cy="1095376"/>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76A4FC1E-EB7D-4EE0-A5EF-DAF287C0E858}"/>
              </a:ext>
            </a:extLst>
          </p:cNvPr>
          <p:cNvSpPr>
            <a:spLocks noGrp="1"/>
          </p:cNvSpPr>
          <p:nvPr>
            <p:ph type="sldNum" sz="quarter" idx="12"/>
          </p:nvPr>
        </p:nvSpPr>
        <p:spPr/>
        <p:txBody>
          <a:bodyPr/>
          <a:lstStyle/>
          <a:p>
            <a:fld id="{952B6C0E-C4B9-4094-8E59-5B7DF00D5415}" type="slidenum">
              <a:rPr lang="ru-RU" smtClean="0"/>
              <a:t>3</a:t>
            </a:fld>
            <a:endParaRPr lang="ru-RU"/>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9" name="AutoShape 3"/>
          <p:cNvSpPr>
            <a:spLocks noChangeArrowheads="1"/>
          </p:cNvSpPr>
          <p:nvPr/>
        </p:nvSpPr>
        <p:spPr bwMode="auto">
          <a:xfrm>
            <a:off x="1438275" y="322263"/>
            <a:ext cx="10596563"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Заголовок 3"/>
          <p:cNvSpPr>
            <a:spLocks noGrp="1"/>
          </p:cNvSpPr>
          <p:nvPr>
            <p:ph type="ctrTitle" idx="4294967295"/>
          </p:nvPr>
        </p:nvSpPr>
        <p:spPr bwMode="auto">
          <a:xfrm>
            <a:off x="793749" y="1306518"/>
            <a:ext cx="11012983" cy="3552770"/>
          </a:xfrm>
          <a:prstGeom prst="rect">
            <a:avLst/>
          </a:prstGeom>
          <a:solidFill>
            <a:schemeClr val="bg1"/>
          </a:solidFill>
          <a:ln/>
          <a:extLst>
            <a:ext uri="{91240B29-F687-4F45-9708-019B960494DF}">
              <a14:hiddenLine xmlns:a14="http://schemas.microsoft.com/office/drawing/2010/main" w="9525">
                <a:solidFill>
                  <a:srgbClr val="000000"/>
                </a:solidFill>
                <a:miter lim="800000"/>
                <a:headEnd/>
                <a:tailEnd/>
              </a14:hiddenLine>
            </a:ext>
          </a:extLst>
        </p:spPr>
        <p:txBody>
          <a:bodyPr anchor="b">
            <a:normAutofit/>
          </a:bodyPr>
          <a:lstStyle/>
          <a:p>
            <a:pPr indent="360366" algn="l">
              <a:lnSpc>
                <a:spcPct val="80000"/>
              </a:lnSpc>
            </a:pPr>
            <a:r>
              <a:rPr lang="en-US" altLang="ru-RU" sz="2400" b="1" i="1" dirty="0">
                <a:solidFill>
                  <a:srgbClr val="0070C0"/>
                </a:solidFill>
              </a:rPr>
              <a:t>"</a:t>
            </a:r>
            <a:r>
              <a:rPr lang="ru-RU" altLang="ru-RU" sz="2400" b="1" i="1" dirty="0">
                <a:solidFill>
                  <a:srgbClr val="0070C0"/>
                </a:solidFill>
              </a:rPr>
              <a:t>Если вы подыскиваете род деятельности, в котором ваши усилия будут высоко востребованы, вам следует найти область, в которой вы сможете обеспечить дефицитные дополнительные услуги по отношению к тому, что повсеместно распространено и дешево обходится. </a:t>
            </a:r>
            <a:br>
              <a:rPr lang="en-US" altLang="ru-RU" sz="2400" b="1" i="1" dirty="0">
                <a:solidFill>
                  <a:srgbClr val="0070C0"/>
                </a:solidFill>
              </a:rPr>
            </a:br>
            <a:r>
              <a:rPr lang="en-US" altLang="ru-RU" sz="2400" b="1" i="1" dirty="0">
                <a:solidFill>
                  <a:srgbClr val="0070C0"/>
                </a:solidFill>
              </a:rPr>
              <a:t>	</a:t>
            </a:r>
            <a:r>
              <a:rPr lang="ru-RU" altLang="ru-RU" sz="2400" b="1" i="1" dirty="0">
                <a:solidFill>
                  <a:srgbClr val="0070C0"/>
                </a:solidFill>
              </a:rPr>
              <a:t>А что повсеместно распространено и дешево обходится? Данные. А что является дополнительной услугой по отношению к данным? Анализ</a:t>
            </a:r>
            <a:r>
              <a:rPr lang="en-US" altLang="ru-RU" sz="2400" b="1" i="1" dirty="0">
                <a:solidFill>
                  <a:srgbClr val="0070C0"/>
                </a:solidFill>
              </a:rPr>
              <a:t>"</a:t>
            </a:r>
            <a:r>
              <a:rPr lang="en-US" altLang="ru-RU" sz="2400" b="1" dirty="0">
                <a:solidFill>
                  <a:srgbClr val="0070C0"/>
                </a:solidFill>
              </a:rPr>
              <a:t>.</a:t>
            </a:r>
            <a:br>
              <a:rPr lang="ru-RU" altLang="ru-RU" sz="2400" b="1" dirty="0">
                <a:solidFill>
                  <a:srgbClr val="0070C0"/>
                </a:solidFill>
              </a:rPr>
            </a:br>
            <a:br>
              <a:rPr lang="ru-RU" altLang="ru-RU" sz="2400" b="1" dirty="0">
                <a:solidFill>
                  <a:srgbClr val="0070C0"/>
                </a:solidFill>
              </a:rPr>
            </a:br>
            <a:r>
              <a:rPr lang="ru-RU" altLang="ru-RU" sz="2400" b="1" dirty="0">
                <a:solidFill>
                  <a:srgbClr val="0070C0"/>
                </a:solidFill>
              </a:rPr>
              <a:t>– Профессор Хал </a:t>
            </a:r>
            <a:r>
              <a:rPr lang="ru-RU" altLang="ru-RU" sz="2400" b="1" dirty="0" err="1">
                <a:solidFill>
                  <a:srgbClr val="0070C0"/>
                </a:solidFill>
              </a:rPr>
              <a:t>Вариан</a:t>
            </a:r>
            <a:r>
              <a:rPr lang="ru-RU" altLang="ru-RU" sz="2400" b="1" dirty="0">
                <a:solidFill>
                  <a:srgbClr val="0070C0"/>
                </a:solidFill>
              </a:rPr>
              <a:t>, университет Беркли, главный экономист </a:t>
            </a:r>
            <a:r>
              <a:rPr lang="ru-RU" altLang="ru-RU" sz="2400" b="1" dirty="0" err="1">
                <a:solidFill>
                  <a:srgbClr val="0070C0"/>
                </a:solidFill>
              </a:rPr>
              <a:t>Google</a:t>
            </a:r>
            <a:br>
              <a:rPr lang="en-US" altLang="ru-RU" sz="2400" b="1" dirty="0">
                <a:solidFill>
                  <a:srgbClr val="0070C0"/>
                </a:solidFill>
              </a:rPr>
            </a:br>
            <a:endParaRPr lang="ru-RU" altLang="ru-RU" sz="3600" b="1" dirty="0">
              <a:solidFill>
                <a:srgbClr val="0070C0"/>
              </a:solidFill>
            </a:endParaRPr>
          </a:p>
        </p:txBody>
      </p:sp>
      <p:sp>
        <p:nvSpPr>
          <p:cNvPr id="101380" name="Text Box 4"/>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a:solidFill>
                  <a:schemeClr val="bg1"/>
                </a:solidFill>
                <a:latin typeface="Courier New" panose="02070309020205020404" pitchFamily="49" charset="0"/>
              </a:rPr>
              <a:t>Обработка больших данных. Л3</a:t>
            </a:r>
          </a:p>
        </p:txBody>
      </p:sp>
      <p:sp>
        <p:nvSpPr>
          <p:cNvPr id="5" name="Заголовок 1"/>
          <p:cNvSpPr txBox="1">
            <a:spLocks/>
          </p:cNvSpPr>
          <p:nvPr/>
        </p:nvSpPr>
        <p:spPr bwMode="auto">
          <a:xfrm>
            <a:off x="1709739" y="285750"/>
            <a:ext cx="9248775" cy="7572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9441" tIns="49721" rIns="99441" bIns="49721" anchor="ct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altLang="ru-RU" sz="3100" b="1" dirty="0"/>
              <a:t>Аналитика БД</a:t>
            </a:r>
          </a:p>
        </p:txBody>
      </p:sp>
      <p:sp>
        <p:nvSpPr>
          <p:cNvPr id="2" name="Номер слайда 1">
            <a:extLst>
              <a:ext uri="{FF2B5EF4-FFF2-40B4-BE49-F238E27FC236}">
                <a16:creationId xmlns:a16="http://schemas.microsoft.com/office/drawing/2014/main" id="{F37C0413-201B-4091-856E-3B91FAE152A5}"/>
              </a:ext>
            </a:extLst>
          </p:cNvPr>
          <p:cNvSpPr>
            <a:spLocks noGrp="1"/>
          </p:cNvSpPr>
          <p:nvPr>
            <p:ph type="sldNum" sz="quarter" idx="12"/>
          </p:nvPr>
        </p:nvSpPr>
        <p:spPr/>
        <p:txBody>
          <a:bodyPr/>
          <a:lstStyle/>
          <a:p>
            <a:fld id="{952B6C0E-C4B9-4094-8E59-5B7DF00D5415}" type="slidenum">
              <a:rPr lang="ru-RU" smtClean="0"/>
              <a:t>4</a:t>
            </a:fld>
            <a:endParaRPr lang="ru-RU"/>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AutoShape 9"/>
          <p:cNvSpPr>
            <a:spLocks noChangeArrowheads="1"/>
          </p:cNvSpPr>
          <p:nvPr/>
        </p:nvSpPr>
        <p:spPr bwMode="auto">
          <a:xfrm>
            <a:off x="789509" y="346278"/>
            <a:ext cx="11521280" cy="6465686"/>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7572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3100" b="1" dirty="0"/>
              <a:t>Стандартизация</a:t>
            </a:r>
          </a:p>
        </p:txBody>
      </p:sp>
      <p:sp>
        <p:nvSpPr>
          <p:cNvPr id="3" name="Объект 2"/>
          <p:cNvSpPr>
            <a:spLocks noGrp="1"/>
          </p:cNvSpPr>
          <p:nvPr>
            <p:ph idx="4294967295"/>
          </p:nvPr>
        </p:nvSpPr>
        <p:spPr bwMode="auto">
          <a:xfrm>
            <a:off x="1167186" y="1328738"/>
            <a:ext cx="10683351" cy="3341688"/>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p>
            <a:pPr marL="177801" indent="-177801" defTabSz="914407"/>
            <a:r>
              <a:rPr lang="ru-RU" altLang="ru-RU" sz="2400" dirty="0"/>
              <a:t>Общепризнанный стандарт по ЖЦ пока отсутствует</a:t>
            </a:r>
          </a:p>
          <a:p>
            <a:pPr marL="742956" lvl="1" indent="-285752" defTabSz="914407">
              <a:buNone/>
            </a:pPr>
            <a:r>
              <a:rPr lang="ru-RU" altLang="ru-RU" sz="2400" i="1" dirty="0"/>
              <a:t>Известные методологии, являющиеся мировыми стандартами: </a:t>
            </a:r>
            <a:r>
              <a:rPr lang="en-US" altLang="ru-RU" sz="2400" i="1" dirty="0"/>
              <a:t>CRISP-DM</a:t>
            </a:r>
            <a:r>
              <a:rPr lang="ru-RU" altLang="ru-RU" sz="2400" i="1" dirty="0"/>
              <a:t>, </a:t>
            </a:r>
            <a:r>
              <a:rPr lang="ru-RU" altLang="ru-RU" sz="2400" i="1" dirty="0" err="1"/>
              <a:t>Two</a:t>
            </a:r>
            <a:r>
              <a:rPr lang="ru-RU" altLang="ru-RU" sz="2400" i="1" dirty="0"/>
              <a:t> </a:t>
            </a:r>
            <a:r>
              <a:rPr lang="ru-RU" altLang="ru-RU" sz="2400" i="1" dirty="0" err="1"/>
              <a:t>Crows</a:t>
            </a:r>
            <a:r>
              <a:rPr lang="ru-RU" altLang="ru-RU" sz="2400" i="1" dirty="0"/>
              <a:t>, SEMMA, а также  для аналитики данных можно применить свои собственные методологии. </a:t>
            </a:r>
          </a:p>
          <a:p>
            <a:pPr marL="177801" indent="-177801" defTabSz="914407"/>
            <a:r>
              <a:rPr lang="ru-RU" altLang="ru-RU" sz="2400" dirty="0"/>
              <a:t>Стандарт </a:t>
            </a:r>
            <a:r>
              <a:rPr lang="en-US" altLang="ru-RU" sz="2400" dirty="0"/>
              <a:t>CRISP-DM</a:t>
            </a:r>
            <a:r>
              <a:rPr lang="ru-RU" altLang="ru-RU" sz="2400" dirty="0"/>
              <a:t> включает:</a:t>
            </a:r>
            <a:endParaRPr lang="en-US" altLang="ru-RU" sz="2400" dirty="0"/>
          </a:p>
          <a:p>
            <a:pPr marL="742956" lvl="1" indent="-285752" defTabSz="914407">
              <a:buFont typeface="Calibri Light" panose="020F0302020204030204" pitchFamily="34" charset="0"/>
              <a:buAutoNum type="arabicPeriod"/>
            </a:pPr>
            <a:r>
              <a:rPr lang="ru-RU" altLang="ru-RU" sz="2400" dirty="0"/>
              <a:t>Средства предварительной обработки информации на местах её хранения</a:t>
            </a:r>
          </a:p>
          <a:p>
            <a:pPr marL="742956" lvl="1" indent="-285752" defTabSz="914407">
              <a:buFont typeface="Calibri Light" panose="020F0302020204030204" pitchFamily="34" charset="0"/>
              <a:buAutoNum type="arabicPeriod"/>
            </a:pPr>
            <a:r>
              <a:rPr lang="ru-RU" altLang="ru-RU" sz="2400" dirty="0"/>
              <a:t>Возможность запуска алгоритмов анализа прямо в этих местах</a:t>
            </a: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59398" name="Text Box 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a:solidFill>
                  <a:schemeClr val="bg1"/>
                </a:solidFill>
                <a:latin typeface="Courier New" panose="02070309020205020404" pitchFamily="49" charset="0"/>
              </a:rPr>
              <a:t>Обработка больших данных. Л3</a:t>
            </a:r>
          </a:p>
        </p:txBody>
      </p:sp>
      <p:sp>
        <p:nvSpPr>
          <p:cNvPr id="59400" name="Text Box 8"/>
          <p:cNvSpPr txBox="1">
            <a:spLocks noChangeArrowheads="1"/>
          </p:cNvSpPr>
          <p:nvPr/>
        </p:nvSpPr>
        <p:spPr bwMode="auto">
          <a:xfrm>
            <a:off x="1195390" y="5589354"/>
            <a:ext cx="10683350" cy="10156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r>
              <a:rPr lang="ru-RU" altLang="ru-RU" dirty="0">
                <a:solidFill>
                  <a:srgbClr val="0070C0"/>
                </a:solidFill>
              </a:rPr>
              <a:t>*Методология CRISP-DM (</a:t>
            </a:r>
            <a:r>
              <a:rPr lang="ru-RU" altLang="ru-RU" dirty="0" err="1">
                <a:solidFill>
                  <a:srgbClr val="0070C0"/>
                </a:solidFill>
              </a:rPr>
              <a:t>CRoss-Industry</a:t>
            </a:r>
            <a:r>
              <a:rPr lang="ru-RU" altLang="ru-RU" dirty="0">
                <a:solidFill>
                  <a:srgbClr val="0070C0"/>
                </a:solidFill>
              </a:rPr>
              <a:t> </a:t>
            </a:r>
            <a:r>
              <a:rPr lang="ru-RU" altLang="ru-RU" dirty="0" err="1">
                <a:solidFill>
                  <a:srgbClr val="0070C0"/>
                </a:solidFill>
              </a:rPr>
              <a:t>Standard</a:t>
            </a:r>
            <a:r>
              <a:rPr lang="ru-RU" altLang="ru-RU" dirty="0">
                <a:solidFill>
                  <a:srgbClr val="0070C0"/>
                </a:solidFill>
              </a:rPr>
              <a:t> </a:t>
            </a:r>
            <a:r>
              <a:rPr lang="ru-RU" altLang="ru-RU" dirty="0" err="1">
                <a:solidFill>
                  <a:srgbClr val="0070C0"/>
                </a:solidFill>
              </a:rPr>
              <a:t>Process</a:t>
            </a:r>
            <a:r>
              <a:rPr lang="ru-RU" altLang="ru-RU" dirty="0">
                <a:solidFill>
                  <a:srgbClr val="0070C0"/>
                </a:solidFill>
              </a:rPr>
              <a:t> </a:t>
            </a:r>
            <a:r>
              <a:rPr lang="ru-RU" altLang="ru-RU" dirty="0" err="1">
                <a:solidFill>
                  <a:srgbClr val="0070C0"/>
                </a:solidFill>
              </a:rPr>
              <a:t>for</a:t>
            </a:r>
            <a:r>
              <a:rPr lang="ru-RU" altLang="ru-RU" dirty="0">
                <a:solidFill>
                  <a:srgbClr val="0070C0"/>
                </a:solidFill>
              </a:rPr>
              <a:t> Data </a:t>
            </a:r>
            <a:r>
              <a:rPr lang="ru-RU" altLang="ru-RU" dirty="0" err="1">
                <a:solidFill>
                  <a:srgbClr val="0070C0"/>
                </a:solidFill>
              </a:rPr>
              <a:t>Mining</a:t>
            </a:r>
            <a:r>
              <a:rPr lang="ru-RU" altLang="ru-RU" dirty="0">
                <a:solidFill>
                  <a:srgbClr val="0070C0"/>
                </a:solidFill>
              </a:rPr>
              <a:t>), разработана экспертами в индустрии Data </a:t>
            </a:r>
            <a:r>
              <a:rPr lang="ru-RU" altLang="ru-RU" dirty="0" err="1">
                <a:solidFill>
                  <a:srgbClr val="0070C0"/>
                </a:solidFill>
              </a:rPr>
              <a:t>Mining</a:t>
            </a:r>
            <a:r>
              <a:rPr lang="ru-RU" altLang="ru-RU" dirty="0">
                <a:solidFill>
                  <a:srgbClr val="0070C0"/>
                </a:solidFill>
              </a:rPr>
              <a:t>, и представляет собой пошаговое руководство, где определены задачи и цели для каждого этапа процесса Data </a:t>
            </a:r>
            <a:r>
              <a:rPr lang="ru-RU" altLang="ru-RU" dirty="0" err="1">
                <a:solidFill>
                  <a:srgbClr val="0070C0"/>
                </a:solidFill>
              </a:rPr>
              <a:t>Mining</a:t>
            </a:r>
            <a:r>
              <a:rPr lang="ru-RU" altLang="ru-RU" dirty="0">
                <a:solidFill>
                  <a:srgbClr val="0070C0"/>
                </a:solidFill>
              </a:rPr>
              <a:t>. </a:t>
            </a:r>
          </a:p>
        </p:txBody>
      </p:sp>
      <p:sp>
        <p:nvSpPr>
          <p:cNvPr id="5" name="Номер слайда 4">
            <a:extLst>
              <a:ext uri="{FF2B5EF4-FFF2-40B4-BE49-F238E27FC236}">
                <a16:creationId xmlns:a16="http://schemas.microsoft.com/office/drawing/2014/main" id="{7C4B9088-A984-4C3E-AC73-338BA6B80DD0}"/>
              </a:ext>
            </a:extLst>
          </p:cNvPr>
          <p:cNvSpPr>
            <a:spLocks noGrp="1"/>
          </p:cNvSpPr>
          <p:nvPr>
            <p:ph type="sldNum" sz="quarter" idx="12"/>
          </p:nvPr>
        </p:nvSpPr>
        <p:spPr>
          <a:xfrm>
            <a:off x="11662495" y="6622259"/>
            <a:ext cx="660154" cy="379409"/>
          </a:xfrm>
        </p:spPr>
        <p:txBody>
          <a:bodyPr/>
          <a:lstStyle/>
          <a:p>
            <a:fld id="{952B6C0E-C4B9-4094-8E59-5B7DF00D5415}" type="slidenum">
              <a:rPr lang="ru-RU" smtClean="0">
                <a:solidFill>
                  <a:schemeClr val="tx1"/>
                </a:solidFill>
              </a:rPr>
              <a:t>5</a:t>
            </a:fld>
            <a:endParaRPr lang="ru-RU">
              <a:solidFill>
                <a:schemeClr val="tx1"/>
              </a:solidFill>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3" name="AutoShape 43"/>
          <p:cNvSpPr>
            <a:spLocks noChangeArrowheads="1"/>
          </p:cNvSpPr>
          <p:nvPr/>
        </p:nvSpPr>
        <p:spPr bwMode="auto">
          <a:xfrm>
            <a:off x="1438275" y="322263"/>
            <a:ext cx="10872513"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61465" name="TextBox 1"/>
          <p:cNvSpPr txBox="1">
            <a:spLocks noChangeArrowheads="1"/>
          </p:cNvSpPr>
          <p:nvPr/>
        </p:nvSpPr>
        <p:spPr bwMode="auto">
          <a:xfrm>
            <a:off x="1633506" y="467152"/>
            <a:ext cx="92869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ru-RU" altLang="ru-RU" sz="2400" b="1" dirty="0">
                <a:latin typeface="Calibri Light" panose="020F0302020204030204" pitchFamily="34" charset="0"/>
              </a:rPr>
              <a:t>Этапы аналитики в соответствии со стандартом  </a:t>
            </a:r>
            <a:r>
              <a:rPr lang="en-US" altLang="ru-RU" sz="2400" b="1" dirty="0">
                <a:latin typeface="Calibri Light" panose="020F0302020204030204" pitchFamily="34" charset="0"/>
              </a:rPr>
              <a:t>CRISP-DM</a:t>
            </a:r>
            <a:endParaRPr lang="ru-RU" altLang="ru-RU" sz="2400" b="1" dirty="0">
              <a:latin typeface="Calibri Light" panose="020F0302020204030204" pitchFamily="34" charset="0"/>
            </a:endParaRPr>
          </a:p>
          <a:p>
            <a:pPr algn="ctr"/>
            <a:r>
              <a:rPr lang="en-US" altLang="ru-RU" sz="2400" b="1" dirty="0">
                <a:latin typeface="Calibri Light" panose="020F0302020204030204" pitchFamily="34" charset="0"/>
              </a:rPr>
              <a:t>Cross industry Standard process for Data Mining</a:t>
            </a:r>
            <a:endParaRPr lang="ru-RU" altLang="ru-RU" sz="2400" b="1" dirty="0">
              <a:latin typeface="Calibri Light" panose="020F0302020204030204" pitchFamily="34" charset="0"/>
            </a:endParaRPr>
          </a:p>
        </p:txBody>
      </p:sp>
      <p:sp>
        <p:nvSpPr>
          <p:cNvPr id="61466" name="Text Box 2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grpSp>
        <p:nvGrpSpPr>
          <p:cNvPr id="5" name="Группа 4"/>
          <p:cNvGrpSpPr/>
          <p:nvPr/>
        </p:nvGrpSpPr>
        <p:grpSpPr>
          <a:xfrm>
            <a:off x="1438276" y="663578"/>
            <a:ext cx="9936162" cy="6423023"/>
            <a:chOff x="242888" y="663576"/>
            <a:chExt cx="9936162" cy="6423024"/>
          </a:xfrm>
        </p:grpSpPr>
        <p:grpSp>
          <p:nvGrpSpPr>
            <p:cNvPr id="4" name="Группа 3"/>
            <p:cNvGrpSpPr/>
            <p:nvPr/>
          </p:nvGrpSpPr>
          <p:grpSpPr>
            <a:xfrm>
              <a:off x="1012825" y="663576"/>
              <a:ext cx="8070850" cy="5949950"/>
              <a:chOff x="1012825" y="663576"/>
              <a:chExt cx="8070850" cy="5949950"/>
            </a:xfrm>
          </p:grpSpPr>
          <p:sp>
            <p:nvSpPr>
              <p:cNvPr id="23" name="Круговая стрелка 22"/>
              <p:cNvSpPr/>
              <p:nvPr/>
            </p:nvSpPr>
            <p:spPr bwMode="auto">
              <a:xfrm>
                <a:off x="1646238" y="1298149"/>
                <a:ext cx="7437437" cy="5315377"/>
              </a:xfrm>
              <a:prstGeom prst="circularArrow">
                <a:avLst>
                  <a:gd name="adj1" fmla="val 369"/>
                  <a:gd name="adj2" fmla="val 726214"/>
                  <a:gd name="adj3" fmla="val 15505229"/>
                  <a:gd name="adj4" fmla="val 10800000"/>
                  <a:gd name="adj5" fmla="val 486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5000"/>
                  </a:lnSpc>
                  <a:spcBef>
                    <a:spcPts val="0"/>
                  </a:spcBef>
                  <a:spcAft>
                    <a:spcPts val="1000"/>
                  </a:spcAft>
                  <a:defRPr/>
                </a:pPr>
                <a:r>
                  <a:rPr lang="ru-RU" sz="1200">
                    <a:latin typeface="Consolas" panose="020B0609020204030204" pitchFamily="49" charset="0"/>
                    <a:ea typeface="Times New Roman"/>
                    <a:cs typeface="Consolas" panose="020B0609020204030204" pitchFamily="49" charset="0"/>
                  </a:rPr>
                  <a:t> </a:t>
                </a:r>
              </a:p>
            </p:txBody>
          </p:sp>
          <p:sp>
            <p:nvSpPr>
              <p:cNvPr id="24" name="Круговая стрелка 23"/>
              <p:cNvSpPr/>
              <p:nvPr/>
            </p:nvSpPr>
            <p:spPr bwMode="auto">
              <a:xfrm rot="10800000">
                <a:off x="1012825" y="663576"/>
                <a:ext cx="7435850" cy="5857875"/>
              </a:xfrm>
              <a:prstGeom prst="circularArrow">
                <a:avLst>
                  <a:gd name="adj1" fmla="val 463"/>
                  <a:gd name="adj2" fmla="val 726214"/>
                  <a:gd name="adj3" fmla="val 15480024"/>
                  <a:gd name="adj4" fmla="val 10800000"/>
                  <a:gd name="adj5" fmla="val 484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5000"/>
                  </a:lnSpc>
                  <a:spcBef>
                    <a:spcPts val="0"/>
                  </a:spcBef>
                  <a:spcAft>
                    <a:spcPts val="1000"/>
                  </a:spcAft>
                  <a:defRPr/>
                </a:pPr>
                <a:r>
                  <a:rPr lang="ru-RU" sz="1200">
                    <a:latin typeface="Consolas" panose="020B0609020204030204" pitchFamily="49" charset="0"/>
                    <a:ea typeface="Times New Roman"/>
                    <a:cs typeface="Consolas" panose="020B0609020204030204" pitchFamily="49" charset="0"/>
                  </a:rPr>
                  <a:t> </a:t>
                </a:r>
              </a:p>
            </p:txBody>
          </p:sp>
          <p:sp>
            <p:nvSpPr>
              <p:cNvPr id="26" name="Круговая стрелка 25"/>
              <p:cNvSpPr/>
              <p:nvPr/>
            </p:nvSpPr>
            <p:spPr bwMode="auto">
              <a:xfrm rot="16200000">
                <a:off x="2377506" y="359791"/>
                <a:ext cx="5390703" cy="6900863"/>
              </a:xfrm>
              <a:prstGeom prst="circularArrow">
                <a:avLst>
                  <a:gd name="adj1" fmla="val 387"/>
                  <a:gd name="adj2" fmla="val 638926"/>
                  <a:gd name="adj3" fmla="val 15494254"/>
                  <a:gd name="adj4" fmla="val 10800000"/>
                  <a:gd name="adj5" fmla="val 458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5000"/>
                  </a:lnSpc>
                  <a:spcBef>
                    <a:spcPts val="0"/>
                  </a:spcBef>
                  <a:spcAft>
                    <a:spcPts val="1000"/>
                  </a:spcAft>
                  <a:defRPr/>
                </a:pPr>
                <a:r>
                  <a:rPr lang="ru-RU" sz="1200">
                    <a:latin typeface="Consolas" panose="020B0609020204030204" pitchFamily="49" charset="0"/>
                    <a:ea typeface="Times New Roman"/>
                    <a:cs typeface="Consolas" panose="020B0609020204030204" pitchFamily="49" charset="0"/>
                  </a:rPr>
                  <a:t> </a:t>
                </a:r>
              </a:p>
            </p:txBody>
          </p:sp>
        </p:grpSp>
        <p:grpSp>
          <p:nvGrpSpPr>
            <p:cNvPr id="42" name="Группа 41"/>
            <p:cNvGrpSpPr/>
            <p:nvPr/>
          </p:nvGrpSpPr>
          <p:grpSpPr>
            <a:xfrm>
              <a:off x="242888" y="1298147"/>
              <a:ext cx="9936162" cy="5788453"/>
              <a:chOff x="242888" y="1298147"/>
              <a:chExt cx="9936162" cy="5788453"/>
            </a:xfrm>
          </p:grpSpPr>
          <p:sp>
            <p:nvSpPr>
              <p:cNvPr id="43" name="Text Box 27"/>
              <p:cNvSpPr txBox="1">
                <a:spLocks noChangeArrowheads="1"/>
              </p:cNvSpPr>
              <p:nvPr/>
            </p:nvSpPr>
            <p:spPr bwMode="auto">
              <a:xfrm>
                <a:off x="242888" y="2676525"/>
                <a:ext cx="1728787" cy="584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dirty="0"/>
                  <a:t>Постановка задачи</a:t>
                </a:r>
              </a:p>
            </p:txBody>
          </p:sp>
          <p:sp>
            <p:nvSpPr>
              <p:cNvPr id="44" name="Text Box 28"/>
              <p:cNvSpPr txBox="1">
                <a:spLocks noChangeArrowheads="1"/>
              </p:cNvSpPr>
              <p:nvPr/>
            </p:nvSpPr>
            <p:spPr bwMode="auto">
              <a:xfrm>
                <a:off x="8116888" y="2122488"/>
                <a:ext cx="1917700"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dirty="0"/>
                  <a:t>Достаточно ли данных для решения задачи</a:t>
                </a:r>
              </a:p>
            </p:txBody>
          </p:sp>
          <p:sp>
            <p:nvSpPr>
              <p:cNvPr id="45" name="Line 29"/>
              <p:cNvSpPr>
                <a:spLocks noChangeShapeType="1"/>
              </p:cNvSpPr>
              <p:nvPr/>
            </p:nvSpPr>
            <p:spPr bwMode="auto">
              <a:xfrm flipV="1">
                <a:off x="1898650" y="2482850"/>
                <a:ext cx="863600" cy="336550"/>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46" name="Line 30"/>
              <p:cNvSpPr>
                <a:spLocks noChangeShapeType="1"/>
              </p:cNvSpPr>
              <p:nvPr/>
            </p:nvSpPr>
            <p:spPr bwMode="auto">
              <a:xfrm flipH="1">
                <a:off x="7299325" y="2411413"/>
                <a:ext cx="792163" cy="1587"/>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47" name="Блок-схема: магнитный диск 46"/>
              <p:cNvSpPr/>
              <p:nvPr/>
            </p:nvSpPr>
            <p:spPr bwMode="auto">
              <a:xfrm>
                <a:off x="4408488" y="3643313"/>
                <a:ext cx="1163638" cy="112871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2400" b="1">
                    <a:solidFill>
                      <a:srgbClr val="FFFFFF"/>
                    </a:solidFill>
                    <a:latin typeface="Consolas" panose="020B0609020204030204" pitchFamily="49" charset="0"/>
                    <a:ea typeface="Times New Roman" panose="02020603050405020304" pitchFamily="18" charset="0"/>
                    <a:cs typeface="Consolas" panose="020B0609020204030204" pitchFamily="49" charset="0"/>
                  </a:rPr>
                  <a:t>Data</a:t>
                </a:r>
                <a:endParaRPr lang="ru-RU" altLang="ru-RU" sz="1400" b="1">
                  <a:solidFill>
                    <a:srgbClr val="FFFFFF"/>
                  </a:solidFill>
                  <a:latin typeface="Consolas" panose="020B0609020204030204" pitchFamily="49" charset="0"/>
                  <a:ea typeface="Calibri" panose="020F0502020204030204" pitchFamily="34" charset="0"/>
                  <a:cs typeface="Consolas" panose="020B0609020204030204" pitchFamily="49" charset="0"/>
                </a:endParaRPr>
              </a:p>
            </p:txBody>
          </p:sp>
          <p:sp>
            <p:nvSpPr>
              <p:cNvPr id="48" name="Прямоугольник 47"/>
              <p:cNvSpPr>
                <a:spLocks noChangeArrowheads="1"/>
              </p:cNvSpPr>
              <p:nvPr/>
            </p:nvSpPr>
            <p:spPr bwMode="auto">
              <a:xfrm>
                <a:off x="2690813" y="2133600"/>
                <a:ext cx="1708150" cy="638175"/>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a:solidFill>
                      <a:srgbClr val="000000"/>
                    </a:solidFill>
                    <a:latin typeface="Consolas" panose="020B0609020204030204" pitchFamily="49" charset="0"/>
                    <a:ea typeface="Calibri" panose="020F0502020204030204" pitchFamily="34" charset="0"/>
                    <a:cs typeface="Consolas" panose="020B0609020204030204" pitchFamily="49" charset="0"/>
                  </a:rPr>
                  <a:t>BUSINESS UNDERSTANDING</a:t>
                </a:r>
                <a:endParaRPr lang="ru-RU" altLang="ru-RU" sz="1600" b="1">
                  <a:solidFill>
                    <a:srgbClr val="FFFFFF"/>
                  </a:solidFill>
                  <a:latin typeface="Consolas" panose="020B0609020204030204" pitchFamily="49" charset="0"/>
                  <a:ea typeface="Calibri" panose="020F0502020204030204" pitchFamily="34" charset="0"/>
                  <a:cs typeface="Consolas" panose="020B0609020204030204" pitchFamily="49" charset="0"/>
                </a:endParaRPr>
              </a:p>
            </p:txBody>
          </p:sp>
          <p:sp>
            <p:nvSpPr>
              <p:cNvPr id="49" name="Прямоугольник 48"/>
              <p:cNvSpPr>
                <a:spLocks noChangeArrowheads="1"/>
              </p:cNvSpPr>
              <p:nvPr/>
            </p:nvSpPr>
            <p:spPr bwMode="auto">
              <a:xfrm>
                <a:off x="5616575" y="2130425"/>
                <a:ext cx="1754188" cy="496888"/>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DATA UNDERSTANDING</a:t>
                </a:r>
                <a:endParaRPr lang="ru-RU" altLang="ru-RU" sz="1600" b="1" dirty="0">
                  <a:solidFill>
                    <a:srgbClr val="FFFFFF"/>
                  </a:solidFill>
                  <a:latin typeface="Consolas" panose="020B0609020204030204" pitchFamily="49" charset="0"/>
                  <a:ea typeface="Times New Roman" panose="02020603050405020304" pitchFamily="18" charset="0"/>
                  <a:cs typeface="Consolas" panose="020B0609020204030204" pitchFamily="49" charset="0"/>
                </a:endParaRPr>
              </a:p>
            </p:txBody>
          </p:sp>
          <p:sp>
            <p:nvSpPr>
              <p:cNvPr id="50" name="Прямоугольник 49"/>
              <p:cNvSpPr>
                <a:spLocks noChangeArrowheads="1"/>
              </p:cNvSpPr>
              <p:nvPr/>
            </p:nvSpPr>
            <p:spPr bwMode="auto">
              <a:xfrm>
                <a:off x="6272213" y="3240088"/>
                <a:ext cx="1470025" cy="512763"/>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DATA PREPARATION</a:t>
                </a:r>
                <a:endParaRPr lang="ru-RU" altLang="ru-RU" sz="1600" b="1" dirty="0">
                  <a:solidFill>
                    <a:srgbClr val="FFFFFF"/>
                  </a:solidFill>
                  <a:latin typeface="Consolas" panose="020B0609020204030204" pitchFamily="49" charset="0"/>
                  <a:ea typeface="Times New Roman" panose="02020603050405020304" pitchFamily="18" charset="0"/>
                  <a:cs typeface="Consolas" panose="020B0609020204030204" pitchFamily="49" charset="0"/>
                </a:endParaRPr>
              </a:p>
            </p:txBody>
          </p:sp>
          <p:sp>
            <p:nvSpPr>
              <p:cNvPr id="51" name="Прямоугольник 50"/>
              <p:cNvSpPr>
                <a:spLocks noChangeArrowheads="1"/>
              </p:cNvSpPr>
              <p:nvPr/>
            </p:nvSpPr>
            <p:spPr bwMode="auto">
              <a:xfrm>
                <a:off x="6272213" y="4279900"/>
                <a:ext cx="1751013" cy="514350"/>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MODELING</a:t>
                </a:r>
                <a:r>
                  <a:rPr lang="ru-RU"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-моделирование</a:t>
                </a:r>
                <a:endParaRPr lang="ru-RU" altLang="ru-RU" sz="1600" b="1" dirty="0">
                  <a:solidFill>
                    <a:srgbClr val="FFFFFF"/>
                  </a:solidFill>
                  <a:latin typeface="Consolas" panose="020B0609020204030204" pitchFamily="49" charset="0"/>
                  <a:ea typeface="Times New Roman" panose="02020603050405020304" pitchFamily="18" charset="0"/>
                  <a:cs typeface="Consolas" panose="020B0609020204030204" pitchFamily="49" charset="0"/>
                </a:endParaRPr>
              </a:p>
            </p:txBody>
          </p:sp>
          <p:sp>
            <p:nvSpPr>
              <p:cNvPr id="52" name="Прямоугольник 51"/>
              <p:cNvSpPr>
                <a:spLocks noChangeArrowheads="1"/>
              </p:cNvSpPr>
              <p:nvPr/>
            </p:nvSpPr>
            <p:spPr bwMode="auto">
              <a:xfrm>
                <a:off x="4346575" y="5362575"/>
                <a:ext cx="1470025" cy="514350"/>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EVALUATION</a:t>
                </a:r>
                <a:r>
                  <a:rPr lang="ru-RU"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 -оценка</a:t>
                </a:r>
                <a:endParaRPr lang="ru-RU" altLang="ru-RU" sz="1600" b="1" dirty="0">
                  <a:solidFill>
                    <a:srgbClr val="FFFFFF"/>
                  </a:solidFill>
                  <a:latin typeface="Consolas" panose="020B0609020204030204" pitchFamily="49" charset="0"/>
                  <a:ea typeface="Times New Roman" panose="02020603050405020304" pitchFamily="18" charset="0"/>
                  <a:cs typeface="Consolas" panose="020B0609020204030204" pitchFamily="49" charset="0"/>
                </a:endParaRPr>
              </a:p>
            </p:txBody>
          </p:sp>
          <p:sp>
            <p:nvSpPr>
              <p:cNvPr id="53" name="Прямоугольник 52"/>
              <p:cNvSpPr>
                <a:spLocks noChangeArrowheads="1"/>
              </p:cNvSpPr>
              <p:nvPr/>
            </p:nvSpPr>
            <p:spPr bwMode="auto">
              <a:xfrm>
                <a:off x="2297113" y="3717925"/>
                <a:ext cx="1470025" cy="514350"/>
              </a:xfrm>
              <a:prstGeom prst="rect">
                <a:avLst/>
              </a:prstGeom>
              <a:solidFill>
                <a:schemeClr val="bg1">
                  <a:alpha val="50195"/>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85227" tIns="42613" rIns="85227" bIns="4261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15000"/>
                  </a:lnSpc>
                  <a:spcAft>
                    <a:spcPts val="1000"/>
                  </a:spcAft>
                </a:pPr>
                <a:r>
                  <a:rPr lang="en-US"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DEPLOYMENT</a:t>
                </a:r>
                <a:r>
                  <a:rPr lang="ru-RU" altLang="ru-RU" sz="1600" b="1" dirty="0">
                    <a:solidFill>
                      <a:srgbClr val="000000"/>
                    </a:solidFill>
                    <a:latin typeface="Consolas" panose="020B0609020204030204" pitchFamily="49" charset="0"/>
                    <a:ea typeface="Calibri" panose="020F0502020204030204" pitchFamily="34" charset="0"/>
                    <a:cs typeface="Consolas" panose="020B0609020204030204" pitchFamily="49" charset="0"/>
                  </a:rPr>
                  <a:t> - внедрение</a:t>
                </a:r>
                <a:endParaRPr lang="ru-RU" altLang="ru-RU" sz="1600" b="1" dirty="0">
                  <a:solidFill>
                    <a:srgbClr val="FFFFFF"/>
                  </a:solidFill>
                  <a:latin typeface="Consolas" panose="020B0609020204030204" pitchFamily="49" charset="0"/>
                  <a:ea typeface="Times New Roman" panose="02020603050405020304" pitchFamily="18" charset="0"/>
                  <a:cs typeface="Consolas" panose="020B0609020204030204" pitchFamily="49" charset="0"/>
                </a:endParaRPr>
              </a:p>
            </p:txBody>
          </p:sp>
          <p:cxnSp>
            <p:nvCxnSpPr>
              <p:cNvPr id="54" name="Прямая со стрелкой 53"/>
              <p:cNvCxnSpPr>
                <a:cxnSpLocks noChangeShapeType="1"/>
              </p:cNvCxnSpPr>
              <p:nvPr/>
            </p:nvCxnSpPr>
            <p:spPr bwMode="auto">
              <a:xfrm>
                <a:off x="4430713" y="2220913"/>
                <a:ext cx="1163638" cy="69850"/>
              </a:xfrm>
              <a:prstGeom prst="straightConnector1">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55" name="Прямая со стрелкой 54"/>
              <p:cNvCxnSpPr>
                <a:cxnSpLocks noChangeShapeType="1"/>
                <a:stCxn id="49" idx="1"/>
                <a:endCxn id="48" idx="3"/>
              </p:cNvCxnSpPr>
              <p:nvPr/>
            </p:nvCxnSpPr>
            <p:spPr bwMode="auto">
              <a:xfrm flipH="1">
                <a:off x="4398963" y="2379663"/>
                <a:ext cx="1217613" cy="73025"/>
              </a:xfrm>
              <a:prstGeom prst="straightConnector1">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56" name="Скругленная соединительная линия 55"/>
              <p:cNvCxnSpPr>
                <a:cxnSpLocks noChangeShapeType="1"/>
                <a:endCxn id="50" idx="0"/>
              </p:cNvCxnSpPr>
              <p:nvPr/>
            </p:nvCxnSpPr>
            <p:spPr bwMode="auto">
              <a:xfrm>
                <a:off x="6391275" y="2697163"/>
                <a:ext cx="615950" cy="542925"/>
              </a:xfrm>
              <a:prstGeom prst="curvedConnector2">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57" name="Прямая со стрелкой 56"/>
              <p:cNvCxnSpPr>
                <a:cxnSpLocks noChangeShapeType="1"/>
              </p:cNvCxnSpPr>
              <p:nvPr/>
            </p:nvCxnSpPr>
            <p:spPr bwMode="auto">
              <a:xfrm>
                <a:off x="6802438" y="3802063"/>
                <a:ext cx="69850" cy="434975"/>
              </a:xfrm>
              <a:prstGeom prst="straightConnector1">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58" name="Прямая со стрелкой 57"/>
              <p:cNvCxnSpPr>
                <a:cxnSpLocks noChangeShapeType="1"/>
              </p:cNvCxnSpPr>
              <p:nvPr/>
            </p:nvCxnSpPr>
            <p:spPr bwMode="auto">
              <a:xfrm flipV="1">
                <a:off x="7089775" y="3803650"/>
                <a:ext cx="69850" cy="434975"/>
              </a:xfrm>
              <a:prstGeom prst="straightConnector1">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59" name="Скругленная соединительная линия 58"/>
              <p:cNvCxnSpPr>
                <a:cxnSpLocks noChangeShapeType="1"/>
                <a:stCxn id="51" idx="2"/>
                <a:endCxn id="52" idx="3"/>
              </p:cNvCxnSpPr>
              <p:nvPr/>
            </p:nvCxnSpPr>
            <p:spPr bwMode="auto">
              <a:xfrm rot="5400000">
                <a:off x="6069013" y="4541838"/>
                <a:ext cx="825500" cy="1331913"/>
              </a:xfrm>
              <a:prstGeom prst="curvedConnector2">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cxnSp>
            <p:nvCxnSpPr>
              <p:cNvPr id="60" name="Скругленная соединительная линия 59"/>
              <p:cNvCxnSpPr>
                <a:cxnSpLocks noChangeShapeType="1"/>
                <a:stCxn id="52" idx="1"/>
                <a:endCxn id="53" idx="2"/>
              </p:cNvCxnSpPr>
              <p:nvPr/>
            </p:nvCxnSpPr>
            <p:spPr bwMode="auto">
              <a:xfrm rot="10800000">
                <a:off x="3032125" y="4232275"/>
                <a:ext cx="1314450" cy="1387475"/>
              </a:xfrm>
              <a:prstGeom prst="curvedConnector2">
                <a:avLst/>
              </a:prstGeom>
              <a:noFill/>
              <a:ln w="38100" algn="ctr">
                <a:solidFill>
                  <a:schemeClr val="bg2"/>
                </a:solidFill>
                <a:round/>
                <a:headEnd/>
                <a:tailEnd type="arrow" w="med" len="med"/>
              </a:ln>
              <a:extLst>
                <a:ext uri="{909E8E84-426E-40DD-AFC4-6F175D3DCCD1}">
                  <a14:hiddenFill xmlns:a14="http://schemas.microsoft.com/office/drawing/2010/main">
                    <a:noFill/>
                  </a14:hiddenFill>
                </a:ext>
              </a:extLst>
            </p:spPr>
          </p:cxnSp>
          <p:sp>
            <p:nvSpPr>
              <p:cNvPr id="61" name="Круговая стрелка 60"/>
              <p:cNvSpPr/>
              <p:nvPr/>
            </p:nvSpPr>
            <p:spPr bwMode="auto">
              <a:xfrm rot="5400000">
                <a:off x="2110368" y="741942"/>
                <a:ext cx="5788453" cy="6900863"/>
              </a:xfrm>
              <a:prstGeom prst="circularArrow">
                <a:avLst>
                  <a:gd name="adj1" fmla="val 369"/>
                  <a:gd name="adj2" fmla="val 760637"/>
                  <a:gd name="adj3" fmla="val 15505244"/>
                  <a:gd name="adj4" fmla="val 10800000"/>
                  <a:gd name="adj5" fmla="val 45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5000"/>
                  </a:lnSpc>
                  <a:spcBef>
                    <a:spcPts val="0"/>
                  </a:spcBef>
                  <a:spcAft>
                    <a:spcPts val="1000"/>
                  </a:spcAft>
                  <a:defRPr/>
                </a:pPr>
                <a:r>
                  <a:rPr lang="ru-RU" sz="1200">
                    <a:latin typeface="Consolas" panose="020B0609020204030204" pitchFamily="49" charset="0"/>
                    <a:ea typeface="Times New Roman"/>
                    <a:cs typeface="Consolas" panose="020B0609020204030204" pitchFamily="49" charset="0"/>
                  </a:rPr>
                  <a:t> </a:t>
                </a:r>
              </a:p>
            </p:txBody>
          </p:sp>
          <p:sp>
            <p:nvSpPr>
              <p:cNvPr id="62" name="Freeform 33"/>
              <p:cNvSpPr>
                <a:spLocks/>
              </p:cNvSpPr>
              <p:nvPr/>
            </p:nvSpPr>
            <p:spPr bwMode="auto">
              <a:xfrm>
                <a:off x="4346575" y="2698750"/>
                <a:ext cx="1668463" cy="2663825"/>
              </a:xfrm>
              <a:custGeom>
                <a:avLst/>
                <a:gdLst>
                  <a:gd name="T0" fmla="*/ 726 w 1051"/>
                  <a:gd name="T1" fmla="*/ 1678 h 1678"/>
                  <a:gd name="T2" fmla="*/ 1043 w 1051"/>
                  <a:gd name="T3" fmla="*/ 862 h 1678"/>
                  <a:gd name="T4" fmla="*/ 680 w 1051"/>
                  <a:gd name="T5" fmla="*/ 182 h 1678"/>
                  <a:gd name="T6" fmla="*/ 0 w 1051"/>
                  <a:gd name="T7" fmla="*/ 0 h 1678"/>
                </a:gdLst>
                <a:ahLst/>
                <a:cxnLst>
                  <a:cxn ang="0">
                    <a:pos x="T0" y="T1"/>
                  </a:cxn>
                  <a:cxn ang="0">
                    <a:pos x="T2" y="T3"/>
                  </a:cxn>
                  <a:cxn ang="0">
                    <a:pos x="T4" y="T5"/>
                  </a:cxn>
                  <a:cxn ang="0">
                    <a:pos x="T6" y="T7"/>
                  </a:cxn>
                </a:cxnLst>
                <a:rect l="0" t="0" r="r" b="b"/>
                <a:pathLst>
                  <a:path w="1051" h="1678">
                    <a:moveTo>
                      <a:pt x="726" y="1678"/>
                    </a:moveTo>
                    <a:cubicBezTo>
                      <a:pt x="888" y="1394"/>
                      <a:pt x="1051" y="1111"/>
                      <a:pt x="1043" y="862"/>
                    </a:cubicBezTo>
                    <a:cubicBezTo>
                      <a:pt x="1035" y="613"/>
                      <a:pt x="854" y="326"/>
                      <a:pt x="680" y="182"/>
                    </a:cubicBezTo>
                    <a:cubicBezTo>
                      <a:pt x="506" y="38"/>
                      <a:pt x="253" y="19"/>
                      <a:pt x="0" y="0"/>
                    </a:cubicBezTo>
                  </a:path>
                </a:pathLst>
              </a:custGeom>
              <a:noFill/>
              <a:ln w="38100" cap="flat" cmpd="sng">
                <a:solidFill>
                  <a:schemeClr val="bg2"/>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ru-RU"/>
              </a:p>
            </p:txBody>
          </p:sp>
          <p:sp>
            <p:nvSpPr>
              <p:cNvPr id="63" name="Text Box 35"/>
              <p:cNvSpPr txBox="1">
                <a:spLocks noChangeArrowheads="1"/>
              </p:cNvSpPr>
              <p:nvPr/>
            </p:nvSpPr>
            <p:spPr bwMode="auto">
              <a:xfrm>
                <a:off x="8091488" y="3922713"/>
                <a:ext cx="2087562"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a:t>Процесс предварительной обработки</a:t>
                </a:r>
              </a:p>
            </p:txBody>
          </p:sp>
          <p:sp>
            <p:nvSpPr>
              <p:cNvPr id="64" name="Line 36"/>
              <p:cNvSpPr>
                <a:spLocks noChangeShapeType="1"/>
              </p:cNvSpPr>
              <p:nvPr/>
            </p:nvSpPr>
            <p:spPr bwMode="auto">
              <a:xfrm flipH="1" flipV="1">
                <a:off x="7370763" y="3779838"/>
                <a:ext cx="720725" cy="358775"/>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65" name="Text Box 37"/>
              <p:cNvSpPr txBox="1">
                <a:spLocks noChangeArrowheads="1"/>
              </p:cNvSpPr>
              <p:nvPr/>
            </p:nvSpPr>
            <p:spPr bwMode="auto">
              <a:xfrm>
                <a:off x="7443788" y="5362575"/>
                <a:ext cx="2087562"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a:t>Проверка гипотез в процессе моделирования</a:t>
                </a:r>
              </a:p>
            </p:txBody>
          </p:sp>
          <p:sp>
            <p:nvSpPr>
              <p:cNvPr id="66" name="Line 38"/>
              <p:cNvSpPr>
                <a:spLocks noChangeShapeType="1"/>
              </p:cNvSpPr>
              <p:nvPr/>
            </p:nvSpPr>
            <p:spPr bwMode="auto">
              <a:xfrm flipH="1" flipV="1">
                <a:off x="7083425" y="4787900"/>
                <a:ext cx="792163" cy="574675"/>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67" name="Text Box 39"/>
              <p:cNvSpPr txBox="1">
                <a:spLocks noChangeArrowheads="1"/>
              </p:cNvSpPr>
              <p:nvPr/>
            </p:nvSpPr>
            <p:spPr bwMode="auto">
              <a:xfrm>
                <a:off x="746125" y="5834063"/>
                <a:ext cx="2520950"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a:t>Заказчик помогает определить ценность полученных данных</a:t>
                </a:r>
              </a:p>
            </p:txBody>
          </p:sp>
          <p:sp>
            <p:nvSpPr>
              <p:cNvPr id="68" name="Line 40"/>
              <p:cNvSpPr>
                <a:spLocks noChangeShapeType="1"/>
              </p:cNvSpPr>
              <p:nvPr/>
            </p:nvSpPr>
            <p:spPr bwMode="auto">
              <a:xfrm flipV="1">
                <a:off x="3267075" y="5580063"/>
                <a:ext cx="1150938" cy="719137"/>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69" name="Text Box 41"/>
              <p:cNvSpPr txBox="1">
                <a:spLocks noChangeArrowheads="1"/>
              </p:cNvSpPr>
              <p:nvPr/>
            </p:nvSpPr>
            <p:spPr bwMode="auto">
              <a:xfrm>
                <a:off x="242888" y="4572000"/>
                <a:ext cx="1800225" cy="10772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sz="1600" b="1"/>
                  <a:t>Внедрение автоматизации принятия решений</a:t>
                </a:r>
              </a:p>
            </p:txBody>
          </p:sp>
          <p:sp>
            <p:nvSpPr>
              <p:cNvPr id="70" name="Line 42"/>
              <p:cNvSpPr>
                <a:spLocks noChangeShapeType="1"/>
              </p:cNvSpPr>
              <p:nvPr/>
            </p:nvSpPr>
            <p:spPr bwMode="auto">
              <a:xfrm flipV="1">
                <a:off x="1609725" y="4067175"/>
                <a:ext cx="720725" cy="504825"/>
              </a:xfrm>
              <a:prstGeom prst="line">
                <a:avLst/>
              </a:prstGeom>
              <a:noFill/>
              <a:ln w="28575">
                <a:solidFill>
                  <a:srgbClr val="FF505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71" name="Стрелка вниз 70"/>
              <p:cNvSpPr/>
              <p:nvPr/>
            </p:nvSpPr>
            <p:spPr bwMode="auto">
              <a:xfrm>
                <a:off x="680244" y="2060690"/>
                <a:ext cx="633413" cy="566738"/>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83"/>
                <a:endParaRPr lang="ru-RU"/>
              </a:p>
            </p:txBody>
          </p:sp>
        </p:grpSp>
      </p:grpSp>
      <p:sp>
        <p:nvSpPr>
          <p:cNvPr id="2" name="Номер слайда 1">
            <a:extLst>
              <a:ext uri="{FF2B5EF4-FFF2-40B4-BE49-F238E27FC236}">
                <a16:creationId xmlns:a16="http://schemas.microsoft.com/office/drawing/2014/main" id="{1C66391C-F6D5-4AC6-AE88-1CD569A44D58}"/>
              </a:ext>
            </a:extLst>
          </p:cNvPr>
          <p:cNvSpPr>
            <a:spLocks noGrp="1"/>
          </p:cNvSpPr>
          <p:nvPr>
            <p:ph type="sldNum" sz="quarter" idx="12"/>
          </p:nvPr>
        </p:nvSpPr>
        <p:spPr/>
        <p:txBody>
          <a:bodyPr/>
          <a:lstStyle/>
          <a:p>
            <a:fld id="{952B6C0E-C4B9-4094-8E59-5B7DF00D5415}" type="slidenum">
              <a:rPr lang="ru-RU" smtClean="0"/>
              <a:t>6</a:t>
            </a:fld>
            <a:endParaRPr lang="ru-RU"/>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5" name="AutoShape 9"/>
          <p:cNvSpPr>
            <a:spLocks noChangeArrowheads="1"/>
          </p:cNvSpPr>
          <p:nvPr/>
        </p:nvSpPr>
        <p:spPr bwMode="auto">
          <a:xfrm>
            <a:off x="633411" y="322262"/>
            <a:ext cx="11821394" cy="6489701"/>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80901"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accent2">
                    <a:lumMod val="60000"/>
                    <a:lumOff val="40000"/>
                  </a:schemeClr>
                </a:solidFill>
                <a:latin typeface="Courier New" panose="02070309020205020404" pitchFamily="49" charset="0"/>
              </a:rPr>
              <a:t>Обработка больших данных. Л3</a:t>
            </a:r>
          </a:p>
        </p:txBody>
      </p:sp>
      <p:pic>
        <p:nvPicPr>
          <p:cNvPr id="80903" name="Picture 7" descr="CRISP-DM &amp;mcy;&amp;iecy;&amp;tcy;&amp;ocy;&amp;dcy;&amp;ocy;&amp;lcy;&amp;ocy;&amp;gcy;&amp;icy;&amp;yacy;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0503" y="1550988"/>
            <a:ext cx="7208837" cy="4964112"/>
          </a:xfrm>
          <a:prstGeom prst="rect">
            <a:avLst/>
          </a:prstGeom>
          <a:noFill/>
          <a:extLst>
            <a:ext uri="{909E8E84-426E-40DD-AFC4-6F175D3DCCD1}">
              <a14:hiddenFill xmlns:a14="http://schemas.microsoft.com/office/drawing/2010/main">
                <a:solidFill>
                  <a:srgbClr val="FFFFFF"/>
                </a:solidFill>
              </a14:hiddenFill>
            </a:ext>
          </a:extLst>
        </p:spPr>
      </p:pic>
      <p:sp>
        <p:nvSpPr>
          <p:cNvPr id="80904" name="TextBox 1"/>
          <p:cNvSpPr txBox="1">
            <a:spLocks noChangeArrowheads="1"/>
          </p:cNvSpPr>
          <p:nvPr/>
        </p:nvSpPr>
        <p:spPr bwMode="auto">
          <a:xfrm>
            <a:off x="1654177" y="538164"/>
            <a:ext cx="75602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ru-RU" altLang="ru-RU" sz="2400" b="1" dirty="0">
                <a:latin typeface="Calibri Light" panose="020F0302020204030204" pitchFamily="34" charset="0"/>
              </a:rPr>
              <a:t>Этапы аналитики в соответствии со стандартом  </a:t>
            </a:r>
            <a:r>
              <a:rPr lang="en-US" altLang="ru-RU" sz="2400" b="1" dirty="0">
                <a:latin typeface="Calibri Light" panose="020F0302020204030204" pitchFamily="34" charset="0"/>
              </a:rPr>
              <a:t>CRISP-DM</a:t>
            </a:r>
            <a:r>
              <a:rPr lang="ru-RU" altLang="ru-RU" sz="2400" b="1" dirty="0">
                <a:latin typeface="Calibri Light" panose="020F0302020204030204" pitchFamily="34" charset="0"/>
              </a:rPr>
              <a:t> с несколько другой точки зрения </a:t>
            </a:r>
          </a:p>
        </p:txBody>
      </p:sp>
      <p:sp>
        <p:nvSpPr>
          <p:cNvPr id="2" name="Номер слайда 1">
            <a:extLst>
              <a:ext uri="{FF2B5EF4-FFF2-40B4-BE49-F238E27FC236}">
                <a16:creationId xmlns:a16="http://schemas.microsoft.com/office/drawing/2014/main" id="{BD1E2DED-7B48-40EE-A0ED-1DD176E87341}"/>
              </a:ext>
            </a:extLst>
          </p:cNvPr>
          <p:cNvSpPr>
            <a:spLocks noGrp="1"/>
          </p:cNvSpPr>
          <p:nvPr>
            <p:ph type="sldNum" sz="quarter" idx="12"/>
          </p:nvPr>
        </p:nvSpPr>
        <p:spPr/>
        <p:txBody>
          <a:bodyPr/>
          <a:lstStyle/>
          <a:p>
            <a:fld id="{952B6C0E-C4B9-4094-8E59-5B7DF00D5415}" type="slidenum">
              <a:rPr lang="ru-RU" smtClean="0"/>
              <a:t>7</a:t>
            </a:fld>
            <a:endParaRPr lang="ru-RU"/>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72" name="Group 8"/>
          <p:cNvGrpSpPr>
            <a:grpSpLocks/>
          </p:cNvGrpSpPr>
          <p:nvPr/>
        </p:nvGrpSpPr>
        <p:grpSpPr bwMode="auto">
          <a:xfrm>
            <a:off x="285453" y="179389"/>
            <a:ext cx="11953327" cy="6696075"/>
            <a:chOff x="153" y="113"/>
            <a:chExt cx="6168" cy="4218"/>
          </a:xfrm>
        </p:grpSpPr>
        <p:sp>
          <p:nvSpPr>
            <p:cNvPr id="62473" name="AutoShape 4"/>
            <p:cNvSpPr>
              <a:spLocks noChangeArrowheads="1"/>
            </p:cNvSpPr>
            <p:nvPr/>
          </p:nvSpPr>
          <p:spPr bwMode="auto">
            <a:xfrm>
              <a:off x="153" y="113"/>
              <a:ext cx="6168" cy="421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62474" name="AutoShape 5"/>
            <p:cNvSpPr>
              <a:spLocks noChangeArrowheads="1"/>
            </p:cNvSpPr>
            <p:nvPr/>
          </p:nvSpPr>
          <p:spPr bwMode="auto">
            <a:xfrm>
              <a:off x="561" y="249"/>
              <a:ext cx="5261" cy="544"/>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62475" name="AutoShape 6"/>
            <p:cNvSpPr>
              <a:spLocks noChangeArrowheads="1"/>
            </p:cNvSpPr>
            <p:nvPr/>
          </p:nvSpPr>
          <p:spPr bwMode="auto">
            <a:xfrm>
              <a:off x="244" y="929"/>
              <a:ext cx="5941" cy="331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a:solidFill>
                    <a:schemeClr val="tx1"/>
                  </a:solidFill>
                  <a:latin typeface="Arial" panose="020B0604020202020204" pitchFamily="34" charset="0"/>
                </a:defRPr>
              </a:lvl1pPr>
              <a:lvl2pPr marL="742950" indent="-285750" defTabSz="993775">
                <a:defRPr>
                  <a:solidFill>
                    <a:schemeClr val="tx1"/>
                  </a:solidFill>
                  <a:latin typeface="Arial" panose="020B0604020202020204" pitchFamily="34" charset="0"/>
                </a:defRPr>
              </a:lvl2pPr>
              <a:lvl3pPr marL="1143000" indent="-228600" defTabSz="993775">
                <a:defRPr>
                  <a:solidFill>
                    <a:schemeClr val="tx1"/>
                  </a:solidFill>
                  <a:latin typeface="Arial" panose="020B0604020202020204" pitchFamily="34" charset="0"/>
                </a:defRPr>
              </a:lvl3pPr>
              <a:lvl4pPr marL="1600200" indent="-228600" defTabSz="993775">
                <a:defRPr>
                  <a:solidFill>
                    <a:schemeClr val="tx1"/>
                  </a:solidFill>
                  <a:latin typeface="Arial" panose="020B0604020202020204" pitchFamily="34" charset="0"/>
                </a:defRPr>
              </a:lvl4pPr>
              <a:lvl5pPr marL="2057400" indent="-228600" defTabSz="993775">
                <a:defRPr>
                  <a:solidFill>
                    <a:schemeClr val="tx1"/>
                  </a:solidFill>
                  <a:latin typeface="Arial" panose="020B0604020202020204" pitchFamily="34" charset="0"/>
                </a:defRPr>
              </a:lvl5pPr>
              <a:lvl6pPr marL="2514600" indent="-228600" defTabSz="993775" fontAlgn="base">
                <a:spcBef>
                  <a:spcPct val="0"/>
                </a:spcBef>
                <a:spcAft>
                  <a:spcPct val="0"/>
                </a:spcAft>
                <a:defRPr>
                  <a:solidFill>
                    <a:schemeClr val="tx1"/>
                  </a:solidFill>
                  <a:latin typeface="Arial" panose="020B0604020202020204" pitchFamily="34" charset="0"/>
                </a:defRPr>
              </a:lvl6pPr>
              <a:lvl7pPr marL="2971800" indent="-228600" defTabSz="993775" fontAlgn="base">
                <a:spcBef>
                  <a:spcPct val="0"/>
                </a:spcBef>
                <a:spcAft>
                  <a:spcPct val="0"/>
                </a:spcAft>
                <a:defRPr>
                  <a:solidFill>
                    <a:schemeClr val="tx1"/>
                  </a:solidFill>
                  <a:latin typeface="Arial" panose="020B0604020202020204" pitchFamily="34" charset="0"/>
                </a:defRPr>
              </a:lvl7pPr>
              <a:lvl8pPr marL="3429000" indent="-228600" defTabSz="993775" fontAlgn="base">
                <a:spcBef>
                  <a:spcPct val="0"/>
                </a:spcBef>
                <a:spcAft>
                  <a:spcPct val="0"/>
                </a:spcAft>
                <a:defRPr>
                  <a:solidFill>
                    <a:schemeClr val="tx1"/>
                  </a:solidFill>
                  <a:latin typeface="Arial" panose="020B0604020202020204" pitchFamily="34" charset="0"/>
                </a:defRPr>
              </a:lvl8pPr>
              <a:lvl9pPr marL="3886200" indent="-228600"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grpSp>
      <p:sp>
        <p:nvSpPr>
          <p:cNvPr id="2" name="Заголовок 1"/>
          <p:cNvSpPr>
            <a:spLocks noGrp="1"/>
          </p:cNvSpPr>
          <p:nvPr>
            <p:ph type="title" idx="4294967295"/>
          </p:nvPr>
        </p:nvSpPr>
        <p:spPr bwMode="auto">
          <a:xfrm>
            <a:off x="1195388" y="407988"/>
            <a:ext cx="8351838" cy="850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2800" b="1" dirty="0"/>
              <a:t>Этапы построения модели анализа данных</a:t>
            </a:r>
          </a:p>
        </p:txBody>
      </p:sp>
      <p:sp>
        <p:nvSpPr>
          <p:cNvPr id="62467" name="Объект 2"/>
          <p:cNvSpPr>
            <a:spLocks noGrp="1"/>
          </p:cNvSpPr>
          <p:nvPr>
            <p:ph idx="4294967295"/>
          </p:nvPr>
        </p:nvSpPr>
        <p:spPr bwMode="auto">
          <a:xfrm>
            <a:off x="1195387" y="2051052"/>
            <a:ext cx="9791699" cy="326866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177801" indent="-177801" defTabSz="914407"/>
            <a:r>
              <a:rPr lang="ru-RU" altLang="ru-RU" sz="3100" dirty="0"/>
              <a:t>Формулирование и проверка гипотез</a:t>
            </a:r>
          </a:p>
          <a:p>
            <a:pPr marL="177801" indent="-177801" defTabSz="914407"/>
            <a:endParaRPr lang="ru-RU" altLang="ru-RU" sz="3100" dirty="0"/>
          </a:p>
          <a:p>
            <a:pPr marL="177801" indent="-177801" defTabSz="914407"/>
            <a:r>
              <a:rPr lang="ru-RU" altLang="ru-RU" sz="3100" dirty="0"/>
              <a:t>Разработка численных критериев качества решений</a:t>
            </a:r>
          </a:p>
          <a:p>
            <a:pPr marL="177801" indent="-177801" defTabSz="914407"/>
            <a:endParaRPr lang="ru-RU" altLang="ru-RU" sz="3100" dirty="0"/>
          </a:p>
          <a:p>
            <a:pPr marL="177801" indent="-177801" defTabSz="914407"/>
            <a:r>
              <a:rPr lang="ru-RU" altLang="ru-RU" sz="3100" dirty="0"/>
              <a:t>Просчет эффективности: время/качество</a:t>
            </a: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62470" name="Text Box 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defPPr>
              <a:defRPr lang="ru-RU"/>
            </a:defPPr>
            <a:lvl1pPr defTabSz="993775">
              <a:spcBef>
                <a:spcPct val="50000"/>
              </a:spcBef>
              <a:defRPr b="1">
                <a:solidFill>
                  <a:schemeClr val="accent2">
                    <a:lumMod val="60000"/>
                    <a:lumOff val="40000"/>
                  </a:schemeClr>
                </a:solidFill>
                <a:latin typeface="Courier New" panose="02070309020205020404" pitchFamily="49" charset="0"/>
              </a:defRPr>
            </a:lvl1pPr>
            <a:lvl2pPr marL="496888" defTabSz="993775"/>
            <a:lvl3pPr marL="993775" defTabSz="993775"/>
            <a:lvl4pPr marL="1492250" defTabSz="993775"/>
            <a:lvl5pPr marL="1989138" defTabSz="993775"/>
            <a:lvl6pPr marL="2446338" defTabSz="993775" fontAlgn="base">
              <a:spcBef>
                <a:spcPct val="0"/>
              </a:spcBef>
              <a:spcAft>
                <a:spcPct val="0"/>
              </a:spcAft>
            </a:lvl6pPr>
            <a:lvl7pPr marL="2903538" defTabSz="993775" fontAlgn="base">
              <a:spcBef>
                <a:spcPct val="0"/>
              </a:spcBef>
              <a:spcAft>
                <a:spcPct val="0"/>
              </a:spcAft>
            </a:lvl7pPr>
            <a:lvl8pPr marL="3360738" defTabSz="993775" fontAlgn="base">
              <a:spcBef>
                <a:spcPct val="0"/>
              </a:spcBef>
              <a:spcAft>
                <a:spcPct val="0"/>
              </a:spcAft>
            </a:lvl8pPr>
            <a:lvl9pPr marL="3817938" defTabSz="993775" fontAlgn="base">
              <a:spcBef>
                <a:spcPct val="0"/>
              </a:spcBef>
              <a:spcAft>
                <a:spcPct val="0"/>
              </a:spcAft>
            </a:lvl9pPr>
          </a:lstStyle>
          <a:p>
            <a:r>
              <a:rPr lang="ru-RU" altLang="ru-RU" dirty="0"/>
              <a:t>Обработка больших данных. Л3</a:t>
            </a:r>
          </a:p>
        </p:txBody>
      </p:sp>
      <p:sp>
        <p:nvSpPr>
          <p:cNvPr id="3" name="Номер слайда 2">
            <a:extLst>
              <a:ext uri="{FF2B5EF4-FFF2-40B4-BE49-F238E27FC236}">
                <a16:creationId xmlns:a16="http://schemas.microsoft.com/office/drawing/2014/main" id="{40E6B3B7-69A7-444F-A5D6-802E3532047A}"/>
              </a:ext>
            </a:extLst>
          </p:cNvPr>
          <p:cNvSpPr>
            <a:spLocks noGrp="1"/>
          </p:cNvSpPr>
          <p:nvPr>
            <p:ph type="sldNum" sz="quarter" idx="12"/>
          </p:nvPr>
        </p:nvSpPr>
        <p:spPr>
          <a:xfrm>
            <a:off x="11854424" y="6622259"/>
            <a:ext cx="516138" cy="379409"/>
          </a:xfrm>
        </p:spPr>
        <p:txBody>
          <a:bodyPr/>
          <a:lstStyle/>
          <a:p>
            <a:fld id="{952B6C0E-C4B9-4094-8E59-5B7DF00D5415}" type="slidenum">
              <a:rPr lang="ru-RU" smtClean="0">
                <a:solidFill>
                  <a:schemeClr val="tx1"/>
                </a:solidFill>
              </a:rPr>
              <a:t>8</a:t>
            </a:fld>
            <a:endParaRPr lang="ru-RU">
              <a:solidFill>
                <a:schemeClr val="tx1"/>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txBox="1">
            <a:spLocks/>
          </p:cNvSpPr>
          <p:nvPr/>
        </p:nvSpPr>
        <p:spPr bwMode="auto">
          <a:xfrm>
            <a:off x="1797623" y="2771056"/>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9441" tIns="49721" rIns="99441" bIns="49721" anchor="ct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altLang="ru-RU" sz="3600" b="1" dirty="0"/>
              <a:t>Кто такие </a:t>
            </a:r>
            <a:r>
              <a:rPr lang="en-US" altLang="ru-RU" sz="3600" b="1" dirty="0"/>
              <a:t>Data Scientists</a:t>
            </a:r>
            <a:r>
              <a:rPr lang="ru-RU" altLang="ru-RU" sz="3600" b="1" dirty="0"/>
              <a:t> и чем они занимаются?</a:t>
            </a:r>
          </a:p>
          <a:p>
            <a:endParaRPr lang="ru-RU" altLang="ru-RU" sz="3600" b="1" dirty="0"/>
          </a:p>
          <a:p>
            <a:r>
              <a:rPr lang="ru-RU" altLang="ru-RU" sz="3600" b="1" dirty="0"/>
              <a:t>Процесс познания – когнитивный анализ</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9</a:t>
            </a:fld>
            <a:endParaRPr lang="ru-RU" dirty="0">
              <a:solidFill>
                <a:schemeClr val="tx1"/>
              </a:solidFill>
            </a:endParaRPr>
          </a:p>
        </p:txBody>
      </p:sp>
    </p:spTree>
    <p:extLst>
      <p:ext uri="{BB962C8B-B14F-4D97-AF65-F5344CB8AC3E}">
        <p14:creationId xmlns:p14="http://schemas.microsoft.com/office/powerpoint/2010/main" val="931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AutoShape 9"/>
          <p:cNvSpPr>
            <a:spLocks noChangeArrowheads="1"/>
          </p:cNvSpPr>
          <p:nvPr/>
        </p:nvSpPr>
        <p:spPr bwMode="auto">
          <a:xfrm>
            <a:off x="1438275" y="355164"/>
            <a:ext cx="11088538" cy="648537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7572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3100" b="1" dirty="0"/>
              <a:t>Кто работает с </a:t>
            </a:r>
            <a:r>
              <a:rPr lang="en-US" altLang="ru-RU" sz="3100" b="1" dirty="0"/>
              <a:t>Big Data</a:t>
            </a:r>
            <a:r>
              <a:rPr lang="ru-RU" altLang="ru-RU" sz="3100" b="1" dirty="0"/>
              <a:t>?</a:t>
            </a:r>
          </a:p>
        </p:txBody>
      </p:sp>
      <p:sp>
        <p:nvSpPr>
          <p:cNvPr id="3" name="Объект 2"/>
          <p:cNvSpPr>
            <a:spLocks noGrp="1"/>
          </p:cNvSpPr>
          <p:nvPr>
            <p:ph idx="4294967295"/>
          </p:nvPr>
        </p:nvSpPr>
        <p:spPr bwMode="auto">
          <a:xfrm>
            <a:off x="4317903" y="5598079"/>
            <a:ext cx="3671931" cy="1196641"/>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ru-RU" sz="2400" b="1" dirty="0" err="1"/>
              <a:t>Data-сайентист</a:t>
            </a:r>
            <a:r>
              <a:rPr lang="ru-RU" sz="2400" b="1" dirty="0"/>
              <a:t>.</a:t>
            </a:r>
            <a:r>
              <a:rPr lang="ru-RU" sz="2400" dirty="0"/>
              <a:t> </a:t>
            </a:r>
            <a:endParaRPr lang="en-US" sz="2400" dirty="0"/>
          </a:p>
          <a:p>
            <a:r>
              <a:rPr lang="ru-RU" sz="2400" b="1" dirty="0" err="1"/>
              <a:t>Data</a:t>
            </a:r>
            <a:r>
              <a:rPr lang="ru-RU" sz="2400" b="1" dirty="0"/>
              <a:t>-инженер.</a:t>
            </a:r>
            <a:r>
              <a:rPr lang="ru-RU" sz="2400" dirty="0"/>
              <a:t> </a:t>
            </a:r>
            <a:endParaRPr lang="en-US" sz="2400" dirty="0"/>
          </a:p>
          <a:p>
            <a:r>
              <a:rPr lang="ru-RU" sz="2400" b="1" dirty="0"/>
              <a:t>Аналитик данных.</a:t>
            </a:r>
            <a:r>
              <a:rPr lang="ru-RU" sz="2400" dirty="0"/>
              <a:t> </a:t>
            </a:r>
          </a:p>
        </p:txBody>
      </p:sp>
      <p:sp>
        <p:nvSpPr>
          <p:cNvPr id="59398" name="Text Box 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Л5</a:t>
            </a:r>
          </a:p>
        </p:txBody>
      </p:sp>
      <p:sp>
        <p:nvSpPr>
          <p:cNvPr id="5" name="Номер слайда 4"/>
          <p:cNvSpPr>
            <a:spLocks noGrp="1"/>
          </p:cNvSpPr>
          <p:nvPr>
            <p:ph type="sldNum" sz="quarter" idx="12"/>
          </p:nvPr>
        </p:nvSpPr>
        <p:spPr/>
        <p:txBody>
          <a:bodyPr/>
          <a:lstStyle/>
          <a:p>
            <a:fld id="{952B6C0E-C4B9-4094-8E59-5B7DF00D5415}" type="slidenum">
              <a:rPr lang="ru-RU" smtClean="0">
                <a:solidFill>
                  <a:schemeClr val="tx1"/>
                </a:solidFill>
              </a:rPr>
              <a:t>10</a:t>
            </a:fld>
            <a:endParaRPr lang="ru-RU">
              <a:solidFill>
                <a:schemeClr val="tx1"/>
              </a:solidFill>
            </a:endParaRPr>
          </a:p>
        </p:txBody>
      </p:sp>
      <p:pic>
        <p:nvPicPr>
          <p:cNvPr id="7" name="Рисунок 6"/>
          <p:cNvPicPr>
            <a:picLocks noChangeAspect="1"/>
          </p:cNvPicPr>
          <p:nvPr/>
        </p:nvPicPr>
        <p:blipFill>
          <a:blip r:embed="rId3"/>
          <a:stretch>
            <a:fillRect/>
          </a:stretch>
        </p:blipFill>
        <p:spPr>
          <a:xfrm>
            <a:off x="2159001" y="1012826"/>
            <a:ext cx="7600950" cy="4318922"/>
          </a:xfrm>
          <a:prstGeom prst="rect">
            <a:avLst/>
          </a:prstGeom>
        </p:spPr>
      </p:pic>
    </p:spTree>
    <p:extLst>
      <p:ext uri="{BB962C8B-B14F-4D97-AF65-F5344CB8AC3E}">
        <p14:creationId xmlns:p14="http://schemas.microsoft.com/office/powerpoint/2010/main" val="1154681289"/>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AutoShape 9"/>
          <p:cNvSpPr>
            <a:spLocks noChangeArrowheads="1"/>
          </p:cNvSpPr>
          <p:nvPr/>
        </p:nvSpPr>
        <p:spPr bwMode="auto">
          <a:xfrm>
            <a:off x="357461" y="322263"/>
            <a:ext cx="12097343"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7572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3100" b="1" dirty="0"/>
              <a:t>Кто работает с </a:t>
            </a:r>
            <a:r>
              <a:rPr lang="en-US" altLang="ru-RU" sz="3100" b="1" dirty="0"/>
              <a:t>Big Data</a:t>
            </a:r>
            <a:endParaRPr lang="ru-RU" altLang="ru-RU" sz="3100" b="1" dirty="0"/>
          </a:p>
        </p:txBody>
      </p:sp>
      <p:sp>
        <p:nvSpPr>
          <p:cNvPr id="3" name="Объект 2"/>
          <p:cNvSpPr>
            <a:spLocks noGrp="1"/>
          </p:cNvSpPr>
          <p:nvPr>
            <p:ph idx="4294967295"/>
          </p:nvPr>
        </p:nvSpPr>
        <p:spPr bwMode="auto">
          <a:xfrm>
            <a:off x="681497" y="1195389"/>
            <a:ext cx="11305255" cy="5257226"/>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ru-RU" sz="2200" b="1" dirty="0" err="1"/>
              <a:t>Data</a:t>
            </a:r>
            <a:r>
              <a:rPr lang="ru-RU" sz="2200" b="1" dirty="0"/>
              <a:t>-инженер.</a:t>
            </a:r>
            <a:r>
              <a:rPr lang="ru-RU" sz="2200" dirty="0"/>
              <a:t> Чтобы начать работать с большими данными, необходимо их собрать, организовать место хранения, подготовить и обработать эти данные. Всё это обеспечивает инженер, который </a:t>
            </a:r>
            <a:r>
              <a:rPr lang="ru-RU" sz="2200" b="1" dirty="0"/>
              <a:t>строит процессы работы с </a:t>
            </a:r>
            <a:r>
              <a:rPr lang="ru-RU" sz="2200" b="1" dirty="0" err="1"/>
              <a:t>big</a:t>
            </a:r>
            <a:r>
              <a:rPr lang="ru-RU" sz="2200" b="1" dirty="0"/>
              <a:t> </a:t>
            </a:r>
            <a:r>
              <a:rPr lang="ru-RU" sz="2200" b="1" dirty="0" err="1"/>
              <a:t>data</a:t>
            </a:r>
            <a:r>
              <a:rPr lang="ru-RU" sz="2200" dirty="0"/>
              <a:t>. </a:t>
            </a:r>
            <a:r>
              <a:rPr lang="ru-RU" sz="2200" dirty="0" err="1"/>
              <a:t>Data</a:t>
            </a:r>
            <a:r>
              <a:rPr lang="ru-RU" sz="2200" dirty="0"/>
              <a:t>-инженер — это программист, у которого есть опыт работы с различными базами данных и высоконагруженными системами обработки данных.</a:t>
            </a:r>
          </a:p>
          <a:p>
            <a:r>
              <a:rPr lang="ru-RU" sz="2200" b="1" dirty="0" err="1"/>
              <a:t>Data-сайентист</a:t>
            </a:r>
            <a:r>
              <a:rPr lang="ru-RU" sz="2200" b="1" dirty="0"/>
              <a:t>.</a:t>
            </a:r>
            <a:r>
              <a:rPr lang="ru-RU" sz="2200" dirty="0"/>
              <a:t> Это эксперт в анализе данных, математической статистике, теории вероятности. Его </a:t>
            </a:r>
            <a:r>
              <a:rPr lang="ru-RU" sz="2200" b="1" dirty="0"/>
              <a:t>главная задача — построение математических моделей </a:t>
            </a:r>
            <a:r>
              <a:rPr lang="ru-RU" sz="2200" dirty="0"/>
              <a:t>для прогнозирования, оптимизации и других задач. </a:t>
            </a:r>
            <a:r>
              <a:rPr lang="ru-RU" sz="2200" dirty="0" err="1"/>
              <a:t>Data-сайентист</a:t>
            </a:r>
            <a:r>
              <a:rPr lang="ru-RU" sz="2200" dirty="0"/>
              <a:t> в меньшей степени погружен в бизнес-процессы компании, потому что сфокусирован на техническом и математическом решении задач.</a:t>
            </a:r>
          </a:p>
          <a:p>
            <a:r>
              <a:rPr lang="ru-RU" sz="2200" b="1" dirty="0"/>
              <a:t>Аналитик данных.</a:t>
            </a:r>
            <a:r>
              <a:rPr lang="ru-RU" sz="2200" dirty="0"/>
              <a:t> Это эксперт в анализе данных и бизнес-процессах компании, в которой он работает. Аналитик </a:t>
            </a:r>
            <a:r>
              <a:rPr lang="ru-RU" sz="2200" b="1" dirty="0"/>
              <a:t>разбирается в задачах и проблемах бизнеса, знает, какие данные доступны для анализа.</a:t>
            </a:r>
            <a:r>
              <a:rPr lang="ru-RU" sz="2200" dirty="0"/>
              <a:t> Он является связующим звеном между бизнесом и миром больших данных.</a:t>
            </a: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59398" name="Text Box 6"/>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Л5</a:t>
            </a:r>
          </a:p>
        </p:txBody>
      </p:sp>
      <p:sp>
        <p:nvSpPr>
          <p:cNvPr id="5" name="Номер слайда 4"/>
          <p:cNvSpPr>
            <a:spLocks noGrp="1"/>
          </p:cNvSpPr>
          <p:nvPr>
            <p:ph type="sldNum" sz="quarter" idx="12"/>
          </p:nvPr>
        </p:nvSpPr>
        <p:spPr/>
        <p:txBody>
          <a:bodyPr/>
          <a:lstStyle/>
          <a:p>
            <a:fld id="{952B6C0E-C4B9-4094-8E59-5B7DF00D5415}" type="slidenum">
              <a:rPr lang="ru-RU" smtClean="0">
                <a:solidFill>
                  <a:schemeClr val="tx1"/>
                </a:solidFill>
              </a:rPr>
              <a:t>11</a:t>
            </a:fld>
            <a:endParaRPr lang="ru-RU">
              <a:solidFill>
                <a:schemeClr val="tx1"/>
              </a:solidFill>
            </a:endParaRPr>
          </a:p>
        </p:txBody>
      </p:sp>
    </p:spTree>
    <p:extLst>
      <p:ext uri="{BB962C8B-B14F-4D97-AF65-F5344CB8AC3E}">
        <p14:creationId xmlns:p14="http://schemas.microsoft.com/office/powerpoint/2010/main" val="167200155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506" name="Group 7"/>
          <p:cNvGrpSpPr>
            <a:grpSpLocks/>
          </p:cNvGrpSpPr>
          <p:nvPr/>
        </p:nvGrpSpPr>
        <p:grpSpPr bwMode="auto">
          <a:xfrm>
            <a:off x="861517" y="322263"/>
            <a:ext cx="11377264" cy="6553200"/>
            <a:chOff x="153" y="203"/>
            <a:chExt cx="6168" cy="4128"/>
          </a:xfrm>
        </p:grpSpPr>
        <p:sp>
          <p:nvSpPr>
            <p:cNvPr id="149512" name="AutoShape 4"/>
            <p:cNvSpPr>
              <a:spLocks noChangeArrowheads="1"/>
            </p:cNvSpPr>
            <p:nvPr/>
          </p:nvSpPr>
          <p:spPr bwMode="auto">
            <a:xfrm>
              <a:off x="153" y="203"/>
              <a:ext cx="6168" cy="412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49513" name="AutoShape 5"/>
            <p:cNvSpPr>
              <a:spLocks noChangeArrowheads="1"/>
            </p:cNvSpPr>
            <p:nvPr/>
          </p:nvSpPr>
          <p:spPr bwMode="auto">
            <a:xfrm>
              <a:off x="561" y="249"/>
              <a:ext cx="5261" cy="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49514" name="AutoShape 6"/>
            <p:cNvSpPr>
              <a:spLocks noChangeArrowheads="1"/>
            </p:cNvSpPr>
            <p:nvPr/>
          </p:nvSpPr>
          <p:spPr bwMode="auto">
            <a:xfrm>
              <a:off x="244" y="1119"/>
              <a:ext cx="5941" cy="312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grpSp>
      <p:sp>
        <p:nvSpPr>
          <p:cNvPr id="142339" name="Заголовок 1"/>
          <p:cNvSpPr>
            <a:spLocks noGrp="1"/>
          </p:cNvSpPr>
          <p:nvPr>
            <p:ph type="title" idx="4294967295"/>
          </p:nvPr>
        </p:nvSpPr>
        <p:spPr>
          <a:xfrm>
            <a:off x="2733677" y="592139"/>
            <a:ext cx="7000875" cy="828675"/>
          </a:xfrm>
          <a:extLst>
            <a:ext uri="{91240B29-F687-4F45-9708-019B960494DF}">
              <a14:hiddenLine xmlns:a14="http://schemas.microsoft.com/office/drawing/2010/main" w="9525" algn="ctr">
                <a:solidFill>
                  <a:srgbClr val="000000"/>
                </a:solidFill>
                <a:miter lim="800000"/>
                <a:headEnd/>
                <a:tailEnd/>
              </a14:hiddenLine>
            </a:ext>
          </a:extLst>
        </p:spPr>
        <p:txBody>
          <a:bodyPr vert="horz" lIns="99441" tIns="49721" rIns="99441" bIns="49721" rtlCol="0" anchor="ctr">
            <a:normAutofit fontScale="90000"/>
          </a:bodyPr>
          <a:lstStyle/>
          <a:p>
            <a:pPr>
              <a:defRPr/>
            </a:pPr>
            <a:r>
              <a:rPr lang="ru-RU" altLang="ru-RU" sz="3100" b="1" dirty="0"/>
              <a:t>Навыки, необходимые аналитику </a:t>
            </a:r>
            <a:r>
              <a:rPr lang="ru-RU" altLang="ru-RU" sz="3100" b="1" dirty="0" err="1"/>
              <a:t>Big</a:t>
            </a:r>
            <a:r>
              <a:rPr lang="ru-RU" altLang="ru-RU" sz="3100" b="1" dirty="0"/>
              <a:t> </a:t>
            </a:r>
            <a:r>
              <a:rPr lang="ru-RU" altLang="ru-RU" sz="3100" b="1" dirty="0" err="1"/>
              <a:t>Data</a:t>
            </a:r>
            <a:endParaRPr lang="ru-RU" altLang="ru-RU" sz="3100" b="1" dirty="0"/>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149509" name="Text Box 7"/>
          <p:cNvSpPr txBox="1">
            <a:spLocks noChangeArrowheads="1"/>
          </p:cNvSpPr>
          <p:nvPr/>
        </p:nvSpPr>
        <p:spPr bwMode="auto">
          <a:xfrm>
            <a:off x="3905252" y="0"/>
            <a:ext cx="5100637" cy="40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a:solidFill>
                  <a:schemeClr val="bg2"/>
                </a:solidFill>
                <a:latin typeface="Courier New" panose="02070309020205020404" pitchFamily="49" charset="0"/>
              </a:rPr>
              <a:t>Обработка больших данных. Л1</a:t>
            </a:r>
          </a:p>
        </p:txBody>
      </p:sp>
      <p:sp>
        <p:nvSpPr>
          <p:cNvPr id="3" name="Прямоугольник 2"/>
          <p:cNvSpPr/>
          <p:nvPr/>
        </p:nvSpPr>
        <p:spPr>
          <a:xfrm>
            <a:off x="861517" y="1862340"/>
            <a:ext cx="10958547" cy="4093428"/>
          </a:xfrm>
          <a:prstGeom prst="rect">
            <a:avLst/>
          </a:prstGeom>
        </p:spPr>
        <p:txBody>
          <a:bodyPr wrap="square">
            <a:spAutoFit/>
          </a:bodyPr>
          <a:lstStyle/>
          <a:p>
            <a:pPr>
              <a:defRPr/>
            </a:pPr>
            <a:r>
              <a:rPr lang="ru-RU" dirty="0"/>
              <a:t>Навыки, необходимые аналитику Big Data:</a:t>
            </a:r>
            <a:br>
              <a:rPr lang="ru-RU" dirty="0"/>
            </a:br>
            <a:endParaRPr lang="ru-RU" dirty="0"/>
          </a:p>
          <a:p>
            <a:pPr marL="342903" indent="-342903">
              <a:buFont typeface="Arial" panose="020B0604020202020204" pitchFamily="34" charset="0"/>
              <a:buChar char="•"/>
              <a:defRPr/>
            </a:pPr>
            <a:r>
              <a:rPr lang="ru-RU" dirty="0"/>
              <a:t>Умение быстро разобраться в особенностях в той области, для которой проводится анализ, погрузиться в аспекты нужной сферы. Это может быть ритейл, нефтегазовая отрасль, медицина и т.п.</a:t>
            </a:r>
            <a:br>
              <a:rPr lang="ru-RU" dirty="0"/>
            </a:br>
            <a:endParaRPr lang="ru-RU" dirty="0"/>
          </a:p>
          <a:p>
            <a:pPr marL="342903" indent="-342903">
              <a:buFont typeface="Arial" panose="020B0604020202020204" pitchFamily="34" charset="0"/>
              <a:buChar char="•"/>
              <a:defRPr/>
            </a:pPr>
            <a:r>
              <a:rPr lang="ru-RU" dirty="0"/>
              <a:t>Знание методов статистического анализа данных, построения математических моделей (нейронные сети, байесовские сети, кластеризация, регрессионный, факторный, дисперсионный и корреляционный анализы и т.п.).</a:t>
            </a:r>
            <a:br>
              <a:rPr lang="ru-RU" dirty="0"/>
            </a:br>
            <a:endParaRPr lang="ru-RU" dirty="0"/>
          </a:p>
          <a:p>
            <a:pPr marL="342903" indent="-342903">
              <a:buFont typeface="Arial" panose="020B0604020202020204" pitchFamily="34" charset="0"/>
              <a:buChar char="•"/>
              <a:defRPr/>
            </a:pPr>
            <a:r>
              <a:rPr lang="ru-RU" dirty="0"/>
              <a:t>Уметь извлекать данные из разных источников, преобразовывать их для анализа, загружать в аналитическую базу данных.</a:t>
            </a:r>
            <a:br>
              <a:rPr lang="ru-RU" dirty="0"/>
            </a:br>
            <a:endParaRPr lang="ru-RU" dirty="0"/>
          </a:p>
        </p:txBody>
      </p:sp>
      <p:sp>
        <p:nvSpPr>
          <p:cNvPr id="5" name="Номер слайда 4"/>
          <p:cNvSpPr>
            <a:spLocks noGrp="1"/>
          </p:cNvSpPr>
          <p:nvPr>
            <p:ph type="sldNum" sz="quarter" idx="12"/>
          </p:nvPr>
        </p:nvSpPr>
        <p:spPr/>
        <p:txBody>
          <a:bodyPr/>
          <a:lstStyle/>
          <a:p>
            <a:pPr>
              <a:defRPr/>
            </a:pPr>
            <a:fld id="{CC90A941-41E8-4A31-8251-476B08813787}" type="slidenum">
              <a:rPr lang="ru-RU">
                <a:solidFill>
                  <a:schemeClr val="tx1"/>
                </a:solidFill>
              </a:rPr>
              <a:pPr>
                <a:defRPr/>
              </a:pPr>
              <a:t>12</a:t>
            </a:fld>
            <a:endParaRPr lang="ru-RU">
              <a:solidFill>
                <a:schemeClr val="tx1"/>
              </a:solidFill>
            </a:endParaRPr>
          </a:p>
        </p:txBody>
      </p:sp>
    </p:spTree>
    <p:extLst>
      <p:ext uri="{BB962C8B-B14F-4D97-AF65-F5344CB8AC3E}">
        <p14:creationId xmlns:p14="http://schemas.microsoft.com/office/powerpoint/2010/main" val="1406784101"/>
      </p:ext>
    </p:extLst>
  </p:cSld>
  <p:clrMapOvr>
    <a:masterClrMapping/>
  </p:clrMapOvr>
  <p:transition spd="slow" advTm="66326"/>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554" name="Group 7"/>
          <p:cNvGrpSpPr>
            <a:grpSpLocks/>
          </p:cNvGrpSpPr>
          <p:nvPr/>
        </p:nvGrpSpPr>
        <p:grpSpPr bwMode="auto">
          <a:xfrm>
            <a:off x="1558926" y="141862"/>
            <a:ext cx="10823871" cy="6553200"/>
            <a:chOff x="153" y="203"/>
            <a:chExt cx="6168" cy="4128"/>
          </a:xfrm>
        </p:grpSpPr>
        <p:sp>
          <p:nvSpPr>
            <p:cNvPr id="151561" name="AutoShape 4"/>
            <p:cNvSpPr>
              <a:spLocks noChangeArrowheads="1"/>
            </p:cNvSpPr>
            <p:nvPr/>
          </p:nvSpPr>
          <p:spPr bwMode="auto">
            <a:xfrm>
              <a:off x="153" y="203"/>
              <a:ext cx="6168" cy="412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51562" name="AutoShape 5"/>
            <p:cNvSpPr>
              <a:spLocks noChangeArrowheads="1"/>
            </p:cNvSpPr>
            <p:nvPr/>
          </p:nvSpPr>
          <p:spPr bwMode="auto">
            <a:xfrm>
              <a:off x="561" y="249"/>
              <a:ext cx="5261" cy="77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51563" name="AutoShape 6"/>
            <p:cNvSpPr>
              <a:spLocks noChangeArrowheads="1"/>
            </p:cNvSpPr>
            <p:nvPr/>
          </p:nvSpPr>
          <p:spPr bwMode="auto">
            <a:xfrm>
              <a:off x="244" y="1119"/>
              <a:ext cx="5941" cy="3121"/>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gr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151556" name="Text Box 7"/>
          <p:cNvSpPr txBox="1">
            <a:spLocks noChangeArrowheads="1"/>
          </p:cNvSpPr>
          <p:nvPr/>
        </p:nvSpPr>
        <p:spPr bwMode="auto">
          <a:xfrm>
            <a:off x="3905252" y="0"/>
            <a:ext cx="5100637" cy="40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441" tIns="49721" rIns="99441" bIns="49721">
            <a:spAutoFit/>
          </a:bodyP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ru-RU" b="1">
                <a:solidFill>
                  <a:schemeClr val="bg2"/>
                </a:solidFill>
                <a:latin typeface="Courier New" panose="02070309020205020404" pitchFamily="49" charset="0"/>
              </a:rPr>
              <a:t>Обработка больших данных. Л1</a:t>
            </a:r>
          </a:p>
        </p:txBody>
      </p:sp>
      <p:sp>
        <p:nvSpPr>
          <p:cNvPr id="151557" name="Прямоугольник 2"/>
          <p:cNvSpPr>
            <a:spLocks noChangeArrowheads="1"/>
          </p:cNvSpPr>
          <p:nvPr/>
        </p:nvSpPr>
        <p:spPr bwMode="auto">
          <a:xfrm>
            <a:off x="1479957" y="1590677"/>
            <a:ext cx="1032677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ru-RU" altLang="ru-RU" sz="2200" dirty="0"/>
              <a:t>Владение SQL.</a:t>
            </a:r>
          </a:p>
          <a:p>
            <a:pPr>
              <a:buFont typeface="Arial" panose="020B0604020202020204" pitchFamily="34" charset="0"/>
              <a:buChar char="•"/>
            </a:pPr>
            <a:r>
              <a:rPr lang="ru-RU" altLang="ru-RU" sz="2200" dirty="0"/>
              <a:t>Знание английского языка на уровне, достаточном для беспроблемного чтения технической документации.</a:t>
            </a:r>
          </a:p>
          <a:p>
            <a:pPr>
              <a:buFont typeface="Arial" panose="020B0604020202020204" pitchFamily="34" charset="0"/>
              <a:buChar char="•"/>
            </a:pPr>
            <a:r>
              <a:rPr lang="ru-RU" altLang="ru-RU" sz="2200" dirty="0"/>
              <a:t>Знание Python (хотя бы основ), </a:t>
            </a:r>
            <a:r>
              <a:rPr lang="ru-RU" altLang="ru-RU" sz="2200" dirty="0" err="1"/>
              <a:t>Bash</a:t>
            </a:r>
            <a:r>
              <a:rPr lang="ru-RU" altLang="ru-RU" sz="2200" dirty="0"/>
              <a:t> (без него очень сложно обойтись в процессе работы), плюс желательно знать основы Java и Scala (нужны для активного использования Spark, одного из самых популярных фреймворков для работы с большими данными).</a:t>
            </a:r>
          </a:p>
          <a:p>
            <a:pPr>
              <a:buFont typeface="Arial" panose="020B0604020202020204" pitchFamily="34" charset="0"/>
              <a:buChar char="•"/>
            </a:pPr>
            <a:r>
              <a:rPr lang="ru-RU" altLang="ru-RU" sz="2200" dirty="0"/>
              <a:t>Умение работать с </a:t>
            </a:r>
            <a:r>
              <a:rPr lang="ru-RU" altLang="ru-RU" sz="2200" dirty="0" err="1"/>
              <a:t>Hadoop</a:t>
            </a:r>
            <a:r>
              <a:rPr lang="ru-RU" altLang="ru-RU" sz="2200" dirty="0"/>
              <a:t>.</a:t>
            </a:r>
          </a:p>
        </p:txBody>
      </p:sp>
      <p:sp>
        <p:nvSpPr>
          <p:cNvPr id="151558" name="Заголовок 1"/>
          <p:cNvSpPr txBox="1">
            <a:spLocks/>
          </p:cNvSpPr>
          <p:nvPr/>
        </p:nvSpPr>
        <p:spPr bwMode="auto">
          <a:xfrm>
            <a:off x="2373314" y="644526"/>
            <a:ext cx="79216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ru-RU" sz="2800" b="1">
                <a:solidFill>
                  <a:schemeClr val="tx2"/>
                </a:solidFill>
              </a:rPr>
              <a:t>Навыки, необходимые аналитику Big Data</a:t>
            </a:r>
          </a:p>
        </p:txBody>
      </p:sp>
      <p:sp>
        <p:nvSpPr>
          <p:cNvPr id="3" name="Номер слайда 2"/>
          <p:cNvSpPr>
            <a:spLocks noGrp="1"/>
          </p:cNvSpPr>
          <p:nvPr>
            <p:ph type="sldNum" sz="quarter" idx="12"/>
          </p:nvPr>
        </p:nvSpPr>
        <p:spPr/>
        <p:txBody>
          <a:bodyPr/>
          <a:lstStyle/>
          <a:p>
            <a:pPr>
              <a:defRPr/>
            </a:pPr>
            <a:fld id="{882AEBD4-DBC6-4DB2-80EE-E19018701888}" type="slidenum">
              <a:rPr lang="ru-RU">
                <a:solidFill>
                  <a:schemeClr val="tx1"/>
                </a:solidFill>
              </a:rPr>
              <a:pPr>
                <a:defRPr/>
              </a:pPr>
              <a:t>13</a:t>
            </a:fld>
            <a:endParaRPr lang="ru-RU" dirty="0">
              <a:solidFill>
                <a:schemeClr val="tx1"/>
              </a:solidFill>
            </a:endParaRPr>
          </a:p>
        </p:txBody>
      </p:sp>
    </p:spTree>
    <p:extLst>
      <p:ext uri="{BB962C8B-B14F-4D97-AF65-F5344CB8AC3E}">
        <p14:creationId xmlns:p14="http://schemas.microsoft.com/office/powerpoint/2010/main" val="4018145877"/>
      </p:ext>
    </p:extLst>
  </p:cSld>
  <p:clrMapOvr>
    <a:masterClrMapping/>
  </p:clrMapOvr>
  <p:transition spd="slow" advTm="66326"/>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322262"/>
            <a:ext cx="10872513" cy="6518275"/>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709737" y="285750"/>
            <a:ext cx="9248775" cy="9556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3100" b="1" dirty="0"/>
              <a:t>Что делают </a:t>
            </a:r>
            <a:r>
              <a:rPr lang="en-US" altLang="ru-RU" sz="3100" b="1" dirty="0"/>
              <a:t>Data Scientists?</a:t>
            </a:r>
            <a:endParaRPr lang="ru-RU" altLang="ru-RU" sz="3100" b="1" dirty="0"/>
          </a:p>
        </p:txBody>
      </p:sp>
      <p:pic>
        <p:nvPicPr>
          <p:cNvPr id="69636" name="Picture 2" descr="http://spectrum.ieee.org/img/data%20scientist-13487800974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0732" y="2159248"/>
            <a:ext cx="3781675" cy="352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Скругленный прямоугольник 2"/>
          <p:cNvSpPr/>
          <p:nvPr/>
        </p:nvSpPr>
        <p:spPr bwMode="auto">
          <a:xfrm>
            <a:off x="1528045" y="1186880"/>
            <a:ext cx="5586880" cy="5472608"/>
          </a:xfrm>
          <a:prstGeom prst="roundRect">
            <a:avLst/>
          </a:prstGeom>
          <a:solidFill>
            <a:srgbClr val="FFFFFF">
              <a:alpha val="38824"/>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9635" name="Прямоугольник 3"/>
          <p:cNvSpPr>
            <a:spLocks noChangeArrowheads="1"/>
          </p:cNvSpPr>
          <p:nvPr/>
        </p:nvSpPr>
        <p:spPr bwMode="auto">
          <a:xfrm>
            <a:off x="309885" y="859672"/>
            <a:ext cx="7416752" cy="6124754"/>
          </a:xfrm>
          <a:prstGeom prst="rect">
            <a:avLst/>
          </a:prstGeom>
          <a:no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400" b="1" dirty="0">
                <a:latin typeface="Calibri Light" panose="020F0302020204030204" pitchFamily="34" charset="0"/>
              </a:rPr>
              <a:t>что делают?</a:t>
            </a:r>
          </a:p>
          <a:p>
            <a:r>
              <a:rPr lang="ru-RU" altLang="ru-RU" sz="2400" i="1" dirty="0">
                <a:latin typeface="Calibri Light" panose="020F0302020204030204" pitchFamily="34" charset="0"/>
              </a:rPr>
              <a:t>    как достичь озарения</a:t>
            </a:r>
          </a:p>
          <a:p>
            <a:r>
              <a:rPr lang="ru-RU" altLang="ru-RU" sz="2400" dirty="0">
                <a:latin typeface="Calibri Light" panose="020F0302020204030204" pitchFamily="34" charset="0"/>
              </a:rPr>
              <a:t>        разрабатывают методы</a:t>
            </a:r>
          </a:p>
          <a:p>
            <a:r>
              <a:rPr lang="ru-RU" altLang="ru-RU" sz="2400" dirty="0">
                <a:latin typeface="Calibri Light" panose="020F0302020204030204" pitchFamily="34" charset="0"/>
              </a:rPr>
              <a:t>        придумывают алгоритмы</a:t>
            </a:r>
          </a:p>
          <a:p>
            <a:r>
              <a:rPr lang="ru-RU" altLang="ru-RU" sz="2400" dirty="0">
                <a:latin typeface="Calibri Light" panose="020F0302020204030204" pitchFamily="34" charset="0"/>
              </a:rPr>
              <a:t>        используют </a:t>
            </a:r>
            <a:r>
              <a:rPr lang="ru-RU" altLang="ru-RU" sz="2400" dirty="0" err="1">
                <a:latin typeface="Calibri Light" panose="020F0302020204030204" pitchFamily="34" charset="0"/>
              </a:rPr>
              <a:t>теор.вероятностей</a:t>
            </a:r>
            <a:r>
              <a:rPr lang="ru-RU" altLang="ru-RU" sz="2400" dirty="0">
                <a:latin typeface="Calibri Light" panose="020F0302020204030204" pitchFamily="34" charset="0"/>
              </a:rPr>
              <a:t>, </a:t>
            </a:r>
            <a:r>
              <a:rPr lang="ru-RU" altLang="ru-RU" sz="2400" dirty="0" err="1">
                <a:latin typeface="Calibri Light" panose="020F0302020204030204" pitchFamily="34" charset="0"/>
              </a:rPr>
              <a:t>мат.статистику</a:t>
            </a:r>
            <a:r>
              <a:rPr lang="ru-RU" altLang="ru-RU" sz="2400" dirty="0">
                <a:latin typeface="Calibri Light" panose="020F0302020204030204" pitchFamily="34" charset="0"/>
              </a:rPr>
              <a:t>,</a:t>
            </a:r>
          </a:p>
          <a:p>
            <a:r>
              <a:rPr lang="ru-RU" altLang="ru-RU" sz="2400" dirty="0">
                <a:latin typeface="Calibri Light" panose="020F0302020204030204" pitchFamily="34" charset="0"/>
              </a:rPr>
              <a:t>        используют методы машинного обучения</a:t>
            </a:r>
          </a:p>
          <a:p>
            <a:r>
              <a:rPr lang="ru-RU" altLang="ru-RU" sz="2400" dirty="0">
                <a:latin typeface="Calibri Light" panose="020F0302020204030204" pitchFamily="34" charset="0"/>
              </a:rPr>
              <a:t>        перевод бизнес-моделей в </a:t>
            </a:r>
            <a:r>
              <a:rPr lang="ru-RU" altLang="ru-RU" sz="2400" dirty="0" err="1">
                <a:latin typeface="Calibri Light" panose="020F0302020204030204" pitchFamily="34" charset="0"/>
              </a:rPr>
              <a:t>математич</a:t>
            </a:r>
            <a:r>
              <a:rPr lang="ru-RU" altLang="ru-RU" sz="2400" dirty="0">
                <a:latin typeface="Calibri Light" panose="020F0302020204030204" pitchFamily="34" charset="0"/>
              </a:rPr>
              <a:t>. вид</a:t>
            </a:r>
          </a:p>
          <a:p>
            <a:r>
              <a:rPr lang="ru-RU" altLang="ru-RU" sz="2400" dirty="0">
                <a:latin typeface="Calibri Light" panose="020F0302020204030204" pitchFamily="34" charset="0"/>
              </a:rPr>
              <a:t>           </a:t>
            </a:r>
            <a:r>
              <a:rPr lang="en-US" altLang="ru-RU" sz="2400" dirty="0">
                <a:latin typeface="Calibri Light" panose="020F0302020204030204" pitchFamily="34" charset="0"/>
              </a:rPr>
              <a:t> </a:t>
            </a:r>
            <a:r>
              <a:rPr lang="ru-RU" altLang="ru-RU" dirty="0">
                <a:latin typeface="Calibri Light" panose="020F0302020204030204" pitchFamily="34" charset="0"/>
              </a:rPr>
              <a:t>искусственный интеллект</a:t>
            </a:r>
          </a:p>
          <a:p>
            <a:r>
              <a:rPr lang="ru-RU" altLang="ru-RU" dirty="0">
                <a:latin typeface="Calibri Light" panose="020F0302020204030204" pitchFamily="34" charset="0"/>
              </a:rPr>
              <a:t>            </a:t>
            </a:r>
            <a:r>
              <a:rPr lang="en-US" altLang="ru-RU" dirty="0">
                <a:latin typeface="Calibri Light" panose="020F0302020204030204" pitchFamily="34" charset="0"/>
              </a:rPr>
              <a:t>  </a:t>
            </a:r>
            <a:r>
              <a:rPr lang="ru-RU" altLang="ru-RU" dirty="0">
                <a:latin typeface="Calibri Light" panose="020F0302020204030204" pitchFamily="34" charset="0"/>
              </a:rPr>
              <a:t>нейронные сети</a:t>
            </a:r>
          </a:p>
          <a:p>
            <a:r>
              <a:rPr lang="ru-RU" altLang="ru-RU" dirty="0">
                <a:latin typeface="Calibri Light" panose="020F0302020204030204" pitchFamily="34" charset="0"/>
              </a:rPr>
              <a:t>            </a:t>
            </a:r>
            <a:r>
              <a:rPr lang="en-US" altLang="ru-RU" dirty="0">
                <a:latin typeface="Calibri Light" panose="020F0302020204030204" pitchFamily="34" charset="0"/>
              </a:rPr>
              <a:t>  </a:t>
            </a:r>
            <a:r>
              <a:rPr lang="ru-RU" altLang="ru-RU" dirty="0">
                <a:latin typeface="Calibri Light" panose="020F0302020204030204" pitchFamily="34" charset="0"/>
              </a:rPr>
              <a:t>Байесовские сети</a:t>
            </a:r>
          </a:p>
          <a:p>
            <a:r>
              <a:rPr lang="ru-RU" altLang="ru-RU" sz="2400" dirty="0">
                <a:latin typeface="Calibri Light" panose="020F0302020204030204" pitchFamily="34" charset="0"/>
              </a:rPr>
              <a:t>    обработка формализованных знаний</a:t>
            </a:r>
          </a:p>
          <a:p>
            <a:r>
              <a:rPr lang="ru-RU" altLang="ru-RU" sz="2400" dirty="0">
                <a:latin typeface="Calibri Light" panose="020F0302020204030204" pitchFamily="34" charset="0"/>
              </a:rPr>
              <a:t>        </a:t>
            </a:r>
            <a:r>
              <a:rPr lang="en-US" altLang="ru-RU" sz="2400" dirty="0">
                <a:latin typeface="Calibri Light" panose="020F0302020204030204" pitchFamily="34" charset="0"/>
              </a:rPr>
              <a:t> </a:t>
            </a:r>
            <a:r>
              <a:rPr lang="ru-RU" altLang="ru-RU" dirty="0">
                <a:latin typeface="Calibri Light" panose="020F0302020204030204" pitchFamily="34" charset="0"/>
              </a:rPr>
              <a:t>хранение</a:t>
            </a:r>
          </a:p>
          <a:p>
            <a:r>
              <a:rPr lang="ru-RU" altLang="ru-RU" dirty="0">
                <a:latin typeface="Calibri Light" panose="020F0302020204030204" pitchFamily="34" charset="0"/>
              </a:rPr>
              <a:t>        </a:t>
            </a:r>
            <a:r>
              <a:rPr lang="en-US" altLang="ru-RU" dirty="0">
                <a:latin typeface="Calibri Light" panose="020F0302020204030204" pitchFamily="34" charset="0"/>
              </a:rPr>
              <a:t>   </a:t>
            </a:r>
            <a:r>
              <a:rPr lang="ru-RU" altLang="ru-RU" dirty="0">
                <a:latin typeface="Calibri Light" panose="020F0302020204030204" pitchFamily="34" charset="0"/>
              </a:rPr>
              <a:t>использование</a:t>
            </a:r>
          </a:p>
          <a:p>
            <a:r>
              <a:rPr lang="ru-RU" altLang="ru-RU" sz="2400" dirty="0">
                <a:latin typeface="Calibri Light" panose="020F0302020204030204" pitchFamily="34" charset="0"/>
              </a:rPr>
              <a:t>    описание проблем бизнеса</a:t>
            </a:r>
          </a:p>
          <a:p>
            <a:r>
              <a:rPr lang="ru-RU" altLang="ru-RU" sz="2400" dirty="0">
                <a:latin typeface="Calibri Light" panose="020F0302020204030204" pitchFamily="34" charset="0"/>
              </a:rPr>
              <a:t>        </a:t>
            </a:r>
            <a:r>
              <a:rPr lang="ru-RU" altLang="ru-RU" dirty="0">
                <a:latin typeface="Calibri Light" panose="020F0302020204030204" pitchFamily="34" charset="0"/>
              </a:rPr>
              <a:t>бизнес-моделирование</a:t>
            </a:r>
          </a:p>
          <a:p>
            <a:r>
              <a:rPr lang="ru-RU" altLang="ru-RU" dirty="0">
                <a:latin typeface="Calibri Light" panose="020F0302020204030204" pitchFamily="34" charset="0"/>
              </a:rPr>
              <a:t>         среды исполнения бизнес-процессов</a:t>
            </a:r>
          </a:p>
          <a:p>
            <a:r>
              <a:rPr lang="ru-RU" altLang="ru-RU" sz="2400" dirty="0">
                <a:latin typeface="Calibri Light" panose="020F0302020204030204" pitchFamily="34" charset="0"/>
              </a:rPr>
              <a:t>    методы визуализации</a:t>
            </a:r>
          </a:p>
        </p:txBody>
      </p:sp>
      <p:sp>
        <p:nvSpPr>
          <p:cNvPr id="4" name="Номер слайда 3">
            <a:extLst>
              <a:ext uri="{FF2B5EF4-FFF2-40B4-BE49-F238E27FC236}">
                <a16:creationId xmlns:a16="http://schemas.microsoft.com/office/drawing/2014/main" id="{54C2CA05-D740-49CD-88FE-FC484A7DC39A}"/>
              </a:ext>
            </a:extLst>
          </p:cNvPr>
          <p:cNvSpPr>
            <a:spLocks noGrp="1"/>
          </p:cNvSpPr>
          <p:nvPr>
            <p:ph type="sldNum" sz="quarter" idx="12"/>
          </p:nvPr>
        </p:nvSpPr>
        <p:spPr/>
        <p:txBody>
          <a:bodyPr/>
          <a:lstStyle/>
          <a:p>
            <a:fld id="{952B6C0E-C4B9-4094-8E59-5B7DF00D5415}" type="slidenum">
              <a:rPr lang="ru-RU" smtClean="0"/>
              <a:t>14</a:t>
            </a:fld>
            <a:endParaRPr lang="ru-RU"/>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1" name="AutoShape 23"/>
          <p:cNvSpPr>
            <a:spLocks noChangeArrowheads="1"/>
          </p:cNvSpPr>
          <p:nvPr/>
        </p:nvSpPr>
        <p:spPr bwMode="auto">
          <a:xfrm>
            <a:off x="1438277" y="322263"/>
            <a:ext cx="10800504"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Процесс познания</a:t>
            </a:r>
          </a:p>
        </p:txBody>
      </p:sp>
      <p:sp>
        <p:nvSpPr>
          <p:cNvPr id="186371" name="Объект 2"/>
          <p:cNvSpPr>
            <a:spLocks noGrp="1"/>
          </p:cNvSpPr>
          <p:nvPr>
            <p:ph idx="4294967295"/>
          </p:nvPr>
        </p:nvSpPr>
        <p:spPr bwMode="auto">
          <a:xfrm>
            <a:off x="1195390" y="1258888"/>
            <a:ext cx="9248775" cy="3744912"/>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defTabSz="914407">
              <a:buNone/>
            </a:pPr>
            <a:endParaRPr lang="ru-RU" altLang="ru-RU" dirty="0"/>
          </a:p>
          <a:p>
            <a:pPr marL="0" indent="0" defTabSz="914407">
              <a:buNone/>
            </a:pPr>
            <a:endParaRPr lang="ru-RU" altLang="ru-RU" dirty="0"/>
          </a:p>
        </p:txBody>
      </p:sp>
      <p:grpSp>
        <p:nvGrpSpPr>
          <p:cNvPr id="5" name="Группа 4"/>
          <p:cNvGrpSpPr/>
          <p:nvPr/>
        </p:nvGrpSpPr>
        <p:grpSpPr>
          <a:xfrm>
            <a:off x="2878139" y="1763714"/>
            <a:ext cx="6391320" cy="3169662"/>
            <a:chOff x="1682750" y="2166938"/>
            <a:chExt cx="6391320" cy="3936949"/>
          </a:xfrm>
        </p:grpSpPr>
        <p:sp>
          <p:nvSpPr>
            <p:cNvPr id="4" name="Прямоугольник 3"/>
            <p:cNvSpPr/>
            <p:nvPr/>
          </p:nvSpPr>
          <p:spPr>
            <a:xfrm>
              <a:off x="1933575" y="2792413"/>
              <a:ext cx="2714625" cy="2559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sp>
          <p:nvSpPr>
            <p:cNvPr id="186373" name="TextBox 4"/>
            <p:cNvSpPr txBox="1">
              <a:spLocks noChangeArrowheads="1"/>
            </p:cNvSpPr>
            <p:nvPr/>
          </p:nvSpPr>
          <p:spPr bwMode="auto">
            <a:xfrm>
              <a:off x="6850063" y="4481513"/>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74" name="TextBox 5"/>
            <p:cNvSpPr txBox="1">
              <a:spLocks noChangeArrowheads="1"/>
            </p:cNvSpPr>
            <p:nvPr/>
          </p:nvSpPr>
          <p:spPr bwMode="auto">
            <a:xfrm>
              <a:off x="5162550" y="4464050"/>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75" name="TextBox 6"/>
            <p:cNvSpPr txBox="1">
              <a:spLocks noChangeArrowheads="1"/>
            </p:cNvSpPr>
            <p:nvPr/>
          </p:nvSpPr>
          <p:spPr bwMode="auto">
            <a:xfrm>
              <a:off x="5635625" y="3770313"/>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76" name="TextBox 7"/>
            <p:cNvSpPr txBox="1">
              <a:spLocks noChangeArrowheads="1"/>
            </p:cNvSpPr>
            <p:nvPr/>
          </p:nvSpPr>
          <p:spPr bwMode="auto">
            <a:xfrm>
              <a:off x="5635625" y="3063876"/>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77" name="TextBox 8"/>
            <p:cNvSpPr txBox="1">
              <a:spLocks noChangeArrowheads="1"/>
            </p:cNvSpPr>
            <p:nvPr/>
          </p:nvSpPr>
          <p:spPr bwMode="auto">
            <a:xfrm>
              <a:off x="7004050" y="3605213"/>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0" name="Прямоугольник 9"/>
            <p:cNvSpPr/>
            <p:nvPr/>
          </p:nvSpPr>
          <p:spPr>
            <a:xfrm>
              <a:off x="5162550" y="2792413"/>
              <a:ext cx="2790825" cy="25590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sp>
          <p:nvSpPr>
            <p:cNvPr id="186379" name="TextBox 11"/>
            <p:cNvSpPr txBox="1">
              <a:spLocks noChangeArrowheads="1"/>
            </p:cNvSpPr>
            <p:nvPr/>
          </p:nvSpPr>
          <p:spPr bwMode="auto">
            <a:xfrm>
              <a:off x="6110288" y="4635500"/>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80" name="TextBox 12"/>
            <p:cNvSpPr txBox="1">
              <a:spLocks noChangeArrowheads="1"/>
            </p:cNvSpPr>
            <p:nvPr/>
          </p:nvSpPr>
          <p:spPr bwMode="auto">
            <a:xfrm>
              <a:off x="6303963" y="3498850"/>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81" name="TextBox 13"/>
            <p:cNvSpPr txBox="1">
              <a:spLocks noChangeArrowheads="1"/>
            </p:cNvSpPr>
            <p:nvPr/>
          </p:nvSpPr>
          <p:spPr bwMode="auto">
            <a:xfrm>
              <a:off x="6996113" y="2927349"/>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82" name="TextBox 14"/>
            <p:cNvSpPr txBox="1">
              <a:spLocks noChangeArrowheads="1"/>
            </p:cNvSpPr>
            <p:nvPr/>
          </p:nvSpPr>
          <p:spPr bwMode="auto">
            <a:xfrm>
              <a:off x="5764213" y="3929063"/>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83" name="TextBox 15"/>
            <p:cNvSpPr txBox="1">
              <a:spLocks noChangeArrowheads="1"/>
            </p:cNvSpPr>
            <p:nvPr/>
          </p:nvSpPr>
          <p:spPr bwMode="auto">
            <a:xfrm>
              <a:off x="7634288" y="4938713"/>
              <a:ext cx="364202" cy="64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6384" name="TextBox 16"/>
            <p:cNvSpPr txBox="1">
              <a:spLocks noChangeArrowheads="1"/>
            </p:cNvSpPr>
            <p:nvPr/>
          </p:nvSpPr>
          <p:spPr bwMode="auto">
            <a:xfrm>
              <a:off x="3290888" y="5645150"/>
              <a:ext cx="378630"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dirty="0">
                  <a:latin typeface="Calibri Light" panose="020F0302020204030204" pitchFamily="34" charset="0"/>
                </a:rPr>
                <a:t>h</a:t>
              </a:r>
              <a:r>
                <a:rPr lang="en-US" altLang="ru-RU" sz="1800" b="1" baseline="-25000" dirty="0">
                  <a:latin typeface="Calibri Light" panose="020F0302020204030204" pitchFamily="34" charset="0"/>
                </a:rPr>
                <a:t>0</a:t>
              </a:r>
              <a:endParaRPr lang="ru-RU" altLang="ru-RU" sz="1800" b="1" baseline="-25000" dirty="0">
                <a:latin typeface="Calibri Light" panose="020F0302020204030204" pitchFamily="34" charset="0"/>
              </a:endParaRPr>
            </a:p>
          </p:txBody>
        </p:sp>
        <p:sp>
          <p:nvSpPr>
            <p:cNvPr id="186385" name="TextBox 17"/>
            <p:cNvSpPr txBox="1">
              <a:spLocks noChangeArrowheads="1"/>
            </p:cNvSpPr>
            <p:nvPr/>
          </p:nvSpPr>
          <p:spPr bwMode="auto">
            <a:xfrm>
              <a:off x="6432550" y="5638801"/>
              <a:ext cx="684803"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dirty="0">
                  <a:latin typeface="Calibri Light" panose="020F0302020204030204" pitchFamily="34" charset="0"/>
                </a:rPr>
                <a:t>h</a:t>
              </a:r>
              <a:r>
                <a:rPr lang="en-US" altLang="ru-RU" sz="1800" b="1" baseline="-25000" dirty="0">
                  <a:latin typeface="Calibri Light" panose="020F0302020204030204" pitchFamily="34" charset="0"/>
                </a:rPr>
                <a:t>1</a:t>
              </a:r>
              <a:r>
                <a:rPr lang="en-US" altLang="ru-RU" sz="1800" b="1" dirty="0">
                  <a:latin typeface="Calibri Light" panose="020F0302020204030204" pitchFamily="34" charset="0"/>
                </a:rPr>
                <a:t>&gt;h</a:t>
              </a:r>
              <a:r>
                <a:rPr lang="en-US" altLang="ru-RU" sz="1800" b="1" baseline="-25000" dirty="0">
                  <a:latin typeface="Calibri Light" panose="020F0302020204030204" pitchFamily="34" charset="0"/>
                </a:rPr>
                <a:t>0</a:t>
              </a:r>
              <a:endParaRPr lang="ru-RU" altLang="ru-RU" sz="1800" b="1" baseline="-25000" dirty="0">
                <a:latin typeface="Calibri Light" panose="020F0302020204030204" pitchFamily="34" charset="0"/>
              </a:endParaRPr>
            </a:p>
          </p:txBody>
        </p:sp>
        <p:sp>
          <p:nvSpPr>
            <p:cNvPr id="186386" name="TextBox 18"/>
            <p:cNvSpPr txBox="1">
              <a:spLocks noChangeArrowheads="1"/>
            </p:cNvSpPr>
            <p:nvPr/>
          </p:nvSpPr>
          <p:spPr bwMode="auto">
            <a:xfrm>
              <a:off x="5789613" y="2166938"/>
              <a:ext cx="1402948" cy="573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400" b="1">
                  <a:latin typeface="Calibri Light" panose="020F0302020204030204" pitchFamily="34" charset="0"/>
                </a:rPr>
                <a:t>Протокол</a:t>
              </a:r>
            </a:p>
          </p:txBody>
        </p:sp>
        <p:sp>
          <p:nvSpPr>
            <p:cNvPr id="186387" name="TextBox 19"/>
            <p:cNvSpPr txBox="1">
              <a:spLocks noChangeArrowheads="1"/>
            </p:cNvSpPr>
            <p:nvPr/>
          </p:nvSpPr>
          <p:spPr bwMode="auto">
            <a:xfrm>
              <a:off x="4519613" y="5289550"/>
              <a:ext cx="300082"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a:latin typeface="Calibri Light" panose="020F0302020204030204" pitchFamily="34" charset="0"/>
                </a:rPr>
                <a:t>X</a:t>
              </a:r>
              <a:endParaRPr lang="ru-RU" altLang="ru-RU" sz="1800">
                <a:latin typeface="Calibri Light" panose="020F0302020204030204" pitchFamily="34" charset="0"/>
              </a:endParaRPr>
            </a:p>
          </p:txBody>
        </p:sp>
        <p:sp>
          <p:nvSpPr>
            <p:cNvPr id="186388" name="TextBox 20"/>
            <p:cNvSpPr txBox="1">
              <a:spLocks noChangeArrowheads="1"/>
            </p:cNvSpPr>
            <p:nvPr/>
          </p:nvSpPr>
          <p:spPr bwMode="auto">
            <a:xfrm>
              <a:off x="1682750" y="2644776"/>
              <a:ext cx="293670"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a:latin typeface="Calibri Light" panose="020F0302020204030204" pitchFamily="34" charset="0"/>
                </a:rPr>
                <a:t>Y</a:t>
              </a:r>
              <a:endParaRPr lang="ru-RU" altLang="ru-RU" sz="1800">
                <a:latin typeface="Calibri Light" panose="020F0302020204030204" pitchFamily="34" charset="0"/>
              </a:endParaRPr>
            </a:p>
          </p:txBody>
        </p:sp>
        <p:sp>
          <p:nvSpPr>
            <p:cNvPr id="186389" name="TextBox 21"/>
            <p:cNvSpPr txBox="1">
              <a:spLocks noChangeArrowheads="1"/>
            </p:cNvSpPr>
            <p:nvPr/>
          </p:nvSpPr>
          <p:spPr bwMode="auto">
            <a:xfrm>
              <a:off x="7773988" y="5349875"/>
              <a:ext cx="300082"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a:latin typeface="Calibri Light" panose="020F0302020204030204" pitchFamily="34" charset="0"/>
                </a:rPr>
                <a:t>X</a:t>
              </a:r>
              <a:endParaRPr lang="ru-RU" altLang="ru-RU" sz="1800">
                <a:latin typeface="Calibri Light" panose="020F0302020204030204" pitchFamily="34" charset="0"/>
              </a:endParaRPr>
            </a:p>
          </p:txBody>
        </p:sp>
        <p:sp>
          <p:nvSpPr>
            <p:cNvPr id="186390" name="TextBox 22"/>
            <p:cNvSpPr txBox="1">
              <a:spLocks noChangeArrowheads="1"/>
            </p:cNvSpPr>
            <p:nvPr/>
          </p:nvSpPr>
          <p:spPr bwMode="auto">
            <a:xfrm>
              <a:off x="4932363" y="2679700"/>
              <a:ext cx="293670" cy="45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a:latin typeface="Calibri Light" panose="020F0302020204030204" pitchFamily="34" charset="0"/>
                </a:rPr>
                <a:t>Y</a:t>
              </a:r>
              <a:endParaRPr lang="ru-RU" altLang="ru-RU" sz="1800">
                <a:latin typeface="Calibri Light" panose="020F0302020204030204" pitchFamily="34" charset="0"/>
              </a:endParaRPr>
            </a:p>
          </p:txBody>
        </p:sp>
      </p:grpSp>
      <p:sp>
        <p:nvSpPr>
          <p:cNvPr id="3" name="Прямоугольник 2"/>
          <p:cNvSpPr/>
          <p:nvPr/>
        </p:nvSpPr>
        <p:spPr>
          <a:xfrm>
            <a:off x="1139788" y="5250438"/>
            <a:ext cx="10800504" cy="1015663"/>
          </a:xfrm>
          <a:prstGeom prst="rect">
            <a:avLst/>
          </a:prstGeom>
        </p:spPr>
        <p:txBody>
          <a:bodyPr wrap="square">
            <a:spAutoFit/>
          </a:bodyPr>
          <a:lstStyle/>
          <a:p>
            <a:r>
              <a:rPr lang="ru-RU" altLang="ru-RU" dirty="0"/>
              <a:t>Изучаем какой-то объект и его характеристики.</a:t>
            </a:r>
          </a:p>
          <a:p>
            <a:r>
              <a:rPr lang="ru-RU" altLang="ru-RU" dirty="0"/>
              <a:t>Изначально наши знания об объекте могут быть нулевыми. Постепенно протокол исследований заполняется фактами, но пока предсказать по этим фактам ничего нельзя.</a:t>
            </a:r>
          </a:p>
        </p:txBody>
      </p:sp>
      <p:sp>
        <p:nvSpPr>
          <p:cNvPr id="6" name="Номер слайда 5">
            <a:extLst>
              <a:ext uri="{FF2B5EF4-FFF2-40B4-BE49-F238E27FC236}">
                <a16:creationId xmlns:a16="http://schemas.microsoft.com/office/drawing/2014/main" id="{52343BD1-94B4-405E-ACC4-0294DE0464FF}"/>
              </a:ext>
            </a:extLst>
          </p:cNvPr>
          <p:cNvSpPr>
            <a:spLocks noGrp="1"/>
          </p:cNvSpPr>
          <p:nvPr>
            <p:ph type="sldNum" sz="quarter" idx="12"/>
          </p:nvPr>
        </p:nvSpPr>
        <p:spPr>
          <a:xfrm>
            <a:off x="11574211" y="6532567"/>
            <a:ext cx="732162" cy="379409"/>
          </a:xfrm>
        </p:spPr>
        <p:txBody>
          <a:bodyPr/>
          <a:lstStyle/>
          <a:p>
            <a:fld id="{952B6C0E-C4B9-4094-8E59-5B7DF00D5415}" type="slidenum">
              <a:rPr lang="ru-RU" smtClean="0">
                <a:solidFill>
                  <a:schemeClr val="tx1"/>
                </a:solidFill>
              </a:rPr>
              <a:t>15</a:t>
            </a:fld>
            <a:endParaRPr lang="ru-RU">
              <a:solidFill>
                <a:schemeClr val="tx1"/>
              </a:solidFill>
            </a:endParaRPr>
          </a:p>
        </p:txBody>
      </p:sp>
    </p:spTree>
    <p:extLst>
      <p:ext uri="{BB962C8B-B14F-4D97-AF65-F5344CB8AC3E}">
        <p14:creationId xmlns:p14="http://schemas.microsoft.com/office/powerpoint/2010/main" val="147323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79" name="AutoShape 63"/>
          <p:cNvSpPr>
            <a:spLocks noChangeArrowheads="1"/>
          </p:cNvSpPr>
          <p:nvPr/>
        </p:nvSpPr>
        <p:spPr bwMode="auto">
          <a:xfrm>
            <a:off x="1438277" y="322263"/>
            <a:ext cx="10944520"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2830516" y="303625"/>
            <a:ext cx="6935787" cy="7810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0000"/>
          </a:bodyPr>
          <a:lstStyle/>
          <a:p>
            <a:r>
              <a:rPr lang="ru-RU" altLang="ru-RU" b="1" dirty="0">
                <a:solidFill>
                  <a:schemeClr val="hlink"/>
                </a:solidFill>
              </a:rPr>
              <a:t>Процесс познания</a:t>
            </a:r>
          </a:p>
        </p:txBody>
      </p:sp>
      <p:sp>
        <p:nvSpPr>
          <p:cNvPr id="188419" name="Объект 2"/>
          <p:cNvSpPr>
            <a:spLocks noGrp="1"/>
          </p:cNvSpPr>
          <p:nvPr>
            <p:ph idx="4294967295"/>
          </p:nvPr>
        </p:nvSpPr>
        <p:spPr bwMode="auto">
          <a:xfrm>
            <a:off x="1195390" y="1403350"/>
            <a:ext cx="9248775" cy="511175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defTabSz="914407">
              <a:buNone/>
            </a:pPr>
            <a:endParaRPr lang="ru-RU" altLang="ru-RU" dirty="0"/>
          </a:p>
          <a:p>
            <a:pPr marL="0" indent="0" defTabSz="914407">
              <a:buNone/>
            </a:pPr>
            <a:endParaRPr lang="ru-RU" altLang="ru-RU"/>
          </a:p>
        </p:txBody>
      </p:sp>
      <p:sp>
        <p:nvSpPr>
          <p:cNvPr id="188420" name="TextBox 18"/>
          <p:cNvSpPr txBox="1">
            <a:spLocks noChangeArrowheads="1"/>
          </p:cNvSpPr>
          <p:nvPr/>
        </p:nvSpPr>
        <p:spPr bwMode="auto">
          <a:xfrm>
            <a:off x="5283200" y="1354961"/>
            <a:ext cx="1388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b="1">
                <a:latin typeface="Calibri Light" panose="020F0302020204030204" pitchFamily="34" charset="0"/>
              </a:rPr>
              <a:t>Протокол</a:t>
            </a:r>
            <a:r>
              <a:rPr lang="en-US" altLang="ru-RU" b="1">
                <a:latin typeface="Calibri Light" panose="020F0302020204030204" pitchFamily="34" charset="0"/>
              </a:rPr>
              <a:t> 1</a:t>
            </a:r>
            <a:endParaRPr lang="ru-RU" altLang="ru-RU" b="1">
              <a:latin typeface="Calibri Light" panose="020F0302020204030204" pitchFamily="34" charset="0"/>
            </a:endParaRPr>
          </a:p>
        </p:txBody>
      </p:sp>
      <p:sp>
        <p:nvSpPr>
          <p:cNvPr id="188421" name="TextBox 139"/>
          <p:cNvSpPr txBox="1">
            <a:spLocks noChangeArrowheads="1"/>
          </p:cNvSpPr>
          <p:nvPr/>
        </p:nvSpPr>
        <p:spPr bwMode="auto">
          <a:xfrm>
            <a:off x="7791450" y="1327973"/>
            <a:ext cx="1388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b="1">
                <a:latin typeface="Calibri Light" panose="020F0302020204030204" pitchFamily="34" charset="0"/>
              </a:rPr>
              <a:t>Протокол</a:t>
            </a:r>
            <a:r>
              <a:rPr lang="en-US" altLang="ru-RU" b="1">
                <a:latin typeface="Calibri Light" panose="020F0302020204030204" pitchFamily="34" charset="0"/>
              </a:rPr>
              <a:t> 2</a:t>
            </a:r>
            <a:endParaRPr lang="ru-RU" altLang="ru-RU" b="1">
              <a:latin typeface="Calibri Light" panose="020F0302020204030204" pitchFamily="34" charset="0"/>
            </a:endParaRPr>
          </a:p>
        </p:txBody>
      </p:sp>
      <p:grpSp>
        <p:nvGrpSpPr>
          <p:cNvPr id="188422" name="Group 6"/>
          <p:cNvGrpSpPr>
            <a:grpSpLocks/>
          </p:cNvGrpSpPr>
          <p:nvPr/>
        </p:nvGrpSpPr>
        <p:grpSpPr bwMode="auto">
          <a:xfrm>
            <a:off x="1725613" y="1705799"/>
            <a:ext cx="8104189" cy="4719638"/>
            <a:chOff x="697" y="1178"/>
            <a:chExt cx="5105" cy="2973"/>
          </a:xfrm>
        </p:grpSpPr>
        <p:sp>
          <p:nvSpPr>
            <p:cNvPr id="4" name="Прямоугольник 3"/>
            <p:cNvSpPr/>
            <p:nvPr/>
          </p:nvSpPr>
          <p:spPr>
            <a:xfrm>
              <a:off x="876" y="1218"/>
              <a:ext cx="1451" cy="11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sp>
          <p:nvSpPr>
            <p:cNvPr id="188424" name="TextBox 4"/>
            <p:cNvSpPr txBox="1">
              <a:spLocks noChangeArrowheads="1"/>
            </p:cNvSpPr>
            <p:nvPr/>
          </p:nvSpPr>
          <p:spPr bwMode="auto">
            <a:xfrm>
              <a:off x="4626" y="1882"/>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25" name="TextBox 5"/>
            <p:cNvSpPr txBox="1">
              <a:spLocks noChangeArrowheads="1"/>
            </p:cNvSpPr>
            <p:nvPr/>
          </p:nvSpPr>
          <p:spPr bwMode="auto">
            <a:xfrm>
              <a:off x="2676" y="2047"/>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26" name="TextBox 6"/>
            <p:cNvSpPr txBox="1">
              <a:spLocks noChangeArrowheads="1"/>
            </p:cNvSpPr>
            <p:nvPr/>
          </p:nvSpPr>
          <p:spPr bwMode="auto">
            <a:xfrm>
              <a:off x="4240" y="2122"/>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27" name="TextBox 7"/>
            <p:cNvSpPr txBox="1">
              <a:spLocks noChangeArrowheads="1"/>
            </p:cNvSpPr>
            <p:nvPr/>
          </p:nvSpPr>
          <p:spPr bwMode="auto">
            <a:xfrm>
              <a:off x="3753" y="1231"/>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28" name="TextBox 8"/>
            <p:cNvSpPr txBox="1">
              <a:spLocks noChangeArrowheads="1"/>
            </p:cNvSpPr>
            <p:nvPr/>
          </p:nvSpPr>
          <p:spPr bwMode="auto">
            <a:xfrm>
              <a:off x="4974" y="1596"/>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0" name="Прямоугольник 9"/>
            <p:cNvSpPr/>
            <p:nvPr/>
          </p:nvSpPr>
          <p:spPr>
            <a:xfrm>
              <a:off x="2554" y="1224"/>
              <a:ext cx="1491" cy="11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sp>
          <p:nvSpPr>
            <p:cNvPr id="188430" name="TextBox 11"/>
            <p:cNvSpPr txBox="1">
              <a:spLocks noChangeArrowheads="1"/>
            </p:cNvSpPr>
            <p:nvPr/>
          </p:nvSpPr>
          <p:spPr bwMode="auto">
            <a:xfrm>
              <a:off x="4312" y="2083"/>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31" name="TextBox 12"/>
            <p:cNvSpPr txBox="1">
              <a:spLocks noChangeArrowheads="1"/>
            </p:cNvSpPr>
            <p:nvPr/>
          </p:nvSpPr>
          <p:spPr bwMode="auto">
            <a:xfrm>
              <a:off x="5210" y="1432"/>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32" name="TextBox 13"/>
            <p:cNvSpPr txBox="1">
              <a:spLocks noChangeArrowheads="1"/>
            </p:cNvSpPr>
            <p:nvPr/>
          </p:nvSpPr>
          <p:spPr bwMode="auto">
            <a:xfrm>
              <a:off x="5515" y="1178"/>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33" name="TextBox 14"/>
            <p:cNvSpPr txBox="1">
              <a:spLocks noChangeArrowheads="1"/>
            </p:cNvSpPr>
            <p:nvPr/>
          </p:nvSpPr>
          <p:spPr bwMode="auto">
            <a:xfrm>
              <a:off x="2948" y="1882"/>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34" name="TextBox 15"/>
            <p:cNvSpPr txBox="1">
              <a:spLocks noChangeArrowheads="1"/>
            </p:cNvSpPr>
            <p:nvPr/>
          </p:nvSpPr>
          <p:spPr bwMode="auto">
            <a:xfrm>
              <a:off x="4794" y="1717"/>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35" name="TextBox 16"/>
            <p:cNvSpPr txBox="1">
              <a:spLocks noChangeArrowheads="1"/>
            </p:cNvSpPr>
            <p:nvPr/>
          </p:nvSpPr>
          <p:spPr bwMode="auto">
            <a:xfrm>
              <a:off x="1529" y="2478"/>
              <a:ext cx="2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h0</a:t>
              </a:r>
              <a:endParaRPr lang="ru-RU" altLang="ru-RU" sz="1800" b="1">
                <a:latin typeface="Calibri Light" panose="020F0302020204030204" pitchFamily="34" charset="0"/>
              </a:endParaRPr>
            </a:p>
          </p:txBody>
        </p:sp>
        <p:sp>
          <p:nvSpPr>
            <p:cNvPr id="188436" name="TextBox 17"/>
            <p:cNvSpPr txBox="1">
              <a:spLocks noChangeArrowheads="1"/>
            </p:cNvSpPr>
            <p:nvPr/>
          </p:nvSpPr>
          <p:spPr bwMode="auto">
            <a:xfrm>
              <a:off x="3071" y="2576"/>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h1&gt;h0</a:t>
              </a:r>
              <a:endParaRPr lang="ru-RU" altLang="ru-RU" sz="1800" b="1">
                <a:latin typeface="Calibri Light" panose="020F0302020204030204" pitchFamily="34" charset="0"/>
              </a:endParaRPr>
            </a:p>
          </p:txBody>
        </p:sp>
        <p:sp>
          <p:nvSpPr>
            <p:cNvPr id="188437" name="TextBox 19"/>
            <p:cNvSpPr txBox="1">
              <a:spLocks noChangeArrowheads="1"/>
            </p:cNvSpPr>
            <p:nvPr/>
          </p:nvSpPr>
          <p:spPr bwMode="auto">
            <a:xfrm>
              <a:off x="2154" y="2335"/>
              <a:ext cx="1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X</a:t>
              </a:r>
              <a:endParaRPr lang="ru-RU" altLang="ru-RU" sz="1800" b="1">
                <a:latin typeface="Calibri Light" panose="020F0302020204030204" pitchFamily="34" charset="0"/>
              </a:endParaRPr>
            </a:p>
          </p:txBody>
        </p:sp>
        <p:sp>
          <p:nvSpPr>
            <p:cNvPr id="188438" name="TextBox 20"/>
            <p:cNvSpPr txBox="1">
              <a:spLocks noChangeArrowheads="1"/>
            </p:cNvSpPr>
            <p:nvPr/>
          </p:nvSpPr>
          <p:spPr bwMode="auto">
            <a:xfrm>
              <a:off x="727" y="1200"/>
              <a:ext cx="1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Y</a:t>
              </a:r>
              <a:endParaRPr lang="ru-RU" altLang="ru-RU" sz="1800" b="1">
                <a:latin typeface="Calibri Light" panose="020F0302020204030204" pitchFamily="34" charset="0"/>
              </a:endParaRPr>
            </a:p>
          </p:txBody>
        </p:sp>
        <p:sp>
          <p:nvSpPr>
            <p:cNvPr id="188439" name="TextBox 21"/>
            <p:cNvSpPr txBox="1">
              <a:spLocks noChangeArrowheads="1"/>
            </p:cNvSpPr>
            <p:nvPr/>
          </p:nvSpPr>
          <p:spPr bwMode="auto">
            <a:xfrm>
              <a:off x="3899" y="2343"/>
              <a:ext cx="1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X</a:t>
              </a:r>
              <a:endParaRPr lang="ru-RU" altLang="ru-RU" sz="1800" b="1">
                <a:latin typeface="Calibri Light" panose="020F0302020204030204" pitchFamily="34" charset="0"/>
              </a:endParaRPr>
            </a:p>
          </p:txBody>
        </p:sp>
        <p:sp>
          <p:nvSpPr>
            <p:cNvPr id="188440" name="TextBox 22"/>
            <p:cNvSpPr txBox="1">
              <a:spLocks noChangeArrowheads="1"/>
            </p:cNvSpPr>
            <p:nvPr/>
          </p:nvSpPr>
          <p:spPr bwMode="auto">
            <a:xfrm>
              <a:off x="2406" y="1199"/>
              <a:ext cx="1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Y</a:t>
              </a:r>
              <a:endParaRPr lang="ru-RU" altLang="ru-RU" sz="1800" b="1">
                <a:latin typeface="Calibri Light" panose="020F0302020204030204" pitchFamily="34" charset="0"/>
              </a:endParaRPr>
            </a:p>
          </p:txBody>
        </p:sp>
        <p:sp>
          <p:nvSpPr>
            <p:cNvPr id="24" name="Прямоугольник 23"/>
            <p:cNvSpPr/>
            <p:nvPr/>
          </p:nvSpPr>
          <p:spPr>
            <a:xfrm>
              <a:off x="4252" y="1210"/>
              <a:ext cx="1491" cy="11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cxnSp>
          <p:nvCxnSpPr>
            <p:cNvPr id="25" name="Прямая соединительная линия 24"/>
            <p:cNvCxnSpPr>
              <a:cxnSpLocks noChangeShapeType="1"/>
            </p:cNvCxnSpPr>
            <p:nvPr/>
          </p:nvCxnSpPr>
          <p:spPr bwMode="auto">
            <a:xfrm>
              <a:off x="2593" y="1252"/>
              <a:ext cx="446" cy="436"/>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27" name="Прямая соединительная линия 26"/>
            <p:cNvCxnSpPr>
              <a:cxnSpLocks noChangeShapeType="1"/>
            </p:cNvCxnSpPr>
            <p:nvPr/>
          </p:nvCxnSpPr>
          <p:spPr bwMode="auto">
            <a:xfrm>
              <a:off x="3063" y="1252"/>
              <a:ext cx="236" cy="232"/>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28" name="Прямая соединительная линия 27"/>
            <p:cNvCxnSpPr>
              <a:cxnSpLocks noChangeShapeType="1"/>
            </p:cNvCxnSpPr>
            <p:nvPr/>
          </p:nvCxnSpPr>
          <p:spPr bwMode="auto">
            <a:xfrm flipH="1" flipV="1">
              <a:off x="4262" y="1200"/>
              <a:ext cx="594" cy="561"/>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29" name="Прямая соединительная линия 28"/>
            <p:cNvCxnSpPr>
              <a:cxnSpLocks noChangeShapeType="1"/>
            </p:cNvCxnSpPr>
            <p:nvPr/>
          </p:nvCxnSpPr>
          <p:spPr bwMode="auto">
            <a:xfrm flipH="1">
              <a:off x="2554" y="1252"/>
              <a:ext cx="1053" cy="831"/>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30" name="Прямая соединительная линия 29"/>
            <p:cNvCxnSpPr>
              <a:cxnSpLocks noChangeShapeType="1"/>
            </p:cNvCxnSpPr>
            <p:nvPr/>
          </p:nvCxnSpPr>
          <p:spPr bwMode="auto">
            <a:xfrm>
              <a:off x="4856" y="1231"/>
              <a:ext cx="293" cy="276"/>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31" name="Прямая соединительная линия 30"/>
            <p:cNvCxnSpPr>
              <a:cxnSpLocks noChangeShapeType="1"/>
            </p:cNvCxnSpPr>
            <p:nvPr/>
          </p:nvCxnSpPr>
          <p:spPr bwMode="auto">
            <a:xfrm flipH="1" flipV="1">
              <a:off x="2554" y="1657"/>
              <a:ext cx="237" cy="229"/>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46" name="Прямая соединительная линия 45"/>
            <p:cNvCxnSpPr>
              <a:cxnSpLocks noChangeShapeType="1"/>
            </p:cNvCxnSpPr>
            <p:nvPr/>
          </p:nvCxnSpPr>
          <p:spPr bwMode="auto">
            <a:xfrm flipH="1">
              <a:off x="3063" y="1577"/>
              <a:ext cx="982" cy="758"/>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48" name="Прямая соединительная линия 47"/>
            <p:cNvCxnSpPr>
              <a:cxnSpLocks noChangeShapeType="1"/>
            </p:cNvCxnSpPr>
            <p:nvPr/>
          </p:nvCxnSpPr>
          <p:spPr bwMode="auto">
            <a:xfrm>
              <a:off x="3607" y="1886"/>
              <a:ext cx="438" cy="441"/>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49" name="Прямая соединительная линия 48"/>
            <p:cNvCxnSpPr>
              <a:cxnSpLocks noChangeShapeType="1"/>
            </p:cNvCxnSpPr>
            <p:nvPr/>
          </p:nvCxnSpPr>
          <p:spPr bwMode="auto">
            <a:xfrm flipH="1" flipV="1">
              <a:off x="3356" y="2119"/>
              <a:ext cx="251" cy="224"/>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50" name="Прямая соединительная линия 49"/>
            <p:cNvCxnSpPr>
              <a:cxnSpLocks noChangeShapeType="1"/>
            </p:cNvCxnSpPr>
            <p:nvPr/>
          </p:nvCxnSpPr>
          <p:spPr bwMode="auto">
            <a:xfrm>
              <a:off x="3868" y="1761"/>
              <a:ext cx="193" cy="195"/>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64" name="Прямая соединительная линия 63"/>
            <p:cNvCxnSpPr>
              <a:cxnSpLocks noChangeShapeType="1"/>
            </p:cNvCxnSpPr>
            <p:nvPr/>
          </p:nvCxnSpPr>
          <p:spPr bwMode="auto">
            <a:xfrm flipH="1">
              <a:off x="2554" y="1882"/>
              <a:ext cx="1537" cy="0"/>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sp>
          <p:nvSpPr>
            <p:cNvPr id="188453" name="TextBox 68"/>
            <p:cNvSpPr txBox="1">
              <a:spLocks noChangeArrowheads="1"/>
            </p:cNvSpPr>
            <p:nvPr/>
          </p:nvSpPr>
          <p:spPr bwMode="auto">
            <a:xfrm>
              <a:off x="4890" y="1648"/>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54" name="TextBox 69"/>
            <p:cNvSpPr txBox="1">
              <a:spLocks noChangeArrowheads="1"/>
            </p:cNvSpPr>
            <p:nvPr/>
          </p:nvSpPr>
          <p:spPr bwMode="auto">
            <a:xfrm>
              <a:off x="4512" y="1955"/>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sp>
          <p:nvSpPr>
            <p:cNvPr id="188455" name="TextBox 70"/>
            <p:cNvSpPr txBox="1">
              <a:spLocks noChangeArrowheads="1"/>
            </p:cNvSpPr>
            <p:nvPr/>
          </p:nvSpPr>
          <p:spPr bwMode="auto">
            <a:xfrm>
              <a:off x="5390" y="1311"/>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ru-RU" altLang="ru-RU" sz="2800">
                  <a:latin typeface="Calibri Light" panose="020F0302020204030204" pitchFamily="34" charset="0"/>
                </a:rPr>
                <a:t>*</a:t>
              </a:r>
            </a:p>
          </p:txBody>
        </p:sp>
        <p:cxnSp>
          <p:nvCxnSpPr>
            <p:cNvPr id="72" name="Прямая соединительная линия 71"/>
            <p:cNvCxnSpPr>
              <a:cxnSpLocks noChangeShapeType="1"/>
            </p:cNvCxnSpPr>
            <p:nvPr/>
          </p:nvCxnSpPr>
          <p:spPr bwMode="auto">
            <a:xfrm flipH="1">
              <a:off x="4414" y="1343"/>
              <a:ext cx="1331" cy="996"/>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73" name="Прямая соединительная линия 72"/>
            <p:cNvCxnSpPr>
              <a:cxnSpLocks noChangeShapeType="1"/>
            </p:cNvCxnSpPr>
            <p:nvPr/>
          </p:nvCxnSpPr>
          <p:spPr bwMode="auto">
            <a:xfrm flipH="1">
              <a:off x="4262" y="1199"/>
              <a:ext cx="1358" cy="978"/>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78" name="Прямая соединительная линия 77"/>
            <p:cNvCxnSpPr>
              <a:cxnSpLocks noChangeShapeType="1"/>
            </p:cNvCxnSpPr>
            <p:nvPr/>
          </p:nvCxnSpPr>
          <p:spPr bwMode="auto">
            <a:xfrm flipH="1" flipV="1">
              <a:off x="876" y="1882"/>
              <a:ext cx="1413" cy="4"/>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cxnSp>
          <p:nvCxnSpPr>
            <p:cNvPr id="79" name="Прямая соединительная линия 78"/>
            <p:cNvCxnSpPr>
              <a:cxnSpLocks noChangeShapeType="1"/>
            </p:cNvCxnSpPr>
            <p:nvPr/>
          </p:nvCxnSpPr>
          <p:spPr bwMode="auto">
            <a:xfrm flipH="1" flipV="1">
              <a:off x="4247" y="1828"/>
              <a:ext cx="1496" cy="18"/>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cxnSp>
          <p:nvCxnSpPr>
            <p:cNvPr id="82" name="Прямая соединительная линия 81"/>
            <p:cNvCxnSpPr>
              <a:cxnSpLocks noChangeShapeType="1"/>
            </p:cNvCxnSpPr>
            <p:nvPr/>
          </p:nvCxnSpPr>
          <p:spPr bwMode="auto">
            <a:xfrm flipV="1">
              <a:off x="2808" y="1857"/>
              <a:ext cx="0" cy="470"/>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cxnSp>
          <p:nvCxnSpPr>
            <p:cNvPr id="87" name="Прямая соединительная линия 86"/>
            <p:cNvCxnSpPr>
              <a:cxnSpLocks noChangeShapeType="1"/>
            </p:cNvCxnSpPr>
            <p:nvPr/>
          </p:nvCxnSpPr>
          <p:spPr bwMode="auto">
            <a:xfrm flipV="1">
              <a:off x="3664" y="1886"/>
              <a:ext cx="0" cy="435"/>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cxnSp>
          <p:nvCxnSpPr>
            <p:cNvPr id="88" name="Прямая соединительная линия 87"/>
            <p:cNvCxnSpPr>
              <a:cxnSpLocks noChangeShapeType="1"/>
            </p:cNvCxnSpPr>
            <p:nvPr/>
          </p:nvCxnSpPr>
          <p:spPr bwMode="auto">
            <a:xfrm flipV="1">
              <a:off x="4741" y="1841"/>
              <a:ext cx="0" cy="486"/>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cxnSp>
          <p:nvCxnSpPr>
            <p:cNvPr id="89" name="Прямая соединительная линия 88"/>
            <p:cNvCxnSpPr>
              <a:cxnSpLocks noChangeShapeType="1"/>
            </p:cNvCxnSpPr>
            <p:nvPr/>
          </p:nvCxnSpPr>
          <p:spPr bwMode="auto">
            <a:xfrm flipV="1">
              <a:off x="5088" y="1811"/>
              <a:ext cx="0" cy="481"/>
            </a:xfrm>
            <a:prstGeom prst="line">
              <a:avLst/>
            </a:prstGeom>
            <a:noFill/>
            <a:ln w="15875" algn="ctr">
              <a:solidFill>
                <a:schemeClr val="hlink"/>
              </a:solidFill>
              <a:prstDash val="dash"/>
              <a:round/>
              <a:headEnd/>
              <a:tailEnd/>
            </a:ln>
            <a:extLst>
              <a:ext uri="{909E8E84-426E-40DD-AFC4-6F175D3DCCD1}">
                <a14:hiddenFill xmlns:a14="http://schemas.microsoft.com/office/drawing/2010/main">
                  <a:noFill/>
                </a14:hiddenFill>
              </a:ext>
            </a:extLst>
          </p:spPr>
        </p:cxnSp>
        <p:sp>
          <p:nvSpPr>
            <p:cNvPr id="98" name="Левая фигурная скобка 97"/>
            <p:cNvSpPr>
              <a:spLocks/>
            </p:cNvSpPr>
            <p:nvPr/>
          </p:nvSpPr>
          <p:spPr bwMode="auto">
            <a:xfrm rot="5400000" flipH="1" flipV="1">
              <a:off x="3116" y="1979"/>
              <a:ext cx="255" cy="857"/>
            </a:xfrm>
            <a:prstGeom prst="leftBrace">
              <a:avLst>
                <a:gd name="adj1" fmla="val 8324"/>
                <a:gd name="adj2" fmla="val 50000"/>
              </a:avLst>
            </a:prstGeom>
            <a:noFill/>
            <a:ln w="15875" algn="ctr">
              <a:solidFill>
                <a:schemeClr val="hlink"/>
              </a:solidFill>
              <a:round/>
              <a:headEnd/>
              <a:tailEnd/>
            </a:ln>
            <a:extLst>
              <a:ext uri="{909E8E84-426E-40DD-AFC4-6F175D3DCCD1}">
                <a14:hiddenFill xmlns:a14="http://schemas.microsoft.com/office/drawing/2010/main">
                  <a:solidFill>
                    <a:srgbClr val="FFFFFF"/>
                  </a:solidFill>
                </a14:hiddenFill>
              </a:ext>
            </a:extLst>
          </p:spPr>
          <p:txBody>
            <a:bodyPr vert="eaVert" anchor="ctr"/>
            <a:lstStyle/>
            <a:p>
              <a:pPr algn="ctr" fontAlgn="auto">
                <a:spcBef>
                  <a:spcPts val="0"/>
                </a:spcBef>
                <a:spcAft>
                  <a:spcPts val="0"/>
                </a:spcAft>
                <a:defRPr/>
              </a:pPr>
              <a:endParaRPr lang="ru-RU" sz="1800">
                <a:latin typeface="+mn-lt"/>
                <a:cs typeface="+mn-cs"/>
              </a:endParaRPr>
            </a:p>
          </p:txBody>
        </p:sp>
        <p:sp>
          <p:nvSpPr>
            <p:cNvPr id="99" name="Левая фигурная скобка 98"/>
            <p:cNvSpPr>
              <a:spLocks/>
            </p:cNvSpPr>
            <p:nvPr/>
          </p:nvSpPr>
          <p:spPr bwMode="auto">
            <a:xfrm rot="5400000" flipH="1" flipV="1">
              <a:off x="4781" y="2234"/>
              <a:ext cx="256" cy="358"/>
            </a:xfrm>
            <a:prstGeom prst="leftBrace">
              <a:avLst>
                <a:gd name="adj1" fmla="val 8300"/>
                <a:gd name="adj2" fmla="val 54023"/>
              </a:avLst>
            </a:prstGeom>
            <a:noFill/>
            <a:ln w="15875" algn="ctr">
              <a:solidFill>
                <a:schemeClr val="hlink"/>
              </a:solidFill>
              <a:round/>
              <a:headEnd/>
              <a:tailEnd/>
            </a:ln>
            <a:extLst>
              <a:ext uri="{909E8E84-426E-40DD-AFC4-6F175D3DCCD1}">
                <a14:hiddenFill xmlns:a14="http://schemas.microsoft.com/office/drawing/2010/main">
                  <a:solidFill>
                    <a:srgbClr val="FFFFFF"/>
                  </a:solidFill>
                </a14:hiddenFill>
              </a:ext>
            </a:extLst>
          </p:spPr>
          <p:txBody>
            <a:bodyPr vert="eaVert" anchor="ctr"/>
            <a:lstStyle/>
            <a:p>
              <a:pPr algn="ctr" fontAlgn="auto">
                <a:spcBef>
                  <a:spcPts val="0"/>
                </a:spcBef>
                <a:spcAft>
                  <a:spcPts val="0"/>
                </a:spcAft>
                <a:defRPr/>
              </a:pPr>
              <a:endParaRPr lang="ru-RU" sz="1800">
                <a:latin typeface="+mn-lt"/>
                <a:cs typeface="+mn-cs"/>
              </a:endParaRPr>
            </a:p>
          </p:txBody>
        </p:sp>
        <p:sp>
          <p:nvSpPr>
            <p:cNvPr id="188466" name="TextBox 99"/>
            <p:cNvSpPr txBox="1">
              <a:spLocks noChangeArrowheads="1"/>
            </p:cNvSpPr>
            <p:nvPr/>
          </p:nvSpPr>
          <p:spPr bwMode="auto">
            <a:xfrm>
              <a:off x="4657" y="2576"/>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h2&gt;h1</a:t>
              </a:r>
              <a:endParaRPr lang="ru-RU" altLang="ru-RU" sz="1800" b="1">
                <a:latin typeface="Calibri Light" panose="020F0302020204030204" pitchFamily="34" charset="0"/>
              </a:endParaRPr>
            </a:p>
          </p:txBody>
        </p:sp>
        <p:sp>
          <p:nvSpPr>
            <p:cNvPr id="101" name="Левая фигурная скобка 100"/>
            <p:cNvSpPr>
              <a:spLocks/>
            </p:cNvSpPr>
            <p:nvPr/>
          </p:nvSpPr>
          <p:spPr bwMode="auto">
            <a:xfrm rot="5400000" flipH="1" flipV="1">
              <a:off x="1519" y="1727"/>
              <a:ext cx="203" cy="1413"/>
            </a:xfrm>
            <a:prstGeom prst="leftBrace">
              <a:avLst>
                <a:gd name="adj1" fmla="val 8314"/>
                <a:gd name="adj2" fmla="val 50000"/>
              </a:avLst>
            </a:prstGeom>
            <a:noFill/>
            <a:ln w="15875" algn="ctr">
              <a:solidFill>
                <a:schemeClr val="hlink"/>
              </a:solidFill>
              <a:round/>
              <a:headEnd/>
              <a:tailEnd/>
            </a:ln>
            <a:extLst>
              <a:ext uri="{909E8E84-426E-40DD-AFC4-6F175D3DCCD1}">
                <a14:hiddenFill xmlns:a14="http://schemas.microsoft.com/office/drawing/2010/main">
                  <a:solidFill>
                    <a:srgbClr val="FFFFFF"/>
                  </a:solidFill>
                </a14:hiddenFill>
              </a:ext>
            </a:extLst>
          </p:spPr>
          <p:txBody>
            <a:bodyPr vert="eaVert" anchor="ctr"/>
            <a:lstStyle/>
            <a:p>
              <a:pPr algn="ctr" fontAlgn="auto">
                <a:spcBef>
                  <a:spcPts val="0"/>
                </a:spcBef>
                <a:spcAft>
                  <a:spcPts val="0"/>
                </a:spcAft>
                <a:defRPr/>
              </a:pPr>
              <a:endParaRPr lang="ru-RU" sz="1800">
                <a:latin typeface="+mn-lt"/>
                <a:cs typeface="+mn-cs"/>
              </a:endParaRPr>
            </a:p>
          </p:txBody>
        </p:sp>
        <p:sp>
          <p:nvSpPr>
            <p:cNvPr id="188468" name="TextBox 101"/>
            <p:cNvSpPr txBox="1">
              <a:spLocks noChangeArrowheads="1"/>
            </p:cNvSpPr>
            <p:nvPr/>
          </p:nvSpPr>
          <p:spPr bwMode="auto">
            <a:xfrm>
              <a:off x="4075" y="1200"/>
              <a:ext cx="1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Y</a:t>
              </a:r>
              <a:endParaRPr lang="ru-RU" altLang="ru-RU" sz="1800" b="1">
                <a:latin typeface="Calibri Light" panose="020F0302020204030204" pitchFamily="34" charset="0"/>
              </a:endParaRPr>
            </a:p>
          </p:txBody>
        </p:sp>
        <p:sp>
          <p:nvSpPr>
            <p:cNvPr id="188469" name="TextBox 102"/>
            <p:cNvSpPr txBox="1">
              <a:spLocks noChangeArrowheads="1"/>
            </p:cNvSpPr>
            <p:nvPr/>
          </p:nvSpPr>
          <p:spPr bwMode="auto">
            <a:xfrm>
              <a:off x="5614" y="2308"/>
              <a:ext cx="1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X</a:t>
              </a:r>
              <a:endParaRPr lang="ru-RU" altLang="ru-RU" sz="1800" b="1">
                <a:latin typeface="Calibri Light" panose="020F0302020204030204" pitchFamily="34" charset="0"/>
              </a:endParaRPr>
            </a:p>
          </p:txBody>
        </p:sp>
        <p:cxnSp>
          <p:nvCxnSpPr>
            <p:cNvPr id="120" name="Прямая соединительная линия 119"/>
            <p:cNvCxnSpPr>
              <a:cxnSpLocks noChangeShapeType="1"/>
            </p:cNvCxnSpPr>
            <p:nvPr/>
          </p:nvCxnSpPr>
          <p:spPr bwMode="auto">
            <a:xfrm>
              <a:off x="4278" y="1641"/>
              <a:ext cx="297" cy="315"/>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123" name="Прямая соединительная линия 122"/>
            <p:cNvCxnSpPr>
              <a:cxnSpLocks noChangeShapeType="1"/>
              <a:stCxn id="188469" idx="0"/>
            </p:cNvCxnSpPr>
            <p:nvPr/>
          </p:nvCxnSpPr>
          <p:spPr bwMode="auto">
            <a:xfrm flipH="1" flipV="1">
              <a:off x="5175" y="1780"/>
              <a:ext cx="533" cy="528"/>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125" name="Прямая соединительная линия 124"/>
            <p:cNvCxnSpPr>
              <a:cxnSpLocks noChangeShapeType="1"/>
            </p:cNvCxnSpPr>
            <p:nvPr/>
          </p:nvCxnSpPr>
          <p:spPr bwMode="auto">
            <a:xfrm>
              <a:off x="4823" y="2062"/>
              <a:ext cx="297" cy="259"/>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cxnSp>
          <p:nvCxnSpPr>
            <p:cNvPr id="126" name="Прямая соединительная линия 125"/>
            <p:cNvCxnSpPr>
              <a:cxnSpLocks noChangeShapeType="1"/>
            </p:cNvCxnSpPr>
            <p:nvPr/>
          </p:nvCxnSpPr>
          <p:spPr bwMode="auto">
            <a:xfrm>
              <a:off x="5445" y="1530"/>
              <a:ext cx="298" cy="316"/>
            </a:xfrm>
            <a:prstGeom prst="line">
              <a:avLst/>
            </a:prstGeom>
            <a:noFill/>
            <a:ln w="15875" algn="ctr">
              <a:solidFill>
                <a:schemeClr val="hlink"/>
              </a:solidFill>
              <a:round/>
              <a:headEnd/>
              <a:tailEnd/>
            </a:ln>
            <a:extLst>
              <a:ext uri="{909E8E84-426E-40DD-AFC4-6F175D3DCCD1}">
                <a14:hiddenFill xmlns:a14="http://schemas.microsoft.com/office/drawing/2010/main">
                  <a:noFill/>
                </a14:hiddenFill>
              </a:ext>
            </a:extLst>
          </p:spPr>
        </p:cxnSp>
        <p:sp>
          <p:nvSpPr>
            <p:cNvPr id="141" name="Прямоугольник 140"/>
            <p:cNvSpPr/>
            <p:nvPr/>
          </p:nvSpPr>
          <p:spPr>
            <a:xfrm>
              <a:off x="896" y="2710"/>
              <a:ext cx="1452" cy="11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sz="1800"/>
            </a:p>
          </p:txBody>
        </p:sp>
        <p:cxnSp>
          <p:nvCxnSpPr>
            <p:cNvPr id="143" name="Прямая соединительная линия 142"/>
            <p:cNvCxnSpPr>
              <a:cxnSpLocks noChangeShapeType="1"/>
            </p:cNvCxnSpPr>
            <p:nvPr/>
          </p:nvCxnSpPr>
          <p:spPr bwMode="auto">
            <a:xfrm flipH="1">
              <a:off x="896" y="2710"/>
              <a:ext cx="1452" cy="1117"/>
            </a:xfrm>
            <a:prstGeom prst="line">
              <a:avLst/>
            </a:prstGeom>
            <a:noFill/>
            <a:ln w="34925" algn="ctr">
              <a:solidFill>
                <a:schemeClr val="hlink"/>
              </a:solidFill>
              <a:round/>
              <a:headEnd/>
              <a:tailEnd/>
            </a:ln>
            <a:extLst>
              <a:ext uri="{909E8E84-426E-40DD-AFC4-6F175D3DCCD1}">
                <a14:hiddenFill xmlns:a14="http://schemas.microsoft.com/office/drawing/2010/main">
                  <a:noFill/>
                </a14:hiddenFill>
              </a:ext>
            </a:extLst>
          </p:spPr>
        </p:cxnSp>
        <p:sp>
          <p:nvSpPr>
            <p:cNvPr id="188476" name="TextBox 144"/>
            <p:cNvSpPr txBox="1">
              <a:spLocks noChangeArrowheads="1"/>
            </p:cNvSpPr>
            <p:nvPr/>
          </p:nvSpPr>
          <p:spPr bwMode="auto">
            <a:xfrm>
              <a:off x="1485" y="3918"/>
              <a:ext cx="4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H max</a:t>
              </a:r>
              <a:endParaRPr lang="ru-RU" altLang="ru-RU" sz="1800" b="1">
                <a:latin typeface="Calibri Light" panose="020F0302020204030204" pitchFamily="34" charset="0"/>
              </a:endParaRPr>
            </a:p>
          </p:txBody>
        </p:sp>
        <p:sp>
          <p:nvSpPr>
            <p:cNvPr id="188477" name="TextBox 145"/>
            <p:cNvSpPr txBox="1">
              <a:spLocks noChangeArrowheads="1"/>
            </p:cNvSpPr>
            <p:nvPr/>
          </p:nvSpPr>
          <p:spPr bwMode="auto">
            <a:xfrm>
              <a:off x="697" y="2673"/>
              <a:ext cx="1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sz="1800" b="1">
                  <a:latin typeface="Calibri Light" panose="020F0302020204030204" pitchFamily="34" charset="0"/>
                </a:rPr>
                <a:t>Y</a:t>
              </a:r>
              <a:endParaRPr lang="ru-RU" altLang="ru-RU" sz="1800" b="1">
                <a:latin typeface="Calibri Light" panose="020F0302020204030204" pitchFamily="34" charset="0"/>
              </a:endParaRPr>
            </a:p>
          </p:txBody>
        </p:sp>
        <p:sp>
          <p:nvSpPr>
            <p:cNvPr id="188478" name="TextBox 146"/>
            <p:cNvSpPr txBox="1">
              <a:spLocks noChangeArrowheads="1"/>
            </p:cNvSpPr>
            <p:nvPr/>
          </p:nvSpPr>
          <p:spPr bwMode="auto">
            <a:xfrm>
              <a:off x="1707" y="3247"/>
              <a:ext cx="4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ru-RU" b="1" dirty="0">
                  <a:latin typeface="Calibri Light" panose="020F0302020204030204" pitchFamily="34" charset="0"/>
                </a:rPr>
                <a:t>Y=f(X)</a:t>
              </a:r>
              <a:endParaRPr lang="ru-RU" altLang="ru-RU" b="1" dirty="0">
                <a:latin typeface="Calibri Light" panose="020F0302020204030204" pitchFamily="34" charset="0"/>
              </a:endParaRPr>
            </a:p>
          </p:txBody>
        </p:sp>
      </p:grpSp>
      <p:sp>
        <p:nvSpPr>
          <p:cNvPr id="188480" name="AutoShape 64"/>
          <p:cNvSpPr>
            <a:spLocks noChangeArrowheads="1"/>
          </p:cNvSpPr>
          <p:nvPr/>
        </p:nvSpPr>
        <p:spPr bwMode="auto">
          <a:xfrm>
            <a:off x="4357692" y="2658806"/>
            <a:ext cx="287337" cy="358775"/>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88481" name="AutoShape 65"/>
          <p:cNvSpPr>
            <a:spLocks noChangeArrowheads="1"/>
          </p:cNvSpPr>
          <p:nvPr/>
        </p:nvSpPr>
        <p:spPr bwMode="auto">
          <a:xfrm>
            <a:off x="7059616" y="2658806"/>
            <a:ext cx="287337" cy="358775"/>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88482" name="AutoShape 66"/>
          <p:cNvSpPr>
            <a:spLocks noChangeArrowheads="1"/>
          </p:cNvSpPr>
          <p:nvPr/>
        </p:nvSpPr>
        <p:spPr bwMode="auto">
          <a:xfrm>
            <a:off x="9829802" y="2658806"/>
            <a:ext cx="287338" cy="358775"/>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88483" name="AutoShape 67"/>
          <p:cNvSpPr>
            <a:spLocks noChangeArrowheads="1"/>
          </p:cNvSpPr>
          <p:nvPr/>
        </p:nvSpPr>
        <p:spPr bwMode="auto">
          <a:xfrm>
            <a:off x="1567260" y="4943887"/>
            <a:ext cx="287337" cy="358775"/>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5" name="Прямоугольник 4"/>
          <p:cNvSpPr/>
          <p:nvPr/>
        </p:nvSpPr>
        <p:spPr>
          <a:xfrm>
            <a:off x="4870206" y="4499283"/>
            <a:ext cx="7231010" cy="1631216"/>
          </a:xfrm>
          <a:prstGeom prst="rect">
            <a:avLst/>
          </a:prstGeom>
        </p:spPr>
        <p:txBody>
          <a:bodyPr wrap="square">
            <a:spAutoFit/>
          </a:bodyPr>
          <a:lstStyle/>
          <a:p>
            <a:r>
              <a:rPr lang="ru-RU" altLang="ru-RU" dirty="0"/>
              <a:t>Набирая все больше данных, мы получаем возможность уточнить гипотезу – сузить область допустимых значений.</a:t>
            </a:r>
          </a:p>
          <a:p>
            <a:r>
              <a:rPr lang="ru-RU" altLang="ru-RU" dirty="0"/>
              <a:t>И, в конце концов приходим к функциональной зависимости, которая позволит получать прогнозируемый результат.</a:t>
            </a:r>
          </a:p>
        </p:txBody>
      </p:sp>
      <p:sp>
        <p:nvSpPr>
          <p:cNvPr id="3" name="Номер слайда 2">
            <a:extLst>
              <a:ext uri="{FF2B5EF4-FFF2-40B4-BE49-F238E27FC236}">
                <a16:creationId xmlns:a16="http://schemas.microsoft.com/office/drawing/2014/main" id="{6A603C43-42A5-4BB9-912B-902A17449E35}"/>
              </a:ext>
            </a:extLst>
          </p:cNvPr>
          <p:cNvSpPr>
            <a:spLocks noGrp="1"/>
          </p:cNvSpPr>
          <p:nvPr>
            <p:ph type="sldNum" sz="quarter" idx="12"/>
          </p:nvPr>
        </p:nvSpPr>
        <p:spPr>
          <a:xfrm>
            <a:off x="11734725" y="6564316"/>
            <a:ext cx="648072" cy="379409"/>
          </a:xfrm>
        </p:spPr>
        <p:txBody>
          <a:bodyPr/>
          <a:lstStyle/>
          <a:p>
            <a:fld id="{952B6C0E-C4B9-4094-8E59-5B7DF00D5415}" type="slidenum">
              <a:rPr lang="ru-RU" smtClean="0">
                <a:solidFill>
                  <a:schemeClr val="tx1"/>
                </a:solidFill>
              </a:rPr>
              <a:t>16</a:t>
            </a:fld>
            <a:endParaRPr lang="ru-RU">
              <a:solidFill>
                <a:schemeClr val="tx1"/>
              </a:solidFill>
            </a:endParaRPr>
          </a:p>
        </p:txBody>
      </p:sp>
    </p:spTree>
    <p:extLst>
      <p:ext uri="{BB962C8B-B14F-4D97-AF65-F5344CB8AC3E}">
        <p14:creationId xmlns:p14="http://schemas.microsoft.com/office/powerpoint/2010/main" val="1109523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AutoShape 4"/>
          <p:cNvSpPr>
            <a:spLocks noChangeArrowheads="1"/>
          </p:cNvSpPr>
          <p:nvPr/>
        </p:nvSpPr>
        <p:spPr bwMode="auto">
          <a:xfrm>
            <a:off x="633411" y="322263"/>
            <a:ext cx="11677378"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Эмпирическая гипотеза</a:t>
            </a:r>
          </a:p>
        </p:txBody>
      </p:sp>
      <p:sp>
        <p:nvSpPr>
          <p:cNvPr id="190467" name="Объект 2"/>
          <p:cNvSpPr>
            <a:spLocks noGrp="1"/>
          </p:cNvSpPr>
          <p:nvPr>
            <p:ph idx="4294967295"/>
          </p:nvPr>
        </p:nvSpPr>
        <p:spPr bwMode="auto">
          <a:xfrm>
            <a:off x="1130423" y="1585342"/>
            <a:ext cx="10683353" cy="4892675"/>
          </a:xfrm>
          <a:prstGeom prst="rect">
            <a:avLst/>
          </a:prstGeom>
          <a:noFill/>
          <a:ln/>
        </p:spPr>
        <p:txBody>
          <a:bodyPr/>
          <a:lstStyle/>
          <a:p>
            <a:pPr marL="90489" indent="-90489" defTabSz="914407">
              <a:buNone/>
            </a:pPr>
            <a:r>
              <a:rPr lang="ru-RU" altLang="ru-RU" sz="2700" dirty="0"/>
              <a:t>Эмпирическая гипотеза </a:t>
            </a:r>
            <a:r>
              <a:rPr lang="en-US" altLang="ru-RU" sz="2700" i="1" dirty="0"/>
              <a:t>h</a:t>
            </a:r>
            <a:r>
              <a:rPr lang="ru-RU" altLang="ru-RU" sz="2700" dirty="0"/>
              <a:t> - утверждение, которое говорит о том, </a:t>
            </a:r>
          </a:p>
          <a:p>
            <a:pPr marL="742956" lvl="1" indent="-285752" defTabSz="914407"/>
            <a:r>
              <a:rPr lang="ru-RU" altLang="ru-RU" sz="2200" dirty="0"/>
              <a:t>что мы изучаем (</a:t>
            </a:r>
            <a:r>
              <a:rPr lang="en-US" altLang="ru-RU" sz="2200" dirty="0">
                <a:solidFill>
                  <a:srgbClr val="FF0000"/>
                </a:solidFill>
              </a:rPr>
              <a:t>W</a:t>
            </a:r>
            <a:r>
              <a:rPr lang="ru-RU" altLang="ru-RU" sz="2200" dirty="0"/>
              <a:t>), </a:t>
            </a:r>
          </a:p>
          <a:p>
            <a:pPr marL="742956" lvl="1" indent="-285752" defTabSz="914407"/>
            <a:r>
              <a:rPr lang="ru-RU" altLang="ru-RU" sz="2200" dirty="0"/>
              <a:t>чем измеряем свойства (</a:t>
            </a:r>
            <a:r>
              <a:rPr lang="ru-RU" altLang="ru-RU" sz="2200" dirty="0">
                <a:solidFill>
                  <a:srgbClr val="FF0000"/>
                </a:solidFill>
              </a:rPr>
              <a:t>О</a:t>
            </a:r>
            <a:r>
              <a:rPr lang="ru-RU" altLang="ru-RU" sz="2200" dirty="0"/>
              <a:t>), </a:t>
            </a:r>
          </a:p>
          <a:p>
            <a:pPr marL="742956" lvl="1" indent="-285752" defTabSz="914407"/>
            <a:r>
              <a:rPr lang="ru-RU" altLang="ru-RU" sz="2200" dirty="0"/>
              <a:t>как записываются результаты (</a:t>
            </a:r>
            <a:r>
              <a:rPr lang="en-US" altLang="ru-RU" sz="2200" dirty="0">
                <a:solidFill>
                  <a:srgbClr val="FF0000"/>
                </a:solidFill>
              </a:rPr>
              <a:t>V</a:t>
            </a:r>
            <a:r>
              <a:rPr lang="ru-RU" altLang="ru-RU" sz="2200" dirty="0"/>
              <a:t>)  - (выбор языка записи) и</a:t>
            </a:r>
          </a:p>
          <a:p>
            <a:pPr marL="742956" lvl="1" indent="-285752" defTabSz="914407"/>
            <a:r>
              <a:rPr lang="ru-RU" altLang="ru-RU" sz="2200" dirty="0"/>
              <a:t>какие результаты, как  нам кажется, не встретятся в будущих протоколах (</a:t>
            </a:r>
            <a:r>
              <a:rPr lang="ru-RU" altLang="ru-RU" sz="2200" dirty="0">
                <a:solidFill>
                  <a:srgbClr val="FF0000"/>
                </a:solidFill>
              </a:rPr>
              <a:t>Т</a:t>
            </a:r>
            <a:r>
              <a:rPr lang="ru-RU" altLang="ru-RU" sz="2200" dirty="0"/>
              <a:t>), </a:t>
            </a:r>
            <a:r>
              <a:rPr lang="ru-RU" altLang="ru-RU" sz="2200" dirty="0" err="1"/>
              <a:t>т.е</a:t>
            </a:r>
            <a:r>
              <a:rPr lang="ru-RU" altLang="ru-RU" sz="2200" dirty="0"/>
              <a:t> сама гипотеза:</a:t>
            </a:r>
          </a:p>
          <a:p>
            <a:pPr marL="742956" lvl="1" indent="-285752" defTabSz="914407"/>
            <a:endParaRPr lang="ru-RU" altLang="ru-RU" sz="2200" dirty="0"/>
          </a:p>
          <a:p>
            <a:pPr marL="742956" lvl="1" indent="-285752" defTabSz="914407"/>
            <a:r>
              <a:rPr lang="ru-RU" altLang="ru-RU" sz="3500" dirty="0">
                <a:solidFill>
                  <a:srgbClr val="FF0000"/>
                </a:solidFill>
              </a:rPr>
              <a:t>                  </a:t>
            </a:r>
            <a:r>
              <a:rPr lang="en-US" altLang="ru-RU" sz="3500" dirty="0">
                <a:solidFill>
                  <a:srgbClr val="FF0000"/>
                </a:solidFill>
              </a:rPr>
              <a:t>h</a:t>
            </a:r>
            <a:r>
              <a:rPr lang="ru-RU" altLang="ru-RU" sz="3500" dirty="0">
                <a:solidFill>
                  <a:srgbClr val="FF0000"/>
                </a:solidFill>
              </a:rPr>
              <a:t>=</a:t>
            </a:r>
            <a:r>
              <a:rPr lang="en-US" altLang="ru-RU" sz="3500" dirty="0">
                <a:solidFill>
                  <a:srgbClr val="FF0000"/>
                </a:solidFill>
              </a:rPr>
              <a:t>{W</a:t>
            </a:r>
            <a:r>
              <a:rPr lang="ru-RU" altLang="ru-RU" sz="3500" dirty="0">
                <a:solidFill>
                  <a:srgbClr val="FF0000"/>
                </a:solidFill>
              </a:rPr>
              <a:t>,</a:t>
            </a:r>
            <a:r>
              <a:rPr lang="en-US" altLang="ru-RU" sz="3500" dirty="0">
                <a:solidFill>
                  <a:srgbClr val="FF0000"/>
                </a:solidFill>
              </a:rPr>
              <a:t>O</a:t>
            </a:r>
            <a:r>
              <a:rPr lang="ru-RU" altLang="ru-RU" sz="3500" dirty="0">
                <a:solidFill>
                  <a:srgbClr val="FF0000"/>
                </a:solidFill>
              </a:rPr>
              <a:t>,</a:t>
            </a:r>
            <a:r>
              <a:rPr lang="en-US" altLang="ru-RU" sz="3500" dirty="0">
                <a:solidFill>
                  <a:srgbClr val="FF0000"/>
                </a:solidFill>
              </a:rPr>
              <a:t>V</a:t>
            </a:r>
            <a:r>
              <a:rPr lang="ru-RU" altLang="ru-RU" sz="3500" dirty="0">
                <a:solidFill>
                  <a:srgbClr val="FF0000"/>
                </a:solidFill>
              </a:rPr>
              <a:t>,</a:t>
            </a:r>
            <a:r>
              <a:rPr lang="en-US" altLang="ru-RU" sz="3500" dirty="0">
                <a:solidFill>
                  <a:srgbClr val="FF0000"/>
                </a:solidFill>
              </a:rPr>
              <a:t>T}</a:t>
            </a:r>
            <a:endParaRPr lang="ru-RU" altLang="ru-RU" sz="2000" dirty="0"/>
          </a:p>
        </p:txBody>
      </p:sp>
      <p:sp>
        <p:nvSpPr>
          <p:cNvPr id="3" name="Номер слайда 2">
            <a:extLst>
              <a:ext uri="{FF2B5EF4-FFF2-40B4-BE49-F238E27FC236}">
                <a16:creationId xmlns:a16="http://schemas.microsoft.com/office/drawing/2014/main" id="{D5515540-E38B-46B3-B551-DCAFEF60D0E8}"/>
              </a:ext>
            </a:extLst>
          </p:cNvPr>
          <p:cNvSpPr>
            <a:spLocks noGrp="1"/>
          </p:cNvSpPr>
          <p:nvPr>
            <p:ph type="sldNum" sz="quarter" idx="12"/>
          </p:nvPr>
        </p:nvSpPr>
        <p:spPr>
          <a:xfrm>
            <a:off x="11302677" y="6605017"/>
            <a:ext cx="732162" cy="306959"/>
          </a:xfrm>
        </p:spPr>
        <p:txBody>
          <a:bodyPr/>
          <a:lstStyle/>
          <a:p>
            <a:fld id="{952B6C0E-C4B9-4094-8E59-5B7DF00D5415}" type="slidenum">
              <a:rPr lang="ru-RU" sz="1400" smtClean="0">
                <a:solidFill>
                  <a:schemeClr val="tx1"/>
                </a:solidFill>
              </a:rPr>
              <a:t>17</a:t>
            </a:fld>
            <a:endParaRPr lang="ru-RU" dirty="0">
              <a:solidFill>
                <a:schemeClr val="tx1"/>
              </a:solidFill>
            </a:endParaRPr>
          </a:p>
        </p:txBody>
      </p:sp>
    </p:spTree>
    <p:extLst>
      <p:ext uri="{BB962C8B-B14F-4D97-AF65-F5344CB8AC3E}">
        <p14:creationId xmlns:p14="http://schemas.microsoft.com/office/powerpoint/2010/main" val="390725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2" name="AutoShape 4"/>
          <p:cNvSpPr>
            <a:spLocks noChangeArrowheads="1"/>
          </p:cNvSpPr>
          <p:nvPr/>
        </p:nvSpPr>
        <p:spPr bwMode="auto">
          <a:xfrm>
            <a:off x="1438277" y="322263"/>
            <a:ext cx="10872512"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0000"/>
          </a:bodyPr>
          <a:lstStyle/>
          <a:p>
            <a:r>
              <a:rPr lang="ru-RU" altLang="ru-RU" b="1" dirty="0">
                <a:solidFill>
                  <a:schemeClr val="hlink"/>
                </a:solidFill>
              </a:rPr>
              <a:t>Гипотезы: доказательство или опровержение?</a:t>
            </a:r>
          </a:p>
        </p:txBody>
      </p:sp>
      <p:sp>
        <p:nvSpPr>
          <p:cNvPr id="191491" name="Объект 2"/>
          <p:cNvSpPr>
            <a:spLocks noGrp="1"/>
          </p:cNvSpPr>
          <p:nvPr>
            <p:ph idx="4294967295"/>
          </p:nvPr>
        </p:nvSpPr>
        <p:spPr bwMode="auto">
          <a:xfrm>
            <a:off x="789509" y="1509712"/>
            <a:ext cx="11240419" cy="4986341"/>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90489" indent="-90489" defTabSz="914407">
              <a:buNone/>
            </a:pPr>
            <a:r>
              <a:rPr lang="ru-RU" altLang="ru-RU" sz="2800" dirty="0"/>
              <a:t>Гипотезу нельзя доказать, но можно опровергнуть.</a:t>
            </a:r>
          </a:p>
          <a:p>
            <a:pPr marL="742956" lvl="1" indent="-285752" defTabSz="914407">
              <a:buNone/>
            </a:pPr>
            <a:r>
              <a:rPr lang="ru-RU" altLang="ru-RU" sz="2800" dirty="0"/>
              <a:t>  </a:t>
            </a:r>
            <a:r>
              <a:rPr lang="ru-RU" altLang="ru-RU" sz="2400" b="1" i="1" dirty="0"/>
              <a:t>«Тот факт, что сегодня взошло солнце вовсе не говорит о том, что оно взойдет завтра» Людвиг </a:t>
            </a:r>
            <a:r>
              <a:rPr lang="ru-RU" altLang="ru-RU" sz="2400" b="1" i="1" dirty="0" err="1"/>
              <a:t>Витгенштейн</a:t>
            </a:r>
            <a:endParaRPr lang="ru-RU" altLang="ru-RU" sz="2400" dirty="0"/>
          </a:p>
          <a:p>
            <a:pPr marL="90489" indent="-90489" defTabSz="914407">
              <a:buNone/>
            </a:pPr>
            <a:endParaRPr lang="ru-RU" altLang="ru-RU" sz="2800" dirty="0"/>
          </a:p>
          <a:p>
            <a:pPr marL="90489" indent="-90489" defTabSz="914407">
              <a:buNone/>
            </a:pPr>
            <a:r>
              <a:rPr lang="ru-RU" altLang="ru-RU" sz="2800" dirty="0"/>
              <a:t>Что делать, если эксперимент опровергает гипотезу? </a:t>
            </a:r>
          </a:p>
          <a:p>
            <a:pPr marL="742956" lvl="1" indent="-285752" defTabSz="914407">
              <a:buNone/>
            </a:pPr>
            <a:r>
              <a:rPr lang="ru-RU" altLang="ru-RU" sz="2400" dirty="0"/>
              <a:t>Во-первых нужно убедиться, что в ходе эксперимента не было ошибок. </a:t>
            </a:r>
            <a:endParaRPr lang="en-US" altLang="ru-RU" sz="2400" dirty="0"/>
          </a:p>
          <a:p>
            <a:pPr marL="742956" lvl="1" indent="-285752" defTabSz="914407">
              <a:buNone/>
            </a:pPr>
            <a:r>
              <a:rPr lang="ru-RU" altLang="ru-RU" sz="2400" dirty="0"/>
              <a:t>Если их не было, то приходится согласиться с тем, что гипотеза не верна, и нужно формулировать другую гипотезу, которая включала бы в число допустимых протоколов и тот протокол, который опроверг прежнюю гипотезу.  </a:t>
            </a:r>
          </a:p>
        </p:txBody>
      </p:sp>
      <p:sp>
        <p:nvSpPr>
          <p:cNvPr id="3" name="Номер слайда 2">
            <a:extLst>
              <a:ext uri="{FF2B5EF4-FFF2-40B4-BE49-F238E27FC236}">
                <a16:creationId xmlns:a16="http://schemas.microsoft.com/office/drawing/2014/main" id="{9C4BC272-9881-4642-80BA-FD52EAC20C4D}"/>
              </a:ext>
            </a:extLst>
          </p:cNvPr>
          <p:cNvSpPr>
            <a:spLocks noGrp="1"/>
          </p:cNvSpPr>
          <p:nvPr>
            <p:ph type="sldNum" sz="quarter" idx="12"/>
          </p:nvPr>
        </p:nvSpPr>
        <p:spPr>
          <a:xfrm>
            <a:off x="11518701" y="6605017"/>
            <a:ext cx="516138" cy="379409"/>
          </a:xfrm>
        </p:spPr>
        <p:txBody>
          <a:bodyPr/>
          <a:lstStyle/>
          <a:p>
            <a:fld id="{952B6C0E-C4B9-4094-8E59-5B7DF00D5415}" type="slidenum">
              <a:rPr lang="ru-RU" smtClean="0">
                <a:solidFill>
                  <a:schemeClr val="tx1"/>
                </a:solidFill>
              </a:rPr>
              <a:t>18</a:t>
            </a:fld>
            <a:endParaRPr lang="ru-RU">
              <a:solidFill>
                <a:schemeClr val="tx1"/>
              </a:solidFill>
            </a:endParaRPr>
          </a:p>
        </p:txBody>
      </p:sp>
    </p:spTree>
    <p:extLst>
      <p:ext uri="{BB962C8B-B14F-4D97-AF65-F5344CB8AC3E}">
        <p14:creationId xmlns:p14="http://schemas.microsoft.com/office/powerpoint/2010/main" val="122314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0" name="AutoShape 4"/>
          <p:cNvSpPr>
            <a:spLocks noChangeArrowheads="1"/>
          </p:cNvSpPr>
          <p:nvPr/>
        </p:nvSpPr>
        <p:spPr bwMode="auto">
          <a:xfrm>
            <a:off x="1438277" y="322263"/>
            <a:ext cx="10872512"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2362200" y="363538"/>
            <a:ext cx="7943850" cy="7064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0000"/>
          </a:bodyPr>
          <a:lstStyle/>
          <a:p>
            <a:r>
              <a:rPr lang="ru-RU" altLang="ru-RU" b="1" dirty="0">
                <a:solidFill>
                  <a:schemeClr val="hlink"/>
                </a:solidFill>
              </a:rPr>
              <a:t>Характеристики гипотез</a:t>
            </a:r>
          </a:p>
        </p:txBody>
      </p:sp>
      <p:sp>
        <p:nvSpPr>
          <p:cNvPr id="193539" name="Объект 2"/>
          <p:cNvSpPr>
            <a:spLocks noGrp="1"/>
          </p:cNvSpPr>
          <p:nvPr>
            <p:ph idx="4294967295"/>
          </p:nvPr>
        </p:nvSpPr>
        <p:spPr bwMode="auto">
          <a:xfrm>
            <a:off x="861517" y="1187450"/>
            <a:ext cx="11173322" cy="511175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90489" indent="-90489" defTabSz="914407">
              <a:buClr>
                <a:schemeClr val="hlink"/>
              </a:buClr>
              <a:buFont typeface="Wingdings" panose="05000000000000000000" pitchFamily="2" charset="2"/>
              <a:buChar char="ü"/>
            </a:pPr>
            <a:r>
              <a:rPr lang="ru-RU" altLang="ru-RU" sz="2400" dirty="0"/>
              <a:t> Потенциальная опровержимость </a:t>
            </a:r>
            <a:r>
              <a:rPr lang="en-US" altLang="ru-RU" sz="2400" dirty="0"/>
              <a:t>Q</a:t>
            </a:r>
            <a:r>
              <a:rPr lang="ru-RU" altLang="ru-RU" sz="2400" dirty="0"/>
              <a:t>     </a:t>
            </a:r>
          </a:p>
          <a:p>
            <a:pPr marL="90489" indent="-90489" defTabSz="914407">
              <a:buClr>
                <a:schemeClr val="hlink"/>
              </a:buClr>
              <a:buFont typeface="Wingdings" panose="05000000000000000000" pitchFamily="2" charset="2"/>
              <a:buChar char="ü"/>
            </a:pPr>
            <a:r>
              <a:rPr lang="ru-RU" altLang="ru-RU" sz="2400" dirty="0"/>
              <a:t> Степень </a:t>
            </a:r>
            <a:r>
              <a:rPr lang="ru-RU" altLang="ru-RU" sz="2400" dirty="0" err="1"/>
              <a:t>подтвержденности</a:t>
            </a:r>
            <a:r>
              <a:rPr lang="ru-RU" altLang="ru-RU" sz="2400" dirty="0"/>
              <a:t> (Р) -  </a:t>
            </a:r>
            <a:r>
              <a:rPr lang="ru-RU" altLang="ru-RU" sz="2400" dirty="0">
                <a:solidFill>
                  <a:schemeClr val="hlink"/>
                </a:solidFill>
              </a:rPr>
              <a:t>чем больше подтверждений, тем больше веры в гипотезу.</a:t>
            </a:r>
            <a:r>
              <a:rPr lang="ru-RU" altLang="ru-RU" sz="2400" dirty="0"/>
              <a:t>  </a:t>
            </a:r>
          </a:p>
          <a:p>
            <a:pPr marL="90489" indent="-90489" defTabSz="914407">
              <a:buClr>
                <a:schemeClr val="hlink"/>
              </a:buClr>
              <a:buFont typeface="Wingdings" panose="05000000000000000000" pitchFamily="2" charset="2"/>
              <a:buChar char="ü"/>
            </a:pPr>
            <a:r>
              <a:rPr lang="ru-RU" altLang="ru-RU" sz="2400" dirty="0"/>
              <a:t> Степень объясненности </a:t>
            </a:r>
            <a:r>
              <a:rPr lang="en-US" altLang="ru-RU" sz="2400" dirty="0"/>
              <a:t>(R)</a:t>
            </a:r>
            <a:r>
              <a:rPr lang="ru-RU" altLang="ru-RU" sz="2400" dirty="0"/>
              <a:t> - </a:t>
            </a:r>
            <a:r>
              <a:rPr lang="ru-RU" altLang="ru-RU" sz="2400" dirty="0">
                <a:solidFill>
                  <a:schemeClr val="hlink"/>
                </a:solidFill>
              </a:rPr>
              <a:t>Если нет объясненности гипотезы – она НЕ является абсолютно доказанной.</a:t>
            </a:r>
            <a:endParaRPr lang="ru-RU" altLang="ru-RU" sz="2000" dirty="0">
              <a:solidFill>
                <a:schemeClr val="hlink"/>
              </a:solidFill>
            </a:endParaRPr>
          </a:p>
          <a:p>
            <a:pPr marL="90489" indent="-90489" defTabSz="914407">
              <a:buClr>
                <a:schemeClr val="hlink"/>
              </a:buClr>
              <a:buFont typeface="Wingdings" panose="05000000000000000000" pitchFamily="2" charset="2"/>
              <a:buChar char="ü"/>
            </a:pPr>
            <a:r>
              <a:rPr lang="ru-RU" altLang="ru-RU" sz="2400" dirty="0"/>
              <a:t> Форма, в которой  представлена гипотеза:-простота (S)</a:t>
            </a:r>
            <a:r>
              <a:rPr lang="en-US" altLang="ru-RU" sz="2400" dirty="0"/>
              <a:t> </a:t>
            </a:r>
            <a:endParaRPr lang="ru-RU" altLang="ru-RU" sz="2400" dirty="0"/>
          </a:p>
          <a:p>
            <a:pPr marL="90489" indent="-90489" defTabSz="914407">
              <a:buClr>
                <a:schemeClr val="hlink"/>
              </a:buClr>
              <a:buFont typeface="Wingdings" panose="05000000000000000000" pitchFamily="2" charset="2"/>
              <a:buChar char="ü"/>
            </a:pPr>
            <a:r>
              <a:rPr lang="ru-RU" altLang="ru-RU" sz="2400" dirty="0"/>
              <a:t> изящество или  красота  формулировки (B</a:t>
            </a:r>
            <a:r>
              <a:rPr lang="en-US" altLang="ru-RU" sz="2400" dirty="0"/>
              <a:t>)</a:t>
            </a:r>
            <a:r>
              <a:rPr lang="ru-RU" altLang="ru-RU" sz="2400" dirty="0"/>
              <a:t> - </a:t>
            </a:r>
            <a:r>
              <a:rPr lang="ru-RU" altLang="ru-RU" sz="2400" dirty="0">
                <a:solidFill>
                  <a:schemeClr val="hlink"/>
                </a:solidFill>
              </a:rPr>
              <a:t>пример – структура ДНК</a:t>
            </a:r>
            <a:r>
              <a:rPr lang="ru-RU" altLang="ru-RU" sz="2000" dirty="0">
                <a:solidFill>
                  <a:schemeClr val="hlink"/>
                </a:solidFill>
              </a:rPr>
              <a:t>.</a:t>
            </a:r>
            <a:endParaRPr lang="en-US" altLang="ru-RU" sz="2000" dirty="0">
              <a:solidFill>
                <a:schemeClr val="hlink"/>
              </a:solidFill>
            </a:endParaRPr>
          </a:p>
          <a:p>
            <a:pPr marL="90489" indent="-90489" defTabSz="914407">
              <a:buClr>
                <a:schemeClr val="hlink"/>
              </a:buClr>
              <a:buNone/>
            </a:pPr>
            <a:r>
              <a:rPr lang="ru-RU" altLang="ru-RU" sz="2400" dirty="0"/>
              <a:t>   Т.е.  мы  имеем  дело  всегда  с  объектом </a:t>
            </a:r>
            <a:endParaRPr lang="en-US" altLang="ru-RU" sz="2400" dirty="0"/>
          </a:p>
          <a:p>
            <a:pPr marL="90489" indent="1258898" defTabSz="914407">
              <a:buClr>
                <a:schemeClr val="hlink"/>
              </a:buClr>
              <a:buNone/>
            </a:pPr>
            <a:r>
              <a:rPr lang="en-US" altLang="ru-RU" sz="2400" dirty="0"/>
              <a:t>                     </a:t>
            </a:r>
            <a:r>
              <a:rPr lang="ru-RU" altLang="ru-RU" sz="3200" dirty="0">
                <a:solidFill>
                  <a:srgbClr val="FF0000"/>
                </a:solidFill>
              </a:rPr>
              <a:t>Z = </a:t>
            </a:r>
            <a:r>
              <a:rPr lang="en-US" altLang="ru-RU" sz="3200" dirty="0">
                <a:solidFill>
                  <a:srgbClr val="FF0000"/>
                </a:solidFill>
              </a:rPr>
              <a:t>{</a:t>
            </a:r>
            <a:r>
              <a:rPr lang="ru-RU" altLang="ru-RU" sz="3200" dirty="0" err="1">
                <a:solidFill>
                  <a:srgbClr val="FF0000"/>
                </a:solidFill>
              </a:rPr>
              <a:t>h,Q,P,R,S,B</a:t>
            </a:r>
            <a:r>
              <a:rPr lang="en-US" altLang="ru-RU" sz="3200" dirty="0">
                <a:solidFill>
                  <a:srgbClr val="FF0000"/>
                </a:solidFill>
              </a:rPr>
              <a:t>}</a:t>
            </a:r>
            <a:r>
              <a:rPr lang="ru-RU" altLang="ru-RU" sz="3600" dirty="0">
                <a:solidFill>
                  <a:srgbClr val="FF0000"/>
                </a:solidFill>
              </a:rPr>
              <a:t>  </a:t>
            </a:r>
            <a:endParaRPr lang="en-US" altLang="ru-RU" sz="3600" dirty="0">
              <a:solidFill>
                <a:srgbClr val="FF0000"/>
              </a:solidFill>
            </a:endParaRPr>
          </a:p>
          <a:p>
            <a:pPr marL="90489" indent="-90489" defTabSz="914407">
              <a:buClr>
                <a:schemeClr val="hlink"/>
              </a:buClr>
              <a:buNone/>
            </a:pPr>
            <a:r>
              <a:rPr lang="ru-RU" altLang="ru-RU" sz="2400" dirty="0"/>
              <a:t> </a:t>
            </a:r>
            <a:r>
              <a:rPr lang="ru-RU" altLang="ru-RU" sz="2800" dirty="0"/>
              <a:t>Этот  объект Z, т.е. гипотезу с ее характеристиками,  мы  и  называем  </a:t>
            </a:r>
            <a:r>
              <a:rPr lang="ru-RU" altLang="ru-RU" sz="2800" b="1" i="1" dirty="0"/>
              <a:t>эмпирической закономерностью.</a:t>
            </a:r>
          </a:p>
        </p:txBody>
      </p:sp>
      <p:sp>
        <p:nvSpPr>
          <p:cNvPr id="3" name="Номер слайда 2">
            <a:extLst>
              <a:ext uri="{FF2B5EF4-FFF2-40B4-BE49-F238E27FC236}">
                <a16:creationId xmlns:a16="http://schemas.microsoft.com/office/drawing/2014/main" id="{68D4F49C-A0F4-4675-AA23-AD81A93AA358}"/>
              </a:ext>
            </a:extLst>
          </p:cNvPr>
          <p:cNvSpPr>
            <a:spLocks noGrp="1"/>
          </p:cNvSpPr>
          <p:nvPr>
            <p:ph type="sldNum" sz="quarter" idx="12"/>
          </p:nvPr>
        </p:nvSpPr>
        <p:spPr>
          <a:xfrm>
            <a:off x="11229973" y="6605017"/>
            <a:ext cx="804866" cy="379409"/>
          </a:xfrm>
        </p:spPr>
        <p:txBody>
          <a:bodyPr/>
          <a:lstStyle/>
          <a:p>
            <a:fld id="{952B6C0E-C4B9-4094-8E59-5B7DF00D5415}" type="slidenum">
              <a:rPr lang="ru-RU" smtClean="0">
                <a:solidFill>
                  <a:schemeClr val="tx1"/>
                </a:solidFill>
              </a:rPr>
              <a:t>19</a:t>
            </a:fld>
            <a:endParaRPr lang="ru-RU">
              <a:solidFill>
                <a:schemeClr val="tx1"/>
              </a:solidFill>
            </a:endParaRPr>
          </a:p>
        </p:txBody>
      </p:sp>
    </p:spTree>
    <p:extLst>
      <p:ext uri="{BB962C8B-B14F-4D97-AF65-F5344CB8AC3E}">
        <p14:creationId xmlns:p14="http://schemas.microsoft.com/office/powerpoint/2010/main" val="361075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90" name="AutoShape 6"/>
          <p:cNvSpPr>
            <a:spLocks noChangeArrowheads="1"/>
          </p:cNvSpPr>
          <p:nvPr/>
        </p:nvSpPr>
        <p:spPr bwMode="auto">
          <a:xfrm>
            <a:off x="1438277" y="322786"/>
            <a:ext cx="10872512" cy="6552679"/>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8" name="AutoShape 5"/>
          <p:cNvSpPr>
            <a:spLocks noChangeArrowheads="1"/>
          </p:cNvSpPr>
          <p:nvPr/>
        </p:nvSpPr>
        <p:spPr bwMode="auto">
          <a:xfrm>
            <a:off x="2085977" y="469900"/>
            <a:ext cx="8351837" cy="647700"/>
          </a:xfrm>
          <a:prstGeom prst="roundRect">
            <a:avLst>
              <a:gd name="adj" fmla="val 37582"/>
            </a:avLst>
          </a:prstGeom>
          <a:solidFill>
            <a:srgbClr val="FFFFFF">
              <a:alpha val="78999"/>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600" b="1">
                <a:solidFill>
                  <a:schemeClr val="hlink"/>
                </a:solidFill>
              </a:rPr>
              <a:t>Схема усиления гипотез</a:t>
            </a:r>
            <a:endParaRPr lang="ru-RU" altLang="ru-RU" sz="3500">
              <a:solidFill>
                <a:schemeClr val="bg1"/>
              </a:solidFill>
            </a:endParaRPr>
          </a:p>
        </p:txBody>
      </p:sp>
      <p:sp>
        <p:nvSpPr>
          <p:cNvPr id="4" name="Скругленный прямоугольник 3"/>
          <p:cNvSpPr/>
          <p:nvPr/>
        </p:nvSpPr>
        <p:spPr bwMode="auto">
          <a:xfrm>
            <a:off x="861517" y="1114426"/>
            <a:ext cx="11173322" cy="5467961"/>
          </a:xfrm>
          <a:prstGeom prst="roundRect">
            <a:avLst/>
          </a:prstGeom>
          <a:solidFill>
            <a:srgbClr val="66FFFF">
              <a:alpha val="12549"/>
            </a:srgbClr>
          </a:soli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defTabSz="993783"/>
            <a:endParaRPr lang="ru-RU">
              <a:solidFill>
                <a:schemeClr val="tx1"/>
              </a:solidFill>
              <a:latin typeface="Arial" panose="020B0604020202020204" pitchFamily="34" charset="0"/>
              <a:cs typeface="Arial" panose="020B0604020202020204" pitchFamily="34" charset="0"/>
            </a:endParaRPr>
          </a:p>
        </p:txBody>
      </p:sp>
      <p:pic>
        <p:nvPicPr>
          <p:cNvPr id="195588"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9550" y="1114426"/>
            <a:ext cx="5400599" cy="319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8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4045" y="2425074"/>
            <a:ext cx="6192688" cy="406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Номер слайда 1">
            <a:extLst>
              <a:ext uri="{FF2B5EF4-FFF2-40B4-BE49-F238E27FC236}">
                <a16:creationId xmlns:a16="http://schemas.microsoft.com/office/drawing/2014/main" id="{1181E9A9-EB7A-44C9-83F0-265CDA8C9C2C}"/>
              </a:ext>
            </a:extLst>
          </p:cNvPr>
          <p:cNvSpPr>
            <a:spLocks noGrp="1"/>
          </p:cNvSpPr>
          <p:nvPr>
            <p:ph type="sldNum" sz="quarter" idx="12"/>
          </p:nvPr>
        </p:nvSpPr>
        <p:spPr>
          <a:xfrm>
            <a:off x="11518701" y="6605018"/>
            <a:ext cx="516138" cy="270448"/>
          </a:xfrm>
        </p:spPr>
        <p:txBody>
          <a:bodyPr/>
          <a:lstStyle/>
          <a:p>
            <a:fld id="{952B6C0E-C4B9-4094-8E59-5B7DF00D5415}" type="slidenum">
              <a:rPr lang="ru-RU" smtClean="0">
                <a:solidFill>
                  <a:schemeClr val="tx1"/>
                </a:solidFill>
              </a:rPr>
              <a:t>20</a:t>
            </a:fld>
            <a:endParaRPr lang="ru-RU">
              <a:solidFill>
                <a:schemeClr val="tx1"/>
              </a:solidFill>
            </a:endParaRPr>
          </a:p>
        </p:txBody>
      </p:sp>
    </p:spTree>
    <p:extLst>
      <p:ext uri="{BB962C8B-B14F-4D97-AF65-F5344CB8AC3E}">
        <p14:creationId xmlns:p14="http://schemas.microsoft.com/office/powerpoint/2010/main" val="136854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7" y="466204"/>
            <a:ext cx="10872512"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9441" tIns="49721" rIns="99441" bIns="49721" rtlCol="0" anchor="ctr">
            <a:normAutofit/>
          </a:bodyPr>
          <a:lstStyle/>
          <a:p>
            <a:r>
              <a:rPr lang="ru-RU" altLang="ru-RU" sz="3100" b="1"/>
              <a:t>Что делают </a:t>
            </a:r>
            <a:r>
              <a:rPr lang="en-US" altLang="ru-RU" sz="3100" b="1"/>
              <a:t>Data Scientists?</a:t>
            </a:r>
            <a:endParaRPr lang="ru-RU" altLang="ru-RU" sz="3100" b="1"/>
          </a:p>
        </p:txBody>
      </p:sp>
      <p:pic>
        <p:nvPicPr>
          <p:cNvPr id="69636" name="Picture 2" descr="http://spectrum.ieee.org/img/data%20scientist-13487800974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43186" y="1468403"/>
            <a:ext cx="2791653" cy="260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3" name="Прямоугольник 2"/>
          <p:cNvSpPr/>
          <p:nvPr/>
        </p:nvSpPr>
        <p:spPr>
          <a:xfrm>
            <a:off x="1162327" y="1673295"/>
            <a:ext cx="7607573" cy="2462213"/>
          </a:xfrm>
          <a:prstGeom prst="rect">
            <a:avLst/>
          </a:prstGeom>
        </p:spPr>
        <p:txBody>
          <a:bodyPr wrap="square">
            <a:spAutoFit/>
          </a:bodyPr>
          <a:lstStyle/>
          <a:p>
            <a:r>
              <a:rPr lang="en-US" sz="2200" dirty="0"/>
              <a:t>"</a:t>
            </a:r>
            <a:r>
              <a:rPr lang="ru-RU" sz="2200" dirty="0"/>
              <a:t>Пока работает интернет-магазин, накапливаются данные: сохраняются </a:t>
            </a:r>
            <a:r>
              <a:rPr lang="ru-RU" sz="2200" dirty="0" err="1"/>
              <a:t>логи</a:t>
            </a:r>
            <a:r>
              <a:rPr lang="ru-RU" sz="2200" dirty="0"/>
              <a:t> пользователей: кто и с каким IP заходил на наш сайт, что он делал, какие страницы и в какой последовательности смотрел, какие товары в итоге выбрал, мы сохраняем все складские движения и так далее. </a:t>
            </a:r>
            <a:endParaRPr lang="en-US" sz="2200" dirty="0"/>
          </a:p>
          <a:p>
            <a:endParaRPr lang="en-US" sz="2200" dirty="0"/>
          </a:p>
        </p:txBody>
      </p:sp>
      <p:sp>
        <p:nvSpPr>
          <p:cNvPr id="4" name="Номер слайда 3">
            <a:extLst>
              <a:ext uri="{FF2B5EF4-FFF2-40B4-BE49-F238E27FC236}">
                <a16:creationId xmlns:a16="http://schemas.microsoft.com/office/drawing/2014/main" id="{9613CEB9-133D-4874-8BE3-BE710043BB40}"/>
              </a:ext>
            </a:extLst>
          </p:cNvPr>
          <p:cNvSpPr>
            <a:spLocks noGrp="1"/>
          </p:cNvSpPr>
          <p:nvPr>
            <p:ph type="sldNum" sz="quarter" idx="12"/>
          </p:nvPr>
        </p:nvSpPr>
        <p:spPr>
          <a:xfrm>
            <a:off x="11518701" y="6660084"/>
            <a:ext cx="516138" cy="324342"/>
          </a:xfrm>
        </p:spPr>
        <p:txBody>
          <a:bodyPr/>
          <a:lstStyle/>
          <a:p>
            <a:fld id="{952B6C0E-C4B9-4094-8E59-5B7DF00D5415}" type="slidenum">
              <a:rPr lang="ru-RU" smtClean="0">
                <a:solidFill>
                  <a:schemeClr val="tx1"/>
                </a:solidFill>
              </a:rPr>
              <a:t>21</a:t>
            </a:fld>
            <a:endParaRPr lang="ru-RU">
              <a:solidFill>
                <a:schemeClr val="tx1"/>
              </a:solidFill>
            </a:endParaRPr>
          </a:p>
        </p:txBody>
      </p:sp>
      <p:sp>
        <p:nvSpPr>
          <p:cNvPr id="9" name="TextBox 8">
            <a:extLst>
              <a:ext uri="{FF2B5EF4-FFF2-40B4-BE49-F238E27FC236}">
                <a16:creationId xmlns:a16="http://schemas.microsoft.com/office/drawing/2014/main" id="{49BCF1FA-0CB1-4C5E-9CF8-34A8E4EC7D4E}"/>
              </a:ext>
            </a:extLst>
          </p:cNvPr>
          <p:cNvSpPr txBox="1"/>
          <p:nvPr/>
        </p:nvSpPr>
        <p:spPr>
          <a:xfrm>
            <a:off x="1162327" y="4355738"/>
            <a:ext cx="10872512" cy="2123658"/>
          </a:xfrm>
          <a:prstGeom prst="rect">
            <a:avLst/>
          </a:prstGeom>
        </p:spPr>
        <p:txBody>
          <a:bodyPr wrap="square">
            <a:spAutoFit/>
          </a:bodyPr>
          <a:lstStyle>
            <a:defPPr>
              <a:defRPr lang="ru-RU"/>
            </a:defPPr>
            <a:lvl1pPr>
              <a:defRPr sz="2200"/>
            </a:lvl1pPr>
          </a:lstStyle>
          <a:p>
            <a:r>
              <a:rPr lang="ru-RU" dirty="0"/>
              <a:t>Когда у нас накопилось достаточно много информации, наша задача поддержания этого интернет-магазина в режиме эффективного функционирования фактически является задачей анализа данных, которая разбивается на много различных подзадач. Например, задача прогнозирования спроса, потому что каждый товар нам надо не просто покупать, а закупать в каком-то определенном количестве.</a:t>
            </a:r>
            <a:r>
              <a:rPr lang="en-US" dirty="0"/>
              <a:t>"</a:t>
            </a:r>
            <a:endParaRPr lang="ru-RU" dirty="0"/>
          </a:p>
        </p:txBody>
      </p:sp>
    </p:spTree>
    <p:extLst>
      <p:ext uri="{BB962C8B-B14F-4D97-AF65-F5344CB8AC3E}">
        <p14:creationId xmlns:p14="http://schemas.microsoft.com/office/powerpoint/2010/main" val="275853154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005533" y="322262"/>
            <a:ext cx="11161239" cy="666216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3" name="Прямоугольник 2"/>
          <p:cNvSpPr/>
          <p:nvPr/>
        </p:nvSpPr>
        <p:spPr>
          <a:xfrm>
            <a:off x="1005533" y="1302615"/>
            <a:ext cx="6912078" cy="1785104"/>
          </a:xfrm>
          <a:prstGeom prst="rect">
            <a:avLst/>
          </a:prstGeom>
        </p:spPr>
        <p:txBody>
          <a:bodyPr wrap="square">
            <a:spAutoFit/>
          </a:bodyPr>
          <a:lstStyle/>
          <a:p>
            <a:r>
              <a:rPr lang="ru-RU" sz="2200" dirty="0"/>
              <a:t>Авиакомпания </a:t>
            </a:r>
            <a:r>
              <a:rPr lang="ru-RU" sz="2200" b="1" dirty="0" err="1"/>
              <a:t>British</a:t>
            </a:r>
            <a:r>
              <a:rPr lang="ru-RU" sz="2200" b="1" dirty="0"/>
              <a:t> </a:t>
            </a:r>
            <a:r>
              <a:rPr lang="ru-RU" sz="2200" b="1" dirty="0" err="1"/>
              <a:t>Airways</a:t>
            </a:r>
            <a:r>
              <a:rPr lang="ru-RU" sz="2200" dirty="0"/>
              <a:t> собрала большой массив клиентской информации </a:t>
            </a:r>
          </a:p>
          <a:p>
            <a:r>
              <a:rPr lang="ru-RU" sz="2200" dirty="0"/>
              <a:t>при помощи программы лояльности </a:t>
            </a:r>
            <a:r>
              <a:rPr lang="ru-RU" sz="2200" dirty="0" err="1"/>
              <a:t>Executive</a:t>
            </a:r>
            <a:r>
              <a:rPr lang="ru-RU" sz="2200" dirty="0"/>
              <a:t> </a:t>
            </a:r>
            <a:r>
              <a:rPr lang="ru-RU" sz="2200" dirty="0" err="1"/>
              <a:t>Club</a:t>
            </a:r>
            <a:r>
              <a:rPr lang="ru-RU" sz="2200" dirty="0"/>
              <a:t> и своего вебсайта и поместила этот массив в систему обработки данных. </a:t>
            </a:r>
          </a:p>
        </p:txBody>
      </p:sp>
      <p:pic>
        <p:nvPicPr>
          <p:cNvPr id="5" name="Рисунок 4"/>
          <p:cNvPicPr>
            <a:picLocks noChangeAspect="1"/>
          </p:cNvPicPr>
          <p:nvPr/>
        </p:nvPicPr>
        <p:blipFill>
          <a:blip r:embed="rId2" cstate="print"/>
          <a:stretch>
            <a:fillRect/>
          </a:stretch>
        </p:blipFill>
        <p:spPr>
          <a:xfrm>
            <a:off x="8252416" y="1298853"/>
            <a:ext cx="3410301" cy="1788866"/>
          </a:xfrm>
          <a:prstGeom prst="rect">
            <a:avLst/>
          </a:prstGeom>
        </p:spPr>
      </p:pic>
      <p:sp>
        <p:nvSpPr>
          <p:cNvPr id="6" name="TextBox 5"/>
          <p:cNvSpPr txBox="1"/>
          <p:nvPr/>
        </p:nvSpPr>
        <p:spPr>
          <a:xfrm>
            <a:off x="1015413" y="3291106"/>
            <a:ext cx="11151359" cy="2462213"/>
          </a:xfrm>
          <a:prstGeom prst="rect">
            <a:avLst/>
          </a:prstGeom>
          <a:noFill/>
        </p:spPr>
        <p:txBody>
          <a:bodyPr wrap="square" rtlCol="0">
            <a:spAutoFit/>
          </a:bodyPr>
          <a:lstStyle/>
          <a:p>
            <a:r>
              <a:rPr lang="ru-RU" sz="2200" dirty="0"/>
              <a:t>Полученные результаты использованы в программе </a:t>
            </a:r>
            <a:r>
              <a:rPr lang="ru-RU" sz="2200" b="1" dirty="0" err="1"/>
              <a:t>Know</a:t>
            </a:r>
            <a:r>
              <a:rPr lang="ru-RU" sz="2200" b="1" dirty="0"/>
              <a:t> </a:t>
            </a:r>
            <a:r>
              <a:rPr lang="ru-RU" sz="2200" b="1" dirty="0" err="1"/>
              <a:t>Me</a:t>
            </a:r>
            <a:r>
              <a:rPr lang="ru-RU" sz="2200" dirty="0"/>
              <a:t>, цель которой — лучше понимать потребности пассажиров. В рамках программы BA предоставляет наиболее лояльным клиентам различные преференции и бонусы, изучает вероятные проблемы, которые возникают у путешественников, и находит пути их решения, анализирует потребности клиентов для предоставления им самых релевантных предложений. </a:t>
            </a:r>
          </a:p>
          <a:p>
            <a:endParaRPr lang="ru-RU" sz="2200" dirty="0"/>
          </a:p>
        </p:txBody>
      </p:sp>
      <p:sp>
        <p:nvSpPr>
          <p:cNvPr id="8" name="Скругленный прямоугольник 7"/>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altLang="ru-RU" sz="2800" b="1" dirty="0"/>
              <a:t>Примеры эффективного использования</a:t>
            </a:r>
            <a:endParaRPr lang="ru-RU" sz="2800" dirty="0"/>
          </a:p>
        </p:txBody>
      </p:sp>
      <p:sp>
        <p:nvSpPr>
          <p:cNvPr id="2" name="Номер слайда 1">
            <a:extLst>
              <a:ext uri="{FF2B5EF4-FFF2-40B4-BE49-F238E27FC236}">
                <a16:creationId xmlns:a16="http://schemas.microsoft.com/office/drawing/2014/main" id="{4B2881C5-66C4-4896-8964-10E79F7E9343}"/>
              </a:ext>
            </a:extLst>
          </p:cNvPr>
          <p:cNvSpPr>
            <a:spLocks noGrp="1"/>
          </p:cNvSpPr>
          <p:nvPr>
            <p:ph type="sldNum" sz="quarter" idx="12"/>
          </p:nvPr>
        </p:nvSpPr>
        <p:spPr>
          <a:xfrm>
            <a:off x="11302677" y="6605017"/>
            <a:ext cx="732162" cy="199009"/>
          </a:xfrm>
        </p:spPr>
        <p:txBody>
          <a:bodyPr/>
          <a:lstStyle/>
          <a:p>
            <a:fld id="{952B6C0E-C4B9-4094-8E59-5B7DF00D5415}" type="slidenum">
              <a:rPr lang="ru-RU" smtClean="0">
                <a:solidFill>
                  <a:schemeClr val="tx1"/>
                </a:solidFill>
              </a:rPr>
              <a:t>22</a:t>
            </a:fld>
            <a:endParaRPr lang="ru-RU">
              <a:solidFill>
                <a:schemeClr val="tx1"/>
              </a:solidFill>
            </a:endParaRPr>
          </a:p>
        </p:txBody>
      </p:sp>
    </p:spTree>
    <p:extLst>
      <p:ext uri="{BB962C8B-B14F-4D97-AF65-F5344CB8AC3E}">
        <p14:creationId xmlns:p14="http://schemas.microsoft.com/office/powerpoint/2010/main" val="72015813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322263"/>
            <a:ext cx="11016529"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3" name="Прямоугольник 2"/>
          <p:cNvSpPr/>
          <p:nvPr/>
        </p:nvSpPr>
        <p:spPr>
          <a:xfrm>
            <a:off x="933524" y="1410618"/>
            <a:ext cx="11521279" cy="3477875"/>
          </a:xfrm>
          <a:prstGeom prst="rect">
            <a:avLst/>
          </a:prstGeom>
        </p:spPr>
        <p:txBody>
          <a:bodyPr wrap="square">
            <a:spAutoFit/>
          </a:bodyPr>
          <a:lstStyle/>
          <a:p>
            <a:pPr indent="449267"/>
            <a:r>
              <a:rPr lang="ru-RU" sz="2200" dirty="0"/>
              <a:t>Вся информация собирается и анализируется в реальном времени, поступая через стойки регистрации и залы ожидания. Если по каким-либо причинам багаж пассажира не оказался на борту того же самолета, то в течение 10 минут после приземления на его телефон приходит текстовое уведомление. </a:t>
            </a:r>
          </a:p>
          <a:p>
            <a:pPr indent="449267"/>
            <a:r>
              <a:rPr lang="ru-RU" sz="2200" dirty="0"/>
              <a:t>Авиакомпания собирает в реальном времени всю необходимую информацию для поиска потерянного багажа, так что последний автоматически отправляется в пункт назначения следующим же рейсом. Пассажиру при этом не нужно самостоятельно искать багаж или заполнять какие-либо заявления в аэропорту — он экономит время и нервы. </a:t>
            </a:r>
            <a:br>
              <a:rPr lang="ru-RU" sz="2200" dirty="0"/>
            </a:br>
            <a:endParaRPr lang="ru-RU" sz="2200" dirty="0"/>
          </a:p>
        </p:txBody>
      </p:sp>
      <p:sp>
        <p:nvSpPr>
          <p:cNvPr id="7" name="Скругленный прямоугольник 6"/>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altLang="ru-RU" sz="2800" b="1" dirty="0"/>
              <a:t>Примеры эффективного использования</a:t>
            </a:r>
            <a:endParaRPr lang="ru-RU" sz="2800" dirty="0"/>
          </a:p>
        </p:txBody>
      </p:sp>
      <p:sp>
        <p:nvSpPr>
          <p:cNvPr id="4" name="Прямоугольник 3"/>
          <p:cNvSpPr/>
          <p:nvPr/>
        </p:nvSpPr>
        <p:spPr>
          <a:xfrm>
            <a:off x="2237391" y="6288811"/>
            <a:ext cx="7704856" cy="338554"/>
          </a:xfrm>
          <a:prstGeom prst="rect">
            <a:avLst/>
          </a:prstGeom>
        </p:spPr>
        <p:txBody>
          <a:bodyPr wrap="square">
            <a:spAutoFit/>
          </a:bodyPr>
          <a:lstStyle/>
          <a:p>
            <a:r>
              <a:rPr lang="ru-RU" sz="1600" dirty="0"/>
              <a:t>http://buyingbusinesstravel.com.ru/articles/bolshaya-gonka-za-bolshimi-dannymi/</a:t>
            </a:r>
          </a:p>
        </p:txBody>
      </p:sp>
      <p:sp>
        <p:nvSpPr>
          <p:cNvPr id="2" name="Номер слайда 1">
            <a:extLst>
              <a:ext uri="{FF2B5EF4-FFF2-40B4-BE49-F238E27FC236}">
                <a16:creationId xmlns:a16="http://schemas.microsoft.com/office/drawing/2014/main" id="{4F6DC9AC-A448-4F5B-A1F7-9246DFF171C9}"/>
              </a:ext>
            </a:extLst>
          </p:cNvPr>
          <p:cNvSpPr>
            <a:spLocks noGrp="1"/>
          </p:cNvSpPr>
          <p:nvPr>
            <p:ph type="sldNum" sz="quarter" idx="12"/>
          </p:nvPr>
        </p:nvSpPr>
        <p:spPr>
          <a:xfrm>
            <a:off x="11374685" y="6659563"/>
            <a:ext cx="660154" cy="324863"/>
          </a:xfrm>
        </p:spPr>
        <p:txBody>
          <a:bodyPr/>
          <a:lstStyle/>
          <a:p>
            <a:fld id="{952B6C0E-C4B9-4094-8E59-5B7DF00D5415}" type="slidenum">
              <a:rPr lang="ru-RU" smtClean="0">
                <a:solidFill>
                  <a:schemeClr val="tx1"/>
                </a:solidFill>
              </a:rPr>
              <a:t>23</a:t>
            </a:fld>
            <a:endParaRPr lang="ru-RU">
              <a:solidFill>
                <a:schemeClr val="tx1"/>
              </a:solidFill>
            </a:endParaRPr>
          </a:p>
        </p:txBody>
      </p:sp>
    </p:spTree>
    <p:extLst>
      <p:ext uri="{BB962C8B-B14F-4D97-AF65-F5344CB8AC3E}">
        <p14:creationId xmlns:p14="http://schemas.microsoft.com/office/powerpoint/2010/main" val="2320117316"/>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9" name="AutoShape 7"/>
          <p:cNvSpPr>
            <a:spLocks noChangeArrowheads="1"/>
          </p:cNvSpPr>
          <p:nvPr/>
        </p:nvSpPr>
        <p:spPr bwMode="auto">
          <a:xfrm>
            <a:off x="1438275" y="322262"/>
            <a:ext cx="11016529" cy="655481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6451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4518" name="Rectangle 6"/>
          <p:cNvSpPr>
            <a:spLocks noChangeArrowheads="1"/>
          </p:cNvSpPr>
          <p:nvPr/>
        </p:nvSpPr>
        <p:spPr bwMode="auto">
          <a:xfrm>
            <a:off x="4749802" y="249208"/>
            <a:ext cx="28616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ru-RU" altLang="ru-RU" b="1" dirty="0"/>
              <a:t>Примеры аналитики</a:t>
            </a:r>
            <a:r>
              <a:rPr lang="ru-RU" altLang="ru-RU" dirty="0"/>
              <a:t> </a:t>
            </a:r>
          </a:p>
        </p:txBody>
      </p:sp>
      <p:graphicFrame>
        <p:nvGraphicFramePr>
          <p:cNvPr id="2" name="Таблица 1"/>
          <p:cNvGraphicFramePr>
            <a:graphicFrameLocks noGrp="1"/>
          </p:cNvGraphicFramePr>
          <p:nvPr>
            <p:extLst>
              <p:ext uri="{D42A27DB-BD31-4B8C-83A1-F6EECF244321}">
                <p14:modId xmlns:p14="http://schemas.microsoft.com/office/powerpoint/2010/main" val="2142270100"/>
              </p:ext>
            </p:extLst>
          </p:nvPr>
        </p:nvGraphicFramePr>
        <p:xfrm>
          <a:off x="838649" y="739939"/>
          <a:ext cx="11196190" cy="5927279"/>
        </p:xfrm>
        <a:graphic>
          <a:graphicData uri="http://schemas.openxmlformats.org/drawingml/2006/table">
            <a:tbl>
              <a:tblPr firstRow="1" firstCol="1" bandRow="1">
                <a:tableStyleId>{21E4AEA4-8DFA-4A89-87EB-49C32662AFE0}</a:tableStyleId>
              </a:tblPr>
              <a:tblGrid>
                <a:gridCol w="3119212">
                  <a:extLst>
                    <a:ext uri="{9D8B030D-6E8A-4147-A177-3AD203B41FA5}">
                      <a16:colId xmlns:a16="http://schemas.microsoft.com/office/drawing/2014/main" val="20000"/>
                    </a:ext>
                  </a:extLst>
                </a:gridCol>
                <a:gridCol w="8076978">
                  <a:extLst>
                    <a:ext uri="{9D8B030D-6E8A-4147-A177-3AD203B41FA5}">
                      <a16:colId xmlns:a16="http://schemas.microsoft.com/office/drawing/2014/main" val="20001"/>
                    </a:ext>
                  </a:extLst>
                </a:gridCol>
              </a:tblGrid>
              <a:tr h="606834">
                <a:tc gridSpan="2">
                  <a:txBody>
                    <a:bodyPr/>
                    <a:lstStyle/>
                    <a:p>
                      <a:pPr>
                        <a:spcAft>
                          <a:spcPts val="0"/>
                        </a:spcAft>
                      </a:pPr>
                      <a:r>
                        <a:rPr lang="ru-RU" sz="2400" dirty="0">
                          <a:solidFill>
                            <a:schemeClr val="tx1"/>
                          </a:solidFill>
                          <a:effectLst/>
                        </a:rPr>
                        <a:t>Таблица 1. Примеры использования методов интеллектуального анализа данных в финансовых приложениях и маркетинговом анализе</a:t>
                      </a:r>
                      <a:endParaRPr lang="ru-RU" sz="36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hMerge="1">
                  <a:txBody>
                    <a:bodyPr/>
                    <a:lstStyle/>
                    <a:p>
                      <a:endParaRPr lang="ru-RU"/>
                    </a:p>
                  </a:txBody>
                  <a:tcPr/>
                </a:tc>
                <a:extLst>
                  <a:ext uri="{0D108BD9-81ED-4DB2-BD59-A6C34878D82A}">
                    <a16:rowId xmlns:a16="http://schemas.microsoft.com/office/drawing/2014/main" val="10000"/>
                  </a:ext>
                </a:extLst>
              </a:tr>
              <a:tr h="313599">
                <a:tc>
                  <a:txBody>
                    <a:bodyPr/>
                    <a:lstStyle/>
                    <a:p>
                      <a:pPr marL="176213" indent="0">
                        <a:spcAft>
                          <a:spcPts val="0"/>
                        </a:spcAft>
                      </a:pPr>
                      <a:r>
                        <a:rPr lang="ru-RU" sz="1800" dirty="0">
                          <a:solidFill>
                            <a:schemeClr val="tx1"/>
                          </a:solidFill>
                          <a:effectLst/>
                        </a:rPr>
                        <a:t>Приложение (организация)</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1800" dirty="0">
                          <a:solidFill>
                            <a:schemeClr val="tx1"/>
                          </a:solidFill>
                          <a:effectLst/>
                        </a:rPr>
                        <a:t>Описание</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1"/>
                  </a:ext>
                </a:extLst>
              </a:tr>
              <a:tr h="1193305">
                <a:tc>
                  <a:txBody>
                    <a:bodyPr/>
                    <a:lstStyle/>
                    <a:p>
                      <a:pPr marL="176213" indent="0">
                        <a:spcAft>
                          <a:spcPts val="0"/>
                        </a:spcAft>
                      </a:pPr>
                      <a:r>
                        <a:rPr lang="ru-RU" sz="2000" dirty="0">
                          <a:solidFill>
                            <a:schemeClr val="tx1"/>
                          </a:solidFill>
                          <a:effectLst/>
                        </a:rPr>
                        <a:t>FALCON (HNC </a:t>
                      </a:r>
                      <a:r>
                        <a:rPr lang="ru-RU" sz="2000" dirty="0" err="1">
                          <a:solidFill>
                            <a:schemeClr val="tx1"/>
                          </a:solidFill>
                          <a:effectLst/>
                        </a:rPr>
                        <a:t>Software</a:t>
                      </a:r>
                      <a:r>
                        <a:rPr lang="ru-RU" sz="2000" dirty="0">
                          <a:solidFill>
                            <a:schemeClr val="tx1"/>
                          </a:solidFill>
                          <a:effectLst/>
                        </a:rPr>
                        <a:t>, </a:t>
                      </a:r>
                      <a:r>
                        <a:rPr lang="ru-RU" sz="2000" dirty="0" err="1">
                          <a:solidFill>
                            <a:schemeClr val="tx1"/>
                          </a:solidFill>
                          <a:effectLst/>
                        </a:rPr>
                        <a:t>Inc</a:t>
                      </a:r>
                      <a:r>
                        <a:rPr lang="ru-RU" sz="2000" dirty="0">
                          <a:solidFill>
                            <a:schemeClr val="tx1"/>
                          </a:solidFill>
                          <a:effectLst/>
                        </a:rPr>
                        <a:t>.)</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2000" dirty="0">
                          <a:solidFill>
                            <a:schemeClr val="tx1"/>
                          </a:solidFill>
                          <a:effectLst/>
                        </a:rPr>
                        <a:t>Инструментальное средство для оперативного выявления злоупотреблений с кредитными карточками; более 100 организаций-пользователей отмечают сокращение числа нарушений на 20-30%.</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2"/>
                  </a:ext>
                </a:extLst>
              </a:tr>
              <a:tr h="900070">
                <a:tc>
                  <a:txBody>
                    <a:bodyPr/>
                    <a:lstStyle/>
                    <a:p>
                      <a:pPr marL="176213" indent="0">
                        <a:spcAft>
                          <a:spcPts val="0"/>
                        </a:spcAft>
                      </a:pPr>
                      <a:r>
                        <a:rPr lang="ru-RU" sz="2000" dirty="0">
                          <a:solidFill>
                            <a:schemeClr val="tx1"/>
                          </a:solidFill>
                          <a:effectLst/>
                        </a:rPr>
                        <a:t>Классификатор дебиторских счетов (</a:t>
                      </a:r>
                      <a:r>
                        <a:rPr lang="ru-RU" sz="2000" dirty="0" err="1">
                          <a:solidFill>
                            <a:schemeClr val="tx1"/>
                          </a:solidFill>
                          <a:effectLst/>
                        </a:rPr>
                        <a:t>Internal</a:t>
                      </a:r>
                      <a:r>
                        <a:rPr lang="ru-RU" sz="2000" dirty="0">
                          <a:solidFill>
                            <a:schemeClr val="tx1"/>
                          </a:solidFill>
                          <a:effectLst/>
                        </a:rPr>
                        <a:t> </a:t>
                      </a:r>
                      <a:r>
                        <a:rPr lang="ru-RU" sz="2000" dirty="0" err="1">
                          <a:solidFill>
                            <a:schemeClr val="tx1"/>
                          </a:solidFill>
                          <a:effectLst/>
                        </a:rPr>
                        <a:t>Revenue</a:t>
                      </a:r>
                      <a:r>
                        <a:rPr lang="ru-RU" sz="2000" dirty="0">
                          <a:solidFill>
                            <a:schemeClr val="tx1"/>
                          </a:solidFill>
                          <a:effectLst/>
                        </a:rPr>
                        <a:t> </a:t>
                      </a:r>
                      <a:r>
                        <a:rPr lang="ru-RU" sz="2000" dirty="0" err="1">
                          <a:solidFill>
                            <a:schemeClr val="tx1"/>
                          </a:solidFill>
                          <a:effectLst/>
                        </a:rPr>
                        <a:t>Service</a:t>
                      </a:r>
                      <a:r>
                        <a:rPr lang="ru-RU" sz="2000" dirty="0">
                          <a:solidFill>
                            <a:schemeClr val="tx1"/>
                          </a:solidFill>
                          <a:effectLst/>
                        </a:rPr>
                        <a:t>)</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273050">
                        <a:spcAft>
                          <a:spcPts val="0"/>
                        </a:spcAft>
                      </a:pPr>
                      <a:r>
                        <a:rPr lang="ru-RU" sz="2000" dirty="0">
                          <a:solidFill>
                            <a:schemeClr val="tx1"/>
                          </a:solidFill>
                          <a:effectLst/>
                        </a:rPr>
                        <a:t>Выявление счетов потенциально платежеспособных дебиторов на основе анализа больших объемов архивных данных по уплате налогов. </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3"/>
                  </a:ext>
                </a:extLst>
              </a:tr>
              <a:tr h="1193305">
                <a:tc>
                  <a:txBody>
                    <a:bodyPr/>
                    <a:lstStyle/>
                    <a:p>
                      <a:pPr marL="96838" indent="0">
                        <a:spcAft>
                          <a:spcPts val="0"/>
                        </a:spcAft>
                      </a:pPr>
                      <a:r>
                        <a:rPr lang="ru-RU" sz="2000" dirty="0">
                          <a:solidFill>
                            <a:schemeClr val="tx1"/>
                          </a:solidFill>
                          <a:effectLst/>
                        </a:rPr>
                        <a:t>Повышение качества архивной финансовой информации (</a:t>
                      </a:r>
                      <a:r>
                        <a:rPr lang="ru-RU" sz="2000" dirty="0" err="1">
                          <a:solidFill>
                            <a:schemeClr val="tx1"/>
                          </a:solidFill>
                          <a:effectLst/>
                        </a:rPr>
                        <a:t>Lockheed</a:t>
                      </a:r>
                      <a:r>
                        <a:rPr lang="ru-RU" sz="2000" dirty="0">
                          <a:solidFill>
                            <a:schemeClr val="tx1"/>
                          </a:solidFill>
                          <a:effectLst/>
                        </a:rPr>
                        <a:t>)</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2000" dirty="0">
                          <a:solidFill>
                            <a:schemeClr val="tx1"/>
                          </a:solidFill>
                          <a:effectLst/>
                        </a:rPr>
                        <a:t>Выявление закономерностей (в виде правил вывода) в архивных финансовых данных для использования в моделях прогнозирования, системах поддержки принятия решений по инвестированию и т.д.</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4"/>
                  </a:ext>
                </a:extLst>
              </a:tr>
              <a:tr h="1486541">
                <a:tc>
                  <a:txBody>
                    <a:bodyPr/>
                    <a:lstStyle/>
                    <a:p>
                      <a:pPr marL="96838" indent="0">
                        <a:spcAft>
                          <a:spcPts val="0"/>
                        </a:spcAft>
                      </a:pPr>
                      <a:r>
                        <a:rPr lang="ru-RU" sz="2000" dirty="0">
                          <a:solidFill>
                            <a:schemeClr val="tx1"/>
                          </a:solidFill>
                          <a:effectLst/>
                        </a:rPr>
                        <a:t>Верификация данных по курсам валют (</a:t>
                      </a:r>
                      <a:r>
                        <a:rPr lang="ru-RU" sz="2000" dirty="0" err="1">
                          <a:solidFill>
                            <a:schemeClr val="tx1"/>
                          </a:solidFill>
                          <a:effectLst/>
                        </a:rPr>
                        <a:t>Reuters</a:t>
                      </a:r>
                      <a:r>
                        <a:rPr lang="ru-RU" sz="2000" dirty="0">
                          <a:solidFill>
                            <a:schemeClr val="tx1"/>
                          </a:solidFill>
                          <a:effectLst/>
                        </a:rPr>
                        <a:t>)</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2000" dirty="0">
                          <a:solidFill>
                            <a:schemeClr val="tx1"/>
                          </a:solidFill>
                          <a:effectLst/>
                        </a:rPr>
                        <a:t>Система выявления ошибок в оперативно поступающих данных по курсам валют. С помощью нейронных сетей и индуктивного вывода правил строятся приблизительные прогнозы, которые сравниваются с поступающими данными. Большие отклонения рассматриваются как возможные ошибки.</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5"/>
                  </a:ext>
                </a:extLst>
              </a:tr>
            </a:tbl>
          </a:graphicData>
        </a:graphic>
      </p:graphicFrame>
      <p:sp>
        <p:nvSpPr>
          <p:cNvPr id="3" name="Номер слайда 2">
            <a:extLst>
              <a:ext uri="{FF2B5EF4-FFF2-40B4-BE49-F238E27FC236}">
                <a16:creationId xmlns:a16="http://schemas.microsoft.com/office/drawing/2014/main" id="{4DFD0BDE-CBBB-419E-A3D0-40EC10B34CC0}"/>
              </a:ext>
            </a:extLst>
          </p:cNvPr>
          <p:cNvSpPr>
            <a:spLocks noGrp="1"/>
          </p:cNvSpPr>
          <p:nvPr>
            <p:ph type="sldNum" sz="quarter" idx="12"/>
          </p:nvPr>
        </p:nvSpPr>
        <p:spPr>
          <a:xfrm>
            <a:off x="11229975" y="6605018"/>
            <a:ext cx="804864" cy="272062"/>
          </a:xfrm>
        </p:spPr>
        <p:txBody>
          <a:bodyPr/>
          <a:lstStyle/>
          <a:p>
            <a:fld id="{952B6C0E-C4B9-4094-8E59-5B7DF00D5415}" type="slidenum">
              <a:rPr lang="ru-RU" smtClean="0">
                <a:solidFill>
                  <a:schemeClr val="tx1"/>
                </a:solidFill>
              </a:rPr>
              <a:t>24</a:t>
            </a:fld>
            <a:endParaRPr lang="ru-RU">
              <a:solidFill>
                <a:schemeClr val="tx1"/>
              </a:solidFill>
            </a:endParaRPr>
          </a:p>
        </p:txBody>
      </p:sp>
    </p:spTree>
    <p:extLst>
      <p:ext uri="{BB962C8B-B14F-4D97-AF65-F5344CB8AC3E}">
        <p14:creationId xmlns:p14="http://schemas.microsoft.com/office/powerpoint/2010/main" val="268246654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9" name="AutoShape 7"/>
          <p:cNvSpPr>
            <a:spLocks noChangeArrowheads="1"/>
          </p:cNvSpPr>
          <p:nvPr/>
        </p:nvSpPr>
        <p:spPr bwMode="auto">
          <a:xfrm>
            <a:off x="1438276" y="322263"/>
            <a:ext cx="9791700"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Нижний колонтитул 3"/>
          <p:cNvSpPr txBox="1">
            <a:spLocks noGrp="1"/>
          </p:cNvSpPr>
          <p:nvPr/>
        </p:nvSpPr>
        <p:spPr>
          <a:xfrm>
            <a:off x="1773239" y="6811964"/>
            <a:ext cx="4240213" cy="236537"/>
          </a:xfrm>
          <a:prstGeom prst="rect">
            <a:avLst/>
          </a:prstGeom>
          <a:noFill/>
        </p:spPr>
        <p:txBody>
          <a:bodyPr anchor="ctr"/>
          <a:lstStyle/>
          <a:p>
            <a:pPr fontAlgn="auto">
              <a:spcBef>
                <a:spcPts val="0"/>
              </a:spcBef>
              <a:spcAft>
                <a:spcPts val="0"/>
              </a:spcAft>
              <a:defRPr/>
            </a:pPr>
            <a:endParaRPr lang="ru-RU" sz="950" cap="all">
              <a:solidFill>
                <a:schemeClr val="tx1">
                  <a:alpha val="80000"/>
                </a:schemeClr>
              </a:solidFill>
              <a:latin typeface="+mn-lt"/>
              <a:cs typeface="+mn-cs"/>
            </a:endParaRPr>
          </a:p>
        </p:txBody>
      </p:sp>
      <p:sp>
        <p:nvSpPr>
          <p:cNvPr id="6451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4518" name="Rectangle 6"/>
          <p:cNvSpPr>
            <a:spLocks noChangeArrowheads="1"/>
          </p:cNvSpPr>
          <p:nvPr/>
        </p:nvSpPr>
        <p:spPr bwMode="auto">
          <a:xfrm>
            <a:off x="4749802" y="249208"/>
            <a:ext cx="28616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ru-RU" altLang="ru-RU" b="1" dirty="0"/>
              <a:t>Примеры аналитики</a:t>
            </a:r>
            <a:r>
              <a:rPr lang="ru-RU" altLang="ru-RU" dirty="0"/>
              <a:t> </a:t>
            </a:r>
          </a:p>
        </p:txBody>
      </p:sp>
      <p:graphicFrame>
        <p:nvGraphicFramePr>
          <p:cNvPr id="2" name="Таблица 1"/>
          <p:cNvGraphicFramePr>
            <a:graphicFrameLocks noGrp="1"/>
          </p:cNvGraphicFramePr>
          <p:nvPr>
            <p:extLst>
              <p:ext uri="{D42A27DB-BD31-4B8C-83A1-F6EECF244321}">
                <p14:modId xmlns:p14="http://schemas.microsoft.com/office/powerpoint/2010/main" val="3888556330"/>
              </p:ext>
            </p:extLst>
          </p:nvPr>
        </p:nvGraphicFramePr>
        <p:xfrm>
          <a:off x="601438" y="686663"/>
          <a:ext cx="11709351" cy="6339554"/>
        </p:xfrm>
        <a:graphic>
          <a:graphicData uri="http://schemas.openxmlformats.org/drawingml/2006/table">
            <a:tbl>
              <a:tblPr firstRow="1" firstCol="1" bandRow="1">
                <a:tableStyleId>{21E4AEA4-8DFA-4A89-87EB-49C32662AFE0}</a:tableStyleId>
              </a:tblPr>
              <a:tblGrid>
                <a:gridCol w="3869742">
                  <a:extLst>
                    <a:ext uri="{9D8B030D-6E8A-4147-A177-3AD203B41FA5}">
                      <a16:colId xmlns:a16="http://schemas.microsoft.com/office/drawing/2014/main" val="20000"/>
                    </a:ext>
                  </a:extLst>
                </a:gridCol>
                <a:gridCol w="7839609">
                  <a:extLst>
                    <a:ext uri="{9D8B030D-6E8A-4147-A177-3AD203B41FA5}">
                      <a16:colId xmlns:a16="http://schemas.microsoft.com/office/drawing/2014/main" val="20001"/>
                    </a:ext>
                  </a:extLst>
                </a:gridCol>
              </a:tblGrid>
              <a:tr h="567690">
                <a:tc gridSpan="2">
                  <a:txBody>
                    <a:bodyPr/>
                    <a:lstStyle/>
                    <a:p>
                      <a:pPr>
                        <a:spcAft>
                          <a:spcPts val="0"/>
                        </a:spcAft>
                      </a:pPr>
                      <a:r>
                        <a:rPr lang="ru-RU" sz="2800" dirty="0">
                          <a:solidFill>
                            <a:schemeClr val="tx1"/>
                          </a:solidFill>
                          <a:effectLst/>
                        </a:rPr>
                        <a:t>Таблица 1. Примеры использования методов интеллектуального анализа данных в финансовых приложениях и маркетинговом анализе (продолжение)</a:t>
                      </a:r>
                      <a:endParaRPr lang="ru-RU" sz="40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hMerge="1">
                  <a:txBody>
                    <a:bodyPr/>
                    <a:lstStyle/>
                    <a:p>
                      <a:endParaRPr lang="ru-RU"/>
                    </a:p>
                  </a:txBody>
                  <a:tcPr/>
                </a:tc>
                <a:extLst>
                  <a:ext uri="{0D108BD9-81ED-4DB2-BD59-A6C34878D82A}">
                    <a16:rowId xmlns:a16="http://schemas.microsoft.com/office/drawing/2014/main" val="10000"/>
                  </a:ext>
                </a:extLst>
              </a:tr>
              <a:tr h="293370">
                <a:tc>
                  <a:txBody>
                    <a:bodyPr/>
                    <a:lstStyle/>
                    <a:p>
                      <a:pPr marL="176213" indent="0">
                        <a:spcAft>
                          <a:spcPts val="0"/>
                        </a:spcAft>
                      </a:pPr>
                      <a:r>
                        <a:rPr lang="ru-RU" sz="2000" dirty="0">
                          <a:solidFill>
                            <a:schemeClr val="tx1"/>
                          </a:solidFill>
                          <a:effectLst/>
                        </a:rPr>
                        <a:t>Приложение (организация)</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2000" dirty="0">
                          <a:solidFill>
                            <a:schemeClr val="tx1"/>
                          </a:solidFill>
                          <a:effectLst/>
                        </a:rPr>
                        <a:t>Описание</a:t>
                      </a:r>
                      <a:endParaRPr lang="ru-RU" sz="32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1"/>
                  </a:ext>
                </a:extLst>
              </a:tr>
              <a:tr h="1008161">
                <a:tc>
                  <a:txBody>
                    <a:bodyPr/>
                    <a:lstStyle/>
                    <a:p>
                      <a:pPr marL="176213" indent="0">
                        <a:spcAft>
                          <a:spcPts val="0"/>
                        </a:spcAft>
                      </a:pPr>
                      <a:r>
                        <a:rPr lang="ru-RU" sz="1800" dirty="0">
                          <a:solidFill>
                            <a:schemeClr val="tx1"/>
                          </a:solidFill>
                          <a:effectLst/>
                        </a:rPr>
                        <a:t>Прогнозирование невыплат в сделках с недвижимостью (</a:t>
                      </a:r>
                      <a:r>
                        <a:rPr lang="ru-RU" sz="1800" dirty="0" err="1">
                          <a:solidFill>
                            <a:schemeClr val="tx1"/>
                          </a:solidFill>
                          <a:effectLst/>
                        </a:rPr>
                        <a:t>Leeds</a:t>
                      </a:r>
                      <a:r>
                        <a:rPr lang="ru-RU" sz="1800" dirty="0">
                          <a:solidFill>
                            <a:schemeClr val="tx1"/>
                          </a:solidFill>
                          <a:effectLst/>
                        </a:rPr>
                        <a:t>)</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1800" dirty="0">
                          <a:solidFill>
                            <a:schemeClr val="tx1"/>
                          </a:solidFill>
                          <a:effectLst/>
                        </a:rPr>
                        <a:t>Анализ архивных данных по сделкам с недвижимостью и выявление паттернов, соответствующих проблемным сделкам, заканчивающимся невыплатами. Выявленные закономерности используются для оценки риска при заключении новых сделок.</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2"/>
                  </a:ext>
                </a:extLst>
              </a:tr>
              <a:tr h="760883">
                <a:tc>
                  <a:txBody>
                    <a:bodyPr/>
                    <a:lstStyle/>
                    <a:p>
                      <a:pPr marL="96838" indent="0">
                        <a:spcAft>
                          <a:spcPts val="0"/>
                        </a:spcAft>
                      </a:pPr>
                      <a:r>
                        <a:rPr lang="ru-RU" sz="1800" dirty="0">
                          <a:solidFill>
                            <a:schemeClr val="tx1"/>
                          </a:solidFill>
                          <a:effectLst/>
                        </a:rPr>
                        <a:t>Маркетинговые исследования (</a:t>
                      </a:r>
                      <a:r>
                        <a:rPr lang="ru-RU" sz="1800" dirty="0" err="1">
                          <a:solidFill>
                            <a:schemeClr val="tx1"/>
                          </a:solidFill>
                          <a:effectLst/>
                        </a:rPr>
                        <a:t>Dickinson</a:t>
                      </a:r>
                      <a:r>
                        <a:rPr lang="ru-RU" sz="1800" dirty="0">
                          <a:solidFill>
                            <a:schemeClr val="tx1"/>
                          </a:solidFill>
                          <a:effectLst/>
                        </a:rPr>
                        <a:t> </a:t>
                      </a:r>
                      <a:r>
                        <a:rPr lang="ru-RU" sz="1800" dirty="0" err="1">
                          <a:solidFill>
                            <a:schemeClr val="tx1"/>
                          </a:solidFill>
                          <a:effectLst/>
                        </a:rPr>
                        <a:t>Direct</a:t>
                      </a:r>
                      <a:r>
                        <a:rPr lang="ru-RU" sz="1800" dirty="0">
                          <a:solidFill>
                            <a:schemeClr val="tx1"/>
                          </a:solidFill>
                          <a:effectLst/>
                        </a:rPr>
                        <a:t>)</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96838">
                        <a:spcAft>
                          <a:spcPts val="0"/>
                        </a:spcAft>
                      </a:pPr>
                      <a:r>
                        <a:rPr lang="ru-RU" sz="1800" dirty="0">
                          <a:solidFill>
                            <a:schemeClr val="tx1"/>
                          </a:solidFill>
                          <a:effectLst/>
                        </a:rPr>
                        <a:t>Определение характеристик типичных покупателей продукции компании для выявления новых потенциальных клиентов (профилирование клиентов).</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3"/>
                  </a:ext>
                </a:extLst>
              </a:tr>
              <a:tr h="760883">
                <a:tc>
                  <a:txBody>
                    <a:bodyPr/>
                    <a:lstStyle/>
                    <a:p>
                      <a:pPr marL="176213" indent="0">
                        <a:spcAft>
                          <a:spcPts val="0"/>
                        </a:spcAft>
                      </a:pPr>
                      <a:r>
                        <a:rPr lang="ru-RU" sz="1800" dirty="0">
                          <a:solidFill>
                            <a:schemeClr val="tx1"/>
                          </a:solidFill>
                          <a:effectLst/>
                        </a:rPr>
                        <a:t>Маркетинговые исследования (</a:t>
                      </a:r>
                      <a:r>
                        <a:rPr lang="ru-RU" sz="1800" dirty="0" err="1">
                          <a:solidFill>
                            <a:schemeClr val="tx1"/>
                          </a:solidFill>
                          <a:effectLst/>
                        </a:rPr>
                        <a:t>Reader's</a:t>
                      </a:r>
                      <a:r>
                        <a:rPr lang="ru-RU" sz="1800" dirty="0">
                          <a:solidFill>
                            <a:schemeClr val="tx1"/>
                          </a:solidFill>
                          <a:effectLst/>
                        </a:rPr>
                        <a:t> </a:t>
                      </a:r>
                      <a:r>
                        <a:rPr lang="ru-RU" sz="1800" dirty="0" err="1">
                          <a:solidFill>
                            <a:schemeClr val="tx1"/>
                          </a:solidFill>
                          <a:effectLst/>
                        </a:rPr>
                        <a:t>Digest</a:t>
                      </a:r>
                      <a:r>
                        <a:rPr lang="ru-RU" sz="1800" dirty="0">
                          <a:solidFill>
                            <a:schemeClr val="tx1"/>
                          </a:solidFill>
                          <a:effectLst/>
                        </a:rPr>
                        <a:t> </a:t>
                      </a:r>
                      <a:r>
                        <a:rPr lang="ru-RU" sz="1800" dirty="0" err="1">
                          <a:solidFill>
                            <a:schemeClr val="tx1"/>
                          </a:solidFill>
                          <a:effectLst/>
                        </a:rPr>
                        <a:t>Canada</a:t>
                      </a:r>
                      <a:r>
                        <a:rPr lang="ru-RU" sz="1800" dirty="0">
                          <a:solidFill>
                            <a:schemeClr val="tx1"/>
                          </a:solidFill>
                          <a:effectLst/>
                        </a:rPr>
                        <a:t>)</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1800" dirty="0">
                          <a:solidFill>
                            <a:schemeClr val="tx1"/>
                          </a:solidFill>
                          <a:effectLst/>
                        </a:rPr>
                        <a:t>Выявление основных сегментов рынка и наиболее благоприятных подмножеств, а также исследование зависимостей между основными показателями и характеристиками сегментов.</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4"/>
                  </a:ext>
                </a:extLst>
              </a:tr>
              <a:tr h="1997271">
                <a:tc>
                  <a:txBody>
                    <a:bodyPr/>
                    <a:lstStyle/>
                    <a:p>
                      <a:pPr marL="176213" indent="0">
                        <a:spcAft>
                          <a:spcPts val="0"/>
                        </a:spcAft>
                      </a:pPr>
                      <a:r>
                        <a:rPr lang="ru-RU" sz="1800" dirty="0">
                          <a:solidFill>
                            <a:schemeClr val="tx1"/>
                          </a:solidFill>
                          <a:effectLst/>
                        </a:rPr>
                        <a:t>Выявление потенциальных покупателей автомобильных стерео систем (</a:t>
                      </a:r>
                      <a:r>
                        <a:rPr lang="ru-RU" sz="1800" dirty="0" err="1">
                          <a:solidFill>
                            <a:schemeClr val="tx1"/>
                          </a:solidFill>
                          <a:effectLst/>
                        </a:rPr>
                        <a:t>Washington</a:t>
                      </a:r>
                      <a:r>
                        <a:rPr lang="ru-RU" sz="1800" dirty="0">
                          <a:solidFill>
                            <a:schemeClr val="tx1"/>
                          </a:solidFill>
                          <a:effectLst/>
                        </a:rPr>
                        <a:t> </a:t>
                      </a:r>
                      <a:r>
                        <a:rPr lang="ru-RU" sz="1800" dirty="0" err="1">
                          <a:solidFill>
                            <a:schemeClr val="tx1"/>
                          </a:solidFill>
                          <a:effectLst/>
                        </a:rPr>
                        <a:t>Auto</a:t>
                      </a:r>
                      <a:r>
                        <a:rPr lang="ru-RU" sz="1800" dirty="0">
                          <a:solidFill>
                            <a:schemeClr val="tx1"/>
                          </a:solidFill>
                          <a:effectLst/>
                        </a:rPr>
                        <a:t> </a:t>
                      </a:r>
                      <a:r>
                        <a:rPr lang="ru-RU" sz="1800" dirty="0" err="1">
                          <a:solidFill>
                            <a:schemeClr val="tx1"/>
                          </a:solidFill>
                          <a:effectLst/>
                        </a:rPr>
                        <a:t>Audio</a:t>
                      </a:r>
                      <a:r>
                        <a:rPr lang="ru-RU" sz="1800" dirty="0">
                          <a:solidFill>
                            <a:schemeClr val="tx1"/>
                          </a:solidFill>
                          <a:effectLst/>
                        </a:rPr>
                        <a:t>, </a:t>
                      </a:r>
                      <a:r>
                        <a:rPr lang="ru-RU" sz="1800" dirty="0" err="1">
                          <a:solidFill>
                            <a:schemeClr val="tx1"/>
                          </a:solidFill>
                          <a:effectLst/>
                        </a:rPr>
                        <a:t>Inc</a:t>
                      </a:r>
                      <a:r>
                        <a:rPr lang="ru-RU" sz="1800" dirty="0">
                          <a:solidFill>
                            <a:schemeClr val="tx1"/>
                          </a:solidFill>
                          <a:effectLst/>
                        </a:rPr>
                        <a:t>.) </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tc>
                  <a:txBody>
                    <a:bodyPr/>
                    <a:lstStyle/>
                    <a:p>
                      <a:pPr marL="0" indent="176213">
                        <a:spcAft>
                          <a:spcPts val="0"/>
                        </a:spcAft>
                      </a:pPr>
                      <a:r>
                        <a:rPr lang="ru-RU" sz="1800" dirty="0">
                          <a:solidFill>
                            <a:schemeClr val="tx1"/>
                          </a:solidFill>
                          <a:effectLst/>
                        </a:rPr>
                        <a:t>Анализ демографической базы данных, содержащей информацию о 14000 реальных и потенциальных клиентов, позволил за 90 секунд получить 3 довольно надежных индикатора для прогноза спроса на продукцию и услуги компании. Аналогичные результаты были получены в результате традиционного исследования, выполненного одной из консалтинговых компаний, причем это исследование обошлось фирме на порядок дороже, чем автоматизированная система интеллектуального анализа данных.</a:t>
                      </a:r>
                      <a:endParaRPr lang="ru-RU" sz="28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tc>
                <a:extLst>
                  <a:ext uri="{0D108BD9-81ED-4DB2-BD59-A6C34878D82A}">
                    <a16:rowId xmlns:a16="http://schemas.microsoft.com/office/drawing/2014/main" val="10005"/>
                  </a:ext>
                </a:extLst>
              </a:tr>
            </a:tbl>
          </a:graphicData>
        </a:graphic>
      </p:graphicFrame>
      <p:sp>
        <p:nvSpPr>
          <p:cNvPr id="3" name="Номер слайда 2">
            <a:extLst>
              <a:ext uri="{FF2B5EF4-FFF2-40B4-BE49-F238E27FC236}">
                <a16:creationId xmlns:a16="http://schemas.microsoft.com/office/drawing/2014/main" id="{4A696F54-C6E2-45FC-9940-96794C431086}"/>
              </a:ext>
            </a:extLst>
          </p:cNvPr>
          <p:cNvSpPr>
            <a:spLocks noGrp="1"/>
          </p:cNvSpPr>
          <p:nvPr>
            <p:ph type="sldNum" sz="quarter" idx="12"/>
          </p:nvPr>
        </p:nvSpPr>
        <p:spPr>
          <a:xfrm>
            <a:off x="11590709" y="6605017"/>
            <a:ext cx="444130" cy="421200"/>
          </a:xfrm>
        </p:spPr>
        <p:txBody>
          <a:bodyPr/>
          <a:lstStyle/>
          <a:p>
            <a:fld id="{952B6C0E-C4B9-4094-8E59-5B7DF00D5415}" type="slidenum">
              <a:rPr lang="ru-RU" smtClean="0">
                <a:solidFill>
                  <a:schemeClr val="tx1"/>
                </a:solidFill>
              </a:rPr>
              <a:t>25</a:t>
            </a:fld>
            <a:endParaRPr lang="ru-RU" dirty="0">
              <a:solidFill>
                <a:schemeClr val="tx1"/>
              </a:solidFill>
            </a:endParaRPr>
          </a:p>
        </p:txBody>
      </p:sp>
    </p:spTree>
    <p:extLst>
      <p:ext uri="{BB962C8B-B14F-4D97-AF65-F5344CB8AC3E}">
        <p14:creationId xmlns:p14="http://schemas.microsoft.com/office/powerpoint/2010/main" val="257993628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idx="4294967295"/>
          </p:nvPr>
        </p:nvSpPr>
        <p:spPr bwMode="auto">
          <a:xfrm>
            <a:off x="1195389" y="800101"/>
            <a:ext cx="9090025" cy="34845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80000"/>
              </a:lnSpc>
            </a:pPr>
            <a:r>
              <a:rPr lang="ru-RU" altLang="ru-RU" sz="4900" dirty="0"/>
              <a:t>Big Data.</a:t>
            </a:r>
            <a:br>
              <a:rPr lang="ru-RU" altLang="ru-RU" sz="4900" dirty="0"/>
            </a:br>
            <a:r>
              <a:rPr lang="ru-RU" altLang="ru-RU" sz="4900" dirty="0"/>
              <a:t>Статистическое обучение</a:t>
            </a:r>
            <a:br>
              <a:rPr lang="ru-RU" altLang="ru-RU" sz="4900" dirty="0"/>
            </a:br>
            <a:endParaRPr lang="ru-RU" altLang="ru-RU" sz="4900" dirty="0"/>
          </a:p>
        </p:txBody>
      </p:sp>
      <p:sp>
        <p:nvSpPr>
          <p:cNvPr id="2" name="Номер слайда 1">
            <a:extLst>
              <a:ext uri="{FF2B5EF4-FFF2-40B4-BE49-F238E27FC236}">
                <a16:creationId xmlns:a16="http://schemas.microsoft.com/office/drawing/2014/main" id="{3E07B242-6F32-4F40-BFEF-0B94774F7DED}"/>
              </a:ext>
            </a:extLst>
          </p:cNvPr>
          <p:cNvSpPr>
            <a:spLocks noGrp="1"/>
          </p:cNvSpPr>
          <p:nvPr>
            <p:ph type="sldNum" sz="quarter" idx="12"/>
          </p:nvPr>
        </p:nvSpPr>
        <p:spPr>
          <a:xfrm>
            <a:off x="11446693" y="6605017"/>
            <a:ext cx="588146" cy="379409"/>
          </a:xfrm>
        </p:spPr>
        <p:txBody>
          <a:bodyPr/>
          <a:lstStyle/>
          <a:p>
            <a:fld id="{952B6C0E-C4B9-4094-8E59-5B7DF00D5415}" type="slidenum">
              <a:rPr lang="ru-RU" smtClean="0">
                <a:solidFill>
                  <a:schemeClr val="tx1"/>
                </a:solidFill>
              </a:rPr>
              <a:t>26</a:t>
            </a:fld>
            <a:endParaRPr lang="ru-RU" dirty="0">
              <a:solidFill>
                <a:schemeClr val="tx1"/>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3"/>
            <a:ext cx="11749385"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31646" y="102866"/>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Основные понятия</a:t>
            </a:r>
          </a:p>
        </p:txBody>
      </p:sp>
      <p:sp>
        <p:nvSpPr>
          <p:cNvPr id="7" name="Объект 2"/>
          <p:cNvSpPr txBox="1">
            <a:spLocks/>
          </p:cNvSpPr>
          <p:nvPr/>
        </p:nvSpPr>
        <p:spPr bwMode="auto">
          <a:xfrm>
            <a:off x="580877" y="609400"/>
            <a:ext cx="11749385" cy="574624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2000" b="1" i="0" dirty="0" err="1">
                <a:solidFill>
                  <a:srgbClr val="313539"/>
                </a:solidFill>
                <a:effectLst/>
                <a:latin typeface="TimesNewRomanPS-BoldMT"/>
              </a:rPr>
              <a:t>Датасеты</a:t>
            </a:r>
            <a:r>
              <a:rPr lang="ru-RU" sz="2000" b="1" i="0" dirty="0">
                <a:solidFill>
                  <a:srgbClr val="313539"/>
                </a:solidFill>
                <a:effectLst/>
                <a:latin typeface="TimesNewRomanPS-BoldMT"/>
              </a:rPr>
              <a:t>. </a:t>
            </a:r>
            <a:r>
              <a:rPr lang="ru-RU" sz="2000" b="0" i="0" dirty="0" err="1">
                <a:solidFill>
                  <a:srgbClr val="313539"/>
                </a:solidFill>
                <a:effectLst/>
                <a:latin typeface="TimesNewRomanPSMT"/>
              </a:rPr>
              <a:t>Датасеты</a:t>
            </a:r>
            <a:r>
              <a:rPr lang="ru-RU" sz="2000" b="0" i="0" dirty="0">
                <a:solidFill>
                  <a:srgbClr val="313539"/>
                </a:solidFill>
                <a:effectLst/>
                <a:latin typeface="TimesNewRomanPSMT"/>
              </a:rPr>
              <a:t> представляют собой наборы данных, используемые для обучения моделей машинного обучения. Они состоят из примеров, представленных набором признаков, а также соответствующий им целевой параметр. </a:t>
            </a:r>
            <a:r>
              <a:rPr lang="ru-RU" sz="2000" b="0" i="0" dirty="0" err="1">
                <a:solidFill>
                  <a:srgbClr val="313539"/>
                </a:solidFill>
                <a:effectLst/>
                <a:latin typeface="TimesNewRomanPSMT"/>
              </a:rPr>
              <a:t>Датасеты</a:t>
            </a:r>
            <a:r>
              <a:rPr lang="ru-RU" sz="2000" b="0" i="0" dirty="0">
                <a:solidFill>
                  <a:srgbClr val="313539"/>
                </a:solidFill>
                <a:effectLst/>
                <a:latin typeface="TimesNewRomanPSMT"/>
              </a:rPr>
              <a:t> делятся на обучающую и тестовую выборки. </a:t>
            </a:r>
            <a:endParaRPr lang="en-US" sz="2000" b="0" i="0" dirty="0">
              <a:solidFill>
                <a:srgbClr val="313539"/>
              </a:solidFill>
              <a:effectLst/>
              <a:latin typeface="TimesNewRomanPSMT"/>
            </a:endParaRPr>
          </a:p>
          <a:p>
            <a:pPr marL="0" indent="0">
              <a:buNone/>
            </a:pPr>
            <a:endParaRPr lang="en-US" sz="2000" dirty="0">
              <a:solidFill>
                <a:srgbClr val="313539"/>
              </a:solidFill>
              <a:latin typeface="TimesNewRomanPSMT"/>
            </a:endParaRPr>
          </a:p>
          <a:p>
            <a:pPr marL="0" indent="0">
              <a:buNone/>
            </a:pPr>
            <a:r>
              <a:rPr lang="ru-RU" sz="2000" b="1" i="0" dirty="0">
                <a:solidFill>
                  <a:srgbClr val="313539"/>
                </a:solidFill>
                <a:effectLst/>
                <a:latin typeface="TimesNewRomanPS-BoldMT"/>
              </a:rPr>
              <a:t>Признаки</a:t>
            </a:r>
            <a:r>
              <a:rPr lang="en-US" sz="2000" b="1" i="0" dirty="0">
                <a:solidFill>
                  <a:srgbClr val="313539"/>
                </a:solidFill>
                <a:effectLst/>
                <a:latin typeface="TimesNewRomanPS-BoldMT"/>
              </a:rPr>
              <a:t> </a:t>
            </a:r>
            <a:r>
              <a:rPr lang="ru-RU" sz="2000" b="1" i="0" dirty="0">
                <a:solidFill>
                  <a:srgbClr val="313539"/>
                </a:solidFill>
                <a:effectLst/>
                <a:latin typeface="TimesNewRomanPS-BoldMT"/>
              </a:rPr>
              <a:t>или Предикторы. </a:t>
            </a:r>
            <a:r>
              <a:rPr lang="ru-RU" sz="2000" b="0" i="0" dirty="0">
                <a:solidFill>
                  <a:srgbClr val="313539"/>
                </a:solidFill>
                <a:effectLst/>
                <a:latin typeface="TimesNewRomanPSMT"/>
              </a:rPr>
              <a:t>Признаки представляют собой параметры или аспекты данных, которые модель использует для решения задач анализа данных  прогнозирования или классификации. Они могут быть числовыми, категориальными или текстовыми.</a:t>
            </a:r>
            <a:r>
              <a:rPr lang="ru-RU" sz="2000" dirty="0"/>
              <a:t> </a:t>
            </a:r>
            <a:br>
              <a:rPr lang="ru-RU" sz="2000" dirty="0"/>
            </a:br>
            <a:endParaRPr lang="en-US" sz="2000" b="1" i="0" dirty="0">
              <a:solidFill>
                <a:srgbClr val="313539"/>
              </a:solidFill>
              <a:effectLst/>
              <a:latin typeface="Times New Roman" panose="02020603050405020304" pitchFamily="18" charset="0"/>
              <a:cs typeface="Times New Roman" panose="02020603050405020304" pitchFamily="18" charset="0"/>
            </a:endParaRPr>
          </a:p>
          <a:p>
            <a:pPr marL="0" indent="0">
              <a:buNone/>
            </a:pPr>
            <a:r>
              <a:rPr lang="ru-RU" sz="2000" b="1" i="0" dirty="0">
                <a:solidFill>
                  <a:srgbClr val="313539"/>
                </a:solidFill>
                <a:effectLst/>
                <a:latin typeface="Times New Roman" panose="02020603050405020304" pitchFamily="18" charset="0"/>
                <a:cs typeface="Times New Roman" panose="02020603050405020304" pitchFamily="18" charset="0"/>
              </a:rPr>
              <a:t>Задачи анализа данных. </a:t>
            </a:r>
            <a:r>
              <a:rPr lang="ru-RU" sz="2000" dirty="0">
                <a:solidFill>
                  <a:srgbClr val="313539"/>
                </a:solidFill>
                <a:latin typeface="Times New Roman" panose="02020603050405020304" pitchFamily="18" charset="0"/>
                <a:cs typeface="Times New Roman" panose="02020603050405020304" pitchFamily="18" charset="0"/>
              </a:rPr>
              <a:t>Наиболее общая задача – получение новых знаний из сырых данных. Задачи могут относиться к  </a:t>
            </a:r>
            <a:r>
              <a:rPr lang="ru-RU" sz="2000" dirty="0">
                <a:solidFill>
                  <a:srgbClr val="FF0000"/>
                </a:solidFill>
                <a:latin typeface="Times New Roman" panose="02020603050405020304" pitchFamily="18" charset="0"/>
                <a:cs typeface="Times New Roman" panose="02020603050405020304" pitchFamily="18" charset="0"/>
              </a:rPr>
              <a:t>Описательным, Предиктивным и Статическому выводу </a:t>
            </a:r>
            <a:r>
              <a:rPr lang="ru-RU" sz="2000" baseline="30000" dirty="0">
                <a:solidFill>
                  <a:srgbClr val="FF0000"/>
                </a:solidFill>
                <a:latin typeface="Times New Roman" panose="02020603050405020304" pitchFamily="18" charset="0"/>
                <a:cs typeface="Times New Roman" panose="02020603050405020304" pitchFamily="18" charset="0"/>
              </a:rPr>
              <a:t>*)</a:t>
            </a:r>
            <a:r>
              <a:rPr lang="ru-RU" sz="2000" dirty="0">
                <a:solidFill>
                  <a:srgbClr val="313539"/>
                </a:solidFill>
                <a:latin typeface="Times New Roman" panose="02020603050405020304" pitchFamily="18" charset="0"/>
                <a:cs typeface="Times New Roman" panose="02020603050405020304" pitchFamily="18" charset="0"/>
              </a:rPr>
              <a:t>. К отдельной вспомогательной задаче относится  Понижение размерности. </a:t>
            </a:r>
            <a:endParaRPr lang="ru-RU" sz="2000" i="0" dirty="0">
              <a:solidFill>
                <a:srgbClr val="313539"/>
              </a:solidFill>
              <a:effectLst/>
              <a:latin typeface="Times New Roman" panose="02020603050405020304" pitchFamily="18" charset="0"/>
              <a:cs typeface="Times New Roman" panose="02020603050405020304" pitchFamily="18" charset="0"/>
            </a:endParaRPr>
          </a:p>
          <a:p>
            <a:pPr marL="0" indent="0">
              <a:buNone/>
            </a:pPr>
            <a:endParaRPr lang="ru-RU" sz="2000" b="1" i="0" dirty="0">
              <a:solidFill>
                <a:srgbClr val="313539"/>
              </a:solidFill>
              <a:effectLst/>
              <a:latin typeface="Times New Roman" panose="02020603050405020304" pitchFamily="18" charset="0"/>
              <a:cs typeface="Times New Roman" panose="02020603050405020304" pitchFamily="18" charset="0"/>
            </a:endParaRPr>
          </a:p>
          <a:p>
            <a:pPr marL="0" indent="0">
              <a:buNone/>
            </a:pPr>
            <a:r>
              <a:rPr lang="ru-RU" sz="2000" b="1" i="0" dirty="0">
                <a:solidFill>
                  <a:srgbClr val="313539"/>
                </a:solidFill>
                <a:effectLst/>
                <a:latin typeface="Times New Roman" panose="02020603050405020304" pitchFamily="18" charset="0"/>
                <a:cs typeface="Times New Roman" panose="02020603050405020304" pitchFamily="18" charset="0"/>
              </a:rPr>
              <a:t>Модели. </a:t>
            </a:r>
            <a:r>
              <a:rPr lang="ru-RU" sz="2000" b="0" i="0" dirty="0">
                <a:solidFill>
                  <a:srgbClr val="313539"/>
                </a:solidFill>
                <a:effectLst/>
                <a:latin typeface="Times New Roman" panose="02020603050405020304" pitchFamily="18" charset="0"/>
                <a:cs typeface="Times New Roman" panose="02020603050405020304" pitchFamily="18" charset="0"/>
              </a:rPr>
              <a:t>Модели машинного обучения представляют собой математические алгоритмы или структуры данных, которые обучаются на основе </a:t>
            </a:r>
            <a:r>
              <a:rPr lang="ru-RU" sz="2000" dirty="0">
                <a:solidFill>
                  <a:srgbClr val="313539"/>
                </a:solidFill>
                <a:latin typeface="Times New Roman" panose="02020603050405020304" pitchFamily="18" charset="0"/>
                <a:cs typeface="Times New Roman" panose="02020603050405020304" pitchFamily="18" charset="0"/>
              </a:rPr>
              <a:t>данных и позволяют делать прогнозы или принимать решения. Частями модели является функция и </a:t>
            </a:r>
            <a:r>
              <a:rPr lang="ru-RU" sz="2000" b="1" dirty="0">
                <a:solidFill>
                  <a:srgbClr val="313539"/>
                </a:solidFill>
                <a:latin typeface="Times New Roman" panose="02020603050405020304" pitchFamily="18" charset="0"/>
                <a:cs typeface="Times New Roman" panose="02020603050405020304" pitchFamily="18" charset="0"/>
              </a:rPr>
              <a:t>алгоритм обучения</a:t>
            </a:r>
            <a:r>
              <a:rPr lang="ru-RU" sz="2000" dirty="0">
                <a:solidFill>
                  <a:srgbClr val="313539"/>
                </a:solidFill>
                <a:latin typeface="Times New Roman" panose="02020603050405020304" pitchFamily="18" charset="0"/>
                <a:cs typeface="Times New Roman" panose="02020603050405020304" pitchFamily="18" charset="0"/>
              </a:rPr>
              <a:t>.</a:t>
            </a:r>
            <a:br>
              <a:rPr lang="ru-RU" sz="2000" dirty="0">
                <a:solidFill>
                  <a:srgbClr val="313539"/>
                </a:solidFill>
                <a:latin typeface="Times New Roman" panose="02020603050405020304" pitchFamily="18" charset="0"/>
                <a:cs typeface="Times New Roman" panose="02020603050405020304" pitchFamily="18" charset="0"/>
              </a:rPr>
            </a:br>
            <a:endParaRPr lang="ru-RU" sz="2000" dirty="0">
              <a:solidFill>
                <a:srgbClr val="313539"/>
              </a:solidFill>
              <a:latin typeface="Times New Roman" panose="02020603050405020304" pitchFamily="18" charset="0"/>
              <a:cs typeface="Times New Roman" panose="02020603050405020304" pitchFamily="18" charset="0"/>
            </a:endParaRPr>
          </a:p>
        </p:txBody>
      </p:sp>
      <p:sp>
        <p:nvSpPr>
          <p:cNvPr id="2" name="Номер слайда 1">
            <a:extLst>
              <a:ext uri="{FF2B5EF4-FFF2-40B4-BE49-F238E27FC236}">
                <a16:creationId xmlns:a16="http://schemas.microsoft.com/office/drawing/2014/main" id="{947C3A35-C2E9-43E9-9E30-005992B4256A}"/>
              </a:ext>
            </a:extLst>
          </p:cNvPr>
          <p:cNvSpPr>
            <a:spLocks noGrp="1"/>
          </p:cNvSpPr>
          <p:nvPr>
            <p:ph type="sldNum" sz="quarter" idx="12"/>
          </p:nvPr>
        </p:nvSpPr>
        <p:spPr>
          <a:xfrm>
            <a:off x="11302677" y="6605018"/>
            <a:ext cx="732162" cy="292032"/>
          </a:xfrm>
        </p:spPr>
        <p:txBody>
          <a:bodyPr/>
          <a:lstStyle/>
          <a:p>
            <a:fld id="{952B6C0E-C4B9-4094-8E59-5B7DF00D5415}" type="slidenum">
              <a:rPr lang="ru-RU" smtClean="0">
                <a:solidFill>
                  <a:schemeClr val="tx1"/>
                </a:solidFill>
              </a:rPr>
              <a:t>27</a:t>
            </a:fld>
            <a:endParaRPr lang="ru-RU">
              <a:solidFill>
                <a:schemeClr val="tx1"/>
              </a:solidFill>
            </a:endParaRPr>
          </a:p>
        </p:txBody>
      </p:sp>
      <p:sp>
        <p:nvSpPr>
          <p:cNvPr id="8" name="TextBox 7">
            <a:extLst>
              <a:ext uri="{FF2B5EF4-FFF2-40B4-BE49-F238E27FC236}">
                <a16:creationId xmlns:a16="http://schemas.microsoft.com/office/drawing/2014/main" id="{F4B1BB1A-AE50-4C21-A0ED-3F158CD5C3AB}"/>
              </a:ext>
            </a:extLst>
          </p:cNvPr>
          <p:cNvSpPr txBox="1"/>
          <p:nvPr/>
        </p:nvSpPr>
        <p:spPr>
          <a:xfrm>
            <a:off x="642914" y="5805127"/>
            <a:ext cx="12025336" cy="1169551"/>
          </a:xfrm>
          <a:prstGeom prst="rect">
            <a:avLst/>
          </a:prstGeom>
          <a:noFill/>
        </p:spPr>
        <p:txBody>
          <a:bodyPr wrap="square">
            <a:spAutoFit/>
          </a:bodyPr>
          <a:lstStyle/>
          <a:p>
            <a:r>
              <a:rPr lang="ru-RU" sz="1400" baseline="30000" dirty="0">
                <a:solidFill>
                  <a:srgbClr val="FF0000"/>
                </a:solidFill>
                <a:latin typeface="Times New Roman" panose="02020603050405020304" pitchFamily="18" charset="0"/>
                <a:cs typeface="Times New Roman" panose="02020603050405020304" pitchFamily="18" charset="0"/>
              </a:rPr>
              <a:t>*)</a:t>
            </a:r>
            <a:r>
              <a:rPr lang="ru-RU" sz="1400" i="1" dirty="0"/>
              <a:t>Четкой и единой классификации, которая была бы зафиксирована в одном конкретном стандарте или учебнике, не существует. В науке о данных и статистике эти понятия скорее являются </a:t>
            </a:r>
            <a:r>
              <a:rPr lang="ru-RU" sz="1400" b="1" i="1" dirty="0"/>
              <a:t>устоявшейся терминологией и концептуальной рамкой</a:t>
            </a:r>
            <a:r>
              <a:rPr lang="ru-RU" sz="1400" i="1" dirty="0"/>
              <a:t>, которая "разлита" по множеству источников.</a:t>
            </a:r>
          </a:p>
          <a:p>
            <a:r>
              <a:rPr lang="ru-RU" sz="1400" i="1" dirty="0"/>
              <a:t>Разные авторы и научные школы могут группировать методы по-своему, но базовая триада ("описание – вывод – предсказание") и расширенная </a:t>
            </a:r>
            <a:r>
              <a:rPr lang="ru-RU" sz="1400" i="1" dirty="0" err="1"/>
              <a:t>квадрида</a:t>
            </a:r>
            <a:r>
              <a:rPr lang="ru-RU" sz="1400" i="1" dirty="0"/>
              <a:t> (+ "предписание") являются фундаментом.</a:t>
            </a:r>
          </a:p>
        </p:txBody>
      </p:sp>
    </p:spTree>
    <p:extLst>
      <p:ext uri="{BB962C8B-B14F-4D97-AF65-F5344CB8AC3E}">
        <p14:creationId xmlns:p14="http://schemas.microsoft.com/office/powerpoint/2010/main" val="1415020020"/>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3"/>
            <a:ext cx="11749385"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250776"/>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Основные понятия</a:t>
            </a:r>
          </a:p>
        </p:txBody>
      </p:sp>
      <p:sp>
        <p:nvSpPr>
          <p:cNvPr id="7" name="Объект 2"/>
          <p:cNvSpPr txBox="1">
            <a:spLocks/>
          </p:cNvSpPr>
          <p:nvPr/>
        </p:nvSpPr>
        <p:spPr bwMode="auto">
          <a:xfrm>
            <a:off x="580877" y="858774"/>
            <a:ext cx="11749385" cy="574624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32"/>
              </a:spcBef>
              <a:buNone/>
            </a:pPr>
            <a:r>
              <a:rPr lang="ru-RU" sz="1800" b="1" i="0" dirty="0">
                <a:solidFill>
                  <a:srgbClr val="313539"/>
                </a:solidFill>
                <a:effectLst/>
                <a:latin typeface="Times New Roman" panose="02020603050405020304" pitchFamily="18" charset="0"/>
                <a:cs typeface="Times New Roman" panose="02020603050405020304" pitchFamily="18" charset="0"/>
              </a:rPr>
              <a:t>Методы анализа данных. </a:t>
            </a:r>
            <a:r>
              <a:rPr lang="ru-RU" sz="1800" dirty="0">
                <a:solidFill>
                  <a:srgbClr val="000000"/>
                </a:solidFill>
                <a:latin typeface="TimesNewRomanPSMT"/>
              </a:rPr>
              <a:t>Это конкретные математические модели и вычислительные процедуры, которые решают поставленные задачи. Это инструменты в ящике данных </a:t>
            </a:r>
            <a:r>
              <a:rPr lang="ru-RU" sz="1800" dirty="0" err="1">
                <a:solidFill>
                  <a:srgbClr val="000000"/>
                </a:solidFill>
                <a:latin typeface="TimesNewRomanPSMT"/>
              </a:rPr>
              <a:t>scientist’а</a:t>
            </a:r>
            <a:r>
              <a:rPr lang="ru-RU" sz="1800" dirty="0">
                <a:solidFill>
                  <a:srgbClr val="000000"/>
                </a:solidFill>
                <a:latin typeface="TimesNewRomanPSMT"/>
              </a:rPr>
              <a:t>.</a:t>
            </a:r>
          </a:p>
          <a:p>
            <a:pPr marL="0" indent="0">
              <a:spcBef>
                <a:spcPts val="232"/>
              </a:spcBef>
              <a:buNone/>
            </a:pPr>
            <a:r>
              <a:rPr lang="ru-RU" sz="1800" dirty="0">
                <a:solidFill>
                  <a:srgbClr val="000000"/>
                </a:solidFill>
                <a:latin typeface="TimesNewRomanPSMT"/>
              </a:rPr>
              <a:t>Обычно под "методами анализа" понимают более общие концепции и этапы работы, а под "алгоритмами" — конкретные формулы и процедуры, которые реализованы в коде.</a:t>
            </a:r>
          </a:p>
          <a:p>
            <a:pPr>
              <a:spcBef>
                <a:spcPts val="232"/>
              </a:spcBef>
              <a:buFont typeface="Arial" panose="020B0604020202020204" pitchFamily="34" charset="0"/>
              <a:buChar char="•"/>
            </a:pPr>
            <a:r>
              <a:rPr lang="ru-RU" sz="1800" b="1" dirty="0">
                <a:solidFill>
                  <a:srgbClr val="000000"/>
                </a:solidFill>
                <a:latin typeface="TimesNewRomanPSMT"/>
              </a:rPr>
              <a:t>Метод анализа </a:t>
            </a:r>
            <a:r>
              <a:rPr lang="ru-RU" sz="1800" dirty="0">
                <a:solidFill>
                  <a:srgbClr val="000000"/>
                </a:solidFill>
                <a:latin typeface="TimesNewRomanPSMT"/>
              </a:rPr>
              <a:t>— это общая философия ("Найдем группы похожих клиентов").</a:t>
            </a:r>
          </a:p>
          <a:p>
            <a:pPr>
              <a:spcBef>
                <a:spcPts val="232"/>
              </a:spcBef>
              <a:buFont typeface="Arial" panose="020B0604020202020204" pitchFamily="34" charset="0"/>
              <a:buChar char="•"/>
            </a:pPr>
            <a:r>
              <a:rPr lang="ru-RU" sz="1800" b="1" dirty="0">
                <a:solidFill>
                  <a:srgbClr val="000000"/>
                </a:solidFill>
                <a:latin typeface="TimesNewRomanPSMT"/>
              </a:rPr>
              <a:t>Алгоритм </a:t>
            </a:r>
            <a:r>
              <a:rPr lang="ru-RU" sz="1800" dirty="0">
                <a:solidFill>
                  <a:srgbClr val="000000"/>
                </a:solidFill>
                <a:latin typeface="TimesNewRomanPSMT"/>
              </a:rPr>
              <a:t>— это конкретный инструмент ("Для этого используем k-</a:t>
            </a:r>
            <a:r>
              <a:rPr lang="ru-RU" sz="1800" dirty="0" err="1">
                <a:solidFill>
                  <a:srgbClr val="000000"/>
                </a:solidFill>
                <a:latin typeface="TimesNewRomanPSMT"/>
              </a:rPr>
              <a:t>means</a:t>
            </a:r>
            <a:r>
              <a:rPr lang="ru-RU" sz="1800" dirty="0">
                <a:solidFill>
                  <a:srgbClr val="000000"/>
                </a:solidFill>
                <a:latin typeface="TimesNewRomanPSMT"/>
              </a:rPr>
              <a:t> с 5 кластерами и евклидовой метрикой").</a:t>
            </a:r>
          </a:p>
          <a:p>
            <a:pPr marL="0" indent="0">
              <a:buNone/>
            </a:pPr>
            <a:endParaRPr lang="ru-RU" sz="1800" b="1" i="0" dirty="0">
              <a:solidFill>
                <a:srgbClr val="313539"/>
              </a:solidFill>
              <a:effectLst/>
              <a:latin typeface="Times New Roman" panose="02020603050405020304" pitchFamily="18" charset="0"/>
              <a:cs typeface="Times New Roman" panose="02020603050405020304" pitchFamily="18" charset="0"/>
            </a:endParaRPr>
          </a:p>
          <a:p>
            <a:pPr marL="0" indent="0">
              <a:buNone/>
            </a:pPr>
            <a:br>
              <a:rPr lang="ru-RU" sz="2000" dirty="0">
                <a:solidFill>
                  <a:srgbClr val="313539"/>
                </a:solidFill>
                <a:latin typeface="Times New Roman" panose="02020603050405020304" pitchFamily="18" charset="0"/>
                <a:cs typeface="Times New Roman" panose="02020603050405020304" pitchFamily="18" charset="0"/>
              </a:rPr>
            </a:br>
            <a:endParaRPr lang="ru-RU" sz="2000" dirty="0">
              <a:solidFill>
                <a:srgbClr val="313539"/>
              </a:solidFill>
              <a:latin typeface="Times New Roman" panose="02020603050405020304" pitchFamily="18" charset="0"/>
              <a:cs typeface="Times New Roman" panose="02020603050405020304" pitchFamily="18" charset="0"/>
            </a:endParaRPr>
          </a:p>
        </p:txBody>
      </p:sp>
      <p:sp>
        <p:nvSpPr>
          <p:cNvPr id="2" name="Номер слайда 1">
            <a:extLst>
              <a:ext uri="{FF2B5EF4-FFF2-40B4-BE49-F238E27FC236}">
                <a16:creationId xmlns:a16="http://schemas.microsoft.com/office/drawing/2014/main" id="{947C3A35-C2E9-43E9-9E30-005992B4256A}"/>
              </a:ext>
            </a:extLst>
          </p:cNvPr>
          <p:cNvSpPr>
            <a:spLocks noGrp="1"/>
          </p:cNvSpPr>
          <p:nvPr>
            <p:ph type="sldNum" sz="quarter" idx="12"/>
          </p:nvPr>
        </p:nvSpPr>
        <p:spPr>
          <a:xfrm>
            <a:off x="11302677" y="6605018"/>
            <a:ext cx="732162" cy="292032"/>
          </a:xfrm>
        </p:spPr>
        <p:txBody>
          <a:bodyPr/>
          <a:lstStyle/>
          <a:p>
            <a:fld id="{952B6C0E-C4B9-4094-8E59-5B7DF00D5415}" type="slidenum">
              <a:rPr lang="ru-RU" smtClean="0">
                <a:solidFill>
                  <a:schemeClr val="tx1"/>
                </a:solidFill>
              </a:rPr>
              <a:t>28</a:t>
            </a:fld>
            <a:endParaRPr lang="ru-RU">
              <a:solidFill>
                <a:schemeClr val="tx1"/>
              </a:solidFill>
            </a:endParaRPr>
          </a:p>
        </p:txBody>
      </p:sp>
      <p:pic>
        <p:nvPicPr>
          <p:cNvPr id="9" name="Рисунок 8">
            <a:extLst>
              <a:ext uri="{FF2B5EF4-FFF2-40B4-BE49-F238E27FC236}">
                <a16:creationId xmlns:a16="http://schemas.microsoft.com/office/drawing/2014/main" id="{F247F3E5-5785-4084-841A-14B9D12EDD30}"/>
              </a:ext>
            </a:extLst>
          </p:cNvPr>
          <p:cNvPicPr>
            <a:picLocks noChangeAspect="1"/>
          </p:cNvPicPr>
          <p:nvPr/>
        </p:nvPicPr>
        <p:blipFill>
          <a:blip r:embed="rId2"/>
          <a:stretch>
            <a:fillRect/>
          </a:stretch>
        </p:blipFill>
        <p:spPr>
          <a:xfrm>
            <a:off x="6051684" y="3058146"/>
            <a:ext cx="6337254" cy="3309385"/>
          </a:xfrm>
          <a:prstGeom prst="rect">
            <a:avLst/>
          </a:prstGeom>
        </p:spPr>
      </p:pic>
      <p:sp>
        <p:nvSpPr>
          <p:cNvPr id="10" name="TextBox 9">
            <a:extLst>
              <a:ext uri="{FF2B5EF4-FFF2-40B4-BE49-F238E27FC236}">
                <a16:creationId xmlns:a16="http://schemas.microsoft.com/office/drawing/2014/main" id="{5AC6608D-65EF-4E06-874B-62BEB5E9D831}"/>
              </a:ext>
            </a:extLst>
          </p:cNvPr>
          <p:cNvSpPr txBox="1"/>
          <p:nvPr/>
        </p:nvSpPr>
        <p:spPr>
          <a:xfrm>
            <a:off x="517686" y="3125119"/>
            <a:ext cx="5708779" cy="3416320"/>
          </a:xfrm>
          <a:prstGeom prst="rect">
            <a:avLst/>
          </a:prstGeom>
          <a:noFill/>
        </p:spPr>
        <p:txBody>
          <a:bodyPr wrap="square">
            <a:spAutoFit/>
          </a:bodyPr>
          <a:lstStyle/>
          <a:p>
            <a:pPr defTabSz="993775">
              <a:spcBef>
                <a:spcPts val="232"/>
              </a:spcBef>
            </a:pPr>
            <a:r>
              <a:rPr lang="ru-RU" sz="1800" b="1" dirty="0">
                <a:solidFill>
                  <a:srgbClr val="313539"/>
                </a:solidFill>
                <a:latin typeface="Times New Roman" panose="02020603050405020304" pitchFamily="18" charset="0"/>
                <a:cs typeface="Times New Roman" panose="02020603050405020304" pitchFamily="18" charset="0"/>
              </a:rPr>
              <a:t>Алгоритмы анализа данных реализуют те или иные методы анализа данных. </a:t>
            </a:r>
            <a:r>
              <a:rPr lang="ru-RU" sz="1800" dirty="0">
                <a:solidFill>
                  <a:srgbClr val="313539"/>
                </a:solidFill>
                <a:latin typeface="Times New Roman" panose="02020603050405020304" pitchFamily="18" charset="0"/>
                <a:cs typeface="Times New Roman" panose="02020603050405020304" pitchFamily="18" charset="0"/>
              </a:rPr>
              <a:t>Алгоритмы машинного обучения можно разделить по принципу, лежащему в основе построения модели. </a:t>
            </a:r>
            <a:r>
              <a:rPr lang="ru-RU" sz="1800" b="1" i="1" dirty="0">
                <a:solidFill>
                  <a:srgbClr val="313539"/>
                </a:solidFill>
                <a:latin typeface="Times New Roman" panose="02020603050405020304" pitchFamily="18" charset="0"/>
                <a:cs typeface="Times New Roman" panose="02020603050405020304" pitchFamily="18" charset="0"/>
              </a:rPr>
              <a:t>Геометрические алгоритмы </a:t>
            </a:r>
            <a:r>
              <a:rPr lang="ru-RU" sz="1800" dirty="0">
                <a:solidFill>
                  <a:srgbClr val="313539"/>
                </a:solidFill>
                <a:latin typeface="Times New Roman" panose="02020603050405020304" pitchFamily="18" charset="0"/>
                <a:cs typeface="Times New Roman" panose="02020603050405020304" pitchFamily="18" charset="0"/>
              </a:rPr>
              <a:t>преобразуют пространство данных либо строя разделяющую гиперповерхность, либо разнося данные в пространстве. </a:t>
            </a:r>
            <a:r>
              <a:rPr lang="ru-RU" sz="1800" b="1" i="1" dirty="0">
                <a:solidFill>
                  <a:srgbClr val="313539"/>
                </a:solidFill>
                <a:latin typeface="Times New Roman" panose="02020603050405020304" pitchFamily="18" charset="0"/>
                <a:cs typeface="Times New Roman" panose="02020603050405020304" pitchFamily="18" charset="0"/>
              </a:rPr>
              <a:t>Вероятностные алгоритмы </a:t>
            </a:r>
            <a:r>
              <a:rPr lang="ru-RU" sz="1800" dirty="0">
                <a:solidFill>
                  <a:srgbClr val="313539"/>
                </a:solidFill>
                <a:latin typeface="Times New Roman" panose="02020603050405020304" pitchFamily="18" charset="0"/>
                <a:cs typeface="Times New Roman" panose="02020603050405020304" pitchFamily="18" charset="0"/>
              </a:rPr>
              <a:t>придуманы под влиянием теории вероятностей. </a:t>
            </a:r>
            <a:r>
              <a:rPr lang="ru-RU" sz="1800" b="1" i="1" dirty="0">
                <a:solidFill>
                  <a:srgbClr val="313539"/>
                </a:solidFill>
                <a:latin typeface="Times New Roman" panose="02020603050405020304" pitchFamily="18" charset="0"/>
                <a:cs typeface="Times New Roman" panose="02020603050405020304" pitchFamily="18" charset="0"/>
              </a:rPr>
              <a:t>Логические алгоритмы </a:t>
            </a:r>
            <a:r>
              <a:rPr lang="ru-RU" sz="1800" dirty="0">
                <a:solidFill>
                  <a:srgbClr val="313539"/>
                </a:solidFill>
                <a:latin typeface="Times New Roman" panose="02020603050405020304" pitchFamily="18" charset="0"/>
                <a:cs typeface="Times New Roman" panose="02020603050405020304" pitchFamily="18" charset="0"/>
              </a:rPr>
              <a:t>используют логическую взаимосвязь между описанием данных. </a:t>
            </a:r>
            <a:r>
              <a:rPr lang="ru-RU" sz="1800" b="1" i="1" dirty="0">
                <a:solidFill>
                  <a:srgbClr val="313539"/>
                </a:solidFill>
                <a:latin typeface="Times New Roman" panose="02020603050405020304" pitchFamily="18" charset="0"/>
                <a:cs typeface="Times New Roman" panose="02020603050405020304" pitchFamily="18" charset="0"/>
              </a:rPr>
              <a:t>Ансамблевые алгоритмы</a:t>
            </a:r>
            <a:r>
              <a:rPr lang="ru-RU" sz="1800" dirty="0">
                <a:solidFill>
                  <a:srgbClr val="313539"/>
                </a:solidFill>
                <a:latin typeface="Times New Roman" panose="02020603050405020304" pitchFamily="18" charset="0"/>
                <a:cs typeface="Times New Roman" panose="02020603050405020304" pitchFamily="18" charset="0"/>
              </a:rPr>
              <a:t> призваны комбинировать несколько моделей для общего улучшения качества. </a:t>
            </a:r>
          </a:p>
        </p:txBody>
      </p:sp>
    </p:spTree>
    <p:extLst>
      <p:ext uri="{BB962C8B-B14F-4D97-AF65-F5344CB8AC3E}">
        <p14:creationId xmlns:p14="http://schemas.microsoft.com/office/powerpoint/2010/main" val="142236488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3"/>
            <a:ext cx="11749385"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250776"/>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Что такое статистическое обучение?</a:t>
            </a:r>
          </a:p>
        </p:txBody>
      </p:sp>
      <p:sp>
        <p:nvSpPr>
          <p:cNvPr id="7" name="Объект 2"/>
          <p:cNvSpPr txBox="1">
            <a:spLocks/>
          </p:cNvSpPr>
          <p:nvPr/>
        </p:nvSpPr>
        <p:spPr bwMode="auto">
          <a:xfrm>
            <a:off x="789509" y="1031764"/>
            <a:ext cx="11593287" cy="574624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2400" b="1" dirty="0"/>
              <a:t>Пример</a:t>
            </a:r>
          </a:p>
          <a:p>
            <a:r>
              <a:rPr lang="ru-RU" sz="2400" dirty="0"/>
              <a:t>мы являемся консультантами-статистиками, нанятыми некоторым клиентом для разработки рекомендаций по повышению продаж определенного продукта. Набор данных </a:t>
            </a:r>
            <a:r>
              <a:rPr lang="en-US" sz="2400" i="1" dirty="0">
                <a:solidFill>
                  <a:schemeClr val="accent2">
                    <a:lumMod val="50000"/>
                  </a:schemeClr>
                </a:solidFill>
              </a:rPr>
              <a:t>Advertising</a:t>
            </a:r>
            <a:r>
              <a:rPr lang="en-US" sz="2400" dirty="0"/>
              <a:t> </a:t>
            </a:r>
            <a:r>
              <a:rPr lang="ru-RU" sz="2400" dirty="0"/>
              <a:t>включает сведения по продажам </a:t>
            </a:r>
            <a:r>
              <a:rPr lang="en-US" sz="2400" dirty="0"/>
              <a:t>(</a:t>
            </a:r>
            <a:r>
              <a:rPr lang="en-US" sz="2400" i="1" dirty="0">
                <a:solidFill>
                  <a:schemeClr val="accent2">
                    <a:lumMod val="50000"/>
                  </a:schemeClr>
                </a:solidFill>
              </a:rPr>
              <a:t>sales</a:t>
            </a:r>
            <a:r>
              <a:rPr lang="en-US" sz="2400" dirty="0"/>
              <a:t>) </a:t>
            </a:r>
            <a:r>
              <a:rPr lang="ru-RU" sz="2400" dirty="0"/>
              <a:t>этого продукта в 200 различных регионах, а также по величине регионального бюджета на рекламу продукта в средствах массовой информации (СМИ) трех видов: </a:t>
            </a:r>
          </a:p>
          <a:p>
            <a:r>
              <a:rPr lang="ru-RU" sz="2400" dirty="0"/>
              <a:t>телевидение </a:t>
            </a:r>
            <a:r>
              <a:rPr lang="en-US" sz="2400" dirty="0"/>
              <a:t>(TV), </a:t>
            </a:r>
            <a:r>
              <a:rPr lang="ru-RU" sz="2400" dirty="0"/>
              <a:t>радио </a:t>
            </a:r>
            <a:r>
              <a:rPr lang="en-US" sz="2400" dirty="0"/>
              <a:t>(radio) </a:t>
            </a:r>
            <a:r>
              <a:rPr lang="ru-RU" sz="2400" dirty="0"/>
              <a:t>и газеты </a:t>
            </a:r>
            <a:r>
              <a:rPr lang="en-US" sz="2400" dirty="0"/>
              <a:t>(newspaper). </a:t>
            </a:r>
            <a:endParaRPr lang="ru-RU" sz="2400" dirty="0"/>
          </a:p>
          <a:p>
            <a:pPr marL="0" indent="0">
              <a:buNone/>
            </a:pPr>
            <a:r>
              <a:rPr lang="ru-RU" sz="2200" dirty="0"/>
              <a:t>Эти данные представлены на рис. 1. Наш клиент не имеет прямой возможности увеличить продажи. С другой стороны, он может контролировать затраты на рекламу в каждом из трех типов СМИ. </a:t>
            </a:r>
          </a:p>
          <a:p>
            <a:pPr marL="0" indent="449267">
              <a:buNone/>
            </a:pPr>
            <a:r>
              <a:rPr lang="ru-RU" sz="2200" dirty="0"/>
              <a:t>Следовательно, если мы обнаружим связь между затратами на рекламу и продажами, то сможем дать рекомендации нашему клиенту по корректированию бюджета на рекламу, что опосредованно приведет к увеличению продаж. </a:t>
            </a:r>
            <a:r>
              <a:rPr lang="ru-RU" sz="2200" dirty="0" err="1"/>
              <a:t>Т.е</a:t>
            </a:r>
            <a:r>
              <a:rPr lang="ru-RU" sz="2200" dirty="0"/>
              <a:t>, наша цель - разработка модели, которую можно будет использовать для верных предсказаний продаж на основе данных по бюджету для трех типов СМИ.</a:t>
            </a:r>
          </a:p>
        </p:txBody>
      </p:sp>
      <p:sp>
        <p:nvSpPr>
          <p:cNvPr id="2" name="Номер слайда 1">
            <a:extLst>
              <a:ext uri="{FF2B5EF4-FFF2-40B4-BE49-F238E27FC236}">
                <a16:creationId xmlns:a16="http://schemas.microsoft.com/office/drawing/2014/main" id="{947C3A35-C2E9-43E9-9E30-005992B4256A}"/>
              </a:ext>
            </a:extLst>
          </p:cNvPr>
          <p:cNvSpPr>
            <a:spLocks noGrp="1"/>
          </p:cNvSpPr>
          <p:nvPr>
            <p:ph type="sldNum" sz="quarter" idx="12"/>
          </p:nvPr>
        </p:nvSpPr>
        <p:spPr>
          <a:xfrm>
            <a:off x="11302677" y="6605018"/>
            <a:ext cx="732162" cy="292032"/>
          </a:xfrm>
        </p:spPr>
        <p:txBody>
          <a:bodyPr/>
          <a:lstStyle/>
          <a:p>
            <a:fld id="{952B6C0E-C4B9-4094-8E59-5B7DF00D5415}" type="slidenum">
              <a:rPr lang="ru-RU" smtClean="0">
                <a:solidFill>
                  <a:schemeClr val="tx1"/>
                </a:solidFill>
              </a:rPr>
              <a:t>29</a:t>
            </a:fld>
            <a:endParaRPr lang="ru-RU">
              <a:solidFill>
                <a:schemeClr val="tx1"/>
              </a:solidFill>
            </a:endParaRPr>
          </a:p>
        </p:txBody>
      </p:sp>
    </p:spTree>
    <p:extLst>
      <p:ext uri="{BB962C8B-B14F-4D97-AF65-F5344CB8AC3E}">
        <p14:creationId xmlns:p14="http://schemas.microsoft.com/office/powerpoint/2010/main" val="51396747"/>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2"/>
            <a:ext cx="11605369"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178768"/>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Что такое статистическое обучение?</a:t>
            </a:r>
          </a:p>
        </p:txBody>
      </p:sp>
      <p:sp>
        <p:nvSpPr>
          <p:cNvPr id="7" name="Объект 2"/>
          <p:cNvSpPr txBox="1">
            <a:spLocks/>
          </p:cNvSpPr>
          <p:nvPr/>
        </p:nvSpPr>
        <p:spPr bwMode="auto">
          <a:xfrm>
            <a:off x="627492" y="4086515"/>
            <a:ext cx="11377264" cy="2912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i="1" dirty="0">
                <a:solidFill>
                  <a:schemeClr val="accent2">
                    <a:lumMod val="50000"/>
                  </a:schemeClr>
                </a:solidFill>
              </a:rPr>
              <a:t>входные переменные </a:t>
            </a:r>
            <a:r>
              <a:rPr lang="ru-RU" sz="2400" dirty="0"/>
              <a:t>—</a:t>
            </a:r>
            <a:r>
              <a:rPr lang="ru-RU" sz="2400" i="1" dirty="0"/>
              <a:t> </a:t>
            </a:r>
            <a:r>
              <a:rPr lang="ru-RU" sz="2400" dirty="0"/>
              <a:t>уровни бюджета на рекламу в разных СМИ, </a:t>
            </a:r>
          </a:p>
          <a:p>
            <a:r>
              <a:rPr lang="en-US" sz="2400" dirty="0"/>
              <a:t>sales </a:t>
            </a:r>
            <a:r>
              <a:rPr lang="ru-RU" sz="2400" dirty="0"/>
              <a:t>— </a:t>
            </a:r>
            <a:r>
              <a:rPr lang="ru-RU" sz="2400" i="1" dirty="0">
                <a:solidFill>
                  <a:schemeClr val="accent2">
                    <a:lumMod val="50000"/>
                  </a:schemeClr>
                </a:solidFill>
              </a:rPr>
              <a:t>выходная переменная</a:t>
            </a:r>
            <a:r>
              <a:rPr lang="ru-RU" sz="2400" i="1" dirty="0"/>
              <a:t>.</a:t>
            </a:r>
            <a:r>
              <a:rPr lang="ru-RU" sz="2400" dirty="0"/>
              <a:t> </a:t>
            </a:r>
          </a:p>
          <a:p>
            <a:pPr marL="0" indent="630243">
              <a:buNone/>
            </a:pPr>
            <a:r>
              <a:rPr lang="ru-RU" sz="2400" i="1" dirty="0"/>
              <a:t>Х</a:t>
            </a:r>
            <a:r>
              <a:rPr lang="ru-RU" sz="2400" i="1" baseline="-25000" dirty="0"/>
              <a:t>1</a:t>
            </a:r>
            <a:r>
              <a:rPr lang="en-US" sz="2400" i="1" dirty="0"/>
              <a:t> </a:t>
            </a:r>
            <a:r>
              <a:rPr lang="ru-RU" sz="2400" dirty="0"/>
              <a:t>обозначает бюджет </a:t>
            </a:r>
            <a:r>
              <a:rPr lang="en-US" sz="2400" dirty="0"/>
              <a:t>TV, </a:t>
            </a:r>
            <a:r>
              <a:rPr lang="ru-RU" sz="2400" i="1" dirty="0"/>
              <a:t>Х</a:t>
            </a:r>
            <a:r>
              <a:rPr lang="ru-RU" sz="2400" i="1" baseline="-25000" dirty="0"/>
              <a:t>2</a:t>
            </a:r>
            <a:r>
              <a:rPr lang="ru-RU" sz="2400" dirty="0"/>
              <a:t> — бюджет </a:t>
            </a:r>
            <a:r>
              <a:rPr lang="en-US" sz="2400" dirty="0"/>
              <a:t>radio, </a:t>
            </a:r>
            <a:r>
              <a:rPr lang="ru-RU" sz="2400" dirty="0"/>
              <a:t>а </a:t>
            </a:r>
            <a:r>
              <a:rPr lang="ru-RU" sz="2400" i="1" dirty="0"/>
              <a:t>Х</a:t>
            </a:r>
            <a:r>
              <a:rPr lang="ru-RU" sz="2400" i="1" baseline="-25000" dirty="0"/>
              <a:t>3</a:t>
            </a:r>
            <a:r>
              <a:rPr lang="ru-RU" sz="2400" dirty="0"/>
              <a:t> — бюджет </a:t>
            </a:r>
            <a:r>
              <a:rPr lang="en-US" sz="2400" dirty="0"/>
              <a:t>newspaper. </a:t>
            </a:r>
            <a:r>
              <a:rPr lang="ru-RU" sz="2400" dirty="0"/>
              <a:t>Входные переменные известны под разными названиями — </a:t>
            </a:r>
            <a:r>
              <a:rPr lang="ru-RU" sz="2400" i="1" dirty="0">
                <a:solidFill>
                  <a:schemeClr val="accent2">
                    <a:lumMod val="50000"/>
                  </a:schemeClr>
                </a:solidFill>
              </a:rPr>
              <a:t>предикторы</a:t>
            </a:r>
            <a:r>
              <a:rPr lang="ru-RU" sz="2400" dirty="0"/>
              <a:t>, </a:t>
            </a:r>
            <a:r>
              <a:rPr lang="ru-RU" sz="2400" i="1" dirty="0">
                <a:solidFill>
                  <a:schemeClr val="accent2">
                    <a:lumMod val="50000"/>
                  </a:schemeClr>
                </a:solidFill>
              </a:rPr>
              <a:t>независимые переменные</a:t>
            </a:r>
            <a:r>
              <a:rPr lang="ru-RU" sz="2400" dirty="0"/>
              <a:t>, </a:t>
            </a:r>
            <a:r>
              <a:rPr lang="ru-RU" sz="2400" i="1" dirty="0">
                <a:solidFill>
                  <a:schemeClr val="accent2">
                    <a:lumMod val="50000"/>
                  </a:schemeClr>
                </a:solidFill>
              </a:rPr>
              <a:t>признаки</a:t>
            </a:r>
            <a:r>
              <a:rPr lang="ru-RU" sz="2400" dirty="0"/>
              <a:t>, или иногда просто </a:t>
            </a:r>
            <a:r>
              <a:rPr lang="ru-RU" sz="2400" i="1" dirty="0">
                <a:solidFill>
                  <a:schemeClr val="accent2">
                    <a:lumMod val="50000"/>
                  </a:schemeClr>
                </a:solidFill>
              </a:rPr>
              <a:t>переменные</a:t>
            </a:r>
            <a:r>
              <a:rPr lang="ru-RU" sz="2400" i="1" dirty="0"/>
              <a:t>.</a:t>
            </a:r>
            <a:r>
              <a:rPr lang="ru-RU" sz="2400" dirty="0"/>
              <a:t> Выходную переменную — в данном случае </a:t>
            </a:r>
            <a:r>
              <a:rPr lang="en-US" sz="2400" dirty="0"/>
              <a:t>sales </a:t>
            </a:r>
            <a:r>
              <a:rPr lang="ru-RU" sz="2400" dirty="0"/>
              <a:t>— часто называют </a:t>
            </a:r>
            <a:r>
              <a:rPr lang="ru-RU" sz="2400" i="1" dirty="0">
                <a:solidFill>
                  <a:schemeClr val="accent2">
                    <a:lumMod val="50000"/>
                  </a:schemeClr>
                </a:solidFill>
              </a:rPr>
              <a:t>откликом</a:t>
            </a:r>
            <a:r>
              <a:rPr lang="ru-RU" sz="2400" dirty="0"/>
              <a:t>, или </a:t>
            </a:r>
            <a:r>
              <a:rPr lang="ru-RU" sz="2400" i="1" dirty="0">
                <a:solidFill>
                  <a:schemeClr val="accent2">
                    <a:lumMod val="50000"/>
                  </a:schemeClr>
                </a:solidFill>
              </a:rPr>
              <a:t>зависимой переменной</a:t>
            </a:r>
            <a:r>
              <a:rPr lang="ru-RU" sz="2400" dirty="0"/>
              <a:t>, и обычно обозначают при помощи символа </a:t>
            </a:r>
            <a:r>
              <a:rPr lang="en-US" sz="2400" i="1" dirty="0"/>
              <a:t>Y</a:t>
            </a:r>
            <a:r>
              <a:rPr lang="ru-RU" sz="2400" i="1" dirty="0"/>
              <a:t>.</a:t>
            </a:r>
            <a:r>
              <a:rPr lang="ru-RU" sz="2400" dirty="0"/>
              <a:t> </a:t>
            </a:r>
          </a:p>
        </p:txBody>
      </p:sp>
      <p:pic>
        <p:nvPicPr>
          <p:cNvPr id="3" name="Рисунок 2"/>
          <p:cNvPicPr>
            <a:picLocks noChangeAspect="1"/>
          </p:cNvPicPr>
          <p:nvPr/>
        </p:nvPicPr>
        <p:blipFill>
          <a:blip r:embed="rId2"/>
          <a:stretch>
            <a:fillRect/>
          </a:stretch>
        </p:blipFill>
        <p:spPr>
          <a:xfrm>
            <a:off x="3237781" y="799235"/>
            <a:ext cx="6048930" cy="2901597"/>
          </a:xfrm>
          <a:prstGeom prst="rect">
            <a:avLst/>
          </a:prstGeom>
        </p:spPr>
      </p:pic>
      <p:sp>
        <p:nvSpPr>
          <p:cNvPr id="4" name="Прямоугольник 3"/>
          <p:cNvSpPr/>
          <p:nvPr/>
        </p:nvSpPr>
        <p:spPr>
          <a:xfrm>
            <a:off x="2013646" y="3659351"/>
            <a:ext cx="8943667" cy="400110"/>
          </a:xfrm>
          <a:prstGeom prst="rect">
            <a:avLst/>
          </a:prstGeom>
        </p:spPr>
        <p:txBody>
          <a:bodyPr wrap="none">
            <a:spAutoFit/>
          </a:bodyPr>
          <a:lstStyle/>
          <a:p>
            <a:r>
              <a:rPr lang="ru-RU" dirty="0"/>
              <a:t>Рис.1. Набор данных </a:t>
            </a:r>
            <a:r>
              <a:rPr lang="en-US" i="1" dirty="0">
                <a:solidFill>
                  <a:schemeClr val="accent2">
                    <a:lumMod val="50000"/>
                  </a:schemeClr>
                </a:solidFill>
              </a:rPr>
              <a:t>Advertising</a:t>
            </a:r>
            <a:r>
              <a:rPr lang="en-US" dirty="0"/>
              <a:t> </a:t>
            </a:r>
            <a:r>
              <a:rPr lang="ru-RU" dirty="0"/>
              <a:t>включает сведения по продажам </a:t>
            </a:r>
            <a:r>
              <a:rPr lang="en-US" dirty="0"/>
              <a:t>(</a:t>
            </a:r>
            <a:r>
              <a:rPr lang="en-US" i="1" dirty="0">
                <a:solidFill>
                  <a:schemeClr val="accent2">
                    <a:lumMod val="50000"/>
                  </a:schemeClr>
                </a:solidFill>
              </a:rPr>
              <a:t>sales</a:t>
            </a:r>
            <a:r>
              <a:rPr lang="en-US" dirty="0"/>
              <a:t>) </a:t>
            </a:r>
            <a:endParaRPr lang="ru-RU" dirty="0"/>
          </a:p>
        </p:txBody>
      </p:sp>
      <p:sp>
        <p:nvSpPr>
          <p:cNvPr id="2" name="Номер слайда 1">
            <a:extLst>
              <a:ext uri="{FF2B5EF4-FFF2-40B4-BE49-F238E27FC236}">
                <a16:creationId xmlns:a16="http://schemas.microsoft.com/office/drawing/2014/main" id="{1F39D50C-5FCA-47BE-84DD-AA4EAD92738B}"/>
              </a:ext>
            </a:extLst>
          </p:cNvPr>
          <p:cNvSpPr>
            <a:spLocks noGrp="1"/>
          </p:cNvSpPr>
          <p:nvPr>
            <p:ph type="sldNum" sz="quarter" idx="12"/>
          </p:nvPr>
        </p:nvSpPr>
        <p:spPr>
          <a:xfrm>
            <a:off x="11518701" y="6605017"/>
            <a:ext cx="516138" cy="379409"/>
          </a:xfrm>
        </p:spPr>
        <p:txBody>
          <a:bodyPr/>
          <a:lstStyle/>
          <a:p>
            <a:fld id="{952B6C0E-C4B9-4094-8E59-5B7DF00D5415}" type="slidenum">
              <a:rPr lang="ru-RU" smtClean="0">
                <a:solidFill>
                  <a:schemeClr val="tx1"/>
                </a:solidFill>
              </a:rPr>
              <a:t>30</a:t>
            </a:fld>
            <a:endParaRPr lang="ru-RU" dirty="0">
              <a:solidFill>
                <a:schemeClr val="tx1"/>
              </a:solidFill>
            </a:endParaRPr>
          </a:p>
        </p:txBody>
      </p:sp>
      <p:sp>
        <p:nvSpPr>
          <p:cNvPr id="5" name="Прямоугольник 4">
            <a:extLst>
              <a:ext uri="{FF2B5EF4-FFF2-40B4-BE49-F238E27FC236}">
                <a16:creationId xmlns:a16="http://schemas.microsoft.com/office/drawing/2014/main" id="{D7593B93-133F-4423-8B3D-51B7E510CE30}"/>
              </a:ext>
            </a:extLst>
          </p:cNvPr>
          <p:cNvSpPr/>
          <p:nvPr/>
        </p:nvSpPr>
        <p:spPr>
          <a:xfrm>
            <a:off x="3741837" y="2267000"/>
            <a:ext cx="288032" cy="720080"/>
          </a:xfrm>
          <a:prstGeom prst="rect">
            <a:avLst/>
          </a:prstGeom>
          <a:noFill/>
          <a:ln>
            <a:solidFill>
              <a:srgbClr val="FF33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9E51A4CB-28DB-41E4-9F6B-7E605DDCDF8A}"/>
              </a:ext>
            </a:extLst>
          </p:cNvPr>
          <p:cNvSpPr/>
          <p:nvPr/>
        </p:nvSpPr>
        <p:spPr>
          <a:xfrm>
            <a:off x="7774285" y="1865432"/>
            <a:ext cx="648072" cy="1134228"/>
          </a:xfrm>
          <a:prstGeom prst="rect">
            <a:avLst/>
          </a:prstGeom>
          <a:noFill/>
          <a:ln>
            <a:solidFill>
              <a:srgbClr val="FF33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7835160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429469" y="322263"/>
            <a:ext cx="11953327"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Что такое статистическое обучение?</a:t>
            </a:r>
          </a:p>
        </p:txBody>
      </p:sp>
      <p:sp>
        <p:nvSpPr>
          <p:cNvPr id="7" name="Объект 2"/>
          <p:cNvSpPr txBox="1">
            <a:spLocks/>
          </p:cNvSpPr>
          <p:nvPr/>
        </p:nvSpPr>
        <p:spPr bwMode="auto">
          <a:xfrm>
            <a:off x="633413" y="1552507"/>
            <a:ext cx="11401426" cy="45309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В качестве более общего случая представьте, что мы наблюдаем некоторый количественный отклик </a:t>
            </a:r>
            <a:r>
              <a:rPr lang="en-US" sz="2400" i="1" dirty="0"/>
              <a:t>Y</a:t>
            </a:r>
            <a:r>
              <a:rPr lang="en-US" sz="2400" dirty="0"/>
              <a:t> </a:t>
            </a:r>
            <a:r>
              <a:rPr lang="ru-RU" sz="2400" dirty="0"/>
              <a:t> для </a:t>
            </a:r>
            <a:r>
              <a:rPr lang="ru-RU" sz="2400" i="1" dirty="0"/>
              <a:t>р</a:t>
            </a:r>
            <a:r>
              <a:rPr lang="ru-RU" sz="2400" dirty="0"/>
              <a:t> отдельных предикторов </a:t>
            </a:r>
            <a:r>
              <a:rPr lang="en-US" sz="2400" dirty="0"/>
              <a:t>X</a:t>
            </a:r>
            <a:r>
              <a:rPr lang="ru-RU" sz="2400" baseline="-25000" dirty="0"/>
              <a:t>1</a:t>
            </a:r>
            <a:r>
              <a:rPr lang="en-US" sz="2400" dirty="0"/>
              <a:t>,X</a:t>
            </a:r>
            <a:r>
              <a:rPr lang="en-US" sz="2400" baseline="-25000" dirty="0"/>
              <a:t>2</a:t>
            </a:r>
            <a:r>
              <a:rPr lang="en-US" sz="2400" dirty="0"/>
              <a:t>,</a:t>
            </a:r>
            <a:r>
              <a:rPr lang="ru-RU" sz="2400" dirty="0"/>
              <a:t>... </a:t>
            </a:r>
            <a:r>
              <a:rPr lang="ru-RU" sz="2400" i="1" dirty="0"/>
              <a:t>Х</a:t>
            </a:r>
            <a:r>
              <a:rPr lang="ru-RU" sz="2400" i="1" baseline="-25000" dirty="0"/>
              <a:t>р</a:t>
            </a:r>
            <a:r>
              <a:rPr lang="ru-RU" sz="2400" i="1" dirty="0"/>
              <a:t>.</a:t>
            </a:r>
            <a:r>
              <a:rPr lang="ru-RU" sz="2400" dirty="0"/>
              <a:t> </a:t>
            </a:r>
          </a:p>
          <a:p>
            <a:r>
              <a:rPr lang="ru-RU" sz="2400" dirty="0"/>
              <a:t>Мы делаем предположение о том, что существует определенная связь между </a:t>
            </a:r>
            <a:r>
              <a:rPr lang="en-US" sz="2400" i="1" dirty="0"/>
              <a:t>Y</a:t>
            </a:r>
            <a:r>
              <a:rPr lang="en-US" sz="2400" dirty="0"/>
              <a:t> </a:t>
            </a:r>
            <a:r>
              <a:rPr lang="ru-RU" sz="2400" dirty="0"/>
              <a:t>и </a:t>
            </a:r>
            <a:r>
              <a:rPr lang="ru-RU" sz="2400" i="1" dirty="0"/>
              <a:t>X = {</a:t>
            </a:r>
            <a:r>
              <a:rPr lang="en-US" sz="2400" dirty="0"/>
              <a:t>X</a:t>
            </a:r>
            <a:r>
              <a:rPr lang="ru-RU" sz="2400" baseline="-25000" dirty="0"/>
              <a:t>1</a:t>
            </a:r>
            <a:r>
              <a:rPr lang="en-US" sz="2400" dirty="0"/>
              <a:t>,X</a:t>
            </a:r>
            <a:r>
              <a:rPr lang="en-US" sz="2400" baseline="-25000" dirty="0"/>
              <a:t>2</a:t>
            </a:r>
            <a:r>
              <a:rPr lang="en-US" sz="2400" dirty="0"/>
              <a:t>,</a:t>
            </a:r>
            <a:r>
              <a:rPr lang="ru-RU" sz="2400" dirty="0"/>
              <a:t>... </a:t>
            </a:r>
            <a:r>
              <a:rPr lang="ru-RU" sz="2400" i="1" dirty="0" err="1"/>
              <a:t>Х</a:t>
            </a:r>
            <a:r>
              <a:rPr lang="ru-RU" sz="2400" i="1" baseline="-25000" dirty="0" err="1"/>
              <a:t>р</a:t>
            </a:r>
            <a:r>
              <a:rPr lang="en-US" sz="2400" i="1" dirty="0"/>
              <a:t>}</a:t>
            </a:r>
            <a:r>
              <a:rPr lang="ru-RU" sz="2400" dirty="0"/>
              <a:t>, которую в очень общей форме можно записать как</a:t>
            </a:r>
            <a:endParaRPr lang="en-US" sz="2400" dirty="0"/>
          </a:p>
          <a:p>
            <a:pPr marL="0" indent="0" algn="ctr">
              <a:buNone/>
            </a:pPr>
            <a:r>
              <a:rPr lang="en-US" sz="2400" dirty="0"/>
              <a:t>	</a:t>
            </a:r>
            <a:r>
              <a:rPr lang="en-US" sz="2400" i="1" dirty="0"/>
              <a:t>Y=f(X)+</a:t>
            </a:r>
            <a:r>
              <a:rPr lang="el-GR" sz="2400" i="1" dirty="0"/>
              <a:t>ε</a:t>
            </a:r>
            <a:r>
              <a:rPr lang="en-US" sz="2400" i="1" dirty="0"/>
              <a:t>                    </a:t>
            </a:r>
            <a:r>
              <a:rPr lang="en-US" sz="2400" dirty="0"/>
              <a:t>(1)                         </a:t>
            </a:r>
          </a:p>
          <a:p>
            <a:pPr marL="0" indent="0" algn="ctr">
              <a:buNone/>
            </a:pPr>
            <a:endParaRPr lang="en-US" sz="2400" dirty="0"/>
          </a:p>
          <a:p>
            <a:r>
              <a:rPr lang="ru-RU" sz="2400" dirty="0"/>
              <a:t>Здесь </a:t>
            </a:r>
            <a:r>
              <a:rPr lang="en-US" sz="2400" i="1" dirty="0"/>
              <a:t>f</a:t>
            </a:r>
            <a:r>
              <a:rPr lang="ru-RU" sz="2400" i="1" dirty="0"/>
              <a:t> </a:t>
            </a:r>
            <a:r>
              <a:rPr lang="ru-RU" sz="2400" dirty="0"/>
              <a:t>— это некоторая фиксированная, но не известная функция от </a:t>
            </a:r>
            <a:r>
              <a:rPr lang="en-US" sz="2400" dirty="0"/>
              <a:t>X</a:t>
            </a:r>
            <a:r>
              <a:rPr lang="ru-RU" sz="2400" baseline="-25000" dirty="0"/>
              <a:t>1</a:t>
            </a:r>
            <a:r>
              <a:rPr lang="en-US" sz="2400" dirty="0"/>
              <a:t>,X</a:t>
            </a:r>
            <a:r>
              <a:rPr lang="en-US" sz="2400" baseline="-25000" dirty="0"/>
              <a:t>2</a:t>
            </a:r>
            <a:r>
              <a:rPr lang="en-US" sz="2400" dirty="0"/>
              <a:t>,</a:t>
            </a:r>
            <a:r>
              <a:rPr lang="ru-RU" sz="2400" dirty="0"/>
              <a:t>... </a:t>
            </a:r>
            <a:r>
              <a:rPr lang="ru-RU" sz="2400" i="1" dirty="0" err="1"/>
              <a:t>Х</a:t>
            </a:r>
            <a:r>
              <a:rPr lang="ru-RU" sz="2400" i="1" baseline="-25000" dirty="0" err="1"/>
              <a:t>р</a:t>
            </a:r>
            <a:r>
              <a:rPr lang="ru-RU" sz="2400" i="1" dirty="0"/>
              <a:t>,</a:t>
            </a:r>
            <a:r>
              <a:rPr lang="ru-RU" sz="2400" dirty="0"/>
              <a:t> </a:t>
            </a:r>
            <a:r>
              <a:rPr lang="en-US" sz="2400" dirty="0"/>
              <a:t>     </a:t>
            </a:r>
            <a:r>
              <a:rPr lang="ru-RU" sz="2400" dirty="0"/>
              <a:t>а </a:t>
            </a:r>
            <a:r>
              <a:rPr lang="el-GR" sz="2400" b="1" i="1" dirty="0"/>
              <a:t>ε</a:t>
            </a:r>
            <a:r>
              <a:rPr lang="ru-RU" sz="2400" b="1" i="1" dirty="0"/>
              <a:t> </a:t>
            </a:r>
            <a:r>
              <a:rPr lang="ru-RU" sz="2400" dirty="0"/>
              <a:t>— </a:t>
            </a:r>
            <a:r>
              <a:rPr lang="ru-RU" sz="2400" i="1" dirty="0"/>
              <a:t>ошибка</a:t>
            </a:r>
            <a:r>
              <a:rPr lang="ru-RU" sz="2400" dirty="0"/>
              <a:t>, которая не зависит от </a:t>
            </a:r>
            <a:r>
              <a:rPr lang="ru-RU" sz="2400" b="1" i="1" dirty="0"/>
              <a:t>X</a:t>
            </a:r>
            <a:r>
              <a:rPr lang="ru-RU" sz="2400" dirty="0"/>
              <a:t> и имеет нулевое среднее значение. </a:t>
            </a:r>
            <a:endParaRPr lang="en-US" sz="2400" dirty="0"/>
          </a:p>
          <a:p>
            <a:r>
              <a:rPr lang="ru-RU" sz="2400" dirty="0"/>
              <a:t>В таком представлении </a:t>
            </a:r>
            <a:r>
              <a:rPr lang="en-US" sz="2400" i="1" dirty="0"/>
              <a:t>f</a:t>
            </a:r>
            <a:r>
              <a:rPr lang="ru-RU" sz="2400" dirty="0"/>
              <a:t> выражает </a:t>
            </a:r>
            <a:r>
              <a:rPr lang="ru-RU" sz="2400" i="1" dirty="0"/>
              <a:t>систематическую</a:t>
            </a:r>
            <a:r>
              <a:rPr lang="ru-RU" sz="2400" dirty="0"/>
              <a:t> информацию о </a:t>
            </a:r>
            <a:r>
              <a:rPr lang="en-US" sz="2400" b="1" i="1" dirty="0"/>
              <a:t>Y</a:t>
            </a:r>
            <a:r>
              <a:rPr lang="en-US" sz="2400" i="1" dirty="0"/>
              <a:t>,</a:t>
            </a:r>
            <a:r>
              <a:rPr lang="en-US" sz="2400" dirty="0"/>
              <a:t> </a:t>
            </a:r>
            <a:r>
              <a:rPr lang="ru-RU" sz="2400" dirty="0"/>
              <a:t>содержащуюся в </a:t>
            </a:r>
            <a:r>
              <a:rPr lang="en-US" sz="2400" b="1" i="1" dirty="0"/>
              <a:t>X</a:t>
            </a:r>
            <a:r>
              <a:rPr lang="en-US" sz="2400" i="1" dirty="0"/>
              <a:t>.</a:t>
            </a:r>
          </a:p>
          <a:p>
            <a:r>
              <a:rPr lang="ru-RU" sz="2400" b="1" i="1" dirty="0">
                <a:solidFill>
                  <a:schemeClr val="accent2">
                    <a:lumMod val="50000"/>
                  </a:schemeClr>
                </a:solidFill>
              </a:rPr>
              <a:t>Формула (1) является наиболее общим видом модели статистического обучения.</a:t>
            </a:r>
            <a:endParaRPr lang="en-US" sz="2400" b="1" dirty="0">
              <a:solidFill>
                <a:schemeClr val="accent2">
                  <a:lumMod val="50000"/>
                </a:schemeClr>
              </a:solidFill>
            </a:endParaRPr>
          </a:p>
          <a:p>
            <a:pPr marL="0" indent="0">
              <a:buNone/>
            </a:pPr>
            <a:endParaRPr lang="ru-RU" sz="2400" dirty="0"/>
          </a:p>
        </p:txBody>
      </p:sp>
      <p:sp>
        <p:nvSpPr>
          <p:cNvPr id="3" name="Прямоугольник 2"/>
          <p:cNvSpPr/>
          <p:nvPr/>
        </p:nvSpPr>
        <p:spPr>
          <a:xfrm>
            <a:off x="2589710" y="1198563"/>
            <a:ext cx="7488832" cy="400110"/>
          </a:xfrm>
          <a:prstGeom prst="rect">
            <a:avLst/>
          </a:prstGeom>
        </p:spPr>
        <p:txBody>
          <a:bodyPr wrap="square">
            <a:spAutoFit/>
          </a:bodyPr>
          <a:lstStyle/>
          <a:p>
            <a:pPr algn="ctr"/>
            <a:r>
              <a:rPr lang="ru-RU" b="1" i="1" dirty="0">
                <a:solidFill>
                  <a:schemeClr val="accent2">
                    <a:lumMod val="50000"/>
                  </a:schemeClr>
                </a:solidFill>
              </a:rPr>
              <a:t>Общий вид модели статистического обучения</a:t>
            </a:r>
            <a:endParaRPr lang="ru-RU" dirty="0"/>
          </a:p>
        </p:txBody>
      </p:sp>
      <p:sp>
        <p:nvSpPr>
          <p:cNvPr id="2" name="Номер слайда 1">
            <a:extLst>
              <a:ext uri="{FF2B5EF4-FFF2-40B4-BE49-F238E27FC236}">
                <a16:creationId xmlns:a16="http://schemas.microsoft.com/office/drawing/2014/main" id="{B990BFFF-C1B5-44D6-B81B-D781935304A3}"/>
              </a:ext>
            </a:extLst>
          </p:cNvPr>
          <p:cNvSpPr>
            <a:spLocks noGrp="1"/>
          </p:cNvSpPr>
          <p:nvPr>
            <p:ph type="sldNum" sz="quarter" idx="12"/>
          </p:nvPr>
        </p:nvSpPr>
        <p:spPr>
          <a:xfrm>
            <a:off x="11302677" y="6605017"/>
            <a:ext cx="732162" cy="379409"/>
          </a:xfrm>
        </p:spPr>
        <p:txBody>
          <a:bodyPr/>
          <a:lstStyle/>
          <a:p>
            <a:fld id="{952B6C0E-C4B9-4094-8E59-5B7DF00D5415}" type="slidenum">
              <a:rPr lang="ru-RU" smtClean="0">
                <a:solidFill>
                  <a:schemeClr val="tx1"/>
                </a:solidFill>
              </a:rPr>
              <a:t>31</a:t>
            </a:fld>
            <a:endParaRPr lang="ru-RU" dirty="0">
              <a:solidFill>
                <a:schemeClr val="tx1"/>
              </a:solidFill>
            </a:endParaRPr>
          </a:p>
        </p:txBody>
      </p:sp>
    </p:spTree>
    <p:extLst>
      <p:ext uri="{BB962C8B-B14F-4D97-AF65-F5344CB8AC3E}">
        <p14:creationId xmlns:p14="http://schemas.microsoft.com/office/powerpoint/2010/main" val="332924332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60574"/>
            <a:ext cx="11605370" cy="6514939"/>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Что такое статистическое обучение?</a:t>
            </a:r>
          </a:p>
        </p:txBody>
      </p:sp>
      <p:sp>
        <p:nvSpPr>
          <p:cNvPr id="2" name="Прямоугольник 1"/>
          <p:cNvSpPr/>
          <p:nvPr/>
        </p:nvSpPr>
        <p:spPr>
          <a:xfrm>
            <a:off x="861517" y="1049809"/>
            <a:ext cx="11173321" cy="560282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73066" indent="-373066" defTabSz="993783">
              <a:spcBef>
                <a:spcPct val="20000"/>
              </a:spcBef>
              <a:buChar char="•"/>
            </a:pPr>
            <a:r>
              <a:rPr lang="ru-RU" sz="2200" dirty="0">
                <a:latin typeface="+mn-lt"/>
                <a:cs typeface="+mn-cs"/>
              </a:rPr>
              <a:t>В качестве другого примера рассмотрим данные для 30 человек из таблицы</a:t>
            </a:r>
            <a:r>
              <a:rPr lang="ru-RU" sz="2200" i="1" dirty="0">
                <a:solidFill>
                  <a:schemeClr val="accent2">
                    <a:lumMod val="50000"/>
                  </a:schemeClr>
                </a:solidFill>
                <a:latin typeface="+mn-lt"/>
                <a:cs typeface="+mn-cs"/>
              </a:rPr>
              <a:t> </a:t>
            </a:r>
            <a:r>
              <a:rPr lang="en-US" sz="2200" i="1" dirty="0">
                <a:solidFill>
                  <a:schemeClr val="accent2">
                    <a:lumMod val="50000"/>
                  </a:schemeClr>
                </a:solidFill>
                <a:latin typeface="+mn-lt"/>
                <a:cs typeface="+mn-cs"/>
              </a:rPr>
              <a:t>Income</a:t>
            </a:r>
            <a:r>
              <a:rPr lang="en-US" sz="2200" dirty="0">
                <a:latin typeface="+mn-lt"/>
                <a:cs typeface="+mn-cs"/>
              </a:rPr>
              <a:t>, </a:t>
            </a:r>
            <a:r>
              <a:rPr lang="ru-RU" sz="2200" dirty="0">
                <a:latin typeface="+mn-lt"/>
                <a:cs typeface="+mn-cs"/>
              </a:rPr>
              <a:t>отражающие зависимость дохода </a:t>
            </a:r>
            <a:r>
              <a:rPr lang="en-US" sz="2200" dirty="0">
                <a:latin typeface="+mn-lt"/>
                <a:cs typeface="+mn-cs"/>
              </a:rPr>
              <a:t>(</a:t>
            </a:r>
            <a:r>
              <a:rPr lang="en-US" sz="2200" i="1" dirty="0">
                <a:solidFill>
                  <a:schemeClr val="accent2">
                    <a:lumMod val="50000"/>
                  </a:schemeClr>
                </a:solidFill>
                <a:latin typeface="+mn-lt"/>
                <a:cs typeface="+mn-cs"/>
              </a:rPr>
              <a:t>income</a:t>
            </a:r>
            <a:r>
              <a:rPr lang="en-US" sz="2200" dirty="0">
                <a:latin typeface="+mn-lt"/>
                <a:cs typeface="+mn-cs"/>
              </a:rPr>
              <a:t>) </a:t>
            </a:r>
            <a:r>
              <a:rPr lang="ru-RU" sz="2200" dirty="0">
                <a:latin typeface="+mn-lt"/>
                <a:cs typeface="+mn-cs"/>
              </a:rPr>
              <a:t>от количества лет, затраченных этими людьми на образование </a:t>
            </a:r>
            <a:r>
              <a:rPr lang="en-US" sz="2200" dirty="0">
                <a:latin typeface="+mn-lt"/>
                <a:cs typeface="+mn-cs"/>
              </a:rPr>
              <a:t>(</a:t>
            </a:r>
            <a:r>
              <a:rPr lang="en-US" sz="2200" i="1" dirty="0">
                <a:solidFill>
                  <a:schemeClr val="accent2">
                    <a:lumMod val="50000"/>
                  </a:schemeClr>
                </a:solidFill>
                <a:latin typeface="+mn-lt"/>
                <a:cs typeface="+mn-cs"/>
              </a:rPr>
              <a:t>years</a:t>
            </a:r>
            <a:r>
              <a:rPr lang="en-US" sz="2200" dirty="0">
                <a:latin typeface="+mn-lt"/>
                <a:cs typeface="+mn-cs"/>
              </a:rPr>
              <a:t> </a:t>
            </a:r>
            <a:r>
              <a:rPr lang="en-US" sz="2200" i="1" dirty="0">
                <a:solidFill>
                  <a:schemeClr val="accent2">
                    <a:lumMod val="50000"/>
                  </a:schemeClr>
                </a:solidFill>
                <a:latin typeface="+mn-lt"/>
                <a:cs typeface="+mn-cs"/>
              </a:rPr>
              <a:t>of education</a:t>
            </a:r>
            <a:r>
              <a:rPr lang="en-US" sz="2200" dirty="0">
                <a:latin typeface="+mn-lt"/>
                <a:cs typeface="+mn-cs"/>
              </a:rPr>
              <a:t>;</a:t>
            </a:r>
            <a:r>
              <a:rPr lang="ru-RU" sz="2200" dirty="0">
                <a:latin typeface="+mn-lt"/>
                <a:cs typeface="+mn-cs"/>
              </a:rPr>
              <a:t> рис. 2). </a:t>
            </a: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endParaRPr lang="ru-RU" sz="2200" dirty="0">
              <a:latin typeface="+mn-lt"/>
              <a:cs typeface="+mn-cs"/>
            </a:endParaRPr>
          </a:p>
          <a:p>
            <a:pPr marL="373066" indent="-373066" defTabSz="993783">
              <a:spcBef>
                <a:spcPct val="20000"/>
              </a:spcBef>
              <a:buChar char="•"/>
            </a:pPr>
            <a:r>
              <a:rPr lang="ru-RU" sz="2200" dirty="0">
                <a:latin typeface="+mn-lt"/>
                <a:cs typeface="+mn-cs"/>
              </a:rPr>
              <a:t>График предполагает, что мы могли бы предсказать доход на основе длительности обучения. Однако функция, связывающая входную переменную с выходной переменной, в общем случае неизвестна. В такой ситуации мы должны оценить </a:t>
            </a:r>
            <a:r>
              <a:rPr lang="en-US" sz="2200" i="1" dirty="0">
                <a:latin typeface="+mn-lt"/>
                <a:cs typeface="+mn-cs"/>
              </a:rPr>
              <a:t>f</a:t>
            </a:r>
            <a:r>
              <a:rPr lang="ru-RU" sz="2200" dirty="0">
                <a:latin typeface="+mn-lt"/>
                <a:cs typeface="+mn-cs"/>
              </a:rPr>
              <a:t> на основе имеющихся наблюдений. Поскольку таблица </a:t>
            </a:r>
            <a:r>
              <a:rPr lang="en-US" sz="2200" i="1" dirty="0">
                <a:solidFill>
                  <a:schemeClr val="accent2">
                    <a:lumMod val="50000"/>
                  </a:schemeClr>
                </a:solidFill>
                <a:latin typeface="+mn-lt"/>
                <a:cs typeface="+mn-cs"/>
              </a:rPr>
              <a:t>Income</a:t>
            </a:r>
            <a:r>
              <a:rPr lang="en-US" sz="2200" dirty="0">
                <a:latin typeface="+mn-lt"/>
                <a:cs typeface="+mn-cs"/>
              </a:rPr>
              <a:t> </a:t>
            </a:r>
            <a:r>
              <a:rPr lang="ru-RU" sz="2200" dirty="0">
                <a:latin typeface="+mn-lt"/>
                <a:cs typeface="+mn-cs"/>
              </a:rPr>
              <a:t>содержит имитированные данные, то </a:t>
            </a:r>
            <a:r>
              <a:rPr lang="en-US" sz="2200" dirty="0">
                <a:latin typeface="+mn-lt"/>
                <a:cs typeface="+mn-cs"/>
              </a:rPr>
              <a:t>f</a:t>
            </a:r>
            <a:r>
              <a:rPr lang="ru-RU" sz="2200" dirty="0">
                <a:latin typeface="+mn-lt"/>
                <a:cs typeface="+mn-cs"/>
              </a:rPr>
              <a:t> известна и показана на рис. 2 в виде кривой синего цвета. Вертикальные отрезки соответствуют ошибкам </a:t>
            </a:r>
            <a:r>
              <a:rPr lang="el-GR" sz="2200" dirty="0"/>
              <a:t>ε</a:t>
            </a:r>
            <a:r>
              <a:rPr lang="ru-RU" sz="2200" dirty="0">
                <a:latin typeface="+mn-lt"/>
                <a:cs typeface="+mn-cs"/>
              </a:rPr>
              <a:t>. </a:t>
            </a:r>
          </a:p>
        </p:txBody>
      </p:sp>
      <p:pic>
        <p:nvPicPr>
          <p:cNvPr id="3" name="Рисунок 2"/>
          <p:cNvPicPr>
            <a:picLocks noChangeAspect="1"/>
          </p:cNvPicPr>
          <p:nvPr/>
        </p:nvPicPr>
        <p:blipFill>
          <a:blip r:embed="rId2"/>
          <a:stretch>
            <a:fillRect/>
          </a:stretch>
        </p:blipFill>
        <p:spPr>
          <a:xfrm>
            <a:off x="4688261" y="2122986"/>
            <a:ext cx="4480917" cy="2527299"/>
          </a:xfrm>
          <a:prstGeom prst="rect">
            <a:avLst/>
          </a:prstGeom>
        </p:spPr>
      </p:pic>
      <p:sp>
        <p:nvSpPr>
          <p:cNvPr id="9" name="Прямоугольник 8"/>
          <p:cNvSpPr/>
          <p:nvPr/>
        </p:nvSpPr>
        <p:spPr>
          <a:xfrm>
            <a:off x="2663066" y="3980379"/>
            <a:ext cx="1911142" cy="646331"/>
          </a:xfrm>
          <a:prstGeom prst="rect">
            <a:avLst/>
          </a:prstGeom>
        </p:spPr>
        <p:txBody>
          <a:bodyPr wrap="square">
            <a:spAutoFit/>
          </a:bodyPr>
          <a:lstStyle/>
          <a:p>
            <a:r>
              <a:rPr lang="ru-RU" sz="1800" i="1" dirty="0"/>
              <a:t>Рис.2. Набор данных </a:t>
            </a:r>
            <a:r>
              <a:rPr lang="en-US" sz="1800" b="1" i="1" dirty="0">
                <a:solidFill>
                  <a:schemeClr val="accent2">
                    <a:lumMod val="50000"/>
                  </a:schemeClr>
                </a:solidFill>
              </a:rPr>
              <a:t>Income</a:t>
            </a:r>
            <a:endParaRPr lang="ru-RU" sz="1800" i="1" dirty="0"/>
          </a:p>
        </p:txBody>
      </p:sp>
      <p:sp>
        <p:nvSpPr>
          <p:cNvPr id="4" name="Номер слайда 3">
            <a:extLst>
              <a:ext uri="{FF2B5EF4-FFF2-40B4-BE49-F238E27FC236}">
                <a16:creationId xmlns:a16="http://schemas.microsoft.com/office/drawing/2014/main" id="{37381416-D79E-45B2-9FCF-26B0ECFE1597}"/>
              </a:ext>
            </a:extLst>
          </p:cNvPr>
          <p:cNvSpPr>
            <a:spLocks noGrp="1"/>
          </p:cNvSpPr>
          <p:nvPr>
            <p:ph type="sldNum" sz="quarter" idx="12"/>
          </p:nvPr>
        </p:nvSpPr>
        <p:spPr>
          <a:xfrm>
            <a:off x="11374685" y="6605018"/>
            <a:ext cx="660154" cy="270496"/>
          </a:xfrm>
        </p:spPr>
        <p:txBody>
          <a:bodyPr/>
          <a:lstStyle/>
          <a:p>
            <a:fld id="{952B6C0E-C4B9-4094-8E59-5B7DF00D5415}" type="slidenum">
              <a:rPr lang="ru-RU" smtClean="0">
                <a:solidFill>
                  <a:schemeClr val="tx1"/>
                </a:solidFill>
              </a:rPr>
              <a:t>32</a:t>
            </a:fld>
            <a:endParaRPr lang="ru-RU">
              <a:solidFill>
                <a:schemeClr val="tx1"/>
              </a:solidFill>
            </a:endParaRPr>
          </a:p>
        </p:txBody>
      </p:sp>
    </p:spTree>
    <p:extLst>
      <p:ext uri="{BB962C8B-B14F-4D97-AF65-F5344CB8AC3E}">
        <p14:creationId xmlns:p14="http://schemas.microsoft.com/office/powerpoint/2010/main" val="69224642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322263"/>
            <a:ext cx="10872513"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Что такое статистическое обучение?</a:t>
            </a:r>
          </a:p>
        </p:txBody>
      </p:sp>
      <p:sp>
        <p:nvSpPr>
          <p:cNvPr id="2" name="Прямоугольник 1"/>
          <p:cNvSpPr/>
          <p:nvPr/>
        </p:nvSpPr>
        <p:spPr>
          <a:xfrm>
            <a:off x="861518" y="1258889"/>
            <a:ext cx="11449270" cy="511256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73066" indent="-373066" defTabSz="993783">
              <a:spcBef>
                <a:spcPct val="20000"/>
              </a:spcBef>
              <a:buChar char="•"/>
            </a:pPr>
            <a:r>
              <a:rPr lang="ru-RU" sz="2200" dirty="0">
                <a:latin typeface="+mn-lt"/>
                <a:cs typeface="+mn-cs"/>
              </a:rPr>
              <a:t>Заметим, что некоторые из 30 наблюдений лежат выше голубой линии, а некоторые — ниже, но в целом </a:t>
            </a:r>
            <a:r>
              <a:rPr lang="ru-RU" sz="2200" b="1" i="1" dirty="0">
                <a:solidFill>
                  <a:schemeClr val="accent2">
                    <a:lumMod val="50000"/>
                  </a:schemeClr>
                </a:solidFill>
                <a:latin typeface="+mn-lt"/>
                <a:cs typeface="+mn-cs"/>
              </a:rPr>
              <a:t>среднее значение ошибок примерно равно нулю.</a:t>
            </a:r>
          </a:p>
          <a:p>
            <a:pPr marL="373066" indent="-373066" defTabSz="993783">
              <a:spcBef>
                <a:spcPct val="20000"/>
              </a:spcBef>
              <a:buChar char="•"/>
            </a:pPr>
            <a:r>
              <a:rPr lang="ru-RU" sz="2200" dirty="0">
                <a:latin typeface="+mn-lt"/>
                <a:cs typeface="+mn-cs"/>
              </a:rPr>
              <a:t>В общем случае функция </a:t>
            </a:r>
            <a:r>
              <a:rPr lang="en-US" sz="2200" b="1" i="1" dirty="0">
                <a:latin typeface="+mn-lt"/>
                <a:cs typeface="+mn-cs"/>
              </a:rPr>
              <a:t>f</a:t>
            </a:r>
            <a:r>
              <a:rPr lang="ru-RU" sz="2200" dirty="0">
                <a:latin typeface="+mn-lt"/>
                <a:cs typeface="+mn-cs"/>
              </a:rPr>
              <a:t> может включать более одной входной переменной. На рис. 3  </a:t>
            </a:r>
            <a:r>
              <a:rPr lang="en-US" sz="2200" i="1" dirty="0">
                <a:solidFill>
                  <a:schemeClr val="accent2">
                    <a:lumMod val="50000"/>
                  </a:schemeClr>
                </a:solidFill>
                <a:latin typeface="+mn-lt"/>
                <a:cs typeface="+mn-cs"/>
              </a:rPr>
              <a:t>income</a:t>
            </a:r>
            <a:r>
              <a:rPr lang="en-US" sz="2200" dirty="0">
                <a:latin typeface="+mn-lt"/>
                <a:cs typeface="+mn-cs"/>
              </a:rPr>
              <a:t> </a:t>
            </a:r>
            <a:r>
              <a:rPr lang="ru-RU" sz="2200" dirty="0">
                <a:latin typeface="+mn-lt"/>
                <a:cs typeface="+mn-cs"/>
              </a:rPr>
              <a:t> -  функция от длительности обучения и стажа </a:t>
            </a:r>
            <a:r>
              <a:rPr lang="en-US" sz="2200" dirty="0">
                <a:latin typeface="+mn-lt"/>
                <a:cs typeface="+mn-cs"/>
              </a:rPr>
              <a:t>(</a:t>
            </a:r>
            <a:r>
              <a:rPr lang="en-US" sz="2200" i="1" dirty="0">
                <a:solidFill>
                  <a:schemeClr val="accent2">
                    <a:lumMod val="50000"/>
                  </a:schemeClr>
                </a:solidFill>
                <a:latin typeface="+mn-lt"/>
                <a:cs typeface="+mn-cs"/>
              </a:rPr>
              <a:t>seniority</a:t>
            </a:r>
            <a:r>
              <a:rPr lang="en-US" sz="2200" dirty="0">
                <a:latin typeface="+mn-lt"/>
                <a:cs typeface="+mn-cs"/>
              </a:rPr>
              <a:t>). </a:t>
            </a:r>
            <a:r>
              <a:rPr lang="ru-RU" sz="2200" dirty="0">
                <a:latin typeface="+mn-lt"/>
                <a:cs typeface="+mn-cs"/>
              </a:rPr>
              <a:t>Здесь </a:t>
            </a:r>
            <a:r>
              <a:rPr lang="en-US" sz="2200" b="1" i="1" dirty="0">
                <a:latin typeface="+mn-lt"/>
                <a:cs typeface="+mn-cs"/>
              </a:rPr>
              <a:t>f</a:t>
            </a:r>
            <a:r>
              <a:rPr lang="ru-RU" sz="2200" dirty="0">
                <a:latin typeface="+mn-lt"/>
                <a:cs typeface="+mn-cs"/>
              </a:rPr>
              <a:t> представляет собой двумерную плоскость, которую мы должны оценить на основе имеющихся данных.</a:t>
            </a:r>
          </a:p>
        </p:txBody>
      </p:sp>
      <p:pic>
        <p:nvPicPr>
          <p:cNvPr id="3" name="Рисунок 2"/>
          <p:cNvPicPr>
            <a:picLocks noChangeAspect="1"/>
          </p:cNvPicPr>
          <p:nvPr/>
        </p:nvPicPr>
        <p:blipFill>
          <a:blip r:embed="rId2"/>
          <a:stretch>
            <a:fillRect/>
          </a:stretch>
        </p:blipFill>
        <p:spPr>
          <a:xfrm>
            <a:off x="4386863" y="3226884"/>
            <a:ext cx="3858522" cy="3109515"/>
          </a:xfrm>
          <a:prstGeom prst="rect">
            <a:avLst/>
          </a:prstGeom>
        </p:spPr>
      </p:pic>
      <p:sp>
        <p:nvSpPr>
          <p:cNvPr id="7" name="Прямоугольник 6"/>
          <p:cNvSpPr/>
          <p:nvPr/>
        </p:nvSpPr>
        <p:spPr>
          <a:xfrm>
            <a:off x="3785837" y="6330844"/>
            <a:ext cx="6177388" cy="369332"/>
          </a:xfrm>
          <a:prstGeom prst="rect">
            <a:avLst/>
          </a:prstGeom>
        </p:spPr>
        <p:txBody>
          <a:bodyPr wrap="square">
            <a:spAutoFit/>
          </a:bodyPr>
          <a:lstStyle/>
          <a:p>
            <a:r>
              <a:rPr lang="ru-RU" sz="1800" i="1" dirty="0"/>
              <a:t>Рис.3. Набор данных </a:t>
            </a:r>
            <a:r>
              <a:rPr lang="en-US" sz="1800" b="1" i="1" dirty="0">
                <a:solidFill>
                  <a:schemeClr val="accent2">
                    <a:lumMod val="50000"/>
                  </a:schemeClr>
                </a:solidFill>
              </a:rPr>
              <a:t>Income</a:t>
            </a:r>
            <a:r>
              <a:rPr lang="ru-RU" sz="1800" b="1" i="1" dirty="0">
                <a:solidFill>
                  <a:schemeClr val="accent2">
                    <a:lumMod val="50000"/>
                  </a:schemeClr>
                </a:solidFill>
              </a:rPr>
              <a:t> </a:t>
            </a:r>
            <a:r>
              <a:rPr lang="ru-RU" sz="1800" i="1" dirty="0"/>
              <a:t>от двух переменных</a:t>
            </a:r>
          </a:p>
        </p:txBody>
      </p:sp>
      <p:sp>
        <p:nvSpPr>
          <p:cNvPr id="4" name="Номер слайда 3">
            <a:extLst>
              <a:ext uri="{FF2B5EF4-FFF2-40B4-BE49-F238E27FC236}">
                <a16:creationId xmlns:a16="http://schemas.microsoft.com/office/drawing/2014/main" id="{4F2DC9CB-88D5-4303-BF47-5C4C40096765}"/>
              </a:ext>
            </a:extLst>
          </p:cNvPr>
          <p:cNvSpPr>
            <a:spLocks noGrp="1"/>
          </p:cNvSpPr>
          <p:nvPr>
            <p:ph type="sldNum" sz="quarter" idx="12"/>
          </p:nvPr>
        </p:nvSpPr>
        <p:spPr>
          <a:xfrm>
            <a:off x="11374685" y="6605017"/>
            <a:ext cx="660154" cy="379409"/>
          </a:xfrm>
        </p:spPr>
        <p:txBody>
          <a:bodyPr/>
          <a:lstStyle/>
          <a:p>
            <a:fld id="{952B6C0E-C4B9-4094-8E59-5B7DF00D5415}" type="slidenum">
              <a:rPr lang="ru-RU" smtClean="0">
                <a:solidFill>
                  <a:schemeClr val="tx1"/>
                </a:solidFill>
              </a:rPr>
              <a:t>33</a:t>
            </a:fld>
            <a:endParaRPr lang="ru-RU" dirty="0">
              <a:solidFill>
                <a:schemeClr val="tx1"/>
              </a:solidFill>
            </a:endParaRPr>
          </a:p>
        </p:txBody>
      </p:sp>
    </p:spTree>
    <p:extLst>
      <p:ext uri="{BB962C8B-B14F-4D97-AF65-F5344CB8AC3E}">
        <p14:creationId xmlns:p14="http://schemas.microsoft.com/office/powerpoint/2010/main" val="1183953760"/>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94FCBA5-9CE7-45EE-AF8C-0CD450E64A4B}"/>
              </a:ext>
            </a:extLst>
          </p:cNvPr>
          <p:cNvSpPr>
            <a:spLocks noGrp="1"/>
          </p:cNvSpPr>
          <p:nvPr>
            <p:ph type="sldNum" sz="quarter" idx="12"/>
          </p:nvPr>
        </p:nvSpPr>
        <p:spPr>
          <a:xfrm>
            <a:off x="11446693" y="6605017"/>
            <a:ext cx="588146" cy="379409"/>
          </a:xfrm>
        </p:spPr>
        <p:txBody>
          <a:bodyPr/>
          <a:lstStyle/>
          <a:p>
            <a:fld id="{952B6C0E-C4B9-4094-8E59-5B7DF00D5415}" type="slidenum">
              <a:rPr lang="ru-RU" smtClean="0">
                <a:solidFill>
                  <a:schemeClr val="tx1"/>
                </a:solidFill>
              </a:rPr>
              <a:t>34</a:t>
            </a:fld>
            <a:endParaRPr lang="ru-RU">
              <a:solidFill>
                <a:schemeClr val="tx1"/>
              </a:solidFill>
            </a:endParaRPr>
          </a:p>
        </p:txBody>
      </p:sp>
      <p:sp>
        <p:nvSpPr>
          <p:cNvPr id="3" name="Скругленный прямоугольник 5">
            <a:extLst>
              <a:ext uri="{FF2B5EF4-FFF2-40B4-BE49-F238E27FC236}">
                <a16:creationId xmlns:a16="http://schemas.microsoft.com/office/drawing/2014/main" id="{F91908B0-0B2E-4145-9B0C-5A3B025149A7}"/>
              </a:ext>
            </a:extLst>
          </p:cNvPr>
          <p:cNvSpPr/>
          <p:nvPr/>
        </p:nvSpPr>
        <p:spPr bwMode="auto">
          <a:xfrm>
            <a:off x="1869629" y="2819491"/>
            <a:ext cx="9494774"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3200" b="1" dirty="0"/>
              <a:t>Классификация видов задач </a:t>
            </a:r>
            <a:r>
              <a:rPr lang="en-US" sz="3200" b="1" dirty="0"/>
              <a:t>Data Mining</a:t>
            </a:r>
            <a:endParaRPr lang="ru-RU" sz="3200" b="1" dirty="0"/>
          </a:p>
          <a:p>
            <a:pPr algn="ctr" defTabSz="993783"/>
            <a:r>
              <a:rPr lang="ru-RU" sz="3200" b="1" dirty="0"/>
              <a:t>(</a:t>
            </a:r>
            <a:r>
              <a:rPr lang="en-US" sz="3200" b="1" dirty="0"/>
              <a:t>Data Analysis</a:t>
            </a:r>
            <a:r>
              <a:rPr lang="ru-RU" sz="3200" b="1" dirty="0"/>
              <a:t>)</a:t>
            </a:r>
            <a:r>
              <a:rPr lang="en-US" sz="3200" b="1" dirty="0"/>
              <a:t> </a:t>
            </a:r>
            <a:br>
              <a:rPr lang="en-US" sz="3200" b="1" dirty="0"/>
            </a:br>
            <a:endParaRPr lang="ru-RU" sz="3200" b="1" dirty="0"/>
          </a:p>
        </p:txBody>
      </p:sp>
    </p:spTree>
    <p:extLst>
      <p:ext uri="{BB962C8B-B14F-4D97-AF65-F5344CB8AC3E}">
        <p14:creationId xmlns:p14="http://schemas.microsoft.com/office/powerpoint/2010/main" val="2715730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94FCBA5-9CE7-45EE-AF8C-0CD450E64A4B}"/>
              </a:ext>
            </a:extLst>
          </p:cNvPr>
          <p:cNvSpPr>
            <a:spLocks noGrp="1"/>
          </p:cNvSpPr>
          <p:nvPr>
            <p:ph type="sldNum" sz="quarter" idx="12"/>
          </p:nvPr>
        </p:nvSpPr>
        <p:spPr>
          <a:xfrm>
            <a:off x="11446693" y="6605017"/>
            <a:ext cx="588146" cy="379409"/>
          </a:xfrm>
        </p:spPr>
        <p:txBody>
          <a:bodyPr/>
          <a:lstStyle/>
          <a:p>
            <a:fld id="{952B6C0E-C4B9-4094-8E59-5B7DF00D5415}" type="slidenum">
              <a:rPr lang="ru-RU" smtClean="0">
                <a:solidFill>
                  <a:schemeClr val="tx1"/>
                </a:solidFill>
              </a:rPr>
              <a:t>35</a:t>
            </a:fld>
            <a:endParaRPr lang="ru-RU">
              <a:solidFill>
                <a:schemeClr val="tx1"/>
              </a:solidFill>
            </a:endParaRPr>
          </a:p>
        </p:txBody>
      </p:sp>
      <p:sp>
        <p:nvSpPr>
          <p:cNvPr id="4" name="Скругленный прямоугольник 5">
            <a:extLst>
              <a:ext uri="{FF2B5EF4-FFF2-40B4-BE49-F238E27FC236}">
                <a16:creationId xmlns:a16="http://schemas.microsoft.com/office/drawing/2014/main" id="{57FA105A-1201-4F51-BFA1-9A3B61337777}"/>
              </a:ext>
            </a:extLst>
          </p:cNvPr>
          <p:cNvSpPr/>
          <p:nvPr/>
        </p:nvSpPr>
        <p:spPr bwMode="auto">
          <a:xfrm>
            <a:off x="2031646" y="408190"/>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Классификация видов задач </a:t>
            </a:r>
            <a:r>
              <a:rPr lang="en-US" sz="2800" b="1" dirty="0"/>
              <a:t>Data Mining</a:t>
            </a:r>
            <a:r>
              <a:rPr lang="ru-RU" sz="2800" b="1" dirty="0"/>
              <a:t> </a:t>
            </a:r>
          </a:p>
          <a:p>
            <a:pPr algn="ctr" defTabSz="993783"/>
            <a:r>
              <a:rPr lang="ru-RU" sz="2800" b="1" dirty="0"/>
              <a:t>(</a:t>
            </a:r>
            <a:r>
              <a:rPr lang="en-US" sz="2800" b="1" dirty="0"/>
              <a:t>Data Analysis</a:t>
            </a:r>
            <a:r>
              <a:rPr lang="ru-RU" sz="2800" b="1" dirty="0"/>
              <a:t>)</a:t>
            </a:r>
            <a:r>
              <a:rPr lang="en-US" sz="2800" b="1" dirty="0"/>
              <a:t> </a:t>
            </a:r>
            <a:br>
              <a:rPr lang="en-US" sz="2800" b="1" dirty="0"/>
            </a:br>
            <a:endParaRPr lang="ru-RU" sz="2800" b="1" dirty="0"/>
          </a:p>
        </p:txBody>
      </p:sp>
      <p:sp>
        <p:nvSpPr>
          <p:cNvPr id="5" name="Text Box 5">
            <a:extLst>
              <a:ext uri="{FF2B5EF4-FFF2-40B4-BE49-F238E27FC236}">
                <a16:creationId xmlns:a16="http://schemas.microsoft.com/office/drawing/2014/main" id="{74CECEB8-1813-4FBD-9E25-C11A33703BF9}"/>
              </a:ext>
            </a:extLst>
          </p:cNvPr>
          <p:cNvSpPr txBox="1">
            <a:spLocks noChangeArrowheads="1"/>
          </p:cNvSpPr>
          <p:nvPr/>
        </p:nvSpPr>
        <p:spPr bwMode="auto">
          <a:xfrm>
            <a:off x="3905252" y="0"/>
            <a:ext cx="5100637" cy="34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600" b="1" dirty="0">
                <a:solidFill>
                  <a:schemeClr val="bg2"/>
                </a:solidFill>
                <a:latin typeface="Courier New" panose="02070309020205020404" pitchFamily="49" charset="0"/>
              </a:rPr>
              <a:t>Обработка больших данных. Л5</a:t>
            </a:r>
          </a:p>
        </p:txBody>
      </p:sp>
      <p:sp>
        <p:nvSpPr>
          <p:cNvPr id="6" name="TextBox 5">
            <a:extLst>
              <a:ext uri="{FF2B5EF4-FFF2-40B4-BE49-F238E27FC236}">
                <a16:creationId xmlns:a16="http://schemas.microsoft.com/office/drawing/2014/main" id="{B7D38C93-ADA7-4F1A-B401-F48DDCC2E551}"/>
              </a:ext>
            </a:extLst>
          </p:cNvPr>
          <p:cNvSpPr txBox="1"/>
          <p:nvPr/>
        </p:nvSpPr>
        <p:spPr>
          <a:xfrm>
            <a:off x="642914" y="5805127"/>
            <a:ext cx="12025336" cy="1169551"/>
          </a:xfrm>
          <a:prstGeom prst="rect">
            <a:avLst/>
          </a:prstGeom>
          <a:noFill/>
        </p:spPr>
        <p:txBody>
          <a:bodyPr wrap="square">
            <a:spAutoFit/>
          </a:bodyPr>
          <a:lstStyle/>
          <a:p>
            <a:r>
              <a:rPr lang="ru-RU" sz="1400" baseline="30000" dirty="0">
                <a:solidFill>
                  <a:srgbClr val="FF0000"/>
                </a:solidFill>
                <a:latin typeface="Times New Roman" panose="02020603050405020304" pitchFamily="18" charset="0"/>
                <a:cs typeface="Times New Roman" panose="02020603050405020304" pitchFamily="18" charset="0"/>
              </a:rPr>
              <a:t>*)</a:t>
            </a:r>
            <a:r>
              <a:rPr lang="ru-RU" sz="1400" i="1" dirty="0"/>
              <a:t>Четкой и единой классификации, которая была бы зафиксирована в одном конкретном стандарте или учебнике, не существует. В науке о данных и статистике эти понятия скорее являются </a:t>
            </a:r>
            <a:r>
              <a:rPr lang="ru-RU" sz="1400" b="1" i="1" dirty="0"/>
              <a:t>устоявшейся терминологией и концептуальной рамкой</a:t>
            </a:r>
            <a:r>
              <a:rPr lang="ru-RU" sz="1400" i="1" dirty="0"/>
              <a:t>, которая "разлита" по множеству источников.</a:t>
            </a:r>
          </a:p>
          <a:p>
            <a:r>
              <a:rPr lang="ru-RU" sz="1400" i="1" dirty="0"/>
              <a:t>Разные авторы и научные школы могут группировать методы по-своему, но базовая триада ("описание – вывод – предсказание") и расширенная </a:t>
            </a:r>
            <a:r>
              <a:rPr lang="ru-RU" sz="1400" i="1" dirty="0" err="1"/>
              <a:t>квадрида</a:t>
            </a:r>
            <a:r>
              <a:rPr lang="ru-RU" sz="1400" i="1" dirty="0"/>
              <a:t> (+ "предписание") являются фундаментом.</a:t>
            </a:r>
          </a:p>
        </p:txBody>
      </p:sp>
      <p:sp>
        <p:nvSpPr>
          <p:cNvPr id="8" name="TextBox 7">
            <a:extLst>
              <a:ext uri="{FF2B5EF4-FFF2-40B4-BE49-F238E27FC236}">
                <a16:creationId xmlns:a16="http://schemas.microsoft.com/office/drawing/2014/main" id="{A31F736C-9BAF-488D-9194-62E0653D97AB}"/>
              </a:ext>
            </a:extLst>
          </p:cNvPr>
          <p:cNvSpPr txBox="1"/>
          <p:nvPr/>
        </p:nvSpPr>
        <p:spPr>
          <a:xfrm>
            <a:off x="933526" y="1870027"/>
            <a:ext cx="11233248" cy="3266985"/>
          </a:xfrm>
          <a:prstGeom prst="rect">
            <a:avLst/>
          </a:prstGeom>
          <a:noFill/>
        </p:spPr>
        <p:txBody>
          <a:bodyPr wrap="square">
            <a:spAutoFit/>
          </a:bodyPr>
          <a:lstStyle/>
          <a:p>
            <a:pPr>
              <a:lnSpc>
                <a:spcPct val="150000"/>
              </a:lnSpc>
            </a:pPr>
            <a:r>
              <a:rPr lang="ru-RU" dirty="0"/>
              <a:t>Если выстроить их по сложности и ценности:</a:t>
            </a:r>
          </a:p>
          <a:p>
            <a:pPr>
              <a:lnSpc>
                <a:spcPct val="150000"/>
              </a:lnSpc>
              <a:buFont typeface="+mj-lt"/>
              <a:buAutoNum type="arabicPeriod"/>
            </a:pPr>
            <a:r>
              <a:rPr lang="ru-RU" b="1" dirty="0"/>
              <a:t> Описательный:</a:t>
            </a:r>
            <a:r>
              <a:rPr lang="ru-RU" dirty="0"/>
              <a:t> Что произошло? (Отчеты, </a:t>
            </a:r>
            <a:r>
              <a:rPr lang="ru-RU" dirty="0" err="1"/>
              <a:t>дашборды</a:t>
            </a:r>
            <a:r>
              <a:rPr lang="ru-RU" dirty="0"/>
              <a:t>, </a:t>
            </a:r>
            <a:r>
              <a:rPr lang="ru-RU" b="1" dirty="0"/>
              <a:t>кластеризация</a:t>
            </a:r>
            <a:r>
              <a:rPr lang="ru-RU" dirty="0"/>
              <a:t>).</a:t>
            </a:r>
          </a:p>
          <a:p>
            <a:pPr marL="269875" indent="-269875">
              <a:lnSpc>
                <a:spcPct val="150000"/>
              </a:lnSpc>
              <a:buFont typeface="+mj-lt"/>
              <a:buAutoNum type="arabicPeriod"/>
            </a:pPr>
            <a:r>
              <a:rPr lang="ru-RU" b="1" dirty="0"/>
              <a:t>Диагностический:</a:t>
            </a:r>
            <a:r>
              <a:rPr lang="ru-RU" dirty="0"/>
              <a:t> Почему? (</a:t>
            </a:r>
            <a:r>
              <a:rPr lang="ru-RU" dirty="0" err="1"/>
              <a:t>Drill-down</a:t>
            </a:r>
            <a:r>
              <a:rPr lang="ru-RU" dirty="0"/>
              <a:t>, </a:t>
            </a:r>
            <a:r>
              <a:rPr lang="ru-RU" b="1" dirty="0"/>
              <a:t>статистический вывод</a:t>
            </a:r>
            <a:r>
              <a:rPr lang="ru-RU" dirty="0"/>
              <a:t>, EDA (</a:t>
            </a:r>
            <a:r>
              <a:rPr lang="en-US" b="1" dirty="0"/>
              <a:t>Exploratory Data Analysis</a:t>
            </a:r>
            <a:r>
              <a:rPr lang="ru-RU" dirty="0"/>
              <a:t>) – он же Дескриптивный анализ).</a:t>
            </a:r>
          </a:p>
          <a:p>
            <a:pPr>
              <a:lnSpc>
                <a:spcPct val="150000"/>
              </a:lnSpc>
              <a:buFont typeface="+mj-lt"/>
              <a:buAutoNum type="arabicPeriod"/>
            </a:pPr>
            <a:r>
              <a:rPr lang="ru-RU" b="1" dirty="0"/>
              <a:t> Предсказательный (предиктивный):</a:t>
            </a:r>
            <a:r>
              <a:rPr lang="ru-RU" dirty="0"/>
              <a:t> Что будет? (</a:t>
            </a:r>
            <a:r>
              <a:rPr lang="ru-RU" b="1" dirty="0"/>
              <a:t>Классификация</a:t>
            </a:r>
            <a:r>
              <a:rPr lang="ru-RU" dirty="0"/>
              <a:t>, регрессия, тренды).</a:t>
            </a:r>
          </a:p>
          <a:p>
            <a:pPr>
              <a:lnSpc>
                <a:spcPct val="150000"/>
              </a:lnSpc>
              <a:buFont typeface="+mj-lt"/>
              <a:buAutoNum type="arabicPeriod"/>
            </a:pPr>
            <a:r>
              <a:rPr lang="ru-RU" b="1" dirty="0"/>
              <a:t> Предписывающий:</a:t>
            </a:r>
            <a:r>
              <a:rPr lang="ru-RU" dirty="0"/>
              <a:t> Что делать? (Рекомендательные системы, оптимизация).</a:t>
            </a:r>
          </a:p>
          <a:p>
            <a:pPr>
              <a:lnSpc>
                <a:spcPct val="150000"/>
              </a:lnSpc>
              <a:buFont typeface="+mj-lt"/>
              <a:buAutoNum type="arabicPeriod"/>
            </a:pPr>
            <a:r>
              <a:rPr lang="ru-RU" b="1" dirty="0"/>
              <a:t> Когнитивный:</a:t>
            </a:r>
            <a:r>
              <a:rPr lang="ru-RU" dirty="0"/>
              <a:t> Как думать об этом по-человечески? (ИИ, понимающий контекст).</a:t>
            </a:r>
          </a:p>
        </p:txBody>
      </p:sp>
    </p:spTree>
    <p:extLst>
      <p:ext uri="{BB962C8B-B14F-4D97-AF65-F5344CB8AC3E}">
        <p14:creationId xmlns:p14="http://schemas.microsoft.com/office/powerpoint/2010/main" val="3822004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06385" y="322263"/>
            <a:ext cx="11776412"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556682" y="1325892"/>
            <a:ext cx="11635333" cy="316137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u-RU" sz="2200" b="1" i="1" dirty="0">
                <a:solidFill>
                  <a:schemeClr val="accent2">
                    <a:lumMod val="50000"/>
                  </a:schemeClr>
                </a:solidFill>
              </a:rPr>
              <a:t>Описательные (</a:t>
            </a:r>
            <a:r>
              <a:rPr lang="ru-RU" sz="2200" b="1" i="1" dirty="0" err="1">
                <a:solidFill>
                  <a:schemeClr val="accent2">
                    <a:lumMod val="50000"/>
                  </a:schemeClr>
                </a:solidFill>
              </a:rPr>
              <a:t>descriptive</a:t>
            </a:r>
            <a:r>
              <a:rPr lang="ru-RU" sz="2200" b="1" i="1" dirty="0">
                <a:solidFill>
                  <a:schemeClr val="accent2">
                    <a:lumMod val="50000"/>
                  </a:schemeClr>
                </a:solidFill>
              </a:rPr>
              <a:t>) </a:t>
            </a:r>
            <a:r>
              <a:rPr lang="ru-RU" sz="2200" dirty="0"/>
              <a:t>уделяют внимание улучшению понимания анализируемых данных, например, </a:t>
            </a:r>
            <a:r>
              <a:rPr lang="ru-RU" sz="2200" b="1" dirty="0"/>
              <a:t>к</a:t>
            </a:r>
            <a:r>
              <a:rPr lang="ru-RU" b="1" dirty="0"/>
              <a:t>ластеризация (Cluster Analysis).</a:t>
            </a:r>
          </a:p>
          <a:p>
            <a:endParaRPr lang="ru-RU" b="1" dirty="0"/>
          </a:p>
          <a:p>
            <a:r>
              <a:rPr lang="ru-RU" b="1" dirty="0"/>
              <a:t>Почему?</a:t>
            </a:r>
            <a:r>
              <a:rPr lang="ru-RU" dirty="0"/>
              <a:t> Потому что у нее нет цели предсказать будущее. Ее цель — </a:t>
            </a:r>
            <a:r>
              <a:rPr lang="ru-RU" b="1" dirty="0"/>
              <a:t>найти структуру в настоящем</a:t>
            </a:r>
            <a:r>
              <a:rPr lang="ru-RU" dirty="0"/>
              <a:t> и описать данные, разбив их на группы.</a:t>
            </a:r>
          </a:p>
          <a:p>
            <a:pPr>
              <a:buFont typeface="Arial" panose="020B0604020202020204" pitchFamily="34" charset="0"/>
              <a:buChar char="•"/>
            </a:pPr>
            <a:r>
              <a:rPr lang="ru-RU" b="1" dirty="0"/>
              <a:t>Суть:</a:t>
            </a:r>
            <a:r>
              <a:rPr lang="ru-RU" dirty="0"/>
              <a:t> Вы даете алгоритму данные и говорите: «Здесь есть какие-то похожие объекты, разбей их на кучи сам, без моих подсказок». Это обучение без учителя.</a:t>
            </a:r>
          </a:p>
          <a:p>
            <a:pPr>
              <a:buFont typeface="Arial" panose="020B0604020202020204" pitchFamily="34" charset="0"/>
              <a:buChar char="•"/>
            </a:pPr>
            <a:r>
              <a:rPr lang="ru-RU" b="1" dirty="0"/>
              <a:t>Вопрос:</a:t>
            </a:r>
            <a:r>
              <a:rPr lang="ru-RU" dirty="0"/>
              <a:t> «Из каких сегментов состоят мои клиенты?» или «Как сгруппировать эти новости по темам?»</a:t>
            </a:r>
          </a:p>
          <a:p>
            <a:pPr marL="373066" indent="-373066" defTabSz="993783">
              <a:spcBef>
                <a:spcPct val="20000"/>
              </a:spcBef>
              <a:buChar char="•"/>
            </a:pPr>
            <a:endParaRPr lang="ru-RU" sz="2200" dirty="0">
              <a:latin typeface="+mn-lt"/>
              <a:cs typeface="+mn-cs"/>
            </a:endParaRPr>
          </a:p>
        </p:txBody>
      </p:sp>
      <p:sp>
        <p:nvSpPr>
          <p:cNvPr id="3" name="Номер слайда 2">
            <a:extLst>
              <a:ext uri="{FF2B5EF4-FFF2-40B4-BE49-F238E27FC236}">
                <a16:creationId xmlns:a16="http://schemas.microsoft.com/office/drawing/2014/main" id="{87798761-2456-400E-A3D9-5BE536F7EC8E}"/>
              </a:ext>
            </a:extLst>
          </p:cNvPr>
          <p:cNvSpPr>
            <a:spLocks noGrp="1"/>
          </p:cNvSpPr>
          <p:nvPr>
            <p:ph type="sldNum" sz="quarter" idx="12"/>
          </p:nvPr>
        </p:nvSpPr>
        <p:spPr>
          <a:xfrm>
            <a:off x="11374685" y="6659563"/>
            <a:ext cx="660154" cy="324863"/>
          </a:xfrm>
        </p:spPr>
        <p:txBody>
          <a:bodyPr/>
          <a:lstStyle/>
          <a:p>
            <a:fld id="{952B6C0E-C4B9-4094-8E59-5B7DF00D5415}" type="slidenum">
              <a:rPr lang="ru-RU" smtClean="0">
                <a:solidFill>
                  <a:schemeClr val="tx1"/>
                </a:solidFill>
              </a:rPr>
              <a:t>36</a:t>
            </a:fld>
            <a:endParaRPr lang="ru-RU">
              <a:solidFill>
                <a:schemeClr val="tx1"/>
              </a:solidFill>
            </a:endParaRPr>
          </a:p>
        </p:txBody>
      </p:sp>
      <p:pic>
        <p:nvPicPr>
          <p:cNvPr id="10" name="Рисунок 9">
            <a:extLst>
              <a:ext uri="{FF2B5EF4-FFF2-40B4-BE49-F238E27FC236}">
                <a16:creationId xmlns:a16="http://schemas.microsoft.com/office/drawing/2014/main" id="{A014323F-7440-4A07-8B9B-F478D068CA5B}"/>
              </a:ext>
            </a:extLst>
          </p:cNvPr>
          <p:cNvPicPr>
            <a:picLocks noChangeAspect="1"/>
          </p:cNvPicPr>
          <p:nvPr/>
        </p:nvPicPr>
        <p:blipFill>
          <a:blip r:embed="rId2"/>
          <a:stretch>
            <a:fillRect/>
          </a:stretch>
        </p:blipFill>
        <p:spPr>
          <a:xfrm>
            <a:off x="9646492" y="3915645"/>
            <a:ext cx="2232249" cy="2176791"/>
          </a:xfrm>
          <a:prstGeom prst="rect">
            <a:avLst/>
          </a:prstGeom>
        </p:spPr>
      </p:pic>
      <p:sp>
        <p:nvSpPr>
          <p:cNvPr id="11" name="TextBox 10">
            <a:extLst>
              <a:ext uri="{FF2B5EF4-FFF2-40B4-BE49-F238E27FC236}">
                <a16:creationId xmlns:a16="http://schemas.microsoft.com/office/drawing/2014/main" id="{76187EFF-EE60-4DA4-8831-2150E8AC6673}"/>
              </a:ext>
            </a:extLst>
          </p:cNvPr>
          <p:cNvSpPr txBox="1"/>
          <p:nvPr/>
        </p:nvSpPr>
        <p:spPr>
          <a:xfrm>
            <a:off x="737509" y="4219707"/>
            <a:ext cx="8548943" cy="1631216"/>
          </a:xfrm>
          <a:prstGeom prst="rect">
            <a:avLst/>
          </a:prstGeom>
          <a:noFill/>
        </p:spPr>
        <p:txBody>
          <a:bodyPr wrap="square">
            <a:spAutoFit/>
          </a:bodyPr>
          <a:lstStyle/>
          <a:p>
            <a:pPr>
              <a:buFont typeface="Arial" panose="020B0604020202020204" pitchFamily="34" charset="0"/>
              <a:buChar char="•"/>
            </a:pPr>
            <a:r>
              <a:rPr lang="ru-RU" b="1" dirty="0"/>
              <a:t>Пример:</a:t>
            </a:r>
            <a:endParaRPr lang="ru-RU" dirty="0"/>
          </a:p>
          <a:p>
            <a:pPr marL="742950" lvl="1" indent="-285750">
              <a:buFont typeface="Arial" panose="020B0604020202020204" pitchFamily="34" charset="0"/>
              <a:buChar char="•"/>
            </a:pPr>
            <a:r>
              <a:rPr lang="ru-RU" dirty="0"/>
              <a:t>Вы пришли в супермаркет с тележкой продуктов. Кластеризация — это когда вы смотрите на тележку и говорите: «Здесь отдельно лежат фрукты, отдельно — овощи, а вот тут — бакалея». Вы просто описали содержимое корзины.</a:t>
            </a:r>
          </a:p>
        </p:txBody>
      </p:sp>
      <p:sp>
        <p:nvSpPr>
          <p:cNvPr id="13" name="TextBox 12">
            <a:extLst>
              <a:ext uri="{FF2B5EF4-FFF2-40B4-BE49-F238E27FC236}">
                <a16:creationId xmlns:a16="http://schemas.microsoft.com/office/drawing/2014/main" id="{8AB40E5C-DA9C-4D93-B788-C6348EDCE825}"/>
              </a:ext>
            </a:extLst>
          </p:cNvPr>
          <p:cNvSpPr txBox="1"/>
          <p:nvPr/>
        </p:nvSpPr>
        <p:spPr>
          <a:xfrm>
            <a:off x="752727" y="5997140"/>
            <a:ext cx="7093566" cy="707886"/>
          </a:xfrm>
          <a:prstGeom prst="rect">
            <a:avLst/>
          </a:prstGeom>
          <a:noFill/>
        </p:spPr>
        <p:txBody>
          <a:bodyPr wrap="square">
            <a:spAutoFit/>
          </a:bodyPr>
          <a:lstStyle/>
          <a:p>
            <a:r>
              <a:rPr lang="ru-RU" b="1" dirty="0"/>
              <a:t>Исследовательский анализ данных – дескриптивный  (</a:t>
            </a:r>
            <a:r>
              <a:rPr lang="ru-RU" b="1" dirty="0" err="1"/>
              <a:t>Exploratory</a:t>
            </a:r>
            <a:r>
              <a:rPr lang="ru-RU" b="1" dirty="0"/>
              <a:t> Data Analysis — EDA) тоже описательный.</a:t>
            </a:r>
          </a:p>
        </p:txBody>
      </p:sp>
      <p:sp>
        <p:nvSpPr>
          <p:cNvPr id="14" name="Скругленный прямоугольник 5">
            <a:extLst>
              <a:ext uri="{FF2B5EF4-FFF2-40B4-BE49-F238E27FC236}">
                <a16:creationId xmlns:a16="http://schemas.microsoft.com/office/drawing/2014/main" id="{6C06E523-DDEF-4D73-B2A3-2778EC764398}"/>
              </a:ext>
            </a:extLst>
          </p:cNvPr>
          <p:cNvSpPr/>
          <p:nvPr/>
        </p:nvSpPr>
        <p:spPr bwMode="auto">
          <a:xfrm>
            <a:off x="2031646" y="408190"/>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Классификация видов задач </a:t>
            </a:r>
            <a:r>
              <a:rPr lang="en-US" sz="2800" b="1" dirty="0"/>
              <a:t>Data Mining</a:t>
            </a:r>
            <a:r>
              <a:rPr lang="ru-RU" sz="2800" b="1" dirty="0"/>
              <a:t> </a:t>
            </a:r>
          </a:p>
          <a:p>
            <a:pPr algn="ctr" defTabSz="993783"/>
            <a:r>
              <a:rPr lang="ru-RU" sz="2800" b="1" dirty="0"/>
              <a:t>(</a:t>
            </a:r>
            <a:r>
              <a:rPr lang="en-US" sz="2800" b="1" dirty="0"/>
              <a:t>Data Analysis</a:t>
            </a:r>
            <a:r>
              <a:rPr lang="ru-RU" sz="2800" b="1" dirty="0"/>
              <a:t>)</a:t>
            </a:r>
            <a:r>
              <a:rPr lang="en-US" sz="2800" b="1" dirty="0"/>
              <a:t> </a:t>
            </a:r>
            <a:br>
              <a:rPr lang="en-US" sz="2800" b="1" dirty="0"/>
            </a:br>
            <a:endParaRPr lang="ru-RU" sz="2800" b="1" dirty="0"/>
          </a:p>
        </p:txBody>
      </p:sp>
      <p:sp>
        <p:nvSpPr>
          <p:cNvPr id="15" name="Text Box 5">
            <a:extLst>
              <a:ext uri="{FF2B5EF4-FFF2-40B4-BE49-F238E27FC236}">
                <a16:creationId xmlns:a16="http://schemas.microsoft.com/office/drawing/2014/main" id="{B9D82509-2E43-4E7A-A006-F825C83ED44F}"/>
              </a:ext>
            </a:extLst>
          </p:cNvPr>
          <p:cNvSpPr txBox="1">
            <a:spLocks noChangeArrowheads="1"/>
          </p:cNvSpPr>
          <p:nvPr/>
        </p:nvSpPr>
        <p:spPr bwMode="auto">
          <a:xfrm>
            <a:off x="3905252" y="0"/>
            <a:ext cx="5100637" cy="34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6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2290864051"/>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3"/>
            <a:ext cx="11749385"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2" name="Прямоугольник 1"/>
          <p:cNvSpPr/>
          <p:nvPr/>
        </p:nvSpPr>
        <p:spPr>
          <a:xfrm>
            <a:off x="576383" y="3210876"/>
            <a:ext cx="7614970" cy="357262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R="0" lvl="0" algn="l" defTabSz="914400" rtl="0" eaLnBrk="0" fontAlgn="base" latinLnBrk="0" hangingPunct="0">
              <a:lnSpc>
                <a:spcPct val="100000"/>
              </a:lnSpc>
              <a:spcBef>
                <a:spcPct val="0"/>
              </a:spcBef>
              <a:spcAft>
                <a:spcPct val="0"/>
              </a:spcAft>
              <a:buClrTx/>
              <a:buSzTx/>
              <a:tabLst/>
            </a:pPr>
            <a:r>
              <a:rPr lang="ru-RU" dirty="0"/>
              <a:t>Решение </a:t>
            </a:r>
            <a:r>
              <a:rPr lang="ru-RU" b="1" i="1" dirty="0">
                <a:solidFill>
                  <a:schemeClr val="accent2">
                    <a:lumMod val="50000"/>
                  </a:schemeClr>
                </a:solidFill>
              </a:rPr>
              <a:t>предсказательных (</a:t>
            </a:r>
            <a:r>
              <a:rPr lang="ru-RU" b="1" i="1" dirty="0" err="1">
                <a:solidFill>
                  <a:schemeClr val="accent2">
                    <a:lumMod val="50000"/>
                  </a:schemeClr>
                </a:solidFill>
              </a:rPr>
              <a:t>predictive</a:t>
            </a:r>
            <a:r>
              <a:rPr lang="ru-RU" b="1" i="1" dirty="0">
                <a:solidFill>
                  <a:schemeClr val="accent2">
                    <a:lumMod val="50000"/>
                  </a:schemeClr>
                </a:solidFill>
              </a:rPr>
              <a:t>) </a:t>
            </a:r>
            <a:r>
              <a:rPr lang="ru-RU" dirty="0"/>
              <a:t>задач разбивается на два этапа. На первом этапе на основании набора данных с известными результатами строится модель. На втором этапе она используется для предсказания результатов на основании новых наборов данных. При этом, естественно, требуется, чтобы построенные модели работали максимально точно. </a:t>
            </a:r>
          </a:p>
          <a:p>
            <a:pPr marR="0" lvl="0" algn="l" defTabSz="914400" rtl="0" eaLnBrk="0" fontAlgn="base" latinLnBrk="0" hangingPunct="0">
              <a:lnSpc>
                <a:spcPct val="100000"/>
              </a:lnSpc>
              <a:spcBef>
                <a:spcPct val="0"/>
              </a:spcBef>
              <a:spcAft>
                <a:spcPct val="0"/>
              </a:spcAft>
              <a:buClrTx/>
              <a:buSzTx/>
              <a:tabLst/>
            </a:pPr>
            <a:r>
              <a:rPr lang="ru-RU" dirty="0"/>
              <a:t>К данному виду задач относят Р</a:t>
            </a:r>
            <a:r>
              <a:rPr kumimoji="0" lang="ru-RU" altLang="ru-RU" b="0" i="0" u="none" strike="noStrike" cap="none" normalizeH="0" baseline="0" dirty="0">
                <a:ln>
                  <a:noFill/>
                </a:ln>
                <a:solidFill>
                  <a:schemeClr val="tx1"/>
                </a:solidFill>
                <a:effectLst/>
              </a:rPr>
              <a:t>егрессионные модели прогнозирования, </a:t>
            </a:r>
            <a:r>
              <a:rPr kumimoji="0" lang="en-US" altLang="ru-RU" b="0" i="0" u="none" strike="noStrike" cap="none" normalizeH="0" baseline="0" dirty="0">
                <a:ln>
                  <a:noFill/>
                </a:ln>
                <a:solidFill>
                  <a:schemeClr val="tx1"/>
                </a:solidFill>
                <a:effectLst/>
              </a:rPr>
              <a:t>ARIMA,</a:t>
            </a:r>
            <a:r>
              <a:rPr kumimoji="0" lang="ru-RU" altLang="ru-RU" b="0" i="0" u="none" strike="noStrike" cap="none" normalizeH="0" baseline="0" dirty="0">
                <a:ln>
                  <a:noFill/>
                </a:ln>
                <a:solidFill>
                  <a:schemeClr val="tx1"/>
                </a:solidFill>
                <a:effectLst/>
              </a:rPr>
              <a:t> Модели на нейронных сетях (ANN), Модель на цепях Маркова (</a:t>
            </a:r>
            <a:r>
              <a:rPr kumimoji="0" lang="ru-RU" altLang="ru-RU" b="0" i="0" u="none" strike="noStrike" cap="none" normalizeH="0" baseline="0" dirty="0" err="1">
                <a:ln>
                  <a:noFill/>
                </a:ln>
                <a:solidFill>
                  <a:schemeClr val="tx1"/>
                </a:solidFill>
                <a:effectLst/>
              </a:rPr>
              <a:t>Markov</a:t>
            </a:r>
            <a:r>
              <a:rPr kumimoji="0" lang="ru-RU" altLang="ru-RU" b="0" i="0" u="none" strike="noStrike" cap="none" normalizeH="0" baseline="0" dirty="0">
                <a:ln>
                  <a:noFill/>
                </a:ln>
                <a:solidFill>
                  <a:schemeClr val="tx1"/>
                </a:solidFill>
                <a:effectLst/>
              </a:rPr>
              <a:t> </a:t>
            </a:r>
            <a:r>
              <a:rPr kumimoji="0" lang="ru-RU" altLang="ru-RU" b="0" i="0" u="none" strike="noStrike" cap="none" normalizeH="0" baseline="0" dirty="0" err="1">
                <a:ln>
                  <a:noFill/>
                </a:ln>
                <a:solidFill>
                  <a:schemeClr val="tx1"/>
                </a:solidFill>
                <a:effectLst/>
              </a:rPr>
              <a:t>chains</a:t>
            </a:r>
            <a:r>
              <a:rPr kumimoji="0" lang="ru-RU" altLang="ru-RU" b="0" i="0" u="none" strike="noStrike" cap="none" normalizeH="0" baseline="0" dirty="0">
                <a:ln>
                  <a:noFill/>
                </a:ln>
                <a:solidFill>
                  <a:schemeClr val="tx1"/>
                </a:solidFill>
                <a:effectLst/>
              </a:rPr>
              <a:t>), Модель на классификационно-регрессионных деревьях (CART), Модель на основе генетического алгоритма (GA) и др. </a:t>
            </a:r>
          </a:p>
        </p:txBody>
      </p:sp>
      <p:sp>
        <p:nvSpPr>
          <p:cNvPr id="4" name="Прямоугольник 3"/>
          <p:cNvSpPr/>
          <p:nvPr/>
        </p:nvSpPr>
        <p:spPr>
          <a:xfrm>
            <a:off x="891479" y="1231718"/>
            <a:ext cx="11233248" cy="1654295"/>
          </a:xfrm>
          <a:prstGeom prst="rect">
            <a:avLst/>
          </a:prstGeom>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defTabSz="993783">
              <a:spcBef>
                <a:spcPct val="20000"/>
              </a:spcBef>
            </a:pPr>
            <a:r>
              <a:rPr lang="ru-RU" sz="2400" dirty="0">
                <a:latin typeface="+mn-lt"/>
                <a:cs typeface="+mn-cs"/>
              </a:rPr>
              <a:t>В сущности, под статистическим обучением понимают совокупность методов для оценивания </a:t>
            </a:r>
            <a:r>
              <a:rPr lang="en-US" sz="2400" b="1" i="1" dirty="0"/>
              <a:t>f</a:t>
            </a:r>
            <a:r>
              <a:rPr lang="ru-RU" sz="2400" dirty="0">
                <a:latin typeface="+mn-lt"/>
                <a:cs typeface="+mn-cs"/>
              </a:rPr>
              <a:t> . </a:t>
            </a:r>
            <a:endParaRPr lang="en-US" sz="2400" dirty="0">
              <a:latin typeface="+mn-lt"/>
              <a:cs typeface="+mn-cs"/>
            </a:endParaRPr>
          </a:p>
          <a:p>
            <a:pPr defTabSz="993783">
              <a:spcBef>
                <a:spcPct val="20000"/>
              </a:spcBef>
            </a:pPr>
            <a:r>
              <a:rPr lang="ru-RU" sz="2400" dirty="0">
                <a:latin typeface="+mn-lt"/>
                <a:cs typeface="+mn-cs"/>
              </a:rPr>
              <a:t>Существуют две основные причины, по которым мы хотели бы оценить</a:t>
            </a:r>
            <a:r>
              <a:rPr lang="en-US" sz="2400" b="1" i="1" dirty="0"/>
              <a:t> f</a:t>
            </a:r>
            <a:r>
              <a:rPr lang="ru-RU" sz="2400" dirty="0"/>
              <a:t> </a:t>
            </a:r>
            <a:r>
              <a:rPr lang="ru-RU" sz="2400" dirty="0">
                <a:latin typeface="+mn-lt"/>
                <a:cs typeface="+mn-cs"/>
              </a:rPr>
              <a:t>: </a:t>
            </a:r>
            <a:r>
              <a:rPr lang="ru-RU" sz="2400" b="1" i="1" dirty="0">
                <a:solidFill>
                  <a:srgbClr val="FF0000"/>
                </a:solidFill>
                <a:latin typeface="+mn-lt"/>
                <a:cs typeface="+mn-cs"/>
              </a:rPr>
              <a:t>предсказание и статистический вывод</a:t>
            </a:r>
            <a:r>
              <a:rPr lang="ru-RU" sz="2400" dirty="0">
                <a:solidFill>
                  <a:srgbClr val="FF0000"/>
                </a:solidFill>
                <a:latin typeface="+mn-lt"/>
                <a:cs typeface="+mn-cs"/>
              </a:rPr>
              <a:t>. </a:t>
            </a:r>
          </a:p>
        </p:txBody>
      </p:sp>
      <p:sp>
        <p:nvSpPr>
          <p:cNvPr id="3" name="Номер слайда 2">
            <a:extLst>
              <a:ext uri="{FF2B5EF4-FFF2-40B4-BE49-F238E27FC236}">
                <a16:creationId xmlns:a16="http://schemas.microsoft.com/office/drawing/2014/main" id="{2DD46368-FFEC-4AE1-B76C-114A9EB7F506}"/>
              </a:ext>
            </a:extLst>
          </p:cNvPr>
          <p:cNvSpPr>
            <a:spLocks noGrp="1"/>
          </p:cNvSpPr>
          <p:nvPr>
            <p:ph type="sldNum" sz="quarter" idx="12"/>
          </p:nvPr>
        </p:nvSpPr>
        <p:spPr>
          <a:xfrm>
            <a:off x="11302677" y="6659563"/>
            <a:ext cx="732162" cy="324863"/>
          </a:xfrm>
        </p:spPr>
        <p:txBody>
          <a:bodyPr/>
          <a:lstStyle/>
          <a:p>
            <a:fld id="{952B6C0E-C4B9-4094-8E59-5B7DF00D5415}" type="slidenum">
              <a:rPr lang="ru-RU" smtClean="0">
                <a:solidFill>
                  <a:schemeClr val="tx1"/>
                </a:solidFill>
              </a:rPr>
              <a:t>37</a:t>
            </a:fld>
            <a:endParaRPr lang="ru-RU">
              <a:solidFill>
                <a:schemeClr val="tx1"/>
              </a:solidFill>
            </a:endParaRPr>
          </a:p>
        </p:txBody>
      </p:sp>
      <p:pic>
        <p:nvPicPr>
          <p:cNvPr id="7" name="Рисунок 6">
            <a:extLst>
              <a:ext uri="{FF2B5EF4-FFF2-40B4-BE49-F238E27FC236}">
                <a16:creationId xmlns:a16="http://schemas.microsoft.com/office/drawing/2014/main" id="{05222249-D6BD-4030-936E-2A50068292CD}"/>
              </a:ext>
            </a:extLst>
          </p:cNvPr>
          <p:cNvPicPr>
            <a:picLocks noChangeAspect="1"/>
          </p:cNvPicPr>
          <p:nvPr/>
        </p:nvPicPr>
        <p:blipFill>
          <a:blip r:embed="rId2"/>
          <a:stretch>
            <a:fillRect/>
          </a:stretch>
        </p:blipFill>
        <p:spPr>
          <a:xfrm>
            <a:off x="8134325" y="3532925"/>
            <a:ext cx="4145662" cy="2680653"/>
          </a:xfrm>
          <a:prstGeom prst="rect">
            <a:avLst/>
          </a:prstGeom>
        </p:spPr>
      </p:pic>
      <p:sp>
        <p:nvSpPr>
          <p:cNvPr id="11" name="TextBox 10">
            <a:extLst>
              <a:ext uri="{FF2B5EF4-FFF2-40B4-BE49-F238E27FC236}">
                <a16:creationId xmlns:a16="http://schemas.microsoft.com/office/drawing/2014/main" id="{B77A3458-B9C8-436A-96CE-87161999EF42}"/>
              </a:ext>
            </a:extLst>
          </p:cNvPr>
          <p:cNvSpPr txBox="1"/>
          <p:nvPr/>
        </p:nvSpPr>
        <p:spPr>
          <a:xfrm>
            <a:off x="8350349" y="6134318"/>
            <a:ext cx="3530261" cy="707886"/>
          </a:xfrm>
          <a:prstGeom prst="rect">
            <a:avLst/>
          </a:prstGeom>
          <a:noFill/>
        </p:spPr>
        <p:txBody>
          <a:bodyPr wrap="square">
            <a:spAutoFit/>
          </a:bodyPr>
          <a:lstStyle/>
          <a:p>
            <a:pPr algn="ctr"/>
            <a:r>
              <a:rPr lang="ru-RU" sz="2000" b="0" i="0" dirty="0">
                <a:solidFill>
                  <a:srgbClr val="000000"/>
                </a:solidFill>
                <a:effectLst/>
                <a:latin typeface="TimesNewRomanPSMT"/>
              </a:rPr>
              <a:t>Изменения цен валютных пар евро–доллар</a:t>
            </a:r>
            <a:r>
              <a:rPr lang="ru-RU" dirty="0"/>
              <a:t> </a:t>
            </a:r>
          </a:p>
        </p:txBody>
      </p:sp>
      <p:sp>
        <p:nvSpPr>
          <p:cNvPr id="10" name="Скругленный прямоугольник 5">
            <a:extLst>
              <a:ext uri="{FF2B5EF4-FFF2-40B4-BE49-F238E27FC236}">
                <a16:creationId xmlns:a16="http://schemas.microsoft.com/office/drawing/2014/main" id="{8D4A357C-DB2F-4857-99CD-5190DC072DA1}"/>
              </a:ext>
            </a:extLst>
          </p:cNvPr>
          <p:cNvSpPr/>
          <p:nvPr/>
        </p:nvSpPr>
        <p:spPr bwMode="auto">
          <a:xfrm>
            <a:off x="2031646" y="244908"/>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Классификация видов задач </a:t>
            </a:r>
            <a:r>
              <a:rPr lang="en-US" sz="2800" b="1" dirty="0"/>
              <a:t>Data Mining</a:t>
            </a:r>
            <a:r>
              <a:rPr lang="ru-RU" sz="2800" b="1" dirty="0"/>
              <a:t> </a:t>
            </a:r>
          </a:p>
          <a:p>
            <a:pPr algn="ctr" defTabSz="993783"/>
            <a:r>
              <a:rPr lang="ru-RU" sz="2800" b="1" dirty="0"/>
              <a:t>(</a:t>
            </a:r>
            <a:r>
              <a:rPr lang="en-US" sz="2800" b="1" dirty="0"/>
              <a:t>Data Analysis</a:t>
            </a:r>
            <a:r>
              <a:rPr lang="ru-RU" sz="2800" b="1" dirty="0"/>
              <a:t>)</a:t>
            </a:r>
            <a:r>
              <a:rPr lang="en-US" sz="2800" b="1" dirty="0"/>
              <a:t> </a:t>
            </a:r>
            <a:br>
              <a:rPr lang="en-US" sz="2800" b="1" dirty="0"/>
            </a:br>
            <a:endParaRPr lang="ru-RU" sz="2800" b="1" dirty="0"/>
          </a:p>
        </p:txBody>
      </p:sp>
    </p:spTree>
    <p:extLst>
      <p:ext uri="{BB962C8B-B14F-4D97-AF65-F5344CB8AC3E}">
        <p14:creationId xmlns:p14="http://schemas.microsoft.com/office/powerpoint/2010/main" val="358748909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06385" y="322263"/>
            <a:ext cx="11776412"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34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600" b="1" dirty="0">
                <a:solidFill>
                  <a:schemeClr val="bg2"/>
                </a:solidFill>
                <a:latin typeface="Courier New" panose="02070309020205020404" pitchFamily="49" charset="0"/>
              </a:rPr>
              <a:t>Обработка больших данных. Л5</a:t>
            </a:r>
          </a:p>
        </p:txBody>
      </p:sp>
      <p:sp>
        <p:nvSpPr>
          <p:cNvPr id="2" name="Прямоугольник 1"/>
          <p:cNvSpPr/>
          <p:nvPr/>
        </p:nvSpPr>
        <p:spPr>
          <a:xfrm>
            <a:off x="603447" y="1251989"/>
            <a:ext cx="11635333" cy="259918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u-RU" sz="2200" b="1" i="1" dirty="0">
                <a:solidFill>
                  <a:schemeClr val="accent2">
                    <a:lumMod val="50000"/>
                  </a:schemeClr>
                </a:solidFill>
              </a:rPr>
              <a:t>Классификацию также относят к предиктивным задачам, </a:t>
            </a:r>
            <a:r>
              <a:rPr lang="ru-RU" b="1" i="1" dirty="0">
                <a:solidFill>
                  <a:schemeClr val="accent2">
                    <a:lumMod val="50000"/>
                  </a:schemeClr>
                </a:solidFill>
              </a:rPr>
              <a:t>п</a:t>
            </a:r>
            <a:r>
              <a:rPr lang="ru-RU" sz="2000" dirty="0"/>
              <a:t>отому что она всегда работает с </a:t>
            </a:r>
            <a:r>
              <a:rPr lang="ru-RU" sz="2000" b="1" dirty="0"/>
              <a:t>целью (</a:t>
            </a:r>
            <a:r>
              <a:rPr lang="ru-RU" sz="2000" b="1" dirty="0" err="1"/>
              <a:t>таргетом</a:t>
            </a:r>
            <a:r>
              <a:rPr lang="ru-RU" sz="2000" b="1" dirty="0"/>
              <a:t>)</a:t>
            </a:r>
            <a:r>
              <a:rPr lang="ru-RU" sz="2000" dirty="0"/>
              <a:t>. Мы знаем, какие группы существуют в прошлом, и хотим научиться предсказывать, к какой группе отнести </a:t>
            </a:r>
            <a:r>
              <a:rPr lang="ru-RU" sz="2000" i="1" dirty="0"/>
              <a:t>новый</a:t>
            </a:r>
            <a:r>
              <a:rPr lang="ru-RU" sz="2000" dirty="0"/>
              <a:t>, еще не известный нам объект.</a:t>
            </a:r>
          </a:p>
          <a:p>
            <a:pPr>
              <a:buFont typeface="Arial" panose="020B0604020202020204" pitchFamily="34" charset="0"/>
              <a:buChar char="•"/>
            </a:pPr>
            <a:r>
              <a:rPr lang="ru-RU" sz="2000" b="1" dirty="0"/>
              <a:t>Суть:</a:t>
            </a:r>
            <a:r>
              <a:rPr lang="ru-RU" sz="2000" dirty="0"/>
              <a:t> Мы показываем алгоритму размеченные данные (примеры с правильными ответами) и говорим: «Запомни, как выглядят жучки и как выглядят бабочки. Теперь скажи, кто вот на этом новом фото?». Это обучение с учителем.</a:t>
            </a:r>
          </a:p>
          <a:p>
            <a:pPr>
              <a:buFont typeface="Arial" panose="020B0604020202020204" pitchFamily="34" charset="0"/>
              <a:buChar char="•"/>
            </a:pPr>
            <a:r>
              <a:rPr lang="ru-RU" sz="2000" b="1" dirty="0"/>
              <a:t>Вопрос:</a:t>
            </a:r>
            <a:r>
              <a:rPr lang="ru-RU" sz="2000" dirty="0"/>
              <a:t> «Этот клиент уйдет от нас или останется?» (бинарная классификация) или «Это письмо — спам или не спам?»</a:t>
            </a:r>
          </a:p>
          <a:p>
            <a:pPr defTabSz="993783">
              <a:spcBef>
                <a:spcPct val="20000"/>
              </a:spcBef>
            </a:pPr>
            <a:r>
              <a:rPr lang="ru-RU" sz="2200" b="1" i="1" dirty="0">
                <a:solidFill>
                  <a:schemeClr val="accent2">
                    <a:lumMod val="50000"/>
                  </a:schemeClr>
                </a:solidFill>
              </a:rPr>
              <a:t> </a:t>
            </a:r>
            <a:endParaRPr lang="ru-RU" sz="2200" dirty="0">
              <a:latin typeface="+mn-lt"/>
              <a:cs typeface="+mn-cs"/>
            </a:endParaRPr>
          </a:p>
        </p:txBody>
      </p:sp>
      <p:sp>
        <p:nvSpPr>
          <p:cNvPr id="3" name="Номер слайда 2">
            <a:extLst>
              <a:ext uri="{FF2B5EF4-FFF2-40B4-BE49-F238E27FC236}">
                <a16:creationId xmlns:a16="http://schemas.microsoft.com/office/drawing/2014/main" id="{87798761-2456-400E-A3D9-5BE536F7EC8E}"/>
              </a:ext>
            </a:extLst>
          </p:cNvPr>
          <p:cNvSpPr>
            <a:spLocks noGrp="1"/>
          </p:cNvSpPr>
          <p:nvPr>
            <p:ph type="sldNum" sz="quarter" idx="12"/>
          </p:nvPr>
        </p:nvSpPr>
        <p:spPr>
          <a:xfrm>
            <a:off x="11374685" y="6659563"/>
            <a:ext cx="660154" cy="324863"/>
          </a:xfrm>
        </p:spPr>
        <p:txBody>
          <a:bodyPr/>
          <a:lstStyle/>
          <a:p>
            <a:fld id="{952B6C0E-C4B9-4094-8E59-5B7DF00D5415}" type="slidenum">
              <a:rPr lang="ru-RU" smtClean="0">
                <a:solidFill>
                  <a:schemeClr val="tx1"/>
                </a:solidFill>
              </a:rPr>
              <a:t>38</a:t>
            </a:fld>
            <a:endParaRPr lang="ru-RU">
              <a:solidFill>
                <a:schemeClr val="tx1"/>
              </a:solidFill>
            </a:endParaRPr>
          </a:p>
        </p:txBody>
      </p:sp>
      <p:pic>
        <p:nvPicPr>
          <p:cNvPr id="5" name="Рисунок 4">
            <a:extLst>
              <a:ext uri="{FF2B5EF4-FFF2-40B4-BE49-F238E27FC236}">
                <a16:creationId xmlns:a16="http://schemas.microsoft.com/office/drawing/2014/main" id="{052AF20C-0873-49C4-95F2-44EC6205BD13}"/>
              </a:ext>
            </a:extLst>
          </p:cNvPr>
          <p:cNvPicPr>
            <a:picLocks noChangeAspect="1"/>
          </p:cNvPicPr>
          <p:nvPr/>
        </p:nvPicPr>
        <p:blipFill>
          <a:blip r:embed="rId2"/>
          <a:stretch>
            <a:fillRect/>
          </a:stretch>
        </p:blipFill>
        <p:spPr>
          <a:xfrm>
            <a:off x="1149549" y="4427240"/>
            <a:ext cx="4608105" cy="2011273"/>
          </a:xfrm>
          <a:prstGeom prst="rect">
            <a:avLst/>
          </a:prstGeom>
        </p:spPr>
      </p:pic>
      <p:pic>
        <p:nvPicPr>
          <p:cNvPr id="8" name="Рисунок 7">
            <a:extLst>
              <a:ext uri="{FF2B5EF4-FFF2-40B4-BE49-F238E27FC236}">
                <a16:creationId xmlns:a16="http://schemas.microsoft.com/office/drawing/2014/main" id="{57C8037B-0244-4E38-B998-14128ABC2419}"/>
              </a:ext>
            </a:extLst>
          </p:cNvPr>
          <p:cNvPicPr>
            <a:picLocks noChangeAspect="1"/>
          </p:cNvPicPr>
          <p:nvPr/>
        </p:nvPicPr>
        <p:blipFill>
          <a:blip r:embed="rId3"/>
          <a:stretch>
            <a:fillRect/>
          </a:stretch>
        </p:blipFill>
        <p:spPr>
          <a:xfrm>
            <a:off x="8197826" y="4242325"/>
            <a:ext cx="3532148" cy="2026089"/>
          </a:xfrm>
          <a:prstGeom prst="rect">
            <a:avLst/>
          </a:prstGeom>
        </p:spPr>
      </p:pic>
      <p:sp>
        <p:nvSpPr>
          <p:cNvPr id="11" name="Скругленный прямоугольник 5">
            <a:extLst>
              <a:ext uri="{FF2B5EF4-FFF2-40B4-BE49-F238E27FC236}">
                <a16:creationId xmlns:a16="http://schemas.microsoft.com/office/drawing/2014/main" id="{5239C503-142B-4B62-9457-0F727DAA1C79}"/>
              </a:ext>
            </a:extLst>
          </p:cNvPr>
          <p:cNvSpPr/>
          <p:nvPr/>
        </p:nvSpPr>
        <p:spPr bwMode="auto">
          <a:xfrm>
            <a:off x="1941637" y="370987"/>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Классификация видов задач </a:t>
            </a:r>
            <a:r>
              <a:rPr lang="en-US" sz="2400" b="1" dirty="0"/>
              <a:t>Data Mining</a:t>
            </a:r>
            <a:r>
              <a:rPr lang="ru-RU" sz="2400" b="1" dirty="0"/>
              <a:t> </a:t>
            </a:r>
          </a:p>
          <a:p>
            <a:pPr algn="ctr" defTabSz="993783"/>
            <a:r>
              <a:rPr lang="ru-RU" sz="2400" b="1" dirty="0"/>
              <a:t>(</a:t>
            </a:r>
            <a:r>
              <a:rPr lang="en-US" sz="2400" b="1" dirty="0"/>
              <a:t>Data Analysis</a:t>
            </a:r>
            <a:r>
              <a:rPr lang="ru-RU" sz="2400" b="1" dirty="0"/>
              <a:t>)</a:t>
            </a:r>
            <a:r>
              <a:rPr lang="en-US" sz="2400" b="1" dirty="0"/>
              <a:t> </a:t>
            </a:r>
            <a:br>
              <a:rPr lang="en-US" sz="2400" b="1" dirty="0"/>
            </a:br>
            <a:endParaRPr lang="ru-RU" sz="2400" b="1" dirty="0"/>
          </a:p>
        </p:txBody>
      </p:sp>
    </p:spTree>
    <p:extLst>
      <p:ext uri="{BB962C8B-B14F-4D97-AF65-F5344CB8AC3E}">
        <p14:creationId xmlns:p14="http://schemas.microsoft.com/office/powerpoint/2010/main" val="2599347906"/>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06385" y="322263"/>
            <a:ext cx="11776412"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34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600" b="1" dirty="0">
                <a:solidFill>
                  <a:schemeClr val="bg2"/>
                </a:solidFill>
                <a:latin typeface="Courier New" panose="02070309020205020404" pitchFamily="49" charset="0"/>
              </a:rPr>
              <a:t>Обработка больших данных. Л5</a:t>
            </a:r>
          </a:p>
        </p:txBody>
      </p:sp>
      <p:sp>
        <p:nvSpPr>
          <p:cNvPr id="2" name="Прямоугольник 1"/>
          <p:cNvSpPr/>
          <p:nvPr/>
        </p:nvSpPr>
        <p:spPr>
          <a:xfrm>
            <a:off x="574557" y="1402904"/>
            <a:ext cx="11635333" cy="29448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u-RU" sz="2200" b="1" i="1" dirty="0">
                <a:solidFill>
                  <a:schemeClr val="accent2">
                    <a:lumMod val="50000"/>
                  </a:schemeClr>
                </a:solidFill>
              </a:rPr>
              <a:t>Статистический вывод</a:t>
            </a:r>
          </a:p>
          <a:p>
            <a:r>
              <a:rPr lang="ru-RU" dirty="0"/>
              <a:t>Это </a:t>
            </a:r>
            <a:r>
              <a:rPr lang="ru-RU" b="1" dirty="0"/>
              <a:t>уровень обобщения и проверки гипотез</a:t>
            </a:r>
            <a:r>
              <a:rPr lang="ru-RU" dirty="0"/>
              <a:t>. Анализ настоящего в контексте генеральной совокупности.</a:t>
            </a:r>
          </a:p>
          <a:p>
            <a:pPr>
              <a:buFont typeface="Arial" panose="020B0604020202020204" pitchFamily="34" charset="0"/>
              <a:buChar char="•"/>
            </a:pPr>
            <a:r>
              <a:rPr lang="ru-RU" b="1" dirty="0"/>
              <a:t>Суть:</a:t>
            </a:r>
            <a:r>
              <a:rPr lang="ru-RU" dirty="0"/>
              <a:t> На основе данных небольшой группы (выборки) сделать обоснованный вывод о свойствах большой группы (генеральной совокупности) или проверить, не случайна ли найденная закономерность.</a:t>
            </a:r>
          </a:p>
          <a:p>
            <a:pPr>
              <a:buFont typeface="Arial" panose="020B0604020202020204" pitchFamily="34" charset="0"/>
              <a:buChar char="•"/>
            </a:pPr>
            <a:r>
              <a:rPr lang="ru-RU" b="1" dirty="0"/>
              <a:t>Вопрос:</a:t>
            </a:r>
            <a:r>
              <a:rPr lang="ru-RU" dirty="0"/>
              <a:t> «Справедливы ли выводы для всей популяции? Связаны ли эти явления?»</a:t>
            </a:r>
          </a:p>
          <a:p>
            <a:pPr>
              <a:buFont typeface="Arial" panose="020B0604020202020204" pitchFamily="34" charset="0"/>
              <a:buChar char="•"/>
            </a:pPr>
            <a:r>
              <a:rPr lang="ru-RU" b="1" dirty="0"/>
              <a:t>Инструменты:</a:t>
            </a:r>
            <a:r>
              <a:rPr lang="ru-RU" dirty="0"/>
              <a:t> Проверка гипотез (t-тест, хи-квадрат), доверительные интервалы, p-значения, регрессионный анализ (как способ выявления связей).</a:t>
            </a:r>
          </a:p>
          <a:p>
            <a:pPr defTabSz="993783">
              <a:spcBef>
                <a:spcPct val="20000"/>
              </a:spcBef>
            </a:pPr>
            <a:r>
              <a:rPr lang="ru-RU" sz="2200" b="1" i="1" dirty="0">
                <a:solidFill>
                  <a:schemeClr val="accent2">
                    <a:lumMod val="50000"/>
                  </a:schemeClr>
                </a:solidFill>
              </a:rPr>
              <a:t> </a:t>
            </a:r>
            <a:endParaRPr lang="ru-RU" sz="2200" dirty="0">
              <a:latin typeface="+mn-lt"/>
              <a:cs typeface="+mn-cs"/>
            </a:endParaRPr>
          </a:p>
        </p:txBody>
      </p:sp>
      <p:sp>
        <p:nvSpPr>
          <p:cNvPr id="3" name="Номер слайда 2">
            <a:extLst>
              <a:ext uri="{FF2B5EF4-FFF2-40B4-BE49-F238E27FC236}">
                <a16:creationId xmlns:a16="http://schemas.microsoft.com/office/drawing/2014/main" id="{87798761-2456-400E-A3D9-5BE536F7EC8E}"/>
              </a:ext>
            </a:extLst>
          </p:cNvPr>
          <p:cNvSpPr>
            <a:spLocks noGrp="1"/>
          </p:cNvSpPr>
          <p:nvPr>
            <p:ph type="sldNum" sz="quarter" idx="12"/>
          </p:nvPr>
        </p:nvSpPr>
        <p:spPr>
          <a:xfrm>
            <a:off x="11374685" y="6659563"/>
            <a:ext cx="660154" cy="324863"/>
          </a:xfrm>
        </p:spPr>
        <p:txBody>
          <a:bodyPr/>
          <a:lstStyle/>
          <a:p>
            <a:fld id="{952B6C0E-C4B9-4094-8E59-5B7DF00D5415}" type="slidenum">
              <a:rPr lang="ru-RU" smtClean="0">
                <a:solidFill>
                  <a:schemeClr val="tx1"/>
                </a:solidFill>
              </a:rPr>
              <a:t>39</a:t>
            </a:fld>
            <a:endParaRPr lang="ru-RU">
              <a:solidFill>
                <a:schemeClr val="tx1"/>
              </a:solidFill>
            </a:endParaRPr>
          </a:p>
        </p:txBody>
      </p:sp>
      <p:sp>
        <p:nvSpPr>
          <p:cNvPr id="11" name="Скругленный прямоугольник 5">
            <a:extLst>
              <a:ext uri="{FF2B5EF4-FFF2-40B4-BE49-F238E27FC236}">
                <a16:creationId xmlns:a16="http://schemas.microsoft.com/office/drawing/2014/main" id="{5239C503-142B-4B62-9457-0F727DAA1C79}"/>
              </a:ext>
            </a:extLst>
          </p:cNvPr>
          <p:cNvSpPr/>
          <p:nvPr/>
        </p:nvSpPr>
        <p:spPr bwMode="auto">
          <a:xfrm>
            <a:off x="1941637" y="370987"/>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Классификация видов задач </a:t>
            </a:r>
            <a:r>
              <a:rPr lang="en-US" sz="2400" b="1" dirty="0"/>
              <a:t>Data Mining</a:t>
            </a:r>
            <a:r>
              <a:rPr lang="ru-RU" sz="2400" b="1" dirty="0"/>
              <a:t> </a:t>
            </a:r>
          </a:p>
          <a:p>
            <a:pPr algn="ctr" defTabSz="993783"/>
            <a:r>
              <a:rPr lang="ru-RU" sz="2400" b="1" dirty="0"/>
              <a:t>(</a:t>
            </a:r>
            <a:r>
              <a:rPr lang="en-US" sz="2400" b="1" dirty="0"/>
              <a:t>Data Analysis</a:t>
            </a:r>
            <a:r>
              <a:rPr lang="ru-RU" sz="2400" b="1" dirty="0"/>
              <a:t>)</a:t>
            </a:r>
            <a:r>
              <a:rPr lang="en-US" sz="2400" b="1" dirty="0"/>
              <a:t> </a:t>
            </a:r>
            <a:br>
              <a:rPr lang="en-US" sz="2400" b="1" dirty="0"/>
            </a:br>
            <a:endParaRPr lang="ru-RU" sz="2400" b="1" dirty="0"/>
          </a:p>
          <a:p>
            <a:pPr algn="ctr" defTabSz="993783"/>
            <a:endParaRPr lang="ru-RU" sz="2400" b="1" dirty="0"/>
          </a:p>
          <a:p>
            <a:pPr algn="ctr" defTabSz="993783"/>
            <a:endParaRPr lang="ru-RU" sz="2400" b="1" dirty="0"/>
          </a:p>
          <a:p>
            <a:pPr algn="ctr" defTabSz="993783"/>
            <a:endParaRPr lang="ru-RU" sz="2400" b="1" dirty="0"/>
          </a:p>
        </p:txBody>
      </p:sp>
      <p:pic>
        <p:nvPicPr>
          <p:cNvPr id="6" name="Рисунок 5">
            <a:extLst>
              <a:ext uri="{FF2B5EF4-FFF2-40B4-BE49-F238E27FC236}">
                <a16:creationId xmlns:a16="http://schemas.microsoft.com/office/drawing/2014/main" id="{1CADFCC1-4437-443F-8305-057279B8092D}"/>
              </a:ext>
            </a:extLst>
          </p:cNvPr>
          <p:cNvPicPr>
            <a:picLocks noChangeAspect="1"/>
          </p:cNvPicPr>
          <p:nvPr/>
        </p:nvPicPr>
        <p:blipFill>
          <a:blip r:embed="rId2"/>
          <a:stretch>
            <a:fillRect/>
          </a:stretch>
        </p:blipFill>
        <p:spPr>
          <a:xfrm>
            <a:off x="9140802" y="4412794"/>
            <a:ext cx="3069088" cy="2075972"/>
          </a:xfrm>
          <a:prstGeom prst="rect">
            <a:avLst/>
          </a:prstGeom>
        </p:spPr>
      </p:pic>
      <p:sp>
        <p:nvSpPr>
          <p:cNvPr id="12" name="TextBox 11">
            <a:extLst>
              <a:ext uri="{FF2B5EF4-FFF2-40B4-BE49-F238E27FC236}">
                <a16:creationId xmlns:a16="http://schemas.microsoft.com/office/drawing/2014/main" id="{21AF9BAA-0CA2-4CCE-A17D-B661C3CCE36D}"/>
              </a:ext>
            </a:extLst>
          </p:cNvPr>
          <p:cNvSpPr txBox="1"/>
          <p:nvPr/>
        </p:nvSpPr>
        <p:spPr>
          <a:xfrm>
            <a:off x="606385" y="4412794"/>
            <a:ext cx="8044887" cy="2246769"/>
          </a:xfrm>
          <a:prstGeom prst="rect">
            <a:avLst/>
          </a:prstGeom>
          <a:noFill/>
        </p:spPr>
        <p:txBody>
          <a:bodyPr wrap="square">
            <a:spAutoFit/>
          </a:bodyPr>
          <a:lstStyle/>
          <a:p>
            <a:pPr>
              <a:buFont typeface="Arial" panose="020B0604020202020204" pitchFamily="34" charset="0"/>
              <a:buChar char="•"/>
            </a:pPr>
            <a:r>
              <a:rPr lang="ru-RU" b="1" dirty="0"/>
              <a:t>Пример в Data Science:</a:t>
            </a:r>
            <a:endParaRPr lang="ru-RU" dirty="0"/>
          </a:p>
          <a:p>
            <a:pPr marL="742950" lvl="1" indent="-285750">
              <a:buFont typeface="Arial" panose="020B0604020202020204" pitchFamily="34" charset="0"/>
              <a:buChar char="•"/>
            </a:pPr>
            <a:r>
              <a:rPr lang="ru-RU" dirty="0"/>
              <a:t>Мы опросили 1000 человек (выборка) и с погрешностью 3% утверждаем, что 60% всех жителей города (популяция) довольны сервисом.</a:t>
            </a:r>
          </a:p>
          <a:p>
            <a:pPr marL="742950" lvl="1" indent="-285750">
              <a:buFont typeface="Arial" panose="020B0604020202020204" pitchFamily="34" charset="0"/>
              <a:buChar char="•"/>
            </a:pPr>
            <a:r>
              <a:rPr lang="ru-RU" dirty="0"/>
              <a:t>Мы хотим понять, повлияло ли изменение дизайна кнопки (А/В тест) на конверсию, или разница в цифрах — просто случайность.</a:t>
            </a:r>
          </a:p>
        </p:txBody>
      </p:sp>
    </p:spTree>
    <p:extLst>
      <p:ext uri="{BB962C8B-B14F-4D97-AF65-F5344CB8AC3E}">
        <p14:creationId xmlns:p14="http://schemas.microsoft.com/office/powerpoint/2010/main" val="3991179266"/>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06385" y="322263"/>
            <a:ext cx="11776412" cy="63373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603447" y="1251989"/>
            <a:ext cx="11635333" cy="316137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73066" indent="-373066" defTabSz="993783">
              <a:spcBef>
                <a:spcPct val="20000"/>
              </a:spcBef>
              <a:buChar char="•"/>
            </a:pPr>
            <a:r>
              <a:rPr lang="ru-RU" sz="2200" b="1" i="1" dirty="0">
                <a:solidFill>
                  <a:schemeClr val="accent2">
                    <a:lumMod val="50000"/>
                  </a:schemeClr>
                </a:solidFill>
              </a:rPr>
              <a:t>Описательные (</a:t>
            </a:r>
            <a:r>
              <a:rPr lang="ru-RU" sz="2200" b="1" i="1" dirty="0" err="1">
                <a:solidFill>
                  <a:schemeClr val="accent2">
                    <a:lumMod val="50000"/>
                  </a:schemeClr>
                </a:solidFill>
              </a:rPr>
              <a:t>descriptive</a:t>
            </a:r>
            <a:r>
              <a:rPr lang="ru-RU" sz="2200" b="1" i="1" dirty="0">
                <a:solidFill>
                  <a:schemeClr val="accent2">
                    <a:lumMod val="50000"/>
                  </a:schemeClr>
                </a:solidFill>
              </a:rPr>
              <a:t>) </a:t>
            </a:r>
            <a:r>
              <a:rPr lang="ru-RU" sz="2200" dirty="0"/>
              <a:t>задачи</a:t>
            </a:r>
            <a:endParaRPr lang="ru-RU" sz="2200" dirty="0">
              <a:latin typeface="+mn-lt"/>
              <a:cs typeface="+mn-cs"/>
            </a:endParaRPr>
          </a:p>
        </p:txBody>
      </p:sp>
      <p:sp>
        <p:nvSpPr>
          <p:cNvPr id="3" name="Номер слайда 2">
            <a:extLst>
              <a:ext uri="{FF2B5EF4-FFF2-40B4-BE49-F238E27FC236}">
                <a16:creationId xmlns:a16="http://schemas.microsoft.com/office/drawing/2014/main" id="{87798761-2456-400E-A3D9-5BE536F7EC8E}"/>
              </a:ext>
            </a:extLst>
          </p:cNvPr>
          <p:cNvSpPr>
            <a:spLocks noGrp="1"/>
          </p:cNvSpPr>
          <p:nvPr>
            <p:ph type="sldNum" sz="quarter" idx="12"/>
          </p:nvPr>
        </p:nvSpPr>
        <p:spPr>
          <a:xfrm>
            <a:off x="11374685" y="6659563"/>
            <a:ext cx="660154" cy="324863"/>
          </a:xfrm>
        </p:spPr>
        <p:txBody>
          <a:bodyPr/>
          <a:lstStyle/>
          <a:p>
            <a:fld id="{952B6C0E-C4B9-4094-8E59-5B7DF00D5415}" type="slidenum">
              <a:rPr lang="ru-RU" smtClean="0">
                <a:solidFill>
                  <a:schemeClr val="tx1"/>
                </a:solidFill>
              </a:rPr>
              <a:t>40</a:t>
            </a:fld>
            <a:endParaRPr lang="ru-RU">
              <a:solidFill>
                <a:schemeClr val="tx1"/>
              </a:solidFill>
            </a:endParaRPr>
          </a:p>
        </p:txBody>
      </p:sp>
      <p:pic>
        <p:nvPicPr>
          <p:cNvPr id="7" name="Рисунок 6">
            <a:extLst>
              <a:ext uri="{FF2B5EF4-FFF2-40B4-BE49-F238E27FC236}">
                <a16:creationId xmlns:a16="http://schemas.microsoft.com/office/drawing/2014/main" id="{948C630D-3960-4072-9DF7-88BA7463AB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959" y="1762944"/>
            <a:ext cx="10627222" cy="3840715"/>
          </a:xfrm>
          <a:prstGeom prst="rect">
            <a:avLst/>
          </a:prstGeom>
        </p:spPr>
      </p:pic>
      <p:sp>
        <p:nvSpPr>
          <p:cNvPr id="13" name="TextBox 12">
            <a:extLst>
              <a:ext uri="{FF2B5EF4-FFF2-40B4-BE49-F238E27FC236}">
                <a16:creationId xmlns:a16="http://schemas.microsoft.com/office/drawing/2014/main" id="{B0E8F858-BB1D-48B7-BFA5-FDFAFEEEC52C}"/>
              </a:ext>
            </a:extLst>
          </p:cNvPr>
          <p:cNvSpPr txBox="1"/>
          <p:nvPr/>
        </p:nvSpPr>
        <p:spPr>
          <a:xfrm>
            <a:off x="1005532" y="5535892"/>
            <a:ext cx="11233247" cy="923330"/>
          </a:xfrm>
          <a:prstGeom prst="rect">
            <a:avLst/>
          </a:prstGeom>
          <a:noFill/>
        </p:spPr>
        <p:txBody>
          <a:bodyPr wrap="square">
            <a:spAutoFit/>
          </a:bodyPr>
          <a:lstStyle/>
          <a:p>
            <a:r>
              <a:rPr lang="ru-RU" sz="1800" i="1" dirty="0"/>
              <a:t>Кластеризация связей между соавторами в различных дисциплинах. Синие кружки — авторы-мужчины, жёлтые — женщины, размер кружка характеризует лидерство автора: чем крупнее кружок, тем больше значимость автора в команде. Рисунок из обсуждаемой статьи в PLOS ONE.</a:t>
            </a:r>
          </a:p>
        </p:txBody>
      </p:sp>
      <p:sp>
        <p:nvSpPr>
          <p:cNvPr id="15" name="TextBox 14">
            <a:extLst>
              <a:ext uri="{FF2B5EF4-FFF2-40B4-BE49-F238E27FC236}">
                <a16:creationId xmlns:a16="http://schemas.microsoft.com/office/drawing/2014/main" id="{63E7674B-2582-418D-954A-54E5B788B5D2}"/>
              </a:ext>
            </a:extLst>
          </p:cNvPr>
          <p:cNvSpPr txBox="1"/>
          <p:nvPr/>
        </p:nvSpPr>
        <p:spPr>
          <a:xfrm>
            <a:off x="4282972" y="6636361"/>
            <a:ext cx="6331056" cy="400110"/>
          </a:xfrm>
          <a:prstGeom prst="rect">
            <a:avLst/>
          </a:prstGeom>
          <a:noFill/>
        </p:spPr>
        <p:txBody>
          <a:bodyPr wrap="square">
            <a:spAutoFit/>
          </a:bodyPr>
          <a:lstStyle/>
          <a:p>
            <a:r>
              <a:rPr lang="ru-RU" dirty="0"/>
              <a:t>https://22century.ru/society/23356</a:t>
            </a:r>
          </a:p>
        </p:txBody>
      </p:sp>
      <p:sp>
        <p:nvSpPr>
          <p:cNvPr id="17" name="TextBox 16">
            <a:extLst>
              <a:ext uri="{FF2B5EF4-FFF2-40B4-BE49-F238E27FC236}">
                <a16:creationId xmlns:a16="http://schemas.microsoft.com/office/drawing/2014/main" id="{ACD20404-ECEB-4493-B2FD-347FCA341F59}"/>
              </a:ext>
            </a:extLst>
          </p:cNvPr>
          <p:cNvSpPr txBox="1"/>
          <p:nvPr/>
        </p:nvSpPr>
        <p:spPr>
          <a:xfrm>
            <a:off x="1291780" y="3103253"/>
            <a:ext cx="10009112" cy="1323439"/>
          </a:xfrm>
          <a:prstGeom prst="rect">
            <a:avLst/>
          </a:prstGeom>
          <a:solidFill>
            <a:srgbClr val="5ECCF3">
              <a:alpha val="72941"/>
            </a:srgbClr>
          </a:solidFill>
        </p:spPr>
        <p:txBody>
          <a:bodyPr wrap="square">
            <a:spAutoFit/>
          </a:bodyPr>
          <a:lstStyle/>
          <a:p>
            <a:r>
              <a:rPr lang="ru-RU" dirty="0"/>
              <a:t>Интересно отметить, что женщины, став во главе исследования, выбирают себе соавторов (как мужчин, так и женщин) с большим числом публикаций и с большей степенью лидерства. Каков механизм этого выбора — не так уж важно, главное, что команда получается более профессиональная и более продуктивная.</a:t>
            </a:r>
          </a:p>
        </p:txBody>
      </p:sp>
      <p:sp>
        <p:nvSpPr>
          <p:cNvPr id="11" name="Text Box 5">
            <a:extLst>
              <a:ext uri="{FF2B5EF4-FFF2-40B4-BE49-F238E27FC236}">
                <a16:creationId xmlns:a16="http://schemas.microsoft.com/office/drawing/2014/main" id="{1075225A-D399-4217-B726-3E892E4E8631}"/>
              </a:ext>
            </a:extLst>
          </p:cNvPr>
          <p:cNvSpPr txBox="1">
            <a:spLocks noChangeArrowheads="1"/>
          </p:cNvSpPr>
          <p:nvPr/>
        </p:nvSpPr>
        <p:spPr bwMode="auto">
          <a:xfrm>
            <a:off x="3905252" y="0"/>
            <a:ext cx="5100637" cy="34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600" b="1" dirty="0">
                <a:solidFill>
                  <a:schemeClr val="bg2"/>
                </a:solidFill>
                <a:latin typeface="Courier New" panose="02070309020205020404" pitchFamily="49" charset="0"/>
              </a:rPr>
              <a:t>Обработка больших данных. Л5</a:t>
            </a:r>
          </a:p>
        </p:txBody>
      </p:sp>
      <p:sp>
        <p:nvSpPr>
          <p:cNvPr id="12" name="Скругленный прямоугольник 5">
            <a:extLst>
              <a:ext uri="{FF2B5EF4-FFF2-40B4-BE49-F238E27FC236}">
                <a16:creationId xmlns:a16="http://schemas.microsoft.com/office/drawing/2014/main" id="{FDB2A7F3-BC89-4D14-9D3E-ED8E53ABBE2C}"/>
              </a:ext>
            </a:extLst>
          </p:cNvPr>
          <p:cNvSpPr/>
          <p:nvPr/>
        </p:nvSpPr>
        <p:spPr bwMode="auto">
          <a:xfrm>
            <a:off x="1941637" y="370987"/>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Классификация видов задач </a:t>
            </a:r>
            <a:r>
              <a:rPr lang="en-US" sz="2400" b="1" dirty="0"/>
              <a:t>Data Mining</a:t>
            </a:r>
            <a:r>
              <a:rPr lang="ru-RU" sz="2400" b="1" dirty="0"/>
              <a:t> </a:t>
            </a:r>
          </a:p>
          <a:p>
            <a:pPr algn="ctr" defTabSz="993783"/>
            <a:r>
              <a:rPr lang="ru-RU" sz="2400" b="1" dirty="0"/>
              <a:t>(</a:t>
            </a:r>
            <a:r>
              <a:rPr lang="en-US" sz="2400" b="1" dirty="0"/>
              <a:t>Data Analysis</a:t>
            </a:r>
            <a:r>
              <a:rPr lang="ru-RU" sz="2400" b="1" dirty="0"/>
              <a:t>)</a:t>
            </a:r>
            <a:r>
              <a:rPr lang="en-US" sz="2400" b="1" dirty="0"/>
              <a:t> </a:t>
            </a:r>
            <a:br>
              <a:rPr lang="en-US" sz="2400" b="1" dirty="0"/>
            </a:br>
            <a:endParaRPr lang="ru-RU" sz="2400" b="1" dirty="0"/>
          </a:p>
        </p:txBody>
      </p:sp>
    </p:spTree>
    <p:extLst>
      <p:ext uri="{BB962C8B-B14F-4D97-AF65-F5344CB8AC3E}">
        <p14:creationId xmlns:p14="http://schemas.microsoft.com/office/powerpoint/2010/main" val="6121120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0"/>
                                        <p:tgtEl>
                                          <p:spTgt spid="17"/>
                                        </p:tgtEl>
                                      </p:cBhvr>
                                    </p:animEffect>
                                    <p:anim calcmode="lin" valueType="num">
                                      <p:cBhvr>
                                        <p:cTn id="8" dur="2000" fill="hold"/>
                                        <p:tgtEl>
                                          <p:spTgt spid="17"/>
                                        </p:tgtEl>
                                        <p:attrNameLst>
                                          <p:attrName>ppt_w</p:attrName>
                                        </p:attrNameLst>
                                      </p:cBhvr>
                                      <p:tavLst>
                                        <p:tav tm="0" fmla="#ppt_w*sin(2.5*pi*$)">
                                          <p:val>
                                            <p:fltVal val="0"/>
                                          </p:val>
                                        </p:tav>
                                        <p:tav tm="100000">
                                          <p:val>
                                            <p:fltVal val="1"/>
                                          </p:val>
                                        </p:tav>
                                      </p:tavLst>
                                    </p:anim>
                                    <p:anim calcmode="lin" valueType="num">
                                      <p:cBhvr>
                                        <p:cTn id="9" dur="20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9521" y="149282"/>
            <a:ext cx="12353275"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153091" y="106072"/>
            <a:ext cx="8604957" cy="965643"/>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Классификация задач </a:t>
            </a:r>
            <a:r>
              <a:rPr lang="en-US" sz="2400" b="1" dirty="0"/>
              <a:t>Data Mining</a:t>
            </a:r>
            <a:endParaRPr lang="ru-RU" sz="2400" b="1" dirty="0"/>
          </a:p>
          <a:p>
            <a:pPr algn="ctr" defTabSz="993783"/>
            <a:r>
              <a:rPr lang="ru-RU" sz="2400" b="1" dirty="0"/>
              <a:t>(верхний уровень классификации) </a:t>
            </a:r>
          </a:p>
        </p:txBody>
      </p:sp>
      <p:sp>
        <p:nvSpPr>
          <p:cNvPr id="2" name="Прямоугольник 1"/>
          <p:cNvSpPr/>
          <p:nvPr/>
        </p:nvSpPr>
        <p:spPr>
          <a:xfrm>
            <a:off x="1238059" y="1117570"/>
            <a:ext cx="2736303"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b="1" i="1" dirty="0">
                <a:solidFill>
                  <a:schemeClr val="accent2">
                    <a:lumMod val="50000"/>
                  </a:schemeClr>
                </a:solidFill>
              </a:rPr>
              <a:t>Предсказательные задачи</a:t>
            </a:r>
            <a:endParaRPr lang="ru-RU" dirty="0">
              <a:latin typeface="+mn-lt"/>
              <a:cs typeface="+mn-cs"/>
            </a:endParaRPr>
          </a:p>
        </p:txBody>
      </p:sp>
      <p:sp>
        <p:nvSpPr>
          <p:cNvPr id="5" name="Номер слайда 4">
            <a:extLst>
              <a:ext uri="{FF2B5EF4-FFF2-40B4-BE49-F238E27FC236}">
                <a16:creationId xmlns:a16="http://schemas.microsoft.com/office/drawing/2014/main" id="{8B0A0858-E802-4A10-B4CF-4BA3D589E615}"/>
              </a:ext>
            </a:extLst>
          </p:cNvPr>
          <p:cNvSpPr>
            <a:spLocks noGrp="1"/>
          </p:cNvSpPr>
          <p:nvPr>
            <p:ph type="sldNum" sz="quarter" idx="12"/>
          </p:nvPr>
        </p:nvSpPr>
        <p:spPr>
          <a:xfrm>
            <a:off x="11302677" y="6605017"/>
            <a:ext cx="732162" cy="379409"/>
          </a:xfrm>
        </p:spPr>
        <p:txBody>
          <a:bodyPr/>
          <a:lstStyle/>
          <a:p>
            <a:fld id="{952B6C0E-C4B9-4094-8E59-5B7DF00D5415}" type="slidenum">
              <a:rPr lang="ru-RU" smtClean="0">
                <a:solidFill>
                  <a:schemeClr val="tx1"/>
                </a:solidFill>
              </a:rPr>
              <a:t>41</a:t>
            </a:fld>
            <a:endParaRPr lang="ru-RU">
              <a:solidFill>
                <a:schemeClr val="tx1"/>
              </a:solidFill>
            </a:endParaRPr>
          </a:p>
        </p:txBody>
      </p:sp>
      <p:sp>
        <p:nvSpPr>
          <p:cNvPr id="11" name="Прямоугольник 10">
            <a:extLst>
              <a:ext uri="{FF2B5EF4-FFF2-40B4-BE49-F238E27FC236}">
                <a16:creationId xmlns:a16="http://schemas.microsoft.com/office/drawing/2014/main" id="{A1E4623E-7163-4D2C-8B95-498428A2CE7B}"/>
              </a:ext>
            </a:extLst>
          </p:cNvPr>
          <p:cNvSpPr/>
          <p:nvPr/>
        </p:nvSpPr>
        <p:spPr>
          <a:xfrm>
            <a:off x="4177737" y="1117570"/>
            <a:ext cx="2452103" cy="5862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b="1" i="1" dirty="0">
                <a:solidFill>
                  <a:schemeClr val="accent2">
                    <a:lumMod val="50000"/>
                  </a:schemeClr>
                </a:solidFill>
              </a:rPr>
              <a:t>Описательные задачи</a:t>
            </a:r>
            <a:endParaRPr lang="ru-RU" dirty="0">
              <a:latin typeface="+mn-lt"/>
              <a:cs typeface="+mn-cs"/>
            </a:endParaRPr>
          </a:p>
        </p:txBody>
      </p:sp>
      <p:pic>
        <p:nvPicPr>
          <p:cNvPr id="12" name="Рисунок 11">
            <a:extLst>
              <a:ext uri="{FF2B5EF4-FFF2-40B4-BE49-F238E27FC236}">
                <a16:creationId xmlns:a16="http://schemas.microsoft.com/office/drawing/2014/main" id="{44807F8A-20DD-418A-AF5D-2AA21AC65044}"/>
              </a:ext>
            </a:extLst>
          </p:cNvPr>
          <p:cNvPicPr>
            <a:picLocks noChangeAspect="1"/>
          </p:cNvPicPr>
          <p:nvPr/>
        </p:nvPicPr>
        <p:blipFill>
          <a:blip r:embed="rId2"/>
          <a:stretch>
            <a:fillRect/>
          </a:stretch>
        </p:blipFill>
        <p:spPr>
          <a:xfrm>
            <a:off x="1225916" y="2002582"/>
            <a:ext cx="2767012" cy="1789195"/>
          </a:xfrm>
          <a:prstGeom prst="rect">
            <a:avLst/>
          </a:prstGeom>
        </p:spPr>
      </p:pic>
      <p:pic>
        <p:nvPicPr>
          <p:cNvPr id="14" name="Рисунок 13">
            <a:extLst>
              <a:ext uri="{FF2B5EF4-FFF2-40B4-BE49-F238E27FC236}">
                <a16:creationId xmlns:a16="http://schemas.microsoft.com/office/drawing/2014/main" id="{E87FF416-A24E-4F9F-A71D-6F015AED36AE}"/>
              </a:ext>
            </a:extLst>
          </p:cNvPr>
          <p:cNvPicPr>
            <a:picLocks noChangeAspect="1"/>
          </p:cNvPicPr>
          <p:nvPr/>
        </p:nvPicPr>
        <p:blipFill>
          <a:blip r:embed="rId3"/>
          <a:stretch>
            <a:fillRect/>
          </a:stretch>
        </p:blipFill>
        <p:spPr>
          <a:xfrm>
            <a:off x="4317901" y="2245748"/>
            <a:ext cx="2233598" cy="2178107"/>
          </a:xfrm>
          <a:prstGeom prst="rect">
            <a:avLst/>
          </a:prstGeom>
        </p:spPr>
      </p:pic>
      <p:sp>
        <p:nvSpPr>
          <p:cNvPr id="15" name="TextBox 14">
            <a:extLst>
              <a:ext uri="{FF2B5EF4-FFF2-40B4-BE49-F238E27FC236}">
                <a16:creationId xmlns:a16="http://schemas.microsoft.com/office/drawing/2014/main" id="{90D949C8-3D40-4CC2-87EC-39387AD75BC1}"/>
              </a:ext>
            </a:extLst>
          </p:cNvPr>
          <p:cNvSpPr txBox="1"/>
          <p:nvPr/>
        </p:nvSpPr>
        <p:spPr>
          <a:xfrm>
            <a:off x="3019918" y="6191867"/>
            <a:ext cx="6331056" cy="400110"/>
          </a:xfrm>
          <a:prstGeom prst="rect">
            <a:avLst/>
          </a:prstGeom>
          <a:noFill/>
        </p:spPr>
        <p:txBody>
          <a:bodyPr wrap="square">
            <a:spAutoFit/>
          </a:bodyPr>
          <a:lstStyle/>
          <a:p>
            <a:pPr algn="ctr"/>
            <a:r>
              <a:rPr lang="ru-RU" sz="2000" dirty="0">
                <a:solidFill>
                  <a:srgbClr val="000000"/>
                </a:solidFill>
                <a:latin typeface="Bookman Old Style" panose="02050604050505020204" pitchFamily="18" charset="0"/>
              </a:rPr>
              <a:t>Создаем упрощенное представление</a:t>
            </a:r>
            <a:endParaRPr lang="ru-RU" dirty="0"/>
          </a:p>
        </p:txBody>
      </p:sp>
      <p:sp>
        <p:nvSpPr>
          <p:cNvPr id="16" name="TextBox 15">
            <a:extLst>
              <a:ext uri="{FF2B5EF4-FFF2-40B4-BE49-F238E27FC236}">
                <a16:creationId xmlns:a16="http://schemas.microsoft.com/office/drawing/2014/main" id="{63734ACE-36EB-436C-A625-83A7966EFABF}"/>
              </a:ext>
            </a:extLst>
          </p:cNvPr>
          <p:cNvSpPr txBox="1"/>
          <p:nvPr/>
        </p:nvSpPr>
        <p:spPr>
          <a:xfrm>
            <a:off x="724761" y="5087380"/>
            <a:ext cx="10943997" cy="1015663"/>
          </a:xfrm>
          <a:prstGeom prst="rect">
            <a:avLst/>
          </a:prstGeom>
          <a:noFill/>
        </p:spPr>
        <p:txBody>
          <a:bodyPr wrap="square">
            <a:spAutoFit/>
          </a:bodyPr>
          <a:lstStyle/>
          <a:p>
            <a:pPr algn="ctr"/>
            <a:r>
              <a:rPr lang="ru-RU" sz="2000" dirty="0">
                <a:solidFill>
                  <a:srgbClr val="000000"/>
                </a:solidFill>
                <a:latin typeface="Bookman Old Style" panose="02050604050505020204" pitchFamily="18" charset="0"/>
              </a:rPr>
              <a:t>И те и другие могут быть как с учителем, так и без учителя: в прогнозировании цепи Маркова – без учителя, в описательных задачах – кластеризация – без учителя. Понижение размерности в основном без учителя.</a:t>
            </a:r>
            <a:endParaRPr lang="ru-RU" dirty="0"/>
          </a:p>
        </p:txBody>
      </p:sp>
      <p:sp>
        <p:nvSpPr>
          <p:cNvPr id="17" name="Прямоугольник 16">
            <a:extLst>
              <a:ext uri="{FF2B5EF4-FFF2-40B4-BE49-F238E27FC236}">
                <a16:creationId xmlns:a16="http://schemas.microsoft.com/office/drawing/2014/main" id="{A90847C6-D08D-4C03-9CCB-92695A8EAD9C}"/>
              </a:ext>
            </a:extLst>
          </p:cNvPr>
          <p:cNvSpPr/>
          <p:nvPr/>
        </p:nvSpPr>
        <p:spPr>
          <a:xfrm>
            <a:off x="8081988" y="1416359"/>
            <a:ext cx="3884601" cy="5862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endParaRPr lang="ru-RU" dirty="0">
              <a:latin typeface="+mn-lt"/>
              <a:cs typeface="+mn-cs"/>
            </a:endParaRPr>
          </a:p>
        </p:txBody>
      </p:sp>
      <p:sp>
        <p:nvSpPr>
          <p:cNvPr id="18" name="Прямоугольник 17">
            <a:extLst>
              <a:ext uri="{FF2B5EF4-FFF2-40B4-BE49-F238E27FC236}">
                <a16:creationId xmlns:a16="http://schemas.microsoft.com/office/drawing/2014/main" id="{10A52F6E-89ED-4B53-A0D8-DC3646C2C8A1}"/>
              </a:ext>
            </a:extLst>
          </p:cNvPr>
          <p:cNvSpPr/>
          <p:nvPr/>
        </p:nvSpPr>
        <p:spPr>
          <a:xfrm>
            <a:off x="8811565" y="1117570"/>
            <a:ext cx="3502312" cy="5862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b="1" i="1" dirty="0">
                <a:solidFill>
                  <a:schemeClr val="accent2">
                    <a:lumMod val="50000"/>
                  </a:schemeClr>
                </a:solidFill>
              </a:rPr>
              <a:t>Понижение размерности – вспомогательная задача </a:t>
            </a:r>
          </a:p>
        </p:txBody>
      </p:sp>
      <p:pic>
        <p:nvPicPr>
          <p:cNvPr id="10" name="Рисунок 9">
            <a:extLst>
              <a:ext uri="{FF2B5EF4-FFF2-40B4-BE49-F238E27FC236}">
                <a16:creationId xmlns:a16="http://schemas.microsoft.com/office/drawing/2014/main" id="{6B235D88-056F-4002-88E3-A871D48F0901}"/>
              </a:ext>
            </a:extLst>
          </p:cNvPr>
          <p:cNvPicPr>
            <a:picLocks noChangeAspect="1"/>
          </p:cNvPicPr>
          <p:nvPr/>
        </p:nvPicPr>
        <p:blipFill>
          <a:blip r:embed="rId4"/>
          <a:stretch>
            <a:fillRect/>
          </a:stretch>
        </p:blipFill>
        <p:spPr>
          <a:xfrm>
            <a:off x="9142437" y="2137413"/>
            <a:ext cx="2671431" cy="2516348"/>
          </a:xfrm>
          <a:prstGeom prst="rect">
            <a:avLst/>
          </a:prstGeom>
        </p:spPr>
      </p:pic>
      <p:pic>
        <p:nvPicPr>
          <p:cNvPr id="19" name="Рисунок 18">
            <a:extLst>
              <a:ext uri="{FF2B5EF4-FFF2-40B4-BE49-F238E27FC236}">
                <a16:creationId xmlns:a16="http://schemas.microsoft.com/office/drawing/2014/main" id="{D0A64B69-BADA-491B-A86F-201C6A27E0E4}"/>
              </a:ext>
            </a:extLst>
          </p:cNvPr>
          <p:cNvPicPr>
            <a:picLocks noChangeAspect="1"/>
          </p:cNvPicPr>
          <p:nvPr/>
        </p:nvPicPr>
        <p:blipFill>
          <a:blip r:embed="rId5"/>
          <a:stretch>
            <a:fillRect/>
          </a:stretch>
        </p:blipFill>
        <p:spPr>
          <a:xfrm>
            <a:off x="1256603" y="3861668"/>
            <a:ext cx="2642799" cy="1153487"/>
          </a:xfrm>
          <a:prstGeom prst="rect">
            <a:avLst/>
          </a:prstGeom>
        </p:spPr>
      </p:pic>
      <p:pic>
        <p:nvPicPr>
          <p:cNvPr id="20" name="Рисунок 19">
            <a:extLst>
              <a:ext uri="{FF2B5EF4-FFF2-40B4-BE49-F238E27FC236}">
                <a16:creationId xmlns:a16="http://schemas.microsoft.com/office/drawing/2014/main" id="{118063B3-7C79-48E2-A92C-52BCD0BDE111}"/>
              </a:ext>
            </a:extLst>
          </p:cNvPr>
          <p:cNvPicPr>
            <a:picLocks noChangeAspect="1"/>
          </p:cNvPicPr>
          <p:nvPr/>
        </p:nvPicPr>
        <p:blipFill>
          <a:blip r:embed="rId6"/>
          <a:stretch>
            <a:fillRect/>
          </a:stretch>
        </p:blipFill>
        <p:spPr>
          <a:xfrm>
            <a:off x="6694165" y="2367318"/>
            <a:ext cx="2321139" cy="2046464"/>
          </a:xfrm>
          <a:prstGeom prst="rect">
            <a:avLst/>
          </a:prstGeom>
        </p:spPr>
      </p:pic>
      <p:sp>
        <p:nvSpPr>
          <p:cNvPr id="21" name="Прямоугольник 20">
            <a:extLst>
              <a:ext uri="{FF2B5EF4-FFF2-40B4-BE49-F238E27FC236}">
                <a16:creationId xmlns:a16="http://schemas.microsoft.com/office/drawing/2014/main" id="{72B532F9-603E-4C5E-A039-8AB666A7EB48}"/>
              </a:ext>
            </a:extLst>
          </p:cNvPr>
          <p:cNvSpPr/>
          <p:nvPr/>
        </p:nvSpPr>
        <p:spPr>
          <a:xfrm>
            <a:off x="6484957" y="1117570"/>
            <a:ext cx="2452103" cy="5862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b="1" i="1" dirty="0" err="1">
                <a:solidFill>
                  <a:schemeClr val="accent2">
                    <a:lumMod val="50000"/>
                  </a:schemeClr>
                </a:solidFill>
              </a:rPr>
              <a:t>Статистичес</a:t>
            </a:r>
            <a:r>
              <a:rPr lang="ru-RU" b="1" i="1" dirty="0">
                <a:solidFill>
                  <a:schemeClr val="accent2">
                    <a:lumMod val="50000"/>
                  </a:schemeClr>
                </a:solidFill>
              </a:rPr>
              <a:t>-кий вывод</a:t>
            </a:r>
            <a:endParaRPr lang="ru-RU" dirty="0">
              <a:latin typeface="+mn-lt"/>
              <a:cs typeface="+mn-cs"/>
            </a:endParaRPr>
          </a:p>
        </p:txBody>
      </p:sp>
    </p:spTree>
    <p:extLst>
      <p:ext uri="{BB962C8B-B14F-4D97-AF65-F5344CB8AC3E}">
        <p14:creationId xmlns:p14="http://schemas.microsoft.com/office/powerpoint/2010/main" val="3271059636"/>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72778" y="99716"/>
            <a:ext cx="12025336"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Предсказательные задачи</a:t>
            </a:r>
          </a:p>
        </p:txBody>
      </p:sp>
      <p:sp>
        <p:nvSpPr>
          <p:cNvPr id="2" name="Прямоугольник 1"/>
          <p:cNvSpPr/>
          <p:nvPr/>
        </p:nvSpPr>
        <p:spPr>
          <a:xfrm>
            <a:off x="1290818" y="836763"/>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endParaRPr lang="ru-RU" dirty="0">
              <a:latin typeface="+mn-lt"/>
              <a:cs typeface="+mn-cs"/>
            </a:endParaRPr>
          </a:p>
        </p:txBody>
      </p:sp>
      <p:sp>
        <p:nvSpPr>
          <p:cNvPr id="3" name="Прямоугольник 2"/>
          <p:cNvSpPr/>
          <p:nvPr/>
        </p:nvSpPr>
        <p:spPr>
          <a:xfrm>
            <a:off x="717501" y="1247528"/>
            <a:ext cx="11521279" cy="5509200"/>
          </a:xfrm>
          <a:prstGeom prst="rect">
            <a:avLst/>
          </a:prstGeom>
        </p:spPr>
        <p:txBody>
          <a:bodyPr wrap="square">
            <a:spAutoFit/>
          </a:bodyPr>
          <a:lstStyle/>
          <a:p>
            <a:r>
              <a:rPr lang="ru-RU" sz="2200" dirty="0">
                <a:solidFill>
                  <a:srgbClr val="000000"/>
                </a:solidFill>
                <a:latin typeface="Bookman Old Style" panose="02050604050505020204" pitchFamily="18" charset="0"/>
              </a:rPr>
              <a:t>Во многих ситуациях набор входных переменных </a:t>
            </a:r>
            <a:r>
              <a:rPr lang="ru-RU" sz="2200" i="1" dirty="0">
                <a:solidFill>
                  <a:srgbClr val="000000"/>
                </a:solidFill>
                <a:latin typeface="Bookman Old Style" panose="02050604050505020204" pitchFamily="18" charset="0"/>
              </a:rPr>
              <a:t>X</a:t>
            </a:r>
            <a:r>
              <a:rPr lang="ru-RU" sz="2200" dirty="0">
                <a:solidFill>
                  <a:srgbClr val="000000"/>
                </a:solidFill>
                <a:latin typeface="Bookman Old Style" panose="02050604050505020204" pitchFamily="18" charset="0"/>
              </a:rPr>
              <a:t> легко доступен, однако получить выходную переменную </a:t>
            </a:r>
            <a:r>
              <a:rPr lang="en-US" sz="2200" b="1" i="1"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 не так просто. Благодаря тому, что ошибки имеют нулевое среднее значение, при таком сценарии мы можем предсказать </a:t>
            </a:r>
            <a:r>
              <a:rPr lang="en-US" sz="2200" b="1" i="1" dirty="0">
                <a:solidFill>
                  <a:srgbClr val="000000"/>
                </a:solidFill>
                <a:latin typeface="Bookman Old Style" panose="02050604050505020204" pitchFamily="18" charset="0"/>
              </a:rPr>
              <a:t>Y</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с</a:t>
            </a:r>
            <a:r>
              <a:rPr lang="ru-RU" sz="2200" dirty="0">
                <a:solidFill>
                  <a:srgbClr val="000000"/>
                </a:solidFill>
                <a:latin typeface="Bookman Old Style" panose="02050604050505020204" pitchFamily="18" charset="0"/>
              </a:rPr>
              <a:t> помощью</a:t>
            </a:r>
          </a:p>
          <a:p>
            <a:pPr algn="r"/>
            <a:r>
              <a:rPr lang="ru-RU" sz="2200" dirty="0">
                <a:solidFill>
                  <a:srgbClr val="000000"/>
                </a:solidFill>
                <a:latin typeface="Georgia" panose="02040502050405020303" pitchFamily="18" charset="0"/>
              </a:rPr>
              <a:t>(2)</a:t>
            </a:r>
            <a:endParaRPr lang="ru-RU" sz="2200" dirty="0">
              <a:solidFill>
                <a:srgbClr val="000000"/>
              </a:solidFill>
              <a:latin typeface="Times New Roman" panose="02020603050405020304" pitchFamily="18" charset="0"/>
            </a:endParaRPr>
          </a:p>
          <a:p>
            <a:endParaRPr lang="ru-RU" sz="2200" dirty="0">
              <a:solidFill>
                <a:srgbClr val="000000"/>
              </a:solidFill>
              <a:latin typeface="Bookman Old Style" panose="02050604050505020204" pitchFamily="18" charset="0"/>
            </a:endParaRPr>
          </a:p>
          <a:p>
            <a:r>
              <a:rPr lang="ru-RU" sz="2200" dirty="0">
                <a:solidFill>
                  <a:srgbClr val="000000"/>
                </a:solidFill>
                <a:latin typeface="Bookman Old Style" panose="02050604050505020204" pitchFamily="18" charset="0"/>
              </a:rPr>
              <a:t>где</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    представляет собой нашу оценку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а </a:t>
            </a:r>
            <a:r>
              <a:rPr lang="en-US" sz="2200" b="1" i="1" dirty="0">
                <a:solidFill>
                  <a:srgbClr val="000000"/>
                </a:solidFill>
                <a:latin typeface="Bookman Old Style" panose="02050604050505020204" pitchFamily="18" charset="0"/>
              </a:rPr>
              <a:t>Ŷ</a:t>
            </a:r>
            <a:r>
              <a:rPr lang="ru-RU" sz="2200" dirty="0">
                <a:solidFill>
                  <a:srgbClr val="000000"/>
                </a:solidFill>
                <a:latin typeface="Bookman Old Style" panose="02050604050505020204" pitchFamily="18" charset="0"/>
              </a:rPr>
              <a:t>   — предсказанное значение</a:t>
            </a:r>
            <a:r>
              <a:rPr lang="en-US" sz="2200" dirty="0">
                <a:solidFill>
                  <a:srgbClr val="000000"/>
                </a:solidFill>
                <a:latin typeface="Bookman Old Style" panose="02050604050505020204" pitchFamily="18" charset="0"/>
              </a:rPr>
              <a:t> Y</a:t>
            </a:r>
            <a:r>
              <a:rPr lang="ru-RU" sz="2200" dirty="0">
                <a:solidFill>
                  <a:srgbClr val="000000"/>
                </a:solidFill>
                <a:latin typeface="Bookman Old Style" panose="02050604050505020204" pitchFamily="18" charset="0"/>
              </a:rPr>
              <a:t>.   В подобной ситуации (2) часто рассматривают как </a:t>
            </a:r>
            <a:r>
              <a:rPr lang="ru-RU" sz="2200" i="1" dirty="0">
                <a:solidFill>
                  <a:srgbClr val="000000"/>
                </a:solidFill>
                <a:latin typeface="Bookman Old Style" panose="02050604050505020204" pitchFamily="18" charset="0"/>
              </a:rPr>
              <a:t>черный ящик</a:t>
            </a:r>
            <a:r>
              <a:rPr lang="ru-RU" sz="2200" dirty="0">
                <a:solidFill>
                  <a:srgbClr val="000000"/>
                </a:solidFill>
                <a:latin typeface="Bookman Old Style" panose="02050604050505020204" pitchFamily="18" charset="0"/>
              </a:rPr>
              <a:t>, в том смысле, что если </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 </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обеспечивает верные предсказания </a:t>
            </a:r>
            <a:r>
              <a:rPr lang="en-US" sz="2200" b="1" i="1"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 то точная форма этой функции для нас не важна.</a:t>
            </a:r>
            <a:endParaRPr lang="ru-RU" sz="2200" dirty="0">
              <a:solidFill>
                <a:srgbClr val="000000"/>
              </a:solidFill>
              <a:latin typeface="Times New Roman" panose="02020603050405020304" pitchFamily="18" charset="0"/>
            </a:endParaRPr>
          </a:p>
          <a:p>
            <a:r>
              <a:rPr lang="ru-RU" sz="2200" dirty="0">
                <a:solidFill>
                  <a:srgbClr val="000000"/>
                </a:solidFill>
                <a:latin typeface="Bookman Old Style" panose="02050604050505020204" pitchFamily="18" charset="0"/>
              </a:rPr>
              <a:t>Предположим, что </a:t>
            </a:r>
            <a:r>
              <a:rPr lang="ru-RU" sz="2200" i="1" dirty="0">
                <a:solidFill>
                  <a:srgbClr val="000000"/>
                </a:solidFill>
                <a:latin typeface="Bookman Old Style" panose="02050604050505020204" pitchFamily="18" charset="0"/>
              </a:rPr>
              <a:t>Х</a:t>
            </a:r>
            <a:r>
              <a:rPr lang="ru-RU" sz="2200" i="1" baseline="-25000" dirty="0">
                <a:solidFill>
                  <a:srgbClr val="000000"/>
                </a:solidFill>
                <a:latin typeface="Bookman Old Style" panose="02050604050505020204" pitchFamily="18" charset="0"/>
              </a:rPr>
              <a:t>1</a:t>
            </a:r>
            <a:r>
              <a:rPr lang="ru-RU" sz="2200" i="1" dirty="0">
                <a:solidFill>
                  <a:srgbClr val="000000"/>
                </a:solidFill>
                <a:latin typeface="Bookman Old Style" panose="02050604050505020204" pitchFamily="18" charset="0"/>
              </a:rPr>
              <a:t>,... ,Х</a:t>
            </a:r>
            <a:r>
              <a:rPr lang="ru-RU" sz="2200" i="1" baseline="-25000" dirty="0">
                <a:solidFill>
                  <a:srgbClr val="000000"/>
                </a:solidFill>
                <a:latin typeface="Bookman Old Style" panose="02050604050505020204" pitchFamily="18" charset="0"/>
              </a:rPr>
              <a:t>Р</a:t>
            </a:r>
            <a:r>
              <a:rPr lang="ru-RU" sz="2200" dirty="0">
                <a:solidFill>
                  <a:srgbClr val="000000"/>
                </a:solidFill>
                <a:latin typeface="Bookman Old Style" panose="02050604050505020204" pitchFamily="18" charset="0"/>
              </a:rPr>
              <a:t> являются характеристиками образца крови пациента, которые легко измерить в лаборатории, а </a:t>
            </a:r>
            <a:r>
              <a:rPr lang="en-US" sz="2200" b="1" i="1"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 — это переменная, отражающая риск того, что пациент проявит резко негативную реакцию на определенный лекарственный препарат. Предсказав </a:t>
            </a:r>
            <a:r>
              <a:rPr lang="en-US" sz="2200" b="1" i="1" dirty="0">
                <a:solidFill>
                  <a:srgbClr val="000000"/>
                </a:solidFill>
                <a:latin typeface="Bookman Old Style" panose="02050604050505020204" pitchFamily="18" charset="0"/>
              </a:rPr>
              <a:t>Y</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по </a:t>
            </a:r>
            <a:r>
              <a:rPr lang="ru-RU" sz="2200" b="1" i="1" dirty="0">
                <a:solidFill>
                  <a:srgbClr val="000000"/>
                </a:solidFill>
                <a:latin typeface="Bookman Old Style" panose="02050604050505020204" pitchFamily="18" charset="0"/>
              </a:rPr>
              <a:t>X</a:t>
            </a:r>
            <a:r>
              <a:rPr lang="ru-RU" sz="2200" i="1" dirty="0">
                <a:solidFill>
                  <a:srgbClr val="000000"/>
                </a:solidFill>
                <a:latin typeface="Bookman Old Style" panose="02050604050505020204" pitchFamily="18" charset="0"/>
              </a:rPr>
              <a:t>,</a:t>
            </a:r>
            <a:r>
              <a:rPr lang="ru-RU" sz="2200" dirty="0">
                <a:solidFill>
                  <a:srgbClr val="000000"/>
                </a:solidFill>
                <a:latin typeface="Bookman Old Style" panose="02050604050505020204" pitchFamily="18" charset="0"/>
              </a:rPr>
              <a:t> мы сможем избежать назначения данного препарата пациентам с высоким риском негативной реакции, т. е. пациентам с высокими значениями оценок </a:t>
            </a:r>
            <a:r>
              <a:rPr lang="en-US" sz="2200" b="1" i="1"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a:t>
            </a:r>
          </a:p>
        </p:txBody>
      </p:sp>
      <p:pic>
        <p:nvPicPr>
          <p:cNvPr id="4" name="Рисунок 3"/>
          <p:cNvPicPr>
            <a:picLocks noChangeAspect="1"/>
          </p:cNvPicPr>
          <p:nvPr/>
        </p:nvPicPr>
        <p:blipFill>
          <a:blip r:embed="rId2"/>
          <a:stretch>
            <a:fillRect/>
          </a:stretch>
        </p:blipFill>
        <p:spPr>
          <a:xfrm>
            <a:off x="5398021" y="2553466"/>
            <a:ext cx="1574850" cy="449957"/>
          </a:xfrm>
          <a:prstGeom prst="rect">
            <a:avLst/>
          </a:prstGeom>
        </p:spPr>
      </p:pic>
      <p:pic>
        <p:nvPicPr>
          <p:cNvPr id="8" name="Рисунок 7"/>
          <p:cNvPicPr>
            <a:picLocks noChangeAspect="1"/>
          </p:cNvPicPr>
          <p:nvPr/>
        </p:nvPicPr>
        <p:blipFill>
          <a:blip r:embed="rId3"/>
          <a:stretch>
            <a:fillRect/>
          </a:stretch>
        </p:blipFill>
        <p:spPr>
          <a:xfrm>
            <a:off x="1290818" y="3185289"/>
            <a:ext cx="288032" cy="532859"/>
          </a:xfrm>
          <a:prstGeom prst="rect">
            <a:avLst/>
          </a:prstGeom>
        </p:spPr>
      </p:pic>
      <p:pic>
        <p:nvPicPr>
          <p:cNvPr id="13" name="Рисунок 12"/>
          <p:cNvPicPr>
            <a:picLocks noChangeAspect="1"/>
          </p:cNvPicPr>
          <p:nvPr/>
        </p:nvPicPr>
        <p:blipFill>
          <a:blip r:embed="rId3"/>
          <a:stretch>
            <a:fillRect/>
          </a:stretch>
        </p:blipFill>
        <p:spPr>
          <a:xfrm>
            <a:off x="3237781" y="3923184"/>
            <a:ext cx="233540" cy="432048"/>
          </a:xfrm>
          <a:prstGeom prst="rect">
            <a:avLst/>
          </a:prstGeom>
        </p:spPr>
      </p:pic>
      <p:sp>
        <p:nvSpPr>
          <p:cNvPr id="5" name="Номер слайда 4">
            <a:extLst>
              <a:ext uri="{FF2B5EF4-FFF2-40B4-BE49-F238E27FC236}">
                <a16:creationId xmlns:a16="http://schemas.microsoft.com/office/drawing/2014/main" id="{8B0A0858-E802-4A10-B4CF-4BA3D589E615}"/>
              </a:ext>
            </a:extLst>
          </p:cNvPr>
          <p:cNvSpPr>
            <a:spLocks noGrp="1"/>
          </p:cNvSpPr>
          <p:nvPr>
            <p:ph type="sldNum" sz="quarter" idx="12"/>
          </p:nvPr>
        </p:nvSpPr>
        <p:spPr>
          <a:xfrm>
            <a:off x="11302677" y="6605017"/>
            <a:ext cx="732162" cy="379409"/>
          </a:xfrm>
        </p:spPr>
        <p:txBody>
          <a:bodyPr/>
          <a:lstStyle/>
          <a:p>
            <a:fld id="{952B6C0E-C4B9-4094-8E59-5B7DF00D5415}" type="slidenum">
              <a:rPr lang="ru-RU" smtClean="0">
                <a:solidFill>
                  <a:schemeClr val="tx1"/>
                </a:solidFill>
              </a:rPr>
              <a:t>42</a:t>
            </a:fld>
            <a:endParaRPr lang="ru-RU">
              <a:solidFill>
                <a:schemeClr val="tx1"/>
              </a:solidFill>
            </a:endParaRPr>
          </a:p>
        </p:txBody>
      </p:sp>
      <p:sp>
        <p:nvSpPr>
          <p:cNvPr id="11" name="Text Box 5">
            <a:extLst>
              <a:ext uri="{FF2B5EF4-FFF2-40B4-BE49-F238E27FC236}">
                <a16:creationId xmlns:a16="http://schemas.microsoft.com/office/drawing/2014/main" id="{5F9F5478-52C9-47A2-9CD6-68B778161DD7}"/>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954200070"/>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7" y="322264"/>
            <a:ext cx="10944520"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3" name="Прямоугольник 2"/>
          <p:cNvSpPr/>
          <p:nvPr/>
        </p:nvSpPr>
        <p:spPr>
          <a:xfrm>
            <a:off x="868497" y="1158307"/>
            <a:ext cx="11449268" cy="5847755"/>
          </a:xfrm>
          <a:prstGeom prst="rect">
            <a:avLst/>
          </a:prstGeom>
        </p:spPr>
        <p:txBody>
          <a:bodyPr wrap="square">
            <a:spAutoFit/>
          </a:bodyPr>
          <a:lstStyle/>
          <a:p>
            <a:r>
              <a:rPr lang="ru-RU" sz="2200" dirty="0">
                <a:solidFill>
                  <a:srgbClr val="000000"/>
                </a:solidFill>
                <a:latin typeface="Bookman Old Style" panose="02050604050505020204" pitchFamily="18" charset="0"/>
              </a:rPr>
              <a:t>Точность </a:t>
            </a:r>
            <a:r>
              <a:rPr lang="en-US" sz="2200" b="1" i="1" dirty="0">
                <a:solidFill>
                  <a:srgbClr val="000000"/>
                </a:solidFill>
                <a:latin typeface="Bookman Old Style" panose="02050604050505020204" pitchFamily="18" charset="0"/>
              </a:rPr>
              <a:t>Ŷ</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в качестве предсказанного значения </a:t>
            </a:r>
            <a:r>
              <a:rPr lang="en-US" sz="2200" b="1" i="1" dirty="0">
                <a:solidFill>
                  <a:srgbClr val="000000"/>
                </a:solidFill>
                <a:latin typeface="Bookman Old Style" panose="02050604050505020204" pitchFamily="18" charset="0"/>
              </a:rPr>
              <a:t>Y</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зависит от двух величин, которые мы будем называть </a:t>
            </a:r>
            <a:r>
              <a:rPr lang="ru-RU" sz="2200" i="1" dirty="0">
                <a:solidFill>
                  <a:schemeClr val="accent2">
                    <a:lumMod val="50000"/>
                  </a:schemeClr>
                </a:solidFill>
                <a:latin typeface="Bookman Old Style" panose="02050604050505020204" pitchFamily="18" charset="0"/>
              </a:rPr>
              <a:t>устранимой ошибкой </a:t>
            </a:r>
            <a:r>
              <a:rPr lang="ru-RU" sz="2200" dirty="0">
                <a:solidFill>
                  <a:srgbClr val="000000"/>
                </a:solidFill>
                <a:latin typeface="Bookman Old Style" panose="02050604050505020204" pitchFamily="18" charset="0"/>
              </a:rPr>
              <a:t>и </a:t>
            </a:r>
            <a:r>
              <a:rPr lang="ru-RU" sz="2200" i="1" dirty="0">
                <a:solidFill>
                  <a:schemeClr val="accent2">
                    <a:lumMod val="50000"/>
                  </a:schemeClr>
                </a:solidFill>
                <a:latin typeface="Bookman Old Style" panose="02050604050505020204" pitchFamily="18" charset="0"/>
              </a:rPr>
              <a:t>неустранимой ошибкой</a:t>
            </a:r>
            <a:r>
              <a:rPr lang="ru-RU" sz="2200" dirty="0">
                <a:solidFill>
                  <a:srgbClr val="000000"/>
                </a:solidFill>
                <a:latin typeface="Bookman Old Style" panose="02050604050505020204" pitchFamily="18" charset="0"/>
              </a:rPr>
              <a:t>. </a:t>
            </a:r>
            <a:endParaRPr lang="en-US" sz="2200" dirty="0">
              <a:solidFill>
                <a:srgbClr val="000000"/>
              </a:solidFill>
              <a:latin typeface="Bookman Old Style" panose="02050604050505020204" pitchFamily="18" charset="0"/>
            </a:endParaRPr>
          </a:p>
          <a:p>
            <a:r>
              <a:rPr lang="ru-RU" sz="2200" dirty="0">
                <a:solidFill>
                  <a:srgbClr val="000000"/>
                </a:solidFill>
                <a:latin typeface="Bookman Old Style" panose="02050604050505020204" pitchFamily="18" charset="0"/>
              </a:rPr>
              <a:t>Обычно    не будет идеальной оценкой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и эта неточность приведет к возникновению некоторой ошибки. Такая ошибка является </a:t>
            </a:r>
            <a:r>
              <a:rPr lang="ru-RU" sz="2200" b="1" i="1" dirty="0">
                <a:solidFill>
                  <a:schemeClr val="accent2">
                    <a:lumMod val="50000"/>
                  </a:schemeClr>
                </a:solidFill>
                <a:latin typeface="Bookman Old Style" panose="02050604050505020204" pitchFamily="18" charset="0"/>
              </a:rPr>
              <a:t>устранимой</a:t>
            </a:r>
            <a:r>
              <a:rPr lang="ru-RU" sz="2200" dirty="0">
                <a:solidFill>
                  <a:srgbClr val="000000"/>
                </a:solidFill>
                <a:latin typeface="Bookman Old Style" panose="02050604050505020204" pitchFamily="18" charset="0"/>
              </a:rPr>
              <a:t>, поскольку потенциально мы можем улучшить точность    , используя более подходящий статистический метод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Но даже если бы имелась возможность достичь настолько идеальной оценки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что </a:t>
            </a:r>
            <a:r>
              <a:rPr lang="en-US" sz="2200" b="1" i="1" dirty="0">
                <a:solidFill>
                  <a:srgbClr val="000000"/>
                </a:solidFill>
                <a:latin typeface="Bookman Old Style" panose="02050604050505020204" pitchFamily="18" charset="0"/>
              </a:rPr>
              <a:t>Ŷ </a:t>
            </a:r>
            <a:r>
              <a:rPr lang="ru-RU" sz="2200" b="1" i="1" dirty="0">
                <a:solidFill>
                  <a:srgbClr val="000000"/>
                </a:solidFill>
                <a:latin typeface="Bookman Old Style" panose="02050604050505020204" pitchFamily="18" charset="0"/>
              </a:rPr>
              <a:t>= </a:t>
            </a:r>
            <a:r>
              <a:rPr lang="en-US" sz="2200" b="1" i="1" dirty="0">
                <a:solidFill>
                  <a:srgbClr val="000000"/>
                </a:solidFill>
                <a:latin typeface="Bookman Old Style" panose="02050604050505020204" pitchFamily="18" charset="0"/>
              </a:rPr>
              <a:t>f(X)</a:t>
            </a:r>
            <a:r>
              <a:rPr lang="en-US" sz="2200"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наше предсказанное значение все равно содержало бы в себе некоторую ошибку! Это </a:t>
            </a:r>
            <a:r>
              <a:rPr lang="ru-RU" sz="2200" i="1" dirty="0">
                <a:solidFill>
                  <a:schemeClr val="accent2">
                    <a:lumMod val="50000"/>
                  </a:schemeClr>
                </a:solidFill>
                <a:latin typeface="Bookman Old Style" panose="02050604050505020204" pitchFamily="18" charset="0"/>
              </a:rPr>
              <a:t>неустранимая ошибка </a:t>
            </a:r>
            <a:r>
              <a:rPr lang="el-GR" sz="2200" dirty="0"/>
              <a:t>ε</a:t>
            </a:r>
            <a:r>
              <a:rPr lang="ru-RU" sz="2200" dirty="0">
                <a:solidFill>
                  <a:srgbClr val="000000"/>
                </a:solidFill>
                <a:latin typeface="Bookman Old Style" panose="02050604050505020204" pitchFamily="18" charset="0"/>
              </a:rPr>
              <a:t>. </a:t>
            </a:r>
          </a:p>
          <a:p>
            <a:r>
              <a:rPr lang="ru-RU" sz="2200" dirty="0">
                <a:solidFill>
                  <a:srgbClr val="000000"/>
                </a:solidFill>
                <a:latin typeface="Bookman Old Style" panose="02050604050505020204" pitchFamily="18" charset="0"/>
              </a:rPr>
              <a:t>	</a:t>
            </a:r>
            <a:r>
              <a:rPr lang="ru-RU" sz="2200" b="1" i="1" dirty="0">
                <a:solidFill>
                  <a:schemeClr val="accent2">
                    <a:lumMod val="50000"/>
                  </a:schemeClr>
                </a:solidFill>
                <a:latin typeface="Bookman Old Style" panose="02050604050505020204" pitchFamily="18" charset="0"/>
              </a:rPr>
              <a:t>Почему же неустранимая ошибка превышает нулевое значение? </a:t>
            </a:r>
            <a:r>
              <a:rPr lang="ru-RU" sz="2200" dirty="0">
                <a:solidFill>
                  <a:srgbClr val="000000"/>
                </a:solidFill>
                <a:latin typeface="Bookman Old Style" panose="02050604050505020204" pitchFamily="18" charset="0"/>
              </a:rPr>
              <a:t>Величина </a:t>
            </a:r>
            <a:r>
              <a:rPr lang="el-GR" sz="2200" dirty="0"/>
              <a:t>ε</a:t>
            </a:r>
            <a:r>
              <a:rPr lang="ru-RU" sz="2200" dirty="0">
                <a:solidFill>
                  <a:srgbClr val="000000"/>
                </a:solidFill>
                <a:latin typeface="Bookman Old Style" panose="02050604050505020204" pitchFamily="18" charset="0"/>
              </a:rPr>
              <a:t> может включать неучтенные переменные, которые полезны для предсказания </a:t>
            </a:r>
            <a:r>
              <a:rPr lang="en-US" sz="2200" i="1"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 но поскольку мы их не измеряем, то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не может использовать их для предсказания. Например, риск негативной реакции может варьировать у того или иного пациента в определенный день в зависимости условий производства самого лекарственного препарата или от общего состояния здоровья пациента в тот день.</a:t>
            </a:r>
          </a:p>
          <a:p>
            <a:endParaRPr lang="ru-RU" sz="2200" dirty="0"/>
          </a:p>
        </p:txBody>
      </p:sp>
      <p:pic>
        <p:nvPicPr>
          <p:cNvPr id="8" name="Рисунок 7"/>
          <p:cNvPicPr>
            <a:picLocks noChangeAspect="1"/>
          </p:cNvPicPr>
          <p:nvPr/>
        </p:nvPicPr>
        <p:blipFill>
          <a:blip r:embed="rId2"/>
          <a:stretch>
            <a:fillRect/>
          </a:stretch>
        </p:blipFill>
        <p:spPr>
          <a:xfrm>
            <a:off x="2085653" y="1776838"/>
            <a:ext cx="264953" cy="490162"/>
          </a:xfrm>
          <a:prstGeom prst="rect">
            <a:avLst/>
          </a:prstGeom>
        </p:spPr>
      </p:pic>
      <p:pic>
        <p:nvPicPr>
          <p:cNvPr id="10" name="Рисунок 9"/>
          <p:cNvPicPr>
            <a:picLocks noChangeAspect="1"/>
          </p:cNvPicPr>
          <p:nvPr/>
        </p:nvPicPr>
        <p:blipFill>
          <a:blip r:embed="rId2"/>
          <a:stretch>
            <a:fillRect/>
          </a:stretch>
        </p:blipFill>
        <p:spPr>
          <a:xfrm>
            <a:off x="8882603" y="2483024"/>
            <a:ext cx="246571" cy="456157"/>
          </a:xfrm>
          <a:prstGeom prst="rect">
            <a:avLst/>
          </a:prstGeom>
        </p:spPr>
      </p:pic>
      <p:sp>
        <p:nvSpPr>
          <p:cNvPr id="4" name="Номер слайда 3">
            <a:extLst>
              <a:ext uri="{FF2B5EF4-FFF2-40B4-BE49-F238E27FC236}">
                <a16:creationId xmlns:a16="http://schemas.microsoft.com/office/drawing/2014/main" id="{EC3B77F5-1570-4BBD-908E-FCA4D8B5B076}"/>
              </a:ext>
            </a:extLst>
          </p:cNvPr>
          <p:cNvSpPr>
            <a:spLocks noGrp="1"/>
          </p:cNvSpPr>
          <p:nvPr>
            <p:ph type="sldNum" sz="quarter" idx="12"/>
          </p:nvPr>
        </p:nvSpPr>
        <p:spPr>
          <a:xfrm>
            <a:off x="11374685" y="6605018"/>
            <a:ext cx="660154" cy="342504"/>
          </a:xfrm>
        </p:spPr>
        <p:txBody>
          <a:bodyPr/>
          <a:lstStyle/>
          <a:p>
            <a:fld id="{952B6C0E-C4B9-4094-8E59-5B7DF00D5415}" type="slidenum">
              <a:rPr lang="ru-RU" smtClean="0">
                <a:solidFill>
                  <a:schemeClr val="tx1"/>
                </a:solidFill>
              </a:rPr>
              <a:t>43</a:t>
            </a:fld>
            <a:endParaRPr lang="ru-RU" dirty="0">
              <a:solidFill>
                <a:schemeClr val="tx1"/>
              </a:solidFill>
            </a:endParaRPr>
          </a:p>
        </p:txBody>
      </p:sp>
      <p:sp>
        <p:nvSpPr>
          <p:cNvPr id="11" name="Скругленный прямоугольник 5">
            <a:extLst>
              <a:ext uri="{FF2B5EF4-FFF2-40B4-BE49-F238E27FC236}">
                <a16:creationId xmlns:a16="http://schemas.microsoft.com/office/drawing/2014/main" id="{48EA4F5B-2E59-4706-AEA5-955FAC54F1F9}"/>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Предсказательные задачи</a:t>
            </a:r>
          </a:p>
        </p:txBody>
      </p:sp>
      <p:sp>
        <p:nvSpPr>
          <p:cNvPr id="9" name="Text Box 5">
            <a:extLst>
              <a:ext uri="{FF2B5EF4-FFF2-40B4-BE49-F238E27FC236}">
                <a16:creationId xmlns:a16="http://schemas.microsoft.com/office/drawing/2014/main" id="{FC6A17CB-4C8A-49E8-8123-111F5CFB80E6}"/>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171447731"/>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13445" y="322265"/>
            <a:ext cx="12169352" cy="6049192"/>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883211" y="1038796"/>
            <a:ext cx="3022041" cy="40819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Предсказание</a:t>
            </a:r>
            <a:endParaRPr lang="ru-RU" sz="2400" dirty="0">
              <a:latin typeface="+mn-lt"/>
              <a:cs typeface="+mn-cs"/>
            </a:endParaRPr>
          </a:p>
        </p:txBody>
      </p:sp>
      <p:sp>
        <p:nvSpPr>
          <p:cNvPr id="3" name="Прямоугольник 2"/>
          <p:cNvSpPr/>
          <p:nvPr/>
        </p:nvSpPr>
        <p:spPr>
          <a:xfrm>
            <a:off x="717501" y="1550978"/>
            <a:ext cx="11317338" cy="4524315"/>
          </a:xfrm>
          <a:prstGeom prst="rect">
            <a:avLst/>
          </a:prstGeom>
        </p:spPr>
        <p:txBody>
          <a:bodyPr wrap="square">
            <a:spAutoFit/>
          </a:bodyPr>
          <a:lstStyle/>
          <a:p>
            <a:r>
              <a:rPr lang="ru-RU" sz="2400" dirty="0">
                <a:solidFill>
                  <a:srgbClr val="000000"/>
                </a:solidFill>
                <a:latin typeface="Bookman Old Style" panose="02050604050505020204" pitchFamily="18" charset="0"/>
              </a:rPr>
              <a:t>Точность </a:t>
            </a:r>
            <a:r>
              <a:rPr lang="en-US" sz="2400" b="1" i="1" dirty="0">
                <a:solidFill>
                  <a:srgbClr val="000000"/>
                </a:solidFill>
                <a:latin typeface="Bookman Old Style" panose="02050604050505020204" pitchFamily="18" charset="0"/>
              </a:rPr>
              <a:t>Ŷ</a:t>
            </a:r>
            <a:r>
              <a:rPr lang="en-US" sz="2400"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в качестве предсказанного значения </a:t>
            </a:r>
            <a:r>
              <a:rPr lang="en-US" sz="2400" b="1" i="1" dirty="0">
                <a:solidFill>
                  <a:srgbClr val="000000"/>
                </a:solidFill>
                <a:latin typeface="Bookman Old Style" panose="02050604050505020204" pitchFamily="18" charset="0"/>
              </a:rPr>
              <a:t>Y</a:t>
            </a:r>
            <a:r>
              <a:rPr lang="en-US" sz="2400"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зависит от двух величин, которые мы будем называть </a:t>
            </a:r>
            <a:r>
              <a:rPr lang="ru-RU" sz="2400" i="1" dirty="0">
                <a:solidFill>
                  <a:schemeClr val="accent2">
                    <a:lumMod val="50000"/>
                  </a:schemeClr>
                </a:solidFill>
                <a:latin typeface="Bookman Old Style" panose="02050604050505020204" pitchFamily="18" charset="0"/>
              </a:rPr>
              <a:t>устранимой ошибкой </a:t>
            </a:r>
            <a:r>
              <a:rPr lang="ru-RU" sz="2400" dirty="0">
                <a:solidFill>
                  <a:srgbClr val="000000"/>
                </a:solidFill>
                <a:latin typeface="Bookman Old Style" panose="02050604050505020204" pitchFamily="18" charset="0"/>
              </a:rPr>
              <a:t>и </a:t>
            </a:r>
            <a:r>
              <a:rPr lang="ru-RU" sz="2400" i="1" dirty="0">
                <a:solidFill>
                  <a:schemeClr val="accent2">
                    <a:lumMod val="50000"/>
                  </a:schemeClr>
                </a:solidFill>
                <a:latin typeface="Bookman Old Style" panose="02050604050505020204" pitchFamily="18" charset="0"/>
              </a:rPr>
              <a:t>неустранимой ошибкой</a:t>
            </a:r>
            <a:r>
              <a:rPr lang="ru-RU" sz="2400" dirty="0">
                <a:solidFill>
                  <a:srgbClr val="000000"/>
                </a:solidFill>
                <a:latin typeface="Bookman Old Style" panose="02050604050505020204" pitchFamily="18" charset="0"/>
              </a:rPr>
              <a:t>. </a:t>
            </a:r>
          </a:p>
          <a:p>
            <a:endParaRPr lang="ru-RU" sz="2400" dirty="0">
              <a:solidFill>
                <a:srgbClr val="000000"/>
              </a:solidFill>
              <a:latin typeface="Bookman Old Style" panose="02050604050505020204" pitchFamily="18" charset="0"/>
            </a:endParaRPr>
          </a:p>
          <a:p>
            <a:endParaRPr lang="ru-RU" sz="2400" dirty="0">
              <a:solidFill>
                <a:srgbClr val="000000"/>
              </a:solidFill>
              <a:latin typeface="Bookman Old Style" panose="02050604050505020204" pitchFamily="18" charset="0"/>
            </a:endParaRPr>
          </a:p>
          <a:p>
            <a:pPr algn="r"/>
            <a:r>
              <a:rPr lang="ru-RU" sz="2400" dirty="0">
                <a:solidFill>
                  <a:srgbClr val="000000"/>
                </a:solidFill>
                <a:latin typeface="Bookman Old Style" panose="02050604050505020204" pitchFamily="18" charset="0"/>
              </a:rPr>
              <a:t> (3)</a:t>
            </a:r>
          </a:p>
          <a:p>
            <a:endParaRPr lang="ru-RU" sz="2400" dirty="0">
              <a:solidFill>
                <a:srgbClr val="000000"/>
              </a:solidFill>
              <a:latin typeface="Bookman Old Style" panose="02050604050505020204" pitchFamily="18" charset="0"/>
            </a:endParaRPr>
          </a:p>
          <a:p>
            <a:endParaRPr lang="ru-RU" sz="2400" dirty="0">
              <a:solidFill>
                <a:srgbClr val="000000"/>
              </a:solidFill>
              <a:latin typeface="Bookman Old Style" panose="02050604050505020204" pitchFamily="18" charset="0"/>
            </a:endParaRPr>
          </a:p>
          <a:p>
            <a:endParaRPr lang="ru-RU" sz="2400" dirty="0">
              <a:solidFill>
                <a:srgbClr val="000000"/>
              </a:solidFill>
              <a:latin typeface="Bookman Old Style" panose="02050604050505020204" pitchFamily="18" charset="0"/>
            </a:endParaRPr>
          </a:p>
          <a:p>
            <a:r>
              <a:rPr lang="ru-RU" sz="2400" dirty="0">
                <a:solidFill>
                  <a:srgbClr val="000000"/>
                </a:solidFill>
                <a:latin typeface="Bookman Old Style" panose="02050604050505020204" pitchFamily="18" charset="0"/>
              </a:rPr>
              <a:t>здесь </a:t>
            </a:r>
            <a:r>
              <a:rPr lang="en-US" sz="2400" b="1" i="1" dirty="0">
                <a:solidFill>
                  <a:srgbClr val="000000"/>
                </a:solidFill>
                <a:latin typeface="Bookman Old Style" panose="02050604050505020204" pitchFamily="18" charset="0"/>
              </a:rPr>
              <a:t>E</a:t>
            </a:r>
            <a:r>
              <a:rPr lang="ru-RU" sz="2400" b="1" i="1" dirty="0">
                <a:solidFill>
                  <a:srgbClr val="000000"/>
                </a:solidFill>
                <a:latin typeface="Bookman Old Style" panose="02050604050505020204" pitchFamily="18" charset="0"/>
              </a:rPr>
              <a:t>(</a:t>
            </a:r>
            <a:r>
              <a:rPr lang="en-US" sz="2400" b="1" i="1" dirty="0">
                <a:solidFill>
                  <a:srgbClr val="000000"/>
                </a:solidFill>
                <a:latin typeface="Bookman Old Style" panose="02050604050505020204" pitchFamily="18" charset="0"/>
              </a:rPr>
              <a:t>Y </a:t>
            </a:r>
            <a:r>
              <a:rPr lang="ru-RU" sz="2400" b="1" i="1" dirty="0">
                <a:solidFill>
                  <a:srgbClr val="000000"/>
                </a:solidFill>
                <a:latin typeface="Bookman Old Style" panose="02050604050505020204" pitchFamily="18" charset="0"/>
              </a:rPr>
              <a:t>—</a:t>
            </a:r>
            <a:r>
              <a:rPr lang="en-US" sz="2400" b="1" i="1" dirty="0">
                <a:solidFill>
                  <a:srgbClr val="000000"/>
                </a:solidFill>
                <a:latin typeface="Bookman Old Style" panose="02050604050505020204" pitchFamily="18" charset="0"/>
              </a:rPr>
              <a:t>Ŷ </a:t>
            </a:r>
            <a:r>
              <a:rPr lang="ru-RU" sz="2400" b="1" i="1" dirty="0">
                <a:solidFill>
                  <a:srgbClr val="000000"/>
                </a:solidFill>
                <a:latin typeface="Bookman Old Style" panose="02050604050505020204" pitchFamily="18" charset="0"/>
              </a:rPr>
              <a:t>)</a:t>
            </a:r>
            <a:r>
              <a:rPr lang="en-US" sz="2400" b="1" i="1" baseline="30000" dirty="0">
                <a:solidFill>
                  <a:srgbClr val="000000"/>
                </a:solidFill>
                <a:latin typeface="Bookman Old Style" panose="02050604050505020204" pitchFamily="18" charset="0"/>
              </a:rPr>
              <a:t>2</a:t>
            </a:r>
            <a:r>
              <a:rPr lang="en-US" sz="2400" b="1" i="1"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представляет собой среднее, или ожидаемое, значение квадрата разности между предсказанным и истинным значением </a:t>
            </a:r>
            <a:r>
              <a:rPr lang="en-US" sz="2400" b="1" i="1" dirty="0">
                <a:solidFill>
                  <a:srgbClr val="000000"/>
                </a:solidFill>
                <a:latin typeface="Bookman Old Style" panose="02050604050505020204" pitchFamily="18" charset="0"/>
              </a:rPr>
              <a:t>Y</a:t>
            </a:r>
            <a:r>
              <a:rPr lang="en-US" sz="2400"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а </a:t>
            </a:r>
            <a:r>
              <a:rPr lang="en-US" sz="2400" b="1" i="1" dirty="0" err="1">
                <a:solidFill>
                  <a:srgbClr val="000000"/>
                </a:solidFill>
                <a:latin typeface="Bookman Old Style" panose="02050604050505020204" pitchFamily="18" charset="0"/>
              </a:rPr>
              <a:t>Var</a:t>
            </a:r>
            <a:r>
              <a:rPr lang="en-US" sz="2400" b="1" i="1" dirty="0">
                <a:solidFill>
                  <a:srgbClr val="000000"/>
                </a:solidFill>
                <a:latin typeface="Bookman Old Style" panose="02050604050505020204" pitchFamily="18" charset="0"/>
              </a:rPr>
              <a:t>(</a:t>
            </a:r>
            <a:r>
              <a:rPr lang="el-GR" sz="2400" b="1" i="1" dirty="0"/>
              <a:t>ε</a:t>
            </a:r>
            <a:r>
              <a:rPr lang="en-US" sz="2400" b="1" i="1"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 дисперсию, связанную с ошибкой </a:t>
            </a:r>
            <a:r>
              <a:rPr lang="el-GR" sz="2400" dirty="0"/>
              <a:t>ε</a:t>
            </a:r>
            <a:r>
              <a:rPr lang="ru-RU" sz="2400" dirty="0">
                <a:solidFill>
                  <a:srgbClr val="000000"/>
                </a:solidFill>
                <a:latin typeface="Bookman Old Style" panose="02050604050505020204" pitchFamily="18" charset="0"/>
              </a:rPr>
              <a:t>.</a:t>
            </a:r>
          </a:p>
        </p:txBody>
      </p:sp>
      <p:pic>
        <p:nvPicPr>
          <p:cNvPr id="4" name="Рисунок 3"/>
          <p:cNvPicPr>
            <a:picLocks noChangeAspect="1"/>
          </p:cNvPicPr>
          <p:nvPr/>
        </p:nvPicPr>
        <p:blipFill>
          <a:blip r:embed="rId2"/>
          <a:stretch>
            <a:fillRect/>
          </a:stretch>
        </p:blipFill>
        <p:spPr>
          <a:xfrm>
            <a:off x="2373685" y="2771058"/>
            <a:ext cx="7743158" cy="980877"/>
          </a:xfrm>
          <a:prstGeom prst="rect">
            <a:avLst/>
          </a:prstGeom>
        </p:spPr>
      </p:pic>
      <p:sp>
        <p:nvSpPr>
          <p:cNvPr id="5" name="Номер слайда 4">
            <a:extLst>
              <a:ext uri="{FF2B5EF4-FFF2-40B4-BE49-F238E27FC236}">
                <a16:creationId xmlns:a16="http://schemas.microsoft.com/office/drawing/2014/main" id="{65DBC588-7A98-4427-8C6B-FF0C30E9051D}"/>
              </a:ext>
            </a:extLst>
          </p:cNvPr>
          <p:cNvSpPr>
            <a:spLocks noGrp="1"/>
          </p:cNvSpPr>
          <p:nvPr>
            <p:ph type="sldNum" sz="quarter" idx="12"/>
          </p:nvPr>
        </p:nvSpPr>
        <p:spPr>
          <a:xfrm>
            <a:off x="11302677" y="6569531"/>
            <a:ext cx="732162" cy="414895"/>
          </a:xfrm>
        </p:spPr>
        <p:txBody>
          <a:bodyPr/>
          <a:lstStyle/>
          <a:p>
            <a:fld id="{952B6C0E-C4B9-4094-8E59-5B7DF00D5415}" type="slidenum">
              <a:rPr lang="ru-RU" smtClean="0">
                <a:solidFill>
                  <a:schemeClr val="tx1"/>
                </a:solidFill>
              </a:rPr>
              <a:t>44</a:t>
            </a:fld>
            <a:endParaRPr lang="ru-RU" dirty="0">
              <a:solidFill>
                <a:schemeClr val="tx1"/>
              </a:solidFill>
            </a:endParaRPr>
          </a:p>
        </p:txBody>
      </p:sp>
      <p:sp>
        <p:nvSpPr>
          <p:cNvPr id="9" name="Скругленный прямоугольник 5">
            <a:extLst>
              <a:ext uri="{FF2B5EF4-FFF2-40B4-BE49-F238E27FC236}">
                <a16:creationId xmlns:a16="http://schemas.microsoft.com/office/drawing/2014/main" id="{EAF23A47-D1E8-40D2-8121-FA05F7960923}"/>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Предсказательные задачи</a:t>
            </a:r>
          </a:p>
        </p:txBody>
      </p:sp>
      <p:sp>
        <p:nvSpPr>
          <p:cNvPr id="10" name="Text Box 5">
            <a:extLst>
              <a:ext uri="{FF2B5EF4-FFF2-40B4-BE49-F238E27FC236}">
                <a16:creationId xmlns:a16="http://schemas.microsoft.com/office/drawing/2014/main" id="{1C3AD960-CBD4-4210-9971-14F3729392ED}"/>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770773073"/>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53442" y="353611"/>
            <a:ext cx="11893402"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3" name="Прямоугольник 2"/>
          <p:cNvSpPr/>
          <p:nvPr/>
        </p:nvSpPr>
        <p:spPr>
          <a:xfrm>
            <a:off x="429469" y="1042864"/>
            <a:ext cx="11893402" cy="4093428"/>
          </a:xfrm>
          <a:prstGeom prst="rect">
            <a:avLst/>
          </a:prstGeom>
        </p:spPr>
        <p:txBody>
          <a:bodyPr wrap="square">
            <a:spAutoFit/>
          </a:bodyPr>
          <a:lstStyle/>
          <a:p>
            <a:pPr indent="363541"/>
            <a:r>
              <a:rPr lang="ru-RU" dirty="0">
                <a:solidFill>
                  <a:srgbClr val="000000"/>
                </a:solidFill>
                <a:latin typeface="Bookman Old Style" panose="02050604050505020204" pitchFamily="18" charset="0"/>
              </a:rPr>
              <a:t>Часто мы заинтересованы в понимании того, как изменение Х</a:t>
            </a:r>
            <a:r>
              <a:rPr lang="ru-RU" baseline="-25000" dirty="0">
                <a:solidFill>
                  <a:srgbClr val="000000"/>
                </a:solidFill>
                <a:latin typeface="Bookman Old Style" panose="02050604050505020204" pitchFamily="18" charset="0"/>
              </a:rPr>
              <a:t>1</a:t>
            </a:r>
            <a:r>
              <a:rPr lang="ru-RU" dirty="0">
                <a:solidFill>
                  <a:srgbClr val="000000"/>
                </a:solidFill>
                <a:latin typeface="Bookman Old Style" panose="02050604050505020204" pitchFamily="18" charset="0"/>
              </a:rPr>
              <a:t>,... ,Х</a:t>
            </a:r>
            <a:r>
              <a:rPr lang="ru-RU" baseline="-25000" dirty="0">
                <a:solidFill>
                  <a:srgbClr val="000000"/>
                </a:solidFill>
                <a:latin typeface="Bookman Old Style" panose="02050604050505020204" pitchFamily="18" charset="0"/>
              </a:rPr>
              <a:t>Р</a:t>
            </a:r>
            <a:r>
              <a:rPr lang="ru-RU" dirty="0">
                <a:solidFill>
                  <a:srgbClr val="000000"/>
                </a:solidFill>
                <a:latin typeface="Bookman Old Style" panose="02050604050505020204" pitchFamily="18" charset="0"/>
              </a:rPr>
              <a:t> влияет на </a:t>
            </a:r>
            <a:r>
              <a:rPr lang="en-US" dirty="0">
                <a:solidFill>
                  <a:srgbClr val="000000"/>
                </a:solidFill>
                <a:latin typeface="Bookman Old Style" panose="02050604050505020204" pitchFamily="18" charset="0"/>
              </a:rPr>
              <a:t>Y</a:t>
            </a:r>
            <a:r>
              <a:rPr lang="ru-RU" dirty="0">
                <a:solidFill>
                  <a:srgbClr val="000000"/>
                </a:solidFill>
                <a:latin typeface="Bookman Old Style" panose="02050604050505020204" pitchFamily="18" charset="0"/>
              </a:rPr>
              <a:t>. В этом случае </a:t>
            </a:r>
            <a:r>
              <a:rPr lang="en-US" b="1" i="1" dirty="0">
                <a:solidFill>
                  <a:srgbClr val="000000"/>
                </a:solidFill>
                <a:latin typeface="Bookman Old Style" panose="02050604050505020204" pitchFamily="18" charset="0"/>
              </a:rPr>
              <a:t>f</a:t>
            </a:r>
            <a:r>
              <a:rPr lang="ru-RU" dirty="0">
                <a:solidFill>
                  <a:srgbClr val="000000"/>
                </a:solidFill>
                <a:latin typeface="Bookman Old Style" panose="02050604050505020204" pitchFamily="18" charset="0"/>
              </a:rPr>
              <a:t> нельзя рассматривать в качестве черного ящика, поскольку нам нужно знать ее </a:t>
            </a:r>
            <a:r>
              <a:rPr lang="ru-RU" b="1" i="1" dirty="0">
                <a:solidFill>
                  <a:schemeClr val="accent2">
                    <a:lumMod val="50000"/>
                  </a:schemeClr>
                </a:solidFill>
                <a:latin typeface="Bookman Old Style" panose="02050604050505020204" pitchFamily="18" charset="0"/>
              </a:rPr>
              <a:t>точную форму</a:t>
            </a:r>
            <a:r>
              <a:rPr lang="ru-RU" dirty="0">
                <a:solidFill>
                  <a:srgbClr val="000000"/>
                </a:solidFill>
                <a:latin typeface="Bookman Old Style" panose="02050604050505020204" pitchFamily="18" charset="0"/>
              </a:rPr>
              <a:t>. При таком сценарии мы можем быть заинтересованы в ответе на следующие вопросы:</a:t>
            </a:r>
          </a:p>
          <a:p>
            <a:pPr marL="342903" indent="-342903">
              <a:buFont typeface="Arial" panose="020B0604020202020204" pitchFamily="34" charset="0"/>
              <a:buChar char="•"/>
            </a:pPr>
            <a:r>
              <a:rPr lang="ru-RU" dirty="0">
                <a:solidFill>
                  <a:srgbClr val="000000"/>
                </a:solidFill>
                <a:latin typeface="Bookman Old Style" panose="02050604050505020204" pitchFamily="18" charset="0"/>
              </a:rPr>
              <a:t>Какие предикторы связаны с откликом? (Часто только небольшая часть имеющихся в распоряжении предикторов тесно связана с </a:t>
            </a:r>
            <a:r>
              <a:rPr lang="en-US" dirty="0">
                <a:solidFill>
                  <a:srgbClr val="000000"/>
                </a:solidFill>
                <a:latin typeface="Bookman Old Style" panose="02050604050505020204" pitchFamily="18" charset="0"/>
              </a:rPr>
              <a:t>Y</a:t>
            </a:r>
            <a:r>
              <a:rPr lang="ru-RU" dirty="0">
                <a:solidFill>
                  <a:srgbClr val="000000"/>
                </a:solidFill>
                <a:latin typeface="Bookman Old Style" panose="02050604050505020204" pitchFamily="18" charset="0"/>
              </a:rPr>
              <a:t>).</a:t>
            </a:r>
          </a:p>
          <a:p>
            <a:pPr marL="342903" indent="-342903">
              <a:buFont typeface="Arial" panose="020B0604020202020204" pitchFamily="34" charset="0"/>
              <a:buChar char="•"/>
            </a:pPr>
            <a:r>
              <a:rPr lang="ru-RU" dirty="0">
                <a:solidFill>
                  <a:srgbClr val="000000"/>
                </a:solidFill>
                <a:latin typeface="Bookman Old Style" panose="02050604050505020204" pitchFamily="18" charset="0"/>
              </a:rPr>
              <a:t>Какова связь между откликом и каждым предиктором? Некоторые предикторы могут иметь положительную связь с </a:t>
            </a:r>
            <a:r>
              <a:rPr lang="en-US" b="1" i="1" dirty="0">
                <a:solidFill>
                  <a:srgbClr val="000000"/>
                </a:solidFill>
                <a:latin typeface="Bookman Old Style" panose="02050604050505020204" pitchFamily="18" charset="0"/>
              </a:rPr>
              <a:t>Y</a:t>
            </a:r>
            <a:r>
              <a:rPr lang="en-US" dirty="0">
                <a:solidFill>
                  <a:srgbClr val="000000"/>
                </a:solidFill>
                <a:latin typeface="Bookman Old Style" panose="02050604050505020204" pitchFamily="18" charset="0"/>
              </a:rPr>
              <a:t> </a:t>
            </a:r>
            <a:r>
              <a:rPr lang="ru-RU" dirty="0">
                <a:solidFill>
                  <a:srgbClr val="000000"/>
                </a:solidFill>
                <a:latin typeface="Bookman Old Style" panose="02050604050505020204" pitchFamily="18" charset="0"/>
              </a:rPr>
              <a:t>- увеличение предиктора вызывает возрастание значений </a:t>
            </a:r>
            <a:r>
              <a:rPr lang="en-US" b="1" i="1" dirty="0">
                <a:solidFill>
                  <a:srgbClr val="000000"/>
                </a:solidFill>
                <a:latin typeface="Bookman Old Style" panose="02050604050505020204" pitchFamily="18" charset="0"/>
              </a:rPr>
              <a:t>Y</a:t>
            </a:r>
            <a:r>
              <a:rPr lang="ru-RU" dirty="0">
                <a:solidFill>
                  <a:srgbClr val="000000"/>
                </a:solidFill>
                <a:latin typeface="Bookman Old Style" panose="02050604050505020204" pitchFamily="18" charset="0"/>
              </a:rPr>
              <a:t>. Другие  - отрицательную. В зависимости от сложности </a:t>
            </a:r>
            <a:r>
              <a:rPr lang="en-US" b="1" i="1" dirty="0">
                <a:solidFill>
                  <a:srgbClr val="000000"/>
                </a:solidFill>
                <a:latin typeface="Bookman Old Style" panose="02050604050505020204" pitchFamily="18" charset="0"/>
              </a:rPr>
              <a:t>f</a:t>
            </a:r>
            <a:r>
              <a:rPr lang="ru-RU" dirty="0">
                <a:solidFill>
                  <a:srgbClr val="000000"/>
                </a:solidFill>
                <a:latin typeface="Bookman Old Style" panose="02050604050505020204" pitchFamily="18" charset="0"/>
              </a:rPr>
              <a:t> связь между откликом и некоторым предиктором может зависеть также от значений других предикторов.</a:t>
            </a:r>
          </a:p>
          <a:p>
            <a:pPr marL="342903" indent="-342903">
              <a:buFont typeface="Arial" panose="020B0604020202020204" pitchFamily="34" charset="0"/>
              <a:buChar char="•"/>
            </a:pPr>
            <a:r>
              <a:rPr lang="ru-RU" dirty="0">
                <a:solidFill>
                  <a:srgbClr val="000000"/>
                </a:solidFill>
                <a:latin typeface="Bookman Old Style" panose="02050604050505020204" pitchFamily="18" charset="0"/>
              </a:rPr>
              <a:t>Можно ли связь между </a:t>
            </a:r>
            <a:r>
              <a:rPr lang="en-US" b="1" i="1" dirty="0">
                <a:solidFill>
                  <a:srgbClr val="000000"/>
                </a:solidFill>
                <a:latin typeface="Bookman Old Style" panose="02050604050505020204" pitchFamily="18" charset="0"/>
              </a:rPr>
              <a:t>Y</a:t>
            </a:r>
            <a:r>
              <a:rPr lang="en-US" dirty="0">
                <a:solidFill>
                  <a:srgbClr val="000000"/>
                </a:solidFill>
                <a:latin typeface="Bookman Old Style" panose="02050604050505020204" pitchFamily="18" charset="0"/>
              </a:rPr>
              <a:t> </a:t>
            </a:r>
            <a:r>
              <a:rPr lang="ru-RU" dirty="0">
                <a:solidFill>
                  <a:srgbClr val="000000"/>
                </a:solidFill>
                <a:latin typeface="Bookman Old Style" panose="02050604050505020204" pitchFamily="18" charset="0"/>
              </a:rPr>
              <a:t>и каждым предиктором адекватно обобщить в виде линейного уравнения, или эта связь является более сложной? </a:t>
            </a:r>
          </a:p>
        </p:txBody>
      </p:sp>
      <p:sp>
        <p:nvSpPr>
          <p:cNvPr id="4" name="Номер слайда 3">
            <a:extLst>
              <a:ext uri="{FF2B5EF4-FFF2-40B4-BE49-F238E27FC236}">
                <a16:creationId xmlns:a16="http://schemas.microsoft.com/office/drawing/2014/main" id="{B12E61B4-EBE3-4CB3-81E8-427013624464}"/>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45</a:t>
            </a:fld>
            <a:endParaRPr lang="ru-RU" dirty="0">
              <a:solidFill>
                <a:schemeClr val="tx1"/>
              </a:solidFill>
            </a:endParaRPr>
          </a:p>
        </p:txBody>
      </p:sp>
      <p:sp>
        <p:nvSpPr>
          <p:cNvPr id="8" name="Text Box 5">
            <a:extLst>
              <a:ext uri="{FF2B5EF4-FFF2-40B4-BE49-F238E27FC236}">
                <a16:creationId xmlns:a16="http://schemas.microsoft.com/office/drawing/2014/main" id="{74A9B1DE-4DA5-4A2A-92A8-20FF72C883EC}"/>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1" name="Прямоугольник 10">
            <a:extLst>
              <a:ext uri="{FF2B5EF4-FFF2-40B4-BE49-F238E27FC236}">
                <a16:creationId xmlns:a16="http://schemas.microsoft.com/office/drawing/2014/main" id="{96B7E8A2-F7F5-4D15-82B6-892A6D0EEB8C}"/>
              </a:ext>
            </a:extLst>
          </p:cNvPr>
          <p:cNvSpPr/>
          <p:nvPr/>
        </p:nvSpPr>
        <p:spPr>
          <a:xfrm>
            <a:off x="316420" y="5070481"/>
            <a:ext cx="12230424" cy="1631216"/>
          </a:xfrm>
          <a:prstGeom prst="rect">
            <a:avLst/>
          </a:prstGeom>
        </p:spPr>
        <p:txBody>
          <a:bodyPr wrap="square">
            <a:spAutoFit/>
          </a:bodyPr>
          <a:lstStyle/>
          <a:p>
            <a:pPr marL="342903" indent="-342903">
              <a:buFont typeface="Arial" panose="020B0604020202020204" pitchFamily="34" charset="0"/>
              <a:buChar char="•"/>
            </a:pPr>
            <a:r>
              <a:rPr lang="ru-RU" dirty="0">
                <a:solidFill>
                  <a:srgbClr val="000000"/>
                </a:solidFill>
                <a:latin typeface="Bookman Old Style" panose="02050604050505020204" pitchFamily="18" charset="0"/>
              </a:rPr>
              <a:t>Исторически сложилось так, что </a:t>
            </a:r>
            <a:r>
              <a:rPr lang="ru-RU" b="1" dirty="0">
                <a:solidFill>
                  <a:srgbClr val="000000"/>
                </a:solidFill>
                <a:latin typeface="Bookman Old Style" panose="02050604050505020204" pitchFamily="18" charset="0"/>
              </a:rPr>
              <a:t>большинство методов для оценивания </a:t>
            </a:r>
            <a:r>
              <a:rPr lang="en-US" b="1" i="1" dirty="0">
                <a:solidFill>
                  <a:srgbClr val="000000"/>
                </a:solidFill>
                <a:latin typeface="Bookman Old Style" panose="02050604050505020204" pitchFamily="18" charset="0"/>
              </a:rPr>
              <a:t>f</a:t>
            </a:r>
            <a:r>
              <a:rPr lang="ru-RU" dirty="0">
                <a:solidFill>
                  <a:srgbClr val="000000"/>
                </a:solidFill>
                <a:latin typeface="Bookman Old Style" panose="02050604050505020204" pitchFamily="18" charset="0"/>
              </a:rPr>
              <a:t> </a:t>
            </a:r>
            <a:r>
              <a:rPr lang="ru-RU" b="1" dirty="0">
                <a:solidFill>
                  <a:srgbClr val="000000"/>
                </a:solidFill>
                <a:latin typeface="Bookman Old Style" panose="02050604050505020204" pitchFamily="18" charset="0"/>
              </a:rPr>
              <a:t>подразумевали линейную форму</a:t>
            </a:r>
            <a:r>
              <a:rPr lang="ru-RU" dirty="0">
                <a:solidFill>
                  <a:srgbClr val="000000"/>
                </a:solidFill>
                <a:latin typeface="Bookman Old Style" panose="02050604050505020204" pitchFamily="18" charset="0"/>
              </a:rPr>
              <a:t>. В некоторых ситуациях такое допущение является обоснованным или даже желательным. Однако часто истинная связь является более сложной и линейная модель не способна обеспечить адекватное представление зависимости между входными и выходными переменными.</a:t>
            </a:r>
          </a:p>
        </p:txBody>
      </p:sp>
      <p:sp>
        <p:nvSpPr>
          <p:cNvPr id="2" name="Прямоугольник 1"/>
          <p:cNvSpPr/>
          <p:nvPr/>
        </p:nvSpPr>
        <p:spPr>
          <a:xfrm>
            <a:off x="1005533" y="553375"/>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Статистический вывод</a:t>
            </a:r>
          </a:p>
          <a:p>
            <a:pPr defTabSz="993783">
              <a:spcBef>
                <a:spcPct val="20000"/>
              </a:spcBef>
            </a:pPr>
            <a:endParaRPr lang="ru-RU" sz="2400" dirty="0">
              <a:latin typeface="+mn-lt"/>
              <a:cs typeface="+mn-cs"/>
            </a:endParaRPr>
          </a:p>
        </p:txBody>
      </p:sp>
    </p:spTree>
    <p:extLst>
      <p:ext uri="{BB962C8B-B14F-4D97-AF65-F5344CB8AC3E}">
        <p14:creationId xmlns:p14="http://schemas.microsoft.com/office/powerpoint/2010/main" val="1577741514"/>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7" y="322264"/>
            <a:ext cx="10944520"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3" name="Прямоугольник 2"/>
          <p:cNvSpPr/>
          <p:nvPr/>
        </p:nvSpPr>
        <p:spPr>
          <a:xfrm>
            <a:off x="393465" y="1428458"/>
            <a:ext cx="11881320" cy="5509200"/>
          </a:xfrm>
          <a:prstGeom prst="rect">
            <a:avLst/>
          </a:prstGeom>
        </p:spPr>
        <p:txBody>
          <a:bodyPr wrap="square">
            <a:spAutoFit/>
          </a:bodyPr>
          <a:lstStyle/>
          <a:p>
            <a:r>
              <a:rPr lang="ru-RU" sz="2200" dirty="0">
                <a:solidFill>
                  <a:srgbClr val="000000"/>
                </a:solidFill>
                <a:latin typeface="Bookman Old Style" panose="02050604050505020204" pitchFamily="18" charset="0"/>
              </a:rPr>
              <a:t>Рассмотрим данные из таблицы </a:t>
            </a:r>
            <a:r>
              <a:rPr lang="en-US" sz="2200" i="1" dirty="0">
                <a:solidFill>
                  <a:schemeClr val="accent2">
                    <a:lumMod val="50000"/>
                  </a:schemeClr>
                </a:solidFill>
                <a:latin typeface="Bookman Old Style" panose="02050604050505020204" pitchFamily="18" charset="0"/>
              </a:rPr>
              <a:t>Advertising</a:t>
            </a:r>
            <a:r>
              <a:rPr lang="en-US" sz="2200" dirty="0">
                <a:solidFill>
                  <a:srgbClr val="000000"/>
                </a:solidFill>
                <a:latin typeface="Bookman Old Style" panose="02050604050505020204" pitchFamily="18" charset="0"/>
              </a:rPr>
              <a:t>, </a:t>
            </a:r>
            <a:endParaRPr lang="ru-RU" sz="2200" dirty="0">
              <a:solidFill>
                <a:srgbClr val="000000"/>
              </a:solidFill>
              <a:latin typeface="Bookman Old Style" panose="02050604050505020204" pitchFamily="18" charset="0"/>
            </a:endParaRPr>
          </a:p>
          <a:p>
            <a:r>
              <a:rPr lang="ru-RU" sz="2200" dirty="0">
                <a:solidFill>
                  <a:srgbClr val="000000"/>
                </a:solidFill>
                <a:latin typeface="Bookman Old Style" panose="02050604050505020204" pitchFamily="18" charset="0"/>
              </a:rPr>
              <a:t>Интерес могут представлять ответы на следующие вопросы:</a:t>
            </a:r>
          </a:p>
          <a:p>
            <a:pPr marL="342903" indent="-342903">
              <a:buFont typeface="Arial" panose="020B0604020202020204" pitchFamily="34" charset="0"/>
              <a:buChar char="•"/>
            </a:pPr>
            <a:r>
              <a:rPr lang="ru-RU" sz="2200" dirty="0">
                <a:solidFill>
                  <a:srgbClr val="000000"/>
                </a:solidFill>
                <a:latin typeface="Bookman Old Style" panose="02050604050505020204" pitchFamily="18" charset="0"/>
              </a:rPr>
              <a:t>Какие СМИ способствуют продажами?</a:t>
            </a:r>
          </a:p>
          <a:p>
            <a:pPr marL="342903" indent="-342903">
              <a:buFont typeface="Arial" panose="020B0604020202020204" pitchFamily="34" charset="0"/>
              <a:buChar char="•"/>
            </a:pPr>
            <a:r>
              <a:rPr lang="ru-RU" sz="2200" dirty="0">
                <a:solidFill>
                  <a:srgbClr val="000000"/>
                </a:solidFill>
                <a:latin typeface="Bookman Old Style" panose="02050604050505020204" pitchFamily="18" charset="0"/>
              </a:rPr>
              <a:t>Какие СМИ вызывают наибольший всплеск продаж?</a:t>
            </a:r>
          </a:p>
          <a:p>
            <a:pPr marL="342903" indent="-342903">
              <a:buFont typeface="Arial" panose="020B0604020202020204" pitchFamily="34" charset="0"/>
              <a:buChar char="•"/>
            </a:pPr>
            <a:r>
              <a:rPr lang="ru-RU" sz="2200" dirty="0">
                <a:solidFill>
                  <a:srgbClr val="000000"/>
                </a:solidFill>
                <a:latin typeface="Bookman Old Style" panose="02050604050505020204" pitchFamily="18" charset="0"/>
              </a:rPr>
              <a:t>Насколько тесно рост продаж связан с тем или иным увеличением затрат на телерекламу?</a:t>
            </a:r>
          </a:p>
          <a:p>
            <a:pPr indent="449267"/>
            <a:r>
              <a:rPr lang="ru-RU" sz="2200" dirty="0">
                <a:solidFill>
                  <a:srgbClr val="000000"/>
                </a:solidFill>
                <a:latin typeface="Bookman Old Style" panose="02050604050505020204" pitchFamily="18" charset="0"/>
              </a:rPr>
              <a:t>Такая ситуация подпадает под парадигму </a:t>
            </a:r>
            <a:r>
              <a:rPr lang="ru-RU" sz="2200" b="1" dirty="0">
                <a:solidFill>
                  <a:srgbClr val="000000"/>
                </a:solidFill>
                <a:latin typeface="Bookman Old Style" panose="02050604050505020204" pitchFamily="18" charset="0"/>
              </a:rPr>
              <a:t>статистических выводов</a:t>
            </a:r>
            <a:r>
              <a:rPr lang="ru-RU" sz="2200" dirty="0">
                <a:solidFill>
                  <a:srgbClr val="000000"/>
                </a:solidFill>
                <a:latin typeface="Bookman Old Style" panose="02050604050505020204" pitchFamily="18" charset="0"/>
              </a:rPr>
              <a:t>. </a:t>
            </a:r>
          </a:p>
          <a:p>
            <a:pPr indent="449267"/>
            <a:endParaRPr lang="ru-RU" sz="2200" dirty="0">
              <a:solidFill>
                <a:srgbClr val="000000"/>
              </a:solidFill>
              <a:latin typeface="Bookman Old Style" panose="02050604050505020204" pitchFamily="18" charset="0"/>
            </a:endParaRPr>
          </a:p>
          <a:p>
            <a:pPr indent="449267"/>
            <a:r>
              <a:rPr lang="ru-RU" sz="2200" dirty="0">
                <a:solidFill>
                  <a:srgbClr val="000000"/>
                </a:solidFill>
                <a:latin typeface="Bookman Old Style" panose="02050604050505020204" pitchFamily="18" charset="0"/>
              </a:rPr>
              <a:t>Другой пример включает моделирование бренда продукта, который клиент мог бы купить, исходя из таких переменных, как цена, местоположение магазина, уровни скидок, цена у конкурентов и т.д. В этой ситуации нас больше всего могло бы интересовать то, </a:t>
            </a:r>
            <a:r>
              <a:rPr lang="ru-RU" sz="2200" b="1" dirty="0">
                <a:solidFill>
                  <a:srgbClr val="000000"/>
                </a:solidFill>
                <a:latin typeface="Bookman Old Style" panose="02050604050505020204" pitchFamily="18" charset="0"/>
              </a:rPr>
              <a:t>как каждая отдельная переменная влияет на вероятность покупки. </a:t>
            </a:r>
            <a:r>
              <a:rPr lang="ru-RU" sz="2200" dirty="0">
                <a:solidFill>
                  <a:srgbClr val="000000"/>
                </a:solidFill>
                <a:latin typeface="Bookman Old Style" panose="02050604050505020204" pitchFamily="18" charset="0"/>
              </a:rPr>
              <a:t>Например, какое влияние на продажи оказывает изменение цены? Это пример моделирования с целью сделать статистический вывод.</a:t>
            </a:r>
          </a:p>
          <a:p>
            <a:pPr indent="449267"/>
            <a:endParaRPr lang="ru-RU" sz="2200" dirty="0">
              <a:solidFill>
                <a:srgbClr val="000000"/>
              </a:solidFill>
              <a:latin typeface="Bookman Old Style" panose="02050604050505020204" pitchFamily="18" charset="0"/>
            </a:endParaRPr>
          </a:p>
        </p:txBody>
      </p:sp>
      <p:sp>
        <p:nvSpPr>
          <p:cNvPr id="9" name="Text Box 5">
            <a:extLst>
              <a:ext uri="{FF2B5EF4-FFF2-40B4-BE49-F238E27FC236}">
                <a16:creationId xmlns:a16="http://schemas.microsoft.com/office/drawing/2014/main" id="{444D6979-355A-468F-B8B4-93997D12A0DD}"/>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0" name="Скругленный прямоугольник 5">
            <a:extLst>
              <a:ext uri="{FF2B5EF4-FFF2-40B4-BE49-F238E27FC236}">
                <a16:creationId xmlns:a16="http://schemas.microsoft.com/office/drawing/2014/main" id="{45B60F1D-6A4B-409A-80DD-DB64634A3F95}"/>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400" b="1" dirty="0"/>
              <a:t>Предсказательные задачи</a:t>
            </a:r>
          </a:p>
        </p:txBody>
      </p:sp>
      <p:sp>
        <p:nvSpPr>
          <p:cNvPr id="2" name="Прямоугольник 1"/>
          <p:cNvSpPr/>
          <p:nvPr/>
        </p:nvSpPr>
        <p:spPr>
          <a:xfrm>
            <a:off x="1440720" y="898848"/>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Статистический вывод (пример)</a:t>
            </a:r>
          </a:p>
          <a:p>
            <a:pPr defTabSz="993783">
              <a:spcBef>
                <a:spcPct val="20000"/>
              </a:spcBef>
            </a:pPr>
            <a:endParaRPr lang="ru-RU" sz="2400" dirty="0">
              <a:latin typeface="+mn-lt"/>
              <a:cs typeface="+mn-cs"/>
            </a:endParaRPr>
          </a:p>
        </p:txBody>
      </p:sp>
      <p:pic>
        <p:nvPicPr>
          <p:cNvPr id="11" name="Рисунок 10">
            <a:extLst>
              <a:ext uri="{FF2B5EF4-FFF2-40B4-BE49-F238E27FC236}">
                <a16:creationId xmlns:a16="http://schemas.microsoft.com/office/drawing/2014/main" id="{328C0D14-C6F0-4370-ADE9-0331ED8697E6}"/>
              </a:ext>
            </a:extLst>
          </p:cNvPr>
          <p:cNvPicPr>
            <a:picLocks noChangeAspect="1"/>
          </p:cNvPicPr>
          <p:nvPr/>
        </p:nvPicPr>
        <p:blipFill>
          <a:blip r:embed="rId2"/>
          <a:stretch>
            <a:fillRect/>
          </a:stretch>
        </p:blipFill>
        <p:spPr>
          <a:xfrm>
            <a:off x="9083854" y="725766"/>
            <a:ext cx="3312626" cy="2233093"/>
          </a:xfrm>
          <a:prstGeom prst="rect">
            <a:avLst/>
          </a:prstGeom>
        </p:spPr>
      </p:pic>
      <p:sp>
        <p:nvSpPr>
          <p:cNvPr id="12" name="Номер слайда 3">
            <a:extLst>
              <a:ext uri="{FF2B5EF4-FFF2-40B4-BE49-F238E27FC236}">
                <a16:creationId xmlns:a16="http://schemas.microsoft.com/office/drawing/2014/main" id="{A68DDBF8-835C-4C58-9B1B-244AC35B72DE}"/>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46</a:t>
            </a:fld>
            <a:endParaRPr lang="ru-RU" dirty="0">
              <a:solidFill>
                <a:schemeClr val="tx1"/>
              </a:solidFill>
            </a:endParaRPr>
          </a:p>
        </p:txBody>
      </p:sp>
    </p:spTree>
    <p:extLst>
      <p:ext uri="{BB962C8B-B14F-4D97-AF65-F5344CB8AC3E}">
        <p14:creationId xmlns:p14="http://schemas.microsoft.com/office/powerpoint/2010/main" val="1038657594"/>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5"/>
            <a:ext cx="11677378" cy="6049192"/>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160156" y="1068790"/>
            <a:ext cx="7845733"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Выбор модели</a:t>
            </a:r>
            <a:endParaRPr lang="ru-RU" sz="2400" dirty="0">
              <a:latin typeface="+mn-lt"/>
              <a:cs typeface="+mn-cs"/>
            </a:endParaRPr>
          </a:p>
        </p:txBody>
      </p:sp>
      <p:sp>
        <p:nvSpPr>
          <p:cNvPr id="3" name="Прямоугольник 2"/>
          <p:cNvSpPr/>
          <p:nvPr/>
        </p:nvSpPr>
        <p:spPr>
          <a:xfrm>
            <a:off x="717501" y="1649731"/>
            <a:ext cx="11317338" cy="1785104"/>
          </a:xfrm>
          <a:prstGeom prst="rect">
            <a:avLst/>
          </a:prstGeom>
        </p:spPr>
        <p:txBody>
          <a:bodyPr wrap="square">
            <a:spAutoFit/>
          </a:bodyPr>
          <a:lstStyle/>
          <a:p>
            <a:pPr indent="363541"/>
            <a:r>
              <a:rPr lang="ru-RU" sz="2200" dirty="0">
                <a:solidFill>
                  <a:srgbClr val="000000"/>
                </a:solidFill>
                <a:latin typeface="Bookman Old Style" panose="02050604050505020204" pitchFamily="18" charset="0"/>
              </a:rPr>
              <a:t>В</a:t>
            </a:r>
            <a:r>
              <a:rPr lang="ru-RU" sz="2200" baseline="-25000" dirty="0"/>
              <a:t> </a:t>
            </a:r>
            <a:r>
              <a:rPr lang="ru-RU" sz="2200" dirty="0">
                <a:solidFill>
                  <a:srgbClr val="000000"/>
                </a:solidFill>
                <a:latin typeface="Bookman Old Style" panose="02050604050505020204" pitchFamily="18" charset="0"/>
              </a:rPr>
              <a:t>зависимости от того, какова наша главная цель предсказание, статистический вывод, или комбинация этих двух проблем, -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подходящими могут оказаться разные методы. </a:t>
            </a:r>
          </a:p>
          <a:p>
            <a:pPr indent="363541"/>
            <a:endParaRPr lang="ru-RU" sz="2200" dirty="0">
              <a:solidFill>
                <a:srgbClr val="000000"/>
              </a:solidFill>
              <a:latin typeface="Bookman Old Style" panose="02050604050505020204" pitchFamily="18" charset="0"/>
            </a:endParaRPr>
          </a:p>
          <a:p>
            <a:pPr indent="449267"/>
            <a:endParaRPr lang="ru-RU" sz="2200" dirty="0">
              <a:solidFill>
                <a:srgbClr val="000000"/>
              </a:solidFill>
              <a:latin typeface="Bookman Old Style" panose="02050604050505020204" pitchFamily="18" charset="0"/>
            </a:endParaRPr>
          </a:p>
        </p:txBody>
      </p:sp>
      <p:sp>
        <p:nvSpPr>
          <p:cNvPr id="9" name="TextBox 8">
            <a:extLst>
              <a:ext uri="{FF2B5EF4-FFF2-40B4-BE49-F238E27FC236}">
                <a16:creationId xmlns:a16="http://schemas.microsoft.com/office/drawing/2014/main" id="{077389F3-8A36-4273-8CCC-88C49035D3F3}"/>
              </a:ext>
            </a:extLst>
          </p:cNvPr>
          <p:cNvSpPr txBox="1"/>
          <p:nvPr/>
        </p:nvSpPr>
        <p:spPr>
          <a:xfrm>
            <a:off x="855476" y="3058330"/>
            <a:ext cx="11317338" cy="1938992"/>
          </a:xfrm>
          <a:prstGeom prst="rect">
            <a:avLst/>
          </a:prstGeom>
          <a:noFill/>
          <a:ln>
            <a:solidFill>
              <a:schemeClr val="accent6"/>
            </a:solidFill>
          </a:ln>
        </p:spPr>
        <p:txBody>
          <a:bodyPr wrap="square">
            <a:spAutoFit/>
          </a:bodyPr>
          <a:lstStyle/>
          <a:p>
            <a:pPr indent="363541"/>
            <a:r>
              <a:rPr lang="ru-RU" sz="2000" dirty="0">
                <a:solidFill>
                  <a:srgbClr val="000000"/>
                </a:solidFill>
                <a:latin typeface="Bookman Old Style" panose="02050604050505020204" pitchFamily="18" charset="0"/>
              </a:rPr>
              <a:t>Например</a:t>
            </a:r>
            <a:r>
              <a:rPr lang="ru-RU" sz="2000" dirty="0">
                <a:solidFill>
                  <a:schemeClr val="accent2">
                    <a:lumMod val="50000"/>
                  </a:schemeClr>
                </a:solidFill>
                <a:latin typeface="Bookman Old Style" panose="02050604050505020204" pitchFamily="18" charset="0"/>
              </a:rPr>
              <a:t>,</a:t>
            </a:r>
            <a:r>
              <a:rPr lang="ru-RU" sz="2000" b="1" i="1" dirty="0">
                <a:solidFill>
                  <a:schemeClr val="accent2">
                    <a:lumMod val="50000"/>
                  </a:schemeClr>
                </a:solidFill>
                <a:latin typeface="Bookman Old Style" panose="02050604050505020204" pitchFamily="18" charset="0"/>
              </a:rPr>
              <a:t> линейные модели </a:t>
            </a:r>
            <a:r>
              <a:rPr lang="ru-RU" sz="2000" dirty="0">
                <a:solidFill>
                  <a:srgbClr val="000000"/>
                </a:solidFill>
                <a:latin typeface="Bookman Old Style" panose="02050604050505020204" pitchFamily="18" charset="0"/>
              </a:rPr>
              <a:t>позволяют делать относительно простые и интерпретируемые статистические выводы, но в сравнении с другими подходами они могут давать менее точные предсказания. С другой стороны, </a:t>
            </a:r>
            <a:r>
              <a:rPr lang="ru-RU" sz="2000" b="1" i="1" dirty="0">
                <a:solidFill>
                  <a:schemeClr val="accent2">
                    <a:lumMod val="50000"/>
                  </a:schemeClr>
                </a:solidFill>
                <a:latin typeface="Bookman Old Style" panose="02050604050505020204" pitchFamily="18" charset="0"/>
              </a:rPr>
              <a:t>некоторые из </a:t>
            </a:r>
            <a:r>
              <a:rPr lang="ru-RU" sz="2000" b="1" i="1" dirty="0" err="1">
                <a:solidFill>
                  <a:schemeClr val="accent2">
                    <a:lumMod val="50000"/>
                  </a:schemeClr>
                </a:solidFill>
                <a:latin typeface="Bookman Old Style" panose="02050604050505020204" pitchFamily="18" charset="0"/>
              </a:rPr>
              <a:t>высоконелинейных</a:t>
            </a:r>
            <a:r>
              <a:rPr lang="ru-RU" sz="2000" b="1" i="1" dirty="0">
                <a:solidFill>
                  <a:schemeClr val="accent2">
                    <a:lumMod val="50000"/>
                  </a:schemeClr>
                </a:solidFill>
                <a:latin typeface="Bookman Old Style" panose="02050604050505020204" pitchFamily="18" charset="0"/>
              </a:rPr>
              <a:t> </a:t>
            </a:r>
            <a:r>
              <a:rPr lang="ru-RU" sz="2000" dirty="0">
                <a:solidFill>
                  <a:srgbClr val="000000"/>
                </a:solidFill>
                <a:latin typeface="Bookman Old Style" panose="02050604050505020204" pitchFamily="18" charset="0"/>
              </a:rPr>
              <a:t>подходов, потенциально могут обеспечить очень точные предсказания для</a:t>
            </a:r>
            <a:r>
              <a:rPr lang="en-US" sz="2000" dirty="0">
                <a:solidFill>
                  <a:srgbClr val="000000"/>
                </a:solidFill>
                <a:latin typeface="Bookman Old Style" panose="02050604050505020204" pitchFamily="18" charset="0"/>
              </a:rPr>
              <a:t> </a:t>
            </a:r>
            <a:r>
              <a:rPr lang="en-US" sz="2000" b="1" i="1" dirty="0">
                <a:solidFill>
                  <a:srgbClr val="000000"/>
                </a:solidFill>
                <a:latin typeface="Bookman Old Style" panose="02050604050505020204" pitchFamily="18" charset="0"/>
              </a:rPr>
              <a:t>Y</a:t>
            </a:r>
            <a:r>
              <a:rPr lang="ru-RU" sz="2000" dirty="0">
                <a:solidFill>
                  <a:srgbClr val="000000"/>
                </a:solidFill>
                <a:latin typeface="Bookman Old Style" panose="02050604050505020204" pitchFamily="18" charset="0"/>
              </a:rPr>
              <a:t>, но за счет менее интерпретируемой модели, по которой статистические выводы сделать сложнее.</a:t>
            </a:r>
          </a:p>
        </p:txBody>
      </p:sp>
      <p:sp>
        <p:nvSpPr>
          <p:cNvPr id="8" name="Text Box 5">
            <a:extLst>
              <a:ext uri="{FF2B5EF4-FFF2-40B4-BE49-F238E27FC236}">
                <a16:creationId xmlns:a16="http://schemas.microsoft.com/office/drawing/2014/main" id="{BF653427-6DA4-4D6B-8346-929A19BB167F}"/>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0" name="Номер слайда 3">
            <a:extLst>
              <a:ext uri="{FF2B5EF4-FFF2-40B4-BE49-F238E27FC236}">
                <a16:creationId xmlns:a16="http://schemas.microsoft.com/office/drawing/2014/main" id="{B86174A2-F9CE-4773-A829-8465220717C2}"/>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47</a:t>
            </a:fld>
            <a:endParaRPr lang="ru-RU" dirty="0">
              <a:solidFill>
                <a:schemeClr val="tx1"/>
              </a:solidFill>
            </a:endParaRPr>
          </a:p>
        </p:txBody>
      </p:sp>
    </p:spTree>
    <p:extLst>
      <p:ext uri="{BB962C8B-B14F-4D97-AF65-F5344CB8AC3E}">
        <p14:creationId xmlns:p14="http://schemas.microsoft.com/office/powerpoint/2010/main" val="419327054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501477" y="322264"/>
            <a:ext cx="11881320"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17" y="826840"/>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и непараметрические методы</a:t>
            </a:r>
            <a:endParaRPr lang="ru-RU" sz="2400" dirty="0">
              <a:latin typeface="+mn-lt"/>
              <a:cs typeface="+mn-cs"/>
            </a:endParaRPr>
          </a:p>
        </p:txBody>
      </p:sp>
      <p:sp>
        <p:nvSpPr>
          <p:cNvPr id="3" name="Прямоугольник 2"/>
          <p:cNvSpPr/>
          <p:nvPr/>
        </p:nvSpPr>
        <p:spPr>
          <a:xfrm>
            <a:off x="789509" y="1708927"/>
            <a:ext cx="11593288" cy="4832092"/>
          </a:xfrm>
          <a:prstGeom prst="rect">
            <a:avLst/>
          </a:prstGeom>
        </p:spPr>
        <p:txBody>
          <a:bodyPr wrap="square">
            <a:spAutoFit/>
          </a:bodyPr>
          <a:lstStyle/>
          <a:p>
            <a:pPr indent="363541"/>
            <a:r>
              <a:rPr lang="ru-RU" sz="2200" dirty="0">
                <a:solidFill>
                  <a:srgbClr val="000000"/>
                </a:solidFill>
                <a:latin typeface="Bookman Old Style" panose="02050604050505020204" pitchFamily="18" charset="0"/>
              </a:rPr>
              <a:t>Далее рассматриваются многие линейные и нелинейные подходы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Часто эти методы имеют определенные общие характеристики.</a:t>
            </a:r>
            <a:endParaRPr lang="en-US" sz="2200" dirty="0">
              <a:solidFill>
                <a:srgbClr val="000000"/>
              </a:solidFill>
              <a:latin typeface="Bookman Old Style" panose="02050604050505020204" pitchFamily="18" charset="0"/>
            </a:endParaRPr>
          </a:p>
          <a:p>
            <a:pPr indent="363541"/>
            <a:r>
              <a:rPr lang="ru-RU" sz="2200" dirty="0">
                <a:solidFill>
                  <a:srgbClr val="000000"/>
                </a:solidFill>
                <a:latin typeface="Bookman Old Style" panose="02050604050505020204" pitchFamily="18" charset="0"/>
              </a:rPr>
              <a:t> </a:t>
            </a:r>
          </a:p>
          <a:p>
            <a:pPr indent="363541"/>
            <a:r>
              <a:rPr lang="ru-RU" sz="2200" dirty="0">
                <a:solidFill>
                  <a:srgbClr val="000000"/>
                </a:solidFill>
                <a:latin typeface="Bookman Old Style" panose="02050604050505020204" pitchFamily="18" charset="0"/>
              </a:rPr>
              <a:t>В наших примерах предполагается, что у нас имеется набор из </a:t>
            </a:r>
            <a:r>
              <a:rPr lang="en-US" sz="2200" b="1" i="1" dirty="0">
                <a:solidFill>
                  <a:srgbClr val="000000"/>
                </a:solidFill>
                <a:latin typeface="Bookman Old Style" panose="02050604050505020204" pitchFamily="18" charset="0"/>
              </a:rPr>
              <a:t>n</a:t>
            </a:r>
            <a:r>
              <a:rPr lang="ru-RU" sz="2200" dirty="0">
                <a:solidFill>
                  <a:srgbClr val="000000"/>
                </a:solidFill>
                <a:latin typeface="Bookman Old Style" panose="02050604050505020204" pitchFamily="18" charset="0"/>
              </a:rPr>
              <a:t> отдельных наблюдений. Например, на рис. 2 у нас есть </a:t>
            </a:r>
            <a:r>
              <a:rPr lang="en-US" sz="2200" b="1" i="1" dirty="0">
                <a:solidFill>
                  <a:srgbClr val="000000"/>
                </a:solidFill>
                <a:latin typeface="Bookman Old Style" panose="02050604050505020204" pitchFamily="18" charset="0"/>
              </a:rPr>
              <a:t>n</a:t>
            </a:r>
            <a:r>
              <a:rPr lang="ru-RU" sz="2200" dirty="0">
                <a:solidFill>
                  <a:srgbClr val="000000"/>
                </a:solidFill>
                <a:latin typeface="Bookman Old Style" panose="02050604050505020204" pitchFamily="18" charset="0"/>
              </a:rPr>
              <a:t> = 30 наблюдений. Эти наблюдения называются </a:t>
            </a:r>
            <a:r>
              <a:rPr lang="ru-RU" sz="2200" i="1" dirty="0">
                <a:solidFill>
                  <a:schemeClr val="accent2">
                    <a:lumMod val="50000"/>
                  </a:schemeClr>
                </a:solidFill>
                <a:latin typeface="Bookman Old Style" panose="02050604050505020204" pitchFamily="18" charset="0"/>
              </a:rPr>
              <a:t>обучающими данными</a:t>
            </a:r>
            <a:r>
              <a:rPr lang="en-US" sz="2200" i="1" dirty="0">
                <a:solidFill>
                  <a:schemeClr val="accent2">
                    <a:lumMod val="50000"/>
                  </a:schemeClr>
                </a:solidFill>
                <a:latin typeface="Bookman Old Style" panose="02050604050505020204" pitchFamily="18" charset="0"/>
              </a:rPr>
              <a:t> (</a:t>
            </a:r>
            <a:r>
              <a:rPr lang="ru-RU" sz="2200" i="1" dirty="0">
                <a:solidFill>
                  <a:schemeClr val="accent2">
                    <a:lumMod val="50000"/>
                  </a:schemeClr>
                </a:solidFill>
                <a:latin typeface="Bookman Old Style" panose="02050604050505020204" pitchFamily="18" charset="0"/>
              </a:rPr>
              <a:t>обучающая выборка</a:t>
            </a:r>
            <a:r>
              <a:rPr lang="en-US" sz="2200" i="1" dirty="0">
                <a:solidFill>
                  <a:schemeClr val="accent2">
                    <a:lumMod val="50000"/>
                  </a:schemeClr>
                </a:solidFill>
                <a:latin typeface="Bookman Old Style" panose="02050604050505020204" pitchFamily="18" charset="0"/>
              </a:rPr>
              <a:t>)</a:t>
            </a:r>
            <a:r>
              <a:rPr lang="ru-RU" sz="2200" dirty="0">
                <a:solidFill>
                  <a:srgbClr val="000000"/>
                </a:solidFill>
                <a:latin typeface="Bookman Old Style" panose="02050604050505020204" pitchFamily="18" charset="0"/>
              </a:rPr>
              <a:t>, поскольку мы используем их для тренировки, или обучения, нашего метода тому, как оценить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a:t>
            </a:r>
          </a:p>
          <a:p>
            <a:pPr indent="363541"/>
            <a:r>
              <a:rPr lang="ru-RU" sz="2200" dirty="0">
                <a:solidFill>
                  <a:srgbClr val="000000"/>
                </a:solidFill>
                <a:latin typeface="Bookman Old Style" panose="02050604050505020204" pitchFamily="18" charset="0"/>
              </a:rPr>
              <a:t>Пусть </a:t>
            </a:r>
            <a:r>
              <a:rPr lang="en-US" sz="2200" b="1" i="1" dirty="0" err="1">
                <a:solidFill>
                  <a:srgbClr val="000000"/>
                </a:solidFill>
                <a:latin typeface="Bookman Old Style" panose="02050604050505020204" pitchFamily="18" charset="0"/>
              </a:rPr>
              <a:t>x</a:t>
            </a:r>
            <a:r>
              <a:rPr lang="en-US" sz="2200" b="1" i="1" baseline="-25000" dirty="0" err="1">
                <a:solidFill>
                  <a:srgbClr val="000000"/>
                </a:solidFill>
                <a:latin typeface="Bookman Old Style" panose="02050604050505020204" pitchFamily="18" charset="0"/>
              </a:rPr>
              <a:t>ij</a:t>
            </a:r>
            <a:r>
              <a:rPr lang="en-US" sz="2200" b="1"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символизирует значение </a:t>
            </a:r>
            <a:r>
              <a:rPr lang="en-US" sz="2200" dirty="0">
                <a:solidFill>
                  <a:srgbClr val="000000"/>
                </a:solidFill>
                <a:latin typeface="Bookman Old Style" panose="02050604050505020204" pitchFamily="18" charset="0"/>
              </a:rPr>
              <a:t>j-</a:t>
            </a:r>
            <a:r>
              <a:rPr lang="ru-RU" sz="2200" dirty="0" err="1">
                <a:solidFill>
                  <a:srgbClr val="000000"/>
                </a:solidFill>
                <a:latin typeface="Bookman Old Style" panose="02050604050505020204" pitchFamily="18" charset="0"/>
              </a:rPr>
              <a:t>го</a:t>
            </a:r>
            <a:r>
              <a:rPr lang="ru-RU" sz="2200" dirty="0">
                <a:solidFill>
                  <a:srgbClr val="000000"/>
                </a:solidFill>
                <a:latin typeface="Bookman Old Style" panose="02050604050505020204" pitchFamily="18" charset="0"/>
              </a:rPr>
              <a:t> предиктора, или входной переменной, у наблюдения</a:t>
            </a:r>
            <a:r>
              <a:rPr lang="en-US" sz="2200" dirty="0">
                <a:solidFill>
                  <a:srgbClr val="000000"/>
                </a:solidFill>
                <a:latin typeface="Bookman Old Style" panose="02050604050505020204" pitchFamily="18" charset="0"/>
              </a:rPr>
              <a:t> </a:t>
            </a:r>
            <a:r>
              <a:rPr lang="en-US" sz="2200" b="1" i="1" dirty="0" err="1">
                <a:solidFill>
                  <a:srgbClr val="000000"/>
                </a:solidFill>
                <a:latin typeface="Bookman Old Style" panose="02050604050505020204" pitchFamily="18" charset="0"/>
              </a:rPr>
              <a:t>i</a:t>
            </a:r>
            <a:r>
              <a:rPr lang="ru-RU" sz="2200" dirty="0">
                <a:solidFill>
                  <a:srgbClr val="000000"/>
                </a:solidFill>
                <a:latin typeface="Bookman Old Style" panose="02050604050505020204" pitchFamily="18" charset="0"/>
              </a:rPr>
              <a:t>, где </a:t>
            </a:r>
            <a:r>
              <a:rPr lang="en-US" sz="2200" b="1" i="1" dirty="0" err="1">
                <a:solidFill>
                  <a:srgbClr val="000000"/>
                </a:solidFill>
                <a:latin typeface="Bookman Old Style" panose="02050604050505020204" pitchFamily="18" charset="0"/>
              </a:rPr>
              <a:t>i</a:t>
            </a:r>
            <a:r>
              <a:rPr lang="ru-RU" sz="2200" dirty="0">
                <a:solidFill>
                  <a:srgbClr val="000000"/>
                </a:solidFill>
                <a:latin typeface="Bookman Old Style" panose="02050604050505020204" pitchFamily="18" charset="0"/>
              </a:rPr>
              <a:t> = 1,2, ...,</a:t>
            </a:r>
            <a:r>
              <a:rPr lang="en-US" sz="2200" b="1" i="1" dirty="0">
                <a:solidFill>
                  <a:srgbClr val="000000"/>
                </a:solidFill>
                <a:latin typeface="Bookman Old Style" panose="02050604050505020204" pitchFamily="18" charset="0"/>
              </a:rPr>
              <a:t> n</a:t>
            </a:r>
            <a:r>
              <a:rPr lang="ru-RU" sz="2200" dirty="0">
                <a:solidFill>
                  <a:srgbClr val="000000"/>
                </a:solidFill>
                <a:latin typeface="Bookman Old Style" panose="02050604050505020204" pitchFamily="18" charset="0"/>
              </a:rPr>
              <a:t>, </a:t>
            </a:r>
            <a:r>
              <a:rPr lang="en-US" sz="2200" dirty="0">
                <a:solidFill>
                  <a:srgbClr val="000000"/>
                </a:solidFill>
                <a:latin typeface="Bookman Old Style" panose="02050604050505020204" pitchFamily="18" charset="0"/>
              </a:rPr>
              <a:t>a j </a:t>
            </a:r>
            <a:r>
              <a:rPr lang="ru-RU" sz="2200" dirty="0">
                <a:solidFill>
                  <a:srgbClr val="000000"/>
                </a:solidFill>
                <a:latin typeface="Bookman Old Style" panose="02050604050505020204" pitchFamily="18" charset="0"/>
              </a:rPr>
              <a:t>= 1,2,</a:t>
            </a:r>
            <a:r>
              <a:rPr lang="en-US" sz="2200" dirty="0">
                <a:solidFill>
                  <a:srgbClr val="000000"/>
                </a:solidFill>
                <a:latin typeface="Bookman Old Style" panose="02050604050505020204" pitchFamily="18" charset="0"/>
              </a:rPr>
              <a:t>..</a:t>
            </a:r>
            <a:r>
              <a:rPr lang="en-US" sz="2200" b="1" i="1" dirty="0">
                <a:solidFill>
                  <a:srgbClr val="000000"/>
                </a:solidFill>
                <a:latin typeface="Bookman Old Style" panose="02050604050505020204" pitchFamily="18" charset="0"/>
              </a:rPr>
              <a:t>p</a:t>
            </a:r>
            <a:r>
              <a:rPr lang="ru-RU" sz="2200" dirty="0">
                <a:solidFill>
                  <a:srgbClr val="000000"/>
                </a:solidFill>
                <a:latin typeface="Bookman Old Style" panose="02050604050505020204" pitchFamily="18" charset="0"/>
              </a:rPr>
              <a:t>. Аналогичным образом пусть </a:t>
            </a:r>
            <a:r>
              <a:rPr lang="ru-RU" sz="2200" b="1" i="1" dirty="0">
                <a:solidFill>
                  <a:srgbClr val="000000"/>
                </a:solidFill>
                <a:latin typeface="Bookman Old Style" panose="02050604050505020204" pitchFamily="18" charset="0"/>
              </a:rPr>
              <a:t>у</a:t>
            </a:r>
            <a:r>
              <a:rPr lang="en-US" sz="2200" b="1" i="1" baseline="-25000" dirty="0" err="1">
                <a:solidFill>
                  <a:srgbClr val="000000"/>
                </a:solidFill>
                <a:latin typeface="Bookman Old Style" panose="02050604050505020204" pitchFamily="18" charset="0"/>
              </a:rPr>
              <a:t>i</a:t>
            </a:r>
            <a:r>
              <a:rPr lang="ru-RU" sz="2200" b="1"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обозначает отклик у </a:t>
            </a:r>
            <a:r>
              <a:rPr lang="en-US" sz="2200" b="1" i="1" dirty="0" err="1">
                <a:solidFill>
                  <a:srgbClr val="000000"/>
                </a:solidFill>
                <a:latin typeface="Bookman Old Style" panose="02050604050505020204" pitchFamily="18" charset="0"/>
              </a:rPr>
              <a:t>i</a:t>
            </a:r>
            <a:r>
              <a:rPr lang="ru-RU" sz="2200" dirty="0">
                <a:solidFill>
                  <a:srgbClr val="000000"/>
                </a:solidFill>
                <a:latin typeface="Bookman Old Style" panose="02050604050505020204" pitchFamily="18" charset="0"/>
              </a:rPr>
              <a:t> -го наблюдения. </a:t>
            </a:r>
            <a:endParaRPr lang="en-US" sz="2200" dirty="0">
              <a:solidFill>
                <a:srgbClr val="000000"/>
              </a:solidFill>
              <a:latin typeface="Bookman Old Style" panose="02050604050505020204" pitchFamily="18" charset="0"/>
            </a:endParaRPr>
          </a:p>
          <a:p>
            <a:pPr indent="363541"/>
            <a:r>
              <a:rPr lang="ru-RU" sz="2200" dirty="0">
                <a:solidFill>
                  <a:srgbClr val="000000"/>
                </a:solidFill>
                <a:latin typeface="Bookman Old Style" panose="02050604050505020204" pitchFamily="18" charset="0"/>
              </a:rPr>
              <a:t>Обучающие данные тогда состоят из пар </a:t>
            </a:r>
            <a:r>
              <a:rPr lang="en-US" sz="2200" dirty="0">
                <a:solidFill>
                  <a:srgbClr val="000000"/>
                </a:solidFill>
                <a:latin typeface="Bookman Old Style" panose="02050604050505020204" pitchFamily="18" charset="0"/>
              </a:rPr>
              <a:t>{(x</a:t>
            </a:r>
            <a:r>
              <a:rPr lang="en-US" sz="2200" baseline="-25000" dirty="0">
                <a:solidFill>
                  <a:srgbClr val="000000"/>
                </a:solidFill>
                <a:latin typeface="Bookman Old Style" panose="02050604050505020204" pitchFamily="18" charset="0"/>
              </a:rPr>
              <a:t>1</a:t>
            </a:r>
            <a:r>
              <a:rPr lang="en-US" sz="2200" dirty="0">
                <a:solidFill>
                  <a:srgbClr val="000000"/>
                </a:solidFill>
                <a:latin typeface="Bookman Old Style" panose="02050604050505020204" pitchFamily="18" charset="0"/>
              </a:rPr>
              <a:t>,y</a:t>
            </a:r>
            <a:r>
              <a:rPr lang="en-US" sz="2200" baseline="-25000" dirty="0">
                <a:solidFill>
                  <a:srgbClr val="000000"/>
                </a:solidFill>
                <a:latin typeface="Bookman Old Style" panose="02050604050505020204" pitchFamily="18" charset="0"/>
              </a:rPr>
              <a:t>1</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(х</a:t>
            </a:r>
            <a:r>
              <a:rPr lang="en-US" sz="2200" baseline="-25000" dirty="0">
                <a:solidFill>
                  <a:srgbClr val="000000"/>
                </a:solidFill>
                <a:latin typeface="Bookman Old Style" panose="02050604050505020204" pitchFamily="18" charset="0"/>
              </a:rPr>
              <a:t>2</a:t>
            </a:r>
            <a:r>
              <a:rPr lang="ru-RU" sz="2200" dirty="0">
                <a:solidFill>
                  <a:srgbClr val="000000"/>
                </a:solidFill>
                <a:latin typeface="Bookman Old Style" panose="02050604050505020204" pitchFamily="18" charset="0"/>
              </a:rPr>
              <a:t>,</a:t>
            </a:r>
            <a:r>
              <a:rPr lang="en-US" sz="2200" dirty="0">
                <a:solidFill>
                  <a:srgbClr val="000000"/>
                </a:solidFill>
                <a:latin typeface="Bookman Old Style" panose="02050604050505020204" pitchFamily="18" charset="0"/>
              </a:rPr>
              <a:t>y</a:t>
            </a:r>
            <a:r>
              <a:rPr lang="ru-RU" sz="2200" baseline="-25000" dirty="0">
                <a:solidFill>
                  <a:srgbClr val="000000"/>
                </a:solidFill>
                <a:latin typeface="Bookman Old Style" panose="02050604050505020204" pitchFamily="18" charset="0"/>
              </a:rPr>
              <a:t>2</a:t>
            </a:r>
            <a:r>
              <a:rPr lang="en-US" sz="2200" baseline="-25000" dirty="0">
                <a:solidFill>
                  <a:srgbClr val="000000"/>
                </a:solidFill>
                <a:latin typeface="Bookman Old Style" panose="02050604050505020204" pitchFamily="18" charset="0"/>
              </a:rPr>
              <a:t>)</a:t>
            </a:r>
            <a:r>
              <a:rPr lang="en-US" sz="2200" dirty="0">
                <a:solidFill>
                  <a:srgbClr val="000000"/>
                </a:solidFill>
                <a:latin typeface="Bookman Old Style" panose="02050604050505020204" pitchFamily="18" charset="0"/>
              </a:rPr>
              <a:t>,</a:t>
            </a:r>
            <a:r>
              <a:rPr lang="ru-RU" sz="2200" dirty="0">
                <a:solidFill>
                  <a:srgbClr val="000000"/>
                </a:solidFill>
                <a:latin typeface="Bookman Old Style" panose="02050604050505020204" pitchFamily="18" charset="0"/>
              </a:rPr>
              <a:t>.., (х</a:t>
            </a:r>
            <a:r>
              <a:rPr lang="en-US" sz="2200" baseline="-25000" dirty="0">
                <a:solidFill>
                  <a:srgbClr val="000000"/>
                </a:solidFill>
                <a:latin typeface="Bookman Old Style" panose="02050604050505020204" pitchFamily="18" charset="0"/>
              </a:rPr>
              <a:t>n</a:t>
            </a:r>
            <a:r>
              <a:rPr lang="ru-RU" sz="2200" dirty="0">
                <a:solidFill>
                  <a:srgbClr val="000000"/>
                </a:solidFill>
                <a:latin typeface="Bookman Old Style" panose="02050604050505020204" pitchFamily="18" charset="0"/>
              </a:rPr>
              <a:t>,</a:t>
            </a:r>
            <a:r>
              <a:rPr lang="en-US" sz="2200" dirty="0" err="1">
                <a:solidFill>
                  <a:srgbClr val="000000"/>
                </a:solidFill>
                <a:latin typeface="Bookman Old Style" panose="02050604050505020204" pitchFamily="18" charset="0"/>
              </a:rPr>
              <a:t>y</a:t>
            </a:r>
            <a:r>
              <a:rPr lang="en-US" sz="2200" baseline="-25000" dirty="0" err="1">
                <a:solidFill>
                  <a:srgbClr val="000000"/>
                </a:solidFill>
                <a:latin typeface="Bookman Old Style" panose="02050604050505020204" pitchFamily="18" charset="0"/>
              </a:rPr>
              <a:t>n</a:t>
            </a:r>
            <a:r>
              <a:rPr lang="ru-RU" sz="2200" dirty="0">
                <a:solidFill>
                  <a:srgbClr val="000000"/>
                </a:solidFill>
                <a:latin typeface="Bookman Old Style" panose="02050604050505020204" pitchFamily="18" charset="0"/>
              </a:rPr>
              <a:t>)}, где</a:t>
            </a:r>
            <a:r>
              <a:rPr lang="en-US" sz="2200"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x</a:t>
            </a:r>
            <a:r>
              <a:rPr lang="en-US" sz="2200" i="1" baseline="-25000" dirty="0">
                <a:solidFill>
                  <a:srgbClr val="000000"/>
                </a:solidFill>
                <a:latin typeface="Bookman Old Style" panose="02050604050505020204" pitchFamily="18" charset="0"/>
              </a:rPr>
              <a:t>i</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{x</a:t>
            </a:r>
            <a:r>
              <a:rPr lang="en-US" sz="2200" i="1" baseline="-25000" dirty="0">
                <a:solidFill>
                  <a:srgbClr val="000000"/>
                </a:solidFill>
                <a:latin typeface="Bookman Old Style" panose="02050604050505020204" pitchFamily="18" charset="0"/>
              </a:rPr>
              <a:t>i1</a:t>
            </a:r>
            <a:r>
              <a:rPr lang="en-US" sz="2200" i="1" dirty="0">
                <a:solidFill>
                  <a:srgbClr val="000000"/>
                </a:solidFill>
                <a:latin typeface="Bookman Old Style" panose="02050604050505020204" pitchFamily="18" charset="0"/>
              </a:rPr>
              <a:t>,x</a:t>
            </a:r>
            <a:r>
              <a:rPr lang="en-US" sz="2200" i="1" baseline="-25000" dirty="0">
                <a:solidFill>
                  <a:srgbClr val="000000"/>
                </a:solidFill>
                <a:latin typeface="Bookman Old Style" panose="02050604050505020204" pitchFamily="18" charset="0"/>
              </a:rPr>
              <a:t>i2</a:t>
            </a:r>
            <a:r>
              <a:rPr lang="en-US" sz="2200" i="1" dirty="0">
                <a:solidFill>
                  <a:srgbClr val="000000"/>
                </a:solidFill>
                <a:latin typeface="Bookman Old Style" panose="02050604050505020204" pitchFamily="18" charset="0"/>
              </a:rPr>
              <a:t>,...,</a:t>
            </a:r>
            <a:r>
              <a:rPr lang="en-US" sz="2200" i="1" dirty="0" err="1">
                <a:solidFill>
                  <a:srgbClr val="000000"/>
                </a:solidFill>
                <a:latin typeface="Bookman Old Style" panose="02050604050505020204" pitchFamily="18" charset="0"/>
              </a:rPr>
              <a:t>x</a:t>
            </a:r>
            <a:r>
              <a:rPr lang="en-US" sz="2200" i="1" baseline="-25000" dirty="0" err="1">
                <a:solidFill>
                  <a:srgbClr val="000000"/>
                </a:solidFill>
                <a:latin typeface="Bookman Old Style" panose="02050604050505020204" pitchFamily="18" charset="0"/>
              </a:rPr>
              <a:t>ip</a:t>
            </a:r>
            <a:r>
              <a:rPr lang="en-US" sz="2200" i="1" dirty="0">
                <a:solidFill>
                  <a:srgbClr val="000000"/>
                </a:solidFill>
                <a:latin typeface="Bookman Old Style" panose="02050604050505020204" pitchFamily="18" charset="0"/>
              </a:rPr>
              <a:t>)</a:t>
            </a:r>
            <a:r>
              <a:rPr lang="en-US" sz="2200" dirty="0">
                <a:solidFill>
                  <a:srgbClr val="000000"/>
                </a:solidFill>
                <a:latin typeface="Bookman Old Style" panose="02050604050505020204" pitchFamily="18" charset="0"/>
              </a:rPr>
              <a:t>.</a:t>
            </a:r>
            <a:endParaRPr lang="ru-RU" sz="2200" dirty="0">
              <a:solidFill>
                <a:srgbClr val="000000"/>
              </a:solidFill>
              <a:latin typeface="Bookman Old Style" panose="02050604050505020204" pitchFamily="18" charset="0"/>
            </a:endParaRPr>
          </a:p>
          <a:p>
            <a:pPr indent="449267"/>
            <a:endParaRPr lang="ru-RU" sz="2200" dirty="0">
              <a:solidFill>
                <a:srgbClr val="000000"/>
              </a:solidFill>
              <a:latin typeface="Bookman Old Style" panose="02050604050505020204" pitchFamily="18" charset="0"/>
            </a:endParaRPr>
          </a:p>
        </p:txBody>
      </p:sp>
      <p:sp>
        <p:nvSpPr>
          <p:cNvPr id="7" name="Text Box 5">
            <a:extLst>
              <a:ext uri="{FF2B5EF4-FFF2-40B4-BE49-F238E27FC236}">
                <a16:creationId xmlns:a16="http://schemas.microsoft.com/office/drawing/2014/main" id="{70991329-8064-48DE-8E2F-77C0EA05C32B}"/>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8" name="Номер слайда 3">
            <a:extLst>
              <a:ext uri="{FF2B5EF4-FFF2-40B4-BE49-F238E27FC236}">
                <a16:creationId xmlns:a16="http://schemas.microsoft.com/office/drawing/2014/main" id="{01507C7E-AC92-4C9C-87CA-5DCB05B52A65}"/>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48</a:t>
            </a:fld>
            <a:endParaRPr lang="ru-RU" dirty="0">
              <a:solidFill>
                <a:schemeClr val="tx1"/>
              </a:solidFill>
            </a:endParaRPr>
          </a:p>
        </p:txBody>
      </p:sp>
    </p:spTree>
    <p:extLst>
      <p:ext uri="{BB962C8B-B14F-4D97-AF65-F5344CB8AC3E}">
        <p14:creationId xmlns:p14="http://schemas.microsoft.com/office/powerpoint/2010/main" val="1601623146"/>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789509" y="394271"/>
            <a:ext cx="11521280"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0" y="1140037"/>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и непараметрические методы</a:t>
            </a:r>
            <a:endParaRPr lang="ru-RU" sz="2400" dirty="0">
              <a:latin typeface="+mn-lt"/>
              <a:cs typeface="+mn-cs"/>
            </a:endParaRPr>
          </a:p>
        </p:txBody>
      </p:sp>
      <p:sp>
        <p:nvSpPr>
          <p:cNvPr id="3" name="Прямоугольник 2"/>
          <p:cNvSpPr/>
          <p:nvPr/>
        </p:nvSpPr>
        <p:spPr>
          <a:xfrm>
            <a:off x="933525" y="2031189"/>
            <a:ext cx="11101314" cy="2677656"/>
          </a:xfrm>
          <a:prstGeom prst="rect">
            <a:avLst/>
          </a:prstGeom>
        </p:spPr>
        <p:txBody>
          <a:bodyPr wrap="square">
            <a:spAutoFit/>
          </a:bodyPr>
          <a:lstStyle/>
          <a:p>
            <a:r>
              <a:rPr lang="ru-RU" sz="2400" dirty="0">
                <a:solidFill>
                  <a:srgbClr val="000000"/>
                </a:solidFill>
                <a:latin typeface="Bookman Old Style" panose="02050604050505020204" pitchFamily="18" charset="0"/>
              </a:rPr>
              <a:t>Наша цель заключается в применении некоторого метода статистического обучения к входным данным для нахождения неизвестной функции </a:t>
            </a:r>
            <a:r>
              <a:rPr lang="en-US" sz="2400" b="1" i="1" dirty="0">
                <a:solidFill>
                  <a:srgbClr val="000000"/>
                </a:solidFill>
                <a:latin typeface="Bookman Old Style" panose="02050604050505020204" pitchFamily="18" charset="0"/>
              </a:rPr>
              <a:t>f</a:t>
            </a:r>
            <a:r>
              <a:rPr lang="ru-RU" sz="2400" dirty="0">
                <a:solidFill>
                  <a:srgbClr val="000000"/>
                </a:solidFill>
                <a:latin typeface="Bookman Old Style" panose="02050604050505020204" pitchFamily="18" charset="0"/>
              </a:rPr>
              <a:t>. Другими словами, мы хотим найти такую функцию</a:t>
            </a:r>
            <a:r>
              <a:rPr lang="en-US" sz="2400"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 </a:t>
            </a:r>
            <a:r>
              <a:rPr lang="en-US" sz="2400" b="1" i="1" dirty="0">
                <a:solidFill>
                  <a:srgbClr val="000000"/>
                </a:solidFill>
                <a:latin typeface="Bookman Old Style" panose="02050604050505020204" pitchFamily="18" charset="0"/>
              </a:rPr>
              <a:t> </a:t>
            </a:r>
            <a:r>
              <a:rPr lang="ru-RU" sz="2400" dirty="0">
                <a:solidFill>
                  <a:srgbClr val="000000"/>
                </a:solidFill>
                <a:latin typeface="Bookman Old Style" panose="02050604050505020204" pitchFamily="18" charset="0"/>
              </a:rPr>
              <a:t>, что </a:t>
            </a:r>
            <a:r>
              <a:rPr lang="en-US" sz="2400" i="1" dirty="0">
                <a:solidFill>
                  <a:srgbClr val="000000"/>
                </a:solidFill>
                <a:latin typeface="Bookman Old Style" panose="02050604050505020204" pitchFamily="18" charset="0"/>
              </a:rPr>
              <a:t>Y </a:t>
            </a:r>
            <a:r>
              <a:rPr lang="ru-RU" sz="2400" i="1" dirty="0">
                <a:solidFill>
                  <a:srgbClr val="000000"/>
                </a:solidFill>
                <a:latin typeface="Bookman Old Style" panose="02050604050505020204" pitchFamily="18" charset="0"/>
              </a:rPr>
              <a:t>~ </a:t>
            </a:r>
            <a:r>
              <a:rPr lang="en-US" sz="2400" i="1" dirty="0">
                <a:solidFill>
                  <a:srgbClr val="000000"/>
                </a:solidFill>
                <a:latin typeface="Bookman Old Style" panose="02050604050505020204" pitchFamily="18" charset="0"/>
              </a:rPr>
              <a:t>  (X) </a:t>
            </a:r>
            <a:r>
              <a:rPr lang="ru-RU" sz="2400" dirty="0">
                <a:solidFill>
                  <a:srgbClr val="000000"/>
                </a:solidFill>
                <a:latin typeface="Bookman Old Style" panose="02050604050505020204" pitchFamily="18" charset="0"/>
              </a:rPr>
              <a:t>для любого наблюдения (</a:t>
            </a:r>
            <a:r>
              <a:rPr lang="en-US" sz="2400" dirty="0">
                <a:solidFill>
                  <a:srgbClr val="000000"/>
                </a:solidFill>
                <a:latin typeface="Bookman Old Style" panose="02050604050505020204" pitchFamily="18" charset="0"/>
              </a:rPr>
              <a:t>X</a:t>
            </a:r>
            <a:r>
              <a:rPr lang="ru-RU" sz="2400" dirty="0">
                <a:solidFill>
                  <a:srgbClr val="000000"/>
                </a:solidFill>
                <a:latin typeface="Bookman Old Style" panose="02050604050505020204" pitchFamily="18" charset="0"/>
              </a:rPr>
              <a:t>, </a:t>
            </a:r>
            <a:r>
              <a:rPr lang="en-US" sz="2400" dirty="0">
                <a:solidFill>
                  <a:srgbClr val="000000"/>
                </a:solidFill>
                <a:latin typeface="Bookman Old Style" panose="02050604050505020204" pitchFamily="18" charset="0"/>
              </a:rPr>
              <a:t>Y</a:t>
            </a:r>
            <a:r>
              <a:rPr lang="ru-RU" sz="2400" dirty="0">
                <a:solidFill>
                  <a:srgbClr val="000000"/>
                </a:solidFill>
                <a:latin typeface="Bookman Old Style" panose="02050604050505020204" pitchFamily="18" charset="0"/>
              </a:rPr>
              <a:t>). В общих чертах большинство методов статистического обучения для решения этой задачи можно разделить на </a:t>
            </a:r>
            <a:r>
              <a:rPr lang="ru-RU" sz="2400" b="1" i="1" dirty="0">
                <a:solidFill>
                  <a:schemeClr val="accent2">
                    <a:lumMod val="50000"/>
                  </a:schemeClr>
                </a:solidFill>
                <a:latin typeface="Bookman Old Style" panose="02050604050505020204" pitchFamily="18" charset="0"/>
              </a:rPr>
              <a:t>параметрические </a:t>
            </a:r>
            <a:r>
              <a:rPr lang="ru-RU" sz="2400" dirty="0">
                <a:latin typeface="Bookman Old Style" panose="02050604050505020204" pitchFamily="18" charset="0"/>
              </a:rPr>
              <a:t>и </a:t>
            </a:r>
            <a:r>
              <a:rPr lang="ru-RU" sz="2400" b="1" i="1" dirty="0">
                <a:solidFill>
                  <a:schemeClr val="accent2">
                    <a:lumMod val="50000"/>
                  </a:schemeClr>
                </a:solidFill>
                <a:latin typeface="Bookman Old Style" panose="02050604050505020204" pitchFamily="18" charset="0"/>
              </a:rPr>
              <a:t>непараметрические.</a:t>
            </a:r>
          </a:p>
        </p:txBody>
      </p:sp>
      <p:pic>
        <p:nvPicPr>
          <p:cNvPr id="7" name="Рисунок 6"/>
          <p:cNvPicPr>
            <a:picLocks noChangeAspect="1"/>
          </p:cNvPicPr>
          <p:nvPr/>
        </p:nvPicPr>
        <p:blipFill>
          <a:blip r:embed="rId2"/>
          <a:stretch>
            <a:fillRect/>
          </a:stretch>
        </p:blipFill>
        <p:spPr>
          <a:xfrm>
            <a:off x="4101878" y="3149512"/>
            <a:ext cx="262508" cy="485640"/>
          </a:xfrm>
          <a:prstGeom prst="rect">
            <a:avLst/>
          </a:prstGeom>
        </p:spPr>
      </p:pic>
      <p:pic>
        <p:nvPicPr>
          <p:cNvPr id="8" name="Рисунок 7"/>
          <p:cNvPicPr>
            <a:picLocks noChangeAspect="1"/>
          </p:cNvPicPr>
          <p:nvPr/>
        </p:nvPicPr>
        <p:blipFill>
          <a:blip r:embed="rId2"/>
          <a:stretch>
            <a:fillRect/>
          </a:stretch>
        </p:blipFill>
        <p:spPr>
          <a:xfrm>
            <a:off x="2517701" y="3149512"/>
            <a:ext cx="262508" cy="485640"/>
          </a:xfrm>
          <a:prstGeom prst="rect">
            <a:avLst/>
          </a:prstGeom>
        </p:spPr>
      </p:pic>
      <p:sp>
        <p:nvSpPr>
          <p:cNvPr id="9" name="Text Box 5">
            <a:extLst>
              <a:ext uri="{FF2B5EF4-FFF2-40B4-BE49-F238E27FC236}">
                <a16:creationId xmlns:a16="http://schemas.microsoft.com/office/drawing/2014/main" id="{80D1AFB1-AF4E-4076-A285-4BDF42153CA3}"/>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0" name="Номер слайда 3">
            <a:extLst>
              <a:ext uri="{FF2B5EF4-FFF2-40B4-BE49-F238E27FC236}">
                <a16:creationId xmlns:a16="http://schemas.microsoft.com/office/drawing/2014/main" id="{59D0DEE9-78D3-40A7-A9A3-9FAE33420E39}"/>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49</a:t>
            </a:fld>
            <a:endParaRPr lang="ru-RU" dirty="0">
              <a:solidFill>
                <a:schemeClr val="tx1"/>
              </a:solidFill>
            </a:endParaRPr>
          </a:p>
        </p:txBody>
      </p:sp>
    </p:spTree>
    <p:extLst>
      <p:ext uri="{BB962C8B-B14F-4D97-AF65-F5344CB8AC3E}">
        <p14:creationId xmlns:p14="http://schemas.microsoft.com/office/powerpoint/2010/main" val="2217370023"/>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429469" y="322265"/>
            <a:ext cx="11881320" cy="6121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0" y="1140037"/>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методы</a:t>
            </a:r>
            <a:endParaRPr lang="ru-RU" sz="2400" dirty="0">
              <a:latin typeface="+mn-lt"/>
              <a:cs typeface="+mn-cs"/>
            </a:endParaRPr>
          </a:p>
        </p:txBody>
      </p:sp>
      <p:sp>
        <p:nvSpPr>
          <p:cNvPr id="4" name="TextBox 3"/>
          <p:cNvSpPr txBox="1"/>
          <p:nvPr/>
        </p:nvSpPr>
        <p:spPr>
          <a:xfrm>
            <a:off x="645493" y="1792224"/>
            <a:ext cx="11389345" cy="4154984"/>
          </a:xfrm>
          <a:prstGeom prst="rect">
            <a:avLst/>
          </a:prstGeom>
          <a:noFill/>
        </p:spPr>
        <p:txBody>
          <a:bodyPr wrap="square" rtlCol="0">
            <a:spAutoFit/>
          </a:bodyPr>
          <a:lstStyle/>
          <a:p>
            <a:r>
              <a:rPr lang="ru-RU" sz="2200" dirty="0">
                <a:solidFill>
                  <a:srgbClr val="000000"/>
                </a:solidFill>
                <a:latin typeface="Bookman Old Style" panose="02050604050505020204" pitchFamily="18" charset="0"/>
              </a:rPr>
              <a:t>Параметрические методы подразумевают основанную на модели процедуру из двух шагов.</a:t>
            </a:r>
          </a:p>
          <a:p>
            <a:r>
              <a:rPr lang="en-US" sz="2200" dirty="0">
                <a:solidFill>
                  <a:srgbClr val="000000"/>
                </a:solidFill>
                <a:latin typeface="Bookman Old Style" panose="02050604050505020204" pitchFamily="18" charset="0"/>
              </a:rPr>
              <a:t>1. </a:t>
            </a:r>
            <a:r>
              <a:rPr lang="ru-RU" sz="2200" dirty="0">
                <a:solidFill>
                  <a:srgbClr val="000000"/>
                </a:solidFill>
                <a:latin typeface="Bookman Old Style" panose="02050604050505020204" pitchFamily="18" charset="0"/>
              </a:rPr>
              <a:t>Делается некоторое предположение о функциональной форме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Например, одно из простых предположений заключается в том, что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является линейной функцией от X:</a:t>
            </a:r>
          </a:p>
          <a:p>
            <a:endParaRPr lang="ru-RU" sz="2200" dirty="0">
              <a:solidFill>
                <a:srgbClr val="000000"/>
              </a:solidFill>
              <a:latin typeface="Bookman Old Style" panose="02050604050505020204" pitchFamily="18" charset="0"/>
            </a:endParaRPr>
          </a:p>
          <a:p>
            <a:pPr algn="ctr"/>
            <a:r>
              <a:rPr lang="en-US" sz="2200" i="1" dirty="0">
                <a:solidFill>
                  <a:srgbClr val="000000"/>
                </a:solidFill>
                <a:latin typeface="Bookman Old Style" panose="02050604050505020204" pitchFamily="18" charset="0"/>
              </a:rPr>
              <a:t>		</a:t>
            </a:r>
            <a:r>
              <a:rPr lang="en-US" sz="2400" i="1" dirty="0">
                <a:solidFill>
                  <a:srgbClr val="000000"/>
                </a:solidFill>
                <a:latin typeface="Bookman Old Style" panose="02050604050505020204" pitchFamily="18" charset="0"/>
              </a:rPr>
              <a:t>f(X)=</a:t>
            </a:r>
            <a:r>
              <a:rPr lang="ru-RU" sz="2400" i="1" dirty="0">
                <a:solidFill>
                  <a:srgbClr val="000000"/>
                </a:solidFill>
                <a:latin typeface="Bookman Old Style" panose="02050604050505020204" pitchFamily="18" charset="0"/>
              </a:rPr>
              <a:t>β</a:t>
            </a:r>
            <a:r>
              <a:rPr lang="ru-RU" sz="2400" i="1" baseline="-25000" dirty="0">
                <a:solidFill>
                  <a:srgbClr val="000000"/>
                </a:solidFill>
                <a:latin typeface="Bookman Old Style" panose="02050604050505020204" pitchFamily="18" charset="0"/>
              </a:rPr>
              <a:t>0</a:t>
            </a:r>
            <a:r>
              <a:rPr lang="en-US" sz="2400" i="1" dirty="0">
                <a:solidFill>
                  <a:srgbClr val="000000"/>
                </a:solidFill>
                <a:latin typeface="Bookman Old Style" panose="02050604050505020204" pitchFamily="18" charset="0"/>
              </a:rPr>
              <a:t>+</a:t>
            </a:r>
            <a:r>
              <a:rPr lang="ru-RU" sz="2400" i="1" dirty="0">
                <a:solidFill>
                  <a:srgbClr val="000000"/>
                </a:solidFill>
                <a:latin typeface="Bookman Old Style" panose="02050604050505020204" pitchFamily="18" charset="0"/>
              </a:rPr>
              <a:t>β</a:t>
            </a:r>
            <a:r>
              <a:rPr lang="ru-RU" sz="2400" i="1" baseline="-25000" dirty="0">
                <a:solidFill>
                  <a:srgbClr val="000000"/>
                </a:solidFill>
                <a:latin typeface="Bookman Old Style" panose="02050604050505020204" pitchFamily="18" charset="0"/>
              </a:rPr>
              <a:t>1</a:t>
            </a:r>
            <a:r>
              <a:rPr lang="en-US" sz="2400" i="1" dirty="0">
                <a:solidFill>
                  <a:srgbClr val="000000"/>
                </a:solidFill>
                <a:latin typeface="Bookman Old Style" panose="02050604050505020204" pitchFamily="18" charset="0"/>
              </a:rPr>
              <a:t>X</a:t>
            </a:r>
            <a:r>
              <a:rPr lang="en-US" sz="2400" i="1" baseline="-25000" dirty="0">
                <a:solidFill>
                  <a:srgbClr val="000000"/>
                </a:solidFill>
                <a:latin typeface="Bookman Old Style" panose="02050604050505020204" pitchFamily="18" charset="0"/>
              </a:rPr>
              <a:t>1</a:t>
            </a:r>
            <a:r>
              <a:rPr lang="en-US" sz="2400" i="1" dirty="0">
                <a:solidFill>
                  <a:srgbClr val="000000"/>
                </a:solidFill>
                <a:latin typeface="Bookman Old Style" panose="02050604050505020204" pitchFamily="18" charset="0"/>
              </a:rPr>
              <a:t> +</a:t>
            </a:r>
            <a:r>
              <a:rPr lang="ru-RU" sz="2400" i="1" dirty="0">
                <a:solidFill>
                  <a:srgbClr val="000000"/>
                </a:solidFill>
                <a:latin typeface="Bookman Old Style" panose="02050604050505020204" pitchFamily="18" charset="0"/>
              </a:rPr>
              <a:t>β</a:t>
            </a:r>
            <a:r>
              <a:rPr lang="en-US" sz="2400" i="1" baseline="-25000" dirty="0">
                <a:solidFill>
                  <a:srgbClr val="000000"/>
                </a:solidFill>
                <a:latin typeface="Bookman Old Style" panose="02050604050505020204" pitchFamily="18" charset="0"/>
              </a:rPr>
              <a:t>2</a:t>
            </a:r>
            <a:r>
              <a:rPr lang="en-US" sz="2400" i="1" dirty="0">
                <a:solidFill>
                  <a:srgbClr val="000000"/>
                </a:solidFill>
                <a:latin typeface="Bookman Old Style" panose="02050604050505020204" pitchFamily="18" charset="0"/>
              </a:rPr>
              <a:t>X</a:t>
            </a:r>
            <a:r>
              <a:rPr lang="en-US" sz="2400" i="1" baseline="-25000" dirty="0">
                <a:solidFill>
                  <a:srgbClr val="000000"/>
                </a:solidFill>
                <a:latin typeface="Bookman Old Style" panose="02050604050505020204" pitchFamily="18" charset="0"/>
              </a:rPr>
              <a:t>2</a:t>
            </a:r>
            <a:r>
              <a:rPr lang="en-US" sz="2400" i="1" dirty="0">
                <a:solidFill>
                  <a:srgbClr val="000000"/>
                </a:solidFill>
                <a:latin typeface="Bookman Old Style" panose="02050604050505020204" pitchFamily="18" charset="0"/>
              </a:rPr>
              <a:t> +</a:t>
            </a:r>
            <a:r>
              <a:rPr lang="ru-RU" sz="2400" i="1" dirty="0">
                <a:solidFill>
                  <a:srgbClr val="000000"/>
                </a:solidFill>
                <a:latin typeface="Bookman Old Style" panose="02050604050505020204" pitchFamily="18" charset="0"/>
              </a:rPr>
              <a:t>...</a:t>
            </a:r>
            <a:r>
              <a:rPr lang="en-US" sz="2400" i="1" dirty="0">
                <a:solidFill>
                  <a:srgbClr val="000000"/>
                </a:solidFill>
                <a:latin typeface="Bookman Old Style" panose="02050604050505020204" pitchFamily="18" charset="0"/>
              </a:rPr>
              <a:t> +</a:t>
            </a:r>
            <a:r>
              <a:rPr lang="ru-RU" sz="2400" i="1" dirty="0">
                <a:solidFill>
                  <a:srgbClr val="000000"/>
                </a:solidFill>
                <a:latin typeface="Bookman Old Style" panose="02050604050505020204" pitchFamily="18" charset="0"/>
              </a:rPr>
              <a:t> β</a:t>
            </a:r>
            <a:r>
              <a:rPr lang="en-US" sz="2400" i="1" baseline="-25000" dirty="0" err="1">
                <a:solidFill>
                  <a:srgbClr val="000000"/>
                </a:solidFill>
                <a:latin typeface="Bookman Old Style" panose="02050604050505020204" pitchFamily="18" charset="0"/>
              </a:rPr>
              <a:t>p</a:t>
            </a:r>
            <a:r>
              <a:rPr lang="en-US" sz="2400" i="1" dirty="0" err="1">
                <a:solidFill>
                  <a:srgbClr val="000000"/>
                </a:solidFill>
                <a:latin typeface="Bookman Old Style" panose="02050604050505020204" pitchFamily="18" charset="0"/>
              </a:rPr>
              <a:t>X</a:t>
            </a:r>
            <a:r>
              <a:rPr lang="en-US" sz="2400" i="1" baseline="-25000" dirty="0" err="1">
                <a:solidFill>
                  <a:srgbClr val="000000"/>
                </a:solidFill>
                <a:latin typeface="Bookman Old Style" panose="02050604050505020204" pitchFamily="18" charset="0"/>
              </a:rPr>
              <a:t>p</a:t>
            </a:r>
            <a:r>
              <a:rPr lang="ru-RU" sz="2400" i="1" dirty="0">
                <a:solidFill>
                  <a:srgbClr val="000000"/>
                </a:solidFill>
                <a:latin typeface="Bookman Old Style" panose="02050604050505020204" pitchFamily="18" charset="0"/>
              </a:rPr>
              <a:t>.</a:t>
            </a:r>
            <a:r>
              <a:rPr lang="en-US" sz="2400" i="1"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(4)</a:t>
            </a:r>
          </a:p>
          <a:p>
            <a:pPr algn="ctr"/>
            <a:endParaRPr lang="ru-RU" sz="2200" i="1" dirty="0">
              <a:solidFill>
                <a:srgbClr val="000000"/>
              </a:solidFill>
              <a:latin typeface="Bookman Old Style" panose="02050604050505020204" pitchFamily="18" charset="0"/>
            </a:endParaRPr>
          </a:p>
          <a:p>
            <a:r>
              <a:rPr lang="ru-RU" sz="2200" dirty="0">
                <a:solidFill>
                  <a:srgbClr val="000000"/>
                </a:solidFill>
                <a:latin typeface="Bookman Old Style" panose="02050604050505020204" pitchFamily="18" charset="0"/>
              </a:rPr>
              <a:t>Это линейная модель. Как только мы допустили, что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имеет линейную форму, проблема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значительно упрощается. Вместо нахождения совершенно произвольной р-мерной функции </a:t>
            </a:r>
            <a:r>
              <a:rPr lang="en-US" sz="2200" b="1" i="1" dirty="0">
                <a:solidFill>
                  <a:srgbClr val="000000"/>
                </a:solidFill>
                <a:latin typeface="Bookman Old Style" panose="02050604050505020204" pitchFamily="18" charset="0"/>
              </a:rPr>
              <a:t>f(X) </a:t>
            </a:r>
            <a:r>
              <a:rPr lang="ru-RU" sz="2200" dirty="0">
                <a:solidFill>
                  <a:srgbClr val="000000"/>
                </a:solidFill>
                <a:latin typeface="Bookman Old Style" panose="02050604050505020204" pitchFamily="18" charset="0"/>
              </a:rPr>
              <a:t>нам нужно будет оценить лишь р + 1 коэффициентов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0</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1</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en-US" sz="2200" i="1" baseline="-25000" dirty="0">
                <a:solidFill>
                  <a:srgbClr val="000000"/>
                </a:solidFill>
                <a:latin typeface="Bookman Old Style" panose="02050604050505020204" pitchFamily="18" charset="0"/>
              </a:rPr>
              <a:t>p</a:t>
            </a:r>
            <a:r>
              <a:rPr lang="ru-RU" sz="2200" dirty="0">
                <a:solidFill>
                  <a:srgbClr val="000000"/>
                </a:solidFill>
                <a:latin typeface="Bookman Old Style" panose="02050604050505020204" pitchFamily="18" charset="0"/>
              </a:rPr>
              <a:t>.</a:t>
            </a:r>
          </a:p>
        </p:txBody>
      </p:sp>
      <p:sp>
        <p:nvSpPr>
          <p:cNvPr id="7" name="Text Box 5">
            <a:extLst>
              <a:ext uri="{FF2B5EF4-FFF2-40B4-BE49-F238E27FC236}">
                <a16:creationId xmlns:a16="http://schemas.microsoft.com/office/drawing/2014/main" id="{846920DB-4648-4141-A442-859E26A08EB8}"/>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8" name="Номер слайда 3">
            <a:extLst>
              <a:ext uri="{FF2B5EF4-FFF2-40B4-BE49-F238E27FC236}">
                <a16:creationId xmlns:a16="http://schemas.microsoft.com/office/drawing/2014/main" id="{56D76B15-5DD7-42D5-9491-DE30ED9E2364}"/>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50</a:t>
            </a:fld>
            <a:endParaRPr lang="ru-RU" dirty="0">
              <a:solidFill>
                <a:schemeClr val="tx1"/>
              </a:solidFill>
            </a:endParaRPr>
          </a:p>
        </p:txBody>
      </p:sp>
    </p:spTree>
    <p:extLst>
      <p:ext uri="{BB962C8B-B14F-4D97-AF65-F5344CB8AC3E}">
        <p14:creationId xmlns:p14="http://schemas.microsoft.com/office/powerpoint/2010/main" val="3462977893"/>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789509" y="322265"/>
            <a:ext cx="11521280" cy="5473128"/>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0" y="1140037"/>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методы</a:t>
            </a:r>
            <a:endParaRPr lang="ru-RU" sz="2400" dirty="0">
              <a:latin typeface="+mn-lt"/>
              <a:cs typeface="+mn-cs"/>
            </a:endParaRPr>
          </a:p>
        </p:txBody>
      </p:sp>
      <p:sp>
        <p:nvSpPr>
          <p:cNvPr id="4" name="TextBox 3"/>
          <p:cNvSpPr txBox="1"/>
          <p:nvPr/>
        </p:nvSpPr>
        <p:spPr>
          <a:xfrm>
            <a:off x="789509" y="1792224"/>
            <a:ext cx="11245330" cy="3703578"/>
          </a:xfrm>
          <a:prstGeom prst="rect">
            <a:avLst/>
          </a:prstGeom>
          <a:noFill/>
        </p:spPr>
        <p:txBody>
          <a:bodyPr wrap="square" rtlCol="0">
            <a:spAutoFit/>
          </a:bodyPr>
          <a:lstStyle/>
          <a:p>
            <a:r>
              <a:rPr lang="en-US" sz="2200" dirty="0">
                <a:solidFill>
                  <a:srgbClr val="000000"/>
                </a:solidFill>
                <a:latin typeface="Bookman Old Style" panose="02050604050505020204" pitchFamily="18" charset="0"/>
              </a:rPr>
              <a:t>2. </a:t>
            </a:r>
            <a:r>
              <a:rPr lang="ru-RU" sz="2200" dirty="0">
                <a:solidFill>
                  <a:srgbClr val="000000"/>
                </a:solidFill>
                <a:latin typeface="Bookman Old Style" panose="02050604050505020204" pitchFamily="18" charset="0"/>
              </a:rPr>
              <a:t>После выбора модели нам потребуется процедура, которая использует обучающие данные для подгонки, или обучения, модели. В случае линейной модели (4) нам необходимо оценить параметры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0</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1</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en-US" sz="2200" i="1" baseline="-25000" dirty="0">
                <a:solidFill>
                  <a:srgbClr val="000000"/>
                </a:solidFill>
                <a:latin typeface="Bookman Old Style" panose="02050604050505020204" pitchFamily="18" charset="0"/>
              </a:rPr>
              <a:t>p</a:t>
            </a:r>
            <a:r>
              <a:rPr lang="ru-RU" sz="2200" dirty="0">
                <a:solidFill>
                  <a:srgbClr val="000000"/>
                </a:solidFill>
                <a:latin typeface="Bookman Old Style" panose="02050604050505020204" pitchFamily="18" charset="0"/>
              </a:rPr>
              <a:t>.. Другими словами, мы хотим найти такие значения этих параметров, при которых</a:t>
            </a:r>
            <a:endParaRPr lang="en-US" sz="2200" dirty="0">
              <a:solidFill>
                <a:srgbClr val="000000"/>
              </a:solidFill>
              <a:latin typeface="Bookman Old Style" panose="02050604050505020204" pitchFamily="18" charset="0"/>
            </a:endParaRPr>
          </a:p>
          <a:p>
            <a:endParaRPr lang="ru-RU" sz="2200" dirty="0">
              <a:solidFill>
                <a:srgbClr val="000000"/>
              </a:solidFill>
              <a:latin typeface="Bookman Old Style" panose="02050604050505020204" pitchFamily="18" charset="0"/>
            </a:endParaRPr>
          </a:p>
          <a:p>
            <a:pPr algn="ctr"/>
            <a:r>
              <a:rPr lang="ru-RU" sz="2200" dirty="0">
                <a:solidFill>
                  <a:srgbClr val="000000"/>
                </a:solidFill>
                <a:latin typeface="Bookman Old Style" panose="02050604050505020204" pitchFamily="18" charset="0"/>
              </a:rPr>
              <a:t>                             </a:t>
            </a:r>
            <a:r>
              <a:rPr lang="en-US" sz="2200" dirty="0">
                <a:solidFill>
                  <a:srgbClr val="000000"/>
                </a:solidFill>
                <a:latin typeface="Bookman Old Style" panose="02050604050505020204" pitchFamily="18" charset="0"/>
              </a:rPr>
              <a:t>Y</a:t>
            </a:r>
            <a:r>
              <a:rPr lang="ru-RU" sz="2200" dirty="0">
                <a:solidFill>
                  <a:srgbClr val="000000"/>
                </a:solidFill>
                <a:latin typeface="Bookman Old Style" panose="02050604050505020204" pitchFamily="18" charset="0"/>
              </a:rPr>
              <a:t> ≈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1</a:t>
            </a:r>
            <a:r>
              <a:rPr lang="en-US" sz="2200" i="1" dirty="0">
                <a:solidFill>
                  <a:srgbClr val="000000"/>
                </a:solidFill>
                <a:latin typeface="Bookman Old Style" panose="02050604050505020204" pitchFamily="18" charset="0"/>
              </a:rPr>
              <a:t>X</a:t>
            </a:r>
            <a:r>
              <a:rPr lang="en-US" sz="2200" i="1" baseline="-25000" dirty="0">
                <a:solidFill>
                  <a:srgbClr val="000000"/>
                </a:solidFill>
                <a:latin typeface="Bookman Old Style" panose="02050604050505020204" pitchFamily="18" charset="0"/>
              </a:rPr>
              <a:t>1</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en-US" sz="2200" i="1" baseline="-25000" dirty="0">
                <a:solidFill>
                  <a:srgbClr val="000000"/>
                </a:solidFill>
                <a:latin typeface="Bookman Old Style" panose="02050604050505020204" pitchFamily="18" charset="0"/>
              </a:rPr>
              <a:t>2</a:t>
            </a:r>
            <a:r>
              <a:rPr lang="en-US" sz="2200" i="1" dirty="0">
                <a:solidFill>
                  <a:srgbClr val="000000"/>
                </a:solidFill>
                <a:latin typeface="Bookman Old Style" panose="02050604050505020204" pitchFamily="18" charset="0"/>
              </a:rPr>
              <a:t>X</a:t>
            </a:r>
            <a:r>
              <a:rPr lang="en-US" sz="2200" i="1" baseline="-25000" dirty="0">
                <a:solidFill>
                  <a:srgbClr val="000000"/>
                </a:solidFill>
                <a:latin typeface="Bookman Old Style" panose="02050604050505020204" pitchFamily="18" charset="0"/>
              </a:rPr>
              <a:t>2</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 β</a:t>
            </a:r>
            <a:r>
              <a:rPr lang="en-US" sz="2200" i="1" baseline="-25000" dirty="0" err="1">
                <a:solidFill>
                  <a:srgbClr val="000000"/>
                </a:solidFill>
                <a:latin typeface="Bookman Old Style" panose="02050604050505020204" pitchFamily="18" charset="0"/>
              </a:rPr>
              <a:t>p</a:t>
            </a:r>
            <a:r>
              <a:rPr lang="en-US" sz="2200" i="1" dirty="0" err="1">
                <a:solidFill>
                  <a:srgbClr val="000000"/>
                </a:solidFill>
                <a:latin typeface="Bookman Old Style" panose="02050604050505020204" pitchFamily="18" charset="0"/>
              </a:rPr>
              <a:t>X</a:t>
            </a:r>
            <a:r>
              <a:rPr lang="en-US" sz="2200" i="1" baseline="-25000" dirty="0" err="1">
                <a:solidFill>
                  <a:srgbClr val="000000"/>
                </a:solidFill>
                <a:latin typeface="Bookman Old Style" panose="02050604050505020204" pitchFamily="18" charset="0"/>
              </a:rPr>
              <a:t>p</a:t>
            </a:r>
            <a:r>
              <a:rPr lang="ru-RU" sz="2200" i="1" baseline="-250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(5)</a:t>
            </a:r>
            <a:endParaRPr lang="en-US" sz="2200" i="1" baseline="-25000" dirty="0">
              <a:solidFill>
                <a:srgbClr val="000000"/>
              </a:solidFill>
              <a:latin typeface="Bookman Old Style" panose="02050604050505020204" pitchFamily="18" charset="0"/>
            </a:endParaRPr>
          </a:p>
          <a:p>
            <a:pPr algn="ctr"/>
            <a:endParaRPr lang="en-US" sz="2200" i="1" baseline="-25000" dirty="0">
              <a:solidFill>
                <a:srgbClr val="000000"/>
              </a:solidFill>
              <a:latin typeface="Bookman Old Style" panose="02050604050505020204" pitchFamily="18" charset="0"/>
            </a:endParaRPr>
          </a:p>
          <a:p>
            <a:pPr indent="363541"/>
            <a:r>
              <a:rPr lang="ru-RU" sz="2200" dirty="0">
                <a:solidFill>
                  <a:srgbClr val="000000"/>
                </a:solidFill>
                <a:latin typeface="Bookman Old Style" panose="02050604050505020204" pitchFamily="18" charset="0"/>
              </a:rPr>
              <a:t>Наиболее распространенный метод для подгонки модели (4) известен как </a:t>
            </a:r>
            <a:r>
              <a:rPr lang="ru-RU" sz="2200" b="1" i="1" dirty="0">
                <a:solidFill>
                  <a:srgbClr val="0070C0"/>
                </a:solidFill>
                <a:latin typeface="Bookman Old Style" panose="02050604050505020204" pitchFamily="18" charset="0"/>
              </a:rPr>
              <a:t>метод наименьших квадратов</a:t>
            </a:r>
            <a:r>
              <a:rPr lang="ru-RU" sz="2200" dirty="0">
                <a:solidFill>
                  <a:srgbClr val="000000"/>
                </a:solidFill>
                <a:latin typeface="Bookman Old Style" panose="02050604050505020204" pitchFamily="18" charset="0"/>
              </a:rPr>
              <a:t>, </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он является лишь одним из многих возможных способов. Есть и другие подходы для нахождения параметров уравнения (4).</a:t>
            </a:r>
          </a:p>
        </p:txBody>
      </p:sp>
      <p:sp>
        <p:nvSpPr>
          <p:cNvPr id="7" name="Text Box 5">
            <a:extLst>
              <a:ext uri="{FF2B5EF4-FFF2-40B4-BE49-F238E27FC236}">
                <a16:creationId xmlns:a16="http://schemas.microsoft.com/office/drawing/2014/main" id="{708D0F05-C710-4469-A2DD-436FB3FBA621}"/>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8" name="Номер слайда 3">
            <a:extLst>
              <a:ext uri="{FF2B5EF4-FFF2-40B4-BE49-F238E27FC236}">
                <a16:creationId xmlns:a16="http://schemas.microsoft.com/office/drawing/2014/main" id="{D2D5BC41-5F85-417F-B562-384C67D1D659}"/>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51</a:t>
            </a:fld>
            <a:endParaRPr lang="ru-RU" dirty="0">
              <a:solidFill>
                <a:schemeClr val="tx1"/>
              </a:solidFill>
            </a:endParaRPr>
          </a:p>
        </p:txBody>
      </p:sp>
    </p:spTree>
    <p:extLst>
      <p:ext uri="{BB962C8B-B14F-4D97-AF65-F5344CB8AC3E}">
        <p14:creationId xmlns:p14="http://schemas.microsoft.com/office/powerpoint/2010/main" val="3537060105"/>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429469" y="322265"/>
            <a:ext cx="11881320" cy="6193208"/>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21496" y="993831"/>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методы</a:t>
            </a:r>
            <a:endParaRPr lang="ru-RU" sz="2400" dirty="0">
              <a:latin typeface="+mn-lt"/>
              <a:cs typeface="+mn-cs"/>
            </a:endParaRPr>
          </a:p>
        </p:txBody>
      </p:sp>
      <p:sp>
        <p:nvSpPr>
          <p:cNvPr id="4" name="TextBox 3"/>
          <p:cNvSpPr txBox="1"/>
          <p:nvPr/>
        </p:nvSpPr>
        <p:spPr>
          <a:xfrm>
            <a:off x="586918" y="1453889"/>
            <a:ext cx="11737304" cy="4832092"/>
          </a:xfrm>
          <a:prstGeom prst="rect">
            <a:avLst/>
          </a:prstGeom>
          <a:noFill/>
        </p:spPr>
        <p:txBody>
          <a:bodyPr wrap="square" rtlCol="0">
            <a:spAutoFit/>
          </a:bodyPr>
          <a:lstStyle/>
          <a:p>
            <a:pPr indent="363541"/>
            <a:r>
              <a:rPr lang="ru-RU" sz="2200" dirty="0">
                <a:solidFill>
                  <a:srgbClr val="000000"/>
                </a:solidFill>
                <a:latin typeface="Bookman Old Style" panose="02050604050505020204" pitchFamily="18" charset="0"/>
              </a:rPr>
              <a:t>Допущение о параметрической форме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упрощает проблему нахождения этой функции, поскольку, как правило, оценить набор параметров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0</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ru-RU" sz="2200" i="1" baseline="-25000" dirty="0">
                <a:solidFill>
                  <a:srgbClr val="000000"/>
                </a:solidFill>
                <a:latin typeface="Bookman Old Style" panose="02050604050505020204" pitchFamily="18" charset="0"/>
              </a:rPr>
              <a:t>1</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β</a:t>
            </a:r>
            <a:r>
              <a:rPr lang="en-US" sz="2200" i="1" baseline="-25000" dirty="0">
                <a:solidFill>
                  <a:srgbClr val="000000"/>
                </a:solidFill>
                <a:latin typeface="Bookman Old Style" panose="02050604050505020204" pitchFamily="18" charset="0"/>
              </a:rPr>
              <a:t>p</a:t>
            </a:r>
            <a:r>
              <a:rPr lang="ru-RU" sz="2200" dirty="0">
                <a:solidFill>
                  <a:srgbClr val="000000"/>
                </a:solidFill>
                <a:latin typeface="Bookman Old Style" panose="02050604050505020204" pitchFamily="18" charset="0"/>
              </a:rPr>
              <a:t>. линейной модели (4) гораздо проще, чем подогнать совершенно произвольную функцию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Потенциальный </a:t>
            </a:r>
            <a:r>
              <a:rPr lang="ru-RU" sz="2200" b="1" i="1" dirty="0">
                <a:solidFill>
                  <a:srgbClr val="0070C0"/>
                </a:solidFill>
                <a:latin typeface="Bookman Old Style" panose="02050604050505020204" pitchFamily="18" charset="0"/>
              </a:rPr>
              <a:t>недостаток параметрического подхода </a:t>
            </a:r>
            <a:r>
              <a:rPr lang="ru-RU" sz="2200" dirty="0">
                <a:solidFill>
                  <a:srgbClr val="000000"/>
                </a:solidFill>
                <a:latin typeface="Bookman Old Style" panose="02050604050505020204" pitchFamily="18" charset="0"/>
              </a:rPr>
              <a:t>заключается в том, что выбираемая нами модель обычно не будет совпадать с истинной неизвестной формой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a:t>
            </a:r>
          </a:p>
          <a:p>
            <a:pPr indent="363541"/>
            <a:r>
              <a:rPr lang="ru-RU" sz="2200" dirty="0">
                <a:solidFill>
                  <a:srgbClr val="000000"/>
                </a:solidFill>
                <a:latin typeface="Bookman Old Style" panose="02050604050505020204" pitchFamily="18" charset="0"/>
              </a:rPr>
              <a:t>Если выбранная модель слишком отличается от истинной, то наша оценка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будет плохой. Мы можем попытаться решить эту проблему, выбрав гибкие модели, которые способны описать многие из возможных функциональных форм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В целом, однако, подгонка более гибкой модели требует оценивания большего числа параметров. Такие более сложные модели могут приводить к явлению, известному как </a:t>
            </a:r>
            <a:r>
              <a:rPr lang="ru-RU" sz="2200" b="1" i="1" dirty="0">
                <a:solidFill>
                  <a:srgbClr val="0070C0"/>
                </a:solidFill>
                <a:latin typeface="Bookman Old Style" panose="02050604050505020204" pitchFamily="18" charset="0"/>
              </a:rPr>
              <a:t>переобучение</a:t>
            </a:r>
            <a:r>
              <a:rPr lang="ru-RU" sz="2200" dirty="0">
                <a:solidFill>
                  <a:srgbClr val="000000"/>
                </a:solidFill>
                <a:latin typeface="Bookman Old Style" panose="02050604050505020204" pitchFamily="18" charset="0"/>
              </a:rPr>
              <a:t>, которое, в сущности, означает то, что эти модели начинают слишком близко аппроксимировать ошибки, или шум, в данных. </a:t>
            </a:r>
          </a:p>
        </p:txBody>
      </p:sp>
      <p:sp>
        <p:nvSpPr>
          <p:cNvPr id="3" name="Номер слайда 2">
            <a:extLst>
              <a:ext uri="{FF2B5EF4-FFF2-40B4-BE49-F238E27FC236}">
                <a16:creationId xmlns:a16="http://schemas.microsoft.com/office/drawing/2014/main" id="{854D3DF4-0121-4F35-8372-0EF89AA7D5BF}"/>
              </a:ext>
            </a:extLst>
          </p:cNvPr>
          <p:cNvSpPr>
            <a:spLocks noGrp="1"/>
          </p:cNvSpPr>
          <p:nvPr>
            <p:ph type="sldNum" sz="quarter" idx="12"/>
          </p:nvPr>
        </p:nvSpPr>
        <p:spPr>
          <a:xfrm>
            <a:off x="11374685" y="6712388"/>
            <a:ext cx="660154" cy="272038"/>
          </a:xfrm>
        </p:spPr>
        <p:txBody>
          <a:bodyPr/>
          <a:lstStyle/>
          <a:p>
            <a:fld id="{952B6C0E-C4B9-4094-8E59-5B7DF00D5415}" type="slidenum">
              <a:rPr lang="ru-RU" smtClean="0">
                <a:solidFill>
                  <a:schemeClr val="tx1"/>
                </a:solidFill>
              </a:rPr>
              <a:t>52</a:t>
            </a:fld>
            <a:endParaRPr lang="ru-RU">
              <a:solidFill>
                <a:schemeClr val="tx1"/>
              </a:solidFill>
            </a:endParaRPr>
          </a:p>
        </p:txBody>
      </p:sp>
      <p:sp>
        <p:nvSpPr>
          <p:cNvPr id="7" name="Text Box 5">
            <a:extLst>
              <a:ext uri="{FF2B5EF4-FFF2-40B4-BE49-F238E27FC236}">
                <a16:creationId xmlns:a16="http://schemas.microsoft.com/office/drawing/2014/main" id="{D995738B-72AC-4671-9BC3-57BB0CA304E7}"/>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380081528"/>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7" y="322264"/>
            <a:ext cx="10944520"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0" y="1140037"/>
            <a:ext cx="9789256" cy="56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Параметрические методы (пример)</a:t>
            </a:r>
            <a:endParaRPr lang="ru-RU" sz="2400" dirty="0">
              <a:latin typeface="+mn-lt"/>
              <a:cs typeface="+mn-cs"/>
            </a:endParaRPr>
          </a:p>
        </p:txBody>
      </p:sp>
      <p:sp>
        <p:nvSpPr>
          <p:cNvPr id="4" name="TextBox 3"/>
          <p:cNvSpPr txBox="1"/>
          <p:nvPr/>
        </p:nvSpPr>
        <p:spPr>
          <a:xfrm>
            <a:off x="2766721" y="5948428"/>
            <a:ext cx="7591716" cy="656590"/>
          </a:xfrm>
          <a:prstGeom prst="rect">
            <a:avLst/>
          </a:prstGeom>
          <a:noFill/>
        </p:spPr>
        <p:txBody>
          <a:bodyPr wrap="square" rtlCol="0">
            <a:spAutoFit/>
          </a:bodyPr>
          <a:lstStyle/>
          <a:p>
            <a:pPr algn="ctr"/>
            <a:r>
              <a:rPr lang="en-US" sz="2200" b="1" dirty="0">
                <a:solidFill>
                  <a:srgbClr val="000000"/>
                </a:solidFill>
                <a:latin typeface="Bookman Old Style" panose="02050604050505020204" pitchFamily="18" charset="0"/>
              </a:rPr>
              <a:t>income</a:t>
            </a:r>
            <a:r>
              <a:rPr lang="ru-RU" sz="2200" b="1" dirty="0">
                <a:solidFill>
                  <a:srgbClr val="000000"/>
                </a:solidFill>
                <a:latin typeface="Bookman Old Style" panose="02050604050505020204" pitchFamily="18" charset="0"/>
              </a:rPr>
              <a:t> ≈ </a:t>
            </a:r>
            <a:r>
              <a:rPr lang="ru-RU" sz="2200" b="1" i="1" dirty="0">
                <a:solidFill>
                  <a:srgbClr val="000000"/>
                </a:solidFill>
                <a:latin typeface="Bookman Old Style" panose="02050604050505020204" pitchFamily="18" charset="0"/>
              </a:rPr>
              <a:t>β</a:t>
            </a:r>
            <a:r>
              <a:rPr lang="ru-RU" sz="2200" b="1" i="1" baseline="-25000" dirty="0">
                <a:solidFill>
                  <a:srgbClr val="000000"/>
                </a:solidFill>
                <a:latin typeface="Bookman Old Style" panose="02050604050505020204" pitchFamily="18" charset="0"/>
              </a:rPr>
              <a:t>0</a:t>
            </a:r>
            <a:r>
              <a:rPr lang="en-US" sz="2200" b="1" i="1" dirty="0">
                <a:solidFill>
                  <a:srgbClr val="000000"/>
                </a:solidFill>
                <a:latin typeface="Bookman Old Style" panose="02050604050505020204" pitchFamily="18" charset="0"/>
              </a:rPr>
              <a:t>+</a:t>
            </a:r>
            <a:r>
              <a:rPr lang="ru-RU" sz="2200" b="1" i="1" dirty="0">
                <a:solidFill>
                  <a:srgbClr val="000000"/>
                </a:solidFill>
                <a:latin typeface="Bookman Old Style" panose="02050604050505020204" pitchFamily="18" charset="0"/>
              </a:rPr>
              <a:t>β</a:t>
            </a:r>
            <a:r>
              <a:rPr lang="ru-RU" sz="2200" b="1" i="1" baseline="-25000" dirty="0">
                <a:solidFill>
                  <a:srgbClr val="000000"/>
                </a:solidFill>
                <a:latin typeface="Bookman Old Style" panose="02050604050505020204" pitchFamily="18" charset="0"/>
              </a:rPr>
              <a:t>1</a:t>
            </a:r>
            <a:r>
              <a:rPr lang="en-US" sz="2200" b="1" i="1" dirty="0">
                <a:solidFill>
                  <a:srgbClr val="000000"/>
                </a:solidFill>
                <a:latin typeface="Bookman Old Style" panose="02050604050505020204" pitchFamily="18" charset="0"/>
              </a:rPr>
              <a:t>education +</a:t>
            </a:r>
            <a:r>
              <a:rPr lang="ru-RU" sz="2200" b="1" i="1" dirty="0">
                <a:solidFill>
                  <a:srgbClr val="000000"/>
                </a:solidFill>
                <a:latin typeface="Bookman Old Style" panose="02050604050505020204" pitchFamily="18" charset="0"/>
              </a:rPr>
              <a:t>β</a:t>
            </a:r>
            <a:r>
              <a:rPr lang="en-US" sz="2200" b="1" i="1" baseline="-25000" dirty="0">
                <a:solidFill>
                  <a:srgbClr val="000000"/>
                </a:solidFill>
                <a:latin typeface="Bookman Old Style" panose="02050604050505020204" pitchFamily="18" charset="0"/>
              </a:rPr>
              <a:t>2</a:t>
            </a:r>
            <a:r>
              <a:rPr lang="en-US" sz="2200" b="1" i="1" dirty="0">
                <a:solidFill>
                  <a:srgbClr val="000000"/>
                </a:solidFill>
                <a:latin typeface="Bookman Old Style" panose="02050604050505020204" pitchFamily="18" charset="0"/>
              </a:rPr>
              <a:t>seniority</a:t>
            </a:r>
            <a:endParaRPr lang="en-US" sz="2200" b="1" i="1" baseline="-25000" dirty="0">
              <a:solidFill>
                <a:srgbClr val="000000"/>
              </a:solidFill>
              <a:latin typeface="Bookman Old Style" panose="02050604050505020204" pitchFamily="18" charset="0"/>
            </a:endParaRPr>
          </a:p>
          <a:p>
            <a:pPr algn="ctr"/>
            <a:endParaRPr lang="en-US" sz="2200" b="1" i="1" baseline="-25000" dirty="0">
              <a:solidFill>
                <a:srgbClr val="000000"/>
              </a:solidFill>
              <a:latin typeface="Bookman Old Style" panose="02050604050505020204" pitchFamily="18" charset="0"/>
            </a:endParaRPr>
          </a:p>
        </p:txBody>
      </p:sp>
      <p:pic>
        <p:nvPicPr>
          <p:cNvPr id="5" name="Рисунок 4"/>
          <p:cNvPicPr>
            <a:picLocks noChangeAspect="1"/>
          </p:cNvPicPr>
          <p:nvPr/>
        </p:nvPicPr>
        <p:blipFill>
          <a:blip r:embed="rId2"/>
          <a:stretch>
            <a:fillRect/>
          </a:stretch>
        </p:blipFill>
        <p:spPr>
          <a:xfrm>
            <a:off x="6622157" y="1671549"/>
            <a:ext cx="3672408" cy="2919979"/>
          </a:xfrm>
          <a:prstGeom prst="rect">
            <a:avLst/>
          </a:prstGeom>
        </p:spPr>
      </p:pic>
      <p:sp>
        <p:nvSpPr>
          <p:cNvPr id="7" name="Прямоугольник 6"/>
          <p:cNvSpPr/>
          <p:nvPr/>
        </p:nvSpPr>
        <p:spPr>
          <a:xfrm>
            <a:off x="1090320" y="4669157"/>
            <a:ext cx="10944519" cy="1446550"/>
          </a:xfrm>
          <a:prstGeom prst="rect">
            <a:avLst/>
          </a:prstGeom>
        </p:spPr>
        <p:txBody>
          <a:bodyPr wrap="square">
            <a:spAutoFit/>
          </a:bodyPr>
          <a:lstStyle/>
          <a:p>
            <a:r>
              <a:rPr lang="ru-RU" sz="2200" dirty="0">
                <a:solidFill>
                  <a:srgbClr val="000000"/>
                </a:solidFill>
                <a:latin typeface="Bookman Old Style" panose="02050604050505020204" pitchFamily="18" charset="0"/>
              </a:rPr>
              <a:t>Рис.4. Линейная модель, подогнанная по методу наименьших квадратов к данным </a:t>
            </a:r>
            <a:r>
              <a:rPr lang="en-US" sz="2200" dirty="0">
                <a:solidFill>
                  <a:srgbClr val="000000"/>
                </a:solidFill>
                <a:latin typeface="Bookman Old Style" panose="02050604050505020204" pitchFamily="18" charset="0"/>
              </a:rPr>
              <a:t>Income </a:t>
            </a:r>
            <a:r>
              <a:rPr lang="ru-RU" sz="2200" dirty="0">
                <a:solidFill>
                  <a:srgbClr val="000000"/>
                </a:solidFill>
                <a:latin typeface="Bookman Old Style" panose="02050604050505020204" pitchFamily="18" charset="0"/>
              </a:rPr>
              <a:t>(рис. 3). Выборочные значения представлены точками красного цвета, а желтая плоскость показывает подогнанную к данным модель.</a:t>
            </a:r>
            <a:endParaRPr lang="ru-RU" sz="2200" dirty="0"/>
          </a:p>
        </p:txBody>
      </p:sp>
      <p:pic>
        <p:nvPicPr>
          <p:cNvPr id="11" name="Рисунок 10"/>
          <p:cNvPicPr>
            <a:picLocks noChangeAspect="1"/>
          </p:cNvPicPr>
          <p:nvPr/>
        </p:nvPicPr>
        <p:blipFill>
          <a:blip r:embed="rId3"/>
          <a:stretch>
            <a:fillRect/>
          </a:stretch>
        </p:blipFill>
        <p:spPr>
          <a:xfrm>
            <a:off x="1958263" y="1708928"/>
            <a:ext cx="3530562" cy="2845218"/>
          </a:xfrm>
          <a:prstGeom prst="rect">
            <a:avLst/>
          </a:prstGeom>
        </p:spPr>
      </p:pic>
      <p:sp>
        <p:nvSpPr>
          <p:cNvPr id="9" name="Стрелка вправо 8"/>
          <p:cNvSpPr/>
          <p:nvPr/>
        </p:nvSpPr>
        <p:spPr bwMode="auto">
          <a:xfrm>
            <a:off x="5758061" y="2915072"/>
            <a:ext cx="576064" cy="432048"/>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2" name="Text Box 5">
            <a:extLst>
              <a:ext uri="{FF2B5EF4-FFF2-40B4-BE49-F238E27FC236}">
                <a16:creationId xmlns:a16="http://schemas.microsoft.com/office/drawing/2014/main" id="{3E4C482E-D054-4AAC-94AA-2A9AF6D7F848}"/>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3" name="Номер слайда 3">
            <a:extLst>
              <a:ext uri="{FF2B5EF4-FFF2-40B4-BE49-F238E27FC236}">
                <a16:creationId xmlns:a16="http://schemas.microsoft.com/office/drawing/2014/main" id="{6F31D7B7-6E49-4169-9D45-2BCF29744210}"/>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53</a:t>
            </a:fld>
            <a:endParaRPr lang="ru-RU" dirty="0">
              <a:solidFill>
                <a:schemeClr val="tx1"/>
              </a:solidFill>
            </a:endParaRPr>
          </a:p>
        </p:txBody>
      </p:sp>
    </p:spTree>
    <p:extLst>
      <p:ext uri="{BB962C8B-B14F-4D97-AF65-F5344CB8AC3E}">
        <p14:creationId xmlns:p14="http://schemas.microsoft.com/office/powerpoint/2010/main" val="1946529836"/>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7" y="322264"/>
            <a:ext cx="11016528"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38278" y="1053896"/>
            <a:ext cx="5037421" cy="41440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Непараметрические методы </a:t>
            </a:r>
          </a:p>
        </p:txBody>
      </p:sp>
      <p:sp>
        <p:nvSpPr>
          <p:cNvPr id="4" name="TextBox 3"/>
          <p:cNvSpPr txBox="1"/>
          <p:nvPr/>
        </p:nvSpPr>
        <p:spPr>
          <a:xfrm>
            <a:off x="907913" y="1702446"/>
            <a:ext cx="11449272" cy="4493538"/>
          </a:xfrm>
          <a:prstGeom prst="rect">
            <a:avLst/>
          </a:prstGeom>
          <a:noFill/>
        </p:spPr>
        <p:txBody>
          <a:bodyPr wrap="square" rtlCol="0">
            <a:spAutoFit/>
          </a:bodyPr>
          <a:lstStyle/>
          <a:p>
            <a:pPr indent="536579"/>
            <a:r>
              <a:rPr lang="ru-RU" sz="2200" dirty="0">
                <a:solidFill>
                  <a:srgbClr val="000000"/>
                </a:solidFill>
                <a:latin typeface="Bookman Old Style" panose="02050604050505020204" pitchFamily="18" charset="0"/>
              </a:rPr>
              <a:t>Непараметрические методы </a:t>
            </a:r>
            <a:r>
              <a:rPr lang="ru-RU" sz="2200" b="1" dirty="0">
                <a:solidFill>
                  <a:srgbClr val="000000"/>
                </a:solidFill>
                <a:latin typeface="Bookman Old Style" panose="02050604050505020204" pitchFamily="18" charset="0"/>
              </a:rPr>
              <a:t>не делают явных предположений в отношении функциональной формы</a:t>
            </a:r>
            <a:r>
              <a:rPr lang="ru-RU" sz="2200" dirty="0">
                <a:solidFill>
                  <a:srgbClr val="000000"/>
                </a:solidFill>
                <a:latin typeface="Bookman Old Style" panose="02050604050505020204" pitchFamily="18" charset="0"/>
              </a:rPr>
              <a:t>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Вместо этого они выполняют поиск такой оценки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которая приближается к данным максимально близко, не будучи при этом слишком грубой или слишком извилистой. </a:t>
            </a:r>
          </a:p>
          <a:p>
            <a:pPr indent="536579"/>
            <a:r>
              <a:rPr lang="ru-RU" sz="2200" dirty="0">
                <a:solidFill>
                  <a:srgbClr val="000000"/>
                </a:solidFill>
                <a:latin typeface="Bookman Old Style" panose="02050604050505020204" pitchFamily="18" charset="0"/>
              </a:rPr>
              <a:t>Такие подходы могут иметь существенное преимущество по сравнению с параметрическим методами: избегая предположения о конкретной функциональной форме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они способны точно описать более широкий ряд возможных форм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Любой параметрический подход несет с собой возможность того, что используемая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функциональная форма значительно отличается от истинной функции, вследствие чего итоговая модель будет плохо описывать данные. В то же время непараметрические методы полностью уходят от этой опасности, поскольку, по сути, не делается никакого предположения о форме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a:t>
            </a:r>
          </a:p>
        </p:txBody>
      </p:sp>
      <p:sp>
        <p:nvSpPr>
          <p:cNvPr id="3" name="Номер слайда 2">
            <a:extLst>
              <a:ext uri="{FF2B5EF4-FFF2-40B4-BE49-F238E27FC236}">
                <a16:creationId xmlns:a16="http://schemas.microsoft.com/office/drawing/2014/main" id="{2671384F-BE8B-45A0-AA02-BAACE06C33CA}"/>
              </a:ext>
            </a:extLst>
          </p:cNvPr>
          <p:cNvSpPr>
            <a:spLocks noGrp="1"/>
          </p:cNvSpPr>
          <p:nvPr>
            <p:ph type="sldNum" sz="quarter" idx="12"/>
          </p:nvPr>
        </p:nvSpPr>
        <p:spPr>
          <a:xfrm>
            <a:off x="11229973" y="6587481"/>
            <a:ext cx="804866" cy="396946"/>
          </a:xfrm>
        </p:spPr>
        <p:txBody>
          <a:bodyPr/>
          <a:lstStyle/>
          <a:p>
            <a:fld id="{952B6C0E-C4B9-4094-8E59-5B7DF00D5415}" type="slidenum">
              <a:rPr lang="ru-RU" smtClean="0">
                <a:solidFill>
                  <a:schemeClr val="tx1"/>
                </a:solidFill>
              </a:rPr>
              <a:t>54</a:t>
            </a:fld>
            <a:endParaRPr lang="ru-RU">
              <a:solidFill>
                <a:schemeClr val="tx1"/>
              </a:solidFill>
            </a:endParaRPr>
          </a:p>
        </p:txBody>
      </p:sp>
      <p:sp>
        <p:nvSpPr>
          <p:cNvPr id="7" name="Text Box 5">
            <a:extLst>
              <a:ext uri="{FF2B5EF4-FFF2-40B4-BE49-F238E27FC236}">
                <a16:creationId xmlns:a16="http://schemas.microsoft.com/office/drawing/2014/main" id="{DE4BA66A-14E5-4BB1-B3E2-C0A3BC15A2FC}"/>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789002657"/>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22720" y="322264"/>
            <a:ext cx="11616061"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379815" y="901363"/>
            <a:ext cx="5037421" cy="41440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Непараметрические методы </a:t>
            </a:r>
          </a:p>
        </p:txBody>
      </p:sp>
      <p:sp>
        <p:nvSpPr>
          <p:cNvPr id="4" name="TextBox 3"/>
          <p:cNvSpPr txBox="1"/>
          <p:nvPr/>
        </p:nvSpPr>
        <p:spPr>
          <a:xfrm>
            <a:off x="789509" y="1573326"/>
            <a:ext cx="11616060" cy="1708160"/>
          </a:xfrm>
          <a:prstGeom prst="rect">
            <a:avLst/>
          </a:prstGeom>
          <a:noFill/>
        </p:spPr>
        <p:txBody>
          <a:bodyPr wrap="square" rtlCol="0">
            <a:spAutoFit/>
          </a:bodyPr>
          <a:lstStyle/>
          <a:p>
            <a:pPr indent="536579"/>
            <a:r>
              <a:rPr lang="ru-RU" sz="2100" dirty="0">
                <a:solidFill>
                  <a:srgbClr val="000000"/>
                </a:solidFill>
                <a:latin typeface="Bookman Old Style" panose="02050604050505020204" pitchFamily="18" charset="0"/>
              </a:rPr>
              <a:t>Однако непараметрические методы страдают </a:t>
            </a:r>
            <a:r>
              <a:rPr lang="ru-RU" sz="2100" b="1" i="1" dirty="0">
                <a:solidFill>
                  <a:srgbClr val="0070C0"/>
                </a:solidFill>
                <a:latin typeface="Bookman Old Style" panose="02050604050505020204" pitchFamily="18" charset="0"/>
              </a:rPr>
              <a:t>существенным недостатком</a:t>
            </a:r>
            <a:r>
              <a:rPr lang="ru-RU" sz="2100" dirty="0">
                <a:solidFill>
                  <a:srgbClr val="000000"/>
                </a:solidFill>
                <a:latin typeface="Bookman Old Style" panose="02050604050505020204" pitchFamily="18" charset="0"/>
              </a:rPr>
              <a:t>: поскольку они не сводят проблему оценивания </a:t>
            </a:r>
            <a:r>
              <a:rPr lang="en-US" sz="2100" b="1"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к ограниченному набору параметров, то для получения точной оценки </a:t>
            </a:r>
            <a:r>
              <a:rPr lang="en-US" sz="2100" b="1"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требуется очень большое число наблюдений (намного больше, чем обычно необходимо для какого-либо параметрического метода).</a:t>
            </a:r>
          </a:p>
        </p:txBody>
      </p:sp>
      <p:pic>
        <p:nvPicPr>
          <p:cNvPr id="3" name="Рисунок 2"/>
          <p:cNvPicPr>
            <a:picLocks noChangeAspect="1"/>
          </p:cNvPicPr>
          <p:nvPr/>
        </p:nvPicPr>
        <p:blipFill>
          <a:blip r:embed="rId2"/>
          <a:stretch>
            <a:fillRect/>
          </a:stretch>
        </p:blipFill>
        <p:spPr>
          <a:xfrm>
            <a:off x="789509" y="3380173"/>
            <a:ext cx="3595235" cy="2867628"/>
          </a:xfrm>
          <a:prstGeom prst="rect">
            <a:avLst/>
          </a:prstGeom>
        </p:spPr>
      </p:pic>
      <p:sp>
        <p:nvSpPr>
          <p:cNvPr id="5" name="Прямоугольник 4"/>
          <p:cNvSpPr/>
          <p:nvPr/>
        </p:nvSpPr>
        <p:spPr>
          <a:xfrm>
            <a:off x="622719" y="6247800"/>
            <a:ext cx="9815861" cy="397353"/>
          </a:xfrm>
          <a:prstGeom prst="rect">
            <a:avLst/>
          </a:prstGeom>
        </p:spPr>
        <p:txBody>
          <a:bodyPr wrap="square">
            <a:spAutoFit/>
          </a:bodyPr>
          <a:lstStyle/>
          <a:p>
            <a:pPr>
              <a:lnSpc>
                <a:spcPts val="2200"/>
              </a:lnSpc>
            </a:pPr>
            <a:r>
              <a:rPr lang="ru-RU" sz="3200" baseline="-25000" dirty="0">
                <a:solidFill>
                  <a:srgbClr val="000000"/>
                </a:solidFill>
                <a:latin typeface="Book Antiqua" panose="02040602050305030304" pitchFamily="18" charset="0"/>
              </a:rPr>
              <a:t>Рис. 5. </a:t>
            </a:r>
            <a:r>
              <a:rPr lang="ru-RU" sz="3200" i="1" baseline="-25000" dirty="0">
                <a:solidFill>
                  <a:srgbClr val="000000"/>
                </a:solidFill>
                <a:latin typeface="Book Antiqua" panose="02040602050305030304" pitchFamily="18" charset="0"/>
              </a:rPr>
              <a:t>Грубый сплайн типа «тонкая пластина», подогнанный к данным</a:t>
            </a:r>
            <a:r>
              <a:rPr lang="ru-RU" sz="3200" baseline="-25000" dirty="0">
                <a:solidFill>
                  <a:srgbClr val="000000"/>
                </a:solidFill>
                <a:latin typeface="Book Antiqua" panose="02040602050305030304" pitchFamily="18" charset="0"/>
              </a:rPr>
              <a:t> </a:t>
            </a:r>
            <a:r>
              <a:rPr lang="en-US" sz="3200" b="1" i="1" baseline="-25000" dirty="0">
                <a:solidFill>
                  <a:srgbClr val="0070C0"/>
                </a:solidFill>
                <a:latin typeface="Book Antiqua" panose="02040602050305030304" pitchFamily="18" charset="0"/>
              </a:rPr>
              <a:t>Income</a:t>
            </a:r>
            <a:endParaRPr lang="ru-RU" sz="3200" b="1" i="1" dirty="0">
              <a:solidFill>
                <a:srgbClr val="0070C0"/>
              </a:solidFill>
            </a:endParaRPr>
          </a:p>
        </p:txBody>
      </p:sp>
      <p:sp>
        <p:nvSpPr>
          <p:cNvPr id="7" name="Номер слайда 6">
            <a:extLst>
              <a:ext uri="{FF2B5EF4-FFF2-40B4-BE49-F238E27FC236}">
                <a16:creationId xmlns:a16="http://schemas.microsoft.com/office/drawing/2014/main" id="{64903B29-5DD9-42A3-BF2B-807EA862BAE9}"/>
              </a:ext>
            </a:extLst>
          </p:cNvPr>
          <p:cNvSpPr>
            <a:spLocks noGrp="1"/>
          </p:cNvSpPr>
          <p:nvPr>
            <p:ph type="sldNum" sz="quarter" idx="12"/>
          </p:nvPr>
        </p:nvSpPr>
        <p:spPr>
          <a:xfrm>
            <a:off x="11229973" y="6659488"/>
            <a:ext cx="804866" cy="324938"/>
          </a:xfrm>
        </p:spPr>
        <p:txBody>
          <a:bodyPr/>
          <a:lstStyle/>
          <a:p>
            <a:fld id="{952B6C0E-C4B9-4094-8E59-5B7DF00D5415}" type="slidenum">
              <a:rPr lang="ru-RU" smtClean="0">
                <a:solidFill>
                  <a:schemeClr val="tx1"/>
                </a:solidFill>
              </a:rPr>
              <a:t>55</a:t>
            </a:fld>
            <a:endParaRPr lang="ru-RU" dirty="0">
              <a:solidFill>
                <a:schemeClr val="tx1"/>
              </a:solidFill>
            </a:endParaRPr>
          </a:p>
        </p:txBody>
      </p:sp>
      <p:sp>
        <p:nvSpPr>
          <p:cNvPr id="9" name="Text Box 5">
            <a:extLst>
              <a:ext uri="{FF2B5EF4-FFF2-40B4-BE49-F238E27FC236}">
                <a16:creationId xmlns:a16="http://schemas.microsoft.com/office/drawing/2014/main" id="{15C348D0-058D-4C46-85C1-970CADE2C7F1}"/>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487212074"/>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4"/>
            <a:ext cx="11677378" cy="628275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725961" y="1129269"/>
            <a:ext cx="8277435" cy="76787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Компромисс между точностью предсказаний и интерпретируемостью модели  </a:t>
            </a:r>
          </a:p>
        </p:txBody>
      </p:sp>
      <p:sp>
        <p:nvSpPr>
          <p:cNvPr id="4" name="TextBox 3"/>
          <p:cNvSpPr txBox="1"/>
          <p:nvPr/>
        </p:nvSpPr>
        <p:spPr>
          <a:xfrm>
            <a:off x="789509" y="2042637"/>
            <a:ext cx="11737304" cy="2800767"/>
          </a:xfrm>
          <a:prstGeom prst="rect">
            <a:avLst/>
          </a:prstGeom>
          <a:noFill/>
        </p:spPr>
        <p:txBody>
          <a:bodyPr wrap="square" rtlCol="0">
            <a:spAutoFit/>
          </a:bodyPr>
          <a:lstStyle/>
          <a:p>
            <a:pPr indent="536579"/>
            <a:r>
              <a:rPr lang="ru-RU" sz="2200" dirty="0">
                <a:solidFill>
                  <a:srgbClr val="000000"/>
                </a:solidFill>
                <a:latin typeface="Bookman Old Style" panose="02050604050505020204" pitchFamily="18" charset="0"/>
              </a:rPr>
              <a:t>Некоторые из методов являются менее гибкими, или более ограниченными, в том смысле, что они способны породить лишь относительно небольшой набор функциональных форм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Например, </a:t>
            </a:r>
            <a:r>
              <a:rPr lang="ru-RU" sz="2200" b="1" i="1" dirty="0">
                <a:solidFill>
                  <a:srgbClr val="0070C0"/>
                </a:solidFill>
                <a:latin typeface="Bookman Old Style" panose="02050604050505020204" pitchFamily="18" charset="0"/>
              </a:rPr>
              <a:t>линейная регрессия </a:t>
            </a:r>
            <a:r>
              <a:rPr lang="ru-RU" sz="2200" dirty="0">
                <a:solidFill>
                  <a:srgbClr val="000000"/>
                </a:solidFill>
                <a:latin typeface="Bookman Old Style" panose="02050604050505020204" pitchFamily="18" charset="0"/>
              </a:rPr>
              <a:t>является относительно негибким подходом, поскольку она может порождать только линейные функции вроде линий на рис.1 или плоскости на рис. 4. </a:t>
            </a:r>
          </a:p>
          <a:p>
            <a:pPr indent="536579"/>
            <a:r>
              <a:rPr lang="ru-RU" sz="2200" dirty="0">
                <a:solidFill>
                  <a:srgbClr val="000000"/>
                </a:solidFill>
                <a:latin typeface="Bookman Old Style" panose="02050604050505020204" pitchFamily="18" charset="0"/>
              </a:rPr>
              <a:t>Другие методы, такие как сплайны типа «тонкая пластина» рис. 5, являются намного более гибкими, так как они могут порождать гораздо более широкий спектр возможных форм для оценивания </a:t>
            </a:r>
            <a:r>
              <a:rPr lang="en-US" sz="2200" b="1"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a:t>
            </a:r>
          </a:p>
        </p:txBody>
      </p:sp>
      <p:sp>
        <p:nvSpPr>
          <p:cNvPr id="7" name="Text Box 5">
            <a:extLst>
              <a:ext uri="{FF2B5EF4-FFF2-40B4-BE49-F238E27FC236}">
                <a16:creationId xmlns:a16="http://schemas.microsoft.com/office/drawing/2014/main" id="{9A3913A3-A5D2-4FDA-AEB6-74E04C62906B}"/>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8" name="Номер слайда 3">
            <a:extLst>
              <a:ext uri="{FF2B5EF4-FFF2-40B4-BE49-F238E27FC236}">
                <a16:creationId xmlns:a16="http://schemas.microsoft.com/office/drawing/2014/main" id="{1BFF31C8-065A-44FB-8EFE-07BFF5C0BEFA}"/>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56</a:t>
            </a:fld>
            <a:endParaRPr lang="ru-RU" dirty="0">
              <a:solidFill>
                <a:schemeClr val="tx1"/>
              </a:solidFill>
            </a:endParaRPr>
          </a:p>
        </p:txBody>
      </p:sp>
    </p:spTree>
    <p:extLst>
      <p:ext uri="{BB962C8B-B14F-4D97-AF65-F5344CB8AC3E}">
        <p14:creationId xmlns:p14="http://schemas.microsoft.com/office/powerpoint/2010/main" val="2840782625"/>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322264"/>
            <a:ext cx="11749386"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Методы </a:t>
            </a:r>
            <a:r>
              <a:rPr lang="en-US" sz="2800" b="1" dirty="0"/>
              <a:t>Data Mining</a:t>
            </a:r>
            <a:endParaRPr lang="ru-RU" sz="2800" b="1" dirty="0"/>
          </a:p>
        </p:txBody>
      </p:sp>
      <p:sp>
        <p:nvSpPr>
          <p:cNvPr id="2" name="Прямоугольник 1"/>
          <p:cNvSpPr/>
          <p:nvPr/>
        </p:nvSpPr>
        <p:spPr>
          <a:xfrm>
            <a:off x="1005534" y="1001938"/>
            <a:ext cx="8383248"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Компромисс между точностью предсказаний и интерпретируемостью модели  </a:t>
            </a:r>
          </a:p>
        </p:txBody>
      </p:sp>
      <p:sp>
        <p:nvSpPr>
          <p:cNvPr id="4" name="TextBox 3"/>
          <p:cNvSpPr txBox="1"/>
          <p:nvPr/>
        </p:nvSpPr>
        <p:spPr>
          <a:xfrm>
            <a:off x="6023092" y="2592012"/>
            <a:ext cx="6503030" cy="3000821"/>
          </a:xfrm>
          <a:prstGeom prst="rect">
            <a:avLst/>
          </a:prstGeom>
          <a:noFill/>
        </p:spPr>
        <p:txBody>
          <a:bodyPr wrap="square" rtlCol="0">
            <a:spAutoFit/>
          </a:bodyPr>
          <a:lstStyle/>
          <a:p>
            <a:pPr indent="363541"/>
            <a:r>
              <a:rPr lang="ru-RU" sz="2100" dirty="0">
                <a:solidFill>
                  <a:srgbClr val="000000"/>
                </a:solidFill>
                <a:latin typeface="Bookman Old Style" panose="02050604050505020204" pitchFamily="18" charset="0"/>
              </a:rPr>
              <a:t>Если мы преимущественно заинтересованы в </a:t>
            </a:r>
            <a:r>
              <a:rPr lang="ru-RU" sz="2100" i="1" dirty="0">
                <a:solidFill>
                  <a:srgbClr val="0070C0"/>
                </a:solidFill>
                <a:latin typeface="Bookman Old Style" panose="02050604050505020204" pitchFamily="18" charset="0"/>
              </a:rPr>
              <a:t>статистических выводах</a:t>
            </a:r>
            <a:r>
              <a:rPr lang="ru-RU" sz="2100" dirty="0">
                <a:solidFill>
                  <a:srgbClr val="000000"/>
                </a:solidFill>
                <a:latin typeface="Bookman Old Style" panose="02050604050505020204" pitchFamily="18" charset="0"/>
              </a:rPr>
              <a:t>, то </a:t>
            </a:r>
            <a:r>
              <a:rPr lang="ru-RU" sz="2100" i="1" dirty="0">
                <a:solidFill>
                  <a:srgbClr val="0070C0"/>
                </a:solidFill>
                <a:latin typeface="Bookman Old Style" panose="02050604050505020204" pitchFamily="18" charset="0"/>
              </a:rPr>
              <a:t>ограниченные линейные модели </a:t>
            </a:r>
            <a:r>
              <a:rPr lang="ru-RU" sz="2100" dirty="0">
                <a:solidFill>
                  <a:srgbClr val="000000"/>
                </a:solidFill>
                <a:latin typeface="Bookman Old Style" panose="02050604050505020204" pitchFamily="18" charset="0"/>
              </a:rPr>
              <a:t>являются гораздо более интерпретируемыми. </a:t>
            </a:r>
          </a:p>
          <a:p>
            <a:pPr indent="363541"/>
            <a:r>
              <a:rPr lang="ru-RU" sz="2100" dirty="0">
                <a:solidFill>
                  <a:srgbClr val="000000"/>
                </a:solidFill>
                <a:latin typeface="Bookman Old Style" panose="02050604050505020204" pitchFamily="18" charset="0"/>
              </a:rPr>
              <a:t>Очень гибкие методы, такие как сплайны, а также методы </a:t>
            </a:r>
            <a:r>
              <a:rPr lang="ru-RU" sz="2100" dirty="0" err="1">
                <a:solidFill>
                  <a:srgbClr val="000000"/>
                </a:solidFill>
                <a:latin typeface="Bookman Old Style" panose="02050604050505020204" pitchFamily="18" charset="0"/>
              </a:rPr>
              <a:t>бустинга</a:t>
            </a:r>
            <a:r>
              <a:rPr lang="ru-RU" sz="2100" dirty="0">
                <a:solidFill>
                  <a:srgbClr val="000000"/>
                </a:solidFill>
                <a:latin typeface="Bookman Old Style" panose="02050604050505020204" pitchFamily="18" charset="0"/>
              </a:rPr>
              <a:t> могут приводить к настолько сложным оценкам </a:t>
            </a:r>
            <a:r>
              <a:rPr lang="en-US" sz="2100" b="1"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что будет трудно понять, как любой отдельно взятый предиктор связан с откликом.</a:t>
            </a:r>
          </a:p>
        </p:txBody>
      </p:sp>
      <p:pic>
        <p:nvPicPr>
          <p:cNvPr id="3" name="Рисунок 2"/>
          <p:cNvPicPr>
            <a:picLocks noChangeAspect="1"/>
          </p:cNvPicPr>
          <p:nvPr/>
        </p:nvPicPr>
        <p:blipFill>
          <a:blip r:embed="rId2"/>
          <a:stretch>
            <a:fillRect/>
          </a:stretch>
        </p:blipFill>
        <p:spPr>
          <a:xfrm>
            <a:off x="833199" y="2568310"/>
            <a:ext cx="5046567" cy="3283309"/>
          </a:xfrm>
          <a:prstGeom prst="rect">
            <a:avLst/>
          </a:prstGeom>
        </p:spPr>
      </p:pic>
      <p:sp>
        <p:nvSpPr>
          <p:cNvPr id="5" name="Прямоугольник 4"/>
          <p:cNvSpPr/>
          <p:nvPr/>
        </p:nvSpPr>
        <p:spPr>
          <a:xfrm>
            <a:off x="1109759" y="1769930"/>
            <a:ext cx="10448731" cy="830997"/>
          </a:xfrm>
          <a:prstGeom prst="rect">
            <a:avLst/>
          </a:prstGeom>
        </p:spPr>
        <p:txBody>
          <a:bodyPr wrap="square">
            <a:spAutoFit/>
          </a:bodyPr>
          <a:lstStyle/>
          <a:p>
            <a:r>
              <a:rPr lang="ru-RU" sz="2400" dirty="0">
                <a:solidFill>
                  <a:srgbClr val="000000"/>
                </a:solidFill>
                <a:latin typeface="Bookman Old Style" panose="02050604050505020204" pitchFamily="18" charset="0"/>
              </a:rPr>
              <a:t>Зачем нам вообще выбирать более ограниченный метод вместо очень гибкого метода? </a:t>
            </a:r>
            <a:endParaRPr lang="ru-RU" sz="2400" dirty="0"/>
          </a:p>
        </p:txBody>
      </p:sp>
      <p:sp>
        <p:nvSpPr>
          <p:cNvPr id="7" name="Прямоугольник 6"/>
          <p:cNvSpPr/>
          <p:nvPr/>
        </p:nvSpPr>
        <p:spPr>
          <a:xfrm>
            <a:off x="1117866" y="5753992"/>
            <a:ext cx="7375135" cy="740716"/>
          </a:xfrm>
          <a:prstGeom prst="rect">
            <a:avLst/>
          </a:prstGeom>
        </p:spPr>
        <p:txBody>
          <a:bodyPr wrap="square">
            <a:spAutoFit/>
          </a:bodyPr>
          <a:lstStyle/>
          <a:p>
            <a:pPr>
              <a:lnSpc>
                <a:spcPts val="1600"/>
              </a:lnSpc>
            </a:pPr>
            <a:r>
              <a:rPr lang="ru-RU" sz="2400" baseline="-25000" dirty="0">
                <a:solidFill>
                  <a:srgbClr val="000000"/>
                </a:solidFill>
                <a:latin typeface="Times New Roman" panose="02020603050405020304" pitchFamily="18" charset="0"/>
              </a:rPr>
              <a:t>Рис. 6. К</a:t>
            </a:r>
            <a:r>
              <a:rPr lang="ru-RU" sz="2800" i="1" baseline="-25000" dirty="0">
                <a:solidFill>
                  <a:srgbClr val="000000"/>
                </a:solidFill>
                <a:latin typeface="Times New Roman" panose="02020603050405020304" pitchFamily="18" charset="0"/>
              </a:rPr>
              <a:t>омпромисс между гибкостью и интерпретируемостью разных методов статистического обучения. </a:t>
            </a:r>
            <a:r>
              <a:rPr lang="ru-RU" sz="2800" b="1" i="1" baseline="-25000" dirty="0">
                <a:solidFill>
                  <a:srgbClr val="0070C0"/>
                </a:solidFill>
                <a:latin typeface="Times New Roman" panose="02020603050405020304" pitchFamily="18" charset="0"/>
              </a:rPr>
              <a:t>В целом при возрастании гибкости метода его интерпретируемость снижается</a:t>
            </a:r>
            <a:endParaRPr lang="ru-RU" sz="4000" dirty="0">
              <a:solidFill>
                <a:srgbClr val="0070C0"/>
              </a:solidFill>
              <a:latin typeface="Times New Roman" panose="02020603050405020304" pitchFamily="18" charset="0"/>
            </a:endParaRPr>
          </a:p>
        </p:txBody>
      </p:sp>
      <p:sp>
        <p:nvSpPr>
          <p:cNvPr id="11" name="Text Box 5">
            <a:extLst>
              <a:ext uri="{FF2B5EF4-FFF2-40B4-BE49-F238E27FC236}">
                <a16:creationId xmlns:a16="http://schemas.microsoft.com/office/drawing/2014/main" id="{EC4AACFA-653A-4421-AC5C-B88A829C8A88}"/>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2" name="Номер слайда 3">
            <a:extLst>
              <a:ext uri="{FF2B5EF4-FFF2-40B4-BE49-F238E27FC236}">
                <a16:creationId xmlns:a16="http://schemas.microsoft.com/office/drawing/2014/main" id="{7AE76AFE-90B2-4500-A8D0-33896056D1F7}"/>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57</a:t>
            </a:fld>
            <a:endParaRPr lang="ru-RU" dirty="0">
              <a:solidFill>
                <a:schemeClr val="tx1"/>
              </a:solidFill>
            </a:endParaRPr>
          </a:p>
        </p:txBody>
      </p:sp>
    </p:spTree>
    <p:extLst>
      <p:ext uri="{BB962C8B-B14F-4D97-AF65-F5344CB8AC3E}">
        <p14:creationId xmlns:p14="http://schemas.microsoft.com/office/powerpoint/2010/main" val="1062902227"/>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573137" y="338857"/>
            <a:ext cx="11881668" cy="6104608"/>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2" y="1140037"/>
            <a:ext cx="7989749"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Компромисс между точностью предсказаний и интерпретируемостью модели  </a:t>
            </a:r>
          </a:p>
        </p:txBody>
      </p:sp>
      <p:sp>
        <p:nvSpPr>
          <p:cNvPr id="10" name="TextBox 9"/>
          <p:cNvSpPr txBox="1"/>
          <p:nvPr/>
        </p:nvSpPr>
        <p:spPr>
          <a:xfrm>
            <a:off x="861517" y="2073243"/>
            <a:ext cx="11593288" cy="4293483"/>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100" dirty="0"/>
              <a:t>Мы выяснили, что в случаях, когда целью анализа является </a:t>
            </a:r>
            <a:r>
              <a:rPr lang="ru-RU" sz="2100" b="1" i="1" dirty="0">
                <a:solidFill>
                  <a:srgbClr val="0070C0"/>
                </a:solidFill>
              </a:rPr>
              <a:t>статистический вывод</a:t>
            </a:r>
            <a:r>
              <a:rPr lang="ru-RU" sz="2100" dirty="0"/>
              <a:t>, есть явные преимущества в использовании простых и </a:t>
            </a:r>
            <a:r>
              <a:rPr lang="ru-RU" sz="2100" dirty="0">
                <a:solidFill>
                  <a:srgbClr val="0070C0"/>
                </a:solidFill>
              </a:rPr>
              <a:t>относительно негибких методов </a:t>
            </a:r>
            <a:r>
              <a:rPr lang="ru-RU" sz="2100" dirty="0"/>
              <a:t>статистического обучения. </a:t>
            </a:r>
          </a:p>
          <a:p>
            <a:pPr indent="449267"/>
            <a:endParaRPr lang="ru-RU" sz="2100" dirty="0"/>
          </a:p>
          <a:p>
            <a:pPr indent="449267"/>
            <a:r>
              <a:rPr lang="ru-RU" sz="2100" dirty="0"/>
              <a:t>В ситуациях, когда мы заинтересованы только в </a:t>
            </a:r>
            <a:r>
              <a:rPr lang="ru-RU" sz="2100" b="1" i="1" dirty="0">
                <a:solidFill>
                  <a:srgbClr val="0070C0"/>
                </a:solidFill>
              </a:rPr>
              <a:t>предсказании</a:t>
            </a:r>
            <a:r>
              <a:rPr lang="ru-RU" sz="2100" dirty="0"/>
              <a:t>, а интерпретируемость предсказательной модели нам просто неинтересна, лучше всего будет использовать </a:t>
            </a:r>
            <a:r>
              <a:rPr lang="ru-RU" sz="2100" dirty="0">
                <a:solidFill>
                  <a:srgbClr val="0070C0"/>
                </a:solidFill>
              </a:rPr>
              <a:t>наиболее гибкую </a:t>
            </a:r>
            <a:r>
              <a:rPr lang="ru-RU" sz="2100" dirty="0"/>
              <a:t>из имеющихся моделей. </a:t>
            </a:r>
          </a:p>
          <a:p>
            <a:pPr indent="449267"/>
            <a:r>
              <a:rPr lang="ru-RU" sz="2100" dirty="0"/>
              <a:t>Например, если единственным нашим требованием к алгоритму будет точность прогноза — интерпретируемость значения не имеет. </a:t>
            </a:r>
          </a:p>
          <a:p>
            <a:pPr indent="449267"/>
            <a:r>
              <a:rPr lang="ru-RU" sz="2100" dirty="0"/>
              <a:t>Удивительно, но это не всегда так! Часто мы будем получать более точные предсказания с помощью менее гибкого метода. Это явление, которое на первый взгляд может показаться нелогичным, объясняется склонностью более гибких методов к </a:t>
            </a:r>
            <a:r>
              <a:rPr lang="ru-RU" sz="2100" b="1" i="1" dirty="0">
                <a:solidFill>
                  <a:srgbClr val="0070C0"/>
                </a:solidFill>
              </a:rPr>
              <a:t>переобучению</a:t>
            </a:r>
            <a:r>
              <a:rPr lang="ru-RU" sz="2100" dirty="0"/>
              <a:t>. </a:t>
            </a:r>
          </a:p>
        </p:txBody>
      </p:sp>
      <p:sp>
        <p:nvSpPr>
          <p:cNvPr id="8" name="Text Box 5">
            <a:extLst>
              <a:ext uri="{FF2B5EF4-FFF2-40B4-BE49-F238E27FC236}">
                <a16:creationId xmlns:a16="http://schemas.microsoft.com/office/drawing/2014/main" id="{7C097FDE-229C-4CA0-9734-A6426CA7156A}"/>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9" name="Скругленный прямоугольник 5">
            <a:extLst>
              <a:ext uri="{FF2B5EF4-FFF2-40B4-BE49-F238E27FC236}">
                <a16:creationId xmlns:a16="http://schemas.microsoft.com/office/drawing/2014/main" id="{4A7864E4-E895-47D9-B665-9147571C7B50}"/>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Методы </a:t>
            </a:r>
            <a:r>
              <a:rPr lang="en-US" sz="2800" b="1" dirty="0"/>
              <a:t>Data Mining</a:t>
            </a:r>
            <a:endParaRPr lang="ru-RU" sz="2800" b="1" dirty="0"/>
          </a:p>
        </p:txBody>
      </p:sp>
      <p:sp>
        <p:nvSpPr>
          <p:cNvPr id="11" name="Номер слайда 3">
            <a:extLst>
              <a:ext uri="{FF2B5EF4-FFF2-40B4-BE49-F238E27FC236}">
                <a16:creationId xmlns:a16="http://schemas.microsoft.com/office/drawing/2014/main" id="{F6D56A90-07E6-49D7-8F9F-EFA96DFDB5F8}"/>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58</a:t>
            </a:fld>
            <a:endParaRPr lang="ru-RU" dirty="0">
              <a:solidFill>
                <a:schemeClr val="tx1"/>
              </a:solidFill>
            </a:endParaRPr>
          </a:p>
        </p:txBody>
      </p:sp>
    </p:spTree>
    <p:extLst>
      <p:ext uri="{BB962C8B-B14F-4D97-AF65-F5344CB8AC3E}">
        <p14:creationId xmlns:p14="http://schemas.microsoft.com/office/powerpoint/2010/main" val="3228901376"/>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219985"/>
            <a:ext cx="10872514"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440722" y="1140037"/>
            <a:ext cx="7989749"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Компромисс между точностью предсказаний и интерпретируемостью модели  </a:t>
            </a:r>
          </a:p>
        </p:txBody>
      </p:sp>
      <p:sp>
        <p:nvSpPr>
          <p:cNvPr id="10" name="TextBox 9"/>
          <p:cNvSpPr txBox="1"/>
          <p:nvPr/>
        </p:nvSpPr>
        <p:spPr>
          <a:xfrm>
            <a:off x="1149550" y="2090797"/>
            <a:ext cx="11161240" cy="3477875"/>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200" dirty="0"/>
              <a:t>Зачем описывать столько разных методов статистического обучения вместо одного, самого лучшего метода? В статистике бесплатный сыр бывает только в мышеловке: </a:t>
            </a:r>
            <a:r>
              <a:rPr lang="ru-RU" sz="2200" b="1" i="1" dirty="0">
                <a:solidFill>
                  <a:srgbClr val="0070C0"/>
                </a:solidFill>
              </a:rPr>
              <a:t>ни один из методов не доминирует над другими для всех возможных наборов данных</a:t>
            </a:r>
            <a:r>
              <a:rPr lang="ru-RU" sz="2200" dirty="0"/>
              <a:t>. </a:t>
            </a:r>
          </a:p>
          <a:p>
            <a:pPr indent="449267"/>
            <a:r>
              <a:rPr lang="ru-RU" sz="2200" dirty="0"/>
              <a:t>На некотором конкретном наборе данных тот или иной метод может оказаться оптимальным, тогда как другие методы могут сработать лучше на похожих или отличающихся данных. Поэтому выбор метода, который дает наилучшие результаты для имеющегося набора данных, представляет собой важную задачу. Выбор такого метода может оказаться одним из самых трудных аспектов применения статистического обучения на практике.</a:t>
            </a:r>
          </a:p>
        </p:txBody>
      </p:sp>
      <p:sp>
        <p:nvSpPr>
          <p:cNvPr id="3" name="Номер слайда 2">
            <a:extLst>
              <a:ext uri="{FF2B5EF4-FFF2-40B4-BE49-F238E27FC236}">
                <a16:creationId xmlns:a16="http://schemas.microsoft.com/office/drawing/2014/main" id="{779E4028-A4D0-4ACF-909E-82FF81113C6E}"/>
              </a:ext>
            </a:extLst>
          </p:cNvPr>
          <p:cNvSpPr>
            <a:spLocks noGrp="1"/>
          </p:cNvSpPr>
          <p:nvPr>
            <p:ph type="sldNum" sz="quarter" idx="12"/>
          </p:nvPr>
        </p:nvSpPr>
        <p:spPr>
          <a:xfrm>
            <a:off x="11229975" y="6731496"/>
            <a:ext cx="804864" cy="252930"/>
          </a:xfrm>
        </p:spPr>
        <p:txBody>
          <a:bodyPr/>
          <a:lstStyle/>
          <a:p>
            <a:fld id="{952B6C0E-C4B9-4094-8E59-5B7DF00D5415}" type="slidenum">
              <a:rPr lang="ru-RU" smtClean="0">
                <a:solidFill>
                  <a:schemeClr val="tx1"/>
                </a:solidFill>
              </a:rPr>
              <a:t>59</a:t>
            </a:fld>
            <a:endParaRPr lang="ru-RU" dirty="0">
              <a:solidFill>
                <a:schemeClr val="tx1"/>
              </a:solidFill>
            </a:endParaRPr>
          </a:p>
        </p:txBody>
      </p:sp>
      <p:sp>
        <p:nvSpPr>
          <p:cNvPr id="8" name="Text Box 5">
            <a:extLst>
              <a:ext uri="{FF2B5EF4-FFF2-40B4-BE49-F238E27FC236}">
                <a16:creationId xmlns:a16="http://schemas.microsoft.com/office/drawing/2014/main" id="{8B6856E7-8EEC-433F-BE2C-5DC39B1ED01D}"/>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9" name="Скругленный прямоугольник 5">
            <a:extLst>
              <a:ext uri="{FF2B5EF4-FFF2-40B4-BE49-F238E27FC236}">
                <a16:creationId xmlns:a16="http://schemas.microsoft.com/office/drawing/2014/main" id="{66506987-7BD8-4408-8EB7-232D4AD2CAC7}"/>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Методы </a:t>
            </a:r>
            <a:r>
              <a:rPr lang="en-US" sz="2800" b="1" dirty="0"/>
              <a:t>Data Mining</a:t>
            </a:r>
            <a:endParaRPr lang="ru-RU" sz="2800" b="1" dirty="0"/>
          </a:p>
        </p:txBody>
      </p:sp>
    </p:spTree>
    <p:extLst>
      <p:ext uri="{BB962C8B-B14F-4D97-AF65-F5344CB8AC3E}">
        <p14:creationId xmlns:p14="http://schemas.microsoft.com/office/powerpoint/2010/main" val="3301382250"/>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219985"/>
            <a:ext cx="11088538"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Виды обучения</a:t>
            </a:r>
          </a:p>
        </p:txBody>
      </p:sp>
      <p:sp>
        <p:nvSpPr>
          <p:cNvPr id="2" name="Прямоугольник 1"/>
          <p:cNvSpPr/>
          <p:nvPr/>
        </p:nvSpPr>
        <p:spPr>
          <a:xfrm>
            <a:off x="1005533" y="1095758"/>
            <a:ext cx="7809994"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Обучение с учителем и без учителя</a:t>
            </a:r>
          </a:p>
        </p:txBody>
      </p:sp>
      <p:sp>
        <p:nvSpPr>
          <p:cNvPr id="10" name="TextBox 9"/>
          <p:cNvSpPr txBox="1"/>
          <p:nvPr/>
        </p:nvSpPr>
        <p:spPr>
          <a:xfrm>
            <a:off x="717501" y="1661607"/>
            <a:ext cx="11448578" cy="4493538"/>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200" dirty="0"/>
              <a:t>Большинство проблем статистического обучения попадает в одну из двух категорий: </a:t>
            </a:r>
            <a:r>
              <a:rPr lang="ru-RU" sz="2200" b="1" i="1" dirty="0">
                <a:solidFill>
                  <a:srgbClr val="0070C0"/>
                </a:solidFill>
              </a:rPr>
              <a:t>обучение с учителем и без учителя</a:t>
            </a:r>
            <a:r>
              <a:rPr lang="ru-RU" sz="2200" dirty="0"/>
              <a:t>. </a:t>
            </a:r>
          </a:p>
          <a:p>
            <a:pPr indent="449267"/>
            <a:r>
              <a:rPr lang="ru-RU" sz="2200" dirty="0"/>
              <a:t>Рассмотрим формально обучение </a:t>
            </a:r>
            <a:r>
              <a:rPr lang="ru-RU" sz="2200" b="1" dirty="0">
                <a:solidFill>
                  <a:srgbClr val="0070C0"/>
                </a:solidFill>
              </a:rPr>
              <a:t>с учителем</a:t>
            </a:r>
            <a:r>
              <a:rPr lang="ru-RU" sz="2200" dirty="0"/>
              <a:t>. </a:t>
            </a:r>
          </a:p>
          <a:p>
            <a:pPr indent="449267"/>
            <a:r>
              <a:rPr lang="ru-RU" sz="2200" dirty="0"/>
              <a:t>Для каждого измеренного значения предиктора </a:t>
            </a:r>
            <a:r>
              <a:rPr lang="ru-RU" sz="2200" i="1" dirty="0"/>
              <a:t>х</a:t>
            </a:r>
            <a:r>
              <a:rPr lang="en-US" sz="2200" i="1" baseline="-25000" dirty="0" err="1"/>
              <a:t>i</a:t>
            </a:r>
            <a:r>
              <a:rPr lang="ru-RU" sz="2200" dirty="0"/>
              <a:t>, где </a:t>
            </a:r>
            <a:r>
              <a:rPr lang="en-US" sz="2200" i="1" dirty="0" err="1"/>
              <a:t>i</a:t>
            </a:r>
            <a:r>
              <a:rPr lang="en-US" sz="2200" i="1" dirty="0"/>
              <a:t> </a:t>
            </a:r>
            <a:r>
              <a:rPr lang="ru-RU" sz="2200" i="1" dirty="0"/>
              <a:t>= 1,..., </a:t>
            </a:r>
            <a:r>
              <a:rPr lang="en-US" sz="2200" i="1" dirty="0"/>
              <a:t>n</a:t>
            </a:r>
            <a:r>
              <a:rPr lang="ru-RU" sz="2200" i="1" dirty="0"/>
              <a:t>, </a:t>
            </a:r>
            <a:r>
              <a:rPr lang="ru-RU" sz="2200" dirty="0"/>
              <a:t>имеется соответствующее значение отклика </a:t>
            </a:r>
            <a:r>
              <a:rPr lang="ru-RU" sz="2200" i="1" dirty="0"/>
              <a:t>у</a:t>
            </a:r>
            <a:r>
              <a:rPr lang="en-US" sz="2200" i="1" baseline="-25000" dirty="0" err="1"/>
              <a:t>i</a:t>
            </a:r>
            <a:r>
              <a:rPr lang="ru-RU" sz="2200" i="1" dirty="0"/>
              <a:t>. </a:t>
            </a:r>
            <a:r>
              <a:rPr lang="ru-RU" sz="2200" dirty="0"/>
              <a:t>Мы желаем построить модель, которая описывает связь между откликом и предикторами с целью точного предсказания отклика для будущих наблюдений (прогнозирование) или для лучшего понимания взаимоотношений между откликом и предикторами (статистические выводы). Многие классические методы статистического обучения, такие как линейная регрессия и логистическая регрессия, а также более современные подходы, вроде </a:t>
            </a:r>
            <a:r>
              <a:rPr lang="en-US" sz="2200" dirty="0"/>
              <a:t>GAM (</a:t>
            </a:r>
            <a:r>
              <a:rPr lang="ru-RU" sz="2200" dirty="0"/>
              <a:t>Обобщенные аддитивные модели</a:t>
            </a:r>
            <a:r>
              <a:rPr lang="en-US" sz="2200" dirty="0"/>
              <a:t>), </a:t>
            </a:r>
            <a:r>
              <a:rPr lang="ru-RU" sz="2200" dirty="0" err="1"/>
              <a:t>бустинга</a:t>
            </a:r>
            <a:r>
              <a:rPr lang="ru-RU" sz="2200" dirty="0"/>
              <a:t> и метода опорных векторов, относятся к категории </a:t>
            </a:r>
            <a:r>
              <a:rPr lang="ru-RU" sz="2200" b="1" dirty="0">
                <a:solidFill>
                  <a:srgbClr val="0070C0"/>
                </a:solidFill>
              </a:rPr>
              <a:t>обучения с учителем</a:t>
            </a:r>
            <a:r>
              <a:rPr lang="ru-RU" sz="2200" dirty="0"/>
              <a:t>. </a:t>
            </a:r>
            <a:endParaRPr lang="en-US" sz="2200" dirty="0"/>
          </a:p>
        </p:txBody>
      </p:sp>
      <p:sp>
        <p:nvSpPr>
          <p:cNvPr id="3" name="Номер слайда 2">
            <a:extLst>
              <a:ext uri="{FF2B5EF4-FFF2-40B4-BE49-F238E27FC236}">
                <a16:creationId xmlns:a16="http://schemas.microsoft.com/office/drawing/2014/main" id="{AAB6D3C2-05C8-403C-B902-A07078FFC5BD}"/>
              </a:ext>
            </a:extLst>
          </p:cNvPr>
          <p:cNvSpPr>
            <a:spLocks noGrp="1"/>
          </p:cNvSpPr>
          <p:nvPr>
            <p:ph type="sldNum" sz="quarter" idx="12"/>
          </p:nvPr>
        </p:nvSpPr>
        <p:spPr/>
        <p:txBody>
          <a:bodyPr/>
          <a:lstStyle/>
          <a:p>
            <a:fld id="{952B6C0E-C4B9-4094-8E59-5B7DF00D5415}" type="slidenum">
              <a:rPr lang="ru-RU" smtClean="0">
                <a:solidFill>
                  <a:schemeClr val="tx1"/>
                </a:solidFill>
              </a:rPr>
              <a:t>60</a:t>
            </a:fld>
            <a:endParaRPr lang="ru-RU" dirty="0">
              <a:solidFill>
                <a:schemeClr val="tx1"/>
              </a:solidFill>
            </a:endParaRPr>
          </a:p>
        </p:txBody>
      </p:sp>
      <p:sp>
        <p:nvSpPr>
          <p:cNvPr id="8" name="Text Box 5">
            <a:extLst>
              <a:ext uri="{FF2B5EF4-FFF2-40B4-BE49-F238E27FC236}">
                <a16:creationId xmlns:a16="http://schemas.microsoft.com/office/drawing/2014/main" id="{16515932-3A0F-48C4-84E5-69B1BB9C2619}"/>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014243577"/>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219985"/>
            <a:ext cx="11677378"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620475" y="1140037"/>
            <a:ext cx="7809994"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Обучение с учителем и без учителя</a:t>
            </a:r>
          </a:p>
        </p:txBody>
      </p:sp>
      <p:sp>
        <p:nvSpPr>
          <p:cNvPr id="10" name="TextBox 9"/>
          <p:cNvSpPr txBox="1"/>
          <p:nvPr/>
        </p:nvSpPr>
        <p:spPr>
          <a:xfrm>
            <a:off x="861517" y="1726284"/>
            <a:ext cx="11173322" cy="4154984"/>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200" b="1" dirty="0">
                <a:solidFill>
                  <a:srgbClr val="0070C0"/>
                </a:solidFill>
              </a:rPr>
              <a:t>Обучение без учителя</a:t>
            </a:r>
            <a:r>
              <a:rPr lang="en-US" sz="2200" b="1" dirty="0"/>
              <a:t> </a:t>
            </a:r>
            <a:r>
              <a:rPr lang="ru-RU" sz="2200" dirty="0"/>
              <a:t>описывает несколько более сложную ситуацию, в которой для каждого наблюдения </a:t>
            </a:r>
            <a:r>
              <a:rPr lang="en-US" sz="2200" i="1" dirty="0" err="1"/>
              <a:t>i</a:t>
            </a:r>
            <a:r>
              <a:rPr lang="en-US" sz="2200" i="1" dirty="0"/>
              <a:t> </a:t>
            </a:r>
            <a:r>
              <a:rPr lang="ru-RU" sz="2200" i="1" dirty="0"/>
              <a:t>= 1,..., </a:t>
            </a:r>
            <a:r>
              <a:rPr lang="en-US" sz="2200" i="1" dirty="0"/>
              <a:t>n</a:t>
            </a:r>
            <a:r>
              <a:rPr lang="ru-RU" sz="2200" i="1" dirty="0"/>
              <a:t>, </a:t>
            </a:r>
            <a:r>
              <a:rPr lang="ru-RU" sz="2200" dirty="0"/>
              <a:t>имеется мы</a:t>
            </a:r>
            <a:r>
              <a:rPr lang="en-US" sz="2200" dirty="0"/>
              <a:t> </a:t>
            </a:r>
            <a:r>
              <a:rPr lang="ru-RU" sz="2200" dirty="0"/>
              <a:t>имеем вектор измерений </a:t>
            </a:r>
            <a:r>
              <a:rPr lang="ru-RU" sz="2200" i="1" dirty="0"/>
              <a:t>х</a:t>
            </a:r>
            <a:r>
              <a:rPr lang="en-US" sz="2200" i="1" baseline="-25000" dirty="0" err="1"/>
              <a:t>i</a:t>
            </a:r>
            <a:r>
              <a:rPr lang="ru-RU" sz="2200" dirty="0"/>
              <a:t>, но без соответствующего отклика </a:t>
            </a:r>
            <a:r>
              <a:rPr lang="ru-RU" sz="2200" i="1" dirty="0"/>
              <a:t>у</a:t>
            </a:r>
            <a:r>
              <a:rPr lang="en-US" sz="2200" i="1" baseline="-25000" dirty="0" err="1"/>
              <a:t>i</a:t>
            </a:r>
            <a:r>
              <a:rPr lang="ru-RU" sz="2200" dirty="0"/>
              <a:t>. Подогнать линейную регрессионную модель невозможно, поскольку подлежащая предсказанию зависимая переменная отсутствует. </a:t>
            </a:r>
            <a:endParaRPr lang="en-US" sz="2200" dirty="0"/>
          </a:p>
          <a:p>
            <a:pPr indent="449267"/>
            <a:r>
              <a:rPr lang="ru-RU" sz="2200" dirty="0"/>
              <a:t>При таком сценарии мы </a:t>
            </a:r>
            <a:r>
              <a:rPr lang="ru-RU" sz="2200" b="1" dirty="0"/>
              <a:t>в некотором смысле работаем вслепую</a:t>
            </a:r>
            <a:r>
              <a:rPr lang="ru-RU" sz="2200" dirty="0"/>
              <a:t>: подобную ситуацию называют </a:t>
            </a:r>
            <a:r>
              <a:rPr lang="ru-RU" sz="2200" b="1" dirty="0">
                <a:solidFill>
                  <a:srgbClr val="0070C0"/>
                </a:solidFill>
              </a:rPr>
              <a:t>обучением без учителя</a:t>
            </a:r>
            <a:r>
              <a:rPr lang="ru-RU" sz="2200" dirty="0"/>
              <a:t>, поскольку у нас нет зависимой переменной, которая «руководила» бы нашим анализом. </a:t>
            </a:r>
            <a:endParaRPr lang="en-US" sz="2200" dirty="0"/>
          </a:p>
          <a:p>
            <a:pPr indent="449267"/>
            <a:r>
              <a:rPr lang="ru-RU" sz="2200" dirty="0"/>
              <a:t>Какой статистический анализ все же возможен? Мы можем попытаться понять взаимоотношения между переменными или между наблюдениями. Один из статистических инструментов, который мы можем использовать в такой ситуации, — это кластерный анализ, или кластеризация. </a:t>
            </a:r>
            <a:endParaRPr lang="en-US" sz="2200" dirty="0"/>
          </a:p>
        </p:txBody>
      </p:sp>
      <p:sp>
        <p:nvSpPr>
          <p:cNvPr id="3" name="Номер слайда 2">
            <a:extLst>
              <a:ext uri="{FF2B5EF4-FFF2-40B4-BE49-F238E27FC236}">
                <a16:creationId xmlns:a16="http://schemas.microsoft.com/office/drawing/2014/main" id="{FC86DB3F-625A-4644-B098-92307EBDA198}"/>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61</a:t>
            </a:fld>
            <a:endParaRPr lang="ru-RU" dirty="0">
              <a:solidFill>
                <a:schemeClr val="tx1"/>
              </a:solidFill>
            </a:endParaRPr>
          </a:p>
        </p:txBody>
      </p:sp>
      <p:sp>
        <p:nvSpPr>
          <p:cNvPr id="8" name="Text Box 5">
            <a:extLst>
              <a:ext uri="{FF2B5EF4-FFF2-40B4-BE49-F238E27FC236}">
                <a16:creationId xmlns:a16="http://schemas.microsoft.com/office/drawing/2014/main" id="{1767697B-B037-48D8-9C7F-4557AC581546}"/>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9" name="Скругленный прямоугольник 5">
            <a:extLst>
              <a:ext uri="{FF2B5EF4-FFF2-40B4-BE49-F238E27FC236}">
                <a16:creationId xmlns:a16="http://schemas.microsoft.com/office/drawing/2014/main" id="{3DEF5BC2-82CD-4F57-ABE9-526634D2457C}"/>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Виды обучения</a:t>
            </a:r>
          </a:p>
        </p:txBody>
      </p:sp>
    </p:spTree>
    <p:extLst>
      <p:ext uri="{BB962C8B-B14F-4D97-AF65-F5344CB8AC3E}">
        <p14:creationId xmlns:p14="http://schemas.microsoft.com/office/powerpoint/2010/main" val="20238773"/>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38275" y="219985"/>
            <a:ext cx="10872514"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077541" y="1140037"/>
            <a:ext cx="6552728" cy="6949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Обучение с учителем и без учителя</a:t>
            </a:r>
          </a:p>
        </p:txBody>
      </p:sp>
      <p:sp>
        <p:nvSpPr>
          <p:cNvPr id="10" name="TextBox 9"/>
          <p:cNvSpPr txBox="1"/>
          <p:nvPr/>
        </p:nvSpPr>
        <p:spPr>
          <a:xfrm>
            <a:off x="543184" y="1721903"/>
            <a:ext cx="6107621" cy="4493538"/>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200" dirty="0"/>
              <a:t>Цель кластерного анализа заключается в установлении того, разделяются ли наблюдения </a:t>
            </a:r>
            <a:r>
              <a:rPr lang="en-US" sz="2200" i="1" dirty="0"/>
              <a:t>x</a:t>
            </a:r>
            <a:r>
              <a:rPr lang="en-US" sz="2200" i="1" baseline="-25000" dirty="0"/>
              <a:t>1</a:t>
            </a:r>
            <a:r>
              <a:rPr lang="en-US" sz="2200" i="1" dirty="0"/>
              <a:t>, x</a:t>
            </a:r>
            <a:r>
              <a:rPr lang="en-US" sz="2200" i="1" baseline="-25000" dirty="0"/>
              <a:t>2</a:t>
            </a:r>
            <a:r>
              <a:rPr lang="en-US" sz="2200" i="1" dirty="0"/>
              <a:t>, …, </a:t>
            </a:r>
            <a:r>
              <a:rPr lang="en-US" sz="2200" i="1" dirty="0" err="1"/>
              <a:t>x</a:t>
            </a:r>
            <a:r>
              <a:rPr lang="en-US" sz="2200" i="1" baseline="-25000" dirty="0" err="1"/>
              <a:t>n</a:t>
            </a:r>
            <a:r>
              <a:rPr lang="en-US" sz="2200" i="1" baseline="-25000" dirty="0"/>
              <a:t> </a:t>
            </a:r>
            <a:r>
              <a:rPr lang="ru-RU" sz="2200" dirty="0"/>
              <a:t>на относительно четко выраженные группы. Например, в исследовании по сегментированию рынка мы могли бы учесть различные характеристики (переменные) для потенциальных клиентов, такие как почтовый индекс, семейный доход и покупательские привычки. Мы могли бы ожидать, что клиенты образуют разные группы, такие как «тратящие много» и «тратящие мало». </a:t>
            </a:r>
          </a:p>
        </p:txBody>
      </p:sp>
      <p:pic>
        <p:nvPicPr>
          <p:cNvPr id="3" name="Рисунок 2"/>
          <p:cNvPicPr>
            <a:picLocks noChangeAspect="1"/>
          </p:cNvPicPr>
          <p:nvPr/>
        </p:nvPicPr>
        <p:blipFill>
          <a:blip r:embed="rId2"/>
          <a:stretch>
            <a:fillRect/>
          </a:stretch>
        </p:blipFill>
        <p:spPr>
          <a:xfrm>
            <a:off x="6954365" y="2044899"/>
            <a:ext cx="5170701" cy="2993158"/>
          </a:xfrm>
          <a:prstGeom prst="rect">
            <a:avLst/>
          </a:prstGeom>
        </p:spPr>
      </p:pic>
      <p:sp>
        <p:nvSpPr>
          <p:cNvPr id="4" name="Прямоугольник 3"/>
          <p:cNvSpPr/>
          <p:nvPr/>
        </p:nvSpPr>
        <p:spPr>
          <a:xfrm>
            <a:off x="6838181" y="5068889"/>
            <a:ext cx="5590446" cy="1200329"/>
          </a:xfrm>
          <a:prstGeom prst="rect">
            <a:avLst/>
          </a:prstGeom>
        </p:spPr>
        <p:txBody>
          <a:bodyPr wrap="square">
            <a:spAutoFit/>
          </a:bodyPr>
          <a:lstStyle/>
          <a:p>
            <a:pPr indent="449267"/>
            <a:r>
              <a:rPr lang="ru-RU" sz="1800" dirty="0">
                <a:solidFill>
                  <a:srgbClr val="000000"/>
                </a:solidFill>
                <a:latin typeface="Bookman Old Style" panose="02050604050505020204" pitchFamily="18" charset="0"/>
              </a:rPr>
              <a:t>На рисунке представлены 150 наблюдений со значениями двух переменных — Х1 и Х2. Каждое наблюдение соответствует одной из трех отдельных групп. </a:t>
            </a:r>
          </a:p>
        </p:txBody>
      </p:sp>
      <p:sp>
        <p:nvSpPr>
          <p:cNvPr id="11" name="Text Box 5">
            <a:extLst>
              <a:ext uri="{FF2B5EF4-FFF2-40B4-BE49-F238E27FC236}">
                <a16:creationId xmlns:a16="http://schemas.microsoft.com/office/drawing/2014/main" id="{B0011198-78BF-4887-BD3E-DE0B07776159}"/>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3" name="Скругленный прямоугольник 5">
            <a:extLst>
              <a:ext uri="{FF2B5EF4-FFF2-40B4-BE49-F238E27FC236}">
                <a16:creationId xmlns:a16="http://schemas.microsoft.com/office/drawing/2014/main" id="{5474757F-6C67-427C-B509-F95B702B51E2}"/>
              </a:ext>
            </a:extLst>
          </p:cNvPr>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Виды обучения</a:t>
            </a:r>
          </a:p>
        </p:txBody>
      </p:sp>
      <p:sp>
        <p:nvSpPr>
          <p:cNvPr id="14" name="Номер слайда 3">
            <a:extLst>
              <a:ext uri="{FF2B5EF4-FFF2-40B4-BE49-F238E27FC236}">
                <a16:creationId xmlns:a16="http://schemas.microsoft.com/office/drawing/2014/main" id="{4CD429B4-3DEA-424D-B1A5-2EFD01D9D459}"/>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62</a:t>
            </a:fld>
            <a:endParaRPr lang="ru-RU" dirty="0">
              <a:solidFill>
                <a:schemeClr val="tx1"/>
              </a:solidFill>
            </a:endParaRPr>
          </a:p>
        </p:txBody>
      </p:sp>
    </p:spTree>
    <p:extLst>
      <p:ext uri="{BB962C8B-B14F-4D97-AF65-F5344CB8AC3E}">
        <p14:creationId xmlns:p14="http://schemas.microsoft.com/office/powerpoint/2010/main" val="360956794"/>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7">
            <a:extLst>
              <a:ext uri="{FF2B5EF4-FFF2-40B4-BE49-F238E27FC236}">
                <a16:creationId xmlns:a16="http://schemas.microsoft.com/office/drawing/2014/main" id="{FE369188-3F4E-4C24-8602-71031B45132B}"/>
              </a:ext>
            </a:extLst>
          </p:cNvPr>
          <p:cNvSpPr>
            <a:spLocks noChangeArrowheads="1"/>
          </p:cNvSpPr>
          <p:nvPr/>
        </p:nvSpPr>
        <p:spPr bwMode="auto">
          <a:xfrm>
            <a:off x="429469" y="162241"/>
            <a:ext cx="11809312"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5" name="Прямоугольник 4">
            <a:extLst>
              <a:ext uri="{FF2B5EF4-FFF2-40B4-BE49-F238E27FC236}">
                <a16:creationId xmlns:a16="http://schemas.microsoft.com/office/drawing/2014/main" id="{3733BE08-3C22-4961-ABAE-6D8E46AA53E3}"/>
              </a:ext>
            </a:extLst>
          </p:cNvPr>
          <p:cNvSpPr/>
          <p:nvPr/>
        </p:nvSpPr>
        <p:spPr>
          <a:xfrm>
            <a:off x="2661717" y="2694165"/>
            <a:ext cx="7704855" cy="19490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sz="4000" b="1" i="1" dirty="0">
                <a:solidFill>
                  <a:schemeClr val="accent2">
                    <a:lumMod val="50000"/>
                  </a:schemeClr>
                </a:solidFill>
              </a:rPr>
              <a:t>Наиболее общий подход к измерению качества моделей</a:t>
            </a:r>
          </a:p>
        </p:txBody>
      </p:sp>
      <p:sp>
        <p:nvSpPr>
          <p:cNvPr id="6" name="Номер слайда 3">
            <a:extLst>
              <a:ext uri="{FF2B5EF4-FFF2-40B4-BE49-F238E27FC236}">
                <a16:creationId xmlns:a16="http://schemas.microsoft.com/office/drawing/2014/main" id="{2F91F81F-85AC-49C9-BF58-322379833462}"/>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63</a:t>
            </a:fld>
            <a:endParaRPr lang="ru-RU" dirty="0">
              <a:solidFill>
                <a:schemeClr val="tx1"/>
              </a:solidFill>
            </a:endParaRPr>
          </a:p>
        </p:txBody>
      </p:sp>
    </p:spTree>
    <p:extLst>
      <p:ext uri="{BB962C8B-B14F-4D97-AF65-F5344CB8AC3E}">
        <p14:creationId xmlns:p14="http://schemas.microsoft.com/office/powerpoint/2010/main" val="390870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501477" y="219985"/>
            <a:ext cx="11809312"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077541" y="1050168"/>
            <a:ext cx="5100637"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10" name="TextBox 9"/>
          <p:cNvSpPr txBox="1"/>
          <p:nvPr/>
        </p:nvSpPr>
        <p:spPr>
          <a:xfrm>
            <a:off x="501477" y="1531659"/>
            <a:ext cx="11533362" cy="4832092"/>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449267"/>
            <a:r>
              <a:rPr lang="ru-RU" sz="2200" dirty="0"/>
              <a:t>Нам нужно количественно выразить степень того, насколько предсказанное значение отклика близко к истинному значению отклика у соответствующего наблюдения. В регрессионном анализе наиболее часто используемой для этого мерой является среднеквадратичная ошибка </a:t>
            </a:r>
            <a:r>
              <a:rPr lang="en-US" sz="2200" dirty="0"/>
              <a:t>(MSE</a:t>
            </a:r>
            <a:r>
              <a:rPr lang="ru-RU" sz="2200" dirty="0"/>
              <a:t> - </a:t>
            </a:r>
            <a:r>
              <a:rPr lang="en-US" sz="2200" dirty="0"/>
              <a:t>mean squared error), </a:t>
            </a:r>
            <a:r>
              <a:rPr lang="ru-RU" sz="2200" dirty="0"/>
              <a:t>вычисляемая как:</a:t>
            </a:r>
          </a:p>
          <a:p>
            <a:pPr indent="449267"/>
            <a:endParaRPr lang="ru-RU" sz="2200" dirty="0"/>
          </a:p>
          <a:p>
            <a:pPr indent="449267"/>
            <a:endParaRPr lang="ru-RU" sz="2200" dirty="0"/>
          </a:p>
          <a:p>
            <a:pPr indent="449267"/>
            <a:endParaRPr lang="ru-RU" sz="2200" dirty="0"/>
          </a:p>
          <a:p>
            <a:pPr indent="449267"/>
            <a:endParaRPr lang="ru-RU" sz="2200" dirty="0"/>
          </a:p>
          <a:p>
            <a:pPr indent="449267"/>
            <a:r>
              <a:rPr lang="ru-RU" sz="2200" dirty="0"/>
              <a:t>Мы подгоняем нашу статистическую модель к обучающим наблюдениям </a:t>
            </a:r>
            <a:r>
              <a:rPr lang="en-US" sz="2200" i="1" dirty="0"/>
              <a:t>{(x</a:t>
            </a:r>
            <a:r>
              <a:rPr lang="en-US" sz="2200" i="1" baseline="-25000" dirty="0"/>
              <a:t>1</a:t>
            </a:r>
            <a:r>
              <a:rPr lang="en-US" sz="2200" i="1" dirty="0"/>
              <a:t>,y</a:t>
            </a:r>
            <a:r>
              <a:rPr lang="en-US" sz="2200" i="1" baseline="-25000" dirty="0"/>
              <a:t>1</a:t>
            </a:r>
            <a:r>
              <a:rPr lang="en-US" sz="2200" i="1" dirty="0"/>
              <a:t>), </a:t>
            </a:r>
            <a:r>
              <a:rPr lang="ru-RU" sz="2200" i="1" dirty="0"/>
              <a:t>(х</a:t>
            </a:r>
            <a:r>
              <a:rPr lang="en-US" sz="2200" i="1" baseline="-25000" dirty="0"/>
              <a:t>2</a:t>
            </a:r>
            <a:r>
              <a:rPr lang="ru-RU" sz="2200" i="1" dirty="0"/>
              <a:t>,</a:t>
            </a:r>
            <a:r>
              <a:rPr lang="en-US" sz="2200" i="1" dirty="0"/>
              <a:t>y</a:t>
            </a:r>
            <a:r>
              <a:rPr lang="ru-RU" sz="2200" i="1" baseline="-25000" dirty="0"/>
              <a:t>2</a:t>
            </a:r>
            <a:r>
              <a:rPr lang="en-US" sz="2200" i="1" dirty="0"/>
              <a:t>),</a:t>
            </a:r>
            <a:r>
              <a:rPr lang="ru-RU" sz="2200" i="1" dirty="0"/>
              <a:t>(х</a:t>
            </a:r>
            <a:r>
              <a:rPr lang="en-US" sz="2200" i="1" baseline="-25000" dirty="0"/>
              <a:t>n</a:t>
            </a:r>
            <a:r>
              <a:rPr lang="ru-RU" sz="2200" i="1" dirty="0"/>
              <a:t>,</a:t>
            </a:r>
            <a:r>
              <a:rPr lang="en-US" sz="2200" i="1" dirty="0" err="1"/>
              <a:t>y</a:t>
            </a:r>
            <a:r>
              <a:rPr lang="en-US" sz="2200" i="1" baseline="-25000" dirty="0" err="1"/>
              <a:t>n</a:t>
            </a:r>
            <a:r>
              <a:rPr lang="ru-RU" sz="2200" i="1" dirty="0"/>
              <a:t>)} </a:t>
            </a:r>
            <a:r>
              <a:rPr lang="ru-RU" sz="2200" dirty="0"/>
              <a:t>и получаем оценку   . </a:t>
            </a:r>
          </a:p>
          <a:p>
            <a:pPr indent="449267"/>
            <a:r>
              <a:rPr lang="ru-RU" sz="2200" dirty="0"/>
              <a:t>Далее мы можем вычислить </a:t>
            </a:r>
            <a:r>
              <a:rPr lang="en-US" sz="2200" i="1" dirty="0"/>
              <a:t>f(x</a:t>
            </a:r>
            <a:r>
              <a:rPr lang="ru-RU" sz="2200" i="1" baseline="-25000" dirty="0"/>
              <a:t>1</a:t>
            </a:r>
            <a:r>
              <a:rPr lang="en-US" sz="2200" i="1" dirty="0"/>
              <a:t>),f(x</a:t>
            </a:r>
            <a:r>
              <a:rPr lang="en-US" sz="2200" i="1" baseline="-25000" dirty="0"/>
              <a:t>2</a:t>
            </a:r>
            <a:r>
              <a:rPr lang="en-US" sz="2200" i="1" dirty="0"/>
              <a:t>),</a:t>
            </a:r>
            <a:r>
              <a:rPr lang="ru-RU" sz="2200" i="1" dirty="0"/>
              <a:t>..., </a:t>
            </a:r>
            <a:r>
              <a:rPr lang="en-US" sz="2200" i="1" dirty="0"/>
              <a:t>f</a:t>
            </a:r>
            <a:r>
              <a:rPr lang="ru-RU" sz="2200" i="1" dirty="0"/>
              <a:t>(х</a:t>
            </a:r>
            <a:r>
              <a:rPr lang="en-US" sz="2200" i="1" baseline="-25000" dirty="0"/>
              <a:t>n</a:t>
            </a:r>
            <a:r>
              <a:rPr lang="ru-RU" sz="2200" i="1" dirty="0"/>
              <a:t>). </a:t>
            </a:r>
            <a:r>
              <a:rPr lang="ru-RU" sz="2200" dirty="0"/>
              <a:t>Если полученные значения примерно равны </a:t>
            </a:r>
            <a:r>
              <a:rPr lang="en-US" sz="2200" i="1" dirty="0"/>
              <a:t>y</a:t>
            </a:r>
            <a:r>
              <a:rPr lang="en-US" sz="2200" i="1" baseline="-25000" dirty="0"/>
              <a:t>1</a:t>
            </a:r>
            <a:r>
              <a:rPr lang="en-US" sz="2200" i="1" dirty="0"/>
              <a:t>, y</a:t>
            </a:r>
            <a:r>
              <a:rPr lang="en-US" sz="2200" i="1" baseline="-25000" dirty="0"/>
              <a:t>2</a:t>
            </a:r>
            <a:r>
              <a:rPr lang="en-US" sz="2200" i="1" dirty="0"/>
              <a:t>, …, </a:t>
            </a:r>
            <a:r>
              <a:rPr lang="en-US" sz="2200" i="1" dirty="0" err="1"/>
              <a:t>y</a:t>
            </a:r>
            <a:r>
              <a:rPr lang="en-US" sz="2200" i="1" baseline="-25000" dirty="0" err="1"/>
              <a:t>n</a:t>
            </a:r>
            <a:r>
              <a:rPr lang="en-US" sz="2200" i="1" dirty="0"/>
              <a:t>, </a:t>
            </a:r>
            <a:r>
              <a:rPr lang="ru-RU" sz="2200" dirty="0"/>
              <a:t>то </a:t>
            </a:r>
            <a:r>
              <a:rPr lang="en-US" sz="2200" dirty="0"/>
              <a:t>MSE </a:t>
            </a:r>
            <a:r>
              <a:rPr lang="ru-RU" sz="2200" dirty="0"/>
              <a:t>на обучающей выборке, рассчитанная по (5) окажется низкой. </a:t>
            </a:r>
          </a:p>
        </p:txBody>
      </p:sp>
      <p:pic>
        <p:nvPicPr>
          <p:cNvPr id="3" name="Рисунок 2"/>
          <p:cNvPicPr>
            <a:picLocks noChangeAspect="1"/>
          </p:cNvPicPr>
          <p:nvPr/>
        </p:nvPicPr>
        <p:blipFill>
          <a:blip r:embed="rId2"/>
          <a:stretch>
            <a:fillRect/>
          </a:stretch>
        </p:blipFill>
        <p:spPr>
          <a:xfrm>
            <a:off x="4747321" y="3449328"/>
            <a:ext cx="3173608" cy="1014691"/>
          </a:xfrm>
          <a:prstGeom prst="rect">
            <a:avLst/>
          </a:prstGeom>
        </p:spPr>
      </p:pic>
      <p:sp>
        <p:nvSpPr>
          <p:cNvPr id="4" name="Прямоугольник 3"/>
          <p:cNvSpPr/>
          <p:nvPr/>
        </p:nvSpPr>
        <p:spPr>
          <a:xfrm>
            <a:off x="10121349" y="3716872"/>
            <a:ext cx="497252" cy="400110"/>
          </a:xfrm>
          <a:prstGeom prst="rect">
            <a:avLst/>
          </a:prstGeom>
        </p:spPr>
        <p:txBody>
          <a:bodyPr wrap="none">
            <a:spAutoFit/>
          </a:bodyPr>
          <a:lstStyle/>
          <a:p>
            <a:pPr algn="ctr"/>
            <a:r>
              <a:rPr lang="ru-RU" dirty="0">
                <a:solidFill>
                  <a:srgbClr val="000000"/>
                </a:solidFill>
                <a:latin typeface="Bookman Old Style" panose="02050604050505020204" pitchFamily="18" charset="0"/>
              </a:rPr>
              <a:t>(5)</a:t>
            </a:r>
          </a:p>
        </p:txBody>
      </p:sp>
      <p:pic>
        <p:nvPicPr>
          <p:cNvPr id="9" name="Рисунок 8"/>
          <p:cNvPicPr>
            <a:picLocks noChangeAspect="1"/>
          </p:cNvPicPr>
          <p:nvPr/>
        </p:nvPicPr>
        <p:blipFill>
          <a:blip r:embed="rId3"/>
          <a:stretch>
            <a:fillRect/>
          </a:stretch>
        </p:blipFill>
        <p:spPr>
          <a:xfrm>
            <a:off x="6211180" y="4904590"/>
            <a:ext cx="190500" cy="352425"/>
          </a:xfrm>
          <a:prstGeom prst="rect">
            <a:avLst/>
          </a:prstGeom>
        </p:spPr>
      </p:pic>
      <p:sp>
        <p:nvSpPr>
          <p:cNvPr id="12" name="Text Box 5">
            <a:extLst>
              <a:ext uri="{FF2B5EF4-FFF2-40B4-BE49-F238E27FC236}">
                <a16:creationId xmlns:a16="http://schemas.microsoft.com/office/drawing/2014/main" id="{D324EF26-A45F-47EE-8E94-85A52F441D9E}"/>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
        <p:nvSpPr>
          <p:cNvPr id="14" name="Номер слайда 3">
            <a:extLst>
              <a:ext uri="{FF2B5EF4-FFF2-40B4-BE49-F238E27FC236}">
                <a16:creationId xmlns:a16="http://schemas.microsoft.com/office/drawing/2014/main" id="{4862EE25-FEBA-4802-963F-F476CBCE1088}"/>
              </a:ext>
            </a:extLst>
          </p:cNvPr>
          <p:cNvSpPr>
            <a:spLocks noGrp="1"/>
          </p:cNvSpPr>
          <p:nvPr>
            <p:ph type="sldNum" sz="quarter" idx="12"/>
          </p:nvPr>
        </p:nvSpPr>
        <p:spPr>
          <a:xfrm>
            <a:off x="11302677" y="6701697"/>
            <a:ext cx="804170" cy="230449"/>
          </a:xfrm>
        </p:spPr>
        <p:txBody>
          <a:bodyPr/>
          <a:lstStyle/>
          <a:p>
            <a:fld id="{952B6C0E-C4B9-4094-8E59-5B7DF00D5415}" type="slidenum">
              <a:rPr lang="ru-RU" smtClean="0">
                <a:solidFill>
                  <a:schemeClr val="tx1"/>
                </a:solidFill>
              </a:rPr>
              <a:t>64</a:t>
            </a:fld>
            <a:endParaRPr lang="ru-RU" dirty="0">
              <a:solidFill>
                <a:schemeClr val="tx1"/>
              </a:solidFill>
            </a:endParaRPr>
          </a:p>
        </p:txBody>
      </p:sp>
    </p:spTree>
    <p:extLst>
      <p:ext uri="{BB962C8B-B14F-4D97-AF65-F5344CB8AC3E}">
        <p14:creationId xmlns:p14="http://schemas.microsoft.com/office/powerpoint/2010/main" val="1555440503"/>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278915"/>
            <a:ext cx="11821394" cy="6231036"/>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005533" y="1030045"/>
            <a:ext cx="4968552"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10" name="TextBox 9"/>
          <p:cNvSpPr txBox="1"/>
          <p:nvPr/>
        </p:nvSpPr>
        <p:spPr>
          <a:xfrm>
            <a:off x="633411" y="1618929"/>
            <a:ext cx="11749386" cy="4832092"/>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r>
              <a:rPr lang="ru-RU" sz="2200" dirty="0"/>
              <a:t>Однако нам совсем нет дела то того, что </a:t>
            </a:r>
            <a:r>
              <a:rPr lang="en-US" sz="2200" dirty="0"/>
              <a:t>    </a:t>
            </a:r>
            <a:r>
              <a:rPr lang="en-US" sz="2200" b="1" i="1" dirty="0"/>
              <a:t>(x</a:t>
            </a:r>
            <a:r>
              <a:rPr lang="en-US" sz="2200" b="1" i="1" baseline="-25000" dirty="0"/>
              <a:t>i</a:t>
            </a:r>
            <a:r>
              <a:rPr lang="en-US" sz="2200" b="1" i="1" dirty="0"/>
              <a:t>)≈</a:t>
            </a:r>
            <a:r>
              <a:rPr lang="en-US" sz="2200" b="1" i="1" dirty="0" err="1"/>
              <a:t>y</a:t>
            </a:r>
            <a:r>
              <a:rPr lang="en-US" sz="2200" b="1" i="1" baseline="-25000" dirty="0" err="1"/>
              <a:t>i</a:t>
            </a:r>
            <a:r>
              <a:rPr lang="en-US" sz="2200" b="1" i="1" dirty="0"/>
              <a:t>  </a:t>
            </a:r>
            <a:r>
              <a:rPr lang="ru-RU" sz="2200" dirty="0"/>
              <a:t>вместо этого мы хотим знать, является ли величина </a:t>
            </a:r>
            <a:r>
              <a:rPr lang="en-US" sz="2200" i="1" dirty="0"/>
              <a:t>f</a:t>
            </a:r>
            <a:r>
              <a:rPr lang="ru-RU" sz="2200" i="1" dirty="0"/>
              <a:t>(х</a:t>
            </a:r>
            <a:r>
              <a:rPr lang="ru-RU" sz="2200" i="1" baseline="-25000" dirty="0"/>
              <a:t>0</a:t>
            </a:r>
            <a:r>
              <a:rPr lang="ru-RU" sz="2200" i="1" dirty="0"/>
              <a:t>) </a:t>
            </a:r>
            <a:r>
              <a:rPr lang="ru-RU" sz="2200" dirty="0"/>
              <a:t>примерно равной </a:t>
            </a:r>
            <a:r>
              <a:rPr lang="ru-RU" sz="2200" i="1" dirty="0"/>
              <a:t>у</a:t>
            </a:r>
            <a:r>
              <a:rPr lang="ru-RU" sz="2200" i="1" baseline="-25000" dirty="0"/>
              <a:t>0</a:t>
            </a:r>
            <a:r>
              <a:rPr lang="ru-RU" sz="2200" dirty="0"/>
              <a:t>, где </a:t>
            </a:r>
            <a:r>
              <a:rPr lang="ru-RU" sz="2200" i="1" dirty="0"/>
              <a:t>(х</a:t>
            </a:r>
            <a:r>
              <a:rPr lang="ru-RU" sz="2200" i="1" baseline="-25000" dirty="0"/>
              <a:t>0</a:t>
            </a:r>
            <a:r>
              <a:rPr lang="ru-RU" sz="2200" i="1" dirty="0"/>
              <a:t>,</a:t>
            </a:r>
            <a:r>
              <a:rPr lang="en-US" sz="2200" i="1" dirty="0"/>
              <a:t>y</a:t>
            </a:r>
            <a:r>
              <a:rPr lang="en-US" sz="2200" i="1" baseline="-25000" dirty="0"/>
              <a:t>0</a:t>
            </a:r>
            <a:r>
              <a:rPr lang="ru-RU" sz="2200" i="1" dirty="0"/>
              <a:t>) </a:t>
            </a:r>
            <a:r>
              <a:rPr lang="ru-RU" sz="2200" dirty="0"/>
              <a:t>— </a:t>
            </a:r>
            <a:r>
              <a:rPr lang="ru-RU" sz="2200" b="1" i="1" dirty="0"/>
              <a:t>неизвестное ранее проверочное наблюдение</a:t>
            </a:r>
            <a:r>
              <a:rPr lang="ru-RU" sz="2200" dirty="0"/>
              <a:t>, которое не использовалось при обучении статистической модели. Мы хотим выбрать такой метод, который дает минимальную ошибку на </a:t>
            </a:r>
            <a:r>
              <a:rPr lang="ru-RU" sz="2200" i="1" dirty="0"/>
              <a:t>контрольной выборке</a:t>
            </a:r>
            <a:r>
              <a:rPr lang="en-US" sz="2200" dirty="0"/>
              <a:t>, </a:t>
            </a:r>
            <a:r>
              <a:rPr lang="ru-RU" sz="2200" dirty="0"/>
              <a:t>а не минимальную ошибку на </a:t>
            </a:r>
            <a:r>
              <a:rPr lang="ru-RU" sz="2200" i="1" dirty="0"/>
              <a:t>обучающей выборке</a:t>
            </a:r>
            <a:r>
              <a:rPr lang="ru-RU" sz="2200" dirty="0"/>
              <a:t>. Другими словами, располагая большим количеством наблюдений, мы могли бы вычислить </a:t>
            </a:r>
          </a:p>
          <a:p>
            <a:endParaRPr lang="ru-RU" sz="2200" dirty="0"/>
          </a:p>
          <a:p>
            <a:pPr algn="ctr"/>
            <a:r>
              <a:rPr lang="ru-RU" sz="2200" i="1" dirty="0"/>
              <a:t>   </a:t>
            </a:r>
            <a:r>
              <a:rPr lang="en-US" sz="2200" i="1" dirty="0"/>
              <a:t>Ave(y</a:t>
            </a:r>
            <a:r>
              <a:rPr lang="en-US" sz="2200" i="1" baseline="-25000" dirty="0"/>
              <a:t>0</a:t>
            </a:r>
            <a:r>
              <a:rPr lang="en-US" sz="2200" i="1" dirty="0"/>
              <a:t> </a:t>
            </a:r>
            <a:r>
              <a:rPr lang="ru-RU" sz="2200" i="1" dirty="0"/>
              <a:t>-</a:t>
            </a:r>
            <a:r>
              <a:rPr lang="en-US" sz="2200" i="1" dirty="0"/>
              <a:t> </a:t>
            </a:r>
            <a:r>
              <a:rPr lang="ru-RU" sz="2200" i="1" dirty="0"/>
              <a:t>   </a:t>
            </a:r>
            <a:r>
              <a:rPr lang="en-US" sz="2200" i="1" dirty="0"/>
              <a:t>(x</a:t>
            </a:r>
            <a:r>
              <a:rPr lang="en-US" sz="2200" i="1" baseline="-25000" dirty="0"/>
              <a:t>0</a:t>
            </a:r>
            <a:r>
              <a:rPr lang="en-US" sz="2200" i="1" dirty="0"/>
              <a:t>))</a:t>
            </a:r>
            <a:r>
              <a:rPr lang="en-US" sz="2200" i="1" baseline="30000" dirty="0"/>
              <a:t>2</a:t>
            </a:r>
            <a:r>
              <a:rPr lang="en-US" sz="2200" dirty="0"/>
              <a:t>,</a:t>
            </a:r>
            <a:r>
              <a:rPr lang="ru-RU" sz="2200" dirty="0"/>
              <a:t>                  </a:t>
            </a:r>
            <a:r>
              <a:rPr lang="en-US" sz="2200" dirty="0"/>
              <a:t>	</a:t>
            </a:r>
            <a:r>
              <a:rPr lang="ru-RU" sz="2200" dirty="0"/>
              <a:t>(6)</a:t>
            </a:r>
          </a:p>
          <a:p>
            <a:pPr algn="ctr"/>
            <a:endParaRPr lang="ru-RU" sz="2200" dirty="0"/>
          </a:p>
          <a:p>
            <a:r>
              <a:rPr lang="ru-RU" sz="2200" dirty="0"/>
              <a:t>то есть среднеквадратичную ошибку предсказаний для этих проверочных наблюдений </a:t>
            </a:r>
            <a:r>
              <a:rPr lang="ru-RU" sz="2200" i="1" dirty="0"/>
              <a:t>(х</a:t>
            </a:r>
            <a:r>
              <a:rPr lang="ru-RU" sz="2200" i="1" baseline="-25000" dirty="0"/>
              <a:t>0</a:t>
            </a:r>
            <a:r>
              <a:rPr lang="ru-RU" sz="2200" i="1" dirty="0"/>
              <a:t>,</a:t>
            </a:r>
            <a:r>
              <a:rPr lang="en-US" sz="2200" i="1" dirty="0"/>
              <a:t>y</a:t>
            </a:r>
            <a:r>
              <a:rPr lang="en-US" sz="2200" i="1" baseline="-25000" dirty="0"/>
              <a:t>0</a:t>
            </a:r>
            <a:r>
              <a:rPr lang="ru-RU" sz="2200" i="1" dirty="0"/>
              <a:t>)</a:t>
            </a:r>
            <a:r>
              <a:rPr lang="en-US" sz="2200" i="1" dirty="0"/>
              <a:t>.</a:t>
            </a:r>
            <a:r>
              <a:rPr lang="ru-RU" sz="2200" dirty="0"/>
              <a:t> Мы хотели бы выбрать такую модель, для которой это среднее значение </a:t>
            </a:r>
            <a:r>
              <a:rPr lang="ru-RU" sz="2200" b="1" i="1" dirty="0"/>
              <a:t>на контрольной выборке </a:t>
            </a:r>
            <a:r>
              <a:rPr lang="ru-RU" sz="2200" dirty="0"/>
              <a:t>является как можно меньшим.</a:t>
            </a:r>
          </a:p>
          <a:p>
            <a:pPr indent="449267"/>
            <a:endParaRPr lang="ru-RU" sz="2200" dirty="0"/>
          </a:p>
        </p:txBody>
      </p:sp>
      <p:pic>
        <p:nvPicPr>
          <p:cNvPr id="9" name="Рисунок 8"/>
          <p:cNvPicPr>
            <a:picLocks noChangeAspect="1"/>
          </p:cNvPicPr>
          <p:nvPr/>
        </p:nvPicPr>
        <p:blipFill>
          <a:blip r:embed="rId2"/>
          <a:stretch>
            <a:fillRect/>
          </a:stretch>
        </p:blipFill>
        <p:spPr>
          <a:xfrm>
            <a:off x="6651330" y="1572086"/>
            <a:ext cx="258859" cy="478890"/>
          </a:xfrm>
          <a:prstGeom prst="rect">
            <a:avLst/>
          </a:prstGeom>
        </p:spPr>
      </p:pic>
      <p:pic>
        <p:nvPicPr>
          <p:cNvPr id="11" name="Рисунок 10"/>
          <p:cNvPicPr>
            <a:picLocks noChangeAspect="1"/>
          </p:cNvPicPr>
          <p:nvPr/>
        </p:nvPicPr>
        <p:blipFill>
          <a:blip r:embed="rId2"/>
          <a:stretch>
            <a:fillRect/>
          </a:stretch>
        </p:blipFill>
        <p:spPr>
          <a:xfrm>
            <a:off x="5326013" y="4283224"/>
            <a:ext cx="282823" cy="523223"/>
          </a:xfrm>
          <a:prstGeom prst="rect">
            <a:avLst/>
          </a:prstGeom>
        </p:spPr>
      </p:pic>
      <p:sp>
        <p:nvSpPr>
          <p:cNvPr id="12" name="Номер слайда 2">
            <a:extLst>
              <a:ext uri="{FF2B5EF4-FFF2-40B4-BE49-F238E27FC236}">
                <a16:creationId xmlns:a16="http://schemas.microsoft.com/office/drawing/2014/main" id="{7391123B-1248-4A73-8943-B7952417617E}"/>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65</a:t>
            </a:fld>
            <a:endParaRPr lang="ru-RU" dirty="0">
              <a:solidFill>
                <a:schemeClr val="tx1"/>
              </a:solidFill>
            </a:endParaRPr>
          </a:p>
        </p:txBody>
      </p:sp>
      <p:sp>
        <p:nvSpPr>
          <p:cNvPr id="13" name="Text Box 5">
            <a:extLst>
              <a:ext uri="{FF2B5EF4-FFF2-40B4-BE49-F238E27FC236}">
                <a16:creationId xmlns:a16="http://schemas.microsoft.com/office/drawing/2014/main" id="{FB51CE07-5719-4716-8367-4E51EC9E3EB2}"/>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4172126366"/>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178769"/>
            <a:ext cx="11677377" cy="619268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077541" y="1050652"/>
            <a:ext cx="5100637"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10" name="TextBox 9"/>
          <p:cNvSpPr txBox="1"/>
          <p:nvPr/>
        </p:nvSpPr>
        <p:spPr>
          <a:xfrm>
            <a:off x="789510" y="1618928"/>
            <a:ext cx="11521278" cy="3816429"/>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533405"/>
            <a:r>
              <a:rPr lang="ru-RU" sz="2200" dirty="0"/>
              <a:t>Каким же образом выбрать метод, </a:t>
            </a:r>
            <a:r>
              <a:rPr lang="ru-RU" sz="2200" dirty="0" err="1"/>
              <a:t>минимизирующий</a:t>
            </a:r>
            <a:r>
              <a:rPr lang="ru-RU" sz="2200" dirty="0"/>
              <a:t> </a:t>
            </a:r>
            <a:r>
              <a:rPr lang="en-US" sz="2200" dirty="0"/>
              <a:t>MSE </a:t>
            </a:r>
            <a:r>
              <a:rPr lang="ru-RU" sz="2200" dirty="0"/>
              <a:t>на контрольной выборке? </a:t>
            </a:r>
            <a:endParaRPr lang="en-US" sz="2200" dirty="0"/>
          </a:p>
          <a:p>
            <a:pPr indent="533405"/>
            <a:r>
              <a:rPr lang="ru-RU" sz="2200" dirty="0"/>
              <a:t>Если у нас в распоряжении может оказаться набор контрольных данных, мы можем иметь доступ к набору наблюдений, которые не были использованы для обучения статистической модели. Тогда мы можем просто вычислить величину из (6) по этим проверочным наблюдениям и выбрать метод статистического обучения с наименьшей контрольной </a:t>
            </a:r>
            <a:r>
              <a:rPr lang="en-US" sz="2200" dirty="0"/>
              <a:t>MSE. </a:t>
            </a:r>
            <a:endParaRPr lang="ru-RU" sz="2200" dirty="0"/>
          </a:p>
          <a:p>
            <a:pPr indent="533405"/>
            <a:r>
              <a:rPr lang="ru-RU" sz="2200" dirty="0"/>
              <a:t>Но как быть, если проверочные наблюдения недоступны? В этом случае теоретически можно было бы выбрать метод статистического обучения, который минимизирует </a:t>
            </a:r>
            <a:r>
              <a:rPr lang="en-US" sz="2200" dirty="0"/>
              <a:t>MSE </a:t>
            </a:r>
            <a:r>
              <a:rPr lang="ru-RU" sz="2200" dirty="0"/>
              <a:t>на обучающей выборке, предположив, что </a:t>
            </a:r>
            <a:r>
              <a:rPr lang="en-US" sz="2200" dirty="0"/>
              <a:t>MSE </a:t>
            </a:r>
            <a:r>
              <a:rPr lang="ru-RU" sz="2200" dirty="0"/>
              <a:t>на обучающей и контрольной выборках примерно одинаковы. </a:t>
            </a:r>
          </a:p>
        </p:txBody>
      </p:sp>
      <p:sp>
        <p:nvSpPr>
          <p:cNvPr id="7" name="Номер слайда 2">
            <a:extLst>
              <a:ext uri="{FF2B5EF4-FFF2-40B4-BE49-F238E27FC236}">
                <a16:creationId xmlns:a16="http://schemas.microsoft.com/office/drawing/2014/main" id="{F859B08D-7CC5-4DD5-B8CB-4A173D85601F}"/>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66</a:t>
            </a:fld>
            <a:endParaRPr lang="ru-RU" dirty="0">
              <a:solidFill>
                <a:schemeClr val="tx1"/>
              </a:solidFill>
            </a:endParaRPr>
          </a:p>
        </p:txBody>
      </p:sp>
      <p:sp>
        <p:nvSpPr>
          <p:cNvPr id="8" name="Text Box 5">
            <a:extLst>
              <a:ext uri="{FF2B5EF4-FFF2-40B4-BE49-F238E27FC236}">
                <a16:creationId xmlns:a16="http://schemas.microsoft.com/office/drawing/2014/main" id="{BE5A923D-1111-4F4F-85DD-06792F35A90A}"/>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962827567"/>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40719" y="178769"/>
            <a:ext cx="10870069"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861517" y="835187"/>
            <a:ext cx="4896544"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10" name="TextBox 9"/>
          <p:cNvSpPr txBox="1"/>
          <p:nvPr/>
        </p:nvSpPr>
        <p:spPr>
          <a:xfrm>
            <a:off x="717501" y="1741075"/>
            <a:ext cx="11449272" cy="4524315"/>
          </a:xfrm>
          <a:prstGeom prst="rect">
            <a:avLst/>
          </a:prstGeom>
        </p:spPr>
        <p:txBody>
          <a:bodyPr wrap="square">
            <a:spAutoFit/>
          </a:bodyPr>
          <a:lstStyle>
            <a:defPPr>
              <a:defRPr lang="ru-RU"/>
            </a:defPPr>
            <a:lvl1pPr>
              <a:defRPr>
                <a:solidFill>
                  <a:srgbClr val="000000"/>
                </a:solidFill>
                <a:latin typeface="Bookman Old Style" panose="02050604050505020204" pitchFamily="18" charset="0"/>
              </a:defRPr>
            </a:lvl1pPr>
          </a:lstStyle>
          <a:p>
            <a:pPr indent="533405"/>
            <a:r>
              <a:rPr lang="ru-RU" sz="2400" dirty="0"/>
              <a:t>К сожалению, у этой стратегии есть фундаментальная проблема: нет гарантии, что </a:t>
            </a:r>
            <a:r>
              <a:rPr lang="ru-RU" sz="2400" b="1" i="1" dirty="0">
                <a:solidFill>
                  <a:srgbClr val="0070C0"/>
                </a:solidFill>
              </a:rPr>
              <a:t>метод с минимальной </a:t>
            </a:r>
            <a:r>
              <a:rPr lang="en-US" sz="2400" b="1" i="1" dirty="0">
                <a:solidFill>
                  <a:srgbClr val="0070C0"/>
                </a:solidFill>
              </a:rPr>
              <a:t>MSE </a:t>
            </a:r>
            <a:r>
              <a:rPr lang="ru-RU" sz="2400" b="1" i="1" dirty="0">
                <a:solidFill>
                  <a:srgbClr val="0070C0"/>
                </a:solidFill>
              </a:rPr>
              <a:t>на обучающих данных также будет иметь минимальную </a:t>
            </a:r>
            <a:r>
              <a:rPr lang="en-US" sz="2400" b="1" i="1" dirty="0">
                <a:solidFill>
                  <a:srgbClr val="0070C0"/>
                </a:solidFill>
              </a:rPr>
              <a:t>MSE </a:t>
            </a:r>
            <a:r>
              <a:rPr lang="ru-RU" sz="2400" b="1" i="1" dirty="0">
                <a:solidFill>
                  <a:srgbClr val="0070C0"/>
                </a:solidFill>
              </a:rPr>
              <a:t>на контрольных данных.</a:t>
            </a:r>
            <a:r>
              <a:rPr lang="ru-RU" sz="2400" dirty="0"/>
              <a:t> </a:t>
            </a:r>
          </a:p>
          <a:p>
            <a:pPr indent="533405"/>
            <a:endParaRPr lang="en-US" sz="2400" dirty="0"/>
          </a:p>
          <a:p>
            <a:pPr indent="533405"/>
            <a:r>
              <a:rPr lang="ru-RU" sz="2400" dirty="0"/>
              <a:t>Грубо говоря, проблема заключается в том, что многие статистические методы специально оценивают коэффициенты с целью минимизации </a:t>
            </a:r>
            <a:r>
              <a:rPr lang="en-US" sz="2400" dirty="0"/>
              <a:t>MSE </a:t>
            </a:r>
            <a:r>
              <a:rPr lang="ru-RU" sz="2400" dirty="0"/>
              <a:t>на обучающей выборке. Ошибка обучения у этих методов может быть довольно низкой, но </a:t>
            </a:r>
            <a:r>
              <a:rPr lang="en-US" sz="2400" b="1" i="1" dirty="0">
                <a:solidFill>
                  <a:srgbClr val="0070C0"/>
                </a:solidFill>
              </a:rPr>
              <a:t>MSE </a:t>
            </a:r>
            <a:r>
              <a:rPr lang="ru-RU" sz="2400" b="1" i="1" dirty="0">
                <a:solidFill>
                  <a:srgbClr val="0070C0"/>
                </a:solidFill>
              </a:rPr>
              <a:t>на контрольных данных часто гораздо выше.</a:t>
            </a:r>
          </a:p>
          <a:p>
            <a:pPr indent="533405" algn="ctr"/>
            <a:r>
              <a:rPr lang="ru-RU" sz="2400" dirty="0">
                <a:solidFill>
                  <a:srgbClr val="FF0000"/>
                </a:solidFill>
              </a:rPr>
              <a:t>Обозначим обучающую и контрольную выборку ОВ  и КВ соответственно.</a:t>
            </a:r>
          </a:p>
          <a:p>
            <a:pPr indent="533405"/>
            <a:r>
              <a:rPr lang="ru-RU" sz="2400" dirty="0"/>
              <a:t> </a:t>
            </a:r>
          </a:p>
        </p:txBody>
      </p:sp>
      <p:sp>
        <p:nvSpPr>
          <p:cNvPr id="7" name="Номер слайда 2">
            <a:extLst>
              <a:ext uri="{FF2B5EF4-FFF2-40B4-BE49-F238E27FC236}">
                <a16:creationId xmlns:a16="http://schemas.microsoft.com/office/drawing/2014/main" id="{B2DD5DD3-4D45-44F2-8872-2A418842EE3D}"/>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67</a:t>
            </a:fld>
            <a:endParaRPr lang="ru-RU" dirty="0">
              <a:solidFill>
                <a:schemeClr val="tx1"/>
              </a:solidFill>
            </a:endParaRPr>
          </a:p>
        </p:txBody>
      </p:sp>
      <p:sp>
        <p:nvSpPr>
          <p:cNvPr id="8" name="Text Box 5">
            <a:extLst>
              <a:ext uri="{FF2B5EF4-FFF2-40B4-BE49-F238E27FC236}">
                <a16:creationId xmlns:a16="http://schemas.microsoft.com/office/drawing/2014/main" id="{1D2B7E9E-B714-4B66-99CB-3EA2094B7C9E}"/>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2571398638"/>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357461" y="178769"/>
            <a:ext cx="12025335"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1144145" y="768990"/>
            <a:ext cx="4752528"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4" name="Прямоугольник 3"/>
          <p:cNvSpPr/>
          <p:nvPr/>
        </p:nvSpPr>
        <p:spPr>
          <a:xfrm>
            <a:off x="1149549" y="5148563"/>
            <a:ext cx="11161240" cy="1631216"/>
          </a:xfrm>
          <a:prstGeom prst="rect">
            <a:avLst/>
          </a:prstGeom>
        </p:spPr>
        <p:txBody>
          <a:bodyPr wrap="square">
            <a:spAutoFit/>
          </a:bodyPr>
          <a:lstStyle/>
          <a:p>
            <a:r>
              <a:rPr lang="ru-RU" dirty="0">
                <a:solidFill>
                  <a:srgbClr val="000000"/>
                </a:solidFill>
                <a:latin typeface="Times New Roman" panose="02020603050405020304" pitchFamily="18" charset="0"/>
              </a:rPr>
              <a:t>Рис 7. Слева: </a:t>
            </a:r>
            <a:r>
              <a:rPr lang="ru-RU" i="1" dirty="0">
                <a:solidFill>
                  <a:srgbClr val="000000"/>
                </a:solidFill>
                <a:latin typeface="Times New Roman" panose="02020603050405020304" pitchFamily="18" charset="0"/>
              </a:rPr>
              <a:t>данные, имитированные на основе</a:t>
            </a:r>
            <a:r>
              <a:rPr lang="ru-RU" dirty="0">
                <a:solidFill>
                  <a:srgbClr val="000000"/>
                </a:solidFill>
                <a:latin typeface="Times New Roman" panose="02020603050405020304" pitchFamily="18" charset="0"/>
              </a:rPr>
              <a:t> </a:t>
            </a:r>
            <a:r>
              <a:rPr lang="en-US" i="1" dirty="0">
                <a:solidFill>
                  <a:srgbClr val="000000"/>
                </a:solidFill>
                <a:latin typeface="Times New Roman" panose="02020603050405020304" pitchFamily="18" charset="0"/>
              </a:rPr>
              <a:t>f</a:t>
            </a:r>
            <a:r>
              <a:rPr lang="ru-RU" dirty="0">
                <a:solidFill>
                  <a:srgbClr val="000000"/>
                </a:solidFill>
                <a:latin typeface="Times New Roman" panose="02020603050405020304" pitchFamily="18" charset="0"/>
              </a:rPr>
              <a:t>, </a:t>
            </a:r>
            <a:r>
              <a:rPr lang="ru-RU" i="1" dirty="0">
                <a:solidFill>
                  <a:srgbClr val="000000"/>
                </a:solidFill>
                <a:latin typeface="Times New Roman" panose="02020603050405020304" pitchFamily="18" charset="0"/>
              </a:rPr>
              <a:t>показаны полыми точками черного цвета. Представлены три способа подгонки </a:t>
            </a:r>
            <a:r>
              <a:rPr lang="en-US" i="1" dirty="0">
                <a:solidFill>
                  <a:srgbClr val="000000"/>
                </a:solidFill>
                <a:latin typeface="Times New Roman" panose="02020603050405020304" pitchFamily="18" charset="0"/>
              </a:rPr>
              <a:t>f</a:t>
            </a:r>
            <a:r>
              <a:rPr lang="ru-RU" i="1" dirty="0">
                <a:solidFill>
                  <a:srgbClr val="000000"/>
                </a:solidFill>
                <a:latin typeface="Times New Roman" panose="02020603050405020304" pitchFamily="18" charset="0"/>
              </a:rPr>
              <a:t>: линейная регрессия (желтая линия) и две модели гладких сплайнов (голубая и зеленая линии).</a:t>
            </a:r>
            <a:r>
              <a:rPr lang="ru-RU" dirty="0">
                <a:solidFill>
                  <a:srgbClr val="000000"/>
                </a:solidFill>
                <a:latin typeface="Times New Roman" panose="02020603050405020304" pitchFamily="18" charset="0"/>
              </a:rPr>
              <a:t> </a:t>
            </a:r>
          </a:p>
          <a:p>
            <a:r>
              <a:rPr lang="ru-RU" dirty="0">
                <a:solidFill>
                  <a:srgbClr val="000000"/>
                </a:solidFill>
                <a:latin typeface="Times New Roman" panose="02020603050405020304" pitchFamily="18" charset="0"/>
              </a:rPr>
              <a:t>Справа: </a:t>
            </a:r>
            <a:r>
              <a:rPr lang="ru-RU" b="1" i="1" dirty="0">
                <a:solidFill>
                  <a:srgbClr val="000000"/>
                </a:solidFill>
                <a:latin typeface="Times New Roman" panose="02020603050405020304" pitchFamily="18" charset="0"/>
              </a:rPr>
              <a:t>Квадратные символы </a:t>
            </a:r>
            <a:r>
              <a:rPr lang="ru-RU" i="1" dirty="0">
                <a:solidFill>
                  <a:srgbClr val="000000"/>
                </a:solidFill>
                <a:latin typeface="Times New Roman" panose="02020603050405020304" pitchFamily="18" charset="0"/>
              </a:rPr>
              <a:t>соответствуют ошибкам на обучающих и контрольных выборках, которые были получены для трех моделей, изображенных на графике слева.</a:t>
            </a:r>
            <a:endParaRPr lang="ru-RU" dirty="0"/>
          </a:p>
        </p:txBody>
      </p:sp>
      <p:grpSp>
        <p:nvGrpSpPr>
          <p:cNvPr id="8" name="Группа 7"/>
          <p:cNvGrpSpPr/>
          <p:nvPr/>
        </p:nvGrpSpPr>
        <p:grpSpPr>
          <a:xfrm>
            <a:off x="1440722" y="1757315"/>
            <a:ext cx="10284144" cy="3391248"/>
            <a:chOff x="555306" y="1369100"/>
            <a:chExt cx="9481727" cy="3080822"/>
          </a:xfrm>
        </p:grpSpPr>
        <p:pic>
          <p:nvPicPr>
            <p:cNvPr id="3" name="Рисунок 2"/>
            <p:cNvPicPr>
              <a:picLocks noChangeAspect="1"/>
            </p:cNvPicPr>
            <p:nvPr/>
          </p:nvPicPr>
          <p:blipFill>
            <a:blip r:embed="rId2"/>
            <a:stretch>
              <a:fillRect/>
            </a:stretch>
          </p:blipFill>
          <p:spPr>
            <a:xfrm>
              <a:off x="555306" y="1508504"/>
              <a:ext cx="5087487" cy="2941418"/>
            </a:xfrm>
            <a:prstGeom prst="rect">
              <a:avLst/>
            </a:prstGeom>
          </p:spPr>
        </p:pic>
        <p:sp>
          <p:nvSpPr>
            <p:cNvPr id="7" name="Выноска 2 6"/>
            <p:cNvSpPr/>
            <p:nvPr/>
          </p:nvSpPr>
          <p:spPr bwMode="auto">
            <a:xfrm>
              <a:off x="6142185" y="3592204"/>
              <a:ext cx="3600400" cy="711943"/>
            </a:xfrm>
            <a:prstGeom prst="borderCallout2">
              <a:avLst>
                <a:gd name="adj1" fmla="val 47292"/>
                <a:gd name="adj2" fmla="val -2286"/>
                <a:gd name="adj3" fmla="val -30179"/>
                <a:gd name="adj4" fmla="val -12636"/>
                <a:gd name="adj5" fmla="val -41522"/>
                <a:gd name="adj6" fmla="val -26933"/>
              </a:avLst>
            </a:prstGeom>
            <a:solidFill>
              <a:srgbClr val="DEFBF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i="1" dirty="0">
                  <a:solidFill>
                    <a:srgbClr val="000000"/>
                  </a:solidFill>
                  <a:latin typeface="Times New Roman" panose="02020603050405020304" pitchFamily="18" charset="0"/>
                </a:rPr>
                <a:t>среднеквадратичная ошибка на обучающих</a:t>
              </a:r>
              <a:r>
                <a:rPr lang="en-US" i="1" dirty="0">
                  <a:solidFill>
                    <a:srgbClr val="000000"/>
                  </a:solidFill>
                  <a:latin typeface="Times New Roman" panose="02020603050405020304" pitchFamily="18" charset="0"/>
                </a:rPr>
                <a:t> </a:t>
              </a:r>
              <a:r>
                <a:rPr lang="ru-RU" i="1" dirty="0">
                  <a:solidFill>
                    <a:srgbClr val="000000"/>
                  </a:solidFill>
                  <a:latin typeface="Times New Roman" panose="02020603050405020304" pitchFamily="18" charset="0"/>
                </a:rPr>
                <a:t>данных</a:t>
              </a:r>
              <a:endParaRPr lang="ru-RU" dirty="0"/>
            </a:p>
          </p:txBody>
        </p:sp>
        <p:sp>
          <p:nvSpPr>
            <p:cNvPr id="11" name="Выноска 2 10"/>
            <p:cNvSpPr/>
            <p:nvPr/>
          </p:nvSpPr>
          <p:spPr bwMode="auto">
            <a:xfrm>
              <a:off x="6142185" y="1369100"/>
              <a:ext cx="3569362" cy="729002"/>
            </a:xfrm>
            <a:prstGeom prst="borderCallout2">
              <a:avLst>
                <a:gd name="adj1" fmla="val 20741"/>
                <a:gd name="adj2" fmla="val -607"/>
                <a:gd name="adj3" fmla="val 54588"/>
                <a:gd name="adj4" fmla="val -8941"/>
                <a:gd name="adj5" fmla="val 107767"/>
                <a:gd name="adj6" fmla="val -18716"/>
              </a:avLst>
            </a:prstGeom>
            <a:solidFill>
              <a:srgbClr val="DEFBF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i="1" dirty="0">
                  <a:solidFill>
                    <a:srgbClr val="000000"/>
                  </a:solidFill>
                  <a:latin typeface="Times New Roman" panose="02020603050405020304" pitchFamily="18" charset="0"/>
                </a:rPr>
                <a:t>среднеквадратичная ошибка на контрольных</a:t>
              </a:r>
              <a:r>
                <a:rPr lang="en-US" i="1" dirty="0">
                  <a:solidFill>
                    <a:srgbClr val="000000"/>
                  </a:solidFill>
                  <a:latin typeface="Times New Roman" panose="02020603050405020304" pitchFamily="18" charset="0"/>
                </a:rPr>
                <a:t> </a:t>
              </a:r>
              <a:r>
                <a:rPr lang="ru-RU" i="1" dirty="0">
                  <a:solidFill>
                    <a:srgbClr val="000000"/>
                  </a:solidFill>
                  <a:latin typeface="Times New Roman" panose="02020603050405020304" pitchFamily="18" charset="0"/>
                </a:rPr>
                <a:t>данных</a:t>
              </a:r>
              <a:endParaRPr lang="ru-RU" dirty="0"/>
            </a:p>
          </p:txBody>
        </p:sp>
        <p:sp>
          <p:nvSpPr>
            <p:cNvPr id="12" name="Выноска 2 11"/>
            <p:cNvSpPr/>
            <p:nvPr/>
          </p:nvSpPr>
          <p:spPr bwMode="auto">
            <a:xfrm>
              <a:off x="5952766" y="2275493"/>
              <a:ext cx="4084267" cy="970018"/>
            </a:xfrm>
            <a:prstGeom prst="borderCallout2">
              <a:avLst>
                <a:gd name="adj1" fmla="val 17254"/>
                <a:gd name="adj2" fmla="val 551"/>
                <a:gd name="adj3" fmla="val 48540"/>
                <a:gd name="adj4" fmla="val -11492"/>
                <a:gd name="adj5" fmla="val 66560"/>
                <a:gd name="adj6" fmla="val -18919"/>
              </a:avLst>
            </a:prstGeom>
            <a:solidFill>
              <a:srgbClr val="DEFBFE"/>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sz="1900" i="1" dirty="0">
                  <a:solidFill>
                    <a:srgbClr val="000000"/>
                  </a:solidFill>
                  <a:latin typeface="Times New Roman" panose="02020603050405020304" pitchFamily="18" charset="0"/>
                </a:rPr>
                <a:t>минимально возможное значение ошибки для контрольных данных, зависит от числа степеней свободы</a:t>
              </a:r>
              <a:endParaRPr lang="ru-RU" sz="1900" dirty="0"/>
            </a:p>
          </p:txBody>
        </p:sp>
      </p:grpSp>
      <p:sp>
        <p:nvSpPr>
          <p:cNvPr id="5" name="Номер слайда 4">
            <a:extLst>
              <a:ext uri="{FF2B5EF4-FFF2-40B4-BE49-F238E27FC236}">
                <a16:creationId xmlns:a16="http://schemas.microsoft.com/office/drawing/2014/main" id="{26553293-32A1-47AB-B584-FE0E02B1967D}"/>
              </a:ext>
            </a:extLst>
          </p:cNvPr>
          <p:cNvSpPr>
            <a:spLocks noGrp="1"/>
          </p:cNvSpPr>
          <p:nvPr>
            <p:ph type="sldNum" sz="quarter" idx="12"/>
          </p:nvPr>
        </p:nvSpPr>
        <p:spPr>
          <a:xfrm>
            <a:off x="11405499" y="6651595"/>
            <a:ext cx="629339" cy="332831"/>
          </a:xfrm>
        </p:spPr>
        <p:txBody>
          <a:bodyPr/>
          <a:lstStyle/>
          <a:p>
            <a:fld id="{952B6C0E-C4B9-4094-8E59-5B7DF00D5415}" type="slidenum">
              <a:rPr lang="ru-RU" smtClean="0">
                <a:solidFill>
                  <a:schemeClr val="tx1"/>
                </a:solidFill>
              </a:rPr>
              <a:t>68</a:t>
            </a:fld>
            <a:endParaRPr lang="ru-RU">
              <a:solidFill>
                <a:schemeClr val="tx1"/>
              </a:solidFill>
            </a:endParaRPr>
          </a:p>
        </p:txBody>
      </p:sp>
      <p:sp>
        <p:nvSpPr>
          <p:cNvPr id="13" name="Text Box 5">
            <a:extLst>
              <a:ext uri="{FF2B5EF4-FFF2-40B4-BE49-F238E27FC236}">
                <a16:creationId xmlns:a16="http://schemas.microsoft.com/office/drawing/2014/main" id="{DBB61E70-5337-46EF-B481-915E1B49C14D}"/>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576117383"/>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85453" y="178769"/>
            <a:ext cx="11953327" cy="6625257"/>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789509" y="684921"/>
            <a:ext cx="4317341"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Измерение качества модели</a:t>
            </a:r>
          </a:p>
        </p:txBody>
      </p:sp>
      <p:sp>
        <p:nvSpPr>
          <p:cNvPr id="4" name="Прямоугольник 3"/>
          <p:cNvSpPr/>
          <p:nvPr/>
        </p:nvSpPr>
        <p:spPr>
          <a:xfrm>
            <a:off x="633411" y="4806674"/>
            <a:ext cx="11401428" cy="2123658"/>
          </a:xfrm>
          <a:prstGeom prst="rect">
            <a:avLst/>
          </a:prstGeom>
        </p:spPr>
        <p:txBody>
          <a:bodyPr wrap="square">
            <a:spAutoFit/>
          </a:bodyPr>
          <a:lstStyle/>
          <a:p>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обучающей выборке монотонно снижается по мере возрастания гибкости. В этом примере истинная функция </a:t>
            </a:r>
            <a:r>
              <a:rPr lang="en-US" sz="2200" i="1" dirty="0">
                <a:solidFill>
                  <a:srgbClr val="000000"/>
                </a:solidFill>
                <a:latin typeface="Bookman Old Style" panose="02050604050505020204" pitchFamily="18" charset="0"/>
              </a:rPr>
              <a:t>f </a:t>
            </a:r>
            <a:r>
              <a:rPr lang="ru-RU" sz="2200" dirty="0" err="1">
                <a:solidFill>
                  <a:srgbClr val="000000"/>
                </a:solidFill>
                <a:latin typeface="Bookman Old Style" panose="02050604050505020204" pitchFamily="18" charset="0"/>
              </a:rPr>
              <a:t>нелинейна</a:t>
            </a:r>
            <a:r>
              <a:rPr lang="ru-RU" sz="2200" dirty="0">
                <a:solidFill>
                  <a:srgbClr val="000000"/>
                </a:solidFill>
                <a:latin typeface="Bookman Old Style" panose="02050604050505020204" pitchFamily="18" charset="0"/>
              </a:rPr>
              <a:t>, поэтому линейная модель (желтый) недостаточно гибка для получения удовлетворительной оценки  </a:t>
            </a:r>
            <a:r>
              <a:rPr lang="en-US" sz="2200" i="1" dirty="0">
                <a:solidFill>
                  <a:srgbClr val="000000"/>
                </a:solidFill>
                <a:latin typeface="Bookman Old Style" panose="02050604050505020204" pitchFamily="18" charset="0"/>
              </a:rPr>
              <a:t>f </a:t>
            </a:r>
            <a:r>
              <a:rPr lang="ru-RU" sz="2200" dirty="0">
                <a:solidFill>
                  <a:srgbClr val="000000"/>
                </a:solidFill>
                <a:latin typeface="Bookman Old Style" panose="02050604050505020204" pitchFamily="18" charset="0"/>
              </a:rPr>
              <a:t>. Из всех трех методов зеленая кривая имеет наименьшую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обучающих данных, поскольку она соответствует наиболее гибкой из трех моделей.</a:t>
            </a:r>
          </a:p>
        </p:txBody>
      </p:sp>
      <p:grpSp>
        <p:nvGrpSpPr>
          <p:cNvPr id="8" name="Группа 7"/>
          <p:cNvGrpSpPr/>
          <p:nvPr/>
        </p:nvGrpSpPr>
        <p:grpSpPr>
          <a:xfrm>
            <a:off x="1221557" y="1618930"/>
            <a:ext cx="10010865" cy="3194960"/>
            <a:chOff x="555306" y="1369100"/>
            <a:chExt cx="9481727" cy="3080822"/>
          </a:xfrm>
        </p:grpSpPr>
        <p:pic>
          <p:nvPicPr>
            <p:cNvPr id="3" name="Рисунок 2"/>
            <p:cNvPicPr>
              <a:picLocks noChangeAspect="1"/>
            </p:cNvPicPr>
            <p:nvPr/>
          </p:nvPicPr>
          <p:blipFill>
            <a:blip r:embed="rId2"/>
            <a:stretch>
              <a:fillRect/>
            </a:stretch>
          </p:blipFill>
          <p:spPr>
            <a:xfrm>
              <a:off x="555306" y="1508504"/>
              <a:ext cx="5087487" cy="2941418"/>
            </a:xfrm>
            <a:prstGeom prst="rect">
              <a:avLst/>
            </a:prstGeom>
          </p:spPr>
        </p:pic>
        <p:sp>
          <p:nvSpPr>
            <p:cNvPr id="7" name="Выноска 2 6"/>
            <p:cNvSpPr/>
            <p:nvPr/>
          </p:nvSpPr>
          <p:spPr bwMode="auto">
            <a:xfrm>
              <a:off x="6142185" y="3592204"/>
              <a:ext cx="3600400" cy="711943"/>
            </a:xfrm>
            <a:prstGeom prst="borderCallout2">
              <a:avLst>
                <a:gd name="adj1" fmla="val 47292"/>
                <a:gd name="adj2" fmla="val -2286"/>
                <a:gd name="adj3" fmla="val -30179"/>
                <a:gd name="adj4" fmla="val -12636"/>
                <a:gd name="adj5" fmla="val -41522"/>
                <a:gd name="adj6" fmla="val -26933"/>
              </a:avLst>
            </a:prstGeom>
            <a:solidFill>
              <a:srgbClr val="E0F8F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i="1" dirty="0">
                  <a:solidFill>
                    <a:srgbClr val="000000"/>
                  </a:solidFill>
                  <a:latin typeface="Times New Roman" panose="02020603050405020304" pitchFamily="18" charset="0"/>
                </a:rPr>
                <a:t>среднеквадратичная ошибка на обучающих</a:t>
              </a:r>
              <a:r>
                <a:rPr lang="en-US" i="1" dirty="0">
                  <a:solidFill>
                    <a:srgbClr val="000000"/>
                  </a:solidFill>
                  <a:latin typeface="Times New Roman" panose="02020603050405020304" pitchFamily="18" charset="0"/>
                </a:rPr>
                <a:t> </a:t>
              </a:r>
              <a:r>
                <a:rPr lang="ru-RU" i="1" dirty="0">
                  <a:solidFill>
                    <a:srgbClr val="000000"/>
                  </a:solidFill>
                  <a:latin typeface="Times New Roman" panose="02020603050405020304" pitchFamily="18" charset="0"/>
                </a:rPr>
                <a:t>данных</a:t>
              </a:r>
              <a:endParaRPr lang="ru-RU" dirty="0"/>
            </a:p>
          </p:txBody>
        </p:sp>
        <p:sp>
          <p:nvSpPr>
            <p:cNvPr id="11" name="Выноска 2 10"/>
            <p:cNvSpPr/>
            <p:nvPr/>
          </p:nvSpPr>
          <p:spPr bwMode="auto">
            <a:xfrm>
              <a:off x="6142185" y="1369100"/>
              <a:ext cx="3569362" cy="729002"/>
            </a:xfrm>
            <a:prstGeom prst="borderCallout2">
              <a:avLst>
                <a:gd name="adj1" fmla="val 20741"/>
                <a:gd name="adj2" fmla="val -607"/>
                <a:gd name="adj3" fmla="val 54588"/>
                <a:gd name="adj4" fmla="val -8941"/>
                <a:gd name="adj5" fmla="val 107767"/>
                <a:gd name="adj6" fmla="val -18716"/>
              </a:avLst>
            </a:prstGeom>
            <a:solidFill>
              <a:srgbClr val="E0F8F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i="1" dirty="0">
                  <a:solidFill>
                    <a:srgbClr val="000000"/>
                  </a:solidFill>
                  <a:latin typeface="Times New Roman" panose="02020603050405020304" pitchFamily="18" charset="0"/>
                </a:rPr>
                <a:t>среднеквадратичная ошибка на контрольных</a:t>
              </a:r>
              <a:r>
                <a:rPr lang="en-US" i="1" dirty="0">
                  <a:solidFill>
                    <a:srgbClr val="000000"/>
                  </a:solidFill>
                  <a:latin typeface="Times New Roman" panose="02020603050405020304" pitchFamily="18" charset="0"/>
                </a:rPr>
                <a:t> </a:t>
              </a:r>
              <a:r>
                <a:rPr lang="ru-RU" i="1" dirty="0">
                  <a:solidFill>
                    <a:srgbClr val="000000"/>
                  </a:solidFill>
                  <a:latin typeface="Times New Roman" panose="02020603050405020304" pitchFamily="18" charset="0"/>
                </a:rPr>
                <a:t>данных</a:t>
              </a:r>
              <a:endParaRPr lang="ru-RU" dirty="0"/>
            </a:p>
          </p:txBody>
        </p:sp>
        <p:sp>
          <p:nvSpPr>
            <p:cNvPr id="12" name="Выноска 2 11"/>
            <p:cNvSpPr/>
            <p:nvPr/>
          </p:nvSpPr>
          <p:spPr bwMode="auto">
            <a:xfrm>
              <a:off x="5952766" y="2275493"/>
              <a:ext cx="4084267" cy="970018"/>
            </a:xfrm>
            <a:prstGeom prst="borderCallout2">
              <a:avLst>
                <a:gd name="adj1" fmla="val 17254"/>
                <a:gd name="adj2" fmla="val 551"/>
                <a:gd name="adj3" fmla="val 48540"/>
                <a:gd name="adj4" fmla="val -11492"/>
                <a:gd name="adj5" fmla="val 66560"/>
                <a:gd name="adj6" fmla="val -18919"/>
              </a:avLst>
            </a:prstGeom>
            <a:solidFill>
              <a:srgbClr val="E0F8F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r>
                <a:rPr lang="ru-RU" sz="1900" i="1" dirty="0">
                  <a:solidFill>
                    <a:srgbClr val="000000"/>
                  </a:solidFill>
                  <a:latin typeface="Times New Roman" panose="02020603050405020304" pitchFamily="18" charset="0"/>
                </a:rPr>
                <a:t>минимально возможное значение ошибки для контрольных данных, зависит от числа степеней свободы</a:t>
              </a:r>
              <a:endParaRPr lang="ru-RU" sz="1900" dirty="0"/>
            </a:p>
          </p:txBody>
        </p:sp>
      </p:grpSp>
      <p:sp>
        <p:nvSpPr>
          <p:cNvPr id="5" name="Номер слайда 4">
            <a:extLst>
              <a:ext uri="{FF2B5EF4-FFF2-40B4-BE49-F238E27FC236}">
                <a16:creationId xmlns:a16="http://schemas.microsoft.com/office/drawing/2014/main" id="{4FAD5C79-B343-4B16-AF1D-2BE8F789E986}"/>
              </a:ext>
            </a:extLst>
          </p:cNvPr>
          <p:cNvSpPr>
            <a:spLocks noGrp="1"/>
          </p:cNvSpPr>
          <p:nvPr>
            <p:ph type="sldNum" sz="quarter" idx="12"/>
          </p:nvPr>
        </p:nvSpPr>
        <p:spPr>
          <a:xfrm>
            <a:off x="11232421" y="6608033"/>
            <a:ext cx="802417" cy="376393"/>
          </a:xfrm>
        </p:spPr>
        <p:txBody>
          <a:bodyPr/>
          <a:lstStyle/>
          <a:p>
            <a:fld id="{952B6C0E-C4B9-4094-8E59-5B7DF00D5415}" type="slidenum">
              <a:rPr lang="ru-RU" smtClean="0">
                <a:solidFill>
                  <a:schemeClr val="tx1"/>
                </a:solidFill>
              </a:rPr>
              <a:t>69</a:t>
            </a:fld>
            <a:endParaRPr lang="ru-RU">
              <a:solidFill>
                <a:schemeClr val="tx1"/>
              </a:solidFill>
            </a:endParaRPr>
          </a:p>
        </p:txBody>
      </p:sp>
      <p:sp>
        <p:nvSpPr>
          <p:cNvPr id="13" name="Text Box 5">
            <a:extLst>
              <a:ext uri="{FF2B5EF4-FFF2-40B4-BE49-F238E27FC236}">
                <a16:creationId xmlns:a16="http://schemas.microsoft.com/office/drawing/2014/main" id="{3A0C6E97-290B-4A45-8F3C-26DD57950EF2}"/>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012646323"/>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85453" y="178768"/>
            <a:ext cx="12172199"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2" name="Прямоугольник 1"/>
          <p:cNvSpPr/>
          <p:nvPr/>
        </p:nvSpPr>
        <p:spPr>
          <a:xfrm>
            <a:off x="649940" y="404834"/>
            <a:ext cx="5100637"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sz="2400" b="1" i="1" dirty="0">
                <a:solidFill>
                  <a:schemeClr val="accent2">
                    <a:lumMod val="50000"/>
                  </a:schemeClr>
                </a:solidFill>
              </a:rPr>
              <a:t>Измерение качества модели</a:t>
            </a:r>
          </a:p>
        </p:txBody>
      </p:sp>
      <p:sp>
        <p:nvSpPr>
          <p:cNvPr id="4" name="Прямоугольник 3"/>
          <p:cNvSpPr/>
          <p:nvPr/>
        </p:nvSpPr>
        <p:spPr>
          <a:xfrm>
            <a:off x="5043407" y="1432584"/>
            <a:ext cx="7414245" cy="2123658"/>
          </a:xfrm>
          <a:prstGeom prst="rect">
            <a:avLst/>
          </a:prstGeom>
        </p:spPr>
        <p:txBody>
          <a:bodyPr wrap="square">
            <a:spAutoFit/>
          </a:bodyPr>
          <a:lstStyle/>
          <a:p>
            <a:r>
              <a:rPr lang="ru-RU" sz="2200" dirty="0">
                <a:solidFill>
                  <a:srgbClr val="000000"/>
                </a:solidFill>
                <a:latin typeface="Bookman Old Style" panose="02050604050505020204" pitchFamily="18" charset="0"/>
              </a:rPr>
              <a:t>Как и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ОВ,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КВ сначала снижается по мере увеличения гибкости. Однако в какой-то момент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КВ снова начинает возрастать. Как следствие оранжевая и зеленая кривые имеют самые высокие ошибки на контрольных данных. </a:t>
            </a:r>
          </a:p>
        </p:txBody>
      </p:sp>
      <p:sp>
        <p:nvSpPr>
          <p:cNvPr id="5" name="Прямоугольник 4"/>
          <p:cNvSpPr/>
          <p:nvPr/>
        </p:nvSpPr>
        <p:spPr>
          <a:xfrm>
            <a:off x="502766" y="3764067"/>
            <a:ext cx="11662717" cy="2031325"/>
          </a:xfrm>
          <a:prstGeom prst="rect">
            <a:avLst/>
          </a:prstGeom>
        </p:spPr>
        <p:txBody>
          <a:bodyPr wrap="square">
            <a:spAutoFit/>
          </a:bodyPr>
          <a:lstStyle/>
          <a:p>
            <a:r>
              <a:rPr lang="ru-RU" sz="2100" dirty="0">
                <a:solidFill>
                  <a:srgbClr val="000000"/>
                </a:solidFill>
                <a:latin typeface="Bookman Old Style" panose="02050604050505020204" pitchFamily="18" charset="0"/>
              </a:rPr>
              <a:t>Голубая кривая имеет минимальную </a:t>
            </a:r>
            <a:r>
              <a:rPr lang="en-US" sz="2100" dirty="0">
                <a:solidFill>
                  <a:srgbClr val="000000"/>
                </a:solidFill>
                <a:latin typeface="Bookman Old Style" panose="02050604050505020204" pitchFamily="18" charset="0"/>
              </a:rPr>
              <a:t>MSE </a:t>
            </a:r>
            <a:r>
              <a:rPr lang="ru-RU" sz="2100" dirty="0">
                <a:solidFill>
                  <a:srgbClr val="000000"/>
                </a:solidFill>
                <a:latin typeface="Bookman Old Style" panose="02050604050505020204" pitchFamily="18" charset="0"/>
              </a:rPr>
              <a:t>на КВ, что не должно удивлять, поскольку визуально эта модель выглядит как наилучшая оценка </a:t>
            </a:r>
            <a:r>
              <a:rPr lang="en-US" sz="2100"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Горизонтальная прерывистая линия показывает </a:t>
            </a:r>
            <a:r>
              <a:rPr lang="en-US" sz="2100" i="1" dirty="0" err="1">
                <a:solidFill>
                  <a:srgbClr val="000000"/>
                </a:solidFill>
                <a:latin typeface="Bookman Old Style" panose="02050604050505020204" pitchFamily="18" charset="0"/>
              </a:rPr>
              <a:t>Var</a:t>
            </a:r>
            <a:r>
              <a:rPr lang="en-US" sz="2100" i="1" dirty="0">
                <a:solidFill>
                  <a:srgbClr val="000000"/>
                </a:solidFill>
                <a:latin typeface="Bookman Old Style" panose="02050604050505020204" pitchFamily="18" charset="0"/>
              </a:rPr>
              <a:t>(</a:t>
            </a:r>
            <a:r>
              <a:rPr lang="el-GR" sz="2100" i="1" dirty="0">
                <a:solidFill>
                  <a:srgbClr val="000000"/>
                </a:solidFill>
                <a:latin typeface="Bookman Old Style" panose="02050604050505020204" pitchFamily="18" charset="0"/>
              </a:rPr>
              <a:t>ε</a:t>
            </a:r>
            <a:r>
              <a:rPr lang="en-US" sz="2100" i="1" dirty="0">
                <a:solidFill>
                  <a:srgbClr val="000000"/>
                </a:solidFill>
                <a:latin typeface="Bookman Old Style" panose="02050604050505020204" pitchFamily="18" charset="0"/>
              </a:rPr>
              <a:t>) </a:t>
            </a:r>
            <a:r>
              <a:rPr lang="ru-RU" sz="2100" dirty="0">
                <a:solidFill>
                  <a:srgbClr val="000000"/>
                </a:solidFill>
                <a:latin typeface="Bookman Old Style" panose="02050604050505020204" pitchFamily="18" charset="0"/>
              </a:rPr>
              <a:t>— неустранимую ошибку, которая соответствует наименьшей достижимой </a:t>
            </a:r>
            <a:r>
              <a:rPr lang="en-US" sz="2100" dirty="0">
                <a:solidFill>
                  <a:srgbClr val="000000"/>
                </a:solidFill>
                <a:latin typeface="Bookman Old Style" panose="02050604050505020204" pitchFamily="18" charset="0"/>
              </a:rPr>
              <a:t>MSE </a:t>
            </a:r>
            <a:r>
              <a:rPr lang="ru-RU" sz="2100" dirty="0">
                <a:solidFill>
                  <a:srgbClr val="000000"/>
                </a:solidFill>
                <a:latin typeface="Bookman Old Style" panose="02050604050505020204" pitchFamily="18" charset="0"/>
              </a:rPr>
              <a:t>на контрольных данных для всех возможных методов. Следовательно, сглаживающий сплайн, показанный в виде голубой линии, близок к оптимуму. </a:t>
            </a:r>
          </a:p>
        </p:txBody>
      </p:sp>
      <p:pic>
        <p:nvPicPr>
          <p:cNvPr id="13" name="Рисунок 12"/>
          <p:cNvPicPr>
            <a:picLocks noChangeAspect="1"/>
          </p:cNvPicPr>
          <p:nvPr/>
        </p:nvPicPr>
        <p:blipFill>
          <a:blip r:embed="rId2"/>
          <a:stretch>
            <a:fillRect/>
          </a:stretch>
        </p:blipFill>
        <p:spPr>
          <a:xfrm>
            <a:off x="649630" y="1359261"/>
            <a:ext cx="4293105" cy="2482132"/>
          </a:xfrm>
          <a:prstGeom prst="rect">
            <a:avLst/>
          </a:prstGeom>
        </p:spPr>
      </p:pic>
      <p:sp>
        <p:nvSpPr>
          <p:cNvPr id="9" name="Прямоугольник 8"/>
          <p:cNvSpPr/>
          <p:nvPr/>
        </p:nvSpPr>
        <p:spPr>
          <a:xfrm>
            <a:off x="4324224" y="2566469"/>
            <a:ext cx="612668" cy="261610"/>
          </a:xfrm>
          <a:prstGeom prst="rect">
            <a:avLst/>
          </a:prstGeom>
        </p:spPr>
        <p:txBody>
          <a:bodyPr wrap="none">
            <a:spAutoFit/>
          </a:bodyPr>
          <a:lstStyle/>
          <a:p>
            <a:r>
              <a:rPr lang="en-US" sz="1100" i="1" dirty="0" err="1">
                <a:solidFill>
                  <a:srgbClr val="000000"/>
                </a:solidFill>
                <a:latin typeface="Bookman Old Style" panose="02050604050505020204" pitchFamily="18" charset="0"/>
              </a:rPr>
              <a:t>Var</a:t>
            </a:r>
            <a:r>
              <a:rPr lang="en-US" sz="1100" i="1" dirty="0">
                <a:solidFill>
                  <a:srgbClr val="000000"/>
                </a:solidFill>
                <a:latin typeface="Bookman Old Style" panose="02050604050505020204" pitchFamily="18" charset="0"/>
              </a:rPr>
              <a:t>(</a:t>
            </a:r>
            <a:r>
              <a:rPr lang="el-GR" sz="1100" i="1" dirty="0">
                <a:solidFill>
                  <a:srgbClr val="000000"/>
                </a:solidFill>
                <a:latin typeface="Bookman Old Style" panose="02050604050505020204" pitchFamily="18" charset="0"/>
              </a:rPr>
              <a:t>ε</a:t>
            </a:r>
            <a:r>
              <a:rPr lang="en-US" sz="1100" i="1" dirty="0">
                <a:solidFill>
                  <a:srgbClr val="000000"/>
                </a:solidFill>
                <a:latin typeface="Bookman Old Style" panose="02050604050505020204" pitchFamily="18" charset="0"/>
              </a:rPr>
              <a:t>) </a:t>
            </a:r>
            <a:endParaRPr lang="ru-RU" sz="1100" dirty="0"/>
          </a:p>
        </p:txBody>
      </p:sp>
      <p:sp>
        <p:nvSpPr>
          <p:cNvPr id="10" name="Прямоугольник 9"/>
          <p:cNvSpPr/>
          <p:nvPr/>
        </p:nvSpPr>
        <p:spPr>
          <a:xfrm>
            <a:off x="513256" y="5688854"/>
            <a:ext cx="11653517" cy="1107996"/>
          </a:xfrm>
          <a:prstGeom prst="rect">
            <a:avLst/>
          </a:prstGeom>
        </p:spPr>
        <p:txBody>
          <a:bodyPr wrap="square">
            <a:spAutoFit/>
          </a:bodyPr>
          <a:lstStyle/>
          <a:p>
            <a:r>
              <a:rPr lang="ru-RU" sz="2200" dirty="0">
                <a:solidFill>
                  <a:srgbClr val="000000"/>
                </a:solidFill>
                <a:latin typeface="Bookman Old Style" panose="02050604050505020204" pitchFamily="18" charset="0"/>
              </a:rPr>
              <a:t>По мере возрастания гибкости метода статистического обучения происходит монотонное снижение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обучающих данных и </a:t>
            </a:r>
            <a:r>
              <a:rPr lang="en-US" sz="2200" dirty="0">
                <a:solidFill>
                  <a:srgbClr val="000000"/>
                </a:solidFill>
                <a:latin typeface="Bookman Old Style" panose="02050604050505020204" pitchFamily="18" charset="0"/>
              </a:rPr>
              <a:t>U</a:t>
            </a:r>
            <a:r>
              <a:rPr lang="ru-RU" sz="2200" dirty="0">
                <a:solidFill>
                  <a:srgbClr val="000000"/>
                </a:solidFill>
                <a:latin typeface="Bookman Old Style" panose="02050604050505020204" pitchFamily="18" charset="0"/>
              </a:rPr>
              <a:t>-образное изменение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a:t>
            </a:r>
          </a:p>
        </p:txBody>
      </p:sp>
      <p:sp>
        <p:nvSpPr>
          <p:cNvPr id="3" name="Номер слайда 2">
            <a:extLst>
              <a:ext uri="{FF2B5EF4-FFF2-40B4-BE49-F238E27FC236}">
                <a16:creationId xmlns:a16="http://schemas.microsoft.com/office/drawing/2014/main" id="{77D28DFE-9237-430E-B0E3-30F01184A7EF}"/>
              </a:ext>
            </a:extLst>
          </p:cNvPr>
          <p:cNvSpPr>
            <a:spLocks noGrp="1"/>
          </p:cNvSpPr>
          <p:nvPr>
            <p:ph type="sldNum" sz="quarter" idx="12"/>
          </p:nvPr>
        </p:nvSpPr>
        <p:spPr>
          <a:xfrm>
            <a:off x="11230669" y="6731380"/>
            <a:ext cx="804170" cy="253046"/>
          </a:xfrm>
        </p:spPr>
        <p:txBody>
          <a:bodyPr/>
          <a:lstStyle/>
          <a:p>
            <a:fld id="{952B6C0E-C4B9-4094-8E59-5B7DF00D5415}" type="slidenum">
              <a:rPr lang="ru-RU" smtClean="0">
                <a:solidFill>
                  <a:schemeClr val="tx1"/>
                </a:solidFill>
              </a:rPr>
              <a:t>70</a:t>
            </a:fld>
            <a:endParaRPr lang="ru-RU">
              <a:solidFill>
                <a:schemeClr val="tx1"/>
              </a:solidFill>
            </a:endParaRPr>
          </a:p>
        </p:txBody>
      </p:sp>
      <p:sp>
        <p:nvSpPr>
          <p:cNvPr id="11" name="Text Box 5">
            <a:extLst>
              <a:ext uri="{FF2B5EF4-FFF2-40B4-BE49-F238E27FC236}">
                <a16:creationId xmlns:a16="http://schemas.microsoft.com/office/drawing/2014/main" id="{5E6A6212-FF76-493D-AABD-0AE32AFAF6F1}"/>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502708822"/>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40719" y="178768"/>
            <a:ext cx="10942077"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1440719" y="394793"/>
            <a:ext cx="10294005"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Фундаментальное свойство статистического обучения</a:t>
            </a:r>
          </a:p>
        </p:txBody>
      </p:sp>
      <p:sp>
        <p:nvSpPr>
          <p:cNvPr id="4" name="Прямоугольник 3"/>
          <p:cNvSpPr/>
          <p:nvPr/>
        </p:nvSpPr>
        <p:spPr>
          <a:xfrm>
            <a:off x="647061" y="1445393"/>
            <a:ext cx="11735735" cy="4493538"/>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Это является </a:t>
            </a:r>
            <a:r>
              <a:rPr lang="ru-RU" sz="2200" b="1" i="1" dirty="0">
                <a:solidFill>
                  <a:srgbClr val="000000"/>
                </a:solidFill>
                <a:latin typeface="Bookman Old Style" panose="02050604050505020204" pitchFamily="18" charset="0"/>
              </a:rPr>
              <a:t>фундаментальным свойством статистического обучения</a:t>
            </a:r>
            <a:r>
              <a:rPr lang="ru-RU" sz="2200" dirty="0">
                <a:solidFill>
                  <a:srgbClr val="000000"/>
                </a:solidFill>
                <a:latin typeface="Bookman Old Style" panose="02050604050505020204" pitchFamily="18" charset="0"/>
              </a:rPr>
              <a:t>, которое остается справедливым для любого имеющегося набора данных и для любого применяемого статистического метода. </a:t>
            </a:r>
          </a:p>
          <a:p>
            <a:pPr indent="449267"/>
            <a:r>
              <a:rPr lang="ru-RU" sz="2200" b="1" i="1" dirty="0">
                <a:solidFill>
                  <a:srgbClr val="000000"/>
                </a:solidFill>
                <a:latin typeface="Bookman Old Style" panose="02050604050505020204" pitchFamily="18" charset="0"/>
              </a:rPr>
              <a:t>По мере увеличения гибкости модели </a:t>
            </a:r>
            <a:r>
              <a:rPr lang="en-US" sz="2200" b="1" i="1" dirty="0">
                <a:solidFill>
                  <a:srgbClr val="000000"/>
                </a:solidFill>
                <a:latin typeface="Bookman Old Style" panose="02050604050505020204" pitchFamily="18" charset="0"/>
              </a:rPr>
              <a:t>MSE </a:t>
            </a:r>
            <a:r>
              <a:rPr lang="ru-RU" sz="2200" b="1" i="1" dirty="0">
                <a:solidFill>
                  <a:srgbClr val="000000"/>
                </a:solidFill>
                <a:latin typeface="Bookman Old Style" panose="02050604050505020204" pitchFamily="18" charset="0"/>
              </a:rPr>
              <a:t>на обучающей выборке будет снижаться, но </a:t>
            </a:r>
            <a:r>
              <a:rPr lang="en-US" sz="2200" b="1" i="1" dirty="0">
                <a:solidFill>
                  <a:srgbClr val="000000"/>
                </a:solidFill>
                <a:latin typeface="Bookman Old Style" panose="02050604050505020204" pitchFamily="18" charset="0"/>
              </a:rPr>
              <a:t>MSE </a:t>
            </a:r>
            <a:r>
              <a:rPr lang="ru-RU" sz="2200" b="1" i="1" dirty="0">
                <a:solidFill>
                  <a:srgbClr val="000000"/>
                </a:solidFill>
                <a:latin typeface="Bookman Old Style" panose="02050604050505020204" pitchFamily="18" charset="0"/>
              </a:rPr>
              <a:t>на контрольной выборке необязательно будет вести себя тем же образом.</a:t>
            </a:r>
            <a:r>
              <a:rPr lang="ru-RU" sz="2200" dirty="0">
                <a:solidFill>
                  <a:srgbClr val="000000"/>
                </a:solidFill>
                <a:latin typeface="Bookman Old Style" panose="02050604050505020204" pitchFamily="18" charset="0"/>
              </a:rPr>
              <a:t> </a:t>
            </a:r>
          </a:p>
          <a:p>
            <a:pPr indent="449267"/>
            <a:r>
              <a:rPr lang="ru-RU" sz="2200" dirty="0">
                <a:solidFill>
                  <a:srgbClr val="000000"/>
                </a:solidFill>
                <a:latin typeface="Bookman Old Style" panose="02050604050505020204" pitchFamily="18" charset="0"/>
              </a:rPr>
              <a:t>Ситуацию, когда некоторый метод обеспечивает небольшую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обучающих данных и высокую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проверочных данных, называют </a:t>
            </a:r>
            <a:r>
              <a:rPr lang="ru-RU" sz="2200" b="1" i="1" dirty="0">
                <a:solidFill>
                  <a:srgbClr val="000000"/>
                </a:solidFill>
                <a:latin typeface="Bookman Old Style" panose="02050604050505020204" pitchFamily="18" charset="0"/>
              </a:rPr>
              <a:t>переобучением модели</a:t>
            </a:r>
            <a:r>
              <a:rPr lang="ru-RU" sz="2200" dirty="0">
                <a:solidFill>
                  <a:srgbClr val="000000"/>
                </a:solidFill>
                <a:latin typeface="Bookman Old Style" panose="02050604050505020204" pitchFamily="18" charset="0"/>
              </a:rPr>
              <a:t>. </a:t>
            </a:r>
          </a:p>
          <a:p>
            <a:pPr indent="449267"/>
            <a:r>
              <a:rPr lang="ru-RU" sz="2200" dirty="0">
                <a:solidFill>
                  <a:srgbClr val="000000"/>
                </a:solidFill>
                <a:latin typeface="Bookman Old Style" panose="02050604050505020204" pitchFamily="18" charset="0"/>
              </a:rPr>
              <a:t>Это происходит потому, что наша процедура статистического обучения слишком усердно пытается найти закономерности в обучающих данных и в результате может обнаружить некоторые закономерности, которые просто случайны и никак не связаны с истинными свойствами неизвестной функции</a:t>
            </a:r>
            <a:r>
              <a:rPr lang="en-US" sz="2200"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a:t>
            </a:r>
          </a:p>
        </p:txBody>
      </p:sp>
      <p:sp>
        <p:nvSpPr>
          <p:cNvPr id="3" name="Номер слайда 2">
            <a:extLst>
              <a:ext uri="{FF2B5EF4-FFF2-40B4-BE49-F238E27FC236}">
                <a16:creationId xmlns:a16="http://schemas.microsoft.com/office/drawing/2014/main" id="{643D2C57-693E-44A0-8090-BCA4C84DA85F}"/>
              </a:ext>
            </a:extLst>
          </p:cNvPr>
          <p:cNvSpPr>
            <a:spLocks noGrp="1"/>
          </p:cNvSpPr>
          <p:nvPr>
            <p:ph type="sldNum" sz="quarter" idx="12"/>
          </p:nvPr>
        </p:nvSpPr>
        <p:spPr>
          <a:xfrm>
            <a:off x="11014645" y="6587481"/>
            <a:ext cx="1020194" cy="396946"/>
          </a:xfrm>
        </p:spPr>
        <p:txBody>
          <a:bodyPr/>
          <a:lstStyle/>
          <a:p>
            <a:fld id="{952B6C0E-C4B9-4094-8E59-5B7DF00D5415}" type="slidenum">
              <a:rPr lang="ru-RU" smtClean="0">
                <a:solidFill>
                  <a:schemeClr val="tx1"/>
                </a:solidFill>
              </a:rPr>
              <a:t>71</a:t>
            </a:fld>
            <a:endParaRPr lang="ru-RU">
              <a:solidFill>
                <a:schemeClr val="tx1"/>
              </a:solidFill>
            </a:endParaRPr>
          </a:p>
        </p:txBody>
      </p:sp>
      <p:sp>
        <p:nvSpPr>
          <p:cNvPr id="7" name="Text Box 5">
            <a:extLst>
              <a:ext uri="{FF2B5EF4-FFF2-40B4-BE49-F238E27FC236}">
                <a16:creationId xmlns:a16="http://schemas.microsoft.com/office/drawing/2014/main" id="{7B730EDE-582D-462D-883F-139D67C45A30}"/>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2299524805"/>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178768"/>
            <a:ext cx="11749385"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4" name="Прямоугольник 3"/>
          <p:cNvSpPr/>
          <p:nvPr/>
        </p:nvSpPr>
        <p:spPr>
          <a:xfrm>
            <a:off x="636272" y="1797698"/>
            <a:ext cx="11398568" cy="3139321"/>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При переобучении модели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контрольной выборке будет большой потому, что предполагаемые закономерности, найденные нашим методом в обучающих данных, в проверочных данных просто не существуют. </a:t>
            </a:r>
          </a:p>
          <a:p>
            <a:pPr indent="449267"/>
            <a:r>
              <a:rPr lang="ru-RU" sz="2200" dirty="0">
                <a:solidFill>
                  <a:srgbClr val="000000"/>
                </a:solidFill>
                <a:latin typeface="Bookman Old Style" panose="02050604050505020204" pitchFamily="18" charset="0"/>
              </a:rPr>
              <a:t>Вне зависимости от того, случилось ли переобучение, мы почти всегда ожидаем, что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обучающих данных будет ниже, чем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 поскольку большинство методов статистического обучения так или иначе пытаются минимизировать ошибку обучения. </a:t>
            </a:r>
          </a:p>
          <a:p>
            <a:pPr indent="449267"/>
            <a:r>
              <a:rPr lang="ru-RU" sz="2200" dirty="0">
                <a:solidFill>
                  <a:srgbClr val="000000"/>
                </a:solidFill>
                <a:latin typeface="Bookman Old Style" panose="02050604050505020204" pitchFamily="18" charset="0"/>
              </a:rPr>
              <a:t>К переобучению относят также частный случай, когда менее гибкая модель обеспечивает меньшую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a:t>
            </a:r>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sp>
        <p:nvSpPr>
          <p:cNvPr id="2" name="Номер слайда 1">
            <a:extLst>
              <a:ext uri="{FF2B5EF4-FFF2-40B4-BE49-F238E27FC236}">
                <a16:creationId xmlns:a16="http://schemas.microsoft.com/office/drawing/2014/main" id="{0447EDF9-A67E-4252-8E7A-9A4392A3B275}"/>
              </a:ext>
            </a:extLst>
          </p:cNvPr>
          <p:cNvSpPr>
            <a:spLocks noGrp="1"/>
          </p:cNvSpPr>
          <p:nvPr>
            <p:ph type="sldNum" sz="quarter" idx="12"/>
          </p:nvPr>
        </p:nvSpPr>
        <p:spPr>
          <a:xfrm>
            <a:off x="10942637" y="6587481"/>
            <a:ext cx="1092202" cy="396946"/>
          </a:xfrm>
        </p:spPr>
        <p:txBody>
          <a:bodyPr/>
          <a:lstStyle/>
          <a:p>
            <a:fld id="{952B6C0E-C4B9-4094-8E59-5B7DF00D5415}" type="slidenum">
              <a:rPr lang="ru-RU" smtClean="0">
                <a:solidFill>
                  <a:schemeClr val="tx1"/>
                </a:solidFill>
              </a:rPr>
              <a:t>72</a:t>
            </a:fld>
            <a:endParaRPr lang="ru-RU" dirty="0">
              <a:solidFill>
                <a:schemeClr val="tx1"/>
              </a:solidFill>
            </a:endParaRPr>
          </a:p>
        </p:txBody>
      </p:sp>
      <p:sp>
        <p:nvSpPr>
          <p:cNvPr id="8" name="Text Box 5">
            <a:extLst>
              <a:ext uri="{FF2B5EF4-FFF2-40B4-BE49-F238E27FC236}">
                <a16:creationId xmlns:a16="http://schemas.microsoft.com/office/drawing/2014/main" id="{F4AD5547-90B0-4BCA-89C0-4A24BDC5E7E9}"/>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2819376311"/>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357461" y="178768"/>
            <a:ext cx="11809311"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pic>
        <p:nvPicPr>
          <p:cNvPr id="2" name="Рисунок 1"/>
          <p:cNvPicPr>
            <a:picLocks noChangeAspect="1"/>
          </p:cNvPicPr>
          <p:nvPr/>
        </p:nvPicPr>
        <p:blipFill>
          <a:blip r:embed="rId2"/>
          <a:stretch>
            <a:fillRect/>
          </a:stretch>
        </p:blipFill>
        <p:spPr>
          <a:xfrm>
            <a:off x="1288325" y="1642705"/>
            <a:ext cx="5577001" cy="3100755"/>
          </a:xfrm>
          <a:prstGeom prst="rect">
            <a:avLst/>
          </a:prstGeom>
        </p:spPr>
      </p:pic>
      <p:sp>
        <p:nvSpPr>
          <p:cNvPr id="3" name="Прямоугольник 2"/>
          <p:cNvSpPr/>
          <p:nvPr/>
        </p:nvSpPr>
        <p:spPr>
          <a:xfrm>
            <a:off x="1134119" y="4730704"/>
            <a:ext cx="7334255" cy="823302"/>
          </a:xfrm>
          <a:prstGeom prst="rect">
            <a:avLst/>
          </a:prstGeom>
        </p:spPr>
        <p:txBody>
          <a:bodyPr wrap="square">
            <a:spAutoFit/>
          </a:bodyPr>
          <a:lstStyle/>
          <a:p>
            <a:pPr>
              <a:lnSpc>
                <a:spcPts val="1900"/>
              </a:lnSpc>
            </a:pPr>
            <a:r>
              <a:rPr lang="ru-RU" dirty="0">
                <a:solidFill>
                  <a:srgbClr val="000000"/>
                </a:solidFill>
                <a:latin typeface="Times New Roman" panose="02020603050405020304" pitchFamily="18" charset="0"/>
              </a:rPr>
              <a:t>Рис. 8. </a:t>
            </a:r>
            <a:r>
              <a:rPr lang="ru-RU" i="1" dirty="0">
                <a:solidFill>
                  <a:srgbClr val="000000"/>
                </a:solidFill>
                <a:latin typeface="Times New Roman" panose="02020603050405020304" pitchFamily="18" charset="0"/>
              </a:rPr>
              <a:t>То же, что на рис. 7, но с истинной функцией </a:t>
            </a:r>
            <a:r>
              <a:rPr lang="en-US" i="1" dirty="0">
                <a:solidFill>
                  <a:srgbClr val="000000"/>
                </a:solidFill>
                <a:latin typeface="Times New Roman" panose="02020603050405020304" pitchFamily="18" charset="0"/>
              </a:rPr>
              <a:t>f</a:t>
            </a:r>
            <a:r>
              <a:rPr lang="ru-RU" i="1" dirty="0">
                <a:solidFill>
                  <a:srgbClr val="000000"/>
                </a:solidFill>
                <a:latin typeface="Times New Roman" panose="02020603050405020304" pitchFamily="18" charset="0"/>
              </a:rPr>
              <a:t>, которая намного ближе к линейной. В этой ситуации линейная регрессия очень хорошо описывает данные.</a:t>
            </a:r>
            <a:endParaRPr lang="ru-RU" sz="3200" dirty="0">
              <a:solidFill>
                <a:srgbClr val="000000"/>
              </a:solidFill>
              <a:latin typeface="Times New Roman" panose="02020603050405020304" pitchFamily="18" charset="0"/>
            </a:endParaRPr>
          </a:p>
        </p:txBody>
      </p:sp>
      <p:sp>
        <p:nvSpPr>
          <p:cNvPr id="5" name="Прямоугольник 4"/>
          <p:cNvSpPr/>
          <p:nvPr/>
        </p:nvSpPr>
        <p:spPr>
          <a:xfrm>
            <a:off x="7406956" y="1702228"/>
            <a:ext cx="4759816" cy="2800767"/>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Истинная функция </a:t>
            </a:r>
            <a:r>
              <a:rPr lang="en-US" sz="2200"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 линейна. Как и раньше, мы наблюдаем монотонное снижение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обучающих данных по мере возрастания гибкости модели, а кривая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 имеет </a:t>
            </a:r>
            <a:r>
              <a:rPr lang="en-US" sz="2200" dirty="0">
                <a:solidFill>
                  <a:srgbClr val="000000"/>
                </a:solidFill>
                <a:latin typeface="Bookman Old Style" panose="02050604050505020204" pitchFamily="18" charset="0"/>
              </a:rPr>
              <a:t>U </a:t>
            </a:r>
            <a:r>
              <a:rPr lang="ru-RU" sz="2200" dirty="0">
                <a:solidFill>
                  <a:srgbClr val="000000"/>
                </a:solidFill>
                <a:latin typeface="Bookman Old Style" panose="02050604050505020204" pitchFamily="18" charset="0"/>
              </a:rPr>
              <a:t>-образную форму. </a:t>
            </a:r>
          </a:p>
        </p:txBody>
      </p:sp>
      <p:sp>
        <p:nvSpPr>
          <p:cNvPr id="8" name="Прямоугольник 7"/>
          <p:cNvSpPr/>
          <p:nvPr/>
        </p:nvSpPr>
        <p:spPr>
          <a:xfrm>
            <a:off x="1164544" y="5607077"/>
            <a:ext cx="10582052" cy="1107996"/>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Однако в связи с тем, что истинная зависимость близка к линейной,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 лишь незначительно снижается перед последующим</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возрастанием.</a:t>
            </a:r>
          </a:p>
        </p:txBody>
      </p:sp>
      <p:sp>
        <p:nvSpPr>
          <p:cNvPr id="4" name="Номер слайда 3">
            <a:extLst>
              <a:ext uri="{FF2B5EF4-FFF2-40B4-BE49-F238E27FC236}">
                <a16:creationId xmlns:a16="http://schemas.microsoft.com/office/drawing/2014/main" id="{53FBB245-26DF-44A0-B278-C59508DA2C81}"/>
              </a:ext>
            </a:extLst>
          </p:cNvPr>
          <p:cNvSpPr>
            <a:spLocks noGrp="1"/>
          </p:cNvSpPr>
          <p:nvPr>
            <p:ph type="sldNum" sz="quarter" idx="12"/>
          </p:nvPr>
        </p:nvSpPr>
        <p:spPr>
          <a:xfrm>
            <a:off x="11503705" y="6715073"/>
            <a:ext cx="531133" cy="269353"/>
          </a:xfrm>
        </p:spPr>
        <p:txBody>
          <a:bodyPr/>
          <a:lstStyle/>
          <a:p>
            <a:fld id="{952B6C0E-C4B9-4094-8E59-5B7DF00D5415}" type="slidenum">
              <a:rPr lang="ru-RU" smtClean="0">
                <a:solidFill>
                  <a:schemeClr val="tx1"/>
                </a:solidFill>
              </a:rPr>
              <a:t>73</a:t>
            </a:fld>
            <a:endParaRPr lang="ru-RU" dirty="0">
              <a:solidFill>
                <a:schemeClr val="tx1"/>
              </a:solidFill>
            </a:endParaRPr>
          </a:p>
        </p:txBody>
      </p:sp>
      <p:sp>
        <p:nvSpPr>
          <p:cNvPr id="11" name="Text Box 5">
            <a:extLst>
              <a:ext uri="{FF2B5EF4-FFF2-40B4-BE49-F238E27FC236}">
                <a16:creationId xmlns:a16="http://schemas.microsoft.com/office/drawing/2014/main" id="{D96DCDC7-7776-47FD-A713-86EE0CBECC8D}"/>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792155291"/>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440719" y="204095"/>
            <a:ext cx="11014085"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sp>
        <p:nvSpPr>
          <p:cNvPr id="3" name="Прямоугольник 2"/>
          <p:cNvSpPr/>
          <p:nvPr/>
        </p:nvSpPr>
        <p:spPr>
          <a:xfrm>
            <a:off x="525086" y="4923912"/>
            <a:ext cx="6624736" cy="1015663"/>
          </a:xfrm>
          <a:prstGeom prst="rect">
            <a:avLst/>
          </a:prstGeom>
        </p:spPr>
        <p:txBody>
          <a:bodyPr wrap="square">
            <a:spAutoFit/>
          </a:bodyPr>
          <a:lstStyle/>
          <a:p>
            <a:r>
              <a:rPr lang="ru-RU" dirty="0">
                <a:solidFill>
                  <a:srgbClr val="000000"/>
                </a:solidFill>
                <a:latin typeface="Times New Roman" panose="02020603050405020304" pitchFamily="18" charset="0"/>
              </a:rPr>
              <a:t>Рис. 9. </a:t>
            </a:r>
            <a:r>
              <a:rPr lang="ru-RU" i="1" dirty="0">
                <a:solidFill>
                  <a:srgbClr val="000000"/>
                </a:solidFill>
                <a:latin typeface="Times New Roman" panose="02020603050405020304" pitchFamily="18" charset="0"/>
              </a:rPr>
              <a:t>То же, что па рис. 7,8, но с истинной функцией </a:t>
            </a:r>
            <a:r>
              <a:rPr lang="en-US" i="1" dirty="0">
                <a:solidFill>
                  <a:srgbClr val="000000"/>
                </a:solidFill>
                <a:latin typeface="Times New Roman" panose="02020603050405020304" pitchFamily="18" charset="0"/>
              </a:rPr>
              <a:t>f</a:t>
            </a:r>
            <a:r>
              <a:rPr lang="ru-RU" i="1" dirty="0">
                <a:solidFill>
                  <a:srgbClr val="000000"/>
                </a:solidFill>
                <a:latin typeface="Times New Roman" panose="02020603050405020304" pitchFamily="18" charset="0"/>
              </a:rPr>
              <a:t>, существенно отличной от линейной. В этой ситуации линейная регрессия описывает данные очень плохо.</a:t>
            </a:r>
          </a:p>
        </p:txBody>
      </p:sp>
      <p:sp>
        <p:nvSpPr>
          <p:cNvPr id="5" name="Прямоугольник 4"/>
          <p:cNvSpPr/>
          <p:nvPr/>
        </p:nvSpPr>
        <p:spPr>
          <a:xfrm>
            <a:off x="7050926" y="1702228"/>
            <a:ext cx="5187715" cy="1107996"/>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Рис. 9 иллюстрирует пример, в котором функция </a:t>
            </a:r>
            <a:r>
              <a:rPr lang="en-US" sz="2200" i="1" dirty="0">
                <a:solidFill>
                  <a:srgbClr val="000000"/>
                </a:solidFill>
                <a:latin typeface="Bookman Old Style" panose="02050604050505020204" pitchFamily="18" charset="0"/>
              </a:rPr>
              <a:t>f</a:t>
            </a:r>
            <a:r>
              <a:rPr lang="en-US" sz="2200"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в значительной мере </a:t>
            </a:r>
            <a:r>
              <a:rPr lang="ru-RU" sz="2200" dirty="0" err="1">
                <a:solidFill>
                  <a:srgbClr val="000000"/>
                </a:solidFill>
                <a:latin typeface="Bookman Old Style" panose="02050604050505020204" pitchFamily="18" charset="0"/>
              </a:rPr>
              <a:t>нелинейна</a:t>
            </a:r>
            <a:r>
              <a:rPr lang="ru-RU" sz="2200" dirty="0">
                <a:solidFill>
                  <a:srgbClr val="000000"/>
                </a:solidFill>
                <a:latin typeface="Bookman Old Style" panose="02050604050505020204" pitchFamily="18" charset="0"/>
              </a:rPr>
              <a:t>.</a:t>
            </a:r>
          </a:p>
        </p:txBody>
      </p:sp>
      <p:sp>
        <p:nvSpPr>
          <p:cNvPr id="8" name="Прямоугольник 7"/>
          <p:cNvSpPr/>
          <p:nvPr/>
        </p:nvSpPr>
        <p:spPr>
          <a:xfrm>
            <a:off x="7051066" y="3028603"/>
            <a:ext cx="5187716" cy="2800767"/>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Кривые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для обучающих и контрольных выборок по-прежнему демонстрируют те же общие закономерности, но теперь имеет место быстрое снижение обеих этих кривых, перед тем как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 начинает медленно возрастать.</a:t>
            </a:r>
          </a:p>
        </p:txBody>
      </p:sp>
      <p:pic>
        <p:nvPicPr>
          <p:cNvPr id="4" name="Рисунок 3"/>
          <p:cNvPicPr>
            <a:picLocks noChangeAspect="1"/>
          </p:cNvPicPr>
          <p:nvPr/>
        </p:nvPicPr>
        <p:blipFill>
          <a:blip r:embed="rId2"/>
          <a:stretch>
            <a:fillRect/>
          </a:stretch>
        </p:blipFill>
        <p:spPr>
          <a:xfrm>
            <a:off x="933525" y="1702228"/>
            <a:ext cx="5709102" cy="3261248"/>
          </a:xfrm>
          <a:prstGeom prst="rect">
            <a:avLst/>
          </a:prstGeom>
        </p:spPr>
      </p:pic>
      <p:sp>
        <p:nvSpPr>
          <p:cNvPr id="11" name="Номер слайда 2">
            <a:extLst>
              <a:ext uri="{FF2B5EF4-FFF2-40B4-BE49-F238E27FC236}">
                <a16:creationId xmlns:a16="http://schemas.microsoft.com/office/drawing/2014/main" id="{F0D37FB6-7FCC-4CCF-BB24-E54ED700CB27}"/>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74</a:t>
            </a:fld>
            <a:endParaRPr lang="ru-RU" dirty="0">
              <a:solidFill>
                <a:schemeClr val="tx1"/>
              </a:solidFill>
            </a:endParaRPr>
          </a:p>
        </p:txBody>
      </p:sp>
      <p:sp>
        <p:nvSpPr>
          <p:cNvPr id="12" name="Text Box 5">
            <a:extLst>
              <a:ext uri="{FF2B5EF4-FFF2-40B4-BE49-F238E27FC236}">
                <a16:creationId xmlns:a16="http://schemas.microsoft.com/office/drawing/2014/main" id="{59C06DD4-F121-4B62-96AD-EFC07A7BEA2C}"/>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685561073"/>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178768"/>
            <a:ext cx="11893402"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4" name="Прямоугольник 3"/>
          <p:cNvSpPr/>
          <p:nvPr/>
        </p:nvSpPr>
        <p:spPr>
          <a:xfrm>
            <a:off x="872406" y="1463172"/>
            <a:ext cx="11265354" cy="1107996"/>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Оказывается, что </a:t>
            </a:r>
            <a:r>
              <a:rPr lang="en-US" sz="2200" dirty="0">
                <a:solidFill>
                  <a:srgbClr val="000000"/>
                </a:solidFill>
                <a:latin typeface="Bookman Old Style" panose="02050604050505020204" pitchFamily="18" charset="0"/>
              </a:rPr>
              <a:t>U</a:t>
            </a:r>
            <a:r>
              <a:rPr lang="ru-RU" sz="2200" dirty="0">
                <a:solidFill>
                  <a:srgbClr val="000000"/>
                </a:solidFill>
                <a:latin typeface="Bookman Old Style" panose="02050604050505020204" pitchFamily="18" charset="0"/>
              </a:rPr>
              <a:t>-образная форма кривых, описывающих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контрольных данных (рис. 7-9), является результатом двух конкурирующих свойств методов статистического обучения.</a:t>
            </a:r>
          </a:p>
        </p:txBody>
      </p:sp>
      <p:sp>
        <p:nvSpPr>
          <p:cNvPr id="7" name="Прямоугольник 6"/>
          <p:cNvSpPr/>
          <p:nvPr/>
        </p:nvSpPr>
        <p:spPr>
          <a:xfrm>
            <a:off x="1800759" y="960023"/>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defTabSz="993783">
              <a:spcBef>
                <a:spcPct val="20000"/>
              </a:spcBef>
            </a:pPr>
            <a:r>
              <a:rPr lang="ru-RU" b="1" i="1" dirty="0">
                <a:solidFill>
                  <a:schemeClr val="accent2">
                    <a:lumMod val="50000"/>
                  </a:schemeClr>
                </a:solidFill>
              </a:rPr>
              <a:t>Фундаментальное свойством статистического обучения</a:t>
            </a:r>
          </a:p>
        </p:txBody>
      </p:sp>
      <p:sp>
        <p:nvSpPr>
          <p:cNvPr id="2" name="Прямоугольник 1"/>
          <p:cNvSpPr/>
          <p:nvPr/>
        </p:nvSpPr>
        <p:spPr>
          <a:xfrm>
            <a:off x="612346" y="2531527"/>
            <a:ext cx="11893402" cy="4062651"/>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Для некоторого контрольного значения </a:t>
            </a:r>
            <a:r>
              <a:rPr lang="en-US" sz="2200" i="1" dirty="0">
                <a:solidFill>
                  <a:srgbClr val="000000"/>
                </a:solidFill>
                <a:latin typeface="Bookman Old Style" panose="02050604050505020204" pitchFamily="18" charset="0"/>
              </a:rPr>
              <a:t>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ожидаемую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всегда можно разложить на сумму трех фундаментальных величин: </a:t>
            </a:r>
            <a:r>
              <a:rPr lang="ru-RU" sz="2200" i="1" dirty="0">
                <a:solidFill>
                  <a:srgbClr val="000000"/>
                </a:solidFill>
                <a:latin typeface="Bookman Old Style" panose="02050604050505020204" pitchFamily="18" charset="0"/>
              </a:rPr>
              <a:t>дисперсии</a:t>
            </a:r>
            <a:r>
              <a:rPr lang="ru-RU" sz="2200"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f (x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квадрата смещения </a:t>
            </a:r>
            <a:r>
              <a:rPr lang="en-US" sz="2200" i="1" dirty="0">
                <a:solidFill>
                  <a:srgbClr val="000000"/>
                </a:solidFill>
                <a:latin typeface="Bookman Old Style" panose="02050604050505020204" pitchFamily="18" charset="0"/>
              </a:rPr>
              <a:t>f (x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a:t>
            </a:r>
            <a:r>
              <a:rPr lang="ru-RU" sz="2200"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и дисперсии остатков </a:t>
            </a:r>
            <a:r>
              <a:rPr lang="el-GR" sz="2200" i="1" dirty="0">
                <a:solidFill>
                  <a:srgbClr val="000000"/>
                </a:solidFill>
                <a:latin typeface="Bookman Old Style" panose="02050604050505020204" pitchFamily="18" charset="0"/>
              </a:rPr>
              <a:t>ε</a:t>
            </a:r>
            <a:r>
              <a:rPr lang="ru-RU" sz="2200" dirty="0">
                <a:solidFill>
                  <a:srgbClr val="000000"/>
                </a:solidFill>
                <a:latin typeface="Bookman Old Style" panose="02050604050505020204" pitchFamily="18" charset="0"/>
              </a:rPr>
              <a:t>:</a:t>
            </a:r>
          </a:p>
          <a:p>
            <a:pPr indent="449267"/>
            <a:endParaRPr lang="ru-RU" dirty="0">
              <a:solidFill>
                <a:srgbClr val="000000"/>
              </a:solidFill>
              <a:latin typeface="Bookman Old Style" panose="02050604050505020204" pitchFamily="18" charset="0"/>
            </a:endParaRPr>
          </a:p>
          <a:p>
            <a:pPr indent="449267" algn="ctr"/>
            <a:r>
              <a:rPr lang="en-US" b="1" i="1" dirty="0">
                <a:solidFill>
                  <a:srgbClr val="000000"/>
                </a:solidFill>
                <a:latin typeface="Bookman Old Style" panose="02050604050505020204" pitchFamily="18" charset="0"/>
              </a:rPr>
              <a:t>E</a:t>
            </a:r>
            <a:r>
              <a:rPr lang="ru-RU" b="1" i="1" dirty="0">
                <a:solidFill>
                  <a:srgbClr val="000000"/>
                </a:solidFill>
                <a:latin typeface="Bookman Old Style" panose="02050604050505020204" pitchFamily="18" charset="0"/>
              </a:rPr>
              <a:t>(у</a:t>
            </a:r>
            <a:r>
              <a:rPr lang="ru-RU" b="1" i="1" baseline="-25000" dirty="0">
                <a:solidFill>
                  <a:srgbClr val="000000"/>
                </a:solidFill>
                <a:latin typeface="Bookman Old Style" panose="02050604050505020204" pitchFamily="18" charset="0"/>
              </a:rPr>
              <a:t>0</a:t>
            </a:r>
            <a:r>
              <a:rPr lang="ru-RU" b="1" i="1" dirty="0">
                <a:solidFill>
                  <a:srgbClr val="000000"/>
                </a:solidFill>
                <a:latin typeface="Bookman Old Style" panose="02050604050505020204" pitchFamily="18" charset="0"/>
              </a:rPr>
              <a:t> </a:t>
            </a:r>
            <a:r>
              <a:rPr lang="en-US" b="1" i="1" dirty="0">
                <a:solidFill>
                  <a:srgbClr val="000000"/>
                </a:solidFill>
                <a:latin typeface="Bookman Old Style" panose="02050604050505020204" pitchFamily="18" charset="0"/>
              </a:rPr>
              <a:t>-</a:t>
            </a:r>
            <a:r>
              <a:rPr lang="ru-RU" b="1" i="1" dirty="0">
                <a:solidFill>
                  <a:srgbClr val="000000"/>
                </a:solidFill>
                <a:latin typeface="Bookman Old Style" panose="02050604050505020204" pitchFamily="18" charset="0"/>
              </a:rPr>
              <a:t> </a:t>
            </a:r>
            <a:r>
              <a:rPr lang="en-US" i="1" dirty="0">
                <a:solidFill>
                  <a:srgbClr val="000000"/>
                </a:solidFill>
                <a:latin typeface="Bookman Old Style" panose="02050604050505020204" pitchFamily="18" charset="0"/>
              </a:rPr>
              <a:t>f</a:t>
            </a:r>
            <a:r>
              <a:rPr lang="en-US" b="1" i="1" dirty="0">
                <a:solidFill>
                  <a:srgbClr val="000000"/>
                </a:solidFill>
                <a:latin typeface="Bookman Old Style" panose="02050604050505020204" pitchFamily="18" charset="0"/>
              </a:rPr>
              <a:t>(x</a:t>
            </a:r>
            <a:r>
              <a:rPr lang="ru-RU" b="1" i="1" baseline="-25000" dirty="0">
                <a:solidFill>
                  <a:srgbClr val="000000"/>
                </a:solidFill>
                <a:latin typeface="Bookman Old Style" panose="02050604050505020204" pitchFamily="18" charset="0"/>
              </a:rPr>
              <a:t>0</a:t>
            </a:r>
            <a:r>
              <a:rPr lang="en-US" b="1" i="1" dirty="0">
                <a:solidFill>
                  <a:srgbClr val="000000"/>
                </a:solidFill>
                <a:latin typeface="Bookman Old Style" panose="02050604050505020204" pitchFamily="18" charset="0"/>
              </a:rPr>
              <a:t>)</a:t>
            </a:r>
            <a:r>
              <a:rPr lang="ru-RU" b="1" i="1" baseline="30000" dirty="0">
                <a:solidFill>
                  <a:srgbClr val="000000"/>
                </a:solidFill>
                <a:latin typeface="Bookman Old Style" panose="02050604050505020204" pitchFamily="18" charset="0"/>
              </a:rPr>
              <a:t>2</a:t>
            </a:r>
            <a:r>
              <a:rPr lang="en-US" b="1" i="1" dirty="0">
                <a:solidFill>
                  <a:srgbClr val="000000"/>
                </a:solidFill>
                <a:latin typeface="Bookman Old Style" panose="02050604050505020204" pitchFamily="18" charset="0"/>
              </a:rPr>
              <a:t> </a:t>
            </a:r>
            <a:r>
              <a:rPr lang="ru-RU" b="1" i="1" dirty="0">
                <a:solidFill>
                  <a:srgbClr val="000000"/>
                </a:solidFill>
                <a:latin typeface="Bookman Old Style" panose="02050604050505020204" pitchFamily="18" charset="0"/>
              </a:rPr>
              <a:t>= </a:t>
            </a:r>
            <a:r>
              <a:rPr lang="en-US" b="1" i="1" dirty="0" err="1">
                <a:solidFill>
                  <a:srgbClr val="000000"/>
                </a:solidFill>
                <a:latin typeface="Bookman Old Style" panose="02050604050505020204" pitchFamily="18" charset="0"/>
              </a:rPr>
              <a:t>Var</a:t>
            </a:r>
            <a:r>
              <a:rPr lang="en-US" b="1" i="1" dirty="0">
                <a:solidFill>
                  <a:srgbClr val="000000"/>
                </a:solidFill>
                <a:latin typeface="Bookman Old Style" panose="02050604050505020204" pitchFamily="18" charset="0"/>
              </a:rPr>
              <a:t>( </a:t>
            </a:r>
            <a:r>
              <a:rPr lang="en-US" i="1" dirty="0">
                <a:solidFill>
                  <a:srgbClr val="000000"/>
                </a:solidFill>
                <a:latin typeface="Bookman Old Style" panose="02050604050505020204" pitchFamily="18" charset="0"/>
              </a:rPr>
              <a:t>f</a:t>
            </a:r>
            <a:r>
              <a:rPr lang="en-US" b="1" i="1" dirty="0">
                <a:solidFill>
                  <a:srgbClr val="000000"/>
                </a:solidFill>
                <a:latin typeface="Bookman Old Style" panose="02050604050505020204" pitchFamily="18" charset="0"/>
              </a:rPr>
              <a:t>(x</a:t>
            </a:r>
            <a:r>
              <a:rPr lang="ru-RU" b="1" i="1" baseline="-25000" dirty="0">
                <a:solidFill>
                  <a:srgbClr val="000000"/>
                </a:solidFill>
                <a:latin typeface="Bookman Old Style" panose="02050604050505020204" pitchFamily="18" charset="0"/>
              </a:rPr>
              <a:t>0</a:t>
            </a:r>
            <a:r>
              <a:rPr lang="en-US" b="1" i="1" dirty="0">
                <a:solidFill>
                  <a:srgbClr val="000000"/>
                </a:solidFill>
                <a:latin typeface="Bookman Old Style" panose="02050604050505020204" pitchFamily="18" charset="0"/>
              </a:rPr>
              <a:t>)) </a:t>
            </a:r>
            <a:r>
              <a:rPr lang="ru-RU" b="1" i="1" dirty="0">
                <a:solidFill>
                  <a:srgbClr val="000000"/>
                </a:solidFill>
                <a:latin typeface="Bookman Old Style" panose="02050604050505020204" pitchFamily="18" charset="0"/>
              </a:rPr>
              <a:t>+ </a:t>
            </a:r>
            <a:r>
              <a:rPr lang="en-US" b="1" i="1" dirty="0">
                <a:solidFill>
                  <a:srgbClr val="000000"/>
                </a:solidFill>
                <a:latin typeface="Bookman Old Style" panose="02050604050505020204" pitchFamily="18" charset="0"/>
              </a:rPr>
              <a:t>[Bias( </a:t>
            </a:r>
            <a:r>
              <a:rPr lang="en-US" i="1" dirty="0">
                <a:solidFill>
                  <a:srgbClr val="000000"/>
                </a:solidFill>
                <a:latin typeface="Bookman Old Style" panose="02050604050505020204" pitchFamily="18" charset="0"/>
              </a:rPr>
              <a:t>f</a:t>
            </a:r>
            <a:r>
              <a:rPr lang="en-US" b="1" i="1" dirty="0">
                <a:solidFill>
                  <a:srgbClr val="000000"/>
                </a:solidFill>
                <a:latin typeface="Bookman Old Style" panose="02050604050505020204" pitchFamily="18" charset="0"/>
              </a:rPr>
              <a:t> (x</a:t>
            </a:r>
            <a:r>
              <a:rPr lang="ru-RU" b="1" i="1" baseline="-25000" dirty="0">
                <a:solidFill>
                  <a:srgbClr val="000000"/>
                </a:solidFill>
                <a:latin typeface="Bookman Old Style" panose="02050604050505020204" pitchFamily="18" charset="0"/>
              </a:rPr>
              <a:t>0</a:t>
            </a:r>
            <a:r>
              <a:rPr lang="en-US" b="1" i="1" dirty="0">
                <a:solidFill>
                  <a:srgbClr val="000000"/>
                </a:solidFill>
                <a:latin typeface="Bookman Old Style" panose="02050604050505020204" pitchFamily="18" charset="0"/>
              </a:rPr>
              <a:t>))]</a:t>
            </a:r>
            <a:r>
              <a:rPr lang="en-US" b="1" i="1" baseline="30000" dirty="0">
                <a:solidFill>
                  <a:srgbClr val="000000"/>
                </a:solidFill>
                <a:latin typeface="Bookman Old Style" panose="02050604050505020204" pitchFamily="18" charset="0"/>
              </a:rPr>
              <a:t>2</a:t>
            </a:r>
            <a:r>
              <a:rPr lang="en-US" b="1" i="1" dirty="0">
                <a:solidFill>
                  <a:srgbClr val="000000"/>
                </a:solidFill>
                <a:latin typeface="Bookman Old Style" panose="02050604050505020204" pitchFamily="18" charset="0"/>
              </a:rPr>
              <a:t> + </a:t>
            </a:r>
            <a:r>
              <a:rPr lang="en-US" b="1" i="1" dirty="0" err="1">
                <a:solidFill>
                  <a:srgbClr val="000000"/>
                </a:solidFill>
                <a:latin typeface="Bookman Old Style" panose="02050604050505020204" pitchFamily="18" charset="0"/>
              </a:rPr>
              <a:t>Var</a:t>
            </a:r>
            <a:r>
              <a:rPr lang="en-US" b="1" i="1" dirty="0">
                <a:solidFill>
                  <a:srgbClr val="000000"/>
                </a:solidFill>
                <a:latin typeface="Bookman Old Style" panose="02050604050505020204" pitchFamily="18" charset="0"/>
              </a:rPr>
              <a:t>(</a:t>
            </a:r>
            <a:r>
              <a:rPr lang="el-GR" b="1" i="1" dirty="0">
                <a:solidFill>
                  <a:srgbClr val="000000"/>
                </a:solidFill>
                <a:latin typeface="Bookman Old Style" panose="02050604050505020204" pitchFamily="18" charset="0"/>
              </a:rPr>
              <a:t>ε</a:t>
            </a:r>
            <a:r>
              <a:rPr lang="en-US" b="1" i="1" dirty="0">
                <a:solidFill>
                  <a:srgbClr val="000000"/>
                </a:solidFill>
                <a:latin typeface="Bookman Old Style" panose="02050604050505020204" pitchFamily="18" charset="0"/>
              </a:rPr>
              <a:t>).             </a:t>
            </a:r>
            <a:r>
              <a:rPr lang="en-US" dirty="0">
                <a:solidFill>
                  <a:srgbClr val="000000"/>
                </a:solidFill>
                <a:latin typeface="Bookman Old Style" panose="02050604050505020204" pitchFamily="18" charset="0"/>
              </a:rPr>
              <a:t>(7)</a:t>
            </a:r>
            <a:endParaRPr lang="ru-RU" dirty="0">
              <a:solidFill>
                <a:srgbClr val="000000"/>
              </a:solidFill>
              <a:latin typeface="Bookman Old Style" panose="02050604050505020204" pitchFamily="18" charset="0"/>
            </a:endParaRPr>
          </a:p>
          <a:p>
            <a:pPr indent="449267"/>
            <a:endParaRPr lang="ru-RU" dirty="0">
              <a:solidFill>
                <a:srgbClr val="000000"/>
              </a:solidFill>
              <a:latin typeface="Bookman Old Style" panose="02050604050505020204" pitchFamily="18" charset="0"/>
            </a:endParaRPr>
          </a:p>
          <a:p>
            <a:pPr indent="449267"/>
            <a:r>
              <a:rPr lang="ru-RU" sz="2200" dirty="0">
                <a:solidFill>
                  <a:srgbClr val="000000"/>
                </a:solidFill>
                <a:latin typeface="Bookman Old Style" panose="02050604050505020204" pitchFamily="18" charset="0"/>
              </a:rPr>
              <a:t>Здесь </a:t>
            </a:r>
            <a:r>
              <a:rPr lang="en-US" sz="2200" b="1" i="1" dirty="0">
                <a:solidFill>
                  <a:srgbClr val="000000"/>
                </a:solidFill>
                <a:latin typeface="Bookman Old Style" panose="02050604050505020204" pitchFamily="18" charset="0"/>
              </a:rPr>
              <a:t>E</a:t>
            </a:r>
            <a:r>
              <a:rPr lang="ru-RU" sz="2200" b="1" i="1" dirty="0">
                <a:solidFill>
                  <a:srgbClr val="000000"/>
                </a:solidFill>
                <a:latin typeface="Bookman Old Style" panose="02050604050505020204" pitchFamily="18" charset="0"/>
              </a:rPr>
              <a:t>(у</a:t>
            </a:r>
            <a:r>
              <a:rPr lang="ru-RU" sz="2200" b="1" i="1" baseline="-25000" dirty="0">
                <a:solidFill>
                  <a:srgbClr val="000000"/>
                </a:solidFill>
                <a:latin typeface="Bookman Old Style" panose="02050604050505020204" pitchFamily="18" charset="0"/>
              </a:rPr>
              <a:t>0</a:t>
            </a:r>
            <a:r>
              <a:rPr lang="ru-RU" sz="2200" b="1" i="1" dirty="0">
                <a:solidFill>
                  <a:srgbClr val="000000"/>
                </a:solidFill>
                <a:latin typeface="Bookman Old Style" panose="02050604050505020204" pitchFamily="18" charset="0"/>
              </a:rPr>
              <a:t> </a:t>
            </a:r>
            <a:r>
              <a:rPr lang="en-US" sz="2200" b="1" i="1" dirty="0">
                <a:solidFill>
                  <a:srgbClr val="000000"/>
                </a:solidFill>
                <a:latin typeface="Bookman Old Style" panose="02050604050505020204" pitchFamily="18" charset="0"/>
              </a:rPr>
              <a:t>-</a:t>
            </a:r>
            <a:r>
              <a:rPr lang="ru-RU" sz="2200" b="1" i="1" dirty="0">
                <a:solidFill>
                  <a:srgbClr val="000000"/>
                </a:solidFill>
                <a:latin typeface="Bookman Old Style" panose="02050604050505020204" pitchFamily="18" charset="0"/>
              </a:rPr>
              <a:t> </a:t>
            </a:r>
            <a:r>
              <a:rPr lang="en-US" sz="2200" i="1" dirty="0">
                <a:solidFill>
                  <a:srgbClr val="000000"/>
                </a:solidFill>
                <a:latin typeface="Bookman Old Style" panose="02050604050505020204" pitchFamily="18" charset="0"/>
              </a:rPr>
              <a:t>f</a:t>
            </a:r>
            <a:r>
              <a:rPr lang="ru-RU" sz="2200" b="1" i="1" dirty="0">
                <a:solidFill>
                  <a:srgbClr val="000000"/>
                </a:solidFill>
                <a:latin typeface="Bookman Old Style" panose="02050604050505020204" pitchFamily="18" charset="0"/>
              </a:rPr>
              <a:t> </a:t>
            </a:r>
            <a:r>
              <a:rPr lang="en-US" sz="2200" b="1" i="1" dirty="0">
                <a:solidFill>
                  <a:srgbClr val="000000"/>
                </a:solidFill>
                <a:latin typeface="Bookman Old Style" panose="02050604050505020204" pitchFamily="18" charset="0"/>
              </a:rPr>
              <a:t>(x</a:t>
            </a:r>
            <a:r>
              <a:rPr lang="ru-RU" sz="2200" b="1" i="1" baseline="-25000" dirty="0">
                <a:solidFill>
                  <a:srgbClr val="000000"/>
                </a:solidFill>
                <a:latin typeface="Bookman Old Style" panose="02050604050505020204" pitchFamily="18" charset="0"/>
              </a:rPr>
              <a:t>0</a:t>
            </a:r>
            <a:r>
              <a:rPr lang="en-US" sz="2200" b="1" i="1" dirty="0">
                <a:solidFill>
                  <a:srgbClr val="000000"/>
                </a:solidFill>
                <a:latin typeface="Bookman Old Style" panose="02050604050505020204" pitchFamily="18" charset="0"/>
              </a:rPr>
              <a:t> )</a:t>
            </a:r>
            <a:r>
              <a:rPr lang="ru-RU" sz="2200" b="1" i="1" baseline="30000" dirty="0">
                <a:solidFill>
                  <a:srgbClr val="000000"/>
                </a:solidFill>
                <a:latin typeface="Bookman Old Style" panose="02050604050505020204" pitchFamily="18" charset="0"/>
              </a:rPr>
              <a:t>2</a:t>
            </a:r>
            <a:r>
              <a:rPr lang="en-US" sz="2200" b="1" i="1" dirty="0">
                <a:solidFill>
                  <a:srgbClr val="000000"/>
                </a:solidFill>
                <a:latin typeface="Bookman Old Style" panose="02050604050505020204" pitchFamily="18" charset="0"/>
              </a:rPr>
              <a:t> </a:t>
            </a:r>
            <a:r>
              <a:rPr lang="ru-RU" sz="2200" dirty="0">
                <a:solidFill>
                  <a:srgbClr val="000000"/>
                </a:solidFill>
                <a:latin typeface="Bookman Old Style" panose="02050604050505020204" pitchFamily="18" charset="0"/>
              </a:rPr>
              <a:t>обозначает математическое ожидание ошибки на контрольной выборке и представляет собой среднее значение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которое мы получили бы при многократном повторном оценивании </a:t>
            </a:r>
            <a:r>
              <a:rPr lang="en-US" sz="2200" i="1" dirty="0">
                <a:solidFill>
                  <a:srgbClr val="000000"/>
                </a:solidFill>
                <a:latin typeface="Bookman Old Style" panose="02050604050505020204" pitchFamily="18" charset="0"/>
              </a:rPr>
              <a:t>f </a:t>
            </a:r>
            <a:r>
              <a:rPr lang="ru-RU" sz="2200" dirty="0">
                <a:solidFill>
                  <a:srgbClr val="000000"/>
                </a:solidFill>
                <a:latin typeface="Bookman Old Style" panose="02050604050505020204" pitchFamily="18" charset="0"/>
              </a:rPr>
              <a:t>на основе большого числа обучающих выборок и вычислении ошибки для каждого контрольного значения </a:t>
            </a:r>
            <a:r>
              <a:rPr lang="en-US" sz="2200" i="1" dirty="0">
                <a:solidFill>
                  <a:srgbClr val="000000"/>
                </a:solidFill>
                <a:latin typeface="Bookman Old Style" panose="02050604050505020204" pitchFamily="18" charset="0"/>
              </a:rPr>
              <a:t>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 </a:t>
            </a:r>
            <a:r>
              <a:rPr lang="en-US" sz="2200" dirty="0">
                <a:solidFill>
                  <a:srgbClr val="000000"/>
                </a:solidFill>
                <a:latin typeface="Bookman Old Style" panose="02050604050505020204" pitchFamily="18" charset="0"/>
              </a:rPr>
              <a:t>.</a:t>
            </a:r>
            <a:r>
              <a:rPr lang="ru-RU" sz="2200" dirty="0">
                <a:solidFill>
                  <a:srgbClr val="000000"/>
                </a:solidFill>
                <a:latin typeface="Bookman Old Style" panose="02050604050505020204" pitchFamily="18" charset="0"/>
              </a:rPr>
              <a:t> Общую ожидаемую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контрольной выборке можно вычислить путем усреднения </a:t>
            </a:r>
            <a:r>
              <a:rPr lang="en-US" sz="2200" i="1" dirty="0">
                <a:solidFill>
                  <a:srgbClr val="000000"/>
                </a:solidFill>
                <a:latin typeface="Bookman Old Style" panose="02050604050505020204" pitchFamily="18" charset="0"/>
              </a:rPr>
              <a:t>E</a:t>
            </a:r>
            <a:r>
              <a:rPr lang="ru-RU" sz="2200" i="1" dirty="0">
                <a:solidFill>
                  <a:srgbClr val="000000"/>
                </a:solidFill>
                <a:latin typeface="Bookman Old Style" panose="02050604050505020204" pitchFamily="18" charset="0"/>
              </a:rPr>
              <a:t>(у</a:t>
            </a:r>
            <a:r>
              <a:rPr lang="ru-RU" sz="2200" i="1" baseline="-25000" dirty="0">
                <a:solidFill>
                  <a:srgbClr val="000000"/>
                </a:solidFill>
                <a:latin typeface="Bookman Old Style" panose="02050604050505020204" pitchFamily="18" charset="0"/>
              </a:rPr>
              <a:t>0</a:t>
            </a:r>
            <a:r>
              <a:rPr lang="ru-RU" sz="2200" i="1" dirty="0">
                <a:solidFill>
                  <a:srgbClr val="000000"/>
                </a:solidFill>
                <a:latin typeface="Bookman Old Style" panose="02050604050505020204" pitchFamily="18" charset="0"/>
              </a:rPr>
              <a:t> - </a:t>
            </a:r>
            <a:r>
              <a:rPr lang="en-US" sz="2200" i="1" dirty="0">
                <a:solidFill>
                  <a:srgbClr val="000000"/>
                </a:solidFill>
                <a:latin typeface="Bookman Old Style" panose="02050604050505020204" pitchFamily="18" charset="0"/>
              </a:rPr>
              <a:t>f(x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 </a:t>
            </a:r>
            <a:r>
              <a:rPr lang="ru-RU" sz="2200" i="1" dirty="0">
                <a:solidFill>
                  <a:srgbClr val="000000"/>
                </a:solidFill>
                <a:latin typeface="Bookman Old Style" panose="02050604050505020204" pitchFamily="18" charset="0"/>
              </a:rPr>
              <a:t>)</a:t>
            </a:r>
            <a:r>
              <a:rPr lang="en-US" sz="2200" i="1" dirty="0">
                <a:solidFill>
                  <a:srgbClr val="000000"/>
                </a:solidFill>
                <a:latin typeface="Bookman Old Style" panose="02050604050505020204" pitchFamily="18" charset="0"/>
              </a:rPr>
              <a:t>)</a:t>
            </a:r>
            <a:r>
              <a:rPr lang="ru-RU" sz="2200" i="1" baseline="30000" dirty="0">
                <a:solidFill>
                  <a:srgbClr val="000000"/>
                </a:solidFill>
                <a:latin typeface="Bookman Old Style" panose="02050604050505020204" pitchFamily="18" charset="0"/>
              </a:rPr>
              <a:t>2</a:t>
            </a:r>
            <a:r>
              <a:rPr lang="ru-RU" sz="2200" dirty="0">
                <a:solidFill>
                  <a:srgbClr val="000000"/>
                </a:solidFill>
                <a:latin typeface="Bookman Old Style" panose="02050604050505020204" pitchFamily="18" charset="0"/>
              </a:rPr>
              <a:t> для всех возможных проверочных значений </a:t>
            </a:r>
            <a:r>
              <a:rPr lang="en-US" sz="2200" i="1" dirty="0">
                <a:solidFill>
                  <a:srgbClr val="000000"/>
                </a:solidFill>
                <a:latin typeface="Bookman Old Style" panose="02050604050505020204" pitchFamily="18" charset="0"/>
              </a:rPr>
              <a:t>x</a:t>
            </a:r>
            <a:r>
              <a:rPr lang="ru-RU" sz="2200" i="1" baseline="-25000" dirty="0">
                <a:solidFill>
                  <a:srgbClr val="000000"/>
                </a:solidFill>
                <a:latin typeface="Bookman Old Style" panose="02050604050505020204" pitchFamily="18" charset="0"/>
              </a:rPr>
              <a:t>0</a:t>
            </a:r>
            <a:r>
              <a:rPr lang="en-US" sz="2200" i="1" dirty="0">
                <a:solidFill>
                  <a:srgbClr val="000000"/>
                </a:solidFill>
                <a:latin typeface="Bookman Old Style" panose="02050604050505020204" pitchFamily="18" charset="0"/>
              </a:rPr>
              <a:t>.</a:t>
            </a:r>
            <a:endParaRPr lang="ru-RU" sz="2200" dirty="0">
              <a:solidFill>
                <a:srgbClr val="000000"/>
              </a:solidFill>
              <a:latin typeface="Bookman Old Style" panose="02050604050505020204" pitchFamily="18" charset="0"/>
            </a:endParaRPr>
          </a:p>
        </p:txBody>
      </p:sp>
      <p:sp>
        <p:nvSpPr>
          <p:cNvPr id="17" name="Полилиния 16"/>
          <p:cNvSpPr/>
          <p:nvPr/>
        </p:nvSpPr>
        <p:spPr bwMode="auto">
          <a:xfrm>
            <a:off x="2229669" y="3203104"/>
            <a:ext cx="123100"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8" name="Полилиния 17"/>
          <p:cNvSpPr/>
          <p:nvPr/>
        </p:nvSpPr>
        <p:spPr bwMode="auto">
          <a:xfrm>
            <a:off x="3885853" y="3865496"/>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9" name="Полилиния 18"/>
          <p:cNvSpPr/>
          <p:nvPr/>
        </p:nvSpPr>
        <p:spPr bwMode="auto">
          <a:xfrm>
            <a:off x="5455654" y="3851176"/>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20" name="Полилиния 19"/>
          <p:cNvSpPr/>
          <p:nvPr/>
        </p:nvSpPr>
        <p:spPr bwMode="auto">
          <a:xfrm>
            <a:off x="7158320" y="3851176"/>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21" name="Полилиния 20"/>
          <p:cNvSpPr/>
          <p:nvPr/>
        </p:nvSpPr>
        <p:spPr bwMode="auto">
          <a:xfrm>
            <a:off x="2949749" y="4443264"/>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22" name="Полилиния 21"/>
          <p:cNvSpPr/>
          <p:nvPr/>
        </p:nvSpPr>
        <p:spPr bwMode="auto">
          <a:xfrm>
            <a:off x="4205992" y="6155432"/>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23" name="Полилиния 22"/>
          <p:cNvSpPr/>
          <p:nvPr/>
        </p:nvSpPr>
        <p:spPr bwMode="auto">
          <a:xfrm>
            <a:off x="10006533" y="2859088"/>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6" name="Номер слайда 2">
            <a:extLst>
              <a:ext uri="{FF2B5EF4-FFF2-40B4-BE49-F238E27FC236}">
                <a16:creationId xmlns:a16="http://schemas.microsoft.com/office/drawing/2014/main" id="{42178D1C-D58B-48ED-B438-A6284BB4274E}"/>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75</a:t>
            </a:fld>
            <a:endParaRPr lang="ru-RU" dirty="0">
              <a:solidFill>
                <a:schemeClr val="tx1"/>
              </a:solidFill>
            </a:endParaRPr>
          </a:p>
        </p:txBody>
      </p:sp>
      <p:sp>
        <p:nvSpPr>
          <p:cNvPr id="24" name="Text Box 5">
            <a:extLst>
              <a:ext uri="{FF2B5EF4-FFF2-40B4-BE49-F238E27FC236}">
                <a16:creationId xmlns:a16="http://schemas.microsoft.com/office/drawing/2014/main" id="{A058FF96-5C42-4E9D-A037-7D62A8D7801C}"/>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744751264"/>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1" y="178768"/>
            <a:ext cx="11677377"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sp>
        <p:nvSpPr>
          <p:cNvPr id="2" name="Прямоугольник 1"/>
          <p:cNvSpPr/>
          <p:nvPr/>
        </p:nvSpPr>
        <p:spPr>
          <a:xfrm>
            <a:off x="633411" y="1618929"/>
            <a:ext cx="11677376" cy="2354491"/>
          </a:xfrm>
          <a:prstGeom prst="rect">
            <a:avLst/>
          </a:prstGeom>
        </p:spPr>
        <p:txBody>
          <a:bodyPr wrap="square">
            <a:spAutoFit/>
          </a:bodyPr>
          <a:lstStyle/>
          <a:p>
            <a:pPr indent="449267"/>
            <a:r>
              <a:rPr lang="ru-RU" sz="2100" dirty="0">
                <a:solidFill>
                  <a:srgbClr val="000000"/>
                </a:solidFill>
                <a:latin typeface="Bookman Old Style" panose="02050604050505020204" pitchFamily="18" charset="0"/>
              </a:rPr>
              <a:t>Уравнение (7) говорит нам о том, что для минимизации ожидаемой ошибки на проверочных данных мы должны выбрать такой метод статистического обучения, который одновременно обеспечивает низкую дисперсию и низкое смещение. </a:t>
            </a:r>
          </a:p>
          <a:p>
            <a:pPr indent="449267"/>
            <a:r>
              <a:rPr lang="ru-RU" sz="2100" dirty="0">
                <a:solidFill>
                  <a:srgbClr val="000000"/>
                </a:solidFill>
                <a:latin typeface="Bookman Old Style" panose="02050604050505020204" pitchFamily="18" charset="0"/>
              </a:rPr>
              <a:t>Заметим, что дисперсия по определению является положительной величиной, равно как и квадрат смещения. В итоге мы видим, что математическое ожидание </a:t>
            </a:r>
            <a:r>
              <a:rPr lang="en-US" sz="2100" dirty="0">
                <a:solidFill>
                  <a:srgbClr val="000000"/>
                </a:solidFill>
                <a:latin typeface="Bookman Old Style" panose="02050604050505020204" pitchFamily="18" charset="0"/>
              </a:rPr>
              <a:t>MSE </a:t>
            </a:r>
            <a:r>
              <a:rPr lang="ru-RU" sz="2100" dirty="0">
                <a:solidFill>
                  <a:srgbClr val="000000"/>
                </a:solidFill>
                <a:latin typeface="Bookman Old Style" panose="02050604050505020204" pitchFamily="18" charset="0"/>
              </a:rPr>
              <a:t>на контрольной выборке никогда не может быть ниже неустранимой ошибки </a:t>
            </a:r>
            <a:r>
              <a:rPr lang="en-US" sz="2100" i="1" dirty="0" err="1">
                <a:solidFill>
                  <a:srgbClr val="000000"/>
                </a:solidFill>
                <a:latin typeface="Bookman Old Style" panose="02050604050505020204" pitchFamily="18" charset="0"/>
              </a:rPr>
              <a:t>Var</a:t>
            </a:r>
            <a:r>
              <a:rPr lang="en-US" sz="2100" i="1" dirty="0">
                <a:solidFill>
                  <a:srgbClr val="000000"/>
                </a:solidFill>
                <a:latin typeface="Bookman Old Style" panose="02050604050505020204" pitchFamily="18" charset="0"/>
              </a:rPr>
              <a:t>(</a:t>
            </a:r>
            <a:r>
              <a:rPr lang="el-GR" sz="2100" i="1" dirty="0">
                <a:solidFill>
                  <a:srgbClr val="000000"/>
                </a:solidFill>
                <a:latin typeface="Bookman Old Style" panose="02050604050505020204" pitchFamily="18" charset="0"/>
              </a:rPr>
              <a:t>ε</a:t>
            </a:r>
            <a:r>
              <a:rPr lang="en-US" sz="2100" i="1" dirty="0">
                <a:solidFill>
                  <a:srgbClr val="000000"/>
                </a:solidFill>
                <a:latin typeface="Bookman Old Style" panose="02050604050505020204" pitchFamily="18" charset="0"/>
              </a:rPr>
              <a:t>)</a:t>
            </a:r>
            <a:r>
              <a:rPr lang="ru-RU" sz="2100" dirty="0">
                <a:solidFill>
                  <a:srgbClr val="000000"/>
                </a:solidFill>
                <a:latin typeface="Bookman Old Style" panose="02050604050505020204" pitchFamily="18" charset="0"/>
              </a:rPr>
              <a:t>.</a:t>
            </a:r>
          </a:p>
        </p:txBody>
      </p:sp>
      <p:sp>
        <p:nvSpPr>
          <p:cNvPr id="3" name="Прямоугольник 2"/>
          <p:cNvSpPr/>
          <p:nvPr/>
        </p:nvSpPr>
        <p:spPr>
          <a:xfrm>
            <a:off x="549443" y="4184558"/>
            <a:ext cx="11761344" cy="2677656"/>
          </a:xfrm>
          <a:prstGeom prst="rect">
            <a:avLst/>
          </a:prstGeom>
        </p:spPr>
        <p:txBody>
          <a:bodyPr wrap="square">
            <a:spAutoFit/>
          </a:bodyPr>
          <a:lstStyle/>
          <a:p>
            <a:pPr indent="449267"/>
            <a:r>
              <a:rPr lang="ru-RU" sz="2100" i="1" dirty="0">
                <a:solidFill>
                  <a:srgbClr val="000000"/>
                </a:solidFill>
                <a:latin typeface="Bookman Old Style" panose="02050604050505020204" pitchFamily="18" charset="0"/>
              </a:rPr>
              <a:t>Дисперсия</a:t>
            </a:r>
            <a:r>
              <a:rPr lang="ru-RU" sz="2100" dirty="0">
                <a:solidFill>
                  <a:srgbClr val="000000"/>
                </a:solidFill>
                <a:latin typeface="Bookman Old Style" panose="02050604050505020204" pitchFamily="18" charset="0"/>
              </a:rPr>
              <a:t> означает величину, на которую </a:t>
            </a:r>
            <a:r>
              <a:rPr lang="en-US" sz="2100" i="1" dirty="0">
                <a:solidFill>
                  <a:srgbClr val="000000"/>
                </a:solidFill>
                <a:latin typeface="Bookman Old Style" panose="02050604050505020204" pitchFamily="18" charset="0"/>
              </a:rPr>
              <a:t>f </a:t>
            </a:r>
            <a:r>
              <a:rPr lang="ru-RU" sz="2100" dirty="0">
                <a:solidFill>
                  <a:srgbClr val="000000"/>
                </a:solidFill>
                <a:latin typeface="Bookman Old Style" panose="02050604050505020204" pitchFamily="18" charset="0"/>
              </a:rPr>
              <a:t>изменилась бы при оценивании этой функции с использованием другой обучающей выборки. Поскольку для подгонки модели используются обучающие данные, то разные обучающие выборки будут приводить к разным </a:t>
            </a:r>
            <a:r>
              <a:rPr lang="en-US" sz="2100" i="1" dirty="0">
                <a:solidFill>
                  <a:srgbClr val="000000"/>
                </a:solidFill>
                <a:latin typeface="Bookman Old Style" panose="02050604050505020204" pitchFamily="18" charset="0"/>
              </a:rPr>
              <a:t>f </a:t>
            </a:r>
            <a:r>
              <a:rPr lang="ru-RU" sz="2100" dirty="0">
                <a:solidFill>
                  <a:srgbClr val="000000"/>
                </a:solidFill>
                <a:latin typeface="Bookman Old Style" panose="02050604050505020204" pitchFamily="18" charset="0"/>
              </a:rPr>
              <a:t>. В идеале оценки  </a:t>
            </a:r>
            <a:r>
              <a:rPr lang="en-US" sz="2100"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полученные на разных выборках, должны варьировать незначительно. Однако если некоторый метод обладает высокой дисперсией, то небольшие изменения в обучающих данных могут привести к большим изменениям в  </a:t>
            </a:r>
            <a:r>
              <a:rPr lang="en-US" sz="2100" i="1" dirty="0">
                <a:solidFill>
                  <a:srgbClr val="000000"/>
                </a:solidFill>
                <a:latin typeface="Bookman Old Style" panose="02050604050505020204" pitchFamily="18" charset="0"/>
              </a:rPr>
              <a:t>f</a:t>
            </a:r>
            <a:r>
              <a:rPr lang="ru-RU" sz="2100" dirty="0">
                <a:solidFill>
                  <a:srgbClr val="000000"/>
                </a:solidFill>
                <a:latin typeface="Bookman Old Style" panose="02050604050505020204" pitchFamily="18" charset="0"/>
              </a:rPr>
              <a:t>. В целом </a:t>
            </a:r>
            <a:r>
              <a:rPr lang="ru-RU" sz="2100" b="1" i="1" dirty="0">
                <a:solidFill>
                  <a:srgbClr val="000000"/>
                </a:solidFill>
                <a:latin typeface="Bookman Old Style" panose="02050604050505020204" pitchFamily="18" charset="0"/>
              </a:rPr>
              <a:t>более гибкие статистические методы имеют более высокую дисперсию. </a:t>
            </a:r>
          </a:p>
        </p:txBody>
      </p:sp>
      <p:sp>
        <p:nvSpPr>
          <p:cNvPr id="11" name="Полилиния 10"/>
          <p:cNvSpPr/>
          <p:nvPr/>
        </p:nvSpPr>
        <p:spPr bwMode="auto">
          <a:xfrm>
            <a:off x="6982197" y="4177308"/>
            <a:ext cx="123100"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4" name="Полилиния 13"/>
          <p:cNvSpPr/>
          <p:nvPr/>
        </p:nvSpPr>
        <p:spPr bwMode="auto">
          <a:xfrm>
            <a:off x="3597821" y="5163344"/>
            <a:ext cx="111909"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7" name="Полилиния 16"/>
          <p:cNvSpPr/>
          <p:nvPr/>
        </p:nvSpPr>
        <p:spPr bwMode="auto">
          <a:xfrm>
            <a:off x="4317901" y="6099448"/>
            <a:ext cx="101735" cy="55984"/>
          </a:xfrm>
          <a:custGeom>
            <a:avLst/>
            <a:gdLst>
              <a:gd name="connsiteX0" fmla="*/ 0 w 190500"/>
              <a:gd name="connsiteY0" fmla="*/ 61927 h 66689"/>
              <a:gd name="connsiteX1" fmla="*/ 104775 w 190500"/>
              <a:gd name="connsiteY1" fmla="*/ 14 h 66689"/>
              <a:gd name="connsiteX2" fmla="*/ 190500 w 190500"/>
              <a:gd name="connsiteY2" fmla="*/ 66689 h 66689"/>
            </a:gdLst>
            <a:ahLst/>
            <a:cxnLst>
              <a:cxn ang="0">
                <a:pos x="connsiteX0" y="connsiteY0"/>
              </a:cxn>
              <a:cxn ang="0">
                <a:pos x="connsiteX1" y="connsiteY1"/>
              </a:cxn>
              <a:cxn ang="0">
                <a:pos x="connsiteX2" y="connsiteY2"/>
              </a:cxn>
            </a:cxnLst>
            <a:rect l="l" t="t" r="r" b="b"/>
            <a:pathLst>
              <a:path w="190500" h="66689">
                <a:moveTo>
                  <a:pt x="0" y="61927"/>
                </a:moveTo>
                <a:cubicBezTo>
                  <a:pt x="36512" y="30573"/>
                  <a:pt x="73025" y="-780"/>
                  <a:pt x="104775" y="14"/>
                </a:cubicBezTo>
                <a:cubicBezTo>
                  <a:pt x="136525" y="808"/>
                  <a:pt x="163512" y="33748"/>
                  <a:pt x="190500" y="66689"/>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83"/>
            <a:endParaRPr lang="ru-RU"/>
          </a:p>
        </p:txBody>
      </p:sp>
      <p:sp>
        <p:nvSpPr>
          <p:cNvPr id="12" name="Номер слайда 2">
            <a:extLst>
              <a:ext uri="{FF2B5EF4-FFF2-40B4-BE49-F238E27FC236}">
                <a16:creationId xmlns:a16="http://schemas.microsoft.com/office/drawing/2014/main" id="{ECFC547C-EC10-48D8-A74F-8DEBC6B7F0EB}"/>
              </a:ext>
            </a:extLst>
          </p:cNvPr>
          <p:cNvSpPr>
            <a:spLocks noGrp="1"/>
          </p:cNvSpPr>
          <p:nvPr>
            <p:ph type="sldNum" sz="quarter" idx="12"/>
          </p:nvPr>
        </p:nvSpPr>
        <p:spPr>
          <a:xfrm>
            <a:off x="11086653" y="6659488"/>
            <a:ext cx="948186" cy="324938"/>
          </a:xfrm>
        </p:spPr>
        <p:txBody>
          <a:bodyPr/>
          <a:lstStyle/>
          <a:p>
            <a:fld id="{952B6C0E-C4B9-4094-8E59-5B7DF00D5415}" type="slidenum">
              <a:rPr lang="ru-RU" smtClean="0">
                <a:solidFill>
                  <a:schemeClr val="tx1"/>
                </a:solidFill>
              </a:rPr>
              <a:t>76</a:t>
            </a:fld>
            <a:endParaRPr lang="ru-RU" dirty="0">
              <a:solidFill>
                <a:schemeClr val="tx1"/>
              </a:solidFill>
            </a:endParaRPr>
          </a:p>
        </p:txBody>
      </p:sp>
      <p:sp>
        <p:nvSpPr>
          <p:cNvPr id="13" name="Text Box 5">
            <a:extLst>
              <a:ext uri="{FF2B5EF4-FFF2-40B4-BE49-F238E27FC236}">
                <a16:creationId xmlns:a16="http://schemas.microsoft.com/office/drawing/2014/main" id="{6762E9C4-8410-49B1-868D-EFF57D7E1221}"/>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80592645"/>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13445" y="204095"/>
            <a:ext cx="12097343"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sp>
        <p:nvSpPr>
          <p:cNvPr id="3" name="Прямоугольник 2"/>
          <p:cNvSpPr/>
          <p:nvPr/>
        </p:nvSpPr>
        <p:spPr>
          <a:xfrm>
            <a:off x="747463" y="1618930"/>
            <a:ext cx="11287375" cy="3477875"/>
          </a:xfrm>
          <a:prstGeom prst="rect">
            <a:avLst/>
          </a:prstGeom>
        </p:spPr>
        <p:txBody>
          <a:bodyPr wrap="square">
            <a:spAutoFit/>
          </a:bodyPr>
          <a:lstStyle/>
          <a:p>
            <a:pPr indent="449267"/>
            <a:r>
              <a:rPr lang="ru-RU" sz="2200" i="1" dirty="0">
                <a:solidFill>
                  <a:srgbClr val="000000"/>
                </a:solidFill>
                <a:latin typeface="Bookman Old Style" panose="02050604050505020204" pitchFamily="18" charset="0"/>
              </a:rPr>
              <a:t>Смещение </a:t>
            </a:r>
            <a:r>
              <a:rPr lang="ru-RU" sz="2200" dirty="0">
                <a:solidFill>
                  <a:srgbClr val="000000"/>
                </a:solidFill>
                <a:latin typeface="Bookman Old Style" panose="02050604050505020204" pitchFamily="18" charset="0"/>
              </a:rPr>
              <a:t>означает ошибку, вводимую за счет аппроксимирования проблемы из реального мира, которая может оказаться чрезвычайно сложной, при помощи гораздо более простого метода. Например, линейная регрессия предполагает, что между </a:t>
            </a:r>
            <a:r>
              <a:rPr lang="en-US" sz="2200" dirty="0">
                <a:solidFill>
                  <a:srgbClr val="000000"/>
                </a:solidFill>
                <a:latin typeface="Bookman Old Style" panose="02050604050505020204" pitchFamily="18" charset="0"/>
              </a:rPr>
              <a:t>Y </a:t>
            </a:r>
            <a:r>
              <a:rPr lang="ru-RU" sz="2200" dirty="0">
                <a:solidFill>
                  <a:srgbClr val="000000"/>
                </a:solidFill>
                <a:latin typeface="Bookman Old Style" panose="02050604050505020204" pitchFamily="18" charset="0"/>
              </a:rPr>
              <a:t>и Х</a:t>
            </a:r>
            <a:r>
              <a:rPr lang="ru-RU" sz="2200" baseline="-25000" dirty="0">
                <a:solidFill>
                  <a:srgbClr val="000000"/>
                </a:solidFill>
                <a:latin typeface="Bookman Old Style" panose="02050604050505020204" pitchFamily="18" charset="0"/>
              </a:rPr>
              <a:t>1</a:t>
            </a:r>
            <a:r>
              <a:rPr lang="ru-RU" sz="2200" dirty="0">
                <a:solidFill>
                  <a:srgbClr val="000000"/>
                </a:solidFill>
                <a:latin typeface="Bookman Old Style" panose="02050604050505020204" pitchFamily="18" charset="0"/>
              </a:rPr>
              <a:t>, Х</a:t>
            </a:r>
            <a:r>
              <a:rPr lang="ru-RU" sz="2200" baseline="-25000" dirty="0">
                <a:solidFill>
                  <a:srgbClr val="000000"/>
                </a:solidFill>
                <a:latin typeface="Bookman Old Style" panose="02050604050505020204" pitchFamily="18" charset="0"/>
              </a:rPr>
              <a:t>2</a:t>
            </a:r>
            <a:r>
              <a:rPr lang="ru-RU" sz="2200" dirty="0">
                <a:solidFill>
                  <a:srgbClr val="000000"/>
                </a:solidFill>
                <a:latin typeface="Bookman Old Style" panose="02050604050505020204" pitchFamily="18" charset="0"/>
              </a:rPr>
              <a:t>,... ,Х</a:t>
            </a:r>
            <a:r>
              <a:rPr lang="ru-RU" sz="2200" baseline="-25000" dirty="0">
                <a:solidFill>
                  <a:srgbClr val="000000"/>
                </a:solidFill>
                <a:latin typeface="Bookman Old Style" panose="02050604050505020204" pitchFamily="18" charset="0"/>
              </a:rPr>
              <a:t>Р</a:t>
            </a:r>
            <a:r>
              <a:rPr lang="ru-RU" sz="2200" dirty="0">
                <a:solidFill>
                  <a:srgbClr val="000000"/>
                </a:solidFill>
                <a:latin typeface="Bookman Old Style" panose="02050604050505020204" pitchFamily="18" charset="0"/>
              </a:rPr>
              <a:t> имеется линейная зависимость. </a:t>
            </a:r>
          </a:p>
          <a:p>
            <a:pPr indent="449267"/>
            <a:r>
              <a:rPr lang="ru-RU" sz="2200" dirty="0">
                <a:solidFill>
                  <a:srgbClr val="000000"/>
                </a:solidFill>
                <a:latin typeface="Bookman Old Style" panose="02050604050505020204" pitchFamily="18" charset="0"/>
              </a:rPr>
              <a:t>Маловероятно, что какая-либо проблема из реального мира действительно описывается такой простой зависимостью, в связи с чем применение линейной регрессии несомненно приведет к определенному смещению оценки </a:t>
            </a:r>
            <a:r>
              <a:rPr lang="en-US" sz="2200" i="1" dirty="0">
                <a:solidFill>
                  <a:srgbClr val="000000"/>
                </a:solidFill>
                <a:latin typeface="Bookman Old Style" panose="02050604050505020204" pitchFamily="18" charset="0"/>
              </a:rPr>
              <a:t>f</a:t>
            </a:r>
            <a:r>
              <a:rPr lang="ru-RU" sz="2200" dirty="0">
                <a:solidFill>
                  <a:srgbClr val="000000"/>
                </a:solidFill>
                <a:latin typeface="Bookman Old Style" panose="02050604050505020204" pitchFamily="18" charset="0"/>
              </a:rPr>
              <a:t>. </a:t>
            </a:r>
          </a:p>
          <a:p>
            <a:pPr indent="449267"/>
            <a:r>
              <a:rPr lang="ru-RU" sz="2200" b="1" i="1" dirty="0">
                <a:solidFill>
                  <a:srgbClr val="000000"/>
                </a:solidFill>
                <a:latin typeface="Bookman Old Style" panose="02050604050505020204" pitchFamily="18" charset="0"/>
              </a:rPr>
              <a:t>В целом более гибкие методы вызывают меньшее смещение.</a:t>
            </a:r>
          </a:p>
        </p:txBody>
      </p:sp>
      <p:sp>
        <p:nvSpPr>
          <p:cNvPr id="2" name="Прямоугольник 1"/>
          <p:cNvSpPr/>
          <p:nvPr/>
        </p:nvSpPr>
        <p:spPr>
          <a:xfrm>
            <a:off x="633412" y="5189191"/>
            <a:ext cx="11677376" cy="1446550"/>
          </a:xfrm>
          <a:prstGeom prst="rect">
            <a:avLst/>
          </a:prstGeom>
        </p:spPr>
        <p:txBody>
          <a:bodyPr wrap="square">
            <a:spAutoFit/>
          </a:bodyPr>
          <a:lstStyle/>
          <a:p>
            <a:pPr indent="536579"/>
            <a:r>
              <a:rPr lang="ru-RU" sz="2200" b="1" i="1" dirty="0">
                <a:solidFill>
                  <a:srgbClr val="000000"/>
                </a:solidFill>
                <a:latin typeface="Bookman Old Style" panose="02050604050505020204" pitchFamily="18" charset="0"/>
              </a:rPr>
              <a:t>Как правило, при использовании более гибких методов дисперсия будет возрастать, а смещение — снижаться.</a:t>
            </a:r>
            <a:r>
              <a:rPr lang="ru-RU" sz="2200" dirty="0">
                <a:solidFill>
                  <a:srgbClr val="000000"/>
                </a:solidFill>
                <a:latin typeface="Bookman Old Style" panose="02050604050505020204" pitchFamily="18" charset="0"/>
              </a:rPr>
              <a:t> </a:t>
            </a:r>
            <a:r>
              <a:rPr lang="ru-RU" sz="2200" b="1" i="1" dirty="0">
                <a:solidFill>
                  <a:srgbClr val="000000"/>
                </a:solidFill>
                <a:latin typeface="Bookman Old Style" panose="02050604050505020204" pitchFamily="18" charset="0"/>
              </a:rPr>
              <a:t>Относительная скорость изменения этих двух величин определяет направление изменения </a:t>
            </a:r>
            <a:r>
              <a:rPr lang="en-US" sz="2200" b="1" i="1" dirty="0">
                <a:solidFill>
                  <a:srgbClr val="000000"/>
                </a:solidFill>
                <a:latin typeface="Bookman Old Style" panose="02050604050505020204" pitchFamily="18" charset="0"/>
              </a:rPr>
              <a:t>MSE </a:t>
            </a:r>
            <a:r>
              <a:rPr lang="ru-RU" sz="2200" b="1" i="1" dirty="0">
                <a:solidFill>
                  <a:srgbClr val="000000"/>
                </a:solidFill>
                <a:latin typeface="Bookman Old Style" panose="02050604050505020204" pitchFamily="18" charset="0"/>
              </a:rPr>
              <a:t>на контрольной выборке. </a:t>
            </a:r>
          </a:p>
        </p:txBody>
      </p:sp>
      <p:sp>
        <p:nvSpPr>
          <p:cNvPr id="4" name="Номер слайда 3">
            <a:extLst>
              <a:ext uri="{FF2B5EF4-FFF2-40B4-BE49-F238E27FC236}">
                <a16:creationId xmlns:a16="http://schemas.microsoft.com/office/drawing/2014/main" id="{4D0648EC-545B-499F-A705-4A58BF8E4E88}"/>
              </a:ext>
            </a:extLst>
          </p:cNvPr>
          <p:cNvSpPr>
            <a:spLocks noGrp="1"/>
          </p:cNvSpPr>
          <p:nvPr>
            <p:ph type="sldNum" sz="quarter" idx="12"/>
          </p:nvPr>
        </p:nvSpPr>
        <p:spPr>
          <a:xfrm>
            <a:off x="11230669" y="6728127"/>
            <a:ext cx="804170" cy="256299"/>
          </a:xfrm>
        </p:spPr>
        <p:txBody>
          <a:bodyPr/>
          <a:lstStyle/>
          <a:p>
            <a:fld id="{952B6C0E-C4B9-4094-8E59-5B7DF00D5415}" type="slidenum">
              <a:rPr lang="ru-RU" smtClean="0">
                <a:solidFill>
                  <a:schemeClr val="tx1"/>
                </a:solidFill>
              </a:rPr>
              <a:t>77</a:t>
            </a:fld>
            <a:endParaRPr lang="ru-RU">
              <a:solidFill>
                <a:schemeClr val="tx1"/>
              </a:solidFill>
            </a:endParaRPr>
          </a:p>
        </p:txBody>
      </p:sp>
      <p:sp>
        <p:nvSpPr>
          <p:cNvPr id="9" name="Text Box 5">
            <a:extLst>
              <a:ext uri="{FF2B5EF4-FFF2-40B4-BE49-F238E27FC236}">
                <a16:creationId xmlns:a16="http://schemas.microsoft.com/office/drawing/2014/main" id="{5B065C70-6E7C-4CA3-9660-1D9AE85973C5}"/>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3644527001"/>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1" y="204095"/>
            <a:ext cx="12310788"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sp>
        <p:nvSpPr>
          <p:cNvPr id="4" name="Прямоугольник 3"/>
          <p:cNvSpPr/>
          <p:nvPr/>
        </p:nvSpPr>
        <p:spPr>
          <a:xfrm>
            <a:off x="645493" y="1618929"/>
            <a:ext cx="11389345" cy="2123658"/>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По мере увеличения гибкости некоторого класса методов снижение смещения вначале обычно происходит быстрее, чем рост дисперсии. В результате этого математическое ожидание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контрольной выборке сначала снижается. Однако в определенный момент возрастающая гибкость перестает оказывать влияние на смещение, но при этом вызывает рост дисперсии. Когда это происходит,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контрольной выборке возрастает. </a:t>
            </a:r>
          </a:p>
        </p:txBody>
      </p:sp>
      <p:pic>
        <p:nvPicPr>
          <p:cNvPr id="5" name="Рисунок 4"/>
          <p:cNvPicPr>
            <a:picLocks noChangeAspect="1"/>
          </p:cNvPicPr>
          <p:nvPr/>
        </p:nvPicPr>
        <p:blipFill>
          <a:blip r:embed="rId2"/>
          <a:stretch>
            <a:fillRect/>
          </a:stretch>
        </p:blipFill>
        <p:spPr>
          <a:xfrm>
            <a:off x="731864" y="3869055"/>
            <a:ext cx="5708873" cy="2334224"/>
          </a:xfrm>
          <a:prstGeom prst="rect">
            <a:avLst/>
          </a:prstGeom>
        </p:spPr>
      </p:pic>
      <p:sp>
        <p:nvSpPr>
          <p:cNvPr id="8" name="Прямоугольник 7"/>
          <p:cNvSpPr/>
          <p:nvPr/>
        </p:nvSpPr>
        <p:spPr>
          <a:xfrm>
            <a:off x="6694165" y="3908731"/>
            <a:ext cx="5616623" cy="1938992"/>
          </a:xfrm>
          <a:prstGeom prst="rect">
            <a:avLst/>
          </a:prstGeom>
        </p:spPr>
        <p:txBody>
          <a:bodyPr wrap="square">
            <a:spAutoFit/>
          </a:bodyPr>
          <a:lstStyle/>
          <a:p>
            <a:r>
              <a:rPr lang="ru-RU" dirty="0">
                <a:solidFill>
                  <a:srgbClr val="000000"/>
                </a:solidFill>
                <a:latin typeface="Bookman Old Style" panose="02050604050505020204" pitchFamily="18" charset="0"/>
              </a:rPr>
              <a:t>Рис. 10. </a:t>
            </a:r>
            <a:r>
              <a:rPr lang="ru-RU" i="1" dirty="0">
                <a:solidFill>
                  <a:srgbClr val="000000"/>
                </a:solidFill>
                <a:latin typeface="Bookman Old Style" panose="02050604050505020204" pitchFamily="18" charset="0"/>
              </a:rPr>
              <a:t>Квадрат смещения (голубая кривая), дисперсия (оранжевая кривая), </a:t>
            </a:r>
            <a:r>
              <a:rPr lang="en-US" i="1" dirty="0" err="1">
                <a:solidFill>
                  <a:srgbClr val="000000"/>
                </a:solidFill>
                <a:latin typeface="Bookman Old Style" panose="02050604050505020204" pitchFamily="18" charset="0"/>
              </a:rPr>
              <a:t>Var</a:t>
            </a:r>
            <a:r>
              <a:rPr lang="en-US" i="1" dirty="0">
                <a:solidFill>
                  <a:srgbClr val="000000"/>
                </a:solidFill>
                <a:latin typeface="Bookman Old Style" panose="02050604050505020204" pitchFamily="18" charset="0"/>
              </a:rPr>
              <a:t>(</a:t>
            </a:r>
            <a:r>
              <a:rPr lang="el-GR" i="1" dirty="0">
                <a:solidFill>
                  <a:srgbClr val="000000"/>
                </a:solidFill>
                <a:latin typeface="Bookman Old Style" panose="02050604050505020204" pitchFamily="18" charset="0"/>
              </a:rPr>
              <a:t>ε</a:t>
            </a:r>
            <a:r>
              <a:rPr lang="en-US" i="1" dirty="0">
                <a:solidFill>
                  <a:srgbClr val="000000"/>
                </a:solidFill>
                <a:latin typeface="Bookman Old Style" panose="02050604050505020204" pitchFamily="18" charset="0"/>
              </a:rPr>
              <a:t>) </a:t>
            </a:r>
            <a:r>
              <a:rPr lang="ru-RU" i="1" dirty="0">
                <a:solidFill>
                  <a:srgbClr val="000000"/>
                </a:solidFill>
                <a:latin typeface="Bookman Old Style" panose="02050604050505020204" pitchFamily="18" charset="0"/>
              </a:rPr>
              <a:t>(пунктирная линия) и </a:t>
            </a:r>
            <a:r>
              <a:rPr lang="en-US" i="1" dirty="0">
                <a:solidFill>
                  <a:srgbClr val="000000"/>
                </a:solidFill>
                <a:latin typeface="Bookman Old Style" panose="02050604050505020204" pitchFamily="18" charset="0"/>
              </a:rPr>
              <a:t>MSE </a:t>
            </a:r>
            <a:r>
              <a:rPr lang="ru-RU" i="1" dirty="0">
                <a:solidFill>
                  <a:srgbClr val="000000"/>
                </a:solidFill>
                <a:latin typeface="Bookman Old Style" panose="02050604050505020204" pitchFamily="18" charset="0"/>
              </a:rPr>
              <a:t>на контрольной выборке (красная кривая) для трех наборов данных, показанных на рис. 7- 9. </a:t>
            </a:r>
            <a:endParaRPr lang="ru-RU" dirty="0"/>
          </a:p>
        </p:txBody>
      </p:sp>
      <p:sp>
        <p:nvSpPr>
          <p:cNvPr id="9" name="Прямоугольник 8"/>
          <p:cNvSpPr/>
          <p:nvPr/>
        </p:nvSpPr>
        <p:spPr>
          <a:xfrm>
            <a:off x="612004" y="6149027"/>
            <a:ext cx="11698784" cy="707886"/>
          </a:xfrm>
          <a:prstGeom prst="rect">
            <a:avLst/>
          </a:prstGeom>
        </p:spPr>
        <p:txBody>
          <a:bodyPr wrap="square">
            <a:spAutoFit/>
          </a:bodyPr>
          <a:lstStyle/>
          <a:p>
            <a:pPr marL="449267" indent="363541"/>
            <a:r>
              <a:rPr lang="ru-RU" dirty="0">
                <a:solidFill>
                  <a:srgbClr val="000000"/>
                </a:solidFill>
                <a:latin typeface="Bookman Old Style" panose="02050604050505020204" pitchFamily="18" charset="0"/>
              </a:rPr>
              <a:t>Вертикальная пунктирная линия показывает уровень гибкости, соответствующий наименьшей </a:t>
            </a:r>
            <a:r>
              <a:rPr lang="en-US" dirty="0">
                <a:solidFill>
                  <a:srgbClr val="000000"/>
                </a:solidFill>
                <a:latin typeface="Bookman Old Style" panose="02050604050505020204" pitchFamily="18" charset="0"/>
              </a:rPr>
              <a:t>MSE</a:t>
            </a:r>
            <a:endParaRPr lang="ru-RU" dirty="0">
              <a:solidFill>
                <a:srgbClr val="000000"/>
              </a:solidFill>
              <a:latin typeface="Bookman Old Style" panose="02050604050505020204" pitchFamily="18" charset="0"/>
            </a:endParaRPr>
          </a:p>
        </p:txBody>
      </p:sp>
      <p:sp>
        <p:nvSpPr>
          <p:cNvPr id="2" name="Номер слайда 1">
            <a:extLst>
              <a:ext uri="{FF2B5EF4-FFF2-40B4-BE49-F238E27FC236}">
                <a16:creationId xmlns:a16="http://schemas.microsoft.com/office/drawing/2014/main" id="{5AC4C130-9CA0-4D60-8B93-8C06569CC485}"/>
              </a:ext>
            </a:extLst>
          </p:cNvPr>
          <p:cNvSpPr>
            <a:spLocks noGrp="1"/>
          </p:cNvSpPr>
          <p:nvPr>
            <p:ph type="sldNum" sz="quarter" idx="12"/>
          </p:nvPr>
        </p:nvSpPr>
        <p:spPr>
          <a:xfrm>
            <a:off x="11230669" y="6605017"/>
            <a:ext cx="804170" cy="389582"/>
          </a:xfrm>
        </p:spPr>
        <p:txBody>
          <a:bodyPr/>
          <a:lstStyle/>
          <a:p>
            <a:fld id="{952B6C0E-C4B9-4094-8E59-5B7DF00D5415}" type="slidenum">
              <a:rPr lang="ru-RU" smtClean="0">
                <a:solidFill>
                  <a:schemeClr val="tx1"/>
                </a:solidFill>
              </a:rPr>
              <a:t>78</a:t>
            </a:fld>
            <a:endParaRPr lang="ru-RU" dirty="0">
              <a:solidFill>
                <a:schemeClr val="tx1"/>
              </a:solidFill>
            </a:endParaRPr>
          </a:p>
        </p:txBody>
      </p:sp>
      <p:sp>
        <p:nvSpPr>
          <p:cNvPr id="11" name="Text Box 5">
            <a:extLst>
              <a:ext uri="{FF2B5EF4-FFF2-40B4-BE49-F238E27FC236}">
                <a16:creationId xmlns:a16="http://schemas.microsoft.com/office/drawing/2014/main" id="{9023943E-2B53-4D11-8D8E-16AD709287A5}"/>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1086168915"/>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213445" y="204095"/>
            <a:ext cx="12097343" cy="6790504"/>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6" name="Скругленный прямоугольник 5"/>
          <p:cNvSpPr/>
          <p:nvPr/>
        </p:nvSpPr>
        <p:spPr bwMode="auto">
          <a:xfrm>
            <a:off x="2013646" y="394793"/>
            <a:ext cx="8604957" cy="661947"/>
          </a:xfrm>
          <a:prstGeom prst="roundRect">
            <a:avLst>
              <a:gd name="adj" fmla="val 45749"/>
            </a:avLst>
          </a:prstGeom>
          <a:solidFill>
            <a:srgbClr val="FFFFFF">
              <a:alpha val="52941"/>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93783"/>
            <a:r>
              <a:rPr lang="ru-RU" sz="2800" b="1" dirty="0"/>
              <a:t>Задачи </a:t>
            </a:r>
            <a:r>
              <a:rPr lang="en-US" sz="2800" b="1" dirty="0"/>
              <a:t>Data Mining</a:t>
            </a:r>
            <a:endParaRPr lang="ru-RU" sz="2800" b="1" dirty="0"/>
          </a:p>
        </p:txBody>
      </p:sp>
      <p:sp>
        <p:nvSpPr>
          <p:cNvPr id="7" name="Прямоугольник 6"/>
          <p:cNvSpPr/>
          <p:nvPr/>
        </p:nvSpPr>
        <p:spPr>
          <a:xfrm>
            <a:off x="1440722" y="1140039"/>
            <a:ext cx="8853845"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Фундаментальное свойство статистического обучения</a:t>
            </a:r>
          </a:p>
        </p:txBody>
      </p:sp>
      <p:pic>
        <p:nvPicPr>
          <p:cNvPr id="5" name="Рисунок 4"/>
          <p:cNvPicPr>
            <a:picLocks noChangeAspect="1"/>
          </p:cNvPicPr>
          <p:nvPr/>
        </p:nvPicPr>
        <p:blipFill>
          <a:blip r:embed="rId2"/>
          <a:stretch>
            <a:fillRect/>
          </a:stretch>
        </p:blipFill>
        <p:spPr>
          <a:xfrm>
            <a:off x="983123" y="3908731"/>
            <a:ext cx="5708873" cy="2334224"/>
          </a:xfrm>
          <a:prstGeom prst="rect">
            <a:avLst/>
          </a:prstGeom>
        </p:spPr>
      </p:pic>
      <p:sp>
        <p:nvSpPr>
          <p:cNvPr id="8" name="Прямоугольник 7"/>
          <p:cNvSpPr/>
          <p:nvPr/>
        </p:nvSpPr>
        <p:spPr>
          <a:xfrm>
            <a:off x="7198221" y="3908731"/>
            <a:ext cx="4968551" cy="1938992"/>
          </a:xfrm>
          <a:prstGeom prst="rect">
            <a:avLst/>
          </a:prstGeom>
        </p:spPr>
        <p:txBody>
          <a:bodyPr wrap="square">
            <a:spAutoFit/>
          </a:bodyPr>
          <a:lstStyle/>
          <a:p>
            <a:r>
              <a:rPr lang="ru-RU" dirty="0">
                <a:solidFill>
                  <a:srgbClr val="000000"/>
                </a:solidFill>
                <a:latin typeface="Bookman Old Style" panose="02050604050505020204" pitchFamily="18" charset="0"/>
              </a:rPr>
              <a:t>Рис. 10. </a:t>
            </a:r>
            <a:r>
              <a:rPr lang="ru-RU" i="1" dirty="0">
                <a:solidFill>
                  <a:srgbClr val="000000"/>
                </a:solidFill>
                <a:latin typeface="Bookman Old Style" panose="02050604050505020204" pitchFamily="18" charset="0"/>
              </a:rPr>
              <a:t>Квадрат смещения (зеленая), дисперсия (желтая кривая), </a:t>
            </a:r>
            <a:r>
              <a:rPr lang="en-US" i="1" dirty="0" err="1">
                <a:solidFill>
                  <a:srgbClr val="000000"/>
                </a:solidFill>
                <a:latin typeface="Bookman Old Style" panose="02050604050505020204" pitchFamily="18" charset="0"/>
              </a:rPr>
              <a:t>Var</a:t>
            </a:r>
            <a:r>
              <a:rPr lang="en-US" i="1" dirty="0">
                <a:solidFill>
                  <a:srgbClr val="000000"/>
                </a:solidFill>
                <a:latin typeface="Bookman Old Style" panose="02050604050505020204" pitchFamily="18" charset="0"/>
              </a:rPr>
              <a:t>(</a:t>
            </a:r>
            <a:r>
              <a:rPr lang="el-GR" i="1" dirty="0">
                <a:solidFill>
                  <a:srgbClr val="000000"/>
                </a:solidFill>
                <a:latin typeface="Bookman Old Style" panose="02050604050505020204" pitchFamily="18" charset="0"/>
              </a:rPr>
              <a:t>ε</a:t>
            </a:r>
            <a:r>
              <a:rPr lang="en-US" i="1" dirty="0">
                <a:solidFill>
                  <a:srgbClr val="000000"/>
                </a:solidFill>
                <a:latin typeface="Bookman Old Style" panose="02050604050505020204" pitchFamily="18" charset="0"/>
              </a:rPr>
              <a:t>) </a:t>
            </a:r>
            <a:r>
              <a:rPr lang="ru-RU" i="1" dirty="0">
                <a:solidFill>
                  <a:srgbClr val="000000"/>
                </a:solidFill>
                <a:latin typeface="Bookman Old Style" panose="02050604050505020204" pitchFamily="18" charset="0"/>
              </a:rPr>
              <a:t>(пунктирная линия) и </a:t>
            </a:r>
            <a:r>
              <a:rPr lang="en-US" i="1" dirty="0">
                <a:solidFill>
                  <a:srgbClr val="000000"/>
                </a:solidFill>
                <a:latin typeface="Bookman Old Style" panose="02050604050505020204" pitchFamily="18" charset="0"/>
              </a:rPr>
              <a:t>MSE </a:t>
            </a:r>
            <a:r>
              <a:rPr lang="ru-RU" i="1" dirty="0">
                <a:solidFill>
                  <a:srgbClr val="000000"/>
                </a:solidFill>
                <a:latin typeface="Bookman Old Style" panose="02050604050505020204" pitchFamily="18" charset="0"/>
              </a:rPr>
              <a:t>на контрольной выборке (красная кривая) для трех наборов данных, показанных на рис. 7- 9. </a:t>
            </a:r>
            <a:endParaRPr lang="ru-RU" dirty="0"/>
          </a:p>
        </p:txBody>
      </p:sp>
      <p:sp>
        <p:nvSpPr>
          <p:cNvPr id="2" name="Прямоугольник 1"/>
          <p:cNvSpPr/>
          <p:nvPr/>
        </p:nvSpPr>
        <p:spPr>
          <a:xfrm>
            <a:off x="789509" y="1669888"/>
            <a:ext cx="11377263" cy="1785104"/>
          </a:xfrm>
          <a:prstGeom prst="rect">
            <a:avLst/>
          </a:prstGeom>
        </p:spPr>
        <p:txBody>
          <a:bodyPr wrap="square">
            <a:spAutoFit/>
          </a:bodyPr>
          <a:lstStyle/>
          <a:p>
            <a:pPr indent="449267"/>
            <a:r>
              <a:rPr lang="ru-RU" sz="2200" dirty="0">
                <a:solidFill>
                  <a:srgbClr val="000000"/>
                </a:solidFill>
                <a:latin typeface="Bookman Old Style" panose="02050604050505020204" pitchFamily="18" charset="0"/>
              </a:rPr>
              <a:t>Связь между смещением, дисперсией и </a:t>
            </a:r>
            <a:r>
              <a:rPr lang="en-US" sz="2200" dirty="0">
                <a:solidFill>
                  <a:srgbClr val="000000"/>
                </a:solidFill>
                <a:latin typeface="Bookman Old Style" panose="02050604050505020204" pitchFamily="18" charset="0"/>
              </a:rPr>
              <a:t>MSE </a:t>
            </a:r>
            <a:r>
              <a:rPr lang="ru-RU" sz="2200" dirty="0">
                <a:solidFill>
                  <a:srgbClr val="000000"/>
                </a:solidFill>
                <a:latin typeface="Bookman Old Style" panose="02050604050505020204" pitchFamily="18" charset="0"/>
              </a:rPr>
              <a:t>на контрольной выборке, описанная в уравнении 7 и показанная на рис. 10, известна как </a:t>
            </a:r>
            <a:r>
              <a:rPr lang="ru-RU" sz="2200" b="1" i="1" dirty="0">
                <a:solidFill>
                  <a:srgbClr val="000000"/>
                </a:solidFill>
                <a:latin typeface="Bookman Old Style" panose="02050604050505020204" pitchFamily="18" charset="0"/>
              </a:rPr>
              <a:t>компромисс между смещением и дисперсией</a:t>
            </a:r>
            <a:r>
              <a:rPr lang="ru-RU" sz="2200" dirty="0">
                <a:solidFill>
                  <a:srgbClr val="000000"/>
                </a:solidFill>
                <a:latin typeface="Bookman Old Style" panose="02050604050505020204" pitchFamily="18" charset="0"/>
              </a:rPr>
              <a:t>. Хороший результат, достигаемый методом статистического обучения на контрольных данных, требует как низкой дисперсии, так и низкого квадрата смещения. </a:t>
            </a:r>
          </a:p>
        </p:txBody>
      </p:sp>
      <p:sp>
        <p:nvSpPr>
          <p:cNvPr id="3" name="Номер слайда 2">
            <a:extLst>
              <a:ext uri="{FF2B5EF4-FFF2-40B4-BE49-F238E27FC236}">
                <a16:creationId xmlns:a16="http://schemas.microsoft.com/office/drawing/2014/main" id="{6839D26F-1E7D-4701-B829-4E8A0EC5DE78}"/>
              </a:ext>
            </a:extLst>
          </p:cNvPr>
          <p:cNvSpPr>
            <a:spLocks noGrp="1"/>
          </p:cNvSpPr>
          <p:nvPr>
            <p:ph type="sldNum" sz="quarter" idx="12"/>
          </p:nvPr>
        </p:nvSpPr>
        <p:spPr>
          <a:xfrm>
            <a:off x="11158661" y="6659488"/>
            <a:ext cx="876178" cy="324938"/>
          </a:xfrm>
        </p:spPr>
        <p:txBody>
          <a:bodyPr/>
          <a:lstStyle/>
          <a:p>
            <a:fld id="{952B6C0E-C4B9-4094-8E59-5B7DF00D5415}" type="slidenum">
              <a:rPr lang="ru-RU" smtClean="0">
                <a:solidFill>
                  <a:schemeClr val="tx1"/>
                </a:solidFill>
              </a:rPr>
              <a:t>79</a:t>
            </a:fld>
            <a:endParaRPr lang="ru-RU">
              <a:solidFill>
                <a:schemeClr val="tx1"/>
              </a:solidFill>
            </a:endParaRPr>
          </a:p>
        </p:txBody>
      </p:sp>
    </p:spTree>
    <p:extLst>
      <p:ext uri="{BB962C8B-B14F-4D97-AF65-F5344CB8AC3E}">
        <p14:creationId xmlns:p14="http://schemas.microsoft.com/office/powerpoint/2010/main" val="126629736"/>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633412" y="389551"/>
            <a:ext cx="11677376" cy="641395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7" name="Прямоугольник 6"/>
          <p:cNvSpPr/>
          <p:nvPr/>
        </p:nvSpPr>
        <p:spPr>
          <a:xfrm>
            <a:off x="1869629" y="408190"/>
            <a:ext cx="10005971"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Статистический характер процесса обучения в нейронных сетях</a:t>
            </a:r>
          </a:p>
        </p:txBody>
      </p:sp>
      <p:sp>
        <p:nvSpPr>
          <p:cNvPr id="3" name="Номер слайда 2">
            <a:extLst>
              <a:ext uri="{FF2B5EF4-FFF2-40B4-BE49-F238E27FC236}">
                <a16:creationId xmlns:a16="http://schemas.microsoft.com/office/drawing/2014/main" id="{6839D26F-1E7D-4701-B829-4E8A0EC5DE78}"/>
              </a:ext>
            </a:extLst>
          </p:cNvPr>
          <p:cNvSpPr>
            <a:spLocks noGrp="1"/>
          </p:cNvSpPr>
          <p:nvPr>
            <p:ph type="sldNum" sz="quarter" idx="12"/>
          </p:nvPr>
        </p:nvSpPr>
        <p:spPr>
          <a:xfrm>
            <a:off x="11158661" y="6659488"/>
            <a:ext cx="876178" cy="324938"/>
          </a:xfrm>
        </p:spPr>
        <p:txBody>
          <a:bodyPr/>
          <a:lstStyle/>
          <a:p>
            <a:fld id="{952B6C0E-C4B9-4094-8E59-5B7DF00D5415}" type="slidenum">
              <a:rPr lang="ru-RU" smtClean="0">
                <a:solidFill>
                  <a:schemeClr val="tx1"/>
                </a:solidFill>
              </a:rPr>
              <a:t>80</a:t>
            </a:fld>
            <a:endParaRPr lang="ru-RU">
              <a:solidFill>
                <a:schemeClr val="tx1"/>
              </a:solidFill>
            </a:endParaRPr>
          </a:p>
        </p:txBody>
      </p:sp>
      <p:sp>
        <p:nvSpPr>
          <p:cNvPr id="11" name="TextBox 10">
            <a:extLst>
              <a:ext uri="{FF2B5EF4-FFF2-40B4-BE49-F238E27FC236}">
                <a16:creationId xmlns:a16="http://schemas.microsoft.com/office/drawing/2014/main" id="{BFAAA2E7-F367-4AE6-AEC1-0A56274C01D3}"/>
              </a:ext>
            </a:extLst>
          </p:cNvPr>
          <p:cNvSpPr txBox="1"/>
          <p:nvPr/>
        </p:nvSpPr>
        <p:spPr>
          <a:xfrm>
            <a:off x="633412" y="887081"/>
            <a:ext cx="11821393" cy="4914166"/>
          </a:xfrm>
          <a:prstGeom prst="rect">
            <a:avLst/>
          </a:prstGeom>
          <a:noFill/>
        </p:spPr>
        <p:txBody>
          <a:bodyPr wrap="square">
            <a:spAutoFit/>
          </a:bodyPr>
          <a:lstStyle/>
          <a:p>
            <a:pPr indent="449263"/>
            <a:r>
              <a:rPr lang="ru-RU" dirty="0"/>
              <a:t>Н</a:t>
            </a:r>
            <a:r>
              <a:rPr lang="ru-RU" dirty="0">
                <a:effectLst/>
              </a:rPr>
              <a:t>ас будет </a:t>
            </a:r>
            <a:r>
              <a:rPr lang="ru-RU" dirty="0"/>
              <a:t>интересовать НЕ </a:t>
            </a:r>
            <a:r>
              <a:rPr lang="ru-RU" dirty="0">
                <a:effectLst/>
              </a:rPr>
              <a:t>эволюция весового вектора </a:t>
            </a:r>
            <a:r>
              <a:rPr lang="ru-RU" b="1" i="1" dirty="0">
                <a:effectLst/>
              </a:rPr>
              <a:t>w</a:t>
            </a:r>
            <a:r>
              <a:rPr lang="ru-RU" dirty="0">
                <a:effectLst/>
              </a:rPr>
              <a:t>, который циклически проходит через алгоритм обучения. Вместо этого мы сосредоточимся на отклонении между "целевой" функцией </a:t>
            </a:r>
            <a:r>
              <a:rPr lang="ru-RU" b="1" i="1" dirty="0">
                <a:effectLst/>
              </a:rPr>
              <a:t>f(x) </a:t>
            </a:r>
            <a:r>
              <a:rPr lang="ru-RU" dirty="0">
                <a:effectLst/>
              </a:rPr>
              <a:t>и "фактической" функцией </a:t>
            </a:r>
            <a:r>
              <a:rPr lang="ru-RU" b="1" i="1" dirty="0">
                <a:effectLst/>
              </a:rPr>
              <a:t>F(x, w)</a:t>
            </a:r>
            <a:r>
              <a:rPr lang="ru-RU" dirty="0">
                <a:effectLst/>
              </a:rPr>
              <a:t>, реализуемой нейронной сетью, где вектор </a:t>
            </a:r>
            <a:r>
              <a:rPr lang="ru-RU" b="1" i="1" dirty="0">
                <a:effectLst/>
              </a:rPr>
              <a:t>x</a:t>
            </a:r>
            <a:r>
              <a:rPr lang="ru-RU" dirty="0">
                <a:effectLst/>
              </a:rPr>
              <a:t> обозначает входной сигнал. Отклонение выражается в статистических терминах. </a:t>
            </a:r>
          </a:p>
          <a:p>
            <a:pPr indent="449263"/>
            <a:r>
              <a:rPr lang="ru-RU" dirty="0">
                <a:effectLst/>
              </a:rPr>
              <a:t>Нейронная сеть - это всего лишь одна из форм, в которой эмпирические знания об интересующем физическом явлении или среде закодированы с помощью обучения. </a:t>
            </a:r>
            <a:endParaRPr lang="en-US" dirty="0">
              <a:effectLst/>
            </a:endParaRPr>
          </a:p>
          <a:p>
            <a:pPr indent="449263"/>
            <a:r>
              <a:rPr lang="ru-RU" dirty="0">
                <a:effectLst/>
              </a:rPr>
              <a:t>Под "эмпирическим" знанием мы понимаем набор измерений, характеризующих явление.</a:t>
            </a:r>
          </a:p>
          <a:p>
            <a:pPr rtl="0"/>
            <a:r>
              <a:rPr lang="ru-RU" dirty="0">
                <a:effectLst/>
              </a:rPr>
              <a:t> Для большей ясности, рассмотрим пример стохастического явления, описываемого случайным вектором </a:t>
            </a:r>
            <a:r>
              <a:rPr lang="ru-RU" b="1" i="1" dirty="0">
                <a:effectLst/>
              </a:rPr>
              <a:t>X</a:t>
            </a:r>
            <a:r>
              <a:rPr lang="ru-RU" dirty="0">
                <a:effectLst/>
              </a:rPr>
              <a:t>, состоящим из набора независимых переменных, и случайным скаляром </a:t>
            </a:r>
            <a:r>
              <a:rPr lang="ru-RU" b="1" i="1" dirty="0">
                <a:effectLst/>
              </a:rPr>
              <a:t>D</a:t>
            </a:r>
            <a:r>
              <a:rPr lang="ru-RU" dirty="0">
                <a:effectLst/>
              </a:rPr>
              <a:t>, представляющим зависимую переменную. Элементы случайного вектора </a:t>
            </a:r>
            <a:r>
              <a:rPr lang="ru-RU" b="1" i="1" dirty="0">
                <a:effectLst/>
              </a:rPr>
              <a:t>X</a:t>
            </a:r>
            <a:r>
              <a:rPr lang="ru-RU" dirty="0">
                <a:effectLst/>
              </a:rPr>
              <a:t> могут иметь разные физические значения. Предположение о том, что зависимая переменная </a:t>
            </a:r>
            <a:r>
              <a:rPr lang="ru-RU" b="1" i="1" dirty="0">
                <a:effectLst/>
              </a:rPr>
              <a:t>D</a:t>
            </a:r>
            <a:r>
              <a:rPr lang="ru-RU" dirty="0">
                <a:effectLst/>
              </a:rPr>
              <a:t> является скалярной, было сделано для упрощения изложения без потери общности. Предположим также, что у нас есть </a:t>
            </a:r>
            <a:r>
              <a:rPr lang="ru-RU" b="1" i="1" dirty="0">
                <a:effectLst/>
              </a:rPr>
              <a:t>N</a:t>
            </a:r>
            <a:r>
              <a:rPr lang="ru-RU" dirty="0">
                <a:effectLst/>
              </a:rPr>
              <a:t> реализаций случайного вектора </a:t>
            </a:r>
            <a:r>
              <a:rPr lang="ru-RU" b="1" i="1" dirty="0">
                <a:effectLst/>
              </a:rPr>
              <a:t>X</a:t>
            </a:r>
            <a:r>
              <a:rPr lang="ru-RU" dirty="0">
                <a:effectLst/>
              </a:rPr>
              <a:t>, обозначаемого </a:t>
            </a:r>
            <a:r>
              <a:rPr lang="en-US" b="1" i="1" dirty="0">
                <a:effectLst/>
              </a:rPr>
              <a:t>{x</a:t>
            </a:r>
            <a:r>
              <a:rPr lang="en-US" b="1" i="1" baseline="-25000" dirty="0">
                <a:effectLst/>
              </a:rPr>
              <a:t>i</a:t>
            </a:r>
            <a:r>
              <a:rPr lang="en-US" b="1" i="1" dirty="0">
                <a:effectLst/>
              </a:rPr>
              <a:t>}</a:t>
            </a:r>
            <a:r>
              <a:rPr lang="en-US" b="1" i="1" baseline="30000" dirty="0" err="1">
                <a:effectLst/>
              </a:rPr>
              <a:t>N</a:t>
            </a:r>
            <a:r>
              <a:rPr lang="en-US" b="1" i="1" baseline="-25000" dirty="0" err="1">
                <a:effectLst/>
              </a:rPr>
              <a:t>x</a:t>
            </a:r>
            <a:r>
              <a:rPr lang="en-US" b="1" i="1" baseline="-25000" dirty="0">
                <a:effectLst/>
              </a:rPr>
              <a:t>=1, </a:t>
            </a:r>
            <a:r>
              <a:rPr lang="ru-RU" dirty="0">
                <a:effectLst/>
              </a:rPr>
              <a:t>и соответствующий набор случайных скаляров D, обозначаемый как: </a:t>
            </a:r>
            <a:r>
              <a:rPr lang="ru-RU" b="1" i="1" dirty="0">
                <a:effectLst/>
              </a:rPr>
              <a:t>{</a:t>
            </a:r>
            <a:r>
              <a:rPr lang="ru-RU" b="1" i="1" dirty="0" err="1">
                <a:effectLst/>
              </a:rPr>
              <a:t>d</a:t>
            </a:r>
            <a:r>
              <a:rPr lang="ru-RU" b="1" i="1" baseline="-25000" dirty="0" err="1">
                <a:effectLst/>
              </a:rPr>
              <a:t>i</a:t>
            </a:r>
            <a:r>
              <a:rPr lang="ru-RU" b="1" i="1" dirty="0">
                <a:effectLst/>
              </a:rPr>
              <a:t>}</a:t>
            </a:r>
            <a:r>
              <a:rPr lang="en-US" b="1" i="1" baseline="30000" dirty="0">
                <a:effectLst/>
              </a:rPr>
              <a:t> </a:t>
            </a:r>
            <a:r>
              <a:rPr lang="en-US" b="1" i="1" baseline="30000" dirty="0" err="1">
                <a:effectLst/>
              </a:rPr>
              <a:t>N</a:t>
            </a:r>
            <a:r>
              <a:rPr lang="en-US" b="1" i="1" baseline="-25000" dirty="0" err="1">
                <a:effectLst/>
              </a:rPr>
              <a:t>x</a:t>
            </a:r>
            <a:r>
              <a:rPr lang="en-US" b="1" i="1" baseline="-25000" dirty="0">
                <a:effectLst/>
              </a:rPr>
              <a:t>=1 </a:t>
            </a:r>
            <a:r>
              <a:rPr lang="ru-RU" dirty="0">
                <a:effectLst/>
              </a:rPr>
              <a:t>​. </a:t>
            </a:r>
          </a:p>
          <a:p>
            <a:pPr rtl="0"/>
            <a:r>
              <a:rPr lang="ru-RU" dirty="0"/>
              <a:t>Эти измерения составляют обучающую выборку, которая обозначается как:</a:t>
            </a:r>
          </a:p>
          <a:p>
            <a:pPr indent="449263"/>
            <a:endParaRPr lang="ru-RU" b="1" i="1" baseline="-25000" dirty="0"/>
          </a:p>
        </p:txBody>
      </p:sp>
      <p:pic>
        <p:nvPicPr>
          <p:cNvPr id="10" name="Рисунок 9">
            <a:extLst>
              <a:ext uri="{FF2B5EF4-FFF2-40B4-BE49-F238E27FC236}">
                <a16:creationId xmlns:a16="http://schemas.microsoft.com/office/drawing/2014/main" id="{9CDA0B2E-A56C-4CA4-86CD-2A9CEB2C446E}"/>
              </a:ext>
            </a:extLst>
          </p:cNvPr>
          <p:cNvPicPr>
            <a:picLocks noChangeAspect="1"/>
          </p:cNvPicPr>
          <p:nvPr/>
        </p:nvPicPr>
        <p:blipFill>
          <a:blip r:embed="rId2"/>
          <a:stretch>
            <a:fillRect/>
          </a:stretch>
        </p:blipFill>
        <p:spPr>
          <a:xfrm>
            <a:off x="9777637" y="5079429"/>
            <a:ext cx="2270644" cy="492969"/>
          </a:xfrm>
          <a:prstGeom prst="rect">
            <a:avLst/>
          </a:prstGeom>
        </p:spPr>
      </p:pic>
      <p:sp>
        <p:nvSpPr>
          <p:cNvPr id="15" name="TextBox 14">
            <a:extLst>
              <a:ext uri="{FF2B5EF4-FFF2-40B4-BE49-F238E27FC236}">
                <a16:creationId xmlns:a16="http://schemas.microsoft.com/office/drawing/2014/main" id="{1147E4AE-4E93-43BA-A200-252A1F9AD421}"/>
              </a:ext>
            </a:extLst>
          </p:cNvPr>
          <p:cNvSpPr txBox="1"/>
          <p:nvPr/>
        </p:nvSpPr>
        <p:spPr>
          <a:xfrm>
            <a:off x="657100" y="5803277"/>
            <a:ext cx="6747597" cy="400110"/>
          </a:xfrm>
          <a:prstGeom prst="rect">
            <a:avLst/>
          </a:prstGeom>
          <a:noFill/>
        </p:spPr>
        <p:txBody>
          <a:bodyPr wrap="square">
            <a:spAutoFit/>
          </a:bodyPr>
          <a:lstStyle/>
          <a:p>
            <a:r>
              <a:rPr lang="ru-RU" dirty="0"/>
              <a:t>Мы предполагаем, что модель регрессивна: </a:t>
            </a:r>
            <a:r>
              <a:rPr lang="en-US" b="1" i="1" dirty="0">
                <a:effectLst/>
              </a:rPr>
              <a:t>D</a:t>
            </a:r>
            <a:r>
              <a:rPr lang="en-US" b="1" i="1" dirty="0"/>
              <a:t>=</a:t>
            </a:r>
            <a:r>
              <a:rPr lang="en-US" b="1" i="1" dirty="0">
                <a:effectLst/>
              </a:rPr>
              <a:t>f</a:t>
            </a:r>
            <a:r>
              <a:rPr lang="en-US" b="1" i="1" dirty="0"/>
              <a:t>(</a:t>
            </a:r>
            <a:r>
              <a:rPr lang="en-US" b="1" i="1" dirty="0">
                <a:effectLst/>
              </a:rPr>
              <a:t>X</a:t>
            </a:r>
            <a:r>
              <a:rPr lang="en-US" b="1" i="1" dirty="0"/>
              <a:t>)+</a:t>
            </a:r>
            <a:r>
              <a:rPr lang="el-GR" b="1" i="1" dirty="0"/>
              <a:t>ϵ</a:t>
            </a:r>
            <a:endParaRPr lang="ru-RU" b="1" i="1" dirty="0"/>
          </a:p>
        </p:txBody>
      </p:sp>
      <p:sp>
        <p:nvSpPr>
          <p:cNvPr id="19" name="TextBox 18">
            <a:extLst>
              <a:ext uri="{FF2B5EF4-FFF2-40B4-BE49-F238E27FC236}">
                <a16:creationId xmlns:a16="http://schemas.microsoft.com/office/drawing/2014/main" id="{6F247BBB-8775-43DC-8ED4-0F278C0FEF48}"/>
              </a:ext>
            </a:extLst>
          </p:cNvPr>
          <p:cNvSpPr txBox="1"/>
          <p:nvPr/>
        </p:nvSpPr>
        <p:spPr>
          <a:xfrm>
            <a:off x="7428385" y="5563203"/>
            <a:ext cx="4601654" cy="1200329"/>
          </a:xfrm>
          <a:prstGeom prst="rect">
            <a:avLst/>
          </a:prstGeom>
          <a:noFill/>
        </p:spPr>
        <p:txBody>
          <a:bodyPr wrap="square">
            <a:spAutoFit/>
          </a:bodyPr>
          <a:lstStyle/>
          <a:p>
            <a:pPr rtl="0"/>
            <a:r>
              <a:rPr lang="ru-RU" sz="1800" dirty="0"/>
              <a:t>Где </a:t>
            </a:r>
          </a:p>
          <a:p>
            <a:pPr>
              <a:buFont typeface="Arial" panose="020B0604020202020204" pitchFamily="34" charset="0"/>
              <a:buChar char="•"/>
            </a:pPr>
            <a:r>
              <a:rPr lang="ru-RU" sz="1800" dirty="0"/>
              <a:t>f(X) — детерминированная функция от вектора аргументов</a:t>
            </a:r>
          </a:p>
          <a:p>
            <a:pPr>
              <a:buFont typeface="Arial" panose="020B0604020202020204" pitchFamily="34" charset="0"/>
              <a:buChar char="•"/>
            </a:pPr>
            <a:r>
              <a:rPr lang="en-US" sz="1800" dirty="0"/>
              <a:t> </a:t>
            </a:r>
            <a:r>
              <a:rPr lang="el-GR" sz="1800" b="1" i="1" dirty="0"/>
              <a:t>ϵ </a:t>
            </a:r>
            <a:r>
              <a:rPr lang="en-US" sz="1800" b="1" i="1" dirty="0"/>
              <a:t>- </a:t>
            </a:r>
            <a:r>
              <a:rPr lang="ru-RU" sz="1800" dirty="0"/>
              <a:t>это случайная ошибка</a:t>
            </a:r>
          </a:p>
        </p:txBody>
      </p:sp>
      <p:sp>
        <p:nvSpPr>
          <p:cNvPr id="12" name="Text Box 5">
            <a:extLst>
              <a:ext uri="{FF2B5EF4-FFF2-40B4-BE49-F238E27FC236}">
                <a16:creationId xmlns:a16="http://schemas.microsoft.com/office/drawing/2014/main" id="{A47FAD43-83B9-42E0-BADC-6D750EA3F52C}"/>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extLst>
      <p:ext uri="{BB962C8B-B14F-4D97-AF65-F5344CB8AC3E}">
        <p14:creationId xmlns:p14="http://schemas.microsoft.com/office/powerpoint/2010/main" val="4137360304"/>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AutoShape 7"/>
          <p:cNvSpPr>
            <a:spLocks noChangeArrowheads="1"/>
          </p:cNvSpPr>
          <p:nvPr/>
        </p:nvSpPr>
        <p:spPr bwMode="auto">
          <a:xfrm>
            <a:off x="495437" y="389551"/>
            <a:ext cx="11677376" cy="641395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dirty="0">
              <a:solidFill>
                <a:schemeClr val="bg1"/>
              </a:solidFill>
            </a:endParaRPr>
          </a:p>
        </p:txBody>
      </p:sp>
      <p:sp>
        <p:nvSpPr>
          <p:cNvPr id="69637" name="Text Box 5"/>
          <p:cNvSpPr txBox="1">
            <a:spLocks noChangeArrowheads="1"/>
          </p:cNvSpPr>
          <p:nvPr/>
        </p:nvSpPr>
        <p:spPr bwMode="auto">
          <a:xfrm>
            <a:off x="3905252" y="0"/>
            <a:ext cx="5100637" cy="40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spcBef>
                <a:spcPct val="50000"/>
              </a:spcBef>
            </a:pPr>
            <a:r>
              <a:rPr lang="ru-RU" altLang="ru-RU" b="1" dirty="0">
                <a:solidFill>
                  <a:schemeClr val="bg1"/>
                </a:solidFill>
                <a:latin typeface="Courier New" panose="02070309020205020404" pitchFamily="49" charset="0"/>
              </a:rPr>
              <a:t>Обработка больших данных. Л3</a:t>
            </a:r>
          </a:p>
        </p:txBody>
      </p:sp>
      <p:sp>
        <p:nvSpPr>
          <p:cNvPr id="7" name="Прямоугольник 6"/>
          <p:cNvSpPr/>
          <p:nvPr/>
        </p:nvSpPr>
        <p:spPr>
          <a:xfrm>
            <a:off x="1869629" y="408190"/>
            <a:ext cx="10005971" cy="47889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93783">
              <a:spcBef>
                <a:spcPct val="20000"/>
              </a:spcBef>
            </a:pPr>
            <a:r>
              <a:rPr lang="ru-RU" b="1" i="1" dirty="0">
                <a:solidFill>
                  <a:schemeClr val="accent2">
                    <a:lumMod val="50000"/>
                  </a:schemeClr>
                </a:solidFill>
              </a:rPr>
              <a:t>Статистический характер процесса обучения в нейронных сетях</a:t>
            </a:r>
          </a:p>
        </p:txBody>
      </p:sp>
      <p:sp>
        <p:nvSpPr>
          <p:cNvPr id="3" name="Номер слайда 2">
            <a:extLst>
              <a:ext uri="{FF2B5EF4-FFF2-40B4-BE49-F238E27FC236}">
                <a16:creationId xmlns:a16="http://schemas.microsoft.com/office/drawing/2014/main" id="{6839D26F-1E7D-4701-B829-4E8A0EC5DE78}"/>
              </a:ext>
            </a:extLst>
          </p:cNvPr>
          <p:cNvSpPr>
            <a:spLocks noGrp="1"/>
          </p:cNvSpPr>
          <p:nvPr>
            <p:ph type="sldNum" sz="quarter" idx="12"/>
          </p:nvPr>
        </p:nvSpPr>
        <p:spPr>
          <a:xfrm>
            <a:off x="11158661" y="6659488"/>
            <a:ext cx="876178" cy="324938"/>
          </a:xfrm>
        </p:spPr>
        <p:txBody>
          <a:bodyPr/>
          <a:lstStyle/>
          <a:p>
            <a:fld id="{952B6C0E-C4B9-4094-8E59-5B7DF00D5415}" type="slidenum">
              <a:rPr lang="ru-RU" smtClean="0">
                <a:solidFill>
                  <a:schemeClr val="tx1"/>
                </a:solidFill>
              </a:rPr>
              <a:t>81</a:t>
            </a:fld>
            <a:endParaRPr lang="ru-RU">
              <a:solidFill>
                <a:schemeClr val="tx1"/>
              </a:solidFill>
            </a:endParaRPr>
          </a:p>
        </p:txBody>
      </p:sp>
      <p:sp>
        <p:nvSpPr>
          <p:cNvPr id="17" name="TextBox 16">
            <a:extLst>
              <a:ext uri="{FF2B5EF4-FFF2-40B4-BE49-F238E27FC236}">
                <a16:creationId xmlns:a16="http://schemas.microsoft.com/office/drawing/2014/main" id="{E7666930-49CE-406F-B6BD-ED94353F388C}"/>
              </a:ext>
            </a:extLst>
          </p:cNvPr>
          <p:cNvSpPr txBox="1"/>
          <p:nvPr/>
        </p:nvSpPr>
        <p:spPr>
          <a:xfrm>
            <a:off x="7893057" y="1466869"/>
            <a:ext cx="1430822" cy="400110"/>
          </a:xfrm>
          <a:prstGeom prst="rect">
            <a:avLst/>
          </a:prstGeom>
          <a:noFill/>
        </p:spPr>
        <p:txBody>
          <a:bodyPr wrap="square">
            <a:spAutoFit/>
          </a:bodyPr>
          <a:lstStyle/>
          <a:p>
            <a:r>
              <a:rPr lang="en-US" b="1" i="1" dirty="0">
                <a:effectLst/>
              </a:rPr>
              <a:t>D</a:t>
            </a:r>
            <a:r>
              <a:rPr lang="en-US" b="1" i="1" dirty="0"/>
              <a:t>=</a:t>
            </a:r>
            <a:r>
              <a:rPr lang="en-US" b="1" i="1" dirty="0">
                <a:effectLst/>
              </a:rPr>
              <a:t>f</a:t>
            </a:r>
            <a:r>
              <a:rPr lang="en-US" b="1" i="1" dirty="0"/>
              <a:t>(</a:t>
            </a:r>
            <a:r>
              <a:rPr lang="en-US" b="1" i="1" dirty="0">
                <a:effectLst/>
              </a:rPr>
              <a:t>X</a:t>
            </a:r>
            <a:r>
              <a:rPr lang="en-US" b="1" i="1" dirty="0"/>
              <a:t>)+</a:t>
            </a:r>
            <a:r>
              <a:rPr lang="el-GR" b="1" i="1" dirty="0"/>
              <a:t>ϵ</a:t>
            </a:r>
            <a:endParaRPr lang="ru-RU" b="1" i="1" dirty="0"/>
          </a:p>
        </p:txBody>
      </p:sp>
      <p:pic>
        <p:nvPicPr>
          <p:cNvPr id="4" name="Рисунок 3">
            <a:extLst>
              <a:ext uri="{FF2B5EF4-FFF2-40B4-BE49-F238E27FC236}">
                <a16:creationId xmlns:a16="http://schemas.microsoft.com/office/drawing/2014/main" id="{BA835420-DBBD-4664-A78B-5DD2D960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387" y="1114872"/>
            <a:ext cx="5719641" cy="3299156"/>
          </a:xfrm>
          <a:prstGeom prst="rect">
            <a:avLst/>
          </a:prstGeom>
        </p:spPr>
      </p:pic>
      <p:sp>
        <p:nvSpPr>
          <p:cNvPr id="13" name="TextBox 12">
            <a:extLst>
              <a:ext uri="{FF2B5EF4-FFF2-40B4-BE49-F238E27FC236}">
                <a16:creationId xmlns:a16="http://schemas.microsoft.com/office/drawing/2014/main" id="{93822A92-AA43-43E5-880A-C8B26E8EB241}"/>
              </a:ext>
            </a:extLst>
          </p:cNvPr>
          <p:cNvSpPr txBox="1"/>
          <p:nvPr/>
        </p:nvSpPr>
        <p:spPr>
          <a:xfrm>
            <a:off x="6334125" y="1052642"/>
            <a:ext cx="5472608" cy="400110"/>
          </a:xfrm>
          <a:prstGeom prst="rect">
            <a:avLst/>
          </a:prstGeom>
          <a:noFill/>
        </p:spPr>
        <p:txBody>
          <a:bodyPr wrap="square">
            <a:spAutoFit/>
          </a:bodyPr>
          <a:lstStyle/>
          <a:p>
            <a:r>
              <a:rPr lang="ru-RU" dirty="0"/>
              <a:t>Мы предполагаем, что модель регрессивна:</a:t>
            </a:r>
          </a:p>
        </p:txBody>
      </p:sp>
      <p:sp>
        <p:nvSpPr>
          <p:cNvPr id="16" name="TextBox 15">
            <a:extLst>
              <a:ext uri="{FF2B5EF4-FFF2-40B4-BE49-F238E27FC236}">
                <a16:creationId xmlns:a16="http://schemas.microsoft.com/office/drawing/2014/main" id="{A4B042A0-598A-4C8A-BBBC-D54B8B4B1BE6}"/>
              </a:ext>
            </a:extLst>
          </p:cNvPr>
          <p:cNvSpPr txBox="1"/>
          <p:nvPr/>
        </p:nvSpPr>
        <p:spPr>
          <a:xfrm>
            <a:off x="6137028" y="1968573"/>
            <a:ext cx="6331056" cy="3170099"/>
          </a:xfrm>
          <a:prstGeom prst="rect">
            <a:avLst/>
          </a:prstGeom>
          <a:noFill/>
        </p:spPr>
        <p:txBody>
          <a:bodyPr wrap="square">
            <a:spAutoFit/>
          </a:bodyPr>
          <a:lstStyle/>
          <a:p>
            <a:pPr rtl="0"/>
            <a:r>
              <a:rPr lang="ru-RU" dirty="0"/>
              <a:t>Регрессивная модель обладает двумя свойствами:</a:t>
            </a:r>
          </a:p>
          <a:p>
            <a:r>
              <a:rPr lang="ru-RU" b="1" dirty="0"/>
              <a:t>1. Ошибка среднего значения </a:t>
            </a:r>
          </a:p>
          <a:p>
            <a:pPr>
              <a:buFont typeface="Arial" panose="020B0604020202020204" pitchFamily="34" charset="0"/>
              <a:buChar char="•"/>
            </a:pPr>
            <a:r>
              <a:rPr lang="ru-RU" dirty="0"/>
              <a:t>Среднее значение ошибки ожидания равно нулю: </a:t>
            </a:r>
            <a:r>
              <a:rPr lang="ru-RU" b="1" i="1" dirty="0"/>
              <a:t>E[ϵ∣x]=0 </a:t>
            </a:r>
            <a:r>
              <a:rPr lang="ru-RU" dirty="0"/>
              <a:t>где</a:t>
            </a:r>
            <a:r>
              <a:rPr lang="ru-RU" b="1" i="1" dirty="0"/>
              <a:t> E </a:t>
            </a:r>
            <a:r>
              <a:rPr lang="ru-RU" dirty="0"/>
              <a:t>—статистический</a:t>
            </a:r>
            <a:r>
              <a:rPr lang="en-US" dirty="0"/>
              <a:t> </a:t>
            </a:r>
            <a:r>
              <a:rPr lang="ru-RU" dirty="0"/>
              <a:t>оператор  математического ожидания. </a:t>
            </a:r>
          </a:p>
          <a:p>
            <a:pPr>
              <a:buFont typeface="Arial" panose="020B0604020202020204" pitchFamily="34" charset="0"/>
              <a:buChar char="•"/>
            </a:pPr>
            <a:r>
              <a:rPr lang="ru-RU" dirty="0"/>
              <a:t>Исходя из этого свойства, можно сказать, что функция регрессии</a:t>
            </a:r>
            <a:r>
              <a:rPr lang="ru-RU" b="1" i="1" dirty="0"/>
              <a:t> f(x) </a:t>
            </a:r>
            <a:r>
              <a:rPr lang="ru-RU" dirty="0"/>
              <a:t>— это условное среднее значение выходных данных модели </a:t>
            </a:r>
            <a:r>
              <a:rPr lang="ru-RU" b="1" i="1" dirty="0"/>
              <a:t>D</a:t>
            </a:r>
            <a:r>
              <a:rPr lang="ru-RU" dirty="0"/>
              <a:t> при условии, что входные данные </a:t>
            </a:r>
            <a:r>
              <a:rPr lang="ru-RU" b="1" i="1" dirty="0"/>
              <a:t>X=x </a:t>
            </a:r>
            <a:r>
              <a:rPr lang="ru-RU" dirty="0"/>
              <a:t>представлены следующим образом:</a:t>
            </a:r>
          </a:p>
        </p:txBody>
      </p:sp>
      <p:sp>
        <p:nvSpPr>
          <p:cNvPr id="18" name="TextBox 17">
            <a:extLst>
              <a:ext uri="{FF2B5EF4-FFF2-40B4-BE49-F238E27FC236}">
                <a16:creationId xmlns:a16="http://schemas.microsoft.com/office/drawing/2014/main" id="{48F6C5D9-85D7-4ABA-BFA2-66921EBB6922}"/>
              </a:ext>
            </a:extLst>
          </p:cNvPr>
          <p:cNvSpPr txBox="1"/>
          <p:nvPr/>
        </p:nvSpPr>
        <p:spPr>
          <a:xfrm>
            <a:off x="114546" y="5043798"/>
            <a:ext cx="12439158" cy="1323439"/>
          </a:xfrm>
          <a:prstGeom prst="rect">
            <a:avLst/>
          </a:prstGeom>
          <a:noFill/>
        </p:spPr>
        <p:txBody>
          <a:bodyPr wrap="square">
            <a:spAutoFit/>
          </a:bodyPr>
          <a:lstStyle/>
          <a:p>
            <a:r>
              <a:rPr lang="ru-RU" b="1" dirty="0"/>
              <a:t>2. Принцип ортогональности</a:t>
            </a:r>
          </a:p>
          <a:p>
            <a:pPr>
              <a:buFont typeface="Arial" panose="020B0604020202020204" pitchFamily="34" charset="0"/>
              <a:buChar char="•"/>
            </a:pPr>
            <a:r>
              <a:rPr lang="ru-RU" dirty="0"/>
              <a:t>Ожидаемая ошибка не коррелирует с функцией регрессии </a:t>
            </a:r>
            <a:r>
              <a:rPr lang="ru-RU" b="1" i="1" dirty="0"/>
              <a:t>f(X): E[ϵf(X)]=0. </a:t>
            </a:r>
            <a:r>
              <a:rPr lang="ru-RU" dirty="0"/>
              <a:t>Это свойство называется </a:t>
            </a:r>
            <a:r>
              <a:rPr lang="ru-RU" b="1" i="1" dirty="0"/>
              <a:t>принципом ортогональности</a:t>
            </a:r>
            <a:r>
              <a:rPr lang="ru-RU" dirty="0"/>
              <a:t>. Оно гласит, что вся информация о </a:t>
            </a:r>
            <a:r>
              <a:rPr lang="ru-RU" b="1" i="1" dirty="0"/>
              <a:t>D</a:t>
            </a:r>
            <a:r>
              <a:rPr lang="ru-RU" dirty="0"/>
              <a:t>, доступная нам через входные данные </a:t>
            </a:r>
            <a:r>
              <a:rPr lang="ru-RU" b="1" i="1" dirty="0"/>
              <a:t>X</a:t>
            </a:r>
            <a:r>
              <a:rPr lang="ru-RU" dirty="0"/>
              <a:t>, закодирована в функции регрессии</a:t>
            </a:r>
            <a:r>
              <a:rPr lang="ru-RU" b="1" i="1" dirty="0"/>
              <a:t> f(X). </a:t>
            </a:r>
          </a:p>
        </p:txBody>
      </p:sp>
      <p:pic>
        <p:nvPicPr>
          <p:cNvPr id="9" name="Рисунок 8">
            <a:extLst>
              <a:ext uri="{FF2B5EF4-FFF2-40B4-BE49-F238E27FC236}">
                <a16:creationId xmlns:a16="http://schemas.microsoft.com/office/drawing/2014/main" id="{1FCF251F-49DF-445F-A5D1-8EB02BEFA506}"/>
              </a:ext>
            </a:extLst>
          </p:cNvPr>
          <p:cNvPicPr>
            <a:picLocks noChangeAspect="1"/>
          </p:cNvPicPr>
          <p:nvPr/>
        </p:nvPicPr>
        <p:blipFill>
          <a:blip r:embed="rId3"/>
          <a:stretch>
            <a:fillRect/>
          </a:stretch>
        </p:blipFill>
        <p:spPr>
          <a:xfrm>
            <a:off x="8854405" y="4750676"/>
            <a:ext cx="1872208" cy="369671"/>
          </a:xfrm>
          <a:prstGeom prst="rect">
            <a:avLst/>
          </a:prstGeom>
        </p:spPr>
      </p:pic>
      <p:pic>
        <p:nvPicPr>
          <p:cNvPr id="14" name="Рисунок 13">
            <a:extLst>
              <a:ext uri="{FF2B5EF4-FFF2-40B4-BE49-F238E27FC236}">
                <a16:creationId xmlns:a16="http://schemas.microsoft.com/office/drawing/2014/main" id="{A312A0F3-E5B6-4B09-9747-4ADF0CDAC7E8}"/>
              </a:ext>
            </a:extLst>
          </p:cNvPr>
          <p:cNvPicPr>
            <a:picLocks noChangeAspect="1"/>
          </p:cNvPicPr>
          <p:nvPr/>
        </p:nvPicPr>
        <p:blipFill>
          <a:blip r:embed="rId4"/>
          <a:stretch>
            <a:fillRect/>
          </a:stretch>
        </p:blipFill>
        <p:spPr>
          <a:xfrm>
            <a:off x="6223778" y="5970361"/>
            <a:ext cx="5811061" cy="362001"/>
          </a:xfrm>
          <a:prstGeom prst="rect">
            <a:avLst/>
          </a:prstGeom>
        </p:spPr>
      </p:pic>
      <p:sp>
        <p:nvSpPr>
          <p:cNvPr id="25" name="TextBox 24">
            <a:extLst>
              <a:ext uri="{FF2B5EF4-FFF2-40B4-BE49-F238E27FC236}">
                <a16:creationId xmlns:a16="http://schemas.microsoft.com/office/drawing/2014/main" id="{BE962F1E-D298-4B5D-A98D-F18F43A962AA}"/>
              </a:ext>
            </a:extLst>
          </p:cNvPr>
          <p:cNvSpPr txBox="1"/>
          <p:nvPr/>
        </p:nvSpPr>
        <p:spPr>
          <a:xfrm>
            <a:off x="225497" y="6423997"/>
            <a:ext cx="10282332" cy="646331"/>
          </a:xfrm>
          <a:prstGeom prst="rect">
            <a:avLst/>
          </a:prstGeom>
          <a:noFill/>
        </p:spPr>
        <p:txBody>
          <a:bodyPr wrap="square">
            <a:spAutoFit/>
          </a:bodyPr>
          <a:lstStyle/>
          <a:p>
            <a:r>
              <a:rPr lang="ru-RU" sz="1800" i="1" dirty="0">
                <a:hlinkClick r:id="rId5"/>
              </a:rPr>
              <a:t>Подробнее здесь: https://www.geeksforgeeks.org/deep-learning/statistical-nature-of-the-learning-process-in-neural-networks/</a:t>
            </a:r>
            <a:r>
              <a:rPr lang="ru-RU" sz="1800" i="1" dirty="0"/>
              <a:t> </a:t>
            </a:r>
          </a:p>
        </p:txBody>
      </p:sp>
    </p:spTree>
    <p:extLst>
      <p:ext uri="{BB962C8B-B14F-4D97-AF65-F5344CB8AC3E}">
        <p14:creationId xmlns:p14="http://schemas.microsoft.com/office/powerpoint/2010/main" val="4210663353"/>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1438277" y="322263"/>
            <a:ext cx="11088536" cy="6553200"/>
            <a:chOff x="153" y="203"/>
            <a:chExt cx="6168" cy="4128"/>
          </a:xfrm>
        </p:grpSpPr>
        <p:sp>
          <p:nvSpPr>
            <p:cNvPr id="108550" name="AutoShape 4"/>
            <p:cNvSpPr>
              <a:spLocks noChangeArrowheads="1"/>
            </p:cNvSpPr>
            <p:nvPr/>
          </p:nvSpPr>
          <p:spPr bwMode="auto">
            <a:xfrm>
              <a:off x="153" y="203"/>
              <a:ext cx="6168" cy="4128"/>
            </a:xfrm>
            <a:prstGeom prst="roundRect">
              <a:avLst>
                <a:gd name="adj" fmla="val 16667"/>
              </a:avLst>
            </a:prstGeom>
            <a:solidFill>
              <a:schemeClr val="bg1">
                <a:alpha val="50195"/>
              </a:schemeClr>
            </a:solidFill>
            <a:ln w="9525">
              <a:noFill/>
              <a:round/>
              <a:headEnd/>
              <a:tailEnd/>
            </a:ln>
          </p:spPr>
          <p:txBody>
            <a:bodyPr wrap="none" lIns="99441" tIns="49721" rIns="99441" bIns="49721" anchor="ctr"/>
            <a:lstStyle/>
            <a:p>
              <a:pPr defTabSz="993783"/>
              <a:endParaRPr lang="ru-RU" altLang="ru-RU" sz="3500">
                <a:solidFill>
                  <a:schemeClr val="bg1"/>
                </a:solidFill>
              </a:endParaRPr>
            </a:p>
          </p:txBody>
        </p:sp>
        <p:sp>
          <p:nvSpPr>
            <p:cNvPr id="108551" name="AutoShape 5"/>
            <p:cNvSpPr>
              <a:spLocks noChangeArrowheads="1"/>
            </p:cNvSpPr>
            <p:nvPr/>
          </p:nvSpPr>
          <p:spPr bwMode="auto">
            <a:xfrm>
              <a:off x="561" y="249"/>
              <a:ext cx="5261" cy="589"/>
            </a:xfrm>
            <a:prstGeom prst="roundRect">
              <a:avLst>
                <a:gd name="adj" fmla="val 16667"/>
              </a:avLst>
            </a:prstGeom>
            <a:solidFill>
              <a:srgbClr val="FFFFFF">
                <a:alpha val="78822"/>
              </a:srgbClr>
            </a:solidFill>
            <a:ln w="9525">
              <a:noFill/>
              <a:round/>
              <a:headEnd/>
              <a:tailEnd/>
            </a:ln>
          </p:spPr>
          <p:txBody>
            <a:bodyPr wrap="none" lIns="99441" tIns="49721" rIns="99441" bIns="49721" anchor="ctr"/>
            <a:lstStyle/>
            <a:p>
              <a:pPr defTabSz="993783"/>
              <a:endParaRPr lang="ru-RU" altLang="ru-RU" sz="3500">
                <a:solidFill>
                  <a:schemeClr val="bg1"/>
                </a:solidFill>
              </a:endParaRPr>
            </a:p>
          </p:txBody>
        </p:sp>
        <p:sp>
          <p:nvSpPr>
            <p:cNvPr id="108552" name="AutoShape 6"/>
            <p:cNvSpPr>
              <a:spLocks noChangeArrowheads="1"/>
            </p:cNvSpPr>
            <p:nvPr/>
          </p:nvSpPr>
          <p:spPr bwMode="auto">
            <a:xfrm>
              <a:off x="244" y="1119"/>
              <a:ext cx="5941" cy="3121"/>
            </a:xfrm>
            <a:prstGeom prst="roundRect">
              <a:avLst>
                <a:gd name="adj" fmla="val 16667"/>
              </a:avLst>
            </a:prstGeom>
            <a:solidFill>
              <a:srgbClr val="FFFFFF">
                <a:alpha val="78822"/>
              </a:srgbClr>
            </a:solidFill>
            <a:ln w="9525">
              <a:noFill/>
              <a:round/>
              <a:headEnd/>
              <a:tailEnd/>
            </a:ln>
          </p:spPr>
          <p:txBody>
            <a:bodyPr wrap="none" lIns="99441" tIns="49721" rIns="99441" bIns="49721" anchor="ctr"/>
            <a:lstStyle/>
            <a:p>
              <a:pPr defTabSz="993783"/>
              <a:endParaRPr lang="ru-RU" altLang="ru-RU" sz="3500">
                <a:solidFill>
                  <a:schemeClr val="bg1"/>
                </a:solidFill>
              </a:endParaRPr>
            </a:p>
          </p:txBody>
        </p:sp>
      </p:grpSp>
      <p:sp>
        <p:nvSpPr>
          <p:cNvPr id="108547" name="Заголовок 1"/>
          <p:cNvSpPr>
            <a:spLocks noGrp="1"/>
          </p:cNvSpPr>
          <p:nvPr>
            <p:ph type="title" idx="4294967295"/>
          </p:nvPr>
        </p:nvSpPr>
        <p:spPr bwMode="auto">
          <a:xfrm>
            <a:off x="2373685" y="400792"/>
            <a:ext cx="7643813" cy="596900"/>
          </a:xfrm>
          <a:prstGeom prst="rect">
            <a:avLst/>
          </a:prstGeom>
          <a:noFill/>
          <a:ln algn="ctr">
            <a:miter lim="800000"/>
            <a:headEnd/>
            <a:tailEnd/>
          </a:ln>
        </p:spPr>
        <p:txBody>
          <a:bodyPr vert="horz" lIns="99441" tIns="49721" rIns="99441" bIns="49721" rtlCol="0" anchor="ctr">
            <a:normAutofit/>
          </a:bodyPr>
          <a:lstStyle/>
          <a:p>
            <a:pPr eaLnBrk="1" hangingPunct="1"/>
            <a:r>
              <a:rPr lang="ru-RU" altLang="ru-RU" sz="3100" b="1" dirty="0"/>
              <a:t>Вопросы к экзамену</a:t>
            </a:r>
          </a:p>
        </p:txBody>
      </p:sp>
      <p:sp>
        <p:nvSpPr>
          <p:cNvPr id="63492" name="Объект 2"/>
          <p:cNvSpPr>
            <a:spLocks noGrp="1"/>
          </p:cNvSpPr>
          <p:nvPr>
            <p:ph idx="4294967295"/>
          </p:nvPr>
        </p:nvSpPr>
        <p:spPr bwMode="auto">
          <a:xfrm>
            <a:off x="1005533" y="1230822"/>
            <a:ext cx="11276785" cy="53557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0000" lnSpcReduction="20000"/>
          </a:bodyPr>
          <a:lstStyle/>
          <a:p>
            <a:pPr marL="542925" indent="-542925">
              <a:buFont typeface="+mj-lt"/>
              <a:buAutoNum type="arabicPeriod"/>
            </a:pPr>
            <a:r>
              <a:rPr lang="ru-RU" sz="2600" dirty="0"/>
              <a:t>Стандарты  жизненного цикла </a:t>
            </a:r>
            <a:r>
              <a:rPr lang="en-US" sz="2600" dirty="0"/>
              <a:t>Big Data</a:t>
            </a:r>
            <a:r>
              <a:rPr lang="ru-RU" sz="2600" dirty="0"/>
              <a:t>: </a:t>
            </a:r>
            <a:r>
              <a:rPr lang="en-US" sz="2600" b="1" i="1" dirty="0"/>
              <a:t>CRISP</a:t>
            </a:r>
            <a:r>
              <a:rPr lang="ru-RU" sz="2600" b="1" i="1" dirty="0"/>
              <a:t>-</a:t>
            </a:r>
            <a:r>
              <a:rPr lang="en-US" sz="2600" b="1" i="1" dirty="0"/>
              <a:t>DM </a:t>
            </a:r>
            <a:endParaRPr lang="ru-RU" sz="2600" dirty="0"/>
          </a:p>
          <a:p>
            <a:pPr marL="542925" indent="-542925">
              <a:buFont typeface="+mj-lt"/>
              <a:buAutoNum type="arabicPeriod"/>
            </a:pPr>
            <a:r>
              <a:rPr lang="ru-RU" sz="2600" dirty="0"/>
              <a:t>Принципы и инструменты аналитики. Задачи и компетенции аналитиков </a:t>
            </a:r>
            <a:r>
              <a:rPr lang="en-US" sz="2600" dirty="0"/>
              <a:t>Big Data </a:t>
            </a:r>
            <a:endParaRPr lang="ru-RU" sz="2600" dirty="0"/>
          </a:p>
          <a:p>
            <a:pPr marL="542925" indent="-542925">
              <a:buFont typeface="+mj-lt"/>
              <a:buAutoNum type="arabicPeriod"/>
            </a:pPr>
            <a:r>
              <a:rPr lang="ru-RU" sz="2600" dirty="0"/>
              <a:t>Процесс познания (от гипотезы к функции).</a:t>
            </a:r>
          </a:p>
          <a:p>
            <a:pPr marL="542925" lvl="0" indent="-542925">
              <a:lnSpc>
                <a:spcPct val="115000"/>
              </a:lnSpc>
              <a:buFont typeface="+mj-lt"/>
              <a:buAutoNum type="arabicPeriod"/>
            </a:pPr>
            <a:r>
              <a:rPr lang="ru-RU" sz="2600" dirty="0"/>
              <a:t>Стандарты  жизненного цикла Big Data: CRISP-DM </a:t>
            </a:r>
          </a:p>
          <a:p>
            <a:pPr marL="542925" lvl="0" indent="-542925">
              <a:lnSpc>
                <a:spcPct val="115000"/>
              </a:lnSpc>
              <a:buFont typeface="+mj-lt"/>
              <a:buAutoNum type="arabicPeriod"/>
            </a:pPr>
            <a:r>
              <a:rPr lang="ru-RU" sz="2600" dirty="0"/>
              <a:t>Принципы и инструменты аналитики. Задачи и компетенции аналитиков Big Data </a:t>
            </a:r>
          </a:p>
          <a:p>
            <a:pPr marL="542925" lvl="0" indent="-542925">
              <a:lnSpc>
                <a:spcPct val="115000"/>
              </a:lnSpc>
              <a:buFont typeface="+mj-lt"/>
              <a:buAutoNum type="arabicPeriod"/>
            </a:pPr>
            <a:r>
              <a:rPr lang="ru-RU" sz="2600" dirty="0"/>
              <a:t>Процесс познания (от гипотезы к функции).</a:t>
            </a:r>
          </a:p>
          <a:p>
            <a:pPr marL="542925" lvl="0" indent="-542925">
              <a:lnSpc>
                <a:spcPct val="115000"/>
              </a:lnSpc>
              <a:buFont typeface="+mj-lt"/>
              <a:buAutoNum type="arabicPeriod"/>
            </a:pPr>
            <a:r>
              <a:rPr lang="ru-RU" sz="2600" dirty="0"/>
              <a:t>Примеры эффективного применения аналитики БД </a:t>
            </a:r>
          </a:p>
          <a:p>
            <a:pPr marL="542925" lvl="0" indent="-542925">
              <a:lnSpc>
                <a:spcPct val="115000"/>
              </a:lnSpc>
              <a:buFont typeface="+mj-lt"/>
              <a:buAutoNum type="arabicPeriod"/>
            </a:pPr>
            <a:r>
              <a:rPr lang="ru-RU" sz="2600" dirty="0"/>
              <a:t>Что такое статистическое обучение?</a:t>
            </a:r>
          </a:p>
          <a:p>
            <a:pPr marL="542925" lvl="0" indent="-542925">
              <a:lnSpc>
                <a:spcPct val="115000"/>
              </a:lnSpc>
              <a:buFont typeface="+mj-lt"/>
              <a:buAutoNum type="arabicPeriod"/>
            </a:pPr>
            <a:r>
              <a:rPr lang="ru-RU" sz="2600" dirty="0"/>
              <a:t>В чем разница между описательными и предсказательными задачами </a:t>
            </a:r>
            <a:r>
              <a:rPr lang="en-US" sz="2600" dirty="0"/>
              <a:t>DM</a:t>
            </a:r>
            <a:r>
              <a:rPr lang="ru-RU" sz="2600" dirty="0"/>
              <a:t>? Какие методы анализа лучше приспособлены для описательных, а какие для предсказательных задач?</a:t>
            </a:r>
          </a:p>
          <a:p>
            <a:pPr marL="542925" lvl="0" indent="-542925">
              <a:lnSpc>
                <a:spcPct val="115000"/>
              </a:lnSpc>
              <a:buFont typeface="+mj-lt"/>
              <a:buAutoNum type="arabicPeriod"/>
            </a:pPr>
            <a:r>
              <a:rPr lang="ru-RU" sz="2600" dirty="0"/>
              <a:t>В каких случаях лучше использовать линейные, а когда нелинейные модели анализа данных?</a:t>
            </a:r>
          </a:p>
          <a:p>
            <a:pPr marL="542925" lvl="0" indent="-542925">
              <a:lnSpc>
                <a:spcPct val="115000"/>
              </a:lnSpc>
              <a:buFont typeface="+mj-lt"/>
              <a:buAutoNum type="arabicPeriod"/>
            </a:pPr>
            <a:r>
              <a:rPr lang="ru-RU" sz="2600" dirty="0"/>
              <a:t>Приведите математическое выражение для параметрической модели статистического обучения, для каких задач анализа данных их лучше использовать?</a:t>
            </a:r>
          </a:p>
          <a:p>
            <a:pPr marL="542925" lvl="0" indent="-542925">
              <a:lnSpc>
                <a:spcPct val="115000"/>
              </a:lnSpc>
              <a:buFont typeface="+mj-lt"/>
              <a:buAutoNum type="arabicPeriod"/>
            </a:pPr>
            <a:r>
              <a:rPr lang="ru-RU" sz="2600" dirty="0"/>
              <a:t> В чем состоят преимущества и недостатки непараметрических моделей анализа данных, как осуществить выбор между параметрической и непараметрической моделью?</a:t>
            </a:r>
          </a:p>
          <a:p>
            <a:pPr marL="542925" lvl="0" indent="-542925">
              <a:lnSpc>
                <a:spcPct val="115000"/>
              </a:lnSpc>
              <a:buFont typeface="+mj-lt"/>
              <a:buAutoNum type="arabicPeriod"/>
            </a:pPr>
            <a:r>
              <a:rPr lang="ru-RU" sz="2600" dirty="0"/>
              <a:t>Как выполняется измерение качества модели анализа данных?</a:t>
            </a:r>
          </a:p>
          <a:p>
            <a:pPr marL="542925" lvl="0" indent="-542925">
              <a:lnSpc>
                <a:spcPct val="115000"/>
              </a:lnSpc>
              <a:spcAft>
                <a:spcPts val="1000"/>
              </a:spcAft>
              <a:buFont typeface="+mj-lt"/>
              <a:buAutoNum type="arabicPeriod"/>
            </a:pPr>
            <a:r>
              <a:rPr lang="ru-RU" sz="2600" dirty="0"/>
              <a:t>В чем состоит фундаментальное свойство статистического обучения? Привести примеры.</a:t>
            </a:r>
          </a:p>
          <a:p>
            <a:pPr marL="0" indent="0" defTabSz="914407">
              <a:lnSpc>
                <a:spcPct val="75000"/>
              </a:lnSpc>
              <a:buNone/>
              <a:defRPr/>
            </a:pPr>
            <a:endParaRPr lang="ru-RU" altLang="ru-RU" sz="2400" dirty="0"/>
          </a:p>
          <a:p>
            <a:pPr marL="457204" indent="-457204" defTabSz="914407">
              <a:lnSpc>
                <a:spcPct val="75000"/>
              </a:lnSpc>
              <a:buFont typeface="+mj-lt"/>
              <a:buAutoNum type="arabicPeriod"/>
              <a:defRPr/>
            </a:pPr>
            <a:endParaRPr lang="en-US" altLang="ru-RU" sz="2400" dirty="0"/>
          </a:p>
          <a:p>
            <a:pPr marL="457204" indent="-457204" defTabSz="914407">
              <a:lnSpc>
                <a:spcPct val="75000"/>
              </a:lnSpc>
              <a:buFont typeface="+mj-lt"/>
              <a:buAutoNum type="arabicPeriod"/>
              <a:defRPr/>
            </a:pPr>
            <a:endParaRPr lang="ru-RU" altLang="ru-RU" sz="2400" dirty="0"/>
          </a:p>
        </p:txBody>
      </p:sp>
      <p:sp>
        <p:nvSpPr>
          <p:cNvPr id="3" name="Номер слайда 2">
            <a:extLst>
              <a:ext uri="{FF2B5EF4-FFF2-40B4-BE49-F238E27FC236}">
                <a16:creationId xmlns:a16="http://schemas.microsoft.com/office/drawing/2014/main" id="{64DC8FA6-1AD3-4D45-A6D0-7CBF3F8F063B}"/>
              </a:ext>
            </a:extLst>
          </p:cNvPr>
          <p:cNvSpPr>
            <a:spLocks noGrp="1"/>
          </p:cNvSpPr>
          <p:nvPr>
            <p:ph type="sldNum" sz="quarter" idx="12"/>
          </p:nvPr>
        </p:nvSpPr>
        <p:spPr>
          <a:xfrm>
            <a:off x="11374685" y="6731000"/>
            <a:ext cx="660154" cy="253426"/>
          </a:xfrm>
        </p:spPr>
        <p:txBody>
          <a:bodyPr/>
          <a:lstStyle/>
          <a:p>
            <a:fld id="{952B6C0E-C4B9-4094-8E59-5B7DF00D5415}" type="slidenum">
              <a:rPr lang="ru-RU" smtClean="0">
                <a:solidFill>
                  <a:schemeClr val="tx1"/>
                </a:solidFill>
              </a:rPr>
              <a:t>82</a:t>
            </a:fld>
            <a:endParaRPr lang="ru-RU">
              <a:solidFill>
                <a:schemeClr val="tx1"/>
              </a:solidFill>
            </a:endParaRPr>
          </a:p>
        </p:txBody>
      </p:sp>
      <p:sp>
        <p:nvSpPr>
          <p:cNvPr id="10" name="Text Box 5">
            <a:extLst>
              <a:ext uri="{FF2B5EF4-FFF2-40B4-BE49-F238E27FC236}">
                <a16:creationId xmlns:a16="http://schemas.microsoft.com/office/drawing/2014/main" id="{A914013D-A392-403D-887E-6CE9F9AFA464}"/>
              </a:ext>
            </a:extLst>
          </p:cNvPr>
          <p:cNvSpPr txBox="1">
            <a:spLocks noChangeArrowheads="1"/>
          </p:cNvSpPr>
          <p:nvPr/>
        </p:nvSpPr>
        <p:spPr bwMode="auto">
          <a:xfrm>
            <a:off x="3905252" y="0"/>
            <a:ext cx="5100637" cy="37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441" tIns="49721" rIns="99441" bIns="49721">
            <a:spAutoFit/>
          </a:bodyP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ru-RU" altLang="ru-RU" sz="1800" b="1" dirty="0">
                <a:solidFill>
                  <a:schemeClr val="bg2"/>
                </a:solidFill>
                <a:latin typeface="Courier New" panose="02070309020205020404" pitchFamily="49" charset="0"/>
              </a:rPr>
              <a:t>Обработка больших данных. Л5</a:t>
            </a:r>
          </a:p>
        </p:txBody>
      </p:sp>
    </p:spTree>
  </p:cSld>
  <p:clrMapOvr>
    <a:masterClrMapping/>
  </p:clrMapOvr>
  <p:transition spd="slow"/>
</p:sld>
</file>

<file path=ppt/theme/theme1.xml><?xml version="1.0" encoding="utf-8"?>
<a:theme xmlns:a="http://schemas.openxmlformats.org/drawingml/2006/main" name="ТемаBD">
  <a:themeElements>
    <a:clrScheme name="Воздушный поток">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ТемаBD" id="{B4643AC8-E967-48AD-93DE-0D8A6CF53421}" vid="{AA0A7FE3-190B-45FB-98E6-6B0DB7B7D1E0}"/>
    </a:ext>
  </a:ext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ТемаBD</Template>
  <TotalTime>45995</TotalTime>
  <Words>10864</Words>
  <Application>Microsoft Office PowerPoint</Application>
  <PresentationFormat>Произвольный</PresentationFormat>
  <Paragraphs>769</Paragraphs>
  <Slides>82</Slides>
  <Notes>17</Notes>
  <HiddenSlides>1</HiddenSlides>
  <MMClips>0</MMClips>
  <ScaleCrop>false</ScaleCrop>
  <HeadingPairs>
    <vt:vector size="6" baseType="variant">
      <vt:variant>
        <vt:lpstr>Использованные шрифты</vt:lpstr>
      </vt:variant>
      <vt:variant>
        <vt:i4>13</vt:i4>
      </vt:variant>
      <vt:variant>
        <vt:lpstr>Тема</vt:lpstr>
      </vt:variant>
      <vt:variant>
        <vt:i4>1</vt:i4>
      </vt:variant>
      <vt:variant>
        <vt:lpstr>Заголовки слайдов</vt:lpstr>
      </vt:variant>
      <vt:variant>
        <vt:i4>82</vt:i4>
      </vt:variant>
    </vt:vector>
  </HeadingPairs>
  <TitlesOfParts>
    <vt:vector size="96" baseType="lpstr">
      <vt:lpstr>Arial</vt:lpstr>
      <vt:lpstr>Book Antiqua</vt:lpstr>
      <vt:lpstr>Bookman Old Style</vt:lpstr>
      <vt:lpstr>Calibri</vt:lpstr>
      <vt:lpstr>Calibri Light</vt:lpstr>
      <vt:lpstr>Consolas</vt:lpstr>
      <vt:lpstr>Courier New</vt:lpstr>
      <vt:lpstr>Georgia</vt:lpstr>
      <vt:lpstr>Lucida Console</vt:lpstr>
      <vt:lpstr>Times New Roman</vt:lpstr>
      <vt:lpstr>TimesNewRomanPS-BoldMT</vt:lpstr>
      <vt:lpstr>TimesNewRomanPSMT</vt:lpstr>
      <vt:lpstr>Wingdings</vt:lpstr>
      <vt:lpstr>ТемаBD</vt:lpstr>
      <vt:lpstr>Курс Обработка больших данных</vt:lpstr>
      <vt:lpstr>Содержание</vt:lpstr>
      <vt:lpstr>Процесс аналитики</vt:lpstr>
      <vt:lpstr>"Если вы подыскиваете род деятельности, в котором ваши усилия будут высоко востребованы, вам следует найти область, в которой вы сможете обеспечить дефицитные дополнительные услуги по отношению к тому, что повсеместно распространено и дешево обходится.   А что повсеместно распространено и дешево обходится? Данные. А что является дополнительной услугой по отношению к данным? Анализ".  – Профессор Хал Вариан, университет Беркли, главный экономист Google </vt:lpstr>
      <vt:lpstr>Стандартизация</vt:lpstr>
      <vt:lpstr>Презентация PowerPoint</vt:lpstr>
      <vt:lpstr>Презентация PowerPoint</vt:lpstr>
      <vt:lpstr>Этапы построения модели анализа данных</vt:lpstr>
      <vt:lpstr>Презентация PowerPoint</vt:lpstr>
      <vt:lpstr>Кто работает с Big Data?</vt:lpstr>
      <vt:lpstr>Кто работает с Big Data</vt:lpstr>
      <vt:lpstr>Навыки, необходимые аналитику Big Data</vt:lpstr>
      <vt:lpstr>Презентация PowerPoint</vt:lpstr>
      <vt:lpstr>Что делают Data Scientists?</vt:lpstr>
      <vt:lpstr>Процесс познания</vt:lpstr>
      <vt:lpstr>Процесс познания</vt:lpstr>
      <vt:lpstr>Эмпирическая гипотеза</vt:lpstr>
      <vt:lpstr>Гипотезы: доказательство или опровержение?</vt:lpstr>
      <vt:lpstr>Характеристики гипотез</vt:lpstr>
      <vt:lpstr>Презентация PowerPoint</vt:lpstr>
      <vt:lpstr>Что делают Data Scientists?</vt:lpstr>
      <vt:lpstr>Презентация PowerPoint</vt:lpstr>
      <vt:lpstr>Презентация PowerPoint</vt:lpstr>
      <vt:lpstr>Презентация PowerPoint</vt:lpstr>
      <vt:lpstr>Презентация PowerPoint</vt:lpstr>
      <vt:lpstr>Big Data. Статистическое обучение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Вопросы к экзамену</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Обработка больших данных</dc:title>
  <dc:creator>Tatyana</dc:creator>
  <cp:lastModifiedBy>Tatyana</cp:lastModifiedBy>
  <cp:revision>266</cp:revision>
  <dcterms:created xsi:type="dcterms:W3CDTF">2015-01-17T09:44:41Z</dcterms:created>
  <dcterms:modified xsi:type="dcterms:W3CDTF">2026-03-09T18:57:07Z</dcterms:modified>
</cp:coreProperties>
</file>