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1.xml" ContentType="application/vnd.openxmlformats-officedocument.drawingml.chart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</p:sldMasterIdLst>
  <p:notesMasterIdLst>
    <p:notesMasterId r:id="rId89"/>
  </p:notesMasterIdLst>
  <p:handoutMasterIdLst>
    <p:handoutMasterId r:id="rId90"/>
  </p:handoutMasterIdLst>
  <p:sldIdLst>
    <p:sldId id="425" r:id="rId2"/>
    <p:sldId id="260" r:id="rId3"/>
    <p:sldId id="283" r:id="rId4"/>
    <p:sldId id="395" r:id="rId5"/>
    <p:sldId id="336" r:id="rId6"/>
    <p:sldId id="388" r:id="rId7"/>
    <p:sldId id="335" r:id="rId8"/>
    <p:sldId id="334" r:id="rId9"/>
    <p:sldId id="316" r:id="rId10"/>
    <p:sldId id="312" r:id="rId11"/>
    <p:sldId id="313" r:id="rId12"/>
    <p:sldId id="314" r:id="rId13"/>
    <p:sldId id="315" r:id="rId14"/>
    <p:sldId id="298" r:id="rId15"/>
    <p:sldId id="319" r:id="rId16"/>
    <p:sldId id="333" r:id="rId17"/>
    <p:sldId id="318" r:id="rId18"/>
    <p:sldId id="321" r:id="rId19"/>
    <p:sldId id="323" r:id="rId20"/>
    <p:sldId id="322" r:id="rId21"/>
    <p:sldId id="415" r:id="rId22"/>
    <p:sldId id="423" r:id="rId23"/>
    <p:sldId id="424" r:id="rId24"/>
    <p:sldId id="413" r:id="rId25"/>
    <p:sldId id="414" r:id="rId26"/>
    <p:sldId id="420" r:id="rId27"/>
    <p:sldId id="324" r:id="rId28"/>
    <p:sldId id="325" r:id="rId29"/>
    <p:sldId id="326" r:id="rId30"/>
    <p:sldId id="370" r:id="rId31"/>
    <p:sldId id="327" r:id="rId32"/>
    <p:sldId id="385" r:id="rId33"/>
    <p:sldId id="350" r:id="rId34"/>
    <p:sldId id="355" r:id="rId35"/>
    <p:sldId id="331" r:id="rId36"/>
    <p:sldId id="356" r:id="rId37"/>
    <p:sldId id="363" r:id="rId38"/>
    <p:sldId id="365" r:id="rId39"/>
    <p:sldId id="330" r:id="rId40"/>
    <p:sldId id="367" r:id="rId41"/>
    <p:sldId id="416" r:id="rId42"/>
    <p:sldId id="417" r:id="rId43"/>
    <p:sldId id="386" r:id="rId44"/>
    <p:sldId id="369" r:id="rId45"/>
    <p:sldId id="400" r:id="rId46"/>
    <p:sldId id="371" r:id="rId47"/>
    <p:sldId id="337" r:id="rId48"/>
    <p:sldId id="338" r:id="rId49"/>
    <p:sldId id="399" r:id="rId50"/>
    <p:sldId id="398" r:id="rId51"/>
    <p:sldId id="397" r:id="rId52"/>
    <p:sldId id="339" r:id="rId53"/>
    <p:sldId id="340" r:id="rId54"/>
    <p:sldId id="341" r:id="rId55"/>
    <p:sldId id="342" r:id="rId56"/>
    <p:sldId id="343" r:id="rId57"/>
    <p:sldId id="344" r:id="rId58"/>
    <p:sldId id="345" r:id="rId59"/>
    <p:sldId id="346" r:id="rId60"/>
    <p:sldId id="347" r:id="rId61"/>
    <p:sldId id="348" r:id="rId62"/>
    <p:sldId id="349" r:id="rId63"/>
    <p:sldId id="372" r:id="rId64"/>
    <p:sldId id="374" r:id="rId65"/>
    <p:sldId id="373" r:id="rId66"/>
    <p:sldId id="390" r:id="rId67"/>
    <p:sldId id="375" r:id="rId68"/>
    <p:sldId id="389" r:id="rId69"/>
    <p:sldId id="421" r:id="rId70"/>
    <p:sldId id="376" r:id="rId71"/>
    <p:sldId id="387" r:id="rId72"/>
    <p:sldId id="377" r:id="rId73"/>
    <p:sldId id="378" r:id="rId74"/>
    <p:sldId id="380" r:id="rId75"/>
    <p:sldId id="381" r:id="rId76"/>
    <p:sldId id="426" r:id="rId77"/>
    <p:sldId id="391" r:id="rId78"/>
    <p:sldId id="427" r:id="rId79"/>
    <p:sldId id="392" r:id="rId80"/>
    <p:sldId id="393" r:id="rId81"/>
    <p:sldId id="428" r:id="rId82"/>
    <p:sldId id="382" r:id="rId83"/>
    <p:sldId id="383" r:id="rId84"/>
    <p:sldId id="384" r:id="rId85"/>
    <p:sldId id="394" r:id="rId86"/>
    <p:sldId id="296" r:id="rId87"/>
    <p:sldId id="422" r:id="rId88"/>
  </p:sldIdLst>
  <p:sldSz cx="12668250" cy="7126288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45" userDrawn="1">
          <p15:clr>
            <a:srgbClr val="A4A3A4"/>
          </p15:clr>
        </p15:guide>
        <p15:guide id="2" pos="399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tyana" initials="T" lastIdx="0" clrIdx="0">
    <p:extLst>
      <p:ext uri="{19B8F6BF-5375-455C-9EA6-DF929625EA0E}">
        <p15:presenceInfo xmlns:p15="http://schemas.microsoft.com/office/powerpoint/2012/main" userId="Tatya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FF505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04" autoAdjust="0"/>
    <p:restoredTop sz="94129" autoAdjust="0"/>
  </p:normalViewPr>
  <p:slideViewPr>
    <p:cSldViewPr>
      <p:cViewPr>
        <p:scale>
          <a:sx n="75" d="100"/>
          <a:sy n="75" d="100"/>
        </p:scale>
        <p:origin x="1147" y="610"/>
      </p:cViewPr>
      <p:guideLst>
        <p:guide orient="horz" pos="2245"/>
        <p:guide pos="399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handoutMaster" Target="handoutMasters/handoutMaster1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1806656101426306E-2"/>
          <c:y val="5.3738317757009345E-2"/>
          <c:w val="0.92393026941362921"/>
          <c:h val="0.785046728971962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9999FF"/>
            </a:solidFill>
            <a:ln w="4494">
              <a:solidFill>
                <a:srgbClr val="000000"/>
              </a:solidFill>
              <a:prstDash val="solid"/>
            </a:ln>
          </c:spPr>
          <c:invertIfNegative val="0"/>
          <c:cat>
            <c:strRef>
              <c:f>Лист1!$A$1:$A$5</c:f>
              <c:strCache>
                <c:ptCount val="5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  <c:pt idx="3">
                  <c:v>Любители пива</c:v>
                </c:pt>
                <c:pt idx="4">
                  <c:v>Зеленые</c:v>
                </c:pt>
              </c:strCache>
            </c:strRef>
          </c:cat>
          <c:val>
            <c:numRef>
              <c:f>Лист1!$B$1:$B$5</c:f>
              <c:numCache>
                <c:formatCode>General</c:formatCode>
                <c:ptCount val="5"/>
                <c:pt idx="0">
                  <c:v>14</c:v>
                </c:pt>
                <c:pt idx="1">
                  <c:v>23</c:v>
                </c:pt>
                <c:pt idx="2">
                  <c:v>23</c:v>
                </c:pt>
                <c:pt idx="3">
                  <c:v>8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73-4037-9530-2D4C0A3A76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95376952"/>
        <c:axId val="695369504"/>
      </c:barChart>
      <c:catAx>
        <c:axId val="6953769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124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425" b="1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95369504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95369504"/>
        <c:scaling>
          <c:orientation val="minMax"/>
        </c:scaling>
        <c:delete val="0"/>
        <c:axPos val="l"/>
        <c:majorGridlines>
          <c:spPr>
            <a:ln w="1124">
              <a:solidFill>
                <a:srgbClr val="00000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1124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363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695376952"/>
        <c:crosses val="autoZero"/>
        <c:crossBetween val="between"/>
      </c:valAx>
      <c:spPr>
        <a:solidFill>
          <a:srgbClr val="FFFF99"/>
        </a:solidFill>
        <a:ln w="4494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1124">
      <a:solidFill>
        <a:srgbClr val="000000"/>
      </a:solidFill>
      <a:prstDash val="solid"/>
    </a:ln>
  </c:spPr>
  <c:txPr>
    <a:bodyPr/>
    <a:lstStyle/>
    <a:p>
      <a:pPr>
        <a:defRPr sz="363" b="0" i="0" u="none" strike="noStrike" baseline="0">
          <a:solidFill>
            <a:srgbClr val="000000"/>
          </a:solidFill>
          <a:latin typeface="Arial Cyr"/>
          <a:ea typeface="Arial Cyr"/>
          <a:cs typeface="Arial Cyr"/>
        </a:defRPr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966601178781925"/>
          <c:y val="8.6956521739130432E-2"/>
          <c:w val="0.8526522593320236"/>
          <c:h val="0.6403162055335968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9999FF"/>
            </a:solidFill>
            <a:ln w="13177">
              <a:solidFill>
                <a:srgbClr val="000000"/>
              </a:solidFill>
              <a:prstDash val="solid"/>
            </a:ln>
          </c:spPr>
          <c:invertIfNegative val="0"/>
          <c:cat>
            <c:strRef>
              <c:f>Лист1!$A$1:$A$10</c:f>
              <c:strCache>
                <c:ptCount val="10"/>
                <c:pt idx="0">
                  <c:v>45-49</c:v>
                </c:pt>
                <c:pt idx="1">
                  <c:v>50-54</c:v>
                </c:pt>
                <c:pt idx="2">
                  <c:v>55-59</c:v>
                </c:pt>
                <c:pt idx="3">
                  <c:v>60-64</c:v>
                </c:pt>
                <c:pt idx="4">
                  <c:v>65-69</c:v>
                </c:pt>
                <c:pt idx="5">
                  <c:v>70-74</c:v>
                </c:pt>
                <c:pt idx="6">
                  <c:v>75-79</c:v>
                </c:pt>
                <c:pt idx="7">
                  <c:v>80-84</c:v>
                </c:pt>
                <c:pt idx="8">
                  <c:v>85-89</c:v>
                </c:pt>
                <c:pt idx="9">
                  <c:v>90-94</c:v>
                </c:pt>
              </c:strCache>
            </c:strRef>
          </c:cat>
          <c:val>
            <c:numRef>
              <c:f>Лист1!$C$1:$C$10</c:f>
              <c:numCache>
                <c:formatCode>General</c:formatCode>
                <c:ptCount val="10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10</c:v>
                </c:pt>
                <c:pt idx="4">
                  <c:v>14</c:v>
                </c:pt>
                <c:pt idx="5">
                  <c:v>20</c:v>
                </c:pt>
                <c:pt idx="6">
                  <c:v>11</c:v>
                </c:pt>
                <c:pt idx="7">
                  <c:v>6</c:v>
                </c:pt>
                <c:pt idx="8">
                  <c:v>3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A1-45FB-91FE-5E2DE3459D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670592160"/>
        <c:axId val="670590592"/>
      </c:barChart>
      <c:catAx>
        <c:axId val="67059216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67" b="1" i="0" u="none" strike="noStrike" baseline="0">
                    <a:solidFill>
                      <a:srgbClr val="000000"/>
                    </a:solidFill>
                    <a:latin typeface="Garamond"/>
                    <a:ea typeface="Garamond"/>
                    <a:cs typeface="Garamond"/>
                  </a:defRPr>
                </a:pPr>
                <a:r>
                  <a:rPr lang="ru-RU"/>
                  <a:t>Вес, кг</a:t>
                </a:r>
              </a:p>
            </c:rich>
          </c:tx>
          <c:layout>
            <c:manualLayout>
              <c:xMode val="edge"/>
              <c:yMode val="edge"/>
              <c:x val="0.50491159135559927"/>
              <c:y val="0.8458498023715415"/>
            </c:manualLayout>
          </c:layout>
          <c:overlay val="0"/>
          <c:spPr>
            <a:noFill/>
            <a:ln w="26354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294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986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670590592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7059059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67" b="1" i="0" u="none" strike="noStrike" baseline="0">
                    <a:solidFill>
                      <a:srgbClr val="000000"/>
                    </a:solidFill>
                    <a:latin typeface="Garamond"/>
                    <a:ea typeface="Garamond"/>
                    <a:cs typeface="Garamond"/>
                  </a:defRPr>
                </a:pPr>
                <a:r>
                  <a:rPr lang="ru-RU"/>
                  <a:t>Частота, человек</a:t>
                </a:r>
              </a:p>
            </c:rich>
          </c:tx>
          <c:layout>
            <c:manualLayout>
              <c:xMode val="edge"/>
              <c:yMode val="edge"/>
              <c:x val="2.1611001964636542E-2"/>
              <c:y val="0.16600790513833993"/>
            </c:manualLayout>
          </c:layout>
          <c:overlay val="0"/>
          <c:spPr>
            <a:noFill/>
            <a:ln w="26354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294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986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670592160"/>
        <c:crosses val="autoZero"/>
        <c:crossBetween val="between"/>
      </c:valAx>
      <c:spPr>
        <a:solidFill>
          <a:srgbClr val="C0C0C0"/>
        </a:solidFill>
        <a:ln w="26354">
          <a:noFill/>
        </a:ln>
      </c:spPr>
    </c:plotArea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986" b="0" i="0" u="none" strike="noStrike" baseline="0">
          <a:solidFill>
            <a:srgbClr val="000000"/>
          </a:solidFill>
          <a:latin typeface="Arial Cyr"/>
          <a:ea typeface="Arial Cyr"/>
          <a:cs typeface="Arial Cyr"/>
        </a:defRPr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539440203562342"/>
          <c:y val="8.8353413654618476E-2"/>
          <c:w val="0.54452926208651398"/>
          <c:h val="0.7510040160642570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демократы</c:v>
                </c:pt>
              </c:strCache>
            </c:strRef>
          </c:tx>
          <c:spPr>
            <a:solidFill>
              <a:schemeClr val="accent1"/>
            </a:solidFill>
            <a:ln w="15070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3014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87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политические предпочтения</c:v>
                </c:pt>
              </c:strCache>
            </c:strRef>
          </c:cat>
          <c:val>
            <c:numRef>
              <c:f>Sheet1!$B$2:$B$2</c:f>
              <c:numCache>
                <c:formatCode>0.0%</c:formatCode>
                <c:ptCount val="1"/>
                <c:pt idx="0">
                  <c:v>0.42799999999999999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F6-47D7-A896-4EA4C6E0924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коммунисты</c:v>
                </c:pt>
              </c:strCache>
            </c:strRef>
          </c:tx>
          <c:spPr>
            <a:solidFill>
              <a:schemeClr val="accent2"/>
            </a:solidFill>
            <a:ln w="15070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3014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87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политические предпочтения</c:v>
                </c:pt>
              </c:strCache>
            </c:strRef>
          </c:cat>
          <c:val>
            <c:numRef>
              <c:f>Sheet1!$B$3:$B$3</c:f>
              <c:numCache>
                <c:formatCode>0.0%</c:formatCode>
                <c:ptCount val="1"/>
                <c:pt idx="0">
                  <c:v>0.39100000000000001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F6-47D7-A896-4EA4C6E0924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либералы</c:v>
                </c:pt>
              </c:strCache>
            </c:strRef>
          </c:tx>
          <c:spPr>
            <a:solidFill>
              <a:schemeClr val="hlink"/>
            </a:solidFill>
            <a:ln w="15070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3014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87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политические предпочтения</c:v>
                </c:pt>
              </c:strCache>
            </c:strRef>
          </c:cat>
          <c:val>
            <c:numRef>
              <c:f>Sheet1!$B$4:$B$4</c:f>
              <c:numCache>
                <c:formatCode>0.0%</c:formatCode>
                <c:ptCount val="1"/>
                <c:pt idx="0">
                  <c:v>0.18099999999999999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CF6-47D7-A896-4EA4C6E092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70598040"/>
        <c:axId val="670597256"/>
      </c:barChart>
      <c:catAx>
        <c:axId val="670598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768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87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70597256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70597256"/>
        <c:scaling>
          <c:orientation val="minMax"/>
        </c:scaling>
        <c:delete val="0"/>
        <c:axPos val="l"/>
        <c:majorGridlines>
          <c:spPr>
            <a:ln w="3768">
              <a:solidFill>
                <a:schemeClr val="tx1"/>
              </a:solidFill>
              <a:prstDash val="solid"/>
            </a:ln>
          </c:spPr>
        </c:majorGridlines>
        <c:numFmt formatCode="0.0%" sourceLinked="1"/>
        <c:majorTickMark val="out"/>
        <c:minorTickMark val="none"/>
        <c:tickLblPos val="nextTo"/>
        <c:spPr>
          <a:ln w="3768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87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70598040"/>
        <c:crosses val="autoZero"/>
        <c:crossBetween val="between"/>
      </c:valAx>
      <c:spPr>
        <a:solidFill>
          <a:srgbClr val="C0C0C0"/>
        </a:solidFill>
        <a:ln w="15070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73536895674300251"/>
          <c:y val="0.33333333333333331"/>
          <c:w val="0.2544529262086514"/>
          <c:h val="0.25702811244979917"/>
        </c:manualLayout>
      </c:layout>
      <c:overlay val="0"/>
      <c:spPr>
        <a:noFill/>
        <a:ln w="3768">
          <a:solidFill>
            <a:schemeClr val="tx1"/>
          </a:solidFill>
          <a:prstDash val="solid"/>
        </a:ln>
      </c:spPr>
      <c:txPr>
        <a:bodyPr/>
        <a:lstStyle/>
        <a:p>
          <a:pPr>
            <a:defRPr sz="1092" b="1" i="0" u="none" strike="noStrike" baseline="0">
              <a:solidFill>
                <a:schemeClr val="tx1"/>
              </a:solidFill>
              <a:latin typeface="Arial"/>
              <a:ea typeface="Arial"/>
              <a:cs typeface="Arial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87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ru-RU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95928753180662"/>
          <c:y val="8.8353413654618476E-2"/>
          <c:w val="0.59796437659033075"/>
          <c:h val="0.7510040160642570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демократы</c:v>
                </c:pt>
              </c:strCache>
            </c:strRef>
          </c:tx>
          <c:spPr>
            <a:solidFill>
              <a:schemeClr val="accent1"/>
            </a:solidFill>
            <a:ln w="16545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33089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303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политические предпочтения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13-4C0E-878A-D8A6A3CACE1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коммунисты</c:v>
                </c:pt>
              </c:strCache>
            </c:strRef>
          </c:tx>
          <c:spPr>
            <a:solidFill>
              <a:schemeClr val="accent2"/>
            </a:solidFill>
            <a:ln w="16545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33089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303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политические предпочтения</c:v>
                </c:pt>
              </c:strCache>
            </c:strRef>
          </c:cat>
          <c:val>
            <c:numRef>
              <c:f>Sheet1!$B$3:$B$3</c:f>
              <c:numCache>
                <c:formatCode>General</c:formatCode>
                <c:ptCount val="1"/>
                <c:pt idx="0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13-4C0E-878A-D8A6A3CACE1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либералы</c:v>
                </c:pt>
              </c:strCache>
            </c:strRef>
          </c:tx>
          <c:spPr>
            <a:solidFill>
              <a:schemeClr val="hlink"/>
            </a:solidFill>
            <a:ln w="16545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33089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303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политические предпочтения</c:v>
                </c:pt>
              </c:strCache>
            </c:strRef>
          </c:cat>
          <c:val>
            <c:numRef>
              <c:f>Sheet1!$B$4:$B$4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13-4C0E-878A-D8A6A3CACE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70589808"/>
        <c:axId val="670594904"/>
      </c:barChart>
      <c:catAx>
        <c:axId val="6705898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4136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03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70594904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70594904"/>
        <c:scaling>
          <c:orientation val="minMax"/>
        </c:scaling>
        <c:delete val="0"/>
        <c:axPos val="l"/>
        <c:majorGridlines>
          <c:spPr>
            <a:ln w="4136">
              <a:solidFill>
                <a:schemeClr val="tx1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4136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03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70589808"/>
        <c:crosses val="autoZero"/>
        <c:crossBetween val="between"/>
      </c:valAx>
      <c:spPr>
        <a:solidFill>
          <a:srgbClr val="C0C0C0"/>
        </a:solidFill>
        <a:ln w="16545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73536895674300251"/>
          <c:y val="0.33333333333333331"/>
          <c:w val="0.2544529262086514"/>
          <c:h val="0.25702811244979917"/>
        </c:manualLayout>
      </c:layout>
      <c:overlay val="0"/>
      <c:spPr>
        <a:noFill/>
        <a:ln w="4136">
          <a:solidFill>
            <a:schemeClr val="tx1"/>
          </a:solidFill>
          <a:prstDash val="solid"/>
        </a:ln>
      </c:spPr>
      <c:txPr>
        <a:bodyPr/>
        <a:lstStyle/>
        <a:p>
          <a:pPr>
            <a:defRPr sz="1199" b="1" i="0" u="none" strike="noStrike" baseline="0">
              <a:solidFill>
                <a:schemeClr val="tx1"/>
              </a:solidFill>
              <a:latin typeface="Arial"/>
              <a:ea typeface="Arial"/>
              <a:cs typeface="Arial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303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ru-RU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5826972010178"/>
          <c:y val="8.8353413654618476E-2"/>
          <c:w val="0.82951653944020354"/>
          <c:h val="0.7510040160642570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политические предпочтения</c:v>
                </c:pt>
              </c:strCache>
            </c:strRef>
          </c:tx>
          <c:spPr>
            <a:solidFill>
              <a:schemeClr val="accent1"/>
            </a:solidFill>
            <a:ln w="14339">
              <a:solidFill>
                <a:schemeClr val="tx1"/>
              </a:solidFill>
              <a:prstDash val="solid"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0.42799999999999999</c:v>
                </c:pt>
                <c:pt idx="1">
                  <c:v>0.39100000000000001</c:v>
                </c:pt>
                <c:pt idx="2">
                  <c:v>0.18099999999999999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DE-426A-9307-2DD0BCD56E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70598824"/>
        <c:axId val="670599608"/>
      </c:barChart>
      <c:catAx>
        <c:axId val="670598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585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29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70599608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70599608"/>
        <c:scaling>
          <c:orientation val="minMax"/>
        </c:scaling>
        <c:delete val="0"/>
        <c:axPos val="l"/>
        <c:majorGridlines>
          <c:spPr>
            <a:ln w="3585">
              <a:solidFill>
                <a:schemeClr val="tx1"/>
              </a:solidFill>
              <a:prstDash val="solid"/>
            </a:ln>
          </c:spPr>
        </c:majorGridlines>
        <c:numFmt formatCode="0.0%" sourceLinked="1"/>
        <c:majorTickMark val="out"/>
        <c:minorTickMark val="none"/>
        <c:tickLblPos val="nextTo"/>
        <c:spPr>
          <a:ln w="3585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29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70598824"/>
        <c:crosses val="autoZero"/>
        <c:crossBetween val="between"/>
      </c:valAx>
      <c:spPr>
        <a:solidFill>
          <a:srgbClr val="C0C0C0"/>
        </a:solidFill>
        <a:ln w="14339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29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ru-RU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4147582697201013E-2"/>
          <c:y val="8.8353413654618476E-2"/>
          <c:w val="0.88295165394402031"/>
          <c:h val="0.7510040160642570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политические предпочтения</c:v>
                </c:pt>
              </c:strCache>
            </c:strRef>
          </c:tx>
          <c:spPr>
            <a:solidFill>
              <a:schemeClr val="accent1"/>
            </a:solidFill>
            <a:ln w="13924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27848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96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41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E2-4348-AED8-3E9129EA6F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70601960"/>
        <c:axId val="670604312"/>
      </c:barChart>
      <c:catAx>
        <c:axId val="6706019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481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096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70604312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70604312"/>
        <c:scaling>
          <c:orientation val="minMax"/>
        </c:scaling>
        <c:delete val="0"/>
        <c:axPos val="l"/>
        <c:majorGridlines>
          <c:spPr>
            <a:ln w="3481">
              <a:solidFill>
                <a:schemeClr val="tx1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481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096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70601960"/>
        <c:crosses val="autoZero"/>
        <c:crossBetween val="between"/>
      </c:valAx>
      <c:spPr>
        <a:solidFill>
          <a:srgbClr val="C0C0C0"/>
        </a:solidFill>
        <a:ln w="13924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96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ru-RU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5631067961165"/>
          <c:y val="9.9009900990099015E-2"/>
          <c:w val="0.8679611650485437"/>
          <c:h val="0.6963696369636963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14357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28714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922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неуд.</c:v>
                </c:pt>
                <c:pt idx="1">
                  <c:v>удовл.</c:v>
                </c:pt>
                <c:pt idx="2">
                  <c:v>хорошо</c:v>
                </c:pt>
                <c:pt idx="3">
                  <c:v>отлично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20</c:v>
                </c:pt>
                <c:pt idx="2">
                  <c:v>41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1C-44A9-A9B4-763EA5904A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61468632"/>
        <c:axId val="661474120"/>
      </c:barChart>
      <c:catAx>
        <c:axId val="661468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589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922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6147412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61474120"/>
        <c:scaling>
          <c:orientation val="minMax"/>
        </c:scaling>
        <c:delete val="0"/>
        <c:axPos val="l"/>
        <c:majorGridlines>
          <c:spPr>
            <a:ln w="3589">
              <a:solidFill>
                <a:schemeClr val="tx1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589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922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61468632"/>
        <c:crosses val="autoZero"/>
        <c:crossBetween val="between"/>
      </c:valAx>
      <c:spPr>
        <a:solidFill>
          <a:srgbClr val="C0C0C0"/>
        </a:solidFill>
        <a:ln w="14357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922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ru-RU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5371024734982339E-2"/>
          <c:y val="5.4320987654320987E-2"/>
          <c:w val="0.91872791519434627"/>
          <c:h val="0.7876543209876543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9999FF"/>
            </a:solidFill>
            <a:ln w="12788">
              <a:solidFill>
                <a:srgbClr val="000000"/>
              </a:solidFill>
              <a:prstDash val="solid"/>
            </a:ln>
          </c:spPr>
          <c:invertIfNegative val="0"/>
          <c:cat>
            <c:numRef>
              <c:f>Лист1!$A$2:$A$17</c:f>
              <c:numCache>
                <c:formatCode>General</c:formatCode>
                <c:ptCount val="1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  <c:pt idx="10">
                  <c:v>22</c:v>
                </c:pt>
                <c:pt idx="11">
                  <c:v>24</c:v>
                </c:pt>
                <c:pt idx="12">
                  <c:v>26</c:v>
                </c:pt>
                <c:pt idx="13">
                  <c:v>28</c:v>
                </c:pt>
                <c:pt idx="14">
                  <c:v>30</c:v>
                </c:pt>
                <c:pt idx="15">
                  <c:v>32</c:v>
                </c:pt>
              </c:numCache>
            </c:numRef>
          </c:cat>
          <c:val>
            <c:numRef>
              <c:f>Лист1!$B$2:$B$17</c:f>
              <c:numCache>
                <c:formatCode>General</c:formatCode>
                <c:ptCount val="16"/>
                <c:pt idx="0">
                  <c:v>5</c:v>
                </c:pt>
                <c:pt idx="1">
                  <c:v>18</c:v>
                </c:pt>
                <c:pt idx="2">
                  <c:v>22</c:v>
                </c:pt>
                <c:pt idx="3">
                  <c:v>15</c:v>
                </c:pt>
                <c:pt idx="4">
                  <c:v>8</c:v>
                </c:pt>
                <c:pt idx="7">
                  <c:v>5</c:v>
                </c:pt>
                <c:pt idx="8">
                  <c:v>7</c:v>
                </c:pt>
                <c:pt idx="9">
                  <c:v>10</c:v>
                </c:pt>
                <c:pt idx="10">
                  <c:v>16</c:v>
                </c:pt>
                <c:pt idx="11">
                  <c:v>14</c:v>
                </c:pt>
                <c:pt idx="12">
                  <c:v>14</c:v>
                </c:pt>
                <c:pt idx="13">
                  <c:v>7</c:v>
                </c:pt>
                <c:pt idx="14">
                  <c:v>3</c:v>
                </c:pt>
                <c:pt idx="1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53-41D3-97F1-E1A60D8B48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661475296"/>
        <c:axId val="661476080"/>
      </c:barChart>
      <c:catAx>
        <c:axId val="6614752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82" b="1" i="0" u="none" strike="noStrike" baseline="0">
                    <a:solidFill>
                      <a:srgbClr val="000000"/>
                    </a:solidFill>
                    <a:latin typeface="Arial Cyr"/>
                    <a:ea typeface="Arial Cyr"/>
                    <a:cs typeface="Arial Cyr"/>
                  </a:defRPr>
                </a:pPr>
                <a:r>
                  <a:rPr lang="ru-RU"/>
                  <a:t>Дни</a:t>
                </a:r>
              </a:p>
            </c:rich>
          </c:tx>
          <c:layout>
            <c:manualLayout>
              <c:xMode val="edge"/>
              <c:yMode val="edge"/>
              <c:x val="0.49823321554770317"/>
              <c:y val="0.91604938271604941"/>
            </c:manualLayout>
          </c:layout>
          <c:overlay val="0"/>
          <c:spPr>
            <a:noFill/>
            <a:ln w="25576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97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982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66147608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61476080"/>
        <c:scaling>
          <c:orientation val="minMax"/>
        </c:scaling>
        <c:delete val="0"/>
        <c:axPos val="l"/>
        <c:majorGridlines>
          <c:spPr>
            <a:ln w="3197">
              <a:solidFill>
                <a:srgbClr val="00000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97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982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661475296"/>
        <c:crosses val="autoZero"/>
        <c:crossBetween val="between"/>
      </c:valAx>
      <c:spPr>
        <a:solidFill>
          <a:srgbClr val="C0C0C0"/>
        </a:solidFill>
        <a:ln w="12788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3197">
      <a:solidFill>
        <a:srgbClr val="000000"/>
      </a:solidFill>
      <a:prstDash val="solid"/>
    </a:ln>
  </c:spPr>
  <c:txPr>
    <a:bodyPr/>
    <a:lstStyle/>
    <a:p>
      <a:pPr>
        <a:defRPr sz="982" b="0" i="0" u="none" strike="noStrike" baseline="0">
          <a:solidFill>
            <a:srgbClr val="000000"/>
          </a:solidFill>
          <a:latin typeface="Arial Cyr"/>
          <a:ea typeface="Arial Cyr"/>
          <a:cs typeface="Arial Cyr"/>
        </a:defRPr>
      </a:pPr>
      <a:endParaRPr lang="ru-RU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7395264116575593E-2"/>
          <c:y val="5.5415617128463476E-2"/>
          <c:w val="0.91621129326047357"/>
          <c:h val="0.7833753148614609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9999FF"/>
            </a:solidFill>
            <a:ln w="12129">
              <a:solidFill>
                <a:srgbClr val="000000"/>
              </a:solidFill>
              <a:prstDash val="solid"/>
            </a:ln>
          </c:spPr>
          <c:invertIfNegative val="0"/>
          <c:cat>
            <c:numRef>
              <c:f>'Лист1 (2)'!$A$2:$A$17</c:f>
              <c:numCache>
                <c:formatCode>General</c:formatCode>
                <c:ptCount val="1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  <c:pt idx="10">
                  <c:v>22</c:v>
                </c:pt>
                <c:pt idx="11">
                  <c:v>24</c:v>
                </c:pt>
                <c:pt idx="12">
                  <c:v>26</c:v>
                </c:pt>
                <c:pt idx="13">
                  <c:v>28</c:v>
                </c:pt>
                <c:pt idx="14">
                  <c:v>30</c:v>
                </c:pt>
                <c:pt idx="15">
                  <c:v>32</c:v>
                </c:pt>
              </c:numCache>
            </c:numRef>
          </c:cat>
          <c:val>
            <c:numRef>
              <c:f>'Лист1 (2)'!$B$2:$B$17</c:f>
              <c:numCache>
                <c:formatCode>General</c:formatCode>
                <c:ptCount val="16"/>
                <c:pt idx="0">
                  <c:v>5</c:v>
                </c:pt>
                <c:pt idx="1">
                  <c:v>12</c:v>
                </c:pt>
                <c:pt idx="2">
                  <c:v>22</c:v>
                </c:pt>
                <c:pt idx="3">
                  <c:v>20</c:v>
                </c:pt>
                <c:pt idx="4">
                  <c:v>8</c:v>
                </c:pt>
                <c:pt idx="5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3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AD-4EE1-824F-C08FB64FED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661476864"/>
        <c:axId val="661478824"/>
      </c:barChart>
      <c:catAx>
        <c:axId val="66147686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7" b="1" i="0" u="none" strike="noStrike" baseline="0">
                    <a:solidFill>
                      <a:srgbClr val="000000"/>
                    </a:solidFill>
                    <a:latin typeface="Arial Cyr"/>
                    <a:ea typeface="Arial Cyr"/>
                    <a:cs typeface="Arial Cyr"/>
                  </a:defRPr>
                </a:pPr>
                <a:r>
                  <a:rPr lang="ru-RU"/>
                  <a:t>Минуты</a:t>
                </a:r>
              </a:p>
            </c:rich>
          </c:tx>
          <c:layout>
            <c:manualLayout>
              <c:xMode val="edge"/>
              <c:yMode val="edge"/>
              <c:x val="0.47358834244080145"/>
              <c:y val="0.91435768261964734"/>
            </c:manualLayout>
          </c:layout>
          <c:overlay val="0"/>
          <c:spPr>
            <a:noFill/>
            <a:ln w="24259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032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907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661478824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61478824"/>
        <c:scaling>
          <c:orientation val="minMax"/>
        </c:scaling>
        <c:delete val="0"/>
        <c:axPos val="l"/>
        <c:majorGridlines>
          <c:spPr>
            <a:ln w="3032">
              <a:solidFill>
                <a:srgbClr val="00000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032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907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661476864"/>
        <c:crosses val="autoZero"/>
        <c:crossBetween val="between"/>
      </c:valAx>
      <c:spPr>
        <a:solidFill>
          <a:srgbClr val="C0C0C0"/>
        </a:solidFill>
        <a:ln w="12129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3032">
      <a:solidFill>
        <a:srgbClr val="000000"/>
      </a:solidFill>
      <a:prstDash val="solid"/>
    </a:ln>
  </c:spPr>
  <c:txPr>
    <a:bodyPr/>
    <a:lstStyle/>
    <a:p>
      <a:pPr>
        <a:defRPr sz="907" b="0" i="0" u="none" strike="noStrike" baseline="0">
          <a:solidFill>
            <a:srgbClr val="000000"/>
          </a:solidFill>
          <a:latin typeface="Arial Cyr"/>
          <a:ea typeface="Arial Cyr"/>
          <a:cs typeface="Arial Cyr"/>
        </a:defRPr>
      </a:pPr>
      <a:endParaRPr lang="ru-RU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16969390466556"/>
          <c:y val="0.10840382534873105"/>
          <c:w val="0.83693516699410608"/>
          <c:h val="0.63070539419087135"/>
        </c:manualLayout>
      </c:layout>
      <c:areaChart>
        <c:grouping val="stacked"/>
        <c:varyColors val="0"/>
        <c:ser>
          <c:idx val="1"/>
          <c:order val="0"/>
          <c:spPr>
            <a:solidFill>
              <a:srgbClr val="969696"/>
            </a:solidFill>
            <a:ln w="14588">
              <a:solidFill>
                <a:srgbClr val="000000"/>
              </a:solidFill>
              <a:prstDash val="solid"/>
            </a:ln>
          </c:spPr>
          <c:cat>
            <c:numRef>
              <c:f>Лист1!$B$1:$B$10</c:f>
              <c:numCache>
                <c:formatCode>General</c:formatCode>
                <c:ptCount val="10"/>
                <c:pt idx="0">
                  <c:v>45</c:v>
                </c:pt>
                <c:pt idx="1">
                  <c:v>50</c:v>
                </c:pt>
                <c:pt idx="2">
                  <c:v>55</c:v>
                </c:pt>
                <c:pt idx="3">
                  <c:v>60</c:v>
                </c:pt>
                <c:pt idx="4">
                  <c:v>65</c:v>
                </c:pt>
                <c:pt idx="5">
                  <c:v>70</c:v>
                </c:pt>
                <c:pt idx="6">
                  <c:v>75</c:v>
                </c:pt>
                <c:pt idx="7">
                  <c:v>80</c:v>
                </c:pt>
                <c:pt idx="8">
                  <c:v>85</c:v>
                </c:pt>
                <c:pt idx="9">
                  <c:v>90</c:v>
                </c:pt>
              </c:numCache>
            </c:numRef>
          </c:cat>
          <c:val>
            <c:numRef>
              <c:f>Лист1!$D$1:$D$10</c:f>
              <c:numCache>
                <c:formatCode>General</c:formatCode>
                <c:ptCount val="10"/>
                <c:pt idx="0">
                  <c:v>2</c:v>
                </c:pt>
                <c:pt idx="1">
                  <c:v>7</c:v>
                </c:pt>
                <c:pt idx="2">
                  <c:v>12</c:v>
                </c:pt>
                <c:pt idx="3">
                  <c:v>22</c:v>
                </c:pt>
                <c:pt idx="4">
                  <c:v>36</c:v>
                </c:pt>
                <c:pt idx="5">
                  <c:v>56</c:v>
                </c:pt>
                <c:pt idx="6">
                  <c:v>67</c:v>
                </c:pt>
                <c:pt idx="7">
                  <c:v>73</c:v>
                </c:pt>
                <c:pt idx="8">
                  <c:v>76</c:v>
                </c:pt>
                <c:pt idx="9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7F-4098-B400-6D6147CE84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8155624"/>
        <c:axId val="518159544"/>
      </c:areaChart>
      <c:catAx>
        <c:axId val="5181556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35" b="1" i="0" u="none" strike="noStrike" baseline="0">
                    <a:solidFill>
                      <a:srgbClr val="000000"/>
                    </a:solidFill>
                    <a:latin typeface="Garamond"/>
                    <a:ea typeface="Garamond"/>
                    <a:cs typeface="Garamond"/>
                  </a:defRPr>
                </a:pPr>
                <a:r>
                  <a:rPr lang="ru-RU"/>
                  <a:t>Вес, кг</a:t>
                </a:r>
              </a:p>
            </c:rich>
          </c:tx>
          <c:layout>
            <c:manualLayout>
              <c:xMode val="edge"/>
              <c:yMode val="edge"/>
              <c:x val="0.49705304518664045"/>
              <c:y val="0.84232365145228216"/>
            </c:manualLayout>
          </c:layout>
          <c:overlay val="0"/>
          <c:spPr>
            <a:noFill/>
            <a:ln w="29176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647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34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518159544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51815954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35" b="1" i="0" u="none" strike="noStrike" baseline="0">
                    <a:solidFill>
                      <a:srgbClr val="000000"/>
                    </a:solidFill>
                    <a:latin typeface="Garamond"/>
                    <a:ea typeface="Garamond"/>
                    <a:cs typeface="Garamond"/>
                  </a:defRPr>
                </a:pPr>
                <a:r>
                  <a:rPr lang="ru-RU"/>
                  <a:t>Частота, человек</a:t>
                </a:r>
              </a:p>
            </c:rich>
          </c:tx>
          <c:layout>
            <c:manualLayout>
              <c:xMode val="edge"/>
              <c:yMode val="edge"/>
              <c:x val="2.1611001964636542E-2"/>
              <c:y val="0.17012448132780084"/>
            </c:manualLayout>
          </c:layout>
          <c:overlay val="0"/>
          <c:spPr>
            <a:noFill/>
            <a:ln w="29176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647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34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518155624"/>
        <c:crosses val="autoZero"/>
        <c:crossBetween val="midCat"/>
      </c:valAx>
      <c:spPr>
        <a:solidFill>
          <a:srgbClr val="C0C0C0"/>
        </a:solidFill>
        <a:ln w="29176">
          <a:noFill/>
        </a:ln>
      </c:spPr>
    </c:plotArea>
    <c:plotVisOnly val="1"/>
    <c:dispBlanksAs val="zero"/>
    <c:showDLblsOverMax val="0"/>
  </c:chart>
  <c:spPr>
    <a:solidFill>
      <a:srgbClr val="FFFFFF"/>
    </a:solidFill>
    <a:ln>
      <a:noFill/>
    </a:ln>
  </c:spPr>
  <c:txPr>
    <a:bodyPr/>
    <a:lstStyle/>
    <a:p>
      <a:pPr>
        <a:defRPr sz="1034" b="0" i="0" u="none" strike="noStrike" baseline="0">
          <a:solidFill>
            <a:srgbClr val="000000"/>
          </a:solidFill>
          <a:latin typeface="Arial Cyr"/>
          <a:ea typeface="Arial Cyr"/>
          <a:cs typeface="Arial Cyr"/>
        </a:defRPr>
      </a:pPr>
      <a:endParaRPr lang="ru-RU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40"/>
      <c:rotY val="16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5.8565153733528552E-2"/>
          <c:y val="0.16371681415929204"/>
          <c:w val="0.59736456808199123"/>
          <c:h val="0.67699115044247793"/>
        </c:manualLayout>
      </c:layout>
      <c:pie3DChart>
        <c:varyColors val="1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spPr>
            <a:solidFill>
              <a:schemeClr val="accent1"/>
            </a:solidFill>
            <a:ln w="8482">
              <a:solidFill>
                <a:schemeClr val="tx1"/>
              </a:solidFill>
              <a:prstDash val="solid"/>
            </a:ln>
          </c:spPr>
          <c:explosion val="25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62-41AB-BE1C-0C9F53F3D16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8482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1B62-41AB-BE1C-0C9F53F3D162}"/>
              </c:ext>
            </c:extLst>
          </c:dPt>
          <c:dPt>
            <c:idx val="2"/>
            <c:bubble3D val="0"/>
            <c:spPr>
              <a:solidFill>
                <a:schemeClr val="hlink"/>
              </a:solidFill>
              <a:ln w="8482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1B62-41AB-BE1C-0C9F53F3D162}"/>
              </c:ext>
            </c:extLst>
          </c:dPt>
          <c:cat>
            <c:strRef>
              <c:f>Sheet1!$B$1:$D$1</c:f>
              <c:strCache>
                <c:ptCount val="3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45</c:v>
                </c:pt>
                <c:pt idx="1">
                  <c:v>43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B62-41AB-BE1C-0C9F53F3D16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</c:strCache>
            </c:strRef>
          </c:tx>
          <c:spPr>
            <a:solidFill>
              <a:schemeClr val="accent2"/>
            </a:solidFill>
            <a:ln w="8482">
              <a:solidFill>
                <a:schemeClr val="tx1"/>
              </a:solidFill>
              <a:prstDash val="solid"/>
            </a:ln>
          </c:spPr>
          <c:explosion val="25"/>
          <c:dPt>
            <c:idx val="0"/>
            <c:bubble3D val="0"/>
            <c:spPr>
              <a:solidFill>
                <a:schemeClr val="accent1"/>
              </a:solidFill>
              <a:ln w="8482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1B62-41AB-BE1C-0C9F53F3D162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8-1B62-41AB-BE1C-0C9F53F3D162}"/>
              </c:ext>
            </c:extLst>
          </c:dPt>
          <c:dPt>
            <c:idx val="2"/>
            <c:bubble3D val="0"/>
            <c:spPr>
              <a:solidFill>
                <a:schemeClr val="hlink"/>
              </a:solidFill>
              <a:ln w="8482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A-1B62-41AB-BE1C-0C9F53F3D162}"/>
              </c:ext>
            </c:extLst>
          </c:dPt>
          <c:cat>
            <c:strRef>
              <c:f>Sheet1!$B$1:$D$1</c:f>
              <c:strCache>
                <c:ptCount val="3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B-1B62-41AB-BE1C-0C9F53F3D16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</c:strCache>
            </c:strRef>
          </c:tx>
          <c:spPr>
            <a:solidFill>
              <a:schemeClr val="hlink"/>
            </a:solidFill>
            <a:ln w="8482">
              <a:solidFill>
                <a:schemeClr val="tx1"/>
              </a:solidFill>
              <a:prstDash val="solid"/>
            </a:ln>
          </c:spPr>
          <c:explosion val="25"/>
          <c:dPt>
            <c:idx val="0"/>
            <c:bubble3D val="0"/>
            <c:spPr>
              <a:solidFill>
                <a:schemeClr val="accent1"/>
              </a:solidFill>
              <a:ln w="8482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D-1B62-41AB-BE1C-0C9F53F3D16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8482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F-1B62-41AB-BE1C-0C9F53F3D162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10-1B62-41AB-BE1C-0C9F53F3D162}"/>
              </c:ext>
            </c:extLst>
          </c:dPt>
          <c:cat>
            <c:strRef>
              <c:f>Sheet1!$B$1:$D$1</c:f>
              <c:strCache>
                <c:ptCount val="3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</c:strCache>
            </c:strRef>
          </c:cat>
          <c:val>
            <c:numRef>
              <c:f>Sheet1!$B$4:$D$4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11-1B62-41AB-BE1C-0C9F53F3D1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 w="8482">
          <a:solidFill>
            <a:schemeClr val="tx1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71303074670571009"/>
          <c:y val="0.38274336283185839"/>
          <c:w val="0.28111273792093705"/>
          <c:h val="0.23451327433628319"/>
        </c:manualLayout>
      </c:layout>
      <c:overlay val="0"/>
      <c:spPr>
        <a:noFill/>
        <a:ln w="2120">
          <a:solidFill>
            <a:schemeClr val="tx1"/>
          </a:solidFill>
          <a:prstDash val="solid"/>
        </a:ln>
      </c:spPr>
      <c:txPr>
        <a:bodyPr/>
        <a:lstStyle/>
        <a:p>
          <a:pPr>
            <a:defRPr sz="1105" b="1" i="0" u="none" strike="noStrike" baseline="0">
              <a:solidFill>
                <a:schemeClr val="tx1"/>
              </a:solidFill>
              <a:latin typeface="Arial"/>
              <a:ea typeface="Arial"/>
              <a:cs typeface="Arial"/>
            </a:defRPr>
          </a:pPr>
          <a:endParaRPr lang="ru-RU"/>
        </a:p>
      </c:txPr>
    </c:legend>
    <c:plotVisOnly val="1"/>
    <c:dispBlanksAs val="zero"/>
    <c:showDLblsOverMax val="0"/>
  </c:chart>
  <c:spPr>
    <a:noFill/>
    <a:ln>
      <a:noFill/>
    </a:ln>
  </c:spPr>
  <c:txPr>
    <a:bodyPr/>
    <a:lstStyle/>
    <a:p>
      <a:pPr>
        <a:defRPr sz="1202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ru-RU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527086383601759E-2"/>
          <c:y val="8.4070796460176997E-2"/>
          <c:w val="0.55344070278184476"/>
          <c:h val="0.83628318584070793"/>
        </c:manualLayout>
      </c:layout>
      <c:doughnutChart>
        <c:varyColors val="1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spPr>
            <a:solidFill>
              <a:schemeClr val="accent1"/>
            </a:solidFill>
            <a:ln w="8206">
              <a:solidFill>
                <a:schemeClr val="tx1"/>
              </a:solidFill>
              <a:prstDash val="solid"/>
            </a:ln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5EBB-4AEE-BBDE-696AD01AC3D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8206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5EBB-4AEE-BBDE-696AD01AC3D5}"/>
              </c:ext>
            </c:extLst>
          </c:dPt>
          <c:dPt>
            <c:idx val="2"/>
            <c:bubble3D val="0"/>
            <c:spPr>
              <a:solidFill>
                <a:schemeClr val="hlink"/>
              </a:solidFill>
              <a:ln w="8206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5EBB-4AEE-BBDE-696AD01AC3D5}"/>
              </c:ext>
            </c:extLst>
          </c:dPt>
          <c:cat>
            <c:strRef>
              <c:f>Sheet1!$B$1:$D$1</c:f>
              <c:strCache>
                <c:ptCount val="3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45</c:v>
                </c:pt>
                <c:pt idx="1">
                  <c:v>43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EBB-4AEE-BBDE-696AD01AC3D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</c:strCache>
            </c:strRef>
          </c:tx>
          <c:spPr>
            <a:solidFill>
              <a:schemeClr val="accent2"/>
            </a:solidFill>
            <a:ln w="8206">
              <a:solidFill>
                <a:schemeClr val="tx1"/>
              </a:solidFill>
              <a:prstDash val="solid"/>
            </a:ln>
          </c:spPr>
          <c:dPt>
            <c:idx val="0"/>
            <c:bubble3D val="0"/>
            <c:spPr>
              <a:solidFill>
                <a:schemeClr val="accent1"/>
              </a:solidFill>
              <a:ln w="8206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5EBB-4AEE-BBDE-696AD01AC3D5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8-5EBB-4AEE-BBDE-696AD01AC3D5}"/>
              </c:ext>
            </c:extLst>
          </c:dPt>
          <c:dPt>
            <c:idx val="2"/>
            <c:bubble3D val="0"/>
            <c:spPr>
              <a:solidFill>
                <a:schemeClr val="hlink"/>
              </a:solidFill>
              <a:ln w="8206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A-5EBB-4AEE-BBDE-696AD01AC3D5}"/>
              </c:ext>
            </c:extLst>
          </c:dPt>
          <c:cat>
            <c:strRef>
              <c:f>Sheet1!$B$1:$D$1</c:f>
              <c:strCache>
                <c:ptCount val="3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B-5EBB-4AEE-BBDE-696AD01AC3D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</c:strCache>
            </c:strRef>
          </c:tx>
          <c:spPr>
            <a:solidFill>
              <a:schemeClr val="hlink"/>
            </a:solidFill>
            <a:ln w="8206">
              <a:solidFill>
                <a:schemeClr val="tx1"/>
              </a:solidFill>
              <a:prstDash val="solid"/>
            </a:ln>
          </c:spPr>
          <c:dPt>
            <c:idx val="0"/>
            <c:bubble3D val="0"/>
            <c:spPr>
              <a:solidFill>
                <a:schemeClr val="accent1"/>
              </a:solidFill>
              <a:ln w="8206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D-5EBB-4AEE-BBDE-696AD01AC3D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8206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F-5EBB-4AEE-BBDE-696AD01AC3D5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10-5EBB-4AEE-BBDE-696AD01AC3D5}"/>
              </c:ext>
            </c:extLst>
          </c:dPt>
          <c:cat>
            <c:strRef>
              <c:f>Sheet1!$B$1:$D$1</c:f>
              <c:strCache>
                <c:ptCount val="3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</c:strCache>
            </c:strRef>
          </c:cat>
          <c:val>
            <c:numRef>
              <c:f>Sheet1!$B$4:$D$4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11-5EBB-4AEE-BBDE-696AD01AC3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0"/>
        <c:holeSize val="50"/>
      </c:doughnutChart>
      <c:spPr>
        <a:noFill/>
        <a:ln w="8206">
          <a:solidFill>
            <a:schemeClr val="tx1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71303074670571009"/>
          <c:y val="0.38274336283185839"/>
          <c:w val="0.28111273792093705"/>
          <c:h val="0.23451327433628319"/>
        </c:manualLayout>
      </c:layout>
      <c:overlay val="0"/>
      <c:spPr>
        <a:noFill/>
        <a:ln w="2051">
          <a:solidFill>
            <a:schemeClr val="tx1"/>
          </a:solidFill>
          <a:prstDash val="solid"/>
        </a:ln>
      </c:spPr>
      <c:txPr>
        <a:bodyPr/>
        <a:lstStyle/>
        <a:p>
          <a:pPr>
            <a:defRPr sz="1069" b="1" i="0" u="none" strike="noStrike" baseline="0">
              <a:solidFill>
                <a:schemeClr val="tx1"/>
              </a:solidFill>
              <a:latin typeface="Arial"/>
              <a:ea typeface="Arial"/>
              <a:cs typeface="Arial"/>
            </a:defRPr>
          </a:pPr>
          <a:endParaRPr lang="ru-RU"/>
        </a:p>
      </c:txPr>
    </c:legend>
    <c:plotVisOnly val="1"/>
    <c:dispBlanksAs val="zero"/>
    <c:showDLblsOverMax val="0"/>
  </c:chart>
  <c:spPr>
    <a:noFill/>
    <a:ln>
      <a:noFill/>
    </a:ln>
  </c:spPr>
  <c:txPr>
    <a:bodyPr/>
    <a:lstStyle/>
    <a:p>
      <a:pPr>
        <a:defRPr sz="1163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ru-RU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2B017D-36E6-46CB-A9EB-DC64CD0E27D4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</dgm:pt>
    <dgm:pt modelId="{260A5979-1BCB-4147-86D7-1EDF1AD027A9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Данные</a:t>
          </a:r>
        </a:p>
      </dgm:t>
    </dgm:pt>
    <dgm:pt modelId="{47EE30CA-A953-4C60-8653-7E472D48C578}" type="parTrans" cxnId="{4A6CF848-3B40-47E1-8517-6F7E3BBAA586}">
      <dgm:prSet/>
      <dgm:spPr/>
      <dgm:t>
        <a:bodyPr/>
        <a:lstStyle/>
        <a:p>
          <a:endParaRPr lang="ru-RU" sz="2800">
            <a:solidFill>
              <a:schemeClr val="bg1"/>
            </a:solidFill>
          </a:endParaRPr>
        </a:p>
      </dgm:t>
    </dgm:pt>
    <dgm:pt modelId="{B5B2A441-CFE7-43A5-AC4B-500F37D57EE8}" type="sibTrans" cxnId="{4A6CF848-3B40-47E1-8517-6F7E3BBAA586}">
      <dgm:prSet/>
      <dgm:spPr/>
      <dgm:t>
        <a:bodyPr/>
        <a:lstStyle/>
        <a:p>
          <a:endParaRPr lang="ru-RU" sz="2800">
            <a:solidFill>
              <a:schemeClr val="bg1"/>
            </a:solidFill>
          </a:endParaRPr>
        </a:p>
      </dgm:t>
    </dgm:pt>
    <dgm:pt modelId="{EF1B6C5A-593C-4E5B-881E-840A3381278B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Категории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(качественные данные)</a:t>
          </a:r>
        </a:p>
      </dgm:t>
    </dgm:pt>
    <dgm:pt modelId="{691C4EDD-3F43-45F9-AB08-12EACE198779}" type="parTrans" cxnId="{48D2CEEB-4DE8-45F2-A34E-7BD11BFE3693}">
      <dgm:prSet/>
      <dgm:spPr/>
      <dgm:t>
        <a:bodyPr/>
        <a:lstStyle/>
        <a:p>
          <a:endParaRPr lang="ru-RU" sz="2800">
            <a:solidFill>
              <a:schemeClr val="bg1"/>
            </a:solidFill>
          </a:endParaRPr>
        </a:p>
      </dgm:t>
    </dgm:pt>
    <dgm:pt modelId="{257DC315-C2D6-4B1C-999F-E976D79918EC}" type="sibTrans" cxnId="{48D2CEEB-4DE8-45F2-A34E-7BD11BFE3693}">
      <dgm:prSet/>
      <dgm:spPr/>
      <dgm:t>
        <a:bodyPr/>
        <a:lstStyle/>
        <a:p>
          <a:endParaRPr lang="ru-RU" sz="2800">
            <a:solidFill>
              <a:schemeClr val="bg1"/>
            </a:solidFill>
          </a:endParaRPr>
        </a:p>
      </dgm:t>
    </dgm:pt>
    <dgm:pt modelId="{EFC7ACBE-062A-4A07-A80B-0FAC4126BCCF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Номинальные</a:t>
          </a:r>
        </a:p>
      </dgm:t>
    </dgm:pt>
    <dgm:pt modelId="{5F57AE0E-F29E-4F7D-BABB-98F1031CAEB3}" type="parTrans" cxnId="{C54E389C-3B18-4A2B-9286-679D4DC0047F}">
      <dgm:prSet/>
      <dgm:spPr/>
      <dgm:t>
        <a:bodyPr/>
        <a:lstStyle/>
        <a:p>
          <a:endParaRPr lang="ru-RU" sz="2800">
            <a:solidFill>
              <a:schemeClr val="bg1"/>
            </a:solidFill>
          </a:endParaRPr>
        </a:p>
      </dgm:t>
    </dgm:pt>
    <dgm:pt modelId="{81E2354C-EB49-4E7B-B259-89BDB7D1B04F}" type="sibTrans" cxnId="{C54E389C-3B18-4A2B-9286-679D4DC0047F}">
      <dgm:prSet/>
      <dgm:spPr/>
      <dgm:t>
        <a:bodyPr/>
        <a:lstStyle/>
        <a:p>
          <a:endParaRPr lang="ru-RU" sz="2800">
            <a:solidFill>
              <a:schemeClr val="bg1"/>
            </a:solidFill>
          </a:endParaRPr>
        </a:p>
      </dgm:t>
    </dgm:pt>
    <dgm:pt modelId="{F0B0F13E-4BDE-4DFA-A5CF-BA29116F0110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Порядковые</a:t>
          </a:r>
        </a:p>
      </dgm:t>
    </dgm:pt>
    <dgm:pt modelId="{9CF89900-5C65-4D3B-BAD2-B4FE39CC9FD7}" type="parTrans" cxnId="{431C8F43-98C9-47A9-BCDE-D3A40E69456C}">
      <dgm:prSet/>
      <dgm:spPr/>
      <dgm:t>
        <a:bodyPr/>
        <a:lstStyle/>
        <a:p>
          <a:endParaRPr lang="ru-RU" sz="2800">
            <a:solidFill>
              <a:schemeClr val="bg1"/>
            </a:solidFill>
          </a:endParaRPr>
        </a:p>
      </dgm:t>
    </dgm:pt>
    <dgm:pt modelId="{70D30A9C-84E3-49F3-BEC4-1DFD1F839C46}" type="sibTrans" cxnId="{431C8F43-98C9-47A9-BCDE-D3A40E69456C}">
      <dgm:prSet/>
      <dgm:spPr/>
      <dgm:t>
        <a:bodyPr/>
        <a:lstStyle/>
        <a:p>
          <a:endParaRPr lang="ru-RU" sz="2800">
            <a:solidFill>
              <a:schemeClr val="bg1"/>
            </a:solidFill>
          </a:endParaRPr>
        </a:p>
      </dgm:t>
    </dgm:pt>
    <dgm:pt modelId="{5A9BE33E-314A-47D8-9E56-863608CA13D9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Числа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(количественные данные) </a:t>
          </a:r>
        </a:p>
      </dgm:t>
    </dgm:pt>
    <dgm:pt modelId="{4AE3362F-C9E5-4307-B5A4-C75249C9EEF7}" type="parTrans" cxnId="{C1120CE8-3ACB-4F1B-B595-A68909A6917F}">
      <dgm:prSet/>
      <dgm:spPr/>
      <dgm:t>
        <a:bodyPr/>
        <a:lstStyle/>
        <a:p>
          <a:endParaRPr lang="ru-RU" sz="2800">
            <a:solidFill>
              <a:schemeClr val="bg1"/>
            </a:solidFill>
          </a:endParaRPr>
        </a:p>
      </dgm:t>
    </dgm:pt>
    <dgm:pt modelId="{F5596D14-D2AE-4E60-8156-F363CD4F6725}" type="sibTrans" cxnId="{C1120CE8-3ACB-4F1B-B595-A68909A6917F}">
      <dgm:prSet/>
      <dgm:spPr/>
      <dgm:t>
        <a:bodyPr/>
        <a:lstStyle/>
        <a:p>
          <a:endParaRPr lang="ru-RU" sz="2800">
            <a:solidFill>
              <a:schemeClr val="bg1"/>
            </a:solidFill>
          </a:endParaRPr>
        </a:p>
      </dgm:t>
    </dgm:pt>
    <dgm:pt modelId="{B77F7C14-E0E7-40D7-AC91-5B50C6787DC1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Относительные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Дискретные</a:t>
          </a:r>
        </a:p>
      </dgm:t>
    </dgm:pt>
    <dgm:pt modelId="{2013D88E-B199-41C0-8977-2DFB14FE2B72}" type="parTrans" cxnId="{DB159658-27E7-4E45-B7B7-B6473315BA03}">
      <dgm:prSet/>
      <dgm:spPr/>
      <dgm:t>
        <a:bodyPr/>
        <a:lstStyle/>
        <a:p>
          <a:endParaRPr lang="ru-RU" sz="2800">
            <a:solidFill>
              <a:schemeClr val="bg1"/>
            </a:solidFill>
          </a:endParaRPr>
        </a:p>
      </dgm:t>
    </dgm:pt>
    <dgm:pt modelId="{7698EA03-1B6E-4530-A10B-1CC8C759A1E0}" type="sibTrans" cxnId="{DB159658-27E7-4E45-B7B7-B6473315BA03}">
      <dgm:prSet/>
      <dgm:spPr/>
      <dgm:t>
        <a:bodyPr/>
        <a:lstStyle/>
        <a:p>
          <a:endParaRPr lang="ru-RU" sz="2800">
            <a:solidFill>
              <a:schemeClr val="bg1"/>
            </a:solidFill>
          </a:endParaRPr>
        </a:p>
      </dgm:t>
    </dgm:pt>
    <dgm:pt modelId="{547A8D25-824A-40B0-B6B0-FEF3E21CDF26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Интервальные Непрерывные</a:t>
          </a:r>
        </a:p>
      </dgm:t>
    </dgm:pt>
    <dgm:pt modelId="{78389E5E-89B5-441E-AF23-628F8241BAD0}" type="parTrans" cxnId="{298F9C20-D9CF-46E8-8BD8-A19A3027D9E6}">
      <dgm:prSet/>
      <dgm:spPr/>
      <dgm:t>
        <a:bodyPr/>
        <a:lstStyle/>
        <a:p>
          <a:endParaRPr lang="ru-RU" sz="2800">
            <a:solidFill>
              <a:schemeClr val="bg1"/>
            </a:solidFill>
          </a:endParaRPr>
        </a:p>
      </dgm:t>
    </dgm:pt>
    <dgm:pt modelId="{1EDAC440-2194-4D9C-8E2F-3C91AF298C2D}" type="sibTrans" cxnId="{298F9C20-D9CF-46E8-8BD8-A19A3027D9E6}">
      <dgm:prSet/>
      <dgm:spPr/>
      <dgm:t>
        <a:bodyPr/>
        <a:lstStyle/>
        <a:p>
          <a:endParaRPr lang="ru-RU" sz="2800">
            <a:solidFill>
              <a:schemeClr val="bg1"/>
            </a:solidFill>
          </a:endParaRPr>
        </a:p>
      </dgm:t>
    </dgm:pt>
    <dgm:pt modelId="{AFA5EEEC-7E04-4775-AAD7-751FBE6EB8F7}" type="pres">
      <dgm:prSet presAssocID="{1A2B017D-36E6-46CB-A9EB-DC64CD0E27D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1B58A60-FB91-451C-A418-3755A962D1B2}" type="pres">
      <dgm:prSet presAssocID="{260A5979-1BCB-4147-86D7-1EDF1AD027A9}" presName="hierRoot1" presStyleCnt="0">
        <dgm:presLayoutVars>
          <dgm:hierBranch/>
        </dgm:presLayoutVars>
      </dgm:prSet>
      <dgm:spPr/>
    </dgm:pt>
    <dgm:pt modelId="{08ADE126-7BB8-4D91-A283-851D8A3ACFD2}" type="pres">
      <dgm:prSet presAssocID="{260A5979-1BCB-4147-86D7-1EDF1AD027A9}" presName="rootComposite1" presStyleCnt="0"/>
      <dgm:spPr/>
    </dgm:pt>
    <dgm:pt modelId="{4519D34B-415E-42FC-A375-61BB6F211D5E}" type="pres">
      <dgm:prSet presAssocID="{260A5979-1BCB-4147-86D7-1EDF1AD027A9}" presName="rootText1" presStyleLbl="node0" presStyleIdx="0" presStyleCnt="1">
        <dgm:presLayoutVars>
          <dgm:chPref val="3"/>
        </dgm:presLayoutVars>
      </dgm:prSet>
      <dgm:spPr/>
    </dgm:pt>
    <dgm:pt modelId="{ED7555D9-E5FC-4F19-BF69-EEB07D5BB7E3}" type="pres">
      <dgm:prSet presAssocID="{260A5979-1BCB-4147-86D7-1EDF1AD027A9}" presName="rootConnector1" presStyleLbl="node1" presStyleIdx="0" presStyleCnt="0"/>
      <dgm:spPr/>
    </dgm:pt>
    <dgm:pt modelId="{C5A5D544-5EBA-4776-BF90-20AEAFB9D69F}" type="pres">
      <dgm:prSet presAssocID="{260A5979-1BCB-4147-86D7-1EDF1AD027A9}" presName="hierChild2" presStyleCnt="0"/>
      <dgm:spPr/>
    </dgm:pt>
    <dgm:pt modelId="{C712C86C-E4B2-4443-938A-2C3A49B5BB24}" type="pres">
      <dgm:prSet presAssocID="{691C4EDD-3F43-45F9-AB08-12EACE198779}" presName="Name35" presStyleLbl="parChTrans1D2" presStyleIdx="0" presStyleCnt="2"/>
      <dgm:spPr/>
    </dgm:pt>
    <dgm:pt modelId="{E758BB2E-9348-42BC-861D-E8931896E276}" type="pres">
      <dgm:prSet presAssocID="{EF1B6C5A-593C-4E5B-881E-840A3381278B}" presName="hierRoot2" presStyleCnt="0">
        <dgm:presLayoutVars>
          <dgm:hierBranch/>
        </dgm:presLayoutVars>
      </dgm:prSet>
      <dgm:spPr/>
    </dgm:pt>
    <dgm:pt modelId="{7F74D6F8-328A-4A8F-87B6-D303716B383A}" type="pres">
      <dgm:prSet presAssocID="{EF1B6C5A-593C-4E5B-881E-840A3381278B}" presName="rootComposite" presStyleCnt="0"/>
      <dgm:spPr/>
    </dgm:pt>
    <dgm:pt modelId="{4D0724CF-2B32-480A-A70A-D5C2896436AD}" type="pres">
      <dgm:prSet presAssocID="{EF1B6C5A-593C-4E5B-881E-840A3381278B}" presName="rootText" presStyleLbl="node2" presStyleIdx="0" presStyleCnt="2" custScaleX="144311">
        <dgm:presLayoutVars>
          <dgm:chPref val="3"/>
        </dgm:presLayoutVars>
      </dgm:prSet>
      <dgm:spPr/>
    </dgm:pt>
    <dgm:pt modelId="{6AADED4F-5657-4E2B-89A9-076AC5DF8EB9}" type="pres">
      <dgm:prSet presAssocID="{EF1B6C5A-593C-4E5B-881E-840A3381278B}" presName="rootConnector" presStyleLbl="node2" presStyleIdx="0" presStyleCnt="2"/>
      <dgm:spPr/>
    </dgm:pt>
    <dgm:pt modelId="{72D27E74-E57B-4315-9575-06132999C040}" type="pres">
      <dgm:prSet presAssocID="{EF1B6C5A-593C-4E5B-881E-840A3381278B}" presName="hierChild4" presStyleCnt="0"/>
      <dgm:spPr/>
    </dgm:pt>
    <dgm:pt modelId="{D7ECBC38-63D4-45F3-8005-2F912062811B}" type="pres">
      <dgm:prSet presAssocID="{5F57AE0E-F29E-4F7D-BABB-98F1031CAEB3}" presName="Name35" presStyleLbl="parChTrans1D3" presStyleIdx="0" presStyleCnt="4"/>
      <dgm:spPr/>
    </dgm:pt>
    <dgm:pt modelId="{E89B284B-0C77-4676-9FB7-9EA0345E7491}" type="pres">
      <dgm:prSet presAssocID="{EFC7ACBE-062A-4A07-A80B-0FAC4126BCCF}" presName="hierRoot2" presStyleCnt="0">
        <dgm:presLayoutVars>
          <dgm:hierBranch val="r"/>
        </dgm:presLayoutVars>
      </dgm:prSet>
      <dgm:spPr/>
    </dgm:pt>
    <dgm:pt modelId="{83B109F8-3CAD-42BD-BA38-0AD99406A998}" type="pres">
      <dgm:prSet presAssocID="{EFC7ACBE-062A-4A07-A80B-0FAC4126BCCF}" presName="rootComposite" presStyleCnt="0"/>
      <dgm:spPr/>
    </dgm:pt>
    <dgm:pt modelId="{2DA7A137-5548-4329-A3B3-315E43B50D19}" type="pres">
      <dgm:prSet presAssocID="{EFC7ACBE-062A-4A07-A80B-0FAC4126BCCF}" presName="rootText" presStyleLbl="node3" presStyleIdx="0" presStyleCnt="4">
        <dgm:presLayoutVars>
          <dgm:chPref val="3"/>
        </dgm:presLayoutVars>
      </dgm:prSet>
      <dgm:spPr/>
    </dgm:pt>
    <dgm:pt modelId="{A33ECBBB-CD55-4D74-93FE-083110EADD81}" type="pres">
      <dgm:prSet presAssocID="{EFC7ACBE-062A-4A07-A80B-0FAC4126BCCF}" presName="rootConnector" presStyleLbl="node3" presStyleIdx="0" presStyleCnt="4"/>
      <dgm:spPr/>
    </dgm:pt>
    <dgm:pt modelId="{02D2029B-A93D-4597-9046-A11FC3CB3B46}" type="pres">
      <dgm:prSet presAssocID="{EFC7ACBE-062A-4A07-A80B-0FAC4126BCCF}" presName="hierChild4" presStyleCnt="0"/>
      <dgm:spPr/>
    </dgm:pt>
    <dgm:pt modelId="{49AA1E0B-51A0-4AAA-AA01-DA35CC2AE755}" type="pres">
      <dgm:prSet presAssocID="{EFC7ACBE-062A-4A07-A80B-0FAC4126BCCF}" presName="hierChild5" presStyleCnt="0"/>
      <dgm:spPr/>
    </dgm:pt>
    <dgm:pt modelId="{B84AC39F-6392-46DF-9FCC-F80308D92420}" type="pres">
      <dgm:prSet presAssocID="{9CF89900-5C65-4D3B-BAD2-B4FE39CC9FD7}" presName="Name35" presStyleLbl="parChTrans1D3" presStyleIdx="1" presStyleCnt="4"/>
      <dgm:spPr/>
    </dgm:pt>
    <dgm:pt modelId="{1914A9DF-D371-4A4B-BF63-C541188B8E17}" type="pres">
      <dgm:prSet presAssocID="{F0B0F13E-4BDE-4DFA-A5CF-BA29116F0110}" presName="hierRoot2" presStyleCnt="0">
        <dgm:presLayoutVars>
          <dgm:hierBranch val="r"/>
        </dgm:presLayoutVars>
      </dgm:prSet>
      <dgm:spPr/>
    </dgm:pt>
    <dgm:pt modelId="{ADA4B1CA-6BB2-4A81-B1B6-047EB9A0221D}" type="pres">
      <dgm:prSet presAssocID="{F0B0F13E-4BDE-4DFA-A5CF-BA29116F0110}" presName="rootComposite" presStyleCnt="0"/>
      <dgm:spPr/>
    </dgm:pt>
    <dgm:pt modelId="{AC89AA0B-0209-4713-A7C8-4921C14A6B2D}" type="pres">
      <dgm:prSet presAssocID="{F0B0F13E-4BDE-4DFA-A5CF-BA29116F0110}" presName="rootText" presStyleLbl="node3" presStyleIdx="1" presStyleCnt="4">
        <dgm:presLayoutVars>
          <dgm:chPref val="3"/>
        </dgm:presLayoutVars>
      </dgm:prSet>
      <dgm:spPr/>
    </dgm:pt>
    <dgm:pt modelId="{8D7DC13A-E767-4902-9055-301EA00C4AAB}" type="pres">
      <dgm:prSet presAssocID="{F0B0F13E-4BDE-4DFA-A5CF-BA29116F0110}" presName="rootConnector" presStyleLbl="node3" presStyleIdx="1" presStyleCnt="4"/>
      <dgm:spPr/>
    </dgm:pt>
    <dgm:pt modelId="{84996726-263D-45FA-8EEF-240F4F870F72}" type="pres">
      <dgm:prSet presAssocID="{F0B0F13E-4BDE-4DFA-A5CF-BA29116F0110}" presName="hierChild4" presStyleCnt="0"/>
      <dgm:spPr/>
    </dgm:pt>
    <dgm:pt modelId="{5B415D4F-EADA-49DD-9AC7-999BF1671312}" type="pres">
      <dgm:prSet presAssocID="{F0B0F13E-4BDE-4DFA-A5CF-BA29116F0110}" presName="hierChild5" presStyleCnt="0"/>
      <dgm:spPr/>
    </dgm:pt>
    <dgm:pt modelId="{98810E91-8274-4D42-8B7E-ABF8A4F66EF0}" type="pres">
      <dgm:prSet presAssocID="{EF1B6C5A-593C-4E5B-881E-840A3381278B}" presName="hierChild5" presStyleCnt="0"/>
      <dgm:spPr/>
    </dgm:pt>
    <dgm:pt modelId="{9DE292B7-6F86-43E7-A201-12B24D14FAFD}" type="pres">
      <dgm:prSet presAssocID="{4AE3362F-C9E5-4307-B5A4-C75249C9EEF7}" presName="Name35" presStyleLbl="parChTrans1D2" presStyleIdx="1" presStyleCnt="2"/>
      <dgm:spPr/>
    </dgm:pt>
    <dgm:pt modelId="{12B42579-E398-4B5E-A723-2840341EDCA8}" type="pres">
      <dgm:prSet presAssocID="{5A9BE33E-314A-47D8-9E56-863608CA13D9}" presName="hierRoot2" presStyleCnt="0">
        <dgm:presLayoutVars>
          <dgm:hierBranch/>
        </dgm:presLayoutVars>
      </dgm:prSet>
      <dgm:spPr/>
    </dgm:pt>
    <dgm:pt modelId="{7D1C6BDC-DFE8-4883-B217-CB6C26C93955}" type="pres">
      <dgm:prSet presAssocID="{5A9BE33E-314A-47D8-9E56-863608CA13D9}" presName="rootComposite" presStyleCnt="0"/>
      <dgm:spPr/>
    </dgm:pt>
    <dgm:pt modelId="{D8BCD58E-C68D-4202-812E-2E13F5121F4E}" type="pres">
      <dgm:prSet presAssocID="{5A9BE33E-314A-47D8-9E56-863608CA13D9}" presName="rootText" presStyleLbl="node2" presStyleIdx="1" presStyleCnt="2" custScaleX="167416">
        <dgm:presLayoutVars>
          <dgm:chPref val="3"/>
        </dgm:presLayoutVars>
      </dgm:prSet>
      <dgm:spPr/>
    </dgm:pt>
    <dgm:pt modelId="{68A9D4FD-49C4-49E5-A49D-EB204B0749DD}" type="pres">
      <dgm:prSet presAssocID="{5A9BE33E-314A-47D8-9E56-863608CA13D9}" presName="rootConnector" presStyleLbl="node2" presStyleIdx="1" presStyleCnt="2"/>
      <dgm:spPr/>
    </dgm:pt>
    <dgm:pt modelId="{F7C04A33-B14E-4230-A0C1-E73AFB586397}" type="pres">
      <dgm:prSet presAssocID="{5A9BE33E-314A-47D8-9E56-863608CA13D9}" presName="hierChild4" presStyleCnt="0"/>
      <dgm:spPr/>
    </dgm:pt>
    <dgm:pt modelId="{F26F63CD-61A9-4D66-8FC4-376F0B884782}" type="pres">
      <dgm:prSet presAssocID="{2013D88E-B199-41C0-8977-2DFB14FE2B72}" presName="Name35" presStyleLbl="parChTrans1D3" presStyleIdx="2" presStyleCnt="4"/>
      <dgm:spPr/>
    </dgm:pt>
    <dgm:pt modelId="{2592CD62-D50D-45A8-871C-ECB1814CE573}" type="pres">
      <dgm:prSet presAssocID="{B77F7C14-E0E7-40D7-AC91-5B50C6787DC1}" presName="hierRoot2" presStyleCnt="0">
        <dgm:presLayoutVars>
          <dgm:hierBranch val="r"/>
        </dgm:presLayoutVars>
      </dgm:prSet>
      <dgm:spPr/>
    </dgm:pt>
    <dgm:pt modelId="{1F4EF063-F2B0-46C9-9EEA-3386B1CF57D2}" type="pres">
      <dgm:prSet presAssocID="{B77F7C14-E0E7-40D7-AC91-5B50C6787DC1}" presName="rootComposite" presStyleCnt="0"/>
      <dgm:spPr/>
    </dgm:pt>
    <dgm:pt modelId="{C4147F0E-857A-4B59-A8EB-380018980A35}" type="pres">
      <dgm:prSet presAssocID="{B77F7C14-E0E7-40D7-AC91-5B50C6787DC1}" presName="rootText" presStyleLbl="node3" presStyleIdx="2" presStyleCnt="4" custScaleX="113446">
        <dgm:presLayoutVars>
          <dgm:chPref val="3"/>
        </dgm:presLayoutVars>
      </dgm:prSet>
      <dgm:spPr/>
    </dgm:pt>
    <dgm:pt modelId="{6615C156-E97A-4A22-9FE2-4114E0E2B8C0}" type="pres">
      <dgm:prSet presAssocID="{B77F7C14-E0E7-40D7-AC91-5B50C6787DC1}" presName="rootConnector" presStyleLbl="node3" presStyleIdx="2" presStyleCnt="4"/>
      <dgm:spPr/>
    </dgm:pt>
    <dgm:pt modelId="{547B00AD-4E13-471A-B7E4-D8A8DD45D6CD}" type="pres">
      <dgm:prSet presAssocID="{B77F7C14-E0E7-40D7-AC91-5B50C6787DC1}" presName="hierChild4" presStyleCnt="0"/>
      <dgm:spPr/>
    </dgm:pt>
    <dgm:pt modelId="{CA39A5E2-7FD6-488A-B272-964F3BABBA15}" type="pres">
      <dgm:prSet presAssocID="{B77F7C14-E0E7-40D7-AC91-5B50C6787DC1}" presName="hierChild5" presStyleCnt="0"/>
      <dgm:spPr/>
    </dgm:pt>
    <dgm:pt modelId="{BBA9279C-20C7-4B15-9D1B-AAD2A4064827}" type="pres">
      <dgm:prSet presAssocID="{78389E5E-89B5-441E-AF23-628F8241BAD0}" presName="Name35" presStyleLbl="parChTrans1D3" presStyleIdx="3" presStyleCnt="4"/>
      <dgm:spPr/>
    </dgm:pt>
    <dgm:pt modelId="{14A4B537-E397-4921-8BE5-5D1AEE016919}" type="pres">
      <dgm:prSet presAssocID="{547A8D25-824A-40B0-B6B0-FEF3E21CDF26}" presName="hierRoot2" presStyleCnt="0">
        <dgm:presLayoutVars>
          <dgm:hierBranch val="r"/>
        </dgm:presLayoutVars>
      </dgm:prSet>
      <dgm:spPr/>
    </dgm:pt>
    <dgm:pt modelId="{94D8C474-86FE-4909-BB8D-E2175A9195A3}" type="pres">
      <dgm:prSet presAssocID="{547A8D25-824A-40B0-B6B0-FEF3E21CDF26}" presName="rootComposite" presStyleCnt="0"/>
      <dgm:spPr/>
    </dgm:pt>
    <dgm:pt modelId="{1841F152-C8C8-4449-9047-E0AB243E2373}" type="pres">
      <dgm:prSet presAssocID="{547A8D25-824A-40B0-B6B0-FEF3E21CDF26}" presName="rootText" presStyleLbl="node3" presStyleIdx="3" presStyleCnt="4" custScaleX="118291">
        <dgm:presLayoutVars>
          <dgm:chPref val="3"/>
        </dgm:presLayoutVars>
      </dgm:prSet>
      <dgm:spPr/>
    </dgm:pt>
    <dgm:pt modelId="{7F9B8BDA-0488-4860-87F6-70FE35562382}" type="pres">
      <dgm:prSet presAssocID="{547A8D25-824A-40B0-B6B0-FEF3E21CDF26}" presName="rootConnector" presStyleLbl="node3" presStyleIdx="3" presStyleCnt="4"/>
      <dgm:spPr/>
    </dgm:pt>
    <dgm:pt modelId="{8BCE4BE7-4C40-4A01-AA19-D8CC63A79C54}" type="pres">
      <dgm:prSet presAssocID="{547A8D25-824A-40B0-B6B0-FEF3E21CDF26}" presName="hierChild4" presStyleCnt="0"/>
      <dgm:spPr/>
    </dgm:pt>
    <dgm:pt modelId="{D83251DA-BCD1-4C9C-8A7E-E73AEEADDE2B}" type="pres">
      <dgm:prSet presAssocID="{547A8D25-824A-40B0-B6B0-FEF3E21CDF26}" presName="hierChild5" presStyleCnt="0"/>
      <dgm:spPr/>
    </dgm:pt>
    <dgm:pt modelId="{0F59981C-63EB-4FB8-9C13-067271522AF5}" type="pres">
      <dgm:prSet presAssocID="{5A9BE33E-314A-47D8-9E56-863608CA13D9}" presName="hierChild5" presStyleCnt="0"/>
      <dgm:spPr/>
    </dgm:pt>
    <dgm:pt modelId="{81DCDC09-7920-4F0E-85DC-23774B21D221}" type="pres">
      <dgm:prSet presAssocID="{260A5979-1BCB-4147-86D7-1EDF1AD027A9}" presName="hierChild3" presStyleCnt="0"/>
      <dgm:spPr/>
    </dgm:pt>
  </dgm:ptLst>
  <dgm:cxnLst>
    <dgm:cxn modelId="{2F1A8B08-0626-4A01-BD27-C0EB691117EA}" type="presOf" srcId="{EF1B6C5A-593C-4E5B-881E-840A3381278B}" destId="{6AADED4F-5657-4E2B-89A9-076AC5DF8EB9}" srcOrd="1" destOrd="0" presId="urn:microsoft.com/office/officeart/2005/8/layout/orgChart1"/>
    <dgm:cxn modelId="{F3A29C0B-53E2-44E5-9FC9-AF74EC35D318}" type="presOf" srcId="{F0B0F13E-4BDE-4DFA-A5CF-BA29116F0110}" destId="{AC89AA0B-0209-4713-A7C8-4921C14A6B2D}" srcOrd="0" destOrd="0" presId="urn:microsoft.com/office/officeart/2005/8/layout/orgChart1"/>
    <dgm:cxn modelId="{F42A080C-BF70-45F5-80E7-5E8EEEEB2D98}" type="presOf" srcId="{260A5979-1BCB-4147-86D7-1EDF1AD027A9}" destId="{ED7555D9-E5FC-4F19-BF69-EEB07D5BB7E3}" srcOrd="1" destOrd="0" presId="urn:microsoft.com/office/officeart/2005/8/layout/orgChart1"/>
    <dgm:cxn modelId="{0DD8DF16-EADE-4773-9E54-D1138DD9BB11}" type="presOf" srcId="{1A2B017D-36E6-46CB-A9EB-DC64CD0E27D4}" destId="{AFA5EEEC-7E04-4775-AAD7-751FBE6EB8F7}" srcOrd="0" destOrd="0" presId="urn:microsoft.com/office/officeart/2005/8/layout/orgChart1"/>
    <dgm:cxn modelId="{6776331C-DECF-4062-8EB9-E7277285B64A}" type="presOf" srcId="{EFC7ACBE-062A-4A07-A80B-0FAC4126BCCF}" destId="{2DA7A137-5548-4329-A3B3-315E43B50D19}" srcOrd="0" destOrd="0" presId="urn:microsoft.com/office/officeart/2005/8/layout/orgChart1"/>
    <dgm:cxn modelId="{298F9C20-D9CF-46E8-8BD8-A19A3027D9E6}" srcId="{5A9BE33E-314A-47D8-9E56-863608CA13D9}" destId="{547A8D25-824A-40B0-B6B0-FEF3E21CDF26}" srcOrd="1" destOrd="0" parTransId="{78389E5E-89B5-441E-AF23-628F8241BAD0}" sibTransId="{1EDAC440-2194-4D9C-8E2F-3C91AF298C2D}"/>
    <dgm:cxn modelId="{5F59AB27-B53E-4B54-B689-5A85A413F253}" type="presOf" srcId="{B77F7C14-E0E7-40D7-AC91-5B50C6787DC1}" destId="{C4147F0E-857A-4B59-A8EB-380018980A35}" srcOrd="0" destOrd="0" presId="urn:microsoft.com/office/officeart/2005/8/layout/orgChart1"/>
    <dgm:cxn modelId="{9CB54E38-47FE-47D8-90FE-14B998181709}" type="presOf" srcId="{547A8D25-824A-40B0-B6B0-FEF3E21CDF26}" destId="{7F9B8BDA-0488-4860-87F6-70FE35562382}" srcOrd="1" destOrd="0" presId="urn:microsoft.com/office/officeart/2005/8/layout/orgChart1"/>
    <dgm:cxn modelId="{3CB02E3D-D426-405C-82F9-532FDBC6EC1D}" type="presOf" srcId="{5F57AE0E-F29E-4F7D-BABB-98F1031CAEB3}" destId="{D7ECBC38-63D4-45F3-8005-2F912062811B}" srcOrd="0" destOrd="0" presId="urn:microsoft.com/office/officeart/2005/8/layout/orgChart1"/>
    <dgm:cxn modelId="{9FFFA13D-C5D4-4DA8-8276-729718CE1B94}" type="presOf" srcId="{EF1B6C5A-593C-4E5B-881E-840A3381278B}" destId="{4D0724CF-2B32-480A-A70A-D5C2896436AD}" srcOrd="0" destOrd="0" presId="urn:microsoft.com/office/officeart/2005/8/layout/orgChart1"/>
    <dgm:cxn modelId="{8F01B340-50F5-49CE-A190-80434643F293}" type="presOf" srcId="{5A9BE33E-314A-47D8-9E56-863608CA13D9}" destId="{D8BCD58E-C68D-4202-812E-2E13F5121F4E}" srcOrd="0" destOrd="0" presId="urn:microsoft.com/office/officeart/2005/8/layout/orgChart1"/>
    <dgm:cxn modelId="{F8874B5E-EF0B-4E6E-BD80-964EB03CC995}" type="presOf" srcId="{260A5979-1BCB-4147-86D7-1EDF1AD027A9}" destId="{4519D34B-415E-42FC-A375-61BB6F211D5E}" srcOrd="0" destOrd="0" presId="urn:microsoft.com/office/officeart/2005/8/layout/orgChart1"/>
    <dgm:cxn modelId="{431C8F43-98C9-47A9-BCDE-D3A40E69456C}" srcId="{EF1B6C5A-593C-4E5B-881E-840A3381278B}" destId="{F0B0F13E-4BDE-4DFA-A5CF-BA29116F0110}" srcOrd="1" destOrd="0" parTransId="{9CF89900-5C65-4D3B-BAD2-B4FE39CC9FD7}" sibTransId="{70D30A9C-84E3-49F3-BEC4-1DFD1F839C46}"/>
    <dgm:cxn modelId="{4A6CF848-3B40-47E1-8517-6F7E3BBAA586}" srcId="{1A2B017D-36E6-46CB-A9EB-DC64CD0E27D4}" destId="{260A5979-1BCB-4147-86D7-1EDF1AD027A9}" srcOrd="0" destOrd="0" parTransId="{47EE30CA-A953-4C60-8653-7E472D48C578}" sibTransId="{B5B2A441-CFE7-43A5-AC4B-500F37D57EE8}"/>
    <dgm:cxn modelId="{656A104E-6A4B-44A5-9621-A4366E893315}" type="presOf" srcId="{9CF89900-5C65-4D3B-BAD2-B4FE39CC9FD7}" destId="{B84AC39F-6392-46DF-9FCC-F80308D92420}" srcOrd="0" destOrd="0" presId="urn:microsoft.com/office/officeart/2005/8/layout/orgChart1"/>
    <dgm:cxn modelId="{E1271153-97B8-410B-B97C-A22400D06331}" type="presOf" srcId="{691C4EDD-3F43-45F9-AB08-12EACE198779}" destId="{C712C86C-E4B2-4443-938A-2C3A49B5BB24}" srcOrd="0" destOrd="0" presId="urn:microsoft.com/office/officeart/2005/8/layout/orgChart1"/>
    <dgm:cxn modelId="{A7C6C855-FA85-4A0C-B4BA-7F091FA0DD34}" type="presOf" srcId="{4AE3362F-C9E5-4307-B5A4-C75249C9EEF7}" destId="{9DE292B7-6F86-43E7-A201-12B24D14FAFD}" srcOrd="0" destOrd="0" presId="urn:microsoft.com/office/officeart/2005/8/layout/orgChart1"/>
    <dgm:cxn modelId="{DB159658-27E7-4E45-B7B7-B6473315BA03}" srcId="{5A9BE33E-314A-47D8-9E56-863608CA13D9}" destId="{B77F7C14-E0E7-40D7-AC91-5B50C6787DC1}" srcOrd="0" destOrd="0" parTransId="{2013D88E-B199-41C0-8977-2DFB14FE2B72}" sibTransId="{7698EA03-1B6E-4530-A10B-1CC8C759A1E0}"/>
    <dgm:cxn modelId="{56E77887-7D18-4EB8-90C5-3C384738DEAC}" type="presOf" srcId="{78389E5E-89B5-441E-AF23-628F8241BAD0}" destId="{BBA9279C-20C7-4B15-9D1B-AAD2A4064827}" srcOrd="0" destOrd="0" presId="urn:microsoft.com/office/officeart/2005/8/layout/orgChart1"/>
    <dgm:cxn modelId="{EA349E8C-C6E1-4CD2-88E7-383CDB0EDD0C}" type="presOf" srcId="{F0B0F13E-4BDE-4DFA-A5CF-BA29116F0110}" destId="{8D7DC13A-E767-4902-9055-301EA00C4AAB}" srcOrd="1" destOrd="0" presId="urn:microsoft.com/office/officeart/2005/8/layout/orgChart1"/>
    <dgm:cxn modelId="{A542028F-8C3F-4F64-9474-56FC5071799E}" type="presOf" srcId="{2013D88E-B199-41C0-8977-2DFB14FE2B72}" destId="{F26F63CD-61A9-4D66-8FC4-376F0B884782}" srcOrd="0" destOrd="0" presId="urn:microsoft.com/office/officeart/2005/8/layout/orgChart1"/>
    <dgm:cxn modelId="{0A81999A-42F6-4E6A-A7F7-B086EBE2D530}" type="presOf" srcId="{B77F7C14-E0E7-40D7-AC91-5B50C6787DC1}" destId="{6615C156-E97A-4A22-9FE2-4114E0E2B8C0}" srcOrd="1" destOrd="0" presId="urn:microsoft.com/office/officeart/2005/8/layout/orgChart1"/>
    <dgm:cxn modelId="{C54E389C-3B18-4A2B-9286-679D4DC0047F}" srcId="{EF1B6C5A-593C-4E5B-881E-840A3381278B}" destId="{EFC7ACBE-062A-4A07-A80B-0FAC4126BCCF}" srcOrd="0" destOrd="0" parTransId="{5F57AE0E-F29E-4F7D-BABB-98F1031CAEB3}" sibTransId="{81E2354C-EB49-4E7B-B259-89BDB7D1B04F}"/>
    <dgm:cxn modelId="{6F6DE6D3-B664-44F9-8786-E9FED551B514}" type="presOf" srcId="{EFC7ACBE-062A-4A07-A80B-0FAC4126BCCF}" destId="{A33ECBBB-CD55-4D74-93FE-083110EADD81}" srcOrd="1" destOrd="0" presId="urn:microsoft.com/office/officeart/2005/8/layout/orgChart1"/>
    <dgm:cxn modelId="{C5B9EBDB-063F-4939-A222-4B8B46033D3B}" type="presOf" srcId="{5A9BE33E-314A-47D8-9E56-863608CA13D9}" destId="{68A9D4FD-49C4-49E5-A49D-EB204B0749DD}" srcOrd="1" destOrd="0" presId="urn:microsoft.com/office/officeart/2005/8/layout/orgChart1"/>
    <dgm:cxn modelId="{C1120CE8-3ACB-4F1B-B595-A68909A6917F}" srcId="{260A5979-1BCB-4147-86D7-1EDF1AD027A9}" destId="{5A9BE33E-314A-47D8-9E56-863608CA13D9}" srcOrd="1" destOrd="0" parTransId="{4AE3362F-C9E5-4307-B5A4-C75249C9EEF7}" sibTransId="{F5596D14-D2AE-4E60-8156-F363CD4F6725}"/>
    <dgm:cxn modelId="{48D2CEEB-4DE8-45F2-A34E-7BD11BFE3693}" srcId="{260A5979-1BCB-4147-86D7-1EDF1AD027A9}" destId="{EF1B6C5A-593C-4E5B-881E-840A3381278B}" srcOrd="0" destOrd="0" parTransId="{691C4EDD-3F43-45F9-AB08-12EACE198779}" sibTransId="{257DC315-C2D6-4B1C-999F-E976D79918EC}"/>
    <dgm:cxn modelId="{97B3ABFE-1074-48B4-AFBD-D76B28A70D5C}" type="presOf" srcId="{547A8D25-824A-40B0-B6B0-FEF3E21CDF26}" destId="{1841F152-C8C8-4449-9047-E0AB243E2373}" srcOrd="0" destOrd="0" presId="urn:microsoft.com/office/officeart/2005/8/layout/orgChart1"/>
    <dgm:cxn modelId="{A93D5C32-BB3F-4DE9-ACEB-0DAB7B544D39}" type="presParOf" srcId="{AFA5EEEC-7E04-4775-AAD7-751FBE6EB8F7}" destId="{11B58A60-FB91-451C-A418-3755A962D1B2}" srcOrd="0" destOrd="0" presId="urn:microsoft.com/office/officeart/2005/8/layout/orgChart1"/>
    <dgm:cxn modelId="{A507B849-0BB3-41BE-84D2-7528FA8B17E2}" type="presParOf" srcId="{11B58A60-FB91-451C-A418-3755A962D1B2}" destId="{08ADE126-7BB8-4D91-A283-851D8A3ACFD2}" srcOrd="0" destOrd="0" presId="urn:microsoft.com/office/officeart/2005/8/layout/orgChart1"/>
    <dgm:cxn modelId="{D25700D4-CBEE-4BFC-933E-0DD7F0CFFA69}" type="presParOf" srcId="{08ADE126-7BB8-4D91-A283-851D8A3ACFD2}" destId="{4519D34B-415E-42FC-A375-61BB6F211D5E}" srcOrd="0" destOrd="0" presId="urn:microsoft.com/office/officeart/2005/8/layout/orgChart1"/>
    <dgm:cxn modelId="{EC06A75E-2E6E-4BCD-B198-01BF988C6ED8}" type="presParOf" srcId="{08ADE126-7BB8-4D91-A283-851D8A3ACFD2}" destId="{ED7555D9-E5FC-4F19-BF69-EEB07D5BB7E3}" srcOrd="1" destOrd="0" presId="urn:microsoft.com/office/officeart/2005/8/layout/orgChart1"/>
    <dgm:cxn modelId="{F8A3CEF0-0FB4-4BEF-9502-4A3359BA4F33}" type="presParOf" srcId="{11B58A60-FB91-451C-A418-3755A962D1B2}" destId="{C5A5D544-5EBA-4776-BF90-20AEAFB9D69F}" srcOrd="1" destOrd="0" presId="urn:microsoft.com/office/officeart/2005/8/layout/orgChart1"/>
    <dgm:cxn modelId="{A7A11098-B14F-4B56-9E2A-866021568CF0}" type="presParOf" srcId="{C5A5D544-5EBA-4776-BF90-20AEAFB9D69F}" destId="{C712C86C-E4B2-4443-938A-2C3A49B5BB24}" srcOrd="0" destOrd="0" presId="urn:microsoft.com/office/officeart/2005/8/layout/orgChart1"/>
    <dgm:cxn modelId="{9CE5ACF3-8AFF-4B82-9A2A-EA10245CD4A2}" type="presParOf" srcId="{C5A5D544-5EBA-4776-BF90-20AEAFB9D69F}" destId="{E758BB2E-9348-42BC-861D-E8931896E276}" srcOrd="1" destOrd="0" presId="urn:microsoft.com/office/officeart/2005/8/layout/orgChart1"/>
    <dgm:cxn modelId="{3FD6E476-53EC-49B6-9C18-8464EE722FC8}" type="presParOf" srcId="{E758BB2E-9348-42BC-861D-E8931896E276}" destId="{7F74D6F8-328A-4A8F-87B6-D303716B383A}" srcOrd="0" destOrd="0" presId="urn:microsoft.com/office/officeart/2005/8/layout/orgChart1"/>
    <dgm:cxn modelId="{232A8F7A-30EF-4562-B10E-9FA001F35D8C}" type="presParOf" srcId="{7F74D6F8-328A-4A8F-87B6-D303716B383A}" destId="{4D0724CF-2B32-480A-A70A-D5C2896436AD}" srcOrd="0" destOrd="0" presId="urn:microsoft.com/office/officeart/2005/8/layout/orgChart1"/>
    <dgm:cxn modelId="{7B0459E8-0B42-43E9-AB75-317E1BF47900}" type="presParOf" srcId="{7F74D6F8-328A-4A8F-87B6-D303716B383A}" destId="{6AADED4F-5657-4E2B-89A9-076AC5DF8EB9}" srcOrd="1" destOrd="0" presId="urn:microsoft.com/office/officeart/2005/8/layout/orgChart1"/>
    <dgm:cxn modelId="{9D1DBD97-1073-4E9C-8DA8-42DF1BC86CF3}" type="presParOf" srcId="{E758BB2E-9348-42BC-861D-E8931896E276}" destId="{72D27E74-E57B-4315-9575-06132999C040}" srcOrd="1" destOrd="0" presId="urn:microsoft.com/office/officeart/2005/8/layout/orgChart1"/>
    <dgm:cxn modelId="{B83D605C-ACA0-4E8B-A5D8-AC11D40A1B52}" type="presParOf" srcId="{72D27E74-E57B-4315-9575-06132999C040}" destId="{D7ECBC38-63D4-45F3-8005-2F912062811B}" srcOrd="0" destOrd="0" presId="urn:microsoft.com/office/officeart/2005/8/layout/orgChart1"/>
    <dgm:cxn modelId="{C3BAFD06-B643-47EA-A12D-CE0502475A0A}" type="presParOf" srcId="{72D27E74-E57B-4315-9575-06132999C040}" destId="{E89B284B-0C77-4676-9FB7-9EA0345E7491}" srcOrd="1" destOrd="0" presId="urn:microsoft.com/office/officeart/2005/8/layout/orgChart1"/>
    <dgm:cxn modelId="{B43E21CF-942F-4358-9940-55CE53B9D33F}" type="presParOf" srcId="{E89B284B-0C77-4676-9FB7-9EA0345E7491}" destId="{83B109F8-3CAD-42BD-BA38-0AD99406A998}" srcOrd="0" destOrd="0" presId="urn:microsoft.com/office/officeart/2005/8/layout/orgChart1"/>
    <dgm:cxn modelId="{96A8DDEC-2A36-4D5B-9E45-EBA6543533E2}" type="presParOf" srcId="{83B109F8-3CAD-42BD-BA38-0AD99406A998}" destId="{2DA7A137-5548-4329-A3B3-315E43B50D19}" srcOrd="0" destOrd="0" presId="urn:microsoft.com/office/officeart/2005/8/layout/orgChart1"/>
    <dgm:cxn modelId="{5841E9A3-5057-48AE-97C6-2C7E30BE3B1D}" type="presParOf" srcId="{83B109F8-3CAD-42BD-BA38-0AD99406A998}" destId="{A33ECBBB-CD55-4D74-93FE-083110EADD81}" srcOrd="1" destOrd="0" presId="urn:microsoft.com/office/officeart/2005/8/layout/orgChart1"/>
    <dgm:cxn modelId="{7B2FF912-D3B5-4CB2-AD4F-5069DDA6FD3E}" type="presParOf" srcId="{E89B284B-0C77-4676-9FB7-9EA0345E7491}" destId="{02D2029B-A93D-4597-9046-A11FC3CB3B46}" srcOrd="1" destOrd="0" presId="urn:microsoft.com/office/officeart/2005/8/layout/orgChart1"/>
    <dgm:cxn modelId="{9DA57525-5CDB-48A7-92F8-59989DC4ED9F}" type="presParOf" srcId="{E89B284B-0C77-4676-9FB7-9EA0345E7491}" destId="{49AA1E0B-51A0-4AAA-AA01-DA35CC2AE755}" srcOrd="2" destOrd="0" presId="urn:microsoft.com/office/officeart/2005/8/layout/orgChart1"/>
    <dgm:cxn modelId="{F0421076-AEA7-4C04-9E44-2697A02EC7FF}" type="presParOf" srcId="{72D27E74-E57B-4315-9575-06132999C040}" destId="{B84AC39F-6392-46DF-9FCC-F80308D92420}" srcOrd="2" destOrd="0" presId="urn:microsoft.com/office/officeart/2005/8/layout/orgChart1"/>
    <dgm:cxn modelId="{D694F2D2-A532-45A8-9666-50823CAAA24D}" type="presParOf" srcId="{72D27E74-E57B-4315-9575-06132999C040}" destId="{1914A9DF-D371-4A4B-BF63-C541188B8E17}" srcOrd="3" destOrd="0" presId="urn:microsoft.com/office/officeart/2005/8/layout/orgChart1"/>
    <dgm:cxn modelId="{07B8D918-A40D-4CCE-B785-0FDB9AD0FE13}" type="presParOf" srcId="{1914A9DF-D371-4A4B-BF63-C541188B8E17}" destId="{ADA4B1CA-6BB2-4A81-B1B6-047EB9A0221D}" srcOrd="0" destOrd="0" presId="urn:microsoft.com/office/officeart/2005/8/layout/orgChart1"/>
    <dgm:cxn modelId="{86F967CB-D5A2-4D68-BB0E-B39F1F4F6F6D}" type="presParOf" srcId="{ADA4B1CA-6BB2-4A81-B1B6-047EB9A0221D}" destId="{AC89AA0B-0209-4713-A7C8-4921C14A6B2D}" srcOrd="0" destOrd="0" presId="urn:microsoft.com/office/officeart/2005/8/layout/orgChart1"/>
    <dgm:cxn modelId="{94767732-1A81-470F-A076-8D87A0D9C503}" type="presParOf" srcId="{ADA4B1CA-6BB2-4A81-B1B6-047EB9A0221D}" destId="{8D7DC13A-E767-4902-9055-301EA00C4AAB}" srcOrd="1" destOrd="0" presId="urn:microsoft.com/office/officeart/2005/8/layout/orgChart1"/>
    <dgm:cxn modelId="{3524E531-F009-4D5C-8C87-942165460B2A}" type="presParOf" srcId="{1914A9DF-D371-4A4B-BF63-C541188B8E17}" destId="{84996726-263D-45FA-8EEF-240F4F870F72}" srcOrd="1" destOrd="0" presId="urn:microsoft.com/office/officeart/2005/8/layout/orgChart1"/>
    <dgm:cxn modelId="{43A9F0A1-893C-42E1-BB15-005E80126992}" type="presParOf" srcId="{1914A9DF-D371-4A4B-BF63-C541188B8E17}" destId="{5B415D4F-EADA-49DD-9AC7-999BF1671312}" srcOrd="2" destOrd="0" presId="urn:microsoft.com/office/officeart/2005/8/layout/orgChart1"/>
    <dgm:cxn modelId="{15DDA5FD-9E95-412D-8A73-D8323F17486E}" type="presParOf" srcId="{E758BB2E-9348-42BC-861D-E8931896E276}" destId="{98810E91-8274-4D42-8B7E-ABF8A4F66EF0}" srcOrd="2" destOrd="0" presId="urn:microsoft.com/office/officeart/2005/8/layout/orgChart1"/>
    <dgm:cxn modelId="{9ABF8BA4-1BCB-452D-9ED3-2B6CF7860F77}" type="presParOf" srcId="{C5A5D544-5EBA-4776-BF90-20AEAFB9D69F}" destId="{9DE292B7-6F86-43E7-A201-12B24D14FAFD}" srcOrd="2" destOrd="0" presId="urn:microsoft.com/office/officeart/2005/8/layout/orgChart1"/>
    <dgm:cxn modelId="{E20C2F20-2839-4143-8F3C-07C79302C1A1}" type="presParOf" srcId="{C5A5D544-5EBA-4776-BF90-20AEAFB9D69F}" destId="{12B42579-E398-4B5E-A723-2840341EDCA8}" srcOrd="3" destOrd="0" presId="urn:microsoft.com/office/officeart/2005/8/layout/orgChart1"/>
    <dgm:cxn modelId="{8DC63636-C4BF-4187-A6D6-E08BFB29A450}" type="presParOf" srcId="{12B42579-E398-4B5E-A723-2840341EDCA8}" destId="{7D1C6BDC-DFE8-4883-B217-CB6C26C93955}" srcOrd="0" destOrd="0" presId="urn:microsoft.com/office/officeart/2005/8/layout/orgChart1"/>
    <dgm:cxn modelId="{4619300B-B773-4194-9ACC-97163F0E3946}" type="presParOf" srcId="{7D1C6BDC-DFE8-4883-B217-CB6C26C93955}" destId="{D8BCD58E-C68D-4202-812E-2E13F5121F4E}" srcOrd="0" destOrd="0" presId="urn:microsoft.com/office/officeart/2005/8/layout/orgChart1"/>
    <dgm:cxn modelId="{45B8BEA3-2C1C-4B53-8F2F-87894C21AEC0}" type="presParOf" srcId="{7D1C6BDC-DFE8-4883-B217-CB6C26C93955}" destId="{68A9D4FD-49C4-49E5-A49D-EB204B0749DD}" srcOrd="1" destOrd="0" presId="urn:microsoft.com/office/officeart/2005/8/layout/orgChart1"/>
    <dgm:cxn modelId="{C10A9C9F-2505-454E-8150-31328CD6BE31}" type="presParOf" srcId="{12B42579-E398-4B5E-A723-2840341EDCA8}" destId="{F7C04A33-B14E-4230-A0C1-E73AFB586397}" srcOrd="1" destOrd="0" presId="urn:microsoft.com/office/officeart/2005/8/layout/orgChart1"/>
    <dgm:cxn modelId="{CDEAA0A1-9A4B-4854-BB53-B01E225FC29D}" type="presParOf" srcId="{F7C04A33-B14E-4230-A0C1-E73AFB586397}" destId="{F26F63CD-61A9-4D66-8FC4-376F0B884782}" srcOrd="0" destOrd="0" presId="urn:microsoft.com/office/officeart/2005/8/layout/orgChart1"/>
    <dgm:cxn modelId="{AD46F4C2-8B45-4A62-89D1-3873BAF3E40A}" type="presParOf" srcId="{F7C04A33-B14E-4230-A0C1-E73AFB586397}" destId="{2592CD62-D50D-45A8-871C-ECB1814CE573}" srcOrd="1" destOrd="0" presId="urn:microsoft.com/office/officeart/2005/8/layout/orgChart1"/>
    <dgm:cxn modelId="{3890C32C-CA4B-4EED-8BBC-F50582ECCB5F}" type="presParOf" srcId="{2592CD62-D50D-45A8-871C-ECB1814CE573}" destId="{1F4EF063-F2B0-46C9-9EEA-3386B1CF57D2}" srcOrd="0" destOrd="0" presId="urn:microsoft.com/office/officeart/2005/8/layout/orgChart1"/>
    <dgm:cxn modelId="{28A01360-10A6-43C5-BE0B-D85FCA3FE3AD}" type="presParOf" srcId="{1F4EF063-F2B0-46C9-9EEA-3386B1CF57D2}" destId="{C4147F0E-857A-4B59-A8EB-380018980A35}" srcOrd="0" destOrd="0" presId="urn:microsoft.com/office/officeart/2005/8/layout/orgChart1"/>
    <dgm:cxn modelId="{6F31DEB4-E1AD-4E94-BB77-93FD91F8F4C4}" type="presParOf" srcId="{1F4EF063-F2B0-46C9-9EEA-3386B1CF57D2}" destId="{6615C156-E97A-4A22-9FE2-4114E0E2B8C0}" srcOrd="1" destOrd="0" presId="urn:microsoft.com/office/officeart/2005/8/layout/orgChart1"/>
    <dgm:cxn modelId="{6DB6B441-10B2-4626-92A2-0B10DB9244FC}" type="presParOf" srcId="{2592CD62-D50D-45A8-871C-ECB1814CE573}" destId="{547B00AD-4E13-471A-B7E4-D8A8DD45D6CD}" srcOrd="1" destOrd="0" presId="urn:microsoft.com/office/officeart/2005/8/layout/orgChart1"/>
    <dgm:cxn modelId="{563C1237-94B3-4B73-862E-A9013E87AC0C}" type="presParOf" srcId="{2592CD62-D50D-45A8-871C-ECB1814CE573}" destId="{CA39A5E2-7FD6-488A-B272-964F3BABBA15}" srcOrd="2" destOrd="0" presId="urn:microsoft.com/office/officeart/2005/8/layout/orgChart1"/>
    <dgm:cxn modelId="{216ED559-394A-4A60-B9DA-CBAD1C924645}" type="presParOf" srcId="{F7C04A33-B14E-4230-A0C1-E73AFB586397}" destId="{BBA9279C-20C7-4B15-9D1B-AAD2A4064827}" srcOrd="2" destOrd="0" presId="urn:microsoft.com/office/officeart/2005/8/layout/orgChart1"/>
    <dgm:cxn modelId="{CDC61AD3-D31E-4EE6-97B2-C9C995899B1E}" type="presParOf" srcId="{F7C04A33-B14E-4230-A0C1-E73AFB586397}" destId="{14A4B537-E397-4921-8BE5-5D1AEE016919}" srcOrd="3" destOrd="0" presId="urn:microsoft.com/office/officeart/2005/8/layout/orgChart1"/>
    <dgm:cxn modelId="{029C94DE-3C14-43A3-9104-FED0DE5F878D}" type="presParOf" srcId="{14A4B537-E397-4921-8BE5-5D1AEE016919}" destId="{94D8C474-86FE-4909-BB8D-E2175A9195A3}" srcOrd="0" destOrd="0" presId="urn:microsoft.com/office/officeart/2005/8/layout/orgChart1"/>
    <dgm:cxn modelId="{0542AB6B-ED87-4E52-A6A5-908FDB32C5E8}" type="presParOf" srcId="{94D8C474-86FE-4909-BB8D-E2175A9195A3}" destId="{1841F152-C8C8-4449-9047-E0AB243E2373}" srcOrd="0" destOrd="0" presId="urn:microsoft.com/office/officeart/2005/8/layout/orgChart1"/>
    <dgm:cxn modelId="{98B303B3-D464-4FF1-9545-EF11C32F314C}" type="presParOf" srcId="{94D8C474-86FE-4909-BB8D-E2175A9195A3}" destId="{7F9B8BDA-0488-4860-87F6-70FE35562382}" srcOrd="1" destOrd="0" presId="urn:microsoft.com/office/officeart/2005/8/layout/orgChart1"/>
    <dgm:cxn modelId="{5C85DB9A-2118-42C2-9EFA-8CF102B08DEF}" type="presParOf" srcId="{14A4B537-E397-4921-8BE5-5D1AEE016919}" destId="{8BCE4BE7-4C40-4A01-AA19-D8CC63A79C54}" srcOrd="1" destOrd="0" presId="urn:microsoft.com/office/officeart/2005/8/layout/orgChart1"/>
    <dgm:cxn modelId="{1D9885B5-C1A1-4186-B987-FF5EF1DB4DC8}" type="presParOf" srcId="{14A4B537-E397-4921-8BE5-5D1AEE016919}" destId="{D83251DA-BCD1-4C9C-8A7E-E73AEEADDE2B}" srcOrd="2" destOrd="0" presId="urn:microsoft.com/office/officeart/2005/8/layout/orgChart1"/>
    <dgm:cxn modelId="{0097DCA8-938A-4083-B033-341418BBC7CD}" type="presParOf" srcId="{12B42579-E398-4B5E-A723-2840341EDCA8}" destId="{0F59981C-63EB-4FB8-9C13-067271522AF5}" srcOrd="2" destOrd="0" presId="urn:microsoft.com/office/officeart/2005/8/layout/orgChart1"/>
    <dgm:cxn modelId="{3C47AFC0-EA57-4246-8130-43955B81B4F7}" type="presParOf" srcId="{11B58A60-FB91-451C-A418-3755A962D1B2}" destId="{81DCDC09-7920-4F0E-85DC-23774B21D22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9279C-20C7-4B15-9D1B-AAD2A4064827}">
      <dsp:nvSpPr>
        <dsp:cNvPr id="0" name=""/>
        <dsp:cNvSpPr/>
      </dsp:nvSpPr>
      <dsp:spPr>
        <a:xfrm>
          <a:off x="5856664" y="1357305"/>
          <a:ext cx="753398" cy="2353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678"/>
              </a:lnTo>
              <a:lnTo>
                <a:pt x="753398" y="117678"/>
              </a:lnTo>
              <a:lnTo>
                <a:pt x="753398" y="23535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6F63CD-61A9-4D66-8FC4-376F0B884782}">
      <dsp:nvSpPr>
        <dsp:cNvPr id="0" name=""/>
        <dsp:cNvSpPr/>
      </dsp:nvSpPr>
      <dsp:spPr>
        <a:xfrm>
          <a:off x="5076115" y="1357305"/>
          <a:ext cx="780548" cy="235356"/>
        </a:xfrm>
        <a:custGeom>
          <a:avLst/>
          <a:gdLst/>
          <a:ahLst/>
          <a:cxnLst/>
          <a:rect l="0" t="0" r="0" b="0"/>
          <a:pathLst>
            <a:path>
              <a:moveTo>
                <a:pt x="780548" y="0"/>
              </a:moveTo>
              <a:lnTo>
                <a:pt x="780548" y="117678"/>
              </a:lnTo>
              <a:lnTo>
                <a:pt x="0" y="117678"/>
              </a:lnTo>
              <a:lnTo>
                <a:pt x="0" y="23535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E292B7-6F86-43E7-A201-12B24D14FAFD}">
      <dsp:nvSpPr>
        <dsp:cNvPr id="0" name=""/>
        <dsp:cNvSpPr/>
      </dsp:nvSpPr>
      <dsp:spPr>
        <a:xfrm>
          <a:off x="4476376" y="561576"/>
          <a:ext cx="1380287" cy="2353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678"/>
              </a:lnTo>
              <a:lnTo>
                <a:pt x="1380287" y="117678"/>
              </a:lnTo>
              <a:lnTo>
                <a:pt x="1380287" y="23535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4AC39F-6392-46DF-9FCC-F80308D92420}">
      <dsp:nvSpPr>
        <dsp:cNvPr id="0" name=""/>
        <dsp:cNvSpPr/>
      </dsp:nvSpPr>
      <dsp:spPr>
        <a:xfrm>
          <a:off x="2966614" y="1357305"/>
          <a:ext cx="678051" cy="2353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678"/>
              </a:lnTo>
              <a:lnTo>
                <a:pt x="678051" y="117678"/>
              </a:lnTo>
              <a:lnTo>
                <a:pt x="678051" y="23535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CBC38-63D4-45F3-8005-2F912062811B}">
      <dsp:nvSpPr>
        <dsp:cNvPr id="0" name=""/>
        <dsp:cNvSpPr/>
      </dsp:nvSpPr>
      <dsp:spPr>
        <a:xfrm>
          <a:off x="2288563" y="1357305"/>
          <a:ext cx="678051" cy="235356"/>
        </a:xfrm>
        <a:custGeom>
          <a:avLst/>
          <a:gdLst/>
          <a:ahLst/>
          <a:cxnLst/>
          <a:rect l="0" t="0" r="0" b="0"/>
          <a:pathLst>
            <a:path>
              <a:moveTo>
                <a:pt x="678051" y="0"/>
              </a:moveTo>
              <a:lnTo>
                <a:pt x="678051" y="117678"/>
              </a:lnTo>
              <a:lnTo>
                <a:pt x="0" y="117678"/>
              </a:lnTo>
              <a:lnTo>
                <a:pt x="0" y="23535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12C86C-E4B2-4443-938A-2C3A49B5BB24}">
      <dsp:nvSpPr>
        <dsp:cNvPr id="0" name=""/>
        <dsp:cNvSpPr/>
      </dsp:nvSpPr>
      <dsp:spPr>
        <a:xfrm>
          <a:off x="2966614" y="561576"/>
          <a:ext cx="1509761" cy="235356"/>
        </a:xfrm>
        <a:custGeom>
          <a:avLst/>
          <a:gdLst/>
          <a:ahLst/>
          <a:cxnLst/>
          <a:rect l="0" t="0" r="0" b="0"/>
          <a:pathLst>
            <a:path>
              <a:moveTo>
                <a:pt x="1509761" y="0"/>
              </a:moveTo>
              <a:lnTo>
                <a:pt x="1509761" y="117678"/>
              </a:lnTo>
              <a:lnTo>
                <a:pt x="0" y="117678"/>
              </a:lnTo>
              <a:lnTo>
                <a:pt x="0" y="23535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19D34B-415E-42FC-A375-61BB6F211D5E}">
      <dsp:nvSpPr>
        <dsp:cNvPr id="0" name=""/>
        <dsp:cNvSpPr/>
      </dsp:nvSpPr>
      <dsp:spPr>
        <a:xfrm>
          <a:off x="3916004" y="1203"/>
          <a:ext cx="1120745" cy="5603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Данные</a:t>
          </a:r>
        </a:p>
      </dsp:txBody>
      <dsp:txXfrm>
        <a:off x="3916004" y="1203"/>
        <a:ext cx="1120745" cy="560372"/>
      </dsp:txXfrm>
    </dsp:sp>
    <dsp:sp modelId="{4D0724CF-2B32-480A-A70A-D5C2896436AD}">
      <dsp:nvSpPr>
        <dsp:cNvPr id="0" name=""/>
        <dsp:cNvSpPr/>
      </dsp:nvSpPr>
      <dsp:spPr>
        <a:xfrm>
          <a:off x="2157935" y="796932"/>
          <a:ext cx="1617359" cy="5603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Категории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(качественные данные)</a:t>
          </a:r>
        </a:p>
      </dsp:txBody>
      <dsp:txXfrm>
        <a:off x="2157935" y="796932"/>
        <a:ext cx="1617359" cy="560372"/>
      </dsp:txXfrm>
    </dsp:sp>
    <dsp:sp modelId="{2DA7A137-5548-4329-A3B3-315E43B50D19}">
      <dsp:nvSpPr>
        <dsp:cNvPr id="0" name=""/>
        <dsp:cNvSpPr/>
      </dsp:nvSpPr>
      <dsp:spPr>
        <a:xfrm>
          <a:off x="1728191" y="1592661"/>
          <a:ext cx="1120745" cy="5603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Номинальные</a:t>
          </a:r>
        </a:p>
      </dsp:txBody>
      <dsp:txXfrm>
        <a:off x="1728191" y="1592661"/>
        <a:ext cx="1120745" cy="560372"/>
      </dsp:txXfrm>
    </dsp:sp>
    <dsp:sp modelId="{AC89AA0B-0209-4713-A7C8-4921C14A6B2D}">
      <dsp:nvSpPr>
        <dsp:cNvPr id="0" name=""/>
        <dsp:cNvSpPr/>
      </dsp:nvSpPr>
      <dsp:spPr>
        <a:xfrm>
          <a:off x="3084293" y="1592661"/>
          <a:ext cx="1120745" cy="5603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Порядковые</a:t>
          </a:r>
        </a:p>
      </dsp:txBody>
      <dsp:txXfrm>
        <a:off x="3084293" y="1592661"/>
        <a:ext cx="1120745" cy="560372"/>
      </dsp:txXfrm>
    </dsp:sp>
    <dsp:sp modelId="{D8BCD58E-C68D-4202-812E-2E13F5121F4E}">
      <dsp:nvSpPr>
        <dsp:cNvPr id="0" name=""/>
        <dsp:cNvSpPr/>
      </dsp:nvSpPr>
      <dsp:spPr>
        <a:xfrm>
          <a:off x="4918510" y="796932"/>
          <a:ext cx="1876307" cy="5603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Числа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(количественные данные) </a:t>
          </a:r>
        </a:p>
      </dsp:txBody>
      <dsp:txXfrm>
        <a:off x="4918510" y="796932"/>
        <a:ext cx="1876307" cy="560372"/>
      </dsp:txXfrm>
    </dsp:sp>
    <dsp:sp modelId="{C4147F0E-857A-4B59-A8EB-380018980A35}">
      <dsp:nvSpPr>
        <dsp:cNvPr id="0" name=""/>
        <dsp:cNvSpPr/>
      </dsp:nvSpPr>
      <dsp:spPr>
        <a:xfrm>
          <a:off x="4440395" y="1592661"/>
          <a:ext cx="1271440" cy="5603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Относительные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Дискретные</a:t>
          </a:r>
        </a:p>
      </dsp:txBody>
      <dsp:txXfrm>
        <a:off x="4440395" y="1592661"/>
        <a:ext cx="1271440" cy="560372"/>
      </dsp:txXfrm>
    </dsp:sp>
    <dsp:sp modelId="{1841F152-C8C8-4449-9047-E0AB243E2373}">
      <dsp:nvSpPr>
        <dsp:cNvPr id="0" name=""/>
        <dsp:cNvSpPr/>
      </dsp:nvSpPr>
      <dsp:spPr>
        <a:xfrm>
          <a:off x="5947192" y="1592661"/>
          <a:ext cx="1325741" cy="5603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Интервальные Непрерывные</a:t>
          </a:r>
        </a:p>
      </dsp:txBody>
      <dsp:txXfrm>
        <a:off x="5947192" y="1592661"/>
        <a:ext cx="1325741" cy="5603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4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4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C25E0E-1040-4F5C-B409-9FC955AC2ED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8CFE5-DC80-4D38-B126-2037C79693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6249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CE0CC8E-F0AF-4796-8CDC-325098AECE9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392401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5533538-EED8-4C60-9372-8A627DE5F9B0}" type="slidenum">
              <a:rPr lang="ru-RU" altLang="ru-RU" sz="1200" smtClean="0"/>
              <a:pPr/>
              <a:t>1</a:t>
            </a:fld>
            <a:endParaRPr lang="ru-RU" altLang="ru-RU" sz="1200"/>
          </a:p>
        </p:txBody>
      </p:sp>
      <p:sp>
        <p:nvSpPr>
          <p:cNvPr id="5123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5124" name="Заметки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ru-RU" altLang="ru-RU"/>
              <a:t>В последнее время технологии больших данных развиваются высокими темпами. Возникает множество высокотехнологичных компаний, предоставляющих новые инструменты по анализу данных. В то же время растёт мировой спрос на специалистов, способных работать с большими объёмами данных, ставить задачи в этой области, понимать сложность и потенциальную стоимость таких работ. Предполагая нарастающий интерес к этой сфере в России, актуальным и адекватным решением будет систематизация опыта работы с технологиями и задачами анализа больших данных. Анализ образовательного рынка в области больших данных показывает нам, что онлайн-образование в сфере аналитики становится всё более популярным и массовым. Существует несколько курсов на английском языке, в т.ч. курсы </a:t>
            </a:r>
            <a:r>
              <a:rPr lang="en-US" altLang="ru-RU"/>
              <a:t>Data Science and Big Data Analytics </a:t>
            </a:r>
            <a:r>
              <a:rPr lang="ru-RU" altLang="ru-RU"/>
              <a:t>от </a:t>
            </a:r>
            <a:r>
              <a:rPr lang="en-US" altLang="ru-RU"/>
              <a:t>EMC</a:t>
            </a:r>
            <a:r>
              <a:rPr lang="ru-RU" altLang="ru-RU"/>
              <a:t>, ряд курсов на платформах </a:t>
            </a:r>
            <a:r>
              <a:rPr lang="en-US" altLang="ru-RU"/>
              <a:t>Coursera</a:t>
            </a:r>
            <a:r>
              <a:rPr lang="ru-RU" altLang="ru-RU"/>
              <a:t> и </a:t>
            </a:r>
            <a:r>
              <a:rPr lang="en-US" altLang="ru-RU"/>
              <a:t>Udacity</a:t>
            </a:r>
            <a:r>
              <a:rPr lang="ru-RU" altLang="ru-RU"/>
              <a:t>. Однако на русском языке подобные курсы пока отсутствуют. Настоящий курс призван ликвидировать данный пробел. Он представляет собой образовательный инструмент для введения в эту, без сомнения вдохновляющую и перспективную, область. Авторы курса предлагают слушателям окунуться в мир методов и технологий анализа больших данных на простых примерах.</a:t>
            </a:r>
          </a:p>
        </p:txBody>
      </p:sp>
      <p:sp>
        <p:nvSpPr>
          <p:cNvPr id="5125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CF0B96F7-6A01-4E02-A134-F0B9ED219899}" type="slidenum">
              <a:rPr lang="ru-RU" altLang="ru-RU" sz="1200">
                <a:latin typeface="Calibri" panose="020F0502020204030204" pitchFamily="34" charset="0"/>
              </a:rPr>
              <a:pPr algn="r" eaLnBrk="1" hangingPunct="1"/>
              <a:t>1</a:t>
            </a:fld>
            <a:endParaRPr lang="ru-RU" altLang="ru-RU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758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BC12725-C673-447C-BCCF-0BE0E73009A7}" type="slidenum">
              <a:rPr lang="ru-RU" altLang="ru-RU" sz="1200"/>
              <a:pPr eaLnBrk="1" hangingPunct="1"/>
              <a:t>3</a:t>
            </a:fld>
            <a:endParaRPr lang="ru-RU" altLang="ru-RU" sz="1200"/>
          </a:p>
        </p:txBody>
      </p:sp>
      <p:sp>
        <p:nvSpPr>
          <p:cNvPr id="30723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30724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ru-RU" altLang="ru-RU" sz="900">
              <a:latin typeface="Lucida Console" panose="020B0609040504020204" pitchFamily="49" charset="0"/>
            </a:endParaRPr>
          </a:p>
        </p:txBody>
      </p:sp>
      <p:sp>
        <p:nvSpPr>
          <p:cNvPr id="30725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011F2A0F-CA48-4880-8031-12ED5E67906A}" type="slidenum">
              <a:rPr lang="ru-RU" altLang="ru-RU" sz="1200">
                <a:latin typeface="Calibri" panose="020F0502020204030204" pitchFamily="34" charset="0"/>
              </a:rPr>
              <a:pPr algn="r" eaLnBrk="1" hangingPunct="1"/>
              <a:t>3</a:t>
            </a:fld>
            <a:endParaRPr lang="ru-RU" altLang="ru-RU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168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8BDAF62-6265-43B2-92F4-678D958B42BD}" type="slidenum">
              <a:rPr lang="ru-RU" altLang="ru-RU" sz="1200"/>
              <a:pPr eaLnBrk="1" hangingPunct="1"/>
              <a:t>4</a:t>
            </a:fld>
            <a:endParaRPr lang="ru-RU" altLang="ru-RU" sz="12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05887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34FFC1DD-74C3-49AC-87FC-B58E6343F37E}" type="slidenum">
              <a:rPr lang="ru-RU" altLang="ru-RU" sz="1200"/>
              <a:pPr algn="r" eaLnBrk="1" hangingPunct="1"/>
              <a:t>5</a:t>
            </a:fld>
            <a:endParaRPr lang="ru-RU" altLang="ru-RU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2685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44155C21-4226-4DA2-8751-2533B6A3E732}" type="slidenum">
              <a:rPr lang="ru-RU" altLang="ru-RU" sz="1200"/>
              <a:pPr algn="r" eaLnBrk="1" hangingPunct="1"/>
              <a:t>6</a:t>
            </a:fld>
            <a:endParaRPr lang="ru-RU" altLang="ru-RU" sz="1200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40277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83944377-CF03-4605-8BC2-BE5556AF5145}" type="slidenum">
              <a:rPr lang="ru-RU" altLang="ru-RU" sz="1200"/>
              <a:pPr algn="r" eaLnBrk="1" hangingPunct="1"/>
              <a:t>7</a:t>
            </a:fld>
            <a:endParaRPr lang="ru-RU" altLang="ru-RU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95014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CC73D479-7A98-492F-BBA3-FB885FD4CE20}" type="slidenum">
              <a:rPr lang="ru-RU" altLang="ru-RU" sz="1200"/>
              <a:pPr algn="r" eaLnBrk="1" hangingPunct="1"/>
              <a:t>8</a:t>
            </a:fld>
            <a:endParaRPr lang="ru-RU" altLang="ru-RU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45339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FC4A66D-C403-47E0-9125-6D5675F5C475}" type="slidenum">
              <a:rPr lang="ru-RU" altLang="ru-RU" sz="1200"/>
              <a:pPr eaLnBrk="1" hangingPunct="1"/>
              <a:t>9</a:t>
            </a:fld>
            <a:endParaRPr lang="ru-RU" altLang="ru-RU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35392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C8BE089-E353-43A4-801F-DBD6E9274857}" type="slidenum">
              <a:rPr lang="ru-RU" altLang="ru-RU" sz="1200"/>
              <a:pPr eaLnBrk="1" hangingPunct="1"/>
              <a:t>10</a:t>
            </a:fld>
            <a:endParaRPr lang="ru-RU" altLang="ru-RU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12987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4178A90-8F37-4FD9-8B52-D74932F30D06}" type="slidenum">
              <a:rPr lang="ru-RU" altLang="ru-RU" sz="1200"/>
              <a:pPr eaLnBrk="1" hangingPunct="1"/>
              <a:t>11</a:t>
            </a:fld>
            <a:endParaRPr lang="ru-RU" altLang="ru-RU" sz="12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99242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6CEF06C-F77B-4422-B4F8-EC1AFA72D674}" type="slidenum">
              <a:rPr lang="ru-RU" altLang="ru-RU" sz="1200"/>
              <a:pPr eaLnBrk="1" hangingPunct="1"/>
              <a:t>12</a:t>
            </a:fld>
            <a:endParaRPr lang="ru-RU" altLang="ru-RU" sz="12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133864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DAEA6DB-1EC6-49C0-9277-7095D081E671}" type="slidenum">
              <a:rPr lang="ru-RU" altLang="ru-RU" sz="1200"/>
              <a:pPr eaLnBrk="1" hangingPunct="1"/>
              <a:t>13</a:t>
            </a:fld>
            <a:endParaRPr lang="ru-RU" altLang="ru-RU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35530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A65ADD5-DF11-438E-B1BC-5AD654C75167}" type="slidenum">
              <a:rPr lang="ru-RU" altLang="ru-RU" sz="1200"/>
              <a:pPr eaLnBrk="1" hangingPunct="1"/>
              <a:t>14</a:t>
            </a:fld>
            <a:endParaRPr lang="ru-RU" altLang="ru-RU" sz="1200"/>
          </a:p>
        </p:txBody>
      </p:sp>
      <p:sp>
        <p:nvSpPr>
          <p:cNvPr id="38915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38916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ru-RU" altLang="ru-RU" sz="900">
                <a:latin typeface="Lucida Console" panose="020B0609040504020204" pitchFamily="49" charset="0"/>
              </a:rPr>
              <a:t>В последнее время технологии больших данных развиваются высокими темпами. Возникает множество высокотехнологичных компаний, предоставляющих новые инструменты по анализу данных. В то же время растёт мировой спрос на специалистов, способных работать с большими объёмами данных, ставить задачи в этой области, понимать сложность и потенциальную стоимость </a:t>
            </a:r>
            <a:r>
              <a:rPr lang="ru-RU" altLang="ru-RU" sz="1000">
                <a:latin typeface="Lucida Console" panose="020B0609040504020204" pitchFamily="49" charset="0"/>
              </a:rPr>
              <a:t>таких работ. Предполагая нарастающий интерес к этой сфере в России, сотрудники образовательных и бизнес-организаций Новосибирского научного центра решили систематизировать опыт работы с технологиями и задачами анализа больших данных. Анализ образовательного рынка в области </a:t>
            </a:r>
            <a:r>
              <a:rPr lang="ru-RU" altLang="ru-RU" sz="900">
                <a:latin typeface="Lucida Console" panose="020B0609040504020204" pitchFamily="49" charset="0"/>
              </a:rPr>
              <a:t>больших данных показывает нам, что онлайн-образование в сфере аналитики становится всё более популярным и массовым. Существует несколько курсов на английском языке, в т.ч. курсы </a:t>
            </a:r>
            <a:r>
              <a:rPr lang="en-US" altLang="ru-RU" sz="900">
                <a:latin typeface="Lucida Console" panose="020B0609040504020204" pitchFamily="49" charset="0"/>
              </a:rPr>
              <a:t>Data Science and Big Data Analytics </a:t>
            </a:r>
            <a:r>
              <a:rPr lang="ru-RU" altLang="ru-RU" sz="900">
                <a:latin typeface="Lucida Console" panose="020B0609040504020204" pitchFamily="49" charset="0"/>
              </a:rPr>
              <a:t>от </a:t>
            </a:r>
            <a:r>
              <a:rPr lang="en-US" altLang="ru-RU" sz="900">
                <a:latin typeface="Lucida Console" panose="020B0609040504020204" pitchFamily="49" charset="0"/>
              </a:rPr>
              <a:t>EMC</a:t>
            </a:r>
            <a:r>
              <a:rPr lang="ru-RU" altLang="ru-RU" sz="900">
                <a:latin typeface="Lucida Console" panose="020B0609040504020204" pitchFamily="49" charset="0"/>
              </a:rPr>
              <a:t>, ряд курсов на платформах </a:t>
            </a:r>
            <a:r>
              <a:rPr lang="en-US" altLang="ru-RU" sz="900">
                <a:latin typeface="Lucida Console" panose="020B0609040504020204" pitchFamily="49" charset="0"/>
              </a:rPr>
              <a:t>Coursera</a:t>
            </a:r>
            <a:r>
              <a:rPr lang="ru-RU" altLang="ru-RU" sz="900">
                <a:latin typeface="Lucida Console" panose="020B0609040504020204" pitchFamily="49" charset="0"/>
              </a:rPr>
              <a:t> и </a:t>
            </a:r>
            <a:r>
              <a:rPr lang="en-US" altLang="ru-RU" sz="900">
                <a:latin typeface="Lucida Console" panose="020B0609040504020204" pitchFamily="49" charset="0"/>
              </a:rPr>
              <a:t>Udacity</a:t>
            </a:r>
            <a:r>
              <a:rPr lang="ru-RU" altLang="ru-RU" sz="900">
                <a:latin typeface="Lucida Console" panose="020B0609040504020204" pitchFamily="49" charset="0"/>
              </a:rPr>
              <a:t>. Однако на русском языке подобные курсы пока отсутствуют. Настоящий курс призван ликвидировать данный пробел. Он представляет собой образовательный инструмент для введения в эту, без сомнения вдохновляющую и перспективную, область. Авторы курса предлагают слушателям окунуться в мир методов и технологий анализа больших данных на простых примерах.</a:t>
            </a:r>
          </a:p>
        </p:txBody>
      </p:sp>
      <p:sp>
        <p:nvSpPr>
          <p:cNvPr id="38917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49EC5B8A-CBE0-44E8-9D68-82733E48AE39}" type="slidenum">
              <a:rPr lang="ru-RU" altLang="ru-RU" sz="1200">
                <a:latin typeface="Calibri" panose="020F0502020204030204" pitchFamily="34" charset="0"/>
              </a:rPr>
              <a:pPr algn="r" eaLnBrk="1" hangingPunct="1"/>
              <a:t>14</a:t>
            </a:fld>
            <a:endParaRPr lang="ru-RU" altLang="ru-RU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914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16EE44F-9500-4BA9-847E-05934C355766}" type="slidenum">
              <a:rPr lang="ru-RU" altLang="ru-RU" sz="1200"/>
              <a:pPr eaLnBrk="1" hangingPunct="1"/>
              <a:t>15</a:t>
            </a:fld>
            <a:endParaRPr lang="ru-RU" altLang="ru-RU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895479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E3A16567-60A4-4723-AC00-28EA83388213}" type="slidenum">
              <a:rPr lang="ru-RU" altLang="ru-RU" sz="1200"/>
              <a:pPr algn="r" eaLnBrk="1" hangingPunct="1"/>
              <a:t>16</a:t>
            </a:fld>
            <a:endParaRPr lang="ru-RU" altLang="ru-RU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32060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B1B2360-82C1-459C-BCD2-90C620A90ECD}" type="slidenum">
              <a:rPr lang="ru-RU" altLang="ru-RU" sz="1200"/>
              <a:pPr eaLnBrk="1" hangingPunct="1"/>
              <a:t>17</a:t>
            </a:fld>
            <a:endParaRPr lang="ru-RU" altLang="ru-RU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974556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EB68436-612F-4CD7-BF57-F4AAA992DD2B}" type="slidenum">
              <a:rPr lang="ru-RU" altLang="ru-RU" sz="1200"/>
              <a:pPr eaLnBrk="1" hangingPunct="1"/>
              <a:t>18</a:t>
            </a:fld>
            <a:endParaRPr lang="ru-RU" altLang="ru-RU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80039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A07D94F-D534-4C88-9C90-E649D20DF8A1}" type="slidenum">
              <a:rPr lang="ru-RU" altLang="ru-RU" sz="1200"/>
              <a:pPr eaLnBrk="1" hangingPunct="1"/>
              <a:t>19</a:t>
            </a:fld>
            <a:endParaRPr lang="ru-RU" altLang="ru-RU" sz="1200"/>
          </a:p>
        </p:txBody>
      </p:sp>
      <p:sp>
        <p:nvSpPr>
          <p:cNvPr id="44035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44036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ru-RU" altLang="ru-RU" sz="900" dirty="0">
              <a:latin typeface="Lucida Console" panose="020B0609040504020204" pitchFamily="49" charset="0"/>
            </a:endParaRPr>
          </a:p>
        </p:txBody>
      </p:sp>
      <p:sp>
        <p:nvSpPr>
          <p:cNvPr id="44037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60EFF15D-82C2-4707-ADEF-CE159CD2D700}" type="slidenum">
              <a:rPr lang="ru-RU" altLang="ru-RU" sz="1200">
                <a:latin typeface="Calibri" panose="020F0502020204030204" pitchFamily="34" charset="0"/>
              </a:rPr>
              <a:pPr algn="r" eaLnBrk="1" hangingPunct="1"/>
              <a:t>19</a:t>
            </a:fld>
            <a:endParaRPr lang="ru-RU" altLang="ru-RU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9261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ADAA0D0-E95E-4545-B8F6-1428DD2EBFA9}" type="slidenum">
              <a:rPr lang="ru-RU" altLang="ru-RU" sz="1200"/>
              <a:pPr eaLnBrk="1" hangingPunct="1"/>
              <a:t>20</a:t>
            </a:fld>
            <a:endParaRPr lang="ru-RU" altLang="ru-RU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781569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ADAA0D0-E95E-4545-B8F6-1428DD2EBFA9}" type="slidenum">
              <a:rPr lang="ru-RU" altLang="ru-RU" sz="1200"/>
              <a:pPr eaLnBrk="1" hangingPunct="1"/>
              <a:t>21</a:t>
            </a:fld>
            <a:endParaRPr lang="ru-RU" altLang="ru-RU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38675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ADAA0D0-E95E-4545-B8F6-1428DD2EBFA9}" type="slidenum">
              <a:rPr lang="ru-RU" altLang="ru-RU" sz="1200"/>
              <a:pPr eaLnBrk="1" hangingPunct="1"/>
              <a:t>22</a:t>
            </a:fld>
            <a:endParaRPr lang="ru-RU" altLang="ru-RU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220732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ADAA0D0-E95E-4545-B8F6-1428DD2EBFA9}" type="slidenum">
              <a:rPr lang="ru-RU" altLang="ru-RU" sz="1200"/>
              <a:pPr eaLnBrk="1" hangingPunct="1"/>
              <a:t>23</a:t>
            </a:fld>
            <a:endParaRPr lang="ru-RU" altLang="ru-RU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655216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A07D94F-D534-4C88-9C90-E649D20DF8A1}" type="slidenum">
              <a:rPr lang="ru-RU" altLang="ru-RU" sz="1200"/>
              <a:pPr eaLnBrk="1" hangingPunct="1"/>
              <a:t>24</a:t>
            </a:fld>
            <a:endParaRPr lang="ru-RU" altLang="ru-RU" sz="1200"/>
          </a:p>
        </p:txBody>
      </p:sp>
      <p:sp>
        <p:nvSpPr>
          <p:cNvPr id="44035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44036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ru-RU" altLang="ru-RU" sz="900" dirty="0">
              <a:latin typeface="Lucida Console" panose="020B0609040504020204" pitchFamily="49" charset="0"/>
            </a:endParaRPr>
          </a:p>
        </p:txBody>
      </p:sp>
      <p:sp>
        <p:nvSpPr>
          <p:cNvPr id="44037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60EFF15D-82C2-4707-ADEF-CE159CD2D700}" type="slidenum">
              <a:rPr lang="ru-RU" altLang="ru-RU" sz="1200">
                <a:latin typeface="Calibri" panose="020F0502020204030204" pitchFamily="34" charset="0"/>
              </a:rPr>
              <a:pPr algn="r" eaLnBrk="1" hangingPunct="1"/>
              <a:t>24</a:t>
            </a:fld>
            <a:endParaRPr lang="ru-RU" altLang="ru-RU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9413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ADAA0D0-E95E-4545-B8F6-1428DD2EBFA9}" type="slidenum">
              <a:rPr lang="ru-RU" altLang="ru-RU" sz="1200"/>
              <a:pPr eaLnBrk="1" hangingPunct="1"/>
              <a:t>25</a:t>
            </a:fld>
            <a:endParaRPr lang="ru-RU" altLang="ru-RU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640315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ADAA0D0-E95E-4545-B8F6-1428DD2EBFA9}" type="slidenum">
              <a:rPr lang="ru-RU" altLang="ru-RU" sz="1200"/>
              <a:pPr eaLnBrk="1" hangingPunct="1"/>
              <a:t>26</a:t>
            </a:fld>
            <a:endParaRPr lang="ru-RU" altLang="ru-RU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30838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12D9860-AE4D-41BE-A571-9A5AFEE78900}" type="slidenum">
              <a:rPr lang="ru-RU" altLang="ru-RU" sz="1200"/>
              <a:pPr eaLnBrk="1" hangingPunct="1"/>
              <a:t>27</a:t>
            </a:fld>
            <a:endParaRPr lang="ru-RU" altLang="ru-RU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995894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F324054-B7F2-49A9-9396-13C0C4BB8DE4}" type="slidenum">
              <a:rPr lang="ru-RU" altLang="ru-RU" sz="1200"/>
              <a:pPr eaLnBrk="1" hangingPunct="1"/>
              <a:t>28</a:t>
            </a:fld>
            <a:endParaRPr lang="ru-RU" altLang="ru-RU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331839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48DF4BE-536F-4F1E-98B1-9ED26460CB39}" type="slidenum">
              <a:rPr lang="ru-RU" altLang="ru-RU" sz="1200"/>
              <a:pPr eaLnBrk="1" hangingPunct="1"/>
              <a:t>29</a:t>
            </a:fld>
            <a:endParaRPr lang="ru-RU" altLang="ru-RU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448173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DC748B84-F98D-436A-B662-87050CBAD5D4}" type="slidenum">
              <a:rPr lang="ru-RU" altLang="ru-RU" sz="1200"/>
              <a:pPr algn="r" eaLnBrk="1" hangingPunct="1"/>
              <a:t>30</a:t>
            </a:fld>
            <a:endParaRPr lang="ru-RU" altLang="ru-RU" sz="1200"/>
          </a:p>
        </p:txBody>
      </p:sp>
      <p:sp>
        <p:nvSpPr>
          <p:cNvPr id="118787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118788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ru-RU" altLang="ru-RU" sz="900">
                <a:latin typeface="Lucida Console" panose="020B0609040504020204" pitchFamily="49" charset="0"/>
              </a:rPr>
              <a:t>В последнее время технологии больших данных развиваются высокими темпами. Возникает множество высокотехнологичных компаний, предоставляющих новые инструменты по анализу данных. В то же время растёт мировой спрос на специалистов, способных работать с большими объёмами данных, ставить задачи в этой области, понимать сложность и потенциальную стоимость </a:t>
            </a:r>
            <a:r>
              <a:rPr lang="ru-RU" altLang="ru-RU" sz="1000">
                <a:latin typeface="Lucida Console" panose="020B0609040504020204" pitchFamily="49" charset="0"/>
              </a:rPr>
              <a:t>таких работ. Предполагая нарастающий интерес к этой сфере в России, сотрудники образовательных и бизнес-организаций Новосибирского научного центра решили систематизировать опыт работы с технологиями и задачами анализа больших данных. Анализ образовательного рынка в области </a:t>
            </a:r>
            <a:r>
              <a:rPr lang="ru-RU" altLang="ru-RU" sz="900">
                <a:latin typeface="Lucida Console" panose="020B0609040504020204" pitchFamily="49" charset="0"/>
              </a:rPr>
              <a:t>больших данных показывает нам, что онлайн-образование в сфере аналитики становится всё более популярным и массовым. Существует несколько курсов на английском языке, в т.ч. курсы </a:t>
            </a:r>
            <a:r>
              <a:rPr lang="en-US" altLang="ru-RU" sz="900">
                <a:latin typeface="Lucida Console" panose="020B0609040504020204" pitchFamily="49" charset="0"/>
              </a:rPr>
              <a:t>Data Science and Big Data Analytics </a:t>
            </a:r>
            <a:r>
              <a:rPr lang="ru-RU" altLang="ru-RU" sz="900">
                <a:latin typeface="Lucida Console" panose="020B0609040504020204" pitchFamily="49" charset="0"/>
              </a:rPr>
              <a:t>от </a:t>
            </a:r>
            <a:r>
              <a:rPr lang="en-US" altLang="ru-RU" sz="900">
                <a:latin typeface="Lucida Console" panose="020B0609040504020204" pitchFamily="49" charset="0"/>
              </a:rPr>
              <a:t>EMC</a:t>
            </a:r>
            <a:r>
              <a:rPr lang="ru-RU" altLang="ru-RU" sz="900">
                <a:latin typeface="Lucida Console" panose="020B0609040504020204" pitchFamily="49" charset="0"/>
              </a:rPr>
              <a:t>, ряд курсов на платформах </a:t>
            </a:r>
            <a:r>
              <a:rPr lang="en-US" altLang="ru-RU" sz="900">
                <a:latin typeface="Lucida Console" panose="020B0609040504020204" pitchFamily="49" charset="0"/>
              </a:rPr>
              <a:t>Coursera</a:t>
            </a:r>
            <a:r>
              <a:rPr lang="ru-RU" altLang="ru-RU" sz="900">
                <a:latin typeface="Lucida Console" panose="020B0609040504020204" pitchFamily="49" charset="0"/>
              </a:rPr>
              <a:t> и </a:t>
            </a:r>
            <a:r>
              <a:rPr lang="en-US" altLang="ru-RU" sz="900">
                <a:latin typeface="Lucida Console" panose="020B0609040504020204" pitchFamily="49" charset="0"/>
              </a:rPr>
              <a:t>Udacity</a:t>
            </a:r>
            <a:r>
              <a:rPr lang="ru-RU" altLang="ru-RU" sz="900">
                <a:latin typeface="Lucida Console" panose="020B0609040504020204" pitchFamily="49" charset="0"/>
              </a:rPr>
              <a:t>. Однако на русском языке подобные курсы пока отсутствуют. Настоящий курс призван ликвидировать данный пробел. Он представляет собой образовательный инструмент для введения в эту, без сомнения вдохновляющую и перспективную, область. Авторы курса предлагают слушателям окунуться в мир методов и технологий анализа больших данных на простых примерах.</a:t>
            </a:r>
          </a:p>
        </p:txBody>
      </p:sp>
      <p:sp>
        <p:nvSpPr>
          <p:cNvPr id="118789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4019CA00-78BA-46DC-8E79-B44300EF04BF}" type="slidenum">
              <a:rPr lang="ru-RU" altLang="ru-RU" sz="1200">
                <a:latin typeface="Calibri" panose="020F0502020204030204" pitchFamily="34" charset="0"/>
              </a:rPr>
              <a:pPr algn="r" eaLnBrk="1" hangingPunct="1"/>
              <a:t>30</a:t>
            </a:fld>
            <a:endParaRPr lang="ru-RU" altLang="ru-RU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1715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1DBDB42-94DB-4D8F-8514-4F679EEF05E4}" type="slidenum">
              <a:rPr lang="ru-RU" altLang="ru-RU" sz="1200"/>
              <a:pPr eaLnBrk="1" hangingPunct="1"/>
              <a:t>31</a:t>
            </a:fld>
            <a:endParaRPr lang="ru-RU" altLang="ru-RU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809053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1C584323-12A7-4AC7-B3FE-78E6D5709DC2}" type="slidenum">
              <a:rPr lang="ru-RU" altLang="ru-RU" sz="1200"/>
              <a:pPr algn="r" eaLnBrk="1" hangingPunct="1"/>
              <a:t>32</a:t>
            </a:fld>
            <a:endParaRPr lang="ru-RU" altLang="ru-RU" sz="120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891828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90BB325A-109C-43EC-8C25-03034EB28B5C}" type="slidenum">
              <a:rPr lang="ru-RU" altLang="ru-RU" sz="1200"/>
              <a:pPr algn="r" eaLnBrk="1" hangingPunct="1"/>
              <a:t>33</a:t>
            </a:fld>
            <a:endParaRPr lang="ru-RU" altLang="ru-RU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520002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25E3B90-3D48-4F13-9E39-955A1EBB55FE}" type="slidenum">
              <a:rPr lang="ru-RU" altLang="ru-RU" sz="1200"/>
              <a:pPr eaLnBrk="1" hangingPunct="1"/>
              <a:t>35</a:t>
            </a:fld>
            <a:endParaRPr lang="ru-RU" altLang="ru-RU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459231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63294B1-5701-46A2-829B-89CEE295929C}" type="slidenum">
              <a:rPr lang="ru-RU" altLang="ru-RU" sz="1200"/>
              <a:pPr eaLnBrk="1" hangingPunct="1"/>
              <a:t>39</a:t>
            </a:fld>
            <a:endParaRPr lang="ru-RU" altLang="ru-RU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218003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72C19AD0-6388-4ED5-B26F-C604D345DD7C}" type="slidenum">
              <a:rPr lang="ru-RU" altLang="ru-RU" sz="1200"/>
              <a:pPr algn="r" eaLnBrk="1" hangingPunct="1"/>
              <a:t>43</a:t>
            </a:fld>
            <a:endParaRPr lang="ru-RU" altLang="ru-RU" sz="1200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346207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FE28E525-DA68-43CE-9989-DA8B2EDE4D48}" type="slidenum">
              <a:rPr lang="ru-RU" altLang="ru-RU" sz="1200"/>
              <a:pPr algn="r" eaLnBrk="1" hangingPunct="1"/>
              <a:t>46</a:t>
            </a:fld>
            <a:endParaRPr lang="ru-RU" altLang="ru-RU" sz="1200"/>
          </a:p>
        </p:txBody>
      </p:sp>
      <p:sp>
        <p:nvSpPr>
          <p:cNvPr id="120835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120836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ru-RU" altLang="ru-RU" sz="900">
                <a:latin typeface="Lucida Console" panose="020B0609040504020204" pitchFamily="49" charset="0"/>
              </a:rPr>
              <a:t>В</a:t>
            </a:r>
          </a:p>
        </p:txBody>
      </p:sp>
      <p:sp>
        <p:nvSpPr>
          <p:cNvPr id="120837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FB2435D5-E182-4240-A3F7-CC002D66A439}" type="slidenum">
              <a:rPr lang="ru-RU" altLang="ru-RU" sz="1200">
                <a:latin typeface="Calibri" panose="020F0502020204030204" pitchFamily="34" charset="0"/>
              </a:rPr>
              <a:pPr algn="r" eaLnBrk="1" hangingPunct="1"/>
              <a:t>46</a:t>
            </a:fld>
            <a:endParaRPr lang="ru-RU" altLang="ru-RU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3745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B34FA896-F499-4B57-864E-C204C3E01253}" type="slidenum">
              <a:rPr lang="ru-RU" altLang="ru-RU" sz="1200"/>
              <a:pPr algn="r" eaLnBrk="1" hangingPunct="1"/>
              <a:t>63</a:t>
            </a:fld>
            <a:endParaRPr lang="ru-RU" altLang="ru-RU" sz="1200"/>
          </a:p>
        </p:txBody>
      </p:sp>
      <p:sp>
        <p:nvSpPr>
          <p:cNvPr id="122883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122884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ru-RU" altLang="ru-RU" sz="900">
              <a:latin typeface="Lucida Console" panose="020B0609040504020204" pitchFamily="49" charset="0"/>
            </a:endParaRPr>
          </a:p>
        </p:txBody>
      </p:sp>
      <p:sp>
        <p:nvSpPr>
          <p:cNvPr id="122885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DF4CAF40-8E99-40CB-B766-6AC025134392}" type="slidenum">
              <a:rPr lang="ru-RU" altLang="ru-RU" sz="1200">
                <a:latin typeface="Calibri" panose="020F0502020204030204" pitchFamily="34" charset="0"/>
              </a:rPr>
              <a:pPr algn="r" eaLnBrk="1" hangingPunct="1"/>
              <a:t>63</a:t>
            </a:fld>
            <a:endParaRPr lang="ru-RU" altLang="ru-RU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473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" y="1093923"/>
            <a:ext cx="6533647" cy="152753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537" y="3114194"/>
            <a:ext cx="6417350" cy="18211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50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0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252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00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754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50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2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00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8D30B-FC73-4CFB-8E8E-F3DFBFCEB3CE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785737" y="6742508"/>
            <a:ext cx="3322576" cy="380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US" sz="187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http://presentation-creation.ru/</a:t>
            </a:r>
            <a:endParaRPr kumimoji="0" lang="en-US" sz="332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291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36D34E6-A915-495D-9F81-F9652ACCD449}"/>
              </a:ext>
            </a:extLst>
          </p:cNvPr>
          <p:cNvGrpSpPr/>
          <p:nvPr userDrawn="1"/>
        </p:nvGrpSpPr>
        <p:grpSpPr>
          <a:xfrm>
            <a:off x="573486" y="322263"/>
            <a:ext cx="11812909" cy="6553200"/>
            <a:chOff x="573486" y="322263"/>
            <a:chExt cx="11812909" cy="6553200"/>
          </a:xfrm>
        </p:grpSpPr>
        <p:sp>
          <p:nvSpPr>
            <p:cNvPr id="8" name="AutoShape 4">
              <a:extLst>
                <a:ext uri="{FF2B5EF4-FFF2-40B4-BE49-F238E27FC236}">
                  <a16:creationId xmlns:a16="http://schemas.microsoft.com/office/drawing/2014/main" id="{13B0DF65-2645-4D4A-91D9-FFDD39A55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486" y="322263"/>
              <a:ext cx="11812909" cy="65532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500">
                <a:solidFill>
                  <a:schemeClr val="bg1"/>
                </a:solidFill>
              </a:endParaRPr>
            </a:p>
          </p:txBody>
        </p:sp>
        <p:sp>
          <p:nvSpPr>
            <p:cNvPr id="9" name="AutoShape 6">
              <a:extLst>
                <a:ext uri="{FF2B5EF4-FFF2-40B4-BE49-F238E27FC236}">
                  <a16:creationId xmlns:a16="http://schemas.microsoft.com/office/drawing/2014/main" id="{A0645274-F721-4F81-B1F8-D7CCE9DB0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509" y="678938"/>
              <a:ext cx="11305255" cy="6099687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7882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200">
                <a:solidFill>
                  <a:schemeClr val="bg1"/>
                </a:solidFill>
              </a:endParaRPr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57AA-5958-495E-8B25-5DDE27C0430B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6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0706" y="4579300"/>
            <a:ext cx="10768013" cy="1415360"/>
          </a:xfrm>
        </p:spPr>
        <p:txBody>
          <a:bodyPr anchor="t"/>
          <a:lstStyle>
            <a:lvl1pPr algn="l">
              <a:defRPr sz="4156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0706" y="3020428"/>
            <a:ext cx="10768013" cy="1558875"/>
          </a:xfrm>
        </p:spPr>
        <p:txBody>
          <a:bodyPr anchor="b"/>
          <a:lstStyle>
            <a:lvl1pPr marL="0" indent="0">
              <a:buNone/>
              <a:defRPr sz="2078">
                <a:solidFill>
                  <a:schemeClr val="tx1">
                    <a:tint val="75000"/>
                  </a:schemeClr>
                </a:solidFill>
              </a:defRPr>
            </a:lvl1pPr>
            <a:lvl2pPr marL="475081" indent="0">
              <a:buNone/>
              <a:defRPr sz="1870">
                <a:solidFill>
                  <a:schemeClr val="tx1">
                    <a:tint val="75000"/>
                  </a:schemeClr>
                </a:solidFill>
              </a:defRPr>
            </a:lvl2pPr>
            <a:lvl3pPr marL="950161" indent="0">
              <a:buNone/>
              <a:defRPr sz="1663">
                <a:solidFill>
                  <a:schemeClr val="tx1">
                    <a:tint val="75000"/>
                  </a:schemeClr>
                </a:solidFill>
              </a:defRPr>
            </a:lvl3pPr>
            <a:lvl4pPr marL="1425242" indent="0">
              <a:buNone/>
              <a:defRPr sz="1455">
                <a:solidFill>
                  <a:schemeClr val="tx1">
                    <a:tint val="75000"/>
                  </a:schemeClr>
                </a:solidFill>
              </a:defRPr>
            </a:lvl4pPr>
            <a:lvl5pPr marL="1900322" indent="0">
              <a:buNone/>
              <a:defRPr sz="1455">
                <a:solidFill>
                  <a:schemeClr val="tx1">
                    <a:tint val="75000"/>
                  </a:schemeClr>
                </a:solidFill>
              </a:defRPr>
            </a:lvl5pPr>
            <a:lvl6pPr marL="2375403" indent="0">
              <a:buNone/>
              <a:defRPr sz="1455">
                <a:solidFill>
                  <a:schemeClr val="tx1">
                    <a:tint val="75000"/>
                  </a:schemeClr>
                </a:solidFill>
              </a:defRPr>
            </a:lvl6pPr>
            <a:lvl7pPr marL="2850483" indent="0">
              <a:buNone/>
              <a:defRPr sz="1455">
                <a:solidFill>
                  <a:schemeClr val="tx1">
                    <a:tint val="75000"/>
                  </a:schemeClr>
                </a:solidFill>
              </a:defRPr>
            </a:lvl7pPr>
            <a:lvl8pPr marL="3325564" indent="0">
              <a:buNone/>
              <a:defRPr sz="1455">
                <a:solidFill>
                  <a:schemeClr val="tx1">
                    <a:tint val="75000"/>
                  </a:schemeClr>
                </a:solidFill>
              </a:defRPr>
            </a:lvl8pPr>
            <a:lvl9pPr marL="3800644" indent="0">
              <a:buNone/>
              <a:defRPr sz="14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ACAD-3389-4528-929B-B8AD4A00019C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80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3E6A40F-0B63-4D2B-8E9F-9459E420D45F}"/>
              </a:ext>
            </a:extLst>
          </p:cNvPr>
          <p:cNvGrpSpPr/>
          <p:nvPr userDrawn="1"/>
        </p:nvGrpSpPr>
        <p:grpSpPr>
          <a:xfrm>
            <a:off x="573486" y="322263"/>
            <a:ext cx="11812909" cy="6553200"/>
            <a:chOff x="573486" y="322263"/>
            <a:chExt cx="11812909" cy="6553200"/>
          </a:xfrm>
        </p:grpSpPr>
        <p:sp>
          <p:nvSpPr>
            <p:cNvPr id="9" name="AutoShape 4">
              <a:extLst>
                <a:ext uri="{FF2B5EF4-FFF2-40B4-BE49-F238E27FC236}">
                  <a16:creationId xmlns:a16="http://schemas.microsoft.com/office/drawing/2014/main" id="{6B8048CE-E451-4BD4-B598-5753245DF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486" y="322263"/>
              <a:ext cx="11812909" cy="65532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500">
                <a:solidFill>
                  <a:schemeClr val="bg1"/>
                </a:solidFill>
              </a:endParaRPr>
            </a:p>
          </p:txBody>
        </p:sp>
        <p:sp>
          <p:nvSpPr>
            <p:cNvPr id="10" name="AutoShape 6">
              <a:extLst>
                <a:ext uri="{FF2B5EF4-FFF2-40B4-BE49-F238E27FC236}">
                  <a16:creationId xmlns:a16="http://schemas.microsoft.com/office/drawing/2014/main" id="{6C445EA4-C526-455B-9E6A-E4A50CF7D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509" y="678938"/>
              <a:ext cx="11305255" cy="6099687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7882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200">
                <a:solidFill>
                  <a:schemeClr val="bg1"/>
                </a:solidFill>
              </a:endParaRPr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3413" y="1662803"/>
            <a:ext cx="5595144" cy="4703021"/>
          </a:xfrm>
        </p:spPr>
        <p:txBody>
          <a:bodyPr/>
          <a:lstStyle>
            <a:lvl1pPr>
              <a:defRPr sz="2909"/>
            </a:lvl1pPr>
            <a:lvl2pPr>
              <a:defRPr sz="2494"/>
            </a:lvl2pPr>
            <a:lvl3pPr>
              <a:defRPr sz="2078"/>
            </a:lvl3pPr>
            <a:lvl4pPr>
              <a:defRPr sz="1870"/>
            </a:lvl4pPr>
            <a:lvl5pPr>
              <a:defRPr sz="1870"/>
            </a:lvl5pPr>
            <a:lvl6pPr>
              <a:defRPr sz="1870"/>
            </a:lvl6pPr>
            <a:lvl7pPr>
              <a:defRPr sz="1870"/>
            </a:lvl7pPr>
            <a:lvl8pPr>
              <a:defRPr sz="1870"/>
            </a:lvl8pPr>
            <a:lvl9pPr>
              <a:defRPr sz="187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39693" y="1662803"/>
            <a:ext cx="5595144" cy="4703021"/>
          </a:xfrm>
        </p:spPr>
        <p:txBody>
          <a:bodyPr/>
          <a:lstStyle>
            <a:lvl1pPr>
              <a:defRPr sz="2909"/>
            </a:lvl1pPr>
            <a:lvl2pPr>
              <a:defRPr sz="2494"/>
            </a:lvl2pPr>
            <a:lvl3pPr>
              <a:defRPr sz="2078"/>
            </a:lvl3pPr>
            <a:lvl4pPr>
              <a:defRPr sz="1870"/>
            </a:lvl4pPr>
            <a:lvl5pPr>
              <a:defRPr sz="1870"/>
            </a:lvl5pPr>
            <a:lvl6pPr>
              <a:defRPr sz="1870"/>
            </a:lvl6pPr>
            <a:lvl7pPr>
              <a:defRPr sz="1870"/>
            </a:lvl7pPr>
            <a:lvl8pPr>
              <a:defRPr sz="1870"/>
            </a:lvl8pPr>
            <a:lvl9pPr>
              <a:defRPr sz="187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651D8-5253-46CE-BCF0-9507A8715069}" type="datetime1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385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3413" y="1595167"/>
            <a:ext cx="5597344" cy="664790"/>
          </a:xfrm>
        </p:spPr>
        <p:txBody>
          <a:bodyPr anchor="b"/>
          <a:lstStyle>
            <a:lvl1pPr marL="0" indent="0">
              <a:buNone/>
              <a:defRPr sz="2494" b="1"/>
            </a:lvl1pPr>
            <a:lvl2pPr marL="475081" indent="0">
              <a:buNone/>
              <a:defRPr sz="2078" b="1"/>
            </a:lvl2pPr>
            <a:lvl3pPr marL="950161" indent="0">
              <a:buNone/>
              <a:defRPr sz="1870" b="1"/>
            </a:lvl3pPr>
            <a:lvl4pPr marL="1425242" indent="0">
              <a:buNone/>
              <a:defRPr sz="1663" b="1"/>
            </a:lvl4pPr>
            <a:lvl5pPr marL="1900322" indent="0">
              <a:buNone/>
              <a:defRPr sz="1663" b="1"/>
            </a:lvl5pPr>
            <a:lvl6pPr marL="2375403" indent="0">
              <a:buNone/>
              <a:defRPr sz="1663" b="1"/>
            </a:lvl6pPr>
            <a:lvl7pPr marL="2850483" indent="0">
              <a:buNone/>
              <a:defRPr sz="1663" b="1"/>
            </a:lvl7pPr>
            <a:lvl8pPr marL="3325564" indent="0">
              <a:buNone/>
              <a:defRPr sz="1663" b="1"/>
            </a:lvl8pPr>
            <a:lvl9pPr marL="3800644" indent="0">
              <a:buNone/>
              <a:defRPr sz="166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3413" y="2259957"/>
            <a:ext cx="5597344" cy="4105864"/>
          </a:xfrm>
        </p:spPr>
        <p:txBody>
          <a:bodyPr/>
          <a:lstStyle>
            <a:lvl1pPr>
              <a:defRPr sz="2494"/>
            </a:lvl1pPr>
            <a:lvl2pPr>
              <a:defRPr sz="2078"/>
            </a:lvl2pPr>
            <a:lvl3pPr>
              <a:defRPr sz="1870"/>
            </a:lvl3pPr>
            <a:lvl4pPr>
              <a:defRPr sz="1663"/>
            </a:lvl4pPr>
            <a:lvl5pPr>
              <a:defRPr sz="1663"/>
            </a:lvl5pPr>
            <a:lvl6pPr>
              <a:defRPr sz="1663"/>
            </a:lvl6pPr>
            <a:lvl7pPr>
              <a:defRPr sz="1663"/>
            </a:lvl7pPr>
            <a:lvl8pPr>
              <a:defRPr sz="1663"/>
            </a:lvl8pPr>
            <a:lvl9pPr>
              <a:defRPr sz="166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435297" y="1595167"/>
            <a:ext cx="5599543" cy="664790"/>
          </a:xfrm>
        </p:spPr>
        <p:txBody>
          <a:bodyPr anchor="b"/>
          <a:lstStyle>
            <a:lvl1pPr marL="0" indent="0">
              <a:buNone/>
              <a:defRPr sz="2494" b="1"/>
            </a:lvl1pPr>
            <a:lvl2pPr marL="475081" indent="0">
              <a:buNone/>
              <a:defRPr sz="2078" b="1"/>
            </a:lvl2pPr>
            <a:lvl3pPr marL="950161" indent="0">
              <a:buNone/>
              <a:defRPr sz="1870" b="1"/>
            </a:lvl3pPr>
            <a:lvl4pPr marL="1425242" indent="0">
              <a:buNone/>
              <a:defRPr sz="1663" b="1"/>
            </a:lvl4pPr>
            <a:lvl5pPr marL="1900322" indent="0">
              <a:buNone/>
              <a:defRPr sz="1663" b="1"/>
            </a:lvl5pPr>
            <a:lvl6pPr marL="2375403" indent="0">
              <a:buNone/>
              <a:defRPr sz="1663" b="1"/>
            </a:lvl6pPr>
            <a:lvl7pPr marL="2850483" indent="0">
              <a:buNone/>
              <a:defRPr sz="1663" b="1"/>
            </a:lvl7pPr>
            <a:lvl8pPr marL="3325564" indent="0">
              <a:buNone/>
              <a:defRPr sz="1663" b="1"/>
            </a:lvl8pPr>
            <a:lvl9pPr marL="3800644" indent="0">
              <a:buNone/>
              <a:defRPr sz="166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435297" y="2259957"/>
            <a:ext cx="5599543" cy="4105864"/>
          </a:xfrm>
        </p:spPr>
        <p:txBody>
          <a:bodyPr/>
          <a:lstStyle>
            <a:lvl1pPr>
              <a:defRPr sz="2494"/>
            </a:lvl1pPr>
            <a:lvl2pPr>
              <a:defRPr sz="2078"/>
            </a:lvl2pPr>
            <a:lvl3pPr>
              <a:defRPr sz="1870"/>
            </a:lvl3pPr>
            <a:lvl4pPr>
              <a:defRPr sz="1663"/>
            </a:lvl4pPr>
            <a:lvl5pPr>
              <a:defRPr sz="1663"/>
            </a:lvl5pPr>
            <a:lvl6pPr>
              <a:defRPr sz="1663"/>
            </a:lvl6pPr>
            <a:lvl7pPr>
              <a:defRPr sz="1663"/>
            </a:lvl7pPr>
            <a:lvl8pPr>
              <a:defRPr sz="1663"/>
            </a:lvl8pPr>
            <a:lvl9pPr>
              <a:defRPr sz="166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6442-3D0D-4A87-BE8A-027692E88D8C}" type="datetime1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367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0623BB25-96E0-42CF-A7AF-DD55E6B4D91A}"/>
              </a:ext>
            </a:extLst>
          </p:cNvPr>
          <p:cNvGrpSpPr/>
          <p:nvPr userDrawn="1"/>
        </p:nvGrpSpPr>
        <p:grpSpPr>
          <a:xfrm>
            <a:off x="573486" y="322263"/>
            <a:ext cx="11812909" cy="6553200"/>
            <a:chOff x="573486" y="322263"/>
            <a:chExt cx="11812909" cy="6553200"/>
          </a:xfrm>
        </p:grpSpPr>
        <p:sp>
          <p:nvSpPr>
            <p:cNvPr id="7" name="AutoShape 4">
              <a:extLst>
                <a:ext uri="{FF2B5EF4-FFF2-40B4-BE49-F238E27FC236}">
                  <a16:creationId xmlns:a16="http://schemas.microsoft.com/office/drawing/2014/main" id="{0A3BFA4D-1D28-4C21-AA35-FFF072D3A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486" y="322263"/>
              <a:ext cx="11812909" cy="65532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500">
                <a:solidFill>
                  <a:schemeClr val="bg1"/>
                </a:solidFill>
              </a:endParaRPr>
            </a:p>
          </p:txBody>
        </p:sp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735B09F4-E3DC-450E-B3BB-14055279E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509" y="678938"/>
              <a:ext cx="11305255" cy="6099687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7882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200">
                <a:solidFill>
                  <a:schemeClr val="bg1"/>
                </a:solidFill>
              </a:endParaRPr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060B-5619-4C63-9D7E-6325D445E168}" type="datetime1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47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96C4BA3-B18B-4E1D-A9D4-4EEB95B70BE1}"/>
              </a:ext>
            </a:extLst>
          </p:cNvPr>
          <p:cNvGrpSpPr/>
          <p:nvPr userDrawn="1"/>
        </p:nvGrpSpPr>
        <p:grpSpPr>
          <a:xfrm>
            <a:off x="573486" y="322263"/>
            <a:ext cx="11812909" cy="6553200"/>
            <a:chOff x="573486" y="322263"/>
            <a:chExt cx="11812909" cy="6553200"/>
          </a:xfrm>
        </p:grpSpPr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EF3F7970-ECDF-439C-B827-D1988283F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486" y="322263"/>
              <a:ext cx="11812909" cy="65532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500">
                <a:solidFill>
                  <a:schemeClr val="bg1"/>
                </a:solidFill>
              </a:endParaRPr>
            </a:p>
          </p:txBody>
        </p:sp>
        <p:sp>
          <p:nvSpPr>
            <p:cNvPr id="7" name="AutoShape 6">
              <a:extLst>
                <a:ext uri="{FF2B5EF4-FFF2-40B4-BE49-F238E27FC236}">
                  <a16:creationId xmlns:a16="http://schemas.microsoft.com/office/drawing/2014/main" id="{61EB897B-A170-46C7-9ED1-A8CB4DE36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509" y="678938"/>
              <a:ext cx="11305255" cy="6099687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7882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200">
                <a:solidFill>
                  <a:schemeClr val="bg1"/>
                </a:solidFill>
              </a:endParaRPr>
            </a:p>
          </p:txBody>
        </p:sp>
      </p:grp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79D14-09AA-411B-8E98-B1B86AB0FBD1}" type="datetime1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430469" y="6605017"/>
            <a:ext cx="2955926" cy="379409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952B6C0E-C4B9-4094-8E59-5B7DF00D541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75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14" y="283732"/>
            <a:ext cx="4167766" cy="1207510"/>
          </a:xfrm>
        </p:spPr>
        <p:txBody>
          <a:bodyPr anchor="b"/>
          <a:lstStyle>
            <a:lvl1pPr algn="l">
              <a:defRPr sz="2078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52933" y="283736"/>
            <a:ext cx="7081904" cy="6082089"/>
          </a:xfrm>
        </p:spPr>
        <p:txBody>
          <a:bodyPr/>
          <a:lstStyle>
            <a:lvl1pPr>
              <a:defRPr sz="3325"/>
            </a:lvl1pPr>
            <a:lvl2pPr>
              <a:defRPr sz="2909"/>
            </a:lvl2pPr>
            <a:lvl3pPr>
              <a:defRPr sz="2494"/>
            </a:lvl3pPr>
            <a:lvl4pPr>
              <a:defRPr sz="2078"/>
            </a:lvl4pPr>
            <a:lvl5pPr>
              <a:defRPr sz="2078"/>
            </a:lvl5pPr>
            <a:lvl6pPr>
              <a:defRPr sz="2078"/>
            </a:lvl6pPr>
            <a:lvl7pPr>
              <a:defRPr sz="2078"/>
            </a:lvl7pPr>
            <a:lvl8pPr>
              <a:defRPr sz="2078"/>
            </a:lvl8pPr>
            <a:lvl9pPr>
              <a:defRPr sz="2078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3414" y="1491244"/>
            <a:ext cx="4167766" cy="4874579"/>
          </a:xfrm>
        </p:spPr>
        <p:txBody>
          <a:bodyPr/>
          <a:lstStyle>
            <a:lvl1pPr marL="0" indent="0">
              <a:buNone/>
              <a:defRPr sz="1455"/>
            </a:lvl1pPr>
            <a:lvl2pPr marL="475081" indent="0">
              <a:buNone/>
              <a:defRPr sz="1247"/>
            </a:lvl2pPr>
            <a:lvl3pPr marL="950161" indent="0">
              <a:buNone/>
              <a:defRPr sz="1039"/>
            </a:lvl3pPr>
            <a:lvl4pPr marL="1425242" indent="0">
              <a:buNone/>
              <a:defRPr sz="935"/>
            </a:lvl4pPr>
            <a:lvl5pPr marL="1900322" indent="0">
              <a:buNone/>
              <a:defRPr sz="935"/>
            </a:lvl5pPr>
            <a:lvl6pPr marL="2375403" indent="0">
              <a:buNone/>
              <a:defRPr sz="935"/>
            </a:lvl6pPr>
            <a:lvl7pPr marL="2850483" indent="0">
              <a:buNone/>
              <a:defRPr sz="935"/>
            </a:lvl7pPr>
            <a:lvl8pPr marL="3325564" indent="0">
              <a:buNone/>
              <a:defRPr sz="935"/>
            </a:lvl8pPr>
            <a:lvl9pPr marL="3800644" indent="0">
              <a:buNone/>
              <a:defRPr sz="93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48DC0-A377-4AF0-8E1F-DB4F9E228338}" type="datetime1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5ACE7F2A-13DA-4988-BFA5-C4E3A7F6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0469" y="6605017"/>
            <a:ext cx="2955926" cy="379409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952B6C0E-C4B9-4094-8E59-5B7DF00D541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085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1BCB28D-5332-46BC-A53D-7875D578B2D7}"/>
              </a:ext>
            </a:extLst>
          </p:cNvPr>
          <p:cNvGrpSpPr/>
          <p:nvPr userDrawn="1"/>
        </p:nvGrpSpPr>
        <p:grpSpPr>
          <a:xfrm>
            <a:off x="573486" y="322263"/>
            <a:ext cx="11812909" cy="6553200"/>
            <a:chOff x="573486" y="322263"/>
            <a:chExt cx="11812909" cy="6553200"/>
          </a:xfrm>
        </p:grpSpPr>
        <p:sp>
          <p:nvSpPr>
            <p:cNvPr id="10" name="AutoShape 4">
              <a:extLst>
                <a:ext uri="{FF2B5EF4-FFF2-40B4-BE49-F238E27FC236}">
                  <a16:creationId xmlns:a16="http://schemas.microsoft.com/office/drawing/2014/main" id="{A89DD18F-8DA5-448C-B2EA-EAE27BF3E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486" y="322263"/>
              <a:ext cx="11812909" cy="65532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500">
                <a:solidFill>
                  <a:schemeClr val="bg1"/>
                </a:solidFill>
              </a:endParaRPr>
            </a:p>
          </p:txBody>
        </p:sp>
        <p:sp>
          <p:nvSpPr>
            <p:cNvPr id="11" name="AutoShape 6">
              <a:extLst>
                <a:ext uri="{FF2B5EF4-FFF2-40B4-BE49-F238E27FC236}">
                  <a16:creationId xmlns:a16="http://schemas.microsoft.com/office/drawing/2014/main" id="{853013AD-DAE8-4B8A-AC26-3DC04B1FC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509" y="678938"/>
              <a:ext cx="11305255" cy="6099687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7882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200">
                <a:solidFill>
                  <a:schemeClr val="bg1"/>
                </a:solidFill>
              </a:endParaRPr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88090" y="4988406"/>
            <a:ext cx="9649071" cy="559190"/>
          </a:xfrm>
        </p:spPr>
        <p:txBody>
          <a:bodyPr anchor="b"/>
          <a:lstStyle>
            <a:lvl1pPr algn="l">
              <a:defRPr sz="2078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293565" y="636750"/>
            <a:ext cx="9649071" cy="4275773"/>
          </a:xfrm>
        </p:spPr>
        <p:txBody>
          <a:bodyPr/>
          <a:lstStyle>
            <a:lvl1pPr marL="0" indent="0">
              <a:buNone/>
              <a:defRPr sz="3325"/>
            </a:lvl1pPr>
            <a:lvl2pPr marL="475081" indent="0">
              <a:buNone/>
              <a:defRPr sz="2909"/>
            </a:lvl2pPr>
            <a:lvl3pPr marL="950161" indent="0">
              <a:buNone/>
              <a:defRPr sz="2494"/>
            </a:lvl3pPr>
            <a:lvl4pPr marL="1425242" indent="0">
              <a:buNone/>
              <a:defRPr sz="2078"/>
            </a:lvl4pPr>
            <a:lvl5pPr marL="1900322" indent="0">
              <a:buNone/>
              <a:defRPr sz="2078"/>
            </a:lvl5pPr>
            <a:lvl6pPr marL="2375403" indent="0">
              <a:buNone/>
              <a:defRPr sz="2078"/>
            </a:lvl6pPr>
            <a:lvl7pPr marL="2850483" indent="0">
              <a:buNone/>
              <a:defRPr sz="2078"/>
            </a:lvl7pPr>
            <a:lvl8pPr marL="3325564" indent="0">
              <a:buNone/>
              <a:defRPr sz="2078"/>
            </a:lvl8pPr>
            <a:lvl9pPr marL="3800644" indent="0">
              <a:buNone/>
              <a:defRPr sz="2078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288090" y="5577313"/>
            <a:ext cx="9649071" cy="794143"/>
          </a:xfrm>
        </p:spPr>
        <p:txBody>
          <a:bodyPr/>
          <a:lstStyle>
            <a:lvl1pPr marL="0" indent="0">
              <a:buNone/>
              <a:defRPr sz="1455"/>
            </a:lvl1pPr>
            <a:lvl2pPr marL="475081" indent="0">
              <a:buNone/>
              <a:defRPr sz="1247"/>
            </a:lvl2pPr>
            <a:lvl3pPr marL="950161" indent="0">
              <a:buNone/>
              <a:defRPr sz="1039"/>
            </a:lvl3pPr>
            <a:lvl4pPr marL="1425242" indent="0">
              <a:buNone/>
              <a:defRPr sz="935"/>
            </a:lvl4pPr>
            <a:lvl5pPr marL="1900322" indent="0">
              <a:buNone/>
              <a:defRPr sz="935"/>
            </a:lvl5pPr>
            <a:lvl6pPr marL="2375403" indent="0">
              <a:buNone/>
              <a:defRPr sz="935"/>
            </a:lvl6pPr>
            <a:lvl7pPr marL="2850483" indent="0">
              <a:buNone/>
              <a:defRPr sz="935"/>
            </a:lvl7pPr>
            <a:lvl8pPr marL="3325564" indent="0">
              <a:buNone/>
              <a:defRPr sz="935"/>
            </a:lvl8pPr>
            <a:lvl9pPr marL="3800644" indent="0">
              <a:buNone/>
              <a:defRPr sz="93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73B5-B575-47F4-A829-B7286893467C}" type="datetime1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F2BF46CC-8783-42C8-9DBA-9620338E3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0469" y="6605017"/>
            <a:ext cx="2955926" cy="379409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952B6C0E-C4B9-4094-8E59-5B7DF00D541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292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16A4-5566-4913-B59F-FC3EF92D049B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164B3C99-A0B4-4CAE-AB60-BFF7D57A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0469" y="6605017"/>
            <a:ext cx="2955926" cy="379409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952B6C0E-C4B9-4094-8E59-5B7DF00D5415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52AFF28C-2251-4D6F-8BA6-1F3BB10533F9}"/>
              </a:ext>
            </a:extLst>
          </p:cNvPr>
          <p:cNvGrpSpPr/>
          <p:nvPr userDrawn="1"/>
        </p:nvGrpSpPr>
        <p:grpSpPr>
          <a:xfrm>
            <a:off x="573486" y="322263"/>
            <a:ext cx="11812909" cy="6553200"/>
            <a:chOff x="573486" y="322263"/>
            <a:chExt cx="11812909" cy="6553200"/>
          </a:xfrm>
        </p:grpSpPr>
        <p:sp>
          <p:nvSpPr>
            <p:cNvPr id="9" name="AutoShape 4">
              <a:extLst>
                <a:ext uri="{FF2B5EF4-FFF2-40B4-BE49-F238E27FC236}">
                  <a16:creationId xmlns:a16="http://schemas.microsoft.com/office/drawing/2014/main" id="{0A698C02-667A-479B-9196-10E526B6F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486" y="322263"/>
              <a:ext cx="11812909" cy="65532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500">
                <a:solidFill>
                  <a:schemeClr val="bg1"/>
                </a:solidFill>
              </a:endParaRPr>
            </a:p>
          </p:txBody>
        </p:sp>
        <p:sp>
          <p:nvSpPr>
            <p:cNvPr id="10" name="AutoShape 6">
              <a:extLst>
                <a:ext uri="{FF2B5EF4-FFF2-40B4-BE49-F238E27FC236}">
                  <a16:creationId xmlns:a16="http://schemas.microsoft.com/office/drawing/2014/main" id="{093BEECF-005E-438B-BACE-983952238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509" y="678938"/>
              <a:ext cx="11305255" cy="6099687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7882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2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268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851507B0-50CE-4881-9EB2-2C19A70C24C3}"/>
              </a:ext>
            </a:extLst>
          </p:cNvPr>
          <p:cNvGrpSpPr/>
          <p:nvPr userDrawn="1"/>
        </p:nvGrpSpPr>
        <p:grpSpPr>
          <a:xfrm>
            <a:off x="573486" y="322263"/>
            <a:ext cx="11812909" cy="6553200"/>
            <a:chOff x="573486" y="322263"/>
            <a:chExt cx="11812909" cy="6553200"/>
          </a:xfrm>
        </p:grpSpPr>
        <p:sp>
          <p:nvSpPr>
            <p:cNvPr id="9" name="AutoShape 4">
              <a:extLst>
                <a:ext uri="{FF2B5EF4-FFF2-40B4-BE49-F238E27FC236}">
                  <a16:creationId xmlns:a16="http://schemas.microsoft.com/office/drawing/2014/main" id="{5A521228-5BB2-4414-A615-3555CFEDA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486" y="322263"/>
              <a:ext cx="11812909" cy="65532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500">
                <a:solidFill>
                  <a:schemeClr val="bg1"/>
                </a:solidFill>
              </a:endParaRPr>
            </a:p>
          </p:txBody>
        </p:sp>
        <p:sp>
          <p:nvSpPr>
            <p:cNvPr id="10" name="AutoShape 6">
              <a:extLst>
                <a:ext uri="{FF2B5EF4-FFF2-40B4-BE49-F238E27FC236}">
                  <a16:creationId xmlns:a16="http://schemas.microsoft.com/office/drawing/2014/main" id="{74A61CAC-B0CA-4D71-B848-99ECECCAE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509" y="678938"/>
              <a:ext cx="11305255" cy="6099687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7882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200">
                <a:solidFill>
                  <a:schemeClr val="bg1"/>
                </a:solidFill>
              </a:endParaRPr>
            </a:p>
          </p:txBody>
        </p:sp>
      </p:grp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9184481" y="285386"/>
            <a:ext cx="2850356" cy="608043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33414" y="285386"/>
            <a:ext cx="8339931" cy="608043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99DA-54E6-404C-934A-F2AC9D55893F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D768128E-114F-4739-B6D7-D26821674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0469" y="6605017"/>
            <a:ext cx="2955926" cy="379409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952B6C0E-C4B9-4094-8E59-5B7DF00D541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865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0772" y="379413"/>
            <a:ext cx="10926708" cy="13779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870772" y="1897063"/>
            <a:ext cx="5369428" cy="452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6428052" y="1897063"/>
            <a:ext cx="5369428" cy="218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6428052" y="4233863"/>
            <a:ext cx="5369428" cy="218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7F47CB09-C3D0-48FC-896E-6FB1C0761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0469" y="6605017"/>
            <a:ext cx="2955926" cy="379409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952B6C0E-C4B9-4094-8E59-5B7DF00D5415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698B4BD-7BE2-40C7-B40D-64DD9C57DC36}"/>
              </a:ext>
            </a:extLst>
          </p:cNvPr>
          <p:cNvGrpSpPr/>
          <p:nvPr userDrawn="1"/>
        </p:nvGrpSpPr>
        <p:grpSpPr>
          <a:xfrm>
            <a:off x="573486" y="322263"/>
            <a:ext cx="11812909" cy="6553200"/>
            <a:chOff x="573486" y="322263"/>
            <a:chExt cx="11812909" cy="6553200"/>
          </a:xfrm>
        </p:grpSpPr>
        <p:sp>
          <p:nvSpPr>
            <p:cNvPr id="8" name="AutoShape 4">
              <a:extLst>
                <a:ext uri="{FF2B5EF4-FFF2-40B4-BE49-F238E27FC236}">
                  <a16:creationId xmlns:a16="http://schemas.microsoft.com/office/drawing/2014/main" id="{D4388E81-B64A-42A6-8721-BFB76E1A8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486" y="322263"/>
              <a:ext cx="11812909" cy="65532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500">
                <a:solidFill>
                  <a:schemeClr val="bg1"/>
                </a:solidFill>
              </a:endParaRPr>
            </a:p>
          </p:txBody>
        </p:sp>
        <p:sp>
          <p:nvSpPr>
            <p:cNvPr id="9" name="AutoShape 6">
              <a:extLst>
                <a:ext uri="{FF2B5EF4-FFF2-40B4-BE49-F238E27FC236}">
                  <a16:creationId xmlns:a16="http://schemas.microsoft.com/office/drawing/2014/main" id="{E5BBC99C-E288-422B-829A-28EE8B385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509" y="678938"/>
              <a:ext cx="11305255" cy="6099687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7882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2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5799217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2094AE5F-A569-4969-8032-B1BBC7416DF0}"/>
              </a:ext>
            </a:extLst>
          </p:cNvPr>
          <p:cNvGrpSpPr/>
          <p:nvPr userDrawn="1"/>
        </p:nvGrpSpPr>
        <p:grpSpPr>
          <a:xfrm>
            <a:off x="573486" y="322263"/>
            <a:ext cx="11812909" cy="6553200"/>
            <a:chOff x="573486" y="322263"/>
            <a:chExt cx="11812909" cy="6553200"/>
          </a:xfrm>
        </p:grpSpPr>
        <p:sp>
          <p:nvSpPr>
            <p:cNvPr id="7" name="AutoShape 4">
              <a:extLst>
                <a:ext uri="{FF2B5EF4-FFF2-40B4-BE49-F238E27FC236}">
                  <a16:creationId xmlns:a16="http://schemas.microsoft.com/office/drawing/2014/main" id="{52803CDE-2727-4BC8-B00B-D0F246979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486" y="322263"/>
              <a:ext cx="11812909" cy="65532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500">
                <a:solidFill>
                  <a:schemeClr val="bg1"/>
                </a:solidFill>
              </a:endParaRPr>
            </a:p>
          </p:txBody>
        </p:sp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39299F8C-F0E3-4587-BF11-2D4F291D8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509" y="678938"/>
              <a:ext cx="11305255" cy="6099687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7882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200">
                <a:solidFill>
                  <a:schemeClr val="bg1"/>
                </a:solidFill>
              </a:endParaRPr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0772" y="379413"/>
            <a:ext cx="10926708" cy="13779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870772" y="1897063"/>
            <a:ext cx="5369428" cy="452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28052" y="1897063"/>
            <a:ext cx="5369428" cy="452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F6B2B4A3-8E4F-4E92-AE80-4A00A6176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0469" y="6605017"/>
            <a:ext cx="2955926" cy="379409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952B6C0E-C4B9-4094-8E59-5B7DF00D541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117146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13" y="285385"/>
            <a:ext cx="11401426" cy="1187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3413" y="1662803"/>
            <a:ext cx="11401426" cy="4703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33413" y="6605017"/>
            <a:ext cx="2955926" cy="379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2A477-6454-427E-9A30-25963E980883}" type="datetime1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328319" y="6605017"/>
            <a:ext cx="4011613" cy="379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078913" y="6605017"/>
            <a:ext cx="2955926" cy="379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304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950161" rtl="0" eaLnBrk="1" latinLnBrk="0" hangingPunct="1">
        <a:spcBef>
          <a:spcPct val="0"/>
        </a:spcBef>
        <a:buNone/>
        <a:defRPr sz="45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10" indent="-356310" algn="l" defTabSz="950161" rtl="0" eaLnBrk="1" latinLnBrk="0" hangingPunct="1">
        <a:spcBef>
          <a:spcPct val="20000"/>
        </a:spcBef>
        <a:buFont typeface="Arial" panose="020B0604020202020204" pitchFamily="34" charset="0"/>
        <a:buChar char="•"/>
        <a:defRPr sz="3325" kern="1200">
          <a:solidFill>
            <a:schemeClr val="tx1"/>
          </a:solidFill>
          <a:latin typeface="+mn-lt"/>
          <a:ea typeface="+mn-ea"/>
          <a:cs typeface="+mn-cs"/>
        </a:defRPr>
      </a:lvl1pPr>
      <a:lvl2pPr marL="772005" indent="-296925" algn="l" defTabSz="950161" rtl="0" eaLnBrk="1" latinLnBrk="0" hangingPunct="1">
        <a:spcBef>
          <a:spcPct val="20000"/>
        </a:spcBef>
        <a:buFont typeface="Arial" panose="020B0604020202020204" pitchFamily="34" charset="0"/>
        <a:buChar char="–"/>
        <a:defRPr sz="2909" kern="1200">
          <a:solidFill>
            <a:schemeClr val="tx1"/>
          </a:solidFill>
          <a:latin typeface="+mn-lt"/>
          <a:ea typeface="+mn-ea"/>
          <a:cs typeface="+mn-cs"/>
        </a:defRPr>
      </a:lvl2pPr>
      <a:lvl3pPr marL="1187701" indent="-237540" algn="l" defTabSz="950161" rtl="0" eaLnBrk="1" latinLnBrk="0" hangingPunct="1">
        <a:spcBef>
          <a:spcPct val="20000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3pPr>
      <a:lvl4pPr marL="1662782" indent="-237540" algn="l" defTabSz="950161" rtl="0" eaLnBrk="1" latinLnBrk="0" hangingPunct="1">
        <a:spcBef>
          <a:spcPct val="20000"/>
        </a:spcBef>
        <a:buFont typeface="Arial" panose="020B0604020202020204" pitchFamily="34" charset="0"/>
        <a:buChar char="–"/>
        <a:defRPr sz="2078" kern="1200">
          <a:solidFill>
            <a:schemeClr val="tx1"/>
          </a:solidFill>
          <a:latin typeface="+mn-lt"/>
          <a:ea typeface="+mn-ea"/>
          <a:cs typeface="+mn-cs"/>
        </a:defRPr>
      </a:lvl4pPr>
      <a:lvl5pPr marL="2137862" indent="-237540" algn="l" defTabSz="950161" rtl="0" eaLnBrk="1" latinLnBrk="0" hangingPunct="1">
        <a:spcBef>
          <a:spcPct val="20000"/>
        </a:spcBef>
        <a:buFont typeface="Arial" panose="020B0604020202020204" pitchFamily="34" charset="0"/>
        <a:buChar char="»"/>
        <a:defRPr sz="2078" kern="1200">
          <a:solidFill>
            <a:schemeClr val="tx1"/>
          </a:solidFill>
          <a:latin typeface="+mn-lt"/>
          <a:ea typeface="+mn-ea"/>
          <a:cs typeface="+mn-cs"/>
        </a:defRPr>
      </a:lvl5pPr>
      <a:lvl6pPr marL="2612943" indent="-237540" algn="l" defTabSz="950161" rtl="0" eaLnBrk="1" latinLnBrk="0" hangingPunct="1">
        <a:spcBef>
          <a:spcPct val="20000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6pPr>
      <a:lvl7pPr marL="3088023" indent="-237540" algn="l" defTabSz="950161" rtl="0" eaLnBrk="1" latinLnBrk="0" hangingPunct="1">
        <a:spcBef>
          <a:spcPct val="20000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7pPr>
      <a:lvl8pPr marL="3563104" indent="-237540" algn="l" defTabSz="950161" rtl="0" eaLnBrk="1" latinLnBrk="0" hangingPunct="1">
        <a:spcBef>
          <a:spcPct val="20000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8pPr>
      <a:lvl9pPr marL="4038184" indent="-237540" algn="l" defTabSz="950161" rtl="0" eaLnBrk="1" latinLnBrk="0" hangingPunct="1">
        <a:spcBef>
          <a:spcPct val="20000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50161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1pPr>
      <a:lvl2pPr marL="475081" algn="l" defTabSz="950161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2pPr>
      <a:lvl3pPr marL="950161" algn="l" defTabSz="950161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3pPr>
      <a:lvl4pPr marL="1425242" algn="l" defTabSz="950161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4pPr>
      <a:lvl5pPr marL="1900322" algn="l" defTabSz="950161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5pPr>
      <a:lvl6pPr marL="2375403" algn="l" defTabSz="950161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6pPr>
      <a:lvl7pPr marL="2850483" algn="l" defTabSz="950161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7pPr>
      <a:lvl8pPr marL="3325564" algn="l" defTabSz="950161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8pPr>
      <a:lvl9pPr marL="3800644" algn="l" defTabSz="950161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4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4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gif"/><Relationship Id="rId5" Type="http://schemas.openxmlformats.org/officeDocument/2006/relationships/image" Target="../media/image19.gif"/><Relationship Id="rId4" Type="http://schemas.openxmlformats.org/officeDocument/2006/relationships/image" Target="../media/image18.gi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22.gif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1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6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2.e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3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1.wmf"/><Relationship Id="rId4" Type="http://schemas.openxmlformats.org/officeDocument/2006/relationships/image" Target="../media/image34.e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13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17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36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19.bin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44.w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28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47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7" Type="http://schemas.openxmlformats.org/officeDocument/2006/relationships/image" Target="../media/image5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57.wmf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60.w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62.wmf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jpeg"/><Relationship Id="rId4" Type="http://schemas.openxmlformats.org/officeDocument/2006/relationships/image" Target="../media/image67.jpe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ctrTitle"/>
          </p:nvPr>
        </p:nvSpPr>
        <p:spPr>
          <a:xfrm>
            <a:off x="1195389" y="1093790"/>
            <a:ext cx="5300663" cy="1527175"/>
          </a:xfrm>
        </p:spPr>
        <p:txBody>
          <a:bodyPr vert="horz" lIns="99441" tIns="49721" rIns="99441" bIns="49721" rtlCol="0" anchor="b">
            <a:normAutofit fontScale="90000"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ru-RU" sz="6600" dirty="0"/>
              <a:t>Курс</a:t>
            </a:r>
            <a:br>
              <a:rPr lang="ru-RU" altLang="ru-RU" sz="6600" dirty="0"/>
            </a:br>
            <a:r>
              <a:rPr lang="ru-RU" altLang="ru-RU" sz="6000" dirty="0"/>
              <a:t>Обработка больших данных</a:t>
            </a:r>
          </a:p>
        </p:txBody>
      </p:sp>
      <p:sp>
        <p:nvSpPr>
          <p:cNvPr id="3075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96987" y="2771777"/>
            <a:ext cx="6621313" cy="1820863"/>
          </a:xfrm>
        </p:spPr>
        <p:txBody>
          <a:bodyPr vert="horz" lIns="99441" tIns="49721" rIns="99441" bIns="49721" rtlCol="0">
            <a:normAutofit/>
          </a:bodyPr>
          <a:lstStyle/>
          <a:p>
            <a:pPr>
              <a:defRPr/>
            </a:pPr>
            <a:r>
              <a:rPr lang="ru-RU" altLang="ru-RU" sz="3600" dirty="0"/>
              <a:t>Лекция 3 </a:t>
            </a:r>
            <a:endParaRPr lang="en-US" altLang="ru-RU" sz="3600" dirty="0"/>
          </a:p>
          <a:p>
            <a:pPr>
              <a:defRPr/>
            </a:pPr>
            <a:r>
              <a:rPr lang="ru-RU" altLang="ru-RU" sz="3200" b="1" dirty="0">
                <a:solidFill>
                  <a:srgbClr val="ED8137"/>
                </a:solidFill>
              </a:rPr>
              <a:t>Аналитика больших данных</a:t>
            </a:r>
          </a:p>
          <a:p>
            <a:pPr>
              <a:defRPr/>
            </a:pPr>
            <a:r>
              <a:rPr lang="ru-RU" altLang="ru-RU" sz="3200" b="1" dirty="0">
                <a:solidFill>
                  <a:srgbClr val="ED8137"/>
                </a:solidFill>
              </a:rPr>
              <a:t>Математическая статистика</a:t>
            </a:r>
          </a:p>
        </p:txBody>
      </p:sp>
      <p:sp>
        <p:nvSpPr>
          <p:cNvPr id="5" name="Прямоугольник 1"/>
          <p:cNvSpPr>
            <a:spLocks noChangeArrowheads="1"/>
          </p:cNvSpPr>
          <p:nvPr/>
        </p:nvSpPr>
        <p:spPr bwMode="auto">
          <a:xfrm>
            <a:off x="1195388" y="4562155"/>
            <a:ext cx="513715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uk-UA" altLang="ru-RU" sz="1600" b="1" i="1" dirty="0"/>
              <a:t>Приходько </a:t>
            </a:r>
            <a:r>
              <a:rPr lang="ru-RU" altLang="ru-RU" sz="1600" b="1" i="1" dirty="0"/>
              <a:t>Татьяна</a:t>
            </a:r>
            <a:r>
              <a:rPr lang="uk-UA" altLang="ru-RU" sz="1600" b="1" i="1" dirty="0"/>
              <a:t> </a:t>
            </a:r>
            <a:r>
              <a:rPr lang="ru-RU" altLang="ru-RU" sz="1600" b="1" i="1" dirty="0"/>
              <a:t>Александровна</a:t>
            </a:r>
            <a:endParaRPr lang="ru-RU" altLang="ru-RU" sz="1600" i="1" dirty="0"/>
          </a:p>
          <a:p>
            <a:pPr algn="ctr" eaLnBrk="1" hangingPunct="1"/>
            <a:r>
              <a:rPr lang="ru-RU" altLang="ru-RU" sz="1400" i="1" dirty="0"/>
              <a:t>доцент кафедры </a:t>
            </a:r>
          </a:p>
          <a:p>
            <a:pPr algn="ctr" eaLnBrk="1" hangingPunct="1"/>
            <a:r>
              <a:rPr lang="ru-RU" altLang="ru-RU" sz="1400" i="1" dirty="0"/>
              <a:t>Вычислительных технологий </a:t>
            </a:r>
            <a:r>
              <a:rPr lang="ru-RU" altLang="ru-RU" sz="1400" i="1" dirty="0" err="1"/>
              <a:t>КубГУ</a:t>
            </a:r>
            <a:endParaRPr lang="ru-RU" altLang="ru-RU" sz="1400" i="1" dirty="0"/>
          </a:p>
        </p:txBody>
      </p:sp>
    </p:spTree>
    <p:extLst>
      <p:ext uri="{BB962C8B-B14F-4D97-AF65-F5344CB8AC3E}">
        <p14:creationId xmlns:p14="http://schemas.microsoft.com/office/powerpoint/2010/main" val="819528833"/>
      </p:ext>
    </p:extLst>
  </p:cSld>
  <p:clrMapOvr>
    <a:masterClrMapping/>
  </p:clrMapOvr>
  <p:transition spd="slow" advTm="26269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title" idx="4294967295"/>
          </p:nvPr>
        </p:nvSpPr>
        <p:spPr bwMode="auto">
          <a:xfrm>
            <a:off x="2224089" y="466725"/>
            <a:ext cx="7998469" cy="884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9441" tIns="49721" rIns="99441" bIns="49721" rtlCol="0" anchor="ctr">
            <a:normAutofit/>
          </a:bodyPr>
          <a:lstStyle/>
          <a:p>
            <a:pPr eaLnBrk="1" hangingPunct="1"/>
            <a:r>
              <a:rPr lang="ru-RU" altLang="ru-RU" sz="4400" dirty="0"/>
              <a:t>Содержание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1221557" y="1680519"/>
            <a:ext cx="10008419" cy="4030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9441" tIns="49721" rIns="99441" bIns="49721" rtlCol="0"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ru-RU" altLang="ru-RU" sz="2800" b="1" dirty="0"/>
              <a:t>Основные понятия статистики и дескриптивный анализ</a:t>
            </a:r>
          </a:p>
          <a:p>
            <a:pPr eaLnBrk="1" hangingPunct="1">
              <a:buFontTx/>
              <a:buNone/>
            </a:pPr>
            <a:endParaRPr lang="ru-RU" altLang="ru-RU" sz="2800" b="1" dirty="0"/>
          </a:p>
          <a:p>
            <a:pPr marL="954096" lvl="1" indent="-457204">
              <a:buFontTx/>
              <a:buAutoNum type="arabicPeriod"/>
            </a:pPr>
            <a:r>
              <a:rPr lang="ru-RU" altLang="ru-RU" sz="2400" dirty="0"/>
              <a:t>Шкалы измерений.</a:t>
            </a:r>
          </a:p>
          <a:p>
            <a:pPr marL="954096" lvl="1" indent="-457204">
              <a:buFontTx/>
              <a:buAutoNum type="arabicPeriod"/>
            </a:pPr>
            <a:r>
              <a:rPr lang="ru-RU" altLang="ru-RU" sz="2400" dirty="0"/>
              <a:t>Генеральная совокупность и выборка.</a:t>
            </a:r>
          </a:p>
          <a:p>
            <a:pPr marL="954096" lvl="1" indent="-457204">
              <a:buFontTx/>
              <a:buAutoNum type="arabicPeriod"/>
            </a:pPr>
            <a:r>
              <a:rPr lang="ru-RU" altLang="ru-RU" sz="2400" dirty="0"/>
              <a:t>Нормальное распределение. Уровень статистической достоверности.</a:t>
            </a:r>
          </a:p>
          <a:p>
            <a:pPr marL="954096" lvl="1" indent="-457204">
              <a:buFontTx/>
              <a:buAutoNum type="arabicPeriod"/>
            </a:pPr>
            <a:r>
              <a:rPr lang="ru-RU" altLang="ru-RU" sz="2400" dirty="0"/>
              <a:t>Свойства описательных статистик (</a:t>
            </a:r>
            <a:r>
              <a:rPr lang="ru-RU" altLang="ru-RU" sz="2400" b="1" dirty="0">
                <a:solidFill>
                  <a:srgbClr val="FF0000"/>
                </a:solidFill>
              </a:rPr>
              <a:t>Дескриптивный анализ</a:t>
            </a:r>
            <a:r>
              <a:rPr lang="ru-RU" altLang="ru-RU" sz="2400" dirty="0"/>
              <a:t>)</a:t>
            </a:r>
          </a:p>
          <a:p>
            <a:pPr marL="954096" lvl="1" indent="-457204">
              <a:buFontTx/>
              <a:buAutoNum type="arabicPeriod"/>
            </a:pPr>
            <a:r>
              <a:rPr lang="ru-RU" altLang="ru-RU" sz="2400" dirty="0"/>
              <a:t>Визуальное представление данных</a:t>
            </a:r>
            <a:endParaRPr lang="ru-RU" altLang="ru-RU" sz="3600" dirty="0"/>
          </a:p>
          <a:p>
            <a:pPr marL="954096" lvl="1" indent="-457204">
              <a:buFontTx/>
              <a:buAutoNum type="arabicPeriod"/>
            </a:pPr>
            <a:r>
              <a:rPr lang="ru-RU" altLang="ru-RU" sz="2400" dirty="0"/>
              <a:t>Меры изменчивости</a:t>
            </a:r>
            <a:endParaRPr lang="ru-RU" altLang="ru-RU" sz="8000" dirty="0"/>
          </a:p>
        </p:txBody>
      </p:sp>
      <p:sp>
        <p:nvSpPr>
          <p:cNvPr id="3076" name="Text Box 6"/>
          <p:cNvSpPr txBox="1">
            <a:spLocks noChangeArrowheads="1"/>
          </p:cNvSpPr>
          <p:nvPr/>
        </p:nvSpPr>
        <p:spPr bwMode="auto">
          <a:xfrm>
            <a:off x="3905252" y="0"/>
            <a:ext cx="5100637" cy="408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41" tIns="49721" rIns="99441" bIns="49721"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b="1" dirty="0">
                <a:solidFill>
                  <a:schemeClr val="bg1"/>
                </a:solidFill>
                <a:latin typeface="Courier New" panose="02070309020205020404" pitchFamily="49" charset="0"/>
              </a:rPr>
              <a:t>Обработка больших данных. </a:t>
            </a:r>
            <a:r>
              <a:rPr lang="ru-RU" altLang="ru-RU" b="1" dirty="0">
                <a:solidFill>
                  <a:schemeClr val="bg1"/>
                </a:solidFill>
                <a:latin typeface="Times New Roman" panose="02020603050405020304" pitchFamily="18" charset="0"/>
              </a:rPr>
              <a:t>Л</a:t>
            </a:r>
            <a:r>
              <a:rPr lang="en-US" altLang="ru-RU" b="1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  <a:endParaRPr lang="ru-RU" altLang="ru-RU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Номер слайда 1">
            <a:extLst>
              <a:ext uri="{FF2B5EF4-FFF2-40B4-BE49-F238E27FC236}">
                <a16:creationId xmlns:a16="http://schemas.microsoft.com/office/drawing/2014/main" id="{CB00C23B-0687-46EA-A25A-2A9E9B59F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2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 idx="4294967295"/>
          </p:nvPr>
        </p:nvSpPr>
        <p:spPr bwMode="auto">
          <a:xfrm>
            <a:off x="2229669" y="2483025"/>
            <a:ext cx="8055745" cy="10731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b">
            <a:normAutofit/>
          </a:bodyPr>
          <a:lstStyle/>
          <a:p>
            <a:pPr eaLnBrk="1" hangingPunct="1">
              <a:defRPr/>
            </a:pPr>
            <a:r>
              <a:rPr lang="ru-RU" sz="4800" b="1" dirty="0">
                <a:solidFill>
                  <a:srgbClr val="00B0F0"/>
                </a:solidFill>
              </a:rPr>
              <a:t>Шкалы измерений</a:t>
            </a:r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23D45F45-04C0-4810-9AE6-A89DF07C8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3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4"/>
          <p:cNvSpPr>
            <a:spLocks noChangeArrowheads="1"/>
          </p:cNvSpPr>
          <p:nvPr/>
        </p:nvSpPr>
        <p:spPr bwMode="auto">
          <a:xfrm>
            <a:off x="1438277" y="322263"/>
            <a:ext cx="9791700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123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810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85976" y="503239"/>
            <a:ext cx="8177212" cy="701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ru-RU" altLang="ru-RU" sz="4000" dirty="0"/>
              <a:t>Шкалы измерений</a:t>
            </a:r>
          </a:p>
        </p:txBody>
      </p:sp>
      <p:sp>
        <p:nvSpPr>
          <p:cNvPr id="5125" name="AutoShape 6"/>
          <p:cNvSpPr>
            <a:spLocks noChangeArrowheads="1"/>
          </p:cNvSpPr>
          <p:nvPr/>
        </p:nvSpPr>
        <p:spPr bwMode="auto">
          <a:xfrm>
            <a:off x="1582738" y="1474912"/>
            <a:ext cx="9431338" cy="51689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127" name="Прямоугольник 7"/>
          <p:cNvSpPr>
            <a:spLocks noChangeArrowheads="1"/>
          </p:cNvSpPr>
          <p:nvPr/>
        </p:nvSpPr>
        <p:spPr bwMode="auto">
          <a:xfrm>
            <a:off x="5134923" y="0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Шкалы измерений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5445128" y="1978970"/>
            <a:ext cx="21378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rgbClr val="C00000"/>
                </a:solidFill>
              </a:rPr>
              <a:t>Переменные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7604786" y="2845243"/>
            <a:ext cx="23297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i="1" dirty="0">
                <a:solidFill>
                  <a:srgbClr val="CC0000"/>
                </a:solidFill>
              </a:rPr>
              <a:t>Количественные</a:t>
            </a:r>
            <a:r>
              <a:rPr lang="ru-RU" altLang="ru-RU" sz="2000" dirty="0">
                <a:solidFill>
                  <a:srgbClr val="CC0000"/>
                </a:solidFill>
              </a:rPr>
              <a:t> 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4198941" y="3190137"/>
            <a:ext cx="3025775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i="1" dirty="0">
                <a:solidFill>
                  <a:srgbClr val="CC0000"/>
                </a:solidFill>
              </a:rPr>
              <a:t>Ранговые (порядковые)</a:t>
            </a:r>
            <a:endParaRPr lang="en-US" altLang="ru-RU" sz="2000" i="1" dirty="0">
              <a:solidFill>
                <a:srgbClr val="CC0000"/>
              </a:solidFill>
            </a:endParaRPr>
          </a:p>
          <a:p>
            <a:pPr algn="ctr" eaLnBrk="1" hangingPunct="1"/>
            <a:r>
              <a:rPr lang="en-US" altLang="ru-RU" sz="2000" dirty="0">
                <a:solidFill>
                  <a:srgbClr val="003300"/>
                </a:solidFill>
              </a:rPr>
              <a:t>ordinal</a:t>
            </a:r>
            <a:endParaRPr lang="ru-RU" altLang="ru-RU" sz="2000" dirty="0">
              <a:solidFill>
                <a:srgbClr val="003300"/>
              </a:solidFill>
            </a:endParaRPr>
          </a:p>
          <a:p>
            <a:pPr eaLnBrk="1" hangingPunct="1"/>
            <a:r>
              <a:rPr lang="ru-RU" altLang="ru-RU" sz="2000" dirty="0"/>
              <a:t>(</a:t>
            </a:r>
            <a:r>
              <a:rPr lang="ru-RU" altLang="ru-RU" sz="1800" dirty="0"/>
              <a:t>качественные, но могут быть упорядочены; размер интервалов на шкале неодинаковый</a:t>
            </a:r>
            <a:r>
              <a:rPr lang="ru-RU" altLang="ru-RU" sz="2000" dirty="0"/>
              <a:t>)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791738" y="2799976"/>
            <a:ext cx="196073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i="1" dirty="0">
                <a:solidFill>
                  <a:srgbClr val="CC0000"/>
                </a:solidFill>
              </a:rPr>
              <a:t>Качественные</a:t>
            </a:r>
          </a:p>
          <a:p>
            <a:pPr algn="ctr" eaLnBrk="1" hangingPunct="1"/>
            <a:r>
              <a:rPr lang="en-US" altLang="ru-RU" sz="2000" dirty="0">
                <a:solidFill>
                  <a:srgbClr val="003300"/>
                </a:solidFill>
              </a:rPr>
              <a:t>nominal</a:t>
            </a:r>
            <a:endParaRPr lang="ru-RU" altLang="ru-RU" sz="2000" dirty="0">
              <a:solidFill>
                <a:srgbClr val="003300"/>
              </a:solidFill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6794942" y="5440114"/>
            <a:ext cx="172707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i="1" dirty="0"/>
              <a:t>Дискретные</a:t>
            </a:r>
            <a:endParaRPr lang="en-US" altLang="ru-RU" sz="2000" i="1" dirty="0"/>
          </a:p>
          <a:p>
            <a:pPr algn="ctr" eaLnBrk="1" hangingPunct="1"/>
            <a:r>
              <a:rPr lang="en-US" altLang="ru-RU" sz="2000" dirty="0">
                <a:solidFill>
                  <a:srgbClr val="003300"/>
                </a:solidFill>
              </a:rPr>
              <a:t>discrete</a:t>
            </a:r>
            <a:endParaRPr lang="ru-RU" altLang="ru-RU" sz="2000" dirty="0">
              <a:solidFill>
                <a:srgbClr val="003300"/>
              </a:solidFill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8775567" y="5435352"/>
            <a:ext cx="187904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i="1"/>
              <a:t>Непрерывные</a:t>
            </a:r>
            <a:endParaRPr lang="en-US" altLang="ru-RU" sz="2000" i="1"/>
          </a:p>
          <a:p>
            <a:pPr algn="ctr" eaLnBrk="1" hangingPunct="1"/>
            <a:r>
              <a:rPr lang="en-US" altLang="ru-RU" sz="2000">
                <a:solidFill>
                  <a:srgbClr val="003300"/>
                </a:solidFill>
              </a:rPr>
              <a:t>continuous</a:t>
            </a:r>
            <a:endParaRPr lang="ru-RU" altLang="ru-RU" sz="2000">
              <a:solidFill>
                <a:srgbClr val="003300"/>
              </a:solidFill>
            </a:endParaRPr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7110499" y="2368464"/>
            <a:ext cx="1743907" cy="438116"/>
          </a:xfrm>
          <a:prstGeom prst="line">
            <a:avLst/>
          </a:prstGeom>
          <a:noFill/>
          <a:ln w="19050">
            <a:solidFill>
              <a:srgbClr val="92D050"/>
            </a:solidFill>
            <a:round/>
            <a:headEnd/>
            <a:tailEnd type="arrow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ru-RU" sz="2400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 flipH="1">
            <a:off x="5677070" y="2420865"/>
            <a:ext cx="444417" cy="784168"/>
          </a:xfrm>
          <a:prstGeom prst="line">
            <a:avLst/>
          </a:prstGeom>
          <a:noFill/>
          <a:ln w="19050">
            <a:solidFill>
              <a:srgbClr val="92D050"/>
            </a:solidFill>
            <a:round/>
            <a:headEnd/>
            <a:tailEnd type="arrow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ru-RU" sz="2400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 flipH="1">
            <a:off x="3716341" y="2420865"/>
            <a:ext cx="1704975" cy="422275"/>
          </a:xfrm>
          <a:prstGeom prst="line">
            <a:avLst/>
          </a:prstGeom>
          <a:noFill/>
          <a:ln w="19050">
            <a:solidFill>
              <a:srgbClr val="92D050"/>
            </a:solidFill>
            <a:round/>
            <a:headEnd/>
            <a:tailEnd type="arrow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 sz="2400"/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9194803" y="3203104"/>
            <a:ext cx="457200" cy="364512"/>
          </a:xfrm>
          <a:prstGeom prst="line">
            <a:avLst/>
          </a:prstGeom>
          <a:noFill/>
          <a:ln w="19050">
            <a:solidFill>
              <a:srgbClr val="92D050"/>
            </a:solidFill>
            <a:round/>
            <a:headEnd/>
            <a:tailEnd type="arrow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ru-RU" sz="2400"/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 flipH="1">
            <a:off x="7888344" y="3176320"/>
            <a:ext cx="503237" cy="503237"/>
          </a:xfrm>
          <a:prstGeom prst="line">
            <a:avLst/>
          </a:prstGeom>
          <a:noFill/>
          <a:ln w="19050">
            <a:solidFill>
              <a:srgbClr val="92D050"/>
            </a:solidFill>
            <a:round/>
            <a:headEnd/>
            <a:tailEnd type="arrow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 sz="2400"/>
          </a:p>
        </p:txBody>
      </p:sp>
      <p:sp>
        <p:nvSpPr>
          <p:cNvPr id="20" name="TextBox 2"/>
          <p:cNvSpPr txBox="1">
            <a:spLocks noChangeArrowheads="1"/>
          </p:cNvSpPr>
          <p:nvPr/>
        </p:nvSpPr>
        <p:spPr bwMode="auto">
          <a:xfrm>
            <a:off x="6907216" y="3681733"/>
            <a:ext cx="1885950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i="1" dirty="0"/>
              <a:t>шкала отношений</a:t>
            </a:r>
            <a:r>
              <a:rPr lang="en-US" altLang="ru-RU" sz="2000" dirty="0"/>
              <a:t> </a:t>
            </a:r>
            <a:r>
              <a:rPr lang="en-US" altLang="ru-RU" sz="1800" dirty="0">
                <a:solidFill>
                  <a:srgbClr val="003300"/>
                </a:solidFill>
              </a:rPr>
              <a:t>ratio scale</a:t>
            </a:r>
            <a:endParaRPr lang="ru-RU" altLang="ru-RU" sz="1800" dirty="0">
              <a:solidFill>
                <a:srgbClr val="003300"/>
              </a:solidFill>
            </a:endParaRPr>
          </a:p>
        </p:txBody>
      </p:sp>
      <p:sp>
        <p:nvSpPr>
          <p:cNvPr id="21" name="TextBox 15"/>
          <p:cNvSpPr txBox="1">
            <a:spLocks noChangeArrowheads="1"/>
          </p:cNvSpPr>
          <p:nvPr/>
        </p:nvSpPr>
        <p:spPr bwMode="auto">
          <a:xfrm>
            <a:off x="8715377" y="3563145"/>
            <a:ext cx="222408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i="1" dirty="0"/>
              <a:t>интервальная шкала</a:t>
            </a:r>
            <a:endParaRPr lang="en-US" altLang="ru-RU" sz="2000" i="1" dirty="0"/>
          </a:p>
          <a:p>
            <a:pPr algn="ctr" eaLnBrk="1" hangingPunct="1"/>
            <a:r>
              <a:rPr lang="en-US" altLang="ru-RU" sz="1800" dirty="0">
                <a:solidFill>
                  <a:srgbClr val="003300"/>
                </a:solidFill>
              </a:rPr>
              <a:t>interval scale</a:t>
            </a:r>
            <a:endParaRPr lang="ru-RU" altLang="ru-RU" sz="1800" dirty="0">
              <a:solidFill>
                <a:srgbClr val="003300"/>
              </a:solidFill>
            </a:endParaRPr>
          </a:p>
          <a:p>
            <a:pPr algn="ctr" eaLnBrk="1" hangingPunct="1"/>
            <a:r>
              <a:rPr lang="ru-RU" altLang="ru-RU" sz="1400" dirty="0">
                <a:solidFill>
                  <a:srgbClr val="003300"/>
                </a:solidFill>
              </a:rPr>
              <a:t>(</a:t>
            </a:r>
            <a:r>
              <a:rPr lang="ru-RU" altLang="ru-RU" sz="1400" dirty="0" err="1">
                <a:solidFill>
                  <a:srgbClr val="003300"/>
                </a:solidFill>
              </a:rPr>
              <a:t>в.т.ч</a:t>
            </a:r>
            <a:r>
              <a:rPr lang="ru-RU" altLang="ru-RU" sz="1400" dirty="0">
                <a:solidFill>
                  <a:srgbClr val="003300"/>
                </a:solidFill>
              </a:rPr>
              <a:t> круговые шкалы)</a:t>
            </a:r>
          </a:p>
        </p:txBody>
      </p:sp>
      <p:sp>
        <p:nvSpPr>
          <p:cNvPr id="22" name="Левая фигурная скобка 3"/>
          <p:cNvSpPr>
            <a:spLocks noChangeAspect="1"/>
          </p:cNvSpPr>
          <p:nvPr/>
        </p:nvSpPr>
        <p:spPr bwMode="auto">
          <a:xfrm rot="16200000">
            <a:off x="8797241" y="3255043"/>
            <a:ext cx="397137" cy="3317596"/>
          </a:xfrm>
          <a:prstGeom prst="leftBrace">
            <a:avLst>
              <a:gd name="adj1" fmla="val 65554"/>
              <a:gd name="adj2" fmla="val 50833"/>
            </a:avLst>
          </a:prstGeom>
          <a:noFill/>
          <a:ln w="9525" algn="ctr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 sz="2000"/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1986821" y="3497066"/>
            <a:ext cx="197240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800" dirty="0"/>
              <a:t>(их нельзя   выстроить в </a:t>
            </a:r>
            <a:r>
              <a:rPr lang="ru-RU" altLang="ru-RU" sz="1800" dirty="0" err="1"/>
              <a:t>последова-тельность</a:t>
            </a:r>
            <a:r>
              <a:rPr lang="ru-RU" altLang="ru-RU" sz="1800" dirty="0"/>
              <a:t>, </a:t>
            </a:r>
            <a:r>
              <a:rPr lang="ru-RU" altLang="ru-RU" sz="1800" dirty="0" err="1"/>
              <a:t>т.к</a:t>
            </a:r>
            <a:r>
              <a:rPr lang="ru-RU" altLang="ru-RU" sz="1800" dirty="0"/>
              <a:t> они обозначают </a:t>
            </a:r>
            <a:r>
              <a:rPr lang="ru-RU" altLang="ru-RU" sz="1800" dirty="0" err="1"/>
              <a:t>категрии</a:t>
            </a:r>
            <a:r>
              <a:rPr lang="ru-RU" altLang="ru-RU" sz="1800" dirty="0"/>
              <a:t>)</a:t>
            </a:r>
          </a:p>
        </p:txBody>
      </p:sp>
      <p:sp>
        <p:nvSpPr>
          <p:cNvPr id="24" name="Line 19"/>
          <p:cNvSpPr>
            <a:spLocks noChangeShapeType="1"/>
          </p:cNvSpPr>
          <p:nvPr/>
        </p:nvSpPr>
        <p:spPr bwMode="auto">
          <a:xfrm flipH="1">
            <a:off x="1986822" y="6247532"/>
            <a:ext cx="468153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 sz="2400"/>
          </a:p>
        </p:txBody>
      </p:sp>
      <p:sp>
        <p:nvSpPr>
          <p:cNvPr id="25" name="Text Box 20"/>
          <p:cNvSpPr txBox="1">
            <a:spLocks noChangeArrowheads="1"/>
          </p:cNvSpPr>
          <p:nvPr/>
        </p:nvSpPr>
        <p:spPr bwMode="auto">
          <a:xfrm>
            <a:off x="2173163" y="6288903"/>
            <a:ext cx="38672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800" i="1" dirty="0"/>
              <a:t>Потеря информации и точности</a:t>
            </a:r>
          </a:p>
        </p:txBody>
      </p:sp>
      <p:sp>
        <p:nvSpPr>
          <p:cNvPr id="27" name="Line 13"/>
          <p:cNvSpPr>
            <a:spLocks noChangeShapeType="1"/>
          </p:cNvSpPr>
          <p:nvPr/>
        </p:nvSpPr>
        <p:spPr bwMode="auto">
          <a:xfrm>
            <a:off x="9652004" y="5019658"/>
            <a:ext cx="282523" cy="413290"/>
          </a:xfrm>
          <a:prstGeom prst="line">
            <a:avLst/>
          </a:prstGeom>
          <a:noFill/>
          <a:ln w="19050">
            <a:solidFill>
              <a:srgbClr val="92D050"/>
            </a:solidFill>
            <a:round/>
            <a:headEnd/>
            <a:tailEnd type="arrow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ru-RU" sz="2400"/>
          </a:p>
        </p:txBody>
      </p:sp>
      <p:sp>
        <p:nvSpPr>
          <p:cNvPr id="28" name="Line 14"/>
          <p:cNvSpPr>
            <a:spLocks noChangeShapeType="1"/>
          </p:cNvSpPr>
          <p:nvPr/>
        </p:nvSpPr>
        <p:spPr bwMode="auto">
          <a:xfrm flipH="1">
            <a:off x="7990308" y="5019659"/>
            <a:ext cx="211633" cy="418053"/>
          </a:xfrm>
          <a:prstGeom prst="line">
            <a:avLst/>
          </a:prstGeom>
          <a:noFill/>
          <a:ln w="19050">
            <a:solidFill>
              <a:srgbClr val="92D050"/>
            </a:solidFill>
            <a:round/>
            <a:headEnd/>
            <a:tailEnd type="arrow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ru-RU" sz="2400"/>
          </a:p>
        </p:txBody>
      </p:sp>
      <p:sp>
        <p:nvSpPr>
          <p:cNvPr id="3" name="Прямоугольник 2"/>
          <p:cNvSpPr/>
          <p:nvPr/>
        </p:nvSpPr>
        <p:spPr>
          <a:xfrm>
            <a:off x="1780457" y="1522410"/>
            <a:ext cx="898692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2000" dirty="0">
                <a:solidFill>
                  <a:srgbClr val="CC0000"/>
                </a:solidFill>
              </a:rPr>
              <a:t>Переменная</a:t>
            </a:r>
            <a:r>
              <a:rPr lang="ru-RU" altLang="ru-RU" sz="2000" dirty="0"/>
              <a:t> – характеристика окружающего мира, которую мы измеряем</a:t>
            </a:r>
          </a:p>
        </p:txBody>
      </p:sp>
      <p:sp>
        <p:nvSpPr>
          <p:cNvPr id="29" name="Номер слайда 1">
            <a:extLst>
              <a:ext uri="{FF2B5EF4-FFF2-40B4-BE49-F238E27FC236}">
                <a16:creationId xmlns:a16="http://schemas.microsoft.com/office/drawing/2014/main" id="{93FBB9E9-3371-4603-A547-DCF5B351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4</a:t>
            </a:fld>
            <a:endParaRPr lang="ru-RU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210384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2239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6805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7781" y="517525"/>
            <a:ext cx="6172920" cy="9017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9441" tIns="49721" rIns="99441" bIns="49721" rtlCol="0" anchor="ctr">
            <a:normAutofit/>
          </a:bodyPr>
          <a:lstStyle/>
          <a:p>
            <a:pPr eaLnBrk="1" hangingPunct="1"/>
            <a:r>
              <a:rPr lang="ru-RU" altLang="ru-RU" sz="4000" dirty="0"/>
              <a:t>Примеры </a:t>
            </a:r>
          </a:p>
        </p:txBody>
      </p:sp>
      <p:sp>
        <p:nvSpPr>
          <p:cNvPr id="76807" name="Прямоугольник 6"/>
          <p:cNvSpPr>
            <a:spLocks noChangeArrowheads="1"/>
          </p:cNvSpPr>
          <p:nvPr/>
        </p:nvSpPr>
        <p:spPr bwMode="auto">
          <a:xfrm>
            <a:off x="4929188" y="0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altLang="ru-RU" sz="2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Шкалы измерений</a:t>
            </a:r>
          </a:p>
        </p:txBody>
      </p:sp>
      <p:sp>
        <p:nvSpPr>
          <p:cNvPr id="76808" name="Rectangle 8"/>
          <p:cNvSpPr>
            <a:spLocks noChangeArrowheads="1"/>
          </p:cNvSpPr>
          <p:nvPr/>
        </p:nvSpPr>
        <p:spPr bwMode="auto">
          <a:xfrm>
            <a:off x="4457703" y="2375228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6865" name="Group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782433"/>
              </p:ext>
            </p:extLst>
          </p:nvPr>
        </p:nvGraphicFramePr>
        <p:xfrm>
          <a:off x="2446338" y="2987675"/>
          <a:ext cx="3600450" cy="2273454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90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Times New Roman" panose="02020603050405020304" pitchFamily="18" charset="0"/>
                        </a:rPr>
                        <a:t>КАТЕГОРИИ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kumimoji="0" lang="ru-RU" alt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Times New Roman" panose="02020603050405020304" pitchFamily="18" charset="0"/>
                        </a:rPr>
                        <a:t>Демократы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45</a:t>
                      </a:r>
                      <a:endParaRPr kumimoji="0" lang="ru-RU" alt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Times New Roman" panose="02020603050405020304" pitchFamily="18" charset="0"/>
                        </a:rPr>
                        <a:t>Коммунисты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43</a:t>
                      </a:r>
                      <a:endParaRPr kumimoji="0" lang="ru-RU" alt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Times New Roman" panose="02020603050405020304" pitchFamily="18" charset="0"/>
                        </a:rPr>
                        <a:t>Либералы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15</a:t>
                      </a:r>
                      <a:endParaRPr kumimoji="0" lang="ru-RU" alt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Times New Roman" panose="02020603050405020304" pitchFamily="18" charset="0"/>
                        </a:rPr>
                        <a:t>Всего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105</a:t>
                      </a:r>
                      <a:endParaRPr kumimoji="0" lang="ru-RU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6829" name="Rectangle 29"/>
          <p:cNvSpPr>
            <a:spLocks noChangeArrowheads="1"/>
          </p:cNvSpPr>
          <p:nvPr/>
        </p:nvSpPr>
        <p:spPr bwMode="auto">
          <a:xfrm>
            <a:off x="4743453" y="207519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6864" name="Group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221845"/>
              </p:ext>
            </p:extLst>
          </p:nvPr>
        </p:nvGraphicFramePr>
        <p:xfrm>
          <a:off x="6719888" y="2987675"/>
          <a:ext cx="3575050" cy="2890314"/>
        </p:xfrm>
        <a:graphic>
          <a:graphicData uri="http://schemas.openxmlformats.org/drawingml/2006/table">
            <a:tbl>
              <a:tblPr/>
              <a:tblGrid>
                <a:gridCol w="26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90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КАТЕГОРИИ</a:t>
                      </a:r>
                      <a:endParaRPr kumimoji="0" lang="en-US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kumimoji="0" lang="ru-RU" alt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90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Очень понравился</a:t>
                      </a:r>
                      <a:endParaRPr kumimoji="0" lang="ru-RU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24</a:t>
                      </a:r>
                      <a:endParaRPr kumimoji="0" lang="ru-RU" alt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90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Понравился</a:t>
                      </a:r>
                      <a:endParaRPr kumimoji="0" lang="ru-RU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ru-RU" alt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90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Фильм средний</a:t>
                      </a:r>
                      <a:endParaRPr kumimoji="0" lang="ru-RU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kumimoji="0" lang="ru-RU" alt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90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Не понравился</a:t>
                      </a:r>
                      <a:endParaRPr kumimoji="0" lang="ru-RU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kumimoji="0" lang="ru-RU" alt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90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Очень плохой</a:t>
                      </a:r>
                      <a:endParaRPr kumimoji="0" lang="ru-RU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kumimoji="0" lang="ru-RU" alt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90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kumimoji="0" lang="ru-RU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60</a:t>
                      </a:r>
                      <a:endParaRPr kumimoji="0" lang="ru-RU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6856" name="Text Box 56"/>
          <p:cNvSpPr txBox="1">
            <a:spLocks noChangeArrowheads="1"/>
          </p:cNvSpPr>
          <p:nvPr/>
        </p:nvSpPr>
        <p:spPr bwMode="auto">
          <a:xfrm>
            <a:off x="2301877" y="2070100"/>
            <a:ext cx="406528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000" b="1"/>
              <a:t>Номинальная шкала</a:t>
            </a:r>
          </a:p>
          <a:p>
            <a:r>
              <a:rPr lang="ru-RU" altLang="ru-RU" sz="2000" b="1" i="1">
                <a:solidFill>
                  <a:srgbClr val="FF5050"/>
                </a:solidFill>
              </a:rPr>
              <a:t>Политические предпочтения</a:t>
            </a:r>
          </a:p>
        </p:txBody>
      </p:sp>
      <p:sp>
        <p:nvSpPr>
          <p:cNvPr id="76857" name="Text Box 57"/>
          <p:cNvSpPr txBox="1">
            <a:spLocks noChangeArrowheads="1"/>
          </p:cNvSpPr>
          <p:nvPr/>
        </p:nvSpPr>
        <p:spPr bwMode="auto">
          <a:xfrm>
            <a:off x="6765928" y="1979614"/>
            <a:ext cx="324008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altLang="ru-RU" sz="2000" b="1"/>
              <a:t>Порядковая шкала</a:t>
            </a:r>
          </a:p>
          <a:p>
            <a:r>
              <a:rPr lang="ru-RU" altLang="ru-RU" sz="2000" b="1" i="1">
                <a:solidFill>
                  <a:srgbClr val="FF5050"/>
                </a:solidFill>
              </a:rPr>
              <a:t>Отношение к фильму</a:t>
            </a:r>
          </a:p>
        </p:txBody>
      </p:sp>
      <p:sp>
        <p:nvSpPr>
          <p:cNvPr id="76866" name="Text Box 66"/>
          <p:cNvSpPr txBox="1">
            <a:spLocks noChangeArrowheads="1"/>
          </p:cNvSpPr>
          <p:nvPr/>
        </p:nvSpPr>
        <p:spPr bwMode="auto">
          <a:xfrm>
            <a:off x="2301877" y="6046788"/>
            <a:ext cx="37529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Качественная классификация</a:t>
            </a:r>
          </a:p>
        </p:txBody>
      </p:sp>
      <p:sp>
        <p:nvSpPr>
          <p:cNvPr id="76867" name="Text Box 67"/>
          <p:cNvSpPr txBox="1">
            <a:spLocks noChangeArrowheads="1"/>
          </p:cNvSpPr>
          <p:nvPr/>
        </p:nvSpPr>
        <p:spPr bwMode="auto">
          <a:xfrm>
            <a:off x="6783388" y="6083300"/>
            <a:ext cx="33074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Ранжирование по степени</a:t>
            </a:r>
          </a:p>
        </p:txBody>
      </p:sp>
      <p:sp>
        <p:nvSpPr>
          <p:cNvPr id="14" name="Номер слайда 1">
            <a:extLst>
              <a:ext uri="{FF2B5EF4-FFF2-40B4-BE49-F238E27FC236}">
                <a16:creationId xmlns:a16="http://schemas.microsoft.com/office/drawing/2014/main" id="{197DBD2B-1759-4FF8-8E9F-5308919B5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5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952328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4643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19450" y="402346"/>
            <a:ext cx="5884888" cy="9017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9441" tIns="49721" rIns="99441" bIns="49721" rtlCol="0" anchor="ctr">
            <a:normAutofit/>
          </a:bodyPr>
          <a:lstStyle/>
          <a:p>
            <a:pPr eaLnBrk="1" hangingPunct="1"/>
            <a:r>
              <a:rPr lang="ru-RU" altLang="ru-RU" sz="4000" dirty="0"/>
              <a:t>Примеры</a:t>
            </a:r>
            <a:r>
              <a:rPr lang="ru-RU" altLang="ru-RU" b="1" dirty="0">
                <a:solidFill>
                  <a:schemeClr val="tx1"/>
                </a:solidFill>
              </a:rPr>
              <a:t> </a:t>
            </a:r>
            <a:endParaRPr lang="ru-RU" altLang="ru-RU" dirty="0"/>
          </a:p>
        </p:txBody>
      </p:sp>
      <p:sp>
        <p:nvSpPr>
          <p:cNvPr id="146438" name="Прямоугольник 6"/>
          <p:cNvSpPr>
            <a:spLocks noChangeArrowheads="1"/>
          </p:cNvSpPr>
          <p:nvPr/>
        </p:nvSpPr>
        <p:spPr bwMode="auto">
          <a:xfrm>
            <a:off x="4929188" y="0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Шкалы измерений</a:t>
            </a:r>
          </a:p>
        </p:txBody>
      </p:sp>
      <p:sp>
        <p:nvSpPr>
          <p:cNvPr id="146439" name="Rectangle 7"/>
          <p:cNvSpPr>
            <a:spLocks noChangeArrowheads="1"/>
          </p:cNvSpPr>
          <p:nvPr/>
        </p:nvSpPr>
        <p:spPr bwMode="auto">
          <a:xfrm>
            <a:off x="4457703" y="2375228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46493" name="Group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187113"/>
              </p:ext>
            </p:extLst>
          </p:nvPr>
        </p:nvGraphicFramePr>
        <p:xfrm>
          <a:off x="6588578" y="2367334"/>
          <a:ext cx="3600450" cy="1817841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90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Times New Roman" panose="02020603050405020304" pitchFamily="18" charset="0"/>
                        </a:rPr>
                        <a:t>КАТЕГОРИИ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kumimoji="0" lang="ru-RU" altLang="ru-RU" sz="21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</a:t>
                      </a:r>
                      <a:r>
                        <a:rPr kumimoji="0" lang="ru-RU" altLang="ru-RU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С</a:t>
                      </a:r>
                      <a:endParaRPr kumimoji="0" lang="ru-RU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Times New Roman" panose="02020603050405020304" pitchFamily="18" charset="0"/>
                        </a:rPr>
                        <a:t>Прохладно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10-15</a:t>
                      </a:r>
                      <a:endParaRPr kumimoji="0" lang="ru-RU" alt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Times New Roman" panose="02020603050405020304" pitchFamily="18" charset="0"/>
                        </a:rPr>
                        <a:t>Комфортно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16-22</a:t>
                      </a:r>
                      <a:endParaRPr kumimoji="0" lang="ru-RU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Times New Roman" panose="02020603050405020304" pitchFamily="18" charset="0"/>
                        </a:rPr>
                        <a:t>Жарко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23-28</a:t>
                      </a:r>
                      <a:endParaRPr kumimoji="0" lang="ru-RU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6460" name="Rectangle 28"/>
          <p:cNvSpPr>
            <a:spLocks noChangeArrowheads="1"/>
          </p:cNvSpPr>
          <p:nvPr/>
        </p:nvSpPr>
        <p:spPr bwMode="auto">
          <a:xfrm>
            <a:off x="4743453" y="207519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46492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965711"/>
              </p:ext>
            </p:extLst>
          </p:nvPr>
        </p:nvGraphicFramePr>
        <p:xfrm>
          <a:off x="1935367" y="2362730"/>
          <a:ext cx="3575050" cy="2064510"/>
        </p:xfrm>
        <a:graphic>
          <a:graphicData uri="http://schemas.openxmlformats.org/drawingml/2006/table">
            <a:tbl>
              <a:tblPr/>
              <a:tblGrid>
                <a:gridCol w="26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90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КАТЕГОРИИ</a:t>
                      </a:r>
                      <a:endParaRPr kumimoji="0" lang="en-US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kumimoji="0" lang="ru-RU" alt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90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Иванов</a:t>
                      </a:r>
                      <a:endParaRPr kumimoji="0" lang="ru-RU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20</a:t>
                      </a:r>
                      <a:endParaRPr kumimoji="0" lang="ru-RU" alt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90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Петренко</a:t>
                      </a:r>
                      <a:endParaRPr kumimoji="0" lang="ru-RU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23,3</a:t>
                      </a:r>
                      <a:endParaRPr kumimoji="0" lang="ru-RU" alt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90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Федотов</a:t>
                      </a:r>
                      <a:endParaRPr kumimoji="0" lang="ru-RU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90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Сидорова</a:t>
                      </a:r>
                      <a:endParaRPr kumimoji="0" lang="ru-RU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28</a:t>
                      </a:r>
                      <a:endParaRPr kumimoji="0" lang="ru-RU" alt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6487" name="Text Box 55"/>
          <p:cNvSpPr txBox="1">
            <a:spLocks noChangeArrowheads="1"/>
          </p:cNvSpPr>
          <p:nvPr/>
        </p:nvSpPr>
        <p:spPr bwMode="auto">
          <a:xfrm>
            <a:off x="6515074" y="1474912"/>
            <a:ext cx="531398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altLang="ru-RU" sz="2000" b="1" dirty="0"/>
              <a:t>Интервальная шкала (непрерывная)</a:t>
            </a:r>
          </a:p>
          <a:p>
            <a:r>
              <a:rPr lang="ru-RU" altLang="ru-RU" sz="2000" b="1" i="1" dirty="0">
                <a:solidFill>
                  <a:srgbClr val="FF5050"/>
                </a:solidFill>
              </a:rPr>
              <a:t>Уровень комфортности температур</a:t>
            </a:r>
          </a:p>
        </p:txBody>
      </p:sp>
      <p:sp>
        <p:nvSpPr>
          <p:cNvPr id="146488" name="Text Box 56"/>
          <p:cNvSpPr txBox="1">
            <a:spLocks noChangeArrowheads="1"/>
          </p:cNvSpPr>
          <p:nvPr/>
        </p:nvSpPr>
        <p:spPr bwMode="auto">
          <a:xfrm>
            <a:off x="1317570" y="1474912"/>
            <a:ext cx="485811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altLang="ru-RU" sz="2000" b="1" dirty="0"/>
              <a:t>Относительная шкала (дискретная)</a:t>
            </a:r>
          </a:p>
          <a:p>
            <a:r>
              <a:rPr lang="ru-RU" altLang="ru-RU" sz="2000" b="1" i="1" dirty="0">
                <a:solidFill>
                  <a:srgbClr val="FF5050"/>
                </a:solidFill>
              </a:rPr>
              <a:t>Таймер забега</a:t>
            </a:r>
            <a:r>
              <a:rPr lang="en-US" altLang="ru-RU" sz="2000" b="1" i="1" dirty="0">
                <a:solidFill>
                  <a:srgbClr val="FF5050"/>
                </a:solidFill>
              </a:rPr>
              <a:t> – </a:t>
            </a:r>
            <a:r>
              <a:rPr lang="ru-RU" altLang="ru-RU" sz="2000" b="1" i="1" dirty="0">
                <a:solidFill>
                  <a:srgbClr val="FF5050"/>
                </a:solidFill>
              </a:rPr>
              <a:t>время финиша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8152E9-81C3-4F75-A7BF-62174ED297D6}"/>
              </a:ext>
            </a:extLst>
          </p:cNvPr>
          <p:cNvSpPr txBox="1"/>
          <p:nvPr/>
        </p:nvSpPr>
        <p:spPr>
          <a:xfrm>
            <a:off x="6584096" y="4481825"/>
            <a:ext cx="52404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Есть единица измерения, есть произвольное начало отсчета (нуль не абсолютный, а условный). Можно говорить о </a:t>
            </a:r>
            <a:r>
              <a:rPr lang="ru-RU" sz="1400" b="1" dirty="0"/>
              <a:t>разности значений</a:t>
            </a:r>
            <a:r>
              <a:rPr lang="ru-RU" sz="1400" dirty="0"/>
              <a:t>, но нельзя говорить об отношениях (во сколько раз одно значение больше другого). Примеры: температура по Цельсию, календарное время, IQ.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CE8C63-8CBD-4BEF-A320-C5437B3F23E0}"/>
              </a:ext>
            </a:extLst>
          </p:cNvPr>
          <p:cNvSpPr txBox="1"/>
          <p:nvPr/>
        </p:nvSpPr>
        <p:spPr>
          <a:xfrm>
            <a:off x="1797621" y="4697269"/>
            <a:ext cx="41764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1400"/>
            </a:lvl1pPr>
          </a:lstStyle>
          <a:p>
            <a:r>
              <a:rPr lang="ru-RU" dirty="0"/>
              <a:t>Есть абсолютный нуль, который означает отсутствие измеряемого свойства. </a:t>
            </a:r>
            <a:r>
              <a:rPr lang="ru-RU" b="1" dirty="0"/>
              <a:t>Можно говорить и о разностях, и об отношениях. </a:t>
            </a:r>
            <a:r>
              <a:rPr lang="ru-RU" dirty="0"/>
              <a:t>Примеры: рост, вес, возраст, доход, расстояние.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5DE9D98-CC9E-4D63-985F-641B88EC4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793" y="5784359"/>
            <a:ext cx="1130705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Ключевое различие: наличие абсолютного нуля. Это определяет допустимые преобразования:</a:t>
            </a:r>
          </a:p>
          <a:p>
            <a:pPr eaLnBrk="0" hangingPunct="0">
              <a:buFontTx/>
              <a:buChar char="•"/>
            </a:pPr>
            <a:r>
              <a:rPr lang="ru-RU" altLang="ru-RU" sz="1600" dirty="0"/>
              <a:t>Для относительной шкалы допустимы только преобразования подобия y = a*x (только масштаб, нуль фиксирован).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 интервальной шкалы допустимы линейные преобразования вида y = a*x + b (сдвиг и масштаб).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Номер слайда 1">
            <a:extLst>
              <a:ext uri="{FF2B5EF4-FFF2-40B4-BE49-F238E27FC236}">
                <a16:creationId xmlns:a16="http://schemas.microsoft.com/office/drawing/2014/main" id="{79D25E8D-087B-4C2A-BE7A-6E61EE51B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6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810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475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669829" y="503239"/>
            <a:ext cx="5702772" cy="7016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9441" tIns="49721" rIns="99441" bIns="49721" rtlCol="0" anchor="ctr">
            <a:normAutofit fontScale="90000"/>
          </a:bodyPr>
          <a:lstStyle/>
          <a:p>
            <a:pPr eaLnBrk="1" hangingPunct="1"/>
            <a:r>
              <a:rPr lang="ru-RU" altLang="ru-RU" sz="4000" dirty="0"/>
              <a:t>Шкалы измерений</a:t>
            </a:r>
          </a:p>
        </p:txBody>
      </p:sp>
      <p:sp>
        <p:nvSpPr>
          <p:cNvPr id="74759" name="Прямоугольник 7"/>
          <p:cNvSpPr>
            <a:spLocks noChangeArrowheads="1"/>
          </p:cNvSpPr>
          <p:nvPr/>
        </p:nvSpPr>
        <p:spPr bwMode="auto">
          <a:xfrm>
            <a:off x="4893965" y="-5258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Шкалы измерений</a:t>
            </a:r>
          </a:p>
        </p:txBody>
      </p:sp>
      <p:sp>
        <p:nvSpPr>
          <p:cNvPr id="74761" name="Rectangle 9"/>
          <p:cNvSpPr>
            <a:spLocks noChangeArrowheads="1"/>
          </p:cNvSpPr>
          <p:nvPr/>
        </p:nvSpPr>
        <p:spPr bwMode="auto">
          <a:xfrm>
            <a:off x="1966915" y="1762127"/>
            <a:ext cx="10343874" cy="403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73063" indent="-373063" defTabSz="993775" eaLnBrk="0" hangingPunct="0">
              <a:spcBef>
                <a:spcPct val="20000"/>
              </a:spcBef>
              <a:buChar char="•"/>
              <a:defRPr sz="3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8038" indent="-311150" defTabSz="993775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43013" indent="-249238" defTabSz="993775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9900" indent="-247650" defTabSz="993775" eaLnBrk="0" hangingPunct="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36788" indent="-247650" defTabSz="993775" eaLnBrk="0" hangingPunct="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939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511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083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655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ru-RU" altLang="ru-RU" sz="2100" dirty="0"/>
              <a:t>Номинальная	Содержит только категории, данные не могут </a:t>
            </a:r>
            <a:r>
              <a:rPr lang="en-US" altLang="ru-RU" sz="2100" dirty="0"/>
              <a:t>			</a:t>
            </a:r>
            <a:r>
              <a:rPr lang="ru-RU" altLang="ru-RU" sz="2100" dirty="0"/>
              <a:t>		упорядочиваться 		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ru-RU" altLang="ru-RU" sz="2100" dirty="0"/>
              <a:t>Порядковая		Содержит категории, которые могут упорядочиваться, </a:t>
            </a:r>
            <a:r>
              <a:rPr lang="en-US" altLang="ru-RU" sz="2100" dirty="0"/>
              <a:t>				</a:t>
            </a:r>
            <a:r>
              <a:rPr lang="ru-RU" altLang="ru-RU" sz="2100" dirty="0"/>
              <a:t>разности не имеют смысла	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endParaRPr lang="ru-RU" altLang="ru-RU" sz="2100" dirty="0"/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ru-RU" altLang="ru-RU" sz="2100" dirty="0"/>
              <a:t>Интервальная	Разности между значениями могут быть</a:t>
            </a:r>
            <a:r>
              <a:rPr lang="en-US" altLang="ru-RU" sz="2100" dirty="0"/>
              <a:t> </a:t>
            </a:r>
            <a:r>
              <a:rPr lang="ru-RU" altLang="ru-RU" sz="2100" dirty="0"/>
              <a:t>вычислены, 				но отсутствует точка отсчета 	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ru-RU" altLang="ru-RU" sz="2100" dirty="0"/>
              <a:t>Относительная	Имеется точка отсчета, возможны</a:t>
            </a:r>
            <a:r>
              <a:rPr lang="en-US" altLang="ru-RU" sz="2100" dirty="0"/>
              <a:t> </a:t>
            </a:r>
            <a:r>
              <a:rPr lang="ru-RU" altLang="ru-RU" sz="2100" dirty="0"/>
              <a:t>отношения</a:t>
            </a:r>
            <a:r>
              <a:rPr lang="en-US" altLang="ru-RU" sz="2100" dirty="0"/>
              <a:t>				</a:t>
            </a:r>
            <a:r>
              <a:rPr lang="ru-RU" altLang="ru-RU" sz="2100" dirty="0"/>
              <a:t> 	между значениями	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endParaRPr lang="ru-RU" altLang="ru-RU" sz="2100" dirty="0"/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ru-RU" altLang="ru-RU" sz="2100" dirty="0">
                <a:solidFill>
                  <a:schemeClr val="accent1">
                    <a:lumMod val="90000"/>
                  </a:schemeClr>
                </a:solidFill>
              </a:rPr>
              <a:t>Дихотомическая	Содержит всего две категории</a:t>
            </a:r>
            <a:r>
              <a:rPr lang="ru-RU" altLang="ru-RU" sz="2100" dirty="0"/>
              <a:t>	</a:t>
            </a:r>
          </a:p>
        </p:txBody>
      </p:sp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D047A6F1-AC8B-4C59-B723-738FBD22E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7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2239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0661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624264" y="400050"/>
            <a:ext cx="5157787" cy="9017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9441" tIns="49721" rIns="99441" bIns="49721" rtlCol="0" anchor="ctr">
            <a:normAutofit/>
          </a:bodyPr>
          <a:lstStyle/>
          <a:p>
            <a:pPr eaLnBrk="1" hangingPunct="1"/>
            <a:r>
              <a:rPr lang="ru-RU" altLang="ru-RU" sz="4000" dirty="0"/>
              <a:t>Шкалы измерений</a:t>
            </a:r>
          </a:p>
        </p:txBody>
      </p:sp>
      <p:sp>
        <p:nvSpPr>
          <p:cNvPr id="70663" name="Прямоугольник 6"/>
          <p:cNvSpPr>
            <a:spLocks noChangeArrowheads="1"/>
          </p:cNvSpPr>
          <p:nvPr/>
        </p:nvSpPr>
        <p:spPr bwMode="auto">
          <a:xfrm>
            <a:off x="4929188" y="0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Шкалы измерений</a:t>
            </a:r>
          </a:p>
        </p:txBody>
      </p:sp>
      <p:sp>
        <p:nvSpPr>
          <p:cNvPr id="70664" name="Rectangle 8"/>
          <p:cNvSpPr>
            <a:spLocks noChangeArrowheads="1"/>
          </p:cNvSpPr>
          <p:nvPr/>
        </p:nvSpPr>
        <p:spPr bwMode="auto">
          <a:xfrm>
            <a:off x="1761332" y="3117850"/>
            <a:ext cx="9145588" cy="3167062"/>
          </a:xfrm>
          <a:prstGeom prst="rect">
            <a:avLst/>
          </a:prstGeom>
          <a:gradFill rotWithShape="1">
            <a:gsLst>
              <a:gs pos="0">
                <a:srgbClr val="99CCFF"/>
              </a:gs>
              <a:gs pos="100000">
                <a:srgbClr val="66669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RU" altLang="ru-RU" sz="2400">
              <a:solidFill>
                <a:srgbClr val="697F93"/>
              </a:solidFill>
            </a:endParaRP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3838258894"/>
              </p:ext>
            </p:extLst>
          </p:nvPr>
        </p:nvGraphicFramePr>
        <p:xfrm>
          <a:off x="2373560" y="1624930"/>
          <a:ext cx="9001125" cy="2154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0680" name="Text Box 24"/>
          <p:cNvSpPr txBox="1">
            <a:spLocks noChangeArrowheads="1"/>
          </p:cNvSpPr>
          <p:nvPr/>
        </p:nvSpPr>
        <p:spPr bwMode="auto">
          <a:xfrm>
            <a:off x="3286879" y="5268269"/>
            <a:ext cx="164230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ru-RU" altLang="ru-RU" sz="1600" b="1" dirty="0"/>
              <a:t>Номинальная </a:t>
            </a:r>
          </a:p>
          <a:p>
            <a:pPr algn="ctr"/>
            <a:r>
              <a:rPr lang="ru-RU" altLang="ru-RU" sz="1600" b="1" dirty="0"/>
              <a:t>шкала</a:t>
            </a:r>
          </a:p>
        </p:txBody>
      </p:sp>
      <p:sp>
        <p:nvSpPr>
          <p:cNvPr id="70681" name="Text Box 25"/>
          <p:cNvSpPr txBox="1">
            <a:spLocks noChangeArrowheads="1"/>
          </p:cNvSpPr>
          <p:nvPr/>
        </p:nvSpPr>
        <p:spPr bwMode="auto">
          <a:xfrm>
            <a:off x="4911879" y="5268269"/>
            <a:ext cx="147829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ru-RU" altLang="ru-RU" sz="1600" b="1" dirty="0"/>
              <a:t>Порядковая </a:t>
            </a:r>
          </a:p>
          <a:p>
            <a:pPr algn="ctr"/>
            <a:r>
              <a:rPr lang="ru-RU" altLang="ru-RU" sz="1600" b="1" dirty="0"/>
              <a:t>шкала</a:t>
            </a:r>
          </a:p>
        </p:txBody>
      </p:sp>
      <p:sp>
        <p:nvSpPr>
          <p:cNvPr id="70682" name="Text Box 26"/>
          <p:cNvSpPr txBox="1">
            <a:spLocks noChangeArrowheads="1"/>
          </p:cNvSpPr>
          <p:nvPr/>
        </p:nvSpPr>
        <p:spPr bwMode="auto">
          <a:xfrm>
            <a:off x="6429499" y="5268269"/>
            <a:ext cx="17048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ru-RU" altLang="ru-RU" sz="1600" b="1" dirty="0"/>
              <a:t>Интервальная </a:t>
            </a:r>
          </a:p>
          <a:p>
            <a:pPr algn="ctr"/>
            <a:r>
              <a:rPr lang="ru-RU" altLang="ru-RU" sz="1600" b="1" dirty="0"/>
              <a:t>шкала</a:t>
            </a:r>
          </a:p>
        </p:txBody>
      </p:sp>
      <p:sp>
        <p:nvSpPr>
          <p:cNvPr id="70683" name="Text Box 27"/>
          <p:cNvSpPr txBox="1">
            <a:spLocks noChangeArrowheads="1"/>
          </p:cNvSpPr>
          <p:nvPr/>
        </p:nvSpPr>
        <p:spPr bwMode="auto">
          <a:xfrm>
            <a:off x="8187894" y="5268269"/>
            <a:ext cx="181863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ru-RU" altLang="ru-RU" sz="1600" b="1" dirty="0"/>
              <a:t>Относительная </a:t>
            </a:r>
          </a:p>
          <a:p>
            <a:pPr algn="ctr"/>
            <a:r>
              <a:rPr lang="ru-RU" altLang="ru-RU" sz="1600" b="1" dirty="0"/>
              <a:t>шкала</a:t>
            </a:r>
          </a:p>
        </p:txBody>
      </p:sp>
      <p:sp>
        <p:nvSpPr>
          <p:cNvPr id="70684" name="Text Box 28"/>
          <p:cNvSpPr txBox="1">
            <a:spLocks noChangeArrowheads="1"/>
          </p:cNvSpPr>
          <p:nvPr/>
        </p:nvSpPr>
        <p:spPr bwMode="auto">
          <a:xfrm>
            <a:off x="3848897" y="4414838"/>
            <a:ext cx="5213863" cy="46166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altLang="ru-RU" sz="2400" b="1" dirty="0">
                <a:solidFill>
                  <a:schemeClr val="bg1"/>
                </a:solidFill>
              </a:rPr>
              <a:t>Какие шкалы для каких данных?</a:t>
            </a:r>
          </a:p>
        </p:txBody>
      </p:sp>
      <p:sp>
        <p:nvSpPr>
          <p:cNvPr id="70685" name="Line 29"/>
          <p:cNvSpPr>
            <a:spLocks noChangeShapeType="1"/>
          </p:cNvSpPr>
          <p:nvPr/>
        </p:nvSpPr>
        <p:spPr bwMode="auto">
          <a:xfrm>
            <a:off x="1977234" y="4197350"/>
            <a:ext cx="8569325" cy="0"/>
          </a:xfrm>
          <a:prstGeom prst="line">
            <a:avLst/>
          </a:prstGeom>
          <a:noFill/>
          <a:ln w="38100">
            <a:solidFill>
              <a:srgbClr val="FF505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0686" name="Text Box 30"/>
          <p:cNvSpPr txBox="1">
            <a:spLocks noChangeArrowheads="1"/>
          </p:cNvSpPr>
          <p:nvPr/>
        </p:nvSpPr>
        <p:spPr bwMode="auto">
          <a:xfrm>
            <a:off x="5579268" y="3832837"/>
            <a:ext cx="13773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>
                <a:solidFill>
                  <a:srgbClr val="FF5050"/>
                </a:solidFill>
              </a:rPr>
              <a:t>мощность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D2988D-544F-49B5-AC1F-7F2CD2195DA9}"/>
              </a:ext>
            </a:extLst>
          </p:cNvPr>
          <p:cNvSpPr txBox="1"/>
          <p:nvPr/>
        </p:nvSpPr>
        <p:spPr>
          <a:xfrm>
            <a:off x="2503356" y="3207627"/>
            <a:ext cx="1584176" cy="577221"/>
          </a:xfrm>
          <a:prstGeom prst="rect">
            <a:avLst/>
          </a:prstGeom>
          <a:solidFill>
            <a:srgbClr val="4E67C8">
              <a:hueOff val="0"/>
              <a:satOff val="0"/>
              <a:lumOff val="0"/>
              <a:alphaOff val="0"/>
            </a:srgbClr>
          </a:solidFill>
          <a:ln w="254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>
            <a:lvl1pPr marL="0" marR="0" lvl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r>
              <a:rPr lang="ru-RU" altLang="ru-RU" dirty="0"/>
              <a:t>Дихотомическая</a:t>
            </a:r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0B9A69F3-974B-4A79-8F27-C18442F3A595}"/>
              </a:ext>
            </a:extLst>
          </p:cNvPr>
          <p:cNvCxnSpPr>
            <a:cxnSpLocks/>
          </p:cNvCxnSpPr>
          <p:nvPr/>
        </p:nvCxnSpPr>
        <p:spPr>
          <a:xfrm>
            <a:off x="3295444" y="3037880"/>
            <a:ext cx="494228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886FD27-B372-4227-B3C4-E3A2CF6CE2F9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295444" y="3037880"/>
            <a:ext cx="0" cy="1697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Номер слайда 1">
            <a:extLst>
              <a:ext uri="{FF2B5EF4-FFF2-40B4-BE49-F238E27FC236}">
                <a16:creationId xmlns:a16="http://schemas.microsoft.com/office/drawing/2014/main" id="{8ECA5BEA-7DAE-41A6-A961-C45FD115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8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2239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06787" y="586582"/>
            <a:ext cx="7792740" cy="8461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4000" dirty="0"/>
              <a:t>Мощности шкал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185553" y="1649905"/>
            <a:ext cx="10621180" cy="34254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altLang="ru-RU" sz="2400" dirty="0"/>
              <a:t>Шкалы по мере возрастания мощности располагаются следующим образом: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ru-RU" sz="2400" dirty="0"/>
              <a:t>	</a:t>
            </a:r>
            <a:r>
              <a:rPr lang="ru-RU" altLang="ru-RU" sz="2400" dirty="0"/>
              <a:t>номинальная, порядковая, интервальная, относительная.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dirty="0"/>
              <a:t>Таким образом, </a:t>
            </a:r>
            <a:r>
              <a:rPr lang="ru-RU" altLang="ru-RU" sz="2400" dirty="0" err="1"/>
              <a:t>неметрические</a:t>
            </a:r>
            <a:r>
              <a:rPr lang="ru-RU" altLang="ru-RU" sz="2400" dirty="0"/>
              <a:t> шкалы заведомо менее мощные - </a:t>
            </a:r>
            <a:r>
              <a:rPr lang="ru-RU" altLang="ru-RU" sz="2400" b="1" dirty="0"/>
              <a:t>они отражают меньше информации о различии объектов (испытуемых) по измеренному свойству</a:t>
            </a:r>
            <a:r>
              <a:rPr lang="ru-RU" altLang="ru-RU" sz="2400" dirty="0"/>
              <a:t>, и, напротив, метрические шкалы более мощные, они лучше дифференцируют испытуемых.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dirty="0"/>
              <a:t>Поэтому, </a:t>
            </a:r>
            <a:r>
              <a:rPr lang="ru-RU" altLang="ru-RU" sz="2400" b="1" dirty="0"/>
              <a:t>если у исследователя есть возможность выбора, следует применить более мощную шкалу</a:t>
            </a:r>
            <a:r>
              <a:rPr lang="ru-RU" altLang="ru-RU" sz="2400" dirty="0"/>
              <a:t>.</a:t>
            </a:r>
            <a:endParaRPr lang="ru-RU" altLang="ru-RU" sz="2800" dirty="0"/>
          </a:p>
        </p:txBody>
      </p:sp>
      <p:sp>
        <p:nvSpPr>
          <p:cNvPr id="10247" name="Прямоугольник 6"/>
          <p:cNvSpPr>
            <a:spLocks noChangeArrowheads="1"/>
          </p:cNvSpPr>
          <p:nvPr/>
        </p:nvSpPr>
        <p:spPr bwMode="auto">
          <a:xfrm>
            <a:off x="4929188" y="0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Шкалы измерений</a:t>
            </a:r>
          </a:p>
        </p:txBody>
      </p:sp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CBBAAB9A-E011-420C-8564-3292CFC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9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2239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86775" y="562770"/>
            <a:ext cx="8224788" cy="6810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ru-RU" altLang="ru-RU" sz="4000" dirty="0"/>
              <a:t>Номинальные</a:t>
            </a:r>
            <a:r>
              <a:rPr lang="ru-RU" altLang="ru-RU" b="1" dirty="0">
                <a:solidFill>
                  <a:schemeClr val="tx1"/>
                </a:solidFill>
              </a:rPr>
              <a:t> </a:t>
            </a:r>
            <a:r>
              <a:rPr lang="ru-RU" altLang="ru-RU" sz="4000" dirty="0"/>
              <a:t>переменные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273737" y="1566070"/>
            <a:ext cx="10605004" cy="3803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ru-RU" altLang="ru-RU" sz="2400" b="1" dirty="0"/>
              <a:t>Используются только для качественной классификации:</a:t>
            </a:r>
          </a:p>
          <a:p>
            <a:pPr eaLnBrk="1" hangingPunct="1"/>
            <a:r>
              <a:rPr lang="ru-RU" altLang="ru-RU" sz="2400" dirty="0"/>
              <a:t>данные переменные могут быть измерены только в терминах принадлежности к некоторым существенно различным классам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(например: пол, вид, цвет)</a:t>
            </a:r>
            <a:r>
              <a:rPr lang="ru-RU" altLang="ru-RU" sz="2400" dirty="0"/>
              <a:t>, при этом вы не сможете определить количество или упорядочить эти классы. </a:t>
            </a:r>
          </a:p>
          <a:p>
            <a:pPr eaLnBrk="1" hangingPunct="1"/>
            <a:r>
              <a:rPr lang="ru-RU" altLang="ru-RU" sz="2400" dirty="0"/>
              <a:t>Часто номинальные переменные называются категориальными.</a:t>
            </a:r>
          </a:p>
          <a:p>
            <a:pPr eaLnBrk="1" hangingPunct="1"/>
            <a:r>
              <a:rPr lang="ru-RU" altLang="ru-RU" sz="2400" dirty="0">
                <a:solidFill>
                  <a:schemeClr val="accent1">
                    <a:lumMod val="50000"/>
                  </a:schemeClr>
                </a:solidFill>
              </a:rPr>
              <a:t>ПРИМЕРОМ номинальных переменных являются фирма-производитель, тип товара, признак (болен - здоров) и т. д.</a:t>
            </a:r>
          </a:p>
        </p:txBody>
      </p:sp>
      <p:sp>
        <p:nvSpPr>
          <p:cNvPr id="6151" name="Прямоугольник 6"/>
          <p:cNvSpPr>
            <a:spLocks noChangeArrowheads="1"/>
          </p:cNvSpPr>
          <p:nvPr/>
        </p:nvSpPr>
        <p:spPr bwMode="auto">
          <a:xfrm>
            <a:off x="4929188" y="0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Шкалы измерений</a:t>
            </a:r>
          </a:p>
        </p:txBody>
      </p:sp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25CAD7F0-FFE3-4215-8A26-F8A996B9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10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2239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45693" y="559998"/>
            <a:ext cx="7672338" cy="6969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ru-RU" altLang="ru-RU" sz="4000"/>
              <a:t>Порядковые переменные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878934" y="1246981"/>
            <a:ext cx="11155905" cy="520087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ru-RU" altLang="ru-RU" sz="2800" b="1" dirty="0"/>
              <a:t>Позволяют ранжировать (упорядочить) объекты, если указано:</a:t>
            </a:r>
          </a:p>
          <a:p>
            <a:pPr eaLnBrk="1" hangingPunct="1"/>
            <a:r>
              <a:rPr lang="ru-RU" altLang="ru-RU" sz="2400" dirty="0"/>
              <a:t>какие из них в большей или меньшей степени обладают качеством, выраженным данной переменной. Однако они не позволяют определить «на сколько больше» или «на сколько меньше» данного качества содержится в переменной. </a:t>
            </a:r>
          </a:p>
          <a:p>
            <a:pPr eaLnBrk="1" hangingPunct="1"/>
            <a:r>
              <a:rPr lang="ru-RU" altLang="ru-RU" sz="2400" dirty="0"/>
              <a:t>Порядковые переменные иногда также называют ординальными.</a:t>
            </a:r>
          </a:p>
          <a:p>
            <a:pPr eaLnBrk="1" hangingPunct="1"/>
            <a:r>
              <a:rPr lang="ru-RU" altLang="ru-RU" sz="2400" b="1" dirty="0"/>
              <a:t>ПРИМЕР 1 </a:t>
            </a:r>
            <a:r>
              <a:rPr lang="ru-RU" altLang="ru-RU" sz="2400" dirty="0"/>
              <a:t>- </a:t>
            </a:r>
            <a:r>
              <a:rPr lang="ru-RU" altLang="ru-RU" sz="2400" dirty="0" err="1"/>
              <a:t>социоэкономический</a:t>
            </a:r>
            <a:r>
              <a:rPr lang="ru-RU" altLang="ru-RU" sz="2400" dirty="0"/>
              <a:t> статус семьи. Мы понимаем, что верхний уровень выше среднего уровня, однако сказать, что разница между ними равна, допустим, 18%, мы не можем. Само расположение шкал в порядке возрастания их информативности – номинальная, порядковая, интервальная - является хорошим примером порядковой переменной.</a:t>
            </a:r>
          </a:p>
          <a:p>
            <a:pPr eaLnBrk="1" hangingPunct="1"/>
            <a:r>
              <a:rPr lang="ru-RU" altLang="ru-RU" sz="2400" b="1" dirty="0"/>
              <a:t>ПРИМЕР 2 </a:t>
            </a:r>
            <a:r>
              <a:rPr lang="ru-RU" altLang="ru-RU" sz="2400" dirty="0"/>
              <a:t>- интенсивность использования определенного цвета в картине художника.</a:t>
            </a:r>
            <a:endParaRPr lang="ru-RU" altLang="ru-RU" sz="2800" dirty="0"/>
          </a:p>
        </p:txBody>
      </p:sp>
      <p:sp>
        <p:nvSpPr>
          <p:cNvPr id="7175" name="Прямоугольник 6"/>
          <p:cNvSpPr>
            <a:spLocks noChangeArrowheads="1"/>
          </p:cNvSpPr>
          <p:nvPr/>
        </p:nvSpPr>
        <p:spPr bwMode="auto">
          <a:xfrm>
            <a:off x="4929188" y="0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Шкалы измерений</a:t>
            </a:r>
          </a:p>
        </p:txBody>
      </p:sp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9F87101B-1DFE-4631-AA85-C872165C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11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2239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73685" y="557213"/>
            <a:ext cx="7416824" cy="8461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4000"/>
              <a:t>Интервальные переменные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755523" y="1847851"/>
            <a:ext cx="11230229" cy="373151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ru-RU" altLang="ru-RU" sz="2400" b="1" dirty="0"/>
              <a:t>Позволяют не только упорядочивать объекты измерения, но и</a:t>
            </a:r>
          </a:p>
          <a:p>
            <a:pPr eaLnBrk="1" hangingPunct="1"/>
            <a:r>
              <a:rPr lang="ru-RU" altLang="ru-RU" sz="2400" dirty="0"/>
              <a:t>численно выражать и сравнивать различия между ними. Такого рода переменные часто возникают в естественных науках, при снятии показателей с физических приборов, в медицине и т. д. (время дня, дата)</a:t>
            </a:r>
          </a:p>
          <a:p>
            <a:pPr eaLnBrk="1" hangingPunct="1"/>
            <a:r>
              <a:rPr lang="ru-RU" altLang="ru-RU" sz="2400" b="1" i="1" dirty="0"/>
              <a:t>ПРИМЕР</a:t>
            </a:r>
            <a:r>
              <a:rPr lang="ru-RU" altLang="ru-RU" sz="2400" dirty="0"/>
              <a:t> - температура, измеренная в градусах Фаренгейта или Цельсия, образует интервальную шкалу. Вы можете не только сказать, что температура 40 градусов выше, чем температура 30 градусов, но и то, что увеличение температуры с 20 до 40 градусов вдвое больше увеличения температуры от 30 до 40 градусов.</a:t>
            </a:r>
            <a:endParaRPr lang="ru-RU" altLang="ru-RU" sz="2800" dirty="0"/>
          </a:p>
        </p:txBody>
      </p:sp>
      <p:sp>
        <p:nvSpPr>
          <p:cNvPr id="8199" name="Прямоугольник 6"/>
          <p:cNvSpPr>
            <a:spLocks noChangeArrowheads="1"/>
          </p:cNvSpPr>
          <p:nvPr/>
        </p:nvSpPr>
        <p:spPr bwMode="auto">
          <a:xfrm>
            <a:off x="4929188" y="0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Шкалы измерений</a:t>
            </a:r>
          </a:p>
        </p:txBody>
      </p:sp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11EAC539-A780-4737-AF22-5C5E42AF4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12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2239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85976" y="537903"/>
            <a:ext cx="8440812" cy="930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4000" dirty="0"/>
              <a:t>Относительные переменные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953360" y="1525836"/>
            <a:ext cx="10973177" cy="4703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1" hangingPunct="1">
              <a:buNone/>
            </a:pPr>
            <a:r>
              <a:rPr lang="ru-RU" altLang="ru-RU" sz="2800" b="1" dirty="0"/>
              <a:t>Очень похожи на интервальные переменные. </a:t>
            </a:r>
            <a:endParaRPr lang="en-US" altLang="ru-RU" sz="2800" b="1" dirty="0"/>
          </a:p>
          <a:p>
            <a:pPr eaLnBrk="1" hangingPunct="1"/>
            <a:r>
              <a:rPr lang="ru-RU" altLang="ru-RU" sz="2400" b="1" dirty="0"/>
              <a:t>Их характерной чертой является</a:t>
            </a:r>
            <a:r>
              <a:rPr lang="ru-RU" altLang="ru-RU" sz="2800" b="1" dirty="0"/>
              <a:t> </a:t>
            </a:r>
            <a:r>
              <a:rPr lang="ru-RU" altLang="ru-RU" sz="2400" dirty="0"/>
              <a:t>наличие определенной точки абсолютного нуля, таким образом, для этих переменных являются обоснованными утверждения типа: X в два раза больше, чем Y.</a:t>
            </a:r>
          </a:p>
          <a:p>
            <a:pPr eaLnBrk="1" hangingPunct="1"/>
            <a:r>
              <a:rPr lang="ru-RU" altLang="ru-RU" sz="2400" b="1" dirty="0"/>
              <a:t>ПРИМЕР</a:t>
            </a:r>
            <a:r>
              <a:rPr lang="ru-RU" altLang="ru-RU" sz="2400" dirty="0"/>
              <a:t> - температура по Кельвину образует шкалу отношения, и вы можете не только утверждать, что температура 200 градусов выше, чем 100 градусов, но и то, что она вдвое выше. Однако в большинстве статистических процедур не делается тонкого различия между свойствами интервальных шкал и шкал отношения</a:t>
            </a:r>
            <a:r>
              <a:rPr lang="ru-RU" altLang="ru-RU" sz="2800" dirty="0"/>
              <a:t>.</a:t>
            </a:r>
          </a:p>
          <a:p>
            <a:pPr eaLnBrk="1" hangingPunct="1"/>
            <a:r>
              <a:rPr lang="ru-RU" altLang="ru-RU" sz="2400" b="1" i="1" dirty="0"/>
              <a:t>Примеры: </a:t>
            </a:r>
            <a:r>
              <a:rPr lang="ru-RU" altLang="ru-RU" sz="2400" dirty="0"/>
              <a:t>масса тела, размер выводка, объём.</a:t>
            </a:r>
          </a:p>
        </p:txBody>
      </p:sp>
      <p:sp>
        <p:nvSpPr>
          <p:cNvPr id="9223" name="Прямоугольник 6"/>
          <p:cNvSpPr>
            <a:spLocks noChangeArrowheads="1"/>
          </p:cNvSpPr>
          <p:nvPr/>
        </p:nvSpPr>
        <p:spPr bwMode="auto">
          <a:xfrm>
            <a:off x="4929188" y="0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Шкалы измерений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13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 idx="4294967295"/>
          </p:nvPr>
        </p:nvSpPr>
        <p:spPr bwMode="auto">
          <a:xfrm>
            <a:off x="2373685" y="1690938"/>
            <a:ext cx="7911728" cy="2593727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lnSpc>
                <a:spcPct val="80000"/>
              </a:lnSpc>
              <a:defRPr/>
            </a:pPr>
            <a:r>
              <a:rPr lang="ru-RU" b="1" dirty="0">
                <a:solidFill>
                  <a:srgbClr val="00B0F0"/>
                </a:solidFill>
              </a:rPr>
              <a:t>Генеральная совокупность </a:t>
            </a:r>
            <a:br>
              <a:rPr lang="ru-RU" b="1" dirty="0">
                <a:solidFill>
                  <a:srgbClr val="00B0F0"/>
                </a:solidFill>
              </a:rPr>
            </a:br>
            <a:r>
              <a:rPr lang="ru-RU" b="1" dirty="0">
                <a:solidFill>
                  <a:srgbClr val="00B0F0"/>
                </a:solidFill>
              </a:rPr>
              <a:t>и выборка </a:t>
            </a:r>
            <a:br>
              <a:rPr lang="ru-RU" dirty="0">
                <a:solidFill>
                  <a:srgbClr val="00B0F0"/>
                </a:solidFill>
              </a:rPr>
            </a:b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27F77E61-CFD8-48AE-9EFC-EBF8FC8CE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14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5"/>
          <p:cNvSpPr>
            <a:spLocks noChangeArrowheads="1"/>
          </p:cNvSpPr>
          <p:nvPr/>
        </p:nvSpPr>
        <p:spPr bwMode="auto">
          <a:xfrm>
            <a:off x="1245311" y="395288"/>
            <a:ext cx="10096432" cy="12239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35464" y="501650"/>
            <a:ext cx="9585948" cy="901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ru-RU" altLang="ru-RU" sz="3600" dirty="0"/>
              <a:t>Основные понятия статистики и дескриптивный анализ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861517" y="1847851"/>
            <a:ext cx="11089231" cy="50276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2400" b="1" dirty="0"/>
              <a:t>Генеральная совокупность - </a:t>
            </a:r>
            <a:r>
              <a:rPr lang="ru-RU" altLang="ru-RU" sz="2400" dirty="0"/>
              <a:t>это все множество объектов, в отношении которого формулируется исследовательская гипотеза (это хотя и не бесконечное по численности, но, как правило, недоступное для сплошного исследования множество потенциальных испытуемых).</a:t>
            </a:r>
          </a:p>
          <a:p>
            <a:pPr eaLnBrk="1" hangingPunct="1"/>
            <a:r>
              <a:rPr lang="ru-RU" altLang="ru-RU" sz="2400" b="1" dirty="0"/>
              <a:t>Выборка - это ограниченная по численности группа объектов </a:t>
            </a:r>
            <a:r>
              <a:rPr lang="ru-RU" altLang="ru-RU" sz="2400" dirty="0"/>
              <a:t>(испытуемых, респондентов), специально отбираемая из генеральной совокупности для изучения ее свойств. Практически все исследования являются выборочными.</a:t>
            </a:r>
          </a:p>
          <a:p>
            <a:pPr eaLnBrk="1" hangingPunct="1"/>
            <a:r>
              <a:rPr lang="ru-RU" altLang="ru-RU" sz="2400" b="1" dirty="0"/>
              <a:t>Репрезентативность выборки </a:t>
            </a:r>
            <a:r>
              <a:rPr lang="ru-RU" altLang="ru-RU" sz="2400" dirty="0"/>
              <a:t>- иными словами, ее представительность - это способность выборки представлять изучаемые явления достаточно полно - с точки зрения их изменчивости в генеральной совокупности.</a:t>
            </a:r>
          </a:p>
          <a:p>
            <a:pPr eaLnBrk="1" hangingPunct="1"/>
            <a:endParaRPr lang="ru-RU" altLang="ru-RU" sz="2400" dirty="0"/>
          </a:p>
        </p:txBody>
      </p:sp>
      <p:sp>
        <p:nvSpPr>
          <p:cNvPr id="13319" name="Прямоугольник 6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478AA76C-0670-42C4-B8B1-4FBE547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15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AutoShape 4"/>
          <p:cNvSpPr>
            <a:spLocks noChangeArrowheads="1"/>
          </p:cNvSpPr>
          <p:nvPr/>
        </p:nvSpPr>
        <p:spPr bwMode="auto">
          <a:xfrm>
            <a:off x="281854" y="322263"/>
            <a:ext cx="12143603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67587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2239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67588" name="AutoShape 6"/>
          <p:cNvSpPr>
            <a:spLocks noChangeArrowheads="1"/>
          </p:cNvSpPr>
          <p:nvPr/>
        </p:nvSpPr>
        <p:spPr bwMode="auto">
          <a:xfrm>
            <a:off x="540128" y="1704975"/>
            <a:ext cx="11698653" cy="4954588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67589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369345" y="295575"/>
            <a:ext cx="7929562" cy="12382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9441" tIns="49721" rIns="99441" bIns="49721" rtlCol="0" anchor="ctr">
            <a:normAutofit fontScale="90000"/>
          </a:bodyPr>
          <a:lstStyle/>
          <a:p>
            <a:pPr eaLnBrk="1" hangingPunct="1"/>
            <a:r>
              <a:rPr lang="ru-RU" altLang="ru-RU" sz="4000" dirty="0"/>
              <a:t>Генеральная совокупность и выборка</a:t>
            </a:r>
          </a:p>
        </p:txBody>
      </p:sp>
      <p:sp>
        <p:nvSpPr>
          <p:cNvPr id="67591" name="Прямоугольник 6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67602" name="Rectangle 18"/>
          <p:cNvSpPr>
            <a:spLocks noChangeArrowheads="1"/>
          </p:cNvSpPr>
          <p:nvPr/>
        </p:nvSpPr>
        <p:spPr bwMode="auto">
          <a:xfrm>
            <a:off x="1219470" y="1439014"/>
            <a:ext cx="10908652" cy="266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73063" indent="-373063" defTabSz="993775" eaLnBrk="0" hangingPunct="0">
              <a:spcBef>
                <a:spcPct val="20000"/>
              </a:spcBef>
              <a:buChar char="•"/>
              <a:defRPr sz="3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8038" indent="-311150" defTabSz="993775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43013" indent="-249238" defTabSz="993775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9900" indent="-247650" defTabSz="993775" eaLnBrk="0" hangingPunct="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36788" indent="-247650" defTabSz="993775" eaLnBrk="0" hangingPunct="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939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511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083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655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200" b="1" dirty="0"/>
              <a:t>Параметры </a:t>
            </a:r>
            <a:r>
              <a:rPr lang="ru-RU" altLang="ru-RU" sz="2200" i="1" dirty="0"/>
              <a:t>- </a:t>
            </a:r>
            <a:r>
              <a:rPr lang="ru-RU" altLang="ru-RU" sz="2200" dirty="0"/>
              <a:t>характеристики генеральной совокупности.</a:t>
            </a:r>
          </a:p>
          <a:p>
            <a:r>
              <a:rPr lang="ru-RU" altLang="ru-RU" sz="2200" b="1" dirty="0"/>
              <a:t>Статистики</a:t>
            </a:r>
            <a:r>
              <a:rPr lang="ru-RU" altLang="ru-RU" sz="2200" dirty="0"/>
              <a:t> - характеристики выборки.</a:t>
            </a:r>
          </a:p>
          <a:p>
            <a:endParaRPr lang="ru-RU" altLang="ru-RU" sz="2200" dirty="0"/>
          </a:p>
          <a:p>
            <a:r>
              <a:rPr lang="ru-RU" altLang="ru-RU" sz="2200" dirty="0"/>
              <a:t>Мы будем использовать статистики для оценки тех параметров генеральной совокупности, которым они соответствуют.</a:t>
            </a:r>
          </a:p>
        </p:txBody>
      </p:sp>
      <p:grpSp>
        <p:nvGrpSpPr>
          <p:cNvPr id="67603" name="Group 19"/>
          <p:cNvGrpSpPr>
            <a:grpSpLocks/>
          </p:cNvGrpSpPr>
          <p:nvPr/>
        </p:nvGrpSpPr>
        <p:grpSpPr bwMode="auto">
          <a:xfrm>
            <a:off x="1535942" y="3834160"/>
            <a:ext cx="9304735" cy="2599707"/>
            <a:chOff x="81" y="2498"/>
            <a:chExt cx="5758" cy="1340"/>
          </a:xfrm>
        </p:grpSpPr>
        <p:pic>
          <p:nvPicPr>
            <p:cNvPr id="67604" name="Picture 2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9" y="2498"/>
              <a:ext cx="2586" cy="1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7605" name="AutoShape 21"/>
            <p:cNvSpPr>
              <a:spLocks noChangeArrowheads="1"/>
            </p:cNvSpPr>
            <p:nvPr/>
          </p:nvSpPr>
          <p:spPr bwMode="auto">
            <a:xfrm>
              <a:off x="1124" y="3475"/>
              <a:ext cx="771" cy="363"/>
            </a:xfrm>
            <a:prstGeom prst="rightArrow">
              <a:avLst>
                <a:gd name="adj1" fmla="val 50000"/>
                <a:gd name="adj2" fmla="val 5309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67606" name="Text Box 22"/>
            <p:cNvSpPr txBox="1">
              <a:spLocks noChangeArrowheads="1"/>
            </p:cNvSpPr>
            <p:nvPr/>
          </p:nvSpPr>
          <p:spPr bwMode="auto">
            <a:xfrm>
              <a:off x="81" y="3566"/>
              <a:ext cx="727" cy="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1600" b="1"/>
                <a:t>Параметр</a:t>
              </a:r>
            </a:p>
          </p:txBody>
        </p:sp>
        <p:sp>
          <p:nvSpPr>
            <p:cNvPr id="67607" name="AutoShape 23"/>
            <p:cNvSpPr>
              <a:spLocks noChangeArrowheads="1"/>
            </p:cNvSpPr>
            <p:nvPr/>
          </p:nvSpPr>
          <p:spPr bwMode="auto">
            <a:xfrm rot="10800000">
              <a:off x="4209" y="3475"/>
              <a:ext cx="771" cy="363"/>
            </a:xfrm>
            <a:prstGeom prst="rightArrow">
              <a:avLst>
                <a:gd name="adj1" fmla="val 50000"/>
                <a:gd name="adj2" fmla="val 5309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67608" name="Text Box 24"/>
            <p:cNvSpPr txBox="1">
              <a:spLocks noChangeArrowheads="1"/>
            </p:cNvSpPr>
            <p:nvPr/>
          </p:nvSpPr>
          <p:spPr bwMode="auto">
            <a:xfrm>
              <a:off x="4979" y="3581"/>
              <a:ext cx="860" cy="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1600" b="1"/>
                <a:t>Статистика </a:t>
              </a:r>
            </a:p>
          </p:txBody>
        </p:sp>
      </p:grpSp>
      <p:sp>
        <p:nvSpPr>
          <p:cNvPr id="15" name="Номер слайда 1">
            <a:extLst>
              <a:ext uri="{FF2B5EF4-FFF2-40B4-BE49-F238E27FC236}">
                <a16:creationId xmlns:a16="http://schemas.microsoft.com/office/drawing/2014/main" id="{645845F8-ACFB-418E-9517-B4C3D12C3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16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4"/>
          <p:cNvSpPr>
            <a:spLocks noChangeArrowheads="1"/>
          </p:cNvSpPr>
          <p:nvPr/>
        </p:nvSpPr>
        <p:spPr bwMode="auto">
          <a:xfrm>
            <a:off x="1438277" y="322263"/>
            <a:ext cx="9791700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5363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2239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5364" name="AutoShape 6"/>
          <p:cNvSpPr>
            <a:spLocks noChangeArrowheads="1"/>
          </p:cNvSpPr>
          <p:nvPr/>
        </p:nvSpPr>
        <p:spPr bwMode="auto">
          <a:xfrm>
            <a:off x="1582738" y="1704975"/>
            <a:ext cx="9431338" cy="507365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33627" y="501650"/>
            <a:ext cx="7286625" cy="901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3600" dirty="0"/>
              <a:t>Репрезентативность выборки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33412" y="1596017"/>
            <a:ext cx="11401428" cy="5027613"/>
          </a:xfrm>
          <a:ln>
            <a:miter lim="800000"/>
            <a:headEnd/>
            <a:tailEnd/>
          </a:ln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ru-RU" sz="2400" dirty="0"/>
              <a:t>Первый и основной прием - это простой случайный (</a:t>
            </a:r>
            <a:r>
              <a:rPr lang="ru-RU" sz="2400" dirty="0" err="1"/>
              <a:t>рандомизированный</a:t>
            </a:r>
            <a:r>
              <a:rPr lang="ru-RU" sz="2400" dirty="0"/>
              <a:t>) отбор. Он предполагает обеспечение таких условий, чтобы каждый член генеральной совокупности имел равные с другими шансы попасть в выборку.</a:t>
            </a:r>
          </a:p>
          <a:p>
            <a:pPr eaLnBrk="1" hangingPunct="1">
              <a:defRPr/>
            </a:pPr>
            <a:r>
              <a:rPr lang="ru-RU" sz="2400" dirty="0"/>
              <a:t>Второй способ обеспечения репрезентативности - это отбор по свойствам генеральной совокупности. Он предполагает </a:t>
            </a:r>
          </a:p>
          <a:p>
            <a:pPr lvl="1" eaLnBrk="1" hangingPunct="1">
              <a:defRPr/>
            </a:pPr>
            <a:r>
              <a:rPr lang="ru-RU" sz="2000" dirty="0"/>
              <a:t>предварительное определение тех качеств, которые могут влиять на изменчивость изучаемого свойства (это может быть пол, уровень дохода или образования и т.д.). </a:t>
            </a:r>
          </a:p>
          <a:p>
            <a:pPr lvl="1" eaLnBrk="1" hangingPunct="1">
              <a:defRPr/>
            </a:pPr>
            <a:r>
              <a:rPr lang="ru-RU" sz="2000" dirty="0"/>
              <a:t>Затем определяется процентное соотношение численности различающихся по этим качествам групп в генеральной совокупности и обеспечивается идентичное процентное соотношение соответствующих групп в выборке. </a:t>
            </a:r>
          </a:p>
          <a:p>
            <a:pPr lvl="1" eaLnBrk="1" hangingPunct="1">
              <a:defRPr/>
            </a:pPr>
            <a:r>
              <a:rPr lang="ru-RU" sz="2000" dirty="0"/>
              <a:t>Далее в каждую подгруппу выборки испытуемые подбираются по принципу простого случайного отбора.</a:t>
            </a:r>
            <a:endParaRPr lang="ru-RU" sz="1800" dirty="0"/>
          </a:p>
        </p:txBody>
      </p:sp>
      <p:sp>
        <p:nvSpPr>
          <p:cNvPr id="15367" name="Прямоугольник 8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17</a:t>
            </a:fld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4"/>
          <p:cNvSpPr>
            <a:spLocks noChangeArrowheads="1"/>
          </p:cNvSpPr>
          <p:nvPr/>
        </p:nvSpPr>
        <p:spPr bwMode="auto">
          <a:xfrm>
            <a:off x="298764" y="322263"/>
            <a:ext cx="12070719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6387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2239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53605" y="501650"/>
            <a:ext cx="9145015" cy="68523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ru-RU" altLang="ru-RU" sz="3600" dirty="0"/>
              <a:t>Общие рекомендации по численности выборки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41424" y="1442849"/>
            <a:ext cx="11585397" cy="50276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2400" dirty="0">
                <a:solidFill>
                  <a:srgbClr val="FF0000"/>
                </a:solidFill>
              </a:rPr>
              <a:t>Наибольший объем выборки необходим при разработке диагностической методики - от 200 до 1000-2500 человек.</a:t>
            </a:r>
          </a:p>
          <a:p>
            <a:pPr eaLnBrk="1" hangingPunct="1"/>
            <a:r>
              <a:rPr lang="ru-RU" altLang="ru-RU" sz="2400" dirty="0">
                <a:solidFill>
                  <a:srgbClr val="FF0000"/>
                </a:solidFill>
              </a:rPr>
              <a:t>Если необходимо сравнивать 2 выборки, их общая численность должна быть не менее 100 человек; численность сравниваемых выборок должна быть приблизительно одинаковой.</a:t>
            </a:r>
          </a:p>
          <a:p>
            <a:pPr eaLnBrk="1" hangingPunct="1"/>
            <a:r>
              <a:rPr lang="ru-RU" altLang="ru-RU" sz="2400" dirty="0">
                <a:solidFill>
                  <a:srgbClr val="FF0000"/>
                </a:solidFill>
              </a:rPr>
              <a:t>Если изучается взаимосвязь между какими-либо свойствами, то объем выборки должен быть не меньше 30-35 человек (наблюдений).</a:t>
            </a:r>
          </a:p>
          <a:p>
            <a:pPr eaLnBrk="1" hangingPunct="1"/>
            <a:r>
              <a:rPr lang="ru-RU" altLang="ru-RU" sz="2400" dirty="0">
                <a:solidFill>
                  <a:srgbClr val="FF0000"/>
                </a:solidFill>
              </a:rPr>
              <a:t>Чем больше </a:t>
            </a:r>
            <a:r>
              <a:rPr lang="ru-RU" altLang="ru-RU" sz="2400" b="1" i="1" dirty="0">
                <a:solidFill>
                  <a:srgbClr val="FF0000"/>
                </a:solidFill>
              </a:rPr>
              <a:t>изменчивость</a:t>
            </a:r>
            <a:r>
              <a:rPr lang="ru-RU" altLang="ru-RU" sz="2400" dirty="0">
                <a:solidFill>
                  <a:srgbClr val="FF0000"/>
                </a:solidFill>
              </a:rPr>
              <a:t> изучаемого свойства, тем больше должен быть объем выборки.</a:t>
            </a:r>
          </a:p>
          <a:p>
            <a:pPr eaLnBrk="1" hangingPunct="1"/>
            <a:r>
              <a:rPr lang="ru-RU" altLang="ru-RU" sz="2400" dirty="0">
                <a:solidFill>
                  <a:srgbClr val="FF0000"/>
                </a:solidFill>
              </a:rPr>
              <a:t>Поэтому изменчивость можно уменьшить, увеличивая однородность выборки, например, по полу, возрасту и т. д. При этом, естественно, уменьшаются возможности генерализации выводов.</a:t>
            </a:r>
          </a:p>
        </p:txBody>
      </p:sp>
      <p:sp>
        <p:nvSpPr>
          <p:cNvPr id="16391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8" name="Номер слайда 1">
            <a:extLst>
              <a:ext uri="{FF2B5EF4-FFF2-40B4-BE49-F238E27FC236}">
                <a16:creationId xmlns:a16="http://schemas.microsoft.com/office/drawing/2014/main" id="{14D41BC6-12C0-455D-B7A0-FCBE125B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18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 idx="4294967295"/>
          </p:nvPr>
        </p:nvSpPr>
        <p:spPr bwMode="auto">
          <a:xfrm>
            <a:off x="2301678" y="1979614"/>
            <a:ext cx="7983736" cy="2305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lnSpc>
                <a:spcPct val="80000"/>
              </a:lnSpc>
              <a:defRPr/>
            </a:pPr>
            <a:r>
              <a:rPr lang="ru-RU" b="1" dirty="0">
                <a:solidFill>
                  <a:srgbClr val="00B0F0"/>
                </a:solidFill>
              </a:rPr>
              <a:t>Понятие распределения</a:t>
            </a:r>
            <a:br>
              <a:rPr lang="ru-RU" b="1" dirty="0">
                <a:solidFill>
                  <a:srgbClr val="00B0F0"/>
                </a:solidFill>
              </a:rPr>
            </a:br>
            <a:r>
              <a:rPr lang="ru-RU" b="1" dirty="0">
                <a:solidFill>
                  <a:srgbClr val="00B0F0"/>
                </a:solidFill>
              </a:rPr>
              <a:t>и его характеристики</a:t>
            </a:r>
            <a:br>
              <a:rPr lang="ru-RU" dirty="0">
                <a:solidFill>
                  <a:srgbClr val="00B0F0"/>
                </a:solidFill>
              </a:rPr>
            </a:b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08F1ECBB-2E4B-41C4-9E6E-B4FFEC20A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19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72499" y="452564"/>
            <a:ext cx="7643812" cy="901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3600" dirty="0"/>
              <a:t>Распределение 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128167" y="4332630"/>
            <a:ext cx="6678566" cy="70788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Явно выраженная асимметрия: большинство наблюдений находятся в левой части гистограммы.</a:t>
            </a:r>
          </a:p>
        </p:txBody>
      </p:sp>
      <p:sp>
        <p:nvSpPr>
          <p:cNvPr id="18439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18441" name="TextBox 9"/>
          <p:cNvSpPr txBox="1">
            <a:spLocks noChangeArrowheads="1"/>
          </p:cNvSpPr>
          <p:nvPr/>
        </p:nvSpPr>
        <p:spPr bwMode="auto">
          <a:xfrm>
            <a:off x="5006282" y="1148045"/>
            <a:ext cx="6800451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/>
              <a:t>Как часто значение переменной </a:t>
            </a:r>
            <a:r>
              <a:rPr lang="en-US" altLang="ru-RU" b="1" i="1" dirty="0"/>
              <a:t>x</a:t>
            </a:r>
            <a:r>
              <a:rPr lang="ru-RU" altLang="ru-RU" dirty="0"/>
              <a:t> встречается на определенном промежутке?</a:t>
            </a:r>
          </a:p>
          <a:p>
            <a:pPr eaLnBrk="1" hangingPunct="1"/>
            <a:endParaRPr lang="ru-RU" altLang="ru-RU" dirty="0"/>
          </a:p>
          <a:p>
            <a:pPr eaLnBrk="1" hangingPunct="1"/>
            <a:r>
              <a:rPr lang="ru-RU" altLang="ru-RU" dirty="0"/>
              <a:t>На рисунке имеем симметричное распределение, т.е. б</a:t>
            </a:r>
            <a:r>
              <a:rPr lang="ru-RU" altLang="ru-RU" b="1" i="1" dirty="0"/>
              <a:t>о</a:t>
            </a:r>
            <a:r>
              <a:rPr lang="ru-RU" altLang="ru-RU" dirty="0"/>
              <a:t>льшая часть наблюдений оказалась в центре (значения от 8 до 12 встречаются около 30 раз).</a:t>
            </a:r>
          </a:p>
          <a:p>
            <a:pPr eaLnBrk="1" hangingPunct="1"/>
            <a:r>
              <a:rPr lang="ru-RU" altLang="ru-RU" dirty="0"/>
              <a:t>Чем дальше от центра, тем реже встречаются значения нашего признака.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87" y="1200029"/>
            <a:ext cx="3659029" cy="228969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87" y="3563144"/>
            <a:ext cx="3659029" cy="2363115"/>
          </a:xfrm>
          <a:prstGeom prst="rect">
            <a:avLst/>
          </a:prstGeom>
        </p:spPr>
      </p:pic>
      <p:sp>
        <p:nvSpPr>
          <p:cNvPr id="10" name="Номер слайда 1">
            <a:extLst>
              <a:ext uri="{FF2B5EF4-FFF2-40B4-BE49-F238E27FC236}">
                <a16:creationId xmlns:a16="http://schemas.microsoft.com/office/drawing/2014/main" id="{4D1C8500-CE10-4734-BE81-CC28A28D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20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AutoShape 5"/>
          <p:cNvSpPr>
            <a:spLocks noChangeArrowheads="1"/>
          </p:cNvSpPr>
          <p:nvPr/>
        </p:nvSpPr>
        <p:spPr bwMode="auto">
          <a:xfrm>
            <a:off x="2373824" y="421382"/>
            <a:ext cx="7920742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 sz="3500" dirty="0">
              <a:solidFill>
                <a:schemeClr val="bg1"/>
              </a:solidFill>
            </a:endParaRP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33626" y="501650"/>
            <a:ext cx="7643812" cy="901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ru-RU" altLang="ru-RU" sz="3600" dirty="0"/>
              <a:t>Составные части дескриптивного анализа 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05533" y="4736235"/>
            <a:ext cx="10873208" cy="1868303"/>
          </a:xfrm>
          <a:ln>
            <a:miter lim="800000"/>
            <a:headEnd/>
            <a:tailEnd/>
          </a:ln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  <a:defRPr/>
            </a:pPr>
            <a:r>
              <a:rPr lang="ru-RU" sz="2400" b="1" i="1" dirty="0"/>
              <a:t>Меры центральной тенденции </a:t>
            </a:r>
            <a:r>
              <a:rPr lang="ru-RU" sz="2400" dirty="0"/>
              <a:t>позволяют определить насколько высокие значения принимает наша переменная.</a:t>
            </a:r>
          </a:p>
          <a:p>
            <a:pPr marL="0" indent="0">
              <a:buNone/>
              <a:defRPr/>
            </a:pPr>
            <a:endParaRPr lang="ru-RU" sz="2000" dirty="0"/>
          </a:p>
          <a:p>
            <a:pPr marL="0" indent="0">
              <a:buNone/>
              <a:defRPr/>
            </a:pPr>
            <a:r>
              <a:rPr lang="ru-RU" sz="2400" b="1" i="1" dirty="0"/>
              <a:t>Меры изменчивости </a:t>
            </a:r>
            <a:r>
              <a:rPr lang="ru-RU" sz="2400" dirty="0"/>
              <a:t>характеризуют диапазон нашего признака или его </a:t>
            </a:r>
            <a:r>
              <a:rPr lang="ru-RU" sz="2400" b="1" dirty="0"/>
              <a:t>вариативность / размах.</a:t>
            </a:r>
            <a:endParaRPr lang="ru-RU" sz="2800" b="1" dirty="0"/>
          </a:p>
        </p:txBody>
      </p:sp>
      <p:sp>
        <p:nvSpPr>
          <p:cNvPr id="18439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grpSp>
        <p:nvGrpSpPr>
          <p:cNvPr id="14" name="Группа 13"/>
          <p:cNvGrpSpPr/>
          <p:nvPr/>
        </p:nvGrpSpPr>
        <p:grpSpPr>
          <a:xfrm>
            <a:off x="1165287" y="1384101"/>
            <a:ext cx="5276850" cy="3076575"/>
            <a:chOff x="674241" y="1849437"/>
            <a:chExt cx="5276850" cy="3076575"/>
          </a:xfrm>
        </p:grpSpPr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241" y="1849437"/>
              <a:ext cx="5276850" cy="3076575"/>
            </a:xfrm>
            <a:prstGeom prst="rect">
              <a:avLst/>
            </a:prstGeom>
          </p:spPr>
        </p:pic>
        <p:cxnSp>
          <p:nvCxnSpPr>
            <p:cNvPr id="10" name="Прямая со стрелкой 9"/>
            <p:cNvCxnSpPr/>
            <p:nvPr/>
          </p:nvCxnSpPr>
          <p:spPr bwMode="auto">
            <a:xfrm>
              <a:off x="1250305" y="4787280"/>
              <a:ext cx="411465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8" name="Прямая со стрелкой 17"/>
            <p:cNvCxnSpPr/>
            <p:nvPr/>
          </p:nvCxnSpPr>
          <p:spPr bwMode="auto">
            <a:xfrm>
              <a:off x="3122513" y="3387724"/>
              <a:ext cx="237626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21" name="Прямая со стрелкой 20"/>
            <p:cNvCxnSpPr/>
            <p:nvPr/>
          </p:nvCxnSpPr>
          <p:spPr bwMode="auto">
            <a:xfrm flipV="1">
              <a:off x="4293691" y="2050976"/>
              <a:ext cx="0" cy="121933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5" name="TextBox 14"/>
          <p:cNvSpPr txBox="1"/>
          <p:nvPr/>
        </p:nvSpPr>
        <p:spPr>
          <a:xfrm>
            <a:off x="6694165" y="1676452"/>
            <a:ext cx="4869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1" dirty="0">
                <a:solidFill>
                  <a:srgbClr val="FF0000"/>
                </a:solidFill>
              </a:rPr>
              <a:t>Меры центральной тенденции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165" y="3217018"/>
            <a:ext cx="3717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1" dirty="0">
                <a:solidFill>
                  <a:schemeClr val="accent2">
                    <a:lumMod val="75000"/>
                  </a:schemeClr>
                </a:solidFill>
              </a:rPr>
              <a:t>Меры изменчивости</a:t>
            </a:r>
          </a:p>
        </p:txBody>
      </p:sp>
      <p:sp>
        <p:nvSpPr>
          <p:cNvPr id="16" name="Номер слайда 1">
            <a:extLst>
              <a:ext uri="{FF2B5EF4-FFF2-40B4-BE49-F238E27FC236}">
                <a16:creationId xmlns:a16="http://schemas.microsoft.com/office/drawing/2014/main" id="{C838200B-8D52-4F84-875E-75623C7C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21</a:t>
            </a:fld>
            <a:endParaRPr lang="ru-RU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951868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AutoShape 5"/>
          <p:cNvSpPr>
            <a:spLocks noChangeArrowheads="1"/>
          </p:cNvSpPr>
          <p:nvPr/>
        </p:nvSpPr>
        <p:spPr bwMode="auto">
          <a:xfrm>
            <a:off x="2373824" y="421382"/>
            <a:ext cx="7920742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 sz="3500" dirty="0">
              <a:solidFill>
                <a:schemeClr val="bg1"/>
              </a:solidFill>
            </a:endParaRP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33626" y="501650"/>
            <a:ext cx="7643812" cy="901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ru-RU" altLang="ru-RU" sz="3600" dirty="0"/>
              <a:t>Виды распределений случайной величины</a:t>
            </a:r>
          </a:p>
        </p:txBody>
      </p:sp>
      <p:sp>
        <p:nvSpPr>
          <p:cNvPr id="18439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22</a:t>
            </a:fld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758" y="1672813"/>
            <a:ext cx="7969940" cy="36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88833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AutoShape 5"/>
          <p:cNvSpPr>
            <a:spLocks noChangeArrowheads="1"/>
          </p:cNvSpPr>
          <p:nvPr/>
        </p:nvSpPr>
        <p:spPr bwMode="auto">
          <a:xfrm>
            <a:off x="2373824" y="421382"/>
            <a:ext cx="7920742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 sz="3500" dirty="0">
              <a:solidFill>
                <a:schemeClr val="bg1"/>
              </a:solidFill>
            </a:endParaRPr>
          </a:p>
        </p:txBody>
      </p:sp>
      <p:sp>
        <p:nvSpPr>
          <p:cNvPr id="18436" name="AutoShape 6"/>
          <p:cNvSpPr>
            <a:spLocks noChangeArrowheads="1"/>
          </p:cNvSpPr>
          <p:nvPr/>
        </p:nvSpPr>
        <p:spPr bwMode="auto">
          <a:xfrm>
            <a:off x="1798638" y="4698879"/>
            <a:ext cx="9431338" cy="2223705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>
              <a:solidFill>
                <a:schemeClr val="bg1"/>
              </a:solidFill>
            </a:endParaRP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33626" y="501650"/>
            <a:ext cx="7643812" cy="901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ru-RU" altLang="ru-RU" sz="3600" dirty="0"/>
              <a:t>Виды распределений случайной величины</a:t>
            </a:r>
          </a:p>
        </p:txBody>
      </p:sp>
      <p:sp>
        <p:nvSpPr>
          <p:cNvPr id="18439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413877" y="6605017"/>
            <a:ext cx="620962" cy="379409"/>
          </a:xfrm>
        </p:spPr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23</a:t>
            </a:fld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527" y="1258888"/>
            <a:ext cx="7488832" cy="531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182868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 idx="4294967295"/>
          </p:nvPr>
        </p:nvSpPr>
        <p:spPr bwMode="auto">
          <a:xfrm>
            <a:off x="2085654" y="1690937"/>
            <a:ext cx="8199760" cy="1872209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lnSpc>
                <a:spcPct val="80000"/>
              </a:lnSpc>
              <a:defRPr/>
            </a:pPr>
            <a:r>
              <a:rPr lang="ru-RU" b="1" dirty="0">
                <a:solidFill>
                  <a:srgbClr val="00B0F0"/>
                </a:solidFill>
              </a:rPr>
              <a:t>Нормальное распределение</a:t>
            </a:r>
            <a:br>
              <a:rPr lang="ru-RU" dirty="0">
                <a:solidFill>
                  <a:srgbClr val="00B0F0"/>
                </a:solidFill>
              </a:rPr>
            </a:b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7A3D7C54-206E-429E-9B8B-8BFD119B2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24</a:t>
            </a:fld>
            <a:endParaRPr lang="ru-RU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335166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33626" y="501650"/>
            <a:ext cx="7643812" cy="901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3600" dirty="0"/>
              <a:t>Нормальное распределение 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94583" y="1114874"/>
            <a:ext cx="10783093" cy="5390703"/>
          </a:xfrm>
          <a:ln>
            <a:miter lim="800000"/>
            <a:headEnd/>
            <a:tailEnd/>
          </a:ln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ru-RU" sz="2400" dirty="0"/>
              <a:t>Каждому биологическому, психологическому, экономическому свойству соответствует свое распределение в генеральной совокупности. Чаще всего оно нормальное и характеризуется своими параметрами – средним и сигмой. </a:t>
            </a:r>
          </a:p>
          <a:p>
            <a:pPr lvl="1" eaLnBrk="1" hangingPunct="1">
              <a:defRPr/>
            </a:pPr>
            <a:r>
              <a:rPr lang="ru-RU" sz="2200" dirty="0"/>
              <a:t>Среднее значение (</a:t>
            </a:r>
            <a:r>
              <a:rPr lang="en-US" sz="2200" b="1" dirty="0"/>
              <a:t>mean</a:t>
            </a:r>
            <a:r>
              <a:rPr lang="ru-RU" sz="2200" dirty="0"/>
              <a:t>) задает положение кривой на числовой оси, </a:t>
            </a:r>
          </a:p>
          <a:p>
            <a:pPr lvl="1" eaLnBrk="1" hangingPunct="1">
              <a:defRPr/>
            </a:pPr>
            <a:r>
              <a:rPr lang="ru-RU" sz="2200" dirty="0"/>
              <a:t>сигма –задает ширину этой кривой и выступает как масштаб измерения.</a:t>
            </a:r>
          </a:p>
        </p:txBody>
      </p:sp>
      <p:sp>
        <p:nvSpPr>
          <p:cNvPr id="18439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pic>
        <p:nvPicPr>
          <p:cNvPr id="1844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589" y="3274071"/>
            <a:ext cx="4886450" cy="3385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1" name="TextBox 9"/>
          <p:cNvSpPr txBox="1">
            <a:spLocks noChangeArrowheads="1"/>
          </p:cNvSpPr>
          <p:nvPr/>
        </p:nvSpPr>
        <p:spPr bwMode="auto">
          <a:xfrm>
            <a:off x="6694165" y="3563145"/>
            <a:ext cx="5183512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/>
              <a:t>Данные, соответствующие нормальному распределению обрабатываются с помощью </a:t>
            </a:r>
            <a:r>
              <a:rPr lang="ru-RU" altLang="ru-RU" b="1" i="1" dirty="0"/>
              <a:t>параметрических методов</a:t>
            </a:r>
            <a:r>
              <a:rPr lang="ru-RU" altLang="ru-RU" dirty="0"/>
              <a:t>, а те данные, которые не соответствуют нормальному распределению обрабатываются с помощью </a:t>
            </a:r>
            <a:r>
              <a:rPr lang="ru-RU" altLang="ru-RU" b="1" i="1" dirty="0"/>
              <a:t>непараметрических методов статистики.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25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07754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33626" y="501650"/>
            <a:ext cx="7643812" cy="901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3600" dirty="0"/>
              <a:t>Нормальное распределение 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039959" y="4079612"/>
            <a:ext cx="5994879" cy="2416442"/>
          </a:xfrm>
          <a:ln>
            <a:miter lim="800000"/>
            <a:headEnd/>
            <a:tailEnd/>
          </a:ln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Autofit/>
          </a:bodyPr>
          <a:lstStyle/>
          <a:p>
            <a:pPr lvl="1" eaLnBrk="1" hangingPunct="1">
              <a:defRPr/>
            </a:pPr>
            <a:r>
              <a:rPr lang="ru-RU" sz="3600" b="1" i="1" dirty="0">
                <a:sym typeface="Symbol" panose="05050102010706020507" pitchFamily="18" charset="2"/>
              </a:rPr>
              <a:t></a:t>
            </a:r>
            <a:r>
              <a:rPr lang="ru-RU" sz="2400" dirty="0"/>
              <a:t>  </a:t>
            </a:r>
            <a:r>
              <a:rPr lang="ru-RU" sz="2400" dirty="0">
                <a:sym typeface="Symbol" panose="05050102010706020507" pitchFamily="18" charset="2"/>
              </a:rPr>
              <a:t> </a:t>
            </a:r>
            <a:r>
              <a:rPr lang="ru-RU" sz="2400" dirty="0"/>
              <a:t>Среднее значение (</a:t>
            </a:r>
            <a:r>
              <a:rPr lang="en-US" sz="2400" b="1" dirty="0"/>
              <a:t>mean</a:t>
            </a:r>
            <a:r>
              <a:rPr lang="ru-RU" sz="2400" dirty="0"/>
              <a:t>) задает положение кривой на числовой оси, </a:t>
            </a:r>
          </a:p>
          <a:p>
            <a:pPr lvl="1" eaLnBrk="1" hangingPunct="1">
              <a:defRPr/>
            </a:pPr>
            <a:r>
              <a:rPr lang="ru-RU" sz="3600" dirty="0">
                <a:sym typeface="Symbol" panose="05050102010706020507" pitchFamily="18" charset="2"/>
              </a:rPr>
              <a:t></a:t>
            </a:r>
            <a:r>
              <a:rPr lang="ru-RU" sz="2400" dirty="0">
                <a:sym typeface="Symbol" panose="05050102010706020507" pitchFamily="18" charset="2"/>
              </a:rPr>
              <a:t>   </a:t>
            </a:r>
            <a:r>
              <a:rPr lang="ru-RU" sz="2400" dirty="0"/>
              <a:t>сигма –задает ширину этой кривой и выступает как масштаб измерения.</a:t>
            </a:r>
          </a:p>
          <a:p>
            <a:pPr marL="496892" lvl="1" indent="0">
              <a:buNone/>
              <a:defRPr/>
            </a:pPr>
            <a:endParaRPr lang="ru-RU" sz="2400" dirty="0"/>
          </a:p>
        </p:txBody>
      </p:sp>
      <p:sp>
        <p:nvSpPr>
          <p:cNvPr id="18439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062" y="2844912"/>
            <a:ext cx="3391928" cy="117081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76" y="2844912"/>
            <a:ext cx="5069543" cy="316846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17502" y="1367851"/>
            <a:ext cx="111612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>
                <a:solidFill>
                  <a:schemeClr val="tx2"/>
                </a:solidFill>
              </a:rPr>
              <a:t>Норма́льное распределе́ние</a:t>
            </a:r>
            <a:r>
              <a:rPr lang="ru-RU" sz="2200">
                <a:solidFill>
                  <a:schemeClr val="tx2"/>
                </a:solidFill>
              </a:rPr>
              <a:t>, также называемое  </a:t>
            </a:r>
            <a:r>
              <a:rPr lang="ru-RU" sz="2200" b="1">
                <a:solidFill>
                  <a:schemeClr val="tx2"/>
                </a:solidFill>
              </a:rPr>
              <a:t>распределением Гаусса </a:t>
            </a:r>
            <a:r>
              <a:rPr lang="ru-RU" sz="2200">
                <a:solidFill>
                  <a:schemeClr val="tx2"/>
                </a:solidFill>
              </a:rPr>
              <a:t>или </a:t>
            </a:r>
            <a:r>
              <a:rPr lang="ru-RU" sz="2200" b="1">
                <a:solidFill>
                  <a:schemeClr val="tx2"/>
                </a:solidFill>
              </a:rPr>
              <a:t>Гаусса — Лапласа</a:t>
            </a:r>
            <a:r>
              <a:rPr lang="ru-RU" sz="2200">
                <a:solidFill>
                  <a:schemeClr val="tx2"/>
                </a:solidFill>
              </a:rPr>
              <a:t> — распределение вероятностей, которое в одномерном случае задаётся функцией плотности вероятности, совпадающей с функцией Гаусса: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26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193343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AutoShape 4"/>
          <p:cNvSpPr>
            <a:spLocks noChangeArrowheads="1"/>
          </p:cNvSpPr>
          <p:nvPr/>
        </p:nvSpPr>
        <p:spPr bwMode="auto">
          <a:xfrm>
            <a:off x="1438277" y="322263"/>
            <a:ext cx="10945216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9459" name="AutoShape 5"/>
          <p:cNvSpPr>
            <a:spLocks noChangeArrowheads="1"/>
          </p:cNvSpPr>
          <p:nvPr/>
        </p:nvSpPr>
        <p:spPr bwMode="auto">
          <a:xfrm>
            <a:off x="2085977" y="395289"/>
            <a:ext cx="8351837" cy="935037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9460" name="AutoShape 6"/>
          <p:cNvSpPr>
            <a:spLocks noChangeArrowheads="1"/>
          </p:cNvSpPr>
          <p:nvPr/>
        </p:nvSpPr>
        <p:spPr bwMode="auto">
          <a:xfrm>
            <a:off x="501477" y="545587"/>
            <a:ext cx="11533362" cy="6329876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>
              <a:solidFill>
                <a:schemeClr val="bg1"/>
              </a:solidFill>
            </a:endParaRP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33626" y="501650"/>
            <a:ext cx="7643812" cy="901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3600" dirty="0"/>
              <a:t>Нормальное распределение 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933525" y="1186881"/>
            <a:ext cx="10945216" cy="52726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ru-RU" altLang="ru-RU" sz="2400" dirty="0"/>
              <a:t>Все многообразие нормальных распределений может быть сведено к одной кривой, если</a:t>
            </a:r>
            <a:r>
              <a:rPr lang="en-US" altLang="ru-RU" sz="2400" dirty="0"/>
              <a:t> </a:t>
            </a:r>
            <a:r>
              <a:rPr lang="ru-RU" altLang="ru-RU" sz="2400" dirty="0"/>
              <a:t>применить </a:t>
            </a:r>
            <a:r>
              <a:rPr lang="ru-RU" altLang="ru-RU" sz="2400" b="1" i="1" dirty="0"/>
              <a:t>z</a:t>
            </a:r>
            <a:r>
              <a:rPr lang="ru-RU" altLang="ru-RU" sz="2400" dirty="0"/>
              <a:t>-преобразование  </a:t>
            </a:r>
            <a:r>
              <a:rPr lang="ru-RU" altLang="ru-RU" sz="2800" b="1" dirty="0"/>
              <a:t>(</a:t>
            </a:r>
            <a:r>
              <a:rPr lang="en-US" altLang="ru-RU" sz="2800" b="1" dirty="0"/>
              <a:t>x-</a:t>
            </a:r>
            <a:r>
              <a:rPr lang="en-US" altLang="ru-RU" sz="2800" b="1" dirty="0">
                <a:sym typeface="Symbol" panose="05050102010706020507" pitchFamily="18" charset="2"/>
              </a:rPr>
              <a:t>)/</a:t>
            </a:r>
            <a:r>
              <a:rPr lang="ru-RU" altLang="ru-RU" sz="2800" b="1" dirty="0"/>
              <a:t> </a:t>
            </a:r>
            <a:r>
              <a:rPr lang="ru-RU" altLang="ru-RU" sz="2400" dirty="0"/>
              <a:t>(с</a:t>
            </a:r>
            <a:r>
              <a:rPr lang="en-US" altLang="ru-RU" sz="2400" dirty="0"/>
              <a:t> </a:t>
            </a:r>
            <a:r>
              <a:rPr lang="ru-RU" altLang="ru-RU" sz="2400" dirty="0"/>
              <a:t>тем, чтобы приблизить их к нормальному распределению) ко всем возможным измерениям</a:t>
            </a:r>
            <a:r>
              <a:rPr lang="en-US" altLang="ru-RU" sz="2400" dirty="0"/>
              <a:t> </a:t>
            </a:r>
            <a:r>
              <a:rPr lang="ru-RU" altLang="ru-RU" sz="2400" dirty="0"/>
              <a:t>свойств. Тогда каждое свойство будет иметь среднее </a:t>
            </a:r>
            <a:r>
              <a:rPr lang="ru-RU" altLang="ru-RU" sz="2400" b="1" dirty="0"/>
              <a:t>0</a:t>
            </a:r>
            <a:r>
              <a:rPr lang="ru-RU" altLang="ru-RU" sz="2400" dirty="0"/>
              <a:t> и сигму </a:t>
            </a:r>
            <a:r>
              <a:rPr lang="ru-RU" altLang="ru-RU" sz="2400" b="1" dirty="0"/>
              <a:t>1</a:t>
            </a:r>
            <a:r>
              <a:rPr lang="ru-RU" altLang="ru-RU" sz="2400" dirty="0"/>
              <a:t> – это называется </a:t>
            </a:r>
            <a:r>
              <a:rPr lang="ru-RU" altLang="ru-RU" sz="2400" b="1" i="1" dirty="0"/>
              <a:t>единичным</a:t>
            </a:r>
            <a:r>
              <a:rPr lang="en-US" altLang="ru-RU" sz="2400" b="1" i="1" dirty="0"/>
              <a:t> </a:t>
            </a:r>
            <a:r>
              <a:rPr lang="ru-RU" altLang="ru-RU" sz="2400" b="1" i="1" dirty="0"/>
              <a:t>нормальным распределением, которое используется как эталон.</a:t>
            </a:r>
            <a:endParaRPr lang="ru-RU" altLang="ru-RU" sz="2400" dirty="0"/>
          </a:p>
        </p:txBody>
      </p:sp>
      <p:sp>
        <p:nvSpPr>
          <p:cNvPr id="19463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pic>
        <p:nvPicPr>
          <p:cNvPr id="1946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524" y="3492840"/>
            <a:ext cx="3995663" cy="2768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5" name="TextBox 9"/>
          <p:cNvSpPr txBox="1">
            <a:spLocks noChangeArrowheads="1"/>
          </p:cNvSpPr>
          <p:nvPr/>
        </p:nvSpPr>
        <p:spPr bwMode="auto">
          <a:xfrm>
            <a:off x="5181997" y="3206515"/>
            <a:ext cx="6192688" cy="3539430"/>
          </a:xfrm>
          <a:prstGeom prst="rect">
            <a:avLst/>
          </a:prstGeom>
          <a:noFill/>
          <a:ln w="9525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/>
              <a:t>Площадь под кривой интерпретируется как вероятность или относительная частота.</a:t>
            </a:r>
          </a:p>
          <a:p>
            <a:pPr eaLnBrk="1" hangingPunct="1"/>
            <a:r>
              <a:rPr lang="ru-RU" altLang="ru-RU" dirty="0"/>
              <a:t>Полезно знать, что если распределение является нормальным, то:</a:t>
            </a:r>
          </a:p>
          <a:p>
            <a:pPr lvl="1" eaLnBrk="1" hangingPunct="1"/>
            <a:r>
              <a:rPr lang="ru-RU" altLang="ru-RU" dirty="0"/>
              <a:t>90% всех случаев располагается в диапазоне значений </a:t>
            </a:r>
            <a:r>
              <a:rPr lang="ru-RU" sz="2800" b="1" i="1" dirty="0">
                <a:sym typeface="Symbol" panose="05050102010706020507" pitchFamily="18" charset="2"/>
              </a:rPr>
              <a:t></a:t>
            </a:r>
            <a:r>
              <a:rPr lang="ru-RU" altLang="ru-RU" sz="2800" dirty="0"/>
              <a:t> </a:t>
            </a:r>
            <a:r>
              <a:rPr lang="ru-RU" altLang="ru-RU" dirty="0"/>
              <a:t>(среднее) ± 1,64 </a:t>
            </a:r>
            <a:r>
              <a:rPr lang="ru-RU" altLang="ru-RU" sz="2800" b="1" dirty="0"/>
              <a:t>σ</a:t>
            </a:r>
            <a:r>
              <a:rPr lang="ru-RU" altLang="ru-RU" dirty="0"/>
              <a:t> (сигма);</a:t>
            </a:r>
          </a:p>
          <a:p>
            <a:pPr lvl="1" eaLnBrk="1" hangingPunct="1"/>
            <a:r>
              <a:rPr lang="ru-RU" altLang="ru-RU" dirty="0"/>
              <a:t>95% всех случаев располагается в диапазоне значений </a:t>
            </a:r>
            <a:r>
              <a:rPr lang="ru-RU" sz="2800" b="1" i="1" dirty="0">
                <a:sym typeface="Symbol" panose="05050102010706020507" pitchFamily="18" charset="2"/>
              </a:rPr>
              <a:t></a:t>
            </a:r>
            <a:r>
              <a:rPr lang="ru-RU" altLang="ru-RU" dirty="0"/>
              <a:t> (среднее) ± 1,96 </a:t>
            </a:r>
            <a:r>
              <a:rPr lang="ru-RU" altLang="ru-RU" sz="2800" b="1" dirty="0"/>
              <a:t>σ</a:t>
            </a:r>
            <a:r>
              <a:rPr lang="ru-RU" altLang="ru-RU" dirty="0"/>
              <a:t> (сигма);</a:t>
            </a:r>
          </a:p>
          <a:p>
            <a:pPr lvl="1" eaLnBrk="1" hangingPunct="1"/>
            <a:r>
              <a:rPr lang="ru-RU" altLang="ru-RU" dirty="0"/>
              <a:t>99% всех случаев располагается в диапазоне значений </a:t>
            </a:r>
            <a:r>
              <a:rPr lang="ru-RU" sz="2800" b="1" i="1" dirty="0">
                <a:sym typeface="Symbol" panose="05050102010706020507" pitchFamily="18" charset="2"/>
              </a:rPr>
              <a:t></a:t>
            </a:r>
            <a:r>
              <a:rPr lang="ru-RU" altLang="ru-RU" sz="2800" dirty="0"/>
              <a:t> </a:t>
            </a:r>
            <a:r>
              <a:rPr lang="ru-RU" altLang="ru-RU" dirty="0"/>
              <a:t>(среднее) ± 2,58</a:t>
            </a:r>
            <a:r>
              <a:rPr lang="ru-RU" altLang="ru-RU" sz="2800" dirty="0"/>
              <a:t> </a:t>
            </a:r>
            <a:r>
              <a:rPr lang="ru-RU" altLang="ru-RU" sz="2800" b="1" dirty="0"/>
              <a:t>σ</a:t>
            </a:r>
            <a:r>
              <a:rPr lang="ru-RU" altLang="ru-RU" sz="2800" dirty="0"/>
              <a:t> </a:t>
            </a:r>
            <a:r>
              <a:rPr lang="ru-RU" altLang="ru-RU" dirty="0"/>
              <a:t>(сигма).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27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2239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 b="1" dirty="0">
              <a:solidFill>
                <a:schemeClr val="bg1"/>
              </a:solidFill>
            </a:endParaRPr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33626" y="501650"/>
            <a:ext cx="7643812" cy="901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ru-RU" altLang="ru-RU" sz="3600" dirty="0"/>
              <a:t>Уровень статистической достоверности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711479" y="1504891"/>
            <a:ext cx="11539403" cy="43625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2200" dirty="0"/>
              <a:t>Статистическая значимость или р-уровень значимости - основной результат проверки статистической гипотезы.</a:t>
            </a:r>
          </a:p>
          <a:p>
            <a:pPr eaLnBrk="1" hangingPunct="1"/>
            <a:r>
              <a:rPr lang="ru-RU" altLang="ru-RU" sz="2200" dirty="0"/>
              <a:t>Предположим, при сравнении двух выборочных средних было получено значение уровня статистической значимости </a:t>
            </a:r>
            <a:r>
              <a:rPr lang="ru-RU" altLang="ru-RU" sz="2200" b="1" i="1" dirty="0"/>
              <a:t>р=0,05</a:t>
            </a:r>
            <a:r>
              <a:rPr lang="ru-RU" altLang="ru-RU" sz="2200" dirty="0"/>
              <a:t>. Это значит, что проверка статистической гипотезы о равенстве средних в генеральной совокупности показала, что если она верна, то вероятность случайного появления обнаруженных различий составляет не более </a:t>
            </a:r>
            <a:r>
              <a:rPr lang="ru-RU" altLang="ru-RU" sz="2200" b="1" i="1" dirty="0"/>
              <a:t>5%.</a:t>
            </a:r>
          </a:p>
          <a:p>
            <a:pPr marL="0" indent="0">
              <a:buNone/>
            </a:pPr>
            <a:endParaRPr lang="ru-RU" sz="2200" dirty="0"/>
          </a:p>
        </p:txBody>
      </p:sp>
      <p:sp>
        <p:nvSpPr>
          <p:cNvPr id="20487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28</a:t>
            </a:fld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CD00F9-3945-4770-9207-C91B31BF23A5}"/>
              </a:ext>
            </a:extLst>
          </p:cNvPr>
          <p:cNvSpPr txBox="1"/>
          <p:nvPr/>
        </p:nvSpPr>
        <p:spPr>
          <a:xfrm>
            <a:off x="1074539" y="4048513"/>
            <a:ext cx="10813282" cy="178510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ru-RU" sz="2200" b="1" i="1" dirty="0"/>
              <a:t>Уровень значимости</a:t>
            </a:r>
            <a:r>
              <a:rPr lang="ru-RU" sz="2200" i="1" dirty="0"/>
              <a:t> – это вероятность ошибочного отклонения (отвержения) гипотезы, в то время как она на самом деле верна. Речь идёт об отклонении нулевой гипотезы </a:t>
            </a:r>
            <a:r>
              <a:rPr lang="ru-RU" sz="2200" b="1" i="1" dirty="0"/>
              <a:t>Н</a:t>
            </a:r>
            <a:r>
              <a:rPr lang="ru-RU" sz="2200" b="1" i="1" baseline="-25000" dirty="0"/>
              <a:t>о</a:t>
            </a:r>
            <a:r>
              <a:rPr lang="ru-RU" sz="2200" i="1" dirty="0"/>
              <a:t>.</a:t>
            </a:r>
            <a:endParaRPr lang="ru-RU" sz="2200" dirty="0"/>
          </a:p>
          <a:p>
            <a:r>
              <a:rPr lang="ru-RU" sz="2200" b="1" i="1" dirty="0"/>
              <a:t>Уровень значимости</a:t>
            </a:r>
            <a:r>
              <a:rPr lang="ru-RU" sz="2200" i="1" dirty="0"/>
              <a:t> – это допустимая ошибка в нашем утверждении, в нашем выводе. </a:t>
            </a:r>
            <a:endParaRPr lang="ru-RU" sz="2200" dirty="0"/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2239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33626" y="501650"/>
            <a:ext cx="7643812" cy="901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ru-RU" altLang="ru-RU" sz="3600" dirty="0"/>
              <a:t>Уровень статистической достоверности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1477" y="1504952"/>
            <a:ext cx="11533362" cy="4716463"/>
          </a:xfrm>
          <a:ln>
            <a:miter lim="800000"/>
            <a:headEnd/>
            <a:tailEnd/>
          </a:ln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2200" b="1" i="1" dirty="0"/>
              <a:t>В отношении научной гипотезы уровень статистической значимости </a:t>
            </a:r>
            <a:r>
              <a:rPr lang="ru-RU" altLang="ru-RU" sz="2200" dirty="0"/>
              <a:t>– это </a:t>
            </a:r>
            <a:r>
              <a:rPr lang="ru-RU" altLang="ru-RU" sz="2200" b="1" i="1" dirty="0"/>
              <a:t>количественный показатель </a:t>
            </a:r>
            <a:r>
              <a:rPr lang="ru-RU" altLang="ru-RU" sz="2200" b="1" i="1" dirty="0">
                <a:solidFill>
                  <a:srgbClr val="FF5050"/>
                </a:solidFill>
              </a:rPr>
              <a:t>степени недоверия</a:t>
            </a:r>
            <a:r>
              <a:rPr lang="ru-RU" altLang="ru-RU" sz="2200" b="1" i="1" dirty="0"/>
              <a:t> к выводу о наличии связи</a:t>
            </a:r>
            <a:r>
              <a:rPr lang="ru-RU" altLang="ru-RU" sz="2200" dirty="0"/>
              <a:t>, вычисленный по результатам выборочной, эмпирической проверки этой гипотезы. Чем меньше значение </a:t>
            </a:r>
            <a:r>
              <a:rPr lang="ru-RU" altLang="ru-RU" sz="2200" b="1" i="1" dirty="0"/>
              <a:t>р-уровня</a:t>
            </a:r>
            <a:r>
              <a:rPr lang="ru-RU" altLang="ru-RU" sz="2200" dirty="0"/>
              <a:t>, тем выше статистическая значимость результата исследования, подтверждающего научную гипотезу.</a:t>
            </a:r>
          </a:p>
          <a:p>
            <a:pPr eaLnBrk="1" hangingPunct="1">
              <a:buFontTx/>
              <a:buNone/>
            </a:pPr>
            <a:endParaRPr lang="ru-RU" altLang="ru-RU" sz="2200" dirty="0"/>
          </a:p>
          <a:p>
            <a:pPr eaLnBrk="1" hangingPunct="1"/>
            <a:r>
              <a:rPr lang="ru-RU" altLang="ru-RU" sz="2200" dirty="0"/>
              <a:t>Уровень значимости при прочих равных условиях выше (значение </a:t>
            </a:r>
            <a:r>
              <a:rPr lang="ru-RU" altLang="ru-RU" sz="2200" b="1" i="1" dirty="0"/>
              <a:t>р-уровня</a:t>
            </a:r>
            <a:r>
              <a:rPr lang="ru-RU" altLang="ru-RU" sz="2200" dirty="0"/>
              <a:t> меньше), если:</a:t>
            </a:r>
          </a:p>
          <a:p>
            <a:pPr lvl="1" eaLnBrk="1" hangingPunct="1"/>
            <a:r>
              <a:rPr lang="ru-RU" altLang="ru-RU" sz="2200" dirty="0"/>
              <a:t>величина связи (различия) больше;</a:t>
            </a:r>
          </a:p>
          <a:p>
            <a:pPr lvl="1" eaLnBrk="1" hangingPunct="1"/>
            <a:r>
              <a:rPr lang="ru-RU" altLang="ru-RU" sz="2200" dirty="0"/>
              <a:t>изменчивость признака (признаков) меньше;</a:t>
            </a:r>
          </a:p>
          <a:p>
            <a:pPr lvl="1" eaLnBrk="1" hangingPunct="1"/>
            <a:r>
              <a:rPr lang="ru-RU" altLang="ru-RU" sz="2200" dirty="0"/>
              <a:t>объем выборки (выборок) больше.</a:t>
            </a:r>
          </a:p>
        </p:txBody>
      </p:sp>
      <p:sp>
        <p:nvSpPr>
          <p:cNvPr id="21511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29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 idx="4294967295"/>
          </p:nvPr>
        </p:nvSpPr>
        <p:spPr bwMode="auto">
          <a:xfrm>
            <a:off x="1509591" y="1330896"/>
            <a:ext cx="9090025" cy="25209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lnSpc>
                <a:spcPct val="80000"/>
              </a:lnSpc>
            </a:pPr>
            <a:r>
              <a:rPr lang="ru-RU" altLang="ru-RU" b="1" dirty="0">
                <a:solidFill>
                  <a:srgbClr val="00B0F0"/>
                </a:solidFill>
              </a:rPr>
              <a:t>Свойства описательных статистик </a:t>
            </a:r>
            <a:br>
              <a:rPr lang="ru-RU" altLang="ru-RU" b="1" dirty="0">
                <a:solidFill>
                  <a:srgbClr val="00B0F0"/>
                </a:solidFill>
              </a:rPr>
            </a:br>
            <a:r>
              <a:rPr lang="ru-RU" altLang="ru-RU" b="1" dirty="0">
                <a:solidFill>
                  <a:srgbClr val="00B0F0"/>
                </a:solidFill>
              </a:rPr>
              <a:t>(Дескриптивный анализ) </a:t>
            </a:r>
            <a:br>
              <a:rPr lang="ru-RU" altLang="ru-RU" b="1" dirty="0">
                <a:solidFill>
                  <a:srgbClr val="00B0F0"/>
                </a:solidFill>
              </a:rPr>
            </a:br>
            <a:endParaRPr lang="ru-RU" altLang="ru-RU" b="1" dirty="0">
              <a:solidFill>
                <a:srgbClr val="00B0F0"/>
              </a:solidFill>
            </a:endParaRPr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58D68ACB-AC3F-46EE-A7A0-2A3A5117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30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2239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9988" y="473075"/>
            <a:ext cx="7643812" cy="901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3600" dirty="0"/>
              <a:t>Свойства описательных статистик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901824" y="2050976"/>
            <a:ext cx="9001130" cy="3671888"/>
          </a:xfrm>
          <a:ln>
            <a:miter lim="800000"/>
            <a:headEnd/>
            <a:tailEnd/>
          </a:ln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2800" dirty="0"/>
              <a:t>Мера центральной тенденции - это число, характеризующее выборку по </a:t>
            </a:r>
            <a:r>
              <a:rPr lang="ru-RU" altLang="ru-RU" sz="2800" b="1" dirty="0">
                <a:solidFill>
                  <a:srgbClr val="FF5050"/>
                </a:solidFill>
              </a:rPr>
              <a:t>уровню выраженности  измеренного признака</a:t>
            </a:r>
            <a:r>
              <a:rPr lang="ru-RU" altLang="ru-RU" sz="2800" dirty="0"/>
              <a:t>.</a:t>
            </a:r>
          </a:p>
          <a:p>
            <a:pPr algn="ctr" eaLnBrk="1" hangingPunct="1">
              <a:buFontTx/>
              <a:buNone/>
            </a:pPr>
            <a:endParaRPr lang="ru-RU" altLang="ru-RU" sz="3200" b="1" dirty="0"/>
          </a:p>
          <a:p>
            <a:pPr algn="ctr" eaLnBrk="1" hangingPunct="1">
              <a:buFontTx/>
              <a:buNone/>
            </a:pPr>
            <a:endParaRPr lang="ru-RU" altLang="ru-RU" sz="3200" b="1" dirty="0"/>
          </a:p>
        </p:txBody>
      </p:sp>
      <p:sp>
        <p:nvSpPr>
          <p:cNvPr id="22535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2470152" y="4241802"/>
            <a:ext cx="8296275" cy="584775"/>
          </a:xfrm>
          <a:prstGeom prst="rect">
            <a:avLst/>
          </a:prstGeom>
          <a:noFill/>
          <a:ln w="9525">
            <a:solidFill>
              <a:srgbClr val="FF5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200" b="1"/>
              <a:t>мода, медиана, выборочное среднее</a:t>
            </a:r>
          </a:p>
        </p:txBody>
      </p:sp>
      <p:sp>
        <p:nvSpPr>
          <p:cNvPr id="8" name="Номер слайда 1">
            <a:extLst>
              <a:ext uri="{FF2B5EF4-FFF2-40B4-BE49-F238E27FC236}">
                <a16:creationId xmlns:a16="http://schemas.microsoft.com/office/drawing/2014/main" id="{A523A23C-CB16-4430-BAE1-C9FC7E5EC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31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2239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4131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738438" y="271463"/>
            <a:ext cx="7643813" cy="9017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9441" tIns="49721" rIns="99441" bIns="49721" rtlCol="0" anchor="ctr">
            <a:normAutofit/>
          </a:bodyPr>
          <a:lstStyle/>
          <a:p>
            <a:pPr eaLnBrk="1" hangingPunct="1"/>
            <a:r>
              <a:rPr lang="ru-RU" altLang="ru-RU" sz="3600" dirty="0"/>
              <a:t>Свойства описательных статистик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005533" y="1233823"/>
            <a:ext cx="11380862" cy="5027613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lIns="99441" tIns="49721" rIns="99441" bIns="49721" rtlCol="0">
            <a:normAutofit/>
          </a:bodyPr>
          <a:lstStyle/>
          <a:p>
            <a:pPr eaLnBrk="1" hangingPunct="1"/>
            <a:r>
              <a:rPr lang="ru-RU" altLang="ru-RU" sz="2400" b="1" dirty="0"/>
              <a:t>Мода - это такое значение из множества измерений, которое встречается наиболее часто. </a:t>
            </a:r>
            <a:r>
              <a:rPr lang="ru-RU" altLang="ru-RU" sz="2400" dirty="0"/>
              <a:t>Моде, или модальному интервалу признака, соответствует наибольший подъем (вершина) графика распределения частот. </a:t>
            </a:r>
          </a:p>
          <a:p>
            <a:pPr lvl="1" eaLnBrk="1" hangingPunct="1"/>
            <a:r>
              <a:rPr lang="ru-RU" altLang="ru-RU" sz="2400" dirty="0"/>
              <a:t>Если график распределения частот имеет одну вершину, то такое распределение называется </a:t>
            </a:r>
            <a:r>
              <a:rPr lang="ru-RU" altLang="ru-RU" sz="2400" b="1" i="1" dirty="0"/>
              <a:t>унимодальным</a:t>
            </a:r>
            <a:r>
              <a:rPr lang="ru-RU" altLang="ru-RU" sz="2400" dirty="0"/>
              <a:t>. </a:t>
            </a:r>
          </a:p>
          <a:p>
            <a:pPr lvl="1" eaLnBrk="1" hangingPunct="1"/>
            <a:r>
              <a:rPr lang="ru-RU" altLang="ru-RU" sz="2400" dirty="0"/>
              <a:t>Когда все значения встречаются одинаково часто, принято считать, что </a:t>
            </a:r>
            <a:r>
              <a:rPr lang="ru-RU" altLang="ru-RU" sz="2400" b="1" i="1" dirty="0"/>
              <a:t>такое распределение не имеет моды</a:t>
            </a:r>
            <a:r>
              <a:rPr lang="ru-RU" altLang="ru-RU" sz="2400" dirty="0"/>
              <a:t>.</a:t>
            </a:r>
          </a:p>
          <a:p>
            <a:pPr lvl="1" eaLnBrk="1" hangingPunct="1"/>
            <a:r>
              <a:rPr lang="ru-RU" altLang="ru-RU" sz="2400" dirty="0"/>
              <a:t>Если распределение имеет несколько мод, то говорят, что оно </a:t>
            </a:r>
            <a:r>
              <a:rPr lang="ru-RU" altLang="ru-RU" sz="2400" b="1" i="1" dirty="0" err="1"/>
              <a:t>мультимодально</a:t>
            </a:r>
            <a:r>
              <a:rPr lang="ru-RU" altLang="ru-RU" sz="2400" dirty="0"/>
              <a:t>  (имеет два или более «пика»). Может служить признаком наличия двух и более различных мнений.</a:t>
            </a:r>
          </a:p>
        </p:txBody>
      </p:sp>
      <p:sp>
        <p:nvSpPr>
          <p:cNvPr id="141319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grpSp>
        <p:nvGrpSpPr>
          <p:cNvPr id="141330" name="Group 18"/>
          <p:cNvGrpSpPr>
            <a:grpSpLocks/>
          </p:cNvGrpSpPr>
          <p:nvPr/>
        </p:nvGrpSpPr>
        <p:grpSpPr bwMode="auto">
          <a:xfrm>
            <a:off x="6988726" y="5328667"/>
            <a:ext cx="2665412" cy="1152525"/>
            <a:chOff x="2830" y="2790"/>
            <a:chExt cx="2494" cy="1178"/>
          </a:xfrm>
        </p:grpSpPr>
        <p:sp>
          <p:nvSpPr>
            <p:cNvPr id="141331" name="Freeform 19"/>
            <p:cNvSpPr>
              <a:spLocks/>
            </p:cNvSpPr>
            <p:nvPr/>
          </p:nvSpPr>
          <p:spPr bwMode="auto">
            <a:xfrm>
              <a:off x="3160" y="2963"/>
              <a:ext cx="1741" cy="957"/>
            </a:xfrm>
            <a:custGeom>
              <a:avLst/>
              <a:gdLst>
                <a:gd name="T0" fmla="*/ 0 w 1678"/>
                <a:gd name="T1" fmla="*/ 921 h 921"/>
                <a:gd name="T2" fmla="*/ 363 w 1678"/>
                <a:gd name="T3" fmla="*/ 60 h 921"/>
                <a:gd name="T4" fmla="*/ 817 w 1678"/>
                <a:gd name="T5" fmla="*/ 559 h 921"/>
                <a:gd name="T6" fmla="*/ 1179 w 1678"/>
                <a:gd name="T7" fmla="*/ 60 h 921"/>
                <a:gd name="T8" fmla="*/ 1678 w 1678"/>
                <a:gd name="T9" fmla="*/ 921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78" h="921">
                  <a:moveTo>
                    <a:pt x="0" y="921"/>
                  </a:moveTo>
                  <a:cubicBezTo>
                    <a:pt x="113" y="520"/>
                    <a:pt x="227" y="120"/>
                    <a:pt x="363" y="60"/>
                  </a:cubicBezTo>
                  <a:cubicBezTo>
                    <a:pt x="499" y="0"/>
                    <a:pt x="681" y="559"/>
                    <a:pt x="817" y="559"/>
                  </a:cubicBezTo>
                  <a:cubicBezTo>
                    <a:pt x="953" y="559"/>
                    <a:pt x="1035" y="0"/>
                    <a:pt x="1179" y="60"/>
                  </a:cubicBezTo>
                  <a:cubicBezTo>
                    <a:pt x="1323" y="120"/>
                    <a:pt x="1595" y="777"/>
                    <a:pt x="1678" y="921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1332" name="Line 20"/>
            <p:cNvSpPr>
              <a:spLocks noChangeShapeType="1"/>
            </p:cNvSpPr>
            <p:nvPr/>
          </p:nvSpPr>
          <p:spPr bwMode="auto">
            <a:xfrm>
              <a:off x="2830" y="3968"/>
              <a:ext cx="24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1333" name="Line 21"/>
            <p:cNvSpPr>
              <a:spLocks noChangeShapeType="1"/>
            </p:cNvSpPr>
            <p:nvPr/>
          </p:nvSpPr>
          <p:spPr bwMode="auto">
            <a:xfrm flipV="1">
              <a:off x="2830" y="2790"/>
              <a:ext cx="0" cy="11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1334" name="Line 22"/>
            <p:cNvSpPr>
              <a:spLocks noChangeShapeType="1"/>
            </p:cNvSpPr>
            <p:nvPr/>
          </p:nvSpPr>
          <p:spPr bwMode="auto">
            <a:xfrm>
              <a:off x="3537" y="3025"/>
              <a:ext cx="0" cy="94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1335" name="Line 23"/>
            <p:cNvSpPr>
              <a:spLocks noChangeShapeType="1"/>
            </p:cNvSpPr>
            <p:nvPr/>
          </p:nvSpPr>
          <p:spPr bwMode="auto">
            <a:xfrm>
              <a:off x="4336" y="3025"/>
              <a:ext cx="0" cy="94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aphicFrame>
        <p:nvGraphicFramePr>
          <p:cNvPr id="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267498"/>
              </p:ext>
            </p:extLst>
          </p:nvPr>
        </p:nvGraphicFramePr>
        <p:xfrm>
          <a:off x="2806554" y="5230814"/>
          <a:ext cx="3425825" cy="137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Номер слайда 1">
            <a:extLst>
              <a:ext uri="{FF2B5EF4-FFF2-40B4-BE49-F238E27FC236}">
                <a16:creationId xmlns:a16="http://schemas.microsoft.com/office/drawing/2014/main" id="{8EF02717-EDE6-4952-A049-433EF61E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32</a:t>
            </a:fld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E4B122-AE5C-4584-8D82-563CB6D83144}"/>
              </a:ext>
            </a:extLst>
          </p:cNvPr>
          <p:cNvSpPr txBox="1"/>
          <p:nvPr/>
        </p:nvSpPr>
        <p:spPr>
          <a:xfrm>
            <a:off x="4427898" y="206017"/>
            <a:ext cx="4165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1600" i="1" dirty="0">
                <a:solidFill>
                  <a:schemeClr val="bg1">
                    <a:lumMod val="75000"/>
                  </a:schemeClr>
                </a:solidFill>
              </a:rPr>
              <a:t>Меры центральной тенденции </a:t>
            </a:r>
            <a:endParaRPr lang="ru-RU" sz="16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7921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92165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010276" y="584897"/>
            <a:ext cx="5000625" cy="7810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9441" tIns="49721" rIns="99441" bIns="49721" rtlCol="0" anchor="ctr">
            <a:normAutofit/>
          </a:bodyPr>
          <a:lstStyle/>
          <a:p>
            <a:pPr eaLnBrk="1" hangingPunct="1"/>
            <a:r>
              <a:rPr lang="ru-RU" altLang="ru-RU" sz="3600" dirty="0"/>
              <a:t>МОДА</a:t>
            </a:r>
            <a:endParaRPr lang="ru-RU" altLang="ru-RU" sz="3200" dirty="0"/>
          </a:p>
        </p:txBody>
      </p:sp>
      <p:sp>
        <p:nvSpPr>
          <p:cNvPr id="92167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92168" name="Rectangle 8"/>
          <p:cNvSpPr>
            <a:spLocks noChangeArrowheads="1"/>
          </p:cNvSpPr>
          <p:nvPr/>
        </p:nvSpPr>
        <p:spPr bwMode="auto">
          <a:xfrm>
            <a:off x="6143627" y="4572002"/>
            <a:ext cx="4438650" cy="4302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92169" name="Rectangle 9"/>
          <p:cNvSpPr>
            <a:spLocks noChangeArrowheads="1"/>
          </p:cNvSpPr>
          <p:nvPr/>
        </p:nvSpPr>
        <p:spPr bwMode="auto">
          <a:xfrm>
            <a:off x="1966913" y="2411415"/>
            <a:ext cx="6192838" cy="72072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92170" name="Rectangle 10"/>
          <p:cNvSpPr>
            <a:spLocks noChangeArrowheads="1"/>
          </p:cNvSpPr>
          <p:nvPr/>
        </p:nvSpPr>
        <p:spPr bwMode="auto">
          <a:xfrm>
            <a:off x="1814576" y="1872457"/>
            <a:ext cx="8894637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73063" indent="-373063" defTabSz="993775" eaLnBrk="0" hangingPunct="0">
              <a:spcBef>
                <a:spcPct val="20000"/>
              </a:spcBef>
              <a:buChar char="•"/>
              <a:defRPr sz="3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8038" indent="-311150" defTabSz="993775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43013" indent="-249238" defTabSz="993775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9900" indent="-247650" defTabSz="993775" eaLnBrk="0" hangingPunct="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36788" indent="-247650" defTabSz="993775" eaLnBrk="0" hangingPunct="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939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511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083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655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ru-RU" altLang="ru-RU" sz="2300" dirty="0"/>
              <a:t>    Выборка: 	</a:t>
            </a:r>
          </a:p>
          <a:p>
            <a:pPr>
              <a:lnSpc>
                <a:spcPct val="90000"/>
              </a:lnSpc>
            </a:pPr>
            <a:endParaRPr lang="ru-RU" altLang="ru-RU" sz="2300" dirty="0"/>
          </a:p>
          <a:p>
            <a:pPr marL="0" indent="0">
              <a:lnSpc>
                <a:spcPct val="90000"/>
              </a:lnSpc>
              <a:buNone/>
            </a:pPr>
            <a:r>
              <a:rPr lang="ru-RU" altLang="ru-RU" sz="2300" dirty="0"/>
              <a:t>      5   4   1   2   4   3   1   2   4   8   3   6   4   1   		</a:t>
            </a:r>
          </a:p>
          <a:p>
            <a:pPr>
              <a:lnSpc>
                <a:spcPct val="90000"/>
              </a:lnSpc>
            </a:pPr>
            <a:endParaRPr lang="ru-RU" altLang="ru-RU" sz="2300" dirty="0"/>
          </a:p>
          <a:p>
            <a:pPr marL="0" indent="0">
              <a:lnSpc>
                <a:spcPct val="90000"/>
              </a:lnSpc>
              <a:buNone/>
            </a:pPr>
            <a:r>
              <a:rPr lang="ru-RU" altLang="ru-RU" sz="2300" dirty="0"/>
              <a:t>					1	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altLang="ru-RU" sz="2300" dirty="0"/>
              <a:t>					2	2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altLang="ru-RU" sz="2300" dirty="0"/>
              <a:t>					3	2	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altLang="ru-RU" sz="2300" dirty="0"/>
              <a:t>					4	4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altLang="ru-RU" sz="2300" dirty="0"/>
              <a:t>					5	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altLang="ru-RU" sz="2300" dirty="0"/>
              <a:t>					6	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altLang="ru-RU" sz="2300" dirty="0"/>
              <a:t>					8	1</a:t>
            </a:r>
          </a:p>
          <a:p>
            <a:pPr>
              <a:lnSpc>
                <a:spcPct val="90000"/>
              </a:lnSpc>
            </a:pPr>
            <a:endParaRPr lang="en-US" altLang="ru-RU" sz="2300" dirty="0"/>
          </a:p>
        </p:txBody>
      </p:sp>
      <p:sp>
        <p:nvSpPr>
          <p:cNvPr id="92171" name="Rectangle 11"/>
          <p:cNvSpPr>
            <a:spLocks noChangeArrowheads="1"/>
          </p:cNvSpPr>
          <p:nvPr/>
        </p:nvSpPr>
        <p:spPr bwMode="auto">
          <a:xfrm>
            <a:off x="9070976" y="4667250"/>
            <a:ext cx="95622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 b="1" dirty="0">
                <a:solidFill>
                  <a:srgbClr val="FF5050"/>
                </a:solidFill>
              </a:rPr>
              <a:t>Мода=4</a:t>
            </a:r>
          </a:p>
        </p:txBody>
      </p:sp>
      <p:sp>
        <p:nvSpPr>
          <p:cNvPr id="92172" name="AutoShape 12"/>
          <p:cNvSpPr>
            <a:spLocks noChangeArrowheads="1"/>
          </p:cNvSpPr>
          <p:nvPr/>
        </p:nvSpPr>
        <p:spPr bwMode="auto">
          <a:xfrm rot="5400000">
            <a:off x="3838576" y="3276602"/>
            <a:ext cx="1944688" cy="1944687"/>
          </a:xfrm>
          <a:custGeom>
            <a:avLst/>
            <a:gdLst>
              <a:gd name="G0" fmla="+- 12025 0 0"/>
              <a:gd name="G1" fmla="+- 18514 0 0"/>
              <a:gd name="G2" fmla="+- 7200 0 0"/>
              <a:gd name="G3" fmla="*/ 12025 1 2"/>
              <a:gd name="G4" fmla="+- G3 10800 0"/>
              <a:gd name="G5" fmla="+- 21600 12025 18514"/>
              <a:gd name="G6" fmla="+- 18514 7200 0"/>
              <a:gd name="G7" fmla="*/ G6 1 2"/>
              <a:gd name="G8" fmla="*/ 1851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8514 1 2"/>
              <a:gd name="G15" fmla="+- G5 0 G4"/>
              <a:gd name="G16" fmla="+- G0 0 G4"/>
              <a:gd name="G17" fmla="*/ G2 G15 G16"/>
              <a:gd name="T0" fmla="*/ 16813 w 21600"/>
              <a:gd name="T1" fmla="*/ 0 h 21600"/>
              <a:gd name="T2" fmla="*/ 12025 w 21600"/>
              <a:gd name="T3" fmla="*/ 7200 h 21600"/>
              <a:gd name="T4" fmla="*/ 0 w 21600"/>
              <a:gd name="T5" fmla="*/ 19615 h 21600"/>
              <a:gd name="T6" fmla="*/ 9257 w 21600"/>
              <a:gd name="T7" fmla="*/ 21600 h 21600"/>
              <a:gd name="T8" fmla="*/ 18514 w 21600"/>
              <a:gd name="T9" fmla="*/ 15000 h 21600"/>
              <a:gd name="T10" fmla="*/ 21600 w 21600"/>
              <a:gd name="T11" fmla="*/ 72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813" y="0"/>
                </a:moveTo>
                <a:lnTo>
                  <a:pt x="12025" y="7200"/>
                </a:lnTo>
                <a:lnTo>
                  <a:pt x="15111" y="7200"/>
                </a:lnTo>
                <a:lnTo>
                  <a:pt x="15111" y="17630"/>
                </a:lnTo>
                <a:lnTo>
                  <a:pt x="0" y="1763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92173" name="Rectangle 13"/>
          <p:cNvSpPr>
            <a:spLocks noChangeArrowheads="1"/>
          </p:cNvSpPr>
          <p:nvPr/>
        </p:nvSpPr>
        <p:spPr bwMode="auto">
          <a:xfrm>
            <a:off x="5351463" y="6326189"/>
            <a:ext cx="47277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800" dirty="0"/>
              <a:t>Наиболее часто встречающееся значение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7126213" y="3110668"/>
            <a:ext cx="146706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 b="1" dirty="0">
                <a:solidFill>
                  <a:srgbClr val="FF5050"/>
                </a:solidFill>
              </a:rPr>
              <a:t>Встречается</a:t>
            </a:r>
          </a:p>
        </p:txBody>
      </p:sp>
      <p:sp>
        <p:nvSpPr>
          <p:cNvPr id="13" name="Номер слайда 1">
            <a:extLst>
              <a:ext uri="{FF2B5EF4-FFF2-40B4-BE49-F238E27FC236}">
                <a16:creationId xmlns:a16="http://schemas.microsoft.com/office/drawing/2014/main" id="{D7117C2F-5B4B-4DC7-A31C-70F53062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33</a:t>
            </a:fld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419FE9-58E2-4075-85D2-02E2CC640158}"/>
              </a:ext>
            </a:extLst>
          </p:cNvPr>
          <p:cNvSpPr txBox="1"/>
          <p:nvPr/>
        </p:nvSpPr>
        <p:spPr>
          <a:xfrm>
            <a:off x="4427898" y="206017"/>
            <a:ext cx="4165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1600" i="1" dirty="0">
                <a:solidFill>
                  <a:schemeClr val="bg1">
                    <a:lumMod val="75000"/>
                  </a:schemeClr>
                </a:solidFill>
              </a:rPr>
              <a:t>Меры центральной тенденции </a:t>
            </a:r>
            <a:endParaRPr lang="ru-RU" sz="16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8" grpId="0" animBg="1"/>
      <p:bldP spid="92169" grpId="0" animBg="1"/>
      <p:bldP spid="92170" grpId="0" build="p"/>
      <p:bldP spid="92171" grpId="0"/>
      <p:bldP spid="92172" grpId="0" animBg="1"/>
      <p:bldP spid="92173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9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7921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09739" y="285750"/>
            <a:ext cx="9248775" cy="901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4400" dirty="0"/>
              <a:t>Свойства моды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7541" y="1704975"/>
            <a:ext cx="10657184" cy="4392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2400" dirty="0"/>
              <a:t>Наличие одного или двух крайних значений, сильно отличающихся от остальных, не влияет на значение моды.</a:t>
            </a:r>
          </a:p>
          <a:p>
            <a:endParaRPr lang="ru-RU" altLang="ru-RU" sz="2400" dirty="0"/>
          </a:p>
          <a:p>
            <a:r>
              <a:rPr lang="ru-RU" altLang="ru-RU" sz="2400" dirty="0"/>
              <a:t>Мода совпадает с точкой наибольшей плотности данных.</a:t>
            </a:r>
          </a:p>
          <a:p>
            <a:endParaRPr lang="ru-RU" altLang="ru-RU" sz="2400" dirty="0"/>
          </a:p>
          <a:p>
            <a:r>
              <a:rPr lang="ru-RU" altLang="ru-RU" sz="2400" dirty="0"/>
              <a:t>Мода может иметь несколько значений.</a:t>
            </a:r>
          </a:p>
          <a:p>
            <a:endParaRPr lang="ru-RU" altLang="ru-RU" sz="2400" dirty="0"/>
          </a:p>
          <a:p>
            <a:r>
              <a:rPr lang="ru-RU" altLang="ru-RU" sz="2400" dirty="0"/>
              <a:t>Мода может существовать для всех типов данных. Единственная мера, которая работает в номинальной шкале!</a:t>
            </a:r>
          </a:p>
        </p:txBody>
      </p:sp>
      <p:sp>
        <p:nvSpPr>
          <p:cNvPr id="6" name="Номер слайда 1">
            <a:extLst>
              <a:ext uri="{FF2B5EF4-FFF2-40B4-BE49-F238E27FC236}">
                <a16:creationId xmlns:a16="http://schemas.microsoft.com/office/drawing/2014/main" id="{E9447266-EF8A-492B-BBD0-CC619E7BA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34</a:t>
            </a:fld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51C417-E65A-4D39-B713-D93E32F85B80}"/>
              </a:ext>
            </a:extLst>
          </p:cNvPr>
          <p:cNvSpPr txBox="1"/>
          <p:nvPr/>
        </p:nvSpPr>
        <p:spPr>
          <a:xfrm>
            <a:off x="4427898" y="206017"/>
            <a:ext cx="4165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1600" i="1" dirty="0">
                <a:solidFill>
                  <a:schemeClr val="bg1">
                    <a:lumMod val="75000"/>
                  </a:schemeClr>
                </a:solidFill>
              </a:rPr>
              <a:t>Меры центральной тенденции </a:t>
            </a:r>
            <a:endParaRPr lang="ru-RU" sz="16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56959" y="480720"/>
            <a:ext cx="7643812" cy="901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4000" dirty="0"/>
              <a:t>Медиана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274937" y="1314243"/>
            <a:ext cx="10873208" cy="23951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ru-RU" altLang="ru-RU" sz="2200" b="1" dirty="0"/>
              <a:t>Медиана - делит упорядоченное (ранжированное) множество данных пополам</a:t>
            </a:r>
            <a:r>
              <a:rPr lang="ru-RU" altLang="ru-RU" sz="2200" dirty="0"/>
              <a:t>, </a:t>
            </a:r>
          </a:p>
          <a:p>
            <a:pPr eaLnBrk="1" hangingPunct="1"/>
            <a:r>
              <a:rPr lang="ru-RU" altLang="ru-RU" sz="2200" dirty="0"/>
              <a:t>таким образом, первым шагом при определении медианы является упорядочивание (ранжирование) всех значений по возрастанию или убыванию. </a:t>
            </a:r>
          </a:p>
          <a:p>
            <a:pPr eaLnBrk="1" hangingPunct="1"/>
            <a:r>
              <a:rPr lang="ru-RU" altLang="ru-RU" sz="2200" dirty="0"/>
              <a:t>Далее медиана определяется следующим образом:</a:t>
            </a:r>
          </a:p>
          <a:p>
            <a:pPr>
              <a:buFontTx/>
              <a:buNone/>
            </a:pPr>
            <a:r>
              <a:rPr lang="ru-RU" altLang="ru-RU" sz="2200" dirty="0"/>
              <a:t>Для набора из </a:t>
            </a:r>
            <a:r>
              <a:rPr lang="en-US" altLang="ru-RU" sz="2200" dirty="0"/>
              <a:t>n </a:t>
            </a:r>
            <a:r>
              <a:rPr lang="ru-RU" altLang="ru-RU" sz="2200" dirty="0"/>
              <a:t>значений, если </a:t>
            </a:r>
            <a:r>
              <a:rPr lang="en-US" altLang="ru-RU" sz="2200" dirty="0"/>
              <a:t>n </a:t>
            </a:r>
            <a:r>
              <a:rPr lang="ru-RU" altLang="ru-RU" sz="2200" dirty="0"/>
              <a:t>нечетно, средний элемент имеет номер:</a:t>
            </a:r>
            <a:endParaRPr lang="en-US" altLang="ru-RU" sz="2200" dirty="0"/>
          </a:p>
          <a:p>
            <a:endParaRPr lang="en-US" altLang="ru-RU" sz="2200" dirty="0"/>
          </a:p>
        </p:txBody>
      </p:sp>
      <p:sp>
        <p:nvSpPr>
          <p:cNvPr id="24583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bg2"/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grpSp>
        <p:nvGrpSpPr>
          <p:cNvPr id="24585" name="Group 9"/>
          <p:cNvGrpSpPr>
            <a:grpSpLocks/>
          </p:cNvGrpSpPr>
          <p:nvPr/>
        </p:nvGrpSpPr>
        <p:grpSpPr bwMode="auto">
          <a:xfrm>
            <a:off x="2241700" y="3563121"/>
            <a:ext cx="8281679" cy="936127"/>
            <a:chOff x="385" y="1882"/>
            <a:chExt cx="5777" cy="730"/>
          </a:xfrm>
        </p:grpSpPr>
        <p:grpSp>
          <p:nvGrpSpPr>
            <p:cNvPr id="24586" name="Group 10"/>
            <p:cNvGrpSpPr>
              <a:grpSpLocks/>
            </p:cNvGrpSpPr>
            <p:nvPr/>
          </p:nvGrpSpPr>
          <p:grpSpPr bwMode="auto">
            <a:xfrm>
              <a:off x="398" y="1882"/>
              <a:ext cx="5742" cy="683"/>
              <a:chOff x="398" y="1882"/>
              <a:chExt cx="5742" cy="683"/>
            </a:xfrm>
          </p:grpSpPr>
          <p:sp>
            <p:nvSpPr>
              <p:cNvPr id="24587" name="Rectangle 11"/>
              <p:cNvSpPr>
                <a:spLocks noChangeArrowheads="1"/>
              </p:cNvSpPr>
              <p:nvPr/>
            </p:nvSpPr>
            <p:spPr bwMode="auto">
              <a:xfrm>
                <a:off x="398" y="2337"/>
                <a:ext cx="2307" cy="228"/>
              </a:xfrm>
              <a:prstGeom prst="rect">
                <a:avLst/>
              </a:prstGeom>
              <a:solidFill>
                <a:srgbClr val="F3D95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4588" name="Rectangle 12"/>
              <p:cNvSpPr>
                <a:spLocks noChangeArrowheads="1"/>
              </p:cNvSpPr>
              <p:nvPr/>
            </p:nvSpPr>
            <p:spPr bwMode="auto">
              <a:xfrm>
                <a:off x="2798" y="2336"/>
                <a:ext cx="612" cy="228"/>
              </a:xfrm>
              <a:prstGeom prst="rect">
                <a:avLst/>
              </a:prstGeom>
              <a:solidFill>
                <a:srgbClr val="F3D95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4924" tIns="47462" rIns="94924" bIns="47462" anchor="ctr"/>
              <a:lstStyle>
                <a:lvl1pPr defTabSz="9493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474663" defTabSz="9493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949325" defTabSz="9493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423988" defTabSz="9493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1898650" defTabSz="949325" eaLnBrk="0" hangingPunct="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355850" defTabSz="949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813050" defTabSz="949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270250" defTabSz="949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727450" defTabSz="94932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ru-RU" altLang="ru-RU" sz="2500">
                  <a:solidFill>
                    <a:srgbClr val="697F93"/>
                  </a:solidFill>
                </a:endParaRPr>
              </a:p>
            </p:txBody>
          </p:sp>
          <p:sp>
            <p:nvSpPr>
              <p:cNvPr id="24589" name="Rectangle 13"/>
              <p:cNvSpPr>
                <a:spLocks noChangeArrowheads="1"/>
              </p:cNvSpPr>
              <p:nvPr/>
            </p:nvSpPr>
            <p:spPr bwMode="auto">
              <a:xfrm>
                <a:off x="3503" y="2336"/>
                <a:ext cx="2637" cy="228"/>
              </a:xfrm>
              <a:prstGeom prst="rect">
                <a:avLst/>
              </a:prstGeom>
              <a:solidFill>
                <a:srgbClr val="F3D95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graphicFrame>
            <p:nvGraphicFramePr>
              <p:cNvPr id="24590" name="Object 14"/>
              <p:cNvGraphicFramePr>
                <a:graphicFrameLocks noChangeAspect="1"/>
              </p:cNvGraphicFramePr>
              <p:nvPr/>
            </p:nvGraphicFramePr>
            <p:xfrm>
              <a:off x="2919" y="1882"/>
              <a:ext cx="392" cy="4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037" name="Уравнение" r:id="rId4" imgW="380880" imgH="444240" progId="Equation.3">
                      <p:embed/>
                    </p:oleObj>
                  </mc:Choice>
                  <mc:Fallback>
                    <p:oleObj name="Уравнение" r:id="rId4" imgW="380880" imgH="444240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9" y="1882"/>
                            <a:ext cx="392" cy="45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591" name="Text Box 15"/>
            <p:cNvSpPr txBox="1">
              <a:spLocks noChangeArrowheads="1"/>
            </p:cNvSpPr>
            <p:nvPr/>
          </p:nvSpPr>
          <p:spPr bwMode="auto">
            <a:xfrm>
              <a:off x="385" y="2301"/>
              <a:ext cx="229" cy="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24" tIns="47462" rIns="94924" bIns="47462">
              <a:spAutoFit/>
            </a:bodyPr>
            <a:lstStyle>
              <a:lvl1pPr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74663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949325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423988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898650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3558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8130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2702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7274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ru-RU" altLang="ru-RU" sz="1900" dirty="0"/>
                <a:t>1</a:t>
              </a:r>
            </a:p>
          </p:txBody>
        </p:sp>
        <p:sp>
          <p:nvSpPr>
            <p:cNvPr id="24592" name="Text Box 16"/>
            <p:cNvSpPr txBox="1">
              <a:spLocks noChangeArrowheads="1"/>
            </p:cNvSpPr>
            <p:nvPr/>
          </p:nvSpPr>
          <p:spPr bwMode="auto">
            <a:xfrm>
              <a:off x="5904" y="2237"/>
              <a:ext cx="258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24" tIns="47462" rIns="94924" bIns="47462">
              <a:spAutoFit/>
            </a:bodyPr>
            <a:lstStyle>
              <a:lvl1pPr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74663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949325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423988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898650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3558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8130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2702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7274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ru-RU" sz="2500"/>
                <a:t>n</a:t>
              </a:r>
              <a:endParaRPr lang="ru-RU" altLang="ru-RU" sz="2500"/>
            </a:p>
          </p:txBody>
        </p:sp>
      </p:grpSp>
      <p:grpSp>
        <p:nvGrpSpPr>
          <p:cNvPr id="24593" name="Group 17"/>
          <p:cNvGrpSpPr>
            <a:grpSpLocks/>
          </p:cNvGrpSpPr>
          <p:nvPr/>
        </p:nvGrpSpPr>
        <p:grpSpPr bwMode="auto">
          <a:xfrm>
            <a:off x="2071561" y="5589757"/>
            <a:ext cx="8439028" cy="1040291"/>
            <a:chOff x="398" y="3197"/>
            <a:chExt cx="5758" cy="794"/>
          </a:xfrm>
        </p:grpSpPr>
        <p:sp>
          <p:nvSpPr>
            <p:cNvPr id="24594" name="Rectangle 18"/>
            <p:cNvSpPr>
              <a:spLocks noChangeArrowheads="1"/>
            </p:cNvSpPr>
            <p:nvPr/>
          </p:nvSpPr>
          <p:spPr bwMode="auto">
            <a:xfrm>
              <a:off x="398" y="3688"/>
              <a:ext cx="2307" cy="188"/>
            </a:xfrm>
            <a:prstGeom prst="rect">
              <a:avLst/>
            </a:prstGeom>
            <a:solidFill>
              <a:srgbClr val="F3D95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4595" name="Rectangle 19"/>
            <p:cNvSpPr>
              <a:spLocks noChangeArrowheads="1"/>
            </p:cNvSpPr>
            <p:nvPr/>
          </p:nvSpPr>
          <p:spPr bwMode="auto">
            <a:xfrm>
              <a:off x="2751" y="3687"/>
              <a:ext cx="330" cy="188"/>
            </a:xfrm>
            <a:prstGeom prst="rect">
              <a:avLst/>
            </a:prstGeom>
            <a:solidFill>
              <a:srgbClr val="F3D95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24" tIns="47462" rIns="94924" bIns="47462" anchor="ctr"/>
            <a:lstStyle>
              <a:lvl1pPr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74663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949325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423988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898650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3558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8130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2702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7274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ru-RU" altLang="ru-RU" sz="2500">
                <a:solidFill>
                  <a:srgbClr val="697F93"/>
                </a:solidFill>
              </a:endParaRPr>
            </a:p>
          </p:txBody>
        </p:sp>
        <p:sp>
          <p:nvSpPr>
            <p:cNvPr id="24596" name="Rectangle 20"/>
            <p:cNvSpPr>
              <a:spLocks noChangeArrowheads="1"/>
            </p:cNvSpPr>
            <p:nvPr/>
          </p:nvSpPr>
          <p:spPr bwMode="auto">
            <a:xfrm>
              <a:off x="3503" y="3687"/>
              <a:ext cx="2637" cy="188"/>
            </a:xfrm>
            <a:prstGeom prst="rect">
              <a:avLst/>
            </a:prstGeom>
            <a:solidFill>
              <a:srgbClr val="F3D95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graphicFrame>
          <p:nvGraphicFramePr>
            <p:cNvPr id="24597" name="Object 21"/>
            <p:cNvGraphicFramePr>
              <a:graphicFrameLocks noChangeAspect="1"/>
            </p:cNvGraphicFramePr>
            <p:nvPr/>
          </p:nvGraphicFramePr>
          <p:xfrm>
            <a:off x="2715" y="3197"/>
            <a:ext cx="170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38" name="Уравнение" r:id="rId6" imgW="164880" imgH="444240" progId="Equation.3">
                    <p:embed/>
                  </p:oleObj>
                </mc:Choice>
                <mc:Fallback>
                  <p:oleObj name="Уравнение" r:id="rId6" imgW="164880" imgH="44424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5" y="3197"/>
                          <a:ext cx="170" cy="4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8" name="Rectangle 22"/>
            <p:cNvSpPr>
              <a:spLocks noChangeArrowheads="1"/>
            </p:cNvSpPr>
            <p:nvPr/>
          </p:nvSpPr>
          <p:spPr bwMode="auto">
            <a:xfrm>
              <a:off x="3127" y="3687"/>
              <a:ext cx="330" cy="188"/>
            </a:xfrm>
            <a:prstGeom prst="rect">
              <a:avLst/>
            </a:prstGeom>
            <a:solidFill>
              <a:srgbClr val="F3D95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24" tIns="47462" rIns="94924" bIns="47462" anchor="ctr"/>
            <a:lstStyle>
              <a:lvl1pPr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74663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949325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423988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898650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3558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8130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2702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7274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ru-RU" altLang="ru-RU" sz="2500">
                <a:solidFill>
                  <a:srgbClr val="697F93"/>
                </a:solidFill>
              </a:endParaRPr>
            </a:p>
          </p:txBody>
        </p:sp>
        <p:graphicFrame>
          <p:nvGraphicFramePr>
            <p:cNvPr id="24599" name="Object 23"/>
            <p:cNvGraphicFramePr>
              <a:graphicFrameLocks noChangeAspect="1"/>
            </p:cNvGraphicFramePr>
            <p:nvPr/>
          </p:nvGraphicFramePr>
          <p:xfrm>
            <a:off x="3117" y="3197"/>
            <a:ext cx="392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39" name="Уравнение" r:id="rId8" imgW="380880" imgH="444240" progId="Equation.3">
                    <p:embed/>
                  </p:oleObj>
                </mc:Choice>
                <mc:Fallback>
                  <p:oleObj name="Уравнение" r:id="rId8" imgW="380880" imgH="44424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7" y="3197"/>
                          <a:ext cx="392" cy="4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0" name="Text Box 24"/>
            <p:cNvSpPr txBox="1">
              <a:spLocks noChangeArrowheads="1"/>
            </p:cNvSpPr>
            <p:nvPr/>
          </p:nvSpPr>
          <p:spPr bwMode="auto">
            <a:xfrm>
              <a:off x="398" y="3624"/>
              <a:ext cx="252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24" tIns="47462" rIns="94924" bIns="47462">
              <a:spAutoFit/>
            </a:bodyPr>
            <a:lstStyle>
              <a:lvl1pPr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74663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949325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423988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898650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3558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8130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2702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7274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ru-RU" altLang="ru-RU" sz="2500"/>
                <a:t>1</a:t>
              </a:r>
            </a:p>
          </p:txBody>
        </p:sp>
        <p:sp>
          <p:nvSpPr>
            <p:cNvPr id="24601" name="Text Box 25"/>
            <p:cNvSpPr txBox="1">
              <a:spLocks noChangeArrowheads="1"/>
            </p:cNvSpPr>
            <p:nvPr/>
          </p:nvSpPr>
          <p:spPr bwMode="auto">
            <a:xfrm>
              <a:off x="5904" y="3574"/>
              <a:ext cx="252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24" tIns="47462" rIns="94924" bIns="47462">
              <a:spAutoFit/>
            </a:bodyPr>
            <a:lstStyle>
              <a:lvl1pPr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74663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949325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423988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898650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3558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8130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2702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7274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ru-RU" sz="2500" dirty="0"/>
                <a:t>n</a:t>
              </a:r>
              <a:endParaRPr lang="ru-RU" altLang="ru-RU" sz="2500" dirty="0"/>
            </a:p>
          </p:txBody>
        </p:sp>
      </p:grp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35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46770" y="4905325"/>
            <a:ext cx="88122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ru-RU" altLang="ru-RU" sz="1800" dirty="0"/>
              <a:t>Если </a:t>
            </a:r>
            <a:r>
              <a:rPr lang="en-US" altLang="ru-RU" sz="1800" dirty="0"/>
              <a:t>n </a:t>
            </a:r>
            <a:r>
              <a:rPr lang="ru-RU" altLang="ru-RU" sz="1800" dirty="0"/>
              <a:t>четно, медиана находится как среднее арифметическое двух соседних серединных элементов:</a:t>
            </a:r>
          </a:p>
          <a:p>
            <a:pPr>
              <a:buFontTx/>
              <a:buNone/>
            </a:pPr>
            <a:endParaRPr lang="ru-RU" altLang="ru-RU" sz="1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DF6186-E970-49CB-A3DA-3A069DF3F357}"/>
              </a:ext>
            </a:extLst>
          </p:cNvPr>
          <p:cNvSpPr txBox="1"/>
          <p:nvPr/>
        </p:nvSpPr>
        <p:spPr>
          <a:xfrm>
            <a:off x="4427898" y="206017"/>
            <a:ext cx="4165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1600" i="1" dirty="0">
                <a:solidFill>
                  <a:schemeClr val="bg1">
                    <a:lumMod val="75000"/>
                  </a:schemeClr>
                </a:solidFill>
              </a:rPr>
              <a:t>Меры центральной тенденции </a:t>
            </a:r>
            <a:endParaRPr lang="ru-RU" sz="16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3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149550" y="1446214"/>
            <a:ext cx="10657184" cy="1684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2300" b="1" dirty="0"/>
              <a:t>Вариационный ряд </a:t>
            </a:r>
            <a:r>
              <a:rPr lang="ru-RU" altLang="ru-RU" sz="2300" dirty="0"/>
              <a:t>- упорядоченные данные, расположенные в порядке возрастания значения признака, либо в порядке убывания.</a:t>
            </a:r>
          </a:p>
          <a:p>
            <a:r>
              <a:rPr lang="ru-RU" altLang="ru-RU" sz="2300" dirty="0"/>
              <a:t>Назван так, поскольку содержит </a:t>
            </a:r>
            <a:r>
              <a:rPr lang="ru-RU" altLang="ru-RU" sz="2300" b="1" dirty="0"/>
              <a:t>варианты </a:t>
            </a:r>
            <a:r>
              <a:rPr lang="ru-RU" altLang="ru-RU" sz="2300" dirty="0"/>
              <a:t>значений признака.</a:t>
            </a:r>
          </a:p>
        </p:txBody>
      </p:sp>
      <p:sp>
        <p:nvSpPr>
          <p:cNvPr id="99336" name="Rectangle 2"/>
          <p:cNvSpPr>
            <a:spLocks noChangeArrowheads="1"/>
          </p:cNvSpPr>
          <p:nvPr/>
        </p:nvSpPr>
        <p:spPr bwMode="auto">
          <a:xfrm>
            <a:off x="2333626" y="501650"/>
            <a:ext cx="7643812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41" tIns="49721" rIns="99441" bIns="49721"/>
          <a:lstStyle>
            <a:lvl1pPr algn="ctr" defTabSz="993775" eaLnBrk="0" hangingPunct="0"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 defTabSz="993775" eaLnBrk="0" hangingPunct="0"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defTabSz="993775" eaLnBrk="0" hangingPunct="0"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defTabSz="993775" eaLnBrk="0" hangingPunct="0"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defTabSz="993775" eaLnBrk="0" hangingPunct="0"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defTabSz="993775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defTabSz="993775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defTabSz="993775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defTabSz="993775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600" dirty="0">
                <a:solidFill>
                  <a:schemeClr val="tx1"/>
                </a:solidFill>
              </a:rPr>
              <a:t>Медиана</a:t>
            </a:r>
            <a:endParaRPr lang="ru-RU" altLang="ru-RU" sz="3600" dirty="0"/>
          </a:p>
        </p:txBody>
      </p:sp>
      <p:sp>
        <p:nvSpPr>
          <p:cNvPr id="99337" name="Прямоугольник 7"/>
          <p:cNvSpPr>
            <a:spLocks noChangeArrowheads="1"/>
          </p:cNvSpPr>
          <p:nvPr/>
        </p:nvSpPr>
        <p:spPr bwMode="auto">
          <a:xfrm>
            <a:off x="4810918" y="-5318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bg2"/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99338" name="Rectangle 10"/>
          <p:cNvSpPr>
            <a:spLocks noChangeArrowheads="1"/>
          </p:cNvSpPr>
          <p:nvPr/>
        </p:nvSpPr>
        <p:spPr bwMode="auto">
          <a:xfrm>
            <a:off x="1653605" y="3130552"/>
            <a:ext cx="9073135" cy="1223963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4924" tIns="47462" rIns="94924" bIns="47462"/>
          <a:lstStyle>
            <a:lvl1pPr marL="373063" indent="-373063" defTabSz="993775" eaLnBrk="0" hangingPunct="0">
              <a:spcBef>
                <a:spcPct val="20000"/>
              </a:spcBef>
              <a:buChar char="•"/>
              <a:defRPr sz="3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8038" indent="-311150" defTabSz="993775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43013" indent="-249238" defTabSz="993775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9900" indent="-247650" defTabSz="993775" eaLnBrk="0" hangingPunct="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36788" indent="-247650" defTabSz="993775" eaLnBrk="0" hangingPunct="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939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511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083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655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ru-RU" altLang="ru-RU" sz="2100" dirty="0"/>
              <a:t>Набор данных:         		</a:t>
            </a:r>
            <a:r>
              <a:rPr lang="ru-RU" altLang="ru-RU" sz="2100" b="1" i="1" dirty="0">
                <a:solidFill>
                  <a:schemeClr val="tx2"/>
                </a:solidFill>
              </a:rPr>
              <a:t>	           </a:t>
            </a:r>
            <a:r>
              <a:rPr lang="ru-RU" altLang="ru-RU" sz="2100" b="1" i="1" dirty="0">
                <a:solidFill>
                  <a:schemeClr val="hlink"/>
                </a:solidFill>
              </a:rPr>
              <a:t>6  1  3  7  1  7  3 7 8</a:t>
            </a:r>
            <a:r>
              <a:rPr lang="ru-RU" altLang="ru-RU" sz="2100" b="1" i="1" dirty="0">
                <a:solidFill>
                  <a:schemeClr val="tx2"/>
                </a:solidFill>
              </a:rPr>
              <a:t> </a:t>
            </a:r>
          </a:p>
          <a:p>
            <a:pPr>
              <a:buFontTx/>
              <a:buNone/>
            </a:pPr>
            <a:r>
              <a:rPr lang="ru-RU" altLang="ru-RU" sz="2100" dirty="0"/>
              <a:t>После упорядочения получим </a:t>
            </a:r>
          </a:p>
          <a:p>
            <a:pPr>
              <a:buFontTx/>
              <a:buNone/>
            </a:pPr>
            <a:r>
              <a:rPr lang="ru-RU" altLang="ru-RU" sz="2100" dirty="0"/>
              <a:t>вариационный ряд (в порядке возрастания):    </a:t>
            </a:r>
            <a:r>
              <a:rPr lang="ru-RU" altLang="ru-RU" sz="2100" b="1" i="1" dirty="0">
                <a:solidFill>
                  <a:schemeClr val="hlink"/>
                </a:solidFill>
              </a:rPr>
              <a:t>1  1  3  3  6  7  7 7 8</a:t>
            </a:r>
            <a:endParaRPr lang="ru-RU" altLang="ru-RU" sz="2100" dirty="0"/>
          </a:p>
        </p:txBody>
      </p:sp>
      <p:sp>
        <p:nvSpPr>
          <p:cNvPr id="99339" name="Rectangle 11"/>
          <p:cNvSpPr>
            <a:spLocks noChangeArrowheads="1"/>
          </p:cNvSpPr>
          <p:nvPr/>
        </p:nvSpPr>
        <p:spPr bwMode="auto">
          <a:xfrm>
            <a:off x="1653605" y="4427539"/>
            <a:ext cx="9073135" cy="792162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4924" tIns="47462" rIns="94924" bIns="47462"/>
          <a:lstStyle>
            <a:lvl1pPr marL="373063" indent="-373063" defTabSz="993775" eaLnBrk="0" hangingPunct="0">
              <a:spcBef>
                <a:spcPct val="20000"/>
              </a:spcBef>
              <a:buChar char="•"/>
              <a:defRPr sz="3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8038" indent="-311150" defTabSz="993775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43013" indent="-249238" defTabSz="993775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9900" indent="-247650" defTabSz="993775" eaLnBrk="0" hangingPunct="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36788" indent="-247650" defTabSz="993775" eaLnBrk="0" hangingPunct="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939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511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083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655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ru-RU" altLang="ru-RU" sz="2100" dirty="0"/>
              <a:t>Ранжированный операционный ряд: </a:t>
            </a:r>
          </a:p>
          <a:p>
            <a:pPr>
              <a:buFontTx/>
              <a:buNone/>
            </a:pPr>
            <a:r>
              <a:rPr lang="ru-RU" altLang="ru-RU" sz="2100" dirty="0"/>
              <a:t>Индексы:</a:t>
            </a:r>
          </a:p>
        </p:txBody>
      </p:sp>
      <p:sp>
        <p:nvSpPr>
          <p:cNvPr id="99340" name="Rectangle 12"/>
          <p:cNvSpPr>
            <a:spLocks noChangeArrowheads="1"/>
          </p:cNvSpPr>
          <p:nvPr/>
        </p:nvSpPr>
        <p:spPr bwMode="auto">
          <a:xfrm>
            <a:off x="7342188" y="4498977"/>
            <a:ext cx="324008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38200" indent="-3810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95400" indent="-3810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52600" indent="-3810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09800" indent="-3810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67000" indent="-3810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24200" indent="-3810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81400" indent="-3810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38600" indent="-3810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dirty="0">
                <a:solidFill>
                  <a:schemeClr val="hlink"/>
                </a:solidFill>
              </a:rPr>
              <a:t>1   1   3   3   6   7   7   7   8</a:t>
            </a:r>
          </a:p>
          <a:p>
            <a:pPr eaLnBrk="1" hangingPunct="1"/>
            <a:r>
              <a:rPr lang="ru-RU" altLang="ru-RU" sz="1400" b="1" i="1" dirty="0"/>
              <a:t>1      2     3     4     5     6     7      8     9</a:t>
            </a:r>
          </a:p>
        </p:txBody>
      </p:sp>
      <p:sp>
        <p:nvSpPr>
          <p:cNvPr id="99341" name="Rectangle 13"/>
          <p:cNvSpPr>
            <a:spLocks noChangeArrowheads="1"/>
          </p:cNvSpPr>
          <p:nvPr/>
        </p:nvSpPr>
        <p:spPr bwMode="auto">
          <a:xfrm>
            <a:off x="1653605" y="5291139"/>
            <a:ext cx="9073135" cy="40011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ru-RU" altLang="ru-RU" dirty="0"/>
              <a:t>Ранги:    			</a:t>
            </a:r>
            <a:r>
              <a:rPr lang="ru-RU" altLang="ru-RU" sz="1800" dirty="0"/>
              <a:t>	  </a:t>
            </a:r>
            <a:r>
              <a:rPr lang="ru-RU" altLang="ru-RU" sz="1600" b="1" dirty="0"/>
              <a:t>1.5 1.5  3.5 3.5  5    7    7    7     9</a:t>
            </a:r>
          </a:p>
        </p:txBody>
      </p:sp>
      <p:sp>
        <p:nvSpPr>
          <p:cNvPr id="99342" name="Text Box 14"/>
          <p:cNvSpPr txBox="1">
            <a:spLocks noChangeArrowheads="1"/>
          </p:cNvSpPr>
          <p:nvPr/>
        </p:nvSpPr>
        <p:spPr bwMode="auto">
          <a:xfrm>
            <a:off x="1003673" y="5938679"/>
            <a:ext cx="1087320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ru-RU" altLang="ru-RU" sz="1800" b="1" i="1" dirty="0"/>
              <a:t>Если несколько соседних элементов равны, при ранжировании им присваивается одинаковый ранг, равный среднему арифметическому первоначальных рангов (индексов).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36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9B0DCE-ECC1-4FA0-8646-670C625440F8}"/>
              </a:ext>
            </a:extLst>
          </p:cNvPr>
          <p:cNvSpPr txBox="1"/>
          <p:nvPr/>
        </p:nvSpPr>
        <p:spPr>
          <a:xfrm>
            <a:off x="4427898" y="206017"/>
            <a:ext cx="4165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1600" i="1" dirty="0">
                <a:solidFill>
                  <a:schemeClr val="bg1">
                    <a:lumMod val="75000"/>
                  </a:schemeClr>
                </a:solidFill>
              </a:rPr>
              <a:t>Меры центральной тенденции </a:t>
            </a:r>
            <a:endParaRPr lang="ru-RU" sz="16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9" grpId="0" animBg="1"/>
      <p:bldP spid="99340" grpId="0"/>
      <p:bldP spid="99341" grpId="0" animBg="1"/>
      <p:bldP spid="9934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3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30438" y="395289"/>
            <a:ext cx="8280400" cy="828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4000" dirty="0"/>
              <a:t>Пример вычисления медианы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445693" y="1762946"/>
            <a:ext cx="7992120" cy="47030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altLang="ru-RU" sz="2400" dirty="0"/>
              <a:t>Для набора данных из семи чисел:</a:t>
            </a:r>
          </a:p>
          <a:p>
            <a:pPr>
              <a:buFontTx/>
              <a:buNone/>
            </a:pPr>
            <a:r>
              <a:rPr lang="ru-RU" altLang="ru-RU" sz="2400" dirty="0"/>
              <a:t>          				</a:t>
            </a:r>
            <a:r>
              <a:rPr lang="ru-RU" altLang="ru-RU" sz="2400" b="1" dirty="0">
                <a:solidFill>
                  <a:schemeClr val="hlink"/>
                </a:solidFill>
              </a:rPr>
              <a:t>6  1  3  7  1  7  3</a:t>
            </a:r>
            <a:r>
              <a:rPr lang="ru-RU" altLang="ru-RU" sz="2400" dirty="0"/>
              <a:t> </a:t>
            </a:r>
          </a:p>
          <a:p>
            <a:pPr>
              <a:buFontTx/>
              <a:buNone/>
            </a:pPr>
            <a:r>
              <a:rPr lang="ru-RU" altLang="ru-RU" sz="2400" dirty="0"/>
              <a:t>После упорядочения получим вариационный ряд:</a:t>
            </a:r>
          </a:p>
          <a:p>
            <a:pPr>
              <a:buFontTx/>
              <a:buNone/>
            </a:pPr>
            <a:r>
              <a:rPr lang="ru-RU" altLang="ru-RU" sz="2400" dirty="0"/>
              <a:t>            				</a:t>
            </a:r>
            <a:r>
              <a:rPr lang="ru-RU" altLang="ru-RU" sz="2400" b="1" dirty="0">
                <a:solidFill>
                  <a:schemeClr val="hlink"/>
                </a:solidFill>
              </a:rPr>
              <a:t>1  1  3  3  6  7  7</a:t>
            </a:r>
          </a:p>
          <a:p>
            <a:pPr>
              <a:buFontTx/>
              <a:buNone/>
            </a:pPr>
            <a:r>
              <a:rPr lang="ru-RU" altLang="ru-RU" sz="2400" dirty="0"/>
              <a:t>Медиана есть средний элемент =3. Его номер четвертый.</a:t>
            </a:r>
          </a:p>
          <a:p>
            <a:endParaRPr lang="ru-RU" altLang="ru-RU" sz="2400" dirty="0"/>
          </a:p>
          <a:p>
            <a:r>
              <a:rPr lang="ru-RU" altLang="ru-RU" sz="2400" dirty="0"/>
              <a:t>Если набор данных включает восемь чисел:</a:t>
            </a:r>
          </a:p>
          <a:p>
            <a:pPr>
              <a:buFontTx/>
              <a:buNone/>
            </a:pPr>
            <a:endParaRPr lang="ru-RU" altLang="ru-RU" sz="2400" dirty="0"/>
          </a:p>
          <a:p>
            <a:pPr>
              <a:buFontTx/>
              <a:buNone/>
            </a:pPr>
            <a:r>
              <a:rPr lang="ru-RU" altLang="ru-RU" sz="2400" dirty="0"/>
              <a:t>     				</a:t>
            </a:r>
            <a:r>
              <a:rPr lang="ru-RU" altLang="ru-RU" sz="2400" b="1" dirty="0">
                <a:solidFill>
                  <a:schemeClr val="hlink"/>
                </a:solidFill>
              </a:rPr>
              <a:t>1  1  3  3  6  7  7  9</a:t>
            </a:r>
          </a:p>
          <a:p>
            <a:pPr>
              <a:buFontTx/>
              <a:buNone/>
            </a:pPr>
            <a:endParaRPr lang="ru-RU" altLang="ru-RU" sz="2400" b="1" dirty="0">
              <a:solidFill>
                <a:schemeClr val="hlink"/>
              </a:solidFill>
            </a:endParaRPr>
          </a:p>
          <a:p>
            <a:r>
              <a:rPr lang="ru-RU" altLang="ru-RU" sz="2400" dirty="0"/>
              <a:t>Тогда медиана равна (3+6)/2=4,5</a:t>
            </a:r>
          </a:p>
          <a:p>
            <a:pPr>
              <a:buFontTx/>
              <a:buNone/>
            </a:pPr>
            <a:endParaRPr lang="ru-RU" altLang="ru-RU" sz="2400" dirty="0"/>
          </a:p>
        </p:txBody>
      </p:sp>
      <p:sp>
        <p:nvSpPr>
          <p:cNvPr id="106500" name="Oval 4"/>
          <p:cNvSpPr>
            <a:spLocks noChangeArrowheads="1"/>
          </p:cNvSpPr>
          <p:nvPr/>
        </p:nvSpPr>
        <p:spPr bwMode="auto">
          <a:xfrm>
            <a:off x="7182723" y="3115399"/>
            <a:ext cx="221140" cy="432247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6505" name="Oval 9"/>
          <p:cNvSpPr>
            <a:spLocks noChangeArrowheads="1"/>
          </p:cNvSpPr>
          <p:nvPr/>
        </p:nvSpPr>
        <p:spPr bwMode="auto">
          <a:xfrm>
            <a:off x="6197455" y="5147320"/>
            <a:ext cx="581584" cy="6477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37</a:t>
            </a:fld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44BDF-902A-4820-BCB3-AC29EF6D7011}"/>
              </a:ext>
            </a:extLst>
          </p:cNvPr>
          <p:cNvSpPr txBox="1"/>
          <p:nvPr/>
        </p:nvSpPr>
        <p:spPr>
          <a:xfrm>
            <a:off x="4427898" y="206017"/>
            <a:ext cx="4165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1600" i="1" dirty="0">
                <a:solidFill>
                  <a:schemeClr val="bg1">
                    <a:lumMod val="75000"/>
                  </a:schemeClr>
                </a:solidFill>
              </a:rPr>
              <a:t>Меры центральной тенденции </a:t>
            </a:r>
            <a:endParaRPr lang="ru-RU" sz="16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61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4400" dirty="0"/>
              <a:t>Свойства медианы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249512" y="1473100"/>
            <a:ext cx="10169226" cy="4492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altLang="ru-RU" sz="2400" dirty="0"/>
              <a:t>Сильно отличающиеся от остальных данных крайние значения не влияют на величину медианы. </a:t>
            </a:r>
          </a:p>
          <a:p>
            <a:endParaRPr lang="ru-RU" altLang="ru-RU" sz="2400" dirty="0"/>
          </a:p>
          <a:p>
            <a:r>
              <a:rPr lang="ru-RU" altLang="ru-RU" sz="2400" dirty="0"/>
              <a:t>Значение медианы является единственным для каждого набора данных.</a:t>
            </a:r>
          </a:p>
          <a:p>
            <a:endParaRPr lang="ru-RU" altLang="ru-RU" sz="2400" dirty="0"/>
          </a:p>
          <a:p>
            <a:r>
              <a:rPr lang="ru-RU" altLang="ru-RU" sz="2400" dirty="0"/>
              <a:t>Медиана может быть определена не из полного набора данных. Достаточно знать их расположение, общее число и несколько значений, расположенных в середине вариационного ряда.</a:t>
            </a:r>
          </a:p>
          <a:p>
            <a:endParaRPr lang="ru-RU" altLang="ru-RU" sz="2400" dirty="0"/>
          </a:p>
          <a:p>
            <a:r>
              <a:rPr lang="ru-RU" altLang="ru-RU" sz="2400" dirty="0"/>
              <a:t>Медиана может быть определена для числовых и порядковых данных. 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z="1400" smtClean="0">
                <a:solidFill>
                  <a:schemeClr val="tx1"/>
                </a:solidFill>
              </a:rPr>
              <a:t>38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D5A3C3-8BFF-46E8-9CED-230B452A7FD0}"/>
              </a:ext>
            </a:extLst>
          </p:cNvPr>
          <p:cNvSpPr txBox="1"/>
          <p:nvPr/>
        </p:nvSpPr>
        <p:spPr>
          <a:xfrm>
            <a:off x="4427898" y="206017"/>
            <a:ext cx="4165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1600" i="1" dirty="0">
                <a:solidFill>
                  <a:schemeClr val="bg1">
                    <a:lumMod val="75000"/>
                  </a:schemeClr>
                </a:solidFill>
              </a:rPr>
              <a:t>Меры центральной тенденции </a:t>
            </a:r>
            <a:endParaRPr lang="ru-RU" sz="16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 b="1" dirty="0">
              <a:solidFill>
                <a:schemeClr val="bg1"/>
              </a:solidFill>
            </a:endParaRPr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33626" y="501650"/>
            <a:ext cx="7643812" cy="901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3600" dirty="0"/>
              <a:t>Среднее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897521" y="1138585"/>
            <a:ext cx="10873208" cy="295180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441" tIns="49721" rIns="99441" bIns="49721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2400" b="1" dirty="0"/>
              <a:t>Среднее (выборочное среднее, среднее арифметическое) - определяется как сумма всех </a:t>
            </a:r>
            <a:r>
              <a:rPr lang="ru-RU" altLang="ru-RU" sz="2400" dirty="0"/>
              <a:t>значений измеренного признака, деленная на количество суммированных значений.</a:t>
            </a:r>
          </a:p>
          <a:p>
            <a:pPr eaLnBrk="1" hangingPunct="1"/>
            <a:r>
              <a:rPr lang="ru-RU" altLang="ru-RU" sz="2400" dirty="0"/>
              <a:t>Среднее множества данных предполагает в основном арифметические операции. На величину среднего влияют значения всех результатов.</a:t>
            </a:r>
          </a:p>
        </p:txBody>
      </p:sp>
      <p:sp>
        <p:nvSpPr>
          <p:cNvPr id="25607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bg2"/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39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45671D5-97F4-401A-BC19-2AD5850A5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456" y="3270015"/>
            <a:ext cx="9339262" cy="121205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9441" tIns="49721" rIns="99441" bIns="49721" rtlCol="0">
            <a:normAutofit/>
          </a:bodyPr>
          <a:lstStyle>
            <a:lvl1pPr marL="356310" indent="-356310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2005" indent="-296925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9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01" indent="-237540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62782" indent="-237540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862" indent="-237540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943" indent="-237540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88023" indent="-237540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3104" indent="-237540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8184" indent="-237540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ru-RU" altLang="ru-RU" sz="2700" dirty="0"/>
              <a:t>Среднее для выборки из семи значений:</a:t>
            </a:r>
          </a:p>
          <a:p>
            <a:pPr fontAlgn="auto">
              <a:spcAft>
                <a:spcPts val="0"/>
              </a:spcAft>
              <a:buFontTx/>
              <a:buNone/>
            </a:pPr>
            <a:r>
              <a:rPr lang="ru-RU" altLang="ru-RU" sz="2700" dirty="0"/>
              <a:t>			            </a:t>
            </a:r>
            <a:r>
              <a:rPr lang="ru-RU" altLang="ru-RU" sz="2700" b="1" i="1" dirty="0">
                <a:solidFill>
                  <a:schemeClr val="hlink"/>
                </a:solidFill>
              </a:rPr>
              <a:t>1  1  3  3  6  7  7 </a:t>
            </a:r>
            <a:endParaRPr lang="ru-RU" altLang="ru-RU" sz="2400" b="1" i="1" dirty="0">
              <a:solidFill>
                <a:schemeClr val="hlink"/>
              </a:solidFill>
            </a:endParaRPr>
          </a:p>
        </p:txBody>
      </p:sp>
      <p:graphicFrame>
        <p:nvGraphicFramePr>
          <p:cNvPr id="13" name="Object 8">
            <a:extLst>
              <a:ext uri="{FF2B5EF4-FFF2-40B4-BE49-F238E27FC236}">
                <a16:creationId xmlns:a16="http://schemas.microsoft.com/office/drawing/2014/main" id="{219FB8CD-AB95-4B9A-B5E0-7CE3E5E010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889728"/>
              </p:ext>
            </p:extLst>
          </p:nvPr>
        </p:nvGraphicFramePr>
        <p:xfrm>
          <a:off x="1472408" y="4084467"/>
          <a:ext cx="122713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29" name="Уравнение" r:id="rId4" imgW="609600" imgH="469900" progId="Equation.3">
                  <p:embed/>
                </p:oleObj>
              </mc:Choice>
              <mc:Fallback>
                <p:oleObj name="Уравнение" r:id="rId4" imgW="609600" imgH="469900" progId="Equation.3">
                  <p:embed/>
                  <p:pic>
                    <p:nvPicPr>
                      <p:cNvPr id="10957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2408" y="4084467"/>
                        <a:ext cx="1227138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9">
            <a:extLst>
              <a:ext uri="{FF2B5EF4-FFF2-40B4-BE49-F238E27FC236}">
                <a16:creationId xmlns:a16="http://schemas.microsoft.com/office/drawing/2014/main" id="{488FCCE0-3A18-45C3-9527-04BF39AC3421}"/>
              </a:ext>
            </a:extLst>
          </p:cNvPr>
          <p:cNvGrpSpPr>
            <a:grpSpLocks/>
          </p:cNvGrpSpPr>
          <p:nvPr/>
        </p:nvGrpSpPr>
        <p:grpSpPr bwMode="auto">
          <a:xfrm>
            <a:off x="3235090" y="4504296"/>
            <a:ext cx="5832475" cy="2087563"/>
            <a:chOff x="988" y="2251"/>
            <a:chExt cx="3674" cy="1315"/>
          </a:xfrm>
        </p:grpSpPr>
        <p:sp>
          <p:nvSpPr>
            <p:cNvPr id="15" name="Rectangle 10">
              <a:extLst>
                <a:ext uri="{FF2B5EF4-FFF2-40B4-BE49-F238E27FC236}">
                  <a16:creationId xmlns:a16="http://schemas.microsoft.com/office/drawing/2014/main" id="{2B0BE0E5-6388-40D0-B120-A224CF6D2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" y="2251"/>
              <a:ext cx="3674" cy="131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754E5D9A-379B-4746-82F8-AF9C34698D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" y="2976"/>
              <a:ext cx="32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Text Box 12">
              <a:extLst>
                <a:ext uri="{FF2B5EF4-FFF2-40B4-BE49-F238E27FC236}">
                  <a16:creationId xmlns:a16="http://schemas.microsoft.com/office/drawing/2014/main" id="{76C876D6-AA0A-4CC0-B92A-644A99B694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0" y="2959"/>
              <a:ext cx="305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1600" b="1"/>
                <a:t>0        1        2        3        4        5       6        7        8</a:t>
              </a:r>
            </a:p>
          </p:txBody>
        </p:sp>
        <p:sp>
          <p:nvSpPr>
            <p:cNvPr id="18" name="AutoShape 13">
              <a:extLst>
                <a:ext uri="{FF2B5EF4-FFF2-40B4-BE49-F238E27FC236}">
                  <a16:creationId xmlns:a16="http://schemas.microsoft.com/office/drawing/2014/main" id="{03919B1D-3FC2-4976-921F-89BBB3B96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3" y="2659"/>
              <a:ext cx="182" cy="181"/>
            </a:xfrm>
            <a:prstGeom prst="can">
              <a:avLst>
                <a:gd name="adj" fmla="val 25000"/>
              </a:avLst>
            </a:prstGeom>
            <a:solidFill>
              <a:srgbClr val="F3D95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9" name="AutoShape 14">
              <a:extLst>
                <a:ext uri="{FF2B5EF4-FFF2-40B4-BE49-F238E27FC236}">
                  <a16:creationId xmlns:a16="http://schemas.microsoft.com/office/drawing/2014/main" id="{081D9349-0C71-45B4-BBF1-113573D3F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3" y="2433"/>
              <a:ext cx="182" cy="181"/>
            </a:xfrm>
            <a:prstGeom prst="can">
              <a:avLst>
                <a:gd name="adj" fmla="val 25000"/>
              </a:avLst>
            </a:prstGeom>
            <a:solidFill>
              <a:srgbClr val="F3D95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" name="AutoShape 15">
              <a:extLst>
                <a:ext uri="{FF2B5EF4-FFF2-40B4-BE49-F238E27FC236}">
                  <a16:creationId xmlns:a16="http://schemas.microsoft.com/office/drawing/2014/main" id="{EA515E9E-F7E1-4978-9B29-A2E809555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8" y="2659"/>
              <a:ext cx="182" cy="181"/>
            </a:xfrm>
            <a:prstGeom prst="can">
              <a:avLst>
                <a:gd name="adj" fmla="val 25000"/>
              </a:avLst>
            </a:prstGeom>
            <a:solidFill>
              <a:srgbClr val="F3D95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1" name="AutoShape 16">
              <a:extLst>
                <a:ext uri="{FF2B5EF4-FFF2-40B4-BE49-F238E27FC236}">
                  <a16:creationId xmlns:a16="http://schemas.microsoft.com/office/drawing/2014/main" id="{92CFCD58-9347-4640-9647-74EA8DEF1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8" y="2433"/>
              <a:ext cx="182" cy="181"/>
            </a:xfrm>
            <a:prstGeom prst="can">
              <a:avLst>
                <a:gd name="adj" fmla="val 25000"/>
              </a:avLst>
            </a:prstGeom>
            <a:solidFill>
              <a:srgbClr val="F3D95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" name="AutoShape 17">
              <a:extLst>
                <a:ext uri="{FF2B5EF4-FFF2-40B4-BE49-F238E27FC236}">
                  <a16:creationId xmlns:a16="http://schemas.microsoft.com/office/drawing/2014/main" id="{53873741-A0E0-4549-AA06-97F36908E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2659"/>
              <a:ext cx="182" cy="181"/>
            </a:xfrm>
            <a:prstGeom prst="can">
              <a:avLst>
                <a:gd name="adj" fmla="val 25000"/>
              </a:avLst>
            </a:prstGeom>
            <a:solidFill>
              <a:srgbClr val="F3D95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3" name="AutoShape 18">
              <a:extLst>
                <a:ext uri="{FF2B5EF4-FFF2-40B4-BE49-F238E27FC236}">
                  <a16:creationId xmlns:a16="http://schemas.microsoft.com/office/drawing/2014/main" id="{10609C2B-16C5-4245-AE3D-8DBF74BDC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4" y="2659"/>
              <a:ext cx="182" cy="181"/>
            </a:xfrm>
            <a:prstGeom prst="can">
              <a:avLst>
                <a:gd name="adj" fmla="val 25000"/>
              </a:avLst>
            </a:prstGeom>
            <a:solidFill>
              <a:srgbClr val="F3D95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4" name="AutoShape 19">
              <a:extLst>
                <a:ext uri="{FF2B5EF4-FFF2-40B4-BE49-F238E27FC236}">
                  <a16:creationId xmlns:a16="http://schemas.microsoft.com/office/drawing/2014/main" id="{0D06A056-498C-439C-AC6B-AF92BA43B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4" y="2433"/>
              <a:ext cx="182" cy="181"/>
            </a:xfrm>
            <a:prstGeom prst="can">
              <a:avLst>
                <a:gd name="adj" fmla="val 25000"/>
              </a:avLst>
            </a:prstGeom>
            <a:solidFill>
              <a:srgbClr val="F3D95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" name="AutoShape 20">
              <a:extLst>
                <a:ext uri="{FF2B5EF4-FFF2-40B4-BE49-F238E27FC236}">
                  <a16:creationId xmlns:a16="http://schemas.microsoft.com/office/drawing/2014/main" id="{93B8ABCB-EBD3-4CF3-B34B-3768C2ACF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158"/>
              <a:ext cx="182" cy="318"/>
            </a:xfrm>
            <a:prstGeom prst="triangle">
              <a:avLst>
                <a:gd name="adj" fmla="val 50000"/>
              </a:avLst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6" name="Line 21">
              <a:extLst>
                <a:ext uri="{FF2B5EF4-FFF2-40B4-BE49-F238E27FC236}">
                  <a16:creationId xmlns:a16="http://schemas.microsoft.com/office/drawing/2014/main" id="{B22C17D9-E524-4ADD-AAA1-FF6F7CA326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1" y="2886"/>
              <a:ext cx="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Line 22">
              <a:extLst>
                <a:ext uri="{FF2B5EF4-FFF2-40B4-BE49-F238E27FC236}">
                  <a16:creationId xmlns:a16="http://schemas.microsoft.com/office/drawing/2014/main" id="{3D650553-E381-4661-804B-DACD68A2B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4" y="2886"/>
              <a:ext cx="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F08C8CA7-E8FD-4B3B-A039-0250D2B12D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7" y="2886"/>
              <a:ext cx="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034FC7CB-AD5C-40FD-8D0C-5EBAEE21FF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" y="2886"/>
              <a:ext cx="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0" name="Line 25">
              <a:extLst>
                <a:ext uri="{FF2B5EF4-FFF2-40B4-BE49-F238E27FC236}">
                  <a16:creationId xmlns:a16="http://schemas.microsoft.com/office/drawing/2014/main" id="{87D4C26E-5FA1-4B82-AC2A-4332F5534D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2" y="2886"/>
              <a:ext cx="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1" name="Line 26">
              <a:extLst>
                <a:ext uri="{FF2B5EF4-FFF2-40B4-BE49-F238E27FC236}">
                  <a16:creationId xmlns:a16="http://schemas.microsoft.com/office/drawing/2014/main" id="{326F162C-03D0-4C76-80FD-3BE2D0D61D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5" y="2886"/>
              <a:ext cx="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4B627144-BA15-4CC9-B49A-A572ABA30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3" y="2886"/>
              <a:ext cx="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3" name="Line 28">
              <a:extLst>
                <a:ext uri="{FF2B5EF4-FFF2-40B4-BE49-F238E27FC236}">
                  <a16:creationId xmlns:a16="http://schemas.microsoft.com/office/drawing/2014/main" id="{9C7B7998-F7C1-4893-B473-77C03D21C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6" y="2886"/>
              <a:ext cx="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4" name="Line 29">
              <a:extLst>
                <a:ext uri="{FF2B5EF4-FFF2-40B4-BE49-F238E27FC236}">
                  <a16:creationId xmlns:a16="http://schemas.microsoft.com/office/drawing/2014/main" id="{6AF94EC9-F128-4AA8-BA2B-C2A4852AA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" y="2886"/>
              <a:ext cx="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869925F-82F8-4477-A1B5-9390A8F36CB0}"/>
              </a:ext>
            </a:extLst>
          </p:cNvPr>
          <p:cNvSpPr txBox="1"/>
          <p:nvPr/>
        </p:nvSpPr>
        <p:spPr>
          <a:xfrm>
            <a:off x="4427898" y="206017"/>
            <a:ext cx="4165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1600" i="1" dirty="0">
                <a:solidFill>
                  <a:schemeClr val="bg1">
                    <a:lumMod val="75000"/>
                  </a:schemeClr>
                </a:solidFill>
              </a:rPr>
              <a:t>Меры центральной тенденции </a:t>
            </a:r>
            <a:endParaRPr lang="ru-RU" sz="16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72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80977" y="405606"/>
            <a:ext cx="8656836" cy="9731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3600" dirty="0"/>
              <a:t>Среднее - еще не значит «лучшее»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933525" y="1515053"/>
            <a:ext cx="11233248" cy="392029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2400" b="1" dirty="0"/>
              <a:t>Пример</a:t>
            </a:r>
            <a:r>
              <a:rPr lang="ru-RU" altLang="ru-RU" sz="2400" dirty="0"/>
              <a:t>. В деревне 50 жителей. Среди них 49 человек – крестьяне с месячным доходом в 1</a:t>
            </a:r>
            <a:r>
              <a:rPr lang="en-US" altLang="ru-RU" sz="2400" dirty="0"/>
              <a:t>0</a:t>
            </a:r>
            <a:r>
              <a:rPr lang="ru-RU" altLang="ru-RU" sz="2400" dirty="0"/>
              <a:t> </a:t>
            </a:r>
            <a:r>
              <a:rPr lang="ru-RU" altLang="ru-RU" sz="2400" dirty="0" err="1"/>
              <a:t>тыс.рублей</a:t>
            </a:r>
            <a:r>
              <a:rPr lang="ru-RU" altLang="ru-RU" sz="2400" dirty="0"/>
              <a:t>, а один житель – зажиточный владелец строительной фирмы, с месячным доходом 451</a:t>
            </a:r>
            <a:r>
              <a:rPr lang="en-US" altLang="ru-RU" sz="2400" dirty="0"/>
              <a:t>0</a:t>
            </a:r>
            <a:r>
              <a:rPr lang="ru-RU" altLang="ru-RU" sz="2400" dirty="0"/>
              <a:t> </a:t>
            </a:r>
            <a:r>
              <a:rPr lang="ru-RU" altLang="ru-RU" sz="2400" dirty="0" err="1"/>
              <a:t>тыс.рублей</a:t>
            </a:r>
            <a:r>
              <a:rPr lang="ru-RU" altLang="ru-RU" sz="2400" dirty="0"/>
              <a:t>.</a:t>
            </a:r>
          </a:p>
          <a:p>
            <a:endParaRPr lang="ru-RU" altLang="ru-RU" sz="2400" dirty="0"/>
          </a:p>
          <a:p>
            <a:r>
              <a:rPr lang="ru-RU" altLang="ru-RU" sz="2400" dirty="0"/>
              <a:t>Среднее равно 10</a:t>
            </a:r>
            <a:r>
              <a:rPr lang="en-US" altLang="ru-RU" sz="2400" dirty="0"/>
              <a:t>0</a:t>
            </a:r>
            <a:r>
              <a:rPr lang="ru-RU" altLang="ru-RU" sz="2400" dirty="0"/>
              <a:t> тыс. рублей.</a:t>
            </a:r>
            <a:r>
              <a:rPr lang="en-US" altLang="ru-RU" sz="2400" dirty="0"/>
              <a:t> </a:t>
            </a:r>
            <a:r>
              <a:rPr lang="ru-RU" altLang="ru-RU" sz="2400" dirty="0"/>
              <a:t>Однако, вряд ли можно утверждать, что это число адекватно представляет доход жителей деревни. </a:t>
            </a:r>
          </a:p>
          <a:p>
            <a:endParaRPr lang="ru-RU" altLang="ru-RU" sz="2400" dirty="0"/>
          </a:p>
          <a:p>
            <a:r>
              <a:rPr lang="ru-RU" altLang="ru-RU" sz="2400" dirty="0"/>
              <a:t>В этом случае, более разумно взять в качестве меры центральной тенденции моду или медиану (обе равны 1</a:t>
            </a:r>
            <a:r>
              <a:rPr lang="en-US" altLang="ru-RU" sz="2400" dirty="0"/>
              <a:t>0</a:t>
            </a:r>
            <a:r>
              <a:rPr lang="ru-RU" altLang="ru-RU" sz="2400" dirty="0"/>
              <a:t> тыс. рублей). </a:t>
            </a:r>
          </a:p>
          <a:p>
            <a:endParaRPr lang="ru-RU" altLang="ru-RU" sz="2400" dirty="0"/>
          </a:p>
        </p:txBody>
      </p:sp>
      <p:sp>
        <p:nvSpPr>
          <p:cNvPr id="113668" name="Rectangle 4"/>
          <p:cNvSpPr>
            <a:spLocks noChangeArrowheads="1"/>
          </p:cNvSpPr>
          <p:nvPr/>
        </p:nvSpPr>
        <p:spPr bwMode="auto">
          <a:xfrm>
            <a:off x="1195389" y="-2616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auto">
          <a:xfrm flipV="1">
            <a:off x="1195389" y="3082459"/>
            <a:ext cx="102774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ru-RU"/>
          </a:p>
        </p:txBody>
      </p:sp>
      <p:sp>
        <p:nvSpPr>
          <p:cNvPr id="113670" name="Rectangle 6"/>
          <p:cNvSpPr>
            <a:spLocks noChangeArrowheads="1"/>
          </p:cNvSpPr>
          <p:nvPr/>
        </p:nvSpPr>
        <p:spPr bwMode="auto">
          <a:xfrm>
            <a:off x="1195389" y="-2616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bg2"/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40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118FA6-90AC-4E43-A71D-1F11C794B68A}"/>
              </a:ext>
            </a:extLst>
          </p:cNvPr>
          <p:cNvSpPr txBox="1"/>
          <p:nvPr/>
        </p:nvSpPr>
        <p:spPr>
          <a:xfrm>
            <a:off x="4427898" y="206017"/>
            <a:ext cx="4165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1600" i="1" dirty="0">
                <a:solidFill>
                  <a:schemeClr val="bg1">
                    <a:lumMod val="75000"/>
                  </a:schemeClr>
                </a:solidFill>
              </a:rPr>
              <a:t>Меры центральной тенденции </a:t>
            </a:r>
            <a:endParaRPr lang="ru-RU" sz="16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4126C628-8676-4EB5-8E3F-C8660F2C5C62}"/>
              </a:ext>
            </a:extLst>
          </p:cNvPr>
          <p:cNvGrpSpPr/>
          <p:nvPr/>
        </p:nvGrpSpPr>
        <p:grpSpPr>
          <a:xfrm>
            <a:off x="573486" y="322263"/>
            <a:ext cx="11812909" cy="6553200"/>
            <a:chOff x="573486" y="322263"/>
            <a:chExt cx="11812909" cy="6553200"/>
          </a:xfrm>
        </p:grpSpPr>
        <p:sp>
          <p:nvSpPr>
            <p:cNvPr id="15" name="AutoShape 4">
              <a:extLst>
                <a:ext uri="{FF2B5EF4-FFF2-40B4-BE49-F238E27FC236}">
                  <a16:creationId xmlns:a16="http://schemas.microsoft.com/office/drawing/2014/main" id="{2B14F0E1-8457-4DFD-9626-2046FDA3A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486" y="322263"/>
              <a:ext cx="11812909" cy="65532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500">
                <a:solidFill>
                  <a:schemeClr val="bg1"/>
                </a:solidFill>
              </a:endParaRPr>
            </a:p>
          </p:txBody>
        </p:sp>
        <p:sp>
          <p:nvSpPr>
            <p:cNvPr id="16" name="AutoShape 6">
              <a:extLst>
                <a:ext uri="{FF2B5EF4-FFF2-40B4-BE49-F238E27FC236}">
                  <a16:creationId xmlns:a16="http://schemas.microsoft.com/office/drawing/2014/main" id="{B4AE902F-2A7D-4DB9-821D-40E9E2904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509" y="678938"/>
              <a:ext cx="11305255" cy="6099687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7882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200">
                <a:solidFill>
                  <a:schemeClr val="bg1"/>
                </a:solidFill>
              </a:endParaRPr>
            </a:p>
          </p:txBody>
        </p:sp>
      </p:grpSp>
      <p:sp>
        <p:nvSpPr>
          <p:cNvPr id="113672" name="AutoShape 5"/>
          <p:cNvSpPr>
            <a:spLocks noChangeArrowheads="1"/>
          </p:cNvSpPr>
          <p:nvPr/>
        </p:nvSpPr>
        <p:spPr bwMode="auto">
          <a:xfrm>
            <a:off x="1898177" y="402431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98176" y="414285"/>
            <a:ext cx="8656836" cy="9731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3600" dirty="0"/>
              <a:t>Свойства среднего</a:t>
            </a: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928691" y="1744098"/>
            <a:ext cx="822741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7" eaLnBrk="0" hangingPunct="0">
              <a:buFontTx/>
              <a:buAutoNum type="arabicPeriod"/>
            </a:pPr>
            <a:r>
              <a:rPr lang="ru-RU" altLang="ru-RU" sz="2000" dirty="0"/>
              <a:t>Сумма отклонений </a:t>
            </a:r>
            <a:r>
              <a:rPr lang="ru-RU" altLang="ru-RU" sz="2000" i="1" dirty="0"/>
              <a:t>вариант</a:t>
            </a:r>
            <a:r>
              <a:rPr lang="ru-RU" altLang="ru-RU" sz="2000" dirty="0"/>
              <a:t> от средней равна нулю:</a:t>
            </a:r>
            <a:endParaRPr lang="en-US" altLang="ru-RU" sz="2000" dirty="0"/>
          </a:p>
          <a:p>
            <a:pPr defTabSz="914407" eaLnBrk="0" hangingPunct="0">
              <a:buFontTx/>
              <a:buAutoNum type="arabicPeriod"/>
            </a:pPr>
            <a:endParaRPr lang="en-US" altLang="ru-RU" sz="2000" dirty="0"/>
          </a:p>
          <a:p>
            <a:pPr defTabSz="914407" eaLnBrk="0" hangingPunct="0">
              <a:buFontTx/>
              <a:buAutoNum type="arabicPeriod"/>
            </a:pPr>
            <a:r>
              <a:rPr lang="ru-RU" altLang="ru-RU" sz="2000" dirty="0"/>
              <a:t>Если все значения </a:t>
            </a:r>
            <a:r>
              <a:rPr lang="ru-RU" altLang="ru-RU" sz="2000" i="1" dirty="0"/>
              <a:t>варианты</a:t>
            </a:r>
            <a:r>
              <a:rPr lang="ru-RU" altLang="ru-RU" sz="2000" dirty="0"/>
              <a:t> увеличиваются или уменьшаются на величину А, то и средняя величина увеличивается или уменьшается на ту же величину А:</a:t>
            </a:r>
            <a:endParaRPr lang="en-US" altLang="ru-RU" sz="2000" dirty="0"/>
          </a:p>
          <a:p>
            <a:pPr marL="342903" indent="-342903" defTabSz="914407" eaLnBrk="0" hangingPunct="0">
              <a:buFontTx/>
              <a:buAutoNum type="arabicPeriod"/>
            </a:pPr>
            <a:endParaRPr lang="ru-RU" altLang="ru-RU" sz="2000" dirty="0"/>
          </a:p>
          <a:p>
            <a:pPr defTabSz="914407" eaLnBrk="0" hangingPunct="0"/>
            <a:r>
              <a:rPr lang="ru-RU" altLang="ru-RU" sz="2000" dirty="0"/>
              <a:t>3. Если каждую </a:t>
            </a:r>
            <a:r>
              <a:rPr lang="ru-RU" altLang="ru-RU" sz="2000" i="1" dirty="0"/>
              <a:t>варианту</a:t>
            </a:r>
            <a:r>
              <a:rPr lang="ru-RU" altLang="ru-RU" sz="2000" dirty="0"/>
              <a:t> увеличить или уменьшить в </a:t>
            </a:r>
            <a:r>
              <a:rPr lang="ru-RU" altLang="ru-RU" sz="2000" dirty="0" err="1"/>
              <a:t>В</a:t>
            </a:r>
            <a:r>
              <a:rPr lang="ru-RU" altLang="ru-RU" sz="2000" dirty="0"/>
              <a:t> раз, то  средняя величина также  увеличится или уменьшатся в то же количество раз: </a:t>
            </a:r>
            <a:r>
              <a:rPr lang="ru-RU" altLang="ru-RU" dirty="0"/>
              <a:t> </a:t>
            </a:r>
            <a:r>
              <a:rPr lang="ru-RU" altLang="ru-RU" sz="2000" dirty="0"/>
              <a:t>  </a:t>
            </a:r>
          </a:p>
          <a:p>
            <a:pPr defTabSz="914407" eaLnBrk="0" hangingPunct="0"/>
            <a:endParaRPr lang="en-US" altLang="ru-RU" sz="2000" dirty="0"/>
          </a:p>
          <a:p>
            <a:pPr defTabSz="914407" eaLnBrk="0" hangingPunct="0"/>
            <a:r>
              <a:rPr lang="ru-RU" altLang="ru-RU" sz="2000" dirty="0"/>
              <a:t>4. Сумма произведений </a:t>
            </a:r>
            <a:r>
              <a:rPr lang="ru-RU" altLang="ru-RU" sz="2000" i="1" dirty="0"/>
              <a:t>вариант</a:t>
            </a:r>
            <a:r>
              <a:rPr lang="ru-RU" altLang="ru-RU" sz="2000" dirty="0"/>
              <a:t> на частоты равна произведению средней величины на сумму частот:</a:t>
            </a:r>
            <a:br>
              <a:rPr lang="ru-RU" altLang="ru-RU" sz="2000" dirty="0"/>
            </a:br>
            <a:r>
              <a:rPr lang="ru-RU" altLang="ru-RU" sz="1800" dirty="0"/>
              <a:t>  </a:t>
            </a:r>
          </a:p>
        </p:txBody>
      </p:sp>
      <p:pic>
        <p:nvPicPr>
          <p:cNvPr id="22" name="Picture 2" descr="http://life-prog.ru/Statictica/Untitled-7_clip_image086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8189" y="1797541"/>
            <a:ext cx="1605358" cy="39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" descr="http://life-prog.ru/Statictica/Untitled-7_clip_image088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1027" y="2590220"/>
            <a:ext cx="2619682" cy="698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http://life-prog.ru/Statictica/Untitled-7_clip_image090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3543" y="4113965"/>
            <a:ext cx="1694650" cy="768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5" descr="http://life-prog.ru/Statictica/Untitled-7_clip_image092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2722" y="3578158"/>
            <a:ext cx="2096292" cy="377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http://life-prog.ru/Statictica/Untitled-7_clip_image094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291" y="5117675"/>
            <a:ext cx="1971154" cy="515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41</a:t>
            </a:fld>
            <a:endParaRPr lang="ru-RU">
              <a:solidFill>
                <a:schemeClr val="tx1"/>
              </a:solidFill>
            </a:endParaRPr>
          </a:p>
        </p:txBody>
      </p:sp>
      <p:sp>
        <p:nvSpPr>
          <p:cNvPr id="18" name="Прямоугольник 7">
            <a:extLst>
              <a:ext uri="{FF2B5EF4-FFF2-40B4-BE49-F238E27FC236}">
                <a16:creationId xmlns:a16="http://schemas.microsoft.com/office/drawing/2014/main" id="{4AF69DCB-A693-4E3C-BFFF-94479FDCA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bg2"/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4B705C-B4B2-4842-9129-DC8AB7C2771A}"/>
              </a:ext>
            </a:extLst>
          </p:cNvPr>
          <p:cNvSpPr txBox="1"/>
          <p:nvPr/>
        </p:nvSpPr>
        <p:spPr>
          <a:xfrm>
            <a:off x="4427898" y="206017"/>
            <a:ext cx="4165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1600" i="1" dirty="0">
                <a:solidFill>
                  <a:schemeClr val="bg1">
                    <a:lumMod val="75000"/>
                  </a:schemeClr>
                </a:solidFill>
              </a:rPr>
              <a:t>Меры центральной тенденции </a:t>
            </a:r>
            <a:endParaRPr lang="ru-RU" sz="16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913717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72" name="AutoShape 5"/>
          <p:cNvSpPr>
            <a:spLocks noChangeArrowheads="1"/>
          </p:cNvSpPr>
          <p:nvPr/>
        </p:nvSpPr>
        <p:spPr bwMode="auto">
          <a:xfrm>
            <a:off x="1898177" y="402431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98176" y="414285"/>
            <a:ext cx="8656836" cy="9731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3600" dirty="0"/>
              <a:t>Свойства среднего</a:t>
            </a:r>
          </a:p>
        </p:txBody>
      </p:sp>
      <p:sp>
        <p:nvSpPr>
          <p:cNvPr id="10" name="Прямоугольник 7"/>
          <p:cNvSpPr>
            <a:spLocks noChangeArrowheads="1"/>
          </p:cNvSpPr>
          <p:nvPr/>
        </p:nvSpPr>
        <p:spPr bwMode="auto">
          <a:xfrm>
            <a:off x="4879373" y="-4736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bg2"/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1007497" y="1445238"/>
            <a:ext cx="732880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7" eaLnBrk="0" hangingPunct="0"/>
            <a:r>
              <a:rPr lang="ru-RU" altLang="ru-RU" sz="1800" dirty="0"/>
              <a:t>5. Средняя арифметическая взвешенная</a:t>
            </a:r>
          </a:p>
          <a:p>
            <a:pPr defTabSz="914407" eaLnBrk="0" hangingPunct="0"/>
            <a:endParaRPr lang="ru-RU" altLang="ru-RU" sz="1800" dirty="0"/>
          </a:p>
          <a:p>
            <a:pPr defTabSz="914407" eaLnBrk="0" hangingPunct="0"/>
            <a:r>
              <a:rPr lang="ru-RU" altLang="ru-RU" sz="1800" dirty="0"/>
              <a:t>6. Если все частоты разделить или умножить на какое-либо число, то средняя арифметическая не изменится:</a:t>
            </a:r>
          </a:p>
          <a:p>
            <a:pPr defTabSz="914407" eaLnBrk="0" hangingPunct="0"/>
            <a:endParaRPr lang="ru-RU" altLang="ru-RU" sz="1800" dirty="0"/>
          </a:p>
          <a:p>
            <a:pPr defTabSz="914407" eaLnBrk="0" hangingPunct="0"/>
            <a:r>
              <a:rPr lang="ru-RU" altLang="ru-RU" sz="1800" dirty="0"/>
              <a:t> 7. Если во всех интервалах частоты равны друг другу, то средняя арифметическая взвешенная равна простой средней арифметической:</a:t>
            </a:r>
            <a:br>
              <a:rPr lang="ru-RU" altLang="ru-RU" sz="1800" dirty="0"/>
            </a:br>
            <a:r>
              <a:rPr lang="ru-RU" altLang="ru-RU" sz="1800" dirty="0"/>
              <a:t>  где k – количество групп вариационного ряда. </a:t>
            </a:r>
          </a:p>
          <a:p>
            <a:pPr defTabSz="914407" eaLnBrk="0" hangingPunct="0"/>
            <a:endParaRPr lang="ru-RU" altLang="ru-RU" sz="1800" dirty="0"/>
          </a:p>
          <a:p>
            <a:pPr lvl="0" eaLnBrk="0" hangingPunct="0"/>
            <a:r>
              <a:rPr lang="ru-RU" altLang="ru-RU" sz="1800" dirty="0"/>
              <a:t>8. </a:t>
            </a:r>
            <a:r>
              <a:rPr lang="ru-RU" sz="1800" dirty="0"/>
              <a:t>Сумма отклонений отдельных </a:t>
            </a:r>
            <a:r>
              <a:rPr lang="ru-RU" sz="1800" i="1" dirty="0"/>
              <a:t>вариант</a:t>
            </a:r>
            <a:r>
              <a:rPr lang="ru-RU" sz="1800" dirty="0"/>
              <a:t> от средней арифметической всегда равняется нулю.</a:t>
            </a:r>
          </a:p>
          <a:p>
            <a:pPr lvl="0" eaLnBrk="0" hangingPunct="0"/>
            <a:endParaRPr lang="ru-RU" altLang="ru-RU" sz="1800" dirty="0"/>
          </a:p>
          <a:p>
            <a:pPr lvl="0" eaLnBrk="0" hangingPunct="0"/>
            <a:r>
              <a:rPr lang="ru-RU" altLang="ru-RU" sz="1800" dirty="0"/>
              <a:t>9. С</a:t>
            </a:r>
            <a:r>
              <a:rPr lang="ru-RU" sz="1800" dirty="0"/>
              <a:t>умма квадратов отклонений индивидуальных значений признака от средней арифметической меньше, чем от любого другого числа (А), т.е. есть число минимальное, где</a:t>
            </a:r>
            <a:endParaRPr lang="ru-RU" altLang="ru-RU" sz="1800" dirty="0"/>
          </a:p>
        </p:txBody>
      </p:sp>
      <p:pic>
        <p:nvPicPr>
          <p:cNvPr id="27" name="Picture 7" descr="http://life-prog.ru/Statictica/Untitled-7_clip_image096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062" y="3480319"/>
            <a:ext cx="2083849" cy="7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9319" y="1519431"/>
            <a:ext cx="2757334" cy="75106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031" y="2413130"/>
            <a:ext cx="2271910" cy="77550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5873" y="4545330"/>
            <a:ext cx="2324227" cy="57494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0256" y="5356864"/>
            <a:ext cx="2495461" cy="610303"/>
          </a:xfrm>
          <a:prstGeom prst="rect">
            <a:avLst/>
          </a:prstGeom>
        </p:spPr>
      </p:pic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745281"/>
              </p:ext>
            </p:extLst>
          </p:nvPr>
        </p:nvGraphicFramePr>
        <p:xfrm>
          <a:off x="4029869" y="6148760"/>
          <a:ext cx="1499128" cy="456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43" r:id="rId8" imgW="660113" imgH="203112" progId="Equation.3">
                  <p:embed/>
                </p:oleObj>
              </mc:Choice>
              <mc:Fallback>
                <p:oleObj r:id="rId8" imgW="660113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869" y="6148760"/>
                        <a:ext cx="1499128" cy="4562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518701" y="6605017"/>
            <a:ext cx="516138" cy="379409"/>
          </a:xfrm>
        </p:spPr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42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E62849-B6A6-469B-9F29-485D47AACA88}"/>
              </a:ext>
            </a:extLst>
          </p:cNvPr>
          <p:cNvSpPr txBox="1"/>
          <p:nvPr/>
        </p:nvSpPr>
        <p:spPr>
          <a:xfrm>
            <a:off x="4427898" y="206017"/>
            <a:ext cx="4165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1600" i="1" dirty="0">
                <a:solidFill>
                  <a:schemeClr val="bg1">
                    <a:lumMod val="75000"/>
                  </a:schemeClr>
                </a:solidFill>
              </a:rPr>
              <a:t>Меры центральной тенденции </a:t>
            </a:r>
            <a:endParaRPr lang="ru-RU" sz="16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181331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3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43366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717502" y="1114426"/>
            <a:ext cx="11449272" cy="28236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9441" tIns="49721" rIns="99441" bIns="49721" rtlCol="0">
            <a:noAutofit/>
          </a:bodyPr>
          <a:lstStyle/>
          <a:p>
            <a:pPr eaLnBrk="1" hangingPunct="1"/>
            <a:r>
              <a:rPr lang="ru-RU" altLang="ru-RU" sz="2200" dirty="0"/>
              <a:t>Для </a:t>
            </a:r>
            <a:r>
              <a:rPr lang="ru-RU" altLang="ru-RU" sz="2200" b="1" i="1" dirty="0"/>
              <a:t>номинальных данных</a:t>
            </a:r>
            <a:r>
              <a:rPr lang="en-US" altLang="ru-RU" sz="2200" b="1" i="1" dirty="0"/>
              <a:t> (</a:t>
            </a:r>
            <a:r>
              <a:rPr lang="ru-RU" altLang="ru-RU" sz="2200" b="1" i="1" dirty="0"/>
              <a:t>категориальных</a:t>
            </a:r>
            <a:r>
              <a:rPr lang="en-US" altLang="ru-RU" sz="2200" b="1" i="1" dirty="0"/>
              <a:t>)</a:t>
            </a:r>
            <a:r>
              <a:rPr lang="ru-RU" altLang="ru-RU" sz="2200" b="1" i="1" dirty="0"/>
              <a:t>,  </a:t>
            </a:r>
            <a:r>
              <a:rPr lang="ru-RU" altLang="ru-RU" sz="2200" dirty="0"/>
              <a:t>единственной подходящей мерой центральной тенденции является </a:t>
            </a:r>
            <a:r>
              <a:rPr lang="ru-RU" altLang="ru-RU" sz="2200" b="1" dirty="0"/>
              <a:t>мода</a:t>
            </a:r>
            <a:r>
              <a:rPr lang="ru-RU" altLang="ru-RU" sz="2200" dirty="0"/>
              <a:t>, или модальная категория - та градация номинальной переменной, которая встречается наиболее часто.</a:t>
            </a:r>
          </a:p>
          <a:p>
            <a:pPr eaLnBrk="1" hangingPunct="1"/>
            <a:r>
              <a:rPr lang="ru-RU" altLang="ru-RU" sz="2200" dirty="0"/>
              <a:t>Для </a:t>
            </a:r>
            <a:r>
              <a:rPr lang="ru-RU" altLang="ru-RU" sz="2200" b="1" i="1" dirty="0"/>
              <a:t>порядковых и метрических переменных, </a:t>
            </a:r>
            <a:r>
              <a:rPr lang="ru-RU" altLang="ru-RU" sz="2200" dirty="0"/>
              <a:t>распределение которых унимодальное и симметричное, </a:t>
            </a:r>
            <a:r>
              <a:rPr lang="ru-RU" altLang="ru-RU" sz="2200" b="1" dirty="0"/>
              <a:t>мода, медиана и среднее совпадают</a:t>
            </a:r>
            <a:r>
              <a:rPr lang="ru-RU" altLang="ru-RU" sz="2200" dirty="0"/>
              <a:t>. </a:t>
            </a:r>
          </a:p>
          <a:p>
            <a:pPr eaLnBrk="1" hangingPunct="1"/>
            <a:r>
              <a:rPr lang="ru-RU" altLang="ru-RU" sz="2200" b="1" dirty="0"/>
              <a:t>Чем больше отклонение от симметричности, тем больше расхождение между значениями этих мер центральной тенденции.  По этому расхождению можно судить о том, насколько симметрично или асимметрично распределение.</a:t>
            </a:r>
          </a:p>
        </p:txBody>
      </p:sp>
      <p:sp>
        <p:nvSpPr>
          <p:cNvPr id="143367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>
                <a:solidFill>
                  <a:schemeClr val="bg1"/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143369" name="Rectangle 9"/>
          <p:cNvSpPr>
            <a:spLocks noChangeArrowheads="1"/>
          </p:cNvSpPr>
          <p:nvPr/>
        </p:nvSpPr>
        <p:spPr bwMode="auto">
          <a:xfrm>
            <a:off x="2301876" y="285751"/>
            <a:ext cx="78486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24" tIns="47462" rIns="94924" bIns="47462"/>
          <a:lstStyle>
            <a:lvl1pPr algn="ctr" defTabSz="993775" eaLnBrk="0" hangingPunct="0"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 defTabSz="993775" eaLnBrk="0" hangingPunct="0"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defTabSz="993775" eaLnBrk="0" hangingPunct="0"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defTabSz="993775" eaLnBrk="0" hangingPunct="0"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defTabSz="993775" eaLnBrk="0" hangingPunct="0"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defTabSz="993775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defTabSz="993775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defTabSz="993775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defTabSz="993775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4000" dirty="0"/>
              <a:t>Три меры и тип шкалы  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677B34CD-1C81-449F-AE8B-430875266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5843" y="4224406"/>
            <a:ext cx="3629265" cy="20727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Autofit/>
          </a:bodyPr>
          <a:lstStyle>
            <a:lvl1pPr marL="356310" indent="-356310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2005" indent="-296925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9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01" indent="-237540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62782" indent="-237540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862" indent="-237540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943" indent="-237540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88023" indent="-237540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3104" indent="-237540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8184" indent="-237540" algn="l" defTabSz="9501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ru-RU" altLang="ru-RU" sz="2400" dirty="0"/>
              <a:t>Три меры центральной тенденции накладывают ограничения на тип шкалы,  в которой измеряется переменная. </a:t>
            </a:r>
          </a:p>
        </p:txBody>
      </p:sp>
      <p:graphicFrame>
        <p:nvGraphicFramePr>
          <p:cNvPr id="15" name="Group 39">
            <a:extLst>
              <a:ext uri="{FF2B5EF4-FFF2-40B4-BE49-F238E27FC236}">
                <a16:creationId xmlns:a16="http://schemas.microsoft.com/office/drawing/2014/main" id="{D3BC08D7-155B-4446-BD00-1A322DC6F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363898"/>
              </p:ext>
            </p:extLst>
          </p:nvPr>
        </p:nvGraphicFramePr>
        <p:xfrm>
          <a:off x="1003386" y="4113979"/>
          <a:ext cx="7087796" cy="2425863"/>
        </p:xfrm>
        <a:graphic>
          <a:graphicData uri="http://schemas.openxmlformats.org/drawingml/2006/table">
            <a:tbl>
              <a:tblPr/>
              <a:tblGrid>
                <a:gridCol w="196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9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98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Типическое значение</a:t>
                      </a:r>
                    </a:p>
                  </a:txBody>
                  <a:tcPr marL="94924" marR="94924" marT="47462" marB="47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Номинальные данные</a:t>
                      </a:r>
                    </a:p>
                  </a:txBody>
                  <a:tcPr marL="94924" marR="94924" marT="47462" marB="47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Порядковые данные</a:t>
                      </a:r>
                    </a:p>
                  </a:txBody>
                  <a:tcPr marL="94924" marR="94924" marT="47462" marB="47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Интервальные данные</a:t>
                      </a:r>
                    </a:p>
                  </a:txBody>
                  <a:tcPr marL="94924" marR="94924" marT="47462" marB="47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39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Мода</a:t>
                      </a:r>
                    </a:p>
                  </a:txBody>
                  <a:tcPr marL="94924" marR="94924" marT="47462" marB="47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924" marR="94924" marT="47462" marB="47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924" marR="94924" marT="47462" marB="47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924" marR="94924" marT="47462" marB="47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Медиана</a:t>
                      </a:r>
                    </a:p>
                  </a:txBody>
                  <a:tcPr marL="94924" marR="94924" marT="47462" marB="47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924" marR="94924" marT="47462" marB="47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924" marR="94924" marT="47462" marB="47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924" marR="94924" marT="47462" marB="47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Среднее</a:t>
                      </a:r>
                    </a:p>
                  </a:txBody>
                  <a:tcPr marL="94924" marR="94924" marT="47462" marB="47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924" marR="94924" marT="47462" marB="47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924" marR="94924" marT="47462" marB="47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924" marR="94924" marT="47462" marB="47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6" name="Group 40">
            <a:extLst>
              <a:ext uri="{FF2B5EF4-FFF2-40B4-BE49-F238E27FC236}">
                <a16:creationId xmlns:a16="http://schemas.microsoft.com/office/drawing/2014/main" id="{9C3977FE-7F3A-4D62-B2AD-143D0BFEAD6B}"/>
              </a:ext>
            </a:extLst>
          </p:cNvPr>
          <p:cNvGrpSpPr>
            <a:grpSpLocks/>
          </p:cNvGrpSpPr>
          <p:nvPr/>
        </p:nvGrpSpPr>
        <p:grpSpPr bwMode="auto">
          <a:xfrm>
            <a:off x="3957861" y="5190937"/>
            <a:ext cx="3101690" cy="1340773"/>
            <a:chOff x="2530" y="2666"/>
            <a:chExt cx="2403" cy="1225"/>
          </a:xfrm>
        </p:grpSpPr>
        <p:sp>
          <p:nvSpPr>
            <p:cNvPr id="17" name="Oval 31">
              <a:extLst>
                <a:ext uri="{FF2B5EF4-FFF2-40B4-BE49-F238E27FC236}">
                  <a16:creationId xmlns:a16="http://schemas.microsoft.com/office/drawing/2014/main" id="{75D6F89C-BBA3-4307-94A5-3CA9E6613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0" y="2666"/>
              <a:ext cx="283" cy="28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8" name="Oval 32">
              <a:extLst>
                <a:ext uri="{FF2B5EF4-FFF2-40B4-BE49-F238E27FC236}">
                  <a16:creationId xmlns:a16="http://schemas.microsoft.com/office/drawing/2014/main" id="{844C4EEA-1E20-4CA6-A327-BDC307A95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4" y="2666"/>
              <a:ext cx="284" cy="28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9" name="Oval 33">
              <a:extLst>
                <a:ext uri="{FF2B5EF4-FFF2-40B4-BE49-F238E27FC236}">
                  <a16:creationId xmlns:a16="http://schemas.microsoft.com/office/drawing/2014/main" id="{85AD279C-D294-4BA4-9B09-0B092F62B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2666"/>
              <a:ext cx="283" cy="28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" name="Oval 34">
              <a:extLst>
                <a:ext uri="{FF2B5EF4-FFF2-40B4-BE49-F238E27FC236}">
                  <a16:creationId xmlns:a16="http://schemas.microsoft.com/office/drawing/2014/main" id="{1E3D1448-3AAF-4018-A845-8922DF576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5" y="3137"/>
              <a:ext cx="284" cy="28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1" name="Oval 35">
              <a:extLst>
                <a:ext uri="{FF2B5EF4-FFF2-40B4-BE49-F238E27FC236}">
                  <a16:creationId xmlns:a16="http://schemas.microsoft.com/office/drawing/2014/main" id="{341E96AB-9924-4779-AD8D-3DD5F9A27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3137"/>
              <a:ext cx="283" cy="28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2" name="Oval 36">
              <a:extLst>
                <a:ext uri="{FF2B5EF4-FFF2-40B4-BE49-F238E27FC236}">
                  <a16:creationId xmlns:a16="http://schemas.microsoft.com/office/drawing/2014/main" id="{F05B682B-FB35-447D-B6F7-F667C2E50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" y="3608"/>
              <a:ext cx="283" cy="283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23" name="Номер слайда 1">
            <a:extLst>
              <a:ext uri="{FF2B5EF4-FFF2-40B4-BE49-F238E27FC236}">
                <a16:creationId xmlns:a16="http://schemas.microsoft.com/office/drawing/2014/main" id="{38EB7FFC-D1EA-4BE0-92A7-19D8FCC22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701" y="6605017"/>
            <a:ext cx="516138" cy="379409"/>
          </a:xfrm>
        </p:spPr>
        <p:txBody>
          <a:bodyPr/>
          <a:lstStyle/>
          <a:p>
            <a:fld id="{952B6C0E-C4B9-4094-8E59-5B7DF00D5415}" type="slidenum">
              <a:rPr lang="ru-RU" sz="1200" b="0" smtClean="0"/>
              <a:t>43</a:t>
            </a:fld>
            <a:endParaRPr lang="ru-RU" sz="1200" b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EF6FE8-EBDD-45F1-BFE1-CDF6C42F0D20}"/>
              </a:ext>
            </a:extLst>
          </p:cNvPr>
          <p:cNvSpPr txBox="1"/>
          <p:nvPr/>
        </p:nvSpPr>
        <p:spPr>
          <a:xfrm>
            <a:off x="4427898" y="206017"/>
            <a:ext cx="4165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1600" i="1" dirty="0">
                <a:solidFill>
                  <a:schemeClr val="bg1">
                    <a:lumMod val="75000"/>
                  </a:schemeClr>
                </a:solidFill>
              </a:rPr>
              <a:t>Меры центральной тенденции </a:t>
            </a:r>
            <a:endParaRPr lang="ru-RU" sz="16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7701" y="544570"/>
            <a:ext cx="7560840" cy="92862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ru-RU" altLang="ru-RU" sz="3600" dirty="0"/>
              <a:t>Какое типичное значение наилучшее?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149549" y="1655765"/>
            <a:ext cx="10696607" cy="398570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81004" indent="-381004" defTabSz="914407">
              <a:buFontTx/>
              <a:buAutoNum type="arabicPeriod"/>
            </a:pPr>
            <a:r>
              <a:rPr lang="ru-RU" altLang="ru-RU" sz="2300" dirty="0"/>
              <a:t>«Наилучшее значение» - это такое, которое имеет наибольшую вероятность быть выбранным</a:t>
            </a:r>
            <a:r>
              <a:rPr lang="en-US" altLang="ru-RU" sz="2300" dirty="0"/>
              <a:t>. </a:t>
            </a:r>
            <a:r>
              <a:rPr lang="en-US" altLang="ru-RU" sz="2300" dirty="0">
                <a:sym typeface="Wingdings" panose="05000000000000000000" pitchFamily="2" charset="2"/>
              </a:rPr>
              <a:t> </a:t>
            </a:r>
            <a:r>
              <a:rPr lang="ru-RU" altLang="ru-RU" sz="2300" b="1" dirty="0">
                <a:sym typeface="Wingdings" panose="05000000000000000000" pitchFamily="2" charset="2"/>
              </a:rPr>
              <a:t>Мода</a:t>
            </a:r>
            <a:r>
              <a:rPr lang="ru-RU" altLang="ru-RU" sz="2300" dirty="0">
                <a:sym typeface="Wingdings" panose="05000000000000000000" pitchFamily="2" charset="2"/>
              </a:rPr>
              <a:t>.</a:t>
            </a:r>
            <a:endParaRPr lang="ru-RU" altLang="ru-RU" sz="2300" dirty="0"/>
          </a:p>
          <a:p>
            <a:pPr marL="381004" indent="-381004" defTabSz="914407">
              <a:buFontTx/>
              <a:buAutoNum type="arabicPeriod"/>
            </a:pPr>
            <a:endParaRPr lang="ru-RU" altLang="ru-RU" sz="2300" dirty="0"/>
          </a:p>
          <a:p>
            <a:pPr marL="381004" indent="-381004" defTabSz="914407">
              <a:buFontTx/>
              <a:buAutoNum type="arabicPeriod"/>
            </a:pPr>
            <a:r>
              <a:rPr lang="ru-RU" altLang="ru-RU" sz="2300" dirty="0"/>
              <a:t>«Наилучшее значение» - это такое значение, для которого сумма абсолютных отклонений значений переменной от типического будет наименьшей. </a:t>
            </a:r>
            <a:r>
              <a:rPr lang="en-US" altLang="ru-RU" sz="2300" dirty="0">
                <a:sym typeface="Wingdings" panose="05000000000000000000" pitchFamily="2" charset="2"/>
              </a:rPr>
              <a:t> </a:t>
            </a:r>
            <a:r>
              <a:rPr lang="ru-RU" altLang="ru-RU" sz="2300" b="1" dirty="0">
                <a:sym typeface="Wingdings" panose="05000000000000000000" pitchFamily="2" charset="2"/>
              </a:rPr>
              <a:t>Медиана</a:t>
            </a:r>
            <a:r>
              <a:rPr lang="ru-RU" altLang="ru-RU" sz="2300" dirty="0">
                <a:sym typeface="Wingdings" panose="05000000000000000000" pitchFamily="2" charset="2"/>
              </a:rPr>
              <a:t>.</a:t>
            </a:r>
            <a:endParaRPr lang="ru-RU" altLang="ru-RU" sz="2300" dirty="0"/>
          </a:p>
          <a:p>
            <a:pPr marL="381004" indent="-381004" defTabSz="914407">
              <a:buFontTx/>
              <a:buAutoNum type="arabicPeriod"/>
            </a:pPr>
            <a:endParaRPr lang="ru-RU" altLang="ru-RU" sz="2300" dirty="0"/>
          </a:p>
          <a:p>
            <a:pPr marL="381004" indent="-381004" defTabSz="914407">
              <a:buFontTx/>
              <a:buAutoNum type="arabicPeriod" startAt="3"/>
            </a:pPr>
            <a:r>
              <a:rPr lang="ru-RU" altLang="ru-RU" sz="2300" dirty="0"/>
              <a:t>«Наилучшее значение» - это такое значение, для которого сумма квадратов отклонений значений переменной от типического будет наименьшей. </a:t>
            </a:r>
            <a:r>
              <a:rPr lang="en-US" altLang="ru-RU" sz="2300" dirty="0">
                <a:sym typeface="Wingdings" panose="05000000000000000000" pitchFamily="2" charset="2"/>
              </a:rPr>
              <a:t> </a:t>
            </a:r>
            <a:r>
              <a:rPr lang="ru-RU" altLang="ru-RU" sz="2300" b="1" dirty="0">
                <a:sym typeface="Wingdings" panose="05000000000000000000" pitchFamily="2" charset="2"/>
              </a:rPr>
              <a:t>Среднее</a:t>
            </a:r>
            <a:r>
              <a:rPr lang="ru-RU" altLang="ru-RU" sz="2300" dirty="0">
                <a:sym typeface="Wingdings" panose="05000000000000000000" pitchFamily="2" charset="2"/>
              </a:rPr>
              <a:t>.</a:t>
            </a:r>
            <a:endParaRPr lang="ru-RU" altLang="ru-RU" sz="2300" dirty="0"/>
          </a:p>
          <a:p>
            <a:pPr marL="381004" indent="-381004" defTabSz="914407"/>
            <a:endParaRPr lang="ru-RU" altLang="ru-RU" sz="2300" dirty="0"/>
          </a:p>
        </p:txBody>
      </p:sp>
      <p:sp>
        <p:nvSpPr>
          <p:cNvPr id="7" name="Прямоугольник 7"/>
          <p:cNvSpPr>
            <a:spLocks noChangeArrowheads="1"/>
          </p:cNvSpPr>
          <p:nvPr/>
        </p:nvSpPr>
        <p:spPr bwMode="auto">
          <a:xfrm>
            <a:off x="4929188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bg2"/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44</a:t>
            </a:fld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510C1B-62A3-4029-8887-D2A0BC08042E}"/>
              </a:ext>
            </a:extLst>
          </p:cNvPr>
          <p:cNvSpPr txBox="1"/>
          <p:nvPr/>
        </p:nvSpPr>
        <p:spPr>
          <a:xfrm>
            <a:off x="4427898" y="206017"/>
            <a:ext cx="4165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1600" i="1" dirty="0">
                <a:solidFill>
                  <a:schemeClr val="bg1">
                    <a:lumMod val="75000"/>
                  </a:schemeClr>
                </a:solidFill>
              </a:rPr>
              <a:t>Меры центральной тенденции </a:t>
            </a:r>
            <a:endParaRPr lang="ru-RU" sz="16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7" name="AutoShape 5"/>
          <p:cNvSpPr>
            <a:spLocks noChangeArrowheads="1"/>
          </p:cNvSpPr>
          <p:nvPr/>
        </p:nvSpPr>
        <p:spPr bwMode="auto">
          <a:xfrm>
            <a:off x="2085977" y="395289"/>
            <a:ext cx="8351837" cy="1150937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7701" y="538808"/>
            <a:ext cx="7560840" cy="93439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ru-RU" altLang="ru-RU" sz="3600" dirty="0"/>
              <a:t>Какое типическое значение наилучшее?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709739" y="2194993"/>
            <a:ext cx="9248775" cy="2592288"/>
          </a:xfrm>
        </p:spPr>
        <p:txBody>
          <a:bodyPr/>
          <a:lstStyle/>
          <a:p>
            <a:pPr eaLnBrk="1" hangingPunct="1">
              <a:spcBef>
                <a:spcPct val="30000"/>
              </a:spcBef>
              <a:buClr>
                <a:srgbClr val="669900"/>
              </a:buClr>
              <a:buFont typeface="Wingdings" panose="05000000000000000000" pitchFamily="2" charset="2"/>
              <a:buChar char="ü"/>
            </a:pPr>
            <a:r>
              <a:rPr lang="ru-RU" altLang="ru-RU" sz="2400" dirty="0"/>
              <a:t>Если распределение не симметричное, то медиана лучше характеризует центр распределения.</a:t>
            </a:r>
          </a:p>
          <a:p>
            <a:pPr eaLnBrk="1" hangingPunct="1">
              <a:spcBef>
                <a:spcPct val="30000"/>
              </a:spcBef>
              <a:buClr>
                <a:srgbClr val="669900"/>
              </a:buClr>
              <a:buFont typeface="Wingdings" panose="05000000000000000000" pitchFamily="2" charset="2"/>
              <a:buChar char="ü"/>
            </a:pPr>
            <a:r>
              <a:rPr lang="ru-RU" altLang="ru-RU" sz="2400" dirty="0"/>
              <a:t> она содержит </a:t>
            </a:r>
            <a:r>
              <a:rPr lang="ru-RU" altLang="ru-RU" sz="2400" u="sng" dirty="0"/>
              <a:t>меньше информации</a:t>
            </a:r>
            <a:r>
              <a:rPr lang="ru-RU" altLang="ru-RU" sz="2400" dirty="0"/>
              <a:t>, чем среднее (определяется только рангом измерений, а не их значениями)</a:t>
            </a:r>
          </a:p>
          <a:p>
            <a:pPr eaLnBrk="1" hangingPunct="1">
              <a:spcBef>
                <a:spcPct val="30000"/>
              </a:spcBef>
              <a:buClr>
                <a:srgbClr val="669900"/>
              </a:buClr>
              <a:buFont typeface="Wingdings" panose="05000000000000000000" pitchFamily="2" charset="2"/>
              <a:buChar char="ü"/>
            </a:pPr>
            <a:r>
              <a:rPr lang="ru-RU" altLang="ru-RU" sz="2400" dirty="0"/>
              <a:t> но зато она не чувствительна к «выбросам» и может применяться даже в случае, если не для всех элементов измерения точные.</a:t>
            </a:r>
          </a:p>
          <a:p>
            <a:endParaRPr lang="ru-RU" sz="2400" dirty="0"/>
          </a:p>
        </p:txBody>
      </p:sp>
      <p:sp>
        <p:nvSpPr>
          <p:cNvPr id="7" name="Прямоугольник 7"/>
          <p:cNvSpPr>
            <a:spLocks noChangeArrowheads="1"/>
          </p:cNvSpPr>
          <p:nvPr/>
        </p:nvSpPr>
        <p:spPr bwMode="auto">
          <a:xfrm>
            <a:off x="4702967" y="0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chemeClr val="bg2"/>
                </a:solidFill>
                <a:latin typeface="Courier New" panose="02070309020205020404" pitchFamily="49" charset="0"/>
              </a:rPr>
              <a:t>Дескриптивный анализ</a:t>
            </a:r>
          </a:p>
        </p:txBody>
      </p:sp>
      <p:sp>
        <p:nvSpPr>
          <p:cNvPr id="8" name="Номер слайда 1">
            <a:extLst>
              <a:ext uri="{FF2B5EF4-FFF2-40B4-BE49-F238E27FC236}">
                <a16:creationId xmlns:a16="http://schemas.microsoft.com/office/drawing/2014/main" id="{006E520C-E9CA-4276-BCD3-781DBAAD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45</a:t>
            </a:fld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E53707-4219-4D4D-88E0-8E73FA220E20}"/>
              </a:ext>
            </a:extLst>
          </p:cNvPr>
          <p:cNvSpPr txBox="1"/>
          <p:nvPr/>
        </p:nvSpPr>
        <p:spPr>
          <a:xfrm>
            <a:off x="4427898" y="206017"/>
            <a:ext cx="4165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1600" i="1" dirty="0">
                <a:solidFill>
                  <a:schemeClr val="bg1">
                    <a:lumMod val="75000"/>
                  </a:schemeClr>
                </a:solidFill>
              </a:rPr>
              <a:t>Меры центральной тенденции </a:t>
            </a:r>
            <a:endParaRPr lang="ru-RU" sz="16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384553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 idx="4294967295"/>
          </p:nvPr>
        </p:nvSpPr>
        <p:spPr bwMode="auto">
          <a:xfrm>
            <a:off x="2013645" y="1763715"/>
            <a:ext cx="8271768" cy="1799431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lnSpc>
                <a:spcPct val="80000"/>
              </a:lnSpc>
            </a:pPr>
            <a:r>
              <a:rPr lang="ru-RU" altLang="ru-RU" b="1" dirty="0">
                <a:solidFill>
                  <a:srgbClr val="00B0F0"/>
                </a:solidFill>
              </a:rPr>
              <a:t>Визуальные представления  данных в </a:t>
            </a:r>
            <a:r>
              <a:rPr lang="ru-RU" altLang="ru-RU" b="1" dirty="0" err="1">
                <a:solidFill>
                  <a:srgbClr val="00B0F0"/>
                </a:solidFill>
              </a:rPr>
              <a:t>матстатистике</a:t>
            </a:r>
            <a:endParaRPr lang="ru-RU" altLang="ru-RU" b="1" dirty="0">
              <a:solidFill>
                <a:srgbClr val="00B0F0"/>
              </a:solidFill>
            </a:endParaRPr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003BD9E5-6548-4A70-B259-77EA4624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46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4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4000" dirty="0"/>
              <a:t>Визуальные представления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195390" y="1464773"/>
            <a:ext cx="7163062" cy="151296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>
              <a:buFontTx/>
              <a:buNone/>
            </a:pPr>
            <a:r>
              <a:rPr lang="ru-RU" altLang="ru-RU" sz="2400" b="1" dirty="0"/>
              <a:t>Графические изображения данных</a:t>
            </a:r>
            <a:r>
              <a:rPr lang="ru-RU" altLang="ru-RU" sz="2400" dirty="0"/>
              <a:t> дают визуальное представление об основных свойствах имеющегося набора данных (</a:t>
            </a:r>
            <a:r>
              <a:rPr lang="ru-RU" altLang="ru-RU" sz="2400" dirty="0">
                <a:solidFill>
                  <a:srgbClr val="FF0000"/>
                </a:solidFill>
              </a:rPr>
              <a:t>все названное входит в дескриптивный анализ</a:t>
            </a:r>
            <a:r>
              <a:rPr lang="ru-RU" altLang="ru-RU" sz="2400" dirty="0"/>
              <a:t>):</a:t>
            </a:r>
          </a:p>
          <a:p>
            <a:endParaRPr lang="ru-RU" altLang="ru-RU" sz="2400" dirty="0"/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1195390" y="1940253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47</a:t>
            </a:fld>
            <a:endParaRPr lang="ru-RU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184" y="827090"/>
            <a:ext cx="2846793" cy="2657847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195390" y="3533737"/>
            <a:ext cx="1068335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ru-RU" altLang="ru-RU" sz="2200" b="1" dirty="0"/>
              <a:t>1. Размах значений. </a:t>
            </a:r>
            <a:r>
              <a:rPr lang="ru-RU" altLang="ru-RU" sz="2200" dirty="0"/>
              <a:t>Минимальное и максимальное значения. </a:t>
            </a:r>
            <a:endParaRPr lang="ru-RU" altLang="ru-RU" sz="2200" b="1" dirty="0"/>
          </a:p>
          <a:p>
            <a:pPr>
              <a:buFontTx/>
              <a:buNone/>
            </a:pPr>
            <a:r>
              <a:rPr lang="ru-RU" altLang="ru-RU" sz="2200" b="1" dirty="0"/>
              <a:t>2. Типичные значения. </a:t>
            </a:r>
            <a:r>
              <a:rPr lang="ru-RU" altLang="ru-RU" sz="2200" dirty="0"/>
              <a:t>Какие значения встречаются чаще всего?</a:t>
            </a:r>
          </a:p>
          <a:p>
            <a:pPr>
              <a:buFontTx/>
              <a:buNone/>
            </a:pPr>
            <a:r>
              <a:rPr lang="ru-RU" altLang="ru-RU" sz="2200" b="1" dirty="0"/>
              <a:t>3. Рассеяние.</a:t>
            </a:r>
            <a:r>
              <a:rPr lang="ru-RU" altLang="ru-RU" sz="2200" dirty="0"/>
              <a:t> Какая типичная разница между данными?</a:t>
            </a:r>
            <a:endParaRPr lang="ru-RU" altLang="ru-RU" sz="2200" b="1" dirty="0"/>
          </a:p>
          <a:p>
            <a:pPr>
              <a:buFontTx/>
              <a:buNone/>
            </a:pPr>
            <a:r>
              <a:rPr lang="ru-RU" altLang="ru-RU" sz="2200" b="1" dirty="0"/>
              <a:t>4. Общая конфигурация данных. </a:t>
            </a:r>
            <a:r>
              <a:rPr lang="ru-RU" altLang="ru-RU" sz="2200" dirty="0"/>
              <a:t>Где сосредоточены основные данные? Симметрично ли они расположены вокруг типичного значения? В какую сторону смещены?</a:t>
            </a:r>
            <a:endParaRPr lang="ru-RU" altLang="ru-RU" sz="2200" b="1" dirty="0"/>
          </a:p>
          <a:p>
            <a:pPr>
              <a:buFontTx/>
              <a:buNone/>
            </a:pPr>
            <a:r>
              <a:rPr lang="ru-RU" altLang="ru-RU" sz="2200" b="1" dirty="0"/>
              <a:t>5. Характерные особенности. </a:t>
            </a:r>
            <a:r>
              <a:rPr lang="ru-RU" altLang="ru-RU" sz="2200" dirty="0"/>
              <a:t>Имеются ли выбросы? Есть ли значения, которые пропущены?</a:t>
            </a:r>
            <a:r>
              <a:rPr lang="ru-RU" altLang="ru-RU" sz="2200" b="1" dirty="0"/>
              <a:t> </a:t>
            </a:r>
            <a:endParaRPr lang="ru-RU" altLang="ru-RU" sz="2200" dirty="0"/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523262"/>
              </p:ext>
            </p:extLst>
          </p:nvPr>
        </p:nvGraphicFramePr>
        <p:xfrm>
          <a:off x="3241253" y="2201863"/>
          <a:ext cx="5769569" cy="3350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9879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938712" y="510880"/>
            <a:ext cx="6646365" cy="7200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4000" dirty="0"/>
              <a:t>Гистограммы частот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861517" y="1528950"/>
            <a:ext cx="10529042" cy="469849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ru-RU" altLang="ru-RU" sz="2400" b="1" dirty="0"/>
              <a:t>Гистограмма частот</a:t>
            </a:r>
            <a:r>
              <a:rPr lang="ru-RU" altLang="ru-RU" sz="2400" dirty="0"/>
              <a:t> – графическое представление, которое показывает распределение переменной.</a:t>
            </a:r>
          </a:p>
          <a:p>
            <a:pPr>
              <a:lnSpc>
                <a:spcPct val="90000"/>
              </a:lnSpc>
            </a:pPr>
            <a:endParaRPr lang="ru-RU" altLang="ru-RU" sz="2400" dirty="0"/>
          </a:p>
          <a:p>
            <a:pPr>
              <a:lnSpc>
                <a:spcPct val="90000"/>
              </a:lnSpc>
            </a:pPr>
            <a:endParaRPr lang="ru-RU" altLang="ru-RU" sz="2400" dirty="0"/>
          </a:p>
          <a:p>
            <a:pPr>
              <a:lnSpc>
                <a:spcPct val="90000"/>
              </a:lnSpc>
            </a:pPr>
            <a:endParaRPr lang="ru-RU" altLang="ru-RU" sz="2400" dirty="0"/>
          </a:p>
          <a:p>
            <a:pPr>
              <a:lnSpc>
                <a:spcPct val="90000"/>
              </a:lnSpc>
            </a:pPr>
            <a:endParaRPr lang="ru-RU" altLang="ru-RU" sz="2400" dirty="0"/>
          </a:p>
          <a:p>
            <a:pPr>
              <a:lnSpc>
                <a:spcPct val="90000"/>
              </a:lnSpc>
            </a:pPr>
            <a:endParaRPr lang="ru-RU" altLang="ru-RU" sz="2400" dirty="0"/>
          </a:p>
          <a:p>
            <a:pPr>
              <a:lnSpc>
                <a:spcPct val="90000"/>
              </a:lnSpc>
            </a:pPr>
            <a:endParaRPr lang="ru-RU" altLang="ru-RU" sz="2400" dirty="0"/>
          </a:p>
          <a:p>
            <a:pPr marL="0" indent="0">
              <a:lnSpc>
                <a:spcPct val="90000"/>
              </a:lnSpc>
              <a:buNone/>
            </a:pPr>
            <a:endParaRPr lang="ru-RU" altLang="ru-RU" sz="2400" dirty="0"/>
          </a:p>
          <a:p>
            <a:pPr marL="0" indent="0">
              <a:lnSpc>
                <a:spcPct val="90000"/>
              </a:lnSpc>
              <a:buNone/>
            </a:pPr>
            <a:endParaRPr lang="ru-RU" altLang="ru-RU" sz="2400" dirty="0"/>
          </a:p>
          <a:p>
            <a:pPr>
              <a:lnSpc>
                <a:spcPct val="90000"/>
              </a:lnSpc>
            </a:pPr>
            <a:r>
              <a:rPr lang="ru-RU" altLang="ru-RU" sz="2400" b="1" dirty="0"/>
              <a:t>Гистограмма относительных частот</a:t>
            </a:r>
            <a:r>
              <a:rPr lang="ru-RU" altLang="ru-RU" sz="2400" dirty="0"/>
              <a:t> строится преобразованием частот на оси Y в доли или проценты. </a:t>
            </a:r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1195390" y="1940253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18701" y="6605017"/>
            <a:ext cx="516138" cy="379409"/>
          </a:xfrm>
        </p:spPr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48</a:t>
            </a:fld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AutoShape 5"/>
          <p:cNvSpPr>
            <a:spLocks noChangeArrowheads="1"/>
          </p:cNvSpPr>
          <p:nvPr/>
        </p:nvSpPr>
        <p:spPr bwMode="auto">
          <a:xfrm>
            <a:off x="1999021" y="185978"/>
            <a:ext cx="8351837" cy="65532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2290" name="Text Box 4"/>
          <p:cNvSpPr txBox="1">
            <a:spLocks noChangeArrowheads="1"/>
          </p:cNvSpPr>
          <p:nvPr/>
        </p:nvSpPr>
        <p:spPr bwMode="auto">
          <a:xfrm>
            <a:off x="1989069" y="164961"/>
            <a:ext cx="8473666" cy="47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94">
                <a:solidFill>
                  <a:srgbClr val="FF0000"/>
                </a:solidFill>
              </a:rPr>
              <a:t>Частотное распределение количественной переменной</a:t>
            </a:r>
            <a:endParaRPr lang="ru-RU" altLang="ru-RU" sz="2286">
              <a:solidFill>
                <a:srgbClr val="FF0000"/>
              </a:solidFill>
            </a:endParaRPr>
          </a:p>
        </p:txBody>
      </p:sp>
      <p:pic>
        <p:nvPicPr>
          <p:cNvPr id="12291" name="Picture 6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8110751" y="2264907"/>
            <a:ext cx="509727" cy="597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1619560" y="1966330"/>
            <a:ext cx="1730435" cy="2020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 flipH="1">
            <a:off x="7139132" y="2190674"/>
            <a:ext cx="641696" cy="74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9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 flipH="1">
            <a:off x="4894022" y="2863712"/>
            <a:ext cx="981514" cy="1148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10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8057961" y="4211439"/>
            <a:ext cx="895734" cy="1047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Picture 11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4422235" y="1591868"/>
            <a:ext cx="1088738" cy="1271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7" name="Picture 12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5118370" y="4660131"/>
            <a:ext cx="833049" cy="973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8" name="Picture 13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 flipH="1">
            <a:off x="6015752" y="2639366"/>
            <a:ext cx="1238852" cy="144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9" name="Picture 14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9084017" y="3163940"/>
            <a:ext cx="767065" cy="897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0" name="Picture 15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7511945" y="2863712"/>
            <a:ext cx="960069" cy="112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1" name="Picture 16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 flipH="1">
            <a:off x="9458474" y="1217408"/>
            <a:ext cx="833050" cy="973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2" name="Picture 17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 flipH="1">
            <a:off x="7213365" y="5333169"/>
            <a:ext cx="981514" cy="1148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3" name="Picture 18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5791409" y="1667750"/>
            <a:ext cx="767065" cy="897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4" name="Picture 19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 flipH="1">
            <a:off x="9458477" y="4884479"/>
            <a:ext cx="1151423" cy="1346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5" name="Picture 20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7213367" y="918830"/>
            <a:ext cx="1090387" cy="1273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6" name="Picture 21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 flipH="1">
            <a:off x="2574679" y="1068943"/>
            <a:ext cx="981514" cy="1148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7" name="Picture 22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10281628" y="768716"/>
            <a:ext cx="767065" cy="897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8" name="Picture 23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1975875" y="5183055"/>
            <a:ext cx="960069" cy="112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9" name="Picture 24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8635325" y="1217408"/>
            <a:ext cx="833049" cy="973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10" name="Picture 25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 flipH="1">
            <a:off x="4295217" y="5258937"/>
            <a:ext cx="981515" cy="1148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11" name="Picture 26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3097603" y="4285671"/>
            <a:ext cx="509728" cy="597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12" name="Picture 27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 flipH="1">
            <a:off x="6614558" y="1067295"/>
            <a:ext cx="641696" cy="74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13" name="Picture 28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 flipH="1">
            <a:off x="4369448" y="3987093"/>
            <a:ext cx="981514" cy="1148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14" name="Picture 29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10057281" y="3987093"/>
            <a:ext cx="895734" cy="1047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15" name="Picture 30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3546295" y="842948"/>
            <a:ext cx="1088738" cy="1271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16" name="Picture 31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3546295" y="3462519"/>
            <a:ext cx="833050" cy="973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17" name="Picture 32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 flipH="1">
            <a:off x="5865639" y="5032942"/>
            <a:ext cx="1238853" cy="144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18" name="Picture 33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9009783" y="3987093"/>
            <a:ext cx="767066" cy="897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19" name="Picture 34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6015755" y="3987093"/>
            <a:ext cx="960069" cy="112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20" name="Picture 35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 flipH="1">
            <a:off x="10131513" y="2565135"/>
            <a:ext cx="833050" cy="973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21" name="Picture 36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 flipH="1">
            <a:off x="7213365" y="3911211"/>
            <a:ext cx="981514" cy="1148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22" name="Picture 37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5268481" y="918830"/>
            <a:ext cx="767066" cy="897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23" name="Picture 38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 flipH="1">
            <a:off x="8354893" y="5108825"/>
            <a:ext cx="1151423" cy="1346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24" name="Picture 39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 flipH="1">
            <a:off x="3472063" y="2116442"/>
            <a:ext cx="981514" cy="1148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25" name="Picture 40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1825761" y="1217408"/>
            <a:ext cx="767065" cy="897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26" name="Picture 41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3173487" y="5108823"/>
            <a:ext cx="960069" cy="112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27" name="Picture 42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8709554" y="2116443"/>
            <a:ext cx="833050" cy="973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28" name="Picture 43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 flipH="1">
            <a:off x="1899993" y="4061324"/>
            <a:ext cx="981515" cy="1148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29" name="Text Box 44"/>
          <p:cNvSpPr txBox="1">
            <a:spLocks noChangeArrowheads="1"/>
          </p:cNvSpPr>
          <p:nvPr/>
        </p:nvSpPr>
        <p:spPr bwMode="auto">
          <a:xfrm>
            <a:off x="4613589" y="6481293"/>
            <a:ext cx="3863558" cy="540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94">
                <a:solidFill>
                  <a:schemeClr val="bg1"/>
                </a:solidFill>
              </a:rPr>
              <a:t>Взвешиваем </a:t>
            </a:r>
            <a:r>
              <a:rPr lang="en-US" altLang="ru-RU" sz="2909" b="1" i="1">
                <a:solidFill>
                  <a:schemeClr val="bg1"/>
                </a:solidFill>
              </a:rPr>
              <a:t>N</a:t>
            </a:r>
            <a:r>
              <a:rPr lang="en-US" altLang="ru-RU" sz="2494">
                <a:solidFill>
                  <a:schemeClr val="bg1"/>
                </a:solidFill>
              </a:rPr>
              <a:t> </a:t>
            </a:r>
            <a:r>
              <a:rPr lang="ru-RU" altLang="ru-RU" sz="2494">
                <a:solidFill>
                  <a:schemeClr val="bg1"/>
                </a:solidFill>
              </a:rPr>
              <a:t>кроликов</a:t>
            </a:r>
          </a:p>
        </p:txBody>
      </p:sp>
      <p:sp>
        <p:nvSpPr>
          <p:cNvPr id="44" name="Номер слайда 1">
            <a:extLst>
              <a:ext uri="{FF2B5EF4-FFF2-40B4-BE49-F238E27FC236}">
                <a16:creationId xmlns:a16="http://schemas.microsoft.com/office/drawing/2014/main" id="{135F42A7-965C-44CC-A18D-5413A4A9B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49</a:t>
            </a:fld>
            <a:endParaRPr lang="ru-RU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32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2169328" y="194753"/>
            <a:ext cx="8133555" cy="70788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anchor="t" anchorCtr="0" compatLnSpc="1">
            <a:prstTxWarp prst="textNoShape">
              <a:avLst/>
            </a:prstTxWarp>
          </a:bodyPr>
          <a:lstStyle>
            <a:lvl1pPr algn="ctr" defTabSz="993775" eaLnBrk="0" hangingPunct="0"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993775" eaLnBrk="0" hangingPunct="0">
              <a:defRPr sz="4800">
                <a:solidFill>
                  <a:schemeClr val="tx2"/>
                </a:solidFill>
              </a:defRPr>
            </a:lvl2pPr>
            <a:lvl3pPr algn="ctr" defTabSz="993775" eaLnBrk="0" hangingPunct="0">
              <a:defRPr sz="4800">
                <a:solidFill>
                  <a:schemeClr val="tx2"/>
                </a:solidFill>
              </a:defRPr>
            </a:lvl3pPr>
            <a:lvl4pPr algn="ctr" defTabSz="993775" eaLnBrk="0" hangingPunct="0">
              <a:defRPr sz="4800">
                <a:solidFill>
                  <a:schemeClr val="tx2"/>
                </a:solidFill>
              </a:defRPr>
            </a:lvl4pPr>
            <a:lvl5pPr algn="ctr" defTabSz="993775" eaLnBrk="0" hangingPunct="0">
              <a:defRPr sz="4800">
                <a:solidFill>
                  <a:schemeClr val="tx2"/>
                </a:solidFill>
              </a:defRPr>
            </a:lvl5pPr>
            <a:lvl6pPr marL="457200" algn="ctr" defTabSz="993775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</a:defRPr>
            </a:lvl6pPr>
            <a:lvl7pPr marL="914400" algn="ctr" defTabSz="993775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</a:defRPr>
            </a:lvl7pPr>
            <a:lvl8pPr marL="1371600" algn="ctr" defTabSz="993775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</a:defRPr>
            </a:lvl8pPr>
            <a:lvl9pPr marL="1828800" algn="ctr" defTabSz="993775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</a:defRPr>
            </a:lvl9pPr>
          </a:lstStyle>
          <a:p>
            <a:r>
              <a:rPr lang="ru-RU" altLang="ru-RU" sz="3600" dirty="0"/>
              <a:t>Частотное распределение количественной переменной</a:t>
            </a:r>
          </a:p>
        </p:txBody>
      </p:sp>
      <p:sp>
        <p:nvSpPr>
          <p:cNvPr id="13315" name="Text Box 11"/>
          <p:cNvSpPr txBox="1">
            <a:spLocks noChangeArrowheads="1"/>
          </p:cNvSpPr>
          <p:nvPr/>
        </p:nvSpPr>
        <p:spPr bwMode="auto">
          <a:xfrm>
            <a:off x="1951953" y="1680072"/>
            <a:ext cx="8379986" cy="1243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ru-RU" altLang="ru-RU" sz="2494" dirty="0"/>
              <a:t>Упорядочим по возрастанию значения переменной (</a:t>
            </a:r>
            <a:r>
              <a:rPr lang="ru-RU" altLang="ru-RU" sz="2078" dirty="0"/>
              <a:t>выстроим кроликов от меньшего к большему</a:t>
            </a:r>
            <a:r>
              <a:rPr lang="ru-RU" altLang="ru-RU" sz="2494" dirty="0"/>
              <a:t>);</a:t>
            </a:r>
          </a:p>
          <a:p>
            <a:pPr eaLnBrk="1" hangingPunct="1">
              <a:buFontTx/>
              <a:buAutoNum type="arabicPeriod"/>
            </a:pPr>
            <a:r>
              <a:rPr lang="ru-RU" altLang="ru-RU" sz="2494" dirty="0"/>
              <a:t>Разобьём их на группы</a:t>
            </a:r>
            <a:r>
              <a:rPr lang="en-US" altLang="ru-RU" sz="2494" dirty="0"/>
              <a:t> </a:t>
            </a:r>
            <a:r>
              <a:rPr lang="ru-RU" altLang="ru-RU" sz="2494" dirty="0"/>
              <a:t>по равным интервалам.</a:t>
            </a:r>
          </a:p>
        </p:txBody>
      </p:sp>
      <p:pic>
        <p:nvPicPr>
          <p:cNvPr id="13316" name="Picture 12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9326507" y="3787492"/>
            <a:ext cx="1730435" cy="2020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13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2624169" y="5133567"/>
            <a:ext cx="577361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14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3117401" y="5135217"/>
            <a:ext cx="577361" cy="6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15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3759094" y="4985105"/>
            <a:ext cx="704380" cy="823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0" name="Picture 16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4590495" y="4909221"/>
            <a:ext cx="770364" cy="899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1" name="Picture 17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5436741" y="4760759"/>
            <a:ext cx="897384" cy="1047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2" name="Picture 18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6355573" y="4610643"/>
            <a:ext cx="1026053" cy="119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3" name="Picture 19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7348633" y="4460530"/>
            <a:ext cx="1154723" cy="1347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4" name="Picture 20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8361490" y="4236184"/>
            <a:ext cx="1346077" cy="1572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5" name="Picture 21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2218365" y="5283682"/>
            <a:ext cx="448692" cy="524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6" name="Picture 22" descr="j0304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6"/>
          <a:stretch>
            <a:fillRect/>
          </a:stretch>
        </p:blipFill>
        <p:spPr bwMode="auto">
          <a:xfrm>
            <a:off x="1759777" y="5359563"/>
            <a:ext cx="384357" cy="448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50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55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grpSp>
        <p:nvGrpSpPr>
          <p:cNvPr id="14338" name="Group 4"/>
          <p:cNvGrpSpPr>
            <a:grpSpLocks/>
          </p:cNvGrpSpPr>
          <p:nvPr/>
        </p:nvGrpSpPr>
        <p:grpSpPr bwMode="auto">
          <a:xfrm>
            <a:off x="5294199" y="2734598"/>
            <a:ext cx="6176117" cy="3878218"/>
            <a:chOff x="995" y="1347"/>
            <a:chExt cx="3744" cy="2351"/>
          </a:xfrm>
        </p:grpSpPr>
        <p:pic>
          <p:nvPicPr>
            <p:cNvPr id="14344" name="Picture 5" descr="гистограмма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E9F3DA"/>
                </a:clrFrom>
                <a:clrTo>
                  <a:srgbClr val="E9F3DA">
                    <a:alpha val="0"/>
                  </a:srgbClr>
                </a:clrTo>
              </a:clrChange>
              <a:lum contras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06" t="21434" r="1700" b="5823"/>
            <a:stretch>
              <a:fillRect/>
            </a:stretch>
          </p:blipFill>
          <p:spPr bwMode="auto">
            <a:xfrm>
              <a:off x="1292" y="1347"/>
              <a:ext cx="3447" cy="2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5" name="Text Box 6"/>
            <p:cNvSpPr txBox="1">
              <a:spLocks noChangeArrowheads="1"/>
            </p:cNvSpPr>
            <p:nvPr/>
          </p:nvSpPr>
          <p:spPr bwMode="auto">
            <a:xfrm rot="16200000">
              <a:off x="190" y="2152"/>
              <a:ext cx="185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078" dirty="0"/>
                <a:t>Масса кролика, кг</a:t>
              </a:r>
            </a:p>
          </p:txBody>
        </p:sp>
        <p:sp>
          <p:nvSpPr>
            <p:cNvPr id="14346" name="Text Box 7"/>
            <p:cNvSpPr txBox="1">
              <a:spLocks noChangeArrowheads="1"/>
            </p:cNvSpPr>
            <p:nvPr/>
          </p:nvSpPr>
          <p:spPr bwMode="auto">
            <a:xfrm>
              <a:off x="2665" y="3448"/>
              <a:ext cx="90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078" dirty="0"/>
                <a:t>Частота</a:t>
              </a:r>
            </a:p>
          </p:txBody>
        </p:sp>
      </p:grpSp>
      <p:sp>
        <p:nvSpPr>
          <p:cNvPr id="14339" name="Text Box 8"/>
          <p:cNvSpPr txBox="1">
            <a:spLocks noChangeArrowheads="1"/>
          </p:cNvSpPr>
          <p:nvPr/>
        </p:nvSpPr>
        <p:spPr bwMode="auto">
          <a:xfrm>
            <a:off x="1161439" y="1849976"/>
            <a:ext cx="10729192" cy="795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94" dirty="0">
                <a:solidFill>
                  <a:srgbClr val="A50021"/>
                </a:solidFill>
              </a:rPr>
              <a:t>Гистограмма </a:t>
            </a:r>
            <a:r>
              <a:rPr lang="ru-RU" altLang="ru-RU" sz="2078" dirty="0"/>
              <a:t>– графическое представление частотного распределения, разбитого по интервалам, где высота столбика отражает </a:t>
            </a:r>
            <a:r>
              <a:rPr lang="ru-RU" altLang="ru-RU" sz="2078" b="1" dirty="0"/>
              <a:t>ЧАСТОТУ</a:t>
            </a:r>
            <a:endParaRPr lang="ru-RU" altLang="ru-RU" sz="2494" b="1" dirty="0"/>
          </a:p>
        </p:txBody>
      </p:sp>
      <p:sp>
        <p:nvSpPr>
          <p:cNvPr id="14340" name="Text Box 9"/>
          <p:cNvSpPr txBox="1">
            <a:spLocks noChangeArrowheads="1"/>
          </p:cNvSpPr>
          <p:nvPr/>
        </p:nvSpPr>
        <p:spPr bwMode="auto">
          <a:xfrm>
            <a:off x="2169328" y="194753"/>
            <a:ext cx="8133555" cy="70788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anchor="t" anchorCtr="0" compatLnSpc="1">
            <a:prstTxWarp prst="textNoShape">
              <a:avLst/>
            </a:prstTxWarp>
          </a:bodyPr>
          <a:lstStyle>
            <a:lvl1pPr algn="ctr" defTabSz="993775" eaLnBrk="0" hangingPunct="0"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993775" eaLnBrk="0" hangingPunct="0">
              <a:defRPr sz="4800">
                <a:solidFill>
                  <a:schemeClr val="tx2"/>
                </a:solidFill>
              </a:defRPr>
            </a:lvl2pPr>
            <a:lvl3pPr algn="ctr" defTabSz="993775" eaLnBrk="0" hangingPunct="0">
              <a:defRPr sz="4800">
                <a:solidFill>
                  <a:schemeClr val="tx2"/>
                </a:solidFill>
              </a:defRPr>
            </a:lvl3pPr>
            <a:lvl4pPr algn="ctr" defTabSz="993775" eaLnBrk="0" hangingPunct="0">
              <a:defRPr sz="4800">
                <a:solidFill>
                  <a:schemeClr val="tx2"/>
                </a:solidFill>
              </a:defRPr>
            </a:lvl4pPr>
            <a:lvl5pPr algn="ctr" defTabSz="993775" eaLnBrk="0" hangingPunct="0">
              <a:defRPr sz="4800">
                <a:solidFill>
                  <a:schemeClr val="tx2"/>
                </a:solidFill>
              </a:defRPr>
            </a:lvl5pPr>
            <a:lvl6pPr marL="457200" algn="ctr" defTabSz="993775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</a:defRPr>
            </a:lvl6pPr>
            <a:lvl7pPr marL="914400" algn="ctr" defTabSz="993775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</a:defRPr>
            </a:lvl7pPr>
            <a:lvl8pPr marL="1371600" algn="ctr" defTabSz="993775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</a:defRPr>
            </a:lvl8pPr>
            <a:lvl9pPr marL="1828800" algn="ctr" defTabSz="993775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</a:defRPr>
            </a:lvl9pPr>
          </a:lstStyle>
          <a:p>
            <a:r>
              <a:rPr lang="ru-RU" altLang="ru-RU" sz="3600" dirty="0"/>
              <a:t>Частотное распределение количественной переменной</a:t>
            </a:r>
          </a:p>
        </p:txBody>
      </p:sp>
      <p:sp>
        <p:nvSpPr>
          <p:cNvPr id="14341" name="Text Box 22"/>
          <p:cNvSpPr txBox="1">
            <a:spLocks noChangeArrowheads="1"/>
          </p:cNvSpPr>
          <p:nvPr/>
        </p:nvSpPr>
        <p:spPr bwMode="auto">
          <a:xfrm>
            <a:off x="1170521" y="1373820"/>
            <a:ext cx="10711028" cy="47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94" dirty="0">
                <a:solidFill>
                  <a:srgbClr val="A50021"/>
                </a:solidFill>
              </a:rPr>
              <a:t>Частота</a:t>
            </a:r>
            <a:r>
              <a:rPr lang="ru-RU" altLang="ru-RU" sz="2078" dirty="0"/>
              <a:t> – то, сколько раз встретилось данное значение переменной</a:t>
            </a:r>
          </a:p>
        </p:txBody>
      </p:sp>
      <p:sp>
        <p:nvSpPr>
          <p:cNvPr id="14342" name="Text Box 23"/>
          <p:cNvSpPr txBox="1">
            <a:spLocks noChangeArrowheads="1"/>
          </p:cNvSpPr>
          <p:nvPr/>
        </p:nvSpPr>
        <p:spPr bwMode="auto">
          <a:xfrm>
            <a:off x="1137726" y="3078900"/>
            <a:ext cx="3940450" cy="2490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078" dirty="0"/>
              <a:t>Интервалы должны быть: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ru-RU" altLang="ru-RU" sz="2078" dirty="0"/>
              <a:t>одного размера,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ru-RU" altLang="ru-RU" sz="2078" dirty="0"/>
              <a:t>не должны иметь общих точек,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ru-RU" altLang="ru-RU" sz="2078" dirty="0"/>
              <a:t>для биологических данных – </a:t>
            </a:r>
            <a:r>
              <a:rPr lang="ru-RU" altLang="ru-RU" sz="2078" dirty="0">
                <a:solidFill>
                  <a:srgbClr val="CC0000"/>
                </a:solidFill>
              </a:rPr>
              <a:t>10-20</a:t>
            </a:r>
            <a:r>
              <a:rPr lang="ru-RU" altLang="ru-RU" sz="2078" dirty="0"/>
              <a:t> интервалов</a:t>
            </a:r>
          </a:p>
        </p:txBody>
      </p:sp>
      <p:sp>
        <p:nvSpPr>
          <p:cNvPr id="14343" name="Text Box 12"/>
          <p:cNvSpPr txBox="1">
            <a:spLocks noChangeArrowheads="1"/>
          </p:cNvSpPr>
          <p:nvPr/>
        </p:nvSpPr>
        <p:spPr bwMode="auto">
          <a:xfrm>
            <a:off x="1989070" y="6422764"/>
            <a:ext cx="4087145" cy="380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870" dirty="0"/>
              <a:t>Полигон частот (</a:t>
            </a:r>
            <a:r>
              <a:rPr lang="en-US" altLang="ru-RU" sz="1870" dirty="0"/>
              <a:t>frequency polygon</a:t>
            </a:r>
            <a:r>
              <a:rPr lang="ru-RU" altLang="ru-RU" sz="1870" dirty="0"/>
              <a:t>)</a:t>
            </a:r>
          </a:p>
        </p:txBody>
      </p:sp>
      <p:sp>
        <p:nvSpPr>
          <p:cNvPr id="13" name="Номер слайда 1">
            <a:extLst>
              <a:ext uri="{FF2B5EF4-FFF2-40B4-BE49-F238E27FC236}">
                <a16:creationId xmlns:a16="http://schemas.microsoft.com/office/drawing/2014/main" id="{24BED129-DFA8-4F3C-A312-B07FC803F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51</a:t>
            </a:fld>
            <a:endParaRPr lang="ru-RU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28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908" name="Group 12"/>
          <p:cNvGrpSpPr>
            <a:grpSpLocks/>
          </p:cNvGrpSpPr>
          <p:nvPr/>
        </p:nvGrpSpPr>
        <p:grpSpPr bwMode="auto">
          <a:xfrm>
            <a:off x="1438277" y="322263"/>
            <a:ext cx="9791700" cy="6553200"/>
            <a:chOff x="153" y="203"/>
            <a:chExt cx="6168" cy="4128"/>
          </a:xfrm>
        </p:grpSpPr>
        <p:sp>
          <p:nvSpPr>
            <p:cNvPr id="80905" name="AutoShape 4"/>
            <p:cNvSpPr>
              <a:spLocks noChangeArrowheads="1"/>
            </p:cNvSpPr>
            <p:nvPr/>
          </p:nvSpPr>
          <p:spPr bwMode="auto">
            <a:xfrm>
              <a:off x="153" y="203"/>
              <a:ext cx="6168" cy="4128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500">
                <a:solidFill>
                  <a:schemeClr val="bg1"/>
                </a:solidFill>
              </a:endParaRPr>
            </a:p>
          </p:txBody>
        </p:sp>
        <p:sp>
          <p:nvSpPr>
            <p:cNvPr id="80906" name="AutoShape 5"/>
            <p:cNvSpPr>
              <a:spLocks noChangeArrowheads="1"/>
            </p:cNvSpPr>
            <p:nvPr/>
          </p:nvSpPr>
          <p:spPr bwMode="auto">
            <a:xfrm>
              <a:off x="561" y="249"/>
              <a:ext cx="5261" cy="544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7882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500">
                <a:solidFill>
                  <a:schemeClr val="bg1"/>
                </a:solidFill>
              </a:endParaRPr>
            </a:p>
          </p:txBody>
        </p:sp>
        <p:sp>
          <p:nvSpPr>
            <p:cNvPr id="80907" name="AutoShape 6"/>
            <p:cNvSpPr>
              <a:spLocks noChangeArrowheads="1"/>
            </p:cNvSpPr>
            <p:nvPr/>
          </p:nvSpPr>
          <p:spPr bwMode="auto">
            <a:xfrm>
              <a:off x="244" y="1074"/>
              <a:ext cx="5941" cy="3196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7882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ru-RU" altLang="ru-RU" sz="3200">
                <a:solidFill>
                  <a:schemeClr val="bg1"/>
                </a:solidFill>
              </a:endParaRPr>
            </a:p>
          </p:txBody>
        </p:sp>
      </p:grp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618062" y="412401"/>
            <a:ext cx="7360692" cy="666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ru-RU" altLang="ru-RU" sz="4000" dirty="0"/>
              <a:t>Примеры</a:t>
            </a:r>
            <a:br>
              <a:rPr lang="ru-RU" altLang="ru-RU" sz="4000" dirty="0"/>
            </a:br>
            <a:r>
              <a:rPr lang="ru-RU" altLang="ru-RU" sz="2700" dirty="0"/>
              <a:t>столбчатые диаграммы</a:t>
            </a:r>
          </a:p>
        </p:txBody>
      </p:sp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4106864" y="1525587"/>
            <a:ext cx="4406574" cy="449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4924" tIns="47462" rIns="94924" bIns="47462">
            <a:spAutoFit/>
          </a:bodyPr>
          <a:lstStyle>
            <a:lvl1pPr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74663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49325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423988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98650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3558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8130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702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7274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300" b="1" dirty="0"/>
              <a:t>Политические предпочтения</a:t>
            </a:r>
          </a:p>
        </p:txBody>
      </p:sp>
      <p:grpSp>
        <p:nvGrpSpPr>
          <p:cNvPr id="80900" name="Group 4"/>
          <p:cNvGrpSpPr>
            <a:grpSpLocks/>
          </p:cNvGrpSpPr>
          <p:nvPr/>
        </p:nvGrpSpPr>
        <p:grpSpPr bwMode="auto">
          <a:xfrm>
            <a:off x="6468467" y="2255785"/>
            <a:ext cx="4627173" cy="3721746"/>
            <a:chOff x="3216" y="1058"/>
            <a:chExt cx="2354" cy="1976"/>
          </a:xfrm>
        </p:grpSpPr>
        <p:graphicFrame>
          <p:nvGraphicFramePr>
            <p:cNvPr id="2" name="Object 5"/>
            <p:cNvGraphicFramePr>
              <a:graphicFrameLocks noChangeAspect="1"/>
            </p:cNvGraphicFramePr>
            <p:nvPr/>
          </p:nvGraphicFramePr>
          <p:xfrm>
            <a:off x="3216" y="1058"/>
            <a:ext cx="2354" cy="149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80902" name="Text Box 6"/>
            <p:cNvSpPr txBox="1">
              <a:spLocks noChangeArrowheads="1"/>
            </p:cNvSpPr>
            <p:nvPr/>
          </p:nvSpPr>
          <p:spPr bwMode="auto">
            <a:xfrm>
              <a:off x="3899" y="2795"/>
              <a:ext cx="855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24" tIns="47462" rIns="94924" bIns="47462">
              <a:spAutoFit/>
            </a:bodyPr>
            <a:lstStyle>
              <a:lvl1pPr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74663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949325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423988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898650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3558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8130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2702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7274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ru-RU" altLang="ru-RU" sz="2300" b="1" dirty="0"/>
                <a:t>Проценты</a:t>
              </a:r>
            </a:p>
          </p:txBody>
        </p:sp>
      </p:grpSp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1528765" y="2178051"/>
          <a:ext cx="4899025" cy="311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2230439" y="5580063"/>
            <a:ext cx="3239011" cy="449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4924" tIns="47462" rIns="94924" bIns="47462">
            <a:spAutoFit/>
          </a:bodyPr>
          <a:lstStyle>
            <a:lvl1pPr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74663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49325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423988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98650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3558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8130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702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7274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300" b="1"/>
              <a:t>Абсолютная частота</a:t>
            </a:r>
          </a:p>
        </p:txBody>
      </p:sp>
      <p:sp>
        <p:nvSpPr>
          <p:cNvPr id="14" name="Номер слайда 1">
            <a:extLst>
              <a:ext uri="{FF2B5EF4-FFF2-40B4-BE49-F238E27FC236}">
                <a16:creationId xmlns:a16="http://schemas.microsoft.com/office/drawing/2014/main" id="{1FD59042-363C-4E1E-B6B2-53B347E44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52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9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4142582" y="1407032"/>
            <a:ext cx="4406574" cy="449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4924" tIns="47462" rIns="94924" bIns="47462">
            <a:spAutoFit/>
          </a:bodyPr>
          <a:lstStyle>
            <a:lvl1pPr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74663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49325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423988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98650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3558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8130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702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7274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300" b="1" dirty="0"/>
              <a:t>Политические предпочтения</a:t>
            </a:r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151823"/>
              </p:ext>
            </p:extLst>
          </p:nvPr>
        </p:nvGraphicFramePr>
        <p:xfrm>
          <a:off x="6517533" y="2286507"/>
          <a:ext cx="4232275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1925" name="Text Box 5"/>
          <p:cNvSpPr txBox="1">
            <a:spLocks noChangeArrowheads="1"/>
          </p:cNvSpPr>
          <p:nvPr/>
        </p:nvSpPr>
        <p:spPr bwMode="auto">
          <a:xfrm>
            <a:off x="7971682" y="5288469"/>
            <a:ext cx="1680892" cy="449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4924" tIns="47462" rIns="94924" bIns="47462">
            <a:spAutoFit/>
          </a:bodyPr>
          <a:lstStyle>
            <a:lvl1pPr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74663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49325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423988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98650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3558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8130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702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7274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300" b="1"/>
              <a:t>Проценты</a:t>
            </a: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5921535"/>
              </p:ext>
            </p:extLst>
          </p:nvPr>
        </p:nvGraphicFramePr>
        <p:xfrm>
          <a:off x="2085233" y="2254759"/>
          <a:ext cx="4106863" cy="2847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1927" name="Text Box 7"/>
          <p:cNvSpPr txBox="1">
            <a:spLocks noChangeArrowheads="1"/>
          </p:cNvSpPr>
          <p:nvPr/>
        </p:nvSpPr>
        <p:spPr bwMode="auto">
          <a:xfrm>
            <a:off x="2458295" y="5288469"/>
            <a:ext cx="3205156" cy="449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4924" tIns="47462" rIns="94924" bIns="47462">
            <a:spAutoFit/>
          </a:bodyPr>
          <a:lstStyle>
            <a:lvl1pPr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74663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49325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423988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98650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3558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8130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702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7274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300" b="1"/>
              <a:t>Абсолютная частота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53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618062" y="412401"/>
            <a:ext cx="7360692" cy="666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ru-RU" altLang="ru-RU" sz="4000" dirty="0"/>
              <a:t>Примеры</a:t>
            </a:r>
            <a:br>
              <a:rPr lang="ru-RU" altLang="ru-RU" sz="4000" dirty="0"/>
            </a:br>
            <a:r>
              <a:rPr lang="ru-RU" altLang="ru-RU" sz="2700" dirty="0"/>
              <a:t>столбчатые диаграммы</a:t>
            </a:r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51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4608663" y="1725612"/>
            <a:ext cx="3632131" cy="449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4924" tIns="47462" rIns="94924" bIns="47462">
            <a:spAutoFit/>
          </a:bodyPr>
          <a:lstStyle>
            <a:lvl1pPr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74663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49325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423988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98650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3558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8130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702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7274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300" b="1"/>
              <a:t>Отметки по математике</a:t>
            </a:r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164206"/>
              </p:ext>
            </p:extLst>
          </p:nvPr>
        </p:nvGraphicFramePr>
        <p:xfrm>
          <a:off x="2877741" y="2651900"/>
          <a:ext cx="6411492" cy="3782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2949" name="Text Box 5"/>
          <p:cNvSpPr txBox="1">
            <a:spLocks noChangeArrowheads="1"/>
          </p:cNvSpPr>
          <p:nvPr/>
        </p:nvSpPr>
        <p:spPr bwMode="auto">
          <a:xfrm>
            <a:off x="4749949" y="2195512"/>
            <a:ext cx="3384884" cy="449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4924" tIns="47462" rIns="94924" bIns="47462">
            <a:spAutoFit/>
          </a:bodyPr>
          <a:lstStyle>
            <a:lvl1pPr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74663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49325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423988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98650" defTabSz="9493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3558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8130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702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727450" defTabSz="9493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300" b="1" dirty="0"/>
              <a:t>(абсолютная частота)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54</a:t>
            </a:fld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34891" y="395289"/>
            <a:ext cx="7360692" cy="666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ru-RU" altLang="ru-RU" sz="4000" dirty="0"/>
              <a:t>Примеры</a:t>
            </a:r>
            <a:br>
              <a:rPr lang="ru-RU" altLang="ru-RU" sz="4000" dirty="0"/>
            </a:br>
            <a:r>
              <a:rPr lang="ru-RU" altLang="ru-RU" sz="2700" dirty="0"/>
              <a:t>столбчатые диаграммы</a:t>
            </a:r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4" name="AutoShape 4"/>
          <p:cNvSpPr>
            <a:spLocks noChangeArrowheads="1"/>
          </p:cNvSpPr>
          <p:nvPr/>
        </p:nvSpPr>
        <p:spPr bwMode="auto">
          <a:xfrm>
            <a:off x="1438277" y="322263"/>
            <a:ext cx="9791700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3975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3976" name="AutoShape 6"/>
          <p:cNvSpPr>
            <a:spLocks noChangeArrowheads="1"/>
          </p:cNvSpPr>
          <p:nvPr/>
        </p:nvSpPr>
        <p:spPr bwMode="auto">
          <a:xfrm>
            <a:off x="1582738" y="1704975"/>
            <a:ext cx="9431338" cy="507365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>
              <a:solidFill>
                <a:schemeClr val="bg1"/>
              </a:solidFill>
            </a:endParaRPr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66033" y="538808"/>
            <a:ext cx="7864748" cy="61309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ru-RU" altLang="ru-RU" sz="4000" dirty="0"/>
              <a:t>Пример. Тест первокурсников</a:t>
            </a:r>
          </a:p>
        </p:txBody>
      </p:sp>
      <p:sp>
        <p:nvSpPr>
          <p:cNvPr id="83973" name="Rectangle 5"/>
          <p:cNvSpPr>
            <a:spLocks noGrp="1" noChangeArrowheads="1"/>
          </p:cNvSpPr>
          <p:nvPr>
            <p:ph idx="1"/>
          </p:nvPr>
        </p:nvSpPr>
        <p:spPr bwMode="auto">
          <a:xfrm>
            <a:off x="1383734" y="1349379"/>
            <a:ext cx="10320116" cy="1050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2300" dirty="0"/>
              <a:t>Первокурсники социологического факультета написали тест по математике. В тесте приняли участие 331 человек. Оценивалось 11 заданий.  </a:t>
            </a:r>
          </a:p>
          <a:p>
            <a:endParaRPr lang="ru-RU" altLang="ru-RU" sz="2300" dirty="0"/>
          </a:p>
        </p:txBody>
      </p:sp>
      <p:pic>
        <p:nvPicPr>
          <p:cNvPr id="839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383" y="2486821"/>
            <a:ext cx="5153025" cy="367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3972" name="Object 4"/>
          <p:cNvGraphicFramePr>
            <a:graphicFrameLocks noChangeAspect="1"/>
          </p:cNvGraphicFramePr>
          <p:nvPr/>
        </p:nvGraphicFramePr>
        <p:xfrm>
          <a:off x="7005638" y="2713038"/>
          <a:ext cx="3652838" cy="358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19" name="Рисунок" r:id="rId4" imgW="3520440" imgH="3590449" progId="StaticEnhancedMetafile">
                  <p:embed/>
                </p:oleObj>
              </mc:Choice>
              <mc:Fallback>
                <p:oleObj name="Рисунок" r:id="rId4" imgW="3520440" imgH="3590449" progId="StaticEnhancedMetafil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5638" y="2713038"/>
                        <a:ext cx="3652838" cy="358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55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8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/>
              <a:t>Нормальное распределение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916738" y="1671669"/>
            <a:ext cx="4624388" cy="4276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2400" dirty="0"/>
              <a:t>Анализ данных наиболее эффективен в случае, когда гистограмма близка к нормальному распределению.</a:t>
            </a:r>
          </a:p>
          <a:p>
            <a:endParaRPr lang="ru-RU" altLang="ru-RU" sz="2400" dirty="0"/>
          </a:p>
          <a:p>
            <a:r>
              <a:rPr lang="ru-RU" altLang="ru-RU" sz="2400" dirty="0"/>
              <a:t>На гистограмме нарисована линия для нормального распределения с параметрами 4,3 и 2,71.</a:t>
            </a:r>
          </a:p>
        </p:txBody>
      </p:sp>
      <p:graphicFrame>
        <p:nvGraphicFramePr>
          <p:cNvPr id="849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111405"/>
              </p:ext>
            </p:extLst>
          </p:nvPr>
        </p:nvGraphicFramePr>
        <p:xfrm>
          <a:off x="6525252" y="1455767"/>
          <a:ext cx="4402137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41" name="Рисунок" r:id="rId3" imgW="3520440" imgH="3590449" progId="StaticEnhancedMetafile">
                  <p:embed/>
                </p:oleObj>
              </mc:Choice>
              <mc:Fallback>
                <p:oleObj name="Рисунок" r:id="rId3" imgW="3520440" imgH="3590449" progId="StaticEnhancedMetafil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5252" y="1455767"/>
                        <a:ext cx="4402137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56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2" name="AutoShape 4"/>
          <p:cNvSpPr>
            <a:spLocks noChangeArrowheads="1"/>
          </p:cNvSpPr>
          <p:nvPr/>
        </p:nvSpPr>
        <p:spPr bwMode="auto">
          <a:xfrm>
            <a:off x="1438277" y="322263"/>
            <a:ext cx="9791700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6023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6024" name="AutoShape 6"/>
          <p:cNvSpPr>
            <a:spLocks noChangeArrowheads="1"/>
          </p:cNvSpPr>
          <p:nvPr/>
        </p:nvSpPr>
        <p:spPr bwMode="auto">
          <a:xfrm>
            <a:off x="1582738" y="1704975"/>
            <a:ext cx="9431338" cy="507365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>
              <a:solidFill>
                <a:schemeClr val="bg1"/>
              </a:solidFill>
            </a:endParaRPr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22017" y="417568"/>
            <a:ext cx="8152780" cy="75711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4000" dirty="0"/>
              <a:t>Бимодальное распределение 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68081" y="2424409"/>
            <a:ext cx="5477789" cy="363478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2100" dirty="0"/>
              <a:t>Если в гистограмме видны две отдельные группы данных, говорят о </a:t>
            </a:r>
            <a:r>
              <a:rPr lang="ru-RU" altLang="ru-RU" sz="2100" b="1" dirty="0"/>
              <a:t>бимодальном распределении данных</a:t>
            </a:r>
            <a:r>
              <a:rPr lang="ru-RU" altLang="ru-RU" sz="2100" dirty="0"/>
              <a:t>.</a:t>
            </a:r>
          </a:p>
          <a:p>
            <a:endParaRPr lang="ru-RU" altLang="ru-RU" sz="2100" dirty="0"/>
          </a:p>
          <a:p>
            <a:r>
              <a:rPr lang="ru-RU" altLang="ru-RU" sz="2100" dirty="0"/>
              <a:t>Возможно, следует изменить ход анализа:</a:t>
            </a:r>
          </a:p>
          <a:p>
            <a:r>
              <a:rPr lang="ru-RU" altLang="ru-RU" sz="2100" dirty="0"/>
              <a:t>1 вариант - отказаться от изучения одной из групп</a:t>
            </a:r>
          </a:p>
          <a:p>
            <a:r>
              <a:rPr lang="ru-RU" altLang="ru-RU" sz="2100" dirty="0"/>
              <a:t>2 вариант - изменить подход к сбору и анализу данных</a:t>
            </a:r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967670"/>
              </p:ext>
            </p:extLst>
          </p:nvPr>
        </p:nvGraphicFramePr>
        <p:xfrm>
          <a:off x="6118101" y="2333845"/>
          <a:ext cx="5422900" cy="3954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6440366" y="1414681"/>
            <a:ext cx="5026025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24" tIns="47462" rIns="94924" bIns="47462"/>
          <a:lstStyle>
            <a:lvl1pPr eaLnBrk="0" hangingPunct="0">
              <a:spcBef>
                <a:spcPct val="20000"/>
              </a:spcBef>
              <a:buChar char="•"/>
              <a:defRPr sz="3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ru-RU" altLang="ru-RU" sz="2300" b="1"/>
              <a:t>Пример.</a:t>
            </a:r>
            <a:r>
              <a:rPr lang="ru-RU" altLang="ru-RU" sz="2300"/>
              <a:t> Продолжительность пребывания больных в стационаре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57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7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/>
              <a:t>Выбросы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978794" y="1331913"/>
            <a:ext cx="5040312" cy="47037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2400" dirty="0"/>
              <a:t>Сильно отклоняющиеся значения называются </a:t>
            </a:r>
            <a:r>
              <a:rPr lang="ru-RU" altLang="ru-RU" sz="2400" b="1" dirty="0"/>
              <a:t>выбросами</a:t>
            </a:r>
            <a:r>
              <a:rPr lang="ru-RU" altLang="ru-RU" sz="2400" dirty="0"/>
              <a:t>. </a:t>
            </a:r>
          </a:p>
          <a:p>
            <a:endParaRPr lang="ru-RU" altLang="ru-RU" sz="2400" dirty="0"/>
          </a:p>
          <a:p>
            <a:r>
              <a:rPr lang="ru-RU" altLang="ru-RU" sz="2400" dirty="0"/>
              <a:t>Следует решить, отказаться от выбросов в дальнейшем исследовании или нет. Можно провести два исследования параллельно – с выбросами и без. Если выбросы исключаются, это должно быть аргументировано и детально описано в отчете. </a:t>
            </a:r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766621"/>
              </p:ext>
            </p:extLst>
          </p:nvPr>
        </p:nvGraphicFramePr>
        <p:xfrm>
          <a:off x="6341625" y="2141125"/>
          <a:ext cx="5129212" cy="3927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6082606" y="1289050"/>
            <a:ext cx="5040312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24" tIns="47462" rIns="94924" bIns="47462"/>
          <a:lstStyle>
            <a:lvl1pPr marL="342900" indent="-342900" eaLnBrk="0" hangingPunct="0">
              <a:spcBef>
                <a:spcPct val="20000"/>
              </a:spcBef>
              <a:buChar char="•"/>
              <a:defRPr sz="3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ru-RU" altLang="ru-RU" sz="2300" b="1" dirty="0"/>
              <a:t>	Пример.</a:t>
            </a:r>
            <a:r>
              <a:rPr lang="ru-RU" altLang="ru-RU" sz="2300" dirty="0"/>
              <a:t> Время обслуживания одного клиента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58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71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/>
              <a:t>Полигоны частот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135465" y="1430140"/>
            <a:ext cx="6062756" cy="422123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altLang="ru-RU" sz="2400" b="1" dirty="0"/>
              <a:t>Полигон, </a:t>
            </a:r>
            <a:r>
              <a:rPr lang="ru-RU" altLang="ru-RU" sz="2400" dirty="0"/>
              <a:t>в отличие от гистограммы, строится в виде линии, проходящей по точкам, соответствующим серединам интервалов и частотам. </a:t>
            </a:r>
          </a:p>
          <a:p>
            <a:endParaRPr lang="ru-RU" altLang="ru-RU" sz="2400" dirty="0"/>
          </a:p>
          <a:p>
            <a:r>
              <a:rPr lang="ru-RU" altLang="ru-RU" sz="2400" dirty="0"/>
              <a:t>Зрительное представление о распределении частот, полученное при помощи полигона, довольно сильно отличается от гистограммы даже при одних и тех же данных. 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1195390" y="205931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880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216586"/>
              </p:ext>
            </p:extLst>
          </p:nvPr>
        </p:nvGraphicFramePr>
        <p:xfrm>
          <a:off x="6919510" y="1258888"/>
          <a:ext cx="4613275" cy="471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15" name="Рисунок" r:id="rId3" imgW="3520440" imgH="3590449" progId="StaticEnhancedMetafile">
                  <p:embed/>
                </p:oleObj>
              </mc:Choice>
              <mc:Fallback>
                <p:oleObj name="Рисунок" r:id="rId3" imgW="3520440" imgH="3590449" progId="StaticEnhancedMetafil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9510" y="1258888"/>
                        <a:ext cx="4613275" cy="471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59</a:t>
            </a:fld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9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/>
              <a:t>Кумулята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13030" y="1154113"/>
            <a:ext cx="5616575" cy="118771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80000"/>
              </a:lnSpc>
            </a:pPr>
            <a:r>
              <a:rPr lang="ru-RU" altLang="ru-RU" sz="2400" b="1" dirty="0" err="1"/>
              <a:t>Кумулята</a:t>
            </a:r>
            <a:r>
              <a:rPr lang="ru-RU" altLang="ru-RU" sz="2400" dirty="0"/>
              <a:t> позволяет при помощи графика ответить на вопрос, сколько человек имеет, например, 5 и менее решенных задач.</a:t>
            </a:r>
          </a:p>
          <a:p>
            <a:pPr>
              <a:lnSpc>
                <a:spcPct val="80000"/>
              </a:lnSpc>
            </a:pPr>
            <a:endParaRPr lang="ru-RU" altLang="ru-RU" sz="2400" dirty="0"/>
          </a:p>
        </p:txBody>
      </p:sp>
      <p:grpSp>
        <p:nvGrpSpPr>
          <p:cNvPr id="89097" name="Group 9"/>
          <p:cNvGrpSpPr>
            <a:grpSpLocks/>
          </p:cNvGrpSpPr>
          <p:nvPr/>
        </p:nvGrpSpPr>
        <p:grpSpPr bwMode="auto">
          <a:xfrm>
            <a:off x="7068982" y="2114080"/>
            <a:ext cx="4186238" cy="4276725"/>
            <a:chOff x="3684" y="1365"/>
            <a:chExt cx="2637" cy="2694"/>
          </a:xfrm>
        </p:grpSpPr>
        <p:graphicFrame>
          <p:nvGraphicFramePr>
            <p:cNvPr id="89092" name="Object 4"/>
            <p:cNvGraphicFramePr>
              <a:graphicFrameLocks noChangeAspect="1"/>
            </p:cNvGraphicFramePr>
            <p:nvPr/>
          </p:nvGraphicFramePr>
          <p:xfrm>
            <a:off x="3684" y="1365"/>
            <a:ext cx="2637" cy="26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244" name="Рисунок" r:id="rId3" imgW="3520440" imgH="3590449" progId="StaticEnhancedMetafile">
                    <p:embed/>
                  </p:oleObj>
                </mc:Choice>
                <mc:Fallback>
                  <p:oleObj name="Рисунок" r:id="rId3" imgW="3520440" imgH="3590449" progId="StaticEnhancedMetafile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4" y="1365"/>
                          <a:ext cx="2637" cy="26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093" name="Line 5"/>
            <p:cNvSpPr>
              <a:spLocks noChangeShapeType="1"/>
            </p:cNvSpPr>
            <p:nvPr/>
          </p:nvSpPr>
          <p:spPr bwMode="auto">
            <a:xfrm flipV="1">
              <a:off x="5142" y="2423"/>
              <a:ext cx="0" cy="1273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9094" name="Line 6"/>
            <p:cNvSpPr>
              <a:spLocks noChangeShapeType="1"/>
            </p:cNvSpPr>
            <p:nvPr/>
          </p:nvSpPr>
          <p:spPr bwMode="auto">
            <a:xfrm flipH="1">
              <a:off x="4249" y="2423"/>
              <a:ext cx="893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8909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368" y="2470319"/>
            <a:ext cx="5153025" cy="367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9096" name="Oval 8"/>
          <p:cNvSpPr>
            <a:spLocks noChangeArrowheads="1"/>
          </p:cNvSpPr>
          <p:nvPr/>
        </p:nvSpPr>
        <p:spPr bwMode="auto">
          <a:xfrm>
            <a:off x="3200554" y="3222793"/>
            <a:ext cx="671512" cy="126365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60</a:t>
            </a:fld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66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90167" name="AutoShape 6"/>
          <p:cNvSpPr>
            <a:spLocks noChangeArrowheads="1"/>
          </p:cNvSpPr>
          <p:nvPr/>
        </p:nvSpPr>
        <p:spPr bwMode="auto">
          <a:xfrm>
            <a:off x="1582738" y="1704975"/>
            <a:ext cx="9431338" cy="507365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>
              <a:solidFill>
                <a:schemeClr val="bg1"/>
              </a:solidFill>
            </a:endParaRPr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/>
              <a:t>Кумулята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1195390" y="205931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939914"/>
              </p:ext>
            </p:extLst>
          </p:nvPr>
        </p:nvGraphicFramePr>
        <p:xfrm>
          <a:off x="1231182" y="1469279"/>
          <a:ext cx="5833150" cy="445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118" name="Line 6"/>
          <p:cNvSpPr>
            <a:spLocks noChangeShapeType="1"/>
          </p:cNvSpPr>
          <p:nvPr/>
        </p:nvSpPr>
        <p:spPr bwMode="auto">
          <a:xfrm flipV="1">
            <a:off x="3758282" y="4062239"/>
            <a:ext cx="0" cy="6477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90119" name="Line 7"/>
          <p:cNvSpPr>
            <a:spLocks noChangeShapeType="1"/>
          </p:cNvSpPr>
          <p:nvPr/>
        </p:nvSpPr>
        <p:spPr bwMode="auto">
          <a:xfrm flipH="1">
            <a:off x="1972632" y="4062239"/>
            <a:ext cx="1785649" cy="4961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61</a:t>
            </a:fld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254780"/>
              </p:ext>
            </p:extLst>
          </p:nvPr>
        </p:nvGraphicFramePr>
        <p:xfrm>
          <a:off x="8304609" y="941071"/>
          <a:ext cx="2769394" cy="5663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697">
                  <a:extLst>
                    <a:ext uri="{9D8B030D-6E8A-4147-A177-3AD203B41FA5}">
                      <a16:colId xmlns:a16="http://schemas.microsoft.com/office/drawing/2014/main" val="3190530620"/>
                    </a:ext>
                  </a:extLst>
                </a:gridCol>
                <a:gridCol w="1384697">
                  <a:extLst>
                    <a:ext uri="{9D8B030D-6E8A-4147-A177-3AD203B41FA5}">
                      <a16:colId xmlns:a16="http://schemas.microsoft.com/office/drawing/2014/main" val="3496204387"/>
                    </a:ext>
                  </a:extLst>
                </a:gridCol>
              </a:tblGrid>
              <a:tr h="794004">
                <a:tc>
                  <a:txBody>
                    <a:bodyPr/>
                    <a:lstStyle/>
                    <a:p>
                      <a:pPr algn="ctr"/>
                      <a:r>
                        <a:rPr lang="ru-RU" sz="2300" dirty="0"/>
                        <a:t>Интервалы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f</a:t>
                      </a:r>
                      <a:endParaRPr lang="ru-RU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651149"/>
                  </a:ext>
                </a:extLst>
              </a:tr>
              <a:tr h="442722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45-49</a:t>
                      </a:r>
                      <a:endParaRPr lang="ru-RU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3</a:t>
                      </a:r>
                      <a:endParaRPr lang="ru-RU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422121"/>
                  </a:ext>
                </a:extLst>
              </a:tr>
              <a:tr h="442722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50-52</a:t>
                      </a:r>
                      <a:endParaRPr lang="ru-RU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5</a:t>
                      </a:r>
                      <a:endParaRPr lang="ru-RU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951833"/>
                  </a:ext>
                </a:extLst>
              </a:tr>
              <a:tr h="442722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54-55</a:t>
                      </a:r>
                      <a:endParaRPr lang="ru-RU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10</a:t>
                      </a:r>
                      <a:endParaRPr lang="ru-RU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00829"/>
                  </a:ext>
                </a:extLst>
              </a:tr>
              <a:tr h="442722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56-58</a:t>
                      </a:r>
                      <a:endParaRPr lang="ru-RU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15</a:t>
                      </a:r>
                      <a:endParaRPr lang="ru-RU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440898"/>
                  </a:ext>
                </a:extLst>
              </a:tr>
              <a:tr h="442722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59-62</a:t>
                      </a:r>
                      <a:endParaRPr lang="ru-RU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20</a:t>
                      </a:r>
                      <a:endParaRPr lang="ru-RU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20355"/>
                  </a:ext>
                </a:extLst>
              </a:tr>
              <a:tr h="442722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63-65</a:t>
                      </a:r>
                      <a:endParaRPr lang="ru-RU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30</a:t>
                      </a:r>
                      <a:endParaRPr lang="ru-RU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726539"/>
                  </a:ext>
                </a:extLst>
              </a:tr>
              <a:tr h="442722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66-68</a:t>
                      </a:r>
                      <a:endParaRPr lang="ru-RU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40</a:t>
                      </a:r>
                      <a:endParaRPr lang="ru-RU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410664"/>
                  </a:ext>
                </a:extLst>
              </a:tr>
              <a:tr h="442722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69-70</a:t>
                      </a:r>
                      <a:endParaRPr lang="ru-RU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50</a:t>
                      </a:r>
                      <a:endParaRPr lang="ru-RU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200632"/>
                  </a:ext>
                </a:extLst>
              </a:tr>
              <a:tr h="442722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70-75</a:t>
                      </a:r>
                      <a:endParaRPr lang="ru-RU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60</a:t>
                      </a:r>
                      <a:endParaRPr lang="ru-RU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3308"/>
                  </a:ext>
                </a:extLst>
              </a:tr>
              <a:tr h="442722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76-80</a:t>
                      </a:r>
                      <a:endParaRPr lang="ru-RU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70</a:t>
                      </a:r>
                      <a:endParaRPr lang="ru-RU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745482"/>
                  </a:ext>
                </a:extLst>
              </a:tr>
              <a:tr h="442722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81-90</a:t>
                      </a:r>
                      <a:endParaRPr lang="ru-RU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77</a:t>
                      </a:r>
                      <a:endParaRPr lang="ru-RU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05396"/>
                  </a:ext>
                </a:extLst>
              </a:tr>
            </a:tbl>
          </a:graphicData>
        </a:graphic>
      </p:graphicFrame>
      <p:sp>
        <p:nvSpPr>
          <p:cNvPr id="90161" name="Oval 49"/>
          <p:cNvSpPr>
            <a:spLocks noChangeArrowheads="1"/>
          </p:cNvSpPr>
          <p:nvPr/>
        </p:nvSpPr>
        <p:spPr bwMode="auto">
          <a:xfrm>
            <a:off x="10031400" y="1780037"/>
            <a:ext cx="671512" cy="2143147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3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/>
              <a:t>Круговая диаграмма 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036288" y="1285877"/>
            <a:ext cx="8401526" cy="1355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ru-RU" altLang="ru-RU" sz="2400" dirty="0"/>
              <a:t>Круговая диаграмма полезна для представления частот переменной, измеряемой по номинальной шкале.</a:t>
            </a:r>
          </a:p>
          <a:p>
            <a:pPr>
              <a:lnSpc>
                <a:spcPct val="90000"/>
              </a:lnSpc>
            </a:pPr>
            <a:endParaRPr lang="ru-RU" altLang="ru-RU" sz="2400" dirty="0"/>
          </a:p>
          <a:p>
            <a:pPr>
              <a:lnSpc>
                <a:spcPct val="90000"/>
              </a:lnSpc>
            </a:pPr>
            <a:r>
              <a:rPr lang="ru-RU" altLang="ru-RU" sz="2400" dirty="0"/>
              <a:t>  Объемная			                  Кольцевая</a:t>
            </a:r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459121"/>
              </p:ext>
            </p:extLst>
          </p:nvPr>
        </p:nvGraphicFramePr>
        <p:xfrm>
          <a:off x="2079097" y="2811513"/>
          <a:ext cx="4306887" cy="330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901739"/>
              </p:ext>
            </p:extLst>
          </p:nvPr>
        </p:nvGraphicFramePr>
        <p:xfrm>
          <a:off x="6784447" y="3079802"/>
          <a:ext cx="4306887" cy="2741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230669" y="6605017"/>
            <a:ext cx="804170" cy="379409"/>
          </a:xfrm>
        </p:spPr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62</a:t>
            </a:fld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 idx="4294967295"/>
          </p:nvPr>
        </p:nvSpPr>
        <p:spPr bwMode="auto">
          <a:xfrm>
            <a:off x="2373685" y="1978969"/>
            <a:ext cx="7551688" cy="10731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b"/>
          <a:lstStyle/>
          <a:p>
            <a:pPr eaLnBrk="1" hangingPunct="1"/>
            <a:r>
              <a:rPr lang="ru-RU" altLang="ru-RU" sz="4400" b="1" dirty="0">
                <a:solidFill>
                  <a:srgbClr val="00B0F0"/>
                </a:solidFill>
              </a:rPr>
              <a:t>Меры изменчивости</a:t>
            </a:r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71E4AC0E-0CAA-42AB-8601-B2CF6EE6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0669" y="6605017"/>
            <a:ext cx="804170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63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2493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373314" y="466725"/>
            <a:ext cx="7993063" cy="647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ru-RU" altLang="ru-RU" sz="4000"/>
              <a:t>Меры изменчивости</a:t>
            </a:r>
          </a:p>
        </p:txBody>
      </p:sp>
      <p:sp>
        <p:nvSpPr>
          <p:cNvPr id="124934" name="Rectangle 6"/>
          <p:cNvSpPr>
            <a:spLocks noChangeArrowheads="1"/>
          </p:cNvSpPr>
          <p:nvPr/>
        </p:nvSpPr>
        <p:spPr bwMode="auto">
          <a:xfrm>
            <a:off x="1195389" y="-2616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4936" name="Rectangle 8"/>
          <p:cNvSpPr>
            <a:spLocks noChangeArrowheads="1"/>
          </p:cNvSpPr>
          <p:nvPr/>
        </p:nvSpPr>
        <p:spPr bwMode="auto">
          <a:xfrm>
            <a:off x="1195389" y="-2616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4937" name="Rectangle 9"/>
          <p:cNvSpPr>
            <a:spLocks noChangeArrowheads="1"/>
          </p:cNvSpPr>
          <p:nvPr/>
        </p:nvSpPr>
        <p:spPr bwMode="auto">
          <a:xfrm>
            <a:off x="2322265" y="1704977"/>
            <a:ext cx="7993062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73063" indent="-373063" defTabSz="993775" eaLnBrk="0" hangingPunct="0">
              <a:spcBef>
                <a:spcPct val="20000"/>
              </a:spcBef>
              <a:buChar char="•"/>
              <a:defRPr sz="3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8038" indent="-311150" defTabSz="993775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43013" indent="-249238" defTabSz="993775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9900" indent="-247650" defTabSz="993775" eaLnBrk="0" hangingPunct="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36788" indent="-247650" defTabSz="993775" eaLnBrk="0" hangingPunct="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939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511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083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655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ru-RU" altLang="ru-RU" sz="2700" dirty="0"/>
              <a:t>Рассмотрим три вариационных ряда:</a:t>
            </a:r>
          </a:p>
        </p:txBody>
      </p:sp>
      <p:sp>
        <p:nvSpPr>
          <p:cNvPr id="124938" name="Rectangle 10"/>
          <p:cNvSpPr>
            <a:spLocks noChangeArrowheads="1"/>
          </p:cNvSpPr>
          <p:nvPr/>
        </p:nvSpPr>
        <p:spPr bwMode="auto">
          <a:xfrm>
            <a:off x="2754066" y="2498926"/>
            <a:ext cx="626427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altLang="ru-RU" sz="2400" dirty="0"/>
              <a:t>			999	1000	1001</a:t>
            </a:r>
          </a:p>
          <a:p>
            <a:r>
              <a:rPr lang="ru-RU" altLang="ru-RU" sz="2400" dirty="0"/>
              <a:t>		         2000	1000	1000</a:t>
            </a:r>
          </a:p>
          <a:p>
            <a:r>
              <a:rPr lang="ru-RU" altLang="ru-RU" sz="2400" dirty="0"/>
              <a:t>			    </a:t>
            </a:r>
            <a:r>
              <a:rPr lang="ru-RU" altLang="ru-RU" sz="2400" u="sng" dirty="0"/>
              <a:t>1	1000	  999</a:t>
            </a:r>
          </a:p>
          <a:p>
            <a:r>
              <a:rPr lang="ru-RU" altLang="ru-RU" sz="2000" b="1" i="1" dirty="0">
                <a:solidFill>
                  <a:schemeClr val="hlink"/>
                </a:solidFill>
              </a:rPr>
              <a:t>Среднее</a:t>
            </a:r>
            <a:r>
              <a:rPr lang="ru-RU" altLang="ru-RU" sz="2400" dirty="0"/>
              <a:t>	        1000     1000    1000</a:t>
            </a:r>
          </a:p>
        </p:txBody>
      </p:sp>
      <p:sp>
        <p:nvSpPr>
          <p:cNvPr id="124939" name="Rectangle 11"/>
          <p:cNvSpPr>
            <a:spLocks noChangeArrowheads="1"/>
          </p:cNvSpPr>
          <p:nvPr/>
        </p:nvSpPr>
        <p:spPr bwMode="auto">
          <a:xfrm>
            <a:off x="1380120" y="4713425"/>
            <a:ext cx="1021058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/>
              <a:t>В первом случае значения сильнее всего «разбросаны» вокруг среднего:</a:t>
            </a:r>
          </a:p>
          <a:p>
            <a:pPr eaLnBrk="1" hangingPunct="1"/>
            <a:r>
              <a:rPr lang="ru-RU" altLang="ru-RU" dirty="0"/>
              <a:t>	Наша задача -  выразить </a:t>
            </a:r>
            <a:r>
              <a:rPr lang="ru-RU" altLang="ru-RU" b="1" dirty="0"/>
              <a:t>степень разброса (вариацию)</a:t>
            </a:r>
            <a:r>
              <a:rPr lang="ru-RU" altLang="ru-RU" dirty="0"/>
              <a:t> 	одним числом.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64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589213" y="538163"/>
            <a:ext cx="7416800" cy="685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ru-RU" altLang="ru-RU" sz="4000"/>
              <a:t>Меры изменчивости</a:t>
            </a:r>
          </a:p>
        </p:txBody>
      </p:sp>
      <p:graphicFrame>
        <p:nvGraphicFramePr>
          <p:cNvPr id="123919" name="Object 1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8197612"/>
              </p:ext>
            </p:extLst>
          </p:nvPr>
        </p:nvGraphicFramePr>
        <p:xfrm>
          <a:off x="4365626" y="2473326"/>
          <a:ext cx="3473450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28" name="Уравнение" r:id="rId3" imgW="1041120" imgH="241200" progId="Equation.3">
                  <p:embed/>
                </p:oleObj>
              </mc:Choice>
              <mc:Fallback>
                <p:oleObj name="Уравнение" r:id="rId3" imgW="1041120" imgH="241200" progId="Equation.3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26" y="2473326"/>
                        <a:ext cx="3473450" cy="8048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505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1" name="Rectangle 7"/>
          <p:cNvSpPr>
            <a:spLocks noChangeArrowheads="1"/>
          </p:cNvSpPr>
          <p:nvPr/>
        </p:nvSpPr>
        <p:spPr bwMode="auto">
          <a:xfrm>
            <a:off x="1195389" y="-2616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913" name="Rectangle 9"/>
          <p:cNvSpPr>
            <a:spLocks noChangeArrowheads="1"/>
          </p:cNvSpPr>
          <p:nvPr/>
        </p:nvSpPr>
        <p:spPr bwMode="auto">
          <a:xfrm>
            <a:off x="1195389" y="-2616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915" name="Rectangle 11"/>
          <p:cNvSpPr>
            <a:spLocks noChangeArrowheads="1"/>
          </p:cNvSpPr>
          <p:nvPr/>
        </p:nvSpPr>
        <p:spPr bwMode="auto">
          <a:xfrm>
            <a:off x="1380121" y="1619252"/>
            <a:ext cx="10654718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93775" eaLnBrk="0" hangingPunct="0">
              <a:spcBef>
                <a:spcPct val="20000"/>
              </a:spcBef>
              <a:buChar char="•"/>
              <a:defRPr sz="3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54075" indent="-311150" defTabSz="993775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82700" indent="-249238" defTabSz="993775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9900" indent="-247650" defTabSz="993775" eaLnBrk="0" hangingPunct="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36788" indent="-247650" defTabSz="993775" eaLnBrk="0" hangingPunct="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939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511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083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655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ru-RU" altLang="ru-RU" sz="2400" b="1" dirty="0"/>
              <a:t>Размах</a:t>
            </a:r>
            <a:r>
              <a:rPr lang="ru-RU" altLang="ru-RU" sz="2400" dirty="0"/>
              <a:t> – разность между наибольшим и наименьшим значениями набора данных : </a:t>
            </a:r>
          </a:p>
        </p:txBody>
      </p:sp>
      <p:sp>
        <p:nvSpPr>
          <p:cNvPr id="123917" name="Rectangle 13"/>
          <p:cNvSpPr>
            <a:spLocks noChangeArrowheads="1"/>
          </p:cNvSpPr>
          <p:nvPr/>
        </p:nvSpPr>
        <p:spPr bwMode="auto">
          <a:xfrm>
            <a:off x="1380120" y="4013822"/>
            <a:ext cx="105775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b="1" dirty="0"/>
              <a:t>Квартили </a:t>
            </a:r>
            <a:r>
              <a:rPr lang="en-US" altLang="ru-RU" sz="2400" b="1" dirty="0"/>
              <a:t>(Quartile)</a:t>
            </a:r>
            <a:r>
              <a:rPr lang="ru-RU" altLang="ru-RU" sz="2400" b="1" dirty="0"/>
              <a:t> - </a:t>
            </a:r>
            <a:r>
              <a:rPr lang="ru-RU" altLang="ru-RU" sz="2400" dirty="0"/>
              <a:t>значения, которые делят вариационный ряд на  четыре равные части: (Второй квартиль совпадает с медианой)</a:t>
            </a:r>
          </a:p>
        </p:txBody>
      </p:sp>
      <p:grpSp>
        <p:nvGrpSpPr>
          <p:cNvPr id="123955" name="Group 51"/>
          <p:cNvGrpSpPr>
            <a:grpSpLocks/>
          </p:cNvGrpSpPr>
          <p:nvPr/>
        </p:nvGrpSpPr>
        <p:grpSpPr bwMode="auto">
          <a:xfrm>
            <a:off x="2040353" y="5186852"/>
            <a:ext cx="9002714" cy="792162"/>
            <a:chOff x="334" y="2063"/>
            <a:chExt cx="5671" cy="499"/>
          </a:xfrm>
        </p:grpSpPr>
        <p:sp>
          <p:nvSpPr>
            <p:cNvPr id="123922" name="Rectangle 18"/>
            <p:cNvSpPr>
              <a:spLocks noChangeArrowheads="1"/>
            </p:cNvSpPr>
            <p:nvPr/>
          </p:nvSpPr>
          <p:spPr bwMode="auto">
            <a:xfrm>
              <a:off x="334" y="2125"/>
              <a:ext cx="1361" cy="181"/>
            </a:xfrm>
            <a:prstGeom prst="rect">
              <a:avLst/>
            </a:prstGeom>
            <a:solidFill>
              <a:srgbClr val="F3D95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23923" name="Text Box 19"/>
            <p:cNvSpPr txBox="1">
              <a:spLocks noChangeArrowheads="1"/>
            </p:cNvSpPr>
            <p:nvPr/>
          </p:nvSpPr>
          <p:spPr bwMode="auto">
            <a:xfrm>
              <a:off x="334" y="2063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2400"/>
                <a:t>1</a:t>
              </a:r>
            </a:p>
          </p:txBody>
        </p:sp>
        <p:sp>
          <p:nvSpPr>
            <p:cNvPr id="123924" name="Rectangle 20"/>
            <p:cNvSpPr>
              <a:spLocks noChangeArrowheads="1"/>
            </p:cNvSpPr>
            <p:nvPr/>
          </p:nvSpPr>
          <p:spPr bwMode="auto">
            <a:xfrm>
              <a:off x="1740" y="2124"/>
              <a:ext cx="1406" cy="181"/>
            </a:xfrm>
            <a:prstGeom prst="rect">
              <a:avLst/>
            </a:prstGeom>
            <a:solidFill>
              <a:srgbClr val="F3D95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23925" name="Rectangle 21"/>
            <p:cNvSpPr>
              <a:spLocks noChangeArrowheads="1"/>
            </p:cNvSpPr>
            <p:nvPr/>
          </p:nvSpPr>
          <p:spPr bwMode="auto">
            <a:xfrm>
              <a:off x="3192" y="2125"/>
              <a:ext cx="1406" cy="181"/>
            </a:xfrm>
            <a:prstGeom prst="rect">
              <a:avLst/>
            </a:prstGeom>
            <a:solidFill>
              <a:srgbClr val="F3D95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23926" name="Rectangle 22"/>
            <p:cNvSpPr>
              <a:spLocks noChangeArrowheads="1"/>
            </p:cNvSpPr>
            <p:nvPr/>
          </p:nvSpPr>
          <p:spPr bwMode="auto">
            <a:xfrm>
              <a:off x="4643" y="2124"/>
              <a:ext cx="1361" cy="181"/>
            </a:xfrm>
            <a:prstGeom prst="rect">
              <a:avLst/>
            </a:prstGeom>
            <a:solidFill>
              <a:srgbClr val="F3D95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23927" name="Text Box 23"/>
            <p:cNvSpPr txBox="1">
              <a:spLocks noChangeArrowheads="1"/>
            </p:cNvSpPr>
            <p:nvPr/>
          </p:nvSpPr>
          <p:spPr bwMode="auto">
            <a:xfrm>
              <a:off x="5781" y="2063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ru-RU" sz="2400"/>
                <a:t>n</a:t>
              </a:r>
              <a:endParaRPr lang="ru-RU" altLang="ru-RU" sz="2400"/>
            </a:p>
          </p:txBody>
        </p:sp>
        <p:graphicFrame>
          <p:nvGraphicFramePr>
            <p:cNvPr id="123928" name="Object 24"/>
            <p:cNvGraphicFramePr>
              <a:graphicFrameLocks noChangeAspect="1"/>
            </p:cNvGraphicFramePr>
            <p:nvPr/>
          </p:nvGraphicFramePr>
          <p:xfrm>
            <a:off x="1559" y="2305"/>
            <a:ext cx="217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529" name="Уравнение" r:id="rId5" imgW="203040" imgH="241200" progId="Equation.3">
                    <p:embed/>
                  </p:oleObj>
                </mc:Choice>
                <mc:Fallback>
                  <p:oleObj name="Уравнение" r:id="rId5" imgW="203040" imgH="2412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9" y="2305"/>
                          <a:ext cx="217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929" name="Object 25"/>
            <p:cNvGraphicFramePr>
              <a:graphicFrameLocks noChangeAspect="1"/>
            </p:cNvGraphicFramePr>
            <p:nvPr/>
          </p:nvGraphicFramePr>
          <p:xfrm>
            <a:off x="4429" y="2306"/>
            <a:ext cx="231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530" name="Уравнение" r:id="rId7" imgW="215640" imgH="241200" progId="Equation.3">
                    <p:embed/>
                  </p:oleObj>
                </mc:Choice>
                <mc:Fallback>
                  <p:oleObj name="Уравнение" r:id="rId7" imgW="215640" imgH="2412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9" y="2306"/>
                          <a:ext cx="231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930" name="Object 26"/>
            <p:cNvGraphicFramePr>
              <a:graphicFrameLocks noChangeAspect="1"/>
            </p:cNvGraphicFramePr>
            <p:nvPr/>
          </p:nvGraphicFramePr>
          <p:xfrm>
            <a:off x="3023" y="2305"/>
            <a:ext cx="231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531" name="Уравнение" r:id="rId9" imgW="215640" imgH="241200" progId="Equation.3">
                    <p:embed/>
                  </p:oleObj>
                </mc:Choice>
                <mc:Fallback>
                  <p:oleObj name="Уравнение" r:id="rId9" imgW="215640" imgH="2412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3" y="2305"/>
                          <a:ext cx="231" cy="2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931" name="Text Box 27"/>
            <p:cNvSpPr txBox="1">
              <a:spLocks noChangeArrowheads="1"/>
            </p:cNvSpPr>
            <p:nvPr/>
          </p:nvSpPr>
          <p:spPr bwMode="auto">
            <a:xfrm>
              <a:off x="833" y="2063"/>
              <a:ext cx="5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2400"/>
                <a:t>25%</a:t>
              </a:r>
            </a:p>
          </p:txBody>
        </p:sp>
        <p:sp>
          <p:nvSpPr>
            <p:cNvPr id="123932" name="Text Box 28"/>
            <p:cNvSpPr txBox="1">
              <a:spLocks noChangeArrowheads="1"/>
            </p:cNvSpPr>
            <p:nvPr/>
          </p:nvSpPr>
          <p:spPr bwMode="auto">
            <a:xfrm>
              <a:off x="2148" y="2079"/>
              <a:ext cx="5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2400"/>
                <a:t>25%</a:t>
              </a:r>
            </a:p>
          </p:txBody>
        </p:sp>
        <p:sp>
          <p:nvSpPr>
            <p:cNvPr id="123933" name="Text Box 29"/>
            <p:cNvSpPr txBox="1">
              <a:spLocks noChangeArrowheads="1"/>
            </p:cNvSpPr>
            <p:nvPr/>
          </p:nvSpPr>
          <p:spPr bwMode="auto">
            <a:xfrm>
              <a:off x="3689" y="2063"/>
              <a:ext cx="5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2400"/>
                <a:t>25%</a:t>
              </a:r>
            </a:p>
          </p:txBody>
        </p:sp>
        <p:sp>
          <p:nvSpPr>
            <p:cNvPr id="123934" name="Text Box 30"/>
            <p:cNvSpPr txBox="1">
              <a:spLocks noChangeArrowheads="1"/>
            </p:cNvSpPr>
            <p:nvPr/>
          </p:nvSpPr>
          <p:spPr bwMode="auto">
            <a:xfrm>
              <a:off x="5049" y="2079"/>
              <a:ext cx="5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2400"/>
                <a:t>25%</a:t>
              </a:r>
            </a:p>
          </p:txBody>
        </p:sp>
      </p:grp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229739" y="6605017"/>
            <a:ext cx="805099" cy="379409"/>
          </a:xfrm>
        </p:spPr>
        <p:txBody>
          <a:bodyPr/>
          <a:lstStyle/>
          <a:p>
            <a:fld id="{952B6C0E-C4B9-4094-8E59-5B7DF00D5415}" type="slidenum">
              <a:rPr lang="ru-RU" sz="1400" smtClean="0">
                <a:solidFill>
                  <a:schemeClr val="tx1"/>
                </a:solidFill>
              </a:rPr>
              <a:t>65</a:t>
            </a:fld>
            <a:endParaRPr lang="ru-RU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589213" y="538163"/>
            <a:ext cx="7416800" cy="685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ru-RU" altLang="ru-RU" sz="4000"/>
              <a:t>Меры изменчивости</a:t>
            </a:r>
          </a:p>
        </p:txBody>
      </p:sp>
      <p:graphicFrame>
        <p:nvGraphicFramePr>
          <p:cNvPr id="123919" name="Object 1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9290095"/>
              </p:ext>
            </p:extLst>
          </p:nvPr>
        </p:nvGraphicFramePr>
        <p:xfrm>
          <a:off x="4889501" y="2214565"/>
          <a:ext cx="2940050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27" name="Уравнение" r:id="rId3" imgW="1041120" imgH="241200" progId="Equation.3">
                  <p:embed/>
                </p:oleObj>
              </mc:Choice>
              <mc:Fallback>
                <p:oleObj name="Уравнение" r:id="rId3" imgW="1041120" imgH="2412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1" y="2214565"/>
                        <a:ext cx="2940050" cy="68103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505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1" name="Rectangle 7"/>
          <p:cNvSpPr>
            <a:spLocks noChangeArrowheads="1"/>
          </p:cNvSpPr>
          <p:nvPr/>
        </p:nvSpPr>
        <p:spPr bwMode="auto">
          <a:xfrm>
            <a:off x="1195389" y="-2616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913" name="Rectangle 9"/>
          <p:cNvSpPr>
            <a:spLocks noChangeArrowheads="1"/>
          </p:cNvSpPr>
          <p:nvPr/>
        </p:nvSpPr>
        <p:spPr bwMode="auto">
          <a:xfrm>
            <a:off x="1195389" y="-2616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915" name="Rectangle 11"/>
          <p:cNvSpPr>
            <a:spLocks noChangeArrowheads="1"/>
          </p:cNvSpPr>
          <p:nvPr/>
        </p:nvSpPr>
        <p:spPr bwMode="auto">
          <a:xfrm>
            <a:off x="1195389" y="1619252"/>
            <a:ext cx="10839450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93775" eaLnBrk="0" hangingPunct="0">
              <a:spcBef>
                <a:spcPct val="20000"/>
              </a:spcBef>
              <a:buChar char="•"/>
              <a:defRPr sz="3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54075" indent="-311150" defTabSz="993775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82700" indent="-249238" defTabSz="993775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9900" indent="-247650" defTabSz="993775" eaLnBrk="0" hangingPunct="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36788" indent="-247650" defTabSz="993775" eaLnBrk="0" hangingPunct="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939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511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083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655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ru-RU" altLang="ru-RU" sz="2400" b="1" dirty="0"/>
              <a:t>Размах</a:t>
            </a:r>
            <a:r>
              <a:rPr lang="ru-RU" altLang="ru-RU" sz="2400" dirty="0"/>
              <a:t> – разность между наибольшим и наименьшим значениями набора данных: </a:t>
            </a:r>
          </a:p>
        </p:txBody>
      </p:sp>
      <p:sp>
        <p:nvSpPr>
          <p:cNvPr id="123936" name="Rectangle 32"/>
          <p:cNvSpPr>
            <a:spLocks noChangeArrowheads="1"/>
          </p:cNvSpPr>
          <p:nvPr/>
        </p:nvSpPr>
        <p:spPr bwMode="auto">
          <a:xfrm>
            <a:off x="1005533" y="3043241"/>
            <a:ext cx="1083945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dirty="0"/>
              <a:t>Размах квартилей</a:t>
            </a:r>
            <a:r>
              <a:rPr lang="ru-RU" altLang="ru-RU" dirty="0"/>
              <a:t>  (</a:t>
            </a:r>
            <a:r>
              <a:rPr lang="en-US" altLang="ru-RU" dirty="0"/>
              <a:t>IQR</a:t>
            </a:r>
            <a:r>
              <a:rPr lang="ru-RU" altLang="ru-RU" dirty="0"/>
              <a:t>)  - разница между третьим и первым квартилем и</a:t>
            </a:r>
            <a:r>
              <a:rPr lang="en-US" altLang="ru-RU" dirty="0"/>
              <a:t> </a:t>
            </a:r>
            <a:r>
              <a:rPr lang="ru-RU" altLang="ru-RU" dirty="0"/>
              <a:t>вычисляется по формуле: </a:t>
            </a:r>
            <a:r>
              <a:rPr lang="en-US" altLang="ru-RU" i="1" dirty="0"/>
              <a:t>Q3-Q1</a:t>
            </a:r>
            <a:endParaRPr lang="ru-RU" altLang="ru-RU" i="1" dirty="0"/>
          </a:p>
          <a:p>
            <a:pPr eaLnBrk="1" hangingPunct="1"/>
            <a:endParaRPr lang="ru-RU" altLang="ru-RU" dirty="0"/>
          </a:p>
          <a:p>
            <a:pPr eaLnBrk="1" hangingPunct="1"/>
            <a:endParaRPr lang="ru-RU" altLang="ru-RU" dirty="0"/>
          </a:p>
          <a:p>
            <a:pPr eaLnBrk="1" hangingPunct="1"/>
            <a:endParaRPr lang="ru-RU" altLang="ru-RU" dirty="0"/>
          </a:p>
          <a:p>
            <a:pPr eaLnBrk="1" hangingPunct="1"/>
            <a:endParaRPr lang="ru-RU" altLang="ru-RU" dirty="0"/>
          </a:p>
          <a:p>
            <a:pPr eaLnBrk="1" hangingPunct="1"/>
            <a:endParaRPr lang="ru-RU" altLang="ru-RU" dirty="0"/>
          </a:p>
          <a:p>
            <a:pPr eaLnBrk="1" hangingPunct="1"/>
            <a:r>
              <a:rPr lang="ru-RU" altLang="ru-RU" dirty="0"/>
              <a:t>     </a:t>
            </a:r>
          </a:p>
          <a:p>
            <a:pPr eaLnBrk="1" hangingPunct="1"/>
            <a:endParaRPr lang="ru-RU" altLang="ru-RU" dirty="0"/>
          </a:p>
          <a:p>
            <a:pPr eaLnBrk="1" hangingPunct="1"/>
            <a:r>
              <a:rPr lang="ru-RU" altLang="ru-RU" dirty="0"/>
              <a:t>Между </a:t>
            </a:r>
            <a:r>
              <a:rPr lang="en-US" altLang="ru-RU" dirty="0"/>
              <a:t>Q1 </a:t>
            </a:r>
            <a:r>
              <a:rPr lang="ru-RU" altLang="ru-RU" dirty="0"/>
              <a:t> и </a:t>
            </a:r>
            <a:r>
              <a:rPr lang="en-US" altLang="ru-RU" dirty="0"/>
              <a:t> Q3</a:t>
            </a:r>
            <a:r>
              <a:rPr lang="ru-RU" altLang="ru-RU" dirty="0"/>
              <a:t>  расположены 50% всех данных.</a:t>
            </a:r>
          </a:p>
        </p:txBody>
      </p:sp>
      <p:grpSp>
        <p:nvGrpSpPr>
          <p:cNvPr id="123937" name="Group 33"/>
          <p:cNvGrpSpPr>
            <a:grpSpLocks/>
          </p:cNvGrpSpPr>
          <p:nvPr/>
        </p:nvGrpSpPr>
        <p:grpSpPr bwMode="auto">
          <a:xfrm>
            <a:off x="1724026" y="4107625"/>
            <a:ext cx="9002714" cy="1514475"/>
            <a:chOff x="217" y="2659"/>
            <a:chExt cx="5671" cy="954"/>
          </a:xfrm>
        </p:grpSpPr>
        <p:sp>
          <p:nvSpPr>
            <p:cNvPr id="123938" name="Rectangle 34"/>
            <p:cNvSpPr>
              <a:spLocks noChangeArrowheads="1"/>
            </p:cNvSpPr>
            <p:nvPr/>
          </p:nvSpPr>
          <p:spPr bwMode="auto">
            <a:xfrm>
              <a:off x="217" y="2721"/>
              <a:ext cx="1361" cy="181"/>
            </a:xfrm>
            <a:prstGeom prst="rect">
              <a:avLst/>
            </a:prstGeom>
            <a:solidFill>
              <a:srgbClr val="F3D95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23939" name="Text Box 35"/>
            <p:cNvSpPr txBox="1">
              <a:spLocks noChangeArrowheads="1"/>
            </p:cNvSpPr>
            <p:nvPr/>
          </p:nvSpPr>
          <p:spPr bwMode="auto">
            <a:xfrm>
              <a:off x="217" y="2659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2400"/>
                <a:t>1</a:t>
              </a:r>
            </a:p>
          </p:txBody>
        </p:sp>
        <p:sp>
          <p:nvSpPr>
            <p:cNvPr id="123940" name="Rectangle 36"/>
            <p:cNvSpPr>
              <a:spLocks noChangeArrowheads="1"/>
            </p:cNvSpPr>
            <p:nvPr/>
          </p:nvSpPr>
          <p:spPr bwMode="auto">
            <a:xfrm>
              <a:off x="1623" y="2720"/>
              <a:ext cx="1406" cy="181"/>
            </a:xfrm>
            <a:prstGeom prst="rect">
              <a:avLst/>
            </a:prstGeom>
            <a:solidFill>
              <a:srgbClr val="F3D95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23941" name="Rectangle 37"/>
            <p:cNvSpPr>
              <a:spLocks noChangeArrowheads="1"/>
            </p:cNvSpPr>
            <p:nvPr/>
          </p:nvSpPr>
          <p:spPr bwMode="auto">
            <a:xfrm>
              <a:off x="3075" y="2721"/>
              <a:ext cx="1406" cy="181"/>
            </a:xfrm>
            <a:prstGeom prst="rect">
              <a:avLst/>
            </a:prstGeom>
            <a:solidFill>
              <a:srgbClr val="F3D95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23942" name="Rectangle 38"/>
            <p:cNvSpPr>
              <a:spLocks noChangeArrowheads="1"/>
            </p:cNvSpPr>
            <p:nvPr/>
          </p:nvSpPr>
          <p:spPr bwMode="auto">
            <a:xfrm>
              <a:off x="4526" y="2720"/>
              <a:ext cx="1361" cy="181"/>
            </a:xfrm>
            <a:prstGeom prst="rect">
              <a:avLst/>
            </a:prstGeom>
            <a:solidFill>
              <a:srgbClr val="F3D95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23943" name="Text Box 39"/>
            <p:cNvSpPr txBox="1">
              <a:spLocks noChangeArrowheads="1"/>
            </p:cNvSpPr>
            <p:nvPr/>
          </p:nvSpPr>
          <p:spPr bwMode="auto">
            <a:xfrm>
              <a:off x="5664" y="2659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ru-RU" sz="2400"/>
                <a:t>n</a:t>
              </a:r>
              <a:endParaRPr lang="ru-RU" altLang="ru-RU" sz="2400"/>
            </a:p>
          </p:txBody>
        </p:sp>
        <p:graphicFrame>
          <p:nvGraphicFramePr>
            <p:cNvPr id="123944" name="Object 40"/>
            <p:cNvGraphicFramePr>
              <a:graphicFrameLocks noChangeAspect="1"/>
            </p:cNvGraphicFramePr>
            <p:nvPr/>
          </p:nvGraphicFramePr>
          <p:xfrm>
            <a:off x="1442" y="2901"/>
            <a:ext cx="255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828" name="Уравнение" r:id="rId5" imgW="203040" imgH="241200" progId="Equation.3">
                    <p:embed/>
                  </p:oleObj>
                </mc:Choice>
                <mc:Fallback>
                  <p:oleObj name="Уравнение" r:id="rId5" imgW="2030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2" y="2901"/>
                          <a:ext cx="255" cy="3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945" name="Object 41"/>
            <p:cNvGraphicFramePr>
              <a:graphicFrameLocks noChangeAspect="1"/>
            </p:cNvGraphicFramePr>
            <p:nvPr/>
          </p:nvGraphicFramePr>
          <p:xfrm>
            <a:off x="4312" y="2902"/>
            <a:ext cx="271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829" name="Уравнение" r:id="rId7" imgW="215640" imgH="241200" progId="Equation.3">
                    <p:embed/>
                  </p:oleObj>
                </mc:Choice>
                <mc:Fallback>
                  <p:oleObj name="Уравнение" r:id="rId7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2" y="2902"/>
                          <a:ext cx="271" cy="3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946" name="Object 42"/>
            <p:cNvGraphicFramePr>
              <a:graphicFrameLocks noChangeAspect="1"/>
            </p:cNvGraphicFramePr>
            <p:nvPr/>
          </p:nvGraphicFramePr>
          <p:xfrm>
            <a:off x="2906" y="2901"/>
            <a:ext cx="271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830" name="Уравнение" r:id="rId9" imgW="215640" imgH="241200" progId="Equation.3">
                    <p:embed/>
                  </p:oleObj>
                </mc:Choice>
                <mc:Fallback>
                  <p:oleObj name="Уравнение" r:id="rId9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6" y="2901"/>
                          <a:ext cx="271" cy="3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947" name="Text Box 43"/>
            <p:cNvSpPr txBox="1">
              <a:spLocks noChangeArrowheads="1"/>
            </p:cNvSpPr>
            <p:nvPr/>
          </p:nvSpPr>
          <p:spPr bwMode="auto">
            <a:xfrm>
              <a:off x="716" y="2659"/>
              <a:ext cx="5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2400" dirty="0"/>
                <a:t>25%</a:t>
              </a:r>
            </a:p>
          </p:txBody>
        </p:sp>
        <p:sp>
          <p:nvSpPr>
            <p:cNvPr id="123948" name="Text Box 44"/>
            <p:cNvSpPr txBox="1">
              <a:spLocks noChangeArrowheads="1"/>
            </p:cNvSpPr>
            <p:nvPr/>
          </p:nvSpPr>
          <p:spPr bwMode="auto">
            <a:xfrm>
              <a:off x="2031" y="2675"/>
              <a:ext cx="5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2400" dirty="0"/>
                <a:t>25%</a:t>
              </a:r>
            </a:p>
          </p:txBody>
        </p:sp>
        <p:sp>
          <p:nvSpPr>
            <p:cNvPr id="123949" name="Text Box 45"/>
            <p:cNvSpPr txBox="1">
              <a:spLocks noChangeArrowheads="1"/>
            </p:cNvSpPr>
            <p:nvPr/>
          </p:nvSpPr>
          <p:spPr bwMode="auto">
            <a:xfrm>
              <a:off x="3572" y="2659"/>
              <a:ext cx="5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2400"/>
                <a:t>25%</a:t>
              </a:r>
            </a:p>
          </p:txBody>
        </p:sp>
        <p:sp>
          <p:nvSpPr>
            <p:cNvPr id="123950" name="Text Box 46"/>
            <p:cNvSpPr txBox="1">
              <a:spLocks noChangeArrowheads="1"/>
            </p:cNvSpPr>
            <p:nvPr/>
          </p:nvSpPr>
          <p:spPr bwMode="auto">
            <a:xfrm>
              <a:off x="4932" y="2675"/>
              <a:ext cx="5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2400"/>
                <a:t>25%</a:t>
              </a:r>
            </a:p>
          </p:txBody>
        </p:sp>
        <p:sp>
          <p:nvSpPr>
            <p:cNvPr id="123951" name="Line 47"/>
            <p:cNvSpPr>
              <a:spLocks noChangeShapeType="1"/>
            </p:cNvSpPr>
            <p:nvPr/>
          </p:nvSpPr>
          <p:spPr bwMode="auto">
            <a:xfrm>
              <a:off x="1623" y="3203"/>
              <a:ext cx="0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3952" name="Line 48"/>
            <p:cNvSpPr>
              <a:spLocks noChangeShapeType="1"/>
            </p:cNvSpPr>
            <p:nvPr/>
          </p:nvSpPr>
          <p:spPr bwMode="auto">
            <a:xfrm>
              <a:off x="4526" y="3203"/>
              <a:ext cx="0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3953" name="Line 49"/>
            <p:cNvSpPr>
              <a:spLocks noChangeShapeType="1"/>
            </p:cNvSpPr>
            <p:nvPr/>
          </p:nvSpPr>
          <p:spPr bwMode="auto">
            <a:xfrm>
              <a:off x="1623" y="3297"/>
              <a:ext cx="290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graphicFrame>
          <p:nvGraphicFramePr>
            <p:cNvPr id="123954" name="Object 50"/>
            <p:cNvGraphicFramePr>
              <a:graphicFrameLocks noChangeAspect="1"/>
            </p:cNvGraphicFramePr>
            <p:nvPr/>
          </p:nvGraphicFramePr>
          <p:xfrm>
            <a:off x="2802" y="3294"/>
            <a:ext cx="499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831" name="Уравнение" r:id="rId11" imgW="355320" imgH="228600" progId="Equation.3">
                    <p:embed/>
                  </p:oleObj>
                </mc:Choice>
                <mc:Fallback>
                  <p:oleObj name="Уравнение" r:id="rId11" imgW="3553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2" y="3294"/>
                          <a:ext cx="499" cy="3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66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621072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503127" y="449338"/>
            <a:ext cx="7993063" cy="647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ru-RU" altLang="ru-RU" sz="4000" dirty="0"/>
              <a:t>Меры изменчивости</a:t>
            </a:r>
          </a:p>
        </p:txBody>
      </p:sp>
      <p:sp>
        <p:nvSpPr>
          <p:cNvPr id="125958" name="Rectangle 6"/>
          <p:cNvSpPr>
            <a:spLocks noChangeArrowheads="1"/>
          </p:cNvSpPr>
          <p:nvPr/>
        </p:nvSpPr>
        <p:spPr bwMode="auto">
          <a:xfrm>
            <a:off x="1195389" y="-2616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5959" name="Rectangle 7"/>
          <p:cNvSpPr>
            <a:spLocks noChangeArrowheads="1"/>
          </p:cNvSpPr>
          <p:nvPr/>
        </p:nvSpPr>
        <p:spPr bwMode="auto">
          <a:xfrm flipV="1">
            <a:off x="1195389" y="3082459"/>
            <a:ext cx="102774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ru-RU"/>
          </a:p>
        </p:txBody>
      </p:sp>
      <p:sp>
        <p:nvSpPr>
          <p:cNvPr id="125960" name="Rectangle 8"/>
          <p:cNvSpPr>
            <a:spLocks noChangeArrowheads="1"/>
          </p:cNvSpPr>
          <p:nvPr/>
        </p:nvSpPr>
        <p:spPr bwMode="auto">
          <a:xfrm>
            <a:off x="1195389" y="-2616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5961" name="Rectangle 9"/>
          <p:cNvSpPr>
            <a:spLocks noChangeArrowheads="1"/>
          </p:cNvSpPr>
          <p:nvPr/>
        </p:nvSpPr>
        <p:spPr bwMode="auto">
          <a:xfrm>
            <a:off x="3128170" y="1741889"/>
            <a:ext cx="7675884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93775" eaLnBrk="0" hangingPunct="0">
              <a:spcBef>
                <a:spcPct val="20000"/>
              </a:spcBef>
              <a:buChar char="•"/>
              <a:defRPr sz="3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54075" indent="-311150" defTabSz="993775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82700" indent="-249238" defTabSz="993775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9900" indent="-247650" defTabSz="993775" eaLnBrk="0" hangingPunct="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36788" indent="-247650" defTabSz="993775" eaLnBrk="0" hangingPunct="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939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511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083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65588" indent="-247650" defTabSz="993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ru-RU" altLang="ru-RU" sz="2300" dirty="0"/>
              <a:t>Диаграмма, основанная на пяти важных числах. </a:t>
            </a:r>
            <a:endParaRPr lang="en-US" altLang="ru-RU" sz="2300" dirty="0"/>
          </a:p>
          <a:p>
            <a:pPr>
              <a:buFontTx/>
              <a:buNone/>
            </a:pPr>
            <a:r>
              <a:rPr lang="ru-RU" altLang="ru-RU" sz="2300" dirty="0"/>
              <a:t>Удобна для анализа данных и часто используется.</a:t>
            </a:r>
          </a:p>
        </p:txBody>
      </p:sp>
      <p:grpSp>
        <p:nvGrpSpPr>
          <p:cNvPr id="125963" name="Group 11"/>
          <p:cNvGrpSpPr>
            <a:grpSpLocks/>
          </p:cNvGrpSpPr>
          <p:nvPr/>
        </p:nvGrpSpPr>
        <p:grpSpPr bwMode="auto">
          <a:xfrm>
            <a:off x="2883356" y="3338344"/>
            <a:ext cx="8570913" cy="1516063"/>
            <a:chOff x="268" y="1842"/>
            <a:chExt cx="5399" cy="955"/>
          </a:xfrm>
        </p:grpSpPr>
        <p:sp>
          <p:nvSpPr>
            <p:cNvPr id="125964" name="Rectangle 12"/>
            <p:cNvSpPr>
              <a:spLocks noChangeArrowheads="1"/>
            </p:cNvSpPr>
            <p:nvPr/>
          </p:nvSpPr>
          <p:spPr bwMode="auto">
            <a:xfrm>
              <a:off x="1578" y="1842"/>
              <a:ext cx="2041" cy="63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ru-RU" altLang="ru-RU"/>
            </a:p>
          </p:txBody>
        </p:sp>
        <p:sp>
          <p:nvSpPr>
            <p:cNvPr id="125965" name="Line 13"/>
            <p:cNvSpPr>
              <a:spLocks noChangeShapeType="1"/>
            </p:cNvSpPr>
            <p:nvPr/>
          </p:nvSpPr>
          <p:spPr bwMode="auto">
            <a:xfrm>
              <a:off x="625" y="2159"/>
              <a:ext cx="4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5966" name="Line 14"/>
            <p:cNvSpPr>
              <a:spLocks noChangeShapeType="1"/>
            </p:cNvSpPr>
            <p:nvPr/>
          </p:nvSpPr>
          <p:spPr bwMode="auto">
            <a:xfrm>
              <a:off x="625" y="2068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5967" name="Line 15"/>
            <p:cNvSpPr>
              <a:spLocks noChangeShapeType="1"/>
            </p:cNvSpPr>
            <p:nvPr/>
          </p:nvSpPr>
          <p:spPr bwMode="auto">
            <a:xfrm>
              <a:off x="5297" y="2068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5968" name="Line 16"/>
            <p:cNvSpPr>
              <a:spLocks noChangeShapeType="1"/>
            </p:cNvSpPr>
            <p:nvPr/>
          </p:nvSpPr>
          <p:spPr bwMode="auto">
            <a:xfrm>
              <a:off x="2349" y="1842"/>
              <a:ext cx="0" cy="6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5969" name="Text Box 17"/>
            <p:cNvSpPr txBox="1">
              <a:spLocks noChangeArrowheads="1"/>
            </p:cNvSpPr>
            <p:nvPr/>
          </p:nvSpPr>
          <p:spPr bwMode="auto">
            <a:xfrm>
              <a:off x="268" y="2568"/>
              <a:ext cx="72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1600" b="1"/>
                <a:t>Минимум</a:t>
              </a:r>
            </a:p>
          </p:txBody>
        </p:sp>
        <p:sp>
          <p:nvSpPr>
            <p:cNvPr id="125970" name="Text Box 18"/>
            <p:cNvSpPr txBox="1">
              <a:spLocks noChangeArrowheads="1"/>
            </p:cNvSpPr>
            <p:nvPr/>
          </p:nvSpPr>
          <p:spPr bwMode="auto">
            <a:xfrm>
              <a:off x="4891" y="2568"/>
              <a:ext cx="77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1600" b="1"/>
                <a:t>Максимум</a:t>
              </a:r>
            </a:p>
          </p:txBody>
        </p:sp>
        <p:sp>
          <p:nvSpPr>
            <p:cNvPr id="125971" name="Text Box 19"/>
            <p:cNvSpPr txBox="1">
              <a:spLocks noChangeArrowheads="1"/>
            </p:cNvSpPr>
            <p:nvPr/>
          </p:nvSpPr>
          <p:spPr bwMode="auto">
            <a:xfrm>
              <a:off x="1992" y="2584"/>
              <a:ext cx="67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1600" b="1"/>
                <a:t>Медиана</a:t>
              </a:r>
            </a:p>
          </p:txBody>
        </p:sp>
        <p:graphicFrame>
          <p:nvGraphicFramePr>
            <p:cNvPr id="125972" name="Object 20"/>
            <p:cNvGraphicFramePr>
              <a:graphicFrameLocks noChangeAspect="1"/>
            </p:cNvGraphicFramePr>
            <p:nvPr/>
          </p:nvGraphicFramePr>
          <p:xfrm>
            <a:off x="1510" y="2523"/>
            <a:ext cx="19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421" name="Уравнение" r:id="rId3" imgW="203040" imgH="241200" progId="Equation.3">
                    <p:embed/>
                  </p:oleObj>
                </mc:Choice>
                <mc:Fallback>
                  <p:oleObj name="Уравнение" r:id="rId3" imgW="203040" imgH="2412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0" y="2523"/>
                          <a:ext cx="192" cy="2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5973" name="Object 21"/>
            <p:cNvGraphicFramePr>
              <a:graphicFrameLocks noChangeAspect="1"/>
            </p:cNvGraphicFramePr>
            <p:nvPr/>
          </p:nvGraphicFramePr>
          <p:xfrm>
            <a:off x="3506" y="2523"/>
            <a:ext cx="20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422" name="Уравнение" r:id="rId5" imgW="215640" imgH="241200" progId="Equation.3">
                    <p:embed/>
                  </p:oleObj>
                </mc:Choice>
                <mc:Fallback>
                  <p:oleObj name="Уравнение" r:id="rId5" imgW="215640" imgH="2412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6" y="2523"/>
                          <a:ext cx="204" cy="2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5993" name="Group 41"/>
          <p:cNvGrpSpPr>
            <a:grpSpLocks/>
          </p:cNvGrpSpPr>
          <p:nvPr/>
        </p:nvGrpSpPr>
        <p:grpSpPr bwMode="auto">
          <a:xfrm>
            <a:off x="5088394" y="5387340"/>
            <a:ext cx="3097213" cy="579437"/>
            <a:chOff x="2012" y="3469"/>
            <a:chExt cx="1951" cy="365"/>
          </a:xfrm>
        </p:grpSpPr>
        <p:sp>
          <p:nvSpPr>
            <p:cNvPr id="125988" name="Line 36"/>
            <p:cNvSpPr>
              <a:spLocks noChangeShapeType="1"/>
            </p:cNvSpPr>
            <p:nvPr/>
          </p:nvSpPr>
          <p:spPr bwMode="auto">
            <a:xfrm>
              <a:off x="2012" y="3469"/>
              <a:ext cx="0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5989" name="Line 37"/>
            <p:cNvSpPr>
              <a:spLocks noChangeShapeType="1"/>
            </p:cNvSpPr>
            <p:nvPr/>
          </p:nvSpPr>
          <p:spPr bwMode="auto">
            <a:xfrm>
              <a:off x="3963" y="3469"/>
              <a:ext cx="0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5990" name="Line 38"/>
            <p:cNvSpPr>
              <a:spLocks noChangeShapeType="1"/>
            </p:cNvSpPr>
            <p:nvPr/>
          </p:nvSpPr>
          <p:spPr bwMode="auto">
            <a:xfrm>
              <a:off x="2012" y="3469"/>
              <a:ext cx="195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graphicFrame>
          <p:nvGraphicFramePr>
            <p:cNvPr id="125991" name="Object 39"/>
            <p:cNvGraphicFramePr>
              <a:graphicFrameLocks noChangeAspect="1"/>
            </p:cNvGraphicFramePr>
            <p:nvPr/>
          </p:nvGraphicFramePr>
          <p:xfrm>
            <a:off x="2693" y="3515"/>
            <a:ext cx="499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423" name="Уравнение" r:id="rId7" imgW="355320" imgH="228600" progId="Equation.3">
                    <p:embed/>
                  </p:oleObj>
                </mc:Choice>
                <mc:Fallback>
                  <p:oleObj name="Уравнение" r:id="rId7" imgW="355320" imgH="22860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3" y="3515"/>
                          <a:ext cx="499" cy="3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67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4848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373314" y="466725"/>
            <a:ext cx="7993063" cy="647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ru-RU" altLang="ru-RU" sz="4000" dirty="0"/>
              <a:t>Меры изменчивости</a:t>
            </a:r>
          </a:p>
        </p:txBody>
      </p:sp>
      <p:sp>
        <p:nvSpPr>
          <p:cNvPr id="148486" name="Rectangle 6"/>
          <p:cNvSpPr>
            <a:spLocks noChangeArrowheads="1"/>
          </p:cNvSpPr>
          <p:nvPr/>
        </p:nvSpPr>
        <p:spPr bwMode="auto">
          <a:xfrm>
            <a:off x="1195389" y="-2616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8487" name="Rectangle 7"/>
          <p:cNvSpPr>
            <a:spLocks noChangeArrowheads="1"/>
          </p:cNvSpPr>
          <p:nvPr/>
        </p:nvSpPr>
        <p:spPr bwMode="auto">
          <a:xfrm flipV="1">
            <a:off x="1195389" y="3082459"/>
            <a:ext cx="102774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ru-RU"/>
          </a:p>
        </p:txBody>
      </p:sp>
      <p:sp>
        <p:nvSpPr>
          <p:cNvPr id="148488" name="Rectangle 8"/>
          <p:cNvSpPr>
            <a:spLocks noChangeArrowheads="1"/>
          </p:cNvSpPr>
          <p:nvPr/>
        </p:nvSpPr>
        <p:spPr bwMode="auto">
          <a:xfrm>
            <a:off x="1195389" y="-2616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8507" name="Text Box 27"/>
          <p:cNvSpPr txBox="1">
            <a:spLocks noChangeArrowheads="1"/>
          </p:cNvSpPr>
          <p:nvPr/>
        </p:nvSpPr>
        <p:spPr bwMode="auto">
          <a:xfrm>
            <a:off x="5548312" y="1431928"/>
            <a:ext cx="15856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800" dirty="0"/>
              <a:t>boxplot()</a:t>
            </a:r>
            <a:endParaRPr lang="ru-RU" altLang="ru-RU" sz="2800" dirty="0"/>
          </a:p>
        </p:txBody>
      </p:sp>
      <p:grpSp>
        <p:nvGrpSpPr>
          <p:cNvPr id="4" name="Группа 3"/>
          <p:cNvGrpSpPr/>
          <p:nvPr/>
        </p:nvGrpSpPr>
        <p:grpSpPr>
          <a:xfrm>
            <a:off x="2373315" y="2182420"/>
            <a:ext cx="7561263" cy="4006850"/>
            <a:chOff x="1177925" y="2182420"/>
            <a:chExt cx="7561263" cy="4006850"/>
          </a:xfrm>
        </p:grpSpPr>
        <p:pic>
          <p:nvPicPr>
            <p:cNvPr id="148506" name="Picture 2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7925" y="2182420"/>
              <a:ext cx="7561263" cy="4006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5786809" y="4761958"/>
              <a:ext cx="82522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0,25</a:t>
              </a:r>
              <a:endParaRPr lang="ru-RU" sz="2400" b="1" dirty="0"/>
            </a:p>
          </p:txBody>
        </p:sp>
      </p:grp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68</a:t>
            </a:fld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1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985007"/>
              </p:ext>
            </p:extLst>
          </p:nvPr>
        </p:nvGraphicFramePr>
        <p:xfrm>
          <a:off x="5395912" y="5083773"/>
          <a:ext cx="3048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38" name="Уравнение" r:id="rId4" imgW="203040" imgH="241200" progId="Equation.3">
                  <p:embed/>
                </p:oleObj>
              </mc:Choice>
              <mc:Fallback>
                <p:oleObj name="Уравнение" r:id="rId4" imgW="203040" imgH="241200" progId="Equation.3">
                  <p:embed/>
                  <p:pic>
                    <p:nvPicPr>
                      <p:cNvPr id="12597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912" y="5083773"/>
                        <a:ext cx="304800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085671"/>
              </p:ext>
            </p:extLst>
          </p:nvPr>
        </p:nvGraphicFramePr>
        <p:xfrm>
          <a:off x="5198540" y="3344071"/>
          <a:ext cx="32385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39" name="Уравнение" r:id="rId6" imgW="215640" imgH="241200" progId="Equation.3">
                  <p:embed/>
                </p:oleObj>
              </mc:Choice>
              <mc:Fallback>
                <p:oleObj name="Уравнение" r:id="rId6" imgW="215640" imgH="241200" progId="Equation.3">
                  <p:embed/>
                  <p:pic>
                    <p:nvPicPr>
                      <p:cNvPr id="12597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8540" y="3344071"/>
                        <a:ext cx="323850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AutoShape 5"/>
          <p:cNvSpPr>
            <a:spLocks noChangeArrowheads="1"/>
          </p:cNvSpPr>
          <p:nvPr/>
        </p:nvSpPr>
        <p:spPr bwMode="auto">
          <a:xfrm>
            <a:off x="2085975" y="27252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4848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373314" y="466725"/>
            <a:ext cx="7993063" cy="647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ru-RU" altLang="ru-RU" sz="4000"/>
              <a:t>Меры изменчивости</a:t>
            </a:r>
          </a:p>
        </p:txBody>
      </p:sp>
      <p:sp>
        <p:nvSpPr>
          <p:cNvPr id="148486" name="Rectangle 6"/>
          <p:cNvSpPr>
            <a:spLocks noChangeArrowheads="1"/>
          </p:cNvSpPr>
          <p:nvPr/>
        </p:nvSpPr>
        <p:spPr bwMode="auto">
          <a:xfrm>
            <a:off x="1195389" y="-2616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8487" name="Rectangle 7"/>
          <p:cNvSpPr>
            <a:spLocks noChangeArrowheads="1"/>
          </p:cNvSpPr>
          <p:nvPr/>
        </p:nvSpPr>
        <p:spPr bwMode="auto">
          <a:xfrm flipV="1">
            <a:off x="1195389" y="3082459"/>
            <a:ext cx="102774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ru-RU"/>
          </a:p>
        </p:txBody>
      </p:sp>
      <p:sp>
        <p:nvSpPr>
          <p:cNvPr id="148488" name="Rectangle 8"/>
          <p:cNvSpPr>
            <a:spLocks noChangeArrowheads="1"/>
          </p:cNvSpPr>
          <p:nvPr/>
        </p:nvSpPr>
        <p:spPr bwMode="auto">
          <a:xfrm>
            <a:off x="1195389" y="-2616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8507" name="Text Box 27"/>
          <p:cNvSpPr txBox="1">
            <a:spLocks noChangeArrowheads="1"/>
          </p:cNvSpPr>
          <p:nvPr/>
        </p:nvSpPr>
        <p:spPr bwMode="auto">
          <a:xfrm>
            <a:off x="5326014" y="1074737"/>
            <a:ext cx="15856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800" dirty="0"/>
              <a:t>boxplot()</a:t>
            </a:r>
            <a:endParaRPr lang="ru-RU" altLang="ru-RU" sz="2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773" y="2171626"/>
            <a:ext cx="5672633" cy="399496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448947" y="1681191"/>
            <a:ext cx="117703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Ящик с усами - способ визуализации основных характеристик распределения: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834964" y="6259453"/>
            <a:ext cx="88538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aseline="30000" dirty="0"/>
              <a:t>*)</a:t>
            </a:r>
            <a:r>
              <a:rPr lang="ru-RU" sz="2000" dirty="0"/>
              <a:t>Длина усов отличается в разных реализациях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158661" y="6605017"/>
            <a:ext cx="876178" cy="379409"/>
          </a:xfrm>
        </p:spPr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69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627795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5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57414" y="395289"/>
            <a:ext cx="7921625" cy="757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ru-RU" altLang="ru-RU" sz="4400" dirty="0" err="1"/>
              <a:t>Процентили</a:t>
            </a:r>
            <a:endParaRPr lang="ru-RU" altLang="ru-RU" sz="4400" dirty="0"/>
          </a:p>
        </p:txBody>
      </p:sp>
      <p:sp>
        <p:nvSpPr>
          <p:cNvPr id="12800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941513" y="1402906"/>
            <a:ext cx="8857108" cy="475602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dirty="0" err="1"/>
              <a:t>Процентили</a:t>
            </a:r>
            <a:r>
              <a:rPr lang="ru-RU" altLang="ru-RU" sz="2400" dirty="0"/>
              <a:t> </a:t>
            </a:r>
            <a:r>
              <a:rPr lang="en-US" altLang="ru-RU" sz="2400" dirty="0"/>
              <a:t> - </a:t>
            </a:r>
            <a:r>
              <a:rPr lang="ru-RU" altLang="ru-RU" sz="2400" dirty="0"/>
              <a:t>это характеристики набора данных, которые выражают ранги элементов в процентах от 0% до 100%. 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dirty="0" err="1"/>
              <a:t>Процентили</a:t>
            </a:r>
            <a:r>
              <a:rPr lang="ru-RU" altLang="ru-RU" sz="2400" dirty="0"/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dirty="0"/>
              <a:t>	Минимальное значение 	0%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dirty="0"/>
              <a:t>	Первый квартиль		25%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dirty="0"/>
              <a:t>	Медиана			50%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dirty="0"/>
              <a:t>	Третий квартиль		75%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dirty="0"/>
              <a:t>	Наибольшее значение	100%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dirty="0" err="1"/>
              <a:t>Процентили</a:t>
            </a:r>
            <a:r>
              <a:rPr lang="ru-RU" altLang="ru-RU" sz="2400" dirty="0"/>
              <a:t> разбивают наборы количественных и порядковых данных на определенные части.</a:t>
            </a: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EDCED5F1-6910-4051-B149-890207F30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0669" y="6605017"/>
            <a:ext cx="804170" cy="379409"/>
          </a:xfrm>
        </p:spPr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70</a:t>
            </a:fld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45413" name="Rectangle 5"/>
          <p:cNvSpPr>
            <a:spLocks noChangeArrowheads="1"/>
          </p:cNvSpPr>
          <p:nvPr/>
        </p:nvSpPr>
        <p:spPr bwMode="auto">
          <a:xfrm>
            <a:off x="3991944" y="2366963"/>
            <a:ext cx="3660775" cy="127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4541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709739" y="285750"/>
            <a:ext cx="9248775" cy="1187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/>
              <a:t>Дисперсия</a:t>
            </a:r>
          </a:p>
        </p:txBody>
      </p:sp>
      <p:pic>
        <p:nvPicPr>
          <p:cNvPr id="145425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906" y="1749427"/>
            <a:ext cx="4243387" cy="302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5426" name="Rectangle 18"/>
          <p:cNvSpPr>
            <a:spLocks noChangeArrowheads="1"/>
          </p:cNvSpPr>
          <p:nvPr/>
        </p:nvSpPr>
        <p:spPr bwMode="auto">
          <a:xfrm>
            <a:off x="2778498" y="1884612"/>
            <a:ext cx="3025550" cy="276999"/>
          </a:xfrm>
          <a:prstGeom prst="rect">
            <a:avLst/>
          </a:prstGeom>
          <a:solidFill>
            <a:srgbClr val="E1E2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eaLnBrk="0" hangingPunct="0"/>
            <a:r>
              <a:rPr lang="en-US" altLang="ru-RU" sz="1800" b="1" dirty="0"/>
              <a:t>&gt;</a:t>
            </a:r>
            <a:r>
              <a:rPr lang="ru-RU" altLang="ru-RU" sz="1800" b="1" dirty="0" err="1"/>
              <a:t>sd</a:t>
            </a:r>
            <a:r>
              <a:rPr lang="ru-RU" altLang="ru-RU" sz="1800" b="1" dirty="0"/>
              <a:t>(</a:t>
            </a:r>
            <a:r>
              <a:rPr lang="ru-RU" altLang="ru-RU" sz="1800" b="1" dirty="0" err="1"/>
              <a:t>numb</a:t>
            </a:r>
            <a:r>
              <a:rPr lang="ru-RU" altLang="ru-RU" sz="1800" b="1" dirty="0"/>
              <a:t>) [1] 0.9766062</a:t>
            </a:r>
          </a:p>
        </p:txBody>
      </p:sp>
      <p:grpSp>
        <p:nvGrpSpPr>
          <p:cNvPr id="145437" name="Group 29"/>
          <p:cNvGrpSpPr>
            <a:grpSpLocks/>
          </p:cNvGrpSpPr>
          <p:nvPr/>
        </p:nvGrpSpPr>
        <p:grpSpPr bwMode="auto">
          <a:xfrm>
            <a:off x="8540130" y="4630740"/>
            <a:ext cx="1295400" cy="1008063"/>
            <a:chOff x="4643" y="3152"/>
            <a:chExt cx="816" cy="635"/>
          </a:xfrm>
        </p:grpSpPr>
        <p:sp>
          <p:nvSpPr>
            <p:cNvPr id="145428" name="Line 20"/>
            <p:cNvSpPr>
              <a:spLocks noChangeShapeType="1"/>
            </p:cNvSpPr>
            <p:nvPr/>
          </p:nvSpPr>
          <p:spPr bwMode="auto">
            <a:xfrm>
              <a:off x="4643" y="3470"/>
              <a:ext cx="0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5429" name="Line 21"/>
            <p:cNvSpPr>
              <a:spLocks noChangeShapeType="1"/>
            </p:cNvSpPr>
            <p:nvPr/>
          </p:nvSpPr>
          <p:spPr bwMode="auto">
            <a:xfrm>
              <a:off x="5459" y="3470"/>
              <a:ext cx="0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5430" name="Line 22"/>
            <p:cNvSpPr>
              <a:spLocks noChangeShapeType="1"/>
            </p:cNvSpPr>
            <p:nvPr/>
          </p:nvSpPr>
          <p:spPr bwMode="auto">
            <a:xfrm>
              <a:off x="4643" y="3470"/>
              <a:ext cx="81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5433" name="Text Box 25"/>
            <p:cNvSpPr txBox="1">
              <a:spLocks noChangeArrowheads="1"/>
            </p:cNvSpPr>
            <p:nvPr/>
          </p:nvSpPr>
          <p:spPr bwMode="auto">
            <a:xfrm>
              <a:off x="4915" y="3152"/>
              <a:ext cx="3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defTabSz="99377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defTabSz="9937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ru-RU" dirty="0">
                  <a:sym typeface="Symbol" panose="05050102010706020507" pitchFamily="18" charset="2"/>
                </a:rPr>
                <a:t>2</a:t>
              </a:r>
              <a:r>
                <a:rPr lang="ru-RU" altLang="ru-RU" sz="2800" dirty="0">
                  <a:sym typeface="Symbol" panose="05050102010706020507" pitchFamily="18" charset="2"/>
                </a:rPr>
                <a:t></a:t>
              </a:r>
            </a:p>
          </p:txBody>
        </p:sp>
      </p:grpSp>
      <p:sp>
        <p:nvSpPr>
          <p:cNvPr id="145435" name="Text Box 27"/>
          <p:cNvSpPr txBox="1">
            <a:spLocks noChangeArrowheads="1"/>
          </p:cNvSpPr>
          <p:nvPr/>
        </p:nvSpPr>
        <p:spPr bwMode="auto">
          <a:xfrm>
            <a:off x="2203648" y="4875780"/>
            <a:ext cx="338455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dirty="0" err="1"/>
              <a:t>plot</a:t>
            </a:r>
            <a:r>
              <a:rPr lang="ru-RU" altLang="ru-RU" dirty="0"/>
              <a:t>(1:100, </a:t>
            </a:r>
            <a:r>
              <a:rPr lang="ru-RU" altLang="ru-RU" dirty="0" err="1"/>
              <a:t>numb</a:t>
            </a:r>
            <a:r>
              <a:rPr lang="ru-RU" altLang="ru-RU" dirty="0"/>
              <a:t>)  </a:t>
            </a:r>
            <a:r>
              <a:rPr lang="ru-RU" altLang="ru-RU" dirty="0" err="1"/>
              <a:t>qqline</a:t>
            </a:r>
            <a:r>
              <a:rPr lang="ru-RU" altLang="ru-RU" dirty="0"/>
              <a:t>(</a:t>
            </a:r>
            <a:r>
              <a:rPr lang="ru-RU" altLang="ru-RU" dirty="0" err="1"/>
              <a:t>mean</a:t>
            </a:r>
            <a:r>
              <a:rPr lang="ru-RU" altLang="ru-RU" dirty="0"/>
              <a:t>(</a:t>
            </a:r>
            <a:r>
              <a:rPr lang="ru-RU" altLang="ru-RU" dirty="0" err="1"/>
              <a:t>numb</a:t>
            </a:r>
            <a:r>
              <a:rPr lang="ru-RU" altLang="ru-RU" dirty="0"/>
              <a:t>),</a:t>
            </a:r>
            <a:r>
              <a:rPr lang="ru-RU" altLang="ru-RU" dirty="0" err="1"/>
              <a:t>col</a:t>
            </a:r>
            <a:r>
              <a:rPr lang="ru-RU" altLang="ru-RU" dirty="0"/>
              <a:t>=2) </a:t>
            </a:r>
            <a:r>
              <a:rPr lang="ru-RU" altLang="ru-RU" dirty="0" err="1"/>
              <a:t>qqline</a:t>
            </a:r>
            <a:r>
              <a:rPr lang="ru-RU" altLang="ru-RU" dirty="0"/>
              <a:t>(</a:t>
            </a:r>
            <a:r>
              <a:rPr lang="ru-RU" altLang="ru-RU" dirty="0" err="1"/>
              <a:t>sd</a:t>
            </a:r>
            <a:r>
              <a:rPr lang="ru-RU" altLang="ru-RU" dirty="0"/>
              <a:t>(</a:t>
            </a:r>
            <a:r>
              <a:rPr lang="ru-RU" altLang="ru-RU" dirty="0" err="1"/>
              <a:t>numb</a:t>
            </a:r>
            <a:r>
              <a:rPr lang="ru-RU" altLang="ru-RU" dirty="0"/>
              <a:t>),</a:t>
            </a:r>
            <a:r>
              <a:rPr lang="ru-RU" altLang="ru-RU" dirty="0" err="1"/>
              <a:t>col</a:t>
            </a:r>
            <a:r>
              <a:rPr lang="ru-RU" altLang="ru-RU" dirty="0"/>
              <a:t>=5) </a:t>
            </a:r>
            <a:r>
              <a:rPr lang="ru-RU" altLang="ru-RU" dirty="0" err="1"/>
              <a:t>qqline</a:t>
            </a:r>
            <a:r>
              <a:rPr lang="ru-RU" altLang="ru-RU" dirty="0"/>
              <a:t>(-</a:t>
            </a:r>
            <a:r>
              <a:rPr lang="ru-RU" altLang="ru-RU" dirty="0" err="1"/>
              <a:t>sd</a:t>
            </a:r>
            <a:r>
              <a:rPr lang="ru-RU" altLang="ru-RU" dirty="0"/>
              <a:t>(</a:t>
            </a:r>
            <a:r>
              <a:rPr lang="ru-RU" altLang="ru-RU" dirty="0" err="1"/>
              <a:t>numb</a:t>
            </a:r>
            <a:r>
              <a:rPr lang="ru-RU" altLang="ru-RU" dirty="0"/>
              <a:t>),</a:t>
            </a:r>
            <a:r>
              <a:rPr lang="ru-RU" altLang="ru-RU" dirty="0" err="1"/>
              <a:t>col</a:t>
            </a:r>
            <a:r>
              <a:rPr lang="ru-RU" altLang="ru-RU" dirty="0"/>
              <a:t>=5)</a:t>
            </a:r>
          </a:p>
        </p:txBody>
      </p:sp>
      <p:pic>
        <p:nvPicPr>
          <p:cNvPr id="145436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212" y="2268538"/>
            <a:ext cx="5097462" cy="2500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516164" y="1467917"/>
            <a:ext cx="3539430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7" eaLnBrk="0" hangingPunct="0"/>
            <a:r>
              <a:rPr lang="ru-RU" altLang="ru-RU" sz="20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numb</a:t>
            </a:r>
            <a:r>
              <a:rPr lang="ru-RU" altLang="ru-RU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ru-RU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-</a:t>
            </a:r>
            <a:r>
              <a:rPr lang="ru-RU" altLang="ru-RU" sz="20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rnorm</a:t>
            </a:r>
            <a:r>
              <a:rPr lang="ru-RU" altLang="ru-RU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(1:100</a:t>
            </a:r>
            <a:r>
              <a:rPr lang="en-US" altLang="ru-RU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,</a:t>
            </a:r>
            <a:r>
              <a:rPr lang="en-US" altLang="ru-RU" sz="20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sd</a:t>
            </a:r>
            <a:r>
              <a:rPr lang="en-US" altLang="ru-RU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=1</a:t>
            </a:r>
            <a:r>
              <a:rPr lang="ru-RU" altLang="ru-RU" sz="2000" dirty="0">
                <a:solidFill>
                  <a:srgbClr val="0000FF"/>
                </a:solidFill>
                <a:latin typeface="Lucida Console" panose="020B0609040504020204" pitchFamily="49" charset="0"/>
              </a:rPr>
              <a:t>)</a:t>
            </a:r>
            <a:endParaRPr lang="ru-RU" altLang="ru-RU" sz="4400" dirty="0"/>
          </a:p>
        </p:txBody>
      </p:sp>
      <p:sp>
        <p:nvSpPr>
          <p:cNvPr id="16" name="Номер слайда 1">
            <a:extLst>
              <a:ext uri="{FF2B5EF4-FFF2-40B4-BE49-F238E27FC236}">
                <a16:creationId xmlns:a16="http://schemas.microsoft.com/office/drawing/2014/main" id="{8E04F463-A992-4DE3-AC16-0C921A9BD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71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34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29026" name="Rectangle 2"/>
          <p:cNvSpPr>
            <a:spLocks noChangeArrowheads="1"/>
          </p:cNvSpPr>
          <p:nvPr/>
        </p:nvSpPr>
        <p:spPr bwMode="auto">
          <a:xfrm>
            <a:off x="4017965" y="2740025"/>
            <a:ext cx="3660775" cy="127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09739" y="285750"/>
            <a:ext cx="9248775" cy="1187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/>
              <a:t>Дисперсия</a:t>
            </a:r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077541" y="1258889"/>
            <a:ext cx="10585175" cy="513181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buFontTx/>
              <a:buNone/>
            </a:pPr>
            <a:r>
              <a:rPr lang="ru-RU" altLang="ru-RU" sz="2400" b="1" dirty="0"/>
              <a:t>Дисперсия выборки</a:t>
            </a:r>
            <a:r>
              <a:rPr lang="ru-RU" altLang="ru-RU" sz="2400" dirty="0"/>
              <a:t>  – мера разброса данной случайной величины, то есть её отклонения от математического ожидания,</a:t>
            </a:r>
            <a:r>
              <a:rPr lang="en-US" altLang="ru-RU" sz="2400" dirty="0"/>
              <a:t> </a:t>
            </a:r>
            <a:r>
              <a:rPr lang="ru-RU" altLang="ru-RU" sz="2400" dirty="0"/>
              <a:t>вычисляется как среднее арифметическое квадратов отклонений значений выборки мощностью </a:t>
            </a:r>
            <a:r>
              <a:rPr lang="en-US" altLang="ru-RU" sz="2400" b="1" i="1" dirty="0"/>
              <a:t>n</a:t>
            </a:r>
            <a:r>
              <a:rPr lang="en-US" altLang="ru-RU" sz="2400" dirty="0"/>
              <a:t> </a:t>
            </a:r>
            <a:r>
              <a:rPr lang="ru-RU" altLang="ru-RU" sz="2400" dirty="0"/>
              <a:t>от их среднего.</a:t>
            </a:r>
          </a:p>
          <a:p>
            <a:pPr>
              <a:buFontTx/>
              <a:buNone/>
            </a:pPr>
            <a:r>
              <a:rPr lang="ru-RU" altLang="ru-RU" sz="2400" dirty="0"/>
              <a:t>Вычисляем по одной из формул: </a:t>
            </a:r>
          </a:p>
          <a:p>
            <a:pPr>
              <a:buFontTx/>
              <a:buNone/>
            </a:pPr>
            <a:endParaRPr lang="ru-RU" altLang="ru-RU" sz="2400" dirty="0"/>
          </a:p>
          <a:p>
            <a:pPr>
              <a:buFontTx/>
              <a:buNone/>
            </a:pPr>
            <a:endParaRPr lang="ru-RU" altLang="ru-RU" sz="2400" dirty="0"/>
          </a:p>
          <a:p>
            <a:pPr>
              <a:buFontTx/>
              <a:buNone/>
            </a:pPr>
            <a:endParaRPr lang="ru-RU" altLang="ru-RU" sz="2400" dirty="0"/>
          </a:p>
          <a:p>
            <a:pPr>
              <a:buFontTx/>
              <a:buNone/>
            </a:pPr>
            <a:endParaRPr lang="ru-RU" altLang="ru-RU" sz="2400" dirty="0"/>
          </a:p>
          <a:p>
            <a:r>
              <a:rPr lang="ru-RU" altLang="ru-RU" sz="2400" dirty="0"/>
              <a:t>Считается, что формула б) более пригодна для практических вычислений при ручном счете и при использовании электронных таблиц.</a:t>
            </a:r>
          </a:p>
        </p:txBody>
      </p:sp>
      <p:graphicFrame>
        <p:nvGraphicFramePr>
          <p:cNvPr id="129036" name="Object 12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753451496"/>
              </p:ext>
            </p:extLst>
          </p:nvPr>
        </p:nvGraphicFramePr>
        <p:xfrm>
          <a:off x="6981825" y="3651250"/>
          <a:ext cx="2727325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92" name="Уравнение" r:id="rId3" imgW="1384200" imgH="482400" progId="Equation.3">
                  <p:embed/>
                </p:oleObj>
              </mc:Choice>
              <mc:Fallback>
                <p:oleObj name="Уравнение" r:id="rId3" imgW="1384200" imgH="482400" progId="Equation.3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1825" y="3651250"/>
                        <a:ext cx="2727325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40" name="Object 1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232319850"/>
              </p:ext>
            </p:extLst>
          </p:nvPr>
        </p:nvGraphicFramePr>
        <p:xfrm>
          <a:off x="6182146" y="2715949"/>
          <a:ext cx="2952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93" name="Уравнение" r:id="rId5" imgW="126720" imgH="215640" progId="Equation.3">
                  <p:embed/>
                </p:oleObj>
              </mc:Choice>
              <mc:Fallback>
                <p:oleObj name="Уравнение" r:id="rId5" imgW="126720" imgH="215640" progId="Equation.3">
                  <p:embed/>
                  <p:pic>
                    <p:nvPicPr>
                      <p:cNvPr id="0" name="Object 1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2146" y="2715949"/>
                        <a:ext cx="29527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860404"/>
              </p:ext>
            </p:extLst>
          </p:nvPr>
        </p:nvGraphicFramePr>
        <p:xfrm>
          <a:off x="3590875" y="3691325"/>
          <a:ext cx="2205037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94" name="Уравнение" r:id="rId7" imgW="1002960" imgH="444240" progId="Equation.3">
                  <p:embed/>
                </p:oleObj>
              </mc:Choice>
              <mc:Fallback>
                <p:oleObj name="Уравнение" r:id="rId7" imgW="1002960" imgH="444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0875" y="3691325"/>
                        <a:ext cx="2205037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8" name="Text Box 14"/>
          <p:cNvSpPr txBox="1">
            <a:spLocks noChangeArrowheads="1"/>
          </p:cNvSpPr>
          <p:nvPr/>
        </p:nvSpPr>
        <p:spPr bwMode="auto">
          <a:xfrm>
            <a:off x="2847923" y="3923097"/>
            <a:ext cx="412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а)</a:t>
            </a:r>
          </a:p>
        </p:txBody>
      </p:sp>
      <p:sp>
        <p:nvSpPr>
          <p:cNvPr id="129039" name="Text Box 15"/>
          <p:cNvSpPr txBox="1">
            <a:spLocks noChangeArrowheads="1"/>
          </p:cNvSpPr>
          <p:nvPr/>
        </p:nvSpPr>
        <p:spPr bwMode="auto">
          <a:xfrm>
            <a:off x="6329784" y="3927601"/>
            <a:ext cx="41710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/>
              <a:t>б)</a:t>
            </a:r>
          </a:p>
        </p:txBody>
      </p:sp>
      <p:sp>
        <p:nvSpPr>
          <p:cNvPr id="12" name="Номер слайда 1">
            <a:extLst>
              <a:ext uri="{FF2B5EF4-FFF2-40B4-BE49-F238E27FC236}">
                <a16:creationId xmlns:a16="http://schemas.microsoft.com/office/drawing/2014/main" id="{095C9499-125E-4B9E-9773-6349DF32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72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10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30050" name="Rectangle 2"/>
          <p:cNvSpPr>
            <a:spLocks noChangeArrowheads="1"/>
          </p:cNvSpPr>
          <p:nvPr/>
        </p:nvSpPr>
        <p:spPr bwMode="auto">
          <a:xfrm>
            <a:off x="1421300" y="2535861"/>
            <a:ext cx="3914775" cy="229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301876" y="285750"/>
            <a:ext cx="7848600" cy="7572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4000" dirty="0"/>
              <a:t>Подсчет дисперсии в таблице</a:t>
            </a:r>
          </a:p>
        </p:txBody>
      </p:sp>
      <p:sp>
        <p:nvSpPr>
          <p:cNvPr id="130052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2012951" y="1677990"/>
            <a:ext cx="8424862" cy="3603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altLang="ru-RU" sz="2400" dirty="0"/>
              <a:t>Дисперсию удобно рассчитывать при помощи таблицы.</a:t>
            </a:r>
          </a:p>
        </p:txBody>
      </p:sp>
      <p:sp>
        <p:nvSpPr>
          <p:cNvPr id="130053" name="Rectangle 5"/>
          <p:cNvSpPr>
            <a:spLocks noChangeArrowheads="1"/>
          </p:cNvSpPr>
          <p:nvPr/>
        </p:nvSpPr>
        <p:spPr bwMode="auto">
          <a:xfrm>
            <a:off x="3898903" y="122111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300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086024"/>
              </p:ext>
            </p:extLst>
          </p:nvPr>
        </p:nvGraphicFramePr>
        <p:xfrm>
          <a:off x="2094399" y="2712072"/>
          <a:ext cx="220662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830" name="Уравнение" r:id="rId3" imgW="152268" imgH="164957" progId="Equation.3">
                  <p:embed/>
                </p:oleObj>
              </mc:Choice>
              <mc:Fallback>
                <p:oleObj name="Уравнение" r:id="rId3" imgW="152268" imgH="16495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4399" y="2712072"/>
                        <a:ext cx="220662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5" name="Rectangle 7"/>
          <p:cNvSpPr>
            <a:spLocks noChangeArrowheads="1"/>
          </p:cNvSpPr>
          <p:nvPr/>
        </p:nvSpPr>
        <p:spPr bwMode="auto">
          <a:xfrm>
            <a:off x="3898903" y="122111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0056" name="Rectangle 8"/>
          <p:cNvSpPr>
            <a:spLocks noChangeArrowheads="1"/>
          </p:cNvSpPr>
          <p:nvPr/>
        </p:nvSpPr>
        <p:spPr bwMode="auto">
          <a:xfrm>
            <a:off x="3898903" y="122111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0057" name="Rectangle 9"/>
          <p:cNvSpPr>
            <a:spLocks noChangeArrowheads="1"/>
          </p:cNvSpPr>
          <p:nvPr/>
        </p:nvSpPr>
        <p:spPr bwMode="auto">
          <a:xfrm>
            <a:off x="3898903" y="122111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0058" name="Rectangle 10"/>
          <p:cNvSpPr>
            <a:spLocks noChangeArrowheads="1"/>
          </p:cNvSpPr>
          <p:nvPr/>
        </p:nvSpPr>
        <p:spPr bwMode="auto">
          <a:xfrm>
            <a:off x="3898903" y="122111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300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453148"/>
              </p:ext>
            </p:extLst>
          </p:nvPr>
        </p:nvGraphicFramePr>
        <p:xfrm>
          <a:off x="3513623" y="2540622"/>
          <a:ext cx="6032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831" name="Уравнение" r:id="rId5" imgW="431613" imgH="253890" progId="Equation.3">
                  <p:embed/>
                </p:oleObj>
              </mc:Choice>
              <mc:Fallback>
                <p:oleObj name="Уравнение" r:id="rId5" imgW="431613" imgH="25389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3623" y="2540622"/>
                        <a:ext cx="603250" cy="436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60" name="Rectangle 12"/>
          <p:cNvSpPr>
            <a:spLocks noChangeArrowheads="1"/>
          </p:cNvSpPr>
          <p:nvPr/>
        </p:nvSpPr>
        <p:spPr bwMode="auto">
          <a:xfrm>
            <a:off x="3898903" y="122111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300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881733"/>
              </p:ext>
            </p:extLst>
          </p:nvPr>
        </p:nvGraphicFramePr>
        <p:xfrm>
          <a:off x="4932848" y="2559672"/>
          <a:ext cx="84296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832" name="Уравнение" r:id="rId7" imgW="647700" imgH="292100" progId="Equation.3">
                  <p:embed/>
                </p:oleObj>
              </mc:Choice>
              <mc:Fallback>
                <p:oleObj name="Уравнение" r:id="rId7" imgW="647700" imgH="2921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848" y="2559672"/>
                        <a:ext cx="842962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108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207528"/>
              </p:ext>
            </p:extLst>
          </p:nvPr>
        </p:nvGraphicFramePr>
        <p:xfrm>
          <a:off x="1741975" y="2608884"/>
          <a:ext cx="4249737" cy="2952750"/>
        </p:xfrm>
        <a:graphic>
          <a:graphicData uri="http://schemas.openxmlformats.org/drawingml/2006/table">
            <a:tbl>
              <a:tblPr/>
              <a:tblGrid>
                <a:gridCol w="141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924" marR="94924" marT="47462" marB="47462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4924" marR="94924" marT="47462" marB="47462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– 5 = -3</a:t>
                      </a: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4924" marR="94924" marT="47462" marB="4746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– 5 = -2</a:t>
                      </a: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4924" marR="94924" marT="47462" marB="4746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– 5 = 1</a:t>
                      </a: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4924" marR="94924" marT="47462" marB="4746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 – 5 = 4</a:t>
                      </a: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94924" marR="94924" marT="47462" marB="47462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0102" name="Rectangle 54"/>
          <p:cNvSpPr>
            <a:spLocks noChangeArrowheads="1"/>
          </p:cNvSpPr>
          <p:nvPr/>
        </p:nvSpPr>
        <p:spPr bwMode="auto">
          <a:xfrm>
            <a:off x="6478589" y="2554290"/>
            <a:ext cx="555625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24" tIns="47462" rIns="94924" bIns="47462"/>
          <a:lstStyle>
            <a:lvl1pPr eaLnBrk="0" hangingPunct="0">
              <a:spcBef>
                <a:spcPct val="20000"/>
              </a:spcBef>
              <a:buChar char="•"/>
              <a:defRPr sz="3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 eaLnBrk="0" hangingPunct="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ru-RU" altLang="ru-RU" sz="1900" dirty="0"/>
              <a:t>В первом столбце выборка. Второй и третий столбцы для вычислений.</a:t>
            </a:r>
          </a:p>
          <a:p>
            <a:pPr>
              <a:buFontTx/>
              <a:buNone/>
            </a:pPr>
            <a:r>
              <a:rPr lang="ru-RU" altLang="ru-RU" sz="1900" dirty="0"/>
              <a:t>Сумма третьего столбца есть сумма квадратов отклонений значений выборки от среднего.</a:t>
            </a:r>
          </a:p>
        </p:txBody>
      </p:sp>
      <p:graphicFrame>
        <p:nvGraphicFramePr>
          <p:cNvPr id="130103" name="Object 55"/>
          <p:cNvGraphicFramePr>
            <a:graphicFrameLocks noChangeAspect="1"/>
          </p:cNvGraphicFramePr>
          <p:nvPr/>
        </p:nvGraphicFramePr>
        <p:xfrm>
          <a:off x="7081838" y="4341815"/>
          <a:ext cx="2146300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833" name="Уравнение" r:id="rId9" imgW="1244520" imgH="457200" progId="Equation.3">
                  <p:embed/>
                </p:oleObj>
              </mc:Choice>
              <mc:Fallback>
                <p:oleObj name="Уравнение" r:id="rId9" imgW="1244520" imgH="45720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1838" y="4341815"/>
                        <a:ext cx="2146300" cy="782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0113" name="Group 65"/>
          <p:cNvGrpSpPr>
            <a:grpSpLocks/>
          </p:cNvGrpSpPr>
          <p:nvPr/>
        </p:nvGrpSpPr>
        <p:grpSpPr bwMode="auto">
          <a:xfrm>
            <a:off x="6765927" y="5283200"/>
            <a:ext cx="3386137" cy="808038"/>
            <a:chOff x="3509" y="3328"/>
            <a:chExt cx="2133" cy="509"/>
          </a:xfrm>
        </p:grpSpPr>
        <p:graphicFrame>
          <p:nvGraphicFramePr>
            <p:cNvPr id="130062" name="Object 14"/>
            <p:cNvGraphicFramePr>
              <a:graphicFrameLocks noChangeAspect="1"/>
            </p:cNvGraphicFramePr>
            <p:nvPr/>
          </p:nvGraphicFramePr>
          <p:xfrm>
            <a:off x="3509" y="3328"/>
            <a:ext cx="2069" cy="5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834" name="Уравнение" r:id="rId11" imgW="1955520" imgH="482400" progId="Equation.3">
                    <p:embed/>
                  </p:oleObj>
                </mc:Choice>
                <mc:Fallback>
                  <p:oleObj name="Уравнение" r:id="rId11" imgW="1955520" imgH="4824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9" y="3328"/>
                          <a:ext cx="2069" cy="5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0104" name="Oval 56"/>
            <p:cNvSpPr>
              <a:spLocks noChangeArrowheads="1"/>
            </p:cNvSpPr>
            <p:nvPr/>
          </p:nvSpPr>
          <p:spPr bwMode="auto">
            <a:xfrm>
              <a:off x="5324" y="3405"/>
              <a:ext cx="318" cy="36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73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46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230438" y="538164"/>
            <a:ext cx="7704138" cy="757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3600" dirty="0"/>
              <a:t>Подсчет дисперсии в таблице</a:t>
            </a:r>
          </a:p>
        </p:txBody>
      </p:sp>
      <p:sp>
        <p:nvSpPr>
          <p:cNvPr id="132100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1820071" y="1477965"/>
            <a:ext cx="9248775" cy="6429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ru-RU" altLang="ru-RU" sz="2400" dirty="0"/>
              <a:t>Пример вычисления дисперсии по второй формуле. В таблице рассчитываются лишь квадраты значений.</a:t>
            </a:r>
          </a:p>
        </p:txBody>
      </p:sp>
      <p:sp>
        <p:nvSpPr>
          <p:cNvPr id="132101" name="Rectangle 5"/>
          <p:cNvSpPr>
            <a:spLocks noChangeArrowheads="1"/>
          </p:cNvSpPr>
          <p:nvPr/>
        </p:nvSpPr>
        <p:spPr bwMode="auto">
          <a:xfrm>
            <a:off x="3898903" y="122111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321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081407"/>
              </p:ext>
            </p:extLst>
          </p:nvPr>
        </p:nvGraphicFramePr>
        <p:xfrm>
          <a:off x="2463007" y="2514601"/>
          <a:ext cx="2730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77" name="Уравнение" r:id="rId3" imgW="152268" imgH="164957" progId="Equation.3">
                  <p:embed/>
                </p:oleObj>
              </mc:Choice>
              <mc:Fallback>
                <p:oleObj name="Уравнение" r:id="rId3" imgW="152268" imgH="16495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007" y="2514601"/>
                        <a:ext cx="27305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3" name="Rectangle 7"/>
          <p:cNvSpPr>
            <a:spLocks noChangeArrowheads="1"/>
          </p:cNvSpPr>
          <p:nvPr/>
        </p:nvSpPr>
        <p:spPr bwMode="auto">
          <a:xfrm>
            <a:off x="3898903" y="122111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2104" name="Rectangle 8"/>
          <p:cNvSpPr>
            <a:spLocks noChangeArrowheads="1"/>
          </p:cNvSpPr>
          <p:nvPr/>
        </p:nvSpPr>
        <p:spPr bwMode="auto">
          <a:xfrm>
            <a:off x="3898903" y="122111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2105" name="Rectangle 9"/>
          <p:cNvSpPr>
            <a:spLocks noChangeArrowheads="1"/>
          </p:cNvSpPr>
          <p:nvPr/>
        </p:nvSpPr>
        <p:spPr bwMode="auto">
          <a:xfrm>
            <a:off x="3898903" y="122111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2106" name="Rectangle 10"/>
          <p:cNvSpPr>
            <a:spLocks noChangeArrowheads="1"/>
          </p:cNvSpPr>
          <p:nvPr/>
        </p:nvSpPr>
        <p:spPr bwMode="auto">
          <a:xfrm>
            <a:off x="3898903" y="122111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2107" name="Rectangle 11"/>
          <p:cNvSpPr>
            <a:spLocks noChangeArrowheads="1"/>
          </p:cNvSpPr>
          <p:nvPr/>
        </p:nvSpPr>
        <p:spPr bwMode="auto">
          <a:xfrm>
            <a:off x="3898903" y="122111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32144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659100"/>
              </p:ext>
            </p:extLst>
          </p:nvPr>
        </p:nvGraphicFramePr>
        <p:xfrm>
          <a:off x="1891508" y="2487613"/>
          <a:ext cx="3238500" cy="295275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924" marR="94924" marT="47462" marB="47462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4924" marR="94924" marT="47462" marB="47462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4924" marR="94924" marT="47462" marB="4746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4924" marR="94924" marT="47462" marB="4746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4924" marR="94924" marT="47462" marB="4746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</a:t>
                      </a: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94924" marR="94924" marT="47462" marB="47462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3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228600" eaLnBrk="0" hangingPunct="0">
                        <a:spcBef>
                          <a:spcPct val="20000"/>
                        </a:spcBef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520700" eaLnBrk="0" hangingPunct="0">
                        <a:spcBef>
                          <a:spcPct val="20000"/>
                        </a:spcBef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7493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0287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485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943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400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857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94924" marR="94924" marT="47462" marB="47462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2137" name="Rectangle 41"/>
          <p:cNvSpPr>
            <a:spLocks noChangeArrowheads="1"/>
          </p:cNvSpPr>
          <p:nvPr/>
        </p:nvSpPr>
        <p:spPr bwMode="auto">
          <a:xfrm>
            <a:off x="5499101" y="2594768"/>
            <a:ext cx="6535738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4924" tIns="47462" rIns="94924" bIns="47462"/>
          <a:lstStyle>
            <a:lvl1pPr eaLnBrk="0" hangingPunct="0">
              <a:spcBef>
                <a:spcPct val="20000"/>
              </a:spcBef>
              <a:buChar char="•"/>
              <a:defRPr sz="3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7088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5075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3063" indent="-228600" eaLnBrk="0" hangingPunct="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100" dirty="0"/>
              <a:t>В первом столбце выборка. Во втором – квадраты значений. Сумма второго столбца есть сумма квадратов значений. </a:t>
            </a:r>
          </a:p>
          <a:p>
            <a:r>
              <a:rPr lang="ru-RU" altLang="ru-RU" sz="2100" dirty="0"/>
              <a:t>Не требуется вычислять среднее.</a:t>
            </a:r>
          </a:p>
          <a:p>
            <a:endParaRPr lang="ru-RU" altLang="ru-RU" sz="2100" dirty="0"/>
          </a:p>
        </p:txBody>
      </p:sp>
      <p:sp>
        <p:nvSpPr>
          <p:cNvPr id="132138" name="Oval 42"/>
          <p:cNvSpPr>
            <a:spLocks noChangeArrowheads="1"/>
          </p:cNvSpPr>
          <p:nvPr/>
        </p:nvSpPr>
        <p:spPr bwMode="auto">
          <a:xfrm>
            <a:off x="7773990" y="5578477"/>
            <a:ext cx="504825" cy="576263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graphicFrame>
        <p:nvGraphicFramePr>
          <p:cNvPr id="13213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978137"/>
              </p:ext>
            </p:extLst>
          </p:nvPr>
        </p:nvGraphicFramePr>
        <p:xfrm>
          <a:off x="4080671" y="2328863"/>
          <a:ext cx="39846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78" name="Уравнение" r:id="rId5" imgW="190440" imgH="228600" progId="Equation.3">
                  <p:embed/>
                </p:oleObj>
              </mc:Choice>
              <mc:Fallback>
                <p:oleObj name="Уравнение" r:id="rId5" imgW="190440" imgH="2286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0671" y="2328863"/>
                        <a:ext cx="398463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40" name="Object 44"/>
          <p:cNvGraphicFramePr>
            <a:graphicFrameLocks noChangeAspect="1"/>
          </p:cNvGraphicFramePr>
          <p:nvPr/>
        </p:nvGraphicFramePr>
        <p:xfrm>
          <a:off x="5613401" y="4427540"/>
          <a:ext cx="2908300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79" name="Уравнение" r:id="rId7" imgW="1676160" imgH="1079280" progId="Equation.3">
                  <p:embed/>
                </p:oleObj>
              </mc:Choice>
              <mc:Fallback>
                <p:oleObj name="Уравнение" r:id="rId7" imgW="1676160" imgH="107928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1" y="4427540"/>
                        <a:ext cx="2908300" cy="188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74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3517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589214" y="466725"/>
            <a:ext cx="7559675" cy="7572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4000" dirty="0"/>
              <a:t>Стандартное отклонение</a:t>
            </a:r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2070723" y="1112074"/>
            <a:ext cx="8785225" cy="10203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300" b="1" dirty="0"/>
              <a:t>Стандартное (среднеквадратическое) отклонение  </a:t>
            </a:r>
            <a:r>
              <a:rPr lang="ru-RU" altLang="ru-RU" sz="3100" b="1" dirty="0"/>
              <a:t>(</a:t>
            </a:r>
            <a:r>
              <a:rPr lang="ru-RU" altLang="ru-RU" sz="3100" b="1" dirty="0">
                <a:sym typeface="Symbol" panose="05050102010706020507" pitchFamily="18" charset="2"/>
              </a:rPr>
              <a:t></a:t>
            </a:r>
            <a:r>
              <a:rPr lang="ru-RU" altLang="ru-RU" sz="3100" b="1" dirty="0"/>
              <a:t>)</a:t>
            </a:r>
            <a:r>
              <a:rPr lang="ru-RU" altLang="ru-RU" sz="3100" dirty="0"/>
              <a:t> </a:t>
            </a:r>
            <a:r>
              <a:rPr lang="ru-RU" altLang="ru-RU" sz="2300" dirty="0"/>
              <a:t>вычисляется как корень</a:t>
            </a:r>
            <a:r>
              <a:rPr lang="en-US" altLang="ru-RU" sz="2300" dirty="0"/>
              <a:t> </a:t>
            </a:r>
            <a:r>
              <a:rPr lang="ru-RU" altLang="ru-RU" sz="2300" dirty="0"/>
              <a:t>квадратный из дисперсии: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300" dirty="0"/>
          </a:p>
          <a:p>
            <a:pPr>
              <a:lnSpc>
                <a:spcPct val="90000"/>
              </a:lnSpc>
              <a:buFontTx/>
              <a:buNone/>
            </a:pPr>
            <a:endParaRPr lang="ru-RU" altLang="ru-RU" sz="2300" dirty="0"/>
          </a:p>
          <a:p>
            <a:pPr>
              <a:lnSpc>
                <a:spcPct val="90000"/>
              </a:lnSpc>
              <a:buFontTx/>
              <a:buNone/>
            </a:pPr>
            <a:endParaRPr lang="ru-RU" altLang="ru-RU" sz="2300" dirty="0"/>
          </a:p>
          <a:p>
            <a:pPr>
              <a:lnSpc>
                <a:spcPct val="90000"/>
              </a:lnSpc>
              <a:buFontTx/>
              <a:buNone/>
            </a:pPr>
            <a:endParaRPr lang="ru-RU" altLang="ru-RU" sz="2300" dirty="0"/>
          </a:p>
          <a:p>
            <a:pPr>
              <a:lnSpc>
                <a:spcPct val="90000"/>
              </a:lnSpc>
              <a:buFontTx/>
              <a:buNone/>
            </a:pPr>
            <a:endParaRPr lang="ru-RU" altLang="ru-RU" sz="2300" dirty="0"/>
          </a:p>
          <a:p>
            <a:pPr>
              <a:lnSpc>
                <a:spcPct val="90000"/>
              </a:lnSpc>
              <a:buFontTx/>
              <a:buNone/>
            </a:pPr>
            <a:endParaRPr lang="ru-RU" altLang="ru-RU" sz="2300" dirty="0"/>
          </a:p>
          <a:p>
            <a:pPr>
              <a:lnSpc>
                <a:spcPct val="90000"/>
              </a:lnSpc>
              <a:buFontTx/>
              <a:buNone/>
            </a:pPr>
            <a:endParaRPr lang="ru-RU" altLang="ru-RU" sz="2300" dirty="0"/>
          </a:p>
          <a:p>
            <a:pPr>
              <a:lnSpc>
                <a:spcPct val="90000"/>
              </a:lnSpc>
              <a:buFontTx/>
              <a:buNone/>
            </a:pPr>
            <a:endParaRPr lang="ru-RU" altLang="ru-RU" sz="2300" dirty="0"/>
          </a:p>
        </p:txBody>
      </p:sp>
      <p:pic>
        <p:nvPicPr>
          <p:cNvPr id="135178" name="Picture 10" descr="f127c5a8c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934" y="2713673"/>
            <a:ext cx="2736850" cy="14287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893" y="2613447"/>
            <a:ext cx="4619070" cy="3465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18876" y="4447918"/>
            <a:ext cx="37444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ru-RU" sz="2000" dirty="0"/>
              <a:t>Стандартное отклонение имеет исключительную важность для описания распределения данных. </a:t>
            </a:r>
          </a:p>
          <a:p>
            <a:endParaRPr lang="ru-RU" sz="2000" dirty="0"/>
          </a:p>
        </p:txBody>
      </p:sp>
      <p:sp>
        <p:nvSpPr>
          <p:cNvPr id="9" name="Номер слайда 1">
            <a:extLst>
              <a:ext uri="{FF2B5EF4-FFF2-40B4-BE49-F238E27FC236}">
                <a16:creationId xmlns:a16="http://schemas.microsoft.com/office/drawing/2014/main" id="{64F9164A-BE41-490B-82B8-5B3EE3A4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75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3517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589214" y="466725"/>
            <a:ext cx="7559675" cy="7572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4000" dirty="0" err="1"/>
              <a:t>Куртозис</a:t>
            </a:r>
            <a:endParaRPr lang="ru-RU" altLang="ru-RU" sz="4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89509" y="1722304"/>
            <a:ext cx="590465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/>
              <a:t>Куртозис</a:t>
            </a:r>
            <a:r>
              <a:rPr lang="ru-RU" sz="2400" b="1" dirty="0"/>
              <a:t> (</a:t>
            </a:r>
            <a:r>
              <a:rPr lang="ru-RU" sz="2400" b="1" dirty="0" err="1"/>
              <a:t>kurtosis</a:t>
            </a:r>
            <a:r>
              <a:rPr lang="ru-RU" sz="2400" b="1" dirty="0"/>
              <a:t>)</a:t>
            </a:r>
            <a:r>
              <a:rPr lang="ru-RU" sz="2400" dirty="0"/>
              <a:t> — это показатель, который отражает остроту вершины и толщину хвостов одномерного распределения.</a:t>
            </a:r>
            <a:br>
              <a:rPr lang="ru-RU" sz="2400" dirty="0"/>
            </a:br>
            <a:r>
              <a:rPr lang="ru-RU" sz="2400" b="1" dirty="0" err="1"/>
              <a:t>Куртозис</a:t>
            </a:r>
            <a:r>
              <a:rPr lang="ru-RU" sz="2400" b="1" dirty="0"/>
              <a:t> (</a:t>
            </a:r>
            <a:r>
              <a:rPr lang="ru-RU" sz="2400" b="1" dirty="0" err="1"/>
              <a:t>kurtosis</a:t>
            </a:r>
            <a:r>
              <a:rPr lang="ru-RU" sz="2400" b="1" dirty="0"/>
              <a:t>) или эксцесс</a:t>
            </a:r>
            <a:r>
              <a:rPr lang="ru-RU" sz="2400" dirty="0"/>
              <a:t> – это четвертый центральный момент распределения отклонений от среднего, нормированный дисперсией.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05533" y="5442634"/>
            <a:ext cx="108011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Синяя кривая</a:t>
            </a:r>
            <a:r>
              <a:rPr lang="ru-RU" sz="2000" dirty="0"/>
              <a:t> – нормальное распределение (</a:t>
            </a:r>
            <a:r>
              <a:rPr lang="ru-RU" sz="2000" dirty="0" err="1"/>
              <a:t>куртозис</a:t>
            </a:r>
            <a:r>
              <a:rPr lang="ru-RU" sz="2000" dirty="0"/>
              <a:t> нормального распределения вне зависимости от математического ожидания и стандартного отклонения равен 3).</a:t>
            </a:r>
            <a:br>
              <a:rPr lang="ru-RU" sz="2000" dirty="0"/>
            </a:br>
            <a:r>
              <a:rPr lang="ru-RU" sz="2000" b="1" dirty="0"/>
              <a:t>Красная кривая</a:t>
            </a:r>
            <a:r>
              <a:rPr lang="ru-RU" sz="2000" dirty="0"/>
              <a:t> – имеет положительный эксцесс/</a:t>
            </a:r>
            <a:r>
              <a:rPr lang="ru-RU" sz="2000" dirty="0" err="1"/>
              <a:t>куртозис</a:t>
            </a:r>
            <a:r>
              <a:rPr lang="ru-RU" sz="2000" dirty="0"/>
              <a:t> больше 3.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681" y="1698011"/>
            <a:ext cx="4487575" cy="3367510"/>
          </a:xfrm>
          <a:prstGeom prst="rect">
            <a:avLst/>
          </a:prstGeom>
        </p:spPr>
      </p:pic>
      <p:sp>
        <p:nvSpPr>
          <p:cNvPr id="8" name="Номер слайда 1">
            <a:extLst>
              <a:ext uri="{FF2B5EF4-FFF2-40B4-BE49-F238E27FC236}">
                <a16:creationId xmlns:a16="http://schemas.microsoft.com/office/drawing/2014/main" id="{114A5DB8-4C32-42DA-95F4-B84F9C09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76</a:t>
            </a:fld>
            <a:endParaRPr lang="ru-RU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955238"/>
      </p:ext>
    </p:extLst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56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1717" y="538808"/>
            <a:ext cx="7200800" cy="573196"/>
          </a:xfrm>
        </p:spPr>
        <p:txBody>
          <a:bodyPr>
            <a:normAutofit fontScale="90000"/>
          </a:bodyPr>
          <a:lstStyle/>
          <a:p>
            <a:r>
              <a:rPr lang="ru-RU" altLang="ru-RU" sz="4000" dirty="0"/>
              <a:t>Неравенство Чебышева</a:t>
            </a:r>
          </a:p>
        </p:txBody>
      </p:sp>
      <p:sp>
        <p:nvSpPr>
          <p:cNvPr id="2564099" name="Rectangle 3"/>
          <p:cNvSpPr>
            <a:spLocks noGrp="1" noChangeArrowheads="1"/>
          </p:cNvSpPr>
          <p:nvPr>
            <p:ph idx="1"/>
          </p:nvPr>
        </p:nvSpPr>
        <p:spPr>
          <a:xfrm>
            <a:off x="1017615" y="2857105"/>
            <a:ext cx="11017224" cy="37479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altLang="ru-RU" sz="2000" dirty="0"/>
              <a:t>В терминах статистического исследования оно имеет следующую трактовку:</a:t>
            </a:r>
          </a:p>
          <a:p>
            <a:r>
              <a:rPr lang="ru-RU" altLang="ru-RU" sz="2000" dirty="0"/>
              <a:t>В любой совокупности доля значений, попадающих в интервал </a:t>
            </a:r>
          </a:p>
          <a:p>
            <a:endParaRPr lang="ru-RU" altLang="ru-RU" sz="2000" dirty="0"/>
          </a:p>
          <a:p>
            <a:endParaRPr lang="ru-RU" altLang="ru-RU" sz="2000" dirty="0"/>
          </a:p>
          <a:p>
            <a:r>
              <a:rPr lang="ru-RU" altLang="ru-RU" sz="2000" dirty="0"/>
              <a:t>будет равна, по крайней мере,</a:t>
            </a:r>
          </a:p>
          <a:p>
            <a:endParaRPr lang="ru-RU" altLang="ru-RU" sz="2000" dirty="0"/>
          </a:p>
          <a:p>
            <a:endParaRPr lang="ru-RU" altLang="ru-RU" sz="2000" dirty="0"/>
          </a:p>
          <a:p>
            <a:r>
              <a:rPr lang="ru-RU" altLang="ru-RU" sz="2000" dirty="0"/>
              <a:t>где </a:t>
            </a:r>
            <a:r>
              <a:rPr lang="en-US" altLang="ru-RU" sz="2000" dirty="0"/>
              <a:t>k </a:t>
            </a:r>
            <a:r>
              <a:rPr lang="ru-RU" altLang="ru-RU" sz="2000" dirty="0"/>
              <a:t> - любое число, большее 1.</a:t>
            </a:r>
          </a:p>
        </p:txBody>
      </p:sp>
      <p:graphicFrame>
        <p:nvGraphicFramePr>
          <p:cNvPr id="2564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569641"/>
              </p:ext>
            </p:extLst>
          </p:nvPr>
        </p:nvGraphicFramePr>
        <p:xfrm>
          <a:off x="5613295" y="4356334"/>
          <a:ext cx="1297199" cy="576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34" name="Формула" r:id="rId3" imgW="457200" imgH="228600" progId="Equation.3">
                  <p:embed/>
                </p:oleObj>
              </mc:Choice>
              <mc:Fallback>
                <p:oleObj name="Формула" r:id="rId3" imgW="457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295" y="4356334"/>
                        <a:ext cx="1297199" cy="5764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1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306188"/>
              </p:ext>
            </p:extLst>
          </p:nvPr>
        </p:nvGraphicFramePr>
        <p:xfrm>
          <a:off x="5686053" y="5107095"/>
          <a:ext cx="982126" cy="747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35" name="Формула" r:id="rId5" imgW="457200" imgH="457200" progId="Equation.3">
                  <p:embed/>
                </p:oleObj>
              </mc:Choice>
              <mc:Fallback>
                <p:oleObj name="Формула" r:id="rId5" imgW="4572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6053" y="5107095"/>
                        <a:ext cx="982126" cy="7471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Номер слайда 1">
            <a:extLst>
              <a:ext uri="{FF2B5EF4-FFF2-40B4-BE49-F238E27FC236}">
                <a16:creationId xmlns:a16="http://schemas.microsoft.com/office/drawing/2014/main" id="{6EC3A964-6F1F-4DFC-8839-B64F22AB7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77</a:t>
            </a:fld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449A24-32BF-4CF2-B150-B7427CDED1C9}"/>
              </a:ext>
            </a:extLst>
          </p:cNvPr>
          <p:cNvSpPr txBox="1"/>
          <p:nvPr/>
        </p:nvSpPr>
        <p:spPr>
          <a:xfrm>
            <a:off x="861517" y="1247842"/>
            <a:ext cx="114492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Неравенство Чебышева говорит: для любой случайной величины (или набора данных) с конечным средним </a:t>
            </a:r>
            <a:r>
              <a:rPr lang="ru-RU" sz="2000" i="1" dirty="0"/>
              <a:t>μ</a:t>
            </a:r>
            <a:r>
              <a:rPr lang="ru-RU" sz="2000" dirty="0"/>
              <a:t> и конечной дисперсией </a:t>
            </a:r>
            <a:r>
              <a:rPr lang="ru-RU" sz="2000" i="1" dirty="0"/>
              <a:t>σ</a:t>
            </a:r>
            <a:r>
              <a:rPr lang="ru-RU" sz="2000" i="1" baseline="30000" dirty="0"/>
              <a:t>2</a:t>
            </a:r>
            <a:r>
              <a:rPr lang="ru-RU" sz="2000" dirty="0"/>
              <a:t>, доля значений, которые отклоняются от среднего больше чем </a:t>
            </a:r>
            <a:r>
              <a:rPr lang="ru-RU" sz="2000" b="1" i="1" dirty="0"/>
              <a:t>на k стандартных отклонений</a:t>
            </a:r>
            <a:r>
              <a:rPr lang="ru-RU" sz="2000" dirty="0"/>
              <a:t>, не превышает 1/k</a:t>
            </a:r>
            <a:r>
              <a:rPr lang="ru-RU" sz="2000" baseline="30000" dirty="0"/>
              <a:t>2</a:t>
            </a:r>
            <a:r>
              <a:rPr lang="ru-RU" sz="2000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60FD5C-B93C-4FF0-97E1-57CB44541B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4948" y="2268377"/>
            <a:ext cx="3024336" cy="63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51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56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1717" y="538808"/>
            <a:ext cx="7200800" cy="573196"/>
          </a:xfrm>
        </p:spPr>
        <p:txBody>
          <a:bodyPr>
            <a:normAutofit fontScale="90000"/>
          </a:bodyPr>
          <a:lstStyle/>
          <a:p>
            <a:r>
              <a:rPr lang="ru-RU" altLang="ru-RU" sz="4000" dirty="0"/>
              <a:t>Неравенство Чебышева</a:t>
            </a:r>
          </a:p>
        </p:txBody>
      </p:sp>
      <p:sp>
        <p:nvSpPr>
          <p:cNvPr id="9" name="Номер слайда 1">
            <a:extLst>
              <a:ext uri="{FF2B5EF4-FFF2-40B4-BE49-F238E27FC236}">
                <a16:creationId xmlns:a16="http://schemas.microsoft.com/office/drawing/2014/main" id="{6EC3A964-6F1F-4DFC-8839-B64F22AB7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78</a:t>
            </a:fld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7E52CE-B526-4A11-917E-36A4100CDF48}"/>
              </a:ext>
            </a:extLst>
          </p:cNvPr>
          <p:cNvSpPr txBox="1"/>
          <p:nvPr/>
        </p:nvSpPr>
        <p:spPr>
          <a:xfrm>
            <a:off x="789509" y="1402408"/>
            <a:ext cx="108012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Практический смысл:</a:t>
            </a:r>
            <a:r>
              <a:rPr lang="ru-RU" sz="2000" dirty="0"/>
              <a:t> Мы можем гарантировать верхнюю границу вероятности редких событий, ничего не зная о форме распределения.</a:t>
            </a:r>
          </a:p>
          <a:p>
            <a:endParaRPr lang="ru-R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/>
              <a:t>Пример:</a:t>
            </a:r>
            <a:r>
              <a:rPr lang="ru-RU" sz="2000" dirty="0"/>
              <a:t> Мы знаем среднюю зарплату в компании (80 000 руб.) и стандартное отклонение (20 000 руб.). Какая максимальная доля сотрудников получает зарплату выше 140 000 руб.? (Это отклонение на 60 000 руб., то есть на k=3 стандартных отклонения).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/>
              <a:t>Неравенство Чебышева: 1/3</a:t>
            </a:r>
            <a:r>
              <a:rPr lang="ru-RU" sz="2000" baseline="30000" dirty="0"/>
              <a:t>2</a:t>
            </a:r>
            <a:r>
              <a:rPr lang="ru-RU" sz="2000" dirty="0"/>
              <a:t>≈0.11 или 11%.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1" dirty="0"/>
              <a:t>Вывод:</a:t>
            </a:r>
            <a:r>
              <a:rPr lang="ru-RU" sz="2000" dirty="0"/>
              <a:t> Даже при самом "экзотическом" распределении зарплат, больше 11% сотрудников </a:t>
            </a:r>
            <a:r>
              <a:rPr lang="ru-RU" sz="2000" b="1" dirty="0"/>
              <a:t>не могут</a:t>
            </a:r>
            <a:r>
              <a:rPr lang="ru-RU" sz="2000" dirty="0"/>
              <a:t> получать больше 140 000 руб. (или меньше 20 000 руб.). Реальная доля может быть 1%, но гарантированно — не более 11%.</a:t>
            </a:r>
          </a:p>
        </p:txBody>
      </p:sp>
    </p:spTree>
    <p:extLst>
      <p:ext uri="{BB962C8B-B14F-4D97-AF65-F5344CB8AC3E}">
        <p14:creationId xmlns:p14="http://schemas.microsoft.com/office/powerpoint/2010/main" val="1301447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099185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57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301677" y="395288"/>
            <a:ext cx="7776864" cy="863600"/>
          </a:xfrm>
        </p:spPr>
        <p:txBody>
          <a:bodyPr/>
          <a:lstStyle/>
          <a:p>
            <a:r>
              <a:rPr lang="ru-RU" altLang="ru-RU" sz="3200" dirty="0"/>
              <a:t>Интерпретация стандартного отклонения</a:t>
            </a:r>
          </a:p>
        </p:txBody>
      </p:sp>
      <p:sp>
        <p:nvSpPr>
          <p:cNvPr id="2576387" name="Rectangle 3"/>
          <p:cNvSpPr>
            <a:spLocks noGrp="1" noChangeArrowheads="1"/>
          </p:cNvSpPr>
          <p:nvPr>
            <p:ph idx="1"/>
          </p:nvPr>
        </p:nvSpPr>
        <p:spPr>
          <a:xfrm>
            <a:off x="2517703" y="1985417"/>
            <a:ext cx="8441289" cy="4296593"/>
          </a:xfrm>
        </p:spPr>
        <p:txBody>
          <a:bodyPr/>
          <a:lstStyle/>
          <a:p>
            <a:r>
              <a:rPr lang="ru-RU" altLang="ru-RU" sz="2400" dirty="0"/>
              <a:t>Можно утверждать, что интервал с границами</a:t>
            </a:r>
          </a:p>
          <a:p>
            <a:endParaRPr lang="ru-RU" altLang="ru-RU" sz="2400" dirty="0"/>
          </a:p>
          <a:p>
            <a:endParaRPr lang="ru-RU" altLang="ru-RU" sz="2400" dirty="0"/>
          </a:p>
          <a:p>
            <a:pPr marL="0" indent="0">
              <a:buNone/>
            </a:pPr>
            <a:r>
              <a:rPr lang="ru-RU" altLang="ru-RU" sz="2400" dirty="0"/>
              <a:t>содержит, по крайней мере, 3/4 всех данных (75%). </a:t>
            </a:r>
          </a:p>
          <a:p>
            <a:endParaRPr lang="ru-RU" altLang="ru-RU" sz="2400" dirty="0"/>
          </a:p>
          <a:p>
            <a:r>
              <a:rPr lang="ru-RU" altLang="ru-RU" sz="2400" dirty="0"/>
              <a:t>Интервал с границами</a:t>
            </a:r>
          </a:p>
          <a:p>
            <a:endParaRPr lang="ru-RU" altLang="ru-RU" sz="2400" dirty="0"/>
          </a:p>
          <a:p>
            <a:endParaRPr lang="ru-RU" altLang="ru-RU" sz="2400" dirty="0"/>
          </a:p>
          <a:p>
            <a:pPr marL="0" indent="0">
              <a:buNone/>
            </a:pPr>
            <a:r>
              <a:rPr lang="ru-RU" altLang="ru-RU" sz="2400" dirty="0"/>
              <a:t>содержит, по крайней мере, 8/9 всех данных (89,9%). </a:t>
            </a:r>
          </a:p>
          <a:p>
            <a:endParaRPr lang="ru-RU" altLang="ru-RU" sz="2400" dirty="0"/>
          </a:p>
        </p:txBody>
      </p:sp>
      <p:graphicFrame>
        <p:nvGraphicFramePr>
          <p:cNvPr id="2576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026613"/>
              </p:ext>
            </p:extLst>
          </p:nvPr>
        </p:nvGraphicFramePr>
        <p:xfrm>
          <a:off x="6270754" y="2483105"/>
          <a:ext cx="1138519" cy="576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52" name="Формула" r:id="rId3" imgW="469800" imgH="228600" progId="Equation.3">
                  <p:embed/>
                </p:oleObj>
              </mc:Choice>
              <mc:Fallback>
                <p:oleObj name="Формула" r:id="rId3" imgW="469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754" y="2483105"/>
                        <a:ext cx="1138519" cy="5764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6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2845689"/>
              </p:ext>
            </p:extLst>
          </p:nvPr>
        </p:nvGraphicFramePr>
        <p:xfrm>
          <a:off x="6363805" y="4133715"/>
          <a:ext cx="1107113" cy="576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53" name="Формула" r:id="rId5" imgW="457200" imgH="228600" progId="Equation.3">
                  <p:embed/>
                </p:oleObj>
              </mc:Choice>
              <mc:Fallback>
                <p:oleObj name="Формула" r:id="rId5" imgW="457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3805" y="4133715"/>
                        <a:ext cx="1107113" cy="5764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79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937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65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93516" y="448531"/>
            <a:ext cx="7936756" cy="757114"/>
          </a:xfrm>
        </p:spPr>
        <p:txBody>
          <a:bodyPr>
            <a:normAutofit fontScale="90000"/>
          </a:bodyPr>
          <a:lstStyle/>
          <a:p>
            <a:r>
              <a:rPr lang="ru-RU" altLang="ru-RU" sz="4400" dirty="0"/>
              <a:t>Пример </a:t>
            </a:r>
          </a:p>
        </p:txBody>
      </p:sp>
      <p:sp>
        <p:nvSpPr>
          <p:cNvPr id="2657283" name="Rectangle 3"/>
          <p:cNvSpPr>
            <a:spLocks noGrp="1" noChangeArrowheads="1"/>
          </p:cNvSpPr>
          <p:nvPr>
            <p:ph idx="1"/>
          </p:nvPr>
        </p:nvSpPr>
        <p:spPr>
          <a:xfrm>
            <a:off x="1611196" y="1501552"/>
            <a:ext cx="9979513" cy="1842266"/>
          </a:xfrm>
        </p:spPr>
        <p:txBody>
          <a:bodyPr>
            <a:noAutofit/>
          </a:bodyPr>
          <a:lstStyle/>
          <a:p>
            <a:r>
              <a:rPr lang="ru-RU" altLang="ru-RU" sz="2400" dirty="0"/>
              <a:t>Средний заработок персонала на раздаче в ресторане быстрого обслуживания составляет </a:t>
            </a:r>
            <a:r>
              <a:rPr lang="en-US" altLang="ru-RU" sz="2400" dirty="0"/>
              <a:t>8</a:t>
            </a:r>
            <a:r>
              <a:rPr lang="ru-RU" altLang="ru-RU" sz="2400" dirty="0"/>
              <a:t>,4</a:t>
            </a:r>
            <a:r>
              <a:rPr lang="en-US" altLang="ru-RU" sz="2400" dirty="0"/>
              <a:t>$ </a:t>
            </a:r>
            <a:r>
              <a:rPr lang="ru-RU" altLang="ru-RU" sz="2400" dirty="0"/>
              <a:t>со стандартным отклонением 0,4</a:t>
            </a:r>
            <a:r>
              <a:rPr lang="en-US" altLang="ru-RU" sz="2400" dirty="0"/>
              <a:t>$</a:t>
            </a:r>
            <a:r>
              <a:rPr lang="ru-RU" altLang="ru-RU" sz="2400" dirty="0"/>
              <a:t>. Оцените интервал, в котором находится заработок 90% персонала.</a:t>
            </a:r>
          </a:p>
          <a:p>
            <a:endParaRPr lang="ru-RU" altLang="ru-RU" sz="2400" dirty="0"/>
          </a:p>
          <a:p>
            <a:pPr marL="0" indent="357191">
              <a:buNone/>
            </a:pPr>
            <a:r>
              <a:rPr lang="ru-RU" altLang="ru-RU" sz="2400" b="1" dirty="0"/>
              <a:t>Решение</a:t>
            </a:r>
            <a:r>
              <a:rPr lang="ru-RU" altLang="ru-RU" sz="2400" dirty="0"/>
              <a:t>.</a:t>
            </a:r>
          </a:p>
          <a:p>
            <a:r>
              <a:rPr lang="ru-RU" altLang="ru-RU" sz="2400" dirty="0"/>
              <a:t>По неравенству Чебышева: </a:t>
            </a:r>
          </a:p>
          <a:p>
            <a:endParaRPr lang="ru-RU" altLang="ru-RU" sz="2400" dirty="0"/>
          </a:p>
        </p:txBody>
      </p:sp>
      <p:graphicFrame>
        <p:nvGraphicFramePr>
          <p:cNvPr id="26572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9753"/>
              </p:ext>
            </p:extLst>
          </p:nvPr>
        </p:nvGraphicFramePr>
        <p:xfrm>
          <a:off x="4029869" y="4453252"/>
          <a:ext cx="40100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76" name="Уравнение" r:id="rId3" imgW="1726920" imgH="203040" progId="Equation.3">
                  <p:embed/>
                </p:oleObj>
              </mc:Choice>
              <mc:Fallback>
                <p:oleObj name="Уравнение" r:id="rId3" imgW="17269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869" y="4453252"/>
                        <a:ext cx="4010025" cy="4683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72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850462"/>
              </p:ext>
            </p:extLst>
          </p:nvPr>
        </p:nvGraphicFramePr>
        <p:xfrm>
          <a:off x="5204620" y="5220014"/>
          <a:ext cx="17541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77" name="Уравнение" r:id="rId5" imgW="812520" imgH="203040" progId="Equation.3">
                  <p:embed/>
                </p:oleObj>
              </mc:Choice>
              <mc:Fallback>
                <p:oleObj name="Уравнение" r:id="rId5" imgW="8125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4620" y="5220014"/>
                        <a:ext cx="1754187" cy="434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80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2832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57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57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5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728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56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733725" y="325652"/>
            <a:ext cx="7200800" cy="573196"/>
          </a:xfrm>
        </p:spPr>
        <p:txBody>
          <a:bodyPr>
            <a:normAutofit fontScale="90000"/>
          </a:bodyPr>
          <a:lstStyle/>
          <a:p>
            <a:r>
              <a:rPr lang="ru-RU" altLang="ru-RU" sz="4000" dirty="0"/>
              <a:t>Неравенство Чебышева</a:t>
            </a:r>
          </a:p>
        </p:txBody>
      </p:sp>
      <p:sp>
        <p:nvSpPr>
          <p:cNvPr id="9" name="Номер слайда 1">
            <a:extLst>
              <a:ext uri="{FF2B5EF4-FFF2-40B4-BE49-F238E27FC236}">
                <a16:creationId xmlns:a16="http://schemas.microsoft.com/office/drawing/2014/main" id="{6EC3A964-6F1F-4DFC-8839-B64F22AB7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81</a:t>
            </a:fld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9AFFA7-A738-4DE4-8337-B33B9C17F708}"/>
              </a:ext>
            </a:extLst>
          </p:cNvPr>
          <p:cNvSpPr txBox="1"/>
          <p:nvPr/>
        </p:nvSpPr>
        <p:spPr>
          <a:xfrm>
            <a:off x="688022" y="840267"/>
            <a:ext cx="1134681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Связь с "Законом больших чисел"</a:t>
            </a:r>
          </a:p>
          <a:p>
            <a:r>
              <a:rPr lang="ru-RU" sz="2000" dirty="0"/>
              <a:t>Неравенство Чебышева используется для строгого доказательства так называемого "Слабого закона больших чисел".</a:t>
            </a:r>
          </a:p>
          <a:p>
            <a:r>
              <a:rPr lang="ru-RU" sz="2000" b="1" dirty="0"/>
              <a:t>Практический смысл:</a:t>
            </a:r>
            <a:r>
              <a:rPr lang="ru-RU" sz="2000" dirty="0"/>
              <a:t> Оно математически объясняет, почему увеличение выборки улучшает точность оценки.</a:t>
            </a:r>
            <a:br>
              <a:rPr lang="ru-RU" sz="2000" dirty="0"/>
            </a:br>
            <a:r>
              <a:rPr lang="ru-RU" sz="2000" dirty="0"/>
              <a:t>По мере роста объема выборки (n→∞) дисперсия выборочного среднего (σ</a:t>
            </a:r>
            <a:r>
              <a:rPr lang="ru-RU" sz="2000" baseline="30000" dirty="0"/>
              <a:t>2</a:t>
            </a:r>
            <a:r>
              <a:rPr lang="ru-RU" sz="2000" dirty="0"/>
              <a:t>/n) стремится к нулю. Подставляя это в неравенство Чебышева, мы получаем, что вероятность того, что среднее выборки отклонится от истинного среднего на любую сколь угодно малую величину, также стремится к нулю. Это фундамент всего статистического вывода: </a:t>
            </a:r>
            <a:r>
              <a:rPr lang="ru-RU" sz="2000" b="1" dirty="0"/>
              <a:t>чем больше данных, тем точнее оценка</a:t>
            </a:r>
            <a:r>
              <a:rPr lang="ru-RU" sz="20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E8BA61-7AE5-47B1-882F-706B9BE97A02}"/>
              </a:ext>
            </a:extLst>
          </p:cNvPr>
          <p:cNvSpPr txBox="1"/>
          <p:nvPr/>
        </p:nvSpPr>
        <p:spPr>
          <a:xfrm>
            <a:off x="633411" y="4036550"/>
            <a:ext cx="112922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Практический смысл неравенства Чебышева также заключается в понимании его </a:t>
            </a:r>
            <a:r>
              <a:rPr lang="ru-RU" sz="2000" b="1" dirty="0"/>
              <a:t>грубости</a:t>
            </a:r>
            <a:r>
              <a:rPr lang="ru-RU" sz="2000" dirty="0"/>
              <a:t>. Оно дает </a:t>
            </a:r>
            <a:r>
              <a:rPr lang="ru-RU" sz="2000" i="1" dirty="0"/>
              <a:t>верхнюю границу</a:t>
            </a:r>
            <a:r>
              <a:rPr lang="ru-RU" sz="2000" dirty="0"/>
              <a:t>, которая часто сильно завышена.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/>
              <a:t>Для нормального распределения:</a:t>
            </a:r>
            <a:r>
              <a:rPr lang="ru-RU" sz="2000" dirty="0"/>
              <a:t> Правило трёх сигм говорит, что за пределами 3-х сигм находится всего 0.3% данных. Неравенство Чебышева говорит — не более 11%. Разница огромная.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/>
              <a:t>Вывод:</a:t>
            </a:r>
            <a:r>
              <a:rPr lang="ru-RU" sz="2000" dirty="0"/>
              <a:t> Если вы знаете, что распределение нормальное или похожее на него, использовать Чебышева нерационально — оценки будут слишком пессимистичными. Но если распределение "</a:t>
            </a:r>
            <a:r>
              <a:rPr lang="ru-RU" sz="2000" dirty="0" err="1"/>
              <a:t>тяжелохвостое</a:t>
            </a:r>
            <a:r>
              <a:rPr lang="ru-RU" sz="2000" dirty="0"/>
              <a:t>" (много выбросов) или вообще неизвестно, неравенство Чебышева — ваш единственный надежный инструмент для гарантированной оценки.</a:t>
            </a:r>
          </a:p>
        </p:txBody>
      </p:sp>
    </p:spTree>
    <p:extLst>
      <p:ext uri="{BB962C8B-B14F-4D97-AF65-F5344CB8AC3E}">
        <p14:creationId xmlns:p14="http://schemas.microsoft.com/office/powerpoint/2010/main" val="1998898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5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0080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91829" y="358776"/>
            <a:ext cx="8569200" cy="10445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ru-RU" altLang="ru-RU" sz="3600" dirty="0"/>
              <a:t>Разделы исследовательского анализа данных</a:t>
            </a:r>
            <a:r>
              <a:rPr lang="en-US" altLang="ru-RU" sz="3600" dirty="0"/>
              <a:t> (</a:t>
            </a:r>
            <a:r>
              <a:rPr lang="ru-RU" altLang="ru-RU" sz="3600" dirty="0"/>
              <a:t>дескриптивный анализ</a:t>
            </a:r>
            <a:r>
              <a:rPr lang="en-US" altLang="ru-RU" sz="3600" dirty="0"/>
              <a:t>)</a:t>
            </a:r>
            <a:endParaRPr lang="ru-RU" altLang="ru-RU" sz="3600" dirty="0"/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611790" y="3059088"/>
            <a:ext cx="9762648" cy="3252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FontTx/>
              <a:buNone/>
            </a:pPr>
            <a:endParaRPr lang="ru-RU" altLang="ru-RU" sz="2200" dirty="0"/>
          </a:p>
          <a:p>
            <a:pPr>
              <a:buFontTx/>
              <a:buNone/>
            </a:pPr>
            <a:r>
              <a:rPr lang="ru-RU" altLang="ru-RU" sz="2200" b="1" dirty="0"/>
              <a:t>Основными разделами</a:t>
            </a:r>
            <a:r>
              <a:rPr lang="ru-RU" altLang="ru-RU" sz="2200" dirty="0"/>
              <a:t> анализа являются:</a:t>
            </a:r>
          </a:p>
          <a:p>
            <a:pPr>
              <a:buFontTx/>
              <a:buNone/>
            </a:pPr>
            <a:r>
              <a:rPr lang="ru-RU" altLang="ru-RU" sz="2200" dirty="0"/>
              <a:t> </a:t>
            </a:r>
          </a:p>
          <a:p>
            <a:pPr>
              <a:buFontTx/>
              <a:buNone/>
            </a:pPr>
            <a:r>
              <a:rPr lang="ru-RU" altLang="ru-RU" sz="2200" dirty="0"/>
              <a:t>1. </a:t>
            </a:r>
            <a:r>
              <a:rPr lang="ru-RU" altLang="ru-RU" sz="2200" b="1" dirty="0"/>
              <a:t>Центральная тенденция</a:t>
            </a:r>
            <a:r>
              <a:rPr lang="ru-RU" altLang="ru-RU" sz="2200" dirty="0"/>
              <a:t>. Вычисление и анализ среднего, моды, медианы.</a:t>
            </a:r>
          </a:p>
          <a:p>
            <a:pPr>
              <a:buFontTx/>
              <a:buNone/>
            </a:pPr>
            <a:r>
              <a:rPr lang="ru-RU" altLang="ru-RU" sz="2200" dirty="0"/>
              <a:t>2. </a:t>
            </a:r>
            <a:r>
              <a:rPr lang="ru-RU" altLang="ru-RU" sz="2200" b="1" dirty="0"/>
              <a:t>Стандартное отклонение</a:t>
            </a:r>
            <a:r>
              <a:rPr lang="ru-RU" altLang="ru-RU" sz="2200" dirty="0"/>
              <a:t>. Нахождение дисперсии, стандартного отклонения.</a:t>
            </a:r>
          </a:p>
          <a:p>
            <a:pPr>
              <a:buFontTx/>
              <a:buNone/>
            </a:pPr>
            <a:r>
              <a:rPr lang="ru-RU" altLang="ru-RU" sz="2200" dirty="0"/>
              <a:t>3. </a:t>
            </a:r>
            <a:r>
              <a:rPr lang="ru-RU" altLang="ru-RU" sz="2200" b="1" dirty="0"/>
              <a:t>Квартили</a:t>
            </a:r>
            <a:r>
              <a:rPr lang="ru-RU" altLang="ru-RU" sz="2200" dirty="0"/>
              <a:t>. Минимум, максимум, размах, нахождение квартилей.</a:t>
            </a:r>
          </a:p>
          <a:p>
            <a:pPr>
              <a:buFontTx/>
              <a:buNone/>
            </a:pPr>
            <a:r>
              <a:rPr lang="ru-RU" altLang="ru-RU" sz="2200" dirty="0"/>
              <a:t>4. </a:t>
            </a:r>
            <a:r>
              <a:rPr lang="ru-RU" altLang="ru-RU" sz="2200" b="1" dirty="0"/>
              <a:t>Выбросы</a:t>
            </a:r>
            <a:r>
              <a:rPr lang="ru-RU" altLang="ru-RU" sz="2200" dirty="0"/>
              <a:t>. Нахождение и анализ выбросов.</a:t>
            </a:r>
          </a:p>
          <a:p>
            <a:pPr>
              <a:buFontTx/>
              <a:buNone/>
            </a:pPr>
            <a:r>
              <a:rPr lang="ru-RU" altLang="ru-RU" sz="2200" dirty="0"/>
              <a:t>5. </a:t>
            </a:r>
            <a:r>
              <a:rPr lang="ru-RU" altLang="ru-RU" sz="2200" b="1" dirty="0"/>
              <a:t>Форма распределения</a:t>
            </a:r>
            <a:r>
              <a:rPr lang="ru-RU" altLang="ru-RU" sz="2200" dirty="0"/>
              <a:t>. Асимметрия и </a:t>
            </a:r>
            <a:r>
              <a:rPr lang="ru-RU" altLang="ru-RU" sz="2200" dirty="0" err="1"/>
              <a:t>куртозис</a:t>
            </a:r>
            <a:r>
              <a:rPr lang="ru-RU" altLang="ru-RU" sz="2200" dirty="0"/>
              <a:t>. 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1590709" y="6605017"/>
            <a:ext cx="444130" cy="379409"/>
          </a:xfrm>
        </p:spPr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82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437581" y="1526030"/>
            <a:ext cx="633670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ru-RU" altLang="ru-RU" sz="2000" dirty="0"/>
              <a:t>Исследовательский анализ данных - </a:t>
            </a:r>
            <a:r>
              <a:rPr lang="en-US" altLang="ru-RU" sz="2000" dirty="0"/>
              <a:t>Exploratory Data Analysis (EDA)</a:t>
            </a:r>
            <a:r>
              <a:rPr lang="ru-RU" altLang="ru-RU" sz="2000" dirty="0"/>
              <a:t> представляет собой применение статистических методов для представления, упорядочения данных и понимания их важнейших характеристик.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332" y="1276959"/>
            <a:ext cx="2836795" cy="2648512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96" name="AutoShape 4"/>
          <p:cNvSpPr>
            <a:spLocks noChangeArrowheads="1"/>
          </p:cNvSpPr>
          <p:nvPr/>
        </p:nvSpPr>
        <p:spPr bwMode="auto">
          <a:xfrm>
            <a:off x="633411" y="322263"/>
            <a:ext cx="11793306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39297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863600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39298" name="AutoShape 6"/>
          <p:cNvSpPr>
            <a:spLocks noChangeArrowheads="1"/>
          </p:cNvSpPr>
          <p:nvPr/>
        </p:nvSpPr>
        <p:spPr bwMode="auto">
          <a:xfrm>
            <a:off x="807493" y="896279"/>
            <a:ext cx="11359280" cy="5882346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>
              <a:solidFill>
                <a:schemeClr val="bg1"/>
              </a:solidFill>
            </a:endParaRP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title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4400"/>
              <a:t>Выбросы</a:t>
            </a:r>
          </a:p>
        </p:txBody>
      </p:sp>
      <p:sp>
        <p:nvSpPr>
          <p:cNvPr id="13926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1042523" y="1124270"/>
            <a:ext cx="11124250" cy="29772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altLang="ru-RU" sz="2200" dirty="0"/>
              <a:t>Расширенная диаграмма </a:t>
            </a:r>
            <a:r>
              <a:rPr lang="en-US" altLang="ru-RU" sz="2200" dirty="0"/>
              <a:t>box plot</a:t>
            </a:r>
            <a:r>
              <a:rPr lang="ru-RU" altLang="ru-RU" sz="2200" dirty="0"/>
              <a:t> строится с анализом выбросов. Для этого необходимо знать разброс квартилей </a:t>
            </a:r>
            <a:r>
              <a:rPr lang="en-US" altLang="ru-RU" sz="2200" dirty="0"/>
              <a:t>IQR</a:t>
            </a:r>
            <a:r>
              <a:rPr lang="ru-RU" altLang="ru-RU" sz="2200" dirty="0"/>
              <a:t>.</a:t>
            </a:r>
          </a:p>
          <a:p>
            <a:endParaRPr lang="ru-RU" altLang="ru-RU" sz="2200" b="1" dirty="0"/>
          </a:p>
          <a:p>
            <a:r>
              <a:rPr lang="ru-RU" altLang="ru-RU" sz="2200" b="1" dirty="0"/>
              <a:t>Умеренные выбросы </a:t>
            </a:r>
            <a:r>
              <a:rPr lang="ru-RU" altLang="ru-RU" sz="2200" dirty="0"/>
              <a:t>изображаются темными точками и удалены ниже первой квартили или выше третьей от 1,5 </a:t>
            </a:r>
            <a:r>
              <a:rPr lang="en-US" altLang="ru-RU" sz="2200" dirty="0"/>
              <a:t>IQR</a:t>
            </a:r>
            <a:r>
              <a:rPr lang="ru-RU" altLang="ru-RU" sz="2200" dirty="0"/>
              <a:t>, но не более 3 </a:t>
            </a:r>
            <a:r>
              <a:rPr lang="en-US" altLang="ru-RU" sz="2200" dirty="0"/>
              <a:t>IQR</a:t>
            </a:r>
            <a:r>
              <a:rPr lang="ru-RU" altLang="ru-RU" sz="2200" i="1" dirty="0"/>
              <a:t>.</a:t>
            </a:r>
          </a:p>
          <a:p>
            <a:r>
              <a:rPr lang="ru-RU" altLang="ru-RU" sz="2200" b="1" dirty="0"/>
              <a:t>Экстремальные выбросы </a:t>
            </a:r>
            <a:r>
              <a:rPr lang="ru-RU" altLang="ru-RU" sz="2200" dirty="0"/>
              <a:t>изображаются светлыми точками и удалены ниже первой квартили или выше третьей более 3 </a:t>
            </a:r>
            <a:r>
              <a:rPr lang="en-US" altLang="ru-RU" sz="2200" dirty="0"/>
              <a:t>IQR</a:t>
            </a:r>
            <a:r>
              <a:rPr lang="ru-RU" altLang="ru-RU" sz="2200" dirty="0"/>
              <a:t>.</a:t>
            </a:r>
            <a:endParaRPr lang="ru-RU" altLang="ru-RU" sz="2200" b="1" dirty="0"/>
          </a:p>
          <a:p>
            <a:endParaRPr lang="ru-RU" altLang="ru-RU" sz="2200" b="1" dirty="0"/>
          </a:p>
        </p:txBody>
      </p:sp>
      <p:grpSp>
        <p:nvGrpSpPr>
          <p:cNvPr id="3" name="Группа 2"/>
          <p:cNvGrpSpPr/>
          <p:nvPr/>
        </p:nvGrpSpPr>
        <p:grpSpPr>
          <a:xfrm>
            <a:off x="912251" y="4304728"/>
            <a:ext cx="10631698" cy="1925281"/>
            <a:chOff x="160574" y="4460875"/>
            <a:chExt cx="9956756" cy="1760155"/>
          </a:xfrm>
        </p:grpSpPr>
        <p:sp>
          <p:nvSpPr>
            <p:cNvPr id="139269" name="Rectangle 5"/>
            <p:cNvSpPr>
              <a:spLocks noChangeArrowheads="1"/>
            </p:cNvSpPr>
            <p:nvPr/>
          </p:nvSpPr>
          <p:spPr bwMode="auto">
            <a:xfrm>
              <a:off x="4391025" y="4460875"/>
              <a:ext cx="1271588" cy="52387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39270" name="Line 6"/>
            <p:cNvSpPr>
              <a:spLocks noChangeShapeType="1"/>
            </p:cNvSpPr>
            <p:nvPr/>
          </p:nvSpPr>
          <p:spPr bwMode="auto">
            <a:xfrm>
              <a:off x="3868738" y="4686300"/>
              <a:ext cx="27638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9271" name="Line 7"/>
            <p:cNvSpPr>
              <a:spLocks noChangeShapeType="1"/>
            </p:cNvSpPr>
            <p:nvPr/>
          </p:nvSpPr>
          <p:spPr bwMode="auto">
            <a:xfrm>
              <a:off x="4840288" y="4460875"/>
              <a:ext cx="1587" cy="5238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9272" name="Line 8"/>
            <p:cNvSpPr>
              <a:spLocks noChangeShapeType="1"/>
            </p:cNvSpPr>
            <p:nvPr/>
          </p:nvSpPr>
          <p:spPr bwMode="auto">
            <a:xfrm flipV="1">
              <a:off x="282575" y="5508625"/>
              <a:ext cx="9637713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9273" name="Line 9"/>
            <p:cNvSpPr>
              <a:spLocks noChangeShapeType="1"/>
            </p:cNvSpPr>
            <p:nvPr/>
          </p:nvSpPr>
          <p:spPr bwMode="auto">
            <a:xfrm>
              <a:off x="4391025" y="5284788"/>
              <a:ext cx="0" cy="3746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9274" name="Line 10"/>
            <p:cNvSpPr>
              <a:spLocks noChangeShapeType="1"/>
            </p:cNvSpPr>
            <p:nvPr/>
          </p:nvSpPr>
          <p:spPr bwMode="auto">
            <a:xfrm>
              <a:off x="5662613" y="5284788"/>
              <a:ext cx="0" cy="3746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9275" name="Rectangle 11"/>
            <p:cNvSpPr>
              <a:spLocks noChangeArrowheads="1"/>
            </p:cNvSpPr>
            <p:nvPr/>
          </p:nvSpPr>
          <p:spPr bwMode="auto">
            <a:xfrm>
              <a:off x="4614863" y="5781675"/>
              <a:ext cx="713973" cy="439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24" tIns="47462" rIns="94924" bIns="47462">
              <a:spAutoFit/>
            </a:bodyPr>
            <a:lstStyle>
              <a:lvl1pPr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74663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949325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423988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898650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3558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8130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2702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7274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ru-RU" sz="2500"/>
                <a:t>IQR</a:t>
              </a:r>
              <a:endParaRPr lang="ru-RU" altLang="ru-RU" sz="2500"/>
            </a:p>
          </p:txBody>
        </p:sp>
        <p:sp>
          <p:nvSpPr>
            <p:cNvPr id="139276" name="Rectangle 12"/>
            <p:cNvSpPr>
              <a:spLocks noChangeArrowheads="1"/>
            </p:cNvSpPr>
            <p:nvPr/>
          </p:nvSpPr>
          <p:spPr bwMode="auto">
            <a:xfrm>
              <a:off x="160574" y="4821238"/>
              <a:ext cx="1660053" cy="5096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24" tIns="47462" rIns="94924" bIns="47462">
              <a:spAutoFit/>
            </a:bodyPr>
            <a:lstStyle>
              <a:lvl1pPr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74663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949325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423988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898650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3558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8130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2702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7274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ru-RU" altLang="ru-RU" sz="1500" b="1">
                  <a:solidFill>
                    <a:srgbClr val="FF0000"/>
                  </a:solidFill>
                </a:rPr>
                <a:t>Экстремальные </a:t>
              </a:r>
            </a:p>
            <a:p>
              <a:pPr algn="ctr" eaLnBrk="1" hangingPunct="1"/>
              <a:r>
                <a:rPr lang="ru-RU" altLang="ru-RU" sz="1500" b="1">
                  <a:solidFill>
                    <a:srgbClr val="FF0000"/>
                  </a:solidFill>
                </a:rPr>
                <a:t>выбросы</a:t>
              </a:r>
              <a:endParaRPr lang="ru-RU" altLang="ru-RU" sz="1500" b="1"/>
            </a:p>
          </p:txBody>
        </p:sp>
        <p:sp>
          <p:nvSpPr>
            <p:cNvPr id="139277" name="Rectangle 13"/>
            <p:cNvSpPr>
              <a:spLocks noChangeArrowheads="1"/>
            </p:cNvSpPr>
            <p:nvPr/>
          </p:nvSpPr>
          <p:spPr bwMode="auto">
            <a:xfrm>
              <a:off x="1724590" y="4821238"/>
              <a:ext cx="1197432" cy="5096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24" tIns="47462" rIns="94924" bIns="47462">
              <a:spAutoFit/>
            </a:bodyPr>
            <a:lstStyle>
              <a:lvl1pPr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74663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949325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423988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898650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3558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8130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2702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7274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ru-RU" altLang="ru-RU" sz="1500" b="1">
                  <a:solidFill>
                    <a:srgbClr val="009900"/>
                  </a:solidFill>
                </a:rPr>
                <a:t>Умеренные</a:t>
              </a:r>
            </a:p>
            <a:p>
              <a:pPr algn="ctr" eaLnBrk="1" hangingPunct="1"/>
              <a:r>
                <a:rPr lang="ru-RU" altLang="ru-RU" sz="1500" b="1">
                  <a:solidFill>
                    <a:srgbClr val="009900"/>
                  </a:solidFill>
                </a:rPr>
                <a:t>выбросы</a:t>
              </a:r>
            </a:p>
          </p:txBody>
        </p:sp>
        <p:sp>
          <p:nvSpPr>
            <p:cNvPr id="139278" name="Line 14"/>
            <p:cNvSpPr>
              <a:spLocks noChangeShapeType="1"/>
            </p:cNvSpPr>
            <p:nvPr/>
          </p:nvSpPr>
          <p:spPr bwMode="auto">
            <a:xfrm>
              <a:off x="2973388" y="5283200"/>
              <a:ext cx="0" cy="3746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9279" name="Line 15"/>
            <p:cNvSpPr>
              <a:spLocks noChangeShapeType="1"/>
            </p:cNvSpPr>
            <p:nvPr/>
          </p:nvSpPr>
          <p:spPr bwMode="auto">
            <a:xfrm>
              <a:off x="1627188" y="5283200"/>
              <a:ext cx="0" cy="3746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9280" name="Rectangle 16"/>
            <p:cNvSpPr>
              <a:spLocks noChangeArrowheads="1"/>
            </p:cNvSpPr>
            <p:nvPr/>
          </p:nvSpPr>
          <p:spPr bwMode="auto">
            <a:xfrm>
              <a:off x="8450071" y="4821238"/>
              <a:ext cx="1667259" cy="5096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24" tIns="47462" rIns="94924" bIns="47462">
              <a:spAutoFit/>
            </a:bodyPr>
            <a:lstStyle>
              <a:lvl1pPr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74663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949325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423988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898650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3558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8130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2702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7274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ru-RU" altLang="ru-RU" sz="1500" b="1">
                  <a:solidFill>
                    <a:srgbClr val="FF0000"/>
                  </a:solidFill>
                </a:rPr>
                <a:t>Экстремальные </a:t>
              </a:r>
            </a:p>
            <a:p>
              <a:pPr algn="ctr" eaLnBrk="1" hangingPunct="1"/>
              <a:r>
                <a:rPr lang="ru-RU" altLang="ru-RU" sz="1500" b="1">
                  <a:solidFill>
                    <a:srgbClr val="FF0000"/>
                  </a:solidFill>
                </a:rPr>
                <a:t>выбросы</a:t>
              </a:r>
              <a:endParaRPr lang="ru-RU" altLang="ru-RU" sz="1500" b="1"/>
            </a:p>
          </p:txBody>
        </p:sp>
        <p:sp>
          <p:nvSpPr>
            <p:cNvPr id="139281" name="Rectangle 17"/>
            <p:cNvSpPr>
              <a:spLocks noChangeArrowheads="1"/>
            </p:cNvSpPr>
            <p:nvPr/>
          </p:nvSpPr>
          <p:spPr bwMode="auto">
            <a:xfrm>
              <a:off x="7253853" y="4821238"/>
              <a:ext cx="1197432" cy="5096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24" tIns="47462" rIns="94924" bIns="47462">
              <a:spAutoFit/>
            </a:bodyPr>
            <a:lstStyle>
              <a:lvl1pPr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74663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949325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423988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898650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3558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8130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2702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7274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ru-RU" altLang="ru-RU" sz="1500" b="1">
                  <a:solidFill>
                    <a:srgbClr val="009900"/>
                  </a:solidFill>
                </a:rPr>
                <a:t>Умеренные</a:t>
              </a:r>
            </a:p>
            <a:p>
              <a:pPr algn="ctr" eaLnBrk="1" hangingPunct="1"/>
              <a:r>
                <a:rPr lang="ru-RU" altLang="ru-RU" sz="1500" b="1">
                  <a:solidFill>
                    <a:srgbClr val="009900"/>
                  </a:solidFill>
                </a:rPr>
                <a:t>выбросы</a:t>
              </a:r>
            </a:p>
          </p:txBody>
        </p:sp>
        <p:sp>
          <p:nvSpPr>
            <p:cNvPr id="139282" name="Line 18"/>
            <p:cNvSpPr>
              <a:spLocks noChangeShapeType="1"/>
            </p:cNvSpPr>
            <p:nvPr/>
          </p:nvSpPr>
          <p:spPr bwMode="auto">
            <a:xfrm>
              <a:off x="8575675" y="5283200"/>
              <a:ext cx="0" cy="3746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9283" name="Line 19"/>
            <p:cNvSpPr>
              <a:spLocks noChangeShapeType="1"/>
            </p:cNvSpPr>
            <p:nvPr/>
          </p:nvSpPr>
          <p:spPr bwMode="auto">
            <a:xfrm>
              <a:off x="7231063" y="5283200"/>
              <a:ext cx="0" cy="3746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9284" name="Rectangle 20"/>
            <p:cNvSpPr>
              <a:spLocks noChangeArrowheads="1"/>
            </p:cNvSpPr>
            <p:nvPr/>
          </p:nvSpPr>
          <p:spPr bwMode="auto">
            <a:xfrm>
              <a:off x="3046413" y="5781675"/>
              <a:ext cx="1215386" cy="439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24" tIns="47462" rIns="94924" bIns="47462">
              <a:spAutoFit/>
            </a:bodyPr>
            <a:lstStyle>
              <a:lvl1pPr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74663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949325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423988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898650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3558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8130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2702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7274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ru-RU" altLang="ru-RU" sz="2500"/>
                <a:t>1,5 </a:t>
              </a:r>
              <a:r>
                <a:rPr lang="en-US" altLang="ru-RU" sz="2500"/>
                <a:t>IQR</a:t>
              </a:r>
              <a:endParaRPr lang="ru-RU" altLang="ru-RU" sz="2500"/>
            </a:p>
          </p:txBody>
        </p:sp>
        <p:sp>
          <p:nvSpPr>
            <p:cNvPr id="139285" name="Rectangle 21"/>
            <p:cNvSpPr>
              <a:spLocks noChangeArrowheads="1"/>
            </p:cNvSpPr>
            <p:nvPr/>
          </p:nvSpPr>
          <p:spPr bwMode="auto">
            <a:xfrm>
              <a:off x="5800725" y="5781675"/>
              <a:ext cx="1215386" cy="439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24" tIns="47462" rIns="94924" bIns="47462">
              <a:spAutoFit/>
            </a:bodyPr>
            <a:lstStyle>
              <a:lvl1pPr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74663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949325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423988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898650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3558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8130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2702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7274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ru-RU" altLang="ru-RU" sz="2500"/>
                <a:t>1,5 </a:t>
              </a:r>
              <a:r>
                <a:rPr lang="en-US" altLang="ru-RU" sz="2500"/>
                <a:t>IQR</a:t>
              </a:r>
              <a:endParaRPr lang="ru-RU" altLang="ru-RU" sz="2500"/>
            </a:p>
          </p:txBody>
        </p:sp>
        <p:sp>
          <p:nvSpPr>
            <p:cNvPr id="139286" name="Rectangle 22"/>
            <p:cNvSpPr>
              <a:spLocks noChangeArrowheads="1"/>
            </p:cNvSpPr>
            <p:nvPr/>
          </p:nvSpPr>
          <p:spPr bwMode="auto">
            <a:xfrm>
              <a:off x="1627188" y="5781675"/>
              <a:ext cx="1215386" cy="439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24" tIns="47462" rIns="94924" bIns="47462">
              <a:spAutoFit/>
            </a:bodyPr>
            <a:lstStyle>
              <a:lvl1pPr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74663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949325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423988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898650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3558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8130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2702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7274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ru-RU" altLang="ru-RU" sz="2500"/>
                <a:t>1,5 </a:t>
              </a:r>
              <a:r>
                <a:rPr lang="en-US" altLang="ru-RU" sz="2500"/>
                <a:t>IQR</a:t>
              </a:r>
              <a:endParaRPr lang="ru-RU" altLang="ru-RU" sz="2500"/>
            </a:p>
          </p:txBody>
        </p:sp>
        <p:sp>
          <p:nvSpPr>
            <p:cNvPr id="139287" name="Rectangle 23"/>
            <p:cNvSpPr>
              <a:spLocks noChangeArrowheads="1"/>
            </p:cNvSpPr>
            <p:nvPr/>
          </p:nvSpPr>
          <p:spPr bwMode="auto">
            <a:xfrm>
              <a:off x="7219950" y="5781675"/>
              <a:ext cx="1215386" cy="439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4924" tIns="47462" rIns="94924" bIns="47462">
              <a:spAutoFit/>
            </a:bodyPr>
            <a:lstStyle>
              <a:lvl1pPr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74663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949325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423988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898650" defTabSz="949325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3558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8130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2702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727450" defTabSz="9493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ru-RU" altLang="ru-RU" sz="2500"/>
                <a:t>1,5 </a:t>
              </a:r>
              <a:r>
                <a:rPr lang="en-US" altLang="ru-RU" sz="2500"/>
                <a:t>IQR</a:t>
              </a:r>
              <a:endParaRPr lang="ru-RU" altLang="ru-RU" sz="2500"/>
            </a:p>
          </p:txBody>
        </p:sp>
        <p:sp>
          <p:nvSpPr>
            <p:cNvPr id="139288" name="Oval 24"/>
            <p:cNvSpPr>
              <a:spLocks noChangeArrowheads="1"/>
            </p:cNvSpPr>
            <p:nvPr/>
          </p:nvSpPr>
          <p:spPr bwMode="auto">
            <a:xfrm>
              <a:off x="1104900" y="4537075"/>
              <a:ext cx="223838" cy="22383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39289" name="Oval 25"/>
            <p:cNvSpPr>
              <a:spLocks noChangeArrowheads="1"/>
            </p:cNvSpPr>
            <p:nvPr/>
          </p:nvSpPr>
          <p:spPr bwMode="auto">
            <a:xfrm>
              <a:off x="7902575" y="4537075"/>
              <a:ext cx="223838" cy="223838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39290" name="Oval 26"/>
            <p:cNvSpPr>
              <a:spLocks noChangeArrowheads="1"/>
            </p:cNvSpPr>
            <p:nvPr/>
          </p:nvSpPr>
          <p:spPr bwMode="auto">
            <a:xfrm>
              <a:off x="2074863" y="4537075"/>
              <a:ext cx="223837" cy="223838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39291" name="Oval 27"/>
            <p:cNvSpPr>
              <a:spLocks noChangeArrowheads="1"/>
            </p:cNvSpPr>
            <p:nvPr/>
          </p:nvSpPr>
          <p:spPr bwMode="auto">
            <a:xfrm>
              <a:off x="2524125" y="4537075"/>
              <a:ext cx="225425" cy="223838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39292" name="Oval 28"/>
            <p:cNvSpPr>
              <a:spLocks noChangeArrowheads="1"/>
            </p:cNvSpPr>
            <p:nvPr/>
          </p:nvSpPr>
          <p:spPr bwMode="auto">
            <a:xfrm>
              <a:off x="9621838" y="4537075"/>
              <a:ext cx="223837" cy="22383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83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4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7032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4400" dirty="0"/>
              <a:t>Асимметрия </a:t>
            </a:r>
            <a:r>
              <a:rPr lang="en-US" altLang="ru-RU" sz="4400" dirty="0"/>
              <a:t>(Skewness)</a:t>
            </a:r>
            <a:endParaRPr lang="ru-RU" altLang="ru-RU" sz="4400" dirty="0"/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678015" y="1305027"/>
            <a:ext cx="9248775" cy="254910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altLang="ru-RU" sz="2200" dirty="0"/>
              <a:t>Если распределение симметрично, </a:t>
            </a:r>
            <a:r>
              <a:rPr lang="ru-RU" altLang="ru-RU" sz="2200" b="1" dirty="0"/>
              <a:t>асимметрия равна нулю</a:t>
            </a:r>
            <a:r>
              <a:rPr lang="ru-RU" altLang="ru-RU" sz="2200" dirty="0"/>
              <a:t>. В этом случае  совпадают значения моды, медианы и среднего арифметического.</a:t>
            </a:r>
          </a:p>
          <a:p>
            <a:r>
              <a:rPr lang="ru-RU" altLang="ru-RU" sz="2200" dirty="0"/>
              <a:t>Если одно или несколько значений существенно превышают остальные, имеется </a:t>
            </a:r>
            <a:r>
              <a:rPr lang="ru-RU" altLang="ru-RU" sz="2200" b="1" dirty="0"/>
              <a:t>положительная асимметрия</a:t>
            </a:r>
            <a:r>
              <a:rPr lang="ru-RU" altLang="ru-RU" sz="2200" dirty="0"/>
              <a:t>. Средняя меньше моды и медианы. </a:t>
            </a:r>
          </a:p>
          <a:p>
            <a:r>
              <a:rPr lang="ru-RU" altLang="ru-RU" sz="2200" dirty="0"/>
              <a:t>Если одно или несколько значений существенно меньше остальных, имеется </a:t>
            </a:r>
            <a:r>
              <a:rPr lang="ru-RU" altLang="ru-RU" sz="2200" b="1" dirty="0"/>
              <a:t>отрицательная асимметрия</a:t>
            </a:r>
            <a:r>
              <a:rPr lang="ru-RU" altLang="ru-RU" sz="2200" dirty="0"/>
              <a:t>. Средняя больше моды и медианы. </a:t>
            </a:r>
          </a:p>
          <a:p>
            <a:endParaRPr lang="ru-RU" altLang="ru-RU" sz="2200" dirty="0"/>
          </a:p>
        </p:txBody>
      </p:sp>
      <p:pic>
        <p:nvPicPr>
          <p:cNvPr id="1402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694" y="4623814"/>
            <a:ext cx="9377362" cy="188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84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4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79159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73685" y="395288"/>
            <a:ext cx="7488832" cy="79159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4400" dirty="0"/>
              <a:t>Вопрос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1941637" y="2339008"/>
            <a:ext cx="8959726" cy="3682380"/>
          </a:xfrm>
          <a:prstGeom prst="rect">
            <a:avLst/>
          </a:prstGeom>
        </p:spPr>
        <p:txBody>
          <a:bodyPr/>
          <a:lstStyle>
            <a:lvl1pPr marL="373063" indent="-373063" algn="l" defTabSz="99377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8038" indent="-311150" algn="l" defTabSz="99377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3000">
                <a:solidFill>
                  <a:schemeClr val="tx1"/>
                </a:solidFill>
                <a:latin typeface="+mn-lt"/>
                <a:cs typeface="+mn-cs"/>
              </a:defRPr>
            </a:lvl2pPr>
            <a:lvl3pPr marL="1243013" indent="-249238" algn="l" defTabSz="99377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3pPr>
            <a:lvl4pPr marL="1739900" indent="-247650" algn="l" defTabSz="99377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4pPr>
            <a:lvl5pPr marL="2236788" indent="-247650" algn="l" defTabSz="993775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cs typeface="+mn-cs"/>
              </a:defRPr>
            </a:lvl5pPr>
            <a:lvl6pPr marL="2693988" indent="-247650" algn="l" defTabSz="993775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cs typeface="+mn-cs"/>
              </a:defRPr>
            </a:lvl6pPr>
            <a:lvl7pPr marL="3151188" indent="-247650" algn="l" defTabSz="993775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cs typeface="+mn-cs"/>
              </a:defRPr>
            </a:lvl7pPr>
            <a:lvl8pPr marL="3608388" indent="-247650" algn="l" defTabSz="993775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cs typeface="+mn-cs"/>
              </a:defRPr>
            </a:lvl8pPr>
            <a:lvl9pPr marL="4065588" indent="-247650" algn="l" defTabSz="993775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ru-RU" altLang="ru-RU" kern="0" dirty="0"/>
              <a:t>В чем состоит </a:t>
            </a:r>
            <a:r>
              <a:rPr lang="ru-RU" altLang="ru-RU" b="1" kern="0" dirty="0"/>
              <a:t>отличие практического применения моды от медианы?</a:t>
            </a:r>
            <a:r>
              <a:rPr lang="ru-RU" altLang="ru-RU" kern="0" dirty="0"/>
              <a:t> </a:t>
            </a:r>
          </a:p>
          <a:p>
            <a:pPr marL="0" indent="0">
              <a:buNone/>
            </a:pPr>
            <a:endParaRPr lang="en-US" altLang="ru-RU" kern="0" dirty="0"/>
          </a:p>
          <a:p>
            <a:pPr marL="0" indent="0">
              <a:buNone/>
            </a:pPr>
            <a:r>
              <a:rPr lang="ru-RU" altLang="ru-RU" sz="2800" kern="0" dirty="0"/>
              <a:t>Определение не нужно. Нужно только отличие.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85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849675"/>
      </p:ext>
    </p:extLst>
  </p:cSld>
  <p:clrMapOvr>
    <a:masterClrMapping/>
  </p:clrMapOvr>
  <p:transition spd="slow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Заголовок 1"/>
          <p:cNvSpPr>
            <a:spLocks noGrp="1"/>
          </p:cNvSpPr>
          <p:nvPr>
            <p:ph type="title" idx="4294967295"/>
          </p:nvPr>
        </p:nvSpPr>
        <p:spPr bwMode="auto">
          <a:xfrm>
            <a:off x="1195389" y="285750"/>
            <a:ext cx="9248775" cy="73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9441" tIns="49721" rIns="99441" bIns="49721" rtlCol="0" anchor="ctr">
            <a:normAutofit/>
          </a:bodyPr>
          <a:lstStyle/>
          <a:p>
            <a:pPr eaLnBrk="1" hangingPunct="1"/>
            <a:r>
              <a:rPr lang="ru-RU" altLang="ru-RU" sz="3100" b="1"/>
              <a:t>Литература</a:t>
            </a:r>
          </a:p>
        </p:txBody>
      </p:sp>
      <p:sp>
        <p:nvSpPr>
          <p:cNvPr id="26629" name="Text Box 7"/>
          <p:cNvSpPr txBox="1">
            <a:spLocks noChangeArrowheads="1"/>
          </p:cNvSpPr>
          <p:nvPr/>
        </p:nvSpPr>
        <p:spPr bwMode="auto">
          <a:xfrm>
            <a:off x="3905252" y="0"/>
            <a:ext cx="5100637" cy="408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41" tIns="49721" rIns="99441" bIns="49721"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b="1">
                <a:solidFill>
                  <a:schemeClr val="bg1"/>
                </a:solidFill>
                <a:latin typeface="Courier New" panose="02070309020205020404" pitchFamily="49" charset="0"/>
              </a:rPr>
              <a:t>Обработка больших данных. Л5</a:t>
            </a:r>
          </a:p>
        </p:txBody>
      </p:sp>
      <p:pic>
        <p:nvPicPr>
          <p:cNvPr id="26631" name="Picture 7" descr="Эндрю Сигел"/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278" y="898527"/>
            <a:ext cx="2549525" cy="37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2" name="Picture 8" descr="File0002"/>
          <p:cNvPicPr>
            <a:picLocks noChangeAspect="1" noChangeArrowheads="1"/>
          </p:cNvPicPr>
          <p:nvPr/>
        </p:nvPicPr>
        <p:blipFill>
          <a:blip r:embed="rId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738" y="1403352"/>
            <a:ext cx="2465388" cy="352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3" name="Picture 9" descr="Pim00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228" y="1835150"/>
            <a:ext cx="2441575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4" name="Picture 10" descr="File000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926" y="2627315"/>
            <a:ext cx="2597150" cy="331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878089" y="5749927"/>
            <a:ext cx="68323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2" indent="-285752">
              <a:buFont typeface="Arial" panose="020B0604020202020204" pitchFamily="34" charset="0"/>
              <a:buChar char="•"/>
            </a:pPr>
            <a:r>
              <a:rPr lang="ru-RU" sz="1600" b="1" dirty="0"/>
              <a:t>Основы статистики. Анатолий Карпов. Институт </a:t>
            </a:r>
            <a:r>
              <a:rPr lang="ru-RU" sz="1600" b="1" dirty="0" err="1"/>
              <a:t>биоинформатики</a:t>
            </a:r>
            <a:r>
              <a:rPr lang="ru-RU" sz="1600" b="1" dirty="0"/>
              <a:t>. </a:t>
            </a:r>
            <a:r>
              <a:rPr lang="ru-RU" sz="1600" dirty="0"/>
              <a:t>https://www.youtube.com/watch?v=ksdrNa_g11M</a:t>
            </a:r>
          </a:p>
        </p:txBody>
      </p:sp>
      <p:sp>
        <p:nvSpPr>
          <p:cNvPr id="10" name="Номер слайда 1">
            <a:extLst>
              <a:ext uri="{FF2B5EF4-FFF2-40B4-BE49-F238E27FC236}">
                <a16:creationId xmlns:a16="http://schemas.microsoft.com/office/drawing/2014/main" id="{58EC3556-380C-4E47-B2E6-4EA4F6E2C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4685" y="6605017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b="0" smtClean="0">
                <a:solidFill>
                  <a:schemeClr val="tx1"/>
                </a:solidFill>
              </a:rPr>
              <a:t>86</a:t>
            </a:fld>
            <a:endParaRPr lang="ru-RU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4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79159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73685" y="395288"/>
            <a:ext cx="7488832" cy="79159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4400" dirty="0"/>
              <a:t>Вопросы к экзамену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05533" y="1451780"/>
            <a:ext cx="11173322" cy="5250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3" indent="-342903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Перечислите шкалы измерений. Приведите примеры их использования.</a:t>
            </a:r>
          </a:p>
          <a:p>
            <a:pPr marL="342903" indent="-342903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Генеральная совокупность и выборка. Что такое репрезентативная выборка?</a:t>
            </a:r>
          </a:p>
          <a:p>
            <a:pPr marL="342903" indent="-342903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Назовите меры центральной тенденции, чем они отличаются и в каких случаях лучше использовать ту или иную меру?</a:t>
            </a:r>
          </a:p>
          <a:p>
            <a:pPr marL="342903" indent="-342903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Назовите виды распределения данных. Придумайте (подберите) примеры для разных видов распределения.</a:t>
            </a:r>
          </a:p>
          <a:p>
            <a:pPr marL="342903" indent="-342903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Нормальное распределение. Каковы его характеристики, в областях жизнедеятельности человека оно встречается?</a:t>
            </a:r>
          </a:p>
          <a:p>
            <a:pPr marL="342903" indent="-342903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Как вы понимаете величину «уровень статистической достоверности»? Верно ли, что эта величина отражает вероятность ошибки?</a:t>
            </a:r>
          </a:p>
          <a:p>
            <a:pPr marL="342903" indent="-342903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Что такое «Меры изменчивости»? Является ли размах мерой изменчивости?</a:t>
            </a:r>
          </a:p>
          <a:p>
            <a:pPr marL="342903" indent="-342903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Каковы свойства описательных статистик (Дескриптивный анализ), что включает вся Дескриптивный анализ?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302677" y="6605017"/>
            <a:ext cx="732162" cy="457258"/>
          </a:xfrm>
        </p:spPr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87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57798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Texno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xno" id="{0E8BABF9-5FB5-43D1-8D63-51AD53BC32B3}" vid="{3F96F841-BC71-47CB-B1CC-BEF1F6584F8C}"/>
    </a:ext>
  </a:ext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Texno</Template>
  <TotalTime>35226</TotalTime>
  <Words>5855</Words>
  <Application>Microsoft Office PowerPoint</Application>
  <PresentationFormat>Произвольный</PresentationFormat>
  <Paragraphs>837</Paragraphs>
  <Slides>87</Slides>
  <Notes>37</Notes>
  <HiddenSlides>1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4</vt:i4>
      </vt:variant>
      <vt:variant>
        <vt:lpstr>Заголовки слайдов</vt:lpstr>
      </vt:variant>
      <vt:variant>
        <vt:i4>87</vt:i4>
      </vt:variant>
    </vt:vector>
  </HeadingPairs>
  <TitlesOfParts>
    <vt:vector size="100" baseType="lpstr">
      <vt:lpstr>Arial</vt:lpstr>
      <vt:lpstr>Arial Cyr</vt:lpstr>
      <vt:lpstr>Calibri</vt:lpstr>
      <vt:lpstr>Courier New</vt:lpstr>
      <vt:lpstr>Garamond</vt:lpstr>
      <vt:lpstr>Lucida Console</vt:lpstr>
      <vt:lpstr>Times New Roman</vt:lpstr>
      <vt:lpstr>Wingdings</vt:lpstr>
      <vt:lpstr>Texno</vt:lpstr>
      <vt:lpstr>Уравнение</vt:lpstr>
      <vt:lpstr>Equation.3</vt:lpstr>
      <vt:lpstr>Рисунок</vt:lpstr>
      <vt:lpstr>Формула</vt:lpstr>
      <vt:lpstr>Курс Обработка больших данных</vt:lpstr>
      <vt:lpstr>Содержание</vt:lpstr>
      <vt:lpstr>Шкалы измерений</vt:lpstr>
      <vt:lpstr>Шкалы измерений</vt:lpstr>
      <vt:lpstr>Примеры </vt:lpstr>
      <vt:lpstr>Примеры </vt:lpstr>
      <vt:lpstr>Шкалы измерений</vt:lpstr>
      <vt:lpstr>Шкалы измерений</vt:lpstr>
      <vt:lpstr>Мощности шкал</vt:lpstr>
      <vt:lpstr>Номинальные переменные</vt:lpstr>
      <vt:lpstr>Порядковые переменные</vt:lpstr>
      <vt:lpstr>Интервальные переменные</vt:lpstr>
      <vt:lpstr>Относительные переменные</vt:lpstr>
      <vt:lpstr>Генеральная совокупность  и выборка  </vt:lpstr>
      <vt:lpstr>Основные понятия статистики и дескриптивный анализ</vt:lpstr>
      <vt:lpstr>Генеральная совокупность и выборка</vt:lpstr>
      <vt:lpstr>Репрезентативность выборки</vt:lpstr>
      <vt:lpstr>Общие рекомендации по численности выборки</vt:lpstr>
      <vt:lpstr>Понятие распределения и его характеристики </vt:lpstr>
      <vt:lpstr>Распределение </vt:lpstr>
      <vt:lpstr>Составные части дескриптивного анализа </vt:lpstr>
      <vt:lpstr>Виды распределений случайной величины</vt:lpstr>
      <vt:lpstr>Виды распределений случайной величины</vt:lpstr>
      <vt:lpstr>Нормальное распределение </vt:lpstr>
      <vt:lpstr>Нормальное распределение </vt:lpstr>
      <vt:lpstr>Нормальное распределение </vt:lpstr>
      <vt:lpstr>Нормальное распределение </vt:lpstr>
      <vt:lpstr>Уровень статистической достоверности</vt:lpstr>
      <vt:lpstr>Уровень статистической достоверности</vt:lpstr>
      <vt:lpstr>Свойства описательных статистик  (Дескриптивный анализ)  </vt:lpstr>
      <vt:lpstr>Свойства описательных статистик</vt:lpstr>
      <vt:lpstr>Свойства описательных статистик</vt:lpstr>
      <vt:lpstr>МОДА</vt:lpstr>
      <vt:lpstr>Свойства моды</vt:lpstr>
      <vt:lpstr>Медиана</vt:lpstr>
      <vt:lpstr>Презентация PowerPoint</vt:lpstr>
      <vt:lpstr>Пример вычисления медианы</vt:lpstr>
      <vt:lpstr>Свойства медианы</vt:lpstr>
      <vt:lpstr>Среднее</vt:lpstr>
      <vt:lpstr>Среднее - еще не значит «лучшее»</vt:lpstr>
      <vt:lpstr>Свойства среднего</vt:lpstr>
      <vt:lpstr>Свойства среднего</vt:lpstr>
      <vt:lpstr>Презентация PowerPoint</vt:lpstr>
      <vt:lpstr>Какое типичное значение наилучшее?</vt:lpstr>
      <vt:lpstr>Какое типическое значение наилучшее?</vt:lpstr>
      <vt:lpstr>Визуальные представления  данных в матстатистике</vt:lpstr>
      <vt:lpstr>Визуальные представления</vt:lpstr>
      <vt:lpstr>Гистограммы частот</vt:lpstr>
      <vt:lpstr>Презентация PowerPoint</vt:lpstr>
      <vt:lpstr>Презентация PowerPoint</vt:lpstr>
      <vt:lpstr>Презентация PowerPoint</vt:lpstr>
      <vt:lpstr>Примеры столбчатые диаграммы</vt:lpstr>
      <vt:lpstr>Примеры столбчатые диаграммы</vt:lpstr>
      <vt:lpstr>Примеры столбчатые диаграммы</vt:lpstr>
      <vt:lpstr>Пример. Тест первокурсников</vt:lpstr>
      <vt:lpstr>Нормальное распределение</vt:lpstr>
      <vt:lpstr>Бимодальное распределение </vt:lpstr>
      <vt:lpstr>Выбросы</vt:lpstr>
      <vt:lpstr>Полигоны частот</vt:lpstr>
      <vt:lpstr>Кумулята</vt:lpstr>
      <vt:lpstr>Кумулята</vt:lpstr>
      <vt:lpstr>Круговая диаграмма </vt:lpstr>
      <vt:lpstr>Меры изменчивости</vt:lpstr>
      <vt:lpstr>Меры изменчивости</vt:lpstr>
      <vt:lpstr>Меры изменчивости</vt:lpstr>
      <vt:lpstr>Меры изменчивости</vt:lpstr>
      <vt:lpstr>Меры изменчивости</vt:lpstr>
      <vt:lpstr>Меры изменчивости</vt:lpstr>
      <vt:lpstr>Меры изменчивости</vt:lpstr>
      <vt:lpstr>Процентили</vt:lpstr>
      <vt:lpstr>Дисперсия</vt:lpstr>
      <vt:lpstr>Дисперсия</vt:lpstr>
      <vt:lpstr>Подсчет дисперсии в таблице</vt:lpstr>
      <vt:lpstr>Подсчет дисперсии в таблице</vt:lpstr>
      <vt:lpstr>Стандартное отклонение</vt:lpstr>
      <vt:lpstr>Куртозис</vt:lpstr>
      <vt:lpstr>Неравенство Чебышева</vt:lpstr>
      <vt:lpstr>Неравенство Чебышева</vt:lpstr>
      <vt:lpstr>Интерпретация стандартного отклонения</vt:lpstr>
      <vt:lpstr>Пример </vt:lpstr>
      <vt:lpstr>Неравенство Чебышева</vt:lpstr>
      <vt:lpstr>Разделы исследовательского анализа данных (дескриптивный анализ)</vt:lpstr>
      <vt:lpstr>Выбросы</vt:lpstr>
      <vt:lpstr>Асимметрия (Skewness)</vt:lpstr>
      <vt:lpstr>Вопрос</vt:lpstr>
      <vt:lpstr>Литература</vt:lpstr>
      <vt:lpstr>Вопросы к экзамену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Обработка больших данных</dc:title>
  <dc:creator>Tatyana</dc:creator>
  <cp:lastModifiedBy>Tatyana</cp:lastModifiedBy>
  <cp:revision>379</cp:revision>
  <dcterms:created xsi:type="dcterms:W3CDTF">2015-01-17T09:44:41Z</dcterms:created>
  <dcterms:modified xsi:type="dcterms:W3CDTF">2026-02-19T09:01:58Z</dcterms:modified>
</cp:coreProperties>
</file>