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bookmarkIdSeed="2">
  <p:sldMasterIdLst>
    <p:sldMasterId id="2147483662" r:id="rId1"/>
  </p:sldMasterIdLst>
  <p:notesMasterIdLst>
    <p:notesMasterId r:id="rId91"/>
  </p:notesMasterIdLst>
  <p:sldIdLst>
    <p:sldId id="431" r:id="rId2"/>
    <p:sldId id="260" r:id="rId3"/>
    <p:sldId id="283" r:id="rId4"/>
    <p:sldId id="371" r:id="rId5"/>
    <p:sldId id="372" r:id="rId6"/>
    <p:sldId id="357" r:id="rId7"/>
    <p:sldId id="363" r:id="rId8"/>
    <p:sldId id="362" r:id="rId9"/>
    <p:sldId id="364" r:id="rId10"/>
    <p:sldId id="365" r:id="rId11"/>
    <p:sldId id="366" r:id="rId12"/>
    <p:sldId id="367" r:id="rId13"/>
    <p:sldId id="368" r:id="rId14"/>
    <p:sldId id="369" r:id="rId15"/>
    <p:sldId id="370" r:id="rId16"/>
    <p:sldId id="373" r:id="rId17"/>
    <p:sldId id="374" r:id="rId18"/>
    <p:sldId id="375" r:id="rId19"/>
    <p:sldId id="376" r:id="rId20"/>
    <p:sldId id="377" r:id="rId21"/>
    <p:sldId id="378" r:id="rId22"/>
    <p:sldId id="379" r:id="rId23"/>
    <p:sldId id="380" r:id="rId24"/>
    <p:sldId id="381" r:id="rId25"/>
    <p:sldId id="382" r:id="rId26"/>
    <p:sldId id="383" r:id="rId27"/>
    <p:sldId id="384" r:id="rId28"/>
    <p:sldId id="385" r:id="rId29"/>
    <p:sldId id="386" r:id="rId30"/>
    <p:sldId id="421" r:id="rId31"/>
    <p:sldId id="422" r:id="rId32"/>
    <p:sldId id="423" r:id="rId33"/>
    <p:sldId id="424" r:id="rId34"/>
    <p:sldId id="425" r:id="rId35"/>
    <p:sldId id="426" r:id="rId36"/>
    <p:sldId id="427" r:id="rId37"/>
    <p:sldId id="428" r:id="rId38"/>
    <p:sldId id="429" r:id="rId39"/>
    <p:sldId id="356" r:id="rId40"/>
    <p:sldId id="389" r:id="rId41"/>
    <p:sldId id="391" r:id="rId42"/>
    <p:sldId id="392" r:id="rId43"/>
    <p:sldId id="390" r:id="rId44"/>
    <p:sldId id="394" r:id="rId45"/>
    <p:sldId id="395" r:id="rId46"/>
    <p:sldId id="396" r:id="rId47"/>
    <p:sldId id="397" r:id="rId48"/>
    <p:sldId id="387" r:id="rId49"/>
    <p:sldId id="339" r:id="rId50"/>
    <p:sldId id="412" r:id="rId51"/>
    <p:sldId id="340" r:id="rId52"/>
    <p:sldId id="341" r:id="rId53"/>
    <p:sldId id="342" r:id="rId54"/>
    <p:sldId id="415" r:id="rId55"/>
    <p:sldId id="343" r:id="rId56"/>
    <p:sldId id="416" r:id="rId57"/>
    <p:sldId id="344" r:id="rId58"/>
    <p:sldId id="345" r:id="rId59"/>
    <p:sldId id="417" r:id="rId60"/>
    <p:sldId id="418" r:id="rId61"/>
    <p:sldId id="419" r:id="rId62"/>
    <p:sldId id="420" r:id="rId63"/>
    <p:sldId id="346" r:id="rId64"/>
    <p:sldId id="347" r:id="rId65"/>
    <p:sldId id="348" r:id="rId66"/>
    <p:sldId id="349" r:id="rId67"/>
    <p:sldId id="414" r:id="rId68"/>
    <p:sldId id="351" r:id="rId69"/>
    <p:sldId id="358" r:id="rId70"/>
    <p:sldId id="359" r:id="rId71"/>
    <p:sldId id="360" r:id="rId72"/>
    <p:sldId id="361" r:id="rId73"/>
    <p:sldId id="413" r:id="rId74"/>
    <p:sldId id="398" r:id="rId75"/>
    <p:sldId id="399" r:id="rId76"/>
    <p:sldId id="400" r:id="rId77"/>
    <p:sldId id="401" r:id="rId78"/>
    <p:sldId id="402" r:id="rId79"/>
    <p:sldId id="403" r:id="rId80"/>
    <p:sldId id="404" r:id="rId81"/>
    <p:sldId id="405" r:id="rId82"/>
    <p:sldId id="406" r:id="rId83"/>
    <p:sldId id="407" r:id="rId84"/>
    <p:sldId id="408" r:id="rId85"/>
    <p:sldId id="409" r:id="rId86"/>
    <p:sldId id="410" r:id="rId87"/>
    <p:sldId id="411" r:id="rId88"/>
    <p:sldId id="296" r:id="rId89"/>
    <p:sldId id="430" r:id="rId90"/>
  </p:sldIdLst>
  <p:sldSz cx="12668250" cy="7126288"/>
  <p:notesSz cx="6858000" cy="9144000"/>
  <p:defaultTextStyle>
    <a:defPPr>
      <a:defRPr lang="ru-RU"/>
    </a:defPPr>
    <a:lvl1pPr algn="l" rtl="0" fontAlgn="base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457200" algn="l" rtl="0" fontAlgn="base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914400" algn="l" rtl="0" fontAlgn="base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371600" algn="l" rtl="0" fontAlgn="base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828800" algn="l" rtl="0" fontAlgn="base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sz="20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sz="20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sz="20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sz="20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245" userDrawn="1">
          <p15:clr>
            <a:srgbClr val="A4A3A4"/>
          </p15:clr>
        </p15:guide>
        <p15:guide id="2" pos="399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9BEFF"/>
    <a:srgbClr val="005392"/>
    <a:srgbClr val="FF5050"/>
    <a:srgbClr val="99CCFF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4129" autoAdjust="0"/>
  </p:normalViewPr>
  <p:slideViewPr>
    <p:cSldViewPr>
      <p:cViewPr>
        <p:scale>
          <a:sx n="75" d="100"/>
          <a:sy n="75" d="100"/>
        </p:scale>
        <p:origin x="250" y="283"/>
      </p:cViewPr>
      <p:guideLst>
        <p:guide orient="horz" pos="2245"/>
        <p:guide pos="399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tableStyles" Target="tableStyles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93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presProps" Target="presProps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82.png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85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ru-RU" altLang="ru-RU"/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endParaRPr lang="ru-RU" altLang="ru-RU"/>
          </a:p>
        </p:txBody>
      </p:sp>
      <p:sp>
        <p:nvSpPr>
          <p:cNvPr id="717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82588" y="685800"/>
            <a:ext cx="6092825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717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ru-RU" altLang="ru-RU"/>
              <a:t>Образец текста</a:t>
            </a:r>
          </a:p>
          <a:p>
            <a:pPr lvl="1"/>
            <a:r>
              <a:rPr lang="ru-RU" altLang="ru-RU"/>
              <a:t>Второй уровень</a:t>
            </a:r>
          </a:p>
          <a:p>
            <a:pPr lvl="2"/>
            <a:r>
              <a:rPr lang="ru-RU" altLang="ru-RU"/>
              <a:t>Третий уровень</a:t>
            </a:r>
          </a:p>
          <a:p>
            <a:pPr lvl="3"/>
            <a:r>
              <a:rPr lang="ru-RU" altLang="ru-RU"/>
              <a:t>Четвертый уровень</a:t>
            </a:r>
          </a:p>
          <a:p>
            <a:pPr lvl="4"/>
            <a:r>
              <a:rPr lang="ru-RU" altLang="ru-RU"/>
              <a:t>Пятый уровень</a:t>
            </a:r>
          </a:p>
        </p:txBody>
      </p:sp>
      <p:sp>
        <p:nvSpPr>
          <p:cNvPr id="717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ru-RU" altLang="ru-RU"/>
          </a:p>
        </p:txBody>
      </p:sp>
      <p:sp>
        <p:nvSpPr>
          <p:cNvPr id="717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7E47F37-5C77-476F-B121-68F204B37E46}" type="slidenum">
              <a:rPr lang="ru-RU" altLang="ru-RU"/>
              <a:pPr/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150871251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C5533538-EED8-4C60-9372-8A627DE5F9B0}" type="slidenum">
              <a:rPr lang="ru-RU" altLang="ru-RU" sz="1200" smtClean="0"/>
              <a:pPr/>
              <a:t>1</a:t>
            </a:fld>
            <a:endParaRPr lang="ru-RU" altLang="ru-RU" sz="1200"/>
          </a:p>
        </p:txBody>
      </p:sp>
      <p:sp>
        <p:nvSpPr>
          <p:cNvPr id="5123" name="Образ слайда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382588" y="685800"/>
            <a:ext cx="6092825" cy="3429000"/>
          </a:xfrm>
          <a:ln/>
        </p:spPr>
      </p:sp>
      <p:sp>
        <p:nvSpPr>
          <p:cNvPr id="5124" name="Заметки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lnSpc>
                <a:spcPct val="90000"/>
              </a:lnSpc>
              <a:spcBef>
                <a:spcPct val="0"/>
              </a:spcBef>
            </a:pPr>
            <a:r>
              <a:rPr lang="ru-RU" altLang="ru-RU"/>
              <a:t>В последнее время технологии больших данных развиваются высокими темпами. Возникает множество высокотехнологичных компаний, предоставляющих новые инструменты по анализу данных. В то же время растёт мировой спрос на специалистов, способных работать с большими объёмами данных, ставить задачи в этой области, понимать сложность и потенциальную стоимость таких работ. Предполагая нарастающий интерес к этой сфере в России, актуальным и адекватным решением будет систематизация опыта работы с технологиями и задачами анализа больших данных. Анализ образовательного рынка в области больших данных показывает нам, что онлайн-образование в сфере аналитики становится всё более популярным и массовым. Существует несколько курсов на английском языке, в т.ч. курсы </a:t>
            </a:r>
            <a:r>
              <a:rPr lang="en-US" altLang="ru-RU"/>
              <a:t>Data Science and Big Data Analytics </a:t>
            </a:r>
            <a:r>
              <a:rPr lang="ru-RU" altLang="ru-RU"/>
              <a:t>от </a:t>
            </a:r>
            <a:r>
              <a:rPr lang="en-US" altLang="ru-RU"/>
              <a:t>EMC</a:t>
            </a:r>
            <a:r>
              <a:rPr lang="ru-RU" altLang="ru-RU"/>
              <a:t>, ряд курсов на платформах </a:t>
            </a:r>
            <a:r>
              <a:rPr lang="en-US" altLang="ru-RU"/>
              <a:t>Coursera</a:t>
            </a:r>
            <a:r>
              <a:rPr lang="ru-RU" altLang="ru-RU"/>
              <a:t> и </a:t>
            </a:r>
            <a:r>
              <a:rPr lang="en-US" altLang="ru-RU"/>
              <a:t>Udacity</a:t>
            </a:r>
            <a:r>
              <a:rPr lang="ru-RU" altLang="ru-RU"/>
              <a:t>. Однако на русском языке подобные курсы пока отсутствуют. Настоящий курс призван ликвидировать данный пробел. Он представляет собой образовательный инструмент для введения в эту, без сомнения вдохновляющую и перспективную, область. Авторы курса предлагают слушателям окунуться в мир методов и технологий анализа больших данных на простых примерах.</a:t>
            </a:r>
          </a:p>
        </p:txBody>
      </p:sp>
      <p:sp>
        <p:nvSpPr>
          <p:cNvPr id="5125" name="Номер слайда 3"/>
          <p:cNvSpPr txBox="1">
            <a:spLocks noGrp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/>
            <a:fld id="{CF0B96F7-6A01-4E02-A134-F0B9ED219899}" type="slidenum">
              <a:rPr lang="ru-RU" altLang="ru-RU" sz="1200">
                <a:latin typeface="Calibri" panose="020F0502020204030204" pitchFamily="34" charset="0"/>
              </a:rPr>
              <a:pPr algn="r" eaLnBrk="1" hangingPunct="1"/>
              <a:t>1</a:t>
            </a:fld>
            <a:endParaRPr lang="ru-RU" altLang="ru-RU" sz="120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1215816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D0EB0C5-E645-42CC-B732-4D4B6A3000B1}" type="slidenum">
              <a:rPr lang="ru-RU" altLang="ru-RU"/>
              <a:pPr/>
              <a:t>3</a:t>
            </a:fld>
            <a:endParaRPr lang="ru-RU" altLang="ru-RU"/>
          </a:p>
        </p:txBody>
      </p:sp>
      <p:sp>
        <p:nvSpPr>
          <p:cNvPr id="58370" name="Образ слайда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382588" y="685800"/>
            <a:ext cx="6092825" cy="3429000"/>
          </a:xfrm>
          <a:ln/>
        </p:spPr>
      </p:sp>
      <p:sp>
        <p:nvSpPr>
          <p:cNvPr id="58371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Bef>
                <a:spcPct val="0"/>
              </a:spcBef>
            </a:pPr>
            <a:endParaRPr lang="ru-RU" altLang="ru-RU" sz="900" dirty="0">
              <a:latin typeface="Lucida Console" panose="020B0609040504020204" pitchFamily="49" charset="0"/>
            </a:endParaRPr>
          </a:p>
        </p:txBody>
      </p:sp>
      <p:sp>
        <p:nvSpPr>
          <p:cNvPr id="58372" name="Номер слайда 3"/>
          <p:cNvSpPr txBox="1">
            <a:spLocks noGrp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fld id="{4EDFB56E-B478-41D3-986E-C74075A8004D}" type="slidenum">
              <a:rPr lang="ru-RU" altLang="ru-RU" sz="1200">
                <a:latin typeface="Calibri" panose="020F0502020204030204" pitchFamily="34" charset="0"/>
              </a:rPr>
              <a:pPr algn="r"/>
              <a:t>3</a:t>
            </a:fld>
            <a:endParaRPr lang="ru-RU" altLang="ru-RU" sz="120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2570939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D0EB0C5-E645-42CC-B732-4D4B6A3000B1}" type="slidenum">
              <a:rPr lang="ru-RU" altLang="ru-RU"/>
              <a:pPr/>
              <a:t>11</a:t>
            </a:fld>
            <a:endParaRPr lang="ru-RU" altLang="ru-RU"/>
          </a:p>
        </p:txBody>
      </p:sp>
      <p:sp>
        <p:nvSpPr>
          <p:cNvPr id="58370" name="Образ слайда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382588" y="685800"/>
            <a:ext cx="6092825" cy="3429000"/>
          </a:xfrm>
          <a:ln/>
        </p:spPr>
      </p:sp>
      <p:sp>
        <p:nvSpPr>
          <p:cNvPr id="58371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Bef>
                <a:spcPct val="0"/>
              </a:spcBef>
            </a:pPr>
            <a:endParaRPr lang="ru-RU" altLang="ru-RU" sz="900" dirty="0">
              <a:latin typeface="Lucida Console" panose="020B0609040504020204" pitchFamily="49" charset="0"/>
            </a:endParaRPr>
          </a:p>
        </p:txBody>
      </p:sp>
      <p:sp>
        <p:nvSpPr>
          <p:cNvPr id="58372" name="Номер слайда 3"/>
          <p:cNvSpPr txBox="1">
            <a:spLocks noGrp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fld id="{4EDFB56E-B478-41D3-986E-C74075A8004D}" type="slidenum">
              <a:rPr lang="ru-RU" altLang="ru-RU" sz="1200">
                <a:latin typeface="Calibri" panose="020F0502020204030204" pitchFamily="34" charset="0"/>
              </a:rPr>
              <a:pPr algn="r"/>
              <a:t>11</a:t>
            </a:fld>
            <a:endParaRPr lang="ru-RU" altLang="ru-RU" sz="120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551918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B12DC272-C090-42CE-8E0D-920CB56086DF}" type="slidenum">
              <a:rPr lang="ru-RU" altLang="ru-RU" smtClean="0"/>
              <a:pPr>
                <a:spcBef>
                  <a:spcPct val="0"/>
                </a:spcBef>
              </a:pPr>
              <a:t>30</a:t>
            </a:fld>
            <a:endParaRPr lang="ru-RU" altLang="ru-RU"/>
          </a:p>
        </p:txBody>
      </p:sp>
      <p:sp>
        <p:nvSpPr>
          <p:cNvPr id="54275" name="Образ слайда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382588" y="685800"/>
            <a:ext cx="6092825" cy="3429000"/>
          </a:xfrm>
          <a:ln/>
        </p:spPr>
      </p:sp>
      <p:sp>
        <p:nvSpPr>
          <p:cNvPr id="54276" name="Заметки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ru-RU" altLang="ru-RU" sz="900">
              <a:latin typeface="Lucida Console" panose="020B0609040504020204" pitchFamily="49" charset="0"/>
            </a:endParaRPr>
          </a:p>
        </p:txBody>
      </p:sp>
      <p:sp>
        <p:nvSpPr>
          <p:cNvPr id="54277" name="Номер слайда 3"/>
          <p:cNvSpPr txBox="1">
            <a:spLocks noGrp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2931FFFA-4BEF-40A3-9538-6281E6406FC3}" type="slidenum">
              <a:rPr lang="ru-RU" altLang="ru-RU">
                <a:latin typeface="Calibri" panose="020F0502020204030204" pitchFamily="34" charset="0"/>
              </a:rPr>
              <a:pPr algn="r" eaLnBrk="1" hangingPunct="1">
                <a:spcBef>
                  <a:spcPct val="0"/>
                </a:spcBef>
              </a:pPr>
              <a:t>30</a:t>
            </a:fld>
            <a:endParaRPr lang="ru-RU" altLang="ru-RU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663030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D0EB0C5-E645-42CC-B732-4D4B6A3000B1}" type="slidenum">
              <a:rPr lang="ru-RU" altLang="ru-RU"/>
              <a:pPr/>
              <a:t>39</a:t>
            </a:fld>
            <a:endParaRPr lang="ru-RU" altLang="ru-RU"/>
          </a:p>
        </p:txBody>
      </p:sp>
      <p:sp>
        <p:nvSpPr>
          <p:cNvPr id="58370" name="Образ слайда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382588" y="685800"/>
            <a:ext cx="6092825" cy="3429000"/>
          </a:xfrm>
          <a:ln/>
        </p:spPr>
      </p:sp>
      <p:sp>
        <p:nvSpPr>
          <p:cNvPr id="58371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Bef>
                <a:spcPct val="0"/>
              </a:spcBef>
            </a:pPr>
            <a:endParaRPr lang="ru-RU" altLang="ru-RU" sz="900" dirty="0">
              <a:latin typeface="Lucida Console" panose="020B0609040504020204" pitchFamily="49" charset="0"/>
            </a:endParaRPr>
          </a:p>
        </p:txBody>
      </p:sp>
      <p:sp>
        <p:nvSpPr>
          <p:cNvPr id="58372" name="Номер слайда 3"/>
          <p:cNvSpPr txBox="1">
            <a:spLocks noGrp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fld id="{4EDFB56E-B478-41D3-986E-C74075A8004D}" type="slidenum">
              <a:rPr lang="ru-RU" altLang="ru-RU" sz="1200">
                <a:latin typeface="Calibri" panose="020F0502020204030204" pitchFamily="34" charset="0"/>
              </a:rPr>
              <a:pPr algn="r"/>
              <a:t>39</a:t>
            </a:fld>
            <a:endParaRPr lang="ru-RU" altLang="ru-RU" sz="120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0507327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D0EB0C5-E645-42CC-B732-4D4B6A3000B1}" type="slidenum">
              <a:rPr lang="ru-RU" altLang="ru-RU"/>
              <a:pPr/>
              <a:t>48</a:t>
            </a:fld>
            <a:endParaRPr lang="ru-RU" altLang="ru-RU"/>
          </a:p>
        </p:txBody>
      </p:sp>
      <p:sp>
        <p:nvSpPr>
          <p:cNvPr id="58370" name="Образ слайда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382588" y="685800"/>
            <a:ext cx="6092825" cy="3429000"/>
          </a:xfrm>
          <a:ln/>
        </p:spPr>
      </p:sp>
      <p:sp>
        <p:nvSpPr>
          <p:cNvPr id="58371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Bef>
                <a:spcPct val="0"/>
              </a:spcBef>
            </a:pPr>
            <a:endParaRPr lang="ru-RU" altLang="ru-RU" sz="900" dirty="0">
              <a:latin typeface="Lucida Console" panose="020B0609040504020204" pitchFamily="49" charset="0"/>
            </a:endParaRPr>
          </a:p>
        </p:txBody>
      </p:sp>
      <p:sp>
        <p:nvSpPr>
          <p:cNvPr id="58372" name="Номер слайда 3"/>
          <p:cNvSpPr txBox="1">
            <a:spLocks noGrp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fld id="{4EDFB56E-B478-41D3-986E-C74075A8004D}" type="slidenum">
              <a:rPr lang="ru-RU" altLang="ru-RU" sz="1200">
                <a:latin typeface="Calibri" panose="020F0502020204030204" pitchFamily="34" charset="0"/>
              </a:rPr>
              <a:pPr algn="r"/>
              <a:t>48</a:t>
            </a:fld>
            <a:endParaRPr lang="ru-RU" altLang="ru-RU" sz="120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167565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hyperlink" Target="http://presentation-creation.ru/" TargetMode="External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0" y="1093921"/>
            <a:ext cx="6533647" cy="152753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6537" y="3114194"/>
            <a:ext cx="6417350" cy="1821162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7507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501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42523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90030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37538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85045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32553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80061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33A5C7-BA51-4547-A7E7-EA56807EB52F}" type="datetime1">
              <a:rPr lang="ru-RU" smtClean="0"/>
              <a:t>23.02.2026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2B6C0E-C4B9-4094-8E59-5B7DF00D5415}" type="slidenum">
              <a:rPr lang="ru-RU" smtClean="0"/>
              <a:t>‹#›</a:t>
            </a:fld>
            <a:endParaRPr lang="ru-RU"/>
          </a:p>
        </p:txBody>
      </p:sp>
      <p:sp>
        <p:nvSpPr>
          <p:cNvPr id="7" name="Прямоугольник 6"/>
          <p:cNvSpPr/>
          <p:nvPr/>
        </p:nvSpPr>
        <p:spPr>
          <a:xfrm>
            <a:off x="8785737" y="6742507"/>
            <a:ext cx="3322576" cy="38010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>
              <a:spcBef>
                <a:spcPct val="0"/>
              </a:spcBef>
            </a:pPr>
            <a:r>
              <a:rPr lang="en-US" sz="1870" kern="1200" dirty="0">
                <a:solidFill>
                  <a:schemeClr val="tx1"/>
                </a:solidFill>
                <a:latin typeface="+mn-lt"/>
                <a:ea typeface="+mn-ea"/>
                <a:cs typeface="+mn-cs"/>
                <a:hlinkClick r:id="rId3"/>
              </a:rPr>
              <a:t>http://presentation-creation.ru/</a:t>
            </a:r>
            <a:endParaRPr kumimoji="0" lang="en-US" sz="3325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986840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FA4D37-B457-4D51-A022-14CF61822D53}" type="datetime1">
              <a:rPr lang="ru-RU" smtClean="0"/>
              <a:t>23.02.2026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2B6C0E-C4B9-4094-8E59-5B7DF00D541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203596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000705" y="4579300"/>
            <a:ext cx="10768013" cy="1415360"/>
          </a:xfrm>
        </p:spPr>
        <p:txBody>
          <a:bodyPr anchor="t"/>
          <a:lstStyle>
            <a:lvl1pPr algn="l">
              <a:defRPr sz="4156" b="1" cap="all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1000705" y="3020426"/>
            <a:ext cx="10768013" cy="1558875"/>
          </a:xfrm>
        </p:spPr>
        <p:txBody>
          <a:bodyPr anchor="b"/>
          <a:lstStyle>
            <a:lvl1pPr marL="0" indent="0">
              <a:buNone/>
              <a:defRPr sz="2078">
                <a:solidFill>
                  <a:schemeClr val="tx1">
                    <a:tint val="75000"/>
                  </a:schemeClr>
                </a:solidFill>
              </a:defRPr>
            </a:lvl1pPr>
            <a:lvl2pPr marL="475077" indent="0">
              <a:buNone/>
              <a:defRPr sz="1870">
                <a:solidFill>
                  <a:schemeClr val="tx1">
                    <a:tint val="75000"/>
                  </a:schemeClr>
                </a:solidFill>
              </a:defRPr>
            </a:lvl2pPr>
            <a:lvl3pPr marL="950153" indent="0">
              <a:buNone/>
              <a:defRPr sz="1663">
                <a:solidFill>
                  <a:schemeClr val="tx1">
                    <a:tint val="75000"/>
                  </a:schemeClr>
                </a:solidFill>
              </a:defRPr>
            </a:lvl3pPr>
            <a:lvl4pPr marL="1425230" indent="0">
              <a:buNone/>
              <a:defRPr sz="1455">
                <a:solidFill>
                  <a:schemeClr val="tx1">
                    <a:tint val="75000"/>
                  </a:schemeClr>
                </a:solidFill>
              </a:defRPr>
            </a:lvl4pPr>
            <a:lvl5pPr marL="1900306" indent="0">
              <a:buNone/>
              <a:defRPr sz="1455">
                <a:solidFill>
                  <a:schemeClr val="tx1">
                    <a:tint val="75000"/>
                  </a:schemeClr>
                </a:solidFill>
              </a:defRPr>
            </a:lvl5pPr>
            <a:lvl6pPr marL="2375383" indent="0">
              <a:buNone/>
              <a:defRPr sz="1455">
                <a:solidFill>
                  <a:schemeClr val="tx1">
                    <a:tint val="75000"/>
                  </a:schemeClr>
                </a:solidFill>
              </a:defRPr>
            </a:lvl6pPr>
            <a:lvl7pPr marL="2850459" indent="0">
              <a:buNone/>
              <a:defRPr sz="1455">
                <a:solidFill>
                  <a:schemeClr val="tx1">
                    <a:tint val="75000"/>
                  </a:schemeClr>
                </a:solidFill>
              </a:defRPr>
            </a:lvl7pPr>
            <a:lvl8pPr marL="3325536" indent="0">
              <a:buNone/>
              <a:defRPr sz="1455">
                <a:solidFill>
                  <a:schemeClr val="tx1">
                    <a:tint val="75000"/>
                  </a:schemeClr>
                </a:solidFill>
              </a:defRPr>
            </a:lvl8pPr>
            <a:lvl9pPr marL="3800612" indent="0">
              <a:buNone/>
              <a:defRPr sz="1455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B7F7B4-A9A2-4A3D-BA3F-0E9EF54797B6}" type="datetime1">
              <a:rPr lang="ru-RU" smtClean="0"/>
              <a:t>23.02.2026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2B6C0E-C4B9-4094-8E59-5B7DF00D541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654580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633413" y="1662802"/>
            <a:ext cx="5595144" cy="4703021"/>
          </a:xfrm>
        </p:spPr>
        <p:txBody>
          <a:bodyPr/>
          <a:lstStyle>
            <a:lvl1pPr>
              <a:defRPr sz="2909"/>
            </a:lvl1pPr>
            <a:lvl2pPr>
              <a:defRPr sz="2494"/>
            </a:lvl2pPr>
            <a:lvl3pPr>
              <a:defRPr sz="2078"/>
            </a:lvl3pPr>
            <a:lvl4pPr>
              <a:defRPr sz="1870"/>
            </a:lvl4pPr>
            <a:lvl5pPr>
              <a:defRPr sz="1870"/>
            </a:lvl5pPr>
            <a:lvl6pPr>
              <a:defRPr sz="1870"/>
            </a:lvl6pPr>
            <a:lvl7pPr>
              <a:defRPr sz="1870"/>
            </a:lvl7pPr>
            <a:lvl8pPr>
              <a:defRPr sz="1870"/>
            </a:lvl8pPr>
            <a:lvl9pPr>
              <a:defRPr sz="187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439693" y="1662802"/>
            <a:ext cx="5595144" cy="4703021"/>
          </a:xfrm>
        </p:spPr>
        <p:txBody>
          <a:bodyPr/>
          <a:lstStyle>
            <a:lvl1pPr>
              <a:defRPr sz="2909"/>
            </a:lvl1pPr>
            <a:lvl2pPr>
              <a:defRPr sz="2494"/>
            </a:lvl2pPr>
            <a:lvl3pPr>
              <a:defRPr sz="2078"/>
            </a:lvl3pPr>
            <a:lvl4pPr>
              <a:defRPr sz="1870"/>
            </a:lvl4pPr>
            <a:lvl5pPr>
              <a:defRPr sz="1870"/>
            </a:lvl5pPr>
            <a:lvl6pPr>
              <a:defRPr sz="1870"/>
            </a:lvl6pPr>
            <a:lvl7pPr>
              <a:defRPr sz="1870"/>
            </a:lvl7pPr>
            <a:lvl8pPr>
              <a:defRPr sz="1870"/>
            </a:lvl8pPr>
            <a:lvl9pPr>
              <a:defRPr sz="187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175B6E-743B-4801-9CE3-17F77B7835EA}" type="datetime1">
              <a:rPr lang="ru-RU" smtClean="0"/>
              <a:t>23.02.2026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2B6C0E-C4B9-4094-8E59-5B7DF00D541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827408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633413" y="1595167"/>
            <a:ext cx="5597344" cy="664790"/>
          </a:xfrm>
        </p:spPr>
        <p:txBody>
          <a:bodyPr anchor="b"/>
          <a:lstStyle>
            <a:lvl1pPr marL="0" indent="0">
              <a:buNone/>
              <a:defRPr sz="2494" b="1"/>
            </a:lvl1pPr>
            <a:lvl2pPr marL="475077" indent="0">
              <a:buNone/>
              <a:defRPr sz="2078" b="1"/>
            </a:lvl2pPr>
            <a:lvl3pPr marL="950153" indent="0">
              <a:buNone/>
              <a:defRPr sz="1870" b="1"/>
            </a:lvl3pPr>
            <a:lvl4pPr marL="1425230" indent="0">
              <a:buNone/>
              <a:defRPr sz="1663" b="1"/>
            </a:lvl4pPr>
            <a:lvl5pPr marL="1900306" indent="0">
              <a:buNone/>
              <a:defRPr sz="1663" b="1"/>
            </a:lvl5pPr>
            <a:lvl6pPr marL="2375383" indent="0">
              <a:buNone/>
              <a:defRPr sz="1663" b="1"/>
            </a:lvl6pPr>
            <a:lvl7pPr marL="2850459" indent="0">
              <a:buNone/>
              <a:defRPr sz="1663" b="1"/>
            </a:lvl7pPr>
            <a:lvl8pPr marL="3325536" indent="0">
              <a:buNone/>
              <a:defRPr sz="1663" b="1"/>
            </a:lvl8pPr>
            <a:lvl9pPr marL="3800612" indent="0">
              <a:buNone/>
              <a:defRPr sz="1663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33413" y="2259957"/>
            <a:ext cx="5597344" cy="4105864"/>
          </a:xfrm>
        </p:spPr>
        <p:txBody>
          <a:bodyPr/>
          <a:lstStyle>
            <a:lvl1pPr>
              <a:defRPr sz="2494"/>
            </a:lvl1pPr>
            <a:lvl2pPr>
              <a:defRPr sz="2078"/>
            </a:lvl2pPr>
            <a:lvl3pPr>
              <a:defRPr sz="1870"/>
            </a:lvl3pPr>
            <a:lvl4pPr>
              <a:defRPr sz="1663"/>
            </a:lvl4pPr>
            <a:lvl5pPr>
              <a:defRPr sz="1663"/>
            </a:lvl5pPr>
            <a:lvl6pPr>
              <a:defRPr sz="1663"/>
            </a:lvl6pPr>
            <a:lvl7pPr>
              <a:defRPr sz="1663"/>
            </a:lvl7pPr>
            <a:lvl8pPr>
              <a:defRPr sz="1663"/>
            </a:lvl8pPr>
            <a:lvl9pPr>
              <a:defRPr sz="1663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435296" y="1595167"/>
            <a:ext cx="5599543" cy="664790"/>
          </a:xfrm>
        </p:spPr>
        <p:txBody>
          <a:bodyPr anchor="b"/>
          <a:lstStyle>
            <a:lvl1pPr marL="0" indent="0">
              <a:buNone/>
              <a:defRPr sz="2494" b="1"/>
            </a:lvl1pPr>
            <a:lvl2pPr marL="475077" indent="0">
              <a:buNone/>
              <a:defRPr sz="2078" b="1"/>
            </a:lvl2pPr>
            <a:lvl3pPr marL="950153" indent="0">
              <a:buNone/>
              <a:defRPr sz="1870" b="1"/>
            </a:lvl3pPr>
            <a:lvl4pPr marL="1425230" indent="0">
              <a:buNone/>
              <a:defRPr sz="1663" b="1"/>
            </a:lvl4pPr>
            <a:lvl5pPr marL="1900306" indent="0">
              <a:buNone/>
              <a:defRPr sz="1663" b="1"/>
            </a:lvl5pPr>
            <a:lvl6pPr marL="2375383" indent="0">
              <a:buNone/>
              <a:defRPr sz="1663" b="1"/>
            </a:lvl6pPr>
            <a:lvl7pPr marL="2850459" indent="0">
              <a:buNone/>
              <a:defRPr sz="1663" b="1"/>
            </a:lvl7pPr>
            <a:lvl8pPr marL="3325536" indent="0">
              <a:buNone/>
              <a:defRPr sz="1663" b="1"/>
            </a:lvl8pPr>
            <a:lvl9pPr marL="3800612" indent="0">
              <a:buNone/>
              <a:defRPr sz="1663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435296" y="2259957"/>
            <a:ext cx="5599543" cy="4105864"/>
          </a:xfrm>
        </p:spPr>
        <p:txBody>
          <a:bodyPr/>
          <a:lstStyle>
            <a:lvl1pPr>
              <a:defRPr sz="2494"/>
            </a:lvl1pPr>
            <a:lvl2pPr>
              <a:defRPr sz="2078"/>
            </a:lvl2pPr>
            <a:lvl3pPr>
              <a:defRPr sz="1870"/>
            </a:lvl3pPr>
            <a:lvl4pPr>
              <a:defRPr sz="1663"/>
            </a:lvl4pPr>
            <a:lvl5pPr>
              <a:defRPr sz="1663"/>
            </a:lvl5pPr>
            <a:lvl6pPr>
              <a:defRPr sz="1663"/>
            </a:lvl6pPr>
            <a:lvl7pPr>
              <a:defRPr sz="1663"/>
            </a:lvl7pPr>
            <a:lvl8pPr>
              <a:defRPr sz="1663"/>
            </a:lvl8pPr>
            <a:lvl9pPr>
              <a:defRPr sz="1663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427452-36E4-41DB-9FB0-D647A71EA566}" type="datetime1">
              <a:rPr lang="ru-RU" smtClean="0"/>
              <a:t>23.02.2026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2B6C0E-C4B9-4094-8E59-5B7DF00D541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397535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77BBB5-CF20-4171-9739-DA1D1360F180}" type="datetime1">
              <a:rPr lang="ru-RU" smtClean="0"/>
              <a:t>23.02.2026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2B6C0E-C4B9-4094-8E59-5B7DF00D541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207899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29942-0D73-4159-952D-3C8F84ECE37E}" type="datetime1">
              <a:rPr lang="ru-RU" smtClean="0"/>
              <a:t>23.02.2026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2B6C0E-C4B9-4094-8E59-5B7DF00D541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918966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33414" y="283732"/>
            <a:ext cx="4167766" cy="1207510"/>
          </a:xfrm>
        </p:spPr>
        <p:txBody>
          <a:bodyPr anchor="b"/>
          <a:lstStyle>
            <a:lvl1pPr algn="l">
              <a:defRPr sz="2078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952933" y="283734"/>
            <a:ext cx="7081904" cy="6082089"/>
          </a:xfrm>
        </p:spPr>
        <p:txBody>
          <a:bodyPr/>
          <a:lstStyle>
            <a:lvl1pPr>
              <a:defRPr sz="3325"/>
            </a:lvl1pPr>
            <a:lvl2pPr>
              <a:defRPr sz="2909"/>
            </a:lvl2pPr>
            <a:lvl3pPr>
              <a:defRPr sz="2494"/>
            </a:lvl3pPr>
            <a:lvl4pPr>
              <a:defRPr sz="2078"/>
            </a:lvl4pPr>
            <a:lvl5pPr>
              <a:defRPr sz="2078"/>
            </a:lvl5pPr>
            <a:lvl6pPr>
              <a:defRPr sz="2078"/>
            </a:lvl6pPr>
            <a:lvl7pPr>
              <a:defRPr sz="2078"/>
            </a:lvl7pPr>
            <a:lvl8pPr>
              <a:defRPr sz="2078"/>
            </a:lvl8pPr>
            <a:lvl9pPr>
              <a:defRPr sz="2078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633414" y="1491243"/>
            <a:ext cx="4167766" cy="4874579"/>
          </a:xfrm>
        </p:spPr>
        <p:txBody>
          <a:bodyPr/>
          <a:lstStyle>
            <a:lvl1pPr marL="0" indent="0">
              <a:buNone/>
              <a:defRPr sz="1455"/>
            </a:lvl1pPr>
            <a:lvl2pPr marL="475077" indent="0">
              <a:buNone/>
              <a:defRPr sz="1247"/>
            </a:lvl2pPr>
            <a:lvl3pPr marL="950153" indent="0">
              <a:buNone/>
              <a:defRPr sz="1039"/>
            </a:lvl3pPr>
            <a:lvl4pPr marL="1425230" indent="0">
              <a:buNone/>
              <a:defRPr sz="935"/>
            </a:lvl4pPr>
            <a:lvl5pPr marL="1900306" indent="0">
              <a:buNone/>
              <a:defRPr sz="935"/>
            </a:lvl5pPr>
            <a:lvl6pPr marL="2375383" indent="0">
              <a:buNone/>
              <a:defRPr sz="935"/>
            </a:lvl6pPr>
            <a:lvl7pPr marL="2850459" indent="0">
              <a:buNone/>
              <a:defRPr sz="935"/>
            </a:lvl7pPr>
            <a:lvl8pPr marL="3325536" indent="0">
              <a:buNone/>
              <a:defRPr sz="935"/>
            </a:lvl8pPr>
            <a:lvl9pPr marL="3800612" indent="0">
              <a:buNone/>
              <a:defRPr sz="935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D67FD6-8747-4642-8055-1DCE5C6E077B}" type="datetime1">
              <a:rPr lang="ru-RU" smtClean="0"/>
              <a:t>23.02.2026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2B6C0E-C4B9-4094-8E59-5B7DF00D541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356765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483066" y="4988403"/>
            <a:ext cx="7600950" cy="588909"/>
          </a:xfrm>
        </p:spPr>
        <p:txBody>
          <a:bodyPr anchor="b"/>
          <a:lstStyle>
            <a:lvl1pPr algn="l">
              <a:defRPr sz="2078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2483066" y="636748"/>
            <a:ext cx="7600950" cy="4275773"/>
          </a:xfrm>
        </p:spPr>
        <p:txBody>
          <a:bodyPr/>
          <a:lstStyle>
            <a:lvl1pPr marL="0" indent="0">
              <a:buNone/>
              <a:defRPr sz="3325"/>
            </a:lvl1pPr>
            <a:lvl2pPr marL="475077" indent="0">
              <a:buNone/>
              <a:defRPr sz="2909"/>
            </a:lvl2pPr>
            <a:lvl3pPr marL="950153" indent="0">
              <a:buNone/>
              <a:defRPr sz="2494"/>
            </a:lvl3pPr>
            <a:lvl4pPr marL="1425230" indent="0">
              <a:buNone/>
              <a:defRPr sz="2078"/>
            </a:lvl4pPr>
            <a:lvl5pPr marL="1900306" indent="0">
              <a:buNone/>
              <a:defRPr sz="2078"/>
            </a:lvl5pPr>
            <a:lvl6pPr marL="2375383" indent="0">
              <a:buNone/>
              <a:defRPr sz="2078"/>
            </a:lvl6pPr>
            <a:lvl7pPr marL="2850459" indent="0">
              <a:buNone/>
              <a:defRPr sz="2078"/>
            </a:lvl7pPr>
            <a:lvl8pPr marL="3325536" indent="0">
              <a:buNone/>
              <a:defRPr sz="2078"/>
            </a:lvl8pPr>
            <a:lvl9pPr marL="3800612" indent="0">
              <a:buNone/>
              <a:defRPr sz="2078"/>
            </a:lvl9pPr>
          </a:lstStyle>
          <a:p>
            <a:r>
              <a:rPr lang="ru-RU"/>
              <a:t>Вставка рисунка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2483066" y="5577311"/>
            <a:ext cx="7600950" cy="836349"/>
          </a:xfrm>
        </p:spPr>
        <p:txBody>
          <a:bodyPr/>
          <a:lstStyle>
            <a:lvl1pPr marL="0" indent="0">
              <a:buNone/>
              <a:defRPr sz="1455"/>
            </a:lvl1pPr>
            <a:lvl2pPr marL="475077" indent="0">
              <a:buNone/>
              <a:defRPr sz="1247"/>
            </a:lvl2pPr>
            <a:lvl3pPr marL="950153" indent="0">
              <a:buNone/>
              <a:defRPr sz="1039"/>
            </a:lvl3pPr>
            <a:lvl4pPr marL="1425230" indent="0">
              <a:buNone/>
              <a:defRPr sz="935"/>
            </a:lvl4pPr>
            <a:lvl5pPr marL="1900306" indent="0">
              <a:buNone/>
              <a:defRPr sz="935"/>
            </a:lvl5pPr>
            <a:lvl6pPr marL="2375383" indent="0">
              <a:buNone/>
              <a:defRPr sz="935"/>
            </a:lvl6pPr>
            <a:lvl7pPr marL="2850459" indent="0">
              <a:buNone/>
              <a:defRPr sz="935"/>
            </a:lvl7pPr>
            <a:lvl8pPr marL="3325536" indent="0">
              <a:buNone/>
              <a:defRPr sz="935"/>
            </a:lvl8pPr>
            <a:lvl9pPr marL="3800612" indent="0">
              <a:buNone/>
              <a:defRPr sz="935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A0E773-0889-4648-A4E7-88157D481246}" type="datetime1">
              <a:rPr lang="ru-RU" smtClean="0"/>
              <a:t>23.02.2026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2B6C0E-C4B9-4094-8E59-5B7DF00D541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797542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EB800E-7DA2-4F72-BE74-FECB6BE7FC52}" type="datetime1">
              <a:rPr lang="ru-RU" smtClean="0"/>
              <a:t>23.02.2026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2B6C0E-C4B9-4094-8E59-5B7DF00D541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109559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9184481" y="285384"/>
            <a:ext cx="2850356" cy="6080439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633413" y="285384"/>
            <a:ext cx="8339931" cy="6080439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950BA1-534F-418D-B830-5306B0CAAEBE}" type="datetime1">
              <a:rPr lang="ru-RU" smtClean="0"/>
              <a:t>23.02.2026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2B6C0E-C4B9-4094-8E59-5B7DF00D541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356096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33413" y="285383"/>
            <a:ext cx="11401426" cy="118771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633413" y="1662802"/>
            <a:ext cx="11401426" cy="470302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633413" y="6605015"/>
            <a:ext cx="2955926" cy="3794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47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0FADFD2-1A8C-4F1B-B290-14B7122A9B4A}" type="datetime1">
              <a:rPr lang="ru-RU" smtClean="0"/>
              <a:t>23.02.2026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328319" y="6605015"/>
            <a:ext cx="4011613" cy="3794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47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9078913" y="6605015"/>
            <a:ext cx="2955926" cy="3794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47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52B6C0E-C4B9-4094-8E59-5B7DF00D541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003827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  <p:sldLayoutId id="2147483672" r:id="rId10"/>
    <p:sldLayoutId id="2147483673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  <p:txStyles>
    <p:titleStyle>
      <a:lvl1pPr algn="ctr" defTabSz="950153" rtl="0" eaLnBrk="1" latinLnBrk="0" hangingPunct="1">
        <a:spcBef>
          <a:spcPct val="0"/>
        </a:spcBef>
        <a:buNone/>
        <a:defRPr sz="4572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56307" indent="-356307" algn="l" defTabSz="950153" rtl="0" eaLnBrk="1" latinLnBrk="0" hangingPunct="1">
        <a:spcBef>
          <a:spcPct val="20000"/>
        </a:spcBef>
        <a:buFont typeface="Arial" panose="020B0604020202020204" pitchFamily="34" charset="0"/>
        <a:buChar char="•"/>
        <a:defRPr sz="3325" kern="1200">
          <a:solidFill>
            <a:schemeClr val="tx1"/>
          </a:solidFill>
          <a:latin typeface="+mn-lt"/>
          <a:ea typeface="+mn-ea"/>
          <a:cs typeface="+mn-cs"/>
        </a:defRPr>
      </a:lvl1pPr>
      <a:lvl2pPr marL="771999" indent="-296923" algn="l" defTabSz="950153" rtl="0" eaLnBrk="1" latinLnBrk="0" hangingPunct="1">
        <a:spcBef>
          <a:spcPct val="20000"/>
        </a:spcBef>
        <a:buFont typeface="Arial" panose="020B0604020202020204" pitchFamily="34" charset="0"/>
        <a:buChar char="–"/>
        <a:defRPr sz="2909" kern="1200">
          <a:solidFill>
            <a:schemeClr val="tx1"/>
          </a:solidFill>
          <a:latin typeface="+mn-lt"/>
          <a:ea typeface="+mn-ea"/>
          <a:cs typeface="+mn-cs"/>
        </a:defRPr>
      </a:lvl2pPr>
      <a:lvl3pPr marL="1187691" indent="-237538" algn="l" defTabSz="950153" rtl="0" eaLnBrk="1" latinLnBrk="0" hangingPunct="1">
        <a:spcBef>
          <a:spcPct val="20000"/>
        </a:spcBef>
        <a:buFont typeface="Arial" panose="020B0604020202020204" pitchFamily="34" charset="0"/>
        <a:buChar char="•"/>
        <a:defRPr sz="2494" kern="1200">
          <a:solidFill>
            <a:schemeClr val="tx1"/>
          </a:solidFill>
          <a:latin typeface="+mn-lt"/>
          <a:ea typeface="+mn-ea"/>
          <a:cs typeface="+mn-cs"/>
        </a:defRPr>
      </a:lvl3pPr>
      <a:lvl4pPr marL="1662768" indent="-237538" algn="l" defTabSz="950153" rtl="0" eaLnBrk="1" latinLnBrk="0" hangingPunct="1">
        <a:spcBef>
          <a:spcPct val="20000"/>
        </a:spcBef>
        <a:buFont typeface="Arial" panose="020B0604020202020204" pitchFamily="34" charset="0"/>
        <a:buChar char="–"/>
        <a:defRPr sz="2078" kern="1200">
          <a:solidFill>
            <a:schemeClr val="tx1"/>
          </a:solidFill>
          <a:latin typeface="+mn-lt"/>
          <a:ea typeface="+mn-ea"/>
          <a:cs typeface="+mn-cs"/>
        </a:defRPr>
      </a:lvl4pPr>
      <a:lvl5pPr marL="2137844" indent="-237538" algn="l" defTabSz="950153" rtl="0" eaLnBrk="1" latinLnBrk="0" hangingPunct="1">
        <a:spcBef>
          <a:spcPct val="20000"/>
        </a:spcBef>
        <a:buFont typeface="Arial" panose="020B0604020202020204" pitchFamily="34" charset="0"/>
        <a:buChar char="»"/>
        <a:defRPr sz="2078" kern="1200">
          <a:solidFill>
            <a:schemeClr val="tx1"/>
          </a:solidFill>
          <a:latin typeface="+mn-lt"/>
          <a:ea typeface="+mn-ea"/>
          <a:cs typeface="+mn-cs"/>
        </a:defRPr>
      </a:lvl5pPr>
      <a:lvl6pPr marL="2612921" indent="-237538" algn="l" defTabSz="950153" rtl="0" eaLnBrk="1" latinLnBrk="0" hangingPunct="1">
        <a:spcBef>
          <a:spcPct val="20000"/>
        </a:spcBef>
        <a:buFont typeface="Arial" panose="020B0604020202020204" pitchFamily="34" charset="0"/>
        <a:buChar char="•"/>
        <a:defRPr sz="2078" kern="1200">
          <a:solidFill>
            <a:schemeClr val="tx1"/>
          </a:solidFill>
          <a:latin typeface="+mn-lt"/>
          <a:ea typeface="+mn-ea"/>
          <a:cs typeface="+mn-cs"/>
        </a:defRPr>
      </a:lvl6pPr>
      <a:lvl7pPr marL="3087997" indent="-237538" algn="l" defTabSz="950153" rtl="0" eaLnBrk="1" latinLnBrk="0" hangingPunct="1">
        <a:spcBef>
          <a:spcPct val="20000"/>
        </a:spcBef>
        <a:buFont typeface="Arial" panose="020B0604020202020204" pitchFamily="34" charset="0"/>
        <a:buChar char="•"/>
        <a:defRPr sz="2078" kern="1200">
          <a:solidFill>
            <a:schemeClr val="tx1"/>
          </a:solidFill>
          <a:latin typeface="+mn-lt"/>
          <a:ea typeface="+mn-ea"/>
          <a:cs typeface="+mn-cs"/>
        </a:defRPr>
      </a:lvl7pPr>
      <a:lvl8pPr marL="3563074" indent="-237538" algn="l" defTabSz="950153" rtl="0" eaLnBrk="1" latinLnBrk="0" hangingPunct="1">
        <a:spcBef>
          <a:spcPct val="20000"/>
        </a:spcBef>
        <a:buFont typeface="Arial" panose="020B0604020202020204" pitchFamily="34" charset="0"/>
        <a:buChar char="•"/>
        <a:defRPr sz="2078" kern="1200">
          <a:solidFill>
            <a:schemeClr val="tx1"/>
          </a:solidFill>
          <a:latin typeface="+mn-lt"/>
          <a:ea typeface="+mn-ea"/>
          <a:cs typeface="+mn-cs"/>
        </a:defRPr>
      </a:lvl8pPr>
      <a:lvl9pPr marL="4038150" indent="-237538" algn="l" defTabSz="950153" rtl="0" eaLnBrk="1" latinLnBrk="0" hangingPunct="1">
        <a:spcBef>
          <a:spcPct val="20000"/>
        </a:spcBef>
        <a:buFont typeface="Arial" panose="020B0604020202020204" pitchFamily="34" charset="0"/>
        <a:buChar char="•"/>
        <a:defRPr sz="207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50153" rtl="0" eaLnBrk="1" latinLnBrk="0" hangingPunct="1">
        <a:defRPr sz="1870" kern="1200">
          <a:solidFill>
            <a:schemeClr val="tx1"/>
          </a:solidFill>
          <a:latin typeface="+mn-lt"/>
          <a:ea typeface="+mn-ea"/>
          <a:cs typeface="+mn-cs"/>
        </a:defRPr>
      </a:lvl1pPr>
      <a:lvl2pPr marL="475077" algn="l" defTabSz="950153" rtl="0" eaLnBrk="1" latinLnBrk="0" hangingPunct="1">
        <a:defRPr sz="1870" kern="1200">
          <a:solidFill>
            <a:schemeClr val="tx1"/>
          </a:solidFill>
          <a:latin typeface="+mn-lt"/>
          <a:ea typeface="+mn-ea"/>
          <a:cs typeface="+mn-cs"/>
        </a:defRPr>
      </a:lvl2pPr>
      <a:lvl3pPr marL="950153" algn="l" defTabSz="950153" rtl="0" eaLnBrk="1" latinLnBrk="0" hangingPunct="1">
        <a:defRPr sz="1870" kern="1200">
          <a:solidFill>
            <a:schemeClr val="tx1"/>
          </a:solidFill>
          <a:latin typeface="+mn-lt"/>
          <a:ea typeface="+mn-ea"/>
          <a:cs typeface="+mn-cs"/>
        </a:defRPr>
      </a:lvl3pPr>
      <a:lvl4pPr marL="1425230" algn="l" defTabSz="950153" rtl="0" eaLnBrk="1" latinLnBrk="0" hangingPunct="1">
        <a:defRPr sz="1870" kern="1200">
          <a:solidFill>
            <a:schemeClr val="tx1"/>
          </a:solidFill>
          <a:latin typeface="+mn-lt"/>
          <a:ea typeface="+mn-ea"/>
          <a:cs typeface="+mn-cs"/>
        </a:defRPr>
      </a:lvl4pPr>
      <a:lvl5pPr marL="1900306" algn="l" defTabSz="950153" rtl="0" eaLnBrk="1" latinLnBrk="0" hangingPunct="1">
        <a:defRPr sz="1870" kern="1200">
          <a:solidFill>
            <a:schemeClr val="tx1"/>
          </a:solidFill>
          <a:latin typeface="+mn-lt"/>
          <a:ea typeface="+mn-ea"/>
          <a:cs typeface="+mn-cs"/>
        </a:defRPr>
      </a:lvl5pPr>
      <a:lvl6pPr marL="2375383" algn="l" defTabSz="950153" rtl="0" eaLnBrk="1" latinLnBrk="0" hangingPunct="1">
        <a:defRPr sz="1870" kern="1200">
          <a:solidFill>
            <a:schemeClr val="tx1"/>
          </a:solidFill>
          <a:latin typeface="+mn-lt"/>
          <a:ea typeface="+mn-ea"/>
          <a:cs typeface="+mn-cs"/>
        </a:defRPr>
      </a:lvl6pPr>
      <a:lvl7pPr marL="2850459" algn="l" defTabSz="950153" rtl="0" eaLnBrk="1" latinLnBrk="0" hangingPunct="1">
        <a:defRPr sz="1870" kern="1200">
          <a:solidFill>
            <a:schemeClr val="tx1"/>
          </a:solidFill>
          <a:latin typeface="+mn-lt"/>
          <a:ea typeface="+mn-ea"/>
          <a:cs typeface="+mn-cs"/>
        </a:defRPr>
      </a:lvl7pPr>
      <a:lvl8pPr marL="3325536" algn="l" defTabSz="950153" rtl="0" eaLnBrk="1" latinLnBrk="0" hangingPunct="1">
        <a:defRPr sz="1870" kern="1200">
          <a:solidFill>
            <a:schemeClr val="tx1"/>
          </a:solidFill>
          <a:latin typeface="+mn-lt"/>
          <a:ea typeface="+mn-ea"/>
          <a:cs typeface="+mn-cs"/>
        </a:defRPr>
      </a:lvl8pPr>
      <a:lvl9pPr marL="3800612" algn="l" defTabSz="950153" rtl="0" eaLnBrk="1" latinLnBrk="0" hangingPunct="1">
        <a:defRPr sz="187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hyperlink" Target="https://dic.academic.ru/dic.nsf/business/2906/%D0%93%D0%B8%D1%81%D1%82%D0%BE%D0%B3%D1%80%D0%B0%D0%BC%D0%BC%D0%B0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jpeg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7.pn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8.png"/><Relationship Id="rId4" Type="http://schemas.openxmlformats.org/officeDocument/2006/relationships/image" Target="../media/image47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1.png"/><Relationship Id="rId4" Type="http://schemas.openxmlformats.org/officeDocument/2006/relationships/image" Target="../media/image50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7.png"/><Relationship Id="rId4" Type="http://schemas.openxmlformats.org/officeDocument/2006/relationships/image" Target="../media/image56.png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4.png"/><Relationship Id="rId5" Type="http://schemas.openxmlformats.org/officeDocument/2006/relationships/image" Target="../media/image63.png"/><Relationship Id="rId4" Type="http://schemas.openxmlformats.org/officeDocument/2006/relationships/image" Target="../media/image62.png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7.png"/><Relationship Id="rId4" Type="http://schemas.openxmlformats.org/officeDocument/2006/relationships/image" Target="../media/image66.png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0.png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3.png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jpeg"/><Relationship Id="rId2" Type="http://schemas.openxmlformats.org/officeDocument/2006/relationships/image" Target="../media/image75.jpeg"/><Relationship Id="rId1" Type="http://schemas.openxmlformats.org/officeDocument/2006/relationships/slideLayout" Target="../slideLayouts/slideLayout7.xm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1.jpeg"/><Relationship Id="rId5" Type="http://schemas.openxmlformats.org/officeDocument/2006/relationships/image" Target="../media/image80.png"/><Relationship Id="rId4" Type="http://schemas.openxmlformats.org/officeDocument/2006/relationships/image" Target="../media/image79.png"/></Relationships>
</file>

<file path=ppt/slides/_rels/slide7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4.jpeg"/><Relationship Id="rId3" Type="http://schemas.openxmlformats.org/officeDocument/2006/relationships/oleObject" Target="../embeddings/oleObject1.bin"/><Relationship Id="rId7" Type="http://schemas.openxmlformats.org/officeDocument/2006/relationships/image" Target="../media/image76.jpeg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83.jpeg"/><Relationship Id="rId5" Type="http://schemas.openxmlformats.org/officeDocument/2006/relationships/image" Target="../media/image75.jpeg"/><Relationship Id="rId4" Type="http://schemas.openxmlformats.org/officeDocument/2006/relationships/image" Target="../media/image82.png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4.jpeg"/><Relationship Id="rId1" Type="http://schemas.openxmlformats.org/officeDocument/2006/relationships/slideLayout" Target="../slideLayouts/slideLayout7.xml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85.emf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6.jpeg"/><Relationship Id="rId1" Type="http://schemas.openxmlformats.org/officeDocument/2006/relationships/slideLayout" Target="../slideLayouts/slideLayout7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6.jpeg"/><Relationship Id="rId1" Type="http://schemas.openxmlformats.org/officeDocument/2006/relationships/slideLayout" Target="../slideLayouts/slideLayout7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7.jpeg"/><Relationship Id="rId2" Type="http://schemas.openxmlformats.org/officeDocument/2006/relationships/image" Target="../media/image86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9.jpeg"/><Relationship Id="rId4" Type="http://schemas.openxmlformats.org/officeDocument/2006/relationships/image" Target="../media/image88.jpeg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Заголовок 1"/>
          <p:cNvSpPr>
            <a:spLocks noGrp="1"/>
          </p:cNvSpPr>
          <p:nvPr>
            <p:ph type="ctrTitle"/>
          </p:nvPr>
        </p:nvSpPr>
        <p:spPr>
          <a:xfrm>
            <a:off x="1195389" y="1093789"/>
            <a:ext cx="5300663" cy="1527175"/>
          </a:xfrm>
        </p:spPr>
        <p:txBody>
          <a:bodyPr vert="horz" lIns="99441" tIns="49721" rIns="99441" bIns="49721" rtlCol="0" anchor="b">
            <a:normAutofit fontScale="90000"/>
          </a:bodyPr>
          <a:lstStyle/>
          <a:p>
            <a:pPr>
              <a:lnSpc>
                <a:spcPct val="80000"/>
              </a:lnSpc>
              <a:defRPr/>
            </a:pPr>
            <a:r>
              <a:rPr lang="ru-RU" altLang="ru-RU" sz="6600" dirty="0"/>
              <a:t>Курс</a:t>
            </a:r>
            <a:br>
              <a:rPr lang="ru-RU" altLang="ru-RU" sz="6600" dirty="0"/>
            </a:br>
            <a:r>
              <a:rPr lang="ru-RU" altLang="ru-RU" sz="6000" dirty="0"/>
              <a:t>Обработка больших данных</a:t>
            </a:r>
          </a:p>
        </p:txBody>
      </p:sp>
      <p:sp>
        <p:nvSpPr>
          <p:cNvPr id="3075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296988" y="2771776"/>
            <a:ext cx="5207000" cy="1820863"/>
          </a:xfrm>
        </p:spPr>
        <p:txBody>
          <a:bodyPr vert="horz" lIns="99441" tIns="49721" rIns="99441" bIns="49721" rtlCol="0">
            <a:normAutofit/>
          </a:bodyPr>
          <a:lstStyle/>
          <a:p>
            <a:pPr>
              <a:defRPr/>
            </a:pPr>
            <a:r>
              <a:rPr lang="ru-RU" altLang="ru-RU" sz="3600" dirty="0"/>
              <a:t>Лекция 4 </a:t>
            </a:r>
            <a:endParaRPr lang="en-US" altLang="ru-RU" sz="3600" dirty="0"/>
          </a:p>
          <a:p>
            <a:pPr>
              <a:defRPr/>
            </a:pPr>
            <a:r>
              <a:rPr lang="ru-RU" altLang="ru-RU" sz="3200" b="1" dirty="0">
                <a:solidFill>
                  <a:srgbClr val="ED8137"/>
                </a:solidFill>
              </a:rPr>
              <a:t>Графика, тестирование гипотез</a:t>
            </a:r>
          </a:p>
        </p:txBody>
      </p:sp>
      <p:sp>
        <p:nvSpPr>
          <p:cNvPr id="5" name="Прямоугольник 1"/>
          <p:cNvSpPr>
            <a:spLocks noChangeArrowheads="1"/>
          </p:cNvSpPr>
          <p:nvPr/>
        </p:nvSpPr>
        <p:spPr bwMode="auto">
          <a:xfrm>
            <a:off x="1195388" y="4562153"/>
            <a:ext cx="5137150" cy="768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uk-UA" altLang="ru-RU" sz="1600" b="1" i="1" dirty="0"/>
              <a:t>Приходько </a:t>
            </a:r>
            <a:r>
              <a:rPr lang="ru-RU" altLang="ru-RU" sz="1600" b="1" i="1" dirty="0"/>
              <a:t>Татьяна</a:t>
            </a:r>
            <a:r>
              <a:rPr lang="uk-UA" altLang="ru-RU" sz="1600" b="1" i="1" dirty="0"/>
              <a:t> </a:t>
            </a:r>
            <a:r>
              <a:rPr lang="ru-RU" altLang="ru-RU" sz="1600" b="1" i="1" dirty="0"/>
              <a:t>Александровна</a:t>
            </a:r>
            <a:endParaRPr lang="ru-RU" altLang="ru-RU" sz="1600" i="1" dirty="0"/>
          </a:p>
          <a:p>
            <a:pPr algn="ctr" eaLnBrk="1" hangingPunct="1"/>
            <a:r>
              <a:rPr lang="ru-RU" altLang="ru-RU" sz="1400" i="1" dirty="0"/>
              <a:t>доцент кафедры </a:t>
            </a:r>
          </a:p>
          <a:p>
            <a:pPr algn="ctr" eaLnBrk="1" hangingPunct="1"/>
            <a:r>
              <a:rPr lang="ru-RU" altLang="ru-RU" sz="1400" i="1" dirty="0"/>
              <a:t>Вычислительных технологий </a:t>
            </a:r>
            <a:r>
              <a:rPr lang="ru-RU" altLang="ru-RU" sz="1400" i="1" dirty="0" err="1"/>
              <a:t>КубГУ</a:t>
            </a:r>
            <a:endParaRPr lang="ru-RU" altLang="ru-RU" sz="1400" i="1" dirty="0"/>
          </a:p>
        </p:txBody>
      </p:sp>
    </p:spTree>
    <p:extLst>
      <p:ext uri="{BB962C8B-B14F-4D97-AF65-F5344CB8AC3E}">
        <p14:creationId xmlns:p14="http://schemas.microsoft.com/office/powerpoint/2010/main" val="827565060"/>
      </p:ext>
    </p:extLst>
  </p:cSld>
  <p:clrMapOvr>
    <a:masterClrMapping/>
  </p:clrMapOvr>
  <p:transition spd="slow" advTm="26269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296" name="Group 8"/>
          <p:cNvGrpSpPr>
            <a:grpSpLocks/>
          </p:cNvGrpSpPr>
          <p:nvPr/>
        </p:nvGrpSpPr>
        <p:grpSpPr bwMode="auto">
          <a:xfrm>
            <a:off x="1437581" y="266798"/>
            <a:ext cx="10597258" cy="6696075"/>
            <a:chOff x="153" y="113"/>
            <a:chExt cx="6168" cy="4218"/>
          </a:xfrm>
        </p:grpSpPr>
        <p:sp>
          <p:nvSpPr>
            <p:cNvPr id="12297" name="AutoShape 4"/>
            <p:cNvSpPr>
              <a:spLocks noChangeArrowheads="1"/>
            </p:cNvSpPr>
            <p:nvPr/>
          </p:nvSpPr>
          <p:spPr bwMode="auto">
            <a:xfrm>
              <a:off x="153" y="113"/>
              <a:ext cx="6168" cy="4218"/>
            </a:xfrm>
            <a:prstGeom prst="roundRect">
              <a:avLst>
                <a:gd name="adj" fmla="val 16667"/>
              </a:avLst>
            </a:prstGeom>
            <a:solidFill>
              <a:schemeClr val="bg1">
                <a:alpha val="50195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99441" tIns="49721" rIns="99441" bIns="49721" anchor="ctr"/>
            <a:lstStyle>
              <a:lvl1pPr defTabSz="993775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993775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993775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993775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993775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9937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9937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9937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9937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ru-RU" altLang="ru-RU" sz="3500">
                <a:solidFill>
                  <a:schemeClr val="bg1"/>
                </a:solidFill>
              </a:endParaRPr>
            </a:p>
          </p:txBody>
        </p:sp>
        <p:sp>
          <p:nvSpPr>
            <p:cNvPr id="12298" name="AutoShape 5"/>
            <p:cNvSpPr>
              <a:spLocks noChangeArrowheads="1"/>
            </p:cNvSpPr>
            <p:nvPr/>
          </p:nvSpPr>
          <p:spPr bwMode="auto">
            <a:xfrm>
              <a:off x="561" y="249"/>
              <a:ext cx="5261" cy="544"/>
            </a:xfrm>
            <a:prstGeom prst="roundRect">
              <a:avLst>
                <a:gd name="adj" fmla="val 16667"/>
              </a:avLst>
            </a:prstGeom>
            <a:solidFill>
              <a:srgbClr val="FFFFFF">
                <a:alpha val="78822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99441" tIns="49721" rIns="99441" bIns="49721" anchor="ctr"/>
            <a:lstStyle>
              <a:lvl1pPr defTabSz="993775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993775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993775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993775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993775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9937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9937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9937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9937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ru-RU" altLang="ru-RU" sz="3500">
                <a:solidFill>
                  <a:schemeClr val="bg1"/>
                </a:solidFill>
              </a:endParaRPr>
            </a:p>
          </p:txBody>
        </p:sp>
        <p:sp>
          <p:nvSpPr>
            <p:cNvPr id="12299" name="AutoShape 6"/>
            <p:cNvSpPr>
              <a:spLocks noChangeArrowheads="1"/>
            </p:cNvSpPr>
            <p:nvPr/>
          </p:nvSpPr>
          <p:spPr bwMode="auto">
            <a:xfrm>
              <a:off x="244" y="929"/>
              <a:ext cx="5941" cy="3311"/>
            </a:xfrm>
            <a:prstGeom prst="roundRect">
              <a:avLst>
                <a:gd name="adj" fmla="val 16667"/>
              </a:avLst>
            </a:prstGeom>
            <a:solidFill>
              <a:srgbClr val="FFFFFF">
                <a:alpha val="78822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99441" tIns="49721" rIns="99441" bIns="49721" anchor="ctr"/>
            <a:lstStyle>
              <a:lvl1pPr defTabSz="993775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993775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993775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993775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993775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9937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9937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9937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9937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ru-RU" altLang="ru-RU" sz="3500">
                <a:solidFill>
                  <a:schemeClr val="bg1"/>
                </a:solidFill>
              </a:endParaRPr>
            </a:p>
          </p:txBody>
        </p:sp>
      </p:grpSp>
      <p:sp>
        <p:nvSpPr>
          <p:cNvPr id="2" name="Заголовок 1"/>
          <p:cNvSpPr>
            <a:spLocks noGrp="1"/>
          </p:cNvSpPr>
          <p:nvPr>
            <p:ph type="title" idx="4294967295"/>
          </p:nvPr>
        </p:nvSpPr>
        <p:spPr bwMode="auto">
          <a:xfrm>
            <a:off x="2085282" y="482600"/>
            <a:ext cx="8358882" cy="687388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9441" tIns="49721" rIns="99441" bIns="49721" rtlCol="0" anchor="ctr">
            <a:normAutofit fontScale="90000"/>
          </a:bodyPr>
          <a:lstStyle/>
          <a:p>
            <a:r>
              <a:rPr lang="ru-RU" altLang="ru-RU" sz="4400" dirty="0"/>
              <a:t>Содержание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4294967295"/>
          </p:nvPr>
        </p:nvSpPr>
        <p:spPr bwMode="auto">
          <a:xfrm>
            <a:off x="2733725" y="1971436"/>
            <a:ext cx="7703394" cy="3751948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9441" tIns="49721" rIns="99441" bIns="49721" rtlCol="0">
            <a:noAutofit/>
          </a:bodyPr>
          <a:lstStyle/>
          <a:p>
            <a:pPr marL="579438" lvl="1" indent="-376238">
              <a:lnSpc>
                <a:spcPct val="75000"/>
              </a:lnSpc>
              <a:buFont typeface="Wingdings" panose="05000000000000000000" pitchFamily="2" charset="2"/>
              <a:buChar char="ü"/>
            </a:pPr>
            <a:endParaRPr lang="ru-RU" altLang="ru-RU" sz="2800" dirty="0"/>
          </a:p>
          <a:p>
            <a:pPr marL="225425" indent="-457200">
              <a:lnSpc>
                <a:spcPct val="75000"/>
              </a:lnSpc>
              <a:buFont typeface="Wingdings" panose="05000000000000000000" pitchFamily="2" charset="2"/>
              <a:buChar char="ü"/>
            </a:pPr>
            <a:r>
              <a:rPr lang="ru-RU" altLang="ru-RU" sz="3200" dirty="0"/>
              <a:t>О пользе гистограммы</a:t>
            </a:r>
          </a:p>
          <a:p>
            <a:pPr lvl="2">
              <a:lnSpc>
                <a:spcPct val="75000"/>
              </a:lnSpc>
              <a:buFont typeface="Wingdings" panose="05000000000000000000" pitchFamily="2" charset="2"/>
              <a:buChar char="ü"/>
            </a:pPr>
            <a:r>
              <a:rPr lang="ru-RU" altLang="ru-RU" sz="2800" dirty="0"/>
              <a:t>Примеры с фотоизображениями</a:t>
            </a:r>
            <a:endParaRPr lang="ru-RU" altLang="ru-RU" sz="2400" b="1" i="1" dirty="0"/>
          </a:p>
          <a:p>
            <a:pPr lvl="2">
              <a:lnSpc>
                <a:spcPct val="75000"/>
              </a:lnSpc>
              <a:buFont typeface="Wingdings" panose="05000000000000000000" pitchFamily="2" charset="2"/>
              <a:buChar char="ü"/>
            </a:pPr>
            <a:r>
              <a:rPr lang="ru-RU" altLang="ru-RU" sz="2800" dirty="0"/>
              <a:t>Контроль качества изделий</a:t>
            </a:r>
          </a:p>
          <a:p>
            <a:pPr>
              <a:lnSpc>
                <a:spcPct val="75000"/>
              </a:lnSpc>
              <a:buFont typeface="Wingdings" panose="05000000000000000000" pitchFamily="2" charset="2"/>
              <a:buChar char="ü"/>
            </a:pPr>
            <a:r>
              <a:rPr lang="ru-RU" altLang="ru-RU" sz="3200" dirty="0"/>
              <a:t>Импорт-Экспорт данных в </a:t>
            </a:r>
            <a:r>
              <a:rPr lang="en-US" altLang="ru-RU" sz="3200" dirty="0"/>
              <a:t>R</a:t>
            </a:r>
            <a:endParaRPr lang="ru-RU" altLang="ru-RU" sz="3200" dirty="0"/>
          </a:p>
          <a:p>
            <a:pPr>
              <a:lnSpc>
                <a:spcPct val="75000"/>
              </a:lnSpc>
              <a:buFont typeface="Wingdings" panose="05000000000000000000" pitchFamily="2" charset="2"/>
              <a:buChar char="ü"/>
            </a:pPr>
            <a:r>
              <a:rPr lang="en-US" altLang="ru-RU" sz="3200" dirty="0"/>
              <a:t>Boxplot</a:t>
            </a:r>
            <a:endParaRPr lang="ru-RU" altLang="ru-RU" sz="3200" dirty="0"/>
          </a:p>
          <a:p>
            <a:pPr>
              <a:lnSpc>
                <a:spcPct val="75000"/>
              </a:lnSpc>
              <a:buFont typeface="Wingdings" panose="05000000000000000000" pitchFamily="2" charset="2"/>
              <a:buChar char="ü"/>
            </a:pPr>
            <a:r>
              <a:rPr lang="ru-RU" altLang="ru-RU" sz="3200" dirty="0"/>
              <a:t>Графический ввод в </a:t>
            </a:r>
            <a:r>
              <a:rPr lang="en-US" altLang="ru-RU" sz="3200" dirty="0"/>
              <a:t>R</a:t>
            </a:r>
            <a:endParaRPr lang="ru-RU" altLang="ru-RU" sz="3200" dirty="0"/>
          </a:p>
          <a:p>
            <a:pPr>
              <a:lnSpc>
                <a:spcPct val="75000"/>
              </a:lnSpc>
              <a:buFont typeface="Wingdings" panose="05000000000000000000" pitchFamily="2" charset="2"/>
              <a:buChar char="ü"/>
            </a:pPr>
            <a:r>
              <a:rPr lang="ru-RU" altLang="ru-RU" sz="3200" dirty="0"/>
              <a:t>Тестирование гипотез</a:t>
            </a:r>
          </a:p>
          <a:p>
            <a:pPr lvl="2">
              <a:lnSpc>
                <a:spcPct val="75000"/>
              </a:lnSpc>
              <a:buFont typeface="Wingdings" panose="05000000000000000000" pitchFamily="2" charset="2"/>
              <a:buChar char="ü"/>
            </a:pPr>
            <a:endParaRPr lang="ru-RU" altLang="ru-RU" sz="2400" dirty="0"/>
          </a:p>
          <a:p>
            <a:pPr marL="1279525" lvl="2" indent="-285750">
              <a:lnSpc>
                <a:spcPct val="75000"/>
              </a:lnSpc>
              <a:buFont typeface="Wingdings" panose="05000000000000000000" pitchFamily="2" charset="2"/>
              <a:buChar char="ü"/>
            </a:pPr>
            <a:endParaRPr lang="ru-RU" altLang="ru-RU" sz="2000" dirty="0"/>
          </a:p>
        </p:txBody>
      </p:sp>
      <p:sp>
        <p:nvSpPr>
          <p:cNvPr id="12294" name="Text Box 6"/>
          <p:cNvSpPr txBox="1">
            <a:spLocks noChangeArrowheads="1"/>
          </p:cNvSpPr>
          <p:nvPr/>
        </p:nvSpPr>
        <p:spPr bwMode="auto">
          <a:xfrm>
            <a:off x="3905252" y="0"/>
            <a:ext cx="5100637" cy="4081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9441" tIns="49721" rIns="99441" bIns="49721">
            <a:spAutoFit/>
          </a:bodyPr>
          <a:lstStyle>
            <a:lvl1pPr defTabSz="99377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96888" defTabSz="99377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93775" defTabSz="99377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492250" defTabSz="99377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89138" defTabSz="99377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46338" defTabSz="9937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03538" defTabSz="9937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60738" defTabSz="9937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17938" defTabSz="9937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ru-RU" altLang="ru-RU" b="1" dirty="0">
                <a:solidFill>
                  <a:schemeClr val="bg1"/>
                </a:solidFill>
                <a:latin typeface="Courier New" panose="02070309020205020404" pitchFamily="49" charset="0"/>
              </a:rPr>
              <a:t>Обработка больших данных. </a:t>
            </a:r>
            <a:r>
              <a:rPr lang="ru-RU" altLang="ru-RU" b="1" dirty="0">
                <a:solidFill>
                  <a:schemeClr val="bg1"/>
                </a:solidFill>
                <a:latin typeface="Times New Roman" panose="02020603050405020304" pitchFamily="18" charset="0"/>
              </a:rPr>
              <a:t>Л</a:t>
            </a:r>
            <a:r>
              <a:rPr lang="en-US" altLang="ru-RU" b="1" dirty="0">
                <a:solidFill>
                  <a:schemeClr val="bg1"/>
                </a:solidFill>
                <a:latin typeface="Times New Roman" panose="02020603050405020304" pitchFamily="18" charset="0"/>
              </a:rPr>
              <a:t>4</a:t>
            </a:r>
            <a:endParaRPr lang="ru-RU" altLang="ru-RU" b="1" dirty="0">
              <a:solidFill>
                <a:schemeClr val="bg1"/>
              </a:solidFill>
              <a:latin typeface="Times New Roman" panose="02020603050405020304" pitchFamily="18" charset="0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2B6C0E-C4B9-4094-8E59-5B7DF00D5415}" type="slidenum">
              <a:rPr lang="ru-RU" smtClean="0"/>
              <a:t>2</a:t>
            </a:fld>
            <a:endParaRPr lang="ru-RU"/>
          </a:p>
        </p:txBody>
      </p:sp>
    </p:spTree>
  </p:cSld>
  <p:clrMapOvr>
    <a:masterClrMapping/>
  </p:clrMapOvr>
  <p:transition spd="slow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ctrTitle" idx="4294967295"/>
          </p:nvPr>
        </p:nvSpPr>
        <p:spPr bwMode="auto">
          <a:xfrm>
            <a:off x="2589709" y="1690937"/>
            <a:ext cx="7623696" cy="2017663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/>
          <a:p>
            <a:pPr>
              <a:lnSpc>
                <a:spcPct val="80000"/>
              </a:lnSpc>
            </a:pPr>
            <a:r>
              <a:rPr lang="ru-RU" altLang="ru-RU" sz="6600" b="1" dirty="0"/>
              <a:t>О пользе гистограмм</a:t>
            </a:r>
            <a:endParaRPr lang="ru-RU" altLang="ru-RU" sz="6600" dirty="0"/>
          </a:p>
        </p:txBody>
      </p:sp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2B6C0E-C4B9-4094-8E59-5B7DF00D5415}" type="slidenum">
              <a:rPr lang="ru-RU" smtClean="0"/>
              <a:t>3</a:t>
            </a:fld>
            <a:endParaRPr lang="ru-RU"/>
          </a:p>
        </p:txBody>
      </p:sp>
    </p:spTree>
  </p:cSld>
  <p:clrMapOvr>
    <a:masterClrMapping/>
  </p:clrMapOvr>
  <p:transition spd="slow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AutoShape 2"/>
          <p:cNvSpPr>
            <a:spLocks noChangeArrowheads="1"/>
          </p:cNvSpPr>
          <p:nvPr/>
        </p:nvSpPr>
        <p:spPr bwMode="auto">
          <a:xfrm>
            <a:off x="1" y="322263"/>
            <a:ext cx="12310788" cy="6553249"/>
          </a:xfrm>
          <a:prstGeom prst="roundRect">
            <a:avLst>
              <a:gd name="adj" fmla="val 16667"/>
            </a:avLst>
          </a:prstGeom>
          <a:solidFill>
            <a:schemeClr val="bg1">
              <a:alpha val="50000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9441" tIns="49721" rIns="99441" bIns="49721" anchor="ctr"/>
          <a:lstStyle>
            <a:lvl1pPr defTabSz="99377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1177925" defTabSz="99377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373188" defTabSz="99377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66863" defTabSz="99377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89138" defTabSz="99377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46338" defTabSz="9937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03538" defTabSz="9937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60738" defTabSz="9937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17938" defTabSz="9937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ru-RU" altLang="ru-RU" sz="3500">
              <a:solidFill>
                <a:schemeClr val="bg1"/>
              </a:solidFill>
            </a:endParaRPr>
          </a:p>
        </p:txBody>
      </p:sp>
      <p:sp>
        <p:nvSpPr>
          <p:cNvPr id="7" name="Скругленный прямоугольник 6"/>
          <p:cNvSpPr/>
          <p:nvPr/>
        </p:nvSpPr>
        <p:spPr bwMode="auto">
          <a:xfrm>
            <a:off x="377147" y="1296626"/>
            <a:ext cx="11587395" cy="5397702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  <a:headEnd type="none" w="med" len="med"/>
            <a:tailEnd type="none" w="med" len="med"/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defTabSz="993775"/>
            <a:endParaRPr lang="ru-RU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AutoShape 5"/>
          <p:cNvSpPr>
            <a:spLocks noChangeArrowheads="1"/>
          </p:cNvSpPr>
          <p:nvPr/>
        </p:nvSpPr>
        <p:spPr bwMode="auto">
          <a:xfrm>
            <a:off x="2154116" y="361782"/>
            <a:ext cx="8351837" cy="849178"/>
          </a:xfrm>
          <a:prstGeom prst="roundRect">
            <a:avLst>
              <a:gd name="adj" fmla="val 34319"/>
            </a:avLst>
          </a:prstGeom>
          <a:solidFill>
            <a:srgbClr val="FFFFFF">
              <a:alpha val="78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9441" tIns="49721" rIns="99441" bIns="49721" anchor="ctr"/>
          <a:lstStyle>
            <a:lvl1pPr defTabSz="99377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1177925" defTabSz="99377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373188" defTabSz="99377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66863" defTabSz="99377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89138" defTabSz="99377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46338" defTabSz="9937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03538" defTabSz="9937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60738" defTabSz="9937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17938" defTabSz="9937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ru-RU" altLang="ru-RU" sz="3500">
              <a:solidFill>
                <a:schemeClr val="bg1"/>
              </a:solidFill>
            </a:endParaRPr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989070" y="407928"/>
            <a:ext cx="8700009" cy="763512"/>
          </a:xfrm>
        </p:spPr>
        <p:txBody>
          <a:bodyPr/>
          <a:lstStyle/>
          <a:p>
            <a:pPr>
              <a:defRPr/>
            </a:pPr>
            <a:r>
              <a:rPr lang="ru-RU" sz="4000" dirty="0"/>
              <a:t>Гистограммы</a:t>
            </a:r>
          </a:p>
        </p:txBody>
      </p:sp>
      <p:sp>
        <p:nvSpPr>
          <p:cNvPr id="3" name="Прямоугольник 2"/>
          <p:cNvSpPr/>
          <p:nvPr/>
        </p:nvSpPr>
        <p:spPr>
          <a:xfrm>
            <a:off x="1149549" y="1618928"/>
            <a:ext cx="10441160" cy="14465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200" b="1" dirty="0">
                <a:hlinkClick r:id="rId2"/>
              </a:rPr>
              <a:t>Гистограмма</a:t>
            </a:r>
            <a:r>
              <a:rPr lang="ru-RU" sz="2200" dirty="0"/>
              <a:t> — (</a:t>
            </a:r>
            <a:r>
              <a:rPr lang="ru-RU" sz="2200" dirty="0" err="1"/>
              <a:t>histogram</a:t>
            </a:r>
            <a:r>
              <a:rPr lang="ru-RU" sz="2200" dirty="0"/>
              <a:t>) График распределения частот, который строится при помощи прямоугольников, чья площадь пропорциональна частоте нахождения данной величины в интервале, на котором построен данный прямоугольник.</a:t>
            </a: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17902" y="3211490"/>
            <a:ext cx="3476625" cy="3362325"/>
          </a:xfrm>
          <a:prstGeom prst="rect">
            <a:avLst/>
          </a:prstGeom>
        </p:spPr>
      </p:pic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2B6C0E-C4B9-4094-8E59-5B7DF00D5415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770407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AutoShape 2"/>
          <p:cNvSpPr>
            <a:spLocks noChangeArrowheads="1"/>
          </p:cNvSpPr>
          <p:nvPr/>
        </p:nvSpPr>
        <p:spPr bwMode="auto">
          <a:xfrm>
            <a:off x="-146595" y="322263"/>
            <a:ext cx="12181433" cy="6553249"/>
          </a:xfrm>
          <a:prstGeom prst="roundRect">
            <a:avLst>
              <a:gd name="adj" fmla="val 16667"/>
            </a:avLst>
          </a:prstGeom>
          <a:solidFill>
            <a:schemeClr val="bg1">
              <a:alpha val="50000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9441" tIns="49721" rIns="99441" bIns="49721" anchor="ctr"/>
          <a:lstStyle>
            <a:lvl1pPr defTabSz="99377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1177925" defTabSz="99377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373188" defTabSz="99377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66863" defTabSz="99377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89138" defTabSz="99377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46338" defTabSz="9937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03538" defTabSz="9937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60738" defTabSz="9937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17938" defTabSz="9937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ru-RU" altLang="ru-RU" sz="3500">
              <a:solidFill>
                <a:schemeClr val="bg1"/>
              </a:solidFill>
            </a:endParaRPr>
          </a:p>
        </p:txBody>
      </p:sp>
      <p:sp>
        <p:nvSpPr>
          <p:cNvPr id="7" name="Скругленный прямоугольник 6"/>
          <p:cNvSpPr/>
          <p:nvPr/>
        </p:nvSpPr>
        <p:spPr bwMode="auto">
          <a:xfrm>
            <a:off x="239166" y="1296626"/>
            <a:ext cx="11465642" cy="5397702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headEnd type="none" w="med" len="med"/>
            <a:tailEnd type="none" w="med" len="med"/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defTabSz="993775"/>
            <a:endParaRPr lang="ru-RU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AutoShape 5"/>
          <p:cNvSpPr>
            <a:spLocks noChangeArrowheads="1"/>
          </p:cNvSpPr>
          <p:nvPr/>
        </p:nvSpPr>
        <p:spPr bwMode="auto">
          <a:xfrm>
            <a:off x="2154116" y="361782"/>
            <a:ext cx="8351837" cy="849178"/>
          </a:xfrm>
          <a:prstGeom prst="roundRect">
            <a:avLst>
              <a:gd name="adj" fmla="val 34319"/>
            </a:avLst>
          </a:prstGeom>
          <a:solidFill>
            <a:srgbClr val="FFFFFF">
              <a:alpha val="78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9441" tIns="49721" rIns="99441" bIns="49721" anchor="ctr"/>
          <a:lstStyle>
            <a:lvl1pPr defTabSz="99377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1177925" defTabSz="99377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373188" defTabSz="99377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66863" defTabSz="99377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89138" defTabSz="99377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46338" defTabSz="9937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03538" defTabSz="9937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60738" defTabSz="9937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17938" defTabSz="9937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ru-RU" altLang="ru-RU" sz="3500">
              <a:solidFill>
                <a:schemeClr val="bg1"/>
              </a:solidFill>
            </a:endParaRPr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989070" y="407928"/>
            <a:ext cx="8700009" cy="763512"/>
          </a:xfrm>
        </p:spPr>
        <p:txBody>
          <a:bodyPr/>
          <a:lstStyle/>
          <a:p>
            <a:pPr>
              <a:defRPr/>
            </a:pPr>
            <a:r>
              <a:rPr lang="ru-RU" sz="4000" dirty="0"/>
              <a:t>Гистограммы</a:t>
            </a:r>
          </a:p>
        </p:txBody>
      </p:sp>
      <p:sp>
        <p:nvSpPr>
          <p:cNvPr id="4" name="Прямоугольник 3"/>
          <p:cNvSpPr/>
          <p:nvPr/>
        </p:nvSpPr>
        <p:spPr>
          <a:xfrm>
            <a:off x="963442" y="1748708"/>
            <a:ext cx="10483251" cy="38164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200" b="1" i="1" dirty="0"/>
              <a:t>Сильные стороны гистограммы</a:t>
            </a:r>
            <a:r>
              <a:rPr lang="ru-RU" sz="2200" dirty="0"/>
              <a:t>, как инструмента контроля качества, заключаются в ее наглядности, простоте, возможности быстро представить вид распределения большого числа данных. Также гистограмма показывает взаимосвязь изменения контролируемых параметров по отношению к инженерным спецификациям. </a:t>
            </a:r>
          </a:p>
          <a:p>
            <a:endParaRPr lang="ru-RU" sz="2200" dirty="0"/>
          </a:p>
          <a:p>
            <a:r>
              <a:rPr lang="ru-RU" sz="2200" b="1" i="1" dirty="0"/>
              <a:t>К недостаткам </a:t>
            </a:r>
            <a:r>
              <a:rPr lang="ru-RU" sz="2200" dirty="0"/>
              <a:t>можно отнести – отсутствие возможности количественно оценить стабильность процесса, отсутствие привязки ко времени, необходимость большого числа данных для точной оценки структуры распределения, возможность различного толкования результатов, некоторая субъективность в представлении формы распределения.</a:t>
            </a:r>
          </a:p>
        </p:txBody>
      </p:sp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2B6C0E-C4B9-4094-8E59-5B7DF00D5415}" type="slidenum">
              <a:rPr lang="ru-RU" smtClean="0"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748503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AutoShape 2"/>
          <p:cNvSpPr>
            <a:spLocks noChangeArrowheads="1"/>
          </p:cNvSpPr>
          <p:nvPr/>
        </p:nvSpPr>
        <p:spPr bwMode="auto">
          <a:xfrm>
            <a:off x="1438275" y="322263"/>
            <a:ext cx="10728497" cy="6662161"/>
          </a:xfrm>
          <a:prstGeom prst="roundRect">
            <a:avLst>
              <a:gd name="adj" fmla="val 16667"/>
            </a:avLst>
          </a:prstGeom>
          <a:solidFill>
            <a:schemeClr val="bg1">
              <a:alpha val="50000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9441" tIns="49721" rIns="99441" bIns="49721" anchor="ctr"/>
          <a:lstStyle>
            <a:lvl1pPr defTabSz="99377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1177925" defTabSz="99377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373188" defTabSz="99377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66863" defTabSz="99377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89138" defTabSz="99377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46338" defTabSz="9937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03538" defTabSz="9937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60738" defTabSz="9937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17938" defTabSz="9937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ru-RU" altLang="ru-RU" sz="3500">
              <a:solidFill>
                <a:schemeClr val="bg1"/>
              </a:solidFill>
            </a:endParaRPr>
          </a:p>
        </p:txBody>
      </p:sp>
      <p:sp>
        <p:nvSpPr>
          <p:cNvPr id="7" name="Скругленный прямоугольник 6"/>
          <p:cNvSpPr/>
          <p:nvPr/>
        </p:nvSpPr>
        <p:spPr bwMode="auto">
          <a:xfrm>
            <a:off x="1726308" y="1296627"/>
            <a:ext cx="9216331" cy="5397702"/>
          </a:xfrm>
          <a:prstGeom prst="roundRect">
            <a:avLst/>
          </a:prstGeom>
          <a:noFill/>
          <a:ln>
            <a:noFill/>
            <a:headEnd type="none" w="med" len="med"/>
            <a:tailEnd type="none" w="med" len="med"/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defTabSz="993775"/>
            <a:endParaRPr lang="ru-RU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AutoShape 5"/>
          <p:cNvSpPr>
            <a:spLocks noChangeArrowheads="1"/>
          </p:cNvSpPr>
          <p:nvPr/>
        </p:nvSpPr>
        <p:spPr bwMode="auto">
          <a:xfrm>
            <a:off x="2154116" y="361782"/>
            <a:ext cx="8351837" cy="849178"/>
          </a:xfrm>
          <a:prstGeom prst="roundRect">
            <a:avLst>
              <a:gd name="adj" fmla="val 34319"/>
            </a:avLst>
          </a:prstGeom>
          <a:solidFill>
            <a:srgbClr val="FFFFFF">
              <a:alpha val="78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9441" tIns="49721" rIns="99441" bIns="49721" anchor="ctr"/>
          <a:lstStyle>
            <a:lvl1pPr defTabSz="99377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1177925" defTabSz="99377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373188" defTabSz="99377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66863" defTabSz="99377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89138" defTabSz="99377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46338" defTabSz="9937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03538" defTabSz="9937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60738" defTabSz="9937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17938" defTabSz="9937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ru-RU" altLang="ru-RU" sz="3500">
              <a:solidFill>
                <a:schemeClr val="bg1"/>
              </a:solidFill>
            </a:endParaRPr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989070" y="407928"/>
            <a:ext cx="8700009" cy="763512"/>
          </a:xfrm>
        </p:spPr>
        <p:txBody>
          <a:bodyPr/>
          <a:lstStyle/>
          <a:p>
            <a:pPr>
              <a:defRPr/>
            </a:pPr>
            <a:r>
              <a:rPr lang="ru-RU" sz="4000" dirty="0"/>
              <a:t>Гистограммы</a:t>
            </a:r>
          </a:p>
        </p:txBody>
      </p:sp>
      <p:sp>
        <p:nvSpPr>
          <p:cNvPr id="4" name="Прямоугольник 3"/>
          <p:cNvSpPr/>
          <p:nvPr/>
        </p:nvSpPr>
        <p:spPr>
          <a:xfrm>
            <a:off x="1052272" y="1366311"/>
            <a:ext cx="10728497" cy="44935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200" dirty="0">
                <a:solidFill>
                  <a:srgbClr val="000000"/>
                </a:solidFill>
                <a:latin typeface="Times New Roman" panose="02020603050405020304" pitchFamily="18" charset="0"/>
              </a:rPr>
              <a:t>Анализ гистограммы яркости стал привычным делом во время </a:t>
            </a:r>
            <a:r>
              <a:rPr lang="ru-RU" sz="2200" i="1" dirty="0">
                <a:solidFill>
                  <a:srgbClr val="000000"/>
                </a:solidFill>
                <a:latin typeface="Times New Roman" panose="02020603050405020304" pitchFamily="18" charset="0"/>
              </a:rPr>
              <a:t>редактирования фотографий в графическом редакторе.</a:t>
            </a:r>
            <a:r>
              <a:rPr lang="ru-RU" sz="2200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ru-RU" sz="2200" i="1" dirty="0">
                <a:solidFill>
                  <a:srgbClr val="000000"/>
                </a:solidFill>
                <a:latin typeface="Times New Roman" panose="02020603050405020304" pitchFamily="18" charset="0"/>
              </a:rPr>
              <a:t>Гистограмма яркости, которую для краткости обычно называют просто "гистограмма", помогает оценить общее качество фотографии на основе математической интерпретации тонального диапазона изображения в виде специальной диаграммы.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200" dirty="0">
                <a:solidFill>
                  <a:srgbClr val="000000"/>
                </a:solidFill>
                <a:latin typeface="Times New Roman" panose="02020603050405020304" pitchFamily="18" charset="0"/>
              </a:rPr>
              <a:t>Гистограмма яркости изображения - столбчатая диаграмма, отображающая количество пикселей изображения (по вертикали), имеющих заданный уровень яркости (по горизонтали).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200" dirty="0">
                <a:solidFill>
                  <a:srgbClr val="000000"/>
                </a:solidFill>
                <a:latin typeface="Times New Roman" panose="02020603050405020304" pitchFamily="18" charset="0"/>
              </a:rPr>
              <a:t>Т. е. гистограмма яркости представляет собой график, который показывает, какие оттенки присутствуют в изображении. Диапазон оттенков изображения представлен в виде последовательности вертикальных линий, расположенных слева направо от самого темного до самого светлого. Высота каждой линии показывает, сколько в изображении пикселей соответствующего оттенка.</a:t>
            </a:r>
            <a:endParaRPr lang="ru-RU" sz="2200" dirty="0"/>
          </a:p>
        </p:txBody>
      </p:sp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2B6C0E-C4B9-4094-8E59-5B7DF00D5415}" type="slidenum">
              <a:rPr lang="ru-RU" smtClean="0"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990866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AutoShape 2"/>
          <p:cNvSpPr>
            <a:spLocks noChangeArrowheads="1"/>
          </p:cNvSpPr>
          <p:nvPr/>
        </p:nvSpPr>
        <p:spPr bwMode="auto">
          <a:xfrm>
            <a:off x="789509" y="322263"/>
            <a:ext cx="11377263" cy="6553249"/>
          </a:xfrm>
          <a:prstGeom prst="roundRect">
            <a:avLst>
              <a:gd name="adj" fmla="val 16667"/>
            </a:avLst>
          </a:prstGeom>
          <a:solidFill>
            <a:schemeClr val="bg1">
              <a:alpha val="50000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9441" tIns="49721" rIns="99441" bIns="49721" anchor="ctr"/>
          <a:lstStyle>
            <a:lvl1pPr defTabSz="99377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1177925" defTabSz="99377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373188" defTabSz="99377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66863" defTabSz="99377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89138" defTabSz="99377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46338" defTabSz="9937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03538" defTabSz="9937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60738" defTabSz="9937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17938" defTabSz="9937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ru-RU" altLang="ru-RU" sz="3500">
              <a:solidFill>
                <a:schemeClr val="bg1"/>
              </a:solidFill>
            </a:endParaRPr>
          </a:p>
        </p:txBody>
      </p:sp>
      <p:sp>
        <p:nvSpPr>
          <p:cNvPr id="8" name="AutoShape 5"/>
          <p:cNvSpPr>
            <a:spLocks noChangeArrowheads="1"/>
          </p:cNvSpPr>
          <p:nvPr/>
        </p:nvSpPr>
        <p:spPr bwMode="auto">
          <a:xfrm>
            <a:off x="2154116" y="361782"/>
            <a:ext cx="8351837" cy="849178"/>
          </a:xfrm>
          <a:prstGeom prst="roundRect">
            <a:avLst>
              <a:gd name="adj" fmla="val 34319"/>
            </a:avLst>
          </a:prstGeom>
          <a:solidFill>
            <a:srgbClr val="FFFFFF">
              <a:alpha val="78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9441" tIns="49721" rIns="99441" bIns="49721" anchor="ctr"/>
          <a:lstStyle>
            <a:lvl1pPr defTabSz="99377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1177925" defTabSz="99377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373188" defTabSz="99377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66863" defTabSz="99377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89138" defTabSz="99377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46338" defTabSz="9937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03538" defTabSz="9937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60738" defTabSz="9937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17938" defTabSz="9937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ru-RU" altLang="ru-RU" sz="3500">
              <a:solidFill>
                <a:schemeClr val="bg1"/>
              </a:solidFill>
            </a:endParaRPr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989070" y="407928"/>
            <a:ext cx="8700009" cy="763512"/>
          </a:xfrm>
        </p:spPr>
        <p:txBody>
          <a:bodyPr/>
          <a:lstStyle/>
          <a:p>
            <a:pPr>
              <a:defRPr/>
            </a:pPr>
            <a:r>
              <a:rPr lang="ru-RU" sz="4000" dirty="0"/>
              <a:t>Гистограммы</a:t>
            </a:r>
          </a:p>
        </p:txBody>
      </p:sp>
      <p:sp>
        <p:nvSpPr>
          <p:cNvPr id="4" name="Прямоугольник 3"/>
          <p:cNvSpPr/>
          <p:nvPr/>
        </p:nvSpPr>
        <p:spPr>
          <a:xfrm>
            <a:off x="1005533" y="1906961"/>
            <a:ext cx="10585176" cy="3139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360363"/>
            <a:r>
              <a:rPr lang="ru-RU" sz="2200" dirty="0"/>
              <a:t>Гистограмма является вспомогательной функцией для оценки качества фотографии.</a:t>
            </a:r>
          </a:p>
          <a:p>
            <a:pPr indent="360363"/>
            <a:r>
              <a:rPr lang="ru-RU" sz="2200" dirty="0"/>
              <a:t>Слева на графике отображаются темные участки снимка - тени. Справа - светлые участки. Если подъемы расположены примерно симметрично, ближе к центру гистограммы, то изображение хорошо сбалансировано. Если подъемы смещены влево или вправо относительно центра, то это является показателем того, что изображение, соответственно, слишком темное или светлое. В таком случае нужно в меню </a:t>
            </a:r>
            <a:r>
              <a:rPr lang="ru-RU" sz="2200" dirty="0" err="1"/>
              <a:t>Levels</a:t>
            </a:r>
            <a:r>
              <a:rPr lang="ru-RU" sz="2200" dirty="0"/>
              <a:t> редактора </a:t>
            </a:r>
            <a:r>
              <a:rPr lang="ru-RU" sz="2200" dirty="0" err="1"/>
              <a:t>Photoshop</a:t>
            </a:r>
            <a:r>
              <a:rPr lang="ru-RU" sz="2200" dirty="0"/>
              <a:t> переустановить конечную точку для черного или белого цвета (фото 1 и 2).</a:t>
            </a:r>
          </a:p>
        </p:txBody>
      </p:sp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2B6C0E-C4B9-4094-8E59-5B7DF00D5415}" type="slidenum">
              <a:rPr lang="ru-RU" smtClean="0"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351503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AutoShape 2"/>
          <p:cNvSpPr>
            <a:spLocks noChangeArrowheads="1"/>
          </p:cNvSpPr>
          <p:nvPr/>
        </p:nvSpPr>
        <p:spPr bwMode="auto">
          <a:xfrm>
            <a:off x="1438275" y="322263"/>
            <a:ext cx="10800505" cy="6553249"/>
          </a:xfrm>
          <a:prstGeom prst="roundRect">
            <a:avLst>
              <a:gd name="adj" fmla="val 16667"/>
            </a:avLst>
          </a:prstGeom>
          <a:solidFill>
            <a:schemeClr val="bg1">
              <a:alpha val="50000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9441" tIns="49721" rIns="99441" bIns="49721" anchor="ctr"/>
          <a:lstStyle>
            <a:lvl1pPr defTabSz="99377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1177925" defTabSz="99377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373188" defTabSz="99377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66863" defTabSz="99377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89138" defTabSz="99377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46338" defTabSz="9937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03538" defTabSz="9937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60738" defTabSz="9937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17938" defTabSz="9937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ru-RU" altLang="ru-RU" sz="3500">
              <a:solidFill>
                <a:schemeClr val="bg1"/>
              </a:solidFill>
            </a:endParaRPr>
          </a:p>
        </p:txBody>
      </p:sp>
      <p:sp>
        <p:nvSpPr>
          <p:cNvPr id="7" name="Скругленный прямоугольник 6"/>
          <p:cNvSpPr/>
          <p:nvPr/>
        </p:nvSpPr>
        <p:spPr bwMode="auto">
          <a:xfrm>
            <a:off x="1726308" y="1296627"/>
            <a:ext cx="9216331" cy="5397702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headEnd type="none" w="med" len="med"/>
            <a:tailEnd type="none" w="med" len="med"/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defTabSz="993775"/>
            <a:endParaRPr lang="ru-RU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AutoShape 5"/>
          <p:cNvSpPr>
            <a:spLocks noChangeArrowheads="1"/>
          </p:cNvSpPr>
          <p:nvPr/>
        </p:nvSpPr>
        <p:spPr bwMode="auto">
          <a:xfrm>
            <a:off x="2154116" y="361782"/>
            <a:ext cx="8351837" cy="849178"/>
          </a:xfrm>
          <a:prstGeom prst="roundRect">
            <a:avLst>
              <a:gd name="adj" fmla="val 34319"/>
            </a:avLst>
          </a:prstGeom>
          <a:solidFill>
            <a:srgbClr val="FFFFFF">
              <a:alpha val="78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9441" tIns="49721" rIns="99441" bIns="49721" anchor="ctr"/>
          <a:lstStyle>
            <a:lvl1pPr defTabSz="99377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1177925" defTabSz="99377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373188" defTabSz="99377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66863" defTabSz="99377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89138" defTabSz="99377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46338" defTabSz="9937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03538" defTabSz="9937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60738" defTabSz="9937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17938" defTabSz="9937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ru-RU" altLang="ru-RU" sz="3500">
              <a:solidFill>
                <a:schemeClr val="bg1"/>
              </a:solidFill>
            </a:endParaRPr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989070" y="407928"/>
            <a:ext cx="8700009" cy="763512"/>
          </a:xfrm>
        </p:spPr>
        <p:txBody>
          <a:bodyPr/>
          <a:lstStyle/>
          <a:p>
            <a:pPr>
              <a:defRPr/>
            </a:pPr>
            <a:r>
              <a:rPr lang="ru-RU" sz="4000" dirty="0"/>
              <a:t>Гистограммы</a:t>
            </a:r>
          </a:p>
        </p:txBody>
      </p:sp>
      <p:pic>
        <p:nvPicPr>
          <p:cNvPr id="2051" name="Picture 3" descr="http://www.kv.by/data/digphoto/2003/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93920" y="4425837"/>
            <a:ext cx="1428750" cy="1000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http://www.kv.by/data/digphoto/2003/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45909" y="1693886"/>
            <a:ext cx="3969692" cy="26464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3" name="Picture 5" descr="http://www.kv.by/data/digphoto/2003/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39786" y="4425837"/>
            <a:ext cx="1428750" cy="1000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 descr="http://www.kv.by/data/digphoto/2003/.jp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54115" y="1693885"/>
            <a:ext cx="3963986" cy="26426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2010457" y="5425962"/>
            <a:ext cx="4395676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93775"/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</a:rPr>
              <a:t>Фото 1. Подъем на гистограмме смещен влево, то есть фотография затемнена. Возможно, это связано с недодержкой при съемке.</a:t>
            </a:r>
            <a:endParaRPr lang="ru-RU" dirty="0"/>
          </a:p>
        </p:txBody>
      </p:sp>
      <p:sp>
        <p:nvSpPr>
          <p:cNvPr id="9" name="Прямоугольник 8"/>
          <p:cNvSpPr/>
          <p:nvPr/>
        </p:nvSpPr>
        <p:spPr>
          <a:xfrm>
            <a:off x="6419244" y="5314712"/>
            <a:ext cx="4269834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</a:rPr>
              <a:t>Фото 2. </a:t>
            </a:r>
            <a:endParaRPr lang="ru-RU" dirty="0"/>
          </a:p>
          <a:p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</a:rPr>
              <a:t>После смещения конечной точки гистограмма "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отцентрировалась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</a:rPr>
              <a:t>", и изображение стало реалистичнее.</a:t>
            </a:r>
            <a:endParaRPr lang="ru-RU" dirty="0"/>
          </a:p>
        </p:txBody>
      </p:sp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>
          <a:xfrm>
            <a:off x="11226787" y="6605015"/>
            <a:ext cx="808051" cy="379409"/>
          </a:xfrm>
        </p:spPr>
        <p:txBody>
          <a:bodyPr/>
          <a:lstStyle/>
          <a:p>
            <a:fld id="{952B6C0E-C4B9-4094-8E59-5B7DF00D5415}" type="slidenum">
              <a:rPr lang="ru-RU" smtClean="0">
                <a:solidFill>
                  <a:schemeClr val="tx1"/>
                </a:solidFill>
              </a:rPr>
              <a:t>8</a:t>
            </a:fld>
            <a:endParaRPr lang="ru-RU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885057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AutoShape 2"/>
          <p:cNvSpPr>
            <a:spLocks noChangeArrowheads="1"/>
          </p:cNvSpPr>
          <p:nvPr/>
        </p:nvSpPr>
        <p:spPr bwMode="auto">
          <a:xfrm>
            <a:off x="1438275" y="322263"/>
            <a:ext cx="10944522" cy="6553249"/>
          </a:xfrm>
          <a:prstGeom prst="roundRect">
            <a:avLst>
              <a:gd name="adj" fmla="val 16667"/>
            </a:avLst>
          </a:prstGeom>
          <a:solidFill>
            <a:schemeClr val="bg1">
              <a:alpha val="50000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9441" tIns="49721" rIns="99441" bIns="49721" anchor="ctr"/>
          <a:lstStyle>
            <a:lvl1pPr defTabSz="99377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1177925" defTabSz="99377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373188" defTabSz="99377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66863" defTabSz="99377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89138" defTabSz="99377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46338" defTabSz="9937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03538" defTabSz="9937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60738" defTabSz="9937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17938" defTabSz="9937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ru-RU" altLang="ru-RU" sz="3500">
              <a:solidFill>
                <a:schemeClr val="bg1"/>
              </a:solidFill>
            </a:endParaRPr>
          </a:p>
        </p:txBody>
      </p:sp>
      <p:sp>
        <p:nvSpPr>
          <p:cNvPr id="7" name="Скругленный прямоугольник 6"/>
          <p:cNvSpPr/>
          <p:nvPr/>
        </p:nvSpPr>
        <p:spPr bwMode="auto">
          <a:xfrm>
            <a:off x="1726306" y="1230144"/>
            <a:ext cx="10440467" cy="5397702"/>
          </a:xfrm>
          <a:prstGeom prst="roundRect">
            <a:avLst/>
          </a:prstGeom>
          <a:solidFill>
            <a:schemeClr val="bg1">
              <a:alpha val="50000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9441" tIns="49721" rIns="99441" bIns="49721" anchor="ctr"/>
          <a:lstStyle/>
          <a:p>
            <a:pPr defTabSz="993775"/>
            <a:endParaRPr lang="ru-RU" sz="3500">
              <a:solidFill>
                <a:schemeClr val="bg1"/>
              </a:solidFill>
            </a:endParaRPr>
          </a:p>
        </p:txBody>
      </p:sp>
      <p:sp>
        <p:nvSpPr>
          <p:cNvPr id="8" name="AutoShape 5"/>
          <p:cNvSpPr>
            <a:spLocks noChangeArrowheads="1"/>
          </p:cNvSpPr>
          <p:nvPr/>
        </p:nvSpPr>
        <p:spPr bwMode="auto">
          <a:xfrm>
            <a:off x="2154116" y="361782"/>
            <a:ext cx="8351837" cy="849178"/>
          </a:xfrm>
          <a:prstGeom prst="roundRect">
            <a:avLst>
              <a:gd name="adj" fmla="val 34319"/>
            </a:avLst>
          </a:prstGeom>
          <a:solidFill>
            <a:srgbClr val="FFFFFF">
              <a:alpha val="78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9441" tIns="49721" rIns="99441" bIns="49721" anchor="ctr"/>
          <a:lstStyle>
            <a:lvl1pPr defTabSz="99377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1177925" defTabSz="99377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373188" defTabSz="99377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66863" defTabSz="99377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89138" defTabSz="99377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46338" defTabSz="9937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03538" defTabSz="9937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60738" defTabSz="9937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17938" defTabSz="9937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ru-RU" altLang="ru-RU" sz="3500">
              <a:solidFill>
                <a:schemeClr val="bg1"/>
              </a:solidFill>
            </a:endParaRPr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989070" y="407928"/>
            <a:ext cx="8700009" cy="763512"/>
          </a:xfrm>
        </p:spPr>
        <p:txBody>
          <a:bodyPr/>
          <a:lstStyle/>
          <a:p>
            <a:pPr>
              <a:defRPr/>
            </a:pPr>
            <a:r>
              <a:rPr lang="ru-RU" sz="4000" dirty="0"/>
              <a:t>Гистограммы</a:t>
            </a:r>
          </a:p>
        </p:txBody>
      </p:sp>
      <p:sp>
        <p:nvSpPr>
          <p:cNvPr id="4" name="Прямоугольник 3"/>
          <p:cNvSpPr/>
          <p:nvPr/>
        </p:nvSpPr>
        <p:spPr>
          <a:xfrm>
            <a:off x="1365573" y="1474912"/>
            <a:ext cx="10669266" cy="178510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200" dirty="0"/>
              <a:t>Конечно, "слишком темное" или "слишком светлое" изображение не обязательно является свидетельством брака, а может быть вызвано объективными условиями композиции, объектом съемки. Например, гистограмма зимнего пейзажа объективно не может иметь подъемы, сгруппированные в центральной части (фото 3).</a:t>
            </a:r>
          </a:p>
        </p:txBody>
      </p:sp>
      <p:pic>
        <p:nvPicPr>
          <p:cNvPr id="20483" name="Picture 3" descr="http://www.kv.by/data/digphoto/2003/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98221" y="3372548"/>
            <a:ext cx="2160240" cy="15121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482" name="Picture 2" descr="http://www.kv.by/data/digphoto/2003/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89805" y="3342548"/>
            <a:ext cx="4000304" cy="26935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Прямоугольник 4"/>
          <p:cNvSpPr/>
          <p:nvPr/>
        </p:nvSpPr>
        <p:spPr>
          <a:xfrm>
            <a:off x="6376585" y="5185051"/>
            <a:ext cx="4566052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</a:rPr>
              <a:t>Фото 3. </a:t>
            </a:r>
            <a:endParaRPr lang="ru-RU" dirty="0"/>
          </a:p>
          <a:p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</a:rPr>
              <a:t>Гистограмма зимнего пейзажа </a:t>
            </a:r>
          </a:p>
          <a:p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</a:rPr>
              <a:t>по понятным причинам смещена вправо</a:t>
            </a:r>
            <a:endParaRPr lang="ru-RU" dirty="0"/>
          </a:p>
        </p:txBody>
      </p:sp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2B6C0E-C4B9-4094-8E59-5B7DF00D5415}" type="slidenum">
              <a:rPr lang="ru-RU" smtClean="0"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745922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AutoShape 2"/>
          <p:cNvSpPr>
            <a:spLocks noChangeArrowheads="1"/>
          </p:cNvSpPr>
          <p:nvPr/>
        </p:nvSpPr>
        <p:spPr bwMode="auto">
          <a:xfrm>
            <a:off x="1438275" y="322263"/>
            <a:ext cx="10728497" cy="6553249"/>
          </a:xfrm>
          <a:prstGeom prst="roundRect">
            <a:avLst>
              <a:gd name="adj" fmla="val 16667"/>
            </a:avLst>
          </a:prstGeom>
          <a:solidFill>
            <a:schemeClr val="bg1">
              <a:alpha val="50000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9441" tIns="49721" rIns="99441" bIns="49721" anchor="ctr"/>
          <a:lstStyle/>
          <a:p>
            <a:pPr defTabSz="993775"/>
            <a:endParaRPr lang="ru-RU" altLang="ru-RU" sz="3500">
              <a:solidFill>
                <a:schemeClr val="bg1"/>
              </a:solidFill>
            </a:endParaRPr>
          </a:p>
        </p:txBody>
      </p:sp>
      <p:sp>
        <p:nvSpPr>
          <p:cNvPr id="7" name="Скругленный прямоугольник 6"/>
          <p:cNvSpPr/>
          <p:nvPr/>
        </p:nvSpPr>
        <p:spPr bwMode="auto">
          <a:xfrm>
            <a:off x="633412" y="1296627"/>
            <a:ext cx="11245330" cy="5397702"/>
          </a:xfrm>
          <a:prstGeom prst="roundRect">
            <a:avLst/>
          </a:prstGeom>
          <a:solidFill>
            <a:schemeClr val="bg1">
              <a:alpha val="50000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9441" tIns="49721" rIns="99441" bIns="49721" anchor="ctr"/>
          <a:lstStyle/>
          <a:p>
            <a:pPr defTabSz="993775"/>
            <a:endParaRPr lang="ru-RU" sz="3500">
              <a:solidFill>
                <a:schemeClr val="bg1"/>
              </a:solidFill>
            </a:endParaRPr>
          </a:p>
        </p:txBody>
      </p:sp>
      <p:sp>
        <p:nvSpPr>
          <p:cNvPr id="8" name="AutoShape 5"/>
          <p:cNvSpPr>
            <a:spLocks noChangeArrowheads="1"/>
          </p:cNvSpPr>
          <p:nvPr/>
        </p:nvSpPr>
        <p:spPr bwMode="auto">
          <a:xfrm>
            <a:off x="2154116" y="361782"/>
            <a:ext cx="8351837" cy="849178"/>
          </a:xfrm>
          <a:prstGeom prst="roundRect">
            <a:avLst>
              <a:gd name="adj" fmla="val 34319"/>
            </a:avLst>
          </a:prstGeom>
          <a:solidFill>
            <a:srgbClr val="FFFFFF">
              <a:alpha val="78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9441" tIns="49721" rIns="99441" bIns="49721" anchor="ctr"/>
          <a:lstStyle>
            <a:lvl1pPr defTabSz="99377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1177925" defTabSz="99377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373188" defTabSz="99377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66863" defTabSz="99377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89138" defTabSz="99377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46338" defTabSz="9937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03538" defTabSz="9937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60738" defTabSz="9937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17938" defTabSz="9937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ru-RU" altLang="ru-RU" sz="3500">
              <a:solidFill>
                <a:schemeClr val="bg1"/>
              </a:solidFill>
            </a:endParaRPr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989070" y="407928"/>
            <a:ext cx="8700009" cy="763512"/>
          </a:xfrm>
        </p:spPr>
        <p:txBody>
          <a:bodyPr/>
          <a:lstStyle/>
          <a:p>
            <a:pPr>
              <a:defRPr/>
            </a:pPr>
            <a:r>
              <a:rPr lang="ru-RU" sz="4000" dirty="0"/>
              <a:t>Гистограммы</a:t>
            </a:r>
          </a:p>
        </p:txBody>
      </p:sp>
      <p:sp>
        <p:nvSpPr>
          <p:cNvPr id="3" name="Прямоугольник 2"/>
          <p:cNvSpPr/>
          <p:nvPr/>
        </p:nvSpPr>
        <p:spPr>
          <a:xfrm>
            <a:off x="1221557" y="1482837"/>
            <a:ext cx="10441160" cy="178510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200" dirty="0">
                <a:solidFill>
                  <a:srgbClr val="000000"/>
                </a:solidFill>
                <a:latin typeface="Times New Roman" panose="02020603050405020304" pitchFamily="18" charset="0"/>
              </a:rPr>
              <a:t>В некоторых случаях гистограмма может иметь всплески как в правой, так и в левой своей части, что говорит о наличии в кадре максимально темных и максимально светлых областей. Это бывает, когда фотография очень контрастна или имеет ярко выраженную игру света и тени, как видно из примера на фото 4, и ничего плохого тут, естественно, нет.</a:t>
            </a:r>
            <a:endParaRPr lang="ru-RU" sz="2200" dirty="0"/>
          </a:p>
        </p:txBody>
      </p:sp>
      <p:pic>
        <p:nvPicPr>
          <p:cNvPr id="21507" name="Picture 3" descr="http://www.kv.by/data/digphoto/2003/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14245" y="3454151"/>
            <a:ext cx="1922090" cy="13454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506" name="Picture 2" descr="http://www.kv.by/data/digphoto/2003/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79058" y="3416920"/>
            <a:ext cx="4040159" cy="26665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Прямоугольник 9"/>
          <p:cNvSpPr/>
          <p:nvPr/>
        </p:nvSpPr>
        <p:spPr>
          <a:xfrm>
            <a:off x="6327420" y="4964843"/>
            <a:ext cx="5137150" cy="132343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</a:rPr>
              <a:t>Фото 4. </a:t>
            </a:r>
            <a:endParaRPr lang="ru-RU" dirty="0"/>
          </a:p>
          <a:p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</a:rPr>
              <a:t>Фотография имеет ярко выраженную игру света и тени, что отражается в виде двух пиков на гистограмме.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>
          <a:xfrm>
            <a:off x="11662717" y="6605015"/>
            <a:ext cx="372122" cy="379409"/>
          </a:xfrm>
        </p:spPr>
        <p:txBody>
          <a:bodyPr/>
          <a:lstStyle/>
          <a:p>
            <a:fld id="{952B6C0E-C4B9-4094-8E59-5B7DF00D5415}" type="slidenum">
              <a:rPr lang="ru-RU" smtClean="0"/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6714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ctrTitle" idx="4294967295"/>
          </p:nvPr>
        </p:nvSpPr>
        <p:spPr bwMode="auto">
          <a:xfrm>
            <a:off x="2877741" y="800101"/>
            <a:ext cx="6192688" cy="3484563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/>
          <a:p>
            <a:pPr lvl="2">
              <a:lnSpc>
                <a:spcPct val="75000"/>
              </a:lnSpc>
            </a:pPr>
            <a:r>
              <a:rPr lang="ru-RU" altLang="ru-RU" sz="3600" dirty="0"/>
              <a:t>Контроль качества изделий с помощью гистограмм</a:t>
            </a:r>
          </a:p>
        </p:txBody>
      </p:sp>
      <p:pic>
        <p:nvPicPr>
          <p:cNvPr id="57349" name="Picture 5" descr="http://buyingbusinesstravel.com.ru/upload/resize_cache/iblock/2d1/100_1000_1/big%20data%20small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20363" y="0"/>
            <a:ext cx="952500" cy="10953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2B6C0E-C4B9-4094-8E59-5B7DF00D5415}" type="slidenum">
              <a:rPr lang="ru-RU" smtClean="0"/>
              <a:t>11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37222519"/>
      </p:ext>
    </p:extLst>
  </p:cSld>
  <p:clrMapOvr>
    <a:masterClrMapping/>
  </p:clrMapOvr>
  <p:transition spd="slow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AutoShape 2"/>
          <p:cNvSpPr>
            <a:spLocks noChangeArrowheads="1"/>
          </p:cNvSpPr>
          <p:nvPr/>
        </p:nvSpPr>
        <p:spPr bwMode="auto">
          <a:xfrm>
            <a:off x="1438275" y="322263"/>
            <a:ext cx="10800505" cy="6553249"/>
          </a:xfrm>
          <a:prstGeom prst="roundRect">
            <a:avLst>
              <a:gd name="adj" fmla="val 16667"/>
            </a:avLst>
          </a:prstGeom>
          <a:solidFill>
            <a:schemeClr val="bg1">
              <a:alpha val="50000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9441" tIns="49721" rIns="99441" bIns="49721" anchor="ctr"/>
          <a:lstStyle>
            <a:lvl1pPr defTabSz="99377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1177925" defTabSz="99377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373188" defTabSz="99377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66863" defTabSz="99377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89138" defTabSz="99377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46338" defTabSz="9937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03538" defTabSz="9937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60738" defTabSz="9937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17938" defTabSz="9937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ru-RU" altLang="ru-RU" sz="3500">
              <a:solidFill>
                <a:schemeClr val="bg1"/>
              </a:solidFill>
            </a:endParaRPr>
          </a:p>
        </p:txBody>
      </p:sp>
      <p:sp>
        <p:nvSpPr>
          <p:cNvPr id="7" name="Скругленный прямоугольник 6"/>
          <p:cNvSpPr/>
          <p:nvPr/>
        </p:nvSpPr>
        <p:spPr bwMode="auto">
          <a:xfrm>
            <a:off x="501478" y="1171441"/>
            <a:ext cx="11377264" cy="5704071"/>
          </a:xfrm>
          <a:prstGeom prst="roundRect">
            <a:avLst/>
          </a:prstGeom>
          <a:solidFill>
            <a:schemeClr val="bg1">
              <a:alpha val="50000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9441" tIns="49721" rIns="99441" bIns="49721" anchor="ctr"/>
          <a:lstStyle/>
          <a:p>
            <a:pPr defTabSz="993775"/>
            <a:endParaRPr lang="ru-RU" sz="3500" dirty="0">
              <a:solidFill>
                <a:schemeClr val="bg1"/>
              </a:solidFill>
            </a:endParaRPr>
          </a:p>
        </p:txBody>
      </p:sp>
      <p:sp>
        <p:nvSpPr>
          <p:cNvPr id="8" name="AutoShape 5"/>
          <p:cNvSpPr>
            <a:spLocks noChangeArrowheads="1"/>
          </p:cNvSpPr>
          <p:nvPr/>
        </p:nvSpPr>
        <p:spPr bwMode="auto">
          <a:xfrm>
            <a:off x="2154116" y="361782"/>
            <a:ext cx="8351837" cy="849178"/>
          </a:xfrm>
          <a:prstGeom prst="roundRect">
            <a:avLst>
              <a:gd name="adj" fmla="val 34319"/>
            </a:avLst>
          </a:prstGeom>
          <a:solidFill>
            <a:srgbClr val="FFFFFF">
              <a:alpha val="78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9441" tIns="49721" rIns="99441" bIns="49721" anchor="ctr"/>
          <a:lstStyle>
            <a:lvl1pPr defTabSz="99377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1177925" defTabSz="99377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373188" defTabSz="99377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66863" defTabSz="99377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89138" defTabSz="99377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46338" defTabSz="9937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03538" defTabSz="9937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60738" defTabSz="9937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17938" defTabSz="9937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ru-RU" altLang="ru-RU" sz="3500">
              <a:solidFill>
                <a:schemeClr val="bg1"/>
              </a:solidFill>
            </a:endParaRPr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989070" y="407928"/>
            <a:ext cx="8700009" cy="763512"/>
          </a:xfrm>
        </p:spPr>
        <p:txBody>
          <a:bodyPr/>
          <a:lstStyle/>
          <a:p>
            <a:pPr>
              <a:defRPr/>
            </a:pPr>
            <a:r>
              <a:rPr lang="ru-RU" sz="4000" dirty="0"/>
              <a:t>Гистограммы</a:t>
            </a:r>
          </a:p>
        </p:txBody>
      </p:sp>
      <p:sp>
        <p:nvSpPr>
          <p:cNvPr id="4" name="Прямоугольник 3"/>
          <p:cNvSpPr/>
          <p:nvPr/>
        </p:nvSpPr>
        <p:spPr>
          <a:xfrm>
            <a:off x="2301677" y="1314550"/>
            <a:ext cx="3096344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200" b="1" dirty="0"/>
              <a:t>Контроль качества</a:t>
            </a:r>
          </a:p>
        </p:txBody>
      </p:sp>
      <p:sp>
        <p:nvSpPr>
          <p:cNvPr id="3" name="Прямоугольник 2"/>
          <p:cNvSpPr/>
          <p:nvPr/>
        </p:nvSpPr>
        <p:spPr>
          <a:xfrm>
            <a:off x="1221557" y="1801942"/>
            <a:ext cx="10513167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Рассмотрим порядок построения гистограммы, характеризующей управляемость процесса производства валиков, с использованием данных приведенного ниже контрольного листка.</a:t>
            </a: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49849" y="2847544"/>
            <a:ext cx="5080000" cy="3962400"/>
          </a:xfrm>
          <a:prstGeom prst="rect">
            <a:avLst/>
          </a:prstGeom>
        </p:spPr>
      </p:pic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2B6C0E-C4B9-4094-8E59-5B7DF00D5415}" type="slidenum">
              <a:rPr lang="ru-RU" smtClean="0"/>
              <a:t>12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799588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AutoShape 2"/>
          <p:cNvSpPr>
            <a:spLocks noChangeArrowheads="1"/>
          </p:cNvSpPr>
          <p:nvPr/>
        </p:nvSpPr>
        <p:spPr bwMode="auto">
          <a:xfrm>
            <a:off x="1438275" y="322263"/>
            <a:ext cx="10728497" cy="6553249"/>
          </a:xfrm>
          <a:prstGeom prst="roundRect">
            <a:avLst>
              <a:gd name="adj" fmla="val 16667"/>
            </a:avLst>
          </a:prstGeom>
          <a:solidFill>
            <a:schemeClr val="bg1">
              <a:alpha val="50000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9441" tIns="49721" rIns="99441" bIns="49721" anchor="ctr"/>
          <a:lstStyle>
            <a:lvl1pPr defTabSz="99377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1177925" defTabSz="99377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373188" defTabSz="99377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66863" defTabSz="99377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89138" defTabSz="99377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46338" defTabSz="9937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03538" defTabSz="9937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60738" defTabSz="9937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17938" defTabSz="9937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ru-RU" altLang="ru-RU" sz="3500">
              <a:solidFill>
                <a:schemeClr val="bg1"/>
              </a:solidFill>
            </a:endParaRPr>
          </a:p>
        </p:txBody>
      </p:sp>
      <p:sp>
        <p:nvSpPr>
          <p:cNvPr id="7" name="Скругленный прямоугольник 6"/>
          <p:cNvSpPr/>
          <p:nvPr/>
        </p:nvSpPr>
        <p:spPr bwMode="auto">
          <a:xfrm>
            <a:off x="933525" y="1275030"/>
            <a:ext cx="11101314" cy="5397702"/>
          </a:xfrm>
          <a:prstGeom prst="roundRect">
            <a:avLst/>
          </a:prstGeom>
          <a:solidFill>
            <a:schemeClr val="accent2">
              <a:lumMod val="20000"/>
              <a:lumOff val="80000"/>
              <a:alpha val="50000"/>
            </a:schemeClr>
          </a:solidFill>
          <a:ln>
            <a:noFill/>
          </a:ln>
          <a:effectLst/>
        </p:spPr>
        <p:txBody>
          <a:bodyPr wrap="none" lIns="99441" tIns="49721" rIns="99441" bIns="49721" anchor="ctr"/>
          <a:lstStyle/>
          <a:p>
            <a:pPr defTabSz="993775"/>
            <a:endParaRPr lang="ru-RU" sz="3500" dirty="0">
              <a:solidFill>
                <a:schemeClr val="bg1"/>
              </a:solidFill>
            </a:endParaRPr>
          </a:p>
        </p:txBody>
      </p:sp>
      <p:sp>
        <p:nvSpPr>
          <p:cNvPr id="8" name="AutoShape 5"/>
          <p:cNvSpPr>
            <a:spLocks noChangeArrowheads="1"/>
          </p:cNvSpPr>
          <p:nvPr/>
        </p:nvSpPr>
        <p:spPr bwMode="auto">
          <a:xfrm>
            <a:off x="2154116" y="361782"/>
            <a:ext cx="8351837" cy="849178"/>
          </a:xfrm>
          <a:prstGeom prst="roundRect">
            <a:avLst>
              <a:gd name="adj" fmla="val 34319"/>
            </a:avLst>
          </a:prstGeom>
          <a:solidFill>
            <a:srgbClr val="FFFFFF">
              <a:alpha val="78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9441" tIns="49721" rIns="99441" bIns="49721" anchor="ctr"/>
          <a:lstStyle>
            <a:lvl1pPr defTabSz="99377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1177925" defTabSz="99377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373188" defTabSz="99377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66863" defTabSz="99377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89138" defTabSz="99377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46338" defTabSz="9937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03538" defTabSz="9937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60738" defTabSz="9937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17938" defTabSz="9937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ru-RU" altLang="ru-RU" sz="3500">
              <a:solidFill>
                <a:schemeClr val="bg1"/>
              </a:solidFill>
            </a:endParaRPr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989070" y="407928"/>
            <a:ext cx="8700009" cy="763512"/>
          </a:xfrm>
        </p:spPr>
        <p:txBody>
          <a:bodyPr/>
          <a:lstStyle/>
          <a:p>
            <a:pPr>
              <a:defRPr/>
            </a:pPr>
            <a:r>
              <a:rPr lang="ru-RU" sz="4000" dirty="0"/>
              <a:t>Гистограммы</a:t>
            </a:r>
          </a:p>
        </p:txBody>
      </p:sp>
      <p:sp>
        <p:nvSpPr>
          <p:cNvPr id="4" name="Прямоугольник 3"/>
          <p:cNvSpPr/>
          <p:nvPr/>
        </p:nvSpPr>
        <p:spPr>
          <a:xfrm>
            <a:off x="2301677" y="1314550"/>
            <a:ext cx="3096344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200" b="1" dirty="0"/>
              <a:t>Контроль качества</a:t>
            </a:r>
          </a:p>
        </p:txBody>
      </p:sp>
      <p:sp>
        <p:nvSpPr>
          <p:cNvPr id="3" name="Прямоугольник 2"/>
          <p:cNvSpPr/>
          <p:nvPr/>
        </p:nvSpPr>
        <p:spPr>
          <a:xfrm>
            <a:off x="1221558" y="1752857"/>
            <a:ext cx="10513168" cy="47089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Вычисление диапазона данных (выборочного размаха)</a:t>
            </a:r>
            <a:br>
              <a:rPr lang="ru-RU" dirty="0"/>
            </a:br>
            <a:br>
              <a:rPr lang="ru-RU" dirty="0"/>
            </a:br>
            <a:r>
              <a:rPr lang="ru-RU" dirty="0"/>
              <a:t>R = </a:t>
            </a:r>
            <a:r>
              <a:rPr lang="ru-RU" dirty="0" err="1"/>
              <a:t>xmax</a:t>
            </a:r>
            <a:r>
              <a:rPr lang="ru-RU" dirty="0"/>
              <a:t> - </a:t>
            </a:r>
            <a:r>
              <a:rPr lang="ru-RU" dirty="0" err="1"/>
              <a:t>xmin</a:t>
            </a:r>
            <a:br>
              <a:rPr lang="ru-RU" dirty="0"/>
            </a:br>
            <a:br>
              <a:rPr lang="ru-RU" dirty="0"/>
            </a:br>
            <a:r>
              <a:rPr lang="ru-RU" dirty="0"/>
              <a:t>где </a:t>
            </a:r>
            <a:r>
              <a:rPr lang="ru-RU" dirty="0" err="1"/>
              <a:t>хmax</a:t>
            </a:r>
            <a:r>
              <a:rPr lang="ru-RU" dirty="0"/>
              <a:t> — наибольшее наблюдаемое значение; </a:t>
            </a:r>
            <a:r>
              <a:rPr lang="ru-RU" dirty="0" err="1"/>
              <a:t>хmin</a:t>
            </a:r>
            <a:r>
              <a:rPr lang="ru-RU" dirty="0"/>
              <a:t> — наименьшее наблюдаемое значение.</a:t>
            </a:r>
            <a:br>
              <a:rPr lang="ru-RU" dirty="0"/>
            </a:br>
            <a:br>
              <a:rPr lang="ru-RU" dirty="0"/>
            </a:br>
            <a:r>
              <a:rPr lang="ru-RU" dirty="0"/>
              <a:t>В нашем случае </a:t>
            </a:r>
            <a:r>
              <a:rPr lang="ru-RU" dirty="0" err="1"/>
              <a:t>хmax</a:t>
            </a:r>
            <a:r>
              <a:rPr lang="ru-RU" dirty="0"/>
              <a:t> = 10,020 мм, х</a:t>
            </a:r>
            <a:r>
              <a:rPr lang="en-US" dirty="0"/>
              <a:t>min</a:t>
            </a:r>
            <a:r>
              <a:rPr lang="ru-RU" dirty="0"/>
              <a:t> = 9,9</a:t>
            </a:r>
            <a:r>
              <a:rPr lang="en-US" dirty="0"/>
              <a:t>8</a:t>
            </a:r>
            <a:r>
              <a:rPr lang="ru-RU" dirty="0"/>
              <a:t>5 мм, т. е. R = 10,020 - 9,985 = 0,035 мм = 35 мкм.</a:t>
            </a:r>
            <a:br>
              <a:rPr lang="ru-RU" dirty="0"/>
            </a:br>
            <a:br>
              <a:rPr lang="ru-RU" dirty="0"/>
            </a:br>
            <a:r>
              <a:rPr lang="ru-RU" dirty="0"/>
              <a:t>Определение количества интервалов n на гистограмме часто осуществляют по формуле </a:t>
            </a:r>
            <a:r>
              <a:rPr lang="ru-RU" dirty="0" err="1"/>
              <a:t>Стерджесса</a:t>
            </a:r>
            <a:r>
              <a:rPr lang="en-US" dirty="0"/>
              <a:t>:</a:t>
            </a:r>
          </a:p>
          <a:p>
            <a:endParaRPr lang="ru-RU" dirty="0"/>
          </a:p>
          <a:p>
            <a:r>
              <a:rPr lang="en-US" dirty="0"/>
              <a:t>			</a:t>
            </a:r>
            <a:r>
              <a:rPr lang="ru-RU" dirty="0"/>
              <a:t>                                  либо  </a:t>
            </a:r>
            <a:br>
              <a:rPr lang="ru-RU" dirty="0"/>
            </a:br>
            <a:r>
              <a:rPr lang="ru-RU" dirty="0"/>
              <a:t>где N— общее количество собранных данных в выборке.</a:t>
            </a:r>
          </a:p>
        </p:txBody>
      </p:sp>
      <p:pic>
        <p:nvPicPr>
          <p:cNvPr id="18" name="Рисунок 1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9849" y="5521317"/>
            <a:ext cx="2116030" cy="426145"/>
          </a:xfrm>
          <a:prstGeom prst="rect">
            <a:avLst/>
          </a:prstGeom>
        </p:spPr>
      </p:pic>
      <p:pic>
        <p:nvPicPr>
          <p:cNvPr id="20" name="Рисунок 1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02759" y="5435022"/>
            <a:ext cx="2674296" cy="512440"/>
          </a:xfrm>
          <a:prstGeom prst="rect">
            <a:avLst/>
          </a:prstGeom>
        </p:spPr>
      </p:pic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2B6C0E-C4B9-4094-8E59-5B7DF00D5415}" type="slidenum">
              <a:rPr lang="ru-RU" smtClean="0"/>
              <a:t>13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922541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AutoShape 2"/>
          <p:cNvSpPr>
            <a:spLocks noChangeArrowheads="1"/>
          </p:cNvSpPr>
          <p:nvPr/>
        </p:nvSpPr>
        <p:spPr bwMode="auto">
          <a:xfrm>
            <a:off x="1438275" y="322263"/>
            <a:ext cx="10800505" cy="6553249"/>
          </a:xfrm>
          <a:prstGeom prst="roundRect">
            <a:avLst>
              <a:gd name="adj" fmla="val 16667"/>
            </a:avLst>
          </a:prstGeom>
          <a:solidFill>
            <a:schemeClr val="bg1">
              <a:alpha val="50000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9441" tIns="49721" rIns="99441" bIns="49721" anchor="ctr"/>
          <a:lstStyle>
            <a:lvl1pPr defTabSz="99377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1177925" defTabSz="99377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373188" defTabSz="99377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66863" defTabSz="99377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89138" defTabSz="99377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46338" defTabSz="9937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03538" defTabSz="9937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60738" defTabSz="9937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17938" defTabSz="9937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ru-RU" altLang="ru-RU" sz="3500">
              <a:solidFill>
                <a:schemeClr val="bg1"/>
              </a:solidFill>
            </a:endParaRPr>
          </a:p>
        </p:txBody>
      </p:sp>
      <p:sp>
        <p:nvSpPr>
          <p:cNvPr id="7" name="Скругленный прямоугольник 6"/>
          <p:cNvSpPr/>
          <p:nvPr/>
        </p:nvSpPr>
        <p:spPr bwMode="auto">
          <a:xfrm>
            <a:off x="789509" y="1316069"/>
            <a:ext cx="11017224" cy="5397702"/>
          </a:xfrm>
          <a:prstGeom prst="roundRect">
            <a:avLst/>
          </a:prstGeom>
          <a:solidFill>
            <a:schemeClr val="bg1">
              <a:alpha val="50000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9441" tIns="49721" rIns="99441" bIns="49721" anchor="ctr"/>
          <a:lstStyle/>
          <a:p>
            <a:pPr defTabSz="993775"/>
            <a:endParaRPr lang="ru-RU" sz="3500" dirty="0">
              <a:solidFill>
                <a:schemeClr val="bg1"/>
              </a:solidFill>
            </a:endParaRPr>
          </a:p>
        </p:txBody>
      </p:sp>
      <p:sp>
        <p:nvSpPr>
          <p:cNvPr id="8" name="AutoShape 5"/>
          <p:cNvSpPr>
            <a:spLocks noChangeArrowheads="1"/>
          </p:cNvSpPr>
          <p:nvPr/>
        </p:nvSpPr>
        <p:spPr bwMode="auto">
          <a:xfrm>
            <a:off x="2154116" y="361782"/>
            <a:ext cx="8351837" cy="849178"/>
          </a:xfrm>
          <a:prstGeom prst="roundRect">
            <a:avLst>
              <a:gd name="adj" fmla="val 34319"/>
            </a:avLst>
          </a:prstGeom>
          <a:solidFill>
            <a:srgbClr val="FFFFFF">
              <a:alpha val="78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9441" tIns="49721" rIns="99441" bIns="49721" anchor="ctr"/>
          <a:lstStyle>
            <a:lvl1pPr defTabSz="99377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1177925" defTabSz="99377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373188" defTabSz="99377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66863" defTabSz="99377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89138" defTabSz="99377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46338" defTabSz="9937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03538" defTabSz="9937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60738" defTabSz="9937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17938" defTabSz="9937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ru-RU" altLang="ru-RU" sz="3500">
              <a:solidFill>
                <a:schemeClr val="bg1"/>
              </a:solidFill>
            </a:endParaRPr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989070" y="407928"/>
            <a:ext cx="8700009" cy="763512"/>
          </a:xfrm>
        </p:spPr>
        <p:txBody>
          <a:bodyPr/>
          <a:lstStyle/>
          <a:p>
            <a:pPr>
              <a:defRPr/>
            </a:pPr>
            <a:r>
              <a:rPr lang="ru-RU" sz="4000" dirty="0"/>
              <a:t>Гистограммы</a:t>
            </a:r>
          </a:p>
        </p:txBody>
      </p:sp>
      <p:sp>
        <p:nvSpPr>
          <p:cNvPr id="4" name="Прямоугольник 3"/>
          <p:cNvSpPr/>
          <p:nvPr/>
        </p:nvSpPr>
        <p:spPr>
          <a:xfrm>
            <a:off x="2301677" y="1314550"/>
            <a:ext cx="3096344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200" b="1" dirty="0"/>
              <a:t>Контроль качества</a:t>
            </a:r>
          </a:p>
        </p:txBody>
      </p:sp>
      <p:sp>
        <p:nvSpPr>
          <p:cNvPr id="5" name="Прямоугольник 4"/>
          <p:cNvSpPr/>
          <p:nvPr/>
        </p:nvSpPr>
        <p:spPr>
          <a:xfrm>
            <a:off x="1077541" y="1697013"/>
            <a:ext cx="10081120" cy="47089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По данным рассматриваемого нами контрольного листка N = 88, соответственно</a:t>
            </a:r>
            <a:br>
              <a:rPr lang="ru-RU" dirty="0"/>
            </a:br>
            <a:r>
              <a:rPr lang="ru-RU" dirty="0"/>
              <a:t> </a:t>
            </a:r>
            <a:r>
              <a:rPr lang="en-US" dirty="0"/>
              <a:t>		 </a:t>
            </a:r>
            <a:r>
              <a:rPr lang="ru-RU" dirty="0"/>
              <a:t>n = 1 + 3,322 </a:t>
            </a:r>
            <a:r>
              <a:rPr lang="en-US" dirty="0" err="1"/>
              <a:t>lg</a:t>
            </a:r>
            <a:r>
              <a:rPr lang="ru-RU" dirty="0"/>
              <a:t> 88 = 7,46 </a:t>
            </a:r>
            <a:r>
              <a:rPr lang="ru-RU" dirty="0">
                <a:sym typeface="Symbol" panose="05050102010706020507" pitchFamily="18" charset="2"/>
              </a:rPr>
              <a:t></a:t>
            </a:r>
            <a:r>
              <a:rPr lang="ru-RU" dirty="0"/>
              <a:t> 7.</a:t>
            </a:r>
            <a:endParaRPr lang="en-US" dirty="0"/>
          </a:p>
          <a:p>
            <a:br>
              <a:rPr lang="ru-RU" dirty="0"/>
            </a:br>
            <a:r>
              <a:rPr lang="ru-RU" b="1" i="1" dirty="0"/>
              <a:t>Определение размеров интервалов </a:t>
            </a:r>
            <a:r>
              <a:rPr lang="ru-RU" dirty="0"/>
              <a:t>осуществляют так, чтобы размах, включающий максимальное и минимальное значения, делился на интервалы равной ширины. Для получения ширины интервалов h = R/n размах R делят на полученное выше количество интервалов n.</a:t>
            </a:r>
            <a:br>
              <a:rPr lang="ru-RU" dirty="0"/>
            </a:br>
            <a:br>
              <a:rPr lang="ru-RU" dirty="0"/>
            </a:br>
            <a:r>
              <a:rPr lang="ru-RU" dirty="0"/>
              <a:t>В нашем случае h = 0,035 мм / 7 = 0,005 мм = 5 мкм.</a:t>
            </a:r>
            <a:br>
              <a:rPr lang="ru-RU" dirty="0"/>
            </a:br>
            <a:r>
              <a:rPr lang="ru-RU" dirty="0">
                <a:solidFill>
                  <a:srgbClr val="FF0000"/>
                </a:solidFill>
              </a:rPr>
              <a:t>Внимание!</a:t>
            </a:r>
            <a:br>
              <a:rPr lang="ru-RU" dirty="0"/>
            </a:br>
            <a:r>
              <a:rPr lang="ru-RU" dirty="0"/>
              <a:t>Желательно, чтобы размер интервала был не менее двух делений шкалы измерительного прибора (в рассматриваемом примере данные контрольного листка были получены с использованием микрометрической головки часового типа с ценой деления 1 мкм, т. е. один интервал соответствует пяти делениям шкалы прибора).</a:t>
            </a:r>
          </a:p>
        </p:txBody>
      </p:sp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2B6C0E-C4B9-4094-8E59-5B7DF00D5415}" type="slidenum">
              <a:rPr lang="ru-RU" smtClean="0"/>
              <a:t>14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3407756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AutoShape 2"/>
          <p:cNvSpPr>
            <a:spLocks noChangeArrowheads="1"/>
          </p:cNvSpPr>
          <p:nvPr/>
        </p:nvSpPr>
        <p:spPr bwMode="auto">
          <a:xfrm>
            <a:off x="1438275" y="322263"/>
            <a:ext cx="10728497" cy="6553249"/>
          </a:xfrm>
          <a:prstGeom prst="roundRect">
            <a:avLst>
              <a:gd name="adj" fmla="val 16667"/>
            </a:avLst>
          </a:prstGeom>
          <a:solidFill>
            <a:schemeClr val="bg1">
              <a:alpha val="50000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9441" tIns="49721" rIns="99441" bIns="49721" anchor="ctr"/>
          <a:lstStyle>
            <a:lvl1pPr defTabSz="99377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1177925" defTabSz="99377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373188" defTabSz="99377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66863" defTabSz="99377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89138" defTabSz="99377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46338" defTabSz="9937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03538" defTabSz="9937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60738" defTabSz="9937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17938" defTabSz="9937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ru-RU" altLang="ru-RU" sz="3500">
              <a:solidFill>
                <a:schemeClr val="bg1"/>
              </a:solidFill>
            </a:endParaRPr>
          </a:p>
        </p:txBody>
      </p:sp>
      <p:sp>
        <p:nvSpPr>
          <p:cNvPr id="7" name="Скругленный прямоугольник 6"/>
          <p:cNvSpPr/>
          <p:nvPr/>
        </p:nvSpPr>
        <p:spPr bwMode="auto">
          <a:xfrm>
            <a:off x="633411" y="1251990"/>
            <a:ext cx="11245330" cy="5397702"/>
          </a:xfrm>
          <a:prstGeom prst="roundRect">
            <a:avLst/>
          </a:prstGeom>
          <a:solidFill>
            <a:schemeClr val="bg1">
              <a:alpha val="50000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9441" tIns="49721" rIns="99441" bIns="49721" anchor="ctr"/>
          <a:lstStyle/>
          <a:p>
            <a:pPr defTabSz="993775"/>
            <a:endParaRPr lang="ru-RU" sz="3500" dirty="0">
              <a:solidFill>
                <a:schemeClr val="bg1"/>
              </a:solidFill>
            </a:endParaRPr>
          </a:p>
        </p:txBody>
      </p:sp>
      <p:sp>
        <p:nvSpPr>
          <p:cNvPr id="8" name="AutoShape 5"/>
          <p:cNvSpPr>
            <a:spLocks noChangeArrowheads="1"/>
          </p:cNvSpPr>
          <p:nvPr/>
        </p:nvSpPr>
        <p:spPr bwMode="auto">
          <a:xfrm>
            <a:off x="2154116" y="361782"/>
            <a:ext cx="8351837" cy="849178"/>
          </a:xfrm>
          <a:prstGeom prst="roundRect">
            <a:avLst>
              <a:gd name="adj" fmla="val 34319"/>
            </a:avLst>
          </a:prstGeom>
          <a:solidFill>
            <a:srgbClr val="FFFFFF">
              <a:alpha val="78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9441" tIns="49721" rIns="99441" bIns="49721" anchor="ctr"/>
          <a:lstStyle>
            <a:lvl1pPr defTabSz="99377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1177925" defTabSz="99377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373188" defTabSz="99377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66863" defTabSz="99377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89138" defTabSz="99377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46338" defTabSz="9937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03538" defTabSz="9937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60738" defTabSz="9937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17938" defTabSz="9937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ru-RU" altLang="ru-RU" sz="3500">
              <a:solidFill>
                <a:schemeClr val="bg1"/>
              </a:solidFill>
            </a:endParaRPr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989070" y="407928"/>
            <a:ext cx="8700009" cy="763512"/>
          </a:xfrm>
        </p:spPr>
        <p:txBody>
          <a:bodyPr/>
          <a:lstStyle/>
          <a:p>
            <a:pPr>
              <a:defRPr/>
            </a:pPr>
            <a:r>
              <a:rPr lang="ru-RU" sz="4000" dirty="0"/>
              <a:t>Гистограммы</a:t>
            </a:r>
          </a:p>
        </p:txBody>
      </p:sp>
      <p:sp>
        <p:nvSpPr>
          <p:cNvPr id="4" name="Прямоугольник 3"/>
          <p:cNvSpPr/>
          <p:nvPr/>
        </p:nvSpPr>
        <p:spPr>
          <a:xfrm>
            <a:off x="2301677" y="1314550"/>
            <a:ext cx="3096344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200" b="1" dirty="0"/>
              <a:t>Контроль качества</a:t>
            </a:r>
          </a:p>
        </p:txBody>
      </p:sp>
      <p:sp>
        <p:nvSpPr>
          <p:cNvPr id="5" name="Прямоугольник 4"/>
          <p:cNvSpPr/>
          <p:nvPr/>
        </p:nvSpPr>
        <p:spPr>
          <a:xfrm>
            <a:off x="933525" y="1702439"/>
            <a:ext cx="10152782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1" i="1" dirty="0"/>
              <a:t>Определение границ интервалов.</a:t>
            </a:r>
            <a:br>
              <a:rPr lang="ru-RU" dirty="0"/>
            </a:br>
            <a:r>
              <a:rPr lang="ru-RU" dirty="0"/>
              <a:t>Сначала определяют нижнюю границу первого интервала и прибавляют к ней ширину этого интервала, чтобы получить границу между первым и вторым интервалами. Далее продолжают прибавлять найденную ширину интервала </a:t>
            </a:r>
            <a:r>
              <a:rPr lang="ru-RU" b="1" i="1" dirty="0"/>
              <a:t>h </a:t>
            </a:r>
            <a:r>
              <a:rPr lang="ru-RU" dirty="0"/>
              <a:t>к предыдущему значению для получения второй границы, затем третьей и т. д. После завершения такой работы можно удостовериться, что верхняя граница последнего интервала совпадает с максимальным значением </a:t>
            </a:r>
            <a:r>
              <a:rPr lang="ru-RU" dirty="0" err="1"/>
              <a:t>хmax</a:t>
            </a:r>
            <a:r>
              <a:rPr lang="ru-RU" dirty="0"/>
              <a:t>.</a:t>
            </a:r>
          </a:p>
        </p:txBody>
      </p:sp>
      <p:pic>
        <p:nvPicPr>
          <p:cNvPr id="9" name="Рисунок 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46507" y="5709797"/>
            <a:ext cx="2147858" cy="719106"/>
          </a:xfrm>
          <a:prstGeom prst="rect">
            <a:avLst/>
          </a:prstGeom>
        </p:spPr>
      </p:pic>
      <p:sp>
        <p:nvSpPr>
          <p:cNvPr id="17" name="Прямоугольник 16"/>
          <p:cNvSpPr/>
          <p:nvPr/>
        </p:nvSpPr>
        <p:spPr>
          <a:xfrm>
            <a:off x="958290" y="4029758"/>
            <a:ext cx="10776435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1" i="1" dirty="0"/>
              <a:t>Вычисление частот.</a:t>
            </a:r>
          </a:p>
          <a:p>
            <a:r>
              <a:rPr lang="ru-RU" dirty="0"/>
              <a:t>В третий столбец таблицы контрольного листка вносят количество </a:t>
            </a:r>
            <a:r>
              <a:rPr lang="en-US" b="1" i="1" dirty="0" err="1"/>
              <a:t>k</a:t>
            </a:r>
            <a:r>
              <a:rPr lang="en-US" b="1" i="1" baseline="-25000" dirty="0" err="1"/>
              <a:t>i</a:t>
            </a:r>
            <a:r>
              <a:rPr lang="en-US" b="1" i="1" baseline="-25000" dirty="0"/>
              <a:t> </a:t>
            </a:r>
            <a:r>
              <a:rPr lang="ru-RU" dirty="0"/>
              <a:t>валиков, попавших в каждый интервал. По результатам наблюдений, отмеченных черточками во втором столбце этой таблицы, подсчитывают общее количество наблюдений (в нашем случае N = 88), а затем в четвертый столбец записывают относительные частоты, выраженные в процентах и подсчитанные по формуле</a:t>
            </a:r>
          </a:p>
        </p:txBody>
      </p:sp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2B6C0E-C4B9-4094-8E59-5B7DF00D5415}" type="slidenum">
              <a:rPr lang="ru-RU" smtClean="0"/>
              <a:t>15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028448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AutoShape 2"/>
          <p:cNvSpPr>
            <a:spLocks noChangeArrowheads="1"/>
          </p:cNvSpPr>
          <p:nvPr/>
        </p:nvSpPr>
        <p:spPr bwMode="auto">
          <a:xfrm>
            <a:off x="1438275" y="322263"/>
            <a:ext cx="10800505" cy="6553249"/>
          </a:xfrm>
          <a:prstGeom prst="roundRect">
            <a:avLst>
              <a:gd name="adj" fmla="val 16667"/>
            </a:avLst>
          </a:prstGeom>
          <a:solidFill>
            <a:schemeClr val="bg1">
              <a:alpha val="50000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9441" tIns="49721" rIns="99441" bIns="49721" anchor="ctr"/>
          <a:lstStyle>
            <a:lvl1pPr defTabSz="99377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1177925" defTabSz="99377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373188" defTabSz="99377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66863" defTabSz="99377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89138" defTabSz="99377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46338" defTabSz="9937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03538" defTabSz="9937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60738" defTabSz="9937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17938" defTabSz="9937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ru-RU" altLang="ru-RU" sz="3500">
              <a:solidFill>
                <a:schemeClr val="bg1"/>
              </a:solidFill>
            </a:endParaRPr>
          </a:p>
        </p:txBody>
      </p:sp>
      <p:sp>
        <p:nvSpPr>
          <p:cNvPr id="7" name="Скругленный прямоугольник 6"/>
          <p:cNvSpPr/>
          <p:nvPr/>
        </p:nvSpPr>
        <p:spPr bwMode="auto">
          <a:xfrm>
            <a:off x="933526" y="1296627"/>
            <a:ext cx="10873208" cy="5397702"/>
          </a:xfrm>
          <a:prstGeom prst="roundRect">
            <a:avLst/>
          </a:prstGeom>
          <a:solidFill>
            <a:schemeClr val="bg1">
              <a:alpha val="50000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9441" tIns="49721" rIns="99441" bIns="49721" anchor="ctr"/>
          <a:lstStyle/>
          <a:p>
            <a:pPr defTabSz="993775"/>
            <a:endParaRPr lang="ru-RU" sz="3500" dirty="0">
              <a:solidFill>
                <a:schemeClr val="bg1"/>
              </a:solidFill>
            </a:endParaRPr>
          </a:p>
        </p:txBody>
      </p:sp>
      <p:sp>
        <p:nvSpPr>
          <p:cNvPr id="8" name="AutoShape 5"/>
          <p:cNvSpPr>
            <a:spLocks noChangeArrowheads="1"/>
          </p:cNvSpPr>
          <p:nvPr/>
        </p:nvSpPr>
        <p:spPr bwMode="auto">
          <a:xfrm>
            <a:off x="2154116" y="361782"/>
            <a:ext cx="8351837" cy="849178"/>
          </a:xfrm>
          <a:prstGeom prst="roundRect">
            <a:avLst>
              <a:gd name="adj" fmla="val 34319"/>
            </a:avLst>
          </a:prstGeom>
          <a:solidFill>
            <a:srgbClr val="FFFFFF">
              <a:alpha val="78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9441" tIns="49721" rIns="99441" bIns="49721" anchor="ctr"/>
          <a:lstStyle>
            <a:lvl1pPr defTabSz="99377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1177925" defTabSz="99377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373188" defTabSz="99377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66863" defTabSz="99377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89138" defTabSz="99377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46338" defTabSz="9937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03538" defTabSz="9937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60738" defTabSz="9937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17938" defTabSz="9937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ru-RU" altLang="ru-RU" sz="3500">
              <a:solidFill>
                <a:schemeClr val="bg1"/>
              </a:solidFill>
            </a:endParaRPr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989070" y="407928"/>
            <a:ext cx="8700009" cy="763512"/>
          </a:xfrm>
        </p:spPr>
        <p:txBody>
          <a:bodyPr/>
          <a:lstStyle/>
          <a:p>
            <a:pPr>
              <a:defRPr/>
            </a:pPr>
            <a:r>
              <a:rPr lang="ru-RU" sz="4000" dirty="0"/>
              <a:t>Гистограммы</a:t>
            </a:r>
          </a:p>
        </p:txBody>
      </p:sp>
      <p:sp>
        <p:nvSpPr>
          <p:cNvPr id="4" name="Прямоугольник 3"/>
          <p:cNvSpPr/>
          <p:nvPr/>
        </p:nvSpPr>
        <p:spPr>
          <a:xfrm>
            <a:off x="2301677" y="1314550"/>
            <a:ext cx="3096344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200" b="1" dirty="0"/>
              <a:t>Контроль качества</a:t>
            </a:r>
          </a:p>
        </p:txBody>
      </p:sp>
      <p:sp>
        <p:nvSpPr>
          <p:cNvPr id="5" name="Прямоугольник 4"/>
          <p:cNvSpPr/>
          <p:nvPr/>
        </p:nvSpPr>
        <p:spPr>
          <a:xfrm>
            <a:off x="1077541" y="1702439"/>
            <a:ext cx="10369152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1" i="1" dirty="0"/>
              <a:t>Построение графика гистограммы</a:t>
            </a:r>
            <a:endParaRPr lang="en-US" b="1" i="1" dirty="0"/>
          </a:p>
          <a:p>
            <a:br>
              <a:rPr lang="ru-RU" dirty="0"/>
            </a:br>
            <a:r>
              <a:rPr lang="ru-RU" dirty="0"/>
              <a:t>Пользуясь шириной интервалов как основанием, строят прямоугольники, высота каждого из которых равна частоте попадания результатов наблюдений в соответствующий интервал. На график наносят линию, представляющую среднее арифметическое значение </a:t>
            </a:r>
            <a:r>
              <a:rPr lang="en-US" dirty="0"/>
              <a:t>R</a:t>
            </a:r>
            <a:r>
              <a:rPr lang="ru-RU" dirty="0"/>
              <a:t> а также линии, представляющие границы поля допуска, если они имеются.</a:t>
            </a: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85379" y="3950800"/>
            <a:ext cx="5080000" cy="2688112"/>
          </a:xfrm>
          <a:prstGeom prst="rect">
            <a:avLst/>
          </a:prstGeom>
        </p:spPr>
      </p:pic>
      <p:sp>
        <p:nvSpPr>
          <p:cNvPr id="10" name="Прямоугольник 9"/>
          <p:cNvSpPr/>
          <p:nvPr/>
        </p:nvSpPr>
        <p:spPr>
          <a:xfrm>
            <a:off x="7559650" y="4074394"/>
            <a:ext cx="3156297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/>
              <a:t>нижняя граница поля допуска LSL = 9,975 мм;</a:t>
            </a: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/>
              <a:t>верхняя граница поля допуска USL = 10,025 мм;</a:t>
            </a: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/>
              <a:t>середина поля допуска (целевое значение)</a:t>
            </a:r>
            <a:br>
              <a:rPr lang="ru-RU" sz="1600" dirty="0"/>
            </a:br>
            <a:br>
              <a:rPr lang="ru-RU" sz="1600" dirty="0"/>
            </a:br>
            <a:r>
              <a:rPr lang="ru-RU" sz="1600" dirty="0"/>
              <a:t>Ц= (LSL + USL) /2 = (10,025 + 9,975) / 2 = 10,000 мм;</a:t>
            </a:r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2B6C0E-C4B9-4094-8E59-5B7DF00D5415}" type="slidenum">
              <a:rPr lang="ru-RU" smtClean="0"/>
              <a:t>16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053948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AutoShape 2"/>
          <p:cNvSpPr>
            <a:spLocks noChangeArrowheads="1"/>
          </p:cNvSpPr>
          <p:nvPr/>
        </p:nvSpPr>
        <p:spPr bwMode="auto">
          <a:xfrm>
            <a:off x="1438275" y="322263"/>
            <a:ext cx="10800505" cy="6553249"/>
          </a:xfrm>
          <a:prstGeom prst="roundRect">
            <a:avLst>
              <a:gd name="adj" fmla="val 16667"/>
            </a:avLst>
          </a:prstGeom>
          <a:solidFill>
            <a:schemeClr val="bg1">
              <a:alpha val="50000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9441" tIns="49721" rIns="99441" bIns="49721" anchor="ctr"/>
          <a:lstStyle>
            <a:lvl1pPr defTabSz="99377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1177925" defTabSz="99377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373188" defTabSz="99377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66863" defTabSz="99377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89138" defTabSz="99377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46338" defTabSz="9937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03538" defTabSz="9937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60738" defTabSz="9937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17938" defTabSz="9937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ru-RU" altLang="ru-RU" sz="3500">
              <a:solidFill>
                <a:schemeClr val="bg1"/>
              </a:solidFill>
            </a:endParaRPr>
          </a:p>
        </p:txBody>
      </p:sp>
      <p:sp>
        <p:nvSpPr>
          <p:cNvPr id="7" name="Скругленный прямоугольник 6"/>
          <p:cNvSpPr/>
          <p:nvPr/>
        </p:nvSpPr>
        <p:spPr bwMode="auto">
          <a:xfrm>
            <a:off x="861518" y="1296627"/>
            <a:ext cx="10873208" cy="5397702"/>
          </a:xfrm>
          <a:prstGeom prst="roundRect">
            <a:avLst/>
          </a:prstGeom>
          <a:solidFill>
            <a:schemeClr val="accent2">
              <a:lumMod val="20000"/>
              <a:lumOff val="80000"/>
              <a:alpha val="50000"/>
            </a:schemeClr>
          </a:solidFill>
          <a:ln>
            <a:noFill/>
          </a:ln>
          <a:effectLst/>
        </p:spPr>
        <p:txBody>
          <a:bodyPr wrap="none" lIns="99441" tIns="49721" rIns="99441" bIns="49721" anchor="ctr"/>
          <a:lstStyle/>
          <a:p>
            <a:pPr defTabSz="993775"/>
            <a:endParaRPr lang="ru-RU" sz="3500" dirty="0">
              <a:solidFill>
                <a:schemeClr val="bg1"/>
              </a:solidFill>
            </a:endParaRPr>
          </a:p>
        </p:txBody>
      </p:sp>
      <p:sp>
        <p:nvSpPr>
          <p:cNvPr id="8" name="AutoShape 5"/>
          <p:cNvSpPr>
            <a:spLocks noChangeArrowheads="1"/>
          </p:cNvSpPr>
          <p:nvPr/>
        </p:nvSpPr>
        <p:spPr bwMode="auto">
          <a:xfrm>
            <a:off x="2154116" y="361782"/>
            <a:ext cx="8351837" cy="849178"/>
          </a:xfrm>
          <a:prstGeom prst="roundRect">
            <a:avLst>
              <a:gd name="adj" fmla="val 34319"/>
            </a:avLst>
          </a:prstGeom>
          <a:solidFill>
            <a:srgbClr val="FFFFFF">
              <a:alpha val="78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9441" tIns="49721" rIns="99441" bIns="49721" anchor="ctr"/>
          <a:lstStyle>
            <a:lvl1pPr defTabSz="99377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1177925" defTabSz="99377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373188" defTabSz="99377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66863" defTabSz="99377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89138" defTabSz="99377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46338" defTabSz="9937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03538" defTabSz="9937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60738" defTabSz="9937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17938" defTabSz="9937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ru-RU" altLang="ru-RU" sz="3500">
              <a:solidFill>
                <a:schemeClr val="bg1"/>
              </a:solidFill>
            </a:endParaRPr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989070" y="407928"/>
            <a:ext cx="8700009" cy="763512"/>
          </a:xfrm>
        </p:spPr>
        <p:txBody>
          <a:bodyPr/>
          <a:lstStyle/>
          <a:p>
            <a:pPr>
              <a:defRPr/>
            </a:pPr>
            <a:r>
              <a:rPr lang="ru-RU" sz="4000" dirty="0"/>
              <a:t>Гистограммы</a:t>
            </a:r>
          </a:p>
        </p:txBody>
      </p:sp>
      <p:sp>
        <p:nvSpPr>
          <p:cNvPr id="4" name="Прямоугольник 3"/>
          <p:cNvSpPr/>
          <p:nvPr/>
        </p:nvSpPr>
        <p:spPr>
          <a:xfrm>
            <a:off x="2301677" y="1314550"/>
            <a:ext cx="3096344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200" b="1" dirty="0"/>
              <a:t>Контроль качества</a:t>
            </a:r>
          </a:p>
        </p:txBody>
      </p:sp>
      <p:sp>
        <p:nvSpPr>
          <p:cNvPr id="9" name="Прямоугольник 8"/>
          <p:cNvSpPr/>
          <p:nvPr/>
        </p:nvSpPr>
        <p:spPr>
          <a:xfrm>
            <a:off x="1653605" y="1870623"/>
            <a:ext cx="9865096" cy="16312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1" dirty="0"/>
              <a:t>Поле допуска</a:t>
            </a:r>
            <a:r>
              <a:rPr lang="ru-RU" dirty="0"/>
              <a:t> — </a:t>
            </a:r>
            <a:r>
              <a:rPr lang="ru-RU" b="1" dirty="0"/>
              <a:t>поле</a:t>
            </a:r>
            <a:r>
              <a:rPr lang="ru-RU" dirty="0"/>
              <a:t>, ограниченное наибольшим и наименьшим предельными размерами и определяемое величиной </a:t>
            </a:r>
            <a:r>
              <a:rPr lang="ru-RU" b="1" dirty="0"/>
              <a:t>допуска</a:t>
            </a:r>
            <a:r>
              <a:rPr lang="ru-RU" dirty="0"/>
              <a:t> и его положением относительно номинального размера. При графическом изображении </a:t>
            </a:r>
            <a:r>
              <a:rPr lang="ru-RU" b="1" dirty="0"/>
              <a:t>поле допуска</a:t>
            </a:r>
            <a:r>
              <a:rPr lang="ru-RU" dirty="0"/>
              <a:t> заключено между двумя линиями, соответствующими верхнему и нижнему отклонениям относительно нулевой линии.</a:t>
            </a:r>
          </a:p>
        </p:txBody>
      </p:sp>
      <p:pic>
        <p:nvPicPr>
          <p:cNvPr id="11" name="Рисунок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41801" y="3928281"/>
            <a:ext cx="4176464" cy="2478492"/>
          </a:xfrm>
          <a:prstGeom prst="rect">
            <a:avLst/>
          </a:prstGeom>
        </p:spPr>
      </p:pic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2B6C0E-C4B9-4094-8E59-5B7DF00D5415}" type="slidenum">
              <a:rPr lang="ru-RU" smtClean="0"/>
              <a:t>17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839794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AutoShape 2"/>
          <p:cNvSpPr>
            <a:spLocks noChangeArrowheads="1"/>
          </p:cNvSpPr>
          <p:nvPr/>
        </p:nvSpPr>
        <p:spPr bwMode="auto">
          <a:xfrm>
            <a:off x="1438275" y="322263"/>
            <a:ext cx="10800505" cy="6553249"/>
          </a:xfrm>
          <a:prstGeom prst="roundRect">
            <a:avLst>
              <a:gd name="adj" fmla="val 16667"/>
            </a:avLst>
          </a:prstGeom>
          <a:solidFill>
            <a:schemeClr val="bg1">
              <a:alpha val="50000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9441" tIns="49721" rIns="99441" bIns="49721" anchor="ctr"/>
          <a:lstStyle>
            <a:lvl1pPr defTabSz="99377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1177925" defTabSz="99377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373188" defTabSz="99377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66863" defTabSz="99377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89138" defTabSz="99377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46338" defTabSz="9937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03538" defTabSz="9937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60738" defTabSz="9937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17938" defTabSz="9937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ru-RU" altLang="ru-RU" sz="3500">
              <a:solidFill>
                <a:schemeClr val="bg1"/>
              </a:solidFill>
            </a:endParaRPr>
          </a:p>
        </p:txBody>
      </p:sp>
      <p:sp>
        <p:nvSpPr>
          <p:cNvPr id="7" name="Скругленный прямоугольник 6"/>
          <p:cNvSpPr/>
          <p:nvPr/>
        </p:nvSpPr>
        <p:spPr bwMode="auto">
          <a:xfrm>
            <a:off x="1006230" y="898848"/>
            <a:ext cx="10800504" cy="5813403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  <a:headEnd type="none" w="med" len="med"/>
            <a:tailEnd type="none" w="med" len="med"/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defTabSz="993775"/>
            <a:endParaRPr lang="ru-RU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856867" y="228800"/>
            <a:ext cx="8700009" cy="763512"/>
          </a:xfrm>
        </p:spPr>
        <p:txBody>
          <a:bodyPr/>
          <a:lstStyle/>
          <a:p>
            <a:pPr>
              <a:defRPr/>
            </a:pPr>
            <a:r>
              <a:rPr lang="ru-RU" sz="4000" dirty="0"/>
              <a:t>Гистограммы</a:t>
            </a:r>
          </a:p>
        </p:txBody>
      </p:sp>
      <p:sp>
        <p:nvSpPr>
          <p:cNvPr id="4" name="Прямоугольник 3"/>
          <p:cNvSpPr/>
          <p:nvPr/>
        </p:nvSpPr>
        <p:spPr>
          <a:xfrm>
            <a:off x="2301677" y="1314550"/>
            <a:ext cx="3096344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200" b="1" dirty="0"/>
              <a:t>Контроль качества</a:t>
            </a:r>
          </a:p>
        </p:txBody>
      </p:sp>
      <p:sp>
        <p:nvSpPr>
          <p:cNvPr id="3" name="Прямоугольник 2"/>
          <p:cNvSpPr/>
          <p:nvPr/>
        </p:nvSpPr>
        <p:spPr>
          <a:xfrm>
            <a:off x="1989069" y="1831103"/>
            <a:ext cx="8568952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Обозначим дополнительные (гипотетические) значения </a:t>
            </a: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dirty="0"/>
              <a:t>нижней (LSL)'</a:t>
            </a: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dirty="0"/>
              <a:t>и верхней (USL)' границ поля допуска, </a:t>
            </a:r>
            <a:r>
              <a:rPr lang="en-US" dirty="0"/>
              <a:t>(</a:t>
            </a:r>
            <a:r>
              <a:rPr lang="ru-RU" dirty="0"/>
              <a:t>потребуются далее</a:t>
            </a:r>
            <a:r>
              <a:rPr lang="en-US" dirty="0"/>
              <a:t>)</a:t>
            </a:r>
            <a:r>
              <a:rPr lang="ru-RU" dirty="0"/>
              <a:t>.</a:t>
            </a:r>
            <a:endParaRPr lang="en-US" dirty="0"/>
          </a:p>
          <a:p>
            <a:endParaRPr lang="en-US" dirty="0"/>
          </a:p>
          <a:p>
            <a:r>
              <a:rPr lang="ru-RU" dirty="0"/>
              <a:t>По имеющимся данным могут быть вычислены следующие величины, характеризующие качество процесса производства валиков:</a:t>
            </a:r>
            <a:br>
              <a:rPr lang="ru-RU" dirty="0"/>
            </a:br>
            <a:br>
              <a:rPr lang="ru-RU" dirty="0"/>
            </a:br>
            <a:r>
              <a:rPr lang="ru-RU" dirty="0"/>
              <a:t>оценка индекса пригодности процесса удовлетворяет технический допуск без учета положения среднего значения</a:t>
            </a:r>
            <a:r>
              <a:rPr lang="en-US" dirty="0"/>
              <a:t>:</a:t>
            </a:r>
            <a:r>
              <a:rPr lang="ru-RU" dirty="0"/>
              <a:t> </a:t>
            </a: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68647" y="4958911"/>
            <a:ext cx="4409796" cy="734966"/>
          </a:xfrm>
          <a:prstGeom prst="rect">
            <a:avLst/>
          </a:prstGeom>
        </p:spPr>
      </p:pic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2B6C0E-C4B9-4094-8E59-5B7DF00D5415}" type="slidenum">
              <a:rPr lang="ru-RU" smtClean="0"/>
              <a:t>18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813934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AutoShape 2"/>
          <p:cNvSpPr>
            <a:spLocks noChangeArrowheads="1"/>
          </p:cNvSpPr>
          <p:nvPr/>
        </p:nvSpPr>
        <p:spPr bwMode="auto">
          <a:xfrm>
            <a:off x="1438275" y="322263"/>
            <a:ext cx="10728497" cy="6553249"/>
          </a:xfrm>
          <a:prstGeom prst="roundRect">
            <a:avLst>
              <a:gd name="adj" fmla="val 16667"/>
            </a:avLst>
          </a:prstGeom>
          <a:solidFill>
            <a:schemeClr val="bg1">
              <a:alpha val="50000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9441" tIns="49721" rIns="99441" bIns="49721" anchor="ctr"/>
          <a:lstStyle>
            <a:lvl1pPr defTabSz="99377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1177925" defTabSz="99377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373188" defTabSz="99377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66863" defTabSz="99377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89138" defTabSz="99377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46338" defTabSz="9937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03538" defTabSz="9937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60738" defTabSz="9937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17938" defTabSz="9937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ru-RU" altLang="ru-RU" sz="3500">
              <a:solidFill>
                <a:schemeClr val="bg1"/>
              </a:solidFill>
            </a:endParaRPr>
          </a:p>
        </p:txBody>
      </p:sp>
      <p:sp>
        <p:nvSpPr>
          <p:cNvPr id="7" name="Скругленный прямоугольник 6"/>
          <p:cNvSpPr/>
          <p:nvPr/>
        </p:nvSpPr>
        <p:spPr bwMode="auto">
          <a:xfrm>
            <a:off x="1005534" y="1296627"/>
            <a:ext cx="10801200" cy="5397702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  <a:headEnd type="none" w="med" len="med"/>
            <a:tailEnd type="none" w="med" len="med"/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defTabSz="993775"/>
            <a:endParaRPr lang="ru-RU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AutoShape 5"/>
          <p:cNvSpPr>
            <a:spLocks noChangeArrowheads="1"/>
          </p:cNvSpPr>
          <p:nvPr/>
        </p:nvSpPr>
        <p:spPr bwMode="auto">
          <a:xfrm>
            <a:off x="2154116" y="361782"/>
            <a:ext cx="8351837" cy="849178"/>
          </a:xfrm>
          <a:prstGeom prst="roundRect">
            <a:avLst>
              <a:gd name="adj" fmla="val 34319"/>
            </a:avLst>
          </a:prstGeom>
          <a:solidFill>
            <a:srgbClr val="FFFFFF">
              <a:alpha val="78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9441" tIns="49721" rIns="99441" bIns="49721" anchor="ctr"/>
          <a:lstStyle>
            <a:lvl1pPr defTabSz="99377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1177925" defTabSz="99377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373188" defTabSz="99377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66863" defTabSz="99377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89138" defTabSz="99377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46338" defTabSz="9937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03538" defTabSz="9937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60738" defTabSz="9937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17938" defTabSz="9937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ru-RU" altLang="ru-RU" sz="3500">
              <a:solidFill>
                <a:schemeClr val="bg1"/>
              </a:solidFill>
            </a:endParaRPr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989070" y="407928"/>
            <a:ext cx="8700009" cy="763512"/>
          </a:xfrm>
        </p:spPr>
        <p:txBody>
          <a:bodyPr/>
          <a:lstStyle/>
          <a:p>
            <a:pPr>
              <a:defRPr/>
            </a:pPr>
            <a:r>
              <a:rPr lang="ru-RU" sz="4000" dirty="0"/>
              <a:t>Гистограммы</a:t>
            </a:r>
          </a:p>
        </p:txBody>
      </p:sp>
      <p:sp>
        <p:nvSpPr>
          <p:cNvPr id="4" name="Прямоугольник 3"/>
          <p:cNvSpPr/>
          <p:nvPr/>
        </p:nvSpPr>
        <p:spPr>
          <a:xfrm>
            <a:off x="2301677" y="1314550"/>
            <a:ext cx="3096344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200" b="1" dirty="0"/>
              <a:t>Контроль качества</a:t>
            </a:r>
          </a:p>
        </p:txBody>
      </p:sp>
      <p:sp>
        <p:nvSpPr>
          <p:cNvPr id="10" name="Прямоугольник 9"/>
          <p:cNvSpPr/>
          <p:nvPr/>
        </p:nvSpPr>
        <p:spPr>
          <a:xfrm>
            <a:off x="2062552" y="3031370"/>
            <a:ext cx="9600165" cy="3139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800" dirty="0"/>
              <a:t>Если </a:t>
            </a:r>
            <a:r>
              <a:rPr lang="ru-RU" sz="1800" dirty="0" err="1"/>
              <a:t>Рр</a:t>
            </a:r>
            <a:r>
              <a:rPr lang="ru-RU" sz="1800" dirty="0"/>
              <a:t>&gt;1, то ширина гистограммы укладывается в пределах ширины поля допуска, т. е. процесс является управляемым; точнее имеется возможность осуществить процесс так, что 99,73 % изделий будут попадать в пределы поля допуска; </a:t>
            </a:r>
          </a:p>
          <a:p>
            <a:r>
              <a:rPr lang="ru-RU" sz="1800" dirty="0"/>
              <a:t>если </a:t>
            </a:r>
            <a:r>
              <a:rPr lang="ru-RU" sz="1800" dirty="0" err="1"/>
              <a:t>Рр</a:t>
            </a:r>
            <a:r>
              <a:rPr lang="ru-RU" sz="1800" dirty="0"/>
              <a:t> &lt; 1, то процесс является неуправляемым, так как размеры части изделий неизбежно будут выходить за пределы поля допуска.</a:t>
            </a:r>
          </a:p>
          <a:p>
            <a:endParaRPr lang="ru-RU" sz="1800" dirty="0"/>
          </a:p>
          <a:p>
            <a:r>
              <a:rPr lang="ru-RU" sz="1800" dirty="0"/>
              <a:t>Большинство российских заводов работают при значениях </a:t>
            </a:r>
            <a:r>
              <a:rPr lang="ru-RU" sz="1800" dirty="0" err="1"/>
              <a:t>Рр</a:t>
            </a:r>
            <a:r>
              <a:rPr lang="ru-RU" sz="1800" dirty="0"/>
              <a:t> ~ 0,95 ... 1,3, а японским специалистам по управлению качеством продукции во многих случаях удается поддерживать на своих предприятиях значения индекса пригодности процессов </a:t>
            </a:r>
            <a:r>
              <a:rPr lang="ru-RU" sz="1800" dirty="0" err="1"/>
              <a:t>Рр</a:t>
            </a:r>
            <a:r>
              <a:rPr lang="ru-RU" sz="1800" dirty="0"/>
              <a:t> ~ 1,5 ... 4,0, что позволяет ограничить дефектность продукции единицами бракованных изделий на миллион выпускаемых изделий.</a:t>
            </a:r>
          </a:p>
        </p:txBody>
      </p:sp>
      <p:pic>
        <p:nvPicPr>
          <p:cNvPr id="11" name="Рисунок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69829" y="2184953"/>
            <a:ext cx="4409796" cy="734966"/>
          </a:xfrm>
          <a:prstGeom prst="rect">
            <a:avLst/>
          </a:prstGeom>
        </p:spPr>
      </p:pic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2B6C0E-C4B9-4094-8E59-5B7DF00D5415}" type="slidenum">
              <a:rPr lang="ru-RU" smtClean="0"/>
              <a:t>19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834523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AutoShape 2"/>
          <p:cNvSpPr>
            <a:spLocks noChangeArrowheads="1"/>
          </p:cNvSpPr>
          <p:nvPr/>
        </p:nvSpPr>
        <p:spPr bwMode="auto">
          <a:xfrm>
            <a:off x="1438275" y="322263"/>
            <a:ext cx="10728497" cy="6553249"/>
          </a:xfrm>
          <a:prstGeom prst="roundRect">
            <a:avLst>
              <a:gd name="adj" fmla="val 16667"/>
            </a:avLst>
          </a:prstGeom>
          <a:solidFill>
            <a:schemeClr val="bg1">
              <a:alpha val="50000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9441" tIns="49721" rIns="99441" bIns="49721" anchor="ctr"/>
          <a:lstStyle>
            <a:lvl1pPr defTabSz="99377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1177925" defTabSz="99377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373188" defTabSz="99377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66863" defTabSz="99377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89138" defTabSz="99377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46338" defTabSz="9937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03538" defTabSz="9937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60738" defTabSz="9937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17938" defTabSz="9937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ru-RU" altLang="ru-RU" sz="3500">
              <a:solidFill>
                <a:schemeClr val="bg1"/>
              </a:solidFill>
            </a:endParaRPr>
          </a:p>
        </p:txBody>
      </p:sp>
      <p:sp>
        <p:nvSpPr>
          <p:cNvPr id="7" name="Скругленный прямоугольник 6"/>
          <p:cNvSpPr/>
          <p:nvPr/>
        </p:nvSpPr>
        <p:spPr bwMode="auto">
          <a:xfrm>
            <a:off x="1726308" y="1296627"/>
            <a:ext cx="9216331" cy="5397702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  <a:headEnd type="none" w="med" len="med"/>
            <a:tailEnd type="none" w="med" len="med"/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defTabSz="993775"/>
            <a:endParaRPr lang="ru-RU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AutoShape 5"/>
          <p:cNvSpPr>
            <a:spLocks noChangeArrowheads="1"/>
          </p:cNvSpPr>
          <p:nvPr/>
        </p:nvSpPr>
        <p:spPr bwMode="auto">
          <a:xfrm>
            <a:off x="2154116" y="361782"/>
            <a:ext cx="8351837" cy="849178"/>
          </a:xfrm>
          <a:prstGeom prst="roundRect">
            <a:avLst>
              <a:gd name="adj" fmla="val 34319"/>
            </a:avLst>
          </a:prstGeom>
          <a:solidFill>
            <a:srgbClr val="FFFFFF">
              <a:alpha val="78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9441" tIns="49721" rIns="99441" bIns="49721" anchor="ctr"/>
          <a:lstStyle>
            <a:lvl1pPr defTabSz="99377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1177925" defTabSz="99377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373188" defTabSz="99377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66863" defTabSz="99377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89138" defTabSz="99377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46338" defTabSz="9937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03538" defTabSz="9937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60738" defTabSz="9937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17938" defTabSz="9937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ru-RU" altLang="ru-RU" sz="3500">
              <a:solidFill>
                <a:schemeClr val="bg1"/>
              </a:solidFill>
            </a:endParaRPr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989070" y="407928"/>
            <a:ext cx="8700009" cy="763512"/>
          </a:xfrm>
        </p:spPr>
        <p:txBody>
          <a:bodyPr/>
          <a:lstStyle/>
          <a:p>
            <a:pPr>
              <a:defRPr/>
            </a:pPr>
            <a:r>
              <a:rPr lang="ru-RU" sz="4000" dirty="0"/>
              <a:t>Гистограммы</a:t>
            </a:r>
          </a:p>
        </p:txBody>
      </p:sp>
      <p:sp>
        <p:nvSpPr>
          <p:cNvPr id="4" name="Прямоугольник 3"/>
          <p:cNvSpPr/>
          <p:nvPr/>
        </p:nvSpPr>
        <p:spPr>
          <a:xfrm>
            <a:off x="2301677" y="1314550"/>
            <a:ext cx="3096344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200" b="1" dirty="0"/>
              <a:t>Контроль качества</a:t>
            </a:r>
          </a:p>
        </p:txBody>
      </p:sp>
      <p:sp>
        <p:nvSpPr>
          <p:cNvPr id="3" name="Прямоугольник 2"/>
          <p:cNvSpPr/>
          <p:nvPr/>
        </p:nvSpPr>
        <p:spPr>
          <a:xfrm>
            <a:off x="2154115" y="1791862"/>
            <a:ext cx="8534963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1" dirty="0"/>
              <a:t>Использование гистограмм при оценке и анализе качества процессов (1)</a:t>
            </a:r>
          </a:p>
        </p:txBody>
      </p:sp>
      <p:sp>
        <p:nvSpPr>
          <p:cNvPr id="5" name="Прямоугольник 4"/>
          <p:cNvSpPr/>
          <p:nvPr/>
        </p:nvSpPr>
        <p:spPr>
          <a:xfrm>
            <a:off x="1989069" y="2497596"/>
            <a:ext cx="8953568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800" dirty="0"/>
              <a:t>На рисунке </a:t>
            </a:r>
            <a:r>
              <a:rPr lang="ru-RU" sz="1800" b="1" dirty="0"/>
              <a:t>а) </a:t>
            </a:r>
            <a:r>
              <a:rPr lang="ru-RU" sz="1800" dirty="0"/>
              <a:t>левая и правая стороны гистограммы </a:t>
            </a:r>
            <a:r>
              <a:rPr lang="ru-RU" sz="1800" b="1" dirty="0"/>
              <a:t>симметричны</a:t>
            </a:r>
            <a:r>
              <a:rPr lang="ru-RU" sz="1800" dirty="0"/>
              <a:t>, следовательно, форма гистограммы </a:t>
            </a:r>
            <a:r>
              <a:rPr lang="ru-RU" sz="1800" b="1" dirty="0"/>
              <a:t>удовлетворительна</a:t>
            </a:r>
            <a:r>
              <a:rPr lang="ru-RU" sz="1800" dirty="0"/>
              <a:t>. Если сравнить ширину гистограммы с шириной поля допуска, то она составляет приблизительно 3/4 (что соответствует </a:t>
            </a:r>
            <a:r>
              <a:rPr lang="ru-RU" sz="1800" dirty="0" err="1"/>
              <a:t>Рр</a:t>
            </a:r>
            <a:r>
              <a:rPr lang="ru-RU" sz="1800" dirty="0"/>
              <a:t> ~ 1,33), т. е. в поле допуска имеется достаточный запас. Поскольку центр  распределения и центр Ц поля допуска совпадают (что соответствует к ~ 0 и </a:t>
            </a:r>
            <a:r>
              <a:rPr lang="ru-RU" sz="1800" dirty="0" err="1"/>
              <a:t>Ррк</a:t>
            </a:r>
            <a:r>
              <a:rPr lang="ru-RU" sz="1800" dirty="0"/>
              <a:t> ~ 1,33), </a:t>
            </a:r>
            <a:r>
              <a:rPr lang="ru-RU" sz="1800" b="1" dirty="0"/>
              <a:t>то качество партии деталей находится в удовлетворительном состоянии</a:t>
            </a:r>
            <a:r>
              <a:rPr lang="ru-RU" sz="1800" dirty="0"/>
              <a:t>. Таким образом, в данной ситуации технологическая операция не нуждается в корректировке.</a:t>
            </a:r>
          </a:p>
        </p:txBody>
      </p:sp>
      <p:pic>
        <p:nvPicPr>
          <p:cNvPr id="9" name="Рисунок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32659" y="4805921"/>
            <a:ext cx="4896544" cy="1877197"/>
          </a:xfrm>
          <a:prstGeom prst="rect">
            <a:avLst/>
          </a:prstGeom>
        </p:spPr>
      </p:pic>
      <p:sp>
        <p:nvSpPr>
          <p:cNvPr id="12" name="Прямоугольник 11"/>
          <p:cNvSpPr/>
          <p:nvPr/>
        </p:nvSpPr>
        <p:spPr bwMode="auto">
          <a:xfrm>
            <a:off x="3381797" y="4817133"/>
            <a:ext cx="2016224" cy="1865985"/>
          </a:xfrm>
          <a:prstGeom prst="rect">
            <a:avLst/>
          </a:prstGeom>
          <a:noFill/>
          <a:ln w="19050" cap="flat" cmpd="sng" algn="ctr">
            <a:solidFill>
              <a:srgbClr val="FF505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defTabSz="993775"/>
            <a:endParaRPr lang="ru-RU"/>
          </a:p>
        </p:txBody>
      </p:sp>
      <p:sp>
        <p:nvSpPr>
          <p:cNvPr id="10" name="Номер слайда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2B6C0E-C4B9-4094-8E59-5B7DF00D5415}" type="slidenum">
              <a:rPr lang="ru-RU" smtClean="0"/>
              <a:t>20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715537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AutoShape 2"/>
          <p:cNvSpPr>
            <a:spLocks noChangeArrowheads="1"/>
          </p:cNvSpPr>
          <p:nvPr/>
        </p:nvSpPr>
        <p:spPr bwMode="auto">
          <a:xfrm>
            <a:off x="1438275" y="322263"/>
            <a:ext cx="10800505" cy="6553249"/>
          </a:xfrm>
          <a:prstGeom prst="roundRect">
            <a:avLst>
              <a:gd name="adj" fmla="val 16667"/>
            </a:avLst>
          </a:prstGeom>
          <a:solidFill>
            <a:schemeClr val="bg1">
              <a:alpha val="50000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9441" tIns="49721" rIns="99441" bIns="49721" anchor="ctr"/>
          <a:lstStyle>
            <a:lvl1pPr defTabSz="99377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1177925" defTabSz="99377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373188" defTabSz="99377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66863" defTabSz="99377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89138" defTabSz="99377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46338" defTabSz="9937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03538" defTabSz="9937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60738" defTabSz="9937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17938" defTabSz="9937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ru-RU" altLang="ru-RU" sz="3500">
              <a:solidFill>
                <a:schemeClr val="bg1"/>
              </a:solidFill>
            </a:endParaRPr>
          </a:p>
        </p:txBody>
      </p:sp>
      <p:sp>
        <p:nvSpPr>
          <p:cNvPr id="7" name="Скругленный прямоугольник 6"/>
          <p:cNvSpPr/>
          <p:nvPr/>
        </p:nvSpPr>
        <p:spPr bwMode="auto">
          <a:xfrm>
            <a:off x="1726308" y="1296627"/>
            <a:ext cx="9216331" cy="5397702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  <a:headEnd type="none" w="med" len="med"/>
            <a:tailEnd type="none" w="med" len="med"/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defTabSz="993775"/>
            <a:endParaRPr lang="ru-RU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AutoShape 5"/>
          <p:cNvSpPr>
            <a:spLocks noChangeArrowheads="1"/>
          </p:cNvSpPr>
          <p:nvPr/>
        </p:nvSpPr>
        <p:spPr bwMode="auto">
          <a:xfrm>
            <a:off x="2154116" y="361782"/>
            <a:ext cx="8351837" cy="849178"/>
          </a:xfrm>
          <a:prstGeom prst="roundRect">
            <a:avLst>
              <a:gd name="adj" fmla="val 34319"/>
            </a:avLst>
          </a:prstGeom>
          <a:solidFill>
            <a:srgbClr val="FFFFFF">
              <a:alpha val="78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9441" tIns="49721" rIns="99441" bIns="49721" anchor="ctr"/>
          <a:lstStyle>
            <a:lvl1pPr defTabSz="99377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1177925" defTabSz="99377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373188" defTabSz="99377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66863" defTabSz="99377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89138" defTabSz="99377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46338" defTabSz="9937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03538" defTabSz="9937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60738" defTabSz="9937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17938" defTabSz="9937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ru-RU" altLang="ru-RU" sz="3500">
              <a:solidFill>
                <a:schemeClr val="bg1"/>
              </a:solidFill>
            </a:endParaRPr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989070" y="407928"/>
            <a:ext cx="8700009" cy="763512"/>
          </a:xfrm>
        </p:spPr>
        <p:txBody>
          <a:bodyPr/>
          <a:lstStyle/>
          <a:p>
            <a:pPr>
              <a:defRPr/>
            </a:pPr>
            <a:r>
              <a:rPr lang="ru-RU" sz="4000" dirty="0"/>
              <a:t>Гистограммы</a:t>
            </a:r>
          </a:p>
        </p:txBody>
      </p:sp>
      <p:sp>
        <p:nvSpPr>
          <p:cNvPr id="4" name="Прямоугольник 3"/>
          <p:cNvSpPr/>
          <p:nvPr/>
        </p:nvSpPr>
        <p:spPr>
          <a:xfrm>
            <a:off x="2301677" y="1314550"/>
            <a:ext cx="3096344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200" b="1" dirty="0"/>
              <a:t>Контроль качества</a:t>
            </a:r>
          </a:p>
        </p:txBody>
      </p:sp>
      <p:sp>
        <p:nvSpPr>
          <p:cNvPr id="3" name="Прямоугольник 2"/>
          <p:cNvSpPr/>
          <p:nvPr/>
        </p:nvSpPr>
        <p:spPr>
          <a:xfrm>
            <a:off x="2154115" y="1791862"/>
            <a:ext cx="8534963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1" dirty="0"/>
              <a:t>Использование гистограмм при оценке и анализе качества процессов (2)</a:t>
            </a:r>
          </a:p>
        </p:txBody>
      </p:sp>
      <p:pic>
        <p:nvPicPr>
          <p:cNvPr id="9" name="Рисунок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73885" y="2323976"/>
            <a:ext cx="4896544" cy="1877197"/>
          </a:xfrm>
          <a:prstGeom prst="rect">
            <a:avLst/>
          </a:prstGeom>
        </p:spPr>
      </p:pic>
      <p:sp>
        <p:nvSpPr>
          <p:cNvPr id="10" name="Прямоугольник 9"/>
          <p:cNvSpPr/>
          <p:nvPr/>
        </p:nvSpPr>
        <p:spPr>
          <a:xfrm>
            <a:off x="1837280" y="4186211"/>
            <a:ext cx="9168631" cy="25545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На рис. </a:t>
            </a:r>
            <a:r>
              <a:rPr lang="ru-RU" b="1" dirty="0"/>
              <a:t>б) </a:t>
            </a:r>
            <a:r>
              <a:rPr lang="ru-RU" dirty="0"/>
              <a:t>гистограмма сдвинута вправо. В связи с этим имеется </a:t>
            </a:r>
            <a:r>
              <a:rPr lang="ru-RU" b="1" dirty="0"/>
              <a:t>опасение</a:t>
            </a:r>
            <a:r>
              <a:rPr lang="ru-RU" dirty="0"/>
              <a:t>, что среди деталей могут находиться </a:t>
            </a:r>
            <a:r>
              <a:rPr lang="ru-RU" b="1" dirty="0"/>
              <a:t>некондиционные единицы </a:t>
            </a:r>
            <a:r>
              <a:rPr lang="ru-RU" dirty="0"/>
              <a:t>(выходящие за пределы допуска). В этом случае необходимо проверить, не вносят ли систематическую ошибку используемые средства измерения. Если средство измерения находится в удовлетворительном состоянии, следует продолжить изготовление деталей, отрегулировав технологическую операцию так, чтобы центр гистограммы совпадал с центром Ц поля допуска.</a:t>
            </a:r>
          </a:p>
        </p:txBody>
      </p:sp>
      <p:sp>
        <p:nvSpPr>
          <p:cNvPr id="11" name="Прямоугольник 10"/>
          <p:cNvSpPr/>
          <p:nvPr/>
        </p:nvSpPr>
        <p:spPr bwMode="auto">
          <a:xfrm>
            <a:off x="5722057" y="2335188"/>
            <a:ext cx="1800200" cy="1865985"/>
          </a:xfrm>
          <a:prstGeom prst="rect">
            <a:avLst/>
          </a:prstGeom>
          <a:noFill/>
          <a:ln w="19050" cap="flat" cmpd="sng" algn="ctr">
            <a:solidFill>
              <a:srgbClr val="FF505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defTabSz="993775"/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2B6C0E-C4B9-4094-8E59-5B7DF00D5415}" type="slidenum">
              <a:rPr lang="ru-RU" smtClean="0"/>
              <a:t>21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649314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AutoShape 2"/>
          <p:cNvSpPr>
            <a:spLocks noChangeArrowheads="1"/>
          </p:cNvSpPr>
          <p:nvPr/>
        </p:nvSpPr>
        <p:spPr bwMode="auto">
          <a:xfrm>
            <a:off x="1438275" y="322263"/>
            <a:ext cx="10872513" cy="6662161"/>
          </a:xfrm>
          <a:prstGeom prst="roundRect">
            <a:avLst>
              <a:gd name="adj" fmla="val 16667"/>
            </a:avLst>
          </a:prstGeom>
          <a:solidFill>
            <a:schemeClr val="bg1">
              <a:alpha val="50000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9441" tIns="49721" rIns="99441" bIns="49721" anchor="ctr"/>
          <a:lstStyle>
            <a:lvl1pPr defTabSz="99377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1177925" defTabSz="99377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373188" defTabSz="99377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66863" defTabSz="99377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89138" defTabSz="99377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46338" defTabSz="9937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03538" defTabSz="9937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60738" defTabSz="9937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17938" defTabSz="9937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ru-RU" altLang="ru-RU" sz="3500" dirty="0">
              <a:solidFill>
                <a:schemeClr val="bg1"/>
              </a:solidFill>
            </a:endParaRPr>
          </a:p>
        </p:txBody>
      </p:sp>
      <p:sp>
        <p:nvSpPr>
          <p:cNvPr id="7" name="Скругленный прямоугольник 6"/>
          <p:cNvSpPr/>
          <p:nvPr/>
        </p:nvSpPr>
        <p:spPr bwMode="auto">
          <a:xfrm>
            <a:off x="789509" y="1108472"/>
            <a:ext cx="11089232" cy="5725473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  <a:headEnd type="none" w="med" len="med"/>
            <a:tailEnd type="none" w="med" len="med"/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defTabSz="993775"/>
            <a:endParaRPr lang="ru-RU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AutoShape 5"/>
          <p:cNvSpPr>
            <a:spLocks noChangeArrowheads="1"/>
          </p:cNvSpPr>
          <p:nvPr/>
        </p:nvSpPr>
        <p:spPr bwMode="auto">
          <a:xfrm>
            <a:off x="2158208" y="276200"/>
            <a:ext cx="8351837" cy="849178"/>
          </a:xfrm>
          <a:prstGeom prst="roundRect">
            <a:avLst>
              <a:gd name="adj" fmla="val 34319"/>
            </a:avLst>
          </a:prstGeom>
          <a:solidFill>
            <a:srgbClr val="FFFFFF">
              <a:alpha val="78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9441" tIns="49721" rIns="99441" bIns="49721" anchor="ctr"/>
          <a:lstStyle>
            <a:lvl1pPr defTabSz="99377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1177925" defTabSz="99377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373188" defTabSz="99377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66863" defTabSz="99377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89138" defTabSz="99377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46338" defTabSz="9937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03538" defTabSz="9937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60738" defTabSz="9937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17938" defTabSz="9937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ru-RU" altLang="ru-RU" sz="3500">
              <a:solidFill>
                <a:schemeClr val="bg1"/>
              </a:solidFill>
            </a:endParaRPr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483881" y="227792"/>
            <a:ext cx="5832648" cy="763512"/>
          </a:xfrm>
        </p:spPr>
        <p:txBody>
          <a:bodyPr/>
          <a:lstStyle/>
          <a:p>
            <a:pPr>
              <a:defRPr/>
            </a:pPr>
            <a:r>
              <a:rPr lang="ru-RU" sz="4000" dirty="0"/>
              <a:t>Гистограммы</a:t>
            </a:r>
          </a:p>
        </p:txBody>
      </p:sp>
      <p:sp>
        <p:nvSpPr>
          <p:cNvPr id="4" name="Прямоугольник 3"/>
          <p:cNvSpPr/>
          <p:nvPr/>
        </p:nvSpPr>
        <p:spPr>
          <a:xfrm>
            <a:off x="2172449" y="1189573"/>
            <a:ext cx="3096344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200" b="1" dirty="0"/>
              <a:t>Контроль качества</a:t>
            </a:r>
          </a:p>
        </p:txBody>
      </p:sp>
      <p:sp>
        <p:nvSpPr>
          <p:cNvPr id="3" name="Прямоугольник 2"/>
          <p:cNvSpPr/>
          <p:nvPr/>
        </p:nvSpPr>
        <p:spPr>
          <a:xfrm>
            <a:off x="2024887" y="1666885"/>
            <a:ext cx="8534963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1" dirty="0"/>
              <a:t>Использование гистограмм при оценке и анализе качества процессов (3)</a:t>
            </a:r>
          </a:p>
        </p:txBody>
      </p:sp>
      <p:pic>
        <p:nvPicPr>
          <p:cNvPr id="9" name="Рисунок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0599" y="2071722"/>
            <a:ext cx="4896544" cy="1877197"/>
          </a:xfrm>
          <a:prstGeom prst="rect">
            <a:avLst/>
          </a:prstGeom>
        </p:spPr>
      </p:pic>
      <p:sp>
        <p:nvSpPr>
          <p:cNvPr id="5" name="Прямоугольник 4"/>
          <p:cNvSpPr/>
          <p:nvPr/>
        </p:nvSpPr>
        <p:spPr>
          <a:xfrm>
            <a:off x="1592759" y="3971623"/>
            <a:ext cx="9769377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800" dirty="0"/>
              <a:t>На рис. </a:t>
            </a:r>
            <a:r>
              <a:rPr lang="ru-RU" sz="1800" b="1" dirty="0"/>
              <a:t>в) </a:t>
            </a:r>
            <a:r>
              <a:rPr lang="ru-RU" sz="1800" dirty="0"/>
              <a:t>центр гистограммы совпадает с центром поля допуска (правильно). Однако поскольку ширина гистограммы, характеризующая реальный разброс значений контролируемого показателя, совпадает с шириной поля допуска, то имеется </a:t>
            </a:r>
            <a:r>
              <a:rPr lang="ru-RU" sz="1800" b="1" dirty="0"/>
              <a:t>опасение</a:t>
            </a:r>
            <a:r>
              <a:rPr lang="ru-RU" sz="1800" dirty="0"/>
              <a:t>, что со стороны верхнего и нижнего допуска </a:t>
            </a:r>
            <a:r>
              <a:rPr lang="ru-RU" sz="1800" b="1" dirty="0"/>
              <a:t>могут появиться некондиционные детали</a:t>
            </a:r>
            <a:r>
              <a:rPr lang="ru-RU" sz="1800" dirty="0"/>
              <a:t>. Следовательно, чтобы сузить ширину гистограммы, необходимо принять меры для обследования технологической операции с точки зрения </a:t>
            </a:r>
            <a:r>
              <a:rPr lang="ru-RU" sz="1800" b="1" dirty="0"/>
              <a:t>точности оборудования</a:t>
            </a:r>
            <a:r>
              <a:rPr lang="ru-RU" sz="1800" dirty="0"/>
              <a:t>, условий обработки, технологической оснастки и т. д. В случае невозможности найти техническое решение по данному вопросу рекомендуется (если есть такая возможность) расширить допуск, так как требования к качеству деталей в данном случае трудновыполнимы.</a:t>
            </a:r>
          </a:p>
        </p:txBody>
      </p:sp>
      <p:sp>
        <p:nvSpPr>
          <p:cNvPr id="11" name="Прямоугольник 10"/>
          <p:cNvSpPr/>
          <p:nvPr/>
        </p:nvSpPr>
        <p:spPr bwMode="auto">
          <a:xfrm>
            <a:off x="7212664" y="2172543"/>
            <a:ext cx="1848149" cy="1734887"/>
          </a:xfrm>
          <a:prstGeom prst="rect">
            <a:avLst/>
          </a:prstGeom>
          <a:noFill/>
          <a:ln w="19050" cap="flat" cmpd="sng" algn="ctr">
            <a:solidFill>
              <a:srgbClr val="FF505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defTabSz="993775"/>
            <a:endParaRPr lang="ru-RU"/>
          </a:p>
        </p:txBody>
      </p:sp>
      <p:sp>
        <p:nvSpPr>
          <p:cNvPr id="10" name="Номер слайда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2B6C0E-C4B9-4094-8E59-5B7DF00D5415}" type="slidenum">
              <a:rPr lang="ru-RU" smtClean="0"/>
              <a:t>22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893233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AutoShape 2"/>
          <p:cNvSpPr>
            <a:spLocks noChangeArrowheads="1"/>
          </p:cNvSpPr>
          <p:nvPr/>
        </p:nvSpPr>
        <p:spPr bwMode="auto">
          <a:xfrm>
            <a:off x="1438276" y="322263"/>
            <a:ext cx="10800505" cy="6662161"/>
          </a:xfrm>
          <a:prstGeom prst="roundRect">
            <a:avLst>
              <a:gd name="adj" fmla="val 16667"/>
            </a:avLst>
          </a:prstGeom>
          <a:solidFill>
            <a:schemeClr val="bg1">
              <a:alpha val="50000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9441" tIns="49721" rIns="99441" bIns="49721" anchor="ctr"/>
          <a:lstStyle>
            <a:lvl1pPr defTabSz="99377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1177925" defTabSz="99377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373188" defTabSz="99377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66863" defTabSz="99377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89138" defTabSz="99377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46338" defTabSz="9937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03538" defTabSz="9937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60738" defTabSz="9937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17938" defTabSz="9937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ru-RU" altLang="ru-RU" sz="3500">
              <a:solidFill>
                <a:schemeClr val="bg1"/>
              </a:solidFill>
            </a:endParaRPr>
          </a:p>
        </p:txBody>
      </p:sp>
      <p:sp>
        <p:nvSpPr>
          <p:cNvPr id="7" name="Скругленный прямоугольник 6"/>
          <p:cNvSpPr/>
          <p:nvPr/>
        </p:nvSpPr>
        <p:spPr bwMode="auto">
          <a:xfrm>
            <a:off x="861518" y="970856"/>
            <a:ext cx="11017224" cy="5832648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  <a:headEnd type="none" w="med" len="med"/>
            <a:tailEnd type="none" w="med" len="med"/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defTabSz="993775"/>
            <a:endParaRPr lang="ru-RU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AutoShape 5"/>
          <p:cNvSpPr>
            <a:spLocks noChangeArrowheads="1"/>
          </p:cNvSpPr>
          <p:nvPr/>
        </p:nvSpPr>
        <p:spPr bwMode="auto">
          <a:xfrm>
            <a:off x="2163155" y="204013"/>
            <a:ext cx="8351837" cy="849178"/>
          </a:xfrm>
          <a:prstGeom prst="roundRect">
            <a:avLst>
              <a:gd name="adj" fmla="val 34319"/>
            </a:avLst>
          </a:prstGeom>
          <a:solidFill>
            <a:srgbClr val="FFFFFF">
              <a:alpha val="78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9441" tIns="49721" rIns="99441" bIns="49721" anchor="ctr"/>
          <a:lstStyle>
            <a:lvl1pPr defTabSz="99377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1177925" defTabSz="99377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373188" defTabSz="99377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66863" defTabSz="99377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89138" defTabSz="99377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46338" defTabSz="9937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03538" defTabSz="9937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60738" defTabSz="9937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17938" defTabSz="9937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ru-RU" altLang="ru-RU" sz="3500">
              <a:solidFill>
                <a:schemeClr val="bg1"/>
              </a:solidFill>
            </a:endParaRPr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949749" y="181702"/>
            <a:ext cx="6768752" cy="763512"/>
          </a:xfrm>
        </p:spPr>
        <p:txBody>
          <a:bodyPr/>
          <a:lstStyle/>
          <a:p>
            <a:pPr>
              <a:defRPr/>
            </a:pPr>
            <a:r>
              <a:rPr lang="ru-RU" sz="4000" dirty="0"/>
              <a:t>Гистограммы</a:t>
            </a:r>
          </a:p>
        </p:txBody>
      </p:sp>
      <p:sp>
        <p:nvSpPr>
          <p:cNvPr id="4" name="Прямоугольник 3"/>
          <p:cNvSpPr/>
          <p:nvPr/>
        </p:nvSpPr>
        <p:spPr>
          <a:xfrm>
            <a:off x="2301677" y="1314550"/>
            <a:ext cx="3096344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200" b="1" dirty="0"/>
              <a:t>Контроль качества</a:t>
            </a:r>
          </a:p>
        </p:txBody>
      </p:sp>
      <p:sp>
        <p:nvSpPr>
          <p:cNvPr id="3" name="Прямоугольник 2"/>
          <p:cNvSpPr/>
          <p:nvPr/>
        </p:nvSpPr>
        <p:spPr>
          <a:xfrm>
            <a:off x="2154115" y="1791862"/>
            <a:ext cx="8534963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1" dirty="0"/>
              <a:t>Использование гистограмм при оценке и анализе качества процессов (4)</a:t>
            </a:r>
          </a:p>
        </p:txBody>
      </p:sp>
      <p:pic>
        <p:nvPicPr>
          <p:cNvPr id="10" name="Рисунок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01878" y="2446984"/>
            <a:ext cx="4595725" cy="1712952"/>
          </a:xfrm>
          <a:prstGeom prst="rect">
            <a:avLst/>
          </a:prstGeom>
        </p:spPr>
      </p:pic>
      <p:sp>
        <p:nvSpPr>
          <p:cNvPr id="11" name="Прямоугольник 10"/>
          <p:cNvSpPr/>
          <p:nvPr/>
        </p:nvSpPr>
        <p:spPr bwMode="auto">
          <a:xfrm>
            <a:off x="4101877" y="2370468"/>
            <a:ext cx="1584176" cy="1789469"/>
          </a:xfrm>
          <a:prstGeom prst="rect">
            <a:avLst/>
          </a:prstGeom>
          <a:noFill/>
          <a:ln w="19050" cap="flat" cmpd="sng" algn="ctr">
            <a:solidFill>
              <a:srgbClr val="FF505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defTabSz="993775"/>
            <a:endParaRPr lang="ru-RU"/>
          </a:p>
        </p:txBody>
      </p:sp>
      <p:sp>
        <p:nvSpPr>
          <p:cNvPr id="12" name="Прямоугольник 11"/>
          <p:cNvSpPr/>
          <p:nvPr/>
        </p:nvSpPr>
        <p:spPr>
          <a:xfrm>
            <a:off x="1801142" y="4285123"/>
            <a:ext cx="9240907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На рис.</a:t>
            </a:r>
            <a:r>
              <a:rPr lang="ru-RU" b="1" dirty="0"/>
              <a:t> г) </a:t>
            </a:r>
            <a:r>
              <a:rPr lang="ru-RU" dirty="0"/>
              <a:t>центр гистограммы смещен, причем выход одного интервала гистограммы за верхнюю границу допуска USL свидетельствует о </a:t>
            </a:r>
            <a:r>
              <a:rPr lang="ru-RU" b="1" dirty="0"/>
              <a:t>наличии дефектных деталей</a:t>
            </a:r>
            <a:r>
              <a:rPr lang="ru-RU" dirty="0"/>
              <a:t>. Кроме того, поскольку ширина гистограммы и ширина поля допуска почти одинаковы, необходимо срочно отрегулировать технологическую операцию, переместив центр гистограммы  в центр поля допуска Ц. либо уменьшить ширину гистограммы, либо изменить допуск.</a:t>
            </a:r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2B6C0E-C4B9-4094-8E59-5B7DF00D5415}" type="slidenum">
              <a:rPr lang="ru-RU" smtClean="0"/>
              <a:t>23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773492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AutoShape 2"/>
          <p:cNvSpPr>
            <a:spLocks noChangeArrowheads="1"/>
          </p:cNvSpPr>
          <p:nvPr/>
        </p:nvSpPr>
        <p:spPr bwMode="auto">
          <a:xfrm>
            <a:off x="1438275" y="322263"/>
            <a:ext cx="10944521" cy="6553249"/>
          </a:xfrm>
          <a:prstGeom prst="roundRect">
            <a:avLst>
              <a:gd name="adj" fmla="val 16667"/>
            </a:avLst>
          </a:prstGeom>
          <a:solidFill>
            <a:schemeClr val="bg1">
              <a:alpha val="50000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9441" tIns="49721" rIns="99441" bIns="49721" anchor="ctr"/>
          <a:lstStyle>
            <a:lvl1pPr defTabSz="99377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1177925" defTabSz="99377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373188" defTabSz="99377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66863" defTabSz="99377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89138" defTabSz="99377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46338" defTabSz="9937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03538" defTabSz="9937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60738" defTabSz="9937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17938" defTabSz="9937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ru-RU" altLang="ru-RU" sz="3500">
              <a:solidFill>
                <a:schemeClr val="bg1"/>
              </a:solidFill>
            </a:endParaRPr>
          </a:p>
        </p:txBody>
      </p:sp>
      <p:sp>
        <p:nvSpPr>
          <p:cNvPr id="7" name="Скругленный прямоугольник 6"/>
          <p:cNvSpPr/>
          <p:nvPr/>
        </p:nvSpPr>
        <p:spPr bwMode="auto">
          <a:xfrm>
            <a:off x="573485" y="1171441"/>
            <a:ext cx="11377264" cy="5522889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  <a:headEnd type="none" w="med" len="med"/>
            <a:tailEnd type="none" w="med" len="med"/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defTabSz="993775"/>
            <a:endParaRPr lang="ru-RU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AutoShape 5"/>
          <p:cNvSpPr>
            <a:spLocks noChangeArrowheads="1"/>
          </p:cNvSpPr>
          <p:nvPr/>
        </p:nvSpPr>
        <p:spPr bwMode="auto">
          <a:xfrm>
            <a:off x="2154116" y="361782"/>
            <a:ext cx="8351837" cy="849178"/>
          </a:xfrm>
          <a:prstGeom prst="roundRect">
            <a:avLst>
              <a:gd name="adj" fmla="val 34319"/>
            </a:avLst>
          </a:prstGeom>
          <a:solidFill>
            <a:srgbClr val="FFFFFF">
              <a:alpha val="78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9441" tIns="49721" rIns="99441" bIns="49721" anchor="ctr"/>
          <a:lstStyle>
            <a:lvl1pPr defTabSz="99377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1177925" defTabSz="99377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373188" defTabSz="99377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66863" defTabSz="99377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89138" defTabSz="99377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46338" defTabSz="9937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03538" defTabSz="9937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60738" defTabSz="9937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17938" defTabSz="9937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ru-RU" altLang="ru-RU" sz="3500">
              <a:solidFill>
                <a:schemeClr val="bg1"/>
              </a:solidFill>
            </a:endParaRPr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989070" y="407928"/>
            <a:ext cx="8700009" cy="763512"/>
          </a:xfrm>
        </p:spPr>
        <p:txBody>
          <a:bodyPr/>
          <a:lstStyle/>
          <a:p>
            <a:pPr>
              <a:defRPr/>
            </a:pPr>
            <a:r>
              <a:rPr lang="ru-RU" sz="4000" dirty="0"/>
              <a:t>Гистограммы</a:t>
            </a:r>
          </a:p>
        </p:txBody>
      </p:sp>
      <p:sp>
        <p:nvSpPr>
          <p:cNvPr id="4" name="Прямоугольник 3"/>
          <p:cNvSpPr/>
          <p:nvPr/>
        </p:nvSpPr>
        <p:spPr>
          <a:xfrm>
            <a:off x="2301677" y="1314550"/>
            <a:ext cx="3096344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200" b="1" dirty="0"/>
              <a:t>Контроль качества</a:t>
            </a:r>
          </a:p>
        </p:txBody>
      </p:sp>
      <p:sp>
        <p:nvSpPr>
          <p:cNvPr id="3" name="Прямоугольник 2"/>
          <p:cNvSpPr/>
          <p:nvPr/>
        </p:nvSpPr>
        <p:spPr>
          <a:xfrm>
            <a:off x="2154115" y="1791862"/>
            <a:ext cx="8534963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1" dirty="0"/>
              <a:t>Использование гистограмм при оценке и анализе качества процессов (5)</a:t>
            </a:r>
          </a:p>
        </p:txBody>
      </p:sp>
      <p:pic>
        <p:nvPicPr>
          <p:cNvPr id="10" name="Рисунок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01878" y="2446984"/>
            <a:ext cx="4595725" cy="1712952"/>
          </a:xfrm>
          <a:prstGeom prst="rect">
            <a:avLst/>
          </a:prstGeom>
        </p:spPr>
      </p:pic>
      <p:sp>
        <p:nvSpPr>
          <p:cNvPr id="11" name="Прямоугольник 10"/>
          <p:cNvSpPr/>
          <p:nvPr/>
        </p:nvSpPr>
        <p:spPr bwMode="auto">
          <a:xfrm>
            <a:off x="5629506" y="2433061"/>
            <a:ext cx="1584176" cy="1789469"/>
          </a:xfrm>
          <a:prstGeom prst="rect">
            <a:avLst/>
          </a:prstGeom>
          <a:noFill/>
          <a:ln w="19050" cap="flat" cmpd="sng" algn="ctr">
            <a:solidFill>
              <a:srgbClr val="FF505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defTabSz="993775"/>
            <a:endParaRPr lang="ru-RU"/>
          </a:p>
        </p:txBody>
      </p:sp>
      <p:sp>
        <p:nvSpPr>
          <p:cNvPr id="5" name="Прямоугольник 4"/>
          <p:cNvSpPr/>
          <p:nvPr/>
        </p:nvSpPr>
        <p:spPr>
          <a:xfrm>
            <a:off x="1900551" y="4519278"/>
            <a:ext cx="8788527" cy="16312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На рис. </a:t>
            </a:r>
            <a:r>
              <a:rPr lang="ru-RU" b="1" dirty="0"/>
              <a:t>д) </a:t>
            </a:r>
            <a:r>
              <a:rPr lang="ru-RU" dirty="0"/>
              <a:t>центр гистограммы совпадает с центром поля допуска, но так как ширина гистограммы превышает ширину поля допуска, то обнаруживаются </a:t>
            </a:r>
            <a:r>
              <a:rPr lang="ru-RU" b="1" dirty="0"/>
              <a:t>детали несоответствующего качества</a:t>
            </a:r>
            <a:r>
              <a:rPr lang="ru-RU" dirty="0"/>
              <a:t>, о чем свидетельствует выход гистограммы за обе стороны поля допуска. В этом случае целесообразно реализовать рассмотренные выше меры.</a:t>
            </a:r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2B6C0E-C4B9-4094-8E59-5B7DF00D5415}" type="slidenum">
              <a:rPr lang="ru-RU" smtClean="0"/>
              <a:t>24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489370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AutoShape 2"/>
          <p:cNvSpPr>
            <a:spLocks noChangeArrowheads="1"/>
          </p:cNvSpPr>
          <p:nvPr/>
        </p:nvSpPr>
        <p:spPr bwMode="auto">
          <a:xfrm>
            <a:off x="1438275" y="322263"/>
            <a:ext cx="10800505" cy="6553249"/>
          </a:xfrm>
          <a:prstGeom prst="roundRect">
            <a:avLst>
              <a:gd name="adj" fmla="val 16667"/>
            </a:avLst>
          </a:prstGeom>
          <a:solidFill>
            <a:schemeClr val="bg1">
              <a:alpha val="50000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9441" tIns="49721" rIns="99441" bIns="49721" anchor="ctr"/>
          <a:lstStyle>
            <a:lvl1pPr defTabSz="99377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1177925" defTabSz="99377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373188" defTabSz="99377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66863" defTabSz="99377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89138" defTabSz="99377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46338" defTabSz="9937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03538" defTabSz="9937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60738" defTabSz="9937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17938" defTabSz="9937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ru-RU" altLang="ru-RU" sz="3500">
              <a:solidFill>
                <a:schemeClr val="bg1"/>
              </a:solidFill>
            </a:endParaRPr>
          </a:p>
        </p:txBody>
      </p:sp>
      <p:sp>
        <p:nvSpPr>
          <p:cNvPr id="7" name="Скругленный прямоугольник 6"/>
          <p:cNvSpPr/>
          <p:nvPr/>
        </p:nvSpPr>
        <p:spPr bwMode="auto">
          <a:xfrm>
            <a:off x="861518" y="1171441"/>
            <a:ext cx="11017224" cy="5522889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  <a:headEnd type="none" w="med" len="med"/>
            <a:tailEnd type="none" w="med" len="med"/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defTabSz="993775"/>
            <a:endParaRPr lang="ru-RU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AutoShape 5"/>
          <p:cNvSpPr>
            <a:spLocks noChangeArrowheads="1"/>
          </p:cNvSpPr>
          <p:nvPr/>
        </p:nvSpPr>
        <p:spPr bwMode="auto">
          <a:xfrm>
            <a:off x="2154116" y="361782"/>
            <a:ext cx="8351837" cy="849178"/>
          </a:xfrm>
          <a:prstGeom prst="roundRect">
            <a:avLst>
              <a:gd name="adj" fmla="val 34319"/>
            </a:avLst>
          </a:prstGeom>
          <a:solidFill>
            <a:srgbClr val="FFFFFF">
              <a:alpha val="78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9441" tIns="49721" rIns="99441" bIns="49721" anchor="ctr"/>
          <a:lstStyle>
            <a:lvl1pPr defTabSz="99377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1177925" defTabSz="99377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373188" defTabSz="99377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66863" defTabSz="99377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89138" defTabSz="99377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46338" defTabSz="9937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03538" defTabSz="9937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60738" defTabSz="9937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17938" defTabSz="9937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ru-RU" altLang="ru-RU" sz="3500">
              <a:solidFill>
                <a:schemeClr val="bg1"/>
              </a:solidFill>
            </a:endParaRPr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989070" y="407928"/>
            <a:ext cx="8700009" cy="763512"/>
          </a:xfrm>
        </p:spPr>
        <p:txBody>
          <a:bodyPr/>
          <a:lstStyle/>
          <a:p>
            <a:pPr>
              <a:defRPr/>
            </a:pPr>
            <a:r>
              <a:rPr lang="ru-RU" sz="4000" dirty="0"/>
              <a:t>Гистограммы</a:t>
            </a:r>
          </a:p>
        </p:txBody>
      </p:sp>
      <p:sp>
        <p:nvSpPr>
          <p:cNvPr id="4" name="Прямоугольник 3"/>
          <p:cNvSpPr/>
          <p:nvPr/>
        </p:nvSpPr>
        <p:spPr>
          <a:xfrm>
            <a:off x="2301677" y="1314550"/>
            <a:ext cx="3096344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200" b="1" dirty="0"/>
              <a:t>Контроль качества</a:t>
            </a:r>
          </a:p>
        </p:txBody>
      </p:sp>
      <p:sp>
        <p:nvSpPr>
          <p:cNvPr id="3" name="Прямоугольник 2"/>
          <p:cNvSpPr/>
          <p:nvPr/>
        </p:nvSpPr>
        <p:spPr>
          <a:xfrm>
            <a:off x="2154115" y="1791862"/>
            <a:ext cx="8534963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1" dirty="0"/>
              <a:t>Использование гистограмм при оценке и анализе качества процессов (6)</a:t>
            </a:r>
          </a:p>
        </p:txBody>
      </p:sp>
      <p:pic>
        <p:nvPicPr>
          <p:cNvPr id="10" name="Рисунок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01878" y="2446984"/>
            <a:ext cx="4595725" cy="1712952"/>
          </a:xfrm>
          <a:prstGeom prst="rect">
            <a:avLst/>
          </a:prstGeom>
        </p:spPr>
      </p:pic>
      <p:sp>
        <p:nvSpPr>
          <p:cNvPr id="11" name="Прямоугольник 10"/>
          <p:cNvSpPr/>
          <p:nvPr/>
        </p:nvSpPr>
        <p:spPr bwMode="auto">
          <a:xfrm>
            <a:off x="7240207" y="2408726"/>
            <a:ext cx="1584176" cy="1789469"/>
          </a:xfrm>
          <a:prstGeom prst="rect">
            <a:avLst/>
          </a:prstGeom>
          <a:noFill/>
          <a:ln w="19050" cap="flat" cmpd="sng" algn="ctr">
            <a:solidFill>
              <a:srgbClr val="FF505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defTabSz="993775"/>
            <a:endParaRPr lang="ru-RU"/>
          </a:p>
        </p:txBody>
      </p:sp>
      <p:sp>
        <p:nvSpPr>
          <p:cNvPr id="9" name="Прямоугольник 8"/>
          <p:cNvSpPr/>
          <p:nvPr/>
        </p:nvSpPr>
        <p:spPr>
          <a:xfrm>
            <a:off x="1834868" y="4198195"/>
            <a:ext cx="9107770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На рис. </a:t>
            </a:r>
            <a:r>
              <a:rPr lang="ru-RU" b="1" dirty="0"/>
              <a:t>е) </a:t>
            </a:r>
            <a:r>
              <a:rPr lang="ru-RU" dirty="0"/>
              <a:t>в гистограмме имеются два пика, хотя образцы деталей взяты из одной партии. Это явление объясняется либо тем, что исходный материал для деталей был двух разных сортов, либо в процессе изготовления деталей была изменена настройка оборудования, либо тем, что в одну партию включили детали, обработанные на двух разных станках. Очевидно, следует провести расслоение (стратификацию) гистограммы, т. е. разбить ее на две.</a:t>
            </a:r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2B6C0E-C4B9-4094-8E59-5B7DF00D5415}" type="slidenum">
              <a:rPr lang="ru-RU" smtClean="0"/>
              <a:t>25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643702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AutoShape 2"/>
          <p:cNvSpPr>
            <a:spLocks noChangeArrowheads="1"/>
          </p:cNvSpPr>
          <p:nvPr/>
        </p:nvSpPr>
        <p:spPr bwMode="auto">
          <a:xfrm>
            <a:off x="1438275" y="286519"/>
            <a:ext cx="10728498" cy="6553249"/>
          </a:xfrm>
          <a:prstGeom prst="roundRect">
            <a:avLst>
              <a:gd name="adj" fmla="val 16667"/>
            </a:avLst>
          </a:prstGeom>
          <a:solidFill>
            <a:schemeClr val="bg1">
              <a:alpha val="50000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9441" tIns="49721" rIns="99441" bIns="49721" anchor="ctr"/>
          <a:lstStyle>
            <a:lvl1pPr defTabSz="99377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1177925" defTabSz="99377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373188" defTabSz="99377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66863" defTabSz="99377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89138" defTabSz="99377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46338" defTabSz="9937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03538" defTabSz="9937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60738" defTabSz="9937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17938" defTabSz="9937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ru-RU" altLang="ru-RU" sz="3500">
              <a:solidFill>
                <a:schemeClr val="bg1"/>
              </a:solidFill>
            </a:endParaRPr>
          </a:p>
        </p:txBody>
      </p:sp>
      <p:sp>
        <p:nvSpPr>
          <p:cNvPr id="7" name="Скругленный прямоугольник 6"/>
          <p:cNvSpPr/>
          <p:nvPr/>
        </p:nvSpPr>
        <p:spPr bwMode="auto">
          <a:xfrm>
            <a:off x="1005534" y="970857"/>
            <a:ext cx="10873208" cy="5723473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  <a:headEnd type="none" w="med" len="med"/>
            <a:tailEnd type="none" w="med" len="med"/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defTabSz="993775"/>
            <a:endParaRPr lang="ru-RU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AutoShape 5"/>
          <p:cNvSpPr>
            <a:spLocks noChangeArrowheads="1"/>
          </p:cNvSpPr>
          <p:nvPr/>
        </p:nvSpPr>
        <p:spPr bwMode="auto">
          <a:xfrm>
            <a:off x="2188766" y="141074"/>
            <a:ext cx="8351837" cy="849178"/>
          </a:xfrm>
          <a:prstGeom prst="roundRect">
            <a:avLst>
              <a:gd name="adj" fmla="val 34319"/>
            </a:avLst>
          </a:prstGeom>
          <a:solidFill>
            <a:srgbClr val="FFFFFF">
              <a:alpha val="78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9441" tIns="49721" rIns="99441" bIns="49721" anchor="ctr"/>
          <a:lstStyle>
            <a:lvl1pPr defTabSz="99377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1177925" defTabSz="99377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373188" defTabSz="99377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66863" defTabSz="99377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89138" defTabSz="99377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46338" defTabSz="9937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03538" defTabSz="9937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60738" defTabSz="9937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17938" defTabSz="9937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ru-RU" altLang="ru-RU" sz="3500">
              <a:solidFill>
                <a:schemeClr val="bg1"/>
              </a:solidFill>
            </a:endParaRPr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381797" y="233150"/>
            <a:ext cx="5760640" cy="763512"/>
          </a:xfrm>
        </p:spPr>
        <p:txBody>
          <a:bodyPr/>
          <a:lstStyle/>
          <a:p>
            <a:pPr>
              <a:defRPr/>
            </a:pPr>
            <a:r>
              <a:rPr lang="ru-RU" sz="4000" dirty="0"/>
              <a:t>Гистограммы</a:t>
            </a:r>
          </a:p>
        </p:txBody>
      </p:sp>
      <p:sp>
        <p:nvSpPr>
          <p:cNvPr id="4" name="Прямоугольник 3"/>
          <p:cNvSpPr/>
          <p:nvPr/>
        </p:nvSpPr>
        <p:spPr>
          <a:xfrm>
            <a:off x="2301677" y="1314550"/>
            <a:ext cx="3096344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200" b="1" dirty="0"/>
              <a:t>Контроль качества</a:t>
            </a:r>
          </a:p>
        </p:txBody>
      </p:sp>
      <p:sp>
        <p:nvSpPr>
          <p:cNvPr id="3" name="Прямоугольник 2"/>
          <p:cNvSpPr/>
          <p:nvPr/>
        </p:nvSpPr>
        <p:spPr>
          <a:xfrm>
            <a:off x="2154115" y="1791862"/>
            <a:ext cx="8534963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1" dirty="0"/>
              <a:t>Использование гистограмм при оценке и анализе качества процессов (7)</a:t>
            </a: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40207" y="2352542"/>
            <a:ext cx="4962777" cy="1901835"/>
          </a:xfrm>
          <a:prstGeom prst="rect">
            <a:avLst/>
          </a:prstGeom>
        </p:spPr>
      </p:pic>
      <p:sp>
        <p:nvSpPr>
          <p:cNvPr id="11" name="Прямоугольник 10"/>
          <p:cNvSpPr/>
          <p:nvPr/>
        </p:nvSpPr>
        <p:spPr bwMode="auto">
          <a:xfrm>
            <a:off x="4029869" y="2346132"/>
            <a:ext cx="1584176" cy="1789469"/>
          </a:xfrm>
          <a:prstGeom prst="rect">
            <a:avLst/>
          </a:prstGeom>
          <a:noFill/>
          <a:ln w="19050" cap="flat" cmpd="sng" algn="ctr">
            <a:solidFill>
              <a:srgbClr val="FF505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defTabSz="993775"/>
            <a:endParaRPr lang="ru-RU"/>
          </a:p>
        </p:txBody>
      </p:sp>
      <p:sp>
        <p:nvSpPr>
          <p:cNvPr id="12" name="Прямоугольник 11"/>
          <p:cNvSpPr/>
          <p:nvPr/>
        </p:nvSpPr>
        <p:spPr>
          <a:xfrm>
            <a:off x="1900551" y="4285739"/>
            <a:ext cx="8788526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800" dirty="0"/>
              <a:t>На рис. </a:t>
            </a:r>
            <a:r>
              <a:rPr lang="ru-RU" sz="1800" b="1" dirty="0"/>
              <a:t>ж) </a:t>
            </a:r>
            <a:r>
              <a:rPr lang="ru-RU" sz="1800" dirty="0"/>
              <a:t>главные характеристики гистограммы (ширина и центр) в норме, однако значительная часть деталей выходит за верхний предел допуска и, отделяясь, образует обособленный «островок». Детали в этом «островке», возможно, представляют часть тех деталей несоответствующего качества, которые вследствие небрежности были перемешаны с доброкачественными в общем потоке. В данной ситуации необходимо принять меры для выяснения самых различных и внезапно возникающих обстоятельств, должным образом объясняющих причину этого явления.</a:t>
            </a:r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2B6C0E-C4B9-4094-8E59-5B7DF00D5415}" type="slidenum">
              <a:rPr lang="ru-RU" smtClean="0"/>
              <a:t>26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618867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AutoShape 2"/>
          <p:cNvSpPr>
            <a:spLocks noChangeArrowheads="1"/>
          </p:cNvSpPr>
          <p:nvPr/>
        </p:nvSpPr>
        <p:spPr bwMode="auto">
          <a:xfrm>
            <a:off x="1438275" y="322263"/>
            <a:ext cx="10800505" cy="6553249"/>
          </a:xfrm>
          <a:prstGeom prst="roundRect">
            <a:avLst>
              <a:gd name="adj" fmla="val 16667"/>
            </a:avLst>
          </a:prstGeom>
          <a:solidFill>
            <a:schemeClr val="bg1">
              <a:alpha val="50000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9441" tIns="49721" rIns="99441" bIns="49721" anchor="ctr"/>
          <a:lstStyle>
            <a:lvl1pPr defTabSz="99377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1177925" defTabSz="99377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373188" defTabSz="99377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66863" defTabSz="99377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89138" defTabSz="99377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46338" defTabSz="9937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03538" defTabSz="9937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60738" defTabSz="9937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17938" defTabSz="9937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ru-RU" altLang="ru-RU" sz="3500">
              <a:solidFill>
                <a:schemeClr val="bg1"/>
              </a:solidFill>
            </a:endParaRPr>
          </a:p>
        </p:txBody>
      </p:sp>
      <p:sp>
        <p:nvSpPr>
          <p:cNvPr id="7" name="Скругленный прямоугольник 6"/>
          <p:cNvSpPr/>
          <p:nvPr/>
        </p:nvSpPr>
        <p:spPr bwMode="auto">
          <a:xfrm>
            <a:off x="789509" y="1171441"/>
            <a:ext cx="11161239" cy="5704071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  <a:headEnd type="none" w="med" len="med"/>
            <a:tailEnd type="none" w="med" len="med"/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defTabSz="993775"/>
            <a:endParaRPr lang="ru-RU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AutoShape 5"/>
          <p:cNvSpPr>
            <a:spLocks noChangeArrowheads="1"/>
          </p:cNvSpPr>
          <p:nvPr/>
        </p:nvSpPr>
        <p:spPr bwMode="auto">
          <a:xfrm>
            <a:off x="2154116" y="361782"/>
            <a:ext cx="8351837" cy="849178"/>
          </a:xfrm>
          <a:prstGeom prst="roundRect">
            <a:avLst>
              <a:gd name="adj" fmla="val 34319"/>
            </a:avLst>
          </a:prstGeom>
          <a:solidFill>
            <a:srgbClr val="FFFFFF">
              <a:alpha val="78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9441" tIns="49721" rIns="99441" bIns="49721" anchor="ctr"/>
          <a:lstStyle>
            <a:lvl1pPr defTabSz="99377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1177925" defTabSz="99377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373188" defTabSz="99377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66863" defTabSz="99377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89138" defTabSz="99377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46338" defTabSz="9937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03538" defTabSz="9937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60738" defTabSz="9937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17938" defTabSz="9937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ru-RU" altLang="ru-RU" sz="3500">
              <a:solidFill>
                <a:schemeClr val="bg1"/>
              </a:solidFill>
            </a:endParaRPr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989070" y="407928"/>
            <a:ext cx="8700009" cy="763512"/>
          </a:xfrm>
        </p:spPr>
        <p:txBody>
          <a:bodyPr/>
          <a:lstStyle/>
          <a:p>
            <a:pPr>
              <a:defRPr/>
            </a:pPr>
            <a:r>
              <a:rPr lang="ru-RU" sz="4000" dirty="0"/>
              <a:t>Гистограммы</a:t>
            </a:r>
          </a:p>
        </p:txBody>
      </p:sp>
      <p:sp>
        <p:nvSpPr>
          <p:cNvPr id="4" name="Прямоугольник 3"/>
          <p:cNvSpPr/>
          <p:nvPr/>
        </p:nvSpPr>
        <p:spPr>
          <a:xfrm>
            <a:off x="2301677" y="1314550"/>
            <a:ext cx="3096344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200" b="1" dirty="0"/>
              <a:t>Контроль качества</a:t>
            </a:r>
          </a:p>
        </p:txBody>
      </p:sp>
      <p:sp>
        <p:nvSpPr>
          <p:cNvPr id="3" name="Прямоугольник 2"/>
          <p:cNvSpPr/>
          <p:nvPr/>
        </p:nvSpPr>
        <p:spPr>
          <a:xfrm>
            <a:off x="2154115" y="1791862"/>
            <a:ext cx="8534963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1" dirty="0"/>
              <a:t>Использование гистограмм при оценке и анализе качества процессов (8)</a:t>
            </a: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40207" y="2352542"/>
            <a:ext cx="4962777" cy="1901835"/>
          </a:xfrm>
          <a:prstGeom prst="rect">
            <a:avLst/>
          </a:prstGeom>
        </p:spPr>
      </p:pic>
      <p:sp>
        <p:nvSpPr>
          <p:cNvPr id="11" name="Прямоугольник 10"/>
          <p:cNvSpPr/>
          <p:nvPr/>
        </p:nvSpPr>
        <p:spPr bwMode="auto">
          <a:xfrm>
            <a:off x="5629506" y="2352542"/>
            <a:ext cx="1584176" cy="1789469"/>
          </a:xfrm>
          <a:prstGeom prst="rect">
            <a:avLst/>
          </a:prstGeom>
          <a:noFill/>
          <a:ln w="19050" cap="flat" cmpd="sng" algn="ctr">
            <a:solidFill>
              <a:srgbClr val="FF505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defTabSz="993775"/>
            <a:endParaRPr lang="ru-RU"/>
          </a:p>
        </p:txBody>
      </p:sp>
      <p:sp>
        <p:nvSpPr>
          <p:cNvPr id="9" name="Прямоугольник 8"/>
          <p:cNvSpPr/>
          <p:nvPr/>
        </p:nvSpPr>
        <p:spPr>
          <a:xfrm>
            <a:off x="1093002" y="4462806"/>
            <a:ext cx="10657184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800" dirty="0"/>
              <a:t>На рис. </a:t>
            </a:r>
            <a:r>
              <a:rPr lang="ru-RU" sz="1800" b="1" dirty="0"/>
              <a:t>з) </a:t>
            </a:r>
            <a:r>
              <a:rPr lang="ru-RU" sz="1800" dirty="0"/>
              <a:t>центр распределения смещен к нижнему пределу допуска. Так как левая сторона гистограммы на границе нижнего предела допуска имеет вид «отвесного берега», можно сделать заключение, что фактически это была партия, которую предварительно рассортировали из-за наличия в ней деталей несоответствующего качества в левой стороне гистограммы (т. е. выходящих за нижний предел допуска) или же детали несоответствующего качества левой стороны при выборочном контроле умышленно распределили как годные для включения в пределы допуска. Следовательно, необходимо выявить причину, которая могла повлечь за собой данное явление.</a:t>
            </a:r>
          </a:p>
        </p:txBody>
      </p:sp>
      <p:sp>
        <p:nvSpPr>
          <p:cNvPr id="10" name="Номер слайда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2B6C0E-C4B9-4094-8E59-5B7DF00D5415}" type="slidenum">
              <a:rPr lang="ru-RU" smtClean="0"/>
              <a:t>27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717263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AutoShape 2"/>
          <p:cNvSpPr>
            <a:spLocks noChangeArrowheads="1"/>
          </p:cNvSpPr>
          <p:nvPr/>
        </p:nvSpPr>
        <p:spPr bwMode="auto">
          <a:xfrm>
            <a:off x="1438275" y="322263"/>
            <a:ext cx="10872513" cy="6553249"/>
          </a:xfrm>
          <a:prstGeom prst="roundRect">
            <a:avLst>
              <a:gd name="adj" fmla="val 16667"/>
            </a:avLst>
          </a:prstGeom>
          <a:solidFill>
            <a:schemeClr val="bg1">
              <a:alpha val="50000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9441" tIns="49721" rIns="99441" bIns="49721" anchor="ctr"/>
          <a:lstStyle>
            <a:lvl1pPr defTabSz="99377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1177925" defTabSz="99377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373188" defTabSz="99377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66863" defTabSz="99377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89138" defTabSz="99377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46338" defTabSz="9937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03538" defTabSz="9937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60738" defTabSz="9937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17938" defTabSz="9937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ru-RU" altLang="ru-RU" sz="3500">
              <a:solidFill>
                <a:schemeClr val="bg1"/>
              </a:solidFill>
            </a:endParaRPr>
          </a:p>
        </p:txBody>
      </p:sp>
      <p:sp>
        <p:nvSpPr>
          <p:cNvPr id="7" name="Скругленный прямоугольник 6"/>
          <p:cNvSpPr/>
          <p:nvPr/>
        </p:nvSpPr>
        <p:spPr bwMode="auto">
          <a:xfrm>
            <a:off x="573486" y="1296627"/>
            <a:ext cx="11233248" cy="5397702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  <a:headEnd type="none" w="med" len="med"/>
            <a:tailEnd type="none" w="med" len="med"/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defTabSz="993775"/>
            <a:endParaRPr lang="ru-RU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AutoShape 5"/>
          <p:cNvSpPr>
            <a:spLocks noChangeArrowheads="1"/>
          </p:cNvSpPr>
          <p:nvPr/>
        </p:nvSpPr>
        <p:spPr bwMode="auto">
          <a:xfrm>
            <a:off x="2154116" y="361782"/>
            <a:ext cx="8351837" cy="849178"/>
          </a:xfrm>
          <a:prstGeom prst="roundRect">
            <a:avLst>
              <a:gd name="adj" fmla="val 34319"/>
            </a:avLst>
          </a:prstGeom>
          <a:solidFill>
            <a:srgbClr val="FFFFFF">
              <a:alpha val="78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9441" tIns="49721" rIns="99441" bIns="49721" anchor="ctr"/>
          <a:lstStyle>
            <a:lvl1pPr defTabSz="99377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1177925" defTabSz="99377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373188" defTabSz="99377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66863" defTabSz="99377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89138" defTabSz="99377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46338" defTabSz="9937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03538" defTabSz="9937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60738" defTabSz="9937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17938" defTabSz="9937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ru-RU" altLang="ru-RU" sz="3500">
              <a:solidFill>
                <a:schemeClr val="bg1"/>
              </a:solidFill>
            </a:endParaRPr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989070" y="407928"/>
            <a:ext cx="8700009" cy="763512"/>
          </a:xfrm>
        </p:spPr>
        <p:txBody>
          <a:bodyPr/>
          <a:lstStyle/>
          <a:p>
            <a:pPr>
              <a:defRPr/>
            </a:pPr>
            <a:r>
              <a:rPr lang="ru-RU" sz="4000" dirty="0"/>
              <a:t>Гистограммы</a:t>
            </a:r>
          </a:p>
        </p:txBody>
      </p:sp>
      <p:sp>
        <p:nvSpPr>
          <p:cNvPr id="4" name="Прямоугольник 3"/>
          <p:cNvSpPr/>
          <p:nvPr/>
        </p:nvSpPr>
        <p:spPr>
          <a:xfrm>
            <a:off x="2301677" y="1314550"/>
            <a:ext cx="3096344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200" b="1" dirty="0"/>
              <a:t>Контроль качества</a:t>
            </a:r>
          </a:p>
        </p:txBody>
      </p:sp>
      <p:sp>
        <p:nvSpPr>
          <p:cNvPr id="3" name="Прямоугольник 2"/>
          <p:cNvSpPr/>
          <p:nvPr/>
        </p:nvSpPr>
        <p:spPr>
          <a:xfrm>
            <a:off x="2154115" y="1791862"/>
            <a:ext cx="8534963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1" dirty="0"/>
              <a:t>Использование гистограмм при оценке и анализе качества процессов (9)</a:t>
            </a: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40207" y="2523196"/>
            <a:ext cx="4962777" cy="1901835"/>
          </a:xfrm>
          <a:prstGeom prst="rect">
            <a:avLst/>
          </a:prstGeom>
        </p:spPr>
      </p:pic>
      <p:sp>
        <p:nvSpPr>
          <p:cNvPr id="11" name="Прямоугольник 10"/>
          <p:cNvSpPr/>
          <p:nvPr/>
        </p:nvSpPr>
        <p:spPr bwMode="auto">
          <a:xfrm>
            <a:off x="7318807" y="2561916"/>
            <a:ext cx="1584176" cy="1789469"/>
          </a:xfrm>
          <a:prstGeom prst="rect">
            <a:avLst/>
          </a:prstGeom>
          <a:noFill/>
          <a:ln w="19050" cap="flat" cmpd="sng" algn="ctr">
            <a:solidFill>
              <a:srgbClr val="FF505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defTabSz="993775"/>
            <a:endParaRPr lang="ru-RU"/>
          </a:p>
        </p:txBody>
      </p:sp>
      <p:sp>
        <p:nvSpPr>
          <p:cNvPr id="9" name="Прямоугольник 8"/>
          <p:cNvSpPr/>
          <p:nvPr/>
        </p:nvSpPr>
        <p:spPr>
          <a:xfrm>
            <a:off x="1913055" y="4658744"/>
            <a:ext cx="8852037" cy="16312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На рис. </a:t>
            </a:r>
            <a:r>
              <a:rPr lang="ru-RU" b="1" dirty="0"/>
              <a:t>и) </a:t>
            </a:r>
            <a:r>
              <a:rPr lang="ru-RU" dirty="0"/>
              <a:t>показан случай, аналогичный варианту «з». </a:t>
            </a:r>
            <a:r>
              <a:rPr lang="ru-RU" b="1" dirty="0"/>
              <a:t>Возможно, что используемое измерительное средство было неисправно.</a:t>
            </a:r>
            <a:r>
              <a:rPr lang="ru-RU" dirty="0"/>
              <a:t> В связи с этим необходимо обратить внимание на калибровку (поверку) измерительного средства, равно как и на повторное обучение правилам выполнения измерений.</a:t>
            </a:r>
          </a:p>
        </p:txBody>
      </p:sp>
      <p:sp>
        <p:nvSpPr>
          <p:cNvPr id="10" name="Номер слайда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2B6C0E-C4B9-4094-8E59-5B7DF00D5415}" type="slidenum">
              <a:rPr lang="ru-RU" smtClean="0"/>
              <a:t>28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164865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AutoShape 2"/>
          <p:cNvSpPr>
            <a:spLocks noChangeArrowheads="1"/>
          </p:cNvSpPr>
          <p:nvPr/>
        </p:nvSpPr>
        <p:spPr bwMode="auto">
          <a:xfrm>
            <a:off x="633411" y="286519"/>
            <a:ext cx="11605370" cy="6553249"/>
          </a:xfrm>
          <a:prstGeom prst="roundRect">
            <a:avLst>
              <a:gd name="adj" fmla="val 16667"/>
            </a:avLst>
          </a:prstGeom>
          <a:solidFill>
            <a:schemeClr val="bg1">
              <a:alpha val="50000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9441" tIns="49721" rIns="99441" bIns="49721" anchor="ctr"/>
          <a:lstStyle>
            <a:lvl1pPr defTabSz="99377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1177925" defTabSz="99377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373188" defTabSz="99377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66863" defTabSz="99377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89138" defTabSz="99377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46338" defTabSz="9937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03538" defTabSz="9937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60738" defTabSz="9937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17938" defTabSz="9937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ru-RU" altLang="ru-RU" sz="3500">
              <a:solidFill>
                <a:schemeClr val="bg1"/>
              </a:solidFill>
            </a:endParaRPr>
          </a:p>
        </p:txBody>
      </p:sp>
      <p:sp>
        <p:nvSpPr>
          <p:cNvPr id="7" name="Скругленный прямоугольник 6"/>
          <p:cNvSpPr/>
          <p:nvPr/>
        </p:nvSpPr>
        <p:spPr bwMode="auto">
          <a:xfrm>
            <a:off x="717502" y="1296627"/>
            <a:ext cx="10945216" cy="5397702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  <a:headEnd type="none" w="med" len="med"/>
            <a:tailEnd type="none" w="med" len="med"/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defTabSz="993775"/>
            <a:endParaRPr lang="ru-RU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AutoShape 5"/>
          <p:cNvSpPr>
            <a:spLocks noChangeArrowheads="1"/>
          </p:cNvSpPr>
          <p:nvPr/>
        </p:nvSpPr>
        <p:spPr bwMode="auto">
          <a:xfrm>
            <a:off x="2154116" y="361782"/>
            <a:ext cx="8351837" cy="849178"/>
          </a:xfrm>
          <a:prstGeom prst="roundRect">
            <a:avLst>
              <a:gd name="adj" fmla="val 34319"/>
            </a:avLst>
          </a:prstGeom>
          <a:solidFill>
            <a:srgbClr val="FFFFFF">
              <a:alpha val="78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9441" tIns="49721" rIns="99441" bIns="49721" anchor="ctr"/>
          <a:lstStyle>
            <a:lvl1pPr defTabSz="99377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1177925" defTabSz="99377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373188" defTabSz="99377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66863" defTabSz="99377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89138" defTabSz="99377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46338" defTabSz="9937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03538" defTabSz="9937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60738" defTabSz="9937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17938" defTabSz="9937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ru-RU" altLang="ru-RU" sz="3500">
              <a:solidFill>
                <a:schemeClr val="bg1"/>
              </a:solidFill>
            </a:endParaRPr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989070" y="407928"/>
            <a:ext cx="8700009" cy="763512"/>
          </a:xfrm>
        </p:spPr>
        <p:txBody>
          <a:bodyPr/>
          <a:lstStyle/>
          <a:p>
            <a:pPr>
              <a:defRPr/>
            </a:pPr>
            <a:r>
              <a:rPr lang="ru-RU" sz="4000" dirty="0"/>
              <a:t>Гистограммы</a:t>
            </a:r>
          </a:p>
        </p:txBody>
      </p:sp>
      <p:sp>
        <p:nvSpPr>
          <p:cNvPr id="4" name="Прямоугольник 3"/>
          <p:cNvSpPr/>
          <p:nvPr/>
        </p:nvSpPr>
        <p:spPr>
          <a:xfrm>
            <a:off x="2301677" y="1314550"/>
            <a:ext cx="5256584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200" b="1" dirty="0"/>
              <a:t>В какую школу отдать ребенка?</a:t>
            </a:r>
          </a:p>
        </p:txBody>
      </p:sp>
      <p:sp>
        <p:nvSpPr>
          <p:cNvPr id="3" name="Прямоугольник 2"/>
          <p:cNvSpPr/>
          <p:nvPr/>
        </p:nvSpPr>
        <p:spPr>
          <a:xfrm>
            <a:off x="2154116" y="1843779"/>
            <a:ext cx="8534963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1" dirty="0"/>
              <a:t>ЕГЭ по математике – 100 заданий по 1 баллу, так распределились баллы учеников трех разных школ:</a:t>
            </a:r>
          </a:p>
        </p:txBody>
      </p:sp>
      <p:pic>
        <p:nvPicPr>
          <p:cNvPr id="13" name="Рисунок 1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7702" y="2589561"/>
            <a:ext cx="2726349" cy="1895572"/>
          </a:xfrm>
          <a:prstGeom prst="rect">
            <a:avLst/>
          </a:prstGeom>
        </p:spPr>
      </p:pic>
      <p:pic>
        <p:nvPicPr>
          <p:cNvPr id="14" name="Рисунок 1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86797" y="2558853"/>
            <a:ext cx="3466340" cy="1841172"/>
          </a:xfrm>
          <a:prstGeom prst="rect">
            <a:avLst/>
          </a:prstGeom>
        </p:spPr>
      </p:pic>
      <p:grpSp>
        <p:nvGrpSpPr>
          <p:cNvPr id="22" name="Группа 21"/>
          <p:cNvGrpSpPr/>
          <p:nvPr/>
        </p:nvGrpSpPr>
        <p:grpSpPr>
          <a:xfrm>
            <a:off x="2661717" y="4656863"/>
            <a:ext cx="2808312" cy="1642587"/>
            <a:chOff x="1466329" y="4656862"/>
            <a:chExt cx="2808312" cy="1642587"/>
          </a:xfrm>
        </p:grpSpPr>
        <p:cxnSp>
          <p:nvCxnSpPr>
            <p:cNvPr id="18" name="Прямая со стрелкой 17"/>
            <p:cNvCxnSpPr/>
            <p:nvPr/>
          </p:nvCxnSpPr>
          <p:spPr bwMode="auto">
            <a:xfrm flipV="1">
              <a:off x="1466329" y="4715272"/>
              <a:ext cx="0" cy="1584177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0" name="Прямая со стрелкой 19"/>
            <p:cNvCxnSpPr/>
            <p:nvPr/>
          </p:nvCxnSpPr>
          <p:spPr bwMode="auto">
            <a:xfrm>
              <a:off x="1466329" y="6299448"/>
              <a:ext cx="2808312" cy="0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1" name="Полилиния 20"/>
            <p:cNvSpPr/>
            <p:nvPr/>
          </p:nvSpPr>
          <p:spPr bwMode="auto">
            <a:xfrm>
              <a:off x="1470660" y="4656862"/>
              <a:ext cx="1889760" cy="1637258"/>
            </a:xfrm>
            <a:custGeom>
              <a:avLst/>
              <a:gdLst>
                <a:gd name="connsiteX0" fmla="*/ 0 w 1889760"/>
                <a:gd name="connsiteY0" fmla="*/ 1614398 h 1637258"/>
                <a:gd name="connsiteX1" fmla="*/ 502920 w 1889760"/>
                <a:gd name="connsiteY1" fmla="*/ 296138 h 1637258"/>
                <a:gd name="connsiteX2" fmla="*/ 967740 w 1889760"/>
                <a:gd name="connsiteY2" fmla="*/ 90398 h 1637258"/>
                <a:gd name="connsiteX3" fmla="*/ 1554480 w 1889760"/>
                <a:gd name="connsiteY3" fmla="*/ 1027658 h 1637258"/>
                <a:gd name="connsiteX4" fmla="*/ 1767840 w 1889760"/>
                <a:gd name="connsiteY4" fmla="*/ 6578 h 1637258"/>
                <a:gd name="connsiteX5" fmla="*/ 1889760 w 1889760"/>
                <a:gd name="connsiteY5" fmla="*/ 1637258 h 16372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889760" h="1637258">
                  <a:moveTo>
                    <a:pt x="0" y="1614398"/>
                  </a:moveTo>
                  <a:cubicBezTo>
                    <a:pt x="170815" y="1082268"/>
                    <a:pt x="341630" y="550138"/>
                    <a:pt x="502920" y="296138"/>
                  </a:cubicBezTo>
                  <a:cubicBezTo>
                    <a:pt x="664210" y="42138"/>
                    <a:pt x="792480" y="-31522"/>
                    <a:pt x="967740" y="90398"/>
                  </a:cubicBezTo>
                  <a:cubicBezTo>
                    <a:pt x="1143000" y="212318"/>
                    <a:pt x="1421130" y="1041628"/>
                    <a:pt x="1554480" y="1027658"/>
                  </a:cubicBezTo>
                  <a:cubicBezTo>
                    <a:pt x="1687830" y="1013688"/>
                    <a:pt x="1711960" y="-95022"/>
                    <a:pt x="1767840" y="6578"/>
                  </a:cubicBezTo>
                  <a:cubicBezTo>
                    <a:pt x="1823720" y="108178"/>
                    <a:pt x="1865630" y="1365478"/>
                    <a:pt x="1889760" y="1637258"/>
                  </a:cubicBezTo>
                </a:path>
              </a:pathLst>
            </a:cu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defTabSz="993775"/>
              <a:endParaRPr lang="ru-RU"/>
            </a:p>
          </p:txBody>
        </p:sp>
      </p:grp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2B6C0E-C4B9-4094-8E59-5B7DF00D5415}" type="slidenum">
              <a:rPr lang="ru-RU" smtClean="0"/>
              <a:t>29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651078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Заголовок 3"/>
          <p:cNvSpPr>
            <a:spLocks noGrp="1"/>
          </p:cNvSpPr>
          <p:nvPr>
            <p:ph type="ctrTitle" idx="4294967295"/>
          </p:nvPr>
        </p:nvSpPr>
        <p:spPr bwMode="auto">
          <a:xfrm>
            <a:off x="3669829" y="800101"/>
            <a:ext cx="5904656" cy="34845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/>
          <a:p>
            <a:pPr eaLnBrk="1" hangingPunct="1">
              <a:lnSpc>
                <a:spcPct val="80000"/>
              </a:lnSpc>
            </a:pPr>
            <a:r>
              <a:rPr lang="ru-RU" altLang="ru-RU" b="1" dirty="0"/>
              <a:t>Импорт-Экспорт</a:t>
            </a:r>
            <a:r>
              <a:rPr lang="ru-RU" altLang="ru-RU" b="1" dirty="0">
                <a:solidFill>
                  <a:srgbClr val="FFFFFF"/>
                </a:solidFill>
              </a:rPr>
              <a:t> данных в </a:t>
            </a:r>
            <a:r>
              <a:rPr lang="en-US" altLang="ru-RU" b="1" dirty="0">
                <a:solidFill>
                  <a:srgbClr val="FFFFFF"/>
                </a:solidFill>
              </a:rPr>
              <a:t>R</a:t>
            </a:r>
            <a:endParaRPr lang="ru-RU" altLang="ru-RU" dirty="0">
              <a:solidFill>
                <a:srgbClr val="FFFFFF"/>
              </a:solidFill>
            </a:endParaRPr>
          </a:p>
        </p:txBody>
      </p:sp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2B6C0E-C4B9-4094-8E59-5B7DF00D5415}" type="slidenum">
              <a:rPr lang="ru-RU" smtClean="0"/>
              <a:t>30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58720478"/>
      </p:ext>
    </p:extLst>
  </p:cSld>
  <p:clrMapOvr>
    <a:masterClrMapping/>
  </p:clrMapOvr>
  <p:transition spd="slow" advTm="85815"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AutoShape 4"/>
          <p:cNvSpPr>
            <a:spLocks noChangeArrowheads="1"/>
          </p:cNvSpPr>
          <p:nvPr/>
        </p:nvSpPr>
        <p:spPr bwMode="auto">
          <a:xfrm>
            <a:off x="1438275" y="179389"/>
            <a:ext cx="10800505" cy="6696075"/>
          </a:xfrm>
          <a:prstGeom prst="roundRect">
            <a:avLst>
              <a:gd name="adj" fmla="val 16667"/>
            </a:avLst>
          </a:prstGeom>
          <a:solidFill>
            <a:schemeClr val="bg1">
              <a:alpha val="50195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99441" tIns="49721" rIns="99441" bIns="49721" anchor="ctr"/>
          <a:lstStyle>
            <a:lvl1pPr defTabSz="993775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defTabSz="993775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defTabSz="993775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defTabSz="993775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defTabSz="993775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 sz="3500">
              <a:solidFill>
                <a:schemeClr val="bg1"/>
              </a:solidFill>
            </a:endParaRPr>
          </a:p>
        </p:txBody>
      </p:sp>
      <p:sp>
        <p:nvSpPr>
          <p:cNvPr id="55299" name="AutoShape 5"/>
          <p:cNvSpPr>
            <a:spLocks noChangeArrowheads="1"/>
          </p:cNvSpPr>
          <p:nvPr/>
        </p:nvSpPr>
        <p:spPr bwMode="auto">
          <a:xfrm>
            <a:off x="2085977" y="395288"/>
            <a:ext cx="8351837" cy="1008062"/>
          </a:xfrm>
          <a:prstGeom prst="roundRect">
            <a:avLst>
              <a:gd name="adj" fmla="val 16667"/>
            </a:avLst>
          </a:prstGeom>
          <a:solidFill>
            <a:srgbClr val="FFFFFF">
              <a:alpha val="78822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99441" tIns="49721" rIns="99441" bIns="49721" anchor="ctr"/>
          <a:lstStyle>
            <a:lvl1pPr defTabSz="993775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defTabSz="993775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defTabSz="993775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defTabSz="993775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defTabSz="993775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 sz="3500">
              <a:solidFill>
                <a:schemeClr val="bg1"/>
              </a:solidFill>
            </a:endParaRPr>
          </a:p>
        </p:txBody>
      </p:sp>
      <p:sp>
        <p:nvSpPr>
          <p:cNvPr id="55300" name="AutoShape 6"/>
          <p:cNvSpPr>
            <a:spLocks noChangeArrowheads="1"/>
          </p:cNvSpPr>
          <p:nvPr/>
        </p:nvSpPr>
        <p:spPr bwMode="auto">
          <a:xfrm>
            <a:off x="1582738" y="1704975"/>
            <a:ext cx="9431338" cy="4954588"/>
          </a:xfrm>
          <a:prstGeom prst="roundRect">
            <a:avLst>
              <a:gd name="adj" fmla="val 16667"/>
            </a:avLst>
          </a:prstGeom>
          <a:solidFill>
            <a:srgbClr val="FFFFFF">
              <a:alpha val="78822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99441" tIns="49721" rIns="99441" bIns="49721" anchor="ctr"/>
          <a:lstStyle>
            <a:lvl1pPr defTabSz="993775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defTabSz="993775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defTabSz="993775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defTabSz="993775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defTabSz="993775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 sz="3500">
              <a:solidFill>
                <a:schemeClr val="bg1"/>
              </a:solidFill>
            </a:endParaRPr>
          </a:p>
        </p:txBody>
      </p:sp>
      <p:sp>
        <p:nvSpPr>
          <p:cNvPr id="55301" name="Заголовок 1"/>
          <p:cNvSpPr>
            <a:spLocks noGrp="1"/>
          </p:cNvSpPr>
          <p:nvPr>
            <p:ph type="title" idx="4294967295"/>
          </p:nvPr>
        </p:nvSpPr>
        <p:spPr bwMode="auto">
          <a:xfrm>
            <a:off x="1195389" y="285750"/>
            <a:ext cx="9248775" cy="1187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r>
              <a:rPr lang="ru-RU" altLang="ru-RU"/>
              <a:t>Импорт-Экспорт данных в </a:t>
            </a:r>
            <a:r>
              <a:rPr lang="en-US" altLang="ru-RU"/>
              <a:t>R</a:t>
            </a:r>
            <a:endParaRPr lang="ru-RU" altLang="ru-RU"/>
          </a:p>
        </p:txBody>
      </p:sp>
      <p:sp>
        <p:nvSpPr>
          <p:cNvPr id="55302" name="Content Placeholder 2"/>
          <p:cNvSpPr>
            <a:spLocks/>
          </p:cNvSpPr>
          <p:nvPr/>
        </p:nvSpPr>
        <p:spPr bwMode="auto">
          <a:xfrm>
            <a:off x="1871663" y="2011363"/>
            <a:ext cx="9086850" cy="421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177800" indent="-17780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533400" indent="-346075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20000"/>
              </a:spcBef>
            </a:pPr>
            <a:r>
              <a:rPr lang="ru-RU" altLang="ru-RU" sz="3200" dirty="0"/>
              <a:t>Ввод/ вывод данных в/из </a:t>
            </a:r>
            <a:r>
              <a:rPr lang="en-US" altLang="ru-RU" sz="3200" dirty="0"/>
              <a:t>R </a:t>
            </a:r>
            <a:r>
              <a:rPr lang="ru-RU" altLang="ru-RU" sz="3200" dirty="0"/>
              <a:t>файла</a:t>
            </a:r>
          </a:p>
          <a:p>
            <a:pPr marL="177800" lvl="1" indent="-177800">
              <a:spcBef>
                <a:spcPct val="20000"/>
              </a:spcBef>
            </a:pPr>
            <a:r>
              <a:rPr lang="en-US" altLang="ru-RU" dirty="0">
                <a:solidFill>
                  <a:schemeClr val="accent5">
                    <a:lumMod val="25000"/>
                  </a:schemeClr>
                </a:solidFill>
                <a:latin typeface="+mn-lt"/>
                <a:cs typeface="+mn-cs"/>
              </a:rPr>
              <a:t>a &lt;- 1:10</a:t>
            </a:r>
          </a:p>
          <a:p>
            <a:pPr marL="177800" lvl="1" indent="-177800">
              <a:spcBef>
                <a:spcPct val="20000"/>
              </a:spcBef>
            </a:pPr>
            <a:r>
              <a:rPr lang="en-US" altLang="ru-RU" dirty="0">
                <a:solidFill>
                  <a:schemeClr val="accent5">
                    <a:lumMod val="25000"/>
                  </a:schemeClr>
                </a:solidFill>
                <a:latin typeface="+mn-lt"/>
                <a:cs typeface="+mn-cs"/>
              </a:rPr>
              <a:t>&gt; b &lt;- 2:20</a:t>
            </a:r>
          </a:p>
          <a:p>
            <a:pPr marL="177800" lvl="1" indent="-177800">
              <a:spcBef>
                <a:spcPct val="20000"/>
              </a:spcBef>
            </a:pPr>
            <a:r>
              <a:rPr lang="en-US" altLang="ru-RU" dirty="0">
                <a:solidFill>
                  <a:schemeClr val="accent5">
                    <a:lumMod val="25000"/>
                  </a:schemeClr>
                </a:solidFill>
                <a:latin typeface="+mn-lt"/>
                <a:cs typeface="+mn-cs"/>
              </a:rPr>
              <a:t>&gt; c &lt;- 3:30</a:t>
            </a:r>
          </a:p>
          <a:p>
            <a:pPr marL="177800" lvl="1" indent="-177800">
              <a:spcBef>
                <a:spcPct val="20000"/>
              </a:spcBef>
            </a:pPr>
            <a:r>
              <a:rPr lang="en-US" altLang="ru-RU" dirty="0">
                <a:solidFill>
                  <a:schemeClr val="accent5">
                    <a:lumMod val="25000"/>
                  </a:schemeClr>
                </a:solidFill>
                <a:latin typeface="+mn-lt"/>
                <a:cs typeface="+mn-cs"/>
              </a:rPr>
              <a:t>&gt; </a:t>
            </a:r>
            <a:r>
              <a:rPr lang="en-US" altLang="ru-RU" dirty="0">
                <a:solidFill>
                  <a:srgbClr val="FF0000"/>
                </a:solidFill>
                <a:latin typeface="+mn-lt"/>
                <a:cs typeface="+mn-cs"/>
              </a:rPr>
              <a:t>save</a:t>
            </a:r>
            <a:r>
              <a:rPr lang="en-US" altLang="ru-RU" dirty="0">
                <a:solidFill>
                  <a:schemeClr val="accent5">
                    <a:lumMod val="25000"/>
                  </a:schemeClr>
                </a:solidFill>
                <a:latin typeface="+mn-lt"/>
                <a:cs typeface="+mn-cs"/>
              </a:rPr>
              <a:t>(a, b, c, file="G:\\student\\Big_Data\\dumData.R")</a:t>
            </a:r>
          </a:p>
          <a:p>
            <a:pPr marL="177800" lvl="1" indent="-177800">
              <a:spcBef>
                <a:spcPct val="20000"/>
              </a:spcBef>
            </a:pPr>
            <a:r>
              <a:rPr lang="en-US" altLang="ru-RU" dirty="0">
                <a:solidFill>
                  <a:schemeClr val="accent5">
                    <a:lumMod val="25000"/>
                  </a:schemeClr>
                </a:solidFill>
                <a:latin typeface="+mn-lt"/>
                <a:cs typeface="+mn-cs"/>
              </a:rPr>
              <a:t>&gt; </a:t>
            </a:r>
            <a:r>
              <a:rPr lang="en-US" altLang="ru-RU" dirty="0">
                <a:solidFill>
                  <a:srgbClr val="FF0000"/>
                </a:solidFill>
                <a:latin typeface="+mn-lt"/>
                <a:cs typeface="+mn-cs"/>
              </a:rPr>
              <a:t>load</a:t>
            </a:r>
            <a:r>
              <a:rPr lang="en-US" altLang="ru-RU" dirty="0">
                <a:solidFill>
                  <a:schemeClr val="accent5">
                    <a:lumMod val="25000"/>
                  </a:schemeClr>
                </a:solidFill>
                <a:latin typeface="+mn-lt"/>
                <a:cs typeface="+mn-cs"/>
              </a:rPr>
              <a:t>("G:\\student\\Big_Data\\dumData.R")</a:t>
            </a:r>
          </a:p>
          <a:p>
            <a:pPr marL="177800" lvl="1" indent="-177800">
              <a:spcBef>
                <a:spcPct val="20000"/>
              </a:spcBef>
            </a:pPr>
            <a:r>
              <a:rPr lang="en-US" altLang="ru-RU" dirty="0">
                <a:solidFill>
                  <a:schemeClr val="accent5">
                    <a:lumMod val="25000"/>
                  </a:schemeClr>
                </a:solidFill>
                <a:latin typeface="+mn-lt"/>
                <a:cs typeface="+mn-cs"/>
              </a:rPr>
              <a:t>&gt; a</a:t>
            </a:r>
          </a:p>
          <a:p>
            <a:pPr marL="177800" lvl="1" indent="-177800">
              <a:spcBef>
                <a:spcPct val="20000"/>
              </a:spcBef>
            </a:pPr>
            <a:r>
              <a:rPr lang="en-US" altLang="ru-RU" dirty="0">
                <a:solidFill>
                  <a:schemeClr val="accent5">
                    <a:lumMod val="25000"/>
                  </a:schemeClr>
                </a:solidFill>
                <a:latin typeface="+mn-lt"/>
                <a:cs typeface="+mn-cs"/>
              </a:rPr>
              <a:t> [1]  1  2  3  4  5  6  7  8  9 10</a:t>
            </a:r>
            <a:endParaRPr lang="ru-RU" altLang="ru-RU" dirty="0">
              <a:solidFill>
                <a:schemeClr val="accent5">
                  <a:lumMod val="25000"/>
                </a:schemeClr>
              </a:solidFill>
              <a:latin typeface="+mn-lt"/>
              <a:cs typeface="+mn-cs"/>
            </a:endParaRPr>
          </a:p>
        </p:txBody>
      </p:sp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2B6C0E-C4B9-4094-8E59-5B7DF00D5415}" type="slidenum">
              <a:rPr lang="ru-RU" smtClean="0"/>
              <a:t>31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792437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AutoShape 4"/>
          <p:cNvSpPr>
            <a:spLocks noChangeArrowheads="1"/>
          </p:cNvSpPr>
          <p:nvPr/>
        </p:nvSpPr>
        <p:spPr bwMode="auto">
          <a:xfrm>
            <a:off x="1438275" y="144463"/>
            <a:ext cx="10800506" cy="6696075"/>
          </a:xfrm>
          <a:prstGeom prst="roundRect">
            <a:avLst>
              <a:gd name="adj" fmla="val 16667"/>
            </a:avLst>
          </a:prstGeom>
          <a:solidFill>
            <a:schemeClr val="bg1">
              <a:alpha val="50195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99441" tIns="49721" rIns="99441" bIns="49721" anchor="ctr"/>
          <a:lstStyle>
            <a:lvl1pPr defTabSz="993775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defTabSz="993775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defTabSz="993775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defTabSz="993775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defTabSz="993775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 sz="3500">
              <a:solidFill>
                <a:schemeClr val="bg1"/>
              </a:solidFill>
            </a:endParaRPr>
          </a:p>
        </p:txBody>
      </p:sp>
      <p:sp>
        <p:nvSpPr>
          <p:cNvPr id="56323" name="AutoShape 5"/>
          <p:cNvSpPr>
            <a:spLocks noChangeArrowheads="1"/>
          </p:cNvSpPr>
          <p:nvPr/>
        </p:nvSpPr>
        <p:spPr bwMode="auto">
          <a:xfrm>
            <a:off x="2085977" y="395288"/>
            <a:ext cx="8351837" cy="1008062"/>
          </a:xfrm>
          <a:prstGeom prst="roundRect">
            <a:avLst>
              <a:gd name="adj" fmla="val 16667"/>
            </a:avLst>
          </a:prstGeom>
          <a:solidFill>
            <a:srgbClr val="FFFFFF">
              <a:alpha val="78822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99441" tIns="49721" rIns="99441" bIns="49721" anchor="ctr"/>
          <a:lstStyle>
            <a:lvl1pPr defTabSz="993775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defTabSz="993775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defTabSz="993775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defTabSz="993775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defTabSz="993775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 sz="3500">
              <a:solidFill>
                <a:schemeClr val="bg1"/>
              </a:solidFill>
            </a:endParaRPr>
          </a:p>
        </p:txBody>
      </p:sp>
      <p:sp>
        <p:nvSpPr>
          <p:cNvPr id="56324" name="AutoShape 6"/>
          <p:cNvSpPr>
            <a:spLocks noChangeArrowheads="1"/>
          </p:cNvSpPr>
          <p:nvPr/>
        </p:nvSpPr>
        <p:spPr bwMode="auto">
          <a:xfrm>
            <a:off x="1582737" y="1704975"/>
            <a:ext cx="10296003" cy="4954588"/>
          </a:xfrm>
          <a:prstGeom prst="roundRect">
            <a:avLst>
              <a:gd name="adj" fmla="val 16667"/>
            </a:avLst>
          </a:prstGeom>
          <a:solidFill>
            <a:srgbClr val="FFFFFF">
              <a:alpha val="78822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99441" tIns="49721" rIns="99441" bIns="49721" anchor="ctr"/>
          <a:lstStyle>
            <a:lvl1pPr defTabSz="993775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defTabSz="993775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defTabSz="993775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defTabSz="993775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defTabSz="993775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 sz="3500">
              <a:solidFill>
                <a:schemeClr val="bg1"/>
              </a:solidFill>
            </a:endParaRPr>
          </a:p>
        </p:txBody>
      </p:sp>
      <p:sp>
        <p:nvSpPr>
          <p:cNvPr id="56325" name="Заголовок 1"/>
          <p:cNvSpPr>
            <a:spLocks noGrp="1"/>
          </p:cNvSpPr>
          <p:nvPr>
            <p:ph type="title" idx="4294967295"/>
          </p:nvPr>
        </p:nvSpPr>
        <p:spPr bwMode="auto">
          <a:xfrm>
            <a:off x="1195389" y="285750"/>
            <a:ext cx="9248775" cy="1187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r>
              <a:rPr lang="ru-RU" altLang="ru-RU"/>
              <a:t>Импорт-Экспорт данных в </a:t>
            </a:r>
            <a:r>
              <a:rPr lang="en-US" altLang="ru-RU"/>
              <a:t>R</a:t>
            </a:r>
            <a:endParaRPr lang="ru-RU" altLang="ru-RU"/>
          </a:p>
        </p:txBody>
      </p:sp>
      <p:sp>
        <p:nvSpPr>
          <p:cNvPr id="56326" name="Объект 2"/>
          <p:cNvSpPr>
            <a:spLocks noGrp="1"/>
          </p:cNvSpPr>
          <p:nvPr>
            <p:ph idx="4294967295"/>
          </p:nvPr>
        </p:nvSpPr>
        <p:spPr bwMode="auto">
          <a:xfrm>
            <a:off x="2301677" y="2122489"/>
            <a:ext cx="8424936" cy="44656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rmAutofit lnSpcReduction="10000"/>
          </a:bodyPr>
          <a:lstStyle/>
          <a:p>
            <a:pPr marL="177800" indent="-177800" defTabSz="914400">
              <a:buNone/>
            </a:pPr>
            <a:r>
              <a:rPr lang="ru-RU" altLang="ru-RU" sz="2000" dirty="0">
                <a:solidFill>
                  <a:srgbClr val="005392"/>
                </a:solidFill>
              </a:rPr>
              <a:t>&gt; var1 &lt;- 1:5 </a:t>
            </a:r>
            <a:endParaRPr lang="en-US" altLang="ru-RU" sz="2000" dirty="0">
              <a:solidFill>
                <a:srgbClr val="005392"/>
              </a:solidFill>
            </a:endParaRPr>
          </a:p>
          <a:p>
            <a:pPr marL="177800" indent="-177800" defTabSz="914400">
              <a:buNone/>
            </a:pPr>
            <a:r>
              <a:rPr lang="ru-RU" altLang="ru-RU" sz="2000" dirty="0">
                <a:solidFill>
                  <a:srgbClr val="005392"/>
                </a:solidFill>
              </a:rPr>
              <a:t>&gt; var2 &lt;- (1:5) / 10</a:t>
            </a:r>
          </a:p>
          <a:p>
            <a:pPr marL="177800" indent="-177800" defTabSz="914400">
              <a:buNone/>
            </a:pPr>
            <a:r>
              <a:rPr lang="ru-RU" altLang="ru-RU" sz="2000" dirty="0">
                <a:solidFill>
                  <a:srgbClr val="005392"/>
                </a:solidFill>
              </a:rPr>
              <a:t>&gt; var3 &lt;- c("R", "</a:t>
            </a:r>
            <a:r>
              <a:rPr lang="ru-RU" altLang="ru-RU" sz="2000" dirty="0" err="1">
                <a:solidFill>
                  <a:srgbClr val="005392"/>
                </a:solidFill>
              </a:rPr>
              <a:t>and</a:t>
            </a:r>
            <a:r>
              <a:rPr lang="ru-RU" altLang="ru-RU" sz="2000" dirty="0">
                <a:solidFill>
                  <a:srgbClr val="005392"/>
                </a:solidFill>
              </a:rPr>
              <a:t>", "</a:t>
            </a:r>
            <a:r>
              <a:rPr lang="ru-RU" altLang="ru-RU" sz="2000" dirty="0" err="1">
                <a:solidFill>
                  <a:srgbClr val="005392"/>
                </a:solidFill>
              </a:rPr>
              <a:t>Data</a:t>
            </a:r>
            <a:r>
              <a:rPr lang="ru-RU" altLang="ru-RU" sz="2000" dirty="0">
                <a:solidFill>
                  <a:srgbClr val="005392"/>
                </a:solidFill>
              </a:rPr>
              <a:t> </a:t>
            </a:r>
            <a:r>
              <a:rPr lang="ru-RU" altLang="ru-RU" sz="2000" dirty="0" err="1">
                <a:solidFill>
                  <a:srgbClr val="005392"/>
                </a:solidFill>
              </a:rPr>
              <a:t>Mining</a:t>
            </a:r>
            <a:r>
              <a:rPr lang="ru-RU" altLang="ru-RU" sz="2000" dirty="0">
                <a:solidFill>
                  <a:srgbClr val="005392"/>
                </a:solidFill>
              </a:rPr>
              <a:t>", "</a:t>
            </a:r>
            <a:r>
              <a:rPr lang="ru-RU" altLang="ru-RU" sz="2000" dirty="0" err="1">
                <a:solidFill>
                  <a:srgbClr val="005392"/>
                </a:solidFill>
              </a:rPr>
              <a:t>Examples</a:t>
            </a:r>
            <a:r>
              <a:rPr lang="ru-RU" altLang="ru-RU" sz="2000" dirty="0">
                <a:solidFill>
                  <a:srgbClr val="005392"/>
                </a:solidFill>
              </a:rPr>
              <a:t>", "</a:t>
            </a:r>
            <a:r>
              <a:rPr lang="ru-RU" altLang="ru-RU" sz="2000" dirty="0" err="1">
                <a:solidFill>
                  <a:srgbClr val="005392"/>
                </a:solidFill>
              </a:rPr>
              <a:t>Case</a:t>
            </a:r>
            <a:r>
              <a:rPr lang="ru-RU" altLang="ru-RU" sz="2000" dirty="0">
                <a:solidFill>
                  <a:srgbClr val="005392"/>
                </a:solidFill>
              </a:rPr>
              <a:t> </a:t>
            </a:r>
            <a:r>
              <a:rPr lang="ru-RU" altLang="ru-RU" sz="2000" dirty="0" err="1">
                <a:solidFill>
                  <a:srgbClr val="005392"/>
                </a:solidFill>
              </a:rPr>
              <a:t>Studies</a:t>
            </a:r>
            <a:r>
              <a:rPr lang="ru-RU" altLang="ru-RU" sz="2000" dirty="0">
                <a:solidFill>
                  <a:srgbClr val="005392"/>
                </a:solidFill>
              </a:rPr>
              <a:t>") </a:t>
            </a:r>
          </a:p>
          <a:p>
            <a:pPr marL="177800" indent="-177800" defTabSz="914400">
              <a:buNone/>
            </a:pPr>
            <a:r>
              <a:rPr lang="ru-RU" altLang="ru-RU" sz="2000" dirty="0">
                <a:solidFill>
                  <a:srgbClr val="005392"/>
                </a:solidFill>
              </a:rPr>
              <a:t>&gt; df1 &lt;- </a:t>
            </a:r>
            <a:r>
              <a:rPr lang="ru-RU" altLang="ru-RU" sz="2000" dirty="0" err="1">
                <a:solidFill>
                  <a:srgbClr val="005392"/>
                </a:solidFill>
              </a:rPr>
              <a:t>data.frame</a:t>
            </a:r>
            <a:r>
              <a:rPr lang="ru-RU" altLang="ru-RU" sz="2000" dirty="0">
                <a:solidFill>
                  <a:srgbClr val="005392"/>
                </a:solidFill>
              </a:rPr>
              <a:t>(var1, var2, var3) </a:t>
            </a:r>
          </a:p>
          <a:p>
            <a:pPr marL="177800" indent="-177800" defTabSz="914400">
              <a:buNone/>
            </a:pPr>
            <a:r>
              <a:rPr lang="ru-RU" altLang="ru-RU" sz="2000" dirty="0">
                <a:solidFill>
                  <a:srgbClr val="005392"/>
                </a:solidFill>
              </a:rPr>
              <a:t>&gt; </a:t>
            </a:r>
            <a:r>
              <a:rPr lang="ru-RU" altLang="ru-RU" sz="2000" dirty="0" err="1">
                <a:solidFill>
                  <a:srgbClr val="005392"/>
                </a:solidFill>
              </a:rPr>
              <a:t>names</a:t>
            </a:r>
            <a:r>
              <a:rPr lang="ru-RU" altLang="ru-RU" sz="2000" dirty="0">
                <a:solidFill>
                  <a:srgbClr val="005392"/>
                </a:solidFill>
              </a:rPr>
              <a:t>(df1) &lt;- c("</a:t>
            </a:r>
            <a:r>
              <a:rPr lang="ru-RU" altLang="ru-RU" sz="2000" dirty="0" err="1">
                <a:solidFill>
                  <a:srgbClr val="005392"/>
                </a:solidFill>
              </a:rPr>
              <a:t>VariableInt</a:t>
            </a:r>
            <a:r>
              <a:rPr lang="ru-RU" altLang="ru-RU" sz="2000" dirty="0">
                <a:solidFill>
                  <a:srgbClr val="005392"/>
                </a:solidFill>
              </a:rPr>
              <a:t>", "</a:t>
            </a:r>
            <a:r>
              <a:rPr lang="ru-RU" altLang="ru-RU" sz="2000" dirty="0" err="1">
                <a:solidFill>
                  <a:srgbClr val="005392"/>
                </a:solidFill>
              </a:rPr>
              <a:t>VariableReal</a:t>
            </a:r>
            <a:r>
              <a:rPr lang="ru-RU" altLang="ru-RU" sz="2000" dirty="0">
                <a:solidFill>
                  <a:srgbClr val="005392"/>
                </a:solidFill>
              </a:rPr>
              <a:t>", "</a:t>
            </a:r>
            <a:r>
              <a:rPr lang="ru-RU" altLang="ru-RU" sz="2000" dirty="0" err="1">
                <a:solidFill>
                  <a:srgbClr val="005392"/>
                </a:solidFill>
              </a:rPr>
              <a:t>VariableChar</a:t>
            </a:r>
            <a:r>
              <a:rPr lang="ru-RU" altLang="ru-RU" sz="2000" dirty="0">
                <a:solidFill>
                  <a:srgbClr val="005392"/>
                </a:solidFill>
              </a:rPr>
              <a:t>") </a:t>
            </a:r>
          </a:p>
          <a:p>
            <a:pPr marL="177800" indent="-177800" defTabSz="914400">
              <a:buNone/>
            </a:pPr>
            <a:r>
              <a:rPr lang="ru-RU" altLang="ru-RU" sz="2000" dirty="0">
                <a:solidFill>
                  <a:srgbClr val="005392"/>
                </a:solidFill>
              </a:rPr>
              <a:t>&gt; </a:t>
            </a:r>
            <a:r>
              <a:rPr lang="ru-RU" altLang="ru-RU" sz="2000" dirty="0">
                <a:solidFill>
                  <a:srgbClr val="FF0000"/>
                </a:solidFill>
              </a:rPr>
              <a:t>write.csv</a:t>
            </a:r>
            <a:r>
              <a:rPr lang="ru-RU" altLang="ru-RU" sz="2000" dirty="0">
                <a:solidFill>
                  <a:srgbClr val="005392"/>
                </a:solidFill>
              </a:rPr>
              <a:t>(df1, "</a:t>
            </a:r>
            <a:r>
              <a:rPr lang="ru-RU" altLang="ru-RU" sz="2000" dirty="0" err="1">
                <a:solidFill>
                  <a:srgbClr val="005392"/>
                </a:solidFill>
              </a:rPr>
              <a:t>data</a:t>
            </a:r>
            <a:r>
              <a:rPr lang="ru-RU" altLang="ru-RU" sz="2000" dirty="0">
                <a:solidFill>
                  <a:srgbClr val="005392"/>
                </a:solidFill>
              </a:rPr>
              <a:t>/myData.csv", </a:t>
            </a:r>
            <a:r>
              <a:rPr lang="ru-RU" altLang="ru-RU" sz="2000" dirty="0" err="1">
                <a:solidFill>
                  <a:srgbClr val="005392"/>
                </a:solidFill>
              </a:rPr>
              <a:t>row.names</a:t>
            </a:r>
            <a:r>
              <a:rPr lang="ru-RU" altLang="ru-RU" sz="2000" dirty="0">
                <a:solidFill>
                  <a:srgbClr val="005392"/>
                </a:solidFill>
              </a:rPr>
              <a:t> = FALSE) </a:t>
            </a:r>
          </a:p>
          <a:p>
            <a:pPr marL="177800" indent="-177800" defTabSz="914400">
              <a:buNone/>
            </a:pPr>
            <a:r>
              <a:rPr lang="ru-RU" altLang="ru-RU" sz="2000" dirty="0">
                <a:solidFill>
                  <a:srgbClr val="005392"/>
                </a:solidFill>
              </a:rPr>
              <a:t>&gt;  df2 &lt;- </a:t>
            </a:r>
            <a:r>
              <a:rPr lang="ru-RU" altLang="ru-RU" sz="2000" dirty="0">
                <a:solidFill>
                  <a:srgbClr val="FF0000"/>
                </a:solidFill>
              </a:rPr>
              <a:t>read.csv</a:t>
            </a:r>
            <a:r>
              <a:rPr lang="ru-RU" altLang="ru-RU" sz="2000" dirty="0">
                <a:solidFill>
                  <a:srgbClr val="005392"/>
                </a:solidFill>
              </a:rPr>
              <a:t>("</a:t>
            </a:r>
            <a:r>
              <a:rPr lang="ru-RU" altLang="ru-RU" sz="2000" dirty="0" err="1">
                <a:solidFill>
                  <a:srgbClr val="005392"/>
                </a:solidFill>
              </a:rPr>
              <a:t>data</a:t>
            </a:r>
            <a:r>
              <a:rPr lang="ru-RU" altLang="ru-RU" sz="2000" dirty="0">
                <a:solidFill>
                  <a:srgbClr val="005392"/>
                </a:solidFill>
              </a:rPr>
              <a:t>/myData.csv“</a:t>
            </a:r>
            <a:r>
              <a:rPr lang="en-US" altLang="ru-RU" sz="2000" dirty="0">
                <a:solidFill>
                  <a:srgbClr val="005392"/>
                </a:solidFill>
              </a:rPr>
              <a:t>, </a:t>
            </a:r>
            <a:r>
              <a:rPr lang="ru-RU" altLang="ru-RU" sz="2000" dirty="0" err="1">
                <a:solidFill>
                  <a:srgbClr val="005392"/>
                </a:solidFill>
              </a:rPr>
              <a:t>encoding</a:t>
            </a:r>
            <a:r>
              <a:rPr lang="ru-RU" altLang="ru-RU" sz="2000" dirty="0">
                <a:solidFill>
                  <a:srgbClr val="005392"/>
                </a:solidFill>
              </a:rPr>
              <a:t>="UTF-8" ) </a:t>
            </a:r>
            <a:endParaRPr lang="en-US" altLang="ru-RU" sz="2000" dirty="0">
              <a:solidFill>
                <a:srgbClr val="005392"/>
              </a:solidFill>
            </a:endParaRPr>
          </a:p>
          <a:p>
            <a:pPr marL="177800" indent="-177800" defTabSz="914400">
              <a:buNone/>
            </a:pPr>
            <a:r>
              <a:rPr lang="en-US" altLang="ru-RU" sz="2000" dirty="0">
                <a:solidFill>
                  <a:srgbClr val="005392"/>
                </a:solidFill>
              </a:rPr>
              <a:t>&gt; print(df2)</a:t>
            </a:r>
          </a:p>
          <a:p>
            <a:pPr marL="742950" lvl="1" indent="-285750" defTabSz="914400">
              <a:lnSpc>
                <a:spcPct val="65000"/>
              </a:lnSpc>
              <a:buNone/>
            </a:pPr>
            <a:r>
              <a:rPr lang="en-US" altLang="ru-RU" sz="2000" dirty="0"/>
              <a:t>    </a:t>
            </a:r>
            <a:r>
              <a:rPr lang="en-US" altLang="ru-RU" sz="2000" dirty="0" err="1"/>
              <a:t>VariableInt</a:t>
            </a:r>
            <a:r>
              <a:rPr lang="en-US" altLang="ru-RU" sz="2000" dirty="0"/>
              <a:t> </a:t>
            </a:r>
            <a:r>
              <a:rPr lang="en-US" altLang="ru-RU" sz="2000" dirty="0" err="1"/>
              <a:t>VariableReal</a:t>
            </a:r>
            <a:r>
              <a:rPr lang="en-US" altLang="ru-RU" sz="2000" dirty="0"/>
              <a:t> </a:t>
            </a:r>
            <a:r>
              <a:rPr lang="en-US" altLang="ru-RU" sz="2000" dirty="0" err="1"/>
              <a:t>VariableChar</a:t>
            </a:r>
            <a:endParaRPr lang="en-US" altLang="ru-RU" sz="2000" dirty="0"/>
          </a:p>
          <a:p>
            <a:pPr marL="742950" lvl="1" indent="-285750" defTabSz="914400">
              <a:lnSpc>
                <a:spcPct val="65000"/>
              </a:lnSpc>
              <a:buNone/>
            </a:pPr>
            <a:r>
              <a:rPr lang="en-US" altLang="ru-RU" sz="2000" dirty="0"/>
              <a:t>1       1                  0.1          </a:t>
            </a:r>
            <a:r>
              <a:rPr lang="ru-RU" altLang="ru-RU" sz="2000" dirty="0"/>
              <a:t>    </a:t>
            </a:r>
            <a:r>
              <a:rPr lang="en-US" altLang="ru-RU" sz="2000" dirty="0"/>
              <a:t>R</a:t>
            </a:r>
          </a:p>
          <a:p>
            <a:pPr marL="742950" lvl="1" indent="-285750" defTabSz="914400">
              <a:lnSpc>
                <a:spcPct val="65000"/>
              </a:lnSpc>
              <a:buNone/>
            </a:pPr>
            <a:r>
              <a:rPr lang="en-US" altLang="ru-RU" sz="2000" dirty="0"/>
              <a:t>2       2                  0.2          </a:t>
            </a:r>
            <a:r>
              <a:rPr lang="ru-RU" altLang="ru-RU" sz="2000" dirty="0"/>
              <a:t>    </a:t>
            </a:r>
            <a:r>
              <a:rPr lang="en-US" altLang="ru-RU" sz="2000" dirty="0"/>
              <a:t>and</a:t>
            </a:r>
          </a:p>
          <a:p>
            <a:pPr marL="742950" lvl="1" indent="-285750" defTabSz="914400">
              <a:lnSpc>
                <a:spcPct val="65000"/>
              </a:lnSpc>
              <a:buNone/>
            </a:pPr>
            <a:r>
              <a:rPr lang="en-US" altLang="ru-RU" sz="2000" dirty="0"/>
              <a:t>3       3                  0.3          </a:t>
            </a:r>
            <a:r>
              <a:rPr lang="ru-RU" altLang="ru-RU" sz="2000" dirty="0"/>
              <a:t>    </a:t>
            </a:r>
            <a:r>
              <a:rPr lang="en-US" altLang="ru-RU" sz="2000" dirty="0"/>
              <a:t>Data Mining</a:t>
            </a:r>
          </a:p>
          <a:p>
            <a:pPr marL="742950" lvl="1" indent="-285750" defTabSz="914400">
              <a:lnSpc>
                <a:spcPct val="65000"/>
              </a:lnSpc>
              <a:buNone/>
            </a:pPr>
            <a:r>
              <a:rPr lang="en-US" altLang="ru-RU" sz="2000" dirty="0"/>
              <a:t>4       4                  0.4          </a:t>
            </a:r>
            <a:r>
              <a:rPr lang="ru-RU" altLang="ru-RU" sz="2000" dirty="0"/>
              <a:t>    </a:t>
            </a:r>
            <a:r>
              <a:rPr lang="en-US" altLang="ru-RU" sz="2000" dirty="0"/>
              <a:t>Examples</a:t>
            </a:r>
          </a:p>
          <a:p>
            <a:pPr marL="742950" lvl="1" indent="-285750" defTabSz="914400">
              <a:lnSpc>
                <a:spcPct val="65000"/>
              </a:lnSpc>
              <a:buNone/>
            </a:pPr>
            <a:r>
              <a:rPr lang="en-US" altLang="ru-RU" sz="2000" dirty="0"/>
              <a:t>5       5                  0.5          </a:t>
            </a:r>
            <a:r>
              <a:rPr lang="ru-RU" altLang="ru-RU" sz="2000" dirty="0"/>
              <a:t>    </a:t>
            </a:r>
            <a:r>
              <a:rPr lang="en-US" altLang="ru-RU" sz="2000" dirty="0"/>
              <a:t>Case Studies</a:t>
            </a:r>
            <a:endParaRPr lang="ru-RU" altLang="ru-RU" sz="1800" dirty="0"/>
          </a:p>
        </p:txBody>
      </p:sp>
      <p:sp>
        <p:nvSpPr>
          <p:cNvPr id="54279" name="Rectangle 7"/>
          <p:cNvSpPr>
            <a:spLocks noChangeArrowheads="1"/>
          </p:cNvSpPr>
          <p:nvPr/>
        </p:nvSpPr>
        <p:spPr bwMode="auto">
          <a:xfrm>
            <a:off x="3165476" y="1690688"/>
            <a:ext cx="6354762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defTabSz="993775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defTabSz="993775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defTabSz="993775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defTabSz="993775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defTabSz="993775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20000"/>
              </a:spcBef>
              <a:defRPr/>
            </a:pPr>
            <a:r>
              <a:rPr lang="ru-RU" altLang="ru-RU" sz="2800" dirty="0"/>
              <a:t>Ввод/ вывод данных в/из </a:t>
            </a:r>
            <a:r>
              <a:rPr lang="en-US" altLang="ru-RU" sz="2800" b="1" i="1" dirty="0">
                <a:solidFill>
                  <a:schemeClr val="accent2">
                    <a:lumMod val="50000"/>
                  </a:schemeClr>
                </a:solidFill>
              </a:rPr>
              <a:t>CSV</a:t>
            </a:r>
            <a:r>
              <a:rPr lang="en-US" altLang="ru-RU" sz="2800" dirty="0"/>
              <a:t> </a:t>
            </a:r>
            <a:r>
              <a:rPr lang="ru-RU" altLang="ru-RU" sz="2800" dirty="0"/>
              <a:t>файла</a:t>
            </a:r>
          </a:p>
        </p:txBody>
      </p:sp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2B6C0E-C4B9-4094-8E59-5B7DF00D5415}" type="slidenum">
              <a:rPr lang="ru-RU" smtClean="0"/>
              <a:t>32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476993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AutoShape 4"/>
          <p:cNvSpPr>
            <a:spLocks noChangeArrowheads="1"/>
          </p:cNvSpPr>
          <p:nvPr/>
        </p:nvSpPr>
        <p:spPr bwMode="auto">
          <a:xfrm>
            <a:off x="1438275" y="179389"/>
            <a:ext cx="10728497" cy="6696075"/>
          </a:xfrm>
          <a:prstGeom prst="roundRect">
            <a:avLst>
              <a:gd name="adj" fmla="val 16667"/>
            </a:avLst>
          </a:prstGeom>
          <a:solidFill>
            <a:schemeClr val="bg1">
              <a:alpha val="50195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99441" tIns="49721" rIns="99441" bIns="49721" anchor="ctr"/>
          <a:lstStyle>
            <a:lvl1pPr defTabSz="993775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defTabSz="993775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defTabSz="993775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defTabSz="993775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defTabSz="993775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 sz="3500">
              <a:solidFill>
                <a:schemeClr val="bg1"/>
              </a:solidFill>
            </a:endParaRPr>
          </a:p>
        </p:txBody>
      </p:sp>
      <p:sp>
        <p:nvSpPr>
          <p:cNvPr id="57347" name="AutoShape 5"/>
          <p:cNvSpPr>
            <a:spLocks noChangeArrowheads="1"/>
          </p:cNvSpPr>
          <p:nvPr/>
        </p:nvSpPr>
        <p:spPr bwMode="auto">
          <a:xfrm>
            <a:off x="2085977" y="395288"/>
            <a:ext cx="8351837" cy="1008062"/>
          </a:xfrm>
          <a:prstGeom prst="roundRect">
            <a:avLst>
              <a:gd name="adj" fmla="val 16667"/>
            </a:avLst>
          </a:prstGeom>
          <a:solidFill>
            <a:srgbClr val="FFFFFF">
              <a:alpha val="78822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99441" tIns="49721" rIns="99441" bIns="49721" anchor="ctr"/>
          <a:lstStyle>
            <a:lvl1pPr defTabSz="993775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defTabSz="993775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defTabSz="993775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defTabSz="993775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defTabSz="993775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 sz="3500">
              <a:solidFill>
                <a:schemeClr val="bg1"/>
              </a:solidFill>
            </a:endParaRPr>
          </a:p>
        </p:txBody>
      </p:sp>
      <p:sp>
        <p:nvSpPr>
          <p:cNvPr id="57348" name="AutoShape 6"/>
          <p:cNvSpPr>
            <a:spLocks noChangeArrowheads="1"/>
          </p:cNvSpPr>
          <p:nvPr/>
        </p:nvSpPr>
        <p:spPr bwMode="auto">
          <a:xfrm>
            <a:off x="1582737" y="1704975"/>
            <a:ext cx="10223995" cy="4954588"/>
          </a:xfrm>
          <a:prstGeom prst="roundRect">
            <a:avLst>
              <a:gd name="adj" fmla="val 16667"/>
            </a:avLst>
          </a:prstGeom>
          <a:solidFill>
            <a:srgbClr val="FFFFFF">
              <a:alpha val="78822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99441" tIns="49721" rIns="99441" bIns="49721" anchor="ctr"/>
          <a:lstStyle>
            <a:lvl1pPr defTabSz="993775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defTabSz="993775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defTabSz="993775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defTabSz="993775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defTabSz="993775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 sz="3500">
              <a:solidFill>
                <a:schemeClr val="bg1"/>
              </a:solidFill>
            </a:endParaRPr>
          </a:p>
        </p:txBody>
      </p:sp>
      <p:sp>
        <p:nvSpPr>
          <p:cNvPr id="57349" name="Заголовок 1"/>
          <p:cNvSpPr>
            <a:spLocks noGrp="1"/>
          </p:cNvSpPr>
          <p:nvPr>
            <p:ph type="title" idx="4294967295"/>
          </p:nvPr>
        </p:nvSpPr>
        <p:spPr bwMode="auto">
          <a:xfrm>
            <a:off x="1195389" y="285750"/>
            <a:ext cx="9248775" cy="1187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r>
              <a:rPr lang="ru-RU" altLang="ru-RU"/>
              <a:t>Импорт-Экспорт данных в </a:t>
            </a:r>
            <a:r>
              <a:rPr lang="en-US" altLang="ru-RU"/>
              <a:t>R</a:t>
            </a:r>
            <a:endParaRPr lang="ru-RU" altLang="ru-RU"/>
          </a:p>
        </p:txBody>
      </p:sp>
      <p:pic>
        <p:nvPicPr>
          <p:cNvPr id="57350" name="Рисунок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41513" y="1906588"/>
            <a:ext cx="2654300" cy="2305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7351" name="Стрелка вправо 2"/>
          <p:cNvSpPr>
            <a:spLocks noChangeArrowheads="1"/>
          </p:cNvSpPr>
          <p:nvPr/>
        </p:nvSpPr>
        <p:spPr bwMode="auto">
          <a:xfrm>
            <a:off x="4749802" y="2771775"/>
            <a:ext cx="504825" cy="503238"/>
          </a:xfrm>
          <a:prstGeom prst="rightArrow">
            <a:avLst>
              <a:gd name="adj1" fmla="val 50000"/>
              <a:gd name="adj2" fmla="val 50158"/>
            </a:avLst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 defTabSz="993775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defTabSz="993775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defTabSz="993775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defTabSz="993775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defTabSz="993775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pic>
        <p:nvPicPr>
          <p:cNvPr id="57352" name="Рисунок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65776" y="2339976"/>
            <a:ext cx="4476750" cy="143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7353" name="Рисунок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30552" y="4492625"/>
            <a:ext cx="6334125" cy="2114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7354" name="Стрелка вправо 10"/>
          <p:cNvSpPr>
            <a:spLocks noChangeArrowheads="1"/>
          </p:cNvSpPr>
          <p:nvPr/>
        </p:nvSpPr>
        <p:spPr bwMode="auto">
          <a:xfrm rot="5400000">
            <a:off x="7320758" y="3909220"/>
            <a:ext cx="504825" cy="503237"/>
          </a:xfrm>
          <a:prstGeom prst="rightArrow">
            <a:avLst>
              <a:gd name="adj1" fmla="val 50000"/>
              <a:gd name="adj2" fmla="val 50158"/>
            </a:avLst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 defTabSz="993775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defTabSz="993775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defTabSz="993775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defTabSz="993775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defTabSz="993775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2B6C0E-C4B9-4094-8E59-5B7DF00D5415}" type="slidenum">
              <a:rPr lang="ru-RU" smtClean="0"/>
              <a:t>33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744168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AutoShape 4"/>
          <p:cNvSpPr>
            <a:spLocks noChangeArrowheads="1"/>
          </p:cNvSpPr>
          <p:nvPr/>
        </p:nvSpPr>
        <p:spPr bwMode="auto">
          <a:xfrm>
            <a:off x="1438275" y="179389"/>
            <a:ext cx="10800505" cy="6696075"/>
          </a:xfrm>
          <a:prstGeom prst="roundRect">
            <a:avLst>
              <a:gd name="adj" fmla="val 16667"/>
            </a:avLst>
          </a:prstGeom>
          <a:solidFill>
            <a:schemeClr val="bg1">
              <a:alpha val="50195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99441" tIns="49721" rIns="99441" bIns="49721" anchor="ctr"/>
          <a:lstStyle>
            <a:lvl1pPr defTabSz="993775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defTabSz="993775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defTabSz="993775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defTabSz="993775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defTabSz="993775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 sz="3500">
              <a:solidFill>
                <a:schemeClr val="bg1"/>
              </a:solidFill>
            </a:endParaRPr>
          </a:p>
        </p:txBody>
      </p:sp>
      <p:sp>
        <p:nvSpPr>
          <p:cNvPr id="58371" name="AutoShape 5"/>
          <p:cNvSpPr>
            <a:spLocks noChangeArrowheads="1"/>
          </p:cNvSpPr>
          <p:nvPr/>
        </p:nvSpPr>
        <p:spPr bwMode="auto">
          <a:xfrm>
            <a:off x="2085977" y="395288"/>
            <a:ext cx="8351837" cy="1008062"/>
          </a:xfrm>
          <a:prstGeom prst="roundRect">
            <a:avLst>
              <a:gd name="adj" fmla="val 16667"/>
            </a:avLst>
          </a:prstGeom>
          <a:solidFill>
            <a:srgbClr val="FFFFFF">
              <a:alpha val="78822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99441" tIns="49721" rIns="99441" bIns="49721" anchor="ctr"/>
          <a:lstStyle>
            <a:lvl1pPr defTabSz="993775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defTabSz="993775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defTabSz="993775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defTabSz="993775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defTabSz="993775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 sz="3500">
              <a:solidFill>
                <a:schemeClr val="bg1"/>
              </a:solidFill>
            </a:endParaRPr>
          </a:p>
        </p:txBody>
      </p:sp>
      <p:sp>
        <p:nvSpPr>
          <p:cNvPr id="58372" name="AutoShape 6"/>
          <p:cNvSpPr>
            <a:spLocks noChangeArrowheads="1"/>
          </p:cNvSpPr>
          <p:nvPr/>
        </p:nvSpPr>
        <p:spPr bwMode="auto">
          <a:xfrm>
            <a:off x="1582738" y="1704975"/>
            <a:ext cx="9431338" cy="4954588"/>
          </a:xfrm>
          <a:prstGeom prst="roundRect">
            <a:avLst>
              <a:gd name="adj" fmla="val 16667"/>
            </a:avLst>
          </a:prstGeom>
          <a:solidFill>
            <a:srgbClr val="FFFFFF">
              <a:alpha val="78822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99441" tIns="49721" rIns="99441" bIns="49721" anchor="ctr"/>
          <a:lstStyle>
            <a:lvl1pPr defTabSz="993775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defTabSz="993775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defTabSz="993775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defTabSz="993775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defTabSz="993775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 sz="3500">
              <a:solidFill>
                <a:schemeClr val="bg1"/>
              </a:solidFill>
            </a:endParaRPr>
          </a:p>
        </p:txBody>
      </p:sp>
      <p:sp>
        <p:nvSpPr>
          <p:cNvPr id="58373" name="Заголовок 1"/>
          <p:cNvSpPr>
            <a:spLocks noGrp="1"/>
          </p:cNvSpPr>
          <p:nvPr>
            <p:ph type="title" idx="4294967295"/>
          </p:nvPr>
        </p:nvSpPr>
        <p:spPr bwMode="auto">
          <a:xfrm>
            <a:off x="1195389" y="285750"/>
            <a:ext cx="9248775" cy="1187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r>
              <a:rPr lang="ru-RU" altLang="ru-RU"/>
              <a:t>Импорт-Экспорт данных в </a:t>
            </a:r>
            <a:r>
              <a:rPr lang="en-US" altLang="ru-RU"/>
              <a:t>R</a:t>
            </a:r>
            <a:endParaRPr lang="ru-RU" altLang="ru-RU"/>
          </a:p>
        </p:txBody>
      </p:sp>
      <p:pic>
        <p:nvPicPr>
          <p:cNvPr id="58374" name="Рисунок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12004" y="1707108"/>
            <a:ext cx="9388344" cy="4478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8375" name="Стрелка вниз 6"/>
          <p:cNvSpPr>
            <a:spLocks noChangeArrowheads="1"/>
          </p:cNvSpPr>
          <p:nvPr/>
        </p:nvSpPr>
        <p:spPr bwMode="auto">
          <a:xfrm rot="4883546">
            <a:off x="10338595" y="2243932"/>
            <a:ext cx="520700" cy="576263"/>
          </a:xfrm>
          <a:prstGeom prst="downArrow">
            <a:avLst>
              <a:gd name="adj1" fmla="val 50000"/>
              <a:gd name="adj2" fmla="val 50017"/>
            </a:avLst>
          </a:prstGeom>
          <a:solidFill>
            <a:srgbClr val="FF00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 defTabSz="993775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defTabSz="993775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defTabSz="993775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defTabSz="993775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defTabSz="993775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2B6C0E-C4B9-4094-8E59-5B7DF00D5415}" type="slidenum">
              <a:rPr lang="ru-RU" smtClean="0"/>
              <a:t>34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261425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AutoShape 4"/>
          <p:cNvSpPr>
            <a:spLocks noChangeArrowheads="1"/>
          </p:cNvSpPr>
          <p:nvPr/>
        </p:nvSpPr>
        <p:spPr bwMode="auto">
          <a:xfrm>
            <a:off x="1438275" y="179389"/>
            <a:ext cx="10800505" cy="6696075"/>
          </a:xfrm>
          <a:prstGeom prst="roundRect">
            <a:avLst>
              <a:gd name="adj" fmla="val 16667"/>
            </a:avLst>
          </a:prstGeom>
          <a:solidFill>
            <a:schemeClr val="bg1">
              <a:alpha val="50195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99441" tIns="49721" rIns="99441" bIns="49721" anchor="ctr"/>
          <a:lstStyle>
            <a:lvl1pPr defTabSz="993775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defTabSz="993775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defTabSz="993775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defTabSz="993775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defTabSz="993775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 sz="3500">
              <a:solidFill>
                <a:schemeClr val="bg1"/>
              </a:solidFill>
            </a:endParaRPr>
          </a:p>
        </p:txBody>
      </p:sp>
      <p:sp>
        <p:nvSpPr>
          <p:cNvPr id="59395" name="AutoShape 5"/>
          <p:cNvSpPr>
            <a:spLocks noChangeArrowheads="1"/>
          </p:cNvSpPr>
          <p:nvPr/>
        </p:nvSpPr>
        <p:spPr bwMode="auto">
          <a:xfrm>
            <a:off x="2085977" y="395288"/>
            <a:ext cx="8351837" cy="1008062"/>
          </a:xfrm>
          <a:prstGeom prst="roundRect">
            <a:avLst>
              <a:gd name="adj" fmla="val 16667"/>
            </a:avLst>
          </a:prstGeom>
          <a:solidFill>
            <a:srgbClr val="FFFFFF">
              <a:alpha val="78822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99441" tIns="49721" rIns="99441" bIns="49721" anchor="ctr"/>
          <a:lstStyle>
            <a:lvl1pPr defTabSz="993775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defTabSz="993775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defTabSz="993775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defTabSz="993775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defTabSz="993775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 sz="3500">
              <a:solidFill>
                <a:schemeClr val="bg1"/>
              </a:solidFill>
            </a:endParaRPr>
          </a:p>
        </p:txBody>
      </p:sp>
      <p:sp>
        <p:nvSpPr>
          <p:cNvPr id="59396" name="AutoShape 6"/>
          <p:cNvSpPr>
            <a:spLocks noChangeArrowheads="1"/>
          </p:cNvSpPr>
          <p:nvPr/>
        </p:nvSpPr>
        <p:spPr bwMode="auto">
          <a:xfrm>
            <a:off x="1582737" y="1704975"/>
            <a:ext cx="10368011" cy="4954588"/>
          </a:xfrm>
          <a:prstGeom prst="roundRect">
            <a:avLst>
              <a:gd name="adj" fmla="val 16667"/>
            </a:avLst>
          </a:prstGeom>
          <a:solidFill>
            <a:srgbClr val="FFFFFF">
              <a:alpha val="78822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99441" tIns="49721" rIns="99441" bIns="49721" anchor="ctr"/>
          <a:lstStyle>
            <a:lvl1pPr defTabSz="993775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defTabSz="993775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defTabSz="993775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defTabSz="993775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defTabSz="993775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 sz="3500">
              <a:solidFill>
                <a:schemeClr val="bg1"/>
              </a:solidFill>
            </a:endParaRPr>
          </a:p>
        </p:txBody>
      </p:sp>
      <p:sp>
        <p:nvSpPr>
          <p:cNvPr id="59397" name="Заголовок 1"/>
          <p:cNvSpPr>
            <a:spLocks noGrp="1"/>
          </p:cNvSpPr>
          <p:nvPr>
            <p:ph type="title" idx="4294967295"/>
          </p:nvPr>
        </p:nvSpPr>
        <p:spPr bwMode="auto">
          <a:xfrm>
            <a:off x="1195389" y="285750"/>
            <a:ext cx="9248775" cy="1187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r>
              <a:rPr lang="ru-RU" altLang="ru-RU"/>
              <a:t>Импорт-Экспорт данных в </a:t>
            </a:r>
            <a:r>
              <a:rPr lang="en-US" altLang="ru-RU"/>
              <a:t>R</a:t>
            </a:r>
            <a:endParaRPr lang="ru-RU" altLang="ru-RU"/>
          </a:p>
        </p:txBody>
      </p:sp>
      <p:pic>
        <p:nvPicPr>
          <p:cNvPr id="59398" name="Рисунок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74863" y="2625726"/>
            <a:ext cx="8447088" cy="3463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2B6C0E-C4B9-4094-8E59-5B7DF00D5415}" type="slidenum">
              <a:rPr lang="ru-RU" smtClean="0"/>
              <a:t>35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252280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AutoShape 4"/>
          <p:cNvSpPr>
            <a:spLocks noChangeArrowheads="1"/>
          </p:cNvSpPr>
          <p:nvPr/>
        </p:nvSpPr>
        <p:spPr bwMode="auto">
          <a:xfrm>
            <a:off x="1438275" y="179389"/>
            <a:ext cx="10872513" cy="6696075"/>
          </a:xfrm>
          <a:prstGeom prst="roundRect">
            <a:avLst>
              <a:gd name="adj" fmla="val 16667"/>
            </a:avLst>
          </a:prstGeom>
          <a:solidFill>
            <a:schemeClr val="bg1">
              <a:alpha val="50195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99441" tIns="49721" rIns="99441" bIns="49721" anchor="ctr"/>
          <a:lstStyle>
            <a:lvl1pPr defTabSz="993775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defTabSz="993775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defTabSz="993775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defTabSz="993775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defTabSz="993775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 sz="3500">
              <a:solidFill>
                <a:schemeClr val="bg1"/>
              </a:solidFill>
            </a:endParaRPr>
          </a:p>
        </p:txBody>
      </p:sp>
      <p:sp>
        <p:nvSpPr>
          <p:cNvPr id="60419" name="AutoShape 5"/>
          <p:cNvSpPr>
            <a:spLocks noChangeArrowheads="1"/>
          </p:cNvSpPr>
          <p:nvPr/>
        </p:nvSpPr>
        <p:spPr bwMode="auto">
          <a:xfrm>
            <a:off x="2085977" y="395288"/>
            <a:ext cx="8351837" cy="1008062"/>
          </a:xfrm>
          <a:prstGeom prst="roundRect">
            <a:avLst>
              <a:gd name="adj" fmla="val 16667"/>
            </a:avLst>
          </a:prstGeom>
          <a:solidFill>
            <a:srgbClr val="FFFFFF">
              <a:alpha val="78822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99441" tIns="49721" rIns="99441" bIns="49721" anchor="ctr"/>
          <a:lstStyle>
            <a:lvl1pPr defTabSz="993775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defTabSz="993775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defTabSz="993775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defTabSz="993775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defTabSz="993775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 sz="3500">
              <a:solidFill>
                <a:schemeClr val="bg1"/>
              </a:solidFill>
            </a:endParaRPr>
          </a:p>
        </p:txBody>
      </p:sp>
      <p:sp>
        <p:nvSpPr>
          <p:cNvPr id="60420" name="AutoShape 6"/>
          <p:cNvSpPr>
            <a:spLocks noChangeArrowheads="1"/>
          </p:cNvSpPr>
          <p:nvPr/>
        </p:nvSpPr>
        <p:spPr bwMode="auto">
          <a:xfrm>
            <a:off x="1447165" y="1658171"/>
            <a:ext cx="10431576" cy="4954588"/>
          </a:xfrm>
          <a:prstGeom prst="roundRect">
            <a:avLst>
              <a:gd name="adj" fmla="val 16667"/>
            </a:avLst>
          </a:prstGeom>
          <a:solidFill>
            <a:srgbClr val="FFFFFF">
              <a:alpha val="78822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99441" tIns="49721" rIns="99441" bIns="49721" anchor="ctr"/>
          <a:lstStyle>
            <a:lvl1pPr defTabSz="993775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defTabSz="993775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defTabSz="993775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defTabSz="993775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defTabSz="993775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 sz="3500">
              <a:solidFill>
                <a:schemeClr val="bg1"/>
              </a:solidFill>
            </a:endParaRPr>
          </a:p>
        </p:txBody>
      </p:sp>
      <p:sp>
        <p:nvSpPr>
          <p:cNvPr id="60421" name="Заголовок 1"/>
          <p:cNvSpPr>
            <a:spLocks noGrp="1"/>
          </p:cNvSpPr>
          <p:nvPr>
            <p:ph type="title" idx="4294967295"/>
          </p:nvPr>
        </p:nvSpPr>
        <p:spPr bwMode="auto">
          <a:xfrm>
            <a:off x="1195389" y="285750"/>
            <a:ext cx="9248775" cy="1187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r>
              <a:rPr lang="ru-RU" altLang="ru-RU"/>
              <a:t>Импорт-Экспорт данных в </a:t>
            </a:r>
            <a:r>
              <a:rPr lang="en-US" altLang="ru-RU"/>
              <a:t>R</a:t>
            </a:r>
            <a:endParaRPr lang="ru-RU" altLang="ru-RU"/>
          </a:p>
        </p:txBody>
      </p:sp>
      <p:sp>
        <p:nvSpPr>
          <p:cNvPr id="55302" name="Rectangle 6"/>
          <p:cNvSpPr>
            <a:spLocks noChangeArrowheads="1"/>
          </p:cNvSpPr>
          <p:nvPr/>
        </p:nvSpPr>
        <p:spPr bwMode="auto">
          <a:xfrm>
            <a:off x="3454401" y="1619251"/>
            <a:ext cx="4894262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defTabSz="993775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defTabSz="993775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defTabSz="993775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defTabSz="993775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defTabSz="993775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20000"/>
              </a:spcBef>
              <a:defRPr/>
            </a:pPr>
            <a:r>
              <a:rPr lang="ru-RU" altLang="ru-RU" sz="2800" b="1" dirty="0"/>
              <a:t>Ввод данных из </a:t>
            </a:r>
            <a:r>
              <a:rPr lang="en-US" altLang="ru-RU" sz="2800" b="1" i="1" dirty="0" err="1">
                <a:solidFill>
                  <a:schemeClr val="accent2">
                    <a:lumMod val="50000"/>
                  </a:schemeClr>
                </a:solidFill>
              </a:rPr>
              <a:t>xls</a:t>
            </a:r>
            <a:r>
              <a:rPr lang="en-US" altLang="ru-RU" sz="2800" b="1" dirty="0"/>
              <a:t> </a:t>
            </a:r>
            <a:r>
              <a:rPr lang="ru-RU" altLang="ru-RU" sz="2800" b="1" dirty="0"/>
              <a:t>файла</a:t>
            </a:r>
          </a:p>
        </p:txBody>
      </p:sp>
      <p:sp>
        <p:nvSpPr>
          <p:cNvPr id="60423" name="Content Placeholder 2"/>
          <p:cNvSpPr>
            <a:spLocks/>
          </p:cNvSpPr>
          <p:nvPr/>
        </p:nvSpPr>
        <p:spPr bwMode="auto">
          <a:xfrm>
            <a:off x="1870076" y="2195514"/>
            <a:ext cx="9072562" cy="41036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177800" indent="-17780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533400" indent="-346075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20000"/>
              </a:spcBef>
            </a:pPr>
            <a:r>
              <a:rPr lang="en-US" altLang="ru-RU" sz="2400">
                <a:solidFill>
                  <a:srgbClr val="0000FF"/>
                </a:solidFill>
                <a:latin typeface="Lucida Console" panose="020B0609040504020204" pitchFamily="49" charset="0"/>
              </a:rPr>
              <a:t>&gt;</a:t>
            </a:r>
            <a:r>
              <a:rPr lang="ru-RU" altLang="ru-RU" sz="2400">
                <a:solidFill>
                  <a:srgbClr val="0000FF"/>
                </a:solidFill>
                <a:latin typeface="Lucida Console" panose="020B0609040504020204" pitchFamily="49" charset="0"/>
              </a:rPr>
              <a:t>install.packages(pkgs="readxl") </a:t>
            </a:r>
          </a:p>
          <a:p>
            <a:pPr>
              <a:spcBef>
                <a:spcPct val="20000"/>
              </a:spcBef>
            </a:pPr>
            <a:r>
              <a:rPr lang="en-US" altLang="ru-RU" sz="2400">
                <a:solidFill>
                  <a:srgbClr val="0000FF"/>
                </a:solidFill>
                <a:latin typeface="Lucida Console" panose="020B0609040504020204" pitchFamily="49" charset="0"/>
              </a:rPr>
              <a:t>&gt;</a:t>
            </a:r>
            <a:r>
              <a:rPr lang="ru-RU" altLang="ru-RU" sz="2400">
                <a:solidFill>
                  <a:srgbClr val="0000FF"/>
                </a:solidFill>
                <a:latin typeface="Lucida Console" panose="020B0609040504020204" pitchFamily="49" charset="0"/>
              </a:rPr>
              <a:t>library(readxl) </a:t>
            </a:r>
            <a:endParaRPr lang="en-US" altLang="ru-RU" sz="2400">
              <a:solidFill>
                <a:srgbClr val="0000FF"/>
              </a:solidFill>
              <a:latin typeface="Lucida Console" panose="020B0609040504020204" pitchFamily="49" charset="0"/>
            </a:endParaRPr>
          </a:p>
          <a:p>
            <a:pPr>
              <a:spcBef>
                <a:spcPct val="20000"/>
              </a:spcBef>
            </a:pPr>
            <a:r>
              <a:rPr lang="ru-RU" altLang="ru-RU" sz="2400">
                <a:solidFill>
                  <a:srgbClr val="0000FF"/>
                </a:solidFill>
                <a:latin typeface="Lucida Console" panose="020B0609040504020204" pitchFamily="49" charset="0"/>
              </a:rPr>
              <a:t>&gt; ORGDATA &lt;-read_excel("C:/ORGDATA.XLS")</a:t>
            </a:r>
            <a:endParaRPr lang="ru-RU" altLang="ru-RU" sz="5400"/>
          </a:p>
          <a:p>
            <a:pPr>
              <a:spcBef>
                <a:spcPct val="20000"/>
              </a:spcBef>
            </a:pPr>
            <a:endParaRPr lang="ru-RU" altLang="ru-RU" sz="2700"/>
          </a:p>
          <a:p>
            <a:pPr>
              <a:spcBef>
                <a:spcPct val="20000"/>
              </a:spcBef>
            </a:pPr>
            <a:r>
              <a:rPr lang="en-US" altLang="ru-RU" sz="2400">
                <a:solidFill>
                  <a:srgbClr val="0000FF"/>
                </a:solidFill>
                <a:latin typeface="Lucida Console" panose="020B0609040504020204" pitchFamily="49" charset="0"/>
              </a:rPr>
              <a:t>&gt; print(</a:t>
            </a:r>
            <a:r>
              <a:rPr lang="ru-RU" altLang="ru-RU" sz="2400">
                <a:solidFill>
                  <a:srgbClr val="0000FF"/>
                </a:solidFill>
                <a:latin typeface="Lucida Console" panose="020B0609040504020204" pitchFamily="49" charset="0"/>
              </a:rPr>
              <a:t>ORGDATA</a:t>
            </a:r>
            <a:r>
              <a:rPr lang="en-US" altLang="ru-RU" sz="2400">
                <a:solidFill>
                  <a:srgbClr val="0000FF"/>
                </a:solidFill>
                <a:latin typeface="Lucida Console" panose="020B0609040504020204" pitchFamily="49" charset="0"/>
              </a:rPr>
              <a:t>)</a:t>
            </a:r>
            <a:endParaRPr lang="ru-RU" altLang="ru-RU" sz="2400">
              <a:solidFill>
                <a:srgbClr val="0000FF"/>
              </a:solidFill>
              <a:latin typeface="Lucida Console" panose="020B0609040504020204" pitchFamily="49" charset="0"/>
            </a:endParaRPr>
          </a:p>
        </p:txBody>
      </p:sp>
      <p:sp>
        <p:nvSpPr>
          <p:cNvPr id="60424" name="Rectangle 8"/>
          <p:cNvSpPr>
            <a:spLocks noChangeArrowheads="1"/>
          </p:cNvSpPr>
          <p:nvPr/>
        </p:nvSpPr>
        <p:spPr bwMode="auto">
          <a:xfrm>
            <a:off x="1824039" y="2644776"/>
            <a:ext cx="8613775" cy="919163"/>
          </a:xfrm>
          <a:prstGeom prst="rect">
            <a:avLst/>
          </a:prstGeom>
          <a:noFill/>
          <a:ln w="28575">
            <a:solidFill>
              <a:srgbClr val="FF505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pic>
        <p:nvPicPr>
          <p:cNvPr id="60425" name="Рисунок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4039" y="4498975"/>
            <a:ext cx="8766175" cy="1062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2B6C0E-C4B9-4094-8E59-5B7DF00D5415}" type="slidenum">
              <a:rPr lang="ru-RU" smtClean="0"/>
              <a:t>36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212055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AutoShape 4"/>
          <p:cNvSpPr>
            <a:spLocks noChangeArrowheads="1"/>
          </p:cNvSpPr>
          <p:nvPr/>
        </p:nvSpPr>
        <p:spPr bwMode="auto">
          <a:xfrm>
            <a:off x="1438275" y="179389"/>
            <a:ext cx="11016529" cy="6696075"/>
          </a:xfrm>
          <a:prstGeom prst="roundRect">
            <a:avLst>
              <a:gd name="adj" fmla="val 16667"/>
            </a:avLst>
          </a:prstGeom>
          <a:solidFill>
            <a:schemeClr val="bg1">
              <a:alpha val="50195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99441" tIns="49721" rIns="99441" bIns="49721" anchor="ctr"/>
          <a:lstStyle>
            <a:lvl1pPr defTabSz="993775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defTabSz="993775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defTabSz="993775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defTabSz="993775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defTabSz="993775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 sz="3500">
              <a:solidFill>
                <a:schemeClr val="bg1"/>
              </a:solidFill>
            </a:endParaRPr>
          </a:p>
        </p:txBody>
      </p:sp>
      <p:sp>
        <p:nvSpPr>
          <p:cNvPr id="61443" name="AutoShape 5"/>
          <p:cNvSpPr>
            <a:spLocks noChangeArrowheads="1"/>
          </p:cNvSpPr>
          <p:nvPr/>
        </p:nvSpPr>
        <p:spPr bwMode="auto">
          <a:xfrm>
            <a:off x="2085977" y="395288"/>
            <a:ext cx="8351837" cy="1008062"/>
          </a:xfrm>
          <a:prstGeom prst="roundRect">
            <a:avLst>
              <a:gd name="adj" fmla="val 16667"/>
            </a:avLst>
          </a:prstGeom>
          <a:solidFill>
            <a:srgbClr val="FFFFFF">
              <a:alpha val="78822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99441" tIns="49721" rIns="99441" bIns="49721" anchor="ctr"/>
          <a:lstStyle>
            <a:lvl1pPr defTabSz="993775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defTabSz="993775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defTabSz="993775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defTabSz="993775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defTabSz="993775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 sz="3500">
              <a:solidFill>
                <a:schemeClr val="bg1"/>
              </a:solidFill>
            </a:endParaRPr>
          </a:p>
        </p:txBody>
      </p:sp>
      <p:sp>
        <p:nvSpPr>
          <p:cNvPr id="61444" name="AutoShape 6"/>
          <p:cNvSpPr>
            <a:spLocks noChangeArrowheads="1"/>
          </p:cNvSpPr>
          <p:nvPr/>
        </p:nvSpPr>
        <p:spPr bwMode="auto">
          <a:xfrm>
            <a:off x="1618455" y="1711388"/>
            <a:ext cx="10548317" cy="4954588"/>
          </a:xfrm>
          <a:prstGeom prst="roundRect">
            <a:avLst>
              <a:gd name="adj" fmla="val 16667"/>
            </a:avLst>
          </a:prstGeom>
          <a:solidFill>
            <a:srgbClr val="FFFFFF">
              <a:alpha val="78822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99441" tIns="49721" rIns="99441" bIns="49721" anchor="ctr"/>
          <a:lstStyle>
            <a:lvl1pPr defTabSz="993775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defTabSz="993775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defTabSz="993775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defTabSz="993775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defTabSz="993775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 sz="3500">
              <a:solidFill>
                <a:schemeClr val="bg1"/>
              </a:solidFill>
            </a:endParaRPr>
          </a:p>
        </p:txBody>
      </p:sp>
      <p:sp>
        <p:nvSpPr>
          <p:cNvPr id="61445" name="Заголовок 1"/>
          <p:cNvSpPr>
            <a:spLocks noGrp="1"/>
          </p:cNvSpPr>
          <p:nvPr>
            <p:ph type="title" idx="4294967295"/>
          </p:nvPr>
        </p:nvSpPr>
        <p:spPr bwMode="auto">
          <a:xfrm>
            <a:off x="1195389" y="285750"/>
            <a:ext cx="9248775" cy="1187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r>
              <a:rPr lang="ru-RU" altLang="ru-RU"/>
              <a:t>Импорт-Экспорт данных в </a:t>
            </a:r>
            <a:r>
              <a:rPr lang="en-US" altLang="ru-RU"/>
              <a:t>R</a:t>
            </a:r>
            <a:endParaRPr lang="ru-RU" altLang="ru-RU"/>
          </a:p>
        </p:txBody>
      </p:sp>
      <p:sp>
        <p:nvSpPr>
          <p:cNvPr id="61446" name="Rectangle 6"/>
          <p:cNvSpPr>
            <a:spLocks noChangeArrowheads="1"/>
          </p:cNvSpPr>
          <p:nvPr/>
        </p:nvSpPr>
        <p:spPr bwMode="auto">
          <a:xfrm>
            <a:off x="3454401" y="1619251"/>
            <a:ext cx="4894262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defTabSz="993775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defTabSz="993775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defTabSz="993775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defTabSz="993775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defTabSz="993775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20000"/>
              </a:spcBef>
            </a:pPr>
            <a:r>
              <a:rPr lang="ru-RU" altLang="ru-RU" sz="2800" b="1" dirty="0"/>
              <a:t>Ввод данных из </a:t>
            </a:r>
            <a:r>
              <a:rPr lang="en-US" altLang="ru-RU" sz="2800" b="1" i="1" dirty="0" err="1">
                <a:solidFill>
                  <a:schemeClr val="accent2">
                    <a:lumMod val="50000"/>
                  </a:schemeClr>
                </a:solidFill>
              </a:rPr>
              <a:t>xls</a:t>
            </a:r>
            <a:r>
              <a:rPr lang="en-US" altLang="ru-RU" sz="2800" b="1" dirty="0"/>
              <a:t> </a:t>
            </a:r>
            <a:r>
              <a:rPr lang="ru-RU" altLang="ru-RU" sz="2800" b="1" dirty="0"/>
              <a:t>файла</a:t>
            </a:r>
          </a:p>
        </p:txBody>
      </p:sp>
      <p:sp>
        <p:nvSpPr>
          <p:cNvPr id="61447" name="Content Placeholder 2"/>
          <p:cNvSpPr>
            <a:spLocks/>
          </p:cNvSpPr>
          <p:nvPr/>
        </p:nvSpPr>
        <p:spPr bwMode="auto">
          <a:xfrm>
            <a:off x="1870076" y="2195514"/>
            <a:ext cx="9072562" cy="41036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666750" indent="-66675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58825" indent="-57150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409700" indent="-49530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790700" indent="-41910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247900" indent="-41910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705100" indent="-4191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3162300" indent="-4191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619500" indent="-4191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4076700" indent="-4191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20000"/>
              </a:spcBef>
            </a:pPr>
            <a:r>
              <a:rPr lang="en-US" altLang="ru-RU" sz="2300"/>
              <a:t>&gt; print(df2)</a:t>
            </a:r>
          </a:p>
          <a:p>
            <a:pPr>
              <a:spcBef>
                <a:spcPct val="20000"/>
              </a:spcBef>
            </a:pPr>
            <a:r>
              <a:rPr lang="en-US" altLang="ru-RU"/>
              <a:t>   </a:t>
            </a:r>
            <a:r>
              <a:rPr lang="ru-RU" altLang="ru-RU" sz="2300"/>
              <a:t>month payment oldPay Differ</a:t>
            </a:r>
            <a:endParaRPr lang="en-US" altLang="ru-RU" sz="2300"/>
          </a:p>
          <a:p>
            <a:pPr>
              <a:lnSpc>
                <a:spcPct val="90000"/>
              </a:lnSpc>
              <a:spcBef>
                <a:spcPct val="20000"/>
              </a:spcBef>
              <a:buFontTx/>
              <a:buAutoNum type="arabicPlain"/>
            </a:pPr>
            <a:r>
              <a:rPr lang="ru-RU" altLang="ru-RU" sz="1900"/>
              <a:t>Apr-15    13.5    17    3.5</a:t>
            </a:r>
            <a:endParaRPr lang="en-US" altLang="ru-RU" sz="1900"/>
          </a:p>
          <a:p>
            <a:pPr>
              <a:lnSpc>
                <a:spcPct val="90000"/>
              </a:lnSpc>
              <a:spcBef>
                <a:spcPct val="20000"/>
              </a:spcBef>
              <a:buFontTx/>
              <a:buAutoNum type="arabicPlain"/>
            </a:pPr>
            <a:r>
              <a:rPr lang="ru-RU" altLang="ru-RU" sz="1900"/>
              <a:t>May-15   13.5    17    3.5</a:t>
            </a:r>
            <a:endParaRPr lang="en-US" altLang="ru-RU" sz="1900"/>
          </a:p>
          <a:p>
            <a:pPr>
              <a:lnSpc>
                <a:spcPct val="90000"/>
              </a:lnSpc>
              <a:spcBef>
                <a:spcPct val="20000"/>
              </a:spcBef>
              <a:buFontTx/>
              <a:buAutoNum type="arabicPlain"/>
            </a:pPr>
            <a:r>
              <a:rPr lang="ru-RU" altLang="ru-RU" sz="1900"/>
              <a:t>Jun-15    13.5    17    3.5</a:t>
            </a:r>
            <a:endParaRPr lang="en-US" altLang="ru-RU" sz="1900"/>
          </a:p>
          <a:p>
            <a:pPr>
              <a:lnSpc>
                <a:spcPct val="90000"/>
              </a:lnSpc>
              <a:spcBef>
                <a:spcPct val="20000"/>
              </a:spcBef>
              <a:buFontTx/>
              <a:buAutoNum type="arabicPlain"/>
            </a:pPr>
            <a:r>
              <a:rPr lang="ru-RU" altLang="ru-RU" sz="1900"/>
              <a:t>Jul-15    </a:t>
            </a:r>
            <a:r>
              <a:rPr lang="en-US" altLang="ru-RU" sz="1900"/>
              <a:t> </a:t>
            </a:r>
            <a:r>
              <a:rPr lang="ru-RU" altLang="ru-RU" sz="1900"/>
              <a:t>13.5    17    3.5</a:t>
            </a:r>
            <a:endParaRPr lang="en-US" altLang="ru-RU" sz="1900"/>
          </a:p>
          <a:p>
            <a:pPr>
              <a:lnSpc>
                <a:spcPct val="90000"/>
              </a:lnSpc>
              <a:spcBef>
                <a:spcPct val="20000"/>
              </a:spcBef>
              <a:buFontTx/>
              <a:buAutoNum type="arabicPlain"/>
            </a:pPr>
            <a:r>
              <a:rPr lang="ru-RU" altLang="ru-RU" sz="1900"/>
              <a:t>Aug-15   13.5    17    3.5</a:t>
            </a:r>
            <a:endParaRPr lang="en-US" altLang="ru-RU" sz="1900"/>
          </a:p>
          <a:p>
            <a:pPr>
              <a:lnSpc>
                <a:spcPct val="90000"/>
              </a:lnSpc>
              <a:spcBef>
                <a:spcPct val="20000"/>
              </a:spcBef>
              <a:buFontTx/>
              <a:buAutoNum type="arabicPlain"/>
            </a:pPr>
            <a:r>
              <a:rPr lang="ru-RU" altLang="ru-RU" sz="1900"/>
              <a:t>Sep-15   13.5    17    3.5</a:t>
            </a:r>
            <a:endParaRPr lang="en-US" altLang="ru-RU" sz="1900"/>
          </a:p>
          <a:p>
            <a:pPr>
              <a:lnSpc>
                <a:spcPct val="90000"/>
              </a:lnSpc>
              <a:spcBef>
                <a:spcPct val="20000"/>
              </a:spcBef>
              <a:buFontTx/>
              <a:buAutoNum type="arabicPlain"/>
            </a:pPr>
            <a:r>
              <a:rPr lang="ru-RU" altLang="ru-RU" sz="1900"/>
              <a:t>Oct-15    13.5    17    3.5</a:t>
            </a:r>
            <a:endParaRPr lang="en-US" altLang="ru-RU" sz="1900"/>
          </a:p>
          <a:p>
            <a:pPr>
              <a:lnSpc>
                <a:spcPct val="90000"/>
              </a:lnSpc>
              <a:spcBef>
                <a:spcPct val="20000"/>
              </a:spcBef>
              <a:buFontTx/>
              <a:buAutoNum type="arabicPlain"/>
            </a:pPr>
            <a:r>
              <a:rPr lang="ru-RU" altLang="ru-RU" sz="1900"/>
              <a:t>Nov-15   13.5    17    3.5</a:t>
            </a:r>
            <a:endParaRPr lang="en-US" altLang="ru-RU" sz="1900"/>
          </a:p>
          <a:p>
            <a:pPr>
              <a:lnSpc>
                <a:spcPct val="90000"/>
              </a:lnSpc>
              <a:spcBef>
                <a:spcPct val="20000"/>
              </a:spcBef>
              <a:buFontTx/>
              <a:buAutoNum type="arabicPlain"/>
            </a:pPr>
            <a:r>
              <a:rPr lang="ru-RU" altLang="ru-RU" sz="1900"/>
              <a:t>Dec-15   13.5    17    3.5</a:t>
            </a:r>
            <a:endParaRPr lang="en-US" altLang="ru-RU" sz="1900"/>
          </a:p>
          <a:p>
            <a:pPr>
              <a:lnSpc>
                <a:spcPct val="90000"/>
              </a:lnSpc>
              <a:spcBef>
                <a:spcPct val="20000"/>
              </a:spcBef>
              <a:buFontTx/>
              <a:buAutoNum type="arabicPlain"/>
            </a:pPr>
            <a:r>
              <a:rPr lang="ru-RU" altLang="ru-RU" sz="1900"/>
              <a:t>Jan-16    13.5    17    3.5 </a:t>
            </a:r>
          </a:p>
        </p:txBody>
      </p:sp>
      <p:pic>
        <p:nvPicPr>
          <p:cNvPr id="61448" name="Picture 8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21463" y="2843213"/>
            <a:ext cx="4210050" cy="31924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1449" name="AutoShape 9"/>
          <p:cNvSpPr>
            <a:spLocks noChangeArrowheads="1"/>
          </p:cNvSpPr>
          <p:nvPr/>
        </p:nvSpPr>
        <p:spPr bwMode="auto">
          <a:xfrm>
            <a:off x="5613402" y="4211639"/>
            <a:ext cx="720725" cy="433387"/>
          </a:xfrm>
          <a:prstGeom prst="leftArrow">
            <a:avLst>
              <a:gd name="adj1" fmla="val 50000"/>
              <a:gd name="adj2" fmla="val 41575"/>
            </a:avLst>
          </a:prstGeom>
          <a:solidFill>
            <a:srgbClr val="FF505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sp>
        <p:nvSpPr>
          <p:cNvPr id="61450" name="Rectangle 10"/>
          <p:cNvSpPr>
            <a:spLocks noChangeArrowheads="1"/>
          </p:cNvSpPr>
          <p:nvPr/>
        </p:nvSpPr>
        <p:spPr bwMode="auto">
          <a:xfrm>
            <a:off x="8421689" y="2338389"/>
            <a:ext cx="1439863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defTabSz="993775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defTabSz="993775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defTabSz="993775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defTabSz="993775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defTabSz="993775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/>
              <a:t>myData.xls</a:t>
            </a:r>
          </a:p>
        </p:txBody>
      </p:sp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2B6C0E-C4B9-4094-8E59-5B7DF00D5415}" type="slidenum">
              <a:rPr lang="ru-RU" smtClean="0"/>
              <a:t>37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926132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AutoShape 4"/>
          <p:cNvSpPr>
            <a:spLocks noChangeArrowheads="1"/>
          </p:cNvSpPr>
          <p:nvPr/>
        </p:nvSpPr>
        <p:spPr bwMode="auto">
          <a:xfrm>
            <a:off x="1392237" y="122239"/>
            <a:ext cx="10990559" cy="6696075"/>
          </a:xfrm>
          <a:prstGeom prst="roundRect">
            <a:avLst>
              <a:gd name="adj" fmla="val 16667"/>
            </a:avLst>
          </a:prstGeom>
          <a:solidFill>
            <a:schemeClr val="bg1">
              <a:alpha val="50195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99441" tIns="49721" rIns="99441" bIns="49721" anchor="ctr"/>
          <a:lstStyle>
            <a:lvl1pPr defTabSz="993775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defTabSz="993775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defTabSz="993775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defTabSz="993775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defTabSz="993775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 sz="3500">
              <a:solidFill>
                <a:schemeClr val="bg1"/>
              </a:solidFill>
            </a:endParaRPr>
          </a:p>
        </p:txBody>
      </p:sp>
      <p:sp>
        <p:nvSpPr>
          <p:cNvPr id="62467" name="AutoShape 5"/>
          <p:cNvSpPr>
            <a:spLocks noChangeArrowheads="1"/>
          </p:cNvSpPr>
          <p:nvPr/>
        </p:nvSpPr>
        <p:spPr bwMode="auto">
          <a:xfrm>
            <a:off x="2039938" y="338138"/>
            <a:ext cx="8351838" cy="1008062"/>
          </a:xfrm>
          <a:prstGeom prst="roundRect">
            <a:avLst>
              <a:gd name="adj" fmla="val 16667"/>
            </a:avLst>
          </a:prstGeom>
          <a:solidFill>
            <a:srgbClr val="FFFFFF">
              <a:alpha val="78822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99441" tIns="49721" rIns="99441" bIns="49721" anchor="ctr"/>
          <a:lstStyle>
            <a:lvl1pPr defTabSz="993775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defTabSz="993775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defTabSz="993775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defTabSz="993775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defTabSz="993775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 sz="3500">
              <a:solidFill>
                <a:schemeClr val="bg1"/>
              </a:solidFill>
            </a:endParaRPr>
          </a:p>
        </p:txBody>
      </p:sp>
      <p:sp>
        <p:nvSpPr>
          <p:cNvPr id="62468" name="AutoShape 6"/>
          <p:cNvSpPr>
            <a:spLocks noChangeArrowheads="1"/>
          </p:cNvSpPr>
          <p:nvPr/>
        </p:nvSpPr>
        <p:spPr bwMode="auto">
          <a:xfrm>
            <a:off x="1044282" y="1647825"/>
            <a:ext cx="10990558" cy="4954588"/>
          </a:xfrm>
          <a:prstGeom prst="roundRect">
            <a:avLst>
              <a:gd name="adj" fmla="val 16667"/>
            </a:avLst>
          </a:prstGeom>
          <a:solidFill>
            <a:srgbClr val="FFFFFF">
              <a:alpha val="78822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99441" tIns="49721" rIns="99441" bIns="49721" anchor="ctr"/>
          <a:lstStyle>
            <a:lvl1pPr defTabSz="993775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defTabSz="993775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defTabSz="993775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defTabSz="993775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defTabSz="993775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 sz="3500">
              <a:solidFill>
                <a:schemeClr val="bg1"/>
              </a:solidFill>
            </a:endParaRPr>
          </a:p>
        </p:txBody>
      </p:sp>
      <p:sp>
        <p:nvSpPr>
          <p:cNvPr id="62469" name="Заголовок 1"/>
          <p:cNvSpPr>
            <a:spLocks noGrp="1"/>
          </p:cNvSpPr>
          <p:nvPr>
            <p:ph type="title" idx="4294967295"/>
          </p:nvPr>
        </p:nvSpPr>
        <p:spPr bwMode="auto">
          <a:xfrm>
            <a:off x="1195389" y="228600"/>
            <a:ext cx="9248775" cy="1187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r>
              <a:rPr lang="ru-RU" altLang="ru-RU"/>
              <a:t>Импорт-Экспорт данных в </a:t>
            </a:r>
            <a:r>
              <a:rPr lang="en-US" altLang="ru-RU"/>
              <a:t>R</a:t>
            </a:r>
            <a:endParaRPr lang="ru-RU" altLang="ru-RU"/>
          </a:p>
        </p:txBody>
      </p:sp>
      <p:sp>
        <p:nvSpPr>
          <p:cNvPr id="62470" name="Rectangle 7"/>
          <p:cNvSpPr>
            <a:spLocks noChangeArrowheads="1"/>
          </p:cNvSpPr>
          <p:nvPr/>
        </p:nvSpPr>
        <p:spPr bwMode="auto">
          <a:xfrm>
            <a:off x="3408364" y="1562101"/>
            <a:ext cx="482282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defTabSz="993775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defTabSz="993775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defTabSz="993775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defTabSz="993775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defTabSz="993775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20000"/>
              </a:spcBef>
            </a:pPr>
            <a:r>
              <a:rPr lang="ru-RU" altLang="ru-RU" sz="2800" b="1" dirty="0"/>
              <a:t>Вывод данных в </a:t>
            </a:r>
            <a:r>
              <a:rPr lang="en-US" altLang="ru-RU" sz="2800" b="1" i="1" dirty="0" err="1">
                <a:solidFill>
                  <a:schemeClr val="accent2">
                    <a:lumMod val="50000"/>
                  </a:schemeClr>
                </a:solidFill>
              </a:rPr>
              <a:t>xls</a:t>
            </a:r>
            <a:r>
              <a:rPr lang="en-US" altLang="ru-RU" sz="2800" b="1" dirty="0"/>
              <a:t> </a:t>
            </a:r>
            <a:r>
              <a:rPr lang="ru-RU" altLang="ru-RU" sz="2800" b="1" dirty="0"/>
              <a:t>файл</a:t>
            </a:r>
          </a:p>
        </p:txBody>
      </p:sp>
      <p:sp>
        <p:nvSpPr>
          <p:cNvPr id="57351" name="Content Placeholder 2"/>
          <p:cNvSpPr>
            <a:spLocks/>
          </p:cNvSpPr>
          <p:nvPr/>
        </p:nvSpPr>
        <p:spPr bwMode="auto">
          <a:xfrm>
            <a:off x="1839914" y="2355851"/>
            <a:ext cx="9072563" cy="159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177800" indent="-17780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533400" indent="-346075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indent="0">
              <a:defRPr/>
            </a:pPr>
            <a:r>
              <a:rPr lang="en-US" altLang="ru-RU" dirty="0">
                <a:solidFill>
                  <a:srgbClr val="0000FF"/>
                </a:solidFill>
                <a:latin typeface="Lucida Console" panose="020B0609040504020204" pitchFamily="49" charset="0"/>
              </a:rPr>
              <a:t>&gt;</a:t>
            </a:r>
            <a:r>
              <a:rPr lang="ru-RU" altLang="ru-RU" dirty="0" err="1">
                <a:solidFill>
                  <a:srgbClr val="0000FF"/>
                </a:solidFill>
                <a:latin typeface="Lucida Console" panose="020B0609040504020204" pitchFamily="49" charset="0"/>
              </a:rPr>
              <a:t>install.packages</a:t>
            </a:r>
            <a:r>
              <a:rPr lang="ru-RU" altLang="ru-RU" dirty="0">
                <a:solidFill>
                  <a:srgbClr val="0000FF"/>
                </a:solidFill>
                <a:latin typeface="Lucida Console" panose="020B0609040504020204" pitchFamily="49" charset="0"/>
              </a:rPr>
              <a:t>(</a:t>
            </a:r>
            <a:r>
              <a:rPr lang="en-US" dirty="0" err="1"/>
              <a:t>openxlsx</a:t>
            </a:r>
            <a:r>
              <a:rPr lang="ru-RU" altLang="ru-RU" dirty="0">
                <a:solidFill>
                  <a:srgbClr val="0000FF"/>
                </a:solidFill>
                <a:latin typeface="Lucida Console" panose="020B0609040504020204" pitchFamily="49" charset="0"/>
              </a:rPr>
              <a:t>);</a:t>
            </a:r>
            <a:r>
              <a:rPr lang="ru-RU" altLang="ru-RU" dirty="0" err="1">
                <a:solidFill>
                  <a:srgbClr val="0000FF"/>
                </a:solidFill>
                <a:latin typeface="Lucida Console" panose="020B0609040504020204" pitchFamily="49" charset="0"/>
              </a:rPr>
              <a:t>library</a:t>
            </a:r>
            <a:r>
              <a:rPr lang="ru-RU" altLang="ru-RU" dirty="0">
                <a:solidFill>
                  <a:srgbClr val="0000FF"/>
                </a:solidFill>
                <a:latin typeface="Lucida Console" panose="020B0609040504020204" pitchFamily="49" charset="0"/>
              </a:rPr>
              <a:t>("</a:t>
            </a:r>
            <a:r>
              <a:rPr lang="en-US" dirty="0" err="1"/>
              <a:t>openxlsx</a:t>
            </a:r>
            <a:r>
              <a:rPr lang="ru-RU" altLang="ru-RU" dirty="0">
                <a:solidFill>
                  <a:srgbClr val="0000FF"/>
                </a:solidFill>
                <a:latin typeface="Lucida Console" panose="020B0609040504020204" pitchFamily="49" charset="0"/>
              </a:rPr>
              <a:t>")</a:t>
            </a:r>
            <a:endParaRPr lang="en-US" altLang="ru-RU" dirty="0">
              <a:solidFill>
                <a:srgbClr val="0000FF"/>
              </a:solidFill>
              <a:latin typeface="Lucida Console" panose="020B0609040504020204" pitchFamily="49" charset="0"/>
            </a:endParaRPr>
          </a:p>
          <a:p>
            <a:pPr>
              <a:spcBef>
                <a:spcPct val="20000"/>
              </a:spcBef>
              <a:defRPr/>
            </a:pPr>
            <a:r>
              <a:rPr lang="en-US" altLang="ru-RU" dirty="0">
                <a:solidFill>
                  <a:srgbClr val="0000FF"/>
                </a:solidFill>
                <a:latin typeface="Lucida Console" panose="020B0609040504020204" pitchFamily="49" charset="0"/>
              </a:rPr>
              <a:t>&gt; </a:t>
            </a:r>
            <a:r>
              <a:rPr lang="ru-RU" altLang="ru-RU" dirty="0">
                <a:solidFill>
                  <a:srgbClr val="0000FF"/>
                </a:solidFill>
                <a:latin typeface="Lucida Console" panose="020B0609040504020204" pitchFamily="49" charset="0"/>
              </a:rPr>
              <a:t>write.xlsx(df1, "df1_data.xlsx", </a:t>
            </a:r>
            <a:r>
              <a:rPr lang="ru-RU" altLang="ru-RU" dirty="0" err="1">
                <a:solidFill>
                  <a:srgbClr val="0000FF"/>
                </a:solidFill>
                <a:latin typeface="Lucida Console" panose="020B0609040504020204" pitchFamily="49" charset="0"/>
              </a:rPr>
              <a:t>sheetName</a:t>
            </a:r>
            <a:r>
              <a:rPr lang="ru-RU" altLang="ru-RU" dirty="0">
                <a:solidFill>
                  <a:srgbClr val="0000FF"/>
                </a:solidFill>
                <a:latin typeface="Lucida Console" panose="020B0609040504020204" pitchFamily="49" charset="0"/>
              </a:rPr>
              <a:t>="Sheet1")</a:t>
            </a:r>
            <a:endParaRPr lang="ru-RU" altLang="ru-RU" sz="4800" dirty="0"/>
          </a:p>
          <a:p>
            <a:pPr>
              <a:spcBef>
                <a:spcPct val="20000"/>
              </a:spcBef>
              <a:defRPr/>
            </a:pPr>
            <a:endParaRPr lang="ru-RU" altLang="ru-RU" dirty="0"/>
          </a:p>
        </p:txBody>
      </p:sp>
      <p:sp>
        <p:nvSpPr>
          <p:cNvPr id="62472" name="Rectangle 9"/>
          <p:cNvSpPr>
            <a:spLocks noChangeArrowheads="1"/>
          </p:cNvSpPr>
          <p:nvPr/>
        </p:nvSpPr>
        <p:spPr bwMode="auto">
          <a:xfrm>
            <a:off x="1784352" y="2754314"/>
            <a:ext cx="8929687" cy="560387"/>
          </a:xfrm>
          <a:prstGeom prst="rect">
            <a:avLst/>
          </a:prstGeom>
          <a:noFill/>
          <a:ln w="28575">
            <a:solidFill>
              <a:srgbClr val="FF505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sp>
        <p:nvSpPr>
          <p:cNvPr id="62473" name="AutoShape 10"/>
          <p:cNvSpPr>
            <a:spLocks noChangeArrowheads="1"/>
          </p:cNvSpPr>
          <p:nvPr/>
        </p:nvSpPr>
        <p:spPr bwMode="auto">
          <a:xfrm>
            <a:off x="5856289" y="4730751"/>
            <a:ext cx="576263" cy="485775"/>
          </a:xfrm>
          <a:prstGeom prst="rightArrow">
            <a:avLst>
              <a:gd name="adj1" fmla="val 50000"/>
              <a:gd name="adj2" fmla="val 29657"/>
            </a:avLst>
          </a:prstGeom>
          <a:solidFill>
            <a:srgbClr val="FF505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sp>
        <p:nvSpPr>
          <p:cNvPr id="62474" name="Rectangle 12"/>
          <p:cNvSpPr>
            <a:spLocks noChangeArrowheads="1"/>
          </p:cNvSpPr>
          <p:nvPr/>
        </p:nvSpPr>
        <p:spPr bwMode="auto">
          <a:xfrm>
            <a:off x="1319213" y="4429125"/>
            <a:ext cx="5113338" cy="1739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 defTabSz="993775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defTabSz="993775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defTabSz="993775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defTabSz="993775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defTabSz="993775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lvl="1" eaLnBrk="1" hangingPunct="1"/>
            <a:r>
              <a:rPr lang="en-US" altLang="ru-RU" sz="1800" b="1"/>
              <a:t>VariableInt VariableReal VariableChar</a:t>
            </a:r>
          </a:p>
          <a:p>
            <a:pPr lvl="1" eaLnBrk="1" hangingPunct="1"/>
            <a:r>
              <a:rPr lang="en-US" altLang="ru-RU" sz="1800" b="1"/>
              <a:t>1       1                  0.1          R</a:t>
            </a:r>
          </a:p>
          <a:p>
            <a:pPr lvl="1" eaLnBrk="1" hangingPunct="1"/>
            <a:r>
              <a:rPr lang="en-US" altLang="ru-RU" sz="1800" b="1"/>
              <a:t>2       2                  0.2          and</a:t>
            </a:r>
          </a:p>
          <a:p>
            <a:pPr lvl="1" eaLnBrk="1" hangingPunct="1"/>
            <a:r>
              <a:rPr lang="en-US" altLang="ru-RU" sz="1800" b="1"/>
              <a:t>3       3                  0.3          Data Mining</a:t>
            </a:r>
          </a:p>
          <a:p>
            <a:pPr lvl="1" eaLnBrk="1" hangingPunct="1"/>
            <a:r>
              <a:rPr lang="en-US" altLang="ru-RU" sz="1800" b="1"/>
              <a:t>4       4                  0.4          Examples</a:t>
            </a:r>
          </a:p>
          <a:p>
            <a:pPr lvl="1" eaLnBrk="1" hangingPunct="1"/>
            <a:r>
              <a:rPr lang="en-US" altLang="ru-RU" sz="1800" b="1"/>
              <a:t>5       5                  0.5          Case Studies</a:t>
            </a:r>
            <a:endParaRPr lang="ru-RU" altLang="ru-RU" sz="1800" b="1"/>
          </a:p>
        </p:txBody>
      </p:sp>
      <p:sp>
        <p:nvSpPr>
          <p:cNvPr id="62475" name="Rectangle 13"/>
          <p:cNvSpPr>
            <a:spLocks noChangeArrowheads="1"/>
          </p:cNvSpPr>
          <p:nvPr/>
        </p:nvSpPr>
        <p:spPr bwMode="auto">
          <a:xfrm>
            <a:off x="8520114" y="4081464"/>
            <a:ext cx="98742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defTabSz="993775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defTabSz="993775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defTabSz="993775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defTabSz="993775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defTabSz="993775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b="1"/>
              <a:t>df1.xls</a:t>
            </a:r>
          </a:p>
        </p:txBody>
      </p:sp>
      <p:pic>
        <p:nvPicPr>
          <p:cNvPr id="62476" name="Рисунок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78601" y="4379914"/>
            <a:ext cx="4191000" cy="2016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2B6C0E-C4B9-4094-8E59-5B7DF00D5415}" type="slidenum">
              <a:rPr lang="ru-RU" smtClean="0"/>
              <a:t>38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021578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ctrTitle" idx="4294967295"/>
          </p:nvPr>
        </p:nvSpPr>
        <p:spPr bwMode="auto">
          <a:xfrm>
            <a:off x="2805733" y="800101"/>
            <a:ext cx="6696744" cy="254702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/>
          <a:p>
            <a:pPr>
              <a:lnSpc>
                <a:spcPct val="80000"/>
              </a:lnSpc>
            </a:pPr>
            <a:r>
              <a:rPr lang="en-US" altLang="ru-RU" sz="5400" b="1" dirty="0"/>
              <a:t>Boxplot</a:t>
            </a:r>
            <a:endParaRPr lang="ru-RU" altLang="ru-RU" sz="5400" dirty="0"/>
          </a:p>
        </p:txBody>
      </p:sp>
      <p:pic>
        <p:nvPicPr>
          <p:cNvPr id="57349" name="Picture 5" descr="http://buyingbusinesstravel.com.ru/upload/resize_cache/iblock/2d1/100_1000_1/big%20data%20small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74685" y="252413"/>
            <a:ext cx="952500" cy="10953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2B6C0E-C4B9-4094-8E59-5B7DF00D5415}" type="slidenum">
              <a:rPr lang="ru-RU" smtClean="0">
                <a:solidFill>
                  <a:schemeClr val="tx1"/>
                </a:solidFill>
              </a:rPr>
              <a:t>39</a:t>
            </a:fld>
            <a:endParaRPr lang="ru-RU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4841221"/>
      </p:ext>
    </p:extLst>
  </p:cSld>
  <p:clrMapOvr>
    <a:masterClrMapping/>
  </p:clrMapOvr>
  <p:transition spd="slow"/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AutoShape 2"/>
          <p:cNvSpPr>
            <a:spLocks noChangeArrowheads="1"/>
          </p:cNvSpPr>
          <p:nvPr/>
        </p:nvSpPr>
        <p:spPr bwMode="auto">
          <a:xfrm>
            <a:off x="645493" y="322263"/>
            <a:ext cx="11809311" cy="6553249"/>
          </a:xfrm>
          <a:prstGeom prst="roundRect">
            <a:avLst>
              <a:gd name="adj" fmla="val 16667"/>
            </a:avLst>
          </a:prstGeom>
          <a:solidFill>
            <a:schemeClr val="bg1">
              <a:alpha val="50000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9441" tIns="49721" rIns="99441" bIns="49721" anchor="ctr"/>
          <a:lstStyle>
            <a:lvl1pPr defTabSz="99377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1177925" defTabSz="99377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373188" defTabSz="99377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66863" defTabSz="99377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89138" defTabSz="99377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46338" defTabSz="9937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03538" defTabSz="9937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60738" defTabSz="9937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17938" defTabSz="9937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ru-RU" altLang="ru-RU" sz="3500">
              <a:solidFill>
                <a:schemeClr val="bg1"/>
              </a:solidFill>
            </a:endParaRPr>
          </a:p>
        </p:txBody>
      </p:sp>
      <p:sp>
        <p:nvSpPr>
          <p:cNvPr id="7" name="Скругленный прямоугольник 6"/>
          <p:cNvSpPr/>
          <p:nvPr/>
        </p:nvSpPr>
        <p:spPr bwMode="auto">
          <a:xfrm>
            <a:off x="861517" y="1171440"/>
            <a:ext cx="11161240" cy="5550886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  <a:headEnd type="none" w="med" len="med"/>
            <a:tailEnd type="none" w="med" len="med"/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defTabSz="993775"/>
            <a:endParaRPr lang="ru-RU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AutoShape 5"/>
          <p:cNvSpPr>
            <a:spLocks noChangeArrowheads="1"/>
          </p:cNvSpPr>
          <p:nvPr/>
        </p:nvSpPr>
        <p:spPr bwMode="auto">
          <a:xfrm>
            <a:off x="2154116" y="361782"/>
            <a:ext cx="8351837" cy="849178"/>
          </a:xfrm>
          <a:prstGeom prst="roundRect">
            <a:avLst>
              <a:gd name="adj" fmla="val 34319"/>
            </a:avLst>
          </a:prstGeom>
          <a:solidFill>
            <a:srgbClr val="FFFFFF">
              <a:alpha val="78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9441" tIns="49721" rIns="99441" bIns="49721" anchor="ctr"/>
          <a:lstStyle>
            <a:lvl1pPr defTabSz="99377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1177925" defTabSz="99377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373188" defTabSz="99377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66863" defTabSz="99377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89138" defTabSz="99377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46338" defTabSz="9937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03538" defTabSz="9937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60738" defTabSz="9937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17938" defTabSz="9937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ru-RU" altLang="ru-RU" sz="3500">
              <a:solidFill>
                <a:schemeClr val="bg1"/>
              </a:solidFill>
            </a:endParaRPr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989070" y="407928"/>
            <a:ext cx="8700009" cy="763512"/>
          </a:xfrm>
        </p:spPr>
        <p:txBody>
          <a:bodyPr/>
          <a:lstStyle/>
          <a:p>
            <a:pPr>
              <a:defRPr/>
            </a:pPr>
            <a:r>
              <a:rPr lang="en-US" sz="4000" dirty="0"/>
              <a:t>Boxplot</a:t>
            </a:r>
            <a:endParaRPr lang="ru-RU" sz="4000" dirty="0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18972" y="1937245"/>
            <a:ext cx="4962525" cy="2971800"/>
          </a:xfrm>
          <a:prstGeom prst="rect">
            <a:avLst/>
          </a:prstGeom>
        </p:spPr>
      </p:pic>
      <p:sp>
        <p:nvSpPr>
          <p:cNvPr id="9" name="Прямоугольник 8"/>
          <p:cNvSpPr/>
          <p:nvPr/>
        </p:nvSpPr>
        <p:spPr>
          <a:xfrm>
            <a:off x="1149549" y="4719581"/>
            <a:ext cx="10657184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800" dirty="0"/>
              <a:t>Таким образом, в отличие от других статистических программ, в R при построении диаграмм размахов используются устойчивые (робастные) оценки центральной тенденции (медиана) и разброса (</a:t>
            </a:r>
            <a:r>
              <a:rPr lang="ru-RU" sz="1800" dirty="0" err="1"/>
              <a:t>интерквартильный</a:t>
            </a:r>
            <a:r>
              <a:rPr lang="ru-RU" sz="1800" dirty="0"/>
              <a:t> размах, ИКР). Верхний "ус" простирается от верхней границы "ящика" до наибольшего выборочного значения, находящегося в пределах расстояния 1.5 х ИКР от этой границы. Аналогично, нижний "ус" простирается от нижней границы "ящика" до наименьшего выборочного значения, находящегося в пределах расстояния 1.5 х ИКР от этой границы.</a:t>
            </a:r>
          </a:p>
        </p:txBody>
      </p:sp>
      <p:sp>
        <p:nvSpPr>
          <p:cNvPr id="3" name="Прямоугольник 2"/>
          <p:cNvSpPr/>
          <p:nvPr/>
        </p:nvSpPr>
        <p:spPr>
          <a:xfrm>
            <a:off x="1653606" y="1322395"/>
            <a:ext cx="9305385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800" dirty="0"/>
              <a:t>В R (и не только) для построения диаграмм размахов служит функция </a:t>
            </a:r>
            <a:r>
              <a:rPr lang="ru-RU" sz="1800" dirty="0" err="1"/>
              <a:t>boxplot</a:t>
            </a:r>
            <a:r>
              <a:rPr lang="ru-RU" sz="1800" dirty="0"/>
              <a:t>(). Строение получаемых при помощи этой функции "ящиков с усами" представлено ниже:</a:t>
            </a:r>
            <a:endParaRPr lang="ru-RU" sz="1800" b="1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>
          <a:xfrm>
            <a:off x="11330504" y="6670993"/>
            <a:ext cx="880449" cy="266063"/>
          </a:xfrm>
        </p:spPr>
        <p:txBody>
          <a:bodyPr/>
          <a:lstStyle/>
          <a:p>
            <a:fld id="{952B6C0E-C4B9-4094-8E59-5B7DF00D5415}" type="slidenum">
              <a:rPr lang="ru-RU" smtClean="0">
                <a:solidFill>
                  <a:schemeClr val="tx1"/>
                </a:solidFill>
              </a:rPr>
              <a:t>40</a:t>
            </a:fld>
            <a:endParaRPr lang="ru-RU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315017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AutoShape 2"/>
          <p:cNvSpPr>
            <a:spLocks noChangeArrowheads="1"/>
          </p:cNvSpPr>
          <p:nvPr/>
        </p:nvSpPr>
        <p:spPr bwMode="auto">
          <a:xfrm>
            <a:off x="1438275" y="322263"/>
            <a:ext cx="11016529" cy="6553249"/>
          </a:xfrm>
          <a:prstGeom prst="roundRect">
            <a:avLst>
              <a:gd name="adj" fmla="val 16667"/>
            </a:avLst>
          </a:prstGeom>
          <a:solidFill>
            <a:schemeClr val="bg1">
              <a:alpha val="50000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9441" tIns="49721" rIns="99441" bIns="49721" anchor="ctr"/>
          <a:lstStyle>
            <a:lvl1pPr defTabSz="99377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1177925" defTabSz="99377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373188" defTabSz="99377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66863" defTabSz="99377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89138" defTabSz="99377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46338" defTabSz="9937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03538" defTabSz="9937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60738" defTabSz="9937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17938" defTabSz="9937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ru-RU" altLang="ru-RU" sz="3500">
              <a:solidFill>
                <a:schemeClr val="bg1"/>
              </a:solidFill>
            </a:endParaRPr>
          </a:p>
        </p:txBody>
      </p:sp>
      <p:sp>
        <p:nvSpPr>
          <p:cNvPr id="7" name="Скругленный прямоугольник 6"/>
          <p:cNvSpPr/>
          <p:nvPr/>
        </p:nvSpPr>
        <p:spPr bwMode="auto">
          <a:xfrm>
            <a:off x="933526" y="1042864"/>
            <a:ext cx="10873208" cy="5679462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  <a:headEnd type="none" w="med" len="med"/>
            <a:tailEnd type="none" w="med" len="med"/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defTabSz="993775"/>
            <a:endParaRPr lang="ru-RU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AutoShape 5"/>
          <p:cNvSpPr>
            <a:spLocks noChangeArrowheads="1"/>
          </p:cNvSpPr>
          <p:nvPr/>
        </p:nvSpPr>
        <p:spPr bwMode="auto">
          <a:xfrm>
            <a:off x="2202561" y="295539"/>
            <a:ext cx="8351837" cy="681082"/>
          </a:xfrm>
          <a:prstGeom prst="roundRect">
            <a:avLst>
              <a:gd name="adj" fmla="val 34319"/>
            </a:avLst>
          </a:prstGeom>
          <a:solidFill>
            <a:srgbClr val="FFFFFF">
              <a:alpha val="78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9441" tIns="49721" rIns="99441" bIns="49721" anchor="ctr"/>
          <a:lstStyle>
            <a:lvl1pPr defTabSz="99377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1177925" defTabSz="99377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373188" defTabSz="99377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66863" defTabSz="99377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89138" defTabSz="99377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46338" defTabSz="9937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03538" defTabSz="9937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60738" defTabSz="9937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17938" defTabSz="9937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ru-RU" altLang="ru-RU" sz="3500">
              <a:solidFill>
                <a:schemeClr val="bg1"/>
              </a:solidFill>
            </a:endParaRPr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028476" y="254324"/>
            <a:ext cx="8700009" cy="763512"/>
          </a:xfrm>
        </p:spPr>
        <p:txBody>
          <a:bodyPr/>
          <a:lstStyle/>
          <a:p>
            <a:pPr>
              <a:defRPr/>
            </a:pPr>
            <a:r>
              <a:rPr lang="en-US" sz="4000" dirty="0"/>
              <a:t>Boxplot</a:t>
            </a:r>
            <a:endParaRPr lang="ru-RU" sz="4000" dirty="0"/>
          </a:p>
        </p:txBody>
      </p:sp>
      <p:sp>
        <p:nvSpPr>
          <p:cNvPr id="3" name="Прямоугольник 2"/>
          <p:cNvSpPr/>
          <p:nvPr/>
        </p:nvSpPr>
        <p:spPr>
          <a:xfrm>
            <a:off x="2028476" y="1189825"/>
            <a:ext cx="8796905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Особенности использования функции </a:t>
            </a:r>
            <a:r>
              <a:rPr lang="ru-RU" dirty="0" err="1"/>
              <a:t>boxplot</a:t>
            </a:r>
            <a:r>
              <a:rPr lang="ru-RU" dirty="0"/>
              <a:t>() рассмотрим на примере данных, полученных в ходе эксперимента по изучению эффективности шести видов инсектицидных средств. Каждым из этих средств обработали по 12 растений, после чего подсчитали </a:t>
            </a:r>
            <a:r>
              <a:rPr lang="ru-RU" b="1" dirty="0"/>
              <a:t>количество выживших на растениях насекомых</a:t>
            </a:r>
            <a:r>
              <a:rPr lang="ru-RU" dirty="0"/>
              <a:t>. Данные этого эксперимента входят в состав стандартного набора данных R и доступны по команде data(</a:t>
            </a:r>
            <a:r>
              <a:rPr lang="ru-RU" dirty="0" err="1"/>
              <a:t>InsectSprays</a:t>
            </a:r>
            <a:r>
              <a:rPr lang="ru-RU" dirty="0"/>
              <a:t>). В таблице </a:t>
            </a:r>
            <a:r>
              <a:rPr lang="ru-RU" dirty="0" err="1"/>
              <a:t>InsectSprays</a:t>
            </a:r>
            <a:r>
              <a:rPr lang="ru-RU" dirty="0"/>
              <a:t> имеется два столбца - </a:t>
            </a:r>
            <a:r>
              <a:rPr lang="ru-RU" dirty="0" err="1"/>
              <a:t>count</a:t>
            </a:r>
            <a:r>
              <a:rPr lang="ru-RU" dirty="0"/>
              <a:t>, содержащий результаты подсчета насекомых, и </a:t>
            </a:r>
            <a:r>
              <a:rPr lang="ru-RU" dirty="0" err="1"/>
              <a:t>spray</a:t>
            </a:r>
            <a:r>
              <a:rPr lang="ru-RU" dirty="0"/>
              <a:t>, содержащий коды инсектицидных средств (от А до F): </a:t>
            </a:r>
            <a:endParaRPr lang="ru-RU" b="1" dirty="0"/>
          </a:p>
        </p:txBody>
      </p:sp>
      <p:sp>
        <p:nvSpPr>
          <p:cNvPr id="4" name="Прямоугольник 3"/>
          <p:cNvSpPr/>
          <p:nvPr/>
        </p:nvSpPr>
        <p:spPr>
          <a:xfrm>
            <a:off x="2028475" y="4355660"/>
            <a:ext cx="3081514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Book Antiqua" panose="02040602050305030304" pitchFamily="18" charset="0"/>
              </a:rPr>
              <a:t>&gt;</a:t>
            </a:r>
            <a:r>
              <a:rPr lang="ru-RU" dirty="0">
                <a:latin typeface="Book Antiqua" panose="02040602050305030304" pitchFamily="18" charset="0"/>
              </a:rPr>
              <a:t>data(</a:t>
            </a:r>
            <a:r>
              <a:rPr lang="ru-RU" dirty="0" err="1">
                <a:latin typeface="Book Antiqua" panose="02040602050305030304" pitchFamily="18" charset="0"/>
              </a:rPr>
              <a:t>InsectSprays</a:t>
            </a:r>
            <a:r>
              <a:rPr lang="ru-RU" dirty="0">
                <a:latin typeface="Book Antiqua" panose="02040602050305030304" pitchFamily="18" charset="0"/>
              </a:rPr>
              <a:t>)</a:t>
            </a:r>
          </a:p>
          <a:p>
            <a:r>
              <a:rPr lang="en-US" dirty="0">
                <a:latin typeface="Book Antiqua" panose="02040602050305030304" pitchFamily="18" charset="0"/>
              </a:rPr>
              <a:t>&gt;</a:t>
            </a:r>
            <a:r>
              <a:rPr lang="ru-RU" dirty="0" err="1">
                <a:latin typeface="Book Antiqua" panose="02040602050305030304" pitchFamily="18" charset="0"/>
              </a:rPr>
              <a:t>head</a:t>
            </a:r>
            <a:r>
              <a:rPr lang="ru-RU" dirty="0">
                <a:latin typeface="Book Antiqua" panose="02040602050305030304" pitchFamily="18" charset="0"/>
              </a:rPr>
              <a:t>(</a:t>
            </a:r>
            <a:r>
              <a:rPr lang="ru-RU" dirty="0" err="1">
                <a:latin typeface="Book Antiqua" panose="02040602050305030304" pitchFamily="18" charset="0"/>
              </a:rPr>
              <a:t>InsectSprays</a:t>
            </a:r>
            <a:r>
              <a:rPr lang="ru-RU" dirty="0">
                <a:latin typeface="Book Antiqua" panose="02040602050305030304" pitchFamily="18" charset="0"/>
              </a:rPr>
              <a:t>)</a:t>
            </a:r>
          </a:p>
        </p:txBody>
      </p:sp>
      <p:pic>
        <p:nvPicPr>
          <p:cNvPr id="9" name="Рисунок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26839" y="4198988"/>
            <a:ext cx="1512168" cy="2316364"/>
          </a:xfrm>
          <a:prstGeom prst="rect">
            <a:avLst/>
          </a:prstGeom>
        </p:spPr>
      </p:pic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2B6C0E-C4B9-4094-8E59-5B7DF00D5415}" type="slidenum">
              <a:rPr lang="ru-RU" smtClean="0">
                <a:solidFill>
                  <a:schemeClr val="tx1"/>
                </a:solidFill>
              </a:rPr>
              <a:t>41</a:t>
            </a:fld>
            <a:endParaRPr lang="ru-RU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018753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AutoShape 2"/>
          <p:cNvSpPr>
            <a:spLocks noChangeArrowheads="1"/>
          </p:cNvSpPr>
          <p:nvPr/>
        </p:nvSpPr>
        <p:spPr bwMode="auto">
          <a:xfrm>
            <a:off x="501477" y="322263"/>
            <a:ext cx="11737303" cy="6553249"/>
          </a:xfrm>
          <a:prstGeom prst="roundRect">
            <a:avLst>
              <a:gd name="adj" fmla="val 16667"/>
            </a:avLst>
          </a:prstGeom>
          <a:solidFill>
            <a:schemeClr val="bg1">
              <a:alpha val="50000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9441" tIns="49721" rIns="99441" bIns="49721" anchor="ctr"/>
          <a:lstStyle>
            <a:lvl1pPr defTabSz="99377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1177925" defTabSz="99377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373188" defTabSz="99377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66863" defTabSz="99377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89138" defTabSz="99377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46338" defTabSz="9937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03538" defTabSz="9937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60738" defTabSz="9937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17938" defTabSz="9937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ru-RU" altLang="ru-RU" sz="3500">
              <a:solidFill>
                <a:schemeClr val="bg1"/>
              </a:solidFill>
            </a:endParaRPr>
          </a:p>
        </p:txBody>
      </p:sp>
      <p:sp>
        <p:nvSpPr>
          <p:cNvPr id="7" name="Скругленный прямоугольник 6"/>
          <p:cNvSpPr/>
          <p:nvPr/>
        </p:nvSpPr>
        <p:spPr bwMode="auto">
          <a:xfrm>
            <a:off x="861517" y="1038898"/>
            <a:ext cx="11173322" cy="5679462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  <a:headEnd type="none" w="med" len="med"/>
            <a:tailEnd type="none" w="med" len="med"/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defTabSz="993775"/>
            <a:endParaRPr lang="ru-RU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AutoShape 5"/>
          <p:cNvSpPr>
            <a:spLocks noChangeArrowheads="1"/>
          </p:cNvSpPr>
          <p:nvPr/>
        </p:nvSpPr>
        <p:spPr bwMode="auto">
          <a:xfrm>
            <a:off x="2154116" y="361782"/>
            <a:ext cx="8351837" cy="849178"/>
          </a:xfrm>
          <a:prstGeom prst="roundRect">
            <a:avLst>
              <a:gd name="adj" fmla="val 34319"/>
            </a:avLst>
          </a:prstGeom>
          <a:solidFill>
            <a:srgbClr val="FFFFFF">
              <a:alpha val="78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9441" tIns="49721" rIns="99441" bIns="49721" anchor="ctr"/>
          <a:lstStyle>
            <a:lvl1pPr defTabSz="99377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1177925" defTabSz="99377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373188" defTabSz="99377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66863" defTabSz="99377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89138" defTabSz="99377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46338" defTabSz="9937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03538" defTabSz="9937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60738" defTabSz="9937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17938" defTabSz="9937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ru-RU" altLang="ru-RU" sz="3500">
              <a:solidFill>
                <a:schemeClr val="bg1"/>
              </a:solidFill>
            </a:endParaRPr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989070" y="407928"/>
            <a:ext cx="8700009" cy="763512"/>
          </a:xfrm>
        </p:spPr>
        <p:txBody>
          <a:bodyPr/>
          <a:lstStyle/>
          <a:p>
            <a:pPr>
              <a:defRPr/>
            </a:pPr>
            <a:r>
              <a:rPr lang="en-US" sz="4000" dirty="0"/>
              <a:t>Boxplot</a:t>
            </a:r>
            <a:endParaRPr lang="ru-RU" sz="4000" dirty="0"/>
          </a:p>
        </p:txBody>
      </p:sp>
      <p:sp>
        <p:nvSpPr>
          <p:cNvPr id="10" name="Прямоугольник 9"/>
          <p:cNvSpPr/>
          <p:nvPr/>
        </p:nvSpPr>
        <p:spPr>
          <a:xfrm>
            <a:off x="2154116" y="1465216"/>
            <a:ext cx="630012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>
                <a:latin typeface="Book Antiqua" panose="02040602050305030304" pitchFamily="18" charset="0"/>
              </a:rPr>
              <a:t>&gt;</a:t>
            </a:r>
            <a:r>
              <a:rPr lang="ru-RU" sz="2400" dirty="0" err="1">
                <a:latin typeface="Book Antiqua" panose="02040602050305030304" pitchFamily="18" charset="0"/>
              </a:rPr>
              <a:t>boxplot</a:t>
            </a:r>
            <a:r>
              <a:rPr lang="ru-RU" sz="2400" dirty="0">
                <a:latin typeface="Book Antiqua" panose="02040602050305030304" pitchFamily="18" charset="0"/>
              </a:rPr>
              <a:t>(</a:t>
            </a:r>
            <a:r>
              <a:rPr lang="ru-RU" sz="2400" dirty="0" err="1">
                <a:latin typeface="Book Antiqua" panose="02040602050305030304" pitchFamily="18" charset="0"/>
              </a:rPr>
              <a:t>count</a:t>
            </a:r>
            <a:r>
              <a:rPr lang="ru-RU" sz="2400" dirty="0">
                <a:latin typeface="Book Antiqua" panose="02040602050305030304" pitchFamily="18" charset="0"/>
              </a:rPr>
              <a:t> ~ </a:t>
            </a:r>
            <a:r>
              <a:rPr lang="ru-RU" sz="2400" dirty="0" err="1">
                <a:latin typeface="Book Antiqua" panose="02040602050305030304" pitchFamily="18" charset="0"/>
              </a:rPr>
              <a:t>spray</a:t>
            </a:r>
            <a:r>
              <a:rPr lang="ru-RU" sz="2400" dirty="0">
                <a:latin typeface="Book Antiqua" panose="02040602050305030304" pitchFamily="18" charset="0"/>
              </a:rPr>
              <a:t>, data = </a:t>
            </a:r>
            <a:r>
              <a:rPr lang="ru-RU" sz="2400" dirty="0" err="1">
                <a:latin typeface="Book Antiqua" panose="02040602050305030304" pitchFamily="18" charset="0"/>
              </a:rPr>
              <a:t>InsectSprays</a:t>
            </a:r>
            <a:r>
              <a:rPr lang="ru-RU" sz="2400" dirty="0">
                <a:latin typeface="Book Antiqua" panose="02040602050305030304" pitchFamily="18" charset="0"/>
              </a:rPr>
              <a:t>)</a:t>
            </a:r>
          </a:p>
        </p:txBody>
      </p:sp>
      <p:pic>
        <p:nvPicPr>
          <p:cNvPr id="11" name="Рисунок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22315" y="3809705"/>
            <a:ext cx="6615434" cy="2729139"/>
          </a:xfrm>
          <a:prstGeom prst="rect">
            <a:avLst/>
          </a:prstGeom>
        </p:spPr>
      </p:pic>
      <p:sp>
        <p:nvSpPr>
          <p:cNvPr id="12" name="Прямоугольник 11"/>
          <p:cNvSpPr/>
          <p:nvPr/>
        </p:nvSpPr>
        <p:spPr>
          <a:xfrm>
            <a:off x="1795748" y="1942943"/>
            <a:ext cx="9068568" cy="16312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Обратите внимание на то, как были указаны переменные для построения графика - в виде т.н. формулы: </a:t>
            </a:r>
            <a:r>
              <a:rPr lang="ru-RU" dirty="0" err="1">
                <a:latin typeface="Courier New" panose="02070309020205020404" pitchFamily="49" charset="0"/>
              </a:rPr>
              <a:t>count</a:t>
            </a:r>
            <a:r>
              <a:rPr lang="ru-RU" dirty="0">
                <a:latin typeface="Courier New" panose="02070309020205020404" pitchFamily="49" charset="0"/>
              </a:rPr>
              <a:t> ~ </a:t>
            </a:r>
            <a:r>
              <a:rPr lang="ru-RU" dirty="0" err="1">
                <a:latin typeface="Courier New" panose="02070309020205020404" pitchFamily="49" charset="0"/>
              </a:rPr>
              <a:t>spray</a:t>
            </a:r>
            <a:r>
              <a:rPr lang="ru-RU" dirty="0"/>
              <a:t>. Это стандартный способ, используемый в R для формулировки статистических моделей. По левую сторону от знака ~ ("тильда") указывается зависимая переменная, по правую - предикторы.</a:t>
            </a:r>
          </a:p>
        </p:txBody>
      </p:sp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2B6C0E-C4B9-4094-8E59-5B7DF00D5415}" type="slidenum">
              <a:rPr lang="ru-RU" smtClean="0">
                <a:solidFill>
                  <a:schemeClr val="tx1"/>
                </a:solidFill>
              </a:rPr>
              <a:t>42</a:t>
            </a:fld>
            <a:endParaRPr lang="ru-RU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080419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AutoShape 2"/>
          <p:cNvSpPr>
            <a:spLocks noChangeArrowheads="1"/>
          </p:cNvSpPr>
          <p:nvPr/>
        </p:nvSpPr>
        <p:spPr bwMode="auto">
          <a:xfrm>
            <a:off x="1438276" y="322263"/>
            <a:ext cx="10944521" cy="6553249"/>
          </a:xfrm>
          <a:prstGeom prst="roundRect">
            <a:avLst>
              <a:gd name="adj" fmla="val 16667"/>
            </a:avLst>
          </a:prstGeom>
          <a:solidFill>
            <a:schemeClr val="bg1">
              <a:alpha val="50000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9441" tIns="49721" rIns="99441" bIns="49721" anchor="ctr"/>
          <a:lstStyle>
            <a:lvl1pPr defTabSz="99377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1177925" defTabSz="99377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373188" defTabSz="99377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66863" defTabSz="99377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89138" defTabSz="99377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46338" defTabSz="9937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03538" defTabSz="9937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60738" defTabSz="9937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17938" defTabSz="9937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ru-RU" altLang="ru-RU" sz="3500">
              <a:solidFill>
                <a:schemeClr val="bg1"/>
              </a:solidFill>
            </a:endParaRPr>
          </a:p>
        </p:txBody>
      </p:sp>
      <p:sp>
        <p:nvSpPr>
          <p:cNvPr id="7" name="Скругленный прямоугольник 6"/>
          <p:cNvSpPr/>
          <p:nvPr/>
        </p:nvSpPr>
        <p:spPr bwMode="auto">
          <a:xfrm>
            <a:off x="501477" y="970856"/>
            <a:ext cx="11533362" cy="5747504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  <a:headEnd type="none" w="med" len="med"/>
            <a:tailEnd type="none" w="med" len="med"/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defTabSz="993775"/>
            <a:endParaRPr lang="ru-RU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AutoShape 5"/>
          <p:cNvSpPr>
            <a:spLocks noChangeArrowheads="1"/>
          </p:cNvSpPr>
          <p:nvPr/>
        </p:nvSpPr>
        <p:spPr bwMode="auto">
          <a:xfrm>
            <a:off x="2158206" y="189524"/>
            <a:ext cx="8351837" cy="849178"/>
          </a:xfrm>
          <a:prstGeom prst="roundRect">
            <a:avLst>
              <a:gd name="adj" fmla="val 34319"/>
            </a:avLst>
          </a:prstGeom>
          <a:solidFill>
            <a:srgbClr val="FFFFFF">
              <a:alpha val="78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9441" tIns="49721" rIns="99441" bIns="49721" anchor="ctr"/>
          <a:lstStyle>
            <a:lvl1pPr defTabSz="99377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1177925" defTabSz="99377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373188" defTabSz="99377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66863" defTabSz="99377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89138" defTabSz="99377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46338" defTabSz="9937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03538" defTabSz="9937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60738" defTabSz="9937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17938" defTabSz="9937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ru-RU" altLang="ru-RU" sz="3500">
              <a:solidFill>
                <a:schemeClr val="bg1"/>
              </a:solidFill>
            </a:endParaRPr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989070" y="407928"/>
            <a:ext cx="8700009" cy="763512"/>
          </a:xfrm>
        </p:spPr>
        <p:txBody>
          <a:bodyPr/>
          <a:lstStyle/>
          <a:p>
            <a:pPr>
              <a:defRPr/>
            </a:pPr>
            <a:r>
              <a:rPr lang="en-US" sz="4000" dirty="0"/>
              <a:t>Boxplot</a:t>
            </a:r>
            <a:endParaRPr lang="ru-RU" sz="4000" dirty="0"/>
          </a:p>
        </p:txBody>
      </p:sp>
      <p:pic>
        <p:nvPicPr>
          <p:cNvPr id="11" name="Рисунок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98069" y="3700393"/>
            <a:ext cx="6615434" cy="2729139"/>
          </a:xfrm>
          <a:prstGeom prst="rect">
            <a:avLst/>
          </a:prstGeom>
        </p:spPr>
      </p:pic>
      <p:sp>
        <p:nvSpPr>
          <p:cNvPr id="13" name="Прямоугольник 12"/>
          <p:cNvSpPr/>
          <p:nvPr/>
        </p:nvSpPr>
        <p:spPr>
          <a:xfrm>
            <a:off x="933178" y="1437105"/>
            <a:ext cx="10945216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Как видим, количество насекомых, выживших на растениях, обработанных инсектицидами C, D и E было наиболее низким, что говорит о высокой эффективности этих средств по сравнению с тремя другими средствами. На растениях, обработанных средствами C и D, были отмечены необычно высокие количества насекомых (см. точки над "усами"). Однако для насекомых характерно пятнистое пространственное распределение и поэтому вряд ли эти необычно высокие наблюдения являются истинными</a:t>
            </a:r>
            <a:r>
              <a:rPr lang="en-US" dirty="0"/>
              <a:t>.</a:t>
            </a:r>
            <a:endParaRPr lang="ru-RU" dirty="0"/>
          </a:p>
        </p:txBody>
      </p:sp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2B6C0E-C4B9-4094-8E59-5B7DF00D5415}" type="slidenum">
              <a:rPr lang="ru-RU" smtClean="0">
                <a:solidFill>
                  <a:schemeClr val="tx1"/>
                </a:solidFill>
              </a:rPr>
              <a:t>43</a:t>
            </a:fld>
            <a:endParaRPr lang="ru-RU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933800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AutoShape 2"/>
          <p:cNvSpPr>
            <a:spLocks noChangeArrowheads="1"/>
          </p:cNvSpPr>
          <p:nvPr/>
        </p:nvSpPr>
        <p:spPr bwMode="auto">
          <a:xfrm>
            <a:off x="213445" y="322263"/>
            <a:ext cx="12097343" cy="6553249"/>
          </a:xfrm>
          <a:prstGeom prst="roundRect">
            <a:avLst>
              <a:gd name="adj" fmla="val 16667"/>
            </a:avLst>
          </a:prstGeom>
          <a:solidFill>
            <a:schemeClr val="bg1">
              <a:alpha val="50000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9441" tIns="49721" rIns="99441" bIns="49721" anchor="ctr"/>
          <a:lstStyle>
            <a:lvl1pPr defTabSz="99377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1177925" defTabSz="99377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373188" defTabSz="99377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66863" defTabSz="99377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89138" defTabSz="99377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46338" defTabSz="9937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03538" defTabSz="9937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60738" defTabSz="9937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17938" defTabSz="9937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ru-RU" altLang="ru-RU" sz="3500">
              <a:solidFill>
                <a:schemeClr val="bg1"/>
              </a:solidFill>
            </a:endParaRPr>
          </a:p>
        </p:txBody>
      </p:sp>
      <p:sp>
        <p:nvSpPr>
          <p:cNvPr id="7" name="Скругленный прямоугольник 6"/>
          <p:cNvSpPr/>
          <p:nvPr/>
        </p:nvSpPr>
        <p:spPr bwMode="auto">
          <a:xfrm>
            <a:off x="501477" y="826840"/>
            <a:ext cx="11533362" cy="589152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  <a:headEnd type="none" w="med" len="med"/>
            <a:tailEnd type="none" w="med" len="med"/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defTabSz="993775"/>
            <a:endParaRPr lang="ru-RU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AutoShape 5"/>
          <p:cNvSpPr>
            <a:spLocks noChangeArrowheads="1"/>
          </p:cNvSpPr>
          <p:nvPr/>
        </p:nvSpPr>
        <p:spPr bwMode="auto">
          <a:xfrm>
            <a:off x="2013645" y="59942"/>
            <a:ext cx="8351837" cy="849178"/>
          </a:xfrm>
          <a:prstGeom prst="roundRect">
            <a:avLst>
              <a:gd name="adj" fmla="val 34319"/>
            </a:avLst>
          </a:prstGeom>
          <a:solidFill>
            <a:srgbClr val="FFFFFF">
              <a:alpha val="78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9441" tIns="49721" rIns="99441" bIns="49721" anchor="ctr"/>
          <a:lstStyle>
            <a:lvl1pPr defTabSz="99377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1177925" defTabSz="99377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373188" defTabSz="99377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66863" defTabSz="99377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89138" defTabSz="99377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46338" defTabSz="9937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03538" defTabSz="9937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60738" defTabSz="9937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17938" defTabSz="9937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ru-RU" altLang="ru-RU" sz="3500">
              <a:solidFill>
                <a:schemeClr val="bg1"/>
              </a:solidFill>
            </a:endParaRPr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54624" y="250776"/>
            <a:ext cx="8700009" cy="763512"/>
          </a:xfrm>
        </p:spPr>
        <p:txBody>
          <a:bodyPr/>
          <a:lstStyle/>
          <a:p>
            <a:pPr>
              <a:defRPr/>
            </a:pPr>
            <a:r>
              <a:rPr lang="en-US" sz="4000" dirty="0"/>
              <a:t>Boxplot</a:t>
            </a:r>
            <a:endParaRPr lang="ru-RU" sz="4000" dirty="0"/>
          </a:p>
        </p:txBody>
      </p:sp>
      <p:sp>
        <p:nvSpPr>
          <p:cNvPr id="13" name="Прямоугольник 12"/>
          <p:cNvSpPr/>
          <p:nvPr/>
        </p:nvSpPr>
        <p:spPr>
          <a:xfrm>
            <a:off x="824509" y="1398419"/>
            <a:ext cx="11210329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Можно поработать над автоматически построенным графиком и несколько улучшить его внешний вид. Например, можно добавить заголовки осей и самого рисунка (аргументы </a:t>
            </a:r>
            <a:r>
              <a:rPr lang="ru-RU" dirty="0" err="1"/>
              <a:t>xlab</a:t>
            </a:r>
            <a:r>
              <a:rPr lang="ru-RU" dirty="0"/>
              <a:t>, </a:t>
            </a:r>
            <a:r>
              <a:rPr lang="ru-RU" dirty="0" err="1"/>
              <a:t>ylab</a:t>
            </a:r>
            <a:r>
              <a:rPr lang="ru-RU" dirty="0"/>
              <a:t> и </a:t>
            </a:r>
            <a:r>
              <a:rPr lang="ru-RU" dirty="0" err="1"/>
              <a:t>main</a:t>
            </a:r>
            <a:r>
              <a:rPr lang="ru-RU" dirty="0"/>
              <a:t>), а также закрасить "ящики" каким-нибудь цветом (аргумент </a:t>
            </a:r>
            <a:r>
              <a:rPr lang="ru-RU" dirty="0" err="1"/>
              <a:t>col</a:t>
            </a:r>
            <a:r>
              <a:rPr lang="ru-RU" dirty="0"/>
              <a:t>) или разными цветами: </a:t>
            </a:r>
          </a:p>
        </p:txBody>
      </p:sp>
      <p:sp>
        <p:nvSpPr>
          <p:cNvPr id="4" name="Прямоугольник 3"/>
          <p:cNvSpPr/>
          <p:nvPr/>
        </p:nvSpPr>
        <p:spPr>
          <a:xfrm>
            <a:off x="1100459" y="2618116"/>
            <a:ext cx="10323314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 err="1">
                <a:latin typeface="Book Antiqua" panose="02040602050305030304" pitchFamily="18" charset="0"/>
              </a:rPr>
              <a:t>boxplot</a:t>
            </a:r>
            <a:r>
              <a:rPr lang="ru-RU" dirty="0">
                <a:latin typeface="Book Antiqua" panose="02040602050305030304" pitchFamily="18" charset="0"/>
              </a:rPr>
              <a:t>(</a:t>
            </a:r>
            <a:r>
              <a:rPr lang="ru-RU" dirty="0" err="1">
                <a:latin typeface="Book Antiqua" panose="02040602050305030304" pitchFamily="18" charset="0"/>
              </a:rPr>
              <a:t>count</a:t>
            </a:r>
            <a:r>
              <a:rPr lang="ru-RU" dirty="0">
                <a:latin typeface="Book Antiqua" panose="02040602050305030304" pitchFamily="18" charset="0"/>
              </a:rPr>
              <a:t> ~ </a:t>
            </a:r>
            <a:r>
              <a:rPr lang="ru-RU" dirty="0" err="1">
                <a:latin typeface="Book Antiqua" panose="02040602050305030304" pitchFamily="18" charset="0"/>
              </a:rPr>
              <a:t>spray</a:t>
            </a:r>
            <a:r>
              <a:rPr lang="ru-RU" dirty="0">
                <a:latin typeface="Book Antiqua" panose="02040602050305030304" pitchFamily="18" charset="0"/>
              </a:rPr>
              <a:t>,   </a:t>
            </a:r>
            <a:r>
              <a:rPr lang="ru-RU" dirty="0" err="1">
                <a:latin typeface="Book Antiqua" panose="02040602050305030304" pitchFamily="18" charset="0"/>
              </a:rPr>
              <a:t>xlab</a:t>
            </a:r>
            <a:r>
              <a:rPr lang="ru-RU" dirty="0">
                <a:latin typeface="Book Antiqua" panose="02040602050305030304" pitchFamily="18" charset="0"/>
              </a:rPr>
              <a:t> = </a:t>
            </a:r>
            <a:r>
              <a:rPr lang="ru-RU" dirty="0">
                <a:solidFill>
                  <a:srgbClr val="00B050"/>
                </a:solidFill>
                <a:latin typeface="Book Antiqua" panose="02040602050305030304" pitchFamily="18" charset="0"/>
              </a:rPr>
              <a:t>"Инсектициды",</a:t>
            </a:r>
          </a:p>
          <a:p>
            <a:r>
              <a:rPr lang="ru-RU" dirty="0">
                <a:latin typeface="Book Antiqua" panose="02040602050305030304" pitchFamily="18" charset="0"/>
              </a:rPr>
              <a:t>          </a:t>
            </a:r>
            <a:r>
              <a:rPr lang="ru-RU" dirty="0" err="1">
                <a:latin typeface="Book Antiqua" panose="02040602050305030304" pitchFamily="18" charset="0"/>
              </a:rPr>
              <a:t>ylab</a:t>
            </a:r>
            <a:r>
              <a:rPr lang="ru-RU" dirty="0">
                <a:latin typeface="Book Antiqua" panose="02040602050305030304" pitchFamily="18" charset="0"/>
              </a:rPr>
              <a:t> = </a:t>
            </a:r>
            <a:r>
              <a:rPr lang="ru-RU" dirty="0">
                <a:solidFill>
                  <a:srgbClr val="00B050"/>
                </a:solidFill>
                <a:latin typeface="Book Antiqua" panose="02040602050305030304" pitchFamily="18" charset="0"/>
              </a:rPr>
              <a:t>"Количество выживших насекомых</a:t>
            </a:r>
            <a:r>
              <a:rPr lang="ru-RU" dirty="0">
                <a:latin typeface="Book Antiqua" panose="02040602050305030304" pitchFamily="18" charset="0"/>
              </a:rPr>
              <a:t>",</a:t>
            </a:r>
          </a:p>
          <a:p>
            <a:r>
              <a:rPr lang="ru-RU" dirty="0">
                <a:latin typeface="Book Antiqua" panose="02040602050305030304" pitchFamily="18" charset="0"/>
              </a:rPr>
              <a:t>          </a:t>
            </a:r>
            <a:r>
              <a:rPr lang="ru-RU" dirty="0" err="1">
                <a:latin typeface="Book Antiqua" panose="02040602050305030304" pitchFamily="18" charset="0"/>
              </a:rPr>
              <a:t>main</a:t>
            </a:r>
            <a:r>
              <a:rPr lang="ru-RU" dirty="0">
                <a:latin typeface="Book Antiqua" panose="02040602050305030304" pitchFamily="18" charset="0"/>
              </a:rPr>
              <a:t> = </a:t>
            </a:r>
            <a:r>
              <a:rPr lang="ru-RU" dirty="0">
                <a:solidFill>
                  <a:srgbClr val="00B050"/>
                </a:solidFill>
                <a:latin typeface="Book Antiqua" panose="02040602050305030304" pitchFamily="18" charset="0"/>
              </a:rPr>
              <a:t>"Эффективность инсектицидов"</a:t>
            </a:r>
            <a:r>
              <a:rPr lang="ru-RU" dirty="0">
                <a:latin typeface="Book Antiqua" panose="02040602050305030304" pitchFamily="18" charset="0"/>
              </a:rPr>
              <a:t>, </a:t>
            </a:r>
            <a:r>
              <a:rPr lang="en-US" dirty="0">
                <a:latin typeface="Book Antiqua" panose="02040602050305030304" pitchFamily="18" charset="0"/>
              </a:rPr>
              <a:t>col = </a:t>
            </a:r>
            <a:r>
              <a:rPr lang="en-US" dirty="0">
                <a:solidFill>
                  <a:srgbClr val="00B050"/>
                </a:solidFill>
                <a:latin typeface="Book Antiqua" panose="02040602050305030304" pitchFamily="18" charset="0"/>
              </a:rPr>
              <a:t>rainbow(6)</a:t>
            </a:r>
            <a:r>
              <a:rPr lang="ru-RU" dirty="0">
                <a:latin typeface="Book Antiqua" panose="02040602050305030304" pitchFamily="18" charset="0"/>
              </a:rPr>
              <a:t>, </a:t>
            </a:r>
            <a:r>
              <a:rPr lang="ru-RU" dirty="0" err="1">
                <a:latin typeface="Book Antiqua" panose="02040602050305030304" pitchFamily="18" charset="0"/>
              </a:rPr>
              <a:t>data</a:t>
            </a:r>
            <a:r>
              <a:rPr lang="ru-RU" dirty="0">
                <a:latin typeface="Book Antiqua" panose="02040602050305030304" pitchFamily="18" charset="0"/>
              </a:rPr>
              <a:t> = </a:t>
            </a:r>
            <a:r>
              <a:rPr lang="ru-RU" dirty="0" err="1">
                <a:latin typeface="Book Antiqua" panose="02040602050305030304" pitchFamily="18" charset="0"/>
              </a:rPr>
              <a:t>InsectSprays</a:t>
            </a:r>
            <a:r>
              <a:rPr lang="ru-RU" dirty="0">
                <a:latin typeface="Book Antiqua" panose="02040602050305030304" pitchFamily="18" charset="0"/>
              </a:rPr>
              <a:t>)</a:t>
            </a: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9338" y="3772600"/>
            <a:ext cx="5400600" cy="2905855"/>
          </a:xfrm>
          <a:prstGeom prst="rect">
            <a:avLst/>
          </a:prstGeom>
        </p:spPr>
      </p:pic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2B6C0E-C4B9-4094-8E59-5B7DF00D5415}" type="slidenum">
              <a:rPr lang="ru-RU" smtClean="0">
                <a:solidFill>
                  <a:schemeClr val="tx1"/>
                </a:solidFill>
              </a:rPr>
              <a:t>44</a:t>
            </a:fld>
            <a:endParaRPr lang="ru-RU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641819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AutoShape 2"/>
          <p:cNvSpPr>
            <a:spLocks noChangeArrowheads="1"/>
          </p:cNvSpPr>
          <p:nvPr/>
        </p:nvSpPr>
        <p:spPr bwMode="auto">
          <a:xfrm>
            <a:off x="573485" y="322263"/>
            <a:ext cx="11809311" cy="6553249"/>
          </a:xfrm>
          <a:prstGeom prst="roundRect">
            <a:avLst>
              <a:gd name="adj" fmla="val 16667"/>
            </a:avLst>
          </a:prstGeom>
          <a:solidFill>
            <a:schemeClr val="bg1">
              <a:alpha val="50000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9441" tIns="49721" rIns="99441" bIns="49721" anchor="ctr"/>
          <a:lstStyle>
            <a:lvl1pPr defTabSz="99377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1177925" defTabSz="99377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373188" defTabSz="99377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66863" defTabSz="99377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89138" defTabSz="99377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46338" defTabSz="9937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03538" defTabSz="9937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60738" defTabSz="9937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17938" defTabSz="9937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ru-RU" altLang="ru-RU" sz="3500">
              <a:solidFill>
                <a:schemeClr val="bg1"/>
              </a:solidFill>
            </a:endParaRPr>
          </a:p>
        </p:txBody>
      </p:sp>
      <p:sp>
        <p:nvSpPr>
          <p:cNvPr id="7" name="Скругленный прямоугольник 6"/>
          <p:cNvSpPr/>
          <p:nvPr/>
        </p:nvSpPr>
        <p:spPr bwMode="auto">
          <a:xfrm>
            <a:off x="861517" y="1042864"/>
            <a:ext cx="11233248" cy="556215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  <a:headEnd type="none" w="med" len="med"/>
            <a:tailEnd type="none" w="med" len="med"/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defTabSz="993775"/>
            <a:endParaRPr lang="ru-RU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AutoShape 5"/>
          <p:cNvSpPr>
            <a:spLocks noChangeArrowheads="1"/>
          </p:cNvSpPr>
          <p:nvPr/>
        </p:nvSpPr>
        <p:spPr bwMode="auto">
          <a:xfrm>
            <a:off x="2154113" y="193686"/>
            <a:ext cx="8351837" cy="849178"/>
          </a:xfrm>
          <a:prstGeom prst="roundRect">
            <a:avLst>
              <a:gd name="adj" fmla="val 34319"/>
            </a:avLst>
          </a:prstGeom>
          <a:solidFill>
            <a:srgbClr val="FFFFFF">
              <a:alpha val="78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9441" tIns="49721" rIns="99441" bIns="49721" anchor="ctr"/>
          <a:lstStyle>
            <a:lvl1pPr defTabSz="99377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1177925" defTabSz="99377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373188" defTabSz="99377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66863" defTabSz="99377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89138" defTabSz="99377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46338" defTabSz="9937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03538" defTabSz="9937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60738" defTabSz="9937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17938" defTabSz="9937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ru-RU" altLang="ru-RU" sz="3500">
              <a:solidFill>
                <a:schemeClr val="bg1"/>
              </a:solidFill>
            </a:endParaRPr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980028" y="279352"/>
            <a:ext cx="8700009" cy="763512"/>
          </a:xfrm>
        </p:spPr>
        <p:txBody>
          <a:bodyPr/>
          <a:lstStyle/>
          <a:p>
            <a:pPr>
              <a:defRPr/>
            </a:pPr>
            <a:r>
              <a:rPr lang="en-US" sz="4000" dirty="0"/>
              <a:t>Boxplot</a:t>
            </a:r>
            <a:endParaRPr lang="ru-RU" sz="4000" dirty="0"/>
          </a:p>
        </p:txBody>
      </p:sp>
      <p:sp>
        <p:nvSpPr>
          <p:cNvPr id="3" name="Прямоугольник 2"/>
          <p:cNvSpPr/>
          <p:nvPr/>
        </p:nvSpPr>
        <p:spPr>
          <a:xfrm>
            <a:off x="861517" y="1763465"/>
            <a:ext cx="10657184" cy="40934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49263"/>
            <a:r>
              <a:rPr lang="ru-RU" dirty="0"/>
              <a:t>Подобно функции </a:t>
            </a:r>
            <a:r>
              <a:rPr lang="ru-RU" dirty="0">
                <a:latin typeface="Courier New" panose="02070309020205020404" pitchFamily="49" charset="0"/>
              </a:rPr>
              <a:t>plot()</a:t>
            </a:r>
            <a:r>
              <a:rPr lang="ru-RU" dirty="0"/>
              <a:t>, функция </a:t>
            </a:r>
            <a:r>
              <a:rPr lang="ru-RU" dirty="0" err="1">
                <a:latin typeface="Courier New" panose="02070309020205020404" pitchFamily="49" charset="0"/>
              </a:rPr>
              <a:t>boxplot</a:t>
            </a:r>
            <a:r>
              <a:rPr lang="ru-RU" dirty="0">
                <a:latin typeface="Courier New" panose="02070309020205020404" pitchFamily="49" charset="0"/>
              </a:rPr>
              <a:t>()</a:t>
            </a:r>
            <a:r>
              <a:rPr lang="ru-RU" dirty="0"/>
              <a:t> обладает большим числом управляющих аргументов. </a:t>
            </a: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dirty="0"/>
              <a:t>Например, используя аргумент </a:t>
            </a:r>
            <a:r>
              <a:rPr lang="ru-RU" dirty="0" err="1">
                <a:latin typeface="Courier New" panose="02070309020205020404" pitchFamily="49" charset="0"/>
              </a:rPr>
              <a:t>log</a:t>
            </a:r>
            <a:r>
              <a:rPr lang="ru-RU" dirty="0"/>
              <a:t> можно изобразить данные на логарифмической шкале. </a:t>
            </a: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dirty="0"/>
              <a:t>Аргумент </a:t>
            </a:r>
            <a:r>
              <a:rPr lang="ru-RU" dirty="0" err="1">
                <a:latin typeface="Courier New" panose="02070309020205020404" pitchFamily="49" charset="0"/>
              </a:rPr>
              <a:t>varwidth</a:t>
            </a:r>
            <a:r>
              <a:rPr lang="ru-RU" dirty="0"/>
              <a:t> (от </a:t>
            </a:r>
            <a:r>
              <a:rPr lang="ru-RU" i="1" u="sng" dirty="0" err="1"/>
              <a:t>var</a:t>
            </a:r>
            <a:r>
              <a:rPr lang="ru-RU" i="1" dirty="0" err="1"/>
              <a:t>iable</a:t>
            </a:r>
            <a:r>
              <a:rPr lang="ru-RU" dirty="0"/>
              <a:t> - переменная, и </a:t>
            </a:r>
            <a:r>
              <a:rPr lang="ru-RU" i="1" u="sng" dirty="0" err="1"/>
              <a:t>width</a:t>
            </a:r>
            <a:r>
              <a:rPr lang="ru-RU" dirty="0"/>
              <a:t> - ширина) позволяет сделать так, что ширина "ящиков" будет пропорциональна квадратному корню из числа наблюдений в каждой группе (для этого необходимо использовать </a:t>
            </a:r>
            <a:r>
              <a:rPr lang="ru-RU" dirty="0" err="1">
                <a:latin typeface="Courier New" panose="02070309020205020404" pitchFamily="49" charset="0"/>
              </a:rPr>
              <a:t>varwidth</a:t>
            </a:r>
            <a:r>
              <a:rPr lang="ru-RU" dirty="0">
                <a:latin typeface="Courier New" panose="02070309020205020404" pitchFamily="49" charset="0"/>
              </a:rPr>
              <a:t> = TRUE</a:t>
            </a:r>
            <a:r>
              <a:rPr lang="ru-RU" dirty="0"/>
              <a:t>). Это может оказаться полезной опцией для визуализации выборок, значительно различающихся по размеру (в нашем примере смысла в </a:t>
            </a:r>
            <a:r>
              <a:rPr lang="ru-RU" dirty="0" err="1">
                <a:latin typeface="Courier New" panose="02070309020205020404" pitchFamily="49" charset="0"/>
              </a:rPr>
              <a:t>varwidth</a:t>
            </a:r>
            <a:r>
              <a:rPr lang="ru-RU" dirty="0">
                <a:latin typeface="Courier New" panose="02070309020205020404" pitchFamily="49" charset="0"/>
              </a:rPr>
              <a:t> = TRUE</a:t>
            </a:r>
            <a:r>
              <a:rPr lang="ru-RU" dirty="0"/>
              <a:t> не было бы, поскольку в каждой группе имеется по 12 наблюдений).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dirty="0"/>
              <a:t>Аргумент </a:t>
            </a:r>
            <a:r>
              <a:rPr lang="ru-RU" dirty="0" err="1"/>
              <a:t>horizontal</a:t>
            </a:r>
            <a:r>
              <a:rPr lang="ru-RU" dirty="0"/>
              <a:t> со значением </a:t>
            </a:r>
            <a:r>
              <a:rPr lang="ru-RU" dirty="0">
                <a:latin typeface="Courier New" panose="02070309020205020404" pitchFamily="49" charset="0"/>
              </a:rPr>
              <a:t>TRUE</a:t>
            </a:r>
            <a:r>
              <a:rPr lang="ru-RU" dirty="0"/>
              <a:t> позволяет изобразить "ящики" горизонтально (см. ниже). Подробнее об аргументах </a:t>
            </a:r>
            <a:r>
              <a:rPr lang="ru-RU" dirty="0" err="1">
                <a:latin typeface="Courier New" panose="02070309020205020404" pitchFamily="49" charset="0"/>
              </a:rPr>
              <a:t>boxplot</a:t>
            </a:r>
            <a:r>
              <a:rPr lang="ru-RU" dirty="0">
                <a:latin typeface="Courier New" panose="02070309020205020404" pitchFamily="49" charset="0"/>
              </a:rPr>
              <a:t>() </a:t>
            </a:r>
            <a:r>
              <a:rPr lang="ru-RU" dirty="0"/>
              <a:t>можно узнать из файла помощи по этой функции (доступен по команде </a:t>
            </a:r>
            <a:r>
              <a:rPr lang="ru-RU" dirty="0">
                <a:latin typeface="Courier New" panose="02070309020205020404" pitchFamily="49" charset="0"/>
              </a:rPr>
              <a:t>?</a:t>
            </a:r>
            <a:r>
              <a:rPr lang="ru-RU" dirty="0" err="1">
                <a:latin typeface="Courier New" panose="02070309020205020404" pitchFamily="49" charset="0"/>
              </a:rPr>
              <a:t>boxplot</a:t>
            </a:r>
            <a:r>
              <a:rPr lang="ru-RU" dirty="0"/>
              <a:t>). 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2B6C0E-C4B9-4094-8E59-5B7DF00D5415}" type="slidenum">
              <a:rPr lang="ru-RU" smtClean="0">
                <a:solidFill>
                  <a:schemeClr val="tx1"/>
                </a:solidFill>
              </a:rPr>
              <a:t>45</a:t>
            </a:fld>
            <a:endParaRPr lang="ru-RU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262372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AutoShape 2"/>
          <p:cNvSpPr>
            <a:spLocks noChangeArrowheads="1"/>
          </p:cNvSpPr>
          <p:nvPr/>
        </p:nvSpPr>
        <p:spPr bwMode="auto">
          <a:xfrm>
            <a:off x="717501" y="322263"/>
            <a:ext cx="11593287" cy="6553249"/>
          </a:xfrm>
          <a:prstGeom prst="roundRect">
            <a:avLst>
              <a:gd name="adj" fmla="val 16667"/>
            </a:avLst>
          </a:prstGeom>
          <a:solidFill>
            <a:schemeClr val="bg1">
              <a:alpha val="50000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9441" tIns="49721" rIns="99441" bIns="49721" anchor="ctr"/>
          <a:lstStyle>
            <a:lvl1pPr defTabSz="99377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1177925" defTabSz="99377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373188" defTabSz="99377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66863" defTabSz="99377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89138" defTabSz="99377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46338" defTabSz="9937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03538" defTabSz="9937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60738" defTabSz="9937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17938" defTabSz="9937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ru-RU" altLang="ru-RU" sz="3500">
              <a:solidFill>
                <a:schemeClr val="bg1"/>
              </a:solidFill>
            </a:endParaRPr>
          </a:p>
        </p:txBody>
      </p:sp>
      <p:sp>
        <p:nvSpPr>
          <p:cNvPr id="7" name="Скругленный прямоугольник 6"/>
          <p:cNvSpPr/>
          <p:nvPr/>
        </p:nvSpPr>
        <p:spPr bwMode="auto">
          <a:xfrm>
            <a:off x="933525" y="1171440"/>
            <a:ext cx="10873208" cy="5550886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  <a:headEnd type="none" w="med" len="med"/>
            <a:tailEnd type="none" w="med" len="med"/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defTabSz="993775"/>
            <a:endParaRPr lang="ru-RU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AutoShape 5"/>
          <p:cNvSpPr>
            <a:spLocks noChangeArrowheads="1"/>
          </p:cNvSpPr>
          <p:nvPr/>
        </p:nvSpPr>
        <p:spPr bwMode="auto">
          <a:xfrm>
            <a:off x="2108422" y="209095"/>
            <a:ext cx="8351837" cy="849178"/>
          </a:xfrm>
          <a:prstGeom prst="roundRect">
            <a:avLst>
              <a:gd name="adj" fmla="val 34319"/>
            </a:avLst>
          </a:prstGeom>
          <a:solidFill>
            <a:srgbClr val="FFFFFF">
              <a:alpha val="78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9441" tIns="49721" rIns="99441" bIns="49721" anchor="ctr"/>
          <a:lstStyle>
            <a:lvl1pPr defTabSz="99377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1177925" defTabSz="99377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373188" defTabSz="99377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66863" defTabSz="99377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89138" defTabSz="99377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46338" defTabSz="9937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03538" defTabSz="9937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60738" defTabSz="9937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17938" defTabSz="9937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ru-RU" altLang="ru-RU" sz="3500">
              <a:solidFill>
                <a:schemeClr val="bg1"/>
              </a:solidFill>
            </a:endParaRPr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989070" y="407928"/>
            <a:ext cx="8700009" cy="763512"/>
          </a:xfrm>
        </p:spPr>
        <p:txBody>
          <a:bodyPr/>
          <a:lstStyle/>
          <a:p>
            <a:pPr>
              <a:defRPr/>
            </a:pPr>
            <a:r>
              <a:rPr lang="en-US" sz="4000" dirty="0"/>
              <a:t>Boxplot</a:t>
            </a:r>
            <a:endParaRPr lang="ru-RU" sz="4000" dirty="0"/>
          </a:p>
        </p:txBody>
      </p:sp>
      <p:sp>
        <p:nvSpPr>
          <p:cNvPr id="4" name="Прямоугольник 3"/>
          <p:cNvSpPr/>
          <p:nvPr/>
        </p:nvSpPr>
        <p:spPr>
          <a:xfrm>
            <a:off x="2517701" y="1438436"/>
            <a:ext cx="8305496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 err="1">
                <a:latin typeface="Book Antiqua" panose="02040602050305030304" pitchFamily="18" charset="0"/>
              </a:rPr>
              <a:t>boxplot</a:t>
            </a:r>
            <a:r>
              <a:rPr lang="ru-RU" dirty="0">
                <a:latin typeface="Book Antiqua" panose="02040602050305030304" pitchFamily="18" charset="0"/>
              </a:rPr>
              <a:t>(</a:t>
            </a:r>
            <a:r>
              <a:rPr lang="ru-RU" dirty="0" err="1">
                <a:latin typeface="Book Antiqua" panose="02040602050305030304" pitchFamily="18" charset="0"/>
              </a:rPr>
              <a:t>count</a:t>
            </a:r>
            <a:r>
              <a:rPr lang="ru-RU" dirty="0">
                <a:latin typeface="Book Antiqua" panose="02040602050305030304" pitchFamily="18" charset="0"/>
              </a:rPr>
              <a:t> ~ </a:t>
            </a:r>
            <a:r>
              <a:rPr lang="ru-RU" dirty="0" err="1">
                <a:latin typeface="Book Antiqua" panose="02040602050305030304" pitchFamily="18" charset="0"/>
              </a:rPr>
              <a:t>spray</a:t>
            </a:r>
            <a:r>
              <a:rPr lang="ru-RU" dirty="0">
                <a:latin typeface="Book Antiqua" panose="02040602050305030304" pitchFamily="18" charset="0"/>
              </a:rPr>
              <a:t>,   </a:t>
            </a:r>
            <a:r>
              <a:rPr lang="ru-RU" dirty="0" err="1">
                <a:latin typeface="Book Antiqua" panose="02040602050305030304" pitchFamily="18" charset="0"/>
              </a:rPr>
              <a:t>xlab</a:t>
            </a:r>
            <a:r>
              <a:rPr lang="ru-RU" dirty="0">
                <a:latin typeface="Book Antiqua" panose="02040602050305030304" pitchFamily="18" charset="0"/>
              </a:rPr>
              <a:t> = </a:t>
            </a:r>
            <a:r>
              <a:rPr lang="ru-RU" dirty="0">
                <a:solidFill>
                  <a:srgbClr val="00B050"/>
                </a:solidFill>
                <a:latin typeface="Book Antiqua" panose="02040602050305030304" pitchFamily="18" charset="0"/>
              </a:rPr>
              <a:t>"Инсектициды",</a:t>
            </a:r>
          </a:p>
          <a:p>
            <a:r>
              <a:rPr lang="ru-RU" dirty="0">
                <a:latin typeface="Book Antiqua" panose="02040602050305030304" pitchFamily="18" charset="0"/>
              </a:rPr>
              <a:t>          </a:t>
            </a:r>
            <a:r>
              <a:rPr lang="ru-RU" dirty="0" err="1">
                <a:latin typeface="Book Antiqua" panose="02040602050305030304" pitchFamily="18" charset="0"/>
              </a:rPr>
              <a:t>ylab</a:t>
            </a:r>
            <a:r>
              <a:rPr lang="ru-RU" dirty="0">
                <a:latin typeface="Book Antiqua" panose="02040602050305030304" pitchFamily="18" charset="0"/>
              </a:rPr>
              <a:t> = </a:t>
            </a:r>
            <a:r>
              <a:rPr lang="ru-RU" dirty="0">
                <a:solidFill>
                  <a:srgbClr val="00B050"/>
                </a:solidFill>
                <a:latin typeface="Book Antiqua" panose="02040602050305030304" pitchFamily="18" charset="0"/>
              </a:rPr>
              <a:t>"Количество выживших насекомых</a:t>
            </a:r>
            <a:r>
              <a:rPr lang="ru-RU" dirty="0">
                <a:latin typeface="Book Antiqua" panose="02040602050305030304" pitchFamily="18" charset="0"/>
              </a:rPr>
              <a:t>",</a:t>
            </a:r>
          </a:p>
          <a:p>
            <a:r>
              <a:rPr lang="ru-RU" dirty="0">
                <a:latin typeface="Book Antiqua" panose="02040602050305030304" pitchFamily="18" charset="0"/>
              </a:rPr>
              <a:t>          </a:t>
            </a:r>
            <a:r>
              <a:rPr lang="ru-RU" dirty="0" err="1">
                <a:latin typeface="Book Antiqua" panose="02040602050305030304" pitchFamily="18" charset="0"/>
              </a:rPr>
              <a:t>main</a:t>
            </a:r>
            <a:r>
              <a:rPr lang="ru-RU" dirty="0">
                <a:latin typeface="Book Antiqua" panose="02040602050305030304" pitchFamily="18" charset="0"/>
              </a:rPr>
              <a:t> = </a:t>
            </a:r>
            <a:r>
              <a:rPr lang="ru-RU" dirty="0">
                <a:solidFill>
                  <a:srgbClr val="00B050"/>
                </a:solidFill>
                <a:latin typeface="Book Antiqua" panose="02040602050305030304" pitchFamily="18" charset="0"/>
              </a:rPr>
              <a:t>"Эффективность инсектицидов"</a:t>
            </a:r>
            <a:r>
              <a:rPr lang="ru-RU" dirty="0">
                <a:latin typeface="Book Antiqua" panose="02040602050305030304" pitchFamily="18" charset="0"/>
              </a:rPr>
              <a:t>,  </a:t>
            </a:r>
            <a:r>
              <a:rPr lang="ru-RU" dirty="0" err="1">
                <a:latin typeface="Book Antiqua" panose="02040602050305030304" pitchFamily="18" charset="0"/>
              </a:rPr>
              <a:t>col</a:t>
            </a:r>
            <a:r>
              <a:rPr lang="ru-RU" dirty="0">
                <a:latin typeface="Book Antiqua" panose="02040602050305030304" pitchFamily="18" charset="0"/>
              </a:rPr>
              <a:t> = </a:t>
            </a:r>
            <a:r>
              <a:rPr lang="ru-RU" dirty="0">
                <a:solidFill>
                  <a:srgbClr val="00B050"/>
                </a:solidFill>
                <a:latin typeface="Book Antiqua" panose="02040602050305030304" pitchFamily="18" charset="0"/>
              </a:rPr>
              <a:t>"</a:t>
            </a:r>
            <a:r>
              <a:rPr lang="ru-RU" dirty="0" err="1">
                <a:solidFill>
                  <a:srgbClr val="00B050"/>
                </a:solidFill>
                <a:latin typeface="Book Antiqua" panose="02040602050305030304" pitchFamily="18" charset="0"/>
              </a:rPr>
              <a:t>coral</a:t>
            </a:r>
            <a:r>
              <a:rPr lang="ru-RU" dirty="0">
                <a:solidFill>
                  <a:srgbClr val="00B050"/>
                </a:solidFill>
                <a:latin typeface="Book Antiqua" panose="02040602050305030304" pitchFamily="18" charset="0"/>
              </a:rPr>
              <a:t>"</a:t>
            </a:r>
            <a:r>
              <a:rPr lang="ru-RU" dirty="0">
                <a:latin typeface="Book Antiqua" panose="02040602050305030304" pitchFamily="18" charset="0"/>
              </a:rPr>
              <a:t>, </a:t>
            </a:r>
          </a:p>
          <a:p>
            <a:r>
              <a:rPr lang="ru-RU" dirty="0">
                <a:latin typeface="Book Antiqua" panose="02040602050305030304" pitchFamily="18" charset="0"/>
              </a:rPr>
              <a:t>          </a:t>
            </a:r>
            <a:r>
              <a:rPr lang="ru-RU" altLang="ru-RU" dirty="0" err="1">
                <a:latin typeface="Book Antiqua" panose="02040602050305030304" pitchFamily="18" charset="0"/>
              </a:rPr>
              <a:t>horizontal</a:t>
            </a:r>
            <a:r>
              <a:rPr lang="ru-RU" altLang="ru-RU" dirty="0">
                <a:latin typeface="Book Antiqua" panose="02040602050305030304" pitchFamily="18" charset="0"/>
              </a:rPr>
              <a:t> = TRUE, </a:t>
            </a:r>
            <a:r>
              <a:rPr lang="ru-RU" dirty="0">
                <a:latin typeface="Book Antiqua" panose="02040602050305030304" pitchFamily="18" charset="0"/>
              </a:rPr>
              <a:t>data = </a:t>
            </a:r>
            <a:r>
              <a:rPr lang="ru-RU" dirty="0" err="1">
                <a:latin typeface="Book Antiqua" panose="02040602050305030304" pitchFamily="18" charset="0"/>
              </a:rPr>
              <a:t>InsectSprays</a:t>
            </a:r>
            <a:r>
              <a:rPr lang="ru-RU" dirty="0">
                <a:latin typeface="Book Antiqua" panose="02040602050305030304" pitchFamily="18" charset="0"/>
              </a:rPr>
              <a:t>)</a:t>
            </a:r>
          </a:p>
        </p:txBody>
      </p:sp>
      <p:pic>
        <p:nvPicPr>
          <p:cNvPr id="11" name="Рисунок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56048" y="2875041"/>
            <a:ext cx="5256584" cy="3592492"/>
          </a:xfrm>
          <a:prstGeom prst="rect">
            <a:avLst/>
          </a:prstGeom>
        </p:spPr>
      </p:pic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2B6C0E-C4B9-4094-8E59-5B7DF00D5415}" type="slidenum">
              <a:rPr lang="ru-RU" smtClean="0">
                <a:solidFill>
                  <a:schemeClr val="tx1"/>
                </a:solidFill>
              </a:rPr>
              <a:t>46</a:t>
            </a:fld>
            <a:endParaRPr lang="ru-RU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670905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AutoShape 2"/>
          <p:cNvSpPr>
            <a:spLocks noChangeArrowheads="1"/>
          </p:cNvSpPr>
          <p:nvPr/>
        </p:nvSpPr>
        <p:spPr bwMode="auto">
          <a:xfrm>
            <a:off x="357461" y="322263"/>
            <a:ext cx="11953328" cy="6282752"/>
          </a:xfrm>
          <a:prstGeom prst="roundRect">
            <a:avLst>
              <a:gd name="adj" fmla="val 16667"/>
            </a:avLst>
          </a:prstGeom>
          <a:solidFill>
            <a:schemeClr val="bg1">
              <a:alpha val="50000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9441" tIns="49721" rIns="99441" bIns="49721" anchor="ctr"/>
          <a:lstStyle>
            <a:lvl1pPr defTabSz="99377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1177925" defTabSz="99377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373188" defTabSz="99377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66863" defTabSz="99377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89138" defTabSz="99377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46338" defTabSz="9937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03538" defTabSz="9937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60738" defTabSz="9937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17938" defTabSz="9937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ru-RU" altLang="ru-RU" sz="3500">
              <a:solidFill>
                <a:schemeClr val="bg1"/>
              </a:solidFill>
            </a:endParaRPr>
          </a:p>
        </p:txBody>
      </p:sp>
      <p:sp>
        <p:nvSpPr>
          <p:cNvPr id="7" name="Скругленный прямоугольник 6"/>
          <p:cNvSpPr/>
          <p:nvPr/>
        </p:nvSpPr>
        <p:spPr bwMode="auto">
          <a:xfrm>
            <a:off x="501477" y="970856"/>
            <a:ext cx="11533362" cy="540060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  <a:headEnd type="none" w="med" len="med"/>
            <a:tailEnd type="none" w="med" len="med"/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defTabSz="993775"/>
            <a:endParaRPr lang="ru-RU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AutoShape 5"/>
          <p:cNvSpPr>
            <a:spLocks noChangeArrowheads="1"/>
          </p:cNvSpPr>
          <p:nvPr/>
        </p:nvSpPr>
        <p:spPr bwMode="auto">
          <a:xfrm>
            <a:off x="2154116" y="361783"/>
            <a:ext cx="8351837" cy="609073"/>
          </a:xfrm>
          <a:prstGeom prst="roundRect">
            <a:avLst>
              <a:gd name="adj" fmla="val 34319"/>
            </a:avLst>
          </a:prstGeom>
          <a:solidFill>
            <a:srgbClr val="FFFFFF">
              <a:alpha val="78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9441" tIns="49721" rIns="99441" bIns="49721" anchor="ctr"/>
          <a:lstStyle>
            <a:lvl1pPr defTabSz="99377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1177925" defTabSz="99377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373188" defTabSz="99377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66863" defTabSz="99377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89138" defTabSz="99377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46338" defTabSz="9937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03538" defTabSz="9937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60738" defTabSz="9937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17938" defTabSz="9937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ru-RU" altLang="ru-RU" sz="3500">
              <a:solidFill>
                <a:schemeClr val="bg1"/>
              </a:solidFill>
            </a:endParaRPr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989070" y="407928"/>
            <a:ext cx="8700009" cy="763512"/>
          </a:xfrm>
        </p:spPr>
        <p:txBody>
          <a:bodyPr/>
          <a:lstStyle/>
          <a:p>
            <a:pPr>
              <a:defRPr/>
            </a:pPr>
            <a:r>
              <a:rPr lang="en-US" sz="4000" dirty="0"/>
              <a:t>Boxplot</a:t>
            </a:r>
            <a:endParaRPr lang="ru-RU" sz="4000" dirty="0"/>
          </a:p>
        </p:txBody>
      </p:sp>
      <p:sp>
        <p:nvSpPr>
          <p:cNvPr id="3" name="Прямоугольник 2"/>
          <p:cNvSpPr/>
          <p:nvPr/>
        </p:nvSpPr>
        <p:spPr>
          <a:xfrm>
            <a:off x="933525" y="1776706"/>
            <a:ext cx="10801200" cy="14491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2700"/>
              </a:lnSpc>
            </a:pPr>
            <a:r>
              <a:rPr lang="ru-RU" dirty="0"/>
              <a:t>Интересно, что построить диаграммы размаха можно не только при помощи специализированной функции </a:t>
            </a:r>
            <a:r>
              <a:rPr lang="ru-RU" dirty="0" err="1">
                <a:latin typeface="Courier New" panose="02070309020205020404" pitchFamily="49" charset="0"/>
              </a:rPr>
              <a:t>boxplot</a:t>
            </a:r>
            <a:r>
              <a:rPr lang="ru-RU" dirty="0">
                <a:latin typeface="Courier New" panose="02070309020205020404" pitchFamily="49" charset="0"/>
              </a:rPr>
              <a:t>()</a:t>
            </a:r>
            <a:r>
              <a:rPr lang="ru-RU" dirty="0"/>
              <a:t>, но также и функции </a:t>
            </a:r>
            <a:r>
              <a:rPr lang="ru-RU" dirty="0">
                <a:latin typeface="Courier New" panose="02070309020205020404" pitchFamily="49" charset="0"/>
              </a:rPr>
              <a:t>plot()</a:t>
            </a:r>
            <a:r>
              <a:rPr lang="ru-RU" dirty="0"/>
              <a:t> - например, по команде </a:t>
            </a:r>
            <a:r>
              <a:rPr lang="ru-RU" dirty="0">
                <a:latin typeface="Courier New" panose="02070309020205020404" pitchFamily="49" charset="0"/>
              </a:rPr>
              <a:t>plot(</a:t>
            </a:r>
            <a:r>
              <a:rPr lang="ru-RU" dirty="0" err="1">
                <a:latin typeface="Courier New" panose="02070309020205020404" pitchFamily="49" charset="0"/>
              </a:rPr>
              <a:t>count</a:t>
            </a:r>
            <a:r>
              <a:rPr lang="ru-RU" dirty="0">
                <a:latin typeface="Courier New" panose="02070309020205020404" pitchFamily="49" charset="0"/>
              </a:rPr>
              <a:t> ~ </a:t>
            </a:r>
            <a:r>
              <a:rPr lang="ru-RU" dirty="0" err="1">
                <a:latin typeface="Courier New" panose="02070309020205020404" pitchFamily="49" charset="0"/>
              </a:rPr>
              <a:t>spray</a:t>
            </a:r>
            <a:r>
              <a:rPr lang="ru-RU" dirty="0">
                <a:latin typeface="Courier New" panose="02070309020205020404" pitchFamily="49" charset="0"/>
              </a:rPr>
              <a:t>, data = </a:t>
            </a:r>
            <a:r>
              <a:rPr lang="ru-RU" dirty="0" err="1">
                <a:latin typeface="Courier New" panose="02070309020205020404" pitchFamily="49" charset="0"/>
              </a:rPr>
              <a:t>InsectSprays</a:t>
            </a:r>
            <a:r>
              <a:rPr lang="ru-RU" dirty="0">
                <a:latin typeface="Courier New" panose="02070309020205020404" pitchFamily="49" charset="0"/>
              </a:rPr>
              <a:t>)</a:t>
            </a:r>
            <a:r>
              <a:rPr lang="ru-RU" dirty="0"/>
              <a:t>. </a:t>
            </a:r>
            <a:endParaRPr lang="en-US" dirty="0"/>
          </a:p>
          <a:p>
            <a:pPr>
              <a:lnSpc>
                <a:spcPts val="2700"/>
              </a:lnSpc>
            </a:pPr>
            <a:endParaRPr lang="en-US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2B6C0E-C4B9-4094-8E59-5B7DF00D5415}" type="slidenum">
              <a:rPr lang="ru-RU" smtClean="0">
                <a:solidFill>
                  <a:schemeClr val="tx1"/>
                </a:solidFill>
              </a:rPr>
              <a:t>47</a:t>
            </a:fld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A29D209-87B1-4C08-9790-CD5C8D4E512B}"/>
              </a:ext>
            </a:extLst>
          </p:cNvPr>
          <p:cNvSpPr txBox="1"/>
          <p:nvPr/>
        </p:nvSpPr>
        <p:spPr>
          <a:xfrm>
            <a:off x="1724842" y="3671156"/>
            <a:ext cx="9086631" cy="112037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pPr>
              <a:lnSpc>
                <a:spcPts val="2700"/>
              </a:lnSpc>
            </a:pPr>
            <a:r>
              <a:rPr lang="ru-RU" dirty="0"/>
              <a:t>Дело в том, что функция </a:t>
            </a:r>
            <a:r>
              <a:rPr lang="ru-RU" dirty="0" err="1">
                <a:latin typeface="Courier New" panose="02070309020205020404" pitchFamily="49" charset="0"/>
              </a:rPr>
              <a:t>plot</a:t>
            </a:r>
            <a:r>
              <a:rPr lang="ru-RU" dirty="0">
                <a:latin typeface="Courier New" panose="02070309020205020404" pitchFamily="49" charset="0"/>
              </a:rPr>
              <a:t>()</a:t>
            </a:r>
            <a:r>
              <a:rPr lang="ru-RU" dirty="0"/>
              <a:t> очень "смышленая" - она автоматически распознает, что переменная </a:t>
            </a:r>
            <a:r>
              <a:rPr lang="ru-RU" dirty="0" err="1"/>
              <a:t>count</a:t>
            </a:r>
            <a:r>
              <a:rPr lang="ru-RU" dirty="0"/>
              <a:t> является количественной, а </a:t>
            </a:r>
            <a:r>
              <a:rPr lang="ru-RU" dirty="0" err="1"/>
              <a:t>spray</a:t>
            </a:r>
            <a:r>
              <a:rPr lang="ru-RU" dirty="0"/>
              <a:t> - номинальной, и поэтому начинает вести себя как </a:t>
            </a:r>
            <a:r>
              <a:rPr lang="ru-RU" dirty="0" err="1">
                <a:latin typeface="Courier New" panose="02070309020205020404" pitchFamily="49" charset="0"/>
              </a:rPr>
              <a:t>boxplot</a:t>
            </a:r>
            <a:r>
              <a:rPr lang="ru-RU" dirty="0">
                <a:latin typeface="Courier New" panose="02070309020205020404" pitchFamily="49" charset="0"/>
              </a:rPr>
              <a:t>()</a:t>
            </a:r>
            <a:r>
              <a:rPr lang="ru-RU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22334572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ctrTitle" idx="4294967295"/>
          </p:nvPr>
        </p:nvSpPr>
        <p:spPr bwMode="auto">
          <a:xfrm>
            <a:off x="1195389" y="800101"/>
            <a:ext cx="9090025" cy="3484563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/>
          <a:p>
            <a:pPr>
              <a:lnSpc>
                <a:spcPct val="80000"/>
              </a:lnSpc>
            </a:pPr>
            <a:r>
              <a:rPr lang="ru-RU" altLang="ru-RU" sz="5400" b="1" dirty="0"/>
              <a:t>Графический вывод в </a:t>
            </a:r>
            <a:r>
              <a:rPr lang="en-US" altLang="ru-RU" sz="5400" b="1" dirty="0"/>
              <a:t>R</a:t>
            </a:r>
            <a:endParaRPr lang="ru-RU" altLang="ru-RU" sz="5400" dirty="0"/>
          </a:p>
        </p:txBody>
      </p:sp>
      <p:pic>
        <p:nvPicPr>
          <p:cNvPr id="57349" name="Picture 5" descr="http://buyingbusinesstravel.com.ru/upload/resize_cache/iblock/2d1/100_1000_1/big%20data%20small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74685" y="252413"/>
            <a:ext cx="952500" cy="10953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2B6C0E-C4B9-4094-8E59-5B7DF00D5415}" type="slidenum">
              <a:rPr lang="ru-RU" smtClean="0">
                <a:solidFill>
                  <a:schemeClr val="tx1"/>
                </a:solidFill>
              </a:rPr>
              <a:t>48</a:t>
            </a:fld>
            <a:endParaRPr lang="ru-RU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31599749"/>
      </p:ext>
    </p:extLst>
  </p:cSld>
  <p:clrMapOvr>
    <a:masterClrMapping/>
  </p:clrMapOvr>
  <p:transition spd="slow"/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AutoShape 5"/>
          <p:cNvSpPr>
            <a:spLocks noChangeArrowheads="1"/>
          </p:cNvSpPr>
          <p:nvPr/>
        </p:nvSpPr>
        <p:spPr bwMode="auto">
          <a:xfrm>
            <a:off x="2372309" y="249763"/>
            <a:ext cx="8351837" cy="1143950"/>
          </a:xfrm>
          <a:prstGeom prst="roundRect">
            <a:avLst>
              <a:gd name="adj" fmla="val 16667"/>
            </a:avLst>
          </a:prstGeom>
          <a:solidFill>
            <a:srgbClr val="FFFFFF">
              <a:alpha val="78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9441" tIns="49721" rIns="99441" bIns="49721" anchor="ctr"/>
          <a:lstStyle>
            <a:lvl1pPr defTabSz="99377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1177925" defTabSz="99377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373188" defTabSz="99377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66863" defTabSz="99377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89138" defTabSz="99377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46338" defTabSz="9937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03538" defTabSz="9937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60738" defTabSz="9937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17938" defTabSz="9937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ru-RU" altLang="ru-RU" sz="3500"/>
          </a:p>
        </p:txBody>
      </p:sp>
      <p:sp>
        <p:nvSpPr>
          <p:cNvPr id="6" name="AutoShape 2"/>
          <p:cNvSpPr>
            <a:spLocks noChangeArrowheads="1"/>
          </p:cNvSpPr>
          <p:nvPr/>
        </p:nvSpPr>
        <p:spPr bwMode="auto">
          <a:xfrm>
            <a:off x="501477" y="322263"/>
            <a:ext cx="11809311" cy="6553249"/>
          </a:xfrm>
          <a:prstGeom prst="roundRect">
            <a:avLst>
              <a:gd name="adj" fmla="val 16667"/>
            </a:avLst>
          </a:prstGeom>
          <a:solidFill>
            <a:schemeClr val="bg1">
              <a:alpha val="50000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9441" tIns="49721" rIns="99441" bIns="49721" anchor="ctr"/>
          <a:lstStyle>
            <a:lvl1pPr defTabSz="99377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1177925" defTabSz="99377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373188" defTabSz="99377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66863" defTabSz="99377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89138" defTabSz="99377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46338" defTabSz="9937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03538" defTabSz="9937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60738" defTabSz="9937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17938" defTabSz="9937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ru-RU" altLang="ru-RU" sz="3500">
              <a:solidFill>
                <a:schemeClr val="bg1"/>
              </a:solidFill>
            </a:endParaRPr>
          </a:p>
        </p:txBody>
      </p:sp>
      <p:sp>
        <p:nvSpPr>
          <p:cNvPr id="7" name="Скругленный прямоугольник 6"/>
          <p:cNvSpPr/>
          <p:nvPr/>
        </p:nvSpPr>
        <p:spPr bwMode="auto">
          <a:xfrm>
            <a:off x="717501" y="1229414"/>
            <a:ext cx="11228994" cy="5616622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  <a:headEnd type="none" w="med" len="med"/>
            <a:tailEnd type="none" w="med" len="med"/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defTabSz="993775"/>
            <a:endParaRPr lang="ru-RU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Заголовок 1"/>
          <p:cNvSpPr>
            <a:spLocks noGrp="1"/>
          </p:cNvSpPr>
          <p:nvPr>
            <p:ph type="title"/>
          </p:nvPr>
        </p:nvSpPr>
        <p:spPr>
          <a:xfrm>
            <a:off x="2695799" y="277134"/>
            <a:ext cx="7704855" cy="820596"/>
          </a:xfrm>
        </p:spPr>
        <p:txBody>
          <a:bodyPr>
            <a:noAutofit/>
          </a:bodyPr>
          <a:lstStyle/>
          <a:p>
            <a:pPr>
              <a:lnSpc>
                <a:spcPts val="4400"/>
              </a:lnSpc>
              <a:defRPr/>
            </a:pPr>
            <a:r>
              <a:rPr lang="ru-RU" sz="3600" dirty="0"/>
              <a:t>Оформление графического вывода в </a:t>
            </a:r>
            <a:r>
              <a:rPr lang="en-US" sz="3600" dirty="0"/>
              <a:t>R</a:t>
            </a:r>
            <a:endParaRPr lang="ru-RU" sz="3600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2066717" y="1314233"/>
            <a:ext cx="4771465" cy="613653"/>
          </a:xfrm>
        </p:spPr>
        <p:txBody>
          <a:bodyPr/>
          <a:lstStyle/>
          <a:p>
            <a:pPr marL="0" indent="0">
              <a:buNone/>
              <a:defRPr/>
            </a:pPr>
            <a:r>
              <a:rPr lang="ru-RU" b="1" dirty="0"/>
              <a:t>Линейные графики</a:t>
            </a:r>
          </a:p>
          <a:p>
            <a:pPr marL="0" indent="0">
              <a:buNone/>
              <a:defRPr/>
            </a:pPr>
            <a:endParaRPr lang="ru-RU" dirty="0"/>
          </a:p>
        </p:txBody>
      </p:sp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1077542" y="2211110"/>
            <a:ext cx="10225136" cy="25468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348060" indent="-348060">
              <a:spcBef>
                <a:spcPct val="25000"/>
              </a:spcBef>
              <a:buClr>
                <a:srgbClr val="F4BE96"/>
              </a:buClr>
              <a:buSzPct val="80000"/>
              <a:buBlip>
                <a:blip r:embed="rId2"/>
              </a:buBlip>
              <a:defRPr/>
            </a:pPr>
            <a:r>
              <a:rPr lang="ru-RU" altLang="ru-RU" sz="2200" dirty="0">
                <a:latin typeface="+mn-lt"/>
              </a:rPr>
              <a:t>Линейные графики отражают связь между зависимой и независимой переменной. Существует </a:t>
            </a:r>
            <a:r>
              <a:rPr lang="ru-RU" altLang="ru-RU" sz="2200" b="1" i="1" dirty="0">
                <a:latin typeface="+mn-lt"/>
              </a:rPr>
              <a:t>два способа</a:t>
            </a:r>
            <a:r>
              <a:rPr lang="ru-RU" altLang="ru-RU" sz="2200" dirty="0">
                <a:latin typeface="+mn-lt"/>
              </a:rPr>
              <a:t> нанесения линий на график: явное рисование линий поверх уже построенного графика с помощью функции </a:t>
            </a:r>
            <a:r>
              <a:rPr lang="ru-RU" altLang="ru-RU" sz="2200" b="1" i="1" dirty="0" err="1">
                <a:solidFill>
                  <a:srgbClr val="0070C0"/>
                </a:solidFill>
                <a:latin typeface="+mn-lt"/>
              </a:rPr>
              <a:t>lines</a:t>
            </a:r>
            <a:r>
              <a:rPr lang="ru-RU" altLang="ru-RU" sz="2200" b="1" i="1" dirty="0">
                <a:solidFill>
                  <a:srgbClr val="0070C0"/>
                </a:solidFill>
                <a:latin typeface="+mn-lt"/>
              </a:rPr>
              <a:t>()</a:t>
            </a:r>
            <a:r>
              <a:rPr lang="ru-RU" altLang="ru-RU" sz="2200" dirty="0">
                <a:latin typeface="+mn-lt"/>
              </a:rPr>
              <a:t>, или создание нового линейного графика с помощью функции </a:t>
            </a:r>
            <a:r>
              <a:rPr lang="ru-RU" altLang="ru-RU" sz="2200" b="1" i="1" dirty="0">
                <a:solidFill>
                  <a:srgbClr val="0070C0"/>
                </a:solidFill>
                <a:latin typeface="+mn-lt"/>
              </a:rPr>
              <a:t>plot() </a:t>
            </a:r>
            <a:r>
              <a:rPr lang="ru-RU" altLang="ru-RU" sz="2200" dirty="0">
                <a:latin typeface="+mn-lt"/>
              </a:rPr>
              <a:t>с дополнительным параметром </a:t>
            </a:r>
            <a:r>
              <a:rPr lang="ru-RU" altLang="ru-RU" sz="2200" i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type</a:t>
            </a:r>
            <a:r>
              <a:rPr lang="ru-RU" altLang="ru-RU" sz="2200" dirty="0">
                <a:latin typeface="+mn-lt"/>
              </a:rPr>
              <a:t>.</a:t>
            </a:r>
          </a:p>
          <a:p>
            <a:pPr marL="348060" indent="-348060">
              <a:spcBef>
                <a:spcPct val="25000"/>
              </a:spcBef>
              <a:buClr>
                <a:srgbClr val="F4BE96"/>
              </a:buClr>
              <a:buSzPct val="80000"/>
              <a:buBlip>
                <a:blip r:embed="rId2"/>
              </a:buBlip>
              <a:defRPr/>
            </a:pPr>
            <a:r>
              <a:rPr lang="ru-RU" altLang="ru-RU" sz="2200" dirty="0">
                <a:latin typeface="+mn-lt"/>
              </a:rPr>
              <a:t>Для иллюстрации принципов работы первого способа откроем данные по объему сброса загрязненных сточных вод по морям России (млрд куб. м):</a:t>
            </a:r>
          </a:p>
        </p:txBody>
      </p:sp>
      <p:pic>
        <p:nvPicPr>
          <p:cNvPr id="89093" name="Рисунок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66717" y="4919120"/>
            <a:ext cx="7867809" cy="15472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2B6C0E-C4B9-4094-8E59-5B7DF00D5415}" type="slidenum">
              <a:rPr lang="ru-RU" smtClean="0">
                <a:solidFill>
                  <a:schemeClr val="tx1"/>
                </a:solidFill>
              </a:rPr>
              <a:t>49</a:t>
            </a:fld>
            <a:endParaRPr lang="ru-RU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32268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AutoShape 2"/>
          <p:cNvSpPr>
            <a:spLocks noChangeArrowheads="1"/>
          </p:cNvSpPr>
          <p:nvPr/>
        </p:nvSpPr>
        <p:spPr bwMode="auto">
          <a:xfrm>
            <a:off x="357461" y="322263"/>
            <a:ext cx="11881319" cy="6553249"/>
          </a:xfrm>
          <a:prstGeom prst="roundRect">
            <a:avLst>
              <a:gd name="adj" fmla="val 16667"/>
            </a:avLst>
          </a:prstGeom>
          <a:solidFill>
            <a:schemeClr val="bg1">
              <a:alpha val="50000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9441" tIns="49721" rIns="99441" bIns="49721" anchor="ctr"/>
          <a:lstStyle>
            <a:lvl1pPr defTabSz="99377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1177925" defTabSz="99377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373188" defTabSz="99377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66863" defTabSz="99377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89138" defTabSz="99377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46338" defTabSz="9937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03538" defTabSz="9937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60738" defTabSz="9937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17938" defTabSz="9937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ru-RU" altLang="ru-RU" sz="3500">
              <a:solidFill>
                <a:schemeClr val="bg1"/>
              </a:solidFill>
            </a:endParaRPr>
          </a:p>
        </p:txBody>
      </p:sp>
      <p:sp>
        <p:nvSpPr>
          <p:cNvPr id="7" name="Скругленный прямоугольник 6"/>
          <p:cNvSpPr/>
          <p:nvPr/>
        </p:nvSpPr>
        <p:spPr bwMode="auto">
          <a:xfrm>
            <a:off x="633411" y="1097730"/>
            <a:ext cx="11401427" cy="555147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  <a:headEnd type="none" w="med" len="med"/>
            <a:tailEnd type="none" w="med" len="med"/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defTabSz="993775"/>
            <a:endParaRPr lang="ru-RU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AutoShape 5"/>
          <p:cNvSpPr>
            <a:spLocks noChangeArrowheads="1"/>
          </p:cNvSpPr>
          <p:nvPr/>
        </p:nvSpPr>
        <p:spPr bwMode="auto">
          <a:xfrm>
            <a:off x="2154907" y="358676"/>
            <a:ext cx="8351837" cy="674387"/>
          </a:xfrm>
          <a:prstGeom prst="roundRect">
            <a:avLst>
              <a:gd name="adj" fmla="val 16667"/>
            </a:avLst>
          </a:prstGeom>
          <a:solidFill>
            <a:srgbClr val="FFFFFF">
              <a:alpha val="78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9441" tIns="49721" rIns="99441" bIns="49721" anchor="ctr"/>
          <a:lstStyle>
            <a:lvl1pPr defTabSz="99377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1177925" defTabSz="99377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373188" defTabSz="99377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66863" defTabSz="99377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89138" defTabSz="99377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46338" defTabSz="9937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03538" defTabSz="9937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60738" defTabSz="9937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17938" defTabSz="9937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ru-RU" altLang="ru-RU" sz="3500">
              <a:solidFill>
                <a:schemeClr val="bg1"/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941638" y="1262160"/>
            <a:ext cx="6427649" cy="613653"/>
          </a:xfrm>
        </p:spPr>
        <p:txBody>
          <a:bodyPr>
            <a:normAutofit/>
          </a:bodyPr>
          <a:lstStyle/>
          <a:p>
            <a:pPr marL="0" indent="0">
              <a:buNone/>
              <a:defRPr/>
            </a:pPr>
            <a:r>
              <a:rPr lang="ru-RU" sz="2800" b="1" dirty="0"/>
              <a:t>Стандартные </a:t>
            </a:r>
            <a:r>
              <a:rPr lang="ru-RU" sz="2800" b="1" dirty="0" err="1"/>
              <a:t>датасеты</a:t>
            </a:r>
            <a:r>
              <a:rPr lang="ru-RU" sz="2800" b="1" dirty="0"/>
              <a:t> в </a:t>
            </a:r>
            <a:r>
              <a:rPr lang="en-US" sz="2800" b="1" dirty="0"/>
              <a:t>R</a:t>
            </a:r>
            <a:endParaRPr lang="ru-RU" sz="2800" b="1" dirty="0"/>
          </a:p>
          <a:p>
            <a:pPr marL="0" indent="0">
              <a:buNone/>
              <a:defRPr/>
            </a:pPr>
            <a:endParaRPr lang="ru-RU" sz="2800" dirty="0"/>
          </a:p>
        </p:txBody>
      </p:sp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933525" y="2082466"/>
            <a:ext cx="10729192" cy="3930392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47610" tIns="269790" rIns="0" bIns="269790" numCol="1" anchor="ctr" anchorCtr="0" compatLnSpc="1">
            <a:prstTxWarp prst="textNoShape">
              <a:avLst/>
            </a:prstTxWarp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ru-RU" altLang="ru-RU" sz="2200" dirty="0">
                <a:latin typeface="-apple-system"/>
              </a:rPr>
              <a:t>Библиотека наборов данных поставляется с базой R, что означает, что вам не нужно явно загружать библиотеку. </a:t>
            </a:r>
            <a:r>
              <a:rPr lang="en-US" altLang="ru-RU" sz="2200" dirty="0">
                <a:latin typeface="-apple-system"/>
              </a:rPr>
              <a:t>R</a:t>
            </a:r>
            <a:r>
              <a:rPr lang="ru-RU" altLang="ru-RU" sz="2200" dirty="0">
                <a:latin typeface="-apple-system"/>
              </a:rPr>
              <a:t> включает в себя большое количество наборов данных, которые вы можете использовать.</a:t>
            </a:r>
            <a:endParaRPr lang="ru-RU" altLang="ru-RU" sz="2200" dirty="0"/>
          </a:p>
          <a:p>
            <a:r>
              <a:rPr lang="ru-RU" altLang="ru-RU" sz="2200" dirty="0">
                <a:latin typeface="-apple-system"/>
              </a:rPr>
              <a:t>Можно загрузить набор данных из этой библиотеки, набрав:</a:t>
            </a:r>
            <a:endParaRPr lang="ru-RU" altLang="ru-RU" sz="2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ru-RU" altLang="ru-RU" sz="2200" b="1" i="1" dirty="0">
                <a:latin typeface="Courier New" panose="02070309020205020404" pitchFamily="49" charset="0"/>
                <a:cs typeface="Courier New" panose="02070309020205020404" pitchFamily="49" charset="0"/>
              </a:rPr>
              <a:t>data(</a:t>
            </a:r>
            <a:r>
              <a:rPr lang="ru-RU" altLang="ru-RU" sz="2200" b="1" i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DataSetName</a:t>
            </a:r>
            <a:r>
              <a:rPr lang="ru-RU" altLang="ru-RU" sz="2200" b="1" i="1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endParaRPr lang="ru-RU" altLang="ru-RU" sz="2200" b="1" i="1" dirty="0"/>
          </a:p>
          <a:p>
            <a:r>
              <a:rPr lang="ru-RU" altLang="ru-RU" sz="2200" dirty="0">
                <a:latin typeface="-apple-system"/>
              </a:rPr>
              <a:t>Например, чтобы загрузить очень часто используемый набор данных </a:t>
            </a:r>
            <a:r>
              <a:rPr lang="ru-RU" altLang="ru-RU" sz="2200" b="1" i="1" dirty="0" err="1">
                <a:solidFill>
                  <a:schemeClr val="accent1"/>
                </a:solidFill>
                <a:latin typeface="-apple-system"/>
              </a:rPr>
              <a:t>iris</a:t>
            </a:r>
            <a:r>
              <a:rPr lang="ru-RU" altLang="ru-RU" sz="2200" dirty="0">
                <a:latin typeface="-apple-system"/>
              </a:rPr>
              <a:t>:     </a:t>
            </a:r>
            <a:r>
              <a:rPr lang="ru-RU" altLang="ru-RU" sz="2200" b="1" i="1" dirty="0">
                <a:latin typeface="Courier New" panose="02070309020205020404" pitchFamily="49" charset="0"/>
                <a:cs typeface="Courier New" panose="02070309020205020404" pitchFamily="49" charset="0"/>
              </a:rPr>
              <a:t>data(</a:t>
            </a:r>
            <a:r>
              <a:rPr lang="ru-RU" altLang="ru-RU" sz="2200" b="1" i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iris</a:t>
            </a:r>
            <a:r>
              <a:rPr lang="ru-RU" altLang="ru-RU" sz="2200" b="1" i="1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ru-RU" altLang="ru-RU" sz="2200" dirty="0">
                <a:latin typeface="-apple-system"/>
              </a:rPr>
              <a:t>Чтобы увидеть список наборов данных, доступных в этой библиотеке, вы можете ввести:</a:t>
            </a:r>
            <a:endParaRPr lang="ru-RU" altLang="ru-RU" sz="2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ru-RU" altLang="ru-RU" sz="2200" b="1" i="1" dirty="0">
                <a:latin typeface="Courier New" panose="02070309020205020404" pitchFamily="49" charset="0"/>
                <a:cs typeface="Courier New" panose="02070309020205020404" pitchFamily="49" charset="0"/>
              </a:rPr>
              <a:t># </a:t>
            </a:r>
            <a:r>
              <a:rPr lang="ru-RU" altLang="ru-RU" sz="2200" b="1" i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list</a:t>
            </a:r>
            <a:r>
              <a:rPr lang="ru-RU" altLang="ru-RU" sz="2200" b="1" i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altLang="ru-RU" sz="2200" b="1" i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all</a:t>
            </a:r>
            <a:r>
              <a:rPr lang="ru-RU" altLang="ru-RU" sz="2200" b="1" i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altLang="ru-RU" sz="2200" b="1" i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datasets</a:t>
            </a:r>
            <a:r>
              <a:rPr lang="ru-RU" altLang="ru-RU" sz="2200" b="1" i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altLang="ru-RU" sz="2200" b="1" i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</a:t>
            </a:r>
            <a:r>
              <a:rPr lang="ru-RU" altLang="ru-RU" sz="2200" b="1" i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altLang="ru-RU" sz="2200" b="1" i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the</a:t>
            </a:r>
            <a:r>
              <a:rPr lang="ru-RU" altLang="ru-RU" sz="2200" b="1" i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altLang="ru-RU" sz="2200" b="1" i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package</a:t>
            </a:r>
            <a:r>
              <a:rPr lang="ru-RU" altLang="ru-RU" sz="2200" b="1" i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r>
              <a:rPr lang="ru-RU" altLang="ru-RU" sz="2200" b="1" i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</a:t>
            </a:r>
            <a:r>
              <a:rPr lang="ru-RU" altLang="ru-RU" sz="2200" b="1" i="1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library</a:t>
            </a:r>
            <a:r>
              <a:rPr lang="ru-RU" altLang="ru-RU" sz="2200" b="1" i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ru-RU" altLang="ru-RU" sz="2200" b="1" i="1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help</a:t>
            </a:r>
            <a:r>
              <a:rPr lang="ru-RU" altLang="ru-RU" sz="2200" b="1" i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"</a:t>
            </a:r>
            <a:r>
              <a:rPr lang="ru-RU" altLang="ru-RU" sz="2200" b="1" i="1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datasets</a:t>
            </a:r>
            <a:r>
              <a:rPr lang="ru-RU" altLang="ru-RU" sz="2200" b="1" i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") 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2B6C0E-C4B9-4094-8E59-5B7DF00D5415}" type="slidenum">
              <a:rPr lang="ru-RU" smtClean="0">
                <a:solidFill>
                  <a:schemeClr val="tx1"/>
                </a:solidFill>
              </a:rPr>
              <a:t>50</a:t>
            </a:fld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10" name="Заголовок 1"/>
          <p:cNvSpPr>
            <a:spLocks noGrp="1"/>
          </p:cNvSpPr>
          <p:nvPr>
            <p:ph type="title"/>
          </p:nvPr>
        </p:nvSpPr>
        <p:spPr>
          <a:xfrm>
            <a:off x="2695799" y="277134"/>
            <a:ext cx="7704855" cy="820596"/>
          </a:xfrm>
        </p:spPr>
        <p:txBody>
          <a:bodyPr>
            <a:noAutofit/>
          </a:bodyPr>
          <a:lstStyle/>
          <a:p>
            <a:pPr>
              <a:lnSpc>
                <a:spcPts val="4400"/>
              </a:lnSpc>
              <a:defRPr/>
            </a:pPr>
            <a:r>
              <a:rPr lang="ru-RU" sz="3600" dirty="0"/>
              <a:t>Оформление графического вывода в </a:t>
            </a:r>
            <a:r>
              <a:rPr lang="en-US" sz="3600" dirty="0"/>
              <a:t>R</a:t>
            </a:r>
            <a:endParaRPr lang="ru-RU" sz="3600" dirty="0"/>
          </a:p>
        </p:txBody>
      </p:sp>
    </p:spTree>
    <p:extLst>
      <p:ext uri="{BB962C8B-B14F-4D97-AF65-F5344CB8AC3E}">
        <p14:creationId xmlns:p14="http://schemas.microsoft.com/office/powerpoint/2010/main" val="13674506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AutoShape 2"/>
          <p:cNvSpPr>
            <a:spLocks noChangeArrowheads="1"/>
          </p:cNvSpPr>
          <p:nvPr/>
        </p:nvSpPr>
        <p:spPr bwMode="auto">
          <a:xfrm>
            <a:off x="357461" y="322263"/>
            <a:ext cx="11881319" cy="6553249"/>
          </a:xfrm>
          <a:prstGeom prst="roundRect">
            <a:avLst>
              <a:gd name="adj" fmla="val 16667"/>
            </a:avLst>
          </a:prstGeom>
          <a:solidFill>
            <a:schemeClr val="bg1">
              <a:alpha val="50000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9441" tIns="49721" rIns="99441" bIns="49721" anchor="ctr"/>
          <a:lstStyle>
            <a:lvl1pPr defTabSz="99377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1177925" defTabSz="99377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373188" defTabSz="99377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66863" defTabSz="99377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89138" defTabSz="99377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46338" defTabSz="9937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03538" defTabSz="9937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60738" defTabSz="9937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17938" defTabSz="9937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ru-RU" altLang="ru-RU" sz="3500">
              <a:solidFill>
                <a:schemeClr val="bg1"/>
              </a:solidFill>
            </a:endParaRPr>
          </a:p>
        </p:txBody>
      </p:sp>
      <p:sp>
        <p:nvSpPr>
          <p:cNvPr id="8" name="Скругленный прямоугольник 7"/>
          <p:cNvSpPr/>
          <p:nvPr/>
        </p:nvSpPr>
        <p:spPr bwMode="auto">
          <a:xfrm>
            <a:off x="933525" y="1114873"/>
            <a:ext cx="11101314" cy="5579456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  <a:headEnd type="none" w="med" len="med"/>
            <a:tailEnd type="none" w="med" len="med"/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defTabSz="993775"/>
            <a:endParaRPr lang="ru-RU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AutoShape 5"/>
          <p:cNvSpPr>
            <a:spLocks noChangeArrowheads="1"/>
          </p:cNvSpPr>
          <p:nvPr/>
        </p:nvSpPr>
        <p:spPr bwMode="auto">
          <a:xfrm>
            <a:off x="2154907" y="358675"/>
            <a:ext cx="8351837" cy="687008"/>
          </a:xfrm>
          <a:prstGeom prst="roundRect">
            <a:avLst>
              <a:gd name="adj" fmla="val 16667"/>
            </a:avLst>
          </a:prstGeom>
          <a:solidFill>
            <a:srgbClr val="FFFFFF">
              <a:alpha val="78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9441" tIns="49721" rIns="99441" bIns="49721" anchor="ctr"/>
          <a:lstStyle>
            <a:lvl1pPr defTabSz="99377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1177925" defTabSz="99377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373188" defTabSz="99377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66863" defTabSz="99377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89138" defTabSz="99377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46338" defTabSz="9937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03538" defTabSz="9937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60738" defTabSz="9937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17938" defTabSz="9937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ru-RU" altLang="ru-RU" sz="3500">
              <a:solidFill>
                <a:schemeClr val="bg1"/>
              </a:solidFill>
            </a:endParaRPr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589710" y="358675"/>
            <a:ext cx="7917034" cy="687008"/>
          </a:xfrm>
        </p:spPr>
        <p:txBody>
          <a:bodyPr>
            <a:normAutofit/>
          </a:bodyPr>
          <a:lstStyle/>
          <a:p>
            <a:pPr>
              <a:lnSpc>
                <a:spcPts val="4400"/>
              </a:lnSpc>
              <a:defRPr/>
            </a:pPr>
            <a:r>
              <a:rPr lang="ru-RU" sz="3600" dirty="0"/>
              <a:t>Оформление графического вывода в </a:t>
            </a:r>
            <a:r>
              <a:rPr lang="en-US" sz="3600" dirty="0"/>
              <a:t>R</a:t>
            </a:r>
            <a:endParaRPr lang="ru-RU" sz="3600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989068" y="1224642"/>
            <a:ext cx="3768994" cy="613653"/>
          </a:xfrm>
        </p:spPr>
        <p:txBody>
          <a:bodyPr/>
          <a:lstStyle/>
          <a:p>
            <a:pPr marL="0" indent="0">
              <a:buNone/>
              <a:defRPr/>
            </a:pPr>
            <a:r>
              <a:rPr lang="ru-RU" sz="2800" b="1" dirty="0"/>
              <a:t>Линейные графики</a:t>
            </a:r>
          </a:p>
          <a:p>
            <a:pPr marL="0" indent="0">
              <a:buNone/>
              <a:defRPr/>
            </a:pPr>
            <a:endParaRPr lang="ru-RU" dirty="0"/>
          </a:p>
        </p:txBody>
      </p:sp>
      <p:sp>
        <p:nvSpPr>
          <p:cNvPr id="90116" name="Rectangle 1"/>
          <p:cNvSpPr>
            <a:spLocks noChangeArrowheads="1"/>
          </p:cNvSpPr>
          <p:nvPr/>
        </p:nvSpPr>
        <p:spPr bwMode="auto">
          <a:xfrm>
            <a:off x="6513483" y="3374802"/>
            <a:ext cx="4317589" cy="29238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>
              <a:defRPr b="1">
                <a:solidFill>
                  <a:schemeClr val="tx1"/>
                </a:solidFill>
                <a:latin typeface="Segoe Semibold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Segoe Semibold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Segoe Semibold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Segoe Semibold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Segoe Semibold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Segoe Semibold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Segoe Semibold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Segoe Semibold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Segoe Semibold" charset="0"/>
              </a:defRPr>
            </a:lvl9pPr>
          </a:lstStyle>
          <a:p>
            <a:pPr>
              <a:buFontTx/>
              <a:buChar char="•"/>
            </a:pPr>
            <a:r>
              <a:rPr lang="ru-RU" altLang="ru-RU" sz="1800" b="0" dirty="0">
                <a:solidFill>
                  <a:schemeClr val="accent1">
                    <a:lumMod val="75000"/>
                  </a:schemeClr>
                </a:solidFill>
                <a:latin typeface="+mj-lt"/>
              </a:rPr>
              <a:t>"p" </a:t>
            </a:r>
            <a:r>
              <a:rPr lang="ru-RU" altLang="ru-RU" sz="1800" b="0" dirty="0" err="1"/>
              <a:t>for</a:t>
            </a:r>
            <a:r>
              <a:rPr lang="ru-RU" altLang="ru-RU" sz="1800" b="0" dirty="0"/>
              <a:t> </a:t>
            </a:r>
            <a:r>
              <a:rPr lang="ru-RU" altLang="ru-RU" sz="1800" b="0" dirty="0" err="1"/>
              <a:t>points</a:t>
            </a:r>
            <a:r>
              <a:rPr lang="ru-RU" altLang="ru-RU" sz="1800" b="0" dirty="0"/>
              <a:t>, </a:t>
            </a:r>
          </a:p>
          <a:p>
            <a:pPr>
              <a:buFontTx/>
              <a:buChar char="•"/>
            </a:pPr>
            <a:r>
              <a:rPr lang="ru-RU" altLang="ru-RU" sz="1800" b="0" dirty="0">
                <a:solidFill>
                  <a:schemeClr val="accent1">
                    <a:lumMod val="75000"/>
                  </a:schemeClr>
                </a:solidFill>
                <a:latin typeface="+mj-lt"/>
              </a:rPr>
              <a:t>"l"  </a:t>
            </a:r>
            <a:r>
              <a:rPr lang="ru-RU" altLang="ru-RU" sz="1800" b="0" dirty="0" err="1"/>
              <a:t>for</a:t>
            </a:r>
            <a:r>
              <a:rPr lang="ru-RU" altLang="ru-RU" sz="1800" b="0" dirty="0"/>
              <a:t> </a:t>
            </a:r>
            <a:r>
              <a:rPr lang="ru-RU" altLang="ru-RU" sz="1800" b="0" dirty="0" err="1"/>
              <a:t>lines</a:t>
            </a:r>
            <a:r>
              <a:rPr lang="ru-RU" altLang="ru-RU" sz="1800" b="0" dirty="0"/>
              <a:t>, </a:t>
            </a:r>
          </a:p>
          <a:p>
            <a:pPr>
              <a:buFontTx/>
              <a:buChar char="•"/>
            </a:pPr>
            <a:r>
              <a:rPr lang="ru-RU" altLang="ru-RU" sz="1800" b="0" dirty="0">
                <a:solidFill>
                  <a:schemeClr val="accent1">
                    <a:lumMod val="75000"/>
                  </a:schemeClr>
                </a:solidFill>
                <a:latin typeface="+mj-lt"/>
              </a:rPr>
              <a:t>"b" </a:t>
            </a:r>
            <a:r>
              <a:rPr lang="ru-RU" altLang="ru-RU" sz="1800" b="0" dirty="0" err="1"/>
              <a:t>for</a:t>
            </a:r>
            <a:r>
              <a:rPr lang="ru-RU" altLang="ru-RU" sz="1800" b="0" dirty="0"/>
              <a:t> </a:t>
            </a:r>
            <a:r>
              <a:rPr lang="ru-RU" altLang="ru-RU" sz="1800" b="0" dirty="0" err="1"/>
              <a:t>both</a:t>
            </a:r>
            <a:r>
              <a:rPr lang="ru-RU" altLang="ru-RU" sz="1800" b="0" dirty="0"/>
              <a:t>, </a:t>
            </a:r>
          </a:p>
          <a:p>
            <a:pPr>
              <a:buFontTx/>
              <a:buChar char="•"/>
            </a:pPr>
            <a:r>
              <a:rPr lang="ru-RU" altLang="ru-RU" sz="1800" b="0" dirty="0">
                <a:solidFill>
                  <a:schemeClr val="accent1">
                    <a:lumMod val="75000"/>
                  </a:schemeClr>
                </a:solidFill>
                <a:latin typeface="+mj-lt"/>
              </a:rPr>
              <a:t>"c" </a:t>
            </a:r>
            <a:r>
              <a:rPr lang="ru-RU" altLang="ru-RU" sz="1800" b="0" dirty="0" err="1"/>
              <a:t>for</a:t>
            </a:r>
            <a:r>
              <a:rPr lang="ru-RU" altLang="ru-RU" sz="1800" b="0" dirty="0"/>
              <a:t> </a:t>
            </a:r>
            <a:r>
              <a:rPr lang="ru-RU" altLang="ru-RU" sz="1800" b="0" dirty="0" err="1"/>
              <a:t>the</a:t>
            </a:r>
            <a:r>
              <a:rPr lang="ru-RU" altLang="ru-RU" sz="1800" b="0" dirty="0"/>
              <a:t> </a:t>
            </a:r>
            <a:r>
              <a:rPr lang="ru-RU" altLang="ru-RU" sz="1800" b="0" dirty="0" err="1"/>
              <a:t>lines</a:t>
            </a:r>
            <a:r>
              <a:rPr lang="ru-RU" altLang="ru-RU" sz="1800" b="0" dirty="0"/>
              <a:t> </a:t>
            </a:r>
            <a:r>
              <a:rPr lang="ru-RU" altLang="ru-RU" sz="1800" b="0" dirty="0" err="1"/>
              <a:t>part</a:t>
            </a:r>
            <a:r>
              <a:rPr lang="ru-RU" altLang="ru-RU" sz="1800" b="0" dirty="0"/>
              <a:t> </a:t>
            </a:r>
            <a:r>
              <a:rPr lang="ru-RU" altLang="ru-RU" sz="1800" b="0" dirty="0" err="1"/>
              <a:t>alone</a:t>
            </a:r>
            <a:r>
              <a:rPr lang="ru-RU" altLang="ru-RU" sz="1800" b="0" dirty="0"/>
              <a:t> </a:t>
            </a:r>
            <a:r>
              <a:rPr lang="ru-RU" altLang="ru-RU" sz="1800" b="0" dirty="0" err="1"/>
              <a:t>of</a:t>
            </a:r>
            <a:r>
              <a:rPr lang="ru-RU" altLang="ru-RU" sz="1800" b="0" dirty="0"/>
              <a:t> “b”, </a:t>
            </a:r>
          </a:p>
          <a:p>
            <a:pPr>
              <a:buFontTx/>
              <a:buChar char="•"/>
            </a:pPr>
            <a:r>
              <a:rPr lang="ru-RU" altLang="ru-RU" sz="1800" b="0" dirty="0">
                <a:solidFill>
                  <a:schemeClr val="accent1">
                    <a:lumMod val="75000"/>
                  </a:schemeClr>
                </a:solidFill>
                <a:latin typeface="+mj-lt"/>
              </a:rPr>
              <a:t>"o" </a:t>
            </a:r>
            <a:r>
              <a:rPr lang="ru-RU" altLang="ru-RU" sz="1800" b="0" dirty="0" err="1"/>
              <a:t>for</a:t>
            </a:r>
            <a:r>
              <a:rPr lang="ru-RU" altLang="ru-RU" sz="1800" b="0" dirty="0"/>
              <a:t> </a:t>
            </a:r>
            <a:r>
              <a:rPr lang="ru-RU" altLang="ru-RU" sz="1800" b="0" dirty="0" err="1"/>
              <a:t>both</a:t>
            </a:r>
            <a:r>
              <a:rPr lang="ru-RU" altLang="ru-RU" sz="1800" b="0" dirty="0"/>
              <a:t> ‘</a:t>
            </a:r>
            <a:r>
              <a:rPr lang="ru-RU" altLang="ru-RU" sz="1800" b="0" dirty="0" err="1"/>
              <a:t>overplotted</a:t>
            </a:r>
            <a:r>
              <a:rPr lang="ru-RU" altLang="ru-RU" sz="1800" b="0" dirty="0"/>
              <a:t>’, </a:t>
            </a:r>
          </a:p>
          <a:p>
            <a:pPr>
              <a:buFontTx/>
              <a:buChar char="•"/>
            </a:pPr>
            <a:r>
              <a:rPr lang="ru-RU" altLang="ru-RU" sz="1800" b="0" dirty="0">
                <a:solidFill>
                  <a:schemeClr val="accent1">
                    <a:lumMod val="75000"/>
                  </a:schemeClr>
                </a:solidFill>
                <a:latin typeface="+mj-lt"/>
              </a:rPr>
              <a:t>"h" </a:t>
            </a:r>
            <a:r>
              <a:rPr lang="ru-RU" altLang="ru-RU" sz="1800" b="0" dirty="0" err="1"/>
              <a:t>for</a:t>
            </a:r>
            <a:r>
              <a:rPr lang="ru-RU" altLang="ru-RU" sz="1800" b="0" dirty="0"/>
              <a:t> ‘</a:t>
            </a:r>
            <a:r>
              <a:rPr lang="ru-RU" altLang="ru-RU" sz="1800" b="0" dirty="0" err="1"/>
              <a:t>histogram</a:t>
            </a:r>
            <a:r>
              <a:rPr lang="ru-RU" altLang="ru-RU" sz="1800" b="0" dirty="0"/>
              <a:t>’ </a:t>
            </a:r>
            <a:r>
              <a:rPr lang="ru-RU" altLang="ru-RU" sz="1800" b="0" dirty="0" err="1"/>
              <a:t>like</a:t>
            </a:r>
            <a:r>
              <a:rPr lang="ru-RU" altLang="ru-RU" sz="1800" b="0" dirty="0"/>
              <a:t> (</a:t>
            </a:r>
            <a:r>
              <a:rPr lang="ru-RU" altLang="ru-RU" sz="1800" b="0" dirty="0" err="1"/>
              <a:t>or</a:t>
            </a:r>
            <a:r>
              <a:rPr lang="ru-RU" altLang="ru-RU" sz="1800" b="0" dirty="0"/>
              <a:t> ‘</a:t>
            </a:r>
            <a:r>
              <a:rPr lang="ru-RU" altLang="ru-RU" sz="1800" b="0" dirty="0" err="1"/>
              <a:t>high-density</a:t>
            </a:r>
            <a:r>
              <a:rPr lang="ru-RU" altLang="ru-RU" sz="1800" b="0" dirty="0"/>
              <a:t>’) </a:t>
            </a:r>
            <a:r>
              <a:rPr lang="ru-RU" altLang="ru-RU" sz="1800" b="0" dirty="0" err="1"/>
              <a:t>vertical</a:t>
            </a:r>
            <a:r>
              <a:rPr lang="ru-RU" altLang="ru-RU" sz="1800" b="0" dirty="0"/>
              <a:t> </a:t>
            </a:r>
            <a:r>
              <a:rPr lang="ru-RU" altLang="ru-RU" sz="1800" b="0" dirty="0" err="1"/>
              <a:t>lines</a:t>
            </a:r>
            <a:r>
              <a:rPr lang="ru-RU" altLang="ru-RU" sz="1800" b="0" dirty="0"/>
              <a:t>, </a:t>
            </a:r>
          </a:p>
          <a:p>
            <a:pPr>
              <a:buFontTx/>
              <a:buChar char="•"/>
            </a:pPr>
            <a:r>
              <a:rPr lang="ru-RU" altLang="ru-RU" sz="1800" b="0" dirty="0">
                <a:solidFill>
                  <a:schemeClr val="accent1">
                    <a:lumMod val="75000"/>
                  </a:schemeClr>
                </a:solidFill>
                <a:latin typeface="+mj-lt"/>
              </a:rPr>
              <a:t>"s" </a:t>
            </a:r>
            <a:r>
              <a:rPr lang="ru-RU" altLang="ru-RU" sz="1800" b="0" dirty="0" err="1"/>
              <a:t>for</a:t>
            </a:r>
            <a:r>
              <a:rPr lang="ru-RU" altLang="ru-RU" sz="1800" b="0" dirty="0"/>
              <a:t> </a:t>
            </a:r>
            <a:r>
              <a:rPr lang="ru-RU" altLang="ru-RU" sz="1800" b="0" dirty="0" err="1"/>
              <a:t>stair</a:t>
            </a:r>
            <a:r>
              <a:rPr lang="ru-RU" altLang="ru-RU" sz="1800" b="0" dirty="0"/>
              <a:t> </a:t>
            </a:r>
            <a:r>
              <a:rPr lang="ru-RU" altLang="ru-RU" sz="1800" b="0" dirty="0" err="1"/>
              <a:t>steps</a:t>
            </a:r>
            <a:r>
              <a:rPr lang="ru-RU" altLang="ru-RU" sz="1800" b="0" dirty="0"/>
              <a:t>, </a:t>
            </a:r>
          </a:p>
          <a:p>
            <a:pPr>
              <a:buFontTx/>
              <a:buChar char="•"/>
            </a:pPr>
            <a:r>
              <a:rPr lang="ru-RU" altLang="ru-RU" sz="1800" b="0" dirty="0">
                <a:solidFill>
                  <a:schemeClr val="accent1">
                    <a:lumMod val="75000"/>
                  </a:schemeClr>
                </a:solidFill>
                <a:latin typeface="+mj-lt"/>
              </a:rPr>
              <a:t>"S" </a:t>
            </a:r>
            <a:r>
              <a:rPr lang="ru-RU" altLang="ru-RU" sz="1800" b="0" dirty="0" err="1"/>
              <a:t>for</a:t>
            </a:r>
            <a:r>
              <a:rPr lang="ru-RU" altLang="ru-RU" sz="1800" b="0" dirty="0"/>
              <a:t> </a:t>
            </a:r>
            <a:r>
              <a:rPr lang="ru-RU" altLang="ru-RU" sz="1800" b="0" dirty="0" err="1"/>
              <a:t>other</a:t>
            </a:r>
            <a:r>
              <a:rPr lang="ru-RU" altLang="ru-RU" sz="1800" b="0" dirty="0"/>
              <a:t> </a:t>
            </a:r>
            <a:r>
              <a:rPr lang="ru-RU" altLang="ru-RU" sz="1800" b="0" dirty="0" err="1"/>
              <a:t>steps</a:t>
            </a:r>
            <a:r>
              <a:rPr lang="ru-RU" altLang="ru-RU" sz="1800" b="0" dirty="0"/>
              <a:t>, </a:t>
            </a:r>
            <a:r>
              <a:rPr lang="ru-RU" altLang="ru-RU" sz="1800" b="0" dirty="0" err="1"/>
              <a:t>see</a:t>
            </a:r>
            <a:r>
              <a:rPr lang="ru-RU" altLang="ru-RU" sz="1800" b="0" dirty="0"/>
              <a:t> ‘</a:t>
            </a:r>
            <a:r>
              <a:rPr lang="ru-RU" altLang="ru-RU" sz="1800" b="0" dirty="0" err="1"/>
              <a:t>Details</a:t>
            </a:r>
            <a:r>
              <a:rPr lang="ru-RU" altLang="ru-RU" sz="1800" b="0" dirty="0"/>
              <a:t>’, </a:t>
            </a:r>
          </a:p>
          <a:p>
            <a:pPr>
              <a:buFontTx/>
              <a:buChar char="•"/>
            </a:pPr>
            <a:r>
              <a:rPr lang="ru-RU" altLang="ru-RU" sz="1800" b="0" dirty="0">
                <a:solidFill>
                  <a:schemeClr val="accent1">
                    <a:lumMod val="75000"/>
                  </a:schemeClr>
                </a:solidFill>
                <a:latin typeface="+mj-lt"/>
              </a:rPr>
              <a:t>"n" </a:t>
            </a:r>
            <a:r>
              <a:rPr lang="ru-RU" altLang="ru-RU" sz="1800" b="0" dirty="0" err="1"/>
              <a:t>for</a:t>
            </a:r>
            <a:r>
              <a:rPr lang="ru-RU" altLang="ru-RU" sz="1800" b="0" dirty="0"/>
              <a:t> </a:t>
            </a:r>
            <a:r>
              <a:rPr lang="ru-RU" altLang="ru-RU" sz="1800" b="0" dirty="0" err="1"/>
              <a:t>no</a:t>
            </a:r>
            <a:r>
              <a:rPr lang="ru-RU" altLang="ru-RU" sz="1800" b="0" dirty="0"/>
              <a:t> </a:t>
            </a:r>
            <a:r>
              <a:rPr lang="ru-RU" altLang="ru-RU" sz="1800" b="0" dirty="0" err="1"/>
              <a:t>plotting</a:t>
            </a:r>
            <a:r>
              <a:rPr lang="ru-RU" altLang="ru-RU" sz="1800" b="0" dirty="0"/>
              <a:t>. </a:t>
            </a:r>
          </a:p>
        </p:txBody>
      </p:sp>
      <p:sp>
        <p:nvSpPr>
          <p:cNvPr id="90117" name="Прямоугольник 7"/>
          <p:cNvSpPr>
            <a:spLocks noChangeArrowheads="1"/>
          </p:cNvSpPr>
          <p:nvPr/>
        </p:nvSpPr>
        <p:spPr bwMode="auto">
          <a:xfrm>
            <a:off x="1777922" y="1925090"/>
            <a:ext cx="9307063" cy="14250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b="1">
                <a:solidFill>
                  <a:schemeClr val="tx1"/>
                </a:solidFill>
                <a:latin typeface="Segoe Semibold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Segoe Semibold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Segoe Semibold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Segoe Semibold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Segoe Semibold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Segoe Semibold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Segoe Semibold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Segoe Semibold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Segoe Semibold" charset="0"/>
              </a:defRPr>
            </a:lvl9pPr>
          </a:lstStyle>
          <a:p>
            <a:r>
              <a:rPr lang="ru-RU" altLang="ru-RU" sz="2078" b="0" dirty="0"/>
              <a:t>По умолчанию функция </a:t>
            </a:r>
            <a:r>
              <a:rPr lang="ru-RU" altLang="ru-RU" sz="2078" i="1" dirty="0">
                <a:solidFill>
                  <a:srgbClr val="0070C0"/>
                </a:solidFill>
                <a:latin typeface="Arial Unicode MS" panose="020B0604020202020204" pitchFamily="34" charset="-128"/>
              </a:rPr>
              <a:t>plot()</a:t>
            </a:r>
            <a:r>
              <a:rPr lang="ru-RU" altLang="ru-RU" sz="2078" i="1" dirty="0">
                <a:solidFill>
                  <a:srgbClr val="0070C0"/>
                </a:solidFill>
              </a:rPr>
              <a:t> </a:t>
            </a:r>
            <a:r>
              <a:rPr lang="ru-RU" altLang="ru-RU" sz="2078" b="0" dirty="0"/>
              <a:t>рисует именно точки. Однако если точки не нужны, а достаточно только линий, или требуется иной подход к построению графиков, можно задать параметр </a:t>
            </a:r>
            <a:r>
              <a:rPr lang="ru-RU" altLang="ru-RU" sz="2078" i="1" dirty="0" err="1">
                <a:solidFill>
                  <a:srgbClr val="0070C0"/>
                </a:solidFill>
                <a:latin typeface="Arial Unicode MS" panose="020B0604020202020204" pitchFamily="34" charset="-128"/>
              </a:rPr>
              <a:t>type</a:t>
            </a:r>
            <a:r>
              <a:rPr lang="ru-RU" altLang="ru-RU" sz="2078" i="1" dirty="0">
                <a:solidFill>
                  <a:srgbClr val="0070C0"/>
                </a:solidFill>
                <a:latin typeface="Arial Unicode MS" panose="020B0604020202020204" pitchFamily="34" charset="-128"/>
              </a:rPr>
              <a:t> =</a:t>
            </a:r>
            <a:r>
              <a:rPr lang="ru-RU" altLang="ru-RU" sz="2078" b="0" dirty="0"/>
              <a:t>, который принимает следующие значения:</a:t>
            </a:r>
          </a:p>
        </p:txBody>
      </p:sp>
      <p:pic>
        <p:nvPicPr>
          <p:cNvPr id="90118" name="Рисунок 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04519" y="3238946"/>
            <a:ext cx="4630753" cy="3324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>
          <a:xfrm>
            <a:off x="11374685" y="6605015"/>
            <a:ext cx="660154" cy="379409"/>
          </a:xfrm>
        </p:spPr>
        <p:txBody>
          <a:bodyPr/>
          <a:lstStyle/>
          <a:p>
            <a:fld id="{952B6C0E-C4B9-4094-8E59-5B7DF00D5415}" type="slidenum">
              <a:rPr lang="ru-RU" smtClean="0">
                <a:solidFill>
                  <a:schemeClr val="tx1"/>
                </a:solidFill>
              </a:rPr>
              <a:t>51</a:t>
            </a:fld>
            <a:endParaRPr lang="ru-RU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719189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AutoShape 5"/>
          <p:cNvSpPr>
            <a:spLocks noChangeArrowheads="1"/>
          </p:cNvSpPr>
          <p:nvPr/>
        </p:nvSpPr>
        <p:spPr bwMode="auto">
          <a:xfrm>
            <a:off x="2165629" y="406551"/>
            <a:ext cx="8351837" cy="485545"/>
          </a:xfrm>
          <a:prstGeom prst="roundRect">
            <a:avLst>
              <a:gd name="adj" fmla="val 16667"/>
            </a:avLst>
          </a:prstGeom>
          <a:solidFill>
            <a:srgbClr val="FFFFFF">
              <a:alpha val="78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9441" tIns="49721" rIns="99441" bIns="49721" anchor="ctr"/>
          <a:lstStyle>
            <a:lvl1pPr defTabSz="99377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1177925" defTabSz="99377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373188" defTabSz="99377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66863" defTabSz="99377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89138" defTabSz="99377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46338" defTabSz="9937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03538" defTabSz="9937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60738" defTabSz="9937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17938" defTabSz="9937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ru-RU" altLang="ru-RU" sz="3500">
              <a:solidFill>
                <a:schemeClr val="bg1"/>
              </a:solidFill>
            </a:endParaRPr>
          </a:p>
        </p:txBody>
      </p:sp>
      <p:sp>
        <p:nvSpPr>
          <p:cNvPr id="8" name="AutoShape 2"/>
          <p:cNvSpPr>
            <a:spLocks noChangeArrowheads="1"/>
          </p:cNvSpPr>
          <p:nvPr/>
        </p:nvSpPr>
        <p:spPr bwMode="auto">
          <a:xfrm>
            <a:off x="141437" y="682825"/>
            <a:ext cx="12313367" cy="6192688"/>
          </a:xfrm>
          <a:prstGeom prst="roundRect">
            <a:avLst>
              <a:gd name="adj" fmla="val 16667"/>
            </a:avLst>
          </a:prstGeom>
          <a:solidFill>
            <a:schemeClr val="bg1">
              <a:alpha val="50000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9441" tIns="49721" rIns="99441" bIns="49721" anchor="ctr"/>
          <a:lstStyle>
            <a:lvl1pPr defTabSz="99377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1177925" defTabSz="99377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373188" defTabSz="99377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66863" defTabSz="99377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89138" defTabSz="99377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46338" defTabSz="9937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03538" defTabSz="9937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60738" defTabSz="9937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17938" defTabSz="9937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ru-RU" altLang="ru-RU" sz="3500">
              <a:solidFill>
                <a:schemeClr val="bg1"/>
              </a:solidFill>
            </a:endParaRPr>
          </a:p>
        </p:txBody>
      </p:sp>
      <p:sp>
        <p:nvSpPr>
          <p:cNvPr id="9" name="Скругленный прямоугольник 8"/>
          <p:cNvSpPr/>
          <p:nvPr/>
        </p:nvSpPr>
        <p:spPr bwMode="auto">
          <a:xfrm>
            <a:off x="633411" y="1125654"/>
            <a:ext cx="11401428" cy="5568675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  <a:headEnd type="none" w="med" len="med"/>
            <a:tailEnd type="none" w="med" len="med"/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defTabSz="993775"/>
            <a:endParaRPr lang="ru-RU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Заголовок 1"/>
          <p:cNvSpPr>
            <a:spLocks noGrp="1"/>
          </p:cNvSpPr>
          <p:nvPr>
            <p:ph type="title"/>
          </p:nvPr>
        </p:nvSpPr>
        <p:spPr>
          <a:xfrm>
            <a:off x="2015617" y="295239"/>
            <a:ext cx="8528395" cy="596857"/>
          </a:xfrm>
        </p:spPr>
        <p:txBody>
          <a:bodyPr>
            <a:noAutofit/>
          </a:bodyPr>
          <a:lstStyle/>
          <a:p>
            <a:pPr>
              <a:lnSpc>
                <a:spcPts val="4400"/>
              </a:lnSpc>
              <a:defRPr/>
            </a:pPr>
            <a:r>
              <a:rPr lang="ru-RU" sz="3600" dirty="0"/>
              <a:t>Оформление графического вывода в </a:t>
            </a:r>
            <a:r>
              <a:rPr lang="en-US" sz="3600" dirty="0"/>
              <a:t>R</a:t>
            </a:r>
            <a:endParaRPr lang="ru-RU" sz="3600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2045729" y="1338588"/>
            <a:ext cx="4141129" cy="613653"/>
          </a:xfrm>
        </p:spPr>
        <p:txBody>
          <a:bodyPr/>
          <a:lstStyle/>
          <a:p>
            <a:pPr marL="0" indent="0">
              <a:buNone/>
              <a:defRPr/>
            </a:pPr>
            <a:r>
              <a:rPr lang="ru-RU" b="1" dirty="0"/>
              <a:t>Линейные графики</a:t>
            </a:r>
          </a:p>
          <a:p>
            <a:pPr marL="0" indent="0">
              <a:buNone/>
              <a:defRPr/>
            </a:pPr>
            <a:endParaRPr lang="ru-RU" dirty="0"/>
          </a:p>
        </p:txBody>
      </p:sp>
      <p:pic>
        <p:nvPicPr>
          <p:cNvPr id="91140" name="Рисунок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6225" y="2412958"/>
            <a:ext cx="4390459" cy="6874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1141" name="Рисунок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6225" y="3333932"/>
            <a:ext cx="4390459" cy="29818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1142" name="Рисунок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42982" y="2412958"/>
            <a:ext cx="4516008" cy="64240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1143" name="Рисунок 8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54193" y="3348046"/>
            <a:ext cx="4348422" cy="29693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2B6C0E-C4B9-4094-8E59-5B7DF00D5415}" type="slidenum">
              <a:rPr lang="ru-RU" smtClean="0">
                <a:solidFill>
                  <a:schemeClr val="tx1"/>
                </a:solidFill>
              </a:rPr>
              <a:t>52</a:t>
            </a:fld>
            <a:endParaRPr lang="ru-RU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43527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AutoShape 5"/>
          <p:cNvSpPr>
            <a:spLocks noChangeArrowheads="1"/>
          </p:cNvSpPr>
          <p:nvPr/>
        </p:nvSpPr>
        <p:spPr bwMode="auto">
          <a:xfrm>
            <a:off x="2165629" y="406550"/>
            <a:ext cx="8351837" cy="586360"/>
          </a:xfrm>
          <a:prstGeom prst="roundRect">
            <a:avLst>
              <a:gd name="adj" fmla="val 16667"/>
            </a:avLst>
          </a:prstGeom>
          <a:solidFill>
            <a:srgbClr val="FFFFFF">
              <a:alpha val="78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9441" tIns="49721" rIns="99441" bIns="49721" anchor="ctr"/>
          <a:lstStyle>
            <a:lvl1pPr defTabSz="99377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1177925" defTabSz="99377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373188" defTabSz="99377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66863" defTabSz="99377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89138" defTabSz="99377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46338" defTabSz="9937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03538" defTabSz="9937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60738" defTabSz="9937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17938" defTabSz="9937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ru-RU" altLang="ru-RU" sz="2800">
              <a:solidFill>
                <a:schemeClr val="bg1"/>
              </a:solidFill>
            </a:endParaRPr>
          </a:p>
        </p:txBody>
      </p:sp>
      <p:sp>
        <p:nvSpPr>
          <p:cNvPr id="8" name="AutoShape 2"/>
          <p:cNvSpPr>
            <a:spLocks noChangeArrowheads="1"/>
          </p:cNvSpPr>
          <p:nvPr/>
        </p:nvSpPr>
        <p:spPr bwMode="auto">
          <a:xfrm>
            <a:off x="501477" y="1036251"/>
            <a:ext cx="11881320" cy="5839260"/>
          </a:xfrm>
          <a:prstGeom prst="roundRect">
            <a:avLst>
              <a:gd name="adj" fmla="val 16667"/>
            </a:avLst>
          </a:prstGeom>
          <a:solidFill>
            <a:schemeClr val="bg1">
              <a:alpha val="50000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9441" tIns="49721" rIns="99441" bIns="49721" anchor="ctr"/>
          <a:lstStyle>
            <a:lvl1pPr defTabSz="99377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1177925" defTabSz="99377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373188" defTabSz="99377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66863" defTabSz="99377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89138" defTabSz="99377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46338" defTabSz="9937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03538" defTabSz="9937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60738" defTabSz="9937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17938" defTabSz="9937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ru-RU" altLang="ru-RU" sz="3500">
              <a:solidFill>
                <a:schemeClr val="bg1"/>
              </a:solidFill>
            </a:endParaRPr>
          </a:p>
        </p:txBody>
      </p:sp>
      <p:sp>
        <p:nvSpPr>
          <p:cNvPr id="9" name="Скругленный прямоугольник 8"/>
          <p:cNvSpPr/>
          <p:nvPr/>
        </p:nvSpPr>
        <p:spPr bwMode="auto">
          <a:xfrm>
            <a:off x="501477" y="1258889"/>
            <a:ext cx="11533362" cy="543544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  <a:headEnd type="none" w="med" len="med"/>
            <a:tailEnd type="none" w="med" len="med"/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defTabSz="993775"/>
            <a:endParaRPr lang="ru-RU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Заголовок 1"/>
          <p:cNvSpPr>
            <a:spLocks noGrp="1"/>
          </p:cNvSpPr>
          <p:nvPr>
            <p:ph type="title"/>
          </p:nvPr>
        </p:nvSpPr>
        <p:spPr>
          <a:xfrm>
            <a:off x="2372307" y="358939"/>
            <a:ext cx="7917034" cy="677312"/>
          </a:xfrm>
        </p:spPr>
        <p:txBody>
          <a:bodyPr>
            <a:normAutofit/>
          </a:bodyPr>
          <a:lstStyle/>
          <a:p>
            <a:pPr>
              <a:lnSpc>
                <a:spcPts val="4400"/>
              </a:lnSpc>
              <a:defRPr/>
            </a:pPr>
            <a:r>
              <a:rPr lang="ru-RU" sz="3600" dirty="0"/>
              <a:t>Оформление графического вывода в </a:t>
            </a:r>
            <a:r>
              <a:rPr lang="en-US" sz="3600" dirty="0"/>
              <a:t>R</a:t>
            </a:r>
            <a:endParaRPr lang="ru-RU" sz="3600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999790" y="1571923"/>
            <a:ext cx="8683513" cy="613653"/>
          </a:xfrm>
        </p:spPr>
        <p:txBody>
          <a:bodyPr/>
          <a:lstStyle/>
          <a:p>
            <a:pPr marL="0" indent="0">
              <a:buNone/>
              <a:defRPr/>
            </a:pPr>
            <a:r>
              <a:rPr lang="ru-RU" sz="2800" b="1" dirty="0"/>
              <a:t>Линейные графики</a:t>
            </a:r>
          </a:p>
          <a:p>
            <a:pPr marL="0" indent="0">
              <a:buNone/>
              <a:defRPr/>
            </a:pPr>
            <a:endParaRPr lang="ru-RU" sz="2800" dirty="0"/>
          </a:p>
        </p:txBody>
      </p:sp>
      <p:pic>
        <p:nvPicPr>
          <p:cNvPr id="92164" name="Рисунок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9070" y="2167580"/>
            <a:ext cx="4046111" cy="6759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2165" name="Рисунок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21437" y="3008878"/>
            <a:ext cx="4315363" cy="3018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2166" name="Рисунок 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95914" y="2167580"/>
            <a:ext cx="4134824" cy="6759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2167" name="Рисунок 1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95786" y="3008878"/>
            <a:ext cx="4422588" cy="3017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2B6C0E-C4B9-4094-8E59-5B7DF00D5415}" type="slidenum">
              <a:rPr lang="ru-RU" smtClean="0">
                <a:solidFill>
                  <a:schemeClr val="tx1"/>
                </a:solidFill>
              </a:rPr>
              <a:t>53</a:t>
            </a:fld>
            <a:endParaRPr lang="ru-RU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742054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AutoShape 2"/>
          <p:cNvSpPr>
            <a:spLocks noChangeArrowheads="1"/>
          </p:cNvSpPr>
          <p:nvPr/>
        </p:nvSpPr>
        <p:spPr bwMode="auto">
          <a:xfrm>
            <a:off x="429469" y="322263"/>
            <a:ext cx="11809311" cy="6553249"/>
          </a:xfrm>
          <a:prstGeom prst="roundRect">
            <a:avLst>
              <a:gd name="adj" fmla="val 16667"/>
            </a:avLst>
          </a:prstGeom>
          <a:solidFill>
            <a:schemeClr val="bg1">
              <a:alpha val="50000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9441" tIns="49721" rIns="99441" bIns="49721" anchor="ctr"/>
          <a:lstStyle>
            <a:lvl1pPr defTabSz="99377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1177925" defTabSz="99377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373188" defTabSz="99377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66863" defTabSz="99377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89138" defTabSz="99377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46338" defTabSz="9937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03538" defTabSz="9937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60738" defTabSz="9937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17938" defTabSz="9937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ru-RU" altLang="ru-RU" sz="3500">
              <a:solidFill>
                <a:schemeClr val="bg1"/>
              </a:solidFill>
            </a:endParaRPr>
          </a:p>
        </p:txBody>
      </p:sp>
      <p:sp>
        <p:nvSpPr>
          <p:cNvPr id="9" name="Скругленный прямоугольник 8"/>
          <p:cNvSpPr/>
          <p:nvPr/>
        </p:nvSpPr>
        <p:spPr bwMode="auto">
          <a:xfrm>
            <a:off x="1077541" y="1167018"/>
            <a:ext cx="10729192" cy="5527311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  <a:headEnd type="none" w="med" len="med"/>
            <a:tailEnd type="none" w="med" len="med"/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defTabSz="993775"/>
            <a:endParaRPr lang="ru-RU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1581597" y="1552306"/>
            <a:ext cx="9224128" cy="145135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348060" indent="-348060">
              <a:lnSpc>
                <a:spcPct val="85000"/>
              </a:lnSpc>
              <a:spcBef>
                <a:spcPct val="25000"/>
              </a:spcBef>
              <a:buClr>
                <a:srgbClr val="F4BE96"/>
              </a:buClr>
              <a:buSzPct val="80000"/>
              <a:buBlip>
                <a:blip r:embed="rId2"/>
              </a:buBlip>
              <a:defRPr/>
            </a:pPr>
            <a:r>
              <a:rPr lang="ru-RU" altLang="ru-RU" sz="2078" dirty="0">
                <a:latin typeface="+mn-lt"/>
              </a:rPr>
              <a:t>Толщину и тип линии можно изменить, используя параметры </a:t>
            </a:r>
            <a:r>
              <a:rPr lang="ru-RU" altLang="ru-RU" sz="2078" i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lwd</a:t>
            </a:r>
            <a:r>
              <a:rPr lang="ru-RU" altLang="ru-RU" sz="2078" i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=</a:t>
            </a:r>
            <a:r>
              <a:rPr lang="ru-RU" altLang="ru-RU" sz="2078" dirty="0">
                <a:latin typeface="+mn-lt"/>
              </a:rPr>
              <a:t> и </a:t>
            </a:r>
            <a:r>
              <a:rPr lang="ru-RU" altLang="ru-RU" sz="2078" i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lty</a:t>
            </a:r>
            <a:r>
              <a:rPr lang="ru-RU" altLang="ru-RU" sz="2078" i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= </a:t>
            </a:r>
            <a:r>
              <a:rPr lang="ru-RU" altLang="ru-RU" sz="2078" dirty="0">
                <a:latin typeface="+mn-lt"/>
              </a:rPr>
              <a:t>соответственно. Работают они аналогично параметрам </a:t>
            </a:r>
            <a:r>
              <a:rPr lang="ru-RU" altLang="ru-RU" sz="2078" i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pch</a:t>
            </a:r>
            <a:r>
              <a:rPr lang="ru-RU" altLang="ru-RU" sz="2078" dirty="0">
                <a:latin typeface="+mn-lt"/>
              </a:rPr>
              <a:t> и </a:t>
            </a:r>
            <a:r>
              <a:rPr lang="ru-RU" altLang="ru-RU" sz="2078" i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cex</a:t>
            </a:r>
            <a:r>
              <a:rPr lang="ru-RU" altLang="ru-RU" sz="2078" dirty="0">
                <a:latin typeface="+mn-lt"/>
              </a:rPr>
              <a:t> для точечных символов. Типов линий по умолчанию в стандартной библиотеке R не так много, но в сочетании с цветовым кодированием и толщиной их оказывается вполне достаточно: </a:t>
            </a:r>
          </a:p>
        </p:txBody>
      </p:sp>
      <p:pic>
        <p:nvPicPr>
          <p:cNvPr id="93189" name="Рисунок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58063" y="3267503"/>
            <a:ext cx="2556886" cy="34196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3190" name="Рисунок 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12931" y="3151301"/>
            <a:ext cx="5192794" cy="5111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3191" name="Рисунок 8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47027" y="3803162"/>
            <a:ext cx="4483623" cy="28043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AutoShape 5"/>
          <p:cNvSpPr>
            <a:spLocks noChangeArrowheads="1"/>
          </p:cNvSpPr>
          <p:nvPr/>
        </p:nvSpPr>
        <p:spPr bwMode="auto">
          <a:xfrm>
            <a:off x="2085977" y="469900"/>
            <a:ext cx="8351837" cy="665683"/>
          </a:xfrm>
          <a:prstGeom prst="roundRect">
            <a:avLst>
              <a:gd name="adj" fmla="val 16667"/>
            </a:avLst>
          </a:prstGeom>
          <a:solidFill>
            <a:srgbClr val="FFFFFF">
              <a:alpha val="78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9441" tIns="49721" rIns="99441" bIns="49721" anchor="ctr"/>
          <a:lstStyle>
            <a:lvl1pPr defTabSz="99377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1177925" defTabSz="99377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373188" defTabSz="99377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66863" defTabSz="99377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89138" defTabSz="99377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46338" defTabSz="9937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03538" defTabSz="9937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60738" defTabSz="9937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17938" defTabSz="9937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ru-RU" altLang="ru-RU" sz="3500">
              <a:solidFill>
                <a:schemeClr val="bg1"/>
              </a:solidFill>
            </a:endParaRPr>
          </a:p>
        </p:txBody>
      </p:sp>
      <p:sp>
        <p:nvSpPr>
          <p:cNvPr id="12" name="Заголовок 1"/>
          <p:cNvSpPr>
            <a:spLocks noGrp="1"/>
          </p:cNvSpPr>
          <p:nvPr>
            <p:ph type="title"/>
          </p:nvPr>
        </p:nvSpPr>
        <p:spPr>
          <a:xfrm>
            <a:off x="2164808" y="407464"/>
            <a:ext cx="8194173" cy="611917"/>
          </a:xfrm>
        </p:spPr>
        <p:txBody>
          <a:bodyPr>
            <a:noAutofit/>
          </a:bodyPr>
          <a:lstStyle/>
          <a:p>
            <a:pPr>
              <a:lnSpc>
                <a:spcPts val="4400"/>
              </a:lnSpc>
              <a:defRPr/>
            </a:pPr>
            <a:r>
              <a:rPr lang="ru-RU" sz="3600" dirty="0"/>
              <a:t>Оформление графического вывода в </a:t>
            </a:r>
            <a:r>
              <a:rPr lang="en-US" sz="3600" dirty="0"/>
              <a:t>R</a:t>
            </a:r>
            <a:endParaRPr lang="ru-RU" sz="3600" dirty="0"/>
          </a:p>
        </p:txBody>
      </p:sp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2B6C0E-C4B9-4094-8E59-5B7DF00D5415}" type="slidenum">
              <a:rPr lang="ru-RU" smtClean="0">
                <a:solidFill>
                  <a:schemeClr val="tx1"/>
                </a:solidFill>
              </a:rPr>
              <a:t>54</a:t>
            </a:fld>
            <a:endParaRPr lang="ru-RU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068796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AutoShape 2">
            <a:extLst>
              <a:ext uri="{FF2B5EF4-FFF2-40B4-BE49-F238E27FC236}">
                <a16:creationId xmlns:a16="http://schemas.microsoft.com/office/drawing/2014/main" id="{BD9F207E-3331-4E6C-939B-184BB34CAA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9469" y="322263"/>
            <a:ext cx="11809311" cy="6553249"/>
          </a:xfrm>
          <a:prstGeom prst="roundRect">
            <a:avLst>
              <a:gd name="adj" fmla="val 16667"/>
            </a:avLst>
          </a:prstGeom>
          <a:solidFill>
            <a:schemeClr val="bg1">
              <a:alpha val="50000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9441" tIns="49721" rIns="99441" bIns="49721" anchor="ctr"/>
          <a:lstStyle>
            <a:lvl1pPr defTabSz="99377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1177925" defTabSz="99377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373188" defTabSz="99377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66863" defTabSz="99377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89138" defTabSz="99377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46338" defTabSz="9937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03538" defTabSz="9937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60738" defTabSz="9937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17938" defTabSz="9937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ru-RU" altLang="ru-RU" sz="3500">
              <a:solidFill>
                <a:schemeClr val="bg1"/>
              </a:solidFill>
            </a:endParaRPr>
          </a:p>
        </p:txBody>
      </p:sp>
      <p:sp>
        <p:nvSpPr>
          <p:cNvPr id="12" name="Скругленный прямоугольник 8">
            <a:extLst>
              <a:ext uri="{FF2B5EF4-FFF2-40B4-BE49-F238E27FC236}">
                <a16:creationId xmlns:a16="http://schemas.microsoft.com/office/drawing/2014/main" id="{0AE43C36-8FA9-4083-8E5A-A27D74A92065}"/>
              </a:ext>
            </a:extLst>
          </p:cNvPr>
          <p:cNvSpPr/>
          <p:nvPr/>
        </p:nvSpPr>
        <p:spPr bwMode="auto">
          <a:xfrm>
            <a:off x="1077541" y="1167018"/>
            <a:ext cx="10729192" cy="5527311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  <a:headEnd type="none" w="med" len="med"/>
            <a:tailEnd type="none" w="med" len="med"/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defTabSz="993775"/>
            <a:endParaRPr lang="ru-RU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1725846" y="1566048"/>
            <a:ext cx="9079418" cy="4090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348060" indent="-348060">
              <a:lnSpc>
                <a:spcPct val="85000"/>
              </a:lnSpc>
              <a:spcBef>
                <a:spcPct val="25000"/>
              </a:spcBef>
              <a:buClr>
                <a:srgbClr val="F4BE96"/>
              </a:buClr>
              <a:buSzPct val="80000"/>
              <a:buBlip>
                <a:blip r:embed="rId2"/>
              </a:buBlip>
              <a:defRPr/>
            </a:pPr>
            <a:r>
              <a:rPr lang="ru-RU" altLang="ru-RU" sz="2400" dirty="0">
                <a:latin typeface="+mn-lt"/>
              </a:rPr>
              <a:t>К графику можно добавить сетку:</a:t>
            </a:r>
          </a:p>
        </p:txBody>
      </p:sp>
      <p:sp>
        <p:nvSpPr>
          <p:cNvPr id="13" name="AutoShape 5"/>
          <p:cNvSpPr>
            <a:spLocks noChangeArrowheads="1"/>
          </p:cNvSpPr>
          <p:nvPr/>
        </p:nvSpPr>
        <p:spPr bwMode="auto">
          <a:xfrm>
            <a:off x="2165629" y="406550"/>
            <a:ext cx="8351837" cy="636314"/>
          </a:xfrm>
          <a:prstGeom prst="roundRect">
            <a:avLst>
              <a:gd name="adj" fmla="val 16667"/>
            </a:avLst>
          </a:prstGeom>
          <a:solidFill>
            <a:srgbClr val="FFFFFF">
              <a:alpha val="78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9441" tIns="49721" rIns="99441" bIns="49721" anchor="ctr"/>
          <a:lstStyle>
            <a:lvl1pPr defTabSz="99377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1177925" defTabSz="99377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373188" defTabSz="99377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66863" defTabSz="99377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89138" defTabSz="99377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46338" defTabSz="9937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03538" defTabSz="9937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60738" defTabSz="9937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17938" defTabSz="9937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ru-RU" altLang="ru-RU" sz="3500">
              <a:solidFill>
                <a:schemeClr val="bg1"/>
              </a:solidFill>
            </a:endParaRPr>
          </a:p>
        </p:txBody>
      </p:sp>
      <p:sp>
        <p:nvSpPr>
          <p:cNvPr id="14" name="Заголовок 1"/>
          <p:cNvSpPr>
            <a:spLocks noGrp="1"/>
          </p:cNvSpPr>
          <p:nvPr>
            <p:ph type="title"/>
          </p:nvPr>
        </p:nvSpPr>
        <p:spPr>
          <a:xfrm>
            <a:off x="2013645" y="230676"/>
            <a:ext cx="8503820" cy="812188"/>
          </a:xfrm>
        </p:spPr>
        <p:txBody>
          <a:bodyPr>
            <a:noAutofit/>
          </a:bodyPr>
          <a:lstStyle/>
          <a:p>
            <a:pPr>
              <a:lnSpc>
                <a:spcPts val="4400"/>
              </a:lnSpc>
              <a:defRPr/>
            </a:pPr>
            <a:r>
              <a:rPr lang="ru-RU" sz="3600" dirty="0"/>
              <a:t>Оформление графического вывода в </a:t>
            </a:r>
            <a:r>
              <a:rPr lang="en-US" sz="3600" dirty="0"/>
              <a:t>R</a:t>
            </a:r>
            <a:endParaRPr lang="ru-RU" sz="3600" dirty="0"/>
          </a:p>
        </p:txBody>
      </p:sp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2859022" y="2156754"/>
            <a:ext cx="6965048" cy="553998"/>
          </a:xfrm>
          <a:prstGeom prst="rect">
            <a:avLst/>
          </a:prstGeom>
          <a:solidFill>
            <a:srgbClr val="F7F7F7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eaLnBrk="0" hangingPunct="0"/>
            <a:r>
              <a:rPr lang="ru-RU" altLang="ru-RU" sz="1800" b="1" dirty="0" err="1">
                <a:solidFill>
                  <a:srgbClr val="00702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plot</a:t>
            </a:r>
            <a:r>
              <a:rPr lang="ru-RU" altLang="ru-RU" sz="1800" dirty="0">
                <a:solidFill>
                  <a:srgbClr val="33333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ru-RU" altLang="ru-RU" sz="1800" dirty="0" err="1">
                <a:solidFill>
                  <a:srgbClr val="33333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tab</a:t>
            </a:r>
            <a:r>
              <a:rPr lang="ru-RU" altLang="ru-RU" sz="1800" dirty="0" err="1">
                <a:solidFill>
                  <a:srgbClr val="66666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$</a:t>
            </a:r>
            <a:r>
              <a:rPr lang="ru-RU" altLang="ru-RU" sz="1800" dirty="0" err="1">
                <a:solidFill>
                  <a:srgbClr val="33333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Год</a:t>
            </a:r>
            <a:r>
              <a:rPr lang="ru-RU" altLang="ru-RU" sz="1800" dirty="0">
                <a:solidFill>
                  <a:srgbClr val="33333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ru-RU" altLang="ru-RU" sz="1800" dirty="0" err="1">
                <a:solidFill>
                  <a:srgbClr val="33333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tab</a:t>
            </a:r>
            <a:r>
              <a:rPr lang="ru-RU" altLang="ru-RU" sz="1800" dirty="0" err="1">
                <a:solidFill>
                  <a:srgbClr val="66666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$</a:t>
            </a:r>
            <a:r>
              <a:rPr lang="ru-RU" altLang="ru-RU" sz="1800" dirty="0" err="1">
                <a:solidFill>
                  <a:srgbClr val="33333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Каспийское</a:t>
            </a:r>
            <a:r>
              <a:rPr lang="ru-RU" altLang="ru-RU" sz="1800" dirty="0">
                <a:solidFill>
                  <a:srgbClr val="33333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ru-RU" altLang="ru-RU" sz="1800" dirty="0" err="1">
                <a:solidFill>
                  <a:srgbClr val="902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type</a:t>
            </a:r>
            <a:r>
              <a:rPr lang="ru-RU" altLang="ru-RU" sz="1800" dirty="0">
                <a:solidFill>
                  <a:srgbClr val="902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</a:t>
            </a:r>
            <a:r>
              <a:rPr lang="ru-RU" altLang="ru-RU" sz="1800" dirty="0">
                <a:solidFill>
                  <a:srgbClr val="33333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ru-RU" altLang="ru-RU" sz="1800" dirty="0">
                <a:solidFill>
                  <a:srgbClr val="407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"l"</a:t>
            </a:r>
            <a:r>
              <a:rPr lang="ru-RU" altLang="ru-RU" sz="1800" dirty="0">
                <a:solidFill>
                  <a:srgbClr val="33333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ru-RU" altLang="ru-RU" sz="1800" dirty="0" err="1">
                <a:solidFill>
                  <a:srgbClr val="902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col</a:t>
            </a:r>
            <a:r>
              <a:rPr lang="ru-RU" altLang="ru-RU" sz="1800" dirty="0">
                <a:solidFill>
                  <a:srgbClr val="902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</a:t>
            </a:r>
            <a:r>
              <a:rPr lang="ru-RU" altLang="ru-RU" sz="1800" dirty="0">
                <a:solidFill>
                  <a:srgbClr val="33333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ru-RU" altLang="ru-RU" sz="1800" dirty="0">
                <a:solidFill>
                  <a:srgbClr val="407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</a:t>
            </a:r>
            <a:r>
              <a:rPr lang="ru-RU" altLang="ru-RU" sz="1800" dirty="0" err="1">
                <a:solidFill>
                  <a:srgbClr val="407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red</a:t>
            </a:r>
            <a:r>
              <a:rPr lang="ru-RU" altLang="ru-RU" sz="1800" dirty="0">
                <a:solidFill>
                  <a:srgbClr val="407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</a:t>
            </a:r>
            <a:r>
              <a:rPr lang="ru-RU" altLang="ru-RU" sz="1800" dirty="0">
                <a:solidFill>
                  <a:srgbClr val="33333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 </a:t>
            </a:r>
          </a:p>
          <a:p>
            <a:pPr eaLnBrk="0" hangingPunct="0"/>
            <a:r>
              <a:rPr lang="ru-RU" altLang="ru-RU" sz="1800" b="1" dirty="0" err="1">
                <a:solidFill>
                  <a:srgbClr val="00702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grid</a:t>
            </a:r>
            <a:r>
              <a:rPr lang="ru-RU" altLang="ru-RU" sz="1800" dirty="0">
                <a:solidFill>
                  <a:srgbClr val="33333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ru-RU" altLang="ru-RU" sz="1800" dirty="0">
                <a:solidFill>
                  <a:srgbClr val="40A07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10</a:t>
            </a:r>
            <a:r>
              <a:rPr lang="ru-RU" altLang="ru-RU" sz="1800" dirty="0">
                <a:solidFill>
                  <a:srgbClr val="33333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ru-RU" altLang="ru-RU" sz="1800" dirty="0">
                <a:solidFill>
                  <a:srgbClr val="40A07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5</a:t>
            </a:r>
            <a:r>
              <a:rPr lang="ru-RU" altLang="ru-RU" sz="1800" dirty="0">
                <a:solidFill>
                  <a:srgbClr val="33333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  <a:r>
              <a:rPr lang="ru-RU" altLang="ru-RU" sz="1800" dirty="0"/>
              <a:t> </a:t>
            </a:r>
          </a:p>
        </p:txBody>
      </p:sp>
      <p:pic>
        <p:nvPicPr>
          <p:cNvPr id="6147" name="Picture 3" descr="https://tsamsonov.github.io/r-geo-course/r-geo-course_files/figure-html/unnamed-chunk-255-1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10765" y="2811563"/>
            <a:ext cx="5246720" cy="37476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2B6C0E-C4B9-4094-8E59-5B7DF00D5415}" type="slidenum">
              <a:rPr lang="ru-RU" smtClean="0">
                <a:solidFill>
                  <a:schemeClr val="tx1"/>
                </a:solidFill>
              </a:rPr>
              <a:t>55</a:t>
            </a:fld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5" name="Овал 4"/>
          <p:cNvSpPr/>
          <p:nvPr/>
        </p:nvSpPr>
        <p:spPr>
          <a:xfrm>
            <a:off x="2589709" y="2406668"/>
            <a:ext cx="1872208" cy="328539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974681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AutoShape 2">
            <a:extLst>
              <a:ext uri="{FF2B5EF4-FFF2-40B4-BE49-F238E27FC236}">
                <a16:creationId xmlns:a16="http://schemas.microsoft.com/office/drawing/2014/main" id="{0D7371EC-464D-4CE2-8CF4-105E48AD64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9469" y="322263"/>
            <a:ext cx="11809311" cy="6553249"/>
          </a:xfrm>
          <a:prstGeom prst="roundRect">
            <a:avLst>
              <a:gd name="adj" fmla="val 16667"/>
            </a:avLst>
          </a:prstGeom>
          <a:solidFill>
            <a:schemeClr val="bg1">
              <a:alpha val="50000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9441" tIns="49721" rIns="99441" bIns="49721" anchor="ctr"/>
          <a:lstStyle>
            <a:lvl1pPr defTabSz="99377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1177925" defTabSz="99377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373188" defTabSz="99377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66863" defTabSz="99377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89138" defTabSz="99377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46338" defTabSz="9937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03538" defTabSz="9937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60738" defTabSz="9937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17938" defTabSz="9937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ru-RU" altLang="ru-RU" sz="3500">
              <a:solidFill>
                <a:schemeClr val="bg1"/>
              </a:solidFill>
            </a:endParaRPr>
          </a:p>
        </p:txBody>
      </p:sp>
      <p:sp>
        <p:nvSpPr>
          <p:cNvPr id="12" name="Скругленный прямоугольник 8">
            <a:extLst>
              <a:ext uri="{FF2B5EF4-FFF2-40B4-BE49-F238E27FC236}">
                <a16:creationId xmlns:a16="http://schemas.microsoft.com/office/drawing/2014/main" id="{DFAE0C91-1B10-4255-A44F-7BC32ECCB237}"/>
              </a:ext>
            </a:extLst>
          </p:cNvPr>
          <p:cNvSpPr/>
          <p:nvPr/>
        </p:nvSpPr>
        <p:spPr bwMode="auto">
          <a:xfrm>
            <a:off x="717501" y="898848"/>
            <a:ext cx="11089232" cy="5795481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  <a:headEnd type="none" w="med" len="med"/>
            <a:tailEnd type="none" w="med" len="med"/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defTabSz="993775"/>
            <a:endParaRPr lang="ru-RU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AutoShape 5"/>
          <p:cNvSpPr>
            <a:spLocks noChangeArrowheads="1"/>
          </p:cNvSpPr>
          <p:nvPr/>
        </p:nvSpPr>
        <p:spPr bwMode="auto">
          <a:xfrm>
            <a:off x="2085977" y="469900"/>
            <a:ext cx="8351837" cy="665683"/>
          </a:xfrm>
          <a:prstGeom prst="roundRect">
            <a:avLst>
              <a:gd name="adj" fmla="val 16667"/>
            </a:avLst>
          </a:prstGeom>
          <a:solidFill>
            <a:srgbClr val="FFFFFF">
              <a:alpha val="78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9441" tIns="49721" rIns="99441" bIns="49721" anchor="ctr"/>
          <a:lstStyle>
            <a:lvl1pPr defTabSz="99377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1177925" defTabSz="99377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373188" defTabSz="99377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66863" defTabSz="99377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89138" defTabSz="99377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46338" defTabSz="9937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03538" defTabSz="9937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60738" defTabSz="9937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17938" defTabSz="9937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ru-RU" altLang="ru-RU" sz="3500">
              <a:solidFill>
                <a:schemeClr val="bg1"/>
              </a:solidFill>
            </a:endParaRPr>
          </a:p>
        </p:txBody>
      </p: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2085977" y="3618466"/>
            <a:ext cx="3456061" cy="1231106"/>
          </a:xfrm>
          <a:prstGeom prst="rect">
            <a:avLst/>
          </a:prstGeom>
          <a:solidFill>
            <a:srgbClr val="F7F7F7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eaLnBrk="0" hangingPunct="0"/>
            <a:r>
              <a:rPr lang="ru-RU" altLang="ru-RU" b="1" dirty="0" err="1">
                <a:solidFill>
                  <a:srgbClr val="00702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text</a:t>
            </a:r>
            <a:r>
              <a:rPr lang="ru-RU" altLang="ru-RU" dirty="0">
                <a:solidFill>
                  <a:srgbClr val="33333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ru-RU" altLang="ru-RU" dirty="0" err="1">
                <a:solidFill>
                  <a:srgbClr val="33333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tab</a:t>
            </a:r>
            <a:r>
              <a:rPr lang="ru-RU" altLang="ru-RU" dirty="0" err="1">
                <a:solidFill>
                  <a:srgbClr val="66666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$</a:t>
            </a:r>
            <a:r>
              <a:rPr lang="ru-RU" altLang="ru-RU" dirty="0" err="1">
                <a:solidFill>
                  <a:srgbClr val="33333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Год</a:t>
            </a:r>
            <a:r>
              <a:rPr lang="ru-RU" altLang="ru-RU" dirty="0">
                <a:solidFill>
                  <a:srgbClr val="33333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ru-RU" altLang="ru-RU" dirty="0" err="1">
                <a:solidFill>
                  <a:srgbClr val="33333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tab</a:t>
            </a:r>
            <a:r>
              <a:rPr lang="ru-RU" altLang="ru-RU" dirty="0" err="1">
                <a:solidFill>
                  <a:srgbClr val="66666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$</a:t>
            </a:r>
            <a:r>
              <a:rPr lang="ru-RU" altLang="ru-RU" dirty="0" err="1">
                <a:solidFill>
                  <a:srgbClr val="33333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Каспийское</a:t>
            </a:r>
            <a:r>
              <a:rPr lang="ru-RU" altLang="ru-RU" dirty="0">
                <a:solidFill>
                  <a:srgbClr val="33333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</a:p>
          <a:p>
            <a:pPr eaLnBrk="0" hangingPunct="0"/>
            <a:r>
              <a:rPr lang="ru-RU" altLang="ru-RU" dirty="0" err="1">
                <a:solidFill>
                  <a:srgbClr val="902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labels</a:t>
            </a:r>
            <a:r>
              <a:rPr lang="ru-RU" altLang="ru-RU" dirty="0">
                <a:solidFill>
                  <a:srgbClr val="902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</a:t>
            </a:r>
            <a:r>
              <a:rPr lang="ru-RU" altLang="ru-RU" dirty="0">
                <a:solidFill>
                  <a:srgbClr val="33333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ru-RU" altLang="ru-RU" dirty="0" err="1">
                <a:solidFill>
                  <a:srgbClr val="33333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tab</a:t>
            </a:r>
            <a:r>
              <a:rPr lang="ru-RU" altLang="ru-RU" dirty="0" err="1">
                <a:solidFill>
                  <a:srgbClr val="66666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$</a:t>
            </a:r>
            <a:r>
              <a:rPr lang="ru-RU" altLang="ru-RU" dirty="0" err="1">
                <a:solidFill>
                  <a:srgbClr val="33333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Каспийское</a:t>
            </a:r>
            <a:r>
              <a:rPr lang="ru-RU" altLang="ru-RU" dirty="0">
                <a:solidFill>
                  <a:srgbClr val="33333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ru-RU" altLang="ru-RU" dirty="0" err="1">
                <a:solidFill>
                  <a:srgbClr val="902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cex</a:t>
            </a:r>
            <a:r>
              <a:rPr lang="ru-RU" altLang="ru-RU" dirty="0">
                <a:solidFill>
                  <a:srgbClr val="902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</a:t>
            </a:r>
            <a:r>
              <a:rPr lang="ru-RU" altLang="ru-RU" dirty="0">
                <a:solidFill>
                  <a:srgbClr val="33333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ru-RU" altLang="ru-RU" dirty="0">
                <a:solidFill>
                  <a:srgbClr val="40A07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0.75</a:t>
            </a:r>
            <a:r>
              <a:rPr lang="ru-RU" altLang="ru-RU" dirty="0">
                <a:solidFill>
                  <a:srgbClr val="33333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ru-RU" altLang="ru-RU" dirty="0" err="1">
                <a:solidFill>
                  <a:srgbClr val="902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pos</a:t>
            </a:r>
            <a:r>
              <a:rPr lang="ru-RU" altLang="ru-RU" dirty="0">
                <a:solidFill>
                  <a:srgbClr val="902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</a:t>
            </a:r>
            <a:r>
              <a:rPr lang="ru-RU" altLang="ru-RU" dirty="0">
                <a:solidFill>
                  <a:srgbClr val="33333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ru-RU" altLang="ru-RU" dirty="0">
                <a:solidFill>
                  <a:srgbClr val="40A07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3</a:t>
            </a:r>
            <a:r>
              <a:rPr lang="ru-RU" altLang="ru-RU" dirty="0">
                <a:solidFill>
                  <a:srgbClr val="33333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  <a:r>
              <a:rPr lang="ru-RU" altLang="ru-RU" dirty="0"/>
              <a:t> </a:t>
            </a:r>
          </a:p>
        </p:txBody>
      </p:sp>
      <p:pic>
        <p:nvPicPr>
          <p:cNvPr id="7172" name="Picture 4" descr="https://tsamsonov.github.io/r-geo-course/r-geo-course_files/figure-html/unnamed-chunk-256-1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02078" y="3148855"/>
            <a:ext cx="4937728" cy="33073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1077541" y="1394650"/>
            <a:ext cx="10513168" cy="19061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348060" indent="-348060">
              <a:lnSpc>
                <a:spcPct val="85000"/>
              </a:lnSpc>
              <a:spcBef>
                <a:spcPct val="25000"/>
              </a:spcBef>
              <a:buClr>
                <a:srgbClr val="F4BE96"/>
              </a:buClr>
              <a:buSzPct val="80000"/>
              <a:buBlip>
                <a:blip r:embed="rId3"/>
              </a:buBlip>
            </a:pPr>
            <a:r>
              <a:rPr lang="ru-RU" altLang="ru-RU" sz="2200" b="1" i="1" dirty="0">
                <a:latin typeface="+mn-lt"/>
              </a:rPr>
              <a:t>Аннотации данных </a:t>
            </a:r>
            <a:r>
              <a:rPr lang="ru-RU" altLang="ru-RU" sz="2200" dirty="0">
                <a:latin typeface="+mn-lt"/>
              </a:rPr>
              <a:t>добавляются на график с помощью функции </a:t>
            </a:r>
            <a:r>
              <a:rPr lang="ru-RU" altLang="ru-RU" sz="2200" b="1" i="1" dirty="0" err="1">
                <a:solidFill>
                  <a:srgbClr val="0070C0"/>
                </a:solidFill>
                <a:latin typeface="+mn-lt"/>
              </a:rPr>
              <a:t>text</a:t>
            </a:r>
            <a:r>
              <a:rPr lang="ru-RU" altLang="ru-RU" sz="2200" b="1" i="1" dirty="0">
                <a:solidFill>
                  <a:srgbClr val="0070C0"/>
                </a:solidFill>
                <a:latin typeface="+mn-lt"/>
              </a:rPr>
              <a:t>(). </a:t>
            </a:r>
          </a:p>
          <a:p>
            <a:pPr marL="348060" indent="-348060">
              <a:lnSpc>
                <a:spcPct val="85000"/>
              </a:lnSpc>
              <a:spcBef>
                <a:spcPct val="25000"/>
              </a:spcBef>
              <a:buClr>
                <a:srgbClr val="F4BE96"/>
              </a:buClr>
              <a:buSzPct val="80000"/>
              <a:buBlip>
                <a:blip r:embed="rId3"/>
              </a:buBlip>
            </a:pPr>
            <a:r>
              <a:rPr lang="ru-RU" altLang="ru-RU" sz="2200" dirty="0">
                <a:latin typeface="+mn-lt"/>
              </a:rPr>
              <a:t>В качестве трех обязательных аргументов ей необходимо передать координаты точек размещения текста, и вектор подписей. Также полезным будет указать параметр </a:t>
            </a:r>
            <a:r>
              <a:rPr lang="ru-RU" altLang="ru-RU" sz="2200" dirty="0" err="1">
                <a:latin typeface="+mn-lt"/>
              </a:rPr>
              <a:t>pos</a:t>
            </a:r>
            <a:r>
              <a:rPr lang="ru-RU" altLang="ru-RU" sz="2200" dirty="0">
                <a:latin typeface="+mn-lt"/>
              </a:rPr>
              <a:t>=, отвечающий за размещение аннотации относительно точки. Значения </a:t>
            </a:r>
            <a:r>
              <a:rPr lang="ru-RU" altLang="ru-RU" sz="2200" dirty="0" err="1">
                <a:latin typeface="+mn-lt"/>
              </a:rPr>
              <a:t>pos</a:t>
            </a:r>
            <a:r>
              <a:rPr lang="ru-RU" altLang="ru-RU" sz="2200" dirty="0">
                <a:latin typeface="+mn-lt"/>
              </a:rPr>
              <a:t>, равные 1, 2, 3 и 4, соответствуют размещению снизу, слева, сверху и справа от точки: </a:t>
            </a:r>
          </a:p>
        </p:txBody>
      </p:sp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2B6C0E-C4B9-4094-8E59-5B7DF00D5415}" type="slidenum">
              <a:rPr lang="ru-RU" smtClean="0"/>
              <a:t>56</a:t>
            </a:fld>
            <a:endParaRPr lang="ru-RU"/>
          </a:p>
        </p:txBody>
      </p:sp>
      <p:sp>
        <p:nvSpPr>
          <p:cNvPr id="13" name="Заголовок 1"/>
          <p:cNvSpPr>
            <a:spLocks noGrp="1"/>
          </p:cNvSpPr>
          <p:nvPr>
            <p:ph type="title"/>
          </p:nvPr>
        </p:nvSpPr>
        <p:spPr>
          <a:xfrm>
            <a:off x="2013645" y="230676"/>
            <a:ext cx="8503820" cy="812188"/>
          </a:xfrm>
        </p:spPr>
        <p:txBody>
          <a:bodyPr>
            <a:noAutofit/>
          </a:bodyPr>
          <a:lstStyle/>
          <a:p>
            <a:pPr>
              <a:lnSpc>
                <a:spcPts val="4400"/>
              </a:lnSpc>
              <a:defRPr/>
            </a:pPr>
            <a:r>
              <a:rPr lang="ru-RU" sz="3600" dirty="0"/>
              <a:t>Оформление графического вывода в </a:t>
            </a:r>
            <a:r>
              <a:rPr lang="en-US" sz="3600" dirty="0"/>
              <a:t>R</a:t>
            </a:r>
            <a:endParaRPr lang="ru-RU" sz="3600" dirty="0"/>
          </a:p>
        </p:txBody>
      </p:sp>
    </p:spTree>
    <p:extLst>
      <p:ext uri="{BB962C8B-B14F-4D97-AF65-F5344CB8AC3E}">
        <p14:creationId xmlns:p14="http://schemas.microsoft.com/office/powerpoint/2010/main" val="35099264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AutoShape 2">
            <a:extLst>
              <a:ext uri="{FF2B5EF4-FFF2-40B4-BE49-F238E27FC236}">
                <a16:creationId xmlns:a16="http://schemas.microsoft.com/office/drawing/2014/main" id="{BC6A9972-D136-4EEA-B81B-6D5D1F82E0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9469" y="322263"/>
            <a:ext cx="11809311" cy="6553249"/>
          </a:xfrm>
          <a:prstGeom prst="roundRect">
            <a:avLst>
              <a:gd name="adj" fmla="val 16667"/>
            </a:avLst>
          </a:prstGeom>
          <a:solidFill>
            <a:schemeClr val="bg1">
              <a:alpha val="50000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9441" tIns="49721" rIns="99441" bIns="49721" anchor="ctr"/>
          <a:lstStyle>
            <a:lvl1pPr defTabSz="99377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1177925" defTabSz="99377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373188" defTabSz="99377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66863" defTabSz="99377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89138" defTabSz="99377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46338" defTabSz="9937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03538" defTabSz="9937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60738" defTabSz="9937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17938" defTabSz="9937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ru-RU" altLang="ru-RU" sz="3500">
              <a:solidFill>
                <a:schemeClr val="bg1"/>
              </a:solidFill>
            </a:endParaRPr>
          </a:p>
        </p:txBody>
      </p:sp>
      <p:sp>
        <p:nvSpPr>
          <p:cNvPr id="12" name="Скругленный прямоугольник 8">
            <a:extLst>
              <a:ext uri="{FF2B5EF4-FFF2-40B4-BE49-F238E27FC236}">
                <a16:creationId xmlns:a16="http://schemas.microsoft.com/office/drawing/2014/main" id="{52F04C51-C243-4A47-AAD1-7D260C5D6154}"/>
              </a:ext>
            </a:extLst>
          </p:cNvPr>
          <p:cNvSpPr/>
          <p:nvPr/>
        </p:nvSpPr>
        <p:spPr bwMode="auto">
          <a:xfrm>
            <a:off x="1077541" y="1167018"/>
            <a:ext cx="10729192" cy="5527311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  <a:headEnd type="none" w="med" len="med"/>
            <a:tailEnd type="none" w="med" len="med"/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defTabSz="993775"/>
            <a:endParaRPr lang="ru-RU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AutoShape 5"/>
          <p:cNvSpPr>
            <a:spLocks noChangeArrowheads="1"/>
          </p:cNvSpPr>
          <p:nvPr/>
        </p:nvSpPr>
        <p:spPr bwMode="auto">
          <a:xfrm>
            <a:off x="2085977" y="469900"/>
            <a:ext cx="8351837" cy="665683"/>
          </a:xfrm>
          <a:prstGeom prst="roundRect">
            <a:avLst>
              <a:gd name="adj" fmla="val 16667"/>
            </a:avLst>
          </a:prstGeom>
          <a:solidFill>
            <a:srgbClr val="FFFFFF">
              <a:alpha val="78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9441" tIns="49721" rIns="99441" bIns="49721" anchor="ctr"/>
          <a:lstStyle>
            <a:lvl1pPr defTabSz="99377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1177925" defTabSz="99377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373188" defTabSz="99377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66863" defTabSz="99377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89138" defTabSz="99377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46338" defTabSz="9937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03538" defTabSz="9937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60738" defTabSz="9937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17938" defTabSz="9937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ru-RU" altLang="ru-RU" sz="3500">
              <a:solidFill>
                <a:schemeClr val="bg1"/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2033488" y="1397328"/>
            <a:ext cx="6361282" cy="550443"/>
          </a:xfrm>
        </p:spPr>
        <p:txBody>
          <a:bodyPr/>
          <a:lstStyle/>
          <a:p>
            <a:pPr marL="0" indent="0">
              <a:buNone/>
              <a:defRPr/>
            </a:pPr>
            <a:r>
              <a:rPr lang="ru-RU" sz="2800" b="1" dirty="0"/>
              <a:t>Линейные графики</a:t>
            </a:r>
            <a:r>
              <a:rPr lang="en-US" sz="2800" b="1" dirty="0"/>
              <a:t> (</a:t>
            </a:r>
            <a:r>
              <a:rPr lang="ru-RU" sz="2800" b="1" dirty="0"/>
              <a:t>совмещение</a:t>
            </a:r>
            <a:r>
              <a:rPr lang="en-US" sz="2800" b="1" dirty="0"/>
              <a:t>)</a:t>
            </a:r>
            <a:endParaRPr lang="ru-RU" sz="2800" b="1" dirty="0"/>
          </a:p>
          <a:p>
            <a:pPr marL="0" indent="0">
              <a:buNone/>
              <a:defRPr/>
            </a:pPr>
            <a:endParaRPr lang="ru-RU" sz="2800" dirty="0"/>
          </a:p>
        </p:txBody>
      </p:sp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1715587" y="2246234"/>
            <a:ext cx="9092615" cy="41744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348060" indent="-348060">
              <a:lnSpc>
                <a:spcPct val="85000"/>
              </a:lnSpc>
              <a:spcBef>
                <a:spcPct val="25000"/>
              </a:spcBef>
              <a:buClr>
                <a:srgbClr val="F4BE96"/>
              </a:buClr>
              <a:buSzPct val="80000"/>
              <a:buBlip>
                <a:blip r:embed="rId2"/>
              </a:buBlip>
              <a:defRPr/>
            </a:pPr>
            <a:r>
              <a:rPr lang="ru-RU" altLang="ru-RU" sz="2200" dirty="0">
                <a:latin typeface="+mn-lt"/>
              </a:rPr>
              <a:t>Часто бывает необходимо совместить на одном графике несколько рядов данных. Для этого можно поступить двумя путями:</a:t>
            </a:r>
          </a:p>
          <a:p>
            <a:pPr marL="348060" indent="-348060">
              <a:lnSpc>
                <a:spcPct val="85000"/>
              </a:lnSpc>
              <a:spcBef>
                <a:spcPct val="25000"/>
              </a:spcBef>
              <a:buClr>
                <a:srgbClr val="F4BE96"/>
              </a:buClr>
              <a:buSzPct val="80000"/>
              <a:buBlip>
                <a:blip r:embed="rId2"/>
              </a:buBlip>
              <a:defRPr/>
            </a:pPr>
            <a:r>
              <a:rPr lang="ru-RU" altLang="ru-RU" sz="2200" dirty="0">
                <a:latin typeface="+mn-lt"/>
              </a:rPr>
              <a:t>Нарисовать один ряд данных c помощью функции </a:t>
            </a:r>
            <a:r>
              <a:rPr lang="ru-RU" altLang="ru-RU" sz="2200" b="1" i="1" dirty="0">
                <a:solidFill>
                  <a:schemeClr val="accent1"/>
                </a:solidFill>
                <a:latin typeface="+mn-lt"/>
              </a:rPr>
              <a:t>plot()</a:t>
            </a:r>
            <a:r>
              <a:rPr lang="ru-RU" altLang="ru-RU" sz="2200" i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, </a:t>
            </a:r>
            <a:r>
              <a:rPr lang="ru-RU" altLang="ru-RU" sz="2200" dirty="0">
                <a:latin typeface="+mn-lt"/>
              </a:rPr>
              <a:t>а затем добавить к нему другие ряды с помощью функций </a:t>
            </a:r>
            <a:r>
              <a:rPr lang="ru-RU" altLang="ru-RU" sz="2200" b="1" i="1" dirty="0" err="1">
                <a:solidFill>
                  <a:schemeClr val="accent1"/>
                </a:solidFill>
                <a:latin typeface="+mn-lt"/>
              </a:rPr>
              <a:t>points</a:t>
            </a:r>
            <a:r>
              <a:rPr lang="ru-RU" altLang="ru-RU" sz="2200" i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() и </a:t>
            </a:r>
            <a:r>
              <a:rPr lang="ru-RU" altLang="ru-RU" sz="2200" b="1" i="1" dirty="0" err="1">
                <a:solidFill>
                  <a:schemeClr val="accent1"/>
                </a:solidFill>
                <a:latin typeface="+mn-lt"/>
              </a:rPr>
              <a:t>lines</a:t>
            </a:r>
            <a:r>
              <a:rPr lang="ru-RU" altLang="ru-RU" sz="2200" i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().</a:t>
            </a:r>
          </a:p>
          <a:p>
            <a:pPr marL="348060" indent="-348060">
              <a:lnSpc>
                <a:spcPct val="85000"/>
              </a:lnSpc>
              <a:spcBef>
                <a:spcPct val="25000"/>
              </a:spcBef>
              <a:buClr>
                <a:srgbClr val="F4BE96"/>
              </a:buClr>
              <a:buSzPct val="80000"/>
              <a:buBlip>
                <a:blip r:embed="rId2"/>
              </a:buBlip>
              <a:defRPr/>
            </a:pPr>
            <a:r>
              <a:rPr lang="ru-RU" altLang="ru-RU" sz="2200" dirty="0">
                <a:latin typeface="+mn-lt"/>
              </a:rPr>
              <a:t>Нарисовать пустой график, а затем добавить к нему все ряды данных с помощью функций </a:t>
            </a:r>
            <a:r>
              <a:rPr lang="ru-RU" altLang="ru-RU" sz="2200" b="1" i="1" dirty="0" err="1">
                <a:solidFill>
                  <a:schemeClr val="accent1"/>
                </a:solidFill>
                <a:latin typeface="+mn-lt"/>
              </a:rPr>
              <a:t>points</a:t>
            </a:r>
            <a:r>
              <a:rPr lang="ru-RU" altLang="ru-RU" sz="2200" i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() и </a:t>
            </a:r>
            <a:r>
              <a:rPr lang="ru-RU" altLang="ru-RU" sz="2200" b="1" i="1" dirty="0" err="1">
                <a:solidFill>
                  <a:schemeClr val="accent1"/>
                </a:solidFill>
                <a:latin typeface="+mn-lt"/>
              </a:rPr>
              <a:t>lines</a:t>
            </a:r>
            <a:r>
              <a:rPr lang="ru-RU" altLang="ru-RU" sz="2200" i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().</a:t>
            </a:r>
            <a:endParaRPr lang="en-US" altLang="ru-RU" sz="2200" i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pPr eaLnBrk="1" hangingPunct="1">
              <a:lnSpc>
                <a:spcPct val="85000"/>
              </a:lnSpc>
              <a:spcBef>
                <a:spcPct val="25000"/>
              </a:spcBef>
              <a:buClr>
                <a:srgbClr val="F4BE96"/>
              </a:buClr>
              <a:buSzPct val="80000"/>
              <a:defRPr/>
            </a:pPr>
            <a:endParaRPr lang="ru-RU" altLang="ru-RU" sz="2200" i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pPr marL="823137" lvl="1" indent="-348060">
              <a:lnSpc>
                <a:spcPct val="85000"/>
              </a:lnSpc>
              <a:spcBef>
                <a:spcPct val="25000"/>
              </a:spcBef>
              <a:buClr>
                <a:srgbClr val="F4BE96"/>
              </a:buClr>
              <a:buSzPct val="80000"/>
              <a:buBlip>
                <a:blip r:embed="rId2"/>
              </a:buBlip>
              <a:defRPr/>
            </a:pPr>
            <a:r>
              <a:rPr lang="ru-RU" altLang="ru-RU" sz="2200" i="1" dirty="0">
                <a:latin typeface="+mn-lt"/>
              </a:rPr>
              <a:t>При совмещении нескольких рядов данных на одном графике в первом же вызове функции </a:t>
            </a:r>
            <a:r>
              <a:rPr lang="ru-RU" altLang="ru-RU" sz="2200" i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plot() </a:t>
            </a:r>
            <a:r>
              <a:rPr lang="ru-RU" altLang="ru-RU" sz="2200" i="1" dirty="0">
                <a:latin typeface="+mn-lt"/>
              </a:rPr>
              <a:t>необходимо заложить диапазон значений по осям X</a:t>
            </a:r>
            <a:r>
              <a:rPr lang="en-US" altLang="ru-RU" sz="2200" i="1" dirty="0">
                <a:latin typeface="+mn-lt"/>
              </a:rPr>
              <a:t> </a:t>
            </a:r>
            <a:r>
              <a:rPr lang="ru-RU" altLang="ru-RU" sz="2200" i="1" dirty="0">
                <a:latin typeface="+mn-lt"/>
              </a:rPr>
              <a:t>и Y, охватывающий все ряды данных. В противном случае будет учтен только разброс значений первого ряда данных, и остальные ряды могут не поместиться в поле графика. </a:t>
            </a:r>
          </a:p>
        </p:txBody>
      </p:sp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2B6C0E-C4B9-4094-8E59-5B7DF00D5415}" type="slidenum">
              <a:rPr lang="ru-RU" smtClean="0">
                <a:solidFill>
                  <a:schemeClr val="tx1"/>
                </a:solidFill>
              </a:rPr>
              <a:t>57</a:t>
            </a:fld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10" name="Заголовок 1"/>
          <p:cNvSpPr>
            <a:spLocks noGrp="1"/>
          </p:cNvSpPr>
          <p:nvPr>
            <p:ph type="title"/>
          </p:nvPr>
        </p:nvSpPr>
        <p:spPr>
          <a:xfrm>
            <a:off x="2013645" y="230676"/>
            <a:ext cx="8503820" cy="812188"/>
          </a:xfrm>
        </p:spPr>
        <p:txBody>
          <a:bodyPr>
            <a:noAutofit/>
          </a:bodyPr>
          <a:lstStyle/>
          <a:p>
            <a:pPr>
              <a:lnSpc>
                <a:spcPts val="4400"/>
              </a:lnSpc>
              <a:defRPr/>
            </a:pPr>
            <a:r>
              <a:rPr lang="ru-RU" sz="3600" dirty="0"/>
              <a:t>Оформление графического вывода в </a:t>
            </a:r>
            <a:r>
              <a:rPr lang="en-US" sz="3600" dirty="0"/>
              <a:t>R</a:t>
            </a:r>
            <a:endParaRPr lang="ru-RU" sz="3600" dirty="0"/>
          </a:p>
        </p:txBody>
      </p:sp>
    </p:spTree>
    <p:extLst>
      <p:ext uri="{BB962C8B-B14F-4D97-AF65-F5344CB8AC3E}">
        <p14:creationId xmlns:p14="http://schemas.microsoft.com/office/powerpoint/2010/main" val="12463756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AutoShape 2">
            <a:extLst>
              <a:ext uri="{FF2B5EF4-FFF2-40B4-BE49-F238E27FC236}">
                <a16:creationId xmlns:a16="http://schemas.microsoft.com/office/drawing/2014/main" id="{0F76B497-4F0A-48C6-A455-D6DB11E282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9469" y="322263"/>
            <a:ext cx="11809311" cy="6553249"/>
          </a:xfrm>
          <a:prstGeom prst="roundRect">
            <a:avLst>
              <a:gd name="adj" fmla="val 16667"/>
            </a:avLst>
          </a:prstGeom>
          <a:solidFill>
            <a:schemeClr val="bg1">
              <a:alpha val="50000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9441" tIns="49721" rIns="99441" bIns="49721" anchor="ctr"/>
          <a:lstStyle>
            <a:lvl1pPr defTabSz="99377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1177925" defTabSz="99377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373188" defTabSz="99377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66863" defTabSz="99377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89138" defTabSz="99377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46338" defTabSz="9937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03538" defTabSz="9937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60738" defTabSz="9937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17938" defTabSz="9937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ru-RU" altLang="ru-RU" sz="3500">
              <a:solidFill>
                <a:schemeClr val="bg1"/>
              </a:solidFill>
            </a:endParaRPr>
          </a:p>
        </p:txBody>
      </p:sp>
      <p:sp>
        <p:nvSpPr>
          <p:cNvPr id="16" name="Скругленный прямоугольник 8">
            <a:extLst>
              <a:ext uri="{FF2B5EF4-FFF2-40B4-BE49-F238E27FC236}">
                <a16:creationId xmlns:a16="http://schemas.microsoft.com/office/drawing/2014/main" id="{F7E85AF0-2406-496A-B27A-EF18C9B0ABB2}"/>
              </a:ext>
            </a:extLst>
          </p:cNvPr>
          <p:cNvSpPr/>
          <p:nvPr/>
        </p:nvSpPr>
        <p:spPr bwMode="auto">
          <a:xfrm>
            <a:off x="1077541" y="1167018"/>
            <a:ext cx="10729192" cy="5527311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  <a:headEnd type="none" w="med" len="med"/>
            <a:tailEnd type="none" w="med" len="med"/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defTabSz="993775"/>
            <a:endParaRPr lang="ru-RU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AutoShape 5"/>
          <p:cNvSpPr>
            <a:spLocks noChangeArrowheads="1"/>
          </p:cNvSpPr>
          <p:nvPr/>
        </p:nvSpPr>
        <p:spPr bwMode="auto">
          <a:xfrm>
            <a:off x="2085977" y="469900"/>
            <a:ext cx="8351837" cy="665683"/>
          </a:xfrm>
          <a:prstGeom prst="roundRect">
            <a:avLst>
              <a:gd name="adj" fmla="val 16667"/>
            </a:avLst>
          </a:prstGeom>
          <a:solidFill>
            <a:srgbClr val="FFFFFF">
              <a:alpha val="78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9441" tIns="49721" rIns="99441" bIns="49721" anchor="ctr"/>
          <a:lstStyle>
            <a:lvl1pPr defTabSz="99377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1177925" defTabSz="99377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373188" defTabSz="99377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66863" defTabSz="99377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89138" defTabSz="99377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46338" defTabSz="9937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03538" defTabSz="9937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60738" defTabSz="9937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17938" defTabSz="9937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ru-RU" altLang="ru-RU" sz="3500">
              <a:solidFill>
                <a:schemeClr val="bg1"/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2109491" y="1287472"/>
            <a:ext cx="7141486" cy="523827"/>
          </a:xfrm>
        </p:spPr>
        <p:txBody>
          <a:bodyPr/>
          <a:lstStyle/>
          <a:p>
            <a:pPr marL="0" indent="0">
              <a:buNone/>
              <a:defRPr/>
            </a:pPr>
            <a:r>
              <a:rPr lang="ru-RU" sz="2800" b="1" dirty="0"/>
              <a:t>Линейные графики</a:t>
            </a:r>
            <a:r>
              <a:rPr lang="en-US" sz="2800" b="1" dirty="0"/>
              <a:t> (</a:t>
            </a:r>
            <a:r>
              <a:rPr lang="ru-RU" sz="2800" b="1" dirty="0"/>
              <a:t>совмещение</a:t>
            </a:r>
            <a:r>
              <a:rPr lang="en-US" sz="2800" b="1" dirty="0"/>
              <a:t>)</a:t>
            </a:r>
            <a:endParaRPr lang="ru-RU" sz="2800" b="1" dirty="0"/>
          </a:p>
          <a:p>
            <a:pPr marL="0" indent="0">
              <a:buNone/>
              <a:defRPr/>
            </a:pPr>
            <a:endParaRPr lang="ru-RU" sz="2800" dirty="0"/>
          </a:p>
        </p:txBody>
      </p:sp>
      <p:pic>
        <p:nvPicPr>
          <p:cNvPr id="95236" name="Рисунок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21919" y="1840489"/>
            <a:ext cx="8271742" cy="730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5237" name="Rectangle 1"/>
          <p:cNvSpPr>
            <a:spLocks noChangeArrowheads="1"/>
          </p:cNvSpPr>
          <p:nvPr/>
        </p:nvSpPr>
        <p:spPr bwMode="auto">
          <a:xfrm>
            <a:off x="1889526" y="2510645"/>
            <a:ext cx="9055844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>
              <a:defRPr b="1">
                <a:solidFill>
                  <a:schemeClr val="tx1"/>
                </a:solidFill>
                <a:latin typeface="Segoe Semibold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Segoe Semibold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Segoe Semibold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Segoe Semibold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Segoe Semibold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Segoe Semibold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Segoe Semibold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Segoe Semibold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Segoe Semibold" charset="0"/>
              </a:defRPr>
            </a:lvl9pPr>
          </a:lstStyle>
          <a:p>
            <a:r>
              <a:rPr lang="ru-RU" altLang="ru-RU" sz="1400" b="0" dirty="0">
                <a:latin typeface="Arial" panose="020B0604020202020204" pitchFamily="34" charset="0"/>
              </a:rPr>
              <a:t># Построим пустой график, охватывающий полный диапазон данных, и имеющий все необходимые сопроводительные элементы:</a:t>
            </a:r>
            <a:endParaRPr lang="ru-RU" altLang="ru-RU" sz="3200" b="0" dirty="0">
              <a:latin typeface="Arial" panose="020B0604020202020204" pitchFamily="34" charset="0"/>
            </a:endParaRPr>
          </a:p>
        </p:txBody>
      </p:sp>
      <p:pic>
        <p:nvPicPr>
          <p:cNvPr id="95238" name="Рисунок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3671" y="2994065"/>
            <a:ext cx="5153022" cy="15856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5239" name="Рисунок 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2236" y="4579745"/>
            <a:ext cx="4899323" cy="22154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5240" name="Рисунок 9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58302" y="3836980"/>
            <a:ext cx="3777592" cy="26822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2B6C0E-C4B9-4094-8E59-5B7DF00D5415}" type="slidenum">
              <a:rPr lang="ru-RU" sz="1200">
                <a:solidFill>
                  <a:schemeClr val="tx1"/>
                </a:solidFill>
              </a:rPr>
              <a:t>58</a:t>
            </a:fld>
            <a:endParaRPr lang="ru-RU" sz="1200" dirty="0">
              <a:solidFill>
                <a:schemeClr val="tx1"/>
              </a:solidFill>
            </a:endParaRPr>
          </a:p>
        </p:txBody>
      </p:sp>
      <p:sp>
        <p:nvSpPr>
          <p:cNvPr id="14" name="Заголовок 1"/>
          <p:cNvSpPr>
            <a:spLocks noGrp="1"/>
          </p:cNvSpPr>
          <p:nvPr>
            <p:ph type="title"/>
          </p:nvPr>
        </p:nvSpPr>
        <p:spPr>
          <a:xfrm>
            <a:off x="2013645" y="230676"/>
            <a:ext cx="8503820" cy="812188"/>
          </a:xfrm>
        </p:spPr>
        <p:txBody>
          <a:bodyPr>
            <a:noAutofit/>
          </a:bodyPr>
          <a:lstStyle/>
          <a:p>
            <a:pPr>
              <a:lnSpc>
                <a:spcPts val="4400"/>
              </a:lnSpc>
              <a:defRPr/>
            </a:pPr>
            <a:r>
              <a:rPr lang="ru-RU" sz="3600" dirty="0"/>
              <a:t>Оформление графического вывода в </a:t>
            </a:r>
            <a:r>
              <a:rPr lang="en-US" sz="3600" dirty="0"/>
              <a:t>R</a:t>
            </a:r>
            <a:endParaRPr lang="ru-RU" sz="3600" dirty="0"/>
          </a:p>
        </p:txBody>
      </p:sp>
    </p:spTree>
    <p:extLst>
      <p:ext uri="{BB962C8B-B14F-4D97-AF65-F5344CB8AC3E}">
        <p14:creationId xmlns:p14="http://schemas.microsoft.com/office/powerpoint/2010/main" val="6903208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AutoShape 2">
            <a:extLst>
              <a:ext uri="{FF2B5EF4-FFF2-40B4-BE49-F238E27FC236}">
                <a16:creationId xmlns:a16="http://schemas.microsoft.com/office/drawing/2014/main" id="{424BC705-2D10-48F9-8C7A-582D7EBD41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9469" y="322263"/>
            <a:ext cx="11809311" cy="6553249"/>
          </a:xfrm>
          <a:prstGeom prst="roundRect">
            <a:avLst>
              <a:gd name="adj" fmla="val 16667"/>
            </a:avLst>
          </a:prstGeom>
          <a:solidFill>
            <a:schemeClr val="bg1">
              <a:alpha val="50000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9441" tIns="49721" rIns="99441" bIns="49721" anchor="ctr"/>
          <a:lstStyle>
            <a:lvl1pPr defTabSz="99377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1177925" defTabSz="99377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373188" defTabSz="99377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66863" defTabSz="99377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89138" defTabSz="99377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46338" defTabSz="9937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03538" defTabSz="9937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60738" defTabSz="9937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17938" defTabSz="9937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ru-RU" altLang="ru-RU" sz="3500">
              <a:solidFill>
                <a:schemeClr val="bg1"/>
              </a:solidFill>
            </a:endParaRPr>
          </a:p>
        </p:txBody>
      </p:sp>
      <p:sp>
        <p:nvSpPr>
          <p:cNvPr id="13" name="Скругленный прямоугольник 8">
            <a:extLst>
              <a:ext uri="{FF2B5EF4-FFF2-40B4-BE49-F238E27FC236}">
                <a16:creationId xmlns:a16="http://schemas.microsoft.com/office/drawing/2014/main" id="{A8653869-536A-4870-8A92-329235C16862}"/>
              </a:ext>
            </a:extLst>
          </p:cNvPr>
          <p:cNvSpPr/>
          <p:nvPr/>
        </p:nvSpPr>
        <p:spPr bwMode="auto">
          <a:xfrm>
            <a:off x="1077541" y="1167018"/>
            <a:ext cx="10729192" cy="5527311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  <a:headEnd type="none" w="med" len="med"/>
            <a:tailEnd type="none" w="med" len="med"/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defTabSz="993775"/>
            <a:endParaRPr lang="ru-RU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AutoShape 5"/>
          <p:cNvSpPr>
            <a:spLocks noChangeArrowheads="1"/>
          </p:cNvSpPr>
          <p:nvPr/>
        </p:nvSpPr>
        <p:spPr bwMode="auto">
          <a:xfrm>
            <a:off x="2085977" y="469900"/>
            <a:ext cx="8351837" cy="665683"/>
          </a:xfrm>
          <a:prstGeom prst="roundRect">
            <a:avLst>
              <a:gd name="adj" fmla="val 16667"/>
            </a:avLst>
          </a:prstGeom>
          <a:solidFill>
            <a:srgbClr val="FFFFFF">
              <a:alpha val="78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9441" tIns="49721" rIns="99441" bIns="49721" anchor="ctr"/>
          <a:lstStyle>
            <a:lvl1pPr defTabSz="99377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1177925" defTabSz="99377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373188" defTabSz="99377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66863" defTabSz="99377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89138" defTabSz="99377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46338" defTabSz="9937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03538" defTabSz="9937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60738" defTabSz="9937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17938" defTabSz="9937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ru-RU" altLang="ru-RU" sz="3500">
              <a:solidFill>
                <a:schemeClr val="bg1"/>
              </a:solidFill>
            </a:endParaRPr>
          </a:p>
        </p:txBody>
      </p:sp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1772237" y="1906961"/>
            <a:ext cx="9166753" cy="47643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348060" indent="-348060">
              <a:lnSpc>
                <a:spcPct val="85000"/>
              </a:lnSpc>
              <a:spcBef>
                <a:spcPct val="25000"/>
              </a:spcBef>
              <a:buClr>
                <a:srgbClr val="F4BE96"/>
              </a:buClr>
              <a:buSzPct val="80000"/>
              <a:buBlip>
                <a:blip r:embed="rId2"/>
              </a:buBlip>
            </a:pPr>
            <a:r>
              <a:rPr lang="ru-RU" altLang="ru-RU" sz="2400" b="1" i="1" dirty="0">
                <a:latin typeface="+mn-lt"/>
              </a:rPr>
              <a:t>Легенда </a:t>
            </a:r>
            <a:r>
              <a:rPr lang="ru-RU" altLang="ru-RU" sz="2400" dirty="0">
                <a:latin typeface="+mn-lt"/>
              </a:rPr>
              <a:t>к графику размещается с помощью функции </a:t>
            </a:r>
            <a:r>
              <a:rPr lang="ru-RU" altLang="ru-RU" sz="2400" b="1" i="1" dirty="0" err="1">
                <a:solidFill>
                  <a:srgbClr val="0070C0"/>
                </a:solidFill>
                <a:latin typeface="+mn-lt"/>
              </a:rPr>
              <a:t>legend</a:t>
            </a:r>
            <a:r>
              <a:rPr lang="ru-RU" altLang="ru-RU" sz="2400" b="1" i="1" dirty="0">
                <a:solidFill>
                  <a:srgbClr val="0070C0"/>
                </a:solidFill>
                <a:latin typeface="+mn-lt"/>
              </a:rPr>
              <a:t>(). </a:t>
            </a:r>
          </a:p>
          <a:p>
            <a:pPr marL="348060" indent="-348060">
              <a:lnSpc>
                <a:spcPct val="85000"/>
              </a:lnSpc>
              <a:spcBef>
                <a:spcPct val="25000"/>
              </a:spcBef>
              <a:buClr>
                <a:srgbClr val="F4BE96"/>
              </a:buClr>
              <a:buSzPct val="80000"/>
              <a:buBlip>
                <a:blip r:embed="rId2"/>
              </a:buBlip>
            </a:pPr>
            <a:r>
              <a:rPr lang="ru-RU" altLang="ru-RU" sz="2400" dirty="0">
                <a:latin typeface="+mn-lt"/>
              </a:rPr>
              <a:t>Эта функция принимает несколько аргументов, включая: местоположение, заголовок, названия элементов, графические параметры. </a:t>
            </a:r>
          </a:p>
          <a:p>
            <a:pPr marL="348060" indent="-348060">
              <a:lnSpc>
                <a:spcPct val="85000"/>
              </a:lnSpc>
              <a:spcBef>
                <a:spcPct val="25000"/>
              </a:spcBef>
              <a:buClr>
                <a:srgbClr val="F4BE96"/>
              </a:buClr>
              <a:buSzPct val="80000"/>
              <a:buBlip>
                <a:blip r:embed="rId2"/>
              </a:buBlip>
            </a:pPr>
            <a:r>
              <a:rPr lang="ru-RU" altLang="ru-RU" sz="2400" dirty="0">
                <a:latin typeface="+mn-lt"/>
              </a:rPr>
              <a:t>Местоположение может быть задано координатами (</a:t>
            </a:r>
            <a:r>
              <a:rPr lang="ru-RU" altLang="ru-RU" sz="2400" dirty="0" err="1">
                <a:latin typeface="+mn-lt"/>
              </a:rPr>
              <a:t>x,y</a:t>
            </a:r>
            <a:r>
              <a:rPr lang="ru-RU" altLang="ru-RU" sz="2400" dirty="0">
                <a:latin typeface="+mn-lt"/>
              </a:rPr>
              <a:t>)(</a:t>
            </a:r>
            <a:r>
              <a:rPr lang="ru-RU" altLang="ru-RU" sz="2400" dirty="0" err="1">
                <a:latin typeface="+mn-lt"/>
              </a:rPr>
              <a:t>x,y</a:t>
            </a:r>
            <a:r>
              <a:rPr lang="ru-RU" altLang="ru-RU" sz="2400" dirty="0">
                <a:latin typeface="+mn-lt"/>
              </a:rPr>
              <a:t>) в системе координат графика, но удобнее пользоваться следующими предопределенными константами: "</a:t>
            </a:r>
            <a:r>
              <a:rPr lang="ru-RU" altLang="ru-RU" sz="2400" dirty="0" err="1">
                <a:latin typeface="+mn-lt"/>
              </a:rPr>
              <a:t>bottomright</a:t>
            </a:r>
            <a:r>
              <a:rPr lang="ru-RU" altLang="ru-RU" sz="2400" dirty="0">
                <a:latin typeface="+mn-lt"/>
              </a:rPr>
              <a:t>", "</a:t>
            </a:r>
            <a:r>
              <a:rPr lang="ru-RU" altLang="ru-RU" sz="2400" dirty="0" err="1">
                <a:latin typeface="+mn-lt"/>
              </a:rPr>
              <a:t>bottom</a:t>
            </a:r>
            <a:r>
              <a:rPr lang="ru-RU" altLang="ru-RU" sz="2400" dirty="0">
                <a:latin typeface="+mn-lt"/>
              </a:rPr>
              <a:t>", "</a:t>
            </a:r>
            <a:r>
              <a:rPr lang="ru-RU" altLang="ru-RU" sz="2400" dirty="0" err="1">
                <a:latin typeface="+mn-lt"/>
              </a:rPr>
              <a:t>bottomleft</a:t>
            </a:r>
            <a:r>
              <a:rPr lang="ru-RU" altLang="ru-RU" sz="2400" dirty="0">
                <a:latin typeface="+mn-lt"/>
              </a:rPr>
              <a:t>", "</a:t>
            </a:r>
            <a:r>
              <a:rPr lang="ru-RU" altLang="ru-RU" sz="2400" dirty="0" err="1">
                <a:latin typeface="+mn-lt"/>
              </a:rPr>
              <a:t>left</a:t>
            </a:r>
            <a:r>
              <a:rPr lang="ru-RU" altLang="ru-RU" sz="2400" dirty="0">
                <a:latin typeface="+mn-lt"/>
              </a:rPr>
              <a:t>", "</a:t>
            </a:r>
            <a:r>
              <a:rPr lang="ru-RU" altLang="ru-RU" sz="2400" dirty="0" err="1">
                <a:latin typeface="+mn-lt"/>
              </a:rPr>
              <a:t>topleft</a:t>
            </a:r>
            <a:r>
              <a:rPr lang="ru-RU" altLang="ru-RU" sz="2400" dirty="0">
                <a:latin typeface="+mn-lt"/>
              </a:rPr>
              <a:t>", "</a:t>
            </a:r>
            <a:r>
              <a:rPr lang="ru-RU" altLang="ru-RU" sz="2400" dirty="0" err="1">
                <a:latin typeface="+mn-lt"/>
              </a:rPr>
              <a:t>top</a:t>
            </a:r>
            <a:r>
              <a:rPr lang="ru-RU" altLang="ru-RU" sz="2400" dirty="0">
                <a:latin typeface="+mn-lt"/>
              </a:rPr>
              <a:t>", "</a:t>
            </a:r>
            <a:r>
              <a:rPr lang="ru-RU" altLang="ru-RU" sz="2400" dirty="0" err="1">
                <a:latin typeface="+mn-lt"/>
              </a:rPr>
              <a:t>topright</a:t>
            </a:r>
            <a:r>
              <a:rPr lang="ru-RU" altLang="ru-RU" sz="2400" dirty="0">
                <a:latin typeface="+mn-lt"/>
              </a:rPr>
              <a:t>", "</a:t>
            </a:r>
            <a:r>
              <a:rPr lang="ru-RU" altLang="ru-RU" sz="2400" dirty="0" err="1">
                <a:latin typeface="+mn-lt"/>
              </a:rPr>
              <a:t>right</a:t>
            </a:r>
            <a:r>
              <a:rPr lang="ru-RU" altLang="ru-RU" sz="2400" dirty="0">
                <a:latin typeface="+mn-lt"/>
              </a:rPr>
              <a:t>", "</a:t>
            </a:r>
            <a:r>
              <a:rPr lang="ru-RU" altLang="ru-RU" sz="2400" dirty="0" err="1">
                <a:latin typeface="+mn-lt"/>
              </a:rPr>
              <a:t>center</a:t>
            </a:r>
            <a:r>
              <a:rPr lang="ru-RU" altLang="ru-RU" sz="2400" dirty="0">
                <a:latin typeface="+mn-lt"/>
              </a:rPr>
              <a:t>".</a:t>
            </a:r>
          </a:p>
          <a:p>
            <a:pPr marL="348060" indent="-348060">
              <a:lnSpc>
                <a:spcPct val="85000"/>
              </a:lnSpc>
              <a:spcBef>
                <a:spcPct val="25000"/>
              </a:spcBef>
              <a:buClr>
                <a:srgbClr val="F4BE96"/>
              </a:buClr>
              <a:buSzPct val="80000"/>
              <a:buBlip>
                <a:blip r:embed="rId2"/>
              </a:buBlip>
            </a:pPr>
            <a:r>
              <a:rPr lang="ru-RU" altLang="ru-RU" sz="2400" dirty="0">
                <a:latin typeface="+mn-lt"/>
              </a:rPr>
              <a:t>Чтобы в легенде появились точки, необходимо задать параметр </a:t>
            </a:r>
            <a:r>
              <a:rPr lang="ru-RU" altLang="ru-RU" sz="2400" dirty="0" err="1">
                <a:latin typeface="+mn-lt"/>
              </a:rPr>
              <a:t>pch</a:t>
            </a:r>
            <a:r>
              <a:rPr lang="ru-RU" altLang="ru-RU" sz="2400" dirty="0">
                <a:latin typeface="+mn-lt"/>
              </a:rPr>
              <a:t>=. Для линейной легенды, следует задать, соответственно, параметр </a:t>
            </a:r>
            <a:r>
              <a:rPr lang="ru-RU" altLang="ru-RU" sz="2400" dirty="0" err="1">
                <a:latin typeface="+mn-lt"/>
              </a:rPr>
              <a:t>lty</a:t>
            </a:r>
            <a:r>
              <a:rPr lang="ru-RU" altLang="ru-RU" sz="2400" dirty="0">
                <a:latin typeface="+mn-lt"/>
              </a:rPr>
              <a:t> = и/или </a:t>
            </a:r>
            <a:r>
              <a:rPr lang="ru-RU" altLang="ru-RU" sz="2400" dirty="0" err="1">
                <a:latin typeface="+mn-lt"/>
              </a:rPr>
              <a:t>lwd</a:t>
            </a:r>
            <a:r>
              <a:rPr lang="ru-RU" altLang="ru-RU" sz="2400" dirty="0">
                <a:latin typeface="+mn-lt"/>
              </a:rPr>
              <a:t> =. Каждый из этих параметров должен быть вектором по количеству элементов легенды:</a:t>
            </a:r>
          </a:p>
        </p:txBody>
      </p:sp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2B6C0E-C4B9-4094-8E59-5B7DF00D5415}" type="slidenum">
              <a:rPr lang="ru-RU" smtClean="0">
                <a:solidFill>
                  <a:schemeClr val="tx1"/>
                </a:solidFill>
              </a:rPr>
              <a:t>59</a:t>
            </a:fld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10" name="Заголовок 1"/>
          <p:cNvSpPr>
            <a:spLocks noGrp="1"/>
          </p:cNvSpPr>
          <p:nvPr>
            <p:ph type="title"/>
          </p:nvPr>
        </p:nvSpPr>
        <p:spPr>
          <a:xfrm>
            <a:off x="2013645" y="230676"/>
            <a:ext cx="8503820" cy="812188"/>
          </a:xfrm>
        </p:spPr>
        <p:txBody>
          <a:bodyPr>
            <a:noAutofit/>
          </a:bodyPr>
          <a:lstStyle/>
          <a:p>
            <a:pPr>
              <a:lnSpc>
                <a:spcPts val="4400"/>
              </a:lnSpc>
              <a:defRPr/>
            </a:pPr>
            <a:r>
              <a:rPr lang="ru-RU" sz="3600" dirty="0"/>
              <a:t>Оформление графического вывода в </a:t>
            </a:r>
            <a:r>
              <a:rPr lang="en-US" sz="3600" dirty="0"/>
              <a:t>R</a:t>
            </a:r>
            <a:endParaRPr lang="ru-RU" sz="3600" dirty="0"/>
          </a:p>
        </p:txBody>
      </p:sp>
    </p:spTree>
    <p:extLst>
      <p:ext uri="{BB962C8B-B14F-4D97-AF65-F5344CB8AC3E}">
        <p14:creationId xmlns:p14="http://schemas.microsoft.com/office/powerpoint/2010/main" val="10098725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AutoShape 2">
            <a:extLst>
              <a:ext uri="{FF2B5EF4-FFF2-40B4-BE49-F238E27FC236}">
                <a16:creationId xmlns:a16="http://schemas.microsoft.com/office/drawing/2014/main" id="{D305D0B2-4071-47D6-8CCF-9063171731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9469" y="322263"/>
            <a:ext cx="11809311" cy="6553249"/>
          </a:xfrm>
          <a:prstGeom prst="roundRect">
            <a:avLst>
              <a:gd name="adj" fmla="val 16667"/>
            </a:avLst>
          </a:prstGeom>
          <a:solidFill>
            <a:schemeClr val="bg1">
              <a:alpha val="50000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9441" tIns="49721" rIns="99441" bIns="49721" anchor="ctr"/>
          <a:lstStyle>
            <a:lvl1pPr defTabSz="99377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1177925" defTabSz="99377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373188" defTabSz="99377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66863" defTabSz="99377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89138" defTabSz="99377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46338" defTabSz="9937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03538" defTabSz="9937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60738" defTabSz="9937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17938" defTabSz="9937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ru-RU" altLang="ru-RU" sz="3500">
              <a:solidFill>
                <a:schemeClr val="bg1"/>
              </a:solidFill>
            </a:endParaRPr>
          </a:p>
        </p:txBody>
      </p:sp>
      <p:sp>
        <p:nvSpPr>
          <p:cNvPr id="13" name="Скругленный прямоугольник 8">
            <a:extLst>
              <a:ext uri="{FF2B5EF4-FFF2-40B4-BE49-F238E27FC236}">
                <a16:creationId xmlns:a16="http://schemas.microsoft.com/office/drawing/2014/main" id="{95BA17D5-1788-4504-9F54-83A99AC6AA4B}"/>
              </a:ext>
            </a:extLst>
          </p:cNvPr>
          <p:cNvSpPr/>
          <p:nvPr/>
        </p:nvSpPr>
        <p:spPr bwMode="auto">
          <a:xfrm>
            <a:off x="1077541" y="1167018"/>
            <a:ext cx="10729192" cy="5527311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  <a:headEnd type="none" w="med" len="med"/>
            <a:tailEnd type="none" w="med" len="med"/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defTabSz="993775"/>
            <a:endParaRPr lang="ru-RU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AutoShape 5"/>
          <p:cNvSpPr>
            <a:spLocks noChangeArrowheads="1"/>
          </p:cNvSpPr>
          <p:nvPr/>
        </p:nvSpPr>
        <p:spPr bwMode="auto">
          <a:xfrm>
            <a:off x="2085977" y="469900"/>
            <a:ext cx="8351837" cy="665683"/>
          </a:xfrm>
          <a:prstGeom prst="roundRect">
            <a:avLst>
              <a:gd name="adj" fmla="val 16667"/>
            </a:avLst>
          </a:prstGeom>
          <a:solidFill>
            <a:srgbClr val="FFFFFF">
              <a:alpha val="78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9441" tIns="49721" rIns="99441" bIns="49721" anchor="ctr"/>
          <a:lstStyle>
            <a:lvl1pPr defTabSz="99377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1177925" defTabSz="99377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373188" defTabSz="99377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66863" defTabSz="99377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89138" defTabSz="99377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46338" defTabSz="9937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03538" defTabSz="9937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60738" defTabSz="9937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17938" defTabSz="9937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ru-RU" altLang="ru-RU" sz="3500">
              <a:solidFill>
                <a:schemeClr val="bg1"/>
              </a:solidFill>
            </a:endParaRPr>
          </a:p>
        </p:txBody>
      </p:sp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1797622" y="1578856"/>
            <a:ext cx="9161369" cy="4616648"/>
          </a:xfrm>
          <a:prstGeom prst="rect">
            <a:avLst/>
          </a:prstGeom>
          <a:solidFill>
            <a:srgbClr val="F7F7F7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eaLnBrk="0" hangingPunct="0"/>
            <a:r>
              <a:rPr lang="ru-RU" altLang="ru-RU" b="1" dirty="0" err="1">
                <a:solidFill>
                  <a:srgbClr val="00702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par</a:t>
            </a:r>
            <a:r>
              <a:rPr lang="ru-RU" altLang="ru-RU" dirty="0">
                <a:solidFill>
                  <a:srgbClr val="33333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ru-RU" altLang="ru-RU" dirty="0" err="1">
                <a:solidFill>
                  <a:srgbClr val="902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mar</a:t>
            </a:r>
            <a:r>
              <a:rPr lang="ru-RU" altLang="ru-RU" dirty="0">
                <a:solidFill>
                  <a:srgbClr val="902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</a:t>
            </a:r>
            <a:r>
              <a:rPr lang="ru-RU" altLang="ru-RU" dirty="0">
                <a:solidFill>
                  <a:srgbClr val="33333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ru-RU" altLang="ru-RU" dirty="0" err="1">
                <a:solidFill>
                  <a:srgbClr val="33333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margins.default</a:t>
            </a:r>
            <a:r>
              <a:rPr lang="ru-RU" altLang="ru-RU" dirty="0">
                <a:solidFill>
                  <a:srgbClr val="33333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 </a:t>
            </a:r>
          </a:p>
          <a:p>
            <a:pPr eaLnBrk="0" hangingPunct="0"/>
            <a:r>
              <a:rPr lang="ru-RU" altLang="ru-RU" i="1" dirty="0">
                <a:solidFill>
                  <a:srgbClr val="60A0B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 Найдем ограничивающий прямоугольник вокруг всех рядов данных</a:t>
            </a:r>
            <a:r>
              <a:rPr lang="ru-RU" altLang="ru-RU" dirty="0">
                <a:solidFill>
                  <a:srgbClr val="33333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ru-RU" altLang="ru-RU" dirty="0" err="1">
                <a:solidFill>
                  <a:srgbClr val="33333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xrange</a:t>
            </a:r>
            <a:r>
              <a:rPr lang="ru-RU" altLang="ru-RU" dirty="0">
                <a:solidFill>
                  <a:srgbClr val="33333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</a:t>
            </a:r>
            <a:r>
              <a:rPr lang="ru-RU" altLang="ru-RU" dirty="0">
                <a:solidFill>
                  <a:srgbClr val="407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ru-RU" altLang="ru-RU" b="1" dirty="0" err="1">
                <a:solidFill>
                  <a:srgbClr val="00702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range</a:t>
            </a:r>
            <a:r>
              <a:rPr lang="ru-RU" altLang="ru-RU" dirty="0">
                <a:solidFill>
                  <a:srgbClr val="33333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ru-RU" altLang="ru-RU" dirty="0" err="1">
                <a:solidFill>
                  <a:srgbClr val="33333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tab</a:t>
            </a:r>
            <a:r>
              <a:rPr lang="ru-RU" altLang="ru-RU" dirty="0" err="1">
                <a:solidFill>
                  <a:srgbClr val="66666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$</a:t>
            </a:r>
            <a:r>
              <a:rPr lang="ru-RU" altLang="ru-RU" dirty="0" err="1">
                <a:solidFill>
                  <a:srgbClr val="33333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Год</a:t>
            </a:r>
            <a:r>
              <a:rPr lang="ru-RU" altLang="ru-RU" dirty="0">
                <a:solidFill>
                  <a:srgbClr val="33333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 </a:t>
            </a:r>
          </a:p>
          <a:p>
            <a:pPr eaLnBrk="0" hangingPunct="0"/>
            <a:r>
              <a:rPr lang="ru-RU" altLang="ru-RU" dirty="0" err="1">
                <a:solidFill>
                  <a:srgbClr val="33333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yrange</a:t>
            </a:r>
            <a:r>
              <a:rPr lang="ru-RU" altLang="ru-RU" dirty="0">
                <a:solidFill>
                  <a:srgbClr val="33333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</a:t>
            </a:r>
            <a:r>
              <a:rPr lang="ru-RU" altLang="ru-RU" dirty="0">
                <a:solidFill>
                  <a:srgbClr val="407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ru-RU" altLang="ru-RU" b="1" dirty="0" err="1">
                <a:solidFill>
                  <a:srgbClr val="00702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range</a:t>
            </a:r>
            <a:r>
              <a:rPr lang="ru-RU" altLang="ru-RU" dirty="0">
                <a:solidFill>
                  <a:srgbClr val="33333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ru-RU" altLang="ru-RU" dirty="0" err="1">
                <a:solidFill>
                  <a:srgbClr val="33333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tab</a:t>
            </a:r>
            <a:r>
              <a:rPr lang="ru-RU" altLang="ru-RU" dirty="0" err="1">
                <a:solidFill>
                  <a:srgbClr val="66666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$</a:t>
            </a:r>
            <a:r>
              <a:rPr lang="ru-RU" altLang="ru-RU" dirty="0" err="1">
                <a:solidFill>
                  <a:srgbClr val="33333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Каспийское</a:t>
            </a:r>
            <a:r>
              <a:rPr lang="ru-RU" altLang="ru-RU" dirty="0">
                <a:solidFill>
                  <a:srgbClr val="33333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ru-RU" altLang="ru-RU" dirty="0" err="1">
                <a:solidFill>
                  <a:srgbClr val="33333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tab</a:t>
            </a:r>
            <a:r>
              <a:rPr lang="ru-RU" altLang="ru-RU" dirty="0" err="1">
                <a:solidFill>
                  <a:srgbClr val="66666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$</a:t>
            </a:r>
            <a:r>
              <a:rPr lang="ru-RU" altLang="ru-RU" dirty="0" err="1">
                <a:solidFill>
                  <a:srgbClr val="33333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Карское</a:t>
            </a:r>
            <a:r>
              <a:rPr lang="ru-RU" altLang="ru-RU" dirty="0">
                <a:solidFill>
                  <a:srgbClr val="33333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ru-RU" altLang="ru-RU" dirty="0" err="1">
                <a:solidFill>
                  <a:srgbClr val="33333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tab</a:t>
            </a:r>
            <a:r>
              <a:rPr lang="ru-RU" altLang="ru-RU" dirty="0" err="1">
                <a:solidFill>
                  <a:srgbClr val="66666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$</a:t>
            </a:r>
            <a:r>
              <a:rPr lang="ru-RU" altLang="ru-RU" dirty="0" err="1">
                <a:solidFill>
                  <a:srgbClr val="33333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Азовское</a:t>
            </a:r>
            <a:r>
              <a:rPr lang="ru-RU" altLang="ru-RU" dirty="0">
                <a:solidFill>
                  <a:srgbClr val="33333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 </a:t>
            </a:r>
          </a:p>
          <a:p>
            <a:pPr eaLnBrk="0" hangingPunct="0"/>
            <a:endParaRPr lang="ru-RU" altLang="ru-RU" dirty="0">
              <a:solidFill>
                <a:srgbClr val="333333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eaLnBrk="0" hangingPunct="0"/>
            <a:r>
              <a:rPr lang="ru-RU" altLang="ru-RU" i="1" dirty="0">
                <a:solidFill>
                  <a:srgbClr val="60A0B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 Построим пустой график с разметкой осей и всеми заголовками</a:t>
            </a:r>
          </a:p>
          <a:p>
            <a:pPr eaLnBrk="0" hangingPunct="0"/>
            <a:endParaRPr lang="ru-RU" altLang="ru-RU" b="1" dirty="0">
              <a:solidFill>
                <a:srgbClr val="00702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eaLnBrk="0" hangingPunct="0"/>
            <a:r>
              <a:rPr lang="ru-RU" altLang="ru-RU" b="1" dirty="0" err="1">
                <a:solidFill>
                  <a:srgbClr val="00702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plot</a:t>
            </a:r>
            <a:r>
              <a:rPr lang="ru-RU" altLang="ru-RU" dirty="0">
                <a:solidFill>
                  <a:srgbClr val="33333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ru-RU" altLang="ru-RU" dirty="0" err="1">
                <a:solidFill>
                  <a:srgbClr val="33333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xrange</a:t>
            </a:r>
            <a:r>
              <a:rPr lang="ru-RU" altLang="ru-RU" dirty="0">
                <a:solidFill>
                  <a:srgbClr val="33333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ru-RU" altLang="ru-RU" dirty="0" err="1">
                <a:solidFill>
                  <a:srgbClr val="33333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yrange</a:t>
            </a:r>
            <a:r>
              <a:rPr lang="ru-RU" altLang="ru-RU" dirty="0">
                <a:solidFill>
                  <a:srgbClr val="33333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ru-RU" altLang="ru-RU" dirty="0" err="1">
                <a:solidFill>
                  <a:srgbClr val="902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type</a:t>
            </a:r>
            <a:r>
              <a:rPr lang="ru-RU" altLang="ru-RU" dirty="0">
                <a:solidFill>
                  <a:srgbClr val="902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ru-RU" altLang="ru-RU" dirty="0">
                <a:solidFill>
                  <a:srgbClr val="407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"n"</a:t>
            </a:r>
            <a:r>
              <a:rPr lang="ru-RU" altLang="ru-RU" dirty="0">
                <a:solidFill>
                  <a:srgbClr val="33333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ru-RU" altLang="ru-RU" dirty="0" err="1">
                <a:solidFill>
                  <a:srgbClr val="902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main</a:t>
            </a:r>
            <a:r>
              <a:rPr lang="ru-RU" altLang="ru-RU" dirty="0">
                <a:solidFill>
                  <a:srgbClr val="902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ru-RU" altLang="ru-RU" dirty="0">
                <a:solidFill>
                  <a:srgbClr val="407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"Объем сброса загрязненных сточных вод"</a:t>
            </a:r>
            <a:r>
              <a:rPr lang="ru-RU" altLang="ru-RU" dirty="0">
                <a:solidFill>
                  <a:srgbClr val="33333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ru-RU" altLang="ru-RU" dirty="0" err="1">
                <a:solidFill>
                  <a:srgbClr val="902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xlab</a:t>
            </a:r>
            <a:r>
              <a:rPr lang="ru-RU" altLang="ru-RU" dirty="0">
                <a:solidFill>
                  <a:srgbClr val="902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ru-RU" altLang="ru-RU" dirty="0">
                <a:solidFill>
                  <a:srgbClr val="407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"Год"</a:t>
            </a:r>
            <a:r>
              <a:rPr lang="ru-RU" altLang="ru-RU" dirty="0">
                <a:solidFill>
                  <a:srgbClr val="33333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ru-RU" altLang="ru-RU" dirty="0" err="1">
                <a:solidFill>
                  <a:srgbClr val="902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ylab</a:t>
            </a:r>
            <a:r>
              <a:rPr lang="ru-RU" altLang="ru-RU" dirty="0">
                <a:solidFill>
                  <a:srgbClr val="902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ru-RU" altLang="ru-RU" dirty="0">
                <a:solidFill>
                  <a:srgbClr val="407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</a:t>
            </a:r>
            <a:r>
              <a:rPr lang="ru-RU" altLang="ru-RU" dirty="0" err="1">
                <a:solidFill>
                  <a:srgbClr val="407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млрд.куб.м</a:t>
            </a:r>
            <a:r>
              <a:rPr lang="ru-RU" altLang="ru-RU" dirty="0">
                <a:solidFill>
                  <a:srgbClr val="407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</a:t>
            </a:r>
            <a:r>
              <a:rPr lang="ru-RU" altLang="ru-RU" dirty="0">
                <a:solidFill>
                  <a:srgbClr val="33333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</a:p>
          <a:p>
            <a:pPr eaLnBrk="0" hangingPunct="0"/>
            <a:r>
              <a:rPr lang="ru-RU" altLang="ru-RU" dirty="0" err="1">
                <a:solidFill>
                  <a:srgbClr val="902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cex.axis</a:t>
            </a:r>
            <a:r>
              <a:rPr lang="ru-RU" altLang="ru-RU" dirty="0">
                <a:solidFill>
                  <a:srgbClr val="902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ru-RU" altLang="ru-RU" dirty="0">
                <a:solidFill>
                  <a:srgbClr val="40A07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0.8</a:t>
            </a:r>
            <a:r>
              <a:rPr lang="ru-RU" altLang="ru-RU" dirty="0">
                <a:solidFill>
                  <a:srgbClr val="33333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ru-RU" altLang="ru-RU" dirty="0" err="1">
                <a:solidFill>
                  <a:srgbClr val="902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cex.lab</a:t>
            </a:r>
            <a:r>
              <a:rPr lang="ru-RU" altLang="ru-RU" dirty="0">
                <a:solidFill>
                  <a:srgbClr val="902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ru-RU" altLang="ru-RU" dirty="0">
                <a:solidFill>
                  <a:srgbClr val="40A07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0.7</a:t>
            </a:r>
            <a:r>
              <a:rPr lang="ru-RU" altLang="ru-RU" dirty="0">
                <a:solidFill>
                  <a:srgbClr val="33333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ru-RU" altLang="ru-RU" dirty="0" err="1">
                <a:solidFill>
                  <a:srgbClr val="902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cex.main</a:t>
            </a:r>
            <a:r>
              <a:rPr lang="ru-RU" altLang="ru-RU" dirty="0">
                <a:solidFill>
                  <a:srgbClr val="902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ru-RU" altLang="ru-RU" dirty="0">
                <a:solidFill>
                  <a:srgbClr val="40A07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0.9</a:t>
            </a:r>
            <a:r>
              <a:rPr lang="ru-RU" altLang="ru-RU" dirty="0">
                <a:solidFill>
                  <a:srgbClr val="33333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</a:p>
          <a:p>
            <a:pPr eaLnBrk="0" hangingPunct="0"/>
            <a:r>
              <a:rPr lang="ru-RU" altLang="ru-RU" dirty="0" err="1">
                <a:solidFill>
                  <a:srgbClr val="902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col.lab</a:t>
            </a:r>
            <a:r>
              <a:rPr lang="ru-RU" altLang="ru-RU" dirty="0">
                <a:solidFill>
                  <a:srgbClr val="902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</a:t>
            </a:r>
            <a:r>
              <a:rPr lang="ru-RU" altLang="ru-RU" dirty="0">
                <a:solidFill>
                  <a:srgbClr val="33333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ru-RU" altLang="ru-RU" dirty="0">
                <a:solidFill>
                  <a:srgbClr val="407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"grey50"</a:t>
            </a:r>
            <a:r>
              <a:rPr lang="ru-RU" altLang="ru-RU" dirty="0">
                <a:solidFill>
                  <a:srgbClr val="33333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ru-RU" altLang="ru-RU" dirty="0" err="1">
                <a:solidFill>
                  <a:srgbClr val="902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fg</a:t>
            </a:r>
            <a:r>
              <a:rPr lang="ru-RU" altLang="ru-RU" dirty="0">
                <a:solidFill>
                  <a:srgbClr val="902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</a:t>
            </a:r>
            <a:r>
              <a:rPr lang="ru-RU" altLang="ru-RU" dirty="0">
                <a:solidFill>
                  <a:srgbClr val="33333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ru-RU" altLang="ru-RU" dirty="0">
                <a:solidFill>
                  <a:srgbClr val="407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"grey40"</a:t>
            </a:r>
            <a:r>
              <a:rPr lang="ru-RU" altLang="ru-RU" dirty="0">
                <a:solidFill>
                  <a:srgbClr val="33333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 </a:t>
            </a:r>
          </a:p>
          <a:p>
            <a:pPr eaLnBrk="0" hangingPunct="0"/>
            <a:endParaRPr lang="ru-RU" altLang="ru-RU" dirty="0">
              <a:solidFill>
                <a:srgbClr val="333333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eaLnBrk="0" hangingPunct="0"/>
            <a:r>
              <a:rPr lang="ru-RU" altLang="ru-RU" i="1" dirty="0">
                <a:solidFill>
                  <a:srgbClr val="60A0B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 Добавим на график сетку координат</a:t>
            </a:r>
            <a:r>
              <a:rPr lang="ru-RU" altLang="ru-RU" dirty="0">
                <a:solidFill>
                  <a:srgbClr val="33333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</a:p>
          <a:p>
            <a:pPr eaLnBrk="0" hangingPunct="0"/>
            <a:r>
              <a:rPr lang="ru-RU" altLang="ru-RU" b="1" dirty="0" err="1">
                <a:solidFill>
                  <a:srgbClr val="00702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grid</a:t>
            </a:r>
            <a:r>
              <a:rPr lang="ru-RU" altLang="ru-RU" dirty="0">
                <a:solidFill>
                  <a:srgbClr val="33333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()</a:t>
            </a:r>
            <a:r>
              <a:rPr lang="ru-RU" altLang="ru-RU" dirty="0"/>
              <a:t> </a:t>
            </a:r>
          </a:p>
          <a:p>
            <a:pPr eaLnBrk="0" hangingPunct="0"/>
            <a:endParaRPr lang="ru-RU" altLang="ru-RU" dirty="0"/>
          </a:p>
        </p:txBody>
      </p:sp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2B6C0E-C4B9-4094-8E59-5B7DF00D5415}" type="slidenum">
              <a:rPr lang="ru-RU" smtClean="0">
                <a:solidFill>
                  <a:schemeClr val="tx1"/>
                </a:solidFill>
              </a:rPr>
              <a:t>60</a:t>
            </a:fld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10" name="Заголовок 1"/>
          <p:cNvSpPr>
            <a:spLocks noGrp="1"/>
          </p:cNvSpPr>
          <p:nvPr>
            <p:ph type="title"/>
          </p:nvPr>
        </p:nvSpPr>
        <p:spPr>
          <a:xfrm>
            <a:off x="2013645" y="230676"/>
            <a:ext cx="8503820" cy="812188"/>
          </a:xfrm>
        </p:spPr>
        <p:txBody>
          <a:bodyPr>
            <a:noAutofit/>
          </a:bodyPr>
          <a:lstStyle/>
          <a:p>
            <a:pPr>
              <a:lnSpc>
                <a:spcPts val="4400"/>
              </a:lnSpc>
              <a:defRPr/>
            </a:pPr>
            <a:r>
              <a:rPr lang="ru-RU" sz="3600" dirty="0"/>
              <a:t>Оформление графического вывода в </a:t>
            </a:r>
            <a:r>
              <a:rPr lang="en-US" sz="3600" dirty="0"/>
              <a:t>R</a:t>
            </a:r>
            <a:endParaRPr lang="ru-RU" sz="3600" dirty="0"/>
          </a:p>
        </p:txBody>
      </p:sp>
    </p:spTree>
    <p:extLst>
      <p:ext uri="{BB962C8B-B14F-4D97-AF65-F5344CB8AC3E}">
        <p14:creationId xmlns:p14="http://schemas.microsoft.com/office/powerpoint/2010/main" val="42809050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AutoShape 2">
            <a:extLst>
              <a:ext uri="{FF2B5EF4-FFF2-40B4-BE49-F238E27FC236}">
                <a16:creationId xmlns:a16="http://schemas.microsoft.com/office/drawing/2014/main" id="{78B26275-8F48-4722-A0D5-325BC6F701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9469" y="322263"/>
            <a:ext cx="11809311" cy="6553249"/>
          </a:xfrm>
          <a:prstGeom prst="roundRect">
            <a:avLst>
              <a:gd name="adj" fmla="val 16667"/>
            </a:avLst>
          </a:prstGeom>
          <a:solidFill>
            <a:schemeClr val="bg1">
              <a:alpha val="50000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9441" tIns="49721" rIns="99441" bIns="49721" anchor="ctr"/>
          <a:lstStyle>
            <a:lvl1pPr defTabSz="99377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1177925" defTabSz="99377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373188" defTabSz="99377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66863" defTabSz="99377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89138" defTabSz="99377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46338" defTabSz="9937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03538" defTabSz="9937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60738" defTabSz="9937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17938" defTabSz="9937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ru-RU" altLang="ru-RU" sz="3500">
              <a:solidFill>
                <a:schemeClr val="bg1"/>
              </a:solidFill>
            </a:endParaRPr>
          </a:p>
        </p:txBody>
      </p:sp>
      <p:sp>
        <p:nvSpPr>
          <p:cNvPr id="13" name="Скругленный прямоугольник 8">
            <a:extLst>
              <a:ext uri="{FF2B5EF4-FFF2-40B4-BE49-F238E27FC236}">
                <a16:creationId xmlns:a16="http://schemas.microsoft.com/office/drawing/2014/main" id="{C546D8D2-3B26-4ABC-A20D-7EF709BEBD46}"/>
              </a:ext>
            </a:extLst>
          </p:cNvPr>
          <p:cNvSpPr/>
          <p:nvPr/>
        </p:nvSpPr>
        <p:spPr bwMode="auto">
          <a:xfrm>
            <a:off x="1077541" y="1167018"/>
            <a:ext cx="10729192" cy="5527311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  <a:headEnd type="none" w="med" len="med"/>
            <a:tailEnd type="none" w="med" len="med"/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defTabSz="993775"/>
            <a:endParaRPr lang="ru-RU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AutoShape 5"/>
          <p:cNvSpPr>
            <a:spLocks noChangeArrowheads="1"/>
          </p:cNvSpPr>
          <p:nvPr/>
        </p:nvSpPr>
        <p:spPr bwMode="auto">
          <a:xfrm>
            <a:off x="2085977" y="469900"/>
            <a:ext cx="8351837" cy="665683"/>
          </a:xfrm>
          <a:prstGeom prst="roundRect">
            <a:avLst>
              <a:gd name="adj" fmla="val 16667"/>
            </a:avLst>
          </a:prstGeom>
          <a:solidFill>
            <a:srgbClr val="FFFFFF">
              <a:alpha val="78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9441" tIns="49721" rIns="99441" bIns="49721" anchor="ctr"/>
          <a:lstStyle>
            <a:lvl1pPr defTabSz="99377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1177925" defTabSz="99377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373188" defTabSz="99377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66863" defTabSz="99377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89138" defTabSz="99377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46338" defTabSz="9937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03538" defTabSz="9937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60738" defTabSz="9937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17938" defTabSz="9937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ru-RU" altLang="ru-RU" sz="3500">
              <a:solidFill>
                <a:schemeClr val="bg1"/>
              </a:solidFill>
            </a:endParaRPr>
          </a:p>
        </p:txBody>
      </p:sp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1185553" y="4243646"/>
            <a:ext cx="10513168" cy="1938992"/>
          </a:xfrm>
          <a:prstGeom prst="rect">
            <a:avLst/>
          </a:prstGeom>
          <a:solidFill>
            <a:srgbClr val="F7F7F7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eaLnBrk="0" hangingPunct="0"/>
            <a:endParaRPr lang="ru-RU" altLang="ru-RU" sz="1800" i="1" dirty="0">
              <a:solidFill>
                <a:srgbClr val="60A0B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eaLnBrk="0" hangingPunct="0"/>
            <a:r>
              <a:rPr lang="ru-RU" altLang="ru-RU" sz="1800" i="1" dirty="0">
                <a:solidFill>
                  <a:srgbClr val="60A0B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 Определим положение, названия и цвета:</a:t>
            </a:r>
            <a:r>
              <a:rPr lang="ru-RU" altLang="ru-RU" sz="1800" dirty="0">
                <a:solidFill>
                  <a:srgbClr val="33333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</a:p>
          <a:p>
            <a:pPr eaLnBrk="0" hangingPunct="0"/>
            <a:r>
              <a:rPr lang="ru-RU" altLang="ru-RU" sz="1800" dirty="0" err="1">
                <a:solidFill>
                  <a:srgbClr val="33333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main</a:t>
            </a:r>
            <a:r>
              <a:rPr lang="ru-RU" altLang="ru-RU" sz="1800" dirty="0">
                <a:solidFill>
                  <a:srgbClr val="33333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</a:t>
            </a:r>
            <a:r>
              <a:rPr lang="ru-RU" altLang="ru-RU" sz="1800" dirty="0">
                <a:solidFill>
                  <a:srgbClr val="407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"Море"</a:t>
            </a:r>
            <a:r>
              <a:rPr lang="ru-RU" altLang="ru-RU" sz="1800" dirty="0">
                <a:solidFill>
                  <a:srgbClr val="33333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ru-RU" altLang="ru-RU" sz="1800" dirty="0" err="1">
                <a:solidFill>
                  <a:srgbClr val="33333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location</a:t>
            </a:r>
            <a:r>
              <a:rPr lang="ru-RU" altLang="ru-RU" sz="1800" dirty="0">
                <a:solidFill>
                  <a:srgbClr val="33333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</a:t>
            </a:r>
            <a:r>
              <a:rPr lang="ru-RU" altLang="ru-RU" sz="1800" dirty="0">
                <a:solidFill>
                  <a:srgbClr val="407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"</a:t>
            </a:r>
            <a:r>
              <a:rPr lang="ru-RU" altLang="ru-RU" sz="1800" dirty="0" err="1">
                <a:solidFill>
                  <a:srgbClr val="407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topright</a:t>
            </a:r>
            <a:r>
              <a:rPr lang="ru-RU" altLang="ru-RU" sz="1800" dirty="0">
                <a:solidFill>
                  <a:srgbClr val="407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</a:t>
            </a:r>
            <a:r>
              <a:rPr lang="ru-RU" altLang="ru-RU" sz="1800" dirty="0">
                <a:solidFill>
                  <a:srgbClr val="33333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ru-RU" altLang="ru-RU" sz="1800" dirty="0" err="1">
                <a:solidFill>
                  <a:srgbClr val="33333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labels</a:t>
            </a:r>
            <a:r>
              <a:rPr lang="ru-RU" altLang="ru-RU" sz="1800" dirty="0">
                <a:solidFill>
                  <a:srgbClr val="33333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</a:t>
            </a:r>
            <a:r>
              <a:rPr lang="ru-RU" altLang="ru-RU" sz="1800" dirty="0">
                <a:solidFill>
                  <a:srgbClr val="407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ru-RU" altLang="ru-RU" sz="1800" b="1" dirty="0">
                <a:solidFill>
                  <a:srgbClr val="00702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</a:t>
            </a:r>
            <a:r>
              <a:rPr lang="ru-RU" altLang="ru-RU" sz="1800" dirty="0">
                <a:solidFill>
                  <a:srgbClr val="33333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ru-RU" altLang="ru-RU" sz="1800" dirty="0">
                <a:solidFill>
                  <a:srgbClr val="407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"Каспийское"</a:t>
            </a:r>
            <a:r>
              <a:rPr lang="ru-RU" altLang="ru-RU" sz="1800" dirty="0">
                <a:solidFill>
                  <a:srgbClr val="33333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ru-RU" altLang="ru-RU" sz="1800" dirty="0">
                <a:solidFill>
                  <a:srgbClr val="407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"Карское"</a:t>
            </a:r>
            <a:r>
              <a:rPr lang="ru-RU" altLang="ru-RU" sz="1800" dirty="0">
                <a:solidFill>
                  <a:srgbClr val="33333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ru-RU" altLang="ru-RU" sz="1800" dirty="0">
                <a:solidFill>
                  <a:srgbClr val="407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"Азовское"</a:t>
            </a:r>
            <a:r>
              <a:rPr lang="ru-RU" altLang="ru-RU" sz="1800" dirty="0">
                <a:solidFill>
                  <a:srgbClr val="33333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 </a:t>
            </a:r>
          </a:p>
          <a:p>
            <a:pPr eaLnBrk="0" hangingPunct="0"/>
            <a:endParaRPr lang="ru-RU" altLang="ru-RU" sz="1800" dirty="0">
              <a:solidFill>
                <a:srgbClr val="333333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eaLnBrk="0" hangingPunct="0"/>
            <a:r>
              <a:rPr lang="ru-RU" altLang="ru-RU" sz="1800" dirty="0" err="1">
                <a:solidFill>
                  <a:srgbClr val="33333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colors</a:t>
            </a:r>
            <a:r>
              <a:rPr lang="ru-RU" altLang="ru-RU" sz="1800" dirty="0">
                <a:solidFill>
                  <a:srgbClr val="33333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</a:t>
            </a:r>
            <a:r>
              <a:rPr lang="ru-RU" altLang="ru-RU" sz="1800" dirty="0">
                <a:solidFill>
                  <a:srgbClr val="407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ru-RU" altLang="ru-RU" sz="1800" b="1" dirty="0">
                <a:solidFill>
                  <a:srgbClr val="00702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</a:t>
            </a:r>
            <a:r>
              <a:rPr lang="ru-RU" altLang="ru-RU" sz="1800" dirty="0">
                <a:solidFill>
                  <a:srgbClr val="33333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ru-RU" altLang="ru-RU" sz="1800" dirty="0">
                <a:solidFill>
                  <a:srgbClr val="407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"red3"</a:t>
            </a:r>
            <a:r>
              <a:rPr lang="ru-RU" altLang="ru-RU" sz="1800" dirty="0">
                <a:solidFill>
                  <a:srgbClr val="33333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ru-RU" altLang="ru-RU" sz="1800" dirty="0">
                <a:solidFill>
                  <a:srgbClr val="407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</a:t>
            </a:r>
            <a:r>
              <a:rPr lang="ru-RU" altLang="ru-RU" sz="1800" dirty="0" err="1">
                <a:solidFill>
                  <a:srgbClr val="407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forestgreen</a:t>
            </a:r>
            <a:r>
              <a:rPr lang="ru-RU" altLang="ru-RU" sz="1800" dirty="0">
                <a:solidFill>
                  <a:srgbClr val="407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</a:t>
            </a:r>
            <a:r>
              <a:rPr lang="ru-RU" altLang="ru-RU" sz="1800" dirty="0">
                <a:solidFill>
                  <a:srgbClr val="33333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ru-RU" altLang="ru-RU" sz="1800" dirty="0">
                <a:solidFill>
                  <a:srgbClr val="407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</a:t>
            </a:r>
            <a:r>
              <a:rPr lang="ru-RU" altLang="ru-RU" sz="1800" dirty="0" err="1">
                <a:solidFill>
                  <a:srgbClr val="407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steelblue</a:t>
            </a:r>
            <a:r>
              <a:rPr lang="ru-RU" altLang="ru-RU" sz="1800" dirty="0">
                <a:solidFill>
                  <a:srgbClr val="407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</a:t>
            </a:r>
            <a:r>
              <a:rPr lang="ru-RU" altLang="ru-RU" sz="1800" dirty="0">
                <a:solidFill>
                  <a:srgbClr val="33333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 </a:t>
            </a:r>
          </a:p>
          <a:p>
            <a:pPr eaLnBrk="0" hangingPunct="0"/>
            <a:r>
              <a:rPr lang="ru-RU" altLang="ru-RU" sz="1800" i="1" dirty="0">
                <a:solidFill>
                  <a:srgbClr val="60A0B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 Если цвет передать в параметр </a:t>
            </a:r>
            <a:r>
              <a:rPr lang="ru-RU" altLang="ru-RU" sz="1800" i="1" dirty="0" err="1">
                <a:solidFill>
                  <a:srgbClr val="60A0B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fill</a:t>
            </a:r>
            <a:r>
              <a:rPr lang="ru-RU" altLang="ru-RU" sz="1800" i="1" dirty="0">
                <a:solidFill>
                  <a:srgbClr val="60A0B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то по умолчанию</a:t>
            </a:r>
            <a:r>
              <a:rPr lang="ru-RU" altLang="ru-RU" sz="1800" dirty="0">
                <a:solidFill>
                  <a:srgbClr val="33333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ru-RU" altLang="ru-RU" sz="1800" i="1" dirty="0">
                <a:solidFill>
                  <a:srgbClr val="60A0B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 нарисуются цветовые плашки:</a:t>
            </a:r>
            <a:r>
              <a:rPr lang="ru-RU" altLang="ru-RU" sz="1800" dirty="0">
                <a:solidFill>
                  <a:srgbClr val="33333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</a:p>
          <a:p>
            <a:pPr eaLnBrk="0" hangingPunct="0"/>
            <a:r>
              <a:rPr lang="ru-RU" altLang="ru-RU" sz="1800" b="1" dirty="0" err="1">
                <a:solidFill>
                  <a:srgbClr val="00702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legend</a:t>
            </a:r>
            <a:r>
              <a:rPr lang="ru-RU" altLang="ru-RU" sz="1800" dirty="0">
                <a:solidFill>
                  <a:srgbClr val="33333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ru-RU" altLang="ru-RU" sz="1800" dirty="0" err="1">
                <a:solidFill>
                  <a:srgbClr val="33333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location</a:t>
            </a:r>
            <a:r>
              <a:rPr lang="ru-RU" altLang="ru-RU" sz="1800" dirty="0">
                <a:solidFill>
                  <a:srgbClr val="33333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ru-RU" altLang="ru-RU" sz="1800" dirty="0" err="1">
                <a:solidFill>
                  <a:srgbClr val="33333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labels</a:t>
            </a:r>
            <a:r>
              <a:rPr lang="ru-RU" altLang="ru-RU" sz="1800" dirty="0">
                <a:solidFill>
                  <a:srgbClr val="33333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ru-RU" altLang="ru-RU" sz="1800" dirty="0" err="1">
                <a:solidFill>
                  <a:srgbClr val="902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title</a:t>
            </a:r>
            <a:r>
              <a:rPr lang="ru-RU" altLang="ru-RU" sz="1800" dirty="0">
                <a:solidFill>
                  <a:srgbClr val="902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</a:t>
            </a:r>
            <a:r>
              <a:rPr lang="ru-RU" altLang="ru-RU" sz="1800" dirty="0">
                <a:solidFill>
                  <a:srgbClr val="33333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ru-RU" altLang="ru-RU" sz="1800" dirty="0" err="1">
                <a:solidFill>
                  <a:srgbClr val="33333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main</a:t>
            </a:r>
            <a:r>
              <a:rPr lang="ru-RU" altLang="ru-RU" sz="1800" dirty="0">
                <a:solidFill>
                  <a:srgbClr val="33333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ru-RU" altLang="ru-RU" sz="1800" dirty="0" err="1">
                <a:solidFill>
                  <a:srgbClr val="902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fill</a:t>
            </a:r>
            <a:r>
              <a:rPr lang="ru-RU" altLang="ru-RU" sz="1800" dirty="0">
                <a:solidFill>
                  <a:srgbClr val="902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ru-RU" altLang="ru-RU" sz="1800" dirty="0" err="1">
                <a:solidFill>
                  <a:srgbClr val="33333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colors</a:t>
            </a:r>
            <a:r>
              <a:rPr lang="ru-RU" altLang="ru-RU" sz="1800" dirty="0">
                <a:solidFill>
                  <a:srgbClr val="33333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  <a:r>
              <a:rPr lang="ru-RU" altLang="ru-RU" sz="1800" dirty="0"/>
              <a:t> </a:t>
            </a:r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2056367" y="1783920"/>
            <a:ext cx="8149295" cy="1938992"/>
          </a:xfrm>
          <a:prstGeom prst="rect">
            <a:avLst/>
          </a:prstGeom>
          <a:solidFill>
            <a:srgbClr val="F7F7F7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eaLnBrk="0" hangingPunct="0"/>
            <a:r>
              <a:rPr lang="ru-RU" altLang="ru-RU" sz="1800" i="1" dirty="0">
                <a:solidFill>
                  <a:srgbClr val="60A0B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 Добавим на график данные</a:t>
            </a:r>
            <a:r>
              <a:rPr lang="ru-RU" altLang="ru-RU" sz="1800" dirty="0">
                <a:solidFill>
                  <a:srgbClr val="33333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</a:p>
          <a:p>
            <a:pPr eaLnBrk="0" hangingPunct="0"/>
            <a:r>
              <a:rPr lang="ru-RU" altLang="ru-RU" sz="1800" b="1" dirty="0" err="1">
                <a:solidFill>
                  <a:srgbClr val="00702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points</a:t>
            </a:r>
            <a:r>
              <a:rPr lang="ru-RU" altLang="ru-RU" sz="1800" dirty="0">
                <a:solidFill>
                  <a:srgbClr val="33333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ru-RU" altLang="ru-RU" sz="1800" dirty="0" err="1">
                <a:solidFill>
                  <a:srgbClr val="33333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tab</a:t>
            </a:r>
            <a:r>
              <a:rPr lang="ru-RU" altLang="ru-RU" sz="1800" dirty="0" err="1">
                <a:solidFill>
                  <a:srgbClr val="66666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$</a:t>
            </a:r>
            <a:r>
              <a:rPr lang="ru-RU" altLang="ru-RU" sz="1800" dirty="0" err="1">
                <a:solidFill>
                  <a:srgbClr val="33333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Год</a:t>
            </a:r>
            <a:r>
              <a:rPr lang="ru-RU" altLang="ru-RU" sz="1800" dirty="0">
                <a:solidFill>
                  <a:srgbClr val="33333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ru-RU" altLang="ru-RU" sz="1800" dirty="0" err="1">
                <a:solidFill>
                  <a:srgbClr val="33333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tab</a:t>
            </a:r>
            <a:r>
              <a:rPr lang="ru-RU" altLang="ru-RU" sz="1800" dirty="0" err="1">
                <a:solidFill>
                  <a:srgbClr val="66666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$</a:t>
            </a:r>
            <a:r>
              <a:rPr lang="ru-RU" altLang="ru-RU" sz="1800" dirty="0" err="1">
                <a:solidFill>
                  <a:srgbClr val="33333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Каспийское</a:t>
            </a:r>
            <a:r>
              <a:rPr lang="ru-RU" altLang="ru-RU" sz="1800" dirty="0">
                <a:solidFill>
                  <a:srgbClr val="33333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ru-RU" altLang="ru-RU" sz="1800" dirty="0" err="1">
                <a:solidFill>
                  <a:srgbClr val="902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pch</a:t>
            </a:r>
            <a:r>
              <a:rPr lang="ru-RU" altLang="ru-RU" sz="1800" dirty="0">
                <a:solidFill>
                  <a:srgbClr val="902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ru-RU" altLang="ru-RU" sz="1800" dirty="0">
                <a:solidFill>
                  <a:srgbClr val="40A07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20</a:t>
            </a:r>
            <a:r>
              <a:rPr lang="ru-RU" altLang="ru-RU" sz="1800" dirty="0">
                <a:solidFill>
                  <a:srgbClr val="33333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ru-RU" altLang="ru-RU" sz="1800" dirty="0" err="1">
                <a:solidFill>
                  <a:srgbClr val="902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col</a:t>
            </a:r>
            <a:r>
              <a:rPr lang="ru-RU" altLang="ru-RU" sz="1800" dirty="0">
                <a:solidFill>
                  <a:srgbClr val="902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ru-RU" altLang="ru-RU" sz="1800" dirty="0">
                <a:solidFill>
                  <a:srgbClr val="407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"red3"</a:t>
            </a:r>
            <a:r>
              <a:rPr lang="ru-RU" altLang="ru-RU" sz="1800" dirty="0">
                <a:solidFill>
                  <a:srgbClr val="33333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 </a:t>
            </a:r>
          </a:p>
          <a:p>
            <a:pPr eaLnBrk="0" hangingPunct="0"/>
            <a:r>
              <a:rPr lang="ru-RU" altLang="ru-RU" sz="1800" b="1" dirty="0" err="1">
                <a:solidFill>
                  <a:srgbClr val="00702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lines</a:t>
            </a:r>
            <a:r>
              <a:rPr lang="ru-RU" altLang="ru-RU" sz="1800" dirty="0">
                <a:solidFill>
                  <a:srgbClr val="33333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ru-RU" altLang="ru-RU" sz="1800" dirty="0" err="1">
                <a:solidFill>
                  <a:srgbClr val="33333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tab</a:t>
            </a:r>
            <a:r>
              <a:rPr lang="ru-RU" altLang="ru-RU" sz="1800" dirty="0" err="1">
                <a:solidFill>
                  <a:srgbClr val="66666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$</a:t>
            </a:r>
            <a:r>
              <a:rPr lang="ru-RU" altLang="ru-RU" sz="1800" dirty="0" err="1">
                <a:solidFill>
                  <a:srgbClr val="33333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Год</a:t>
            </a:r>
            <a:r>
              <a:rPr lang="ru-RU" altLang="ru-RU" sz="1800" dirty="0">
                <a:solidFill>
                  <a:srgbClr val="33333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ru-RU" altLang="ru-RU" sz="1800" dirty="0" err="1">
                <a:solidFill>
                  <a:srgbClr val="33333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tab</a:t>
            </a:r>
            <a:r>
              <a:rPr lang="ru-RU" altLang="ru-RU" sz="1800" dirty="0" err="1">
                <a:solidFill>
                  <a:srgbClr val="66666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$</a:t>
            </a:r>
            <a:r>
              <a:rPr lang="ru-RU" altLang="ru-RU" sz="1800" dirty="0" err="1">
                <a:solidFill>
                  <a:srgbClr val="33333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Каспийское</a:t>
            </a:r>
            <a:r>
              <a:rPr lang="ru-RU" altLang="ru-RU" sz="1800" dirty="0">
                <a:solidFill>
                  <a:srgbClr val="33333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ru-RU" altLang="ru-RU" sz="1800" dirty="0" err="1">
                <a:solidFill>
                  <a:srgbClr val="902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pch</a:t>
            </a:r>
            <a:r>
              <a:rPr lang="ru-RU" altLang="ru-RU" sz="1800" dirty="0">
                <a:solidFill>
                  <a:srgbClr val="902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ru-RU" altLang="ru-RU" sz="1800" dirty="0">
                <a:solidFill>
                  <a:srgbClr val="40A07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20</a:t>
            </a:r>
            <a:r>
              <a:rPr lang="ru-RU" altLang="ru-RU" sz="1800" dirty="0">
                <a:solidFill>
                  <a:srgbClr val="33333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ru-RU" altLang="ru-RU" sz="1800" dirty="0" err="1">
                <a:solidFill>
                  <a:srgbClr val="902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col</a:t>
            </a:r>
            <a:r>
              <a:rPr lang="ru-RU" altLang="ru-RU" sz="1800" dirty="0">
                <a:solidFill>
                  <a:srgbClr val="902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ru-RU" altLang="ru-RU" sz="1800" dirty="0">
                <a:solidFill>
                  <a:srgbClr val="407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"red3"</a:t>
            </a:r>
            <a:r>
              <a:rPr lang="ru-RU" altLang="ru-RU" sz="1800" dirty="0">
                <a:solidFill>
                  <a:srgbClr val="33333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 </a:t>
            </a:r>
          </a:p>
          <a:p>
            <a:pPr eaLnBrk="0" hangingPunct="0"/>
            <a:r>
              <a:rPr lang="ru-RU" altLang="ru-RU" sz="1800" b="1" dirty="0" err="1">
                <a:solidFill>
                  <a:srgbClr val="00702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points</a:t>
            </a:r>
            <a:r>
              <a:rPr lang="ru-RU" altLang="ru-RU" sz="1800" dirty="0">
                <a:solidFill>
                  <a:srgbClr val="33333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ru-RU" altLang="ru-RU" sz="1800" dirty="0" err="1">
                <a:solidFill>
                  <a:srgbClr val="33333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tab</a:t>
            </a:r>
            <a:r>
              <a:rPr lang="ru-RU" altLang="ru-RU" sz="1800" dirty="0" err="1">
                <a:solidFill>
                  <a:srgbClr val="66666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$</a:t>
            </a:r>
            <a:r>
              <a:rPr lang="ru-RU" altLang="ru-RU" sz="1800" dirty="0" err="1">
                <a:solidFill>
                  <a:srgbClr val="33333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Год</a:t>
            </a:r>
            <a:r>
              <a:rPr lang="ru-RU" altLang="ru-RU" sz="1800" dirty="0">
                <a:solidFill>
                  <a:srgbClr val="33333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ru-RU" altLang="ru-RU" sz="1800" dirty="0" err="1">
                <a:solidFill>
                  <a:srgbClr val="33333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tab</a:t>
            </a:r>
            <a:r>
              <a:rPr lang="ru-RU" altLang="ru-RU" sz="1800" dirty="0" err="1">
                <a:solidFill>
                  <a:srgbClr val="66666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$</a:t>
            </a:r>
            <a:r>
              <a:rPr lang="ru-RU" altLang="ru-RU" sz="1800" dirty="0" err="1">
                <a:solidFill>
                  <a:srgbClr val="33333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Карское</a:t>
            </a:r>
            <a:r>
              <a:rPr lang="ru-RU" altLang="ru-RU" sz="1800" dirty="0">
                <a:solidFill>
                  <a:srgbClr val="33333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ru-RU" altLang="ru-RU" sz="1800" dirty="0" err="1">
                <a:solidFill>
                  <a:srgbClr val="902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pch</a:t>
            </a:r>
            <a:r>
              <a:rPr lang="ru-RU" altLang="ru-RU" sz="1800" dirty="0">
                <a:solidFill>
                  <a:srgbClr val="902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ru-RU" altLang="ru-RU" sz="1800" dirty="0">
                <a:solidFill>
                  <a:srgbClr val="40A07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20</a:t>
            </a:r>
            <a:r>
              <a:rPr lang="ru-RU" altLang="ru-RU" sz="1800" dirty="0">
                <a:solidFill>
                  <a:srgbClr val="33333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ru-RU" altLang="ru-RU" sz="1800" dirty="0" err="1">
                <a:solidFill>
                  <a:srgbClr val="902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col</a:t>
            </a:r>
            <a:r>
              <a:rPr lang="ru-RU" altLang="ru-RU" sz="1800" dirty="0">
                <a:solidFill>
                  <a:srgbClr val="902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ru-RU" altLang="ru-RU" sz="1800" dirty="0">
                <a:solidFill>
                  <a:srgbClr val="407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</a:t>
            </a:r>
            <a:r>
              <a:rPr lang="ru-RU" altLang="ru-RU" sz="1800" dirty="0" err="1">
                <a:solidFill>
                  <a:srgbClr val="407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forestgreen</a:t>
            </a:r>
            <a:r>
              <a:rPr lang="ru-RU" altLang="ru-RU" sz="1800" dirty="0">
                <a:solidFill>
                  <a:srgbClr val="407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</a:t>
            </a:r>
            <a:r>
              <a:rPr lang="ru-RU" altLang="ru-RU" sz="1800" dirty="0">
                <a:solidFill>
                  <a:srgbClr val="33333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 </a:t>
            </a:r>
          </a:p>
          <a:p>
            <a:pPr eaLnBrk="0" hangingPunct="0"/>
            <a:r>
              <a:rPr lang="ru-RU" altLang="ru-RU" sz="1800" b="1" dirty="0" err="1">
                <a:solidFill>
                  <a:srgbClr val="00702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lines</a:t>
            </a:r>
            <a:r>
              <a:rPr lang="ru-RU" altLang="ru-RU" sz="1800" dirty="0">
                <a:solidFill>
                  <a:srgbClr val="33333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ru-RU" altLang="ru-RU" sz="1800" dirty="0" err="1">
                <a:solidFill>
                  <a:srgbClr val="33333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tab</a:t>
            </a:r>
            <a:r>
              <a:rPr lang="ru-RU" altLang="ru-RU" sz="1800" dirty="0" err="1">
                <a:solidFill>
                  <a:srgbClr val="66666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$</a:t>
            </a:r>
            <a:r>
              <a:rPr lang="ru-RU" altLang="ru-RU" sz="1800" dirty="0" err="1">
                <a:solidFill>
                  <a:srgbClr val="33333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Год</a:t>
            </a:r>
            <a:r>
              <a:rPr lang="ru-RU" altLang="ru-RU" sz="1800" dirty="0">
                <a:solidFill>
                  <a:srgbClr val="33333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ru-RU" altLang="ru-RU" sz="1800" dirty="0" err="1">
                <a:solidFill>
                  <a:srgbClr val="33333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tab</a:t>
            </a:r>
            <a:r>
              <a:rPr lang="ru-RU" altLang="ru-RU" sz="1800" dirty="0" err="1">
                <a:solidFill>
                  <a:srgbClr val="66666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$</a:t>
            </a:r>
            <a:r>
              <a:rPr lang="ru-RU" altLang="ru-RU" sz="1800" dirty="0" err="1">
                <a:solidFill>
                  <a:srgbClr val="33333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Карское</a:t>
            </a:r>
            <a:r>
              <a:rPr lang="ru-RU" altLang="ru-RU" sz="1800" dirty="0">
                <a:solidFill>
                  <a:srgbClr val="33333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ru-RU" altLang="ru-RU" sz="1800" dirty="0" err="1">
                <a:solidFill>
                  <a:srgbClr val="902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pch</a:t>
            </a:r>
            <a:r>
              <a:rPr lang="ru-RU" altLang="ru-RU" sz="1800" dirty="0">
                <a:solidFill>
                  <a:srgbClr val="902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ru-RU" altLang="ru-RU" sz="1800" dirty="0">
                <a:solidFill>
                  <a:srgbClr val="40A07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20</a:t>
            </a:r>
            <a:r>
              <a:rPr lang="ru-RU" altLang="ru-RU" sz="1800" dirty="0">
                <a:solidFill>
                  <a:srgbClr val="33333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ru-RU" altLang="ru-RU" sz="1800" dirty="0" err="1">
                <a:solidFill>
                  <a:srgbClr val="902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col</a:t>
            </a:r>
            <a:r>
              <a:rPr lang="ru-RU" altLang="ru-RU" sz="1800" dirty="0">
                <a:solidFill>
                  <a:srgbClr val="902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ru-RU" altLang="ru-RU" sz="1800" dirty="0">
                <a:solidFill>
                  <a:srgbClr val="407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</a:t>
            </a:r>
            <a:r>
              <a:rPr lang="ru-RU" altLang="ru-RU" sz="1800" dirty="0" err="1">
                <a:solidFill>
                  <a:srgbClr val="407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forestgreen</a:t>
            </a:r>
            <a:r>
              <a:rPr lang="ru-RU" altLang="ru-RU" sz="1800" dirty="0">
                <a:solidFill>
                  <a:srgbClr val="407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</a:t>
            </a:r>
            <a:r>
              <a:rPr lang="ru-RU" altLang="ru-RU" sz="1800" dirty="0">
                <a:solidFill>
                  <a:srgbClr val="33333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 </a:t>
            </a:r>
          </a:p>
          <a:p>
            <a:pPr eaLnBrk="0" hangingPunct="0"/>
            <a:r>
              <a:rPr lang="ru-RU" altLang="ru-RU" sz="1800" b="1" dirty="0" err="1">
                <a:solidFill>
                  <a:srgbClr val="00702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points</a:t>
            </a:r>
            <a:r>
              <a:rPr lang="ru-RU" altLang="ru-RU" sz="1800" dirty="0">
                <a:solidFill>
                  <a:srgbClr val="33333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ru-RU" altLang="ru-RU" sz="1800" dirty="0" err="1">
                <a:solidFill>
                  <a:srgbClr val="33333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tab</a:t>
            </a:r>
            <a:r>
              <a:rPr lang="ru-RU" altLang="ru-RU" sz="1800" dirty="0" err="1">
                <a:solidFill>
                  <a:srgbClr val="66666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$</a:t>
            </a:r>
            <a:r>
              <a:rPr lang="ru-RU" altLang="ru-RU" sz="1800" dirty="0" err="1">
                <a:solidFill>
                  <a:srgbClr val="33333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Год</a:t>
            </a:r>
            <a:r>
              <a:rPr lang="ru-RU" altLang="ru-RU" sz="1800" dirty="0">
                <a:solidFill>
                  <a:srgbClr val="33333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ru-RU" altLang="ru-RU" sz="1800" dirty="0" err="1">
                <a:solidFill>
                  <a:srgbClr val="33333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tab</a:t>
            </a:r>
            <a:r>
              <a:rPr lang="ru-RU" altLang="ru-RU" sz="1800" dirty="0" err="1">
                <a:solidFill>
                  <a:srgbClr val="66666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$</a:t>
            </a:r>
            <a:r>
              <a:rPr lang="ru-RU" altLang="ru-RU" sz="1800" dirty="0" err="1">
                <a:solidFill>
                  <a:srgbClr val="33333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Азовское</a:t>
            </a:r>
            <a:r>
              <a:rPr lang="ru-RU" altLang="ru-RU" sz="1800" dirty="0">
                <a:solidFill>
                  <a:srgbClr val="33333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ru-RU" altLang="ru-RU" sz="1800" dirty="0" err="1">
                <a:solidFill>
                  <a:srgbClr val="902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pch</a:t>
            </a:r>
            <a:r>
              <a:rPr lang="ru-RU" altLang="ru-RU" sz="1800" dirty="0">
                <a:solidFill>
                  <a:srgbClr val="902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ru-RU" altLang="ru-RU" sz="1800" dirty="0">
                <a:solidFill>
                  <a:srgbClr val="40A07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20</a:t>
            </a:r>
            <a:r>
              <a:rPr lang="ru-RU" altLang="ru-RU" sz="1800" dirty="0">
                <a:solidFill>
                  <a:srgbClr val="33333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ru-RU" altLang="ru-RU" sz="1800" dirty="0" err="1">
                <a:solidFill>
                  <a:srgbClr val="902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col</a:t>
            </a:r>
            <a:r>
              <a:rPr lang="ru-RU" altLang="ru-RU" sz="1800" dirty="0">
                <a:solidFill>
                  <a:srgbClr val="902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ru-RU" altLang="ru-RU" sz="1800" dirty="0">
                <a:solidFill>
                  <a:srgbClr val="407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</a:t>
            </a:r>
            <a:r>
              <a:rPr lang="ru-RU" altLang="ru-RU" sz="1800" dirty="0" err="1">
                <a:solidFill>
                  <a:srgbClr val="407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steelblue</a:t>
            </a:r>
            <a:r>
              <a:rPr lang="ru-RU" altLang="ru-RU" sz="1800" dirty="0">
                <a:solidFill>
                  <a:srgbClr val="407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</a:t>
            </a:r>
            <a:r>
              <a:rPr lang="ru-RU" altLang="ru-RU" sz="1800" dirty="0">
                <a:solidFill>
                  <a:srgbClr val="33333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 </a:t>
            </a:r>
          </a:p>
          <a:p>
            <a:pPr eaLnBrk="0" hangingPunct="0"/>
            <a:r>
              <a:rPr lang="ru-RU" altLang="ru-RU" sz="1800" b="1" dirty="0" err="1">
                <a:solidFill>
                  <a:srgbClr val="00702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lines</a:t>
            </a:r>
            <a:r>
              <a:rPr lang="ru-RU" altLang="ru-RU" sz="1800" dirty="0">
                <a:solidFill>
                  <a:srgbClr val="33333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ru-RU" altLang="ru-RU" sz="1800" dirty="0" err="1">
                <a:solidFill>
                  <a:srgbClr val="33333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tab</a:t>
            </a:r>
            <a:r>
              <a:rPr lang="ru-RU" altLang="ru-RU" sz="1800" dirty="0" err="1">
                <a:solidFill>
                  <a:srgbClr val="66666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$</a:t>
            </a:r>
            <a:r>
              <a:rPr lang="ru-RU" altLang="ru-RU" sz="1800" dirty="0" err="1">
                <a:solidFill>
                  <a:srgbClr val="33333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Год</a:t>
            </a:r>
            <a:r>
              <a:rPr lang="ru-RU" altLang="ru-RU" sz="1800" dirty="0">
                <a:solidFill>
                  <a:srgbClr val="33333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ru-RU" altLang="ru-RU" sz="1800" dirty="0" err="1">
                <a:solidFill>
                  <a:srgbClr val="33333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tab</a:t>
            </a:r>
            <a:r>
              <a:rPr lang="ru-RU" altLang="ru-RU" sz="1800" dirty="0" err="1">
                <a:solidFill>
                  <a:srgbClr val="66666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$</a:t>
            </a:r>
            <a:r>
              <a:rPr lang="ru-RU" altLang="ru-RU" sz="1800" dirty="0" err="1">
                <a:solidFill>
                  <a:srgbClr val="33333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Азовское</a:t>
            </a:r>
            <a:r>
              <a:rPr lang="ru-RU" altLang="ru-RU" sz="1800" dirty="0">
                <a:solidFill>
                  <a:srgbClr val="33333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ru-RU" altLang="ru-RU" sz="1800" dirty="0" err="1">
                <a:solidFill>
                  <a:srgbClr val="902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pch</a:t>
            </a:r>
            <a:r>
              <a:rPr lang="ru-RU" altLang="ru-RU" sz="1800" dirty="0">
                <a:solidFill>
                  <a:srgbClr val="902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ru-RU" altLang="ru-RU" sz="1800" dirty="0">
                <a:solidFill>
                  <a:srgbClr val="40A07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20</a:t>
            </a:r>
            <a:r>
              <a:rPr lang="ru-RU" altLang="ru-RU" sz="1800" dirty="0">
                <a:solidFill>
                  <a:srgbClr val="33333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ru-RU" altLang="ru-RU" sz="1800" dirty="0" err="1">
                <a:solidFill>
                  <a:srgbClr val="902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col</a:t>
            </a:r>
            <a:r>
              <a:rPr lang="ru-RU" altLang="ru-RU" sz="1800" dirty="0">
                <a:solidFill>
                  <a:srgbClr val="902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ru-RU" altLang="ru-RU" sz="1800" dirty="0">
                <a:solidFill>
                  <a:srgbClr val="407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</a:t>
            </a:r>
            <a:r>
              <a:rPr lang="ru-RU" altLang="ru-RU" sz="1800" dirty="0" err="1">
                <a:solidFill>
                  <a:srgbClr val="407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steelblue</a:t>
            </a:r>
            <a:r>
              <a:rPr lang="ru-RU" altLang="ru-RU" sz="1800" dirty="0">
                <a:solidFill>
                  <a:srgbClr val="407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</a:t>
            </a:r>
            <a:r>
              <a:rPr lang="ru-RU" altLang="ru-RU" sz="1800" dirty="0">
                <a:solidFill>
                  <a:srgbClr val="33333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  <a:r>
              <a:rPr lang="ru-RU" altLang="ru-RU" sz="1800" dirty="0"/>
              <a:t> </a:t>
            </a:r>
          </a:p>
        </p:txBody>
      </p:sp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2B6C0E-C4B9-4094-8E59-5B7DF00D5415}" type="slidenum">
              <a:rPr lang="ru-RU" smtClean="0">
                <a:solidFill>
                  <a:schemeClr val="tx1"/>
                </a:solidFill>
              </a:rPr>
              <a:t>61</a:t>
            </a:fld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10" name="Заголовок 1"/>
          <p:cNvSpPr>
            <a:spLocks noGrp="1"/>
          </p:cNvSpPr>
          <p:nvPr>
            <p:ph type="title"/>
          </p:nvPr>
        </p:nvSpPr>
        <p:spPr>
          <a:xfrm>
            <a:off x="2013645" y="230676"/>
            <a:ext cx="8503820" cy="812188"/>
          </a:xfrm>
        </p:spPr>
        <p:txBody>
          <a:bodyPr>
            <a:noAutofit/>
          </a:bodyPr>
          <a:lstStyle/>
          <a:p>
            <a:pPr>
              <a:lnSpc>
                <a:spcPts val="4400"/>
              </a:lnSpc>
              <a:defRPr/>
            </a:pPr>
            <a:r>
              <a:rPr lang="ru-RU" sz="3600" dirty="0"/>
              <a:t>Оформление графического вывода в </a:t>
            </a:r>
            <a:r>
              <a:rPr lang="en-US" sz="3600" dirty="0"/>
              <a:t>R</a:t>
            </a:r>
            <a:endParaRPr lang="ru-RU" sz="3600" dirty="0"/>
          </a:p>
        </p:txBody>
      </p:sp>
    </p:spTree>
    <p:extLst>
      <p:ext uri="{BB962C8B-B14F-4D97-AF65-F5344CB8AC3E}">
        <p14:creationId xmlns:p14="http://schemas.microsoft.com/office/powerpoint/2010/main" val="32271488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AutoShape 2">
            <a:extLst>
              <a:ext uri="{FF2B5EF4-FFF2-40B4-BE49-F238E27FC236}">
                <a16:creationId xmlns:a16="http://schemas.microsoft.com/office/drawing/2014/main" id="{046AD32E-30EC-4637-A8FD-F37CCCA430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9469" y="322263"/>
            <a:ext cx="11809311" cy="6553249"/>
          </a:xfrm>
          <a:prstGeom prst="roundRect">
            <a:avLst>
              <a:gd name="adj" fmla="val 16667"/>
            </a:avLst>
          </a:prstGeom>
          <a:solidFill>
            <a:schemeClr val="bg1">
              <a:alpha val="50000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9441" tIns="49721" rIns="99441" bIns="49721" anchor="ctr"/>
          <a:lstStyle>
            <a:lvl1pPr defTabSz="99377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1177925" defTabSz="99377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373188" defTabSz="99377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66863" defTabSz="99377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89138" defTabSz="99377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46338" defTabSz="9937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03538" defTabSz="9937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60738" defTabSz="9937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17938" defTabSz="9937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ru-RU" altLang="ru-RU" sz="3500">
              <a:solidFill>
                <a:schemeClr val="bg1"/>
              </a:solidFill>
            </a:endParaRPr>
          </a:p>
        </p:txBody>
      </p:sp>
      <p:sp>
        <p:nvSpPr>
          <p:cNvPr id="13" name="Скругленный прямоугольник 8">
            <a:extLst>
              <a:ext uri="{FF2B5EF4-FFF2-40B4-BE49-F238E27FC236}">
                <a16:creationId xmlns:a16="http://schemas.microsoft.com/office/drawing/2014/main" id="{94F09E30-54AD-4FAA-9BD3-31C6DB670053}"/>
              </a:ext>
            </a:extLst>
          </p:cNvPr>
          <p:cNvSpPr/>
          <p:nvPr/>
        </p:nvSpPr>
        <p:spPr bwMode="auto">
          <a:xfrm>
            <a:off x="1077541" y="1167018"/>
            <a:ext cx="10729192" cy="5527311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  <a:headEnd type="none" w="med" len="med"/>
            <a:tailEnd type="none" w="med" len="med"/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defTabSz="993775"/>
            <a:endParaRPr lang="ru-RU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AutoShape 5"/>
          <p:cNvSpPr>
            <a:spLocks noChangeArrowheads="1"/>
          </p:cNvSpPr>
          <p:nvPr/>
        </p:nvSpPr>
        <p:spPr bwMode="auto">
          <a:xfrm>
            <a:off x="2085977" y="469900"/>
            <a:ext cx="8351837" cy="665683"/>
          </a:xfrm>
          <a:prstGeom prst="roundRect">
            <a:avLst>
              <a:gd name="adj" fmla="val 16667"/>
            </a:avLst>
          </a:prstGeom>
          <a:solidFill>
            <a:srgbClr val="FFFFFF">
              <a:alpha val="78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9441" tIns="49721" rIns="99441" bIns="49721" anchor="ctr"/>
          <a:lstStyle>
            <a:lvl1pPr defTabSz="99377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1177925" defTabSz="99377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373188" defTabSz="99377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66863" defTabSz="99377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89138" defTabSz="99377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46338" defTabSz="9937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03538" defTabSz="9937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60738" defTabSz="9937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17938" defTabSz="9937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ru-RU" altLang="ru-RU" sz="3500">
              <a:solidFill>
                <a:schemeClr val="bg1"/>
              </a:solidFill>
            </a:endParaRPr>
          </a:p>
        </p:txBody>
      </p:sp>
      <p:pic>
        <p:nvPicPr>
          <p:cNvPr id="13314" name="Picture 2" descr="https://tsamsonov.github.io/r-geo-course/r-geo-course_files/figure-html/caspianlegend-1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83139" y="1584148"/>
            <a:ext cx="6957511" cy="49696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2B6C0E-C4B9-4094-8E59-5B7DF00D5415}" type="slidenum">
              <a:rPr lang="ru-RU" smtClean="0">
                <a:solidFill>
                  <a:schemeClr val="tx1"/>
                </a:solidFill>
              </a:rPr>
              <a:t>62</a:t>
            </a:fld>
            <a:endParaRPr lang="ru-RU">
              <a:solidFill>
                <a:schemeClr val="tx1"/>
              </a:solidFill>
            </a:endParaRPr>
          </a:p>
        </p:txBody>
      </p:sp>
      <p:sp>
        <p:nvSpPr>
          <p:cNvPr id="10" name="Заголовок 1"/>
          <p:cNvSpPr>
            <a:spLocks noGrp="1"/>
          </p:cNvSpPr>
          <p:nvPr>
            <p:ph type="title"/>
          </p:nvPr>
        </p:nvSpPr>
        <p:spPr>
          <a:xfrm>
            <a:off x="2013645" y="230676"/>
            <a:ext cx="8503820" cy="812188"/>
          </a:xfrm>
        </p:spPr>
        <p:txBody>
          <a:bodyPr>
            <a:noAutofit/>
          </a:bodyPr>
          <a:lstStyle/>
          <a:p>
            <a:pPr>
              <a:lnSpc>
                <a:spcPts val="4400"/>
              </a:lnSpc>
              <a:defRPr/>
            </a:pPr>
            <a:r>
              <a:rPr lang="ru-RU" sz="3600" dirty="0"/>
              <a:t>Оформление графического вывода в </a:t>
            </a:r>
            <a:r>
              <a:rPr lang="en-US" sz="3600" dirty="0"/>
              <a:t>R</a:t>
            </a:r>
            <a:endParaRPr lang="ru-RU" sz="3600" dirty="0"/>
          </a:p>
        </p:txBody>
      </p:sp>
    </p:spTree>
    <p:extLst>
      <p:ext uri="{BB962C8B-B14F-4D97-AF65-F5344CB8AC3E}">
        <p14:creationId xmlns:p14="http://schemas.microsoft.com/office/powerpoint/2010/main" val="2113010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AutoShape 2">
            <a:extLst>
              <a:ext uri="{FF2B5EF4-FFF2-40B4-BE49-F238E27FC236}">
                <a16:creationId xmlns:a16="http://schemas.microsoft.com/office/drawing/2014/main" id="{7184E0E2-899D-43DF-90EC-EEF20730C6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9469" y="322263"/>
            <a:ext cx="11809311" cy="6553249"/>
          </a:xfrm>
          <a:prstGeom prst="roundRect">
            <a:avLst>
              <a:gd name="adj" fmla="val 16667"/>
            </a:avLst>
          </a:prstGeom>
          <a:solidFill>
            <a:schemeClr val="bg1">
              <a:alpha val="50000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9441" tIns="49721" rIns="99441" bIns="49721" anchor="ctr"/>
          <a:lstStyle>
            <a:lvl1pPr defTabSz="99377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1177925" defTabSz="99377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373188" defTabSz="99377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66863" defTabSz="99377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89138" defTabSz="99377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46338" defTabSz="9937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03538" defTabSz="9937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60738" defTabSz="9937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17938" defTabSz="9937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ru-RU" altLang="ru-RU" sz="3500">
              <a:solidFill>
                <a:schemeClr val="bg1"/>
              </a:solidFill>
            </a:endParaRPr>
          </a:p>
        </p:txBody>
      </p:sp>
      <p:sp>
        <p:nvSpPr>
          <p:cNvPr id="15" name="Скругленный прямоугольник 8">
            <a:extLst>
              <a:ext uri="{FF2B5EF4-FFF2-40B4-BE49-F238E27FC236}">
                <a16:creationId xmlns:a16="http://schemas.microsoft.com/office/drawing/2014/main" id="{A9BD7347-3849-40C9-92F4-2C5E236F6D12}"/>
              </a:ext>
            </a:extLst>
          </p:cNvPr>
          <p:cNvSpPr/>
          <p:nvPr/>
        </p:nvSpPr>
        <p:spPr bwMode="auto">
          <a:xfrm>
            <a:off x="1077541" y="1167018"/>
            <a:ext cx="10729192" cy="5527311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  <a:headEnd type="none" w="med" len="med"/>
            <a:tailEnd type="none" w="med" len="med"/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defTabSz="993775"/>
            <a:endParaRPr lang="ru-RU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AutoShape 5"/>
          <p:cNvSpPr>
            <a:spLocks noChangeArrowheads="1"/>
          </p:cNvSpPr>
          <p:nvPr/>
        </p:nvSpPr>
        <p:spPr bwMode="auto">
          <a:xfrm>
            <a:off x="2085977" y="469900"/>
            <a:ext cx="8351837" cy="665683"/>
          </a:xfrm>
          <a:prstGeom prst="roundRect">
            <a:avLst>
              <a:gd name="adj" fmla="val 16667"/>
            </a:avLst>
          </a:prstGeom>
          <a:solidFill>
            <a:srgbClr val="FFFFFF">
              <a:alpha val="78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9441" tIns="49721" rIns="99441" bIns="49721" anchor="ctr"/>
          <a:lstStyle>
            <a:lvl1pPr defTabSz="99377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1177925" defTabSz="99377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373188" defTabSz="99377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66863" defTabSz="99377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89138" defTabSz="99377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46338" defTabSz="9937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03538" defTabSz="9937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60738" defTabSz="9937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17938" defTabSz="9937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ru-RU" altLang="ru-RU" sz="3500">
              <a:solidFill>
                <a:schemeClr val="bg1"/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2165629" y="1578383"/>
            <a:ext cx="8683513" cy="476735"/>
          </a:xfrm>
        </p:spPr>
        <p:txBody>
          <a:bodyPr>
            <a:normAutofit lnSpcReduction="10000"/>
          </a:bodyPr>
          <a:lstStyle/>
          <a:p>
            <a:pPr marL="0" indent="0">
              <a:buNone/>
              <a:defRPr/>
            </a:pPr>
            <a:r>
              <a:rPr lang="ru-RU" sz="2800" b="1" dirty="0"/>
              <a:t>Дополнительные возможности</a:t>
            </a:r>
            <a:endParaRPr lang="ru-RU" sz="2800" dirty="0"/>
          </a:p>
        </p:txBody>
      </p:sp>
      <p:pic>
        <p:nvPicPr>
          <p:cNvPr id="96260" name="Рисунок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95335" y="3764411"/>
            <a:ext cx="4171216" cy="29946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Прямоугольник 7"/>
          <p:cNvSpPr/>
          <p:nvPr/>
        </p:nvSpPr>
        <p:spPr>
          <a:xfrm>
            <a:off x="6687022" y="4064885"/>
            <a:ext cx="4198050" cy="19259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lnSpc>
                <a:spcPct val="85000"/>
              </a:lnSpc>
              <a:spcBef>
                <a:spcPct val="25000"/>
              </a:spcBef>
              <a:buClr>
                <a:srgbClr val="F4BE96"/>
              </a:buClr>
              <a:buSzPct val="80000"/>
              <a:defRPr/>
            </a:pPr>
            <a:r>
              <a:rPr lang="ru-RU" dirty="0">
                <a:latin typeface="+mn-lt"/>
              </a:rPr>
              <a:t>При построении гистограммы (как и любого другого типа графика) можно использовать не весь массив данных, а только его подмножество Например, можно посмотреть гистограмму только для субъектов с объемом экспорта менее 300:</a:t>
            </a:r>
          </a:p>
        </p:txBody>
      </p:sp>
      <p:pic>
        <p:nvPicPr>
          <p:cNvPr id="96262" name="Рисунок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5224" y="3211911"/>
            <a:ext cx="9922654" cy="5185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Прямоугольник 1"/>
          <p:cNvSpPr/>
          <p:nvPr/>
        </p:nvSpPr>
        <p:spPr>
          <a:xfrm>
            <a:off x="2043876" y="2169620"/>
            <a:ext cx="8833862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>
                <a:solidFill>
                  <a:srgbClr val="333333"/>
                </a:solidFill>
                <a:latin typeface="Helvetica Neue"/>
              </a:rPr>
              <a:t> Здесь мы рассматриваем региональную статистику Росстата: экспорт/импорт продукции по регионам России (млн долл. США)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2B6C0E-C4B9-4094-8E59-5B7DF00D5415}" type="slidenum">
              <a:rPr lang="ru-RU" smtClean="0">
                <a:solidFill>
                  <a:schemeClr val="tx1"/>
                </a:solidFill>
              </a:rPr>
              <a:t>63</a:t>
            </a:fld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13" name="Заголовок 1"/>
          <p:cNvSpPr>
            <a:spLocks noGrp="1"/>
          </p:cNvSpPr>
          <p:nvPr>
            <p:ph type="title"/>
          </p:nvPr>
        </p:nvSpPr>
        <p:spPr>
          <a:xfrm>
            <a:off x="2013645" y="230676"/>
            <a:ext cx="8503820" cy="812188"/>
          </a:xfrm>
        </p:spPr>
        <p:txBody>
          <a:bodyPr>
            <a:noAutofit/>
          </a:bodyPr>
          <a:lstStyle/>
          <a:p>
            <a:pPr>
              <a:lnSpc>
                <a:spcPts val="4400"/>
              </a:lnSpc>
              <a:defRPr/>
            </a:pPr>
            <a:r>
              <a:rPr lang="ru-RU" sz="3600" dirty="0"/>
              <a:t>Оформление графического вывода в </a:t>
            </a:r>
            <a:r>
              <a:rPr lang="en-US" sz="3600" dirty="0"/>
              <a:t>R</a:t>
            </a:r>
            <a:endParaRPr lang="ru-RU" sz="3600" dirty="0"/>
          </a:p>
        </p:txBody>
      </p:sp>
    </p:spTree>
    <p:extLst>
      <p:ext uri="{BB962C8B-B14F-4D97-AF65-F5344CB8AC3E}">
        <p14:creationId xmlns:p14="http://schemas.microsoft.com/office/powerpoint/2010/main" val="22502025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AutoShape 2">
            <a:extLst>
              <a:ext uri="{FF2B5EF4-FFF2-40B4-BE49-F238E27FC236}">
                <a16:creationId xmlns:a16="http://schemas.microsoft.com/office/drawing/2014/main" id="{A0BA469B-1007-4C35-AD05-E1DC2F1EB3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9469" y="322263"/>
            <a:ext cx="11809311" cy="6553249"/>
          </a:xfrm>
          <a:prstGeom prst="roundRect">
            <a:avLst>
              <a:gd name="adj" fmla="val 16667"/>
            </a:avLst>
          </a:prstGeom>
          <a:solidFill>
            <a:schemeClr val="bg1">
              <a:alpha val="50000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9441" tIns="49721" rIns="99441" bIns="49721" anchor="ctr"/>
          <a:lstStyle>
            <a:lvl1pPr defTabSz="99377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1177925" defTabSz="99377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373188" defTabSz="99377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66863" defTabSz="99377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89138" defTabSz="99377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46338" defTabSz="9937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03538" defTabSz="9937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60738" defTabSz="9937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17938" defTabSz="9937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ru-RU" altLang="ru-RU" sz="3500">
              <a:solidFill>
                <a:schemeClr val="bg1"/>
              </a:solidFill>
            </a:endParaRPr>
          </a:p>
        </p:txBody>
      </p:sp>
      <p:sp>
        <p:nvSpPr>
          <p:cNvPr id="17" name="Скругленный прямоугольник 8">
            <a:extLst>
              <a:ext uri="{FF2B5EF4-FFF2-40B4-BE49-F238E27FC236}">
                <a16:creationId xmlns:a16="http://schemas.microsoft.com/office/drawing/2014/main" id="{77AE36C6-10E8-484C-BCDE-194417EFFE54}"/>
              </a:ext>
            </a:extLst>
          </p:cNvPr>
          <p:cNvSpPr/>
          <p:nvPr/>
        </p:nvSpPr>
        <p:spPr bwMode="auto">
          <a:xfrm>
            <a:off x="1077541" y="1167018"/>
            <a:ext cx="10729192" cy="5527311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  <a:headEnd type="none" w="med" len="med"/>
            <a:tailEnd type="none" w="med" len="med"/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defTabSz="993775"/>
            <a:endParaRPr lang="ru-RU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AutoShape 5"/>
          <p:cNvSpPr>
            <a:spLocks noChangeArrowheads="1"/>
          </p:cNvSpPr>
          <p:nvPr/>
        </p:nvSpPr>
        <p:spPr bwMode="auto">
          <a:xfrm>
            <a:off x="2085977" y="469900"/>
            <a:ext cx="8351837" cy="665683"/>
          </a:xfrm>
          <a:prstGeom prst="roundRect">
            <a:avLst>
              <a:gd name="adj" fmla="val 16667"/>
            </a:avLst>
          </a:prstGeom>
          <a:solidFill>
            <a:srgbClr val="FFFFFF">
              <a:alpha val="78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9441" tIns="49721" rIns="99441" bIns="49721" anchor="ctr"/>
          <a:lstStyle>
            <a:lvl1pPr defTabSz="99377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1177925" defTabSz="99377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373188" defTabSz="99377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66863" defTabSz="99377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89138" defTabSz="99377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46338" defTabSz="9937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03538" defTabSz="9937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60738" defTabSz="9937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17938" defTabSz="9937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ru-RU" altLang="ru-RU" sz="3500">
              <a:solidFill>
                <a:schemeClr val="bg1"/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2178775" y="1416790"/>
            <a:ext cx="7583593" cy="476735"/>
          </a:xfrm>
        </p:spPr>
        <p:txBody>
          <a:bodyPr>
            <a:normAutofit lnSpcReduction="10000"/>
          </a:bodyPr>
          <a:lstStyle/>
          <a:p>
            <a:pPr marL="0" indent="0">
              <a:buNone/>
              <a:defRPr/>
            </a:pPr>
            <a:r>
              <a:rPr lang="ru-RU" sz="2800" b="1" dirty="0"/>
              <a:t>Столбчатые графики</a:t>
            </a:r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1521297" y="2041162"/>
            <a:ext cx="9523468" cy="11387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348060" indent="-348060">
              <a:lnSpc>
                <a:spcPct val="85000"/>
              </a:lnSpc>
              <a:spcBef>
                <a:spcPct val="25000"/>
              </a:spcBef>
              <a:buClr>
                <a:srgbClr val="F4BE96"/>
              </a:buClr>
              <a:buSzPct val="80000"/>
              <a:buBlip>
                <a:blip r:embed="rId2"/>
              </a:buBlip>
              <a:defRPr/>
            </a:pPr>
            <a:r>
              <a:rPr lang="ru-RU" altLang="ru-RU" dirty="0">
                <a:latin typeface="+mn-lt"/>
              </a:rPr>
              <a:t>Столбчатые графики — </a:t>
            </a:r>
            <a:r>
              <a:rPr lang="ru-RU" altLang="ru-RU" dirty="0" err="1">
                <a:latin typeface="+mn-lt"/>
              </a:rPr>
              <a:t>barplot</a:t>
            </a:r>
            <a:r>
              <a:rPr lang="ru-RU" altLang="ru-RU" dirty="0">
                <a:latin typeface="+mn-lt"/>
              </a:rPr>
              <a:t> — отображают вектор числовых данных в виде столбиков. Это простейший вид графика (наряду с </a:t>
            </a:r>
            <a:r>
              <a:rPr lang="ru-RU" altLang="ru-RU" dirty="0" err="1">
                <a:latin typeface="+mn-lt"/>
              </a:rPr>
              <a:t>dotchart</a:t>
            </a:r>
            <a:r>
              <a:rPr lang="ru-RU" altLang="ru-RU" dirty="0">
                <a:latin typeface="+mn-lt"/>
              </a:rPr>
              <a:t>), который используется для сравнения абсолютных величин. Для построения необходимо вызвать функцию </a:t>
            </a:r>
            <a:r>
              <a:rPr lang="ru-RU" altLang="ru-RU" i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barplot</a:t>
            </a:r>
            <a:r>
              <a:rPr lang="ru-RU" altLang="ru-RU" i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() </a:t>
            </a:r>
            <a:r>
              <a:rPr lang="ru-RU" altLang="ru-RU" dirty="0">
                <a:latin typeface="+mn-lt"/>
              </a:rPr>
              <a:t>и передать ей столбец таблицы: </a:t>
            </a:r>
          </a:p>
        </p:txBody>
      </p:sp>
      <p:pic>
        <p:nvPicPr>
          <p:cNvPr id="97285" name="Рисунок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4448" y="3259342"/>
            <a:ext cx="4160300" cy="9947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7286" name="Рисунок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71319" y="4254053"/>
            <a:ext cx="3813883" cy="24183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7287" name="Рисунок 8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22063" y="3887230"/>
            <a:ext cx="4246080" cy="3035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7288" name="Rectangle 2"/>
          <p:cNvSpPr>
            <a:spLocks noChangeArrowheads="1"/>
          </p:cNvSpPr>
          <p:nvPr/>
        </p:nvSpPr>
        <p:spPr bwMode="auto">
          <a:xfrm>
            <a:off x="6218139" y="3112944"/>
            <a:ext cx="5053348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>
              <a:defRPr b="1">
                <a:solidFill>
                  <a:schemeClr val="tx1"/>
                </a:solidFill>
                <a:latin typeface="Segoe Semibold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Segoe Semibold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Segoe Semibold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Segoe Semibold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Segoe Semibold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Segoe Semibold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Segoe Semibold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Segoe Semibold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Segoe Semibold" charset="0"/>
              </a:defRPr>
            </a:lvl9pPr>
          </a:lstStyle>
          <a:p>
            <a:r>
              <a:rPr lang="ru-RU" altLang="ru-RU" sz="1600" b="0" dirty="0">
                <a:latin typeface="Arial" panose="020B0604020202020204" pitchFamily="34" charset="0"/>
              </a:rPr>
              <a:t># при наличии длинных подписей удобнее столбчатую диаграмму разместить горизонтально, используя параметр </a:t>
            </a:r>
            <a:r>
              <a:rPr lang="ru-RU" altLang="ru-RU" sz="1600" dirty="0" err="1">
                <a:latin typeface="Arial" panose="020B0604020202020204" pitchFamily="34" charset="0"/>
              </a:rPr>
              <a:t>horiz</a:t>
            </a:r>
            <a:r>
              <a:rPr lang="ru-RU" altLang="ru-RU" sz="1600" dirty="0">
                <a:latin typeface="Arial" panose="020B0604020202020204" pitchFamily="34" charset="0"/>
              </a:rPr>
              <a:t> = TRUE</a:t>
            </a:r>
            <a:r>
              <a:rPr lang="ru-RU" altLang="ru-RU" sz="1600" b="0" dirty="0">
                <a:latin typeface="Arial" panose="020B0604020202020204" pitchFamily="34" charset="0"/>
              </a:rPr>
              <a:t>. </a:t>
            </a:r>
          </a:p>
        </p:txBody>
      </p:sp>
      <p:pic>
        <p:nvPicPr>
          <p:cNvPr id="97289" name="Рисунок 11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21978" y="4304923"/>
            <a:ext cx="3135897" cy="24018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2B6C0E-C4B9-4094-8E59-5B7DF00D5415}" type="slidenum">
              <a:rPr lang="ru-RU" smtClean="0">
                <a:solidFill>
                  <a:schemeClr val="tx1"/>
                </a:solidFill>
              </a:rPr>
              <a:t>64</a:t>
            </a:fld>
            <a:endParaRPr lang="ru-RU">
              <a:solidFill>
                <a:schemeClr val="tx1"/>
              </a:solidFill>
            </a:endParaRPr>
          </a:p>
        </p:txBody>
      </p:sp>
      <p:sp>
        <p:nvSpPr>
          <p:cNvPr id="15" name="Заголовок 1"/>
          <p:cNvSpPr>
            <a:spLocks noGrp="1"/>
          </p:cNvSpPr>
          <p:nvPr>
            <p:ph type="title"/>
          </p:nvPr>
        </p:nvSpPr>
        <p:spPr>
          <a:xfrm>
            <a:off x="2013645" y="230676"/>
            <a:ext cx="8503820" cy="812188"/>
          </a:xfrm>
        </p:spPr>
        <p:txBody>
          <a:bodyPr>
            <a:noAutofit/>
          </a:bodyPr>
          <a:lstStyle/>
          <a:p>
            <a:pPr>
              <a:lnSpc>
                <a:spcPts val="4400"/>
              </a:lnSpc>
              <a:defRPr/>
            </a:pPr>
            <a:r>
              <a:rPr lang="ru-RU" sz="3600" dirty="0"/>
              <a:t>Оформление графического вывода в </a:t>
            </a:r>
            <a:r>
              <a:rPr lang="en-US" sz="3600" dirty="0"/>
              <a:t>R</a:t>
            </a:r>
            <a:endParaRPr lang="ru-RU" sz="3600" dirty="0"/>
          </a:p>
        </p:txBody>
      </p:sp>
    </p:spTree>
    <p:extLst>
      <p:ext uri="{BB962C8B-B14F-4D97-AF65-F5344CB8AC3E}">
        <p14:creationId xmlns:p14="http://schemas.microsoft.com/office/powerpoint/2010/main" val="13111818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AutoShape 2">
            <a:extLst>
              <a:ext uri="{FF2B5EF4-FFF2-40B4-BE49-F238E27FC236}">
                <a16:creationId xmlns:a16="http://schemas.microsoft.com/office/drawing/2014/main" id="{F6216F5E-1995-4777-B4C8-8BF1C4261D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9469" y="322263"/>
            <a:ext cx="11809311" cy="6553249"/>
          </a:xfrm>
          <a:prstGeom prst="roundRect">
            <a:avLst>
              <a:gd name="adj" fmla="val 16667"/>
            </a:avLst>
          </a:prstGeom>
          <a:solidFill>
            <a:schemeClr val="bg1">
              <a:alpha val="50000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9441" tIns="49721" rIns="99441" bIns="49721" anchor="ctr"/>
          <a:lstStyle>
            <a:lvl1pPr defTabSz="99377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1177925" defTabSz="99377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373188" defTabSz="99377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66863" defTabSz="99377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89138" defTabSz="99377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46338" defTabSz="9937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03538" defTabSz="9937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60738" defTabSz="9937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17938" defTabSz="9937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ru-RU" altLang="ru-RU" sz="3500">
              <a:solidFill>
                <a:schemeClr val="bg1"/>
              </a:solidFill>
            </a:endParaRPr>
          </a:p>
        </p:txBody>
      </p:sp>
      <p:sp>
        <p:nvSpPr>
          <p:cNvPr id="11" name="Скругленный прямоугольник 8">
            <a:extLst>
              <a:ext uri="{FF2B5EF4-FFF2-40B4-BE49-F238E27FC236}">
                <a16:creationId xmlns:a16="http://schemas.microsoft.com/office/drawing/2014/main" id="{CD639411-80C4-41E1-8FE1-F64686687CAB}"/>
              </a:ext>
            </a:extLst>
          </p:cNvPr>
          <p:cNvSpPr/>
          <p:nvPr/>
        </p:nvSpPr>
        <p:spPr bwMode="auto">
          <a:xfrm>
            <a:off x="1077541" y="1167018"/>
            <a:ext cx="10729192" cy="5527311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  <a:headEnd type="none" w="med" len="med"/>
            <a:tailEnd type="none" w="med" len="med"/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defTabSz="993775"/>
            <a:endParaRPr lang="ru-RU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AutoShape 5"/>
          <p:cNvSpPr>
            <a:spLocks noChangeArrowheads="1"/>
          </p:cNvSpPr>
          <p:nvPr/>
        </p:nvSpPr>
        <p:spPr bwMode="auto">
          <a:xfrm>
            <a:off x="2085977" y="469900"/>
            <a:ext cx="8351837" cy="665683"/>
          </a:xfrm>
          <a:prstGeom prst="roundRect">
            <a:avLst>
              <a:gd name="adj" fmla="val 16667"/>
            </a:avLst>
          </a:prstGeom>
          <a:solidFill>
            <a:srgbClr val="FFFFFF">
              <a:alpha val="78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9441" tIns="49721" rIns="99441" bIns="49721" anchor="ctr"/>
          <a:lstStyle>
            <a:lvl1pPr defTabSz="99377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1177925" defTabSz="99377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373188" defTabSz="99377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66863" defTabSz="99377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89138" defTabSz="99377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46338" defTabSz="9937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03538" defTabSz="9937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60738" defTabSz="9937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17938" defTabSz="9937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ru-RU" altLang="ru-RU" sz="3500">
              <a:solidFill>
                <a:schemeClr val="bg1"/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2005566" y="1308138"/>
            <a:ext cx="3680488" cy="476735"/>
          </a:xfrm>
        </p:spPr>
        <p:txBody>
          <a:bodyPr/>
          <a:lstStyle/>
          <a:p>
            <a:pPr marL="0" indent="0">
              <a:buNone/>
              <a:defRPr/>
            </a:pPr>
            <a:r>
              <a:rPr lang="ru-RU" sz="2400" b="1" dirty="0"/>
              <a:t>Столбчатые графики</a:t>
            </a:r>
          </a:p>
        </p:txBody>
      </p:sp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1601583" y="1836756"/>
            <a:ext cx="8973844" cy="23148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348060" indent="-348060">
              <a:lnSpc>
                <a:spcPct val="85000"/>
              </a:lnSpc>
              <a:spcBef>
                <a:spcPct val="25000"/>
              </a:spcBef>
              <a:buClr>
                <a:srgbClr val="F4BE96"/>
              </a:buClr>
              <a:buSzPct val="80000"/>
              <a:buBlip>
                <a:blip r:embed="rId2"/>
              </a:buBlip>
              <a:defRPr/>
            </a:pPr>
            <a:r>
              <a:rPr lang="ru-RU" altLang="ru-RU" sz="2078" dirty="0">
                <a:latin typeface="+mn-lt"/>
              </a:rPr>
              <a:t>Чтобы развернуть подписи перпендикулярно столбцам, следует использовать параметр </a:t>
            </a:r>
            <a:r>
              <a:rPr lang="ru-RU" altLang="ru-RU" sz="2078" dirty="0" err="1">
                <a:latin typeface="+mn-lt"/>
              </a:rPr>
              <a:t>las</a:t>
            </a:r>
            <a:r>
              <a:rPr lang="ru-RU" altLang="ru-RU" sz="2078" dirty="0">
                <a:latin typeface="+mn-lt"/>
              </a:rPr>
              <a:t> =. </a:t>
            </a:r>
            <a:r>
              <a:rPr lang="ru-RU" altLang="ru-RU" sz="2078" dirty="0" err="1">
                <a:latin typeface="+mn-lt"/>
              </a:rPr>
              <a:t>Справка__R</a:t>
            </a:r>
            <a:r>
              <a:rPr lang="ru-RU" altLang="ru-RU" sz="2078" dirty="0">
                <a:latin typeface="+mn-lt"/>
              </a:rPr>
              <a:t> говорит нам о том, что этот параметр дает следующее поведение подписей:</a:t>
            </a:r>
          </a:p>
          <a:p>
            <a:pPr marL="823137" lvl="1" indent="-348060">
              <a:lnSpc>
                <a:spcPct val="85000"/>
              </a:lnSpc>
              <a:spcBef>
                <a:spcPct val="25000"/>
              </a:spcBef>
              <a:buClr>
                <a:srgbClr val="F4BE96"/>
              </a:buClr>
              <a:buSzPct val="80000"/>
              <a:buBlip>
                <a:blip r:embed="rId2"/>
              </a:buBlip>
              <a:defRPr/>
            </a:pPr>
            <a:r>
              <a:rPr lang="ru-RU" altLang="ru-RU" sz="2078" dirty="0">
                <a:latin typeface="+mn-lt"/>
              </a:rPr>
              <a:t>0: всегда параллельно осям (по умолчанию), </a:t>
            </a:r>
          </a:p>
          <a:p>
            <a:pPr marL="823137" lvl="1" indent="-348060">
              <a:lnSpc>
                <a:spcPct val="85000"/>
              </a:lnSpc>
              <a:spcBef>
                <a:spcPct val="25000"/>
              </a:spcBef>
              <a:buClr>
                <a:srgbClr val="F4BE96"/>
              </a:buClr>
              <a:buSzPct val="80000"/>
              <a:buBlip>
                <a:blip r:embed="rId2"/>
              </a:buBlip>
              <a:defRPr/>
            </a:pPr>
            <a:r>
              <a:rPr lang="ru-RU" altLang="ru-RU" sz="2078" dirty="0">
                <a:latin typeface="+mn-lt"/>
              </a:rPr>
              <a:t>1: всегда горизонтально, </a:t>
            </a:r>
          </a:p>
          <a:p>
            <a:pPr marL="823137" lvl="1" indent="-348060">
              <a:lnSpc>
                <a:spcPct val="85000"/>
              </a:lnSpc>
              <a:spcBef>
                <a:spcPct val="25000"/>
              </a:spcBef>
              <a:buClr>
                <a:srgbClr val="F4BE96"/>
              </a:buClr>
              <a:buSzPct val="80000"/>
              <a:buBlip>
                <a:blip r:embed="rId2"/>
              </a:buBlip>
              <a:defRPr/>
            </a:pPr>
            <a:r>
              <a:rPr lang="ru-RU" altLang="ru-RU" sz="2078" dirty="0">
                <a:latin typeface="+mn-lt"/>
              </a:rPr>
              <a:t>2: всегда перпендикулярно осям, </a:t>
            </a:r>
          </a:p>
          <a:p>
            <a:pPr marL="823137" lvl="1" indent="-348060">
              <a:lnSpc>
                <a:spcPct val="85000"/>
              </a:lnSpc>
              <a:spcBef>
                <a:spcPct val="25000"/>
              </a:spcBef>
              <a:buClr>
                <a:srgbClr val="F4BE96"/>
              </a:buClr>
              <a:buSzPct val="80000"/>
              <a:buBlip>
                <a:blip r:embed="rId2"/>
              </a:buBlip>
              <a:defRPr/>
            </a:pPr>
            <a:r>
              <a:rPr lang="ru-RU" altLang="ru-RU" sz="2078" dirty="0">
                <a:latin typeface="+mn-lt"/>
              </a:rPr>
              <a:t>3: всегда вертикально. </a:t>
            </a:r>
          </a:p>
        </p:txBody>
      </p:sp>
      <p:sp>
        <p:nvSpPr>
          <p:cNvPr id="8" name="Rectangle 2"/>
          <p:cNvSpPr>
            <a:spLocks noChangeArrowheads="1"/>
          </p:cNvSpPr>
          <p:nvPr/>
        </p:nvSpPr>
        <p:spPr bwMode="auto">
          <a:xfrm>
            <a:off x="1578318" y="4084420"/>
            <a:ext cx="9868375" cy="23491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348060" indent="-348060">
              <a:lnSpc>
                <a:spcPct val="85000"/>
              </a:lnSpc>
              <a:spcBef>
                <a:spcPct val="25000"/>
              </a:spcBef>
              <a:buClr>
                <a:srgbClr val="F4BE96"/>
              </a:buClr>
              <a:buSzPct val="80000"/>
              <a:buBlip>
                <a:blip r:embed="rId2"/>
              </a:buBlip>
              <a:defRPr/>
            </a:pPr>
            <a:r>
              <a:rPr lang="ru-RU" altLang="ru-RU" sz="2078" dirty="0">
                <a:latin typeface="+mn-lt"/>
              </a:rPr>
              <a:t>Содержимое подписей часто не помещается в поле графика. Проблема в том, что вокруг любого графика резервируются поля ограниченного размера для размещения подписей координат и т.д. Автоматически эти поля не пересчитываются, зарезервировать их — наша задача.</a:t>
            </a:r>
          </a:p>
          <a:p>
            <a:pPr marL="348060" indent="-348060">
              <a:lnSpc>
                <a:spcPct val="85000"/>
              </a:lnSpc>
              <a:spcBef>
                <a:spcPct val="25000"/>
              </a:spcBef>
              <a:buClr>
                <a:srgbClr val="F4BE96"/>
              </a:buClr>
              <a:buSzPct val="80000"/>
              <a:buBlip>
                <a:blip r:embed="rId2"/>
              </a:buBlip>
              <a:defRPr/>
            </a:pPr>
            <a:r>
              <a:rPr lang="ru-RU" altLang="ru-RU" sz="2078" dirty="0">
                <a:latin typeface="+mn-lt"/>
              </a:rPr>
              <a:t>Наберите в консоли </a:t>
            </a:r>
            <a:r>
              <a:rPr lang="ru-RU" altLang="ru-RU" sz="2078" i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?</a:t>
            </a:r>
            <a:r>
              <a:rPr lang="ru-RU" altLang="ru-RU" sz="2078" i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par</a:t>
            </a:r>
            <a:r>
              <a:rPr lang="ru-RU" altLang="ru-RU" sz="2078" dirty="0">
                <a:latin typeface="+mn-lt"/>
              </a:rPr>
              <a:t>. Откроется список всевозможных графических параметров, которые управляют компоновкой и порядком построения графиков. Эти параметры можно установить, вызвав функцию </a:t>
            </a:r>
            <a:r>
              <a:rPr lang="ru-RU" altLang="ru-RU" sz="2078" i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par</a:t>
            </a:r>
            <a:r>
              <a:rPr lang="ru-RU" altLang="ru-RU" sz="2078" i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()</a:t>
            </a:r>
            <a:r>
              <a:rPr lang="ru-RU" altLang="ru-RU" sz="2078" dirty="0">
                <a:latin typeface="+mn-lt"/>
              </a:rPr>
              <a:t>. Все дальнейшие вызовы инструкций построения графиков будут учитывать установленные параметры. </a:t>
            </a:r>
          </a:p>
        </p:txBody>
      </p:sp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2B6C0E-C4B9-4094-8E59-5B7DF00D5415}" type="slidenum">
              <a:rPr lang="ru-RU" smtClean="0">
                <a:solidFill>
                  <a:schemeClr val="tx1"/>
                </a:solidFill>
              </a:rPr>
              <a:t>65</a:t>
            </a:fld>
            <a:endParaRPr lang="ru-RU">
              <a:solidFill>
                <a:schemeClr val="tx1"/>
              </a:solidFill>
            </a:endParaRPr>
          </a:p>
        </p:txBody>
      </p:sp>
      <p:sp>
        <p:nvSpPr>
          <p:cNvPr id="12" name="Заголовок 1"/>
          <p:cNvSpPr>
            <a:spLocks noGrp="1"/>
          </p:cNvSpPr>
          <p:nvPr>
            <p:ph type="title"/>
          </p:nvPr>
        </p:nvSpPr>
        <p:spPr>
          <a:xfrm>
            <a:off x="2013645" y="230676"/>
            <a:ext cx="8503820" cy="812188"/>
          </a:xfrm>
        </p:spPr>
        <p:txBody>
          <a:bodyPr>
            <a:noAutofit/>
          </a:bodyPr>
          <a:lstStyle/>
          <a:p>
            <a:pPr>
              <a:lnSpc>
                <a:spcPts val="4400"/>
              </a:lnSpc>
              <a:defRPr/>
            </a:pPr>
            <a:r>
              <a:rPr lang="ru-RU" sz="3600" dirty="0"/>
              <a:t>Оформление графического вывода в </a:t>
            </a:r>
            <a:r>
              <a:rPr lang="en-US" sz="3600" dirty="0"/>
              <a:t>R</a:t>
            </a:r>
            <a:endParaRPr lang="ru-RU" sz="3600" dirty="0"/>
          </a:p>
        </p:txBody>
      </p:sp>
    </p:spTree>
    <p:extLst>
      <p:ext uri="{BB962C8B-B14F-4D97-AF65-F5344CB8AC3E}">
        <p14:creationId xmlns:p14="http://schemas.microsoft.com/office/powerpoint/2010/main" val="41030940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AutoShape 2">
            <a:extLst>
              <a:ext uri="{FF2B5EF4-FFF2-40B4-BE49-F238E27FC236}">
                <a16:creationId xmlns:a16="http://schemas.microsoft.com/office/drawing/2014/main" id="{A5556250-19A2-4183-ACAF-10A4132ED6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9469" y="322263"/>
            <a:ext cx="11809311" cy="6553249"/>
          </a:xfrm>
          <a:prstGeom prst="roundRect">
            <a:avLst>
              <a:gd name="adj" fmla="val 16667"/>
            </a:avLst>
          </a:prstGeom>
          <a:solidFill>
            <a:schemeClr val="bg1">
              <a:alpha val="50000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9441" tIns="49721" rIns="99441" bIns="49721" anchor="ctr"/>
          <a:lstStyle>
            <a:lvl1pPr defTabSz="99377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1177925" defTabSz="99377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373188" defTabSz="99377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66863" defTabSz="99377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89138" defTabSz="99377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46338" defTabSz="9937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03538" defTabSz="9937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60738" defTabSz="9937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17938" defTabSz="9937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ru-RU" altLang="ru-RU" sz="3500">
              <a:solidFill>
                <a:schemeClr val="bg1"/>
              </a:solidFill>
            </a:endParaRPr>
          </a:p>
        </p:txBody>
      </p:sp>
      <p:sp>
        <p:nvSpPr>
          <p:cNvPr id="17" name="Скругленный прямоугольник 8">
            <a:extLst>
              <a:ext uri="{FF2B5EF4-FFF2-40B4-BE49-F238E27FC236}">
                <a16:creationId xmlns:a16="http://schemas.microsoft.com/office/drawing/2014/main" id="{16108017-012D-4DA2-9F9B-AE1B71106902}"/>
              </a:ext>
            </a:extLst>
          </p:cNvPr>
          <p:cNvSpPr/>
          <p:nvPr/>
        </p:nvSpPr>
        <p:spPr bwMode="auto">
          <a:xfrm>
            <a:off x="1077541" y="1167018"/>
            <a:ext cx="10729192" cy="5527311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  <a:headEnd type="none" w="med" len="med"/>
            <a:tailEnd type="none" w="med" len="med"/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defTabSz="993775"/>
            <a:endParaRPr lang="ru-RU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AutoShape 5"/>
          <p:cNvSpPr>
            <a:spLocks noChangeArrowheads="1"/>
          </p:cNvSpPr>
          <p:nvPr/>
        </p:nvSpPr>
        <p:spPr bwMode="auto">
          <a:xfrm>
            <a:off x="2085977" y="469900"/>
            <a:ext cx="8351837" cy="665683"/>
          </a:xfrm>
          <a:prstGeom prst="roundRect">
            <a:avLst>
              <a:gd name="adj" fmla="val 16667"/>
            </a:avLst>
          </a:prstGeom>
          <a:solidFill>
            <a:srgbClr val="FFFFFF">
              <a:alpha val="78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9441" tIns="49721" rIns="99441" bIns="49721" anchor="ctr"/>
          <a:lstStyle>
            <a:lvl1pPr defTabSz="99377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1177925" defTabSz="99377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373188" defTabSz="99377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66863" defTabSz="99377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89138" defTabSz="99377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46338" defTabSz="9937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03538" defTabSz="9937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60738" defTabSz="9937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17938" defTabSz="9937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ru-RU" altLang="ru-RU" sz="3500">
              <a:solidFill>
                <a:schemeClr val="bg1"/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2005566" y="1114873"/>
            <a:ext cx="8683513" cy="476735"/>
          </a:xfrm>
        </p:spPr>
        <p:txBody>
          <a:bodyPr/>
          <a:lstStyle/>
          <a:p>
            <a:pPr marL="0" indent="0">
              <a:buNone/>
              <a:defRPr/>
            </a:pPr>
            <a:r>
              <a:rPr lang="ru-RU" sz="2400" b="1" dirty="0"/>
              <a:t>Столбчатые графики</a:t>
            </a:r>
          </a:p>
        </p:txBody>
      </p:sp>
      <p:sp>
        <p:nvSpPr>
          <p:cNvPr id="8" name="Rectangle 2"/>
          <p:cNvSpPr>
            <a:spLocks noChangeArrowheads="1"/>
          </p:cNvSpPr>
          <p:nvPr/>
        </p:nvSpPr>
        <p:spPr bwMode="auto">
          <a:xfrm>
            <a:off x="1583268" y="1588307"/>
            <a:ext cx="9307063" cy="12459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348060" indent="-348060">
              <a:lnSpc>
                <a:spcPct val="85000"/>
              </a:lnSpc>
              <a:spcBef>
                <a:spcPct val="25000"/>
              </a:spcBef>
              <a:buClr>
                <a:srgbClr val="F4BE96"/>
              </a:buClr>
              <a:buSzPct val="80000"/>
              <a:buBlip>
                <a:blip r:embed="rId2"/>
              </a:buBlip>
              <a:defRPr/>
            </a:pPr>
            <a:r>
              <a:rPr lang="ru-RU" altLang="ru-RU" sz="2200" dirty="0">
                <a:latin typeface="+mn-lt"/>
              </a:rPr>
              <a:t>Нам также понадобится параметр </a:t>
            </a:r>
            <a:r>
              <a:rPr lang="ru-RU" altLang="ru-RU" sz="2200" i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mar</a:t>
            </a:r>
            <a:r>
              <a:rPr lang="ru-RU" altLang="ru-RU" sz="2200" i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=</a:t>
            </a:r>
            <a:r>
              <a:rPr lang="ru-RU" altLang="ru-RU" sz="2200" dirty="0">
                <a:latin typeface="+mn-lt"/>
              </a:rPr>
              <a:t> — он отвечает за установку полей в условных единицах. Есть также параметр </a:t>
            </a:r>
            <a:r>
              <a:rPr lang="ru-RU" altLang="ru-RU" sz="2200" i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mai</a:t>
            </a:r>
            <a:r>
              <a:rPr lang="ru-RU" altLang="ru-RU" sz="2200" i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=</a:t>
            </a:r>
            <a:r>
              <a:rPr lang="ru-RU" altLang="ru-RU" sz="2200" dirty="0">
                <a:latin typeface="+mn-lt"/>
              </a:rPr>
              <a:t>, который позволяет установить поля графика в дюймах. Обратите внимание на то, что означают параметры этой функции:</a:t>
            </a:r>
          </a:p>
        </p:txBody>
      </p:sp>
      <p:pic>
        <p:nvPicPr>
          <p:cNvPr id="99333" name="Рисунок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54205" y="2605985"/>
            <a:ext cx="3242730" cy="7226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Прямоугольник 5"/>
          <p:cNvSpPr/>
          <p:nvPr/>
        </p:nvSpPr>
        <p:spPr>
          <a:xfrm>
            <a:off x="1538894" y="3356909"/>
            <a:ext cx="2988953" cy="18215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348060" indent="-348060">
              <a:lnSpc>
                <a:spcPct val="85000"/>
              </a:lnSpc>
              <a:spcBef>
                <a:spcPct val="25000"/>
              </a:spcBef>
              <a:buClr>
                <a:srgbClr val="F4BE96"/>
              </a:buClr>
              <a:buSzPct val="80000"/>
              <a:buBlip>
                <a:blip r:embed="rId2"/>
              </a:buBlip>
              <a:defRPr/>
            </a:pPr>
            <a:r>
              <a:rPr lang="ru-RU" sz="2200" dirty="0">
                <a:latin typeface="+mn-lt"/>
              </a:rPr>
              <a:t>Поскольку в нашем примере проблемы возникают с левым полем, необходимо увеличить второй параметр.</a:t>
            </a:r>
          </a:p>
        </p:txBody>
      </p:sp>
      <p:pic>
        <p:nvPicPr>
          <p:cNvPr id="99335" name="Рисунок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27434" y="3421205"/>
            <a:ext cx="6025105" cy="6405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9336" name="Рисунок 8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28463" y="4139205"/>
            <a:ext cx="4851485" cy="25535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2B6C0E-C4B9-4094-8E59-5B7DF00D5415}" type="slidenum">
              <a:rPr lang="ru-RU" smtClean="0">
                <a:solidFill>
                  <a:schemeClr val="tx1"/>
                </a:solidFill>
              </a:rPr>
              <a:t>66</a:t>
            </a:fld>
            <a:endParaRPr lang="ru-RU">
              <a:solidFill>
                <a:schemeClr val="tx1"/>
              </a:solidFill>
            </a:endParaRPr>
          </a:p>
        </p:txBody>
      </p:sp>
      <p:sp>
        <p:nvSpPr>
          <p:cNvPr id="15" name="Заголовок 1"/>
          <p:cNvSpPr>
            <a:spLocks noGrp="1"/>
          </p:cNvSpPr>
          <p:nvPr>
            <p:ph type="title"/>
          </p:nvPr>
        </p:nvSpPr>
        <p:spPr>
          <a:xfrm>
            <a:off x="2013645" y="230676"/>
            <a:ext cx="8503820" cy="812188"/>
          </a:xfrm>
        </p:spPr>
        <p:txBody>
          <a:bodyPr>
            <a:noAutofit/>
          </a:bodyPr>
          <a:lstStyle/>
          <a:p>
            <a:pPr>
              <a:lnSpc>
                <a:spcPts val="4400"/>
              </a:lnSpc>
              <a:defRPr/>
            </a:pPr>
            <a:r>
              <a:rPr lang="ru-RU" sz="3600" dirty="0"/>
              <a:t>Оформление графического вывода в </a:t>
            </a:r>
            <a:r>
              <a:rPr lang="en-US" sz="3600" dirty="0"/>
              <a:t>R</a:t>
            </a:r>
            <a:endParaRPr lang="ru-RU" sz="3600" dirty="0"/>
          </a:p>
        </p:txBody>
      </p:sp>
      <p:sp>
        <p:nvSpPr>
          <p:cNvPr id="5" name="Стрелка вправо 4"/>
          <p:cNvSpPr/>
          <p:nvPr/>
        </p:nvSpPr>
        <p:spPr>
          <a:xfrm rot="10800000">
            <a:off x="9328535" y="6003194"/>
            <a:ext cx="504056" cy="432048"/>
          </a:xfrm>
          <a:prstGeom prst="rightArrow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Прямоугольник 6"/>
          <p:cNvSpPr/>
          <p:nvPr/>
        </p:nvSpPr>
        <p:spPr>
          <a:xfrm>
            <a:off x="9857553" y="5788913"/>
            <a:ext cx="139871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800" dirty="0"/>
              <a:t>Так быть не должно</a:t>
            </a:r>
          </a:p>
        </p:txBody>
      </p:sp>
    </p:spTree>
    <p:extLst>
      <p:ext uri="{BB962C8B-B14F-4D97-AF65-F5344CB8AC3E}">
        <p14:creationId xmlns:p14="http://schemas.microsoft.com/office/powerpoint/2010/main" val="42901306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AutoShape 2">
            <a:extLst>
              <a:ext uri="{FF2B5EF4-FFF2-40B4-BE49-F238E27FC236}">
                <a16:creationId xmlns:a16="http://schemas.microsoft.com/office/drawing/2014/main" id="{1C84B708-0654-4869-B846-5FD790A2B7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9469" y="322263"/>
            <a:ext cx="11809311" cy="6553249"/>
          </a:xfrm>
          <a:prstGeom prst="roundRect">
            <a:avLst>
              <a:gd name="adj" fmla="val 16667"/>
            </a:avLst>
          </a:prstGeom>
          <a:solidFill>
            <a:schemeClr val="bg1">
              <a:alpha val="50000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9441" tIns="49721" rIns="99441" bIns="49721" anchor="ctr"/>
          <a:lstStyle>
            <a:lvl1pPr defTabSz="99377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1177925" defTabSz="99377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373188" defTabSz="99377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66863" defTabSz="99377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89138" defTabSz="99377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46338" defTabSz="9937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03538" defTabSz="9937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60738" defTabSz="9937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17938" defTabSz="9937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ru-RU" altLang="ru-RU" sz="3500">
              <a:solidFill>
                <a:schemeClr val="bg1"/>
              </a:solidFill>
            </a:endParaRPr>
          </a:p>
        </p:txBody>
      </p:sp>
      <p:sp>
        <p:nvSpPr>
          <p:cNvPr id="14" name="Скругленный прямоугольник 8">
            <a:extLst>
              <a:ext uri="{FF2B5EF4-FFF2-40B4-BE49-F238E27FC236}">
                <a16:creationId xmlns:a16="http://schemas.microsoft.com/office/drawing/2014/main" id="{A69E09DB-36F3-465B-976C-9B591265D596}"/>
              </a:ext>
            </a:extLst>
          </p:cNvPr>
          <p:cNvSpPr/>
          <p:nvPr/>
        </p:nvSpPr>
        <p:spPr bwMode="auto">
          <a:xfrm>
            <a:off x="1077541" y="1167018"/>
            <a:ext cx="10729192" cy="5527311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  <a:headEnd type="none" w="med" len="med"/>
            <a:tailEnd type="none" w="med" len="med"/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defTabSz="993775"/>
            <a:endParaRPr lang="ru-RU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AutoShape 5"/>
          <p:cNvSpPr>
            <a:spLocks noChangeArrowheads="1"/>
          </p:cNvSpPr>
          <p:nvPr/>
        </p:nvSpPr>
        <p:spPr bwMode="auto">
          <a:xfrm>
            <a:off x="2085977" y="469900"/>
            <a:ext cx="8351837" cy="665683"/>
          </a:xfrm>
          <a:prstGeom prst="roundRect">
            <a:avLst>
              <a:gd name="adj" fmla="val 16667"/>
            </a:avLst>
          </a:prstGeom>
          <a:solidFill>
            <a:srgbClr val="FFFFFF">
              <a:alpha val="78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9441" tIns="49721" rIns="99441" bIns="49721" anchor="ctr"/>
          <a:lstStyle>
            <a:lvl1pPr defTabSz="99377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1177925" defTabSz="99377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373188" defTabSz="99377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66863" defTabSz="99377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89138" defTabSz="99377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46338" defTabSz="9937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03538" defTabSz="9937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60738" defTabSz="9937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17938" defTabSz="9937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ru-RU" altLang="ru-RU" sz="3500">
              <a:solidFill>
                <a:schemeClr val="bg1"/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2005566" y="1308138"/>
            <a:ext cx="8683513" cy="476735"/>
          </a:xfrm>
        </p:spPr>
        <p:txBody>
          <a:bodyPr/>
          <a:lstStyle/>
          <a:p>
            <a:pPr marL="0" indent="0">
              <a:buNone/>
              <a:defRPr/>
            </a:pPr>
            <a:r>
              <a:rPr lang="ru-RU" sz="2400" b="1" dirty="0"/>
              <a:t>Столбчатые графики</a:t>
            </a:r>
          </a:p>
        </p:txBody>
      </p:sp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2005566" y="1957427"/>
            <a:ext cx="6848839" cy="1938992"/>
          </a:xfrm>
          <a:prstGeom prst="rect">
            <a:avLst/>
          </a:prstGeom>
          <a:solidFill>
            <a:srgbClr val="F7F7F7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eaLnBrk="0" hangingPunct="0"/>
            <a:r>
              <a:rPr lang="ru-RU" altLang="ru-RU" sz="1800" i="1" dirty="0">
                <a:solidFill>
                  <a:srgbClr val="60A0B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 Чтобы увеличить диапазон оси X, можно использовать параметр </a:t>
            </a:r>
            <a:r>
              <a:rPr lang="ru-RU" altLang="ru-RU" sz="1800" i="1" dirty="0" err="1">
                <a:solidFill>
                  <a:srgbClr val="60A0B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xlim</a:t>
            </a:r>
            <a:r>
              <a:rPr lang="ru-RU" altLang="ru-RU" sz="1800" i="1" dirty="0">
                <a:solidFill>
                  <a:srgbClr val="60A0B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c(</a:t>
            </a:r>
            <a:r>
              <a:rPr lang="ru-RU" altLang="ru-RU" sz="1800" i="1" dirty="0" err="1">
                <a:solidFill>
                  <a:srgbClr val="60A0B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min</a:t>
            </a:r>
            <a:r>
              <a:rPr lang="ru-RU" altLang="ru-RU" sz="1800" i="1" dirty="0">
                <a:solidFill>
                  <a:srgbClr val="60A0B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ru-RU" altLang="ru-RU" sz="1800" i="1" dirty="0" err="1">
                <a:solidFill>
                  <a:srgbClr val="60A0B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max</a:t>
            </a:r>
            <a:r>
              <a:rPr lang="ru-RU" altLang="ru-RU" sz="1800" i="1" dirty="0">
                <a:solidFill>
                  <a:srgbClr val="60A0B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):</a:t>
            </a:r>
            <a:r>
              <a:rPr lang="ru-RU" altLang="ru-RU" sz="1800" dirty="0">
                <a:solidFill>
                  <a:srgbClr val="33333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</a:p>
          <a:p>
            <a:pPr eaLnBrk="0" hangingPunct="0"/>
            <a:r>
              <a:rPr lang="ru-RU" altLang="ru-RU" sz="1800" b="1" dirty="0" err="1">
                <a:solidFill>
                  <a:srgbClr val="00702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barplot</a:t>
            </a:r>
            <a:r>
              <a:rPr lang="ru-RU" altLang="ru-RU" sz="1800" dirty="0">
                <a:solidFill>
                  <a:srgbClr val="33333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ru-RU" altLang="ru-RU" sz="1800" dirty="0" err="1">
                <a:solidFill>
                  <a:srgbClr val="33333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okr</a:t>
            </a:r>
            <a:r>
              <a:rPr lang="ru-RU" altLang="ru-RU" sz="1800" dirty="0" err="1">
                <a:solidFill>
                  <a:srgbClr val="66666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$</a:t>
            </a:r>
            <a:r>
              <a:rPr lang="ru-RU" altLang="ru-RU" sz="1800" dirty="0" err="1">
                <a:solidFill>
                  <a:srgbClr val="33333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ХимЭкспорт</a:t>
            </a:r>
            <a:r>
              <a:rPr lang="ru-RU" altLang="ru-RU" sz="1800" dirty="0">
                <a:solidFill>
                  <a:srgbClr val="33333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ru-RU" altLang="ru-RU" sz="1800" dirty="0" err="1">
                <a:solidFill>
                  <a:srgbClr val="902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names.arg</a:t>
            </a:r>
            <a:r>
              <a:rPr lang="ru-RU" altLang="ru-RU" sz="1800" dirty="0">
                <a:solidFill>
                  <a:srgbClr val="902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</a:t>
            </a:r>
            <a:r>
              <a:rPr lang="ru-RU" altLang="ru-RU" sz="1800" dirty="0">
                <a:solidFill>
                  <a:srgbClr val="33333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ru-RU" altLang="ru-RU" sz="1800" dirty="0" err="1">
                <a:solidFill>
                  <a:srgbClr val="33333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names</a:t>
            </a:r>
            <a:r>
              <a:rPr lang="ru-RU" altLang="ru-RU" sz="1800" dirty="0">
                <a:solidFill>
                  <a:srgbClr val="33333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</a:p>
          <a:p>
            <a:pPr eaLnBrk="0" hangingPunct="0"/>
            <a:r>
              <a:rPr lang="ru-RU" altLang="ru-RU" sz="1800" dirty="0" err="1">
                <a:solidFill>
                  <a:srgbClr val="902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main</a:t>
            </a:r>
            <a:r>
              <a:rPr lang="ru-RU" altLang="ru-RU" sz="1800" dirty="0">
                <a:solidFill>
                  <a:srgbClr val="902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</a:t>
            </a:r>
            <a:r>
              <a:rPr lang="ru-RU" altLang="ru-RU" sz="1800" dirty="0">
                <a:solidFill>
                  <a:srgbClr val="33333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ru-RU" altLang="ru-RU" sz="1800" dirty="0">
                <a:solidFill>
                  <a:srgbClr val="407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"Экспорт продукции химической промышленности"</a:t>
            </a:r>
            <a:r>
              <a:rPr lang="ru-RU" altLang="ru-RU" sz="1800" dirty="0">
                <a:solidFill>
                  <a:srgbClr val="33333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</a:p>
          <a:p>
            <a:pPr eaLnBrk="0" hangingPunct="0"/>
            <a:r>
              <a:rPr lang="ru-RU" altLang="ru-RU" sz="1800" dirty="0" err="1">
                <a:solidFill>
                  <a:srgbClr val="902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xlab</a:t>
            </a:r>
            <a:r>
              <a:rPr lang="ru-RU" altLang="ru-RU" sz="1800" dirty="0">
                <a:solidFill>
                  <a:srgbClr val="902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</a:t>
            </a:r>
            <a:r>
              <a:rPr lang="ru-RU" altLang="ru-RU" sz="1800" dirty="0">
                <a:solidFill>
                  <a:srgbClr val="33333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ru-RU" altLang="ru-RU" sz="1800" dirty="0">
                <a:solidFill>
                  <a:srgbClr val="407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"млн долл. США"</a:t>
            </a:r>
            <a:r>
              <a:rPr lang="ru-RU" altLang="ru-RU" sz="1800" dirty="0">
                <a:solidFill>
                  <a:srgbClr val="33333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</a:p>
          <a:p>
            <a:pPr eaLnBrk="0" hangingPunct="0"/>
            <a:r>
              <a:rPr lang="ru-RU" altLang="ru-RU" sz="1800" dirty="0" err="1">
                <a:solidFill>
                  <a:srgbClr val="902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horiz</a:t>
            </a:r>
            <a:r>
              <a:rPr lang="ru-RU" altLang="ru-RU" sz="1800" dirty="0">
                <a:solidFill>
                  <a:srgbClr val="902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</a:t>
            </a:r>
            <a:r>
              <a:rPr lang="ru-RU" altLang="ru-RU" sz="1800" dirty="0">
                <a:solidFill>
                  <a:srgbClr val="33333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ru-RU" altLang="ru-RU" sz="1800" dirty="0">
                <a:solidFill>
                  <a:srgbClr val="00702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TRUE</a:t>
            </a:r>
            <a:r>
              <a:rPr lang="ru-RU" altLang="ru-RU" sz="1800" dirty="0">
                <a:solidFill>
                  <a:srgbClr val="33333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ru-RU" altLang="ru-RU" sz="1800" dirty="0" err="1">
                <a:solidFill>
                  <a:srgbClr val="902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las</a:t>
            </a:r>
            <a:r>
              <a:rPr lang="ru-RU" altLang="ru-RU" sz="1800" dirty="0">
                <a:solidFill>
                  <a:srgbClr val="902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</a:t>
            </a:r>
            <a:r>
              <a:rPr lang="ru-RU" altLang="ru-RU" sz="1800" dirty="0">
                <a:solidFill>
                  <a:srgbClr val="33333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ru-RU" altLang="ru-RU" sz="1800" dirty="0">
                <a:solidFill>
                  <a:srgbClr val="40A07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  <a:r>
              <a:rPr lang="ru-RU" altLang="ru-RU" sz="1800" dirty="0">
                <a:solidFill>
                  <a:srgbClr val="33333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</a:p>
          <a:p>
            <a:pPr eaLnBrk="0" hangingPunct="0"/>
            <a:r>
              <a:rPr lang="ru-RU" altLang="ru-RU" sz="1800" dirty="0" err="1">
                <a:solidFill>
                  <a:srgbClr val="902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xlim</a:t>
            </a:r>
            <a:r>
              <a:rPr lang="ru-RU" altLang="ru-RU" sz="1800" dirty="0">
                <a:solidFill>
                  <a:srgbClr val="902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</a:t>
            </a:r>
            <a:r>
              <a:rPr lang="ru-RU" altLang="ru-RU" sz="1800" dirty="0">
                <a:solidFill>
                  <a:srgbClr val="33333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ru-RU" altLang="ru-RU" sz="1800" b="1" dirty="0">
                <a:solidFill>
                  <a:srgbClr val="00702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</a:t>
            </a:r>
            <a:r>
              <a:rPr lang="ru-RU" altLang="ru-RU" sz="1800" dirty="0">
                <a:solidFill>
                  <a:srgbClr val="33333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ru-RU" altLang="ru-RU" sz="1800" dirty="0">
                <a:solidFill>
                  <a:srgbClr val="40A07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</a:t>
            </a:r>
            <a:r>
              <a:rPr lang="ru-RU" altLang="ru-RU" sz="1800" dirty="0">
                <a:solidFill>
                  <a:srgbClr val="33333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  <a:r>
              <a:rPr lang="ru-RU" altLang="ru-RU" sz="1800" dirty="0">
                <a:solidFill>
                  <a:srgbClr val="40A07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12000</a:t>
            </a:r>
            <a:r>
              <a:rPr lang="ru-RU" altLang="ru-RU" sz="1800" dirty="0">
                <a:solidFill>
                  <a:srgbClr val="33333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))</a:t>
            </a:r>
            <a:r>
              <a:rPr lang="ru-RU" altLang="ru-RU" sz="1800" dirty="0"/>
              <a:t> </a:t>
            </a:r>
          </a:p>
        </p:txBody>
      </p:sp>
      <p:pic>
        <p:nvPicPr>
          <p:cNvPr id="4099" name="Picture 3" descr="https://tsamsonov.github.io/r-geo-course/r-geo-course_files/figure-html/unnamed-chunk-235-2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68595" y="3290006"/>
            <a:ext cx="4881955" cy="34871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2B6C0E-C4B9-4094-8E59-5B7DF00D5415}" type="slidenum">
              <a:rPr lang="ru-RU" smtClean="0">
                <a:solidFill>
                  <a:schemeClr val="tx1"/>
                </a:solidFill>
              </a:rPr>
              <a:t>67</a:t>
            </a:fld>
            <a:endParaRPr lang="ru-RU">
              <a:solidFill>
                <a:schemeClr val="tx1"/>
              </a:solidFill>
            </a:endParaRPr>
          </a:p>
        </p:txBody>
      </p:sp>
      <p:sp>
        <p:nvSpPr>
          <p:cNvPr id="11" name="Заголовок 1"/>
          <p:cNvSpPr>
            <a:spLocks noGrp="1"/>
          </p:cNvSpPr>
          <p:nvPr>
            <p:ph type="title"/>
          </p:nvPr>
        </p:nvSpPr>
        <p:spPr>
          <a:xfrm>
            <a:off x="2013645" y="230676"/>
            <a:ext cx="8503820" cy="812188"/>
          </a:xfrm>
        </p:spPr>
        <p:txBody>
          <a:bodyPr>
            <a:noAutofit/>
          </a:bodyPr>
          <a:lstStyle/>
          <a:p>
            <a:pPr>
              <a:lnSpc>
                <a:spcPts val="4400"/>
              </a:lnSpc>
              <a:defRPr/>
            </a:pPr>
            <a:r>
              <a:rPr lang="ru-RU" sz="3600" dirty="0"/>
              <a:t>Оформление графического вывода в </a:t>
            </a:r>
            <a:r>
              <a:rPr lang="en-US" sz="3600" dirty="0"/>
              <a:t>R</a:t>
            </a:r>
            <a:endParaRPr lang="ru-RU" sz="3600" dirty="0"/>
          </a:p>
        </p:txBody>
      </p:sp>
    </p:spTree>
    <p:extLst>
      <p:ext uri="{BB962C8B-B14F-4D97-AF65-F5344CB8AC3E}">
        <p14:creationId xmlns:p14="http://schemas.microsoft.com/office/powerpoint/2010/main" val="4372135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AutoShape 2">
            <a:extLst>
              <a:ext uri="{FF2B5EF4-FFF2-40B4-BE49-F238E27FC236}">
                <a16:creationId xmlns:a16="http://schemas.microsoft.com/office/drawing/2014/main" id="{CAFF79BA-32C7-44FB-9E7A-48A1E972A8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9469" y="322263"/>
            <a:ext cx="11809311" cy="6553249"/>
          </a:xfrm>
          <a:prstGeom prst="roundRect">
            <a:avLst>
              <a:gd name="adj" fmla="val 16667"/>
            </a:avLst>
          </a:prstGeom>
          <a:solidFill>
            <a:schemeClr val="bg1">
              <a:alpha val="50000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9441" tIns="49721" rIns="99441" bIns="49721" anchor="ctr"/>
          <a:lstStyle>
            <a:lvl1pPr defTabSz="99377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1177925" defTabSz="99377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373188" defTabSz="99377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66863" defTabSz="99377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89138" defTabSz="99377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46338" defTabSz="9937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03538" defTabSz="9937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60738" defTabSz="9937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17938" defTabSz="9937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ru-RU" altLang="ru-RU" sz="3500">
              <a:solidFill>
                <a:schemeClr val="bg1"/>
              </a:solidFill>
            </a:endParaRPr>
          </a:p>
        </p:txBody>
      </p:sp>
      <p:sp>
        <p:nvSpPr>
          <p:cNvPr id="16" name="Скругленный прямоугольник 8">
            <a:extLst>
              <a:ext uri="{FF2B5EF4-FFF2-40B4-BE49-F238E27FC236}">
                <a16:creationId xmlns:a16="http://schemas.microsoft.com/office/drawing/2014/main" id="{87F042C3-7871-4736-8916-7D2E8D3FF6C0}"/>
              </a:ext>
            </a:extLst>
          </p:cNvPr>
          <p:cNvSpPr/>
          <p:nvPr/>
        </p:nvSpPr>
        <p:spPr bwMode="auto">
          <a:xfrm>
            <a:off x="1077541" y="1167018"/>
            <a:ext cx="10729192" cy="5527311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  <a:headEnd type="none" w="med" len="med"/>
            <a:tailEnd type="none" w="med" len="med"/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defTabSz="993775"/>
            <a:endParaRPr lang="ru-RU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AutoShape 5"/>
          <p:cNvSpPr>
            <a:spLocks noChangeArrowheads="1"/>
          </p:cNvSpPr>
          <p:nvPr/>
        </p:nvSpPr>
        <p:spPr bwMode="auto">
          <a:xfrm>
            <a:off x="2085977" y="469900"/>
            <a:ext cx="8351837" cy="665683"/>
          </a:xfrm>
          <a:prstGeom prst="roundRect">
            <a:avLst>
              <a:gd name="adj" fmla="val 16667"/>
            </a:avLst>
          </a:prstGeom>
          <a:solidFill>
            <a:srgbClr val="FFFFFF">
              <a:alpha val="78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9441" tIns="49721" rIns="99441" bIns="49721" anchor="ctr"/>
          <a:lstStyle>
            <a:lvl1pPr defTabSz="99377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1177925" defTabSz="99377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373188" defTabSz="99377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66863" defTabSz="99377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89138" defTabSz="99377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46338" defTabSz="9937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03538" defTabSz="9937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60738" defTabSz="9937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17938" defTabSz="9937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ru-RU" altLang="ru-RU" sz="3500">
              <a:solidFill>
                <a:schemeClr val="bg1"/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2013645" y="1386066"/>
            <a:ext cx="5709908" cy="476735"/>
          </a:xfrm>
        </p:spPr>
        <p:txBody>
          <a:bodyPr/>
          <a:lstStyle/>
          <a:p>
            <a:pPr marL="0" indent="0">
              <a:buNone/>
              <a:defRPr/>
            </a:pPr>
            <a:r>
              <a:rPr lang="ru-RU" sz="2400" b="1" dirty="0"/>
              <a:t>Круговые (секторные) диаграммы</a:t>
            </a:r>
          </a:p>
        </p:txBody>
      </p:sp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1736428" y="2091461"/>
            <a:ext cx="9359851" cy="366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348060" indent="-348060">
              <a:lnSpc>
                <a:spcPct val="85000"/>
              </a:lnSpc>
              <a:spcBef>
                <a:spcPct val="25000"/>
              </a:spcBef>
              <a:buClr>
                <a:srgbClr val="F4BE96"/>
              </a:buClr>
              <a:buSzPct val="80000"/>
              <a:buBlip>
                <a:blip r:embed="rId2"/>
              </a:buBlip>
              <a:defRPr/>
            </a:pPr>
            <a:r>
              <a:rPr lang="ru-RU" altLang="ru-RU" sz="2078" dirty="0">
                <a:latin typeface="+mn-lt"/>
              </a:rPr>
              <a:t>Круговые диаграммы (англ. </a:t>
            </a:r>
            <a:r>
              <a:rPr lang="ru-RU" altLang="ru-RU" sz="2078" dirty="0" err="1">
                <a:latin typeface="+mn-lt"/>
              </a:rPr>
              <a:t>piechart</a:t>
            </a:r>
            <a:r>
              <a:rPr lang="ru-RU" altLang="ru-RU" sz="2078" dirty="0">
                <a:latin typeface="+mn-lt"/>
              </a:rPr>
              <a:t>) строятся с помощью функции </a:t>
            </a:r>
            <a:r>
              <a:rPr lang="ru-RU" altLang="ru-RU" sz="2078" i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pie</a:t>
            </a:r>
            <a:r>
              <a:rPr lang="ru-RU" altLang="ru-RU" sz="2078" i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(): </a:t>
            </a:r>
          </a:p>
        </p:txBody>
      </p:sp>
      <p:pic>
        <p:nvPicPr>
          <p:cNvPr id="101381" name="Рисунок 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24397" y="2659969"/>
            <a:ext cx="4155520" cy="565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1382" name="Рисунок 1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63070" y="3320790"/>
            <a:ext cx="5306564" cy="2534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Rectangle 1"/>
          <p:cNvSpPr>
            <a:spLocks noChangeArrowheads="1"/>
          </p:cNvSpPr>
          <p:nvPr/>
        </p:nvSpPr>
        <p:spPr bwMode="auto">
          <a:xfrm>
            <a:off x="3165773" y="6205279"/>
            <a:ext cx="7056016" cy="3539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eaLnBrk="1" hangingPunct="1">
              <a:lnSpc>
                <a:spcPct val="85000"/>
              </a:lnSpc>
              <a:spcBef>
                <a:spcPct val="25000"/>
              </a:spcBef>
              <a:buClr>
                <a:srgbClr val="F4BE96"/>
              </a:buClr>
              <a:buSzPct val="80000"/>
              <a:defRPr/>
            </a:pPr>
            <a:r>
              <a:rPr lang="ru-RU" altLang="ru-RU" dirty="0">
                <a:latin typeface="+mn-lt"/>
              </a:rPr>
              <a:t>Экспорт продукции химической промышленности по округам</a:t>
            </a:r>
            <a:endParaRPr lang="ru-RU" altLang="ru-RU" i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</p:txBody>
      </p:sp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2B6C0E-C4B9-4094-8E59-5B7DF00D5415}" type="slidenum">
              <a:rPr lang="ru-RU" smtClean="0">
                <a:solidFill>
                  <a:schemeClr val="tx1"/>
                </a:solidFill>
              </a:rPr>
              <a:t>68</a:t>
            </a:fld>
            <a:endParaRPr lang="ru-RU">
              <a:solidFill>
                <a:schemeClr val="tx1"/>
              </a:solidFill>
            </a:endParaRPr>
          </a:p>
        </p:txBody>
      </p:sp>
      <p:sp>
        <p:nvSpPr>
          <p:cNvPr id="15" name="Заголовок 1"/>
          <p:cNvSpPr>
            <a:spLocks noGrp="1"/>
          </p:cNvSpPr>
          <p:nvPr>
            <p:ph type="title"/>
          </p:nvPr>
        </p:nvSpPr>
        <p:spPr>
          <a:xfrm>
            <a:off x="2013645" y="230676"/>
            <a:ext cx="8503820" cy="812188"/>
          </a:xfrm>
        </p:spPr>
        <p:txBody>
          <a:bodyPr>
            <a:noAutofit/>
          </a:bodyPr>
          <a:lstStyle/>
          <a:p>
            <a:pPr>
              <a:lnSpc>
                <a:spcPts val="4400"/>
              </a:lnSpc>
              <a:defRPr/>
            </a:pPr>
            <a:r>
              <a:rPr lang="ru-RU" sz="3600" dirty="0"/>
              <a:t>Оформление графического вывода в </a:t>
            </a:r>
            <a:r>
              <a:rPr lang="en-US" sz="3600" dirty="0"/>
              <a:t>R</a:t>
            </a:r>
            <a:endParaRPr lang="ru-RU" sz="3600" dirty="0"/>
          </a:p>
        </p:txBody>
      </p:sp>
    </p:spTree>
    <p:extLst>
      <p:ext uri="{BB962C8B-B14F-4D97-AF65-F5344CB8AC3E}">
        <p14:creationId xmlns:p14="http://schemas.microsoft.com/office/powerpoint/2010/main" val="11686329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AutoShape 2">
            <a:extLst>
              <a:ext uri="{FF2B5EF4-FFF2-40B4-BE49-F238E27FC236}">
                <a16:creationId xmlns:a16="http://schemas.microsoft.com/office/drawing/2014/main" id="{9C9406ED-E296-40D2-BAB2-B156A190F8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9469" y="322263"/>
            <a:ext cx="11809311" cy="6553249"/>
          </a:xfrm>
          <a:prstGeom prst="roundRect">
            <a:avLst>
              <a:gd name="adj" fmla="val 16667"/>
            </a:avLst>
          </a:prstGeom>
          <a:solidFill>
            <a:schemeClr val="bg1">
              <a:alpha val="50000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9441" tIns="49721" rIns="99441" bIns="49721" anchor="ctr"/>
          <a:lstStyle>
            <a:lvl1pPr defTabSz="99377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1177925" defTabSz="99377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373188" defTabSz="99377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66863" defTabSz="99377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89138" defTabSz="99377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46338" defTabSz="9937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03538" defTabSz="9937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60738" defTabSz="9937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17938" defTabSz="9937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ru-RU" altLang="ru-RU" sz="3500">
              <a:solidFill>
                <a:schemeClr val="bg1"/>
              </a:solidFill>
            </a:endParaRPr>
          </a:p>
        </p:txBody>
      </p:sp>
      <p:sp>
        <p:nvSpPr>
          <p:cNvPr id="19" name="Скругленный прямоугольник 8">
            <a:extLst>
              <a:ext uri="{FF2B5EF4-FFF2-40B4-BE49-F238E27FC236}">
                <a16:creationId xmlns:a16="http://schemas.microsoft.com/office/drawing/2014/main" id="{48B2917D-A356-461F-8BF4-D237598B40D2}"/>
              </a:ext>
            </a:extLst>
          </p:cNvPr>
          <p:cNvSpPr/>
          <p:nvPr/>
        </p:nvSpPr>
        <p:spPr bwMode="auto">
          <a:xfrm>
            <a:off x="1077541" y="1167018"/>
            <a:ext cx="10729192" cy="5527311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  <a:headEnd type="none" w="med" len="med"/>
            <a:tailEnd type="none" w="med" len="med"/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defTabSz="993775"/>
            <a:endParaRPr lang="ru-RU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AutoShape 5"/>
          <p:cNvSpPr>
            <a:spLocks noChangeArrowheads="1"/>
          </p:cNvSpPr>
          <p:nvPr/>
        </p:nvSpPr>
        <p:spPr bwMode="auto">
          <a:xfrm>
            <a:off x="2085977" y="469900"/>
            <a:ext cx="8351837" cy="665683"/>
          </a:xfrm>
          <a:prstGeom prst="roundRect">
            <a:avLst>
              <a:gd name="adj" fmla="val 16667"/>
            </a:avLst>
          </a:prstGeom>
          <a:solidFill>
            <a:srgbClr val="FFFFFF">
              <a:alpha val="78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9441" tIns="49721" rIns="99441" bIns="49721" anchor="ctr"/>
          <a:lstStyle>
            <a:lvl1pPr defTabSz="99377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1177925" defTabSz="99377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373188" defTabSz="99377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66863" defTabSz="99377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89138" defTabSz="99377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46338" defTabSz="9937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03538" defTabSz="9937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60738" defTabSz="9937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17938" defTabSz="9937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ru-RU" altLang="ru-RU" sz="3500">
              <a:solidFill>
                <a:schemeClr val="bg1"/>
              </a:solidFill>
            </a:endParaRPr>
          </a:p>
        </p:txBody>
      </p:sp>
      <p:sp>
        <p:nvSpPr>
          <p:cNvPr id="11" name="Rectangle 1"/>
          <p:cNvSpPr>
            <a:spLocks noChangeArrowheads="1"/>
          </p:cNvSpPr>
          <p:nvPr/>
        </p:nvSpPr>
        <p:spPr bwMode="auto">
          <a:xfrm>
            <a:off x="1602662" y="2195486"/>
            <a:ext cx="9356328" cy="6359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348060" indent="-348060">
              <a:lnSpc>
                <a:spcPct val="85000"/>
              </a:lnSpc>
              <a:spcBef>
                <a:spcPct val="25000"/>
              </a:spcBef>
              <a:buClr>
                <a:srgbClr val="F4BE96"/>
              </a:buClr>
              <a:buSzPct val="80000"/>
              <a:buBlip>
                <a:blip r:embed="rId2"/>
              </a:buBlip>
            </a:pPr>
            <a:r>
              <a:rPr lang="ru-RU" altLang="ru-RU" sz="2078" dirty="0">
                <a:latin typeface="+mn-lt"/>
              </a:rPr>
              <a:t># в каждую метку можно добавить процент данного округа в общей массе. Для этого его нужно сначала посчитать и затем округлить: </a:t>
            </a:r>
          </a:p>
        </p:txBody>
      </p:sp>
      <p:sp>
        <p:nvSpPr>
          <p:cNvPr id="15" name="Rectangle 2"/>
          <p:cNvSpPr>
            <a:spLocks noChangeArrowheads="1"/>
          </p:cNvSpPr>
          <p:nvPr/>
        </p:nvSpPr>
        <p:spPr bwMode="auto">
          <a:xfrm>
            <a:off x="2286961" y="3207041"/>
            <a:ext cx="7608366" cy="70788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wrap="square" anchor="ctr">
            <a:spAutoFit/>
          </a:bodyPr>
          <a:lstStyle/>
          <a:p>
            <a:pPr>
              <a:defRPr/>
            </a:pPr>
            <a:r>
              <a:rPr lang="en-US" altLang="ru-RU" dirty="0">
                <a:latin typeface="+mj-lt"/>
              </a:rPr>
              <a:t>percentage = 100 * </a:t>
            </a:r>
            <a:r>
              <a:rPr lang="en-US" altLang="ru-RU" dirty="0" err="1">
                <a:latin typeface="+mj-lt"/>
              </a:rPr>
              <a:t>okr$ХимЭкспорт</a:t>
            </a:r>
            <a:r>
              <a:rPr lang="en-US" altLang="ru-RU" dirty="0">
                <a:latin typeface="+mj-lt"/>
              </a:rPr>
              <a:t> / sum(</a:t>
            </a:r>
            <a:r>
              <a:rPr lang="en-US" altLang="ru-RU" dirty="0" err="1">
                <a:latin typeface="+mj-lt"/>
              </a:rPr>
              <a:t>okr$ХимЭкспорт</a:t>
            </a:r>
            <a:r>
              <a:rPr lang="en-US" altLang="ru-RU" dirty="0">
                <a:latin typeface="+mj-lt"/>
              </a:rPr>
              <a:t>)</a:t>
            </a:r>
            <a:endParaRPr lang="ru-RU" altLang="ru-RU" dirty="0">
              <a:latin typeface="+mj-lt"/>
            </a:endParaRPr>
          </a:p>
          <a:p>
            <a:pPr>
              <a:defRPr/>
            </a:pPr>
            <a:r>
              <a:rPr lang="en-US" altLang="ru-RU" dirty="0">
                <a:latin typeface="+mj-lt"/>
              </a:rPr>
              <a:t>percentage = round(percentage, digits = 1)</a:t>
            </a:r>
            <a:r>
              <a:rPr lang="en-US" altLang="ru-RU" sz="1600" dirty="0">
                <a:latin typeface="+mj-lt"/>
              </a:rPr>
              <a:t> </a:t>
            </a:r>
            <a:endParaRPr lang="ru-RU" altLang="ru-RU" sz="1600" dirty="0">
              <a:latin typeface="+mj-lt"/>
            </a:endParaRPr>
          </a:p>
        </p:txBody>
      </p:sp>
      <p:sp>
        <p:nvSpPr>
          <p:cNvPr id="16" name="Прямоугольник 15"/>
          <p:cNvSpPr/>
          <p:nvPr/>
        </p:nvSpPr>
        <p:spPr>
          <a:xfrm>
            <a:off x="1744476" y="4131731"/>
            <a:ext cx="9214514" cy="12256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348060" indent="-348060">
              <a:lnSpc>
                <a:spcPct val="85000"/>
              </a:lnSpc>
              <a:spcBef>
                <a:spcPct val="25000"/>
              </a:spcBef>
              <a:buClr>
                <a:srgbClr val="F4BE96"/>
              </a:buClr>
              <a:buSzPct val="80000"/>
              <a:buBlip>
                <a:blip r:embed="rId2"/>
              </a:buBlip>
              <a:defRPr/>
            </a:pPr>
            <a:r>
              <a:rPr lang="ru-RU" sz="2078" dirty="0">
                <a:latin typeface="+mn-lt"/>
              </a:rPr>
              <a:t>Можно присоединить проценты к названиям округов, добавив обрамляющие скобки. Чтобы функция </a:t>
            </a:r>
            <a:r>
              <a:rPr lang="ru-RU" sz="2078" i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paste</a:t>
            </a:r>
            <a:r>
              <a:rPr lang="ru-RU" sz="2078" dirty="0">
                <a:latin typeface="+mn-lt"/>
              </a:rPr>
              <a:t> не добавляла пробелы между присоединяемыми строками, необходимо задать параметр </a:t>
            </a:r>
            <a:r>
              <a:rPr lang="ru-RU" sz="2078" i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sep</a:t>
            </a:r>
            <a:r>
              <a:rPr lang="ru-RU" sz="2078" i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=</a:t>
            </a:r>
            <a:r>
              <a:rPr lang="ru-RU" sz="2078" dirty="0">
                <a:latin typeface="+mn-lt"/>
              </a:rPr>
              <a:t> , передав ему пустую строку — </a:t>
            </a:r>
            <a:r>
              <a:rPr lang="ru-RU" sz="2078" i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" "</a:t>
            </a:r>
            <a:r>
              <a:rPr lang="ru-RU" sz="2078" dirty="0">
                <a:latin typeface="+mn-lt"/>
              </a:rPr>
              <a:t>:</a:t>
            </a:r>
          </a:p>
        </p:txBody>
      </p:sp>
      <p:sp>
        <p:nvSpPr>
          <p:cNvPr id="17" name="Rectangle 4"/>
          <p:cNvSpPr>
            <a:spLocks noChangeArrowheads="1"/>
          </p:cNvSpPr>
          <p:nvPr/>
        </p:nvSpPr>
        <p:spPr bwMode="auto">
          <a:xfrm>
            <a:off x="2176599" y="5309861"/>
            <a:ext cx="8694031" cy="1323439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square" anchor="ctr">
            <a:spAutoFit/>
          </a:bodyPr>
          <a:lstStyle/>
          <a:p>
            <a:pPr>
              <a:defRPr/>
            </a:pPr>
            <a:r>
              <a:rPr lang="ru-RU" altLang="ru-RU" dirty="0">
                <a:latin typeface="+mj-lt"/>
              </a:rPr>
              <a:t>names2=</a:t>
            </a:r>
            <a:r>
              <a:rPr lang="ru-RU" altLang="ru-RU" dirty="0" err="1">
                <a:latin typeface="+mj-lt"/>
              </a:rPr>
              <a:t>paste</a:t>
            </a:r>
            <a:r>
              <a:rPr lang="ru-RU" altLang="ru-RU" dirty="0">
                <a:latin typeface="+mj-lt"/>
              </a:rPr>
              <a:t>(</a:t>
            </a:r>
            <a:r>
              <a:rPr lang="ru-RU" altLang="ru-RU" dirty="0" err="1">
                <a:latin typeface="+mj-lt"/>
              </a:rPr>
              <a:t>names</a:t>
            </a:r>
            <a:r>
              <a:rPr lang="ru-RU" altLang="ru-RU" dirty="0">
                <a:latin typeface="+mj-lt"/>
              </a:rPr>
              <a:t>, " (", </a:t>
            </a:r>
            <a:r>
              <a:rPr lang="ru-RU" altLang="ru-RU" dirty="0" err="1">
                <a:latin typeface="+mj-lt"/>
              </a:rPr>
              <a:t>percentage</a:t>
            </a:r>
            <a:r>
              <a:rPr lang="ru-RU" altLang="ru-RU" dirty="0">
                <a:latin typeface="+mj-lt"/>
              </a:rPr>
              <a:t>, "%)", </a:t>
            </a:r>
            <a:r>
              <a:rPr lang="ru-RU" altLang="ru-RU" dirty="0" err="1">
                <a:latin typeface="+mj-lt"/>
              </a:rPr>
              <a:t>sep</a:t>
            </a:r>
            <a:r>
              <a:rPr lang="ru-RU" altLang="ru-RU" dirty="0">
                <a:latin typeface="+mj-lt"/>
              </a:rPr>
              <a:t> = "") </a:t>
            </a:r>
          </a:p>
          <a:p>
            <a:pPr>
              <a:defRPr/>
            </a:pPr>
            <a:r>
              <a:rPr lang="ru-RU" altLang="ru-RU" dirty="0">
                <a:latin typeface="+mj-lt"/>
              </a:rPr>
              <a:t># Используем для аннотирования круговых секторов: </a:t>
            </a:r>
          </a:p>
          <a:p>
            <a:pPr>
              <a:defRPr/>
            </a:pPr>
            <a:r>
              <a:rPr lang="en-US" altLang="ru-RU" dirty="0">
                <a:latin typeface="+mj-lt"/>
              </a:rPr>
              <a:t>pie(</a:t>
            </a:r>
            <a:r>
              <a:rPr lang="en-US" altLang="ru-RU" dirty="0" err="1">
                <a:latin typeface="+mj-lt"/>
              </a:rPr>
              <a:t>okr$ХимЭкспорт</a:t>
            </a:r>
            <a:r>
              <a:rPr lang="en-US" altLang="ru-RU" dirty="0">
                <a:latin typeface="+mj-lt"/>
              </a:rPr>
              <a:t>, names2, main = "</a:t>
            </a:r>
            <a:r>
              <a:rPr lang="en-US" altLang="ru-RU" dirty="0" err="1">
                <a:latin typeface="+mj-lt"/>
              </a:rPr>
              <a:t>Доля</a:t>
            </a:r>
            <a:r>
              <a:rPr lang="en-US" altLang="ru-RU" dirty="0">
                <a:latin typeface="+mj-lt"/>
              </a:rPr>
              <a:t> </a:t>
            </a:r>
            <a:r>
              <a:rPr lang="en-US" altLang="ru-RU" dirty="0" err="1">
                <a:latin typeface="+mj-lt"/>
              </a:rPr>
              <a:t>федеральных</a:t>
            </a:r>
            <a:r>
              <a:rPr lang="en-US" altLang="ru-RU" dirty="0">
                <a:latin typeface="+mj-lt"/>
              </a:rPr>
              <a:t> </a:t>
            </a:r>
            <a:r>
              <a:rPr lang="en-US" altLang="ru-RU" dirty="0" err="1">
                <a:latin typeface="+mj-lt"/>
              </a:rPr>
              <a:t>округов</a:t>
            </a:r>
            <a:r>
              <a:rPr lang="en-US" altLang="ru-RU" dirty="0">
                <a:latin typeface="+mj-lt"/>
              </a:rPr>
              <a:t> в </a:t>
            </a:r>
            <a:r>
              <a:rPr lang="en-US" altLang="ru-RU" dirty="0" err="1">
                <a:latin typeface="+mj-lt"/>
              </a:rPr>
              <a:t>экспорте</a:t>
            </a:r>
            <a:r>
              <a:rPr lang="en-US" altLang="ru-RU" dirty="0">
                <a:latin typeface="+mj-lt"/>
              </a:rPr>
              <a:t> </a:t>
            </a:r>
            <a:r>
              <a:rPr lang="en-US" altLang="ru-RU" dirty="0" err="1">
                <a:latin typeface="+mj-lt"/>
              </a:rPr>
              <a:t>продукции</a:t>
            </a:r>
            <a:r>
              <a:rPr lang="en-US" altLang="ru-RU" dirty="0">
                <a:latin typeface="+mj-lt"/>
              </a:rPr>
              <a:t> </a:t>
            </a:r>
            <a:r>
              <a:rPr lang="en-US" altLang="ru-RU" dirty="0" err="1">
                <a:latin typeface="+mj-lt"/>
              </a:rPr>
              <a:t>химической</a:t>
            </a:r>
            <a:r>
              <a:rPr lang="en-US" altLang="ru-RU" dirty="0">
                <a:latin typeface="+mj-lt"/>
              </a:rPr>
              <a:t> </a:t>
            </a:r>
            <a:r>
              <a:rPr lang="en-US" altLang="ru-RU" dirty="0" err="1">
                <a:latin typeface="+mj-lt"/>
              </a:rPr>
              <a:t>промышленности</a:t>
            </a:r>
            <a:r>
              <a:rPr lang="en-US" altLang="ru-RU" dirty="0">
                <a:latin typeface="+mj-lt"/>
              </a:rPr>
              <a:t>") </a:t>
            </a:r>
          </a:p>
        </p:txBody>
      </p:sp>
      <p:sp>
        <p:nvSpPr>
          <p:cNvPr id="12" name="Объект 2"/>
          <p:cNvSpPr txBox="1">
            <a:spLocks/>
          </p:cNvSpPr>
          <p:nvPr/>
        </p:nvSpPr>
        <p:spPr>
          <a:xfrm>
            <a:off x="1992370" y="1530789"/>
            <a:ext cx="5709908" cy="476735"/>
          </a:xfrm>
          <a:prstGeom prst="rect">
            <a:avLst/>
          </a:prstGeom>
        </p:spPr>
        <p:txBody>
          <a:bodyPr/>
          <a:lstStyle>
            <a:lvl1pPr marL="373063" indent="-373063" algn="l" defTabSz="993775" rtl="0" fontAlgn="base">
              <a:spcBef>
                <a:spcPct val="20000"/>
              </a:spcBef>
              <a:spcAft>
                <a:spcPct val="0"/>
              </a:spcAft>
              <a:buChar char="•"/>
              <a:defRPr sz="3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8038" indent="-311150" algn="l" defTabSz="993775" rtl="0" fontAlgn="base">
              <a:spcBef>
                <a:spcPct val="20000"/>
              </a:spcBef>
              <a:spcAft>
                <a:spcPct val="0"/>
              </a:spcAft>
              <a:buChar char="–"/>
              <a:defRPr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43013" indent="-249238" algn="l" defTabSz="993775" rtl="0" fontAlgn="base">
              <a:spcBef>
                <a:spcPct val="20000"/>
              </a:spcBef>
              <a:spcAft>
                <a:spcPct val="0"/>
              </a:spcAft>
              <a:buChar char="•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39900" indent="-247650" algn="l" defTabSz="993775" rtl="0" fontAlgn="base">
              <a:spcBef>
                <a:spcPct val="20000"/>
              </a:spcBef>
              <a:spcAft>
                <a:spcPct val="0"/>
              </a:spcAft>
              <a:buChar char="–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36788" indent="-247650" algn="l" defTabSz="993775" rtl="0" fontAlgn="base">
              <a:spcBef>
                <a:spcPct val="20000"/>
              </a:spcBef>
              <a:spcAft>
                <a:spcPct val="0"/>
              </a:spcAft>
              <a:buChar char="»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defRPr/>
            </a:pPr>
            <a:r>
              <a:rPr lang="ru-RU" sz="2400" b="1"/>
              <a:t>Круговые (секторные) диаграммы</a:t>
            </a:r>
            <a:endParaRPr lang="ru-RU" sz="2400" b="1" dirty="0"/>
          </a:p>
        </p:txBody>
      </p:sp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2B6C0E-C4B9-4094-8E59-5B7DF00D5415}" type="slidenum">
              <a:rPr lang="ru-RU" smtClean="0">
                <a:solidFill>
                  <a:schemeClr val="tx1"/>
                </a:solidFill>
              </a:rPr>
              <a:t>69</a:t>
            </a:fld>
            <a:endParaRPr lang="ru-RU">
              <a:solidFill>
                <a:schemeClr val="tx1"/>
              </a:solidFill>
            </a:endParaRPr>
          </a:p>
        </p:txBody>
      </p:sp>
      <p:sp>
        <p:nvSpPr>
          <p:cNvPr id="18" name="Заголовок 1"/>
          <p:cNvSpPr>
            <a:spLocks noGrp="1"/>
          </p:cNvSpPr>
          <p:nvPr>
            <p:ph type="title"/>
          </p:nvPr>
        </p:nvSpPr>
        <p:spPr>
          <a:xfrm>
            <a:off x="2013645" y="230676"/>
            <a:ext cx="8503820" cy="812188"/>
          </a:xfrm>
        </p:spPr>
        <p:txBody>
          <a:bodyPr>
            <a:noAutofit/>
          </a:bodyPr>
          <a:lstStyle/>
          <a:p>
            <a:pPr>
              <a:lnSpc>
                <a:spcPts val="4400"/>
              </a:lnSpc>
              <a:defRPr/>
            </a:pPr>
            <a:r>
              <a:rPr lang="ru-RU" sz="3600" dirty="0"/>
              <a:t>Оформление графического вывода в </a:t>
            </a:r>
            <a:r>
              <a:rPr lang="en-US" sz="3600" dirty="0"/>
              <a:t>R</a:t>
            </a:r>
            <a:endParaRPr lang="ru-RU" sz="3600" dirty="0"/>
          </a:p>
        </p:txBody>
      </p:sp>
    </p:spTree>
    <p:extLst>
      <p:ext uri="{BB962C8B-B14F-4D97-AF65-F5344CB8AC3E}">
        <p14:creationId xmlns:p14="http://schemas.microsoft.com/office/powerpoint/2010/main" val="12835059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AutoShape 2">
            <a:extLst>
              <a:ext uri="{FF2B5EF4-FFF2-40B4-BE49-F238E27FC236}">
                <a16:creationId xmlns:a16="http://schemas.microsoft.com/office/drawing/2014/main" id="{BDAB7B3B-8CFB-4271-A00A-69D17B7753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9469" y="322263"/>
            <a:ext cx="11809311" cy="6553249"/>
          </a:xfrm>
          <a:prstGeom prst="roundRect">
            <a:avLst>
              <a:gd name="adj" fmla="val 16667"/>
            </a:avLst>
          </a:prstGeom>
          <a:solidFill>
            <a:schemeClr val="bg1">
              <a:alpha val="50000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9441" tIns="49721" rIns="99441" bIns="49721" anchor="ctr"/>
          <a:lstStyle>
            <a:lvl1pPr defTabSz="99377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1177925" defTabSz="99377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373188" defTabSz="99377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66863" defTabSz="99377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89138" defTabSz="99377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46338" defTabSz="9937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03538" defTabSz="9937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60738" defTabSz="9937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17938" defTabSz="9937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ru-RU" altLang="ru-RU" sz="3500">
              <a:solidFill>
                <a:schemeClr val="bg1"/>
              </a:solidFill>
            </a:endParaRPr>
          </a:p>
        </p:txBody>
      </p:sp>
      <p:sp>
        <p:nvSpPr>
          <p:cNvPr id="17" name="Скругленный прямоугольник 8">
            <a:extLst>
              <a:ext uri="{FF2B5EF4-FFF2-40B4-BE49-F238E27FC236}">
                <a16:creationId xmlns:a16="http://schemas.microsoft.com/office/drawing/2014/main" id="{4CB4370B-EA27-4DFF-9EAC-4523DE7043B9}"/>
              </a:ext>
            </a:extLst>
          </p:cNvPr>
          <p:cNvSpPr/>
          <p:nvPr/>
        </p:nvSpPr>
        <p:spPr bwMode="auto">
          <a:xfrm>
            <a:off x="1077541" y="1167018"/>
            <a:ext cx="10729192" cy="5527311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  <a:headEnd type="none" w="med" len="med"/>
            <a:tailEnd type="none" w="med" len="med"/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defTabSz="993775"/>
            <a:endParaRPr lang="ru-RU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AutoShape 5"/>
          <p:cNvSpPr>
            <a:spLocks noChangeArrowheads="1"/>
          </p:cNvSpPr>
          <p:nvPr/>
        </p:nvSpPr>
        <p:spPr bwMode="auto">
          <a:xfrm>
            <a:off x="2158207" y="183250"/>
            <a:ext cx="8351837" cy="665683"/>
          </a:xfrm>
          <a:prstGeom prst="roundRect">
            <a:avLst>
              <a:gd name="adj" fmla="val 16667"/>
            </a:avLst>
          </a:prstGeom>
          <a:solidFill>
            <a:srgbClr val="FFFFFF">
              <a:alpha val="78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9441" tIns="49721" rIns="99441" bIns="49721" anchor="ctr"/>
          <a:lstStyle>
            <a:lvl1pPr defTabSz="99377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1177925" defTabSz="99377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373188" defTabSz="99377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66863" defTabSz="99377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89138" defTabSz="99377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46338" defTabSz="9937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03538" defTabSz="9937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60738" defTabSz="9937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17938" defTabSz="9937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ru-RU" altLang="ru-RU" sz="3500">
              <a:solidFill>
                <a:schemeClr val="bg1"/>
              </a:solidFill>
            </a:endParaRPr>
          </a:p>
        </p:txBody>
      </p:sp>
      <p:pic>
        <p:nvPicPr>
          <p:cNvPr id="12" name="Рисунок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12663" y="2113047"/>
            <a:ext cx="6715199" cy="33311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8" name="Rectangle 1"/>
          <p:cNvSpPr>
            <a:spLocks noChangeArrowheads="1"/>
          </p:cNvSpPr>
          <p:nvPr/>
        </p:nvSpPr>
        <p:spPr bwMode="auto">
          <a:xfrm>
            <a:off x="1526068" y="5571083"/>
            <a:ext cx="9293867" cy="6383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348060" indent="-348060">
              <a:lnSpc>
                <a:spcPct val="85000"/>
              </a:lnSpc>
              <a:spcBef>
                <a:spcPct val="25000"/>
              </a:spcBef>
              <a:buClr>
                <a:srgbClr val="F4BE96"/>
              </a:buClr>
              <a:buSzPct val="80000"/>
              <a:buBlip>
                <a:blip r:embed="rId3"/>
              </a:buBlip>
              <a:defRPr/>
            </a:pPr>
            <a:r>
              <a:rPr lang="ru-RU" altLang="ru-RU" sz="2078" dirty="0">
                <a:latin typeface="+mn-lt"/>
              </a:rPr>
              <a:t>Чтобы перенести часть заголовка на вторую строку, вы можете использовать управляющий символ перевода строки \n, вставив его в требуемое место </a:t>
            </a:r>
          </a:p>
        </p:txBody>
      </p:sp>
      <p:sp>
        <p:nvSpPr>
          <p:cNvPr id="10" name="Объект 2"/>
          <p:cNvSpPr txBox="1">
            <a:spLocks/>
          </p:cNvSpPr>
          <p:nvPr/>
        </p:nvSpPr>
        <p:spPr>
          <a:xfrm>
            <a:off x="1992370" y="1530789"/>
            <a:ext cx="5709908" cy="476735"/>
          </a:xfrm>
          <a:prstGeom prst="rect">
            <a:avLst/>
          </a:prstGeom>
        </p:spPr>
        <p:txBody>
          <a:bodyPr/>
          <a:lstStyle>
            <a:lvl1pPr marL="373063" indent="-373063" algn="l" defTabSz="993775" rtl="0" fontAlgn="base">
              <a:spcBef>
                <a:spcPct val="20000"/>
              </a:spcBef>
              <a:spcAft>
                <a:spcPct val="0"/>
              </a:spcAft>
              <a:buChar char="•"/>
              <a:defRPr sz="3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8038" indent="-311150" algn="l" defTabSz="993775" rtl="0" fontAlgn="base">
              <a:spcBef>
                <a:spcPct val="20000"/>
              </a:spcBef>
              <a:spcAft>
                <a:spcPct val="0"/>
              </a:spcAft>
              <a:buChar char="–"/>
              <a:defRPr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43013" indent="-249238" algn="l" defTabSz="993775" rtl="0" fontAlgn="base">
              <a:spcBef>
                <a:spcPct val="20000"/>
              </a:spcBef>
              <a:spcAft>
                <a:spcPct val="0"/>
              </a:spcAft>
              <a:buChar char="•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39900" indent="-247650" algn="l" defTabSz="993775" rtl="0" fontAlgn="base">
              <a:spcBef>
                <a:spcPct val="20000"/>
              </a:spcBef>
              <a:spcAft>
                <a:spcPct val="0"/>
              </a:spcAft>
              <a:buChar char="–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36788" indent="-247650" algn="l" defTabSz="993775" rtl="0" fontAlgn="base">
              <a:spcBef>
                <a:spcPct val="20000"/>
              </a:spcBef>
              <a:spcAft>
                <a:spcPct val="0"/>
              </a:spcAft>
              <a:buChar char="»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defRPr/>
            </a:pPr>
            <a:r>
              <a:rPr lang="ru-RU" sz="2400" b="1"/>
              <a:t>Круговые (секторные) диаграммы</a:t>
            </a:r>
            <a:endParaRPr lang="ru-RU" sz="2400" b="1" dirty="0"/>
          </a:p>
        </p:txBody>
      </p:sp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2B6C0E-C4B9-4094-8E59-5B7DF00D5415}" type="slidenum">
              <a:rPr lang="ru-RU" smtClean="0">
                <a:solidFill>
                  <a:schemeClr val="tx1"/>
                </a:solidFill>
              </a:rPr>
              <a:t>70</a:t>
            </a:fld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11" name="Заголовок 1"/>
          <p:cNvSpPr>
            <a:spLocks noGrp="1"/>
          </p:cNvSpPr>
          <p:nvPr>
            <p:ph type="title"/>
          </p:nvPr>
        </p:nvSpPr>
        <p:spPr>
          <a:xfrm>
            <a:off x="2013645" y="230676"/>
            <a:ext cx="8503820" cy="812188"/>
          </a:xfrm>
        </p:spPr>
        <p:txBody>
          <a:bodyPr>
            <a:noAutofit/>
          </a:bodyPr>
          <a:lstStyle/>
          <a:p>
            <a:pPr>
              <a:lnSpc>
                <a:spcPts val="4400"/>
              </a:lnSpc>
              <a:defRPr/>
            </a:pPr>
            <a:r>
              <a:rPr lang="ru-RU" sz="3600" dirty="0"/>
              <a:t>Оформление графического вывода в </a:t>
            </a:r>
            <a:r>
              <a:rPr lang="en-US" sz="3600" dirty="0"/>
              <a:t>R</a:t>
            </a:r>
            <a:endParaRPr lang="ru-RU" sz="3600" dirty="0"/>
          </a:p>
        </p:txBody>
      </p:sp>
      <p:sp>
        <p:nvSpPr>
          <p:cNvPr id="15" name="Стрелка вправо 14"/>
          <p:cNvSpPr/>
          <p:nvPr/>
        </p:nvSpPr>
        <p:spPr>
          <a:xfrm rot="10800000">
            <a:off x="8981095" y="2057333"/>
            <a:ext cx="504056" cy="432048"/>
          </a:xfrm>
          <a:prstGeom prst="rightArrow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6" name="Прямоугольник 15"/>
          <p:cNvSpPr/>
          <p:nvPr/>
        </p:nvSpPr>
        <p:spPr>
          <a:xfrm>
            <a:off x="9510113" y="1843052"/>
            <a:ext cx="139871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800" dirty="0"/>
              <a:t>Так быть не должно</a:t>
            </a:r>
          </a:p>
        </p:txBody>
      </p:sp>
    </p:spTree>
    <p:extLst>
      <p:ext uri="{BB962C8B-B14F-4D97-AF65-F5344CB8AC3E}">
        <p14:creationId xmlns:p14="http://schemas.microsoft.com/office/powerpoint/2010/main" val="19975536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AutoShape 2">
            <a:extLst>
              <a:ext uri="{FF2B5EF4-FFF2-40B4-BE49-F238E27FC236}">
                <a16:creationId xmlns:a16="http://schemas.microsoft.com/office/drawing/2014/main" id="{3DB2F3DA-7C7D-48A9-AC1D-A2A3585F0F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9469" y="322263"/>
            <a:ext cx="11809311" cy="6553249"/>
          </a:xfrm>
          <a:prstGeom prst="roundRect">
            <a:avLst>
              <a:gd name="adj" fmla="val 16667"/>
            </a:avLst>
          </a:prstGeom>
          <a:solidFill>
            <a:schemeClr val="bg1">
              <a:alpha val="50000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9441" tIns="49721" rIns="99441" bIns="49721" anchor="ctr"/>
          <a:lstStyle>
            <a:lvl1pPr defTabSz="99377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1177925" defTabSz="99377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373188" defTabSz="99377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66863" defTabSz="99377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89138" defTabSz="99377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46338" defTabSz="9937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03538" defTabSz="9937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60738" defTabSz="9937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17938" defTabSz="9937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ru-RU" altLang="ru-RU" sz="3500">
              <a:solidFill>
                <a:schemeClr val="bg1"/>
              </a:solidFill>
            </a:endParaRPr>
          </a:p>
        </p:txBody>
      </p:sp>
      <p:sp>
        <p:nvSpPr>
          <p:cNvPr id="14" name="Скругленный прямоугольник 8">
            <a:extLst>
              <a:ext uri="{FF2B5EF4-FFF2-40B4-BE49-F238E27FC236}">
                <a16:creationId xmlns:a16="http://schemas.microsoft.com/office/drawing/2014/main" id="{4884E164-7963-4737-871E-E5D6E5FDBED4}"/>
              </a:ext>
            </a:extLst>
          </p:cNvPr>
          <p:cNvSpPr/>
          <p:nvPr/>
        </p:nvSpPr>
        <p:spPr bwMode="auto">
          <a:xfrm>
            <a:off x="1077541" y="1167018"/>
            <a:ext cx="10729192" cy="5527311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  <a:headEnd type="none" w="med" len="med"/>
            <a:tailEnd type="none" w="med" len="med"/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defTabSz="993775"/>
            <a:endParaRPr lang="ru-RU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AutoShape 5"/>
          <p:cNvSpPr>
            <a:spLocks noChangeArrowheads="1"/>
          </p:cNvSpPr>
          <p:nvPr/>
        </p:nvSpPr>
        <p:spPr bwMode="auto">
          <a:xfrm>
            <a:off x="2085977" y="230677"/>
            <a:ext cx="8351837" cy="668172"/>
          </a:xfrm>
          <a:prstGeom prst="roundRect">
            <a:avLst>
              <a:gd name="adj" fmla="val 16667"/>
            </a:avLst>
          </a:prstGeom>
          <a:solidFill>
            <a:srgbClr val="FFFFFF">
              <a:alpha val="78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9441" tIns="49721" rIns="99441" bIns="49721" anchor="ctr"/>
          <a:lstStyle>
            <a:lvl1pPr defTabSz="99377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1177925" defTabSz="99377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373188" defTabSz="99377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66863" defTabSz="99377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89138" defTabSz="99377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46338" defTabSz="9937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03538" defTabSz="9937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60738" defTabSz="9937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17938" defTabSz="9937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ru-RU" altLang="ru-RU" sz="3500">
              <a:solidFill>
                <a:schemeClr val="bg1"/>
              </a:solidFill>
            </a:endParaRPr>
          </a:p>
        </p:txBody>
      </p:sp>
      <p:sp>
        <p:nvSpPr>
          <p:cNvPr id="16" name="Объект 2"/>
          <p:cNvSpPr>
            <a:spLocks noGrp="1"/>
          </p:cNvSpPr>
          <p:nvPr>
            <p:ph idx="1"/>
          </p:nvPr>
        </p:nvSpPr>
        <p:spPr>
          <a:xfrm>
            <a:off x="2085975" y="1057573"/>
            <a:ext cx="4201010" cy="476735"/>
          </a:xfrm>
        </p:spPr>
        <p:txBody>
          <a:bodyPr>
            <a:normAutofit lnSpcReduction="10000"/>
          </a:bodyPr>
          <a:lstStyle/>
          <a:p>
            <a:pPr marL="0" indent="0">
              <a:buNone/>
              <a:defRPr/>
            </a:pPr>
            <a:r>
              <a:rPr lang="ru-RU" sz="2800" b="1" dirty="0"/>
              <a:t>Изменение окраски</a:t>
            </a:r>
          </a:p>
        </p:txBody>
      </p:sp>
      <p:sp>
        <p:nvSpPr>
          <p:cNvPr id="17" name="Rectangle 1"/>
          <p:cNvSpPr>
            <a:spLocks noChangeArrowheads="1"/>
          </p:cNvSpPr>
          <p:nvPr/>
        </p:nvSpPr>
        <p:spPr bwMode="auto">
          <a:xfrm>
            <a:off x="1469553" y="1494686"/>
            <a:ext cx="9760423" cy="12434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348060" indent="-348060">
              <a:lnSpc>
                <a:spcPct val="85000"/>
              </a:lnSpc>
              <a:spcBef>
                <a:spcPct val="25000"/>
              </a:spcBef>
              <a:buClr>
                <a:srgbClr val="F4BE96"/>
              </a:buClr>
              <a:buSzPct val="80000"/>
              <a:buBlip>
                <a:blip r:embed="rId2"/>
              </a:buBlip>
              <a:defRPr/>
            </a:pPr>
            <a:r>
              <a:rPr lang="ru-RU" altLang="ru-RU" sz="2200" dirty="0">
                <a:latin typeface="+mn-lt"/>
              </a:rPr>
              <a:t>Вещь, которой совершенно необходимо уметь пользоваться при работе с цветом в R — это цветовые палитры. Палитры чрезвычайно удобны, когда необходимо сгенерировать множество цветов, зная лишь основные оттенки. Для этого нужно создать палитру, используя функцию </a:t>
            </a:r>
            <a:r>
              <a:rPr lang="ru-RU" altLang="ru-RU" sz="2200" dirty="0" err="1">
                <a:latin typeface="+mn-lt"/>
              </a:rPr>
              <a:t>colorRampPalette</a:t>
            </a:r>
            <a:r>
              <a:rPr lang="ru-RU" altLang="ru-RU" sz="2200" dirty="0">
                <a:latin typeface="+mn-lt"/>
              </a:rPr>
              <a:t>(): </a:t>
            </a:r>
          </a:p>
        </p:txBody>
      </p:sp>
      <p:pic>
        <p:nvPicPr>
          <p:cNvPr id="18" name="Рисунок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94828" y="2829688"/>
            <a:ext cx="4842402" cy="39784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9" name="Рисунок 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86985" y="3302974"/>
            <a:ext cx="4632992" cy="30623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2B6C0E-C4B9-4094-8E59-5B7DF00D5415}" type="slidenum">
              <a:rPr lang="ru-RU" smtClean="0">
                <a:solidFill>
                  <a:schemeClr val="tx1"/>
                </a:solidFill>
              </a:rPr>
              <a:t>71</a:t>
            </a:fld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12" name="Заголовок 1"/>
          <p:cNvSpPr>
            <a:spLocks noGrp="1"/>
          </p:cNvSpPr>
          <p:nvPr>
            <p:ph type="title"/>
          </p:nvPr>
        </p:nvSpPr>
        <p:spPr>
          <a:xfrm>
            <a:off x="2013645" y="230676"/>
            <a:ext cx="8503820" cy="812188"/>
          </a:xfrm>
        </p:spPr>
        <p:txBody>
          <a:bodyPr>
            <a:noAutofit/>
          </a:bodyPr>
          <a:lstStyle/>
          <a:p>
            <a:pPr>
              <a:lnSpc>
                <a:spcPts val="4400"/>
              </a:lnSpc>
              <a:defRPr/>
            </a:pPr>
            <a:r>
              <a:rPr lang="ru-RU" sz="3600" dirty="0"/>
              <a:t>Оформление графического вывода в </a:t>
            </a:r>
            <a:r>
              <a:rPr lang="en-US" sz="3600" dirty="0"/>
              <a:t>R</a:t>
            </a:r>
            <a:endParaRPr lang="ru-RU" sz="3600" dirty="0"/>
          </a:p>
        </p:txBody>
      </p:sp>
    </p:spTree>
    <p:extLst>
      <p:ext uri="{BB962C8B-B14F-4D97-AF65-F5344CB8AC3E}">
        <p14:creationId xmlns:p14="http://schemas.microsoft.com/office/powerpoint/2010/main" val="28275368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AutoShape 2">
            <a:extLst>
              <a:ext uri="{FF2B5EF4-FFF2-40B4-BE49-F238E27FC236}">
                <a16:creationId xmlns:a16="http://schemas.microsoft.com/office/drawing/2014/main" id="{096538D9-3383-4718-8807-ED69E3054E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9469" y="322263"/>
            <a:ext cx="11809311" cy="6553249"/>
          </a:xfrm>
          <a:prstGeom prst="roundRect">
            <a:avLst>
              <a:gd name="adj" fmla="val 16667"/>
            </a:avLst>
          </a:prstGeom>
          <a:solidFill>
            <a:schemeClr val="bg1">
              <a:alpha val="50000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9441" tIns="49721" rIns="99441" bIns="49721" anchor="ctr"/>
          <a:lstStyle>
            <a:lvl1pPr defTabSz="99377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1177925" defTabSz="99377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373188" defTabSz="99377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66863" defTabSz="99377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89138" defTabSz="99377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46338" defTabSz="9937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03538" defTabSz="9937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60738" defTabSz="9937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17938" defTabSz="9937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ru-RU" altLang="ru-RU" sz="3500">
              <a:solidFill>
                <a:schemeClr val="bg1"/>
              </a:solidFill>
            </a:endParaRPr>
          </a:p>
        </p:txBody>
      </p:sp>
      <p:sp>
        <p:nvSpPr>
          <p:cNvPr id="17" name="Скругленный прямоугольник 8">
            <a:extLst>
              <a:ext uri="{FF2B5EF4-FFF2-40B4-BE49-F238E27FC236}">
                <a16:creationId xmlns:a16="http://schemas.microsoft.com/office/drawing/2014/main" id="{D9DC3E7D-4209-4AE3-96F7-B993FC56F4EC}"/>
              </a:ext>
            </a:extLst>
          </p:cNvPr>
          <p:cNvSpPr/>
          <p:nvPr/>
        </p:nvSpPr>
        <p:spPr bwMode="auto">
          <a:xfrm>
            <a:off x="1077541" y="1167018"/>
            <a:ext cx="10729192" cy="5527311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  <a:headEnd type="none" w="med" len="med"/>
            <a:tailEnd type="none" w="med" len="med"/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defTabSz="993775"/>
            <a:endParaRPr lang="ru-RU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AutoShape 5"/>
          <p:cNvSpPr>
            <a:spLocks noChangeArrowheads="1"/>
          </p:cNvSpPr>
          <p:nvPr/>
        </p:nvSpPr>
        <p:spPr bwMode="auto">
          <a:xfrm>
            <a:off x="2085977" y="469900"/>
            <a:ext cx="8351837" cy="665683"/>
          </a:xfrm>
          <a:prstGeom prst="roundRect">
            <a:avLst>
              <a:gd name="adj" fmla="val 16667"/>
            </a:avLst>
          </a:prstGeom>
          <a:solidFill>
            <a:srgbClr val="FFFFFF">
              <a:alpha val="78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9441" tIns="49721" rIns="99441" bIns="49721" anchor="ctr"/>
          <a:lstStyle>
            <a:lvl1pPr defTabSz="99377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1177925" defTabSz="99377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373188" defTabSz="99377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66863" defTabSz="99377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89138" defTabSz="99377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46338" defTabSz="9937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03538" defTabSz="9937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60738" defTabSz="9937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17938" defTabSz="9937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ru-RU" altLang="ru-RU" sz="3500">
              <a:solidFill>
                <a:schemeClr val="bg1"/>
              </a:solidFill>
            </a:endParaRPr>
          </a:p>
        </p:txBody>
      </p:sp>
      <p:sp>
        <p:nvSpPr>
          <p:cNvPr id="16" name="Объект 2"/>
          <p:cNvSpPr>
            <a:spLocks noGrp="1"/>
          </p:cNvSpPr>
          <p:nvPr>
            <p:ph idx="1"/>
          </p:nvPr>
        </p:nvSpPr>
        <p:spPr>
          <a:xfrm>
            <a:off x="2061108" y="1374574"/>
            <a:ext cx="8683513" cy="476735"/>
          </a:xfrm>
        </p:spPr>
        <p:txBody>
          <a:bodyPr>
            <a:normAutofit lnSpcReduction="10000"/>
          </a:bodyPr>
          <a:lstStyle/>
          <a:p>
            <a:pPr marL="0" indent="0">
              <a:buNone/>
              <a:defRPr/>
            </a:pPr>
            <a:r>
              <a:rPr lang="ru-RU" sz="2800" b="1" dirty="0"/>
              <a:t>Изменение окраски</a:t>
            </a:r>
          </a:p>
        </p:txBody>
      </p:sp>
      <p:sp>
        <p:nvSpPr>
          <p:cNvPr id="11" name="Rectangle 1"/>
          <p:cNvSpPr>
            <a:spLocks noChangeArrowheads="1"/>
          </p:cNvSpPr>
          <p:nvPr/>
        </p:nvSpPr>
        <p:spPr bwMode="auto">
          <a:xfrm>
            <a:off x="1643820" y="3057866"/>
            <a:ext cx="2890105" cy="28706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>
              <a:lnSpc>
                <a:spcPct val="85000"/>
              </a:lnSpc>
              <a:spcBef>
                <a:spcPct val="25000"/>
              </a:spcBef>
              <a:buClr>
                <a:srgbClr val="F4BE96"/>
              </a:buClr>
              <a:buSzPct val="80000"/>
              <a:defRPr/>
            </a:pPr>
            <a:r>
              <a:rPr lang="ru-RU" altLang="ru-RU" sz="1663" dirty="0">
                <a:latin typeface="+mn-lt"/>
              </a:rPr>
              <a:t>В R существует множество стандартных палитр, их список можно найти в справке и документации. Наиболее полезные из них:</a:t>
            </a:r>
          </a:p>
          <a:p>
            <a:pPr marL="348060" indent="-348060">
              <a:lnSpc>
                <a:spcPct val="85000"/>
              </a:lnSpc>
              <a:spcBef>
                <a:spcPct val="25000"/>
              </a:spcBef>
              <a:buClr>
                <a:srgbClr val="F4BE96"/>
              </a:buClr>
              <a:buSzPct val="80000"/>
              <a:buBlip>
                <a:blip r:embed="rId2"/>
              </a:buBlip>
              <a:defRPr/>
            </a:pPr>
            <a:r>
              <a:rPr lang="ru-RU" altLang="ru-RU" sz="1663" dirty="0" err="1">
                <a:latin typeface="+mn-lt"/>
              </a:rPr>
              <a:t>colors</a:t>
            </a:r>
            <a:r>
              <a:rPr lang="ru-RU" altLang="ru-RU" sz="1663" dirty="0">
                <a:latin typeface="+mn-lt"/>
              </a:rPr>
              <a:t>() </a:t>
            </a:r>
          </a:p>
          <a:p>
            <a:pPr marL="348060" indent="-348060">
              <a:lnSpc>
                <a:spcPct val="85000"/>
              </a:lnSpc>
              <a:spcBef>
                <a:spcPct val="25000"/>
              </a:spcBef>
              <a:buClr>
                <a:srgbClr val="F4BE96"/>
              </a:buClr>
              <a:buSzPct val="80000"/>
              <a:buBlip>
                <a:blip r:embed="rId2"/>
              </a:buBlip>
              <a:defRPr/>
            </a:pPr>
            <a:r>
              <a:rPr lang="ru-RU" altLang="ru-RU" sz="1663" dirty="0" err="1">
                <a:latin typeface="+mn-lt"/>
              </a:rPr>
              <a:t>gray</a:t>
            </a:r>
            <a:r>
              <a:rPr lang="ru-RU" altLang="ru-RU" sz="1663" dirty="0">
                <a:latin typeface="+mn-lt"/>
              </a:rPr>
              <a:t>() </a:t>
            </a:r>
          </a:p>
          <a:p>
            <a:pPr marL="348060" indent="-348060">
              <a:lnSpc>
                <a:spcPct val="85000"/>
              </a:lnSpc>
              <a:spcBef>
                <a:spcPct val="25000"/>
              </a:spcBef>
              <a:buClr>
                <a:srgbClr val="F4BE96"/>
              </a:buClr>
              <a:buSzPct val="80000"/>
              <a:buBlip>
                <a:blip r:embed="rId2"/>
              </a:buBlip>
              <a:defRPr/>
            </a:pPr>
            <a:r>
              <a:rPr lang="ru-RU" altLang="ru-RU" sz="1663" dirty="0" err="1">
                <a:latin typeface="+mn-lt"/>
              </a:rPr>
              <a:t>rainbow</a:t>
            </a:r>
            <a:r>
              <a:rPr lang="ru-RU" altLang="ru-RU" sz="1663" dirty="0">
                <a:latin typeface="+mn-lt"/>
              </a:rPr>
              <a:t>() </a:t>
            </a:r>
          </a:p>
          <a:p>
            <a:pPr marL="348060" indent="-348060">
              <a:lnSpc>
                <a:spcPct val="85000"/>
              </a:lnSpc>
              <a:spcBef>
                <a:spcPct val="25000"/>
              </a:spcBef>
              <a:buClr>
                <a:srgbClr val="F4BE96"/>
              </a:buClr>
              <a:buSzPct val="80000"/>
              <a:buBlip>
                <a:blip r:embed="rId2"/>
              </a:buBlip>
              <a:defRPr/>
            </a:pPr>
            <a:r>
              <a:rPr lang="ru-RU" altLang="ru-RU" sz="1663" dirty="0" err="1">
                <a:latin typeface="+mn-lt"/>
              </a:rPr>
              <a:t>heat.colors</a:t>
            </a:r>
            <a:r>
              <a:rPr lang="ru-RU" altLang="ru-RU" sz="1663" dirty="0">
                <a:latin typeface="+mn-lt"/>
              </a:rPr>
              <a:t>() </a:t>
            </a:r>
          </a:p>
          <a:p>
            <a:pPr marL="348060" indent="-348060">
              <a:lnSpc>
                <a:spcPct val="85000"/>
              </a:lnSpc>
              <a:spcBef>
                <a:spcPct val="25000"/>
              </a:spcBef>
              <a:buClr>
                <a:srgbClr val="F4BE96"/>
              </a:buClr>
              <a:buSzPct val="80000"/>
              <a:buBlip>
                <a:blip r:embed="rId2"/>
              </a:buBlip>
              <a:defRPr/>
            </a:pPr>
            <a:r>
              <a:rPr lang="ru-RU" altLang="ru-RU" sz="1663" dirty="0" err="1">
                <a:latin typeface="+mn-lt"/>
              </a:rPr>
              <a:t>topo.colors</a:t>
            </a:r>
            <a:r>
              <a:rPr lang="ru-RU" altLang="ru-RU" sz="1663" dirty="0">
                <a:latin typeface="+mn-lt"/>
              </a:rPr>
              <a:t>() </a:t>
            </a:r>
          </a:p>
          <a:p>
            <a:pPr marL="348060" indent="-348060">
              <a:lnSpc>
                <a:spcPct val="85000"/>
              </a:lnSpc>
              <a:spcBef>
                <a:spcPct val="25000"/>
              </a:spcBef>
              <a:buClr>
                <a:srgbClr val="F4BE96"/>
              </a:buClr>
              <a:buSzPct val="80000"/>
              <a:buBlip>
                <a:blip r:embed="rId2"/>
              </a:buBlip>
              <a:defRPr/>
            </a:pPr>
            <a:r>
              <a:rPr lang="ru-RU" altLang="ru-RU" sz="1663" dirty="0" err="1">
                <a:latin typeface="+mn-lt"/>
              </a:rPr>
              <a:t>terrain.colors</a:t>
            </a:r>
            <a:r>
              <a:rPr lang="ru-RU" altLang="ru-RU" sz="1663" dirty="0">
                <a:latin typeface="+mn-lt"/>
              </a:rPr>
              <a:t>() </a:t>
            </a:r>
          </a:p>
        </p:txBody>
      </p:sp>
      <p:pic>
        <p:nvPicPr>
          <p:cNvPr id="15" name="Рисунок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33925" y="2991050"/>
            <a:ext cx="6396442" cy="35830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1763557" y="2177588"/>
            <a:ext cx="9179081" cy="553998"/>
          </a:xfrm>
          <a:prstGeom prst="rect">
            <a:avLst/>
          </a:prstGeom>
          <a:solidFill>
            <a:srgbClr val="F7F7F7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eaLnBrk="0" hangingPunct="0"/>
            <a:r>
              <a:rPr lang="ru-RU" altLang="ru-RU" sz="1800" b="1" dirty="0" err="1">
                <a:solidFill>
                  <a:srgbClr val="00702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pie</a:t>
            </a:r>
            <a:r>
              <a:rPr lang="ru-RU" altLang="ru-RU" sz="1800" dirty="0">
                <a:solidFill>
                  <a:srgbClr val="33333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ru-RU" altLang="ru-RU" sz="1800" dirty="0" err="1">
                <a:solidFill>
                  <a:srgbClr val="33333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okr</a:t>
            </a:r>
            <a:r>
              <a:rPr lang="ru-RU" altLang="ru-RU" sz="1800" dirty="0" err="1">
                <a:solidFill>
                  <a:srgbClr val="66666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$</a:t>
            </a:r>
            <a:r>
              <a:rPr lang="ru-RU" altLang="ru-RU" sz="1800" dirty="0" err="1">
                <a:solidFill>
                  <a:srgbClr val="33333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ХимЭкспорт</a:t>
            </a:r>
            <a:r>
              <a:rPr lang="ru-RU" altLang="ru-RU" sz="1800" dirty="0">
                <a:solidFill>
                  <a:srgbClr val="33333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names2, </a:t>
            </a:r>
            <a:r>
              <a:rPr lang="ru-RU" altLang="ru-RU" sz="1800" dirty="0" err="1">
                <a:solidFill>
                  <a:srgbClr val="902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main</a:t>
            </a:r>
            <a:r>
              <a:rPr lang="ru-RU" altLang="ru-RU" sz="1800" dirty="0">
                <a:solidFill>
                  <a:srgbClr val="902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</a:t>
            </a:r>
            <a:r>
              <a:rPr lang="ru-RU" altLang="ru-RU" sz="1800" dirty="0">
                <a:solidFill>
                  <a:srgbClr val="33333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ru-RU" altLang="ru-RU" sz="1800" dirty="0">
                <a:solidFill>
                  <a:srgbClr val="407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"Доля федеральных округов в экспорте \n продукции химической промышленности"</a:t>
            </a:r>
            <a:r>
              <a:rPr lang="ru-RU" altLang="ru-RU" sz="1800" dirty="0">
                <a:solidFill>
                  <a:srgbClr val="33333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ru-RU" altLang="ru-RU" sz="1800" dirty="0" err="1">
                <a:solidFill>
                  <a:srgbClr val="902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col</a:t>
            </a:r>
            <a:r>
              <a:rPr lang="ru-RU" altLang="ru-RU" sz="1800" dirty="0">
                <a:solidFill>
                  <a:srgbClr val="902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ru-RU" altLang="ru-RU" sz="1800" b="1" dirty="0" err="1">
                <a:solidFill>
                  <a:srgbClr val="00702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rainbow</a:t>
            </a:r>
            <a:r>
              <a:rPr lang="ru-RU" altLang="ru-RU" sz="1800" dirty="0">
                <a:solidFill>
                  <a:srgbClr val="33333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ru-RU" altLang="ru-RU" sz="1800" b="1" dirty="0" err="1">
                <a:solidFill>
                  <a:srgbClr val="00702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length</a:t>
            </a:r>
            <a:r>
              <a:rPr lang="ru-RU" altLang="ru-RU" sz="1800" dirty="0">
                <a:solidFill>
                  <a:srgbClr val="33333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(names2)))</a:t>
            </a:r>
            <a:r>
              <a:rPr lang="ru-RU" altLang="ru-RU" sz="1800" dirty="0"/>
              <a:t> </a:t>
            </a:r>
          </a:p>
        </p:txBody>
      </p:sp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2B6C0E-C4B9-4094-8E59-5B7DF00D5415}" type="slidenum">
              <a:rPr lang="ru-RU" smtClean="0">
                <a:solidFill>
                  <a:schemeClr val="tx1"/>
                </a:solidFill>
              </a:rPr>
              <a:t>72</a:t>
            </a:fld>
            <a:endParaRPr lang="ru-RU">
              <a:solidFill>
                <a:schemeClr val="tx1"/>
              </a:solidFill>
            </a:endParaRPr>
          </a:p>
        </p:txBody>
      </p:sp>
      <p:sp>
        <p:nvSpPr>
          <p:cNvPr id="12" name="Заголовок 1"/>
          <p:cNvSpPr>
            <a:spLocks noGrp="1"/>
          </p:cNvSpPr>
          <p:nvPr>
            <p:ph type="title"/>
          </p:nvPr>
        </p:nvSpPr>
        <p:spPr>
          <a:xfrm>
            <a:off x="2013645" y="230676"/>
            <a:ext cx="8503820" cy="812188"/>
          </a:xfrm>
        </p:spPr>
        <p:txBody>
          <a:bodyPr>
            <a:noAutofit/>
          </a:bodyPr>
          <a:lstStyle/>
          <a:p>
            <a:pPr>
              <a:lnSpc>
                <a:spcPts val="4400"/>
              </a:lnSpc>
              <a:defRPr/>
            </a:pPr>
            <a:r>
              <a:rPr lang="ru-RU" sz="3600" dirty="0"/>
              <a:t>Оформление графического вывода в </a:t>
            </a:r>
            <a:r>
              <a:rPr lang="en-US" sz="3600" dirty="0"/>
              <a:t>R</a:t>
            </a:r>
            <a:endParaRPr lang="ru-RU" sz="3600" dirty="0"/>
          </a:p>
        </p:txBody>
      </p:sp>
    </p:spTree>
    <p:extLst>
      <p:ext uri="{BB962C8B-B14F-4D97-AF65-F5344CB8AC3E}">
        <p14:creationId xmlns:p14="http://schemas.microsoft.com/office/powerpoint/2010/main" val="18501609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AutoShape 2">
            <a:extLst>
              <a:ext uri="{FF2B5EF4-FFF2-40B4-BE49-F238E27FC236}">
                <a16:creationId xmlns:a16="http://schemas.microsoft.com/office/drawing/2014/main" id="{CE82BFB4-13F4-41B5-9929-BF6887CD5E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9469" y="322263"/>
            <a:ext cx="11809311" cy="6553249"/>
          </a:xfrm>
          <a:prstGeom prst="roundRect">
            <a:avLst>
              <a:gd name="adj" fmla="val 16667"/>
            </a:avLst>
          </a:prstGeom>
          <a:solidFill>
            <a:schemeClr val="bg1">
              <a:alpha val="50000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9441" tIns="49721" rIns="99441" bIns="49721" anchor="ctr"/>
          <a:lstStyle>
            <a:lvl1pPr defTabSz="99377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1177925" defTabSz="99377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373188" defTabSz="99377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66863" defTabSz="99377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89138" defTabSz="99377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46338" defTabSz="9937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03538" defTabSz="9937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60738" defTabSz="9937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17938" defTabSz="9937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ru-RU" altLang="ru-RU" sz="3500">
              <a:solidFill>
                <a:schemeClr val="bg1"/>
              </a:solidFill>
            </a:endParaRPr>
          </a:p>
        </p:txBody>
      </p:sp>
      <p:sp>
        <p:nvSpPr>
          <p:cNvPr id="14" name="Скругленный прямоугольник 8">
            <a:extLst>
              <a:ext uri="{FF2B5EF4-FFF2-40B4-BE49-F238E27FC236}">
                <a16:creationId xmlns:a16="http://schemas.microsoft.com/office/drawing/2014/main" id="{ADDAF7BA-39C1-497C-B866-4948C9084D07}"/>
              </a:ext>
            </a:extLst>
          </p:cNvPr>
          <p:cNvSpPr/>
          <p:nvPr/>
        </p:nvSpPr>
        <p:spPr bwMode="auto">
          <a:xfrm>
            <a:off x="1077541" y="1167018"/>
            <a:ext cx="10729192" cy="5527311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  <a:headEnd type="none" w="med" len="med"/>
            <a:tailEnd type="none" w="med" len="med"/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defTabSz="993775"/>
            <a:endParaRPr lang="ru-RU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AutoShape 5"/>
          <p:cNvSpPr>
            <a:spLocks noChangeArrowheads="1"/>
          </p:cNvSpPr>
          <p:nvPr/>
        </p:nvSpPr>
        <p:spPr bwMode="auto">
          <a:xfrm>
            <a:off x="2085977" y="469900"/>
            <a:ext cx="8351837" cy="665683"/>
          </a:xfrm>
          <a:prstGeom prst="roundRect">
            <a:avLst>
              <a:gd name="adj" fmla="val 16667"/>
            </a:avLst>
          </a:prstGeom>
          <a:solidFill>
            <a:srgbClr val="FFFFFF">
              <a:alpha val="78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9441" tIns="49721" rIns="99441" bIns="49721" anchor="ctr"/>
          <a:lstStyle>
            <a:lvl1pPr defTabSz="99377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1177925" defTabSz="99377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373188" defTabSz="99377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66863" defTabSz="99377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89138" defTabSz="99377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46338" defTabSz="9937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03538" defTabSz="9937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60738" defTabSz="9937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17938" defTabSz="9937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ru-RU" altLang="ru-RU" sz="3500">
              <a:solidFill>
                <a:schemeClr val="bg1"/>
              </a:solidFill>
            </a:endParaRPr>
          </a:p>
        </p:txBody>
      </p:sp>
      <p:sp>
        <p:nvSpPr>
          <p:cNvPr id="16" name="Объект 2"/>
          <p:cNvSpPr>
            <a:spLocks noGrp="1"/>
          </p:cNvSpPr>
          <p:nvPr>
            <p:ph idx="1"/>
          </p:nvPr>
        </p:nvSpPr>
        <p:spPr>
          <a:xfrm>
            <a:off x="1969250" y="1345763"/>
            <a:ext cx="8683513" cy="476735"/>
          </a:xfrm>
        </p:spPr>
        <p:txBody>
          <a:bodyPr/>
          <a:lstStyle/>
          <a:p>
            <a:pPr marL="0" indent="0" algn="ctr">
              <a:buNone/>
              <a:defRPr/>
            </a:pPr>
            <a:r>
              <a:rPr lang="ru-RU" sz="2400" b="1" dirty="0">
                <a:solidFill>
                  <a:srgbClr val="FF0000"/>
                </a:solidFill>
              </a:rPr>
              <a:t>Обязательные требования к отчету и графикам ЛР3:</a:t>
            </a:r>
          </a:p>
        </p:txBody>
      </p:sp>
      <p:sp>
        <p:nvSpPr>
          <p:cNvPr id="10" name="Rectangle 1"/>
          <p:cNvSpPr>
            <a:spLocks noChangeArrowheads="1"/>
          </p:cNvSpPr>
          <p:nvPr/>
        </p:nvSpPr>
        <p:spPr bwMode="auto">
          <a:xfrm>
            <a:off x="1693606" y="3344499"/>
            <a:ext cx="8959156" cy="29731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348060" indent="-348060">
              <a:lnSpc>
                <a:spcPct val="85000"/>
              </a:lnSpc>
              <a:spcBef>
                <a:spcPct val="25000"/>
              </a:spcBef>
              <a:buClr>
                <a:srgbClr val="F4BE96"/>
              </a:buClr>
              <a:buSzPct val="80000"/>
              <a:buBlip>
                <a:blip r:embed="rId2"/>
              </a:buBlip>
              <a:defRPr/>
            </a:pPr>
            <a:r>
              <a:rPr lang="ru-RU" altLang="ru-RU" sz="2400" dirty="0">
                <a:latin typeface="+mn-lt"/>
              </a:rPr>
              <a:t>Легенду</a:t>
            </a:r>
          </a:p>
          <a:p>
            <a:pPr marL="348060" indent="-348060">
              <a:lnSpc>
                <a:spcPct val="85000"/>
              </a:lnSpc>
              <a:spcBef>
                <a:spcPct val="25000"/>
              </a:spcBef>
              <a:buClr>
                <a:srgbClr val="F4BE96"/>
              </a:buClr>
              <a:buSzPct val="80000"/>
              <a:buBlip>
                <a:blip r:embed="rId2"/>
              </a:buBlip>
              <a:defRPr/>
            </a:pPr>
            <a:r>
              <a:rPr lang="ru-RU" altLang="ru-RU" sz="2400" dirty="0">
                <a:latin typeface="+mn-lt"/>
              </a:rPr>
              <a:t>Название</a:t>
            </a:r>
          </a:p>
          <a:p>
            <a:pPr marL="348060" indent="-348060">
              <a:lnSpc>
                <a:spcPct val="85000"/>
              </a:lnSpc>
              <a:spcBef>
                <a:spcPct val="25000"/>
              </a:spcBef>
              <a:buClr>
                <a:srgbClr val="F4BE96"/>
              </a:buClr>
              <a:buSzPct val="80000"/>
              <a:buBlip>
                <a:blip r:embed="rId2"/>
              </a:buBlip>
              <a:defRPr/>
            </a:pPr>
            <a:r>
              <a:rPr lang="ru-RU" altLang="ru-RU" sz="2400" dirty="0">
                <a:latin typeface="+mn-lt"/>
              </a:rPr>
              <a:t>Подписи осей</a:t>
            </a:r>
          </a:p>
          <a:p>
            <a:pPr marL="348060" indent="-348060">
              <a:lnSpc>
                <a:spcPct val="85000"/>
              </a:lnSpc>
              <a:spcBef>
                <a:spcPct val="25000"/>
              </a:spcBef>
              <a:buClr>
                <a:srgbClr val="F4BE96"/>
              </a:buClr>
              <a:buSzPct val="80000"/>
              <a:buBlip>
                <a:blip r:embed="rId2"/>
              </a:buBlip>
              <a:defRPr/>
            </a:pPr>
            <a:r>
              <a:rPr lang="ru-RU" altLang="ru-RU" sz="2400" dirty="0">
                <a:latin typeface="+mn-lt"/>
              </a:rPr>
              <a:t>Подрисуночные подписи </a:t>
            </a:r>
            <a:r>
              <a:rPr lang="ru-RU" altLang="ru-RU" sz="2400" i="1" dirty="0">
                <a:latin typeface="Constantia" panose="02030602050306030303" pitchFamily="18" charset="0"/>
              </a:rPr>
              <a:t>(Рис.1 Круговая диаграмма достижений китайских спортсменов 1-3 места)</a:t>
            </a:r>
          </a:p>
          <a:p>
            <a:pPr marL="348060" indent="-348060">
              <a:lnSpc>
                <a:spcPct val="85000"/>
              </a:lnSpc>
              <a:spcBef>
                <a:spcPct val="25000"/>
              </a:spcBef>
              <a:buClr>
                <a:srgbClr val="F4BE96"/>
              </a:buClr>
              <a:buSzPct val="80000"/>
              <a:buBlip>
                <a:blip r:embed="rId2"/>
              </a:buBlip>
              <a:defRPr/>
            </a:pPr>
            <a:r>
              <a:rPr lang="ru-RU" altLang="ru-RU" sz="2400" dirty="0">
                <a:latin typeface="+mn-lt"/>
              </a:rPr>
              <a:t>Каждый график сопровождается пояснением: </a:t>
            </a:r>
            <a:r>
              <a:rPr lang="ru-RU" altLang="ru-RU" sz="2400" i="1" dirty="0">
                <a:latin typeface="Constantia" panose="02030602050306030303" pitchFamily="18" charset="0"/>
              </a:rPr>
              <a:t>С каждой последующей олимпиадой китайские спортсмены увеличивают количество призовых мест в общем зачете.</a:t>
            </a:r>
          </a:p>
        </p:txBody>
      </p:sp>
      <p:sp>
        <p:nvSpPr>
          <p:cNvPr id="2" name="Прямоугольник 1"/>
          <p:cNvSpPr/>
          <p:nvPr/>
        </p:nvSpPr>
        <p:spPr>
          <a:xfrm>
            <a:off x="1869629" y="2835894"/>
            <a:ext cx="417325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altLang="ru-RU" sz="2400" b="1" i="1" dirty="0">
                <a:solidFill>
                  <a:srgbClr val="0070C0"/>
                </a:solidFill>
              </a:rPr>
              <a:t>Графики должны иметь: </a:t>
            </a:r>
            <a:endParaRPr lang="ru-RU" sz="2400" b="1" i="1" dirty="0">
              <a:solidFill>
                <a:srgbClr val="0070C0"/>
              </a:solidFill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1693607" y="2414230"/>
            <a:ext cx="3001719" cy="38010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8060" indent="-348060">
              <a:lnSpc>
                <a:spcPct val="85000"/>
              </a:lnSpc>
              <a:spcBef>
                <a:spcPct val="25000"/>
              </a:spcBef>
              <a:buClr>
                <a:srgbClr val="F4BE96"/>
              </a:buClr>
              <a:buSzPct val="80000"/>
              <a:buBlip>
                <a:blip r:embed="rId2"/>
              </a:buBlip>
              <a:defRPr/>
            </a:pPr>
            <a:r>
              <a:rPr lang="ru-RU" sz="2200" dirty="0"/>
              <a:t>Исходные данные 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2B6C0E-C4B9-4094-8E59-5B7DF00D5415}" type="slidenum">
              <a:rPr lang="ru-RU" smtClean="0">
                <a:solidFill>
                  <a:schemeClr val="tx1"/>
                </a:solidFill>
              </a:rPr>
              <a:t>73</a:t>
            </a:fld>
            <a:endParaRPr lang="ru-RU">
              <a:solidFill>
                <a:schemeClr val="tx1"/>
              </a:solidFill>
            </a:endParaRPr>
          </a:p>
        </p:txBody>
      </p:sp>
      <p:sp>
        <p:nvSpPr>
          <p:cNvPr id="12" name="Заголовок 1"/>
          <p:cNvSpPr>
            <a:spLocks noGrp="1"/>
          </p:cNvSpPr>
          <p:nvPr>
            <p:ph type="title"/>
          </p:nvPr>
        </p:nvSpPr>
        <p:spPr>
          <a:xfrm>
            <a:off x="2013645" y="230676"/>
            <a:ext cx="8503820" cy="812188"/>
          </a:xfrm>
        </p:spPr>
        <p:txBody>
          <a:bodyPr>
            <a:noAutofit/>
          </a:bodyPr>
          <a:lstStyle/>
          <a:p>
            <a:pPr>
              <a:lnSpc>
                <a:spcPts val="4400"/>
              </a:lnSpc>
              <a:defRPr/>
            </a:pPr>
            <a:r>
              <a:rPr lang="ru-RU" sz="3600" dirty="0"/>
              <a:t>Оформление графического вывода в </a:t>
            </a:r>
            <a:r>
              <a:rPr lang="en-US" sz="3600" dirty="0"/>
              <a:t>R</a:t>
            </a:r>
            <a:endParaRPr lang="ru-RU" sz="3600" dirty="0"/>
          </a:p>
        </p:txBody>
      </p:sp>
    </p:spTree>
    <p:extLst>
      <p:ext uri="{BB962C8B-B14F-4D97-AF65-F5344CB8AC3E}">
        <p14:creationId xmlns:p14="http://schemas.microsoft.com/office/powerpoint/2010/main" val="18294957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AutoShape 2">
            <a:extLst>
              <a:ext uri="{FF2B5EF4-FFF2-40B4-BE49-F238E27FC236}">
                <a16:creationId xmlns:a16="http://schemas.microsoft.com/office/drawing/2014/main" id="{6C00AD07-FD1D-4B4E-8145-C3B23E1822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9469" y="322263"/>
            <a:ext cx="11809311" cy="6553249"/>
          </a:xfrm>
          <a:prstGeom prst="roundRect">
            <a:avLst>
              <a:gd name="adj" fmla="val 16667"/>
            </a:avLst>
          </a:prstGeom>
          <a:solidFill>
            <a:schemeClr val="bg1">
              <a:alpha val="50000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9441" tIns="49721" rIns="99441" bIns="49721" anchor="ctr"/>
          <a:lstStyle>
            <a:lvl1pPr defTabSz="99377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1177925" defTabSz="99377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373188" defTabSz="99377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66863" defTabSz="99377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89138" defTabSz="99377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46338" defTabSz="9937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03538" defTabSz="9937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60738" defTabSz="9937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17938" defTabSz="9937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ru-RU" altLang="ru-RU" sz="3500">
              <a:solidFill>
                <a:schemeClr val="bg1"/>
              </a:solidFill>
            </a:endParaRPr>
          </a:p>
        </p:txBody>
      </p:sp>
      <p:sp>
        <p:nvSpPr>
          <p:cNvPr id="15" name="Скругленный прямоугольник 8">
            <a:extLst>
              <a:ext uri="{FF2B5EF4-FFF2-40B4-BE49-F238E27FC236}">
                <a16:creationId xmlns:a16="http://schemas.microsoft.com/office/drawing/2014/main" id="{9D7023A8-103E-4E11-8DDE-C9DD073760F4}"/>
              </a:ext>
            </a:extLst>
          </p:cNvPr>
          <p:cNvSpPr/>
          <p:nvPr/>
        </p:nvSpPr>
        <p:spPr bwMode="auto">
          <a:xfrm>
            <a:off x="1077541" y="1167018"/>
            <a:ext cx="10729192" cy="5527311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  <a:headEnd type="none" w="med" len="med"/>
            <a:tailEnd type="none" w="med" len="med"/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defTabSz="993775"/>
            <a:endParaRPr lang="ru-RU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AutoShape 5"/>
          <p:cNvSpPr>
            <a:spLocks noChangeArrowheads="1"/>
          </p:cNvSpPr>
          <p:nvPr/>
        </p:nvSpPr>
        <p:spPr bwMode="auto">
          <a:xfrm>
            <a:off x="2085977" y="395289"/>
            <a:ext cx="8351837" cy="499771"/>
          </a:xfrm>
          <a:prstGeom prst="roundRect">
            <a:avLst>
              <a:gd name="adj" fmla="val 16667"/>
            </a:avLst>
          </a:prstGeom>
          <a:solidFill>
            <a:srgbClr val="FFFFFF">
              <a:alpha val="78822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99441" tIns="49721" rIns="99441" bIns="49721" anchor="ctr"/>
          <a:lstStyle>
            <a:lvl1pPr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sz="3600" b="1" dirty="0"/>
              <a:t>Тестирование гипотез в статистике</a:t>
            </a:r>
          </a:p>
        </p:txBody>
      </p:sp>
      <p:sp>
        <p:nvSpPr>
          <p:cNvPr id="7170" name="Text Box 4"/>
          <p:cNvSpPr txBox="1">
            <a:spLocks noChangeArrowheads="1"/>
          </p:cNvSpPr>
          <p:nvPr/>
        </p:nvSpPr>
        <p:spPr bwMode="auto">
          <a:xfrm>
            <a:off x="2107365" y="1239630"/>
            <a:ext cx="8229873" cy="2671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ru-RU" altLang="ru-RU" sz="2494" dirty="0">
                <a:solidFill>
                  <a:srgbClr val="CC0000"/>
                </a:solidFill>
              </a:rPr>
              <a:t>Гипотеза </a:t>
            </a:r>
            <a:r>
              <a:rPr lang="ru-RU" altLang="ru-RU" sz="2494" dirty="0"/>
              <a:t>– </a:t>
            </a:r>
            <a:r>
              <a:rPr lang="ru-RU" altLang="ru-RU" sz="2494" b="1" dirty="0"/>
              <a:t>предположение </a:t>
            </a:r>
            <a:r>
              <a:rPr lang="ru-RU" altLang="ru-RU" sz="2494" dirty="0"/>
              <a:t>о свойстве</a:t>
            </a:r>
            <a:r>
              <a:rPr lang="ru-RU" altLang="ru-RU" sz="2494" b="1" dirty="0"/>
              <a:t> популяции</a:t>
            </a:r>
            <a:r>
              <a:rPr lang="ru-RU" altLang="ru-RU" sz="2494" dirty="0"/>
              <a:t> </a:t>
            </a:r>
            <a:r>
              <a:rPr lang="ru-RU" altLang="ru-RU" sz="2078" dirty="0"/>
              <a:t>(каком-либо </a:t>
            </a:r>
            <a:r>
              <a:rPr lang="ru-RU" altLang="ru-RU" sz="2078" u="sng" dirty="0"/>
              <a:t>параметре</a:t>
            </a:r>
            <a:r>
              <a:rPr lang="ru-RU" altLang="ru-RU" sz="2078" dirty="0"/>
              <a:t>, форме распределения…).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ru-RU" altLang="ru-RU" sz="2494" dirty="0">
                <a:solidFill>
                  <a:srgbClr val="CC0000"/>
                </a:solidFill>
              </a:rPr>
              <a:t>Тестирование гипотезы </a:t>
            </a:r>
            <a:r>
              <a:rPr lang="ru-RU" altLang="ru-RU" sz="2494" dirty="0"/>
              <a:t>(</a:t>
            </a:r>
            <a:r>
              <a:rPr lang="en-US" altLang="ru-RU" sz="2494" dirty="0"/>
              <a:t>hypothesis testing</a:t>
            </a:r>
            <a:r>
              <a:rPr lang="ru-RU" altLang="ru-RU" sz="2494" dirty="0"/>
              <a:t>) – процедура, в которой мы </a:t>
            </a:r>
            <a:r>
              <a:rPr lang="ru-RU" altLang="ru-RU" sz="2494" u="sng" dirty="0"/>
              <a:t>решаем</a:t>
            </a:r>
            <a:r>
              <a:rPr lang="ru-RU" altLang="ru-RU" sz="2494" dirty="0"/>
              <a:t>, принять гипотезу («</a:t>
            </a:r>
            <a:r>
              <a:rPr lang="en-US" altLang="ru-RU" sz="2494" dirty="0"/>
              <a:t>accept</a:t>
            </a:r>
            <a:r>
              <a:rPr lang="ru-RU" altLang="ru-RU" sz="2494" dirty="0"/>
              <a:t>») или отвергнуть </a:t>
            </a:r>
            <a:r>
              <a:rPr lang="en-US" altLang="ru-RU" sz="2494" dirty="0"/>
              <a:t>(reject)</a:t>
            </a:r>
            <a:r>
              <a:rPr lang="ru-RU" altLang="ru-RU" sz="2494" dirty="0"/>
              <a:t>. 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ru-RU" altLang="ru-RU" sz="1870" dirty="0"/>
              <a:t>Предполагается, что мы формулируем гипотезу ДО сбора данных.</a:t>
            </a:r>
          </a:p>
        </p:txBody>
      </p:sp>
      <p:sp>
        <p:nvSpPr>
          <p:cNvPr id="7171" name="Text Box 5"/>
          <p:cNvSpPr txBox="1">
            <a:spLocks noChangeArrowheads="1"/>
          </p:cNvSpPr>
          <p:nvPr/>
        </p:nvSpPr>
        <p:spPr bwMode="auto">
          <a:xfrm>
            <a:off x="1994017" y="3834073"/>
            <a:ext cx="8680214" cy="11695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ru-RU" altLang="ru-RU" sz="2000" u="sng" dirty="0"/>
              <a:t>Пример: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ru-RU" altLang="ru-RU" sz="2000" dirty="0"/>
              <a:t>Мы хотим знать, являются ли Студенты </a:t>
            </a:r>
            <a:r>
              <a:rPr lang="ru-RU" altLang="ru-RU" sz="2000" dirty="0" err="1"/>
              <a:t>ФКТиПМ</a:t>
            </a:r>
            <a:r>
              <a:rPr lang="ru-RU" altLang="ru-RU" sz="2000" dirty="0"/>
              <a:t> </a:t>
            </a:r>
            <a:r>
              <a:rPr lang="ru-RU" altLang="ru-RU" sz="2000" u="sng" dirty="0"/>
              <a:t>случайной выборкой</a:t>
            </a:r>
            <a:r>
              <a:rPr lang="ru-RU" altLang="ru-RU" sz="2000" dirty="0"/>
              <a:t> из популяции с </a:t>
            </a:r>
            <a:r>
              <a:rPr lang="en-US" altLang="ru-RU" sz="2000" dirty="0"/>
              <a:t>IQ</a:t>
            </a:r>
            <a:r>
              <a:rPr lang="ru-RU" altLang="ru-RU" sz="2000" dirty="0"/>
              <a:t> </a:t>
            </a:r>
            <a:r>
              <a:rPr lang="el-GR" altLang="ru-RU" sz="2000" i="1" dirty="0"/>
              <a:t>μ</a:t>
            </a:r>
            <a:r>
              <a:rPr lang="ru-RU" altLang="ru-RU" sz="2000" dirty="0"/>
              <a:t>=100.</a:t>
            </a:r>
            <a:endParaRPr lang="el-GR" altLang="ru-RU" sz="2000" dirty="0"/>
          </a:p>
        </p:txBody>
      </p:sp>
      <p:sp>
        <p:nvSpPr>
          <p:cNvPr id="7175" name="Text Box 10"/>
          <p:cNvSpPr txBox="1">
            <a:spLocks noChangeArrowheads="1"/>
          </p:cNvSpPr>
          <p:nvPr/>
        </p:nvSpPr>
        <p:spPr bwMode="auto">
          <a:xfrm>
            <a:off x="1788642" y="6125680"/>
            <a:ext cx="9090964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ru-RU" altLang="ru-RU" sz="1766" dirty="0">
                <a:solidFill>
                  <a:srgbClr val="CC0000"/>
                </a:solidFill>
              </a:rPr>
              <a:t>Примечание.</a:t>
            </a:r>
            <a:r>
              <a:rPr lang="ru-RU" altLang="ru-RU" sz="1766" dirty="0"/>
              <a:t> </a:t>
            </a:r>
            <a:r>
              <a:rPr lang="ru-RU" sz="1800" dirty="0"/>
              <a:t>При значительном объеме выборки можно ожидать, что выборочное среднее не будет заметно отличаться от генерального среднего.</a:t>
            </a:r>
            <a:endParaRPr lang="ru-RU" altLang="ru-RU" sz="1766" dirty="0"/>
          </a:p>
        </p:txBody>
      </p:sp>
      <p:grpSp>
        <p:nvGrpSpPr>
          <p:cNvPr id="2" name="Группа 1"/>
          <p:cNvGrpSpPr/>
          <p:nvPr/>
        </p:nvGrpSpPr>
        <p:grpSpPr>
          <a:xfrm>
            <a:off x="4623485" y="4931296"/>
            <a:ext cx="3547624" cy="1280092"/>
            <a:chOff x="3428097" y="5153757"/>
            <a:chExt cx="3547624" cy="1280092"/>
          </a:xfrm>
        </p:grpSpPr>
        <p:sp>
          <p:nvSpPr>
            <p:cNvPr id="7174" name="Text Box 9"/>
            <p:cNvSpPr txBox="1">
              <a:spLocks noChangeArrowheads="1"/>
            </p:cNvSpPr>
            <p:nvPr/>
          </p:nvSpPr>
          <p:spPr bwMode="auto">
            <a:xfrm>
              <a:off x="4764277" y="5435352"/>
              <a:ext cx="518476" cy="79592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2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ru-RU" altLang="ru-RU" sz="4572" dirty="0">
                  <a:solidFill>
                    <a:srgbClr val="CC0000"/>
                  </a:solidFill>
                </a:rPr>
                <a:t>?</a:t>
              </a:r>
            </a:p>
          </p:txBody>
        </p:sp>
        <p:pic>
          <p:nvPicPr>
            <p:cNvPr id="12" name="Picture 13" descr="boy"/>
            <p:cNvPicPr>
              <a:picLocks noChangeAspect="1" noChangeArrowheads="1"/>
            </p:cNvPicPr>
            <p:nvPr/>
          </p:nvPicPr>
          <p:blipFill>
            <a:blip r:embed="rId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7518" r="25261" b="2071"/>
            <a:stretch>
              <a:fillRect/>
            </a:stretch>
          </p:blipFill>
          <p:spPr bwMode="auto">
            <a:xfrm>
              <a:off x="3428097" y="5242441"/>
              <a:ext cx="524574" cy="10474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3" name="Picture 15" descr="student"/>
            <p:cNvPicPr>
              <a:picLocks noChangeAspect="1" noChangeArrowheads="1"/>
            </p:cNvPicPr>
            <p:nvPr/>
          </p:nvPicPr>
          <p:blipFill>
            <a:blip r:embed="rId3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999156" y="5153757"/>
              <a:ext cx="976565" cy="12800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2B6C0E-C4B9-4094-8E59-5B7DF00D5415}" type="slidenum">
              <a:rPr lang="ru-RU" smtClean="0">
                <a:solidFill>
                  <a:schemeClr val="tx1"/>
                </a:solidFill>
              </a:rPr>
              <a:t>74</a:t>
            </a:fld>
            <a:endParaRPr lang="ru-RU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999171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293" name="AutoShape 4"/>
          <p:cNvSpPr>
            <a:spLocks noChangeArrowheads="1"/>
          </p:cNvSpPr>
          <p:nvPr/>
        </p:nvSpPr>
        <p:spPr bwMode="auto">
          <a:xfrm>
            <a:off x="717501" y="322263"/>
            <a:ext cx="11665295" cy="6625257"/>
          </a:xfrm>
          <a:prstGeom prst="roundRect">
            <a:avLst>
              <a:gd name="adj" fmla="val 16667"/>
            </a:avLst>
          </a:prstGeom>
          <a:solidFill>
            <a:schemeClr val="bg1">
              <a:alpha val="50195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99441" tIns="49721" rIns="99441" bIns="49721" anchor="ctr"/>
          <a:lstStyle>
            <a:lvl1pPr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 sz="3500">
              <a:solidFill>
                <a:schemeClr val="bg1"/>
              </a:solidFill>
            </a:endParaRPr>
          </a:p>
        </p:txBody>
      </p:sp>
      <p:sp>
        <p:nvSpPr>
          <p:cNvPr id="140294" name="AutoShape 5"/>
          <p:cNvSpPr>
            <a:spLocks noChangeArrowheads="1"/>
          </p:cNvSpPr>
          <p:nvPr/>
        </p:nvSpPr>
        <p:spPr bwMode="auto">
          <a:xfrm>
            <a:off x="2085977" y="395288"/>
            <a:ext cx="8351837" cy="719584"/>
          </a:xfrm>
          <a:prstGeom prst="roundRect">
            <a:avLst>
              <a:gd name="adj" fmla="val 16667"/>
            </a:avLst>
          </a:prstGeom>
          <a:solidFill>
            <a:srgbClr val="FFFFFF">
              <a:alpha val="78822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99441" tIns="49721" rIns="99441" bIns="49721" anchor="ctr"/>
          <a:lstStyle>
            <a:lvl1pPr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 sz="3500">
              <a:solidFill>
                <a:schemeClr val="bg1"/>
              </a:solidFill>
            </a:endParaRPr>
          </a:p>
        </p:txBody>
      </p:sp>
      <p:sp>
        <p:nvSpPr>
          <p:cNvPr id="140295" name="AutoShape 6"/>
          <p:cNvSpPr>
            <a:spLocks noChangeArrowheads="1"/>
          </p:cNvSpPr>
          <p:nvPr/>
        </p:nvSpPr>
        <p:spPr bwMode="auto">
          <a:xfrm>
            <a:off x="717501" y="1187897"/>
            <a:ext cx="11317338" cy="5652202"/>
          </a:xfrm>
          <a:prstGeom prst="roundRect">
            <a:avLst>
              <a:gd name="adj" fmla="val 16667"/>
            </a:avLst>
          </a:prstGeom>
          <a:solidFill>
            <a:srgbClr val="FFFFFF">
              <a:alpha val="78822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99441" tIns="49721" rIns="99441" bIns="49721" anchor="ctr"/>
          <a:lstStyle>
            <a:lvl1pPr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 sz="3200" dirty="0">
              <a:solidFill>
                <a:schemeClr val="bg1"/>
              </a:solidFill>
            </a:endParaRPr>
          </a:p>
        </p:txBody>
      </p:sp>
      <p:sp>
        <p:nvSpPr>
          <p:cNvPr id="14029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373685" y="395288"/>
            <a:ext cx="7488832" cy="5524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4924" tIns="47462" rIns="94924" bIns="47462" numCol="1" rtlCol="0" anchor="t" anchorCtr="0" compatLnSpc="1">
            <a:prstTxWarp prst="textNoShape">
              <a:avLst/>
            </a:prstTxWarp>
            <a:normAutofit fontScale="90000"/>
          </a:bodyPr>
          <a:lstStyle/>
          <a:p>
            <a:r>
              <a:rPr lang="ru-RU" altLang="ru-RU" sz="3600" dirty="0"/>
              <a:t>Для справки</a:t>
            </a:r>
          </a:p>
        </p:txBody>
      </p:sp>
      <p:sp>
        <p:nvSpPr>
          <p:cNvPr id="9" name="Rectangle 3"/>
          <p:cNvSpPr txBox="1">
            <a:spLocks noChangeArrowheads="1"/>
          </p:cNvSpPr>
          <p:nvPr/>
        </p:nvSpPr>
        <p:spPr>
          <a:xfrm>
            <a:off x="1854263" y="1258888"/>
            <a:ext cx="5271950" cy="576064"/>
          </a:xfrm>
          <a:prstGeom prst="rect">
            <a:avLst/>
          </a:prstGeom>
        </p:spPr>
        <p:txBody>
          <a:bodyPr/>
          <a:lstStyle>
            <a:lvl1pPr marL="373063" indent="-373063" algn="l" defTabSz="993775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5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8038" indent="-311150" algn="l" defTabSz="993775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3000">
                <a:solidFill>
                  <a:schemeClr val="tx1"/>
                </a:solidFill>
                <a:latin typeface="+mn-lt"/>
                <a:cs typeface="+mn-cs"/>
              </a:defRPr>
            </a:lvl2pPr>
            <a:lvl3pPr marL="1243013" indent="-249238" algn="l" defTabSz="993775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600">
                <a:solidFill>
                  <a:schemeClr val="tx1"/>
                </a:solidFill>
                <a:latin typeface="+mn-lt"/>
                <a:cs typeface="+mn-cs"/>
              </a:defRPr>
            </a:lvl3pPr>
            <a:lvl4pPr marL="1739900" indent="-247650" algn="l" defTabSz="993775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+mn-lt"/>
                <a:cs typeface="+mn-cs"/>
              </a:defRPr>
            </a:lvl4pPr>
            <a:lvl5pPr marL="2236788" indent="-247650" algn="l" defTabSz="993775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+mn-lt"/>
                <a:cs typeface="+mn-cs"/>
              </a:defRPr>
            </a:lvl5pPr>
            <a:lvl6pPr marL="2693988" indent="-247650" algn="l" defTabSz="993775" rtl="0" fontAlgn="base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+mn-lt"/>
                <a:cs typeface="+mn-cs"/>
              </a:defRPr>
            </a:lvl6pPr>
            <a:lvl7pPr marL="3151188" indent="-247650" algn="l" defTabSz="993775" rtl="0" fontAlgn="base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+mn-lt"/>
                <a:cs typeface="+mn-cs"/>
              </a:defRPr>
            </a:lvl7pPr>
            <a:lvl8pPr marL="3608388" indent="-247650" algn="l" defTabSz="993775" rtl="0" fontAlgn="base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+mn-lt"/>
                <a:cs typeface="+mn-cs"/>
              </a:defRPr>
            </a:lvl8pPr>
            <a:lvl9pPr marL="4065588" indent="-247650" algn="l" defTabSz="993775" rtl="0" fontAlgn="base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800" b="1" dirty="0"/>
              <a:t>IQ </a:t>
            </a:r>
            <a:r>
              <a:rPr lang="ru-RU" sz="2800" b="1" dirty="0"/>
              <a:t>рейтинг стран*</a:t>
            </a: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6377" y="1834953"/>
            <a:ext cx="5109147" cy="1892578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26271" y="3728741"/>
            <a:ext cx="5127934" cy="125890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946377" y="5052380"/>
            <a:ext cx="5107829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ru-RU" sz="1200" b="1" i="1" dirty="0">
                <a:solidFill>
                  <a:srgbClr val="00B050"/>
                </a:solidFill>
              </a:rPr>
              <a:t>       США, Европа                                                                               </a:t>
            </a:r>
            <a:r>
              <a:rPr lang="ru-RU" sz="1400" dirty="0"/>
              <a:t>98</a:t>
            </a:r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26271" y="5367790"/>
            <a:ext cx="5127934" cy="672516"/>
          </a:xfrm>
          <a:prstGeom prst="rect">
            <a:avLst/>
          </a:prstGeom>
        </p:spPr>
      </p:pic>
      <p:pic>
        <p:nvPicPr>
          <p:cNvPr id="8" name="Рисунок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80678" y="6075808"/>
            <a:ext cx="5073527" cy="640412"/>
          </a:xfrm>
          <a:prstGeom prst="rect">
            <a:avLst/>
          </a:prstGeom>
        </p:spPr>
      </p:pic>
      <p:sp>
        <p:nvSpPr>
          <p:cNvPr id="3" name="Прямоугольник 2"/>
          <p:cNvSpPr/>
          <p:nvPr/>
        </p:nvSpPr>
        <p:spPr>
          <a:xfrm>
            <a:off x="3249924" y="6550528"/>
            <a:ext cx="6096966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400" dirty="0"/>
              <a:t>*Источник: http://www.molomo.ru/test/iq-test/index2.php?a=country</a:t>
            </a:r>
          </a:p>
        </p:txBody>
      </p:sp>
      <p:sp>
        <p:nvSpPr>
          <p:cNvPr id="11" name="Скругленная прямоугольная выноска 10"/>
          <p:cNvSpPr/>
          <p:nvPr/>
        </p:nvSpPr>
        <p:spPr bwMode="auto">
          <a:xfrm>
            <a:off x="7557316" y="1457960"/>
            <a:ext cx="3456760" cy="3016005"/>
          </a:xfrm>
          <a:prstGeom prst="wedgeRoundRectCallout">
            <a:avLst>
              <a:gd name="adj1" fmla="val -69730"/>
              <a:gd name="adj2" fmla="val -28790"/>
              <a:gd name="adj3" fmla="val 16667"/>
            </a:avLst>
          </a:prstGeom>
          <a:solidFill>
            <a:srgbClr val="99CCFF">
              <a:alpha val="21176"/>
            </a:srgb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defTabSz="993775"/>
            <a:r>
              <a:rPr lang="ru-RU" sz="1800" dirty="0"/>
              <a:t>Точные и естественные науки здесь изучаются особенно тщательно, а в рейтинге образования Гонконг уступил только Финляндии. Популярность набирают школы, которые предлагают ученикам свободное от уроков время тоже проводить за учебой. </a:t>
            </a:r>
          </a:p>
        </p:txBody>
      </p:sp>
      <p:pic>
        <p:nvPicPr>
          <p:cNvPr id="140292" name="Picture 4" descr="http://b1.vestifinance.ru/c/117039.640x320.jpg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02277" y="4643265"/>
            <a:ext cx="3240360" cy="16201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2B6C0E-C4B9-4094-8E59-5B7DF00D5415}" type="slidenum">
              <a:rPr lang="ru-RU" smtClean="0">
                <a:solidFill>
                  <a:schemeClr val="tx1"/>
                </a:solidFill>
              </a:rPr>
              <a:t>75</a:t>
            </a:fld>
            <a:endParaRPr lang="ru-RU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15119275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AutoShape 4"/>
          <p:cNvSpPr>
            <a:spLocks noChangeArrowheads="1"/>
          </p:cNvSpPr>
          <p:nvPr/>
        </p:nvSpPr>
        <p:spPr bwMode="auto">
          <a:xfrm>
            <a:off x="1556581" y="466800"/>
            <a:ext cx="10682199" cy="6553200"/>
          </a:xfrm>
          <a:prstGeom prst="roundRect">
            <a:avLst>
              <a:gd name="adj" fmla="val 16667"/>
            </a:avLst>
          </a:prstGeom>
          <a:solidFill>
            <a:schemeClr val="bg1">
              <a:alpha val="50195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99441" tIns="49721" rIns="99441" bIns="49721" anchor="ctr"/>
          <a:lstStyle>
            <a:lvl1pPr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 sz="3500">
              <a:solidFill>
                <a:schemeClr val="bg1"/>
              </a:solidFill>
            </a:endParaRPr>
          </a:p>
        </p:txBody>
      </p:sp>
      <p:sp>
        <p:nvSpPr>
          <p:cNvPr id="19" name="AutoShape 6"/>
          <p:cNvSpPr>
            <a:spLocks noChangeArrowheads="1"/>
          </p:cNvSpPr>
          <p:nvPr/>
        </p:nvSpPr>
        <p:spPr bwMode="auto">
          <a:xfrm>
            <a:off x="861517" y="188212"/>
            <a:ext cx="11173321" cy="6590414"/>
          </a:xfrm>
          <a:prstGeom prst="roundRect">
            <a:avLst>
              <a:gd name="adj" fmla="val 16667"/>
            </a:avLst>
          </a:prstGeom>
          <a:solidFill>
            <a:srgbClr val="FFFFFF">
              <a:alpha val="78822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99441" tIns="49721" rIns="99441" bIns="49721" anchor="ctr"/>
          <a:lstStyle>
            <a:lvl1pPr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 sz="3200">
              <a:solidFill>
                <a:schemeClr val="bg1"/>
              </a:solidFill>
            </a:endParaRPr>
          </a:p>
        </p:txBody>
      </p:sp>
      <p:graphicFrame>
        <p:nvGraphicFramePr>
          <p:cNvPr id="8194" name="Object 4"/>
          <p:cNvGraphicFramePr>
            <a:graphicFrameLocks noChangeAspect="1"/>
          </p:cNvGraphicFramePr>
          <p:nvPr/>
        </p:nvGraphicFramePr>
        <p:xfrm>
          <a:off x="2927292" y="733491"/>
          <a:ext cx="3151102" cy="590295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72" name="Фотография Photo Editor" r:id="rId3" imgW="8542857" imgH="16661551" progId="MSPhotoEd.3">
                  <p:embed/>
                </p:oleObj>
              </mc:Choice>
              <mc:Fallback>
                <p:oleObj name="Фотография Photo Editor" r:id="rId3" imgW="8542857" imgH="16661551" progId="MSPhotoEd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clrChange>
                          <a:clrFrom>
                            <a:srgbClr val="FEFEFD"/>
                          </a:clrFrom>
                          <a:clrTo>
                            <a:srgbClr val="FEFEFD">
                              <a:alpha val="0"/>
                            </a:srgbClr>
                          </a:clrTo>
                        </a:clrChange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t="1083" b="2840"/>
                      <a:stretch>
                        <a:fillRect/>
                      </a:stretch>
                    </p:blipFill>
                    <p:spPr bwMode="auto">
                      <a:xfrm>
                        <a:off x="2927292" y="733491"/>
                        <a:ext cx="3151102" cy="590295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8195" name="Line 5"/>
          <p:cNvSpPr>
            <a:spLocks noChangeShapeType="1"/>
          </p:cNvSpPr>
          <p:nvPr/>
        </p:nvSpPr>
        <p:spPr bwMode="auto">
          <a:xfrm flipH="1">
            <a:off x="5062282" y="1019455"/>
            <a:ext cx="1197612" cy="0"/>
          </a:xfrm>
          <a:prstGeom prst="line">
            <a:avLst/>
          </a:prstGeom>
          <a:noFill/>
          <a:ln w="19050">
            <a:solidFill>
              <a:srgbClr val="CC0000"/>
            </a:solidFill>
            <a:round/>
            <a:headEnd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ru-RU" sz="2909"/>
          </a:p>
        </p:txBody>
      </p:sp>
      <p:sp>
        <p:nvSpPr>
          <p:cNvPr id="8196" name="Line 6"/>
          <p:cNvSpPr>
            <a:spLocks noChangeShapeType="1"/>
          </p:cNvSpPr>
          <p:nvPr/>
        </p:nvSpPr>
        <p:spPr bwMode="auto">
          <a:xfrm flipH="1">
            <a:off x="5661087" y="6209108"/>
            <a:ext cx="1197612" cy="0"/>
          </a:xfrm>
          <a:prstGeom prst="line">
            <a:avLst/>
          </a:prstGeom>
          <a:noFill/>
          <a:ln w="19050">
            <a:solidFill>
              <a:srgbClr val="CC0000"/>
            </a:solidFill>
            <a:round/>
            <a:headEnd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ru-RU" sz="2909"/>
          </a:p>
        </p:txBody>
      </p:sp>
      <p:sp>
        <p:nvSpPr>
          <p:cNvPr id="8197" name="Text Box 7"/>
          <p:cNvSpPr txBox="1">
            <a:spLocks noChangeArrowheads="1"/>
          </p:cNvSpPr>
          <p:nvPr/>
        </p:nvSpPr>
        <p:spPr bwMode="auto">
          <a:xfrm>
            <a:off x="6259894" y="795109"/>
            <a:ext cx="2469456" cy="4282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ru-RU" altLang="ru-RU" sz="2078"/>
              <a:t>Очевидно, ДА</a:t>
            </a:r>
          </a:p>
        </p:txBody>
      </p:sp>
      <p:sp>
        <p:nvSpPr>
          <p:cNvPr id="8198" name="Text Box 8"/>
          <p:cNvSpPr txBox="1">
            <a:spLocks noChangeArrowheads="1"/>
          </p:cNvSpPr>
          <p:nvPr/>
        </p:nvSpPr>
        <p:spPr bwMode="auto">
          <a:xfrm>
            <a:off x="6708585" y="5958368"/>
            <a:ext cx="2545338" cy="4282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ru-RU" altLang="ru-RU" sz="2078"/>
              <a:t>Очевидно, НЕТ</a:t>
            </a:r>
          </a:p>
        </p:txBody>
      </p:sp>
      <p:sp>
        <p:nvSpPr>
          <p:cNvPr id="8199" name="AutoShape 9"/>
          <p:cNvSpPr>
            <a:spLocks noChangeAspect="1"/>
          </p:cNvSpPr>
          <p:nvPr/>
        </p:nvSpPr>
        <p:spPr bwMode="auto">
          <a:xfrm>
            <a:off x="6037197" y="2591529"/>
            <a:ext cx="296929" cy="2543689"/>
          </a:xfrm>
          <a:prstGeom prst="rightBrace">
            <a:avLst>
              <a:gd name="adj1" fmla="val 71389"/>
              <a:gd name="adj2" fmla="val 50000"/>
            </a:avLst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buClrTx/>
              <a:buSzTx/>
              <a:buFontTx/>
              <a:buNone/>
            </a:pPr>
            <a:endParaRPr lang="ru-RU" altLang="ru-RU" sz="2494"/>
          </a:p>
        </p:txBody>
      </p:sp>
      <p:sp>
        <p:nvSpPr>
          <p:cNvPr id="8200" name="Text Box 10"/>
          <p:cNvSpPr txBox="1">
            <a:spLocks noChangeArrowheads="1"/>
          </p:cNvSpPr>
          <p:nvPr/>
        </p:nvSpPr>
        <p:spPr bwMode="auto">
          <a:xfrm>
            <a:off x="6334126" y="3444374"/>
            <a:ext cx="1870650" cy="79585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ru-RU" altLang="ru-RU" sz="2286"/>
              <a:t>Различия неочевидны</a:t>
            </a:r>
          </a:p>
        </p:txBody>
      </p:sp>
      <p:pic>
        <p:nvPicPr>
          <p:cNvPr id="8202" name="Picture 13" descr="boy"/>
          <p:cNvPicPr>
            <a:picLocks noChangeAspect="1" noChangeArrowheads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518" r="25261" b="2071"/>
          <a:stretch>
            <a:fillRect/>
          </a:stretch>
        </p:blipFill>
        <p:spPr bwMode="auto">
          <a:xfrm>
            <a:off x="2107844" y="5531970"/>
            <a:ext cx="524574" cy="10474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203" name="Picture 14" descr="job-for-student"/>
          <p:cNvPicPr>
            <a:picLocks noChangeAspect="1" noChangeArrowheads="1"/>
          </p:cNvPicPr>
          <p:nvPr/>
        </p:nvPicPr>
        <p:blipFill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47833" y="2275106"/>
            <a:ext cx="844597" cy="9452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204" name="Picture 15" descr="student"/>
          <p:cNvPicPr>
            <a:picLocks noChangeAspect="1" noChangeArrowheads="1"/>
          </p:cNvPicPr>
          <p:nvPr/>
        </p:nvPicPr>
        <p:blipFill>
          <a:blip r:embed="rId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37650" y="3616059"/>
            <a:ext cx="976565" cy="12800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205" name="Picture 17" descr="student2"/>
          <p:cNvPicPr>
            <a:picLocks noChangeAspect="1" noChangeArrowheads="1"/>
          </p:cNvPicPr>
          <p:nvPr/>
        </p:nvPicPr>
        <p:blipFill>
          <a:blip r:embed="rId8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05410" y="541703"/>
            <a:ext cx="1221882" cy="14426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206" name="Text Box 15"/>
          <p:cNvSpPr txBox="1">
            <a:spLocks noChangeArrowheads="1"/>
          </p:cNvSpPr>
          <p:nvPr/>
        </p:nvSpPr>
        <p:spPr bwMode="auto">
          <a:xfrm>
            <a:off x="8054662" y="1692493"/>
            <a:ext cx="2715248" cy="1923566"/>
          </a:xfrm>
          <a:prstGeom prst="rect">
            <a:avLst/>
          </a:prstGeom>
          <a:noFill/>
          <a:ln w="28575" algn="ctr">
            <a:solidFill>
              <a:srgbClr val="33CC33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ru-RU" altLang="ru-RU" sz="2286" dirty="0"/>
              <a:t>Надо бы придумать какой-то критерий, когда сказать ДА, когда - НЕТ</a:t>
            </a:r>
          </a:p>
        </p:txBody>
      </p:sp>
      <p:sp>
        <p:nvSpPr>
          <p:cNvPr id="18" name="AutoShape 5"/>
          <p:cNvSpPr>
            <a:spLocks noChangeArrowheads="1"/>
          </p:cNvSpPr>
          <p:nvPr/>
        </p:nvSpPr>
        <p:spPr bwMode="auto">
          <a:xfrm>
            <a:off x="1556583" y="188212"/>
            <a:ext cx="9720757" cy="499771"/>
          </a:xfrm>
          <a:prstGeom prst="roundRect">
            <a:avLst>
              <a:gd name="adj" fmla="val 16667"/>
            </a:avLst>
          </a:prstGeom>
          <a:solidFill>
            <a:srgbClr val="FFFFFF">
              <a:alpha val="78822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99441" tIns="49721" rIns="99441" bIns="49721" anchor="ctr"/>
          <a:lstStyle>
            <a:lvl1pPr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 sz="2400" dirty="0"/>
          </a:p>
          <a:p>
            <a:pPr eaLnBrk="1" hangingPunct="1"/>
            <a:r>
              <a:rPr lang="ru-RU" altLang="ru-RU" sz="2400" dirty="0"/>
              <a:t>Студенты </a:t>
            </a:r>
            <a:r>
              <a:rPr lang="ru-RU" altLang="ru-RU" sz="2400" dirty="0" err="1"/>
              <a:t>ФКТиПМ</a:t>
            </a:r>
            <a:r>
              <a:rPr lang="ru-RU" altLang="ru-RU" sz="2400" dirty="0"/>
              <a:t>– случайная выборка из популяции с </a:t>
            </a:r>
            <a:r>
              <a:rPr lang="en-US" altLang="ru-RU" sz="2400" dirty="0"/>
              <a:t>IQ = 100?</a:t>
            </a:r>
            <a:endParaRPr lang="ru-RU" altLang="ru-RU" sz="2400" dirty="0"/>
          </a:p>
          <a:p>
            <a:pPr eaLnBrk="1" hangingPunct="1"/>
            <a:endParaRPr lang="ru-RU" altLang="ru-RU" sz="2400" dirty="0">
              <a:solidFill>
                <a:schemeClr val="bg1"/>
              </a:solidFill>
            </a:endParaRPr>
          </a:p>
        </p:txBody>
      </p:sp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2B6C0E-C4B9-4094-8E59-5B7DF00D5415}" type="slidenum">
              <a:rPr lang="ru-RU" smtClean="0">
                <a:solidFill>
                  <a:schemeClr val="tx1"/>
                </a:solidFill>
              </a:rPr>
              <a:t>76</a:t>
            </a:fld>
            <a:endParaRPr lang="ru-RU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640174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utoShape 4"/>
          <p:cNvSpPr>
            <a:spLocks noChangeArrowheads="1"/>
          </p:cNvSpPr>
          <p:nvPr/>
        </p:nvSpPr>
        <p:spPr bwMode="auto">
          <a:xfrm>
            <a:off x="1438275" y="322263"/>
            <a:ext cx="11016529" cy="6553200"/>
          </a:xfrm>
          <a:prstGeom prst="roundRect">
            <a:avLst>
              <a:gd name="adj" fmla="val 16667"/>
            </a:avLst>
          </a:prstGeom>
          <a:solidFill>
            <a:schemeClr val="bg1">
              <a:alpha val="50195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99441" tIns="49721" rIns="99441" bIns="49721" anchor="ctr"/>
          <a:lstStyle>
            <a:lvl1pPr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 sz="3500">
              <a:solidFill>
                <a:schemeClr val="bg1"/>
              </a:solidFill>
            </a:endParaRPr>
          </a:p>
        </p:txBody>
      </p:sp>
      <p:sp>
        <p:nvSpPr>
          <p:cNvPr id="7" name="AutoShape 6"/>
          <p:cNvSpPr>
            <a:spLocks noChangeArrowheads="1"/>
          </p:cNvSpPr>
          <p:nvPr/>
        </p:nvSpPr>
        <p:spPr bwMode="auto">
          <a:xfrm>
            <a:off x="717501" y="1128619"/>
            <a:ext cx="11317337" cy="5650008"/>
          </a:xfrm>
          <a:prstGeom prst="roundRect">
            <a:avLst>
              <a:gd name="adj" fmla="val 16667"/>
            </a:avLst>
          </a:prstGeom>
          <a:solidFill>
            <a:srgbClr val="FFFFFF">
              <a:alpha val="78822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99441" tIns="49721" rIns="99441" bIns="49721" anchor="ctr"/>
          <a:lstStyle>
            <a:lvl1pPr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 sz="3200">
              <a:solidFill>
                <a:schemeClr val="bg1"/>
              </a:solidFill>
            </a:endParaRPr>
          </a:p>
        </p:txBody>
      </p:sp>
      <p:sp>
        <p:nvSpPr>
          <p:cNvPr id="9219" name="Text Box 3"/>
          <p:cNvSpPr txBox="1">
            <a:spLocks noChangeArrowheads="1"/>
          </p:cNvSpPr>
          <p:nvPr/>
        </p:nvSpPr>
        <p:spPr bwMode="auto">
          <a:xfrm>
            <a:off x="1797621" y="1453302"/>
            <a:ext cx="8980442" cy="21071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>
                <a:srgbClr val="CC0000"/>
              </a:buClr>
              <a:buSzTx/>
              <a:buFont typeface="Wingdings" panose="05000000000000000000" pitchFamily="2" charset="2"/>
              <a:buChar char="ü"/>
            </a:pPr>
            <a:r>
              <a:rPr lang="ru-RU" altLang="ru-RU" sz="2286" dirty="0"/>
              <a:t>Гипотеза формулируется о свойствах </a:t>
            </a:r>
            <a:r>
              <a:rPr lang="ru-RU" altLang="ru-RU" sz="2286" u="sng" dirty="0"/>
              <a:t>ПОПУЛЯЦИИ = генеральной совокупности</a:t>
            </a:r>
            <a:r>
              <a:rPr lang="ru-RU" altLang="ru-RU" sz="2286" dirty="0"/>
              <a:t>, (предположения о самой выборке легко проверить).</a:t>
            </a:r>
          </a:p>
          <a:p>
            <a:pPr eaLnBrk="1" hangingPunct="1">
              <a:spcBef>
                <a:spcPct val="50000"/>
              </a:spcBef>
              <a:buClr>
                <a:srgbClr val="CC0000"/>
              </a:buClr>
              <a:buSzTx/>
              <a:buFont typeface="Wingdings" panose="05000000000000000000" pitchFamily="2" charset="2"/>
              <a:buChar char="ü"/>
            </a:pPr>
            <a:r>
              <a:rPr lang="ru-RU" altLang="ru-RU" sz="2286" u="sng" dirty="0"/>
              <a:t>Опровергнуть</a:t>
            </a:r>
            <a:r>
              <a:rPr lang="ru-RU" altLang="ru-RU" sz="2286" dirty="0"/>
              <a:t> гипотезу в принципе </a:t>
            </a:r>
            <a:r>
              <a:rPr lang="ru-RU" altLang="ru-RU" sz="2286" u="sng" dirty="0"/>
              <a:t>легче</a:t>
            </a:r>
            <a:r>
              <a:rPr lang="ru-RU" altLang="ru-RU" sz="2286" dirty="0"/>
              <a:t>, чем подтвердить</a:t>
            </a:r>
            <a:r>
              <a:rPr lang="ru-RU" altLang="ru-RU" sz="2494" dirty="0"/>
              <a:t> </a:t>
            </a:r>
            <a:r>
              <a:rPr lang="ru-RU" altLang="ru-RU" sz="1870" dirty="0"/>
              <a:t>(может, верна наша гипотеза, а может – другая, близкая)</a:t>
            </a:r>
            <a:r>
              <a:rPr lang="ru-RU" altLang="ru-RU" sz="2494" dirty="0"/>
              <a:t>.</a:t>
            </a:r>
          </a:p>
        </p:txBody>
      </p:sp>
      <p:sp>
        <p:nvSpPr>
          <p:cNvPr id="9220" name="Text Box 4"/>
          <p:cNvSpPr txBox="1">
            <a:spLocks noChangeArrowheads="1"/>
          </p:cNvSpPr>
          <p:nvPr/>
        </p:nvSpPr>
        <p:spPr bwMode="auto">
          <a:xfrm>
            <a:off x="1843905" y="3683328"/>
            <a:ext cx="8978793" cy="26881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ru-RU" altLang="ru-RU" sz="2494" u="sng" dirty="0">
                <a:solidFill>
                  <a:srgbClr val="A50021"/>
                </a:solidFill>
              </a:rPr>
              <a:t>Формулируем ДВЕ взаимоисключающие гипотезы: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ru-RU" sz="2494" b="1" dirty="0">
                <a:solidFill>
                  <a:srgbClr val="A50021"/>
                </a:solidFill>
              </a:rPr>
              <a:t>H</a:t>
            </a:r>
            <a:r>
              <a:rPr lang="ru-RU" altLang="ru-RU" sz="2494" b="1" baseline="-25000" dirty="0">
                <a:solidFill>
                  <a:srgbClr val="A50021"/>
                </a:solidFill>
              </a:rPr>
              <a:t>0</a:t>
            </a:r>
            <a:r>
              <a:rPr lang="ru-RU" altLang="ru-RU" sz="2078" dirty="0"/>
              <a:t> (</a:t>
            </a:r>
            <a:r>
              <a:rPr lang="ru-RU" altLang="ru-RU" sz="2078" b="1" dirty="0"/>
              <a:t>нулевая гипотеза</a:t>
            </a:r>
            <a:r>
              <a:rPr lang="ru-RU" altLang="ru-RU" sz="2078" dirty="0"/>
              <a:t>, </a:t>
            </a:r>
            <a:r>
              <a:rPr lang="en-US" altLang="ru-RU" sz="2078" dirty="0"/>
              <a:t>null hypothesis</a:t>
            </a:r>
            <a:r>
              <a:rPr lang="ru-RU" altLang="ru-RU" sz="2078" dirty="0"/>
              <a:t>) – её мы собираемся опровергать; обычно говорит, что </a:t>
            </a:r>
            <a:r>
              <a:rPr lang="ru-RU" altLang="ru-RU" sz="2078" dirty="0">
                <a:solidFill>
                  <a:srgbClr val="C00000"/>
                </a:solidFill>
              </a:rPr>
              <a:t>нет</a:t>
            </a:r>
            <a:r>
              <a:rPr lang="ru-RU" altLang="ru-RU" sz="2078" dirty="0"/>
              <a:t> различий, </a:t>
            </a:r>
            <a:r>
              <a:rPr lang="ru-RU" altLang="ru-RU" sz="2078" dirty="0">
                <a:solidFill>
                  <a:srgbClr val="C00000"/>
                </a:solidFill>
              </a:rPr>
              <a:t>нет</a:t>
            </a:r>
            <a:r>
              <a:rPr lang="ru-RU" altLang="ru-RU" sz="2078" dirty="0"/>
              <a:t> эффекта, </a:t>
            </a:r>
            <a:r>
              <a:rPr lang="ru-RU" altLang="ru-RU" sz="2078" dirty="0">
                <a:solidFill>
                  <a:srgbClr val="C00000"/>
                </a:solidFill>
              </a:rPr>
              <a:t>нет</a:t>
            </a:r>
            <a:r>
              <a:rPr lang="ru-RU" altLang="ru-RU" sz="2078" dirty="0"/>
              <a:t> изменений…</a:t>
            </a:r>
            <a:endParaRPr lang="en-US" altLang="ru-RU" sz="2078" dirty="0"/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ru-RU" sz="2494" b="1" dirty="0">
                <a:solidFill>
                  <a:srgbClr val="A50021"/>
                </a:solidFill>
              </a:rPr>
              <a:t>H</a:t>
            </a:r>
            <a:r>
              <a:rPr lang="ru-RU" altLang="ru-RU" sz="2494" b="1" baseline="-25000" dirty="0">
                <a:solidFill>
                  <a:srgbClr val="A50021"/>
                </a:solidFill>
              </a:rPr>
              <a:t>1</a:t>
            </a:r>
            <a:r>
              <a:rPr lang="en-US" altLang="ru-RU" sz="2078" dirty="0"/>
              <a:t> (</a:t>
            </a:r>
            <a:r>
              <a:rPr lang="ru-RU" altLang="ru-RU" sz="2078" b="1" dirty="0"/>
              <a:t>альтернативная гипотеза</a:t>
            </a:r>
            <a:r>
              <a:rPr lang="ru-RU" altLang="ru-RU" sz="2078" dirty="0"/>
              <a:t>, </a:t>
            </a:r>
            <a:r>
              <a:rPr lang="en-US" altLang="ru-RU" sz="2078" dirty="0"/>
              <a:t>alternative hypothesis)</a:t>
            </a:r>
            <a:r>
              <a:rPr lang="ru-RU" altLang="ru-RU" sz="2078" dirty="0"/>
              <a:t> – её мы примем, если удастся отвергнуть </a:t>
            </a:r>
            <a:r>
              <a:rPr lang="en-US" altLang="ru-RU" sz="2078" dirty="0"/>
              <a:t>H</a:t>
            </a:r>
            <a:r>
              <a:rPr lang="ru-RU" altLang="ru-RU" sz="2078" baseline="-25000" dirty="0"/>
              <a:t>0</a:t>
            </a:r>
            <a:r>
              <a:rPr lang="ru-RU" altLang="ru-RU" sz="2078" dirty="0"/>
              <a:t> .</a:t>
            </a:r>
          </a:p>
        </p:txBody>
      </p:sp>
      <p:sp>
        <p:nvSpPr>
          <p:cNvPr id="8" name="AutoShape 5"/>
          <p:cNvSpPr>
            <a:spLocks noChangeArrowheads="1"/>
          </p:cNvSpPr>
          <p:nvPr/>
        </p:nvSpPr>
        <p:spPr bwMode="auto">
          <a:xfrm>
            <a:off x="2085977" y="395289"/>
            <a:ext cx="8351837" cy="499771"/>
          </a:xfrm>
          <a:prstGeom prst="roundRect">
            <a:avLst>
              <a:gd name="adj" fmla="val 16667"/>
            </a:avLst>
          </a:prstGeom>
          <a:solidFill>
            <a:srgbClr val="FFFFFF">
              <a:alpha val="78822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99441" tIns="49721" rIns="99441" bIns="49721" anchor="ctr"/>
          <a:lstStyle>
            <a:lvl1pPr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sz="3600" b="1" dirty="0"/>
              <a:t>Тестирование гипотез в статистике</a:t>
            </a:r>
          </a:p>
        </p:txBody>
      </p:sp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2B6C0E-C4B9-4094-8E59-5B7DF00D5415}" type="slidenum">
              <a:rPr lang="ru-RU" smtClean="0">
                <a:solidFill>
                  <a:schemeClr val="tx1"/>
                </a:solidFill>
              </a:rPr>
              <a:t>77</a:t>
            </a:fld>
            <a:endParaRPr lang="ru-RU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428606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utoShape 4"/>
          <p:cNvSpPr>
            <a:spLocks noChangeArrowheads="1"/>
          </p:cNvSpPr>
          <p:nvPr/>
        </p:nvSpPr>
        <p:spPr bwMode="auto">
          <a:xfrm>
            <a:off x="861517" y="381223"/>
            <a:ext cx="11305255" cy="6553200"/>
          </a:xfrm>
          <a:prstGeom prst="roundRect">
            <a:avLst>
              <a:gd name="adj" fmla="val 16667"/>
            </a:avLst>
          </a:prstGeom>
          <a:solidFill>
            <a:schemeClr val="bg1">
              <a:alpha val="50195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99441" tIns="49721" rIns="99441" bIns="49721" anchor="ctr"/>
          <a:lstStyle>
            <a:lvl1pPr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 sz="3500">
              <a:solidFill>
                <a:schemeClr val="bg1"/>
              </a:solidFill>
            </a:endParaRPr>
          </a:p>
        </p:txBody>
      </p:sp>
      <p:sp>
        <p:nvSpPr>
          <p:cNvPr id="7" name="AutoShape 6"/>
          <p:cNvSpPr>
            <a:spLocks noChangeArrowheads="1"/>
          </p:cNvSpPr>
          <p:nvPr/>
        </p:nvSpPr>
        <p:spPr bwMode="auto">
          <a:xfrm>
            <a:off x="1027206" y="1402905"/>
            <a:ext cx="10889190" cy="5328592"/>
          </a:xfrm>
          <a:prstGeom prst="roundRect">
            <a:avLst>
              <a:gd name="adj" fmla="val 16667"/>
            </a:avLst>
          </a:prstGeom>
          <a:solidFill>
            <a:srgbClr val="FFFFFF">
              <a:alpha val="78822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99441" tIns="49721" rIns="99441" bIns="49721" anchor="ctr"/>
          <a:lstStyle>
            <a:lvl1pPr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 sz="3200">
              <a:solidFill>
                <a:schemeClr val="bg1"/>
              </a:solidFill>
            </a:endParaRPr>
          </a:p>
        </p:txBody>
      </p:sp>
      <p:sp>
        <p:nvSpPr>
          <p:cNvPr id="10243" name="Text Box 5"/>
          <p:cNvSpPr txBox="1">
            <a:spLocks noChangeArrowheads="1"/>
          </p:cNvSpPr>
          <p:nvPr/>
        </p:nvSpPr>
        <p:spPr bwMode="auto">
          <a:xfrm>
            <a:off x="1919788" y="3323528"/>
            <a:ext cx="8924355" cy="2548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buClrTx/>
              <a:buSzTx/>
              <a:buFontTx/>
              <a:buNone/>
            </a:pPr>
            <a:r>
              <a:rPr lang="ru-RU" altLang="ru-RU" sz="2494" dirty="0"/>
              <a:t>Решение о том, принять или отвергнуть гипотезу принимается на основе </a:t>
            </a:r>
            <a:r>
              <a:rPr lang="ru-RU" altLang="ru-RU" sz="2494" u="sng" dirty="0">
                <a:solidFill>
                  <a:srgbClr val="FF0000"/>
                </a:solidFill>
              </a:rPr>
              <a:t>статистики критерия</a:t>
            </a:r>
            <a:r>
              <a:rPr lang="ru-RU" altLang="ru-RU" sz="2494" u="sng" dirty="0"/>
              <a:t> </a:t>
            </a:r>
            <a:r>
              <a:rPr lang="ru-RU" altLang="ru-RU" sz="2494" dirty="0"/>
              <a:t>(</a:t>
            </a:r>
            <a:r>
              <a:rPr lang="en-US" altLang="ru-RU" sz="2494" dirty="0"/>
              <a:t>test statistic</a:t>
            </a:r>
            <a:r>
              <a:rPr lang="ru-RU" altLang="ru-RU" sz="2494" dirty="0"/>
              <a:t>) – характеристики выборки.</a:t>
            </a:r>
          </a:p>
          <a:p>
            <a:pPr eaLnBrk="1" hangingPunct="1">
              <a:buClrTx/>
              <a:buSzTx/>
              <a:buFontTx/>
              <a:buNone/>
            </a:pPr>
            <a:endParaRPr lang="ru-RU" altLang="ru-RU" sz="2494" dirty="0"/>
          </a:p>
          <a:p>
            <a:pPr eaLnBrk="1" hangingPunct="1">
              <a:buClrTx/>
              <a:buSzTx/>
              <a:buFontTx/>
              <a:buNone/>
            </a:pPr>
            <a:r>
              <a:rPr lang="ru-RU" altLang="ru-RU" sz="2494" dirty="0"/>
              <a:t>Видов нулевых гипотез не так уж много, и для каждой придумана своя статистика.</a:t>
            </a:r>
          </a:p>
        </p:txBody>
      </p:sp>
      <p:sp>
        <p:nvSpPr>
          <p:cNvPr id="10244" name="Text Box 6"/>
          <p:cNvSpPr txBox="1">
            <a:spLocks noChangeArrowheads="1"/>
          </p:cNvSpPr>
          <p:nvPr/>
        </p:nvSpPr>
        <p:spPr bwMode="auto">
          <a:xfrm>
            <a:off x="2055154" y="1996821"/>
            <a:ext cx="8775891" cy="8936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sz="2494" dirty="0"/>
              <a:t>Итак, нужен критерий, который позволит нам решить, отвергнуть ли Н</a:t>
            </a:r>
            <a:r>
              <a:rPr lang="ru-RU" altLang="ru-RU" sz="2494" baseline="-25000" dirty="0"/>
              <a:t>0</a:t>
            </a:r>
            <a:r>
              <a:rPr lang="ru-RU" altLang="ru-RU" sz="2494" dirty="0"/>
              <a:t>, имея в руках нашу выборку.</a:t>
            </a:r>
          </a:p>
        </p:txBody>
      </p:sp>
      <p:sp>
        <p:nvSpPr>
          <p:cNvPr id="8" name="AutoShape 5"/>
          <p:cNvSpPr>
            <a:spLocks noChangeArrowheads="1"/>
          </p:cNvSpPr>
          <p:nvPr/>
        </p:nvSpPr>
        <p:spPr bwMode="auto">
          <a:xfrm>
            <a:off x="2085977" y="395289"/>
            <a:ext cx="8351837" cy="499771"/>
          </a:xfrm>
          <a:prstGeom prst="roundRect">
            <a:avLst>
              <a:gd name="adj" fmla="val 16667"/>
            </a:avLst>
          </a:prstGeom>
          <a:solidFill>
            <a:srgbClr val="FFFFFF">
              <a:alpha val="78822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99441" tIns="49721" rIns="99441" bIns="49721" anchor="ctr"/>
          <a:lstStyle>
            <a:lvl1pPr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sz="3600" b="1" dirty="0"/>
              <a:t>Тестирование гипотез в статистике</a:t>
            </a:r>
          </a:p>
        </p:txBody>
      </p:sp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2B6C0E-C4B9-4094-8E59-5B7DF00D5415}" type="slidenum">
              <a:rPr lang="ru-RU" smtClean="0">
                <a:solidFill>
                  <a:schemeClr val="tx1"/>
                </a:solidFill>
              </a:rPr>
              <a:t>78</a:t>
            </a:fld>
            <a:endParaRPr lang="ru-RU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426257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AutoShape 4"/>
          <p:cNvSpPr>
            <a:spLocks noChangeArrowheads="1"/>
          </p:cNvSpPr>
          <p:nvPr/>
        </p:nvSpPr>
        <p:spPr bwMode="auto">
          <a:xfrm>
            <a:off x="357461" y="322263"/>
            <a:ext cx="12144015" cy="6553200"/>
          </a:xfrm>
          <a:prstGeom prst="roundRect">
            <a:avLst>
              <a:gd name="adj" fmla="val 16667"/>
            </a:avLst>
          </a:prstGeom>
          <a:solidFill>
            <a:schemeClr val="bg1">
              <a:alpha val="50195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99441" tIns="49721" rIns="99441" bIns="49721" anchor="ctr"/>
          <a:lstStyle>
            <a:lvl1pPr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 sz="3500">
              <a:solidFill>
                <a:schemeClr val="bg1"/>
              </a:solidFill>
            </a:endParaRPr>
          </a:p>
        </p:txBody>
      </p:sp>
      <p:sp>
        <p:nvSpPr>
          <p:cNvPr id="8" name="AutoShape 6"/>
          <p:cNvSpPr>
            <a:spLocks noChangeArrowheads="1"/>
          </p:cNvSpPr>
          <p:nvPr/>
        </p:nvSpPr>
        <p:spPr bwMode="auto">
          <a:xfrm>
            <a:off x="541699" y="1255833"/>
            <a:ext cx="11697081" cy="5522793"/>
          </a:xfrm>
          <a:prstGeom prst="roundRect">
            <a:avLst>
              <a:gd name="adj" fmla="val 16667"/>
            </a:avLst>
          </a:prstGeom>
          <a:solidFill>
            <a:srgbClr val="FFFFFF">
              <a:alpha val="78822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99441" tIns="49721" rIns="99441" bIns="49721" anchor="ctr"/>
          <a:lstStyle>
            <a:lvl1pPr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 sz="3200">
              <a:solidFill>
                <a:schemeClr val="bg1"/>
              </a:solidFill>
            </a:endParaRPr>
          </a:p>
        </p:txBody>
      </p:sp>
      <p:sp>
        <p:nvSpPr>
          <p:cNvPr id="11267" name="Text Box 4"/>
          <p:cNvSpPr txBox="1">
            <a:spLocks noChangeArrowheads="1"/>
          </p:cNvSpPr>
          <p:nvPr/>
        </p:nvSpPr>
        <p:spPr bwMode="auto">
          <a:xfrm>
            <a:off x="1797621" y="1255833"/>
            <a:ext cx="8909508" cy="15345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ru-RU" altLang="ru-RU" sz="2494" dirty="0">
                <a:solidFill>
                  <a:srgbClr val="669900"/>
                </a:solidFill>
              </a:rPr>
              <a:t>Пример.</a:t>
            </a:r>
            <a:endParaRPr lang="en-US" altLang="ru-RU" sz="2494" dirty="0">
              <a:solidFill>
                <a:srgbClr val="669900"/>
              </a:solidFill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ru-RU" altLang="ru-RU" sz="2078" dirty="0">
              <a:solidFill>
                <a:srgbClr val="669900"/>
              </a:solidFill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ru-RU" altLang="ru-RU" sz="2400" dirty="0"/>
              <a:t>Мы хотим узнать, отличается ли </a:t>
            </a:r>
            <a:r>
              <a:rPr lang="en-US" altLang="ru-RU" sz="2400" dirty="0"/>
              <a:t>IQ </a:t>
            </a:r>
            <a:r>
              <a:rPr lang="ru-RU" altLang="ru-RU" sz="2400" dirty="0"/>
              <a:t>студентов </a:t>
            </a:r>
            <a:r>
              <a:rPr lang="ru-RU" altLang="ru-RU" sz="2400" dirty="0" err="1"/>
              <a:t>ФКТиПМ</a:t>
            </a:r>
            <a:r>
              <a:rPr lang="ru-RU" altLang="ru-RU" sz="2400" dirty="0"/>
              <a:t> от 100 – среднего уровня в стране?</a:t>
            </a:r>
          </a:p>
        </p:txBody>
      </p:sp>
      <p:sp>
        <p:nvSpPr>
          <p:cNvPr id="37893" name="Text Box 5"/>
          <p:cNvSpPr txBox="1">
            <a:spLocks noChangeArrowheads="1"/>
          </p:cNvSpPr>
          <p:nvPr/>
        </p:nvSpPr>
        <p:spPr bwMode="auto">
          <a:xfrm>
            <a:off x="1870256" y="3114452"/>
            <a:ext cx="4938913" cy="18833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r>
              <a:rPr lang="en-US" altLang="ru-RU" sz="2494" b="1" dirty="0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H</a:t>
            </a:r>
            <a:r>
              <a:rPr lang="en-US" altLang="ru-RU" sz="2494" b="1" baseline="-25000" dirty="0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0</a:t>
            </a:r>
            <a:r>
              <a:rPr lang="ru-RU" altLang="ru-RU" sz="2494" dirty="0"/>
              <a:t>: </a:t>
            </a:r>
            <a:r>
              <a:rPr lang="el-GR" altLang="ru-RU" sz="2494" i="1" dirty="0"/>
              <a:t>μ</a:t>
            </a:r>
            <a:r>
              <a:rPr lang="ru-RU" altLang="ru-RU" sz="2494" dirty="0"/>
              <a:t> =100; </a:t>
            </a:r>
          </a:p>
          <a:p>
            <a:pPr eaLnBrk="1" hangingPunct="1">
              <a:defRPr/>
            </a:pPr>
            <a:r>
              <a:rPr lang="en-US" altLang="ru-RU" sz="2494" b="1" dirty="0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H</a:t>
            </a:r>
            <a:r>
              <a:rPr lang="ru-RU" altLang="ru-RU" sz="2494" b="1" baseline="-25000" dirty="0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1 </a:t>
            </a:r>
            <a:r>
              <a:rPr lang="ru-RU" altLang="ru-RU" sz="2494" dirty="0"/>
              <a:t>: </a:t>
            </a:r>
            <a:r>
              <a:rPr lang="el-GR" altLang="ru-RU" sz="2494" i="1" dirty="0"/>
              <a:t>μ</a:t>
            </a:r>
            <a:r>
              <a:rPr lang="en-US" altLang="ru-RU" sz="2494" i="1" dirty="0"/>
              <a:t> </a:t>
            </a:r>
            <a:r>
              <a:rPr lang="en-US" altLang="ru-RU" sz="2494" dirty="0"/>
              <a:t>≠</a:t>
            </a:r>
            <a:r>
              <a:rPr lang="ru-RU" altLang="ru-RU" sz="2494" dirty="0"/>
              <a:t>100</a:t>
            </a:r>
            <a:r>
              <a:rPr lang="en-US" altLang="ru-RU" sz="2494" dirty="0"/>
              <a:t> </a:t>
            </a:r>
            <a:r>
              <a:rPr lang="ru-RU" altLang="ru-RU" sz="2494" dirty="0"/>
              <a:t>г</a:t>
            </a:r>
          </a:p>
          <a:p>
            <a:pPr eaLnBrk="1" hangingPunct="1">
              <a:defRPr/>
            </a:pPr>
            <a:endParaRPr lang="ru-RU" altLang="ru-RU" sz="2494" dirty="0"/>
          </a:p>
          <a:p>
            <a:pPr eaLnBrk="1" hangingPunct="1">
              <a:defRPr/>
            </a:pPr>
            <a:r>
              <a:rPr lang="el-GR" altLang="ru-RU" sz="2078" i="1" dirty="0"/>
              <a:t>μ</a:t>
            </a:r>
            <a:r>
              <a:rPr lang="ru-RU" altLang="ru-RU" sz="2078" i="1" dirty="0"/>
              <a:t> </a:t>
            </a:r>
            <a:r>
              <a:rPr lang="ru-RU" altLang="ru-RU" sz="2078" dirty="0"/>
              <a:t>– среднее в </a:t>
            </a:r>
            <a:r>
              <a:rPr lang="ru-RU" altLang="ru-RU" sz="2078" u="sng" dirty="0"/>
              <a:t>популяции</a:t>
            </a:r>
            <a:r>
              <a:rPr lang="ru-RU" altLang="ru-RU" sz="2078" dirty="0"/>
              <a:t> студентов, которое, как мы думаем,</a:t>
            </a:r>
            <a:r>
              <a:rPr lang="en-US" altLang="ru-RU" sz="2078" dirty="0"/>
              <a:t> </a:t>
            </a:r>
            <a:r>
              <a:rPr lang="ru-RU" altLang="ru-RU" sz="2078" dirty="0"/>
              <a:t>равно 100 </a:t>
            </a:r>
            <a:endParaRPr lang="en-US" altLang="ru-RU" sz="2078" dirty="0"/>
          </a:p>
        </p:txBody>
      </p:sp>
      <p:pic>
        <p:nvPicPr>
          <p:cNvPr id="11269" name="Picture 16" descr="student2"/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31738" y="2739994"/>
            <a:ext cx="2533791" cy="29923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AutoShape 5"/>
          <p:cNvSpPr>
            <a:spLocks noChangeArrowheads="1"/>
          </p:cNvSpPr>
          <p:nvPr/>
        </p:nvSpPr>
        <p:spPr bwMode="auto">
          <a:xfrm>
            <a:off x="2085977" y="395289"/>
            <a:ext cx="8351837" cy="499771"/>
          </a:xfrm>
          <a:prstGeom prst="roundRect">
            <a:avLst>
              <a:gd name="adj" fmla="val 16667"/>
            </a:avLst>
          </a:prstGeom>
          <a:solidFill>
            <a:srgbClr val="FFFFFF">
              <a:alpha val="78822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99441" tIns="49721" rIns="99441" bIns="49721" anchor="ctr"/>
          <a:lstStyle>
            <a:lvl1pPr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sz="3600" b="1" dirty="0"/>
              <a:t>Тестирование гипотез в статистике</a:t>
            </a:r>
          </a:p>
        </p:txBody>
      </p:sp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2B6C0E-C4B9-4094-8E59-5B7DF00D5415}" type="slidenum">
              <a:rPr lang="ru-RU" smtClean="0">
                <a:solidFill>
                  <a:schemeClr val="tx1"/>
                </a:solidFill>
              </a:rPr>
              <a:t>79</a:t>
            </a:fld>
            <a:endParaRPr lang="ru-RU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812513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AutoShape 4"/>
          <p:cNvSpPr>
            <a:spLocks noChangeArrowheads="1"/>
          </p:cNvSpPr>
          <p:nvPr/>
        </p:nvSpPr>
        <p:spPr bwMode="auto">
          <a:xfrm>
            <a:off x="452677" y="322263"/>
            <a:ext cx="11837064" cy="6553200"/>
          </a:xfrm>
          <a:prstGeom prst="roundRect">
            <a:avLst>
              <a:gd name="adj" fmla="val 16667"/>
            </a:avLst>
          </a:prstGeom>
          <a:solidFill>
            <a:schemeClr val="bg1">
              <a:alpha val="50195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99441" tIns="49721" rIns="99441" bIns="49721" anchor="ctr"/>
          <a:lstStyle>
            <a:lvl1pPr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 sz="3500">
              <a:solidFill>
                <a:schemeClr val="bg1"/>
              </a:solidFill>
            </a:endParaRPr>
          </a:p>
        </p:txBody>
      </p:sp>
      <p:sp>
        <p:nvSpPr>
          <p:cNvPr id="11" name="AutoShape 6"/>
          <p:cNvSpPr>
            <a:spLocks noChangeArrowheads="1"/>
          </p:cNvSpPr>
          <p:nvPr/>
        </p:nvSpPr>
        <p:spPr bwMode="auto">
          <a:xfrm>
            <a:off x="633411" y="968085"/>
            <a:ext cx="11401427" cy="5810541"/>
          </a:xfrm>
          <a:prstGeom prst="roundRect">
            <a:avLst>
              <a:gd name="adj" fmla="val 16667"/>
            </a:avLst>
          </a:prstGeom>
          <a:solidFill>
            <a:srgbClr val="FFFFFF">
              <a:alpha val="78822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99441" tIns="49721" rIns="99441" bIns="49721" anchor="ctr"/>
          <a:lstStyle>
            <a:lvl1pPr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 sz="3200">
              <a:solidFill>
                <a:schemeClr val="bg1"/>
              </a:solidFill>
            </a:endParaRPr>
          </a:p>
        </p:txBody>
      </p:sp>
      <p:graphicFrame>
        <p:nvGraphicFramePr>
          <p:cNvPr id="12291" name="Object 4"/>
          <p:cNvGraphicFramePr>
            <a:graphicFrameLocks noChangeAspect="1"/>
          </p:cNvGraphicFramePr>
          <p:nvPr/>
        </p:nvGraphicFramePr>
        <p:xfrm>
          <a:off x="1976439" y="1030289"/>
          <a:ext cx="8311261" cy="4180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96" name="Document" r:id="rId3" imgW="5837385" imgH="2941564" progId="Word.Document.8">
                  <p:embed/>
                </p:oleObj>
              </mc:Choice>
              <mc:Fallback>
                <p:oleObj name="Document" r:id="rId3" imgW="5837385" imgH="2941564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76439" y="1030289"/>
                        <a:ext cx="8311261" cy="41801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292" name="Text Box 7"/>
          <p:cNvSpPr txBox="1">
            <a:spLocks noChangeArrowheads="1"/>
          </p:cNvSpPr>
          <p:nvPr/>
        </p:nvSpPr>
        <p:spPr bwMode="auto">
          <a:xfrm>
            <a:off x="2094460" y="5283450"/>
            <a:ext cx="8758518" cy="1477328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ru-RU" altLang="ru-RU" sz="2000" b="1" dirty="0"/>
              <a:t>Заметим</a:t>
            </a:r>
            <a:r>
              <a:rPr lang="ru-RU" altLang="ru-RU" sz="2000" dirty="0"/>
              <a:t>: ошибку 1-го рода можно сделать только </a:t>
            </a:r>
            <a:r>
              <a:rPr lang="ru-RU" altLang="ru-RU" sz="2000" u="sng" dirty="0"/>
              <a:t>отвергая </a:t>
            </a:r>
            <a:r>
              <a:rPr lang="ru-RU" altLang="ru-RU" sz="2000" dirty="0"/>
              <a:t>Н</a:t>
            </a:r>
            <a:r>
              <a:rPr lang="ru-RU" altLang="ru-RU" sz="2000" baseline="-25000" dirty="0"/>
              <a:t>0</a:t>
            </a:r>
            <a:r>
              <a:rPr lang="ru-RU" altLang="ru-RU" sz="2000" dirty="0"/>
              <a:t>, а ошибку 2-го рода – только «</a:t>
            </a:r>
            <a:r>
              <a:rPr lang="ru-RU" altLang="ru-RU" sz="2000" u="sng" dirty="0"/>
              <a:t>принимая</a:t>
            </a:r>
            <a:r>
              <a:rPr lang="ru-RU" altLang="ru-RU" sz="2000" dirty="0"/>
              <a:t>» Н</a:t>
            </a:r>
            <a:r>
              <a:rPr lang="ru-RU" altLang="ru-RU" sz="2000" baseline="-25000" dirty="0"/>
              <a:t>0</a:t>
            </a:r>
            <a:r>
              <a:rPr lang="ru-RU" altLang="ru-RU" sz="2000" dirty="0"/>
              <a:t> (нельзя сделать одновременно обе ошибки).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ru-RU" altLang="ru-RU" sz="2000" dirty="0"/>
              <a:t>И мощность нас интересует, в первую очередь, если мы не отвергли Н</a:t>
            </a:r>
            <a:r>
              <a:rPr lang="ru-RU" altLang="ru-RU" sz="2000" baseline="-25000" dirty="0"/>
              <a:t>0</a:t>
            </a:r>
          </a:p>
        </p:txBody>
      </p:sp>
      <p:sp>
        <p:nvSpPr>
          <p:cNvPr id="12293" name="Text Box 8"/>
          <p:cNvSpPr txBox="1">
            <a:spLocks noChangeArrowheads="1"/>
          </p:cNvSpPr>
          <p:nvPr/>
        </p:nvSpPr>
        <p:spPr bwMode="auto">
          <a:xfrm>
            <a:off x="7333555" y="3481600"/>
            <a:ext cx="673038" cy="494783"/>
          </a:xfrm>
          <a:prstGeom prst="rect">
            <a:avLst/>
          </a:prstGeom>
          <a:solidFill>
            <a:schemeClr val="bg1">
              <a:alpha val="54117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ru-RU" sz="2494" dirty="0"/>
              <a:t>1-</a:t>
            </a:r>
            <a:r>
              <a:rPr lang="el-GR" altLang="ru-RU" sz="2494" dirty="0">
                <a:latin typeface="Times New Roman" panose="02020603050405020304" pitchFamily="18" charset="0"/>
                <a:cs typeface="Times New Roman" panose="02020603050405020304" pitchFamily="18" charset="0"/>
              </a:rPr>
              <a:t>β</a:t>
            </a:r>
          </a:p>
        </p:txBody>
      </p:sp>
      <p:sp>
        <p:nvSpPr>
          <p:cNvPr id="12294" name="Text Box 9"/>
          <p:cNvSpPr txBox="1">
            <a:spLocks noChangeArrowheads="1"/>
          </p:cNvSpPr>
          <p:nvPr/>
        </p:nvSpPr>
        <p:spPr bwMode="auto">
          <a:xfrm>
            <a:off x="7360415" y="2346926"/>
            <a:ext cx="374459" cy="494783"/>
          </a:xfrm>
          <a:prstGeom prst="rect">
            <a:avLst/>
          </a:prstGeom>
          <a:solidFill>
            <a:schemeClr val="bg1">
              <a:alpha val="54117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l-GR" altLang="ru-RU" sz="2494" dirty="0">
                <a:latin typeface="Times New Roman" panose="02020603050405020304" pitchFamily="18" charset="0"/>
                <a:cs typeface="Times New Roman" panose="02020603050405020304" pitchFamily="18" charset="0"/>
              </a:rPr>
              <a:t>β</a:t>
            </a:r>
          </a:p>
        </p:txBody>
      </p:sp>
      <p:sp>
        <p:nvSpPr>
          <p:cNvPr id="12295" name="Text Box 10"/>
          <p:cNvSpPr txBox="1">
            <a:spLocks noChangeArrowheads="1"/>
          </p:cNvSpPr>
          <p:nvPr/>
        </p:nvSpPr>
        <p:spPr bwMode="auto">
          <a:xfrm>
            <a:off x="6959095" y="3481600"/>
            <a:ext cx="374461" cy="494783"/>
          </a:xfrm>
          <a:prstGeom prst="rect">
            <a:avLst/>
          </a:prstGeom>
          <a:solidFill>
            <a:schemeClr val="bg1">
              <a:alpha val="54117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l-GR" altLang="ru-RU" sz="2494" dirty="0">
                <a:latin typeface="Times New Roman" panose="02020603050405020304" pitchFamily="18" charset="0"/>
                <a:cs typeface="Times New Roman" panose="02020603050405020304" pitchFamily="18" charset="0"/>
              </a:rPr>
              <a:t>α</a:t>
            </a:r>
          </a:p>
        </p:txBody>
      </p:sp>
      <p:sp>
        <p:nvSpPr>
          <p:cNvPr id="12296" name="Text Box 11"/>
          <p:cNvSpPr txBox="1">
            <a:spLocks noChangeArrowheads="1"/>
          </p:cNvSpPr>
          <p:nvPr/>
        </p:nvSpPr>
        <p:spPr bwMode="auto">
          <a:xfrm>
            <a:off x="6756398" y="2350485"/>
            <a:ext cx="597156" cy="494783"/>
          </a:xfrm>
          <a:prstGeom prst="rect">
            <a:avLst/>
          </a:prstGeom>
          <a:solidFill>
            <a:schemeClr val="bg1">
              <a:alpha val="54117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56113" rIns="56113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ru-RU" sz="2494" dirty="0"/>
              <a:t>1-</a:t>
            </a:r>
            <a:r>
              <a:rPr lang="el-GR" altLang="ru-RU" sz="2494" dirty="0">
                <a:latin typeface="Times New Roman" panose="02020603050405020304" pitchFamily="18" charset="0"/>
                <a:cs typeface="Times New Roman" panose="02020603050405020304" pitchFamily="18" charset="0"/>
              </a:rPr>
              <a:t>α</a:t>
            </a:r>
          </a:p>
        </p:txBody>
      </p:sp>
      <p:sp>
        <p:nvSpPr>
          <p:cNvPr id="12" name="AutoShape 5"/>
          <p:cNvSpPr>
            <a:spLocks noChangeArrowheads="1"/>
          </p:cNvSpPr>
          <p:nvPr/>
        </p:nvSpPr>
        <p:spPr bwMode="auto">
          <a:xfrm>
            <a:off x="2085977" y="395289"/>
            <a:ext cx="8351837" cy="499771"/>
          </a:xfrm>
          <a:prstGeom prst="roundRect">
            <a:avLst>
              <a:gd name="adj" fmla="val 16667"/>
            </a:avLst>
          </a:prstGeom>
          <a:solidFill>
            <a:srgbClr val="FFFFFF">
              <a:alpha val="78822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99441" tIns="49721" rIns="99441" bIns="49721" anchor="ctr"/>
          <a:lstStyle>
            <a:lvl1pPr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sz="3600" b="1" dirty="0"/>
              <a:t>Тестирование гипотез в статистике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1475053" y="4442451"/>
            <a:ext cx="1002857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dirty="0"/>
              <a:t>Ошибкой первого рода</a:t>
            </a:r>
            <a:r>
              <a:rPr lang="ru-RU" sz="1800" dirty="0"/>
              <a:t> называется ошибка, состоящая в опровержении верной гипотезы.</a:t>
            </a:r>
          </a:p>
          <a:p>
            <a:r>
              <a:rPr lang="ru-RU" sz="1800" b="1" dirty="0"/>
              <a:t>Ошибкой второго рода</a:t>
            </a:r>
            <a:r>
              <a:rPr lang="ru-RU" sz="1800" dirty="0"/>
              <a:t> называется ошибка, состоящая в принятии ложной гипотезы.</a:t>
            </a:r>
          </a:p>
          <a:p>
            <a:endParaRPr lang="ru-RU" sz="1800" dirty="0"/>
          </a:p>
        </p:txBody>
      </p:sp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2B6C0E-C4B9-4094-8E59-5B7DF00D5415}" type="slidenum">
              <a:rPr lang="ru-RU" smtClean="0">
                <a:solidFill>
                  <a:schemeClr val="tx1"/>
                </a:solidFill>
              </a:rPr>
              <a:t>80</a:t>
            </a:fld>
            <a:endParaRPr lang="ru-RU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408534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AutoShape 4"/>
          <p:cNvSpPr>
            <a:spLocks noChangeArrowheads="1"/>
          </p:cNvSpPr>
          <p:nvPr/>
        </p:nvSpPr>
        <p:spPr bwMode="auto">
          <a:xfrm>
            <a:off x="315701" y="322263"/>
            <a:ext cx="11995088" cy="6553200"/>
          </a:xfrm>
          <a:prstGeom prst="roundRect">
            <a:avLst>
              <a:gd name="adj" fmla="val 16667"/>
            </a:avLst>
          </a:prstGeom>
          <a:solidFill>
            <a:schemeClr val="bg1">
              <a:alpha val="50195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99441" tIns="49721" rIns="99441" bIns="49721" anchor="ctr"/>
          <a:lstStyle>
            <a:lvl1pPr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 sz="3500">
              <a:solidFill>
                <a:schemeClr val="bg1"/>
              </a:solidFill>
            </a:endParaRPr>
          </a:p>
        </p:txBody>
      </p:sp>
      <p:sp>
        <p:nvSpPr>
          <p:cNvPr id="8" name="AutoShape 6"/>
          <p:cNvSpPr>
            <a:spLocks noChangeArrowheads="1"/>
          </p:cNvSpPr>
          <p:nvPr/>
        </p:nvSpPr>
        <p:spPr bwMode="auto">
          <a:xfrm>
            <a:off x="501477" y="1114873"/>
            <a:ext cx="11553635" cy="5663753"/>
          </a:xfrm>
          <a:prstGeom prst="roundRect">
            <a:avLst>
              <a:gd name="adj" fmla="val 16667"/>
            </a:avLst>
          </a:prstGeom>
          <a:solidFill>
            <a:srgbClr val="FFFFFF">
              <a:alpha val="78822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99441" tIns="49721" rIns="99441" bIns="49721" anchor="ctr"/>
          <a:lstStyle>
            <a:lvl1pPr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 sz="3200">
              <a:solidFill>
                <a:schemeClr val="bg1"/>
              </a:solidFill>
            </a:endParaRPr>
          </a:p>
        </p:txBody>
      </p:sp>
      <p:sp>
        <p:nvSpPr>
          <p:cNvPr id="34819" name="Text Box 3"/>
          <p:cNvSpPr txBox="1">
            <a:spLocks noChangeArrowheads="1"/>
          </p:cNvSpPr>
          <p:nvPr/>
        </p:nvSpPr>
        <p:spPr bwMode="auto">
          <a:xfrm>
            <a:off x="1772497" y="1336210"/>
            <a:ext cx="9026124" cy="53260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r>
              <a:rPr lang="ru-RU" altLang="ru-RU" b="1" dirty="0">
                <a:solidFill>
                  <a:srgbClr val="CC0000"/>
                </a:solidFill>
              </a:rPr>
              <a:t>ОШИБКА 1 рода</a:t>
            </a:r>
            <a:r>
              <a:rPr lang="ru-RU" altLang="ru-RU" i="1" dirty="0"/>
              <a:t>: вероятность </a:t>
            </a:r>
            <a:r>
              <a:rPr lang="ru-RU" altLang="ru-RU" i="1" dirty="0">
                <a:solidFill>
                  <a:srgbClr val="990000"/>
                </a:solidFill>
              </a:rPr>
              <a:t>найти</a:t>
            </a:r>
            <a:r>
              <a:rPr lang="ru-RU" altLang="ru-RU" i="1" dirty="0"/>
              <a:t> различия, где их </a:t>
            </a:r>
            <a:r>
              <a:rPr lang="ru-RU" altLang="ru-RU" i="1" dirty="0">
                <a:solidFill>
                  <a:srgbClr val="990000"/>
                </a:solidFill>
              </a:rPr>
              <a:t>нет.</a:t>
            </a:r>
          </a:p>
          <a:p>
            <a:pPr eaLnBrk="1" hangingPunct="1">
              <a:defRPr/>
            </a:pPr>
            <a:endParaRPr lang="ru-RU" altLang="ru-RU" sz="2078" dirty="0"/>
          </a:p>
          <a:p>
            <a:pPr eaLnBrk="1" hangingPunct="1">
              <a:defRPr/>
            </a:pPr>
            <a:r>
              <a:rPr lang="ru-RU" altLang="ru-RU" sz="2078" dirty="0"/>
              <a:t>(</a:t>
            </a:r>
            <a:r>
              <a:rPr lang="en-US" altLang="ru-RU" sz="2078" dirty="0"/>
              <a:t>IQ</a:t>
            </a:r>
            <a:r>
              <a:rPr lang="ru-RU" altLang="ru-RU" sz="2078" dirty="0"/>
              <a:t> студентов </a:t>
            </a:r>
            <a:r>
              <a:rPr lang="ru-RU" altLang="ru-RU" sz="2000" dirty="0" err="1"/>
              <a:t>ФКТиПМ</a:t>
            </a:r>
            <a:r>
              <a:rPr lang="ru-RU" altLang="ru-RU" sz="2078" dirty="0"/>
              <a:t> такое же, как у всех. Но нам показалось, глядя на выборку, что они отличаются от остальных).</a:t>
            </a:r>
          </a:p>
          <a:p>
            <a:pPr eaLnBrk="1" hangingPunct="1">
              <a:defRPr/>
            </a:pPr>
            <a:r>
              <a:rPr lang="ru-RU" altLang="ru-RU" sz="2494" dirty="0"/>
              <a:t>Это – </a:t>
            </a:r>
            <a:r>
              <a:rPr lang="ru-RU" altLang="ru-RU" sz="2494" u="sng" dirty="0"/>
              <a:t>нездоровые сенсации</a:t>
            </a:r>
            <a:r>
              <a:rPr lang="ru-RU" altLang="ru-RU" sz="2494" dirty="0"/>
              <a:t>, которые могут принести большой вред.</a:t>
            </a:r>
          </a:p>
          <a:p>
            <a:pPr eaLnBrk="1" hangingPunct="1">
              <a:defRPr/>
            </a:pPr>
            <a:endParaRPr lang="ru-RU" altLang="ru-RU" sz="1455" i="1" dirty="0">
              <a:solidFill>
                <a:srgbClr val="CC0000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  <a:p>
            <a:pPr eaLnBrk="1" hangingPunct="1">
              <a:defRPr/>
            </a:pPr>
            <a:r>
              <a:rPr lang="ru-RU" altLang="ru-RU" sz="2494" b="1" dirty="0">
                <a:solidFill>
                  <a:srgbClr val="CC0000"/>
                </a:solidFill>
              </a:rPr>
              <a:t>ОШИБКА 2 рода</a:t>
            </a:r>
            <a:r>
              <a:rPr lang="ru-RU" altLang="ru-RU" sz="2494" dirty="0"/>
              <a:t>: </a:t>
            </a:r>
            <a:r>
              <a:rPr lang="ru-RU" altLang="ru-RU" sz="2494" i="1" dirty="0"/>
              <a:t>вероятность </a:t>
            </a:r>
            <a:r>
              <a:rPr lang="ru-RU" altLang="ru-RU" sz="2494" i="1" dirty="0">
                <a:solidFill>
                  <a:srgbClr val="990000"/>
                </a:solidFill>
              </a:rPr>
              <a:t>не увидеть</a:t>
            </a:r>
            <a:r>
              <a:rPr lang="ru-RU" altLang="ru-RU" sz="2494" i="1" dirty="0"/>
              <a:t> различий, где они </a:t>
            </a:r>
            <a:r>
              <a:rPr lang="ru-RU" altLang="ru-RU" sz="2494" i="1" dirty="0">
                <a:solidFill>
                  <a:srgbClr val="990000"/>
                </a:solidFill>
              </a:rPr>
              <a:t>есть</a:t>
            </a:r>
            <a:r>
              <a:rPr lang="ru-RU" altLang="ru-RU" sz="2494" i="1" dirty="0"/>
              <a:t>.</a:t>
            </a:r>
          </a:p>
          <a:p>
            <a:pPr eaLnBrk="1" hangingPunct="1">
              <a:defRPr/>
            </a:pPr>
            <a:r>
              <a:rPr lang="ru-RU" altLang="ru-RU" sz="2078" dirty="0"/>
              <a:t>(На самом деле Студенты </a:t>
            </a:r>
            <a:r>
              <a:rPr lang="ru-RU" altLang="ru-RU" sz="2078" dirty="0" err="1"/>
              <a:t>ФКТиПМ</a:t>
            </a:r>
            <a:r>
              <a:rPr lang="ru-RU" altLang="ru-RU" sz="2078" dirty="0"/>
              <a:t> намного умнее других! Но мы были слишком строги к себе и посчитали, что этих различий недостаточно.)</a:t>
            </a:r>
          </a:p>
          <a:p>
            <a:pPr eaLnBrk="1" hangingPunct="1">
              <a:defRPr/>
            </a:pPr>
            <a:r>
              <a:rPr lang="ru-RU" altLang="ru-RU" sz="2494" dirty="0"/>
              <a:t>Это «близорукость», или «</a:t>
            </a:r>
            <a:r>
              <a:rPr lang="ru-RU" altLang="ru-RU" sz="2494" u="sng" dirty="0"/>
              <a:t>слепота</a:t>
            </a:r>
            <a:r>
              <a:rPr lang="ru-RU" altLang="ru-RU" sz="2494" dirty="0"/>
              <a:t>» критерия, вред от неё не очень большой. </a:t>
            </a:r>
          </a:p>
          <a:p>
            <a:pPr eaLnBrk="1" hangingPunct="1">
              <a:defRPr/>
            </a:pPr>
            <a:r>
              <a:rPr lang="ru-RU" dirty="0"/>
              <a:t>Шанс возникновения ошибки 2-го рода обозначается β;</a:t>
            </a:r>
          </a:p>
          <a:p>
            <a:pPr eaLnBrk="1" hangingPunct="1">
              <a:defRPr/>
            </a:pPr>
            <a:r>
              <a:rPr lang="ru-RU" dirty="0"/>
              <a:t> а величина (1-β) называется </a:t>
            </a:r>
            <a:r>
              <a:rPr lang="ru-RU" i="1" dirty="0"/>
              <a:t>мощностью критерия</a:t>
            </a:r>
            <a:r>
              <a:rPr lang="ru-RU" dirty="0"/>
              <a:t>. </a:t>
            </a:r>
            <a:endParaRPr lang="ru-RU" altLang="ru-RU" dirty="0"/>
          </a:p>
        </p:txBody>
      </p:sp>
      <p:pic>
        <p:nvPicPr>
          <p:cNvPr id="13317" name="Picture 15" descr="student"/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00968" y="5508027"/>
            <a:ext cx="976565" cy="12800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AutoShape 5"/>
          <p:cNvSpPr>
            <a:spLocks noChangeArrowheads="1"/>
          </p:cNvSpPr>
          <p:nvPr/>
        </p:nvSpPr>
        <p:spPr bwMode="auto">
          <a:xfrm>
            <a:off x="2085977" y="395289"/>
            <a:ext cx="8351837" cy="499771"/>
          </a:xfrm>
          <a:prstGeom prst="roundRect">
            <a:avLst>
              <a:gd name="adj" fmla="val 16667"/>
            </a:avLst>
          </a:prstGeom>
          <a:solidFill>
            <a:srgbClr val="FFFFFF">
              <a:alpha val="78822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99441" tIns="49721" rIns="99441" bIns="49721" anchor="ctr"/>
          <a:lstStyle>
            <a:lvl1pPr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sz="3600" b="1" dirty="0"/>
              <a:t>Тестирование гипотез в статистике</a:t>
            </a:r>
          </a:p>
        </p:txBody>
      </p:sp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2B6C0E-C4B9-4094-8E59-5B7DF00D5415}" type="slidenum">
              <a:rPr lang="ru-RU" smtClean="0">
                <a:solidFill>
                  <a:schemeClr val="tx1"/>
                </a:solidFill>
              </a:rPr>
              <a:t>81</a:t>
            </a:fld>
            <a:endParaRPr lang="ru-RU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254752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AutoShape 4"/>
          <p:cNvSpPr>
            <a:spLocks noChangeArrowheads="1"/>
          </p:cNvSpPr>
          <p:nvPr/>
        </p:nvSpPr>
        <p:spPr bwMode="auto">
          <a:xfrm>
            <a:off x="315701" y="322263"/>
            <a:ext cx="11995088" cy="6553200"/>
          </a:xfrm>
          <a:prstGeom prst="roundRect">
            <a:avLst>
              <a:gd name="adj" fmla="val 16667"/>
            </a:avLst>
          </a:prstGeom>
          <a:solidFill>
            <a:schemeClr val="bg1">
              <a:alpha val="50195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99441" tIns="49721" rIns="99441" bIns="49721" anchor="ctr"/>
          <a:lstStyle>
            <a:lvl1pPr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 sz="3500">
              <a:solidFill>
                <a:schemeClr val="bg1"/>
              </a:solidFill>
            </a:endParaRPr>
          </a:p>
        </p:txBody>
      </p:sp>
      <p:sp>
        <p:nvSpPr>
          <p:cNvPr id="8" name="AutoShape 6"/>
          <p:cNvSpPr>
            <a:spLocks noChangeArrowheads="1"/>
          </p:cNvSpPr>
          <p:nvPr/>
        </p:nvSpPr>
        <p:spPr bwMode="auto">
          <a:xfrm>
            <a:off x="501477" y="1114873"/>
            <a:ext cx="11553635" cy="5663753"/>
          </a:xfrm>
          <a:prstGeom prst="roundRect">
            <a:avLst>
              <a:gd name="adj" fmla="val 16667"/>
            </a:avLst>
          </a:prstGeom>
          <a:solidFill>
            <a:srgbClr val="FFFFFF">
              <a:alpha val="78822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99441" tIns="49721" rIns="99441" bIns="49721" anchor="ctr"/>
          <a:lstStyle>
            <a:lvl1pPr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 sz="3200">
              <a:solidFill>
                <a:schemeClr val="bg1"/>
              </a:solidFill>
            </a:endParaRPr>
          </a:p>
        </p:txBody>
      </p:sp>
      <p:sp>
        <p:nvSpPr>
          <p:cNvPr id="34819" name="Text Box 3"/>
          <p:cNvSpPr txBox="1">
            <a:spLocks noChangeArrowheads="1"/>
          </p:cNvSpPr>
          <p:nvPr/>
        </p:nvSpPr>
        <p:spPr bwMode="auto">
          <a:xfrm>
            <a:off x="1772497" y="1336211"/>
            <a:ext cx="9026124" cy="51398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lvl="0"/>
            <a:r>
              <a:rPr lang="ru-RU" altLang="ru-RU" sz="2000" dirty="0"/>
              <a:t>В большинстве практических ситуаций принято считать, что </a:t>
            </a:r>
            <a:r>
              <a:rPr lang="ru-RU" altLang="ru-RU" sz="2000" b="1" i="1" dirty="0"/>
              <a:t>нулевая гипотеза</a:t>
            </a:r>
            <a:r>
              <a:rPr lang="ru-RU" altLang="ru-RU" sz="2000" b="1" dirty="0"/>
              <a:t> </a:t>
            </a:r>
            <a:r>
              <a:rPr lang="ru-RU" altLang="ru-RU" sz="2000" b="1" i="1" dirty="0">
                <a:solidFill>
                  <a:srgbClr val="FF0000"/>
                </a:solidFill>
              </a:rPr>
              <a:t>Н</a:t>
            </a:r>
            <a:r>
              <a:rPr lang="ru-RU" altLang="ru-RU" sz="2000" b="1" i="1" baseline="-25000" dirty="0">
                <a:solidFill>
                  <a:srgbClr val="FF0000"/>
                </a:solidFill>
              </a:rPr>
              <a:t>0</a:t>
            </a:r>
            <a:r>
              <a:rPr lang="ru-RU" altLang="ru-RU" sz="2000" baseline="-25000" dirty="0"/>
              <a:t> </a:t>
            </a:r>
            <a:r>
              <a:rPr lang="ru-RU" altLang="ru-RU" sz="2000" dirty="0"/>
              <a:t>соответствует состоянию «по умолчанию» (естественному, наиболее ожидаемому положению вещей) — например, что обследуемый человек здоров, или что проходящий через рамку </a:t>
            </a:r>
            <a:r>
              <a:rPr lang="ru-RU" altLang="ru-RU" sz="2000" dirty="0" err="1"/>
              <a:t>металлодетектора</a:t>
            </a:r>
            <a:r>
              <a:rPr lang="ru-RU" altLang="ru-RU" sz="2000" dirty="0"/>
              <a:t> пассажир не имеет запрещённых металлических предметов. Соответственно, </a:t>
            </a:r>
            <a:r>
              <a:rPr lang="ru-RU" altLang="ru-RU" sz="2000" i="1" dirty="0"/>
              <a:t>альтернативная гипотеза</a:t>
            </a:r>
            <a:r>
              <a:rPr lang="ru-RU" altLang="ru-RU" sz="2000" dirty="0"/>
              <a:t> </a:t>
            </a:r>
            <a:r>
              <a:rPr lang="ru-RU" altLang="ru-RU" sz="2000" b="1" i="1" dirty="0">
                <a:solidFill>
                  <a:srgbClr val="FF0000"/>
                </a:solidFill>
              </a:rPr>
              <a:t>Н</a:t>
            </a:r>
            <a:r>
              <a:rPr lang="ru-RU" altLang="ru-RU" sz="2000" b="1" i="1" baseline="-25000" dirty="0">
                <a:solidFill>
                  <a:srgbClr val="FF0000"/>
                </a:solidFill>
              </a:rPr>
              <a:t>1</a:t>
            </a:r>
            <a:r>
              <a:rPr lang="ru-RU" altLang="ru-RU" dirty="0"/>
              <a:t> </a:t>
            </a:r>
            <a:r>
              <a:rPr lang="ru-RU" altLang="ru-RU" sz="2000" dirty="0"/>
              <a:t>обозначает противоположную ситуацию, которая обычно трактуется как менее вероятная, неординарная, требующая какой-либо реакции. </a:t>
            </a:r>
          </a:p>
          <a:p>
            <a:pPr lvl="0"/>
            <a:r>
              <a:rPr lang="ru-RU" altLang="ru-RU" sz="2000" dirty="0"/>
              <a:t>С учётом вышесказанного, </a:t>
            </a:r>
            <a:r>
              <a:rPr lang="ru-RU" altLang="ru-RU" sz="2000" i="1" dirty="0"/>
              <a:t>ошибку первого рода</a:t>
            </a:r>
            <a:r>
              <a:rPr lang="ru-RU" altLang="ru-RU" sz="2000" dirty="0"/>
              <a:t> часто называют </a:t>
            </a:r>
            <a:r>
              <a:rPr lang="ru-RU" altLang="ru-RU" sz="2000" b="1" dirty="0"/>
              <a:t>ложной тревогой</a:t>
            </a:r>
            <a:r>
              <a:rPr lang="ru-RU" altLang="ru-RU" sz="2000" dirty="0"/>
              <a:t>, </a:t>
            </a:r>
            <a:r>
              <a:rPr lang="ru-RU" altLang="ru-RU" sz="2000" b="1" dirty="0"/>
              <a:t>ложным срабатыванием</a:t>
            </a:r>
            <a:r>
              <a:rPr lang="ru-RU" altLang="ru-RU" sz="2000" dirty="0"/>
              <a:t> или </a:t>
            </a:r>
            <a:r>
              <a:rPr lang="ru-RU" altLang="ru-RU" sz="2000" b="1" dirty="0"/>
              <a:t>ложноположительным срабатыванием</a:t>
            </a:r>
            <a:r>
              <a:rPr lang="ru-RU" altLang="ru-RU" sz="2000" dirty="0"/>
              <a:t>. Если, например, анализ крови показал наличие заболевания, хотя на самом деле человек здоров, или </a:t>
            </a:r>
            <a:r>
              <a:rPr lang="ru-RU" altLang="ru-RU" sz="2000" dirty="0" err="1"/>
              <a:t>металлодетектор</a:t>
            </a:r>
            <a:r>
              <a:rPr lang="ru-RU" altLang="ru-RU" sz="2000" dirty="0"/>
              <a:t> выдал сигнал тревоги, сработав на металлическую пряжку ремня, то принятая гипотеза не верна, а следовательно совершена ошибка первого рода. Слово «ложноположительный» в данном случае не имеет отношения к желательности или нежелательности самого события. </a:t>
            </a:r>
          </a:p>
        </p:txBody>
      </p:sp>
      <p:pic>
        <p:nvPicPr>
          <p:cNvPr id="13317" name="Picture 15" descr="student"/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00968" y="5508027"/>
            <a:ext cx="976565" cy="12800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AutoShape 5"/>
          <p:cNvSpPr>
            <a:spLocks noChangeArrowheads="1"/>
          </p:cNvSpPr>
          <p:nvPr/>
        </p:nvSpPr>
        <p:spPr bwMode="auto">
          <a:xfrm>
            <a:off x="2085977" y="395289"/>
            <a:ext cx="8351837" cy="499771"/>
          </a:xfrm>
          <a:prstGeom prst="roundRect">
            <a:avLst>
              <a:gd name="adj" fmla="val 16667"/>
            </a:avLst>
          </a:prstGeom>
          <a:solidFill>
            <a:srgbClr val="FFFFFF">
              <a:alpha val="78822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99441" tIns="49721" rIns="99441" bIns="49721" anchor="ctr"/>
          <a:lstStyle>
            <a:lvl1pPr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sz="3600" b="1" dirty="0"/>
              <a:t>Тестирование гипотез в статистике</a:t>
            </a:r>
          </a:p>
        </p:txBody>
      </p:sp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2B6C0E-C4B9-4094-8E59-5B7DF00D5415}" type="slidenum">
              <a:rPr lang="ru-RU" smtClean="0">
                <a:solidFill>
                  <a:schemeClr val="tx1"/>
                </a:solidFill>
              </a:rPr>
              <a:t>82</a:t>
            </a:fld>
            <a:endParaRPr lang="ru-RU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369634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AutoShape 4"/>
          <p:cNvSpPr>
            <a:spLocks noChangeArrowheads="1"/>
          </p:cNvSpPr>
          <p:nvPr/>
        </p:nvSpPr>
        <p:spPr bwMode="auto">
          <a:xfrm>
            <a:off x="633411" y="322263"/>
            <a:ext cx="11656329" cy="6553200"/>
          </a:xfrm>
          <a:prstGeom prst="roundRect">
            <a:avLst>
              <a:gd name="adj" fmla="val 16667"/>
            </a:avLst>
          </a:prstGeom>
          <a:solidFill>
            <a:schemeClr val="bg1">
              <a:alpha val="50195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99441" tIns="49721" rIns="99441" bIns="49721" anchor="ctr"/>
          <a:lstStyle>
            <a:lvl1pPr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 sz="3500">
              <a:solidFill>
                <a:schemeClr val="bg1"/>
              </a:solidFill>
            </a:endParaRPr>
          </a:p>
        </p:txBody>
      </p:sp>
      <p:sp>
        <p:nvSpPr>
          <p:cNvPr id="9" name="AutoShape 6"/>
          <p:cNvSpPr>
            <a:spLocks noChangeArrowheads="1"/>
          </p:cNvSpPr>
          <p:nvPr/>
        </p:nvSpPr>
        <p:spPr bwMode="auto">
          <a:xfrm>
            <a:off x="864469" y="1224343"/>
            <a:ext cx="11227344" cy="5519737"/>
          </a:xfrm>
          <a:prstGeom prst="roundRect">
            <a:avLst>
              <a:gd name="adj" fmla="val 16667"/>
            </a:avLst>
          </a:prstGeom>
          <a:solidFill>
            <a:srgbClr val="FFFFFF">
              <a:alpha val="78822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99441" tIns="49721" rIns="99441" bIns="49721" anchor="ctr"/>
          <a:lstStyle>
            <a:lvl1pPr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 sz="3200">
              <a:solidFill>
                <a:schemeClr val="bg1"/>
              </a:solidFill>
            </a:endParaRPr>
          </a:p>
        </p:txBody>
      </p:sp>
      <p:sp>
        <p:nvSpPr>
          <p:cNvPr id="14339" name="Text Box 3"/>
          <p:cNvSpPr txBox="1">
            <a:spLocks noChangeArrowheads="1"/>
          </p:cNvSpPr>
          <p:nvPr/>
        </p:nvSpPr>
        <p:spPr bwMode="auto">
          <a:xfrm>
            <a:off x="1437581" y="1327422"/>
            <a:ext cx="10081120" cy="47305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ru-RU" sz="2200" dirty="0"/>
              <a:t>Максимальный шанс (вероятность) допустить ошибку 1-го рода обозначается </a:t>
            </a:r>
            <a:r>
              <a:rPr lang="ru-RU" sz="2200" b="1" i="1" dirty="0"/>
              <a:t>α</a:t>
            </a:r>
            <a:r>
              <a:rPr lang="ru-RU" sz="2200" dirty="0"/>
              <a:t> (альфа). Это </a:t>
            </a:r>
            <a:r>
              <a:rPr lang="ru-RU" sz="2200" b="1" i="1" dirty="0"/>
              <a:t>уровень значимости критерия</a:t>
            </a:r>
            <a:r>
              <a:rPr lang="ru-RU" sz="2200" dirty="0"/>
              <a:t>; нулевую гипотезу отвергают, если наше значение </a:t>
            </a:r>
            <a:r>
              <a:rPr lang="ru-RU" sz="2200" i="1" dirty="0"/>
              <a:t>p</a:t>
            </a:r>
            <a:r>
              <a:rPr lang="ru-RU" sz="2200" dirty="0"/>
              <a:t> ниже уровня значимости, т. е., если </a:t>
            </a:r>
            <a:r>
              <a:rPr lang="ru-RU" sz="2200" b="1" i="1" dirty="0"/>
              <a:t>p &lt; α</a:t>
            </a:r>
            <a:r>
              <a:rPr lang="ru-RU" sz="2200" dirty="0"/>
              <a:t>.</a:t>
            </a:r>
          </a:p>
          <a:p>
            <a:r>
              <a:rPr lang="ru-RU" sz="2200" dirty="0"/>
              <a:t>Следует принять решение относительно значения </a:t>
            </a:r>
            <a:r>
              <a:rPr lang="ru-RU" sz="2200" b="1" i="1" dirty="0"/>
              <a:t>α</a:t>
            </a:r>
            <a:r>
              <a:rPr lang="ru-RU" sz="2200" dirty="0"/>
              <a:t> прежде, чем будут собраны данные; обычно назначают условное значение 0,05, хотя можно выбрать более ограничивающее значение, например 0,01. </a:t>
            </a:r>
            <a:br>
              <a:rPr lang="ru-RU" sz="2200" dirty="0"/>
            </a:br>
            <a:r>
              <a:rPr lang="ru-RU" sz="2200" dirty="0"/>
              <a:t>Шанс допустить ошибку 1-го рода никогда не превысит выбранного уровня значимости, скажем </a:t>
            </a:r>
            <a:r>
              <a:rPr lang="ru-RU" sz="2200" b="1" i="1" dirty="0"/>
              <a:t>α = 0,05</a:t>
            </a:r>
            <a:r>
              <a:rPr lang="ru-RU" sz="2200" dirty="0"/>
              <a:t>, так как нулевую гипотезу отвергают только тогда, когда </a:t>
            </a:r>
            <a:r>
              <a:rPr lang="ru-RU" sz="2200" i="1" dirty="0"/>
              <a:t>p</a:t>
            </a:r>
            <a:r>
              <a:rPr lang="ru-RU" sz="2200" dirty="0"/>
              <a:t>&lt; 0,05. Если обнаружено, что </a:t>
            </a:r>
            <a:r>
              <a:rPr lang="ru-RU" sz="2200" i="1" dirty="0"/>
              <a:t>p</a:t>
            </a:r>
            <a:r>
              <a:rPr lang="ru-RU" sz="2200" dirty="0"/>
              <a:t> &gt; 0,05, то нулевую гипотезу не отвергнут и, следовательно, не допустят ошибки 1-го рода.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ru-RU" sz="2200" dirty="0"/>
              <a:t> </a:t>
            </a:r>
            <a:r>
              <a:rPr lang="ru-RU" sz="2200" b="1" i="1" dirty="0"/>
              <a:t>Мощность</a:t>
            </a:r>
            <a:r>
              <a:rPr lang="ru-RU" sz="2200" b="1" dirty="0"/>
              <a:t> </a:t>
            </a:r>
            <a:r>
              <a:rPr lang="ru-RU" sz="2200" dirty="0"/>
              <a:t>— это вероятность отклонения нулевой гипотезы, когда она ложна.</a:t>
            </a:r>
            <a:endParaRPr lang="ru-RU" altLang="ru-RU" sz="2200" dirty="0"/>
          </a:p>
        </p:txBody>
      </p:sp>
      <p:sp>
        <p:nvSpPr>
          <p:cNvPr id="10" name="AutoShape 5"/>
          <p:cNvSpPr>
            <a:spLocks noChangeArrowheads="1"/>
          </p:cNvSpPr>
          <p:nvPr/>
        </p:nvSpPr>
        <p:spPr bwMode="auto">
          <a:xfrm>
            <a:off x="2085977" y="395289"/>
            <a:ext cx="8351837" cy="499771"/>
          </a:xfrm>
          <a:prstGeom prst="roundRect">
            <a:avLst>
              <a:gd name="adj" fmla="val 16667"/>
            </a:avLst>
          </a:prstGeom>
          <a:solidFill>
            <a:srgbClr val="FFFFFF">
              <a:alpha val="78822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99441" tIns="49721" rIns="99441" bIns="49721" anchor="ctr"/>
          <a:lstStyle>
            <a:lvl1pPr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sz="3600" b="1" dirty="0"/>
              <a:t>Тестирование гипотез в статистике</a:t>
            </a:r>
          </a:p>
        </p:txBody>
      </p:sp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2B6C0E-C4B9-4094-8E59-5B7DF00D5415}" type="slidenum">
              <a:rPr lang="ru-RU" smtClean="0">
                <a:solidFill>
                  <a:schemeClr val="tx1"/>
                </a:solidFill>
              </a:rPr>
              <a:t>83</a:t>
            </a:fld>
            <a:endParaRPr lang="ru-RU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44971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AutoShape 4"/>
          <p:cNvSpPr>
            <a:spLocks noChangeArrowheads="1"/>
          </p:cNvSpPr>
          <p:nvPr/>
        </p:nvSpPr>
        <p:spPr bwMode="auto">
          <a:xfrm>
            <a:off x="633411" y="322263"/>
            <a:ext cx="11677377" cy="6553200"/>
          </a:xfrm>
          <a:prstGeom prst="roundRect">
            <a:avLst>
              <a:gd name="adj" fmla="val 16667"/>
            </a:avLst>
          </a:prstGeom>
          <a:solidFill>
            <a:schemeClr val="bg1">
              <a:alpha val="50195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99441" tIns="49721" rIns="99441" bIns="49721" anchor="ctr"/>
          <a:lstStyle>
            <a:lvl1pPr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 sz="3500">
              <a:solidFill>
                <a:schemeClr val="bg1"/>
              </a:solidFill>
            </a:endParaRPr>
          </a:p>
        </p:txBody>
      </p:sp>
      <p:sp>
        <p:nvSpPr>
          <p:cNvPr id="9" name="AutoShape 6"/>
          <p:cNvSpPr>
            <a:spLocks noChangeArrowheads="1"/>
          </p:cNvSpPr>
          <p:nvPr/>
        </p:nvSpPr>
        <p:spPr bwMode="auto">
          <a:xfrm>
            <a:off x="1582737" y="1258889"/>
            <a:ext cx="10296003" cy="5519737"/>
          </a:xfrm>
          <a:prstGeom prst="roundRect">
            <a:avLst>
              <a:gd name="adj" fmla="val 16667"/>
            </a:avLst>
          </a:prstGeom>
          <a:solidFill>
            <a:srgbClr val="FFFFFF">
              <a:alpha val="78822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99441" tIns="49721" rIns="99441" bIns="49721" anchor="ctr"/>
          <a:lstStyle>
            <a:lvl1pPr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 sz="3200">
              <a:solidFill>
                <a:schemeClr val="bg1"/>
              </a:solidFill>
            </a:endParaRPr>
          </a:p>
        </p:txBody>
      </p:sp>
      <p:sp>
        <p:nvSpPr>
          <p:cNvPr id="14339" name="Text Box 3"/>
          <p:cNvSpPr txBox="1">
            <a:spLocks noChangeArrowheads="1"/>
          </p:cNvSpPr>
          <p:nvPr/>
        </p:nvSpPr>
        <p:spPr bwMode="auto">
          <a:xfrm>
            <a:off x="997198" y="1432448"/>
            <a:ext cx="11038566" cy="32932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ru-RU" altLang="ru-RU" sz="2400" b="1" dirty="0"/>
              <a:t>Ошибка 1-го рода</a:t>
            </a:r>
            <a:r>
              <a:rPr lang="ru-RU" altLang="ru-RU" sz="2400" dirty="0"/>
              <a:t> (уровень значимости </a:t>
            </a:r>
            <a:r>
              <a:rPr lang="el-GR" altLang="ru-RU" sz="2800" b="1" i="1" dirty="0">
                <a:solidFill>
                  <a:srgbClr val="CC0000"/>
                </a:solidFill>
                <a:latin typeface="Times New Roman" panose="02020603050405020304" pitchFamily="18" charset="0"/>
              </a:rPr>
              <a:t>α</a:t>
            </a:r>
            <a:r>
              <a:rPr lang="ru-RU" altLang="ru-RU" sz="2400" dirty="0"/>
              <a:t>):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ru-RU" altLang="ru-RU" sz="2400" dirty="0"/>
              <a:t>Мы можем её КОНТРОЛИРОВАТЬ, например, можем задать минимальное различие между средними значениями, меньше которого, мы будем считать, что их нет, а больше – есть.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ru-RU" altLang="ru-RU" sz="2400" dirty="0"/>
              <a:t>А задать такое расстояние нам помогают свойства нормального распределения (и его площади).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ru-RU" altLang="ru-RU" sz="2400" dirty="0"/>
              <a:t>Обычно принимают </a:t>
            </a:r>
            <a:r>
              <a:rPr lang="el-GR" altLang="ru-RU" sz="2400" b="1" i="1" dirty="0">
                <a:solidFill>
                  <a:srgbClr val="CC0000"/>
                </a:solidFill>
                <a:latin typeface="Times New Roman" panose="02020603050405020304" pitchFamily="18" charset="0"/>
              </a:rPr>
              <a:t>α</a:t>
            </a:r>
            <a:r>
              <a:rPr lang="ru-RU" altLang="ru-RU" sz="2400" dirty="0"/>
              <a:t> = 0.05.</a:t>
            </a:r>
          </a:p>
        </p:txBody>
      </p:sp>
      <p:sp>
        <p:nvSpPr>
          <p:cNvPr id="14340" name="Text Box 4"/>
          <p:cNvSpPr txBox="1">
            <a:spLocks noChangeArrowheads="1"/>
          </p:cNvSpPr>
          <p:nvPr/>
        </p:nvSpPr>
        <p:spPr bwMode="auto">
          <a:xfrm>
            <a:off x="997198" y="4819558"/>
            <a:ext cx="8550337" cy="14918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ru-RU" altLang="ru-RU" sz="2494" b="1" dirty="0"/>
              <a:t>Мощность</a:t>
            </a:r>
            <a:r>
              <a:rPr lang="ru-RU" altLang="ru-RU" sz="2494" dirty="0"/>
              <a:t> (</a:t>
            </a:r>
            <a:r>
              <a:rPr lang="en-US" altLang="ru-RU" sz="2494" dirty="0"/>
              <a:t>Power</a:t>
            </a:r>
            <a:r>
              <a:rPr lang="ru-RU" altLang="ru-RU" sz="2494" dirty="0"/>
              <a:t>):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ru-RU" altLang="ru-RU" sz="2494" dirty="0"/>
              <a:t>Вероятность НАЙТИ различия, когда они ЕСТЬ, что сродни мощности микроскопа.</a:t>
            </a:r>
          </a:p>
        </p:txBody>
      </p:sp>
      <p:sp>
        <p:nvSpPr>
          <p:cNvPr id="10" name="AutoShape 5"/>
          <p:cNvSpPr>
            <a:spLocks noChangeArrowheads="1"/>
          </p:cNvSpPr>
          <p:nvPr/>
        </p:nvSpPr>
        <p:spPr bwMode="auto">
          <a:xfrm>
            <a:off x="2085977" y="395289"/>
            <a:ext cx="8351837" cy="499771"/>
          </a:xfrm>
          <a:prstGeom prst="roundRect">
            <a:avLst>
              <a:gd name="adj" fmla="val 16667"/>
            </a:avLst>
          </a:prstGeom>
          <a:solidFill>
            <a:srgbClr val="FFFFFF">
              <a:alpha val="78822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99441" tIns="49721" rIns="99441" bIns="49721" anchor="ctr"/>
          <a:lstStyle>
            <a:lvl1pPr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sz="3600" b="1" dirty="0"/>
              <a:t>Тестирование гипотез в статистике</a:t>
            </a:r>
          </a:p>
        </p:txBody>
      </p:sp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2B6C0E-C4B9-4094-8E59-5B7DF00D5415}" type="slidenum">
              <a:rPr lang="ru-RU" smtClean="0">
                <a:solidFill>
                  <a:schemeClr val="tx1"/>
                </a:solidFill>
              </a:rPr>
              <a:t>84</a:t>
            </a:fld>
            <a:endParaRPr lang="ru-RU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735953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AutoShape 4"/>
          <p:cNvSpPr>
            <a:spLocks noChangeArrowheads="1"/>
          </p:cNvSpPr>
          <p:nvPr/>
        </p:nvSpPr>
        <p:spPr bwMode="auto">
          <a:xfrm>
            <a:off x="501477" y="322263"/>
            <a:ext cx="11881319" cy="6553200"/>
          </a:xfrm>
          <a:prstGeom prst="roundRect">
            <a:avLst>
              <a:gd name="adj" fmla="val 16667"/>
            </a:avLst>
          </a:prstGeom>
          <a:solidFill>
            <a:schemeClr val="bg1">
              <a:alpha val="50195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99441" tIns="49721" rIns="99441" bIns="49721" anchor="ctr"/>
          <a:lstStyle>
            <a:lvl1pPr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 sz="3500">
              <a:solidFill>
                <a:schemeClr val="bg1"/>
              </a:solidFill>
            </a:endParaRPr>
          </a:p>
        </p:txBody>
      </p:sp>
      <p:sp>
        <p:nvSpPr>
          <p:cNvPr id="9" name="AutoShape 6"/>
          <p:cNvSpPr>
            <a:spLocks noChangeArrowheads="1"/>
          </p:cNvSpPr>
          <p:nvPr/>
        </p:nvSpPr>
        <p:spPr bwMode="auto">
          <a:xfrm>
            <a:off x="680417" y="1050033"/>
            <a:ext cx="11444053" cy="5728592"/>
          </a:xfrm>
          <a:prstGeom prst="roundRect">
            <a:avLst>
              <a:gd name="adj" fmla="val 16667"/>
            </a:avLst>
          </a:prstGeom>
          <a:solidFill>
            <a:srgbClr val="FFFFFF">
              <a:alpha val="78822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99441" tIns="49721" rIns="99441" bIns="49721" anchor="ctr"/>
          <a:lstStyle>
            <a:lvl1pPr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 sz="3200">
              <a:solidFill>
                <a:schemeClr val="bg1"/>
              </a:solidFill>
            </a:endParaRPr>
          </a:p>
        </p:txBody>
      </p:sp>
      <p:sp>
        <p:nvSpPr>
          <p:cNvPr id="16387" name="Text Box 4"/>
          <p:cNvSpPr txBox="1">
            <a:spLocks noChangeArrowheads="1"/>
          </p:cNvSpPr>
          <p:nvPr/>
        </p:nvSpPr>
        <p:spPr bwMode="auto">
          <a:xfrm>
            <a:off x="1005533" y="1242136"/>
            <a:ext cx="10513168" cy="1600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ru-RU" altLang="ru-RU" sz="2400" dirty="0">
                <a:solidFill>
                  <a:schemeClr val="accent2">
                    <a:lumMod val="50000"/>
                  </a:schemeClr>
                </a:solidFill>
              </a:rPr>
              <a:t>Заметим, </a:t>
            </a:r>
            <a:r>
              <a:rPr lang="ru-RU" altLang="ru-RU" sz="2400" dirty="0"/>
              <a:t>что в некоторых случаях нас интересуют отличия среднего значения от теоретического только в одну сторону </a:t>
            </a:r>
            <a:r>
              <a:rPr lang="ru-RU" altLang="ru-RU" sz="2000" dirty="0"/>
              <a:t>(большую или меньшую).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ru-RU" altLang="ru-RU" sz="2000" dirty="0"/>
              <a:t>Например, аспиранты прошли специальный курс занятий, и нет оснований предполагать, что они могут ухудшить знания.</a:t>
            </a:r>
          </a:p>
        </p:txBody>
      </p:sp>
      <p:sp>
        <p:nvSpPr>
          <p:cNvPr id="36869" name="Text Box 5"/>
          <p:cNvSpPr txBox="1">
            <a:spLocks noChangeArrowheads="1"/>
          </p:cNvSpPr>
          <p:nvPr/>
        </p:nvSpPr>
        <p:spPr bwMode="auto">
          <a:xfrm>
            <a:off x="6708587" y="3216728"/>
            <a:ext cx="3889765" cy="20901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r>
              <a:rPr lang="ru-RU" altLang="ru-RU" sz="2494" u="sng" dirty="0">
                <a:solidFill>
                  <a:srgbClr val="CC0000"/>
                </a:solidFill>
              </a:rPr>
              <a:t>Односторонняя альтернатива</a:t>
            </a:r>
          </a:p>
          <a:p>
            <a:pPr eaLnBrk="1" hangingPunct="1">
              <a:defRPr/>
            </a:pPr>
            <a:r>
              <a:rPr lang="ru-RU" altLang="ru-RU" sz="2494" dirty="0"/>
              <a:t>(</a:t>
            </a:r>
            <a:r>
              <a:rPr lang="en-US" altLang="ru-RU" sz="2494" dirty="0"/>
              <a:t>one-tailed hypothesis</a:t>
            </a:r>
            <a:r>
              <a:rPr lang="ru-RU" altLang="ru-RU" sz="2494" dirty="0"/>
              <a:t>)</a:t>
            </a:r>
          </a:p>
          <a:p>
            <a:pPr eaLnBrk="1" hangingPunct="1">
              <a:defRPr/>
            </a:pPr>
            <a:r>
              <a:rPr lang="en-US" altLang="ru-RU" sz="2494" b="1" dirty="0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H</a:t>
            </a:r>
            <a:r>
              <a:rPr lang="en-US" altLang="ru-RU" sz="2494" b="1" baseline="-25000" dirty="0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0</a:t>
            </a:r>
            <a:r>
              <a:rPr lang="ru-RU" altLang="ru-RU" sz="2494" dirty="0"/>
              <a:t>: </a:t>
            </a:r>
            <a:r>
              <a:rPr lang="el-GR" altLang="ru-RU" sz="2494" i="1" dirty="0"/>
              <a:t>μ</a:t>
            </a:r>
            <a:r>
              <a:rPr lang="ru-RU" altLang="ru-RU" sz="2494" dirty="0"/>
              <a:t> ≤ 100; </a:t>
            </a:r>
          </a:p>
          <a:p>
            <a:pPr eaLnBrk="1" hangingPunct="1">
              <a:defRPr/>
            </a:pPr>
            <a:r>
              <a:rPr lang="en-US" altLang="ru-RU" sz="2494" b="1" dirty="0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H</a:t>
            </a:r>
            <a:r>
              <a:rPr lang="ru-RU" altLang="ru-RU" sz="2494" b="1" baseline="-25000" dirty="0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1 </a:t>
            </a:r>
            <a:r>
              <a:rPr lang="ru-RU" altLang="ru-RU" sz="2494" dirty="0"/>
              <a:t>: </a:t>
            </a:r>
            <a:r>
              <a:rPr lang="el-GR" altLang="ru-RU" sz="2494" i="1" dirty="0"/>
              <a:t>μ</a:t>
            </a:r>
            <a:r>
              <a:rPr lang="en-US" altLang="ru-RU" sz="2494" i="1" dirty="0"/>
              <a:t> </a:t>
            </a:r>
            <a:r>
              <a:rPr lang="en-US" altLang="ru-RU" sz="2494" dirty="0"/>
              <a:t>&gt; </a:t>
            </a:r>
            <a:r>
              <a:rPr lang="ru-RU" altLang="ru-RU" sz="2494" dirty="0"/>
              <a:t>10</a:t>
            </a:r>
            <a:r>
              <a:rPr lang="en-US" altLang="ru-RU" sz="2494" dirty="0"/>
              <a:t>0</a:t>
            </a:r>
            <a:endParaRPr lang="ru-RU" altLang="ru-RU" sz="2494" dirty="0"/>
          </a:p>
        </p:txBody>
      </p:sp>
      <p:sp>
        <p:nvSpPr>
          <p:cNvPr id="36870" name="Text Box 6"/>
          <p:cNvSpPr txBox="1">
            <a:spLocks noChangeArrowheads="1"/>
          </p:cNvSpPr>
          <p:nvPr/>
        </p:nvSpPr>
        <p:spPr bwMode="auto">
          <a:xfrm>
            <a:off x="2144133" y="3188685"/>
            <a:ext cx="3665419" cy="20901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r>
              <a:rPr lang="ru-RU" altLang="ru-RU" sz="2494" u="sng" dirty="0">
                <a:solidFill>
                  <a:srgbClr val="CC0000"/>
                </a:solidFill>
              </a:rPr>
              <a:t>Двусторонняя альтернатива</a:t>
            </a:r>
          </a:p>
          <a:p>
            <a:pPr eaLnBrk="1" hangingPunct="1">
              <a:defRPr/>
            </a:pPr>
            <a:r>
              <a:rPr lang="ru-RU" altLang="ru-RU" sz="2494" dirty="0"/>
              <a:t>(</a:t>
            </a:r>
            <a:r>
              <a:rPr lang="en-US" altLang="ru-RU" sz="2494" dirty="0"/>
              <a:t>two-tailed hypothesis</a:t>
            </a:r>
            <a:r>
              <a:rPr lang="ru-RU" altLang="ru-RU" sz="2494" dirty="0"/>
              <a:t>)</a:t>
            </a:r>
          </a:p>
          <a:p>
            <a:pPr eaLnBrk="1" hangingPunct="1">
              <a:defRPr/>
            </a:pPr>
            <a:r>
              <a:rPr lang="en-US" altLang="ru-RU" sz="2494" b="1" dirty="0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H</a:t>
            </a:r>
            <a:r>
              <a:rPr lang="en-US" altLang="ru-RU" sz="2494" b="1" baseline="-25000" dirty="0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0</a:t>
            </a:r>
            <a:r>
              <a:rPr lang="ru-RU" altLang="ru-RU" sz="2494" dirty="0"/>
              <a:t>: </a:t>
            </a:r>
            <a:r>
              <a:rPr lang="el-GR" altLang="ru-RU" sz="2494" i="1" dirty="0"/>
              <a:t>μ</a:t>
            </a:r>
            <a:r>
              <a:rPr lang="en-US" altLang="ru-RU" sz="2494" i="1" dirty="0"/>
              <a:t> =</a:t>
            </a:r>
            <a:r>
              <a:rPr lang="ru-RU" altLang="ru-RU" sz="2494" dirty="0"/>
              <a:t> 100; </a:t>
            </a:r>
          </a:p>
          <a:p>
            <a:pPr eaLnBrk="1" hangingPunct="1">
              <a:defRPr/>
            </a:pPr>
            <a:r>
              <a:rPr lang="en-US" altLang="ru-RU" sz="2494" b="1" dirty="0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H</a:t>
            </a:r>
            <a:r>
              <a:rPr lang="ru-RU" altLang="ru-RU" sz="2494" b="1" baseline="-25000" dirty="0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1 </a:t>
            </a:r>
            <a:r>
              <a:rPr lang="ru-RU" altLang="ru-RU" sz="2494" dirty="0"/>
              <a:t>: </a:t>
            </a:r>
            <a:r>
              <a:rPr lang="el-GR" altLang="ru-RU" sz="2494" i="1" dirty="0"/>
              <a:t>μ</a:t>
            </a:r>
            <a:r>
              <a:rPr lang="en-US" altLang="ru-RU" sz="2494" i="1" dirty="0"/>
              <a:t> </a:t>
            </a:r>
            <a:r>
              <a:rPr lang="en-US" altLang="ru-RU" sz="2494" dirty="0"/>
              <a:t>≠ </a:t>
            </a:r>
            <a:r>
              <a:rPr lang="ru-RU" altLang="ru-RU" sz="2494" dirty="0"/>
              <a:t>10</a:t>
            </a:r>
            <a:r>
              <a:rPr lang="en-US" altLang="ru-RU" sz="2494" dirty="0"/>
              <a:t>0</a:t>
            </a:r>
            <a:endParaRPr lang="ru-RU" altLang="ru-RU" sz="2494" dirty="0"/>
          </a:p>
        </p:txBody>
      </p:sp>
      <p:sp>
        <p:nvSpPr>
          <p:cNvPr id="16390" name="Text Box 8"/>
          <p:cNvSpPr txBox="1">
            <a:spLocks noChangeArrowheads="1"/>
          </p:cNvSpPr>
          <p:nvPr/>
        </p:nvSpPr>
        <p:spPr bwMode="auto">
          <a:xfrm>
            <a:off x="1005533" y="5461838"/>
            <a:ext cx="10801200" cy="707886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>
            <a:spAutoFit/>
          </a:bodyPr>
          <a:lstStyle>
            <a:lvl1pPr>
              <a:spcBef>
                <a:spcPct val="2000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sz="2000" dirty="0"/>
              <a:t>Применение односторонней альтернативы должно быть до сбора данных </a:t>
            </a:r>
            <a:r>
              <a:rPr lang="ru-RU" altLang="ru-RU" sz="2000" u="sng" dirty="0"/>
              <a:t>теоретически обосновано</a:t>
            </a:r>
            <a:r>
              <a:rPr lang="ru-RU" altLang="ru-RU" sz="2000" dirty="0"/>
              <a:t> исходя из свойств переменной</a:t>
            </a:r>
            <a:r>
              <a:rPr lang="ru-RU" altLang="ru-RU" sz="2000" dirty="0">
                <a:solidFill>
                  <a:srgbClr val="FF0000"/>
                </a:solidFill>
              </a:rPr>
              <a:t>!</a:t>
            </a:r>
          </a:p>
        </p:txBody>
      </p:sp>
      <p:sp>
        <p:nvSpPr>
          <p:cNvPr id="10" name="AutoShape 5"/>
          <p:cNvSpPr>
            <a:spLocks noChangeArrowheads="1"/>
          </p:cNvSpPr>
          <p:nvPr/>
        </p:nvSpPr>
        <p:spPr bwMode="auto">
          <a:xfrm>
            <a:off x="2085977" y="395289"/>
            <a:ext cx="8351837" cy="499771"/>
          </a:xfrm>
          <a:prstGeom prst="roundRect">
            <a:avLst>
              <a:gd name="adj" fmla="val 16667"/>
            </a:avLst>
          </a:prstGeom>
          <a:solidFill>
            <a:srgbClr val="FFFFFF">
              <a:alpha val="78822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99441" tIns="49721" rIns="99441" bIns="49721" anchor="ctr"/>
          <a:lstStyle>
            <a:lvl1pPr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sz="3600" b="1" dirty="0"/>
              <a:t>Тестирование гипотез в статистике</a:t>
            </a:r>
          </a:p>
        </p:txBody>
      </p:sp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2B6C0E-C4B9-4094-8E59-5B7DF00D5415}" type="slidenum">
              <a:rPr lang="ru-RU" smtClean="0">
                <a:solidFill>
                  <a:schemeClr val="tx1"/>
                </a:solidFill>
              </a:rPr>
              <a:t>85</a:t>
            </a:fld>
            <a:endParaRPr lang="ru-RU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228925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AutoShape 4">
            <a:extLst>
              <a:ext uri="{FF2B5EF4-FFF2-40B4-BE49-F238E27FC236}">
                <a16:creationId xmlns:a16="http://schemas.microsoft.com/office/drawing/2014/main" id="{5CA161DE-8B78-4DAB-8EB0-94156AAF1B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1477" y="322263"/>
            <a:ext cx="11881319" cy="6553200"/>
          </a:xfrm>
          <a:prstGeom prst="roundRect">
            <a:avLst>
              <a:gd name="adj" fmla="val 16667"/>
            </a:avLst>
          </a:prstGeom>
          <a:solidFill>
            <a:schemeClr val="bg1">
              <a:alpha val="50195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99441" tIns="49721" rIns="99441" bIns="49721" anchor="ctr"/>
          <a:lstStyle>
            <a:lvl1pPr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 sz="3500">
              <a:solidFill>
                <a:schemeClr val="bg1"/>
              </a:solidFill>
            </a:endParaRPr>
          </a:p>
        </p:txBody>
      </p:sp>
      <p:sp>
        <p:nvSpPr>
          <p:cNvPr id="59395" name="Text Box 3"/>
          <p:cNvSpPr txBox="1">
            <a:spLocks noChangeArrowheads="1"/>
          </p:cNvSpPr>
          <p:nvPr/>
        </p:nvSpPr>
        <p:spPr bwMode="auto">
          <a:xfrm>
            <a:off x="1695440" y="295057"/>
            <a:ext cx="9353252" cy="637732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457200" indent="-45720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914400" indent="-45720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371600" indent="-45720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828800" indent="-45720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286000" indent="-45720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7432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32004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6576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41148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defRPr/>
            </a:pPr>
            <a:r>
              <a:rPr lang="ru-RU" sz="2494" b="1" dirty="0">
                <a:solidFill>
                  <a:srgbClr val="A50021"/>
                </a:solidFill>
                <a:latin typeface="Arial" pitchFamily="34" charset="0"/>
              </a:rPr>
              <a:t>Общая схема тестирования гипотезы:</a:t>
            </a:r>
          </a:p>
          <a:p>
            <a:pPr eaLnBrk="1" hangingPunct="1">
              <a:spcBef>
                <a:spcPct val="20000"/>
              </a:spcBef>
              <a:buFontTx/>
              <a:buAutoNum type="arabicPeriod"/>
              <a:defRPr/>
            </a:pPr>
            <a:r>
              <a:rPr lang="ru-RU" sz="2000" dirty="0">
                <a:solidFill>
                  <a:srgbClr val="6699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itchFamily="34" charset="0"/>
              </a:rPr>
              <a:t>Формулируем Н</a:t>
            </a:r>
            <a:r>
              <a:rPr lang="ru-RU" sz="2000" baseline="-25000" dirty="0">
                <a:solidFill>
                  <a:srgbClr val="6699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itchFamily="34" charset="0"/>
              </a:rPr>
              <a:t>0</a:t>
            </a:r>
            <a:r>
              <a:rPr lang="ru-RU" sz="2000" dirty="0">
                <a:solidFill>
                  <a:srgbClr val="6699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itchFamily="34" charset="0"/>
              </a:rPr>
              <a:t> и Н</a:t>
            </a:r>
            <a:r>
              <a:rPr lang="ru-RU" sz="2000" baseline="-25000" dirty="0">
                <a:solidFill>
                  <a:srgbClr val="6699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itchFamily="34" charset="0"/>
              </a:rPr>
              <a:t>1</a:t>
            </a:r>
            <a:r>
              <a:rPr lang="ru-RU" sz="2000" dirty="0">
                <a:solidFill>
                  <a:srgbClr val="6699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itchFamily="34" charset="0"/>
              </a:rPr>
              <a:t>.</a:t>
            </a:r>
            <a:r>
              <a:rPr lang="ru-RU" sz="2000" dirty="0">
                <a:latin typeface="Arial" pitchFamily="34" charset="0"/>
              </a:rPr>
              <a:t> Строим распределения такие, как будто Н</a:t>
            </a:r>
            <a:r>
              <a:rPr lang="ru-RU" sz="2000" baseline="-25000" dirty="0">
                <a:latin typeface="Arial" pitchFamily="34" charset="0"/>
              </a:rPr>
              <a:t>0 </a:t>
            </a:r>
            <a:r>
              <a:rPr lang="ru-RU" sz="2000" dirty="0">
                <a:latin typeface="Arial" pitchFamily="34" charset="0"/>
              </a:rPr>
              <a:t>верна:</a:t>
            </a:r>
          </a:p>
          <a:p>
            <a:pPr lvl="1" eaLnBrk="1" hangingPunct="1">
              <a:spcBef>
                <a:spcPct val="40000"/>
              </a:spcBef>
              <a:buFontTx/>
              <a:buChar char="•"/>
              <a:defRPr/>
            </a:pPr>
            <a:r>
              <a:rPr lang="ru-RU" sz="2078" dirty="0">
                <a:latin typeface="Arial" pitchFamily="34" charset="0"/>
              </a:rPr>
              <a:t>распределение исследуемой переменной;</a:t>
            </a:r>
          </a:p>
          <a:p>
            <a:pPr lvl="1" eaLnBrk="1" hangingPunct="1">
              <a:buFontTx/>
              <a:buChar char="•"/>
              <a:defRPr/>
            </a:pPr>
            <a:r>
              <a:rPr lang="ru-RU" sz="2078" dirty="0">
                <a:latin typeface="Arial" pitchFamily="34" charset="0"/>
              </a:rPr>
              <a:t>распределение параметра выборки;</a:t>
            </a:r>
          </a:p>
          <a:p>
            <a:pPr lvl="1" eaLnBrk="1" hangingPunct="1">
              <a:buFontTx/>
              <a:buChar char="•"/>
              <a:defRPr/>
            </a:pPr>
            <a:r>
              <a:rPr lang="ru-RU" sz="2078" dirty="0">
                <a:latin typeface="Arial" pitchFamily="34" charset="0"/>
              </a:rPr>
              <a:t>распределение </a:t>
            </a:r>
            <a:r>
              <a:rPr lang="ru-RU" sz="2078" u="sng" dirty="0">
                <a:latin typeface="Arial" pitchFamily="34" charset="0"/>
              </a:rPr>
              <a:t>статистики критерия</a:t>
            </a:r>
            <a:r>
              <a:rPr lang="ru-RU" sz="2078" dirty="0">
                <a:latin typeface="Arial" pitchFamily="34" charset="0"/>
              </a:rPr>
              <a:t>.</a:t>
            </a:r>
          </a:p>
          <a:p>
            <a:pPr eaLnBrk="1" hangingPunct="1">
              <a:spcBef>
                <a:spcPct val="40000"/>
              </a:spcBef>
              <a:buFontTx/>
              <a:buAutoNum type="arabicPeriod"/>
              <a:defRPr/>
            </a:pPr>
            <a:r>
              <a:rPr lang="ru-RU" sz="2494" dirty="0">
                <a:solidFill>
                  <a:srgbClr val="6699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itchFamily="34" charset="0"/>
              </a:rPr>
              <a:t>Устанавливаем условия, при которых мы отвергнем Н</a:t>
            </a:r>
            <a:r>
              <a:rPr lang="ru-RU" sz="2494" baseline="-25000" dirty="0">
                <a:solidFill>
                  <a:srgbClr val="6699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itchFamily="34" charset="0"/>
              </a:rPr>
              <a:t>0</a:t>
            </a:r>
            <a:r>
              <a:rPr lang="ru-RU" sz="2494" dirty="0">
                <a:latin typeface="Arial" pitchFamily="34" charset="0"/>
              </a:rPr>
              <a:t> – определяем:</a:t>
            </a:r>
          </a:p>
          <a:p>
            <a:pPr lvl="1" eaLnBrk="1" hangingPunct="1">
              <a:spcBef>
                <a:spcPct val="40000"/>
              </a:spcBef>
              <a:buFontTx/>
              <a:buChar char="•"/>
              <a:defRPr/>
            </a:pPr>
            <a:r>
              <a:rPr lang="ru-RU" sz="2078" dirty="0">
                <a:latin typeface="Arial" pitchFamily="34" charset="0"/>
              </a:rPr>
              <a:t>уровень значимости;</a:t>
            </a:r>
          </a:p>
          <a:p>
            <a:pPr lvl="1" eaLnBrk="1" hangingPunct="1">
              <a:buFontTx/>
              <a:buChar char="•"/>
              <a:defRPr/>
            </a:pPr>
            <a:r>
              <a:rPr lang="ru-RU" sz="2078" dirty="0">
                <a:latin typeface="Arial" pitchFamily="34" charset="0"/>
              </a:rPr>
              <a:t>односторонний или двусторонний будет тест;</a:t>
            </a:r>
          </a:p>
          <a:p>
            <a:pPr lvl="1" eaLnBrk="1" hangingPunct="1">
              <a:spcAft>
                <a:spcPct val="40000"/>
              </a:spcAft>
              <a:buFontTx/>
              <a:buChar char="•"/>
              <a:defRPr/>
            </a:pPr>
            <a:r>
              <a:rPr lang="ru-RU" sz="2078" b="1" dirty="0">
                <a:latin typeface="Arial" pitchFamily="34" charset="0"/>
              </a:rPr>
              <a:t>критическое значение</a:t>
            </a:r>
            <a:r>
              <a:rPr lang="ru-RU" sz="2078" dirty="0">
                <a:latin typeface="Arial" pitchFamily="34" charset="0"/>
              </a:rPr>
              <a:t> статистики критерия.</a:t>
            </a:r>
          </a:p>
          <a:p>
            <a:pPr eaLnBrk="1" hangingPunct="1">
              <a:spcAft>
                <a:spcPct val="30000"/>
              </a:spcAft>
              <a:buFontTx/>
              <a:buAutoNum type="arabicPeriod"/>
              <a:defRPr/>
            </a:pPr>
            <a:r>
              <a:rPr lang="ru-RU" sz="2000" dirty="0">
                <a:solidFill>
                  <a:schemeClr val="accent2">
                    <a:lumMod val="50000"/>
                  </a:schemeClr>
                </a:solidFill>
                <a:latin typeface="Arial" pitchFamily="34" charset="0"/>
              </a:rPr>
              <a:t>Считаем </a:t>
            </a:r>
            <a:r>
              <a:rPr lang="ru-RU" sz="2000" u="sng" dirty="0">
                <a:solidFill>
                  <a:schemeClr val="accent2">
                    <a:lumMod val="50000"/>
                  </a:schemeClr>
                </a:solidFill>
                <a:latin typeface="Arial" pitchFamily="34" charset="0"/>
              </a:rPr>
              <a:t>параметр</a:t>
            </a:r>
            <a:r>
              <a:rPr lang="ru-RU" sz="2000" dirty="0">
                <a:solidFill>
                  <a:schemeClr val="accent2">
                    <a:lumMod val="50000"/>
                  </a:schemeClr>
                </a:solidFill>
                <a:latin typeface="Arial" pitchFamily="34" charset="0"/>
              </a:rPr>
              <a:t> </a:t>
            </a:r>
            <a:r>
              <a:rPr lang="ru-RU" sz="2000" dirty="0">
                <a:latin typeface="Arial" pitchFamily="34" charset="0"/>
              </a:rPr>
              <a:t>выборки и </a:t>
            </a:r>
            <a:r>
              <a:rPr lang="ru-RU" sz="2000" u="sng" dirty="0">
                <a:solidFill>
                  <a:schemeClr val="accent2">
                    <a:lumMod val="50000"/>
                  </a:schemeClr>
                </a:solidFill>
                <a:latin typeface="Arial" pitchFamily="34" charset="0"/>
              </a:rPr>
              <a:t>статистику критерия</a:t>
            </a:r>
            <a:r>
              <a:rPr lang="ru-RU" sz="2000" dirty="0">
                <a:latin typeface="Arial" pitchFamily="34" charset="0"/>
              </a:rPr>
              <a:t> для </a:t>
            </a:r>
            <a:r>
              <a:rPr lang="ru-RU" sz="2000" u="sng" dirty="0">
                <a:latin typeface="Arial" pitchFamily="34" charset="0"/>
              </a:rPr>
              <a:t>реальной</a:t>
            </a:r>
            <a:r>
              <a:rPr lang="ru-RU" sz="2000" dirty="0">
                <a:latin typeface="Arial" pitchFamily="34" charset="0"/>
              </a:rPr>
              <a:t> выборки, сравниваем их</a:t>
            </a:r>
            <a:r>
              <a:rPr lang="ru-RU" sz="2000" dirty="0">
                <a:solidFill>
                  <a:srgbClr val="669900"/>
                </a:solidFill>
                <a:latin typeface="Arial" pitchFamily="34" charset="0"/>
              </a:rPr>
              <a:t> </a:t>
            </a:r>
            <a:r>
              <a:rPr lang="ru-RU" sz="2000" dirty="0">
                <a:latin typeface="Arial" pitchFamily="34" charset="0"/>
              </a:rPr>
              <a:t>с</a:t>
            </a:r>
            <a:r>
              <a:rPr lang="ru-RU" sz="2000" dirty="0">
                <a:solidFill>
                  <a:srgbClr val="669900"/>
                </a:solidFill>
                <a:latin typeface="Arial" pitchFamily="34" charset="0"/>
              </a:rPr>
              <a:t> критическими значениями.</a:t>
            </a:r>
          </a:p>
          <a:p>
            <a:pPr eaLnBrk="1" hangingPunct="1">
              <a:buFontTx/>
              <a:buAutoNum type="arabicPeriod"/>
              <a:defRPr/>
            </a:pPr>
            <a:r>
              <a:rPr lang="ru-RU" dirty="0">
                <a:solidFill>
                  <a:srgbClr val="669900"/>
                </a:solidFill>
                <a:latin typeface="Arial" pitchFamily="34" charset="0"/>
              </a:rPr>
              <a:t>Интерпретируем результаты:</a:t>
            </a:r>
          </a:p>
          <a:p>
            <a:pPr lvl="1" eaLnBrk="1" hangingPunct="1">
              <a:buFontTx/>
              <a:buChar char="•"/>
              <a:defRPr/>
            </a:pPr>
            <a:r>
              <a:rPr lang="ru-RU" sz="2000" dirty="0">
                <a:latin typeface="Arial" pitchFamily="34" charset="0"/>
              </a:rPr>
              <a:t>Можем ли мы отвергнуть Н</a:t>
            </a:r>
            <a:r>
              <a:rPr lang="ru-RU" sz="2000" baseline="-25000" dirty="0">
                <a:latin typeface="Arial" pitchFamily="34" charset="0"/>
              </a:rPr>
              <a:t>0</a:t>
            </a:r>
            <a:r>
              <a:rPr lang="ru-RU" sz="2000" dirty="0">
                <a:latin typeface="Arial" pitchFamily="34" charset="0"/>
              </a:rPr>
              <a:t>? Т.е., достоверны ли результаты статистически?</a:t>
            </a:r>
          </a:p>
          <a:p>
            <a:pPr lvl="1" eaLnBrk="1" hangingPunct="1">
              <a:buFontTx/>
              <a:buChar char="•"/>
              <a:defRPr/>
            </a:pPr>
            <a:r>
              <a:rPr lang="ru-RU" sz="2000" dirty="0">
                <a:latin typeface="Arial" pitchFamily="34" charset="0"/>
              </a:rPr>
              <a:t>Если да, достоверны ли они ПРАКТИЧЕСКИ?</a:t>
            </a:r>
          </a:p>
          <a:p>
            <a:pPr marL="457200" lvl="1" indent="0">
              <a:defRPr/>
            </a:pPr>
            <a:endParaRPr lang="ru-RU" sz="2000" dirty="0">
              <a:latin typeface="Arial" pitchFamily="34" charset="0"/>
            </a:endParaRPr>
          </a:p>
        </p:txBody>
      </p:sp>
      <p:grpSp>
        <p:nvGrpSpPr>
          <p:cNvPr id="59405" name="Group 13"/>
          <p:cNvGrpSpPr>
            <a:grpSpLocks/>
          </p:cNvGrpSpPr>
          <p:nvPr/>
        </p:nvGrpSpPr>
        <p:grpSpPr bwMode="auto">
          <a:xfrm>
            <a:off x="2231895" y="727439"/>
            <a:ext cx="8860023" cy="5727426"/>
            <a:chOff x="385" y="264"/>
            <a:chExt cx="5371" cy="3472"/>
          </a:xfrm>
        </p:grpSpPr>
        <p:sp>
          <p:nvSpPr>
            <p:cNvPr id="23556" name="Rectangle 4"/>
            <p:cNvSpPr>
              <a:spLocks noChangeArrowheads="1"/>
            </p:cNvSpPr>
            <p:nvPr/>
          </p:nvSpPr>
          <p:spPr bwMode="auto">
            <a:xfrm>
              <a:off x="385" y="264"/>
              <a:ext cx="1570" cy="300"/>
            </a:xfrm>
            <a:prstGeom prst="rect">
              <a:avLst/>
            </a:prstGeom>
            <a:noFill/>
            <a:ln w="19050" algn="ctr">
              <a:solidFill>
                <a:srgbClr val="CC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2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buClrTx/>
                <a:buSzTx/>
                <a:buFontTx/>
                <a:buNone/>
              </a:pPr>
              <a:endParaRPr lang="ru-RU" altLang="ru-RU" sz="2494"/>
            </a:p>
          </p:txBody>
        </p:sp>
        <p:sp>
          <p:nvSpPr>
            <p:cNvPr id="23557" name="Rectangle 5"/>
            <p:cNvSpPr>
              <a:spLocks noChangeArrowheads="1"/>
            </p:cNvSpPr>
            <p:nvPr/>
          </p:nvSpPr>
          <p:spPr bwMode="auto">
            <a:xfrm>
              <a:off x="385" y="1819"/>
              <a:ext cx="3720" cy="289"/>
            </a:xfrm>
            <a:prstGeom prst="rect">
              <a:avLst/>
            </a:prstGeom>
            <a:noFill/>
            <a:ln w="19050" algn="ctr">
              <a:solidFill>
                <a:srgbClr val="CC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2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buClrTx/>
                <a:buSzTx/>
                <a:buFontTx/>
                <a:buNone/>
              </a:pPr>
              <a:endParaRPr lang="ru-RU" altLang="ru-RU" sz="2494"/>
            </a:p>
          </p:txBody>
        </p:sp>
        <p:sp>
          <p:nvSpPr>
            <p:cNvPr id="23559" name="Line 8"/>
            <p:cNvSpPr>
              <a:spLocks noChangeShapeType="1"/>
            </p:cNvSpPr>
            <p:nvPr/>
          </p:nvSpPr>
          <p:spPr bwMode="auto">
            <a:xfrm flipH="1" flipV="1">
              <a:off x="2091" y="491"/>
              <a:ext cx="2335" cy="1282"/>
            </a:xfrm>
            <a:prstGeom prst="line">
              <a:avLst/>
            </a:prstGeom>
            <a:noFill/>
            <a:ln w="19050">
              <a:solidFill>
                <a:srgbClr val="CC0000"/>
              </a:solidFill>
              <a:round/>
              <a:headEnd/>
              <a:tailEnd type="arrow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endParaRPr lang="ru-RU" sz="2909"/>
            </a:p>
          </p:txBody>
        </p:sp>
        <p:sp>
          <p:nvSpPr>
            <p:cNvPr id="23560" name="Line 9"/>
            <p:cNvSpPr>
              <a:spLocks noChangeShapeType="1"/>
            </p:cNvSpPr>
            <p:nvPr/>
          </p:nvSpPr>
          <p:spPr bwMode="auto">
            <a:xfrm flipH="1">
              <a:off x="4153" y="1929"/>
              <a:ext cx="273" cy="91"/>
            </a:xfrm>
            <a:prstGeom prst="line">
              <a:avLst/>
            </a:prstGeom>
            <a:noFill/>
            <a:ln w="19050">
              <a:solidFill>
                <a:srgbClr val="CC0000"/>
              </a:solidFill>
              <a:round/>
              <a:headEnd/>
              <a:tailEnd type="arrow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ru-RU" sz="2909"/>
            </a:p>
          </p:txBody>
        </p:sp>
        <p:sp>
          <p:nvSpPr>
            <p:cNvPr id="23561" name="Line 10"/>
            <p:cNvSpPr>
              <a:spLocks noChangeShapeType="1"/>
            </p:cNvSpPr>
            <p:nvPr/>
          </p:nvSpPr>
          <p:spPr bwMode="auto">
            <a:xfrm flipH="1">
              <a:off x="4376" y="2404"/>
              <a:ext cx="853" cy="1147"/>
            </a:xfrm>
            <a:prstGeom prst="line">
              <a:avLst/>
            </a:prstGeom>
            <a:noFill/>
            <a:ln w="19050">
              <a:solidFill>
                <a:srgbClr val="CC0000"/>
              </a:solidFill>
              <a:round/>
              <a:headEnd/>
              <a:tailEnd type="arrow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endParaRPr lang="ru-RU" sz="2909"/>
            </a:p>
          </p:txBody>
        </p:sp>
        <p:sp>
          <p:nvSpPr>
            <p:cNvPr id="23562" name="Text Box 11"/>
            <p:cNvSpPr txBox="1">
              <a:spLocks noChangeArrowheads="1"/>
            </p:cNvSpPr>
            <p:nvPr/>
          </p:nvSpPr>
          <p:spPr bwMode="auto">
            <a:xfrm>
              <a:off x="4532" y="1656"/>
              <a:ext cx="1224" cy="61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2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ru-RU" altLang="ru-RU" sz="2000" i="1" dirty="0"/>
                <a:t>это делает человек, а не компьютер</a:t>
              </a:r>
            </a:p>
          </p:txBody>
        </p:sp>
        <p:sp>
          <p:nvSpPr>
            <p:cNvPr id="29" name="Rectangle 6"/>
            <p:cNvSpPr>
              <a:spLocks noChangeArrowheads="1"/>
            </p:cNvSpPr>
            <p:nvPr/>
          </p:nvSpPr>
          <p:spPr bwMode="auto">
            <a:xfrm>
              <a:off x="385" y="3436"/>
              <a:ext cx="3991" cy="300"/>
            </a:xfrm>
            <a:prstGeom prst="rect">
              <a:avLst/>
            </a:prstGeom>
            <a:noFill/>
            <a:ln w="19050" algn="ctr">
              <a:solidFill>
                <a:srgbClr val="CC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2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buClrTx/>
                <a:buSzTx/>
                <a:buFontTx/>
                <a:buNone/>
              </a:pPr>
              <a:endParaRPr lang="ru-RU" altLang="ru-RU" sz="2494"/>
            </a:p>
          </p:txBody>
        </p:sp>
      </p:grpSp>
      <p:sp>
        <p:nvSpPr>
          <p:cNvPr id="2" name="Овал 1"/>
          <p:cNvSpPr/>
          <p:nvPr/>
        </p:nvSpPr>
        <p:spPr bwMode="auto">
          <a:xfrm>
            <a:off x="8881201" y="2821806"/>
            <a:ext cx="2122279" cy="1296144"/>
          </a:xfrm>
          <a:prstGeom prst="ellipse">
            <a:avLst/>
          </a:prstGeom>
          <a:noFill/>
          <a:ln w="9525" cap="flat" cmpd="sng" algn="ctr">
            <a:solidFill>
              <a:srgbClr val="FF505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defTabSz="993775"/>
            <a:endParaRPr lang="ru-RU"/>
          </a:p>
        </p:txBody>
      </p:sp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2B6C0E-C4B9-4094-8E59-5B7DF00D5415}" type="slidenum">
              <a:rPr lang="ru-RU" smtClean="0">
                <a:solidFill>
                  <a:schemeClr val="tx1"/>
                </a:solidFill>
              </a:rPr>
              <a:t>86</a:t>
            </a:fld>
            <a:endParaRPr lang="ru-RU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218671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94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AutoShape 4">
            <a:extLst>
              <a:ext uri="{FF2B5EF4-FFF2-40B4-BE49-F238E27FC236}">
                <a16:creationId xmlns:a16="http://schemas.microsoft.com/office/drawing/2014/main" id="{E34CF71E-B8F1-4858-A339-6969DCE5DD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1477" y="322263"/>
            <a:ext cx="11881319" cy="6553200"/>
          </a:xfrm>
          <a:prstGeom prst="roundRect">
            <a:avLst>
              <a:gd name="adj" fmla="val 16667"/>
            </a:avLst>
          </a:prstGeom>
          <a:solidFill>
            <a:schemeClr val="bg1">
              <a:alpha val="50195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99441" tIns="49721" rIns="99441" bIns="49721" anchor="ctr"/>
          <a:lstStyle>
            <a:lvl1pPr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 sz="3500">
              <a:solidFill>
                <a:schemeClr val="bg1"/>
              </a:solidFill>
            </a:endParaRPr>
          </a:p>
        </p:txBody>
      </p:sp>
      <p:sp>
        <p:nvSpPr>
          <p:cNvPr id="26626" name="AutoShape 8"/>
          <p:cNvSpPr>
            <a:spLocks noChangeArrowheads="1"/>
          </p:cNvSpPr>
          <p:nvPr/>
        </p:nvSpPr>
        <p:spPr bwMode="auto">
          <a:xfrm>
            <a:off x="1438276" y="322263"/>
            <a:ext cx="9791700" cy="6337300"/>
          </a:xfrm>
          <a:prstGeom prst="roundRect">
            <a:avLst>
              <a:gd name="adj" fmla="val 16667"/>
            </a:avLst>
          </a:prstGeom>
          <a:solidFill>
            <a:schemeClr val="bg1">
              <a:alpha val="50195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99441" tIns="49721" rIns="99441" bIns="49721" anchor="ctr"/>
          <a:lstStyle>
            <a:lvl1pPr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 sz="3500" dirty="0">
              <a:solidFill>
                <a:schemeClr val="bg1"/>
              </a:solidFill>
            </a:endParaRPr>
          </a:p>
        </p:txBody>
      </p:sp>
      <p:sp>
        <p:nvSpPr>
          <p:cNvPr id="26627" name="Заголовок 1"/>
          <p:cNvSpPr>
            <a:spLocks noGrp="1"/>
          </p:cNvSpPr>
          <p:nvPr>
            <p:ph type="title" idx="4294967295"/>
          </p:nvPr>
        </p:nvSpPr>
        <p:spPr bwMode="auto">
          <a:xfrm>
            <a:off x="1195389" y="285750"/>
            <a:ext cx="9248775" cy="730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9441" tIns="49721" rIns="99441" bIns="49721" rtlCol="0" anchor="ctr">
            <a:normAutofit/>
          </a:bodyPr>
          <a:lstStyle/>
          <a:p>
            <a:pPr eaLnBrk="1" hangingPunct="1"/>
            <a:r>
              <a:rPr lang="ru-RU" altLang="ru-RU" sz="3100" b="1"/>
              <a:t>Литература</a:t>
            </a:r>
          </a:p>
        </p:txBody>
      </p:sp>
      <p:sp>
        <p:nvSpPr>
          <p:cNvPr id="26629" name="Text Box 7"/>
          <p:cNvSpPr txBox="1">
            <a:spLocks noChangeArrowheads="1"/>
          </p:cNvSpPr>
          <p:nvPr/>
        </p:nvSpPr>
        <p:spPr bwMode="auto">
          <a:xfrm>
            <a:off x="3905252" y="0"/>
            <a:ext cx="5100637" cy="407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9441" tIns="49721" rIns="99441" bIns="49721">
            <a:spAutoFit/>
          </a:bodyPr>
          <a:lstStyle>
            <a:lvl1pPr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defTabSz="993775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9937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ru-RU" altLang="ru-RU" b="1">
                <a:solidFill>
                  <a:schemeClr val="bg1"/>
                </a:solidFill>
                <a:latin typeface="Courier New" panose="02070309020205020404" pitchFamily="49" charset="0"/>
              </a:rPr>
              <a:t>Обработка больших данных. Л5</a:t>
            </a:r>
          </a:p>
        </p:txBody>
      </p:sp>
      <p:pic>
        <p:nvPicPr>
          <p:cNvPr id="26631" name="Picture 7" descr="Эндрю Сигел"/>
          <p:cNvPicPr>
            <a:picLocks noChangeAspect="1" noChangeArrowheads="1"/>
          </p:cNvPicPr>
          <p:nvPr/>
        </p:nvPicPr>
        <p:blipFill>
          <a:blip r:embed="rId2">
            <a:lum bright="6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38277" y="898526"/>
            <a:ext cx="2549525" cy="37449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632" name="Picture 8" descr="File0002"/>
          <p:cNvPicPr>
            <a:picLocks noChangeAspect="1" noChangeArrowheads="1"/>
          </p:cNvPicPr>
          <p:nvPr/>
        </p:nvPicPr>
        <p:blipFill>
          <a:blip r:embed="rId3">
            <a:lum bright="6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41738" y="1403351"/>
            <a:ext cx="2465388" cy="3527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633" name="Picture 9" descr="Pim001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8227" y="1835150"/>
            <a:ext cx="2441575" cy="3600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634" name="Picture 10" descr="File000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16926" y="2627314"/>
            <a:ext cx="2597150" cy="3311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Прямоугольник 1"/>
          <p:cNvSpPr/>
          <p:nvPr/>
        </p:nvSpPr>
        <p:spPr>
          <a:xfrm>
            <a:off x="1878088" y="5749926"/>
            <a:ext cx="6832301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b="1" dirty="0"/>
              <a:t>Основы статистики. Анатолий Карпов. Институт </a:t>
            </a:r>
            <a:r>
              <a:rPr lang="ru-RU" sz="1600" b="1" dirty="0" err="1"/>
              <a:t>биоинформатики</a:t>
            </a:r>
            <a:r>
              <a:rPr lang="ru-RU" sz="1600" b="1" dirty="0"/>
              <a:t>. </a:t>
            </a:r>
            <a:r>
              <a:rPr lang="ru-RU" sz="1600" dirty="0"/>
              <a:t>https://www.youtube.com/watch?v=ksdrNa_g11M</a:t>
            </a:r>
          </a:p>
        </p:txBody>
      </p:sp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2B6C0E-C4B9-4094-8E59-5B7DF00D5415}" type="slidenum">
              <a:rPr lang="ru-RU" smtClean="0">
                <a:solidFill>
                  <a:schemeClr val="tx1"/>
                </a:solidFill>
              </a:rPr>
              <a:t>87</a:t>
            </a:fld>
            <a:endParaRPr lang="ru-RU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45852973"/>
      </p:ext>
    </p:extLst>
  </p:cSld>
  <p:clrMapOvr>
    <a:masterClrMapping/>
  </p:clrMapOvr>
  <p:transition spd="slow"/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84" name="AutoShape 8"/>
          <p:cNvSpPr>
            <a:spLocks noChangeArrowheads="1"/>
          </p:cNvSpPr>
          <p:nvPr/>
        </p:nvSpPr>
        <p:spPr bwMode="auto">
          <a:xfrm>
            <a:off x="1438275" y="322263"/>
            <a:ext cx="10728497" cy="6337300"/>
          </a:xfrm>
          <a:prstGeom prst="roundRect">
            <a:avLst>
              <a:gd name="adj" fmla="val 16667"/>
            </a:avLst>
          </a:prstGeom>
          <a:solidFill>
            <a:schemeClr val="bg1">
              <a:alpha val="50000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9441" tIns="49721" rIns="99441" bIns="49721" anchor="ctr"/>
          <a:lstStyle>
            <a:lvl1pPr defTabSz="99377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1177925" defTabSz="99377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373188" defTabSz="99377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66863" defTabSz="99377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89138" defTabSz="99377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46338" defTabSz="9937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03538" defTabSz="9937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60738" defTabSz="9937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17938" defTabSz="9937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ru-RU" altLang="ru-RU" sz="3600">
              <a:solidFill>
                <a:schemeClr val="bg1"/>
              </a:solidFill>
            </a:endParaRPr>
          </a:p>
        </p:txBody>
      </p:sp>
      <p:sp>
        <p:nvSpPr>
          <p:cNvPr id="2" name="Заголовок 1"/>
          <p:cNvSpPr>
            <a:spLocks noGrp="1"/>
          </p:cNvSpPr>
          <p:nvPr>
            <p:ph type="title" idx="4294967295"/>
          </p:nvPr>
        </p:nvSpPr>
        <p:spPr bwMode="auto">
          <a:xfrm>
            <a:off x="1195389" y="285750"/>
            <a:ext cx="9248775" cy="73025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rgbClr val="000000"/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lIns="99441" tIns="49721" rIns="99441" bIns="49721" rtlCol="0" anchor="ctr">
            <a:normAutofit/>
          </a:bodyPr>
          <a:lstStyle/>
          <a:p>
            <a:r>
              <a:rPr lang="ru-RU" altLang="ru-RU" sz="3100" b="1"/>
              <a:t>Литература</a:t>
            </a:r>
          </a:p>
        </p:txBody>
      </p:sp>
      <p:sp>
        <p:nvSpPr>
          <p:cNvPr id="75783" name="Text Box 7"/>
          <p:cNvSpPr txBox="1">
            <a:spLocks noChangeArrowheads="1"/>
          </p:cNvSpPr>
          <p:nvPr/>
        </p:nvSpPr>
        <p:spPr bwMode="auto">
          <a:xfrm>
            <a:off x="3905252" y="0"/>
            <a:ext cx="5100637" cy="4081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9441" tIns="49721" rIns="99441" bIns="49721">
            <a:spAutoFit/>
          </a:bodyPr>
          <a:lstStyle>
            <a:lvl1pPr defTabSz="99377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96888" defTabSz="99377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93775" defTabSz="99377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492250" defTabSz="99377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89138" defTabSz="99377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46338" defTabSz="9937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03538" defTabSz="9937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60738" defTabSz="9937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17938" defTabSz="9937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ru-RU" altLang="ru-RU" b="1" dirty="0">
                <a:solidFill>
                  <a:schemeClr val="bg1"/>
                </a:solidFill>
                <a:latin typeface="Courier New" panose="02070309020205020404" pitchFamily="49" charset="0"/>
              </a:rPr>
              <a:t>Обработка больших данных. Л5</a:t>
            </a:r>
          </a:p>
        </p:txBody>
      </p:sp>
      <p:sp>
        <p:nvSpPr>
          <p:cNvPr id="4" name="Скругленный прямоугольник 3"/>
          <p:cNvSpPr/>
          <p:nvPr/>
        </p:nvSpPr>
        <p:spPr bwMode="auto">
          <a:xfrm>
            <a:off x="1006228" y="1301750"/>
            <a:ext cx="10728497" cy="5141714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  <a:headEnd type="none" w="med" len="med"/>
            <a:tailEnd type="none" w="med" len="med"/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457200" indent="-457200" defTabSz="993775">
              <a:buFont typeface="+mj-lt"/>
              <a:buAutoNum type="arabicPeriod"/>
            </a:pPr>
            <a:r>
              <a:rPr lang="ru-RU" sz="2400" dirty="0">
                <a:solidFill>
                  <a:schemeClr val="tx1"/>
                </a:solidFill>
              </a:rPr>
              <a:t>Использование гистограмм при оценке и анализе качества процессов</a:t>
            </a:r>
            <a:r>
              <a:rPr lang="en-US" sz="2400" dirty="0">
                <a:solidFill>
                  <a:schemeClr val="tx1"/>
                </a:solidFill>
              </a:rPr>
              <a:t>. </a:t>
            </a:r>
            <a:r>
              <a:rPr lang="en-US" altLang="ru-RU" sz="2400" dirty="0">
                <a:solidFill>
                  <a:schemeClr val="tx1"/>
                </a:solidFill>
              </a:rPr>
              <a:t>https://biglibrary.ru/category38/book135/part20/</a:t>
            </a:r>
            <a:endParaRPr lang="ru-RU" altLang="ru-RU" sz="2400" dirty="0">
              <a:solidFill>
                <a:schemeClr val="tx1"/>
              </a:solidFill>
            </a:endParaRPr>
          </a:p>
        </p:txBody>
      </p:sp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2B6C0E-C4B9-4094-8E59-5B7DF00D5415}" type="slidenum">
              <a:rPr lang="ru-RU" smtClean="0">
                <a:solidFill>
                  <a:schemeClr val="tx1"/>
                </a:solidFill>
              </a:rPr>
              <a:t>88</a:t>
            </a:fld>
            <a:endParaRPr lang="ru-RU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ransition spd="slow"/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84" name="AutoShape 8"/>
          <p:cNvSpPr>
            <a:spLocks noChangeArrowheads="1"/>
          </p:cNvSpPr>
          <p:nvPr/>
        </p:nvSpPr>
        <p:spPr bwMode="auto">
          <a:xfrm>
            <a:off x="285453" y="322262"/>
            <a:ext cx="11953328" cy="6518275"/>
          </a:xfrm>
          <a:prstGeom prst="roundRect">
            <a:avLst>
              <a:gd name="adj" fmla="val 16667"/>
            </a:avLst>
          </a:prstGeom>
          <a:solidFill>
            <a:schemeClr val="bg1">
              <a:alpha val="50000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9441" tIns="49721" rIns="99441" bIns="49721" anchor="ctr"/>
          <a:lstStyle>
            <a:lvl1pPr defTabSz="99377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1177925" defTabSz="99377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373188" defTabSz="99377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66863" defTabSz="99377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89138" defTabSz="99377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46338" defTabSz="9937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03538" defTabSz="9937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60738" defTabSz="9937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17938" defTabSz="9937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ru-RU" altLang="ru-RU" sz="3600">
              <a:solidFill>
                <a:schemeClr val="bg1"/>
              </a:solidFill>
            </a:endParaRPr>
          </a:p>
        </p:txBody>
      </p:sp>
      <p:sp>
        <p:nvSpPr>
          <p:cNvPr id="2" name="Заголовок 1"/>
          <p:cNvSpPr>
            <a:spLocks noGrp="1"/>
          </p:cNvSpPr>
          <p:nvPr>
            <p:ph type="title" idx="4294967295"/>
          </p:nvPr>
        </p:nvSpPr>
        <p:spPr bwMode="auto">
          <a:xfrm>
            <a:off x="1195389" y="285750"/>
            <a:ext cx="9248775" cy="73025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rgbClr val="000000"/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lIns="99441" tIns="49721" rIns="99441" bIns="49721" rtlCol="0" anchor="ctr">
            <a:normAutofit/>
          </a:bodyPr>
          <a:lstStyle/>
          <a:p>
            <a:r>
              <a:rPr lang="ru-RU" altLang="ru-RU" sz="3100" b="1" dirty="0"/>
              <a:t>Вопросы к экзамену</a:t>
            </a:r>
          </a:p>
        </p:txBody>
      </p:sp>
      <p:sp>
        <p:nvSpPr>
          <p:cNvPr id="75783" name="Text Box 7"/>
          <p:cNvSpPr txBox="1">
            <a:spLocks noChangeArrowheads="1"/>
          </p:cNvSpPr>
          <p:nvPr/>
        </p:nvSpPr>
        <p:spPr bwMode="auto">
          <a:xfrm>
            <a:off x="3905252" y="0"/>
            <a:ext cx="5100637" cy="4081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9441" tIns="49721" rIns="99441" bIns="49721">
            <a:spAutoFit/>
          </a:bodyPr>
          <a:lstStyle>
            <a:lvl1pPr defTabSz="99377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96888" defTabSz="99377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93775" defTabSz="99377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492250" defTabSz="99377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89138" defTabSz="99377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46338" defTabSz="9937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03538" defTabSz="9937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60738" defTabSz="9937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17938" defTabSz="9937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ru-RU" altLang="ru-RU" b="1" dirty="0">
                <a:solidFill>
                  <a:schemeClr val="bg1"/>
                </a:solidFill>
                <a:latin typeface="Courier New" panose="02070309020205020404" pitchFamily="49" charset="0"/>
              </a:rPr>
              <a:t>Обработка больших данных. Л4</a:t>
            </a:r>
          </a:p>
        </p:txBody>
      </p:sp>
      <p:sp>
        <p:nvSpPr>
          <p:cNvPr id="4" name="Скругленный прямоугольник 3"/>
          <p:cNvSpPr/>
          <p:nvPr/>
        </p:nvSpPr>
        <p:spPr bwMode="auto">
          <a:xfrm>
            <a:off x="747464" y="1233210"/>
            <a:ext cx="11173322" cy="5141714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  <a:headEnd type="none" w="med" len="med"/>
            <a:tailEnd type="none" w="med" len="med"/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457200" indent="-457200" defTabSz="993775">
              <a:buFont typeface="+mj-lt"/>
              <a:buAutoNum type="arabicPeriod"/>
            </a:pPr>
            <a:r>
              <a:rPr lang="ru-RU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Способы графического представления данных.</a:t>
            </a:r>
          </a:p>
          <a:p>
            <a:pPr marL="457200" indent="-457200" defTabSz="993775">
              <a:buFont typeface="+mj-lt"/>
              <a:buAutoNum type="arabicPeriod"/>
            </a:pPr>
            <a:r>
              <a:rPr lang="ru-RU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Примеры использования гистограммы для обработки фотографий и оценки качества изделий.</a:t>
            </a:r>
          </a:p>
          <a:p>
            <a:pPr marL="457200" indent="-457200" defTabSz="993775">
              <a:buFont typeface="+mj-lt"/>
              <a:buAutoNum type="arabicPeriod"/>
            </a:pPr>
            <a:r>
              <a:rPr lang="ru-RU" altLang="ru-RU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Виды столбчатых диаграмм и их интерпретация.</a:t>
            </a:r>
          </a:p>
          <a:p>
            <a:pPr marL="457200" lvl="0" indent="-457200" defTabSz="993775">
              <a:lnSpc>
                <a:spcPct val="115000"/>
              </a:lnSpc>
              <a:buFont typeface="+mj-lt"/>
              <a:buAutoNum type="arabicPeriod"/>
            </a:pPr>
            <a:r>
              <a:rPr lang="ru-RU" sz="24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Boxplot</a:t>
            </a:r>
            <a:r>
              <a:rPr lang="ru-RU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и его интерпретация, связь этого графика с другими элементами анализа.</a:t>
            </a:r>
          </a:p>
          <a:p>
            <a:pPr marL="457200" lvl="0" indent="-457200" defTabSz="993775">
              <a:lnSpc>
                <a:spcPct val="115000"/>
              </a:lnSpc>
              <a:buFont typeface="+mj-lt"/>
              <a:buAutoNum type="arabicPeriod"/>
            </a:pPr>
            <a:r>
              <a:rPr lang="ru-RU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Когда релевантно использовать круговую диаграмму?</a:t>
            </a:r>
          </a:p>
          <a:p>
            <a:pPr marL="457200" indent="-457200" defTabSz="993775">
              <a:buFont typeface="+mj-lt"/>
              <a:buAutoNum type="arabicPeriod"/>
            </a:pPr>
            <a:r>
              <a:rPr lang="ru-RU" altLang="ru-RU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Для чего нужны гипотезы в анализе данных, какие существуют приемы работы с гипотезами?</a:t>
            </a:r>
          </a:p>
          <a:p>
            <a:pPr marL="457200" indent="-457200" defTabSz="993775">
              <a:buFont typeface="+mj-lt"/>
              <a:buAutoNum type="arabicPeriod"/>
            </a:pPr>
            <a:endParaRPr lang="ru-RU" altLang="ru-RU" sz="2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2B6C0E-C4B9-4094-8E59-5B7DF00D5415}" type="slidenum">
              <a:rPr lang="ru-RU" smtClean="0">
                <a:solidFill>
                  <a:schemeClr val="tx1"/>
                </a:solidFill>
              </a:rPr>
              <a:t>89</a:t>
            </a:fld>
            <a:endParaRPr lang="ru-RU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96429044"/>
      </p:ext>
    </p:extLst>
  </p:cSld>
  <p:clrMapOvr>
    <a:masterClrMapping/>
  </p:clrMapOvr>
  <p:transition spd="slow"/>
</p:sld>
</file>

<file path=ppt/theme/theme1.xml><?xml version="1.0" encoding="utf-8"?>
<a:theme xmlns:a="http://schemas.openxmlformats.org/drawingml/2006/main" name="Texno">
  <a:themeElements>
    <a:clrScheme name="Воздушный поток">
      <a:dk1>
        <a:sysClr val="windowText" lastClr="000000"/>
      </a:dk1>
      <a:lt1>
        <a:sysClr val="window" lastClr="FFFFFF"/>
      </a:lt1>
      <a:dk2>
        <a:srgbClr val="212745"/>
      </a:dk2>
      <a:lt2>
        <a:srgbClr val="B4DCFA"/>
      </a:lt2>
      <a:accent1>
        <a:srgbClr val="4E67C8"/>
      </a:accent1>
      <a:accent2>
        <a:srgbClr val="5ECCF3"/>
      </a:accent2>
      <a:accent3>
        <a:srgbClr val="A7EA52"/>
      </a:accent3>
      <a:accent4>
        <a:srgbClr val="5DCEAF"/>
      </a:accent4>
      <a:accent5>
        <a:srgbClr val="FF8021"/>
      </a:accent5>
      <a:accent6>
        <a:srgbClr val="F14124"/>
      </a:accent6>
      <a:hlink>
        <a:srgbClr val="56C7AA"/>
      </a:hlink>
      <a:folHlink>
        <a:srgbClr val="59A8D1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exno" id="{0E8BABF9-5FB5-43D1-8D63-51AD53BC32B3}" vid="{3F96F841-BC71-47CB-B1CC-BEF1F6584F8C}"/>
    </a:ext>
  </a:extLst>
</a:theme>
</file>

<file path=ppt/theme/theme2.xml><?xml version="1.0" encoding="utf-8"?>
<a:theme xmlns:a="http://schemas.openxmlformats.org/drawingml/2006/main" name="Тема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Стандартная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Texno</Template>
  <TotalTime>58894</TotalTime>
  <Words>6671</Words>
  <Application>Microsoft Office PowerPoint</Application>
  <PresentationFormat>Произвольный</PresentationFormat>
  <Paragraphs>583</Paragraphs>
  <Slides>89</Slides>
  <Notes>6</Notes>
  <HiddenSlides>0</HiddenSlides>
  <MMClips>0</MMClips>
  <ScaleCrop>false</ScaleCrop>
  <HeadingPairs>
    <vt:vector size="8" baseType="variant">
      <vt:variant>
        <vt:lpstr>Использованные шрифты</vt:lpstr>
      </vt:variant>
      <vt:variant>
        <vt:i4>13</vt:i4>
      </vt:variant>
      <vt:variant>
        <vt:lpstr>Тема</vt:lpstr>
      </vt:variant>
      <vt:variant>
        <vt:i4>1</vt:i4>
      </vt:variant>
      <vt:variant>
        <vt:lpstr>Внедренные серверы OLE</vt:lpstr>
      </vt:variant>
      <vt:variant>
        <vt:i4>2</vt:i4>
      </vt:variant>
      <vt:variant>
        <vt:lpstr>Заголовки слайдов</vt:lpstr>
      </vt:variant>
      <vt:variant>
        <vt:i4>89</vt:i4>
      </vt:variant>
    </vt:vector>
  </HeadingPairs>
  <TitlesOfParts>
    <vt:vector size="105" baseType="lpstr">
      <vt:lpstr>-apple-system</vt:lpstr>
      <vt:lpstr>Arial</vt:lpstr>
      <vt:lpstr>Arial Unicode MS</vt:lpstr>
      <vt:lpstr>Book Antiqua</vt:lpstr>
      <vt:lpstr>Calibri</vt:lpstr>
      <vt:lpstr>Consolas</vt:lpstr>
      <vt:lpstr>Constantia</vt:lpstr>
      <vt:lpstr>Courier New</vt:lpstr>
      <vt:lpstr>Helvetica Neue</vt:lpstr>
      <vt:lpstr>Lucida Console</vt:lpstr>
      <vt:lpstr>Segoe Semibold</vt:lpstr>
      <vt:lpstr>Times New Roman</vt:lpstr>
      <vt:lpstr>Wingdings</vt:lpstr>
      <vt:lpstr>Texno</vt:lpstr>
      <vt:lpstr>Фотография Photo Editor</vt:lpstr>
      <vt:lpstr>Document</vt:lpstr>
      <vt:lpstr>Курс Обработка больших данных</vt:lpstr>
      <vt:lpstr>Содержание</vt:lpstr>
      <vt:lpstr>О пользе гистограмм</vt:lpstr>
      <vt:lpstr>Гистограммы</vt:lpstr>
      <vt:lpstr>Гистограммы</vt:lpstr>
      <vt:lpstr>Гистограммы</vt:lpstr>
      <vt:lpstr>Гистограммы</vt:lpstr>
      <vt:lpstr>Гистограммы</vt:lpstr>
      <vt:lpstr>Гистограммы</vt:lpstr>
      <vt:lpstr>Гистограммы</vt:lpstr>
      <vt:lpstr>Контроль качества изделий с помощью гистограмм</vt:lpstr>
      <vt:lpstr>Гистограммы</vt:lpstr>
      <vt:lpstr>Гистограммы</vt:lpstr>
      <vt:lpstr>Гистограммы</vt:lpstr>
      <vt:lpstr>Гистограммы</vt:lpstr>
      <vt:lpstr>Гистограммы</vt:lpstr>
      <vt:lpstr>Гистограммы</vt:lpstr>
      <vt:lpstr>Гистограммы</vt:lpstr>
      <vt:lpstr>Гистограммы</vt:lpstr>
      <vt:lpstr>Гистограммы</vt:lpstr>
      <vt:lpstr>Гистограммы</vt:lpstr>
      <vt:lpstr>Гистограммы</vt:lpstr>
      <vt:lpstr>Гистограммы</vt:lpstr>
      <vt:lpstr>Гистограммы</vt:lpstr>
      <vt:lpstr>Гистограммы</vt:lpstr>
      <vt:lpstr>Гистограммы</vt:lpstr>
      <vt:lpstr>Гистограммы</vt:lpstr>
      <vt:lpstr>Гистограммы</vt:lpstr>
      <vt:lpstr>Гистограммы</vt:lpstr>
      <vt:lpstr>Импорт-Экспорт данных в R</vt:lpstr>
      <vt:lpstr>Импорт-Экспорт данных в R</vt:lpstr>
      <vt:lpstr>Импорт-Экспорт данных в R</vt:lpstr>
      <vt:lpstr>Импорт-Экспорт данных в R</vt:lpstr>
      <vt:lpstr>Импорт-Экспорт данных в R</vt:lpstr>
      <vt:lpstr>Импорт-Экспорт данных в R</vt:lpstr>
      <vt:lpstr>Импорт-Экспорт данных в R</vt:lpstr>
      <vt:lpstr>Импорт-Экспорт данных в R</vt:lpstr>
      <vt:lpstr>Импорт-Экспорт данных в R</vt:lpstr>
      <vt:lpstr>Boxplot</vt:lpstr>
      <vt:lpstr>Boxplot</vt:lpstr>
      <vt:lpstr>Boxplot</vt:lpstr>
      <vt:lpstr>Boxplot</vt:lpstr>
      <vt:lpstr>Boxplot</vt:lpstr>
      <vt:lpstr>Boxplot</vt:lpstr>
      <vt:lpstr>Boxplot</vt:lpstr>
      <vt:lpstr>Boxplot</vt:lpstr>
      <vt:lpstr>Boxplot</vt:lpstr>
      <vt:lpstr>Графический вывод в R</vt:lpstr>
      <vt:lpstr>Оформление графического вывода в R</vt:lpstr>
      <vt:lpstr>Оформление графического вывода в R</vt:lpstr>
      <vt:lpstr>Оформление графического вывода в R</vt:lpstr>
      <vt:lpstr>Оформление графического вывода в R</vt:lpstr>
      <vt:lpstr>Оформление графического вывода в R</vt:lpstr>
      <vt:lpstr>Оформление графического вывода в R</vt:lpstr>
      <vt:lpstr>Оформление графического вывода в R</vt:lpstr>
      <vt:lpstr>Оформление графического вывода в R</vt:lpstr>
      <vt:lpstr>Оформление графического вывода в R</vt:lpstr>
      <vt:lpstr>Оформление графического вывода в R</vt:lpstr>
      <vt:lpstr>Оформление графического вывода в R</vt:lpstr>
      <vt:lpstr>Оформление графического вывода в R</vt:lpstr>
      <vt:lpstr>Оформление графического вывода в R</vt:lpstr>
      <vt:lpstr>Оформление графического вывода в R</vt:lpstr>
      <vt:lpstr>Оформление графического вывода в R</vt:lpstr>
      <vt:lpstr>Оформление графического вывода в R</vt:lpstr>
      <vt:lpstr>Оформление графического вывода в R</vt:lpstr>
      <vt:lpstr>Оформление графического вывода в R</vt:lpstr>
      <vt:lpstr>Оформление графического вывода в R</vt:lpstr>
      <vt:lpstr>Оформление графического вывода в R</vt:lpstr>
      <vt:lpstr>Оформление графического вывода в R</vt:lpstr>
      <vt:lpstr>Оформление графического вывода в R</vt:lpstr>
      <vt:lpstr>Оформление графического вывода в R</vt:lpstr>
      <vt:lpstr>Оформление графического вывода в R</vt:lpstr>
      <vt:lpstr>Оформление графического вывода в R</vt:lpstr>
      <vt:lpstr>Презентация PowerPoint</vt:lpstr>
      <vt:lpstr>Для справки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Литература</vt:lpstr>
      <vt:lpstr>Литература</vt:lpstr>
      <vt:lpstr>Вопросы к экзамену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Обработка больших данных</dc:title>
  <dc:creator>Tatyana</dc:creator>
  <cp:lastModifiedBy>Tatyana</cp:lastModifiedBy>
  <cp:revision>221</cp:revision>
  <dcterms:created xsi:type="dcterms:W3CDTF">2015-01-17T09:44:41Z</dcterms:created>
  <dcterms:modified xsi:type="dcterms:W3CDTF">2026-02-23T20:08:19Z</dcterms:modified>
</cp:coreProperties>
</file>