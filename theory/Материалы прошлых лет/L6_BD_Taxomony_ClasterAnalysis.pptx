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Lst>
  <p:sldSz cy="7126275" cx="10277475"/>
  <p:notesSz cx="6858000" cy="9144000"/>
  <p:embeddedFontLst>
    <p:embeddedFont>
      <p:font typeface="Quattrocento Sans"/>
      <p:regular r:id="rId105"/>
      <p:bold r:id="rId106"/>
      <p:italic r:id="rId107"/>
      <p:boldItalic r:id="rId108"/>
    </p:embeddedFont>
    <p:embeddedFont>
      <p:font typeface="Helvetica Neue"/>
      <p:regular r:id="rId109"/>
      <p:bold r:id="rId110"/>
      <p:italic r:id="rId111"/>
      <p:boldItalic r:id="rId112"/>
    </p:embeddedFont>
    <p:embeddedFont>
      <p:font typeface="PT Sans"/>
      <p:regular r:id="rId113"/>
      <p:bold r:id="rId114"/>
      <p:italic r:id="rId115"/>
      <p:boldItalic r:id="rId1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45">
          <p15:clr>
            <a:srgbClr val="A4A3A4"/>
          </p15:clr>
        </p15:guide>
        <p15:guide id="2" pos="3237">
          <p15:clr>
            <a:srgbClr val="A4A3A4"/>
          </p15:clr>
        </p15:guide>
      </p15:sldGuideLst>
    </p:ext>
    <p:ext uri="GoogleSlidesCustomDataVersion2">
      <go:slidesCustomData xmlns:go="http://customooxmlschemas.google.com/" r:id="rId117" roundtripDataSignature="AMtx7mhPAYAd6QMpqYqA+pnLwnV8/Os1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C533315-98FE-4969-BD58-B3FFEE8B2AFD}">
  <a:tblStyle styleId="{DC533315-98FE-4969-BD58-B3FFEE8B2AF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45" orient="horz"/>
        <p:guide pos="3237"/>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QuattrocentoSans-italic.fntdata"/><Relationship Id="rId106" Type="http://schemas.openxmlformats.org/officeDocument/2006/relationships/font" Target="fonts/QuattrocentoSans-bold.fntdata"/><Relationship Id="rId105" Type="http://schemas.openxmlformats.org/officeDocument/2006/relationships/font" Target="fonts/QuattrocentoSans-regular.fntdata"/><Relationship Id="rId104" Type="http://schemas.openxmlformats.org/officeDocument/2006/relationships/slide" Target="slides/slide98.xml"/><Relationship Id="rId109" Type="http://schemas.openxmlformats.org/officeDocument/2006/relationships/font" Target="fonts/HelveticaNeue-regular.fntdata"/><Relationship Id="rId108" Type="http://schemas.openxmlformats.org/officeDocument/2006/relationships/font" Target="fonts/QuattrocentoSans-boldItalic.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7" Type="http://customschemas.google.com/relationships/presentationmetadata" Target="metadata"/><Relationship Id="rId116" Type="http://schemas.openxmlformats.org/officeDocument/2006/relationships/font" Target="fonts/PTSans-boldItalic.fntdata"/><Relationship Id="rId115" Type="http://schemas.openxmlformats.org/officeDocument/2006/relationships/font" Target="fonts/PTSans-italic.fntdata"/><Relationship Id="rId15" Type="http://schemas.openxmlformats.org/officeDocument/2006/relationships/slide" Target="slides/slide9.xml"/><Relationship Id="rId110" Type="http://schemas.openxmlformats.org/officeDocument/2006/relationships/font" Target="fonts/HelveticaNeue-bold.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PTSans-bold.fntdata"/><Relationship Id="rId18" Type="http://schemas.openxmlformats.org/officeDocument/2006/relationships/slide" Target="slides/slide12.xml"/><Relationship Id="rId113" Type="http://schemas.openxmlformats.org/officeDocument/2006/relationships/font" Target="fonts/PTSans-regular.fntdata"/><Relationship Id="rId112" Type="http://schemas.openxmlformats.org/officeDocument/2006/relationships/font" Target="fonts/HelveticaNeue-boldItalic.fntdata"/><Relationship Id="rId111" Type="http://schemas.openxmlformats.org/officeDocument/2006/relationships/font" Target="fonts/HelveticaNeue-italic.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ru-RU"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87" name="Google Shape;87;p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ru-RU"/>
              <a:t>В последнее время технологии больших данных развиваются высокими темпами. Возникает множество высокотехнологичных компаний, предоставляющих новые инструменты по анализу данных. В то же время растёт мировой спрос на специалистов, способных работать с большими объёмами данных, ставить задачи в этой области, понимать сложность и потенциальную стоимость таких работ. Предполагая нарастающий интерес к этой сфере в России, актуальным и адекватным решением будет систематизация опыта работы с технологиями и задачами анализа больших данных. Анализ образовательного рынка в области больших данных показывает нам, что онлайн-образование в сфере аналитики становится всё более популярным и массовым. Существует несколько курсов на английском языке, в т.ч. курсы Data Science and Big Data Analytics от EMC, ряд курсов на платформах Coursera и Udacity. Однако на русском языке подобные курсы пока отсутствуют. Настоящий курс призван ликвидировать данный пробел. Он представляет собой образовательный инструмент для введения в эту, без сомнения вдохновляющую и перспективную, область. Авторы курса предлагают слушателям окунуться в мир методов и технологий анализа больших данных на простых примерах.</a:t>
            </a:r>
            <a:endParaRPr/>
          </a:p>
        </p:txBody>
      </p:sp>
      <p:sp>
        <p:nvSpPr>
          <p:cNvPr id="89" name="Google Shape;89;p1: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96" name="Google Shape;96;p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21" name="Google Shape;121;p3: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30" name="Google Shape;130;p4: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38" name="Google Shape;138;p5:notes"/>
          <p:cNvSpPr/>
          <p:nvPr>
            <p:ph idx="2" type="sldImg"/>
          </p:nvPr>
        </p:nvSpPr>
        <p:spPr>
          <a:xfrm>
            <a:off x="955675" y="685800"/>
            <a:ext cx="494665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5: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8" name="Google Shape;148;p6: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6" name="Google Shape;156;p7: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64" name="Google Shape;164;p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a:t>Мудрость- это система, отвечающая  а выбор целей, обнаружение проблем, постановку задач.</a:t>
            </a:r>
            <a:endParaRPr/>
          </a:p>
          <a:p>
            <a:pPr indent="0" lvl="0" marL="0" rtl="0" algn="l">
              <a:spcBef>
                <a:spcPts val="360"/>
              </a:spcBef>
              <a:spcAft>
                <a:spcPts val="0"/>
              </a:spcAft>
              <a:buNone/>
            </a:pPr>
            <a:r>
              <a:rPr lang="ru-RU"/>
              <a:t>Интеллект строит планы на решение поставленных задач.</a:t>
            </a:r>
            <a:endParaRPr/>
          </a:p>
          <a:p>
            <a:pPr indent="0" lvl="0" marL="0" rtl="0" algn="l">
              <a:spcBef>
                <a:spcPts val="360"/>
              </a:spcBef>
              <a:spcAft>
                <a:spcPts val="0"/>
              </a:spcAft>
              <a:buNone/>
            </a:pPr>
            <a:r>
              <a:rPr lang="ru-RU"/>
              <a:t>Воля – система, организующая реальные действия, направленные на решение задач. </a:t>
            </a:r>
            <a:endParaRPr/>
          </a:p>
          <a:p>
            <a:pPr indent="0" lvl="0" marL="0" rtl="0" algn="l">
              <a:spcBef>
                <a:spcPts val="360"/>
              </a:spcBef>
              <a:spcAft>
                <a:spcPts val="0"/>
              </a:spcAft>
              <a:buNone/>
            </a:pPr>
            <a:r>
              <a:rPr lang="ru-RU"/>
              <a:t>ИИ -это еще не искусственный разум. Искусственный разум должке включать в себя блок формулировки проблем.</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79" name="Google Shape;179;p9: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188" name="Google Shape;188;p10: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8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199" name="Google Shape;199;p1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8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209" name="Google Shape;209;p1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2:notes"/>
          <p:cNvSpPr txBox="1"/>
          <p:nvPr>
            <p:ph idx="1" type="body"/>
          </p:nvPr>
        </p:nvSpPr>
        <p:spPr>
          <a:xfrm>
            <a:off x="685800" y="44958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b="1" i="1" lang="ru-RU" sz="800"/>
              <a:t>Задачи Data Analysis: </a:t>
            </a:r>
            <a:endParaRPr sz="800"/>
          </a:p>
          <a:p>
            <a:pPr indent="0" lvl="0" marL="0" rtl="0" algn="l">
              <a:lnSpc>
                <a:spcPct val="80000"/>
              </a:lnSpc>
              <a:spcBef>
                <a:spcPts val="240"/>
              </a:spcBef>
              <a:spcAft>
                <a:spcPts val="0"/>
              </a:spcAft>
              <a:buNone/>
            </a:pPr>
            <a:r>
              <a:rPr lang="ru-RU" sz="800"/>
              <a:t>1. Классификация (Classification)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(Nearest Neighbor) к-ближайших сосед (k-Nearest Neighbor) Байе-Совские сети (Bayesian Networks) индукция деревьев решений; нейронные сети (neural networks).</a:t>
            </a:r>
            <a:endParaRPr/>
          </a:p>
          <a:p>
            <a:pPr indent="0" lvl="0" marL="0" rtl="0" algn="l">
              <a:lnSpc>
                <a:spcPct val="80000"/>
              </a:lnSpc>
              <a:spcBef>
                <a:spcPts val="240"/>
              </a:spcBef>
              <a:spcAft>
                <a:spcPts val="0"/>
              </a:spcAft>
              <a:buNone/>
            </a:pPr>
            <a:r>
              <a:rPr lang="ru-RU" sz="800"/>
              <a:t>2. Кластеризация (Clustering) - результатом ее является разделение объектов на группы.</a:t>
            </a:r>
            <a:endParaRPr/>
          </a:p>
          <a:p>
            <a:pPr indent="0" lvl="0" marL="0" rtl="0" algn="l">
              <a:lnSpc>
                <a:spcPct val="80000"/>
              </a:lnSpc>
              <a:spcBef>
                <a:spcPts val="240"/>
              </a:spcBef>
              <a:spcAft>
                <a:spcPts val="0"/>
              </a:spcAft>
              <a:buNone/>
            </a:pPr>
            <a:r>
              <a:rPr lang="ru-RU" sz="800"/>
              <a:t>3. Ассоциация (Associations) - находят закономерности между связанными событиями в наборе данных. Наиболее известный алгоритм решения задачи поиска ассоциативных правил - алгоритм Аргиоги.</a:t>
            </a:r>
            <a:endParaRPr/>
          </a:p>
          <a:p>
            <a:pPr indent="0" lvl="0" marL="0" rtl="0" algn="l">
              <a:lnSpc>
                <a:spcPct val="80000"/>
              </a:lnSpc>
              <a:spcBef>
                <a:spcPts val="240"/>
              </a:spcBef>
              <a:spcAft>
                <a:spcPts val="0"/>
              </a:spcAft>
              <a:buNone/>
            </a:pPr>
            <a:r>
              <a:rPr lang="ru-RU" sz="800"/>
              <a:t>4. Последовательность (Sequence), или последовательная ассоциация (sequential association)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endParaRPr/>
          </a:p>
          <a:p>
            <a:pPr indent="0" lvl="0" marL="0" rtl="0" algn="l">
              <a:lnSpc>
                <a:spcPct val="80000"/>
              </a:lnSpc>
              <a:spcBef>
                <a:spcPts val="240"/>
              </a:spcBef>
              <a:spcAft>
                <a:spcPts val="0"/>
              </a:spcAft>
              <a:buNone/>
            </a:pPr>
            <a:r>
              <a:rPr lang="ru-RU" sz="800"/>
              <a:t>5. Прогнозирование (Forecasting)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endParaRPr/>
          </a:p>
          <a:p>
            <a:pPr indent="0" lvl="0" marL="0" rtl="0" algn="l">
              <a:lnSpc>
                <a:spcPct val="80000"/>
              </a:lnSpc>
              <a:spcBef>
                <a:spcPts val="240"/>
              </a:spcBef>
              <a:spcAft>
                <a:spcPts val="0"/>
              </a:spcAft>
              <a:buNone/>
            </a:pPr>
            <a:r>
              <a:rPr lang="ru-RU" sz="800"/>
              <a:t>6. Определение отклонений (Deviation Detection), анализ отклонений или выбросов - выявление и анализ данных, наиболее отличаются от общей численности данных, выявление нехарактерных шаблонов.</a:t>
            </a:r>
            <a:endParaRPr/>
          </a:p>
          <a:p>
            <a:pPr indent="0" lvl="0" marL="0" rtl="0" algn="l">
              <a:lnSpc>
                <a:spcPct val="80000"/>
              </a:lnSpc>
              <a:spcBef>
                <a:spcPts val="240"/>
              </a:spcBef>
              <a:spcAft>
                <a:spcPts val="0"/>
              </a:spcAft>
              <a:buNone/>
            </a:pPr>
            <a:r>
              <a:rPr lang="ru-RU" sz="800"/>
              <a:t>7. Оценка (Estimation) - сводится к прогнозу непрерывных значений признаков.</a:t>
            </a:r>
            <a:endParaRPr/>
          </a:p>
          <a:p>
            <a:pPr indent="0" lvl="0" marL="0" rtl="0" algn="l">
              <a:lnSpc>
                <a:spcPct val="80000"/>
              </a:lnSpc>
              <a:spcBef>
                <a:spcPts val="240"/>
              </a:spcBef>
              <a:spcAft>
                <a:spcPts val="0"/>
              </a:spcAft>
              <a:buNone/>
            </a:pPr>
            <a:r>
              <a:rPr lang="ru-RU" sz="800"/>
              <a:t>8. Анализ связей (Link Analysis) - задача нахождения зависимостей в наборе данных.</a:t>
            </a:r>
            <a:endParaRPr/>
          </a:p>
          <a:p>
            <a:pPr indent="0" lvl="0" marL="0" rtl="0" algn="l">
              <a:lnSpc>
                <a:spcPct val="80000"/>
              </a:lnSpc>
              <a:spcBef>
                <a:spcPts val="240"/>
              </a:spcBef>
              <a:spcAft>
                <a:spcPts val="0"/>
              </a:spcAft>
              <a:buNone/>
            </a:pPr>
            <a:r>
              <a:rPr lang="ru-RU" sz="800"/>
              <a:t>9. Визуализация (Visualization, Graph Mining)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endParaRPr/>
          </a:p>
          <a:p>
            <a:pPr indent="0" lvl="0" marL="0" rtl="0" algn="l">
              <a:lnSpc>
                <a:spcPct val="80000"/>
              </a:lnSpc>
              <a:spcBef>
                <a:spcPts val="240"/>
              </a:spcBef>
              <a:spcAft>
                <a:spcPts val="0"/>
              </a:spcAft>
              <a:buNone/>
            </a:pPr>
            <a:r>
              <a:rPr lang="ru-RU" sz="800"/>
              <a:t>10. Подведение итогов (Summarization) - описание конкретных групп объектов с помощью рассматриваемого набора данных.</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222" name="Google Shape;222;p13: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b="1" i="1" lang="ru-RU" sz="800"/>
              <a:t>Задачи Data Analysis: </a:t>
            </a:r>
            <a:endParaRPr sz="800"/>
          </a:p>
          <a:p>
            <a:pPr indent="0" lvl="0" marL="0" rtl="0" algn="l">
              <a:lnSpc>
                <a:spcPct val="80000"/>
              </a:lnSpc>
              <a:spcBef>
                <a:spcPts val="240"/>
              </a:spcBef>
              <a:spcAft>
                <a:spcPts val="0"/>
              </a:spcAft>
              <a:buNone/>
            </a:pPr>
            <a:r>
              <a:rPr lang="ru-RU" sz="800"/>
              <a:t>1. Классификация (Classification)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(Nearest Neighbor) к-ближайших сосед (k-Nearest Neighbor) Байе-Совские сети (Bayesian Networks) индукция деревьев решений; нейронные сети (neural networks).</a:t>
            </a:r>
            <a:endParaRPr/>
          </a:p>
          <a:p>
            <a:pPr indent="0" lvl="0" marL="0" rtl="0" algn="l">
              <a:lnSpc>
                <a:spcPct val="80000"/>
              </a:lnSpc>
              <a:spcBef>
                <a:spcPts val="240"/>
              </a:spcBef>
              <a:spcAft>
                <a:spcPts val="0"/>
              </a:spcAft>
              <a:buNone/>
            </a:pPr>
            <a:r>
              <a:rPr lang="ru-RU" sz="800"/>
              <a:t>2. Кластеризация (Clustering) - результатом ее является разделение объектов на группы.</a:t>
            </a:r>
            <a:endParaRPr/>
          </a:p>
          <a:p>
            <a:pPr indent="0" lvl="0" marL="0" rtl="0" algn="l">
              <a:lnSpc>
                <a:spcPct val="80000"/>
              </a:lnSpc>
              <a:spcBef>
                <a:spcPts val="240"/>
              </a:spcBef>
              <a:spcAft>
                <a:spcPts val="0"/>
              </a:spcAft>
              <a:buNone/>
            </a:pPr>
            <a:r>
              <a:rPr lang="ru-RU" sz="800"/>
              <a:t>3. Ассоциация (Associations) - находят закономерности между связанными событиями в наборе данных. Наиболее известный алгоритм решения задачи поиска ассоциативных правил - алгоритм Аргиоги.</a:t>
            </a:r>
            <a:endParaRPr/>
          </a:p>
          <a:p>
            <a:pPr indent="0" lvl="0" marL="0" rtl="0" algn="l">
              <a:lnSpc>
                <a:spcPct val="80000"/>
              </a:lnSpc>
              <a:spcBef>
                <a:spcPts val="240"/>
              </a:spcBef>
              <a:spcAft>
                <a:spcPts val="0"/>
              </a:spcAft>
              <a:buNone/>
            </a:pPr>
            <a:r>
              <a:rPr lang="ru-RU" sz="800"/>
              <a:t>4. Последовательность (Sequence), или последовательная ассоциация (sequential association)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endParaRPr/>
          </a:p>
          <a:p>
            <a:pPr indent="0" lvl="0" marL="0" rtl="0" algn="l">
              <a:lnSpc>
                <a:spcPct val="80000"/>
              </a:lnSpc>
              <a:spcBef>
                <a:spcPts val="240"/>
              </a:spcBef>
              <a:spcAft>
                <a:spcPts val="0"/>
              </a:spcAft>
              <a:buNone/>
            </a:pPr>
            <a:r>
              <a:rPr lang="ru-RU" sz="800"/>
              <a:t>5. Прогнозирование (Forecasting)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endParaRPr/>
          </a:p>
          <a:p>
            <a:pPr indent="0" lvl="0" marL="0" rtl="0" algn="l">
              <a:lnSpc>
                <a:spcPct val="80000"/>
              </a:lnSpc>
              <a:spcBef>
                <a:spcPts val="240"/>
              </a:spcBef>
              <a:spcAft>
                <a:spcPts val="0"/>
              </a:spcAft>
              <a:buNone/>
            </a:pPr>
            <a:r>
              <a:rPr lang="ru-RU" sz="800"/>
              <a:t>6. Определение отклонений (Deviation Detection), анализ отклонений или выбросов - выявление и анализ данных, наиболее отличаются от общей численности данных, выявление нехарактерных шаблонов.</a:t>
            </a:r>
            <a:endParaRPr/>
          </a:p>
          <a:p>
            <a:pPr indent="0" lvl="0" marL="0" rtl="0" algn="l">
              <a:lnSpc>
                <a:spcPct val="80000"/>
              </a:lnSpc>
              <a:spcBef>
                <a:spcPts val="240"/>
              </a:spcBef>
              <a:spcAft>
                <a:spcPts val="0"/>
              </a:spcAft>
              <a:buNone/>
            </a:pPr>
            <a:r>
              <a:rPr lang="ru-RU" sz="800"/>
              <a:t>7. Оценка (Estimation) - сводится к прогнозу непрерывных значений признаков.</a:t>
            </a:r>
            <a:endParaRPr/>
          </a:p>
          <a:p>
            <a:pPr indent="0" lvl="0" marL="0" rtl="0" algn="l">
              <a:lnSpc>
                <a:spcPct val="80000"/>
              </a:lnSpc>
              <a:spcBef>
                <a:spcPts val="240"/>
              </a:spcBef>
              <a:spcAft>
                <a:spcPts val="0"/>
              </a:spcAft>
              <a:buNone/>
            </a:pPr>
            <a:r>
              <a:rPr lang="ru-RU" sz="800"/>
              <a:t>8. Анализ связей (Link Analysis) - задача нахождения зависимостей в наборе данных.</a:t>
            </a:r>
            <a:endParaRPr/>
          </a:p>
          <a:p>
            <a:pPr indent="0" lvl="0" marL="0" rtl="0" algn="l">
              <a:lnSpc>
                <a:spcPct val="80000"/>
              </a:lnSpc>
              <a:spcBef>
                <a:spcPts val="240"/>
              </a:spcBef>
              <a:spcAft>
                <a:spcPts val="0"/>
              </a:spcAft>
              <a:buNone/>
            </a:pPr>
            <a:r>
              <a:rPr lang="ru-RU" sz="800"/>
              <a:t>9. Визуализация (Visualization, Graph Mining)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endParaRPr/>
          </a:p>
          <a:p>
            <a:pPr indent="0" lvl="0" marL="0" rtl="0" algn="l">
              <a:lnSpc>
                <a:spcPct val="80000"/>
              </a:lnSpc>
              <a:spcBef>
                <a:spcPts val="240"/>
              </a:spcBef>
              <a:spcAft>
                <a:spcPts val="0"/>
              </a:spcAft>
              <a:buNone/>
            </a:pPr>
            <a:r>
              <a:rPr lang="ru-RU" sz="800"/>
              <a:t>10. Подведение итогов (Summarization) - описание конкретных групп объектов с помощью рассматриваемого набора данных.</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231" name="Google Shape;231;p14: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t/>
            </a:r>
            <a:endParaRPr sz="8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241" name="Google Shape;241;p15: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ru-RU" sz="800"/>
              <a:t>Задачи, решаемые Data Analysis</a:t>
            </a:r>
            <a:endParaRPr sz="800"/>
          </a:p>
          <a:p>
            <a:pPr indent="0" lvl="0" marL="0" rtl="0" algn="l">
              <a:lnSpc>
                <a:spcPct val="80000"/>
              </a:lnSpc>
              <a:spcBef>
                <a:spcPts val="240"/>
              </a:spcBef>
              <a:spcAft>
                <a:spcPts val="0"/>
              </a:spcAft>
              <a:buNone/>
            </a:pPr>
            <a:r>
              <a:rPr lang="ru-RU" sz="800"/>
              <a:t>· Классификация — отнесение входного вектора (объекта, события, наблюдения) к одному из заранее известных классов.</a:t>
            </a:r>
            <a:endParaRPr/>
          </a:p>
          <a:p>
            <a:pPr indent="0" lvl="0" marL="0" rtl="0" algn="l">
              <a:lnSpc>
                <a:spcPct val="80000"/>
              </a:lnSpc>
              <a:spcBef>
                <a:spcPts val="240"/>
              </a:spcBef>
              <a:spcAft>
                <a:spcPts val="0"/>
              </a:spcAft>
              <a:buNone/>
            </a:pPr>
            <a:r>
              <a:rPr lang="ru-RU" sz="800"/>
              <a:t>· Кластеризация — разделение множества входных векторов на группы (кластеры) по степени «похожести» друг на друга.</a:t>
            </a:r>
            <a:endParaRPr/>
          </a:p>
          <a:p>
            <a:pPr indent="0" lvl="0" marL="0" rtl="0" algn="l">
              <a:lnSpc>
                <a:spcPct val="80000"/>
              </a:lnSpc>
              <a:spcBef>
                <a:spcPts val="240"/>
              </a:spcBef>
              <a:spcAft>
                <a:spcPts val="0"/>
              </a:spcAft>
              <a:buNone/>
            </a:pPr>
            <a:r>
              <a:rPr lang="ru-RU" sz="800"/>
              <a:t>· Прогнозирование</a:t>
            </a:r>
            <a:endParaRPr/>
          </a:p>
          <a:p>
            <a:pPr indent="0" lvl="0" marL="0" rtl="0" algn="l">
              <a:lnSpc>
                <a:spcPct val="80000"/>
              </a:lnSpc>
              <a:spcBef>
                <a:spcPts val="240"/>
              </a:spcBef>
              <a:spcAft>
                <a:spcPts val="0"/>
              </a:spcAft>
              <a:buNone/>
            </a:pPr>
            <a:r>
              <a:rPr lang="ru-RU" sz="800"/>
              <a:t>· Сокращение описания — для визуализации данных, лаконизма моделей, упрощения счета и интерпретации, сжатия объемов собираемой и хранимой информации.</a:t>
            </a:r>
            <a:endParaRPr/>
          </a:p>
          <a:p>
            <a:pPr indent="0" lvl="0" marL="0" rtl="0" algn="l">
              <a:lnSpc>
                <a:spcPct val="80000"/>
              </a:lnSpc>
              <a:spcBef>
                <a:spcPts val="240"/>
              </a:spcBef>
              <a:spcAft>
                <a:spcPts val="0"/>
              </a:spcAft>
              <a:buNone/>
            </a:pPr>
            <a:r>
              <a:rPr lang="ru-RU" sz="800"/>
              <a:t>· Ассоциация — поиск повторяющихся образцов. Например, поиск «устойчивых связей в корзине покупателя» (англ. market basket analysis) — вместе с пивом часто покупают орешки.</a:t>
            </a:r>
            <a:endParaRPr/>
          </a:p>
          <a:p>
            <a:pPr indent="0" lvl="0" marL="0" rtl="0" algn="l">
              <a:lnSpc>
                <a:spcPct val="80000"/>
              </a:lnSpc>
              <a:spcBef>
                <a:spcPts val="240"/>
              </a:spcBef>
              <a:spcAft>
                <a:spcPts val="0"/>
              </a:spcAft>
              <a:buNone/>
            </a:pPr>
            <a:r>
              <a:rPr lang="ru-RU" sz="800"/>
              <a:t>· Анализ отклонений — Например, выявление нетипичной сетевой активности позволяет обнаружить вредоносные программы.</a:t>
            </a:r>
            <a:endParaRPr/>
          </a:p>
          <a:p>
            <a:pPr indent="0" lvl="0" marL="0" rtl="0" algn="l">
              <a:lnSpc>
                <a:spcPct val="80000"/>
              </a:lnSpc>
              <a:spcBef>
                <a:spcPts val="240"/>
              </a:spcBef>
              <a:spcAft>
                <a:spcPts val="0"/>
              </a:spcAft>
              <a:buNone/>
            </a:pPr>
            <a:r>
              <a:rPr lang="ru-RU" sz="800"/>
              <a:t>· Визуализация</a:t>
            </a:r>
            <a:endParaRPr/>
          </a:p>
          <a:p>
            <a:pPr indent="0" lvl="0" marL="0" rtl="0" algn="l">
              <a:lnSpc>
                <a:spcPct val="80000"/>
              </a:lnSpc>
              <a:spcBef>
                <a:spcPts val="240"/>
              </a:spcBef>
              <a:spcAft>
                <a:spcPts val="0"/>
              </a:spcAft>
              <a:buNone/>
            </a:pPr>
            <a:r>
              <a:rPr b="1" i="1" lang="ru-RU" sz="800"/>
              <a:t>Задачи Data Analysis: </a:t>
            </a:r>
            <a:endParaRPr sz="800"/>
          </a:p>
          <a:p>
            <a:pPr indent="0" lvl="0" marL="0" rtl="0" algn="l">
              <a:lnSpc>
                <a:spcPct val="80000"/>
              </a:lnSpc>
              <a:spcBef>
                <a:spcPts val="240"/>
              </a:spcBef>
              <a:spcAft>
                <a:spcPts val="0"/>
              </a:spcAft>
              <a:buNone/>
            </a:pPr>
            <a:r>
              <a:rPr lang="ru-RU" sz="800"/>
              <a:t>1. Классификация (Classification)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(Nearest Neighbor) к-ближайших сосед (k-Nearest Neighbor) Байе-Совские сети (Bayesian Networks) индукция деревьев решений; нейронные сети (neural networks).</a:t>
            </a:r>
            <a:endParaRPr/>
          </a:p>
          <a:p>
            <a:pPr indent="0" lvl="0" marL="0" rtl="0" algn="l">
              <a:lnSpc>
                <a:spcPct val="80000"/>
              </a:lnSpc>
              <a:spcBef>
                <a:spcPts val="240"/>
              </a:spcBef>
              <a:spcAft>
                <a:spcPts val="0"/>
              </a:spcAft>
              <a:buNone/>
            </a:pPr>
            <a:r>
              <a:rPr lang="ru-RU" sz="800"/>
              <a:t>2. Кластеризация (Clustering) - результатом ее является разделение объектов на группы.</a:t>
            </a:r>
            <a:endParaRPr/>
          </a:p>
          <a:p>
            <a:pPr indent="0" lvl="0" marL="0" rtl="0" algn="l">
              <a:lnSpc>
                <a:spcPct val="80000"/>
              </a:lnSpc>
              <a:spcBef>
                <a:spcPts val="240"/>
              </a:spcBef>
              <a:spcAft>
                <a:spcPts val="0"/>
              </a:spcAft>
              <a:buNone/>
            </a:pPr>
            <a:r>
              <a:rPr lang="ru-RU" sz="800"/>
              <a:t>3. Ассоциация (Associations) - находят закономерности между связанными событиями в наборе данных. Наиболее известный алгоритм решения задачи поиска ассоциативных правил - алгоритм Аргиоги.</a:t>
            </a:r>
            <a:endParaRPr/>
          </a:p>
          <a:p>
            <a:pPr indent="0" lvl="0" marL="0" rtl="0" algn="l">
              <a:lnSpc>
                <a:spcPct val="80000"/>
              </a:lnSpc>
              <a:spcBef>
                <a:spcPts val="240"/>
              </a:spcBef>
              <a:spcAft>
                <a:spcPts val="0"/>
              </a:spcAft>
              <a:buNone/>
            </a:pPr>
            <a:r>
              <a:rPr lang="ru-RU" sz="800"/>
              <a:t>4. Последовательность (Sequence), или последовательная ассоциация (sequential association)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endParaRPr/>
          </a:p>
          <a:p>
            <a:pPr indent="0" lvl="0" marL="0" rtl="0" algn="l">
              <a:lnSpc>
                <a:spcPct val="80000"/>
              </a:lnSpc>
              <a:spcBef>
                <a:spcPts val="240"/>
              </a:spcBef>
              <a:spcAft>
                <a:spcPts val="0"/>
              </a:spcAft>
              <a:buNone/>
            </a:pPr>
            <a:r>
              <a:rPr lang="ru-RU" sz="800"/>
              <a:t>5. Прогнозирование (Forecasting)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endParaRPr/>
          </a:p>
          <a:p>
            <a:pPr indent="0" lvl="0" marL="0" rtl="0" algn="l">
              <a:lnSpc>
                <a:spcPct val="80000"/>
              </a:lnSpc>
              <a:spcBef>
                <a:spcPts val="240"/>
              </a:spcBef>
              <a:spcAft>
                <a:spcPts val="0"/>
              </a:spcAft>
              <a:buNone/>
            </a:pPr>
            <a:r>
              <a:rPr lang="ru-RU" sz="800"/>
              <a:t>6. Определение отклонений (Deviation Detection), анализ отклонений или выбросов - выявление и анализ данных, наиболее отличаются от общей численности данных, выявление нехарактерных шаблонов.</a:t>
            </a:r>
            <a:endParaRPr/>
          </a:p>
          <a:p>
            <a:pPr indent="0" lvl="0" marL="0" rtl="0" algn="l">
              <a:lnSpc>
                <a:spcPct val="80000"/>
              </a:lnSpc>
              <a:spcBef>
                <a:spcPts val="240"/>
              </a:spcBef>
              <a:spcAft>
                <a:spcPts val="0"/>
              </a:spcAft>
              <a:buNone/>
            </a:pPr>
            <a:r>
              <a:rPr lang="ru-RU" sz="800"/>
              <a:t>7. Оценка (Estimation) - сводится к прогнозу непрерывных значений признаков.</a:t>
            </a:r>
            <a:endParaRPr/>
          </a:p>
          <a:p>
            <a:pPr indent="0" lvl="0" marL="0" rtl="0" algn="l">
              <a:lnSpc>
                <a:spcPct val="80000"/>
              </a:lnSpc>
              <a:spcBef>
                <a:spcPts val="240"/>
              </a:spcBef>
              <a:spcAft>
                <a:spcPts val="0"/>
              </a:spcAft>
              <a:buNone/>
            </a:pPr>
            <a:r>
              <a:rPr lang="ru-RU" sz="800"/>
              <a:t>8. Анализ связей (Link Analysis) - задача нахождения зависимостей в наборе данных.</a:t>
            </a:r>
            <a:endParaRPr/>
          </a:p>
          <a:p>
            <a:pPr indent="0" lvl="0" marL="0" rtl="0" algn="l">
              <a:lnSpc>
                <a:spcPct val="80000"/>
              </a:lnSpc>
              <a:spcBef>
                <a:spcPts val="240"/>
              </a:spcBef>
              <a:spcAft>
                <a:spcPts val="0"/>
              </a:spcAft>
              <a:buNone/>
            </a:pPr>
            <a:r>
              <a:rPr lang="ru-RU" sz="800"/>
              <a:t>9. Визуализация (Visualization, Graph Mining)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endParaRPr/>
          </a:p>
          <a:p>
            <a:pPr indent="0" lvl="0" marL="0" rtl="0" algn="l">
              <a:lnSpc>
                <a:spcPct val="80000"/>
              </a:lnSpc>
              <a:spcBef>
                <a:spcPts val="240"/>
              </a:spcBef>
              <a:spcAft>
                <a:spcPts val="0"/>
              </a:spcAft>
              <a:buNone/>
            </a:pPr>
            <a:r>
              <a:rPr lang="ru-RU" sz="800"/>
              <a:t>10. Подведение итогов (Summarization) - описание конкретных групп объектов с помощью рассматриваемого набора данных.</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250" name="Google Shape;250;p16: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ru-RU" sz="800"/>
              <a:t>Задачи, решаемые Data Analysis</a:t>
            </a:r>
            <a:endParaRPr sz="800"/>
          </a:p>
          <a:p>
            <a:pPr indent="0" lvl="0" marL="0" rtl="0" algn="l">
              <a:lnSpc>
                <a:spcPct val="80000"/>
              </a:lnSpc>
              <a:spcBef>
                <a:spcPts val="240"/>
              </a:spcBef>
              <a:spcAft>
                <a:spcPts val="0"/>
              </a:spcAft>
              <a:buNone/>
            </a:pPr>
            <a:r>
              <a:rPr lang="ru-RU" sz="800"/>
              <a:t>· Классификация — отнесение входного вектора (объекта, события, наблюдения) к одному из заранее известных классов.</a:t>
            </a:r>
            <a:endParaRPr/>
          </a:p>
          <a:p>
            <a:pPr indent="0" lvl="0" marL="0" rtl="0" algn="l">
              <a:lnSpc>
                <a:spcPct val="80000"/>
              </a:lnSpc>
              <a:spcBef>
                <a:spcPts val="240"/>
              </a:spcBef>
              <a:spcAft>
                <a:spcPts val="0"/>
              </a:spcAft>
              <a:buNone/>
            </a:pPr>
            <a:r>
              <a:rPr lang="ru-RU" sz="800"/>
              <a:t>· Кластеризация — разделение множества входных векторов на группы (кластеры) по степени «похожести» друг на друга.</a:t>
            </a:r>
            <a:endParaRPr/>
          </a:p>
          <a:p>
            <a:pPr indent="0" lvl="0" marL="0" rtl="0" algn="l">
              <a:lnSpc>
                <a:spcPct val="80000"/>
              </a:lnSpc>
              <a:spcBef>
                <a:spcPts val="240"/>
              </a:spcBef>
              <a:spcAft>
                <a:spcPts val="0"/>
              </a:spcAft>
              <a:buNone/>
            </a:pPr>
            <a:r>
              <a:rPr lang="ru-RU" sz="800"/>
              <a:t>· Прогнозирование</a:t>
            </a:r>
            <a:endParaRPr/>
          </a:p>
          <a:p>
            <a:pPr indent="0" lvl="0" marL="0" rtl="0" algn="l">
              <a:lnSpc>
                <a:spcPct val="80000"/>
              </a:lnSpc>
              <a:spcBef>
                <a:spcPts val="240"/>
              </a:spcBef>
              <a:spcAft>
                <a:spcPts val="0"/>
              </a:spcAft>
              <a:buNone/>
            </a:pPr>
            <a:r>
              <a:rPr lang="ru-RU" sz="800"/>
              <a:t>· Сокращение описания — для визуализации данных, лаконизма моделей, упрощения счета и интерпретации, сжатия объемов собираемой и хранимой информации.</a:t>
            </a:r>
            <a:endParaRPr/>
          </a:p>
          <a:p>
            <a:pPr indent="0" lvl="0" marL="0" rtl="0" algn="l">
              <a:lnSpc>
                <a:spcPct val="80000"/>
              </a:lnSpc>
              <a:spcBef>
                <a:spcPts val="240"/>
              </a:spcBef>
              <a:spcAft>
                <a:spcPts val="0"/>
              </a:spcAft>
              <a:buNone/>
            </a:pPr>
            <a:r>
              <a:rPr lang="ru-RU" sz="800"/>
              <a:t>· Ассоциация — поиск повторяющихся образцов. Например, поиск «устойчивых связей в корзине покупателя» (англ. market basket analysis) — вместе с пивом часто покупают орешки.</a:t>
            </a:r>
            <a:endParaRPr/>
          </a:p>
          <a:p>
            <a:pPr indent="0" lvl="0" marL="0" rtl="0" algn="l">
              <a:lnSpc>
                <a:spcPct val="80000"/>
              </a:lnSpc>
              <a:spcBef>
                <a:spcPts val="240"/>
              </a:spcBef>
              <a:spcAft>
                <a:spcPts val="0"/>
              </a:spcAft>
              <a:buNone/>
            </a:pPr>
            <a:r>
              <a:rPr lang="ru-RU" sz="800"/>
              <a:t>· Анализ отклонений — Например, выявление нетипичной сетевой активности позволяет обнаружить вредоносные программы.</a:t>
            </a:r>
            <a:endParaRPr/>
          </a:p>
          <a:p>
            <a:pPr indent="0" lvl="0" marL="0" rtl="0" algn="l">
              <a:lnSpc>
                <a:spcPct val="80000"/>
              </a:lnSpc>
              <a:spcBef>
                <a:spcPts val="240"/>
              </a:spcBef>
              <a:spcAft>
                <a:spcPts val="0"/>
              </a:spcAft>
              <a:buNone/>
            </a:pPr>
            <a:r>
              <a:rPr lang="ru-RU" sz="800"/>
              <a:t>· Визуализация</a:t>
            </a:r>
            <a:endParaRPr/>
          </a:p>
          <a:p>
            <a:pPr indent="0" lvl="0" marL="0" rtl="0" algn="l">
              <a:lnSpc>
                <a:spcPct val="80000"/>
              </a:lnSpc>
              <a:spcBef>
                <a:spcPts val="240"/>
              </a:spcBef>
              <a:spcAft>
                <a:spcPts val="0"/>
              </a:spcAft>
              <a:buNone/>
            </a:pPr>
            <a:r>
              <a:rPr b="1" i="1" lang="ru-RU" sz="800"/>
              <a:t>Задачи Data Analysis: </a:t>
            </a:r>
            <a:endParaRPr sz="800"/>
          </a:p>
          <a:p>
            <a:pPr indent="0" lvl="0" marL="0" rtl="0" algn="l">
              <a:lnSpc>
                <a:spcPct val="80000"/>
              </a:lnSpc>
              <a:spcBef>
                <a:spcPts val="240"/>
              </a:spcBef>
              <a:spcAft>
                <a:spcPts val="0"/>
              </a:spcAft>
              <a:buNone/>
            </a:pPr>
            <a:r>
              <a:rPr lang="ru-RU" sz="800"/>
              <a:t>1. Классификация (Classification)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(Nearest Neighbor) к-ближайших сосед (k-Nearest Neighbor) Байе-Совские сети (Bayesian Networks) индукция деревьев решений; нейронные сети (neural networks).</a:t>
            </a:r>
            <a:endParaRPr/>
          </a:p>
          <a:p>
            <a:pPr indent="0" lvl="0" marL="0" rtl="0" algn="l">
              <a:lnSpc>
                <a:spcPct val="80000"/>
              </a:lnSpc>
              <a:spcBef>
                <a:spcPts val="240"/>
              </a:spcBef>
              <a:spcAft>
                <a:spcPts val="0"/>
              </a:spcAft>
              <a:buNone/>
            </a:pPr>
            <a:r>
              <a:rPr lang="ru-RU" sz="800"/>
              <a:t>2. Кластеризация (Clustering) - результатом ее является разделение объектов на группы.</a:t>
            </a:r>
            <a:endParaRPr/>
          </a:p>
          <a:p>
            <a:pPr indent="0" lvl="0" marL="0" rtl="0" algn="l">
              <a:lnSpc>
                <a:spcPct val="80000"/>
              </a:lnSpc>
              <a:spcBef>
                <a:spcPts val="240"/>
              </a:spcBef>
              <a:spcAft>
                <a:spcPts val="0"/>
              </a:spcAft>
              <a:buNone/>
            </a:pPr>
            <a:r>
              <a:rPr lang="ru-RU" sz="800"/>
              <a:t>3. Ассоциация (Associations) - находят закономерности между связанными событиями в наборе данных. Наиболее известный алгоритм решения задачи поиска ассоциативных правил - алгоритм Аргиоги.</a:t>
            </a:r>
            <a:endParaRPr/>
          </a:p>
          <a:p>
            <a:pPr indent="0" lvl="0" marL="0" rtl="0" algn="l">
              <a:lnSpc>
                <a:spcPct val="80000"/>
              </a:lnSpc>
              <a:spcBef>
                <a:spcPts val="240"/>
              </a:spcBef>
              <a:spcAft>
                <a:spcPts val="0"/>
              </a:spcAft>
              <a:buNone/>
            </a:pPr>
            <a:r>
              <a:rPr lang="ru-RU" sz="800"/>
              <a:t>4. Последовательность (Sequence), или последовательная ассоциация (sequential association)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endParaRPr/>
          </a:p>
          <a:p>
            <a:pPr indent="0" lvl="0" marL="0" rtl="0" algn="l">
              <a:lnSpc>
                <a:spcPct val="80000"/>
              </a:lnSpc>
              <a:spcBef>
                <a:spcPts val="240"/>
              </a:spcBef>
              <a:spcAft>
                <a:spcPts val="0"/>
              </a:spcAft>
              <a:buNone/>
            </a:pPr>
            <a:r>
              <a:rPr lang="ru-RU" sz="800"/>
              <a:t>5. Прогнозирование (Forecasting)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endParaRPr/>
          </a:p>
          <a:p>
            <a:pPr indent="0" lvl="0" marL="0" rtl="0" algn="l">
              <a:lnSpc>
                <a:spcPct val="80000"/>
              </a:lnSpc>
              <a:spcBef>
                <a:spcPts val="240"/>
              </a:spcBef>
              <a:spcAft>
                <a:spcPts val="0"/>
              </a:spcAft>
              <a:buNone/>
            </a:pPr>
            <a:r>
              <a:rPr lang="ru-RU" sz="800"/>
              <a:t>6. Определение отклонений (Deviation Detection), анализ отклонений или выбросов - выявление и анализ данных, наиболее отличаются от общей численности данных, выявление нехарактерных шаблонов.</a:t>
            </a:r>
            <a:endParaRPr/>
          </a:p>
          <a:p>
            <a:pPr indent="0" lvl="0" marL="0" rtl="0" algn="l">
              <a:lnSpc>
                <a:spcPct val="80000"/>
              </a:lnSpc>
              <a:spcBef>
                <a:spcPts val="240"/>
              </a:spcBef>
              <a:spcAft>
                <a:spcPts val="0"/>
              </a:spcAft>
              <a:buNone/>
            </a:pPr>
            <a:r>
              <a:rPr lang="ru-RU" sz="800"/>
              <a:t>7. Оценка (Estimation) - сводится к прогнозу непрерывных значений признаков.</a:t>
            </a:r>
            <a:endParaRPr/>
          </a:p>
          <a:p>
            <a:pPr indent="0" lvl="0" marL="0" rtl="0" algn="l">
              <a:lnSpc>
                <a:spcPct val="80000"/>
              </a:lnSpc>
              <a:spcBef>
                <a:spcPts val="240"/>
              </a:spcBef>
              <a:spcAft>
                <a:spcPts val="0"/>
              </a:spcAft>
              <a:buNone/>
            </a:pPr>
            <a:r>
              <a:rPr lang="ru-RU" sz="800"/>
              <a:t>8. Анализ связей (Link Analysis) - задача нахождения зависимостей в наборе данных.</a:t>
            </a:r>
            <a:endParaRPr/>
          </a:p>
          <a:p>
            <a:pPr indent="0" lvl="0" marL="0" rtl="0" algn="l">
              <a:lnSpc>
                <a:spcPct val="80000"/>
              </a:lnSpc>
              <a:spcBef>
                <a:spcPts val="240"/>
              </a:spcBef>
              <a:spcAft>
                <a:spcPts val="0"/>
              </a:spcAft>
              <a:buNone/>
            </a:pPr>
            <a:r>
              <a:rPr lang="ru-RU" sz="800"/>
              <a:t>9. Визуализация (Visualization, Graph Mining)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endParaRPr/>
          </a:p>
          <a:p>
            <a:pPr indent="0" lvl="0" marL="0" rtl="0" algn="l">
              <a:lnSpc>
                <a:spcPct val="80000"/>
              </a:lnSpc>
              <a:spcBef>
                <a:spcPts val="240"/>
              </a:spcBef>
              <a:spcAft>
                <a:spcPts val="0"/>
              </a:spcAft>
              <a:buNone/>
            </a:pPr>
            <a:r>
              <a:rPr lang="ru-RU" sz="800"/>
              <a:t>10. Подведение итогов (Summarization) - описание конкретных групп объектов с помощью рассматриваемого набора данных.</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259" name="Google Shape;259;p17: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ru-RU" sz="800"/>
              <a:t>Задачи, решаемые Data Analysis</a:t>
            </a:r>
            <a:endParaRPr sz="800"/>
          </a:p>
          <a:p>
            <a:pPr indent="0" lvl="0" marL="0" rtl="0" algn="l">
              <a:lnSpc>
                <a:spcPct val="80000"/>
              </a:lnSpc>
              <a:spcBef>
                <a:spcPts val="240"/>
              </a:spcBef>
              <a:spcAft>
                <a:spcPts val="0"/>
              </a:spcAft>
              <a:buNone/>
            </a:pPr>
            <a:r>
              <a:rPr lang="ru-RU" sz="800"/>
              <a:t>· Классификация — отнесение входного вектора (объекта, события, наблюдения) к одному из заранее известных классов.</a:t>
            </a:r>
            <a:endParaRPr/>
          </a:p>
          <a:p>
            <a:pPr indent="0" lvl="0" marL="0" rtl="0" algn="l">
              <a:lnSpc>
                <a:spcPct val="80000"/>
              </a:lnSpc>
              <a:spcBef>
                <a:spcPts val="240"/>
              </a:spcBef>
              <a:spcAft>
                <a:spcPts val="0"/>
              </a:spcAft>
              <a:buNone/>
            </a:pPr>
            <a:r>
              <a:rPr lang="ru-RU" sz="800"/>
              <a:t>· Кластеризация — разделение множества входных векторов на группы (кластеры) по степени «похожести» друг на друга.</a:t>
            </a:r>
            <a:endParaRPr/>
          </a:p>
          <a:p>
            <a:pPr indent="0" lvl="0" marL="0" rtl="0" algn="l">
              <a:lnSpc>
                <a:spcPct val="80000"/>
              </a:lnSpc>
              <a:spcBef>
                <a:spcPts val="240"/>
              </a:spcBef>
              <a:spcAft>
                <a:spcPts val="0"/>
              </a:spcAft>
              <a:buNone/>
            </a:pPr>
            <a:r>
              <a:rPr lang="ru-RU" sz="800"/>
              <a:t>· Прогнозирование</a:t>
            </a:r>
            <a:endParaRPr/>
          </a:p>
          <a:p>
            <a:pPr indent="0" lvl="0" marL="0" rtl="0" algn="l">
              <a:lnSpc>
                <a:spcPct val="80000"/>
              </a:lnSpc>
              <a:spcBef>
                <a:spcPts val="240"/>
              </a:spcBef>
              <a:spcAft>
                <a:spcPts val="0"/>
              </a:spcAft>
              <a:buNone/>
            </a:pPr>
            <a:r>
              <a:rPr lang="ru-RU" sz="800"/>
              <a:t>· Сокращение описания — для визуализации данных, лаконизма моделей, упрощения счета и интерпретации, сжатия объемов собираемой и хранимой информации.</a:t>
            </a:r>
            <a:endParaRPr/>
          </a:p>
          <a:p>
            <a:pPr indent="0" lvl="0" marL="0" rtl="0" algn="l">
              <a:lnSpc>
                <a:spcPct val="80000"/>
              </a:lnSpc>
              <a:spcBef>
                <a:spcPts val="240"/>
              </a:spcBef>
              <a:spcAft>
                <a:spcPts val="0"/>
              </a:spcAft>
              <a:buNone/>
            </a:pPr>
            <a:r>
              <a:rPr lang="ru-RU" sz="800"/>
              <a:t>· Ассоциация — поиск повторяющихся образцов. Например, поиск «устойчивых связей в корзине покупателя» (англ. market basket analysis) — вместе с пивом часто покупают орешки.</a:t>
            </a:r>
            <a:endParaRPr/>
          </a:p>
          <a:p>
            <a:pPr indent="0" lvl="0" marL="0" rtl="0" algn="l">
              <a:lnSpc>
                <a:spcPct val="80000"/>
              </a:lnSpc>
              <a:spcBef>
                <a:spcPts val="240"/>
              </a:spcBef>
              <a:spcAft>
                <a:spcPts val="0"/>
              </a:spcAft>
              <a:buNone/>
            </a:pPr>
            <a:r>
              <a:rPr lang="ru-RU" sz="800"/>
              <a:t>· Анализ отклонений — Например, выявление нетипичной сетевой активности позволяет обнаружить вредоносные программы.</a:t>
            </a:r>
            <a:endParaRPr/>
          </a:p>
          <a:p>
            <a:pPr indent="0" lvl="0" marL="0" rtl="0" algn="l">
              <a:lnSpc>
                <a:spcPct val="80000"/>
              </a:lnSpc>
              <a:spcBef>
                <a:spcPts val="240"/>
              </a:spcBef>
              <a:spcAft>
                <a:spcPts val="0"/>
              </a:spcAft>
              <a:buNone/>
            </a:pPr>
            <a:r>
              <a:rPr lang="ru-RU" sz="800"/>
              <a:t>· Визуализация</a:t>
            </a:r>
            <a:endParaRPr/>
          </a:p>
          <a:p>
            <a:pPr indent="0" lvl="0" marL="0" rtl="0" algn="l">
              <a:lnSpc>
                <a:spcPct val="80000"/>
              </a:lnSpc>
              <a:spcBef>
                <a:spcPts val="240"/>
              </a:spcBef>
              <a:spcAft>
                <a:spcPts val="0"/>
              </a:spcAft>
              <a:buNone/>
            </a:pPr>
            <a:r>
              <a:rPr b="1" i="1" lang="ru-RU" sz="800"/>
              <a:t>Задачи Data Analysis: </a:t>
            </a:r>
            <a:endParaRPr sz="800"/>
          </a:p>
          <a:p>
            <a:pPr indent="0" lvl="0" marL="0" rtl="0" algn="l">
              <a:lnSpc>
                <a:spcPct val="80000"/>
              </a:lnSpc>
              <a:spcBef>
                <a:spcPts val="240"/>
              </a:spcBef>
              <a:spcAft>
                <a:spcPts val="0"/>
              </a:spcAft>
              <a:buNone/>
            </a:pPr>
            <a:r>
              <a:rPr lang="ru-RU" sz="800"/>
              <a:t>1. Классификация (Classification)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(Nearest Neighbor) к-ближайших сосед (k-Nearest Neighbor) Байе-Совские сети (Bayesian Networks) индукция деревьев решений; нейронные сети (neural networks).</a:t>
            </a:r>
            <a:endParaRPr/>
          </a:p>
          <a:p>
            <a:pPr indent="0" lvl="0" marL="0" rtl="0" algn="l">
              <a:lnSpc>
                <a:spcPct val="80000"/>
              </a:lnSpc>
              <a:spcBef>
                <a:spcPts val="240"/>
              </a:spcBef>
              <a:spcAft>
                <a:spcPts val="0"/>
              </a:spcAft>
              <a:buNone/>
            </a:pPr>
            <a:r>
              <a:rPr lang="ru-RU" sz="800"/>
              <a:t>2. Кластеризация (Clustering) - результатом ее является разделение объектов на группы.</a:t>
            </a:r>
            <a:endParaRPr/>
          </a:p>
          <a:p>
            <a:pPr indent="0" lvl="0" marL="0" rtl="0" algn="l">
              <a:lnSpc>
                <a:spcPct val="80000"/>
              </a:lnSpc>
              <a:spcBef>
                <a:spcPts val="240"/>
              </a:spcBef>
              <a:spcAft>
                <a:spcPts val="0"/>
              </a:spcAft>
              <a:buNone/>
            </a:pPr>
            <a:r>
              <a:rPr lang="ru-RU" sz="800"/>
              <a:t>3. Ассоциация (Associations) - находят закономерности между связанными событиями в наборе данных. Наиболее известный алгоритм решения задачи поиска ассоциативных правил - алгоритм Аргиоги.</a:t>
            </a:r>
            <a:endParaRPr/>
          </a:p>
          <a:p>
            <a:pPr indent="0" lvl="0" marL="0" rtl="0" algn="l">
              <a:lnSpc>
                <a:spcPct val="80000"/>
              </a:lnSpc>
              <a:spcBef>
                <a:spcPts val="240"/>
              </a:spcBef>
              <a:spcAft>
                <a:spcPts val="0"/>
              </a:spcAft>
              <a:buNone/>
            </a:pPr>
            <a:r>
              <a:rPr lang="ru-RU" sz="800"/>
              <a:t>4. Последовательность (Sequence), или последовательная ассоциация (sequential association)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endParaRPr/>
          </a:p>
          <a:p>
            <a:pPr indent="0" lvl="0" marL="0" rtl="0" algn="l">
              <a:lnSpc>
                <a:spcPct val="80000"/>
              </a:lnSpc>
              <a:spcBef>
                <a:spcPts val="240"/>
              </a:spcBef>
              <a:spcAft>
                <a:spcPts val="0"/>
              </a:spcAft>
              <a:buNone/>
            </a:pPr>
            <a:r>
              <a:rPr lang="ru-RU" sz="800"/>
              <a:t>5. Прогнозирование (Forecasting)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endParaRPr/>
          </a:p>
          <a:p>
            <a:pPr indent="0" lvl="0" marL="0" rtl="0" algn="l">
              <a:lnSpc>
                <a:spcPct val="80000"/>
              </a:lnSpc>
              <a:spcBef>
                <a:spcPts val="240"/>
              </a:spcBef>
              <a:spcAft>
                <a:spcPts val="0"/>
              </a:spcAft>
              <a:buNone/>
            </a:pPr>
            <a:r>
              <a:rPr lang="ru-RU" sz="800"/>
              <a:t>6. Определение отклонений (Deviation Detection), анализ отклонений или выбросов - выявление и анализ данных, наиболее отличаются от общей численности данных, выявление нехарактерных шаблонов.</a:t>
            </a:r>
            <a:endParaRPr/>
          </a:p>
          <a:p>
            <a:pPr indent="0" lvl="0" marL="0" rtl="0" algn="l">
              <a:lnSpc>
                <a:spcPct val="80000"/>
              </a:lnSpc>
              <a:spcBef>
                <a:spcPts val="240"/>
              </a:spcBef>
              <a:spcAft>
                <a:spcPts val="0"/>
              </a:spcAft>
              <a:buNone/>
            </a:pPr>
            <a:r>
              <a:rPr lang="ru-RU" sz="800"/>
              <a:t>7. Оценка (Estimation) - сводится к прогнозу непрерывных значений признаков.</a:t>
            </a:r>
            <a:endParaRPr/>
          </a:p>
          <a:p>
            <a:pPr indent="0" lvl="0" marL="0" rtl="0" algn="l">
              <a:lnSpc>
                <a:spcPct val="80000"/>
              </a:lnSpc>
              <a:spcBef>
                <a:spcPts val="240"/>
              </a:spcBef>
              <a:spcAft>
                <a:spcPts val="0"/>
              </a:spcAft>
              <a:buNone/>
            </a:pPr>
            <a:r>
              <a:rPr lang="ru-RU" sz="800"/>
              <a:t>8. Анализ связей (Link Analysis) - задача нахождения зависимостей в наборе данных.</a:t>
            </a:r>
            <a:endParaRPr/>
          </a:p>
          <a:p>
            <a:pPr indent="0" lvl="0" marL="0" rtl="0" algn="l">
              <a:lnSpc>
                <a:spcPct val="80000"/>
              </a:lnSpc>
              <a:spcBef>
                <a:spcPts val="240"/>
              </a:spcBef>
              <a:spcAft>
                <a:spcPts val="0"/>
              </a:spcAft>
              <a:buNone/>
            </a:pPr>
            <a:r>
              <a:rPr lang="ru-RU" sz="800"/>
              <a:t>9. Визуализация (Visualization, Graph Mining)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endParaRPr/>
          </a:p>
          <a:p>
            <a:pPr indent="0" lvl="0" marL="0" rtl="0" algn="l">
              <a:lnSpc>
                <a:spcPct val="80000"/>
              </a:lnSpc>
              <a:spcBef>
                <a:spcPts val="240"/>
              </a:spcBef>
              <a:spcAft>
                <a:spcPts val="0"/>
              </a:spcAft>
              <a:buNone/>
            </a:pPr>
            <a:r>
              <a:rPr lang="ru-RU" sz="800"/>
              <a:t>10. Подведение итогов (Summarization) - описание конкретных групп объектов с помощью рассматриваемого набора данных.</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268" name="Google Shape;268;p1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9" name="Google Shape;269;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ru-RU" sz="800"/>
              <a:t>Задачи, решаемые Data Analysis</a:t>
            </a:r>
            <a:endParaRPr sz="800"/>
          </a:p>
          <a:p>
            <a:pPr indent="0" lvl="0" marL="0" rtl="0" algn="l">
              <a:lnSpc>
                <a:spcPct val="80000"/>
              </a:lnSpc>
              <a:spcBef>
                <a:spcPts val="240"/>
              </a:spcBef>
              <a:spcAft>
                <a:spcPts val="0"/>
              </a:spcAft>
              <a:buNone/>
            </a:pPr>
            <a:r>
              <a:rPr lang="ru-RU" sz="800"/>
              <a:t>· Классификация — отнесение входного вектора (объекта, события, наблюдения) к одному из заранее известных классов.</a:t>
            </a:r>
            <a:endParaRPr/>
          </a:p>
          <a:p>
            <a:pPr indent="0" lvl="0" marL="0" rtl="0" algn="l">
              <a:lnSpc>
                <a:spcPct val="80000"/>
              </a:lnSpc>
              <a:spcBef>
                <a:spcPts val="240"/>
              </a:spcBef>
              <a:spcAft>
                <a:spcPts val="0"/>
              </a:spcAft>
              <a:buNone/>
            </a:pPr>
            <a:r>
              <a:rPr lang="ru-RU" sz="800"/>
              <a:t>· Кластеризация — разделение множества входных векторов на группы (кластеры) по степени «похожести» друг на друга.</a:t>
            </a:r>
            <a:endParaRPr/>
          </a:p>
          <a:p>
            <a:pPr indent="0" lvl="0" marL="0" rtl="0" algn="l">
              <a:lnSpc>
                <a:spcPct val="80000"/>
              </a:lnSpc>
              <a:spcBef>
                <a:spcPts val="240"/>
              </a:spcBef>
              <a:spcAft>
                <a:spcPts val="0"/>
              </a:spcAft>
              <a:buNone/>
            </a:pPr>
            <a:r>
              <a:rPr lang="ru-RU" sz="800"/>
              <a:t>· Прогнозирование</a:t>
            </a:r>
            <a:endParaRPr/>
          </a:p>
          <a:p>
            <a:pPr indent="0" lvl="0" marL="0" rtl="0" algn="l">
              <a:lnSpc>
                <a:spcPct val="80000"/>
              </a:lnSpc>
              <a:spcBef>
                <a:spcPts val="240"/>
              </a:spcBef>
              <a:spcAft>
                <a:spcPts val="0"/>
              </a:spcAft>
              <a:buNone/>
            </a:pPr>
            <a:r>
              <a:rPr lang="ru-RU" sz="800"/>
              <a:t>· Сокращение описания — для визуализации данных, лаконизма моделей, упрощения счета и интерпретации, сжатия объемов собираемой и хранимой информации.</a:t>
            </a:r>
            <a:endParaRPr/>
          </a:p>
          <a:p>
            <a:pPr indent="0" lvl="0" marL="0" rtl="0" algn="l">
              <a:lnSpc>
                <a:spcPct val="80000"/>
              </a:lnSpc>
              <a:spcBef>
                <a:spcPts val="240"/>
              </a:spcBef>
              <a:spcAft>
                <a:spcPts val="0"/>
              </a:spcAft>
              <a:buNone/>
            </a:pPr>
            <a:r>
              <a:rPr lang="ru-RU" sz="800"/>
              <a:t>· Ассоциация — поиск повторяющихся образцов. Например, поиск «устойчивых связей в корзине покупателя» (англ. market basket analysis) — вместе с пивом часто покупают орешки.</a:t>
            </a:r>
            <a:endParaRPr/>
          </a:p>
          <a:p>
            <a:pPr indent="0" lvl="0" marL="0" rtl="0" algn="l">
              <a:lnSpc>
                <a:spcPct val="80000"/>
              </a:lnSpc>
              <a:spcBef>
                <a:spcPts val="240"/>
              </a:spcBef>
              <a:spcAft>
                <a:spcPts val="0"/>
              </a:spcAft>
              <a:buNone/>
            </a:pPr>
            <a:r>
              <a:rPr lang="ru-RU" sz="800"/>
              <a:t>· Анализ отклонений — Например, выявление нетипичной сетевой активности позволяет обнаружить вредоносные программы.</a:t>
            </a:r>
            <a:endParaRPr/>
          </a:p>
          <a:p>
            <a:pPr indent="0" lvl="0" marL="0" rtl="0" algn="l">
              <a:lnSpc>
                <a:spcPct val="80000"/>
              </a:lnSpc>
              <a:spcBef>
                <a:spcPts val="240"/>
              </a:spcBef>
              <a:spcAft>
                <a:spcPts val="0"/>
              </a:spcAft>
              <a:buNone/>
            </a:pPr>
            <a:r>
              <a:rPr lang="ru-RU" sz="800"/>
              <a:t>· Визуализация</a:t>
            </a:r>
            <a:endParaRPr/>
          </a:p>
          <a:p>
            <a:pPr indent="0" lvl="0" marL="0" rtl="0" algn="l">
              <a:lnSpc>
                <a:spcPct val="80000"/>
              </a:lnSpc>
              <a:spcBef>
                <a:spcPts val="240"/>
              </a:spcBef>
              <a:spcAft>
                <a:spcPts val="0"/>
              </a:spcAft>
              <a:buNone/>
            </a:pPr>
            <a:r>
              <a:rPr b="1" i="1" lang="ru-RU" sz="800"/>
              <a:t>Задачи Data Analysis: </a:t>
            </a:r>
            <a:endParaRPr sz="800"/>
          </a:p>
          <a:p>
            <a:pPr indent="0" lvl="0" marL="0" rtl="0" algn="l">
              <a:lnSpc>
                <a:spcPct val="80000"/>
              </a:lnSpc>
              <a:spcBef>
                <a:spcPts val="240"/>
              </a:spcBef>
              <a:spcAft>
                <a:spcPts val="0"/>
              </a:spcAft>
              <a:buNone/>
            </a:pPr>
            <a:r>
              <a:rPr lang="ru-RU" sz="800"/>
              <a:t>1. Классификация (Classification)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(Nearest Neighbor) к-ближайших сосед (k-Nearest Neighbor) Байе-Совские сети (Bayesian Networks) индукция деревьев решений; нейронные сети (neural networks).</a:t>
            </a:r>
            <a:endParaRPr/>
          </a:p>
          <a:p>
            <a:pPr indent="0" lvl="0" marL="0" rtl="0" algn="l">
              <a:lnSpc>
                <a:spcPct val="80000"/>
              </a:lnSpc>
              <a:spcBef>
                <a:spcPts val="240"/>
              </a:spcBef>
              <a:spcAft>
                <a:spcPts val="0"/>
              </a:spcAft>
              <a:buNone/>
            </a:pPr>
            <a:r>
              <a:rPr lang="ru-RU" sz="800"/>
              <a:t>2. Кластеризация (Clustering) - результатом ее является разделение объектов на группы.</a:t>
            </a:r>
            <a:endParaRPr/>
          </a:p>
          <a:p>
            <a:pPr indent="0" lvl="0" marL="0" rtl="0" algn="l">
              <a:lnSpc>
                <a:spcPct val="80000"/>
              </a:lnSpc>
              <a:spcBef>
                <a:spcPts val="240"/>
              </a:spcBef>
              <a:spcAft>
                <a:spcPts val="0"/>
              </a:spcAft>
              <a:buNone/>
            </a:pPr>
            <a:r>
              <a:rPr lang="ru-RU" sz="800"/>
              <a:t>3. Ассоциация (Associations) - находят закономерности между связанными событиями в наборе данных. Наиболее известный алгоритм решения задачи поиска ассоциативных правил - алгоритм Аргиоги.</a:t>
            </a:r>
            <a:endParaRPr/>
          </a:p>
          <a:p>
            <a:pPr indent="0" lvl="0" marL="0" rtl="0" algn="l">
              <a:lnSpc>
                <a:spcPct val="80000"/>
              </a:lnSpc>
              <a:spcBef>
                <a:spcPts val="240"/>
              </a:spcBef>
              <a:spcAft>
                <a:spcPts val="0"/>
              </a:spcAft>
              <a:buNone/>
            </a:pPr>
            <a:r>
              <a:rPr lang="ru-RU" sz="800"/>
              <a:t>4. Последовательность (Sequence), или последовательная ассоциация (sequential association)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endParaRPr/>
          </a:p>
          <a:p>
            <a:pPr indent="0" lvl="0" marL="0" rtl="0" algn="l">
              <a:lnSpc>
                <a:spcPct val="80000"/>
              </a:lnSpc>
              <a:spcBef>
                <a:spcPts val="240"/>
              </a:spcBef>
              <a:spcAft>
                <a:spcPts val="0"/>
              </a:spcAft>
              <a:buNone/>
            </a:pPr>
            <a:r>
              <a:rPr lang="ru-RU" sz="800"/>
              <a:t>5. Прогнозирование (Forecasting)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endParaRPr/>
          </a:p>
          <a:p>
            <a:pPr indent="0" lvl="0" marL="0" rtl="0" algn="l">
              <a:lnSpc>
                <a:spcPct val="80000"/>
              </a:lnSpc>
              <a:spcBef>
                <a:spcPts val="240"/>
              </a:spcBef>
              <a:spcAft>
                <a:spcPts val="0"/>
              </a:spcAft>
              <a:buNone/>
            </a:pPr>
            <a:r>
              <a:rPr lang="ru-RU" sz="800"/>
              <a:t>6. Определение отклонений (Deviation Detection), анализ отклонений или выбросов - выявление и анализ данных, наиболее отличаются от общей численности данных, выявление нехарактерных шаблонов.</a:t>
            </a:r>
            <a:endParaRPr/>
          </a:p>
          <a:p>
            <a:pPr indent="0" lvl="0" marL="0" rtl="0" algn="l">
              <a:lnSpc>
                <a:spcPct val="80000"/>
              </a:lnSpc>
              <a:spcBef>
                <a:spcPts val="240"/>
              </a:spcBef>
              <a:spcAft>
                <a:spcPts val="0"/>
              </a:spcAft>
              <a:buNone/>
            </a:pPr>
            <a:r>
              <a:rPr lang="ru-RU" sz="800"/>
              <a:t>7. Оценка (Estimation) - сводится к прогнозу непрерывных значений признаков.</a:t>
            </a:r>
            <a:endParaRPr/>
          </a:p>
          <a:p>
            <a:pPr indent="0" lvl="0" marL="0" rtl="0" algn="l">
              <a:lnSpc>
                <a:spcPct val="80000"/>
              </a:lnSpc>
              <a:spcBef>
                <a:spcPts val="240"/>
              </a:spcBef>
              <a:spcAft>
                <a:spcPts val="0"/>
              </a:spcAft>
              <a:buNone/>
            </a:pPr>
            <a:r>
              <a:rPr lang="ru-RU" sz="800"/>
              <a:t>8. Анализ связей (Link Analysis) - задача нахождения зависимостей в наборе данных.</a:t>
            </a:r>
            <a:endParaRPr/>
          </a:p>
          <a:p>
            <a:pPr indent="0" lvl="0" marL="0" rtl="0" algn="l">
              <a:lnSpc>
                <a:spcPct val="80000"/>
              </a:lnSpc>
              <a:spcBef>
                <a:spcPts val="240"/>
              </a:spcBef>
              <a:spcAft>
                <a:spcPts val="0"/>
              </a:spcAft>
              <a:buNone/>
            </a:pPr>
            <a:r>
              <a:rPr lang="ru-RU" sz="800"/>
              <a:t>9. Визуализация (Visualization, Graph Mining)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endParaRPr/>
          </a:p>
          <a:p>
            <a:pPr indent="0" lvl="0" marL="0" rtl="0" algn="l">
              <a:lnSpc>
                <a:spcPct val="80000"/>
              </a:lnSpc>
              <a:spcBef>
                <a:spcPts val="240"/>
              </a:spcBef>
              <a:spcAft>
                <a:spcPts val="0"/>
              </a:spcAft>
              <a:buNone/>
            </a:pPr>
            <a:r>
              <a:rPr lang="ru-RU" sz="800"/>
              <a:t>10. Подведение итогов (Summarization) - описание конкретных групп объектов с помощью рассматриваемого набора данных.</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277" name="Google Shape;277;p19: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None/>
            </a:pPr>
            <a:r>
              <a:rPr lang="ru-RU" sz="800"/>
              <a:t>Задачи, решаемые Data Analysis</a:t>
            </a:r>
            <a:endParaRPr sz="800"/>
          </a:p>
          <a:p>
            <a:pPr indent="0" lvl="0" marL="0" rtl="0" algn="l">
              <a:lnSpc>
                <a:spcPct val="80000"/>
              </a:lnSpc>
              <a:spcBef>
                <a:spcPts val="240"/>
              </a:spcBef>
              <a:spcAft>
                <a:spcPts val="0"/>
              </a:spcAft>
              <a:buNone/>
            </a:pPr>
            <a:r>
              <a:rPr lang="ru-RU" sz="800"/>
              <a:t>· Классификация — отнесение входного вектора (объекта, события, наблюдения) к одному из заранее известных классов.</a:t>
            </a:r>
            <a:endParaRPr/>
          </a:p>
          <a:p>
            <a:pPr indent="0" lvl="0" marL="0" rtl="0" algn="l">
              <a:lnSpc>
                <a:spcPct val="80000"/>
              </a:lnSpc>
              <a:spcBef>
                <a:spcPts val="240"/>
              </a:spcBef>
              <a:spcAft>
                <a:spcPts val="0"/>
              </a:spcAft>
              <a:buNone/>
            </a:pPr>
            <a:r>
              <a:rPr lang="ru-RU" sz="800"/>
              <a:t>· Кластеризация — разделение множества входных векторов на группы (кластеры) по степени «похожести» друг на друга.</a:t>
            </a:r>
            <a:endParaRPr/>
          </a:p>
          <a:p>
            <a:pPr indent="0" lvl="0" marL="0" rtl="0" algn="l">
              <a:lnSpc>
                <a:spcPct val="80000"/>
              </a:lnSpc>
              <a:spcBef>
                <a:spcPts val="240"/>
              </a:spcBef>
              <a:spcAft>
                <a:spcPts val="0"/>
              </a:spcAft>
              <a:buNone/>
            </a:pPr>
            <a:r>
              <a:rPr lang="ru-RU" sz="800"/>
              <a:t>· Прогнозирование</a:t>
            </a:r>
            <a:endParaRPr/>
          </a:p>
          <a:p>
            <a:pPr indent="0" lvl="0" marL="0" rtl="0" algn="l">
              <a:lnSpc>
                <a:spcPct val="80000"/>
              </a:lnSpc>
              <a:spcBef>
                <a:spcPts val="240"/>
              </a:spcBef>
              <a:spcAft>
                <a:spcPts val="0"/>
              </a:spcAft>
              <a:buNone/>
            </a:pPr>
            <a:r>
              <a:rPr lang="ru-RU" sz="800"/>
              <a:t>· Сокращение описания — для визуализации данных, лаконизма моделей, упрощения счета и интерпретации, сжатия объемов собираемой и хранимой информации.</a:t>
            </a:r>
            <a:endParaRPr/>
          </a:p>
          <a:p>
            <a:pPr indent="0" lvl="0" marL="0" rtl="0" algn="l">
              <a:lnSpc>
                <a:spcPct val="80000"/>
              </a:lnSpc>
              <a:spcBef>
                <a:spcPts val="240"/>
              </a:spcBef>
              <a:spcAft>
                <a:spcPts val="0"/>
              </a:spcAft>
              <a:buNone/>
            </a:pPr>
            <a:r>
              <a:rPr lang="ru-RU" sz="800"/>
              <a:t>· Ассоциация — поиск повторяющихся образцов. Например, поиск «устойчивых связей в корзине покупателя» (англ. market basket analysis) — вместе с пивом часто покупают орешки.</a:t>
            </a:r>
            <a:endParaRPr/>
          </a:p>
          <a:p>
            <a:pPr indent="0" lvl="0" marL="0" rtl="0" algn="l">
              <a:lnSpc>
                <a:spcPct val="80000"/>
              </a:lnSpc>
              <a:spcBef>
                <a:spcPts val="240"/>
              </a:spcBef>
              <a:spcAft>
                <a:spcPts val="0"/>
              </a:spcAft>
              <a:buNone/>
            </a:pPr>
            <a:r>
              <a:rPr lang="ru-RU" sz="800"/>
              <a:t>· Анализ отклонений — Например, выявление нетипичной сетевой активности позволяет обнаружить вредоносные программы.</a:t>
            </a:r>
            <a:endParaRPr/>
          </a:p>
          <a:p>
            <a:pPr indent="0" lvl="0" marL="0" rtl="0" algn="l">
              <a:lnSpc>
                <a:spcPct val="80000"/>
              </a:lnSpc>
              <a:spcBef>
                <a:spcPts val="240"/>
              </a:spcBef>
              <a:spcAft>
                <a:spcPts val="0"/>
              </a:spcAft>
              <a:buNone/>
            </a:pPr>
            <a:r>
              <a:rPr lang="ru-RU" sz="800"/>
              <a:t>· Визуализация</a:t>
            </a:r>
            <a:endParaRPr/>
          </a:p>
          <a:p>
            <a:pPr indent="0" lvl="0" marL="0" rtl="0" algn="l">
              <a:lnSpc>
                <a:spcPct val="80000"/>
              </a:lnSpc>
              <a:spcBef>
                <a:spcPts val="240"/>
              </a:spcBef>
              <a:spcAft>
                <a:spcPts val="0"/>
              </a:spcAft>
              <a:buNone/>
            </a:pPr>
            <a:r>
              <a:rPr b="1" i="1" lang="ru-RU" sz="800"/>
              <a:t>Задачи Data Analysis: </a:t>
            </a:r>
            <a:endParaRPr sz="800"/>
          </a:p>
          <a:p>
            <a:pPr indent="0" lvl="0" marL="0" rtl="0" algn="l">
              <a:lnSpc>
                <a:spcPct val="80000"/>
              </a:lnSpc>
              <a:spcBef>
                <a:spcPts val="240"/>
              </a:spcBef>
              <a:spcAft>
                <a:spcPts val="0"/>
              </a:spcAft>
              <a:buNone/>
            </a:pPr>
            <a:r>
              <a:rPr lang="ru-RU" sz="800"/>
              <a:t>1. Классификация (Classification)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(Nearest Neighbor) к-ближайших сосед (k-Nearest Neighbor) Байе-Совские сети (Bayesian Networks) индукция деревьев решений; нейронные сети (neural networks).</a:t>
            </a:r>
            <a:endParaRPr/>
          </a:p>
          <a:p>
            <a:pPr indent="0" lvl="0" marL="0" rtl="0" algn="l">
              <a:lnSpc>
                <a:spcPct val="80000"/>
              </a:lnSpc>
              <a:spcBef>
                <a:spcPts val="240"/>
              </a:spcBef>
              <a:spcAft>
                <a:spcPts val="0"/>
              </a:spcAft>
              <a:buNone/>
            </a:pPr>
            <a:r>
              <a:rPr lang="ru-RU" sz="800"/>
              <a:t>2. Кластеризация (Clustering) - результатом ее является разделение объектов на группы.</a:t>
            </a:r>
            <a:endParaRPr/>
          </a:p>
          <a:p>
            <a:pPr indent="0" lvl="0" marL="0" rtl="0" algn="l">
              <a:lnSpc>
                <a:spcPct val="80000"/>
              </a:lnSpc>
              <a:spcBef>
                <a:spcPts val="240"/>
              </a:spcBef>
              <a:spcAft>
                <a:spcPts val="0"/>
              </a:spcAft>
              <a:buNone/>
            </a:pPr>
            <a:r>
              <a:rPr lang="ru-RU" sz="800"/>
              <a:t>3. Ассоциация (Associations) - находят закономерности между связанными событиями в наборе данных. Наиболее известный алгоритм решения задачи поиска ассоциативных правил - алгоритм Аргиоги.</a:t>
            </a:r>
            <a:endParaRPr/>
          </a:p>
          <a:p>
            <a:pPr indent="0" lvl="0" marL="0" rtl="0" algn="l">
              <a:lnSpc>
                <a:spcPct val="80000"/>
              </a:lnSpc>
              <a:spcBef>
                <a:spcPts val="240"/>
              </a:spcBef>
              <a:spcAft>
                <a:spcPts val="0"/>
              </a:spcAft>
              <a:buNone/>
            </a:pPr>
            <a:r>
              <a:rPr lang="ru-RU" sz="800"/>
              <a:t>4. Последовательность (Sequence), или последовательная ассоциация (sequential association)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endParaRPr/>
          </a:p>
          <a:p>
            <a:pPr indent="0" lvl="0" marL="0" rtl="0" algn="l">
              <a:lnSpc>
                <a:spcPct val="80000"/>
              </a:lnSpc>
              <a:spcBef>
                <a:spcPts val="240"/>
              </a:spcBef>
              <a:spcAft>
                <a:spcPts val="0"/>
              </a:spcAft>
              <a:buNone/>
            </a:pPr>
            <a:r>
              <a:rPr lang="ru-RU" sz="800"/>
              <a:t>5. Прогнозирование (Forecasting)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endParaRPr/>
          </a:p>
          <a:p>
            <a:pPr indent="0" lvl="0" marL="0" rtl="0" algn="l">
              <a:lnSpc>
                <a:spcPct val="80000"/>
              </a:lnSpc>
              <a:spcBef>
                <a:spcPts val="240"/>
              </a:spcBef>
              <a:spcAft>
                <a:spcPts val="0"/>
              </a:spcAft>
              <a:buNone/>
            </a:pPr>
            <a:r>
              <a:rPr lang="ru-RU" sz="800"/>
              <a:t>6. Определение отклонений (Deviation Detection), анализ отклонений или выбросов - выявление и анализ данных, наиболее отличаются от общей численности данных, выявление нехарактерных шаблонов.</a:t>
            </a:r>
            <a:endParaRPr/>
          </a:p>
          <a:p>
            <a:pPr indent="0" lvl="0" marL="0" rtl="0" algn="l">
              <a:lnSpc>
                <a:spcPct val="80000"/>
              </a:lnSpc>
              <a:spcBef>
                <a:spcPts val="240"/>
              </a:spcBef>
              <a:spcAft>
                <a:spcPts val="0"/>
              </a:spcAft>
              <a:buNone/>
            </a:pPr>
            <a:r>
              <a:rPr lang="ru-RU" sz="800"/>
              <a:t>7. Оценка (Estimation) - сводится к прогнозу непрерывных значений признаков.</a:t>
            </a:r>
            <a:endParaRPr/>
          </a:p>
          <a:p>
            <a:pPr indent="0" lvl="0" marL="0" rtl="0" algn="l">
              <a:lnSpc>
                <a:spcPct val="80000"/>
              </a:lnSpc>
              <a:spcBef>
                <a:spcPts val="240"/>
              </a:spcBef>
              <a:spcAft>
                <a:spcPts val="0"/>
              </a:spcAft>
              <a:buNone/>
            </a:pPr>
            <a:r>
              <a:rPr lang="ru-RU" sz="800"/>
              <a:t>8. Анализ связей (Link Analysis) - задача нахождения зависимостей в наборе данных.</a:t>
            </a:r>
            <a:endParaRPr/>
          </a:p>
          <a:p>
            <a:pPr indent="0" lvl="0" marL="0" rtl="0" algn="l">
              <a:lnSpc>
                <a:spcPct val="80000"/>
              </a:lnSpc>
              <a:spcBef>
                <a:spcPts val="240"/>
              </a:spcBef>
              <a:spcAft>
                <a:spcPts val="0"/>
              </a:spcAft>
              <a:buNone/>
            </a:pPr>
            <a:r>
              <a:rPr lang="ru-RU" sz="800"/>
              <a:t>9. Визуализация (Visualization, Graph Mining)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endParaRPr/>
          </a:p>
          <a:p>
            <a:pPr indent="0" lvl="0" marL="0" rtl="0" algn="l">
              <a:lnSpc>
                <a:spcPct val="80000"/>
              </a:lnSpc>
              <a:spcBef>
                <a:spcPts val="240"/>
              </a:spcBef>
              <a:spcAft>
                <a:spcPts val="0"/>
              </a:spcAft>
              <a:buNone/>
            </a:pPr>
            <a:r>
              <a:rPr lang="ru-RU" sz="800"/>
              <a:t>10. Подведение итогов (Summarization) - описание конкретных групп объектов с помощью рассматриваемого набора данных.</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286" name="Google Shape;286;p20: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295" name="Google Shape;295;p2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304" name="Google Shape;304;p2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313" name="Google Shape;313;p23: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a:t>Один из вариантов классификации, являющийся весьма условным,  который тем не менее, можно встретить в литературе.</a:t>
            </a:r>
            <a:endParaRPr/>
          </a:p>
          <a:p>
            <a:pPr indent="0" lvl="0" marL="0" rtl="0" algn="l">
              <a:spcBef>
                <a:spcPts val="360"/>
              </a:spcBef>
              <a:spcAft>
                <a:spcPts val="0"/>
              </a:spcAft>
              <a:buNone/>
            </a:pPr>
            <a:r>
              <a:rPr lang="ru-RU"/>
              <a:t>Второй вариант является более формальным, т.к. классифицирует методы </a:t>
            </a:r>
            <a:r>
              <a:rPr lang="ru-RU" sz="1000"/>
              <a:t>Data Analysis более точно.</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334" name="Google Shape;334;p24: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343" name="Google Shape;343;p25: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353" name="Google Shape;353;p26: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363" name="Google Shape;363;p27: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1" i="0" lang="ru-RU" sz="1200" u="none" cap="none" strike="noStrike">
                <a:solidFill>
                  <a:schemeClr val="dk1"/>
                </a:solidFill>
                <a:latin typeface="Times New Roman"/>
                <a:ea typeface="Times New Roman"/>
                <a:cs typeface="Times New Roman"/>
                <a:sym typeface="Times New Roman"/>
              </a:rPr>
              <a:t>‹#›</a:t>
            </a:fld>
            <a:endParaRPr b="1" i="0" sz="1200" u="none" cap="none" strike="noStrike">
              <a:solidFill>
                <a:schemeClr val="dk1"/>
              </a:solidFill>
              <a:latin typeface="Times New Roman"/>
              <a:ea typeface="Times New Roman"/>
              <a:cs typeface="Times New Roman"/>
              <a:sym typeface="Times New Roman"/>
            </a:endParaRPr>
          </a:p>
        </p:txBody>
      </p:sp>
      <p:sp>
        <p:nvSpPr>
          <p:cNvPr id="372" name="Google Shape;372;p2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83" name="Google Shape;383;p29: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92" name="Google Shape;392;p30: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00" name="Google Shape;400;p3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10" name="Google Shape;410;p3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0" name="Google Shape;420;p33: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30" name="Google Shape;430;p34: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2" name="Google Shape;442;p35: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53" name="Google Shape;453;p36: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4" name="Google Shape;464;p37: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5" name="Google Shape;475;p3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86" name="Google Shape;486;p39: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97" name="Google Shape;497;p40: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8" name="Google Shape;508;p4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47" name="Google Shape;547;p4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58" name="Google Shape;558;p43: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72" name="Google Shape;572;p44: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83" name="Google Shape;583;p45: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46: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595" name="Google Shape;595;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47: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610" name="Google Shape;610;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25" name="Google Shape;625;p4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36" name="Google Shape;636;p49: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49" name="Google Shape;649;p50: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60" name="Google Shape;660;p5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73" name="Google Shape;673;p52: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84" name="Google Shape;684;p53: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96" name="Google Shape;696;p54: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10" name="Google Shape;710;p55: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22" name="Google Shape;722;p56: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36" name="Google Shape;736;p57: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1" name="Google Shape;761;p5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73" name="Google Shape;773;p59: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60: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793" name="Google Shape;793;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61: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01" name="Google Shape;801;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62: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11" name="Google Shape;811;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63: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23" name="Google Shape;823;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64: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34" name="Google Shape;834;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65: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44" name="Google Shape;844;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66: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56" name="Google Shape;856;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67: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66" name="Google Shape;866;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68: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75" name="Google Shape;875;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69: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84" name="Google Shape;884;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70: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893" name="Google Shape;893;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903" name="Google Shape;903;p71: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4" name="Google Shape;904;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72: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12" name="Google Shape;912;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73: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22" name="Google Shape;922;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74: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32" name="Google Shape;932;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75: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44" name="Google Shape;944;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76: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55" name="Google Shape;955;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77: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66" name="Google Shape;966;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78: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85" name="Google Shape;985;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79: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997" name="Google Shape;997;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80: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08" name="Google Shape;1008;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81: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20" name="Google Shape;1020;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82: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32" name="Google Shape;1032;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p83: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44" name="Google Shape;1044;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84: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61" name="Google Shape;1061;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85: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72" name="Google Shape;1072;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86: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84" name="Google Shape;1084;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87: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099" name="Google Shape;1099;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88: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110" name="Google Shape;1110;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89: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120" name="Google Shape;1120;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90: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133" name="Google Shape;1133;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p91: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146" name="Google Shape;1146;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p92:notes"/>
          <p:cNvSpPr/>
          <p:nvPr>
            <p:ph idx="2" type="sldImg"/>
          </p:nvPr>
        </p:nvSpPr>
        <p:spPr>
          <a:xfrm>
            <a:off x="0" y="777875"/>
            <a:ext cx="0" cy="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156" name="Google Shape;1156;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93:notes"/>
          <p:cNvSpPr/>
          <p:nvPr>
            <p:ph idx="2" type="sldImg"/>
          </p:nvPr>
        </p:nvSpPr>
        <p:spPr>
          <a:xfrm>
            <a:off x="0" y="777875"/>
            <a:ext cx="0" cy="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168" name="Google Shape;1168;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p94:notes"/>
          <p:cNvSpPr/>
          <p:nvPr>
            <p:ph idx="2" type="sldImg"/>
          </p:nvPr>
        </p:nvSpPr>
        <p:spPr>
          <a:xfrm>
            <a:off x="0" y="777875"/>
            <a:ext cx="0" cy="0"/>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178" name="Google Shape;1178;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p95: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188" name="Google Shape;1188;p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96: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199" name="Google Shape;1199;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p97:notes"/>
          <p:cNvSpPr/>
          <p:nvPr>
            <p:ph idx="2" type="sldImg"/>
          </p:nvPr>
        </p:nvSpPr>
        <p:spPr>
          <a:xfrm>
            <a:off x="785813" y="777875"/>
            <a:ext cx="5530850" cy="3836988"/>
          </a:xfrm>
          <a:custGeom>
            <a:rect b="b" l="l" r="r" t="t"/>
            <a:pathLst>
              <a:path extrusionOk="0" h="120000" w="120000">
                <a:moveTo>
                  <a:pt x="0" y="0"/>
                </a:moveTo>
                <a:lnTo>
                  <a:pt x="120000" y="0"/>
                </a:lnTo>
                <a:lnTo>
                  <a:pt x="120000" y="120000"/>
                </a:lnTo>
                <a:lnTo>
                  <a:pt x="0" y="120000"/>
                </a:lnTo>
                <a:close/>
              </a:path>
            </a:pathLst>
          </a:custGeom>
          <a:solidFill>
            <a:srgbClr val="729FCF"/>
          </a:solidFill>
          <a:ln cap="flat" cmpd="sng" w="25400">
            <a:solidFill>
              <a:srgbClr val="3465A4"/>
            </a:solidFill>
            <a:prstDash val="solid"/>
            <a:round/>
            <a:headEnd len="sm" w="sm" type="none"/>
            <a:tailEnd len="sm" w="sm" type="none"/>
          </a:ln>
        </p:spPr>
      </p:sp>
      <p:sp>
        <p:nvSpPr>
          <p:cNvPr id="1210" name="Google Shape;1210;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p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
        <p:nvSpPr>
          <p:cNvPr id="1222" name="Google Shape;1222;p98:notes"/>
          <p:cNvSpPr/>
          <p:nvPr>
            <p:ph idx="2" type="sldImg"/>
          </p:nvPr>
        </p:nvSpPr>
        <p:spPr>
          <a:xfrm>
            <a:off x="957263" y="685800"/>
            <a:ext cx="494347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3" name="Google Shape;1223;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hyperlink" Target="http://presentation-creation.ru/"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100"/>
          <p:cNvSpPr txBox="1"/>
          <p:nvPr>
            <p:ph type="ctrTitle"/>
          </p:nvPr>
        </p:nvSpPr>
        <p:spPr>
          <a:xfrm>
            <a:off x="0" y="1093920"/>
            <a:ext cx="5300605" cy="1527533"/>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0"/>
          <p:cNvSpPr txBox="1"/>
          <p:nvPr>
            <p:ph idx="1" type="subTitle"/>
          </p:nvPr>
        </p:nvSpPr>
        <p:spPr>
          <a:xfrm>
            <a:off x="13416" y="3114194"/>
            <a:ext cx="5206256" cy="1821162"/>
          </a:xfrm>
          <a:prstGeom prst="rect">
            <a:avLst/>
          </a:prstGeom>
          <a:noFill/>
          <a:ln>
            <a:noFill/>
          </a:ln>
        </p:spPr>
        <p:txBody>
          <a:bodyPr anchorCtr="0" anchor="t" bIns="45700" lIns="91425" spcFirstLastPara="1" rIns="91425" wrap="square" tIns="45700">
            <a:normAutofit/>
          </a:bodyPr>
          <a:lstStyle>
            <a:lvl1pPr lvl="0" algn="ctr">
              <a:spcBef>
                <a:spcPts val="665"/>
              </a:spcBef>
              <a:spcAft>
                <a:spcPts val="0"/>
              </a:spcAft>
              <a:buClr>
                <a:srgbClr val="888888"/>
              </a:buClr>
              <a:buSzPts val="3325"/>
              <a:buNone/>
              <a:defRPr>
                <a:solidFill>
                  <a:srgbClr val="888888"/>
                </a:solidFill>
              </a:defRPr>
            </a:lvl1pPr>
            <a:lvl2pPr lvl="1" algn="ctr">
              <a:spcBef>
                <a:spcPts val="582"/>
              </a:spcBef>
              <a:spcAft>
                <a:spcPts val="0"/>
              </a:spcAft>
              <a:buClr>
                <a:srgbClr val="888888"/>
              </a:buClr>
              <a:buSzPts val="2909"/>
              <a:buNone/>
              <a:defRPr>
                <a:solidFill>
                  <a:srgbClr val="888888"/>
                </a:solidFill>
              </a:defRPr>
            </a:lvl2pPr>
            <a:lvl3pPr lvl="2" algn="ctr">
              <a:spcBef>
                <a:spcPts val="499"/>
              </a:spcBef>
              <a:spcAft>
                <a:spcPts val="0"/>
              </a:spcAft>
              <a:buClr>
                <a:srgbClr val="888888"/>
              </a:buClr>
              <a:buSzPts val="2494"/>
              <a:buNone/>
              <a:defRPr>
                <a:solidFill>
                  <a:srgbClr val="888888"/>
                </a:solidFill>
              </a:defRPr>
            </a:lvl3pPr>
            <a:lvl4pPr lvl="3" algn="ctr">
              <a:spcBef>
                <a:spcPts val="416"/>
              </a:spcBef>
              <a:spcAft>
                <a:spcPts val="0"/>
              </a:spcAft>
              <a:buClr>
                <a:srgbClr val="888888"/>
              </a:buClr>
              <a:buSzPts val="2078"/>
              <a:buNone/>
              <a:defRPr>
                <a:solidFill>
                  <a:srgbClr val="888888"/>
                </a:solidFill>
              </a:defRPr>
            </a:lvl4pPr>
            <a:lvl5pPr lvl="4" algn="ctr">
              <a:spcBef>
                <a:spcPts val="416"/>
              </a:spcBef>
              <a:spcAft>
                <a:spcPts val="0"/>
              </a:spcAft>
              <a:buClr>
                <a:srgbClr val="888888"/>
              </a:buClr>
              <a:buSzPts val="2078"/>
              <a:buNone/>
              <a:defRPr>
                <a:solidFill>
                  <a:srgbClr val="888888"/>
                </a:solidFill>
              </a:defRPr>
            </a:lvl5pPr>
            <a:lvl6pPr lvl="5" algn="ctr">
              <a:spcBef>
                <a:spcPts val="416"/>
              </a:spcBef>
              <a:spcAft>
                <a:spcPts val="0"/>
              </a:spcAft>
              <a:buClr>
                <a:srgbClr val="888888"/>
              </a:buClr>
              <a:buSzPts val="2078"/>
              <a:buNone/>
              <a:defRPr>
                <a:solidFill>
                  <a:srgbClr val="888888"/>
                </a:solidFill>
              </a:defRPr>
            </a:lvl6pPr>
            <a:lvl7pPr lvl="6" algn="ctr">
              <a:spcBef>
                <a:spcPts val="416"/>
              </a:spcBef>
              <a:spcAft>
                <a:spcPts val="0"/>
              </a:spcAft>
              <a:buClr>
                <a:srgbClr val="888888"/>
              </a:buClr>
              <a:buSzPts val="2078"/>
              <a:buNone/>
              <a:defRPr>
                <a:solidFill>
                  <a:srgbClr val="888888"/>
                </a:solidFill>
              </a:defRPr>
            </a:lvl7pPr>
            <a:lvl8pPr lvl="7" algn="ctr">
              <a:spcBef>
                <a:spcPts val="416"/>
              </a:spcBef>
              <a:spcAft>
                <a:spcPts val="0"/>
              </a:spcAft>
              <a:buClr>
                <a:srgbClr val="888888"/>
              </a:buClr>
              <a:buSzPts val="2078"/>
              <a:buNone/>
              <a:defRPr>
                <a:solidFill>
                  <a:srgbClr val="888888"/>
                </a:solidFill>
              </a:defRPr>
            </a:lvl8pPr>
            <a:lvl9pPr lvl="8" algn="ctr">
              <a:spcBef>
                <a:spcPts val="416"/>
              </a:spcBef>
              <a:spcAft>
                <a:spcPts val="0"/>
              </a:spcAft>
              <a:buClr>
                <a:srgbClr val="888888"/>
              </a:buClr>
              <a:buSzPts val="2078"/>
              <a:buNone/>
              <a:defRPr>
                <a:solidFill>
                  <a:srgbClr val="888888"/>
                </a:solidFill>
              </a:defRPr>
            </a:lvl9pPr>
          </a:lstStyle>
          <a:p/>
        </p:txBody>
      </p:sp>
      <p:sp>
        <p:nvSpPr>
          <p:cNvPr id="18" name="Google Shape;18;p100"/>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0"/>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
        <p:nvSpPr>
          <p:cNvPr id="21" name="Google Shape;21;p100"/>
          <p:cNvSpPr/>
          <p:nvPr/>
        </p:nvSpPr>
        <p:spPr>
          <a:xfrm>
            <a:off x="6814156" y="6742507"/>
            <a:ext cx="3322576" cy="38010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ru-RU" sz="1870" u="sng" cap="none" strike="noStrike">
                <a:solidFill>
                  <a:schemeClr val="dk1"/>
                </a:solidFill>
                <a:latin typeface="Calibri"/>
                <a:ea typeface="Calibri"/>
                <a:cs typeface="Calibri"/>
                <a:sym typeface="Calibri"/>
                <a:hlinkClick r:id="rId3">
                  <a:extLst>
                    <a:ext uri="{A12FA001-AC4F-418D-AE19-62706E023703}">
                      <ahyp:hlinkClr val="tx"/>
                    </a:ext>
                  </a:extLst>
                </a:hlinkClick>
              </a:rPr>
              <a:t>http://presentation-creation.ru/</a:t>
            </a:r>
            <a:endParaRPr b="0" i="0" sz="3325"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22" name="Shape 22"/>
        <p:cNvGrpSpPr/>
        <p:nvPr/>
      </p:nvGrpSpPr>
      <p:grpSpPr>
        <a:xfrm>
          <a:off x="0" y="0"/>
          <a:ext cx="0" cy="0"/>
          <a:chOff x="0" y="0"/>
          <a:chExt cx="0" cy="0"/>
        </a:xfrm>
      </p:grpSpPr>
      <p:sp>
        <p:nvSpPr>
          <p:cNvPr id="23" name="Google Shape;23;p101"/>
          <p:cNvSpPr txBox="1"/>
          <p:nvPr>
            <p:ph type="title"/>
          </p:nvPr>
        </p:nvSpPr>
        <p:spPr>
          <a:xfrm>
            <a:off x="513874" y="285382"/>
            <a:ext cx="9249728"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01"/>
          <p:cNvSpPr txBox="1"/>
          <p:nvPr>
            <p:ph idx="1" type="body"/>
          </p:nvPr>
        </p:nvSpPr>
        <p:spPr>
          <a:xfrm>
            <a:off x="513874" y="1662801"/>
            <a:ext cx="9249728" cy="4703021"/>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101"/>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1"/>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0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28" name="Shape 28"/>
        <p:cNvGrpSpPr/>
        <p:nvPr/>
      </p:nvGrpSpPr>
      <p:grpSpPr>
        <a:xfrm>
          <a:off x="0" y="0"/>
          <a:ext cx="0" cy="0"/>
          <a:chOff x="0" y="0"/>
          <a:chExt cx="0" cy="0"/>
        </a:xfrm>
      </p:grpSpPr>
      <p:sp>
        <p:nvSpPr>
          <p:cNvPr id="29" name="Google Shape;29;p102"/>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02"/>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0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32" name="Shape 32"/>
        <p:cNvGrpSpPr/>
        <p:nvPr/>
      </p:nvGrpSpPr>
      <p:grpSpPr>
        <a:xfrm>
          <a:off x="0" y="0"/>
          <a:ext cx="0" cy="0"/>
          <a:chOff x="0" y="0"/>
          <a:chExt cx="0" cy="0"/>
        </a:xfrm>
      </p:grpSpPr>
      <p:sp>
        <p:nvSpPr>
          <p:cNvPr id="33" name="Google Shape;33;p103"/>
          <p:cNvSpPr txBox="1"/>
          <p:nvPr>
            <p:ph type="title"/>
          </p:nvPr>
        </p:nvSpPr>
        <p:spPr>
          <a:xfrm>
            <a:off x="811850" y="4579300"/>
            <a:ext cx="8735854" cy="141536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156"/>
              <a:buFont typeface="Calibri"/>
              <a:buNone/>
              <a:defRPr b="1" sz="4156"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03"/>
          <p:cNvSpPr txBox="1"/>
          <p:nvPr>
            <p:ph idx="1" type="body"/>
          </p:nvPr>
        </p:nvSpPr>
        <p:spPr>
          <a:xfrm>
            <a:off x="811850" y="3020425"/>
            <a:ext cx="8735854" cy="1558875"/>
          </a:xfrm>
          <a:prstGeom prst="rect">
            <a:avLst/>
          </a:prstGeom>
          <a:noFill/>
          <a:ln>
            <a:noFill/>
          </a:ln>
        </p:spPr>
        <p:txBody>
          <a:bodyPr anchorCtr="0" anchor="b" bIns="45700" lIns="91425" spcFirstLastPara="1" rIns="91425" wrap="square" tIns="45700">
            <a:normAutofit/>
          </a:bodyPr>
          <a:lstStyle>
            <a:lvl1pPr indent="-228600" lvl="0" marL="457200" algn="l">
              <a:spcBef>
                <a:spcPts val="416"/>
              </a:spcBef>
              <a:spcAft>
                <a:spcPts val="0"/>
              </a:spcAft>
              <a:buClr>
                <a:srgbClr val="888888"/>
              </a:buClr>
              <a:buSzPts val="2078"/>
              <a:buNone/>
              <a:defRPr sz="2078">
                <a:solidFill>
                  <a:srgbClr val="888888"/>
                </a:solidFill>
              </a:defRPr>
            </a:lvl1pPr>
            <a:lvl2pPr indent="-228600" lvl="1" marL="914400" algn="l">
              <a:spcBef>
                <a:spcPts val="374"/>
              </a:spcBef>
              <a:spcAft>
                <a:spcPts val="0"/>
              </a:spcAft>
              <a:buClr>
                <a:srgbClr val="888888"/>
              </a:buClr>
              <a:buSzPts val="1870"/>
              <a:buNone/>
              <a:defRPr sz="1870">
                <a:solidFill>
                  <a:srgbClr val="888888"/>
                </a:solidFill>
              </a:defRPr>
            </a:lvl2pPr>
            <a:lvl3pPr indent="-228600" lvl="2" marL="1371600" algn="l">
              <a:spcBef>
                <a:spcPts val="333"/>
              </a:spcBef>
              <a:spcAft>
                <a:spcPts val="0"/>
              </a:spcAft>
              <a:buClr>
                <a:srgbClr val="888888"/>
              </a:buClr>
              <a:buSzPts val="1663"/>
              <a:buNone/>
              <a:defRPr sz="1662">
                <a:solidFill>
                  <a:srgbClr val="888888"/>
                </a:solidFill>
              </a:defRPr>
            </a:lvl3pPr>
            <a:lvl4pPr indent="-228600" lvl="3" marL="1828800" algn="l">
              <a:spcBef>
                <a:spcPts val="291"/>
              </a:spcBef>
              <a:spcAft>
                <a:spcPts val="0"/>
              </a:spcAft>
              <a:buClr>
                <a:srgbClr val="888888"/>
              </a:buClr>
              <a:buSzPts val="1455"/>
              <a:buNone/>
              <a:defRPr sz="1455">
                <a:solidFill>
                  <a:srgbClr val="888888"/>
                </a:solidFill>
              </a:defRPr>
            </a:lvl4pPr>
            <a:lvl5pPr indent="-228600" lvl="4" marL="2286000" algn="l">
              <a:spcBef>
                <a:spcPts val="291"/>
              </a:spcBef>
              <a:spcAft>
                <a:spcPts val="0"/>
              </a:spcAft>
              <a:buClr>
                <a:srgbClr val="888888"/>
              </a:buClr>
              <a:buSzPts val="1455"/>
              <a:buNone/>
              <a:defRPr sz="1455">
                <a:solidFill>
                  <a:srgbClr val="888888"/>
                </a:solidFill>
              </a:defRPr>
            </a:lvl5pPr>
            <a:lvl6pPr indent="-228600" lvl="5" marL="2743200" algn="l">
              <a:spcBef>
                <a:spcPts val="291"/>
              </a:spcBef>
              <a:spcAft>
                <a:spcPts val="0"/>
              </a:spcAft>
              <a:buClr>
                <a:srgbClr val="888888"/>
              </a:buClr>
              <a:buSzPts val="1455"/>
              <a:buNone/>
              <a:defRPr sz="1455">
                <a:solidFill>
                  <a:srgbClr val="888888"/>
                </a:solidFill>
              </a:defRPr>
            </a:lvl6pPr>
            <a:lvl7pPr indent="-228600" lvl="6" marL="3200400" algn="l">
              <a:spcBef>
                <a:spcPts val="291"/>
              </a:spcBef>
              <a:spcAft>
                <a:spcPts val="0"/>
              </a:spcAft>
              <a:buClr>
                <a:srgbClr val="888888"/>
              </a:buClr>
              <a:buSzPts val="1455"/>
              <a:buNone/>
              <a:defRPr sz="1455">
                <a:solidFill>
                  <a:srgbClr val="888888"/>
                </a:solidFill>
              </a:defRPr>
            </a:lvl7pPr>
            <a:lvl8pPr indent="-228600" lvl="7" marL="3657600" algn="l">
              <a:spcBef>
                <a:spcPts val="291"/>
              </a:spcBef>
              <a:spcAft>
                <a:spcPts val="0"/>
              </a:spcAft>
              <a:buClr>
                <a:srgbClr val="888888"/>
              </a:buClr>
              <a:buSzPts val="1455"/>
              <a:buNone/>
              <a:defRPr sz="1455">
                <a:solidFill>
                  <a:srgbClr val="888888"/>
                </a:solidFill>
              </a:defRPr>
            </a:lvl8pPr>
            <a:lvl9pPr indent="-228600" lvl="8" marL="4114800" algn="l">
              <a:spcBef>
                <a:spcPts val="291"/>
              </a:spcBef>
              <a:spcAft>
                <a:spcPts val="0"/>
              </a:spcAft>
              <a:buClr>
                <a:srgbClr val="888888"/>
              </a:buClr>
              <a:buSzPts val="1455"/>
              <a:buNone/>
              <a:defRPr sz="1455">
                <a:solidFill>
                  <a:srgbClr val="888888"/>
                </a:solidFill>
              </a:defRPr>
            </a:lvl9pPr>
          </a:lstStyle>
          <a:p/>
        </p:txBody>
      </p:sp>
      <p:sp>
        <p:nvSpPr>
          <p:cNvPr id="35" name="Google Shape;35;p103"/>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03"/>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0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38" name="Shape 38"/>
        <p:cNvGrpSpPr/>
        <p:nvPr/>
      </p:nvGrpSpPr>
      <p:grpSpPr>
        <a:xfrm>
          <a:off x="0" y="0"/>
          <a:ext cx="0" cy="0"/>
          <a:chOff x="0" y="0"/>
          <a:chExt cx="0" cy="0"/>
        </a:xfrm>
      </p:grpSpPr>
      <p:sp>
        <p:nvSpPr>
          <p:cNvPr id="39" name="Google Shape;39;p104"/>
          <p:cNvSpPr txBox="1"/>
          <p:nvPr>
            <p:ph type="title"/>
          </p:nvPr>
        </p:nvSpPr>
        <p:spPr>
          <a:xfrm>
            <a:off x="513874" y="285382"/>
            <a:ext cx="9249728"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04"/>
          <p:cNvSpPr txBox="1"/>
          <p:nvPr>
            <p:ph idx="1" type="body"/>
          </p:nvPr>
        </p:nvSpPr>
        <p:spPr>
          <a:xfrm>
            <a:off x="513874" y="1662801"/>
            <a:ext cx="4539218" cy="4703021"/>
          </a:xfrm>
          <a:prstGeom prst="rect">
            <a:avLst/>
          </a:prstGeom>
          <a:noFill/>
          <a:ln>
            <a:noFill/>
          </a:ln>
        </p:spPr>
        <p:txBody>
          <a:bodyPr anchorCtr="0" anchor="t" bIns="45700" lIns="91425" spcFirstLastPara="1" rIns="91425" wrap="square" tIns="45700">
            <a:normAutofit/>
          </a:bodyPr>
          <a:lstStyle>
            <a:lvl1pPr indent="-413321" lvl="0" marL="457200" algn="l">
              <a:spcBef>
                <a:spcPts val="582"/>
              </a:spcBef>
              <a:spcAft>
                <a:spcPts val="0"/>
              </a:spcAft>
              <a:buClr>
                <a:schemeClr val="dk1"/>
              </a:buClr>
              <a:buSzPts val="2909"/>
              <a:buChar char="•"/>
              <a:defRPr sz="2909"/>
            </a:lvl1pPr>
            <a:lvl2pPr indent="-386969" lvl="1" marL="914400" algn="l">
              <a:spcBef>
                <a:spcPts val="499"/>
              </a:spcBef>
              <a:spcAft>
                <a:spcPts val="0"/>
              </a:spcAft>
              <a:buClr>
                <a:schemeClr val="dk1"/>
              </a:buClr>
              <a:buSzPts val="2494"/>
              <a:buChar char="–"/>
              <a:defRPr sz="2494"/>
            </a:lvl2pPr>
            <a:lvl3pPr indent="-360553" lvl="2" marL="1371600" algn="l">
              <a:spcBef>
                <a:spcPts val="416"/>
              </a:spcBef>
              <a:spcAft>
                <a:spcPts val="0"/>
              </a:spcAft>
              <a:buClr>
                <a:schemeClr val="dk1"/>
              </a:buClr>
              <a:buSzPts val="2078"/>
              <a:buChar char="•"/>
              <a:defRPr sz="2078"/>
            </a:lvl3pPr>
            <a:lvl4pPr indent="-347344" lvl="3" marL="1828800" algn="l">
              <a:spcBef>
                <a:spcPts val="374"/>
              </a:spcBef>
              <a:spcAft>
                <a:spcPts val="0"/>
              </a:spcAft>
              <a:buClr>
                <a:schemeClr val="dk1"/>
              </a:buClr>
              <a:buSzPts val="1870"/>
              <a:buChar char="–"/>
              <a:defRPr sz="1870"/>
            </a:lvl4pPr>
            <a:lvl5pPr indent="-347345" lvl="4" marL="2286000" algn="l">
              <a:spcBef>
                <a:spcPts val="374"/>
              </a:spcBef>
              <a:spcAft>
                <a:spcPts val="0"/>
              </a:spcAft>
              <a:buClr>
                <a:schemeClr val="dk1"/>
              </a:buClr>
              <a:buSzPts val="1870"/>
              <a:buChar char="»"/>
              <a:defRPr sz="1870"/>
            </a:lvl5pPr>
            <a:lvl6pPr indent="-347345" lvl="5" marL="2743200" algn="l">
              <a:spcBef>
                <a:spcPts val="374"/>
              </a:spcBef>
              <a:spcAft>
                <a:spcPts val="0"/>
              </a:spcAft>
              <a:buClr>
                <a:schemeClr val="dk1"/>
              </a:buClr>
              <a:buSzPts val="1870"/>
              <a:buChar char="•"/>
              <a:defRPr sz="1870"/>
            </a:lvl6pPr>
            <a:lvl7pPr indent="-347345" lvl="6" marL="3200400" algn="l">
              <a:spcBef>
                <a:spcPts val="374"/>
              </a:spcBef>
              <a:spcAft>
                <a:spcPts val="0"/>
              </a:spcAft>
              <a:buClr>
                <a:schemeClr val="dk1"/>
              </a:buClr>
              <a:buSzPts val="1870"/>
              <a:buChar char="•"/>
              <a:defRPr sz="1870"/>
            </a:lvl7pPr>
            <a:lvl8pPr indent="-347345" lvl="7" marL="3657600" algn="l">
              <a:spcBef>
                <a:spcPts val="374"/>
              </a:spcBef>
              <a:spcAft>
                <a:spcPts val="0"/>
              </a:spcAft>
              <a:buClr>
                <a:schemeClr val="dk1"/>
              </a:buClr>
              <a:buSzPts val="1870"/>
              <a:buChar char="•"/>
              <a:defRPr sz="1870"/>
            </a:lvl8pPr>
            <a:lvl9pPr indent="-347345" lvl="8" marL="4114800" algn="l">
              <a:spcBef>
                <a:spcPts val="374"/>
              </a:spcBef>
              <a:spcAft>
                <a:spcPts val="0"/>
              </a:spcAft>
              <a:buClr>
                <a:schemeClr val="dk1"/>
              </a:buClr>
              <a:buSzPts val="1870"/>
              <a:buChar char="•"/>
              <a:defRPr sz="1870"/>
            </a:lvl9pPr>
          </a:lstStyle>
          <a:p/>
        </p:txBody>
      </p:sp>
      <p:sp>
        <p:nvSpPr>
          <p:cNvPr id="41" name="Google Shape;41;p104"/>
          <p:cNvSpPr txBox="1"/>
          <p:nvPr>
            <p:ph idx="2" type="body"/>
          </p:nvPr>
        </p:nvSpPr>
        <p:spPr>
          <a:xfrm>
            <a:off x="5224383" y="1662801"/>
            <a:ext cx="4539218" cy="4703021"/>
          </a:xfrm>
          <a:prstGeom prst="rect">
            <a:avLst/>
          </a:prstGeom>
          <a:noFill/>
          <a:ln>
            <a:noFill/>
          </a:ln>
        </p:spPr>
        <p:txBody>
          <a:bodyPr anchorCtr="0" anchor="t" bIns="45700" lIns="91425" spcFirstLastPara="1" rIns="91425" wrap="square" tIns="45700">
            <a:normAutofit/>
          </a:bodyPr>
          <a:lstStyle>
            <a:lvl1pPr indent="-413321" lvl="0" marL="457200" algn="l">
              <a:spcBef>
                <a:spcPts val="582"/>
              </a:spcBef>
              <a:spcAft>
                <a:spcPts val="0"/>
              </a:spcAft>
              <a:buClr>
                <a:schemeClr val="dk1"/>
              </a:buClr>
              <a:buSzPts val="2909"/>
              <a:buChar char="•"/>
              <a:defRPr sz="2909"/>
            </a:lvl1pPr>
            <a:lvl2pPr indent="-386969" lvl="1" marL="914400" algn="l">
              <a:spcBef>
                <a:spcPts val="499"/>
              </a:spcBef>
              <a:spcAft>
                <a:spcPts val="0"/>
              </a:spcAft>
              <a:buClr>
                <a:schemeClr val="dk1"/>
              </a:buClr>
              <a:buSzPts val="2494"/>
              <a:buChar char="–"/>
              <a:defRPr sz="2494"/>
            </a:lvl2pPr>
            <a:lvl3pPr indent="-360553" lvl="2" marL="1371600" algn="l">
              <a:spcBef>
                <a:spcPts val="416"/>
              </a:spcBef>
              <a:spcAft>
                <a:spcPts val="0"/>
              </a:spcAft>
              <a:buClr>
                <a:schemeClr val="dk1"/>
              </a:buClr>
              <a:buSzPts val="2078"/>
              <a:buChar char="•"/>
              <a:defRPr sz="2078"/>
            </a:lvl3pPr>
            <a:lvl4pPr indent="-347344" lvl="3" marL="1828800" algn="l">
              <a:spcBef>
                <a:spcPts val="374"/>
              </a:spcBef>
              <a:spcAft>
                <a:spcPts val="0"/>
              </a:spcAft>
              <a:buClr>
                <a:schemeClr val="dk1"/>
              </a:buClr>
              <a:buSzPts val="1870"/>
              <a:buChar char="–"/>
              <a:defRPr sz="1870"/>
            </a:lvl4pPr>
            <a:lvl5pPr indent="-347345" lvl="4" marL="2286000" algn="l">
              <a:spcBef>
                <a:spcPts val="374"/>
              </a:spcBef>
              <a:spcAft>
                <a:spcPts val="0"/>
              </a:spcAft>
              <a:buClr>
                <a:schemeClr val="dk1"/>
              </a:buClr>
              <a:buSzPts val="1870"/>
              <a:buChar char="»"/>
              <a:defRPr sz="1870"/>
            </a:lvl5pPr>
            <a:lvl6pPr indent="-347345" lvl="5" marL="2743200" algn="l">
              <a:spcBef>
                <a:spcPts val="374"/>
              </a:spcBef>
              <a:spcAft>
                <a:spcPts val="0"/>
              </a:spcAft>
              <a:buClr>
                <a:schemeClr val="dk1"/>
              </a:buClr>
              <a:buSzPts val="1870"/>
              <a:buChar char="•"/>
              <a:defRPr sz="1870"/>
            </a:lvl6pPr>
            <a:lvl7pPr indent="-347345" lvl="6" marL="3200400" algn="l">
              <a:spcBef>
                <a:spcPts val="374"/>
              </a:spcBef>
              <a:spcAft>
                <a:spcPts val="0"/>
              </a:spcAft>
              <a:buClr>
                <a:schemeClr val="dk1"/>
              </a:buClr>
              <a:buSzPts val="1870"/>
              <a:buChar char="•"/>
              <a:defRPr sz="1870"/>
            </a:lvl7pPr>
            <a:lvl8pPr indent="-347345" lvl="7" marL="3657600" algn="l">
              <a:spcBef>
                <a:spcPts val="374"/>
              </a:spcBef>
              <a:spcAft>
                <a:spcPts val="0"/>
              </a:spcAft>
              <a:buClr>
                <a:schemeClr val="dk1"/>
              </a:buClr>
              <a:buSzPts val="1870"/>
              <a:buChar char="•"/>
              <a:defRPr sz="1870"/>
            </a:lvl8pPr>
            <a:lvl9pPr indent="-347345" lvl="8" marL="4114800" algn="l">
              <a:spcBef>
                <a:spcPts val="374"/>
              </a:spcBef>
              <a:spcAft>
                <a:spcPts val="0"/>
              </a:spcAft>
              <a:buClr>
                <a:schemeClr val="dk1"/>
              </a:buClr>
              <a:buSzPts val="1870"/>
              <a:buChar char="•"/>
              <a:defRPr sz="1870"/>
            </a:lvl9pPr>
          </a:lstStyle>
          <a:p/>
        </p:txBody>
      </p:sp>
      <p:sp>
        <p:nvSpPr>
          <p:cNvPr id="42" name="Google Shape;42;p104"/>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04"/>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0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45" name="Shape 45"/>
        <p:cNvGrpSpPr/>
        <p:nvPr/>
      </p:nvGrpSpPr>
      <p:grpSpPr>
        <a:xfrm>
          <a:off x="0" y="0"/>
          <a:ext cx="0" cy="0"/>
          <a:chOff x="0" y="0"/>
          <a:chExt cx="0" cy="0"/>
        </a:xfrm>
      </p:grpSpPr>
      <p:sp>
        <p:nvSpPr>
          <p:cNvPr id="46" name="Google Shape;46;p105"/>
          <p:cNvSpPr txBox="1"/>
          <p:nvPr>
            <p:ph type="title"/>
          </p:nvPr>
        </p:nvSpPr>
        <p:spPr>
          <a:xfrm>
            <a:off x="513874" y="285382"/>
            <a:ext cx="9249728"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572"/>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05"/>
          <p:cNvSpPr txBox="1"/>
          <p:nvPr>
            <p:ph idx="1" type="body"/>
          </p:nvPr>
        </p:nvSpPr>
        <p:spPr>
          <a:xfrm>
            <a:off x="513874" y="1595167"/>
            <a:ext cx="4541003" cy="664790"/>
          </a:xfrm>
          <a:prstGeom prst="rect">
            <a:avLst/>
          </a:prstGeom>
          <a:noFill/>
          <a:ln>
            <a:noFill/>
          </a:ln>
        </p:spPr>
        <p:txBody>
          <a:bodyPr anchorCtr="0" anchor="b" bIns="45700" lIns="91425" spcFirstLastPara="1" rIns="91425" wrap="square" tIns="45700">
            <a:normAutofit/>
          </a:bodyPr>
          <a:lstStyle>
            <a:lvl1pPr indent="-228600" lvl="0" marL="457200" algn="l">
              <a:spcBef>
                <a:spcPts val="499"/>
              </a:spcBef>
              <a:spcAft>
                <a:spcPts val="0"/>
              </a:spcAft>
              <a:buClr>
                <a:schemeClr val="dk1"/>
              </a:buClr>
              <a:buSzPts val="2494"/>
              <a:buNone/>
              <a:defRPr b="1" sz="2494"/>
            </a:lvl1pPr>
            <a:lvl2pPr indent="-228600" lvl="1" marL="914400" algn="l">
              <a:spcBef>
                <a:spcPts val="416"/>
              </a:spcBef>
              <a:spcAft>
                <a:spcPts val="0"/>
              </a:spcAft>
              <a:buClr>
                <a:schemeClr val="dk1"/>
              </a:buClr>
              <a:buSzPts val="2078"/>
              <a:buNone/>
              <a:defRPr b="1" sz="2078"/>
            </a:lvl2pPr>
            <a:lvl3pPr indent="-228600" lvl="2" marL="1371600" algn="l">
              <a:spcBef>
                <a:spcPts val="374"/>
              </a:spcBef>
              <a:spcAft>
                <a:spcPts val="0"/>
              </a:spcAft>
              <a:buClr>
                <a:schemeClr val="dk1"/>
              </a:buClr>
              <a:buSzPts val="1870"/>
              <a:buNone/>
              <a:defRPr b="1" sz="1870"/>
            </a:lvl3pPr>
            <a:lvl4pPr indent="-228600" lvl="3" marL="1828800" algn="l">
              <a:spcBef>
                <a:spcPts val="333"/>
              </a:spcBef>
              <a:spcAft>
                <a:spcPts val="0"/>
              </a:spcAft>
              <a:buClr>
                <a:schemeClr val="dk1"/>
              </a:buClr>
              <a:buSzPts val="1663"/>
              <a:buNone/>
              <a:defRPr b="1" sz="1662"/>
            </a:lvl4pPr>
            <a:lvl5pPr indent="-228600" lvl="4" marL="2286000" algn="l">
              <a:spcBef>
                <a:spcPts val="333"/>
              </a:spcBef>
              <a:spcAft>
                <a:spcPts val="0"/>
              </a:spcAft>
              <a:buClr>
                <a:schemeClr val="dk1"/>
              </a:buClr>
              <a:buSzPts val="1663"/>
              <a:buNone/>
              <a:defRPr b="1" sz="1662"/>
            </a:lvl5pPr>
            <a:lvl6pPr indent="-228600" lvl="5" marL="2743200" algn="l">
              <a:spcBef>
                <a:spcPts val="333"/>
              </a:spcBef>
              <a:spcAft>
                <a:spcPts val="0"/>
              </a:spcAft>
              <a:buClr>
                <a:schemeClr val="dk1"/>
              </a:buClr>
              <a:buSzPts val="1663"/>
              <a:buNone/>
              <a:defRPr b="1" sz="1662"/>
            </a:lvl6pPr>
            <a:lvl7pPr indent="-228600" lvl="6" marL="3200400" algn="l">
              <a:spcBef>
                <a:spcPts val="333"/>
              </a:spcBef>
              <a:spcAft>
                <a:spcPts val="0"/>
              </a:spcAft>
              <a:buClr>
                <a:schemeClr val="dk1"/>
              </a:buClr>
              <a:buSzPts val="1663"/>
              <a:buNone/>
              <a:defRPr b="1" sz="1662"/>
            </a:lvl7pPr>
            <a:lvl8pPr indent="-228600" lvl="7" marL="3657600" algn="l">
              <a:spcBef>
                <a:spcPts val="333"/>
              </a:spcBef>
              <a:spcAft>
                <a:spcPts val="0"/>
              </a:spcAft>
              <a:buClr>
                <a:schemeClr val="dk1"/>
              </a:buClr>
              <a:buSzPts val="1663"/>
              <a:buNone/>
              <a:defRPr b="1" sz="1662"/>
            </a:lvl8pPr>
            <a:lvl9pPr indent="-228600" lvl="8" marL="4114800" algn="l">
              <a:spcBef>
                <a:spcPts val="333"/>
              </a:spcBef>
              <a:spcAft>
                <a:spcPts val="0"/>
              </a:spcAft>
              <a:buClr>
                <a:schemeClr val="dk1"/>
              </a:buClr>
              <a:buSzPts val="1663"/>
              <a:buNone/>
              <a:defRPr b="1" sz="1662"/>
            </a:lvl9pPr>
          </a:lstStyle>
          <a:p/>
        </p:txBody>
      </p:sp>
      <p:sp>
        <p:nvSpPr>
          <p:cNvPr id="48" name="Google Shape;48;p105"/>
          <p:cNvSpPr txBox="1"/>
          <p:nvPr>
            <p:ph idx="2" type="body"/>
          </p:nvPr>
        </p:nvSpPr>
        <p:spPr>
          <a:xfrm>
            <a:off x="513874" y="2259957"/>
            <a:ext cx="4541003" cy="4105864"/>
          </a:xfrm>
          <a:prstGeom prst="rect">
            <a:avLst/>
          </a:prstGeom>
          <a:noFill/>
          <a:ln>
            <a:noFill/>
          </a:ln>
        </p:spPr>
        <p:txBody>
          <a:bodyPr anchorCtr="0" anchor="t" bIns="45700" lIns="91425" spcFirstLastPara="1" rIns="91425" wrap="square" tIns="45700">
            <a:normAutofit/>
          </a:bodyPr>
          <a:lstStyle>
            <a:lvl1pPr indent="-386969" lvl="0" marL="457200" algn="l">
              <a:spcBef>
                <a:spcPts val="499"/>
              </a:spcBef>
              <a:spcAft>
                <a:spcPts val="0"/>
              </a:spcAft>
              <a:buClr>
                <a:schemeClr val="dk1"/>
              </a:buClr>
              <a:buSzPts val="2494"/>
              <a:buChar char="•"/>
              <a:defRPr sz="2494"/>
            </a:lvl1pPr>
            <a:lvl2pPr indent="-360553" lvl="1" marL="914400" algn="l">
              <a:spcBef>
                <a:spcPts val="416"/>
              </a:spcBef>
              <a:spcAft>
                <a:spcPts val="0"/>
              </a:spcAft>
              <a:buClr>
                <a:schemeClr val="dk1"/>
              </a:buClr>
              <a:buSzPts val="2078"/>
              <a:buChar char="–"/>
              <a:defRPr sz="2078"/>
            </a:lvl2pPr>
            <a:lvl3pPr indent="-347344" lvl="2" marL="1371600" algn="l">
              <a:spcBef>
                <a:spcPts val="374"/>
              </a:spcBef>
              <a:spcAft>
                <a:spcPts val="0"/>
              </a:spcAft>
              <a:buClr>
                <a:schemeClr val="dk1"/>
              </a:buClr>
              <a:buSzPts val="1870"/>
              <a:buChar char="•"/>
              <a:defRPr sz="1870"/>
            </a:lvl3pPr>
            <a:lvl4pPr indent="-334200" lvl="3" marL="1828800" algn="l">
              <a:spcBef>
                <a:spcPts val="333"/>
              </a:spcBef>
              <a:spcAft>
                <a:spcPts val="0"/>
              </a:spcAft>
              <a:buClr>
                <a:schemeClr val="dk1"/>
              </a:buClr>
              <a:buSzPts val="1663"/>
              <a:buChar char="–"/>
              <a:defRPr sz="1662"/>
            </a:lvl4pPr>
            <a:lvl5pPr indent="-334200" lvl="4" marL="2286000" algn="l">
              <a:spcBef>
                <a:spcPts val="333"/>
              </a:spcBef>
              <a:spcAft>
                <a:spcPts val="0"/>
              </a:spcAft>
              <a:buClr>
                <a:schemeClr val="dk1"/>
              </a:buClr>
              <a:buSzPts val="1663"/>
              <a:buChar char="»"/>
              <a:defRPr sz="1662"/>
            </a:lvl5pPr>
            <a:lvl6pPr indent="-334200" lvl="5" marL="2743200" algn="l">
              <a:spcBef>
                <a:spcPts val="333"/>
              </a:spcBef>
              <a:spcAft>
                <a:spcPts val="0"/>
              </a:spcAft>
              <a:buClr>
                <a:schemeClr val="dk1"/>
              </a:buClr>
              <a:buSzPts val="1663"/>
              <a:buChar char="•"/>
              <a:defRPr sz="1662"/>
            </a:lvl6pPr>
            <a:lvl7pPr indent="-334200" lvl="6" marL="3200400" algn="l">
              <a:spcBef>
                <a:spcPts val="333"/>
              </a:spcBef>
              <a:spcAft>
                <a:spcPts val="0"/>
              </a:spcAft>
              <a:buClr>
                <a:schemeClr val="dk1"/>
              </a:buClr>
              <a:buSzPts val="1663"/>
              <a:buChar char="•"/>
              <a:defRPr sz="1662"/>
            </a:lvl7pPr>
            <a:lvl8pPr indent="-334200" lvl="7" marL="3657600" algn="l">
              <a:spcBef>
                <a:spcPts val="333"/>
              </a:spcBef>
              <a:spcAft>
                <a:spcPts val="0"/>
              </a:spcAft>
              <a:buClr>
                <a:schemeClr val="dk1"/>
              </a:buClr>
              <a:buSzPts val="1663"/>
              <a:buChar char="•"/>
              <a:defRPr sz="1662"/>
            </a:lvl8pPr>
            <a:lvl9pPr indent="-334200" lvl="8" marL="4114800" algn="l">
              <a:spcBef>
                <a:spcPts val="333"/>
              </a:spcBef>
              <a:spcAft>
                <a:spcPts val="0"/>
              </a:spcAft>
              <a:buClr>
                <a:schemeClr val="dk1"/>
              </a:buClr>
              <a:buSzPts val="1663"/>
              <a:buChar char="•"/>
              <a:defRPr sz="1662"/>
            </a:lvl9pPr>
          </a:lstStyle>
          <a:p/>
        </p:txBody>
      </p:sp>
      <p:sp>
        <p:nvSpPr>
          <p:cNvPr id="49" name="Google Shape;49;p105"/>
          <p:cNvSpPr txBox="1"/>
          <p:nvPr>
            <p:ph idx="3" type="body"/>
          </p:nvPr>
        </p:nvSpPr>
        <p:spPr>
          <a:xfrm>
            <a:off x="5220815" y="1595167"/>
            <a:ext cx="4542787" cy="664790"/>
          </a:xfrm>
          <a:prstGeom prst="rect">
            <a:avLst/>
          </a:prstGeom>
          <a:noFill/>
          <a:ln>
            <a:noFill/>
          </a:ln>
        </p:spPr>
        <p:txBody>
          <a:bodyPr anchorCtr="0" anchor="b" bIns="45700" lIns="91425" spcFirstLastPara="1" rIns="91425" wrap="square" tIns="45700">
            <a:normAutofit/>
          </a:bodyPr>
          <a:lstStyle>
            <a:lvl1pPr indent="-228600" lvl="0" marL="457200" algn="l">
              <a:spcBef>
                <a:spcPts val="499"/>
              </a:spcBef>
              <a:spcAft>
                <a:spcPts val="0"/>
              </a:spcAft>
              <a:buClr>
                <a:schemeClr val="dk1"/>
              </a:buClr>
              <a:buSzPts val="2494"/>
              <a:buNone/>
              <a:defRPr b="1" sz="2494"/>
            </a:lvl1pPr>
            <a:lvl2pPr indent="-228600" lvl="1" marL="914400" algn="l">
              <a:spcBef>
                <a:spcPts val="416"/>
              </a:spcBef>
              <a:spcAft>
                <a:spcPts val="0"/>
              </a:spcAft>
              <a:buClr>
                <a:schemeClr val="dk1"/>
              </a:buClr>
              <a:buSzPts val="2078"/>
              <a:buNone/>
              <a:defRPr b="1" sz="2078"/>
            </a:lvl2pPr>
            <a:lvl3pPr indent="-228600" lvl="2" marL="1371600" algn="l">
              <a:spcBef>
                <a:spcPts val="374"/>
              </a:spcBef>
              <a:spcAft>
                <a:spcPts val="0"/>
              </a:spcAft>
              <a:buClr>
                <a:schemeClr val="dk1"/>
              </a:buClr>
              <a:buSzPts val="1870"/>
              <a:buNone/>
              <a:defRPr b="1" sz="1870"/>
            </a:lvl3pPr>
            <a:lvl4pPr indent="-228600" lvl="3" marL="1828800" algn="l">
              <a:spcBef>
                <a:spcPts val="333"/>
              </a:spcBef>
              <a:spcAft>
                <a:spcPts val="0"/>
              </a:spcAft>
              <a:buClr>
                <a:schemeClr val="dk1"/>
              </a:buClr>
              <a:buSzPts val="1663"/>
              <a:buNone/>
              <a:defRPr b="1" sz="1662"/>
            </a:lvl4pPr>
            <a:lvl5pPr indent="-228600" lvl="4" marL="2286000" algn="l">
              <a:spcBef>
                <a:spcPts val="333"/>
              </a:spcBef>
              <a:spcAft>
                <a:spcPts val="0"/>
              </a:spcAft>
              <a:buClr>
                <a:schemeClr val="dk1"/>
              </a:buClr>
              <a:buSzPts val="1663"/>
              <a:buNone/>
              <a:defRPr b="1" sz="1662"/>
            </a:lvl5pPr>
            <a:lvl6pPr indent="-228600" lvl="5" marL="2743200" algn="l">
              <a:spcBef>
                <a:spcPts val="333"/>
              </a:spcBef>
              <a:spcAft>
                <a:spcPts val="0"/>
              </a:spcAft>
              <a:buClr>
                <a:schemeClr val="dk1"/>
              </a:buClr>
              <a:buSzPts val="1663"/>
              <a:buNone/>
              <a:defRPr b="1" sz="1662"/>
            </a:lvl6pPr>
            <a:lvl7pPr indent="-228600" lvl="6" marL="3200400" algn="l">
              <a:spcBef>
                <a:spcPts val="333"/>
              </a:spcBef>
              <a:spcAft>
                <a:spcPts val="0"/>
              </a:spcAft>
              <a:buClr>
                <a:schemeClr val="dk1"/>
              </a:buClr>
              <a:buSzPts val="1663"/>
              <a:buNone/>
              <a:defRPr b="1" sz="1662"/>
            </a:lvl7pPr>
            <a:lvl8pPr indent="-228600" lvl="7" marL="3657600" algn="l">
              <a:spcBef>
                <a:spcPts val="333"/>
              </a:spcBef>
              <a:spcAft>
                <a:spcPts val="0"/>
              </a:spcAft>
              <a:buClr>
                <a:schemeClr val="dk1"/>
              </a:buClr>
              <a:buSzPts val="1663"/>
              <a:buNone/>
              <a:defRPr b="1" sz="1662"/>
            </a:lvl8pPr>
            <a:lvl9pPr indent="-228600" lvl="8" marL="4114800" algn="l">
              <a:spcBef>
                <a:spcPts val="333"/>
              </a:spcBef>
              <a:spcAft>
                <a:spcPts val="0"/>
              </a:spcAft>
              <a:buClr>
                <a:schemeClr val="dk1"/>
              </a:buClr>
              <a:buSzPts val="1663"/>
              <a:buNone/>
              <a:defRPr b="1" sz="1662"/>
            </a:lvl9pPr>
          </a:lstStyle>
          <a:p/>
        </p:txBody>
      </p:sp>
      <p:sp>
        <p:nvSpPr>
          <p:cNvPr id="50" name="Google Shape;50;p105"/>
          <p:cNvSpPr txBox="1"/>
          <p:nvPr>
            <p:ph idx="4" type="body"/>
          </p:nvPr>
        </p:nvSpPr>
        <p:spPr>
          <a:xfrm>
            <a:off x="5220815" y="2259957"/>
            <a:ext cx="4542787" cy="4105864"/>
          </a:xfrm>
          <a:prstGeom prst="rect">
            <a:avLst/>
          </a:prstGeom>
          <a:noFill/>
          <a:ln>
            <a:noFill/>
          </a:ln>
        </p:spPr>
        <p:txBody>
          <a:bodyPr anchorCtr="0" anchor="t" bIns="45700" lIns="91425" spcFirstLastPara="1" rIns="91425" wrap="square" tIns="45700">
            <a:normAutofit/>
          </a:bodyPr>
          <a:lstStyle>
            <a:lvl1pPr indent="-386969" lvl="0" marL="457200" algn="l">
              <a:spcBef>
                <a:spcPts val="499"/>
              </a:spcBef>
              <a:spcAft>
                <a:spcPts val="0"/>
              </a:spcAft>
              <a:buClr>
                <a:schemeClr val="dk1"/>
              </a:buClr>
              <a:buSzPts val="2494"/>
              <a:buChar char="•"/>
              <a:defRPr sz="2494"/>
            </a:lvl1pPr>
            <a:lvl2pPr indent="-360553" lvl="1" marL="914400" algn="l">
              <a:spcBef>
                <a:spcPts val="416"/>
              </a:spcBef>
              <a:spcAft>
                <a:spcPts val="0"/>
              </a:spcAft>
              <a:buClr>
                <a:schemeClr val="dk1"/>
              </a:buClr>
              <a:buSzPts val="2078"/>
              <a:buChar char="–"/>
              <a:defRPr sz="2078"/>
            </a:lvl2pPr>
            <a:lvl3pPr indent="-347344" lvl="2" marL="1371600" algn="l">
              <a:spcBef>
                <a:spcPts val="374"/>
              </a:spcBef>
              <a:spcAft>
                <a:spcPts val="0"/>
              </a:spcAft>
              <a:buClr>
                <a:schemeClr val="dk1"/>
              </a:buClr>
              <a:buSzPts val="1870"/>
              <a:buChar char="•"/>
              <a:defRPr sz="1870"/>
            </a:lvl3pPr>
            <a:lvl4pPr indent="-334200" lvl="3" marL="1828800" algn="l">
              <a:spcBef>
                <a:spcPts val="333"/>
              </a:spcBef>
              <a:spcAft>
                <a:spcPts val="0"/>
              </a:spcAft>
              <a:buClr>
                <a:schemeClr val="dk1"/>
              </a:buClr>
              <a:buSzPts val="1663"/>
              <a:buChar char="–"/>
              <a:defRPr sz="1662"/>
            </a:lvl4pPr>
            <a:lvl5pPr indent="-334200" lvl="4" marL="2286000" algn="l">
              <a:spcBef>
                <a:spcPts val="333"/>
              </a:spcBef>
              <a:spcAft>
                <a:spcPts val="0"/>
              </a:spcAft>
              <a:buClr>
                <a:schemeClr val="dk1"/>
              </a:buClr>
              <a:buSzPts val="1663"/>
              <a:buChar char="»"/>
              <a:defRPr sz="1662"/>
            </a:lvl5pPr>
            <a:lvl6pPr indent="-334200" lvl="5" marL="2743200" algn="l">
              <a:spcBef>
                <a:spcPts val="333"/>
              </a:spcBef>
              <a:spcAft>
                <a:spcPts val="0"/>
              </a:spcAft>
              <a:buClr>
                <a:schemeClr val="dk1"/>
              </a:buClr>
              <a:buSzPts val="1663"/>
              <a:buChar char="•"/>
              <a:defRPr sz="1662"/>
            </a:lvl6pPr>
            <a:lvl7pPr indent="-334200" lvl="6" marL="3200400" algn="l">
              <a:spcBef>
                <a:spcPts val="333"/>
              </a:spcBef>
              <a:spcAft>
                <a:spcPts val="0"/>
              </a:spcAft>
              <a:buClr>
                <a:schemeClr val="dk1"/>
              </a:buClr>
              <a:buSzPts val="1663"/>
              <a:buChar char="•"/>
              <a:defRPr sz="1662"/>
            </a:lvl7pPr>
            <a:lvl8pPr indent="-334200" lvl="7" marL="3657600" algn="l">
              <a:spcBef>
                <a:spcPts val="333"/>
              </a:spcBef>
              <a:spcAft>
                <a:spcPts val="0"/>
              </a:spcAft>
              <a:buClr>
                <a:schemeClr val="dk1"/>
              </a:buClr>
              <a:buSzPts val="1663"/>
              <a:buChar char="•"/>
              <a:defRPr sz="1662"/>
            </a:lvl8pPr>
            <a:lvl9pPr indent="-334200" lvl="8" marL="4114800" algn="l">
              <a:spcBef>
                <a:spcPts val="333"/>
              </a:spcBef>
              <a:spcAft>
                <a:spcPts val="0"/>
              </a:spcAft>
              <a:buClr>
                <a:schemeClr val="dk1"/>
              </a:buClr>
              <a:buSzPts val="1663"/>
              <a:buChar char="•"/>
              <a:defRPr sz="1662"/>
            </a:lvl9pPr>
          </a:lstStyle>
          <a:p/>
        </p:txBody>
      </p:sp>
      <p:sp>
        <p:nvSpPr>
          <p:cNvPr id="51" name="Google Shape;51;p105"/>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05"/>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54" name="Shape 54"/>
        <p:cNvGrpSpPr/>
        <p:nvPr/>
      </p:nvGrpSpPr>
      <p:grpSpPr>
        <a:xfrm>
          <a:off x="0" y="0"/>
          <a:ext cx="0" cy="0"/>
          <a:chOff x="0" y="0"/>
          <a:chExt cx="0" cy="0"/>
        </a:xfrm>
      </p:grpSpPr>
      <p:sp>
        <p:nvSpPr>
          <p:cNvPr id="55" name="Google Shape;55;p106"/>
          <p:cNvSpPr txBox="1"/>
          <p:nvPr>
            <p:ph type="title"/>
          </p:nvPr>
        </p:nvSpPr>
        <p:spPr>
          <a:xfrm>
            <a:off x="513874" y="285382"/>
            <a:ext cx="9249728"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6"/>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06"/>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0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59" name="Shape 59"/>
        <p:cNvGrpSpPr/>
        <p:nvPr/>
      </p:nvGrpSpPr>
      <p:grpSpPr>
        <a:xfrm>
          <a:off x="0" y="0"/>
          <a:ext cx="0" cy="0"/>
          <a:chOff x="0" y="0"/>
          <a:chExt cx="0" cy="0"/>
        </a:xfrm>
      </p:grpSpPr>
      <p:sp>
        <p:nvSpPr>
          <p:cNvPr id="60" name="Google Shape;60;p107"/>
          <p:cNvSpPr txBox="1"/>
          <p:nvPr>
            <p:ph type="title"/>
          </p:nvPr>
        </p:nvSpPr>
        <p:spPr>
          <a:xfrm>
            <a:off x="513875" y="283732"/>
            <a:ext cx="3381218" cy="120751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78"/>
              <a:buFont typeface="Calibri"/>
              <a:buNone/>
              <a:defRPr b="1" sz="207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07"/>
          <p:cNvSpPr txBox="1"/>
          <p:nvPr>
            <p:ph idx="1" type="body"/>
          </p:nvPr>
        </p:nvSpPr>
        <p:spPr>
          <a:xfrm>
            <a:off x="4018207" y="283733"/>
            <a:ext cx="5745394" cy="6082089"/>
          </a:xfrm>
          <a:prstGeom prst="rect">
            <a:avLst/>
          </a:prstGeom>
          <a:noFill/>
          <a:ln>
            <a:noFill/>
          </a:ln>
        </p:spPr>
        <p:txBody>
          <a:bodyPr anchorCtr="0" anchor="t" bIns="45700" lIns="91425" spcFirstLastPara="1" rIns="91425" wrap="square" tIns="45700">
            <a:normAutofit/>
          </a:bodyPr>
          <a:lstStyle>
            <a:lvl1pPr indent="-439737" lvl="0" marL="457200" algn="l">
              <a:spcBef>
                <a:spcPts val="665"/>
              </a:spcBef>
              <a:spcAft>
                <a:spcPts val="0"/>
              </a:spcAft>
              <a:buClr>
                <a:schemeClr val="dk1"/>
              </a:buClr>
              <a:buSzPts val="3325"/>
              <a:buChar char="•"/>
              <a:defRPr sz="3325"/>
            </a:lvl1pPr>
            <a:lvl2pPr indent="-413321" lvl="1" marL="914400" algn="l">
              <a:spcBef>
                <a:spcPts val="582"/>
              </a:spcBef>
              <a:spcAft>
                <a:spcPts val="0"/>
              </a:spcAft>
              <a:buClr>
                <a:schemeClr val="dk1"/>
              </a:buClr>
              <a:buSzPts val="2909"/>
              <a:buChar char="–"/>
              <a:defRPr sz="2909"/>
            </a:lvl2pPr>
            <a:lvl3pPr indent="-386969" lvl="2" marL="1371600" algn="l">
              <a:spcBef>
                <a:spcPts val="499"/>
              </a:spcBef>
              <a:spcAft>
                <a:spcPts val="0"/>
              </a:spcAft>
              <a:buClr>
                <a:schemeClr val="dk1"/>
              </a:buClr>
              <a:buSzPts val="2494"/>
              <a:buChar char="•"/>
              <a:defRPr sz="2494"/>
            </a:lvl3pPr>
            <a:lvl4pPr indent="-360553" lvl="3" marL="1828800" algn="l">
              <a:spcBef>
                <a:spcPts val="416"/>
              </a:spcBef>
              <a:spcAft>
                <a:spcPts val="0"/>
              </a:spcAft>
              <a:buClr>
                <a:schemeClr val="dk1"/>
              </a:buClr>
              <a:buSzPts val="2078"/>
              <a:buChar char="–"/>
              <a:defRPr sz="2078"/>
            </a:lvl4pPr>
            <a:lvl5pPr indent="-360553" lvl="4" marL="2286000" algn="l">
              <a:spcBef>
                <a:spcPts val="416"/>
              </a:spcBef>
              <a:spcAft>
                <a:spcPts val="0"/>
              </a:spcAft>
              <a:buClr>
                <a:schemeClr val="dk1"/>
              </a:buClr>
              <a:buSzPts val="2078"/>
              <a:buChar char="»"/>
              <a:defRPr sz="2078"/>
            </a:lvl5pPr>
            <a:lvl6pPr indent="-360553" lvl="5" marL="2743200" algn="l">
              <a:spcBef>
                <a:spcPts val="416"/>
              </a:spcBef>
              <a:spcAft>
                <a:spcPts val="0"/>
              </a:spcAft>
              <a:buClr>
                <a:schemeClr val="dk1"/>
              </a:buClr>
              <a:buSzPts val="2078"/>
              <a:buChar char="•"/>
              <a:defRPr sz="2078"/>
            </a:lvl6pPr>
            <a:lvl7pPr indent="-360553" lvl="6" marL="3200400" algn="l">
              <a:spcBef>
                <a:spcPts val="416"/>
              </a:spcBef>
              <a:spcAft>
                <a:spcPts val="0"/>
              </a:spcAft>
              <a:buClr>
                <a:schemeClr val="dk1"/>
              </a:buClr>
              <a:buSzPts val="2078"/>
              <a:buChar char="•"/>
              <a:defRPr sz="2078"/>
            </a:lvl7pPr>
            <a:lvl8pPr indent="-360553" lvl="7" marL="3657600" algn="l">
              <a:spcBef>
                <a:spcPts val="416"/>
              </a:spcBef>
              <a:spcAft>
                <a:spcPts val="0"/>
              </a:spcAft>
              <a:buClr>
                <a:schemeClr val="dk1"/>
              </a:buClr>
              <a:buSzPts val="2078"/>
              <a:buChar char="•"/>
              <a:defRPr sz="2078"/>
            </a:lvl8pPr>
            <a:lvl9pPr indent="-360553" lvl="8" marL="4114800" algn="l">
              <a:spcBef>
                <a:spcPts val="416"/>
              </a:spcBef>
              <a:spcAft>
                <a:spcPts val="0"/>
              </a:spcAft>
              <a:buClr>
                <a:schemeClr val="dk1"/>
              </a:buClr>
              <a:buSzPts val="2078"/>
              <a:buChar char="•"/>
              <a:defRPr sz="2078"/>
            </a:lvl9pPr>
          </a:lstStyle>
          <a:p/>
        </p:txBody>
      </p:sp>
      <p:sp>
        <p:nvSpPr>
          <p:cNvPr id="62" name="Google Shape;62;p107"/>
          <p:cNvSpPr txBox="1"/>
          <p:nvPr>
            <p:ph idx="2" type="body"/>
          </p:nvPr>
        </p:nvSpPr>
        <p:spPr>
          <a:xfrm>
            <a:off x="513875" y="1491242"/>
            <a:ext cx="3381218" cy="4874579"/>
          </a:xfrm>
          <a:prstGeom prst="rect">
            <a:avLst/>
          </a:prstGeom>
          <a:noFill/>
          <a:ln>
            <a:noFill/>
          </a:ln>
        </p:spPr>
        <p:txBody>
          <a:bodyPr anchorCtr="0" anchor="t" bIns="45700" lIns="91425" spcFirstLastPara="1" rIns="91425" wrap="square" tIns="45700">
            <a:normAutofit/>
          </a:bodyPr>
          <a:lstStyle>
            <a:lvl1pPr indent="-228600" lvl="0" marL="457200" algn="l">
              <a:spcBef>
                <a:spcPts val="291"/>
              </a:spcBef>
              <a:spcAft>
                <a:spcPts val="0"/>
              </a:spcAft>
              <a:buClr>
                <a:schemeClr val="dk1"/>
              </a:buClr>
              <a:buSzPts val="1455"/>
              <a:buNone/>
              <a:defRPr sz="1455"/>
            </a:lvl1pPr>
            <a:lvl2pPr indent="-228600" lvl="1" marL="914400" algn="l">
              <a:spcBef>
                <a:spcPts val="249"/>
              </a:spcBef>
              <a:spcAft>
                <a:spcPts val="0"/>
              </a:spcAft>
              <a:buClr>
                <a:schemeClr val="dk1"/>
              </a:buClr>
              <a:buSzPts val="1247"/>
              <a:buNone/>
              <a:defRPr sz="1247"/>
            </a:lvl2pPr>
            <a:lvl3pPr indent="-228600" lvl="2" marL="1371600" algn="l">
              <a:spcBef>
                <a:spcPts val="208"/>
              </a:spcBef>
              <a:spcAft>
                <a:spcPts val="0"/>
              </a:spcAft>
              <a:buClr>
                <a:schemeClr val="dk1"/>
              </a:buClr>
              <a:buSzPts val="1039"/>
              <a:buNone/>
              <a:defRPr sz="1039"/>
            </a:lvl3pPr>
            <a:lvl4pPr indent="-228600" lvl="3" marL="1828800" algn="l">
              <a:spcBef>
                <a:spcPts val="187"/>
              </a:spcBef>
              <a:spcAft>
                <a:spcPts val="0"/>
              </a:spcAft>
              <a:buClr>
                <a:schemeClr val="dk1"/>
              </a:buClr>
              <a:buSzPts val="935"/>
              <a:buNone/>
              <a:defRPr sz="935"/>
            </a:lvl4pPr>
            <a:lvl5pPr indent="-228600" lvl="4" marL="2286000" algn="l">
              <a:spcBef>
                <a:spcPts val="187"/>
              </a:spcBef>
              <a:spcAft>
                <a:spcPts val="0"/>
              </a:spcAft>
              <a:buClr>
                <a:schemeClr val="dk1"/>
              </a:buClr>
              <a:buSzPts val="935"/>
              <a:buNone/>
              <a:defRPr sz="935"/>
            </a:lvl5pPr>
            <a:lvl6pPr indent="-228600" lvl="5" marL="2743200" algn="l">
              <a:spcBef>
                <a:spcPts val="187"/>
              </a:spcBef>
              <a:spcAft>
                <a:spcPts val="0"/>
              </a:spcAft>
              <a:buClr>
                <a:schemeClr val="dk1"/>
              </a:buClr>
              <a:buSzPts val="935"/>
              <a:buNone/>
              <a:defRPr sz="935"/>
            </a:lvl6pPr>
            <a:lvl7pPr indent="-228600" lvl="6" marL="3200400" algn="l">
              <a:spcBef>
                <a:spcPts val="187"/>
              </a:spcBef>
              <a:spcAft>
                <a:spcPts val="0"/>
              </a:spcAft>
              <a:buClr>
                <a:schemeClr val="dk1"/>
              </a:buClr>
              <a:buSzPts val="935"/>
              <a:buNone/>
              <a:defRPr sz="935"/>
            </a:lvl7pPr>
            <a:lvl8pPr indent="-228600" lvl="7" marL="3657600" algn="l">
              <a:spcBef>
                <a:spcPts val="187"/>
              </a:spcBef>
              <a:spcAft>
                <a:spcPts val="0"/>
              </a:spcAft>
              <a:buClr>
                <a:schemeClr val="dk1"/>
              </a:buClr>
              <a:buSzPts val="935"/>
              <a:buNone/>
              <a:defRPr sz="935"/>
            </a:lvl8pPr>
            <a:lvl9pPr indent="-228600" lvl="8" marL="4114800" algn="l">
              <a:spcBef>
                <a:spcPts val="187"/>
              </a:spcBef>
              <a:spcAft>
                <a:spcPts val="0"/>
              </a:spcAft>
              <a:buClr>
                <a:schemeClr val="dk1"/>
              </a:buClr>
              <a:buSzPts val="935"/>
              <a:buNone/>
              <a:defRPr sz="935"/>
            </a:lvl9pPr>
          </a:lstStyle>
          <a:p/>
        </p:txBody>
      </p:sp>
      <p:sp>
        <p:nvSpPr>
          <p:cNvPr id="63" name="Google Shape;63;p107"/>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7"/>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66" name="Shape 66"/>
        <p:cNvGrpSpPr/>
        <p:nvPr/>
      </p:nvGrpSpPr>
      <p:grpSpPr>
        <a:xfrm>
          <a:off x="0" y="0"/>
          <a:ext cx="0" cy="0"/>
          <a:chOff x="0" y="0"/>
          <a:chExt cx="0" cy="0"/>
        </a:xfrm>
      </p:grpSpPr>
      <p:sp>
        <p:nvSpPr>
          <p:cNvPr id="67" name="Google Shape;67;p108"/>
          <p:cNvSpPr txBox="1"/>
          <p:nvPr>
            <p:ph type="title"/>
          </p:nvPr>
        </p:nvSpPr>
        <p:spPr>
          <a:xfrm>
            <a:off x="2014457" y="4988402"/>
            <a:ext cx="6166485" cy="588909"/>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78"/>
              <a:buFont typeface="Calibri"/>
              <a:buNone/>
              <a:defRPr b="1" sz="207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08"/>
          <p:cNvSpPr/>
          <p:nvPr>
            <p:ph idx="2" type="pic"/>
          </p:nvPr>
        </p:nvSpPr>
        <p:spPr>
          <a:xfrm>
            <a:off x="2014457" y="636747"/>
            <a:ext cx="6166485" cy="4275773"/>
          </a:xfrm>
          <a:prstGeom prst="rect">
            <a:avLst/>
          </a:prstGeom>
          <a:noFill/>
          <a:ln>
            <a:noFill/>
          </a:ln>
        </p:spPr>
      </p:sp>
      <p:sp>
        <p:nvSpPr>
          <p:cNvPr id="69" name="Google Shape;69;p108"/>
          <p:cNvSpPr txBox="1"/>
          <p:nvPr>
            <p:ph idx="1" type="body"/>
          </p:nvPr>
        </p:nvSpPr>
        <p:spPr>
          <a:xfrm>
            <a:off x="2014457" y="5577310"/>
            <a:ext cx="6166485" cy="836349"/>
          </a:xfrm>
          <a:prstGeom prst="rect">
            <a:avLst/>
          </a:prstGeom>
          <a:noFill/>
          <a:ln>
            <a:noFill/>
          </a:ln>
        </p:spPr>
        <p:txBody>
          <a:bodyPr anchorCtr="0" anchor="t" bIns="45700" lIns="91425" spcFirstLastPara="1" rIns="91425" wrap="square" tIns="45700">
            <a:normAutofit/>
          </a:bodyPr>
          <a:lstStyle>
            <a:lvl1pPr indent="-228600" lvl="0" marL="457200" algn="l">
              <a:spcBef>
                <a:spcPts val="291"/>
              </a:spcBef>
              <a:spcAft>
                <a:spcPts val="0"/>
              </a:spcAft>
              <a:buClr>
                <a:schemeClr val="dk1"/>
              </a:buClr>
              <a:buSzPts val="1455"/>
              <a:buNone/>
              <a:defRPr sz="1455"/>
            </a:lvl1pPr>
            <a:lvl2pPr indent="-228600" lvl="1" marL="914400" algn="l">
              <a:spcBef>
                <a:spcPts val="249"/>
              </a:spcBef>
              <a:spcAft>
                <a:spcPts val="0"/>
              </a:spcAft>
              <a:buClr>
                <a:schemeClr val="dk1"/>
              </a:buClr>
              <a:buSzPts val="1247"/>
              <a:buNone/>
              <a:defRPr sz="1247"/>
            </a:lvl2pPr>
            <a:lvl3pPr indent="-228600" lvl="2" marL="1371600" algn="l">
              <a:spcBef>
                <a:spcPts val="208"/>
              </a:spcBef>
              <a:spcAft>
                <a:spcPts val="0"/>
              </a:spcAft>
              <a:buClr>
                <a:schemeClr val="dk1"/>
              </a:buClr>
              <a:buSzPts val="1039"/>
              <a:buNone/>
              <a:defRPr sz="1039"/>
            </a:lvl3pPr>
            <a:lvl4pPr indent="-228600" lvl="3" marL="1828800" algn="l">
              <a:spcBef>
                <a:spcPts val="187"/>
              </a:spcBef>
              <a:spcAft>
                <a:spcPts val="0"/>
              </a:spcAft>
              <a:buClr>
                <a:schemeClr val="dk1"/>
              </a:buClr>
              <a:buSzPts val="935"/>
              <a:buNone/>
              <a:defRPr sz="935"/>
            </a:lvl4pPr>
            <a:lvl5pPr indent="-228600" lvl="4" marL="2286000" algn="l">
              <a:spcBef>
                <a:spcPts val="187"/>
              </a:spcBef>
              <a:spcAft>
                <a:spcPts val="0"/>
              </a:spcAft>
              <a:buClr>
                <a:schemeClr val="dk1"/>
              </a:buClr>
              <a:buSzPts val="935"/>
              <a:buNone/>
              <a:defRPr sz="935"/>
            </a:lvl5pPr>
            <a:lvl6pPr indent="-228600" lvl="5" marL="2743200" algn="l">
              <a:spcBef>
                <a:spcPts val="187"/>
              </a:spcBef>
              <a:spcAft>
                <a:spcPts val="0"/>
              </a:spcAft>
              <a:buClr>
                <a:schemeClr val="dk1"/>
              </a:buClr>
              <a:buSzPts val="935"/>
              <a:buNone/>
              <a:defRPr sz="935"/>
            </a:lvl6pPr>
            <a:lvl7pPr indent="-228600" lvl="6" marL="3200400" algn="l">
              <a:spcBef>
                <a:spcPts val="187"/>
              </a:spcBef>
              <a:spcAft>
                <a:spcPts val="0"/>
              </a:spcAft>
              <a:buClr>
                <a:schemeClr val="dk1"/>
              </a:buClr>
              <a:buSzPts val="935"/>
              <a:buNone/>
              <a:defRPr sz="935"/>
            </a:lvl7pPr>
            <a:lvl8pPr indent="-228600" lvl="7" marL="3657600" algn="l">
              <a:spcBef>
                <a:spcPts val="187"/>
              </a:spcBef>
              <a:spcAft>
                <a:spcPts val="0"/>
              </a:spcAft>
              <a:buClr>
                <a:schemeClr val="dk1"/>
              </a:buClr>
              <a:buSzPts val="935"/>
              <a:buNone/>
              <a:defRPr sz="935"/>
            </a:lvl8pPr>
            <a:lvl9pPr indent="-228600" lvl="8" marL="4114800" algn="l">
              <a:spcBef>
                <a:spcPts val="187"/>
              </a:spcBef>
              <a:spcAft>
                <a:spcPts val="0"/>
              </a:spcAft>
              <a:buClr>
                <a:schemeClr val="dk1"/>
              </a:buClr>
              <a:buSzPts val="935"/>
              <a:buNone/>
              <a:defRPr sz="935"/>
            </a:lvl9pPr>
          </a:lstStyle>
          <a:p/>
        </p:txBody>
      </p:sp>
      <p:sp>
        <p:nvSpPr>
          <p:cNvPr id="70" name="Google Shape;70;p108"/>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8"/>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73" name="Shape 73"/>
        <p:cNvGrpSpPr/>
        <p:nvPr/>
      </p:nvGrpSpPr>
      <p:grpSpPr>
        <a:xfrm>
          <a:off x="0" y="0"/>
          <a:ext cx="0" cy="0"/>
          <a:chOff x="0" y="0"/>
          <a:chExt cx="0" cy="0"/>
        </a:xfrm>
      </p:grpSpPr>
      <p:sp>
        <p:nvSpPr>
          <p:cNvPr id="74" name="Google Shape;74;p109"/>
          <p:cNvSpPr txBox="1"/>
          <p:nvPr>
            <p:ph type="title"/>
          </p:nvPr>
        </p:nvSpPr>
        <p:spPr>
          <a:xfrm>
            <a:off x="513874" y="285382"/>
            <a:ext cx="9249728" cy="118771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09"/>
          <p:cNvSpPr txBox="1"/>
          <p:nvPr>
            <p:ph idx="1" type="body"/>
          </p:nvPr>
        </p:nvSpPr>
        <p:spPr>
          <a:xfrm rot="5400000">
            <a:off x="2787228" y="-610553"/>
            <a:ext cx="4703021" cy="924972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6" name="Google Shape;76;p109"/>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9"/>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79" name="Shape 79"/>
        <p:cNvGrpSpPr/>
        <p:nvPr/>
      </p:nvGrpSpPr>
      <p:grpSpPr>
        <a:xfrm>
          <a:off x="0" y="0"/>
          <a:ext cx="0" cy="0"/>
          <a:chOff x="0" y="0"/>
          <a:chExt cx="0" cy="0"/>
        </a:xfrm>
      </p:grpSpPr>
      <p:sp>
        <p:nvSpPr>
          <p:cNvPr id="80" name="Google Shape;80;p110"/>
          <p:cNvSpPr txBox="1"/>
          <p:nvPr>
            <p:ph type="title"/>
          </p:nvPr>
        </p:nvSpPr>
        <p:spPr>
          <a:xfrm rot="5400000">
            <a:off x="5567166" y="2169387"/>
            <a:ext cx="6080439" cy="2312432"/>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10"/>
          <p:cNvSpPr txBox="1"/>
          <p:nvPr>
            <p:ph idx="1" type="body"/>
          </p:nvPr>
        </p:nvSpPr>
        <p:spPr>
          <a:xfrm rot="5400000">
            <a:off x="856656" y="-57399"/>
            <a:ext cx="6080439" cy="6766004"/>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110"/>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0"/>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1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99"/>
          <p:cNvSpPr txBox="1"/>
          <p:nvPr>
            <p:ph type="title"/>
          </p:nvPr>
        </p:nvSpPr>
        <p:spPr>
          <a:xfrm>
            <a:off x="513874" y="285382"/>
            <a:ext cx="9249728" cy="1187715"/>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572"/>
              <a:buFont typeface="Calibri"/>
              <a:buNone/>
              <a:defRPr b="0" i="0" sz="4572"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9"/>
          <p:cNvSpPr txBox="1"/>
          <p:nvPr>
            <p:ph idx="1" type="body"/>
          </p:nvPr>
        </p:nvSpPr>
        <p:spPr>
          <a:xfrm>
            <a:off x="513874" y="1662801"/>
            <a:ext cx="9249728" cy="4703021"/>
          </a:xfrm>
          <a:prstGeom prst="rect">
            <a:avLst/>
          </a:prstGeom>
          <a:noFill/>
          <a:ln>
            <a:noFill/>
          </a:ln>
        </p:spPr>
        <p:txBody>
          <a:bodyPr anchorCtr="0" anchor="t" bIns="45700" lIns="91425" spcFirstLastPara="1" rIns="91425" wrap="square" tIns="45700">
            <a:normAutofit/>
          </a:bodyPr>
          <a:lstStyle>
            <a:lvl1pPr indent="-439737" lvl="0" marL="457200" marR="0" rtl="0" algn="l">
              <a:spcBef>
                <a:spcPts val="665"/>
              </a:spcBef>
              <a:spcAft>
                <a:spcPts val="0"/>
              </a:spcAft>
              <a:buClr>
                <a:schemeClr val="dk1"/>
              </a:buClr>
              <a:buSzPts val="3325"/>
              <a:buFont typeface="Arial"/>
              <a:buChar char="•"/>
              <a:defRPr b="0" i="0" sz="3325" u="none" cap="none" strike="noStrike">
                <a:solidFill>
                  <a:schemeClr val="dk1"/>
                </a:solidFill>
                <a:latin typeface="Calibri"/>
                <a:ea typeface="Calibri"/>
                <a:cs typeface="Calibri"/>
                <a:sym typeface="Calibri"/>
              </a:defRPr>
            </a:lvl1pPr>
            <a:lvl2pPr indent="-413321" lvl="1" marL="914400" marR="0" rtl="0" algn="l">
              <a:spcBef>
                <a:spcPts val="582"/>
              </a:spcBef>
              <a:spcAft>
                <a:spcPts val="0"/>
              </a:spcAft>
              <a:buClr>
                <a:schemeClr val="dk1"/>
              </a:buClr>
              <a:buSzPts val="2909"/>
              <a:buFont typeface="Arial"/>
              <a:buChar char="–"/>
              <a:defRPr b="0" i="0" sz="2909" u="none" cap="none" strike="noStrike">
                <a:solidFill>
                  <a:schemeClr val="dk1"/>
                </a:solidFill>
                <a:latin typeface="Calibri"/>
                <a:ea typeface="Calibri"/>
                <a:cs typeface="Calibri"/>
                <a:sym typeface="Calibri"/>
              </a:defRPr>
            </a:lvl2pPr>
            <a:lvl3pPr indent="-386969" lvl="2" marL="1371600" marR="0" rtl="0" algn="l">
              <a:spcBef>
                <a:spcPts val="499"/>
              </a:spcBef>
              <a:spcAft>
                <a:spcPts val="0"/>
              </a:spcAft>
              <a:buClr>
                <a:schemeClr val="dk1"/>
              </a:buClr>
              <a:buSzPts val="2494"/>
              <a:buFont typeface="Arial"/>
              <a:buChar char="•"/>
              <a:defRPr b="0" i="0" sz="2494" u="none" cap="none" strike="noStrike">
                <a:solidFill>
                  <a:schemeClr val="dk1"/>
                </a:solidFill>
                <a:latin typeface="Calibri"/>
                <a:ea typeface="Calibri"/>
                <a:cs typeface="Calibri"/>
                <a:sym typeface="Calibri"/>
              </a:defRPr>
            </a:lvl3pPr>
            <a:lvl4pPr indent="-360553" lvl="3" marL="18288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4pPr>
            <a:lvl5pPr indent="-360553" lvl="4" marL="22860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5pPr>
            <a:lvl6pPr indent="-360553" lvl="5" marL="27432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6pPr>
            <a:lvl7pPr indent="-360553" lvl="6" marL="32004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7pPr>
            <a:lvl8pPr indent="-360553" lvl="7" marL="36576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8pPr>
            <a:lvl9pPr indent="-360553" lvl="8" marL="4114800" marR="0" rtl="0" algn="l">
              <a:spcBef>
                <a:spcPts val="416"/>
              </a:spcBef>
              <a:spcAft>
                <a:spcPts val="0"/>
              </a:spcAft>
              <a:buClr>
                <a:schemeClr val="dk1"/>
              </a:buClr>
              <a:buSzPts val="2078"/>
              <a:buFont typeface="Arial"/>
              <a:buChar char="•"/>
              <a:defRPr b="0" i="0" sz="2078" u="none" cap="none" strike="noStrike">
                <a:solidFill>
                  <a:schemeClr val="dk1"/>
                </a:solidFill>
                <a:latin typeface="Calibri"/>
                <a:ea typeface="Calibri"/>
                <a:cs typeface="Calibri"/>
                <a:sym typeface="Calibri"/>
              </a:defRPr>
            </a:lvl9pPr>
          </a:lstStyle>
          <a:p/>
        </p:txBody>
      </p:sp>
      <p:sp>
        <p:nvSpPr>
          <p:cNvPr id="12" name="Google Shape;12;p99"/>
          <p:cNvSpPr txBox="1"/>
          <p:nvPr>
            <p:ph idx="10" type="dt"/>
          </p:nvPr>
        </p:nvSpPr>
        <p:spPr>
          <a:xfrm>
            <a:off x="513874" y="6605014"/>
            <a:ext cx="2398078" cy="379409"/>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47"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13" name="Google Shape;13;p99"/>
          <p:cNvSpPr txBox="1"/>
          <p:nvPr>
            <p:ph idx="11" type="ftr"/>
          </p:nvPr>
        </p:nvSpPr>
        <p:spPr>
          <a:xfrm>
            <a:off x="3511471" y="6605014"/>
            <a:ext cx="3254534" cy="379409"/>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47"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000" u="none" cap="none" strike="noStrike">
                <a:solidFill>
                  <a:schemeClr val="dk1"/>
                </a:solidFill>
                <a:latin typeface="Arial"/>
                <a:ea typeface="Arial"/>
                <a:cs typeface="Arial"/>
                <a:sym typeface="Arial"/>
              </a:defRPr>
            </a:lvl9pPr>
          </a:lstStyle>
          <a:p/>
        </p:txBody>
      </p:sp>
      <p:sp>
        <p:nvSpPr>
          <p:cNvPr id="14" name="Google Shape;14;p9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47" u="none" cap="none" strike="noStrike">
                <a:solidFill>
                  <a:srgbClr val="888888"/>
                </a:solidFill>
                <a:latin typeface="Arial"/>
                <a:ea typeface="Arial"/>
                <a:cs typeface="Arial"/>
                <a:sym typeface="Arial"/>
              </a:defRPr>
            </a:lvl1pPr>
            <a:lvl2pPr indent="0" lvl="1" marL="0" marR="0" rtl="0" algn="r">
              <a:spcBef>
                <a:spcPts val="0"/>
              </a:spcBef>
              <a:spcAft>
                <a:spcPts val="0"/>
              </a:spcAft>
              <a:buNone/>
              <a:defRPr b="0" i="0" sz="1247" u="none" cap="none" strike="noStrike">
                <a:solidFill>
                  <a:srgbClr val="888888"/>
                </a:solidFill>
                <a:latin typeface="Arial"/>
                <a:ea typeface="Arial"/>
                <a:cs typeface="Arial"/>
                <a:sym typeface="Arial"/>
              </a:defRPr>
            </a:lvl2pPr>
            <a:lvl3pPr indent="0" lvl="2" marL="0" marR="0" rtl="0" algn="r">
              <a:spcBef>
                <a:spcPts val="0"/>
              </a:spcBef>
              <a:spcAft>
                <a:spcPts val="0"/>
              </a:spcAft>
              <a:buNone/>
              <a:defRPr b="0" i="0" sz="1247" u="none" cap="none" strike="noStrike">
                <a:solidFill>
                  <a:srgbClr val="888888"/>
                </a:solidFill>
                <a:latin typeface="Arial"/>
                <a:ea typeface="Arial"/>
                <a:cs typeface="Arial"/>
                <a:sym typeface="Arial"/>
              </a:defRPr>
            </a:lvl3pPr>
            <a:lvl4pPr indent="0" lvl="3" marL="0" marR="0" rtl="0" algn="r">
              <a:spcBef>
                <a:spcPts val="0"/>
              </a:spcBef>
              <a:spcAft>
                <a:spcPts val="0"/>
              </a:spcAft>
              <a:buNone/>
              <a:defRPr b="0" i="0" sz="1247" u="none" cap="none" strike="noStrike">
                <a:solidFill>
                  <a:srgbClr val="888888"/>
                </a:solidFill>
                <a:latin typeface="Arial"/>
                <a:ea typeface="Arial"/>
                <a:cs typeface="Arial"/>
                <a:sym typeface="Arial"/>
              </a:defRPr>
            </a:lvl4pPr>
            <a:lvl5pPr indent="0" lvl="4" marL="0" marR="0" rtl="0" algn="r">
              <a:spcBef>
                <a:spcPts val="0"/>
              </a:spcBef>
              <a:spcAft>
                <a:spcPts val="0"/>
              </a:spcAft>
              <a:buNone/>
              <a:defRPr b="0" i="0" sz="1247" u="none" cap="none" strike="noStrike">
                <a:solidFill>
                  <a:srgbClr val="888888"/>
                </a:solidFill>
                <a:latin typeface="Arial"/>
                <a:ea typeface="Arial"/>
                <a:cs typeface="Arial"/>
                <a:sym typeface="Arial"/>
              </a:defRPr>
            </a:lvl5pPr>
            <a:lvl6pPr indent="0" lvl="5" marL="0" marR="0" rtl="0" algn="r">
              <a:spcBef>
                <a:spcPts val="0"/>
              </a:spcBef>
              <a:spcAft>
                <a:spcPts val="0"/>
              </a:spcAft>
              <a:buNone/>
              <a:defRPr b="0" i="0" sz="1247" u="none" cap="none" strike="noStrike">
                <a:solidFill>
                  <a:srgbClr val="888888"/>
                </a:solidFill>
                <a:latin typeface="Arial"/>
                <a:ea typeface="Arial"/>
                <a:cs typeface="Arial"/>
                <a:sym typeface="Arial"/>
              </a:defRPr>
            </a:lvl6pPr>
            <a:lvl7pPr indent="0" lvl="6" marL="0" marR="0" rtl="0" algn="r">
              <a:spcBef>
                <a:spcPts val="0"/>
              </a:spcBef>
              <a:spcAft>
                <a:spcPts val="0"/>
              </a:spcAft>
              <a:buNone/>
              <a:defRPr b="0" i="0" sz="1247" u="none" cap="none" strike="noStrike">
                <a:solidFill>
                  <a:srgbClr val="888888"/>
                </a:solidFill>
                <a:latin typeface="Arial"/>
                <a:ea typeface="Arial"/>
                <a:cs typeface="Arial"/>
                <a:sym typeface="Arial"/>
              </a:defRPr>
            </a:lvl7pPr>
            <a:lvl8pPr indent="0" lvl="7" marL="0" marR="0" rtl="0" algn="r">
              <a:spcBef>
                <a:spcPts val="0"/>
              </a:spcBef>
              <a:spcAft>
                <a:spcPts val="0"/>
              </a:spcAft>
              <a:buNone/>
              <a:defRPr b="0" i="0" sz="1247" u="none" cap="none" strike="noStrike">
                <a:solidFill>
                  <a:srgbClr val="888888"/>
                </a:solidFill>
                <a:latin typeface="Arial"/>
                <a:ea typeface="Arial"/>
                <a:cs typeface="Arial"/>
                <a:sym typeface="Arial"/>
              </a:defRPr>
            </a:lvl8pPr>
            <a:lvl9pPr indent="0" lvl="8" marL="0" marR="0" rtl="0" algn="r">
              <a:spcBef>
                <a:spcPts val="0"/>
              </a:spcBef>
              <a:spcAft>
                <a:spcPts val="0"/>
              </a:spcAft>
              <a:buNone/>
              <a:defRPr b="0" i="0" sz="1247"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ru-RU"/>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2.jpg"/><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9.jpg"/><Relationship Id="rId4" Type="http://schemas.openxmlformats.org/officeDocument/2006/relationships/image" Target="../media/image23.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5.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7.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7.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4.png"/><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4.png"/><Relationship Id="rId4" Type="http://schemas.openxmlformats.org/officeDocument/2006/relationships/image" Target="../media/image36.png"/><Relationship Id="rId5" Type="http://schemas.openxmlformats.org/officeDocument/2006/relationships/image" Target="../media/image3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1.png"/><Relationship Id="rId4" Type="http://schemas.openxmlformats.org/officeDocument/2006/relationships/image" Target="../media/image24.png"/><Relationship Id="rId5" Type="http://schemas.openxmlformats.org/officeDocument/2006/relationships/image" Target="../media/image30.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3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5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4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4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51.png"/><Relationship Id="rId6" Type="http://schemas.openxmlformats.org/officeDocument/2006/relationships/image" Target="../media/image4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4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5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4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4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4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5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5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5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52.png"/><Relationship Id="rId4" Type="http://schemas.openxmlformats.org/officeDocument/2006/relationships/image" Target="../media/image55.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49.png"/><Relationship Id="rId4" Type="http://schemas.openxmlformats.org/officeDocument/2006/relationships/image" Target="../media/image5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54.png"/><Relationship Id="rId4" Type="http://schemas.openxmlformats.org/officeDocument/2006/relationships/image" Target="../media/image5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60.png"/><Relationship Id="rId4" Type="http://schemas.openxmlformats.org/officeDocument/2006/relationships/hyperlink" Target="https://blog.sf.education/it-luchshie-biblioteki-yazyka-r/?ysclid=l1vqp9agy5"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ph type="ctrTitle"/>
          </p:nvPr>
        </p:nvSpPr>
        <p:spPr>
          <a:xfrm>
            <a:off x="0" y="1093788"/>
            <a:ext cx="5300663" cy="1527175"/>
          </a:xfrm>
          <a:prstGeom prst="rect">
            <a:avLst/>
          </a:prstGeom>
          <a:noFill/>
          <a:ln>
            <a:noFill/>
          </a:ln>
        </p:spPr>
        <p:txBody>
          <a:bodyPr anchorCtr="0" anchor="b" bIns="49700" lIns="99425" spcFirstLastPara="1" rIns="99425" wrap="square" tIns="49700">
            <a:normAutofit fontScale="90000"/>
          </a:bodyPr>
          <a:lstStyle/>
          <a:p>
            <a:pPr indent="0" lvl="0" marL="0" rtl="0" algn="ctr">
              <a:lnSpc>
                <a:spcPct val="80000"/>
              </a:lnSpc>
              <a:spcBef>
                <a:spcPts val="0"/>
              </a:spcBef>
              <a:spcAft>
                <a:spcPts val="0"/>
              </a:spcAft>
              <a:buClr>
                <a:schemeClr val="dk1"/>
              </a:buClr>
              <a:buSzPct val="100000"/>
              <a:buFont typeface="Calibri"/>
              <a:buNone/>
            </a:pPr>
            <a:r>
              <a:rPr lang="ru-RU" sz="6600"/>
              <a:t>Курс</a:t>
            </a:r>
            <a:br>
              <a:rPr lang="ru-RU" sz="6600"/>
            </a:br>
            <a:r>
              <a:rPr lang="ru-RU" sz="6000"/>
              <a:t>Обработка больших данных</a:t>
            </a:r>
            <a:endParaRPr/>
          </a:p>
        </p:txBody>
      </p:sp>
      <p:sp>
        <p:nvSpPr>
          <p:cNvPr id="92" name="Google Shape;92;p1"/>
          <p:cNvSpPr txBox="1"/>
          <p:nvPr>
            <p:ph idx="1" type="subTitle"/>
          </p:nvPr>
        </p:nvSpPr>
        <p:spPr>
          <a:xfrm>
            <a:off x="101600" y="2771775"/>
            <a:ext cx="5207000" cy="2231529"/>
          </a:xfrm>
          <a:prstGeom prst="rect">
            <a:avLst/>
          </a:prstGeom>
          <a:noFill/>
          <a:ln>
            <a:noFill/>
          </a:ln>
        </p:spPr>
        <p:txBody>
          <a:bodyPr anchorCtr="0" anchor="t" bIns="49700" lIns="99425" spcFirstLastPara="1" rIns="99425" wrap="square" tIns="49700">
            <a:normAutofit fontScale="77500" lnSpcReduction="20000"/>
          </a:bodyPr>
          <a:lstStyle/>
          <a:p>
            <a:pPr indent="0" lvl="0" marL="0" rtl="0" algn="ctr">
              <a:spcBef>
                <a:spcPts val="0"/>
              </a:spcBef>
              <a:spcAft>
                <a:spcPts val="0"/>
              </a:spcAft>
              <a:buClr>
                <a:srgbClr val="888888"/>
              </a:buClr>
              <a:buSzPct val="100000"/>
              <a:buFont typeface="Calibri"/>
              <a:buNone/>
            </a:pPr>
            <a:r>
              <a:rPr lang="ru-RU" sz="3600"/>
              <a:t>Лекция 6 </a:t>
            </a:r>
            <a:endParaRPr sz="3600"/>
          </a:p>
          <a:p>
            <a:pPr indent="0" lvl="0" marL="0" rtl="0" algn="ctr">
              <a:spcBef>
                <a:spcPts val="527"/>
              </a:spcBef>
              <a:spcAft>
                <a:spcPts val="0"/>
              </a:spcAft>
              <a:buClr>
                <a:srgbClr val="ED8137"/>
              </a:buClr>
              <a:buSzPct val="100000"/>
              <a:buNone/>
            </a:pPr>
            <a:r>
              <a:rPr b="1" lang="ru-RU" sz="3400">
                <a:solidFill>
                  <a:srgbClr val="ED8137"/>
                </a:solidFill>
              </a:rPr>
              <a:t>Методы и алгоритмы  </a:t>
            </a:r>
            <a:endParaRPr/>
          </a:p>
          <a:p>
            <a:pPr indent="0" lvl="0" marL="0" rtl="0" algn="ctr">
              <a:spcBef>
                <a:spcPts val="527"/>
              </a:spcBef>
              <a:spcAft>
                <a:spcPts val="0"/>
              </a:spcAft>
              <a:buClr>
                <a:srgbClr val="ED8137"/>
              </a:buClr>
              <a:buSzPct val="100000"/>
              <a:buNone/>
            </a:pPr>
            <a:r>
              <a:rPr b="1" lang="ru-RU" sz="3400">
                <a:solidFill>
                  <a:srgbClr val="ED8137"/>
                </a:solidFill>
              </a:rPr>
              <a:t>Data Analysis</a:t>
            </a:r>
            <a:endParaRPr b="1" sz="3400">
              <a:solidFill>
                <a:srgbClr val="ED8137"/>
              </a:solidFill>
            </a:endParaRPr>
          </a:p>
          <a:p>
            <a:pPr indent="0" lvl="0" marL="0" rtl="0" algn="ctr">
              <a:spcBef>
                <a:spcPts val="527"/>
              </a:spcBef>
              <a:spcAft>
                <a:spcPts val="0"/>
              </a:spcAft>
              <a:buClr>
                <a:srgbClr val="ED8137"/>
              </a:buClr>
              <a:buSzPct val="100000"/>
              <a:buNone/>
            </a:pPr>
            <a:r>
              <a:rPr b="1" lang="ru-RU" sz="3400">
                <a:solidFill>
                  <a:srgbClr val="ED8137"/>
                </a:solidFill>
              </a:rPr>
              <a:t>Когнитивный анализ данных. </a:t>
            </a:r>
            <a:endParaRPr/>
          </a:p>
          <a:p>
            <a:pPr indent="0" lvl="0" marL="0" rtl="0" algn="ctr">
              <a:spcBef>
                <a:spcPts val="527"/>
              </a:spcBef>
              <a:spcAft>
                <a:spcPts val="0"/>
              </a:spcAft>
              <a:buClr>
                <a:srgbClr val="ED8137"/>
              </a:buClr>
              <a:buSzPct val="100000"/>
              <a:buNone/>
            </a:pPr>
            <a:r>
              <a:rPr b="1" lang="ru-RU" sz="3400">
                <a:solidFill>
                  <a:srgbClr val="ED8137"/>
                </a:solidFill>
              </a:rPr>
              <a:t>Кластерный анализ</a:t>
            </a:r>
            <a:endParaRPr/>
          </a:p>
        </p:txBody>
      </p:sp>
      <p:sp>
        <p:nvSpPr>
          <p:cNvPr id="93" name="Google Shape;93;p1"/>
          <p:cNvSpPr/>
          <p:nvPr/>
        </p:nvSpPr>
        <p:spPr>
          <a:xfrm>
            <a:off x="-33313" y="5154116"/>
            <a:ext cx="5137150" cy="7683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ru-RU" sz="1600" u="none" cap="none" strike="noStrike">
                <a:solidFill>
                  <a:schemeClr val="dk1"/>
                </a:solidFill>
                <a:latin typeface="Arial"/>
                <a:ea typeface="Arial"/>
                <a:cs typeface="Arial"/>
                <a:sym typeface="Arial"/>
              </a:rPr>
              <a:t>Приходько Татьяна Александровна</a:t>
            </a:r>
            <a:endParaRPr b="0" i="1" sz="16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0" i="1" lang="ru-RU" sz="1400" u="none" cap="none" strike="noStrike">
                <a:solidFill>
                  <a:schemeClr val="dk1"/>
                </a:solidFill>
                <a:latin typeface="Arial"/>
                <a:ea typeface="Arial"/>
                <a:cs typeface="Arial"/>
                <a:sym typeface="Arial"/>
              </a:rPr>
              <a:t>доцент кафедры </a:t>
            </a:r>
            <a:endParaRPr/>
          </a:p>
          <a:p>
            <a:pPr indent="0" lvl="0" marL="0" marR="0" rtl="0" algn="ctr">
              <a:spcBef>
                <a:spcPts val="0"/>
              </a:spcBef>
              <a:spcAft>
                <a:spcPts val="0"/>
              </a:spcAft>
              <a:buNone/>
            </a:pPr>
            <a:r>
              <a:rPr b="0" i="1" lang="ru-RU" sz="1400" u="none" cap="none" strike="noStrike">
                <a:solidFill>
                  <a:schemeClr val="dk1"/>
                </a:solidFill>
                <a:latin typeface="Arial"/>
                <a:ea typeface="Arial"/>
                <a:cs typeface="Arial"/>
                <a:sym typeface="Arial"/>
              </a:rPr>
              <a:t>Вычислительных технологий КубГУ</a:t>
            </a:r>
            <a:endParaRPr b="0" i="1" sz="14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817563" y="466725"/>
            <a:ext cx="8539162" cy="1187450"/>
          </a:xfrm>
          <a:prstGeom prst="rect">
            <a:avLst/>
          </a:prstGeom>
          <a:noFill/>
          <a:ln>
            <a:noFill/>
          </a:ln>
        </p:spPr>
        <p:txBody>
          <a:bodyPr anchorCtr="0" anchor="t" bIns="49700" lIns="99425" spcFirstLastPara="1" rIns="99425" wrap="square" tIns="49700">
            <a:normAutofit/>
          </a:bodyPr>
          <a:lstStyle/>
          <a:p>
            <a:pPr indent="0" lvl="0" marL="0" rtl="0" algn="ctr">
              <a:spcBef>
                <a:spcPts val="0"/>
              </a:spcBef>
              <a:spcAft>
                <a:spcPts val="0"/>
              </a:spcAft>
              <a:buClr>
                <a:schemeClr val="dk1"/>
              </a:buClr>
              <a:buSzPts val="4500"/>
              <a:buFont typeface="Calibri"/>
              <a:buNone/>
            </a:pPr>
            <a:r>
              <a:rPr lang="ru-RU"/>
              <a:t>Содержание</a:t>
            </a:r>
            <a:endParaRPr/>
          </a:p>
        </p:txBody>
      </p:sp>
      <p:sp>
        <p:nvSpPr>
          <p:cNvPr id="100" name="Google Shape;100;p2"/>
          <p:cNvSpPr/>
          <p:nvPr/>
        </p:nvSpPr>
        <p:spPr>
          <a:xfrm>
            <a:off x="1089792" y="4418285"/>
            <a:ext cx="8086725" cy="762000"/>
          </a:xfrm>
          <a:prstGeom prst="roundRect">
            <a:avLst>
              <a:gd fmla="val 16667" name="adj"/>
            </a:avLst>
          </a:prstGeom>
          <a:solidFill>
            <a:srgbClr val="464646">
              <a:alpha val="49803"/>
            </a:srgbClr>
          </a:solidFill>
          <a:ln>
            <a:noFill/>
          </a:ln>
        </p:spPr>
        <p:txBody>
          <a:bodyPr anchorCtr="0" anchor="ctr" bIns="45700" lIns="91425" spcFirstLastPara="1" rIns="91425" wrap="square" tIns="45700">
            <a:noAutofit/>
          </a:bodyPr>
          <a:lstStyle/>
          <a:p>
            <a:pPr indent="0" lvl="0" marL="903288" marR="0" rtl="0" algn="l">
              <a:spcBef>
                <a:spcPts val="0"/>
              </a:spcBef>
              <a:spcAft>
                <a:spcPts val="0"/>
              </a:spcAft>
              <a:buNone/>
            </a:pPr>
            <a:r>
              <a:t/>
            </a:r>
            <a:endParaRPr b="0" i="0" sz="3600" u="none" cap="none" strike="noStrike">
              <a:solidFill>
                <a:schemeClr val="lt1"/>
              </a:solidFill>
              <a:latin typeface="Arial"/>
              <a:ea typeface="Arial"/>
              <a:cs typeface="Arial"/>
              <a:sym typeface="Arial"/>
            </a:endParaRPr>
          </a:p>
        </p:txBody>
      </p:sp>
      <p:sp>
        <p:nvSpPr>
          <p:cNvPr id="101" name="Google Shape;101;p2"/>
          <p:cNvSpPr/>
          <p:nvPr/>
        </p:nvSpPr>
        <p:spPr>
          <a:xfrm>
            <a:off x="1374837" y="4586597"/>
            <a:ext cx="517525" cy="504825"/>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ru-RU" sz="2800" u="none" cap="none" strike="noStrike">
                <a:solidFill>
                  <a:schemeClr val="lt1"/>
                </a:solidFill>
                <a:latin typeface="Arial"/>
                <a:ea typeface="Arial"/>
                <a:cs typeface="Arial"/>
                <a:sym typeface="Arial"/>
              </a:rPr>
              <a:t>4</a:t>
            </a:r>
            <a:endParaRPr b="1" i="0" sz="2800" u="none" cap="none" strike="noStrike">
              <a:solidFill>
                <a:schemeClr val="lt1"/>
              </a:solidFill>
              <a:latin typeface="Arial"/>
              <a:ea typeface="Arial"/>
              <a:cs typeface="Arial"/>
              <a:sym typeface="Arial"/>
            </a:endParaRPr>
          </a:p>
        </p:txBody>
      </p:sp>
      <p:sp>
        <p:nvSpPr>
          <p:cNvPr id="102" name="Google Shape;102;p2"/>
          <p:cNvSpPr/>
          <p:nvPr/>
        </p:nvSpPr>
        <p:spPr>
          <a:xfrm>
            <a:off x="1140592" y="4403997"/>
            <a:ext cx="8085138" cy="760413"/>
          </a:xfrm>
          <a:prstGeom prst="roundRect">
            <a:avLst>
              <a:gd fmla="val 16667" name="adj"/>
            </a:avLst>
          </a:prstGeom>
          <a:noFill/>
          <a:ln>
            <a:noFill/>
          </a:ln>
        </p:spPr>
        <p:txBody>
          <a:bodyPr anchorCtr="0" anchor="ctr" bIns="45700" lIns="91425" spcFirstLastPara="1" rIns="91425" wrap="square" tIns="45700">
            <a:noAutofit/>
          </a:bodyPr>
          <a:lstStyle/>
          <a:p>
            <a:pPr indent="0" lvl="0" marL="903288" marR="0" rtl="0" algn="l">
              <a:spcBef>
                <a:spcPts val="0"/>
              </a:spcBef>
              <a:spcAft>
                <a:spcPts val="0"/>
              </a:spcAft>
              <a:buNone/>
            </a:pPr>
            <a:r>
              <a:rPr b="0" i="0" lang="ru-RU" sz="3200" u="none" cap="none" strike="noStrike">
                <a:solidFill>
                  <a:schemeClr val="lt1"/>
                </a:solidFill>
                <a:latin typeface="Arial"/>
                <a:ea typeface="Arial"/>
                <a:cs typeface="Arial"/>
                <a:sym typeface="Arial"/>
              </a:rPr>
              <a:t>Кластеризация</a:t>
            </a:r>
            <a:endParaRPr/>
          </a:p>
        </p:txBody>
      </p:sp>
      <p:sp>
        <p:nvSpPr>
          <p:cNvPr id="103" name="Google Shape;103;p2"/>
          <p:cNvSpPr/>
          <p:nvPr/>
        </p:nvSpPr>
        <p:spPr>
          <a:xfrm>
            <a:off x="1089792" y="5363344"/>
            <a:ext cx="8086726" cy="762000"/>
          </a:xfrm>
          <a:prstGeom prst="roundRect">
            <a:avLst>
              <a:gd fmla="val 16667" name="adj"/>
            </a:avLst>
          </a:prstGeom>
          <a:solidFill>
            <a:srgbClr val="464646">
              <a:alpha val="49803"/>
            </a:srgbClr>
          </a:solidFill>
          <a:ln>
            <a:noFill/>
          </a:ln>
        </p:spPr>
        <p:txBody>
          <a:bodyPr anchorCtr="0" anchor="ctr" bIns="45700" lIns="91425" spcFirstLastPara="1" rIns="91425" wrap="square" tIns="45700">
            <a:noAutofit/>
          </a:bodyPr>
          <a:lstStyle/>
          <a:p>
            <a:pPr indent="0" lvl="0" marL="903288" marR="0" rtl="0" algn="l">
              <a:spcBef>
                <a:spcPts val="0"/>
              </a:spcBef>
              <a:spcAft>
                <a:spcPts val="0"/>
              </a:spcAft>
              <a:buNone/>
            </a:pPr>
            <a:r>
              <a:t/>
            </a:r>
            <a:endParaRPr b="0" i="0" sz="3200" u="none" cap="none" strike="noStrike">
              <a:solidFill>
                <a:schemeClr val="lt1"/>
              </a:solidFill>
              <a:latin typeface="Arial"/>
              <a:ea typeface="Arial"/>
              <a:cs typeface="Arial"/>
              <a:sym typeface="Arial"/>
            </a:endParaRPr>
          </a:p>
        </p:txBody>
      </p:sp>
      <p:sp>
        <p:nvSpPr>
          <p:cNvPr id="104" name="Google Shape;104;p2"/>
          <p:cNvSpPr/>
          <p:nvPr/>
        </p:nvSpPr>
        <p:spPr>
          <a:xfrm>
            <a:off x="1399355" y="5495107"/>
            <a:ext cx="517525" cy="504825"/>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ru-RU" sz="2800" u="none" cap="none" strike="noStrike">
                <a:solidFill>
                  <a:schemeClr val="lt1"/>
                </a:solidFill>
                <a:latin typeface="Arial"/>
                <a:ea typeface="Arial"/>
                <a:cs typeface="Arial"/>
                <a:sym typeface="Arial"/>
              </a:rPr>
              <a:t>5</a:t>
            </a:r>
            <a:endParaRPr b="1" i="0" sz="2800" u="none" cap="none" strike="noStrike">
              <a:solidFill>
                <a:schemeClr val="lt1"/>
              </a:solidFill>
              <a:latin typeface="Arial"/>
              <a:ea typeface="Arial"/>
              <a:cs typeface="Arial"/>
              <a:sym typeface="Arial"/>
            </a:endParaRPr>
          </a:p>
        </p:txBody>
      </p:sp>
      <p:sp>
        <p:nvSpPr>
          <p:cNvPr id="105" name="Google Shape;105;p2"/>
          <p:cNvSpPr/>
          <p:nvPr/>
        </p:nvSpPr>
        <p:spPr>
          <a:xfrm>
            <a:off x="1148530" y="5379219"/>
            <a:ext cx="8085138" cy="760413"/>
          </a:xfrm>
          <a:prstGeom prst="roundRect">
            <a:avLst>
              <a:gd fmla="val 16667" name="adj"/>
            </a:avLst>
          </a:prstGeom>
          <a:noFill/>
          <a:ln>
            <a:noFill/>
          </a:ln>
        </p:spPr>
        <p:txBody>
          <a:bodyPr anchorCtr="0" anchor="ctr" bIns="45700" lIns="91425" spcFirstLastPara="1" rIns="91425" wrap="square" tIns="45700">
            <a:noAutofit/>
          </a:bodyPr>
          <a:lstStyle/>
          <a:p>
            <a:pPr indent="0" lvl="0" marL="903288" marR="0" rtl="0" algn="l">
              <a:spcBef>
                <a:spcPts val="0"/>
              </a:spcBef>
              <a:spcAft>
                <a:spcPts val="0"/>
              </a:spcAft>
              <a:buNone/>
            </a:pPr>
            <a:r>
              <a:rPr b="0" i="0" lang="ru-RU" sz="3200" u="none" cap="none" strike="noStrike">
                <a:solidFill>
                  <a:schemeClr val="lt1"/>
                </a:solidFill>
                <a:latin typeface="Arial"/>
                <a:ea typeface="Arial"/>
                <a:cs typeface="Arial"/>
                <a:sym typeface="Arial"/>
              </a:rPr>
              <a:t>Примеры кластерного анализа</a:t>
            </a:r>
            <a:endParaRPr/>
          </a:p>
        </p:txBody>
      </p:sp>
      <p:grpSp>
        <p:nvGrpSpPr>
          <p:cNvPr id="106" name="Google Shape;106;p2"/>
          <p:cNvGrpSpPr/>
          <p:nvPr/>
        </p:nvGrpSpPr>
        <p:grpSpPr>
          <a:xfrm>
            <a:off x="1106289" y="1493289"/>
            <a:ext cx="8044182" cy="792162"/>
            <a:chOff x="1111056" y="1711083"/>
            <a:chExt cx="8059976" cy="792162"/>
          </a:xfrm>
        </p:grpSpPr>
        <p:sp>
          <p:nvSpPr>
            <p:cNvPr id="107" name="Google Shape;107;p2"/>
            <p:cNvSpPr/>
            <p:nvPr/>
          </p:nvSpPr>
          <p:spPr>
            <a:xfrm>
              <a:off x="1111056" y="1711083"/>
              <a:ext cx="8059976" cy="792162"/>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08" name="Google Shape;108;p2"/>
            <p:cNvSpPr/>
            <p:nvPr/>
          </p:nvSpPr>
          <p:spPr>
            <a:xfrm>
              <a:off x="1379604" y="1866435"/>
              <a:ext cx="515275" cy="525462"/>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i="0" lang="ru-RU" sz="3000" u="none" cap="none" strike="noStrike">
                  <a:solidFill>
                    <a:schemeClr val="lt1"/>
                  </a:solidFill>
                  <a:latin typeface="Arial"/>
                  <a:ea typeface="Arial"/>
                  <a:cs typeface="Arial"/>
                  <a:sym typeface="Arial"/>
                </a:rPr>
                <a:t>1</a:t>
              </a:r>
              <a:endParaRPr/>
            </a:p>
          </p:txBody>
        </p:sp>
        <p:sp>
          <p:nvSpPr>
            <p:cNvPr id="109" name="Google Shape;109;p2"/>
            <p:cNvSpPr/>
            <p:nvPr/>
          </p:nvSpPr>
          <p:spPr>
            <a:xfrm>
              <a:off x="2048568" y="1806091"/>
              <a:ext cx="6906593" cy="621941"/>
            </a:xfrm>
            <a:prstGeom prst="roundRect">
              <a:avLst>
                <a:gd fmla="val 16667" name="adj"/>
              </a:avLst>
            </a:prstGeom>
            <a:no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b="0" i="0" lang="ru-RU" sz="3500" u="none" cap="none" strike="noStrike">
                  <a:solidFill>
                    <a:schemeClr val="lt1"/>
                  </a:solidFill>
                  <a:latin typeface="Arial"/>
                  <a:ea typeface="Arial"/>
                  <a:cs typeface="Arial"/>
                  <a:sym typeface="Arial"/>
                </a:rPr>
                <a:t>Когнитивный анализ данных</a:t>
              </a:r>
              <a:endParaRPr/>
            </a:p>
          </p:txBody>
        </p:sp>
      </p:grpSp>
      <p:grpSp>
        <p:nvGrpSpPr>
          <p:cNvPr id="110" name="Google Shape;110;p2"/>
          <p:cNvGrpSpPr/>
          <p:nvPr/>
        </p:nvGrpSpPr>
        <p:grpSpPr>
          <a:xfrm>
            <a:off x="1086194" y="2472590"/>
            <a:ext cx="8090323" cy="791810"/>
            <a:chOff x="1086194" y="2472590"/>
            <a:chExt cx="8147473" cy="791810"/>
          </a:xfrm>
        </p:grpSpPr>
        <p:sp>
          <p:nvSpPr>
            <p:cNvPr id="111" name="Google Shape;111;p2"/>
            <p:cNvSpPr/>
            <p:nvPr/>
          </p:nvSpPr>
          <p:spPr>
            <a:xfrm>
              <a:off x="1086194" y="2472590"/>
              <a:ext cx="8121243" cy="790210"/>
            </a:xfrm>
            <a:prstGeom prst="roundRect">
              <a:avLst>
                <a:gd fmla="val 16667" name="adj"/>
              </a:avLst>
            </a:prstGeom>
            <a:solidFill>
              <a:srgbClr val="464646">
                <a:alpha val="49803"/>
              </a:srgbClr>
            </a:solidFill>
            <a:ln>
              <a:noFill/>
            </a:ln>
          </p:spPr>
          <p:txBody>
            <a:bodyPr anchorCtr="0" anchor="ctr" bIns="47500" lIns="95000" spcFirstLastPara="1" rIns="95000" wrap="square" tIns="47500">
              <a:noAutofit/>
            </a:bodyPr>
            <a:lstStyle/>
            <a:p>
              <a:pPr indent="0" lvl="0" marL="903288" marR="0" rtl="0" algn="l">
                <a:spcBef>
                  <a:spcPts val="0"/>
                </a:spcBef>
                <a:spcAft>
                  <a:spcPts val="0"/>
                </a:spcAft>
                <a:buNone/>
              </a:pPr>
              <a:r>
                <a:t/>
              </a:r>
              <a:endParaRPr b="0" i="0" sz="3325" u="none" cap="none" strike="noStrike">
                <a:solidFill>
                  <a:schemeClr val="lt1"/>
                </a:solidFill>
                <a:latin typeface="Arial"/>
                <a:ea typeface="Arial"/>
                <a:cs typeface="Arial"/>
                <a:sym typeface="Arial"/>
              </a:endParaRPr>
            </a:p>
          </p:txBody>
        </p:sp>
        <p:sp>
          <p:nvSpPr>
            <p:cNvPr id="112" name="Google Shape;112;p2"/>
            <p:cNvSpPr/>
            <p:nvPr/>
          </p:nvSpPr>
          <p:spPr>
            <a:xfrm>
              <a:off x="1394631" y="2598905"/>
              <a:ext cx="518780" cy="523791"/>
            </a:xfrm>
            <a:prstGeom prst="roundRect">
              <a:avLst>
                <a:gd fmla="val 16667" name="adj"/>
              </a:avLst>
            </a:prstGeom>
            <a:solidFill>
              <a:schemeClr val="accent1"/>
            </a:solidFill>
            <a:ln>
              <a:noFill/>
            </a:ln>
          </p:spPr>
          <p:txBody>
            <a:bodyPr anchorCtr="0" anchor="ctr" bIns="47500" lIns="95000" spcFirstLastPara="1" rIns="95000" wrap="square" tIns="47500">
              <a:noAutofit/>
            </a:bodyPr>
            <a:lstStyle/>
            <a:p>
              <a:pPr indent="0" lvl="0" marL="0" marR="0" rtl="0" algn="ctr">
                <a:spcBef>
                  <a:spcPts val="0"/>
                </a:spcBef>
                <a:spcAft>
                  <a:spcPts val="0"/>
                </a:spcAft>
                <a:buNone/>
              </a:pPr>
              <a:r>
                <a:rPr b="1" i="0" lang="ru-RU" sz="2909" u="none" cap="none" strike="noStrike">
                  <a:solidFill>
                    <a:schemeClr val="lt1"/>
                  </a:solidFill>
                  <a:latin typeface="Arial"/>
                  <a:ea typeface="Arial"/>
                  <a:cs typeface="Arial"/>
                  <a:sym typeface="Arial"/>
                </a:rPr>
                <a:t>2</a:t>
              </a:r>
              <a:endParaRPr b="1" i="0" sz="2909" u="none" cap="none" strike="noStrike">
                <a:solidFill>
                  <a:schemeClr val="lt1"/>
                </a:solidFill>
                <a:latin typeface="Arial"/>
                <a:ea typeface="Arial"/>
                <a:cs typeface="Arial"/>
                <a:sym typeface="Arial"/>
              </a:endParaRPr>
            </a:p>
          </p:txBody>
        </p:sp>
        <p:sp>
          <p:nvSpPr>
            <p:cNvPr id="113" name="Google Shape;113;p2"/>
            <p:cNvSpPr/>
            <p:nvPr/>
          </p:nvSpPr>
          <p:spPr>
            <a:xfrm>
              <a:off x="1113882" y="2472590"/>
              <a:ext cx="8119785" cy="791810"/>
            </a:xfrm>
            <a:prstGeom prst="roundRect">
              <a:avLst>
                <a:gd fmla="val 16667" name="adj"/>
              </a:avLst>
            </a:prstGeom>
            <a:noFill/>
            <a:ln>
              <a:noFill/>
            </a:ln>
          </p:spPr>
          <p:txBody>
            <a:bodyPr anchorCtr="0" anchor="ctr" bIns="47500" lIns="95000" spcFirstLastPara="1" rIns="95000" wrap="square" tIns="47500">
              <a:noAutofit/>
            </a:bodyPr>
            <a:lstStyle/>
            <a:p>
              <a:pPr indent="0" lvl="0" marL="903288" marR="0" rtl="0" algn="l">
                <a:spcBef>
                  <a:spcPts val="0"/>
                </a:spcBef>
                <a:spcAft>
                  <a:spcPts val="0"/>
                </a:spcAft>
                <a:buNone/>
              </a:pPr>
              <a:r>
                <a:rPr b="0" i="0" lang="ru-RU" sz="3200" u="none" cap="none" strike="noStrike">
                  <a:solidFill>
                    <a:schemeClr val="lt1"/>
                  </a:solidFill>
                  <a:latin typeface="Arial"/>
                  <a:ea typeface="Arial"/>
                  <a:cs typeface="Arial"/>
                  <a:sym typeface="Arial"/>
                </a:rPr>
                <a:t>Задачи Data Analysis</a:t>
              </a:r>
              <a:endParaRPr b="0" i="0" sz="3200" u="none" cap="none" strike="noStrike">
                <a:solidFill>
                  <a:schemeClr val="lt1"/>
                </a:solidFill>
                <a:latin typeface="Arial"/>
                <a:ea typeface="Arial"/>
                <a:cs typeface="Arial"/>
                <a:sym typeface="Arial"/>
              </a:endParaRPr>
            </a:p>
          </p:txBody>
        </p:sp>
      </p:grpSp>
      <p:grpSp>
        <p:nvGrpSpPr>
          <p:cNvPr id="114" name="Google Shape;114;p2"/>
          <p:cNvGrpSpPr/>
          <p:nvPr/>
        </p:nvGrpSpPr>
        <p:grpSpPr>
          <a:xfrm>
            <a:off x="1086521" y="3422072"/>
            <a:ext cx="8058185" cy="790758"/>
            <a:chOff x="861" y="2007"/>
            <a:chExt cx="5573" cy="494"/>
          </a:xfrm>
        </p:grpSpPr>
        <p:sp>
          <p:nvSpPr>
            <p:cNvPr id="115" name="Google Shape;115;p2"/>
            <p:cNvSpPr/>
            <p:nvPr/>
          </p:nvSpPr>
          <p:spPr>
            <a:xfrm>
              <a:off x="861" y="2007"/>
              <a:ext cx="5573" cy="494"/>
            </a:xfrm>
            <a:prstGeom prst="roundRect">
              <a:avLst>
                <a:gd fmla="val 16667" name="adj"/>
              </a:avLst>
            </a:prstGeom>
            <a:solidFill>
              <a:srgbClr val="464646">
                <a:alpha val="49803"/>
              </a:srgbClr>
            </a:solidFill>
            <a:ln>
              <a:noFill/>
            </a:ln>
          </p:spPr>
          <p:txBody>
            <a:bodyPr anchorCtr="0" anchor="ctr" bIns="47500" lIns="95000" spcFirstLastPara="1" rIns="95000" wrap="square" tIns="47500">
              <a:noAutofit/>
            </a:bodyPr>
            <a:lstStyle/>
            <a:p>
              <a:pPr indent="0" lvl="0" marL="903288" marR="0" rtl="0" algn="l">
                <a:spcBef>
                  <a:spcPts val="0"/>
                </a:spcBef>
                <a:spcAft>
                  <a:spcPts val="0"/>
                </a:spcAft>
                <a:buNone/>
              </a:pPr>
              <a:r>
                <a:t/>
              </a:r>
              <a:endParaRPr b="0" i="0" sz="3325" u="none" cap="none" strike="noStrike">
                <a:solidFill>
                  <a:schemeClr val="lt1"/>
                </a:solidFill>
                <a:latin typeface="Arial"/>
                <a:ea typeface="Arial"/>
                <a:cs typeface="Arial"/>
                <a:sym typeface="Arial"/>
              </a:endParaRPr>
            </a:p>
          </p:txBody>
        </p:sp>
        <p:sp>
          <p:nvSpPr>
            <p:cNvPr id="116" name="Google Shape;116;p2"/>
            <p:cNvSpPr/>
            <p:nvPr/>
          </p:nvSpPr>
          <p:spPr>
            <a:xfrm>
              <a:off x="1073" y="2103"/>
              <a:ext cx="356" cy="329"/>
            </a:xfrm>
            <a:prstGeom prst="roundRect">
              <a:avLst>
                <a:gd fmla="val 16667" name="adj"/>
              </a:avLst>
            </a:prstGeom>
            <a:solidFill>
              <a:schemeClr val="accent1"/>
            </a:solidFill>
            <a:ln>
              <a:noFill/>
            </a:ln>
          </p:spPr>
          <p:txBody>
            <a:bodyPr anchorCtr="0" anchor="ctr" bIns="47500" lIns="95000" spcFirstLastPara="1" rIns="95000" wrap="square" tIns="47500">
              <a:noAutofit/>
            </a:bodyPr>
            <a:lstStyle/>
            <a:p>
              <a:pPr indent="0" lvl="0" marL="0" marR="0" rtl="0" algn="ctr">
                <a:spcBef>
                  <a:spcPts val="0"/>
                </a:spcBef>
                <a:spcAft>
                  <a:spcPts val="0"/>
                </a:spcAft>
                <a:buNone/>
              </a:pPr>
              <a:r>
                <a:rPr b="1" i="0" lang="ru-RU" sz="2909" u="none" cap="none" strike="noStrike">
                  <a:solidFill>
                    <a:schemeClr val="lt1"/>
                  </a:solidFill>
                  <a:latin typeface="Arial"/>
                  <a:ea typeface="Arial"/>
                  <a:cs typeface="Arial"/>
                  <a:sym typeface="Arial"/>
                </a:rPr>
                <a:t>3</a:t>
              </a:r>
              <a:endParaRPr b="1" i="0" sz="2909" u="none" cap="none" strike="noStrike">
                <a:solidFill>
                  <a:schemeClr val="lt1"/>
                </a:solidFill>
                <a:latin typeface="Arial"/>
                <a:ea typeface="Arial"/>
                <a:cs typeface="Arial"/>
                <a:sym typeface="Arial"/>
              </a:endParaRPr>
            </a:p>
          </p:txBody>
        </p:sp>
        <p:sp>
          <p:nvSpPr>
            <p:cNvPr id="117" name="Google Shape;117;p2"/>
            <p:cNvSpPr/>
            <p:nvPr/>
          </p:nvSpPr>
          <p:spPr>
            <a:xfrm>
              <a:off x="1413" y="2007"/>
              <a:ext cx="4848" cy="494"/>
            </a:xfrm>
            <a:prstGeom prst="roundRect">
              <a:avLst>
                <a:gd fmla="val 16667" name="adj"/>
              </a:avLst>
            </a:prstGeom>
            <a:noFill/>
            <a:ln>
              <a:noFill/>
            </a:ln>
          </p:spPr>
          <p:txBody>
            <a:bodyPr anchorCtr="0" anchor="ctr" bIns="47500" lIns="95000" spcFirstLastPara="1" rIns="95000" wrap="square" tIns="47500">
              <a:noAutofit/>
            </a:bodyPr>
            <a:lstStyle/>
            <a:p>
              <a:pPr indent="0" lvl="0" marL="85725" marR="0" rtl="0" algn="l">
                <a:spcBef>
                  <a:spcPts val="0"/>
                </a:spcBef>
                <a:spcAft>
                  <a:spcPts val="0"/>
                </a:spcAft>
                <a:buNone/>
              </a:pPr>
              <a:r>
                <a:rPr b="0" i="0" lang="ru-RU" sz="3325" u="none" cap="none" strike="noStrike">
                  <a:solidFill>
                    <a:schemeClr val="dk1"/>
                  </a:solidFill>
                  <a:latin typeface="Arial"/>
                  <a:ea typeface="Arial"/>
                  <a:cs typeface="Arial"/>
                  <a:sym typeface="Arial"/>
                </a:rPr>
                <a:t> </a:t>
              </a:r>
              <a:r>
                <a:rPr b="0" i="0" lang="ru-RU" sz="3200" u="none" cap="none" strike="noStrike">
                  <a:solidFill>
                    <a:schemeClr val="lt1"/>
                  </a:solidFill>
                  <a:latin typeface="Arial"/>
                  <a:ea typeface="Arial"/>
                  <a:cs typeface="Arial"/>
                  <a:sym typeface="Arial"/>
                </a:rPr>
                <a:t>Классификация методов DA</a:t>
              </a:r>
              <a:endParaRPr b="0" i="0" sz="3200" u="none" cap="none" strike="noStrike">
                <a:solidFill>
                  <a:schemeClr val="lt1"/>
                </a:solidFill>
                <a:latin typeface="Arial"/>
                <a:ea typeface="Arial"/>
                <a:cs typeface="Arial"/>
                <a:sym typeface="Arial"/>
              </a:endParaRPr>
            </a:p>
          </p:txBody>
        </p:sp>
      </p:grpSp>
      <p:sp>
        <p:nvSpPr>
          <p:cNvPr id="118" name="Google Shape;118;p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14"/>
                                        </p:tgtEl>
                                        <p:attrNameLst>
                                          <p:attrName>style.visibility</p:attrName>
                                        </p:attrNameLst>
                                      </p:cBhvr>
                                      <p:to>
                                        <p:strVal val="visible"/>
                                      </p:to>
                                    </p:set>
                                    <p:anim calcmode="lin" valueType="num">
                                      <p:cBhvr additive="base">
                                        <p:cTn dur="500"/>
                                        <p:tgtEl>
                                          <p:spTgt spid="11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p:nvPr/>
        </p:nvSpPr>
        <p:spPr>
          <a:xfrm>
            <a:off x="673100" y="3140075"/>
            <a:ext cx="9329738" cy="1287463"/>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25" name="Google Shape;125;p3"/>
          <p:cNvSpPr/>
          <p:nvPr/>
        </p:nvSpPr>
        <p:spPr>
          <a:xfrm>
            <a:off x="1030288" y="3362325"/>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i="0" lang="ru-RU" sz="3000" u="none" cap="none" strike="noStrike">
                <a:solidFill>
                  <a:schemeClr val="lt1"/>
                </a:solidFill>
                <a:latin typeface="Arial"/>
                <a:ea typeface="Arial"/>
                <a:cs typeface="Arial"/>
                <a:sym typeface="Arial"/>
              </a:rPr>
              <a:t>1</a:t>
            </a:r>
            <a:endParaRPr/>
          </a:p>
        </p:txBody>
      </p:sp>
      <p:sp>
        <p:nvSpPr>
          <p:cNvPr id="126" name="Google Shape;126;p3"/>
          <p:cNvSpPr/>
          <p:nvPr/>
        </p:nvSpPr>
        <p:spPr>
          <a:xfrm>
            <a:off x="949325" y="3140075"/>
            <a:ext cx="8509892" cy="1284288"/>
          </a:xfrm>
          <a:prstGeom prst="roundRect">
            <a:avLst>
              <a:gd fmla="val 16667" name="adj"/>
            </a:avLst>
          </a:prstGeom>
          <a:no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rPr b="0" i="0" lang="ru-RU" sz="3500" u="none" cap="none" strike="noStrike">
                <a:solidFill>
                  <a:schemeClr val="lt1"/>
                </a:solidFill>
                <a:latin typeface="Arial"/>
                <a:ea typeface="Arial"/>
                <a:cs typeface="Arial"/>
                <a:sym typeface="Arial"/>
              </a:rPr>
              <a:t>Когнитивный анализ данных</a:t>
            </a:r>
            <a:endParaRPr/>
          </a:p>
        </p:txBody>
      </p:sp>
      <p:sp>
        <p:nvSpPr>
          <p:cNvPr id="127" name="Google Shape;127;p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6"/>
                                        </p:tgtEl>
                                        <p:attrNameLst>
                                          <p:attrName>style.visibility</p:attrName>
                                        </p:attrNameLst>
                                      </p:cBhvr>
                                      <p:to>
                                        <p:strVal val="visible"/>
                                      </p:to>
                                    </p:set>
                                    <p:anim calcmode="lin" valueType="num">
                                      <p:cBhvr additive="base">
                                        <p:cTn dur="500"/>
                                        <p:tgtEl>
                                          <p:spTgt spid="12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4"/>
          <p:cNvSpPr/>
          <p:nvPr/>
        </p:nvSpPr>
        <p:spPr>
          <a:xfrm>
            <a:off x="242888" y="322263"/>
            <a:ext cx="9791700" cy="6337300"/>
          </a:xfrm>
          <a:prstGeom prst="roundRect">
            <a:avLst>
              <a:gd fmla="val 16667" name="adj"/>
            </a:avLst>
          </a:prstGeom>
          <a:solidFill>
            <a:schemeClr val="lt1">
              <a:alpha val="84705"/>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34" name="Google Shape;134;p4"/>
          <p:cNvSpPr/>
          <p:nvPr/>
        </p:nvSpPr>
        <p:spPr>
          <a:xfrm>
            <a:off x="674688" y="2698750"/>
            <a:ext cx="8928100" cy="26177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ru-RU" sz="3600" u="none" cap="none" strike="noStrike">
                <a:solidFill>
                  <a:schemeClr val="dk1"/>
                </a:solidFill>
                <a:latin typeface="Arial"/>
                <a:ea typeface="Arial"/>
                <a:cs typeface="Arial"/>
                <a:sym typeface="Arial"/>
              </a:rPr>
              <a:t>Накопление данных -&gt;</a:t>
            </a:r>
            <a:endParaRPr b="1" i="0" sz="3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1" i="0" lang="ru-RU" sz="3600" u="none" cap="none" strike="noStrike">
                <a:solidFill>
                  <a:schemeClr val="dk1"/>
                </a:solidFill>
                <a:latin typeface="Arial"/>
                <a:ea typeface="Arial"/>
                <a:cs typeface="Arial"/>
                <a:sym typeface="Arial"/>
              </a:rPr>
              <a:t>анализ данных -&gt; извлечение знаний </a:t>
            </a:r>
            <a:endParaRPr/>
          </a:p>
          <a:p>
            <a:pPr indent="0" lvl="0" marL="0" marR="0" rtl="0" algn="l">
              <a:spcBef>
                <a:spcPts val="0"/>
              </a:spcBef>
              <a:spcAft>
                <a:spcPts val="0"/>
              </a:spcAft>
              <a:buNone/>
            </a:pPr>
            <a:r>
              <a:rPr b="1" i="0" lang="ru-RU" sz="3600" u="none" cap="none" strike="noStrike">
                <a:solidFill>
                  <a:schemeClr val="dk1"/>
                </a:solidFill>
                <a:latin typeface="Arial"/>
                <a:ea typeface="Arial"/>
                <a:cs typeface="Arial"/>
                <a:sym typeface="Arial"/>
              </a:rPr>
              <a:t>= </a:t>
            </a:r>
            <a:r>
              <a:rPr b="1" i="1" lang="ru-RU" sz="3600" u="none" cap="none" strike="noStrike">
                <a:solidFill>
                  <a:schemeClr val="hlink"/>
                </a:solidFill>
                <a:latin typeface="Arial"/>
                <a:ea typeface="Arial"/>
                <a:cs typeface="Arial"/>
                <a:sym typeface="Arial"/>
              </a:rPr>
              <a:t>когнитивный процесс</a:t>
            </a:r>
            <a:endParaRPr b="0" i="1" sz="3600" u="none" cap="none" strike="noStrike">
              <a:solidFill>
                <a:schemeClr val="hlink"/>
              </a:solidFill>
              <a:latin typeface="Arial"/>
              <a:ea typeface="Arial"/>
              <a:cs typeface="Arial"/>
              <a:sym typeface="Arial"/>
            </a:endParaRPr>
          </a:p>
          <a:p>
            <a:pPr indent="0" lvl="0" marL="0" marR="0" rtl="0" algn="ctr">
              <a:spcBef>
                <a:spcPts val="960"/>
              </a:spcBef>
              <a:spcAft>
                <a:spcPts val="0"/>
              </a:spcAft>
              <a:buNone/>
            </a:pPr>
            <a:r>
              <a:t/>
            </a:r>
            <a:endParaRPr b="1" i="0" sz="4800" u="none" cap="none" strike="noStrike">
              <a:solidFill>
                <a:schemeClr val="dk1"/>
              </a:solidFill>
              <a:latin typeface="Arial"/>
              <a:ea typeface="Arial"/>
              <a:cs typeface="Arial"/>
              <a:sym typeface="Arial"/>
            </a:endParaRPr>
          </a:p>
        </p:txBody>
      </p:sp>
      <p:sp>
        <p:nvSpPr>
          <p:cNvPr id="135" name="Google Shape;135;p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43" name="Google Shape;143;p5"/>
          <p:cNvSpPr txBox="1"/>
          <p:nvPr>
            <p:ph idx="4294967295" type="title"/>
          </p:nvPr>
        </p:nvSpPr>
        <p:spPr>
          <a:xfrm>
            <a:off x="0" y="285750"/>
            <a:ext cx="9248775" cy="11874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hlink"/>
              </a:buClr>
              <a:buSzPts val="4500"/>
              <a:buFont typeface="Calibri"/>
              <a:buNone/>
            </a:pPr>
            <a:r>
              <a:rPr b="1" lang="ru-RU">
                <a:solidFill>
                  <a:schemeClr val="hlink"/>
                </a:solidFill>
              </a:rPr>
              <a:t>Экскурс в историю</a:t>
            </a:r>
            <a:endParaRPr/>
          </a:p>
        </p:txBody>
      </p:sp>
      <p:sp>
        <p:nvSpPr>
          <p:cNvPr id="144" name="Google Shape;144;p5"/>
          <p:cNvSpPr txBox="1"/>
          <p:nvPr>
            <p:ph idx="4294967295" type="body"/>
          </p:nvPr>
        </p:nvSpPr>
        <p:spPr>
          <a:xfrm>
            <a:off x="386210" y="1330896"/>
            <a:ext cx="9255472" cy="5400600"/>
          </a:xfrm>
          <a:prstGeom prst="rect">
            <a:avLst/>
          </a:prstGeom>
          <a:solidFill>
            <a:srgbClr val="FFFFFF"/>
          </a:solidFill>
          <a:ln>
            <a:noFill/>
          </a:ln>
        </p:spPr>
        <p:txBody>
          <a:bodyPr anchorCtr="0" anchor="t" bIns="45700" lIns="91425" spcFirstLastPara="1" rIns="91425" wrap="square" tIns="45700">
            <a:noAutofit/>
          </a:bodyPr>
          <a:lstStyle/>
          <a:p>
            <a:pPr indent="-269875" lvl="0" marL="269875" rtl="0" algn="l">
              <a:spcBef>
                <a:spcPts val="0"/>
              </a:spcBef>
              <a:spcAft>
                <a:spcPts val="0"/>
              </a:spcAft>
              <a:buClr>
                <a:schemeClr val="dk1"/>
              </a:buClr>
              <a:buSzPts val="2800"/>
              <a:buFont typeface="Calibri"/>
              <a:buNone/>
            </a:pPr>
            <a:r>
              <a:rPr b="1" i="1" lang="ru-RU" sz="2800"/>
              <a:t>Коротко об истории Искусственного интеллекта</a:t>
            </a:r>
            <a:endParaRPr/>
          </a:p>
          <a:p>
            <a:pPr indent="-269875" lvl="0" marL="269875" rtl="0" algn="l">
              <a:spcBef>
                <a:spcPts val="400"/>
              </a:spcBef>
              <a:spcAft>
                <a:spcPts val="0"/>
              </a:spcAft>
              <a:buClr>
                <a:schemeClr val="dk1"/>
              </a:buClr>
              <a:buSzPts val="2000"/>
              <a:buFont typeface="Calibri"/>
              <a:buNone/>
            </a:pPr>
            <a:r>
              <a:t/>
            </a:r>
            <a:endParaRPr b="1" i="1" sz="2000"/>
          </a:p>
          <a:p>
            <a:pPr indent="-269875" lvl="0" marL="269875" rtl="0" algn="l">
              <a:spcBef>
                <a:spcPts val="480"/>
              </a:spcBef>
              <a:spcAft>
                <a:spcPts val="0"/>
              </a:spcAft>
              <a:buClr>
                <a:srgbClr val="FF5050"/>
              </a:buClr>
              <a:buSzPts val="3600"/>
              <a:buChar char="•"/>
            </a:pPr>
            <a:r>
              <a:rPr b="1" lang="ru-RU" sz="2400"/>
              <a:t> </a:t>
            </a:r>
            <a:r>
              <a:rPr lang="ru-RU" sz="2400"/>
              <a:t>Широкие исследования этой проблемы начались в 60-х годах прошлого века. В 1969 году в Вашингтоне проходила </a:t>
            </a:r>
            <a:r>
              <a:rPr i="1" lang="ru-RU" sz="2400"/>
              <a:t>Первая Объединенная Международная Конференция по Искусственному Интеллекту (IJCAI)</a:t>
            </a:r>
            <a:r>
              <a:rPr lang="ru-RU" sz="2400"/>
              <a:t>. Главный вопрос, который обсуждался на этой конференции, - что такое Искусственный интеллект? Какую систему можно называть интеллектуальной? </a:t>
            </a:r>
            <a:endParaRPr/>
          </a:p>
          <a:p>
            <a:pPr indent="-269875" lvl="0" marL="269875" rtl="0" algn="l">
              <a:spcBef>
                <a:spcPts val="480"/>
              </a:spcBef>
              <a:spcAft>
                <a:spcPts val="0"/>
              </a:spcAft>
              <a:buClr>
                <a:srgbClr val="FF5050"/>
              </a:buClr>
              <a:buSzPts val="3600"/>
              <a:buChar char="•"/>
            </a:pPr>
            <a:r>
              <a:rPr lang="ru-RU" sz="2400"/>
              <a:t>Для оценки интеллекта предлагали использовать тест Тьюринга: </a:t>
            </a:r>
            <a:endParaRPr/>
          </a:p>
          <a:p>
            <a:pPr indent="-285750" lvl="1" marL="742950" rtl="0" algn="l">
              <a:spcBef>
                <a:spcPts val="480"/>
              </a:spcBef>
              <a:spcAft>
                <a:spcPts val="0"/>
              </a:spcAft>
              <a:buClr>
                <a:schemeClr val="dk1"/>
              </a:buClr>
              <a:buSzPts val="2400"/>
              <a:buChar char="–"/>
            </a:pPr>
            <a:r>
              <a:rPr lang="ru-RU" sz="2400"/>
              <a:t>эксперт задает вопросы двум системам, одна из которых есть человек, а вторая - машина. Если, эксперт за заданное время не сможет угадать, какая система человек, а какая машина, то считается, что эта машина обладает интеллектом. </a:t>
            </a:r>
            <a:endParaRPr/>
          </a:p>
        </p:txBody>
      </p:sp>
      <p:sp>
        <p:nvSpPr>
          <p:cNvPr id="145" name="Google Shape;145;p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6"/>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51" name="Google Shape;151;p6"/>
          <p:cNvSpPr txBox="1"/>
          <p:nvPr>
            <p:ph idx="4294967295" type="title"/>
          </p:nvPr>
        </p:nvSpPr>
        <p:spPr>
          <a:xfrm>
            <a:off x="0" y="285750"/>
            <a:ext cx="9248775" cy="11874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hlink"/>
              </a:buClr>
              <a:buSzPts val="4500"/>
              <a:buFont typeface="Calibri"/>
              <a:buNone/>
            </a:pPr>
            <a:r>
              <a:rPr b="1" lang="ru-RU">
                <a:solidFill>
                  <a:schemeClr val="hlink"/>
                </a:solidFill>
              </a:rPr>
              <a:t>Определение  Д. Мики</a:t>
            </a:r>
            <a:endParaRPr/>
          </a:p>
        </p:txBody>
      </p:sp>
      <p:sp>
        <p:nvSpPr>
          <p:cNvPr id="152" name="Google Shape;152;p6"/>
          <p:cNvSpPr txBox="1"/>
          <p:nvPr>
            <p:ph idx="4294967295" type="body"/>
          </p:nvPr>
        </p:nvSpPr>
        <p:spPr>
          <a:xfrm>
            <a:off x="602232" y="1520825"/>
            <a:ext cx="8918005" cy="5070475"/>
          </a:xfrm>
          <a:prstGeom prst="rect">
            <a:avLst/>
          </a:prstGeom>
          <a:solidFill>
            <a:srgbClr val="FFFFFF"/>
          </a:solidFill>
          <a:ln>
            <a:noFill/>
          </a:ln>
        </p:spPr>
        <p:txBody>
          <a:bodyPr anchorCtr="0" anchor="t" bIns="45700" lIns="91425" spcFirstLastPara="1" rIns="91425" wrap="square" tIns="45700">
            <a:normAutofit/>
          </a:bodyPr>
          <a:lstStyle/>
          <a:p>
            <a:pPr indent="-90488" lvl="0" marL="90488" rtl="0" algn="l">
              <a:lnSpc>
                <a:spcPct val="105000"/>
              </a:lnSpc>
              <a:spcBef>
                <a:spcPts val="0"/>
              </a:spcBef>
              <a:spcAft>
                <a:spcPts val="0"/>
              </a:spcAft>
              <a:buClr>
                <a:schemeClr val="dk1"/>
              </a:buClr>
              <a:buSzPts val="2600"/>
              <a:buFont typeface="Calibri"/>
              <a:buNone/>
            </a:pPr>
            <a:r>
              <a:rPr b="1" lang="ru-RU" sz="2600"/>
              <a:t>Более конструктивным можно считать определение ИИ, данное Д. Мики. </a:t>
            </a:r>
            <a:endParaRPr/>
          </a:p>
          <a:p>
            <a:pPr indent="-90488" lvl="0" marL="90488" rtl="0" algn="l">
              <a:lnSpc>
                <a:spcPct val="105000"/>
              </a:lnSpc>
              <a:spcBef>
                <a:spcPts val="1520"/>
              </a:spcBef>
              <a:spcAft>
                <a:spcPts val="0"/>
              </a:spcAft>
              <a:buClr>
                <a:schemeClr val="dk1"/>
              </a:buClr>
              <a:buSzPts val="2600"/>
              <a:buFont typeface="Calibri"/>
              <a:buNone/>
            </a:pPr>
            <a:r>
              <a:rPr b="1" lang="ru-RU" sz="2600"/>
              <a:t> Он считает, что интеллектуальная система должна:</a:t>
            </a:r>
            <a:endParaRPr/>
          </a:p>
          <a:p>
            <a:pPr indent="-285750" lvl="1" marL="742950" rtl="0" algn="l">
              <a:lnSpc>
                <a:spcPct val="105000"/>
              </a:lnSpc>
              <a:spcBef>
                <a:spcPts val="1500"/>
              </a:spcBef>
              <a:spcAft>
                <a:spcPts val="0"/>
              </a:spcAft>
              <a:buClr>
                <a:schemeClr val="dk1"/>
              </a:buClr>
              <a:buSzPts val="2500"/>
              <a:buChar char="–"/>
            </a:pPr>
            <a:r>
              <a:rPr b="1" lang="ru-RU" sz="2500"/>
              <a:t>  </a:t>
            </a:r>
            <a:r>
              <a:rPr lang="ru-RU" sz="2500"/>
              <a:t>строить модель проблемной ситуации;</a:t>
            </a:r>
            <a:endParaRPr/>
          </a:p>
          <a:p>
            <a:pPr indent="-285750" lvl="1" marL="742950" rtl="0" algn="l">
              <a:lnSpc>
                <a:spcPct val="105000"/>
              </a:lnSpc>
              <a:spcBef>
                <a:spcPts val="1500"/>
              </a:spcBef>
              <a:spcAft>
                <a:spcPts val="0"/>
              </a:spcAft>
              <a:buClr>
                <a:schemeClr val="dk1"/>
              </a:buClr>
              <a:buSzPts val="2500"/>
              <a:buChar char="–"/>
            </a:pPr>
            <a:r>
              <a:rPr lang="ru-RU" sz="2500"/>
              <a:t>  создавать план действий с использованием этой модели; </a:t>
            </a:r>
            <a:endParaRPr/>
          </a:p>
          <a:p>
            <a:pPr indent="-285750" lvl="1" marL="742950" rtl="0" algn="l">
              <a:lnSpc>
                <a:spcPct val="105000"/>
              </a:lnSpc>
              <a:spcBef>
                <a:spcPts val="1500"/>
              </a:spcBef>
              <a:spcAft>
                <a:spcPts val="0"/>
              </a:spcAft>
              <a:buClr>
                <a:schemeClr val="dk1"/>
              </a:buClr>
              <a:buSzPts val="2500"/>
              <a:buChar char="–"/>
            </a:pPr>
            <a:r>
              <a:rPr lang="ru-RU" sz="2500"/>
              <a:t> уметь изменять план, если встречаются новые ситуации; </a:t>
            </a:r>
            <a:endParaRPr/>
          </a:p>
          <a:p>
            <a:pPr indent="-285750" lvl="1" marL="742950" rtl="0" algn="l">
              <a:lnSpc>
                <a:spcPct val="105000"/>
              </a:lnSpc>
              <a:spcBef>
                <a:spcPts val="1500"/>
              </a:spcBef>
              <a:spcAft>
                <a:spcPts val="0"/>
              </a:spcAft>
              <a:buClr>
                <a:schemeClr val="dk1"/>
              </a:buClr>
              <a:buSzPts val="2500"/>
              <a:buChar char="–"/>
            </a:pPr>
            <a:r>
              <a:rPr lang="ru-RU" sz="2500"/>
              <a:t> использовать опыт удач и неудач для улучшения модели.</a:t>
            </a:r>
            <a:r>
              <a:rPr b="1" lang="ru-RU" sz="2100"/>
              <a:t>   </a:t>
            </a:r>
            <a:endParaRPr b="1" sz="2100"/>
          </a:p>
        </p:txBody>
      </p:sp>
      <p:sp>
        <p:nvSpPr>
          <p:cNvPr id="153" name="Google Shape;153;p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59" name="Google Shape;159;p7"/>
          <p:cNvSpPr txBox="1"/>
          <p:nvPr>
            <p:ph idx="4294967295" type="title"/>
          </p:nvPr>
        </p:nvSpPr>
        <p:spPr>
          <a:xfrm>
            <a:off x="0" y="285750"/>
            <a:ext cx="9248775" cy="11874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hlink"/>
              </a:buClr>
              <a:buSzPts val="4500"/>
              <a:buFont typeface="Calibri"/>
              <a:buNone/>
            </a:pPr>
            <a:r>
              <a:rPr b="1" lang="ru-RU">
                <a:solidFill>
                  <a:schemeClr val="hlink"/>
                </a:solidFill>
              </a:rPr>
              <a:t>Декатлон</a:t>
            </a:r>
            <a:endParaRPr/>
          </a:p>
        </p:txBody>
      </p:sp>
      <p:sp>
        <p:nvSpPr>
          <p:cNvPr id="160" name="Google Shape;160;p7"/>
          <p:cNvSpPr txBox="1"/>
          <p:nvPr>
            <p:ph idx="4294967295" type="body"/>
          </p:nvPr>
        </p:nvSpPr>
        <p:spPr>
          <a:xfrm>
            <a:off x="514350" y="1473200"/>
            <a:ext cx="9248775" cy="5141913"/>
          </a:xfrm>
          <a:prstGeom prst="rect">
            <a:avLst/>
          </a:prstGeom>
          <a:solidFill>
            <a:srgbClr val="FFFFFF"/>
          </a:solidFill>
          <a:ln>
            <a:noFill/>
          </a:ln>
        </p:spPr>
        <p:txBody>
          <a:bodyPr anchorCtr="0" anchor="t" bIns="45700" lIns="91425" spcFirstLastPara="1" rIns="91425" wrap="square" tIns="45700">
            <a:normAutofit/>
          </a:bodyPr>
          <a:lstStyle/>
          <a:p>
            <a:pPr indent="-666750" lvl="0" marL="666750" rtl="0" algn="l">
              <a:lnSpc>
                <a:spcPct val="80000"/>
              </a:lnSpc>
              <a:spcBef>
                <a:spcPts val="0"/>
              </a:spcBef>
              <a:spcAft>
                <a:spcPts val="0"/>
              </a:spcAft>
              <a:buClr>
                <a:schemeClr val="dk1"/>
              </a:buClr>
              <a:buSzPts val="2300"/>
              <a:buFont typeface="Calibri"/>
              <a:buNone/>
            </a:pPr>
            <a:r>
              <a:rPr b="1" lang="ru-RU" sz="2300"/>
              <a:t>В 1972 году на Международном семинаре в Шотландии по робототехнике был разработан перечень из 10 задач, решение которых позволяло бы называть систему интеллектуальной. </a:t>
            </a:r>
            <a:endParaRPr/>
          </a:p>
          <a:p>
            <a:pPr indent="-571500" lvl="1" marL="1028700" rtl="0" algn="l">
              <a:lnSpc>
                <a:spcPct val="80000"/>
              </a:lnSpc>
              <a:spcBef>
                <a:spcPts val="480"/>
              </a:spcBef>
              <a:spcAft>
                <a:spcPts val="0"/>
              </a:spcAft>
              <a:buClr>
                <a:schemeClr val="dk1"/>
              </a:buClr>
              <a:buSzPts val="2400"/>
              <a:buFont typeface="Calibri"/>
              <a:buAutoNum type="arabicPeriod"/>
            </a:pPr>
            <a:r>
              <a:rPr lang="ru-RU" sz="2400"/>
              <a:t>Шахматные программы;</a:t>
            </a:r>
            <a:endParaRPr/>
          </a:p>
          <a:p>
            <a:pPr indent="-571500" lvl="1" marL="1028700" rtl="0" algn="l">
              <a:lnSpc>
                <a:spcPct val="80000"/>
              </a:lnSpc>
              <a:spcBef>
                <a:spcPts val="480"/>
              </a:spcBef>
              <a:spcAft>
                <a:spcPts val="0"/>
              </a:spcAft>
              <a:buClr>
                <a:schemeClr val="dk1"/>
              </a:buClr>
              <a:buSzPts val="2400"/>
              <a:buFont typeface="Calibri"/>
              <a:buAutoNum type="arabicPeriod"/>
            </a:pPr>
            <a:r>
              <a:rPr lang="ru-RU" sz="2400"/>
              <a:t>Машинное творчество  в области музыки, живописи и поэзии;</a:t>
            </a:r>
            <a:endParaRPr/>
          </a:p>
          <a:p>
            <a:pPr indent="-571500" lvl="1" marL="1028700" rtl="0" algn="l">
              <a:lnSpc>
                <a:spcPct val="80000"/>
              </a:lnSpc>
              <a:spcBef>
                <a:spcPts val="480"/>
              </a:spcBef>
              <a:spcAft>
                <a:spcPts val="0"/>
              </a:spcAft>
              <a:buClr>
                <a:schemeClr val="dk1"/>
              </a:buClr>
              <a:buSzPts val="2400"/>
              <a:buFont typeface="Calibri"/>
              <a:buAutoNum type="arabicPeriod"/>
            </a:pPr>
            <a:r>
              <a:rPr lang="ru-RU" sz="2400"/>
              <a:t>Машины, выдерживающие тест Тьюринга;</a:t>
            </a:r>
            <a:endParaRPr/>
          </a:p>
          <a:p>
            <a:pPr indent="-571500" lvl="1" marL="1028700" rtl="0" algn="l">
              <a:lnSpc>
                <a:spcPct val="80000"/>
              </a:lnSpc>
              <a:spcBef>
                <a:spcPts val="480"/>
              </a:spcBef>
              <a:spcAft>
                <a:spcPts val="0"/>
              </a:spcAft>
              <a:buClr>
                <a:schemeClr val="dk1"/>
              </a:buClr>
              <a:buSzPts val="2400"/>
              <a:buFont typeface="Calibri"/>
              <a:buAutoNum type="arabicPeriod"/>
            </a:pPr>
            <a:r>
              <a:rPr lang="ru-RU" sz="2400"/>
              <a:t>Машинное доказательство теорем;</a:t>
            </a:r>
            <a:endParaRPr/>
          </a:p>
          <a:p>
            <a:pPr indent="-571500" lvl="1" marL="1028700" rtl="0" algn="l">
              <a:lnSpc>
                <a:spcPct val="80000"/>
              </a:lnSpc>
              <a:spcBef>
                <a:spcPts val="480"/>
              </a:spcBef>
              <a:spcAft>
                <a:spcPts val="0"/>
              </a:spcAft>
              <a:buClr>
                <a:schemeClr val="dk1"/>
              </a:buClr>
              <a:buSzPts val="2400"/>
              <a:buFont typeface="Calibri"/>
              <a:buAutoNum type="arabicPeriod"/>
            </a:pPr>
            <a:r>
              <a:rPr lang="ru-RU" sz="2400"/>
              <a:t>Программа индуктивного вывода;</a:t>
            </a:r>
            <a:endParaRPr/>
          </a:p>
          <a:p>
            <a:pPr indent="-571500" lvl="1" marL="1028700" rtl="0" algn="l">
              <a:lnSpc>
                <a:spcPct val="80000"/>
              </a:lnSpc>
              <a:spcBef>
                <a:spcPts val="480"/>
              </a:spcBef>
              <a:spcAft>
                <a:spcPts val="0"/>
              </a:spcAft>
              <a:buClr>
                <a:schemeClr val="dk1"/>
              </a:buClr>
              <a:buSzPts val="2400"/>
              <a:buFont typeface="Calibri"/>
              <a:buAutoNum type="arabicPeriod"/>
            </a:pPr>
            <a:r>
              <a:rPr lang="ru-RU" sz="2400"/>
              <a:t>Автоматическое реферирование;</a:t>
            </a:r>
            <a:endParaRPr/>
          </a:p>
          <a:p>
            <a:pPr indent="-571500" lvl="1" marL="1028700" rtl="0" algn="l">
              <a:lnSpc>
                <a:spcPct val="80000"/>
              </a:lnSpc>
              <a:spcBef>
                <a:spcPts val="480"/>
              </a:spcBef>
              <a:spcAft>
                <a:spcPts val="0"/>
              </a:spcAft>
              <a:buClr>
                <a:schemeClr val="dk1"/>
              </a:buClr>
              <a:buSzPts val="2400"/>
              <a:buFont typeface="Calibri"/>
              <a:buAutoNum type="arabicPeriod"/>
            </a:pPr>
            <a:r>
              <a:rPr lang="ru-RU" sz="2400"/>
              <a:t>Автоматический перевод;</a:t>
            </a:r>
            <a:endParaRPr/>
          </a:p>
          <a:p>
            <a:pPr indent="-571500" lvl="1" marL="1028700" rtl="0" algn="l">
              <a:lnSpc>
                <a:spcPct val="80000"/>
              </a:lnSpc>
              <a:spcBef>
                <a:spcPts val="480"/>
              </a:spcBef>
              <a:spcAft>
                <a:spcPts val="0"/>
              </a:spcAft>
              <a:buClr>
                <a:schemeClr val="dk1"/>
              </a:buClr>
              <a:buSzPts val="2400"/>
              <a:buFont typeface="Calibri"/>
              <a:buAutoNum type="arabicPeriod"/>
            </a:pPr>
            <a:r>
              <a:rPr lang="ru-RU" sz="2400"/>
              <a:t>Распознавание и синтез речи;</a:t>
            </a:r>
            <a:endParaRPr/>
          </a:p>
          <a:p>
            <a:pPr indent="-571500" lvl="1" marL="1028700" rtl="0" algn="l">
              <a:lnSpc>
                <a:spcPct val="80000"/>
              </a:lnSpc>
              <a:spcBef>
                <a:spcPts val="480"/>
              </a:spcBef>
              <a:spcAft>
                <a:spcPts val="0"/>
              </a:spcAft>
              <a:buClr>
                <a:schemeClr val="dk1"/>
              </a:buClr>
              <a:buSzPts val="2400"/>
              <a:buFont typeface="Calibri"/>
              <a:buAutoNum type="arabicPeriod"/>
            </a:pPr>
            <a:r>
              <a:rPr lang="ru-RU" sz="2400"/>
              <a:t>Автоматическое вождение автомобилей;</a:t>
            </a:r>
            <a:endParaRPr/>
          </a:p>
          <a:p>
            <a:pPr indent="-571500" lvl="1" marL="1028700" rtl="0" algn="l">
              <a:lnSpc>
                <a:spcPct val="80000"/>
              </a:lnSpc>
              <a:spcBef>
                <a:spcPts val="480"/>
              </a:spcBef>
              <a:spcAft>
                <a:spcPts val="0"/>
              </a:spcAft>
              <a:buClr>
                <a:schemeClr val="dk1"/>
              </a:buClr>
              <a:buSzPts val="2400"/>
              <a:buFont typeface="Calibri"/>
              <a:buAutoNum type="arabicPeriod"/>
            </a:pPr>
            <a:r>
              <a:rPr lang="ru-RU" sz="2400"/>
              <a:t>Роботы сборщики машин, роботы планетоходы.</a:t>
            </a:r>
            <a:endParaRPr/>
          </a:p>
        </p:txBody>
      </p:sp>
      <p:sp>
        <p:nvSpPr>
          <p:cNvPr id="161" name="Google Shape;161;p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8"/>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68" name="Google Shape;168;p8"/>
          <p:cNvSpPr txBox="1"/>
          <p:nvPr>
            <p:ph idx="4294967295" type="title"/>
          </p:nvPr>
        </p:nvSpPr>
        <p:spPr>
          <a:xfrm>
            <a:off x="0" y="285750"/>
            <a:ext cx="9248775" cy="11874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hlink"/>
              </a:buClr>
              <a:buSzPts val="4500"/>
              <a:buFont typeface="Calibri"/>
              <a:buNone/>
            </a:pPr>
            <a:r>
              <a:rPr b="1" lang="ru-RU">
                <a:solidFill>
                  <a:schemeClr val="hlink"/>
                </a:solidFill>
              </a:rPr>
              <a:t>Определение</a:t>
            </a:r>
            <a:endParaRPr/>
          </a:p>
        </p:txBody>
      </p:sp>
      <p:sp>
        <p:nvSpPr>
          <p:cNvPr id="169" name="Google Shape;169;p8"/>
          <p:cNvSpPr txBox="1"/>
          <p:nvPr>
            <p:ph idx="4294967295" type="body"/>
          </p:nvPr>
        </p:nvSpPr>
        <p:spPr>
          <a:xfrm>
            <a:off x="1322313" y="1662113"/>
            <a:ext cx="7200800" cy="3845247"/>
          </a:xfrm>
          <a:prstGeom prst="rect">
            <a:avLst/>
          </a:prstGeom>
          <a:solidFill>
            <a:srgbClr val="FFFFFF"/>
          </a:solidFill>
          <a:ln>
            <a:noFill/>
          </a:ln>
        </p:spPr>
        <p:txBody>
          <a:bodyPr anchorCtr="0" anchor="t" bIns="45700" lIns="91425" spcFirstLastPara="1" rIns="91425" wrap="square" tIns="45700">
            <a:normAutofit/>
          </a:bodyPr>
          <a:lstStyle/>
          <a:p>
            <a:pPr indent="-171450" lvl="0" marL="90488" rtl="0" algn="l">
              <a:spcBef>
                <a:spcPts val="0"/>
              </a:spcBef>
              <a:spcAft>
                <a:spcPts val="0"/>
              </a:spcAft>
              <a:buClr>
                <a:schemeClr val="dk1"/>
              </a:buClr>
              <a:buSzPts val="2700"/>
              <a:buChar char="•"/>
            </a:pPr>
            <a:r>
              <a:rPr lang="ru-RU" sz="2700"/>
              <a:t>Интеллект – способность делать правильные предсказания</a:t>
            </a:r>
            <a:endParaRPr/>
          </a:p>
          <a:p>
            <a:pPr indent="0" lvl="0" marL="90488" rtl="0" algn="l">
              <a:spcBef>
                <a:spcPts val="540"/>
              </a:spcBef>
              <a:spcAft>
                <a:spcPts val="0"/>
              </a:spcAft>
              <a:buClr>
                <a:schemeClr val="dk1"/>
              </a:buClr>
              <a:buSzPts val="2700"/>
              <a:buNone/>
            </a:pPr>
            <a:r>
              <a:t/>
            </a:r>
            <a:endParaRPr sz="2700"/>
          </a:p>
          <a:p>
            <a:pPr indent="-90488" lvl="0" marL="90488" rtl="0" algn="l">
              <a:spcBef>
                <a:spcPts val="540"/>
              </a:spcBef>
              <a:spcAft>
                <a:spcPts val="0"/>
              </a:spcAft>
              <a:buClr>
                <a:srgbClr val="0070C0"/>
              </a:buClr>
              <a:buSzPts val="2700"/>
              <a:buFont typeface="Calibri"/>
              <a:buNone/>
            </a:pPr>
            <a:r>
              <a:rPr b="1" lang="ru-RU" sz="2700">
                <a:solidFill>
                  <a:srgbClr val="0070C0"/>
                </a:solidFill>
              </a:rPr>
              <a:t>Составляющие системы разума:</a:t>
            </a:r>
            <a:endParaRPr/>
          </a:p>
          <a:p>
            <a:pPr indent="-171450" lvl="0" marL="90488" rtl="0" algn="l">
              <a:spcBef>
                <a:spcPts val="540"/>
              </a:spcBef>
              <a:spcAft>
                <a:spcPts val="0"/>
              </a:spcAft>
              <a:buClr>
                <a:schemeClr val="dk1"/>
              </a:buClr>
              <a:buSzPts val="2700"/>
              <a:buChar char="•"/>
            </a:pPr>
            <a:r>
              <a:rPr lang="ru-RU" sz="2700"/>
              <a:t>Мудрость                 цель          задача</a:t>
            </a:r>
            <a:endParaRPr/>
          </a:p>
          <a:p>
            <a:pPr indent="-171450" lvl="0" marL="90488" rtl="0" algn="l">
              <a:spcBef>
                <a:spcPts val="540"/>
              </a:spcBef>
              <a:spcAft>
                <a:spcPts val="0"/>
              </a:spcAft>
              <a:buClr>
                <a:schemeClr val="dk1"/>
              </a:buClr>
              <a:buSzPts val="2700"/>
              <a:buChar char="•"/>
            </a:pPr>
            <a:r>
              <a:rPr lang="ru-RU" sz="2700"/>
              <a:t>Интеллект                план         алгоритм</a:t>
            </a:r>
            <a:endParaRPr/>
          </a:p>
          <a:p>
            <a:pPr indent="-171450" lvl="0" marL="90488" rtl="0" algn="l">
              <a:spcBef>
                <a:spcPts val="540"/>
              </a:spcBef>
              <a:spcAft>
                <a:spcPts val="0"/>
              </a:spcAft>
              <a:buClr>
                <a:schemeClr val="dk1"/>
              </a:buClr>
              <a:buSzPts val="2700"/>
              <a:buChar char="•"/>
            </a:pPr>
            <a:r>
              <a:rPr lang="ru-RU" sz="2700"/>
              <a:t>Воля                         дело           программа</a:t>
            </a:r>
            <a:endParaRPr/>
          </a:p>
          <a:p>
            <a:pPr indent="0" lvl="0" marL="90488" rtl="0" algn="l">
              <a:spcBef>
                <a:spcPts val="540"/>
              </a:spcBef>
              <a:spcAft>
                <a:spcPts val="0"/>
              </a:spcAft>
              <a:buClr>
                <a:schemeClr val="dk1"/>
              </a:buClr>
              <a:buSzPts val="2700"/>
              <a:buNone/>
            </a:pPr>
            <a:r>
              <a:t/>
            </a:r>
            <a:endParaRPr sz="2700"/>
          </a:p>
        </p:txBody>
      </p:sp>
      <p:sp>
        <p:nvSpPr>
          <p:cNvPr id="170" name="Google Shape;170;p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cxnSp>
        <p:nvCxnSpPr>
          <p:cNvPr id="171" name="Google Shape;171;p8"/>
          <p:cNvCxnSpPr/>
          <p:nvPr/>
        </p:nvCxnSpPr>
        <p:spPr>
          <a:xfrm>
            <a:off x="3338537" y="3851176"/>
            <a:ext cx="504056" cy="0"/>
          </a:xfrm>
          <a:prstGeom prst="straightConnector1">
            <a:avLst/>
          </a:prstGeom>
          <a:noFill/>
          <a:ln cap="flat" cmpd="sng" w="9525">
            <a:solidFill>
              <a:srgbClr val="4962C5"/>
            </a:solidFill>
            <a:prstDash val="solid"/>
            <a:round/>
            <a:headEnd len="sm" w="sm" type="none"/>
            <a:tailEnd len="med" w="med" type="triangle"/>
          </a:ln>
        </p:spPr>
      </p:cxnSp>
      <p:cxnSp>
        <p:nvCxnSpPr>
          <p:cNvPr id="172" name="Google Shape;172;p8"/>
          <p:cNvCxnSpPr/>
          <p:nvPr/>
        </p:nvCxnSpPr>
        <p:spPr>
          <a:xfrm>
            <a:off x="5066729" y="3851176"/>
            <a:ext cx="504056" cy="0"/>
          </a:xfrm>
          <a:prstGeom prst="straightConnector1">
            <a:avLst/>
          </a:prstGeom>
          <a:noFill/>
          <a:ln cap="flat" cmpd="sng" w="9525">
            <a:solidFill>
              <a:srgbClr val="4962C5"/>
            </a:solidFill>
            <a:prstDash val="solid"/>
            <a:round/>
            <a:headEnd len="sm" w="sm" type="none"/>
            <a:tailEnd len="med" w="med" type="triangle"/>
          </a:ln>
        </p:spPr>
      </p:cxnSp>
      <p:cxnSp>
        <p:nvCxnSpPr>
          <p:cNvPr id="173" name="Google Shape;173;p8"/>
          <p:cNvCxnSpPr/>
          <p:nvPr/>
        </p:nvCxnSpPr>
        <p:spPr>
          <a:xfrm>
            <a:off x="3338537" y="4355232"/>
            <a:ext cx="504056" cy="0"/>
          </a:xfrm>
          <a:prstGeom prst="straightConnector1">
            <a:avLst/>
          </a:prstGeom>
          <a:noFill/>
          <a:ln cap="flat" cmpd="sng" w="9525">
            <a:solidFill>
              <a:srgbClr val="C3260C"/>
            </a:solidFill>
            <a:prstDash val="solid"/>
            <a:round/>
            <a:headEnd len="sm" w="sm" type="none"/>
            <a:tailEnd len="med" w="med" type="triangle"/>
          </a:ln>
        </p:spPr>
      </p:cxnSp>
      <p:cxnSp>
        <p:nvCxnSpPr>
          <p:cNvPr id="174" name="Google Shape;174;p8"/>
          <p:cNvCxnSpPr/>
          <p:nvPr/>
        </p:nvCxnSpPr>
        <p:spPr>
          <a:xfrm>
            <a:off x="5066729" y="4358308"/>
            <a:ext cx="504056" cy="0"/>
          </a:xfrm>
          <a:prstGeom prst="straightConnector1">
            <a:avLst/>
          </a:prstGeom>
          <a:noFill/>
          <a:ln cap="flat" cmpd="sng" w="9525">
            <a:solidFill>
              <a:srgbClr val="C3260C"/>
            </a:solidFill>
            <a:prstDash val="solid"/>
            <a:round/>
            <a:headEnd len="sm" w="sm" type="none"/>
            <a:tailEnd len="med" w="med" type="triangle"/>
          </a:ln>
        </p:spPr>
      </p:cxnSp>
      <p:cxnSp>
        <p:nvCxnSpPr>
          <p:cNvPr id="175" name="Google Shape;175;p8"/>
          <p:cNvCxnSpPr/>
          <p:nvPr/>
        </p:nvCxnSpPr>
        <p:spPr>
          <a:xfrm>
            <a:off x="3338537" y="4859288"/>
            <a:ext cx="504056" cy="0"/>
          </a:xfrm>
          <a:prstGeom prst="straightConnector1">
            <a:avLst/>
          </a:prstGeom>
          <a:noFill/>
          <a:ln cap="flat" cmpd="sng" w="9525">
            <a:solidFill>
              <a:srgbClr val="81D319"/>
            </a:solidFill>
            <a:prstDash val="solid"/>
            <a:round/>
            <a:headEnd len="sm" w="sm" type="none"/>
            <a:tailEnd len="med" w="med" type="triangle"/>
          </a:ln>
        </p:spPr>
      </p:cxnSp>
      <p:cxnSp>
        <p:nvCxnSpPr>
          <p:cNvPr id="176" name="Google Shape;176;p8"/>
          <p:cNvCxnSpPr/>
          <p:nvPr/>
        </p:nvCxnSpPr>
        <p:spPr>
          <a:xfrm>
            <a:off x="5066729" y="4862364"/>
            <a:ext cx="504056" cy="0"/>
          </a:xfrm>
          <a:prstGeom prst="straightConnector1">
            <a:avLst/>
          </a:prstGeom>
          <a:noFill/>
          <a:ln cap="flat" cmpd="sng" w="9525">
            <a:solidFill>
              <a:srgbClr val="81D319"/>
            </a:solidFill>
            <a:prstDash val="solid"/>
            <a:round/>
            <a:headEnd len="sm" w="sm"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p:nvPr/>
        </p:nvSpPr>
        <p:spPr>
          <a:xfrm>
            <a:off x="673100" y="3140075"/>
            <a:ext cx="9329738" cy="1287463"/>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83" name="Google Shape;183;p9"/>
          <p:cNvSpPr/>
          <p:nvPr/>
        </p:nvSpPr>
        <p:spPr>
          <a:xfrm>
            <a:off x="1030288" y="3362325"/>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i="0" lang="ru-RU" sz="3000" u="none" cap="none" strike="noStrike">
                <a:solidFill>
                  <a:schemeClr val="lt1"/>
                </a:solidFill>
                <a:latin typeface="Arial"/>
                <a:ea typeface="Arial"/>
                <a:cs typeface="Arial"/>
                <a:sym typeface="Arial"/>
              </a:rPr>
              <a:t>2</a:t>
            </a:r>
            <a:endParaRPr/>
          </a:p>
        </p:txBody>
      </p:sp>
      <p:sp>
        <p:nvSpPr>
          <p:cNvPr id="184" name="Google Shape;184;p9"/>
          <p:cNvSpPr/>
          <p:nvPr/>
        </p:nvSpPr>
        <p:spPr>
          <a:xfrm>
            <a:off x="949325" y="3140075"/>
            <a:ext cx="8509892" cy="1284288"/>
          </a:xfrm>
          <a:prstGeom prst="roundRect">
            <a:avLst>
              <a:gd fmla="val 16667" name="adj"/>
            </a:avLst>
          </a:prstGeom>
          <a:no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rPr b="0" i="0" lang="ru-RU" sz="3600" u="none" cap="none" strike="noStrike">
                <a:solidFill>
                  <a:schemeClr val="lt1"/>
                </a:solidFill>
                <a:latin typeface="Arial"/>
                <a:ea typeface="Arial"/>
                <a:cs typeface="Arial"/>
                <a:sym typeface="Arial"/>
              </a:rPr>
              <a:t>Задачи Data Analysis</a:t>
            </a:r>
            <a:endParaRPr b="0" i="0" sz="3600" u="none" cap="none" strike="noStrike">
              <a:solidFill>
                <a:schemeClr val="lt1"/>
              </a:solidFill>
              <a:latin typeface="Arial"/>
              <a:ea typeface="Arial"/>
              <a:cs typeface="Arial"/>
              <a:sym typeface="Arial"/>
            </a:endParaRPr>
          </a:p>
        </p:txBody>
      </p:sp>
      <p:sp>
        <p:nvSpPr>
          <p:cNvPr id="185" name="Google Shape;185;p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4"/>
                                        </p:tgtEl>
                                        <p:attrNameLst>
                                          <p:attrName>style.visibility</p:attrName>
                                        </p:attrNameLst>
                                      </p:cBhvr>
                                      <p:to>
                                        <p:strVal val="visible"/>
                                      </p:to>
                                    </p:set>
                                    <p:anim calcmode="lin" valueType="num">
                                      <p:cBhvr additive="base">
                                        <p:cTn dur="500"/>
                                        <p:tgtEl>
                                          <p:spTgt spid="18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0"/>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192" name="Google Shape;192;p10"/>
          <p:cNvSpPr/>
          <p:nvPr/>
        </p:nvSpPr>
        <p:spPr>
          <a:xfrm>
            <a:off x="242888" y="1669397"/>
            <a:ext cx="9053024" cy="4818493"/>
          </a:xfrm>
          <a:prstGeom prst="roundRect">
            <a:avLst>
              <a:gd fmla="val 16667" name="adj"/>
            </a:avLst>
          </a:prstGeom>
          <a:solidFill>
            <a:schemeClr val="lt1">
              <a:alpha val="49803"/>
            </a:schemeClr>
          </a:solidFill>
          <a:ln>
            <a:noFill/>
          </a:ln>
        </p:spPr>
        <p:txBody>
          <a:bodyPr anchorCtr="0" anchor="ctr" bIns="45950" lIns="91925" spcFirstLastPara="1" rIns="91925" wrap="square" tIns="45950">
            <a:noAutofit/>
          </a:bodyPr>
          <a:lstStyle/>
          <a:p>
            <a:pPr indent="0" lvl="0" marL="0" marR="0" rtl="0" algn="l">
              <a:spcBef>
                <a:spcPts val="0"/>
              </a:spcBef>
              <a:spcAft>
                <a:spcPts val="0"/>
              </a:spcAft>
              <a:buNone/>
            </a:pPr>
            <a:r>
              <a:t/>
            </a:r>
            <a:endParaRPr b="0" i="0" sz="3236" u="none" cap="none" strike="noStrike">
              <a:solidFill>
                <a:schemeClr val="lt1"/>
              </a:solidFill>
              <a:latin typeface="Arial"/>
              <a:ea typeface="Arial"/>
              <a:cs typeface="Arial"/>
              <a:sym typeface="Arial"/>
            </a:endParaRPr>
          </a:p>
        </p:txBody>
      </p:sp>
      <p:sp>
        <p:nvSpPr>
          <p:cNvPr id="193" name="Google Shape;193;p10"/>
          <p:cNvSpPr txBox="1"/>
          <p:nvPr>
            <p:ph type="title"/>
          </p:nvPr>
        </p:nvSpPr>
        <p:spPr>
          <a:xfrm>
            <a:off x="862965" y="532823"/>
            <a:ext cx="8551545" cy="636747"/>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98425"/>
              <a:buFont typeface="Calibri"/>
              <a:buNone/>
            </a:pPr>
            <a:r>
              <a:rPr lang="ru-RU"/>
              <a:t>Задачи Data </a:t>
            </a:r>
            <a:r>
              <a:rPr lang="ru-RU" sz="4800">
                <a:solidFill>
                  <a:srgbClr val="181D33"/>
                </a:solidFill>
              </a:rPr>
              <a:t>Analysis</a:t>
            </a:r>
            <a:endParaRPr/>
          </a:p>
        </p:txBody>
      </p:sp>
      <p:sp>
        <p:nvSpPr>
          <p:cNvPr id="194" name="Google Shape;194;p10"/>
          <p:cNvSpPr txBox="1"/>
          <p:nvPr>
            <p:ph idx="1" type="body"/>
          </p:nvPr>
        </p:nvSpPr>
        <p:spPr>
          <a:xfrm>
            <a:off x="612226" y="1805491"/>
            <a:ext cx="4310488" cy="4546307"/>
          </a:xfrm>
          <a:prstGeom prst="rect">
            <a:avLst/>
          </a:prstGeom>
          <a:noFill/>
          <a:ln>
            <a:noFill/>
          </a:ln>
        </p:spPr>
        <p:txBody>
          <a:bodyPr anchorCtr="0" anchor="t" bIns="45950" lIns="91925" spcFirstLastPara="1" rIns="91925" wrap="square" tIns="45950">
            <a:normAutofit fontScale="92500" lnSpcReduction="10000"/>
          </a:bodyPr>
          <a:lstStyle/>
          <a:p>
            <a:pPr indent="-475513" lvl="0" marL="475509" rtl="0" algn="l">
              <a:lnSpc>
                <a:spcPct val="90000"/>
              </a:lnSpc>
              <a:spcBef>
                <a:spcPts val="0"/>
              </a:spcBef>
              <a:spcAft>
                <a:spcPts val="0"/>
              </a:spcAft>
              <a:buClr>
                <a:schemeClr val="dk1"/>
              </a:buClr>
              <a:buSzPct val="100000"/>
              <a:buFont typeface="Calibri"/>
              <a:buAutoNum type="arabicPeriod"/>
            </a:pPr>
            <a:r>
              <a:rPr lang="ru-RU" sz="2866"/>
              <a:t>Классификация</a:t>
            </a:r>
            <a:endParaRPr/>
          </a:p>
          <a:p>
            <a:pPr indent="-475513" lvl="0" marL="475509" rtl="0" algn="l">
              <a:lnSpc>
                <a:spcPct val="90000"/>
              </a:lnSpc>
              <a:spcBef>
                <a:spcPts val="530"/>
              </a:spcBef>
              <a:spcAft>
                <a:spcPts val="0"/>
              </a:spcAft>
              <a:buClr>
                <a:schemeClr val="dk1"/>
              </a:buClr>
              <a:buSzPct val="100000"/>
              <a:buFont typeface="Calibri"/>
              <a:buAutoNum type="arabicPeriod"/>
            </a:pPr>
            <a:r>
              <a:rPr lang="ru-RU" sz="2866"/>
              <a:t>Кластеризация</a:t>
            </a:r>
            <a:endParaRPr/>
          </a:p>
          <a:p>
            <a:pPr indent="-475513" lvl="0" marL="475509" rtl="0" algn="l">
              <a:lnSpc>
                <a:spcPct val="90000"/>
              </a:lnSpc>
              <a:spcBef>
                <a:spcPts val="530"/>
              </a:spcBef>
              <a:spcAft>
                <a:spcPts val="0"/>
              </a:spcAft>
              <a:buClr>
                <a:schemeClr val="dk1"/>
              </a:buClr>
              <a:buSzPct val="100000"/>
              <a:buFont typeface="Calibri"/>
              <a:buAutoNum type="arabicPeriod"/>
            </a:pPr>
            <a:r>
              <a:rPr lang="ru-RU" sz="2866"/>
              <a:t>Прогнозирование</a:t>
            </a:r>
            <a:endParaRPr/>
          </a:p>
          <a:p>
            <a:pPr indent="-475513" lvl="0" marL="475509" rtl="0" algn="l">
              <a:lnSpc>
                <a:spcPct val="90000"/>
              </a:lnSpc>
              <a:spcBef>
                <a:spcPts val="530"/>
              </a:spcBef>
              <a:spcAft>
                <a:spcPts val="0"/>
              </a:spcAft>
              <a:buClr>
                <a:schemeClr val="dk1"/>
              </a:buClr>
              <a:buSzPct val="100000"/>
              <a:buFont typeface="Calibri"/>
              <a:buAutoNum type="arabicPeriod"/>
            </a:pPr>
            <a:r>
              <a:rPr lang="ru-RU" sz="2866"/>
              <a:t>Ассоциация</a:t>
            </a:r>
            <a:endParaRPr/>
          </a:p>
          <a:p>
            <a:pPr indent="-475513" lvl="0" marL="475509" rtl="0" algn="l">
              <a:lnSpc>
                <a:spcPct val="90000"/>
              </a:lnSpc>
              <a:spcBef>
                <a:spcPts val="530"/>
              </a:spcBef>
              <a:spcAft>
                <a:spcPts val="0"/>
              </a:spcAft>
              <a:buClr>
                <a:schemeClr val="dk1"/>
              </a:buClr>
              <a:buSzPct val="100000"/>
              <a:buFont typeface="Calibri"/>
              <a:buAutoNum type="arabicPeriod"/>
            </a:pPr>
            <a:r>
              <a:rPr lang="ru-RU" sz="2866"/>
              <a:t>Обнаружение и анализ и отклонений</a:t>
            </a:r>
            <a:endParaRPr/>
          </a:p>
          <a:p>
            <a:pPr indent="-475513" lvl="0" marL="475509" rtl="0" algn="l">
              <a:lnSpc>
                <a:spcPct val="90000"/>
              </a:lnSpc>
              <a:spcBef>
                <a:spcPts val="530"/>
              </a:spcBef>
              <a:spcAft>
                <a:spcPts val="0"/>
              </a:spcAft>
              <a:buClr>
                <a:schemeClr val="dk1"/>
              </a:buClr>
              <a:buSzPct val="100000"/>
              <a:buFont typeface="Calibri"/>
              <a:buAutoNum type="arabicPeriod"/>
            </a:pPr>
            <a:r>
              <a:rPr lang="ru-RU" sz="2866"/>
              <a:t>Оценивание</a:t>
            </a:r>
            <a:endParaRPr/>
          </a:p>
          <a:p>
            <a:pPr indent="-475513" lvl="0" marL="475509" rtl="0" algn="l">
              <a:lnSpc>
                <a:spcPct val="90000"/>
              </a:lnSpc>
              <a:spcBef>
                <a:spcPts val="530"/>
              </a:spcBef>
              <a:spcAft>
                <a:spcPts val="0"/>
              </a:spcAft>
              <a:buClr>
                <a:schemeClr val="dk1"/>
              </a:buClr>
              <a:buSzPct val="100000"/>
              <a:buFont typeface="Calibri"/>
              <a:buAutoNum type="arabicPeriod"/>
            </a:pPr>
            <a:r>
              <a:rPr lang="ru-RU" sz="2866"/>
              <a:t>Анализ связей</a:t>
            </a:r>
            <a:endParaRPr/>
          </a:p>
          <a:p>
            <a:pPr indent="-475513" lvl="0" marL="475509" rtl="0" algn="l">
              <a:lnSpc>
                <a:spcPct val="90000"/>
              </a:lnSpc>
              <a:spcBef>
                <a:spcPts val="530"/>
              </a:spcBef>
              <a:spcAft>
                <a:spcPts val="0"/>
              </a:spcAft>
              <a:buClr>
                <a:schemeClr val="dk1"/>
              </a:buClr>
              <a:buSzPct val="100000"/>
              <a:buFont typeface="Calibri"/>
              <a:buAutoNum type="arabicPeriod"/>
            </a:pPr>
            <a:r>
              <a:rPr lang="ru-RU" sz="2866"/>
              <a:t>Визуализация</a:t>
            </a:r>
            <a:endParaRPr/>
          </a:p>
          <a:p>
            <a:pPr indent="-475513" lvl="0" marL="475509" rtl="0" algn="l">
              <a:lnSpc>
                <a:spcPct val="90000"/>
              </a:lnSpc>
              <a:spcBef>
                <a:spcPts val="530"/>
              </a:spcBef>
              <a:spcAft>
                <a:spcPts val="0"/>
              </a:spcAft>
              <a:buClr>
                <a:schemeClr val="dk1"/>
              </a:buClr>
              <a:buSzPct val="100000"/>
              <a:buFont typeface="Calibri"/>
              <a:buAutoNum type="arabicPeriod"/>
            </a:pPr>
            <a:r>
              <a:rPr lang="ru-RU" sz="2866"/>
              <a:t>Подведение итогов (Summarization)</a:t>
            </a:r>
            <a:endParaRPr/>
          </a:p>
        </p:txBody>
      </p:sp>
      <p:sp>
        <p:nvSpPr>
          <p:cNvPr id="195" name="Google Shape;195;p1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pic>
        <p:nvPicPr>
          <p:cNvPr id="196" name="Google Shape;196;p10"/>
          <p:cNvPicPr preferRelativeResize="0"/>
          <p:nvPr/>
        </p:nvPicPr>
        <p:blipFill rotWithShape="1">
          <a:blip r:embed="rId3">
            <a:alphaModFix/>
          </a:blip>
          <a:srcRect b="0" l="0" r="0" t="0"/>
          <a:stretch/>
        </p:blipFill>
        <p:spPr>
          <a:xfrm>
            <a:off x="5354761" y="1305662"/>
            <a:ext cx="4609582" cy="460958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1"/>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203" name="Google Shape;203;p11"/>
          <p:cNvSpPr/>
          <p:nvPr/>
        </p:nvSpPr>
        <p:spPr>
          <a:xfrm>
            <a:off x="612225" y="1669399"/>
            <a:ext cx="9053024" cy="4818493"/>
          </a:xfrm>
          <a:prstGeom prst="roundRect">
            <a:avLst>
              <a:gd fmla="val 16667" name="adj"/>
            </a:avLst>
          </a:prstGeom>
          <a:solidFill>
            <a:schemeClr val="lt1">
              <a:alpha val="49803"/>
            </a:schemeClr>
          </a:solidFill>
          <a:ln>
            <a:noFill/>
          </a:ln>
        </p:spPr>
        <p:txBody>
          <a:bodyPr anchorCtr="0" anchor="ctr" bIns="45950" lIns="91925" spcFirstLastPara="1" rIns="91925" wrap="square" tIns="45950">
            <a:noAutofit/>
          </a:bodyPr>
          <a:lstStyle/>
          <a:p>
            <a:pPr indent="0" lvl="0" marL="0" marR="0" rtl="0" algn="l">
              <a:spcBef>
                <a:spcPts val="0"/>
              </a:spcBef>
              <a:spcAft>
                <a:spcPts val="0"/>
              </a:spcAft>
              <a:buNone/>
            </a:pPr>
            <a:r>
              <a:t/>
            </a:r>
            <a:endParaRPr b="0" i="0" sz="3236" u="none" cap="none" strike="noStrike">
              <a:solidFill>
                <a:schemeClr val="lt1"/>
              </a:solidFill>
              <a:latin typeface="Arial"/>
              <a:ea typeface="Arial"/>
              <a:cs typeface="Arial"/>
              <a:sym typeface="Arial"/>
            </a:endParaRPr>
          </a:p>
        </p:txBody>
      </p:sp>
      <p:sp>
        <p:nvSpPr>
          <p:cNvPr id="204" name="Google Shape;204;p11"/>
          <p:cNvSpPr txBox="1"/>
          <p:nvPr>
            <p:ph type="title"/>
          </p:nvPr>
        </p:nvSpPr>
        <p:spPr>
          <a:xfrm>
            <a:off x="862964" y="296635"/>
            <a:ext cx="8551545" cy="636747"/>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98425"/>
              <a:buFont typeface="Calibri"/>
              <a:buNone/>
            </a:pPr>
            <a:r>
              <a:rPr lang="ru-RU"/>
              <a:t>Задачи и инструменты </a:t>
            </a:r>
            <a:br>
              <a:rPr lang="ru-RU"/>
            </a:br>
            <a:r>
              <a:rPr lang="ru-RU"/>
              <a:t>Data </a:t>
            </a:r>
            <a:r>
              <a:rPr lang="ru-RU" sz="4800">
                <a:solidFill>
                  <a:srgbClr val="181D33"/>
                </a:solidFill>
              </a:rPr>
              <a:t>Analysis</a:t>
            </a:r>
            <a:r>
              <a:rPr lang="ru-RU"/>
              <a:t> и Mashine Learning</a:t>
            </a:r>
            <a:endParaRPr/>
          </a:p>
        </p:txBody>
      </p:sp>
      <p:sp>
        <p:nvSpPr>
          <p:cNvPr id="205" name="Google Shape;205;p1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pic>
        <p:nvPicPr>
          <p:cNvPr id="206" name="Google Shape;206;p11"/>
          <p:cNvPicPr preferRelativeResize="0"/>
          <p:nvPr/>
        </p:nvPicPr>
        <p:blipFill rotWithShape="1">
          <a:blip r:embed="rId3">
            <a:alphaModFix/>
          </a:blip>
          <a:srcRect b="0" l="0" r="0" t="0"/>
          <a:stretch/>
        </p:blipFill>
        <p:spPr>
          <a:xfrm>
            <a:off x="4985" y="1390970"/>
            <a:ext cx="10277475" cy="521903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2"/>
          <p:cNvSpPr/>
          <p:nvPr/>
        </p:nvSpPr>
        <p:spPr>
          <a:xfrm>
            <a:off x="242888" y="488763"/>
            <a:ext cx="9791700" cy="6602773"/>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213" name="Google Shape;213;p12"/>
          <p:cNvSpPr txBox="1"/>
          <p:nvPr>
            <p:ph type="title"/>
          </p:nvPr>
        </p:nvSpPr>
        <p:spPr>
          <a:xfrm>
            <a:off x="862965" y="532823"/>
            <a:ext cx="8551545" cy="636747"/>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98425"/>
              <a:buFont typeface="Calibri"/>
              <a:buNone/>
            </a:pPr>
            <a:r>
              <a:rPr lang="ru-RU"/>
              <a:t>Задачи Data </a:t>
            </a:r>
            <a:r>
              <a:rPr lang="ru-RU" sz="4800">
                <a:solidFill>
                  <a:srgbClr val="181D33"/>
                </a:solidFill>
              </a:rPr>
              <a:t>Analysis</a:t>
            </a:r>
            <a:endParaRPr/>
          </a:p>
        </p:txBody>
      </p:sp>
      <p:pic>
        <p:nvPicPr>
          <p:cNvPr id="214" name="Google Shape;214;p12"/>
          <p:cNvPicPr preferRelativeResize="0"/>
          <p:nvPr/>
        </p:nvPicPr>
        <p:blipFill rotWithShape="1">
          <a:blip r:embed="rId3">
            <a:alphaModFix/>
          </a:blip>
          <a:srcRect b="0" l="0" r="0" t="0"/>
          <a:stretch/>
        </p:blipFill>
        <p:spPr>
          <a:xfrm>
            <a:off x="5338340" y="1789821"/>
            <a:ext cx="4097615" cy="2231913"/>
          </a:xfrm>
          <a:prstGeom prst="rect">
            <a:avLst/>
          </a:prstGeom>
          <a:noFill/>
          <a:ln>
            <a:noFill/>
          </a:ln>
        </p:spPr>
      </p:pic>
      <p:pic>
        <p:nvPicPr>
          <p:cNvPr id="215" name="Google Shape;215;p12"/>
          <p:cNvPicPr preferRelativeResize="0"/>
          <p:nvPr/>
        </p:nvPicPr>
        <p:blipFill rotWithShape="1">
          <a:blip r:embed="rId4">
            <a:alphaModFix/>
          </a:blip>
          <a:srcRect b="0" l="0" r="0" t="0"/>
          <a:stretch/>
        </p:blipFill>
        <p:spPr>
          <a:xfrm>
            <a:off x="7232085" y="4143805"/>
            <a:ext cx="2250059" cy="2037261"/>
          </a:xfrm>
          <a:prstGeom prst="rect">
            <a:avLst/>
          </a:prstGeom>
          <a:noFill/>
          <a:ln>
            <a:noFill/>
          </a:ln>
        </p:spPr>
      </p:pic>
      <p:pic>
        <p:nvPicPr>
          <p:cNvPr id="216" name="Google Shape;216;p12"/>
          <p:cNvPicPr preferRelativeResize="0"/>
          <p:nvPr/>
        </p:nvPicPr>
        <p:blipFill rotWithShape="1">
          <a:blip r:embed="rId5">
            <a:alphaModFix/>
          </a:blip>
          <a:srcRect b="0" l="0" r="0" t="0"/>
          <a:stretch/>
        </p:blipFill>
        <p:spPr>
          <a:xfrm>
            <a:off x="5338339" y="4143805"/>
            <a:ext cx="1793119" cy="2037261"/>
          </a:xfrm>
          <a:prstGeom prst="rect">
            <a:avLst/>
          </a:prstGeom>
          <a:noFill/>
          <a:ln>
            <a:noFill/>
          </a:ln>
        </p:spPr>
      </p:pic>
      <p:sp>
        <p:nvSpPr>
          <p:cNvPr id="217" name="Google Shape;217;p12"/>
          <p:cNvSpPr/>
          <p:nvPr/>
        </p:nvSpPr>
        <p:spPr>
          <a:xfrm>
            <a:off x="930599" y="1789821"/>
            <a:ext cx="4193292" cy="1639706"/>
          </a:xfrm>
          <a:prstGeom prst="roundRect">
            <a:avLst>
              <a:gd fmla="val 16667" name="adj"/>
            </a:avLst>
          </a:prstGeom>
          <a:gradFill>
            <a:gsLst>
              <a:gs pos="0">
                <a:srgbClr val="94E4FF"/>
              </a:gs>
              <a:gs pos="50000">
                <a:srgbClr val="BCECFF"/>
              </a:gs>
              <a:gs pos="100000">
                <a:srgbClr val="DEF4FF"/>
              </a:gs>
            </a:gsLst>
            <a:lin ang="5400000" scaled="0"/>
          </a:gradFill>
          <a:ln cap="flat" cmpd="sng" w="9525">
            <a:solidFill>
              <a:schemeClr val="lt2"/>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2250" lIns="84525" spcFirstLastPara="1" rIns="84525" wrap="square" tIns="42250">
            <a:noAutofit/>
          </a:bodyPr>
          <a:lstStyle/>
          <a:p>
            <a:pPr indent="-165842" lvl="0" marL="165842" marR="0" rtl="0" algn="l">
              <a:lnSpc>
                <a:spcPct val="80000"/>
              </a:lnSpc>
              <a:spcBef>
                <a:spcPts val="0"/>
              </a:spcBef>
              <a:spcAft>
                <a:spcPts val="0"/>
              </a:spcAft>
              <a:buNone/>
            </a:pPr>
            <a:r>
              <a:rPr b="0" i="1" lang="ru-RU" sz="2218" u="none" cap="none" strike="noStrike">
                <a:solidFill>
                  <a:schemeClr val="dk1"/>
                </a:solidFill>
                <a:latin typeface="Arial"/>
                <a:ea typeface="Arial"/>
                <a:cs typeface="Arial"/>
                <a:sym typeface="Arial"/>
              </a:rPr>
              <a:t>Классификация </a:t>
            </a:r>
            <a:r>
              <a:rPr b="0" i="0" lang="ru-RU" sz="2218" u="none" cap="none" strike="noStrike">
                <a:solidFill>
                  <a:schemeClr val="dk1"/>
                </a:solidFill>
                <a:latin typeface="Arial"/>
                <a:ea typeface="Arial"/>
                <a:cs typeface="Arial"/>
                <a:sym typeface="Arial"/>
              </a:rPr>
              <a:t>- </a:t>
            </a:r>
            <a:r>
              <a:rPr b="0" i="0" lang="ru-RU" sz="2034" u="none" cap="none" strike="noStrike">
                <a:solidFill>
                  <a:schemeClr val="dk1"/>
                </a:solidFill>
                <a:latin typeface="Arial"/>
                <a:ea typeface="Arial"/>
                <a:cs typeface="Arial"/>
                <a:sym typeface="Arial"/>
              </a:rPr>
              <a:t>отнесение входного вектора (объекта, события, наблюдения) к одному из заранее известных классов.</a:t>
            </a:r>
            <a:endParaRPr/>
          </a:p>
        </p:txBody>
      </p:sp>
      <p:sp>
        <p:nvSpPr>
          <p:cNvPr id="218" name="Google Shape;218;p12"/>
          <p:cNvSpPr/>
          <p:nvPr/>
        </p:nvSpPr>
        <p:spPr>
          <a:xfrm>
            <a:off x="930599" y="3670369"/>
            <a:ext cx="4178445" cy="2984132"/>
          </a:xfrm>
          <a:prstGeom prst="roundRect">
            <a:avLst>
              <a:gd fmla="val 16667" name="adj"/>
            </a:avLst>
          </a:prstGeom>
          <a:gradFill>
            <a:gsLst>
              <a:gs pos="0">
                <a:srgbClr val="94E4FF"/>
              </a:gs>
              <a:gs pos="50000">
                <a:srgbClr val="BCECFF"/>
              </a:gs>
              <a:gs pos="100000">
                <a:srgbClr val="DEF4FF"/>
              </a:gs>
            </a:gsLst>
            <a:lin ang="5400000" scaled="0"/>
          </a:gradFill>
          <a:ln cap="flat" cmpd="sng" w="9525">
            <a:solidFill>
              <a:schemeClr val="lt2"/>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2250" lIns="84525" spcFirstLastPara="1" rIns="84525" wrap="square" tIns="42250">
            <a:noAutofit/>
          </a:bodyPr>
          <a:lstStyle/>
          <a:p>
            <a:pPr indent="-165842" lvl="0" marL="165842" marR="0" rtl="0" algn="l">
              <a:lnSpc>
                <a:spcPct val="80000"/>
              </a:lnSpc>
              <a:spcBef>
                <a:spcPts val="0"/>
              </a:spcBef>
              <a:spcAft>
                <a:spcPts val="0"/>
              </a:spcAft>
              <a:buNone/>
            </a:pPr>
            <a:r>
              <a:rPr b="0" i="1" lang="ru-RU" sz="2218" u="none" cap="none" strike="noStrike">
                <a:solidFill>
                  <a:schemeClr val="dk1"/>
                </a:solidFill>
                <a:latin typeface="Arial"/>
                <a:ea typeface="Arial"/>
                <a:cs typeface="Arial"/>
                <a:sym typeface="Arial"/>
              </a:rPr>
              <a:t>Кластеризация - разделение множества входных векторов на группы (кластеры) по степени «похожести» друг на друга.</a:t>
            </a:r>
            <a:endParaRPr/>
          </a:p>
          <a:p>
            <a:pPr indent="-357188" lvl="1" marL="542925" marR="0" rtl="0" algn="l">
              <a:spcBef>
                <a:spcPts val="0"/>
              </a:spcBef>
              <a:spcAft>
                <a:spcPts val="0"/>
              </a:spcAft>
              <a:buClr>
                <a:schemeClr val="dk1"/>
              </a:buClr>
              <a:buSzPts val="1800"/>
              <a:buFont typeface="Arial"/>
              <a:buChar char="•"/>
            </a:pPr>
            <a:r>
              <a:rPr b="0" i="0" lang="ru-RU" sz="1800" u="none" cap="none" strike="noStrike">
                <a:solidFill>
                  <a:schemeClr val="dk1"/>
                </a:solidFill>
                <a:latin typeface="Arial"/>
                <a:ea typeface="Arial"/>
                <a:cs typeface="Arial"/>
                <a:sym typeface="Arial"/>
              </a:rPr>
              <a:t>Внутри каждой группы должны оказаться «похожие» объекты, а объекты разных группы должны быть как можно более отличны.</a:t>
            </a:r>
            <a:endParaRPr b="0" i="0" sz="1800" u="none" cap="none" strike="noStrike">
              <a:solidFill>
                <a:schemeClr val="dk1"/>
              </a:solidFill>
              <a:latin typeface="Arial"/>
              <a:ea typeface="Arial"/>
              <a:cs typeface="Arial"/>
              <a:sym typeface="Arial"/>
            </a:endParaRPr>
          </a:p>
        </p:txBody>
      </p:sp>
      <p:sp>
        <p:nvSpPr>
          <p:cNvPr id="219" name="Google Shape;219;p1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3"/>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226" name="Google Shape;226;p13"/>
          <p:cNvSpPr txBox="1"/>
          <p:nvPr>
            <p:ph type="title"/>
          </p:nvPr>
        </p:nvSpPr>
        <p:spPr>
          <a:xfrm>
            <a:off x="862965" y="532823"/>
            <a:ext cx="8551545" cy="636747"/>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98425"/>
              <a:buFont typeface="Calibri"/>
              <a:buNone/>
            </a:pPr>
            <a:r>
              <a:rPr lang="ru-RU"/>
              <a:t>Задачи Data </a:t>
            </a:r>
            <a:r>
              <a:rPr lang="ru-RU" sz="4800">
                <a:solidFill>
                  <a:srgbClr val="181D33"/>
                </a:solidFill>
              </a:rPr>
              <a:t>Analysis</a:t>
            </a:r>
            <a:endParaRPr/>
          </a:p>
        </p:txBody>
      </p:sp>
      <p:sp>
        <p:nvSpPr>
          <p:cNvPr id="227" name="Google Shape;227;p13"/>
          <p:cNvSpPr/>
          <p:nvPr/>
        </p:nvSpPr>
        <p:spPr>
          <a:xfrm>
            <a:off x="602246" y="1636470"/>
            <a:ext cx="9072900" cy="4968600"/>
          </a:xfrm>
          <a:prstGeom prst="roundRect">
            <a:avLst>
              <a:gd fmla="val 16667" name="adj"/>
            </a:avLst>
          </a:prstGeom>
          <a:gradFill>
            <a:gsLst>
              <a:gs pos="0">
                <a:srgbClr val="94E4FF"/>
              </a:gs>
              <a:gs pos="50000">
                <a:srgbClr val="BCECFF"/>
              </a:gs>
              <a:gs pos="100000">
                <a:srgbClr val="DEF4FF"/>
              </a:gs>
            </a:gsLst>
            <a:lin ang="5400000" scaled="0"/>
          </a:gradFill>
          <a:ln cap="flat" cmpd="sng" w="9525">
            <a:solidFill>
              <a:schemeClr val="lt2"/>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2250" lIns="84525" spcFirstLastPara="1" rIns="84525" wrap="square" tIns="42250">
            <a:noAutofit/>
          </a:bodyPr>
          <a:lstStyle/>
          <a:p>
            <a:pPr indent="-165842" lvl="0" marL="165842" marR="0" rtl="0" algn="l">
              <a:lnSpc>
                <a:spcPct val="145897"/>
              </a:lnSpc>
              <a:spcBef>
                <a:spcPts val="0"/>
              </a:spcBef>
              <a:spcAft>
                <a:spcPts val="0"/>
              </a:spcAft>
              <a:buNone/>
            </a:pPr>
            <a:r>
              <a:rPr b="1" i="1" lang="ru-RU" sz="2218" u="none" cap="none" strike="noStrike">
                <a:solidFill>
                  <a:schemeClr val="dk1"/>
                </a:solidFill>
                <a:latin typeface="Arial"/>
                <a:ea typeface="Arial"/>
                <a:cs typeface="Arial"/>
                <a:sym typeface="Arial"/>
              </a:rPr>
              <a:t>Классификация, кластеризация. </a:t>
            </a:r>
            <a:endParaRPr/>
          </a:p>
          <a:p>
            <a:pPr indent="-165842" lvl="0" marL="165842" marR="0" rtl="0" algn="l">
              <a:lnSpc>
                <a:spcPct val="145897"/>
              </a:lnSpc>
              <a:spcBef>
                <a:spcPts val="0"/>
              </a:spcBef>
              <a:spcAft>
                <a:spcPts val="0"/>
              </a:spcAft>
              <a:buNone/>
            </a:pPr>
            <a:r>
              <a:rPr b="0" i="1" lang="ru-RU" sz="2218" u="none" cap="none" strike="noStrike">
                <a:solidFill>
                  <a:schemeClr val="dk1"/>
                </a:solidFill>
                <a:latin typeface="Arial"/>
                <a:ea typeface="Arial"/>
                <a:cs typeface="Arial"/>
                <a:sym typeface="Arial"/>
              </a:rPr>
              <a:t>Методы решения. </a:t>
            </a:r>
            <a:endParaRPr/>
          </a:p>
          <a:p>
            <a:pPr indent="-165842" lvl="0" marL="165842" marR="0" rtl="0" algn="l">
              <a:lnSpc>
                <a:spcPct val="145897"/>
              </a:lnSpc>
              <a:spcBef>
                <a:spcPts val="0"/>
              </a:spcBef>
              <a:spcAft>
                <a:spcPts val="0"/>
              </a:spcAft>
              <a:buNone/>
            </a:pPr>
            <a:r>
              <a:rPr b="0" i="0" lang="ru-RU" sz="2218" u="none" cap="none" strike="noStrike">
                <a:solidFill>
                  <a:schemeClr val="dk1"/>
                </a:solidFill>
                <a:latin typeface="Arial"/>
                <a:ea typeface="Arial"/>
                <a:cs typeface="Arial"/>
                <a:sym typeface="Arial"/>
              </a:rPr>
              <a:t>Для решения задач </a:t>
            </a:r>
            <a:r>
              <a:rPr b="0" i="1" lang="ru-RU" sz="2218" u="none" cap="none" strike="noStrike">
                <a:solidFill>
                  <a:schemeClr val="dk1"/>
                </a:solidFill>
                <a:latin typeface="Arial"/>
                <a:ea typeface="Arial"/>
                <a:cs typeface="Arial"/>
                <a:sym typeface="Arial"/>
              </a:rPr>
              <a:t>классификации и кластеризации</a:t>
            </a:r>
            <a:r>
              <a:rPr b="0" i="0" lang="ru-RU" sz="2218" u="none" cap="none" strike="noStrike">
                <a:solidFill>
                  <a:schemeClr val="dk1"/>
                </a:solidFill>
                <a:latin typeface="Arial"/>
                <a:ea typeface="Arial"/>
                <a:cs typeface="Arial"/>
                <a:sym typeface="Arial"/>
              </a:rPr>
              <a:t> могут использоваться методы: </a:t>
            </a:r>
            <a:endParaRPr/>
          </a:p>
          <a:p>
            <a:pPr indent="-317007" lvl="0" marL="317007" marR="0" rtl="0" algn="l">
              <a:lnSpc>
                <a:spcPct val="145897"/>
              </a:lnSpc>
              <a:spcBef>
                <a:spcPts val="0"/>
              </a:spcBef>
              <a:spcAft>
                <a:spcPts val="0"/>
              </a:spcAft>
              <a:buClr>
                <a:schemeClr val="dk1"/>
              </a:buClr>
              <a:buSzPts val="2218"/>
              <a:buFont typeface="Arial"/>
              <a:buChar char="•"/>
            </a:pPr>
            <a:r>
              <a:rPr b="0" i="0" lang="ru-RU" sz="2218" u="none" cap="none" strike="noStrike">
                <a:solidFill>
                  <a:schemeClr val="dk1"/>
                </a:solidFill>
                <a:latin typeface="Arial"/>
                <a:ea typeface="Arial"/>
                <a:cs typeface="Arial"/>
                <a:sym typeface="Arial"/>
              </a:rPr>
              <a:t>ближайшего соседа (Nearest Neighbor); </a:t>
            </a:r>
            <a:endParaRPr b="0" i="0" sz="2218" u="none" cap="none" strike="noStrike">
              <a:solidFill>
                <a:schemeClr val="dk1"/>
              </a:solidFill>
              <a:latin typeface="Arial"/>
              <a:ea typeface="Arial"/>
              <a:cs typeface="Arial"/>
              <a:sym typeface="Arial"/>
            </a:endParaRPr>
          </a:p>
          <a:p>
            <a:pPr indent="-317007" lvl="0" marL="317007" marR="0" rtl="0" algn="l">
              <a:lnSpc>
                <a:spcPct val="145897"/>
              </a:lnSpc>
              <a:spcBef>
                <a:spcPts val="0"/>
              </a:spcBef>
              <a:spcAft>
                <a:spcPts val="0"/>
              </a:spcAft>
              <a:buClr>
                <a:schemeClr val="dk1"/>
              </a:buClr>
              <a:buSzPts val="2218"/>
              <a:buFont typeface="Arial"/>
              <a:buChar char="•"/>
            </a:pPr>
            <a:r>
              <a:rPr b="0" i="0" lang="ru-RU" sz="2218" u="none" cap="none" strike="noStrike">
                <a:solidFill>
                  <a:schemeClr val="dk1"/>
                </a:solidFill>
                <a:latin typeface="Arial"/>
                <a:ea typeface="Arial"/>
                <a:cs typeface="Arial"/>
                <a:sym typeface="Arial"/>
              </a:rPr>
              <a:t>k-ближайшего соседа (k-Nearest Neighbor); </a:t>
            </a:r>
            <a:endParaRPr/>
          </a:p>
          <a:p>
            <a:pPr indent="-317007" lvl="0" marL="317007" marR="0" rtl="0" algn="l">
              <a:lnSpc>
                <a:spcPct val="145897"/>
              </a:lnSpc>
              <a:spcBef>
                <a:spcPts val="0"/>
              </a:spcBef>
              <a:spcAft>
                <a:spcPts val="0"/>
              </a:spcAft>
              <a:buClr>
                <a:schemeClr val="dk1"/>
              </a:buClr>
              <a:buSzPts val="2218"/>
              <a:buFont typeface="Arial"/>
              <a:buChar char="•"/>
            </a:pPr>
            <a:r>
              <a:rPr b="0" i="0" lang="ru-RU" sz="2218" u="none" cap="none" strike="noStrike">
                <a:solidFill>
                  <a:schemeClr val="dk1"/>
                </a:solidFill>
                <a:latin typeface="Arial"/>
                <a:ea typeface="Arial"/>
                <a:cs typeface="Arial"/>
                <a:sym typeface="Arial"/>
              </a:rPr>
              <a:t>байесовские сети (Bayesian Networks); </a:t>
            </a:r>
            <a:endParaRPr b="0" i="0" sz="2218" u="none" cap="none" strike="noStrike">
              <a:solidFill>
                <a:schemeClr val="dk1"/>
              </a:solidFill>
              <a:latin typeface="Arial"/>
              <a:ea typeface="Arial"/>
              <a:cs typeface="Arial"/>
              <a:sym typeface="Arial"/>
            </a:endParaRPr>
          </a:p>
          <a:p>
            <a:pPr indent="-317007" lvl="0" marL="317007" marR="0" rtl="0" algn="l">
              <a:lnSpc>
                <a:spcPct val="145897"/>
              </a:lnSpc>
              <a:spcBef>
                <a:spcPts val="0"/>
              </a:spcBef>
              <a:spcAft>
                <a:spcPts val="0"/>
              </a:spcAft>
              <a:buClr>
                <a:schemeClr val="dk1"/>
              </a:buClr>
              <a:buSzPts val="2218"/>
              <a:buFont typeface="Arial"/>
              <a:buChar char="•"/>
            </a:pPr>
            <a:r>
              <a:rPr b="0" i="0" lang="ru-RU" sz="2218" u="none" cap="none" strike="noStrike">
                <a:solidFill>
                  <a:schemeClr val="dk1"/>
                </a:solidFill>
                <a:latin typeface="Arial"/>
                <a:ea typeface="Arial"/>
                <a:cs typeface="Arial"/>
                <a:sym typeface="Arial"/>
              </a:rPr>
              <a:t>индукция деревьев решений; </a:t>
            </a:r>
            <a:endParaRPr/>
          </a:p>
          <a:p>
            <a:pPr indent="-317007" lvl="0" marL="317007" marR="0" rtl="0" algn="l">
              <a:lnSpc>
                <a:spcPct val="145897"/>
              </a:lnSpc>
              <a:spcBef>
                <a:spcPts val="0"/>
              </a:spcBef>
              <a:spcAft>
                <a:spcPts val="0"/>
              </a:spcAft>
              <a:buClr>
                <a:schemeClr val="dk1"/>
              </a:buClr>
              <a:buSzPts val="2218"/>
              <a:buFont typeface="Arial"/>
              <a:buChar char="•"/>
            </a:pPr>
            <a:r>
              <a:rPr b="0" i="0" lang="ru-RU" sz="2218" u="none" cap="none" strike="noStrike">
                <a:solidFill>
                  <a:schemeClr val="dk1"/>
                </a:solidFill>
                <a:latin typeface="Arial"/>
                <a:ea typeface="Arial"/>
                <a:cs typeface="Arial"/>
                <a:sym typeface="Arial"/>
              </a:rPr>
              <a:t>нейронные сети (neural networks). </a:t>
            </a:r>
            <a:endParaRPr b="0" i="0" sz="2034" u="none" cap="none" strike="noStrike">
              <a:solidFill>
                <a:schemeClr val="dk1"/>
              </a:solidFill>
              <a:latin typeface="Arial"/>
              <a:ea typeface="Arial"/>
              <a:cs typeface="Arial"/>
              <a:sym typeface="Arial"/>
            </a:endParaRPr>
          </a:p>
        </p:txBody>
      </p:sp>
      <p:sp>
        <p:nvSpPr>
          <p:cNvPr id="228" name="Google Shape;228;p1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4"/>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235" name="Google Shape;235;p14"/>
          <p:cNvSpPr txBox="1"/>
          <p:nvPr>
            <p:ph type="title"/>
          </p:nvPr>
        </p:nvSpPr>
        <p:spPr>
          <a:xfrm>
            <a:off x="862965" y="532823"/>
            <a:ext cx="8551545" cy="636747"/>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98425"/>
              <a:buFont typeface="Calibri"/>
              <a:buNone/>
            </a:pPr>
            <a:r>
              <a:rPr lang="ru-RU"/>
              <a:t>Задачи Data </a:t>
            </a:r>
            <a:r>
              <a:rPr lang="ru-RU" sz="4800">
                <a:solidFill>
                  <a:srgbClr val="181D33"/>
                </a:solidFill>
              </a:rPr>
              <a:t>Analysis</a:t>
            </a:r>
            <a:endParaRPr/>
          </a:p>
        </p:txBody>
      </p:sp>
      <p:pic>
        <p:nvPicPr>
          <p:cNvPr descr="&amp;Mcy;&amp;iecy;&amp;tcy;&amp;ocy;&amp;dcy;&amp;ycy; &amp;pcy;&amp;rcy;&amp;ocy;&amp;gcy;&amp;ncy;&amp;ocy;&amp;zcy;&amp;icy;&amp;rcy;&amp;ocy;&amp;vcy;&amp;acy;&amp;ncy;&amp;icy;&amp;yacy;" id="236" name="Google Shape;236;p14"/>
          <p:cNvPicPr preferRelativeResize="0"/>
          <p:nvPr/>
        </p:nvPicPr>
        <p:blipFill rotWithShape="1">
          <a:blip r:embed="rId3">
            <a:alphaModFix/>
          </a:blip>
          <a:srcRect b="0" l="0" r="0" t="0"/>
          <a:stretch/>
        </p:blipFill>
        <p:spPr>
          <a:xfrm>
            <a:off x="2131511" y="2944543"/>
            <a:ext cx="6364171" cy="3818832"/>
          </a:xfrm>
          <a:prstGeom prst="rect">
            <a:avLst/>
          </a:prstGeom>
          <a:noFill/>
          <a:ln>
            <a:noFill/>
          </a:ln>
        </p:spPr>
      </p:pic>
      <p:sp>
        <p:nvSpPr>
          <p:cNvPr id="237" name="Google Shape;237;p14"/>
          <p:cNvSpPr/>
          <p:nvPr/>
        </p:nvSpPr>
        <p:spPr>
          <a:xfrm>
            <a:off x="862965" y="1291641"/>
            <a:ext cx="8670316" cy="1532481"/>
          </a:xfrm>
          <a:prstGeom prst="roundRect">
            <a:avLst>
              <a:gd fmla="val 16667" name="adj"/>
            </a:avLst>
          </a:prstGeom>
          <a:gradFill>
            <a:gsLst>
              <a:gs pos="0">
                <a:srgbClr val="94E4FF"/>
              </a:gs>
              <a:gs pos="50000">
                <a:srgbClr val="BCECFF"/>
              </a:gs>
              <a:gs pos="100000">
                <a:srgbClr val="DEF4FF"/>
              </a:gs>
            </a:gsLst>
            <a:lin ang="5400000" scaled="0"/>
          </a:gradFill>
          <a:ln cap="flat" cmpd="sng" w="9525">
            <a:solidFill>
              <a:schemeClr val="lt2"/>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2250" lIns="84525" spcFirstLastPara="1" rIns="84525" wrap="square" tIns="42250">
            <a:noAutofit/>
          </a:bodyPr>
          <a:lstStyle/>
          <a:p>
            <a:pPr indent="-165842" lvl="0" marL="165842" marR="0" rtl="0" algn="l">
              <a:lnSpc>
                <a:spcPct val="129215"/>
              </a:lnSpc>
              <a:spcBef>
                <a:spcPts val="0"/>
              </a:spcBef>
              <a:spcAft>
                <a:spcPts val="0"/>
              </a:spcAft>
              <a:buNone/>
            </a:pPr>
            <a:r>
              <a:rPr b="0" i="1" lang="ru-RU" sz="2218" u="none" cap="none" strike="noStrike">
                <a:solidFill>
                  <a:schemeClr val="dk1"/>
                </a:solidFill>
                <a:latin typeface="Arial"/>
                <a:ea typeface="Arial"/>
                <a:cs typeface="Arial"/>
                <a:sym typeface="Arial"/>
              </a:rPr>
              <a:t>Прогнозирование (Forecasting)</a:t>
            </a:r>
            <a:r>
              <a:rPr b="0" i="0" lang="ru-RU" sz="2218" u="none" cap="none" strike="noStrike">
                <a:solidFill>
                  <a:schemeClr val="dk1"/>
                </a:solidFill>
                <a:latin typeface="Arial"/>
                <a:ea typeface="Arial"/>
                <a:cs typeface="Arial"/>
                <a:sym typeface="Arial"/>
              </a:rPr>
              <a:t> - на основе особенностей исторических данных оцениваются будущие значения показателей. Применяются методы мат. статистики, нейронные сети.</a:t>
            </a:r>
            <a:endParaRPr/>
          </a:p>
        </p:txBody>
      </p:sp>
      <p:sp>
        <p:nvSpPr>
          <p:cNvPr id="238" name="Google Shape;238;p1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5"/>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245" name="Google Shape;245;p15"/>
          <p:cNvSpPr txBox="1"/>
          <p:nvPr>
            <p:ph type="title"/>
          </p:nvPr>
        </p:nvSpPr>
        <p:spPr>
          <a:xfrm>
            <a:off x="862965" y="322263"/>
            <a:ext cx="8551545" cy="636747"/>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98425"/>
              <a:buFont typeface="Calibri"/>
              <a:buNone/>
            </a:pPr>
            <a:r>
              <a:rPr lang="ru-RU"/>
              <a:t>Задачи Data </a:t>
            </a:r>
            <a:r>
              <a:rPr lang="ru-RU" sz="4800">
                <a:solidFill>
                  <a:srgbClr val="181D33"/>
                </a:solidFill>
              </a:rPr>
              <a:t>Analysis</a:t>
            </a:r>
            <a:endParaRPr/>
          </a:p>
        </p:txBody>
      </p:sp>
      <p:sp>
        <p:nvSpPr>
          <p:cNvPr id="246" name="Google Shape;246;p15"/>
          <p:cNvSpPr/>
          <p:nvPr/>
        </p:nvSpPr>
        <p:spPr>
          <a:xfrm>
            <a:off x="530225" y="1314735"/>
            <a:ext cx="9217024" cy="5305125"/>
          </a:xfrm>
          <a:prstGeom prst="roundRect">
            <a:avLst>
              <a:gd fmla="val 19336" name="adj"/>
            </a:avLst>
          </a:prstGeom>
          <a:gradFill>
            <a:gsLst>
              <a:gs pos="0">
                <a:srgbClr val="94E4FF"/>
              </a:gs>
              <a:gs pos="50000">
                <a:srgbClr val="BCECFF"/>
              </a:gs>
              <a:gs pos="100000">
                <a:srgbClr val="DEF4FF"/>
              </a:gs>
            </a:gsLst>
            <a:lin ang="5400000" scaled="0"/>
          </a:gradFill>
          <a:ln cap="flat" cmpd="sng" w="9525">
            <a:solidFill>
              <a:schemeClr val="lt2"/>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2250" lIns="84525" spcFirstLastPara="1" rIns="84525" wrap="square" tIns="42250">
            <a:noAutofit/>
          </a:bodyPr>
          <a:lstStyle/>
          <a:p>
            <a:pPr indent="-165842" lvl="0" marL="165842" marR="0" rtl="0" algn="l">
              <a:lnSpc>
                <a:spcPct val="80000"/>
              </a:lnSpc>
              <a:spcBef>
                <a:spcPts val="0"/>
              </a:spcBef>
              <a:spcAft>
                <a:spcPts val="0"/>
              </a:spcAft>
              <a:buNone/>
            </a:pPr>
            <a:r>
              <a:rPr b="0" i="1" lang="ru-RU" sz="2494" u="none" cap="none" strike="noStrike">
                <a:solidFill>
                  <a:schemeClr val="dk1"/>
                </a:solidFill>
                <a:latin typeface="Arial"/>
                <a:ea typeface="Arial"/>
                <a:cs typeface="Arial"/>
                <a:sym typeface="Arial"/>
              </a:rPr>
              <a:t>Сокращение описания</a:t>
            </a:r>
            <a:r>
              <a:rPr b="0" i="0" lang="ru-RU" sz="2494" u="none" cap="none" strike="noStrike">
                <a:solidFill>
                  <a:schemeClr val="dk1"/>
                </a:solidFill>
                <a:latin typeface="Arial"/>
                <a:ea typeface="Arial"/>
                <a:cs typeface="Arial"/>
                <a:sym typeface="Arial"/>
              </a:rPr>
              <a:t> - для визуализации данных, лаконизма моделей, упрощения счета и интерпретации, сжатия объемов собираемой и хранимой информации.</a:t>
            </a:r>
            <a:endParaRPr b="0" i="0" sz="2494" u="none" cap="none" strike="noStrike">
              <a:solidFill>
                <a:schemeClr val="dk1"/>
              </a:solidFill>
              <a:latin typeface="Arial"/>
              <a:ea typeface="Arial"/>
              <a:cs typeface="Arial"/>
              <a:sym typeface="Arial"/>
            </a:endParaRPr>
          </a:p>
          <a:p>
            <a:pPr indent="-165842" lvl="0" marL="165842" marR="0" rtl="0" algn="l">
              <a:lnSpc>
                <a:spcPct val="80000"/>
              </a:lnSpc>
              <a:spcBef>
                <a:spcPts val="0"/>
              </a:spcBef>
              <a:spcAft>
                <a:spcPts val="0"/>
              </a:spcAft>
              <a:buNone/>
            </a:pPr>
            <a:r>
              <a:t/>
            </a:r>
            <a:endParaRPr b="0" i="0" sz="2494" u="none" cap="none" strike="noStrike">
              <a:solidFill>
                <a:schemeClr val="dk1"/>
              </a:solidFill>
              <a:latin typeface="Arial"/>
              <a:ea typeface="Arial"/>
              <a:cs typeface="Arial"/>
              <a:sym typeface="Arial"/>
            </a:endParaRPr>
          </a:p>
          <a:p>
            <a:pPr indent="-165842" lvl="0" marL="165842" marR="0" rtl="0" algn="l">
              <a:lnSpc>
                <a:spcPct val="80000"/>
              </a:lnSpc>
              <a:spcBef>
                <a:spcPts val="0"/>
              </a:spcBef>
              <a:spcAft>
                <a:spcPts val="0"/>
              </a:spcAft>
              <a:buNone/>
            </a:pPr>
            <a:r>
              <a:rPr b="0" i="1" lang="ru-RU" sz="2494" u="none" cap="none" strike="noStrike">
                <a:solidFill>
                  <a:schemeClr val="dk1"/>
                </a:solidFill>
                <a:latin typeface="Arial"/>
                <a:ea typeface="Arial"/>
                <a:cs typeface="Arial"/>
                <a:sym typeface="Arial"/>
              </a:rPr>
              <a:t>Ассоциация</a:t>
            </a:r>
            <a:r>
              <a:rPr b="0" i="0" lang="ru-RU" sz="2494" u="none" cap="none" strike="noStrike">
                <a:solidFill>
                  <a:schemeClr val="dk1"/>
                </a:solidFill>
                <a:latin typeface="Arial"/>
                <a:ea typeface="Arial"/>
                <a:cs typeface="Arial"/>
                <a:sym typeface="Arial"/>
              </a:rPr>
              <a:t> (Association rule learning. ) - поиск повторяющихся образцов. Например, поиск «устойчивых связей в корзине покупателя» (англ. market basket analysis) — вместе с творогом часто покупают сметану. </a:t>
            </a:r>
            <a:endParaRPr/>
          </a:p>
          <a:p>
            <a:pPr indent="-165842" lvl="0" marL="165842" marR="0" rtl="0" algn="l">
              <a:lnSpc>
                <a:spcPct val="80000"/>
              </a:lnSpc>
              <a:spcBef>
                <a:spcPts val="0"/>
              </a:spcBef>
              <a:spcAft>
                <a:spcPts val="0"/>
              </a:spcAft>
              <a:buNone/>
            </a:pPr>
            <a:r>
              <a:t/>
            </a:r>
            <a:endParaRPr b="0" i="0" sz="2588" u="none" cap="none" strike="noStrike">
              <a:solidFill>
                <a:schemeClr val="dk1"/>
              </a:solidFill>
              <a:latin typeface="Arial"/>
              <a:ea typeface="Arial"/>
              <a:cs typeface="Arial"/>
              <a:sym typeface="Arial"/>
            </a:endParaRPr>
          </a:p>
          <a:p>
            <a:pPr indent="-165841" lvl="1" marL="588517" marR="0" rtl="0" algn="l">
              <a:lnSpc>
                <a:spcPct val="80000"/>
              </a:lnSpc>
              <a:spcBef>
                <a:spcPts val="0"/>
              </a:spcBef>
              <a:spcAft>
                <a:spcPts val="0"/>
              </a:spcAft>
              <a:buNone/>
            </a:pPr>
            <a:r>
              <a:rPr b="0" i="0" lang="ru-RU" sz="2218" u="none" cap="none" strike="noStrike">
                <a:solidFill>
                  <a:schemeClr val="dk1"/>
                </a:solidFill>
                <a:latin typeface="Arial"/>
                <a:ea typeface="Arial"/>
                <a:cs typeface="Arial"/>
                <a:sym typeface="Arial"/>
              </a:rPr>
              <a:t>Другими словами - набор методик для выявления взаимосвязей, т.е. ассоциативных правил, между переменными величинами в больших массивах данных. </a:t>
            </a:r>
            <a:endParaRPr b="0" i="0" sz="2218" u="none" cap="none" strike="noStrike">
              <a:solidFill>
                <a:schemeClr val="dk1"/>
              </a:solidFill>
              <a:latin typeface="Arial"/>
              <a:ea typeface="Arial"/>
              <a:cs typeface="Arial"/>
              <a:sym typeface="Arial"/>
            </a:endParaRPr>
          </a:p>
          <a:p>
            <a:pPr indent="-165842" lvl="0" marL="165842" marR="0" rtl="0" algn="l">
              <a:lnSpc>
                <a:spcPct val="80000"/>
              </a:lnSpc>
              <a:spcBef>
                <a:spcPts val="0"/>
              </a:spcBef>
              <a:spcAft>
                <a:spcPts val="0"/>
              </a:spcAft>
              <a:buNone/>
            </a:pPr>
            <a:r>
              <a:t/>
            </a:r>
            <a:endParaRPr b="0" i="0" sz="2588" u="none" cap="none" strike="noStrike">
              <a:solidFill>
                <a:schemeClr val="dk1"/>
              </a:solidFill>
              <a:latin typeface="Arial"/>
              <a:ea typeface="Arial"/>
              <a:cs typeface="Arial"/>
              <a:sym typeface="Arial"/>
            </a:endParaRPr>
          </a:p>
        </p:txBody>
      </p:sp>
      <p:sp>
        <p:nvSpPr>
          <p:cNvPr id="247" name="Google Shape;247;p1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6"/>
          <p:cNvSpPr/>
          <p:nvPr/>
        </p:nvSpPr>
        <p:spPr>
          <a:xfrm>
            <a:off x="144709" y="322262"/>
            <a:ext cx="10034588" cy="6553249"/>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254" name="Google Shape;254;p16"/>
          <p:cNvSpPr txBox="1"/>
          <p:nvPr>
            <p:ph type="title"/>
          </p:nvPr>
        </p:nvSpPr>
        <p:spPr>
          <a:xfrm>
            <a:off x="815126" y="178768"/>
            <a:ext cx="8551545" cy="636747"/>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98425"/>
              <a:buFont typeface="Calibri"/>
              <a:buNone/>
            </a:pPr>
            <a:r>
              <a:rPr lang="ru-RU"/>
              <a:t>Задачи Data </a:t>
            </a:r>
            <a:r>
              <a:rPr lang="ru-RU" sz="4800">
                <a:solidFill>
                  <a:srgbClr val="181D33"/>
                </a:solidFill>
              </a:rPr>
              <a:t>Analysis</a:t>
            </a:r>
            <a:endParaRPr/>
          </a:p>
        </p:txBody>
      </p:sp>
      <p:sp>
        <p:nvSpPr>
          <p:cNvPr id="255" name="Google Shape;255;p16"/>
          <p:cNvSpPr/>
          <p:nvPr/>
        </p:nvSpPr>
        <p:spPr>
          <a:xfrm>
            <a:off x="341471" y="1042836"/>
            <a:ext cx="9837826" cy="5605353"/>
          </a:xfrm>
          <a:prstGeom prst="roundRect">
            <a:avLst>
              <a:gd fmla="val 19336" name="adj"/>
            </a:avLst>
          </a:prstGeom>
          <a:gradFill>
            <a:gsLst>
              <a:gs pos="0">
                <a:srgbClr val="94E4FF"/>
              </a:gs>
              <a:gs pos="50000">
                <a:srgbClr val="BCECFF"/>
              </a:gs>
              <a:gs pos="100000">
                <a:srgbClr val="DEF4FF"/>
              </a:gs>
            </a:gsLst>
            <a:lin ang="5400000" scaled="0"/>
          </a:gradFill>
          <a:ln cap="flat" cmpd="sng" w="9525">
            <a:solidFill>
              <a:schemeClr val="lt2"/>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2250" lIns="84525" spcFirstLastPara="1" rIns="84525" wrap="square" tIns="42250">
            <a:noAutofit/>
          </a:bodyPr>
          <a:lstStyle/>
          <a:p>
            <a:pPr indent="415338" lvl="0" marL="0" marR="0" rtl="0" algn="l">
              <a:spcBef>
                <a:spcPts val="0"/>
              </a:spcBef>
              <a:spcAft>
                <a:spcPts val="0"/>
              </a:spcAft>
              <a:buNone/>
            </a:pPr>
            <a:r>
              <a:rPr b="1" i="1" lang="ru-RU" sz="2200" u="none" cap="none" strike="noStrike">
                <a:solidFill>
                  <a:schemeClr val="dk1"/>
                </a:solidFill>
                <a:latin typeface="Arial"/>
                <a:ea typeface="Arial"/>
                <a:cs typeface="Arial"/>
                <a:sym typeface="Arial"/>
              </a:rPr>
              <a:t>Последовательность (Sequence), </a:t>
            </a:r>
            <a:r>
              <a:rPr b="0" i="0" lang="ru-RU" sz="2200" u="none" cap="none" strike="noStrike">
                <a:solidFill>
                  <a:schemeClr val="dk1"/>
                </a:solidFill>
                <a:latin typeface="Arial"/>
                <a:ea typeface="Arial"/>
                <a:cs typeface="Arial"/>
                <a:sym typeface="Arial"/>
              </a:rPr>
              <a:t>или последовательная ассоциация (sequential association)</a:t>
            </a:r>
            <a:br>
              <a:rPr b="0" i="0" lang="ru-RU" sz="2200" u="none" cap="none" strike="noStrike">
                <a:solidFill>
                  <a:schemeClr val="dk1"/>
                </a:solidFill>
                <a:latin typeface="Arial"/>
                <a:ea typeface="Arial"/>
                <a:cs typeface="Arial"/>
                <a:sym typeface="Arial"/>
              </a:rPr>
            </a:br>
            <a:r>
              <a:rPr b="0" i="0" lang="ru-RU" sz="2200" u="none" cap="none" strike="noStrike">
                <a:solidFill>
                  <a:schemeClr val="dk1"/>
                </a:solidFill>
                <a:latin typeface="Arial"/>
                <a:ea typeface="Arial"/>
                <a:cs typeface="Arial"/>
                <a:sym typeface="Arial"/>
              </a:rPr>
              <a:t>Краткое описание. </a:t>
            </a:r>
            <a:endParaRPr/>
          </a:p>
          <a:p>
            <a:pPr indent="415338" lvl="0" marL="0" marR="0" rtl="0" algn="l">
              <a:spcBef>
                <a:spcPts val="0"/>
              </a:spcBef>
              <a:spcAft>
                <a:spcPts val="0"/>
              </a:spcAft>
              <a:buNone/>
            </a:pPr>
            <a:r>
              <a:rPr b="0" i="0" lang="ru-RU" sz="2200" u="none" cap="none" strike="noStrike">
                <a:solidFill>
                  <a:schemeClr val="dk1"/>
                </a:solidFill>
                <a:latin typeface="Arial"/>
                <a:ea typeface="Arial"/>
                <a:cs typeface="Arial"/>
                <a:sym typeface="Arial"/>
              </a:rPr>
              <a:t>Последовательность позволяет найти временные закономерности между транзакциями. Задача последовательности подобна ассоциации, но ее целью является установление закономерностей не между одновременно наступающими событиями, а между событиями, связанными во времени (т.е. происходящими с некоторым определенным интервалом во времени). Другими словами, последовательность определяется высокой вероятностью цепочки связанных во времени событий.</a:t>
            </a:r>
            <a:endParaRPr b="0" i="0" sz="2200" u="none" cap="none" strike="noStrike">
              <a:solidFill>
                <a:schemeClr val="dk1"/>
              </a:solidFill>
              <a:latin typeface="Arial"/>
              <a:ea typeface="Arial"/>
              <a:cs typeface="Arial"/>
              <a:sym typeface="Arial"/>
            </a:endParaRPr>
          </a:p>
          <a:p>
            <a:pPr indent="415338" lvl="0" marL="0" marR="0" rtl="0" algn="l">
              <a:spcBef>
                <a:spcPts val="0"/>
              </a:spcBef>
              <a:spcAft>
                <a:spcPts val="0"/>
              </a:spcAft>
              <a:buNone/>
            </a:pPr>
            <a:r>
              <a:rPr b="0" i="0" lang="ru-RU" sz="2200" u="none" cap="none" strike="noStrike">
                <a:solidFill>
                  <a:schemeClr val="dk1"/>
                </a:solidFill>
                <a:latin typeface="Arial"/>
                <a:ea typeface="Arial"/>
                <a:cs typeface="Arial"/>
                <a:sym typeface="Arial"/>
              </a:rPr>
              <a:t>Фактически, ассоциация является частным случаем последователь-ности с временным интервалом, равным нулю. Эту задачу Data Analysis также называют задачей нахождения последовательных шаблонов (sequential pattern).</a:t>
            </a:r>
            <a:br>
              <a:rPr b="0" i="0" lang="ru-RU"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p:txBody>
      </p:sp>
      <p:sp>
        <p:nvSpPr>
          <p:cNvPr id="256" name="Google Shape;256;p1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7"/>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263" name="Google Shape;263;p17"/>
          <p:cNvSpPr txBox="1"/>
          <p:nvPr>
            <p:ph type="title"/>
          </p:nvPr>
        </p:nvSpPr>
        <p:spPr>
          <a:xfrm>
            <a:off x="862964" y="481130"/>
            <a:ext cx="8551545" cy="636747"/>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98425"/>
              <a:buFont typeface="Calibri"/>
              <a:buNone/>
            </a:pPr>
            <a:r>
              <a:rPr lang="ru-RU"/>
              <a:t>Задачи Data </a:t>
            </a:r>
            <a:r>
              <a:rPr lang="ru-RU" sz="4800">
                <a:solidFill>
                  <a:srgbClr val="181D33"/>
                </a:solidFill>
              </a:rPr>
              <a:t>Analysis</a:t>
            </a:r>
            <a:endParaRPr/>
          </a:p>
        </p:txBody>
      </p:sp>
      <p:sp>
        <p:nvSpPr>
          <p:cNvPr id="264" name="Google Shape;264;p17"/>
          <p:cNvSpPr/>
          <p:nvPr/>
        </p:nvSpPr>
        <p:spPr>
          <a:xfrm>
            <a:off x="422213" y="1402904"/>
            <a:ext cx="9433048" cy="4991759"/>
          </a:xfrm>
          <a:prstGeom prst="roundRect">
            <a:avLst>
              <a:gd fmla="val 19336" name="adj"/>
            </a:avLst>
          </a:prstGeom>
          <a:gradFill>
            <a:gsLst>
              <a:gs pos="0">
                <a:srgbClr val="94E4FF"/>
              </a:gs>
              <a:gs pos="50000">
                <a:srgbClr val="BCECFF"/>
              </a:gs>
              <a:gs pos="100000">
                <a:srgbClr val="DEF4FF"/>
              </a:gs>
            </a:gsLst>
            <a:lin ang="5400000" scaled="0"/>
          </a:gradFill>
          <a:ln cap="flat" cmpd="sng" w="9525">
            <a:solidFill>
              <a:schemeClr val="lt2"/>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2250" lIns="84525" spcFirstLastPara="1" rIns="84525" wrap="square" tIns="42250">
            <a:noAutofit/>
          </a:bodyPr>
          <a:lstStyle/>
          <a:p>
            <a:pPr indent="415338" lvl="0" marL="0" marR="0" rtl="0" algn="l">
              <a:spcBef>
                <a:spcPts val="0"/>
              </a:spcBef>
              <a:spcAft>
                <a:spcPts val="0"/>
              </a:spcAft>
              <a:buNone/>
            </a:pPr>
            <a:r>
              <a:rPr b="1" i="1" lang="ru-RU" sz="2286" u="none" cap="none" strike="noStrike">
                <a:solidFill>
                  <a:schemeClr val="dk1"/>
                </a:solidFill>
                <a:latin typeface="Arial"/>
                <a:ea typeface="Arial"/>
                <a:cs typeface="Arial"/>
                <a:sym typeface="Arial"/>
              </a:rPr>
              <a:t>Правило последовательности: </a:t>
            </a:r>
            <a:r>
              <a:rPr b="0" i="0" lang="ru-RU" sz="2286" u="none" cap="none" strike="noStrike">
                <a:solidFill>
                  <a:schemeClr val="dk1"/>
                </a:solidFill>
                <a:latin typeface="Arial"/>
                <a:ea typeface="Arial"/>
                <a:cs typeface="Arial"/>
                <a:sym typeface="Arial"/>
              </a:rPr>
              <a:t>после события X через определенное время произойдет событие Y.</a:t>
            </a:r>
            <a:endParaRPr/>
          </a:p>
          <a:p>
            <a:pPr indent="415338" lvl="0" marL="0" marR="0" rtl="0" algn="l">
              <a:spcBef>
                <a:spcPts val="0"/>
              </a:spcBef>
              <a:spcAft>
                <a:spcPts val="0"/>
              </a:spcAft>
              <a:buNone/>
            </a:pPr>
            <a:br>
              <a:rPr b="0" i="0" lang="ru-RU" sz="2286" u="none" cap="none" strike="noStrike">
                <a:solidFill>
                  <a:schemeClr val="dk1"/>
                </a:solidFill>
                <a:latin typeface="Arial"/>
                <a:ea typeface="Arial"/>
                <a:cs typeface="Arial"/>
                <a:sym typeface="Arial"/>
              </a:rPr>
            </a:br>
            <a:r>
              <a:rPr b="0" i="0" lang="ru-RU" sz="2286" u="none" cap="none" strike="noStrike">
                <a:solidFill>
                  <a:schemeClr val="dk1"/>
                </a:solidFill>
                <a:latin typeface="Arial"/>
                <a:ea typeface="Arial"/>
                <a:cs typeface="Arial"/>
                <a:sym typeface="Arial"/>
              </a:rPr>
              <a:t>Пример. После покупки квартиры жильцы в 60% случаев в течение двух недель приобретают холодильник, а в течение двух месяцев в 50% случаев приобретается телевизор. </a:t>
            </a:r>
            <a:endParaRPr/>
          </a:p>
          <a:p>
            <a:pPr indent="415338" lvl="0" marL="0" marR="0" rtl="0" algn="l">
              <a:spcBef>
                <a:spcPts val="0"/>
              </a:spcBef>
              <a:spcAft>
                <a:spcPts val="0"/>
              </a:spcAft>
              <a:buNone/>
            </a:pPr>
            <a:r>
              <a:rPr b="0" i="0" lang="ru-RU" sz="2286" u="none" cap="none" strike="noStrike">
                <a:solidFill>
                  <a:schemeClr val="dk1"/>
                </a:solidFill>
                <a:latin typeface="Arial"/>
                <a:ea typeface="Arial"/>
                <a:cs typeface="Arial"/>
                <a:sym typeface="Arial"/>
              </a:rPr>
              <a:t>Решение данной задачи широко применяется в маркетинге и менеджменте, например, при управлении циклом работы с клиентом (Customer Lifecycle Management). </a:t>
            </a:r>
            <a:br>
              <a:rPr b="0" i="0" lang="ru-RU" sz="2286" u="none" cap="none" strike="noStrike">
                <a:solidFill>
                  <a:schemeClr val="dk1"/>
                </a:solidFill>
                <a:latin typeface="Arial"/>
                <a:ea typeface="Arial"/>
                <a:cs typeface="Arial"/>
                <a:sym typeface="Arial"/>
              </a:rPr>
            </a:br>
            <a:endParaRPr b="0" i="0" sz="2286" u="none" cap="none" strike="noStrike">
              <a:solidFill>
                <a:schemeClr val="dk1"/>
              </a:solidFill>
              <a:latin typeface="Arial"/>
              <a:ea typeface="Arial"/>
              <a:cs typeface="Arial"/>
              <a:sym typeface="Arial"/>
            </a:endParaRPr>
          </a:p>
        </p:txBody>
      </p:sp>
      <p:sp>
        <p:nvSpPr>
          <p:cNvPr id="265" name="Google Shape;265;p1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8"/>
          <p:cNvSpPr/>
          <p:nvPr/>
        </p:nvSpPr>
        <p:spPr>
          <a:xfrm>
            <a:off x="242193" y="250776"/>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272" name="Google Shape;272;p18"/>
          <p:cNvSpPr/>
          <p:nvPr/>
        </p:nvSpPr>
        <p:spPr>
          <a:xfrm>
            <a:off x="422213" y="1130270"/>
            <a:ext cx="9433048" cy="5474744"/>
          </a:xfrm>
          <a:prstGeom prst="roundRect">
            <a:avLst>
              <a:gd fmla="val 19336" name="adj"/>
            </a:avLst>
          </a:prstGeom>
          <a:gradFill>
            <a:gsLst>
              <a:gs pos="0">
                <a:srgbClr val="94E4FF"/>
              </a:gs>
              <a:gs pos="50000">
                <a:srgbClr val="BCECFF"/>
              </a:gs>
              <a:gs pos="100000">
                <a:srgbClr val="DEF4FF"/>
              </a:gs>
            </a:gsLst>
            <a:lin ang="5400000" scaled="0"/>
          </a:gradFill>
          <a:ln cap="flat" cmpd="sng" w="9525">
            <a:solidFill>
              <a:schemeClr val="lt2"/>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2250" lIns="84525" spcFirstLastPara="1" rIns="84525" wrap="square" tIns="42250">
            <a:noAutofit/>
          </a:bodyPr>
          <a:lstStyle/>
          <a:p>
            <a:pPr indent="-165842" lvl="0" marL="165842" marR="0" rtl="0" algn="l">
              <a:lnSpc>
                <a:spcPct val="80000"/>
              </a:lnSpc>
              <a:spcBef>
                <a:spcPts val="0"/>
              </a:spcBef>
              <a:spcAft>
                <a:spcPts val="0"/>
              </a:spcAft>
              <a:buNone/>
            </a:pPr>
            <a:r>
              <a:rPr b="1" i="1" lang="ru-RU" sz="2400" u="none" cap="none" strike="noStrike">
                <a:solidFill>
                  <a:schemeClr val="dk1"/>
                </a:solidFill>
                <a:latin typeface="Arial"/>
                <a:ea typeface="Arial"/>
                <a:cs typeface="Arial"/>
                <a:sym typeface="Arial"/>
              </a:rPr>
              <a:t>Определение (анализ) отклонений (Deviation Detection),</a:t>
            </a:r>
            <a:r>
              <a:rPr b="0" i="0" lang="ru-RU" sz="2400" u="none" cap="none" strike="noStrike">
                <a:solidFill>
                  <a:schemeClr val="dk1"/>
                </a:solidFill>
                <a:latin typeface="Arial"/>
                <a:ea typeface="Arial"/>
                <a:cs typeface="Arial"/>
                <a:sym typeface="Arial"/>
              </a:rPr>
              <a:t> анализ отклонений или выбросов - выявление и анализ данных, наиболее отличающихся от общей тенденции в данных, выявление нехарактерных шаблонов. Например, выявление нетипичной сетевой активности позволяет обнаружить вредоносные программы.</a:t>
            </a:r>
            <a:endParaRPr b="0" i="0" sz="2400" u="none" cap="none" strike="noStrike">
              <a:solidFill>
                <a:schemeClr val="dk1"/>
              </a:solidFill>
              <a:latin typeface="Arial"/>
              <a:ea typeface="Arial"/>
              <a:cs typeface="Arial"/>
              <a:sym typeface="Arial"/>
            </a:endParaRPr>
          </a:p>
          <a:p>
            <a:pPr indent="-165842" lvl="0" marL="165842" marR="0" rtl="0" algn="l">
              <a:lnSpc>
                <a:spcPct val="80000"/>
              </a:lnSpc>
              <a:spcBef>
                <a:spcPts val="0"/>
              </a:spcBef>
              <a:spcAft>
                <a:spcPts val="0"/>
              </a:spcAft>
              <a:buNone/>
            </a:pPr>
            <a:r>
              <a:t/>
            </a:r>
            <a:endParaRPr b="0" i="0" sz="24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rPr b="0" i="0" lang="ru-RU" sz="2000" u="none" cap="none" strike="noStrike">
                <a:solidFill>
                  <a:schemeClr val="dk1"/>
                </a:solidFill>
                <a:latin typeface="Arial"/>
                <a:ea typeface="Arial"/>
                <a:cs typeface="Arial"/>
                <a:sym typeface="Arial"/>
              </a:rPr>
              <a:t>В известном смысле задача, обратная вышеперечисленным – требуется отыскать «незакономерность», т.е. отклонение от ранее наблюдавшегося поведения.</a:t>
            </a:r>
            <a:endParaRPr b="0" i="0" sz="20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rPr b="0" i="0" lang="ru-RU" sz="2000" u="sng" cap="none" strike="noStrike">
                <a:solidFill>
                  <a:schemeClr val="dk1"/>
                </a:solidFill>
                <a:latin typeface="Arial"/>
                <a:ea typeface="Arial"/>
                <a:cs typeface="Arial"/>
                <a:sym typeface="Arial"/>
              </a:rPr>
              <a:t>Бизнес-задачи</a:t>
            </a:r>
            <a:r>
              <a:rPr b="0" i="0" lang="ru-RU" sz="2000" u="none" cap="none" strike="noStrike">
                <a:solidFill>
                  <a:schemeClr val="dk1"/>
                </a:solidFill>
                <a:latin typeface="Arial"/>
                <a:ea typeface="Arial"/>
                <a:cs typeface="Arial"/>
                <a:sym typeface="Arial"/>
              </a:rPr>
              <a:t>: выявление мошенничеств с кредитными карточками, определение вторжения в сеть.</a:t>
            </a:r>
            <a:endParaRPr b="0" i="0" sz="2000" u="none" cap="none" strike="noStrike">
              <a:solidFill>
                <a:schemeClr val="dk1"/>
              </a:solidFill>
              <a:latin typeface="Arial"/>
              <a:ea typeface="Arial"/>
              <a:cs typeface="Arial"/>
              <a:sym typeface="Arial"/>
            </a:endParaRPr>
          </a:p>
          <a:p>
            <a:pPr indent="0" lvl="1" marL="457200" marR="0" rtl="0" algn="l">
              <a:spcBef>
                <a:spcPts val="0"/>
              </a:spcBef>
              <a:spcAft>
                <a:spcPts val="0"/>
              </a:spcAft>
              <a:buNone/>
            </a:pPr>
            <a:r>
              <a:rPr b="0" i="0" lang="ru-RU" sz="2000" u="sng" cap="none" strike="noStrike">
                <a:solidFill>
                  <a:schemeClr val="dk1"/>
                </a:solidFill>
                <a:latin typeface="Arial"/>
                <a:ea typeface="Arial"/>
                <a:cs typeface="Arial"/>
                <a:sym typeface="Arial"/>
              </a:rPr>
              <a:t>Алгоритмы: </a:t>
            </a:r>
            <a:r>
              <a:rPr b="0" i="0" lang="ru-RU" sz="2000" u="none" cap="none" strike="noStrike">
                <a:solidFill>
                  <a:schemeClr val="dk1"/>
                </a:solidFill>
                <a:latin typeface="Arial"/>
                <a:ea typeface="Arial"/>
                <a:cs typeface="Arial"/>
                <a:sym typeface="Arial"/>
              </a:rPr>
              <a:t>в настоящее время не существует устоявшихся методик анализа отклонений, остается областью активных исследований. Основная проблема: как отличить такие случаи от помех и не отфильтровать вместе с водой ребенка.</a:t>
            </a:r>
            <a:endParaRPr/>
          </a:p>
        </p:txBody>
      </p:sp>
      <p:sp>
        <p:nvSpPr>
          <p:cNvPr id="273" name="Google Shape;273;p18"/>
          <p:cNvSpPr txBox="1"/>
          <p:nvPr>
            <p:ph type="title"/>
          </p:nvPr>
        </p:nvSpPr>
        <p:spPr>
          <a:xfrm>
            <a:off x="862270" y="372149"/>
            <a:ext cx="8551545" cy="636747"/>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98425"/>
              <a:buFont typeface="Calibri"/>
              <a:buNone/>
            </a:pPr>
            <a:r>
              <a:rPr lang="ru-RU"/>
              <a:t>Задачи Data </a:t>
            </a:r>
            <a:r>
              <a:rPr lang="ru-RU" sz="4800">
                <a:solidFill>
                  <a:srgbClr val="181D33"/>
                </a:solidFill>
              </a:rPr>
              <a:t>Analysis</a:t>
            </a:r>
            <a:endParaRPr/>
          </a:p>
        </p:txBody>
      </p:sp>
      <p:sp>
        <p:nvSpPr>
          <p:cNvPr id="274" name="Google Shape;274;p1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9"/>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281" name="Google Shape;281;p19"/>
          <p:cNvSpPr txBox="1"/>
          <p:nvPr>
            <p:ph type="title"/>
          </p:nvPr>
        </p:nvSpPr>
        <p:spPr>
          <a:xfrm>
            <a:off x="862965" y="532823"/>
            <a:ext cx="8551545" cy="636747"/>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98425"/>
              <a:buFont typeface="Calibri"/>
              <a:buNone/>
            </a:pPr>
            <a:r>
              <a:rPr lang="ru-RU"/>
              <a:t>Задачи Data </a:t>
            </a:r>
            <a:r>
              <a:rPr lang="ru-RU" sz="4800">
                <a:solidFill>
                  <a:srgbClr val="181D33"/>
                </a:solidFill>
              </a:rPr>
              <a:t>Analysis</a:t>
            </a:r>
            <a:endParaRPr/>
          </a:p>
        </p:txBody>
      </p:sp>
      <p:sp>
        <p:nvSpPr>
          <p:cNvPr id="282" name="Google Shape;282;p19"/>
          <p:cNvSpPr/>
          <p:nvPr/>
        </p:nvSpPr>
        <p:spPr>
          <a:xfrm>
            <a:off x="674241" y="1546920"/>
            <a:ext cx="9001000" cy="4896543"/>
          </a:xfrm>
          <a:prstGeom prst="roundRect">
            <a:avLst>
              <a:gd fmla="val 16667" name="adj"/>
            </a:avLst>
          </a:prstGeom>
          <a:gradFill>
            <a:gsLst>
              <a:gs pos="0">
                <a:srgbClr val="94E4FF"/>
              </a:gs>
              <a:gs pos="50000">
                <a:srgbClr val="BCECFF"/>
              </a:gs>
              <a:gs pos="100000">
                <a:srgbClr val="DEF4FF"/>
              </a:gs>
            </a:gsLst>
            <a:lin ang="5400000" scaled="0"/>
          </a:gradFill>
          <a:ln cap="flat" cmpd="sng" w="9525">
            <a:solidFill>
              <a:schemeClr val="lt2"/>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2250" lIns="84525" spcFirstLastPara="1" rIns="84525" wrap="square" tIns="42250">
            <a:noAutofit/>
          </a:bodyPr>
          <a:lstStyle/>
          <a:p>
            <a:pPr indent="-176164" lvl="0" marL="317007" marR="0" rtl="0" algn="l">
              <a:lnSpc>
                <a:spcPct val="80000"/>
              </a:lnSpc>
              <a:spcBef>
                <a:spcPts val="0"/>
              </a:spcBef>
              <a:spcAft>
                <a:spcPts val="0"/>
              </a:spcAft>
              <a:buClr>
                <a:schemeClr val="dk1"/>
              </a:buClr>
              <a:buSzPts val="2218"/>
              <a:buFont typeface="Arial"/>
              <a:buNone/>
            </a:pPr>
            <a:r>
              <a:t/>
            </a:r>
            <a:endParaRPr b="0" i="1" sz="2218" u="none" cap="none" strike="noStrike">
              <a:solidFill>
                <a:schemeClr val="dk1"/>
              </a:solidFill>
              <a:latin typeface="Arial"/>
              <a:ea typeface="Arial"/>
              <a:cs typeface="Arial"/>
              <a:sym typeface="Arial"/>
            </a:endParaRPr>
          </a:p>
          <a:p>
            <a:pPr indent="-317007" lvl="0" marL="317007" marR="0" rtl="0" algn="l">
              <a:lnSpc>
                <a:spcPct val="80000"/>
              </a:lnSpc>
              <a:spcBef>
                <a:spcPts val="647"/>
              </a:spcBef>
              <a:spcAft>
                <a:spcPts val="0"/>
              </a:spcAft>
              <a:buClr>
                <a:schemeClr val="dk1"/>
              </a:buClr>
              <a:buSzPts val="2200"/>
              <a:buFont typeface="Arial"/>
              <a:buChar char="•"/>
            </a:pPr>
            <a:r>
              <a:rPr b="0" i="1" lang="ru-RU" sz="2200" u="none" cap="none" strike="noStrike">
                <a:solidFill>
                  <a:schemeClr val="dk1"/>
                </a:solidFill>
                <a:latin typeface="Arial"/>
                <a:ea typeface="Arial"/>
                <a:cs typeface="Arial"/>
                <a:sym typeface="Arial"/>
              </a:rPr>
              <a:t>Оценка (Estimation)</a:t>
            </a:r>
            <a:r>
              <a:rPr b="0" i="0" lang="ru-RU" sz="2200" u="none" cap="none" strike="noStrike">
                <a:solidFill>
                  <a:schemeClr val="dk1"/>
                </a:solidFill>
                <a:latin typeface="Arial"/>
                <a:ea typeface="Arial"/>
                <a:cs typeface="Arial"/>
                <a:sym typeface="Arial"/>
              </a:rPr>
              <a:t> - сводится к прогнозу непрерывных значений признаков.</a:t>
            </a:r>
            <a:endParaRPr/>
          </a:p>
          <a:p>
            <a:pPr indent="-317007" lvl="0" marL="317007" marR="0" rtl="0" algn="l">
              <a:lnSpc>
                <a:spcPct val="80000"/>
              </a:lnSpc>
              <a:spcBef>
                <a:spcPts val="647"/>
              </a:spcBef>
              <a:spcAft>
                <a:spcPts val="0"/>
              </a:spcAft>
              <a:buClr>
                <a:schemeClr val="dk1"/>
              </a:buClr>
              <a:buSzPts val="2200"/>
              <a:buFont typeface="Arial"/>
              <a:buChar char="•"/>
            </a:pPr>
            <a:r>
              <a:rPr b="0" i="1" lang="ru-RU" sz="2200" u="none" cap="none" strike="noStrike">
                <a:solidFill>
                  <a:schemeClr val="dk1"/>
                </a:solidFill>
                <a:latin typeface="Arial"/>
                <a:ea typeface="Arial"/>
                <a:cs typeface="Arial"/>
                <a:sym typeface="Arial"/>
              </a:rPr>
              <a:t>Анализ связей (Link Analysis)</a:t>
            </a:r>
            <a:r>
              <a:rPr b="0" i="0" lang="ru-RU" sz="2200" u="none" cap="none" strike="noStrike">
                <a:solidFill>
                  <a:schemeClr val="dk1"/>
                </a:solidFill>
                <a:latin typeface="Arial"/>
                <a:ea typeface="Arial"/>
                <a:cs typeface="Arial"/>
                <a:sym typeface="Arial"/>
              </a:rPr>
              <a:t> - задача нахождения зависимостей в наборе данных.</a:t>
            </a:r>
            <a:endParaRPr/>
          </a:p>
          <a:p>
            <a:pPr indent="-317007" lvl="0" marL="317007" marR="0" rtl="0" algn="l">
              <a:lnSpc>
                <a:spcPct val="80000"/>
              </a:lnSpc>
              <a:spcBef>
                <a:spcPts val="647"/>
              </a:spcBef>
              <a:spcAft>
                <a:spcPts val="0"/>
              </a:spcAft>
              <a:buClr>
                <a:schemeClr val="dk1"/>
              </a:buClr>
              <a:buSzPts val="2200"/>
              <a:buFont typeface="Arial"/>
              <a:buChar char="•"/>
            </a:pPr>
            <a:r>
              <a:rPr b="0" i="1" lang="ru-RU" sz="2200" u="none" cap="none" strike="noStrike">
                <a:solidFill>
                  <a:schemeClr val="dk1"/>
                </a:solidFill>
                <a:latin typeface="Arial"/>
                <a:ea typeface="Arial"/>
                <a:cs typeface="Arial"/>
                <a:sym typeface="Arial"/>
              </a:rPr>
              <a:t>Визуализация (Visualization, Graph Mining)</a:t>
            </a:r>
            <a:r>
              <a:rPr b="0" i="0" lang="ru-RU" sz="2200" u="none" cap="none" strike="noStrike">
                <a:solidFill>
                  <a:schemeClr val="dk1"/>
                </a:solidFill>
                <a:latin typeface="Arial"/>
                <a:ea typeface="Arial"/>
                <a:cs typeface="Arial"/>
                <a:sym typeface="Arial"/>
              </a:rPr>
              <a:t>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endParaRPr/>
          </a:p>
          <a:p>
            <a:pPr indent="-317007" lvl="0" marL="317007" marR="0" rtl="0" algn="l">
              <a:lnSpc>
                <a:spcPct val="80000"/>
              </a:lnSpc>
              <a:spcBef>
                <a:spcPts val="647"/>
              </a:spcBef>
              <a:spcAft>
                <a:spcPts val="0"/>
              </a:spcAft>
              <a:buClr>
                <a:schemeClr val="dk1"/>
              </a:buClr>
              <a:buSzPts val="2200"/>
              <a:buFont typeface="Arial"/>
              <a:buChar char="•"/>
            </a:pPr>
            <a:r>
              <a:rPr b="0" i="1" lang="ru-RU" sz="2200" u="none" cap="none" strike="noStrike">
                <a:solidFill>
                  <a:schemeClr val="dk1"/>
                </a:solidFill>
                <a:latin typeface="Arial"/>
                <a:ea typeface="Arial"/>
                <a:cs typeface="Arial"/>
                <a:sym typeface="Arial"/>
              </a:rPr>
              <a:t>Подведение итогов (Summarization)</a:t>
            </a:r>
            <a:r>
              <a:rPr b="0" i="0" lang="ru-RU" sz="2200" u="none" cap="none" strike="noStrike">
                <a:solidFill>
                  <a:schemeClr val="dk1"/>
                </a:solidFill>
                <a:latin typeface="Arial"/>
                <a:ea typeface="Arial"/>
                <a:cs typeface="Arial"/>
                <a:sym typeface="Arial"/>
              </a:rPr>
              <a:t> - описание конкретных групп объектов с помощью рассматриваемого набора данных.</a:t>
            </a:r>
            <a:endParaRPr/>
          </a:p>
        </p:txBody>
      </p:sp>
      <p:sp>
        <p:nvSpPr>
          <p:cNvPr id="283" name="Google Shape;283;p19"/>
          <p:cNvSpPr txBox="1"/>
          <p:nvPr>
            <p:ph idx="12" type="sldNum"/>
          </p:nvPr>
        </p:nvSpPr>
        <p:spPr>
          <a:xfrm>
            <a:off x="9099176" y="6593466"/>
            <a:ext cx="664425" cy="390958"/>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0"/>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290" name="Google Shape;290;p20"/>
          <p:cNvSpPr txBox="1"/>
          <p:nvPr>
            <p:ph type="title"/>
          </p:nvPr>
        </p:nvSpPr>
        <p:spPr>
          <a:xfrm>
            <a:off x="1355741" y="578483"/>
            <a:ext cx="7500008" cy="1040446"/>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rgbClr val="181D33"/>
              </a:buClr>
              <a:buSzPct val="100000"/>
              <a:buFont typeface="Calibri"/>
              <a:buNone/>
            </a:pPr>
            <a:r>
              <a:rPr lang="ru-RU" sz="3325">
                <a:solidFill>
                  <a:srgbClr val="181D33"/>
                </a:solidFill>
              </a:rPr>
              <a:t>Методы Data Analysis </a:t>
            </a:r>
            <a:br>
              <a:rPr lang="ru-RU" sz="3325">
                <a:solidFill>
                  <a:srgbClr val="181D33"/>
                </a:solidFill>
              </a:rPr>
            </a:br>
            <a:r>
              <a:rPr lang="ru-RU" sz="3325">
                <a:solidFill>
                  <a:srgbClr val="181D33"/>
                </a:solidFill>
              </a:rPr>
              <a:t>Классификация задач Data Analysis</a:t>
            </a:r>
            <a:endParaRPr sz="3325">
              <a:solidFill>
                <a:srgbClr val="181D33"/>
              </a:solidFill>
            </a:endParaRPr>
          </a:p>
        </p:txBody>
      </p:sp>
      <p:sp>
        <p:nvSpPr>
          <p:cNvPr id="291" name="Google Shape;291;p20"/>
          <p:cNvSpPr txBox="1"/>
          <p:nvPr>
            <p:ph idx="1" type="body"/>
          </p:nvPr>
        </p:nvSpPr>
        <p:spPr>
          <a:xfrm>
            <a:off x="1488004" y="2627040"/>
            <a:ext cx="7683182" cy="2411720"/>
          </a:xfrm>
          <a:prstGeom prst="rect">
            <a:avLst/>
          </a:prstGeom>
          <a:noFill/>
          <a:ln>
            <a:noFill/>
          </a:ln>
        </p:spPr>
        <p:txBody>
          <a:bodyPr anchorCtr="0" anchor="t" bIns="45950" lIns="91925" spcFirstLastPara="1" rIns="91925" wrap="square" tIns="45950">
            <a:noAutofit/>
          </a:bodyPr>
          <a:lstStyle/>
          <a:p>
            <a:pPr indent="0" lvl="0" marL="0" rtl="0" algn="l">
              <a:lnSpc>
                <a:spcPct val="127125"/>
              </a:lnSpc>
              <a:spcBef>
                <a:spcPts val="0"/>
              </a:spcBef>
              <a:spcAft>
                <a:spcPts val="0"/>
              </a:spcAft>
              <a:buClr>
                <a:srgbClr val="060000"/>
              </a:buClr>
              <a:buSzPts val="2400"/>
              <a:buNone/>
            </a:pPr>
            <a:r>
              <a:rPr lang="ru-RU" sz="2400">
                <a:solidFill>
                  <a:srgbClr val="060000"/>
                </a:solidFill>
              </a:rPr>
              <a:t>Часто задачи Data Analysis подразделяют на следующие:</a:t>
            </a:r>
            <a:endParaRPr/>
          </a:p>
          <a:p>
            <a:pPr indent="0" lvl="0" marL="0" rtl="0" algn="l">
              <a:lnSpc>
                <a:spcPct val="127125"/>
              </a:lnSpc>
              <a:spcBef>
                <a:spcPts val="0"/>
              </a:spcBef>
              <a:spcAft>
                <a:spcPts val="0"/>
              </a:spcAft>
              <a:buClr>
                <a:schemeClr val="dk1"/>
              </a:buClr>
              <a:buSzPts val="2400"/>
              <a:buNone/>
            </a:pPr>
            <a:r>
              <a:t/>
            </a:r>
            <a:endParaRPr sz="2400">
              <a:solidFill>
                <a:srgbClr val="060000"/>
              </a:solidFill>
            </a:endParaRPr>
          </a:p>
          <a:p>
            <a:pPr indent="-319942" lvl="0" marL="1152085" rtl="0" algn="l">
              <a:lnSpc>
                <a:spcPct val="127125"/>
              </a:lnSpc>
              <a:spcBef>
                <a:spcPts val="0"/>
              </a:spcBef>
              <a:spcAft>
                <a:spcPts val="0"/>
              </a:spcAft>
              <a:buClr>
                <a:srgbClr val="060000"/>
              </a:buClr>
              <a:buSzPts val="2400"/>
              <a:buChar char="•"/>
            </a:pPr>
            <a:r>
              <a:rPr lang="ru-RU" sz="2400">
                <a:solidFill>
                  <a:srgbClr val="060000"/>
                </a:solidFill>
              </a:rPr>
              <a:t>исследования и открытия, </a:t>
            </a:r>
            <a:endParaRPr/>
          </a:p>
          <a:p>
            <a:pPr indent="-319942" lvl="0" marL="1152085" rtl="0" algn="l">
              <a:lnSpc>
                <a:spcPct val="127125"/>
              </a:lnSpc>
              <a:spcBef>
                <a:spcPts val="0"/>
              </a:spcBef>
              <a:spcAft>
                <a:spcPts val="0"/>
              </a:spcAft>
              <a:buClr>
                <a:srgbClr val="060000"/>
              </a:buClr>
              <a:buSzPts val="2400"/>
              <a:buChar char="•"/>
            </a:pPr>
            <a:r>
              <a:rPr lang="ru-RU" sz="2400">
                <a:solidFill>
                  <a:srgbClr val="060000"/>
                </a:solidFill>
              </a:rPr>
              <a:t>прогнозирования и классификации,</a:t>
            </a:r>
            <a:endParaRPr/>
          </a:p>
          <a:p>
            <a:pPr indent="-319942" lvl="0" marL="1152085" rtl="0" algn="l">
              <a:lnSpc>
                <a:spcPct val="127125"/>
              </a:lnSpc>
              <a:spcBef>
                <a:spcPts val="0"/>
              </a:spcBef>
              <a:spcAft>
                <a:spcPts val="0"/>
              </a:spcAft>
              <a:buClr>
                <a:srgbClr val="060000"/>
              </a:buClr>
              <a:buSzPts val="2400"/>
              <a:buChar char="•"/>
            </a:pPr>
            <a:r>
              <a:rPr lang="ru-RU" sz="2400">
                <a:solidFill>
                  <a:srgbClr val="060000"/>
                </a:solidFill>
              </a:rPr>
              <a:t>объяснения и описания. </a:t>
            </a:r>
            <a:br>
              <a:rPr lang="ru-RU" sz="2400">
                <a:solidFill>
                  <a:srgbClr val="060000"/>
                </a:solidFill>
              </a:rPr>
            </a:br>
            <a:endParaRPr sz="2400">
              <a:solidFill>
                <a:srgbClr val="060000"/>
              </a:solidFill>
            </a:endParaRPr>
          </a:p>
        </p:txBody>
      </p:sp>
      <p:sp>
        <p:nvSpPr>
          <p:cNvPr id="292" name="Google Shape;292;p2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1"/>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299" name="Google Shape;299;p21"/>
          <p:cNvSpPr txBox="1"/>
          <p:nvPr>
            <p:ph idx="1" type="body"/>
          </p:nvPr>
        </p:nvSpPr>
        <p:spPr>
          <a:xfrm>
            <a:off x="1008129" y="2208820"/>
            <a:ext cx="8195231" cy="3658821"/>
          </a:xfrm>
          <a:prstGeom prst="rect">
            <a:avLst/>
          </a:prstGeom>
          <a:noFill/>
          <a:ln>
            <a:noFill/>
          </a:ln>
        </p:spPr>
        <p:txBody>
          <a:bodyPr anchorCtr="0" anchor="t" bIns="45700" lIns="91425" spcFirstLastPara="1" rIns="91425" wrap="square" tIns="45700">
            <a:normAutofit lnSpcReduction="10000"/>
          </a:bodyPr>
          <a:lstStyle/>
          <a:p>
            <a:pPr indent="-356307" lvl="0" marL="356307" rtl="0" algn="l">
              <a:spcBef>
                <a:spcPts val="0"/>
              </a:spcBef>
              <a:spcAft>
                <a:spcPts val="0"/>
              </a:spcAft>
              <a:buClr>
                <a:schemeClr val="dk1"/>
              </a:buClr>
              <a:buSzPts val="2494"/>
              <a:buChar char="•"/>
            </a:pPr>
            <a:r>
              <a:rPr lang="ru-RU" sz="2494"/>
              <a:t>Метод (method) представляет собой норму или правило, определенный путь, способ, прием решений задачи теоретического, практического, познавательного, управленческого характера.</a:t>
            </a:r>
            <a:endParaRPr/>
          </a:p>
          <a:p>
            <a:pPr indent="0" lvl="0" marL="0" rtl="0" algn="l">
              <a:spcBef>
                <a:spcPts val="499"/>
              </a:spcBef>
              <a:spcAft>
                <a:spcPts val="0"/>
              </a:spcAft>
              <a:buClr>
                <a:schemeClr val="dk1"/>
              </a:buClr>
              <a:buSzPts val="2494"/>
              <a:buNone/>
            </a:pPr>
            <a:r>
              <a:t/>
            </a:r>
            <a:endParaRPr sz="2494"/>
          </a:p>
          <a:p>
            <a:pPr indent="-356307" lvl="0" marL="356307" rtl="0" algn="l">
              <a:spcBef>
                <a:spcPts val="665"/>
              </a:spcBef>
              <a:spcAft>
                <a:spcPts val="0"/>
              </a:spcAft>
              <a:buClr>
                <a:schemeClr val="dk1"/>
              </a:buClr>
              <a:buSzPts val="2494"/>
              <a:buChar char="•"/>
            </a:pPr>
            <a:r>
              <a:rPr lang="ru-RU" sz="2494"/>
              <a:t>Алгоритм (algorithm) - точное предписание относительно последовательности действий (шагов), преобразующих исходные данные в искомый результат. </a:t>
            </a:r>
            <a:br>
              <a:rPr lang="ru-RU" sz="3325"/>
            </a:br>
            <a:endParaRPr sz="3325"/>
          </a:p>
        </p:txBody>
      </p:sp>
      <p:sp>
        <p:nvSpPr>
          <p:cNvPr id="300" name="Google Shape;300;p2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
        <p:nvSpPr>
          <p:cNvPr id="301" name="Google Shape;301;p21"/>
          <p:cNvSpPr txBox="1"/>
          <p:nvPr>
            <p:ph type="title"/>
          </p:nvPr>
        </p:nvSpPr>
        <p:spPr>
          <a:xfrm>
            <a:off x="1355741" y="578483"/>
            <a:ext cx="7500008" cy="1040446"/>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rgbClr val="181D33"/>
              </a:buClr>
              <a:buSzPct val="100000"/>
              <a:buFont typeface="Calibri"/>
              <a:buNone/>
            </a:pPr>
            <a:r>
              <a:rPr lang="ru-RU" sz="3325">
                <a:solidFill>
                  <a:srgbClr val="181D33"/>
                </a:solidFill>
              </a:rPr>
              <a:t>Методы Data Analysis </a:t>
            </a:r>
            <a:br>
              <a:rPr lang="ru-RU" sz="3325">
                <a:solidFill>
                  <a:srgbClr val="181D33"/>
                </a:solidFill>
              </a:rPr>
            </a:br>
            <a:r>
              <a:rPr lang="ru-RU" sz="3325">
                <a:solidFill>
                  <a:srgbClr val="181D33"/>
                </a:solidFill>
              </a:rPr>
              <a:t>Классификация задач Data Analysis</a:t>
            </a:r>
            <a:endParaRPr sz="3325">
              <a:solidFill>
                <a:srgbClr val="181D33"/>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2"/>
          <p:cNvSpPr/>
          <p:nvPr/>
        </p:nvSpPr>
        <p:spPr>
          <a:xfrm>
            <a:off x="673100" y="3140075"/>
            <a:ext cx="9329738" cy="1287463"/>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308" name="Google Shape;308;p22"/>
          <p:cNvSpPr/>
          <p:nvPr/>
        </p:nvSpPr>
        <p:spPr>
          <a:xfrm>
            <a:off x="1030288" y="3362325"/>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i="0" lang="ru-RU" sz="3000" u="none" cap="none" strike="noStrike">
                <a:solidFill>
                  <a:schemeClr val="lt1"/>
                </a:solidFill>
                <a:latin typeface="Arial"/>
                <a:ea typeface="Arial"/>
                <a:cs typeface="Arial"/>
                <a:sym typeface="Arial"/>
              </a:rPr>
              <a:t>3</a:t>
            </a:r>
            <a:endParaRPr b="1" i="0" sz="3000" u="none" cap="none" strike="noStrike">
              <a:solidFill>
                <a:schemeClr val="lt1"/>
              </a:solidFill>
              <a:latin typeface="Arial"/>
              <a:ea typeface="Arial"/>
              <a:cs typeface="Arial"/>
              <a:sym typeface="Arial"/>
            </a:endParaRPr>
          </a:p>
        </p:txBody>
      </p:sp>
      <p:sp>
        <p:nvSpPr>
          <p:cNvPr id="309" name="Google Shape;309;p22"/>
          <p:cNvSpPr/>
          <p:nvPr/>
        </p:nvSpPr>
        <p:spPr>
          <a:xfrm>
            <a:off x="949325" y="3140075"/>
            <a:ext cx="8509892" cy="1284288"/>
          </a:xfrm>
          <a:prstGeom prst="roundRect">
            <a:avLst>
              <a:gd fmla="val 16667" name="adj"/>
            </a:avLst>
          </a:prstGeom>
          <a:no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rPr b="0" i="0" lang="ru-RU" sz="3500" u="none" cap="none" strike="noStrike">
                <a:solidFill>
                  <a:schemeClr val="lt1"/>
                </a:solidFill>
                <a:latin typeface="Arial"/>
                <a:ea typeface="Arial"/>
                <a:cs typeface="Arial"/>
                <a:sym typeface="Arial"/>
              </a:rPr>
              <a:t>Классификация методов DA</a:t>
            </a:r>
            <a:endParaRPr b="0" i="0" sz="3500" u="none" cap="none" strike="noStrike">
              <a:solidFill>
                <a:schemeClr val="lt1"/>
              </a:solidFill>
              <a:latin typeface="Arial"/>
              <a:ea typeface="Arial"/>
              <a:cs typeface="Arial"/>
              <a:sym typeface="Arial"/>
            </a:endParaRPr>
          </a:p>
        </p:txBody>
      </p:sp>
      <p:sp>
        <p:nvSpPr>
          <p:cNvPr id="310" name="Google Shape;310;p2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09"/>
                                        </p:tgtEl>
                                        <p:attrNameLst>
                                          <p:attrName>style.visibility</p:attrName>
                                        </p:attrNameLst>
                                      </p:cBhvr>
                                      <p:to>
                                        <p:strVal val="visible"/>
                                      </p:to>
                                    </p:set>
                                    <p:anim calcmode="lin" valueType="num">
                                      <p:cBhvr additive="base">
                                        <p:cTn dur="500"/>
                                        <p:tgtEl>
                                          <p:spTgt spid="30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3"/>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317" name="Google Shape;317;p23"/>
          <p:cNvSpPr txBox="1"/>
          <p:nvPr>
            <p:ph type="title"/>
          </p:nvPr>
        </p:nvSpPr>
        <p:spPr>
          <a:xfrm>
            <a:off x="862965" y="532823"/>
            <a:ext cx="8551545" cy="577361"/>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100000"/>
              <a:buFont typeface="Calibri"/>
              <a:buNone/>
            </a:pPr>
            <a:r>
              <a:rPr lang="ru-RU" sz="3698"/>
              <a:t>Классификация методов Data Analysis</a:t>
            </a:r>
            <a:endParaRPr sz="3698"/>
          </a:p>
        </p:txBody>
      </p:sp>
      <p:sp>
        <p:nvSpPr>
          <p:cNvPr id="318" name="Google Shape;318;p23"/>
          <p:cNvSpPr/>
          <p:nvPr/>
        </p:nvSpPr>
        <p:spPr>
          <a:xfrm>
            <a:off x="3391266" y="2225294"/>
            <a:ext cx="504909" cy="443188"/>
          </a:xfrm>
          <a:prstGeom prst="downArrow">
            <a:avLst>
              <a:gd fmla="val 50000" name="adj1"/>
              <a:gd fmla="val 25000" name="adj2"/>
            </a:avLst>
          </a:prstGeom>
          <a:solidFill>
            <a:schemeClr val="lt1"/>
          </a:solidFill>
          <a:ln cap="flat" cmpd="sng" w="9525">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3"/>
          <p:cNvSpPr txBox="1"/>
          <p:nvPr/>
        </p:nvSpPr>
        <p:spPr>
          <a:xfrm rot="5400000">
            <a:off x="3449810" y="2292943"/>
            <a:ext cx="387790" cy="25245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i="0" sz="2078" u="none" cap="none" strike="noStrike">
              <a:solidFill>
                <a:schemeClr val="dk1"/>
              </a:solidFill>
              <a:latin typeface="Quattrocento Sans"/>
              <a:ea typeface="Quattrocento Sans"/>
              <a:cs typeface="Quattrocento Sans"/>
              <a:sym typeface="Quattrocento Sans"/>
            </a:endParaRPr>
          </a:p>
        </p:txBody>
      </p:sp>
      <p:sp>
        <p:nvSpPr>
          <p:cNvPr id="320" name="Google Shape;320;p23"/>
          <p:cNvSpPr/>
          <p:nvPr/>
        </p:nvSpPr>
        <p:spPr>
          <a:xfrm>
            <a:off x="4989657" y="2592172"/>
            <a:ext cx="504909" cy="598745"/>
          </a:xfrm>
          <a:prstGeom prst="downArrow">
            <a:avLst>
              <a:gd fmla="val 50000" name="adj1"/>
              <a:gd fmla="val 29651" name="adj2"/>
            </a:avLst>
          </a:prstGeom>
          <a:solidFill>
            <a:schemeClr val="lt1"/>
          </a:solidFill>
          <a:ln cap="flat" cmpd="sng" w="9525">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3"/>
          <p:cNvSpPr txBox="1"/>
          <p:nvPr/>
        </p:nvSpPr>
        <p:spPr>
          <a:xfrm rot="5400000">
            <a:off x="4980160" y="2727868"/>
            <a:ext cx="523890" cy="25245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i="0" sz="2078" u="none" cap="none" strike="noStrike">
              <a:solidFill>
                <a:schemeClr val="dk1"/>
              </a:solidFill>
              <a:latin typeface="Quattrocento Sans"/>
              <a:ea typeface="Quattrocento Sans"/>
              <a:cs typeface="Quattrocento Sans"/>
              <a:sym typeface="Quattrocento Sans"/>
            </a:endParaRPr>
          </a:p>
        </p:txBody>
      </p:sp>
      <p:sp>
        <p:nvSpPr>
          <p:cNvPr id="322" name="Google Shape;322;p23"/>
          <p:cNvSpPr/>
          <p:nvPr/>
        </p:nvSpPr>
        <p:spPr>
          <a:xfrm>
            <a:off x="3190183" y="1426968"/>
            <a:ext cx="3995243" cy="931870"/>
          </a:xfrm>
          <a:prstGeom prst="ellipse">
            <a:avLst/>
          </a:prstGeom>
          <a:solidFill>
            <a:schemeClr val="lt1"/>
          </a:solidFill>
          <a:ln cap="flat" cmpd="sng" w="9525">
            <a:solidFill>
              <a:srgbClr val="FF5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ru-RU" sz="2078" u="none" cap="none" strike="noStrike">
                <a:solidFill>
                  <a:srgbClr val="FF5050"/>
                </a:solidFill>
                <a:latin typeface="Arial"/>
                <a:ea typeface="Arial"/>
                <a:cs typeface="Arial"/>
                <a:sym typeface="Arial"/>
              </a:rPr>
              <a:t>Виды методов Data Analysis</a:t>
            </a:r>
            <a:endParaRPr b="1" i="0" sz="2078" u="none" cap="none" strike="noStrike">
              <a:solidFill>
                <a:srgbClr val="FF5050"/>
              </a:solidFill>
              <a:latin typeface="Arial"/>
              <a:ea typeface="Arial"/>
              <a:cs typeface="Arial"/>
              <a:sym typeface="Arial"/>
            </a:endParaRPr>
          </a:p>
        </p:txBody>
      </p:sp>
      <p:sp>
        <p:nvSpPr>
          <p:cNvPr id="323" name="Google Shape;323;p23"/>
          <p:cNvSpPr/>
          <p:nvPr/>
        </p:nvSpPr>
        <p:spPr>
          <a:xfrm>
            <a:off x="6482369" y="2225294"/>
            <a:ext cx="504909" cy="443188"/>
          </a:xfrm>
          <a:prstGeom prst="downArrow">
            <a:avLst>
              <a:gd fmla="val 50000" name="adj1"/>
              <a:gd fmla="val 25000" name="adj2"/>
            </a:avLst>
          </a:prstGeom>
          <a:solidFill>
            <a:schemeClr val="lt1"/>
          </a:solidFill>
          <a:ln cap="flat" cmpd="sng" w="9525">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3"/>
          <p:cNvSpPr txBox="1"/>
          <p:nvPr/>
        </p:nvSpPr>
        <p:spPr>
          <a:xfrm rot="5400000">
            <a:off x="6540910" y="2292943"/>
            <a:ext cx="387790" cy="25245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i="0" sz="2078" u="none" cap="none" strike="noStrike">
              <a:solidFill>
                <a:schemeClr val="dk1"/>
              </a:solidFill>
              <a:latin typeface="Quattrocento Sans"/>
              <a:ea typeface="Quattrocento Sans"/>
              <a:cs typeface="Quattrocento Sans"/>
              <a:sym typeface="Quattrocento Sans"/>
            </a:endParaRPr>
          </a:p>
        </p:txBody>
      </p:sp>
      <p:sp>
        <p:nvSpPr>
          <p:cNvPr id="325" name="Google Shape;325;p23"/>
          <p:cNvSpPr txBox="1"/>
          <p:nvPr/>
        </p:nvSpPr>
        <p:spPr>
          <a:xfrm>
            <a:off x="1660777" y="2690495"/>
            <a:ext cx="2596468" cy="42851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ru-RU" sz="2078" u="none" cap="none" strike="noStrike">
                <a:solidFill>
                  <a:srgbClr val="FF5050"/>
                </a:solidFill>
                <a:latin typeface="Arial"/>
                <a:ea typeface="Arial"/>
                <a:cs typeface="Arial"/>
                <a:sym typeface="Arial"/>
              </a:rPr>
              <a:t>Технологические</a:t>
            </a:r>
            <a:endParaRPr/>
          </a:p>
        </p:txBody>
      </p:sp>
      <p:sp>
        <p:nvSpPr>
          <p:cNvPr id="326" name="Google Shape;326;p23"/>
          <p:cNvSpPr txBox="1"/>
          <p:nvPr/>
        </p:nvSpPr>
        <p:spPr>
          <a:xfrm>
            <a:off x="3858014" y="3290708"/>
            <a:ext cx="2596500" cy="4284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ru-RU" sz="2078" u="none" cap="none" strike="noStrike">
                <a:solidFill>
                  <a:srgbClr val="FF5050"/>
                </a:solidFill>
                <a:latin typeface="Arial"/>
                <a:ea typeface="Arial"/>
                <a:cs typeface="Arial"/>
                <a:sym typeface="Arial"/>
              </a:rPr>
              <a:t>Статистические</a:t>
            </a:r>
            <a:endParaRPr/>
          </a:p>
        </p:txBody>
      </p:sp>
      <p:sp>
        <p:nvSpPr>
          <p:cNvPr id="327" name="Google Shape;327;p23"/>
          <p:cNvSpPr txBox="1"/>
          <p:nvPr/>
        </p:nvSpPr>
        <p:spPr>
          <a:xfrm>
            <a:off x="6320915" y="2658210"/>
            <a:ext cx="2596468" cy="428513"/>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ru-RU" sz="2078" u="none" cap="none" strike="noStrike">
                <a:solidFill>
                  <a:srgbClr val="FF5050"/>
                </a:solidFill>
                <a:latin typeface="Arial"/>
                <a:ea typeface="Arial"/>
                <a:cs typeface="Arial"/>
                <a:sym typeface="Arial"/>
              </a:rPr>
              <a:t>Кибернетические</a:t>
            </a:r>
            <a:endParaRPr/>
          </a:p>
        </p:txBody>
      </p:sp>
      <p:pic>
        <p:nvPicPr>
          <p:cNvPr descr="DMTechniquesS" id="328" name="Google Shape;328;p23"/>
          <p:cNvPicPr preferRelativeResize="0"/>
          <p:nvPr/>
        </p:nvPicPr>
        <p:blipFill rotWithShape="1">
          <a:blip r:embed="rId3">
            <a:alphaModFix/>
          </a:blip>
          <a:srcRect b="0" l="0" r="0" t="0"/>
          <a:stretch/>
        </p:blipFill>
        <p:spPr>
          <a:xfrm>
            <a:off x="551191" y="4036005"/>
            <a:ext cx="9175095" cy="2637717"/>
          </a:xfrm>
          <a:prstGeom prst="rect">
            <a:avLst/>
          </a:prstGeom>
          <a:noFill/>
          <a:ln>
            <a:noFill/>
          </a:ln>
        </p:spPr>
      </p:pic>
      <p:sp>
        <p:nvSpPr>
          <p:cNvPr id="329" name="Google Shape;329;p23"/>
          <p:cNvSpPr txBox="1"/>
          <p:nvPr/>
        </p:nvSpPr>
        <p:spPr>
          <a:xfrm>
            <a:off x="877812" y="1699092"/>
            <a:ext cx="466837" cy="4282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ru-RU" sz="2078" u="none" cap="none" strike="noStrike">
                <a:solidFill>
                  <a:schemeClr val="dk1"/>
                </a:solidFill>
                <a:latin typeface="Arial"/>
                <a:ea typeface="Arial"/>
                <a:cs typeface="Arial"/>
                <a:sym typeface="Arial"/>
              </a:rPr>
              <a:t>1)</a:t>
            </a:r>
            <a:endParaRPr/>
          </a:p>
        </p:txBody>
      </p:sp>
      <p:sp>
        <p:nvSpPr>
          <p:cNvPr id="330" name="Google Shape;330;p23"/>
          <p:cNvSpPr txBox="1"/>
          <p:nvPr/>
        </p:nvSpPr>
        <p:spPr>
          <a:xfrm>
            <a:off x="877812" y="3635152"/>
            <a:ext cx="466837" cy="4282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ru-RU" sz="2078" u="none" cap="none" strike="noStrike">
                <a:solidFill>
                  <a:schemeClr val="dk1"/>
                </a:solidFill>
                <a:latin typeface="Arial"/>
                <a:ea typeface="Arial"/>
                <a:cs typeface="Arial"/>
                <a:sym typeface="Arial"/>
              </a:rPr>
              <a:t>2)</a:t>
            </a:r>
            <a:endParaRPr/>
          </a:p>
        </p:txBody>
      </p:sp>
      <p:sp>
        <p:nvSpPr>
          <p:cNvPr id="331" name="Google Shape;331;p2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4"/>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338" name="Google Shape;338;p24"/>
          <p:cNvSpPr txBox="1"/>
          <p:nvPr>
            <p:ph type="title"/>
          </p:nvPr>
        </p:nvSpPr>
        <p:spPr>
          <a:xfrm>
            <a:off x="1544251" y="567464"/>
            <a:ext cx="7124637" cy="1011208"/>
          </a:xfrm>
          <a:prstGeom prst="rect">
            <a:avLst/>
          </a:prstGeom>
          <a:solidFill>
            <a:srgbClr val="FFFFFF">
              <a:alpha val="0"/>
            </a:srgbClr>
          </a:solid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100000"/>
              <a:buFont typeface="Calibri"/>
              <a:buNone/>
            </a:pPr>
            <a:r>
              <a:rPr lang="ru-RU" sz="2958"/>
              <a:t>Методы Data Analysis</a:t>
            </a:r>
            <a:br>
              <a:rPr lang="ru-RU" sz="4068"/>
            </a:br>
            <a:r>
              <a:rPr lang="ru-RU" sz="4068"/>
              <a:t>Технологические методы</a:t>
            </a:r>
            <a:endParaRPr/>
          </a:p>
        </p:txBody>
      </p:sp>
      <p:sp>
        <p:nvSpPr>
          <p:cNvPr id="339" name="Google Shape;339;p24"/>
          <p:cNvSpPr txBox="1"/>
          <p:nvPr>
            <p:ph idx="1" type="body"/>
          </p:nvPr>
        </p:nvSpPr>
        <p:spPr>
          <a:xfrm>
            <a:off x="671609" y="1870651"/>
            <a:ext cx="8869919" cy="4442383"/>
          </a:xfrm>
          <a:prstGeom prst="rect">
            <a:avLst/>
          </a:prstGeom>
          <a:noFill/>
          <a:ln>
            <a:noFill/>
          </a:ln>
        </p:spPr>
        <p:txBody>
          <a:bodyPr anchorCtr="0" anchor="t" bIns="45950" lIns="91925" spcFirstLastPara="1" rIns="91925" wrap="square" tIns="45950">
            <a:normAutofit/>
          </a:bodyPr>
          <a:lstStyle/>
          <a:p>
            <a:pPr indent="-356307" lvl="0" marL="356307" rtl="0" algn="l">
              <a:lnSpc>
                <a:spcPct val="90000"/>
              </a:lnSpc>
              <a:spcBef>
                <a:spcPts val="0"/>
              </a:spcBef>
              <a:spcAft>
                <a:spcPts val="0"/>
              </a:spcAft>
              <a:buClr>
                <a:schemeClr val="dk1"/>
              </a:buClr>
              <a:buSzPts val="2588"/>
              <a:buChar char="•"/>
            </a:pPr>
            <a:r>
              <a:rPr lang="ru-RU" sz="2588"/>
              <a:t>Непосредственное использование данных, или сохранение данных:</a:t>
            </a:r>
            <a:endParaRPr/>
          </a:p>
          <a:p>
            <a:pPr indent="-296923" lvl="1" marL="771999" rtl="0" algn="l">
              <a:lnSpc>
                <a:spcPct val="90000"/>
              </a:lnSpc>
              <a:spcBef>
                <a:spcPts val="444"/>
              </a:spcBef>
              <a:spcAft>
                <a:spcPts val="0"/>
              </a:spcAft>
              <a:buClr>
                <a:schemeClr val="dk1"/>
              </a:buClr>
              <a:buSzPts val="2218"/>
              <a:buChar char="–"/>
            </a:pPr>
            <a:r>
              <a:rPr lang="ru-RU" sz="2218"/>
              <a:t>кластерный анализ, метод k-ближайшего соседа, рассуждение по аналогии.</a:t>
            </a:r>
            <a:endParaRPr/>
          </a:p>
          <a:p>
            <a:pPr indent="-356307" lvl="0" marL="356307" rtl="0" algn="l">
              <a:lnSpc>
                <a:spcPct val="90000"/>
              </a:lnSpc>
              <a:spcBef>
                <a:spcPts val="518"/>
              </a:spcBef>
              <a:spcAft>
                <a:spcPts val="0"/>
              </a:spcAft>
              <a:buClr>
                <a:schemeClr val="dk1"/>
              </a:buClr>
              <a:buSzPts val="2588"/>
              <a:buChar char="•"/>
            </a:pPr>
            <a:r>
              <a:rPr lang="ru-RU" sz="2588"/>
              <a:t>Выявление и использование формализованных закономерностей (</a:t>
            </a:r>
            <a:r>
              <a:rPr i="1" lang="ru-RU" sz="2588"/>
              <a:t>дистилляция шаблонов</a:t>
            </a:r>
            <a:r>
              <a:rPr lang="ru-RU" sz="2588"/>
              <a:t>):</a:t>
            </a:r>
            <a:endParaRPr/>
          </a:p>
          <a:p>
            <a:pPr indent="-296923" lvl="1" marL="771999" rtl="0" algn="l">
              <a:lnSpc>
                <a:spcPct val="90000"/>
              </a:lnSpc>
              <a:spcBef>
                <a:spcPts val="444"/>
              </a:spcBef>
              <a:spcAft>
                <a:spcPts val="0"/>
              </a:spcAft>
              <a:buClr>
                <a:schemeClr val="dk1"/>
              </a:buClr>
              <a:buSzPts val="2218"/>
              <a:buChar char="–"/>
            </a:pPr>
            <a:r>
              <a:rPr lang="ru-RU" sz="2218"/>
              <a:t>методы визуализации; методы кросс-табуляции; методы, основанные на уравнениях.</a:t>
            </a:r>
            <a:endParaRPr/>
          </a:p>
          <a:p>
            <a:pPr indent="-296923" lvl="1" marL="771999" rtl="0" algn="l">
              <a:lnSpc>
                <a:spcPct val="90000"/>
              </a:lnSpc>
              <a:spcBef>
                <a:spcPts val="444"/>
              </a:spcBef>
              <a:spcAft>
                <a:spcPts val="0"/>
              </a:spcAft>
              <a:buClr>
                <a:schemeClr val="dk1"/>
              </a:buClr>
              <a:buSzPts val="2218"/>
              <a:buChar char="–"/>
            </a:pPr>
            <a:r>
              <a:rPr lang="ru-RU" sz="2218"/>
              <a:t>логические методы, или методы логической индукции, включают нечеткие запросы и анализы, символьные правила, деревья решений, генетические алгоритмы.</a:t>
            </a:r>
            <a:endParaRPr/>
          </a:p>
          <a:p>
            <a:pPr indent="-356307" lvl="0" marL="356307" rtl="0" algn="l">
              <a:lnSpc>
                <a:spcPct val="90000"/>
              </a:lnSpc>
              <a:spcBef>
                <a:spcPts val="462"/>
              </a:spcBef>
              <a:spcAft>
                <a:spcPts val="0"/>
              </a:spcAft>
              <a:buClr>
                <a:srgbClr val="FF0000"/>
              </a:buClr>
              <a:buSzPts val="2311"/>
              <a:buFont typeface="Calibri"/>
              <a:buNone/>
            </a:pPr>
            <a:r>
              <a:rPr i="1" lang="ru-RU" sz="2311">
                <a:solidFill>
                  <a:srgbClr val="FF0000"/>
                </a:solidFill>
              </a:rPr>
              <a:t>Методы этой группы хорошо подходят для интерпретации.</a:t>
            </a:r>
            <a:r>
              <a:rPr lang="ru-RU" sz="2311">
                <a:solidFill>
                  <a:srgbClr val="FF0000"/>
                </a:solidFill>
              </a:rPr>
              <a:t> </a:t>
            </a:r>
            <a:endParaRPr/>
          </a:p>
        </p:txBody>
      </p:sp>
      <p:sp>
        <p:nvSpPr>
          <p:cNvPr id="340" name="Google Shape;340;p2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5"/>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347" name="Google Shape;347;p25"/>
          <p:cNvSpPr txBox="1"/>
          <p:nvPr>
            <p:ph type="title"/>
          </p:nvPr>
        </p:nvSpPr>
        <p:spPr>
          <a:xfrm>
            <a:off x="1410634" y="635098"/>
            <a:ext cx="7122988" cy="1156372"/>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100000"/>
              <a:buFont typeface="Calibri"/>
              <a:buNone/>
            </a:pPr>
            <a:r>
              <a:rPr lang="ru-RU" sz="2958"/>
              <a:t>Методы Data Analysis</a:t>
            </a:r>
            <a:r>
              <a:rPr lang="ru-RU" sz="4068"/>
              <a:t> </a:t>
            </a:r>
            <a:br>
              <a:rPr lang="ru-RU" sz="4068"/>
            </a:br>
            <a:r>
              <a:rPr lang="ru-RU" sz="4068"/>
              <a:t>Статистические методы</a:t>
            </a:r>
            <a:endParaRPr/>
          </a:p>
        </p:txBody>
      </p:sp>
      <p:sp>
        <p:nvSpPr>
          <p:cNvPr id="348" name="Google Shape;348;p25"/>
          <p:cNvSpPr txBox="1"/>
          <p:nvPr>
            <p:ph idx="1" type="body"/>
          </p:nvPr>
        </p:nvSpPr>
        <p:spPr>
          <a:xfrm>
            <a:off x="744193" y="2542041"/>
            <a:ext cx="8551545" cy="3366840"/>
          </a:xfrm>
          <a:prstGeom prst="rect">
            <a:avLst/>
          </a:prstGeom>
          <a:noFill/>
          <a:ln>
            <a:noFill/>
          </a:ln>
        </p:spPr>
        <p:txBody>
          <a:bodyPr anchorCtr="0" anchor="t" bIns="45950" lIns="91925" spcFirstLastPara="1" rIns="91925" wrap="square" tIns="45950">
            <a:normAutofit/>
          </a:bodyPr>
          <a:lstStyle/>
          <a:p>
            <a:pPr indent="-563567" lvl="0" marL="563567" rtl="0" algn="l">
              <a:lnSpc>
                <a:spcPct val="90000"/>
              </a:lnSpc>
              <a:spcBef>
                <a:spcPts val="0"/>
              </a:spcBef>
              <a:spcAft>
                <a:spcPts val="0"/>
              </a:spcAft>
              <a:buClr>
                <a:schemeClr val="dk1"/>
              </a:buClr>
              <a:buSzPts val="2403"/>
              <a:buChar char="•"/>
            </a:pPr>
            <a:r>
              <a:rPr lang="ru-RU" sz="2403"/>
              <a:t>Дескриптивный анализ и описание исходных данных.</a:t>
            </a:r>
            <a:endParaRPr/>
          </a:p>
          <a:p>
            <a:pPr indent="-563567" lvl="0" marL="563567" rtl="0" algn="l">
              <a:lnSpc>
                <a:spcPct val="90000"/>
              </a:lnSpc>
              <a:spcBef>
                <a:spcPts val="481"/>
              </a:spcBef>
              <a:spcAft>
                <a:spcPts val="0"/>
              </a:spcAft>
              <a:buClr>
                <a:schemeClr val="dk1"/>
              </a:buClr>
              <a:buSzPts val="2403"/>
              <a:buChar char="•"/>
            </a:pPr>
            <a:r>
              <a:rPr lang="ru-RU" sz="2403"/>
              <a:t>Анализ связей (корреляционный и регрессионный анализ, факторный анализ, дисперсионный анализ).</a:t>
            </a:r>
            <a:endParaRPr/>
          </a:p>
          <a:p>
            <a:pPr indent="-563567" lvl="0" marL="563567" rtl="0" algn="l">
              <a:lnSpc>
                <a:spcPct val="90000"/>
              </a:lnSpc>
              <a:spcBef>
                <a:spcPts val="481"/>
              </a:spcBef>
              <a:spcAft>
                <a:spcPts val="0"/>
              </a:spcAft>
              <a:buClr>
                <a:schemeClr val="dk1"/>
              </a:buClr>
              <a:buSzPts val="2403"/>
              <a:buChar char="•"/>
            </a:pPr>
            <a:r>
              <a:rPr lang="ru-RU" sz="2403"/>
              <a:t>Многомерный статистический анализ (компонентный анализ, дискриминантный анализ, многомерный регрессионный анализ, канонические корреляции и др.).</a:t>
            </a:r>
            <a:endParaRPr/>
          </a:p>
          <a:p>
            <a:pPr indent="-563567" lvl="0" marL="563567" rtl="0" algn="l">
              <a:lnSpc>
                <a:spcPct val="90000"/>
              </a:lnSpc>
              <a:spcBef>
                <a:spcPts val="481"/>
              </a:spcBef>
              <a:spcAft>
                <a:spcPts val="0"/>
              </a:spcAft>
              <a:buClr>
                <a:schemeClr val="dk1"/>
              </a:buClr>
              <a:buSzPts val="2403"/>
              <a:buChar char="•"/>
            </a:pPr>
            <a:r>
              <a:rPr lang="ru-RU" sz="2403"/>
              <a:t>Анализ временных рядов (динамические модели и прогнозирование). </a:t>
            </a:r>
            <a:endParaRPr/>
          </a:p>
        </p:txBody>
      </p:sp>
      <p:sp>
        <p:nvSpPr>
          <p:cNvPr id="349" name="Google Shape;349;p2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350" name="Google Shape;350;p25"/>
          <p:cNvSpPr/>
          <p:nvPr/>
        </p:nvSpPr>
        <p:spPr>
          <a:xfrm>
            <a:off x="1034280" y="5640196"/>
            <a:ext cx="8729321" cy="3693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0000"/>
              </a:buClr>
              <a:buSzPts val="2000"/>
              <a:buFont typeface="Arial"/>
              <a:buNone/>
            </a:pPr>
            <a:r>
              <a:rPr b="0" i="1" lang="ru-RU" sz="2000" u="none" cap="none" strike="noStrike">
                <a:solidFill>
                  <a:srgbClr val="FF0000"/>
                </a:solidFill>
                <a:latin typeface="Arial"/>
                <a:ea typeface="Arial"/>
                <a:cs typeface="Arial"/>
                <a:sym typeface="Arial"/>
              </a:rPr>
              <a:t>Методы этой группы тоже хорошо подходят для интерпретации.</a:t>
            </a:r>
            <a:r>
              <a:rPr b="0" i="0" lang="ru-RU" sz="2000" u="none" cap="none" strike="noStrike">
                <a:solidFill>
                  <a:srgbClr val="FF0000"/>
                </a:solidFill>
                <a:latin typeface="Arial"/>
                <a:ea typeface="Arial"/>
                <a:cs typeface="Arial"/>
                <a:sym typeface="Arial"/>
              </a:rPr>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6"/>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357" name="Google Shape;357;p26"/>
          <p:cNvSpPr txBox="1"/>
          <p:nvPr>
            <p:ph type="title"/>
          </p:nvPr>
        </p:nvSpPr>
        <p:spPr>
          <a:xfrm>
            <a:off x="862965" y="532823"/>
            <a:ext cx="8551545" cy="1158022"/>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100000"/>
              <a:buFont typeface="Calibri"/>
              <a:buNone/>
            </a:pPr>
            <a:r>
              <a:rPr lang="ru-RU" sz="2958"/>
              <a:t>Методы Data Analysis</a:t>
            </a:r>
            <a:r>
              <a:rPr lang="ru-RU" sz="4068"/>
              <a:t> </a:t>
            </a:r>
            <a:br>
              <a:rPr lang="ru-RU" sz="4068"/>
            </a:br>
            <a:r>
              <a:rPr lang="ru-RU" sz="4068"/>
              <a:t>Кибернетические методы</a:t>
            </a:r>
            <a:endParaRPr/>
          </a:p>
        </p:txBody>
      </p:sp>
      <p:sp>
        <p:nvSpPr>
          <p:cNvPr id="358" name="Google Shape;358;p26"/>
          <p:cNvSpPr txBox="1"/>
          <p:nvPr>
            <p:ph idx="1" type="body"/>
          </p:nvPr>
        </p:nvSpPr>
        <p:spPr>
          <a:xfrm>
            <a:off x="861650" y="2134588"/>
            <a:ext cx="8551545" cy="3643974"/>
          </a:xfrm>
          <a:prstGeom prst="rect">
            <a:avLst/>
          </a:prstGeom>
          <a:noFill/>
          <a:ln>
            <a:noFill/>
          </a:ln>
        </p:spPr>
        <p:txBody>
          <a:bodyPr anchorCtr="0" anchor="t" bIns="45950" lIns="91925" spcFirstLastPara="1" rIns="91925" wrap="square" tIns="45950">
            <a:normAutofit/>
          </a:bodyPr>
          <a:lstStyle/>
          <a:p>
            <a:pPr indent="-356307" lvl="0" marL="356307" rtl="0" algn="l">
              <a:lnSpc>
                <a:spcPct val="90000"/>
              </a:lnSpc>
              <a:spcBef>
                <a:spcPts val="0"/>
              </a:spcBef>
              <a:spcAft>
                <a:spcPts val="0"/>
              </a:spcAft>
              <a:buClr>
                <a:schemeClr val="dk1"/>
              </a:buClr>
              <a:buSzPts val="2403"/>
              <a:buChar char="•"/>
            </a:pPr>
            <a:r>
              <a:rPr lang="ru-RU" sz="2403"/>
              <a:t>Искусственные нейронные сети (распознавание, кластеризация, прогноз);</a:t>
            </a:r>
            <a:endParaRPr/>
          </a:p>
          <a:p>
            <a:pPr indent="-356307" lvl="0" marL="356307" rtl="0" algn="l">
              <a:lnSpc>
                <a:spcPct val="90000"/>
              </a:lnSpc>
              <a:spcBef>
                <a:spcPts val="481"/>
              </a:spcBef>
              <a:spcAft>
                <a:spcPts val="0"/>
              </a:spcAft>
              <a:buClr>
                <a:schemeClr val="dk1"/>
              </a:buClr>
              <a:buSzPts val="2403"/>
              <a:buChar char="•"/>
            </a:pPr>
            <a:r>
              <a:rPr lang="ru-RU" sz="2403"/>
              <a:t>Эволюционное программирование (в т.ч. алгоритмы метода группового учета аргументов); </a:t>
            </a:r>
            <a:endParaRPr/>
          </a:p>
          <a:p>
            <a:pPr indent="-356307" lvl="0" marL="356307" rtl="0" algn="l">
              <a:lnSpc>
                <a:spcPct val="90000"/>
              </a:lnSpc>
              <a:spcBef>
                <a:spcPts val="481"/>
              </a:spcBef>
              <a:spcAft>
                <a:spcPts val="0"/>
              </a:spcAft>
              <a:buClr>
                <a:schemeClr val="dk1"/>
              </a:buClr>
              <a:buSzPts val="2403"/>
              <a:buChar char="•"/>
            </a:pPr>
            <a:r>
              <a:rPr lang="ru-RU" sz="2403"/>
              <a:t>Генетические алгоритмы (ГА-оптимизация);</a:t>
            </a:r>
            <a:endParaRPr/>
          </a:p>
          <a:p>
            <a:pPr indent="-356307" lvl="0" marL="356307" rtl="0" algn="l">
              <a:lnSpc>
                <a:spcPct val="90000"/>
              </a:lnSpc>
              <a:spcBef>
                <a:spcPts val="481"/>
              </a:spcBef>
              <a:spcAft>
                <a:spcPts val="0"/>
              </a:spcAft>
              <a:buClr>
                <a:schemeClr val="dk1"/>
              </a:buClr>
              <a:buSzPts val="2403"/>
              <a:buChar char="•"/>
            </a:pPr>
            <a:r>
              <a:rPr lang="ru-RU" sz="2403"/>
              <a:t>Ассоциативная память (поиск аналогов, прототипов);</a:t>
            </a:r>
            <a:endParaRPr/>
          </a:p>
          <a:p>
            <a:pPr indent="-356307" lvl="0" marL="356307" rtl="0" algn="l">
              <a:lnSpc>
                <a:spcPct val="90000"/>
              </a:lnSpc>
              <a:spcBef>
                <a:spcPts val="481"/>
              </a:spcBef>
              <a:spcAft>
                <a:spcPts val="0"/>
              </a:spcAft>
              <a:buClr>
                <a:schemeClr val="dk1"/>
              </a:buClr>
              <a:buSzPts val="2403"/>
              <a:buChar char="•"/>
            </a:pPr>
            <a:r>
              <a:rPr lang="ru-RU" sz="2403"/>
              <a:t>Нечеткая логика;</a:t>
            </a:r>
            <a:endParaRPr/>
          </a:p>
          <a:p>
            <a:pPr indent="-356307" lvl="0" marL="356307" rtl="0" algn="l">
              <a:lnSpc>
                <a:spcPct val="90000"/>
              </a:lnSpc>
              <a:spcBef>
                <a:spcPts val="481"/>
              </a:spcBef>
              <a:spcAft>
                <a:spcPts val="0"/>
              </a:spcAft>
              <a:buClr>
                <a:schemeClr val="dk1"/>
              </a:buClr>
              <a:buSzPts val="2403"/>
              <a:buChar char="•"/>
            </a:pPr>
            <a:r>
              <a:rPr lang="ru-RU" sz="2403"/>
              <a:t>Деревья решений; </a:t>
            </a:r>
            <a:endParaRPr/>
          </a:p>
          <a:p>
            <a:pPr indent="-356307" lvl="0" marL="356307" rtl="0" algn="l">
              <a:lnSpc>
                <a:spcPct val="90000"/>
              </a:lnSpc>
              <a:spcBef>
                <a:spcPts val="481"/>
              </a:spcBef>
              <a:spcAft>
                <a:spcPts val="0"/>
              </a:spcAft>
              <a:buClr>
                <a:schemeClr val="dk1"/>
              </a:buClr>
              <a:buSzPts val="2403"/>
              <a:buChar char="•"/>
            </a:pPr>
            <a:r>
              <a:rPr lang="ru-RU" sz="2403"/>
              <a:t>Системы обработки экспертных знаний.</a:t>
            </a:r>
            <a:endParaRPr/>
          </a:p>
        </p:txBody>
      </p:sp>
      <p:sp>
        <p:nvSpPr>
          <p:cNvPr id="359" name="Google Shape;359;p2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360" name="Google Shape;360;p26"/>
          <p:cNvSpPr/>
          <p:nvPr/>
        </p:nvSpPr>
        <p:spPr>
          <a:xfrm>
            <a:off x="685189" y="6054046"/>
            <a:ext cx="8729321" cy="6463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FF0000"/>
              </a:buClr>
              <a:buSzPts val="2000"/>
              <a:buFont typeface="Arial"/>
              <a:buNone/>
            </a:pPr>
            <a:r>
              <a:rPr b="0" i="1" lang="ru-RU" sz="2000" u="none" cap="none" strike="noStrike">
                <a:solidFill>
                  <a:srgbClr val="FF0000"/>
                </a:solidFill>
                <a:latin typeface="Arial"/>
                <a:ea typeface="Arial"/>
                <a:cs typeface="Arial"/>
                <a:sym typeface="Arial"/>
              </a:rPr>
              <a:t>Методы этой группы являются эмпирическими и хорошо подходят для  прогнозирования и распознавания.</a:t>
            </a:r>
            <a:r>
              <a:rPr b="0" i="0" lang="ru-RU" sz="2000" u="none" cap="none" strike="noStrike">
                <a:solidFill>
                  <a:srgbClr val="FF0000"/>
                </a:solidFill>
                <a:latin typeface="Arial"/>
                <a:ea typeface="Arial"/>
                <a:cs typeface="Arial"/>
                <a:sym typeface="Arial"/>
              </a:rPr>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7"/>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367" name="Google Shape;367;p27"/>
          <p:cNvSpPr txBox="1"/>
          <p:nvPr>
            <p:ph type="title"/>
          </p:nvPr>
        </p:nvSpPr>
        <p:spPr>
          <a:xfrm>
            <a:off x="862965" y="532823"/>
            <a:ext cx="8551545" cy="1108534"/>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100000"/>
              <a:buFont typeface="Calibri"/>
              <a:buNone/>
            </a:pPr>
            <a:r>
              <a:rPr lang="ru-RU" sz="2958"/>
              <a:t>Методы Data Analysis</a:t>
            </a:r>
            <a:r>
              <a:rPr lang="ru-RU" sz="4068"/>
              <a:t> </a:t>
            </a:r>
            <a:br>
              <a:rPr lang="ru-RU" sz="4068"/>
            </a:br>
            <a:r>
              <a:rPr b="1" i="1" lang="ru-RU" sz="3698"/>
              <a:t>Свойства методов Data </a:t>
            </a:r>
            <a:r>
              <a:rPr b="1" i="1" lang="ru-RU" sz="3700"/>
              <a:t>Analysis</a:t>
            </a:r>
            <a:r>
              <a:rPr lang="ru-RU" sz="5400"/>
              <a:t> </a:t>
            </a:r>
            <a:endParaRPr sz="4068"/>
          </a:p>
        </p:txBody>
      </p:sp>
      <p:sp>
        <p:nvSpPr>
          <p:cNvPr id="368" name="Google Shape;368;p27"/>
          <p:cNvSpPr txBox="1"/>
          <p:nvPr>
            <p:ph idx="1" type="body"/>
          </p:nvPr>
        </p:nvSpPr>
        <p:spPr>
          <a:xfrm>
            <a:off x="673261" y="1966328"/>
            <a:ext cx="9090341" cy="4345056"/>
          </a:xfrm>
          <a:prstGeom prst="rect">
            <a:avLst/>
          </a:prstGeom>
          <a:noFill/>
          <a:ln>
            <a:noFill/>
          </a:ln>
        </p:spPr>
        <p:txBody>
          <a:bodyPr anchorCtr="0" anchor="t" bIns="45950" lIns="91925" spcFirstLastPara="1" rIns="91925" wrap="square" tIns="45950">
            <a:noAutofit/>
          </a:bodyPr>
          <a:lstStyle/>
          <a:p>
            <a:pPr indent="-356307" lvl="0" marL="356307" rtl="0" algn="l">
              <a:lnSpc>
                <a:spcPct val="127125"/>
              </a:lnSpc>
              <a:spcBef>
                <a:spcPts val="0"/>
              </a:spcBef>
              <a:spcAft>
                <a:spcPts val="0"/>
              </a:spcAft>
              <a:buClr>
                <a:schemeClr val="dk1"/>
              </a:buClr>
              <a:buSzPts val="2400"/>
              <a:buChar char="•"/>
            </a:pPr>
            <a:r>
              <a:rPr lang="ru-RU" sz="2400"/>
              <a:t>Различные методы Data Analysis характеризуются определенными свойствами, которые могут быть определяющими при выборе метода анализа данных. Методы можно сравнивать между собой, оценивая характеристики их свойств.</a:t>
            </a:r>
            <a:endParaRPr/>
          </a:p>
          <a:p>
            <a:pPr indent="-356307" lvl="0" marL="356307" rtl="0" algn="l">
              <a:lnSpc>
                <a:spcPct val="127125"/>
              </a:lnSpc>
              <a:spcBef>
                <a:spcPts val="0"/>
              </a:spcBef>
              <a:spcAft>
                <a:spcPts val="0"/>
              </a:spcAft>
              <a:buClr>
                <a:schemeClr val="dk1"/>
              </a:buClr>
              <a:buSzPts val="2400"/>
              <a:buChar char="•"/>
            </a:pPr>
            <a:r>
              <a:rPr lang="ru-RU" sz="2400"/>
              <a:t>Среди основных свойств и характеристик методов Data Analysis выделим следующие: </a:t>
            </a:r>
            <a:endParaRPr/>
          </a:p>
          <a:p>
            <a:pPr indent="0" lvl="0" marL="664834" rtl="0" algn="l">
              <a:lnSpc>
                <a:spcPct val="127125"/>
              </a:lnSpc>
              <a:spcBef>
                <a:spcPts val="0"/>
              </a:spcBef>
              <a:spcAft>
                <a:spcPts val="0"/>
              </a:spcAft>
              <a:buClr>
                <a:schemeClr val="dk1"/>
              </a:buClr>
              <a:buSzPts val="2400"/>
              <a:buNone/>
            </a:pPr>
            <a:r>
              <a:rPr i="1" lang="ru-RU" sz="2400"/>
              <a:t>точность, масштабируемость, интерпретируемость, проверяемость, трудоемкость, гибкость, скорость выполнения и популярность. </a:t>
            </a:r>
            <a:br>
              <a:rPr lang="ru-RU" sz="2400"/>
            </a:br>
            <a:endParaRPr sz="2400"/>
          </a:p>
        </p:txBody>
      </p:sp>
      <p:sp>
        <p:nvSpPr>
          <p:cNvPr id="369" name="Google Shape;369;p2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8"/>
          <p:cNvSpPr/>
          <p:nvPr/>
        </p:nvSpPr>
        <p:spPr>
          <a:xfrm>
            <a:off x="170185" y="178768"/>
            <a:ext cx="9937104" cy="6480720"/>
          </a:xfrm>
          <a:prstGeom prst="roundRect">
            <a:avLst>
              <a:gd fmla="val 16667" name="adj"/>
            </a:avLst>
          </a:prstGeom>
          <a:solidFill>
            <a:schemeClr val="lt1">
              <a:alpha val="49803"/>
            </a:schemeClr>
          </a:solidFill>
          <a:ln>
            <a:noFill/>
          </a:ln>
        </p:spPr>
        <p:txBody>
          <a:bodyPr anchorCtr="0" anchor="ctr" bIns="45950" lIns="91925" spcFirstLastPara="1" rIns="91925" wrap="square" tIns="45950">
            <a:noAutofit/>
          </a:bodyPr>
          <a:lstStyle/>
          <a:p>
            <a:pPr indent="0" lvl="0" marL="0" marR="0" rtl="0" algn="l">
              <a:spcBef>
                <a:spcPts val="0"/>
              </a:spcBef>
              <a:spcAft>
                <a:spcPts val="0"/>
              </a:spcAft>
              <a:buNone/>
            </a:pPr>
            <a:r>
              <a:t/>
            </a:r>
            <a:endParaRPr b="0" i="0" sz="3236" u="none" cap="none" strike="noStrike">
              <a:solidFill>
                <a:schemeClr val="lt1"/>
              </a:solidFill>
              <a:latin typeface="Arial"/>
              <a:ea typeface="Arial"/>
              <a:cs typeface="Arial"/>
              <a:sym typeface="Arial"/>
            </a:endParaRPr>
          </a:p>
        </p:txBody>
      </p:sp>
      <p:pic>
        <p:nvPicPr>
          <p:cNvPr descr="ar2small005" id="376" name="Google Shape;376;p28"/>
          <p:cNvPicPr preferRelativeResize="0"/>
          <p:nvPr/>
        </p:nvPicPr>
        <p:blipFill rotWithShape="1">
          <a:blip r:embed="rId3">
            <a:alphaModFix/>
          </a:blip>
          <a:srcRect b="0" l="0" r="0" t="0"/>
          <a:stretch/>
        </p:blipFill>
        <p:spPr>
          <a:xfrm>
            <a:off x="379339" y="1909206"/>
            <a:ext cx="5126968" cy="3794088"/>
          </a:xfrm>
          <a:prstGeom prst="rect">
            <a:avLst/>
          </a:prstGeom>
          <a:noFill/>
          <a:ln>
            <a:noFill/>
          </a:ln>
        </p:spPr>
      </p:pic>
      <p:sp>
        <p:nvSpPr>
          <p:cNvPr id="377" name="Google Shape;377;p28"/>
          <p:cNvSpPr/>
          <p:nvPr/>
        </p:nvSpPr>
        <p:spPr>
          <a:xfrm>
            <a:off x="1250305" y="414661"/>
            <a:ext cx="7721794" cy="916235"/>
          </a:xfrm>
          <a:prstGeom prst="roundRect">
            <a:avLst>
              <a:gd fmla="val 16667" name="adj"/>
            </a:avLst>
          </a:prstGeom>
          <a:solidFill>
            <a:srgbClr val="FFFFFF">
              <a:alpha val="78823"/>
            </a:srgbClr>
          </a:solidFill>
          <a:ln>
            <a:noFill/>
          </a:ln>
        </p:spPr>
        <p:txBody>
          <a:bodyPr anchorCtr="0" anchor="ctr" bIns="45950" lIns="91925" spcFirstLastPara="1" rIns="91925" wrap="square" tIns="45950">
            <a:noAutofit/>
          </a:bodyPr>
          <a:lstStyle/>
          <a:p>
            <a:pPr indent="0" lvl="0" marL="0" marR="0" rtl="0" algn="l">
              <a:spcBef>
                <a:spcPts val="0"/>
              </a:spcBef>
              <a:spcAft>
                <a:spcPts val="0"/>
              </a:spcAft>
              <a:buNone/>
            </a:pPr>
            <a:r>
              <a:t/>
            </a:r>
            <a:endParaRPr b="0" i="0" sz="3236" u="none" cap="none" strike="noStrike">
              <a:solidFill>
                <a:schemeClr val="lt1"/>
              </a:solidFill>
              <a:latin typeface="Arial"/>
              <a:ea typeface="Arial"/>
              <a:cs typeface="Arial"/>
              <a:sym typeface="Arial"/>
            </a:endParaRPr>
          </a:p>
        </p:txBody>
      </p:sp>
      <p:sp>
        <p:nvSpPr>
          <p:cNvPr id="378" name="Google Shape;378;p28"/>
          <p:cNvSpPr txBox="1"/>
          <p:nvPr>
            <p:ph type="title"/>
          </p:nvPr>
        </p:nvSpPr>
        <p:spPr>
          <a:xfrm>
            <a:off x="1316289" y="546629"/>
            <a:ext cx="7670657" cy="625199"/>
          </a:xfrm>
          <a:prstGeom prst="rect">
            <a:avLst/>
          </a:prstGeom>
          <a:noFill/>
          <a:ln>
            <a:noFill/>
          </a:ln>
        </p:spPr>
        <p:txBody>
          <a:bodyPr anchorCtr="0" anchor="ctr" bIns="45950" lIns="91925" spcFirstLastPara="1" rIns="91925" wrap="square" tIns="45950">
            <a:normAutofit fontScale="90000"/>
          </a:bodyPr>
          <a:lstStyle/>
          <a:p>
            <a:pPr indent="0" lvl="0" marL="0" rtl="0" algn="ctr">
              <a:spcBef>
                <a:spcPts val="0"/>
              </a:spcBef>
              <a:spcAft>
                <a:spcPts val="0"/>
              </a:spcAft>
              <a:buClr>
                <a:schemeClr val="dk1"/>
              </a:buClr>
              <a:buSzPct val="100000"/>
              <a:buFont typeface="Calibri"/>
              <a:buNone/>
            </a:pPr>
            <a:r>
              <a:rPr lang="ru-RU" sz="4068"/>
              <a:t>Инструментарий Data </a:t>
            </a:r>
            <a:r>
              <a:rPr lang="ru-RU" sz="4400"/>
              <a:t>Analysis</a:t>
            </a:r>
            <a:r>
              <a:rPr lang="ru-RU" sz="4068"/>
              <a:t> </a:t>
            </a:r>
            <a:endParaRPr/>
          </a:p>
        </p:txBody>
      </p:sp>
      <p:sp>
        <p:nvSpPr>
          <p:cNvPr id="379" name="Google Shape;379;p28"/>
          <p:cNvSpPr txBox="1"/>
          <p:nvPr/>
        </p:nvSpPr>
        <p:spPr>
          <a:xfrm>
            <a:off x="5506307" y="1822578"/>
            <a:ext cx="4747381" cy="4345228"/>
          </a:xfrm>
          <a:prstGeom prst="rect">
            <a:avLst/>
          </a:prstGeom>
          <a:noFill/>
          <a:ln>
            <a:noFill/>
          </a:ln>
        </p:spPr>
        <p:txBody>
          <a:bodyPr anchorCtr="0" anchor="t" bIns="45700" lIns="91425" spcFirstLastPara="1" rIns="91425" wrap="square" tIns="45700">
            <a:spAutoFit/>
          </a:bodyPr>
          <a:lstStyle/>
          <a:p>
            <a:pPr indent="-304800" lvl="0" marL="304800" marR="0" rtl="0" algn="l">
              <a:spcBef>
                <a:spcPts val="0"/>
              </a:spcBef>
              <a:spcAft>
                <a:spcPts val="0"/>
              </a:spcAft>
              <a:buClr>
                <a:schemeClr val="dk1"/>
              </a:buClr>
              <a:buSzPts val="2078"/>
              <a:buFont typeface="Arial"/>
              <a:buChar char="•"/>
            </a:pPr>
            <a:r>
              <a:rPr b="0" i="0" lang="ru-RU" sz="2078" u="none" cap="none" strike="noStrike">
                <a:solidFill>
                  <a:schemeClr val="dk1"/>
                </a:solidFill>
                <a:latin typeface="Arial"/>
                <a:ea typeface="Arial"/>
                <a:cs typeface="Arial"/>
                <a:sym typeface="Arial"/>
              </a:rPr>
              <a:t>Data Analysis является мультидисциплинарной областью, отсюда обилие методов и алгоритмов, реализованных в различных действующих системах Data Analysis. </a:t>
            </a:r>
            <a:endParaRPr/>
          </a:p>
          <a:p>
            <a:pPr indent="-304800" lvl="0" marL="304800" marR="0" rtl="0" algn="l">
              <a:spcBef>
                <a:spcPts val="623"/>
              </a:spcBef>
              <a:spcAft>
                <a:spcPts val="0"/>
              </a:spcAft>
              <a:buClr>
                <a:schemeClr val="dk1"/>
              </a:buClr>
              <a:buSzPts val="2078"/>
              <a:buFont typeface="Arial"/>
              <a:buChar char="•"/>
            </a:pPr>
            <a:r>
              <a:rPr b="0" i="0" lang="ru-RU" sz="2078" u="none" cap="none" strike="noStrike">
                <a:solidFill>
                  <a:schemeClr val="dk1"/>
                </a:solidFill>
                <a:latin typeface="Arial"/>
                <a:ea typeface="Arial"/>
                <a:cs typeface="Arial"/>
                <a:sym typeface="Arial"/>
              </a:rPr>
              <a:t>Многие из таких систем интегрируют в себе сразу несколько подходов. Но, как правило, в каждой системе имеется какая-то ключевая компонента, на которую делается главная ставка. </a:t>
            </a:r>
            <a:endParaRPr/>
          </a:p>
        </p:txBody>
      </p:sp>
      <p:sp>
        <p:nvSpPr>
          <p:cNvPr id="380" name="Google Shape;380;p2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9"/>
          <p:cNvSpPr txBox="1"/>
          <p:nvPr>
            <p:ph type="title"/>
          </p:nvPr>
        </p:nvSpPr>
        <p:spPr>
          <a:xfrm>
            <a:off x="818257" y="59298"/>
            <a:ext cx="8454219" cy="52622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3325"/>
              <a:t>Классификация методов Data </a:t>
            </a:r>
            <a:r>
              <a:rPr lang="ru-RU" sz="3600"/>
              <a:t>Analysis</a:t>
            </a:r>
            <a:endParaRPr sz="3325"/>
          </a:p>
        </p:txBody>
      </p:sp>
      <p:pic>
        <p:nvPicPr>
          <p:cNvPr descr="http://www.dataminingarticles.com/img_bk/DMTechniques3.png" id="386" name="Google Shape;386;p29"/>
          <p:cNvPicPr preferRelativeResize="0"/>
          <p:nvPr/>
        </p:nvPicPr>
        <p:blipFill rotWithShape="1">
          <a:blip r:embed="rId3">
            <a:alphaModFix/>
          </a:blip>
          <a:srcRect b="0" l="0" r="0" t="0"/>
          <a:stretch/>
        </p:blipFill>
        <p:spPr>
          <a:xfrm>
            <a:off x="938846" y="640046"/>
            <a:ext cx="8531750" cy="6433454"/>
          </a:xfrm>
          <a:prstGeom prst="rect">
            <a:avLst/>
          </a:prstGeom>
          <a:noFill/>
          <a:ln>
            <a:noFill/>
          </a:ln>
        </p:spPr>
      </p:pic>
      <p:sp>
        <p:nvSpPr>
          <p:cNvPr id="387" name="Google Shape;387;p29"/>
          <p:cNvSpPr/>
          <p:nvPr/>
        </p:nvSpPr>
        <p:spPr>
          <a:xfrm>
            <a:off x="981736" y="6832659"/>
            <a:ext cx="7785010" cy="295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ru-RU" sz="1247" u="none" cap="none" strike="noStrike">
                <a:solidFill>
                  <a:schemeClr val="accent1"/>
                </a:solidFill>
                <a:latin typeface="Arial"/>
                <a:ea typeface="Arial"/>
                <a:cs typeface="Arial"/>
                <a:sym typeface="Arial"/>
              </a:rPr>
              <a:t>Источник: http://www.dataminingarticles.com/data-mining-introduction/data-mining-techniques/</a:t>
            </a:r>
            <a:endParaRPr/>
          </a:p>
        </p:txBody>
      </p:sp>
      <p:sp>
        <p:nvSpPr>
          <p:cNvPr id="388" name="Google Shape;388;p29"/>
          <p:cNvSpPr/>
          <p:nvPr/>
        </p:nvSpPr>
        <p:spPr>
          <a:xfrm>
            <a:off x="645840" y="4139208"/>
            <a:ext cx="2241744" cy="2202911"/>
          </a:xfrm>
          <a:prstGeom prst="rect">
            <a:avLst/>
          </a:prstGeom>
          <a:solidFill>
            <a:srgbClr val="FCD8D2"/>
          </a:solidFill>
          <a:ln>
            <a:noFill/>
          </a:ln>
        </p:spPr>
        <p:txBody>
          <a:bodyPr anchorCtr="0" anchor="t" bIns="45700" lIns="91425" spcFirstLastPara="1" rIns="91425" wrap="square" tIns="45700">
            <a:spAutoFit/>
          </a:bodyPr>
          <a:lstStyle/>
          <a:p>
            <a:pPr indent="-178154" lvl="0" marL="178154" marR="0" rtl="0" algn="l">
              <a:spcBef>
                <a:spcPts val="0"/>
              </a:spcBef>
              <a:spcAft>
                <a:spcPts val="0"/>
              </a:spcAft>
              <a:buClr>
                <a:srgbClr val="0070C0"/>
              </a:buClr>
              <a:buSzPts val="1143"/>
              <a:buFont typeface="Arial"/>
              <a:buChar char="•"/>
            </a:pPr>
            <a:r>
              <a:rPr b="0" i="0" lang="ru-RU" sz="1143" u="none" cap="none" strike="noStrike">
                <a:solidFill>
                  <a:srgbClr val="0070C0"/>
                </a:solidFill>
                <a:latin typeface="Quattrocento Sans"/>
                <a:ea typeface="Quattrocento Sans"/>
                <a:cs typeface="Quattrocento Sans"/>
                <a:sym typeface="Quattrocento Sans"/>
              </a:rPr>
              <a:t>CART- Classification and Regression Tree</a:t>
            </a:r>
            <a:endParaRPr/>
          </a:p>
          <a:p>
            <a:pPr indent="-178154" lvl="0" marL="178154" marR="0" rtl="0" algn="l">
              <a:spcBef>
                <a:spcPts val="0"/>
              </a:spcBef>
              <a:spcAft>
                <a:spcPts val="0"/>
              </a:spcAft>
              <a:buClr>
                <a:srgbClr val="0070C0"/>
              </a:buClr>
              <a:buSzPts val="1143"/>
              <a:buFont typeface="Arial"/>
              <a:buChar char="•"/>
            </a:pPr>
            <a:r>
              <a:rPr b="0" i="0" lang="ru-RU" sz="1143" u="none" cap="none" strike="noStrike">
                <a:solidFill>
                  <a:srgbClr val="0070C0"/>
                </a:solidFill>
                <a:latin typeface="Quattrocento Sans"/>
                <a:ea typeface="Quattrocento Sans"/>
                <a:cs typeface="Quattrocento Sans"/>
                <a:sym typeface="Quattrocento Sans"/>
              </a:rPr>
              <a:t>C4.5 строит дерево решений с неограниченным количеством ветвей у узла</a:t>
            </a:r>
            <a:endParaRPr b="0" i="0" sz="1143" u="none" cap="none" strike="noStrike">
              <a:solidFill>
                <a:srgbClr val="0070C0"/>
              </a:solidFill>
              <a:latin typeface="Quattrocento Sans"/>
              <a:ea typeface="Quattrocento Sans"/>
              <a:cs typeface="Quattrocento Sans"/>
              <a:sym typeface="Quattrocento Sans"/>
            </a:endParaRPr>
          </a:p>
          <a:p>
            <a:pPr indent="-178154" lvl="0" marL="178154" marR="0" rtl="0" algn="l">
              <a:spcBef>
                <a:spcPts val="0"/>
              </a:spcBef>
              <a:spcAft>
                <a:spcPts val="0"/>
              </a:spcAft>
              <a:buClr>
                <a:srgbClr val="0070C0"/>
              </a:buClr>
              <a:buSzPts val="1143"/>
              <a:buFont typeface="Arial"/>
              <a:buChar char="•"/>
            </a:pPr>
            <a:r>
              <a:rPr b="0" i="1" lang="ru-RU" sz="1143" u="none" cap="none" strike="noStrike">
                <a:solidFill>
                  <a:srgbClr val="0070C0"/>
                </a:solidFill>
                <a:latin typeface="Quattrocento Sans"/>
                <a:ea typeface="Quattrocento Sans"/>
                <a:cs typeface="Quattrocento Sans"/>
                <a:sym typeface="Quattrocento Sans"/>
              </a:rPr>
              <a:t>CHAID - </a:t>
            </a:r>
            <a:r>
              <a:rPr b="0" i="0" lang="ru-RU" sz="1143" u="none" cap="none" strike="noStrike">
                <a:solidFill>
                  <a:srgbClr val="0070C0"/>
                </a:solidFill>
                <a:latin typeface="Quattrocento Sans"/>
                <a:ea typeface="Quattrocento Sans"/>
                <a:cs typeface="Quattrocento Sans"/>
                <a:sym typeface="Quattrocento Sans"/>
              </a:rPr>
              <a:t> (</a:t>
            </a:r>
            <a:r>
              <a:rPr b="0" i="1" lang="ru-RU" sz="1143" u="none" cap="none" strike="noStrike">
                <a:solidFill>
                  <a:srgbClr val="0070C0"/>
                </a:solidFill>
                <a:latin typeface="Quattrocento Sans"/>
                <a:ea typeface="Quattrocento Sans"/>
                <a:cs typeface="Quattrocento Sans"/>
                <a:sym typeface="Quattrocento Sans"/>
              </a:rPr>
              <a:t>Chi-Square Automatic Interaction Detection</a:t>
            </a:r>
            <a:r>
              <a:rPr b="0" i="0" lang="ru-RU" sz="1143" u="none" cap="none" strike="noStrike">
                <a:solidFill>
                  <a:srgbClr val="0070C0"/>
                </a:solidFill>
                <a:latin typeface="Quattrocento Sans"/>
                <a:ea typeface="Quattrocento Sans"/>
                <a:cs typeface="Quattrocento Sans"/>
                <a:sym typeface="Quattrocento Sans"/>
              </a:rPr>
              <a:t> - автоматический детектор взаимосвязей на основе критерия χ2)</a:t>
            </a:r>
            <a:endParaRPr b="0" i="0" sz="1143" u="none" cap="none" strike="noStrike">
              <a:solidFill>
                <a:srgbClr val="0070C0"/>
              </a:solidFill>
              <a:latin typeface="Quattrocento Sans"/>
              <a:ea typeface="Quattrocento Sans"/>
              <a:cs typeface="Quattrocento Sans"/>
              <a:sym typeface="Quattrocento Sans"/>
            </a:endParaRPr>
          </a:p>
        </p:txBody>
      </p:sp>
      <p:sp>
        <p:nvSpPr>
          <p:cNvPr id="389" name="Google Shape;389;p2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ru-RU" sz="1400">
                <a:solidFill>
                  <a:schemeClr val="dk1"/>
                </a:solidFill>
              </a:rPr>
              <a:t>‹#›</a:t>
            </a:fld>
            <a:endParaRPr b="1"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0"/>
          <p:cNvSpPr txBox="1"/>
          <p:nvPr>
            <p:ph type="title"/>
          </p:nvPr>
        </p:nvSpPr>
        <p:spPr>
          <a:xfrm>
            <a:off x="1036173" y="3828731"/>
            <a:ext cx="8195231" cy="91223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4100"/>
              <a:buFont typeface="Calibri"/>
              <a:buNone/>
            </a:pPr>
            <a:r>
              <a:rPr lang="ru-RU"/>
              <a:t>4. КЛАСТЕРИЗАЦИЯ</a:t>
            </a:r>
            <a:endParaRPr/>
          </a:p>
        </p:txBody>
      </p:sp>
      <p:pic>
        <p:nvPicPr>
          <p:cNvPr descr="https://encrypted-tbn1.gstatic.com/images?q=tbn:ANd9GcRMjv5S8CujEWjgUezYZDP_tT17jCB9JD14NAqDsAHMT7qUX7qT" id="395" name="Google Shape;395;p30"/>
          <p:cNvPicPr preferRelativeResize="0"/>
          <p:nvPr/>
        </p:nvPicPr>
        <p:blipFill rotWithShape="1">
          <a:blip r:embed="rId3">
            <a:alphaModFix/>
          </a:blip>
          <a:srcRect b="0" l="0" r="0" t="0"/>
          <a:stretch/>
        </p:blipFill>
        <p:spPr>
          <a:xfrm>
            <a:off x="5364597" y="664791"/>
            <a:ext cx="3165589" cy="3163940"/>
          </a:xfrm>
          <a:prstGeom prst="rect">
            <a:avLst/>
          </a:prstGeom>
          <a:noFill/>
          <a:ln>
            <a:noFill/>
          </a:ln>
        </p:spPr>
      </p:pic>
      <p:pic>
        <p:nvPicPr>
          <p:cNvPr descr="http://8cent-emails.com/wp-content/uploads/2013/06/%D0%9A%D0%BB%D0%B0%D1%81%D1%82%D0%B5%D1%80%D0%B8%D0%B7%D0%B0%D1%86%D0%B8%D1%8F-%D1%81%D0%BE%D0%B3%D0%BB%D0%B0%D1%81%D0%BD%D0%BE-%D0%BF%D1%80%D0%BE%D0%B1%D0%BB%D0%B5%D0%BC%D0%B0%D0%BC-%D0%B8-%D0%BF%D0%BE%D1%82%D1%80%D0%B5%D0%B1%D0%BD%D0%BE%D1%81%D1%82%D1%8F%D0%BC-%D1%80%D0%B0%D0%B7%D0%B2%D0%B8%D1%82%D0%B8%D1%8F-%D0%BD%D0%B0%D1%81%D0%B5%D0%BB%D0%B5%D0%BD%D0%B8%D1%8F.gif" id="396" name="Google Shape;396;p30"/>
          <p:cNvPicPr preferRelativeResize="0"/>
          <p:nvPr/>
        </p:nvPicPr>
        <p:blipFill rotWithShape="1">
          <a:blip r:embed="rId4">
            <a:alphaModFix/>
          </a:blip>
          <a:srcRect b="0" l="0" r="0" t="0"/>
          <a:stretch/>
        </p:blipFill>
        <p:spPr>
          <a:xfrm>
            <a:off x="1250305" y="629462"/>
            <a:ext cx="3134247" cy="3163940"/>
          </a:xfrm>
          <a:prstGeom prst="rect">
            <a:avLst/>
          </a:prstGeom>
          <a:noFill/>
          <a:ln>
            <a:noFill/>
          </a:ln>
        </p:spPr>
      </p:pic>
      <p:sp>
        <p:nvSpPr>
          <p:cNvPr id="397" name="Google Shape;397;p3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1"/>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03" name="Google Shape;403;p31"/>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04" name="Google Shape;404;p31"/>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05" name="Google Shape;405;p31"/>
          <p:cNvSpPr txBox="1"/>
          <p:nvPr>
            <p:ph type="title"/>
          </p:nvPr>
        </p:nvSpPr>
        <p:spPr>
          <a:xfrm>
            <a:off x="1681969" y="354064"/>
            <a:ext cx="7056784" cy="98398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500"/>
              <a:buFont typeface="Calibri"/>
              <a:buNone/>
            </a:pPr>
            <a:r>
              <a:rPr lang="ru-RU"/>
              <a:t>Кластеризация</a:t>
            </a:r>
            <a:endParaRPr/>
          </a:p>
        </p:txBody>
      </p:sp>
      <p:sp>
        <p:nvSpPr>
          <p:cNvPr id="406" name="Google Shape;406;p31"/>
          <p:cNvSpPr txBox="1"/>
          <p:nvPr>
            <p:ph idx="1" type="body"/>
          </p:nvPr>
        </p:nvSpPr>
        <p:spPr>
          <a:xfrm>
            <a:off x="873212" y="1815045"/>
            <a:ext cx="8674298" cy="4521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ru-RU" sz="2400">
                <a:latin typeface="Helvetica Neue"/>
                <a:ea typeface="Helvetica Neue"/>
                <a:cs typeface="Helvetica Neue"/>
                <a:sym typeface="Helvetica Neue"/>
              </a:rPr>
              <a:t>Под </a:t>
            </a:r>
            <a:r>
              <a:rPr b="1" i="1" lang="ru-RU" sz="2400">
                <a:solidFill>
                  <a:srgbClr val="0000FF"/>
                </a:solidFill>
                <a:latin typeface="Helvetica Neue"/>
                <a:ea typeface="Helvetica Neue"/>
                <a:cs typeface="Helvetica Neue"/>
                <a:sym typeface="Helvetica Neue"/>
              </a:rPr>
              <a:t>кластеризацией </a:t>
            </a:r>
            <a:r>
              <a:rPr lang="ru-RU" sz="2400">
                <a:latin typeface="Helvetica Neue"/>
                <a:ea typeface="Helvetica Neue"/>
                <a:cs typeface="Helvetica Neue"/>
                <a:sym typeface="Helvetica Neue"/>
              </a:rPr>
              <a:t>(от англ. cluster - гроздь, скопление) понимается задача разбиения всей исходной совокупности элементов на отдельные группы однородных объектов, сходных между собой, но имеющих отчетливые отличия этих групп друг от друга. </a:t>
            </a:r>
            <a:endParaRPr/>
          </a:p>
          <a:p>
            <a:pPr indent="0" lvl="0" marL="0" rtl="0" algn="l">
              <a:spcBef>
                <a:spcPts val="480"/>
              </a:spcBef>
              <a:spcAft>
                <a:spcPts val="0"/>
              </a:spcAft>
              <a:buClr>
                <a:schemeClr val="dk1"/>
              </a:buClr>
              <a:buSzPts val="2400"/>
              <a:buNone/>
            </a:pPr>
            <a:r>
              <a:rPr lang="ru-RU" sz="2400">
                <a:latin typeface="Helvetica Neue"/>
                <a:ea typeface="Helvetica Neue"/>
                <a:cs typeface="Helvetica Neue"/>
                <a:sym typeface="Helvetica Neue"/>
              </a:rPr>
              <a:t>Пусть </a:t>
            </a:r>
            <a:r>
              <a:rPr i="1" lang="ru-RU" sz="2400">
                <a:latin typeface="Arial"/>
                <a:ea typeface="Arial"/>
                <a:cs typeface="Arial"/>
                <a:sym typeface="Arial"/>
              </a:rPr>
              <a:t>d(х</a:t>
            </a:r>
            <a:r>
              <a:rPr baseline="-25000" i="1" lang="ru-RU" sz="2400">
                <a:latin typeface="Arial"/>
                <a:ea typeface="Arial"/>
                <a:cs typeface="Arial"/>
                <a:sym typeface="Arial"/>
              </a:rPr>
              <a:t>i</a:t>
            </a:r>
            <a:r>
              <a:rPr i="1" lang="ru-RU" sz="2400">
                <a:latin typeface="Arial"/>
                <a:ea typeface="Arial"/>
                <a:cs typeface="Arial"/>
                <a:sym typeface="Arial"/>
              </a:rPr>
              <a:t>,х</a:t>
            </a:r>
            <a:r>
              <a:rPr baseline="-25000" i="1" lang="ru-RU" sz="2400">
                <a:latin typeface="Arial"/>
                <a:ea typeface="Arial"/>
                <a:cs typeface="Arial"/>
                <a:sym typeface="Arial"/>
              </a:rPr>
              <a:t>j</a:t>
            </a:r>
            <a:r>
              <a:rPr i="1" lang="ru-RU" sz="2400">
                <a:latin typeface="Arial"/>
                <a:ea typeface="Arial"/>
                <a:cs typeface="Arial"/>
                <a:sym typeface="Arial"/>
              </a:rPr>
              <a:t>)</a:t>
            </a:r>
            <a:r>
              <a:rPr i="1" lang="ru-RU" sz="2400">
                <a:latin typeface="Helvetica Neue"/>
                <a:ea typeface="Helvetica Neue"/>
                <a:cs typeface="Helvetica Neue"/>
                <a:sym typeface="Helvetica Neue"/>
              </a:rPr>
              <a:t> </a:t>
            </a:r>
            <a:r>
              <a:rPr lang="ru-RU" sz="2400">
                <a:latin typeface="Helvetica Neue"/>
                <a:ea typeface="Helvetica Neue"/>
                <a:cs typeface="Helvetica Neue"/>
                <a:sym typeface="Helvetica Neue"/>
              </a:rPr>
              <a:t>- некоторая </a:t>
            </a:r>
            <a:r>
              <a:rPr b="1" i="1" lang="ru-RU" sz="2400">
                <a:solidFill>
                  <a:srgbClr val="0000FF"/>
                </a:solidFill>
                <a:latin typeface="Helvetica Neue"/>
                <a:ea typeface="Helvetica Neue"/>
                <a:cs typeface="Helvetica Neue"/>
                <a:sym typeface="Helvetica Neue"/>
              </a:rPr>
              <a:t>мера близости </a:t>
            </a:r>
            <a:r>
              <a:rPr lang="ru-RU" sz="2400">
                <a:latin typeface="Helvetica Neue"/>
                <a:ea typeface="Helvetica Neue"/>
                <a:cs typeface="Helvetica Neue"/>
                <a:sym typeface="Helvetica Neue"/>
              </a:rPr>
              <a:t>между каждой парой классифицируемых объектов</a:t>
            </a:r>
            <a:r>
              <a:rPr i="1" lang="ru-RU" sz="2400">
                <a:latin typeface="Helvetica Neue"/>
                <a:ea typeface="Helvetica Neue"/>
                <a:cs typeface="Helvetica Neue"/>
                <a:sym typeface="Helvetica Neue"/>
              </a:rPr>
              <a:t> </a:t>
            </a:r>
            <a:r>
              <a:rPr i="1" lang="ru-RU" sz="2400">
                <a:latin typeface="Arial"/>
                <a:ea typeface="Arial"/>
                <a:cs typeface="Arial"/>
                <a:sym typeface="Arial"/>
              </a:rPr>
              <a:t>i</a:t>
            </a:r>
            <a:r>
              <a:rPr lang="ru-RU" sz="2400">
                <a:latin typeface="Helvetica Neue"/>
                <a:ea typeface="Helvetica Neue"/>
                <a:cs typeface="Helvetica Neue"/>
                <a:sym typeface="Helvetica Neue"/>
              </a:rPr>
              <a:t> и </a:t>
            </a:r>
            <a:r>
              <a:rPr i="1" lang="ru-RU" sz="2400">
                <a:latin typeface="Arial"/>
                <a:ea typeface="Arial"/>
                <a:cs typeface="Arial"/>
                <a:sym typeface="Arial"/>
              </a:rPr>
              <a:t>j</a:t>
            </a:r>
            <a:r>
              <a:rPr lang="ru-RU" sz="2400">
                <a:latin typeface="Helvetica Neue"/>
                <a:ea typeface="Helvetica Neue"/>
                <a:cs typeface="Helvetica Neue"/>
                <a:sym typeface="Helvetica Neue"/>
              </a:rPr>
              <a:t>. В качестве таковой может использоваться любая полезная функция: евклидово или манхэттенское расстояние, коэффициент корреляции Пирсона, расстояние </a:t>
            </a:r>
            <a:r>
              <a:rPr i="1" lang="ru-RU" sz="2400">
                <a:latin typeface="Arial"/>
                <a:ea typeface="Arial"/>
                <a:cs typeface="Arial"/>
                <a:sym typeface="Arial"/>
              </a:rPr>
              <a:t>χ</a:t>
            </a:r>
            <a:r>
              <a:rPr baseline="30000" i="1" lang="ru-RU" sz="2400">
                <a:latin typeface="Arial"/>
                <a:ea typeface="Arial"/>
                <a:cs typeface="Arial"/>
                <a:sym typeface="Arial"/>
              </a:rPr>
              <a:t>2</a:t>
            </a:r>
            <a:r>
              <a:rPr lang="ru-RU" sz="2400">
                <a:latin typeface="Helvetica Neue"/>
                <a:ea typeface="Helvetica Neue"/>
                <a:cs typeface="Helvetica Neue"/>
                <a:sym typeface="Helvetica Neue"/>
              </a:rPr>
              <a:t>, коэффициенты сходства Жаккара, Съеренсена, Ренконена и другие.</a:t>
            </a:r>
            <a:r>
              <a:rPr lang="ru-RU" sz="2400"/>
              <a:t> </a:t>
            </a:r>
            <a:endParaRPr sz="2400">
              <a:latin typeface="Arial"/>
              <a:ea typeface="Arial"/>
              <a:cs typeface="Arial"/>
              <a:sym typeface="Arial"/>
            </a:endParaRPr>
          </a:p>
          <a:p>
            <a:pPr indent="-203907" lvl="0" marL="356307" rtl="0" algn="l">
              <a:spcBef>
                <a:spcPts val="480"/>
              </a:spcBef>
              <a:spcAft>
                <a:spcPts val="0"/>
              </a:spcAft>
              <a:buClr>
                <a:schemeClr val="dk1"/>
              </a:buClr>
              <a:buSzPts val="2400"/>
              <a:buNone/>
            </a:pPr>
            <a:r>
              <a:t/>
            </a:r>
            <a:endParaRPr sz="2400"/>
          </a:p>
        </p:txBody>
      </p:sp>
      <p:sp>
        <p:nvSpPr>
          <p:cNvPr id="407" name="Google Shape;407;p3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2"/>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13" name="Google Shape;413;p32"/>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14" name="Google Shape;414;p32"/>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15" name="Google Shape;415;p32"/>
          <p:cNvSpPr txBox="1"/>
          <p:nvPr>
            <p:ph type="title"/>
          </p:nvPr>
        </p:nvSpPr>
        <p:spPr>
          <a:xfrm>
            <a:off x="793682" y="237543"/>
            <a:ext cx="8700009" cy="11827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98425"/>
              <a:buFont typeface="Calibri"/>
              <a:buNone/>
            </a:pPr>
            <a:r>
              <a:rPr lang="ru-RU"/>
              <a:t>Кластеризация</a:t>
            </a:r>
            <a:br>
              <a:rPr lang="ru-RU"/>
            </a:br>
            <a:endParaRPr/>
          </a:p>
        </p:txBody>
      </p:sp>
      <p:sp>
        <p:nvSpPr>
          <p:cNvPr id="416" name="Google Shape;416;p32"/>
          <p:cNvSpPr txBox="1"/>
          <p:nvPr>
            <p:ph idx="1" type="body"/>
          </p:nvPr>
        </p:nvSpPr>
        <p:spPr>
          <a:xfrm>
            <a:off x="470996" y="1158726"/>
            <a:ext cx="9295880" cy="5301826"/>
          </a:xfrm>
          <a:prstGeom prst="rect">
            <a:avLst/>
          </a:prstGeom>
          <a:noFill/>
          <a:ln>
            <a:noFill/>
          </a:ln>
        </p:spPr>
        <p:txBody>
          <a:bodyPr anchorCtr="0" anchor="t" bIns="45700" lIns="91425" spcFirstLastPara="1" rIns="91425" wrap="square" tIns="45700">
            <a:normAutofit lnSpcReduction="10000"/>
          </a:bodyPr>
          <a:lstStyle/>
          <a:p>
            <a:pPr indent="-356307" lvl="0" marL="356307" rtl="0" algn="l">
              <a:spcBef>
                <a:spcPts val="0"/>
              </a:spcBef>
              <a:spcAft>
                <a:spcPts val="0"/>
              </a:spcAft>
              <a:buClr>
                <a:schemeClr val="dk1"/>
              </a:buClr>
              <a:buSzPts val="2400"/>
              <a:buChar char="•"/>
            </a:pPr>
            <a:r>
              <a:rPr lang="ru-RU" sz="2400"/>
              <a:t>Кластеризация (или кластерный анализ) — задача разбиения множества объектов на группы, называемые кластерами. Внутри каждой группы должны оказаться «похожие» объекты, а объекты разных групп должны быть как можно более отличны. Главное отличие кластеризации от классификации состоит в том, что перечень групп четко не задан и определяется в процессе работы алгоритма.</a:t>
            </a:r>
            <a:endParaRPr/>
          </a:p>
          <a:p>
            <a:pPr indent="-356307" lvl="0" marL="356307" rtl="0" algn="l">
              <a:spcBef>
                <a:spcPts val="480"/>
              </a:spcBef>
              <a:spcAft>
                <a:spcPts val="0"/>
              </a:spcAft>
              <a:buClr>
                <a:schemeClr val="dk1"/>
              </a:buClr>
              <a:buSzPts val="2400"/>
              <a:buChar char="•"/>
            </a:pPr>
            <a:r>
              <a:rPr lang="ru-RU" sz="2400"/>
              <a:t>Нахождение «центров конденсации» внутри данных можно еще определить как отыскание или введение </a:t>
            </a:r>
            <a:r>
              <a:rPr lang="ru-RU" sz="2400">
                <a:solidFill>
                  <a:srgbClr val="0000FF"/>
                </a:solidFill>
              </a:rPr>
              <a:t>переменной</a:t>
            </a:r>
            <a:r>
              <a:rPr lang="ru-RU" sz="2400"/>
              <a:t>, классифицирующей данные:</a:t>
            </a:r>
            <a:endParaRPr/>
          </a:p>
          <a:p>
            <a:pPr indent="-296923" lvl="1" marL="771999" rtl="0" algn="l">
              <a:spcBef>
                <a:spcPts val="440"/>
              </a:spcBef>
              <a:spcAft>
                <a:spcPts val="0"/>
              </a:spcAft>
              <a:buClr>
                <a:schemeClr val="dk1"/>
              </a:buClr>
              <a:buSzPts val="2200"/>
              <a:buChar char="–"/>
            </a:pPr>
            <a:r>
              <a:rPr lang="ru-RU" sz="2200"/>
              <a:t>Например, в аэропорту мы видим сгустки пассажиров: одни одеты в майки, шорты и бейсболки (Кластер 1), другие – в валенки, шубы и ушанки (Кластер 2)</a:t>
            </a:r>
            <a:endParaRPr/>
          </a:p>
          <a:p>
            <a:pPr indent="-296923" lvl="1" marL="771999" rtl="0" algn="l">
              <a:spcBef>
                <a:spcPts val="440"/>
              </a:spcBef>
              <a:spcAft>
                <a:spcPts val="0"/>
              </a:spcAft>
              <a:buClr>
                <a:schemeClr val="dk1"/>
              </a:buClr>
              <a:buSzPts val="2200"/>
              <a:buChar char="–"/>
            </a:pPr>
            <a:r>
              <a:rPr lang="ru-RU" sz="2200"/>
              <a:t>Такой переменной будет </a:t>
            </a:r>
            <a:r>
              <a:rPr b="1" i="1" lang="ru-RU" sz="2200">
                <a:solidFill>
                  <a:srgbClr val="0000FF"/>
                </a:solidFill>
              </a:rPr>
              <a:t>направление прибытия </a:t>
            </a:r>
            <a:r>
              <a:rPr lang="ru-RU" sz="2200"/>
              <a:t>(убытия)  -  одни прилетели с севера, другие – с юга.</a:t>
            </a:r>
            <a:endParaRPr sz="2200"/>
          </a:p>
        </p:txBody>
      </p:sp>
      <p:sp>
        <p:nvSpPr>
          <p:cNvPr id="417" name="Google Shape;417;p3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3"/>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23" name="Google Shape;423;p33"/>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24" name="Google Shape;424;p33"/>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25" name="Google Shape;425;p33"/>
          <p:cNvSpPr txBox="1"/>
          <p:nvPr>
            <p:ph type="title"/>
          </p:nvPr>
        </p:nvSpPr>
        <p:spPr>
          <a:xfrm>
            <a:off x="793682" y="237543"/>
            <a:ext cx="8700009" cy="1182766"/>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98425"/>
              <a:buFont typeface="Calibri"/>
              <a:buNone/>
            </a:pPr>
            <a:r>
              <a:rPr lang="ru-RU"/>
              <a:t>Кластеризация</a:t>
            </a:r>
            <a:br>
              <a:rPr lang="ru-RU"/>
            </a:br>
            <a:endParaRPr/>
          </a:p>
        </p:txBody>
      </p:sp>
      <p:sp>
        <p:nvSpPr>
          <p:cNvPr id="426" name="Google Shape;426;p33"/>
          <p:cNvSpPr txBox="1"/>
          <p:nvPr>
            <p:ph idx="1" type="body"/>
          </p:nvPr>
        </p:nvSpPr>
        <p:spPr>
          <a:xfrm>
            <a:off x="285526" y="1343460"/>
            <a:ext cx="9604599" cy="4884109"/>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chemeClr val="dk1"/>
              </a:buClr>
              <a:buSzPts val="2400"/>
              <a:buChar char="•"/>
            </a:pPr>
            <a:r>
              <a:rPr lang="ru-RU" sz="2400"/>
              <a:t>Алгоритм работы кластерного алгоритма удобно представлять себе на примере n-мерного пространства, в котором насыпаны точки</a:t>
            </a:r>
            <a:endParaRPr/>
          </a:p>
          <a:p>
            <a:pPr indent="-296923" lvl="1" marL="771999" rtl="0" algn="l">
              <a:spcBef>
                <a:spcPts val="440"/>
              </a:spcBef>
              <a:spcAft>
                <a:spcPts val="0"/>
              </a:spcAft>
              <a:buClr>
                <a:schemeClr val="dk1"/>
              </a:buClr>
              <a:buSzPts val="2200"/>
              <a:buChar char="–"/>
            </a:pPr>
            <a:r>
              <a:rPr lang="ru-RU" sz="2200"/>
              <a:t>Оси – это атрибуты, точки – это случаи,</a:t>
            </a:r>
            <a:endParaRPr sz="2200"/>
          </a:p>
          <a:p>
            <a:pPr indent="-296923" lvl="1" marL="771999" rtl="0" algn="l">
              <a:spcBef>
                <a:spcPts val="440"/>
              </a:spcBef>
              <a:spcAft>
                <a:spcPts val="0"/>
              </a:spcAft>
              <a:buClr>
                <a:schemeClr val="dk1"/>
              </a:buClr>
              <a:buSzPts val="2200"/>
              <a:buChar char="–"/>
            </a:pPr>
            <a:r>
              <a:rPr lang="ru-RU" sz="2200"/>
              <a:t>Исходим из того, что в начальный момент уже есть какие-то кластеры.</a:t>
            </a:r>
            <a:endParaRPr/>
          </a:p>
          <a:p>
            <a:pPr indent="-296923" lvl="1" marL="771999" rtl="0" algn="l">
              <a:spcBef>
                <a:spcPts val="440"/>
              </a:spcBef>
              <a:spcAft>
                <a:spcPts val="0"/>
              </a:spcAft>
              <a:buClr>
                <a:schemeClr val="dk1"/>
              </a:buClr>
              <a:buSzPts val="2200"/>
              <a:buChar char="–"/>
            </a:pPr>
            <a:r>
              <a:rPr lang="ru-RU" sz="2200"/>
              <a:t>Каждая точка, очевидно, будет относиться к какому-нибудь кластеру.</a:t>
            </a:r>
            <a:endParaRPr/>
          </a:p>
          <a:p>
            <a:pPr indent="-296923" lvl="1" marL="771999" rtl="0" algn="l">
              <a:spcBef>
                <a:spcPts val="440"/>
              </a:spcBef>
              <a:spcAft>
                <a:spcPts val="0"/>
              </a:spcAft>
              <a:buClr>
                <a:schemeClr val="dk1"/>
              </a:buClr>
              <a:buSzPts val="2200"/>
              <a:buChar char="–"/>
            </a:pPr>
            <a:r>
              <a:rPr lang="ru-RU" sz="2200"/>
              <a:t>После этого пересчитываем центры кластеров как </a:t>
            </a:r>
            <a:r>
              <a:rPr b="1" lang="ru-RU" sz="2200"/>
              <a:t>среднее</a:t>
            </a:r>
            <a:r>
              <a:rPr lang="ru-RU" sz="2200"/>
              <a:t> всех точек, которые в него попали,</a:t>
            </a:r>
            <a:endParaRPr/>
          </a:p>
          <a:p>
            <a:pPr indent="-296923" lvl="1" marL="771999" rtl="0" algn="l">
              <a:spcBef>
                <a:spcPts val="440"/>
              </a:spcBef>
              <a:spcAft>
                <a:spcPts val="0"/>
              </a:spcAft>
              <a:buClr>
                <a:schemeClr val="dk1"/>
              </a:buClr>
              <a:buSzPts val="2200"/>
              <a:buChar char="–"/>
            </a:pPr>
            <a:r>
              <a:rPr lang="ru-RU" sz="2200"/>
              <a:t>Повторяем переприсваивание точек, пока </a:t>
            </a:r>
            <a:endParaRPr/>
          </a:p>
          <a:p>
            <a:pPr indent="-342900" lvl="1" marL="1143000" rtl="0" algn="l">
              <a:spcBef>
                <a:spcPts val="420"/>
              </a:spcBef>
              <a:spcAft>
                <a:spcPts val="0"/>
              </a:spcAft>
              <a:buClr>
                <a:schemeClr val="dk1"/>
              </a:buClr>
              <a:buSzPts val="2100"/>
              <a:buChar char="–"/>
            </a:pPr>
            <a:r>
              <a:rPr lang="ru-RU" sz="2100"/>
              <a:t>они не перестанут перемещаться между кластерами (алгоритм сошелся)</a:t>
            </a:r>
            <a:endParaRPr/>
          </a:p>
          <a:p>
            <a:pPr indent="-342900" lvl="1" marL="1143000" rtl="0" algn="l">
              <a:spcBef>
                <a:spcPts val="420"/>
              </a:spcBef>
              <a:spcAft>
                <a:spcPts val="0"/>
              </a:spcAft>
              <a:buClr>
                <a:schemeClr val="dk1"/>
              </a:buClr>
              <a:buSzPts val="2100"/>
              <a:buChar char="–"/>
            </a:pPr>
            <a:r>
              <a:rPr lang="ru-RU" sz="2100"/>
              <a:t>или не придем к выводу, что модель больше не улучшится от дальнейших итераций.</a:t>
            </a:r>
            <a:endParaRPr sz="2100"/>
          </a:p>
        </p:txBody>
      </p:sp>
      <p:sp>
        <p:nvSpPr>
          <p:cNvPr id="427" name="Google Shape;427;p3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4"/>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33" name="Google Shape;433;p34"/>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34" name="Google Shape;434;p34"/>
          <p:cNvSpPr/>
          <p:nvPr/>
        </p:nvSpPr>
        <p:spPr>
          <a:xfrm>
            <a:off x="387350" y="1391418"/>
            <a:ext cx="9431338" cy="4622710"/>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35" name="Google Shape;435;p34"/>
          <p:cNvSpPr txBox="1"/>
          <p:nvPr>
            <p:ph type="title"/>
          </p:nvPr>
        </p:nvSpPr>
        <p:spPr>
          <a:xfrm>
            <a:off x="706438" y="258763"/>
            <a:ext cx="8864600" cy="72436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98425"/>
              <a:buFont typeface="Calibri"/>
              <a:buNone/>
            </a:pPr>
            <a:r>
              <a:rPr lang="ru-RU"/>
              <a:t>Кластеризация</a:t>
            </a:r>
            <a:endParaRPr/>
          </a:p>
        </p:txBody>
      </p:sp>
      <p:sp>
        <p:nvSpPr>
          <p:cNvPr id="436" name="Google Shape;436;p34"/>
          <p:cNvSpPr txBox="1"/>
          <p:nvPr>
            <p:ph idx="1" type="body"/>
          </p:nvPr>
        </p:nvSpPr>
        <p:spPr>
          <a:xfrm>
            <a:off x="517932" y="1391418"/>
            <a:ext cx="9445217" cy="5213596"/>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chemeClr val="dk1"/>
              </a:buClr>
              <a:buSzPts val="2200"/>
              <a:buChar char="•"/>
            </a:pPr>
            <a:r>
              <a:rPr lang="ru-RU" sz="2200"/>
              <a:t>Большинство алгоритмов кластеризации предполагают сравнение объектов между собой на основе некоторой меры близости (сходства). </a:t>
            </a:r>
            <a:endParaRPr sz="2200"/>
          </a:p>
          <a:p>
            <a:pPr indent="-356307" lvl="0" marL="356307" rtl="0" algn="l">
              <a:spcBef>
                <a:spcPts val="440"/>
              </a:spcBef>
              <a:spcAft>
                <a:spcPts val="0"/>
              </a:spcAft>
              <a:buClr>
                <a:srgbClr val="0000FF"/>
              </a:buClr>
              <a:buSzPts val="2200"/>
              <a:buChar char="•"/>
            </a:pPr>
            <a:r>
              <a:rPr b="1" i="1" lang="ru-RU" sz="2200">
                <a:solidFill>
                  <a:srgbClr val="0000FF"/>
                </a:solidFill>
              </a:rPr>
              <a:t>Мерой близости </a:t>
            </a:r>
            <a:r>
              <a:rPr lang="ru-RU" sz="2200"/>
              <a:t>называется величина, имеющая предел и возрастающая с увеличением близости объектов. Меры сходства "изобретаются" по специальным правилам, а выбор конкретных мер зависит от задачи, а также от шкалы измерений. </a:t>
            </a:r>
            <a:endParaRPr/>
          </a:p>
          <a:p>
            <a:pPr indent="-356307" lvl="0" marL="356307" rtl="0" algn="l">
              <a:spcBef>
                <a:spcPts val="440"/>
              </a:spcBef>
              <a:spcAft>
                <a:spcPts val="0"/>
              </a:spcAft>
              <a:buClr>
                <a:schemeClr val="dk1"/>
              </a:buClr>
              <a:buSzPts val="2200"/>
              <a:buChar char="•"/>
            </a:pPr>
            <a:r>
              <a:rPr lang="ru-RU" sz="2200"/>
              <a:t>В качестве меры близости для числовых атрибутов очень часто используется </a:t>
            </a:r>
            <a:r>
              <a:rPr b="1" i="1" lang="ru-RU" sz="2200">
                <a:solidFill>
                  <a:srgbClr val="0000FF"/>
                </a:solidFill>
              </a:rPr>
              <a:t>евклидово расстояние </a:t>
            </a:r>
            <a:r>
              <a:rPr b="1" i="1" lang="ru-RU" sz="2200"/>
              <a:t>(либо его квадрат)</a:t>
            </a:r>
            <a:r>
              <a:rPr lang="ru-RU" sz="2200"/>
              <a:t>, которое представляет собой геометрическое расстояние в многомерном пространстве:</a:t>
            </a:r>
            <a:endParaRPr/>
          </a:p>
          <a:p>
            <a:pPr indent="-216607" lvl="0" marL="356307" rtl="0" algn="l">
              <a:spcBef>
                <a:spcPts val="440"/>
              </a:spcBef>
              <a:spcAft>
                <a:spcPts val="0"/>
              </a:spcAft>
              <a:buClr>
                <a:schemeClr val="dk1"/>
              </a:buClr>
              <a:buSzPts val="2200"/>
              <a:buNone/>
            </a:pPr>
            <a:r>
              <a:t/>
            </a:r>
            <a:endParaRPr sz="2200"/>
          </a:p>
          <a:p>
            <a:pPr indent="-216607" lvl="0" marL="356307" rtl="0" algn="l">
              <a:spcBef>
                <a:spcPts val="440"/>
              </a:spcBef>
              <a:spcAft>
                <a:spcPts val="0"/>
              </a:spcAft>
              <a:buClr>
                <a:schemeClr val="dk1"/>
              </a:buClr>
              <a:buSzPts val="2200"/>
              <a:buNone/>
            </a:pPr>
            <a:r>
              <a:t/>
            </a:r>
            <a:endParaRPr sz="2200"/>
          </a:p>
          <a:p>
            <a:pPr indent="-356307" lvl="0" marL="356307" rtl="0" algn="l">
              <a:spcBef>
                <a:spcPts val="440"/>
              </a:spcBef>
              <a:spcAft>
                <a:spcPts val="0"/>
              </a:spcAft>
              <a:buClr>
                <a:schemeClr val="dk1"/>
              </a:buClr>
              <a:buSzPts val="2200"/>
              <a:buChar char="•"/>
            </a:pPr>
            <a:r>
              <a:rPr lang="ru-RU" sz="2200"/>
              <a:t>Также используется </a:t>
            </a:r>
            <a:r>
              <a:rPr b="1" i="1" lang="ru-RU" sz="2200">
                <a:solidFill>
                  <a:srgbClr val="0000FF"/>
                </a:solidFill>
              </a:rPr>
              <a:t>Расстояние городских кварталов (манхэттенское расстояние), расстояние Чебышева, степенное расстояние.</a:t>
            </a:r>
            <a:endParaRPr b="1" i="1" sz="2200">
              <a:solidFill>
                <a:srgbClr val="0000FF"/>
              </a:solidFill>
            </a:endParaRPr>
          </a:p>
        </p:txBody>
      </p:sp>
      <p:pic>
        <p:nvPicPr>
          <p:cNvPr descr="Евклидово расстояние" id="437" name="Google Shape;437;p34"/>
          <p:cNvPicPr preferRelativeResize="0"/>
          <p:nvPr/>
        </p:nvPicPr>
        <p:blipFill rotWithShape="1">
          <a:blip r:embed="rId3">
            <a:alphaModFix/>
          </a:blip>
          <a:srcRect b="0" l="0" r="0" t="0"/>
          <a:stretch/>
        </p:blipFill>
        <p:spPr>
          <a:xfrm>
            <a:off x="3770585" y="4998547"/>
            <a:ext cx="2987506" cy="696879"/>
          </a:xfrm>
          <a:prstGeom prst="rect">
            <a:avLst/>
          </a:prstGeom>
          <a:solidFill>
            <a:schemeClr val="lt1"/>
          </a:solidFill>
          <a:ln>
            <a:noFill/>
          </a:ln>
        </p:spPr>
      </p:pic>
      <p:sp>
        <p:nvSpPr>
          <p:cNvPr id="438" name="Google Shape;438;p3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
        <p:nvSpPr>
          <p:cNvPr id="439" name="Google Shape;439;p34"/>
          <p:cNvSpPr txBox="1"/>
          <p:nvPr/>
        </p:nvSpPr>
        <p:spPr>
          <a:xfrm>
            <a:off x="517933" y="839520"/>
            <a:ext cx="5700924" cy="5201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00FF"/>
              </a:buClr>
              <a:buSzPts val="2400"/>
              <a:buFont typeface="Arial"/>
              <a:buNone/>
            </a:pPr>
            <a:r>
              <a:rPr b="1" i="1" lang="ru-RU" sz="2400" u="none" cap="none" strike="noStrike">
                <a:solidFill>
                  <a:srgbClr val="0000FF"/>
                </a:solidFill>
                <a:latin typeface="Calibri"/>
                <a:ea typeface="Calibri"/>
                <a:cs typeface="Calibri"/>
                <a:sym typeface="Calibri"/>
              </a:rPr>
              <a:t>Меры близости (метрики)</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5"/>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45" name="Google Shape;445;p35"/>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46" name="Google Shape;446;p35"/>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47" name="Google Shape;447;p35"/>
          <p:cNvSpPr txBox="1"/>
          <p:nvPr>
            <p:ph type="title"/>
          </p:nvPr>
        </p:nvSpPr>
        <p:spPr>
          <a:xfrm>
            <a:off x="706438" y="258763"/>
            <a:ext cx="8864600" cy="72436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98425"/>
              <a:buFont typeface="Calibri"/>
              <a:buNone/>
            </a:pPr>
            <a:r>
              <a:rPr lang="ru-RU"/>
              <a:t>Кластеризация</a:t>
            </a:r>
            <a:endParaRPr/>
          </a:p>
        </p:txBody>
      </p:sp>
      <p:sp>
        <p:nvSpPr>
          <p:cNvPr id="448" name="Google Shape;448;p35"/>
          <p:cNvSpPr txBox="1"/>
          <p:nvPr>
            <p:ph idx="1" type="body"/>
          </p:nvPr>
        </p:nvSpPr>
        <p:spPr>
          <a:xfrm>
            <a:off x="520226" y="990967"/>
            <a:ext cx="8722199" cy="52014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00FF"/>
              </a:buClr>
              <a:buSzPts val="2400"/>
              <a:buNone/>
            </a:pPr>
            <a:r>
              <a:rPr b="1" i="1" lang="ru-RU" sz="2400">
                <a:solidFill>
                  <a:srgbClr val="0000FF"/>
                </a:solidFill>
              </a:rPr>
              <a:t>Меры близости (метрики)</a:t>
            </a:r>
            <a:endParaRPr/>
          </a:p>
        </p:txBody>
      </p:sp>
      <p:sp>
        <p:nvSpPr>
          <p:cNvPr id="449" name="Google Shape;449;p3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pic>
        <p:nvPicPr>
          <p:cNvPr id="450" name="Google Shape;450;p35"/>
          <p:cNvPicPr preferRelativeResize="0"/>
          <p:nvPr/>
        </p:nvPicPr>
        <p:blipFill rotWithShape="1">
          <a:blip r:embed="rId3">
            <a:alphaModFix/>
          </a:blip>
          <a:srcRect b="0" l="0" r="0" t="0"/>
          <a:stretch/>
        </p:blipFill>
        <p:spPr>
          <a:xfrm>
            <a:off x="1073060" y="2122984"/>
            <a:ext cx="8131354" cy="406567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6"/>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56" name="Google Shape;456;p36"/>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57" name="Google Shape;457;p36"/>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58" name="Google Shape;458;p36"/>
          <p:cNvSpPr txBox="1"/>
          <p:nvPr>
            <p:ph type="title"/>
          </p:nvPr>
        </p:nvSpPr>
        <p:spPr>
          <a:xfrm>
            <a:off x="706438" y="258763"/>
            <a:ext cx="8864600" cy="72436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98425"/>
              <a:buFont typeface="Calibri"/>
              <a:buNone/>
            </a:pPr>
            <a:r>
              <a:rPr lang="ru-RU"/>
              <a:t>Кластеризация</a:t>
            </a:r>
            <a:endParaRPr/>
          </a:p>
        </p:txBody>
      </p:sp>
      <p:sp>
        <p:nvSpPr>
          <p:cNvPr id="459" name="Google Shape;459;p3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pic>
        <p:nvPicPr>
          <p:cNvPr id="460" name="Google Shape;460;p36"/>
          <p:cNvPicPr preferRelativeResize="0"/>
          <p:nvPr/>
        </p:nvPicPr>
        <p:blipFill rotWithShape="1">
          <a:blip r:embed="rId3">
            <a:alphaModFix/>
          </a:blip>
          <a:srcRect b="0" l="0" r="0" t="0"/>
          <a:stretch/>
        </p:blipFill>
        <p:spPr>
          <a:xfrm>
            <a:off x="916925" y="1788867"/>
            <a:ext cx="7678196" cy="4369797"/>
          </a:xfrm>
          <a:prstGeom prst="rect">
            <a:avLst/>
          </a:prstGeom>
          <a:noFill/>
          <a:ln>
            <a:noFill/>
          </a:ln>
        </p:spPr>
      </p:pic>
      <p:sp>
        <p:nvSpPr>
          <p:cNvPr id="461" name="Google Shape;461;p36"/>
          <p:cNvSpPr txBox="1"/>
          <p:nvPr/>
        </p:nvSpPr>
        <p:spPr>
          <a:xfrm>
            <a:off x="520226" y="990967"/>
            <a:ext cx="8722199" cy="5201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00FF"/>
              </a:buClr>
              <a:buSzPts val="2400"/>
              <a:buFont typeface="Arial"/>
              <a:buNone/>
            </a:pPr>
            <a:r>
              <a:rPr b="1" i="1" lang="ru-RU" sz="2400" u="none" cap="none" strike="noStrike">
                <a:solidFill>
                  <a:srgbClr val="0000FF"/>
                </a:solidFill>
                <a:latin typeface="Calibri"/>
                <a:ea typeface="Calibri"/>
                <a:cs typeface="Calibri"/>
                <a:sym typeface="Calibri"/>
              </a:rPr>
              <a:t>Меры близости (метрики)</a:t>
            </a:r>
            <a:endParaRPr b="1" i="1" sz="2400" u="none" cap="none" strike="noStrike">
              <a:solidFill>
                <a:srgbClr val="0000F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7"/>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67" name="Google Shape;467;p37"/>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68" name="Google Shape;468;p37"/>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69" name="Google Shape;469;p37"/>
          <p:cNvSpPr txBox="1"/>
          <p:nvPr>
            <p:ph type="title"/>
          </p:nvPr>
        </p:nvSpPr>
        <p:spPr>
          <a:xfrm>
            <a:off x="706438" y="258763"/>
            <a:ext cx="8864600" cy="72436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98425"/>
              <a:buFont typeface="Calibri"/>
              <a:buNone/>
            </a:pPr>
            <a:r>
              <a:rPr lang="ru-RU"/>
              <a:t>Кластеризация</a:t>
            </a:r>
            <a:endParaRPr/>
          </a:p>
        </p:txBody>
      </p:sp>
      <p:sp>
        <p:nvSpPr>
          <p:cNvPr id="470" name="Google Shape;470;p3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pic>
        <p:nvPicPr>
          <p:cNvPr id="471" name="Google Shape;471;p37"/>
          <p:cNvPicPr preferRelativeResize="0"/>
          <p:nvPr/>
        </p:nvPicPr>
        <p:blipFill rotWithShape="1">
          <a:blip r:embed="rId3">
            <a:alphaModFix/>
          </a:blip>
          <a:srcRect b="0" l="0" r="0" t="0"/>
          <a:stretch/>
        </p:blipFill>
        <p:spPr>
          <a:xfrm>
            <a:off x="818257" y="1747328"/>
            <a:ext cx="7996832" cy="4455025"/>
          </a:xfrm>
          <a:prstGeom prst="rect">
            <a:avLst/>
          </a:prstGeom>
          <a:noFill/>
          <a:ln>
            <a:noFill/>
          </a:ln>
        </p:spPr>
      </p:pic>
      <p:sp>
        <p:nvSpPr>
          <p:cNvPr id="472" name="Google Shape;472;p37"/>
          <p:cNvSpPr txBox="1"/>
          <p:nvPr/>
        </p:nvSpPr>
        <p:spPr>
          <a:xfrm>
            <a:off x="520226" y="990967"/>
            <a:ext cx="8722199" cy="52014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00FF"/>
              </a:buClr>
              <a:buSzPts val="2400"/>
              <a:buFont typeface="Arial"/>
              <a:buNone/>
            </a:pPr>
            <a:r>
              <a:rPr b="1" i="1" lang="ru-RU" sz="2400" u="none" cap="none" strike="noStrike">
                <a:solidFill>
                  <a:srgbClr val="0000FF"/>
                </a:solidFill>
                <a:latin typeface="Calibri"/>
                <a:ea typeface="Calibri"/>
                <a:cs typeface="Calibri"/>
                <a:sym typeface="Calibri"/>
              </a:rPr>
              <a:t>Меры близости (метрики)</a:t>
            </a:r>
            <a:endParaRPr b="1" i="1" sz="2400" u="none" cap="none" strike="noStrike">
              <a:solidFill>
                <a:srgbClr val="0000FF"/>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8"/>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78" name="Google Shape;478;p38"/>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79" name="Google Shape;479;p38"/>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80" name="Google Shape;480;p38"/>
          <p:cNvSpPr txBox="1"/>
          <p:nvPr>
            <p:ph type="title"/>
          </p:nvPr>
        </p:nvSpPr>
        <p:spPr>
          <a:xfrm>
            <a:off x="706438" y="258763"/>
            <a:ext cx="8864600" cy="60371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98425"/>
              <a:buFont typeface="Calibri"/>
              <a:buNone/>
            </a:pPr>
            <a:r>
              <a:rPr lang="ru-RU"/>
              <a:t>Кластеризация</a:t>
            </a:r>
            <a:endParaRPr/>
          </a:p>
        </p:txBody>
      </p:sp>
      <p:sp>
        <p:nvSpPr>
          <p:cNvPr id="481" name="Google Shape;481;p38"/>
          <p:cNvSpPr/>
          <p:nvPr/>
        </p:nvSpPr>
        <p:spPr>
          <a:xfrm>
            <a:off x="725686" y="1987582"/>
            <a:ext cx="8835277" cy="4053417"/>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F4BE96"/>
              </a:buClr>
              <a:buSzPts val="1760"/>
              <a:buFont typeface="Quattrocento Sans"/>
              <a:buNone/>
            </a:pPr>
            <a:r>
              <a:rPr b="0" i="0" lang="ru-RU" sz="2200" u="none" cap="none" strike="noStrike">
                <a:solidFill>
                  <a:schemeClr val="dk1"/>
                </a:solidFill>
                <a:latin typeface="Times New Roman"/>
                <a:ea typeface="Times New Roman"/>
                <a:cs typeface="Times New Roman"/>
                <a:sym typeface="Times New Roman"/>
              </a:rPr>
              <a:t>1. Для вычисления степени сходства объектов.</a:t>
            </a:r>
            <a:endParaRPr/>
          </a:p>
          <a:p>
            <a:pPr indent="0" lvl="0" marL="0" marR="0" rtl="0" algn="l">
              <a:lnSpc>
                <a:spcPct val="85000"/>
              </a:lnSpc>
              <a:spcBef>
                <a:spcPts val="550"/>
              </a:spcBef>
              <a:spcAft>
                <a:spcPts val="0"/>
              </a:spcAft>
              <a:buClr>
                <a:srgbClr val="F4BE96"/>
              </a:buClr>
              <a:buSzPts val="1760"/>
              <a:buFont typeface="Quattrocento Sans"/>
              <a:buNone/>
            </a:pPr>
            <a:r>
              <a:rPr b="0" i="0" lang="ru-RU" sz="2200" u="none" cap="none" strike="noStrike">
                <a:solidFill>
                  <a:schemeClr val="dk1"/>
                </a:solidFill>
                <a:latin typeface="Times New Roman"/>
                <a:ea typeface="Times New Roman"/>
                <a:cs typeface="Times New Roman"/>
                <a:sym typeface="Times New Roman"/>
              </a:rPr>
              <a:t>Например: содержание каких веб-страниц близко друг к другу, какие пользователи соцсети близки друг к другу по интересам…</a:t>
            </a:r>
            <a:endParaRPr/>
          </a:p>
          <a:p>
            <a:pPr indent="0" lvl="0" marL="0" marR="0" rtl="0" algn="l">
              <a:lnSpc>
                <a:spcPct val="85000"/>
              </a:lnSpc>
              <a:spcBef>
                <a:spcPts val="550"/>
              </a:spcBef>
              <a:spcAft>
                <a:spcPts val="0"/>
              </a:spcAft>
              <a:buClr>
                <a:srgbClr val="F4BE96"/>
              </a:buClr>
              <a:buSzPts val="1760"/>
              <a:buFont typeface="Quattrocento Sans"/>
              <a:buNone/>
            </a:pPr>
            <a:r>
              <a:rPr b="0" i="0" lang="ru-RU" sz="2200" u="none" cap="none" strike="noStrike">
                <a:solidFill>
                  <a:schemeClr val="dk1"/>
                </a:solidFill>
                <a:latin typeface="Times New Roman"/>
                <a:ea typeface="Times New Roman"/>
                <a:cs typeface="Times New Roman"/>
                <a:sym typeface="Times New Roman"/>
              </a:rPr>
              <a:t>2. Упростить дальнейшую обработку данных, разбить множество </a:t>
            </a:r>
            <a:r>
              <a:rPr b="1" i="1" lang="ru-RU" sz="2200" u="none" cap="none" strike="noStrike">
                <a:solidFill>
                  <a:schemeClr val="dk1"/>
                </a:solidFill>
                <a:latin typeface="Times New Roman"/>
                <a:ea typeface="Times New Roman"/>
                <a:cs typeface="Times New Roman"/>
                <a:sym typeface="Times New Roman"/>
              </a:rPr>
              <a:t>М</a:t>
            </a:r>
            <a:r>
              <a:rPr b="0" i="0" lang="ru-RU" sz="2200" u="none" cap="none" strike="noStrike">
                <a:solidFill>
                  <a:schemeClr val="dk1"/>
                </a:solidFill>
                <a:latin typeface="Times New Roman"/>
                <a:ea typeface="Times New Roman"/>
                <a:cs typeface="Times New Roman"/>
                <a:sym typeface="Times New Roman"/>
              </a:rPr>
              <a:t> на группы схожих объектов чтобы работать с каждой группой в отдельности.</a:t>
            </a:r>
            <a:endParaRPr/>
          </a:p>
          <a:p>
            <a:pPr indent="0" lvl="0" marL="0" marR="0" rtl="0" algn="l">
              <a:lnSpc>
                <a:spcPct val="85000"/>
              </a:lnSpc>
              <a:spcBef>
                <a:spcPts val="550"/>
              </a:spcBef>
              <a:spcAft>
                <a:spcPts val="0"/>
              </a:spcAft>
              <a:buClr>
                <a:srgbClr val="F4BE96"/>
              </a:buClr>
              <a:buSzPts val="1760"/>
              <a:buFont typeface="Quattrocento Sans"/>
              <a:buNone/>
            </a:pPr>
            <a:r>
              <a:rPr b="0" i="0" lang="ru-RU" sz="2200" u="none" cap="none" strike="noStrike">
                <a:solidFill>
                  <a:schemeClr val="dk1"/>
                </a:solidFill>
                <a:latin typeface="Times New Roman"/>
                <a:ea typeface="Times New Roman"/>
                <a:cs typeface="Times New Roman"/>
                <a:sym typeface="Times New Roman"/>
              </a:rPr>
              <a:t>3. Сократить объём хранимых данных, оставив по одному представителю (эталону) от каждого кластера (задачи сжатия данных).</a:t>
            </a:r>
            <a:endParaRPr/>
          </a:p>
          <a:p>
            <a:pPr indent="0" lvl="0" marL="0" marR="0" rtl="0" algn="l">
              <a:lnSpc>
                <a:spcPct val="85000"/>
              </a:lnSpc>
              <a:spcBef>
                <a:spcPts val="550"/>
              </a:spcBef>
              <a:spcAft>
                <a:spcPts val="0"/>
              </a:spcAft>
              <a:buClr>
                <a:srgbClr val="F4BE96"/>
              </a:buClr>
              <a:buSzPts val="1760"/>
              <a:buFont typeface="Quattrocento Sans"/>
              <a:buNone/>
            </a:pPr>
            <a:r>
              <a:rPr b="0" i="0" lang="ru-RU" sz="2200" u="none" cap="none" strike="noStrike">
                <a:solidFill>
                  <a:schemeClr val="dk1"/>
                </a:solidFill>
                <a:latin typeface="Times New Roman"/>
                <a:ea typeface="Times New Roman"/>
                <a:cs typeface="Times New Roman"/>
                <a:sym typeface="Times New Roman"/>
              </a:rPr>
              <a:t>4. Обнаружение новизны. Выделяются нетипичные объекты, которые не удаётся присоединить ни к одному из кластеров. (Поиск выбросов).</a:t>
            </a:r>
            <a:endParaRPr/>
          </a:p>
          <a:p>
            <a:pPr indent="0" lvl="0" marL="0" marR="0" rtl="0" algn="l">
              <a:lnSpc>
                <a:spcPct val="85000"/>
              </a:lnSpc>
              <a:spcBef>
                <a:spcPts val="550"/>
              </a:spcBef>
              <a:spcAft>
                <a:spcPts val="0"/>
              </a:spcAft>
              <a:buClr>
                <a:srgbClr val="F4BE96"/>
              </a:buClr>
              <a:buSzPts val="1760"/>
              <a:buFont typeface="Quattrocento Sans"/>
              <a:buNone/>
            </a:pPr>
            <a:r>
              <a:rPr b="0" i="0" lang="ru-RU" sz="2200" u="none" cap="none" strike="noStrike">
                <a:solidFill>
                  <a:schemeClr val="dk1"/>
                </a:solidFill>
                <a:latin typeface="Times New Roman"/>
                <a:ea typeface="Times New Roman"/>
                <a:cs typeface="Times New Roman"/>
                <a:sym typeface="Times New Roman"/>
              </a:rPr>
              <a:t>5. Разбить признаки на кластеры и оставить по одному признаку из каждого кластера (отбор признаков).</a:t>
            </a:r>
            <a:endParaRPr/>
          </a:p>
        </p:txBody>
      </p:sp>
      <p:sp>
        <p:nvSpPr>
          <p:cNvPr id="482" name="Google Shape;482;p38"/>
          <p:cNvSpPr/>
          <p:nvPr/>
        </p:nvSpPr>
        <p:spPr>
          <a:xfrm>
            <a:off x="1990396" y="912145"/>
            <a:ext cx="7936242" cy="47288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b="0" i="0" lang="ru-RU" sz="2909" u="none" cap="none" strike="noStrike">
                <a:solidFill>
                  <a:schemeClr val="dk2"/>
                </a:solidFill>
                <a:latin typeface="Quattrocento Sans"/>
                <a:ea typeface="Quattrocento Sans"/>
                <a:cs typeface="Quattrocento Sans"/>
                <a:sym typeface="Quattrocento Sans"/>
              </a:rPr>
              <a:t>Для чего нужна кластеризация?</a:t>
            </a:r>
            <a:endParaRPr b="0" i="0" sz="2909" u="none" cap="none" strike="noStrike">
              <a:solidFill>
                <a:schemeClr val="dk2"/>
              </a:solidFill>
              <a:latin typeface="Quattrocento Sans"/>
              <a:ea typeface="Quattrocento Sans"/>
              <a:cs typeface="Quattrocento Sans"/>
              <a:sym typeface="Quattrocento Sans"/>
            </a:endParaRPr>
          </a:p>
        </p:txBody>
      </p:sp>
      <p:sp>
        <p:nvSpPr>
          <p:cNvPr id="483" name="Google Shape;483;p3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9"/>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89" name="Google Shape;489;p39"/>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90" name="Google Shape;490;p39"/>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491" name="Google Shape;491;p39"/>
          <p:cNvSpPr txBox="1"/>
          <p:nvPr>
            <p:ph type="title"/>
          </p:nvPr>
        </p:nvSpPr>
        <p:spPr>
          <a:xfrm>
            <a:off x="706438" y="258763"/>
            <a:ext cx="8864600" cy="60371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98425"/>
              <a:buFont typeface="Calibri"/>
              <a:buNone/>
            </a:pPr>
            <a:r>
              <a:rPr lang="ru-RU"/>
              <a:t>Кластеризация</a:t>
            </a:r>
            <a:endParaRPr/>
          </a:p>
        </p:txBody>
      </p:sp>
      <p:sp>
        <p:nvSpPr>
          <p:cNvPr id="492" name="Google Shape;492;p39"/>
          <p:cNvSpPr/>
          <p:nvPr/>
        </p:nvSpPr>
        <p:spPr>
          <a:xfrm>
            <a:off x="674579" y="2175120"/>
            <a:ext cx="8835277" cy="3642728"/>
          </a:xfrm>
          <a:prstGeom prst="rect">
            <a:avLst/>
          </a:prstGeom>
          <a:noFill/>
          <a:ln>
            <a:noFill/>
          </a:ln>
        </p:spPr>
        <p:txBody>
          <a:bodyPr anchorCtr="0" anchor="t" bIns="45700" lIns="91425" spcFirstLastPara="1" rIns="91425" wrap="square" tIns="45700">
            <a:spAutoFit/>
          </a:bodyPr>
          <a:lstStyle/>
          <a:p>
            <a:pPr indent="-533400" lvl="0" marL="533400" marR="0" rtl="0" algn="l">
              <a:lnSpc>
                <a:spcPct val="85000"/>
              </a:lnSpc>
              <a:spcBef>
                <a:spcPts val="0"/>
              </a:spcBef>
              <a:spcAft>
                <a:spcPts val="0"/>
              </a:spcAft>
              <a:buClr>
                <a:srgbClr val="F4BE96"/>
              </a:buClr>
              <a:buSzPts val="1995"/>
              <a:buFont typeface="Quattrocento Sans"/>
              <a:buChar char="•"/>
            </a:pPr>
            <a:r>
              <a:rPr b="0" i="0" lang="ru-RU" sz="2494" u="none" cap="none" strike="noStrike">
                <a:solidFill>
                  <a:schemeClr val="dk1"/>
                </a:solidFill>
                <a:latin typeface="Times New Roman"/>
                <a:ea typeface="Times New Roman"/>
                <a:cs typeface="Times New Roman"/>
                <a:sym typeface="Times New Roman"/>
              </a:rPr>
              <a:t>Минимально возможное количество проходов по базе данных; </a:t>
            </a:r>
            <a:endParaRPr/>
          </a:p>
          <a:p>
            <a:pPr indent="-533400" lvl="0" marL="533400" marR="0" rtl="0" algn="l">
              <a:lnSpc>
                <a:spcPct val="85000"/>
              </a:lnSpc>
              <a:spcBef>
                <a:spcPts val="624"/>
              </a:spcBef>
              <a:spcAft>
                <a:spcPts val="0"/>
              </a:spcAft>
              <a:buClr>
                <a:srgbClr val="F4BE96"/>
              </a:buClr>
              <a:buSzPts val="1995"/>
              <a:buFont typeface="Quattrocento Sans"/>
              <a:buChar char="•"/>
            </a:pPr>
            <a:r>
              <a:rPr b="0" i="0" lang="ru-RU" sz="2494" u="none" cap="none" strike="noStrike">
                <a:solidFill>
                  <a:schemeClr val="dk1"/>
                </a:solidFill>
                <a:latin typeface="Times New Roman"/>
                <a:ea typeface="Times New Roman"/>
                <a:cs typeface="Times New Roman"/>
                <a:sym typeface="Times New Roman"/>
              </a:rPr>
              <a:t>Работа в ограниченном объеме оперативной памяти компьютера; </a:t>
            </a:r>
            <a:endParaRPr/>
          </a:p>
          <a:p>
            <a:pPr indent="-533400" lvl="0" marL="533400" marR="0" rtl="0" algn="l">
              <a:lnSpc>
                <a:spcPct val="85000"/>
              </a:lnSpc>
              <a:spcBef>
                <a:spcPts val="624"/>
              </a:spcBef>
              <a:spcAft>
                <a:spcPts val="0"/>
              </a:spcAft>
              <a:buClr>
                <a:srgbClr val="F4BE96"/>
              </a:buClr>
              <a:buSzPts val="1995"/>
              <a:buFont typeface="Quattrocento Sans"/>
              <a:buChar char="•"/>
            </a:pPr>
            <a:r>
              <a:rPr b="0" i="0" lang="ru-RU" sz="2494" u="none" cap="none" strike="noStrike">
                <a:solidFill>
                  <a:schemeClr val="dk1"/>
                </a:solidFill>
                <a:latin typeface="Times New Roman"/>
                <a:ea typeface="Times New Roman"/>
                <a:cs typeface="Times New Roman"/>
                <a:sym typeface="Times New Roman"/>
              </a:rPr>
              <a:t>Работу алгоритма можно прервать с сохранением промежуточных результатов, чтобы продолжить вычисления позже; </a:t>
            </a:r>
            <a:endParaRPr/>
          </a:p>
          <a:p>
            <a:pPr indent="-533400" lvl="0" marL="533400" marR="0" rtl="0" algn="l">
              <a:lnSpc>
                <a:spcPct val="85000"/>
              </a:lnSpc>
              <a:spcBef>
                <a:spcPts val="624"/>
              </a:spcBef>
              <a:spcAft>
                <a:spcPts val="0"/>
              </a:spcAft>
              <a:buClr>
                <a:srgbClr val="F4BE96"/>
              </a:buClr>
              <a:buSzPts val="1995"/>
              <a:buFont typeface="Quattrocento Sans"/>
              <a:buChar char="•"/>
            </a:pPr>
            <a:r>
              <a:rPr b="0" i="0" lang="ru-RU" sz="2494" u="none" cap="none" strike="noStrike">
                <a:solidFill>
                  <a:schemeClr val="dk1"/>
                </a:solidFill>
                <a:latin typeface="Times New Roman"/>
                <a:ea typeface="Times New Roman"/>
                <a:cs typeface="Times New Roman"/>
                <a:sym typeface="Times New Roman"/>
              </a:rPr>
              <a:t>Алгоритм должен работать, пока извлекаются объекты из базы данных только в режиме однонаправленного курсора (т.е. в режиме навигации по записям).</a:t>
            </a:r>
            <a:endParaRPr/>
          </a:p>
        </p:txBody>
      </p:sp>
      <p:sp>
        <p:nvSpPr>
          <p:cNvPr id="493" name="Google Shape;493;p39"/>
          <p:cNvSpPr/>
          <p:nvPr/>
        </p:nvSpPr>
        <p:spPr>
          <a:xfrm>
            <a:off x="969858" y="1368465"/>
            <a:ext cx="7936242" cy="491385"/>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b="0" i="0" lang="ru-RU" sz="2909" u="none" cap="none" strike="noStrike">
                <a:solidFill>
                  <a:schemeClr val="dk2"/>
                </a:solidFill>
                <a:latin typeface="Quattrocento Sans"/>
                <a:ea typeface="Quattrocento Sans"/>
                <a:cs typeface="Quattrocento Sans"/>
                <a:sym typeface="Quattrocento Sans"/>
              </a:rPr>
              <a:t>Требования к алгоритмам кластеризации:</a:t>
            </a:r>
            <a:endParaRPr b="0" i="0" sz="2909" u="none" cap="none" strike="noStrike">
              <a:solidFill>
                <a:schemeClr val="dk2"/>
              </a:solidFill>
              <a:latin typeface="Quattrocento Sans"/>
              <a:ea typeface="Quattrocento Sans"/>
              <a:cs typeface="Quattrocento Sans"/>
              <a:sym typeface="Quattrocento Sans"/>
            </a:endParaRPr>
          </a:p>
        </p:txBody>
      </p:sp>
      <p:sp>
        <p:nvSpPr>
          <p:cNvPr id="494" name="Google Shape;494;p3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0"/>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500" name="Google Shape;500;p40"/>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501" name="Google Shape;501;p40"/>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502" name="Google Shape;502;p40"/>
          <p:cNvSpPr txBox="1"/>
          <p:nvPr>
            <p:ph type="title"/>
          </p:nvPr>
        </p:nvSpPr>
        <p:spPr>
          <a:xfrm>
            <a:off x="2042008" y="243853"/>
            <a:ext cx="6336705" cy="60371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000"/>
              <a:t>Кластеризация</a:t>
            </a:r>
            <a:endParaRPr sz="4000"/>
          </a:p>
        </p:txBody>
      </p:sp>
      <p:sp>
        <p:nvSpPr>
          <p:cNvPr id="503" name="Google Shape;503;p40"/>
          <p:cNvSpPr/>
          <p:nvPr/>
        </p:nvSpPr>
        <p:spPr>
          <a:xfrm>
            <a:off x="387350" y="1638622"/>
            <a:ext cx="9431338" cy="5049524"/>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b="0" i="1" lang="ru-RU" sz="2400" u="none" cap="none" strike="noStrike">
                <a:solidFill>
                  <a:srgbClr val="0000FF"/>
                </a:solidFill>
                <a:latin typeface="Quattrocento Sans"/>
                <a:ea typeface="Quattrocento Sans"/>
                <a:cs typeface="Quattrocento Sans"/>
                <a:sym typeface="Quattrocento Sans"/>
              </a:rPr>
              <a:t>I. Иерархические и плоские </a:t>
            </a:r>
            <a:r>
              <a:rPr b="0" i="1" lang="ru-RU" sz="2078" u="none" cap="none" strike="noStrike">
                <a:solidFill>
                  <a:srgbClr val="0000FF"/>
                </a:solidFill>
                <a:latin typeface="Quattrocento Sans"/>
                <a:ea typeface="Quattrocento Sans"/>
                <a:cs typeface="Quattrocento Sans"/>
                <a:sym typeface="Quattrocento Sans"/>
              </a:rPr>
              <a:t>– по способу организации</a:t>
            </a:r>
            <a:endParaRPr b="0" i="0" sz="2078" u="none" cap="none" strike="noStrike">
              <a:solidFill>
                <a:srgbClr val="0000FF"/>
              </a:solidFill>
              <a:latin typeface="Quattrocento Sans"/>
              <a:ea typeface="Quattrocento Sans"/>
              <a:cs typeface="Quattrocento Sans"/>
              <a:sym typeface="Quattrocento Sans"/>
            </a:endParaRPr>
          </a:p>
          <a:p>
            <a:pPr indent="-377752" lvl="1" marL="844580" marR="0" rtl="0" algn="l">
              <a:lnSpc>
                <a:spcPct val="85000"/>
              </a:lnSpc>
              <a:spcBef>
                <a:spcPts val="0"/>
              </a:spcBef>
              <a:spcAft>
                <a:spcPts val="0"/>
              </a:spcAft>
              <a:buClr>
                <a:srgbClr val="F4BE96"/>
              </a:buClr>
              <a:buSzPts val="1662"/>
              <a:buFont typeface="Quattrocento Sans"/>
              <a:buChar char="•"/>
            </a:pPr>
            <a:r>
              <a:rPr b="0" i="1" lang="ru-RU" sz="2078" u="none" cap="none" strike="noStrike">
                <a:solidFill>
                  <a:schemeClr val="dk1"/>
                </a:solidFill>
                <a:latin typeface="Quattrocento Sans"/>
                <a:ea typeface="Quattrocento Sans"/>
                <a:cs typeface="Quattrocento Sans"/>
                <a:sym typeface="Quattrocento Sans"/>
              </a:rPr>
              <a:t>Иерархические</a:t>
            </a:r>
            <a:r>
              <a:rPr b="0" i="0" lang="ru-RU" sz="2078" u="none" cap="none" strike="noStrike">
                <a:solidFill>
                  <a:schemeClr val="dk1"/>
                </a:solidFill>
                <a:latin typeface="Quattrocento Sans"/>
                <a:ea typeface="Quattrocento Sans"/>
                <a:cs typeface="Quattrocento Sans"/>
                <a:sym typeface="Quattrocento Sans"/>
              </a:rPr>
              <a:t> алгоритмы (также называемые алгоритмами таксономии) строят не одно разбиение выборки на непересекающиеся кластеры, а </a:t>
            </a:r>
            <a:r>
              <a:rPr b="1" i="1" lang="ru-RU" sz="2078" u="none" cap="none" strike="noStrike">
                <a:solidFill>
                  <a:schemeClr val="dk1"/>
                </a:solidFill>
                <a:latin typeface="Quattrocento Sans"/>
                <a:ea typeface="Quattrocento Sans"/>
                <a:cs typeface="Quattrocento Sans"/>
                <a:sym typeface="Quattrocento Sans"/>
              </a:rPr>
              <a:t>систему вложенных разбиений</a:t>
            </a:r>
            <a:r>
              <a:rPr b="0" i="0" lang="ru-RU" sz="2078" u="none" cap="none" strike="noStrike">
                <a:solidFill>
                  <a:schemeClr val="dk1"/>
                </a:solidFill>
                <a:latin typeface="Quattrocento Sans"/>
                <a:ea typeface="Quattrocento Sans"/>
                <a:cs typeface="Quattrocento Sans"/>
                <a:sym typeface="Quattrocento Sans"/>
              </a:rPr>
              <a:t>. Т.о. на выходе мы получаем дерево кластеров, корнем которого является вся выборка, а листьями — наиболее мелкие кластера.</a:t>
            </a:r>
            <a:endParaRPr/>
          </a:p>
          <a:p>
            <a:pPr indent="-377752" lvl="1" marL="844580" marR="0" rtl="0" algn="l">
              <a:lnSpc>
                <a:spcPct val="85000"/>
              </a:lnSpc>
              <a:spcBef>
                <a:spcPts val="0"/>
              </a:spcBef>
              <a:spcAft>
                <a:spcPts val="0"/>
              </a:spcAft>
              <a:buClr>
                <a:srgbClr val="F4BE96"/>
              </a:buClr>
              <a:buSzPts val="1662"/>
              <a:buFont typeface="Quattrocento Sans"/>
              <a:buChar char="•"/>
            </a:pPr>
            <a:r>
              <a:rPr b="0" i="0" lang="ru-RU" sz="2078" u="none" cap="none" strike="noStrike">
                <a:solidFill>
                  <a:schemeClr val="dk1"/>
                </a:solidFill>
                <a:latin typeface="Quattrocento Sans"/>
                <a:ea typeface="Quattrocento Sans"/>
                <a:cs typeface="Quattrocento Sans"/>
                <a:sym typeface="Quattrocento Sans"/>
              </a:rPr>
              <a:t>Плоские алгоритмы строят одно разбиение объектов на кластеры, т.е формируют кластеры одного ранга.</a:t>
            </a:r>
            <a:endParaRPr/>
          </a:p>
          <a:p>
            <a:pPr indent="0" lvl="0" marL="0" marR="0" rtl="0" algn="l">
              <a:lnSpc>
                <a:spcPct val="85000"/>
              </a:lnSpc>
              <a:spcBef>
                <a:spcPts val="600"/>
              </a:spcBef>
              <a:spcAft>
                <a:spcPts val="0"/>
              </a:spcAft>
              <a:buNone/>
            </a:pPr>
            <a:r>
              <a:rPr b="0" i="1" lang="ru-RU" sz="2400" u="none" cap="none" strike="noStrike">
                <a:solidFill>
                  <a:srgbClr val="0000FF"/>
                </a:solidFill>
                <a:latin typeface="Quattrocento Sans"/>
                <a:ea typeface="Quattrocento Sans"/>
                <a:cs typeface="Quattrocento Sans"/>
                <a:sym typeface="Quattrocento Sans"/>
              </a:rPr>
              <a:t>II. Четкие и нечеткие </a:t>
            </a:r>
            <a:r>
              <a:rPr b="0" i="1" lang="ru-RU" sz="2078" u="none" cap="none" strike="noStrike">
                <a:solidFill>
                  <a:srgbClr val="0000FF"/>
                </a:solidFill>
                <a:latin typeface="Quattrocento Sans"/>
                <a:ea typeface="Quattrocento Sans"/>
                <a:cs typeface="Quattrocento Sans"/>
                <a:sym typeface="Quattrocento Sans"/>
              </a:rPr>
              <a:t>– по способу определения принадлежности</a:t>
            </a:r>
            <a:endParaRPr b="0" i="0" sz="2078" u="none" cap="none" strike="noStrike">
              <a:solidFill>
                <a:srgbClr val="0000FF"/>
              </a:solidFill>
              <a:latin typeface="Quattrocento Sans"/>
              <a:ea typeface="Quattrocento Sans"/>
              <a:cs typeface="Quattrocento Sans"/>
              <a:sym typeface="Quattrocento Sans"/>
            </a:endParaRPr>
          </a:p>
          <a:p>
            <a:pPr indent="-369504" lvl="1" marL="844580" marR="0" rtl="0" algn="l">
              <a:lnSpc>
                <a:spcPct val="85000"/>
              </a:lnSpc>
              <a:spcBef>
                <a:spcPts val="520"/>
              </a:spcBef>
              <a:spcAft>
                <a:spcPts val="0"/>
              </a:spcAft>
              <a:buClr>
                <a:srgbClr val="F4BE96"/>
              </a:buClr>
              <a:buSzPts val="1662"/>
              <a:buFont typeface="Quattrocento Sans"/>
              <a:buChar char="•"/>
            </a:pPr>
            <a:r>
              <a:rPr b="0" i="1" lang="ru-RU" sz="2078" u="none" cap="none" strike="noStrike">
                <a:solidFill>
                  <a:schemeClr val="dk1"/>
                </a:solidFill>
                <a:latin typeface="Quattrocento Sans"/>
                <a:ea typeface="Quattrocento Sans"/>
                <a:cs typeface="Quattrocento Sans"/>
                <a:sym typeface="Quattrocento Sans"/>
              </a:rPr>
              <a:t>Четкие</a:t>
            </a:r>
            <a:r>
              <a:rPr b="0" i="0" lang="ru-RU" sz="2078" u="none" cap="none" strike="noStrike">
                <a:solidFill>
                  <a:schemeClr val="dk1"/>
                </a:solidFill>
                <a:latin typeface="Quattrocento Sans"/>
                <a:ea typeface="Quattrocento Sans"/>
                <a:cs typeface="Quattrocento Sans"/>
                <a:sym typeface="Quattrocento Sans"/>
              </a:rPr>
              <a:t> (или непересекающиеся) алгоритмы каждому объекту выборки ставят в соответствие номер кластера, т.е. каждый объект принадлежит только одному кластеру. </a:t>
            </a:r>
            <a:endParaRPr/>
          </a:p>
          <a:p>
            <a:pPr indent="-369504" lvl="1" marL="844580" marR="0" rtl="0" algn="l">
              <a:lnSpc>
                <a:spcPct val="85000"/>
              </a:lnSpc>
              <a:spcBef>
                <a:spcPts val="520"/>
              </a:spcBef>
              <a:spcAft>
                <a:spcPts val="0"/>
              </a:spcAft>
              <a:buClr>
                <a:srgbClr val="F4BE96"/>
              </a:buClr>
              <a:buSzPts val="1662"/>
              <a:buFont typeface="Quattrocento Sans"/>
              <a:buChar char="•"/>
            </a:pPr>
            <a:r>
              <a:rPr b="0" i="1" lang="ru-RU" sz="2078" u="none" cap="none" strike="noStrike">
                <a:solidFill>
                  <a:schemeClr val="dk1"/>
                </a:solidFill>
                <a:latin typeface="Quattrocento Sans"/>
                <a:ea typeface="Quattrocento Sans"/>
                <a:cs typeface="Quattrocento Sans"/>
                <a:sym typeface="Quattrocento Sans"/>
              </a:rPr>
              <a:t>Нечеткие</a:t>
            </a:r>
            <a:r>
              <a:rPr b="0" i="0" lang="ru-RU" sz="2078" u="none" cap="none" strike="noStrike">
                <a:solidFill>
                  <a:schemeClr val="dk1"/>
                </a:solidFill>
                <a:latin typeface="Quattrocento Sans"/>
                <a:ea typeface="Quattrocento Sans"/>
                <a:cs typeface="Quattrocento Sans"/>
                <a:sym typeface="Quattrocento Sans"/>
              </a:rPr>
              <a:t> (или пересекающиеся) алгоритмы каждому объекту ставят в соответствие набор вещественных значений, показывающих степень отношения объекта к кластерам. Т.е. каждый объект относится к каждому кластеру с некоторой вероятностью.</a:t>
            </a:r>
            <a:endParaRPr/>
          </a:p>
        </p:txBody>
      </p:sp>
      <p:sp>
        <p:nvSpPr>
          <p:cNvPr id="504" name="Google Shape;504;p40"/>
          <p:cNvSpPr/>
          <p:nvPr/>
        </p:nvSpPr>
        <p:spPr>
          <a:xfrm>
            <a:off x="970189" y="1037602"/>
            <a:ext cx="7936242" cy="458587"/>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1" i="1" lang="ru-RU" sz="2800" u="none" cap="none" strike="noStrike">
                <a:solidFill>
                  <a:schemeClr val="accent1"/>
                </a:solidFill>
                <a:latin typeface="Quattrocento Sans"/>
                <a:ea typeface="Quattrocento Sans"/>
                <a:cs typeface="Quattrocento Sans"/>
                <a:sym typeface="Quattrocento Sans"/>
              </a:rPr>
              <a:t>Виды алгоритмов кластеризации:</a:t>
            </a:r>
            <a:endParaRPr b="1" i="1" sz="2800" u="none" cap="none" strike="noStrike">
              <a:solidFill>
                <a:schemeClr val="accent1"/>
              </a:solidFill>
              <a:latin typeface="Quattrocento Sans"/>
              <a:ea typeface="Quattrocento Sans"/>
              <a:cs typeface="Quattrocento Sans"/>
              <a:sym typeface="Quattrocento Sans"/>
            </a:endParaRPr>
          </a:p>
        </p:txBody>
      </p:sp>
      <p:sp>
        <p:nvSpPr>
          <p:cNvPr id="505" name="Google Shape;505;p4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1"/>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511" name="Google Shape;511;p41"/>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512" name="Google Shape;512;p41"/>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b="0" i="0" sz="3500" u="none" cap="none" strike="noStrike">
              <a:solidFill>
                <a:schemeClr val="lt1"/>
              </a:solidFill>
              <a:latin typeface="Arial"/>
              <a:ea typeface="Arial"/>
              <a:cs typeface="Arial"/>
              <a:sym typeface="Arial"/>
            </a:endParaRPr>
          </a:p>
        </p:txBody>
      </p:sp>
      <p:sp>
        <p:nvSpPr>
          <p:cNvPr id="513" name="Google Shape;513;p41"/>
          <p:cNvSpPr txBox="1"/>
          <p:nvPr>
            <p:ph type="title"/>
          </p:nvPr>
        </p:nvSpPr>
        <p:spPr>
          <a:xfrm>
            <a:off x="2042008" y="254505"/>
            <a:ext cx="6336705" cy="60371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000"/>
              <a:t>Кластеризация</a:t>
            </a:r>
            <a:endParaRPr sz="4000"/>
          </a:p>
        </p:txBody>
      </p:sp>
      <p:sp>
        <p:nvSpPr>
          <p:cNvPr id="514" name="Google Shape;514;p41"/>
          <p:cNvSpPr/>
          <p:nvPr/>
        </p:nvSpPr>
        <p:spPr>
          <a:xfrm>
            <a:off x="630798" y="1372204"/>
            <a:ext cx="9132804"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ru-RU" sz="2000" u="none" cap="none" strike="noStrike">
                <a:solidFill>
                  <a:schemeClr val="accent1"/>
                </a:solidFill>
                <a:latin typeface="Arial"/>
                <a:ea typeface="Arial"/>
                <a:cs typeface="Arial"/>
                <a:sym typeface="Arial"/>
              </a:rPr>
              <a:t>1. Алгоритмы, разбивающие данные на заданное число кластеров </a:t>
            </a:r>
            <a:r>
              <a:rPr b="0" i="0" lang="ru-RU" sz="2000" u="none" cap="none" strike="noStrike">
                <a:solidFill>
                  <a:schemeClr val="dk1"/>
                </a:solidFill>
                <a:latin typeface="Arial"/>
                <a:ea typeface="Arial"/>
                <a:cs typeface="Arial"/>
                <a:sym typeface="Arial"/>
              </a:rPr>
              <a:t>(то есть число кластеров – это входной параметр алгоритма). Пример: алгоритм k-means.</a:t>
            </a:r>
            <a:endParaRPr/>
          </a:p>
          <a:p>
            <a:pPr indent="0" lvl="0" marL="0" marR="0" rtl="0" algn="l">
              <a:spcBef>
                <a:spcPts val="0"/>
              </a:spcBef>
              <a:spcAft>
                <a:spcPts val="0"/>
              </a:spcAft>
              <a:buNone/>
            </a:pPr>
            <a:r>
              <a:rPr b="1" i="1" lang="ru-RU" sz="2000">
                <a:solidFill>
                  <a:schemeClr val="accent1"/>
                </a:solidFill>
                <a:latin typeface="Arial"/>
                <a:ea typeface="Arial"/>
                <a:cs typeface="Arial"/>
                <a:sym typeface="Arial"/>
              </a:rPr>
              <a:t>2. Алгоритмы, в которых число кластеров не определено заранее, </a:t>
            </a:r>
            <a:r>
              <a:rPr lang="ru-RU" sz="2000">
                <a:solidFill>
                  <a:schemeClr val="dk1"/>
                </a:solidFill>
                <a:latin typeface="Arial"/>
                <a:ea typeface="Arial"/>
                <a:cs typeface="Arial"/>
                <a:sym typeface="Arial"/>
              </a:rPr>
              <a:t>а вычисляется самим алгоритмом. Пример: алгоритм FOREL.</a:t>
            </a:r>
            <a:endParaRPr/>
          </a:p>
        </p:txBody>
      </p:sp>
      <p:sp>
        <p:nvSpPr>
          <p:cNvPr id="515" name="Google Shape;515;p41"/>
          <p:cNvSpPr/>
          <p:nvPr/>
        </p:nvSpPr>
        <p:spPr>
          <a:xfrm>
            <a:off x="958615" y="890574"/>
            <a:ext cx="7936242" cy="406265"/>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1" i="1" lang="ru-RU" sz="2400" u="none">
                <a:solidFill>
                  <a:schemeClr val="accent1"/>
                </a:solidFill>
                <a:latin typeface="Quattrocento Sans"/>
                <a:ea typeface="Quattrocento Sans"/>
                <a:cs typeface="Quattrocento Sans"/>
                <a:sym typeface="Quattrocento Sans"/>
              </a:rPr>
              <a:t>Виды алгоритмов кластеризации:</a:t>
            </a:r>
            <a:endParaRPr b="1" i="1" sz="2400" u="none">
              <a:solidFill>
                <a:schemeClr val="accent1"/>
              </a:solidFill>
              <a:latin typeface="Quattrocento Sans"/>
              <a:ea typeface="Quattrocento Sans"/>
              <a:cs typeface="Quattrocento Sans"/>
              <a:sym typeface="Quattrocento Sans"/>
            </a:endParaRPr>
          </a:p>
        </p:txBody>
      </p:sp>
      <p:sp>
        <p:nvSpPr>
          <p:cNvPr id="516" name="Google Shape;516;p4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grpSp>
        <p:nvGrpSpPr>
          <p:cNvPr id="517" name="Google Shape;517;p41"/>
          <p:cNvGrpSpPr/>
          <p:nvPr/>
        </p:nvGrpSpPr>
        <p:grpSpPr>
          <a:xfrm>
            <a:off x="340945" y="3240431"/>
            <a:ext cx="9232551" cy="3885801"/>
            <a:chOff x="602994" y="3289536"/>
            <a:chExt cx="9232551" cy="3885801"/>
          </a:xfrm>
        </p:grpSpPr>
        <p:sp>
          <p:nvSpPr>
            <p:cNvPr id="518" name="Google Shape;518;p41"/>
            <p:cNvSpPr/>
            <p:nvPr/>
          </p:nvSpPr>
          <p:spPr>
            <a:xfrm>
              <a:off x="3420331" y="3289536"/>
              <a:ext cx="3240360" cy="504056"/>
            </a:xfrm>
            <a:prstGeom prst="rect">
              <a:avLst/>
            </a:prstGeom>
            <a:solidFill>
              <a:schemeClr val="lt1"/>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ru-RU" sz="2000">
                  <a:solidFill>
                    <a:schemeClr val="accent1"/>
                  </a:solidFill>
                  <a:latin typeface="Arial"/>
                  <a:ea typeface="Arial"/>
                  <a:cs typeface="Arial"/>
                  <a:sym typeface="Arial"/>
                </a:rPr>
                <a:t>Алгоритмы кластеризации </a:t>
              </a:r>
              <a:endParaRPr/>
            </a:p>
          </p:txBody>
        </p:sp>
        <p:sp>
          <p:nvSpPr>
            <p:cNvPr id="519" name="Google Shape;519;p41"/>
            <p:cNvSpPr/>
            <p:nvPr/>
          </p:nvSpPr>
          <p:spPr>
            <a:xfrm>
              <a:off x="1797051" y="3917686"/>
              <a:ext cx="2304256" cy="510643"/>
            </a:xfrm>
            <a:prstGeom prst="rect">
              <a:avLst/>
            </a:prstGeom>
            <a:solidFill>
              <a:schemeClr val="lt1"/>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ru-RU" sz="2000">
                  <a:solidFill>
                    <a:schemeClr val="accent1"/>
                  </a:solidFill>
                  <a:latin typeface="Arial"/>
                  <a:ea typeface="Arial"/>
                  <a:cs typeface="Arial"/>
                  <a:sym typeface="Arial"/>
                </a:rPr>
                <a:t>Иерархические</a:t>
              </a:r>
              <a:endParaRPr/>
            </a:p>
          </p:txBody>
        </p:sp>
        <p:sp>
          <p:nvSpPr>
            <p:cNvPr id="520" name="Google Shape;520;p41"/>
            <p:cNvSpPr/>
            <p:nvPr/>
          </p:nvSpPr>
          <p:spPr>
            <a:xfrm>
              <a:off x="5901223" y="3920236"/>
              <a:ext cx="2304256" cy="510643"/>
            </a:xfrm>
            <a:prstGeom prst="rect">
              <a:avLst/>
            </a:prstGeom>
            <a:solidFill>
              <a:schemeClr val="lt1"/>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ru-RU" sz="2000">
                  <a:solidFill>
                    <a:schemeClr val="accent1"/>
                  </a:solidFill>
                  <a:latin typeface="Arial"/>
                  <a:ea typeface="Arial"/>
                  <a:cs typeface="Arial"/>
                  <a:sym typeface="Arial"/>
                </a:rPr>
                <a:t>Неиерархические</a:t>
              </a:r>
              <a:endParaRPr/>
            </a:p>
          </p:txBody>
        </p:sp>
        <p:sp>
          <p:nvSpPr>
            <p:cNvPr id="521" name="Google Shape;521;p41"/>
            <p:cNvSpPr/>
            <p:nvPr/>
          </p:nvSpPr>
          <p:spPr>
            <a:xfrm>
              <a:off x="602994" y="4574020"/>
              <a:ext cx="2076019" cy="510643"/>
            </a:xfrm>
            <a:prstGeom prst="rect">
              <a:avLst/>
            </a:prstGeom>
            <a:solidFill>
              <a:schemeClr val="lt1"/>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ru-RU" sz="2000">
                  <a:solidFill>
                    <a:schemeClr val="accent1"/>
                  </a:solidFill>
                  <a:latin typeface="Arial"/>
                  <a:ea typeface="Arial"/>
                  <a:cs typeface="Arial"/>
                  <a:sym typeface="Arial"/>
                </a:rPr>
                <a:t>Агломеративные</a:t>
              </a:r>
              <a:endParaRPr b="1" sz="2000">
                <a:solidFill>
                  <a:schemeClr val="accent1"/>
                </a:solidFill>
                <a:latin typeface="Arial"/>
                <a:ea typeface="Arial"/>
                <a:cs typeface="Arial"/>
                <a:sym typeface="Arial"/>
              </a:endParaRPr>
            </a:p>
          </p:txBody>
        </p:sp>
        <p:sp>
          <p:nvSpPr>
            <p:cNvPr id="522" name="Google Shape;522;p41"/>
            <p:cNvSpPr/>
            <p:nvPr/>
          </p:nvSpPr>
          <p:spPr>
            <a:xfrm>
              <a:off x="2967045" y="4574019"/>
              <a:ext cx="1756515" cy="510643"/>
            </a:xfrm>
            <a:prstGeom prst="rect">
              <a:avLst/>
            </a:prstGeom>
            <a:solidFill>
              <a:schemeClr val="lt1"/>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ru-RU" sz="2000">
                  <a:solidFill>
                    <a:schemeClr val="accent1"/>
                  </a:solidFill>
                  <a:latin typeface="Arial"/>
                  <a:ea typeface="Arial"/>
                  <a:cs typeface="Arial"/>
                  <a:sym typeface="Arial"/>
                </a:rPr>
                <a:t>Дивизимные</a:t>
              </a:r>
              <a:endParaRPr b="1" sz="2000">
                <a:solidFill>
                  <a:schemeClr val="accent1"/>
                </a:solidFill>
                <a:latin typeface="Arial"/>
                <a:ea typeface="Arial"/>
                <a:cs typeface="Arial"/>
                <a:sym typeface="Arial"/>
              </a:endParaRPr>
            </a:p>
          </p:txBody>
        </p:sp>
        <p:sp>
          <p:nvSpPr>
            <p:cNvPr id="523" name="Google Shape;523;p41"/>
            <p:cNvSpPr/>
            <p:nvPr/>
          </p:nvSpPr>
          <p:spPr>
            <a:xfrm>
              <a:off x="5381533" y="4566684"/>
              <a:ext cx="1912467" cy="510643"/>
            </a:xfrm>
            <a:prstGeom prst="rect">
              <a:avLst/>
            </a:prstGeom>
            <a:solidFill>
              <a:schemeClr val="lt1"/>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ru-RU" sz="2000">
                  <a:solidFill>
                    <a:schemeClr val="accent1"/>
                  </a:solidFill>
                  <a:latin typeface="Arial"/>
                  <a:ea typeface="Arial"/>
                  <a:cs typeface="Arial"/>
                  <a:sym typeface="Arial"/>
                </a:rPr>
                <a:t>Четкие</a:t>
              </a:r>
              <a:endParaRPr/>
            </a:p>
          </p:txBody>
        </p:sp>
        <p:sp>
          <p:nvSpPr>
            <p:cNvPr id="524" name="Google Shape;524;p41"/>
            <p:cNvSpPr/>
            <p:nvPr/>
          </p:nvSpPr>
          <p:spPr>
            <a:xfrm>
              <a:off x="7426080" y="4566683"/>
              <a:ext cx="1756515" cy="510643"/>
            </a:xfrm>
            <a:prstGeom prst="rect">
              <a:avLst/>
            </a:prstGeom>
            <a:solidFill>
              <a:schemeClr val="lt1"/>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ru-RU" sz="2000">
                  <a:solidFill>
                    <a:schemeClr val="accent1"/>
                  </a:solidFill>
                  <a:latin typeface="Arial"/>
                  <a:ea typeface="Arial"/>
                  <a:cs typeface="Arial"/>
                  <a:sym typeface="Arial"/>
                </a:rPr>
                <a:t>Нечеткие</a:t>
              </a:r>
              <a:endParaRPr/>
            </a:p>
          </p:txBody>
        </p:sp>
        <p:sp>
          <p:nvSpPr>
            <p:cNvPr id="525" name="Google Shape;525;p41"/>
            <p:cNvSpPr/>
            <p:nvPr/>
          </p:nvSpPr>
          <p:spPr>
            <a:xfrm>
              <a:off x="896097" y="5274971"/>
              <a:ext cx="2304300" cy="1101900"/>
            </a:xfrm>
            <a:prstGeom prst="rect">
              <a:avLst/>
            </a:prstGeom>
            <a:solidFill>
              <a:schemeClr val="lt1"/>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185738" lvl="0" marL="185738" marR="0" rtl="0" algn="l">
                <a:lnSpc>
                  <a:spcPct val="83333"/>
                </a:lnSpc>
                <a:spcBef>
                  <a:spcPts val="0"/>
                </a:spcBef>
                <a:spcAft>
                  <a:spcPts val="0"/>
                </a:spcAft>
                <a:buClr>
                  <a:schemeClr val="accent1"/>
                </a:buClr>
                <a:buSzPts val="1800"/>
                <a:buFont typeface="Arial"/>
                <a:buChar char="•"/>
              </a:pPr>
              <a:r>
                <a:rPr b="1" lang="ru-RU" sz="1800">
                  <a:solidFill>
                    <a:schemeClr val="accent1"/>
                  </a:solidFill>
                  <a:latin typeface="Arial"/>
                  <a:ea typeface="Arial"/>
                  <a:cs typeface="Arial"/>
                  <a:sym typeface="Arial"/>
                </a:rPr>
                <a:t>Single-link</a:t>
              </a:r>
              <a:endParaRPr/>
            </a:p>
            <a:p>
              <a:pPr indent="-185738" lvl="0" marL="185738" marR="0" rtl="0" algn="l">
                <a:lnSpc>
                  <a:spcPct val="83333"/>
                </a:lnSpc>
                <a:spcBef>
                  <a:spcPts val="0"/>
                </a:spcBef>
                <a:spcAft>
                  <a:spcPts val="0"/>
                </a:spcAft>
                <a:buClr>
                  <a:schemeClr val="accent1"/>
                </a:buClr>
                <a:buSzPts val="1800"/>
                <a:buFont typeface="Arial"/>
                <a:buChar char="•"/>
              </a:pPr>
              <a:r>
                <a:rPr b="1" lang="ru-RU" sz="1800">
                  <a:solidFill>
                    <a:schemeClr val="accent1"/>
                  </a:solidFill>
                  <a:latin typeface="Arial"/>
                  <a:ea typeface="Arial"/>
                  <a:cs typeface="Arial"/>
                  <a:sym typeface="Arial"/>
                </a:rPr>
                <a:t>Complete-link</a:t>
              </a:r>
              <a:endParaRPr/>
            </a:p>
            <a:p>
              <a:pPr indent="-185738" lvl="0" marL="185738" marR="0" rtl="0" algn="l">
                <a:lnSpc>
                  <a:spcPct val="83333"/>
                </a:lnSpc>
                <a:spcBef>
                  <a:spcPts val="0"/>
                </a:spcBef>
                <a:spcAft>
                  <a:spcPts val="0"/>
                </a:spcAft>
                <a:buClr>
                  <a:schemeClr val="accent1"/>
                </a:buClr>
                <a:buSzPts val="1800"/>
                <a:buFont typeface="Arial"/>
                <a:buChar char="•"/>
              </a:pPr>
              <a:r>
                <a:rPr b="1" lang="ru-RU" sz="1800">
                  <a:solidFill>
                    <a:schemeClr val="accent1"/>
                  </a:solidFill>
                  <a:latin typeface="Arial"/>
                  <a:ea typeface="Arial"/>
                  <a:cs typeface="Arial"/>
                  <a:sym typeface="Arial"/>
                </a:rPr>
                <a:t>CURE</a:t>
              </a:r>
              <a:endParaRPr b="1" sz="1800">
                <a:solidFill>
                  <a:schemeClr val="accent1"/>
                </a:solidFill>
                <a:latin typeface="Arial"/>
                <a:ea typeface="Arial"/>
                <a:cs typeface="Arial"/>
                <a:sym typeface="Arial"/>
              </a:endParaRPr>
            </a:p>
          </p:txBody>
        </p:sp>
        <p:sp>
          <p:nvSpPr>
            <p:cNvPr id="526" name="Google Shape;526;p41"/>
            <p:cNvSpPr/>
            <p:nvPr/>
          </p:nvSpPr>
          <p:spPr>
            <a:xfrm>
              <a:off x="3250278" y="5230352"/>
              <a:ext cx="1480680" cy="510643"/>
            </a:xfrm>
            <a:prstGeom prst="rect">
              <a:avLst/>
            </a:prstGeom>
            <a:solidFill>
              <a:schemeClr val="lt1"/>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ru-RU" sz="2000">
                  <a:solidFill>
                    <a:schemeClr val="accent1"/>
                  </a:solidFill>
                  <a:latin typeface="Arial"/>
                  <a:ea typeface="Arial"/>
                  <a:cs typeface="Arial"/>
                  <a:sym typeface="Arial"/>
                </a:rPr>
                <a:t>MST</a:t>
              </a:r>
              <a:endParaRPr b="1" sz="2000">
                <a:solidFill>
                  <a:schemeClr val="accent1"/>
                </a:solidFill>
                <a:latin typeface="Arial"/>
                <a:ea typeface="Arial"/>
                <a:cs typeface="Arial"/>
                <a:sym typeface="Arial"/>
              </a:endParaRPr>
            </a:p>
          </p:txBody>
        </p:sp>
        <p:sp>
          <p:nvSpPr>
            <p:cNvPr id="527" name="Google Shape;527;p41"/>
            <p:cNvSpPr/>
            <p:nvPr/>
          </p:nvSpPr>
          <p:spPr>
            <a:xfrm>
              <a:off x="7596496" y="4912584"/>
              <a:ext cx="2076000" cy="811200"/>
            </a:xfrm>
            <a:prstGeom prst="rect">
              <a:avLst/>
            </a:prstGeom>
            <a:solidFill>
              <a:schemeClr val="lt1"/>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ru-RU" sz="1800">
                  <a:solidFill>
                    <a:schemeClr val="accent1"/>
                  </a:solidFill>
                  <a:latin typeface="Arial"/>
                  <a:ea typeface="Arial"/>
                  <a:cs typeface="Arial"/>
                  <a:sym typeface="Arial"/>
                </a:rPr>
                <a:t>Fuzzy Classifier Means (FSM)</a:t>
              </a:r>
              <a:endParaRPr b="1" sz="1800">
                <a:solidFill>
                  <a:schemeClr val="accent1"/>
                </a:solidFill>
                <a:latin typeface="Arial"/>
                <a:ea typeface="Arial"/>
                <a:cs typeface="Arial"/>
                <a:sym typeface="Arial"/>
              </a:endParaRPr>
            </a:p>
          </p:txBody>
        </p:sp>
        <p:sp>
          <p:nvSpPr>
            <p:cNvPr id="528" name="Google Shape;528;p41"/>
            <p:cNvSpPr/>
            <p:nvPr/>
          </p:nvSpPr>
          <p:spPr>
            <a:xfrm>
              <a:off x="7586145" y="5834937"/>
              <a:ext cx="2249400" cy="1340400"/>
            </a:xfrm>
            <a:prstGeom prst="rect">
              <a:avLst/>
            </a:prstGeom>
            <a:solidFill>
              <a:schemeClr val="lt1"/>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66666"/>
                </a:lnSpc>
                <a:spcBef>
                  <a:spcPts val="0"/>
                </a:spcBef>
                <a:spcAft>
                  <a:spcPts val="0"/>
                </a:spcAft>
                <a:buNone/>
              </a:pPr>
              <a:r>
                <a:rPr b="1" lang="ru-RU" sz="1800">
                  <a:solidFill>
                    <a:schemeClr val="accent1"/>
                  </a:solidFill>
                  <a:latin typeface="Arial"/>
                  <a:ea typeface="Arial"/>
                  <a:cs typeface="Arial"/>
                  <a:sym typeface="Arial"/>
                </a:rPr>
                <a:t>С использова-</a:t>
              </a:r>
              <a:endParaRPr/>
            </a:p>
            <a:p>
              <a:pPr indent="0" lvl="0" marL="0" marR="0" rtl="0" algn="ctr">
                <a:lnSpc>
                  <a:spcPct val="66666"/>
                </a:lnSpc>
                <a:spcBef>
                  <a:spcPts val="0"/>
                </a:spcBef>
                <a:spcAft>
                  <a:spcPts val="0"/>
                </a:spcAft>
                <a:buNone/>
              </a:pPr>
              <a:r>
                <a:rPr b="1" lang="ru-RU" sz="1800">
                  <a:solidFill>
                    <a:schemeClr val="accent1"/>
                  </a:solidFill>
                  <a:latin typeface="Arial"/>
                  <a:ea typeface="Arial"/>
                  <a:cs typeface="Arial"/>
                  <a:sym typeface="Arial"/>
                </a:rPr>
                <a:t>нием генетических алгоритмов</a:t>
              </a:r>
              <a:endParaRPr/>
            </a:p>
          </p:txBody>
        </p:sp>
        <p:sp>
          <p:nvSpPr>
            <p:cNvPr id="529" name="Google Shape;529;p41"/>
            <p:cNvSpPr/>
            <p:nvPr/>
          </p:nvSpPr>
          <p:spPr>
            <a:xfrm>
              <a:off x="5527032" y="5173756"/>
              <a:ext cx="1755895" cy="1582180"/>
            </a:xfrm>
            <a:prstGeom prst="rect">
              <a:avLst/>
            </a:prstGeom>
            <a:solidFill>
              <a:schemeClr val="lt1"/>
            </a:solid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185738" lvl="0" marL="185738" marR="0" rtl="0" algn="l">
                <a:lnSpc>
                  <a:spcPct val="83333"/>
                </a:lnSpc>
                <a:spcBef>
                  <a:spcPts val="0"/>
                </a:spcBef>
                <a:spcAft>
                  <a:spcPts val="0"/>
                </a:spcAft>
                <a:buClr>
                  <a:schemeClr val="accent1"/>
                </a:buClr>
                <a:buSzPts val="1800"/>
                <a:buFont typeface="Arial"/>
                <a:buChar char="•"/>
              </a:pPr>
              <a:r>
                <a:rPr b="1" i="1" lang="ru-RU" sz="1800">
                  <a:solidFill>
                    <a:schemeClr val="accent1"/>
                  </a:solidFill>
                  <a:latin typeface="Arial"/>
                  <a:ea typeface="Arial"/>
                  <a:cs typeface="Arial"/>
                  <a:sym typeface="Arial"/>
                </a:rPr>
                <a:t>k</a:t>
              </a:r>
              <a:r>
                <a:rPr b="1" lang="ru-RU" sz="1800">
                  <a:solidFill>
                    <a:schemeClr val="accent1"/>
                  </a:solidFill>
                  <a:latin typeface="Arial"/>
                  <a:ea typeface="Arial"/>
                  <a:cs typeface="Arial"/>
                  <a:sym typeface="Arial"/>
                </a:rPr>
                <a:t>-means</a:t>
              </a:r>
              <a:endParaRPr/>
            </a:p>
            <a:p>
              <a:pPr indent="-185738" lvl="0" marL="185738" marR="0" rtl="0" algn="l">
                <a:lnSpc>
                  <a:spcPct val="83333"/>
                </a:lnSpc>
                <a:spcBef>
                  <a:spcPts val="0"/>
                </a:spcBef>
                <a:spcAft>
                  <a:spcPts val="0"/>
                </a:spcAft>
                <a:buClr>
                  <a:schemeClr val="accent1"/>
                </a:buClr>
                <a:buSzPts val="1800"/>
                <a:buFont typeface="Arial"/>
                <a:buChar char="•"/>
              </a:pPr>
              <a:r>
                <a:rPr b="1" lang="ru-RU" sz="1800">
                  <a:solidFill>
                    <a:schemeClr val="accent1"/>
                  </a:solidFill>
                  <a:latin typeface="Arial"/>
                  <a:ea typeface="Arial"/>
                  <a:cs typeface="Arial"/>
                  <a:sym typeface="Arial"/>
                </a:rPr>
                <a:t>Expectation-Maximization</a:t>
              </a:r>
              <a:endParaRPr/>
            </a:p>
            <a:p>
              <a:pPr indent="-185738" lvl="0" marL="185738" marR="0" rtl="0" algn="l">
                <a:lnSpc>
                  <a:spcPct val="83333"/>
                </a:lnSpc>
                <a:spcBef>
                  <a:spcPts val="0"/>
                </a:spcBef>
                <a:spcAft>
                  <a:spcPts val="0"/>
                </a:spcAft>
                <a:buClr>
                  <a:schemeClr val="accent1"/>
                </a:buClr>
                <a:buSzPts val="1800"/>
                <a:buFont typeface="Arial"/>
                <a:buChar char="•"/>
              </a:pPr>
              <a:r>
                <a:rPr b="1" lang="ru-RU" sz="1800">
                  <a:solidFill>
                    <a:schemeClr val="accent1"/>
                  </a:solidFill>
                  <a:latin typeface="Arial"/>
                  <a:ea typeface="Arial"/>
                  <a:cs typeface="Arial"/>
                  <a:sym typeface="Arial"/>
                </a:rPr>
                <a:t>С использова</a:t>
              </a:r>
              <a:endParaRPr b="1" sz="1800">
                <a:solidFill>
                  <a:schemeClr val="accent1"/>
                </a:solidFill>
                <a:latin typeface="Arial"/>
                <a:ea typeface="Arial"/>
                <a:cs typeface="Arial"/>
                <a:sym typeface="Arial"/>
              </a:endParaRPr>
            </a:p>
            <a:p>
              <a:pPr indent="0" lvl="0" marL="0" marR="0" rtl="0" algn="l">
                <a:lnSpc>
                  <a:spcPct val="83333"/>
                </a:lnSpc>
                <a:spcBef>
                  <a:spcPts val="0"/>
                </a:spcBef>
                <a:spcAft>
                  <a:spcPts val="0"/>
                </a:spcAft>
                <a:buNone/>
              </a:pPr>
              <a:r>
                <a:rPr b="1" lang="ru-RU" sz="1800">
                  <a:solidFill>
                    <a:schemeClr val="accent1"/>
                  </a:solidFill>
                  <a:latin typeface="Arial"/>
                  <a:ea typeface="Arial"/>
                  <a:cs typeface="Arial"/>
                  <a:sym typeface="Arial"/>
                </a:rPr>
                <a:t>-нием ИНС</a:t>
              </a:r>
              <a:endParaRPr/>
            </a:p>
            <a:p>
              <a:pPr indent="-185738" lvl="0" marL="185738" marR="0" rtl="0" algn="l">
                <a:lnSpc>
                  <a:spcPct val="83333"/>
                </a:lnSpc>
                <a:spcBef>
                  <a:spcPts val="0"/>
                </a:spcBef>
                <a:spcAft>
                  <a:spcPts val="0"/>
                </a:spcAft>
                <a:buClr>
                  <a:schemeClr val="accent1"/>
                </a:buClr>
                <a:buSzPts val="1800"/>
                <a:buFont typeface="Arial"/>
                <a:buChar char="•"/>
              </a:pPr>
              <a:r>
                <a:rPr b="1" lang="ru-RU" sz="1800">
                  <a:solidFill>
                    <a:schemeClr val="accent1"/>
                  </a:solidFill>
                  <a:latin typeface="Arial"/>
                  <a:ea typeface="Arial"/>
                  <a:cs typeface="Arial"/>
                  <a:sym typeface="Arial"/>
                </a:rPr>
                <a:t>С использова</a:t>
              </a:r>
              <a:endParaRPr b="1" sz="1800">
                <a:solidFill>
                  <a:schemeClr val="accent1"/>
                </a:solidFill>
                <a:latin typeface="Arial"/>
                <a:ea typeface="Arial"/>
                <a:cs typeface="Arial"/>
                <a:sym typeface="Arial"/>
              </a:endParaRPr>
            </a:p>
            <a:p>
              <a:pPr indent="0" lvl="0" marL="0" marR="0" rtl="0" algn="l">
                <a:lnSpc>
                  <a:spcPct val="83333"/>
                </a:lnSpc>
                <a:spcBef>
                  <a:spcPts val="0"/>
                </a:spcBef>
                <a:spcAft>
                  <a:spcPts val="0"/>
                </a:spcAft>
                <a:buNone/>
              </a:pPr>
              <a:r>
                <a:rPr b="1" lang="ru-RU" sz="1800">
                  <a:solidFill>
                    <a:schemeClr val="accent1"/>
                  </a:solidFill>
                  <a:latin typeface="Arial"/>
                  <a:ea typeface="Arial"/>
                  <a:cs typeface="Arial"/>
                  <a:sym typeface="Arial"/>
                </a:rPr>
                <a:t>-нием ГА</a:t>
              </a:r>
              <a:endParaRPr/>
            </a:p>
          </p:txBody>
        </p:sp>
        <p:cxnSp>
          <p:nvCxnSpPr>
            <p:cNvPr id="530" name="Google Shape;530;p41"/>
            <p:cNvCxnSpPr>
              <a:endCxn id="519" idx="0"/>
            </p:cNvCxnSpPr>
            <p:nvPr/>
          </p:nvCxnSpPr>
          <p:spPr>
            <a:xfrm flipH="1">
              <a:off x="2949179" y="3563086"/>
              <a:ext cx="471300" cy="354600"/>
            </a:xfrm>
            <a:prstGeom prst="bentConnector2">
              <a:avLst/>
            </a:prstGeom>
            <a:noFill/>
            <a:ln cap="flat" cmpd="sng" w="9525">
              <a:solidFill>
                <a:srgbClr val="4962C5"/>
              </a:solidFill>
              <a:prstDash val="solid"/>
              <a:round/>
              <a:headEnd len="sm" w="sm" type="none"/>
              <a:tailEnd len="med" w="med" type="triangle"/>
            </a:ln>
          </p:spPr>
        </p:cxnSp>
        <p:cxnSp>
          <p:nvCxnSpPr>
            <p:cNvPr id="531" name="Google Shape;531;p41"/>
            <p:cNvCxnSpPr>
              <a:stCxn id="518" idx="3"/>
              <a:endCxn id="520" idx="0"/>
            </p:cNvCxnSpPr>
            <p:nvPr/>
          </p:nvCxnSpPr>
          <p:spPr>
            <a:xfrm>
              <a:off x="6660691" y="3541564"/>
              <a:ext cx="392700" cy="378600"/>
            </a:xfrm>
            <a:prstGeom prst="bentConnector2">
              <a:avLst/>
            </a:prstGeom>
            <a:noFill/>
            <a:ln cap="flat" cmpd="sng" w="9525">
              <a:solidFill>
                <a:srgbClr val="4962C5"/>
              </a:solidFill>
              <a:prstDash val="solid"/>
              <a:round/>
              <a:headEnd len="sm" w="sm" type="none"/>
              <a:tailEnd len="med" w="med" type="triangle"/>
            </a:ln>
          </p:spPr>
        </p:cxnSp>
        <p:cxnSp>
          <p:nvCxnSpPr>
            <p:cNvPr id="532" name="Google Shape;532;p41"/>
            <p:cNvCxnSpPr/>
            <p:nvPr/>
          </p:nvCxnSpPr>
          <p:spPr>
            <a:xfrm>
              <a:off x="3698577" y="4428329"/>
              <a:ext cx="0" cy="145690"/>
            </a:xfrm>
            <a:prstGeom prst="straightConnector1">
              <a:avLst/>
            </a:prstGeom>
            <a:noFill/>
            <a:ln cap="flat" cmpd="sng" w="9525">
              <a:solidFill>
                <a:srgbClr val="4962C5"/>
              </a:solidFill>
              <a:prstDash val="solid"/>
              <a:round/>
              <a:headEnd len="sm" w="sm" type="none"/>
              <a:tailEnd len="med" w="med" type="triangle"/>
            </a:ln>
          </p:spPr>
        </p:cxnSp>
        <p:cxnSp>
          <p:nvCxnSpPr>
            <p:cNvPr id="533" name="Google Shape;533;p41"/>
            <p:cNvCxnSpPr/>
            <p:nvPr/>
          </p:nvCxnSpPr>
          <p:spPr>
            <a:xfrm>
              <a:off x="2042008" y="4428329"/>
              <a:ext cx="0" cy="138354"/>
            </a:xfrm>
            <a:prstGeom prst="straightConnector1">
              <a:avLst/>
            </a:prstGeom>
            <a:noFill/>
            <a:ln cap="flat" cmpd="sng" w="9525">
              <a:solidFill>
                <a:srgbClr val="4962C5"/>
              </a:solidFill>
              <a:prstDash val="solid"/>
              <a:round/>
              <a:headEnd len="sm" w="sm" type="none"/>
              <a:tailEnd len="med" w="med" type="triangle"/>
            </a:ln>
          </p:spPr>
        </p:cxnSp>
        <p:cxnSp>
          <p:nvCxnSpPr>
            <p:cNvPr id="534" name="Google Shape;534;p41"/>
            <p:cNvCxnSpPr>
              <a:endCxn id="526" idx="1"/>
            </p:cNvCxnSpPr>
            <p:nvPr/>
          </p:nvCxnSpPr>
          <p:spPr>
            <a:xfrm flipH="1" rot="-5400000">
              <a:off x="2986428" y="5221824"/>
              <a:ext cx="401100" cy="126600"/>
            </a:xfrm>
            <a:prstGeom prst="bentConnector2">
              <a:avLst/>
            </a:prstGeom>
            <a:noFill/>
            <a:ln cap="flat" cmpd="sng" w="9525">
              <a:solidFill>
                <a:srgbClr val="4962C5"/>
              </a:solidFill>
              <a:prstDash val="solid"/>
              <a:round/>
              <a:headEnd len="sm" w="sm" type="none"/>
              <a:tailEnd len="med" w="med" type="triangle"/>
            </a:ln>
          </p:spPr>
        </p:cxnSp>
        <p:cxnSp>
          <p:nvCxnSpPr>
            <p:cNvPr id="535" name="Google Shape;535;p41"/>
            <p:cNvCxnSpPr/>
            <p:nvPr/>
          </p:nvCxnSpPr>
          <p:spPr>
            <a:xfrm>
              <a:off x="7875041" y="4413657"/>
              <a:ext cx="0" cy="145690"/>
            </a:xfrm>
            <a:prstGeom prst="straightConnector1">
              <a:avLst/>
            </a:prstGeom>
            <a:noFill/>
            <a:ln cap="flat" cmpd="sng" w="9525">
              <a:solidFill>
                <a:srgbClr val="4962C5"/>
              </a:solidFill>
              <a:prstDash val="solid"/>
              <a:round/>
              <a:headEnd len="sm" w="sm" type="none"/>
              <a:tailEnd len="med" w="med" type="triangle"/>
            </a:ln>
          </p:spPr>
        </p:cxnSp>
        <p:cxnSp>
          <p:nvCxnSpPr>
            <p:cNvPr id="536" name="Google Shape;536;p41"/>
            <p:cNvCxnSpPr/>
            <p:nvPr/>
          </p:nvCxnSpPr>
          <p:spPr>
            <a:xfrm>
              <a:off x="6532737" y="4420993"/>
              <a:ext cx="0" cy="138354"/>
            </a:xfrm>
            <a:prstGeom prst="straightConnector1">
              <a:avLst/>
            </a:prstGeom>
            <a:noFill/>
            <a:ln cap="flat" cmpd="sng" w="9525">
              <a:solidFill>
                <a:srgbClr val="4962C5"/>
              </a:solidFill>
              <a:prstDash val="solid"/>
              <a:round/>
              <a:headEnd len="sm" w="sm" type="none"/>
              <a:tailEnd len="med" w="med" type="triangle"/>
            </a:ln>
          </p:spPr>
        </p:cxnSp>
        <p:cxnSp>
          <p:nvCxnSpPr>
            <p:cNvPr id="537" name="Google Shape;537;p41"/>
            <p:cNvCxnSpPr/>
            <p:nvPr/>
          </p:nvCxnSpPr>
          <p:spPr>
            <a:xfrm flipH="1" rot="-5400000">
              <a:off x="615565" y="5204705"/>
              <a:ext cx="401010" cy="126481"/>
            </a:xfrm>
            <a:prstGeom prst="bentConnector2">
              <a:avLst/>
            </a:prstGeom>
            <a:noFill/>
            <a:ln cap="flat" cmpd="sng" w="9525">
              <a:solidFill>
                <a:srgbClr val="4962C5"/>
              </a:solidFill>
              <a:prstDash val="solid"/>
              <a:round/>
              <a:headEnd len="sm" w="sm" type="none"/>
              <a:tailEnd len="med" w="med" type="triangle"/>
            </a:ln>
          </p:spPr>
        </p:cxnSp>
        <p:cxnSp>
          <p:nvCxnSpPr>
            <p:cNvPr id="538" name="Google Shape;538;p41"/>
            <p:cNvCxnSpPr/>
            <p:nvPr/>
          </p:nvCxnSpPr>
          <p:spPr>
            <a:xfrm flipH="1" rot="-5400000">
              <a:off x="5256159" y="5221929"/>
              <a:ext cx="401010" cy="126481"/>
            </a:xfrm>
            <a:prstGeom prst="bentConnector2">
              <a:avLst/>
            </a:prstGeom>
            <a:noFill/>
            <a:ln cap="flat" cmpd="sng" w="9525">
              <a:solidFill>
                <a:srgbClr val="4962C5"/>
              </a:solidFill>
              <a:prstDash val="solid"/>
              <a:round/>
              <a:headEnd len="sm" w="sm" type="none"/>
              <a:tailEnd len="med" w="med" type="triangle"/>
            </a:ln>
          </p:spPr>
        </p:cxnSp>
        <p:cxnSp>
          <p:nvCxnSpPr>
            <p:cNvPr id="539" name="Google Shape;539;p41"/>
            <p:cNvCxnSpPr/>
            <p:nvPr/>
          </p:nvCxnSpPr>
          <p:spPr>
            <a:xfrm flipH="1" rot="-5400000">
              <a:off x="7307138" y="5232552"/>
              <a:ext cx="401010" cy="126481"/>
            </a:xfrm>
            <a:prstGeom prst="bentConnector2">
              <a:avLst/>
            </a:prstGeom>
            <a:noFill/>
            <a:ln cap="flat" cmpd="sng" w="9525">
              <a:solidFill>
                <a:srgbClr val="4962C5"/>
              </a:solidFill>
              <a:prstDash val="solid"/>
              <a:round/>
              <a:headEnd len="sm" w="sm" type="none"/>
              <a:tailEnd len="med" w="med" type="triangle"/>
            </a:ln>
          </p:spPr>
        </p:cxnSp>
        <p:cxnSp>
          <p:nvCxnSpPr>
            <p:cNvPr id="540" name="Google Shape;540;p41"/>
            <p:cNvCxnSpPr>
              <a:endCxn id="528" idx="1"/>
            </p:cNvCxnSpPr>
            <p:nvPr/>
          </p:nvCxnSpPr>
          <p:spPr>
            <a:xfrm flipH="1" rot="-5400000">
              <a:off x="7157145" y="6076137"/>
              <a:ext cx="724500" cy="133500"/>
            </a:xfrm>
            <a:prstGeom prst="bentConnector2">
              <a:avLst/>
            </a:prstGeom>
            <a:noFill/>
            <a:ln cap="flat" cmpd="sng" w="9525">
              <a:solidFill>
                <a:srgbClr val="4962C5"/>
              </a:solidFill>
              <a:prstDash val="solid"/>
              <a:round/>
              <a:headEnd len="sm" w="sm" type="none"/>
              <a:tailEnd len="med" w="med" type="triangle"/>
            </a:ln>
          </p:spPr>
        </p:cxnSp>
      </p:grpSp>
      <p:pic>
        <p:nvPicPr>
          <p:cNvPr id="541" name="Google Shape;541;p41"/>
          <p:cNvPicPr preferRelativeResize="0"/>
          <p:nvPr/>
        </p:nvPicPr>
        <p:blipFill rotWithShape="1">
          <a:blip r:embed="rId3">
            <a:alphaModFix/>
          </a:blip>
          <a:srcRect b="0" l="0" r="0" t="0"/>
          <a:stretch/>
        </p:blipFill>
        <p:spPr>
          <a:xfrm>
            <a:off x="630792" y="6170913"/>
            <a:ext cx="3867150" cy="2058594"/>
          </a:xfrm>
          <a:prstGeom prst="rect">
            <a:avLst/>
          </a:prstGeom>
          <a:noFill/>
          <a:ln>
            <a:noFill/>
          </a:ln>
        </p:spPr>
      </p:pic>
      <p:grpSp>
        <p:nvGrpSpPr>
          <p:cNvPr id="542" name="Google Shape;542;p41"/>
          <p:cNvGrpSpPr/>
          <p:nvPr/>
        </p:nvGrpSpPr>
        <p:grpSpPr>
          <a:xfrm>
            <a:off x="4461511" y="4931298"/>
            <a:ext cx="209673" cy="1884424"/>
            <a:chOff x="4461511" y="4931298"/>
            <a:chExt cx="209673" cy="1884424"/>
          </a:xfrm>
        </p:grpSpPr>
        <p:cxnSp>
          <p:nvCxnSpPr>
            <p:cNvPr id="543" name="Google Shape;543;p41"/>
            <p:cNvCxnSpPr/>
            <p:nvPr/>
          </p:nvCxnSpPr>
          <p:spPr>
            <a:xfrm rot="5400000">
              <a:off x="3634162" y="5778700"/>
              <a:ext cx="1884424" cy="189620"/>
            </a:xfrm>
            <a:prstGeom prst="bentConnector3">
              <a:avLst>
                <a:gd fmla="val 100546" name="adj1"/>
              </a:avLst>
            </a:prstGeom>
            <a:noFill/>
            <a:ln cap="flat" cmpd="sng" w="9525">
              <a:solidFill>
                <a:srgbClr val="4962C5"/>
              </a:solidFill>
              <a:prstDash val="solid"/>
              <a:round/>
              <a:headEnd len="sm" w="sm" type="none"/>
              <a:tailEnd len="med" w="med" type="triangle"/>
            </a:ln>
          </p:spPr>
        </p:cxnSp>
        <p:cxnSp>
          <p:nvCxnSpPr>
            <p:cNvPr id="544" name="Google Shape;544;p41"/>
            <p:cNvCxnSpPr/>
            <p:nvPr/>
          </p:nvCxnSpPr>
          <p:spPr>
            <a:xfrm rot="10800000">
              <a:off x="4461511" y="4942135"/>
              <a:ext cx="209673" cy="0"/>
            </a:xfrm>
            <a:prstGeom prst="straightConnector1">
              <a:avLst/>
            </a:prstGeom>
            <a:noFill/>
            <a:ln cap="flat" cmpd="sng" w="9525">
              <a:solidFill>
                <a:srgbClr val="4962C5"/>
              </a:solidFill>
              <a:prstDash val="solid"/>
              <a:round/>
              <a:headEnd len="sm" w="sm" type="none"/>
              <a:tailEnd len="sm" w="sm" type="none"/>
            </a:ln>
          </p:spPr>
        </p:cxn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1"/>
                                        </p:tgtEl>
                                        <p:attrNameLst>
                                          <p:attrName>style.visibility</p:attrName>
                                        </p:attrNameLst>
                                      </p:cBhvr>
                                      <p:to>
                                        <p:strVal val="visible"/>
                                      </p:to>
                                    </p:set>
                                    <p:anim calcmode="lin" valueType="num">
                                      <p:cBhvr additive="base">
                                        <p:cTn dur="500"/>
                                        <p:tgtEl>
                                          <p:spTgt spid="54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542"/>
                                        </p:tgtEl>
                                        <p:attrNameLst>
                                          <p:attrName>style.visibility</p:attrName>
                                        </p:attrNameLst>
                                      </p:cBhvr>
                                      <p:to>
                                        <p:strVal val="visible"/>
                                      </p:to>
                                    </p:set>
                                    <p:anim calcmode="lin" valueType="num">
                                      <p:cBhvr additive="base">
                                        <p:cTn dur="500"/>
                                        <p:tgtEl>
                                          <p:spTgt spid="54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2"/>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50" name="Google Shape;550;p42"/>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51" name="Google Shape;551;p42"/>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52" name="Google Shape;552;p42"/>
          <p:cNvSpPr txBox="1"/>
          <p:nvPr>
            <p:ph type="title"/>
          </p:nvPr>
        </p:nvSpPr>
        <p:spPr>
          <a:xfrm>
            <a:off x="2042008" y="254505"/>
            <a:ext cx="6336705" cy="60371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000"/>
              <a:t>Кластеризация</a:t>
            </a:r>
            <a:endParaRPr sz="4000"/>
          </a:p>
        </p:txBody>
      </p:sp>
      <p:sp>
        <p:nvSpPr>
          <p:cNvPr id="553" name="Google Shape;553;p42"/>
          <p:cNvSpPr/>
          <p:nvPr/>
        </p:nvSpPr>
        <p:spPr>
          <a:xfrm>
            <a:off x="542437" y="1758203"/>
            <a:ext cx="9276251" cy="48320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200">
                <a:solidFill>
                  <a:schemeClr val="dk1"/>
                </a:solidFill>
                <a:latin typeface="Arial"/>
                <a:ea typeface="Arial"/>
                <a:cs typeface="Arial"/>
                <a:sym typeface="Arial"/>
              </a:rPr>
              <a:t>На основе дополнительных характеристик, связанных с механизмами представления и обработки исходных данных, можно выделить:</a:t>
            </a:r>
            <a:endParaRPr/>
          </a:p>
          <a:p>
            <a:pPr indent="0" lvl="1" marL="457200" marR="0" rtl="0" algn="l">
              <a:spcBef>
                <a:spcPts val="0"/>
              </a:spcBef>
              <a:spcAft>
                <a:spcPts val="0"/>
              </a:spcAft>
              <a:buNone/>
            </a:pPr>
            <a:r>
              <a:rPr b="0" i="0" lang="ru-RU" sz="2200" u="none" cap="none" strike="noStrike">
                <a:solidFill>
                  <a:schemeClr val="dk1"/>
                </a:solidFill>
                <a:latin typeface="Arial"/>
                <a:ea typeface="Arial"/>
                <a:cs typeface="Arial"/>
                <a:sym typeface="Arial"/>
              </a:rPr>
              <a:t>• </a:t>
            </a:r>
            <a:r>
              <a:rPr b="0" i="0" lang="ru-RU" sz="2000" u="none" cap="none" strike="noStrike">
                <a:solidFill>
                  <a:schemeClr val="dk1"/>
                </a:solidFill>
                <a:latin typeface="Arial"/>
                <a:ea typeface="Arial"/>
                <a:cs typeface="Arial"/>
                <a:sym typeface="Arial"/>
              </a:rPr>
              <a:t>алгоритмы, оперирующие мерами близости/расстояния объектов множества;</a:t>
            </a:r>
            <a:endParaRPr/>
          </a:p>
          <a:p>
            <a:pPr indent="0" lvl="1" marL="457200" marR="0" rtl="0" algn="l">
              <a:spcBef>
                <a:spcPts val="0"/>
              </a:spcBef>
              <a:spcAft>
                <a:spcPts val="0"/>
              </a:spcAft>
              <a:buNone/>
            </a:pPr>
            <a:r>
              <a:rPr b="0" i="0" lang="ru-RU" sz="2000" u="none" cap="none" strike="noStrike">
                <a:solidFill>
                  <a:schemeClr val="dk1"/>
                </a:solidFill>
                <a:latin typeface="Arial"/>
                <a:ea typeface="Arial"/>
                <a:cs typeface="Arial"/>
                <a:sym typeface="Arial"/>
              </a:rPr>
              <a:t>• алгоритмы, работающие с векторами характеристик;</a:t>
            </a:r>
            <a:endParaRPr/>
          </a:p>
          <a:p>
            <a:pPr indent="0" lvl="1" marL="457200" marR="0" rtl="0" algn="l">
              <a:spcBef>
                <a:spcPts val="0"/>
              </a:spcBef>
              <a:spcAft>
                <a:spcPts val="0"/>
              </a:spcAft>
              <a:buNone/>
            </a:pPr>
            <a:r>
              <a:rPr b="0" i="0" lang="ru-RU" sz="2000" u="none" cap="none" strike="noStrike">
                <a:solidFill>
                  <a:schemeClr val="dk1"/>
                </a:solidFill>
                <a:latin typeface="Arial"/>
                <a:ea typeface="Arial"/>
                <a:cs typeface="Arial"/>
                <a:sym typeface="Arial"/>
              </a:rPr>
              <a:t>• вероятностные алгоритмы, основанные на порождающей модели (например, НММ-кластеризация семейств последовательностей);</a:t>
            </a:r>
            <a:endParaRPr/>
          </a:p>
          <a:p>
            <a:pPr indent="0" lvl="1" marL="457200" marR="0" rtl="0" algn="l">
              <a:spcBef>
                <a:spcPts val="0"/>
              </a:spcBef>
              <a:spcAft>
                <a:spcPts val="0"/>
              </a:spcAft>
              <a:buNone/>
            </a:pPr>
            <a:r>
              <a:rPr b="0" i="0" lang="ru-RU" sz="2000" u="none" cap="none" strike="noStrike">
                <a:solidFill>
                  <a:schemeClr val="dk1"/>
                </a:solidFill>
                <a:latin typeface="Arial"/>
                <a:ea typeface="Arial"/>
                <a:cs typeface="Arial"/>
                <a:sym typeface="Arial"/>
              </a:rPr>
              <a:t>• граф-ориентированные — предназначенные для анализа информации, представленной в виде сетей (разного рода карты связей/взаимодействия);</a:t>
            </a:r>
            <a:endParaRPr/>
          </a:p>
          <a:p>
            <a:pPr indent="0" lvl="1" marL="457200" marR="0" rtl="0" algn="l">
              <a:spcBef>
                <a:spcPts val="0"/>
              </a:spcBef>
              <a:spcAft>
                <a:spcPts val="0"/>
              </a:spcAft>
              <a:buNone/>
            </a:pPr>
            <a:r>
              <a:rPr b="0" i="0" lang="ru-RU" sz="2000" u="none" cap="none" strike="noStrike">
                <a:solidFill>
                  <a:schemeClr val="dk1"/>
                </a:solidFill>
                <a:latin typeface="Arial"/>
                <a:ea typeface="Arial"/>
                <a:cs typeface="Arial"/>
                <a:sym typeface="Arial"/>
              </a:rPr>
              <a:t>• бикластеризации — обработка данных серии экспериментов над множеством образцов, заключающаяся в выделении наборов строк и столбцов матрицы результатов, с определенными паттернами распределения значений.</a:t>
            </a:r>
            <a:endParaRPr/>
          </a:p>
        </p:txBody>
      </p:sp>
      <p:sp>
        <p:nvSpPr>
          <p:cNvPr id="554" name="Google Shape;554;p42"/>
          <p:cNvSpPr/>
          <p:nvPr/>
        </p:nvSpPr>
        <p:spPr>
          <a:xfrm>
            <a:off x="890265" y="1207476"/>
            <a:ext cx="7936242" cy="406265"/>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b="1" i="1" lang="ru-RU" sz="2400">
                <a:solidFill>
                  <a:schemeClr val="accent1"/>
                </a:solidFill>
                <a:latin typeface="Quattrocento Sans"/>
                <a:ea typeface="Quattrocento Sans"/>
                <a:cs typeface="Quattrocento Sans"/>
                <a:sym typeface="Quattrocento Sans"/>
              </a:rPr>
              <a:t>Виды алгоритмов кластеризации:</a:t>
            </a:r>
            <a:endParaRPr b="1" i="1" sz="2400">
              <a:solidFill>
                <a:schemeClr val="accent1"/>
              </a:solidFill>
              <a:latin typeface="Quattrocento Sans"/>
              <a:ea typeface="Quattrocento Sans"/>
              <a:cs typeface="Quattrocento Sans"/>
              <a:sym typeface="Quattrocento Sans"/>
            </a:endParaRPr>
          </a:p>
        </p:txBody>
      </p:sp>
      <p:sp>
        <p:nvSpPr>
          <p:cNvPr id="555" name="Google Shape;555;p4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3"/>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61" name="Google Shape;561;p43"/>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62" name="Google Shape;562;p43"/>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63" name="Google Shape;563;p43"/>
          <p:cNvSpPr txBox="1"/>
          <p:nvPr>
            <p:ph type="title"/>
          </p:nvPr>
        </p:nvSpPr>
        <p:spPr>
          <a:xfrm>
            <a:off x="1754359" y="236532"/>
            <a:ext cx="6768753" cy="72553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Кластеризация</a:t>
            </a:r>
            <a:endParaRPr sz="4400"/>
          </a:p>
        </p:txBody>
      </p:sp>
      <p:sp>
        <p:nvSpPr>
          <p:cNvPr id="564" name="Google Shape;564;p43"/>
          <p:cNvSpPr txBox="1"/>
          <p:nvPr>
            <p:ph idx="1" type="body"/>
          </p:nvPr>
        </p:nvSpPr>
        <p:spPr>
          <a:xfrm>
            <a:off x="593206" y="946151"/>
            <a:ext cx="9091060" cy="1922510"/>
          </a:xfrm>
          <a:prstGeom prst="rect">
            <a:avLst/>
          </a:prstGeom>
          <a:noFill/>
          <a:ln>
            <a:noFill/>
          </a:ln>
        </p:spPr>
        <p:txBody>
          <a:bodyPr anchorCtr="0" anchor="t" bIns="45700" lIns="91425" spcFirstLastPara="1" rIns="91425" wrap="square" tIns="45700">
            <a:noAutofit/>
          </a:bodyPr>
          <a:lstStyle/>
          <a:p>
            <a:pPr indent="363538" lvl="0" marL="0" rtl="0" algn="l">
              <a:spcBef>
                <a:spcPts val="0"/>
              </a:spcBef>
              <a:spcAft>
                <a:spcPts val="0"/>
              </a:spcAft>
              <a:buClr>
                <a:schemeClr val="dk1"/>
              </a:buClr>
              <a:buSzPts val="2000"/>
              <a:buFont typeface="Quattrocento Sans"/>
              <a:buNone/>
            </a:pPr>
            <a:r>
              <a:rPr b="1" i="1" lang="ru-RU" sz="2000"/>
              <a:t>Масштабируемость</a:t>
            </a:r>
            <a:r>
              <a:rPr lang="ru-RU" sz="2000"/>
              <a:t> – важнейшее свойство алгоритма, зависящее от его вычислительной сложности и программной реализации. Алгоритм называют масштабируемым, если при неизменной емкости оперативной памяти с увеличением числа записей в базе данных время его работы растет линейно. </a:t>
            </a:r>
            <a:endParaRPr/>
          </a:p>
          <a:p>
            <a:pPr indent="-261938" lvl="1" marL="261938" rtl="0" algn="l">
              <a:spcBef>
                <a:spcPts val="400"/>
              </a:spcBef>
              <a:spcAft>
                <a:spcPts val="0"/>
              </a:spcAft>
              <a:buClr>
                <a:schemeClr val="dk1"/>
              </a:buClr>
              <a:buSzPts val="2000"/>
              <a:buChar char="–"/>
            </a:pPr>
            <a:r>
              <a:rPr b="1" lang="ru-RU" sz="2000"/>
              <a:t>Кластерные (неиерархические) алгоритмы бывают  </a:t>
            </a:r>
            <a:r>
              <a:rPr b="1" i="1" lang="ru-RU" sz="2000"/>
              <a:t>масштабируемыми</a:t>
            </a:r>
            <a:r>
              <a:rPr b="1" lang="ru-RU" sz="2000"/>
              <a:t> и </a:t>
            </a:r>
            <a:r>
              <a:rPr b="1" i="1" lang="ru-RU" sz="2000"/>
              <a:t>немасштабируемыми.</a:t>
            </a:r>
            <a:endParaRPr/>
          </a:p>
        </p:txBody>
      </p:sp>
      <p:pic>
        <p:nvPicPr>
          <p:cNvPr descr="&amp;Rcy;&amp;iecy;&amp;zcy;&amp;ucy;&amp;lcy;&amp;softcy;&amp;tcy;&amp;acy;&amp;tcy; &amp;kcy;&amp;lcy;&amp;acy;&amp;scy;&amp;tcy;&amp;iecy;&amp;rcy;&amp;icy;&amp;zcy;&amp;acy;&amp;tscy;&amp;icy;&amp;icy; &amp;acy;&amp;lcy;&amp;gcy;&amp;ocy;&amp;rcy;&amp;icy;&amp;tcy;&amp;mcy;&amp;ocy;&amp;mcy; k-means" id="565" name="Google Shape;565;p43"/>
          <p:cNvPicPr preferRelativeResize="0"/>
          <p:nvPr/>
        </p:nvPicPr>
        <p:blipFill rotWithShape="1">
          <a:blip r:embed="rId3">
            <a:alphaModFix/>
          </a:blip>
          <a:srcRect b="0" l="0" r="0" t="0"/>
          <a:stretch/>
        </p:blipFill>
        <p:spPr>
          <a:xfrm>
            <a:off x="813541" y="3239616"/>
            <a:ext cx="3639277" cy="2599702"/>
          </a:xfrm>
          <a:prstGeom prst="rect">
            <a:avLst/>
          </a:prstGeom>
          <a:noFill/>
          <a:ln>
            <a:noFill/>
          </a:ln>
        </p:spPr>
      </p:pic>
      <p:sp>
        <p:nvSpPr>
          <p:cNvPr id="566" name="Google Shape;566;p43"/>
          <p:cNvSpPr/>
          <p:nvPr/>
        </p:nvSpPr>
        <p:spPr>
          <a:xfrm>
            <a:off x="706438" y="5885829"/>
            <a:ext cx="4122359" cy="62777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lang="ru-RU" sz="1662">
                <a:solidFill>
                  <a:schemeClr val="dk1"/>
                </a:solidFill>
                <a:latin typeface="Quattrocento Sans"/>
                <a:ea typeface="Quattrocento Sans"/>
                <a:cs typeface="Quattrocento Sans"/>
                <a:sym typeface="Quattrocento Sans"/>
              </a:rPr>
              <a:t>Результат кластеризации алгоритмом k-means</a:t>
            </a:r>
            <a:r>
              <a:rPr b="0" lang="ru-RU" sz="1662">
                <a:solidFill>
                  <a:schemeClr val="dk1"/>
                </a:solidFill>
                <a:latin typeface="Arial"/>
                <a:ea typeface="Arial"/>
                <a:cs typeface="Arial"/>
                <a:sym typeface="Arial"/>
              </a:rPr>
              <a:t> (неиерархический алгоритм)</a:t>
            </a:r>
            <a:r>
              <a:rPr b="1" lang="ru-RU" sz="1662">
                <a:solidFill>
                  <a:schemeClr val="dk1"/>
                </a:solidFill>
                <a:latin typeface="Quattrocento Sans"/>
                <a:ea typeface="Quattrocento Sans"/>
                <a:cs typeface="Quattrocento Sans"/>
                <a:sym typeface="Quattrocento Sans"/>
              </a:rPr>
              <a:t> </a:t>
            </a:r>
            <a:endParaRPr/>
          </a:p>
        </p:txBody>
      </p:sp>
      <p:sp>
        <p:nvSpPr>
          <p:cNvPr id="567" name="Google Shape;567;p43"/>
          <p:cNvSpPr txBox="1"/>
          <p:nvPr/>
        </p:nvSpPr>
        <p:spPr>
          <a:xfrm>
            <a:off x="4561628" y="2868661"/>
            <a:ext cx="5379106"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ru-RU" sz="1800">
                <a:solidFill>
                  <a:schemeClr val="dk1"/>
                </a:solidFill>
                <a:latin typeface="Arial"/>
                <a:ea typeface="Arial"/>
                <a:cs typeface="Arial"/>
                <a:sym typeface="Arial"/>
              </a:rPr>
              <a:t>Семейства k-средних (k-means, fuzzy c-means, Густафсон-Кесселя) в качестве целевой функции используют сумму квадратов взвешенных отклонений координат объектов от центров искомых кластеров. Кластеры ищутся сферической либо эллипсоидной формы. В канонической реализации минимизация функции производится на основе метода множителей Лагранжа и позволяет найти только </a:t>
            </a:r>
            <a:r>
              <a:rPr b="0" lang="ru-RU" sz="1800">
                <a:solidFill>
                  <a:schemeClr val="dk2"/>
                </a:solidFill>
                <a:latin typeface="Arial"/>
                <a:ea typeface="Arial"/>
                <a:cs typeface="Arial"/>
                <a:sym typeface="Arial"/>
              </a:rPr>
              <a:t>ближайший локальный минимум</a:t>
            </a:r>
            <a:r>
              <a:rPr b="0" lang="ru-RU" sz="1800">
                <a:solidFill>
                  <a:schemeClr val="dk1"/>
                </a:solidFill>
                <a:latin typeface="Arial"/>
                <a:ea typeface="Arial"/>
                <a:cs typeface="Arial"/>
                <a:sym typeface="Arial"/>
              </a:rPr>
              <a:t>. Использование методов глобального поиска (генетические алгоритмы) значительно увеличит вычислительную </a:t>
            </a:r>
            <a:r>
              <a:rPr b="0" lang="ru-RU" sz="1800">
                <a:solidFill>
                  <a:schemeClr val="dk2"/>
                </a:solidFill>
                <a:latin typeface="Arial"/>
                <a:ea typeface="Arial"/>
                <a:cs typeface="Arial"/>
                <a:sym typeface="Arial"/>
              </a:rPr>
              <a:t>сложность алгоритма.</a:t>
            </a:r>
            <a:r>
              <a:rPr b="0" lang="ru-RU" sz="1800">
                <a:solidFill>
                  <a:schemeClr val="dk2"/>
                </a:solidFill>
                <a:latin typeface="Quattrocento Sans"/>
                <a:ea typeface="Quattrocento Sans"/>
                <a:cs typeface="Quattrocento Sans"/>
                <a:sym typeface="Quattrocento Sans"/>
              </a:rPr>
              <a:t> </a:t>
            </a:r>
            <a:endParaRPr/>
          </a:p>
        </p:txBody>
      </p:sp>
      <p:sp>
        <p:nvSpPr>
          <p:cNvPr id="568" name="Google Shape;568;p43"/>
          <p:cNvSpPr/>
          <p:nvPr/>
        </p:nvSpPr>
        <p:spPr>
          <a:xfrm>
            <a:off x="611833" y="6706813"/>
            <a:ext cx="6073523" cy="3618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1662">
                <a:solidFill>
                  <a:schemeClr val="dk1"/>
                </a:solidFill>
                <a:latin typeface="Arial"/>
                <a:ea typeface="Arial"/>
                <a:cs typeface="Arial"/>
                <a:sym typeface="Arial"/>
              </a:rPr>
              <a:t>basegroup.ru/library/analysis/clusterization/datamining/</a:t>
            </a:r>
            <a:endParaRPr/>
          </a:p>
        </p:txBody>
      </p:sp>
      <p:sp>
        <p:nvSpPr>
          <p:cNvPr id="569" name="Google Shape;569;p4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4"/>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75" name="Google Shape;575;p44"/>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76" name="Google Shape;576;p44"/>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77" name="Google Shape;577;p44"/>
          <p:cNvSpPr txBox="1"/>
          <p:nvPr>
            <p:ph idx="1" type="body"/>
          </p:nvPr>
        </p:nvSpPr>
        <p:spPr>
          <a:xfrm>
            <a:off x="726499" y="1285232"/>
            <a:ext cx="8876734" cy="367862"/>
          </a:xfrm>
          <a:prstGeom prst="rect">
            <a:avLst/>
          </a:prstGeom>
          <a:noFill/>
          <a:ln>
            <a:noFill/>
          </a:ln>
        </p:spPr>
        <p:txBody>
          <a:bodyPr anchorCtr="0" anchor="t" bIns="45700" lIns="91425" spcFirstLastPara="1" rIns="91425" wrap="square" tIns="45700">
            <a:noAutofit/>
          </a:bodyPr>
          <a:lstStyle/>
          <a:p>
            <a:pPr indent="-356307" lvl="0" marL="356307" rtl="0" algn="l">
              <a:spcBef>
                <a:spcPts val="0"/>
              </a:spcBef>
              <a:spcAft>
                <a:spcPts val="0"/>
              </a:spcAft>
              <a:buClr>
                <a:srgbClr val="0000FF"/>
              </a:buClr>
              <a:buSzPts val="2400"/>
              <a:buChar char="•"/>
            </a:pPr>
            <a:r>
              <a:rPr b="1" i="1" lang="ru-RU" sz="2400">
                <a:solidFill>
                  <a:srgbClr val="0000FF"/>
                </a:solidFill>
              </a:rPr>
              <a:t>Алгоритмы, основанные на теории графов (иерархические)</a:t>
            </a:r>
            <a:endParaRPr/>
          </a:p>
        </p:txBody>
      </p:sp>
      <p:sp>
        <p:nvSpPr>
          <p:cNvPr id="578" name="Google Shape;578;p44"/>
          <p:cNvSpPr txBox="1"/>
          <p:nvPr/>
        </p:nvSpPr>
        <p:spPr>
          <a:xfrm>
            <a:off x="682597" y="2066258"/>
            <a:ext cx="8920636" cy="4672048"/>
          </a:xfrm>
          <a:prstGeom prst="rect">
            <a:avLst/>
          </a:prstGeom>
          <a:noFill/>
          <a:ln>
            <a:noFill/>
          </a:ln>
        </p:spPr>
        <p:txBody>
          <a:bodyPr anchorCtr="0" anchor="t" bIns="45700" lIns="91425" spcFirstLastPara="1" rIns="91425" wrap="square" tIns="45700">
            <a:spAutoFit/>
          </a:bodyPr>
          <a:lstStyle/>
          <a:p>
            <a:pPr indent="-533400" lvl="0" marL="533400" marR="0" rtl="0" algn="l">
              <a:lnSpc>
                <a:spcPct val="85000"/>
              </a:lnSpc>
              <a:spcBef>
                <a:spcPts val="0"/>
              </a:spcBef>
              <a:spcAft>
                <a:spcPts val="0"/>
              </a:spcAft>
              <a:buClr>
                <a:srgbClr val="F4BE96"/>
              </a:buClr>
              <a:buSzPts val="1920"/>
              <a:buFont typeface="Quattrocento Sans"/>
              <a:buChar char="•"/>
            </a:pPr>
            <a:r>
              <a:rPr b="0" lang="ru-RU" sz="2400">
                <a:solidFill>
                  <a:schemeClr val="dk1"/>
                </a:solidFill>
                <a:latin typeface="Quattrocento Sans"/>
                <a:ea typeface="Quattrocento Sans"/>
                <a:cs typeface="Quattrocento Sans"/>
                <a:sym typeface="Quattrocento Sans"/>
              </a:rPr>
              <a:t>Суть таких алгоритмов заключается в том, что выборка объектов представляется в виде графа G=(V, E), вершинам которого соответствуют объекты, а ребра имеют вес, равный «расстоянию» между объектами. </a:t>
            </a:r>
            <a:endParaRPr/>
          </a:p>
          <a:p>
            <a:pPr indent="-533400" lvl="0" marL="533400" marR="0" rtl="0" algn="l">
              <a:lnSpc>
                <a:spcPct val="85000"/>
              </a:lnSpc>
              <a:spcBef>
                <a:spcPts val="600"/>
              </a:spcBef>
              <a:spcAft>
                <a:spcPts val="0"/>
              </a:spcAft>
              <a:buClr>
                <a:srgbClr val="F4BE96"/>
              </a:buClr>
              <a:buSzPts val="1920"/>
              <a:buFont typeface="Quattrocento Sans"/>
              <a:buChar char="•"/>
            </a:pPr>
            <a:r>
              <a:rPr b="0" lang="ru-RU" sz="2400">
                <a:solidFill>
                  <a:schemeClr val="dk1"/>
                </a:solidFill>
                <a:latin typeface="Quattrocento Sans"/>
                <a:ea typeface="Quattrocento Sans"/>
                <a:cs typeface="Quattrocento Sans"/>
                <a:sym typeface="Quattrocento Sans"/>
              </a:rPr>
              <a:t>Достоинством графовых алгоритмов кластеризации являются наглядность, относительная простота реализации и возможность внесения различных усовершенствований, основанных на геометрических соображениях. </a:t>
            </a:r>
            <a:endParaRPr/>
          </a:p>
          <a:p>
            <a:pPr indent="-533400" lvl="0" marL="533400" marR="0" rtl="0" algn="l">
              <a:lnSpc>
                <a:spcPct val="85000"/>
              </a:lnSpc>
              <a:spcBef>
                <a:spcPts val="600"/>
              </a:spcBef>
              <a:spcAft>
                <a:spcPts val="0"/>
              </a:spcAft>
              <a:buClr>
                <a:srgbClr val="F4BE96"/>
              </a:buClr>
              <a:buSzPts val="1920"/>
              <a:buFont typeface="Quattrocento Sans"/>
              <a:buChar char="•"/>
            </a:pPr>
            <a:r>
              <a:rPr b="0" lang="ru-RU" sz="2400">
                <a:solidFill>
                  <a:schemeClr val="dk1"/>
                </a:solidFill>
                <a:latin typeface="Quattrocento Sans"/>
                <a:ea typeface="Quattrocento Sans"/>
                <a:cs typeface="Quattrocento Sans"/>
                <a:sym typeface="Quattrocento Sans"/>
              </a:rPr>
              <a:t>Основными алгоритмами являются </a:t>
            </a:r>
            <a:r>
              <a:rPr b="1" i="1" lang="ru-RU" sz="2400">
                <a:solidFill>
                  <a:schemeClr val="dk1"/>
                </a:solidFill>
                <a:latin typeface="Quattrocento Sans"/>
                <a:ea typeface="Quattrocento Sans"/>
                <a:cs typeface="Quattrocento Sans"/>
                <a:sym typeface="Quattrocento Sans"/>
              </a:rPr>
              <a:t>алгоритм выделения связных компонент, алгоритм построения минимального покрывающего (остовного) дерева и алгоритм послойной кластеризации.</a:t>
            </a:r>
            <a:endParaRPr/>
          </a:p>
        </p:txBody>
      </p:sp>
      <p:sp>
        <p:nvSpPr>
          <p:cNvPr id="579" name="Google Shape;579;p44"/>
          <p:cNvSpPr txBox="1"/>
          <p:nvPr/>
        </p:nvSpPr>
        <p:spPr>
          <a:xfrm>
            <a:off x="1754360" y="294148"/>
            <a:ext cx="6768753" cy="72553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400">
                <a:solidFill>
                  <a:schemeClr val="dk2"/>
                </a:solidFill>
                <a:latin typeface="Calibri"/>
                <a:ea typeface="Calibri"/>
                <a:cs typeface="Calibri"/>
                <a:sym typeface="Calibri"/>
              </a:rPr>
              <a:t>Кластеризация</a:t>
            </a:r>
            <a:endParaRPr sz="4400">
              <a:solidFill>
                <a:schemeClr val="dk2"/>
              </a:solidFill>
              <a:latin typeface="Calibri"/>
              <a:ea typeface="Calibri"/>
              <a:cs typeface="Calibri"/>
              <a:sym typeface="Calibri"/>
            </a:endParaRPr>
          </a:p>
        </p:txBody>
      </p:sp>
      <p:sp>
        <p:nvSpPr>
          <p:cNvPr id="580" name="Google Shape;580;p4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5"/>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86" name="Google Shape;586;p45"/>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87" name="Google Shape;587;p45"/>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88" name="Google Shape;588;p45"/>
          <p:cNvSpPr txBox="1"/>
          <p:nvPr>
            <p:ph type="title"/>
          </p:nvPr>
        </p:nvSpPr>
        <p:spPr>
          <a:xfrm>
            <a:off x="1754360" y="294148"/>
            <a:ext cx="6768753" cy="72553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Кластеризация</a:t>
            </a:r>
            <a:endParaRPr sz="4400"/>
          </a:p>
        </p:txBody>
      </p:sp>
      <p:sp>
        <p:nvSpPr>
          <p:cNvPr id="589" name="Google Shape;589;p45"/>
          <p:cNvSpPr txBox="1"/>
          <p:nvPr>
            <p:ph idx="1" type="body"/>
          </p:nvPr>
        </p:nvSpPr>
        <p:spPr>
          <a:xfrm>
            <a:off x="242888" y="1034158"/>
            <a:ext cx="7253307" cy="367862"/>
          </a:xfrm>
          <a:prstGeom prst="rect">
            <a:avLst/>
          </a:prstGeom>
          <a:noFill/>
          <a:ln>
            <a:noFill/>
          </a:ln>
        </p:spPr>
        <p:txBody>
          <a:bodyPr anchorCtr="0" anchor="t" bIns="45700" lIns="91425" spcFirstLastPara="1" rIns="91425" wrap="square" tIns="45700">
            <a:noAutofit/>
          </a:bodyPr>
          <a:lstStyle/>
          <a:p>
            <a:pPr indent="-356307" lvl="0" marL="356307" rtl="0" algn="l">
              <a:spcBef>
                <a:spcPts val="0"/>
              </a:spcBef>
              <a:spcAft>
                <a:spcPts val="0"/>
              </a:spcAft>
              <a:buClr>
                <a:srgbClr val="0000FF"/>
              </a:buClr>
              <a:buSzPts val="2400"/>
              <a:buChar char="•"/>
            </a:pPr>
            <a:r>
              <a:rPr b="1" i="1" lang="ru-RU" sz="2400">
                <a:solidFill>
                  <a:srgbClr val="0000FF"/>
                </a:solidFill>
              </a:rPr>
              <a:t>Алгоритмы иерархической кластеризации</a:t>
            </a:r>
            <a:endParaRPr/>
          </a:p>
        </p:txBody>
      </p:sp>
      <p:sp>
        <p:nvSpPr>
          <p:cNvPr id="590" name="Google Shape;590;p45"/>
          <p:cNvSpPr txBox="1"/>
          <p:nvPr/>
        </p:nvSpPr>
        <p:spPr>
          <a:xfrm>
            <a:off x="242888" y="1698204"/>
            <a:ext cx="9669100" cy="5352234"/>
          </a:xfrm>
          <a:prstGeom prst="rect">
            <a:avLst/>
          </a:prstGeom>
          <a:noFill/>
          <a:ln>
            <a:noFill/>
          </a:ln>
        </p:spPr>
        <p:txBody>
          <a:bodyPr anchorCtr="0" anchor="t" bIns="45700" lIns="91425" spcFirstLastPara="1" rIns="91425" wrap="square" tIns="45700">
            <a:spAutoFit/>
          </a:bodyPr>
          <a:lstStyle/>
          <a:p>
            <a:pPr indent="-533400" lvl="0" marL="533400" marR="0" rtl="0" algn="l">
              <a:lnSpc>
                <a:spcPct val="85000"/>
              </a:lnSpc>
              <a:spcBef>
                <a:spcPts val="0"/>
              </a:spcBef>
              <a:spcAft>
                <a:spcPts val="0"/>
              </a:spcAft>
              <a:buClr>
                <a:srgbClr val="F4BE96"/>
              </a:buClr>
              <a:buSzPts val="2240"/>
              <a:buFont typeface="Quattrocento Sans"/>
              <a:buChar char="•"/>
            </a:pPr>
            <a:r>
              <a:rPr b="0" lang="ru-RU" sz="2800">
                <a:solidFill>
                  <a:schemeClr val="dk1"/>
                </a:solidFill>
                <a:latin typeface="Quattrocento Sans"/>
                <a:ea typeface="Quattrocento Sans"/>
                <a:cs typeface="Quattrocento Sans"/>
                <a:sym typeface="Quattrocento Sans"/>
              </a:rPr>
              <a:t>Могут быть восходящими и нисходящими. </a:t>
            </a:r>
            <a:endParaRPr/>
          </a:p>
          <a:p>
            <a:pPr indent="-285376" lvl="1" marL="557555" marR="0" rtl="0" algn="l">
              <a:lnSpc>
                <a:spcPct val="85000"/>
              </a:lnSpc>
              <a:spcBef>
                <a:spcPts val="600"/>
              </a:spcBef>
              <a:spcAft>
                <a:spcPts val="0"/>
              </a:spcAft>
              <a:buClr>
                <a:srgbClr val="FFFFFF"/>
              </a:buClr>
              <a:buSzPts val="1800"/>
              <a:buFont typeface="Quattrocento Sans"/>
              <a:buChar char="•"/>
            </a:pPr>
            <a:r>
              <a:rPr b="0" i="0" lang="ru-RU" sz="2400" u="none" cap="none" strike="noStrike">
                <a:solidFill>
                  <a:schemeClr val="dk1"/>
                </a:solidFill>
                <a:latin typeface="Quattrocento Sans"/>
                <a:ea typeface="Quattrocento Sans"/>
                <a:cs typeface="Quattrocento Sans"/>
                <a:sym typeface="Quattrocento Sans"/>
              </a:rPr>
              <a:t>Нисходящие (</a:t>
            </a:r>
            <a:r>
              <a:rPr b="0" i="1" lang="ru-RU" sz="2400" u="none" cap="none" strike="noStrike">
                <a:solidFill>
                  <a:schemeClr val="dk1"/>
                </a:solidFill>
                <a:latin typeface="Quattrocento Sans"/>
                <a:ea typeface="Quattrocento Sans"/>
                <a:cs typeface="Quattrocento Sans"/>
                <a:sym typeface="Quattrocento Sans"/>
              </a:rPr>
              <a:t>дивизивные</a:t>
            </a:r>
            <a:r>
              <a:rPr b="0" i="0" lang="ru-RU" sz="2400" u="none" cap="none" strike="noStrike">
                <a:solidFill>
                  <a:schemeClr val="dk1"/>
                </a:solidFill>
                <a:latin typeface="Quattrocento Sans"/>
                <a:ea typeface="Quattrocento Sans"/>
                <a:cs typeface="Quattrocento Sans"/>
                <a:sym typeface="Quattrocento Sans"/>
              </a:rPr>
              <a:t> или </a:t>
            </a:r>
            <a:r>
              <a:rPr b="0" i="1" lang="ru-RU" sz="2400" u="none" cap="none" strike="noStrike">
                <a:solidFill>
                  <a:schemeClr val="dk1"/>
                </a:solidFill>
                <a:latin typeface="Quattrocento Sans"/>
                <a:ea typeface="Quattrocento Sans"/>
                <a:cs typeface="Quattrocento Sans"/>
                <a:sym typeface="Quattrocento Sans"/>
              </a:rPr>
              <a:t>дивизионные</a:t>
            </a:r>
            <a:r>
              <a:rPr b="0" i="0" lang="ru-RU" sz="2400" u="none" cap="none" strike="noStrike">
                <a:solidFill>
                  <a:schemeClr val="dk1"/>
                </a:solidFill>
                <a:latin typeface="Quattrocento Sans"/>
                <a:ea typeface="Quattrocento Sans"/>
                <a:cs typeface="Quattrocento Sans"/>
                <a:sym typeface="Quattrocento Sans"/>
              </a:rPr>
              <a:t> </a:t>
            </a:r>
            <a:r>
              <a:rPr b="0" i="1" lang="ru-RU" sz="2400" u="none" cap="none" strike="noStrike">
                <a:solidFill>
                  <a:schemeClr val="dk1"/>
                </a:solidFill>
                <a:latin typeface="Quattrocento Sans"/>
                <a:ea typeface="Quattrocento Sans"/>
                <a:cs typeface="Quattrocento Sans"/>
                <a:sym typeface="Quattrocento Sans"/>
              </a:rPr>
              <a:t>методы</a:t>
            </a:r>
            <a:r>
              <a:rPr b="0" i="0" lang="ru-RU" sz="2400" u="none" cap="none" strike="noStrike">
                <a:solidFill>
                  <a:schemeClr val="dk1"/>
                </a:solidFill>
                <a:latin typeface="Quattrocento Sans"/>
                <a:ea typeface="Quattrocento Sans"/>
                <a:cs typeface="Quattrocento Sans"/>
                <a:sym typeface="Quattrocento Sans"/>
              </a:rPr>
              <a:t>) работают по принципу «сверху-вниз»: в начале все объекты помещаются в один кластер, который затем разбивается на все более мелкие кластеры. </a:t>
            </a:r>
            <a:endParaRPr/>
          </a:p>
          <a:p>
            <a:pPr indent="-285376" lvl="1" marL="557555" marR="0" rtl="0" algn="l">
              <a:lnSpc>
                <a:spcPct val="85000"/>
              </a:lnSpc>
              <a:spcBef>
                <a:spcPts val="600"/>
              </a:spcBef>
              <a:spcAft>
                <a:spcPts val="0"/>
              </a:spcAft>
              <a:buClr>
                <a:srgbClr val="FFFFFF"/>
              </a:buClr>
              <a:buSzPts val="1800"/>
              <a:buFont typeface="Quattrocento Sans"/>
              <a:buChar char="•"/>
            </a:pPr>
            <a:r>
              <a:rPr b="0" i="0" lang="ru-RU" sz="2400" u="none" cap="none" strike="noStrike">
                <a:solidFill>
                  <a:schemeClr val="dk1"/>
                </a:solidFill>
                <a:latin typeface="Quattrocento Sans"/>
                <a:ea typeface="Quattrocento Sans"/>
                <a:cs typeface="Quattrocento Sans"/>
                <a:sym typeface="Quattrocento Sans"/>
              </a:rPr>
              <a:t>Более распространены восходящие  (</a:t>
            </a:r>
            <a:r>
              <a:rPr b="0" i="1" lang="ru-RU" sz="2400" u="none" cap="none" strike="noStrike">
                <a:solidFill>
                  <a:schemeClr val="dk1"/>
                </a:solidFill>
                <a:latin typeface="Quattrocento Sans"/>
                <a:ea typeface="Quattrocento Sans"/>
                <a:cs typeface="Quattrocento Sans"/>
                <a:sym typeface="Quattrocento Sans"/>
              </a:rPr>
              <a:t>агломеративные методы</a:t>
            </a:r>
            <a:r>
              <a:rPr b="0" i="0" lang="ru-RU" sz="2400" u="none" cap="none" strike="noStrike">
                <a:solidFill>
                  <a:schemeClr val="dk1"/>
                </a:solidFill>
                <a:latin typeface="Quattrocento Sans"/>
                <a:ea typeface="Quattrocento Sans"/>
                <a:cs typeface="Quattrocento Sans"/>
                <a:sym typeface="Quattrocento Sans"/>
              </a:rPr>
              <a:t> ) алгоритмы, которые в начале работы помещают каждый объект в отдельный кластер, а затем объединяют кластеры во все более крупные, пока все объекты выборки не будут содержаться в одном кластере. Таким образом строится система вложенных разбиений. Результаты таких алгоритмов обычно представляют в виде дерева – </a:t>
            </a:r>
            <a:r>
              <a:rPr b="0" i="1" lang="ru-RU" sz="2400" u="none" cap="none" strike="noStrike">
                <a:solidFill>
                  <a:srgbClr val="0000FF"/>
                </a:solidFill>
                <a:latin typeface="Quattrocento Sans"/>
                <a:ea typeface="Quattrocento Sans"/>
                <a:cs typeface="Quattrocento Sans"/>
                <a:sym typeface="Quattrocento Sans"/>
              </a:rPr>
              <a:t>дендрограммы</a:t>
            </a:r>
            <a:r>
              <a:rPr b="0" i="0" lang="ru-RU" sz="2400" u="none" cap="none" strike="noStrike">
                <a:solidFill>
                  <a:srgbClr val="0000FF"/>
                </a:solidFill>
                <a:latin typeface="Quattrocento Sans"/>
                <a:ea typeface="Quattrocento Sans"/>
                <a:cs typeface="Quattrocento Sans"/>
                <a:sym typeface="Quattrocento Sans"/>
              </a:rPr>
              <a:t>. </a:t>
            </a:r>
            <a:r>
              <a:rPr b="0" i="0" lang="ru-RU" sz="2400" u="none" cap="none" strike="noStrike">
                <a:solidFill>
                  <a:schemeClr val="dk1"/>
                </a:solidFill>
                <a:latin typeface="Quattrocento Sans"/>
                <a:ea typeface="Quattrocento Sans"/>
                <a:cs typeface="Quattrocento Sans"/>
                <a:sym typeface="Quattrocento Sans"/>
              </a:rPr>
              <a:t>Классический пример такого дерева – классификация животных и растений.</a:t>
            </a:r>
            <a:br>
              <a:rPr b="0" i="0" lang="ru-RU" sz="2400" u="none" cap="none" strike="noStrike">
                <a:solidFill>
                  <a:schemeClr val="dk1"/>
                </a:solidFill>
                <a:latin typeface="Quattrocento Sans"/>
                <a:ea typeface="Quattrocento Sans"/>
                <a:cs typeface="Quattrocento Sans"/>
                <a:sym typeface="Quattrocento Sans"/>
              </a:rPr>
            </a:br>
            <a:br>
              <a:rPr b="0" i="0" lang="ru-RU" sz="2400" u="none" cap="none" strike="noStrike">
                <a:solidFill>
                  <a:schemeClr val="dk1"/>
                </a:solidFill>
                <a:latin typeface="Quattrocento Sans"/>
                <a:ea typeface="Quattrocento Sans"/>
                <a:cs typeface="Quattrocento Sans"/>
                <a:sym typeface="Quattrocento Sans"/>
              </a:rPr>
            </a:br>
            <a:endParaRPr b="0" i="0" sz="2400" u="none" cap="none" strike="noStrike">
              <a:solidFill>
                <a:schemeClr val="dk1"/>
              </a:solidFill>
              <a:latin typeface="Quattrocento Sans"/>
              <a:ea typeface="Quattrocento Sans"/>
              <a:cs typeface="Quattrocento Sans"/>
              <a:sym typeface="Quattrocento Sans"/>
            </a:endParaRPr>
          </a:p>
        </p:txBody>
      </p:sp>
      <p:pic>
        <p:nvPicPr>
          <p:cNvPr descr="&amp;Pcy;&amp;rcy;&amp;icy;&amp;mcy;&amp;iecy;&amp;rcy; &amp;dcy;&amp;iecy;&amp;ncy;&amp;dcy;&amp;rcy;&amp;ocy;&amp;gcy;&amp;rcy;&amp;acy;&amp;mcy;&amp;mcy;&amp;ycy;" id="591" name="Google Shape;591;p45"/>
          <p:cNvPicPr preferRelativeResize="0"/>
          <p:nvPr/>
        </p:nvPicPr>
        <p:blipFill rotWithShape="1">
          <a:blip r:embed="rId3">
            <a:alphaModFix/>
          </a:blip>
          <a:srcRect b="0" l="0" r="0" t="0"/>
          <a:stretch/>
        </p:blipFill>
        <p:spPr>
          <a:xfrm>
            <a:off x="7989538" y="116253"/>
            <a:ext cx="2091700" cy="1132619"/>
          </a:xfrm>
          <a:prstGeom prst="rect">
            <a:avLst/>
          </a:prstGeom>
          <a:noFill/>
          <a:ln>
            <a:noFill/>
          </a:ln>
        </p:spPr>
      </p:pic>
      <p:sp>
        <p:nvSpPr>
          <p:cNvPr id="592" name="Google Shape;592;p4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6"/>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98" name="Google Shape;598;p46"/>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599" name="Google Shape;599;p46"/>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600" name="Google Shape;600;p46"/>
          <p:cNvSpPr txBox="1"/>
          <p:nvPr>
            <p:ph idx="4294967295" type="title"/>
          </p:nvPr>
        </p:nvSpPr>
        <p:spPr>
          <a:xfrm>
            <a:off x="1113857" y="295610"/>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Кластеризация k-means</a:t>
            </a:r>
            <a:endParaRPr sz="4400"/>
          </a:p>
        </p:txBody>
      </p:sp>
      <p:sp>
        <p:nvSpPr>
          <p:cNvPr id="601" name="Google Shape;601;p46"/>
          <p:cNvSpPr txBox="1"/>
          <p:nvPr>
            <p:ph idx="12" type="sldNum"/>
          </p:nvPr>
        </p:nvSpPr>
        <p:spPr>
          <a:xfrm>
            <a:off x="8673532" y="6605014"/>
            <a:ext cx="1090070"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602" name="Google Shape;602;p46"/>
          <p:cNvSpPr/>
          <p:nvPr/>
        </p:nvSpPr>
        <p:spPr>
          <a:xfrm>
            <a:off x="242887" y="1042864"/>
            <a:ext cx="9791700" cy="369331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ru-RU" sz="1800" u="none" cap="none" strike="noStrike">
                <a:solidFill>
                  <a:schemeClr val="dk1"/>
                </a:solidFill>
                <a:latin typeface="Arial"/>
                <a:ea typeface="Arial"/>
                <a:cs typeface="Arial"/>
                <a:sym typeface="Arial"/>
              </a:rPr>
              <a:t>Алгоритм К-средних, наверное, самый популярный и простой алгоритм кластеризации и очень легко представляется в виде простого псевдокода:</a:t>
            </a:r>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AutoNum type="arabicPeriod"/>
            </a:pPr>
            <a:r>
              <a:rPr b="0" i="0" lang="ru-RU" sz="1800" u="none" cap="none" strike="noStrike">
                <a:solidFill>
                  <a:schemeClr val="dk1"/>
                </a:solidFill>
                <a:latin typeface="Arial"/>
                <a:ea typeface="Arial"/>
                <a:cs typeface="Arial"/>
                <a:sym typeface="Arial"/>
              </a:rPr>
              <a:t>Выбрать количество кластеров  </a:t>
            </a:r>
            <a:r>
              <a:rPr b="1" i="1" lang="ru-RU" sz="1800">
                <a:solidFill>
                  <a:schemeClr val="dk1"/>
                </a:solidFill>
                <a:latin typeface="Arial"/>
                <a:ea typeface="Arial"/>
                <a:cs typeface="Arial"/>
                <a:sym typeface="Arial"/>
              </a:rPr>
              <a:t>k</a:t>
            </a:r>
            <a:r>
              <a:rPr b="0" i="0" lang="ru-RU" sz="1800" u="none" cap="none" strike="noStrike">
                <a:solidFill>
                  <a:schemeClr val="dk1"/>
                </a:solidFill>
                <a:latin typeface="Arial"/>
                <a:ea typeface="Arial"/>
                <a:cs typeface="Arial"/>
                <a:sym typeface="Arial"/>
              </a:rPr>
              <a:t>, которое нам кажется оптимальным для наших данных. </a:t>
            </a:r>
            <a:endParaRPr/>
          </a:p>
          <a:p>
            <a:pPr indent="-114300" lvl="0" marL="0" marR="0" rtl="0" algn="l">
              <a:lnSpc>
                <a:spcPct val="100000"/>
              </a:lnSpc>
              <a:spcBef>
                <a:spcPts val="0"/>
              </a:spcBef>
              <a:spcAft>
                <a:spcPts val="0"/>
              </a:spcAft>
              <a:buClr>
                <a:schemeClr val="dk1"/>
              </a:buClr>
              <a:buSzPts val="1800"/>
              <a:buFont typeface="Arial"/>
              <a:buAutoNum type="arabicPeriod"/>
            </a:pPr>
            <a:r>
              <a:rPr b="0" i="0" lang="ru-RU" sz="1800" u="none" cap="none" strike="noStrike">
                <a:solidFill>
                  <a:schemeClr val="dk1"/>
                </a:solidFill>
                <a:latin typeface="Arial"/>
                <a:ea typeface="Arial"/>
                <a:cs typeface="Arial"/>
                <a:sym typeface="Arial"/>
              </a:rPr>
              <a:t>Высыпать случайным образом в пространство наших данных </a:t>
            </a:r>
            <a:r>
              <a:rPr b="1" i="1" lang="ru-RU" sz="1800">
                <a:solidFill>
                  <a:schemeClr val="dk1"/>
                </a:solidFill>
                <a:latin typeface="Arial"/>
                <a:ea typeface="Arial"/>
                <a:cs typeface="Arial"/>
                <a:sym typeface="Arial"/>
              </a:rPr>
              <a:t>k</a:t>
            </a:r>
            <a:r>
              <a:rPr b="0" i="0" lang="ru-RU" sz="1800" u="none" cap="none" strike="noStrike">
                <a:solidFill>
                  <a:schemeClr val="dk1"/>
                </a:solidFill>
                <a:latin typeface="Arial"/>
                <a:ea typeface="Arial"/>
                <a:cs typeface="Arial"/>
                <a:sym typeface="Arial"/>
              </a:rPr>
              <a:t> точек (центроидов). </a:t>
            </a:r>
            <a:endParaRPr/>
          </a:p>
          <a:p>
            <a:pPr indent="-114300" lvl="0" marL="0" marR="0" rtl="0" algn="l">
              <a:lnSpc>
                <a:spcPct val="100000"/>
              </a:lnSpc>
              <a:spcBef>
                <a:spcPts val="0"/>
              </a:spcBef>
              <a:spcAft>
                <a:spcPts val="0"/>
              </a:spcAft>
              <a:buClr>
                <a:schemeClr val="dk1"/>
              </a:buClr>
              <a:buSzPts val="1800"/>
              <a:buFont typeface="Arial"/>
              <a:buAutoNum type="arabicPeriod"/>
            </a:pPr>
            <a:r>
              <a:rPr b="0" i="0" lang="ru-RU" sz="1800" u="none" cap="none" strike="noStrike">
                <a:solidFill>
                  <a:schemeClr val="dk1"/>
                </a:solidFill>
                <a:latin typeface="Arial"/>
                <a:ea typeface="Arial"/>
                <a:cs typeface="Arial"/>
                <a:sym typeface="Arial"/>
              </a:rPr>
              <a:t>Для каждой точки нашего набора данных посчитать, к какому центроиду она ближе. </a:t>
            </a:r>
            <a:endParaRPr/>
          </a:p>
          <a:p>
            <a:pPr indent="-114300" lvl="0" marL="0" marR="0" rtl="0" algn="l">
              <a:lnSpc>
                <a:spcPct val="100000"/>
              </a:lnSpc>
              <a:spcBef>
                <a:spcPts val="0"/>
              </a:spcBef>
              <a:spcAft>
                <a:spcPts val="0"/>
              </a:spcAft>
              <a:buClr>
                <a:schemeClr val="dk1"/>
              </a:buClr>
              <a:buSzPts val="1800"/>
              <a:buFont typeface="Arial"/>
              <a:buAutoNum type="arabicPeriod"/>
            </a:pPr>
            <a:r>
              <a:rPr b="0" i="0" lang="ru-RU" sz="1800" u="none" cap="none" strike="noStrike">
                <a:solidFill>
                  <a:schemeClr val="dk1"/>
                </a:solidFill>
                <a:latin typeface="Arial"/>
                <a:ea typeface="Arial"/>
                <a:cs typeface="Arial"/>
                <a:sym typeface="Arial"/>
              </a:rPr>
              <a:t>Переместить каждый центроид в центр выборки, которую мы отнесли к этому центроиду. </a:t>
            </a:r>
            <a:endParaRPr/>
          </a:p>
          <a:p>
            <a:pPr indent="-114300" lvl="0" marL="0" marR="0" rtl="0" algn="l">
              <a:lnSpc>
                <a:spcPct val="100000"/>
              </a:lnSpc>
              <a:spcBef>
                <a:spcPts val="0"/>
              </a:spcBef>
              <a:spcAft>
                <a:spcPts val="0"/>
              </a:spcAft>
              <a:buClr>
                <a:schemeClr val="dk1"/>
              </a:buClr>
              <a:buSzPts val="1800"/>
              <a:buFont typeface="Arial"/>
              <a:buAutoNum type="arabicPeriod"/>
            </a:pPr>
            <a:r>
              <a:rPr b="0" i="0" lang="ru-RU" sz="1800" u="none" cap="none" strike="noStrike">
                <a:solidFill>
                  <a:schemeClr val="dk1"/>
                </a:solidFill>
                <a:latin typeface="Arial"/>
                <a:ea typeface="Arial"/>
                <a:cs typeface="Arial"/>
                <a:sym typeface="Arial"/>
              </a:rPr>
              <a:t>Повторять последние два шага фиксированное число раз, либо до тех пор пока центроиды не "сойдутся" (обычно это значит, что их смещение относительно предыдущего положения не превышает какого-то заранее заданного небольшого значения). </a:t>
            </a:r>
            <a:endParaRPr/>
          </a:p>
        </p:txBody>
      </p:sp>
      <p:sp>
        <p:nvSpPr>
          <p:cNvPr descr="$k$" id="603" name="Google Shape;603;p46"/>
          <p:cNvSpPr/>
          <p:nvPr/>
        </p:nvSpPr>
        <p:spPr>
          <a:xfrm>
            <a:off x="371792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descr="$k$" id="604" name="Google Shape;604;p46"/>
          <p:cNvSpPr/>
          <p:nvPr/>
        </p:nvSpPr>
        <p:spPr>
          <a:xfrm>
            <a:off x="6959600"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605" name="Google Shape;605;p46"/>
          <p:cNvSpPr txBox="1"/>
          <p:nvPr/>
        </p:nvSpPr>
        <p:spPr>
          <a:xfrm>
            <a:off x="242886" y="4858183"/>
            <a:ext cx="9431400" cy="64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Таким образом, алгоритм стремится минимизировать суммарное квадратичное отклонение точек кластеров от центров этих кластеров: </a:t>
            </a:r>
            <a:endParaRPr/>
          </a:p>
        </p:txBody>
      </p:sp>
      <p:pic>
        <p:nvPicPr>
          <p:cNvPr id="606" name="Google Shape;606;p46"/>
          <p:cNvPicPr preferRelativeResize="0"/>
          <p:nvPr/>
        </p:nvPicPr>
        <p:blipFill rotWithShape="1">
          <a:blip r:embed="rId3">
            <a:alphaModFix/>
          </a:blip>
          <a:srcRect b="0" l="0" r="0" t="0"/>
          <a:stretch/>
        </p:blipFill>
        <p:spPr>
          <a:xfrm>
            <a:off x="6650905" y="5181348"/>
            <a:ext cx="2440815" cy="728411"/>
          </a:xfrm>
          <a:prstGeom prst="rect">
            <a:avLst/>
          </a:prstGeom>
          <a:noFill/>
          <a:ln>
            <a:noFill/>
          </a:ln>
        </p:spPr>
      </p:pic>
      <p:sp>
        <p:nvSpPr>
          <p:cNvPr id="607" name="Google Shape;607;p46"/>
          <p:cNvSpPr/>
          <p:nvPr/>
        </p:nvSpPr>
        <p:spPr>
          <a:xfrm>
            <a:off x="171450" y="5835194"/>
            <a:ext cx="9431400" cy="6771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ru-RU" sz="1800" u="none" cap="none" strike="noStrike">
                <a:solidFill>
                  <a:schemeClr val="dk1"/>
                </a:solidFill>
                <a:latin typeface="Arial"/>
                <a:ea typeface="Arial"/>
                <a:cs typeface="Arial"/>
                <a:sym typeface="Arial"/>
              </a:rPr>
              <a:t>где </a:t>
            </a:r>
            <a:r>
              <a:rPr b="1" i="1" lang="ru-RU" sz="1800">
                <a:solidFill>
                  <a:schemeClr val="dk1"/>
                </a:solidFill>
                <a:latin typeface="Arial"/>
                <a:ea typeface="Arial"/>
                <a:cs typeface="Arial"/>
                <a:sym typeface="Arial"/>
              </a:rPr>
              <a:t>k</a:t>
            </a:r>
            <a:r>
              <a:rPr b="0" i="0" lang="ru-RU" sz="1800" u="none" cap="none" strike="noStrike">
                <a:solidFill>
                  <a:schemeClr val="dk1"/>
                </a:solidFill>
                <a:latin typeface="Arial"/>
                <a:ea typeface="Arial"/>
                <a:cs typeface="Arial"/>
                <a:sym typeface="Arial"/>
              </a:rPr>
              <a:t> — число кластеров,  </a:t>
            </a:r>
            <a:r>
              <a:rPr b="1" i="1" lang="ru-RU" sz="1800" u="none" cap="none" strike="noStrike">
                <a:solidFill>
                  <a:schemeClr val="dk1"/>
                </a:solidFill>
                <a:latin typeface="Arial"/>
                <a:ea typeface="Arial"/>
                <a:cs typeface="Arial"/>
                <a:sym typeface="Arial"/>
              </a:rPr>
              <a:t>S</a:t>
            </a:r>
            <a:r>
              <a:rPr b="1" baseline="-25000" i="1" lang="ru-RU" sz="1800" u="none" cap="none" strike="noStrike">
                <a:solidFill>
                  <a:schemeClr val="dk1"/>
                </a:solidFill>
                <a:latin typeface="Arial"/>
                <a:ea typeface="Arial"/>
                <a:cs typeface="Arial"/>
                <a:sym typeface="Arial"/>
              </a:rPr>
              <a:t>i</a:t>
            </a:r>
            <a:r>
              <a:rPr b="1" i="1" lang="ru-RU" sz="1800" u="none" cap="none" strike="noStrike">
                <a:solidFill>
                  <a:schemeClr val="dk1"/>
                </a:solidFill>
                <a:latin typeface="Arial"/>
                <a:ea typeface="Arial"/>
                <a:cs typeface="Arial"/>
                <a:sym typeface="Arial"/>
              </a:rPr>
              <a:t> </a:t>
            </a:r>
            <a:r>
              <a:rPr b="0" i="0" lang="ru-RU" sz="1800" u="none" cap="none" strike="noStrike">
                <a:solidFill>
                  <a:schemeClr val="dk1"/>
                </a:solidFill>
                <a:latin typeface="Arial"/>
                <a:ea typeface="Arial"/>
                <a:cs typeface="Arial"/>
                <a:sym typeface="Arial"/>
              </a:rPr>
              <a:t>— полученные кластеры, </a:t>
            </a:r>
            <a:r>
              <a:rPr b="1" i="1" lang="ru-RU" sz="1800" u="none" cap="none" strike="noStrike">
                <a:solidFill>
                  <a:schemeClr val="dk1"/>
                </a:solidFill>
                <a:latin typeface="Arial"/>
                <a:ea typeface="Arial"/>
                <a:cs typeface="Arial"/>
                <a:sym typeface="Arial"/>
              </a:rPr>
              <a:t>i=1,2…k</a:t>
            </a:r>
            <a:r>
              <a:rPr b="0" i="0" lang="ru-RU" sz="1800" u="none" cap="none" strike="noStrike">
                <a:solidFill>
                  <a:schemeClr val="dk1"/>
                </a:solidFill>
                <a:latin typeface="Arial"/>
                <a:ea typeface="Arial"/>
                <a:cs typeface="Arial"/>
                <a:sym typeface="Arial"/>
              </a:rPr>
              <a:t>, а </a:t>
            </a:r>
            <a:r>
              <a:rPr b="1" i="1" lang="ru-RU" sz="2000" u="none" cap="none" strike="noStrike">
                <a:solidFill>
                  <a:schemeClr val="dk1"/>
                </a:solidFill>
                <a:latin typeface="Arial"/>
                <a:ea typeface="Arial"/>
                <a:cs typeface="Arial"/>
                <a:sym typeface="Arial"/>
              </a:rPr>
              <a:t>µ</a:t>
            </a:r>
            <a:r>
              <a:rPr b="1" baseline="-25000" i="1" lang="ru-RU" sz="2000" u="none" cap="none" strike="noStrike">
                <a:solidFill>
                  <a:schemeClr val="dk1"/>
                </a:solidFill>
                <a:latin typeface="Arial"/>
                <a:ea typeface="Arial"/>
                <a:cs typeface="Arial"/>
                <a:sym typeface="Arial"/>
              </a:rPr>
              <a:t>i</a:t>
            </a:r>
            <a:r>
              <a:rPr b="1" i="1" lang="ru-RU" sz="2000" u="none" cap="none" strike="noStrike">
                <a:solidFill>
                  <a:schemeClr val="dk1"/>
                </a:solidFill>
                <a:latin typeface="Arial"/>
                <a:ea typeface="Arial"/>
                <a:cs typeface="Arial"/>
                <a:sym typeface="Arial"/>
              </a:rPr>
              <a:t> </a:t>
            </a:r>
            <a:r>
              <a:rPr b="0" i="0" lang="ru-RU" sz="1800" u="none" cap="none" strike="noStrike">
                <a:solidFill>
                  <a:schemeClr val="dk1"/>
                </a:solidFill>
                <a:latin typeface="Arial"/>
                <a:ea typeface="Arial"/>
                <a:cs typeface="Arial"/>
                <a:sym typeface="Arial"/>
              </a:rPr>
              <a:t>— центры масс всех векторов </a:t>
            </a:r>
            <a:r>
              <a:rPr b="1" i="1" lang="ru-RU" sz="1800" u="none" cap="none" strike="noStrike">
                <a:solidFill>
                  <a:schemeClr val="dk1"/>
                </a:solidFill>
                <a:latin typeface="Arial"/>
                <a:ea typeface="Arial"/>
                <a:cs typeface="Arial"/>
                <a:sym typeface="Arial"/>
              </a:rPr>
              <a:t>x</a:t>
            </a:r>
            <a:r>
              <a:rPr b="0" i="0" lang="ru-RU" sz="1800" u="none" cap="none" strike="noStrike">
                <a:solidFill>
                  <a:schemeClr val="dk1"/>
                </a:solidFill>
                <a:latin typeface="Arial"/>
                <a:ea typeface="Arial"/>
                <a:cs typeface="Arial"/>
                <a:sym typeface="Arial"/>
              </a:rPr>
              <a:t> из кластера  </a:t>
            </a:r>
            <a:r>
              <a:rPr b="1" i="1" lang="ru-RU" sz="1800" u="none" cap="none" strike="noStrike">
                <a:solidFill>
                  <a:schemeClr val="dk1"/>
                </a:solidFill>
                <a:latin typeface="Arial"/>
                <a:ea typeface="Arial"/>
                <a:cs typeface="Arial"/>
                <a:sym typeface="Arial"/>
              </a:rPr>
              <a:t>S</a:t>
            </a:r>
            <a:r>
              <a:rPr b="1" baseline="-25000" i="1" lang="ru-RU" sz="1800" u="none" cap="none" strike="noStrike">
                <a:solidFill>
                  <a:schemeClr val="dk1"/>
                </a:solidFill>
                <a:latin typeface="Arial"/>
                <a:ea typeface="Arial"/>
                <a:cs typeface="Arial"/>
                <a:sym typeface="Arial"/>
              </a:rPr>
              <a:t>i</a:t>
            </a:r>
            <a:r>
              <a:rPr b="0" i="0" lang="ru-RU" sz="1800" u="none" cap="none" strike="noStrike">
                <a:solidFill>
                  <a:schemeClr val="dk1"/>
                </a:solidFill>
                <a:latin typeface="Arial"/>
                <a:ea typeface="Arial"/>
                <a:cs typeface="Arial"/>
                <a:sym typeface="Arial"/>
              </a:rPr>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47"/>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13" name="Google Shape;613;p47"/>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14" name="Google Shape;614;p47"/>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615" name="Google Shape;615;p47"/>
          <p:cNvSpPr txBox="1"/>
          <p:nvPr>
            <p:ph idx="4294967295" type="title"/>
          </p:nvPr>
        </p:nvSpPr>
        <p:spPr>
          <a:xfrm>
            <a:off x="1113857" y="295610"/>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Кластеризация k-means</a:t>
            </a:r>
            <a:endParaRPr sz="4400"/>
          </a:p>
        </p:txBody>
      </p:sp>
      <p:sp>
        <p:nvSpPr>
          <p:cNvPr id="616" name="Google Shape;616;p47"/>
          <p:cNvSpPr txBox="1"/>
          <p:nvPr>
            <p:ph idx="12" type="sldNum"/>
          </p:nvPr>
        </p:nvSpPr>
        <p:spPr>
          <a:xfrm>
            <a:off x="8673532" y="6605014"/>
            <a:ext cx="1090070"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descr="$k$" id="617" name="Google Shape;617;p47"/>
          <p:cNvSpPr/>
          <p:nvPr/>
        </p:nvSpPr>
        <p:spPr>
          <a:xfrm>
            <a:off x="371792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descr="$k$" id="618" name="Google Shape;618;p47"/>
          <p:cNvSpPr/>
          <p:nvPr/>
        </p:nvSpPr>
        <p:spPr>
          <a:xfrm>
            <a:off x="6959600"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619" name="Google Shape;619;p47"/>
          <p:cNvSpPr txBox="1"/>
          <p:nvPr/>
        </p:nvSpPr>
        <p:spPr>
          <a:xfrm>
            <a:off x="458787" y="1181101"/>
            <a:ext cx="914444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Действие алгоритма в двумерном случае. Начальные точки выбраны случайно. </a:t>
            </a:r>
            <a:endParaRPr/>
          </a:p>
        </p:txBody>
      </p:sp>
      <p:pic>
        <p:nvPicPr>
          <p:cNvPr id="620" name="Google Shape;620;p47"/>
          <p:cNvPicPr preferRelativeResize="0"/>
          <p:nvPr/>
        </p:nvPicPr>
        <p:blipFill rotWithShape="1">
          <a:blip r:embed="rId3">
            <a:alphaModFix/>
          </a:blip>
          <a:srcRect b="0" l="0" r="0" t="0"/>
          <a:stretch/>
        </p:blipFill>
        <p:spPr>
          <a:xfrm>
            <a:off x="458787" y="1711179"/>
            <a:ext cx="8659433" cy="2753109"/>
          </a:xfrm>
          <a:prstGeom prst="rect">
            <a:avLst/>
          </a:prstGeom>
          <a:noFill/>
          <a:ln>
            <a:noFill/>
          </a:ln>
        </p:spPr>
      </p:pic>
      <p:sp>
        <p:nvSpPr>
          <p:cNvPr id="621" name="Google Shape;621;p47"/>
          <p:cNvSpPr txBox="1"/>
          <p:nvPr/>
        </p:nvSpPr>
        <p:spPr>
          <a:xfrm>
            <a:off x="465710" y="5249549"/>
            <a:ext cx="9763602" cy="1508105"/>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lang="ru-RU" sz="1800">
                <a:solidFill>
                  <a:schemeClr val="dk1"/>
                </a:solidFill>
                <a:latin typeface="Arial"/>
                <a:ea typeface="Arial"/>
                <a:cs typeface="Arial"/>
                <a:sym typeface="Arial"/>
              </a:rPr>
              <a:t>Не гарантируется достижение глобального минимума суммарного квадратичного отклонения </a:t>
            </a:r>
            <a:r>
              <a:rPr i="1" lang="ru-RU" sz="1800">
                <a:solidFill>
                  <a:schemeClr val="dk1"/>
                </a:solidFill>
                <a:latin typeface="Arial"/>
                <a:ea typeface="Arial"/>
                <a:cs typeface="Arial"/>
                <a:sym typeface="Arial"/>
              </a:rPr>
              <a:t>V</a:t>
            </a:r>
            <a:r>
              <a:rPr lang="ru-RU" sz="1800">
                <a:solidFill>
                  <a:schemeClr val="dk1"/>
                </a:solidFill>
                <a:latin typeface="Arial"/>
                <a:ea typeface="Arial"/>
                <a:cs typeface="Arial"/>
                <a:sym typeface="Arial"/>
              </a:rPr>
              <a:t>, а только одного из локальных минимумов.</a:t>
            </a:r>
            <a:endParaRPr/>
          </a:p>
          <a:p>
            <a:pPr indent="-285750" lvl="0" marL="285750" marR="0" rtl="0" algn="l">
              <a:spcBef>
                <a:spcPts val="0"/>
              </a:spcBef>
              <a:spcAft>
                <a:spcPts val="0"/>
              </a:spcAft>
              <a:buClr>
                <a:schemeClr val="dk1"/>
              </a:buClr>
              <a:buSzPts val="1800"/>
              <a:buFont typeface="Noto Sans Symbols"/>
              <a:buChar char="▪"/>
            </a:pPr>
            <a:r>
              <a:rPr lang="ru-RU" sz="1800">
                <a:solidFill>
                  <a:schemeClr val="dk1"/>
                </a:solidFill>
                <a:latin typeface="Arial"/>
                <a:ea typeface="Arial"/>
                <a:cs typeface="Arial"/>
                <a:sym typeface="Arial"/>
              </a:rPr>
              <a:t>Результат зависит от выбора исходных центров кластеров, их оптимальный выбор неизвестен.</a:t>
            </a:r>
            <a:endParaRPr/>
          </a:p>
          <a:p>
            <a:pPr indent="-285750" lvl="0" marL="285750" marR="0" rtl="0" algn="l">
              <a:spcBef>
                <a:spcPts val="0"/>
              </a:spcBef>
              <a:spcAft>
                <a:spcPts val="0"/>
              </a:spcAft>
              <a:buClr>
                <a:schemeClr val="dk1"/>
              </a:buClr>
              <a:buSzPts val="1800"/>
              <a:buFont typeface="Noto Sans Symbols"/>
              <a:buChar char="▪"/>
            </a:pPr>
            <a:r>
              <a:rPr lang="ru-RU" sz="1800">
                <a:solidFill>
                  <a:schemeClr val="dk1"/>
                </a:solidFill>
                <a:latin typeface="Arial"/>
                <a:ea typeface="Arial"/>
                <a:cs typeface="Arial"/>
                <a:sym typeface="Arial"/>
              </a:rPr>
              <a:t>Число кластеров надо знать заранее.</a:t>
            </a:r>
            <a:endParaRPr/>
          </a:p>
        </p:txBody>
      </p:sp>
      <p:sp>
        <p:nvSpPr>
          <p:cNvPr id="622" name="Google Shape;622;p47"/>
          <p:cNvSpPr txBox="1"/>
          <p:nvPr/>
        </p:nvSpPr>
        <p:spPr>
          <a:xfrm>
            <a:off x="3657144" y="4841594"/>
            <a:ext cx="274773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000">
                <a:solidFill>
                  <a:schemeClr val="dk1"/>
                </a:solidFill>
                <a:latin typeface="Arial"/>
                <a:ea typeface="Arial"/>
                <a:cs typeface="Arial"/>
                <a:sym typeface="Arial"/>
              </a:rPr>
              <a:t>Проблемы k-means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48"/>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28" name="Google Shape;628;p48"/>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29" name="Google Shape;629;p48"/>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30" name="Google Shape;630;p48"/>
          <p:cNvSpPr txBox="1"/>
          <p:nvPr>
            <p:ph idx="1" type="body"/>
          </p:nvPr>
        </p:nvSpPr>
        <p:spPr>
          <a:xfrm>
            <a:off x="602233" y="943654"/>
            <a:ext cx="7253307" cy="36786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2400"/>
              <a:buNone/>
            </a:pPr>
            <a:r>
              <a:rPr b="1" i="1" lang="ru-RU" sz="2400">
                <a:solidFill>
                  <a:srgbClr val="0000FF"/>
                </a:solidFill>
              </a:rPr>
              <a:t>Алгоритмы плоской кластеризации</a:t>
            </a:r>
            <a:endParaRPr/>
          </a:p>
        </p:txBody>
      </p:sp>
      <p:sp>
        <p:nvSpPr>
          <p:cNvPr id="631" name="Google Shape;631;p48"/>
          <p:cNvSpPr txBox="1"/>
          <p:nvPr/>
        </p:nvSpPr>
        <p:spPr>
          <a:xfrm>
            <a:off x="1754360" y="294148"/>
            <a:ext cx="6768753" cy="725534"/>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400">
                <a:solidFill>
                  <a:schemeClr val="dk2"/>
                </a:solidFill>
                <a:latin typeface="Calibri"/>
                <a:ea typeface="Calibri"/>
                <a:cs typeface="Calibri"/>
                <a:sym typeface="Calibri"/>
              </a:rPr>
              <a:t>Кластеризация</a:t>
            </a:r>
            <a:endParaRPr sz="4400">
              <a:solidFill>
                <a:schemeClr val="dk2"/>
              </a:solidFill>
              <a:latin typeface="Calibri"/>
              <a:ea typeface="Calibri"/>
              <a:cs typeface="Calibri"/>
              <a:sym typeface="Calibri"/>
            </a:endParaRPr>
          </a:p>
        </p:txBody>
      </p:sp>
      <p:sp>
        <p:nvSpPr>
          <p:cNvPr id="632" name="Google Shape;632;p4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pic>
        <p:nvPicPr>
          <p:cNvPr id="633" name="Google Shape;633;p48"/>
          <p:cNvPicPr preferRelativeResize="0"/>
          <p:nvPr/>
        </p:nvPicPr>
        <p:blipFill rotWithShape="1">
          <a:blip r:embed="rId3">
            <a:alphaModFix/>
          </a:blip>
          <a:srcRect b="0" l="0" r="0" t="0"/>
          <a:stretch/>
        </p:blipFill>
        <p:spPr>
          <a:xfrm>
            <a:off x="2427288" y="1424493"/>
            <a:ext cx="4667250" cy="55054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49"/>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39" name="Google Shape;639;p49"/>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40" name="Google Shape;640;p49"/>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41" name="Google Shape;641;p49"/>
          <p:cNvSpPr txBox="1"/>
          <p:nvPr>
            <p:ph type="title"/>
          </p:nvPr>
        </p:nvSpPr>
        <p:spPr>
          <a:xfrm>
            <a:off x="1826368" y="295290"/>
            <a:ext cx="6624737" cy="67511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Кластеризация</a:t>
            </a:r>
            <a:endParaRPr sz="4400"/>
          </a:p>
        </p:txBody>
      </p:sp>
      <p:sp>
        <p:nvSpPr>
          <p:cNvPr id="642" name="Google Shape;642;p49"/>
          <p:cNvSpPr txBox="1"/>
          <p:nvPr>
            <p:ph idx="1" type="body"/>
          </p:nvPr>
        </p:nvSpPr>
        <p:spPr>
          <a:xfrm>
            <a:off x="509950" y="1035631"/>
            <a:ext cx="7253307" cy="36786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2400"/>
              <a:buNone/>
            </a:pPr>
            <a:r>
              <a:rPr b="1" i="1" lang="ru-RU" sz="2400">
                <a:solidFill>
                  <a:srgbClr val="0000FF"/>
                </a:solidFill>
              </a:rPr>
              <a:t>Алгоритмы плоской кластеризации</a:t>
            </a:r>
            <a:endParaRPr/>
          </a:p>
        </p:txBody>
      </p:sp>
      <p:sp>
        <p:nvSpPr>
          <p:cNvPr id="643" name="Google Shape;643;p49"/>
          <p:cNvSpPr txBox="1"/>
          <p:nvPr/>
        </p:nvSpPr>
        <p:spPr>
          <a:xfrm>
            <a:off x="509950" y="1556443"/>
            <a:ext cx="9308738" cy="531902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F4BE96"/>
              </a:buClr>
              <a:buSzPts val="1995"/>
              <a:buFont typeface="Quattrocento Sans"/>
              <a:buNone/>
            </a:pPr>
            <a:r>
              <a:rPr b="1" lang="ru-RU" sz="2494">
                <a:solidFill>
                  <a:schemeClr val="dk1"/>
                </a:solidFill>
                <a:latin typeface="Quattrocento Sans"/>
                <a:ea typeface="Quattrocento Sans"/>
                <a:cs typeface="Quattrocento Sans"/>
                <a:sym typeface="Quattrocento Sans"/>
              </a:rPr>
              <a:t>Нечеткие алгоритмы</a:t>
            </a:r>
            <a:endParaRPr/>
          </a:p>
          <a:p>
            <a:pPr indent="-533400" lvl="0" marL="533400" marR="0" rtl="0" algn="l">
              <a:lnSpc>
                <a:spcPct val="85000"/>
              </a:lnSpc>
              <a:spcBef>
                <a:spcPts val="520"/>
              </a:spcBef>
              <a:spcAft>
                <a:spcPts val="0"/>
              </a:spcAft>
              <a:buClr>
                <a:srgbClr val="F4BE96"/>
              </a:buClr>
              <a:buSzPts val="1662"/>
              <a:buFont typeface="Quattrocento Sans"/>
              <a:buChar char="•"/>
            </a:pPr>
            <a:r>
              <a:rPr b="1" i="1" lang="ru-RU" sz="2078">
                <a:solidFill>
                  <a:schemeClr val="dk1"/>
                </a:solidFill>
                <a:latin typeface="Quattrocento Sans"/>
                <a:ea typeface="Quattrocento Sans"/>
                <a:cs typeface="Quattrocento Sans"/>
                <a:sym typeface="Quattrocento Sans"/>
              </a:rPr>
              <a:t>Метод с-средних</a:t>
            </a:r>
            <a:r>
              <a:rPr b="0" lang="ru-RU" sz="2078">
                <a:solidFill>
                  <a:schemeClr val="dk1"/>
                </a:solidFill>
                <a:latin typeface="Quattrocento Sans"/>
                <a:ea typeface="Quattrocento Sans"/>
                <a:cs typeface="Quattrocento Sans"/>
                <a:sym typeface="Quattrocento Sans"/>
              </a:rPr>
              <a:t> </a:t>
            </a:r>
            <a:endParaRPr/>
          </a:p>
          <a:p>
            <a:pPr indent="0" lvl="0" marL="0" marR="0" rtl="0" algn="l">
              <a:lnSpc>
                <a:spcPct val="85000"/>
              </a:lnSpc>
              <a:spcBef>
                <a:spcPts val="520"/>
              </a:spcBef>
              <a:spcAft>
                <a:spcPts val="0"/>
              </a:spcAft>
              <a:buClr>
                <a:srgbClr val="F4BE96"/>
              </a:buClr>
              <a:buSzPts val="1662"/>
              <a:buFont typeface="Quattrocento Sans"/>
              <a:buNone/>
            </a:pPr>
            <a:r>
              <a:rPr b="0" lang="ru-RU" sz="2078">
                <a:solidFill>
                  <a:schemeClr val="dk1"/>
                </a:solidFill>
                <a:latin typeface="Quattrocento Sans"/>
                <a:ea typeface="Quattrocento Sans"/>
                <a:cs typeface="Quattrocento Sans"/>
                <a:sym typeface="Quattrocento Sans"/>
              </a:rPr>
              <a:t>Алгоритм является модификацией метода k-средних. </a:t>
            </a:r>
            <a:endParaRPr/>
          </a:p>
          <a:p>
            <a:pPr indent="-533400" lvl="0" marL="533400" marR="0" rtl="0" algn="l">
              <a:lnSpc>
                <a:spcPct val="85000"/>
              </a:lnSpc>
              <a:spcBef>
                <a:spcPts val="520"/>
              </a:spcBef>
              <a:spcAft>
                <a:spcPts val="0"/>
              </a:spcAft>
              <a:buClr>
                <a:srgbClr val="F4BE96"/>
              </a:buClr>
              <a:buSzPts val="1662"/>
              <a:buFont typeface="Quattrocento Sans"/>
              <a:buChar char="•"/>
            </a:pPr>
            <a:r>
              <a:rPr b="0" lang="ru-RU" sz="2078">
                <a:solidFill>
                  <a:schemeClr val="dk1"/>
                </a:solidFill>
                <a:latin typeface="Quattrocento Sans"/>
                <a:ea typeface="Quattrocento Sans"/>
                <a:cs typeface="Quattrocento Sans"/>
                <a:sym typeface="Quattrocento Sans"/>
              </a:rPr>
              <a:t>Шаги работы алгоритма:</a:t>
            </a:r>
            <a:endParaRPr/>
          </a:p>
          <a:p>
            <a:pPr indent="-457200" lvl="1" marL="793750" marR="0" rtl="0" algn="l">
              <a:lnSpc>
                <a:spcPct val="85000"/>
              </a:lnSpc>
              <a:spcBef>
                <a:spcPts val="468"/>
              </a:spcBef>
              <a:spcAft>
                <a:spcPts val="0"/>
              </a:spcAft>
              <a:buClr>
                <a:srgbClr val="FFFFFF"/>
              </a:buClr>
              <a:buSzPts val="1403"/>
              <a:buFont typeface="Calibri"/>
              <a:buAutoNum type="arabicPeriod"/>
            </a:pPr>
            <a:r>
              <a:rPr b="0" i="0" lang="ru-RU" sz="1870" u="none" cap="none" strike="noStrike">
                <a:solidFill>
                  <a:schemeClr val="dk1"/>
                </a:solidFill>
                <a:latin typeface="Quattrocento Sans"/>
                <a:ea typeface="Quattrocento Sans"/>
                <a:cs typeface="Quattrocento Sans"/>
                <a:sym typeface="Quattrocento Sans"/>
              </a:rPr>
              <a:t>Выбрать начальное нечеткое разбиение </a:t>
            </a:r>
            <a:r>
              <a:rPr b="0" i="1" lang="ru-RU" sz="1870" u="none" cap="none" strike="noStrike">
                <a:solidFill>
                  <a:schemeClr val="dk1"/>
                </a:solidFill>
                <a:latin typeface="Quattrocento Sans"/>
                <a:ea typeface="Quattrocento Sans"/>
                <a:cs typeface="Quattrocento Sans"/>
                <a:sym typeface="Quattrocento Sans"/>
              </a:rPr>
              <a:t>n</a:t>
            </a:r>
            <a:r>
              <a:rPr b="0" i="0" lang="ru-RU" sz="1870" u="none" cap="none" strike="noStrike">
                <a:solidFill>
                  <a:schemeClr val="dk1"/>
                </a:solidFill>
                <a:latin typeface="Quattrocento Sans"/>
                <a:ea typeface="Quattrocento Sans"/>
                <a:cs typeface="Quattrocento Sans"/>
                <a:sym typeface="Quattrocento Sans"/>
              </a:rPr>
              <a:t> объектов на </a:t>
            </a:r>
            <a:r>
              <a:rPr b="0" i="1" lang="ru-RU" sz="1870" u="none" cap="none" strike="noStrike">
                <a:solidFill>
                  <a:schemeClr val="dk1"/>
                </a:solidFill>
                <a:latin typeface="Quattrocento Sans"/>
                <a:ea typeface="Quattrocento Sans"/>
                <a:cs typeface="Quattrocento Sans"/>
                <a:sym typeface="Quattrocento Sans"/>
              </a:rPr>
              <a:t>k</a:t>
            </a:r>
            <a:r>
              <a:rPr b="0" i="0" lang="ru-RU" sz="1870" u="none" cap="none" strike="noStrike">
                <a:solidFill>
                  <a:schemeClr val="dk1"/>
                </a:solidFill>
                <a:latin typeface="Quattrocento Sans"/>
                <a:ea typeface="Quattrocento Sans"/>
                <a:cs typeface="Quattrocento Sans"/>
                <a:sym typeface="Quattrocento Sans"/>
              </a:rPr>
              <a:t> кластеров путем выбора матрицы принадлежности </a:t>
            </a:r>
            <a:r>
              <a:rPr b="0" i="1" lang="ru-RU" sz="1870" u="none" cap="none" strike="noStrike">
                <a:solidFill>
                  <a:schemeClr val="dk1"/>
                </a:solidFill>
                <a:latin typeface="Quattrocento Sans"/>
                <a:ea typeface="Quattrocento Sans"/>
                <a:cs typeface="Quattrocento Sans"/>
                <a:sym typeface="Quattrocento Sans"/>
              </a:rPr>
              <a:t>U</a:t>
            </a:r>
            <a:r>
              <a:rPr b="0" i="0" lang="ru-RU" sz="1870" u="none" cap="none" strike="noStrike">
                <a:solidFill>
                  <a:schemeClr val="dk1"/>
                </a:solidFill>
                <a:latin typeface="Quattrocento Sans"/>
                <a:ea typeface="Quattrocento Sans"/>
                <a:cs typeface="Quattrocento Sans"/>
                <a:sym typeface="Quattrocento Sans"/>
              </a:rPr>
              <a:t> размера </a:t>
            </a:r>
            <a:r>
              <a:rPr b="0" i="1" lang="ru-RU" sz="1870" u="none" cap="none" strike="noStrike">
                <a:solidFill>
                  <a:schemeClr val="dk1"/>
                </a:solidFill>
                <a:latin typeface="Quattrocento Sans"/>
                <a:ea typeface="Quattrocento Sans"/>
                <a:cs typeface="Quattrocento Sans"/>
                <a:sym typeface="Quattrocento Sans"/>
              </a:rPr>
              <a:t>n x k</a:t>
            </a:r>
            <a:r>
              <a:rPr b="0" i="0" lang="ru-RU" sz="1870" u="none" cap="none" strike="noStrike">
                <a:solidFill>
                  <a:schemeClr val="dk1"/>
                </a:solidFill>
                <a:latin typeface="Quattrocento Sans"/>
                <a:ea typeface="Quattrocento Sans"/>
                <a:cs typeface="Quattrocento Sans"/>
                <a:sym typeface="Quattrocento Sans"/>
              </a:rPr>
              <a:t>.</a:t>
            </a:r>
            <a:endParaRPr/>
          </a:p>
          <a:p>
            <a:pPr indent="-457200" lvl="1" marL="793750" marR="0" rtl="0" algn="l">
              <a:lnSpc>
                <a:spcPct val="85000"/>
              </a:lnSpc>
              <a:spcBef>
                <a:spcPts val="468"/>
              </a:spcBef>
              <a:spcAft>
                <a:spcPts val="0"/>
              </a:spcAft>
              <a:buClr>
                <a:srgbClr val="FFFFFF"/>
              </a:buClr>
              <a:buSzPts val="1403"/>
              <a:buFont typeface="Calibri"/>
              <a:buAutoNum type="arabicPeriod"/>
            </a:pPr>
            <a:r>
              <a:rPr b="0" i="0" lang="ru-RU" sz="1870" u="none" cap="none" strike="noStrike">
                <a:solidFill>
                  <a:schemeClr val="dk1"/>
                </a:solidFill>
                <a:latin typeface="Quattrocento Sans"/>
                <a:ea typeface="Quattrocento Sans"/>
                <a:cs typeface="Quattrocento Sans"/>
                <a:sym typeface="Quattrocento Sans"/>
              </a:rPr>
              <a:t>Используя матрицу U, найти значение критерия нечеткой ошибки:</a:t>
            </a:r>
            <a:endParaRPr/>
          </a:p>
          <a:p>
            <a:pPr indent="-368141" lvl="1" marL="793750" marR="0" rtl="0" algn="l">
              <a:lnSpc>
                <a:spcPct val="85000"/>
              </a:lnSpc>
              <a:spcBef>
                <a:spcPts val="468"/>
              </a:spcBef>
              <a:spcAft>
                <a:spcPts val="0"/>
              </a:spcAft>
              <a:buClr>
                <a:srgbClr val="FFFFFF"/>
              </a:buClr>
              <a:buSzPts val="1403"/>
              <a:buFont typeface="Calibri"/>
              <a:buNone/>
            </a:pPr>
            <a:r>
              <a:t/>
            </a:r>
            <a:endParaRPr b="0" i="0" sz="1870" u="none" cap="none" strike="noStrike">
              <a:solidFill>
                <a:schemeClr val="dk1"/>
              </a:solidFill>
              <a:latin typeface="Quattrocento Sans"/>
              <a:ea typeface="Quattrocento Sans"/>
              <a:cs typeface="Quattrocento Sans"/>
              <a:sym typeface="Quattrocento Sans"/>
            </a:endParaRPr>
          </a:p>
          <a:p>
            <a:pPr indent="-368141" lvl="1" marL="793750" marR="0" rtl="0" algn="l">
              <a:lnSpc>
                <a:spcPct val="85000"/>
              </a:lnSpc>
              <a:spcBef>
                <a:spcPts val="468"/>
              </a:spcBef>
              <a:spcAft>
                <a:spcPts val="0"/>
              </a:spcAft>
              <a:buClr>
                <a:srgbClr val="FFFFFF"/>
              </a:buClr>
              <a:buSzPts val="1403"/>
              <a:buFont typeface="Calibri"/>
              <a:buNone/>
            </a:pPr>
            <a:r>
              <a:t/>
            </a:r>
            <a:endParaRPr b="0" i="0" sz="1870" u="none" cap="none" strike="noStrike">
              <a:solidFill>
                <a:schemeClr val="dk1"/>
              </a:solidFill>
              <a:latin typeface="Quattrocento Sans"/>
              <a:ea typeface="Quattrocento Sans"/>
              <a:cs typeface="Quattrocento Sans"/>
              <a:sym typeface="Quattrocento Sans"/>
            </a:endParaRPr>
          </a:p>
          <a:p>
            <a:pPr indent="0" lvl="1" marL="349709" marR="0" rtl="0" algn="l">
              <a:lnSpc>
                <a:spcPct val="85000"/>
              </a:lnSpc>
              <a:spcBef>
                <a:spcPts val="468"/>
              </a:spcBef>
              <a:spcAft>
                <a:spcPts val="0"/>
              </a:spcAft>
              <a:buClr>
                <a:srgbClr val="FFFFFF"/>
              </a:buClr>
              <a:buSzPts val="1403"/>
              <a:buFont typeface="Quattrocento Sans"/>
              <a:buNone/>
            </a:pPr>
            <a:r>
              <a:rPr b="0" i="0" lang="ru-RU" sz="1870" u="none" cap="none" strike="noStrike">
                <a:solidFill>
                  <a:schemeClr val="dk1"/>
                </a:solidFill>
                <a:latin typeface="Quattrocento Sans"/>
                <a:ea typeface="Quattrocento Sans"/>
                <a:cs typeface="Quattrocento Sans"/>
                <a:sym typeface="Quattrocento Sans"/>
              </a:rPr>
              <a:t>	где </a:t>
            </a:r>
            <a:r>
              <a:rPr b="0" i="1" lang="ru-RU" sz="1870" u="none" cap="none" strike="noStrike">
                <a:solidFill>
                  <a:schemeClr val="dk1"/>
                </a:solidFill>
                <a:latin typeface="Quattrocento Sans"/>
                <a:ea typeface="Quattrocento Sans"/>
                <a:cs typeface="Quattrocento Sans"/>
                <a:sym typeface="Quattrocento Sans"/>
              </a:rPr>
              <a:t>c</a:t>
            </a:r>
            <a:r>
              <a:rPr b="0" baseline="-25000" i="1" lang="ru-RU" sz="1870" u="none" cap="none" strike="noStrike">
                <a:solidFill>
                  <a:schemeClr val="dk1"/>
                </a:solidFill>
                <a:latin typeface="Quattrocento Sans"/>
                <a:ea typeface="Quattrocento Sans"/>
                <a:cs typeface="Quattrocento Sans"/>
                <a:sym typeface="Quattrocento Sans"/>
              </a:rPr>
              <a:t>k</a:t>
            </a:r>
            <a:r>
              <a:rPr b="0" i="0" lang="ru-RU" sz="1870" u="none" cap="none" strike="noStrike">
                <a:solidFill>
                  <a:schemeClr val="dk1"/>
                </a:solidFill>
                <a:latin typeface="Quattrocento Sans"/>
                <a:ea typeface="Quattrocento Sans"/>
                <a:cs typeface="Quattrocento Sans"/>
                <a:sym typeface="Quattrocento Sans"/>
              </a:rPr>
              <a:t> — «центр масс» нечеткого кластера </a:t>
            </a:r>
            <a:r>
              <a:rPr b="0" i="1" lang="ru-RU" sz="1870" u="none" cap="none" strike="noStrike">
                <a:solidFill>
                  <a:schemeClr val="dk1"/>
                </a:solidFill>
                <a:latin typeface="Quattrocento Sans"/>
                <a:ea typeface="Quattrocento Sans"/>
                <a:cs typeface="Quattrocento Sans"/>
                <a:sym typeface="Quattrocento Sans"/>
              </a:rPr>
              <a:t>k</a:t>
            </a:r>
            <a:r>
              <a:rPr b="0" i="0" lang="ru-RU" sz="1870" u="none" cap="none" strike="noStrike">
                <a:solidFill>
                  <a:schemeClr val="dk1"/>
                </a:solidFill>
                <a:latin typeface="Quattrocento Sans"/>
                <a:ea typeface="Quattrocento Sans"/>
                <a:cs typeface="Quattrocento Sans"/>
                <a:sym typeface="Quattrocento Sans"/>
              </a:rPr>
              <a:t>:   </a:t>
            </a:r>
            <a:endParaRPr/>
          </a:p>
          <a:p>
            <a:pPr indent="-457200" lvl="1" marL="457200" marR="0" rtl="0" algn="l">
              <a:lnSpc>
                <a:spcPct val="85000"/>
              </a:lnSpc>
              <a:spcBef>
                <a:spcPts val="468"/>
              </a:spcBef>
              <a:spcAft>
                <a:spcPts val="0"/>
              </a:spcAft>
              <a:buClr>
                <a:srgbClr val="FFFFFF"/>
              </a:buClr>
              <a:buSzPts val="1403"/>
              <a:buFont typeface="Calibri"/>
              <a:buAutoNum type="arabicPeriod" startAt="3"/>
            </a:pPr>
            <a:r>
              <a:rPr b="0" i="0" lang="ru-RU" sz="1870" u="none" cap="none" strike="noStrike">
                <a:solidFill>
                  <a:schemeClr val="dk1"/>
                </a:solidFill>
                <a:latin typeface="Quattrocento Sans"/>
                <a:ea typeface="Quattrocento Sans"/>
                <a:cs typeface="Quattrocento Sans"/>
                <a:sym typeface="Quattrocento Sans"/>
              </a:rPr>
              <a:t>Перегруппировать объекты с целью уменьшения этого значения критерия нечеткой ошибки.</a:t>
            </a:r>
            <a:endParaRPr/>
          </a:p>
          <a:p>
            <a:pPr indent="-457200" lvl="1" marL="457200" marR="0" rtl="0" algn="l">
              <a:lnSpc>
                <a:spcPct val="85000"/>
              </a:lnSpc>
              <a:spcBef>
                <a:spcPts val="468"/>
              </a:spcBef>
              <a:spcAft>
                <a:spcPts val="0"/>
              </a:spcAft>
              <a:buClr>
                <a:srgbClr val="FFFFFF"/>
              </a:buClr>
              <a:buSzPts val="1403"/>
              <a:buFont typeface="Calibri"/>
              <a:buAutoNum type="arabicPeriod" startAt="3"/>
            </a:pPr>
            <a:r>
              <a:rPr b="0" i="0" lang="ru-RU" sz="1870" u="none" cap="none" strike="noStrike">
                <a:solidFill>
                  <a:schemeClr val="dk1"/>
                </a:solidFill>
                <a:latin typeface="Quattrocento Sans"/>
                <a:ea typeface="Quattrocento Sans"/>
                <a:cs typeface="Quattrocento Sans"/>
                <a:sym typeface="Quattrocento Sans"/>
              </a:rPr>
              <a:t>Возвращаться в п. 2 до тех пор, пока изменения матрицы U не станут незначительными.</a:t>
            </a:r>
            <a:endParaRPr/>
          </a:p>
          <a:p>
            <a:pPr indent="-533400" lvl="0" marL="533400" marR="0" rtl="0" algn="l">
              <a:lnSpc>
                <a:spcPct val="85000"/>
              </a:lnSpc>
              <a:spcBef>
                <a:spcPts val="520"/>
              </a:spcBef>
              <a:spcAft>
                <a:spcPts val="0"/>
              </a:spcAft>
              <a:buClr>
                <a:srgbClr val="F4BE96"/>
              </a:buClr>
              <a:buSzPts val="1662"/>
              <a:buFont typeface="Quattrocento Sans"/>
              <a:buChar char="•"/>
            </a:pPr>
            <a:r>
              <a:rPr b="0" lang="ru-RU" sz="2078">
                <a:solidFill>
                  <a:schemeClr val="dk1"/>
                </a:solidFill>
                <a:latin typeface="Quattrocento Sans"/>
                <a:ea typeface="Quattrocento Sans"/>
                <a:cs typeface="Quattrocento Sans"/>
                <a:sym typeface="Quattrocento Sans"/>
              </a:rPr>
              <a:t>Этот алгоритм может не подойти, если заранее неизвестно число кластеров, либо необходимо однозначно отнести каждый объект к одному кластеру.</a:t>
            </a:r>
            <a:endParaRPr b="0" sz="1247">
              <a:solidFill>
                <a:schemeClr val="dk1"/>
              </a:solidFill>
              <a:latin typeface="Quattrocento Sans"/>
              <a:ea typeface="Quattrocento Sans"/>
              <a:cs typeface="Quattrocento Sans"/>
              <a:sym typeface="Quattrocento Sans"/>
            </a:endParaRPr>
          </a:p>
        </p:txBody>
      </p:sp>
      <p:pic>
        <p:nvPicPr>
          <p:cNvPr descr="https://habrastorage.org/getpro/habr/post_images/21c/c5d/72b/21cc5d72b0c9bee8ad0476798eb4093c.jpg" id="644" name="Google Shape;644;p49"/>
          <p:cNvPicPr preferRelativeResize="0"/>
          <p:nvPr/>
        </p:nvPicPr>
        <p:blipFill rotWithShape="1">
          <a:blip r:embed="rId3">
            <a:alphaModFix/>
          </a:blip>
          <a:srcRect b="0" l="0" r="0" t="0"/>
          <a:stretch/>
        </p:blipFill>
        <p:spPr>
          <a:xfrm>
            <a:off x="3610128" y="3807286"/>
            <a:ext cx="2985782" cy="600456"/>
          </a:xfrm>
          <a:prstGeom prst="rect">
            <a:avLst/>
          </a:prstGeom>
          <a:noFill/>
          <a:ln>
            <a:noFill/>
          </a:ln>
        </p:spPr>
      </p:pic>
      <p:pic>
        <p:nvPicPr>
          <p:cNvPr descr="https://habrastorage.org/getpro/habr/post_images/5fb/811/641/5fb811641b4fa3c84ba2490811ff53ea.jpg" id="645" name="Google Shape;645;p49"/>
          <p:cNvPicPr preferRelativeResize="0"/>
          <p:nvPr/>
        </p:nvPicPr>
        <p:blipFill rotWithShape="1">
          <a:blip r:embed="rId4">
            <a:alphaModFix/>
          </a:blip>
          <a:srcRect b="0" l="0" r="0" t="0"/>
          <a:stretch/>
        </p:blipFill>
        <p:spPr>
          <a:xfrm>
            <a:off x="7187193" y="4211216"/>
            <a:ext cx="1152128" cy="582537"/>
          </a:xfrm>
          <a:prstGeom prst="rect">
            <a:avLst/>
          </a:prstGeom>
          <a:noFill/>
          <a:ln>
            <a:noFill/>
          </a:ln>
        </p:spPr>
      </p:pic>
      <p:sp>
        <p:nvSpPr>
          <p:cNvPr id="646" name="Google Shape;646;p4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50"/>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52" name="Google Shape;652;p50"/>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53" name="Google Shape;653;p50"/>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54" name="Google Shape;654;p50"/>
          <p:cNvSpPr txBox="1"/>
          <p:nvPr>
            <p:ph type="title"/>
          </p:nvPr>
        </p:nvSpPr>
        <p:spPr>
          <a:xfrm>
            <a:off x="805230" y="263937"/>
            <a:ext cx="8700009" cy="63344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Кластеризация</a:t>
            </a:r>
            <a:endParaRPr sz="4400"/>
          </a:p>
        </p:txBody>
      </p:sp>
      <p:sp>
        <p:nvSpPr>
          <p:cNvPr id="655" name="Google Shape;655;p50"/>
          <p:cNvSpPr txBox="1"/>
          <p:nvPr/>
        </p:nvSpPr>
        <p:spPr>
          <a:xfrm>
            <a:off x="387350" y="1897515"/>
            <a:ext cx="9250547" cy="4943276"/>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F4BE96"/>
              </a:buClr>
              <a:buSzPts val="1662"/>
              <a:buFont typeface="Quattrocento Sans"/>
              <a:buNone/>
            </a:pPr>
            <a:r>
              <a:rPr b="1" lang="ru-RU" sz="2078">
                <a:solidFill>
                  <a:schemeClr val="dk1"/>
                </a:solidFill>
                <a:latin typeface="Quattrocento Sans"/>
                <a:ea typeface="Quattrocento Sans"/>
                <a:cs typeface="Quattrocento Sans"/>
                <a:sym typeface="Quattrocento Sans"/>
              </a:rPr>
              <a:t>Алгоритм выделения связных компонент</a:t>
            </a:r>
            <a:endParaRPr/>
          </a:p>
          <a:p>
            <a:pPr indent="-533400" lvl="0" marL="533400" marR="0" rtl="0" algn="l">
              <a:lnSpc>
                <a:spcPct val="85000"/>
              </a:lnSpc>
              <a:spcBef>
                <a:spcPts val="520"/>
              </a:spcBef>
              <a:spcAft>
                <a:spcPts val="0"/>
              </a:spcAft>
              <a:buClr>
                <a:srgbClr val="F4BE96"/>
              </a:buClr>
              <a:buSzPts val="1662"/>
              <a:buFont typeface="Quattrocento Sans"/>
              <a:buChar char="•"/>
            </a:pPr>
            <a:r>
              <a:rPr b="0" lang="ru-RU" sz="2078">
                <a:solidFill>
                  <a:schemeClr val="dk1"/>
                </a:solidFill>
                <a:latin typeface="Quattrocento Sans"/>
                <a:ea typeface="Quattrocento Sans"/>
                <a:cs typeface="Quattrocento Sans"/>
                <a:sym typeface="Quattrocento Sans"/>
              </a:rPr>
              <a:t>В алгоритме выделения связных компонент задается входной параметр </a:t>
            </a:r>
            <a:r>
              <a:rPr b="0" i="1" lang="ru-RU" sz="2078">
                <a:solidFill>
                  <a:schemeClr val="dk1"/>
                </a:solidFill>
                <a:latin typeface="Quattrocento Sans"/>
                <a:ea typeface="Quattrocento Sans"/>
                <a:cs typeface="Quattrocento Sans"/>
                <a:sym typeface="Quattrocento Sans"/>
              </a:rPr>
              <a:t>R</a:t>
            </a:r>
            <a:r>
              <a:rPr b="0" lang="ru-RU" sz="2078">
                <a:solidFill>
                  <a:schemeClr val="dk1"/>
                </a:solidFill>
                <a:latin typeface="Quattrocento Sans"/>
                <a:ea typeface="Quattrocento Sans"/>
                <a:cs typeface="Quattrocento Sans"/>
                <a:sym typeface="Quattrocento Sans"/>
              </a:rPr>
              <a:t> и в графе удаляются все ребра, для которых «расстояния» больше </a:t>
            </a:r>
            <a:r>
              <a:rPr b="0" i="1" lang="ru-RU" sz="2078">
                <a:solidFill>
                  <a:schemeClr val="dk1"/>
                </a:solidFill>
                <a:latin typeface="Quattrocento Sans"/>
                <a:ea typeface="Quattrocento Sans"/>
                <a:cs typeface="Quattrocento Sans"/>
                <a:sym typeface="Quattrocento Sans"/>
              </a:rPr>
              <a:t>R</a:t>
            </a:r>
            <a:r>
              <a:rPr b="0" lang="ru-RU" sz="2078">
                <a:solidFill>
                  <a:schemeClr val="dk1"/>
                </a:solidFill>
                <a:latin typeface="Quattrocento Sans"/>
                <a:ea typeface="Quattrocento Sans"/>
                <a:cs typeface="Quattrocento Sans"/>
                <a:sym typeface="Quattrocento Sans"/>
              </a:rPr>
              <a:t>. Соединенными остаются только наиболее близкие пары объектов. </a:t>
            </a:r>
            <a:endParaRPr/>
          </a:p>
          <a:p>
            <a:pPr indent="-533400" lvl="0" marL="533400" marR="0" rtl="0" algn="l">
              <a:lnSpc>
                <a:spcPct val="85000"/>
              </a:lnSpc>
              <a:spcBef>
                <a:spcPts val="520"/>
              </a:spcBef>
              <a:spcAft>
                <a:spcPts val="0"/>
              </a:spcAft>
              <a:buClr>
                <a:srgbClr val="F4BE96"/>
              </a:buClr>
              <a:buSzPts val="1662"/>
              <a:buFont typeface="Quattrocento Sans"/>
              <a:buChar char="•"/>
            </a:pPr>
            <a:r>
              <a:rPr b="0" lang="ru-RU" sz="2078">
                <a:solidFill>
                  <a:schemeClr val="dk1"/>
                </a:solidFill>
                <a:latin typeface="Quattrocento Sans"/>
                <a:ea typeface="Quattrocento Sans"/>
                <a:cs typeface="Quattrocento Sans"/>
                <a:sym typeface="Quattrocento Sans"/>
              </a:rPr>
              <a:t>Смысл алгоритма заключается в том, чтобы подобрать такое значение </a:t>
            </a:r>
            <a:r>
              <a:rPr b="0" i="1" lang="ru-RU" sz="2078">
                <a:solidFill>
                  <a:schemeClr val="dk1"/>
                </a:solidFill>
                <a:latin typeface="Quattrocento Sans"/>
                <a:ea typeface="Quattrocento Sans"/>
                <a:cs typeface="Quattrocento Sans"/>
                <a:sym typeface="Quattrocento Sans"/>
              </a:rPr>
              <a:t>R</a:t>
            </a:r>
            <a:r>
              <a:rPr b="0" lang="ru-RU" sz="2078">
                <a:solidFill>
                  <a:schemeClr val="dk1"/>
                </a:solidFill>
                <a:latin typeface="Quattrocento Sans"/>
                <a:ea typeface="Quattrocento Sans"/>
                <a:cs typeface="Quattrocento Sans"/>
                <a:sym typeface="Quattrocento Sans"/>
              </a:rPr>
              <a:t>, лежащее в диапазоне всех «расстояний», при котором граф «развалится» на несколько связных компонент. Полученные компоненты и есть кластеры.</a:t>
            </a:r>
            <a:endParaRPr/>
          </a:p>
          <a:p>
            <a:pPr indent="-533400" lvl="0" marL="533400" marR="0" rtl="0" algn="l">
              <a:lnSpc>
                <a:spcPct val="85000"/>
              </a:lnSpc>
              <a:spcBef>
                <a:spcPts val="520"/>
              </a:spcBef>
              <a:spcAft>
                <a:spcPts val="0"/>
              </a:spcAft>
              <a:buClr>
                <a:srgbClr val="F4BE96"/>
              </a:buClr>
              <a:buSzPts val="1662"/>
              <a:buFont typeface="Quattrocento Sans"/>
              <a:buChar char="•"/>
            </a:pPr>
            <a:r>
              <a:rPr b="0" lang="ru-RU" sz="2078">
                <a:solidFill>
                  <a:schemeClr val="dk1"/>
                </a:solidFill>
                <a:latin typeface="Quattrocento Sans"/>
                <a:ea typeface="Quattrocento Sans"/>
                <a:cs typeface="Quattrocento Sans"/>
                <a:sym typeface="Quattrocento Sans"/>
              </a:rPr>
              <a:t>Для подбора параметра </a:t>
            </a:r>
            <a:r>
              <a:rPr b="0" i="1" lang="ru-RU" sz="2078">
                <a:solidFill>
                  <a:schemeClr val="dk1"/>
                </a:solidFill>
                <a:latin typeface="Quattrocento Sans"/>
                <a:ea typeface="Quattrocento Sans"/>
                <a:cs typeface="Quattrocento Sans"/>
                <a:sym typeface="Quattrocento Sans"/>
              </a:rPr>
              <a:t>R</a:t>
            </a:r>
            <a:r>
              <a:rPr b="0" lang="ru-RU" sz="2078">
                <a:solidFill>
                  <a:schemeClr val="dk1"/>
                </a:solidFill>
                <a:latin typeface="Quattrocento Sans"/>
                <a:ea typeface="Quattrocento Sans"/>
                <a:cs typeface="Quattrocento Sans"/>
                <a:sym typeface="Quattrocento Sans"/>
              </a:rPr>
              <a:t> обычно строится гистограмма распределений попарных расстояний. В задачах с хорошо выраженной кластерной структурой данных на гистограмме будет два пика – один соответствует внутрикластерным расстояниям, второй – межкластерным расстояния. </a:t>
            </a:r>
            <a:endParaRPr/>
          </a:p>
          <a:p>
            <a:pPr indent="-457200" lvl="1" marL="793750" marR="0" rtl="0" algn="l">
              <a:lnSpc>
                <a:spcPct val="85000"/>
              </a:lnSpc>
              <a:spcBef>
                <a:spcPts val="468"/>
              </a:spcBef>
              <a:spcAft>
                <a:spcPts val="0"/>
              </a:spcAft>
              <a:buClr>
                <a:srgbClr val="FFFFFF"/>
              </a:buClr>
              <a:buSzPts val="1403"/>
              <a:buFont typeface="Quattrocento Sans"/>
              <a:buChar char="•"/>
            </a:pPr>
            <a:r>
              <a:rPr b="0" i="0" lang="ru-RU" sz="1870" u="none" cap="none" strike="noStrike">
                <a:solidFill>
                  <a:schemeClr val="dk1"/>
                </a:solidFill>
                <a:latin typeface="Quattrocento Sans"/>
                <a:ea typeface="Quattrocento Sans"/>
                <a:cs typeface="Quattrocento Sans"/>
                <a:sym typeface="Quattrocento Sans"/>
              </a:rPr>
              <a:t>Параметр R подбирается из зоны минимума между этими пиками. При этом управлять количеством кластеров при помощи порога расстояния довольно затруднительно.</a:t>
            </a:r>
            <a:endParaRPr/>
          </a:p>
        </p:txBody>
      </p:sp>
      <p:sp>
        <p:nvSpPr>
          <p:cNvPr id="656" name="Google Shape;656;p50"/>
          <p:cNvSpPr txBox="1"/>
          <p:nvPr/>
        </p:nvSpPr>
        <p:spPr>
          <a:xfrm>
            <a:off x="530225" y="988092"/>
            <a:ext cx="8975014" cy="6712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FF"/>
              </a:buClr>
              <a:buSzPts val="2400"/>
              <a:buFont typeface="Calibri"/>
              <a:buNone/>
            </a:pPr>
            <a:r>
              <a:rPr b="1" i="1" lang="ru-RU" sz="2400">
                <a:solidFill>
                  <a:srgbClr val="0000FF"/>
                </a:solidFill>
                <a:latin typeface="Calibri"/>
                <a:ea typeface="Calibri"/>
                <a:cs typeface="Calibri"/>
                <a:sym typeface="Calibri"/>
              </a:rPr>
              <a:t>Алгоритмы иерархической кластеризации,  основанные на теории графов</a:t>
            </a:r>
            <a:endParaRPr/>
          </a:p>
          <a:p>
            <a:pPr indent="0" lvl="0" marL="0" marR="0" rtl="0" algn="l">
              <a:spcBef>
                <a:spcPts val="480"/>
              </a:spcBef>
              <a:spcAft>
                <a:spcPts val="0"/>
              </a:spcAft>
              <a:buClr>
                <a:schemeClr val="dk1"/>
              </a:buClr>
              <a:buSzPts val="2400"/>
              <a:buFont typeface="Calibri"/>
              <a:buNone/>
            </a:pPr>
            <a:r>
              <a:t/>
            </a:r>
            <a:endParaRPr b="1" i="1" sz="2400">
              <a:solidFill>
                <a:srgbClr val="0000FF"/>
              </a:solidFill>
              <a:latin typeface="Calibri"/>
              <a:ea typeface="Calibri"/>
              <a:cs typeface="Calibri"/>
              <a:sym typeface="Calibri"/>
            </a:endParaRPr>
          </a:p>
        </p:txBody>
      </p:sp>
      <p:sp>
        <p:nvSpPr>
          <p:cNvPr id="657" name="Google Shape;657;p5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1"/>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63" name="Google Shape;663;p51"/>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64" name="Google Shape;664;p51"/>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65" name="Google Shape;665;p51"/>
          <p:cNvSpPr txBox="1"/>
          <p:nvPr>
            <p:ph type="title"/>
          </p:nvPr>
        </p:nvSpPr>
        <p:spPr>
          <a:xfrm>
            <a:off x="2114401" y="280507"/>
            <a:ext cx="6048672" cy="568503"/>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Кластеризация</a:t>
            </a:r>
            <a:endParaRPr sz="4400"/>
          </a:p>
        </p:txBody>
      </p:sp>
      <p:sp>
        <p:nvSpPr>
          <p:cNvPr id="666" name="Google Shape;666;p51"/>
          <p:cNvSpPr txBox="1"/>
          <p:nvPr/>
        </p:nvSpPr>
        <p:spPr>
          <a:xfrm>
            <a:off x="387350" y="1892559"/>
            <a:ext cx="9036393" cy="1615827"/>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F4BE96"/>
              </a:buClr>
              <a:buSzPts val="1760"/>
              <a:buFont typeface="Quattrocento Sans"/>
              <a:buNone/>
            </a:pPr>
            <a:r>
              <a:rPr b="1" lang="ru-RU" sz="2200">
                <a:solidFill>
                  <a:schemeClr val="dk1"/>
                </a:solidFill>
                <a:latin typeface="Quattrocento Sans"/>
                <a:ea typeface="Quattrocento Sans"/>
                <a:cs typeface="Quattrocento Sans"/>
                <a:sym typeface="Quattrocento Sans"/>
              </a:rPr>
              <a:t>Алгоритм минимального покрывающего дерева</a:t>
            </a:r>
            <a:endParaRPr/>
          </a:p>
          <a:p>
            <a:pPr indent="-533400" lvl="0" marL="533400" marR="0" rtl="0" algn="l">
              <a:lnSpc>
                <a:spcPct val="85000"/>
              </a:lnSpc>
              <a:spcBef>
                <a:spcPts val="550"/>
              </a:spcBef>
              <a:spcAft>
                <a:spcPts val="0"/>
              </a:spcAft>
              <a:buClr>
                <a:srgbClr val="F4BE96"/>
              </a:buClr>
              <a:buSzPts val="1760"/>
              <a:buFont typeface="Quattrocento Sans"/>
              <a:buChar char="•"/>
            </a:pPr>
            <a:r>
              <a:rPr b="0" lang="ru-RU" sz="2200">
                <a:solidFill>
                  <a:schemeClr val="dk1"/>
                </a:solidFill>
                <a:latin typeface="Quattrocento Sans"/>
                <a:ea typeface="Quattrocento Sans"/>
                <a:cs typeface="Quattrocento Sans"/>
                <a:sym typeface="Quattrocento Sans"/>
              </a:rPr>
              <a:t>сначала строит на графе минимальное покрывающее дерево, а затем последовательно удаляет ребра с наибольшим весом. На рисунке изображено минимальное покрывающее дерево, полученное для девяти объектов.</a:t>
            </a:r>
            <a:endParaRPr/>
          </a:p>
        </p:txBody>
      </p:sp>
      <p:pic>
        <p:nvPicPr>
          <p:cNvPr descr="https://habrastorage.org/getpro/habr/post_images/c0c/322/890/c0c32289017968ce5178d6345c304b3b.jpg" id="667" name="Google Shape;667;p51"/>
          <p:cNvPicPr preferRelativeResize="0"/>
          <p:nvPr/>
        </p:nvPicPr>
        <p:blipFill rotWithShape="1">
          <a:blip r:embed="rId3">
            <a:alphaModFix/>
          </a:blip>
          <a:srcRect b="0" l="0" r="0" t="0"/>
          <a:stretch/>
        </p:blipFill>
        <p:spPr>
          <a:xfrm>
            <a:off x="1032826" y="3598863"/>
            <a:ext cx="3851824" cy="2914850"/>
          </a:xfrm>
          <a:prstGeom prst="rect">
            <a:avLst/>
          </a:prstGeom>
          <a:noFill/>
          <a:ln>
            <a:noFill/>
          </a:ln>
        </p:spPr>
      </p:pic>
      <p:sp>
        <p:nvSpPr>
          <p:cNvPr id="668" name="Google Shape;668;p51"/>
          <p:cNvSpPr/>
          <p:nvPr/>
        </p:nvSpPr>
        <p:spPr>
          <a:xfrm>
            <a:off x="5147417" y="3469328"/>
            <a:ext cx="4750858" cy="34187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78">
                <a:solidFill>
                  <a:schemeClr val="dk1"/>
                </a:solidFill>
                <a:latin typeface="Quattrocento Sans"/>
                <a:ea typeface="Quattrocento Sans"/>
                <a:cs typeface="Quattrocento Sans"/>
                <a:sym typeface="Quattrocento Sans"/>
              </a:rPr>
              <a:t>Путём удаления связи, помеченной CD, с длиной равной 6 единицам (ребро с максимальным расстоянием), получаем два кластера: {A, B, C} и {D, E, F, G, H, I}. Второй кластер в дальнейшем может быть разделён ещё на два кластера путём удаления ребра EF, которое имеет длину, равную 4,5 единицам.</a:t>
            </a:r>
            <a:endParaRPr/>
          </a:p>
        </p:txBody>
      </p:sp>
      <p:sp>
        <p:nvSpPr>
          <p:cNvPr id="669" name="Google Shape;669;p51"/>
          <p:cNvSpPr txBox="1"/>
          <p:nvPr/>
        </p:nvSpPr>
        <p:spPr>
          <a:xfrm>
            <a:off x="851508" y="933731"/>
            <a:ext cx="8390917" cy="6712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FF"/>
              </a:buClr>
              <a:buSzPts val="2400"/>
              <a:buFont typeface="Calibri"/>
              <a:buNone/>
            </a:pPr>
            <a:r>
              <a:rPr b="1" i="1" lang="ru-RU" sz="2400">
                <a:solidFill>
                  <a:srgbClr val="0000FF"/>
                </a:solidFill>
                <a:latin typeface="Calibri"/>
                <a:ea typeface="Calibri"/>
                <a:cs typeface="Calibri"/>
                <a:sym typeface="Calibri"/>
              </a:rPr>
              <a:t>Алгоритмы иерархической кластеризации,  основанные на теории графов</a:t>
            </a:r>
            <a:endParaRPr/>
          </a:p>
          <a:p>
            <a:pPr indent="0" lvl="0" marL="0" marR="0" rtl="0" algn="l">
              <a:spcBef>
                <a:spcPts val="480"/>
              </a:spcBef>
              <a:spcAft>
                <a:spcPts val="0"/>
              </a:spcAft>
              <a:buClr>
                <a:schemeClr val="dk1"/>
              </a:buClr>
              <a:buSzPts val="2400"/>
              <a:buFont typeface="Calibri"/>
              <a:buNone/>
            </a:pPr>
            <a:r>
              <a:t/>
            </a:r>
            <a:endParaRPr b="1" i="1" sz="2400">
              <a:solidFill>
                <a:srgbClr val="0000FF"/>
              </a:solidFill>
              <a:latin typeface="Calibri"/>
              <a:ea typeface="Calibri"/>
              <a:cs typeface="Calibri"/>
              <a:sym typeface="Calibri"/>
            </a:endParaRPr>
          </a:p>
        </p:txBody>
      </p:sp>
      <p:sp>
        <p:nvSpPr>
          <p:cNvPr id="670" name="Google Shape;670;p5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52"/>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76" name="Google Shape;676;p52"/>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77" name="Google Shape;677;p52"/>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78" name="Google Shape;678;p52"/>
          <p:cNvSpPr txBox="1"/>
          <p:nvPr>
            <p:ph type="title"/>
          </p:nvPr>
        </p:nvSpPr>
        <p:spPr>
          <a:xfrm>
            <a:off x="805230" y="263937"/>
            <a:ext cx="8700009" cy="63344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Кластеризация</a:t>
            </a:r>
            <a:endParaRPr sz="4400"/>
          </a:p>
        </p:txBody>
      </p:sp>
      <p:sp>
        <p:nvSpPr>
          <p:cNvPr id="679" name="Google Shape;679;p52"/>
          <p:cNvSpPr txBox="1"/>
          <p:nvPr>
            <p:ph idx="1" type="body"/>
          </p:nvPr>
        </p:nvSpPr>
        <p:spPr>
          <a:xfrm>
            <a:off x="674241" y="926279"/>
            <a:ext cx="7253307" cy="367862"/>
          </a:xfrm>
          <a:prstGeom prst="rect">
            <a:avLst/>
          </a:prstGeom>
          <a:noFill/>
          <a:ln>
            <a:noFill/>
          </a:ln>
        </p:spPr>
        <p:txBody>
          <a:bodyPr anchorCtr="0" anchor="t" bIns="45700" lIns="91425" spcFirstLastPara="1" rIns="91425" wrap="square" tIns="45700">
            <a:noAutofit/>
          </a:bodyPr>
          <a:lstStyle/>
          <a:p>
            <a:pPr indent="-356307" lvl="0" marL="356307" rtl="0" algn="l">
              <a:spcBef>
                <a:spcPts val="0"/>
              </a:spcBef>
              <a:spcAft>
                <a:spcPts val="0"/>
              </a:spcAft>
              <a:buClr>
                <a:srgbClr val="0000FF"/>
              </a:buClr>
              <a:buSzPts val="2400"/>
              <a:buChar char="•"/>
            </a:pPr>
            <a:r>
              <a:rPr b="1" i="1" lang="ru-RU" sz="2400">
                <a:solidFill>
                  <a:srgbClr val="0000FF"/>
                </a:solidFill>
              </a:rPr>
              <a:t>Алгоритмы, основанные на теории графов</a:t>
            </a:r>
            <a:endParaRPr/>
          </a:p>
        </p:txBody>
      </p:sp>
      <p:sp>
        <p:nvSpPr>
          <p:cNvPr id="680" name="Google Shape;680;p52"/>
          <p:cNvSpPr txBox="1"/>
          <p:nvPr/>
        </p:nvSpPr>
        <p:spPr>
          <a:xfrm>
            <a:off x="486642" y="1508363"/>
            <a:ext cx="9476507" cy="51718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F4BE96"/>
              </a:buClr>
              <a:buSzPts val="1662"/>
              <a:buFont typeface="Quattrocento Sans"/>
              <a:buNone/>
            </a:pPr>
            <a:r>
              <a:rPr b="1" lang="ru-RU" sz="2078">
                <a:solidFill>
                  <a:schemeClr val="dk1"/>
                </a:solidFill>
                <a:latin typeface="Quattrocento Sans"/>
                <a:ea typeface="Quattrocento Sans"/>
                <a:cs typeface="Quattrocento Sans"/>
                <a:sym typeface="Quattrocento Sans"/>
              </a:rPr>
              <a:t>Послойная кластеризация</a:t>
            </a:r>
            <a:endParaRPr/>
          </a:p>
          <a:p>
            <a:pPr indent="-533400" lvl="0" marL="533400" marR="0" rtl="0" algn="l">
              <a:lnSpc>
                <a:spcPct val="85000"/>
              </a:lnSpc>
              <a:spcBef>
                <a:spcPts val="520"/>
              </a:spcBef>
              <a:spcAft>
                <a:spcPts val="0"/>
              </a:spcAft>
              <a:buClr>
                <a:srgbClr val="F4BE96"/>
              </a:buClr>
              <a:buSzPts val="1662"/>
              <a:buFont typeface="Quattrocento Sans"/>
              <a:buChar char="•"/>
            </a:pPr>
            <a:r>
              <a:rPr b="0" lang="ru-RU" sz="2078">
                <a:solidFill>
                  <a:schemeClr val="dk1"/>
                </a:solidFill>
                <a:latin typeface="Quattrocento Sans"/>
                <a:ea typeface="Quattrocento Sans"/>
                <a:cs typeface="Quattrocento Sans"/>
                <a:sym typeface="Quattrocento Sans"/>
              </a:rPr>
              <a:t>Алгоритм основан на выделении связных компонент графа на некотором уровне расстояний между объектами (вершинами). Метрика задается порогом расстояния </a:t>
            </a:r>
            <a:r>
              <a:rPr b="0" i="1" lang="ru-RU" sz="2078">
                <a:solidFill>
                  <a:srgbClr val="0000FF"/>
                </a:solidFill>
                <a:latin typeface="Quattrocento Sans"/>
                <a:ea typeface="Quattrocento Sans"/>
                <a:cs typeface="Quattrocento Sans"/>
                <a:sym typeface="Quattrocento Sans"/>
              </a:rPr>
              <a:t>c</a:t>
            </a:r>
            <a:r>
              <a:rPr b="0" lang="ru-RU" sz="2078">
                <a:solidFill>
                  <a:srgbClr val="0000FF"/>
                </a:solidFill>
                <a:latin typeface="Quattrocento Sans"/>
                <a:ea typeface="Quattrocento Sans"/>
                <a:cs typeface="Quattrocento Sans"/>
                <a:sym typeface="Quattrocento Sans"/>
              </a:rPr>
              <a:t>.</a:t>
            </a:r>
            <a:r>
              <a:rPr b="0" lang="ru-RU" sz="2078">
                <a:solidFill>
                  <a:schemeClr val="dk1"/>
                </a:solidFill>
                <a:latin typeface="Quattrocento Sans"/>
                <a:ea typeface="Quattrocento Sans"/>
                <a:cs typeface="Quattrocento Sans"/>
                <a:sym typeface="Quattrocento Sans"/>
              </a:rPr>
              <a:t> Например, если расстояние между объектами </a:t>
            </a:r>
            <a:r>
              <a:rPr b="0" i="1" lang="ru-RU" sz="2078">
                <a:solidFill>
                  <a:srgbClr val="0000FF"/>
                </a:solidFill>
                <a:latin typeface="Quattrocento Sans"/>
                <a:ea typeface="Quattrocento Sans"/>
                <a:cs typeface="Quattrocento Sans"/>
                <a:sym typeface="Quattrocento Sans"/>
              </a:rPr>
              <a:t>1≥D(xi,yi)≥0,  </a:t>
            </a:r>
            <a:r>
              <a:rPr b="0" lang="ru-RU" sz="2078">
                <a:solidFill>
                  <a:schemeClr val="dk1"/>
                </a:solidFill>
                <a:latin typeface="Quattrocento Sans"/>
                <a:ea typeface="Quattrocento Sans"/>
                <a:cs typeface="Quattrocento Sans"/>
                <a:sym typeface="Quattrocento Sans"/>
              </a:rPr>
              <a:t>то</a:t>
            </a:r>
            <a:r>
              <a:rPr b="0" i="1" lang="ru-RU" sz="2078">
                <a:solidFill>
                  <a:srgbClr val="FFFF00"/>
                </a:solidFill>
                <a:latin typeface="Quattrocento Sans"/>
                <a:ea typeface="Quattrocento Sans"/>
                <a:cs typeface="Quattrocento Sans"/>
                <a:sym typeface="Quattrocento Sans"/>
              </a:rPr>
              <a:t> </a:t>
            </a:r>
            <a:r>
              <a:rPr b="0" i="1" lang="ru-RU" sz="2078">
                <a:solidFill>
                  <a:srgbClr val="0000FF"/>
                </a:solidFill>
                <a:latin typeface="Quattrocento Sans"/>
                <a:ea typeface="Quattrocento Sans"/>
                <a:cs typeface="Quattrocento Sans"/>
                <a:sym typeface="Quattrocento Sans"/>
              </a:rPr>
              <a:t>1≥с≥0.</a:t>
            </a:r>
            <a:endParaRPr/>
          </a:p>
          <a:p>
            <a:pPr indent="-533400" lvl="0" marL="533400" marR="0" rtl="0" algn="l">
              <a:lnSpc>
                <a:spcPct val="85000"/>
              </a:lnSpc>
              <a:spcBef>
                <a:spcPts val="468"/>
              </a:spcBef>
              <a:spcAft>
                <a:spcPts val="0"/>
              </a:spcAft>
              <a:buClr>
                <a:srgbClr val="F4BE96"/>
              </a:buClr>
              <a:buSzPts val="1496"/>
              <a:buFont typeface="Quattrocento Sans"/>
              <a:buChar char="•"/>
            </a:pPr>
            <a:r>
              <a:rPr b="0" lang="ru-RU" sz="1870">
                <a:solidFill>
                  <a:schemeClr val="dk1"/>
                </a:solidFill>
                <a:latin typeface="Quattrocento Sans"/>
                <a:ea typeface="Quattrocento Sans"/>
                <a:cs typeface="Quattrocento Sans"/>
                <a:sym typeface="Quattrocento Sans"/>
              </a:rPr>
              <a:t>Алгоритм послойной кластеризации формирует последовательность подграфов графа </a:t>
            </a:r>
            <a:r>
              <a:rPr b="0" i="1" lang="ru-RU" sz="1870">
                <a:solidFill>
                  <a:schemeClr val="dk1"/>
                </a:solidFill>
                <a:latin typeface="Quattrocento Sans"/>
                <a:ea typeface="Quattrocento Sans"/>
                <a:cs typeface="Quattrocento Sans"/>
                <a:sym typeface="Quattrocento Sans"/>
              </a:rPr>
              <a:t>G</a:t>
            </a:r>
            <a:r>
              <a:rPr b="0" lang="ru-RU" sz="1870">
                <a:solidFill>
                  <a:schemeClr val="dk1"/>
                </a:solidFill>
                <a:latin typeface="Quattrocento Sans"/>
                <a:ea typeface="Quattrocento Sans"/>
                <a:cs typeface="Quattrocento Sans"/>
                <a:sym typeface="Quattrocento Sans"/>
              </a:rPr>
              <a:t>, которые отражают иерархические связи между кластерами</a:t>
            </a:r>
            <a:r>
              <a:rPr b="0" lang="ru-RU" sz="1870">
                <a:solidFill>
                  <a:srgbClr val="0000FF"/>
                </a:solidFill>
                <a:latin typeface="Quattrocento Sans"/>
                <a:ea typeface="Quattrocento Sans"/>
                <a:cs typeface="Quattrocento Sans"/>
                <a:sym typeface="Quattrocento Sans"/>
              </a:rPr>
              <a:t>: </a:t>
            </a:r>
            <a:r>
              <a:rPr b="1" i="1" lang="ru-RU" sz="1870">
                <a:solidFill>
                  <a:srgbClr val="0000FF"/>
                </a:solidFill>
                <a:latin typeface="Quattrocento Sans"/>
                <a:ea typeface="Quattrocento Sans"/>
                <a:cs typeface="Quattrocento Sans"/>
                <a:sym typeface="Quattrocento Sans"/>
              </a:rPr>
              <a:t>G</a:t>
            </a:r>
            <a:r>
              <a:rPr b="1" baseline="30000" i="1" lang="ru-RU" sz="1870">
                <a:solidFill>
                  <a:srgbClr val="0000FF"/>
                </a:solidFill>
                <a:latin typeface="Quattrocento Sans"/>
                <a:ea typeface="Quattrocento Sans"/>
                <a:cs typeface="Quattrocento Sans"/>
                <a:sym typeface="Quattrocento Sans"/>
              </a:rPr>
              <a:t>0</a:t>
            </a:r>
            <a:r>
              <a:rPr b="1" i="1" lang="ru-RU" sz="1870">
                <a:solidFill>
                  <a:srgbClr val="0000FF"/>
                </a:solidFill>
                <a:latin typeface="Quattrocento Sans"/>
                <a:ea typeface="Quattrocento Sans"/>
                <a:cs typeface="Quattrocento Sans"/>
                <a:sym typeface="Quattrocento Sans"/>
              </a:rPr>
              <a:t>⊆G</a:t>
            </a:r>
            <a:r>
              <a:rPr b="1" baseline="30000" i="1" lang="ru-RU" sz="1870">
                <a:solidFill>
                  <a:srgbClr val="0000FF"/>
                </a:solidFill>
                <a:latin typeface="Quattrocento Sans"/>
                <a:ea typeface="Quattrocento Sans"/>
                <a:cs typeface="Quattrocento Sans"/>
                <a:sym typeface="Quattrocento Sans"/>
              </a:rPr>
              <a:t>1</a:t>
            </a:r>
            <a:r>
              <a:rPr b="1" i="1" lang="ru-RU" sz="1870">
                <a:solidFill>
                  <a:srgbClr val="0000FF"/>
                </a:solidFill>
                <a:latin typeface="Quattrocento Sans"/>
                <a:ea typeface="Quattrocento Sans"/>
                <a:cs typeface="Quattrocento Sans"/>
                <a:sym typeface="Quattrocento Sans"/>
              </a:rPr>
              <a:t>⊆…⊆G</a:t>
            </a:r>
            <a:r>
              <a:rPr b="1" baseline="30000" i="1" lang="ru-RU" sz="1870">
                <a:solidFill>
                  <a:srgbClr val="0000FF"/>
                </a:solidFill>
                <a:latin typeface="Quattrocento Sans"/>
                <a:ea typeface="Quattrocento Sans"/>
                <a:cs typeface="Quattrocento Sans"/>
                <a:sym typeface="Quattrocento Sans"/>
              </a:rPr>
              <a:t>m </a:t>
            </a:r>
            <a:endParaRPr/>
          </a:p>
          <a:p>
            <a:pPr indent="-533400" lvl="0" marL="533400" marR="0" rtl="0" algn="l">
              <a:lnSpc>
                <a:spcPct val="85000"/>
              </a:lnSpc>
              <a:spcBef>
                <a:spcPts val="468"/>
              </a:spcBef>
              <a:spcAft>
                <a:spcPts val="0"/>
              </a:spcAft>
              <a:buClr>
                <a:srgbClr val="F4BE96"/>
              </a:buClr>
              <a:buSzPts val="1496"/>
              <a:buFont typeface="Quattrocento Sans"/>
              <a:buChar char="•"/>
            </a:pPr>
            <a:r>
              <a:rPr b="0" lang="ru-RU" sz="1870">
                <a:solidFill>
                  <a:schemeClr val="dk1"/>
                </a:solidFill>
                <a:latin typeface="Quattrocento Sans"/>
                <a:ea typeface="Quattrocento Sans"/>
                <a:cs typeface="Quattrocento Sans"/>
                <a:sym typeface="Quattrocento Sans"/>
              </a:rPr>
              <a:t>где</a:t>
            </a:r>
            <a:r>
              <a:rPr b="1" lang="ru-RU" sz="1870">
                <a:solidFill>
                  <a:srgbClr val="FFFF00"/>
                </a:solidFill>
                <a:latin typeface="Quattrocento Sans"/>
                <a:ea typeface="Quattrocento Sans"/>
                <a:cs typeface="Quattrocento Sans"/>
                <a:sym typeface="Quattrocento Sans"/>
              </a:rPr>
              <a:t> </a:t>
            </a:r>
            <a:r>
              <a:rPr b="1" i="1" lang="ru-RU" sz="1870">
                <a:solidFill>
                  <a:srgbClr val="0000FF"/>
                </a:solidFill>
                <a:latin typeface="Quattrocento Sans"/>
                <a:ea typeface="Quattrocento Sans"/>
                <a:cs typeface="Quattrocento Sans"/>
                <a:sym typeface="Quattrocento Sans"/>
              </a:rPr>
              <a:t>G</a:t>
            </a:r>
            <a:r>
              <a:rPr b="1" baseline="30000" i="1" lang="ru-RU" sz="1870">
                <a:solidFill>
                  <a:srgbClr val="0000FF"/>
                </a:solidFill>
                <a:latin typeface="Quattrocento Sans"/>
                <a:ea typeface="Quattrocento Sans"/>
                <a:cs typeface="Quattrocento Sans"/>
                <a:sym typeface="Quattrocento Sans"/>
              </a:rPr>
              <a:t>t</a:t>
            </a:r>
            <a:r>
              <a:rPr b="1" i="1" lang="ru-RU" sz="1870">
                <a:solidFill>
                  <a:srgbClr val="0000FF"/>
                </a:solidFill>
                <a:latin typeface="Quattrocento Sans"/>
                <a:ea typeface="Quattrocento Sans"/>
                <a:cs typeface="Quattrocento Sans"/>
                <a:sym typeface="Quattrocento Sans"/>
              </a:rPr>
              <a:t> = (V, E</a:t>
            </a:r>
            <a:r>
              <a:rPr b="1" baseline="30000" i="1" lang="ru-RU" sz="1870">
                <a:solidFill>
                  <a:srgbClr val="0000FF"/>
                </a:solidFill>
                <a:latin typeface="Quattrocento Sans"/>
                <a:ea typeface="Quattrocento Sans"/>
                <a:cs typeface="Quattrocento Sans"/>
                <a:sym typeface="Quattrocento Sans"/>
              </a:rPr>
              <a:t>t</a:t>
            </a:r>
            <a:r>
              <a:rPr b="1" i="1" lang="ru-RU" sz="1870">
                <a:solidFill>
                  <a:srgbClr val="0000FF"/>
                </a:solidFill>
                <a:latin typeface="Quattrocento Sans"/>
                <a:ea typeface="Quattrocento Sans"/>
                <a:cs typeface="Quattrocento Sans"/>
                <a:sym typeface="Quattrocento Sans"/>
              </a:rPr>
              <a:t>)</a:t>
            </a:r>
            <a:r>
              <a:rPr b="1" lang="ru-RU" sz="1870">
                <a:solidFill>
                  <a:srgbClr val="0000FF"/>
                </a:solidFill>
                <a:latin typeface="Quattrocento Sans"/>
                <a:ea typeface="Quattrocento Sans"/>
                <a:cs typeface="Quattrocento Sans"/>
                <a:sym typeface="Quattrocento Sans"/>
              </a:rPr>
              <a:t> </a:t>
            </a:r>
            <a:r>
              <a:rPr b="0" lang="ru-RU" sz="1870">
                <a:solidFill>
                  <a:schemeClr val="dk1"/>
                </a:solidFill>
                <a:latin typeface="Quattrocento Sans"/>
                <a:ea typeface="Quattrocento Sans"/>
                <a:cs typeface="Quattrocento Sans"/>
                <a:sym typeface="Quattrocento Sans"/>
              </a:rPr>
              <a:t>— граф на уровне </a:t>
            </a:r>
            <a:r>
              <a:rPr b="1" i="1" lang="ru-RU" sz="1870">
                <a:solidFill>
                  <a:srgbClr val="0000FF"/>
                </a:solidFill>
                <a:latin typeface="Quattrocento Sans"/>
                <a:ea typeface="Quattrocento Sans"/>
                <a:cs typeface="Quattrocento Sans"/>
                <a:sym typeface="Quattrocento Sans"/>
              </a:rPr>
              <a:t>с</a:t>
            </a:r>
            <a:r>
              <a:rPr b="1" baseline="30000" i="1" lang="ru-RU" sz="1870">
                <a:solidFill>
                  <a:srgbClr val="0000FF"/>
                </a:solidFill>
                <a:latin typeface="Quattrocento Sans"/>
                <a:ea typeface="Quattrocento Sans"/>
                <a:cs typeface="Quattrocento Sans"/>
                <a:sym typeface="Quattrocento Sans"/>
              </a:rPr>
              <a:t>t</a:t>
            </a:r>
            <a:r>
              <a:rPr b="0" lang="ru-RU" sz="1870">
                <a:solidFill>
                  <a:srgbClr val="0000FF"/>
                </a:solidFill>
                <a:latin typeface="Quattrocento Sans"/>
                <a:ea typeface="Quattrocento Sans"/>
                <a:cs typeface="Quattrocento Sans"/>
                <a:sym typeface="Quattrocento Sans"/>
              </a:rPr>
              <a:t>,  </a:t>
            </a:r>
            <a:r>
              <a:rPr b="1" i="1" lang="ru-RU" sz="1870">
                <a:solidFill>
                  <a:srgbClr val="0000FF"/>
                </a:solidFill>
                <a:latin typeface="Quattrocento Sans"/>
                <a:ea typeface="Quattrocento Sans"/>
                <a:cs typeface="Quattrocento Sans"/>
                <a:sym typeface="Quattrocento Sans"/>
              </a:rPr>
              <a:t>E</a:t>
            </a:r>
            <a:r>
              <a:rPr b="1" baseline="-25000" i="1" lang="ru-RU" sz="1870">
                <a:solidFill>
                  <a:srgbClr val="0000FF"/>
                </a:solidFill>
                <a:latin typeface="Quattrocento Sans"/>
                <a:ea typeface="Quattrocento Sans"/>
                <a:cs typeface="Quattrocento Sans"/>
                <a:sym typeface="Quattrocento Sans"/>
              </a:rPr>
              <a:t>t</a:t>
            </a:r>
            <a:r>
              <a:rPr b="1" i="1" lang="ru-RU" sz="1870">
                <a:solidFill>
                  <a:srgbClr val="0000FF"/>
                </a:solidFill>
                <a:latin typeface="Quattrocento Sans"/>
                <a:ea typeface="Quattrocento Sans"/>
                <a:cs typeface="Quattrocento Sans"/>
                <a:sym typeface="Quattrocento Sans"/>
              </a:rPr>
              <a:t>={e</a:t>
            </a:r>
            <a:r>
              <a:rPr b="1" baseline="-25000" i="1" lang="ru-RU" sz="1870">
                <a:solidFill>
                  <a:srgbClr val="0000FF"/>
                </a:solidFill>
                <a:latin typeface="Quattrocento Sans"/>
                <a:ea typeface="Quattrocento Sans"/>
                <a:cs typeface="Quattrocento Sans"/>
                <a:sym typeface="Quattrocento Sans"/>
              </a:rPr>
              <a:t>ij</a:t>
            </a:r>
            <a:r>
              <a:rPr b="1" i="1" lang="ru-RU" sz="1870">
                <a:solidFill>
                  <a:srgbClr val="0000FF"/>
                </a:solidFill>
                <a:latin typeface="Quattrocento Sans"/>
                <a:ea typeface="Quattrocento Sans"/>
                <a:cs typeface="Quattrocento Sans"/>
                <a:sym typeface="Quattrocento Sans"/>
              </a:rPr>
              <a:t>∈ E:c</a:t>
            </a:r>
            <a:r>
              <a:rPr b="1" baseline="-25000" i="1" lang="ru-RU" sz="1870">
                <a:solidFill>
                  <a:srgbClr val="0000FF"/>
                </a:solidFill>
                <a:latin typeface="Quattrocento Sans"/>
                <a:ea typeface="Quattrocento Sans"/>
                <a:cs typeface="Quattrocento Sans"/>
                <a:sym typeface="Quattrocento Sans"/>
              </a:rPr>
              <a:t>t </a:t>
            </a:r>
            <a:r>
              <a:rPr b="1" i="1" lang="ru-RU" sz="1870">
                <a:solidFill>
                  <a:srgbClr val="0000FF"/>
                </a:solidFill>
                <a:latin typeface="Quattrocento Sans"/>
                <a:ea typeface="Quattrocento Sans"/>
                <a:cs typeface="Quattrocento Sans"/>
                <a:sym typeface="Quattrocento Sans"/>
              </a:rPr>
              <a:t>≥ D</a:t>
            </a:r>
            <a:r>
              <a:rPr b="1" baseline="-25000" i="1" lang="ru-RU" sz="1870">
                <a:solidFill>
                  <a:srgbClr val="0000FF"/>
                </a:solidFill>
                <a:latin typeface="Quattrocento Sans"/>
                <a:ea typeface="Quattrocento Sans"/>
                <a:cs typeface="Quattrocento Sans"/>
                <a:sym typeface="Quattrocento Sans"/>
              </a:rPr>
              <a:t>ij</a:t>
            </a:r>
            <a:r>
              <a:rPr b="1" i="1" lang="ru-RU" sz="1870">
                <a:solidFill>
                  <a:srgbClr val="0000FF"/>
                </a:solidFill>
                <a:latin typeface="Quattrocento Sans"/>
                <a:ea typeface="Quattrocento Sans"/>
                <a:cs typeface="Quattrocento Sans"/>
                <a:sym typeface="Quattrocento Sans"/>
              </a:rPr>
              <a:t>}</a:t>
            </a:r>
            <a:endParaRPr/>
          </a:p>
          <a:p>
            <a:pPr indent="-533400" lvl="0" marL="533400" marR="0" rtl="0" algn="l">
              <a:lnSpc>
                <a:spcPct val="85000"/>
              </a:lnSpc>
              <a:spcBef>
                <a:spcPts val="468"/>
              </a:spcBef>
              <a:spcAft>
                <a:spcPts val="0"/>
              </a:spcAft>
              <a:buClr>
                <a:srgbClr val="F4BE96"/>
              </a:buClr>
              <a:buSzPts val="1496"/>
              <a:buFont typeface="Quattrocento Sans"/>
              <a:buChar char="•"/>
            </a:pPr>
            <a:r>
              <a:rPr b="1" i="1" lang="ru-RU" sz="1870">
                <a:solidFill>
                  <a:srgbClr val="0000FF"/>
                </a:solidFill>
                <a:latin typeface="Quattrocento Sans"/>
                <a:ea typeface="Quattrocento Sans"/>
                <a:cs typeface="Quattrocento Sans"/>
                <a:sym typeface="Quattrocento Sans"/>
              </a:rPr>
              <a:t>с</a:t>
            </a:r>
            <a:r>
              <a:rPr b="1" baseline="30000" i="1" lang="ru-RU" sz="1870">
                <a:solidFill>
                  <a:srgbClr val="0000FF"/>
                </a:solidFill>
                <a:latin typeface="Quattrocento Sans"/>
                <a:ea typeface="Quattrocento Sans"/>
                <a:cs typeface="Quattrocento Sans"/>
                <a:sym typeface="Quattrocento Sans"/>
              </a:rPr>
              <a:t>t</a:t>
            </a:r>
            <a:r>
              <a:rPr b="1" lang="ru-RU" sz="1870">
                <a:solidFill>
                  <a:srgbClr val="FFFF00"/>
                </a:solidFill>
                <a:latin typeface="Quattrocento Sans"/>
                <a:ea typeface="Quattrocento Sans"/>
                <a:cs typeface="Quattrocento Sans"/>
                <a:sym typeface="Quattrocento Sans"/>
              </a:rPr>
              <a:t> </a:t>
            </a:r>
            <a:r>
              <a:rPr b="0" lang="ru-RU" sz="1870">
                <a:solidFill>
                  <a:schemeClr val="dk1"/>
                </a:solidFill>
                <a:latin typeface="Quattrocento Sans"/>
                <a:ea typeface="Quattrocento Sans"/>
                <a:cs typeface="Quattrocento Sans"/>
                <a:sym typeface="Quattrocento Sans"/>
              </a:rPr>
              <a:t>– t-ый порог расстояния,</a:t>
            </a:r>
            <a:br>
              <a:rPr b="0" lang="ru-RU" sz="1870">
                <a:solidFill>
                  <a:schemeClr val="dk1"/>
                </a:solidFill>
                <a:latin typeface="Quattrocento Sans"/>
                <a:ea typeface="Quattrocento Sans"/>
                <a:cs typeface="Quattrocento Sans"/>
                <a:sym typeface="Quattrocento Sans"/>
              </a:rPr>
            </a:br>
            <a:r>
              <a:rPr b="1" i="1" lang="ru-RU" sz="1870">
                <a:solidFill>
                  <a:srgbClr val="0000FF"/>
                </a:solidFill>
                <a:latin typeface="Quattrocento Sans"/>
                <a:ea typeface="Quattrocento Sans"/>
                <a:cs typeface="Quattrocento Sans"/>
                <a:sym typeface="Quattrocento Sans"/>
              </a:rPr>
              <a:t>m</a:t>
            </a:r>
            <a:r>
              <a:rPr b="0" lang="ru-RU" sz="1870">
                <a:solidFill>
                  <a:srgbClr val="0000FF"/>
                </a:solidFill>
                <a:latin typeface="Quattrocento Sans"/>
                <a:ea typeface="Quattrocento Sans"/>
                <a:cs typeface="Quattrocento Sans"/>
                <a:sym typeface="Quattrocento Sans"/>
              </a:rPr>
              <a:t> </a:t>
            </a:r>
            <a:r>
              <a:rPr b="0" lang="ru-RU" sz="1870">
                <a:solidFill>
                  <a:schemeClr val="dk1"/>
                </a:solidFill>
                <a:latin typeface="Quattrocento Sans"/>
                <a:ea typeface="Quattrocento Sans"/>
                <a:cs typeface="Quattrocento Sans"/>
                <a:sym typeface="Quattrocento Sans"/>
              </a:rPr>
              <a:t>– количество уровней иерархии,</a:t>
            </a:r>
            <a:br>
              <a:rPr b="0" lang="ru-RU" sz="1870">
                <a:solidFill>
                  <a:schemeClr val="dk1"/>
                </a:solidFill>
                <a:latin typeface="Quattrocento Sans"/>
                <a:ea typeface="Quattrocento Sans"/>
                <a:cs typeface="Quattrocento Sans"/>
                <a:sym typeface="Quattrocento Sans"/>
              </a:rPr>
            </a:br>
            <a:r>
              <a:rPr b="1" i="1" lang="ru-RU" sz="1870">
                <a:solidFill>
                  <a:srgbClr val="0000FF"/>
                </a:solidFill>
                <a:latin typeface="Quattrocento Sans"/>
                <a:ea typeface="Quattrocento Sans"/>
                <a:cs typeface="Quattrocento Sans"/>
                <a:sym typeface="Quattrocento Sans"/>
              </a:rPr>
              <a:t>G</a:t>
            </a:r>
            <a:r>
              <a:rPr b="1" baseline="30000" i="1" lang="ru-RU" sz="1870">
                <a:solidFill>
                  <a:srgbClr val="0000FF"/>
                </a:solidFill>
                <a:latin typeface="Quattrocento Sans"/>
                <a:ea typeface="Quattrocento Sans"/>
                <a:cs typeface="Quattrocento Sans"/>
                <a:sym typeface="Quattrocento Sans"/>
              </a:rPr>
              <a:t>0 </a:t>
            </a:r>
            <a:r>
              <a:rPr b="1" i="1" lang="ru-RU" sz="1870">
                <a:solidFill>
                  <a:srgbClr val="0000FF"/>
                </a:solidFill>
                <a:latin typeface="Quattrocento Sans"/>
                <a:ea typeface="Quattrocento Sans"/>
                <a:cs typeface="Quattrocento Sans"/>
                <a:sym typeface="Quattrocento Sans"/>
              </a:rPr>
              <a:t>= (V, 0), </a:t>
            </a:r>
            <a:r>
              <a:rPr b="0" lang="ru-RU" sz="1870">
                <a:solidFill>
                  <a:schemeClr val="dk1"/>
                </a:solidFill>
                <a:latin typeface="Quattrocento Sans"/>
                <a:ea typeface="Quattrocento Sans"/>
                <a:cs typeface="Quattrocento Sans"/>
                <a:sym typeface="Quattrocento Sans"/>
              </a:rPr>
              <a:t>0 – пустое множество ребер графа, получаемое при </a:t>
            </a:r>
            <a:r>
              <a:rPr b="1" lang="ru-RU" sz="1870">
                <a:solidFill>
                  <a:srgbClr val="0000FF"/>
                </a:solidFill>
                <a:latin typeface="Quattrocento Sans"/>
                <a:ea typeface="Quattrocento Sans"/>
                <a:cs typeface="Quattrocento Sans"/>
                <a:sym typeface="Quattrocento Sans"/>
              </a:rPr>
              <a:t>t</a:t>
            </a:r>
            <a:r>
              <a:rPr b="1" baseline="30000" lang="ru-RU" sz="1870">
                <a:solidFill>
                  <a:srgbClr val="0000FF"/>
                </a:solidFill>
                <a:latin typeface="Quattrocento Sans"/>
                <a:ea typeface="Quattrocento Sans"/>
                <a:cs typeface="Quattrocento Sans"/>
                <a:sym typeface="Quattrocento Sans"/>
              </a:rPr>
              <a:t>0</a:t>
            </a:r>
            <a:r>
              <a:rPr b="1" lang="ru-RU" sz="1870">
                <a:solidFill>
                  <a:srgbClr val="0000FF"/>
                </a:solidFill>
                <a:latin typeface="Quattrocento Sans"/>
                <a:ea typeface="Quattrocento Sans"/>
                <a:cs typeface="Quattrocento Sans"/>
                <a:sym typeface="Quattrocento Sans"/>
              </a:rPr>
              <a:t> = 1</a:t>
            </a:r>
            <a:r>
              <a:rPr b="0" lang="ru-RU" sz="1870">
                <a:solidFill>
                  <a:srgbClr val="0000FF"/>
                </a:solidFill>
                <a:latin typeface="Quattrocento Sans"/>
                <a:ea typeface="Quattrocento Sans"/>
                <a:cs typeface="Quattrocento Sans"/>
                <a:sym typeface="Quattrocento Sans"/>
              </a:rPr>
              <a:t>,</a:t>
            </a:r>
            <a:br>
              <a:rPr b="0" lang="ru-RU" sz="1870">
                <a:solidFill>
                  <a:schemeClr val="dk1"/>
                </a:solidFill>
                <a:latin typeface="Quattrocento Sans"/>
                <a:ea typeface="Quattrocento Sans"/>
                <a:cs typeface="Quattrocento Sans"/>
                <a:sym typeface="Quattrocento Sans"/>
              </a:rPr>
            </a:br>
            <a:r>
              <a:rPr b="1" i="1" lang="ru-RU" sz="1870">
                <a:solidFill>
                  <a:srgbClr val="0000FF"/>
                </a:solidFill>
                <a:latin typeface="Quattrocento Sans"/>
                <a:ea typeface="Quattrocento Sans"/>
                <a:cs typeface="Quattrocento Sans"/>
                <a:sym typeface="Quattrocento Sans"/>
              </a:rPr>
              <a:t>G</a:t>
            </a:r>
            <a:r>
              <a:rPr b="1" baseline="30000" i="1" lang="ru-RU" sz="1870">
                <a:solidFill>
                  <a:srgbClr val="0000FF"/>
                </a:solidFill>
                <a:latin typeface="Quattrocento Sans"/>
                <a:ea typeface="Quattrocento Sans"/>
                <a:cs typeface="Quattrocento Sans"/>
                <a:sym typeface="Quattrocento Sans"/>
              </a:rPr>
              <a:t>m</a:t>
            </a:r>
            <a:r>
              <a:rPr b="1" i="1" lang="ru-RU" sz="1870">
                <a:solidFill>
                  <a:srgbClr val="0000FF"/>
                </a:solidFill>
                <a:latin typeface="Quattrocento Sans"/>
                <a:ea typeface="Quattrocento Sans"/>
                <a:cs typeface="Quattrocento Sans"/>
                <a:sym typeface="Quattrocento Sans"/>
              </a:rPr>
              <a:t> = G</a:t>
            </a:r>
            <a:r>
              <a:rPr b="0" lang="ru-RU" sz="1870">
                <a:solidFill>
                  <a:srgbClr val="0000FF"/>
                </a:solidFill>
                <a:latin typeface="Quattrocento Sans"/>
                <a:ea typeface="Quattrocento Sans"/>
                <a:cs typeface="Quattrocento Sans"/>
                <a:sym typeface="Quattrocento Sans"/>
              </a:rPr>
              <a:t>, </a:t>
            </a:r>
            <a:r>
              <a:rPr b="0" lang="ru-RU" sz="1870">
                <a:solidFill>
                  <a:schemeClr val="dk1"/>
                </a:solidFill>
                <a:latin typeface="Quattrocento Sans"/>
                <a:ea typeface="Quattrocento Sans"/>
                <a:cs typeface="Quattrocento Sans"/>
                <a:sym typeface="Quattrocento Sans"/>
              </a:rPr>
              <a:t>то есть граф объектов без ограничений на расстояние (длину ребер графа), поскольку </a:t>
            </a:r>
            <a:r>
              <a:rPr b="1" i="1" lang="ru-RU" sz="1870">
                <a:solidFill>
                  <a:srgbClr val="0000FF"/>
                </a:solidFill>
                <a:latin typeface="Quattrocento Sans"/>
                <a:ea typeface="Quattrocento Sans"/>
                <a:cs typeface="Quattrocento Sans"/>
                <a:sym typeface="Quattrocento Sans"/>
              </a:rPr>
              <a:t>t</a:t>
            </a:r>
            <a:r>
              <a:rPr b="1" baseline="30000" i="1" lang="ru-RU" sz="1870">
                <a:solidFill>
                  <a:srgbClr val="0000FF"/>
                </a:solidFill>
                <a:latin typeface="Quattrocento Sans"/>
                <a:ea typeface="Quattrocento Sans"/>
                <a:cs typeface="Quattrocento Sans"/>
                <a:sym typeface="Quattrocento Sans"/>
              </a:rPr>
              <a:t>m</a:t>
            </a:r>
            <a:r>
              <a:rPr b="1" i="1" lang="ru-RU" sz="1870">
                <a:solidFill>
                  <a:srgbClr val="0000FF"/>
                </a:solidFill>
                <a:latin typeface="Quattrocento Sans"/>
                <a:ea typeface="Quattrocento Sans"/>
                <a:cs typeface="Quattrocento Sans"/>
                <a:sym typeface="Quattrocento Sans"/>
              </a:rPr>
              <a:t> = 1</a:t>
            </a:r>
            <a:r>
              <a:rPr b="0" lang="ru-RU" sz="1870">
                <a:solidFill>
                  <a:srgbClr val="0000FF"/>
                </a:solidFill>
                <a:latin typeface="Quattrocento Sans"/>
                <a:ea typeface="Quattrocento Sans"/>
                <a:cs typeface="Quattrocento Sans"/>
                <a:sym typeface="Quattrocento Sans"/>
              </a:rPr>
              <a:t>.</a:t>
            </a:r>
            <a:br>
              <a:rPr b="0" lang="ru-RU" sz="1870">
                <a:solidFill>
                  <a:schemeClr val="dk1"/>
                </a:solidFill>
                <a:latin typeface="Quattrocento Sans"/>
                <a:ea typeface="Quattrocento Sans"/>
                <a:cs typeface="Quattrocento Sans"/>
                <a:sym typeface="Quattrocento Sans"/>
              </a:rPr>
            </a:br>
            <a:br>
              <a:rPr b="0" lang="ru-RU" sz="1870">
                <a:solidFill>
                  <a:schemeClr val="dk1"/>
                </a:solidFill>
                <a:latin typeface="Quattrocento Sans"/>
                <a:ea typeface="Quattrocento Sans"/>
                <a:cs typeface="Quattrocento Sans"/>
                <a:sym typeface="Quattrocento Sans"/>
              </a:rPr>
            </a:br>
            <a:r>
              <a:rPr b="0" lang="ru-RU" sz="1870">
                <a:solidFill>
                  <a:schemeClr val="dk1"/>
                </a:solidFill>
                <a:latin typeface="Quattrocento Sans"/>
                <a:ea typeface="Quattrocento Sans"/>
                <a:cs typeface="Quattrocento Sans"/>
                <a:sym typeface="Quattrocento Sans"/>
              </a:rPr>
              <a:t>Посредством изменения порогов расстояния </a:t>
            </a:r>
            <a:r>
              <a:rPr b="1" i="1" lang="ru-RU" sz="1870">
                <a:solidFill>
                  <a:srgbClr val="0000FF"/>
                </a:solidFill>
                <a:latin typeface="Quattrocento Sans"/>
                <a:ea typeface="Quattrocento Sans"/>
                <a:cs typeface="Quattrocento Sans"/>
                <a:sym typeface="Quattrocento Sans"/>
              </a:rPr>
              <a:t>{с</a:t>
            </a:r>
            <a:r>
              <a:rPr b="1" baseline="30000" i="1" lang="ru-RU" sz="1870">
                <a:solidFill>
                  <a:srgbClr val="0000FF"/>
                </a:solidFill>
                <a:latin typeface="Quattrocento Sans"/>
                <a:ea typeface="Quattrocento Sans"/>
                <a:cs typeface="Quattrocento Sans"/>
                <a:sym typeface="Quattrocento Sans"/>
              </a:rPr>
              <a:t>0</a:t>
            </a:r>
            <a:r>
              <a:rPr b="1" i="1" lang="ru-RU" sz="1870">
                <a:solidFill>
                  <a:srgbClr val="0000FF"/>
                </a:solidFill>
                <a:latin typeface="Quattrocento Sans"/>
                <a:ea typeface="Quattrocento Sans"/>
                <a:cs typeface="Quattrocento Sans"/>
                <a:sym typeface="Quattrocento Sans"/>
              </a:rPr>
              <a:t>, …, с</a:t>
            </a:r>
            <a:r>
              <a:rPr b="1" baseline="30000" i="1" lang="ru-RU" sz="1870">
                <a:solidFill>
                  <a:srgbClr val="0000FF"/>
                </a:solidFill>
                <a:latin typeface="Quattrocento Sans"/>
                <a:ea typeface="Quattrocento Sans"/>
                <a:cs typeface="Quattrocento Sans"/>
                <a:sym typeface="Quattrocento Sans"/>
              </a:rPr>
              <a:t>m</a:t>
            </a:r>
            <a:r>
              <a:rPr b="1" i="1" lang="ru-RU" sz="1870">
                <a:solidFill>
                  <a:srgbClr val="0000FF"/>
                </a:solidFill>
                <a:latin typeface="Quattrocento Sans"/>
                <a:ea typeface="Quattrocento Sans"/>
                <a:cs typeface="Quattrocento Sans"/>
                <a:sym typeface="Quattrocento Sans"/>
              </a:rPr>
              <a:t>}, </a:t>
            </a:r>
            <a:r>
              <a:rPr b="0" lang="ru-RU" sz="1870">
                <a:solidFill>
                  <a:srgbClr val="0000FF"/>
                </a:solidFill>
                <a:latin typeface="Quattrocento Sans"/>
                <a:ea typeface="Quattrocento Sans"/>
                <a:cs typeface="Quattrocento Sans"/>
                <a:sym typeface="Quattrocento Sans"/>
              </a:rPr>
              <a:t>где </a:t>
            </a:r>
            <a:r>
              <a:rPr b="1" i="1" lang="ru-RU" sz="1870">
                <a:solidFill>
                  <a:srgbClr val="0000FF"/>
                </a:solidFill>
                <a:latin typeface="Quattrocento Sans"/>
                <a:ea typeface="Quattrocento Sans"/>
                <a:cs typeface="Quattrocento Sans"/>
                <a:sym typeface="Quattrocento Sans"/>
              </a:rPr>
              <a:t>0 = с</a:t>
            </a:r>
            <a:r>
              <a:rPr b="1" baseline="30000" i="1" lang="ru-RU" sz="1870">
                <a:solidFill>
                  <a:srgbClr val="0000FF"/>
                </a:solidFill>
                <a:latin typeface="Quattrocento Sans"/>
                <a:ea typeface="Quattrocento Sans"/>
                <a:cs typeface="Quattrocento Sans"/>
                <a:sym typeface="Quattrocento Sans"/>
              </a:rPr>
              <a:t>0</a:t>
            </a:r>
            <a:r>
              <a:rPr b="1" i="1" lang="ru-RU" sz="1870">
                <a:solidFill>
                  <a:srgbClr val="0000FF"/>
                </a:solidFill>
                <a:latin typeface="Quattrocento Sans"/>
                <a:ea typeface="Quattrocento Sans"/>
                <a:cs typeface="Quattrocento Sans"/>
                <a:sym typeface="Quattrocento Sans"/>
              </a:rPr>
              <a:t> &lt; с</a:t>
            </a:r>
            <a:r>
              <a:rPr b="1" baseline="30000" i="1" lang="ru-RU" sz="1870">
                <a:solidFill>
                  <a:srgbClr val="0000FF"/>
                </a:solidFill>
                <a:latin typeface="Quattrocento Sans"/>
                <a:ea typeface="Quattrocento Sans"/>
                <a:cs typeface="Quattrocento Sans"/>
                <a:sym typeface="Quattrocento Sans"/>
              </a:rPr>
              <a:t>1</a:t>
            </a:r>
            <a:r>
              <a:rPr b="1" i="1" lang="ru-RU" sz="1870">
                <a:solidFill>
                  <a:srgbClr val="0000FF"/>
                </a:solidFill>
                <a:latin typeface="Quattrocento Sans"/>
                <a:ea typeface="Quattrocento Sans"/>
                <a:cs typeface="Quattrocento Sans"/>
                <a:sym typeface="Quattrocento Sans"/>
              </a:rPr>
              <a:t> &lt; …&lt; с</a:t>
            </a:r>
            <a:r>
              <a:rPr b="1" baseline="30000" i="1" lang="ru-RU" sz="1870">
                <a:solidFill>
                  <a:srgbClr val="0000FF"/>
                </a:solidFill>
                <a:latin typeface="Quattrocento Sans"/>
                <a:ea typeface="Quattrocento Sans"/>
                <a:cs typeface="Quattrocento Sans"/>
                <a:sym typeface="Quattrocento Sans"/>
              </a:rPr>
              <a:t>m</a:t>
            </a:r>
            <a:r>
              <a:rPr b="1" i="1" lang="ru-RU" sz="1870">
                <a:solidFill>
                  <a:srgbClr val="0000FF"/>
                </a:solidFill>
                <a:latin typeface="Quattrocento Sans"/>
                <a:ea typeface="Quattrocento Sans"/>
                <a:cs typeface="Quattrocento Sans"/>
                <a:sym typeface="Quattrocento Sans"/>
              </a:rPr>
              <a:t> = 1</a:t>
            </a:r>
            <a:r>
              <a:rPr b="0" lang="ru-RU" sz="1870">
                <a:solidFill>
                  <a:srgbClr val="0000FF"/>
                </a:solidFill>
                <a:latin typeface="Quattrocento Sans"/>
                <a:ea typeface="Quattrocento Sans"/>
                <a:cs typeface="Quattrocento Sans"/>
                <a:sym typeface="Quattrocento Sans"/>
              </a:rPr>
              <a:t>, </a:t>
            </a:r>
            <a:r>
              <a:rPr b="0" lang="ru-RU" sz="1870">
                <a:solidFill>
                  <a:schemeClr val="dk1"/>
                </a:solidFill>
                <a:latin typeface="Quattrocento Sans"/>
                <a:ea typeface="Quattrocento Sans"/>
                <a:cs typeface="Quattrocento Sans"/>
                <a:sym typeface="Quattrocento Sans"/>
              </a:rPr>
              <a:t>возможно контролировать глубину иерархии получаемых кластеров. Таким образом, алгоритм послойной кластеризации способен создавать как плоское разбиение данных, так и иерархическое.</a:t>
            </a:r>
            <a:endParaRPr b="1" baseline="30000" i="1" sz="1870">
              <a:solidFill>
                <a:srgbClr val="FFFF00"/>
              </a:solidFill>
              <a:latin typeface="Quattrocento Sans"/>
              <a:ea typeface="Quattrocento Sans"/>
              <a:cs typeface="Quattrocento Sans"/>
              <a:sym typeface="Quattrocento Sans"/>
            </a:endParaRPr>
          </a:p>
        </p:txBody>
      </p:sp>
      <p:sp>
        <p:nvSpPr>
          <p:cNvPr id="681" name="Google Shape;681;p5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53"/>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87" name="Google Shape;687;p53"/>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88" name="Google Shape;688;p53"/>
          <p:cNvSpPr/>
          <p:nvPr/>
        </p:nvSpPr>
        <p:spPr>
          <a:xfrm>
            <a:off x="387350" y="1127585"/>
            <a:ext cx="9431338" cy="5747878"/>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689" name="Google Shape;689;p53"/>
          <p:cNvSpPr txBox="1"/>
          <p:nvPr>
            <p:ph type="title"/>
          </p:nvPr>
        </p:nvSpPr>
        <p:spPr>
          <a:xfrm>
            <a:off x="805230" y="263937"/>
            <a:ext cx="8700009" cy="63344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000"/>
              <a:t>Алгоритмы кластерного анализа</a:t>
            </a:r>
            <a:endParaRPr sz="4000"/>
          </a:p>
        </p:txBody>
      </p:sp>
      <p:sp>
        <p:nvSpPr>
          <p:cNvPr id="690" name="Google Shape;690;p53"/>
          <p:cNvSpPr txBox="1"/>
          <p:nvPr/>
        </p:nvSpPr>
        <p:spPr>
          <a:xfrm>
            <a:off x="1538338" y="1064290"/>
            <a:ext cx="7200799" cy="530434"/>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F4BE96"/>
              </a:buClr>
              <a:buSzPts val="2240"/>
              <a:buFont typeface="Calibri"/>
              <a:buNone/>
            </a:pPr>
            <a:r>
              <a:rPr lang="ru-RU" sz="2800">
                <a:solidFill>
                  <a:schemeClr val="dk1"/>
                </a:solidFill>
                <a:latin typeface="Calibri"/>
                <a:ea typeface="Calibri"/>
                <a:cs typeface="Calibri"/>
                <a:sym typeface="Calibri"/>
              </a:rPr>
              <a:t>Дендрограммы</a:t>
            </a:r>
            <a:endParaRPr sz="2800">
              <a:solidFill>
                <a:schemeClr val="dk1"/>
              </a:solidFill>
              <a:latin typeface="Quattrocento Sans"/>
              <a:ea typeface="Quattrocento Sans"/>
              <a:cs typeface="Quattrocento Sans"/>
              <a:sym typeface="Quattrocento Sans"/>
            </a:endParaRPr>
          </a:p>
        </p:txBody>
      </p:sp>
      <p:pic>
        <p:nvPicPr>
          <p:cNvPr descr="Fig-5" id="691" name="Google Shape;691;p53"/>
          <p:cNvPicPr preferRelativeResize="0"/>
          <p:nvPr/>
        </p:nvPicPr>
        <p:blipFill rotWithShape="1">
          <a:blip r:embed="rId3">
            <a:alphaModFix/>
          </a:blip>
          <a:srcRect b="0" l="0" r="0" t="0"/>
          <a:stretch/>
        </p:blipFill>
        <p:spPr>
          <a:xfrm>
            <a:off x="805230" y="1459298"/>
            <a:ext cx="8104416" cy="4194410"/>
          </a:xfrm>
          <a:prstGeom prst="rect">
            <a:avLst/>
          </a:prstGeom>
          <a:noFill/>
          <a:ln>
            <a:noFill/>
          </a:ln>
        </p:spPr>
      </p:pic>
      <p:sp>
        <p:nvSpPr>
          <p:cNvPr id="692" name="Google Shape;692;p53"/>
          <p:cNvSpPr/>
          <p:nvPr/>
        </p:nvSpPr>
        <p:spPr>
          <a:xfrm>
            <a:off x="618184" y="5675134"/>
            <a:ext cx="9041108"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ru-RU" sz="1800">
                <a:solidFill>
                  <a:srgbClr val="000000"/>
                </a:solidFill>
                <a:latin typeface="PT Sans"/>
                <a:ea typeface="PT Sans"/>
                <a:cs typeface="PT Sans"/>
                <a:sym typeface="PT Sans"/>
              </a:rPr>
              <a:t>Реконструированное филогенетическое дерево балто-славянских языков, созданное путем сочетания нескольких методов (StarlingNJ, NJ, BioNJ, UPGMA, BayesianMCMC, UMP). Тройные узлы образованы путем объединения соседних двойных узлов, если временное расстояние между ними было ≤ 300 лет.</a:t>
            </a:r>
            <a:endParaRPr sz="1800">
              <a:solidFill>
                <a:schemeClr val="dk1"/>
              </a:solidFill>
              <a:latin typeface="Arial"/>
              <a:ea typeface="Arial"/>
              <a:cs typeface="Arial"/>
              <a:sym typeface="Arial"/>
            </a:endParaRPr>
          </a:p>
        </p:txBody>
      </p:sp>
      <p:sp>
        <p:nvSpPr>
          <p:cNvPr id="693" name="Google Shape;693;p5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54"/>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699" name="Google Shape;699;p54"/>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00" name="Google Shape;700;p54"/>
          <p:cNvSpPr/>
          <p:nvPr/>
        </p:nvSpPr>
        <p:spPr>
          <a:xfrm>
            <a:off x="387350" y="1127585"/>
            <a:ext cx="9431338" cy="5747878"/>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701" name="Google Shape;701;p54"/>
          <p:cNvSpPr txBox="1"/>
          <p:nvPr>
            <p:ph type="title"/>
          </p:nvPr>
        </p:nvSpPr>
        <p:spPr>
          <a:xfrm>
            <a:off x="805230" y="263937"/>
            <a:ext cx="8700009" cy="63344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000"/>
              <a:t>Алгоритмы кластерного анализа</a:t>
            </a:r>
            <a:endParaRPr sz="4000"/>
          </a:p>
        </p:txBody>
      </p:sp>
      <p:sp>
        <p:nvSpPr>
          <p:cNvPr id="702" name="Google Shape;702;p54"/>
          <p:cNvSpPr txBox="1"/>
          <p:nvPr/>
        </p:nvSpPr>
        <p:spPr>
          <a:xfrm>
            <a:off x="1538338" y="1064290"/>
            <a:ext cx="7200799" cy="530434"/>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F4BE96"/>
              </a:buClr>
              <a:buSzPts val="2240"/>
              <a:buFont typeface="Calibri"/>
              <a:buNone/>
            </a:pPr>
            <a:r>
              <a:rPr lang="ru-RU" sz="2800">
                <a:solidFill>
                  <a:schemeClr val="dk1"/>
                </a:solidFill>
                <a:latin typeface="Calibri"/>
                <a:ea typeface="Calibri"/>
                <a:cs typeface="Calibri"/>
                <a:sym typeface="Calibri"/>
              </a:rPr>
              <a:t>Дендрограммы</a:t>
            </a:r>
            <a:endParaRPr sz="2800">
              <a:solidFill>
                <a:schemeClr val="dk1"/>
              </a:solidFill>
              <a:latin typeface="Quattrocento Sans"/>
              <a:ea typeface="Quattrocento Sans"/>
              <a:cs typeface="Quattrocento Sans"/>
              <a:sym typeface="Quattrocento Sans"/>
            </a:endParaRPr>
          </a:p>
        </p:txBody>
      </p:sp>
      <p:pic>
        <p:nvPicPr>
          <p:cNvPr descr="Fig-5" id="703" name="Google Shape;703;p54"/>
          <p:cNvPicPr preferRelativeResize="0"/>
          <p:nvPr/>
        </p:nvPicPr>
        <p:blipFill rotWithShape="1">
          <a:blip r:embed="rId3">
            <a:alphaModFix/>
          </a:blip>
          <a:srcRect b="0" l="0" r="0" t="0"/>
          <a:stretch/>
        </p:blipFill>
        <p:spPr>
          <a:xfrm>
            <a:off x="4666895" y="1416937"/>
            <a:ext cx="4981579" cy="2578197"/>
          </a:xfrm>
          <a:prstGeom prst="rect">
            <a:avLst/>
          </a:prstGeom>
          <a:noFill/>
          <a:ln>
            <a:noFill/>
          </a:ln>
        </p:spPr>
      </p:pic>
      <p:sp>
        <p:nvSpPr>
          <p:cNvPr id="704" name="Google Shape;704;p54"/>
          <p:cNvSpPr/>
          <p:nvPr/>
        </p:nvSpPr>
        <p:spPr>
          <a:xfrm>
            <a:off x="530225" y="4037495"/>
            <a:ext cx="9504363"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PT Sans"/>
                <a:ea typeface="PT Sans"/>
                <a:cs typeface="PT Sans"/>
                <a:sym typeface="PT Sans"/>
              </a:rPr>
              <a:t>Дальнейшее разделение славянских языков началось в V-VI веках (около 1300-1500 лет назад): восточная ветвь разделилась на русский и украинский/белорусский, западная ветвь – на чешско/словацкий, протосорбсколужицкий и польский/кашубский, южная ветвь – на сербско-хорватский, болгарский, македонский. Выделение современных языков произошло 1000-500 лет назад. Такая датировка дерева соответствует историческим и археологическим данным, которые говорят о быстром распространении славян по Европе во второй половине 1-го тысячелетия н.э.</a:t>
            </a:r>
            <a:endParaRPr sz="2000">
              <a:solidFill>
                <a:schemeClr val="dk1"/>
              </a:solidFill>
              <a:latin typeface="Arial"/>
              <a:ea typeface="Arial"/>
              <a:cs typeface="Arial"/>
              <a:sym typeface="Arial"/>
            </a:endParaRPr>
          </a:p>
        </p:txBody>
      </p:sp>
      <p:sp>
        <p:nvSpPr>
          <p:cNvPr id="705" name="Google Shape;705;p54"/>
          <p:cNvSpPr/>
          <p:nvPr/>
        </p:nvSpPr>
        <p:spPr>
          <a:xfrm>
            <a:off x="705734" y="1824924"/>
            <a:ext cx="3723356"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rgbClr val="000000"/>
                </a:solidFill>
                <a:latin typeface="PT Sans"/>
                <a:ea typeface="PT Sans"/>
                <a:cs typeface="PT Sans"/>
                <a:sym typeface="PT Sans"/>
              </a:rPr>
              <a:t>После разделения балтской и славянской ветвей самая первая развилка на славянской ветви оказалась тройной – разделение славян на западную, восточную и южную ветви – и датированной около 1900 лет назад. </a:t>
            </a:r>
            <a:endParaRPr sz="1800">
              <a:solidFill>
                <a:schemeClr val="dk1"/>
              </a:solidFill>
              <a:latin typeface="Arial"/>
              <a:ea typeface="Arial"/>
              <a:cs typeface="Arial"/>
              <a:sym typeface="Arial"/>
            </a:endParaRPr>
          </a:p>
        </p:txBody>
      </p:sp>
      <p:cxnSp>
        <p:nvCxnSpPr>
          <p:cNvPr id="706" name="Google Shape;706;p54"/>
          <p:cNvCxnSpPr/>
          <p:nvPr/>
        </p:nvCxnSpPr>
        <p:spPr>
          <a:xfrm flipH="1" rot="10800000">
            <a:off x="4130625" y="2706035"/>
            <a:ext cx="2376264" cy="23275"/>
          </a:xfrm>
          <a:prstGeom prst="straightConnector1">
            <a:avLst/>
          </a:prstGeom>
          <a:solidFill>
            <a:schemeClr val="accent1"/>
          </a:solidFill>
          <a:ln cap="flat" cmpd="sng" w="9525">
            <a:solidFill>
              <a:srgbClr val="FF0000"/>
            </a:solidFill>
            <a:prstDash val="solid"/>
            <a:round/>
            <a:headEnd len="sm" w="sm" type="none"/>
            <a:tailEnd len="med" w="med" type="triangle"/>
          </a:ln>
        </p:spPr>
      </p:cxnSp>
      <p:sp>
        <p:nvSpPr>
          <p:cNvPr id="707" name="Google Shape;707;p5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55"/>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13" name="Google Shape;713;p55"/>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14" name="Google Shape;714;p55"/>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715" name="Google Shape;715;p55"/>
          <p:cNvSpPr txBox="1"/>
          <p:nvPr>
            <p:ph type="title"/>
          </p:nvPr>
        </p:nvSpPr>
        <p:spPr>
          <a:xfrm>
            <a:off x="805230" y="263937"/>
            <a:ext cx="8700009" cy="63344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000"/>
              <a:t>Алгоритм кластерного анализа</a:t>
            </a:r>
            <a:endParaRPr sz="4000"/>
          </a:p>
        </p:txBody>
      </p:sp>
      <p:pic>
        <p:nvPicPr>
          <p:cNvPr id="716" name="Google Shape;716;p55"/>
          <p:cNvPicPr preferRelativeResize="0"/>
          <p:nvPr/>
        </p:nvPicPr>
        <p:blipFill rotWithShape="1">
          <a:blip r:embed="rId3">
            <a:alphaModFix/>
          </a:blip>
          <a:srcRect b="0" l="0" r="0" t="0"/>
          <a:stretch/>
        </p:blipFill>
        <p:spPr>
          <a:xfrm>
            <a:off x="530225" y="2278832"/>
            <a:ext cx="4031307" cy="3092661"/>
          </a:xfrm>
          <a:prstGeom prst="rect">
            <a:avLst/>
          </a:prstGeom>
          <a:noFill/>
          <a:ln>
            <a:noFill/>
          </a:ln>
        </p:spPr>
      </p:pic>
      <p:sp>
        <p:nvSpPr>
          <p:cNvPr id="717" name="Google Shape;717;p55"/>
          <p:cNvSpPr txBox="1"/>
          <p:nvPr/>
        </p:nvSpPr>
        <p:spPr>
          <a:xfrm>
            <a:off x="1609961" y="1317752"/>
            <a:ext cx="7200799" cy="530434"/>
          </a:xfrm>
          <a:prstGeom prst="rect">
            <a:avLst/>
          </a:prstGeom>
          <a:no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F4BE96"/>
              </a:buClr>
              <a:buSzPts val="2240"/>
              <a:buFont typeface="Calibri"/>
              <a:buNone/>
            </a:pPr>
            <a:r>
              <a:rPr lang="ru-RU" sz="2800">
                <a:solidFill>
                  <a:schemeClr val="dk1"/>
                </a:solidFill>
                <a:latin typeface="Calibri"/>
                <a:ea typeface="Calibri"/>
                <a:cs typeface="Calibri"/>
                <a:sym typeface="Calibri"/>
              </a:rPr>
              <a:t>Алгоритм построения дендрограммы</a:t>
            </a:r>
            <a:endParaRPr sz="2800">
              <a:solidFill>
                <a:schemeClr val="dk1"/>
              </a:solidFill>
              <a:latin typeface="Quattrocento Sans"/>
              <a:ea typeface="Quattrocento Sans"/>
              <a:cs typeface="Quattrocento Sans"/>
              <a:sym typeface="Quattrocento Sans"/>
            </a:endParaRPr>
          </a:p>
        </p:txBody>
      </p:sp>
      <p:pic>
        <p:nvPicPr>
          <p:cNvPr id="718" name="Google Shape;718;p55"/>
          <p:cNvPicPr preferRelativeResize="0"/>
          <p:nvPr/>
        </p:nvPicPr>
        <p:blipFill rotWithShape="1">
          <a:blip r:embed="rId4">
            <a:alphaModFix/>
          </a:blip>
          <a:srcRect b="0" l="0" r="0" t="0"/>
          <a:stretch/>
        </p:blipFill>
        <p:spPr>
          <a:xfrm>
            <a:off x="5122224" y="2372791"/>
            <a:ext cx="4647403" cy="2623249"/>
          </a:xfrm>
          <a:prstGeom prst="rect">
            <a:avLst/>
          </a:prstGeom>
          <a:noFill/>
          <a:ln>
            <a:noFill/>
          </a:ln>
        </p:spPr>
      </p:pic>
      <p:sp>
        <p:nvSpPr>
          <p:cNvPr id="719" name="Google Shape;719;p5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56"/>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25" name="Google Shape;725;p56"/>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26" name="Google Shape;726;p56"/>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727" name="Google Shape;727;p56"/>
          <p:cNvSpPr txBox="1"/>
          <p:nvPr>
            <p:ph type="title"/>
          </p:nvPr>
        </p:nvSpPr>
        <p:spPr>
          <a:xfrm>
            <a:off x="805230" y="263937"/>
            <a:ext cx="8700009" cy="63344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000"/>
              <a:t>Алгоритмы кластерного анализа</a:t>
            </a:r>
            <a:endParaRPr sz="4000"/>
          </a:p>
        </p:txBody>
      </p:sp>
      <p:pic>
        <p:nvPicPr>
          <p:cNvPr id="728" name="Google Shape;728;p56"/>
          <p:cNvPicPr preferRelativeResize="0"/>
          <p:nvPr/>
        </p:nvPicPr>
        <p:blipFill rotWithShape="1">
          <a:blip r:embed="rId3">
            <a:alphaModFix/>
          </a:blip>
          <a:srcRect b="0" l="0" r="0" t="0"/>
          <a:stretch/>
        </p:blipFill>
        <p:spPr>
          <a:xfrm>
            <a:off x="3505805" y="1188815"/>
            <a:ext cx="2584825" cy="1742042"/>
          </a:xfrm>
          <a:prstGeom prst="rect">
            <a:avLst/>
          </a:prstGeom>
          <a:noFill/>
          <a:ln>
            <a:noFill/>
          </a:ln>
        </p:spPr>
      </p:pic>
      <p:sp>
        <p:nvSpPr>
          <p:cNvPr id="729" name="Google Shape;729;p56"/>
          <p:cNvSpPr txBox="1"/>
          <p:nvPr/>
        </p:nvSpPr>
        <p:spPr>
          <a:xfrm>
            <a:off x="1575217" y="3121743"/>
            <a:ext cx="2736688" cy="530434"/>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F4BE96"/>
              </a:buClr>
              <a:buSzPts val="2240"/>
              <a:buFont typeface="Calibri"/>
              <a:buNone/>
            </a:pPr>
            <a:r>
              <a:rPr lang="ru-RU" sz="2800">
                <a:solidFill>
                  <a:schemeClr val="dk1"/>
                </a:solidFill>
                <a:latin typeface="Calibri"/>
                <a:ea typeface="Calibri"/>
                <a:cs typeface="Calibri"/>
                <a:sym typeface="Calibri"/>
              </a:rPr>
              <a:t>Дендрограмма</a:t>
            </a:r>
            <a:endParaRPr sz="2800">
              <a:solidFill>
                <a:schemeClr val="dk1"/>
              </a:solidFill>
              <a:latin typeface="Quattrocento Sans"/>
              <a:ea typeface="Quattrocento Sans"/>
              <a:cs typeface="Quattrocento Sans"/>
              <a:sym typeface="Quattrocento Sans"/>
            </a:endParaRPr>
          </a:p>
        </p:txBody>
      </p:sp>
      <p:pic>
        <p:nvPicPr>
          <p:cNvPr id="730" name="Google Shape;730;p56"/>
          <p:cNvPicPr preferRelativeResize="0"/>
          <p:nvPr/>
        </p:nvPicPr>
        <p:blipFill rotWithShape="1">
          <a:blip r:embed="rId4">
            <a:alphaModFix/>
          </a:blip>
          <a:srcRect b="0" l="0" r="0" t="0"/>
          <a:stretch/>
        </p:blipFill>
        <p:spPr>
          <a:xfrm>
            <a:off x="5736984" y="3652177"/>
            <a:ext cx="3861075" cy="2854622"/>
          </a:xfrm>
          <a:prstGeom prst="rect">
            <a:avLst/>
          </a:prstGeom>
          <a:noFill/>
          <a:ln>
            <a:noFill/>
          </a:ln>
        </p:spPr>
      </p:pic>
      <p:sp>
        <p:nvSpPr>
          <p:cNvPr id="731" name="Google Shape;731;p56"/>
          <p:cNvSpPr txBox="1"/>
          <p:nvPr/>
        </p:nvSpPr>
        <p:spPr>
          <a:xfrm>
            <a:off x="5747921" y="2930857"/>
            <a:ext cx="3850138" cy="530434"/>
          </a:xfrm>
          <a:prstGeom prst="rect">
            <a:avLst/>
          </a:prstGeom>
          <a:noFill/>
          <a:ln>
            <a:noFill/>
          </a:ln>
        </p:spPr>
        <p:txBody>
          <a:bodyPr anchorCtr="0" anchor="t" bIns="45700" lIns="91425" spcFirstLastPara="1" rIns="91425" wrap="square" tIns="45700">
            <a:noAutofit/>
          </a:bodyPr>
          <a:lstStyle/>
          <a:p>
            <a:pPr indent="0" lvl="0" marL="0" marR="0" rtl="0" algn="ctr">
              <a:lnSpc>
                <a:spcPct val="85000"/>
              </a:lnSpc>
              <a:spcBef>
                <a:spcPts val="0"/>
              </a:spcBef>
              <a:spcAft>
                <a:spcPts val="0"/>
              </a:spcAft>
              <a:buClr>
                <a:srgbClr val="F4BE96"/>
              </a:buClr>
              <a:buSzPts val="1920"/>
              <a:buFont typeface="Calibri"/>
              <a:buNone/>
            </a:pPr>
            <a:r>
              <a:rPr lang="ru-RU" sz="2400">
                <a:solidFill>
                  <a:schemeClr val="dk1"/>
                </a:solidFill>
                <a:latin typeface="Calibri"/>
                <a:ea typeface="Calibri"/>
                <a:cs typeface="Calibri"/>
                <a:sym typeface="Calibri"/>
              </a:rPr>
              <a:t>"Каменная осыпь" </a:t>
            </a:r>
            <a:endParaRPr sz="2400">
              <a:solidFill>
                <a:schemeClr val="dk1"/>
              </a:solidFill>
              <a:latin typeface="Calibri"/>
              <a:ea typeface="Calibri"/>
              <a:cs typeface="Calibri"/>
              <a:sym typeface="Calibri"/>
            </a:endParaRPr>
          </a:p>
          <a:p>
            <a:pPr indent="0" lvl="0" marL="0" marR="0" rtl="0" algn="ctr">
              <a:lnSpc>
                <a:spcPct val="85000"/>
              </a:lnSpc>
              <a:spcBef>
                <a:spcPts val="600"/>
              </a:spcBef>
              <a:spcAft>
                <a:spcPts val="0"/>
              </a:spcAft>
              <a:buClr>
                <a:srgbClr val="F4BE96"/>
              </a:buClr>
              <a:buSzPts val="1920"/>
              <a:buFont typeface="Calibri"/>
              <a:buNone/>
            </a:pPr>
            <a:r>
              <a:rPr lang="ru-RU" sz="2400">
                <a:solidFill>
                  <a:schemeClr val="dk1"/>
                </a:solidFill>
                <a:latin typeface="Calibri"/>
                <a:ea typeface="Calibri"/>
                <a:cs typeface="Calibri"/>
                <a:sym typeface="Calibri"/>
              </a:rPr>
              <a:t>или "Локоть"</a:t>
            </a:r>
            <a:endParaRPr sz="2400">
              <a:solidFill>
                <a:schemeClr val="dk1"/>
              </a:solidFill>
              <a:latin typeface="Quattrocento Sans"/>
              <a:ea typeface="Quattrocento Sans"/>
              <a:cs typeface="Quattrocento Sans"/>
              <a:sym typeface="Quattrocento Sans"/>
            </a:endParaRPr>
          </a:p>
        </p:txBody>
      </p:sp>
      <p:pic>
        <p:nvPicPr>
          <p:cNvPr id="732" name="Google Shape;732;p56"/>
          <p:cNvPicPr preferRelativeResize="0"/>
          <p:nvPr/>
        </p:nvPicPr>
        <p:blipFill rotWithShape="1">
          <a:blip r:embed="rId5">
            <a:alphaModFix/>
          </a:blip>
          <a:srcRect b="0" l="0" r="0" t="0"/>
          <a:stretch/>
        </p:blipFill>
        <p:spPr>
          <a:xfrm>
            <a:off x="569387" y="3738118"/>
            <a:ext cx="4585847" cy="2588503"/>
          </a:xfrm>
          <a:prstGeom prst="rect">
            <a:avLst/>
          </a:prstGeom>
          <a:noFill/>
          <a:ln>
            <a:noFill/>
          </a:ln>
        </p:spPr>
      </p:pic>
      <p:sp>
        <p:nvSpPr>
          <p:cNvPr id="733" name="Google Shape;733;p5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57"/>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39" name="Google Shape;739;p57"/>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40" name="Google Shape;740;p57"/>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741" name="Google Shape;741;p57"/>
          <p:cNvSpPr txBox="1"/>
          <p:nvPr>
            <p:ph type="title"/>
          </p:nvPr>
        </p:nvSpPr>
        <p:spPr>
          <a:xfrm>
            <a:off x="805230" y="263937"/>
            <a:ext cx="8700009" cy="63344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000"/>
              <a:t>Алгоритмы кластерного анализа</a:t>
            </a:r>
            <a:endParaRPr sz="4000"/>
          </a:p>
        </p:txBody>
      </p:sp>
      <p:pic>
        <p:nvPicPr>
          <p:cNvPr id="742" name="Google Shape;742;p57"/>
          <p:cNvPicPr preferRelativeResize="0"/>
          <p:nvPr/>
        </p:nvPicPr>
        <p:blipFill rotWithShape="1">
          <a:blip r:embed="rId3">
            <a:alphaModFix/>
          </a:blip>
          <a:srcRect b="0" l="0" r="0" t="0"/>
          <a:stretch/>
        </p:blipFill>
        <p:spPr>
          <a:xfrm>
            <a:off x="5902287" y="1011877"/>
            <a:ext cx="3268897" cy="1916703"/>
          </a:xfrm>
          <a:prstGeom prst="rect">
            <a:avLst/>
          </a:prstGeom>
          <a:noFill/>
          <a:ln>
            <a:noFill/>
          </a:ln>
        </p:spPr>
      </p:pic>
      <p:pic>
        <p:nvPicPr>
          <p:cNvPr id="743" name="Google Shape;743;p57"/>
          <p:cNvPicPr preferRelativeResize="0"/>
          <p:nvPr/>
        </p:nvPicPr>
        <p:blipFill rotWithShape="1">
          <a:blip r:embed="rId4">
            <a:alphaModFix/>
          </a:blip>
          <a:srcRect b="0" l="0" r="0" t="0"/>
          <a:stretch/>
        </p:blipFill>
        <p:spPr>
          <a:xfrm>
            <a:off x="5902288" y="2970941"/>
            <a:ext cx="3268897" cy="1916703"/>
          </a:xfrm>
          <a:prstGeom prst="rect">
            <a:avLst/>
          </a:prstGeom>
          <a:noFill/>
          <a:ln>
            <a:noFill/>
          </a:ln>
        </p:spPr>
      </p:pic>
      <p:pic>
        <p:nvPicPr>
          <p:cNvPr id="744" name="Google Shape;744;p57"/>
          <p:cNvPicPr preferRelativeResize="0"/>
          <p:nvPr/>
        </p:nvPicPr>
        <p:blipFill rotWithShape="1">
          <a:blip r:embed="rId5">
            <a:alphaModFix/>
          </a:blip>
          <a:srcRect b="0" l="0" r="0" t="0"/>
          <a:stretch/>
        </p:blipFill>
        <p:spPr>
          <a:xfrm>
            <a:off x="5957021" y="4935244"/>
            <a:ext cx="3159433" cy="1853507"/>
          </a:xfrm>
          <a:prstGeom prst="rect">
            <a:avLst/>
          </a:prstGeom>
          <a:noFill/>
          <a:ln>
            <a:noFill/>
          </a:ln>
        </p:spPr>
      </p:pic>
      <p:sp>
        <p:nvSpPr>
          <p:cNvPr id="745" name="Google Shape;745;p57"/>
          <p:cNvSpPr/>
          <p:nvPr/>
        </p:nvSpPr>
        <p:spPr>
          <a:xfrm>
            <a:off x="4274641" y="3773060"/>
            <a:ext cx="936104" cy="582172"/>
          </a:xfrm>
          <a:prstGeom prst="leftRightArrow">
            <a:avLst>
              <a:gd fmla="val 50000"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746" name="Google Shape;746;p57"/>
          <p:cNvSpPr/>
          <p:nvPr/>
        </p:nvSpPr>
        <p:spPr>
          <a:xfrm>
            <a:off x="4530233" y="3078012"/>
            <a:ext cx="43473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3200">
                <a:solidFill>
                  <a:srgbClr val="FF0000"/>
                </a:solidFill>
                <a:latin typeface="Arial"/>
                <a:ea typeface="Arial"/>
                <a:cs typeface="Arial"/>
                <a:sym typeface="Arial"/>
              </a:rPr>
              <a:t>?</a:t>
            </a:r>
            <a:endParaRPr/>
          </a:p>
        </p:txBody>
      </p:sp>
      <p:pic>
        <p:nvPicPr>
          <p:cNvPr id="747" name="Google Shape;747;p57"/>
          <p:cNvPicPr preferRelativeResize="0"/>
          <p:nvPr/>
        </p:nvPicPr>
        <p:blipFill rotWithShape="1">
          <a:blip r:embed="rId6">
            <a:alphaModFix/>
          </a:blip>
          <a:srcRect b="0" l="0" r="0" t="0"/>
          <a:stretch/>
        </p:blipFill>
        <p:spPr>
          <a:xfrm>
            <a:off x="1178296" y="1186880"/>
            <a:ext cx="2448272" cy="1829478"/>
          </a:xfrm>
          <a:prstGeom prst="rect">
            <a:avLst/>
          </a:prstGeom>
          <a:noFill/>
          <a:ln>
            <a:noFill/>
          </a:ln>
        </p:spPr>
      </p:pic>
      <p:pic>
        <p:nvPicPr>
          <p:cNvPr id="748" name="Google Shape;748;p57"/>
          <p:cNvPicPr preferRelativeResize="0"/>
          <p:nvPr/>
        </p:nvPicPr>
        <p:blipFill rotWithShape="1">
          <a:blip r:embed="rId7">
            <a:alphaModFix/>
          </a:blip>
          <a:srcRect b="0" l="0" r="0" t="0"/>
          <a:stretch/>
        </p:blipFill>
        <p:spPr>
          <a:xfrm>
            <a:off x="1178295" y="3052542"/>
            <a:ext cx="2448273" cy="1806746"/>
          </a:xfrm>
          <a:prstGeom prst="rect">
            <a:avLst/>
          </a:prstGeom>
          <a:noFill/>
          <a:ln>
            <a:noFill/>
          </a:ln>
        </p:spPr>
      </p:pic>
      <p:pic>
        <p:nvPicPr>
          <p:cNvPr id="749" name="Google Shape;749;p57"/>
          <p:cNvPicPr preferRelativeResize="0"/>
          <p:nvPr/>
        </p:nvPicPr>
        <p:blipFill rotWithShape="1">
          <a:blip r:embed="rId8">
            <a:alphaModFix/>
          </a:blip>
          <a:srcRect b="0" l="0" r="0" t="0"/>
          <a:stretch/>
        </p:blipFill>
        <p:spPr>
          <a:xfrm>
            <a:off x="1211832" y="4878952"/>
            <a:ext cx="2495669" cy="1852049"/>
          </a:xfrm>
          <a:prstGeom prst="rect">
            <a:avLst/>
          </a:prstGeom>
          <a:noFill/>
          <a:ln>
            <a:noFill/>
          </a:ln>
        </p:spPr>
      </p:pic>
      <p:sp>
        <p:nvSpPr>
          <p:cNvPr id="750" name="Google Shape;750;p57"/>
          <p:cNvSpPr/>
          <p:nvPr/>
        </p:nvSpPr>
        <p:spPr>
          <a:xfrm>
            <a:off x="778731" y="1302597"/>
            <a:ext cx="41229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000">
                <a:solidFill>
                  <a:srgbClr val="0000FF"/>
                </a:solidFill>
                <a:latin typeface="Arial"/>
                <a:ea typeface="Arial"/>
                <a:cs typeface="Arial"/>
                <a:sym typeface="Arial"/>
              </a:rPr>
              <a:t>1)</a:t>
            </a:r>
            <a:endParaRPr/>
          </a:p>
        </p:txBody>
      </p:sp>
      <p:sp>
        <p:nvSpPr>
          <p:cNvPr id="751" name="Google Shape;751;p57"/>
          <p:cNvSpPr/>
          <p:nvPr/>
        </p:nvSpPr>
        <p:spPr>
          <a:xfrm>
            <a:off x="805230" y="3023740"/>
            <a:ext cx="41229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000">
                <a:solidFill>
                  <a:srgbClr val="0000FF"/>
                </a:solidFill>
                <a:latin typeface="Arial"/>
                <a:ea typeface="Arial"/>
                <a:cs typeface="Arial"/>
                <a:sym typeface="Arial"/>
              </a:rPr>
              <a:t>2)</a:t>
            </a:r>
            <a:endParaRPr/>
          </a:p>
        </p:txBody>
      </p:sp>
      <p:sp>
        <p:nvSpPr>
          <p:cNvPr id="752" name="Google Shape;752;p57"/>
          <p:cNvSpPr/>
          <p:nvPr/>
        </p:nvSpPr>
        <p:spPr>
          <a:xfrm>
            <a:off x="765887" y="4940620"/>
            <a:ext cx="41229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000">
                <a:solidFill>
                  <a:srgbClr val="0000FF"/>
                </a:solidFill>
                <a:latin typeface="Arial"/>
                <a:ea typeface="Arial"/>
                <a:cs typeface="Arial"/>
                <a:sym typeface="Arial"/>
              </a:rPr>
              <a:t>3)</a:t>
            </a:r>
            <a:endParaRPr/>
          </a:p>
        </p:txBody>
      </p:sp>
      <p:sp>
        <p:nvSpPr>
          <p:cNvPr id="753" name="Google Shape;753;p57"/>
          <p:cNvSpPr/>
          <p:nvPr/>
        </p:nvSpPr>
        <p:spPr>
          <a:xfrm>
            <a:off x="3856800" y="1250976"/>
            <a:ext cx="1771786" cy="1754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Каждой диаграмме рассеивания поставить в соответствие  дендрограмму</a:t>
            </a:r>
            <a:endParaRPr/>
          </a:p>
        </p:txBody>
      </p:sp>
      <p:sp>
        <p:nvSpPr>
          <p:cNvPr id="754" name="Google Shape;754;p57"/>
          <p:cNvSpPr/>
          <p:nvPr/>
        </p:nvSpPr>
        <p:spPr>
          <a:xfrm>
            <a:off x="3770585" y="5140675"/>
            <a:ext cx="2050324" cy="1477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1800">
                <a:solidFill>
                  <a:schemeClr val="dk1"/>
                </a:solidFill>
                <a:latin typeface="Arial"/>
                <a:ea typeface="Arial"/>
                <a:cs typeface="Arial"/>
                <a:sym typeface="Arial"/>
              </a:rPr>
              <a:t>Кластерный анализ всегда найдет решение, даже там, где его нет.</a:t>
            </a:r>
            <a:endParaRPr/>
          </a:p>
        </p:txBody>
      </p:sp>
      <p:sp>
        <p:nvSpPr>
          <p:cNvPr id="755" name="Google Shape;755;p5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
        <p:nvSpPr>
          <p:cNvPr id="756" name="Google Shape;756;p57"/>
          <p:cNvSpPr/>
          <p:nvPr/>
        </p:nvSpPr>
        <p:spPr>
          <a:xfrm>
            <a:off x="9208278" y="1502652"/>
            <a:ext cx="45557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000">
                <a:solidFill>
                  <a:srgbClr val="0000FF"/>
                </a:solidFill>
                <a:latin typeface="Arial"/>
                <a:ea typeface="Arial"/>
                <a:cs typeface="Arial"/>
                <a:sym typeface="Arial"/>
              </a:rPr>
              <a:t>A)</a:t>
            </a:r>
            <a:endParaRPr/>
          </a:p>
        </p:txBody>
      </p:sp>
      <p:sp>
        <p:nvSpPr>
          <p:cNvPr id="757" name="Google Shape;757;p57"/>
          <p:cNvSpPr/>
          <p:nvPr/>
        </p:nvSpPr>
        <p:spPr>
          <a:xfrm>
            <a:off x="9234777" y="3223795"/>
            <a:ext cx="45557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000">
                <a:solidFill>
                  <a:srgbClr val="0000FF"/>
                </a:solidFill>
                <a:latin typeface="Arial"/>
                <a:ea typeface="Arial"/>
                <a:cs typeface="Arial"/>
                <a:sym typeface="Arial"/>
              </a:rPr>
              <a:t>B)</a:t>
            </a:r>
            <a:endParaRPr/>
          </a:p>
        </p:txBody>
      </p:sp>
      <p:sp>
        <p:nvSpPr>
          <p:cNvPr id="758" name="Google Shape;758;p57"/>
          <p:cNvSpPr/>
          <p:nvPr/>
        </p:nvSpPr>
        <p:spPr>
          <a:xfrm>
            <a:off x="9195434" y="5140675"/>
            <a:ext cx="45557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ru-RU" sz="2000">
                <a:solidFill>
                  <a:srgbClr val="0000FF"/>
                </a:solidFill>
                <a:latin typeface="Arial"/>
                <a:ea typeface="Arial"/>
                <a:cs typeface="Arial"/>
                <a:sym typeface="Arial"/>
              </a:rPr>
              <a:t>C)</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58"/>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64" name="Google Shape;764;p58"/>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65" name="Google Shape;765;p58"/>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766" name="Google Shape;766;p58"/>
          <p:cNvSpPr txBox="1"/>
          <p:nvPr>
            <p:ph type="title"/>
          </p:nvPr>
        </p:nvSpPr>
        <p:spPr>
          <a:xfrm>
            <a:off x="805230" y="263937"/>
            <a:ext cx="8700009" cy="63344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000"/>
              <a:t>Алгоритмы кластерного анализа</a:t>
            </a:r>
            <a:endParaRPr sz="4000"/>
          </a:p>
        </p:txBody>
      </p:sp>
      <p:sp>
        <p:nvSpPr>
          <p:cNvPr id="767" name="Google Shape;767;p58"/>
          <p:cNvSpPr txBox="1"/>
          <p:nvPr/>
        </p:nvSpPr>
        <p:spPr>
          <a:xfrm>
            <a:off x="818305" y="2119325"/>
            <a:ext cx="8229600" cy="64215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3200">
                <a:solidFill>
                  <a:schemeClr val="dk2"/>
                </a:solidFill>
                <a:latin typeface="Calibri"/>
                <a:ea typeface="Calibri"/>
                <a:cs typeface="Calibri"/>
                <a:sym typeface="Calibri"/>
              </a:rPr>
              <a:t>Начинающим рекомендуются</a:t>
            </a:r>
            <a:endParaRPr/>
          </a:p>
        </p:txBody>
      </p:sp>
      <p:sp>
        <p:nvSpPr>
          <p:cNvPr id="768" name="Google Shape;768;p58"/>
          <p:cNvSpPr txBox="1"/>
          <p:nvPr/>
        </p:nvSpPr>
        <p:spPr>
          <a:xfrm>
            <a:off x="805229" y="2843064"/>
            <a:ext cx="8700009" cy="3770458"/>
          </a:xfrm>
          <a:prstGeom prst="rect">
            <a:avLst/>
          </a:prstGeom>
          <a:noFill/>
          <a:ln>
            <a:noFill/>
          </a:ln>
        </p:spPr>
        <p:txBody>
          <a:bodyPr anchorCtr="0" anchor="t" bIns="45700" lIns="91425" spcFirstLastPara="1" rIns="91425" wrap="square" tIns="45700">
            <a:noAutofit/>
          </a:bodyPr>
          <a:lstStyle/>
          <a:p>
            <a:pPr indent="-373063" lvl="0" marL="373063" marR="0" rtl="0" algn="l">
              <a:spcBef>
                <a:spcPts val="0"/>
              </a:spcBef>
              <a:spcAft>
                <a:spcPts val="0"/>
              </a:spcAft>
              <a:buClr>
                <a:srgbClr val="CC9900"/>
              </a:buClr>
              <a:buSzPts val="1820"/>
              <a:buFont typeface="Calibri"/>
              <a:buChar char="•"/>
            </a:pPr>
            <a:r>
              <a:rPr lang="ru-RU" sz="2800">
                <a:solidFill>
                  <a:schemeClr val="dk1"/>
                </a:solidFill>
                <a:latin typeface="Calibri"/>
                <a:ea typeface="Calibri"/>
                <a:cs typeface="Calibri"/>
                <a:sym typeface="Calibri"/>
              </a:rPr>
              <a:t>выделяют плотные шаровидные скопления</a:t>
            </a:r>
            <a:endParaRPr/>
          </a:p>
          <a:p>
            <a:pPr indent="0" lvl="1" marL="434975" marR="0" rtl="0" algn="l">
              <a:spcBef>
                <a:spcPts val="460"/>
              </a:spcBef>
              <a:spcAft>
                <a:spcPts val="0"/>
              </a:spcAft>
              <a:buClr>
                <a:srgbClr val="CC9900"/>
              </a:buClr>
              <a:buSzPts val="1495"/>
              <a:buFont typeface="Calibri"/>
              <a:buNone/>
            </a:pPr>
            <a:r>
              <a:rPr b="0" i="0" lang="ru-RU" sz="2300" u="none" cap="none" strike="noStrike">
                <a:solidFill>
                  <a:schemeClr val="dk1"/>
                </a:solidFill>
                <a:latin typeface="Calibri"/>
                <a:ea typeface="Calibri"/>
                <a:cs typeface="Calibri"/>
                <a:sym typeface="Calibri"/>
              </a:rPr>
              <a:t>– метод Варда:</a:t>
            </a:r>
            <a:endParaRPr/>
          </a:p>
          <a:p>
            <a:pPr indent="0" lvl="1" marL="434975" marR="0" rtl="0" algn="l">
              <a:spcBef>
                <a:spcPts val="460"/>
              </a:spcBef>
              <a:spcAft>
                <a:spcPts val="0"/>
              </a:spcAft>
              <a:buClr>
                <a:srgbClr val="CC9900"/>
              </a:buClr>
              <a:buSzPts val="1495"/>
              <a:buFont typeface="Calibri"/>
              <a:buNone/>
            </a:pPr>
            <a:r>
              <a:rPr b="0" i="0" lang="ru-RU" sz="2300" u="none" cap="none" strike="noStrike">
                <a:solidFill>
                  <a:schemeClr val="dk1"/>
                </a:solidFill>
                <a:latin typeface="Calibri"/>
                <a:ea typeface="Calibri"/>
                <a:cs typeface="Calibri"/>
                <a:sym typeface="Calibri"/>
              </a:rPr>
              <a:t>– среднее невзвешенное расстояние (Average linkage clustering);</a:t>
            </a:r>
            <a:endParaRPr/>
          </a:p>
          <a:p>
            <a:pPr indent="-373063" lvl="0" marL="373063" marR="0" rtl="0" algn="l">
              <a:spcBef>
                <a:spcPts val="560"/>
              </a:spcBef>
              <a:spcAft>
                <a:spcPts val="0"/>
              </a:spcAft>
              <a:buClr>
                <a:srgbClr val="CC9900"/>
              </a:buClr>
              <a:buSzPts val="1820"/>
              <a:buFont typeface="Calibri"/>
              <a:buChar char="•"/>
            </a:pPr>
            <a:r>
              <a:rPr lang="ru-RU" sz="2800">
                <a:solidFill>
                  <a:schemeClr val="dk1"/>
                </a:solidFill>
                <a:latin typeface="Calibri"/>
                <a:ea typeface="Calibri"/>
                <a:cs typeface="Calibri"/>
                <a:sym typeface="Calibri"/>
              </a:rPr>
              <a:t>выделяет ленточные кластеры</a:t>
            </a:r>
            <a:endParaRPr/>
          </a:p>
          <a:p>
            <a:pPr indent="0" lvl="1" marL="434975" marR="0" rtl="0" algn="l">
              <a:spcBef>
                <a:spcPts val="460"/>
              </a:spcBef>
              <a:spcAft>
                <a:spcPts val="0"/>
              </a:spcAft>
              <a:buClr>
                <a:srgbClr val="CC9900"/>
              </a:buClr>
              <a:buSzPts val="1495"/>
              <a:buFont typeface="Calibri"/>
              <a:buNone/>
            </a:pPr>
            <a:r>
              <a:rPr b="0" i="0" lang="ru-RU" sz="2300" u="none" cap="none" strike="noStrike">
                <a:solidFill>
                  <a:schemeClr val="dk1"/>
                </a:solidFill>
                <a:latin typeface="Calibri"/>
                <a:ea typeface="Calibri"/>
                <a:cs typeface="Calibri"/>
                <a:sym typeface="Calibri"/>
              </a:rPr>
              <a:t>– метод ближнего соседа (Complete linkage clustering);</a:t>
            </a:r>
            <a:endParaRPr/>
          </a:p>
          <a:p>
            <a:pPr indent="0" lvl="0" marL="0" marR="0" rtl="0" algn="l">
              <a:spcBef>
                <a:spcPts val="560"/>
              </a:spcBef>
              <a:spcAft>
                <a:spcPts val="0"/>
              </a:spcAft>
              <a:buClr>
                <a:srgbClr val="CC9900"/>
              </a:buClr>
              <a:buSzPts val="1820"/>
              <a:buFont typeface="Calibri"/>
              <a:buNone/>
            </a:pPr>
            <a:r>
              <a:t/>
            </a:r>
            <a:endParaRPr sz="2800">
              <a:solidFill>
                <a:schemeClr val="dk1"/>
              </a:solidFill>
              <a:latin typeface="Calibri"/>
              <a:ea typeface="Calibri"/>
              <a:cs typeface="Calibri"/>
              <a:sym typeface="Calibri"/>
            </a:endParaRPr>
          </a:p>
        </p:txBody>
      </p:sp>
      <p:sp>
        <p:nvSpPr>
          <p:cNvPr id="769" name="Google Shape;769;p58"/>
          <p:cNvSpPr txBox="1"/>
          <p:nvPr/>
        </p:nvSpPr>
        <p:spPr>
          <a:xfrm>
            <a:off x="1160788" y="1302377"/>
            <a:ext cx="8229600" cy="6421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ru-RU" sz="2800">
                <a:solidFill>
                  <a:schemeClr val="dk2"/>
                </a:solidFill>
                <a:latin typeface="Calibri"/>
                <a:ea typeface="Calibri"/>
                <a:cs typeface="Calibri"/>
                <a:sym typeface="Calibri"/>
              </a:rPr>
              <a:t>Возможно, нужно побрать другой метод…</a:t>
            </a:r>
            <a:endParaRPr/>
          </a:p>
        </p:txBody>
      </p:sp>
      <p:sp>
        <p:nvSpPr>
          <p:cNvPr id="770" name="Google Shape;770;p5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59"/>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76" name="Google Shape;776;p59"/>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77" name="Google Shape;777;p59"/>
          <p:cNvSpPr/>
          <p:nvPr/>
        </p:nvSpPr>
        <p:spPr>
          <a:xfrm>
            <a:off x="439565" y="1138244"/>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778" name="Google Shape;778;p59"/>
          <p:cNvSpPr txBox="1"/>
          <p:nvPr>
            <p:ph type="title"/>
          </p:nvPr>
        </p:nvSpPr>
        <p:spPr>
          <a:xfrm>
            <a:off x="805230" y="263937"/>
            <a:ext cx="8700009" cy="63344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000"/>
              <a:t>Алгоритмы кластерного анализа</a:t>
            </a:r>
            <a:endParaRPr sz="4000"/>
          </a:p>
        </p:txBody>
      </p:sp>
      <p:pic>
        <p:nvPicPr>
          <p:cNvPr id="779" name="Google Shape;779;p59"/>
          <p:cNvPicPr preferRelativeResize="0"/>
          <p:nvPr/>
        </p:nvPicPr>
        <p:blipFill rotWithShape="1">
          <a:blip r:embed="rId3">
            <a:alphaModFix/>
          </a:blip>
          <a:srcRect b="0" l="0" r="0" t="0"/>
          <a:stretch/>
        </p:blipFill>
        <p:spPr>
          <a:xfrm>
            <a:off x="416630" y="1650141"/>
            <a:ext cx="6625783" cy="5067292"/>
          </a:xfrm>
          <a:prstGeom prst="rect">
            <a:avLst/>
          </a:prstGeom>
          <a:noFill/>
          <a:ln>
            <a:noFill/>
          </a:ln>
        </p:spPr>
      </p:pic>
      <p:sp>
        <p:nvSpPr>
          <p:cNvPr id="780" name="Google Shape;780;p59"/>
          <p:cNvSpPr/>
          <p:nvPr/>
        </p:nvSpPr>
        <p:spPr>
          <a:xfrm>
            <a:off x="1682353" y="1138244"/>
            <a:ext cx="5904656"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ru-RU" sz="2400">
                <a:solidFill>
                  <a:schemeClr val="dk1"/>
                </a:solidFill>
                <a:latin typeface="Arial"/>
                <a:ea typeface="Arial"/>
                <a:cs typeface="Arial"/>
                <a:sym typeface="Arial"/>
              </a:rPr>
              <a:t>Когда остановить кластеризацию?</a:t>
            </a:r>
            <a:endParaRPr/>
          </a:p>
        </p:txBody>
      </p:sp>
      <p:cxnSp>
        <p:nvCxnSpPr>
          <p:cNvPr id="781" name="Google Shape;781;p59"/>
          <p:cNvCxnSpPr/>
          <p:nvPr/>
        </p:nvCxnSpPr>
        <p:spPr>
          <a:xfrm flipH="1">
            <a:off x="5426769" y="2122984"/>
            <a:ext cx="2160240" cy="432048"/>
          </a:xfrm>
          <a:prstGeom prst="straightConnector1">
            <a:avLst/>
          </a:prstGeom>
          <a:solidFill>
            <a:schemeClr val="accent1"/>
          </a:solidFill>
          <a:ln cap="flat" cmpd="sng" w="38100">
            <a:solidFill>
              <a:srgbClr val="FF0000"/>
            </a:solidFill>
            <a:prstDash val="solid"/>
            <a:round/>
            <a:headEnd len="sm" w="sm" type="none"/>
            <a:tailEnd len="med" w="med" type="triangle"/>
          </a:ln>
        </p:spPr>
      </p:cxnSp>
      <p:sp>
        <p:nvSpPr>
          <p:cNvPr id="782" name="Google Shape;782;p59"/>
          <p:cNvSpPr/>
          <p:nvPr/>
        </p:nvSpPr>
        <p:spPr>
          <a:xfrm>
            <a:off x="7622645" y="1938318"/>
            <a:ext cx="205259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Зачем нужна линия разреза?</a:t>
            </a:r>
            <a:endParaRPr/>
          </a:p>
        </p:txBody>
      </p:sp>
      <p:sp>
        <p:nvSpPr>
          <p:cNvPr id="783" name="Google Shape;783;p5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cxnSp>
        <p:nvCxnSpPr>
          <p:cNvPr id="784" name="Google Shape;784;p59"/>
          <p:cNvCxnSpPr/>
          <p:nvPr/>
        </p:nvCxnSpPr>
        <p:spPr>
          <a:xfrm>
            <a:off x="4634681" y="3995192"/>
            <a:ext cx="792088" cy="0"/>
          </a:xfrm>
          <a:prstGeom prst="straightConnector1">
            <a:avLst/>
          </a:prstGeom>
          <a:noFill/>
          <a:ln cap="flat" cmpd="sng" w="9525">
            <a:solidFill>
              <a:srgbClr val="81D319"/>
            </a:solidFill>
            <a:prstDash val="solid"/>
            <a:round/>
            <a:headEnd len="med" w="med" type="stealth"/>
            <a:tailEnd len="med" w="med" type="stealth"/>
          </a:ln>
        </p:spPr>
      </p:cxnSp>
      <p:cxnSp>
        <p:nvCxnSpPr>
          <p:cNvPr id="785" name="Google Shape;785;p59"/>
          <p:cNvCxnSpPr/>
          <p:nvPr/>
        </p:nvCxnSpPr>
        <p:spPr>
          <a:xfrm>
            <a:off x="4238637" y="4859288"/>
            <a:ext cx="1188132" cy="0"/>
          </a:xfrm>
          <a:prstGeom prst="straightConnector1">
            <a:avLst/>
          </a:prstGeom>
          <a:noFill/>
          <a:ln cap="flat" cmpd="sng" w="9525">
            <a:solidFill>
              <a:srgbClr val="81D319"/>
            </a:solidFill>
            <a:prstDash val="solid"/>
            <a:round/>
            <a:headEnd len="med" w="med" type="stealth"/>
            <a:tailEnd len="med" w="med" type="stealth"/>
          </a:ln>
        </p:spPr>
      </p:cxnSp>
      <p:sp>
        <p:nvSpPr>
          <p:cNvPr id="786" name="Google Shape;786;p59"/>
          <p:cNvSpPr txBox="1"/>
          <p:nvPr/>
        </p:nvSpPr>
        <p:spPr>
          <a:xfrm>
            <a:off x="4850705" y="3954138"/>
            <a:ext cx="28803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100">
                <a:solidFill>
                  <a:srgbClr val="568C11"/>
                </a:solidFill>
                <a:latin typeface="Arial"/>
                <a:ea typeface="Arial"/>
                <a:cs typeface="Arial"/>
                <a:sym typeface="Arial"/>
              </a:rPr>
              <a:t>a</a:t>
            </a:r>
            <a:endParaRPr sz="1100">
              <a:solidFill>
                <a:srgbClr val="568C11"/>
              </a:solidFill>
              <a:latin typeface="Arial"/>
              <a:ea typeface="Arial"/>
              <a:cs typeface="Arial"/>
              <a:sym typeface="Arial"/>
            </a:endParaRPr>
          </a:p>
        </p:txBody>
      </p:sp>
      <p:sp>
        <p:nvSpPr>
          <p:cNvPr id="787" name="Google Shape;787;p59"/>
          <p:cNvSpPr txBox="1"/>
          <p:nvPr/>
        </p:nvSpPr>
        <p:spPr>
          <a:xfrm>
            <a:off x="4634681" y="4607499"/>
            <a:ext cx="28803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100">
                <a:solidFill>
                  <a:srgbClr val="568C11"/>
                </a:solidFill>
                <a:latin typeface="Arial"/>
                <a:ea typeface="Arial"/>
                <a:cs typeface="Arial"/>
                <a:sym typeface="Arial"/>
              </a:rPr>
              <a:t>b</a:t>
            </a:r>
            <a:endParaRPr sz="1100">
              <a:solidFill>
                <a:srgbClr val="568C11"/>
              </a:solidFill>
              <a:latin typeface="Arial"/>
              <a:ea typeface="Arial"/>
              <a:cs typeface="Arial"/>
              <a:sym typeface="Arial"/>
            </a:endParaRPr>
          </a:p>
        </p:txBody>
      </p:sp>
      <p:cxnSp>
        <p:nvCxnSpPr>
          <p:cNvPr id="788" name="Google Shape;788;p59"/>
          <p:cNvCxnSpPr/>
          <p:nvPr/>
        </p:nvCxnSpPr>
        <p:spPr>
          <a:xfrm flipH="1">
            <a:off x="5354761" y="3743762"/>
            <a:ext cx="2160240" cy="432048"/>
          </a:xfrm>
          <a:prstGeom prst="straightConnector1">
            <a:avLst/>
          </a:prstGeom>
          <a:solidFill>
            <a:schemeClr val="accent1"/>
          </a:solidFill>
          <a:ln cap="flat" cmpd="sng" w="38100">
            <a:solidFill>
              <a:srgbClr val="FF0000"/>
            </a:solidFill>
            <a:prstDash val="solid"/>
            <a:round/>
            <a:headEnd len="sm" w="sm" type="none"/>
            <a:tailEnd len="med" w="med" type="triangle"/>
          </a:ln>
        </p:spPr>
      </p:cxnSp>
      <p:sp>
        <p:nvSpPr>
          <p:cNvPr id="789" name="Google Shape;789;p59"/>
          <p:cNvSpPr/>
          <p:nvPr/>
        </p:nvSpPr>
        <p:spPr>
          <a:xfrm>
            <a:off x="7577490" y="3575148"/>
            <a:ext cx="228335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Как интерпретировать эти расстояния?</a:t>
            </a:r>
            <a:endParaRPr/>
          </a:p>
        </p:txBody>
      </p:sp>
      <p:cxnSp>
        <p:nvCxnSpPr>
          <p:cNvPr id="790" name="Google Shape;790;p59"/>
          <p:cNvCxnSpPr/>
          <p:nvPr/>
        </p:nvCxnSpPr>
        <p:spPr>
          <a:xfrm flipH="1">
            <a:off x="5012748" y="3954138"/>
            <a:ext cx="2502253" cy="799521"/>
          </a:xfrm>
          <a:prstGeom prst="straightConnector1">
            <a:avLst/>
          </a:prstGeom>
          <a:solidFill>
            <a:schemeClr val="accent1"/>
          </a:solidFill>
          <a:ln cap="flat" cmpd="sng" w="38100">
            <a:solidFill>
              <a:srgbClr val="FF0000"/>
            </a:solidFill>
            <a:prstDash val="solid"/>
            <a:round/>
            <a:headEnd len="sm" w="sm"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60"/>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796" name="Google Shape;796;p60"/>
          <p:cNvSpPr txBox="1"/>
          <p:nvPr/>
        </p:nvSpPr>
        <p:spPr>
          <a:xfrm>
            <a:off x="805230" y="263937"/>
            <a:ext cx="8700009" cy="6334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2400">
                <a:solidFill>
                  <a:srgbClr val="0000FF"/>
                </a:solidFill>
                <a:latin typeface="Calibri"/>
                <a:ea typeface="Calibri"/>
                <a:cs typeface="Calibri"/>
                <a:sym typeface="Calibri"/>
              </a:rPr>
              <a:t>Алгоритмы кластерного анализа</a:t>
            </a:r>
            <a:endParaRPr sz="2400">
              <a:solidFill>
                <a:srgbClr val="0000FF"/>
              </a:solidFill>
              <a:latin typeface="Calibri"/>
              <a:ea typeface="Calibri"/>
              <a:cs typeface="Calibri"/>
              <a:sym typeface="Calibri"/>
            </a:endParaRPr>
          </a:p>
        </p:txBody>
      </p:sp>
      <p:sp>
        <p:nvSpPr>
          <p:cNvPr id="797" name="Google Shape;797;p60"/>
          <p:cNvSpPr txBox="1"/>
          <p:nvPr>
            <p:ph idx="4294967295" type="title"/>
          </p:nvPr>
        </p:nvSpPr>
        <p:spPr>
          <a:xfrm>
            <a:off x="1736725" y="2762251"/>
            <a:ext cx="6804025" cy="83661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5400"/>
              <a:buFont typeface="Calibri"/>
              <a:buNone/>
            </a:pPr>
            <a:r>
              <a:rPr lang="ru-RU" sz="5400"/>
              <a:t>Участие аналитика</a:t>
            </a:r>
            <a:endParaRPr/>
          </a:p>
        </p:txBody>
      </p:sp>
      <p:sp>
        <p:nvSpPr>
          <p:cNvPr id="798" name="Google Shape;798;p6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61"/>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04" name="Google Shape;804;p61"/>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805" name="Google Shape;805;p61"/>
          <p:cNvSpPr txBox="1"/>
          <p:nvPr/>
        </p:nvSpPr>
        <p:spPr>
          <a:xfrm>
            <a:off x="805230" y="263937"/>
            <a:ext cx="8700009" cy="6334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000">
                <a:solidFill>
                  <a:schemeClr val="dk2"/>
                </a:solidFill>
                <a:latin typeface="Calibri"/>
                <a:ea typeface="Calibri"/>
                <a:cs typeface="Calibri"/>
                <a:sym typeface="Calibri"/>
              </a:rPr>
              <a:t>Алгоритмы кластерного анализа</a:t>
            </a:r>
            <a:endParaRPr sz="4000">
              <a:solidFill>
                <a:schemeClr val="dk2"/>
              </a:solidFill>
              <a:latin typeface="Calibri"/>
              <a:ea typeface="Calibri"/>
              <a:cs typeface="Calibri"/>
              <a:sym typeface="Calibri"/>
            </a:endParaRPr>
          </a:p>
        </p:txBody>
      </p:sp>
      <p:sp>
        <p:nvSpPr>
          <p:cNvPr id="806" name="Google Shape;806;p61"/>
          <p:cNvSpPr txBox="1"/>
          <p:nvPr>
            <p:ph idx="4294967295" type="title"/>
          </p:nvPr>
        </p:nvSpPr>
        <p:spPr>
          <a:xfrm>
            <a:off x="1610345" y="1154343"/>
            <a:ext cx="6264275" cy="83661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ru-RU" sz="4400"/>
              <a:t>Участие аналитика</a:t>
            </a:r>
            <a:endParaRPr/>
          </a:p>
        </p:txBody>
      </p:sp>
      <p:sp>
        <p:nvSpPr>
          <p:cNvPr id="807" name="Google Shape;807;p61"/>
          <p:cNvSpPr txBox="1"/>
          <p:nvPr>
            <p:ph idx="4294967295" type="body"/>
          </p:nvPr>
        </p:nvSpPr>
        <p:spPr>
          <a:xfrm>
            <a:off x="1394321" y="2713038"/>
            <a:ext cx="7155954" cy="3009900"/>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rgbClr val="CC9900"/>
              </a:buClr>
              <a:buSzPts val="2080"/>
              <a:buAutoNum type="arabicPeriod"/>
            </a:pPr>
            <a:r>
              <a:rPr lang="ru-RU" sz="3200"/>
              <a:t>Отбор переменных</a:t>
            </a:r>
            <a:endParaRPr/>
          </a:p>
          <a:p>
            <a:pPr indent="-356307" lvl="0" marL="356307" rtl="0" algn="l">
              <a:spcBef>
                <a:spcPts val="640"/>
              </a:spcBef>
              <a:spcAft>
                <a:spcPts val="0"/>
              </a:spcAft>
              <a:buClr>
                <a:srgbClr val="CC9900"/>
              </a:buClr>
              <a:buSzPts val="2080"/>
              <a:buAutoNum type="arabicPeriod"/>
            </a:pPr>
            <a:r>
              <a:rPr lang="ru-RU" sz="3200"/>
              <a:t>Метод стандартизации</a:t>
            </a:r>
            <a:endParaRPr/>
          </a:p>
          <a:p>
            <a:pPr indent="-356307" lvl="0" marL="356307" rtl="0" algn="l">
              <a:spcBef>
                <a:spcPts val="640"/>
              </a:spcBef>
              <a:spcAft>
                <a:spcPts val="0"/>
              </a:spcAft>
              <a:buClr>
                <a:srgbClr val="CC9900"/>
              </a:buClr>
              <a:buSzPts val="2080"/>
              <a:buAutoNum type="arabicPeriod"/>
            </a:pPr>
            <a:r>
              <a:rPr lang="ru-RU" sz="3200"/>
              <a:t>Расстояние между кластерами</a:t>
            </a:r>
            <a:endParaRPr/>
          </a:p>
          <a:p>
            <a:pPr indent="-356307" lvl="0" marL="356307" rtl="0" algn="l">
              <a:spcBef>
                <a:spcPts val="640"/>
              </a:spcBef>
              <a:spcAft>
                <a:spcPts val="0"/>
              </a:spcAft>
              <a:buClr>
                <a:srgbClr val="CC9900"/>
              </a:buClr>
              <a:buSzPts val="2080"/>
              <a:buAutoNum type="arabicPeriod"/>
            </a:pPr>
            <a:r>
              <a:rPr lang="ru-RU" sz="3200"/>
              <a:t>Расстояние между объектами</a:t>
            </a:r>
            <a:endParaRPr/>
          </a:p>
        </p:txBody>
      </p:sp>
      <p:sp>
        <p:nvSpPr>
          <p:cNvPr id="808" name="Google Shape;808;p6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62"/>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14" name="Google Shape;814;p62"/>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815" name="Google Shape;815;p62"/>
          <p:cNvSpPr txBox="1"/>
          <p:nvPr/>
        </p:nvSpPr>
        <p:spPr>
          <a:xfrm>
            <a:off x="805230" y="263937"/>
            <a:ext cx="8700009" cy="6334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000">
                <a:solidFill>
                  <a:schemeClr val="dk2"/>
                </a:solidFill>
                <a:latin typeface="Calibri"/>
                <a:ea typeface="Calibri"/>
                <a:cs typeface="Calibri"/>
                <a:sym typeface="Calibri"/>
              </a:rPr>
              <a:t>Алгоритмы кластерного анализа</a:t>
            </a:r>
            <a:endParaRPr sz="4000">
              <a:solidFill>
                <a:schemeClr val="dk2"/>
              </a:solidFill>
              <a:latin typeface="Calibri"/>
              <a:ea typeface="Calibri"/>
              <a:cs typeface="Calibri"/>
              <a:sym typeface="Calibri"/>
            </a:endParaRPr>
          </a:p>
        </p:txBody>
      </p:sp>
      <p:sp>
        <p:nvSpPr>
          <p:cNvPr id="816" name="Google Shape;816;p62"/>
          <p:cNvSpPr txBox="1"/>
          <p:nvPr>
            <p:ph idx="4294967295" type="title"/>
          </p:nvPr>
        </p:nvSpPr>
        <p:spPr>
          <a:xfrm>
            <a:off x="1937297" y="904051"/>
            <a:ext cx="6435874" cy="63955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Отбор переменных</a:t>
            </a:r>
            <a:endParaRPr/>
          </a:p>
        </p:txBody>
      </p:sp>
      <p:sp>
        <p:nvSpPr>
          <p:cNvPr id="817" name="Google Shape;817;p62"/>
          <p:cNvSpPr txBox="1"/>
          <p:nvPr>
            <p:ph idx="4294967295" type="body"/>
          </p:nvPr>
        </p:nvSpPr>
        <p:spPr>
          <a:xfrm>
            <a:off x="462480" y="1773805"/>
            <a:ext cx="9356208" cy="325278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CC9900"/>
              </a:buClr>
              <a:buSzPts val="2080"/>
              <a:buNone/>
            </a:pPr>
            <a:r>
              <a:rPr lang="ru-RU" sz="3200">
                <a:solidFill>
                  <a:srgbClr val="0000FF"/>
                </a:solidFill>
              </a:rPr>
              <a:t>1. </a:t>
            </a:r>
            <a:r>
              <a:rPr lang="ru-RU" sz="2400"/>
              <a:t>Какие переменные будут использоваться при анализе?</a:t>
            </a:r>
            <a:endParaRPr/>
          </a:p>
          <a:p>
            <a:pPr indent="0" lvl="0" marL="0" rtl="0" algn="l">
              <a:spcBef>
                <a:spcPts val="560"/>
              </a:spcBef>
              <a:spcAft>
                <a:spcPts val="0"/>
              </a:spcAft>
              <a:buClr>
                <a:srgbClr val="CC9900"/>
              </a:buClr>
              <a:buSzPts val="1820"/>
              <a:buNone/>
            </a:pPr>
            <a:r>
              <a:t/>
            </a:r>
            <a:endParaRPr sz="2800"/>
          </a:p>
          <a:p>
            <a:pPr indent="-356307" lvl="0" marL="356307" rtl="0" algn="l">
              <a:spcBef>
                <a:spcPts val="480"/>
              </a:spcBef>
              <a:spcAft>
                <a:spcPts val="0"/>
              </a:spcAft>
              <a:buClr>
                <a:srgbClr val="CC9900"/>
              </a:buClr>
              <a:buSzPts val="2880"/>
              <a:buChar char="•"/>
            </a:pPr>
            <a:r>
              <a:rPr lang="ru-RU" sz="2400"/>
              <a:t>Все?          Чем больше информации, тем лучше результат?</a:t>
            </a:r>
            <a:endParaRPr/>
          </a:p>
          <a:p>
            <a:pPr indent="-101600" lvl="2" marL="798513" rtl="0" algn="l">
              <a:spcBef>
                <a:spcPts val="400"/>
              </a:spcBef>
              <a:spcAft>
                <a:spcPts val="0"/>
              </a:spcAft>
              <a:buClr>
                <a:srgbClr val="CC9900"/>
              </a:buClr>
              <a:buSzPts val="1800"/>
              <a:buNone/>
            </a:pPr>
            <a:r>
              <a:rPr lang="ru-RU" sz="1500"/>
              <a:t>  </a:t>
            </a:r>
            <a:r>
              <a:rPr b="1" i="1" lang="ru-RU" sz="2000"/>
              <a:t>Все методы, основанные на деревьях сами отбросят лишние факторы</a:t>
            </a:r>
            <a:endParaRPr/>
          </a:p>
          <a:p>
            <a:pPr indent="-356307" lvl="0" marL="356307" rtl="0" algn="l">
              <a:spcBef>
                <a:spcPts val="480"/>
              </a:spcBef>
              <a:spcAft>
                <a:spcPts val="0"/>
              </a:spcAft>
              <a:buClr>
                <a:srgbClr val="CC9900"/>
              </a:buClr>
              <a:buSzPts val="2880"/>
              <a:buChar char="•"/>
            </a:pPr>
            <a:r>
              <a:rPr lang="ru-RU" sz="2400"/>
              <a:t>Для других методов нужно отбросить незначащие переменные – чем меньше вариативность параметра, тем он менее важен!</a:t>
            </a:r>
            <a:endParaRPr/>
          </a:p>
        </p:txBody>
      </p:sp>
      <p:sp>
        <p:nvSpPr>
          <p:cNvPr id="818" name="Google Shape;818;p62"/>
          <p:cNvSpPr/>
          <p:nvPr/>
        </p:nvSpPr>
        <p:spPr>
          <a:xfrm>
            <a:off x="1682353" y="2915710"/>
            <a:ext cx="432048" cy="288032"/>
          </a:xfrm>
          <a:prstGeom prst="rightArrow">
            <a:avLst>
              <a:gd fmla="val 50000"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819" name="Google Shape;819;p62"/>
          <p:cNvSpPr/>
          <p:nvPr/>
        </p:nvSpPr>
        <p:spPr>
          <a:xfrm>
            <a:off x="704215" y="4944635"/>
            <a:ext cx="9269484"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333333"/>
                </a:solidFill>
                <a:latin typeface="Helvetica Neue"/>
                <a:ea typeface="Helvetica Neue"/>
                <a:cs typeface="Helvetica Neue"/>
                <a:sym typeface="Helvetica Neue"/>
              </a:rPr>
              <a:t> Поскольку многие алгоритмы могут быть чувствительными к наличию предикторов, которые не несут в себе никакой или почти никакой информации, то уже на предварительном этапе некоторые из них разумно идентифицировать как “ненужные” и в дальнейшем исключить из рассмотрения.</a:t>
            </a:r>
            <a:endParaRPr sz="2000">
              <a:solidFill>
                <a:schemeClr val="dk1"/>
              </a:solidFill>
              <a:latin typeface="Arial"/>
              <a:ea typeface="Arial"/>
              <a:cs typeface="Arial"/>
              <a:sym typeface="Arial"/>
            </a:endParaRPr>
          </a:p>
        </p:txBody>
      </p:sp>
      <p:sp>
        <p:nvSpPr>
          <p:cNvPr id="820" name="Google Shape;820;p6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63"/>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26" name="Google Shape;826;p63"/>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827" name="Google Shape;827;p63"/>
          <p:cNvSpPr txBox="1"/>
          <p:nvPr/>
        </p:nvSpPr>
        <p:spPr>
          <a:xfrm>
            <a:off x="805230" y="263937"/>
            <a:ext cx="8700009" cy="6334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000">
                <a:solidFill>
                  <a:schemeClr val="dk2"/>
                </a:solidFill>
                <a:latin typeface="Calibri"/>
                <a:ea typeface="Calibri"/>
                <a:cs typeface="Calibri"/>
                <a:sym typeface="Calibri"/>
              </a:rPr>
              <a:t>Алгоритмы кластерного анализа</a:t>
            </a:r>
            <a:endParaRPr sz="4000">
              <a:solidFill>
                <a:schemeClr val="dk2"/>
              </a:solidFill>
              <a:latin typeface="Calibri"/>
              <a:ea typeface="Calibri"/>
              <a:cs typeface="Calibri"/>
              <a:sym typeface="Calibri"/>
            </a:endParaRPr>
          </a:p>
        </p:txBody>
      </p:sp>
      <p:sp>
        <p:nvSpPr>
          <p:cNvPr id="828" name="Google Shape;828;p63"/>
          <p:cNvSpPr txBox="1"/>
          <p:nvPr>
            <p:ph idx="4294967295" type="title"/>
          </p:nvPr>
        </p:nvSpPr>
        <p:spPr>
          <a:xfrm>
            <a:off x="1144332" y="1045543"/>
            <a:ext cx="7420231" cy="5731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С другой стороны</a:t>
            </a:r>
            <a:endParaRPr/>
          </a:p>
        </p:txBody>
      </p:sp>
      <p:sp>
        <p:nvSpPr>
          <p:cNvPr id="829" name="Google Shape;829;p63"/>
          <p:cNvSpPr txBox="1"/>
          <p:nvPr>
            <p:ph idx="4294967295" type="body"/>
          </p:nvPr>
        </p:nvSpPr>
        <p:spPr>
          <a:xfrm>
            <a:off x="762477" y="2080247"/>
            <a:ext cx="9001125" cy="2792423"/>
          </a:xfrm>
          <a:prstGeom prst="rect">
            <a:avLst/>
          </a:prstGeom>
          <a:noFill/>
          <a:ln>
            <a:noFill/>
          </a:ln>
        </p:spPr>
        <p:txBody>
          <a:bodyPr anchorCtr="0" anchor="t" bIns="45700" lIns="91425" spcFirstLastPara="1" rIns="91425" wrap="square" tIns="45700">
            <a:normAutofit/>
          </a:bodyPr>
          <a:lstStyle/>
          <a:p>
            <a:pPr indent="-356307" lvl="0" marL="356307" rtl="0" algn="l">
              <a:lnSpc>
                <a:spcPct val="90000"/>
              </a:lnSpc>
              <a:spcBef>
                <a:spcPts val="0"/>
              </a:spcBef>
              <a:spcAft>
                <a:spcPts val="0"/>
              </a:spcAft>
              <a:buClr>
                <a:srgbClr val="CC9900"/>
              </a:buClr>
              <a:buSzPts val="1560"/>
              <a:buFont typeface="Noto Sans Symbols"/>
              <a:buChar char="■"/>
            </a:pPr>
            <a:r>
              <a:rPr lang="ru-RU" sz="2400"/>
              <a:t>если нам неизвестны зарплаты/доходы покупателей, но для каждого из них известны профессия, образование и стаж работы, исключение этих трех переменных влечет за собой исключение из рассмотрения платежеспособности покупателей.</a:t>
            </a:r>
            <a:endParaRPr/>
          </a:p>
          <a:p>
            <a:pPr indent="-356307" lvl="0" marL="356307" rtl="0" algn="l">
              <a:lnSpc>
                <a:spcPct val="90000"/>
              </a:lnSpc>
              <a:spcBef>
                <a:spcPts val="674"/>
              </a:spcBef>
              <a:spcAft>
                <a:spcPts val="0"/>
              </a:spcAft>
              <a:buClr>
                <a:srgbClr val="CC9900"/>
              </a:buClr>
              <a:buSzPts val="1560"/>
              <a:buFont typeface="Noto Sans Symbols"/>
              <a:buChar char="■"/>
            </a:pPr>
            <a:r>
              <a:rPr lang="ru-RU" sz="2400"/>
              <a:t>Если классифицируются школы, и не включены ни переменная «число школьников», ни переменная «число учителей», то кластеры будут формироваться без учета размера школ.</a:t>
            </a:r>
            <a:endParaRPr/>
          </a:p>
        </p:txBody>
      </p:sp>
      <p:sp>
        <p:nvSpPr>
          <p:cNvPr id="830" name="Google Shape;830;p63"/>
          <p:cNvSpPr/>
          <p:nvPr/>
        </p:nvSpPr>
        <p:spPr>
          <a:xfrm>
            <a:off x="1131632" y="5593972"/>
            <a:ext cx="803955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333333"/>
                </a:solidFill>
                <a:latin typeface="Helvetica Neue"/>
                <a:ea typeface="Helvetica Neue"/>
                <a:cs typeface="Helvetica Neue"/>
                <a:sym typeface="Helvetica Neue"/>
              </a:rPr>
              <a:t> Удалить косвенные параметры, которые могут помочь в исследовании - будет неразумно.</a:t>
            </a:r>
            <a:endParaRPr sz="2000">
              <a:solidFill>
                <a:schemeClr val="dk1"/>
              </a:solidFill>
              <a:latin typeface="Arial"/>
              <a:ea typeface="Arial"/>
              <a:cs typeface="Arial"/>
              <a:sym typeface="Arial"/>
            </a:endParaRPr>
          </a:p>
        </p:txBody>
      </p:sp>
      <p:sp>
        <p:nvSpPr>
          <p:cNvPr id="831" name="Google Shape;831;p6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64"/>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37" name="Google Shape;837;p64"/>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838" name="Google Shape;838;p64"/>
          <p:cNvSpPr txBox="1"/>
          <p:nvPr/>
        </p:nvSpPr>
        <p:spPr>
          <a:xfrm>
            <a:off x="805230" y="263937"/>
            <a:ext cx="8700009" cy="6334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000">
                <a:solidFill>
                  <a:schemeClr val="dk2"/>
                </a:solidFill>
                <a:latin typeface="Calibri"/>
                <a:ea typeface="Calibri"/>
                <a:cs typeface="Calibri"/>
                <a:sym typeface="Calibri"/>
              </a:rPr>
              <a:t>Алгоритмы кластерного анализа</a:t>
            </a:r>
            <a:endParaRPr sz="4000">
              <a:solidFill>
                <a:schemeClr val="dk2"/>
              </a:solidFill>
              <a:latin typeface="Calibri"/>
              <a:ea typeface="Calibri"/>
              <a:cs typeface="Calibri"/>
              <a:sym typeface="Calibri"/>
            </a:endParaRPr>
          </a:p>
        </p:txBody>
      </p:sp>
      <p:sp>
        <p:nvSpPr>
          <p:cNvPr id="839" name="Google Shape;839;p64"/>
          <p:cNvSpPr txBox="1"/>
          <p:nvPr>
            <p:ph idx="4294967295" type="title"/>
          </p:nvPr>
        </p:nvSpPr>
        <p:spPr>
          <a:xfrm>
            <a:off x="2875434" y="1129501"/>
            <a:ext cx="4455170" cy="7207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ru-RU" sz="4400"/>
              <a:t>Вывод</a:t>
            </a:r>
            <a:endParaRPr/>
          </a:p>
        </p:txBody>
      </p:sp>
      <p:sp>
        <p:nvSpPr>
          <p:cNvPr id="840" name="Google Shape;840;p64"/>
          <p:cNvSpPr txBox="1"/>
          <p:nvPr>
            <p:ph idx="4294967295" type="body"/>
          </p:nvPr>
        </p:nvSpPr>
        <p:spPr>
          <a:xfrm>
            <a:off x="953376" y="2116539"/>
            <a:ext cx="8551863" cy="3879850"/>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rgbClr val="CC9900"/>
              </a:buClr>
              <a:buSzPts val="1820"/>
              <a:buFont typeface="Noto Sans Symbols"/>
              <a:buChar char="■"/>
            </a:pPr>
            <a:r>
              <a:rPr lang="ru-RU" sz="2800"/>
              <a:t>Правильный выбор переменных очень важен.</a:t>
            </a:r>
            <a:endParaRPr/>
          </a:p>
          <a:p>
            <a:pPr indent="-356307" lvl="0" marL="356307" rtl="0" algn="l">
              <a:spcBef>
                <a:spcPts val="560"/>
              </a:spcBef>
              <a:spcAft>
                <a:spcPts val="0"/>
              </a:spcAft>
              <a:buClr>
                <a:srgbClr val="CC9900"/>
              </a:buClr>
              <a:buSzPts val="1820"/>
              <a:buFont typeface="Noto Sans Symbols"/>
              <a:buChar char="■"/>
            </a:pPr>
            <a:r>
              <a:rPr lang="ru-RU" sz="2800"/>
              <a:t>Критерием при отборе переменных для анализа является в первую очередь ясность интерпретации полученного результата, во вторую – интуиция исследователя.</a:t>
            </a:r>
            <a:endParaRPr/>
          </a:p>
        </p:txBody>
      </p:sp>
      <p:sp>
        <p:nvSpPr>
          <p:cNvPr id="841" name="Google Shape;841;p6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65"/>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47" name="Google Shape;847;p65"/>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848" name="Google Shape;848;p65"/>
          <p:cNvSpPr txBox="1"/>
          <p:nvPr/>
        </p:nvSpPr>
        <p:spPr>
          <a:xfrm>
            <a:off x="805230" y="263937"/>
            <a:ext cx="8700009" cy="6334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000">
                <a:solidFill>
                  <a:schemeClr val="dk2"/>
                </a:solidFill>
                <a:latin typeface="Calibri"/>
                <a:ea typeface="Calibri"/>
                <a:cs typeface="Calibri"/>
                <a:sym typeface="Calibri"/>
              </a:rPr>
              <a:t>Алгоритмы кластерного анализа</a:t>
            </a:r>
            <a:endParaRPr sz="4000">
              <a:solidFill>
                <a:schemeClr val="dk2"/>
              </a:solidFill>
              <a:latin typeface="Calibri"/>
              <a:ea typeface="Calibri"/>
              <a:cs typeface="Calibri"/>
              <a:sym typeface="Calibri"/>
            </a:endParaRPr>
          </a:p>
        </p:txBody>
      </p:sp>
      <p:sp>
        <p:nvSpPr>
          <p:cNvPr id="849" name="Google Shape;849;p65"/>
          <p:cNvSpPr txBox="1"/>
          <p:nvPr>
            <p:ph idx="4294967295" type="title"/>
          </p:nvPr>
        </p:nvSpPr>
        <p:spPr>
          <a:xfrm>
            <a:off x="912375" y="831598"/>
            <a:ext cx="9170987" cy="11842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00FF"/>
              </a:buClr>
              <a:buSzPts val="3200"/>
              <a:buFont typeface="Calibri"/>
              <a:buNone/>
            </a:pPr>
            <a:r>
              <a:rPr lang="ru-RU" sz="3200">
                <a:solidFill>
                  <a:srgbClr val="0000FF"/>
                </a:solidFill>
              </a:rPr>
              <a:t>2. </a:t>
            </a:r>
            <a:r>
              <a:rPr lang="ru-RU" sz="3200"/>
              <a:t>Надо ли стандартизировать переменные?</a:t>
            </a:r>
            <a:endParaRPr/>
          </a:p>
        </p:txBody>
      </p:sp>
      <p:sp>
        <p:nvSpPr>
          <p:cNvPr id="850" name="Google Shape;850;p65"/>
          <p:cNvSpPr/>
          <p:nvPr/>
        </p:nvSpPr>
        <p:spPr>
          <a:xfrm>
            <a:off x="530225" y="1867190"/>
            <a:ext cx="9396413" cy="21236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200">
                <a:solidFill>
                  <a:srgbClr val="212529"/>
                </a:solidFill>
                <a:latin typeface="Arial"/>
                <a:ea typeface="Arial"/>
                <a:cs typeface="Arial"/>
                <a:sym typeface="Arial"/>
              </a:rPr>
              <a:t>Некоторые алгоритмы будут обеспечивать лучшую производительность, если ваши данные будут иметь постоянный масштаб или распределение.</a:t>
            </a:r>
            <a:endParaRPr/>
          </a:p>
          <a:p>
            <a:pPr indent="0" lvl="0" marL="0" marR="0" rtl="0" algn="l">
              <a:spcBef>
                <a:spcPts val="0"/>
              </a:spcBef>
              <a:spcAft>
                <a:spcPts val="0"/>
              </a:spcAft>
              <a:buNone/>
            </a:pPr>
            <a:r>
              <a:t/>
            </a:r>
            <a:endParaRPr sz="2200">
              <a:solidFill>
                <a:srgbClr val="212529"/>
              </a:solidFill>
              <a:latin typeface="Arial"/>
              <a:ea typeface="Arial"/>
              <a:cs typeface="Arial"/>
              <a:sym typeface="Arial"/>
            </a:endParaRPr>
          </a:p>
          <a:p>
            <a:pPr indent="0" lvl="0" marL="0" marR="0" rtl="0" algn="l">
              <a:spcBef>
                <a:spcPts val="0"/>
              </a:spcBef>
              <a:spcAft>
                <a:spcPts val="0"/>
              </a:spcAft>
              <a:buNone/>
            </a:pPr>
            <a:r>
              <a:rPr lang="ru-RU" sz="2200">
                <a:solidFill>
                  <a:srgbClr val="212529"/>
                </a:solidFill>
                <a:latin typeface="Arial"/>
                <a:ea typeface="Arial"/>
                <a:cs typeface="Arial"/>
                <a:sym typeface="Arial"/>
              </a:rPr>
              <a:t>Двумя методами, которыми вы можете пользоваться для последовательного масштабирования данных временных рядов, являются </a:t>
            </a:r>
            <a:r>
              <a:rPr lang="ru-RU" sz="2200">
                <a:solidFill>
                  <a:srgbClr val="0000FF"/>
                </a:solidFill>
                <a:latin typeface="Arial"/>
                <a:ea typeface="Arial"/>
                <a:cs typeface="Arial"/>
                <a:sym typeface="Arial"/>
              </a:rPr>
              <a:t>нормализация и стандартизация.</a:t>
            </a:r>
            <a:endParaRPr b="0" i="0" sz="2200">
              <a:solidFill>
                <a:srgbClr val="0000FF"/>
              </a:solidFill>
              <a:latin typeface="Arial"/>
              <a:ea typeface="Arial"/>
              <a:cs typeface="Arial"/>
              <a:sym typeface="Arial"/>
            </a:endParaRPr>
          </a:p>
        </p:txBody>
      </p:sp>
      <p:sp>
        <p:nvSpPr>
          <p:cNvPr id="851" name="Google Shape;851;p65"/>
          <p:cNvSpPr txBox="1"/>
          <p:nvPr/>
        </p:nvSpPr>
        <p:spPr>
          <a:xfrm>
            <a:off x="710879" y="4187626"/>
            <a:ext cx="4643882" cy="18957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20"/>
              <a:buFont typeface="Calibri"/>
              <a:buNone/>
            </a:pPr>
            <a:r>
              <a:rPr lang="ru-RU" sz="2800">
                <a:solidFill>
                  <a:schemeClr val="dk1"/>
                </a:solidFill>
                <a:latin typeface="Calibri"/>
                <a:ea typeface="Calibri"/>
                <a:cs typeface="Calibri"/>
                <a:sym typeface="Calibri"/>
              </a:rPr>
              <a:t>Правило для новичка:</a:t>
            </a:r>
            <a:endParaRPr/>
          </a:p>
          <a:p>
            <a:pPr indent="0" lvl="0" marL="0" marR="0" rtl="0" algn="l">
              <a:spcBef>
                <a:spcPts val="560"/>
              </a:spcBef>
              <a:spcAft>
                <a:spcPts val="0"/>
              </a:spcAft>
              <a:buClr>
                <a:srgbClr val="CC9900"/>
              </a:buClr>
              <a:buSzPts val="1820"/>
              <a:buFont typeface="Calibri"/>
              <a:buNone/>
            </a:pPr>
            <a:r>
              <a:rPr lang="ru-RU" sz="2800">
                <a:solidFill>
                  <a:schemeClr val="dk1"/>
                </a:solidFill>
                <a:latin typeface="Calibri"/>
                <a:ea typeface="Calibri"/>
                <a:cs typeface="Calibri"/>
                <a:sym typeface="Calibri"/>
              </a:rPr>
              <a:t>если Вы не знаете, стандартизировать или нет, стандартизируйте.</a:t>
            </a:r>
            <a:endParaRPr/>
          </a:p>
          <a:p>
            <a:pPr indent="0" lvl="0" marL="0" marR="0" rtl="0" algn="l">
              <a:spcBef>
                <a:spcPts val="560"/>
              </a:spcBef>
              <a:spcAft>
                <a:spcPts val="0"/>
              </a:spcAft>
              <a:buClr>
                <a:srgbClr val="CC9900"/>
              </a:buClr>
              <a:buSzPts val="1820"/>
              <a:buFont typeface="Calibri"/>
              <a:buNone/>
            </a:pPr>
            <a:r>
              <a:t/>
            </a:r>
            <a:endParaRPr sz="2800">
              <a:solidFill>
                <a:schemeClr val="dk1"/>
              </a:solidFill>
              <a:latin typeface="Calibri"/>
              <a:ea typeface="Calibri"/>
              <a:cs typeface="Calibri"/>
              <a:sym typeface="Calibri"/>
            </a:endParaRPr>
          </a:p>
          <a:p>
            <a:pPr indent="0" lvl="0" marL="0" marR="0" rtl="0" algn="l">
              <a:spcBef>
                <a:spcPts val="560"/>
              </a:spcBef>
              <a:spcAft>
                <a:spcPts val="0"/>
              </a:spcAft>
              <a:buClr>
                <a:srgbClr val="CC9900"/>
              </a:buClr>
              <a:buSzPts val="1820"/>
              <a:buFont typeface="Calibri"/>
              <a:buNone/>
            </a:pPr>
            <a:r>
              <a:t/>
            </a:r>
            <a:endParaRPr sz="2800">
              <a:solidFill>
                <a:schemeClr val="dk1"/>
              </a:solidFill>
              <a:latin typeface="Calibri"/>
              <a:ea typeface="Calibri"/>
              <a:cs typeface="Calibri"/>
              <a:sym typeface="Calibri"/>
            </a:endParaRPr>
          </a:p>
        </p:txBody>
      </p:sp>
      <p:graphicFrame>
        <p:nvGraphicFramePr>
          <p:cNvPr id="852" name="Google Shape;852;p65"/>
          <p:cNvGraphicFramePr/>
          <p:nvPr/>
        </p:nvGraphicFramePr>
        <p:xfrm>
          <a:off x="6146849" y="3955127"/>
          <a:ext cx="3000000" cy="3000000"/>
        </p:xfrm>
        <a:graphic>
          <a:graphicData uri="http://schemas.openxmlformats.org/drawingml/2006/table">
            <a:tbl>
              <a:tblPr>
                <a:noFill/>
                <a:tableStyleId>{DC533315-98FE-4969-BD58-B3FFEE8B2AFD}</a:tableStyleId>
              </a:tblPr>
              <a:tblGrid>
                <a:gridCol w="1800200"/>
                <a:gridCol w="936100"/>
                <a:gridCol w="288025"/>
              </a:tblGrid>
              <a:tr h="566850">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5296782.7</a:t>
                      </a:r>
                      <a:endParaRPr/>
                    </a:p>
                  </a:txBody>
                  <a:tcPr marT="47500" marB="47500" marR="95025" marL="95025"/>
                </a:tc>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0.5</a:t>
                      </a:r>
                      <a:endParaRPr/>
                    </a:p>
                  </a:txBody>
                  <a:tcPr marT="47500" marB="47500" marR="95025" marL="95025"/>
                </a:tc>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1</a:t>
                      </a:r>
                      <a:endParaRPr/>
                    </a:p>
                  </a:txBody>
                  <a:tcPr marT="47500" marB="47500" marR="95025" marL="95025"/>
                </a:tc>
              </a:tr>
              <a:tr h="566850">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7400381.4</a:t>
                      </a:r>
                      <a:endParaRPr/>
                    </a:p>
                  </a:txBody>
                  <a:tcPr marT="47500" marB="47500" marR="95025" marL="95025"/>
                </a:tc>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0.7</a:t>
                      </a:r>
                      <a:endParaRPr/>
                    </a:p>
                  </a:txBody>
                  <a:tcPr marT="47500" marB="47500" marR="95025" marL="95025"/>
                </a:tc>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0</a:t>
                      </a:r>
                      <a:endParaRPr/>
                    </a:p>
                  </a:txBody>
                  <a:tcPr marT="47500" marB="47500" marR="95025" marL="95025"/>
                </a:tc>
              </a:tr>
              <a:tr h="566850">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9362870.2</a:t>
                      </a:r>
                      <a:endParaRPr/>
                    </a:p>
                  </a:txBody>
                  <a:tcPr marT="47500" marB="47500" marR="95025" marL="95025"/>
                </a:tc>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0.1</a:t>
                      </a:r>
                      <a:endParaRPr/>
                    </a:p>
                  </a:txBody>
                  <a:tcPr marT="47500" marB="47500" marR="95025" marL="95025"/>
                </a:tc>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0</a:t>
                      </a:r>
                      <a:endParaRPr/>
                    </a:p>
                  </a:txBody>
                  <a:tcPr marT="47500" marB="47500" marR="95025" marL="95025"/>
                </a:tc>
              </a:tr>
              <a:tr h="566850">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7594038.5</a:t>
                      </a:r>
                      <a:endParaRPr/>
                    </a:p>
                  </a:txBody>
                  <a:tcPr marT="47500" marB="47500" marR="95025" marL="95025"/>
                </a:tc>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0.4</a:t>
                      </a:r>
                      <a:endParaRPr/>
                    </a:p>
                  </a:txBody>
                  <a:tcPr marT="47500" marB="47500" marR="95025" marL="95025"/>
                </a:tc>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0</a:t>
                      </a:r>
                      <a:endParaRPr/>
                    </a:p>
                  </a:txBody>
                  <a:tcPr marT="47500" marB="47500" marR="95025" marL="95025"/>
                </a:tc>
              </a:tr>
              <a:tr h="566850">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6455034.1</a:t>
                      </a:r>
                      <a:endParaRPr/>
                    </a:p>
                  </a:txBody>
                  <a:tcPr marT="47500" marB="47500" marR="95025" marL="95025"/>
                </a:tc>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0.4</a:t>
                      </a:r>
                      <a:endParaRPr/>
                    </a:p>
                  </a:txBody>
                  <a:tcPr marT="47500" marB="47500" marR="95025" marL="95025"/>
                </a:tc>
                <a:tc>
                  <a:txBody>
                    <a:bodyPr/>
                    <a:lstStyle/>
                    <a:p>
                      <a:pPr indent="0" lvl="0" marL="0" marR="0" rtl="0" algn="l">
                        <a:lnSpc>
                          <a:spcPct val="100000"/>
                        </a:lnSpc>
                        <a:spcBef>
                          <a:spcPts val="0"/>
                        </a:spcBef>
                        <a:spcAft>
                          <a:spcPts val="0"/>
                        </a:spcAft>
                        <a:buClr>
                          <a:srgbClr val="000000"/>
                        </a:buClr>
                        <a:buSzPts val="2400"/>
                        <a:buFont typeface="Arial"/>
                        <a:buNone/>
                      </a:pPr>
                      <a:r>
                        <a:rPr b="0" i="0" lang="ru-RU" sz="2400" u="none" cap="none" strike="noStrike">
                          <a:solidFill>
                            <a:srgbClr val="000000"/>
                          </a:solidFill>
                          <a:latin typeface="Arial"/>
                          <a:ea typeface="Arial"/>
                          <a:cs typeface="Arial"/>
                          <a:sym typeface="Arial"/>
                        </a:rPr>
                        <a:t>1</a:t>
                      </a:r>
                      <a:endParaRPr/>
                    </a:p>
                  </a:txBody>
                  <a:tcPr marT="47500" marB="47500" marR="95025" marL="95025"/>
                </a:tc>
              </a:tr>
            </a:tbl>
          </a:graphicData>
        </a:graphic>
      </p:graphicFrame>
      <p:sp>
        <p:nvSpPr>
          <p:cNvPr id="853" name="Google Shape;853;p6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66"/>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59" name="Google Shape;859;p66"/>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860" name="Google Shape;860;p66"/>
          <p:cNvSpPr txBox="1"/>
          <p:nvPr/>
        </p:nvSpPr>
        <p:spPr>
          <a:xfrm>
            <a:off x="805230" y="263937"/>
            <a:ext cx="8700009" cy="6334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000">
                <a:solidFill>
                  <a:schemeClr val="dk2"/>
                </a:solidFill>
                <a:latin typeface="Calibri"/>
                <a:ea typeface="Calibri"/>
                <a:cs typeface="Calibri"/>
                <a:sym typeface="Calibri"/>
              </a:rPr>
              <a:t>Алгоритмы кластерного анализа</a:t>
            </a:r>
            <a:endParaRPr sz="4000">
              <a:solidFill>
                <a:schemeClr val="dk2"/>
              </a:solidFill>
              <a:latin typeface="Calibri"/>
              <a:ea typeface="Calibri"/>
              <a:cs typeface="Calibri"/>
              <a:sym typeface="Calibri"/>
            </a:endParaRPr>
          </a:p>
        </p:txBody>
      </p:sp>
      <p:sp>
        <p:nvSpPr>
          <p:cNvPr id="861" name="Google Shape;861;p66"/>
          <p:cNvSpPr txBox="1"/>
          <p:nvPr>
            <p:ph idx="4294967295" type="title"/>
          </p:nvPr>
        </p:nvSpPr>
        <p:spPr>
          <a:xfrm>
            <a:off x="895143" y="778583"/>
            <a:ext cx="9170987" cy="11842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00FF"/>
              </a:buClr>
              <a:buSzPts val="3200"/>
              <a:buFont typeface="Calibri"/>
              <a:buNone/>
            </a:pPr>
            <a:r>
              <a:rPr lang="ru-RU" sz="3200">
                <a:solidFill>
                  <a:srgbClr val="0000FF"/>
                </a:solidFill>
              </a:rPr>
              <a:t>2. </a:t>
            </a:r>
            <a:r>
              <a:rPr lang="ru-RU" sz="3200"/>
              <a:t>Надо ли стандартизировать переменные?</a:t>
            </a:r>
            <a:endParaRPr/>
          </a:p>
        </p:txBody>
      </p:sp>
      <p:sp>
        <p:nvSpPr>
          <p:cNvPr id="862" name="Google Shape;862;p66"/>
          <p:cNvSpPr/>
          <p:nvPr/>
        </p:nvSpPr>
        <p:spPr>
          <a:xfrm>
            <a:off x="654734" y="1560355"/>
            <a:ext cx="9001000" cy="517064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200">
                <a:solidFill>
                  <a:srgbClr val="333333"/>
                </a:solidFill>
                <a:latin typeface="PT Sans"/>
                <a:ea typeface="PT Sans"/>
                <a:cs typeface="PT Sans"/>
                <a:sym typeface="PT Sans"/>
              </a:rPr>
              <a:t>Смысл </a:t>
            </a:r>
            <a:r>
              <a:rPr b="1" i="1" lang="ru-RU" sz="2200">
                <a:solidFill>
                  <a:srgbClr val="0000FF"/>
                </a:solidFill>
                <a:latin typeface="PT Sans"/>
                <a:ea typeface="PT Sans"/>
                <a:cs typeface="PT Sans"/>
                <a:sym typeface="PT Sans"/>
              </a:rPr>
              <a:t>нормализации и стандартизации </a:t>
            </a:r>
            <a:r>
              <a:rPr lang="ru-RU" sz="2200">
                <a:solidFill>
                  <a:srgbClr val="333333"/>
                </a:solidFill>
                <a:latin typeface="PT Sans"/>
                <a:ea typeface="PT Sans"/>
                <a:cs typeface="PT Sans"/>
                <a:sym typeface="PT Sans"/>
              </a:rPr>
              <a:t>прост:</a:t>
            </a:r>
            <a:endParaRPr sz="2200">
              <a:solidFill>
                <a:schemeClr val="dk1"/>
              </a:solidFill>
              <a:latin typeface="Arial"/>
              <a:ea typeface="Arial"/>
              <a:cs typeface="Arial"/>
              <a:sym typeface="Arial"/>
            </a:endParaRPr>
          </a:p>
          <a:p>
            <a:pPr indent="-342900" lvl="0" marL="342900" marR="0" rtl="0" algn="l">
              <a:spcBef>
                <a:spcPts val="0"/>
              </a:spcBef>
              <a:spcAft>
                <a:spcPts val="0"/>
              </a:spcAft>
              <a:buClr>
                <a:srgbClr val="333333"/>
              </a:buClr>
              <a:buSzPts val="2200"/>
              <a:buFont typeface="Arial"/>
              <a:buChar char="•"/>
            </a:pPr>
            <a:r>
              <a:rPr lang="ru-RU" sz="2200">
                <a:solidFill>
                  <a:srgbClr val="333333"/>
                </a:solidFill>
                <a:latin typeface="PT Sans"/>
                <a:ea typeface="PT Sans"/>
                <a:cs typeface="PT Sans"/>
                <a:sym typeface="PT Sans"/>
              </a:rPr>
              <a:t>Метрические алгоритмы делают свои выводы на основе оценки расстояния между точками или между точкой и прямой. Пусть у нас есть две переменные, одна изменяется от 0 до 100, вторая - от 0 до 1.</a:t>
            </a:r>
            <a:endParaRPr sz="2200">
              <a:solidFill>
                <a:schemeClr val="dk1"/>
              </a:solidFill>
              <a:latin typeface="Arial"/>
              <a:ea typeface="Arial"/>
              <a:cs typeface="Arial"/>
              <a:sym typeface="Arial"/>
            </a:endParaRPr>
          </a:p>
          <a:p>
            <a:pPr indent="-342900" lvl="0" marL="342900" marR="0" rtl="0" algn="l">
              <a:spcBef>
                <a:spcPts val="0"/>
              </a:spcBef>
              <a:spcAft>
                <a:spcPts val="0"/>
              </a:spcAft>
              <a:buClr>
                <a:srgbClr val="333333"/>
              </a:buClr>
              <a:buSzPts val="2200"/>
              <a:buFont typeface="Arial"/>
              <a:buChar char="•"/>
            </a:pPr>
            <a:r>
              <a:rPr lang="ru-RU" sz="2200">
                <a:solidFill>
                  <a:srgbClr val="333333"/>
                </a:solidFill>
                <a:latin typeface="PT Sans"/>
                <a:ea typeface="PT Sans"/>
                <a:cs typeface="PT Sans"/>
                <a:sym typeface="PT Sans"/>
              </a:rPr>
              <a:t>Возьмем две точки - (0, 0) и (100, 1). Расстояние между ними по евклидовой метрике:</a:t>
            </a:r>
            <a:br>
              <a:rPr lang="ru-RU" sz="2200">
                <a:solidFill>
                  <a:schemeClr val="dk1"/>
                </a:solidFill>
                <a:latin typeface="Arial"/>
                <a:ea typeface="Arial"/>
                <a:cs typeface="Arial"/>
                <a:sym typeface="Arial"/>
              </a:rPr>
            </a:br>
            <a:endParaRPr sz="2200">
              <a:solidFill>
                <a:schemeClr val="dk1"/>
              </a:solidFill>
              <a:latin typeface="Arial"/>
              <a:ea typeface="Arial"/>
              <a:cs typeface="Arial"/>
              <a:sym typeface="Arial"/>
            </a:endParaRPr>
          </a:p>
          <a:p>
            <a:pPr indent="0" lvl="0" marL="0" marR="0" rtl="0" algn="ctr">
              <a:spcBef>
                <a:spcPts val="0"/>
              </a:spcBef>
              <a:spcAft>
                <a:spcPts val="0"/>
              </a:spcAft>
              <a:buNone/>
            </a:pPr>
            <a:r>
              <a:rPr lang="ru-RU" sz="2200">
                <a:solidFill>
                  <a:srgbClr val="0000FF"/>
                </a:solidFill>
                <a:latin typeface="PT Sans"/>
                <a:ea typeface="PT Sans"/>
                <a:cs typeface="PT Sans"/>
                <a:sym typeface="PT Sans"/>
              </a:rPr>
              <a:t>((100 - 0)</a:t>
            </a:r>
            <a:r>
              <a:rPr baseline="30000" lang="ru-RU" sz="2200">
                <a:solidFill>
                  <a:srgbClr val="0000FF"/>
                </a:solidFill>
                <a:latin typeface="PT Sans"/>
                <a:ea typeface="PT Sans"/>
                <a:cs typeface="PT Sans"/>
                <a:sym typeface="PT Sans"/>
              </a:rPr>
              <a:t>2</a:t>
            </a:r>
            <a:r>
              <a:rPr lang="ru-RU" sz="2200">
                <a:solidFill>
                  <a:srgbClr val="0000FF"/>
                </a:solidFill>
                <a:latin typeface="PT Sans"/>
                <a:ea typeface="PT Sans"/>
                <a:cs typeface="PT Sans"/>
                <a:sym typeface="PT Sans"/>
              </a:rPr>
              <a:t> + (1 - 0) </a:t>
            </a:r>
            <a:r>
              <a:rPr baseline="30000" lang="ru-RU" sz="2200">
                <a:solidFill>
                  <a:srgbClr val="0000FF"/>
                </a:solidFill>
                <a:latin typeface="PT Sans"/>
                <a:ea typeface="PT Sans"/>
                <a:cs typeface="PT Sans"/>
                <a:sym typeface="PT Sans"/>
              </a:rPr>
              <a:t>2</a:t>
            </a:r>
            <a:r>
              <a:rPr lang="ru-RU" sz="2200">
                <a:solidFill>
                  <a:srgbClr val="0000FF"/>
                </a:solidFill>
                <a:latin typeface="PT Sans"/>
                <a:ea typeface="PT Sans"/>
                <a:cs typeface="PT Sans"/>
                <a:sym typeface="PT Sans"/>
              </a:rPr>
              <a:t>) </a:t>
            </a:r>
            <a:r>
              <a:rPr baseline="30000" lang="ru-RU" sz="2200">
                <a:solidFill>
                  <a:srgbClr val="0000FF"/>
                </a:solidFill>
                <a:latin typeface="PT Sans"/>
                <a:ea typeface="PT Sans"/>
                <a:cs typeface="PT Sans"/>
                <a:sym typeface="PT Sans"/>
              </a:rPr>
              <a:t>0.5.</a:t>
            </a:r>
            <a:endParaRPr/>
          </a:p>
          <a:p>
            <a:pPr indent="-203200" lvl="0" marL="342900" marR="0" rtl="0" algn="just">
              <a:spcBef>
                <a:spcPts val="0"/>
              </a:spcBef>
              <a:spcAft>
                <a:spcPts val="0"/>
              </a:spcAft>
              <a:buClr>
                <a:schemeClr val="dk1"/>
              </a:buClr>
              <a:buSzPts val="2200"/>
              <a:buFont typeface="Arial"/>
              <a:buNone/>
            </a:pPr>
            <a:r>
              <a:t/>
            </a:r>
            <a:endParaRPr sz="2200">
              <a:solidFill>
                <a:schemeClr val="dk1"/>
              </a:solidFill>
              <a:latin typeface="Arial"/>
              <a:ea typeface="Arial"/>
              <a:cs typeface="Arial"/>
              <a:sym typeface="Arial"/>
            </a:endParaRPr>
          </a:p>
          <a:p>
            <a:pPr indent="-342900" lvl="0" marL="342900" marR="0" rtl="0" algn="just">
              <a:spcBef>
                <a:spcPts val="0"/>
              </a:spcBef>
              <a:spcAft>
                <a:spcPts val="0"/>
              </a:spcAft>
              <a:buClr>
                <a:schemeClr val="dk1"/>
              </a:buClr>
              <a:buSzPts val="2200"/>
              <a:buFont typeface="Arial"/>
              <a:buChar char="•"/>
            </a:pPr>
            <a:r>
              <a:rPr lang="ru-RU" sz="2200">
                <a:solidFill>
                  <a:schemeClr val="dk1"/>
                </a:solidFill>
                <a:latin typeface="Arial"/>
                <a:ea typeface="Arial"/>
                <a:cs typeface="Arial"/>
                <a:sym typeface="Arial"/>
              </a:rPr>
              <a:t>Очев</a:t>
            </a:r>
            <a:r>
              <a:rPr lang="ru-RU" sz="2200">
                <a:solidFill>
                  <a:srgbClr val="333333"/>
                </a:solidFill>
                <a:latin typeface="PT Sans"/>
                <a:ea typeface="PT Sans"/>
                <a:cs typeface="PT Sans"/>
                <a:sym typeface="PT Sans"/>
              </a:rPr>
              <a:t>идно, что оценка расстояния формируется в основном лишь за счет 1-й переменной. Отсюда следует, что значения 2-й переменной будут слабо влиять на конечный результат работы алгоритма. И это будет связанно только с тем, что данные не нормализованы. А не с тем, что вторая переменная не влияет на результат по сути задачи.</a:t>
            </a:r>
            <a:endParaRPr sz="2200">
              <a:solidFill>
                <a:schemeClr val="dk1"/>
              </a:solidFill>
              <a:latin typeface="Arial"/>
              <a:ea typeface="Arial"/>
              <a:cs typeface="Arial"/>
              <a:sym typeface="Arial"/>
            </a:endParaRPr>
          </a:p>
        </p:txBody>
      </p:sp>
      <p:sp>
        <p:nvSpPr>
          <p:cNvPr id="863" name="Google Shape;863;p6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67"/>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69" name="Google Shape;869;p67"/>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870" name="Google Shape;870;p67"/>
          <p:cNvSpPr txBox="1"/>
          <p:nvPr/>
        </p:nvSpPr>
        <p:spPr>
          <a:xfrm>
            <a:off x="805230" y="263937"/>
            <a:ext cx="8700009" cy="6334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000">
                <a:solidFill>
                  <a:schemeClr val="dk2"/>
                </a:solidFill>
                <a:latin typeface="Calibri"/>
                <a:ea typeface="Calibri"/>
                <a:cs typeface="Calibri"/>
                <a:sym typeface="Calibri"/>
              </a:rPr>
              <a:t>Алгоритмы кластерного анализа</a:t>
            </a:r>
            <a:endParaRPr sz="4000">
              <a:solidFill>
                <a:schemeClr val="dk2"/>
              </a:solidFill>
              <a:latin typeface="Calibri"/>
              <a:ea typeface="Calibri"/>
              <a:cs typeface="Calibri"/>
              <a:sym typeface="Calibri"/>
            </a:endParaRPr>
          </a:p>
        </p:txBody>
      </p:sp>
      <p:sp>
        <p:nvSpPr>
          <p:cNvPr id="871" name="Google Shape;871;p67"/>
          <p:cNvSpPr/>
          <p:nvPr/>
        </p:nvSpPr>
        <p:spPr>
          <a:xfrm>
            <a:off x="500880" y="1241357"/>
            <a:ext cx="9334140" cy="526297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FF"/>
              </a:buClr>
              <a:buSzPts val="2400"/>
              <a:buFont typeface="Arial"/>
              <a:buChar char="•"/>
            </a:pPr>
            <a:r>
              <a:rPr b="1" i="1" lang="ru-RU" sz="2400">
                <a:solidFill>
                  <a:srgbClr val="0000FF"/>
                </a:solidFill>
                <a:latin typeface="Arial"/>
                <a:ea typeface="Arial"/>
                <a:cs typeface="Arial"/>
                <a:sym typeface="Arial"/>
              </a:rPr>
              <a:t>Нормализация </a:t>
            </a:r>
            <a:r>
              <a:rPr lang="ru-RU" sz="2400">
                <a:solidFill>
                  <a:srgbClr val="212529"/>
                </a:solidFill>
                <a:latin typeface="Arial"/>
                <a:ea typeface="Arial"/>
                <a:cs typeface="Arial"/>
                <a:sym typeface="Arial"/>
              </a:rPr>
              <a:t>- это изменение масштаба данных из исходного диапазона, чтобы все значения находились в диапазоне от 0 до 1.</a:t>
            </a:r>
            <a:endParaRPr/>
          </a:p>
          <a:p>
            <a:pPr indent="0" lvl="0" marL="0" marR="0" rtl="0" algn="l">
              <a:spcBef>
                <a:spcPts val="0"/>
              </a:spcBef>
              <a:spcAft>
                <a:spcPts val="0"/>
              </a:spcAft>
              <a:buNone/>
            </a:pPr>
            <a:r>
              <a:t/>
            </a:r>
            <a:endParaRPr sz="2400">
              <a:solidFill>
                <a:srgbClr val="212529"/>
              </a:solidFill>
              <a:latin typeface="Arial"/>
              <a:ea typeface="Arial"/>
              <a:cs typeface="Arial"/>
              <a:sym typeface="Arial"/>
            </a:endParaRPr>
          </a:p>
          <a:p>
            <a:pPr indent="-342900" lvl="0" marL="342900" marR="0" rtl="0" algn="l">
              <a:spcBef>
                <a:spcPts val="0"/>
              </a:spcBef>
              <a:spcAft>
                <a:spcPts val="0"/>
              </a:spcAft>
              <a:buClr>
                <a:srgbClr val="212529"/>
              </a:buClr>
              <a:buSzPts val="2400"/>
              <a:buFont typeface="Arial"/>
              <a:buChar char="•"/>
            </a:pPr>
            <a:r>
              <a:rPr lang="ru-RU" sz="2400">
                <a:solidFill>
                  <a:srgbClr val="212529"/>
                </a:solidFill>
                <a:latin typeface="Arial"/>
                <a:ea typeface="Arial"/>
                <a:cs typeface="Arial"/>
                <a:sym typeface="Arial"/>
              </a:rPr>
              <a:t>Нормализация может быть полезной и даже необходимой в некоторых алгоритмах, когда данные временных рядов имеют входные значения с различными масштабами. Это может потребоваться для алгоритмов, таких как k-NN, которые используют вычисления расстояний и линейную регрессию и искусственные нейронные сети, которые принимают весовые значения на вход.</a:t>
            </a:r>
            <a:endParaRPr/>
          </a:p>
          <a:p>
            <a:pPr indent="-342900" lvl="0" marL="342900" marR="0" rtl="0" algn="l">
              <a:spcBef>
                <a:spcPts val="0"/>
              </a:spcBef>
              <a:spcAft>
                <a:spcPts val="0"/>
              </a:spcAft>
              <a:buClr>
                <a:srgbClr val="212529"/>
              </a:buClr>
              <a:buSzPts val="2400"/>
              <a:buFont typeface="Arial"/>
              <a:buChar char="•"/>
            </a:pPr>
            <a:r>
              <a:rPr lang="ru-RU" sz="2400">
                <a:solidFill>
                  <a:srgbClr val="212529"/>
                </a:solidFill>
                <a:latin typeface="Arial"/>
                <a:ea typeface="Arial"/>
                <a:cs typeface="Arial"/>
                <a:sym typeface="Arial"/>
              </a:rPr>
              <a:t>Нормализация требует, чтобы вы знали или могли точно оценить минимальные и максимальные наблюдаемые значения. </a:t>
            </a:r>
            <a:endParaRPr/>
          </a:p>
          <a:p>
            <a:pPr indent="-342900" lvl="0" marL="342900" marR="0" rtl="0" algn="l">
              <a:spcBef>
                <a:spcPts val="0"/>
              </a:spcBef>
              <a:spcAft>
                <a:spcPts val="0"/>
              </a:spcAft>
              <a:buClr>
                <a:srgbClr val="212529"/>
              </a:buClr>
              <a:buSzPts val="2400"/>
              <a:buFont typeface="Arial"/>
              <a:buChar char="•"/>
            </a:pPr>
            <a:r>
              <a:rPr lang="ru-RU" sz="2400">
                <a:solidFill>
                  <a:srgbClr val="212529"/>
                </a:solidFill>
                <a:latin typeface="Arial"/>
                <a:ea typeface="Arial"/>
                <a:cs typeface="Arial"/>
                <a:sym typeface="Arial"/>
              </a:rPr>
              <a:t>Значение нормализуется следующим образом:</a:t>
            </a:r>
            <a:endParaRPr/>
          </a:p>
          <a:p>
            <a:pPr indent="0" lvl="0" marL="0" marR="0" rtl="0" algn="ctr">
              <a:spcBef>
                <a:spcPts val="0"/>
              </a:spcBef>
              <a:spcAft>
                <a:spcPts val="0"/>
              </a:spcAft>
              <a:buNone/>
            </a:pPr>
            <a:r>
              <a:rPr lang="ru-RU" sz="2400">
                <a:solidFill>
                  <a:srgbClr val="0000FF"/>
                </a:solidFill>
                <a:latin typeface="Arial"/>
                <a:ea typeface="Arial"/>
                <a:cs typeface="Arial"/>
                <a:sym typeface="Arial"/>
              </a:rPr>
              <a:t>y = (x - min) / (max - min) </a:t>
            </a:r>
            <a:endParaRPr/>
          </a:p>
        </p:txBody>
      </p:sp>
      <p:sp>
        <p:nvSpPr>
          <p:cNvPr id="872" name="Google Shape;872;p6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68"/>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78" name="Google Shape;878;p68"/>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879" name="Google Shape;879;p68"/>
          <p:cNvSpPr txBox="1"/>
          <p:nvPr/>
        </p:nvSpPr>
        <p:spPr>
          <a:xfrm>
            <a:off x="805230" y="263937"/>
            <a:ext cx="8700009" cy="6334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000">
                <a:solidFill>
                  <a:schemeClr val="dk2"/>
                </a:solidFill>
                <a:latin typeface="Calibri"/>
                <a:ea typeface="Calibri"/>
                <a:cs typeface="Calibri"/>
                <a:sym typeface="Calibri"/>
              </a:rPr>
              <a:t>Алгоритмы кластерного анализа</a:t>
            </a:r>
            <a:endParaRPr sz="4000">
              <a:solidFill>
                <a:schemeClr val="dk2"/>
              </a:solidFill>
              <a:latin typeface="Calibri"/>
              <a:ea typeface="Calibri"/>
              <a:cs typeface="Calibri"/>
              <a:sym typeface="Calibri"/>
            </a:endParaRPr>
          </a:p>
        </p:txBody>
      </p:sp>
      <p:sp>
        <p:nvSpPr>
          <p:cNvPr id="880" name="Google Shape;880;p68"/>
          <p:cNvSpPr/>
          <p:nvPr/>
        </p:nvSpPr>
        <p:spPr>
          <a:xfrm>
            <a:off x="719275" y="1546920"/>
            <a:ext cx="8767487" cy="489364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00FF"/>
              </a:buClr>
              <a:buSzPts val="2400"/>
              <a:buFont typeface="Arial"/>
              <a:buChar char="•"/>
            </a:pPr>
            <a:r>
              <a:rPr b="1" i="1" lang="ru-RU" sz="2400">
                <a:solidFill>
                  <a:srgbClr val="0000FF"/>
                </a:solidFill>
                <a:latin typeface="Arial"/>
                <a:ea typeface="Arial"/>
                <a:cs typeface="Arial"/>
                <a:sym typeface="Arial"/>
              </a:rPr>
              <a:t>Стандартизация</a:t>
            </a:r>
            <a:r>
              <a:rPr lang="ru-RU" sz="2400">
                <a:solidFill>
                  <a:srgbClr val="212529"/>
                </a:solidFill>
                <a:latin typeface="Arial"/>
                <a:ea typeface="Arial"/>
                <a:cs typeface="Arial"/>
                <a:sym typeface="Arial"/>
              </a:rPr>
              <a:t> набора данных включает в себя изменение масштаба распределения значений так, чтобы среднее значение наблюдаемых значений было 0, а стандартное отклонение - 1.</a:t>
            </a:r>
            <a:endParaRPr/>
          </a:p>
          <a:p>
            <a:pPr indent="-342900" lvl="0" marL="342900" marR="0" rtl="0" algn="l">
              <a:spcBef>
                <a:spcPts val="0"/>
              </a:spcBef>
              <a:spcAft>
                <a:spcPts val="0"/>
              </a:spcAft>
              <a:buClr>
                <a:srgbClr val="212529"/>
              </a:buClr>
              <a:buSzPts val="2400"/>
              <a:buFont typeface="Arial"/>
              <a:buChar char="•"/>
            </a:pPr>
            <a:r>
              <a:rPr lang="ru-RU" sz="2400">
                <a:solidFill>
                  <a:srgbClr val="212529"/>
                </a:solidFill>
                <a:latin typeface="Arial"/>
                <a:ea typeface="Arial"/>
                <a:cs typeface="Arial"/>
                <a:sym typeface="Arial"/>
              </a:rPr>
              <a:t>Это можно рассматривать как вычитание среднего значения или центрирование данных.</a:t>
            </a:r>
            <a:endParaRPr/>
          </a:p>
          <a:p>
            <a:pPr indent="-342900" lvl="0" marL="342900" marR="0" rtl="0" algn="l">
              <a:spcBef>
                <a:spcPts val="0"/>
              </a:spcBef>
              <a:spcAft>
                <a:spcPts val="0"/>
              </a:spcAft>
              <a:buClr>
                <a:srgbClr val="212529"/>
              </a:buClr>
              <a:buSzPts val="2400"/>
              <a:buFont typeface="Arial"/>
              <a:buChar char="•"/>
            </a:pPr>
            <a:r>
              <a:rPr lang="ru-RU" sz="2400">
                <a:solidFill>
                  <a:srgbClr val="212529"/>
                </a:solidFill>
                <a:latin typeface="Arial"/>
                <a:ea typeface="Arial"/>
                <a:cs typeface="Arial"/>
                <a:sym typeface="Arial"/>
              </a:rPr>
              <a:t>Как и нормализация, стандартизация может быть полезной и даже необходимой в некоторых алгоритмах, когда ваши данные имеют входные значения с различными масштабами.</a:t>
            </a:r>
            <a:endParaRPr/>
          </a:p>
          <a:p>
            <a:pPr indent="-342900" lvl="0" marL="342900" marR="0" rtl="0" algn="l">
              <a:spcBef>
                <a:spcPts val="0"/>
              </a:spcBef>
              <a:spcAft>
                <a:spcPts val="0"/>
              </a:spcAft>
              <a:buClr>
                <a:srgbClr val="212529"/>
              </a:buClr>
              <a:buSzPts val="2400"/>
              <a:buFont typeface="Arial"/>
              <a:buChar char="•"/>
            </a:pPr>
            <a:r>
              <a:rPr lang="ru-RU" sz="2400">
                <a:solidFill>
                  <a:srgbClr val="212529"/>
                </a:solidFill>
                <a:latin typeface="Arial"/>
                <a:ea typeface="Arial"/>
                <a:cs typeface="Arial"/>
                <a:sym typeface="Arial"/>
              </a:rPr>
              <a:t>Этого требуют алгоритмы, такие как машины опорных векторов, линейная и логистическая регрессия, и другие алгоритмы, которые предполагают или имеют улучшенную производительность с гауссовыми данными.</a:t>
            </a:r>
            <a:endParaRPr/>
          </a:p>
        </p:txBody>
      </p:sp>
      <p:sp>
        <p:nvSpPr>
          <p:cNvPr id="881" name="Google Shape;881;p6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69"/>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87" name="Google Shape;887;p69"/>
          <p:cNvSpPr/>
          <p:nvPr/>
        </p:nvSpPr>
        <p:spPr>
          <a:xfrm>
            <a:off x="439565" y="1135710"/>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888" name="Google Shape;888;p69"/>
          <p:cNvSpPr txBox="1"/>
          <p:nvPr/>
        </p:nvSpPr>
        <p:spPr>
          <a:xfrm>
            <a:off x="805230" y="263937"/>
            <a:ext cx="8700009" cy="6334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000">
                <a:solidFill>
                  <a:schemeClr val="dk2"/>
                </a:solidFill>
                <a:latin typeface="Calibri"/>
                <a:ea typeface="Calibri"/>
                <a:cs typeface="Calibri"/>
                <a:sym typeface="Calibri"/>
              </a:rPr>
              <a:t>Алгоритмы кластерного анализа</a:t>
            </a:r>
            <a:endParaRPr sz="4000">
              <a:solidFill>
                <a:schemeClr val="dk2"/>
              </a:solidFill>
              <a:latin typeface="Calibri"/>
              <a:ea typeface="Calibri"/>
              <a:cs typeface="Calibri"/>
              <a:sym typeface="Calibri"/>
            </a:endParaRPr>
          </a:p>
        </p:txBody>
      </p:sp>
      <p:sp>
        <p:nvSpPr>
          <p:cNvPr id="889" name="Google Shape;889;p69"/>
          <p:cNvSpPr/>
          <p:nvPr/>
        </p:nvSpPr>
        <p:spPr>
          <a:xfrm>
            <a:off x="627474" y="1490594"/>
            <a:ext cx="8877765" cy="489364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212529"/>
              </a:buClr>
              <a:buSzPts val="2400"/>
              <a:buFont typeface="Arial"/>
              <a:buChar char="•"/>
            </a:pPr>
            <a:r>
              <a:rPr lang="ru-RU" sz="2400">
                <a:solidFill>
                  <a:srgbClr val="212529"/>
                </a:solidFill>
                <a:latin typeface="Arial"/>
                <a:ea typeface="Arial"/>
                <a:cs typeface="Arial"/>
                <a:sym typeface="Arial"/>
              </a:rPr>
              <a:t>Стандартизация предполагает, что ваши наблюдения соответствуют гауссовскому распределению (кривая колокола) со средним значением и стандартным отклонением. </a:t>
            </a:r>
            <a:endParaRPr/>
          </a:p>
          <a:p>
            <a:pPr indent="0" lvl="0" marL="0" marR="0" rtl="0" algn="l">
              <a:spcBef>
                <a:spcPts val="0"/>
              </a:spcBef>
              <a:spcAft>
                <a:spcPts val="0"/>
              </a:spcAft>
              <a:buNone/>
            </a:pPr>
            <a:r>
              <a:t/>
            </a:r>
            <a:endParaRPr b="1" i="1" sz="2400">
              <a:solidFill>
                <a:srgbClr val="0000FF"/>
              </a:solidFill>
              <a:latin typeface="Arial"/>
              <a:ea typeface="Arial"/>
              <a:cs typeface="Arial"/>
              <a:sym typeface="Arial"/>
            </a:endParaRPr>
          </a:p>
          <a:p>
            <a:pPr indent="-342900" lvl="0" marL="342900" marR="0" rtl="0" algn="l">
              <a:spcBef>
                <a:spcPts val="0"/>
              </a:spcBef>
              <a:spcAft>
                <a:spcPts val="0"/>
              </a:spcAft>
              <a:buClr>
                <a:srgbClr val="0000FF"/>
              </a:buClr>
              <a:buSzPts val="2400"/>
              <a:buFont typeface="Arial"/>
              <a:buChar char="•"/>
            </a:pPr>
            <a:r>
              <a:rPr b="1" i="1" lang="ru-RU" sz="2400">
                <a:solidFill>
                  <a:srgbClr val="0000FF"/>
                </a:solidFill>
                <a:latin typeface="Arial"/>
                <a:ea typeface="Arial"/>
                <a:cs typeface="Arial"/>
                <a:sym typeface="Arial"/>
              </a:rPr>
              <a:t>Стандартизация</a:t>
            </a:r>
            <a:r>
              <a:rPr lang="ru-RU" sz="2400">
                <a:solidFill>
                  <a:srgbClr val="212529"/>
                </a:solidFill>
                <a:latin typeface="Arial"/>
                <a:ea typeface="Arial"/>
                <a:cs typeface="Arial"/>
                <a:sym typeface="Arial"/>
              </a:rPr>
              <a:t> требует, чтобы вы знали или были в состоянии точно оценить среднее и стандартное отклонение наблюдаемых значений. Возможно, вы сможете оценить эти значения по вашим данным обучения.</a:t>
            </a:r>
            <a:endParaRPr/>
          </a:p>
          <a:p>
            <a:pPr indent="-342900" lvl="0" marL="342900" marR="0" rtl="0" algn="l">
              <a:spcBef>
                <a:spcPts val="0"/>
              </a:spcBef>
              <a:spcAft>
                <a:spcPts val="0"/>
              </a:spcAft>
              <a:buClr>
                <a:srgbClr val="212529"/>
              </a:buClr>
              <a:buSzPts val="2400"/>
              <a:buFont typeface="Arial"/>
              <a:buChar char="•"/>
            </a:pPr>
            <a:r>
              <a:rPr lang="ru-RU" sz="2400">
                <a:solidFill>
                  <a:srgbClr val="212529"/>
                </a:solidFill>
                <a:latin typeface="Arial"/>
                <a:ea typeface="Arial"/>
                <a:cs typeface="Arial"/>
                <a:sym typeface="Arial"/>
              </a:rPr>
              <a:t>Значение стандартизировано следующим образом:</a:t>
            </a:r>
            <a:endParaRPr/>
          </a:p>
          <a:p>
            <a:pPr indent="0" lvl="0" marL="0" marR="0" rtl="0" algn="ctr">
              <a:spcBef>
                <a:spcPts val="0"/>
              </a:spcBef>
              <a:spcAft>
                <a:spcPts val="0"/>
              </a:spcAft>
              <a:buNone/>
            </a:pPr>
            <a:r>
              <a:t/>
            </a:r>
            <a:endParaRPr sz="2400">
              <a:solidFill>
                <a:srgbClr val="212529"/>
              </a:solidFill>
              <a:latin typeface="Arial"/>
              <a:ea typeface="Arial"/>
              <a:cs typeface="Arial"/>
              <a:sym typeface="Arial"/>
            </a:endParaRPr>
          </a:p>
          <a:p>
            <a:pPr indent="0" lvl="0" marL="0" marR="0" rtl="0" algn="ctr">
              <a:spcBef>
                <a:spcPts val="0"/>
              </a:spcBef>
              <a:spcAft>
                <a:spcPts val="0"/>
              </a:spcAft>
              <a:buNone/>
            </a:pPr>
            <a:r>
              <a:rPr lang="ru-RU" sz="2400">
                <a:solidFill>
                  <a:srgbClr val="0000FF"/>
                </a:solidFill>
                <a:latin typeface="Arial"/>
                <a:ea typeface="Arial"/>
                <a:cs typeface="Arial"/>
                <a:sym typeface="Arial"/>
              </a:rPr>
              <a:t>y = (x - mean) / standard_deviation </a:t>
            </a:r>
            <a:endParaRPr/>
          </a:p>
        </p:txBody>
      </p:sp>
      <p:sp>
        <p:nvSpPr>
          <p:cNvPr id="890" name="Google Shape;890;p6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70"/>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896" name="Google Shape;896;p70"/>
          <p:cNvSpPr/>
          <p:nvPr/>
        </p:nvSpPr>
        <p:spPr>
          <a:xfrm>
            <a:off x="439565" y="1135710"/>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897" name="Google Shape;897;p70"/>
          <p:cNvSpPr txBox="1"/>
          <p:nvPr/>
        </p:nvSpPr>
        <p:spPr>
          <a:xfrm>
            <a:off x="805230" y="263937"/>
            <a:ext cx="8700009" cy="63344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000">
                <a:solidFill>
                  <a:schemeClr val="dk2"/>
                </a:solidFill>
                <a:latin typeface="Calibri"/>
                <a:ea typeface="Calibri"/>
                <a:cs typeface="Calibri"/>
                <a:sym typeface="Calibri"/>
              </a:rPr>
              <a:t>Алгоритмы кластерного анализа</a:t>
            </a:r>
            <a:endParaRPr sz="4000">
              <a:solidFill>
                <a:schemeClr val="dk2"/>
              </a:solidFill>
              <a:latin typeface="Calibri"/>
              <a:ea typeface="Calibri"/>
              <a:cs typeface="Calibri"/>
              <a:sym typeface="Calibri"/>
            </a:endParaRPr>
          </a:p>
        </p:txBody>
      </p:sp>
      <p:sp>
        <p:nvSpPr>
          <p:cNvPr id="898" name="Google Shape;898;p70"/>
          <p:cNvSpPr txBox="1"/>
          <p:nvPr/>
        </p:nvSpPr>
        <p:spPr>
          <a:xfrm>
            <a:off x="597653" y="2312006"/>
            <a:ext cx="9431338" cy="2979330"/>
          </a:xfrm>
          <a:prstGeom prst="rect">
            <a:avLst/>
          </a:prstGeom>
          <a:noFill/>
          <a:ln>
            <a:noFill/>
          </a:ln>
        </p:spPr>
        <p:txBody>
          <a:bodyPr anchorCtr="0" anchor="t" bIns="45700" lIns="91425" spcFirstLastPara="1" rIns="91425" wrap="square" tIns="45700">
            <a:noAutofit/>
          </a:bodyPr>
          <a:lstStyle/>
          <a:p>
            <a:pPr indent="0" lvl="0" marL="373063" marR="529560" rtl="0" algn="l">
              <a:spcBef>
                <a:spcPts val="0"/>
              </a:spcBef>
              <a:spcAft>
                <a:spcPts val="0"/>
              </a:spcAft>
              <a:buClr>
                <a:schemeClr val="dk1"/>
              </a:buClr>
              <a:buSzPts val="2400"/>
              <a:buFont typeface="Times New Roman"/>
              <a:buNone/>
            </a:pPr>
            <a:r>
              <a:rPr lang="ru-RU" sz="2400">
                <a:solidFill>
                  <a:schemeClr val="dk1"/>
                </a:solidFill>
                <a:latin typeface="Times New Roman"/>
                <a:ea typeface="Times New Roman"/>
                <a:cs typeface="Times New Roman"/>
                <a:sym typeface="Times New Roman"/>
              </a:rPr>
              <a:t>Иерархический кластерный анализ требует вдохновенного выбора способа подсчета расстояния между объектами и расстояния между кластерами. </a:t>
            </a:r>
            <a:endParaRPr/>
          </a:p>
          <a:p>
            <a:pPr indent="0" lvl="0" marL="373063" marR="529560" rtl="0" algn="l">
              <a:spcBef>
                <a:spcPts val="480"/>
              </a:spcBef>
              <a:spcAft>
                <a:spcPts val="0"/>
              </a:spcAft>
              <a:buClr>
                <a:schemeClr val="dk1"/>
              </a:buClr>
              <a:buSzPts val="2400"/>
              <a:buFont typeface="Times New Roman"/>
              <a:buNone/>
            </a:pPr>
            <a:r>
              <a:rPr lang="ru-RU" sz="2400">
                <a:solidFill>
                  <a:schemeClr val="dk1"/>
                </a:solidFill>
                <a:latin typeface="Times New Roman"/>
                <a:ea typeface="Times New Roman"/>
                <a:cs typeface="Times New Roman"/>
                <a:sym typeface="Times New Roman"/>
              </a:rPr>
              <a:t>Кроме того, надо подобрать релевантное число кластеров. Потом останется неясной геометрия кластеров. Таким образом, многое надо предугадать и осмыслить. Не всегда это удается с первого раза.</a:t>
            </a:r>
            <a:endParaRPr/>
          </a:p>
        </p:txBody>
      </p:sp>
      <p:sp>
        <p:nvSpPr>
          <p:cNvPr id="899" name="Google Shape;899;p70"/>
          <p:cNvSpPr/>
          <p:nvPr/>
        </p:nvSpPr>
        <p:spPr>
          <a:xfrm>
            <a:off x="1881356" y="1242684"/>
            <a:ext cx="5137150" cy="830997"/>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rgbClr val="CC9900"/>
              </a:buClr>
              <a:buSzPts val="1560"/>
              <a:buFont typeface="Arial"/>
              <a:buChar char="•"/>
            </a:pPr>
            <a:r>
              <a:rPr lang="ru-RU" sz="2400">
                <a:solidFill>
                  <a:schemeClr val="dk1"/>
                </a:solidFill>
                <a:latin typeface="Arial"/>
                <a:ea typeface="Arial"/>
                <a:cs typeface="Arial"/>
                <a:sym typeface="Arial"/>
              </a:rPr>
              <a:t>Расстояние между кластерами</a:t>
            </a:r>
            <a:endParaRPr/>
          </a:p>
          <a:p>
            <a:pPr indent="-457200" lvl="0" marL="457200" marR="0" rtl="0" algn="l">
              <a:spcBef>
                <a:spcPts val="0"/>
              </a:spcBef>
              <a:spcAft>
                <a:spcPts val="0"/>
              </a:spcAft>
              <a:buClr>
                <a:srgbClr val="CC9900"/>
              </a:buClr>
              <a:buSzPts val="1560"/>
              <a:buFont typeface="Arial"/>
              <a:buChar char="•"/>
            </a:pPr>
            <a:r>
              <a:rPr lang="ru-RU" sz="2400">
                <a:solidFill>
                  <a:schemeClr val="dk1"/>
                </a:solidFill>
                <a:latin typeface="Arial"/>
                <a:ea typeface="Arial"/>
                <a:cs typeface="Arial"/>
                <a:sym typeface="Arial"/>
              </a:rPr>
              <a:t>Расстояние между объектами</a:t>
            </a:r>
            <a:endParaRPr/>
          </a:p>
        </p:txBody>
      </p:sp>
      <p:sp>
        <p:nvSpPr>
          <p:cNvPr id="900" name="Google Shape;900;p70"/>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71"/>
          <p:cNvSpPr/>
          <p:nvPr/>
        </p:nvSpPr>
        <p:spPr>
          <a:xfrm>
            <a:off x="673100" y="3140075"/>
            <a:ext cx="9329738" cy="1287463"/>
          </a:xfrm>
          <a:prstGeom prst="roundRect">
            <a:avLst>
              <a:gd fmla="val 16667" name="adj"/>
            </a:avLst>
          </a:prstGeom>
          <a:solidFill>
            <a:srgbClr val="464646">
              <a:alpha val="49803"/>
            </a:srgbClr>
          </a:solid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07" name="Google Shape;907;p71"/>
          <p:cNvSpPr/>
          <p:nvPr/>
        </p:nvSpPr>
        <p:spPr>
          <a:xfrm>
            <a:off x="1030288" y="3362325"/>
            <a:ext cx="596900" cy="854075"/>
          </a:xfrm>
          <a:prstGeom prst="roundRect">
            <a:avLst>
              <a:gd fmla="val 16667" name="adj"/>
            </a:avLst>
          </a:prstGeom>
          <a:solidFill>
            <a:schemeClr val="accent1"/>
          </a:solidFill>
          <a:ln>
            <a:noFill/>
          </a:ln>
        </p:spPr>
        <p:txBody>
          <a:bodyPr anchorCtr="0" anchor="ctr" bIns="49700" lIns="99425" spcFirstLastPara="1" rIns="99425" wrap="square" tIns="49700">
            <a:noAutofit/>
          </a:bodyPr>
          <a:lstStyle/>
          <a:p>
            <a:pPr indent="0" lvl="0" marL="0" marR="0" rtl="0" algn="ctr">
              <a:spcBef>
                <a:spcPts val="0"/>
              </a:spcBef>
              <a:spcAft>
                <a:spcPts val="0"/>
              </a:spcAft>
              <a:buNone/>
            </a:pPr>
            <a:r>
              <a:rPr b="1" lang="ru-RU" sz="3000">
                <a:solidFill>
                  <a:schemeClr val="lt1"/>
                </a:solidFill>
                <a:latin typeface="Arial"/>
                <a:ea typeface="Arial"/>
                <a:cs typeface="Arial"/>
                <a:sym typeface="Arial"/>
              </a:rPr>
              <a:t>5</a:t>
            </a:r>
            <a:endParaRPr b="1" sz="3000">
              <a:solidFill>
                <a:schemeClr val="lt1"/>
              </a:solidFill>
              <a:latin typeface="Arial"/>
              <a:ea typeface="Arial"/>
              <a:cs typeface="Arial"/>
              <a:sym typeface="Arial"/>
            </a:endParaRPr>
          </a:p>
        </p:txBody>
      </p:sp>
      <p:sp>
        <p:nvSpPr>
          <p:cNvPr id="908" name="Google Shape;908;p71"/>
          <p:cNvSpPr/>
          <p:nvPr/>
        </p:nvSpPr>
        <p:spPr>
          <a:xfrm>
            <a:off x="949325" y="3140075"/>
            <a:ext cx="8509892" cy="1284288"/>
          </a:xfrm>
          <a:prstGeom prst="roundRect">
            <a:avLst>
              <a:gd fmla="val 16667" name="adj"/>
            </a:avLst>
          </a:prstGeom>
          <a:noFill/>
          <a:ln>
            <a:noFill/>
          </a:ln>
        </p:spPr>
        <p:txBody>
          <a:bodyPr anchorCtr="0" anchor="ctr" bIns="49700" lIns="99425" spcFirstLastPara="1" rIns="99425" wrap="square" tIns="49700">
            <a:noAutofit/>
          </a:bodyPr>
          <a:lstStyle/>
          <a:p>
            <a:pPr indent="0" lvl="0" marL="982663" marR="0" rtl="0" algn="l">
              <a:spcBef>
                <a:spcPts val="0"/>
              </a:spcBef>
              <a:spcAft>
                <a:spcPts val="0"/>
              </a:spcAft>
              <a:buNone/>
            </a:pPr>
            <a:r>
              <a:rPr lang="ru-RU" sz="3500">
                <a:solidFill>
                  <a:schemeClr val="lt1"/>
                </a:solidFill>
                <a:latin typeface="Arial"/>
                <a:ea typeface="Arial"/>
                <a:cs typeface="Arial"/>
                <a:sym typeface="Arial"/>
              </a:rPr>
              <a:t>Примеры кластерного анализа</a:t>
            </a:r>
            <a:endParaRPr/>
          </a:p>
        </p:txBody>
      </p:sp>
      <p:sp>
        <p:nvSpPr>
          <p:cNvPr id="909" name="Google Shape;909;p7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08"/>
                                        </p:tgtEl>
                                        <p:attrNameLst>
                                          <p:attrName>style.visibility</p:attrName>
                                        </p:attrNameLst>
                                      </p:cBhvr>
                                      <p:to>
                                        <p:strVal val="visible"/>
                                      </p:to>
                                    </p:set>
                                    <p:anim calcmode="lin" valueType="num">
                                      <p:cBhvr additive="base">
                                        <p:cTn dur="500"/>
                                        <p:tgtEl>
                                          <p:spTgt spid="90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72"/>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15" name="Google Shape;915;p72"/>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16" name="Google Shape;916;p72"/>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917" name="Google Shape;917;p72"/>
          <p:cNvSpPr txBox="1"/>
          <p:nvPr>
            <p:ph idx="4294967295" type="title"/>
          </p:nvPr>
        </p:nvSpPr>
        <p:spPr>
          <a:xfrm>
            <a:off x="980950" y="346966"/>
            <a:ext cx="8550275" cy="9747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49"/>
              <a:buFont typeface="Calibri"/>
              <a:buNone/>
            </a:pPr>
            <a:r>
              <a:rPr lang="ru-RU" sz="3949"/>
              <a:t>Потребление протеинов  в Европе</a:t>
            </a:r>
            <a:endParaRPr/>
          </a:p>
        </p:txBody>
      </p:sp>
      <p:sp>
        <p:nvSpPr>
          <p:cNvPr id="918" name="Google Shape;918;p72"/>
          <p:cNvSpPr txBox="1"/>
          <p:nvPr>
            <p:ph idx="4294967295" type="body"/>
          </p:nvPr>
        </p:nvSpPr>
        <p:spPr>
          <a:xfrm>
            <a:off x="1658912" y="1466153"/>
            <a:ext cx="7872313" cy="4708525"/>
          </a:xfrm>
          <a:prstGeom prst="rect">
            <a:avLst/>
          </a:prstGeom>
          <a:noFill/>
          <a:ln>
            <a:noFill/>
          </a:ln>
        </p:spPr>
        <p:txBody>
          <a:bodyPr anchorCtr="0" anchor="t" bIns="45700" lIns="91425" spcFirstLastPara="1" rIns="91425" wrap="square" tIns="45700">
            <a:normAutofit/>
          </a:bodyPr>
          <a:lstStyle/>
          <a:p>
            <a:pPr indent="-356307" lvl="0" marL="356307" rtl="0" algn="l">
              <a:lnSpc>
                <a:spcPct val="80000"/>
              </a:lnSpc>
              <a:spcBef>
                <a:spcPts val="0"/>
              </a:spcBef>
              <a:spcAft>
                <a:spcPts val="0"/>
              </a:spcAft>
              <a:buClr>
                <a:srgbClr val="CC9900"/>
              </a:buClr>
              <a:buSzPts val="1756"/>
              <a:buFont typeface="Noto Sans Symbols"/>
              <a:buChar char="■"/>
            </a:pPr>
            <a:r>
              <a:rPr lang="ru-RU" sz="2702" u="sng"/>
              <a:t>Переменные</a:t>
            </a:r>
            <a:endParaRPr/>
          </a:p>
          <a:p>
            <a:pPr indent="-356307" lvl="0" marL="356307" rtl="0" algn="l">
              <a:lnSpc>
                <a:spcPct val="80000"/>
              </a:lnSpc>
              <a:spcBef>
                <a:spcPts val="674"/>
              </a:spcBef>
              <a:spcAft>
                <a:spcPts val="0"/>
              </a:spcAft>
              <a:buClr>
                <a:srgbClr val="CC9900"/>
              </a:buClr>
              <a:buSzPts val="1756"/>
              <a:buFont typeface="Noto Sans Symbols"/>
              <a:buChar char="■"/>
            </a:pPr>
            <a:r>
              <a:rPr lang="ru-RU" sz="2702"/>
              <a:t>redmeat		Мясо</a:t>
            </a:r>
            <a:endParaRPr/>
          </a:p>
          <a:p>
            <a:pPr indent="-356307" lvl="0" marL="356307" rtl="0" algn="l">
              <a:lnSpc>
                <a:spcPct val="80000"/>
              </a:lnSpc>
              <a:spcBef>
                <a:spcPts val="674"/>
              </a:spcBef>
              <a:spcAft>
                <a:spcPts val="0"/>
              </a:spcAft>
              <a:buClr>
                <a:srgbClr val="CC9900"/>
              </a:buClr>
              <a:buSzPts val="1756"/>
              <a:buFont typeface="Noto Sans Symbols"/>
              <a:buChar char="■"/>
            </a:pPr>
            <a:r>
              <a:rPr lang="ru-RU" sz="2702"/>
              <a:t>whitemeat	            Птица</a:t>
            </a:r>
            <a:endParaRPr/>
          </a:p>
          <a:p>
            <a:pPr indent="-356307" lvl="0" marL="356307" rtl="0" algn="l">
              <a:lnSpc>
                <a:spcPct val="80000"/>
              </a:lnSpc>
              <a:spcBef>
                <a:spcPts val="674"/>
              </a:spcBef>
              <a:spcAft>
                <a:spcPts val="0"/>
              </a:spcAft>
              <a:buClr>
                <a:srgbClr val="CC9900"/>
              </a:buClr>
              <a:buSzPts val="1756"/>
              <a:buFont typeface="Noto Sans Symbols"/>
              <a:buChar char="■"/>
            </a:pPr>
            <a:r>
              <a:rPr lang="ru-RU" sz="2702"/>
              <a:t>eggs		Яйца </a:t>
            </a:r>
            <a:endParaRPr/>
          </a:p>
          <a:p>
            <a:pPr indent="-356307" lvl="0" marL="356307" rtl="0" algn="l">
              <a:lnSpc>
                <a:spcPct val="80000"/>
              </a:lnSpc>
              <a:spcBef>
                <a:spcPts val="674"/>
              </a:spcBef>
              <a:spcAft>
                <a:spcPts val="0"/>
              </a:spcAft>
              <a:buClr>
                <a:srgbClr val="CC9900"/>
              </a:buClr>
              <a:buSzPts val="1756"/>
              <a:buFont typeface="Noto Sans Symbols"/>
              <a:buChar char="■"/>
            </a:pPr>
            <a:r>
              <a:rPr lang="ru-RU" sz="2702"/>
              <a:t>milk		            Молоко</a:t>
            </a:r>
            <a:endParaRPr/>
          </a:p>
          <a:p>
            <a:pPr indent="-356307" lvl="0" marL="356307" rtl="0" algn="l">
              <a:lnSpc>
                <a:spcPct val="80000"/>
              </a:lnSpc>
              <a:spcBef>
                <a:spcPts val="674"/>
              </a:spcBef>
              <a:spcAft>
                <a:spcPts val="0"/>
              </a:spcAft>
              <a:buClr>
                <a:srgbClr val="CC9900"/>
              </a:buClr>
              <a:buSzPts val="1756"/>
              <a:buFont typeface="Noto Sans Symbols"/>
              <a:buChar char="■"/>
            </a:pPr>
            <a:r>
              <a:rPr lang="ru-RU" sz="2702"/>
              <a:t>fish			Рыба</a:t>
            </a:r>
            <a:endParaRPr/>
          </a:p>
          <a:p>
            <a:pPr indent="-356307" lvl="0" marL="356307" rtl="0" algn="l">
              <a:lnSpc>
                <a:spcPct val="80000"/>
              </a:lnSpc>
              <a:spcBef>
                <a:spcPts val="674"/>
              </a:spcBef>
              <a:spcAft>
                <a:spcPts val="0"/>
              </a:spcAft>
              <a:buClr>
                <a:srgbClr val="CC9900"/>
              </a:buClr>
              <a:buSzPts val="1756"/>
              <a:buFont typeface="Noto Sans Symbols"/>
              <a:buChar char="■"/>
            </a:pPr>
            <a:r>
              <a:rPr lang="ru-RU" sz="2702"/>
              <a:t>cereals		Хлебо-булочные</a:t>
            </a:r>
            <a:endParaRPr/>
          </a:p>
          <a:p>
            <a:pPr indent="-356307" lvl="0" marL="356307" rtl="0" algn="l">
              <a:lnSpc>
                <a:spcPct val="80000"/>
              </a:lnSpc>
              <a:spcBef>
                <a:spcPts val="674"/>
              </a:spcBef>
              <a:spcAft>
                <a:spcPts val="0"/>
              </a:spcAft>
              <a:buClr>
                <a:srgbClr val="CC9900"/>
              </a:buClr>
              <a:buSzPts val="1756"/>
              <a:buFont typeface="Noto Sans Symbols"/>
              <a:buChar char="■"/>
            </a:pPr>
            <a:r>
              <a:rPr lang="ru-RU" sz="2702"/>
              <a:t>starch		Крахмал: картофель, макароны</a:t>
            </a:r>
            <a:endParaRPr/>
          </a:p>
          <a:p>
            <a:pPr indent="-356307" lvl="0" marL="356307" rtl="0" algn="l">
              <a:lnSpc>
                <a:spcPct val="80000"/>
              </a:lnSpc>
              <a:spcBef>
                <a:spcPts val="674"/>
              </a:spcBef>
              <a:spcAft>
                <a:spcPts val="0"/>
              </a:spcAft>
              <a:buClr>
                <a:srgbClr val="CC9900"/>
              </a:buClr>
              <a:buSzPts val="1756"/>
              <a:buFont typeface="Noto Sans Symbols"/>
              <a:buChar char="■"/>
            </a:pPr>
            <a:r>
              <a:rPr lang="ru-RU" sz="2702"/>
              <a:t>nuts		Орехи</a:t>
            </a:r>
            <a:endParaRPr/>
          </a:p>
          <a:p>
            <a:pPr indent="-356307" lvl="0" marL="356307" rtl="0" algn="l">
              <a:lnSpc>
                <a:spcPct val="80000"/>
              </a:lnSpc>
              <a:spcBef>
                <a:spcPts val="674"/>
              </a:spcBef>
              <a:spcAft>
                <a:spcPts val="0"/>
              </a:spcAft>
              <a:buClr>
                <a:srgbClr val="CC9900"/>
              </a:buClr>
              <a:buSzPts val="1756"/>
              <a:buFont typeface="Noto Sans Symbols"/>
              <a:buChar char="■"/>
            </a:pPr>
            <a:r>
              <a:rPr lang="ru-RU" sz="2702"/>
              <a:t>fruits_v		Фрукты и овощи</a:t>
            </a:r>
            <a:endParaRPr/>
          </a:p>
        </p:txBody>
      </p:sp>
      <p:sp>
        <p:nvSpPr>
          <p:cNvPr id="919" name="Google Shape;919;p72"/>
          <p:cNvSpPr txBox="1"/>
          <p:nvPr>
            <p:ph idx="12" type="sldNum"/>
          </p:nvPr>
        </p:nvSpPr>
        <p:spPr>
          <a:xfrm>
            <a:off x="9027168" y="6605014"/>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73"/>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25" name="Google Shape;925;p73"/>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26" name="Google Shape;926;p73"/>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2800">
                <a:solidFill>
                  <a:schemeClr val="lt1"/>
                </a:solidFill>
                <a:latin typeface="Arial"/>
                <a:ea typeface="Arial"/>
                <a:cs typeface="Arial"/>
                <a:sym typeface="Arial"/>
              </a:rPr>
              <a:t> </a:t>
            </a:r>
            <a:endParaRPr/>
          </a:p>
        </p:txBody>
      </p:sp>
      <p:sp>
        <p:nvSpPr>
          <p:cNvPr id="927" name="Google Shape;927;p73"/>
          <p:cNvSpPr txBox="1"/>
          <p:nvPr>
            <p:ph idx="4294967295" type="title"/>
          </p:nvPr>
        </p:nvSpPr>
        <p:spPr>
          <a:xfrm>
            <a:off x="1451447" y="373522"/>
            <a:ext cx="6842125" cy="7540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ru-RU" sz="4400"/>
              <a:t>Задача:</a:t>
            </a:r>
            <a:endParaRPr/>
          </a:p>
        </p:txBody>
      </p:sp>
      <p:sp>
        <p:nvSpPr>
          <p:cNvPr id="928" name="Google Shape;928;p73"/>
          <p:cNvSpPr txBox="1"/>
          <p:nvPr>
            <p:ph idx="4294967295" type="body"/>
          </p:nvPr>
        </p:nvSpPr>
        <p:spPr>
          <a:xfrm>
            <a:off x="1483669" y="1512037"/>
            <a:ext cx="7758756" cy="4708525"/>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rgbClr val="CC9900"/>
              </a:buClr>
              <a:buSzPts val="4800"/>
              <a:buChar char="•"/>
            </a:pPr>
            <a:r>
              <a:rPr lang="ru-RU" sz="3200"/>
              <a:t>Разбить страны на группы.</a:t>
            </a:r>
            <a:endParaRPr/>
          </a:p>
          <a:p>
            <a:pPr indent="-51507" lvl="0" marL="356307" rtl="0" algn="l">
              <a:spcBef>
                <a:spcPts val="640"/>
              </a:spcBef>
              <a:spcAft>
                <a:spcPts val="0"/>
              </a:spcAft>
              <a:buClr>
                <a:schemeClr val="dk1"/>
              </a:buClr>
              <a:buSzPts val="4800"/>
              <a:buNone/>
            </a:pPr>
            <a:r>
              <a:t/>
            </a:r>
            <a:endParaRPr sz="3200"/>
          </a:p>
          <a:p>
            <a:pPr indent="-296922" lvl="1" marL="771999" rtl="0" algn="l">
              <a:spcBef>
                <a:spcPts val="557"/>
              </a:spcBef>
              <a:spcAft>
                <a:spcPts val="0"/>
              </a:spcAft>
              <a:buClr>
                <a:srgbClr val="CC9900"/>
              </a:buClr>
              <a:buSzPts val="4176"/>
              <a:buChar char="–"/>
            </a:pPr>
            <a:r>
              <a:rPr lang="ru-RU" sz="2784"/>
              <a:t> Надо ли проводить стандартизацию?</a:t>
            </a:r>
            <a:endParaRPr/>
          </a:p>
          <a:p>
            <a:pPr indent="-51507" lvl="0" marL="356307" rtl="0" algn="l">
              <a:spcBef>
                <a:spcPts val="640"/>
              </a:spcBef>
              <a:spcAft>
                <a:spcPts val="0"/>
              </a:spcAft>
              <a:buClr>
                <a:srgbClr val="CC9900"/>
              </a:buClr>
              <a:buSzPts val="4800"/>
              <a:buNone/>
            </a:pPr>
            <a:r>
              <a:t/>
            </a:r>
            <a:endParaRPr sz="3200"/>
          </a:p>
          <a:p>
            <a:pPr indent="-356307" lvl="0" marL="356307" rtl="0" algn="l">
              <a:spcBef>
                <a:spcPts val="640"/>
              </a:spcBef>
              <a:spcAft>
                <a:spcPts val="0"/>
              </a:spcAft>
              <a:buClr>
                <a:srgbClr val="CC9900"/>
              </a:buClr>
              <a:buSzPts val="4800"/>
              <a:buChar char="•"/>
            </a:pPr>
            <a:r>
              <a:rPr lang="ru-RU" sz="3200"/>
              <a:t>Провести аналитику: как отличаются кластеры?</a:t>
            </a:r>
            <a:endParaRPr/>
          </a:p>
          <a:p>
            <a:pPr indent="-51507" lvl="0" marL="356307" rtl="0" algn="l">
              <a:spcBef>
                <a:spcPts val="640"/>
              </a:spcBef>
              <a:spcAft>
                <a:spcPts val="0"/>
              </a:spcAft>
              <a:buClr>
                <a:srgbClr val="CC9900"/>
              </a:buClr>
              <a:buSzPts val="4800"/>
              <a:buNone/>
            </a:pPr>
            <a:r>
              <a:t/>
            </a:r>
            <a:endParaRPr sz="3200"/>
          </a:p>
        </p:txBody>
      </p:sp>
      <p:sp>
        <p:nvSpPr>
          <p:cNvPr id="929" name="Google Shape;929;p73"/>
          <p:cNvSpPr txBox="1"/>
          <p:nvPr>
            <p:ph idx="12" type="sldNum"/>
          </p:nvPr>
        </p:nvSpPr>
        <p:spPr>
          <a:xfrm>
            <a:off x="8955160" y="6605014"/>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74"/>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35" name="Google Shape;935;p74"/>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36" name="Google Shape;936;p74"/>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937" name="Google Shape;937;p74"/>
          <p:cNvSpPr txBox="1"/>
          <p:nvPr>
            <p:ph idx="4294967295" type="title"/>
          </p:nvPr>
        </p:nvSpPr>
        <p:spPr>
          <a:xfrm>
            <a:off x="1175220" y="421236"/>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Нормализация?</a:t>
            </a:r>
            <a:endParaRPr/>
          </a:p>
        </p:txBody>
      </p:sp>
      <p:sp>
        <p:nvSpPr>
          <p:cNvPr id="938" name="Google Shape;938;p74"/>
          <p:cNvSpPr txBox="1"/>
          <p:nvPr>
            <p:ph idx="4294967295" type="body"/>
          </p:nvPr>
        </p:nvSpPr>
        <p:spPr>
          <a:xfrm>
            <a:off x="895090" y="5591465"/>
            <a:ext cx="8630542" cy="821825"/>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rgbClr val="CC9900"/>
              </a:buClr>
              <a:buSzPts val="3300"/>
              <a:buChar char="•"/>
            </a:pPr>
            <a:r>
              <a:rPr lang="ru-RU" sz="2200"/>
              <a:t>Нормализация обязательна, так как средние значения некоторых переменных отличаются в десятки раз.</a:t>
            </a:r>
            <a:endParaRPr/>
          </a:p>
        </p:txBody>
      </p:sp>
      <p:pic>
        <p:nvPicPr>
          <p:cNvPr id="939" name="Google Shape;939;p74"/>
          <p:cNvPicPr preferRelativeResize="0"/>
          <p:nvPr/>
        </p:nvPicPr>
        <p:blipFill rotWithShape="1">
          <a:blip r:embed="rId3">
            <a:alphaModFix/>
          </a:blip>
          <a:srcRect b="0" l="0" r="0" t="0"/>
          <a:stretch/>
        </p:blipFill>
        <p:spPr>
          <a:xfrm>
            <a:off x="1097941" y="1823526"/>
            <a:ext cx="8171585" cy="3220566"/>
          </a:xfrm>
          <a:prstGeom prst="rect">
            <a:avLst/>
          </a:prstGeom>
          <a:noFill/>
          <a:ln>
            <a:noFill/>
          </a:ln>
        </p:spPr>
      </p:pic>
      <p:sp>
        <p:nvSpPr>
          <p:cNvPr id="940" name="Google Shape;940;p74"/>
          <p:cNvSpPr/>
          <p:nvPr/>
        </p:nvSpPr>
        <p:spPr>
          <a:xfrm>
            <a:off x="917366" y="1309240"/>
            <a:ext cx="893488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B769C"/>
                </a:solidFill>
                <a:latin typeface="Arial"/>
                <a:ea typeface="Arial"/>
                <a:cs typeface="Arial"/>
                <a:sym typeface="Arial"/>
              </a:rPr>
              <a:t>Исходная таблица потребления продуктов в странах Европы (фрагмент):</a:t>
            </a:r>
            <a:endParaRPr sz="2000">
              <a:solidFill>
                <a:schemeClr val="dk1"/>
              </a:solidFill>
              <a:latin typeface="Arial"/>
              <a:ea typeface="Arial"/>
              <a:cs typeface="Arial"/>
              <a:sym typeface="Arial"/>
            </a:endParaRPr>
          </a:p>
        </p:txBody>
      </p:sp>
      <p:sp>
        <p:nvSpPr>
          <p:cNvPr id="941" name="Google Shape;941;p7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8">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75"/>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47" name="Google Shape;947;p75"/>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48" name="Google Shape;948;p75"/>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949" name="Google Shape;949;p75"/>
          <p:cNvSpPr txBox="1"/>
          <p:nvPr>
            <p:ph idx="4294967295" type="title"/>
          </p:nvPr>
        </p:nvSpPr>
        <p:spPr>
          <a:xfrm>
            <a:off x="1323181" y="322263"/>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Нормализация</a:t>
            </a:r>
            <a:endParaRPr/>
          </a:p>
        </p:txBody>
      </p:sp>
      <p:sp>
        <p:nvSpPr>
          <p:cNvPr id="950" name="Google Shape;950;p75"/>
          <p:cNvSpPr txBox="1"/>
          <p:nvPr>
            <p:ph idx="4294967295" type="body"/>
          </p:nvPr>
        </p:nvSpPr>
        <p:spPr>
          <a:xfrm>
            <a:off x="790575" y="1187787"/>
            <a:ext cx="8716187" cy="1007206"/>
          </a:xfrm>
          <a:prstGeom prst="rect">
            <a:avLst/>
          </a:prstGeom>
          <a:noFill/>
          <a:ln>
            <a:noFill/>
          </a:ln>
        </p:spPr>
        <p:txBody>
          <a:bodyPr anchorCtr="0" anchor="t" bIns="45700" lIns="91425" spcFirstLastPara="1" rIns="91425" wrap="square" tIns="45700">
            <a:normAutofit/>
          </a:bodyPr>
          <a:lstStyle/>
          <a:p>
            <a:pPr indent="-356307" lvl="0" marL="356307" rtl="0" algn="l">
              <a:spcBef>
                <a:spcPts val="0"/>
              </a:spcBef>
              <a:spcAft>
                <a:spcPts val="0"/>
              </a:spcAft>
              <a:buClr>
                <a:srgbClr val="CC9900"/>
              </a:buClr>
              <a:buSzPts val="3300"/>
              <a:buChar char="•"/>
            </a:pPr>
            <a:r>
              <a:rPr lang="ru-RU" sz="2200"/>
              <a:t>Стандартизация либо нормализация  обязательна, так как средние значения некоторых переменных отличаются в десятки раз.</a:t>
            </a:r>
            <a:endParaRPr/>
          </a:p>
          <a:p>
            <a:pPr indent="0" lvl="0" marL="0" rtl="0" algn="l">
              <a:spcBef>
                <a:spcPts val="440"/>
              </a:spcBef>
              <a:spcAft>
                <a:spcPts val="0"/>
              </a:spcAft>
              <a:buClr>
                <a:srgbClr val="CC9900"/>
              </a:buClr>
              <a:buSzPts val="3300"/>
              <a:buNone/>
            </a:pPr>
            <a:r>
              <a:t/>
            </a:r>
            <a:endParaRPr sz="2200"/>
          </a:p>
        </p:txBody>
      </p:sp>
      <p:sp>
        <p:nvSpPr>
          <p:cNvPr id="951" name="Google Shape;951;p75"/>
          <p:cNvSpPr/>
          <p:nvPr/>
        </p:nvSpPr>
        <p:spPr>
          <a:xfrm>
            <a:off x="866108" y="2194993"/>
            <a:ext cx="8688505" cy="40934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B769C"/>
                </a:solidFill>
                <a:latin typeface="Arial"/>
                <a:ea typeface="Arial"/>
                <a:cs typeface="Arial"/>
                <a:sym typeface="Arial"/>
              </a:rPr>
              <a:t>#   Стандартизировать надо.</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#protein.02 &lt;- scale(protein.01[,2:10], center = TRUE, scale = TRUE)</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   Вариант 1 - к минимуму 0 и максимуму 1</a:t>
            </a:r>
            <a:endParaRPr/>
          </a:p>
          <a:p>
            <a:pPr indent="0" lvl="0" marL="0" marR="0" rtl="0" algn="l">
              <a:spcBef>
                <a:spcPts val="0"/>
              </a:spcBef>
              <a:spcAft>
                <a:spcPts val="0"/>
              </a:spcAft>
              <a:buNone/>
            </a:pPr>
            <a:r>
              <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   Вариант 2 - к минимуму  и максимуму по датафрейму:</a:t>
            </a:r>
            <a:endParaRPr/>
          </a:p>
          <a:p>
            <a:pPr indent="0" lvl="0" marL="0" marR="0" rtl="0" algn="l">
              <a:spcBef>
                <a:spcPts val="0"/>
              </a:spcBef>
              <a:spcAft>
                <a:spcPts val="0"/>
              </a:spcAft>
              <a:buNone/>
            </a:pPr>
            <a:r>
              <a:rPr lang="ru-RU" sz="2000">
                <a:solidFill>
                  <a:schemeClr val="dk1"/>
                </a:solidFill>
                <a:latin typeface="Arial"/>
                <a:ea typeface="Arial"/>
                <a:cs typeface="Arial"/>
                <a:sym typeface="Arial"/>
              </a:rPr>
              <a:t>protein.02&lt;-protein.01[,-1]   #Исключим колонку "Страна"</a:t>
            </a:r>
            <a:endParaRPr/>
          </a:p>
          <a:p>
            <a:pPr indent="0" lvl="0" marL="0" marR="0" rtl="0" algn="l">
              <a:spcBef>
                <a:spcPts val="0"/>
              </a:spcBef>
              <a:spcAft>
                <a:spcPts val="0"/>
              </a:spcAft>
              <a:buNone/>
            </a:pPr>
            <a:r>
              <a:rPr lang="ru-RU" sz="2000">
                <a:solidFill>
                  <a:schemeClr val="dk1"/>
                </a:solidFill>
                <a:latin typeface="Arial"/>
                <a:ea typeface="Arial"/>
                <a:cs typeface="Arial"/>
                <a:sym typeface="Arial"/>
              </a:rPr>
              <a:t>maxs &lt;- apply(protein.02, 2, max)</a:t>
            </a:r>
            <a:endParaRPr/>
          </a:p>
          <a:p>
            <a:pPr indent="0" lvl="0" marL="0" marR="0" rtl="0" algn="l">
              <a:spcBef>
                <a:spcPts val="0"/>
              </a:spcBef>
              <a:spcAft>
                <a:spcPts val="0"/>
              </a:spcAft>
              <a:buNone/>
            </a:pPr>
            <a:r>
              <a:rPr lang="ru-RU" sz="2000">
                <a:solidFill>
                  <a:schemeClr val="dk1"/>
                </a:solidFill>
                <a:latin typeface="Arial"/>
                <a:ea typeface="Arial"/>
                <a:cs typeface="Arial"/>
                <a:sym typeface="Arial"/>
              </a:rPr>
              <a:t>mins &lt;- apply(protein.02, 2, min)</a:t>
            </a:r>
            <a:endParaRPr/>
          </a:p>
          <a:p>
            <a:pPr indent="0" lvl="0" marL="0" marR="0" rtl="0" algn="l">
              <a:spcBef>
                <a:spcPts val="0"/>
              </a:spcBef>
              <a:spcAft>
                <a:spcPts val="0"/>
              </a:spcAft>
              <a:buNone/>
            </a:pPr>
            <a:r>
              <a:rPr lang="ru-RU" sz="2000">
                <a:solidFill>
                  <a:schemeClr val="dk1"/>
                </a:solidFill>
                <a:latin typeface="Arial"/>
                <a:ea typeface="Arial"/>
                <a:cs typeface="Arial"/>
                <a:sym typeface="Arial"/>
              </a:rPr>
              <a:t>protein.02 &lt;- scale(protein.02, center = mins, scale = maxs - mins)</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#Колонку "Страна« лучше перенести в названия</a:t>
            </a:r>
            <a:endParaRPr/>
          </a:p>
          <a:p>
            <a:pPr indent="0" lvl="0" marL="0" marR="0" rtl="0" algn="l">
              <a:spcBef>
                <a:spcPts val="0"/>
              </a:spcBef>
              <a:spcAft>
                <a:spcPts val="0"/>
              </a:spcAft>
              <a:buNone/>
            </a:pPr>
            <a:r>
              <a:rPr lang="ru-RU" sz="2000">
                <a:solidFill>
                  <a:schemeClr val="dk1"/>
                </a:solidFill>
                <a:latin typeface="Arial"/>
                <a:ea typeface="Arial"/>
                <a:cs typeface="Arial"/>
                <a:sym typeface="Arial"/>
              </a:rPr>
              <a:t>rownames(protein.02)&lt;-protein.02[,1]</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ru-RU" sz="2000">
                <a:solidFill>
                  <a:schemeClr val="dk1"/>
                </a:solidFill>
                <a:latin typeface="Arial"/>
                <a:ea typeface="Arial"/>
                <a:cs typeface="Arial"/>
                <a:sym typeface="Arial"/>
              </a:rPr>
              <a:t>protein.02 &lt;- protein.02[,-1] # убираем названия</a:t>
            </a:r>
            <a:endParaRPr/>
          </a:p>
        </p:txBody>
      </p:sp>
      <p:sp>
        <p:nvSpPr>
          <p:cNvPr id="952" name="Google Shape;952;p75"/>
          <p:cNvSpPr txBox="1"/>
          <p:nvPr>
            <p:ph idx="12" type="sldNum"/>
          </p:nvPr>
        </p:nvSpPr>
        <p:spPr>
          <a:xfrm>
            <a:off x="8882856" y="6605014"/>
            <a:ext cx="880746"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76"/>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58" name="Google Shape;958;p76"/>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59" name="Google Shape;959;p76"/>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960" name="Google Shape;960;p76"/>
          <p:cNvSpPr txBox="1"/>
          <p:nvPr>
            <p:ph idx="4294967295" type="title"/>
          </p:nvPr>
        </p:nvSpPr>
        <p:spPr>
          <a:xfrm>
            <a:off x="1178297" y="314467"/>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Нормализация</a:t>
            </a:r>
            <a:endParaRPr/>
          </a:p>
        </p:txBody>
      </p:sp>
      <p:sp>
        <p:nvSpPr>
          <p:cNvPr id="961" name="Google Shape;961;p76"/>
          <p:cNvSpPr/>
          <p:nvPr/>
        </p:nvSpPr>
        <p:spPr>
          <a:xfrm>
            <a:off x="703724" y="1098291"/>
            <a:ext cx="488691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B769C"/>
                </a:solidFill>
                <a:latin typeface="Arial"/>
                <a:ea typeface="Arial"/>
                <a:cs typeface="Arial"/>
                <a:sym typeface="Arial"/>
              </a:rPr>
              <a:t>Нормализованная таблица (фрагмент):</a:t>
            </a:r>
            <a:endParaRPr sz="2000">
              <a:solidFill>
                <a:schemeClr val="dk1"/>
              </a:solidFill>
              <a:latin typeface="Arial"/>
              <a:ea typeface="Arial"/>
              <a:cs typeface="Arial"/>
              <a:sym typeface="Arial"/>
            </a:endParaRPr>
          </a:p>
        </p:txBody>
      </p:sp>
      <p:sp>
        <p:nvSpPr>
          <p:cNvPr id="962" name="Google Shape;962;p76"/>
          <p:cNvSpPr txBox="1"/>
          <p:nvPr>
            <p:ph idx="12" type="sldNum"/>
          </p:nvPr>
        </p:nvSpPr>
        <p:spPr>
          <a:xfrm>
            <a:off x="9027168" y="6605014"/>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pic>
        <p:nvPicPr>
          <p:cNvPr id="963" name="Google Shape;963;p76"/>
          <p:cNvPicPr preferRelativeResize="0"/>
          <p:nvPr/>
        </p:nvPicPr>
        <p:blipFill rotWithShape="1">
          <a:blip r:embed="rId3">
            <a:alphaModFix/>
          </a:blip>
          <a:srcRect b="0" l="0" r="0" t="0"/>
          <a:stretch/>
        </p:blipFill>
        <p:spPr>
          <a:xfrm>
            <a:off x="557384" y="1659290"/>
            <a:ext cx="9206217" cy="462889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77"/>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69" name="Google Shape;969;p77"/>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70" name="Google Shape;970;p77"/>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971" name="Google Shape;971;p77"/>
          <p:cNvSpPr txBox="1"/>
          <p:nvPr>
            <p:ph idx="4294967295" type="title"/>
          </p:nvPr>
        </p:nvSpPr>
        <p:spPr>
          <a:xfrm>
            <a:off x="1167233" y="390710"/>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Выделение кластеров</a:t>
            </a:r>
            <a:endParaRPr/>
          </a:p>
        </p:txBody>
      </p:sp>
      <p:sp>
        <p:nvSpPr>
          <p:cNvPr id="972" name="Google Shape;972;p77"/>
          <p:cNvSpPr/>
          <p:nvPr/>
        </p:nvSpPr>
        <p:spPr>
          <a:xfrm>
            <a:off x="707211" y="1102519"/>
            <a:ext cx="933308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B769C"/>
                </a:solidFill>
                <a:latin typeface="Arial"/>
                <a:ea typeface="Arial"/>
                <a:cs typeface="Arial"/>
                <a:sym typeface="Arial"/>
              </a:rPr>
              <a:t>#  предварительная оценка числа кластеров – 4 метода (подробно описаны в ЛР 6.1.)</a:t>
            </a:r>
            <a:endParaRPr/>
          </a:p>
        </p:txBody>
      </p:sp>
      <p:sp>
        <p:nvSpPr>
          <p:cNvPr id="973" name="Google Shape;973;p77"/>
          <p:cNvSpPr txBox="1"/>
          <p:nvPr>
            <p:ph idx="12" type="sldNum"/>
          </p:nvPr>
        </p:nvSpPr>
        <p:spPr>
          <a:xfrm>
            <a:off x="9051316" y="6605014"/>
            <a:ext cx="712285"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pic>
        <p:nvPicPr>
          <p:cNvPr id="974" name="Google Shape;974;p77"/>
          <p:cNvPicPr preferRelativeResize="0"/>
          <p:nvPr/>
        </p:nvPicPr>
        <p:blipFill rotWithShape="1">
          <a:blip r:embed="rId3">
            <a:alphaModFix/>
          </a:blip>
          <a:srcRect b="0" l="0" r="0" t="0"/>
          <a:stretch/>
        </p:blipFill>
        <p:spPr>
          <a:xfrm>
            <a:off x="451366" y="2209545"/>
            <a:ext cx="3149948" cy="2102009"/>
          </a:xfrm>
          <a:prstGeom prst="rect">
            <a:avLst/>
          </a:prstGeom>
          <a:noFill/>
          <a:ln>
            <a:noFill/>
          </a:ln>
        </p:spPr>
      </p:pic>
      <p:sp>
        <p:nvSpPr>
          <p:cNvPr id="975" name="Google Shape;975;p77"/>
          <p:cNvSpPr txBox="1"/>
          <p:nvPr/>
        </p:nvSpPr>
        <p:spPr>
          <a:xfrm>
            <a:off x="860018" y="4398121"/>
            <a:ext cx="220985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Метод Локтя </a:t>
            </a:r>
            <a:endParaRPr/>
          </a:p>
        </p:txBody>
      </p:sp>
      <p:pic>
        <p:nvPicPr>
          <p:cNvPr id="976" name="Google Shape;976;p77"/>
          <p:cNvPicPr preferRelativeResize="0"/>
          <p:nvPr/>
        </p:nvPicPr>
        <p:blipFill rotWithShape="1">
          <a:blip r:embed="rId4">
            <a:alphaModFix/>
          </a:blip>
          <a:srcRect b="0" l="0" r="0" t="0"/>
          <a:stretch/>
        </p:blipFill>
        <p:spPr>
          <a:xfrm>
            <a:off x="3577561" y="2222349"/>
            <a:ext cx="3050915" cy="2102009"/>
          </a:xfrm>
          <a:prstGeom prst="rect">
            <a:avLst/>
          </a:prstGeom>
          <a:noFill/>
          <a:ln>
            <a:noFill/>
          </a:ln>
        </p:spPr>
      </p:pic>
      <p:sp>
        <p:nvSpPr>
          <p:cNvPr id="977" name="Google Shape;977;p77"/>
          <p:cNvSpPr txBox="1"/>
          <p:nvPr/>
        </p:nvSpPr>
        <p:spPr>
          <a:xfrm>
            <a:off x="3878599" y="4398121"/>
            <a:ext cx="35592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Метод Статистики разрывов</a:t>
            </a:r>
            <a:endParaRPr/>
          </a:p>
        </p:txBody>
      </p:sp>
      <p:sp>
        <p:nvSpPr>
          <p:cNvPr id="978" name="Google Shape;978;p77"/>
          <p:cNvSpPr txBox="1"/>
          <p:nvPr/>
        </p:nvSpPr>
        <p:spPr>
          <a:xfrm>
            <a:off x="7680784" y="4394328"/>
            <a:ext cx="22098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Метод Силуэта</a:t>
            </a:r>
            <a:endParaRPr/>
          </a:p>
        </p:txBody>
      </p:sp>
      <p:pic>
        <p:nvPicPr>
          <p:cNvPr id="979" name="Google Shape;979;p77"/>
          <p:cNvPicPr preferRelativeResize="0"/>
          <p:nvPr/>
        </p:nvPicPr>
        <p:blipFill rotWithShape="1">
          <a:blip r:embed="rId5">
            <a:alphaModFix/>
          </a:blip>
          <a:srcRect b="0" l="0" r="0" t="0"/>
          <a:stretch/>
        </p:blipFill>
        <p:spPr>
          <a:xfrm>
            <a:off x="6843498" y="2231899"/>
            <a:ext cx="3077164" cy="2079655"/>
          </a:xfrm>
          <a:prstGeom prst="rect">
            <a:avLst/>
          </a:prstGeom>
          <a:noFill/>
          <a:ln>
            <a:noFill/>
          </a:ln>
        </p:spPr>
      </p:pic>
      <p:pic>
        <p:nvPicPr>
          <p:cNvPr id="980" name="Google Shape;980;p77"/>
          <p:cNvPicPr preferRelativeResize="0"/>
          <p:nvPr/>
        </p:nvPicPr>
        <p:blipFill rotWithShape="1">
          <a:blip r:embed="rId6">
            <a:alphaModFix/>
          </a:blip>
          <a:srcRect b="0" l="0" r="0" t="0"/>
          <a:stretch/>
        </p:blipFill>
        <p:spPr>
          <a:xfrm>
            <a:off x="1909087" y="4924101"/>
            <a:ext cx="3050915" cy="2094840"/>
          </a:xfrm>
          <a:prstGeom prst="rect">
            <a:avLst/>
          </a:prstGeom>
          <a:noFill/>
          <a:ln>
            <a:noFill/>
          </a:ln>
        </p:spPr>
      </p:pic>
      <p:sp>
        <p:nvSpPr>
          <p:cNvPr id="981" name="Google Shape;981;p77"/>
          <p:cNvSpPr txBox="1"/>
          <p:nvPr/>
        </p:nvSpPr>
        <p:spPr>
          <a:xfrm>
            <a:off x="315402" y="4931849"/>
            <a:ext cx="1521737"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Алгоритм на основе консенсуса</a:t>
            </a:r>
            <a:endParaRPr/>
          </a:p>
        </p:txBody>
      </p:sp>
      <p:sp>
        <p:nvSpPr>
          <p:cNvPr id="982" name="Google Shape;982;p77"/>
          <p:cNvSpPr txBox="1"/>
          <p:nvPr/>
        </p:nvSpPr>
        <p:spPr>
          <a:xfrm>
            <a:off x="5326480" y="5211265"/>
            <a:ext cx="443712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В нашем случае ни один метод не дал приемлемого значения: пищевые предпочтения могут совпадать, кластеризация этого не учитывает.</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78"/>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88" name="Google Shape;988;p78"/>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989" name="Google Shape;989;p78"/>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990" name="Google Shape;990;p78"/>
          <p:cNvSpPr txBox="1"/>
          <p:nvPr>
            <p:ph idx="4294967295" type="title"/>
          </p:nvPr>
        </p:nvSpPr>
        <p:spPr>
          <a:xfrm>
            <a:off x="1167233" y="390710"/>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Выделение кластеров</a:t>
            </a:r>
            <a:endParaRPr/>
          </a:p>
        </p:txBody>
      </p:sp>
      <p:sp>
        <p:nvSpPr>
          <p:cNvPr id="991" name="Google Shape;991;p78"/>
          <p:cNvSpPr/>
          <p:nvPr/>
        </p:nvSpPr>
        <p:spPr>
          <a:xfrm>
            <a:off x="845967" y="1474912"/>
            <a:ext cx="9333083"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B769C"/>
                </a:solidFill>
                <a:latin typeface="Arial"/>
                <a:ea typeface="Arial"/>
                <a:cs typeface="Arial"/>
                <a:sym typeface="Arial"/>
              </a:rPr>
              <a:t>#  Создаем матрицу попарных расстояний (по умолчанию - Евклидово расстояние)</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dist.protein &lt;- dist(protein.02 [,2:10])</a:t>
            </a:r>
            <a:endParaRPr/>
          </a:p>
          <a:p>
            <a:pPr indent="0" lvl="0" marL="0" marR="0" rtl="0" algn="l">
              <a:spcBef>
                <a:spcPts val="0"/>
              </a:spcBef>
              <a:spcAft>
                <a:spcPts val="0"/>
              </a:spcAft>
              <a:buNone/>
            </a:pPr>
            <a:r>
              <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  Проводим кластерный анализ, </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  результаты записываем в список clust.protein</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 hclust ожидает матрицу расстояния, а не исходные данные.</a:t>
            </a:r>
            <a:endParaRPr/>
          </a:p>
          <a:p>
            <a:pPr indent="0" lvl="0" marL="0" marR="0" rtl="0" algn="l">
              <a:spcBef>
                <a:spcPts val="0"/>
              </a:spcBef>
              <a:spcAft>
                <a:spcPts val="0"/>
              </a:spcAft>
              <a:buNone/>
            </a:pPr>
            <a:r>
              <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clust.protein &lt;- hclust(dist.protein, "ward.D") # кластеризация по методу Варда</a:t>
            </a:r>
            <a:endParaRPr sz="2000">
              <a:solidFill>
                <a:srgbClr val="0B769C"/>
              </a:solidFill>
              <a:latin typeface="Arial"/>
              <a:ea typeface="Arial"/>
              <a:cs typeface="Arial"/>
              <a:sym typeface="Arial"/>
            </a:endParaRPr>
          </a:p>
          <a:p>
            <a:pPr indent="0" lvl="0" marL="0" marR="0" rtl="0" algn="l">
              <a:spcBef>
                <a:spcPts val="0"/>
              </a:spcBef>
              <a:spcAft>
                <a:spcPts val="0"/>
              </a:spcAft>
              <a:buNone/>
            </a:pPr>
            <a:r>
              <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  Смотрим краткую сводку результатов анализа</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clust.protein </a:t>
            </a:r>
            <a:endParaRPr/>
          </a:p>
        </p:txBody>
      </p:sp>
      <p:sp>
        <p:nvSpPr>
          <p:cNvPr id="992" name="Google Shape;992;p78"/>
          <p:cNvSpPr/>
          <p:nvPr/>
        </p:nvSpPr>
        <p:spPr>
          <a:xfrm>
            <a:off x="870116" y="5346838"/>
            <a:ext cx="8181201" cy="1231106"/>
          </a:xfrm>
          <a:prstGeom prst="rect">
            <a:avLst/>
          </a:prstGeom>
          <a:solidFill>
            <a:srgbClr val="FFFFFF"/>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Droid Sans Mono"/>
              <a:buNone/>
            </a:pPr>
            <a:r>
              <a:rPr b="0" i="0" lang="ru-RU" sz="2000" u="none" cap="none" strike="noStrike">
                <a:solidFill>
                  <a:srgbClr val="000000"/>
                </a:solidFill>
                <a:latin typeface="Droid Sans Mono"/>
                <a:ea typeface="Droid Sans Mono"/>
                <a:cs typeface="Droid Sans Mono"/>
                <a:sym typeface="Droid Sans Mono"/>
              </a:rPr>
              <a:t>Call: hclust(d = dist.protein, method = "ward.D") Cluster method : ward.D </a:t>
            </a:r>
            <a:endParaRPr/>
          </a:p>
          <a:p>
            <a:pPr indent="0" lvl="0" marL="0" marR="0" rtl="0" algn="l">
              <a:lnSpc>
                <a:spcPct val="100000"/>
              </a:lnSpc>
              <a:spcBef>
                <a:spcPts val="0"/>
              </a:spcBef>
              <a:spcAft>
                <a:spcPts val="0"/>
              </a:spcAft>
              <a:buClr>
                <a:srgbClr val="000000"/>
              </a:buClr>
              <a:buSzPts val="2000"/>
              <a:buFont typeface="Droid Sans Mono"/>
              <a:buNone/>
            </a:pPr>
            <a:r>
              <a:rPr b="0" i="0" lang="ru-RU" sz="2000" u="none" cap="none" strike="noStrike">
                <a:solidFill>
                  <a:srgbClr val="000000"/>
                </a:solidFill>
                <a:latin typeface="Droid Sans Mono"/>
                <a:ea typeface="Droid Sans Mono"/>
                <a:cs typeface="Droid Sans Mono"/>
                <a:sym typeface="Droid Sans Mono"/>
              </a:rPr>
              <a:t>Distance : euclidean </a:t>
            </a:r>
            <a:endParaRPr/>
          </a:p>
          <a:p>
            <a:pPr indent="0" lvl="0" marL="0" marR="0" rtl="0" algn="l">
              <a:lnSpc>
                <a:spcPct val="100000"/>
              </a:lnSpc>
              <a:spcBef>
                <a:spcPts val="0"/>
              </a:spcBef>
              <a:spcAft>
                <a:spcPts val="0"/>
              </a:spcAft>
              <a:buClr>
                <a:srgbClr val="000000"/>
              </a:buClr>
              <a:buSzPts val="2000"/>
              <a:buFont typeface="Droid Sans Mono"/>
              <a:buNone/>
            </a:pPr>
            <a:r>
              <a:rPr b="0" i="0" lang="ru-RU" sz="2000" u="none" cap="none" strike="noStrike">
                <a:solidFill>
                  <a:srgbClr val="000000"/>
                </a:solidFill>
                <a:latin typeface="Droid Sans Mono"/>
                <a:ea typeface="Droid Sans Mono"/>
                <a:cs typeface="Droid Sans Mono"/>
                <a:sym typeface="Droid Sans Mono"/>
              </a:rPr>
              <a:t>Number of objects: 25 </a:t>
            </a:r>
            <a:endParaRPr b="0" i="0" sz="2000" u="none" cap="none" strike="noStrike">
              <a:solidFill>
                <a:schemeClr val="dk1"/>
              </a:solidFill>
              <a:latin typeface="Arial"/>
              <a:ea typeface="Arial"/>
              <a:cs typeface="Arial"/>
              <a:sym typeface="Arial"/>
            </a:endParaRPr>
          </a:p>
        </p:txBody>
      </p:sp>
      <p:sp>
        <p:nvSpPr>
          <p:cNvPr id="993" name="Google Shape;993;p78"/>
          <p:cNvSpPr txBox="1"/>
          <p:nvPr>
            <p:ph idx="12" type="sldNum"/>
          </p:nvPr>
        </p:nvSpPr>
        <p:spPr>
          <a:xfrm>
            <a:off x="9051316" y="6605014"/>
            <a:ext cx="712285"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994" name="Google Shape;994;p78"/>
          <p:cNvSpPr/>
          <p:nvPr/>
        </p:nvSpPr>
        <p:spPr>
          <a:xfrm>
            <a:off x="746249" y="4859289"/>
            <a:ext cx="7980659" cy="1745726"/>
          </a:xfrm>
          <a:prstGeom prst="rect">
            <a:avLst/>
          </a:prstGeom>
          <a:no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79"/>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00" name="Google Shape;1000;p79"/>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01" name="Google Shape;1001;p79"/>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1002" name="Google Shape;1002;p79"/>
          <p:cNvSpPr txBox="1"/>
          <p:nvPr>
            <p:ph idx="4294967295" type="title"/>
          </p:nvPr>
        </p:nvSpPr>
        <p:spPr>
          <a:xfrm>
            <a:off x="1358900" y="349126"/>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Построение дендрограммы</a:t>
            </a:r>
            <a:endParaRPr/>
          </a:p>
        </p:txBody>
      </p:sp>
      <p:sp>
        <p:nvSpPr>
          <p:cNvPr id="1003" name="Google Shape;1003;p79"/>
          <p:cNvSpPr/>
          <p:nvPr/>
        </p:nvSpPr>
        <p:spPr>
          <a:xfrm>
            <a:off x="926599" y="1179848"/>
            <a:ext cx="8280152"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B769C"/>
                </a:solidFill>
                <a:latin typeface="Arial"/>
                <a:ea typeface="Arial"/>
                <a:cs typeface="Arial"/>
                <a:sym typeface="Arial"/>
              </a:rPr>
              <a:t>#  Шаг 4.  Построение дендрограммы</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 глядя на дендрограмму, предполагаем 5 кластеров</a:t>
            </a:r>
            <a:endParaRPr/>
          </a:p>
          <a:p>
            <a:pPr indent="0" lvl="0" marL="0" marR="0" rtl="0" algn="l">
              <a:spcBef>
                <a:spcPts val="0"/>
              </a:spcBef>
              <a:spcAft>
                <a:spcPts val="0"/>
              </a:spcAft>
              <a:buNone/>
            </a:pPr>
            <a:r>
              <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plot(clust.protein, labels = protein.02$Countries)</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rect.hclust(clust.protein, k=5, border="red")</a:t>
            </a:r>
            <a:endParaRPr/>
          </a:p>
        </p:txBody>
      </p:sp>
      <p:pic>
        <p:nvPicPr>
          <p:cNvPr id="1004" name="Google Shape;1004;p79"/>
          <p:cNvPicPr preferRelativeResize="0"/>
          <p:nvPr/>
        </p:nvPicPr>
        <p:blipFill rotWithShape="1">
          <a:blip r:embed="rId3">
            <a:alphaModFix/>
          </a:blip>
          <a:srcRect b="0" l="0" r="0" t="0"/>
          <a:stretch/>
        </p:blipFill>
        <p:spPr>
          <a:xfrm>
            <a:off x="1016499" y="2922271"/>
            <a:ext cx="8244478" cy="3697523"/>
          </a:xfrm>
          <a:prstGeom prst="rect">
            <a:avLst/>
          </a:prstGeom>
          <a:noFill/>
          <a:ln>
            <a:noFill/>
          </a:ln>
        </p:spPr>
      </p:pic>
      <p:sp>
        <p:nvSpPr>
          <p:cNvPr id="1005" name="Google Shape;1005;p79"/>
          <p:cNvSpPr txBox="1"/>
          <p:nvPr>
            <p:ph idx="12" type="sldNum"/>
          </p:nvPr>
        </p:nvSpPr>
        <p:spPr>
          <a:xfrm>
            <a:off x="8739136" y="6605014"/>
            <a:ext cx="1024465"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80"/>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11" name="Google Shape;1011;p80"/>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12" name="Google Shape;1012;p80"/>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1013" name="Google Shape;1013;p80"/>
          <p:cNvSpPr txBox="1"/>
          <p:nvPr>
            <p:ph idx="4294967295" type="title"/>
          </p:nvPr>
        </p:nvSpPr>
        <p:spPr>
          <a:xfrm>
            <a:off x="1268787" y="349126"/>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Построение дендрограммы</a:t>
            </a:r>
            <a:endParaRPr/>
          </a:p>
        </p:txBody>
      </p:sp>
      <p:sp>
        <p:nvSpPr>
          <p:cNvPr id="1014" name="Google Shape;1014;p80"/>
          <p:cNvSpPr/>
          <p:nvPr/>
        </p:nvSpPr>
        <p:spPr>
          <a:xfrm>
            <a:off x="962273" y="1402904"/>
            <a:ext cx="8280152"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B769C"/>
                </a:solidFill>
                <a:latin typeface="Arial"/>
                <a:ea typeface="Arial"/>
                <a:cs typeface="Arial"/>
                <a:sym typeface="Arial"/>
              </a:rPr>
              <a:t>#  Шаг 4.  Построение дендрограммы</a:t>
            </a:r>
            <a:endParaRPr/>
          </a:p>
          <a:p>
            <a:pPr indent="0" lvl="0" marL="0" marR="0" rtl="0" algn="l">
              <a:spcBef>
                <a:spcPts val="0"/>
              </a:spcBef>
              <a:spcAft>
                <a:spcPts val="0"/>
              </a:spcAft>
              <a:buNone/>
            </a:pPr>
            <a:r>
              <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plot(clust.protein, labels = protein.02$Countries)</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rect.hclust(clust.protein, k=5, border="red")</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abline(h = 1.5, col = "blue", lwd='3') # h - horizontal line, col - color</a:t>
            </a:r>
            <a:endParaRPr sz="2000">
              <a:solidFill>
                <a:srgbClr val="0B769C"/>
              </a:solidFill>
              <a:latin typeface="Arial"/>
              <a:ea typeface="Arial"/>
              <a:cs typeface="Arial"/>
              <a:sym typeface="Arial"/>
            </a:endParaRPr>
          </a:p>
        </p:txBody>
      </p:sp>
      <p:pic>
        <p:nvPicPr>
          <p:cNvPr id="1015" name="Google Shape;1015;p80"/>
          <p:cNvPicPr preferRelativeResize="0"/>
          <p:nvPr/>
        </p:nvPicPr>
        <p:blipFill rotWithShape="1">
          <a:blip r:embed="rId3">
            <a:alphaModFix/>
          </a:blip>
          <a:srcRect b="0" l="0" r="0" t="0"/>
          <a:stretch/>
        </p:blipFill>
        <p:spPr>
          <a:xfrm>
            <a:off x="963889" y="3101385"/>
            <a:ext cx="7896225" cy="3562350"/>
          </a:xfrm>
          <a:prstGeom prst="rect">
            <a:avLst/>
          </a:prstGeom>
          <a:noFill/>
          <a:ln>
            <a:noFill/>
          </a:ln>
        </p:spPr>
      </p:pic>
      <p:sp>
        <p:nvSpPr>
          <p:cNvPr id="1016" name="Google Shape;1016;p80"/>
          <p:cNvSpPr txBox="1"/>
          <p:nvPr>
            <p:ph idx="12" type="sldNum"/>
          </p:nvPr>
        </p:nvSpPr>
        <p:spPr>
          <a:xfrm>
            <a:off x="8860114" y="6605014"/>
            <a:ext cx="90348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1017" name="Google Shape;1017;p80"/>
          <p:cNvSpPr/>
          <p:nvPr/>
        </p:nvSpPr>
        <p:spPr>
          <a:xfrm>
            <a:off x="962273" y="2699048"/>
            <a:ext cx="7560840" cy="335072"/>
          </a:xfrm>
          <a:prstGeom prst="rect">
            <a:avLst/>
          </a:prstGeom>
          <a:noFill/>
          <a:ln cap="flat" cmpd="sng" w="25400">
            <a:solidFill>
              <a:srgbClr val="384B9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81"/>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23" name="Google Shape;1023;p81"/>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24" name="Google Shape;1024;p81"/>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1025" name="Google Shape;1025;p81"/>
          <p:cNvSpPr txBox="1"/>
          <p:nvPr>
            <p:ph idx="4294967295" type="title"/>
          </p:nvPr>
        </p:nvSpPr>
        <p:spPr>
          <a:xfrm>
            <a:off x="1178297" y="344000"/>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Построение дендрограммы</a:t>
            </a:r>
            <a:endParaRPr/>
          </a:p>
        </p:txBody>
      </p:sp>
      <p:sp>
        <p:nvSpPr>
          <p:cNvPr id="1026" name="Google Shape;1026;p81"/>
          <p:cNvSpPr/>
          <p:nvPr/>
        </p:nvSpPr>
        <p:spPr>
          <a:xfrm>
            <a:off x="962273" y="1402904"/>
            <a:ext cx="828015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chemeClr val="dk1"/>
                </a:solidFill>
                <a:latin typeface="Arial"/>
                <a:ea typeface="Arial"/>
                <a:cs typeface="Arial"/>
                <a:sym typeface="Arial"/>
              </a:rPr>
              <a:t>Как проверить, нумерует ли R кластера в порядке их расположения слева направо?</a:t>
            </a:r>
            <a:endParaRPr/>
          </a:p>
        </p:txBody>
      </p:sp>
      <p:sp>
        <p:nvSpPr>
          <p:cNvPr id="1027" name="Google Shape;1027;p81"/>
          <p:cNvSpPr/>
          <p:nvPr/>
        </p:nvSpPr>
        <p:spPr>
          <a:xfrm>
            <a:off x="457770" y="2318622"/>
            <a:ext cx="9360918"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B769C"/>
                </a:solidFill>
                <a:latin typeface="Arial"/>
                <a:ea typeface="Arial"/>
                <a:cs typeface="Arial"/>
                <a:sym typeface="Arial"/>
              </a:rPr>
              <a:t>#  Разделим страны на 5 кластеров</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  Вектор groups содержит номер кластера, в который попал </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   классифицируемый объект </a:t>
            </a:r>
            <a:endParaRPr sz="2000">
              <a:solidFill>
                <a:srgbClr val="0B769C"/>
              </a:solidFill>
              <a:latin typeface="Arial"/>
              <a:ea typeface="Arial"/>
              <a:cs typeface="Arial"/>
              <a:sym typeface="Arial"/>
            </a:endParaRPr>
          </a:p>
          <a:p>
            <a:pPr indent="0" lvl="0" marL="0" marR="0" rtl="0" algn="l">
              <a:spcBef>
                <a:spcPts val="0"/>
              </a:spcBef>
              <a:spcAft>
                <a:spcPts val="0"/>
              </a:spcAft>
              <a:buNone/>
            </a:pPr>
            <a:r>
              <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 Разрезает дерево, например, полученное в результате hclust, на несколько</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 групп путем указания желаемого количества групп или высоты среза</a:t>
            </a:r>
            <a:endParaRPr sz="2000">
              <a:solidFill>
                <a:srgbClr val="0B769C"/>
              </a:solidFill>
              <a:latin typeface="Arial"/>
              <a:ea typeface="Arial"/>
              <a:cs typeface="Arial"/>
              <a:sym typeface="Arial"/>
            </a:endParaRPr>
          </a:p>
          <a:p>
            <a:pPr indent="0" lvl="0" marL="0" marR="0" rtl="0" algn="l">
              <a:spcBef>
                <a:spcPts val="0"/>
              </a:spcBef>
              <a:spcAft>
                <a:spcPts val="0"/>
              </a:spcAft>
              <a:buNone/>
            </a:pPr>
            <a:r>
              <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groups &lt;- cutree(clust.protein, k=5) </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groups</a:t>
            </a:r>
            <a:endParaRPr sz="2000">
              <a:solidFill>
                <a:srgbClr val="0B769C"/>
              </a:solidFill>
              <a:latin typeface="Arial"/>
              <a:ea typeface="Arial"/>
              <a:cs typeface="Arial"/>
              <a:sym typeface="Arial"/>
            </a:endParaRPr>
          </a:p>
        </p:txBody>
      </p:sp>
      <p:pic>
        <p:nvPicPr>
          <p:cNvPr id="1028" name="Google Shape;1028;p81"/>
          <p:cNvPicPr preferRelativeResize="0"/>
          <p:nvPr/>
        </p:nvPicPr>
        <p:blipFill rotWithShape="1">
          <a:blip r:embed="rId3">
            <a:alphaModFix/>
          </a:blip>
          <a:srcRect b="0" l="0" r="0" t="0"/>
          <a:stretch/>
        </p:blipFill>
        <p:spPr>
          <a:xfrm>
            <a:off x="861894" y="5608266"/>
            <a:ext cx="8553687" cy="650824"/>
          </a:xfrm>
          <a:prstGeom prst="rect">
            <a:avLst/>
          </a:prstGeom>
          <a:noFill/>
          <a:ln>
            <a:noFill/>
          </a:ln>
        </p:spPr>
      </p:pic>
      <p:sp>
        <p:nvSpPr>
          <p:cNvPr id="1029" name="Google Shape;1029;p81"/>
          <p:cNvSpPr txBox="1"/>
          <p:nvPr>
            <p:ph idx="12" type="sldNum"/>
          </p:nvPr>
        </p:nvSpPr>
        <p:spPr>
          <a:xfrm>
            <a:off x="8955160" y="6605014"/>
            <a:ext cx="808441"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82"/>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35" name="Google Shape;1035;p82"/>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36" name="Google Shape;1036;p82"/>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1037" name="Google Shape;1037;p82"/>
          <p:cNvSpPr txBox="1"/>
          <p:nvPr>
            <p:ph idx="4294967295" type="title"/>
          </p:nvPr>
        </p:nvSpPr>
        <p:spPr>
          <a:xfrm>
            <a:off x="1538337" y="312425"/>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Построение дендрограммы</a:t>
            </a:r>
            <a:endParaRPr/>
          </a:p>
        </p:txBody>
      </p:sp>
      <p:sp>
        <p:nvSpPr>
          <p:cNvPr id="1038" name="Google Shape;1038;p82"/>
          <p:cNvSpPr/>
          <p:nvPr/>
        </p:nvSpPr>
        <p:spPr>
          <a:xfrm>
            <a:off x="944852" y="1245729"/>
            <a:ext cx="828015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chemeClr val="dk1"/>
                </a:solidFill>
                <a:latin typeface="Arial"/>
                <a:ea typeface="Arial"/>
                <a:cs typeface="Arial"/>
                <a:sym typeface="Arial"/>
              </a:rPr>
              <a:t>Как проверить, нумерует ли R кластера в порядке их расположения слева направо?</a:t>
            </a:r>
            <a:endParaRPr/>
          </a:p>
        </p:txBody>
      </p:sp>
      <p:sp>
        <p:nvSpPr>
          <p:cNvPr id="1039" name="Google Shape;1039;p82"/>
          <p:cNvSpPr/>
          <p:nvPr/>
        </p:nvSpPr>
        <p:spPr>
          <a:xfrm>
            <a:off x="935409" y="2110196"/>
            <a:ext cx="8451799"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B769C"/>
                </a:solidFill>
                <a:latin typeface="Arial"/>
                <a:ea typeface="Arial"/>
                <a:cs typeface="Arial"/>
                <a:sym typeface="Arial"/>
              </a:rPr>
              <a:t>#  Выведем странны соответственно сформированным кластерам </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protein.01[groups==1, 1]</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protein.01[groups==2, 1]</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protein.01[groups==3, 1]</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protein.01[groups==4, 1]</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protein.01[groups==5, 1]</a:t>
            </a:r>
            <a:endParaRPr/>
          </a:p>
        </p:txBody>
      </p:sp>
      <p:sp>
        <p:nvSpPr>
          <p:cNvPr id="1040" name="Google Shape;1040;p82"/>
          <p:cNvSpPr/>
          <p:nvPr/>
        </p:nvSpPr>
        <p:spPr>
          <a:xfrm>
            <a:off x="645514" y="4528320"/>
            <a:ext cx="8741694" cy="1723549"/>
          </a:xfrm>
          <a:prstGeom prst="rect">
            <a:avLst/>
          </a:prstGeom>
          <a:solidFill>
            <a:srgbClr val="FFFFFF"/>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FF"/>
              </a:buClr>
              <a:buSzPts val="1600"/>
              <a:buFont typeface="Droid Sans Mono"/>
              <a:buNone/>
            </a:pPr>
            <a:r>
              <a:rPr b="0" i="0" lang="ru-RU" sz="1600" u="none" cap="none" strike="noStrike">
                <a:solidFill>
                  <a:srgbClr val="0000FF"/>
                </a:solidFill>
                <a:latin typeface="Droid Sans Mono"/>
                <a:ea typeface="Droid Sans Mono"/>
                <a:cs typeface="Droid Sans Mono"/>
                <a:sym typeface="Droid Sans Mono"/>
              </a:rPr>
              <a:t>&gt; protein.01[groups==1, 1] </a:t>
            </a:r>
            <a:r>
              <a:rPr b="0" i="0" lang="ru-RU" sz="1600" u="none" cap="none" strike="noStrike">
                <a:solidFill>
                  <a:srgbClr val="000000"/>
                </a:solidFill>
                <a:latin typeface="Droid Sans Mono"/>
                <a:ea typeface="Droid Sans Mono"/>
                <a:cs typeface="Droid Sans Mono"/>
                <a:sym typeface="Droid Sans Mono"/>
              </a:rPr>
              <a:t>[1] Albania Bulgaria Romania Yugoslavia </a:t>
            </a:r>
            <a:endParaRPr/>
          </a:p>
          <a:p>
            <a:pPr indent="0" lvl="0" marL="0" marR="0" rtl="0" algn="l">
              <a:lnSpc>
                <a:spcPct val="100000"/>
              </a:lnSpc>
              <a:spcBef>
                <a:spcPts val="0"/>
              </a:spcBef>
              <a:spcAft>
                <a:spcPts val="0"/>
              </a:spcAft>
              <a:buClr>
                <a:srgbClr val="0000FF"/>
              </a:buClr>
              <a:buSzPts val="1600"/>
              <a:buFont typeface="Droid Sans Mono"/>
              <a:buNone/>
            </a:pPr>
            <a:r>
              <a:rPr b="0" i="0" lang="ru-RU" sz="1600" u="none" cap="none" strike="noStrike">
                <a:solidFill>
                  <a:srgbClr val="0000FF"/>
                </a:solidFill>
                <a:latin typeface="Droid Sans Mono"/>
                <a:ea typeface="Droid Sans Mono"/>
                <a:cs typeface="Droid Sans Mono"/>
                <a:sym typeface="Droid Sans Mono"/>
              </a:rPr>
              <a:t>&gt; protein.01[groups==2, 1] </a:t>
            </a:r>
            <a:r>
              <a:rPr b="0" i="0" lang="ru-RU" sz="1600" u="none" cap="none" strike="noStrike">
                <a:solidFill>
                  <a:srgbClr val="000000"/>
                </a:solidFill>
                <a:latin typeface="Droid Sans Mono"/>
                <a:ea typeface="Droid Sans Mono"/>
                <a:cs typeface="Droid Sans Mono"/>
                <a:sym typeface="Droid Sans Mono"/>
              </a:rPr>
              <a:t>[1] Austria Czechoslovakia E_Germany Hungary Netherlands Poland USSR </a:t>
            </a:r>
            <a:endParaRPr/>
          </a:p>
          <a:p>
            <a:pPr indent="0" lvl="0" marL="0" marR="0" rtl="0" algn="l">
              <a:lnSpc>
                <a:spcPct val="100000"/>
              </a:lnSpc>
              <a:spcBef>
                <a:spcPts val="0"/>
              </a:spcBef>
              <a:spcAft>
                <a:spcPts val="0"/>
              </a:spcAft>
              <a:buClr>
                <a:srgbClr val="0000FF"/>
              </a:buClr>
              <a:buSzPts val="1600"/>
              <a:buFont typeface="Droid Sans Mono"/>
              <a:buNone/>
            </a:pPr>
            <a:r>
              <a:rPr b="0" i="0" lang="ru-RU" sz="1600" u="none" cap="none" strike="noStrike">
                <a:solidFill>
                  <a:srgbClr val="0000FF"/>
                </a:solidFill>
                <a:latin typeface="Droid Sans Mono"/>
                <a:ea typeface="Droid Sans Mono"/>
                <a:cs typeface="Droid Sans Mono"/>
                <a:sym typeface="Droid Sans Mono"/>
              </a:rPr>
              <a:t>&gt; protein.01[groups==3, 1] </a:t>
            </a:r>
            <a:r>
              <a:rPr b="0" i="0" lang="ru-RU" sz="1600" u="none" cap="none" strike="noStrike">
                <a:solidFill>
                  <a:srgbClr val="000000"/>
                </a:solidFill>
                <a:latin typeface="Droid Sans Mono"/>
                <a:ea typeface="Droid Sans Mono"/>
                <a:cs typeface="Droid Sans Mono"/>
                <a:sym typeface="Droid Sans Mono"/>
              </a:rPr>
              <a:t>[1] Belgium France Ireland Switzerland UK W_Germany </a:t>
            </a:r>
            <a:endParaRPr/>
          </a:p>
          <a:p>
            <a:pPr indent="0" lvl="0" marL="0" marR="0" rtl="0" algn="l">
              <a:lnSpc>
                <a:spcPct val="100000"/>
              </a:lnSpc>
              <a:spcBef>
                <a:spcPts val="0"/>
              </a:spcBef>
              <a:spcAft>
                <a:spcPts val="0"/>
              </a:spcAft>
              <a:buClr>
                <a:srgbClr val="0000FF"/>
              </a:buClr>
              <a:buSzPts val="1600"/>
              <a:buFont typeface="Droid Sans Mono"/>
              <a:buNone/>
            </a:pPr>
            <a:r>
              <a:rPr b="0" i="0" lang="ru-RU" sz="1600" u="none" cap="none" strike="noStrike">
                <a:solidFill>
                  <a:srgbClr val="0000FF"/>
                </a:solidFill>
                <a:latin typeface="Droid Sans Mono"/>
                <a:ea typeface="Droid Sans Mono"/>
                <a:cs typeface="Droid Sans Mono"/>
                <a:sym typeface="Droid Sans Mono"/>
              </a:rPr>
              <a:t>&gt; protein.01[groups==4, 1] </a:t>
            </a:r>
            <a:r>
              <a:rPr b="0" i="0" lang="ru-RU" sz="1600" u="none" cap="none" strike="noStrike">
                <a:solidFill>
                  <a:srgbClr val="000000"/>
                </a:solidFill>
                <a:latin typeface="Droid Sans Mono"/>
                <a:ea typeface="Droid Sans Mono"/>
                <a:cs typeface="Droid Sans Mono"/>
                <a:sym typeface="Droid Sans Mono"/>
              </a:rPr>
              <a:t>[1] Denmark Finland Norway Sweden </a:t>
            </a:r>
            <a:endParaRPr/>
          </a:p>
          <a:p>
            <a:pPr indent="0" lvl="0" marL="0" marR="0" rtl="0" algn="l">
              <a:lnSpc>
                <a:spcPct val="100000"/>
              </a:lnSpc>
              <a:spcBef>
                <a:spcPts val="0"/>
              </a:spcBef>
              <a:spcAft>
                <a:spcPts val="0"/>
              </a:spcAft>
              <a:buClr>
                <a:srgbClr val="0000FF"/>
              </a:buClr>
              <a:buSzPts val="1600"/>
              <a:buFont typeface="Droid Sans Mono"/>
              <a:buNone/>
            </a:pPr>
            <a:r>
              <a:rPr b="0" i="0" lang="ru-RU" sz="1600" u="none" cap="none" strike="noStrike">
                <a:solidFill>
                  <a:srgbClr val="0000FF"/>
                </a:solidFill>
                <a:latin typeface="Droid Sans Mono"/>
                <a:ea typeface="Droid Sans Mono"/>
                <a:cs typeface="Droid Sans Mono"/>
                <a:sym typeface="Droid Sans Mono"/>
              </a:rPr>
              <a:t>&gt; protein.01[groups==5, 1] </a:t>
            </a:r>
            <a:r>
              <a:rPr b="0" i="0" lang="ru-RU" sz="1600" u="none" cap="none" strike="noStrike">
                <a:solidFill>
                  <a:srgbClr val="000000"/>
                </a:solidFill>
                <a:latin typeface="Droid Sans Mono"/>
                <a:ea typeface="Droid Sans Mono"/>
                <a:cs typeface="Droid Sans Mono"/>
                <a:sym typeface="Droid Sans Mono"/>
              </a:rPr>
              <a:t>[1] Greece Italy Portugal Spain</a:t>
            </a:r>
            <a:endParaRPr b="0" i="0" sz="1600" u="none" cap="none" strike="noStrike">
              <a:solidFill>
                <a:schemeClr val="dk1"/>
              </a:solidFill>
              <a:latin typeface="Arial"/>
              <a:ea typeface="Arial"/>
              <a:cs typeface="Arial"/>
              <a:sym typeface="Arial"/>
            </a:endParaRPr>
          </a:p>
        </p:txBody>
      </p:sp>
      <p:sp>
        <p:nvSpPr>
          <p:cNvPr id="1041" name="Google Shape;1041;p8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83"/>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47" name="Google Shape;1047;p83"/>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48" name="Google Shape;1048;p83"/>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1049" name="Google Shape;1049;p83"/>
          <p:cNvSpPr txBox="1"/>
          <p:nvPr>
            <p:ph idx="4294967295" type="title"/>
          </p:nvPr>
        </p:nvSpPr>
        <p:spPr>
          <a:xfrm>
            <a:off x="1430523" y="264103"/>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Построение дендрограммы</a:t>
            </a:r>
            <a:endParaRPr/>
          </a:p>
        </p:txBody>
      </p:sp>
      <p:sp>
        <p:nvSpPr>
          <p:cNvPr id="1050" name="Google Shape;1050;p83"/>
          <p:cNvSpPr/>
          <p:nvPr/>
        </p:nvSpPr>
        <p:spPr>
          <a:xfrm>
            <a:off x="944852" y="1245729"/>
            <a:ext cx="828015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400">
                <a:solidFill>
                  <a:schemeClr val="dk1"/>
                </a:solidFill>
                <a:latin typeface="Arial"/>
                <a:ea typeface="Arial"/>
                <a:cs typeface="Arial"/>
                <a:sym typeface="Arial"/>
              </a:rPr>
              <a:t>Как проверить, нумерует ли R кластера в порядке их расположения слева направо?</a:t>
            </a:r>
            <a:endParaRPr/>
          </a:p>
        </p:txBody>
      </p:sp>
      <p:sp>
        <p:nvSpPr>
          <p:cNvPr id="1051" name="Google Shape;1051;p83"/>
          <p:cNvSpPr/>
          <p:nvPr/>
        </p:nvSpPr>
        <p:spPr>
          <a:xfrm>
            <a:off x="632393" y="5648076"/>
            <a:ext cx="9012690" cy="923330"/>
          </a:xfrm>
          <a:prstGeom prst="rect">
            <a:avLst/>
          </a:prstGeom>
          <a:solidFill>
            <a:srgbClr val="FFFFFF"/>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FF"/>
              </a:buClr>
              <a:buSzPts val="1200"/>
              <a:buFont typeface="Droid Sans Mono"/>
              <a:buNone/>
            </a:pPr>
            <a:r>
              <a:rPr b="0" i="0" lang="ru-RU" sz="1200" u="none" cap="none" strike="noStrike">
                <a:solidFill>
                  <a:srgbClr val="0000FF"/>
                </a:solidFill>
                <a:latin typeface="Droid Sans Mono"/>
                <a:ea typeface="Droid Sans Mono"/>
                <a:cs typeface="Droid Sans Mono"/>
                <a:sym typeface="Droid Sans Mono"/>
              </a:rPr>
              <a:t>&gt; protein.01[groups==1, 1] </a:t>
            </a:r>
            <a:r>
              <a:rPr b="0" i="0" lang="ru-RU" sz="1200" u="none" cap="none" strike="noStrike">
                <a:solidFill>
                  <a:srgbClr val="000000"/>
                </a:solidFill>
                <a:latin typeface="Droid Sans Mono"/>
                <a:ea typeface="Droid Sans Mono"/>
                <a:cs typeface="Droid Sans Mono"/>
                <a:sym typeface="Droid Sans Mono"/>
              </a:rPr>
              <a:t>[1] Albania Bulgaria Romania Yugoslavia </a:t>
            </a:r>
            <a:endParaRPr/>
          </a:p>
          <a:p>
            <a:pPr indent="0" lvl="0" marL="0" marR="0" rtl="0" algn="l">
              <a:lnSpc>
                <a:spcPct val="100000"/>
              </a:lnSpc>
              <a:spcBef>
                <a:spcPts val="0"/>
              </a:spcBef>
              <a:spcAft>
                <a:spcPts val="0"/>
              </a:spcAft>
              <a:buClr>
                <a:srgbClr val="0000FF"/>
              </a:buClr>
              <a:buSzPts val="1200"/>
              <a:buFont typeface="Droid Sans Mono"/>
              <a:buNone/>
            </a:pPr>
            <a:r>
              <a:rPr b="0" i="0" lang="ru-RU" sz="1200" u="none" cap="none" strike="noStrike">
                <a:solidFill>
                  <a:srgbClr val="0000FF"/>
                </a:solidFill>
                <a:latin typeface="Droid Sans Mono"/>
                <a:ea typeface="Droid Sans Mono"/>
                <a:cs typeface="Droid Sans Mono"/>
                <a:sym typeface="Droid Sans Mono"/>
              </a:rPr>
              <a:t>&gt; protein.01[groups==2, 1] </a:t>
            </a:r>
            <a:r>
              <a:rPr b="0" i="0" lang="ru-RU" sz="1200" u="none" cap="none" strike="noStrike">
                <a:solidFill>
                  <a:srgbClr val="000000"/>
                </a:solidFill>
                <a:latin typeface="Droid Sans Mono"/>
                <a:ea typeface="Droid Sans Mono"/>
                <a:cs typeface="Droid Sans Mono"/>
                <a:sym typeface="Droid Sans Mono"/>
              </a:rPr>
              <a:t>[1] Austria Czechoslovakia E_Germany Hungary Netherlands Poland USSR </a:t>
            </a:r>
            <a:endParaRPr/>
          </a:p>
          <a:p>
            <a:pPr indent="0" lvl="0" marL="0" marR="0" rtl="0" algn="l">
              <a:lnSpc>
                <a:spcPct val="100000"/>
              </a:lnSpc>
              <a:spcBef>
                <a:spcPts val="0"/>
              </a:spcBef>
              <a:spcAft>
                <a:spcPts val="0"/>
              </a:spcAft>
              <a:buClr>
                <a:srgbClr val="0000FF"/>
              </a:buClr>
              <a:buSzPts val="1200"/>
              <a:buFont typeface="Droid Sans Mono"/>
              <a:buNone/>
            </a:pPr>
            <a:r>
              <a:rPr b="0" i="0" lang="ru-RU" sz="1200" u="none" cap="none" strike="noStrike">
                <a:solidFill>
                  <a:srgbClr val="0000FF"/>
                </a:solidFill>
                <a:latin typeface="Droid Sans Mono"/>
                <a:ea typeface="Droid Sans Mono"/>
                <a:cs typeface="Droid Sans Mono"/>
                <a:sym typeface="Droid Sans Mono"/>
              </a:rPr>
              <a:t>&gt; protein.01[groups==3, 1] </a:t>
            </a:r>
            <a:r>
              <a:rPr b="0" i="0" lang="ru-RU" sz="1200" u="none" cap="none" strike="noStrike">
                <a:solidFill>
                  <a:srgbClr val="000000"/>
                </a:solidFill>
                <a:latin typeface="Droid Sans Mono"/>
                <a:ea typeface="Droid Sans Mono"/>
                <a:cs typeface="Droid Sans Mono"/>
                <a:sym typeface="Droid Sans Mono"/>
              </a:rPr>
              <a:t>[1] Belgium France Ireland Switzerland UK W_Germany </a:t>
            </a:r>
            <a:endParaRPr/>
          </a:p>
          <a:p>
            <a:pPr indent="0" lvl="0" marL="0" marR="0" rtl="0" algn="l">
              <a:lnSpc>
                <a:spcPct val="100000"/>
              </a:lnSpc>
              <a:spcBef>
                <a:spcPts val="0"/>
              </a:spcBef>
              <a:spcAft>
                <a:spcPts val="0"/>
              </a:spcAft>
              <a:buClr>
                <a:srgbClr val="0000FF"/>
              </a:buClr>
              <a:buSzPts val="1200"/>
              <a:buFont typeface="Droid Sans Mono"/>
              <a:buNone/>
            </a:pPr>
            <a:r>
              <a:rPr b="0" i="0" lang="ru-RU" sz="1200" u="none" cap="none" strike="noStrike">
                <a:solidFill>
                  <a:srgbClr val="0000FF"/>
                </a:solidFill>
                <a:latin typeface="Droid Sans Mono"/>
                <a:ea typeface="Droid Sans Mono"/>
                <a:cs typeface="Droid Sans Mono"/>
                <a:sym typeface="Droid Sans Mono"/>
              </a:rPr>
              <a:t>&gt; protein.01[groups==4, 1] </a:t>
            </a:r>
            <a:r>
              <a:rPr b="0" i="0" lang="ru-RU" sz="1200" u="none" cap="none" strike="noStrike">
                <a:solidFill>
                  <a:srgbClr val="000000"/>
                </a:solidFill>
                <a:latin typeface="Droid Sans Mono"/>
                <a:ea typeface="Droid Sans Mono"/>
                <a:cs typeface="Droid Sans Mono"/>
                <a:sym typeface="Droid Sans Mono"/>
              </a:rPr>
              <a:t>[1] Denmark Finland Norway Sweden </a:t>
            </a:r>
            <a:endParaRPr/>
          </a:p>
          <a:p>
            <a:pPr indent="0" lvl="0" marL="0" marR="0" rtl="0" algn="l">
              <a:lnSpc>
                <a:spcPct val="100000"/>
              </a:lnSpc>
              <a:spcBef>
                <a:spcPts val="0"/>
              </a:spcBef>
              <a:spcAft>
                <a:spcPts val="0"/>
              </a:spcAft>
              <a:buClr>
                <a:srgbClr val="0000FF"/>
              </a:buClr>
              <a:buSzPts val="1200"/>
              <a:buFont typeface="Droid Sans Mono"/>
              <a:buNone/>
            </a:pPr>
            <a:r>
              <a:rPr b="0" i="0" lang="ru-RU" sz="1200" u="none" cap="none" strike="noStrike">
                <a:solidFill>
                  <a:srgbClr val="0000FF"/>
                </a:solidFill>
                <a:latin typeface="Droid Sans Mono"/>
                <a:ea typeface="Droid Sans Mono"/>
                <a:cs typeface="Droid Sans Mono"/>
                <a:sym typeface="Droid Sans Mono"/>
              </a:rPr>
              <a:t>&gt; protein.01[groups==5, 1] </a:t>
            </a:r>
            <a:r>
              <a:rPr b="0" i="0" lang="ru-RU" sz="1200" u="none" cap="none" strike="noStrike">
                <a:solidFill>
                  <a:srgbClr val="000000"/>
                </a:solidFill>
                <a:latin typeface="Droid Sans Mono"/>
                <a:ea typeface="Droid Sans Mono"/>
                <a:cs typeface="Droid Sans Mono"/>
                <a:sym typeface="Droid Sans Mono"/>
              </a:rPr>
              <a:t>[1] Greece Italy Portugal Spain</a:t>
            </a:r>
            <a:endParaRPr b="0" i="0" sz="1200" u="none" cap="none" strike="noStrike">
              <a:solidFill>
                <a:schemeClr val="dk1"/>
              </a:solidFill>
              <a:latin typeface="Arial"/>
              <a:ea typeface="Arial"/>
              <a:cs typeface="Arial"/>
              <a:sym typeface="Arial"/>
            </a:endParaRPr>
          </a:p>
        </p:txBody>
      </p:sp>
      <p:pic>
        <p:nvPicPr>
          <p:cNvPr id="1052" name="Google Shape;1052;p83"/>
          <p:cNvPicPr preferRelativeResize="0"/>
          <p:nvPr/>
        </p:nvPicPr>
        <p:blipFill rotWithShape="1">
          <a:blip r:embed="rId3">
            <a:alphaModFix/>
          </a:blip>
          <a:srcRect b="0" l="0" r="0" t="0"/>
          <a:stretch/>
        </p:blipFill>
        <p:spPr>
          <a:xfrm>
            <a:off x="1178296" y="2066995"/>
            <a:ext cx="7628991" cy="3421486"/>
          </a:xfrm>
          <a:prstGeom prst="rect">
            <a:avLst/>
          </a:prstGeom>
          <a:noFill/>
          <a:ln>
            <a:noFill/>
          </a:ln>
        </p:spPr>
      </p:pic>
      <p:sp>
        <p:nvSpPr>
          <p:cNvPr id="1053" name="Google Shape;1053;p83"/>
          <p:cNvSpPr/>
          <p:nvPr/>
        </p:nvSpPr>
        <p:spPr>
          <a:xfrm>
            <a:off x="6650905" y="4614214"/>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ru-RU" sz="1600">
                <a:solidFill>
                  <a:schemeClr val="lt1"/>
                </a:solidFill>
                <a:latin typeface="Arial"/>
                <a:ea typeface="Arial"/>
                <a:cs typeface="Arial"/>
                <a:sym typeface="Arial"/>
              </a:rPr>
              <a:t>1</a:t>
            </a:r>
            <a:endParaRPr/>
          </a:p>
        </p:txBody>
      </p:sp>
      <p:sp>
        <p:nvSpPr>
          <p:cNvPr id="1054" name="Google Shape;1054;p83"/>
          <p:cNvSpPr/>
          <p:nvPr/>
        </p:nvSpPr>
        <p:spPr>
          <a:xfrm>
            <a:off x="5131343" y="4597343"/>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lang="ru-RU" sz="1600">
                <a:solidFill>
                  <a:schemeClr val="lt1"/>
                </a:solidFill>
                <a:latin typeface="Arial"/>
                <a:ea typeface="Arial"/>
                <a:cs typeface="Arial"/>
                <a:sym typeface="Arial"/>
              </a:rPr>
              <a:t>2</a:t>
            </a:r>
            <a:endParaRPr/>
          </a:p>
        </p:txBody>
      </p:sp>
      <p:sp>
        <p:nvSpPr>
          <p:cNvPr id="1055" name="Google Shape;1055;p83"/>
          <p:cNvSpPr/>
          <p:nvPr/>
        </p:nvSpPr>
        <p:spPr>
          <a:xfrm>
            <a:off x="7738419" y="4617751"/>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lang="ru-RU" sz="1600">
                <a:solidFill>
                  <a:schemeClr val="lt1"/>
                </a:solidFill>
                <a:latin typeface="Arial"/>
                <a:ea typeface="Arial"/>
                <a:cs typeface="Arial"/>
                <a:sym typeface="Arial"/>
              </a:rPr>
              <a:t>5</a:t>
            </a:r>
            <a:endParaRPr/>
          </a:p>
        </p:txBody>
      </p:sp>
      <p:sp>
        <p:nvSpPr>
          <p:cNvPr id="1056" name="Google Shape;1056;p83"/>
          <p:cNvSpPr/>
          <p:nvPr/>
        </p:nvSpPr>
        <p:spPr>
          <a:xfrm>
            <a:off x="2179015" y="4614214"/>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0" i="0" lang="ru-RU" sz="1600" u="none" cap="none" strike="noStrike">
                <a:solidFill>
                  <a:schemeClr val="lt1"/>
                </a:solidFill>
                <a:latin typeface="Arial"/>
                <a:ea typeface="Arial"/>
                <a:cs typeface="Arial"/>
                <a:sym typeface="Arial"/>
              </a:rPr>
              <a:t>4</a:t>
            </a:r>
            <a:endParaRPr b="0" i="0" sz="2400" u="none" cap="none" strike="noStrike">
              <a:solidFill>
                <a:schemeClr val="lt1"/>
              </a:solidFill>
              <a:latin typeface="Arial"/>
              <a:ea typeface="Arial"/>
              <a:cs typeface="Arial"/>
              <a:sym typeface="Arial"/>
            </a:endParaRPr>
          </a:p>
        </p:txBody>
      </p:sp>
      <p:sp>
        <p:nvSpPr>
          <p:cNvPr id="1057" name="Google Shape;1057;p83"/>
          <p:cNvSpPr/>
          <p:nvPr/>
        </p:nvSpPr>
        <p:spPr>
          <a:xfrm>
            <a:off x="3584939" y="4614214"/>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ru-RU" sz="1600">
                <a:solidFill>
                  <a:schemeClr val="lt1"/>
                </a:solidFill>
                <a:latin typeface="Arial"/>
                <a:ea typeface="Arial"/>
                <a:cs typeface="Arial"/>
                <a:sym typeface="Arial"/>
              </a:rPr>
              <a:t>3</a:t>
            </a:r>
            <a:endParaRPr/>
          </a:p>
        </p:txBody>
      </p:sp>
      <p:sp>
        <p:nvSpPr>
          <p:cNvPr id="1058" name="Google Shape;1058;p8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84"/>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64" name="Google Shape;1064;p84"/>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65" name="Google Shape;1065;p84"/>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1066" name="Google Shape;1066;p84"/>
          <p:cNvSpPr txBox="1"/>
          <p:nvPr>
            <p:ph idx="4294967295" type="title"/>
          </p:nvPr>
        </p:nvSpPr>
        <p:spPr>
          <a:xfrm>
            <a:off x="1113857" y="295610"/>
            <a:ext cx="7559675"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Кластеризация k-means</a:t>
            </a:r>
            <a:endParaRPr sz="4400"/>
          </a:p>
        </p:txBody>
      </p:sp>
      <p:sp>
        <p:nvSpPr>
          <p:cNvPr id="1067" name="Google Shape;1067;p84"/>
          <p:cNvSpPr/>
          <p:nvPr/>
        </p:nvSpPr>
        <p:spPr>
          <a:xfrm>
            <a:off x="632392" y="5694757"/>
            <a:ext cx="933075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800">
                <a:solidFill>
                  <a:schemeClr val="dk1"/>
                </a:solidFill>
                <a:latin typeface="Arial"/>
                <a:ea typeface="Arial"/>
                <a:cs typeface="Arial"/>
                <a:sym typeface="Arial"/>
              </a:rPr>
              <a:t>Если присмотреться внимательно, то мы сделаем вывод, что кластера в основном совпадают, только 5 и з поменялись местами относительно дендрограммы.</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ru-RU" sz="1800">
                <a:solidFill>
                  <a:schemeClr val="dk1"/>
                </a:solidFill>
                <a:latin typeface="Arial"/>
                <a:ea typeface="Arial"/>
                <a:cs typeface="Arial"/>
                <a:sym typeface="Arial"/>
              </a:rPr>
              <a:t>Метод k-средних с примером приведен в ЛР 6.1. </a:t>
            </a:r>
            <a:endParaRPr/>
          </a:p>
        </p:txBody>
      </p:sp>
      <p:sp>
        <p:nvSpPr>
          <p:cNvPr id="1068" name="Google Shape;1068;p8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pic>
        <p:nvPicPr>
          <p:cNvPr id="1069" name="Google Shape;1069;p84"/>
          <p:cNvPicPr preferRelativeResize="0"/>
          <p:nvPr/>
        </p:nvPicPr>
        <p:blipFill rotWithShape="1">
          <a:blip r:embed="rId3">
            <a:alphaModFix/>
          </a:blip>
          <a:srcRect b="0" l="0" r="0" t="0"/>
          <a:stretch/>
        </p:blipFill>
        <p:spPr>
          <a:xfrm>
            <a:off x="553561" y="931517"/>
            <a:ext cx="9170352" cy="474991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85"/>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pic>
        <p:nvPicPr>
          <p:cNvPr id="1075" name="Google Shape;1075;p85"/>
          <p:cNvPicPr preferRelativeResize="0"/>
          <p:nvPr/>
        </p:nvPicPr>
        <p:blipFill rotWithShape="1">
          <a:blip r:embed="rId3">
            <a:alphaModFix/>
          </a:blip>
          <a:srcRect b="0" l="0" r="0" t="0"/>
          <a:stretch/>
        </p:blipFill>
        <p:spPr>
          <a:xfrm>
            <a:off x="1771987" y="322263"/>
            <a:ext cx="7085961" cy="6604264"/>
          </a:xfrm>
          <a:prstGeom prst="rect">
            <a:avLst/>
          </a:prstGeom>
          <a:noFill/>
          <a:ln>
            <a:noFill/>
          </a:ln>
        </p:spPr>
      </p:pic>
      <p:sp>
        <p:nvSpPr>
          <p:cNvPr id="1076" name="Google Shape;1076;p85"/>
          <p:cNvSpPr/>
          <p:nvPr/>
        </p:nvSpPr>
        <p:spPr>
          <a:xfrm>
            <a:off x="5098943" y="1690936"/>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0" i="0" lang="ru-RU" sz="1600" u="none" cap="none" strike="noStrike">
                <a:solidFill>
                  <a:schemeClr val="lt1"/>
                </a:solidFill>
                <a:latin typeface="Arial"/>
                <a:ea typeface="Arial"/>
                <a:cs typeface="Arial"/>
                <a:sym typeface="Arial"/>
              </a:rPr>
              <a:t>4</a:t>
            </a:r>
            <a:endParaRPr b="0" i="0" sz="2400" u="none" cap="none" strike="noStrike">
              <a:solidFill>
                <a:schemeClr val="lt1"/>
              </a:solidFill>
              <a:latin typeface="Arial"/>
              <a:ea typeface="Arial"/>
              <a:cs typeface="Arial"/>
              <a:sym typeface="Arial"/>
            </a:endParaRPr>
          </a:p>
        </p:txBody>
      </p:sp>
      <p:sp>
        <p:nvSpPr>
          <p:cNvPr id="1077" name="Google Shape;1077;p85"/>
          <p:cNvSpPr/>
          <p:nvPr/>
        </p:nvSpPr>
        <p:spPr>
          <a:xfrm>
            <a:off x="6506889" y="2627040"/>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0" i="0" lang="ru-RU" sz="1600" u="none" cap="none" strike="noStrike">
                <a:solidFill>
                  <a:schemeClr val="lt1"/>
                </a:solidFill>
                <a:latin typeface="Arial"/>
                <a:ea typeface="Arial"/>
                <a:cs typeface="Arial"/>
                <a:sym typeface="Arial"/>
              </a:rPr>
              <a:t>2</a:t>
            </a:r>
            <a:endParaRPr b="0" i="0" sz="2400" u="none" cap="none" strike="noStrike">
              <a:solidFill>
                <a:schemeClr val="lt1"/>
              </a:solidFill>
              <a:latin typeface="Arial"/>
              <a:ea typeface="Arial"/>
              <a:cs typeface="Arial"/>
              <a:sym typeface="Arial"/>
            </a:endParaRPr>
          </a:p>
        </p:txBody>
      </p:sp>
      <p:sp>
        <p:nvSpPr>
          <p:cNvPr id="1078" name="Google Shape;1078;p85"/>
          <p:cNvSpPr/>
          <p:nvPr/>
        </p:nvSpPr>
        <p:spPr>
          <a:xfrm>
            <a:off x="4130625" y="3598863"/>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0" i="0" lang="ru-RU" sz="1600" u="none" cap="none" strike="noStrike">
                <a:solidFill>
                  <a:schemeClr val="lt1"/>
                </a:solidFill>
                <a:latin typeface="Arial"/>
                <a:ea typeface="Arial"/>
                <a:cs typeface="Arial"/>
                <a:sym typeface="Arial"/>
              </a:rPr>
              <a:t>3</a:t>
            </a:r>
            <a:endParaRPr b="0" i="0" sz="2400" u="none" cap="none" strike="noStrike">
              <a:solidFill>
                <a:schemeClr val="lt1"/>
              </a:solidFill>
              <a:latin typeface="Arial"/>
              <a:ea typeface="Arial"/>
              <a:cs typeface="Arial"/>
              <a:sym typeface="Arial"/>
            </a:endParaRPr>
          </a:p>
        </p:txBody>
      </p:sp>
      <p:sp>
        <p:nvSpPr>
          <p:cNvPr id="1079" name="Google Shape;1079;p85"/>
          <p:cNvSpPr/>
          <p:nvPr/>
        </p:nvSpPr>
        <p:spPr>
          <a:xfrm>
            <a:off x="3266529" y="4859288"/>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0" i="0" lang="ru-RU" sz="1600" u="none" cap="none" strike="noStrike">
                <a:solidFill>
                  <a:schemeClr val="lt1"/>
                </a:solidFill>
                <a:latin typeface="Arial"/>
                <a:ea typeface="Arial"/>
                <a:cs typeface="Arial"/>
                <a:sym typeface="Arial"/>
              </a:rPr>
              <a:t>5</a:t>
            </a:r>
            <a:endParaRPr b="0" i="0" sz="2400" u="none" cap="none" strike="noStrike">
              <a:solidFill>
                <a:schemeClr val="lt1"/>
              </a:solidFill>
              <a:latin typeface="Arial"/>
              <a:ea typeface="Arial"/>
              <a:cs typeface="Arial"/>
              <a:sym typeface="Arial"/>
            </a:endParaRPr>
          </a:p>
        </p:txBody>
      </p:sp>
      <p:sp>
        <p:nvSpPr>
          <p:cNvPr id="1080" name="Google Shape;1080;p85"/>
          <p:cNvSpPr/>
          <p:nvPr/>
        </p:nvSpPr>
        <p:spPr>
          <a:xfrm>
            <a:off x="6290865" y="4303469"/>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0" i="0" lang="ru-RU" sz="1600" u="none" cap="none" strike="noStrike">
                <a:solidFill>
                  <a:schemeClr val="lt1"/>
                </a:solidFill>
                <a:latin typeface="Arial"/>
                <a:ea typeface="Arial"/>
                <a:cs typeface="Arial"/>
                <a:sym typeface="Arial"/>
              </a:rPr>
              <a:t>1</a:t>
            </a:r>
            <a:endParaRPr b="0" i="0" sz="2400" u="none" cap="none" strike="noStrike">
              <a:solidFill>
                <a:schemeClr val="lt1"/>
              </a:solidFill>
              <a:latin typeface="Arial"/>
              <a:ea typeface="Arial"/>
              <a:cs typeface="Arial"/>
              <a:sym typeface="Arial"/>
            </a:endParaRPr>
          </a:p>
        </p:txBody>
      </p:sp>
      <p:sp>
        <p:nvSpPr>
          <p:cNvPr id="1081" name="Google Shape;1081;p85"/>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86"/>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87" name="Google Shape;1087;p86"/>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088" name="Google Shape;1088;p86"/>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1089" name="Google Shape;1089;p86"/>
          <p:cNvSpPr txBox="1"/>
          <p:nvPr>
            <p:ph idx="4294967295" type="title"/>
          </p:nvPr>
        </p:nvSpPr>
        <p:spPr>
          <a:xfrm>
            <a:off x="1610519" y="332183"/>
            <a:ext cx="7056437" cy="69373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ru-RU" sz="4400"/>
              <a:t>Нумерация кластеров</a:t>
            </a:r>
            <a:endParaRPr/>
          </a:p>
        </p:txBody>
      </p:sp>
      <p:pic>
        <p:nvPicPr>
          <p:cNvPr id="1090" name="Google Shape;1090;p86"/>
          <p:cNvPicPr preferRelativeResize="0"/>
          <p:nvPr/>
        </p:nvPicPr>
        <p:blipFill rotWithShape="1">
          <a:blip r:embed="rId3">
            <a:alphaModFix/>
          </a:blip>
          <a:srcRect b="0" l="0" r="0" t="0"/>
          <a:stretch/>
        </p:blipFill>
        <p:spPr>
          <a:xfrm>
            <a:off x="724554" y="1857324"/>
            <a:ext cx="8754298" cy="4315425"/>
          </a:xfrm>
          <a:prstGeom prst="rect">
            <a:avLst/>
          </a:prstGeom>
          <a:noFill/>
          <a:ln>
            <a:noFill/>
          </a:ln>
        </p:spPr>
      </p:pic>
      <p:sp>
        <p:nvSpPr>
          <p:cNvPr id="1091" name="Google Shape;1091;p86"/>
          <p:cNvSpPr/>
          <p:nvPr/>
        </p:nvSpPr>
        <p:spPr>
          <a:xfrm>
            <a:off x="4058617" y="2915072"/>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0" i="0" lang="ru-RU" sz="1600" u="none" cap="none" strike="noStrike">
                <a:solidFill>
                  <a:schemeClr val="lt1"/>
                </a:solidFill>
                <a:latin typeface="Arial"/>
                <a:ea typeface="Arial"/>
                <a:cs typeface="Arial"/>
                <a:sym typeface="Arial"/>
              </a:rPr>
              <a:t>3</a:t>
            </a:r>
            <a:endParaRPr b="0" i="0" sz="2400" u="none" cap="none" strike="noStrike">
              <a:solidFill>
                <a:schemeClr val="lt1"/>
              </a:solidFill>
              <a:latin typeface="Arial"/>
              <a:ea typeface="Arial"/>
              <a:cs typeface="Arial"/>
              <a:sym typeface="Arial"/>
            </a:endParaRPr>
          </a:p>
        </p:txBody>
      </p:sp>
      <p:sp>
        <p:nvSpPr>
          <p:cNvPr id="1092" name="Google Shape;1092;p86"/>
          <p:cNvSpPr/>
          <p:nvPr/>
        </p:nvSpPr>
        <p:spPr>
          <a:xfrm>
            <a:off x="4058617" y="1788445"/>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0" i="0" lang="ru-RU" sz="1600" u="none" cap="none" strike="noStrike">
                <a:solidFill>
                  <a:schemeClr val="lt1"/>
                </a:solidFill>
                <a:latin typeface="Arial"/>
                <a:ea typeface="Arial"/>
                <a:cs typeface="Arial"/>
                <a:sym typeface="Arial"/>
              </a:rPr>
              <a:t>1</a:t>
            </a:r>
            <a:endParaRPr b="0" i="0" sz="2400" u="none" cap="none" strike="noStrike">
              <a:solidFill>
                <a:schemeClr val="lt1"/>
              </a:solidFill>
              <a:latin typeface="Arial"/>
              <a:ea typeface="Arial"/>
              <a:cs typeface="Arial"/>
              <a:sym typeface="Arial"/>
            </a:endParaRPr>
          </a:p>
        </p:txBody>
      </p:sp>
      <p:sp>
        <p:nvSpPr>
          <p:cNvPr id="1093" name="Google Shape;1093;p86"/>
          <p:cNvSpPr/>
          <p:nvPr/>
        </p:nvSpPr>
        <p:spPr>
          <a:xfrm>
            <a:off x="4077708" y="3491582"/>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0" i="0" lang="ru-RU" sz="1600" u="none" cap="none" strike="noStrike">
                <a:solidFill>
                  <a:schemeClr val="lt1"/>
                </a:solidFill>
                <a:latin typeface="Arial"/>
                <a:ea typeface="Arial"/>
                <a:cs typeface="Arial"/>
                <a:sym typeface="Arial"/>
              </a:rPr>
              <a:t>2</a:t>
            </a:r>
            <a:endParaRPr b="0" i="0" sz="2400" u="none" cap="none" strike="noStrike">
              <a:solidFill>
                <a:schemeClr val="lt1"/>
              </a:solidFill>
              <a:latin typeface="Arial"/>
              <a:ea typeface="Arial"/>
              <a:cs typeface="Arial"/>
              <a:sym typeface="Arial"/>
            </a:endParaRPr>
          </a:p>
        </p:txBody>
      </p:sp>
      <p:sp>
        <p:nvSpPr>
          <p:cNvPr id="1094" name="Google Shape;1094;p86"/>
          <p:cNvSpPr/>
          <p:nvPr/>
        </p:nvSpPr>
        <p:spPr>
          <a:xfrm>
            <a:off x="4077708" y="4616141"/>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0" i="0" lang="ru-RU" sz="1600" u="none" cap="none" strike="noStrike">
                <a:solidFill>
                  <a:schemeClr val="lt1"/>
                </a:solidFill>
                <a:latin typeface="Arial"/>
                <a:ea typeface="Arial"/>
                <a:cs typeface="Arial"/>
                <a:sym typeface="Arial"/>
              </a:rPr>
              <a:t>4</a:t>
            </a:r>
            <a:endParaRPr b="0" i="0" sz="2400" u="none" cap="none" strike="noStrike">
              <a:solidFill>
                <a:schemeClr val="lt1"/>
              </a:solidFill>
              <a:latin typeface="Arial"/>
              <a:ea typeface="Arial"/>
              <a:cs typeface="Arial"/>
              <a:sym typeface="Arial"/>
            </a:endParaRPr>
          </a:p>
        </p:txBody>
      </p:sp>
      <p:sp>
        <p:nvSpPr>
          <p:cNvPr id="1095" name="Google Shape;1095;p86"/>
          <p:cNvSpPr/>
          <p:nvPr/>
        </p:nvSpPr>
        <p:spPr>
          <a:xfrm>
            <a:off x="4077708" y="5308652"/>
            <a:ext cx="432048" cy="432048"/>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600"/>
              <a:buFont typeface="Arial"/>
              <a:buNone/>
            </a:pPr>
            <a:r>
              <a:rPr b="0" i="0" lang="ru-RU" sz="1600" u="none" cap="none" strike="noStrike">
                <a:solidFill>
                  <a:schemeClr val="lt1"/>
                </a:solidFill>
                <a:latin typeface="Arial"/>
                <a:ea typeface="Arial"/>
                <a:cs typeface="Arial"/>
                <a:sym typeface="Arial"/>
              </a:rPr>
              <a:t>5</a:t>
            </a:r>
            <a:endParaRPr b="0" i="0" sz="2400" u="none" cap="none" strike="noStrike">
              <a:solidFill>
                <a:schemeClr val="lt1"/>
              </a:solidFill>
              <a:latin typeface="Arial"/>
              <a:ea typeface="Arial"/>
              <a:cs typeface="Arial"/>
              <a:sym typeface="Arial"/>
            </a:endParaRPr>
          </a:p>
        </p:txBody>
      </p:sp>
      <p:sp>
        <p:nvSpPr>
          <p:cNvPr id="1096" name="Google Shape;1096;p8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87"/>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02" name="Google Shape;1102;p87"/>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03" name="Google Shape;1103;p87"/>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1104" name="Google Shape;1104;p87"/>
          <p:cNvSpPr/>
          <p:nvPr/>
        </p:nvSpPr>
        <p:spPr>
          <a:xfrm>
            <a:off x="872635" y="1263597"/>
            <a:ext cx="8946053"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600">
                <a:solidFill>
                  <a:srgbClr val="0B769C"/>
                </a:solidFill>
                <a:latin typeface="Arial"/>
                <a:ea typeface="Arial"/>
                <a:cs typeface="Arial"/>
                <a:sym typeface="Arial"/>
              </a:rPr>
              <a:t>#  Для каждого вида еды определяем, </a:t>
            </a:r>
            <a:endParaRPr/>
          </a:p>
          <a:p>
            <a:pPr indent="0" lvl="0" marL="0" marR="0" rtl="0" algn="l">
              <a:spcBef>
                <a:spcPts val="0"/>
              </a:spcBef>
              <a:spcAft>
                <a:spcPts val="0"/>
              </a:spcAft>
              <a:buNone/>
            </a:pPr>
            <a:r>
              <a:rPr lang="ru-RU" sz="1600">
                <a:solidFill>
                  <a:srgbClr val="0B769C"/>
                </a:solidFill>
                <a:latin typeface="Arial"/>
                <a:ea typeface="Arial"/>
                <a:cs typeface="Arial"/>
                <a:sym typeface="Arial"/>
              </a:rPr>
              <a:t>#  какая часть потребителей в среднем в # кластере (в группе) приобретали этот вид еды</a:t>
            </a:r>
            <a:endParaRPr/>
          </a:p>
          <a:p>
            <a:pPr indent="0" lvl="0" marL="0" marR="0" rtl="0" algn="l">
              <a:spcBef>
                <a:spcPts val="0"/>
              </a:spcBef>
              <a:spcAft>
                <a:spcPts val="0"/>
              </a:spcAft>
              <a:buNone/>
            </a:pPr>
            <a:r>
              <a:rPr lang="ru-RU" sz="1600">
                <a:solidFill>
                  <a:srgbClr val="0B769C"/>
                </a:solidFill>
                <a:latin typeface="Arial"/>
                <a:ea typeface="Arial"/>
                <a:cs typeface="Arial"/>
                <a:sym typeface="Arial"/>
              </a:rPr>
              <a:t>colMeans(protein.01[groups==1, 2:10]) #  в 1-ом кластере</a:t>
            </a:r>
            <a:endParaRPr/>
          </a:p>
          <a:p>
            <a:pPr indent="0" lvl="0" marL="0" marR="0" rtl="0" algn="l">
              <a:spcBef>
                <a:spcPts val="0"/>
              </a:spcBef>
              <a:spcAft>
                <a:spcPts val="0"/>
              </a:spcAft>
              <a:buNone/>
            </a:pPr>
            <a:r>
              <a:rPr lang="ru-RU" sz="1600">
                <a:solidFill>
                  <a:srgbClr val="0B769C"/>
                </a:solidFill>
                <a:latin typeface="Arial"/>
                <a:ea typeface="Arial"/>
                <a:cs typeface="Arial"/>
                <a:sym typeface="Arial"/>
              </a:rPr>
              <a:t>colMeans(protein.01[groups==2, 2:10]) #  во 2-ом кластере</a:t>
            </a:r>
            <a:endParaRPr/>
          </a:p>
          <a:p>
            <a:pPr indent="0" lvl="0" marL="0" marR="0" rtl="0" algn="l">
              <a:spcBef>
                <a:spcPts val="0"/>
              </a:spcBef>
              <a:spcAft>
                <a:spcPts val="0"/>
              </a:spcAft>
              <a:buNone/>
            </a:pPr>
            <a:r>
              <a:rPr lang="ru-RU" sz="1600">
                <a:solidFill>
                  <a:srgbClr val="0B769C"/>
                </a:solidFill>
                <a:latin typeface="Arial"/>
                <a:ea typeface="Arial"/>
                <a:cs typeface="Arial"/>
                <a:sym typeface="Arial"/>
              </a:rPr>
              <a:t>colMeans(protein.01[groups==3, 2:10]) #  в 3-ем кластере</a:t>
            </a:r>
            <a:endParaRPr/>
          </a:p>
          <a:p>
            <a:pPr indent="0" lvl="0" marL="0" marR="0" rtl="0" algn="l">
              <a:spcBef>
                <a:spcPts val="0"/>
              </a:spcBef>
              <a:spcAft>
                <a:spcPts val="0"/>
              </a:spcAft>
              <a:buNone/>
            </a:pPr>
            <a:r>
              <a:rPr lang="ru-RU" sz="1600">
                <a:solidFill>
                  <a:srgbClr val="0B769C"/>
                </a:solidFill>
                <a:latin typeface="Arial"/>
                <a:ea typeface="Arial"/>
                <a:cs typeface="Arial"/>
                <a:sym typeface="Arial"/>
              </a:rPr>
              <a:t>colMeans(protein.01[groups==4, 2:10]) #  в 4-ом кластере</a:t>
            </a:r>
            <a:endParaRPr/>
          </a:p>
          <a:p>
            <a:pPr indent="0" lvl="0" marL="0" marR="0" rtl="0" algn="l">
              <a:spcBef>
                <a:spcPts val="0"/>
              </a:spcBef>
              <a:spcAft>
                <a:spcPts val="0"/>
              </a:spcAft>
              <a:buNone/>
            </a:pPr>
            <a:r>
              <a:rPr lang="ru-RU" sz="1600">
                <a:solidFill>
                  <a:srgbClr val="0B769C"/>
                </a:solidFill>
                <a:latin typeface="Arial"/>
                <a:ea typeface="Arial"/>
                <a:cs typeface="Arial"/>
                <a:sym typeface="Arial"/>
              </a:rPr>
              <a:t>colMeans(protein.01[groups==5, 2:10]) #  в 5-oм кластере</a:t>
            </a:r>
            <a:endParaRPr/>
          </a:p>
        </p:txBody>
      </p:sp>
      <p:pic>
        <p:nvPicPr>
          <p:cNvPr id="1105" name="Google Shape;1105;p87"/>
          <p:cNvPicPr preferRelativeResize="0"/>
          <p:nvPr/>
        </p:nvPicPr>
        <p:blipFill rotWithShape="1">
          <a:blip r:embed="rId3">
            <a:alphaModFix/>
          </a:blip>
          <a:srcRect b="0" l="0" r="0" t="0"/>
          <a:stretch/>
        </p:blipFill>
        <p:spPr>
          <a:xfrm>
            <a:off x="898897" y="3215490"/>
            <a:ext cx="8044287" cy="3371989"/>
          </a:xfrm>
          <a:prstGeom prst="rect">
            <a:avLst/>
          </a:prstGeom>
          <a:noFill/>
          <a:ln>
            <a:noFill/>
          </a:ln>
        </p:spPr>
      </p:pic>
      <p:sp>
        <p:nvSpPr>
          <p:cNvPr id="1106" name="Google Shape;1106;p87"/>
          <p:cNvSpPr txBox="1"/>
          <p:nvPr/>
        </p:nvSpPr>
        <p:spPr>
          <a:xfrm>
            <a:off x="862965" y="229052"/>
            <a:ext cx="8551545" cy="75407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2800">
                <a:solidFill>
                  <a:schemeClr val="dk2"/>
                </a:solidFill>
                <a:latin typeface="Calibri"/>
                <a:ea typeface="Calibri"/>
                <a:cs typeface="Calibri"/>
                <a:sym typeface="Calibri"/>
              </a:rPr>
              <a:t>Далее, сравниваем потребление в разных кластерах</a:t>
            </a:r>
            <a:endParaRPr sz="2800">
              <a:solidFill>
                <a:schemeClr val="dk2"/>
              </a:solidFill>
              <a:latin typeface="Calibri"/>
              <a:ea typeface="Calibri"/>
              <a:cs typeface="Calibri"/>
              <a:sym typeface="Calibri"/>
            </a:endParaRPr>
          </a:p>
        </p:txBody>
      </p:sp>
      <p:sp>
        <p:nvSpPr>
          <p:cNvPr id="1107" name="Google Shape;1107;p8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88"/>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13" name="Google Shape;1113;p88"/>
          <p:cNvSpPr/>
          <p:nvPr/>
        </p:nvSpPr>
        <p:spPr>
          <a:xfrm>
            <a:off x="1178297" y="322263"/>
            <a:ext cx="8064128" cy="1150878"/>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14" name="Google Shape;1114;p88"/>
          <p:cNvSpPr/>
          <p:nvPr/>
        </p:nvSpPr>
        <p:spPr>
          <a:xfrm>
            <a:off x="387350" y="1506611"/>
            <a:ext cx="9431338" cy="5224390"/>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1115" name="Google Shape;1115;p88"/>
          <p:cNvSpPr txBox="1"/>
          <p:nvPr>
            <p:ph idx="4294967295" type="title"/>
          </p:nvPr>
        </p:nvSpPr>
        <p:spPr>
          <a:xfrm>
            <a:off x="1250305" y="288925"/>
            <a:ext cx="7299970" cy="11842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Далее, сравниваем потребление в разных кластерах</a:t>
            </a:r>
            <a:endParaRPr/>
          </a:p>
        </p:txBody>
      </p:sp>
      <p:sp>
        <p:nvSpPr>
          <p:cNvPr id="1116" name="Google Shape;1116;p88"/>
          <p:cNvSpPr txBox="1"/>
          <p:nvPr>
            <p:ph idx="4294967295" type="body"/>
          </p:nvPr>
        </p:nvSpPr>
        <p:spPr>
          <a:xfrm>
            <a:off x="674240" y="1820863"/>
            <a:ext cx="8712969" cy="3974529"/>
          </a:xfrm>
          <a:prstGeom prst="rect">
            <a:avLst/>
          </a:prstGeom>
          <a:noFill/>
          <a:ln>
            <a:noFill/>
          </a:ln>
        </p:spPr>
        <p:txBody>
          <a:bodyPr anchorCtr="0" anchor="t" bIns="45700" lIns="91425" spcFirstLastPara="1" rIns="91425" wrap="square" tIns="45700">
            <a:normAutofit/>
          </a:bodyPr>
          <a:lstStyle/>
          <a:p>
            <a:pPr indent="-356307" lvl="0" marL="356307" rtl="0" algn="l">
              <a:lnSpc>
                <a:spcPct val="80000"/>
              </a:lnSpc>
              <a:spcBef>
                <a:spcPts val="0"/>
              </a:spcBef>
              <a:spcAft>
                <a:spcPts val="0"/>
              </a:spcAft>
              <a:buClr>
                <a:srgbClr val="CC9900"/>
              </a:buClr>
              <a:buSzPts val="1560"/>
              <a:buFont typeface="Noto Sans Symbols"/>
              <a:buChar char="■"/>
            </a:pPr>
            <a:r>
              <a:rPr lang="ru-RU" sz="2400">
                <a:solidFill>
                  <a:srgbClr val="0B769C"/>
                </a:solidFill>
              </a:rPr>
              <a:t>1 кластер</a:t>
            </a:r>
            <a:r>
              <a:rPr lang="ru-RU" sz="2400"/>
              <a:t>: большое потребление злаков и орехов (Pulses, nuts, and oil-seeds); маленькое потребление мяса (Red meat, White meat), рыбы, крахмалистых продуктов (Starchy foods) и яиц.</a:t>
            </a:r>
            <a:endParaRPr/>
          </a:p>
          <a:p>
            <a:pPr indent="-356307" lvl="0" marL="356307" rtl="0" algn="l">
              <a:lnSpc>
                <a:spcPct val="80000"/>
              </a:lnSpc>
              <a:spcBef>
                <a:spcPts val="544"/>
              </a:spcBef>
              <a:spcAft>
                <a:spcPts val="0"/>
              </a:spcAft>
              <a:buClr>
                <a:srgbClr val="CC9900"/>
              </a:buClr>
              <a:buSzPts val="1560"/>
              <a:buFont typeface="Noto Sans Symbols"/>
              <a:buChar char="■"/>
            </a:pPr>
            <a:r>
              <a:rPr lang="ru-RU" sz="2400">
                <a:solidFill>
                  <a:srgbClr val="0B769C"/>
                </a:solidFill>
              </a:rPr>
              <a:t>2 кластер: </a:t>
            </a:r>
            <a:r>
              <a:rPr lang="ru-RU" sz="2400"/>
              <a:t>большое потребление птицы (White meat), крахмалистых продуктов; небольшое потребление орехов.</a:t>
            </a:r>
            <a:endParaRPr/>
          </a:p>
          <a:p>
            <a:pPr indent="-356307" lvl="0" marL="356307" rtl="0" algn="l">
              <a:lnSpc>
                <a:spcPct val="80000"/>
              </a:lnSpc>
              <a:spcBef>
                <a:spcPts val="544"/>
              </a:spcBef>
              <a:spcAft>
                <a:spcPts val="0"/>
              </a:spcAft>
              <a:buClr>
                <a:srgbClr val="CC9900"/>
              </a:buClr>
              <a:buSzPts val="1560"/>
              <a:buFont typeface="Noto Sans Symbols"/>
              <a:buChar char="■"/>
            </a:pPr>
            <a:r>
              <a:rPr lang="ru-RU" sz="2400">
                <a:solidFill>
                  <a:srgbClr val="0B769C"/>
                </a:solidFill>
              </a:rPr>
              <a:t>3 кластер: </a:t>
            </a:r>
            <a:r>
              <a:rPr lang="ru-RU" sz="2400"/>
              <a:t>большое потребление мяса, яиц, молока; небольшое потребление злаков и орехов.</a:t>
            </a:r>
            <a:endParaRPr/>
          </a:p>
          <a:p>
            <a:pPr indent="-356307" lvl="0" marL="356307" rtl="0" algn="l">
              <a:lnSpc>
                <a:spcPct val="80000"/>
              </a:lnSpc>
              <a:spcBef>
                <a:spcPts val="544"/>
              </a:spcBef>
              <a:spcAft>
                <a:spcPts val="0"/>
              </a:spcAft>
              <a:buClr>
                <a:srgbClr val="CC9900"/>
              </a:buClr>
              <a:buSzPts val="1560"/>
              <a:buFont typeface="Noto Sans Symbols"/>
              <a:buChar char="■"/>
            </a:pPr>
            <a:r>
              <a:rPr lang="ru-RU" sz="2400">
                <a:solidFill>
                  <a:srgbClr val="0B769C"/>
                </a:solidFill>
              </a:rPr>
              <a:t>4 кластер</a:t>
            </a:r>
            <a:r>
              <a:rPr lang="ru-RU" sz="2400"/>
              <a:t>: большое потребление яиц, молока, рыбы; маленькое потребление злаков, орехов, фруктов и овощей.</a:t>
            </a:r>
            <a:endParaRPr/>
          </a:p>
          <a:p>
            <a:pPr indent="-356307" lvl="0" marL="356307" rtl="0" algn="l">
              <a:lnSpc>
                <a:spcPct val="80000"/>
              </a:lnSpc>
              <a:spcBef>
                <a:spcPts val="544"/>
              </a:spcBef>
              <a:spcAft>
                <a:spcPts val="0"/>
              </a:spcAft>
              <a:buClr>
                <a:srgbClr val="CC9900"/>
              </a:buClr>
              <a:buSzPts val="1560"/>
              <a:buFont typeface="Noto Sans Symbols"/>
              <a:buChar char="■"/>
            </a:pPr>
            <a:r>
              <a:rPr lang="ru-RU" sz="2400">
                <a:solidFill>
                  <a:srgbClr val="0B769C"/>
                </a:solidFill>
              </a:rPr>
              <a:t>5 кластер: </a:t>
            </a:r>
            <a:r>
              <a:rPr lang="ru-RU" sz="2400"/>
              <a:t>большое потребление рыбы, орехов, фруктов и овощей; маленькое потребление птицы.</a:t>
            </a:r>
            <a:endParaRPr/>
          </a:p>
        </p:txBody>
      </p:sp>
      <p:sp>
        <p:nvSpPr>
          <p:cNvPr id="1117" name="Google Shape;1117;p8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89"/>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23" name="Google Shape;1123;p89"/>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24" name="Google Shape;1124;p89"/>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1125" name="Google Shape;1125;p89"/>
          <p:cNvSpPr/>
          <p:nvPr/>
        </p:nvSpPr>
        <p:spPr>
          <a:xfrm>
            <a:off x="896784" y="1381971"/>
            <a:ext cx="5754121"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chemeClr val="dk1"/>
                </a:solidFill>
                <a:latin typeface="Arial"/>
                <a:ea typeface="Arial"/>
                <a:cs typeface="Arial"/>
                <a:sym typeface="Arial"/>
              </a:rPr>
              <a:t>Как найти  различия в найденных группах?</a:t>
            </a:r>
            <a:endParaRPr/>
          </a:p>
          <a:p>
            <a:pPr indent="0" lvl="0" marL="0" marR="0" rtl="0" algn="l">
              <a:spcBef>
                <a:spcPts val="0"/>
              </a:spcBef>
              <a:spcAft>
                <a:spcPts val="0"/>
              </a:spcAft>
              <a:buNone/>
            </a:pPr>
            <a:r>
              <a:rPr lang="ru-RU" sz="2000">
                <a:solidFill>
                  <a:schemeClr val="dk1"/>
                </a:solidFill>
                <a:latin typeface="Arial"/>
                <a:ea typeface="Arial"/>
                <a:cs typeface="Arial"/>
                <a:sym typeface="Arial"/>
              </a:rPr>
              <a:t>Хотелось бы его увидеть в доступной форме, а не искать глазами</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ru-RU" sz="2000">
                <a:solidFill>
                  <a:schemeClr val="dk1"/>
                </a:solidFill>
                <a:latin typeface="Arial"/>
                <a:ea typeface="Arial"/>
                <a:cs typeface="Arial"/>
                <a:sym typeface="Arial"/>
              </a:rPr>
              <a:t>Построим новый набор данных:</a:t>
            </a:r>
            <a:endParaRPr/>
          </a:p>
        </p:txBody>
      </p:sp>
      <p:sp>
        <p:nvSpPr>
          <p:cNvPr id="1126" name="Google Shape;1126;p89"/>
          <p:cNvSpPr txBox="1"/>
          <p:nvPr/>
        </p:nvSpPr>
        <p:spPr>
          <a:xfrm>
            <a:off x="1466328" y="288793"/>
            <a:ext cx="7560841" cy="694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400">
                <a:solidFill>
                  <a:schemeClr val="dk2"/>
                </a:solidFill>
                <a:latin typeface="Calibri"/>
                <a:ea typeface="Calibri"/>
                <a:cs typeface="Calibri"/>
                <a:sym typeface="Calibri"/>
              </a:rPr>
              <a:t>Анализ данных</a:t>
            </a:r>
            <a:endParaRPr/>
          </a:p>
        </p:txBody>
      </p:sp>
      <p:sp>
        <p:nvSpPr>
          <p:cNvPr id="1127" name="Google Shape;1127;p89"/>
          <p:cNvSpPr/>
          <p:nvPr/>
        </p:nvSpPr>
        <p:spPr>
          <a:xfrm>
            <a:off x="674241" y="3096831"/>
            <a:ext cx="5099282" cy="25545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B769C"/>
                </a:solidFill>
                <a:latin typeface="Arial"/>
                <a:ea typeface="Arial"/>
                <a:cs typeface="Arial"/>
                <a:sym typeface="Arial"/>
              </a:rPr>
              <a:t>g1&lt;-colMeans(protein.01[groups==1, 2:10])</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g2&lt;-colMeans(protein.01[groups==2, 2:10])</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g3&lt;-colMeans(protein.01[groups==3, 2:10])</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g4&lt;-colMeans(protein.01[groups==4, 2:10])</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g5&lt;-colMeans(protein.01[groups==5, 2:10])</a:t>
            </a:r>
            <a:endParaRPr/>
          </a:p>
          <a:p>
            <a:pPr indent="0" lvl="0" marL="0" marR="0" rtl="0" algn="l">
              <a:spcBef>
                <a:spcPts val="0"/>
              </a:spcBef>
              <a:spcAft>
                <a:spcPts val="0"/>
              </a:spcAft>
              <a:buNone/>
            </a:pPr>
            <a:r>
              <a:t/>
            </a:r>
            <a:endParaRPr sz="2000">
              <a:solidFill>
                <a:srgbClr val="0B769C"/>
              </a:solidFill>
              <a:latin typeface="Arial"/>
              <a:ea typeface="Arial"/>
              <a:cs typeface="Arial"/>
              <a:sym typeface="Arial"/>
            </a:endParaRPr>
          </a:p>
          <a:p>
            <a:pPr indent="0" lvl="0" marL="0" marR="0" rtl="0" algn="l">
              <a:spcBef>
                <a:spcPts val="0"/>
              </a:spcBef>
              <a:spcAft>
                <a:spcPts val="0"/>
              </a:spcAft>
              <a:buNone/>
            </a:pPr>
            <a:r>
              <a:rPr lang="ru-RU" sz="2000">
                <a:solidFill>
                  <a:srgbClr val="0B769C"/>
                </a:solidFill>
                <a:latin typeface="Arial"/>
                <a:ea typeface="Arial"/>
                <a:cs typeface="Arial"/>
                <a:sym typeface="Arial"/>
              </a:rPr>
              <a:t>df&lt;-data.frame(g1,g2,g3,g4,g5)</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df1&lt;-t(df)</a:t>
            </a:r>
            <a:endParaRPr/>
          </a:p>
        </p:txBody>
      </p:sp>
      <p:pic>
        <p:nvPicPr>
          <p:cNvPr id="1128" name="Google Shape;1128;p89"/>
          <p:cNvPicPr preferRelativeResize="0"/>
          <p:nvPr/>
        </p:nvPicPr>
        <p:blipFill rotWithShape="1">
          <a:blip r:embed="rId3">
            <a:alphaModFix/>
          </a:blip>
          <a:srcRect b="0" l="0" r="0" t="0"/>
          <a:stretch/>
        </p:blipFill>
        <p:spPr>
          <a:xfrm>
            <a:off x="5908674" y="2981160"/>
            <a:ext cx="3861881" cy="2670215"/>
          </a:xfrm>
          <a:prstGeom prst="rect">
            <a:avLst/>
          </a:prstGeom>
          <a:noFill/>
          <a:ln>
            <a:noFill/>
          </a:ln>
        </p:spPr>
      </p:pic>
      <p:sp>
        <p:nvSpPr>
          <p:cNvPr id="1129" name="Google Shape;1129;p89"/>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pic>
        <p:nvPicPr>
          <p:cNvPr id="1130" name="Google Shape;1130;p89"/>
          <p:cNvPicPr preferRelativeResize="0"/>
          <p:nvPr/>
        </p:nvPicPr>
        <p:blipFill rotWithShape="1">
          <a:blip r:embed="rId4">
            <a:alphaModFix/>
          </a:blip>
          <a:srcRect b="0" l="0" r="0" t="0"/>
          <a:stretch/>
        </p:blipFill>
        <p:spPr>
          <a:xfrm>
            <a:off x="7365524" y="200724"/>
            <a:ext cx="2741195" cy="248230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90"/>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36" name="Google Shape;1136;p90"/>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37" name="Google Shape;1137;p90"/>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sz="3500">
              <a:solidFill>
                <a:schemeClr val="lt1"/>
              </a:solidFill>
              <a:latin typeface="Arial"/>
              <a:ea typeface="Arial"/>
              <a:cs typeface="Arial"/>
              <a:sym typeface="Arial"/>
            </a:endParaRPr>
          </a:p>
        </p:txBody>
      </p:sp>
      <p:sp>
        <p:nvSpPr>
          <p:cNvPr id="1138" name="Google Shape;1138;p90"/>
          <p:cNvSpPr/>
          <p:nvPr/>
        </p:nvSpPr>
        <p:spPr>
          <a:xfrm>
            <a:off x="387350" y="1120786"/>
            <a:ext cx="5610105"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chemeClr val="dk1"/>
                </a:solidFill>
                <a:latin typeface="Arial"/>
                <a:ea typeface="Arial"/>
                <a:cs typeface="Arial"/>
                <a:sym typeface="Arial"/>
              </a:rPr>
              <a:t>И сопоставим разницу в потреблении продуктов разными группами стран:</a:t>
            </a:r>
            <a:endParaRPr/>
          </a:p>
        </p:txBody>
      </p:sp>
      <p:sp>
        <p:nvSpPr>
          <p:cNvPr id="1139" name="Google Shape;1139;p90"/>
          <p:cNvSpPr txBox="1"/>
          <p:nvPr/>
        </p:nvSpPr>
        <p:spPr>
          <a:xfrm>
            <a:off x="1466328" y="288793"/>
            <a:ext cx="7560841" cy="694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400">
                <a:solidFill>
                  <a:schemeClr val="dk2"/>
                </a:solidFill>
                <a:latin typeface="Calibri"/>
                <a:ea typeface="Calibri"/>
                <a:cs typeface="Calibri"/>
                <a:sym typeface="Calibri"/>
              </a:rPr>
              <a:t>Анализ данных</a:t>
            </a:r>
            <a:endParaRPr/>
          </a:p>
        </p:txBody>
      </p:sp>
      <p:sp>
        <p:nvSpPr>
          <p:cNvPr id="1140" name="Google Shape;1140;p90"/>
          <p:cNvSpPr/>
          <p:nvPr/>
        </p:nvSpPr>
        <p:spPr>
          <a:xfrm>
            <a:off x="387350" y="1882786"/>
            <a:ext cx="690453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B769C"/>
                </a:solidFill>
                <a:latin typeface="Arial"/>
                <a:ea typeface="Arial"/>
                <a:cs typeface="Arial"/>
                <a:sym typeface="Arial"/>
              </a:rPr>
              <a:t>barplot(df1, col=c("magenta", "red“, "yellow",“blue",“green"),</a:t>
            </a:r>
            <a:endParaRPr/>
          </a:p>
          <a:p>
            <a:pPr indent="0" lvl="0" marL="0" marR="0" rtl="0" algn="l">
              <a:spcBef>
                <a:spcPts val="0"/>
              </a:spcBef>
              <a:spcAft>
                <a:spcPts val="0"/>
              </a:spcAft>
              <a:buNone/>
            </a:pPr>
            <a:r>
              <a:rPr lang="ru-RU" sz="2000">
                <a:solidFill>
                  <a:srgbClr val="0B769C"/>
                </a:solidFill>
                <a:latin typeface="Arial"/>
                <a:ea typeface="Arial"/>
                <a:cs typeface="Arial"/>
                <a:sym typeface="Arial"/>
              </a:rPr>
              <a:t>legend=rownames(df1))</a:t>
            </a:r>
            <a:endParaRPr/>
          </a:p>
        </p:txBody>
      </p:sp>
      <p:sp>
        <p:nvSpPr>
          <p:cNvPr id="1141" name="Google Shape;1141;p90"/>
          <p:cNvSpPr txBox="1"/>
          <p:nvPr>
            <p:ph idx="12" type="sldNum"/>
          </p:nvPr>
        </p:nvSpPr>
        <p:spPr>
          <a:xfrm>
            <a:off x="9242424" y="6605014"/>
            <a:ext cx="521177"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pic>
        <p:nvPicPr>
          <p:cNvPr id="1142" name="Google Shape;1142;p90"/>
          <p:cNvPicPr preferRelativeResize="0"/>
          <p:nvPr/>
        </p:nvPicPr>
        <p:blipFill rotWithShape="1">
          <a:blip r:embed="rId3">
            <a:alphaModFix/>
          </a:blip>
          <a:srcRect b="0" l="0" r="0" t="0"/>
          <a:stretch/>
        </p:blipFill>
        <p:spPr>
          <a:xfrm>
            <a:off x="474261" y="2745178"/>
            <a:ext cx="9344427" cy="3859836"/>
          </a:xfrm>
          <a:prstGeom prst="rect">
            <a:avLst/>
          </a:prstGeom>
          <a:noFill/>
          <a:ln>
            <a:noFill/>
          </a:ln>
        </p:spPr>
      </p:pic>
      <p:pic>
        <p:nvPicPr>
          <p:cNvPr id="1143" name="Google Shape;1143;p90"/>
          <p:cNvPicPr preferRelativeResize="0"/>
          <p:nvPr/>
        </p:nvPicPr>
        <p:blipFill rotWithShape="1">
          <a:blip r:embed="rId4">
            <a:alphaModFix/>
          </a:blip>
          <a:srcRect b="0" l="0" r="0" t="0"/>
          <a:stretch/>
        </p:blipFill>
        <p:spPr>
          <a:xfrm>
            <a:off x="7348524" y="132898"/>
            <a:ext cx="2866246" cy="259554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91"/>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49" name="Google Shape;1149;p91"/>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50" name="Google Shape;1150;p91"/>
          <p:cNvSpPr/>
          <p:nvPr/>
        </p:nvSpPr>
        <p:spPr>
          <a:xfrm>
            <a:off x="387350" y="1127585"/>
            <a:ext cx="9431338" cy="5603416"/>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1151" name="Google Shape;1151;p91"/>
          <p:cNvSpPr txBox="1"/>
          <p:nvPr>
            <p:ph idx="4294967295" type="body"/>
          </p:nvPr>
        </p:nvSpPr>
        <p:spPr>
          <a:xfrm>
            <a:off x="1178298" y="1518113"/>
            <a:ext cx="8585304" cy="312578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CC9900"/>
              </a:buClr>
              <a:buSzPts val="4800"/>
              <a:buNone/>
            </a:pPr>
            <a:r>
              <a:rPr i="1" lang="ru-RU" sz="3200"/>
              <a:t>особенности питания зависят от</a:t>
            </a:r>
            <a:endParaRPr/>
          </a:p>
          <a:p>
            <a:pPr indent="-356307" lvl="0" marL="356307" rtl="0" algn="l">
              <a:spcBef>
                <a:spcPts val="640"/>
              </a:spcBef>
              <a:spcAft>
                <a:spcPts val="0"/>
              </a:spcAft>
              <a:buClr>
                <a:srgbClr val="CC9900"/>
              </a:buClr>
              <a:buSzPts val="4800"/>
              <a:buChar char="•"/>
            </a:pPr>
            <a:r>
              <a:rPr lang="ru-RU" sz="3200"/>
              <a:t>географического положения и от</a:t>
            </a:r>
            <a:endParaRPr/>
          </a:p>
          <a:p>
            <a:pPr indent="-356307" lvl="0" marL="356307" rtl="0" algn="l">
              <a:spcBef>
                <a:spcPts val="640"/>
              </a:spcBef>
              <a:spcAft>
                <a:spcPts val="0"/>
              </a:spcAft>
              <a:buClr>
                <a:srgbClr val="CC9900"/>
              </a:buClr>
              <a:buSzPts val="4800"/>
              <a:buChar char="•"/>
            </a:pPr>
            <a:r>
              <a:rPr lang="ru-RU" sz="3200"/>
              <a:t>экономического строя, что вполне естественно</a:t>
            </a:r>
            <a:endParaRPr/>
          </a:p>
        </p:txBody>
      </p:sp>
      <p:sp>
        <p:nvSpPr>
          <p:cNvPr id="1152" name="Google Shape;1152;p91"/>
          <p:cNvSpPr txBox="1"/>
          <p:nvPr/>
        </p:nvSpPr>
        <p:spPr>
          <a:xfrm>
            <a:off x="1466328" y="288793"/>
            <a:ext cx="7560841" cy="694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ru-RU" sz="4400">
                <a:solidFill>
                  <a:schemeClr val="dk2"/>
                </a:solidFill>
                <a:latin typeface="Calibri"/>
                <a:ea typeface="Calibri"/>
                <a:cs typeface="Calibri"/>
                <a:sym typeface="Calibri"/>
              </a:rPr>
              <a:t>Анализ данных</a:t>
            </a:r>
            <a:endParaRPr/>
          </a:p>
        </p:txBody>
      </p:sp>
      <p:sp>
        <p:nvSpPr>
          <p:cNvPr id="1153" name="Google Shape;1153;p91"/>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92"/>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59" name="Google Shape;1159;p92"/>
          <p:cNvSpPr/>
          <p:nvPr/>
        </p:nvSpPr>
        <p:spPr>
          <a:xfrm>
            <a:off x="1178297" y="322263"/>
            <a:ext cx="8064128" cy="1283414"/>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60" name="Google Shape;1160;p92"/>
          <p:cNvSpPr/>
          <p:nvPr/>
        </p:nvSpPr>
        <p:spPr>
          <a:xfrm>
            <a:off x="387350" y="1750139"/>
            <a:ext cx="9431338" cy="4980862"/>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1161" name="Google Shape;1161;p92"/>
          <p:cNvSpPr txBox="1"/>
          <p:nvPr>
            <p:ph idx="4294967295" type="title"/>
          </p:nvPr>
        </p:nvSpPr>
        <p:spPr>
          <a:xfrm>
            <a:off x="1034281" y="293392"/>
            <a:ext cx="8550275" cy="123181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alibri"/>
              <a:buNone/>
            </a:pPr>
            <a:r>
              <a:rPr lang="ru-RU" sz="3600"/>
              <a:t>Мы узнали что-то новое?</a:t>
            </a:r>
            <a:br>
              <a:rPr lang="ru-RU" sz="3600"/>
            </a:br>
            <a:r>
              <a:rPr lang="ru-RU" sz="3600"/>
              <a:t>Или результат тривиальный?</a:t>
            </a:r>
            <a:endParaRPr/>
          </a:p>
        </p:txBody>
      </p:sp>
      <p:sp>
        <p:nvSpPr>
          <p:cNvPr id="1162" name="Google Shape;1162;p92"/>
          <p:cNvSpPr txBox="1"/>
          <p:nvPr>
            <p:ph idx="4294967295" type="body"/>
          </p:nvPr>
        </p:nvSpPr>
        <p:spPr>
          <a:xfrm>
            <a:off x="1034666" y="1806947"/>
            <a:ext cx="8208144" cy="1978025"/>
          </a:xfrm>
          <a:prstGeom prst="rect">
            <a:avLst/>
          </a:prstGeom>
          <a:noFill/>
          <a:ln>
            <a:noFill/>
          </a:ln>
        </p:spPr>
        <p:txBody>
          <a:bodyPr anchorCtr="0" anchor="t" bIns="45700" lIns="91425" spcFirstLastPara="1" rIns="91425" wrap="square" tIns="45700">
            <a:normAutofit fontScale="77500" lnSpcReduction="20000"/>
          </a:bodyPr>
          <a:lstStyle/>
          <a:p>
            <a:pPr indent="-356307" lvl="0" marL="356307" rtl="0" algn="l">
              <a:spcBef>
                <a:spcPts val="0"/>
              </a:spcBef>
              <a:spcAft>
                <a:spcPts val="0"/>
              </a:spcAft>
              <a:buClr>
                <a:srgbClr val="CC9900"/>
              </a:buClr>
              <a:buSzPct val="150000"/>
              <a:buChar char="•"/>
            </a:pPr>
            <a:r>
              <a:rPr lang="ru-RU" sz="2800"/>
              <a:t>Англия и Франция имеют близкие пищевые предпочтения</a:t>
            </a:r>
            <a:endParaRPr/>
          </a:p>
          <a:p>
            <a:pPr indent="-356307" lvl="0" marL="356307" rtl="0" algn="l">
              <a:spcBef>
                <a:spcPts val="434"/>
              </a:spcBef>
              <a:spcAft>
                <a:spcPts val="0"/>
              </a:spcAft>
              <a:buClr>
                <a:srgbClr val="CC9900"/>
              </a:buClr>
              <a:buSzPct val="150000"/>
              <a:buChar char="•"/>
            </a:pPr>
            <a:r>
              <a:rPr lang="ru-RU" sz="2800"/>
              <a:t>Социализм или капитализм: две Германии в разных кластерах – принадлежность к какому-то лагерю влияет на  пищевые предпочтения </a:t>
            </a:r>
            <a:endParaRPr/>
          </a:p>
          <a:p>
            <a:pPr indent="-356307" lvl="0" marL="356307" rtl="0" algn="l">
              <a:spcBef>
                <a:spcPts val="434"/>
              </a:spcBef>
              <a:spcAft>
                <a:spcPts val="0"/>
              </a:spcAft>
              <a:buClr>
                <a:srgbClr val="CC9900"/>
              </a:buClr>
              <a:buSzPct val="150000"/>
              <a:buChar char="•"/>
            </a:pPr>
            <a:r>
              <a:rPr lang="ru-RU" sz="2800"/>
              <a:t>Два социализма – разница обусловлена географическим положением</a:t>
            </a:r>
            <a:endParaRPr/>
          </a:p>
        </p:txBody>
      </p:sp>
      <p:pic>
        <p:nvPicPr>
          <p:cNvPr id="1163" name="Google Shape;1163;p92"/>
          <p:cNvPicPr preferRelativeResize="0"/>
          <p:nvPr/>
        </p:nvPicPr>
        <p:blipFill rotWithShape="1">
          <a:blip r:embed="rId3">
            <a:alphaModFix/>
          </a:blip>
          <a:srcRect b="0" l="0" r="0" t="0"/>
          <a:stretch/>
        </p:blipFill>
        <p:spPr>
          <a:xfrm>
            <a:off x="4473909" y="3922712"/>
            <a:ext cx="4985023" cy="2457363"/>
          </a:xfrm>
          <a:prstGeom prst="rect">
            <a:avLst/>
          </a:prstGeom>
          <a:noFill/>
          <a:ln>
            <a:noFill/>
          </a:ln>
        </p:spPr>
      </p:pic>
      <p:sp>
        <p:nvSpPr>
          <p:cNvPr id="1164" name="Google Shape;1164;p92"/>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pic>
        <p:nvPicPr>
          <p:cNvPr id="1165" name="Google Shape;1165;p92"/>
          <p:cNvPicPr preferRelativeResize="0"/>
          <p:nvPr/>
        </p:nvPicPr>
        <p:blipFill rotWithShape="1">
          <a:blip r:embed="rId4">
            <a:alphaModFix/>
          </a:blip>
          <a:srcRect b="0" l="0" r="0" t="0"/>
          <a:stretch/>
        </p:blipFill>
        <p:spPr>
          <a:xfrm>
            <a:off x="1228935" y="3922712"/>
            <a:ext cx="3058008" cy="276919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93"/>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71" name="Google Shape;1171;p93"/>
          <p:cNvSpPr/>
          <p:nvPr/>
        </p:nvSpPr>
        <p:spPr>
          <a:xfrm>
            <a:off x="1178297" y="322263"/>
            <a:ext cx="8064128" cy="1283414"/>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72" name="Google Shape;1172;p93"/>
          <p:cNvSpPr/>
          <p:nvPr/>
        </p:nvSpPr>
        <p:spPr>
          <a:xfrm>
            <a:off x="387350" y="1750139"/>
            <a:ext cx="9431338" cy="4980862"/>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1173" name="Google Shape;1173;p93"/>
          <p:cNvSpPr txBox="1"/>
          <p:nvPr>
            <p:ph idx="4294967295" type="title"/>
          </p:nvPr>
        </p:nvSpPr>
        <p:spPr>
          <a:xfrm>
            <a:off x="1034280" y="213303"/>
            <a:ext cx="8550275" cy="68554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ru-RU" sz="2800"/>
              <a:t>k -средние против иерархической кластеризации</a:t>
            </a:r>
            <a:endParaRPr/>
          </a:p>
        </p:txBody>
      </p:sp>
      <p:sp>
        <p:nvSpPr>
          <p:cNvPr id="1174" name="Google Shape;1174;p93"/>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1175" name="Google Shape;1175;p93"/>
          <p:cNvSpPr txBox="1"/>
          <p:nvPr/>
        </p:nvSpPr>
        <p:spPr>
          <a:xfrm>
            <a:off x="488326" y="867222"/>
            <a:ext cx="9401799" cy="59400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chemeClr val="dk1"/>
                </a:solidFill>
                <a:latin typeface="Arial"/>
                <a:ea typeface="Arial"/>
                <a:cs typeface="Arial"/>
                <a:sym typeface="Arial"/>
              </a:rPr>
              <a:t>Кластеризация — это скорее субъективный статистический анализ, и подходящих алгоритмов может быть несколько, в зависимости от имеющегося набора данных или типа решаемой проблемы. Таким образом, выбор между </a:t>
            </a:r>
            <a:r>
              <a:rPr i="1" lang="ru-RU" sz="2000">
                <a:solidFill>
                  <a:schemeClr val="dk1"/>
                </a:solidFill>
                <a:latin typeface="Arial"/>
                <a:ea typeface="Arial"/>
                <a:cs typeface="Arial"/>
                <a:sym typeface="Arial"/>
              </a:rPr>
              <a:t>k</a:t>
            </a:r>
            <a:r>
              <a:rPr lang="ru-RU" sz="2000">
                <a:solidFill>
                  <a:schemeClr val="dk1"/>
                </a:solidFill>
                <a:latin typeface="Arial"/>
                <a:ea typeface="Arial"/>
                <a:cs typeface="Arial"/>
                <a:sym typeface="Arial"/>
              </a:rPr>
              <a:t> -средними и иерархической кластеризацией не всегда прост. Более того, ни один метод не лучше другого, каждый из них имеет свои ограничения и преимущества.</a:t>
            </a:r>
            <a:endParaRPr/>
          </a:p>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ru-RU" sz="2000">
                <a:solidFill>
                  <a:schemeClr val="dk1"/>
                </a:solidFill>
                <a:latin typeface="Arial"/>
                <a:ea typeface="Arial"/>
                <a:cs typeface="Arial"/>
                <a:sym typeface="Arial"/>
              </a:rPr>
              <a:t>Если у вас есть веские основания полагать, что в вашем наборе данных имеется </a:t>
            </a:r>
            <a:r>
              <a:rPr b="1" lang="ru-RU" sz="2000">
                <a:solidFill>
                  <a:schemeClr val="dk1"/>
                </a:solidFill>
                <a:latin typeface="Arial"/>
                <a:ea typeface="Arial"/>
                <a:cs typeface="Arial"/>
                <a:sym typeface="Arial"/>
              </a:rPr>
              <a:t>определенное количество кластеров</a:t>
            </a:r>
            <a:r>
              <a:rPr lang="ru-RU" sz="2000">
                <a:solidFill>
                  <a:schemeClr val="dk1"/>
                </a:solidFill>
                <a:latin typeface="Arial"/>
                <a:ea typeface="Arial"/>
                <a:cs typeface="Arial"/>
                <a:sym typeface="Arial"/>
              </a:rPr>
              <a:t> (например, если вы хотите различать больных и здоровых пациентов в зависимости от некоторых характеристик, но не знаете, к какой группе относятся пациенты), вам вероятно, следует выбрать кластеризацию </a:t>
            </a:r>
            <a:r>
              <a:rPr i="1" lang="ru-RU" sz="2000">
                <a:solidFill>
                  <a:schemeClr val="dk1"/>
                </a:solidFill>
                <a:latin typeface="Arial"/>
                <a:ea typeface="Arial"/>
                <a:cs typeface="Arial"/>
                <a:sym typeface="Arial"/>
              </a:rPr>
              <a:t>k</a:t>
            </a:r>
            <a:r>
              <a:rPr lang="ru-RU" sz="2000">
                <a:solidFill>
                  <a:schemeClr val="dk1"/>
                </a:solidFill>
                <a:latin typeface="Arial"/>
                <a:ea typeface="Arial"/>
                <a:cs typeface="Arial"/>
                <a:sym typeface="Arial"/>
              </a:rPr>
              <a:t> -средних, поскольку этот метод используется, когда количество групп указано заранее. Если у вас нет никаких оснований полагать, что в вашем наборе данных есть определенное количество групп (например, в маркетинге, когда вы пытаетесь различить клиентов без каких-либо предварительных предположений о количестве различных типов клиентов), то вам, вероятно, следует выбрать иерархическую кластеризацию, чтобы определить, на сколько кластеров следует разделить ваши данные.</a:t>
            </a:r>
            <a:endParaRPr sz="20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94"/>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81" name="Google Shape;1181;p94"/>
          <p:cNvSpPr/>
          <p:nvPr/>
        </p:nvSpPr>
        <p:spPr>
          <a:xfrm>
            <a:off x="1178297" y="322263"/>
            <a:ext cx="8064128" cy="1283414"/>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82" name="Google Shape;1182;p94"/>
          <p:cNvSpPr/>
          <p:nvPr/>
        </p:nvSpPr>
        <p:spPr>
          <a:xfrm>
            <a:off x="387350" y="1750139"/>
            <a:ext cx="9431338" cy="4980862"/>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1183" name="Google Shape;1183;p94"/>
          <p:cNvSpPr txBox="1"/>
          <p:nvPr>
            <p:ph idx="4294967295" type="title"/>
          </p:nvPr>
        </p:nvSpPr>
        <p:spPr>
          <a:xfrm>
            <a:off x="1034280" y="213303"/>
            <a:ext cx="8550275" cy="68554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800"/>
              <a:buFont typeface="Calibri"/>
              <a:buNone/>
            </a:pPr>
            <a:r>
              <a:rPr lang="ru-RU" sz="2800"/>
              <a:t>k -средние против иерархической кластеризации</a:t>
            </a:r>
            <a:endParaRPr/>
          </a:p>
        </p:txBody>
      </p:sp>
      <p:sp>
        <p:nvSpPr>
          <p:cNvPr id="1184" name="Google Shape;1184;p94"/>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
        <p:nvSpPr>
          <p:cNvPr id="1185" name="Google Shape;1185;p94"/>
          <p:cNvSpPr txBox="1"/>
          <p:nvPr/>
        </p:nvSpPr>
        <p:spPr>
          <a:xfrm>
            <a:off x="488326" y="945289"/>
            <a:ext cx="9401799" cy="3477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ru-RU" sz="2000">
                <a:solidFill>
                  <a:schemeClr val="dk1"/>
                </a:solidFill>
                <a:latin typeface="Arial"/>
                <a:ea typeface="Arial"/>
                <a:cs typeface="Arial"/>
                <a:sym typeface="Arial"/>
              </a:rPr>
              <a:t>В дополнение к этому, если вы все еще не определились, обратите внимание, что, с одной стороны, при большом количестве переменных </a:t>
            </a:r>
            <a:r>
              <a:rPr i="1" lang="ru-RU" sz="2000">
                <a:solidFill>
                  <a:schemeClr val="dk1"/>
                </a:solidFill>
                <a:latin typeface="Arial"/>
                <a:ea typeface="Arial"/>
                <a:cs typeface="Arial"/>
                <a:sym typeface="Arial"/>
              </a:rPr>
              <a:t>k</a:t>
            </a:r>
            <a:r>
              <a:rPr lang="ru-RU" sz="2000">
                <a:solidFill>
                  <a:schemeClr val="dk1"/>
                </a:solidFill>
                <a:latin typeface="Arial"/>
                <a:ea typeface="Arial"/>
                <a:cs typeface="Arial"/>
                <a:sym typeface="Arial"/>
              </a:rPr>
              <a:t> -средние могут быть вычислительно быстрее, чем иерархическая кластеризация, если количество кластеров невелико. С другой стороны, результатом иерархической кластеризации является структура, более информативная и интерпретируемая, чем неструктурированный набор плоских кластеров, возвращаемый </a:t>
            </a:r>
            <a:r>
              <a:rPr i="1" lang="ru-RU" sz="2000">
                <a:solidFill>
                  <a:schemeClr val="dk1"/>
                </a:solidFill>
                <a:latin typeface="Arial"/>
                <a:ea typeface="Arial"/>
                <a:cs typeface="Arial"/>
                <a:sym typeface="Arial"/>
              </a:rPr>
              <a:t>k</a:t>
            </a:r>
            <a:r>
              <a:rPr lang="ru-RU" sz="2000">
                <a:solidFill>
                  <a:schemeClr val="dk1"/>
                </a:solidFill>
                <a:latin typeface="Arial"/>
                <a:ea typeface="Arial"/>
                <a:cs typeface="Arial"/>
                <a:sym typeface="Arial"/>
              </a:rPr>
              <a:t> -средними. Следовательно, легче определить оптимальное количество кластеров, глядя на дендрограмму иерархической кластеризации, чем пытаться предсказать это оптимальное количество заранее в случае </a:t>
            </a:r>
            <a:r>
              <a:rPr i="1" lang="ru-RU" sz="2000">
                <a:solidFill>
                  <a:schemeClr val="dk1"/>
                </a:solidFill>
                <a:latin typeface="Arial"/>
                <a:ea typeface="Arial"/>
                <a:cs typeface="Arial"/>
                <a:sym typeface="Arial"/>
              </a:rPr>
              <a:t>k</a:t>
            </a:r>
            <a:r>
              <a:rPr lang="ru-RU" sz="2000">
                <a:solidFill>
                  <a:schemeClr val="dk1"/>
                </a:solidFill>
                <a:latin typeface="Arial"/>
                <a:ea typeface="Arial"/>
                <a:cs typeface="Arial"/>
                <a:sym typeface="Arial"/>
              </a:rPr>
              <a:t> -средних.</a:t>
            </a:r>
            <a:endParaRPr sz="20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95"/>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91" name="Google Shape;1191;p95"/>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192" name="Google Shape;1192;p95"/>
          <p:cNvSpPr/>
          <p:nvPr/>
        </p:nvSpPr>
        <p:spPr>
          <a:xfrm>
            <a:off x="387350" y="1258888"/>
            <a:ext cx="9431338" cy="5472113"/>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1193" name="Google Shape;1193;p95"/>
          <p:cNvSpPr txBox="1"/>
          <p:nvPr>
            <p:ph idx="4294967295" type="title"/>
          </p:nvPr>
        </p:nvSpPr>
        <p:spPr>
          <a:xfrm>
            <a:off x="1322313" y="288925"/>
            <a:ext cx="7227962" cy="7540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Задание</a:t>
            </a:r>
            <a:endParaRPr/>
          </a:p>
        </p:txBody>
      </p:sp>
      <p:sp>
        <p:nvSpPr>
          <p:cNvPr id="1194" name="Google Shape;1194;p95"/>
          <p:cNvSpPr/>
          <p:nvPr/>
        </p:nvSpPr>
        <p:spPr>
          <a:xfrm>
            <a:off x="616693" y="1619347"/>
            <a:ext cx="8972652" cy="50167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Рассмотрим данные о приеме на работу на некоторое предприятие. </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ru-RU" sz="2000">
                <a:solidFill>
                  <a:srgbClr val="000000"/>
                </a:solidFill>
                <a:latin typeface="Times New Roman"/>
                <a:ea typeface="Times New Roman"/>
                <a:cs typeface="Times New Roman"/>
                <a:sym typeface="Times New Roman"/>
              </a:rPr>
              <a:t>18 претендентов прошли 10 различных тестов в кадровом отделе. Максимальная оценка, которую можно было получить на каждом из тестов, составляет 10 баллов, минимальная - 1. Проверялись следующие качества:</a:t>
            </a: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1. Память на числа</a:t>
            </a: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2. Умение решать математические задачи</a:t>
            </a: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3. Находчивость при прямом диалоге</a:t>
            </a: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4. Умение составлять алгоритмы</a:t>
            </a: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5. Уверенность во время выступления</a:t>
            </a: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6. Командный дух</a:t>
            </a: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7. Находчивость</a:t>
            </a: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8. Сотрудничество</a:t>
            </a: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9. Признание в коллективе</a:t>
            </a: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10. Сила убеждения</a:t>
            </a:r>
            <a:endParaRPr sz="2000">
              <a:solidFill>
                <a:schemeClr val="dk1"/>
              </a:solidFill>
              <a:latin typeface="Arial"/>
              <a:ea typeface="Arial"/>
              <a:cs typeface="Arial"/>
              <a:sym typeface="Arial"/>
            </a:endParaRPr>
          </a:p>
        </p:txBody>
      </p:sp>
      <p:sp>
        <p:nvSpPr>
          <p:cNvPr id="1195" name="Google Shape;1195;p95"/>
          <p:cNvSpPr/>
          <p:nvPr/>
        </p:nvSpPr>
        <p:spPr>
          <a:xfrm>
            <a:off x="2641785" y="1409001"/>
            <a:ext cx="573731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Times New Roman"/>
                <a:ea typeface="Times New Roman"/>
                <a:cs typeface="Times New Roman"/>
                <a:sym typeface="Times New Roman"/>
              </a:rPr>
              <a:t>Классификация претендентов (assess.dat)</a:t>
            </a:r>
            <a:endParaRPr sz="2000">
              <a:solidFill>
                <a:schemeClr val="dk1"/>
              </a:solidFill>
              <a:latin typeface="Arial"/>
              <a:ea typeface="Arial"/>
              <a:cs typeface="Arial"/>
              <a:sym typeface="Arial"/>
            </a:endParaRPr>
          </a:p>
        </p:txBody>
      </p:sp>
      <p:sp>
        <p:nvSpPr>
          <p:cNvPr id="1196" name="Google Shape;1196;p95"/>
          <p:cNvSpPr txBox="1"/>
          <p:nvPr>
            <p:ph idx="12" type="sldNum"/>
          </p:nvPr>
        </p:nvSpPr>
        <p:spPr>
          <a:xfrm>
            <a:off x="9027168" y="6605014"/>
            <a:ext cx="736433"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96"/>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02" name="Google Shape;1202;p96"/>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03" name="Google Shape;1203;p96"/>
          <p:cNvSpPr/>
          <p:nvPr/>
        </p:nvSpPr>
        <p:spPr>
          <a:xfrm>
            <a:off x="387350" y="1258888"/>
            <a:ext cx="9431338" cy="5472113"/>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1204" name="Google Shape;1204;p96"/>
          <p:cNvSpPr txBox="1"/>
          <p:nvPr>
            <p:ph idx="4294967295" type="title"/>
          </p:nvPr>
        </p:nvSpPr>
        <p:spPr>
          <a:xfrm>
            <a:off x="1954635" y="288801"/>
            <a:ext cx="5897078" cy="7540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Задание</a:t>
            </a:r>
            <a:endParaRPr/>
          </a:p>
        </p:txBody>
      </p:sp>
      <p:sp>
        <p:nvSpPr>
          <p:cNvPr id="1205" name="Google Shape;1205;p96"/>
          <p:cNvSpPr/>
          <p:nvPr/>
        </p:nvSpPr>
        <p:spPr>
          <a:xfrm>
            <a:off x="652411" y="1918749"/>
            <a:ext cx="8972652" cy="40934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Times New Roman"/>
                <a:ea typeface="Times New Roman"/>
                <a:cs typeface="Times New Roman"/>
                <a:sym typeface="Times New Roman"/>
              </a:rPr>
              <a:t>Результаты теста хранятся в файле assess.dat в переменных t1 – t10,</a:t>
            </a: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соответственно. </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ru-RU" sz="2000">
                <a:solidFill>
                  <a:srgbClr val="000000"/>
                </a:solidFill>
                <a:latin typeface="Times New Roman"/>
                <a:ea typeface="Times New Roman"/>
                <a:cs typeface="Times New Roman"/>
                <a:sym typeface="Times New Roman"/>
              </a:rPr>
              <a:t>В файле присутствуют также переменные с номером и фамилией участника.</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Задача – провести кластерный анализ с целью обнаружения групп</a:t>
            </a:r>
            <a:br>
              <a:rPr lang="ru-RU" sz="2000">
                <a:solidFill>
                  <a:srgbClr val="000000"/>
                </a:solidFill>
                <a:latin typeface="Times New Roman"/>
                <a:ea typeface="Times New Roman"/>
                <a:cs typeface="Times New Roman"/>
                <a:sym typeface="Times New Roman"/>
              </a:rPr>
            </a:br>
            <a:r>
              <a:rPr lang="ru-RU" sz="2000">
                <a:solidFill>
                  <a:srgbClr val="000000"/>
                </a:solidFill>
                <a:latin typeface="Times New Roman"/>
                <a:ea typeface="Times New Roman"/>
                <a:cs typeface="Times New Roman"/>
                <a:sym typeface="Times New Roman"/>
              </a:rPr>
              <a:t>кандидатов, близких по своим качествам.</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ru-RU" sz="2000">
                <a:solidFill>
                  <a:srgbClr val="000000"/>
                </a:solidFill>
                <a:latin typeface="Times New Roman"/>
                <a:ea typeface="Times New Roman"/>
                <a:cs typeface="Times New Roman"/>
                <a:sym typeface="Times New Roman"/>
              </a:rPr>
              <a:t>Построить дендрограмму (используя матрицу расстояний)</a:t>
            </a:r>
            <a:br>
              <a:rPr lang="ru-RU" sz="2000">
                <a:solidFill>
                  <a:srgbClr val="000000"/>
                </a:solidFill>
                <a:latin typeface="Times New Roman"/>
                <a:ea typeface="Times New Roman"/>
                <a:cs typeface="Times New Roman"/>
                <a:sym typeface="Times New Roman"/>
              </a:rPr>
            </a:b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ru-RU" sz="2000">
                <a:solidFill>
                  <a:srgbClr val="000000"/>
                </a:solidFill>
                <a:latin typeface="Times New Roman"/>
                <a:ea typeface="Times New Roman"/>
                <a:cs typeface="Times New Roman"/>
                <a:sym typeface="Times New Roman"/>
              </a:rPr>
              <a:t>Сравнить решения, полученные при разбиении на три и четыре кластера.</a:t>
            </a:r>
            <a:endParaRPr sz="20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ru-RU" sz="2000">
                <a:solidFill>
                  <a:srgbClr val="000000"/>
                </a:solidFill>
                <a:latin typeface="Times New Roman"/>
                <a:ea typeface="Times New Roman"/>
                <a:cs typeface="Times New Roman"/>
                <a:sym typeface="Times New Roman"/>
              </a:rPr>
              <a:t>Сделать выводы, кого из претендентов следует принять </a:t>
            </a:r>
            <a:r>
              <a:rPr lang="ru-RU" sz="2000">
                <a:solidFill>
                  <a:schemeClr val="dk1"/>
                </a:solidFill>
                <a:latin typeface="Arial"/>
                <a:ea typeface="Arial"/>
                <a:cs typeface="Arial"/>
                <a:sym typeface="Arial"/>
              </a:rPr>
              <a:t> в первую очередь.</a:t>
            </a:r>
            <a:endParaRPr/>
          </a:p>
        </p:txBody>
      </p:sp>
      <p:sp>
        <p:nvSpPr>
          <p:cNvPr id="1206" name="Google Shape;1206;p96"/>
          <p:cNvSpPr/>
          <p:nvPr/>
        </p:nvSpPr>
        <p:spPr>
          <a:xfrm>
            <a:off x="2114401" y="1344940"/>
            <a:ext cx="573731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Times New Roman"/>
                <a:ea typeface="Times New Roman"/>
                <a:cs typeface="Times New Roman"/>
                <a:sym typeface="Times New Roman"/>
              </a:rPr>
              <a:t>Классификация претендентов (assess.dat)</a:t>
            </a:r>
            <a:endParaRPr sz="2000">
              <a:solidFill>
                <a:schemeClr val="dk1"/>
              </a:solidFill>
              <a:latin typeface="Arial"/>
              <a:ea typeface="Arial"/>
              <a:cs typeface="Arial"/>
              <a:sym typeface="Arial"/>
            </a:endParaRPr>
          </a:p>
        </p:txBody>
      </p:sp>
      <p:sp>
        <p:nvSpPr>
          <p:cNvPr id="1207" name="Google Shape;1207;p96"/>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97"/>
          <p:cNvSpPr/>
          <p:nvPr/>
        </p:nvSpPr>
        <p:spPr>
          <a:xfrm>
            <a:off x="242888" y="322263"/>
            <a:ext cx="9791700" cy="6553200"/>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13" name="Google Shape;1213;p97"/>
          <p:cNvSpPr/>
          <p:nvPr/>
        </p:nvSpPr>
        <p:spPr>
          <a:xfrm>
            <a:off x="1178297" y="322263"/>
            <a:ext cx="8064128" cy="720601"/>
          </a:xfrm>
          <a:prstGeom prst="roundRect">
            <a:avLst>
              <a:gd fmla="val 37469"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14" name="Google Shape;1214;p97"/>
          <p:cNvSpPr/>
          <p:nvPr/>
        </p:nvSpPr>
        <p:spPr>
          <a:xfrm>
            <a:off x="387350" y="1258888"/>
            <a:ext cx="9431338" cy="5472113"/>
          </a:xfrm>
          <a:prstGeom prst="roundRect">
            <a:avLst>
              <a:gd fmla="val 16667" name="adj"/>
            </a:avLst>
          </a:prstGeom>
          <a:solidFill>
            <a:srgbClr val="FFFFFF">
              <a:alpha val="78431"/>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rPr lang="ru-RU" sz="3500">
                <a:solidFill>
                  <a:schemeClr val="lt1"/>
                </a:solidFill>
                <a:latin typeface="Arial"/>
                <a:ea typeface="Arial"/>
                <a:cs typeface="Arial"/>
                <a:sym typeface="Arial"/>
              </a:rPr>
              <a:t> </a:t>
            </a:r>
            <a:endParaRPr/>
          </a:p>
        </p:txBody>
      </p:sp>
      <p:sp>
        <p:nvSpPr>
          <p:cNvPr id="1215" name="Google Shape;1215;p97"/>
          <p:cNvSpPr txBox="1"/>
          <p:nvPr>
            <p:ph idx="4294967295" type="title"/>
          </p:nvPr>
        </p:nvSpPr>
        <p:spPr>
          <a:xfrm>
            <a:off x="1954634" y="288801"/>
            <a:ext cx="6368205" cy="7540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ru-RU" sz="3600"/>
              <a:t>Задание</a:t>
            </a:r>
            <a:endParaRPr/>
          </a:p>
        </p:txBody>
      </p:sp>
      <p:sp>
        <p:nvSpPr>
          <p:cNvPr id="1216" name="Google Shape;1216;p97"/>
          <p:cNvSpPr/>
          <p:nvPr/>
        </p:nvSpPr>
        <p:spPr>
          <a:xfrm>
            <a:off x="2114401" y="955253"/>
            <a:ext cx="573731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2000">
                <a:solidFill>
                  <a:srgbClr val="000000"/>
                </a:solidFill>
                <a:latin typeface="Times New Roman"/>
                <a:ea typeface="Times New Roman"/>
                <a:cs typeface="Times New Roman"/>
                <a:sym typeface="Times New Roman"/>
              </a:rPr>
              <a:t>Классификация претендентов (assess.dat)</a:t>
            </a:r>
            <a:endParaRPr sz="2000">
              <a:solidFill>
                <a:schemeClr val="dk1"/>
              </a:solidFill>
              <a:latin typeface="Arial"/>
              <a:ea typeface="Arial"/>
              <a:cs typeface="Arial"/>
              <a:sym typeface="Arial"/>
            </a:endParaRPr>
          </a:p>
        </p:txBody>
      </p:sp>
      <p:sp>
        <p:nvSpPr>
          <p:cNvPr id="1217" name="Google Shape;1217;p97"/>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a:solidFill>
                  <a:schemeClr val="dk1"/>
                </a:solidFill>
              </a:rPr>
              <a:t>‹#›</a:t>
            </a:fld>
            <a:endParaRPr>
              <a:solidFill>
                <a:schemeClr val="dk1"/>
              </a:solidFill>
            </a:endParaRPr>
          </a:p>
        </p:txBody>
      </p:sp>
      <p:pic>
        <p:nvPicPr>
          <p:cNvPr id="1218" name="Google Shape;1218;p97"/>
          <p:cNvPicPr preferRelativeResize="0"/>
          <p:nvPr/>
        </p:nvPicPr>
        <p:blipFill rotWithShape="1">
          <a:blip r:embed="rId3">
            <a:alphaModFix/>
          </a:blip>
          <a:srcRect b="0" l="0" r="0" t="0"/>
          <a:stretch/>
        </p:blipFill>
        <p:spPr>
          <a:xfrm>
            <a:off x="294898" y="1444119"/>
            <a:ext cx="9376316" cy="4448150"/>
          </a:xfrm>
          <a:prstGeom prst="rect">
            <a:avLst/>
          </a:prstGeom>
          <a:noFill/>
          <a:ln>
            <a:noFill/>
          </a:ln>
        </p:spPr>
      </p:pic>
      <p:sp>
        <p:nvSpPr>
          <p:cNvPr id="1219" name="Google Shape;1219;p97"/>
          <p:cNvSpPr/>
          <p:nvPr/>
        </p:nvSpPr>
        <p:spPr>
          <a:xfrm>
            <a:off x="387350" y="5860365"/>
            <a:ext cx="871220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ru-RU" sz="1600">
                <a:solidFill>
                  <a:srgbClr val="000000"/>
                </a:solidFill>
                <a:latin typeface="Times New Roman"/>
                <a:ea typeface="Times New Roman"/>
                <a:cs typeface="Times New Roman"/>
                <a:sym typeface="Times New Roman"/>
              </a:rPr>
              <a:t>Тем, у кого есть проблемы с загрузкой рекомендуется установить библиотеку install.packages("tidyverse") </a:t>
            </a:r>
            <a:endParaRPr/>
          </a:p>
          <a:p>
            <a:pPr indent="0" lvl="0" marL="0" marR="0" rtl="0" algn="l">
              <a:spcBef>
                <a:spcPts val="0"/>
              </a:spcBef>
              <a:spcAft>
                <a:spcPts val="0"/>
              </a:spcAft>
              <a:buNone/>
            </a:pPr>
            <a:r>
              <a:rPr lang="ru-RU" sz="1600">
                <a:solidFill>
                  <a:srgbClr val="000000"/>
                </a:solidFill>
                <a:latin typeface="Times New Roman"/>
                <a:ea typeface="Times New Roman"/>
                <a:cs typeface="Times New Roman"/>
                <a:sym typeface="Times New Roman"/>
              </a:rPr>
              <a:t>О некоторых возможностях этой библиотеки - </a:t>
            </a:r>
            <a:r>
              <a:rPr lang="ru-RU" sz="1600" u="sng">
                <a:solidFill>
                  <a:srgbClr val="000000"/>
                </a:solidFill>
                <a:latin typeface="Times New Roman"/>
                <a:ea typeface="Times New Roman"/>
                <a:cs typeface="Times New Roman"/>
                <a:sym typeface="Times New Roman"/>
                <a:hlinkClick r:id="rId4">
                  <a:extLst>
                    <a:ext uri="{A12FA001-AC4F-418D-AE19-62706E023703}">
                      <ahyp:hlinkClr val="tx"/>
                    </a:ext>
                  </a:extLst>
                </a:hlinkClick>
              </a:rPr>
              <a:t>https://blog.sf.education/it-luchshie-biblioteki-yazyka-r/?ysclid=l1vqp9agy5</a:t>
            </a:r>
            <a:r>
              <a:rPr lang="ru-RU" sz="1600">
                <a:solidFill>
                  <a:srgbClr val="000000"/>
                </a:solidFill>
                <a:latin typeface="Times New Roman"/>
                <a:ea typeface="Times New Roman"/>
                <a:cs typeface="Times New Roman"/>
                <a:sym typeface="Times New Roman"/>
              </a:rPr>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98"/>
          <p:cNvSpPr/>
          <p:nvPr/>
        </p:nvSpPr>
        <p:spPr>
          <a:xfrm>
            <a:off x="98177" y="265112"/>
            <a:ext cx="10009112" cy="6481241"/>
          </a:xfrm>
          <a:prstGeom prst="roundRect">
            <a:avLst>
              <a:gd fmla="val 16667" name="adj"/>
            </a:avLst>
          </a:prstGeom>
          <a:solidFill>
            <a:schemeClr val="lt1">
              <a:alpha val="49803"/>
            </a:scheme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26" name="Google Shape;1226;p98"/>
          <p:cNvSpPr/>
          <p:nvPr/>
        </p:nvSpPr>
        <p:spPr>
          <a:xfrm>
            <a:off x="242889" y="1046163"/>
            <a:ext cx="9710040" cy="5901803"/>
          </a:xfrm>
          <a:prstGeom prst="roundRect">
            <a:avLst>
              <a:gd fmla="val 16667" name="adj"/>
            </a:avLst>
          </a:prstGeom>
          <a:gradFill>
            <a:gsLst>
              <a:gs pos="0">
                <a:srgbClr val="647F93"/>
              </a:gs>
              <a:gs pos="50000">
                <a:srgbClr val="91B8D5"/>
              </a:gs>
              <a:gs pos="100000">
                <a:srgbClr val="AEDCFF"/>
              </a:gs>
            </a:gsLst>
            <a:lin ang="18900000" scaled="0"/>
          </a:gradFill>
          <a:ln cap="flat" cmpd="sng" w="9525">
            <a:solidFill>
              <a:srgbClr val="A3E74C"/>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227" name="Google Shape;1227;p98"/>
          <p:cNvSpPr txBox="1"/>
          <p:nvPr/>
        </p:nvSpPr>
        <p:spPr>
          <a:xfrm>
            <a:off x="511585" y="1221192"/>
            <a:ext cx="9432477" cy="5847755"/>
          </a:xfrm>
          <a:prstGeom prst="rect">
            <a:avLst/>
          </a:prstGeom>
          <a:noFill/>
          <a:ln>
            <a:noFill/>
          </a:ln>
        </p:spPr>
        <p:txBody>
          <a:bodyPr anchorCtr="0" anchor="t" bIns="45700" lIns="91425" spcFirstLastPara="1" rIns="91425" wrap="square" tIns="45700">
            <a:spAutoFit/>
          </a:bodyPr>
          <a:lstStyle/>
          <a:p>
            <a:pPr indent="-514350" lvl="0" marL="514350" marR="0" rtl="0" algn="l">
              <a:spcBef>
                <a:spcPts val="0"/>
              </a:spcBef>
              <a:spcAft>
                <a:spcPts val="0"/>
              </a:spcAft>
              <a:buClr>
                <a:srgbClr val="FF5050"/>
              </a:buClr>
              <a:buSzPts val="2200"/>
              <a:buFont typeface="Calibri"/>
              <a:buAutoNum type="arabicPeriod"/>
            </a:pPr>
            <a:r>
              <a:rPr lang="ru-RU" sz="2200">
                <a:solidFill>
                  <a:schemeClr val="lt1"/>
                </a:solidFill>
                <a:latin typeface="Arial"/>
                <a:ea typeface="Arial"/>
                <a:cs typeface="Arial"/>
                <a:sym typeface="Arial"/>
              </a:rPr>
              <a:t>Основные задачи Data Analysis. Какие дисциплины охватывает Data Analysis? </a:t>
            </a:r>
            <a:endParaRPr/>
          </a:p>
          <a:p>
            <a:pPr indent="-514350" lvl="0" marL="514350" marR="0" rtl="0" algn="l">
              <a:spcBef>
                <a:spcPts val="0"/>
              </a:spcBef>
              <a:spcAft>
                <a:spcPts val="0"/>
              </a:spcAft>
              <a:buClr>
                <a:srgbClr val="FF5050"/>
              </a:buClr>
              <a:buSzPts val="2200"/>
              <a:buFont typeface="Calibri"/>
              <a:buAutoNum type="arabicPeriod"/>
            </a:pPr>
            <a:r>
              <a:rPr lang="ru-RU" sz="2200">
                <a:solidFill>
                  <a:schemeClr val="lt1"/>
                </a:solidFill>
                <a:latin typeface="Arial"/>
                <a:ea typeface="Arial"/>
                <a:cs typeface="Arial"/>
                <a:sym typeface="Arial"/>
              </a:rPr>
              <a:t>Классификация методов DM.</a:t>
            </a:r>
            <a:endParaRPr/>
          </a:p>
          <a:p>
            <a:pPr indent="-514350" lvl="0" marL="514350" marR="0" rtl="0" algn="l">
              <a:spcBef>
                <a:spcPts val="0"/>
              </a:spcBef>
              <a:spcAft>
                <a:spcPts val="0"/>
              </a:spcAft>
              <a:buClr>
                <a:srgbClr val="FF5050"/>
              </a:buClr>
              <a:buSzPts val="2200"/>
              <a:buFont typeface="Calibri"/>
              <a:buAutoNum type="arabicPeriod"/>
            </a:pPr>
            <a:r>
              <a:rPr lang="ru-RU" sz="2200">
                <a:solidFill>
                  <a:schemeClr val="lt1"/>
                </a:solidFill>
                <a:latin typeface="Arial"/>
                <a:ea typeface="Arial"/>
                <a:cs typeface="Arial"/>
                <a:sym typeface="Arial"/>
              </a:rPr>
              <a:t>Понятие кластерного анализа, Классификация алгоритмов кластеризации.</a:t>
            </a:r>
            <a:endParaRPr/>
          </a:p>
          <a:p>
            <a:pPr indent="-514350" lvl="0" marL="514350" marR="0" rtl="0" algn="l">
              <a:spcBef>
                <a:spcPts val="0"/>
              </a:spcBef>
              <a:spcAft>
                <a:spcPts val="0"/>
              </a:spcAft>
              <a:buClr>
                <a:srgbClr val="FF5050"/>
              </a:buClr>
              <a:buSzPts val="2200"/>
              <a:buFont typeface="Calibri"/>
              <a:buAutoNum type="arabicPeriod"/>
            </a:pPr>
            <a:r>
              <a:rPr lang="ru-RU" sz="2200">
                <a:solidFill>
                  <a:schemeClr val="lt1"/>
                </a:solidFill>
                <a:latin typeface="Arial"/>
                <a:ea typeface="Arial"/>
                <a:cs typeface="Arial"/>
                <a:sym typeface="Arial"/>
              </a:rPr>
              <a:t>Какие виды регрессионного анализа вы знаете. Как работает машина опорных векторов  SVM?</a:t>
            </a:r>
            <a:endParaRPr/>
          </a:p>
          <a:p>
            <a:pPr indent="-514350" lvl="0" marL="514350" marR="0" rtl="0" algn="l">
              <a:spcBef>
                <a:spcPts val="0"/>
              </a:spcBef>
              <a:spcAft>
                <a:spcPts val="0"/>
              </a:spcAft>
              <a:buClr>
                <a:srgbClr val="FF5050"/>
              </a:buClr>
              <a:buSzPts val="2200"/>
              <a:buFont typeface="Calibri"/>
              <a:buAutoNum type="arabicPeriod"/>
            </a:pPr>
            <a:r>
              <a:rPr lang="ru-RU" sz="2200">
                <a:solidFill>
                  <a:schemeClr val="lt1"/>
                </a:solidFill>
                <a:latin typeface="Arial"/>
                <a:ea typeface="Arial"/>
                <a:cs typeface="Arial"/>
                <a:sym typeface="Arial"/>
              </a:rPr>
              <a:t>Зачем нужна мера близости в кластеризации? В чем достоинства алгоритмов, построенных на основе теории графов? Перечислите виды алгоритмов кластеризации на графах.</a:t>
            </a:r>
            <a:endParaRPr/>
          </a:p>
          <a:p>
            <a:pPr indent="-514350" lvl="0" marL="514350" marR="0" rtl="0" algn="l">
              <a:spcBef>
                <a:spcPts val="0"/>
              </a:spcBef>
              <a:spcAft>
                <a:spcPts val="0"/>
              </a:spcAft>
              <a:buClr>
                <a:srgbClr val="FF5050"/>
              </a:buClr>
              <a:buSzPts val="2200"/>
              <a:buFont typeface="Calibri"/>
              <a:buAutoNum type="arabicPeriod"/>
            </a:pPr>
            <a:r>
              <a:rPr lang="ru-RU" sz="2200">
                <a:solidFill>
                  <a:schemeClr val="lt1"/>
                </a:solidFill>
                <a:latin typeface="Arial"/>
                <a:ea typeface="Arial"/>
                <a:cs typeface="Arial"/>
                <a:sym typeface="Arial"/>
              </a:rPr>
              <a:t>В чем суть алгоритмов нахождения квадратичной ошибки? </a:t>
            </a:r>
            <a:endParaRPr/>
          </a:p>
          <a:p>
            <a:pPr indent="-514350" lvl="0" marL="514350" marR="0" rtl="0" algn="l">
              <a:spcBef>
                <a:spcPts val="0"/>
              </a:spcBef>
              <a:spcAft>
                <a:spcPts val="0"/>
              </a:spcAft>
              <a:buClr>
                <a:srgbClr val="FF5050"/>
              </a:buClr>
              <a:buSzPts val="2200"/>
              <a:buFont typeface="Calibri"/>
              <a:buAutoNum type="arabicPeriod"/>
            </a:pPr>
            <a:r>
              <a:rPr lang="ru-RU" sz="2200">
                <a:solidFill>
                  <a:schemeClr val="lt1"/>
                </a:solidFill>
                <a:latin typeface="Arial"/>
                <a:ea typeface="Arial"/>
                <a:cs typeface="Arial"/>
                <a:sym typeface="Arial"/>
              </a:rPr>
              <a:t>Поясните суть работы алгоритмов нахождения связных компонент и алгоритмов покрывающего дерева.</a:t>
            </a:r>
            <a:endParaRPr/>
          </a:p>
          <a:p>
            <a:pPr indent="-514350" lvl="0" marL="514350" marR="0" rtl="0" algn="l">
              <a:spcBef>
                <a:spcPts val="0"/>
              </a:spcBef>
              <a:spcAft>
                <a:spcPts val="0"/>
              </a:spcAft>
              <a:buClr>
                <a:srgbClr val="FF5050"/>
              </a:buClr>
              <a:buSzPts val="2200"/>
              <a:buFont typeface="Calibri"/>
              <a:buAutoNum type="arabicPeriod"/>
            </a:pPr>
            <a:r>
              <a:rPr lang="ru-RU" sz="2200">
                <a:solidFill>
                  <a:schemeClr val="lt1"/>
                </a:solidFill>
                <a:latin typeface="Arial"/>
                <a:ea typeface="Arial"/>
                <a:cs typeface="Arial"/>
                <a:sym typeface="Arial"/>
              </a:rPr>
              <a:t>Опишите шаги построения дендрограммы.</a:t>
            </a:r>
            <a:endParaRPr sz="2200">
              <a:solidFill>
                <a:schemeClr val="lt1"/>
              </a:solidFill>
              <a:latin typeface="Arial"/>
              <a:ea typeface="Arial"/>
              <a:cs typeface="Arial"/>
              <a:sym typeface="Arial"/>
            </a:endParaRPr>
          </a:p>
          <a:p>
            <a:pPr indent="-514350" lvl="0" marL="514350" marR="0" rtl="0" algn="l">
              <a:spcBef>
                <a:spcPts val="0"/>
              </a:spcBef>
              <a:spcAft>
                <a:spcPts val="0"/>
              </a:spcAft>
              <a:buClr>
                <a:srgbClr val="FF5050"/>
              </a:buClr>
              <a:buSzPts val="2200"/>
              <a:buFont typeface="Calibri"/>
              <a:buAutoNum type="arabicPeriod"/>
            </a:pPr>
            <a:r>
              <a:rPr lang="ru-RU" sz="2200">
                <a:solidFill>
                  <a:schemeClr val="lt1"/>
                </a:solidFill>
                <a:latin typeface="Arial"/>
                <a:ea typeface="Arial"/>
                <a:cs typeface="Arial"/>
                <a:sym typeface="Arial"/>
              </a:rPr>
              <a:t>Поясните алгоритм работы кластеризатора  k-means.</a:t>
            </a:r>
            <a:endParaRPr sz="2200">
              <a:solidFill>
                <a:schemeClr val="lt1"/>
              </a:solidFill>
              <a:latin typeface="Arial"/>
              <a:ea typeface="Arial"/>
              <a:cs typeface="Arial"/>
              <a:sym typeface="Arial"/>
            </a:endParaRPr>
          </a:p>
          <a:p>
            <a:pPr indent="-514350" lvl="0" marL="514350" marR="0" rtl="0" algn="l">
              <a:spcBef>
                <a:spcPts val="0"/>
              </a:spcBef>
              <a:spcAft>
                <a:spcPts val="0"/>
              </a:spcAft>
              <a:buClr>
                <a:srgbClr val="FF5050"/>
              </a:buClr>
              <a:buSzPts val="2200"/>
              <a:buFont typeface="Calibri"/>
              <a:buAutoNum type="arabicPeriod"/>
            </a:pPr>
            <a:r>
              <a:rPr lang="ru-RU" sz="2200">
                <a:solidFill>
                  <a:schemeClr val="lt1"/>
                </a:solidFill>
                <a:latin typeface="Arial"/>
                <a:ea typeface="Arial"/>
                <a:cs typeface="Arial"/>
                <a:sym typeface="Arial"/>
              </a:rPr>
              <a:t>В чем состоит суть стандартизации и нормализации переменных, зачем они нужны?</a:t>
            </a:r>
            <a:endParaRPr/>
          </a:p>
        </p:txBody>
      </p:sp>
      <p:sp>
        <p:nvSpPr>
          <p:cNvPr id="1228" name="Google Shape;1228;p98"/>
          <p:cNvSpPr/>
          <p:nvPr/>
        </p:nvSpPr>
        <p:spPr>
          <a:xfrm>
            <a:off x="890588" y="469900"/>
            <a:ext cx="8351837" cy="647700"/>
          </a:xfrm>
          <a:prstGeom prst="roundRect">
            <a:avLst>
              <a:gd fmla="val 16667" name="adj"/>
            </a:avLst>
          </a:prstGeom>
          <a:solidFill>
            <a:srgbClr val="FFFFFF">
              <a:alpha val="78823"/>
            </a:srgbClr>
          </a:solidFill>
          <a:ln>
            <a:noFill/>
          </a:ln>
        </p:spPr>
        <p:txBody>
          <a:bodyPr anchorCtr="0" anchor="ctr" bIns="49700" lIns="99425" spcFirstLastPara="1" rIns="99425" wrap="square" tIns="49700">
            <a:noAutofit/>
          </a:bodyPr>
          <a:lstStyle/>
          <a:p>
            <a:pPr indent="0" lvl="0" marL="0" marR="0" rtl="0" algn="l">
              <a:spcBef>
                <a:spcPts val="0"/>
              </a:spcBef>
              <a:spcAft>
                <a:spcPts val="0"/>
              </a:spcAft>
              <a:buNone/>
            </a:pPr>
            <a:r>
              <a:t/>
            </a:r>
            <a:endParaRPr sz="3500">
              <a:solidFill>
                <a:schemeClr val="lt1"/>
              </a:solidFill>
              <a:latin typeface="Arial"/>
              <a:ea typeface="Arial"/>
              <a:cs typeface="Arial"/>
              <a:sym typeface="Arial"/>
            </a:endParaRPr>
          </a:p>
        </p:txBody>
      </p:sp>
      <p:sp>
        <p:nvSpPr>
          <p:cNvPr id="1229" name="Google Shape;1229;p98"/>
          <p:cNvSpPr/>
          <p:nvPr/>
        </p:nvSpPr>
        <p:spPr>
          <a:xfrm>
            <a:off x="890588" y="466725"/>
            <a:ext cx="8280400" cy="5794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ru-RU" sz="3200">
                <a:solidFill>
                  <a:schemeClr val="dk2"/>
                </a:solidFill>
                <a:latin typeface="Arial"/>
                <a:ea typeface="Arial"/>
                <a:cs typeface="Arial"/>
                <a:sym typeface="Arial"/>
              </a:rPr>
              <a:t>Вопросы</a:t>
            </a:r>
            <a:endParaRPr/>
          </a:p>
        </p:txBody>
      </p:sp>
      <p:sp>
        <p:nvSpPr>
          <p:cNvPr id="1230" name="Google Shape;1230;p98"/>
          <p:cNvSpPr txBox="1"/>
          <p:nvPr>
            <p:ph idx="12" type="sldNum"/>
          </p:nvPr>
        </p:nvSpPr>
        <p:spPr>
          <a:xfrm>
            <a:off x="7365524" y="6605014"/>
            <a:ext cx="2398078" cy="379409"/>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ru-RU" sz="1400">
                <a:solidFill>
                  <a:schemeClr val="dk1"/>
                </a:solidFill>
              </a:rPr>
              <a:t>‹#›</a:t>
            </a:fld>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xno">
  <a:themeElements>
    <a:clrScheme name="Воздушный поток">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2015-01-17T09:44:41Z</dcterms:created>
  <dc:creator>Tatyana</dc:creator>
</cp:coreProperties>
</file>