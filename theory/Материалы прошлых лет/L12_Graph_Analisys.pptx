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9"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y="7126275" cx="12668250"/>
  <p:notesSz cx="6858000" cy="9144000"/>
  <p:embeddedFontLst>
    <p:embeddedFont>
      <p:font typeface="Old Standard TT"/>
      <p:regular r:id="rId73"/>
      <p:bold r:id="rId74"/>
      <p: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45">
          <p15:clr>
            <a:srgbClr val="000000"/>
          </p15:clr>
        </p15:guide>
        <p15:guide id="2" pos="3990">
          <p15:clr>
            <a:srgbClr val="000000"/>
          </p15:clr>
        </p15:guide>
      </p15:sldGuideLst>
    </p:ext>
    <p:ext uri="GoogleSlidesCustomDataVersion2">
      <go:slidesCustomData xmlns:go="http://customooxmlschemas.google.com/" r:id="rId76" roundtripDataSignature="AMtx7mhI038YquQkFMhRcjAgx+aosNu5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45" orient="horz"/>
        <p:guide pos="399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OldStandardTT-regular.fntdata"/><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font" Target="fonts/OldStandardTT-italic.fntdata"/><Relationship Id="rId30" Type="http://schemas.openxmlformats.org/officeDocument/2006/relationships/slide" Target="slides/slide23.xml"/><Relationship Id="rId74" Type="http://schemas.openxmlformats.org/officeDocument/2006/relationships/font" Target="fonts/OldStandardTT-bold.fntdata"/><Relationship Id="rId33" Type="http://schemas.openxmlformats.org/officeDocument/2006/relationships/slide" Target="slides/slide26.xml"/><Relationship Id="rId32" Type="http://schemas.openxmlformats.org/officeDocument/2006/relationships/slide" Target="slides/slide25.xml"/><Relationship Id="rId76" Type="http://customschemas.google.com/relationships/presentationmetadata" Target="metadata"/><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cap="none" strike="noStrike">
                <a:solidFill>
                  <a:srgbClr val="000000"/>
                </a:solidFill>
                <a:latin typeface="Arial"/>
                <a:ea typeface="Arial"/>
                <a:cs typeface="Arial"/>
                <a:sym typeface="Arial"/>
              </a:rPr>
              <a:t>‹#›</a:t>
            </a:fld>
            <a:endParaRPr/>
          </a:p>
        </p:txBody>
      </p:sp>
      <p:sp>
        <p:nvSpPr>
          <p:cNvPr id="103" name="Google Shape;103;p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fld id="{00000000-1234-1234-1234-123412341234}" type="slidenum">
              <a:rPr b="0" i="0" lang="en-US" sz="20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21" name="Google Shape;121;p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fld id="{00000000-1234-1234-1234-123412341234}" type="slidenum">
              <a:rPr b="0" i="0" lang="en-US" sz="2000" u="non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30" name="Google Shape;130;p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42" name="Google Shape;142;p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53" name="Google Shape;153;p6: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64" name="Google Shape;164;p7: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75" name="Google Shape;175;p8: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187" name="Google Shape;187;p9: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00" name="Google Shape;200;p10: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12" name="Google Shape;212;p1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25" name="Google Shape;225;p1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37" name="Google Shape;237;p1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50" name="Google Shape;250;p1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63" name="Google Shape;263;p1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fld id="{00000000-1234-1234-1234-123412341234}" type="slidenum">
              <a:rPr b="0" i="0" lang="en-US" sz="2000" u="none">
                <a:solidFill>
                  <a:srgbClr val="000000"/>
                </a:solidFill>
                <a:latin typeface="Calibri"/>
                <a:ea typeface="Calibri"/>
                <a:cs typeface="Calibri"/>
                <a:sym typeface="Calibri"/>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72" name="Google Shape;272;p16: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83" name="Google Shape;283;p17: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294" name="Google Shape;294;p18: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07" name="Google Shape;307;p19: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19" name="Google Shape;319;p20: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31" name="Google Shape;331;p2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43" name="Google Shape;343;p2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55" name="Google Shape;355;p2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67" name="Google Shape;367;p2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81" name="Google Shape;381;p2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fld id="{00000000-1234-1234-1234-123412341234}" type="slidenum">
              <a:rPr b="0" i="0" lang="en-US" sz="2000" u="none">
                <a:solidFill>
                  <a:srgbClr val="000000"/>
                </a:solidFill>
                <a:latin typeface="Calibri"/>
                <a:ea typeface="Calibri"/>
                <a:cs typeface="Calibri"/>
                <a:sym typeface="Calibri"/>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390" name="Google Shape;390;p26: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02" name="Google Shape;402;p27: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15" name="Google Shape;415;p28: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28" name="Google Shape;428;p29: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43" name="Google Shape;443;p30: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56" name="Google Shape;456;p3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75" name="Google Shape;475;p3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491" name="Google Shape;491;p3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03" name="Google Shape;503;p3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19" name="Google Shape;519;p3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31" name="Google Shape;531;p36: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43" name="Google Shape;543;p37: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60" name="Google Shape;560;p38: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72" name="Google Shape;572;p39: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fld id="{00000000-1234-1234-1234-123412341234}" type="slidenum">
              <a:rPr b="0" i="0" lang="en-US" sz="2000" u="none">
                <a:solidFill>
                  <a:srgbClr val="000000"/>
                </a:solidFill>
                <a:latin typeface="Calibri"/>
                <a:ea typeface="Calibri"/>
                <a:cs typeface="Calibri"/>
                <a:sym typeface="Calibri"/>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81" name="Google Shape;581;p40: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594" name="Google Shape;594;p4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608" name="Google Shape;608;p4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621" name="Google Shape;621;p4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635" name="Google Shape;635;p4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Calibri"/>
              <a:buNone/>
            </a:pPr>
            <a:fld id="{00000000-1234-1234-1234-123412341234}" type="slidenum">
              <a:rPr b="0" i="0" lang="en-US" sz="2000" u="none">
                <a:solidFill>
                  <a:srgbClr val="000000"/>
                </a:solidFill>
                <a:latin typeface="Calibri"/>
                <a:ea typeface="Calibri"/>
                <a:cs typeface="Calibri"/>
                <a:sym typeface="Calibri"/>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643" name="Google Shape;643;p4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666" name="Google Shape;666;p46: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7" name="Google Shape;66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686" name="Google Shape;686;p47: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01" name="Google Shape;701;p48: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15" name="Google Shape;715;p49: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 name="Google Shape;716;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28" name="Google Shape;728;p50: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9" name="Google Shape;729;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43" name="Google Shape;743;p5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4" name="Google Shape;744;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56" name="Google Shape;756;p5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71" name="Google Shape;771;p5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2" name="Google Shape;772;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84" name="Google Shape;784;p5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797" name="Google Shape;797;p5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8" name="Google Shape;798;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11" name="Google Shape;811;p56: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2" name="Google Shape;812;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25" name="Google Shape;825;p57: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6" name="Google Shape;826;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38" name="Google Shape;838;p58: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51" name="Google Shape;851;p59: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6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68" name="Google Shape;868;p60: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9" name="Google Shape;869;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6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82" name="Google Shape;882;p61: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3" name="Google Shape;883;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6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897" name="Google Shape;897;p62: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8" name="Google Shape;898;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6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en-US" sz="2000" u="none">
                <a:solidFill>
                  <a:srgbClr val="000000"/>
                </a:solidFill>
                <a:latin typeface="Arial"/>
                <a:ea typeface="Arial"/>
                <a:cs typeface="Arial"/>
                <a:sym typeface="Arial"/>
              </a:rPr>
              <a:t>‹#›</a:t>
            </a:fld>
            <a:endParaRPr/>
          </a:p>
        </p:txBody>
      </p:sp>
      <p:sp>
        <p:nvSpPr>
          <p:cNvPr id="912" name="Google Shape;912;p63: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3" name="Google Shape;913;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64: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 name="Google Shape;937;p65:notes"/>
          <p:cNvSpPr/>
          <p:nvPr>
            <p:ph idx="2" type="sldImg"/>
          </p:nvPr>
        </p:nvSpPr>
        <p:spPr>
          <a:xfrm>
            <a:off x="382587"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5" name="Shape 15"/>
        <p:cNvGrpSpPr/>
        <p:nvPr/>
      </p:nvGrpSpPr>
      <p:grpSpPr>
        <a:xfrm>
          <a:off x="0" y="0"/>
          <a:ext cx="0" cy="0"/>
          <a:chOff x="0" y="0"/>
          <a:chExt cx="0" cy="0"/>
        </a:xfrm>
      </p:grpSpPr>
      <p:sp>
        <p:nvSpPr>
          <p:cNvPr id="16" name="Google Shape;16;p67"/>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7"/>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67"/>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9" name="Shape 19"/>
        <p:cNvGrpSpPr/>
        <p:nvPr/>
      </p:nvGrpSpPr>
      <p:grpSpPr>
        <a:xfrm>
          <a:off x="0" y="0"/>
          <a:ext cx="0" cy="0"/>
          <a:chOff x="0" y="0"/>
          <a:chExt cx="0" cy="0"/>
        </a:xfrm>
      </p:grpSpPr>
      <p:sp>
        <p:nvSpPr>
          <p:cNvPr id="20" name="Google Shape;20;p68"/>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8"/>
          <p:cNvSpPr txBox="1"/>
          <p:nvPr>
            <p:ph idx="1" type="body"/>
          </p:nvPr>
        </p:nvSpPr>
        <p:spPr>
          <a:xfrm>
            <a:off x="633412" y="1662112"/>
            <a:ext cx="11401425" cy="470376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68"/>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8"/>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68"/>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25" name="Shape 25"/>
        <p:cNvGrpSpPr/>
        <p:nvPr/>
      </p:nvGrpSpPr>
      <p:grpSpPr>
        <a:xfrm>
          <a:off x="0" y="0"/>
          <a:ext cx="0" cy="0"/>
          <a:chOff x="0" y="0"/>
          <a:chExt cx="0" cy="0"/>
        </a:xfrm>
      </p:grpSpPr>
      <p:sp>
        <p:nvSpPr>
          <p:cNvPr id="26" name="Google Shape;26;p69"/>
          <p:cNvSpPr txBox="1"/>
          <p:nvPr>
            <p:ph type="title"/>
          </p:nvPr>
        </p:nvSpPr>
        <p:spPr>
          <a:xfrm rot="5400000">
            <a:off x="7569439" y="1900426"/>
            <a:ext cx="6080439" cy="2850356"/>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9"/>
          <p:cNvSpPr txBox="1"/>
          <p:nvPr>
            <p:ph idx="1" type="body"/>
          </p:nvPr>
        </p:nvSpPr>
        <p:spPr>
          <a:xfrm rot="5400000">
            <a:off x="1763159" y="-844362"/>
            <a:ext cx="6080439" cy="8339931"/>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69"/>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9"/>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9"/>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31" name="Shape 31"/>
        <p:cNvGrpSpPr/>
        <p:nvPr/>
      </p:nvGrpSpPr>
      <p:grpSpPr>
        <a:xfrm>
          <a:off x="0" y="0"/>
          <a:ext cx="0" cy="0"/>
          <a:chOff x="0" y="0"/>
          <a:chExt cx="0" cy="0"/>
        </a:xfrm>
      </p:grpSpPr>
      <p:sp>
        <p:nvSpPr>
          <p:cNvPr id="32" name="Google Shape;32;p70"/>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0"/>
          <p:cNvSpPr txBox="1"/>
          <p:nvPr>
            <p:ph idx="1" type="body"/>
          </p:nvPr>
        </p:nvSpPr>
        <p:spPr>
          <a:xfrm rot="5400000">
            <a:off x="3982243" y="-1686719"/>
            <a:ext cx="4703762" cy="11401425"/>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70"/>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0"/>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70"/>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37" name="Shape 37"/>
        <p:cNvGrpSpPr/>
        <p:nvPr/>
      </p:nvGrpSpPr>
      <p:grpSpPr>
        <a:xfrm>
          <a:off x="0" y="0"/>
          <a:ext cx="0" cy="0"/>
          <a:chOff x="0" y="0"/>
          <a:chExt cx="0" cy="0"/>
        </a:xfrm>
      </p:grpSpPr>
      <p:sp>
        <p:nvSpPr>
          <p:cNvPr id="38" name="Google Shape;38;p71"/>
          <p:cNvSpPr txBox="1"/>
          <p:nvPr>
            <p:ph type="title"/>
          </p:nvPr>
        </p:nvSpPr>
        <p:spPr>
          <a:xfrm>
            <a:off x="2483066" y="4988403"/>
            <a:ext cx="7600950" cy="58890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1"/>
          <p:cNvSpPr/>
          <p:nvPr>
            <p:ph idx="2" type="pic"/>
          </p:nvPr>
        </p:nvSpPr>
        <p:spPr>
          <a:xfrm>
            <a:off x="2483066" y="636748"/>
            <a:ext cx="7600950" cy="4275773"/>
          </a:xfrm>
          <a:prstGeom prst="rect">
            <a:avLst/>
          </a:prstGeom>
          <a:noFill/>
          <a:ln>
            <a:noFill/>
          </a:ln>
        </p:spPr>
      </p:sp>
      <p:sp>
        <p:nvSpPr>
          <p:cNvPr id="40" name="Google Shape;40;p71"/>
          <p:cNvSpPr txBox="1"/>
          <p:nvPr>
            <p:ph idx="1" type="body"/>
          </p:nvPr>
        </p:nvSpPr>
        <p:spPr>
          <a:xfrm>
            <a:off x="2483066" y="5577311"/>
            <a:ext cx="7600950" cy="83634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41" name="Google Shape;41;p71"/>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1"/>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1"/>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44" name="Shape 44"/>
        <p:cNvGrpSpPr/>
        <p:nvPr/>
      </p:nvGrpSpPr>
      <p:grpSpPr>
        <a:xfrm>
          <a:off x="0" y="0"/>
          <a:ext cx="0" cy="0"/>
          <a:chOff x="0" y="0"/>
          <a:chExt cx="0" cy="0"/>
        </a:xfrm>
      </p:grpSpPr>
      <p:sp>
        <p:nvSpPr>
          <p:cNvPr id="45" name="Google Shape;45;p72"/>
          <p:cNvSpPr txBox="1"/>
          <p:nvPr>
            <p:ph type="title"/>
          </p:nvPr>
        </p:nvSpPr>
        <p:spPr>
          <a:xfrm>
            <a:off x="633414" y="283732"/>
            <a:ext cx="4167766" cy="120751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2"/>
          <p:cNvSpPr txBox="1"/>
          <p:nvPr>
            <p:ph idx="1" type="body"/>
          </p:nvPr>
        </p:nvSpPr>
        <p:spPr>
          <a:xfrm>
            <a:off x="4952933" y="283734"/>
            <a:ext cx="7081904" cy="6082089"/>
          </a:xfrm>
          <a:prstGeom prst="rect">
            <a:avLst/>
          </a:prstGeom>
          <a:noFill/>
          <a:ln>
            <a:noFill/>
          </a:ln>
        </p:spPr>
        <p:txBody>
          <a:bodyPr anchorCtr="0" anchor="t" bIns="45700" lIns="91425" spcFirstLastPara="1" rIns="91425" wrap="square" tIns="45700">
            <a:normAutofit/>
          </a:bodyPr>
          <a:lstStyle>
            <a:lvl1pPr indent="-439737" lvl="0" marL="457200" algn="l">
              <a:spcBef>
                <a:spcPts val="665"/>
              </a:spcBef>
              <a:spcAft>
                <a:spcPts val="0"/>
              </a:spcAft>
              <a:buClr>
                <a:schemeClr val="dk1"/>
              </a:buClr>
              <a:buSzPts val="3325"/>
              <a:buChar char="•"/>
              <a:defRPr sz="3325"/>
            </a:lvl1pPr>
            <a:lvl2pPr indent="-413321" lvl="1" marL="914400" algn="l">
              <a:spcBef>
                <a:spcPts val="582"/>
              </a:spcBef>
              <a:spcAft>
                <a:spcPts val="0"/>
              </a:spcAft>
              <a:buClr>
                <a:schemeClr val="dk1"/>
              </a:buClr>
              <a:buSzPts val="2909"/>
              <a:buChar char="–"/>
              <a:defRPr sz="2909"/>
            </a:lvl2pPr>
            <a:lvl3pPr indent="-386969" lvl="2" marL="1371600" algn="l">
              <a:spcBef>
                <a:spcPts val="499"/>
              </a:spcBef>
              <a:spcAft>
                <a:spcPts val="0"/>
              </a:spcAft>
              <a:buClr>
                <a:schemeClr val="dk1"/>
              </a:buClr>
              <a:buSzPts val="2494"/>
              <a:buChar char="•"/>
              <a:defRPr sz="2494"/>
            </a:lvl3pPr>
            <a:lvl4pPr indent="-360553" lvl="3" marL="1828800" algn="l">
              <a:spcBef>
                <a:spcPts val="416"/>
              </a:spcBef>
              <a:spcAft>
                <a:spcPts val="0"/>
              </a:spcAft>
              <a:buClr>
                <a:schemeClr val="dk1"/>
              </a:buClr>
              <a:buSzPts val="2078"/>
              <a:buChar char="–"/>
              <a:defRPr sz="2078"/>
            </a:lvl4pPr>
            <a:lvl5pPr indent="-360553" lvl="4" marL="2286000" algn="l">
              <a:spcBef>
                <a:spcPts val="416"/>
              </a:spcBef>
              <a:spcAft>
                <a:spcPts val="0"/>
              </a:spcAft>
              <a:buClr>
                <a:schemeClr val="dk1"/>
              </a:buClr>
              <a:buSzPts val="2078"/>
              <a:buChar char="»"/>
              <a:defRPr sz="2078"/>
            </a:lvl5pPr>
            <a:lvl6pPr indent="-360553" lvl="5" marL="2743200" algn="l">
              <a:spcBef>
                <a:spcPts val="416"/>
              </a:spcBef>
              <a:spcAft>
                <a:spcPts val="0"/>
              </a:spcAft>
              <a:buClr>
                <a:schemeClr val="dk1"/>
              </a:buClr>
              <a:buSzPts val="2078"/>
              <a:buChar char="•"/>
              <a:defRPr sz="2078"/>
            </a:lvl6pPr>
            <a:lvl7pPr indent="-360553" lvl="6" marL="3200400" algn="l">
              <a:spcBef>
                <a:spcPts val="416"/>
              </a:spcBef>
              <a:spcAft>
                <a:spcPts val="0"/>
              </a:spcAft>
              <a:buClr>
                <a:schemeClr val="dk1"/>
              </a:buClr>
              <a:buSzPts val="2078"/>
              <a:buChar char="•"/>
              <a:defRPr sz="2078"/>
            </a:lvl7pPr>
            <a:lvl8pPr indent="-360553" lvl="7" marL="3657600" algn="l">
              <a:spcBef>
                <a:spcPts val="416"/>
              </a:spcBef>
              <a:spcAft>
                <a:spcPts val="0"/>
              </a:spcAft>
              <a:buClr>
                <a:schemeClr val="dk1"/>
              </a:buClr>
              <a:buSzPts val="2078"/>
              <a:buChar char="•"/>
              <a:defRPr sz="2078"/>
            </a:lvl8pPr>
            <a:lvl9pPr indent="-360553" lvl="8" marL="4114800" algn="l">
              <a:spcBef>
                <a:spcPts val="416"/>
              </a:spcBef>
              <a:spcAft>
                <a:spcPts val="0"/>
              </a:spcAft>
              <a:buClr>
                <a:schemeClr val="dk1"/>
              </a:buClr>
              <a:buSzPts val="2078"/>
              <a:buChar char="•"/>
              <a:defRPr sz="2078"/>
            </a:lvl9pPr>
          </a:lstStyle>
          <a:p/>
        </p:txBody>
      </p:sp>
      <p:sp>
        <p:nvSpPr>
          <p:cNvPr id="47" name="Google Shape;47;p72"/>
          <p:cNvSpPr txBox="1"/>
          <p:nvPr>
            <p:ph idx="2" type="body"/>
          </p:nvPr>
        </p:nvSpPr>
        <p:spPr>
          <a:xfrm>
            <a:off x="633414" y="1491243"/>
            <a:ext cx="4167766" cy="487457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48" name="Google Shape;48;p72"/>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2"/>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2"/>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1" name="Shape 51"/>
        <p:cNvGrpSpPr/>
        <p:nvPr/>
      </p:nvGrpSpPr>
      <p:grpSpPr>
        <a:xfrm>
          <a:off x="0" y="0"/>
          <a:ext cx="0" cy="0"/>
          <a:chOff x="0" y="0"/>
          <a:chExt cx="0" cy="0"/>
        </a:xfrm>
      </p:grpSpPr>
      <p:sp>
        <p:nvSpPr>
          <p:cNvPr id="52" name="Google Shape;52;p73"/>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73"/>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3"/>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3"/>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56" name="Shape 56"/>
        <p:cNvGrpSpPr/>
        <p:nvPr/>
      </p:nvGrpSpPr>
      <p:grpSpPr>
        <a:xfrm>
          <a:off x="0" y="0"/>
          <a:ext cx="0" cy="0"/>
          <a:chOff x="0" y="0"/>
          <a:chExt cx="0" cy="0"/>
        </a:xfrm>
      </p:grpSpPr>
      <p:sp>
        <p:nvSpPr>
          <p:cNvPr id="57" name="Google Shape;57;p74"/>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572"/>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4"/>
          <p:cNvSpPr txBox="1"/>
          <p:nvPr>
            <p:ph idx="1" type="body"/>
          </p:nvPr>
        </p:nvSpPr>
        <p:spPr>
          <a:xfrm>
            <a:off x="633413" y="1595167"/>
            <a:ext cx="5597344"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59" name="Google Shape;59;p74"/>
          <p:cNvSpPr txBox="1"/>
          <p:nvPr>
            <p:ph idx="2" type="body"/>
          </p:nvPr>
        </p:nvSpPr>
        <p:spPr>
          <a:xfrm>
            <a:off x="633413" y="2259957"/>
            <a:ext cx="5597344"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60" name="Google Shape;60;p74"/>
          <p:cNvSpPr txBox="1"/>
          <p:nvPr>
            <p:ph idx="3" type="body"/>
          </p:nvPr>
        </p:nvSpPr>
        <p:spPr>
          <a:xfrm>
            <a:off x="6435296" y="1595167"/>
            <a:ext cx="5599543"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61" name="Google Shape;61;p74"/>
          <p:cNvSpPr txBox="1"/>
          <p:nvPr>
            <p:ph idx="4" type="body"/>
          </p:nvPr>
        </p:nvSpPr>
        <p:spPr>
          <a:xfrm>
            <a:off x="6435296" y="2259957"/>
            <a:ext cx="5599543"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62" name="Google Shape;62;p74"/>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4"/>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4"/>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65" name="Shape 65"/>
        <p:cNvGrpSpPr/>
        <p:nvPr/>
      </p:nvGrpSpPr>
      <p:grpSpPr>
        <a:xfrm>
          <a:off x="0" y="0"/>
          <a:ext cx="0" cy="0"/>
          <a:chOff x="0" y="0"/>
          <a:chExt cx="0" cy="0"/>
        </a:xfrm>
      </p:grpSpPr>
      <p:sp>
        <p:nvSpPr>
          <p:cNvPr id="66" name="Google Shape;66;p75"/>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5"/>
          <p:cNvSpPr txBox="1"/>
          <p:nvPr>
            <p:ph idx="1" type="body"/>
          </p:nvPr>
        </p:nvSpPr>
        <p:spPr>
          <a:xfrm>
            <a:off x="633413" y="1662802"/>
            <a:ext cx="5595144"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68" name="Google Shape;68;p75"/>
          <p:cNvSpPr txBox="1"/>
          <p:nvPr>
            <p:ph idx="2" type="body"/>
          </p:nvPr>
        </p:nvSpPr>
        <p:spPr>
          <a:xfrm>
            <a:off x="6439693" y="1662802"/>
            <a:ext cx="5595144"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69" name="Google Shape;69;p75"/>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5"/>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5"/>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72" name="Shape 72"/>
        <p:cNvGrpSpPr/>
        <p:nvPr/>
      </p:nvGrpSpPr>
      <p:grpSpPr>
        <a:xfrm>
          <a:off x="0" y="0"/>
          <a:ext cx="0" cy="0"/>
          <a:chOff x="0" y="0"/>
          <a:chExt cx="0" cy="0"/>
        </a:xfrm>
      </p:grpSpPr>
      <p:sp>
        <p:nvSpPr>
          <p:cNvPr id="73" name="Google Shape;73;p76"/>
          <p:cNvSpPr txBox="1"/>
          <p:nvPr>
            <p:ph type="title"/>
          </p:nvPr>
        </p:nvSpPr>
        <p:spPr>
          <a:xfrm>
            <a:off x="1000705" y="4579300"/>
            <a:ext cx="10768013" cy="141536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156"/>
              <a:buFont typeface="Calibri"/>
              <a:buNone/>
              <a:defRPr b="1" sz="4156"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6"/>
          <p:cNvSpPr txBox="1"/>
          <p:nvPr>
            <p:ph idx="1" type="body"/>
          </p:nvPr>
        </p:nvSpPr>
        <p:spPr>
          <a:xfrm>
            <a:off x="1000705" y="3020426"/>
            <a:ext cx="10768013" cy="1558875"/>
          </a:xfrm>
          <a:prstGeom prst="rect">
            <a:avLst/>
          </a:prstGeom>
          <a:noFill/>
          <a:ln>
            <a:noFill/>
          </a:ln>
        </p:spPr>
        <p:txBody>
          <a:bodyPr anchorCtr="0" anchor="b" bIns="45700" lIns="91425" spcFirstLastPara="1" rIns="91425" wrap="square" tIns="45700">
            <a:normAutofit/>
          </a:bodyPr>
          <a:lstStyle>
            <a:lvl1pPr indent="-228600" lvl="0" marL="457200" algn="l">
              <a:spcBef>
                <a:spcPts val="416"/>
              </a:spcBef>
              <a:spcAft>
                <a:spcPts val="0"/>
              </a:spcAft>
              <a:buClr>
                <a:srgbClr val="888888"/>
              </a:buClr>
              <a:buSzPts val="2078"/>
              <a:buNone/>
              <a:defRPr sz="2078">
                <a:solidFill>
                  <a:srgbClr val="888888"/>
                </a:solidFill>
              </a:defRPr>
            </a:lvl1pPr>
            <a:lvl2pPr indent="-228600" lvl="1" marL="914400" algn="l">
              <a:spcBef>
                <a:spcPts val="374"/>
              </a:spcBef>
              <a:spcAft>
                <a:spcPts val="0"/>
              </a:spcAft>
              <a:buClr>
                <a:srgbClr val="888888"/>
              </a:buClr>
              <a:buSzPts val="1870"/>
              <a:buNone/>
              <a:defRPr sz="1870">
                <a:solidFill>
                  <a:srgbClr val="888888"/>
                </a:solidFill>
              </a:defRPr>
            </a:lvl2pPr>
            <a:lvl3pPr indent="-228600" lvl="2" marL="1371600" algn="l">
              <a:spcBef>
                <a:spcPts val="333"/>
              </a:spcBef>
              <a:spcAft>
                <a:spcPts val="0"/>
              </a:spcAft>
              <a:buClr>
                <a:srgbClr val="888888"/>
              </a:buClr>
              <a:buSzPts val="1663"/>
              <a:buNone/>
              <a:defRPr sz="1662">
                <a:solidFill>
                  <a:srgbClr val="888888"/>
                </a:solidFill>
              </a:defRPr>
            </a:lvl3pPr>
            <a:lvl4pPr indent="-228600" lvl="3" marL="1828800" algn="l">
              <a:spcBef>
                <a:spcPts val="291"/>
              </a:spcBef>
              <a:spcAft>
                <a:spcPts val="0"/>
              </a:spcAft>
              <a:buClr>
                <a:srgbClr val="888888"/>
              </a:buClr>
              <a:buSzPts val="1455"/>
              <a:buNone/>
              <a:defRPr sz="1455">
                <a:solidFill>
                  <a:srgbClr val="888888"/>
                </a:solidFill>
              </a:defRPr>
            </a:lvl4pPr>
            <a:lvl5pPr indent="-228600" lvl="4" marL="2286000" algn="l">
              <a:spcBef>
                <a:spcPts val="291"/>
              </a:spcBef>
              <a:spcAft>
                <a:spcPts val="0"/>
              </a:spcAft>
              <a:buClr>
                <a:srgbClr val="888888"/>
              </a:buClr>
              <a:buSzPts val="1455"/>
              <a:buNone/>
              <a:defRPr sz="1455">
                <a:solidFill>
                  <a:srgbClr val="888888"/>
                </a:solidFill>
              </a:defRPr>
            </a:lvl5pPr>
            <a:lvl6pPr indent="-228600" lvl="5" marL="2743200" algn="l">
              <a:spcBef>
                <a:spcPts val="291"/>
              </a:spcBef>
              <a:spcAft>
                <a:spcPts val="0"/>
              </a:spcAft>
              <a:buClr>
                <a:srgbClr val="888888"/>
              </a:buClr>
              <a:buSzPts val="1455"/>
              <a:buNone/>
              <a:defRPr sz="1455">
                <a:solidFill>
                  <a:srgbClr val="888888"/>
                </a:solidFill>
              </a:defRPr>
            </a:lvl6pPr>
            <a:lvl7pPr indent="-228600" lvl="6" marL="3200400" algn="l">
              <a:spcBef>
                <a:spcPts val="291"/>
              </a:spcBef>
              <a:spcAft>
                <a:spcPts val="0"/>
              </a:spcAft>
              <a:buClr>
                <a:srgbClr val="888888"/>
              </a:buClr>
              <a:buSzPts val="1455"/>
              <a:buNone/>
              <a:defRPr sz="1455">
                <a:solidFill>
                  <a:srgbClr val="888888"/>
                </a:solidFill>
              </a:defRPr>
            </a:lvl7pPr>
            <a:lvl8pPr indent="-228600" lvl="7" marL="3657600" algn="l">
              <a:spcBef>
                <a:spcPts val="291"/>
              </a:spcBef>
              <a:spcAft>
                <a:spcPts val="0"/>
              </a:spcAft>
              <a:buClr>
                <a:srgbClr val="888888"/>
              </a:buClr>
              <a:buSzPts val="1455"/>
              <a:buNone/>
              <a:defRPr sz="1455">
                <a:solidFill>
                  <a:srgbClr val="888888"/>
                </a:solidFill>
              </a:defRPr>
            </a:lvl8pPr>
            <a:lvl9pPr indent="-228600" lvl="8" marL="4114800" algn="l">
              <a:spcBef>
                <a:spcPts val="291"/>
              </a:spcBef>
              <a:spcAft>
                <a:spcPts val="0"/>
              </a:spcAft>
              <a:buClr>
                <a:srgbClr val="888888"/>
              </a:buClr>
              <a:buSzPts val="1455"/>
              <a:buNone/>
              <a:defRPr sz="1455">
                <a:solidFill>
                  <a:srgbClr val="888888"/>
                </a:solidFill>
              </a:defRPr>
            </a:lvl9pPr>
          </a:lstStyle>
          <a:p/>
        </p:txBody>
      </p:sp>
      <p:sp>
        <p:nvSpPr>
          <p:cNvPr id="75" name="Google Shape;75;p76"/>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6"/>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6"/>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85" name="Shape 85"/>
        <p:cNvGrpSpPr/>
        <p:nvPr/>
      </p:nvGrpSpPr>
      <p:grpSpPr>
        <a:xfrm>
          <a:off x="0" y="0"/>
          <a:ext cx="0" cy="0"/>
          <a:chOff x="0" y="0"/>
          <a:chExt cx="0" cy="0"/>
        </a:xfrm>
      </p:grpSpPr>
      <p:sp>
        <p:nvSpPr>
          <p:cNvPr id="86" name="Google Shape;86;p78"/>
          <p:cNvSpPr txBox="1"/>
          <p:nvPr>
            <p:ph type="ctrTitle"/>
          </p:nvPr>
        </p:nvSpPr>
        <p:spPr>
          <a:xfrm>
            <a:off x="0" y="1093921"/>
            <a:ext cx="6533647" cy="152753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78"/>
          <p:cNvSpPr txBox="1"/>
          <p:nvPr>
            <p:ph idx="1" type="subTitle"/>
          </p:nvPr>
        </p:nvSpPr>
        <p:spPr>
          <a:xfrm>
            <a:off x="16537" y="3114194"/>
            <a:ext cx="6417350" cy="1821162"/>
          </a:xfrm>
          <a:prstGeom prst="rect">
            <a:avLst/>
          </a:prstGeom>
          <a:noFill/>
          <a:ln>
            <a:noFill/>
          </a:ln>
        </p:spPr>
        <p:txBody>
          <a:bodyPr anchorCtr="0" anchor="t" bIns="45700" lIns="91425" spcFirstLastPara="1" rIns="91425" wrap="square" tIns="45700">
            <a:normAutofit/>
          </a:bodyPr>
          <a:lstStyle>
            <a:lvl1pPr lvl="0" algn="ctr">
              <a:spcBef>
                <a:spcPts val="665"/>
              </a:spcBef>
              <a:spcAft>
                <a:spcPts val="0"/>
              </a:spcAft>
              <a:buClr>
                <a:srgbClr val="888888"/>
              </a:buClr>
              <a:buSzPts val="3325"/>
              <a:buNone/>
              <a:defRPr>
                <a:solidFill>
                  <a:srgbClr val="888888"/>
                </a:solidFill>
              </a:defRPr>
            </a:lvl1pPr>
            <a:lvl2pPr lvl="1" algn="ctr">
              <a:spcBef>
                <a:spcPts val="582"/>
              </a:spcBef>
              <a:spcAft>
                <a:spcPts val="0"/>
              </a:spcAft>
              <a:buClr>
                <a:srgbClr val="888888"/>
              </a:buClr>
              <a:buSzPts val="2909"/>
              <a:buNone/>
              <a:defRPr>
                <a:solidFill>
                  <a:srgbClr val="888888"/>
                </a:solidFill>
              </a:defRPr>
            </a:lvl2pPr>
            <a:lvl3pPr lvl="2" algn="ctr">
              <a:spcBef>
                <a:spcPts val="499"/>
              </a:spcBef>
              <a:spcAft>
                <a:spcPts val="0"/>
              </a:spcAft>
              <a:buClr>
                <a:srgbClr val="888888"/>
              </a:buClr>
              <a:buSzPts val="2494"/>
              <a:buNone/>
              <a:defRPr>
                <a:solidFill>
                  <a:srgbClr val="888888"/>
                </a:solidFill>
              </a:defRPr>
            </a:lvl3pPr>
            <a:lvl4pPr lvl="3" algn="ctr">
              <a:spcBef>
                <a:spcPts val="416"/>
              </a:spcBef>
              <a:spcAft>
                <a:spcPts val="0"/>
              </a:spcAft>
              <a:buClr>
                <a:srgbClr val="888888"/>
              </a:buClr>
              <a:buSzPts val="2078"/>
              <a:buNone/>
              <a:defRPr>
                <a:solidFill>
                  <a:srgbClr val="888888"/>
                </a:solidFill>
              </a:defRPr>
            </a:lvl4pPr>
            <a:lvl5pPr lvl="4" algn="ctr">
              <a:spcBef>
                <a:spcPts val="416"/>
              </a:spcBef>
              <a:spcAft>
                <a:spcPts val="0"/>
              </a:spcAft>
              <a:buClr>
                <a:srgbClr val="888888"/>
              </a:buClr>
              <a:buSzPts val="2078"/>
              <a:buNone/>
              <a:defRPr>
                <a:solidFill>
                  <a:srgbClr val="888888"/>
                </a:solidFill>
              </a:defRPr>
            </a:lvl5pPr>
            <a:lvl6pPr lvl="5" algn="ctr">
              <a:spcBef>
                <a:spcPts val="416"/>
              </a:spcBef>
              <a:spcAft>
                <a:spcPts val="0"/>
              </a:spcAft>
              <a:buClr>
                <a:srgbClr val="888888"/>
              </a:buClr>
              <a:buSzPts val="2078"/>
              <a:buNone/>
              <a:defRPr>
                <a:solidFill>
                  <a:srgbClr val="888888"/>
                </a:solidFill>
              </a:defRPr>
            </a:lvl6pPr>
            <a:lvl7pPr lvl="6" algn="ctr">
              <a:spcBef>
                <a:spcPts val="416"/>
              </a:spcBef>
              <a:spcAft>
                <a:spcPts val="0"/>
              </a:spcAft>
              <a:buClr>
                <a:srgbClr val="888888"/>
              </a:buClr>
              <a:buSzPts val="2078"/>
              <a:buNone/>
              <a:defRPr>
                <a:solidFill>
                  <a:srgbClr val="888888"/>
                </a:solidFill>
              </a:defRPr>
            </a:lvl7pPr>
            <a:lvl8pPr lvl="7" algn="ctr">
              <a:spcBef>
                <a:spcPts val="416"/>
              </a:spcBef>
              <a:spcAft>
                <a:spcPts val="0"/>
              </a:spcAft>
              <a:buClr>
                <a:srgbClr val="888888"/>
              </a:buClr>
              <a:buSzPts val="2078"/>
              <a:buNone/>
              <a:defRPr>
                <a:solidFill>
                  <a:srgbClr val="888888"/>
                </a:solidFill>
              </a:defRPr>
            </a:lvl8pPr>
            <a:lvl9pPr lvl="8" algn="ctr">
              <a:spcBef>
                <a:spcPts val="416"/>
              </a:spcBef>
              <a:spcAft>
                <a:spcPts val="0"/>
              </a:spcAft>
              <a:buClr>
                <a:srgbClr val="888888"/>
              </a:buClr>
              <a:buSzPts val="2078"/>
              <a:buNone/>
              <a:defRPr>
                <a:solidFill>
                  <a:srgbClr val="888888"/>
                </a:solidFill>
              </a:defRPr>
            </a:lvl9pPr>
          </a:lstStyle>
          <a:p/>
        </p:txBody>
      </p:sp>
      <p:sp>
        <p:nvSpPr>
          <p:cNvPr id="88" name="Google Shape;88;p78"/>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78"/>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78"/>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Пустой слайд" type="obj">
  <p:cSld name="OBJECT">
    <p:spTree>
      <p:nvGrpSpPr>
        <p:cNvPr id="97" name="Shape 97"/>
        <p:cNvGrpSpPr/>
        <p:nvPr/>
      </p:nvGrpSpPr>
      <p:grpSpPr>
        <a:xfrm>
          <a:off x="0" y="0"/>
          <a:ext cx="0" cy="0"/>
          <a:chOff x="0" y="0"/>
          <a:chExt cx="0" cy="0"/>
        </a:xfrm>
      </p:grpSpPr>
      <p:sp>
        <p:nvSpPr>
          <p:cNvPr id="98" name="Google Shape;98;p80"/>
          <p:cNvSpPr txBox="1"/>
          <p:nvPr>
            <p:ph idx="11" type="ftr"/>
          </p:nvPr>
        </p:nvSpPr>
        <p:spPr>
          <a:xfrm>
            <a:off x="4306887" y="6627812"/>
            <a:ext cx="4054475" cy="35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80"/>
          <p:cNvSpPr txBox="1"/>
          <p:nvPr>
            <p:ph idx="10" type="dt"/>
          </p:nvPr>
        </p:nvSpPr>
        <p:spPr>
          <a:xfrm>
            <a:off x="633412" y="6627812"/>
            <a:ext cx="2913062" cy="355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80"/>
          <p:cNvSpPr txBox="1"/>
          <p:nvPr>
            <p:ph idx="12" type="sldNum"/>
          </p:nvPr>
        </p:nvSpPr>
        <p:spPr>
          <a:xfrm>
            <a:off x="9121775" y="6627812"/>
            <a:ext cx="2913062" cy="355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hyperlink" Target="http://presentation-creation.ru/" TargetMode="External"/><Relationship Id="rId3" Type="http://schemas.openxmlformats.org/officeDocument/2006/relationships/slideLayout" Target="../slideLayouts/slideLayout11.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66"/>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572"/>
              <a:buFont typeface="Calibri"/>
              <a:buNone/>
              <a:defRPr b="0" i="0" sz="4572"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6"/>
          <p:cNvSpPr txBox="1"/>
          <p:nvPr>
            <p:ph idx="1" type="body"/>
          </p:nvPr>
        </p:nvSpPr>
        <p:spPr>
          <a:xfrm>
            <a:off x="633412" y="1662112"/>
            <a:ext cx="11401425" cy="4703762"/>
          </a:xfrm>
          <a:prstGeom prst="rect">
            <a:avLst/>
          </a:prstGeom>
          <a:noFill/>
          <a:ln>
            <a:noFill/>
          </a:ln>
        </p:spPr>
        <p:txBody>
          <a:bodyPr anchorCtr="0" anchor="t" bIns="45700" lIns="91425" spcFirstLastPara="1" rIns="91425" wrap="square" tIns="45700">
            <a:normAutofit/>
          </a:bodyPr>
          <a:lstStyle>
            <a:lvl1pPr indent="-439737" lvl="0" marL="457200" marR="0" rtl="0" algn="l">
              <a:spcBef>
                <a:spcPts val="665"/>
              </a:spcBef>
              <a:spcAft>
                <a:spcPts val="0"/>
              </a:spcAft>
              <a:buClr>
                <a:schemeClr val="dk1"/>
              </a:buClr>
              <a:buSzPts val="3325"/>
              <a:buFont typeface="Arial"/>
              <a:buChar char="•"/>
              <a:defRPr b="0" i="0" sz="3325" u="none" cap="none" strike="noStrike">
                <a:solidFill>
                  <a:schemeClr val="dk1"/>
                </a:solidFill>
                <a:latin typeface="Calibri"/>
                <a:ea typeface="Calibri"/>
                <a:cs typeface="Calibri"/>
                <a:sym typeface="Calibri"/>
              </a:defRPr>
            </a:lvl1pPr>
            <a:lvl2pPr indent="-413321" lvl="1" marL="914400" marR="0" rtl="0" algn="l">
              <a:spcBef>
                <a:spcPts val="582"/>
              </a:spcBef>
              <a:spcAft>
                <a:spcPts val="0"/>
              </a:spcAft>
              <a:buClr>
                <a:schemeClr val="dk1"/>
              </a:buClr>
              <a:buSzPts val="2909"/>
              <a:buFont typeface="Arial"/>
              <a:buChar char="–"/>
              <a:defRPr b="0" i="0" sz="2909" u="none" cap="none" strike="noStrike">
                <a:solidFill>
                  <a:schemeClr val="dk1"/>
                </a:solidFill>
                <a:latin typeface="Calibri"/>
                <a:ea typeface="Calibri"/>
                <a:cs typeface="Calibri"/>
                <a:sym typeface="Calibri"/>
              </a:defRPr>
            </a:lvl2pPr>
            <a:lvl3pPr indent="-386969" lvl="2" marL="1371600" marR="0" rtl="0" algn="l">
              <a:spcBef>
                <a:spcPts val="499"/>
              </a:spcBef>
              <a:spcAft>
                <a:spcPts val="0"/>
              </a:spcAft>
              <a:buClr>
                <a:schemeClr val="dk1"/>
              </a:buClr>
              <a:buSzPts val="2494"/>
              <a:buFont typeface="Arial"/>
              <a:buChar char="•"/>
              <a:defRPr b="0" i="0" sz="2494" u="none" cap="none" strike="noStrike">
                <a:solidFill>
                  <a:schemeClr val="dk1"/>
                </a:solidFill>
                <a:latin typeface="Calibri"/>
                <a:ea typeface="Calibri"/>
                <a:cs typeface="Calibri"/>
                <a:sym typeface="Calibri"/>
              </a:defRPr>
            </a:lvl3pPr>
            <a:lvl4pPr indent="-360553" lvl="3" marL="1828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4pPr>
            <a:lvl5pPr indent="-360553" lvl="4" marL="22860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5pPr>
            <a:lvl6pPr indent="-360553" lvl="5" marL="27432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6pPr>
            <a:lvl7pPr indent="-360553" lvl="6" marL="32004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7pPr>
            <a:lvl8pPr indent="-360553" lvl="7" marL="36576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8pPr>
            <a:lvl9pPr indent="-360553" lvl="8" marL="4114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9pPr>
          </a:lstStyle>
          <a:p/>
        </p:txBody>
      </p:sp>
      <p:sp>
        <p:nvSpPr>
          <p:cNvPr id="12" name="Google Shape;12;p66"/>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3" name="Google Shape;13;p66"/>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4" name="Google Shape;14;p66"/>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78" name="Shape 78"/>
        <p:cNvGrpSpPr/>
        <p:nvPr/>
      </p:nvGrpSpPr>
      <p:grpSpPr>
        <a:xfrm>
          <a:off x="0" y="0"/>
          <a:ext cx="0" cy="0"/>
          <a:chOff x="0" y="0"/>
          <a:chExt cx="0" cy="0"/>
        </a:xfrm>
      </p:grpSpPr>
      <p:sp>
        <p:nvSpPr>
          <p:cNvPr id="79" name="Google Shape;79;p77"/>
          <p:cNvSpPr txBox="1"/>
          <p:nvPr/>
        </p:nvSpPr>
        <p:spPr>
          <a:xfrm>
            <a:off x="8785225" y="6742112"/>
            <a:ext cx="3322637" cy="38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2">
                  <a:extLst>
                    <a:ext uri="{A12FA001-AC4F-418D-AE19-62706E023703}">
                      <ahyp:hlinkClr val="tx"/>
                    </a:ext>
                  </a:extLst>
                </a:hlinkClick>
              </a:rPr>
              <a:t>http://presentation-creation.ru/</a:t>
            </a:r>
            <a:endParaRPr/>
          </a:p>
        </p:txBody>
      </p:sp>
      <p:sp>
        <p:nvSpPr>
          <p:cNvPr id="80" name="Google Shape;80;p77"/>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572"/>
              <a:buFont typeface="Calibri"/>
              <a:buNone/>
              <a:defRPr b="0" i="0" sz="4572"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1" name="Google Shape;81;p77"/>
          <p:cNvSpPr txBox="1"/>
          <p:nvPr>
            <p:ph idx="1" type="body"/>
          </p:nvPr>
        </p:nvSpPr>
        <p:spPr>
          <a:xfrm>
            <a:off x="633412" y="1662112"/>
            <a:ext cx="11401425" cy="4703762"/>
          </a:xfrm>
          <a:prstGeom prst="rect">
            <a:avLst/>
          </a:prstGeom>
          <a:noFill/>
          <a:ln>
            <a:noFill/>
          </a:ln>
        </p:spPr>
        <p:txBody>
          <a:bodyPr anchorCtr="0" anchor="t" bIns="45700" lIns="91425" spcFirstLastPara="1" rIns="91425" wrap="square" tIns="45700">
            <a:normAutofit/>
          </a:bodyPr>
          <a:lstStyle>
            <a:lvl1pPr indent="-439737" lvl="0" marL="457200" marR="0" rtl="0" algn="l">
              <a:spcBef>
                <a:spcPts val="665"/>
              </a:spcBef>
              <a:spcAft>
                <a:spcPts val="0"/>
              </a:spcAft>
              <a:buClr>
                <a:schemeClr val="dk1"/>
              </a:buClr>
              <a:buSzPts val="3325"/>
              <a:buFont typeface="Arial"/>
              <a:buChar char="•"/>
              <a:defRPr b="0" i="0" sz="3325" u="none" cap="none" strike="noStrike">
                <a:solidFill>
                  <a:schemeClr val="dk1"/>
                </a:solidFill>
                <a:latin typeface="Calibri"/>
                <a:ea typeface="Calibri"/>
                <a:cs typeface="Calibri"/>
                <a:sym typeface="Calibri"/>
              </a:defRPr>
            </a:lvl1pPr>
            <a:lvl2pPr indent="-413321" lvl="1" marL="914400" marR="0" rtl="0" algn="l">
              <a:spcBef>
                <a:spcPts val="582"/>
              </a:spcBef>
              <a:spcAft>
                <a:spcPts val="0"/>
              </a:spcAft>
              <a:buClr>
                <a:schemeClr val="dk1"/>
              </a:buClr>
              <a:buSzPts val="2909"/>
              <a:buFont typeface="Arial"/>
              <a:buChar char="–"/>
              <a:defRPr b="0" i="0" sz="2909" u="none" cap="none" strike="noStrike">
                <a:solidFill>
                  <a:schemeClr val="dk1"/>
                </a:solidFill>
                <a:latin typeface="Calibri"/>
                <a:ea typeface="Calibri"/>
                <a:cs typeface="Calibri"/>
                <a:sym typeface="Calibri"/>
              </a:defRPr>
            </a:lvl2pPr>
            <a:lvl3pPr indent="-386969" lvl="2" marL="1371600" marR="0" rtl="0" algn="l">
              <a:spcBef>
                <a:spcPts val="499"/>
              </a:spcBef>
              <a:spcAft>
                <a:spcPts val="0"/>
              </a:spcAft>
              <a:buClr>
                <a:schemeClr val="dk1"/>
              </a:buClr>
              <a:buSzPts val="2494"/>
              <a:buFont typeface="Arial"/>
              <a:buChar char="•"/>
              <a:defRPr b="0" i="0" sz="2494" u="none" cap="none" strike="noStrike">
                <a:solidFill>
                  <a:schemeClr val="dk1"/>
                </a:solidFill>
                <a:latin typeface="Calibri"/>
                <a:ea typeface="Calibri"/>
                <a:cs typeface="Calibri"/>
                <a:sym typeface="Calibri"/>
              </a:defRPr>
            </a:lvl3pPr>
            <a:lvl4pPr indent="-360553" lvl="3" marL="1828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4pPr>
            <a:lvl5pPr indent="-360553" lvl="4" marL="22860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5pPr>
            <a:lvl6pPr indent="-360553" lvl="5" marL="27432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6pPr>
            <a:lvl7pPr indent="-360553" lvl="6" marL="32004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7pPr>
            <a:lvl8pPr indent="-360553" lvl="7" marL="36576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8pPr>
            <a:lvl9pPr indent="-360553" lvl="8" marL="4114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9pPr>
          </a:lstStyle>
          <a:p/>
        </p:txBody>
      </p:sp>
      <p:sp>
        <p:nvSpPr>
          <p:cNvPr id="82" name="Google Shape;82;p77"/>
          <p:cNvSpPr txBox="1"/>
          <p:nvPr>
            <p:ph idx="10" type="dt"/>
          </p:nvPr>
        </p:nvSpPr>
        <p:spPr>
          <a:xfrm>
            <a:off x="633412" y="6605587"/>
            <a:ext cx="2955925" cy="3794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83" name="Google Shape;83;p77"/>
          <p:cNvSpPr txBox="1"/>
          <p:nvPr>
            <p:ph idx="11" type="ftr"/>
          </p:nvPr>
        </p:nvSpPr>
        <p:spPr>
          <a:xfrm>
            <a:off x="4329112" y="6605587"/>
            <a:ext cx="4011612" cy="3794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0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84" name="Google Shape;84;p77"/>
          <p:cNvSpPr txBox="1"/>
          <p:nvPr>
            <p:ph idx="12" type="sldNum"/>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0" r:id="rId3"/>
  </p:sldLayoutIdLst>
  <p:transition spd="med">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1" name="Shape 91"/>
        <p:cNvGrpSpPr/>
        <p:nvPr/>
      </p:nvGrpSpPr>
      <p:grpSpPr>
        <a:xfrm>
          <a:off x="0" y="0"/>
          <a:ext cx="0" cy="0"/>
          <a:chOff x="0" y="0"/>
          <a:chExt cx="0" cy="0"/>
        </a:xfrm>
      </p:grpSpPr>
      <p:sp>
        <p:nvSpPr>
          <p:cNvPr id="92" name="Google Shape;92;p79"/>
          <p:cNvSpPr txBox="1"/>
          <p:nvPr>
            <p:ph type="title"/>
          </p:nvPr>
        </p:nvSpPr>
        <p:spPr>
          <a:xfrm>
            <a:off x="633412" y="285750"/>
            <a:ext cx="11401425" cy="11874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572"/>
              <a:buFont typeface="Calibri"/>
              <a:buNone/>
              <a:defRPr b="0" i="0" sz="4572"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3" name="Google Shape;93;p79"/>
          <p:cNvSpPr txBox="1"/>
          <p:nvPr>
            <p:ph idx="1" type="body"/>
          </p:nvPr>
        </p:nvSpPr>
        <p:spPr>
          <a:xfrm>
            <a:off x="633412" y="1662112"/>
            <a:ext cx="11401425" cy="4703762"/>
          </a:xfrm>
          <a:prstGeom prst="rect">
            <a:avLst/>
          </a:prstGeom>
          <a:noFill/>
          <a:ln>
            <a:noFill/>
          </a:ln>
        </p:spPr>
        <p:txBody>
          <a:bodyPr anchorCtr="0" anchor="t" bIns="45700" lIns="91425" spcFirstLastPara="1" rIns="91425" wrap="square" tIns="45700">
            <a:normAutofit/>
          </a:bodyPr>
          <a:lstStyle>
            <a:lvl1pPr indent="-439737" lvl="0" marL="457200" marR="0" rtl="0" algn="l">
              <a:spcBef>
                <a:spcPts val="665"/>
              </a:spcBef>
              <a:spcAft>
                <a:spcPts val="0"/>
              </a:spcAft>
              <a:buClr>
                <a:schemeClr val="dk1"/>
              </a:buClr>
              <a:buSzPts val="3325"/>
              <a:buFont typeface="Arial"/>
              <a:buChar char="•"/>
              <a:defRPr b="0" i="0" sz="3325" u="none" cap="none" strike="noStrike">
                <a:solidFill>
                  <a:schemeClr val="dk1"/>
                </a:solidFill>
                <a:latin typeface="Calibri"/>
                <a:ea typeface="Calibri"/>
                <a:cs typeface="Calibri"/>
                <a:sym typeface="Calibri"/>
              </a:defRPr>
            </a:lvl1pPr>
            <a:lvl2pPr indent="-413321" lvl="1" marL="914400" marR="0" rtl="0" algn="l">
              <a:spcBef>
                <a:spcPts val="582"/>
              </a:spcBef>
              <a:spcAft>
                <a:spcPts val="0"/>
              </a:spcAft>
              <a:buClr>
                <a:schemeClr val="dk1"/>
              </a:buClr>
              <a:buSzPts val="2909"/>
              <a:buFont typeface="Arial"/>
              <a:buChar char="–"/>
              <a:defRPr b="0" i="0" sz="2909" u="none" cap="none" strike="noStrike">
                <a:solidFill>
                  <a:schemeClr val="dk1"/>
                </a:solidFill>
                <a:latin typeface="Calibri"/>
                <a:ea typeface="Calibri"/>
                <a:cs typeface="Calibri"/>
                <a:sym typeface="Calibri"/>
              </a:defRPr>
            </a:lvl2pPr>
            <a:lvl3pPr indent="-386969" lvl="2" marL="1371600" marR="0" rtl="0" algn="l">
              <a:spcBef>
                <a:spcPts val="499"/>
              </a:spcBef>
              <a:spcAft>
                <a:spcPts val="0"/>
              </a:spcAft>
              <a:buClr>
                <a:schemeClr val="dk1"/>
              </a:buClr>
              <a:buSzPts val="2494"/>
              <a:buFont typeface="Arial"/>
              <a:buChar char="•"/>
              <a:defRPr b="0" i="0" sz="2494" u="none" cap="none" strike="noStrike">
                <a:solidFill>
                  <a:schemeClr val="dk1"/>
                </a:solidFill>
                <a:latin typeface="Calibri"/>
                <a:ea typeface="Calibri"/>
                <a:cs typeface="Calibri"/>
                <a:sym typeface="Calibri"/>
              </a:defRPr>
            </a:lvl3pPr>
            <a:lvl4pPr indent="-360553" lvl="3" marL="1828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4pPr>
            <a:lvl5pPr indent="-360553" lvl="4" marL="22860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5pPr>
            <a:lvl6pPr indent="-360553" lvl="5" marL="27432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6pPr>
            <a:lvl7pPr indent="-360553" lvl="6" marL="32004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7pPr>
            <a:lvl8pPr indent="-360553" lvl="7" marL="36576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8pPr>
            <a:lvl9pPr indent="-360553" lvl="8" marL="4114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9pPr>
          </a:lstStyle>
          <a:p/>
        </p:txBody>
      </p:sp>
      <p:sp>
        <p:nvSpPr>
          <p:cNvPr id="94" name="Google Shape;94;p79"/>
          <p:cNvSpPr txBox="1"/>
          <p:nvPr>
            <p:ph idx="11" type="ftr"/>
          </p:nvPr>
        </p:nvSpPr>
        <p:spPr>
          <a:xfrm>
            <a:off x="4306887" y="6627812"/>
            <a:ext cx="4054475" cy="3556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20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95" name="Google Shape;95;p79"/>
          <p:cNvSpPr txBox="1"/>
          <p:nvPr>
            <p:ph idx="10" type="dt"/>
          </p:nvPr>
        </p:nvSpPr>
        <p:spPr>
          <a:xfrm>
            <a:off x="633412" y="6627812"/>
            <a:ext cx="2913062" cy="3556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96" name="Google Shape;96;p79"/>
          <p:cNvSpPr txBox="1"/>
          <p:nvPr>
            <p:ph idx="12" type="sldNum"/>
          </p:nvPr>
        </p:nvSpPr>
        <p:spPr>
          <a:xfrm>
            <a:off x="9121775" y="6627812"/>
            <a:ext cx="2913062" cy="355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2"/>
  </p:sldLayoutIdLst>
  <p:transition spd="med">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ru.wikipedia.org/wiki/PageRan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png"/><Relationship Id="rId4" Type="http://schemas.openxmlformats.org/officeDocument/2006/relationships/image" Target="../media/image18.png"/><Relationship Id="rId9" Type="http://schemas.openxmlformats.org/officeDocument/2006/relationships/image" Target="../media/image39.png"/><Relationship Id="rId5" Type="http://schemas.openxmlformats.org/officeDocument/2006/relationships/image" Target="../media/image15.png"/><Relationship Id="rId6" Type="http://schemas.openxmlformats.org/officeDocument/2006/relationships/image" Target="../media/image32.png"/><Relationship Id="rId7" Type="http://schemas.openxmlformats.org/officeDocument/2006/relationships/image" Target="../media/image35.png"/><Relationship Id="rId8"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5.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24.png"/><Relationship Id="rId7"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1.png"/><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1.png"/><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6.png"/><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hyperlink" Target="https://habrahabr.ru/company/mlclass/blog/252157/" TargetMode="External"/><Relationship Id="rId4" Type="http://schemas.openxmlformats.org/officeDocument/2006/relationships/hyperlink" Target="http://www.arxiv.org/abs/cond-%20mat/0408187" TargetMode="External"/><Relationship Id="rId5" Type="http://schemas.openxmlformats.org/officeDocument/2006/relationships/hyperlink" Target="http://www.arxiv.org/abs/0709.2938" TargetMode="External"/><Relationship Id="rId6" Type="http://schemas.openxmlformats.org/officeDocument/2006/relationships/hyperlink" Target="http://arxiv.org/abs/physics/0512106v1" TargetMode="External"/><Relationship Id="rId7" Type="http://schemas.openxmlformats.org/officeDocument/2006/relationships/hyperlink" Target="http://arxiv.org/abs/physics/060508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ph idx="4294967295" type="ctrTitle"/>
          </p:nvPr>
        </p:nvSpPr>
        <p:spPr>
          <a:xfrm>
            <a:off x="2157412" y="322262"/>
            <a:ext cx="8128000" cy="3484562"/>
          </a:xfrm>
          <a:prstGeom prst="rect">
            <a:avLst/>
          </a:prstGeom>
          <a:noFill/>
          <a:ln>
            <a:noFill/>
          </a:ln>
        </p:spPr>
        <p:txBody>
          <a:bodyPr anchorCtr="0" anchor="b" bIns="49700" lIns="99425" spcFirstLastPara="1" rIns="99425" wrap="square" tIns="49700">
            <a:noAutofit/>
          </a:bodyPr>
          <a:lstStyle/>
          <a:p>
            <a:pPr indent="0" lvl="0" marL="0" marR="0" rtl="0" algn="ctr">
              <a:lnSpc>
                <a:spcPct val="80000"/>
              </a:lnSpc>
              <a:spcBef>
                <a:spcPts val="0"/>
              </a:spcBef>
              <a:spcAft>
                <a:spcPts val="0"/>
              </a:spcAft>
              <a:buClr>
                <a:schemeClr val="dk1"/>
              </a:buClr>
              <a:buSzPts val="6600"/>
              <a:buFont typeface="Calibri"/>
              <a:buNone/>
            </a:pPr>
            <a:r>
              <a:rPr b="0" i="0" lang="en-US" sz="6600" u="none" cap="none" strike="noStrike">
                <a:solidFill>
                  <a:schemeClr val="dk1"/>
                </a:solidFill>
                <a:latin typeface="Calibri"/>
                <a:ea typeface="Calibri"/>
                <a:cs typeface="Calibri"/>
                <a:sym typeface="Calibri"/>
              </a:rPr>
              <a:t>Курс</a:t>
            </a:r>
            <a:br>
              <a:rPr b="0" i="0" lang="en-US" sz="6600" u="none" cap="none" strike="noStrike">
                <a:solidFill>
                  <a:schemeClr val="dk1"/>
                </a:solidFill>
                <a:latin typeface="Calibri"/>
                <a:ea typeface="Calibri"/>
                <a:cs typeface="Calibri"/>
                <a:sym typeface="Calibri"/>
              </a:rPr>
            </a:br>
            <a:r>
              <a:rPr b="0" i="0" lang="en-US" sz="6000" u="none" cap="none" strike="noStrike">
                <a:solidFill>
                  <a:schemeClr val="dk1"/>
                </a:solidFill>
                <a:latin typeface="Calibri"/>
                <a:ea typeface="Calibri"/>
                <a:cs typeface="Calibri"/>
                <a:sym typeface="Calibri"/>
              </a:rPr>
              <a:t>Обработка больших данных</a:t>
            </a:r>
            <a:endParaRPr/>
          </a:p>
        </p:txBody>
      </p:sp>
      <p:sp>
        <p:nvSpPr>
          <p:cNvPr id="108" name="Google Shape;108;p1"/>
          <p:cNvSpPr txBox="1"/>
          <p:nvPr>
            <p:ph idx="4294967295" type="subTitle"/>
          </p:nvPr>
        </p:nvSpPr>
        <p:spPr>
          <a:xfrm>
            <a:off x="2287587" y="4371975"/>
            <a:ext cx="7997825" cy="1709737"/>
          </a:xfrm>
          <a:prstGeom prst="rect">
            <a:avLst/>
          </a:prstGeom>
          <a:noFill/>
          <a:ln>
            <a:noFill/>
          </a:ln>
        </p:spPr>
        <p:txBody>
          <a:bodyPr anchorCtr="0" anchor="t" bIns="49700" lIns="99425" spcFirstLastPara="1" rIns="99425" wrap="square" tIns="49700">
            <a:normAutofit/>
          </a:bodyPr>
          <a:lstStyle/>
          <a:p>
            <a:pPr indent="0" lvl="0" marL="0" marR="0" rtl="0" algn="ctr">
              <a:lnSpc>
                <a:spcPct val="7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Лекция 12 </a:t>
            </a:r>
            <a:endParaRPr/>
          </a:p>
          <a:p>
            <a:pPr indent="0" lvl="0" marL="0" marR="0" rtl="0" algn="ctr">
              <a:lnSpc>
                <a:spcPct val="7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Аналитика больших данных</a:t>
            </a:r>
            <a:endParaRPr/>
          </a:p>
          <a:p>
            <a:pPr indent="0" lvl="0" marL="0" marR="0" rtl="0" algn="ctr">
              <a:lnSpc>
                <a:spcPct val="90000"/>
              </a:lnSpc>
              <a:spcBef>
                <a:spcPts val="56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Социальные графы </a:t>
            </a:r>
            <a:endParaRPr/>
          </a:p>
          <a:p>
            <a:pPr indent="0" lvl="0" marL="0" marR="0" rtl="0" algn="ctr">
              <a:lnSpc>
                <a:spcPct val="90000"/>
              </a:lnSpc>
              <a:spcBef>
                <a:spcPts val="56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Методы выделения сообществ</a:t>
            </a:r>
            <a:endParaRPr/>
          </a:p>
        </p:txBody>
      </p:sp>
      <p:sp>
        <p:nvSpPr>
          <p:cNvPr id="109" name="Google Shape;109;p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cap="none" strike="noStrike">
                <a:solidFill>
                  <a:srgbClr val="898989"/>
                </a:solidFill>
                <a:latin typeface="Arial"/>
                <a:ea typeface="Arial"/>
                <a:cs typeface="Arial"/>
                <a:sym typeface="Arial"/>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15" name="Google Shape;115;p2"/>
          <p:cNvSpPr txBox="1"/>
          <p:nvPr>
            <p:ph idx="4294967295" type="title"/>
          </p:nvPr>
        </p:nvSpPr>
        <p:spPr>
          <a:xfrm>
            <a:off x="2224087" y="466725"/>
            <a:ext cx="8502650" cy="884237"/>
          </a:xfrm>
          <a:prstGeom prst="rect">
            <a:avLst/>
          </a:prstGeom>
          <a:noFill/>
          <a:ln>
            <a:noFill/>
          </a:ln>
        </p:spPr>
        <p:txBody>
          <a:bodyPr anchorCtr="0" anchor="ctr" bIns="49700" lIns="99425" spcFirstLastPara="1" rIns="99425" wrap="square" tIns="49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Содержание</a:t>
            </a:r>
            <a:endParaRPr/>
          </a:p>
        </p:txBody>
      </p:sp>
      <p:sp>
        <p:nvSpPr>
          <p:cNvPr id="116" name="Google Shape;116;p2"/>
          <p:cNvSpPr txBox="1"/>
          <p:nvPr>
            <p:ph idx="4294967295" type="body"/>
          </p:nvPr>
        </p:nvSpPr>
        <p:spPr>
          <a:xfrm>
            <a:off x="2224087" y="1673225"/>
            <a:ext cx="8858250" cy="4030662"/>
          </a:xfrm>
          <a:prstGeom prst="rect">
            <a:avLst/>
          </a:prstGeom>
          <a:noFill/>
          <a:ln>
            <a:noFill/>
          </a:ln>
        </p:spPr>
        <p:txBody>
          <a:bodyPr anchorCtr="0" anchor="t" bIns="49700" lIns="99425" spcFirstLastPara="1" rIns="99425" wrap="square" tIns="49700">
            <a:normAutofit/>
          </a:bodyPr>
          <a:lstStyle/>
          <a:p>
            <a:pPr indent="4761" lvl="0" marL="257175"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Data Mining</a:t>
            </a:r>
            <a:endParaRPr/>
          </a:p>
          <a:p>
            <a:pPr indent="4761" lvl="0" marL="257175"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Calibri"/>
                <a:ea typeface="Calibri"/>
                <a:cs typeface="Calibri"/>
                <a:sym typeface="Calibri"/>
              </a:rPr>
              <a:t>Сложные сети. Анализ данных с помощью графов</a:t>
            </a:r>
            <a:endParaRPr/>
          </a:p>
          <a:p>
            <a:pPr indent="4761" lvl="0" marL="257175" marR="0" rtl="0" algn="l">
              <a:lnSpc>
                <a:spcPct val="100000"/>
              </a:lnSpc>
              <a:spcBef>
                <a:spcPts val="560"/>
              </a:spcBef>
              <a:spcAft>
                <a:spcPts val="0"/>
              </a:spcAft>
              <a:buClr>
                <a:schemeClr val="dk1"/>
              </a:buClr>
              <a:buSzPts val="2800"/>
              <a:buFont typeface="Arial"/>
              <a:buNone/>
            </a:pPr>
            <a:r>
              <a:t/>
            </a:r>
            <a:endParaRPr b="1" i="0" sz="2800" u="none" cap="none" strike="noStrike">
              <a:solidFill>
                <a:srgbClr val="FF0000"/>
              </a:solidFill>
              <a:latin typeface="Calibri"/>
              <a:ea typeface="Calibri"/>
              <a:cs typeface="Calibri"/>
              <a:sym typeface="Calibri"/>
            </a:endParaRPr>
          </a:p>
          <a:p>
            <a:pPr indent="-457200" lvl="1" marL="1009650" marR="0" rtl="0" algn="l">
              <a:lnSpc>
                <a:spcPct val="100000"/>
              </a:lnSpc>
              <a:spcBef>
                <a:spcPts val="48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Свойства социальных графов. </a:t>
            </a:r>
            <a:endParaRPr/>
          </a:p>
          <a:p>
            <a:pPr indent="-457200" lvl="1" marL="1009650" marR="0" rtl="0" algn="l">
              <a:lnSpc>
                <a:spcPct val="100000"/>
              </a:lnSpc>
              <a:spcBef>
                <a:spcPts val="48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Практические задачи на социальных графах.</a:t>
            </a:r>
            <a:endParaRPr/>
          </a:p>
          <a:p>
            <a:pPr indent="-457200" lvl="1" marL="1009650" marR="0" rtl="0" algn="l">
              <a:lnSpc>
                <a:spcPct val="100000"/>
              </a:lnSpc>
              <a:spcBef>
                <a:spcPts val="48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Выделение сообществ.</a:t>
            </a:r>
            <a:endParaRPr/>
          </a:p>
          <a:p>
            <a:pPr indent="-457200" lvl="1" marL="1009650" marR="0" rtl="0" algn="l">
              <a:lnSpc>
                <a:spcPct val="100000"/>
              </a:lnSpc>
              <a:spcBef>
                <a:spcPts val="480"/>
              </a:spcBef>
              <a:spcAft>
                <a:spcPts val="0"/>
              </a:spcAft>
              <a:buClr>
                <a:schemeClr val="dk1"/>
              </a:buClr>
              <a:buSzPts val="2400"/>
              <a:buFont typeface="Arial"/>
              <a:buAutoNum type="arabicPeriod"/>
            </a:pPr>
            <a:r>
              <a:rPr b="1" i="0" lang="en-US" sz="2400" u="none" cap="none" strike="noStrike">
                <a:solidFill>
                  <a:schemeClr val="dk1"/>
                </a:solidFill>
                <a:latin typeface="Calibri"/>
                <a:ea typeface="Calibri"/>
                <a:cs typeface="Calibri"/>
                <a:sym typeface="Calibri"/>
              </a:rPr>
              <a:t>Задачи классификации, кластеризации</a:t>
            </a:r>
            <a:endParaRPr/>
          </a:p>
          <a:p>
            <a:pPr indent="-203907" lvl="0" marL="356307" marR="0" rtl="0" algn="l">
              <a:spcBef>
                <a:spcPts val="480"/>
              </a:spcBef>
              <a:spcAft>
                <a:spcPts val="0"/>
              </a:spcAft>
              <a:buClr>
                <a:schemeClr val="dk1"/>
              </a:buClr>
              <a:buSzPts val="2400"/>
              <a:buFont typeface="Arial"/>
              <a:buNone/>
            </a:pPr>
            <a:r>
              <a:t/>
            </a:r>
            <a:endParaRPr b="1" i="0" sz="2400" u="none" cap="none" strike="noStrike">
              <a:solidFill>
                <a:schemeClr val="dk1"/>
              </a:solidFill>
              <a:latin typeface="Calibri"/>
              <a:ea typeface="Calibri"/>
              <a:cs typeface="Calibri"/>
              <a:sym typeface="Calibri"/>
            </a:endParaRPr>
          </a:p>
        </p:txBody>
      </p:sp>
      <p:sp>
        <p:nvSpPr>
          <p:cNvPr id="117" name="Google Shape;117;p2"/>
          <p:cNvSpPr txBox="1"/>
          <p:nvPr/>
        </p:nvSpPr>
        <p:spPr>
          <a:xfrm>
            <a:off x="3905250" y="0"/>
            <a:ext cx="5100637" cy="407987"/>
          </a:xfrm>
          <a:prstGeom prst="rect">
            <a:avLst/>
          </a:prstGeom>
          <a:noFill/>
          <a:ln>
            <a:noFill/>
          </a:ln>
        </p:spPr>
        <p:txBody>
          <a:bodyPr anchorCtr="0" anchor="t" bIns="49700" lIns="99425" spcFirstLastPara="1" rIns="99425" wrap="square" tIns="49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Обработка больших данных. </a:t>
            </a:r>
            <a:r>
              <a:rPr b="1" i="0" lang="en-US" sz="2000" u="none">
                <a:solidFill>
                  <a:schemeClr val="lt1"/>
                </a:solidFill>
                <a:latin typeface="Times New Roman"/>
                <a:ea typeface="Times New Roman"/>
                <a:cs typeface="Times New Roman"/>
                <a:sym typeface="Times New Roman"/>
              </a:rPr>
              <a:t>Л12</a:t>
            </a:r>
            <a:endParaRPr/>
          </a:p>
        </p:txBody>
      </p:sp>
      <p:sp>
        <p:nvSpPr>
          <p:cNvPr id="118" name="Google Shape;118;p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ph idx="4294967295" type="ctrTitle"/>
          </p:nvPr>
        </p:nvSpPr>
        <p:spPr>
          <a:xfrm>
            <a:off x="1195387" y="800100"/>
            <a:ext cx="9090025" cy="3195637"/>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4500"/>
              <a:buFont typeface="Calibri"/>
              <a:buNone/>
            </a:pPr>
            <a:r>
              <a:rPr b="1" i="0" lang="en-US" sz="4500" u="none" cap="none" strike="noStrike">
                <a:solidFill>
                  <a:srgbClr val="FFFFFF"/>
                </a:solidFill>
                <a:latin typeface="Calibri"/>
                <a:ea typeface="Calibri"/>
                <a:cs typeface="Calibri"/>
                <a:sym typeface="Calibri"/>
              </a:rPr>
              <a:t>Социальные графы</a:t>
            </a:r>
            <a:br>
              <a:rPr b="1" i="0" lang="en-US" sz="4500" u="none" cap="none" strike="noStrike">
                <a:solidFill>
                  <a:srgbClr val="FFFFFF"/>
                </a:solidFill>
                <a:latin typeface="Calibri"/>
                <a:ea typeface="Calibri"/>
                <a:cs typeface="Calibri"/>
                <a:sym typeface="Calibri"/>
              </a:rPr>
            </a:br>
            <a:r>
              <a:rPr b="1" i="0" lang="en-US" sz="4500" u="none" cap="none" strike="noStrike">
                <a:solidFill>
                  <a:srgbClr val="FFFFFF"/>
                </a:solidFill>
                <a:latin typeface="Calibri"/>
                <a:ea typeface="Calibri"/>
                <a:cs typeface="Calibri"/>
                <a:sym typeface="Calibri"/>
              </a:rPr>
              <a:t>Свойства</a:t>
            </a:r>
            <a:endParaRPr/>
          </a:p>
        </p:txBody>
      </p:sp>
      <p:pic>
        <p:nvPicPr>
          <p:cNvPr id="126" name="Google Shape;126;p3"/>
          <p:cNvPicPr preferRelativeResize="0"/>
          <p:nvPr/>
        </p:nvPicPr>
        <p:blipFill rotWithShape="1">
          <a:blip r:embed="rId3">
            <a:alphaModFix/>
          </a:blip>
          <a:srcRect b="0" l="0" r="0" t="0"/>
          <a:stretch/>
        </p:blipFill>
        <p:spPr>
          <a:xfrm>
            <a:off x="2493962" y="4427537"/>
            <a:ext cx="7508875" cy="1651000"/>
          </a:xfrm>
          <a:prstGeom prst="rect">
            <a:avLst/>
          </a:prstGeom>
          <a:noFill/>
          <a:ln>
            <a:noFill/>
          </a:ln>
        </p:spPr>
      </p:pic>
      <p:sp>
        <p:nvSpPr>
          <p:cNvPr id="127" name="Google Shape;127;p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34" name="Google Shape;134;p4"/>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35" name="Google Shape;135;p4"/>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36" name="Google Shape;136;p4"/>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Социальный граф</a:t>
            </a:r>
            <a:endParaRPr/>
          </a:p>
        </p:txBody>
      </p:sp>
      <p:sp>
        <p:nvSpPr>
          <p:cNvPr id="137" name="Google Shape;137;p4"/>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138" name="Google Shape;138;p4"/>
          <p:cNvSpPr txBox="1"/>
          <p:nvPr/>
        </p:nvSpPr>
        <p:spPr>
          <a:xfrm>
            <a:off x="1833562" y="1941512"/>
            <a:ext cx="8929687" cy="3867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baseline="-25000" i="0" lang="en-US" sz="3200" u="none">
                <a:solidFill>
                  <a:schemeClr val="dk1"/>
                </a:solidFill>
                <a:latin typeface="Arial"/>
                <a:ea typeface="Arial"/>
                <a:cs typeface="Arial"/>
                <a:sym typeface="Arial"/>
              </a:rPr>
              <a:t>Социальный граф </a:t>
            </a:r>
            <a:r>
              <a:rPr b="0" baseline="-25000" i="0" lang="en-US" sz="3200" u="none">
                <a:solidFill>
                  <a:schemeClr val="dk1"/>
                </a:solidFill>
                <a:latin typeface="Arial"/>
                <a:ea typeface="Arial"/>
                <a:cs typeface="Arial"/>
                <a:sym typeface="Arial"/>
              </a:rPr>
              <a:t>(далее граф) - набор сущностей и отношений:</a:t>
            </a:r>
            <a:endParaRPr/>
          </a:p>
          <a:p>
            <a:pPr indent="0" lvl="0" marL="0" marR="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Arial"/>
              <a:buChar char="•"/>
            </a:pPr>
            <a:r>
              <a:rPr b="1" i="1" lang="en-US" sz="2400" u="none">
                <a:solidFill>
                  <a:schemeClr val="dk1"/>
                </a:solidFill>
                <a:latin typeface="Arial"/>
                <a:ea typeface="Arial"/>
                <a:cs typeface="Arial"/>
                <a:sym typeface="Arial"/>
              </a:rPr>
              <a:t>сущности (вершины) </a:t>
            </a:r>
            <a:r>
              <a:rPr b="0" i="0" lang="en-US" sz="2400" u="none">
                <a:solidFill>
                  <a:schemeClr val="dk1"/>
                </a:solidFill>
                <a:latin typeface="Arial"/>
                <a:ea typeface="Arial"/>
                <a:cs typeface="Arial"/>
                <a:sym typeface="Arial"/>
              </a:rPr>
              <a:t>- социальные объекты (книги, статьи, люди); вершины обладают специфическими свойствами;</a:t>
            </a:r>
            <a:endParaRPr/>
          </a:p>
          <a:p>
            <a:pPr indent="-152400" lvl="0" marL="0" marR="0" rtl="0" algn="l">
              <a:lnSpc>
                <a:spcPct val="100000"/>
              </a:lnSpc>
              <a:spcBef>
                <a:spcPts val="0"/>
              </a:spcBef>
              <a:spcAft>
                <a:spcPts val="0"/>
              </a:spcAft>
              <a:buClr>
                <a:schemeClr val="dk1"/>
              </a:buClr>
              <a:buSzPts val="2400"/>
              <a:buFont typeface="Arial"/>
              <a:buChar char="•"/>
            </a:pPr>
            <a:r>
              <a:rPr b="1" i="1" lang="en-US" sz="2400" u="none">
                <a:solidFill>
                  <a:schemeClr val="dk1"/>
                </a:solidFill>
                <a:latin typeface="Arial"/>
                <a:ea typeface="Arial"/>
                <a:cs typeface="Arial"/>
                <a:sym typeface="Arial"/>
              </a:rPr>
              <a:t>ребра </a:t>
            </a:r>
            <a:r>
              <a:rPr b="0" i="0" lang="en-US" sz="2400" u="none">
                <a:solidFill>
                  <a:schemeClr val="dk1"/>
                </a:solidFill>
                <a:latin typeface="Arial"/>
                <a:ea typeface="Arial"/>
                <a:cs typeface="Arial"/>
                <a:sym typeface="Arial"/>
              </a:rPr>
              <a:t>- методы социального взаимодействия</a:t>
            </a:r>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типы отношений: список использованной литературы, цитирование, круги общения и т.п.</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В зависимости от выбора связей для рассмотрения, получаются разные графы:</a:t>
            </a:r>
            <a:endParaRPr/>
          </a:p>
        </p:txBody>
      </p:sp>
      <p:sp>
        <p:nvSpPr>
          <p:cNvPr id="139" name="Google Shape;139;p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1438275" y="322262"/>
            <a:ext cx="1072832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46" name="Google Shape;146;p5"/>
          <p:cNvSpPr/>
          <p:nvPr/>
        </p:nvSpPr>
        <p:spPr>
          <a:xfrm>
            <a:off x="2085975" y="395287"/>
            <a:ext cx="8351837" cy="9318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47" name="Google Shape;147;p5"/>
          <p:cNvSpPr txBox="1"/>
          <p:nvPr>
            <p:ph type="title"/>
          </p:nvPr>
        </p:nvSpPr>
        <p:spPr>
          <a:xfrm>
            <a:off x="2193925" y="460375"/>
            <a:ext cx="8243887" cy="773112"/>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Типы социального графа</a:t>
            </a:r>
            <a:endParaRPr/>
          </a:p>
        </p:txBody>
      </p:sp>
      <p:sp>
        <p:nvSpPr>
          <p:cNvPr id="148" name="Google Shape;148;p5"/>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149" name="Google Shape;149;p5"/>
          <p:cNvSpPr txBox="1"/>
          <p:nvPr/>
        </p:nvSpPr>
        <p:spPr>
          <a:xfrm>
            <a:off x="1833562" y="1941512"/>
            <a:ext cx="9791700" cy="4340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Цельные сети </a:t>
            </a:r>
            <a:r>
              <a:rPr b="0" i="0" lang="en-US" sz="2400" u="none">
                <a:solidFill>
                  <a:schemeClr val="dk1"/>
                </a:solidFill>
                <a:latin typeface="Arial"/>
                <a:ea typeface="Arial"/>
                <a:cs typeface="Arial"/>
                <a:sym typeface="Arial"/>
              </a:rPr>
              <a:t>- отношения в пределах определённо очерченных границ</a:t>
            </a:r>
            <a:endParaRPr b="1" i="0" sz="2400" u="none">
              <a:solidFill>
                <a:schemeClr val="dk1"/>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Электронная почта</a:t>
            </a:r>
            <a:endParaRPr/>
          </a:p>
          <a:p>
            <a:pPr indent="-342900" lvl="1" marL="8001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Социальная сеть</a:t>
            </a:r>
            <a:endParaRPr/>
          </a:p>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Эго-сети </a:t>
            </a:r>
            <a:r>
              <a:rPr b="0" i="0" lang="en-US" sz="2400" u="none">
                <a:solidFill>
                  <a:schemeClr val="dk1"/>
                </a:solidFill>
                <a:latin typeface="Arial"/>
                <a:ea typeface="Arial"/>
                <a:cs typeface="Arial"/>
                <a:sym typeface="Arial"/>
              </a:rPr>
              <a:t>- каждый элемент выборки в подобном анализе обозначается как «эго», а узлы, связанные с эго, обозначаются как «другие»</a:t>
            </a:r>
            <a:endParaRPr b="1" i="0" sz="2400" u="none">
              <a:solidFill>
                <a:schemeClr val="dk1"/>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Список друзей одного человека</a:t>
            </a:r>
            <a:endParaRPr/>
          </a:p>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Неполные сети </a:t>
            </a:r>
            <a:r>
              <a:rPr b="0" i="0" lang="en-US" sz="2400" u="none">
                <a:solidFill>
                  <a:schemeClr val="dk1"/>
                </a:solidFill>
                <a:latin typeface="Arial"/>
                <a:ea typeface="Arial"/>
                <a:cs typeface="Arial"/>
                <a:sym typeface="Arial"/>
              </a:rPr>
              <a:t>- выборка из относительных данных, созданная методом снежного кома</a:t>
            </a:r>
            <a:endParaRPr b="1" i="0" sz="2400" u="none">
              <a:solidFill>
                <a:schemeClr val="dk1"/>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Выборка + друзья выборки + друзья друзей выборки</a:t>
            </a:r>
            <a:endParaRPr/>
          </a:p>
          <a:p>
            <a:pPr indent="-342900" lvl="1" marL="8001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Сообщество + другие сообщества подписчиков</a:t>
            </a:r>
            <a:endParaRPr/>
          </a:p>
        </p:txBody>
      </p:sp>
      <p:sp>
        <p:nvSpPr>
          <p:cNvPr id="150" name="Google Shape;150;p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6"/>
          <p:cNvSpPr/>
          <p:nvPr/>
        </p:nvSpPr>
        <p:spPr>
          <a:xfrm>
            <a:off x="1077912" y="371475"/>
            <a:ext cx="1116012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57" name="Google Shape;157;p6"/>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pic>
        <p:nvPicPr>
          <p:cNvPr id="158" name="Google Shape;158;p6"/>
          <p:cNvPicPr preferRelativeResize="0"/>
          <p:nvPr/>
        </p:nvPicPr>
        <p:blipFill rotWithShape="1">
          <a:blip r:embed="rId3">
            <a:alphaModFix/>
          </a:blip>
          <a:srcRect b="0" l="0" r="0" t="0"/>
          <a:stretch/>
        </p:blipFill>
        <p:spPr>
          <a:xfrm>
            <a:off x="2085975" y="1941512"/>
            <a:ext cx="8591550" cy="4162425"/>
          </a:xfrm>
          <a:prstGeom prst="rect">
            <a:avLst/>
          </a:prstGeom>
          <a:noFill/>
          <a:ln>
            <a:noFill/>
          </a:ln>
        </p:spPr>
      </p:pic>
      <p:sp>
        <p:nvSpPr>
          <p:cNvPr id="159" name="Google Shape;159;p6"/>
          <p:cNvSpPr/>
          <p:nvPr/>
        </p:nvSpPr>
        <p:spPr>
          <a:xfrm>
            <a:off x="2085975" y="395287"/>
            <a:ext cx="8351837" cy="9318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60" name="Google Shape;160;p6"/>
          <p:cNvSpPr txBox="1"/>
          <p:nvPr>
            <p:ph type="title"/>
          </p:nvPr>
        </p:nvSpPr>
        <p:spPr>
          <a:xfrm>
            <a:off x="2193925" y="460375"/>
            <a:ext cx="8243887" cy="773112"/>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Типы социального графа</a:t>
            </a:r>
            <a:endParaRPr/>
          </a:p>
        </p:txBody>
      </p:sp>
      <p:sp>
        <p:nvSpPr>
          <p:cNvPr id="161" name="Google Shape;161;p6"/>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p:nvPr/>
        </p:nvSpPr>
        <p:spPr>
          <a:xfrm>
            <a:off x="1438275" y="322262"/>
            <a:ext cx="1058386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68" name="Google Shape;168;p7"/>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69" name="Google Shape;169;p7"/>
          <p:cNvSpPr txBox="1"/>
          <p:nvPr>
            <p:ph type="title"/>
          </p:nvPr>
        </p:nvSpPr>
        <p:spPr>
          <a:xfrm>
            <a:off x="2105025" y="395287"/>
            <a:ext cx="80279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1" i="0" lang="en-US" sz="3600" u="none">
                <a:solidFill>
                  <a:schemeClr val="dk1"/>
                </a:solidFill>
                <a:latin typeface="Calibri"/>
                <a:ea typeface="Calibri"/>
                <a:cs typeface="Calibri"/>
                <a:sym typeface="Calibri"/>
              </a:rPr>
              <a:t>Социальный граф</a:t>
            </a:r>
            <a:br>
              <a:rPr b="1" i="0" lang="en-US" sz="3600" u="none">
                <a:solidFill>
                  <a:schemeClr val="dk1"/>
                </a:solidFill>
                <a:latin typeface="Calibri"/>
                <a:ea typeface="Calibri"/>
                <a:cs typeface="Calibri"/>
                <a:sym typeface="Calibri"/>
              </a:rPr>
            </a:br>
            <a:r>
              <a:rPr b="1" i="0" lang="en-US" sz="2900" u="none">
                <a:solidFill>
                  <a:schemeClr val="dk1"/>
                </a:solidFill>
                <a:latin typeface="Calibri"/>
                <a:ea typeface="Calibri"/>
                <a:cs typeface="Calibri"/>
                <a:sym typeface="Calibri"/>
              </a:rPr>
              <a:t>свойства</a:t>
            </a:r>
            <a:endParaRPr/>
          </a:p>
        </p:txBody>
      </p:sp>
      <p:sp>
        <p:nvSpPr>
          <p:cNvPr id="170" name="Google Shape;170;p7"/>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171" name="Google Shape;171;p7"/>
          <p:cNvSpPr txBox="1"/>
          <p:nvPr/>
        </p:nvSpPr>
        <p:spPr>
          <a:xfrm>
            <a:off x="2084387" y="3203575"/>
            <a:ext cx="8929687" cy="18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1" lang="en-US" sz="2800" u="none">
                <a:solidFill>
                  <a:schemeClr val="dk1"/>
                </a:solidFill>
                <a:latin typeface="Arial"/>
                <a:ea typeface="Arial"/>
                <a:cs typeface="Arial"/>
                <a:sym typeface="Arial"/>
              </a:rPr>
              <a:t>Социальный граф </a:t>
            </a:r>
            <a:r>
              <a:rPr b="0" i="0" lang="en-US" sz="2800" u="none">
                <a:solidFill>
                  <a:schemeClr val="dk1"/>
                </a:solidFill>
                <a:latin typeface="Arial"/>
                <a:ea typeface="Arial"/>
                <a:cs typeface="Arial"/>
                <a:sym typeface="Arial"/>
              </a:rPr>
              <a:t>— это такой специальный вид графов, который характеризуется следующим набором свойств: </a:t>
            </a:r>
            <a:br>
              <a:rPr b="0" i="0" lang="en-US" sz="2800" u="none">
                <a:solidFill>
                  <a:schemeClr val="dk1"/>
                </a:solidFill>
                <a:latin typeface="Arial"/>
                <a:ea typeface="Arial"/>
                <a:cs typeface="Arial"/>
                <a:sym typeface="Arial"/>
              </a:rPr>
            </a:br>
            <a:endParaRPr/>
          </a:p>
        </p:txBody>
      </p:sp>
      <p:sp>
        <p:nvSpPr>
          <p:cNvPr id="172" name="Google Shape;172;p7"/>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79" name="Google Shape;179;p8"/>
          <p:cNvSpPr/>
          <p:nvPr/>
        </p:nvSpPr>
        <p:spPr>
          <a:xfrm>
            <a:off x="2085975" y="395287"/>
            <a:ext cx="8351837" cy="102235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80" name="Google Shape;180;p8"/>
          <p:cNvSpPr/>
          <p:nvPr/>
        </p:nvSpPr>
        <p:spPr>
          <a:xfrm>
            <a:off x="1582737" y="1571625"/>
            <a:ext cx="9431337" cy="5159375"/>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81" name="Google Shape;181;p8"/>
          <p:cNvSpPr txBox="1"/>
          <p:nvPr>
            <p:ph type="title"/>
          </p:nvPr>
        </p:nvSpPr>
        <p:spPr>
          <a:xfrm>
            <a:off x="2193925" y="554037"/>
            <a:ext cx="8243887" cy="863600"/>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Свойства социального графа</a:t>
            </a:r>
            <a:endParaRPr/>
          </a:p>
        </p:txBody>
      </p:sp>
      <p:sp>
        <p:nvSpPr>
          <p:cNvPr id="182" name="Google Shape;182;p8"/>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183" name="Google Shape;183;p8"/>
          <p:cNvSpPr txBox="1"/>
          <p:nvPr/>
        </p:nvSpPr>
        <p:spPr>
          <a:xfrm>
            <a:off x="1636712" y="1776412"/>
            <a:ext cx="9394825" cy="4740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1. </a:t>
            </a:r>
            <a:r>
              <a:rPr b="1" i="0" lang="en-US" sz="2200" u="none">
                <a:solidFill>
                  <a:schemeClr val="dk1"/>
                </a:solidFill>
                <a:latin typeface="Arial"/>
                <a:ea typeface="Arial"/>
                <a:cs typeface="Arial"/>
                <a:sym typeface="Arial"/>
              </a:rPr>
              <a:t>Одна большая общая компонента связности - </a:t>
            </a:r>
            <a:r>
              <a:rPr b="0" i="0" lang="en-US" sz="2200" u="none">
                <a:solidFill>
                  <a:schemeClr val="dk1"/>
                </a:solidFill>
                <a:latin typeface="Arial"/>
                <a:ea typeface="Arial"/>
                <a:cs typeface="Arial"/>
                <a:sym typeface="Arial"/>
              </a:rPr>
              <a:t>захватывает большинство вершин. Остальные компоненты гораздо меньшего размера, возможно, они являются даже отдельными одиночными вершинами, как часто бывает в случае с графами социальных сетей. </a:t>
            </a:r>
            <a:endParaRPr/>
          </a:p>
          <a:p>
            <a:pPr indent="-285750" lvl="1" marL="74295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Например, для социальной сети facebook установлено, что</a:t>
            </a:r>
            <a:endParaRPr/>
          </a:p>
          <a:p>
            <a:pPr indent="-285750" lvl="1" marL="74295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99.91% вершин находятся в одной компоненте связности [3].</a:t>
            </a:r>
            <a:endParaRPr/>
          </a:p>
          <a:p>
            <a:pPr indent="-285750" lvl="1" marL="74295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2. </a:t>
            </a:r>
            <a:r>
              <a:rPr b="1" i="0" lang="en-US" sz="2200" u="none">
                <a:solidFill>
                  <a:schemeClr val="dk1"/>
                </a:solidFill>
                <a:latin typeface="Arial"/>
                <a:ea typeface="Arial"/>
                <a:cs typeface="Arial"/>
                <a:sym typeface="Arial"/>
              </a:rPr>
              <a:t>Распределение на степенях вершин. </a:t>
            </a:r>
            <a:r>
              <a:rPr b="0" i="0" lang="en-US" sz="2200" u="none">
                <a:solidFill>
                  <a:schemeClr val="dk1"/>
                </a:solidFill>
                <a:latin typeface="Arial"/>
                <a:ea typeface="Arial"/>
                <a:cs typeface="Arial"/>
                <a:sym typeface="Arial"/>
              </a:rPr>
              <a:t>Социальные сети относятся к безмасштабным сетям (Scale-free network). Главная отличительная черта которых существование узлов-концентраторов (англ. hubs), степени их очень велики по сравнению со степенями остальных узлов. На рис.1 ниже можно увидеть пример безмасштабной сети, на рис.2 -  как ведут себя степени вершин в современных социальных сетях.</a:t>
            </a:r>
            <a:endParaRPr/>
          </a:p>
        </p:txBody>
      </p:sp>
      <p:sp>
        <p:nvSpPr>
          <p:cNvPr id="184" name="Google Shape;184;p8"/>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p:nvPr/>
        </p:nvSpPr>
        <p:spPr>
          <a:xfrm>
            <a:off x="1438275" y="322262"/>
            <a:ext cx="1079976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91" name="Google Shape;191;p9"/>
          <p:cNvSpPr/>
          <p:nvPr/>
        </p:nvSpPr>
        <p:spPr>
          <a:xfrm>
            <a:off x="2085975" y="395287"/>
            <a:ext cx="8351837" cy="10080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92" name="Google Shape;192;p9"/>
          <p:cNvSpPr txBox="1"/>
          <p:nvPr>
            <p:ph type="title"/>
          </p:nvPr>
        </p:nvSpPr>
        <p:spPr>
          <a:xfrm>
            <a:off x="2193925" y="554037"/>
            <a:ext cx="8243887" cy="704850"/>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1" i="0" lang="en-US" sz="3600" u="none">
                <a:solidFill>
                  <a:schemeClr val="dk1"/>
                </a:solidFill>
                <a:latin typeface="Calibri"/>
                <a:ea typeface="Calibri"/>
                <a:cs typeface="Calibri"/>
                <a:sym typeface="Calibri"/>
              </a:rPr>
              <a:t>Свойства социального графа</a:t>
            </a:r>
            <a:endParaRPr/>
          </a:p>
        </p:txBody>
      </p:sp>
      <p:sp>
        <p:nvSpPr>
          <p:cNvPr id="193" name="Google Shape;193;p9"/>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194" name="Google Shape;194;p9"/>
          <p:cNvSpPr txBox="1"/>
          <p:nvPr/>
        </p:nvSpPr>
        <p:spPr>
          <a:xfrm>
            <a:off x="5788025" y="1941512"/>
            <a:ext cx="5437187" cy="2678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Безмасштабный граф, полученный присоединением с вероятностью, пропорциональной текущему числу связей </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Цветом выделены самые</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Популярные узлы.</a:t>
            </a:r>
            <a:endParaRPr/>
          </a:p>
        </p:txBody>
      </p:sp>
      <p:pic>
        <p:nvPicPr>
          <p:cNvPr id="195" name="Google Shape;195;p9"/>
          <p:cNvPicPr preferRelativeResize="0"/>
          <p:nvPr/>
        </p:nvPicPr>
        <p:blipFill rotWithShape="1">
          <a:blip r:embed="rId3">
            <a:alphaModFix/>
          </a:blip>
          <a:srcRect b="0" l="0" r="0" t="0"/>
          <a:stretch/>
        </p:blipFill>
        <p:spPr>
          <a:xfrm>
            <a:off x="1270000" y="1262062"/>
            <a:ext cx="4330700" cy="4110037"/>
          </a:xfrm>
          <a:prstGeom prst="rect">
            <a:avLst/>
          </a:prstGeom>
          <a:noFill/>
          <a:ln>
            <a:noFill/>
          </a:ln>
        </p:spPr>
      </p:pic>
      <p:sp>
        <p:nvSpPr>
          <p:cNvPr id="196" name="Google Shape;196;p9"/>
          <p:cNvSpPr txBox="1"/>
          <p:nvPr/>
        </p:nvSpPr>
        <p:spPr>
          <a:xfrm>
            <a:off x="2085975" y="6083300"/>
            <a:ext cx="46085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Рис.1 Пример безмасштабной сети</a:t>
            </a:r>
            <a:endParaRPr/>
          </a:p>
        </p:txBody>
      </p:sp>
      <p:sp>
        <p:nvSpPr>
          <p:cNvPr id="197" name="Google Shape;197;p9"/>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p:nvPr/>
        </p:nvSpPr>
        <p:spPr>
          <a:xfrm>
            <a:off x="1438275" y="322262"/>
            <a:ext cx="1072832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04" name="Google Shape;204;p10"/>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pic>
        <p:nvPicPr>
          <p:cNvPr id="205" name="Google Shape;205;p10"/>
          <p:cNvPicPr preferRelativeResize="0"/>
          <p:nvPr/>
        </p:nvPicPr>
        <p:blipFill rotWithShape="1">
          <a:blip r:embed="rId3">
            <a:alphaModFix/>
          </a:blip>
          <a:srcRect b="0" l="0" r="0" t="0"/>
          <a:stretch/>
        </p:blipFill>
        <p:spPr>
          <a:xfrm>
            <a:off x="1614487" y="1906587"/>
            <a:ext cx="9399587" cy="3278187"/>
          </a:xfrm>
          <a:prstGeom prst="rect">
            <a:avLst/>
          </a:prstGeom>
          <a:noFill/>
          <a:ln>
            <a:noFill/>
          </a:ln>
        </p:spPr>
      </p:pic>
      <p:sp>
        <p:nvSpPr>
          <p:cNvPr id="206" name="Google Shape;206;p10"/>
          <p:cNvSpPr txBox="1"/>
          <p:nvPr/>
        </p:nvSpPr>
        <p:spPr>
          <a:xfrm>
            <a:off x="1870075" y="5400675"/>
            <a:ext cx="8997950" cy="1322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a:solidFill>
                  <a:srgbClr val="000000"/>
                </a:solidFill>
                <a:latin typeface="Arial"/>
                <a:ea typeface="Arial"/>
                <a:cs typeface="Arial"/>
                <a:sym typeface="Arial"/>
              </a:rPr>
              <a:t>Рис.2. Т.к. современные социальные сети являются направленными</a:t>
            </a:r>
            <a:br>
              <a:rPr b="0" i="0" lang="en-US" sz="2000" u="none">
                <a:solidFill>
                  <a:srgbClr val="000000"/>
                </a:solidFill>
                <a:latin typeface="Arial"/>
                <a:ea typeface="Arial"/>
                <a:cs typeface="Arial"/>
                <a:sym typeface="Arial"/>
              </a:rPr>
            </a:br>
            <a:r>
              <a:rPr b="0" i="0" lang="en-US" sz="2000" u="none">
                <a:solidFill>
                  <a:srgbClr val="000000"/>
                </a:solidFill>
                <a:latin typeface="Arial"/>
                <a:ea typeface="Arial"/>
                <a:cs typeface="Arial"/>
                <a:sym typeface="Arial"/>
              </a:rPr>
              <a:t>графами, то изучают как входящую (снизу) так и исходящую (сверху) степень вершин. </a:t>
            </a:r>
            <a:r>
              <a:rPr b="0" i="0" lang="en-US" sz="2000" u="none">
                <a:solidFill>
                  <a:schemeClr val="dk1"/>
                </a:solidFill>
                <a:latin typeface="Arial"/>
                <a:ea typeface="Arial"/>
                <a:cs typeface="Arial"/>
                <a:sym typeface="Arial"/>
              </a:rPr>
              <a:t>Количество вершин со степенью </a:t>
            </a:r>
            <a:r>
              <a:rPr b="0" i="1" lang="en-US" sz="2000" u="none">
                <a:solidFill>
                  <a:schemeClr val="dk1"/>
                </a:solidFill>
                <a:latin typeface="Arial"/>
                <a:ea typeface="Arial"/>
                <a:cs typeface="Arial"/>
                <a:sym typeface="Arial"/>
              </a:rPr>
              <a:t>k </a:t>
            </a:r>
            <a:r>
              <a:rPr b="0" i="0" lang="en-US" sz="2000" u="none">
                <a:solidFill>
                  <a:schemeClr val="dk1"/>
                </a:solidFill>
                <a:latin typeface="Arial"/>
                <a:ea typeface="Arial"/>
                <a:cs typeface="Arial"/>
                <a:sym typeface="Arial"/>
              </a:rPr>
              <a:t>убывает как </a:t>
            </a:r>
            <a:r>
              <a:rPr b="0" i="1" lang="en-US" sz="2000" u="none">
                <a:solidFill>
                  <a:schemeClr val="dk1"/>
                </a:solidFill>
                <a:latin typeface="Arial"/>
                <a:ea typeface="Arial"/>
                <a:cs typeface="Arial"/>
                <a:sym typeface="Arial"/>
              </a:rPr>
              <a:t>k </a:t>
            </a:r>
            <a:r>
              <a:rPr b="0" baseline="30000" i="1" lang="en-US" sz="2000" u="none">
                <a:solidFill>
                  <a:schemeClr val="dk1"/>
                </a:solidFill>
                <a:latin typeface="Arial"/>
                <a:ea typeface="Arial"/>
                <a:cs typeface="Arial"/>
                <a:sym typeface="Arial"/>
              </a:rPr>
              <a:t>−γ</a:t>
            </a:r>
            <a:r>
              <a:rPr b="0" i="0" lang="en-US" sz="2000" u="none">
                <a:solidFill>
                  <a:schemeClr val="dk1"/>
                </a:solidFill>
                <a:latin typeface="Arial"/>
                <a:ea typeface="Arial"/>
                <a:cs typeface="Arial"/>
                <a:sym typeface="Arial"/>
              </a:rPr>
              <a:t>, где </a:t>
            </a:r>
            <a:r>
              <a:rPr b="0" i="1" lang="en-US" sz="2000" u="none">
                <a:solidFill>
                  <a:schemeClr val="dk1"/>
                </a:solidFill>
                <a:latin typeface="Arial"/>
                <a:ea typeface="Arial"/>
                <a:cs typeface="Arial"/>
                <a:sym typeface="Arial"/>
              </a:rPr>
              <a:t>γ - </a:t>
            </a:r>
            <a:r>
              <a:rPr b="0" i="0" lang="en-US" sz="2000" u="none">
                <a:solidFill>
                  <a:schemeClr val="dk1"/>
                </a:solidFill>
                <a:latin typeface="Arial"/>
                <a:ea typeface="Arial"/>
                <a:cs typeface="Arial"/>
                <a:sym typeface="Arial"/>
              </a:rPr>
              <a:t> число часто в пределах [2,3]. </a:t>
            </a:r>
            <a:endParaRPr/>
          </a:p>
        </p:txBody>
      </p:sp>
      <p:sp>
        <p:nvSpPr>
          <p:cNvPr id="207" name="Google Shape;207;p10"/>
          <p:cNvSpPr/>
          <p:nvPr/>
        </p:nvSpPr>
        <p:spPr>
          <a:xfrm>
            <a:off x="2085975" y="395287"/>
            <a:ext cx="8351837" cy="10080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08" name="Google Shape;208;p10"/>
          <p:cNvSpPr txBox="1"/>
          <p:nvPr>
            <p:ph type="title"/>
          </p:nvPr>
        </p:nvSpPr>
        <p:spPr>
          <a:xfrm>
            <a:off x="2193925" y="554037"/>
            <a:ext cx="8243887" cy="704850"/>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1" i="0" lang="en-US" sz="3600" u="none">
                <a:solidFill>
                  <a:schemeClr val="dk1"/>
                </a:solidFill>
                <a:latin typeface="Calibri"/>
                <a:ea typeface="Calibri"/>
                <a:cs typeface="Calibri"/>
                <a:sym typeface="Calibri"/>
              </a:rPr>
              <a:t>Свойства социального графа</a:t>
            </a:r>
            <a:endParaRPr/>
          </a:p>
        </p:txBody>
      </p:sp>
      <p:sp>
        <p:nvSpPr>
          <p:cNvPr id="209" name="Google Shape;209;p10"/>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p:nvPr/>
        </p:nvSpPr>
        <p:spPr>
          <a:xfrm>
            <a:off x="1438275" y="322262"/>
            <a:ext cx="1059656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16" name="Google Shape;216;p11"/>
          <p:cNvSpPr/>
          <p:nvPr/>
        </p:nvSpPr>
        <p:spPr>
          <a:xfrm>
            <a:off x="2085975" y="395287"/>
            <a:ext cx="8351837" cy="9652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17" name="Google Shape;217;p11"/>
          <p:cNvSpPr txBox="1"/>
          <p:nvPr>
            <p:ph type="title"/>
          </p:nvPr>
        </p:nvSpPr>
        <p:spPr>
          <a:xfrm>
            <a:off x="2193925" y="554037"/>
            <a:ext cx="8243887" cy="776287"/>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Свойства социального графа</a:t>
            </a:r>
            <a:endParaRPr/>
          </a:p>
        </p:txBody>
      </p:sp>
      <p:sp>
        <p:nvSpPr>
          <p:cNvPr id="218" name="Google Shape;218;p11"/>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219" name="Google Shape;219;p11"/>
          <p:cNvSpPr txBox="1"/>
          <p:nvPr/>
        </p:nvSpPr>
        <p:spPr>
          <a:xfrm>
            <a:off x="1800225" y="1979612"/>
            <a:ext cx="4454525" cy="4402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3. </a:t>
            </a:r>
            <a:r>
              <a:rPr b="1" i="0" lang="en-US" sz="2000" u="none">
                <a:solidFill>
                  <a:schemeClr val="dk1"/>
                </a:solidFill>
                <a:latin typeface="Arial"/>
                <a:ea typeface="Arial"/>
                <a:cs typeface="Arial"/>
                <a:sym typeface="Arial"/>
              </a:rPr>
              <a:t>Среднее расстояние. </a:t>
            </a:r>
            <a:r>
              <a:rPr b="0" i="0" lang="en-US" sz="2000" u="none">
                <a:solidFill>
                  <a:schemeClr val="dk1"/>
                </a:solidFill>
                <a:latin typeface="Arial"/>
                <a:ea typeface="Arial"/>
                <a:cs typeface="Arial"/>
                <a:sym typeface="Arial"/>
              </a:rPr>
              <a:t>Под расстоянием между вершинами понимают минимальную длину цепи в графе, соединяющие эти вершины. Социальные сети в среднем имеют </a:t>
            </a:r>
            <a:r>
              <a:rPr b="1" i="1" lang="en-US" sz="2000" u="none">
                <a:solidFill>
                  <a:schemeClr val="dk1"/>
                </a:solidFill>
                <a:latin typeface="Arial"/>
                <a:ea typeface="Arial"/>
                <a:cs typeface="Arial"/>
                <a:sym typeface="Arial"/>
              </a:rPr>
              <a:t>очень маленькое расстояние между двумя случайными вершинами </a:t>
            </a:r>
            <a:r>
              <a:rPr b="0" i="0" lang="en-US" sz="2000" u="none">
                <a:solidFill>
                  <a:schemeClr val="dk1"/>
                </a:solidFill>
                <a:latin typeface="Arial"/>
                <a:ea typeface="Arial"/>
                <a:cs typeface="Arial"/>
                <a:sym typeface="Arial"/>
              </a:rPr>
              <a:t>(феномен тесного мира или теория шести рукопожатий). Позже это факт неоднократно подтверждался на основе данных современных социальных сетей, таких как facebook (рис. 3)</a:t>
            </a:r>
            <a:endParaRPr/>
          </a:p>
        </p:txBody>
      </p:sp>
      <p:pic>
        <p:nvPicPr>
          <p:cNvPr id="220" name="Google Shape;220;p11"/>
          <p:cNvPicPr preferRelativeResize="0"/>
          <p:nvPr/>
        </p:nvPicPr>
        <p:blipFill rotWithShape="1">
          <a:blip r:embed="rId3">
            <a:alphaModFix/>
          </a:blip>
          <a:srcRect b="0" l="0" r="0" t="0"/>
          <a:stretch/>
        </p:blipFill>
        <p:spPr>
          <a:xfrm>
            <a:off x="6910387" y="1938337"/>
            <a:ext cx="3530600" cy="2921000"/>
          </a:xfrm>
          <a:prstGeom prst="rect">
            <a:avLst/>
          </a:prstGeom>
          <a:noFill/>
          <a:ln>
            <a:noFill/>
          </a:ln>
        </p:spPr>
      </p:pic>
      <p:sp>
        <p:nvSpPr>
          <p:cNvPr id="221" name="Google Shape;221;p11"/>
          <p:cNvSpPr txBox="1"/>
          <p:nvPr/>
        </p:nvSpPr>
        <p:spPr>
          <a:xfrm>
            <a:off x="6262687" y="4792662"/>
            <a:ext cx="4751387" cy="175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Рис.3. Функция соседства </a:t>
            </a:r>
            <a:r>
              <a:rPr b="0" i="1" lang="en-US" sz="1800" u="none">
                <a:solidFill>
                  <a:srgbClr val="000000"/>
                </a:solidFill>
                <a:latin typeface="Old Standard TT"/>
                <a:ea typeface="Old Standard TT"/>
                <a:cs typeface="Old Standard TT"/>
                <a:sym typeface="Old Standard TT"/>
              </a:rPr>
              <a:t>N</a:t>
            </a:r>
            <a:r>
              <a:rPr b="0" i="0" lang="en-US" sz="1800" u="none">
                <a:solidFill>
                  <a:srgbClr val="000000"/>
                </a:solidFill>
                <a:latin typeface="Old Standard TT"/>
                <a:ea typeface="Old Standard TT"/>
                <a:cs typeface="Old Standard TT"/>
                <a:sym typeface="Old Standard TT"/>
              </a:rPr>
              <a:t>(</a:t>
            </a:r>
            <a:r>
              <a:rPr b="0" i="1" lang="en-US" sz="1800" u="none">
                <a:solidFill>
                  <a:srgbClr val="000000"/>
                </a:solidFill>
                <a:latin typeface="Old Standard TT"/>
                <a:ea typeface="Old Standard TT"/>
                <a:cs typeface="Old Standard TT"/>
                <a:sym typeface="Old Standard TT"/>
              </a:rPr>
              <a:t>h</a:t>
            </a:r>
            <a:r>
              <a:rPr b="0" i="0" lang="en-US" sz="1800" u="none">
                <a:solidFill>
                  <a:srgbClr val="000000"/>
                </a:solidFill>
                <a:latin typeface="Old Standard TT"/>
                <a:ea typeface="Old Standard TT"/>
                <a:cs typeface="Old Standard TT"/>
                <a:sym typeface="Old Standard TT"/>
              </a:rPr>
              <a:t>)</a:t>
            </a:r>
            <a:r>
              <a:rPr b="0" i="0" lang="en-US" sz="1800" u="none">
                <a:solidFill>
                  <a:srgbClr val="000000"/>
                </a:solidFill>
                <a:latin typeface="Arial"/>
                <a:ea typeface="Arial"/>
                <a:cs typeface="Arial"/>
                <a:sym typeface="Arial"/>
              </a:rPr>
              <a:t>, которая показывает долю пользователей социальной сети facebook, которые находятся на расстоянии </a:t>
            </a:r>
            <a:r>
              <a:rPr b="0" i="1" lang="en-US" sz="1800" u="none">
                <a:solidFill>
                  <a:srgbClr val="000000"/>
                </a:solidFill>
                <a:latin typeface="Old Standard TT"/>
                <a:ea typeface="Old Standard TT"/>
                <a:cs typeface="Old Standard TT"/>
                <a:sym typeface="Old Standard TT"/>
              </a:rPr>
              <a:t>h </a:t>
            </a:r>
            <a:r>
              <a:rPr b="0" i="0" lang="en-US" sz="1800" u="none">
                <a:solidFill>
                  <a:srgbClr val="000000"/>
                </a:solidFill>
                <a:latin typeface="Arial"/>
                <a:ea typeface="Arial"/>
                <a:cs typeface="Arial"/>
                <a:sym typeface="Arial"/>
              </a:rPr>
              <a:t>связей от друг друга. Среднее расстояние между пользователями facebook </a:t>
            </a:r>
            <a:r>
              <a:rPr b="0" i="1" lang="en-US" sz="1800" u="none">
                <a:solidFill>
                  <a:srgbClr val="000000"/>
                </a:solidFill>
                <a:latin typeface="Old Standard TT"/>
                <a:ea typeface="Old Standard TT"/>
                <a:cs typeface="Old Standard TT"/>
                <a:sym typeface="Old Standard TT"/>
              </a:rPr>
              <a:t>h </a:t>
            </a:r>
            <a:r>
              <a:rPr b="0" i="0" lang="en-US" sz="1800" u="none">
                <a:solidFill>
                  <a:srgbClr val="000000"/>
                </a:solidFill>
                <a:latin typeface="Arial"/>
                <a:ea typeface="Arial"/>
                <a:cs typeface="Arial"/>
                <a:sym typeface="Arial"/>
              </a:rPr>
              <a:t>= 4.7</a:t>
            </a:r>
            <a:endParaRPr/>
          </a:p>
        </p:txBody>
      </p:sp>
      <p:sp>
        <p:nvSpPr>
          <p:cNvPr id="222" name="Google Shape;222;p1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p:nvPr/>
        </p:nvSpPr>
        <p:spPr>
          <a:xfrm>
            <a:off x="1438275" y="322262"/>
            <a:ext cx="1079976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29" name="Google Shape;229;p12"/>
          <p:cNvSpPr/>
          <p:nvPr/>
        </p:nvSpPr>
        <p:spPr>
          <a:xfrm>
            <a:off x="2085975" y="395287"/>
            <a:ext cx="8351837" cy="107315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30" name="Google Shape;230;p12"/>
          <p:cNvSpPr txBox="1"/>
          <p:nvPr>
            <p:ph type="title"/>
          </p:nvPr>
        </p:nvSpPr>
        <p:spPr>
          <a:xfrm>
            <a:off x="2193925" y="554037"/>
            <a:ext cx="8243887" cy="863600"/>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Свойства социального графа</a:t>
            </a:r>
            <a:endParaRPr/>
          </a:p>
        </p:txBody>
      </p:sp>
      <p:sp>
        <p:nvSpPr>
          <p:cNvPr id="231" name="Google Shape;231;p12"/>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232" name="Google Shape;232;p12"/>
          <p:cNvSpPr txBox="1"/>
          <p:nvPr/>
        </p:nvSpPr>
        <p:spPr>
          <a:xfrm>
            <a:off x="1077912" y="1695450"/>
            <a:ext cx="10799762" cy="409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4. </a:t>
            </a:r>
            <a:r>
              <a:rPr b="1" i="0" lang="en-US" sz="2000" u="none">
                <a:solidFill>
                  <a:schemeClr val="dk1"/>
                </a:solidFill>
                <a:latin typeface="Arial"/>
                <a:ea typeface="Arial"/>
                <a:cs typeface="Arial"/>
                <a:sym typeface="Arial"/>
              </a:rPr>
              <a:t>Коэффициент кластеризации. </a:t>
            </a:r>
            <a:r>
              <a:rPr b="0" i="0" lang="en-US" sz="2000" u="none">
                <a:solidFill>
                  <a:schemeClr val="dk1"/>
                </a:solidFill>
                <a:latin typeface="Arial"/>
                <a:ea typeface="Arial"/>
                <a:cs typeface="Arial"/>
                <a:sym typeface="Arial"/>
              </a:rPr>
              <a:t>Существует множество коэффициентов для графа, которые показывают некоторую его качественную характеристику.</a:t>
            </a:r>
            <a:endParaRPr/>
          </a:p>
          <a:p>
            <a:pPr indent="-127000" lvl="0" marL="0" marR="0" rtl="0" algn="l">
              <a:lnSpc>
                <a:spcPct val="100000"/>
              </a:lnSpc>
              <a:spcBef>
                <a:spcPts val="0"/>
              </a:spcBef>
              <a:spcAft>
                <a:spcPts val="0"/>
              </a:spcAft>
              <a:buClr>
                <a:schemeClr val="dk1"/>
              </a:buClr>
              <a:buSzPts val="2000"/>
              <a:buFont typeface="Arial"/>
              <a:buChar char="•"/>
            </a:pPr>
            <a:r>
              <a:rPr b="1" i="1" lang="en-US" sz="2000" u="none">
                <a:solidFill>
                  <a:schemeClr val="dk1"/>
                </a:solidFill>
                <a:latin typeface="Arial"/>
                <a:ea typeface="Arial"/>
                <a:cs typeface="Arial"/>
                <a:sym typeface="Arial"/>
              </a:rPr>
              <a:t>Кластеризация</a:t>
            </a:r>
            <a:r>
              <a:rPr b="0" i="0" lang="en-US" sz="2000" u="none">
                <a:solidFill>
                  <a:schemeClr val="dk1"/>
                </a:solidFill>
                <a:latin typeface="Arial"/>
                <a:ea typeface="Arial"/>
                <a:cs typeface="Arial"/>
                <a:sym typeface="Arial"/>
              </a:rPr>
              <a:t> – это локальная характеристика сети. Она характеризует степень взаимодействия между собой ближайших соседей данного узла. В большинстве сетей, если узел А соединен с узлом В, а узел В – с узлом С, то существует большая вероятность, что узел А соединен с узлом С (друзья наших друзей часто также являются и нашими друзьями).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Коэффициент кластеризации данного узла есть вероятность того, что два ближайших соседа этого узла сами есть ближайшие соседи. Другими словами, если узел </a:t>
            </a:r>
            <a:r>
              <a:rPr b="1" i="1" lang="en-US" sz="2000" u="none">
                <a:solidFill>
                  <a:srgbClr val="002060"/>
                </a:solidFill>
                <a:latin typeface="Arial"/>
                <a:ea typeface="Arial"/>
                <a:cs typeface="Arial"/>
                <a:sym typeface="Arial"/>
              </a:rPr>
              <a:t>j</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имеет </a:t>
            </a:r>
            <a:r>
              <a:rPr b="1" i="1" lang="en-US" sz="2000" u="none">
                <a:solidFill>
                  <a:srgbClr val="002060"/>
                </a:solidFill>
                <a:latin typeface="Arial"/>
                <a:ea typeface="Arial"/>
                <a:cs typeface="Arial"/>
                <a:sym typeface="Arial"/>
              </a:rPr>
              <a:t>q</a:t>
            </a:r>
            <a:r>
              <a:rPr b="1" baseline="-25000" i="1" lang="en-US" sz="2000" u="none">
                <a:solidFill>
                  <a:srgbClr val="002060"/>
                </a:solidFill>
                <a:latin typeface="Arial"/>
                <a:ea typeface="Arial"/>
                <a:cs typeface="Arial"/>
                <a:sym typeface="Arial"/>
              </a:rPr>
              <a:t>j</a:t>
            </a:r>
            <a:r>
              <a:rPr b="0" baseline="-25000"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ближайших соседей с числом </a:t>
            </a:r>
            <a:r>
              <a:rPr b="1" i="1" lang="en-US" sz="2000" u="none">
                <a:solidFill>
                  <a:srgbClr val="002060"/>
                </a:solidFill>
                <a:latin typeface="Arial"/>
                <a:ea typeface="Arial"/>
                <a:cs typeface="Arial"/>
                <a:sym typeface="Arial"/>
              </a:rPr>
              <a:t>t</a:t>
            </a:r>
            <a:r>
              <a:rPr b="1" baseline="-25000" i="1" lang="en-US" sz="2000" u="none">
                <a:solidFill>
                  <a:srgbClr val="002060"/>
                </a:solidFill>
                <a:latin typeface="Arial"/>
                <a:ea typeface="Arial"/>
                <a:cs typeface="Arial"/>
                <a:sym typeface="Arial"/>
              </a:rPr>
              <a:t>j</a:t>
            </a:r>
            <a:r>
              <a:rPr b="1" i="1" lang="en-US" sz="2000" u="none">
                <a:solidFill>
                  <a:srgbClr val="0070C0"/>
                </a:solidFill>
                <a:latin typeface="Arial"/>
                <a:ea typeface="Arial"/>
                <a:cs typeface="Arial"/>
                <a:sym typeface="Arial"/>
              </a:rPr>
              <a:t> </a:t>
            </a:r>
            <a:r>
              <a:rPr b="0" i="0" lang="en-US" sz="2000" u="none">
                <a:solidFill>
                  <a:schemeClr val="dk1"/>
                </a:solidFill>
                <a:latin typeface="Arial"/>
                <a:ea typeface="Arial"/>
                <a:cs typeface="Arial"/>
                <a:sym typeface="Arial"/>
              </a:rPr>
              <a:t>связей между ними, то локальный коэффициент кластеризации равен:</a:t>
            </a:r>
            <a:br>
              <a:rPr b="0" i="0" lang="en-US" sz="2000" u="none">
                <a:solidFill>
                  <a:schemeClr val="dk1"/>
                </a:solidFill>
                <a:latin typeface="Arial"/>
                <a:ea typeface="Arial"/>
                <a:cs typeface="Arial"/>
                <a:sym typeface="Arial"/>
              </a:rPr>
            </a:br>
            <a:endParaRPr/>
          </a:p>
        </p:txBody>
      </p:sp>
      <p:pic>
        <p:nvPicPr>
          <p:cNvPr id="233" name="Google Shape;233;p12"/>
          <p:cNvPicPr preferRelativeResize="0"/>
          <p:nvPr/>
        </p:nvPicPr>
        <p:blipFill rotWithShape="1">
          <a:blip r:embed="rId3">
            <a:alphaModFix/>
          </a:blip>
          <a:srcRect b="0" l="0" r="0" t="0"/>
          <a:stretch/>
        </p:blipFill>
        <p:spPr>
          <a:xfrm>
            <a:off x="4894262" y="5576887"/>
            <a:ext cx="2481262" cy="820737"/>
          </a:xfrm>
          <a:prstGeom prst="rect">
            <a:avLst/>
          </a:prstGeom>
          <a:noFill/>
          <a:ln>
            <a:noFill/>
          </a:ln>
        </p:spPr>
      </p:pic>
      <p:sp>
        <p:nvSpPr>
          <p:cNvPr id="234" name="Google Shape;234;p1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3"/>
          <p:cNvSpPr/>
          <p:nvPr/>
        </p:nvSpPr>
        <p:spPr>
          <a:xfrm>
            <a:off x="633412" y="322262"/>
            <a:ext cx="11401425"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41" name="Google Shape;241;p13"/>
          <p:cNvSpPr/>
          <p:nvPr/>
        </p:nvSpPr>
        <p:spPr>
          <a:xfrm>
            <a:off x="2085975" y="395287"/>
            <a:ext cx="8351837" cy="9413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42" name="Google Shape;242;p13"/>
          <p:cNvSpPr txBox="1"/>
          <p:nvPr>
            <p:ph type="title"/>
          </p:nvPr>
        </p:nvSpPr>
        <p:spPr>
          <a:xfrm>
            <a:off x="2193925" y="554037"/>
            <a:ext cx="8243887" cy="758825"/>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Свойства социального графа</a:t>
            </a:r>
            <a:endParaRPr/>
          </a:p>
        </p:txBody>
      </p:sp>
      <p:sp>
        <p:nvSpPr>
          <p:cNvPr id="243" name="Google Shape;243;p13"/>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244" name="Google Shape;244;p13"/>
          <p:cNvSpPr txBox="1"/>
          <p:nvPr/>
        </p:nvSpPr>
        <p:spPr>
          <a:xfrm>
            <a:off x="1220787" y="1655762"/>
            <a:ext cx="10298112" cy="19383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Число  </a:t>
            </a:r>
            <a:r>
              <a:rPr b="1" i="1" lang="en-US" sz="2000" u="none">
                <a:solidFill>
                  <a:srgbClr val="002060"/>
                </a:solidFill>
                <a:latin typeface="Arial"/>
                <a:ea typeface="Arial"/>
                <a:cs typeface="Arial"/>
                <a:sym typeface="Arial"/>
              </a:rPr>
              <a:t>t</a:t>
            </a:r>
            <a:r>
              <a:rPr b="1" baseline="-25000" i="1" lang="en-US" sz="2000" u="none">
                <a:solidFill>
                  <a:srgbClr val="002060"/>
                </a:solidFill>
                <a:latin typeface="Arial"/>
                <a:ea typeface="Arial"/>
                <a:cs typeface="Arial"/>
                <a:sym typeface="Arial"/>
              </a:rPr>
              <a:t>j</a:t>
            </a:r>
            <a:r>
              <a:rPr b="1" i="1" lang="en-US" sz="2000" u="none">
                <a:solidFill>
                  <a:srgbClr val="0070C0"/>
                </a:solidFill>
                <a:latin typeface="Arial"/>
                <a:ea typeface="Arial"/>
                <a:cs typeface="Arial"/>
                <a:sym typeface="Arial"/>
              </a:rPr>
              <a:t> </a:t>
            </a:r>
            <a:r>
              <a:rPr b="0" i="0" lang="en-US" sz="2000" u="none">
                <a:solidFill>
                  <a:schemeClr val="dk1"/>
                </a:solidFill>
                <a:latin typeface="Arial"/>
                <a:ea typeface="Arial"/>
                <a:cs typeface="Arial"/>
                <a:sym typeface="Arial"/>
              </a:rPr>
              <a:t>есть суммарное число треугольников – циклов длины 3 - прикрепленных к узлу </a:t>
            </a:r>
            <a:r>
              <a:rPr b="1" i="1" lang="en-US" sz="2000" u="none">
                <a:solidFill>
                  <a:srgbClr val="002060"/>
                </a:solidFill>
                <a:latin typeface="Arial"/>
                <a:ea typeface="Arial"/>
                <a:cs typeface="Arial"/>
                <a:sym typeface="Arial"/>
              </a:rPr>
              <a:t>j</a:t>
            </a:r>
            <a:r>
              <a:rPr b="0" i="0" lang="en-US" sz="2000" u="none">
                <a:solidFill>
                  <a:schemeClr val="dk1"/>
                </a:solidFill>
                <a:latin typeface="Arial"/>
                <a:ea typeface="Arial"/>
                <a:cs typeface="Arial"/>
                <a:sym typeface="Arial"/>
              </a:rPr>
              <a:t>, а </a:t>
            </a:r>
            <a:r>
              <a:rPr b="1" i="1" lang="en-US" sz="2000" u="none">
                <a:solidFill>
                  <a:srgbClr val="002060"/>
                </a:solidFill>
                <a:latin typeface="Arial"/>
                <a:ea typeface="Arial"/>
                <a:cs typeface="Arial"/>
                <a:sym typeface="Arial"/>
              </a:rPr>
              <a:t>q</a:t>
            </a:r>
            <a:r>
              <a:rPr b="1" baseline="-25000" i="1" lang="en-US" sz="2000" u="none">
                <a:solidFill>
                  <a:srgbClr val="002060"/>
                </a:solidFill>
                <a:latin typeface="Arial"/>
                <a:ea typeface="Arial"/>
                <a:cs typeface="Arial"/>
                <a:sym typeface="Arial"/>
              </a:rPr>
              <a:t>j</a:t>
            </a:r>
            <a:r>
              <a:rPr b="1" i="1" lang="en-US" sz="2000" u="none">
                <a:solidFill>
                  <a:srgbClr val="002060"/>
                </a:solidFill>
                <a:latin typeface="Arial"/>
                <a:ea typeface="Arial"/>
                <a:cs typeface="Arial"/>
                <a:sym typeface="Arial"/>
              </a:rPr>
              <a:t> (q</a:t>
            </a:r>
            <a:r>
              <a:rPr b="1" baseline="-25000" i="1" lang="en-US" sz="2000" u="none">
                <a:solidFill>
                  <a:srgbClr val="002060"/>
                </a:solidFill>
                <a:latin typeface="Arial"/>
                <a:ea typeface="Arial"/>
                <a:cs typeface="Arial"/>
                <a:sym typeface="Arial"/>
              </a:rPr>
              <a:t>j</a:t>
            </a:r>
            <a:r>
              <a:rPr b="0" baseline="-25000" i="0" lang="en-US" sz="2000" u="none">
                <a:solidFill>
                  <a:schemeClr val="dk1"/>
                </a:solidFill>
                <a:latin typeface="Arial"/>
                <a:ea typeface="Arial"/>
                <a:cs typeface="Arial"/>
                <a:sym typeface="Arial"/>
              </a:rPr>
              <a:t> </a:t>
            </a:r>
            <a:r>
              <a:rPr b="1" i="1" lang="en-US" sz="2000" u="none">
                <a:solidFill>
                  <a:srgbClr val="002060"/>
                </a:solidFill>
                <a:latin typeface="Arial"/>
                <a:ea typeface="Arial"/>
                <a:cs typeface="Arial"/>
                <a:sym typeface="Arial"/>
              </a:rPr>
              <a:t>-1</a:t>
            </a:r>
            <a:r>
              <a:rPr b="0" i="0" lang="en-US" sz="2000" u="none">
                <a:solidFill>
                  <a:schemeClr val="dk1"/>
                </a:solidFill>
                <a:latin typeface="Arial"/>
                <a:ea typeface="Arial"/>
                <a:cs typeface="Arial"/>
                <a:sym typeface="Arial"/>
              </a:rPr>
              <a:t>)</a:t>
            </a:r>
            <a:r>
              <a:rPr b="1" i="1" lang="en-US" sz="2000" u="none">
                <a:solidFill>
                  <a:srgbClr val="002060"/>
                </a:solidFill>
                <a:latin typeface="Arial"/>
                <a:ea typeface="Arial"/>
                <a:cs typeface="Arial"/>
                <a:sym typeface="Arial"/>
              </a:rPr>
              <a:t>/2 </a:t>
            </a:r>
            <a:r>
              <a:rPr b="0" i="0" lang="en-US" sz="2000" u="none">
                <a:solidFill>
                  <a:schemeClr val="dk1"/>
                </a:solidFill>
                <a:latin typeface="Arial"/>
                <a:ea typeface="Arial"/>
                <a:cs typeface="Arial"/>
                <a:sym typeface="Arial"/>
              </a:rPr>
              <a:t>- максимально возможное число треугольников, прикрепленных к узлу </a:t>
            </a:r>
            <a:r>
              <a:rPr b="1" i="1" lang="en-US" sz="2000" u="none">
                <a:solidFill>
                  <a:srgbClr val="002060"/>
                </a:solidFill>
                <a:latin typeface="Arial"/>
                <a:ea typeface="Arial"/>
                <a:cs typeface="Arial"/>
                <a:sym typeface="Arial"/>
              </a:rPr>
              <a:t>j</a:t>
            </a:r>
            <a:r>
              <a:rPr b="0" i="0" lang="en-US" sz="2000" u="none">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Если все ближайшие соседи узла</a:t>
            </a:r>
            <a:r>
              <a:rPr b="1" i="1" lang="en-US" sz="2000" u="none">
                <a:solidFill>
                  <a:srgbClr val="002060"/>
                </a:solidFill>
                <a:latin typeface="Arial"/>
                <a:ea typeface="Arial"/>
                <a:cs typeface="Arial"/>
                <a:sym typeface="Arial"/>
              </a:rPr>
              <a:t> j </a:t>
            </a:r>
            <a:r>
              <a:rPr b="0" i="0" lang="en-US" sz="2000" u="none">
                <a:solidFill>
                  <a:schemeClr val="dk1"/>
                </a:solidFill>
                <a:latin typeface="Arial"/>
                <a:ea typeface="Arial"/>
                <a:cs typeface="Arial"/>
                <a:sym typeface="Arial"/>
              </a:rPr>
              <a:t>взаимосвязаны, то </a:t>
            </a:r>
            <a:r>
              <a:rPr b="1" i="1" lang="en-US" sz="2000" u="none">
                <a:solidFill>
                  <a:srgbClr val="002060"/>
                </a:solidFill>
                <a:latin typeface="Arial"/>
                <a:ea typeface="Arial"/>
                <a:cs typeface="Arial"/>
                <a:sym typeface="Arial"/>
              </a:rPr>
              <a:t>С</a:t>
            </a:r>
            <a:r>
              <a:rPr b="1" baseline="-25000" i="1" lang="en-US" sz="2000" u="none">
                <a:solidFill>
                  <a:srgbClr val="002060"/>
                </a:solidFill>
                <a:latin typeface="Arial"/>
                <a:ea typeface="Arial"/>
                <a:cs typeface="Arial"/>
                <a:sym typeface="Arial"/>
              </a:rPr>
              <a:t>j</a:t>
            </a:r>
            <a:r>
              <a:rPr b="1" i="1" lang="en-US" sz="2000" u="none">
                <a:solidFill>
                  <a:srgbClr val="002060"/>
                </a:solidFill>
                <a:latin typeface="Arial"/>
                <a:ea typeface="Arial"/>
                <a:cs typeface="Arial"/>
                <a:sym typeface="Arial"/>
              </a:rPr>
              <a:t> = 1</a:t>
            </a:r>
            <a:r>
              <a:rPr b="0" i="0" lang="en-US" sz="2000" u="none">
                <a:solidFill>
                  <a:schemeClr val="dk1"/>
                </a:solidFill>
                <a:latin typeface="Arial"/>
                <a:ea typeface="Arial"/>
                <a:cs typeface="Arial"/>
                <a:sym typeface="Arial"/>
              </a:rPr>
              <a:t>. Когда между ними нет связей (как у деревьев), то </a:t>
            </a:r>
            <a:r>
              <a:rPr b="1" i="1" lang="en-US" sz="2000" u="none">
                <a:solidFill>
                  <a:srgbClr val="002060"/>
                </a:solidFill>
                <a:latin typeface="Arial"/>
                <a:ea typeface="Arial"/>
                <a:cs typeface="Arial"/>
                <a:sym typeface="Arial"/>
              </a:rPr>
              <a:t>С</a:t>
            </a:r>
            <a:r>
              <a:rPr b="1" baseline="-25000" i="1" lang="en-US" sz="2000" u="none">
                <a:solidFill>
                  <a:srgbClr val="002060"/>
                </a:solidFill>
                <a:latin typeface="Arial"/>
                <a:ea typeface="Arial"/>
                <a:cs typeface="Arial"/>
                <a:sym typeface="Arial"/>
              </a:rPr>
              <a:t>j </a:t>
            </a:r>
            <a:r>
              <a:rPr b="1" i="1" lang="en-US" sz="2000" u="none">
                <a:solidFill>
                  <a:srgbClr val="002060"/>
                </a:solidFill>
                <a:latin typeface="Arial"/>
                <a:ea typeface="Arial"/>
                <a:cs typeface="Arial"/>
                <a:sym typeface="Arial"/>
              </a:rPr>
              <a:t>= 0 </a:t>
            </a:r>
            <a:r>
              <a:rPr b="0" i="0" lang="en-US" sz="2000" u="none">
                <a:solidFill>
                  <a:schemeClr val="dk1"/>
                </a:solidFill>
                <a:latin typeface="Arial"/>
                <a:ea typeface="Arial"/>
                <a:cs typeface="Arial"/>
                <a:sym typeface="Arial"/>
              </a:rPr>
              <a:t>.</a:t>
            </a:r>
            <a:br>
              <a:rPr b="0" i="0" lang="en-US" sz="2000" u="none">
                <a:solidFill>
                  <a:schemeClr val="dk1"/>
                </a:solidFill>
                <a:latin typeface="Arial"/>
                <a:ea typeface="Arial"/>
                <a:cs typeface="Arial"/>
                <a:sym typeface="Arial"/>
              </a:rPr>
            </a:br>
            <a:endParaRPr/>
          </a:p>
        </p:txBody>
      </p:sp>
      <p:pic>
        <p:nvPicPr>
          <p:cNvPr id="245" name="Google Shape;245;p13"/>
          <p:cNvPicPr preferRelativeResize="0"/>
          <p:nvPr/>
        </p:nvPicPr>
        <p:blipFill rotWithShape="1">
          <a:blip r:embed="rId3">
            <a:alphaModFix/>
          </a:blip>
          <a:srcRect b="0" l="0" r="0" t="0"/>
          <a:stretch/>
        </p:blipFill>
        <p:spPr>
          <a:xfrm>
            <a:off x="1509712" y="3760787"/>
            <a:ext cx="5010150" cy="2187575"/>
          </a:xfrm>
          <a:prstGeom prst="rect">
            <a:avLst/>
          </a:prstGeom>
          <a:noFill/>
          <a:ln>
            <a:noFill/>
          </a:ln>
        </p:spPr>
      </p:pic>
      <p:sp>
        <p:nvSpPr>
          <p:cNvPr id="246" name="Google Shape;246;p13"/>
          <p:cNvSpPr txBox="1"/>
          <p:nvPr/>
        </p:nvSpPr>
        <p:spPr>
          <a:xfrm>
            <a:off x="6926262" y="3649662"/>
            <a:ext cx="4879975"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Коэффициенты кластеризации для вершины </a:t>
            </a:r>
            <a:r>
              <a:rPr b="0" i="1" lang="en-US" sz="1800" u="none">
                <a:solidFill>
                  <a:srgbClr val="000000"/>
                </a:solidFill>
                <a:latin typeface="Old Standard TT"/>
                <a:ea typeface="Old Standard TT"/>
                <a:cs typeface="Old Standard TT"/>
                <a:sym typeface="Old Standard TT"/>
              </a:rPr>
              <a:t>A </a:t>
            </a:r>
            <a:r>
              <a:rPr b="0" i="0" lang="en-US" sz="1800" u="none">
                <a:solidFill>
                  <a:srgbClr val="000000"/>
                </a:solidFill>
                <a:latin typeface="Arial"/>
                <a:ea typeface="Arial"/>
                <a:cs typeface="Arial"/>
                <a:sym typeface="Arial"/>
              </a:rPr>
              <a:t>для трех случаев. </a:t>
            </a:r>
            <a:endParaRPr/>
          </a:p>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Считается количество закрытых триплетов, в которые входит вершина </a:t>
            </a:r>
            <a:r>
              <a:rPr b="0" i="1" lang="en-US" sz="1800" u="none">
                <a:solidFill>
                  <a:srgbClr val="000000"/>
                </a:solidFill>
                <a:latin typeface="Old Standard TT"/>
                <a:ea typeface="Old Standard TT"/>
                <a:cs typeface="Old Standard TT"/>
                <a:sym typeface="Old Standard TT"/>
              </a:rPr>
              <a:t>A</a:t>
            </a:r>
            <a:r>
              <a:rPr b="0" i="0" lang="en-US" sz="1800" u="non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Для того чтобы получить коэффициент кластеризации для всего графа, достаточно усреднить значения коэффициента для всех вершин.</a:t>
            </a:r>
            <a:br>
              <a:rPr b="0" i="0" lang="en-US" sz="1800" u="none">
                <a:solidFill>
                  <a:srgbClr val="000000"/>
                </a:solidFill>
                <a:latin typeface="Old Standard TT"/>
                <a:ea typeface="Old Standard TT"/>
                <a:cs typeface="Old Standard TT"/>
                <a:sym typeface="Old Standard TT"/>
              </a:rPr>
            </a:br>
            <a:endParaRPr/>
          </a:p>
        </p:txBody>
      </p:sp>
      <p:sp>
        <p:nvSpPr>
          <p:cNvPr id="247" name="Google Shape;247;p1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4"/>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54" name="Google Shape;254;p14"/>
          <p:cNvSpPr/>
          <p:nvPr/>
        </p:nvSpPr>
        <p:spPr>
          <a:xfrm>
            <a:off x="2085975" y="395287"/>
            <a:ext cx="8351837" cy="9652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55" name="Google Shape;255;p14"/>
          <p:cNvSpPr/>
          <p:nvPr/>
        </p:nvSpPr>
        <p:spPr>
          <a:xfrm>
            <a:off x="1582737" y="1484312"/>
            <a:ext cx="9431337" cy="52466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56" name="Google Shape;256;p14"/>
          <p:cNvSpPr txBox="1"/>
          <p:nvPr>
            <p:ph type="title"/>
          </p:nvPr>
        </p:nvSpPr>
        <p:spPr>
          <a:xfrm>
            <a:off x="2176462" y="484187"/>
            <a:ext cx="8243887" cy="776287"/>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Свойства социального графа</a:t>
            </a:r>
            <a:endParaRPr/>
          </a:p>
        </p:txBody>
      </p:sp>
      <p:sp>
        <p:nvSpPr>
          <p:cNvPr id="257" name="Google Shape;257;p14"/>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258" name="Google Shape;258;p14"/>
          <p:cNvSpPr txBox="1"/>
          <p:nvPr/>
        </p:nvSpPr>
        <p:spPr>
          <a:xfrm>
            <a:off x="1798637" y="1906587"/>
            <a:ext cx="8999537" cy="4094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5. Структура сообществ. </a:t>
            </a:r>
            <a:r>
              <a:rPr b="0" i="0" lang="en-US" sz="2000" u="none">
                <a:solidFill>
                  <a:schemeClr val="dk1"/>
                </a:solidFill>
                <a:latin typeface="Arial"/>
                <a:ea typeface="Arial"/>
                <a:cs typeface="Arial"/>
                <a:sym typeface="Arial"/>
              </a:rPr>
              <a:t>Коэффициент кластеризации показывает, насколько сильно вершины склонны образовывать группы (или сообщества), которые характеризуются тем, что вершины, входящие в одну группу, соединены между собой гораздо плотнее, чем со всем остальным графом.</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Умение выделять сообщества из графа позволяет многое понять про сам граф.</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Так, размеры современных графов превышают сотни тысяч вершин и миллионы ребер, поэтому стандартное представление графа теряет свою информативность. Если объединить вершины в сообщества, то можно без потери информации о структуре графа исследовать его на более абстрактном уровне. </a:t>
            </a:r>
            <a:br>
              <a:rPr b="0" i="0" lang="en-US" sz="2000" u="none">
                <a:solidFill>
                  <a:schemeClr val="dk1"/>
                </a:solidFill>
                <a:latin typeface="Arial"/>
                <a:ea typeface="Arial"/>
                <a:cs typeface="Arial"/>
                <a:sym typeface="Arial"/>
              </a:rPr>
            </a:br>
            <a:endParaRPr/>
          </a:p>
        </p:txBody>
      </p:sp>
      <p:pic>
        <p:nvPicPr>
          <p:cNvPr id="259" name="Google Shape;259;p14"/>
          <p:cNvPicPr preferRelativeResize="0"/>
          <p:nvPr/>
        </p:nvPicPr>
        <p:blipFill rotWithShape="1">
          <a:blip r:embed="rId3">
            <a:alphaModFix/>
          </a:blip>
          <a:srcRect b="0" l="0" r="0" t="0"/>
          <a:stretch/>
        </p:blipFill>
        <p:spPr>
          <a:xfrm>
            <a:off x="4460875" y="5364162"/>
            <a:ext cx="3570287" cy="1366837"/>
          </a:xfrm>
          <a:prstGeom prst="rect">
            <a:avLst/>
          </a:prstGeom>
          <a:noFill/>
          <a:ln>
            <a:noFill/>
          </a:ln>
        </p:spPr>
      </p:pic>
      <p:sp>
        <p:nvSpPr>
          <p:cNvPr id="260" name="Google Shape;260;p1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5"/>
          <p:cNvSpPr txBox="1"/>
          <p:nvPr>
            <p:ph idx="4294967295" type="ctrTitle"/>
          </p:nvPr>
        </p:nvSpPr>
        <p:spPr>
          <a:xfrm>
            <a:off x="1195387" y="800100"/>
            <a:ext cx="9090025" cy="3195637"/>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rgbClr val="A7EA52"/>
              </a:buClr>
              <a:buSzPts val="4500"/>
              <a:buFont typeface="Calibri"/>
              <a:buNone/>
            </a:pPr>
            <a:r>
              <a:rPr b="1" i="0" lang="en-US" sz="4500" u="none" cap="none" strike="noStrike">
                <a:solidFill>
                  <a:srgbClr val="A7EA52"/>
                </a:solidFill>
                <a:latin typeface="Calibri"/>
                <a:ea typeface="Calibri"/>
                <a:cs typeface="Calibri"/>
                <a:sym typeface="Calibri"/>
              </a:rPr>
              <a:t>Практические задачи на социальных графах</a:t>
            </a:r>
            <a:endParaRPr/>
          </a:p>
        </p:txBody>
      </p:sp>
      <p:pic>
        <p:nvPicPr>
          <p:cNvPr id="268" name="Google Shape;268;p15"/>
          <p:cNvPicPr preferRelativeResize="0"/>
          <p:nvPr/>
        </p:nvPicPr>
        <p:blipFill rotWithShape="1">
          <a:blip r:embed="rId3">
            <a:alphaModFix/>
          </a:blip>
          <a:srcRect b="0" l="0" r="0" t="0"/>
          <a:stretch/>
        </p:blipFill>
        <p:spPr>
          <a:xfrm>
            <a:off x="2589212" y="4498975"/>
            <a:ext cx="7508875" cy="1651000"/>
          </a:xfrm>
          <a:prstGeom prst="rect">
            <a:avLst/>
          </a:prstGeom>
          <a:noFill/>
          <a:ln>
            <a:noFill/>
          </a:ln>
        </p:spPr>
      </p:pic>
      <p:sp>
        <p:nvSpPr>
          <p:cNvPr id="269" name="Google Shape;269;p1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6"/>
          <p:cNvSpPr/>
          <p:nvPr/>
        </p:nvSpPr>
        <p:spPr>
          <a:xfrm>
            <a:off x="1438275" y="322262"/>
            <a:ext cx="10799762"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76" name="Google Shape;276;p16"/>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77" name="Google Shape;277;p16"/>
          <p:cNvSpPr txBox="1"/>
          <p:nvPr>
            <p:ph type="title"/>
          </p:nvPr>
        </p:nvSpPr>
        <p:spPr>
          <a:xfrm>
            <a:off x="2176462" y="450850"/>
            <a:ext cx="8243887" cy="8080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Практические задачи на социальных графах</a:t>
            </a:r>
            <a:endParaRPr/>
          </a:p>
        </p:txBody>
      </p:sp>
      <p:sp>
        <p:nvSpPr>
          <p:cNvPr id="278" name="Google Shape;278;p16"/>
          <p:cNvSpPr txBox="1"/>
          <p:nvPr/>
        </p:nvSpPr>
        <p:spPr>
          <a:xfrm>
            <a:off x="5246687" y="0"/>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279" name="Google Shape;279;p16"/>
          <p:cNvSpPr txBox="1"/>
          <p:nvPr/>
        </p:nvSpPr>
        <p:spPr>
          <a:xfrm>
            <a:off x="1179512" y="1692275"/>
            <a:ext cx="10307637" cy="440055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Arial"/>
              <a:buAutoNum type="arabicPeriod"/>
            </a:pPr>
            <a:r>
              <a:rPr b="1" i="0" lang="en-US" sz="2000" u="none">
                <a:solidFill>
                  <a:schemeClr val="dk1"/>
                </a:solidFill>
                <a:latin typeface="Arial"/>
                <a:ea typeface="Arial"/>
                <a:cs typeface="Arial"/>
                <a:sym typeface="Arial"/>
              </a:rPr>
              <a:t>Прогнозирование появления нового ребра (Link Prediction)</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Задача достаточно распространенная — дана последовательность ребер, которые добавляются в граф до какого-то момента. Необходимо предсказать, какие ребра появятся в будущем в нашем графе. </a:t>
            </a:r>
            <a:endParaRPr/>
          </a:p>
          <a:p>
            <a:pPr indent="-330200" lvl="0" marL="457200" marR="0" rtl="0" algn="l">
              <a:lnSpc>
                <a:spcPct val="100000"/>
              </a:lnSpc>
              <a:spcBef>
                <a:spcPts val="0"/>
              </a:spcBef>
              <a:spcAft>
                <a:spcPts val="0"/>
              </a:spcAft>
              <a:buClr>
                <a:schemeClr val="dk1"/>
              </a:buClr>
              <a:buSzPts val="2000"/>
              <a:buFont typeface="Arial"/>
              <a:buNone/>
            </a:pPr>
            <a:r>
              <a:t/>
            </a:r>
            <a:endParaRPr b="0" i="0" sz="2000" u="none">
              <a:solidFill>
                <a:schemeClr val="dk1"/>
              </a:solidFill>
              <a:latin typeface="Arial"/>
              <a:ea typeface="Arial"/>
              <a:cs typeface="Arial"/>
              <a:sym typeface="Arial"/>
            </a:endParaRPr>
          </a:p>
          <a:p>
            <a:pPr indent="-3587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С точки зрения реальной жизни — эта задача представляет собой часть рекомендательной системы — например, прогнозирование связей («дружбы») между двумя пользователями соц. сети. В этой задаче фактически надо для каждой пары произвольно выбранных вершин предсказать — какова вероятность того, что между ними в будущем будет ребро — тут как раз нужно работать с признаками и с описанием вершин. Например, в качестве одного из признаков может быть пересечение множеств друзей, либо мера Жаккарда.</a:t>
            </a:r>
            <a:endParaRPr/>
          </a:p>
          <a:p>
            <a:pPr indent="-358774" lvl="1" marL="719137" marR="0" rtl="0" algn="l">
              <a:lnSpc>
                <a:spcPct val="100000"/>
              </a:lnSpc>
              <a:spcBef>
                <a:spcPts val="0"/>
              </a:spcBef>
              <a:spcAft>
                <a:spcPts val="0"/>
              </a:spcAft>
              <a:buClr>
                <a:schemeClr val="dk1"/>
              </a:buClr>
              <a:buSzPts val="1800"/>
              <a:buFont typeface="Arial"/>
              <a:buChar char="•"/>
            </a:pPr>
            <a:r>
              <a:rPr b="0" i="1" lang="en-US" sz="1800" u="none" cap="none" strike="noStrike">
                <a:solidFill>
                  <a:schemeClr val="dk1"/>
                </a:solidFill>
                <a:latin typeface="Arial"/>
                <a:ea typeface="Arial"/>
                <a:cs typeface="Arial"/>
                <a:sym typeface="Arial"/>
              </a:rPr>
              <a:t>Здесь необходимо самостоятельно подумать над возможными метриками сходства между вершинами.</a:t>
            </a:r>
            <a:br>
              <a:rPr b="0" i="0" lang="en-US" sz="1800" u="none" cap="none" strike="noStrike">
                <a:solidFill>
                  <a:schemeClr val="dk1"/>
                </a:solidFill>
                <a:latin typeface="Arial"/>
                <a:ea typeface="Arial"/>
                <a:cs typeface="Arial"/>
                <a:sym typeface="Arial"/>
              </a:rPr>
            </a:br>
            <a:endParaRPr/>
          </a:p>
        </p:txBody>
      </p:sp>
      <p:sp>
        <p:nvSpPr>
          <p:cNvPr id="280" name="Google Shape;280;p16"/>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7"/>
          <p:cNvSpPr/>
          <p:nvPr/>
        </p:nvSpPr>
        <p:spPr>
          <a:xfrm>
            <a:off x="1438275" y="322262"/>
            <a:ext cx="10872787"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87" name="Google Shape;287;p17"/>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88" name="Google Shape;288;p17"/>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Практические задачи на социальных графах</a:t>
            </a:r>
            <a:endParaRPr/>
          </a:p>
        </p:txBody>
      </p:sp>
      <p:sp>
        <p:nvSpPr>
          <p:cNvPr id="289" name="Google Shape;289;p17"/>
          <p:cNvSpPr txBox="1"/>
          <p:nvPr/>
        </p:nvSpPr>
        <p:spPr>
          <a:xfrm>
            <a:off x="5283200"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290" name="Google Shape;290;p17"/>
          <p:cNvSpPr txBox="1"/>
          <p:nvPr/>
        </p:nvSpPr>
        <p:spPr>
          <a:xfrm>
            <a:off x="1222375" y="1714500"/>
            <a:ext cx="10583862" cy="421640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Arial"/>
              <a:buAutoNum type="arabicPeriod" startAt="2"/>
            </a:pPr>
            <a:r>
              <a:rPr b="1" i="0" lang="en-US" sz="2000" u="none">
                <a:solidFill>
                  <a:schemeClr val="dk1"/>
                </a:solidFill>
                <a:latin typeface="Arial"/>
                <a:ea typeface="Arial"/>
                <a:cs typeface="Arial"/>
                <a:sym typeface="Arial"/>
              </a:rPr>
              <a:t>Выделение сообществ в социальных сетях</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Зачастую эта задача рассматривается в контексте задачи «кластеризации на графах». </a:t>
            </a:r>
            <a:endParaRPr/>
          </a:p>
          <a:p>
            <a:pPr indent="-2698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Методов решения тут масса — от простого выделения компонент связности (алгоритм упоминался выше) при правильно определенном подмножестве вершин, до последовательного удаления ребер из графа до тех пор пока не останется нужная компонента. Здесь очень важно сначала осмыслить, какие именно сообщества мы хотим выделять в сети, т.е. сперва поработать с описанием вершин и ребер, а уже потом думать, как в полученном подграфе выделять сами сообщества.</a:t>
            </a:r>
            <a:endParaRPr/>
          </a:p>
          <a:p>
            <a:pPr indent="-457200" lvl="0" marL="457200" marR="0" rtl="0" algn="l">
              <a:lnSpc>
                <a:spcPct val="100000"/>
              </a:lnSpc>
              <a:spcBef>
                <a:spcPts val="0"/>
              </a:spcBef>
              <a:spcAft>
                <a:spcPts val="0"/>
              </a:spcAft>
              <a:buClr>
                <a:schemeClr val="dk1"/>
              </a:buClr>
              <a:buSzPts val="2000"/>
              <a:buFont typeface="Arial"/>
              <a:buAutoNum type="arabicPeriod" startAt="2"/>
            </a:pPr>
            <a:r>
              <a:rPr b="1" i="0" lang="en-US" sz="2000" u="none">
                <a:solidFill>
                  <a:schemeClr val="dk1"/>
                </a:solidFill>
                <a:latin typeface="Arial"/>
                <a:ea typeface="Arial"/>
                <a:cs typeface="Arial"/>
                <a:sym typeface="Arial"/>
              </a:rPr>
              <a:t>Кратчайшие расстояния на графах</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Это задача является также классической и реализована, например, в том же Яндекс.Метро или других сервисах, которые помогают найти кратчайшие пути в некотором графе — будь то граф связей между точками города или граф знакомств. </a:t>
            </a:r>
            <a:endParaRPr/>
          </a:p>
        </p:txBody>
      </p:sp>
      <p:sp>
        <p:nvSpPr>
          <p:cNvPr id="291" name="Google Shape;291;p17"/>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8"/>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98" name="Google Shape;298;p18"/>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299" name="Google Shape;299;p18"/>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00" name="Google Shape;300;p18"/>
          <p:cNvSpPr txBox="1"/>
          <p:nvPr>
            <p:ph type="title"/>
          </p:nvPr>
        </p:nvSpPr>
        <p:spPr>
          <a:xfrm>
            <a:off x="2176462" y="39528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Практические задачи на социальных графах</a:t>
            </a:r>
            <a:endParaRPr/>
          </a:p>
        </p:txBody>
      </p:sp>
      <p:sp>
        <p:nvSpPr>
          <p:cNvPr id="301" name="Google Shape;301;p18"/>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02" name="Google Shape;302;p18"/>
          <p:cNvSpPr txBox="1"/>
          <p:nvPr/>
        </p:nvSpPr>
        <p:spPr>
          <a:xfrm>
            <a:off x="1690687" y="1851025"/>
            <a:ext cx="9215437" cy="430847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Arial"/>
              <a:buAutoNum type="arabicPeriod" startAt="4"/>
            </a:pPr>
            <a:r>
              <a:rPr b="1" i="0" lang="en-US" sz="2000" u="none">
                <a:solidFill>
                  <a:schemeClr val="dk1"/>
                </a:solidFill>
                <a:latin typeface="Arial"/>
                <a:ea typeface="Arial"/>
                <a:cs typeface="Arial"/>
                <a:sym typeface="Arial"/>
              </a:rPr>
              <a:t>Определение лидеров мнения в сети</a:t>
            </a:r>
            <a:br>
              <a:rPr b="0" i="0" lang="en-US" sz="2000" u="none">
                <a:solidFill>
                  <a:schemeClr val="dk1"/>
                </a:solidFill>
                <a:latin typeface="Arial"/>
                <a:ea typeface="Arial"/>
                <a:cs typeface="Arial"/>
                <a:sym typeface="Arial"/>
              </a:rPr>
            </a:br>
            <a:endParaRPr/>
          </a:p>
          <a:p>
            <a:pPr indent="-269874" lvl="1" marL="449262"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Для продвижения, скажем, некоторой новой опции, например мобильного интернета, с целью оптимизации рекламного бюджета хотелось бы выделить людей, которые в некотором смысле окружены вниманием со стороны. В наших терминах — это вершины графа, имеющие </a:t>
            </a:r>
            <a:r>
              <a:rPr b="1" i="1" lang="en-US" sz="1800" u="none" cap="none" strike="noStrike">
                <a:solidFill>
                  <a:schemeClr val="dk1"/>
                </a:solidFill>
                <a:latin typeface="Arial"/>
                <a:ea typeface="Arial"/>
                <a:cs typeface="Arial"/>
                <a:sym typeface="Arial"/>
              </a:rPr>
              <a:t>большую авторитетность в сети </a:t>
            </a:r>
            <a:r>
              <a:rPr b="0" i="0" lang="en-US" sz="1800" u="none" cap="none" strike="noStrike">
                <a:solidFill>
                  <a:schemeClr val="dk1"/>
                </a:solidFill>
                <a:latin typeface="Arial"/>
                <a:ea typeface="Arial"/>
                <a:cs typeface="Arial"/>
                <a:sym typeface="Arial"/>
              </a:rPr>
              <a:t>— поэтому данная задача при правильном построении графа сводится к задаче PageRank.</a:t>
            </a:r>
            <a:endParaRPr/>
          </a:p>
          <a:p>
            <a:pPr indent="-269874" lvl="1" marL="449262"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Задача может также  применяется к коллекции документов, связанных гиперссылками (таких, как веб-страницы из всемирной паутины), и назначает каждому из них некоторое численное значение, измеряющее его «важность» или «авторитетность» среди остальных документов. Вообще говоря, алгоритм может применяться не только к веб-страницам, но и к любому набору объектов, связанных между собой взаимными ссылками, то есть к любому графу.</a:t>
            </a:r>
            <a:br>
              <a:rPr b="0" i="0" lang="en-US" sz="1800" u="none" cap="none" strike="noStrike">
                <a:solidFill>
                  <a:schemeClr val="dk1"/>
                </a:solidFill>
                <a:latin typeface="Arial"/>
                <a:ea typeface="Arial"/>
                <a:cs typeface="Arial"/>
                <a:sym typeface="Arial"/>
              </a:rPr>
            </a:br>
            <a:endParaRPr/>
          </a:p>
        </p:txBody>
      </p:sp>
      <p:sp>
        <p:nvSpPr>
          <p:cNvPr id="303" name="Google Shape;303;p18"/>
          <p:cNvSpPr txBox="1"/>
          <p:nvPr/>
        </p:nvSpPr>
        <p:spPr>
          <a:xfrm>
            <a:off x="2066925" y="5880100"/>
            <a:ext cx="8785225" cy="922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1" lang="en-US" sz="1800" u="sng">
                <a:solidFill>
                  <a:schemeClr val="dk1"/>
                </a:solidFill>
                <a:latin typeface="Arial"/>
                <a:ea typeface="Arial"/>
                <a:cs typeface="Arial"/>
                <a:sym typeface="Arial"/>
                <a:hlinkClick r:id="rId3">
                  <a:extLst>
                    <a:ext uri="{A12FA001-AC4F-418D-AE19-62706E023703}">
                      <ahyp:hlinkClr val="tx"/>
                    </a:ext>
                  </a:extLst>
                </a:hlinkClick>
              </a:rPr>
              <a:t>PageRank</a:t>
            </a:r>
            <a:r>
              <a:rPr b="0" i="1" lang="en-US" sz="1800" u="none">
                <a:solidFill>
                  <a:schemeClr val="dk1"/>
                </a:solidFill>
                <a:latin typeface="Arial"/>
                <a:ea typeface="Arial"/>
                <a:cs typeface="Arial"/>
                <a:sym typeface="Arial"/>
              </a:rPr>
              <a:t> — известный алгоритм вычисления «авторитетности» вершины в графе, предложенный Google в 1998 году и долгое время используемый для ранжирования поисковой выдачи.</a:t>
            </a:r>
            <a:endParaRPr/>
          </a:p>
        </p:txBody>
      </p:sp>
      <p:sp>
        <p:nvSpPr>
          <p:cNvPr id="304" name="Google Shape;304;p18"/>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9"/>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11" name="Google Shape;311;p19"/>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12" name="Google Shape;312;p19"/>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13" name="Google Shape;313;p19"/>
          <p:cNvSpPr txBox="1"/>
          <p:nvPr>
            <p:ph type="title"/>
          </p:nvPr>
        </p:nvSpPr>
        <p:spPr>
          <a:xfrm>
            <a:off x="2193925" y="469900"/>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Практические задачи на социальных графах</a:t>
            </a:r>
            <a:endParaRPr/>
          </a:p>
        </p:txBody>
      </p:sp>
      <p:sp>
        <p:nvSpPr>
          <p:cNvPr id="314" name="Google Shape;314;p19"/>
          <p:cNvSpPr txBox="1"/>
          <p:nvPr/>
        </p:nvSpPr>
        <p:spPr>
          <a:xfrm>
            <a:off x="1727200" y="2138362"/>
            <a:ext cx="9215437" cy="430847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Arial"/>
              <a:buAutoNum type="arabicPeriod" startAt="5"/>
            </a:pPr>
            <a:r>
              <a:rPr b="1" i="1" lang="en-US" sz="2000" u="none">
                <a:solidFill>
                  <a:schemeClr val="dk1"/>
                </a:solidFill>
                <a:latin typeface="Arial"/>
                <a:ea typeface="Arial"/>
                <a:cs typeface="Arial"/>
                <a:sym typeface="Arial"/>
              </a:rPr>
              <a:t>Каскадные повреждения и распространение инфекций</a:t>
            </a:r>
            <a:endParaRPr/>
          </a:p>
          <a:p>
            <a:pPr indent="-457200" lvl="0" marL="457200" marR="0" rtl="0" algn="l">
              <a:lnSpc>
                <a:spcPct val="10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 </a:t>
            </a:r>
            <a:r>
              <a:rPr b="0" i="0" lang="en-US" sz="1800" u="none">
                <a:solidFill>
                  <a:schemeClr val="dk1"/>
                </a:solidFill>
                <a:latin typeface="Arial"/>
                <a:ea typeface="Arial"/>
                <a:cs typeface="Arial"/>
                <a:sym typeface="Arial"/>
              </a:rPr>
              <a:t>В сложных природных и техногенных системах, а также в самом обществе могут возникать катастрофические нарастающие явления, инициированные небольшой долей составляющих этих сложных систем элементов. Примерами таких лавинообразных процессов могут служить неожиданные эпидемии заболеваний или каскадное отключение электричества, как это имело место, например, на западе США и Канады 14 августа 2003 года при повреждении на одной из электростанций в Огайо, когда миллионы людей около 15 часов оставались без света.</a:t>
            </a:r>
            <a:endParaRPr/>
          </a:p>
          <a:p>
            <a:pPr indent="-457200" lvl="0" marL="45720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Примерами позитивных каскадов могут служить информационные каскады, делающие в течение короткого промежутка времени популярными (хитами) книги, кинокартины, песни, актеров, певцов и их альбомы. Таким образом, понимание и предсказание распространения таких каскадных лавинных</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процессов в сложных системах представляет несомненный интерес.</a:t>
            </a:r>
            <a:br>
              <a:rPr b="0" i="0" lang="en-US" sz="1800" u="none">
                <a:solidFill>
                  <a:schemeClr val="dk1"/>
                </a:solidFill>
                <a:latin typeface="Arial"/>
                <a:ea typeface="Arial"/>
                <a:cs typeface="Arial"/>
                <a:sym typeface="Arial"/>
              </a:rPr>
            </a:br>
            <a:endParaRPr/>
          </a:p>
        </p:txBody>
      </p:sp>
      <p:sp>
        <p:nvSpPr>
          <p:cNvPr id="315" name="Google Shape;315;p19"/>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16" name="Google Shape;316;p19"/>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0"/>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23" name="Google Shape;323;p20"/>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24" name="Google Shape;324;p20"/>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25" name="Google Shape;325;p20"/>
          <p:cNvSpPr txBox="1"/>
          <p:nvPr>
            <p:ph type="title"/>
          </p:nvPr>
        </p:nvSpPr>
        <p:spPr>
          <a:xfrm>
            <a:off x="2193925" y="469900"/>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Метрики графов </a:t>
            </a:r>
            <a:br>
              <a:rPr b="1" i="0" lang="en-US" sz="3200" u="none">
                <a:solidFill>
                  <a:schemeClr val="dk1"/>
                </a:solidFill>
                <a:latin typeface="Calibri"/>
                <a:ea typeface="Calibri"/>
                <a:cs typeface="Calibri"/>
                <a:sym typeface="Calibri"/>
              </a:rPr>
            </a:br>
            <a:r>
              <a:rPr b="1" i="0" lang="en-US" sz="2500" u="none">
                <a:solidFill>
                  <a:schemeClr val="dk1"/>
                </a:solidFill>
                <a:latin typeface="Calibri"/>
                <a:ea typeface="Calibri"/>
                <a:cs typeface="Calibri"/>
                <a:sym typeface="Calibri"/>
              </a:rPr>
              <a:t>(основанные на связях)</a:t>
            </a:r>
            <a:endParaRPr/>
          </a:p>
        </p:txBody>
      </p:sp>
      <p:sp>
        <p:nvSpPr>
          <p:cNvPr id="326" name="Google Shape;326;p20"/>
          <p:cNvSpPr txBox="1"/>
          <p:nvPr/>
        </p:nvSpPr>
        <p:spPr>
          <a:xfrm>
            <a:off x="1727200" y="2138362"/>
            <a:ext cx="9215437" cy="44926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Гомогенность </a:t>
            </a:r>
            <a:r>
              <a:rPr b="0" i="0" lang="en-US" sz="2200" u="none">
                <a:solidFill>
                  <a:schemeClr val="dk1"/>
                </a:solidFill>
                <a:latin typeface="Arial"/>
                <a:ea typeface="Arial"/>
                <a:cs typeface="Arial"/>
                <a:sym typeface="Arial"/>
              </a:rPr>
              <a:t>- степень, с которой схожие по какому-то признаку участники формируют связи между собой в сравнении с несхожими.</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Множественность </a:t>
            </a:r>
            <a:r>
              <a:rPr b="0" i="0" lang="en-US" sz="2200" u="none">
                <a:solidFill>
                  <a:schemeClr val="dk1"/>
                </a:solidFill>
                <a:latin typeface="Arial"/>
                <a:ea typeface="Arial"/>
                <a:cs typeface="Arial"/>
                <a:sym typeface="Arial"/>
              </a:rPr>
              <a:t>- количество форм, содержащихся в связи (прочность отношений). Пример: коллега по работе и друг, множественность = 2.</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Обоюдность/Взаимность - </a:t>
            </a:r>
            <a:r>
              <a:rPr b="0" i="0" lang="en-US" sz="2200" u="none">
                <a:solidFill>
                  <a:schemeClr val="dk1"/>
                </a:solidFill>
                <a:latin typeface="Arial"/>
                <a:ea typeface="Arial"/>
                <a:cs typeface="Arial"/>
                <a:sym typeface="Arial"/>
              </a:rPr>
              <a:t>степень, с которой двое участников отвечают друг другу взаимностью в сфере дружеских или других взаимодействий.</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Закрытость сети </a:t>
            </a:r>
            <a:r>
              <a:rPr b="0" i="0" lang="en-US" sz="2200" u="none">
                <a:solidFill>
                  <a:schemeClr val="dk1"/>
                </a:solidFill>
                <a:latin typeface="Arial"/>
                <a:ea typeface="Arial"/>
                <a:cs typeface="Arial"/>
                <a:sym typeface="Arial"/>
              </a:rPr>
              <a:t>- степень, с которой друзья пользователя являются друзьями друг другу.</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Соседство </a:t>
            </a:r>
            <a:r>
              <a:rPr b="0" i="0" lang="en-US" sz="2200" u="none">
                <a:solidFill>
                  <a:schemeClr val="dk1"/>
                </a:solidFill>
                <a:latin typeface="Arial"/>
                <a:ea typeface="Arial"/>
                <a:cs typeface="Arial"/>
                <a:sym typeface="Arial"/>
              </a:rPr>
              <a:t>- склонность участников иметь больше связей с теми, кто находится ближе.</a:t>
            </a:r>
            <a:endParaRPr/>
          </a:p>
        </p:txBody>
      </p:sp>
      <p:sp>
        <p:nvSpPr>
          <p:cNvPr id="327" name="Google Shape;327;p20"/>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28" name="Google Shape;328;p20"/>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1"/>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35" name="Google Shape;335;p21"/>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36" name="Google Shape;336;p21"/>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37" name="Google Shape;337;p21"/>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Метрики графов </a:t>
            </a:r>
            <a:br>
              <a:rPr b="1" i="0" lang="en-US" sz="3200" u="none">
                <a:solidFill>
                  <a:schemeClr val="dk1"/>
                </a:solidFill>
                <a:latin typeface="Calibri"/>
                <a:ea typeface="Calibri"/>
                <a:cs typeface="Calibri"/>
                <a:sym typeface="Calibri"/>
              </a:rPr>
            </a:br>
            <a:r>
              <a:rPr b="1" i="0" lang="en-US" sz="2500" u="none">
                <a:solidFill>
                  <a:schemeClr val="dk1"/>
                </a:solidFill>
                <a:latin typeface="Calibri"/>
                <a:ea typeface="Calibri"/>
                <a:cs typeface="Calibri"/>
                <a:sym typeface="Calibri"/>
              </a:rPr>
              <a:t>(основанные на распределении)</a:t>
            </a:r>
            <a:endParaRPr/>
          </a:p>
        </p:txBody>
      </p:sp>
      <p:sp>
        <p:nvSpPr>
          <p:cNvPr id="338" name="Google Shape;338;p21"/>
          <p:cNvSpPr txBox="1"/>
          <p:nvPr/>
        </p:nvSpPr>
        <p:spPr>
          <a:xfrm>
            <a:off x="1727200" y="2138362"/>
            <a:ext cx="9215437" cy="34163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Структурные дыры </a:t>
            </a:r>
            <a:r>
              <a:rPr b="0" i="0" lang="en-US" sz="2400" u="none">
                <a:solidFill>
                  <a:schemeClr val="dk1"/>
                </a:solidFill>
                <a:latin typeface="Arial"/>
                <a:ea typeface="Arial"/>
                <a:cs typeface="Arial"/>
                <a:sym typeface="Arial"/>
              </a:rPr>
              <a:t>- отсутствие связи между двумя частями сети</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Мосты </a:t>
            </a:r>
            <a:r>
              <a:rPr b="0" i="0" lang="en-US" sz="2400" u="none">
                <a:solidFill>
                  <a:schemeClr val="dk1"/>
                </a:solidFill>
                <a:latin typeface="Arial"/>
                <a:ea typeface="Arial"/>
                <a:cs typeface="Arial"/>
                <a:sym typeface="Arial"/>
              </a:rPr>
              <a:t>- вершины, заполнители структурных дыр</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Центральность </a:t>
            </a:r>
            <a:r>
              <a:rPr b="0" i="0" lang="en-US" sz="2400" u="none">
                <a:solidFill>
                  <a:schemeClr val="dk1"/>
                </a:solidFill>
                <a:latin typeface="Arial"/>
                <a:ea typeface="Arial"/>
                <a:cs typeface="Arial"/>
                <a:sym typeface="Arial"/>
              </a:rPr>
              <a:t>- степень важности вершин </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Расстояние </a:t>
            </a:r>
            <a:r>
              <a:rPr b="0" i="0" lang="en-US" sz="2400" u="none">
                <a:solidFill>
                  <a:schemeClr val="dk1"/>
                </a:solidFill>
                <a:latin typeface="Arial"/>
                <a:ea typeface="Arial"/>
                <a:cs typeface="Arial"/>
                <a:sym typeface="Arial"/>
              </a:rPr>
              <a:t>- минимальное количество связей (рёбер) между вершинами</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Сила связи </a:t>
            </a:r>
            <a:r>
              <a:rPr b="0" i="0" lang="en-US" sz="2400" u="none">
                <a:solidFill>
                  <a:schemeClr val="dk1"/>
                </a:solidFill>
                <a:latin typeface="Arial"/>
                <a:ea typeface="Arial"/>
                <a:cs typeface="Arial"/>
                <a:sym typeface="Arial"/>
              </a:rPr>
              <a:t>- количество путей между вершинами</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Плотность </a:t>
            </a:r>
            <a:r>
              <a:rPr b="0" i="0" lang="en-US" sz="2400" u="none">
                <a:solidFill>
                  <a:schemeClr val="dk1"/>
                </a:solidFill>
                <a:latin typeface="Arial"/>
                <a:ea typeface="Arial"/>
                <a:cs typeface="Arial"/>
                <a:sym typeface="Arial"/>
              </a:rPr>
              <a:t>- отношение прямых связей в сети к общему возможному количеству связей</a:t>
            </a:r>
            <a:endParaRPr/>
          </a:p>
        </p:txBody>
      </p:sp>
      <p:sp>
        <p:nvSpPr>
          <p:cNvPr id="339" name="Google Shape;339;p21"/>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40" name="Google Shape;340;p2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2"/>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47" name="Google Shape;347;p22"/>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48" name="Google Shape;348;p22"/>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49" name="Google Shape;349;p22"/>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Метрики графов </a:t>
            </a:r>
            <a:br>
              <a:rPr b="1" i="0" lang="en-US" sz="3200" u="none">
                <a:solidFill>
                  <a:schemeClr val="dk1"/>
                </a:solidFill>
                <a:latin typeface="Calibri"/>
                <a:ea typeface="Calibri"/>
                <a:cs typeface="Calibri"/>
                <a:sym typeface="Calibri"/>
              </a:rPr>
            </a:br>
            <a:r>
              <a:rPr b="1" i="0" lang="en-US" sz="2500" u="none">
                <a:solidFill>
                  <a:schemeClr val="dk1"/>
                </a:solidFill>
                <a:latin typeface="Calibri"/>
                <a:ea typeface="Calibri"/>
                <a:cs typeface="Calibri"/>
                <a:sym typeface="Calibri"/>
              </a:rPr>
              <a:t>(сплоченность)</a:t>
            </a:r>
            <a:endParaRPr/>
          </a:p>
        </p:txBody>
      </p:sp>
      <p:sp>
        <p:nvSpPr>
          <p:cNvPr id="350" name="Google Shape;350;p22"/>
          <p:cNvSpPr txBox="1"/>
          <p:nvPr/>
        </p:nvSpPr>
        <p:spPr>
          <a:xfrm>
            <a:off x="1727200" y="2138362"/>
            <a:ext cx="8999537" cy="34163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Коэффициент кластеризации </a:t>
            </a:r>
            <a:r>
              <a:rPr b="0" i="0" lang="en-US" sz="2400" u="none">
                <a:solidFill>
                  <a:schemeClr val="dk1"/>
                </a:solidFill>
                <a:latin typeface="Arial"/>
                <a:ea typeface="Arial"/>
                <a:cs typeface="Arial"/>
                <a:sym typeface="Arial"/>
              </a:rPr>
              <a:t>- мера вероятности, с которой два партнёра одного узла являются приятелями.</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Сплоченность </a:t>
            </a:r>
            <a:r>
              <a:rPr b="0" i="0" lang="en-US" sz="2400" u="none">
                <a:solidFill>
                  <a:schemeClr val="dk1"/>
                </a:solidFill>
                <a:latin typeface="Arial"/>
                <a:ea typeface="Arial"/>
                <a:cs typeface="Arial"/>
                <a:sym typeface="Arial"/>
              </a:rPr>
              <a:t>- степень, с которой участники связаны напрямую друг с другом при помощи социальных связей.</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Структурная сплочённость </a:t>
            </a:r>
            <a:r>
              <a:rPr b="0" i="0" lang="en-US" sz="2400" u="none">
                <a:solidFill>
                  <a:schemeClr val="dk1"/>
                </a:solidFill>
                <a:latin typeface="Arial"/>
                <a:ea typeface="Arial"/>
                <a:cs typeface="Arial"/>
                <a:sym typeface="Arial"/>
              </a:rPr>
              <a:t>- минимальное количество участников, которые, будучи удаленными из группы, развалят группу.</a:t>
            </a:r>
            <a:endParaRPr/>
          </a:p>
          <a:p>
            <a:pPr indent="-342900" lvl="0" marL="342900" marR="0" rtl="0" algn="l">
              <a:lnSpc>
                <a:spcPct val="10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Клика </a:t>
            </a:r>
            <a:r>
              <a:rPr b="0" i="0" lang="en-US" sz="2400" u="none">
                <a:solidFill>
                  <a:schemeClr val="dk1"/>
                </a:solidFill>
                <a:latin typeface="Arial"/>
                <a:ea typeface="Arial"/>
                <a:cs typeface="Arial"/>
                <a:sym typeface="Arial"/>
              </a:rPr>
              <a:t>- группа, в которой все пользователи имеют «прямые» связи.</a:t>
            </a:r>
            <a:endParaRPr/>
          </a:p>
        </p:txBody>
      </p:sp>
      <p:sp>
        <p:nvSpPr>
          <p:cNvPr id="351" name="Google Shape;351;p22"/>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52" name="Google Shape;352;p2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3"/>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59" name="Google Shape;359;p23"/>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60" name="Google Shape;360;p23"/>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61" name="Google Shape;361;p23"/>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Метрики графов </a:t>
            </a:r>
            <a:br>
              <a:rPr b="1" i="0" lang="en-US" sz="3200" u="none">
                <a:solidFill>
                  <a:schemeClr val="dk1"/>
                </a:solidFill>
                <a:latin typeface="Calibri"/>
                <a:ea typeface="Calibri"/>
                <a:cs typeface="Calibri"/>
                <a:sym typeface="Calibri"/>
              </a:rPr>
            </a:br>
            <a:r>
              <a:rPr b="1" i="0" lang="en-US" sz="2500" u="none">
                <a:solidFill>
                  <a:schemeClr val="dk1"/>
                </a:solidFill>
                <a:latin typeface="Calibri"/>
                <a:ea typeface="Calibri"/>
                <a:cs typeface="Calibri"/>
                <a:sym typeface="Calibri"/>
              </a:rPr>
              <a:t>(центральность)</a:t>
            </a:r>
            <a:endParaRPr/>
          </a:p>
        </p:txBody>
      </p:sp>
      <p:sp>
        <p:nvSpPr>
          <p:cNvPr id="362" name="Google Shape;362;p23"/>
          <p:cNvSpPr txBox="1"/>
          <p:nvPr/>
        </p:nvSpPr>
        <p:spPr>
          <a:xfrm>
            <a:off x="1582737" y="1981200"/>
            <a:ext cx="9215437" cy="449421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Центральность по степени </a:t>
            </a:r>
            <a:r>
              <a:rPr b="0" i="0" lang="en-US" sz="2200" u="none">
                <a:solidFill>
                  <a:schemeClr val="dk1"/>
                </a:solidFill>
                <a:latin typeface="Arial"/>
                <a:ea typeface="Arial"/>
                <a:cs typeface="Arial"/>
                <a:sym typeface="Arial"/>
              </a:rPr>
              <a:t>- количество связей у вершины </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Центральность по посредничеству </a:t>
            </a:r>
            <a:r>
              <a:rPr b="0" i="0" lang="en-US" sz="2200" u="none">
                <a:solidFill>
                  <a:schemeClr val="dk1"/>
                </a:solidFill>
                <a:latin typeface="Arial"/>
                <a:ea typeface="Arial"/>
                <a:cs typeface="Arial"/>
                <a:sym typeface="Arial"/>
              </a:rPr>
              <a:t>- число кратчайших путей от всех до всех, проходящих через данную вершину</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Центральность по близости </a:t>
            </a:r>
            <a:r>
              <a:rPr b="0" i="0" lang="en-US" sz="2200" u="none">
                <a:solidFill>
                  <a:schemeClr val="dk1"/>
                </a:solidFill>
                <a:latin typeface="Arial"/>
                <a:ea typeface="Arial"/>
                <a:cs typeface="Arial"/>
                <a:sym typeface="Arial"/>
              </a:rPr>
              <a:t>- сумма расстояний от вершины до всех вершин</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Центральность собственного вектора </a:t>
            </a:r>
            <a:r>
              <a:rPr b="0" i="0" lang="en-US" sz="2200" u="none">
                <a:solidFill>
                  <a:schemeClr val="dk1"/>
                </a:solidFill>
                <a:latin typeface="Arial"/>
                <a:ea typeface="Arial"/>
                <a:cs typeface="Arial"/>
                <a:sym typeface="Arial"/>
              </a:rPr>
              <a:t>- зависимость между центральностью вершины и центральностями её соседей (сумма центральностей соседних вершин, поделенных на const) </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Альфа центральность (Page Rank) </a:t>
            </a:r>
            <a:r>
              <a:rPr b="0" i="0" lang="en-US" sz="2200" u="none">
                <a:solidFill>
                  <a:schemeClr val="dk1"/>
                </a:solidFill>
                <a:latin typeface="Arial"/>
                <a:ea typeface="Arial"/>
                <a:cs typeface="Arial"/>
                <a:sym typeface="Arial"/>
              </a:rPr>
              <a:t>- распределение влияния вершины между своих соседей</a:t>
            </a:r>
            <a:endParaRPr/>
          </a:p>
          <a:p>
            <a:pPr indent="-342900" lvl="0" marL="342900" marR="0" rtl="0" algn="l">
              <a:lnSpc>
                <a:spcPct val="100000"/>
              </a:lnSpc>
              <a:spcBef>
                <a:spcPts val="0"/>
              </a:spcBef>
              <a:spcAft>
                <a:spcPts val="0"/>
              </a:spcAft>
              <a:buClr>
                <a:schemeClr val="dk1"/>
              </a:buClr>
              <a:buSzPts val="2200"/>
              <a:buFont typeface="Arial"/>
              <a:buChar char="•"/>
            </a:pPr>
            <a:r>
              <a:rPr b="1" i="0" lang="en-US" sz="2200" u="none">
                <a:solidFill>
                  <a:schemeClr val="dk1"/>
                </a:solidFill>
                <a:latin typeface="Arial"/>
                <a:ea typeface="Arial"/>
                <a:cs typeface="Arial"/>
                <a:sym typeface="Arial"/>
              </a:rPr>
              <a:t>Центральность Каца </a:t>
            </a:r>
            <a:r>
              <a:rPr b="0" i="0" lang="en-US" sz="2200" u="none">
                <a:solidFill>
                  <a:schemeClr val="dk1"/>
                </a:solidFill>
                <a:latin typeface="Arial"/>
                <a:ea typeface="Arial"/>
                <a:cs typeface="Arial"/>
                <a:sym typeface="Arial"/>
              </a:rPr>
              <a:t>- количество всех вершин связанных с вершиной, умноженное на коэффициент в зависимости от удаленности этих вершин	</a:t>
            </a:r>
            <a:endParaRPr/>
          </a:p>
        </p:txBody>
      </p:sp>
      <p:sp>
        <p:nvSpPr>
          <p:cNvPr id="363" name="Google Shape;363;p23"/>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64" name="Google Shape;364;p2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4"/>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71" name="Google Shape;371;p24"/>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72" name="Google Shape;372;p24"/>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73" name="Google Shape;373;p24"/>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Важность центральных точек</a:t>
            </a:r>
            <a:endParaRPr/>
          </a:p>
        </p:txBody>
      </p:sp>
      <p:sp>
        <p:nvSpPr>
          <p:cNvPr id="374" name="Google Shape;374;p24"/>
          <p:cNvSpPr txBox="1"/>
          <p:nvPr/>
        </p:nvSpPr>
        <p:spPr>
          <a:xfrm>
            <a:off x="1506537" y="2133600"/>
            <a:ext cx="6569075" cy="3538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 </a:t>
            </a:r>
            <a:r>
              <a:rPr b="1" i="0" lang="en-US" sz="2000" u="none">
                <a:solidFill>
                  <a:schemeClr val="dk1"/>
                </a:solidFill>
                <a:latin typeface="Arial"/>
                <a:ea typeface="Arial"/>
                <a:cs typeface="Arial"/>
                <a:sym typeface="Arial"/>
              </a:rPr>
              <a:t>Зачем искать множество центральных точек?</a:t>
            </a:r>
            <a:endParaRPr/>
          </a:p>
          <a:p>
            <a:pPr indent="0" lvl="1" marL="449262"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Центральность показывает, какие участники ресурса приносят наибольшую пользу или имеют больше всего связей, что отражает их большую компетентность как информационных источников.</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влияние таких точек больше остальных</a:t>
            </a:r>
            <a:endParaRPr/>
          </a:p>
          <a:p>
            <a:pPr indent="0" lvl="1" marL="449262"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Креативные умы запада уже определили  соответствующий мем, который позволяет оценивать «качество» лидеров мнений. Они придумали понятие «риплы влияния» (Ripples of Influence). Ripple – по-английски обозначает рябь, как на поверхности воды, когда на неё падает дождевая капля. Аналогия проста – чем «жирнее» лидер, тем дальше расходятся риплы от его капель-меседжей.</a:t>
            </a:r>
            <a:endParaRPr/>
          </a:p>
        </p:txBody>
      </p:sp>
      <p:pic>
        <p:nvPicPr>
          <p:cNvPr descr="http://www.ljplus.ru/img/s/t/studio_bloger/ripples2lit.gif" id="375" name="Google Shape;375;p24"/>
          <p:cNvPicPr preferRelativeResize="0"/>
          <p:nvPr/>
        </p:nvPicPr>
        <p:blipFill rotWithShape="1">
          <a:blip r:embed="rId3">
            <a:alphaModFix/>
          </a:blip>
          <a:srcRect b="0" l="0" r="0" t="0"/>
          <a:stretch/>
        </p:blipFill>
        <p:spPr>
          <a:xfrm>
            <a:off x="7997825" y="1958975"/>
            <a:ext cx="3025775" cy="3738562"/>
          </a:xfrm>
          <a:prstGeom prst="rect">
            <a:avLst/>
          </a:prstGeom>
          <a:noFill/>
          <a:ln>
            <a:noFill/>
          </a:ln>
        </p:spPr>
      </p:pic>
      <p:sp>
        <p:nvSpPr>
          <p:cNvPr id="376" name="Google Shape;376;p24"/>
          <p:cNvSpPr txBox="1"/>
          <p:nvPr/>
        </p:nvSpPr>
        <p:spPr>
          <a:xfrm>
            <a:off x="1860550" y="5816600"/>
            <a:ext cx="8432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 </a:t>
            </a:r>
            <a:r>
              <a:rPr b="0" i="0" lang="en-US" sz="20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удаление важных вершин снижает надежность системы</a:t>
            </a:r>
            <a:endParaRPr/>
          </a:p>
          <a:p>
            <a:pPr indent="7937" lvl="1" marL="449262"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без лидера коллективный разум превращается в коллективное безумие</a:t>
            </a:r>
            <a:endParaRPr/>
          </a:p>
        </p:txBody>
      </p:sp>
      <p:sp>
        <p:nvSpPr>
          <p:cNvPr id="377" name="Google Shape;377;p24"/>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78" name="Google Shape;378;p2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5"/>
          <p:cNvSpPr txBox="1"/>
          <p:nvPr>
            <p:ph idx="4294967295" type="ctrTitle"/>
          </p:nvPr>
        </p:nvSpPr>
        <p:spPr>
          <a:xfrm>
            <a:off x="1195387" y="800100"/>
            <a:ext cx="9090025" cy="3195637"/>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4500"/>
              <a:buFont typeface="Calibri"/>
              <a:buNone/>
            </a:pPr>
            <a:r>
              <a:rPr b="1" i="0" lang="en-US" sz="4500" u="none" cap="none" strike="noStrike">
                <a:solidFill>
                  <a:srgbClr val="FFFFFF"/>
                </a:solidFill>
                <a:latin typeface="Calibri"/>
                <a:ea typeface="Calibri"/>
                <a:cs typeface="Calibri"/>
                <a:sym typeface="Calibri"/>
              </a:rPr>
              <a:t>Социальные графы</a:t>
            </a:r>
            <a:br>
              <a:rPr b="1" i="0" lang="en-US" sz="4500" u="none" cap="none" strike="noStrike">
                <a:solidFill>
                  <a:srgbClr val="FFFFFF"/>
                </a:solidFill>
                <a:latin typeface="Calibri"/>
                <a:ea typeface="Calibri"/>
                <a:cs typeface="Calibri"/>
                <a:sym typeface="Calibri"/>
              </a:rPr>
            </a:br>
            <a:r>
              <a:rPr b="1" i="0" lang="en-US" sz="4500" u="none" cap="none" strike="noStrike">
                <a:solidFill>
                  <a:srgbClr val="FFFFFF"/>
                </a:solidFill>
                <a:latin typeface="Calibri"/>
                <a:ea typeface="Calibri"/>
                <a:cs typeface="Calibri"/>
                <a:sym typeface="Calibri"/>
              </a:rPr>
              <a:t>Выделение сообществ</a:t>
            </a:r>
            <a:endParaRPr/>
          </a:p>
        </p:txBody>
      </p:sp>
      <p:pic>
        <p:nvPicPr>
          <p:cNvPr id="386" name="Google Shape;386;p25"/>
          <p:cNvPicPr preferRelativeResize="0"/>
          <p:nvPr/>
        </p:nvPicPr>
        <p:blipFill rotWithShape="1">
          <a:blip r:embed="rId3">
            <a:alphaModFix/>
          </a:blip>
          <a:srcRect b="0" l="0" r="0" t="0"/>
          <a:stretch/>
        </p:blipFill>
        <p:spPr>
          <a:xfrm>
            <a:off x="2493962" y="4283075"/>
            <a:ext cx="7508875" cy="1651000"/>
          </a:xfrm>
          <a:prstGeom prst="rect">
            <a:avLst/>
          </a:prstGeom>
          <a:noFill/>
          <a:ln>
            <a:noFill/>
          </a:ln>
        </p:spPr>
      </p:pic>
      <p:sp>
        <p:nvSpPr>
          <p:cNvPr id="387" name="Google Shape;387;p2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6"/>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94" name="Google Shape;394;p26"/>
          <p:cNvSpPr/>
          <p:nvPr/>
        </p:nvSpPr>
        <p:spPr>
          <a:xfrm>
            <a:off x="2085975" y="395287"/>
            <a:ext cx="8351837" cy="10429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95" name="Google Shape;395;p26"/>
          <p:cNvSpPr/>
          <p:nvPr/>
        </p:nvSpPr>
        <p:spPr>
          <a:xfrm>
            <a:off x="1582737" y="1585912"/>
            <a:ext cx="9431337" cy="51450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396" name="Google Shape;396;p26"/>
          <p:cNvSpPr txBox="1"/>
          <p:nvPr>
            <p:ph type="title"/>
          </p:nvPr>
        </p:nvSpPr>
        <p:spPr>
          <a:xfrm>
            <a:off x="2193925" y="542925"/>
            <a:ext cx="8243887" cy="661987"/>
          </a:xfrm>
          <a:prstGeom prst="rect">
            <a:avLst/>
          </a:prstGeom>
          <a:noFill/>
          <a:ln>
            <a:noFill/>
          </a:ln>
        </p:spPr>
        <p:txBody>
          <a:bodyPr anchorCtr="0" anchor="t" bIns="49700" lIns="99425" spcFirstLastPara="1" rIns="99425" wrap="square" tIns="49700">
            <a:noAutofit/>
          </a:bodyPr>
          <a:lstStyle/>
          <a:p>
            <a:pPr indent="0" lvl="0" marL="0" rtl="0" algn="ctr">
              <a:lnSpc>
                <a:spcPct val="100000"/>
              </a:lnSpc>
              <a:spcBef>
                <a:spcPts val="0"/>
              </a:spcBef>
              <a:spcAft>
                <a:spcPts val="0"/>
              </a:spcAft>
              <a:buClr>
                <a:schemeClr val="dk1"/>
              </a:buClr>
              <a:buSzPts val="3600"/>
              <a:buFont typeface="Calibri"/>
              <a:buNone/>
            </a:pPr>
            <a:r>
              <a:rPr b="1" i="0" lang="en-US" sz="3600" u="none">
                <a:solidFill>
                  <a:schemeClr val="dk1"/>
                </a:solidFill>
                <a:latin typeface="Calibri"/>
                <a:ea typeface="Calibri"/>
                <a:cs typeface="Calibri"/>
                <a:sym typeface="Calibri"/>
              </a:rPr>
              <a:t>Задачи выделения сообществ</a:t>
            </a:r>
            <a:endParaRPr/>
          </a:p>
        </p:txBody>
      </p:sp>
      <p:sp>
        <p:nvSpPr>
          <p:cNvPr id="397" name="Google Shape;397;p26"/>
          <p:cNvSpPr txBox="1"/>
          <p:nvPr/>
        </p:nvSpPr>
        <p:spPr>
          <a:xfrm>
            <a:off x="1727200" y="2022475"/>
            <a:ext cx="9215437" cy="437038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Выделение сегментов пользователей для проведения таргетированных рекламных кампаний.</a:t>
            </a:r>
            <a:endParaRPr/>
          </a:p>
          <a:p>
            <a:pPr indent="-457200" lvl="0" marL="4572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Использование кластеров в качестве предикторов («фичей») в персональных рекомендациях (в content-based методах или как дополнительная информация в коллаборативной фильтрации).</a:t>
            </a:r>
            <a:endParaRPr/>
          </a:p>
          <a:p>
            <a:pPr indent="-457200" lvl="0" marL="4572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Снижение размерности в любой задаче машинного обучения, где в качестве фичей выступают страницы или домены, посещенные пользователем.</a:t>
            </a:r>
            <a:endParaRPr/>
          </a:p>
          <a:p>
            <a:pPr indent="-457200" lvl="0" marL="4572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Сличение товарных URL между различными интернет-магазинами с целью выявления среди них групп, соответствующих одному и тому же товару.</a:t>
            </a:r>
            <a:endParaRPr/>
          </a:p>
          <a:p>
            <a:pPr indent="-457200" lvl="0" marL="4572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Компактная визуализация — человеку будет проще воспринимать структуру данных.</a:t>
            </a:r>
            <a:br>
              <a:rPr b="0" i="0" lang="en-US" sz="1800" u="none">
                <a:solidFill>
                  <a:schemeClr val="dk1"/>
                </a:solidFill>
                <a:latin typeface="Arial"/>
                <a:ea typeface="Arial"/>
                <a:cs typeface="Arial"/>
                <a:sym typeface="Arial"/>
              </a:rPr>
            </a:br>
            <a:endParaRPr/>
          </a:p>
        </p:txBody>
      </p:sp>
      <p:sp>
        <p:nvSpPr>
          <p:cNvPr id="398" name="Google Shape;398;p26"/>
          <p:cNvSpPr txBox="1"/>
          <p:nvPr/>
        </p:nvSpPr>
        <p:spPr>
          <a:xfrm>
            <a:off x="5246687" y="-4762"/>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399" name="Google Shape;399;p26"/>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7"/>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06" name="Google Shape;406;p27"/>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07" name="Google Shape;407;p27"/>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08" name="Google Shape;408;p27"/>
          <p:cNvSpPr txBox="1"/>
          <p:nvPr>
            <p:ph type="title"/>
          </p:nvPr>
        </p:nvSpPr>
        <p:spPr>
          <a:xfrm>
            <a:off x="2193925" y="460375"/>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09" name="Google Shape;409;p27"/>
          <p:cNvSpPr txBox="1"/>
          <p:nvPr/>
        </p:nvSpPr>
        <p:spPr>
          <a:xfrm>
            <a:off x="5318125" y="-4762"/>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10" name="Google Shape;410;p27"/>
          <p:cNvSpPr txBox="1"/>
          <p:nvPr/>
        </p:nvSpPr>
        <p:spPr>
          <a:xfrm>
            <a:off x="1689100" y="1789112"/>
            <a:ext cx="9540875" cy="501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Критерии качества кластеризации</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После того как отработал алгоритм выделения сообществ, необходимо оценить качество получившегося результата. Существуют две принципиально разные ситуации:</a:t>
            </a:r>
            <a:endParaRPr/>
          </a:p>
          <a:p>
            <a:pPr indent="-127000" lvl="0" marL="0" marR="0" rtl="0" algn="l">
              <a:lnSpc>
                <a:spcPct val="100000"/>
              </a:lnSpc>
              <a:spcBef>
                <a:spcPts val="0"/>
              </a:spcBef>
              <a:spcAft>
                <a:spcPts val="0"/>
              </a:spcAft>
              <a:buClr>
                <a:schemeClr val="dk1"/>
              </a:buClr>
              <a:buSzPts val="2000"/>
              <a:buFont typeface="Calibri"/>
              <a:buAutoNum type="arabicPeriod"/>
            </a:pPr>
            <a:r>
              <a:rPr b="0" i="0" lang="en-US" sz="2000" u="none">
                <a:solidFill>
                  <a:schemeClr val="dk1"/>
                </a:solidFill>
                <a:latin typeface="Arial"/>
                <a:ea typeface="Arial"/>
                <a:cs typeface="Arial"/>
                <a:sym typeface="Arial"/>
              </a:rPr>
              <a:t>Не известно истинное разбиение на сообщества. Такая ситуация встречается чаще всего, особенно для графов большого размера и реальных данных. В таком случае для оценки качества используется значение функционала </a:t>
            </a:r>
            <a:r>
              <a:rPr b="1" i="1" lang="en-US" sz="2000" u="none">
                <a:solidFill>
                  <a:srgbClr val="0C779D"/>
                </a:solidFill>
                <a:latin typeface="Arial"/>
                <a:ea typeface="Arial"/>
                <a:cs typeface="Arial"/>
                <a:sym typeface="Arial"/>
              </a:rPr>
              <a:t>модулярности</a:t>
            </a:r>
            <a:r>
              <a:rPr b="0" i="0" lang="en-US" sz="2000" u="none">
                <a:solidFill>
                  <a:schemeClr val="dk1"/>
                </a:solidFill>
                <a:latin typeface="Arial"/>
                <a:ea typeface="Arial"/>
                <a:cs typeface="Arial"/>
                <a:sym typeface="Arial"/>
              </a:rPr>
              <a:t>.</a:t>
            </a:r>
            <a:endParaRPr/>
          </a:p>
          <a:p>
            <a:pPr indent="-127000" lvl="0" marL="0" marR="0" rtl="0" algn="l">
              <a:lnSpc>
                <a:spcPct val="100000"/>
              </a:lnSpc>
              <a:spcBef>
                <a:spcPts val="0"/>
              </a:spcBef>
              <a:spcAft>
                <a:spcPts val="0"/>
              </a:spcAft>
              <a:buClr>
                <a:schemeClr val="dk1"/>
              </a:buClr>
              <a:buSzPts val="2000"/>
              <a:buFont typeface="Calibri"/>
              <a:buAutoNum type="arabicPeriod"/>
            </a:pPr>
            <a:r>
              <a:rPr b="0" i="0" lang="en-US" sz="2000" u="none">
                <a:solidFill>
                  <a:schemeClr val="dk1"/>
                </a:solidFill>
                <a:latin typeface="Arial"/>
                <a:ea typeface="Arial"/>
                <a:cs typeface="Arial"/>
                <a:sym typeface="Arial"/>
              </a:rPr>
              <a:t> Истинное разбиение известно, например, в случае модельных данных или для графа знакомств друзей пользователя социальной сети (эго-графа), где он самостоятельно разделил всех друзей на сообщества. В таком случае вводят метрику на разбиениях вершин и посчитывают расстояние между истинным и полученным разбиениями. Для таких целей используется </a:t>
            </a:r>
            <a:r>
              <a:rPr b="1" i="1" lang="en-US" sz="2000" u="none">
                <a:solidFill>
                  <a:srgbClr val="0C779D"/>
                </a:solidFill>
                <a:latin typeface="Arial"/>
                <a:ea typeface="Arial"/>
                <a:cs typeface="Arial"/>
                <a:sym typeface="Arial"/>
              </a:rPr>
              <a:t>редакторское расстояние </a:t>
            </a:r>
            <a:r>
              <a:rPr b="0" i="0" lang="en-US" sz="2000" u="none">
                <a:solidFill>
                  <a:schemeClr val="dk1"/>
                </a:solidFill>
                <a:latin typeface="Arial"/>
                <a:ea typeface="Arial"/>
                <a:cs typeface="Arial"/>
                <a:sym typeface="Arial"/>
              </a:rPr>
              <a:t>для разбиений (split-join distance) или </a:t>
            </a:r>
            <a:r>
              <a:rPr b="1" i="1" lang="en-US" sz="2000" u="none">
                <a:solidFill>
                  <a:srgbClr val="0C779D"/>
                </a:solidFill>
                <a:latin typeface="Arial"/>
                <a:ea typeface="Arial"/>
                <a:cs typeface="Arial"/>
                <a:sym typeface="Arial"/>
              </a:rPr>
              <a:t>нормализованная взаимная информация </a:t>
            </a:r>
            <a:r>
              <a:rPr b="0" i="0" lang="en-US" sz="2000" u="none">
                <a:solidFill>
                  <a:schemeClr val="dk1"/>
                </a:solidFill>
                <a:latin typeface="Arial"/>
                <a:ea typeface="Arial"/>
                <a:cs typeface="Arial"/>
                <a:sym typeface="Arial"/>
              </a:rPr>
              <a:t>— информационный критерий для сравнения двух разбиений.</a:t>
            </a:r>
            <a:endParaRPr/>
          </a:p>
        </p:txBody>
      </p:sp>
      <p:sp>
        <p:nvSpPr>
          <p:cNvPr id="411" name="Google Shape;411;p27"/>
          <p:cNvSpPr txBox="1"/>
          <p:nvPr/>
        </p:nvSpPr>
        <p:spPr>
          <a:xfrm>
            <a:off x="3984625" y="1054100"/>
            <a:ext cx="45545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Критерии качества кластеризации</a:t>
            </a:r>
            <a:endParaRPr/>
          </a:p>
        </p:txBody>
      </p:sp>
      <p:sp>
        <p:nvSpPr>
          <p:cNvPr id="412" name="Google Shape;412;p27"/>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8"/>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19" name="Google Shape;419;p28"/>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20" name="Google Shape;420;p28"/>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21" name="Google Shape;421;p28"/>
          <p:cNvSpPr txBox="1"/>
          <p:nvPr>
            <p:ph type="title"/>
          </p:nvPr>
        </p:nvSpPr>
        <p:spPr>
          <a:xfrm>
            <a:off x="2193925" y="466725"/>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22" name="Google Shape;422;p28"/>
          <p:cNvSpPr txBox="1"/>
          <p:nvPr/>
        </p:nvSpPr>
        <p:spPr>
          <a:xfrm>
            <a:off x="5156200" y="-4762"/>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23" name="Google Shape;423;p28"/>
          <p:cNvSpPr txBox="1"/>
          <p:nvPr/>
        </p:nvSpPr>
        <p:spPr>
          <a:xfrm>
            <a:off x="1762125" y="1954212"/>
            <a:ext cx="8820150" cy="4154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Описывает, насколько при заданном разбиении графа на группы плотность внутригрупповых связей больше плотности межгрупповых связей.</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Плюсы: </a:t>
            </a:r>
            <a:endParaRPr/>
          </a:p>
          <a:p>
            <a:pPr indent="-342899" lvl="1" marL="792162"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Модулярность возможно эффективно пересчитывать при небольших изменениях в кластерах.</a:t>
            </a:r>
            <a:endParaRPr/>
          </a:p>
          <a:p>
            <a:pPr indent="-152400" lvl="0" marL="0" marR="0" rtl="0" algn="l">
              <a:lnSpc>
                <a:spcPct val="100000"/>
              </a:lnSpc>
              <a:spcBef>
                <a:spcPts val="0"/>
              </a:spcBef>
              <a:spcAft>
                <a:spcPts val="0"/>
              </a:spcAft>
              <a:buClr>
                <a:schemeClr val="dk1"/>
              </a:buClr>
              <a:buSzPts val="2400"/>
              <a:buFont typeface="Arial"/>
              <a:buChar char="•"/>
            </a:pPr>
            <a:r>
              <a:rPr b="0" i="1" lang="en-US" sz="2400" u="none">
                <a:solidFill>
                  <a:schemeClr val="dk1"/>
                </a:solidFill>
                <a:latin typeface="Arial"/>
                <a:ea typeface="Arial"/>
                <a:cs typeface="Arial"/>
                <a:sym typeface="Arial"/>
              </a:rPr>
              <a:t>Минусы:</a:t>
            </a:r>
            <a:endParaRPr/>
          </a:p>
          <a:p>
            <a:pPr indent="-342899" lvl="1" marL="792162"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Функционал не непрерывный, задача его оптимизации — дискретная.</a:t>
            </a:r>
            <a:endParaRPr/>
          </a:p>
          <a:p>
            <a:pPr indent="-342899" lvl="1" marL="792162"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Функционал не видит маленькие сообщества.</a:t>
            </a:r>
            <a:endParaRPr/>
          </a:p>
        </p:txBody>
      </p:sp>
      <p:sp>
        <p:nvSpPr>
          <p:cNvPr id="424" name="Google Shape;424;p28"/>
          <p:cNvSpPr txBox="1"/>
          <p:nvPr/>
        </p:nvSpPr>
        <p:spPr>
          <a:xfrm>
            <a:off x="3525837" y="1144587"/>
            <a:ext cx="47561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Критерии качества  - Модулярность</a:t>
            </a:r>
            <a:endParaRPr/>
          </a:p>
        </p:txBody>
      </p:sp>
      <p:sp>
        <p:nvSpPr>
          <p:cNvPr id="425" name="Google Shape;425;p28"/>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9"/>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32" name="Google Shape;432;p29"/>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33" name="Google Shape;433;p29"/>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34" name="Google Shape;434;p29"/>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35" name="Google Shape;435;p29"/>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36" name="Google Shape;436;p29"/>
          <p:cNvSpPr txBox="1"/>
          <p:nvPr/>
        </p:nvSpPr>
        <p:spPr>
          <a:xfrm>
            <a:off x="1689100" y="1789112"/>
            <a:ext cx="9469437"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Функционал был предложен Ньюманом и Гирваном в ходе разработки алгоритма кластеризации вершин графа [3] для оценки качества разбиения. </a:t>
            </a:r>
            <a:r>
              <a:rPr b="1" i="1" lang="en-US" sz="2000" u="none">
                <a:solidFill>
                  <a:schemeClr val="dk1"/>
                </a:solidFill>
                <a:latin typeface="Arial"/>
                <a:ea typeface="Arial"/>
                <a:cs typeface="Arial"/>
                <a:sym typeface="Arial"/>
              </a:rPr>
              <a:t>Модулярность </a:t>
            </a:r>
            <a:r>
              <a:rPr b="0" i="0" lang="en-US" sz="2000" u="none">
                <a:solidFill>
                  <a:schemeClr val="dk1"/>
                </a:solidFill>
                <a:latin typeface="Arial"/>
                <a:ea typeface="Arial"/>
                <a:cs typeface="Arial"/>
                <a:sym typeface="Arial"/>
              </a:rPr>
              <a:t>— это скалярная величина из отрезка [</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1</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1], которая количественно описывает неформальное определение структуры сообществ:</a:t>
            </a:r>
            <a:endParaRPr/>
          </a:p>
        </p:txBody>
      </p:sp>
      <p:sp>
        <p:nvSpPr>
          <p:cNvPr id="437" name="Google Shape;437;p29"/>
          <p:cNvSpPr txBox="1"/>
          <p:nvPr/>
        </p:nvSpPr>
        <p:spPr>
          <a:xfrm>
            <a:off x="3525837" y="1231900"/>
            <a:ext cx="47561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Критерий качества  - Модулярность</a:t>
            </a:r>
            <a:endParaRPr/>
          </a:p>
        </p:txBody>
      </p:sp>
      <p:pic>
        <p:nvPicPr>
          <p:cNvPr id="438" name="Google Shape;438;p29"/>
          <p:cNvPicPr preferRelativeResize="0"/>
          <p:nvPr/>
        </p:nvPicPr>
        <p:blipFill rotWithShape="1">
          <a:blip r:embed="rId3">
            <a:alphaModFix/>
          </a:blip>
          <a:srcRect b="0" l="0" r="0" t="0"/>
          <a:stretch/>
        </p:blipFill>
        <p:spPr>
          <a:xfrm>
            <a:off x="4230687" y="3168650"/>
            <a:ext cx="3605212" cy="754062"/>
          </a:xfrm>
          <a:prstGeom prst="rect">
            <a:avLst/>
          </a:prstGeom>
          <a:noFill/>
          <a:ln>
            <a:noFill/>
          </a:ln>
        </p:spPr>
      </p:pic>
      <p:sp>
        <p:nvSpPr>
          <p:cNvPr id="439" name="Google Shape;439;p29"/>
          <p:cNvSpPr txBox="1"/>
          <p:nvPr/>
        </p:nvSpPr>
        <p:spPr>
          <a:xfrm>
            <a:off x="1492250" y="3857625"/>
            <a:ext cx="9647237" cy="31702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где </a:t>
            </a:r>
            <a:r>
              <a:rPr b="1" i="1" lang="en-US" sz="2000" u="none">
                <a:solidFill>
                  <a:schemeClr val="dk1"/>
                </a:solidFill>
                <a:latin typeface="Arial"/>
                <a:ea typeface="Arial"/>
                <a:cs typeface="Arial"/>
                <a:sym typeface="Arial"/>
              </a:rPr>
              <a:t>A</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Матрица смежности графа, </a:t>
            </a:r>
            <a:r>
              <a:rPr b="1" i="1" lang="en-US" sz="2000" u="none">
                <a:solidFill>
                  <a:schemeClr val="dk1"/>
                </a:solidFill>
                <a:latin typeface="Arial"/>
                <a:ea typeface="Arial"/>
                <a:cs typeface="Arial"/>
                <a:sym typeface="Arial"/>
              </a:rPr>
              <a:t>A</a:t>
            </a:r>
            <a:r>
              <a:rPr b="1" baseline="-25000" i="1" lang="en-US" sz="2000" u="none">
                <a:solidFill>
                  <a:schemeClr val="dk1"/>
                </a:solidFill>
                <a:latin typeface="Arial"/>
                <a:ea typeface="Arial"/>
                <a:cs typeface="Arial"/>
                <a:sym typeface="Arial"/>
              </a:rPr>
              <a:t>ij </a:t>
            </a:r>
            <a:r>
              <a:rPr b="1" i="0" lang="en-US" sz="2000" u="none">
                <a:solidFill>
                  <a:schemeClr val="dk1"/>
                </a:solidFill>
                <a:latin typeface="Arial"/>
                <a:ea typeface="Arial"/>
                <a:cs typeface="Arial"/>
                <a:sym typeface="Arial"/>
              </a:rPr>
              <a:t>— (</a:t>
            </a:r>
            <a:r>
              <a:rPr b="1" i="1" lang="en-US" sz="2000" u="none">
                <a:solidFill>
                  <a:schemeClr val="dk1"/>
                </a:solidFill>
                <a:latin typeface="Arial"/>
                <a:ea typeface="Arial"/>
                <a:cs typeface="Arial"/>
                <a:sym typeface="Arial"/>
              </a:rPr>
              <a:t>i, j</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элемент матрицы,</a:t>
            </a:r>
            <a:r>
              <a:rPr b="1" i="0" lang="en-US" sz="2000" u="none">
                <a:solidFill>
                  <a:schemeClr val="dk1"/>
                </a:solidFill>
                <a:latin typeface="Arial"/>
                <a:ea typeface="Arial"/>
                <a:cs typeface="Arial"/>
                <a:sym typeface="Arial"/>
              </a:rPr>
              <a:t> </a:t>
            </a:r>
            <a:r>
              <a:rPr b="1" i="1" lang="en-US" sz="2000" u="none">
                <a:solidFill>
                  <a:schemeClr val="dk1"/>
                </a:solidFill>
                <a:latin typeface="Arial"/>
                <a:ea typeface="Arial"/>
                <a:cs typeface="Arial"/>
                <a:sym typeface="Arial"/>
              </a:rPr>
              <a:t>d</a:t>
            </a:r>
            <a:r>
              <a:rPr b="1" baseline="-25000" i="1" lang="en-US" sz="2000" u="none">
                <a:solidFill>
                  <a:schemeClr val="dk1"/>
                </a:solidFill>
                <a:latin typeface="Arial"/>
                <a:ea typeface="Arial"/>
                <a:cs typeface="Arial"/>
                <a:sym typeface="Arial"/>
              </a:rPr>
              <a:t>i</a:t>
            </a:r>
            <a:r>
              <a:rPr b="1"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степень</a:t>
            </a:r>
            <a:r>
              <a:rPr b="1" i="0" lang="en-US" sz="2000" u="none">
                <a:solidFill>
                  <a:schemeClr val="dk1"/>
                </a:solidFill>
                <a:latin typeface="Arial"/>
                <a:ea typeface="Arial"/>
                <a:cs typeface="Arial"/>
                <a:sym typeface="Arial"/>
              </a:rPr>
              <a:t> </a:t>
            </a:r>
            <a:r>
              <a:rPr b="1" i="1" lang="en-US" sz="2000" u="none">
                <a:solidFill>
                  <a:schemeClr val="dk1"/>
                </a:solidFill>
                <a:latin typeface="Arial"/>
                <a:ea typeface="Arial"/>
                <a:cs typeface="Arial"/>
                <a:sym typeface="Arial"/>
              </a:rPr>
              <a:t>i </a:t>
            </a:r>
            <a:r>
              <a:rPr b="0" i="0" lang="en-US" sz="2000" u="none">
                <a:solidFill>
                  <a:schemeClr val="dk1"/>
                </a:solidFill>
                <a:latin typeface="Arial"/>
                <a:ea typeface="Arial"/>
                <a:cs typeface="Arial"/>
                <a:sym typeface="Arial"/>
              </a:rPr>
              <a:t>вершины графа, </a:t>
            </a:r>
            <a:r>
              <a:rPr b="1" i="1" lang="en-US" sz="2000" u="none">
                <a:solidFill>
                  <a:schemeClr val="dk1"/>
                </a:solidFill>
                <a:latin typeface="Arial"/>
                <a:ea typeface="Arial"/>
                <a:cs typeface="Arial"/>
                <a:sym typeface="Arial"/>
              </a:rPr>
              <a:t>C</a:t>
            </a:r>
            <a:r>
              <a:rPr b="1" baseline="-25000" i="1" lang="en-US" sz="2000" u="none">
                <a:solidFill>
                  <a:schemeClr val="dk1"/>
                </a:solidFill>
                <a:latin typeface="Arial"/>
                <a:ea typeface="Arial"/>
                <a:cs typeface="Arial"/>
                <a:sym typeface="Arial"/>
              </a:rPr>
              <a:t>i</a:t>
            </a:r>
            <a:r>
              <a:rPr b="1"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метка вершины (номер сообщества, к которому относится вершина), </a:t>
            </a:r>
            <a:r>
              <a:rPr b="1" i="1" lang="en-US" sz="2000" u="none">
                <a:solidFill>
                  <a:schemeClr val="dk1"/>
                </a:solidFill>
                <a:latin typeface="Arial"/>
                <a:ea typeface="Arial"/>
                <a:cs typeface="Arial"/>
                <a:sym typeface="Arial"/>
              </a:rPr>
              <a:t>m</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общее количество ребер в графе. </a:t>
            </a:r>
            <a:r>
              <a:rPr b="1" i="1" lang="en-US" sz="2000" u="none">
                <a:solidFill>
                  <a:schemeClr val="dk1"/>
                </a:solidFill>
                <a:latin typeface="Arial"/>
                <a:ea typeface="Arial"/>
                <a:cs typeface="Arial"/>
                <a:sym typeface="Arial"/>
              </a:rPr>
              <a:t>δ</a:t>
            </a:r>
            <a:r>
              <a:rPr b="1" i="0" lang="en-US" sz="2000" u="none">
                <a:solidFill>
                  <a:schemeClr val="dk1"/>
                </a:solidFill>
                <a:latin typeface="Arial"/>
                <a:ea typeface="Arial"/>
                <a:cs typeface="Arial"/>
                <a:sym typeface="Arial"/>
              </a:rPr>
              <a:t>(</a:t>
            </a:r>
            <a:r>
              <a:rPr b="1" i="1" lang="en-US" sz="2000" u="none">
                <a:solidFill>
                  <a:schemeClr val="dk1"/>
                </a:solidFill>
                <a:latin typeface="Arial"/>
                <a:ea typeface="Arial"/>
                <a:cs typeface="Arial"/>
                <a:sym typeface="Arial"/>
              </a:rPr>
              <a:t>C</a:t>
            </a:r>
            <a:r>
              <a:rPr b="1" baseline="-25000" i="1" lang="en-US" sz="2000" u="none">
                <a:solidFill>
                  <a:schemeClr val="dk1"/>
                </a:solidFill>
                <a:latin typeface="Arial"/>
                <a:ea typeface="Arial"/>
                <a:cs typeface="Arial"/>
                <a:sym typeface="Arial"/>
              </a:rPr>
              <a:t>i</a:t>
            </a:r>
            <a:r>
              <a:rPr b="1" i="1" lang="en-US" sz="2000" u="none">
                <a:solidFill>
                  <a:schemeClr val="dk1"/>
                </a:solidFill>
                <a:latin typeface="Arial"/>
                <a:ea typeface="Arial"/>
                <a:cs typeface="Arial"/>
                <a:sym typeface="Arial"/>
              </a:rPr>
              <a:t>,C</a:t>
            </a:r>
            <a:r>
              <a:rPr b="1" baseline="-25000" i="1" lang="en-US" sz="2000" u="none">
                <a:solidFill>
                  <a:schemeClr val="dk1"/>
                </a:solidFill>
                <a:latin typeface="Arial"/>
                <a:ea typeface="Arial"/>
                <a:cs typeface="Arial"/>
                <a:sym typeface="Arial"/>
              </a:rPr>
              <a:t>j</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дельта-функция: равна единице, если </a:t>
            </a:r>
            <a:r>
              <a:rPr b="1" i="1" lang="en-US" sz="2000" u="none">
                <a:solidFill>
                  <a:schemeClr val="dk1"/>
                </a:solidFill>
                <a:latin typeface="Arial"/>
                <a:ea typeface="Arial"/>
                <a:cs typeface="Arial"/>
                <a:sym typeface="Arial"/>
              </a:rPr>
              <a:t>C</a:t>
            </a:r>
            <a:r>
              <a:rPr b="1" baseline="-25000" i="1" lang="en-US" sz="2000" u="none">
                <a:solidFill>
                  <a:schemeClr val="dk1"/>
                </a:solidFill>
                <a:latin typeface="Arial"/>
                <a:ea typeface="Arial"/>
                <a:cs typeface="Arial"/>
                <a:sym typeface="Arial"/>
              </a:rPr>
              <a:t>i</a:t>
            </a:r>
            <a:r>
              <a:rPr b="1" i="1" lang="en-US" sz="20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 </a:t>
            </a:r>
            <a:r>
              <a:rPr b="1" i="1" lang="en-US" sz="2000" u="none">
                <a:solidFill>
                  <a:schemeClr val="dk1"/>
                </a:solidFill>
                <a:latin typeface="Arial"/>
                <a:ea typeface="Arial"/>
                <a:cs typeface="Arial"/>
                <a:sym typeface="Arial"/>
              </a:rPr>
              <a:t>C</a:t>
            </a:r>
            <a:r>
              <a:rPr b="1" baseline="-25000" i="1" lang="en-US" sz="2000" u="none">
                <a:solidFill>
                  <a:schemeClr val="dk1"/>
                </a:solidFill>
                <a:latin typeface="Arial"/>
                <a:ea typeface="Arial"/>
                <a:cs typeface="Arial"/>
                <a:sym typeface="Arial"/>
              </a:rPr>
              <a:t>j</a:t>
            </a:r>
            <a:r>
              <a:rPr b="0" i="0" lang="en-US" sz="2000" u="none">
                <a:solidFill>
                  <a:schemeClr val="dk1"/>
                </a:solidFill>
                <a:latin typeface="Arial"/>
                <a:ea typeface="Arial"/>
                <a:cs typeface="Arial"/>
                <a:sym typeface="Arial"/>
              </a:rPr>
              <a:t>, иначе нулю.</a:t>
            </a:r>
            <a:br>
              <a:rPr b="0" i="0" lang="en-US" sz="2000" u="none">
                <a:solidFill>
                  <a:schemeClr val="dk1"/>
                </a:solidFill>
                <a:latin typeface="Arial"/>
                <a:ea typeface="Arial"/>
                <a:cs typeface="Arial"/>
                <a:sym typeface="Arial"/>
              </a:rPr>
            </a:b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Задача поиска выделения сообществ в графе сводится к поиску таких </a:t>
            </a:r>
            <a:r>
              <a:rPr b="1" i="1" lang="en-US" sz="2000" u="none">
                <a:solidFill>
                  <a:schemeClr val="dk1"/>
                </a:solidFill>
                <a:latin typeface="Arial"/>
                <a:ea typeface="Arial"/>
                <a:cs typeface="Arial"/>
                <a:sym typeface="Arial"/>
              </a:rPr>
              <a:t>C</a:t>
            </a:r>
            <a:r>
              <a:rPr b="1" baseline="-25000" i="1" lang="en-US" sz="2000" u="none">
                <a:solidFill>
                  <a:schemeClr val="dk1"/>
                </a:solidFill>
                <a:latin typeface="Arial"/>
                <a:ea typeface="Arial"/>
                <a:cs typeface="Arial"/>
                <a:sym typeface="Arial"/>
              </a:rPr>
              <a:t>i</a:t>
            </a:r>
            <a:r>
              <a:rPr b="0" i="0" lang="en-US" sz="2000" u="none">
                <a:solidFill>
                  <a:schemeClr val="dk1"/>
                </a:solidFill>
                <a:latin typeface="Arial"/>
                <a:ea typeface="Arial"/>
                <a:cs typeface="Arial"/>
                <a:sym typeface="Arial"/>
              </a:rPr>
              <a:t>, которые максимизируют значение модулярности.</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Формула имеет множество обобщений, например, для взвешенных графов, под </a:t>
            </a:r>
            <a:r>
              <a:rPr b="1" i="1" lang="en-US" sz="2000" u="none">
                <a:solidFill>
                  <a:schemeClr val="dk1"/>
                </a:solidFill>
                <a:latin typeface="Arial"/>
                <a:ea typeface="Arial"/>
                <a:cs typeface="Arial"/>
                <a:sym typeface="Arial"/>
              </a:rPr>
              <a:t>A</a:t>
            </a:r>
            <a:r>
              <a:rPr b="1" baseline="-25000" i="1" lang="en-US" sz="2000" u="none">
                <a:solidFill>
                  <a:schemeClr val="dk1"/>
                </a:solidFill>
                <a:latin typeface="Arial"/>
                <a:ea typeface="Arial"/>
                <a:cs typeface="Arial"/>
                <a:sym typeface="Arial"/>
              </a:rPr>
              <a:t>ij</a:t>
            </a:r>
            <a:r>
              <a:rPr b="1"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понимается вес ребра, соединяющего вершины </a:t>
            </a:r>
            <a:r>
              <a:rPr b="0" i="1" lang="en-US" sz="2000" u="none">
                <a:solidFill>
                  <a:schemeClr val="dk1"/>
                </a:solidFill>
                <a:latin typeface="Arial"/>
                <a:ea typeface="Arial"/>
                <a:cs typeface="Arial"/>
                <a:sym typeface="Arial"/>
              </a:rPr>
              <a:t>i </a:t>
            </a:r>
            <a:r>
              <a:rPr b="0" i="0" lang="en-US" sz="2000" u="none">
                <a:solidFill>
                  <a:schemeClr val="dk1"/>
                </a:solidFill>
                <a:latin typeface="Arial"/>
                <a:ea typeface="Arial"/>
                <a:cs typeface="Arial"/>
                <a:sym typeface="Arial"/>
              </a:rPr>
              <a:t>и </a:t>
            </a:r>
            <a:r>
              <a:rPr b="0" i="1" lang="en-US" sz="2000" u="none">
                <a:solidFill>
                  <a:schemeClr val="dk1"/>
                </a:solidFill>
                <a:latin typeface="Arial"/>
                <a:ea typeface="Arial"/>
                <a:cs typeface="Arial"/>
                <a:sym typeface="Arial"/>
              </a:rPr>
              <a:t>j</a:t>
            </a:r>
            <a:r>
              <a:rPr b="0" i="0" lang="en-US" sz="2000" u="none">
                <a:solidFill>
                  <a:schemeClr val="dk1"/>
                </a:solidFill>
                <a:latin typeface="Arial"/>
                <a:ea typeface="Arial"/>
                <a:cs typeface="Arial"/>
                <a:sym typeface="Arial"/>
              </a:rPr>
              <a:t>, а </a:t>
            </a:r>
            <a:r>
              <a:rPr b="0" i="1" lang="en-US" sz="2000" u="none">
                <a:solidFill>
                  <a:schemeClr val="dk1"/>
                </a:solidFill>
                <a:latin typeface="Arial"/>
                <a:ea typeface="Arial"/>
                <a:cs typeface="Arial"/>
                <a:sym typeface="Arial"/>
              </a:rPr>
              <a:t>m </a:t>
            </a:r>
            <a:r>
              <a:rPr b="0" i="0" lang="en-US" sz="2000" u="none">
                <a:solidFill>
                  <a:schemeClr val="dk1"/>
                </a:solidFill>
                <a:latin typeface="Arial"/>
                <a:ea typeface="Arial"/>
                <a:cs typeface="Arial"/>
                <a:sym typeface="Arial"/>
              </a:rPr>
              <a:t>= ½(Σ</a:t>
            </a:r>
            <a:r>
              <a:rPr b="0" i="1" lang="en-US" sz="2000" u="none">
                <a:solidFill>
                  <a:schemeClr val="dk1"/>
                </a:solidFill>
                <a:latin typeface="Arial"/>
                <a:ea typeface="Arial"/>
                <a:cs typeface="Arial"/>
                <a:sym typeface="Arial"/>
              </a:rPr>
              <a:t>a</a:t>
            </a:r>
            <a:r>
              <a:rPr b="0" baseline="-25000" i="1" lang="en-US" sz="2000" u="none">
                <a:solidFill>
                  <a:schemeClr val="dk1"/>
                </a:solidFill>
                <a:latin typeface="Arial"/>
                <a:ea typeface="Arial"/>
                <a:cs typeface="Arial"/>
                <a:sym typeface="Arial"/>
              </a:rPr>
              <a:t>ij</a:t>
            </a:r>
            <a:r>
              <a:rPr b="0" i="0" lang="en-US" sz="2000" u="none">
                <a:solidFill>
                  <a:schemeClr val="dk1"/>
                </a:solidFill>
                <a:latin typeface="Arial"/>
                <a:ea typeface="Arial"/>
                <a:cs typeface="Arial"/>
                <a:sym typeface="Arial"/>
              </a:rPr>
              <a:t>).</a:t>
            </a:r>
            <a:br>
              <a:rPr b="0" i="0" lang="en-US" sz="2000" u="none">
                <a:solidFill>
                  <a:schemeClr val="dk1"/>
                </a:solidFill>
                <a:latin typeface="Arial"/>
                <a:ea typeface="Arial"/>
                <a:cs typeface="Arial"/>
                <a:sym typeface="Arial"/>
              </a:rPr>
            </a:br>
            <a:endParaRPr/>
          </a:p>
        </p:txBody>
      </p:sp>
      <p:sp>
        <p:nvSpPr>
          <p:cNvPr id="440" name="Google Shape;440;p29"/>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0"/>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47" name="Google Shape;447;p30"/>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48" name="Google Shape;448;p30"/>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49" name="Google Shape;449;p30"/>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50" name="Google Shape;450;p30"/>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51" name="Google Shape;451;p30"/>
          <p:cNvSpPr txBox="1"/>
          <p:nvPr/>
        </p:nvSpPr>
        <p:spPr>
          <a:xfrm>
            <a:off x="1689100" y="2179637"/>
            <a:ext cx="9182100" cy="3478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Редакторское расстояние для разбиений</a:t>
            </a:r>
            <a:endParaRPr/>
          </a:p>
          <a:p>
            <a:pPr indent="0" lvl="0" marL="0" marR="0" rtl="0" algn="l">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(split-join distance) </a:t>
            </a:r>
            <a:r>
              <a:rPr b="0" i="0" lang="en-US" sz="2400" u="none">
                <a:solidFill>
                  <a:schemeClr val="dk1"/>
                </a:solidFill>
                <a:latin typeface="Arial"/>
                <a:ea typeface="Arial"/>
                <a:cs typeface="Arial"/>
                <a:sym typeface="Arial"/>
              </a:rPr>
              <a:t>= минимальному количеству операций необходимых для преобразования одного разбиения в другое:</a:t>
            </a:r>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Calibri"/>
              <a:buAutoNum type="arabicPeriod"/>
            </a:pPr>
            <a:r>
              <a:rPr b="0" i="0" lang="en-US" sz="2000" u="none">
                <a:solidFill>
                  <a:schemeClr val="dk1"/>
                </a:solidFill>
                <a:latin typeface="Arial"/>
                <a:ea typeface="Arial"/>
                <a:cs typeface="Arial"/>
                <a:sym typeface="Arial"/>
              </a:rPr>
              <a:t>Добавить вершину в существующее сообщество.</a:t>
            </a:r>
            <a:endParaRPr/>
          </a:p>
          <a:p>
            <a:pPr indent="-127000" lvl="0" marL="0" marR="0" rtl="0" algn="l">
              <a:lnSpc>
                <a:spcPct val="100000"/>
              </a:lnSpc>
              <a:spcBef>
                <a:spcPts val="0"/>
              </a:spcBef>
              <a:spcAft>
                <a:spcPts val="0"/>
              </a:spcAft>
              <a:buClr>
                <a:schemeClr val="dk1"/>
              </a:buClr>
              <a:buSzPts val="2000"/>
              <a:buFont typeface="Calibri"/>
              <a:buAutoNum type="arabicPeriod"/>
            </a:pPr>
            <a:r>
              <a:rPr b="0" i="0" lang="en-US" sz="2000" u="none">
                <a:solidFill>
                  <a:schemeClr val="dk1"/>
                </a:solidFill>
                <a:latin typeface="Arial"/>
                <a:ea typeface="Arial"/>
                <a:cs typeface="Arial"/>
                <a:sym typeface="Arial"/>
              </a:rPr>
              <a:t>Удалить вершину из существующего сообщества.</a:t>
            </a:r>
            <a:endParaRPr/>
          </a:p>
          <a:p>
            <a:pPr indent="-127000" lvl="0" marL="0" marR="0" rtl="0" algn="l">
              <a:lnSpc>
                <a:spcPct val="100000"/>
              </a:lnSpc>
              <a:spcBef>
                <a:spcPts val="0"/>
              </a:spcBef>
              <a:spcAft>
                <a:spcPts val="0"/>
              </a:spcAft>
              <a:buClr>
                <a:schemeClr val="dk1"/>
              </a:buClr>
              <a:buSzPts val="2000"/>
              <a:buFont typeface="Calibri"/>
              <a:buAutoNum type="arabicPeriod"/>
            </a:pPr>
            <a:r>
              <a:rPr b="0" i="0" lang="en-US" sz="2000" u="none">
                <a:solidFill>
                  <a:schemeClr val="dk1"/>
                </a:solidFill>
                <a:latin typeface="Arial"/>
                <a:ea typeface="Arial"/>
                <a:cs typeface="Arial"/>
                <a:sym typeface="Arial"/>
              </a:rPr>
              <a:t>Создать новое сообщество с 1 вершиной.</a:t>
            </a:r>
            <a:endParaRPr/>
          </a:p>
          <a:p>
            <a:pPr indent="-127000" lvl="0" marL="0" marR="0" rtl="0" algn="l">
              <a:lnSpc>
                <a:spcPct val="100000"/>
              </a:lnSpc>
              <a:spcBef>
                <a:spcPts val="0"/>
              </a:spcBef>
              <a:spcAft>
                <a:spcPts val="0"/>
              </a:spcAft>
              <a:buClr>
                <a:schemeClr val="dk1"/>
              </a:buClr>
              <a:buSzPts val="2000"/>
              <a:buFont typeface="Calibri"/>
              <a:buAutoNum type="arabicPeriod"/>
            </a:pPr>
            <a:r>
              <a:rPr b="0" i="0" lang="en-US" sz="2000" u="none">
                <a:solidFill>
                  <a:schemeClr val="dk1"/>
                </a:solidFill>
                <a:latin typeface="Arial"/>
                <a:ea typeface="Arial"/>
                <a:cs typeface="Arial"/>
                <a:sym typeface="Arial"/>
              </a:rPr>
              <a:t>Удалить сообщество с 1 вершиной.</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Т.е. чем больше значение, тем более непохожи сообщества</a:t>
            </a:r>
            <a:endParaRPr/>
          </a:p>
        </p:txBody>
      </p:sp>
      <p:sp>
        <p:nvSpPr>
          <p:cNvPr id="452" name="Google Shape;452;p30"/>
          <p:cNvSpPr txBox="1"/>
          <p:nvPr/>
        </p:nvSpPr>
        <p:spPr>
          <a:xfrm>
            <a:off x="2193925" y="1217612"/>
            <a:ext cx="8129587" cy="401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Критерий качества  - Редакторское расстояние для разбиений</a:t>
            </a:r>
            <a:endParaRPr/>
          </a:p>
        </p:txBody>
      </p:sp>
      <p:sp>
        <p:nvSpPr>
          <p:cNvPr id="453" name="Google Shape;453;p30"/>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8" name="Shape 458"/>
        <p:cNvGrpSpPr/>
        <p:nvPr/>
      </p:nvGrpSpPr>
      <p:grpSpPr>
        <a:xfrm>
          <a:off x="0" y="0"/>
          <a:ext cx="0" cy="0"/>
          <a:chOff x="0" y="0"/>
          <a:chExt cx="0" cy="0"/>
        </a:xfrm>
      </p:grpSpPr>
      <p:sp>
        <p:nvSpPr>
          <p:cNvPr id="459" name="Google Shape;459;p31"/>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60" name="Google Shape;460;p31"/>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61" name="Google Shape;461;p31"/>
          <p:cNvSpPr/>
          <p:nvPr/>
        </p:nvSpPr>
        <p:spPr>
          <a:xfrm>
            <a:off x="1617662"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62" name="Google Shape;462;p31"/>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63" name="Google Shape;463;p31"/>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64" name="Google Shape;464;p31"/>
          <p:cNvSpPr txBox="1"/>
          <p:nvPr/>
        </p:nvSpPr>
        <p:spPr>
          <a:xfrm>
            <a:off x="2894012" y="1219200"/>
            <a:ext cx="695007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Критерий качества  - Нормализованная информация</a:t>
            </a:r>
            <a:endParaRPr/>
          </a:p>
        </p:txBody>
      </p:sp>
      <p:sp>
        <p:nvSpPr>
          <p:cNvPr id="465" name="Google Shape;465;p31"/>
          <p:cNvSpPr/>
          <p:nvPr/>
        </p:nvSpPr>
        <p:spPr>
          <a:xfrm>
            <a:off x="2894012" y="2122487"/>
            <a:ext cx="1223962" cy="1152525"/>
          </a:xfrm>
          <a:prstGeom prst="ellipse">
            <a:avLst/>
          </a:prstGeom>
          <a:solidFill>
            <a:srgbClr val="FFC0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H(X)</a:t>
            </a:r>
            <a:endParaRPr/>
          </a:p>
        </p:txBody>
      </p:sp>
      <p:sp>
        <p:nvSpPr>
          <p:cNvPr id="466" name="Google Shape;466;p31"/>
          <p:cNvSpPr/>
          <p:nvPr/>
        </p:nvSpPr>
        <p:spPr>
          <a:xfrm>
            <a:off x="7773987" y="2090737"/>
            <a:ext cx="1296987" cy="1223962"/>
          </a:xfrm>
          <a:prstGeom prst="ellipse">
            <a:avLst/>
          </a:prstGeom>
          <a:solidFill>
            <a:srgbClr val="2DF35C">
              <a:alpha val="49803"/>
            </a:srgbClr>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H(Y)</a:t>
            </a:r>
            <a:endParaRPr/>
          </a:p>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67" name="Google Shape;467;p31"/>
          <p:cNvSpPr txBox="1"/>
          <p:nvPr/>
        </p:nvSpPr>
        <p:spPr>
          <a:xfrm>
            <a:off x="5191125" y="2789237"/>
            <a:ext cx="1511300"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H(X,Y)</a:t>
            </a:r>
            <a:endParaRPr/>
          </a:p>
        </p:txBody>
      </p:sp>
      <p:sp>
        <p:nvSpPr>
          <p:cNvPr id="468" name="Google Shape;468;p31"/>
          <p:cNvSpPr/>
          <p:nvPr/>
        </p:nvSpPr>
        <p:spPr>
          <a:xfrm>
            <a:off x="3900487" y="3590925"/>
            <a:ext cx="2852737" cy="2720975"/>
          </a:xfrm>
          <a:prstGeom prst="ellipse">
            <a:avLst/>
          </a:prstGeom>
          <a:solidFill>
            <a:srgbClr val="FFC0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H(X|Y)</a:t>
            </a:r>
            <a:endParaRPr/>
          </a:p>
        </p:txBody>
      </p:sp>
      <p:sp>
        <p:nvSpPr>
          <p:cNvPr id="469" name="Google Shape;469;p31"/>
          <p:cNvSpPr/>
          <p:nvPr/>
        </p:nvSpPr>
        <p:spPr>
          <a:xfrm>
            <a:off x="5470525" y="3635375"/>
            <a:ext cx="2735262" cy="2592387"/>
          </a:xfrm>
          <a:prstGeom prst="ellipse">
            <a:avLst/>
          </a:prstGeom>
          <a:solidFill>
            <a:srgbClr val="2DF35C">
              <a:alpha val="38431"/>
            </a:srgbClr>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H(Y|X)</a:t>
            </a:r>
            <a:endParaRPr/>
          </a:p>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70" name="Google Shape;470;p31"/>
          <p:cNvSpPr txBox="1"/>
          <p:nvPr/>
        </p:nvSpPr>
        <p:spPr>
          <a:xfrm>
            <a:off x="5421312" y="4852987"/>
            <a:ext cx="1511300"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I(X,Y)</a:t>
            </a:r>
            <a:endParaRPr/>
          </a:p>
        </p:txBody>
      </p:sp>
      <p:sp>
        <p:nvSpPr>
          <p:cNvPr id="471" name="Google Shape;471;p31"/>
          <p:cNvSpPr txBox="1"/>
          <p:nvPr/>
        </p:nvSpPr>
        <p:spPr>
          <a:xfrm>
            <a:off x="2479675" y="6337300"/>
            <a:ext cx="7707312" cy="401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Информационный критерий для сравнения двух разбиений.</a:t>
            </a:r>
            <a:endParaRPr/>
          </a:p>
        </p:txBody>
      </p:sp>
      <p:sp>
        <p:nvSpPr>
          <p:cNvPr id="472" name="Google Shape;472;p3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7" name="Shape 477"/>
        <p:cNvGrpSpPr/>
        <p:nvPr/>
      </p:nvGrpSpPr>
      <p:grpSpPr>
        <a:xfrm>
          <a:off x="0" y="0"/>
          <a:ext cx="0" cy="0"/>
          <a:chOff x="0" y="0"/>
          <a:chExt cx="0" cy="0"/>
        </a:xfrm>
      </p:grpSpPr>
      <p:sp>
        <p:nvSpPr>
          <p:cNvPr id="478" name="Google Shape;478;p32"/>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79" name="Google Shape;479;p32"/>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80" name="Google Shape;480;p32"/>
          <p:cNvSpPr/>
          <p:nvPr/>
        </p:nvSpPr>
        <p:spPr>
          <a:xfrm>
            <a:off x="1617662"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81" name="Google Shape;481;p32"/>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82" name="Google Shape;482;p32"/>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83" name="Google Shape;483;p32"/>
          <p:cNvSpPr txBox="1"/>
          <p:nvPr/>
        </p:nvSpPr>
        <p:spPr>
          <a:xfrm>
            <a:off x="2894012" y="1219200"/>
            <a:ext cx="688022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Критерий качества  - Нормализованная информация</a:t>
            </a:r>
            <a:endParaRPr/>
          </a:p>
        </p:txBody>
      </p:sp>
      <p:sp>
        <p:nvSpPr>
          <p:cNvPr id="484" name="Google Shape;484;p32"/>
          <p:cNvSpPr txBox="1"/>
          <p:nvPr/>
        </p:nvSpPr>
        <p:spPr>
          <a:xfrm>
            <a:off x="1941512" y="2122487"/>
            <a:ext cx="8785225"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Мера похожести разбиений</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{x</a:t>
            </a:r>
            <a:r>
              <a:rPr b="0" baseline="-25000" i="0" lang="en-US" sz="2000" u="none">
                <a:solidFill>
                  <a:schemeClr val="dk1"/>
                </a:solidFill>
                <a:latin typeface="Arial"/>
                <a:ea typeface="Arial"/>
                <a:cs typeface="Arial"/>
                <a:sym typeface="Arial"/>
              </a:rPr>
              <a:t>i</a:t>
            </a:r>
            <a:r>
              <a:rPr b="0" i="0" lang="en-US" sz="2000" u="none">
                <a:solidFill>
                  <a:schemeClr val="dk1"/>
                </a:solidFill>
                <a:latin typeface="Arial"/>
                <a:ea typeface="Arial"/>
                <a:cs typeface="Arial"/>
                <a:sym typeface="Arial"/>
              </a:rPr>
              <a:t>}  и {y</a:t>
            </a:r>
            <a:r>
              <a:rPr b="0" baseline="-25000" i="0" lang="en-US" sz="2000" u="none">
                <a:solidFill>
                  <a:schemeClr val="dk1"/>
                </a:solidFill>
                <a:latin typeface="Arial"/>
                <a:ea typeface="Arial"/>
                <a:cs typeface="Arial"/>
                <a:sym typeface="Arial"/>
              </a:rPr>
              <a:t>i</a:t>
            </a:r>
            <a:r>
              <a:rPr b="0" i="0" lang="en-US" sz="2000" u="none">
                <a:solidFill>
                  <a:schemeClr val="dk1"/>
                </a:solidFill>
                <a:latin typeface="Arial"/>
                <a:ea typeface="Arial"/>
                <a:cs typeface="Arial"/>
                <a:sym typeface="Arial"/>
              </a:rPr>
              <a:t>} — Два разбиения</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метки </a:t>
            </a:r>
            <a:r>
              <a:rPr b="1" i="0" lang="en-US" sz="2000" u="none">
                <a:solidFill>
                  <a:schemeClr val="dk1"/>
                </a:solidFill>
                <a:latin typeface="Arial"/>
                <a:ea typeface="Arial"/>
                <a:cs typeface="Arial"/>
                <a:sym typeface="Arial"/>
              </a:rPr>
              <a:t>х</a:t>
            </a:r>
            <a:r>
              <a:rPr b="0" i="0" lang="en-US" sz="2000" u="none">
                <a:solidFill>
                  <a:schemeClr val="dk1"/>
                </a:solidFill>
                <a:latin typeface="Arial"/>
                <a:ea typeface="Arial"/>
                <a:cs typeface="Arial"/>
                <a:sym typeface="Arial"/>
              </a:rPr>
              <a:t> и</a:t>
            </a:r>
            <a:r>
              <a:rPr b="1" i="1" lang="en-US" sz="2000" u="none">
                <a:solidFill>
                  <a:schemeClr val="dk1"/>
                </a:solidFill>
                <a:latin typeface="Arial"/>
                <a:ea typeface="Arial"/>
                <a:cs typeface="Arial"/>
                <a:sym typeface="Arial"/>
              </a:rPr>
              <a:t> у </a:t>
            </a:r>
            <a:r>
              <a:rPr b="0" i="0" lang="en-US" sz="2000" u="none">
                <a:solidFill>
                  <a:schemeClr val="dk1"/>
                </a:solidFill>
                <a:latin typeface="Arial"/>
                <a:ea typeface="Arial"/>
                <a:cs typeface="Arial"/>
                <a:sym typeface="Arial"/>
              </a:rPr>
              <a:t>являются значениями двух случайных величин </a:t>
            </a:r>
            <a:r>
              <a:rPr b="1" i="1" lang="en-US" sz="2000" u="none">
                <a:solidFill>
                  <a:schemeClr val="dk1"/>
                </a:solidFill>
                <a:latin typeface="Arial"/>
                <a:ea typeface="Arial"/>
                <a:cs typeface="Arial"/>
                <a:sym typeface="Arial"/>
              </a:rPr>
              <a:t>X</a:t>
            </a:r>
            <a:r>
              <a:rPr b="0" i="0" lang="en-US" sz="2000" u="none">
                <a:solidFill>
                  <a:schemeClr val="dk1"/>
                </a:solidFill>
                <a:latin typeface="Arial"/>
                <a:ea typeface="Arial"/>
                <a:cs typeface="Arial"/>
                <a:sym typeface="Arial"/>
              </a:rPr>
              <a:t> и </a:t>
            </a:r>
            <a:r>
              <a:rPr b="1" i="1" lang="en-US" sz="2000" u="none">
                <a:solidFill>
                  <a:schemeClr val="dk1"/>
                </a:solidFill>
                <a:latin typeface="Arial"/>
                <a:ea typeface="Arial"/>
                <a:cs typeface="Arial"/>
                <a:sym typeface="Arial"/>
              </a:rPr>
              <a:t>Y</a:t>
            </a:r>
            <a:r>
              <a:rPr b="0" i="0" lang="en-US" sz="20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rPr b="1" i="1" lang="en-US" sz="2000" u="none">
                <a:solidFill>
                  <a:schemeClr val="dk1"/>
                </a:solidFill>
                <a:latin typeface="Arial"/>
                <a:ea typeface="Arial"/>
                <a:cs typeface="Arial"/>
                <a:sym typeface="Arial"/>
              </a:rPr>
              <a:t>Р(х,у) = Р(Х = х, Y = у) = n</a:t>
            </a:r>
            <a:r>
              <a:rPr b="1" baseline="-25000" i="1" lang="en-US" sz="2000" u="none">
                <a:solidFill>
                  <a:schemeClr val="dk1"/>
                </a:solidFill>
                <a:latin typeface="Arial"/>
                <a:ea typeface="Arial"/>
                <a:cs typeface="Arial"/>
                <a:sym typeface="Arial"/>
              </a:rPr>
              <a:t>xy</a:t>
            </a:r>
            <a:r>
              <a:rPr b="1" i="1" lang="en-US" sz="2000" u="none">
                <a:solidFill>
                  <a:schemeClr val="dk1"/>
                </a:solidFill>
                <a:latin typeface="Arial"/>
                <a:ea typeface="Arial"/>
                <a:cs typeface="Arial"/>
                <a:sym typeface="Arial"/>
              </a:rPr>
              <a:t>/n </a:t>
            </a:r>
            <a:r>
              <a:rPr b="0" i="0" lang="en-US" sz="2000" u="none">
                <a:solidFill>
                  <a:schemeClr val="dk1"/>
                </a:solidFill>
                <a:latin typeface="Arial"/>
                <a:ea typeface="Arial"/>
                <a:cs typeface="Arial"/>
                <a:sym typeface="Arial"/>
              </a:rPr>
              <a:t>— совместное распределение </a:t>
            </a:r>
            <a:r>
              <a:rPr b="1" i="1" lang="en-US" sz="2000" u="none">
                <a:solidFill>
                  <a:schemeClr val="dk1"/>
                </a:solidFill>
                <a:latin typeface="Arial"/>
                <a:ea typeface="Arial"/>
                <a:cs typeface="Arial"/>
                <a:sym typeface="Arial"/>
              </a:rPr>
              <a:t>n</a:t>
            </a:r>
            <a:r>
              <a:rPr b="0" i="0" lang="en-US" sz="2000" u="none">
                <a:solidFill>
                  <a:schemeClr val="dk1"/>
                </a:solidFill>
                <a:latin typeface="Arial"/>
                <a:ea typeface="Arial"/>
                <a:cs typeface="Arial"/>
                <a:sym typeface="Arial"/>
              </a:rPr>
              <a:t> — общее количество вершин</a:t>
            </a:r>
            <a:endParaRPr/>
          </a:p>
          <a:p>
            <a:pPr indent="0" lvl="0" marL="0" marR="0" rtl="0" algn="l">
              <a:lnSpc>
                <a:spcPct val="100000"/>
              </a:lnSpc>
              <a:spcBef>
                <a:spcPts val="0"/>
              </a:spcBef>
              <a:spcAft>
                <a:spcPts val="0"/>
              </a:spcAft>
              <a:buClr>
                <a:schemeClr val="dk1"/>
              </a:buClr>
              <a:buSzPts val="2000"/>
              <a:buFont typeface="Arial"/>
              <a:buNone/>
            </a:pPr>
            <a:r>
              <a:rPr b="1" i="1" lang="en-US" sz="2000" u="none">
                <a:solidFill>
                  <a:schemeClr val="dk1"/>
                </a:solidFill>
                <a:latin typeface="Arial"/>
                <a:ea typeface="Arial"/>
                <a:cs typeface="Arial"/>
                <a:sym typeface="Arial"/>
              </a:rPr>
              <a:t>n</a:t>
            </a:r>
            <a:r>
              <a:rPr b="1" baseline="-25000" i="1" lang="en-US" sz="2000" u="none">
                <a:solidFill>
                  <a:schemeClr val="dk1"/>
                </a:solidFill>
                <a:latin typeface="Arial"/>
                <a:ea typeface="Arial"/>
                <a:cs typeface="Arial"/>
                <a:sym typeface="Arial"/>
              </a:rPr>
              <a:t>ху</a:t>
            </a:r>
            <a:r>
              <a:rPr b="1" i="1" lang="en-US" sz="2000" u="none">
                <a:solidFill>
                  <a:schemeClr val="dk1"/>
                </a:solidFill>
                <a:latin typeface="Arial"/>
                <a:ea typeface="Arial"/>
                <a:cs typeface="Arial"/>
                <a:sym typeface="Arial"/>
              </a:rPr>
              <a:t>  -  </a:t>
            </a:r>
            <a:r>
              <a:rPr b="0" i="0" lang="en-US" sz="2000" u="none">
                <a:solidFill>
                  <a:schemeClr val="dk1"/>
                </a:solidFill>
                <a:latin typeface="Arial"/>
                <a:ea typeface="Arial"/>
                <a:cs typeface="Arial"/>
                <a:sym typeface="Arial"/>
              </a:rPr>
              <a:t>количество вершин, которым в разбиениях </a:t>
            </a:r>
            <a:r>
              <a:rPr b="1" i="1" lang="en-US" sz="2000" u="none">
                <a:solidFill>
                  <a:schemeClr val="dk1"/>
                </a:solidFill>
                <a:latin typeface="Arial"/>
                <a:ea typeface="Arial"/>
                <a:cs typeface="Arial"/>
                <a:sym typeface="Arial"/>
              </a:rPr>
              <a:t>{x</a:t>
            </a:r>
            <a:r>
              <a:rPr b="1" baseline="-25000" i="1" lang="en-US" sz="2000" u="none">
                <a:solidFill>
                  <a:schemeClr val="dk1"/>
                </a:solidFill>
                <a:latin typeface="Arial"/>
                <a:ea typeface="Arial"/>
                <a:cs typeface="Arial"/>
                <a:sym typeface="Arial"/>
              </a:rPr>
              <a:t>i</a:t>
            </a:r>
            <a:r>
              <a:rPr b="1" i="1" lang="en-US" sz="2000" u="none">
                <a:solidFill>
                  <a:schemeClr val="dk1"/>
                </a:solidFill>
                <a:latin typeface="Arial"/>
                <a:ea typeface="Arial"/>
                <a:cs typeface="Arial"/>
                <a:sym typeface="Arial"/>
              </a:rPr>
              <a:t>}  и {y</a:t>
            </a:r>
            <a:r>
              <a:rPr b="1" baseline="-25000" i="1" lang="en-US" sz="2000" u="none">
                <a:solidFill>
                  <a:schemeClr val="dk1"/>
                </a:solidFill>
                <a:latin typeface="Arial"/>
                <a:ea typeface="Arial"/>
                <a:cs typeface="Arial"/>
                <a:sym typeface="Arial"/>
              </a:rPr>
              <a:t>i</a:t>
            </a:r>
            <a:r>
              <a:rPr b="1"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сопоставлены метки </a:t>
            </a:r>
            <a:r>
              <a:rPr b="1" i="1" lang="en-US" sz="2000" u="none">
                <a:solidFill>
                  <a:schemeClr val="dk1"/>
                </a:solidFill>
                <a:latin typeface="Arial"/>
                <a:ea typeface="Arial"/>
                <a:cs typeface="Arial"/>
                <a:sym typeface="Arial"/>
              </a:rPr>
              <a:t>х</a:t>
            </a:r>
            <a:r>
              <a:rPr b="0" i="0" lang="en-US" sz="2000" u="none">
                <a:solidFill>
                  <a:schemeClr val="dk1"/>
                </a:solidFill>
                <a:latin typeface="Arial"/>
                <a:ea typeface="Arial"/>
                <a:cs typeface="Arial"/>
                <a:sym typeface="Arial"/>
              </a:rPr>
              <a:t> и </a:t>
            </a:r>
            <a:r>
              <a:rPr b="1" i="1" lang="en-US" sz="2000" u="none">
                <a:solidFill>
                  <a:schemeClr val="dk1"/>
                </a:solidFill>
                <a:latin typeface="Arial"/>
                <a:ea typeface="Arial"/>
                <a:cs typeface="Arial"/>
                <a:sym typeface="Arial"/>
              </a:rPr>
              <a:t>у</a:t>
            </a:r>
            <a:endParaRPr/>
          </a:p>
          <a:p>
            <a:pPr indent="0" lvl="0" marL="0" marR="0" rtl="0" algn="l">
              <a:lnSpc>
                <a:spcPct val="100000"/>
              </a:lnSpc>
              <a:spcBef>
                <a:spcPts val="0"/>
              </a:spcBef>
              <a:spcAft>
                <a:spcPts val="0"/>
              </a:spcAft>
              <a:buClr>
                <a:schemeClr val="dk1"/>
              </a:buClr>
              <a:buSzPts val="2000"/>
              <a:buFont typeface="Arial"/>
              <a:buNone/>
            </a:pPr>
            <a:r>
              <a:rPr b="1" i="1" lang="en-US" sz="2000" u="none">
                <a:solidFill>
                  <a:schemeClr val="dk1"/>
                </a:solidFill>
                <a:latin typeface="Arial"/>
                <a:ea typeface="Arial"/>
                <a:cs typeface="Arial"/>
                <a:sym typeface="Arial"/>
              </a:rPr>
              <a:t>H(X, Y)= Н(Х ) - Н(Х|Y ) </a:t>
            </a:r>
            <a:r>
              <a:rPr b="0" i="0" lang="en-US" sz="2000" u="none">
                <a:solidFill>
                  <a:schemeClr val="dk1"/>
                </a:solidFill>
                <a:latin typeface="Arial"/>
                <a:ea typeface="Arial"/>
                <a:cs typeface="Arial"/>
                <a:sym typeface="Arial"/>
              </a:rPr>
              <a:t>- общая информация</a:t>
            </a:r>
            <a:endParaRPr/>
          </a:p>
          <a:p>
            <a:pPr indent="0" lvl="0" marL="0" marR="0" rtl="0" algn="l">
              <a:lnSpc>
                <a:spcPct val="100000"/>
              </a:lnSpc>
              <a:spcBef>
                <a:spcPts val="0"/>
              </a:spcBef>
              <a:spcAft>
                <a:spcPts val="0"/>
              </a:spcAft>
              <a:buClr>
                <a:schemeClr val="dk1"/>
              </a:buClr>
              <a:buSzPts val="2000"/>
              <a:buFont typeface="Arial"/>
              <a:buNone/>
            </a:pPr>
            <a:r>
              <a:rPr b="1" i="1" lang="en-US" sz="2000" u="none">
                <a:solidFill>
                  <a:schemeClr val="dk1"/>
                </a:solidFill>
                <a:latin typeface="Arial"/>
                <a:ea typeface="Arial"/>
                <a:cs typeface="Arial"/>
                <a:sym typeface="Arial"/>
              </a:rPr>
              <a:t>Н(Х)</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энтропия распределения </a:t>
            </a:r>
            <a:r>
              <a:rPr b="1" i="1" lang="en-US" sz="2000" u="none">
                <a:solidFill>
                  <a:schemeClr val="dk1"/>
                </a:solidFill>
                <a:latin typeface="Arial"/>
                <a:ea typeface="Arial"/>
                <a:cs typeface="Arial"/>
                <a:sym typeface="Arial"/>
              </a:rPr>
              <a:t>X</a:t>
            </a:r>
            <a:r>
              <a:rPr b="0" i="0" lang="en-US" sz="2000" u="none">
                <a:solidFill>
                  <a:schemeClr val="dk1"/>
                </a:solidFill>
                <a:latin typeface="Arial"/>
                <a:ea typeface="Arial"/>
                <a:cs typeface="Arial"/>
                <a:sym typeface="Arial"/>
              </a:rPr>
              <a:t>, a </a:t>
            </a:r>
            <a:r>
              <a:rPr b="1" i="1" lang="en-US" sz="2000" u="none">
                <a:solidFill>
                  <a:schemeClr val="dk1"/>
                </a:solidFill>
                <a:latin typeface="Arial"/>
                <a:ea typeface="Arial"/>
                <a:cs typeface="Arial"/>
                <a:sym typeface="Arial"/>
              </a:rPr>
              <a:t>H(X|Y )— </a:t>
            </a:r>
            <a:r>
              <a:rPr b="0" i="0" lang="en-US" sz="2000" u="none">
                <a:solidFill>
                  <a:schemeClr val="dk1"/>
                </a:solidFill>
                <a:latin typeface="Arial"/>
                <a:ea typeface="Arial"/>
                <a:cs typeface="Arial"/>
                <a:sym typeface="Arial"/>
              </a:rPr>
              <a:t>условная энтропия</a:t>
            </a:r>
            <a:endParaRPr/>
          </a:p>
        </p:txBody>
      </p:sp>
      <p:pic>
        <p:nvPicPr>
          <p:cNvPr id="485" name="Google Shape;485;p32"/>
          <p:cNvPicPr preferRelativeResize="0"/>
          <p:nvPr/>
        </p:nvPicPr>
        <p:blipFill rotWithShape="1">
          <a:blip r:embed="rId3">
            <a:alphaModFix/>
          </a:blip>
          <a:srcRect b="0" l="0" r="0" t="0"/>
          <a:stretch/>
        </p:blipFill>
        <p:spPr>
          <a:xfrm>
            <a:off x="2946400" y="5021262"/>
            <a:ext cx="6508750" cy="798512"/>
          </a:xfrm>
          <a:prstGeom prst="rect">
            <a:avLst/>
          </a:prstGeom>
          <a:noFill/>
          <a:ln>
            <a:noFill/>
          </a:ln>
        </p:spPr>
      </p:pic>
      <p:sp>
        <p:nvSpPr>
          <p:cNvPr id="486" name="Google Shape;486;p32"/>
          <p:cNvSpPr txBox="1"/>
          <p:nvPr/>
        </p:nvSpPr>
        <p:spPr>
          <a:xfrm>
            <a:off x="5245100" y="6075362"/>
            <a:ext cx="56324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равна единице, если разбиения одинаковые</a:t>
            </a:r>
            <a:endParaRPr/>
          </a:p>
        </p:txBody>
      </p:sp>
      <p:pic>
        <p:nvPicPr>
          <p:cNvPr id="487" name="Google Shape;487;p32"/>
          <p:cNvPicPr preferRelativeResize="0"/>
          <p:nvPr/>
        </p:nvPicPr>
        <p:blipFill rotWithShape="1">
          <a:blip r:embed="rId4">
            <a:alphaModFix/>
          </a:blip>
          <a:srcRect b="0" l="0" r="0" t="0"/>
          <a:stretch/>
        </p:blipFill>
        <p:spPr>
          <a:xfrm>
            <a:off x="2946400" y="6045200"/>
            <a:ext cx="2228850" cy="581025"/>
          </a:xfrm>
          <a:prstGeom prst="rect">
            <a:avLst/>
          </a:prstGeom>
          <a:noFill/>
          <a:ln>
            <a:noFill/>
          </a:ln>
        </p:spPr>
      </p:pic>
      <p:sp>
        <p:nvSpPr>
          <p:cNvPr id="488" name="Google Shape;488;p3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3"/>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95" name="Google Shape;495;p33"/>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96" name="Google Shape;496;p33"/>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97" name="Google Shape;497;p33"/>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498" name="Google Shape;498;p33"/>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499" name="Google Shape;499;p33"/>
          <p:cNvSpPr txBox="1"/>
          <p:nvPr/>
        </p:nvSpPr>
        <p:spPr>
          <a:xfrm>
            <a:off x="1725612" y="1851025"/>
            <a:ext cx="9432925" cy="4770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1. </a:t>
            </a:r>
            <a:r>
              <a:rPr b="1" i="0" lang="en-US" sz="1800" u="none">
                <a:solidFill>
                  <a:schemeClr val="dk1"/>
                </a:solidFill>
                <a:latin typeface="Arial"/>
                <a:ea typeface="Arial"/>
                <a:cs typeface="Arial"/>
                <a:sym typeface="Arial"/>
              </a:rPr>
              <a:t>Betweenness </a:t>
            </a:r>
            <a:r>
              <a:rPr b="0" i="0" lang="en-US" sz="1800" u="none">
                <a:solidFill>
                  <a:schemeClr val="dk1"/>
                </a:solidFill>
                <a:latin typeface="Arial"/>
                <a:ea typeface="Arial"/>
                <a:cs typeface="Arial"/>
                <a:sym typeface="Arial"/>
              </a:rPr>
              <a:t>— алгоритм на основе коэффициента “центральности по посредничеству” (Betweenness), определяемый как количество кратчайших путей между всеми парами вершин, проходящих через данное ребро [2].</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2. </a:t>
            </a:r>
            <a:r>
              <a:rPr b="1" i="0" lang="en-US" sz="1800" u="none">
                <a:solidFill>
                  <a:schemeClr val="dk1"/>
                </a:solidFill>
                <a:latin typeface="Arial"/>
                <a:ea typeface="Arial"/>
                <a:cs typeface="Arial"/>
                <a:sym typeface="Arial"/>
              </a:rPr>
              <a:t>Fastgreedy </a:t>
            </a:r>
            <a:r>
              <a:rPr b="0" i="0" lang="en-US" sz="1800" u="none">
                <a:solidFill>
                  <a:schemeClr val="dk1"/>
                </a:solidFill>
                <a:latin typeface="Arial"/>
                <a:ea typeface="Arial"/>
                <a:cs typeface="Arial"/>
                <a:sym typeface="Arial"/>
              </a:rPr>
              <a:t>— метод, основанный на жадной оптимизации функции модулярности [4].</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3. </a:t>
            </a:r>
            <a:r>
              <a:rPr b="1" i="0" lang="en-US" sz="1800" u="none">
                <a:solidFill>
                  <a:schemeClr val="dk1"/>
                </a:solidFill>
                <a:latin typeface="Arial"/>
                <a:ea typeface="Arial"/>
                <a:cs typeface="Arial"/>
                <a:sym typeface="Arial"/>
              </a:rPr>
              <a:t>Multilevel </a:t>
            </a:r>
            <a:r>
              <a:rPr b="0" i="0" lang="en-US" sz="1800" u="none">
                <a:solidFill>
                  <a:schemeClr val="dk1"/>
                </a:solidFill>
                <a:latin typeface="Arial"/>
                <a:ea typeface="Arial"/>
                <a:cs typeface="Arial"/>
                <a:sym typeface="Arial"/>
              </a:rPr>
              <a:t>— метод, основанный на многоуровневой оптимизации функции модулярности, c использованием эвристики [3].</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4. </a:t>
            </a:r>
            <a:r>
              <a:rPr b="1" i="0" lang="en-US" sz="1800" u="none">
                <a:solidFill>
                  <a:schemeClr val="dk1"/>
                </a:solidFill>
                <a:latin typeface="Arial"/>
                <a:ea typeface="Arial"/>
                <a:cs typeface="Arial"/>
                <a:sym typeface="Arial"/>
              </a:rPr>
              <a:t>LabelPropogation </a:t>
            </a:r>
            <a:r>
              <a:rPr b="0" i="0" lang="en-US" sz="1800" u="none">
                <a:solidFill>
                  <a:schemeClr val="dk1"/>
                </a:solidFill>
                <a:latin typeface="Arial"/>
                <a:ea typeface="Arial"/>
                <a:cs typeface="Arial"/>
                <a:sym typeface="Arial"/>
              </a:rPr>
              <a:t>— метод, основанный на присвоении меток каждой вершине. Каждый раз выбирается метка с максимальной встречаемостью среди смежных вершин [5].</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5. </a:t>
            </a:r>
            <a:r>
              <a:rPr b="1" i="0" lang="en-US" sz="1800" u="none">
                <a:solidFill>
                  <a:schemeClr val="dk1"/>
                </a:solidFill>
                <a:latin typeface="Arial"/>
                <a:ea typeface="Arial"/>
                <a:cs typeface="Arial"/>
                <a:sym typeface="Arial"/>
              </a:rPr>
              <a:t>Walktrap </a:t>
            </a:r>
            <a:r>
              <a:rPr b="0" i="0" lang="en-US" sz="1800" u="none">
                <a:solidFill>
                  <a:schemeClr val="dk1"/>
                </a:solidFill>
                <a:latin typeface="Arial"/>
                <a:ea typeface="Arial"/>
                <a:cs typeface="Arial"/>
                <a:sym typeface="Arial"/>
              </a:rPr>
              <a:t>— подход, основанный на случайном блуждании. Использует идею о том, что короткие случайные блуждания не приводят к выходу из текущего сообщества [6].</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6. </a:t>
            </a:r>
            <a:r>
              <a:rPr b="1" i="0" lang="en-US" sz="1800" u="none">
                <a:solidFill>
                  <a:schemeClr val="dk1"/>
                </a:solidFill>
                <a:latin typeface="Arial"/>
                <a:ea typeface="Arial"/>
                <a:cs typeface="Arial"/>
                <a:sym typeface="Arial"/>
              </a:rPr>
              <a:t>Infomap </a:t>
            </a:r>
            <a:r>
              <a:rPr b="0" i="0" lang="en-US" sz="1800" u="none">
                <a:solidFill>
                  <a:schemeClr val="dk1"/>
                </a:solidFill>
                <a:latin typeface="Arial"/>
                <a:ea typeface="Arial"/>
                <a:cs typeface="Arial"/>
                <a:sym typeface="Arial"/>
              </a:rPr>
              <a:t>— метод случайного блуждания, основанный на понятии информационных потоков в сетях, кодирования и сжатия информации [7].</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7. </a:t>
            </a:r>
            <a:r>
              <a:rPr b="1" i="0" lang="en-US" sz="1800" u="none">
                <a:solidFill>
                  <a:schemeClr val="dk1"/>
                </a:solidFill>
                <a:latin typeface="Arial"/>
                <a:ea typeface="Arial"/>
                <a:cs typeface="Arial"/>
                <a:sym typeface="Arial"/>
              </a:rPr>
              <a:t>Eigenvector </a:t>
            </a:r>
            <a:r>
              <a:rPr b="0" i="0" lang="en-US" sz="1800" u="none">
                <a:solidFill>
                  <a:schemeClr val="dk1"/>
                </a:solidFill>
                <a:latin typeface="Arial"/>
                <a:ea typeface="Arial"/>
                <a:cs typeface="Arial"/>
                <a:sym typeface="Arial"/>
              </a:rPr>
              <a:t>— метод, основанный на собственных векторах матрицы модулярности, которая получается из матрицы смежности [8].</a:t>
            </a:r>
            <a:br>
              <a:rPr b="0" i="0" lang="en-US" sz="1600" u="none">
                <a:solidFill>
                  <a:schemeClr val="dk1"/>
                </a:solidFill>
                <a:latin typeface="Arial"/>
                <a:ea typeface="Arial"/>
                <a:cs typeface="Arial"/>
                <a:sym typeface="Arial"/>
              </a:rPr>
            </a:br>
            <a:endParaRPr/>
          </a:p>
        </p:txBody>
      </p:sp>
      <p:sp>
        <p:nvSpPr>
          <p:cNvPr id="500" name="Google Shape;500;p3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4"/>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07" name="Google Shape;507;p34"/>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08" name="Google Shape;508;p34"/>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09" name="Google Shape;509;p34"/>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510" name="Google Shape;510;p34"/>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pic>
        <p:nvPicPr>
          <p:cNvPr id="511" name="Google Shape;511;p34"/>
          <p:cNvPicPr preferRelativeResize="0"/>
          <p:nvPr/>
        </p:nvPicPr>
        <p:blipFill rotWithShape="1">
          <a:blip r:embed="rId3">
            <a:alphaModFix/>
          </a:blip>
          <a:srcRect b="0" l="0" r="0" t="0"/>
          <a:stretch/>
        </p:blipFill>
        <p:spPr>
          <a:xfrm>
            <a:off x="3165475" y="1776412"/>
            <a:ext cx="5973762" cy="4237037"/>
          </a:xfrm>
          <a:prstGeom prst="rect">
            <a:avLst/>
          </a:prstGeom>
          <a:noFill/>
          <a:ln>
            <a:noFill/>
          </a:ln>
        </p:spPr>
      </p:pic>
      <p:sp>
        <p:nvSpPr>
          <p:cNvPr id="512" name="Google Shape;512;p34"/>
          <p:cNvSpPr txBox="1"/>
          <p:nvPr/>
        </p:nvSpPr>
        <p:spPr>
          <a:xfrm>
            <a:off x="1582737" y="2138362"/>
            <a:ext cx="1582737" cy="18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Degree Centrality (степень вершины) — как много людей (сущностей) связано с этим человеком напрямую;</a:t>
            </a:r>
            <a:endParaRPr/>
          </a:p>
        </p:txBody>
      </p:sp>
      <p:sp>
        <p:nvSpPr>
          <p:cNvPr id="513" name="Google Shape;513;p34"/>
          <p:cNvSpPr txBox="1"/>
          <p:nvPr/>
        </p:nvSpPr>
        <p:spPr>
          <a:xfrm>
            <a:off x="9074150" y="2138362"/>
            <a:ext cx="2006600" cy="203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Betweenness (промежуточность) — насколько вероятно, что этот узел будет элементом наикратчайшего пути, связывающего две другие сущности в сети.</a:t>
            </a:r>
            <a:endParaRPr/>
          </a:p>
        </p:txBody>
      </p:sp>
      <p:sp>
        <p:nvSpPr>
          <p:cNvPr id="514" name="Google Shape;514;p34"/>
          <p:cNvSpPr txBox="1"/>
          <p:nvPr/>
        </p:nvSpPr>
        <p:spPr>
          <a:xfrm>
            <a:off x="1582737" y="4714875"/>
            <a:ext cx="1582737" cy="138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Closeness (близость) — как быстро человек может достичь всех остальных участников сети;</a:t>
            </a:r>
            <a:endParaRPr/>
          </a:p>
        </p:txBody>
      </p:sp>
      <p:sp>
        <p:nvSpPr>
          <p:cNvPr id="515" name="Google Shape;515;p34"/>
          <p:cNvSpPr txBox="1"/>
          <p:nvPr/>
        </p:nvSpPr>
        <p:spPr>
          <a:xfrm>
            <a:off x="4894262" y="6013450"/>
            <a:ext cx="2952750" cy="739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Eigenvector — насколько хорошо этот человек связан с другими «сильно­связанными» людьми;</a:t>
            </a:r>
            <a:endParaRPr/>
          </a:p>
        </p:txBody>
      </p:sp>
      <p:sp>
        <p:nvSpPr>
          <p:cNvPr id="516" name="Google Shape;516;p3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5"/>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23" name="Google Shape;523;p35"/>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24" name="Google Shape;524;p35"/>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25" name="Google Shape;525;p35"/>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526" name="Google Shape;526;p35"/>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527" name="Google Shape;527;p35"/>
          <p:cNvSpPr txBox="1"/>
          <p:nvPr/>
        </p:nvSpPr>
        <p:spPr>
          <a:xfrm>
            <a:off x="1727200" y="1957387"/>
            <a:ext cx="9144000" cy="4708525"/>
          </a:xfrm>
          <a:prstGeom prst="rect">
            <a:avLst/>
          </a:prstGeom>
          <a:noFill/>
          <a:ln>
            <a:noFill/>
          </a:ln>
        </p:spPr>
        <p:txBody>
          <a:bodyPr anchorCtr="0" anchor="t" bIns="45700" lIns="91425" spcFirstLastPara="1" rIns="91425" wrap="square" tIns="45700">
            <a:spAutoFit/>
          </a:bodyPr>
          <a:lstStyle/>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Ключевыми игроками (</a:t>
            </a:r>
            <a:r>
              <a:rPr b="1" i="1" lang="en-US" sz="2000" u="none">
                <a:solidFill>
                  <a:schemeClr val="dk1"/>
                </a:solidFill>
                <a:latin typeface="Arial"/>
                <a:ea typeface="Arial"/>
                <a:cs typeface="Arial"/>
                <a:sym typeface="Arial"/>
              </a:rPr>
              <a:t>set of key players</a:t>
            </a:r>
            <a:r>
              <a:rPr b="0" i="0" lang="en-US" sz="2000" u="none">
                <a:solidFill>
                  <a:schemeClr val="dk1"/>
                </a:solidFill>
                <a:latin typeface="Arial"/>
                <a:ea typeface="Arial"/>
                <a:cs typeface="Arial"/>
                <a:sym typeface="Arial"/>
              </a:rPr>
              <a:t>) являются те узлы в сети, которые считаются “важными” с точки зрения некоторых критериев. Как правило, важность узла измеряется различными способами в зависимости от приложения. </a:t>
            </a:r>
            <a:endParaRPr/>
          </a:p>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Одна из возможностей  измерения важности узла с учетом предыдущих критериев заключается в вычислении количества связей узла с остальными узлами сети, это называется </a:t>
            </a:r>
            <a:r>
              <a:rPr b="1" i="1" lang="en-US" sz="2000" u="none">
                <a:solidFill>
                  <a:schemeClr val="dk1"/>
                </a:solidFill>
                <a:latin typeface="Arial"/>
                <a:ea typeface="Arial"/>
                <a:cs typeface="Arial"/>
                <a:sym typeface="Arial"/>
              </a:rPr>
              <a:t>степенью центральности (degree centrality)</a:t>
            </a:r>
            <a:r>
              <a:rPr b="0" i="0" lang="en-US" sz="2000" u="none">
                <a:solidFill>
                  <a:schemeClr val="dk1"/>
                </a:solidFill>
                <a:latin typeface="Arial"/>
                <a:ea typeface="Arial"/>
                <a:cs typeface="Arial"/>
                <a:sym typeface="Arial"/>
              </a:rPr>
              <a:t>. </a:t>
            </a:r>
            <a:endParaRPr/>
          </a:p>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Узлы с высокой </a:t>
            </a:r>
            <a:r>
              <a:rPr b="1" i="1" lang="en-US" sz="2000" u="none">
                <a:solidFill>
                  <a:schemeClr val="dk1"/>
                </a:solidFill>
                <a:latin typeface="Arial"/>
                <a:ea typeface="Arial"/>
                <a:cs typeface="Arial"/>
                <a:sym typeface="Arial"/>
              </a:rPr>
              <a:t>степенью центральности </a:t>
            </a:r>
            <a:r>
              <a:rPr b="0" i="0" lang="en-US" sz="2000" u="none">
                <a:solidFill>
                  <a:schemeClr val="dk1"/>
                </a:solidFill>
                <a:latin typeface="Arial"/>
                <a:ea typeface="Arial"/>
                <a:cs typeface="Arial"/>
                <a:sym typeface="Arial"/>
              </a:rPr>
              <a:t>имеют более высокую вероятность приема и передачи любых информационных потоков в сети. По этой причине считается, что узлы с высокой степенью центральности оказывают влияние на большее число узлов и/или способны быстро взаимодействовать с узлами в их окрестностях. Степень центральности является локальной мерой, поскольку для оценки важности узла учитываются только связи узла с его соседями. </a:t>
            </a:r>
            <a:endParaRPr/>
          </a:p>
        </p:txBody>
      </p:sp>
      <p:sp>
        <p:nvSpPr>
          <p:cNvPr id="528" name="Google Shape;528;p3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35" name="Google Shape;535;p36"/>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36" name="Google Shape;536;p36"/>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37" name="Google Shape;537;p36"/>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538" name="Google Shape;538;p36"/>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539" name="Google Shape;539;p36"/>
          <p:cNvSpPr txBox="1"/>
          <p:nvPr/>
        </p:nvSpPr>
        <p:spPr>
          <a:xfrm>
            <a:off x="1725612" y="1844675"/>
            <a:ext cx="9072562" cy="4708525"/>
          </a:xfrm>
          <a:prstGeom prst="rect">
            <a:avLst/>
          </a:prstGeom>
          <a:noFill/>
          <a:ln>
            <a:noFill/>
          </a:ln>
        </p:spPr>
        <p:txBody>
          <a:bodyPr anchorCtr="0" anchor="t" bIns="45700" lIns="91425" spcFirstLastPara="1" rIns="91425" wrap="square" tIns="45700">
            <a:spAutoFit/>
          </a:bodyPr>
          <a:lstStyle/>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Другие меры центральности оценивают степень, с которой </a:t>
            </a:r>
            <a:r>
              <a:rPr b="1" i="1" lang="en-US" sz="2000" u="none">
                <a:solidFill>
                  <a:schemeClr val="dk1"/>
                </a:solidFill>
                <a:latin typeface="Arial"/>
                <a:ea typeface="Arial"/>
                <a:cs typeface="Arial"/>
                <a:sym typeface="Arial"/>
              </a:rPr>
              <a:t>ключевой игрок</a:t>
            </a:r>
            <a:r>
              <a:rPr b="0" i="0" lang="en-US" sz="2000" u="none">
                <a:solidFill>
                  <a:schemeClr val="dk1"/>
                </a:solidFill>
                <a:latin typeface="Arial"/>
                <a:ea typeface="Arial"/>
                <a:cs typeface="Arial"/>
                <a:sym typeface="Arial"/>
              </a:rPr>
              <a:t> контролирует поток информации в сети. Сообщения, отправляемые через сеть, часто проходят через этих игроков; они функционируют как “брокеры”. Мера, которая моделирует это свойство называется промежуточностью </a:t>
            </a:r>
            <a:r>
              <a:rPr b="1" i="1" lang="en-US" sz="2000" u="none">
                <a:solidFill>
                  <a:schemeClr val="dk1"/>
                </a:solidFill>
                <a:latin typeface="Arial"/>
                <a:ea typeface="Arial"/>
                <a:cs typeface="Arial"/>
                <a:sym typeface="Arial"/>
              </a:rPr>
              <a:t>(betweenness). </a:t>
            </a:r>
            <a:endParaRPr/>
          </a:p>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Другой тесно связанный метод, который использовался для оценки важности узла в сети, основан на измерении того, насколько близко узел расположен по отношению к каждому другому узлу в сети. Эта мера называется близостью  </a:t>
            </a:r>
            <a:r>
              <a:rPr b="1" i="1" lang="en-US" sz="2000" u="none">
                <a:solidFill>
                  <a:schemeClr val="dk1"/>
                </a:solidFill>
                <a:latin typeface="Arial"/>
                <a:ea typeface="Arial"/>
                <a:cs typeface="Arial"/>
                <a:sym typeface="Arial"/>
              </a:rPr>
              <a:t>(closeness).</a:t>
            </a:r>
            <a:endParaRPr/>
          </a:p>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Некоторые другие предлагаемые меры центральности пытаются оценить степень “популярности” игрока в сети, т. е. Они представляют центры больших клик на графике. Узел с большим количеством подключений к узлам с более высокой оценкой считается более важным. Мера, которая фиксирует эту интуицию, называется центральностью собственных векторов (</a:t>
            </a:r>
            <a:r>
              <a:rPr b="1" i="1" lang="en-US" sz="2000" u="none">
                <a:solidFill>
                  <a:schemeClr val="dk1"/>
                </a:solidFill>
                <a:latin typeface="Arial"/>
                <a:ea typeface="Arial"/>
                <a:cs typeface="Arial"/>
                <a:sym typeface="Arial"/>
              </a:rPr>
              <a:t>eigenvector centrality</a:t>
            </a:r>
            <a:r>
              <a:rPr b="0" i="0" lang="en-US" sz="2000" u="none">
                <a:solidFill>
                  <a:schemeClr val="dk1"/>
                </a:solidFill>
                <a:latin typeface="Arial"/>
                <a:ea typeface="Arial"/>
                <a:cs typeface="Arial"/>
                <a:sym typeface="Arial"/>
              </a:rPr>
              <a:t>).</a:t>
            </a:r>
            <a:endParaRPr/>
          </a:p>
        </p:txBody>
      </p:sp>
      <p:sp>
        <p:nvSpPr>
          <p:cNvPr id="540" name="Google Shape;540;p36"/>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7"/>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47" name="Google Shape;547;p37"/>
          <p:cNvSpPr/>
          <p:nvPr/>
        </p:nvSpPr>
        <p:spPr>
          <a:xfrm>
            <a:off x="2085975" y="395287"/>
            <a:ext cx="8351837" cy="89693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48" name="Google Shape;548;p37"/>
          <p:cNvSpPr/>
          <p:nvPr/>
        </p:nvSpPr>
        <p:spPr>
          <a:xfrm>
            <a:off x="1582737" y="1474787"/>
            <a:ext cx="9431337" cy="525621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49" name="Google Shape;549;p37"/>
          <p:cNvSpPr txBox="1"/>
          <p:nvPr>
            <p:ph type="title"/>
          </p:nvPr>
        </p:nvSpPr>
        <p:spPr>
          <a:xfrm>
            <a:off x="2103437" y="481012"/>
            <a:ext cx="8243887" cy="811212"/>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550" name="Google Shape;550;p37"/>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grpSp>
        <p:nvGrpSpPr>
          <p:cNvPr id="551" name="Google Shape;551;p37"/>
          <p:cNvGrpSpPr/>
          <p:nvPr/>
        </p:nvGrpSpPr>
        <p:grpSpPr>
          <a:xfrm>
            <a:off x="2133600" y="1906587"/>
            <a:ext cx="8304212" cy="4321175"/>
            <a:chOff x="998538" y="2122984"/>
            <a:chExt cx="8064128" cy="4074127"/>
          </a:xfrm>
        </p:grpSpPr>
        <p:pic>
          <p:nvPicPr>
            <p:cNvPr id="552" name="Google Shape;552;p37"/>
            <p:cNvPicPr preferRelativeResize="0"/>
            <p:nvPr/>
          </p:nvPicPr>
          <p:blipFill rotWithShape="1">
            <a:blip r:embed="rId3">
              <a:alphaModFix/>
            </a:blip>
            <a:srcRect b="0" l="0" r="0" t="0"/>
            <a:stretch/>
          </p:blipFill>
          <p:spPr>
            <a:xfrm>
              <a:off x="998538" y="2122984"/>
              <a:ext cx="8064128" cy="4074127"/>
            </a:xfrm>
            <a:prstGeom prst="rect">
              <a:avLst/>
            </a:prstGeom>
            <a:noFill/>
            <a:ln>
              <a:noFill/>
            </a:ln>
          </p:spPr>
        </p:pic>
        <p:sp>
          <p:nvSpPr>
            <p:cNvPr id="553" name="Google Shape;553;p37"/>
            <p:cNvSpPr/>
            <p:nvPr/>
          </p:nvSpPr>
          <p:spPr>
            <a:xfrm>
              <a:off x="4339250" y="4650449"/>
              <a:ext cx="216024" cy="216024"/>
            </a:xfrm>
            <a:prstGeom prst="ellipse">
              <a:avLst/>
            </a:prstGeom>
            <a:solidFill>
              <a:srgbClr val="FF505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54" name="Google Shape;554;p37"/>
            <p:cNvSpPr/>
            <p:nvPr/>
          </p:nvSpPr>
          <p:spPr>
            <a:xfrm>
              <a:off x="2880836" y="3609247"/>
              <a:ext cx="279031" cy="272407"/>
            </a:xfrm>
            <a:prstGeom prst="ellipse">
              <a:avLst/>
            </a:prstGeom>
            <a:solidFill>
              <a:srgbClr val="12B2EB"/>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55" name="Google Shape;555;p37"/>
            <p:cNvSpPr/>
            <p:nvPr/>
          </p:nvSpPr>
          <p:spPr>
            <a:xfrm>
              <a:off x="5704083" y="4037421"/>
              <a:ext cx="216024" cy="216024"/>
            </a:xfrm>
            <a:prstGeom prst="ellipse">
              <a:avLst/>
            </a:prstGeom>
            <a:solidFill>
              <a:srgbClr val="2DF35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56" name="Google Shape;556;p37"/>
            <p:cNvSpPr/>
            <p:nvPr/>
          </p:nvSpPr>
          <p:spPr>
            <a:xfrm>
              <a:off x="6344906" y="4651152"/>
              <a:ext cx="216024" cy="216024"/>
            </a:xfrm>
            <a:prstGeom prst="ellipse">
              <a:avLst/>
            </a:prstGeom>
            <a:solidFill>
              <a:srgbClr val="FFFF00"/>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grpSp>
      <p:sp>
        <p:nvSpPr>
          <p:cNvPr id="557" name="Google Shape;557;p37"/>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8"/>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64" name="Google Shape;564;p38"/>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65" name="Google Shape;565;p38"/>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66" name="Google Shape;566;p38"/>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567" name="Google Shape;567;p38"/>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568" name="Google Shape;568;p38"/>
          <p:cNvSpPr txBox="1"/>
          <p:nvPr/>
        </p:nvSpPr>
        <p:spPr>
          <a:xfrm>
            <a:off x="1725612" y="2051050"/>
            <a:ext cx="9072562" cy="4092575"/>
          </a:xfrm>
          <a:prstGeom prst="rect">
            <a:avLst/>
          </a:prstGeom>
          <a:noFill/>
          <a:ln>
            <a:noFill/>
          </a:ln>
        </p:spPr>
        <p:txBody>
          <a:bodyPr anchorCtr="0" anchor="t" bIns="45700" lIns="91425" spcFirstLastPara="1" rIns="91425" wrap="square" tIns="45700">
            <a:spAutoFit/>
          </a:bodyPr>
          <a:lstStyle/>
          <a:p>
            <a:pPr indent="35560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В отличие от локальной меры, такой как степень центральности, такие метрики, как взаимность (betweenness), близость (closeness) или центральность собственных векторов (eigenvector centrality), считаются глобальными мерами, поскольку они оценивают влияние, которое узел оказывает на глобальную структуру или передачу информации в сети.</a:t>
            </a:r>
            <a:endParaRPr/>
          </a:p>
          <a:p>
            <a:pPr indent="355600" lvl="0" marL="0" marR="0" rtl="0" algn="l">
              <a:lnSpc>
                <a:spcPct val="100000"/>
              </a:lnSpc>
              <a:spcBef>
                <a:spcPts val="0"/>
              </a:spcBef>
              <a:spcAft>
                <a:spcPts val="0"/>
              </a:spcAft>
              <a:buClr>
                <a:schemeClr val="dk1"/>
              </a:buClr>
              <a:buSzPts val="2000"/>
              <a:buFont typeface="Arial"/>
              <a:buNone/>
            </a:pPr>
            <a:r>
              <a:rPr b="0" i="1" lang="en-US" sz="2000" u="none">
                <a:solidFill>
                  <a:schemeClr val="dk1"/>
                </a:solidFill>
                <a:latin typeface="Arial"/>
                <a:ea typeface="Arial"/>
                <a:cs typeface="Arial"/>
                <a:sym typeface="Arial"/>
              </a:rPr>
              <a:t>Степень центральности, промежуточность, близость и центральность собственных векторов </a:t>
            </a:r>
            <a:r>
              <a:rPr b="0" i="0" lang="en-US" sz="2000" u="none">
                <a:solidFill>
                  <a:schemeClr val="dk1"/>
                </a:solidFill>
                <a:latin typeface="Arial"/>
                <a:ea typeface="Arial"/>
                <a:cs typeface="Arial"/>
                <a:sym typeface="Arial"/>
              </a:rPr>
              <a:t>являются одними из наиболее популярных показателей, используемых в SNA (Social Network Analysis). Однако на протяжении многих лет в литературе предлагались и другие меры. Среди этих показателей мы можем упомянуть, в частности, центральную роль информации (</a:t>
            </a:r>
            <a:r>
              <a:rPr b="1" i="1" lang="en-US" sz="2000" u="none">
                <a:solidFill>
                  <a:schemeClr val="dk1"/>
                </a:solidFill>
                <a:latin typeface="Arial"/>
                <a:ea typeface="Arial"/>
                <a:cs typeface="Arial"/>
                <a:sym typeface="Arial"/>
              </a:rPr>
              <a:t>information centrality</a:t>
            </a:r>
            <a:r>
              <a:rPr b="0" i="0" lang="en-US" sz="2000" u="none">
                <a:solidFill>
                  <a:schemeClr val="dk1"/>
                </a:solidFill>
                <a:latin typeface="Arial"/>
                <a:ea typeface="Arial"/>
                <a:cs typeface="Arial"/>
                <a:sym typeface="Arial"/>
              </a:rPr>
              <a:t>), поток взаимной информации (</a:t>
            </a:r>
            <a:r>
              <a:rPr b="1" i="1" lang="en-US" sz="2000" u="none">
                <a:solidFill>
                  <a:schemeClr val="dk1"/>
                </a:solidFill>
                <a:latin typeface="Arial"/>
                <a:ea typeface="Arial"/>
                <a:cs typeface="Arial"/>
                <a:sym typeface="Arial"/>
              </a:rPr>
              <a:t>flow betweenness)</a:t>
            </a:r>
            <a:r>
              <a:rPr b="0" i="0" lang="en-US" sz="2000" u="none">
                <a:solidFill>
                  <a:schemeClr val="dk1"/>
                </a:solidFill>
                <a:latin typeface="Arial"/>
                <a:ea typeface="Arial"/>
                <a:cs typeface="Arial"/>
                <a:sym typeface="Arial"/>
              </a:rPr>
              <a:t>, индекс даижения (</a:t>
            </a:r>
            <a:r>
              <a:rPr b="1" i="1" lang="en-US" sz="2000" u="none">
                <a:solidFill>
                  <a:schemeClr val="dk1"/>
                </a:solidFill>
                <a:latin typeface="Arial"/>
                <a:ea typeface="Arial"/>
                <a:cs typeface="Arial"/>
                <a:sym typeface="Arial"/>
              </a:rPr>
              <a:t>rush index</a:t>
            </a:r>
            <a:r>
              <a:rPr b="0" i="0" lang="en-US" sz="2000" u="none">
                <a:solidFill>
                  <a:schemeClr val="dk1"/>
                </a:solidFill>
                <a:latin typeface="Arial"/>
                <a:ea typeface="Arial"/>
                <a:cs typeface="Arial"/>
                <a:sym typeface="Arial"/>
              </a:rPr>
              <a:t>) и индекс влияния (</a:t>
            </a:r>
            <a:r>
              <a:rPr b="1" i="1" lang="en-US" sz="2000" u="none">
                <a:solidFill>
                  <a:schemeClr val="dk1"/>
                </a:solidFill>
                <a:latin typeface="Arial"/>
                <a:ea typeface="Arial"/>
                <a:cs typeface="Arial"/>
                <a:sym typeface="Arial"/>
              </a:rPr>
              <a:t>influence)</a:t>
            </a:r>
            <a:r>
              <a:rPr b="0" i="0" lang="en-US" sz="2000" u="none">
                <a:solidFill>
                  <a:schemeClr val="dk1"/>
                </a:solidFill>
                <a:latin typeface="Arial"/>
                <a:ea typeface="Arial"/>
                <a:cs typeface="Arial"/>
                <a:sym typeface="Arial"/>
              </a:rPr>
              <a:t>.</a:t>
            </a:r>
            <a:endParaRPr/>
          </a:p>
        </p:txBody>
      </p:sp>
      <p:sp>
        <p:nvSpPr>
          <p:cNvPr id="569" name="Google Shape;569;p38"/>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9"/>
          <p:cNvSpPr txBox="1"/>
          <p:nvPr>
            <p:ph idx="4294967295" type="ctrTitle"/>
          </p:nvPr>
        </p:nvSpPr>
        <p:spPr>
          <a:xfrm>
            <a:off x="1195387" y="800100"/>
            <a:ext cx="9090025" cy="3195637"/>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4500"/>
              <a:buFont typeface="Calibri"/>
              <a:buNone/>
            </a:pPr>
            <a:r>
              <a:rPr b="1" i="0" lang="en-US" sz="4500" u="none" cap="none" strike="noStrike">
                <a:solidFill>
                  <a:srgbClr val="FFFFFF"/>
                </a:solidFill>
                <a:latin typeface="Calibri"/>
                <a:ea typeface="Calibri"/>
                <a:cs typeface="Calibri"/>
                <a:sym typeface="Calibri"/>
              </a:rPr>
              <a:t>Социальные графы</a:t>
            </a:r>
            <a:br>
              <a:rPr b="1" i="0" lang="en-US" sz="4500" u="none" cap="none" strike="noStrike">
                <a:solidFill>
                  <a:srgbClr val="FFFFFF"/>
                </a:solidFill>
                <a:latin typeface="Calibri"/>
                <a:ea typeface="Calibri"/>
                <a:cs typeface="Calibri"/>
                <a:sym typeface="Calibri"/>
              </a:rPr>
            </a:br>
            <a:r>
              <a:rPr b="1" i="0" lang="en-US" sz="4500" u="none" cap="none" strike="noStrike">
                <a:solidFill>
                  <a:srgbClr val="FFFFFF"/>
                </a:solidFill>
                <a:latin typeface="Calibri"/>
                <a:ea typeface="Calibri"/>
                <a:cs typeface="Calibri"/>
                <a:sym typeface="Calibri"/>
              </a:rPr>
              <a:t>Интерпертация</a:t>
            </a:r>
            <a:endParaRPr/>
          </a:p>
        </p:txBody>
      </p:sp>
      <p:sp>
        <p:nvSpPr>
          <p:cNvPr id="577" name="Google Shape;577;p39"/>
          <p:cNvSpPr txBox="1"/>
          <p:nvPr/>
        </p:nvSpPr>
        <p:spPr>
          <a:xfrm>
            <a:off x="2684462" y="4643437"/>
            <a:ext cx="7127875"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1" lang="en-US" sz="2000" u="none">
                <a:solidFill>
                  <a:schemeClr val="dk1"/>
                </a:solidFill>
                <a:latin typeface="Arial"/>
                <a:ea typeface="Arial"/>
                <a:cs typeface="Arial"/>
                <a:sym typeface="Arial"/>
              </a:rPr>
              <a:t>Как говорил Сократ, «необдуманная жизнь не стоит того, чтобы её прожить»; так и неинтерпретируемый граф не стоит представлять. </a:t>
            </a:r>
            <a:endParaRPr/>
          </a:p>
        </p:txBody>
      </p:sp>
      <p:sp>
        <p:nvSpPr>
          <p:cNvPr id="578" name="Google Shape;578;p39"/>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0"/>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85" name="Google Shape;585;p40"/>
          <p:cNvSpPr/>
          <p:nvPr/>
        </p:nvSpPr>
        <p:spPr>
          <a:xfrm>
            <a:off x="2085975" y="395287"/>
            <a:ext cx="8351837" cy="11049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86" name="Google Shape;586;p40"/>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87" name="Google Shape;587;p40"/>
          <p:cNvSpPr txBox="1"/>
          <p:nvPr>
            <p:ph type="title"/>
          </p:nvPr>
        </p:nvSpPr>
        <p:spPr>
          <a:xfrm>
            <a:off x="2193925" y="446087"/>
            <a:ext cx="8243887" cy="7270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Интерпретация соцграфов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588" name="Google Shape;588;p40"/>
          <p:cNvSpPr txBox="1"/>
          <p:nvPr/>
        </p:nvSpPr>
        <p:spPr>
          <a:xfrm>
            <a:off x="5246687" y="14287"/>
            <a:ext cx="203041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589" name="Google Shape;589;p40"/>
          <p:cNvSpPr txBox="1"/>
          <p:nvPr/>
        </p:nvSpPr>
        <p:spPr>
          <a:xfrm>
            <a:off x="1782762" y="1835150"/>
            <a:ext cx="9015412" cy="1476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Попробуем ответить на вопрос, кому из персонажей приведенной сети следует сообщить сплетню, чтобы она достигла каждого сотрудника через минимальное число посредников? Кого нужно устранить, чтобы нанести максимальный урон распространению информации, максимально разъединить общающихся, не дав возможности воспользоваться дублирующими каналами передачи сведений?</a:t>
            </a:r>
            <a:endParaRPr/>
          </a:p>
        </p:txBody>
      </p:sp>
      <p:pic>
        <p:nvPicPr>
          <p:cNvPr descr="http://www.i-bakery.ru/image/full/ahBzfnNjbS1iYWtlcnktaGRycg0LEgVNZWRpYRiC7gUM/SNA1.png" id="590" name="Google Shape;590;p40"/>
          <p:cNvPicPr preferRelativeResize="0"/>
          <p:nvPr/>
        </p:nvPicPr>
        <p:blipFill rotWithShape="1">
          <a:blip r:embed="rId3">
            <a:alphaModFix/>
          </a:blip>
          <a:srcRect b="0" l="0" r="0" t="0"/>
          <a:stretch/>
        </p:blipFill>
        <p:spPr>
          <a:xfrm>
            <a:off x="3289300" y="3294062"/>
            <a:ext cx="5573712" cy="3371850"/>
          </a:xfrm>
          <a:prstGeom prst="rect">
            <a:avLst/>
          </a:prstGeom>
          <a:noFill/>
          <a:ln>
            <a:noFill/>
          </a:ln>
        </p:spPr>
      </p:pic>
      <p:sp>
        <p:nvSpPr>
          <p:cNvPr id="591" name="Google Shape;591;p40"/>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1"/>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98" name="Google Shape;598;p41"/>
          <p:cNvSpPr/>
          <p:nvPr/>
        </p:nvSpPr>
        <p:spPr>
          <a:xfrm>
            <a:off x="2085975" y="395287"/>
            <a:ext cx="8351837" cy="11049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599" name="Google Shape;599;p41"/>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00" name="Google Shape;600;p41"/>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601" name="Google Shape;601;p41"/>
          <p:cNvSpPr txBox="1"/>
          <p:nvPr/>
        </p:nvSpPr>
        <p:spPr>
          <a:xfrm>
            <a:off x="1782762" y="1835150"/>
            <a:ext cx="9015412"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Чем больше вес связи, тем тем выше </a:t>
            </a:r>
            <a:r>
              <a:rPr b="0" i="1" lang="en-US" sz="1800" u="none">
                <a:solidFill>
                  <a:schemeClr val="dk1"/>
                </a:solidFill>
                <a:latin typeface="Arial"/>
                <a:ea typeface="Arial"/>
                <a:cs typeface="Arial"/>
                <a:sym typeface="Arial"/>
              </a:rPr>
              <a:t>активность</a:t>
            </a:r>
            <a:r>
              <a:rPr b="0" i="0" lang="en-US" sz="1800" u="none">
                <a:solidFill>
                  <a:schemeClr val="dk1"/>
                </a:solidFill>
                <a:latin typeface="Arial"/>
                <a:ea typeface="Arial"/>
                <a:cs typeface="Arial"/>
                <a:sym typeface="Arial"/>
              </a:rPr>
              <a:t> персонажа в информационном обмене. Так как максимальное число связей в графе из N персонажей равно N*(N-1), можно измерить интегральный показатель, отражающий насколько граф насыщен связями (отношение общего числа связей к максимальному).</a:t>
            </a:r>
            <a:endParaRPr/>
          </a:p>
        </p:txBody>
      </p:sp>
      <p:pic>
        <p:nvPicPr>
          <p:cNvPr descr="http://www.i-bakery.ru/image/full/ahBzfnNjbS1iYWtlcnktaGRycg0LEgVNZWRpYRiy2wYM/SNA3.png" id="602" name="Google Shape;602;p41"/>
          <p:cNvPicPr preferRelativeResize="0"/>
          <p:nvPr/>
        </p:nvPicPr>
        <p:blipFill rotWithShape="1">
          <a:blip r:embed="rId3">
            <a:alphaModFix/>
          </a:blip>
          <a:srcRect b="0" l="0" r="0" t="0"/>
          <a:stretch/>
        </p:blipFill>
        <p:spPr>
          <a:xfrm>
            <a:off x="3165475" y="3113087"/>
            <a:ext cx="5761037" cy="3486150"/>
          </a:xfrm>
          <a:prstGeom prst="rect">
            <a:avLst/>
          </a:prstGeom>
          <a:noFill/>
          <a:ln>
            <a:noFill/>
          </a:ln>
        </p:spPr>
      </p:pic>
      <p:sp>
        <p:nvSpPr>
          <p:cNvPr id="603" name="Google Shape;603;p41"/>
          <p:cNvSpPr txBox="1"/>
          <p:nvPr/>
        </p:nvSpPr>
        <p:spPr>
          <a:xfrm>
            <a:off x="5661025" y="5813425"/>
            <a:ext cx="376872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Очевидно у Алексея наивысшее число входящих и исходящих связей.</a:t>
            </a:r>
            <a:endParaRPr/>
          </a:p>
        </p:txBody>
      </p:sp>
      <p:sp>
        <p:nvSpPr>
          <p:cNvPr id="604" name="Google Shape;604;p41"/>
          <p:cNvSpPr txBox="1"/>
          <p:nvPr>
            <p:ph type="title"/>
          </p:nvPr>
        </p:nvSpPr>
        <p:spPr>
          <a:xfrm>
            <a:off x="2193925" y="446087"/>
            <a:ext cx="8243887" cy="7270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Интерпретация соцграфов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605" name="Google Shape;605;p4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2"/>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12" name="Google Shape;612;p42"/>
          <p:cNvSpPr/>
          <p:nvPr/>
        </p:nvSpPr>
        <p:spPr>
          <a:xfrm>
            <a:off x="2085975" y="395287"/>
            <a:ext cx="8351837" cy="11049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13" name="Google Shape;613;p42"/>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14" name="Google Shape;614;p42"/>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615" name="Google Shape;615;p42"/>
          <p:cNvSpPr txBox="1"/>
          <p:nvPr/>
        </p:nvSpPr>
        <p:spPr>
          <a:xfrm>
            <a:off x="1782762" y="1835150"/>
            <a:ext cx="9231312" cy="230822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1" i="0" lang="en-US" sz="1800" u="none">
                <a:solidFill>
                  <a:schemeClr val="dk1"/>
                </a:solidFill>
                <a:latin typeface="Arial"/>
                <a:ea typeface="Arial"/>
                <a:cs typeface="Arial"/>
                <a:sym typeface="Arial"/>
              </a:rPr>
              <a:t>Близость узлов</a:t>
            </a:r>
            <a:r>
              <a:rPr b="0" i="0" lang="en-US" sz="1800" u="none">
                <a:solidFill>
                  <a:schemeClr val="dk1"/>
                </a:solidFill>
                <a:latin typeface="Arial"/>
                <a:ea typeface="Arial"/>
                <a:cs typeface="Arial"/>
                <a:sym typeface="Arial"/>
              </a:rPr>
              <a:t>, в отличие от порядка связей, учитывающих только ближайшее окружение персонажа, отражает, насколько далеко от остальных узлов сети находится данный персонаж. Т.е., сколько посредников нужно пройти, чтобы оказаться на самой периферии сети. </a:t>
            </a:r>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Этот показатель смог бы дать подсказку на вопрос о том, кто был бы идеальным начальным носителем идеи об изменениях в компании (или "сплетни"). Из рисунка ниже видно, что Зураб и Елена являются "наиболее близкими" большинству сотрудников персонажами.</a:t>
            </a:r>
            <a:endParaRPr/>
          </a:p>
        </p:txBody>
      </p:sp>
      <p:pic>
        <p:nvPicPr>
          <p:cNvPr descr="http://www.i-bakery.ru/image/full/ahBzfnNjbS1iYWtlcnktaGRycg0LEgVNZWRpYRiy2wYM/SNA3.png" id="616" name="Google Shape;616;p42"/>
          <p:cNvPicPr preferRelativeResize="0"/>
          <p:nvPr/>
        </p:nvPicPr>
        <p:blipFill rotWithShape="1">
          <a:blip r:embed="rId3">
            <a:alphaModFix/>
          </a:blip>
          <a:srcRect b="0" l="0" r="0" t="0"/>
          <a:stretch/>
        </p:blipFill>
        <p:spPr>
          <a:xfrm>
            <a:off x="3892550" y="4143375"/>
            <a:ext cx="4340225" cy="2627312"/>
          </a:xfrm>
          <a:prstGeom prst="rect">
            <a:avLst/>
          </a:prstGeom>
          <a:noFill/>
          <a:ln>
            <a:noFill/>
          </a:ln>
        </p:spPr>
      </p:pic>
      <p:sp>
        <p:nvSpPr>
          <p:cNvPr id="617" name="Google Shape;617;p42"/>
          <p:cNvSpPr txBox="1"/>
          <p:nvPr>
            <p:ph type="title"/>
          </p:nvPr>
        </p:nvSpPr>
        <p:spPr>
          <a:xfrm>
            <a:off x="2193925" y="446087"/>
            <a:ext cx="8243887" cy="7270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Интерпретация соцграфов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618" name="Google Shape;618;p4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3"/>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25" name="Google Shape;625;p43"/>
          <p:cNvSpPr/>
          <p:nvPr/>
        </p:nvSpPr>
        <p:spPr>
          <a:xfrm>
            <a:off x="2085975" y="395287"/>
            <a:ext cx="8351837" cy="11049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26" name="Google Shape;626;p43"/>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27" name="Google Shape;627;p43"/>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628" name="Google Shape;628;p43"/>
          <p:cNvSpPr txBox="1"/>
          <p:nvPr/>
        </p:nvSpPr>
        <p:spPr>
          <a:xfrm>
            <a:off x="1782762" y="1835150"/>
            <a:ext cx="9231312" cy="175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Показатель </a:t>
            </a:r>
            <a:r>
              <a:rPr b="1" i="0" lang="en-US" sz="1800" u="none">
                <a:solidFill>
                  <a:schemeClr val="dk1"/>
                </a:solidFill>
                <a:latin typeface="Arial"/>
                <a:ea typeface="Arial"/>
                <a:cs typeface="Arial"/>
                <a:sym typeface="Arial"/>
              </a:rPr>
              <a:t>связности</a:t>
            </a:r>
            <a:r>
              <a:rPr b="0" i="0" lang="en-US" sz="1800" u="none">
                <a:solidFill>
                  <a:schemeClr val="dk1"/>
                </a:solidFill>
                <a:latin typeface="Arial"/>
                <a:ea typeface="Arial"/>
                <a:cs typeface="Arial"/>
                <a:sym typeface="Arial"/>
              </a:rPr>
              <a:t> узлов исследует меру контроля над информационным потоком для каждого из персонажей. Допустим, мы хотим обезвредить сеть террористов, лишив её системы управления. Нам необходимо выявить тех персонажей, устранение которых вызовет необратимые последствия для всей сети. Например, обезвредив Ивана, мы лишим Эдуарда возможности взаимодействовать с кем бы то ни было, т.к. у него нет альтернативных каналов обмена данными. </a:t>
            </a:r>
            <a:endParaRPr/>
          </a:p>
        </p:txBody>
      </p:sp>
      <p:pic>
        <p:nvPicPr>
          <p:cNvPr descr="http://www.i-bakery.ru/image/full/ahBzfnNjbS1iYWtlcnktaGRycg0LEgVNZWRpYRiy2wYM/SNA3.png" id="629" name="Google Shape;629;p43"/>
          <p:cNvPicPr preferRelativeResize="0"/>
          <p:nvPr/>
        </p:nvPicPr>
        <p:blipFill rotWithShape="1">
          <a:blip r:embed="rId3">
            <a:alphaModFix/>
          </a:blip>
          <a:srcRect b="0" l="0" r="0" t="0"/>
          <a:stretch/>
        </p:blipFill>
        <p:spPr>
          <a:xfrm>
            <a:off x="6256337" y="3870325"/>
            <a:ext cx="4340225" cy="2627312"/>
          </a:xfrm>
          <a:prstGeom prst="rect">
            <a:avLst/>
          </a:prstGeom>
          <a:noFill/>
          <a:ln>
            <a:noFill/>
          </a:ln>
        </p:spPr>
      </p:pic>
      <p:sp>
        <p:nvSpPr>
          <p:cNvPr id="630" name="Google Shape;630;p43"/>
          <p:cNvSpPr txBox="1"/>
          <p:nvPr>
            <p:ph type="title"/>
          </p:nvPr>
        </p:nvSpPr>
        <p:spPr>
          <a:xfrm>
            <a:off x="2193925" y="446087"/>
            <a:ext cx="8243887" cy="7270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Интерпретация соцграфов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631" name="Google Shape;631;p43"/>
          <p:cNvSpPr txBox="1"/>
          <p:nvPr/>
        </p:nvSpPr>
        <p:spPr>
          <a:xfrm>
            <a:off x="1760537" y="3635375"/>
            <a:ext cx="4279900"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Показатель связности максимален для тех узлов, которые обеспечивают не имеющие дублёров каналы обмена информацией для наибольшего числа узлов. В нашем случае, устранение Агнессы приведёт к наибольшему урону для сети в целом, а вот Валентина и Сергей, похоже, вообще не принимают участия в важных решениях.</a:t>
            </a:r>
            <a:endParaRPr/>
          </a:p>
        </p:txBody>
      </p:sp>
      <p:sp>
        <p:nvSpPr>
          <p:cNvPr id="632" name="Google Shape;632;p4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44"/>
          <p:cNvSpPr txBox="1"/>
          <p:nvPr>
            <p:ph idx="4294967295" type="ctrTitle"/>
          </p:nvPr>
        </p:nvSpPr>
        <p:spPr>
          <a:xfrm>
            <a:off x="1195387" y="800100"/>
            <a:ext cx="9090025" cy="3195637"/>
          </a:xfrm>
          <a:prstGeom prst="rect">
            <a:avLst/>
          </a:prstGeom>
          <a:noFill/>
          <a:ln>
            <a:noFill/>
          </a:ln>
        </p:spPr>
        <p:txBody>
          <a:bodyPr anchorCtr="0" anchor="b"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4500"/>
              <a:buFont typeface="Calibri"/>
              <a:buNone/>
            </a:pPr>
            <a:r>
              <a:rPr b="1" i="0" lang="en-US" sz="4500" u="none" cap="none" strike="noStrike">
                <a:solidFill>
                  <a:srgbClr val="FFFFFF"/>
                </a:solidFill>
                <a:latin typeface="Calibri"/>
                <a:ea typeface="Calibri"/>
                <a:cs typeface="Calibri"/>
                <a:sym typeface="Calibri"/>
              </a:rPr>
              <a:t>Социальные графы</a:t>
            </a:r>
            <a:br>
              <a:rPr b="1" i="0" lang="en-US" sz="4500" u="none" cap="none" strike="noStrike">
                <a:solidFill>
                  <a:srgbClr val="FFFFFF"/>
                </a:solidFill>
                <a:latin typeface="Calibri"/>
                <a:ea typeface="Calibri"/>
                <a:cs typeface="Calibri"/>
                <a:sym typeface="Calibri"/>
              </a:rPr>
            </a:br>
            <a:r>
              <a:rPr b="1" i="0" lang="en-US" sz="4500" u="none" cap="none" strike="noStrike">
                <a:solidFill>
                  <a:srgbClr val="FFFFFF"/>
                </a:solidFill>
                <a:latin typeface="Calibri"/>
                <a:ea typeface="Calibri"/>
                <a:cs typeface="Calibri"/>
                <a:sym typeface="Calibri"/>
              </a:rPr>
              <a:t>Алгоритмы</a:t>
            </a:r>
            <a:endParaRPr/>
          </a:p>
        </p:txBody>
      </p:sp>
      <p:sp>
        <p:nvSpPr>
          <p:cNvPr id="640" name="Google Shape;640;p4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45"/>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47" name="Google Shape;647;p45"/>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48" name="Google Shape;648;p45"/>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49" name="Google Shape;649;p45"/>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650" name="Google Shape;650;p45"/>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651" name="Google Shape;651;p45"/>
          <p:cNvSpPr txBox="1"/>
          <p:nvPr/>
        </p:nvSpPr>
        <p:spPr>
          <a:xfrm>
            <a:off x="1743075" y="1944687"/>
            <a:ext cx="5095875" cy="2246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Центральность </a:t>
            </a:r>
            <a:r>
              <a:rPr b="0" i="0" lang="en-US" sz="2000" u="none">
                <a:solidFill>
                  <a:schemeClr val="dk1"/>
                </a:solidFill>
                <a:latin typeface="Arial"/>
                <a:ea typeface="Arial"/>
                <a:cs typeface="Arial"/>
                <a:sym typeface="Arial"/>
              </a:rPr>
              <a:t>— мера важности вершины в графе (применительно к сетевым сообществам).</a:t>
            </a:r>
            <a:br>
              <a:rPr b="0" i="0" lang="en-US" sz="2000" u="none">
                <a:solidFill>
                  <a:schemeClr val="dk1"/>
                </a:solidFill>
                <a:latin typeface="Arial"/>
                <a:ea typeface="Arial"/>
                <a:cs typeface="Arial"/>
                <a:sym typeface="Arial"/>
              </a:rPr>
            </a:br>
            <a:r>
              <a:rPr b="1" i="0" lang="en-US" sz="2000" u="none">
                <a:solidFill>
                  <a:schemeClr val="dk1"/>
                </a:solidFill>
                <a:latin typeface="Arial"/>
                <a:ea typeface="Arial"/>
                <a:cs typeface="Arial"/>
                <a:sym typeface="Arial"/>
              </a:rPr>
              <a:t>Betweenness centrality </a:t>
            </a:r>
            <a:r>
              <a:rPr b="0" i="0" lang="en-US" sz="2000" u="none">
                <a:solidFill>
                  <a:schemeClr val="dk1"/>
                </a:solidFill>
                <a:latin typeface="Arial"/>
                <a:ea typeface="Arial"/>
                <a:cs typeface="Arial"/>
                <a:sym typeface="Arial"/>
              </a:rPr>
              <a:t>— мера важности, пропорциональная числу кратчайших путей от всех вершин до всех, проходящих через данное ребро.</a:t>
            </a:r>
            <a:endParaRPr/>
          </a:p>
        </p:txBody>
      </p:sp>
      <p:sp>
        <p:nvSpPr>
          <p:cNvPr id="652" name="Google Shape;652;p45"/>
          <p:cNvSpPr txBox="1"/>
          <p:nvPr/>
        </p:nvSpPr>
        <p:spPr>
          <a:xfrm>
            <a:off x="4894262" y="1201737"/>
            <a:ext cx="18240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Betweenness</a:t>
            </a:r>
            <a:endParaRPr/>
          </a:p>
        </p:txBody>
      </p:sp>
      <p:sp>
        <p:nvSpPr>
          <p:cNvPr id="653" name="Google Shape;653;p45"/>
          <p:cNvSpPr txBox="1"/>
          <p:nvPr/>
        </p:nvSpPr>
        <p:spPr>
          <a:xfrm>
            <a:off x="3798887" y="6451600"/>
            <a:ext cx="44164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cluster_edge_betweenness()</a:t>
            </a:r>
            <a:endParaRPr/>
          </a:p>
        </p:txBody>
      </p:sp>
      <p:sp>
        <p:nvSpPr>
          <p:cNvPr id="654" name="Google Shape;654;p45"/>
          <p:cNvSpPr txBox="1"/>
          <p:nvPr/>
        </p:nvSpPr>
        <p:spPr>
          <a:xfrm>
            <a:off x="7464425" y="5192712"/>
            <a:ext cx="3554412"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Betweenness (для вершин). Красный — низкая,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синий — высокая.</a:t>
            </a:r>
            <a:endParaRPr/>
          </a:p>
        </p:txBody>
      </p:sp>
      <p:pic>
        <p:nvPicPr>
          <p:cNvPr id="655" name="Google Shape;655;p45"/>
          <p:cNvPicPr preferRelativeResize="0"/>
          <p:nvPr/>
        </p:nvPicPr>
        <p:blipFill rotWithShape="1">
          <a:blip r:embed="rId3">
            <a:alphaModFix/>
          </a:blip>
          <a:srcRect b="0" l="0" r="0" t="0"/>
          <a:stretch/>
        </p:blipFill>
        <p:spPr>
          <a:xfrm>
            <a:off x="7192962" y="1941512"/>
            <a:ext cx="3463925" cy="3205162"/>
          </a:xfrm>
          <a:prstGeom prst="rect">
            <a:avLst/>
          </a:prstGeom>
          <a:noFill/>
          <a:ln>
            <a:noFill/>
          </a:ln>
        </p:spPr>
      </p:pic>
      <p:pic>
        <p:nvPicPr>
          <p:cNvPr id="656" name="Google Shape;656;p45"/>
          <p:cNvPicPr preferRelativeResize="0"/>
          <p:nvPr/>
        </p:nvPicPr>
        <p:blipFill rotWithShape="1">
          <a:blip r:embed="rId4">
            <a:alphaModFix/>
          </a:blip>
          <a:srcRect b="0" l="0" r="0" t="0"/>
          <a:stretch/>
        </p:blipFill>
        <p:spPr>
          <a:xfrm>
            <a:off x="2805112" y="4378325"/>
            <a:ext cx="2765425" cy="836612"/>
          </a:xfrm>
          <a:prstGeom prst="rect">
            <a:avLst/>
          </a:prstGeom>
          <a:noFill/>
          <a:ln>
            <a:noFill/>
          </a:ln>
        </p:spPr>
      </p:pic>
      <p:sp>
        <p:nvSpPr>
          <p:cNvPr id="657" name="Google Shape;657;p45"/>
          <p:cNvSpPr txBox="1"/>
          <p:nvPr/>
        </p:nvSpPr>
        <p:spPr>
          <a:xfrm>
            <a:off x="1871662" y="5151437"/>
            <a:ext cx="5172075" cy="1139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где</a:t>
            </a:r>
            <a:r>
              <a:rPr b="0" i="1" lang="en-US" sz="20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σ</a:t>
            </a:r>
            <a:r>
              <a:rPr b="0" baseline="-25000" i="1" lang="en-US" sz="2000" u="none">
                <a:solidFill>
                  <a:schemeClr val="dk1"/>
                </a:solidFill>
                <a:latin typeface="Arial"/>
                <a:ea typeface="Arial"/>
                <a:cs typeface="Arial"/>
                <a:sym typeface="Arial"/>
              </a:rPr>
              <a:t>st</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 общее число наиболее коротких путей от узла </a:t>
            </a:r>
            <a:r>
              <a:rPr b="1" i="1" lang="en-US" sz="2000" u="none">
                <a:solidFill>
                  <a:schemeClr val="dk1"/>
                </a:solidFill>
                <a:latin typeface="Arial"/>
                <a:ea typeface="Arial"/>
                <a:cs typeface="Arial"/>
                <a:sym typeface="Arial"/>
              </a:rPr>
              <a:t>s</a:t>
            </a:r>
            <a:r>
              <a:rPr b="0" i="0" lang="en-US" sz="2000" u="none">
                <a:solidFill>
                  <a:schemeClr val="dk1"/>
                </a:solidFill>
                <a:latin typeface="Arial"/>
                <a:ea typeface="Arial"/>
                <a:cs typeface="Arial"/>
                <a:sym typeface="Arial"/>
              </a:rPr>
              <a:t> к узлу  </a:t>
            </a:r>
            <a:r>
              <a:rPr b="1" i="1" lang="en-US" sz="2000" u="none">
                <a:solidFill>
                  <a:schemeClr val="dk1"/>
                </a:solidFill>
                <a:latin typeface="Arial"/>
                <a:ea typeface="Arial"/>
                <a:cs typeface="Arial"/>
                <a:sym typeface="Arial"/>
              </a:rPr>
              <a:t>t</a:t>
            </a:r>
            <a:r>
              <a:rPr b="0" i="0" lang="en-US" sz="2000" u="none">
                <a:solidFill>
                  <a:schemeClr val="dk1"/>
                </a:solidFill>
                <a:latin typeface="Arial"/>
                <a:ea typeface="Arial"/>
                <a:cs typeface="Arial"/>
                <a:sym typeface="Arial"/>
              </a:rPr>
              <a:t>  и </a:t>
            </a:r>
            <a:r>
              <a:rPr b="0" i="1" lang="en-US" sz="2400" u="none">
                <a:solidFill>
                  <a:schemeClr val="dk1"/>
                </a:solidFill>
                <a:latin typeface="Arial"/>
                <a:ea typeface="Arial"/>
                <a:cs typeface="Arial"/>
                <a:sym typeface="Arial"/>
              </a:rPr>
              <a:t>σ</a:t>
            </a:r>
            <a:r>
              <a:rPr b="0" baseline="-25000" i="1" lang="en-US" sz="2000" u="none">
                <a:solidFill>
                  <a:schemeClr val="dk1"/>
                </a:solidFill>
                <a:latin typeface="Arial"/>
                <a:ea typeface="Arial"/>
                <a:cs typeface="Arial"/>
                <a:sym typeface="Arial"/>
              </a:rPr>
              <a:t>st</a:t>
            </a:r>
            <a:r>
              <a:rPr b="0" i="1" lang="en-US" sz="2000" u="none">
                <a:solidFill>
                  <a:schemeClr val="dk1"/>
                </a:solidFill>
                <a:latin typeface="Arial"/>
                <a:ea typeface="Arial"/>
                <a:cs typeface="Arial"/>
                <a:sym typeface="Arial"/>
              </a:rPr>
              <a:t>(v)</a:t>
            </a:r>
            <a:r>
              <a:rPr b="0" i="0" lang="en-US" sz="2000" u="none">
                <a:solidFill>
                  <a:schemeClr val="dk1"/>
                </a:solidFill>
                <a:latin typeface="Arial"/>
                <a:ea typeface="Arial"/>
                <a:cs typeface="Arial"/>
                <a:sym typeface="Arial"/>
              </a:rPr>
              <a:t> – число путей, идущих через вершину </a:t>
            </a:r>
            <a:r>
              <a:rPr b="0" i="1" lang="en-US" sz="2000" u="none">
                <a:solidFill>
                  <a:schemeClr val="dk1"/>
                </a:solidFill>
                <a:latin typeface="Arial"/>
                <a:ea typeface="Arial"/>
                <a:cs typeface="Arial"/>
                <a:sym typeface="Arial"/>
              </a:rPr>
              <a:t>v</a:t>
            </a:r>
            <a:r>
              <a:rPr b="0" i="0" lang="en-US" sz="2000" u="none">
                <a:solidFill>
                  <a:schemeClr val="dk1"/>
                </a:solidFill>
                <a:latin typeface="Arial"/>
                <a:ea typeface="Arial"/>
                <a:cs typeface="Arial"/>
                <a:sym typeface="Arial"/>
              </a:rPr>
              <a:t>. </a:t>
            </a:r>
            <a:endParaRPr/>
          </a:p>
        </p:txBody>
      </p:sp>
      <p:pic>
        <p:nvPicPr>
          <p:cNvPr descr="\sigma_{st}" id="658" name="Google Shape;658;p45"/>
          <p:cNvPicPr preferRelativeResize="0"/>
          <p:nvPr/>
        </p:nvPicPr>
        <p:blipFill rotWithShape="1">
          <a:blip r:embed="rId5">
            <a:alphaModFix/>
          </a:blip>
          <a:srcRect b="0" l="0" r="0" t="0"/>
          <a:stretch/>
        </p:blipFill>
        <p:spPr>
          <a:xfrm>
            <a:off x="2119312" y="-152400"/>
            <a:ext cx="219075" cy="114300"/>
          </a:xfrm>
          <a:prstGeom prst="rect">
            <a:avLst/>
          </a:prstGeom>
          <a:noFill/>
          <a:ln>
            <a:noFill/>
          </a:ln>
        </p:spPr>
      </p:pic>
      <p:pic>
        <p:nvPicPr>
          <p:cNvPr descr="s" id="659" name="Google Shape;659;p45"/>
          <p:cNvPicPr preferRelativeResize="0"/>
          <p:nvPr/>
        </p:nvPicPr>
        <p:blipFill rotWithShape="1">
          <a:blip r:embed="rId6">
            <a:alphaModFix/>
          </a:blip>
          <a:srcRect b="0" l="0" r="0" t="0"/>
          <a:stretch/>
        </p:blipFill>
        <p:spPr>
          <a:xfrm>
            <a:off x="7172325" y="-152400"/>
            <a:ext cx="76200" cy="85725"/>
          </a:xfrm>
          <a:prstGeom prst="rect">
            <a:avLst/>
          </a:prstGeom>
          <a:noFill/>
          <a:ln>
            <a:noFill/>
          </a:ln>
        </p:spPr>
      </p:pic>
      <p:pic>
        <p:nvPicPr>
          <p:cNvPr descr="t" id="660" name="Google Shape;660;p45"/>
          <p:cNvPicPr preferRelativeResize="0"/>
          <p:nvPr/>
        </p:nvPicPr>
        <p:blipFill rotWithShape="1">
          <a:blip r:embed="rId7">
            <a:alphaModFix/>
          </a:blip>
          <a:srcRect b="0" l="0" r="0" t="0"/>
          <a:stretch/>
        </p:blipFill>
        <p:spPr>
          <a:xfrm>
            <a:off x="8245475" y="-152400"/>
            <a:ext cx="66675" cy="123825"/>
          </a:xfrm>
          <a:prstGeom prst="rect">
            <a:avLst/>
          </a:prstGeom>
          <a:noFill/>
          <a:ln>
            <a:noFill/>
          </a:ln>
        </p:spPr>
      </p:pic>
      <p:pic>
        <p:nvPicPr>
          <p:cNvPr descr="\sigma_{st}(v)" id="661" name="Google Shape;661;p45"/>
          <p:cNvPicPr preferRelativeResize="0"/>
          <p:nvPr/>
        </p:nvPicPr>
        <p:blipFill rotWithShape="1">
          <a:blip r:embed="rId8">
            <a:alphaModFix/>
          </a:blip>
          <a:srcRect b="0" l="0" r="0" t="0"/>
          <a:stretch/>
        </p:blipFill>
        <p:spPr>
          <a:xfrm>
            <a:off x="8904287" y="-152400"/>
            <a:ext cx="447675" cy="200025"/>
          </a:xfrm>
          <a:prstGeom prst="rect">
            <a:avLst/>
          </a:prstGeom>
          <a:noFill/>
          <a:ln>
            <a:noFill/>
          </a:ln>
        </p:spPr>
      </p:pic>
      <p:pic>
        <p:nvPicPr>
          <p:cNvPr descr="v" id="662" name="Google Shape;662;p45"/>
          <p:cNvPicPr preferRelativeResize="0"/>
          <p:nvPr/>
        </p:nvPicPr>
        <p:blipFill rotWithShape="1">
          <a:blip r:embed="rId9">
            <a:alphaModFix/>
          </a:blip>
          <a:srcRect b="0" l="0" r="0" t="0"/>
          <a:stretch/>
        </p:blipFill>
        <p:spPr>
          <a:xfrm>
            <a:off x="15579725" y="-152400"/>
            <a:ext cx="95250" cy="85725"/>
          </a:xfrm>
          <a:prstGeom prst="rect">
            <a:avLst/>
          </a:prstGeom>
          <a:noFill/>
          <a:ln>
            <a:noFill/>
          </a:ln>
        </p:spPr>
      </p:pic>
      <p:sp>
        <p:nvSpPr>
          <p:cNvPr id="663" name="Google Shape;663;p4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46"/>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70" name="Google Shape;670;p46"/>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71" name="Google Shape;671;p46"/>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72" name="Google Shape;672;p46"/>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673" name="Google Shape;673;p46"/>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674" name="Google Shape;674;p46"/>
          <p:cNvSpPr txBox="1"/>
          <p:nvPr/>
        </p:nvSpPr>
        <p:spPr>
          <a:xfrm>
            <a:off x="4894262" y="1201737"/>
            <a:ext cx="18240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Betweenness</a:t>
            </a:r>
            <a:endParaRPr/>
          </a:p>
        </p:txBody>
      </p:sp>
      <p:sp>
        <p:nvSpPr>
          <p:cNvPr id="675" name="Google Shape;675;p46"/>
          <p:cNvSpPr txBox="1"/>
          <p:nvPr/>
        </p:nvSpPr>
        <p:spPr>
          <a:xfrm>
            <a:off x="3798887" y="6451600"/>
            <a:ext cx="44164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cluster_edge_betweenness()</a:t>
            </a:r>
            <a:endParaRPr/>
          </a:p>
        </p:txBody>
      </p:sp>
      <p:sp>
        <p:nvSpPr>
          <p:cNvPr id="676" name="Google Shape;676;p46"/>
          <p:cNvSpPr txBox="1"/>
          <p:nvPr/>
        </p:nvSpPr>
        <p:spPr>
          <a:xfrm>
            <a:off x="1797050" y="1763712"/>
            <a:ext cx="9074150" cy="37226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Betweenness </a:t>
            </a:r>
            <a:r>
              <a:rPr b="0" i="0" lang="en-US" sz="2400" u="none">
                <a:solidFill>
                  <a:schemeClr val="dk1"/>
                </a:solidFill>
                <a:latin typeface="Arial"/>
                <a:ea typeface="Arial"/>
                <a:cs typeface="Arial"/>
                <a:sym typeface="Arial"/>
              </a:rPr>
              <a:t>– число кратчайших путей, проходящих через данное ребро. Метод разработан Ньюманом и Гирваном (наиболее популярен на сегодня).</a:t>
            </a:r>
            <a:endParaRPr/>
          </a:p>
          <a:p>
            <a:pPr indent="0" lvl="0" marL="0" marR="0" rtl="0" algn="l">
              <a:lnSpc>
                <a:spcPct val="100000"/>
              </a:lnSpc>
              <a:spcBef>
                <a:spcPts val="0"/>
              </a:spcBef>
              <a:spcAft>
                <a:spcPts val="0"/>
              </a:spcAft>
              <a:buClr>
                <a:schemeClr val="dk1"/>
              </a:buClr>
              <a:buSzPts val="2400"/>
              <a:buFont typeface="Arial"/>
              <a:buNone/>
            </a:pPr>
            <a:r>
              <a:rPr b="1" i="1" lang="en-US" sz="2400" u="none">
                <a:solidFill>
                  <a:schemeClr val="dk1"/>
                </a:solidFill>
                <a:latin typeface="Arial"/>
                <a:ea typeface="Arial"/>
                <a:cs typeface="Arial"/>
                <a:sym typeface="Arial"/>
              </a:rPr>
              <a:t>Алгоритм:</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1. Подсчет коэффициентов “центральности по посредничеству” на всех ребрах графа.</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2. Поочередное удаление ребер с самым большим коэффициентом.</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3. Сообществами считаются оставшиеся компоненты связности.</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4. Процедура удаления связей завершается, когда достигает максимума модулярность результирующего разбиения.</a:t>
            </a:r>
            <a:endParaRPr/>
          </a:p>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pic>
        <p:nvPicPr>
          <p:cNvPr descr="\sigma_{st}" id="677" name="Google Shape;677;p46"/>
          <p:cNvPicPr preferRelativeResize="0"/>
          <p:nvPr/>
        </p:nvPicPr>
        <p:blipFill rotWithShape="1">
          <a:blip r:embed="rId3">
            <a:alphaModFix/>
          </a:blip>
          <a:srcRect b="0" l="0" r="0" t="0"/>
          <a:stretch/>
        </p:blipFill>
        <p:spPr>
          <a:xfrm>
            <a:off x="2119312" y="-152400"/>
            <a:ext cx="219075" cy="114300"/>
          </a:xfrm>
          <a:prstGeom prst="rect">
            <a:avLst/>
          </a:prstGeom>
          <a:noFill/>
          <a:ln>
            <a:noFill/>
          </a:ln>
        </p:spPr>
      </p:pic>
      <p:pic>
        <p:nvPicPr>
          <p:cNvPr descr="s" id="678" name="Google Shape;678;p46"/>
          <p:cNvPicPr preferRelativeResize="0"/>
          <p:nvPr/>
        </p:nvPicPr>
        <p:blipFill rotWithShape="1">
          <a:blip r:embed="rId4">
            <a:alphaModFix/>
          </a:blip>
          <a:srcRect b="0" l="0" r="0" t="0"/>
          <a:stretch/>
        </p:blipFill>
        <p:spPr>
          <a:xfrm>
            <a:off x="7172325" y="-152400"/>
            <a:ext cx="76200" cy="85725"/>
          </a:xfrm>
          <a:prstGeom prst="rect">
            <a:avLst/>
          </a:prstGeom>
          <a:noFill/>
          <a:ln>
            <a:noFill/>
          </a:ln>
        </p:spPr>
      </p:pic>
      <p:pic>
        <p:nvPicPr>
          <p:cNvPr descr="t" id="679" name="Google Shape;679;p46"/>
          <p:cNvPicPr preferRelativeResize="0"/>
          <p:nvPr/>
        </p:nvPicPr>
        <p:blipFill rotWithShape="1">
          <a:blip r:embed="rId5">
            <a:alphaModFix/>
          </a:blip>
          <a:srcRect b="0" l="0" r="0" t="0"/>
          <a:stretch/>
        </p:blipFill>
        <p:spPr>
          <a:xfrm>
            <a:off x="8245475" y="-152400"/>
            <a:ext cx="66675" cy="123825"/>
          </a:xfrm>
          <a:prstGeom prst="rect">
            <a:avLst/>
          </a:prstGeom>
          <a:noFill/>
          <a:ln>
            <a:noFill/>
          </a:ln>
        </p:spPr>
      </p:pic>
      <p:pic>
        <p:nvPicPr>
          <p:cNvPr descr="\sigma_{st}(v)" id="680" name="Google Shape;680;p46"/>
          <p:cNvPicPr preferRelativeResize="0"/>
          <p:nvPr/>
        </p:nvPicPr>
        <p:blipFill rotWithShape="1">
          <a:blip r:embed="rId6">
            <a:alphaModFix/>
          </a:blip>
          <a:srcRect b="0" l="0" r="0" t="0"/>
          <a:stretch/>
        </p:blipFill>
        <p:spPr>
          <a:xfrm>
            <a:off x="8904287" y="-152400"/>
            <a:ext cx="447675" cy="200025"/>
          </a:xfrm>
          <a:prstGeom prst="rect">
            <a:avLst/>
          </a:prstGeom>
          <a:noFill/>
          <a:ln>
            <a:noFill/>
          </a:ln>
        </p:spPr>
      </p:pic>
      <p:pic>
        <p:nvPicPr>
          <p:cNvPr descr="v" id="681" name="Google Shape;681;p46"/>
          <p:cNvPicPr preferRelativeResize="0"/>
          <p:nvPr/>
        </p:nvPicPr>
        <p:blipFill rotWithShape="1">
          <a:blip r:embed="rId7">
            <a:alphaModFix/>
          </a:blip>
          <a:srcRect b="0" l="0" r="0" t="0"/>
          <a:stretch/>
        </p:blipFill>
        <p:spPr>
          <a:xfrm>
            <a:off x="15579725" y="-152400"/>
            <a:ext cx="95250" cy="85725"/>
          </a:xfrm>
          <a:prstGeom prst="rect">
            <a:avLst/>
          </a:prstGeom>
          <a:noFill/>
          <a:ln>
            <a:noFill/>
          </a:ln>
        </p:spPr>
      </p:pic>
      <p:sp>
        <p:nvSpPr>
          <p:cNvPr id="682" name="Google Shape;682;p46"/>
          <p:cNvSpPr txBox="1"/>
          <p:nvPr/>
        </p:nvSpPr>
        <p:spPr>
          <a:xfrm>
            <a:off x="1703387" y="5186362"/>
            <a:ext cx="9382125" cy="1322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1" lang="en-US" sz="2000" u="none">
                <a:solidFill>
                  <a:schemeClr val="dk1"/>
                </a:solidFill>
                <a:latin typeface="Arial"/>
                <a:ea typeface="Arial"/>
                <a:cs typeface="Arial"/>
                <a:sym typeface="Arial"/>
              </a:rPr>
              <a:t>Является одним из первых алгоритмов по выделению сообществ в сетях. Однако, подсчет коэффициентов на ребрах характеризуется  высокой вычислительной сложностью и значительными временными затратами. Сложность метода </a:t>
            </a:r>
            <a:r>
              <a:rPr b="1" i="1" lang="en-US" sz="2000" u="none">
                <a:solidFill>
                  <a:schemeClr val="dk1"/>
                </a:solidFill>
                <a:latin typeface="Arial"/>
                <a:ea typeface="Arial"/>
                <a:cs typeface="Arial"/>
                <a:sym typeface="Arial"/>
              </a:rPr>
              <a:t>O(m</a:t>
            </a:r>
            <a:r>
              <a:rPr b="1" baseline="30000" i="1" lang="en-US" sz="2000" u="none">
                <a:solidFill>
                  <a:schemeClr val="dk1"/>
                </a:solidFill>
                <a:latin typeface="Arial"/>
                <a:ea typeface="Arial"/>
                <a:cs typeface="Arial"/>
                <a:sym typeface="Arial"/>
              </a:rPr>
              <a:t>2</a:t>
            </a:r>
            <a:r>
              <a:rPr b="1" i="1" lang="en-US" sz="2000" u="none">
                <a:solidFill>
                  <a:schemeClr val="dk1"/>
                </a:solidFill>
                <a:latin typeface="Arial"/>
                <a:ea typeface="Arial"/>
                <a:cs typeface="Arial"/>
                <a:sym typeface="Arial"/>
              </a:rPr>
              <a:t>n).</a:t>
            </a:r>
            <a:endParaRPr/>
          </a:p>
        </p:txBody>
      </p:sp>
      <p:sp>
        <p:nvSpPr>
          <p:cNvPr id="683" name="Google Shape;683;p46"/>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7"/>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90" name="Google Shape;690;p47"/>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91" name="Google Shape;691;p47"/>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692" name="Google Shape;692;p47"/>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693" name="Google Shape;693;p47"/>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694" name="Google Shape;694;p47"/>
          <p:cNvSpPr txBox="1"/>
          <p:nvPr/>
        </p:nvSpPr>
        <p:spPr>
          <a:xfrm>
            <a:off x="1635125" y="1997075"/>
            <a:ext cx="9594850" cy="3170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Центральность по посредничеству считается как количество кратчайших путей между всеми парами вершин, проходящих через данное ребро. Если между вершинами </a:t>
            </a:r>
            <a:r>
              <a:rPr b="0" i="1" lang="en-US" sz="2000" u="none">
                <a:solidFill>
                  <a:schemeClr val="dk1"/>
                </a:solidFill>
                <a:latin typeface="Arial"/>
                <a:ea typeface="Arial"/>
                <a:cs typeface="Arial"/>
                <a:sym typeface="Arial"/>
              </a:rPr>
              <a:t>N </a:t>
            </a:r>
            <a:r>
              <a:rPr b="0" i="0" lang="en-US" sz="2000" u="none">
                <a:solidFill>
                  <a:schemeClr val="dk1"/>
                </a:solidFill>
                <a:latin typeface="Arial"/>
                <a:ea typeface="Arial"/>
                <a:cs typeface="Arial"/>
                <a:sym typeface="Arial"/>
              </a:rPr>
              <a:t>кратчайших путей, то каждому ребру прибавляется 1/</a:t>
            </a:r>
            <a:r>
              <a:rPr b="0" i="1" lang="en-US" sz="2000" u="none">
                <a:solidFill>
                  <a:schemeClr val="dk1"/>
                </a:solidFill>
                <a:latin typeface="Arial"/>
                <a:ea typeface="Arial"/>
                <a:cs typeface="Arial"/>
                <a:sym typeface="Arial"/>
              </a:rPr>
              <a:t>N</a:t>
            </a:r>
            <a:r>
              <a:rPr b="0" i="0" lang="en-US" sz="2000" u="none">
                <a:solidFill>
                  <a:schemeClr val="dk1"/>
                </a:solidFill>
                <a:latin typeface="Arial"/>
                <a:ea typeface="Arial"/>
                <a:cs typeface="Arial"/>
                <a:sym typeface="Arial"/>
              </a:rPr>
              <a:t> к значению коэффициента. Чем больше данная величина, тем более вероятно, что данное ребро соединяет вершины из разных сообществ. Например, в крайней ситуации, когда разные группы соединены одним ребром, все кратчайшие пути из одного сообщества в другое проходят через это ребро (рис.). Отметим, что данный алгоритм имеет множество модификаций, которые сводятся к подсчету других реберных коэффициентов, либо замены модулярности другим схожим функционалом.</a:t>
            </a:r>
            <a:endParaRPr/>
          </a:p>
        </p:txBody>
      </p:sp>
      <p:sp>
        <p:nvSpPr>
          <p:cNvPr id="695" name="Google Shape;695;p47"/>
          <p:cNvSpPr txBox="1"/>
          <p:nvPr/>
        </p:nvSpPr>
        <p:spPr>
          <a:xfrm>
            <a:off x="4894262" y="1201737"/>
            <a:ext cx="18240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Betweenness</a:t>
            </a:r>
            <a:endParaRPr/>
          </a:p>
        </p:txBody>
      </p:sp>
      <p:pic>
        <p:nvPicPr>
          <p:cNvPr id="696" name="Google Shape;696;p47"/>
          <p:cNvPicPr preferRelativeResize="0"/>
          <p:nvPr/>
        </p:nvPicPr>
        <p:blipFill rotWithShape="1">
          <a:blip r:embed="rId3">
            <a:alphaModFix/>
          </a:blip>
          <a:srcRect b="0" l="0" r="0" t="0"/>
          <a:stretch/>
        </p:blipFill>
        <p:spPr>
          <a:xfrm>
            <a:off x="1870075" y="5219700"/>
            <a:ext cx="3240087" cy="1512887"/>
          </a:xfrm>
          <a:prstGeom prst="rect">
            <a:avLst/>
          </a:prstGeom>
          <a:noFill/>
          <a:ln>
            <a:noFill/>
          </a:ln>
        </p:spPr>
      </p:pic>
      <p:sp>
        <p:nvSpPr>
          <p:cNvPr id="697" name="Google Shape;697;p47"/>
          <p:cNvSpPr txBox="1"/>
          <p:nvPr/>
        </p:nvSpPr>
        <p:spPr>
          <a:xfrm>
            <a:off x="5181600" y="5219700"/>
            <a:ext cx="5978525" cy="1476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Граф, для ребер которого подсчитаны значения коэффициентов betweenness. Если удалить ребро с самым большим значением (15), то граф разделится на 2 компоненты связности, которые можно рассматривать как 2 сообщества в исходном графе.</a:t>
            </a:r>
            <a:endParaRPr/>
          </a:p>
        </p:txBody>
      </p:sp>
      <p:sp>
        <p:nvSpPr>
          <p:cNvPr id="698" name="Google Shape;698;p47"/>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8"/>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05" name="Google Shape;705;p48"/>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06" name="Google Shape;706;p48"/>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07" name="Google Shape;707;p48"/>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08" name="Google Shape;708;p48"/>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09" name="Google Shape;709;p48"/>
          <p:cNvSpPr txBox="1"/>
          <p:nvPr/>
        </p:nvSpPr>
        <p:spPr>
          <a:xfrm>
            <a:off x="1812925" y="1992312"/>
            <a:ext cx="9269412" cy="45227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Данный метод заключается в жадной оптимизации модулярности. </a:t>
            </a:r>
            <a:endParaRPr/>
          </a:p>
          <a:p>
            <a:pPr indent="0" lvl="0" marL="0" marR="0" rtl="0" algn="l">
              <a:lnSpc>
                <a:spcPct val="100000"/>
              </a:lnSpc>
              <a:spcBef>
                <a:spcPts val="0"/>
              </a:spcBef>
              <a:spcAft>
                <a:spcPts val="0"/>
              </a:spcAft>
              <a:buClr>
                <a:schemeClr val="dk1"/>
              </a:buClr>
              <a:buSzPts val="2400"/>
              <a:buFont typeface="Arial"/>
              <a:buNone/>
            </a:pPr>
            <a:r>
              <a:rPr b="0" i="1" lang="en-US" sz="2400" u="none">
                <a:solidFill>
                  <a:schemeClr val="dk1"/>
                </a:solidFill>
                <a:latin typeface="Arial"/>
                <a:ea typeface="Arial"/>
                <a:cs typeface="Arial"/>
                <a:sym typeface="Arial"/>
              </a:rPr>
              <a:t>Алгоритм:</a:t>
            </a:r>
            <a:endParaRPr/>
          </a:p>
          <a:p>
            <a:pPr indent="-152400" lvl="0" marL="0" marR="0" rtl="0" algn="l">
              <a:lnSpc>
                <a:spcPct val="100000"/>
              </a:lnSpc>
              <a:spcBef>
                <a:spcPts val="0"/>
              </a:spcBef>
              <a:spcAft>
                <a:spcPts val="0"/>
              </a:spcAft>
              <a:buClr>
                <a:schemeClr val="dk1"/>
              </a:buClr>
              <a:buSzPts val="2400"/>
              <a:buFont typeface="Calibri"/>
              <a:buAutoNum type="arabicPeriod"/>
            </a:pPr>
            <a:r>
              <a:rPr b="0" i="0" lang="en-US" sz="2400" u="none">
                <a:solidFill>
                  <a:schemeClr val="dk1"/>
                </a:solidFill>
                <a:latin typeface="Arial"/>
                <a:ea typeface="Arial"/>
                <a:cs typeface="Arial"/>
                <a:sym typeface="Arial"/>
              </a:rPr>
              <a:t>Инициализация сообществ в каждой вершине (каждая вершина – отдельное сообщество).</a:t>
            </a:r>
            <a:endParaRPr/>
          </a:p>
          <a:p>
            <a:pPr indent="-152400" lvl="0" marL="0" marR="0" rtl="0" algn="l">
              <a:lnSpc>
                <a:spcPct val="100000"/>
              </a:lnSpc>
              <a:spcBef>
                <a:spcPts val="0"/>
              </a:spcBef>
              <a:spcAft>
                <a:spcPts val="0"/>
              </a:spcAft>
              <a:buClr>
                <a:schemeClr val="dk1"/>
              </a:buClr>
              <a:buSzPts val="2400"/>
              <a:buFont typeface="Calibri"/>
              <a:buAutoNum type="arabicPeriod"/>
            </a:pPr>
            <a:r>
              <a:rPr b="0" i="0" lang="en-US" sz="2400" u="none">
                <a:solidFill>
                  <a:schemeClr val="dk1"/>
                </a:solidFill>
                <a:latin typeface="Arial"/>
                <a:ea typeface="Arial"/>
                <a:cs typeface="Arial"/>
                <a:sym typeface="Arial"/>
              </a:rPr>
              <a:t>Объединение сообществ, в результате которого максимальным образом увеличивается модулярность.</a:t>
            </a:r>
            <a:endParaRPr/>
          </a:p>
          <a:p>
            <a:pPr indent="-152400" lvl="0" marL="0" marR="0" rtl="0" algn="l">
              <a:lnSpc>
                <a:spcPct val="100000"/>
              </a:lnSpc>
              <a:spcBef>
                <a:spcPts val="0"/>
              </a:spcBef>
              <a:spcAft>
                <a:spcPts val="0"/>
              </a:spcAft>
              <a:buClr>
                <a:schemeClr val="dk1"/>
              </a:buClr>
              <a:buSzPts val="2400"/>
              <a:buFont typeface="Calibri"/>
              <a:buAutoNum type="arabicPeriod"/>
            </a:pPr>
            <a:r>
              <a:rPr b="0" i="0" lang="en-US" sz="2400" u="none">
                <a:solidFill>
                  <a:schemeClr val="dk1"/>
                </a:solidFill>
                <a:latin typeface="Arial"/>
                <a:ea typeface="Arial"/>
                <a:cs typeface="Arial"/>
                <a:sym typeface="Arial"/>
              </a:rPr>
              <a:t>Выход, если дальнейшее увеличение значения функционала невозможно. </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Обычно на втором шаге перебираются не все пары сообществ, а только те, между вершинами которых существуют связи.</a:t>
            </a:r>
            <a:br>
              <a:rPr b="0" i="0" lang="en-US" sz="2400" u="none">
                <a:solidFill>
                  <a:schemeClr val="dk1"/>
                </a:solidFill>
                <a:latin typeface="Arial"/>
                <a:ea typeface="Arial"/>
                <a:cs typeface="Arial"/>
                <a:sym typeface="Arial"/>
              </a:rPr>
            </a:br>
            <a:endParaRPr/>
          </a:p>
        </p:txBody>
      </p:sp>
      <p:sp>
        <p:nvSpPr>
          <p:cNvPr id="710" name="Google Shape;710;p48"/>
          <p:cNvSpPr txBox="1"/>
          <p:nvPr/>
        </p:nvSpPr>
        <p:spPr>
          <a:xfrm>
            <a:off x="5284787" y="1219200"/>
            <a:ext cx="155416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Fastgreedy</a:t>
            </a:r>
            <a:endParaRPr/>
          </a:p>
        </p:txBody>
      </p:sp>
      <p:sp>
        <p:nvSpPr>
          <p:cNvPr id="711" name="Google Shape;711;p48"/>
          <p:cNvSpPr txBox="1"/>
          <p:nvPr/>
        </p:nvSpPr>
        <p:spPr>
          <a:xfrm>
            <a:off x="4579937" y="6434137"/>
            <a:ext cx="37369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cluster_fast_greedy()</a:t>
            </a:r>
            <a:endParaRPr/>
          </a:p>
        </p:txBody>
      </p:sp>
      <p:sp>
        <p:nvSpPr>
          <p:cNvPr id="712" name="Google Shape;712;p48"/>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49"/>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19" name="Google Shape;719;p49"/>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20" name="Google Shape;720;p49"/>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21" name="Google Shape;721;p49"/>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22" name="Google Shape;722;p49"/>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23" name="Google Shape;723;p49"/>
          <p:cNvSpPr txBox="1"/>
          <p:nvPr/>
        </p:nvSpPr>
        <p:spPr>
          <a:xfrm>
            <a:off x="1789112" y="2205037"/>
            <a:ext cx="9090025" cy="3816350"/>
          </a:xfrm>
          <a:prstGeom prst="rect">
            <a:avLst/>
          </a:prstGeom>
          <a:noFill/>
          <a:ln>
            <a:noFill/>
          </a:ln>
        </p:spPr>
        <p:txBody>
          <a:bodyPr anchorCtr="0" anchor="t" bIns="45700" lIns="91425" spcFirstLastPara="1" rIns="91425" wrap="square" tIns="45700">
            <a:spAutoFit/>
          </a:bodyPr>
          <a:lstStyle/>
          <a:p>
            <a:pPr indent="363537"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Данный алгоритм является быстрым и вычислительно простым, что позволяет применять его для больших графов, таких как граф Интернет-ресурсов. Так же в него легко добавить априорную информацию о составе кластеров, например, если известно, что какие-то конкретные вершины должны лежать в одном кластере.</a:t>
            </a:r>
            <a:endParaRPr b="0" i="1" sz="2200" u="none">
              <a:solidFill>
                <a:schemeClr val="dk1"/>
              </a:solidFill>
              <a:latin typeface="Times New Roman"/>
              <a:ea typeface="Times New Roman"/>
              <a:cs typeface="Times New Roman"/>
              <a:sym typeface="Times New Roman"/>
            </a:endParaRPr>
          </a:p>
          <a:p>
            <a:pPr indent="363537" lvl="0" marL="0" marR="0" rtl="0" algn="l">
              <a:lnSpc>
                <a:spcPct val="100000"/>
              </a:lnSpc>
              <a:spcBef>
                <a:spcPts val="0"/>
              </a:spcBef>
              <a:spcAft>
                <a:spcPts val="0"/>
              </a:spcAft>
              <a:buClr>
                <a:schemeClr val="dk1"/>
              </a:buClr>
              <a:buSzPts val="2200"/>
              <a:buFont typeface="Arial"/>
              <a:buNone/>
            </a:pPr>
            <a:r>
              <a:t/>
            </a:r>
            <a:endParaRPr b="0" i="0" sz="2200" u="none">
              <a:solidFill>
                <a:schemeClr val="dk1"/>
              </a:solidFill>
              <a:latin typeface="Arial"/>
              <a:ea typeface="Arial"/>
              <a:cs typeface="Arial"/>
              <a:sym typeface="Arial"/>
            </a:endParaRPr>
          </a:p>
          <a:p>
            <a:pPr indent="363537"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Однако, метод содержит в себе все недостатки, свойственные жадным методам, и сходится не к самому лучшему решению. Часто метод порождает одно большое сообщество с большинством вершин графа в нем и множество отдельно стоящих маленьких [4].</a:t>
            </a:r>
            <a:br>
              <a:rPr b="0" i="0" lang="en-US" sz="2200" u="none">
                <a:solidFill>
                  <a:schemeClr val="dk1"/>
                </a:solidFill>
                <a:latin typeface="Arial"/>
                <a:ea typeface="Arial"/>
                <a:cs typeface="Arial"/>
                <a:sym typeface="Arial"/>
              </a:rPr>
            </a:br>
            <a:r>
              <a:rPr b="0" i="0" lang="en-US" sz="2200" u="none">
                <a:solidFill>
                  <a:schemeClr val="dk1"/>
                </a:solidFill>
                <a:latin typeface="Arial"/>
                <a:ea typeface="Arial"/>
                <a:cs typeface="Arial"/>
                <a:sym typeface="Arial"/>
              </a:rPr>
              <a:t>Сложность метода - </a:t>
            </a:r>
            <a:r>
              <a:rPr b="1" i="1" lang="en-US" sz="2200" u="none">
                <a:solidFill>
                  <a:schemeClr val="dk1"/>
                </a:solidFill>
                <a:latin typeface="Arial"/>
                <a:ea typeface="Arial"/>
                <a:cs typeface="Arial"/>
                <a:sym typeface="Arial"/>
              </a:rPr>
              <a:t>O</a:t>
            </a:r>
            <a:r>
              <a:rPr b="1" i="0" lang="en-US" sz="2200" u="none">
                <a:solidFill>
                  <a:schemeClr val="dk1"/>
                </a:solidFill>
                <a:latin typeface="Arial"/>
                <a:ea typeface="Arial"/>
                <a:cs typeface="Arial"/>
                <a:sym typeface="Arial"/>
              </a:rPr>
              <a:t>(</a:t>
            </a:r>
            <a:r>
              <a:rPr b="1" i="1" lang="en-US" sz="2200" u="none">
                <a:solidFill>
                  <a:schemeClr val="dk1"/>
                </a:solidFill>
                <a:latin typeface="Arial"/>
                <a:ea typeface="Arial"/>
                <a:cs typeface="Arial"/>
                <a:sym typeface="Arial"/>
              </a:rPr>
              <a:t>mn</a:t>
            </a:r>
            <a:r>
              <a:rPr b="1" i="0" lang="en-US" sz="2200" u="none">
                <a:solidFill>
                  <a:schemeClr val="dk1"/>
                </a:solidFill>
                <a:latin typeface="Arial"/>
                <a:ea typeface="Arial"/>
                <a:cs typeface="Arial"/>
                <a:sym typeface="Arial"/>
              </a:rPr>
              <a:t>).</a:t>
            </a:r>
            <a:endParaRPr/>
          </a:p>
        </p:txBody>
      </p:sp>
      <p:sp>
        <p:nvSpPr>
          <p:cNvPr id="724" name="Google Shape;724;p49"/>
          <p:cNvSpPr txBox="1"/>
          <p:nvPr/>
        </p:nvSpPr>
        <p:spPr>
          <a:xfrm>
            <a:off x="5299075" y="1219200"/>
            <a:ext cx="155416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Fastgreedy</a:t>
            </a:r>
            <a:endParaRPr/>
          </a:p>
        </p:txBody>
      </p:sp>
      <p:sp>
        <p:nvSpPr>
          <p:cNvPr id="725" name="Google Shape;725;p49"/>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50"/>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32" name="Google Shape;732;p50"/>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33" name="Google Shape;733;p50"/>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34" name="Google Shape;734;p50"/>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35" name="Google Shape;735;p50"/>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36" name="Google Shape;736;p50"/>
          <p:cNvSpPr txBox="1"/>
          <p:nvPr/>
        </p:nvSpPr>
        <p:spPr>
          <a:xfrm>
            <a:off x="5299075" y="1219200"/>
            <a:ext cx="155416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Fastgreedy</a:t>
            </a:r>
            <a:endParaRPr/>
          </a:p>
        </p:txBody>
      </p:sp>
      <p:pic>
        <p:nvPicPr>
          <p:cNvPr id="737" name="Google Shape;737;p50"/>
          <p:cNvPicPr preferRelativeResize="0"/>
          <p:nvPr/>
        </p:nvPicPr>
        <p:blipFill rotWithShape="1">
          <a:blip r:embed="rId3">
            <a:alphaModFix/>
          </a:blip>
          <a:srcRect b="0" l="0" r="0" t="0"/>
          <a:stretch/>
        </p:blipFill>
        <p:spPr>
          <a:xfrm>
            <a:off x="2419350" y="1784350"/>
            <a:ext cx="6911975" cy="3290887"/>
          </a:xfrm>
          <a:prstGeom prst="rect">
            <a:avLst/>
          </a:prstGeom>
          <a:noFill/>
          <a:ln>
            <a:noFill/>
          </a:ln>
        </p:spPr>
      </p:pic>
      <p:pic>
        <p:nvPicPr>
          <p:cNvPr id="738" name="Google Shape;738;p50"/>
          <p:cNvPicPr preferRelativeResize="0"/>
          <p:nvPr/>
        </p:nvPicPr>
        <p:blipFill rotWithShape="1">
          <a:blip r:embed="rId4">
            <a:alphaModFix/>
          </a:blip>
          <a:srcRect b="0" l="0" r="0" t="0"/>
          <a:stretch/>
        </p:blipFill>
        <p:spPr>
          <a:xfrm>
            <a:off x="2419350" y="5075237"/>
            <a:ext cx="5657850" cy="1695450"/>
          </a:xfrm>
          <a:prstGeom prst="rect">
            <a:avLst/>
          </a:prstGeom>
          <a:noFill/>
          <a:ln>
            <a:noFill/>
          </a:ln>
        </p:spPr>
      </p:pic>
      <p:sp>
        <p:nvSpPr>
          <p:cNvPr id="739" name="Google Shape;739;p50"/>
          <p:cNvSpPr txBox="1"/>
          <p:nvPr/>
        </p:nvSpPr>
        <p:spPr>
          <a:xfrm>
            <a:off x="8159750" y="5437187"/>
            <a:ext cx="2578100"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10 самых больших сообществ в сети рекомендаций Amazon. 87% вершин</a:t>
            </a:r>
            <a:br>
              <a:rPr b="0" i="0" lang="en-US" sz="1600" u="none">
                <a:solidFill>
                  <a:schemeClr val="dk1"/>
                </a:solidFill>
                <a:latin typeface="Arial"/>
                <a:ea typeface="Arial"/>
                <a:cs typeface="Arial"/>
                <a:sym typeface="Arial"/>
              </a:rPr>
            </a:br>
            <a:endParaRPr/>
          </a:p>
        </p:txBody>
      </p:sp>
      <p:sp>
        <p:nvSpPr>
          <p:cNvPr id="740" name="Google Shape;740;p50"/>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51"/>
          <p:cNvSpPr/>
          <p:nvPr/>
        </p:nvSpPr>
        <p:spPr>
          <a:xfrm>
            <a:off x="1438275" y="322262"/>
            <a:ext cx="9791700" cy="6624637"/>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47" name="Google Shape;747;p51"/>
          <p:cNvSpPr/>
          <p:nvPr/>
        </p:nvSpPr>
        <p:spPr>
          <a:xfrm>
            <a:off x="2085975" y="395287"/>
            <a:ext cx="8351837" cy="86995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48" name="Google Shape;748;p51"/>
          <p:cNvSpPr/>
          <p:nvPr/>
        </p:nvSpPr>
        <p:spPr>
          <a:xfrm>
            <a:off x="1582737" y="1422400"/>
            <a:ext cx="9431337" cy="5387975"/>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49" name="Google Shape;749;p51"/>
          <p:cNvSpPr txBox="1"/>
          <p:nvPr>
            <p:ph type="title"/>
          </p:nvPr>
        </p:nvSpPr>
        <p:spPr>
          <a:xfrm>
            <a:off x="2193925" y="322262"/>
            <a:ext cx="8243887" cy="7778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50" name="Google Shape;750;p51"/>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51" name="Google Shape;751;p51"/>
          <p:cNvSpPr txBox="1"/>
          <p:nvPr/>
        </p:nvSpPr>
        <p:spPr>
          <a:xfrm>
            <a:off x="1743075" y="1546225"/>
            <a:ext cx="9486900" cy="5264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Более продвинутая схема оптимизации того же функционала, которая, судя по экспериментам, выигрывает по качеству у алгоритма жадной оптимизации. Алгоритм состоит из двух этапов.</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1. Инициализация сообществ в каждой вершине.</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Первый Этап</a:t>
            </a:r>
            <a:endParaRPr b="0" i="0" sz="2000" u="none">
              <a:solidFill>
                <a:schemeClr val="dk1"/>
              </a:solidFill>
              <a:latin typeface="Arial"/>
              <a:ea typeface="Arial"/>
              <a:cs typeface="Arial"/>
              <a:sym typeface="Arial"/>
            </a:endParaRPr>
          </a:p>
          <a:p>
            <a:pPr indent="-2698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(а) Для каждой вершины рассматриваем изменение модулярности при перемещении данной вершины в сообщество вершины-соседа. Выбираем самое выгодное перемещение, если оно увеличивает значение функционала.</a:t>
            </a:r>
            <a:endParaRPr/>
          </a:p>
          <a:p>
            <a:pPr indent="-2698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(б) Выполнять первый шаг до тех пор, пока дальнейшее увеличение значения функционала невозможно.</a:t>
            </a:r>
            <a:endParaRPr/>
          </a:p>
          <a:p>
            <a:pPr indent="-2698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(в) Если никаких перемещений вершин не произошло (т.е. все вершины лежат в своих собственных кластерах) — выход.</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Второй Этап</a:t>
            </a:r>
            <a:endParaRPr b="0" i="0" sz="2000" u="none">
              <a:solidFill>
                <a:schemeClr val="dk1"/>
              </a:solidFill>
              <a:latin typeface="Arial"/>
              <a:ea typeface="Arial"/>
              <a:cs typeface="Arial"/>
              <a:sym typeface="Arial"/>
            </a:endParaRPr>
          </a:p>
          <a:p>
            <a:pPr indent="-2698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(а) Создать новый граф с метавершинами в виде найденных сообществ и ребрами с суммарным весом всех ребер, идущих от одного сообщества к другому (так же появятся петли с суммарными весами связей внутри сообщества). Такой граф будем называть метаграфом.</a:t>
            </a:r>
            <a:endParaRPr/>
          </a:p>
          <a:p>
            <a:pPr indent="-269874" lvl="1" marL="719137"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(б) Перезапустить Алгоритм на новом графе.</a:t>
            </a:r>
            <a:endParaRPr/>
          </a:p>
        </p:txBody>
      </p:sp>
      <p:sp>
        <p:nvSpPr>
          <p:cNvPr id="752" name="Google Shape;752;p51"/>
          <p:cNvSpPr txBox="1"/>
          <p:nvPr/>
        </p:nvSpPr>
        <p:spPr>
          <a:xfrm>
            <a:off x="3273425" y="865187"/>
            <a:ext cx="608488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Multilevel – алгоритм распространения меток</a:t>
            </a:r>
            <a:endParaRPr/>
          </a:p>
        </p:txBody>
      </p:sp>
      <p:sp>
        <p:nvSpPr>
          <p:cNvPr id="753" name="Google Shape;753;p5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52"/>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60" name="Google Shape;760;p52"/>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61" name="Google Shape;761;p52"/>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62" name="Google Shape;762;p52"/>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63" name="Google Shape;763;p52"/>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64" name="Google Shape;764;p52"/>
          <p:cNvSpPr txBox="1"/>
          <p:nvPr/>
        </p:nvSpPr>
        <p:spPr>
          <a:xfrm>
            <a:off x="3336925" y="1258887"/>
            <a:ext cx="608488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Multilevel – алгоритм распространения меток</a:t>
            </a:r>
            <a:endParaRPr/>
          </a:p>
        </p:txBody>
      </p:sp>
      <p:pic>
        <p:nvPicPr>
          <p:cNvPr id="765" name="Google Shape;765;p52"/>
          <p:cNvPicPr preferRelativeResize="0"/>
          <p:nvPr/>
        </p:nvPicPr>
        <p:blipFill rotWithShape="1">
          <a:blip r:embed="rId3">
            <a:alphaModFix/>
          </a:blip>
          <a:srcRect b="0" l="0" r="0" t="0"/>
          <a:stretch/>
        </p:blipFill>
        <p:spPr>
          <a:xfrm>
            <a:off x="3371850" y="3922712"/>
            <a:ext cx="5780087" cy="2665412"/>
          </a:xfrm>
          <a:prstGeom prst="rect">
            <a:avLst/>
          </a:prstGeom>
          <a:noFill/>
          <a:ln>
            <a:noFill/>
          </a:ln>
        </p:spPr>
      </p:pic>
      <p:sp>
        <p:nvSpPr>
          <p:cNvPr id="766" name="Google Shape;766;p52"/>
          <p:cNvSpPr txBox="1"/>
          <p:nvPr/>
        </p:nvSpPr>
        <p:spPr>
          <a:xfrm>
            <a:off x="3670300" y="6399212"/>
            <a:ext cx="59499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multilevel.communit(cluster_louvain)</a:t>
            </a:r>
            <a:endParaRPr/>
          </a:p>
        </p:txBody>
      </p:sp>
      <p:pic>
        <p:nvPicPr>
          <p:cNvPr id="767" name="Google Shape;767;p52"/>
          <p:cNvPicPr preferRelativeResize="0"/>
          <p:nvPr/>
        </p:nvPicPr>
        <p:blipFill rotWithShape="1">
          <a:blip r:embed="rId4">
            <a:alphaModFix/>
          </a:blip>
          <a:srcRect b="0" l="0" r="0" t="0"/>
          <a:stretch/>
        </p:blipFill>
        <p:spPr>
          <a:xfrm>
            <a:off x="2373312" y="1820862"/>
            <a:ext cx="7624762" cy="2098675"/>
          </a:xfrm>
          <a:prstGeom prst="rect">
            <a:avLst/>
          </a:prstGeom>
          <a:noFill/>
          <a:ln>
            <a:noFill/>
          </a:ln>
        </p:spPr>
      </p:pic>
      <p:sp>
        <p:nvSpPr>
          <p:cNvPr id="768" name="Google Shape;768;p5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3"/>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75" name="Google Shape;775;p53"/>
          <p:cNvSpPr/>
          <p:nvPr/>
        </p:nvSpPr>
        <p:spPr>
          <a:xfrm>
            <a:off x="1582737" y="1422400"/>
            <a:ext cx="9431337" cy="53086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76" name="Google Shape;776;p53"/>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77" name="Google Shape;777;p53"/>
          <p:cNvSpPr txBox="1"/>
          <p:nvPr/>
        </p:nvSpPr>
        <p:spPr>
          <a:xfrm>
            <a:off x="1581150" y="1546225"/>
            <a:ext cx="9271000" cy="50180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В ходе алгоритма модулярность увеличивается, т.е. в тот момент, когда не произошло объединение вершин на первом этапе, достигнут максимум функционала. Все те исходные вершины, которые входят в финальную метавершину, принадлежат одному кластеру.</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Создатели метода утверждают, что алгоритму требуется немного (3-4) перезапуска до останова, причем основная работа происходит на первом этапе с исходным графом.</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Алгоритм зависит от порядка перебора вершин на его первом этапе. Эксперименты авторов метода позволяют говорить о том, что порядок не сильно влияет на результат работы метода (если точнее, то на значение функционала), но может значительно влиять на время вычисления.</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Данный алгоритм </a:t>
            </a:r>
            <a:r>
              <a:rPr b="1" i="1" lang="en-US" sz="2000" u="none">
                <a:solidFill>
                  <a:schemeClr val="dk1"/>
                </a:solidFill>
                <a:latin typeface="Arial"/>
                <a:ea typeface="Arial"/>
                <a:cs typeface="Arial"/>
                <a:sym typeface="Arial"/>
              </a:rPr>
              <a:t>быстрый</a:t>
            </a:r>
            <a:r>
              <a:rPr b="0" i="0" lang="en-US" sz="2000" u="none">
                <a:solidFill>
                  <a:schemeClr val="dk1"/>
                </a:solidFill>
                <a:latin typeface="Arial"/>
                <a:ea typeface="Arial"/>
                <a:cs typeface="Arial"/>
                <a:sym typeface="Arial"/>
              </a:rPr>
              <a:t> и позволяет размечать сети огромного размера. За 152 минуты алгоритм выделил сообщества в веб-базе за 2001 год с сотней миллионов вершин и миллиардом связей. При сравнении данного метода с другими, они просто не справились с таким объемом даже за сутки [3].</a:t>
            </a:r>
            <a:endParaRPr/>
          </a:p>
        </p:txBody>
      </p:sp>
      <p:sp>
        <p:nvSpPr>
          <p:cNvPr id="778" name="Google Shape;778;p53"/>
          <p:cNvSpPr/>
          <p:nvPr/>
        </p:nvSpPr>
        <p:spPr>
          <a:xfrm>
            <a:off x="2085975" y="395287"/>
            <a:ext cx="8351837" cy="86995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79" name="Google Shape;779;p53"/>
          <p:cNvSpPr txBox="1"/>
          <p:nvPr>
            <p:ph type="title"/>
          </p:nvPr>
        </p:nvSpPr>
        <p:spPr>
          <a:xfrm>
            <a:off x="2193925" y="322262"/>
            <a:ext cx="8243887" cy="7778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80" name="Google Shape;780;p53"/>
          <p:cNvSpPr txBox="1"/>
          <p:nvPr/>
        </p:nvSpPr>
        <p:spPr>
          <a:xfrm>
            <a:off x="3273425" y="865187"/>
            <a:ext cx="608488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Multilevel – алгоритм распространения меток</a:t>
            </a:r>
            <a:endParaRPr/>
          </a:p>
        </p:txBody>
      </p:sp>
      <p:sp>
        <p:nvSpPr>
          <p:cNvPr id="781" name="Google Shape;781;p5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54"/>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88" name="Google Shape;788;p54"/>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89" name="Google Shape;789;p54"/>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790" name="Google Shape;790;p54"/>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791" name="Google Shape;791;p54"/>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792" name="Google Shape;792;p54"/>
          <p:cNvSpPr txBox="1"/>
          <p:nvPr/>
        </p:nvSpPr>
        <p:spPr>
          <a:xfrm>
            <a:off x="1743075" y="1895475"/>
            <a:ext cx="9271000" cy="48323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Метод, основанный на эвристике, что вершина относится к тому сообществу, что и большинство ее соседей. Метод характеризуется почти линейной сложностью.</a:t>
            </a:r>
            <a:endParaRPr/>
          </a:p>
          <a:p>
            <a:pPr indent="-457200" lvl="1" marL="1200150" marR="0" rtl="0" algn="l">
              <a:lnSpc>
                <a:spcPct val="100000"/>
              </a:lnSpc>
              <a:spcBef>
                <a:spcPts val="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Инициализация такая же, как и в предыдущих методах: каждой вершине  - по своему сообществу. </a:t>
            </a:r>
            <a:endParaRPr/>
          </a:p>
          <a:p>
            <a:pPr indent="-457200" lvl="1" marL="1200150" marR="0" rtl="0" algn="l">
              <a:lnSpc>
                <a:spcPct val="100000"/>
              </a:lnSpc>
              <a:spcBef>
                <a:spcPts val="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Далее, для каждой вершины, переопределяется номер ее сообщества, выбирая номер той группы, в которую входит большинство соседей данной вершины.</a:t>
            </a:r>
            <a:endParaRPr/>
          </a:p>
          <a:p>
            <a:pPr indent="-457200" lvl="1" marL="1200150" marR="0" rtl="0" algn="l">
              <a:lnSpc>
                <a:spcPct val="100000"/>
              </a:lnSpc>
              <a:spcBef>
                <a:spcPts val="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Выполняется до тех пор, пока происходят изменения.</a:t>
            </a:r>
            <a:endParaRPr/>
          </a:p>
          <a:p>
            <a:pPr indent="-330200" lvl="1" marL="120015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Здесь важен порядок перебора вершин. Для того чтобы нейтрализовать зависимость от порядка, на каждой итерации алгоритма выбирается новый случайный порядок перебора.</a:t>
            </a:r>
            <a:endParaRPr/>
          </a:p>
        </p:txBody>
      </p:sp>
      <p:sp>
        <p:nvSpPr>
          <p:cNvPr id="793" name="Google Shape;793;p54"/>
          <p:cNvSpPr txBox="1"/>
          <p:nvPr/>
        </p:nvSpPr>
        <p:spPr>
          <a:xfrm>
            <a:off x="5448300" y="1282700"/>
            <a:ext cx="24209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LebelPropagation </a:t>
            </a:r>
            <a:endParaRPr/>
          </a:p>
        </p:txBody>
      </p:sp>
      <p:sp>
        <p:nvSpPr>
          <p:cNvPr id="794" name="Google Shape;794;p5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55"/>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01" name="Google Shape;801;p55"/>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02" name="Google Shape;802;p55"/>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03" name="Google Shape;803;p55"/>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04" name="Google Shape;804;p55"/>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05" name="Google Shape;805;p55"/>
          <p:cNvSpPr txBox="1"/>
          <p:nvPr/>
        </p:nvSpPr>
        <p:spPr>
          <a:xfrm>
            <a:off x="1743075" y="1895475"/>
            <a:ext cx="8983662" cy="44926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Из-за рандомизации алгоритм при нескольких запусках может выдать разные результаты, т.к. критерию останова не обязательно соответствует одна разметка вершин. Авторы метода предлагают агрегировать результаты простым пересечением кластеров.</a:t>
            </a:r>
            <a:endParaRPr/>
          </a:p>
          <a:p>
            <a:pPr indent="-342900" lvl="0" marL="342900" marR="0" rtl="0" algn="l">
              <a:lnSpc>
                <a:spcPct val="100000"/>
              </a:lnSpc>
              <a:spcBef>
                <a:spcPts val="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Метод хорош своей простотой и интуитивностью, так же алгоритм является вычислительно эффективным. </a:t>
            </a:r>
            <a:endParaRPr/>
          </a:p>
          <a:p>
            <a:pPr indent="-342900" lvl="0" marL="342900" marR="0" rtl="0" algn="l">
              <a:lnSpc>
                <a:spcPct val="100000"/>
              </a:lnSpc>
              <a:spcBef>
                <a:spcPts val="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Но метод склонен выдавать разные результаты и является в некотором смысле неустойчивым, что заметно на практике и в модельных данных. </a:t>
            </a:r>
            <a:endParaRPr/>
          </a:p>
          <a:p>
            <a:pPr indent="-342900" lvl="0" marL="342900" marR="0" rtl="0" algn="l">
              <a:lnSpc>
                <a:spcPct val="100000"/>
              </a:lnSpc>
              <a:spcBef>
                <a:spcPts val="0"/>
              </a:spcBef>
              <a:spcAft>
                <a:spcPts val="0"/>
              </a:spcAft>
              <a:buClr>
                <a:schemeClr val="dk1"/>
              </a:buClr>
              <a:buSzPts val="2200"/>
              <a:buFont typeface="Arial"/>
              <a:buChar char="•"/>
            </a:pPr>
            <a:r>
              <a:rPr b="0" i="0" lang="en-US" sz="2200" u="none">
                <a:solidFill>
                  <a:schemeClr val="dk1"/>
                </a:solidFill>
                <a:latin typeface="Arial"/>
                <a:ea typeface="Arial"/>
                <a:cs typeface="Arial"/>
                <a:sym typeface="Arial"/>
              </a:rPr>
              <a:t>В сложных зашумленных графах метод может объединить все сообщества в одно. В среднем, данный метод работает хуже остальных и обладает почти линейной сложностью.</a:t>
            </a:r>
            <a:endParaRPr/>
          </a:p>
        </p:txBody>
      </p:sp>
      <p:sp>
        <p:nvSpPr>
          <p:cNvPr id="806" name="Google Shape;806;p55"/>
          <p:cNvSpPr txBox="1"/>
          <p:nvPr/>
        </p:nvSpPr>
        <p:spPr>
          <a:xfrm>
            <a:off x="5448300" y="1282700"/>
            <a:ext cx="24209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LebelPropagation </a:t>
            </a:r>
            <a:endParaRPr/>
          </a:p>
        </p:txBody>
      </p:sp>
      <p:sp>
        <p:nvSpPr>
          <p:cNvPr id="807" name="Google Shape;807;p55"/>
          <p:cNvSpPr txBox="1"/>
          <p:nvPr/>
        </p:nvSpPr>
        <p:spPr>
          <a:xfrm>
            <a:off x="4498975" y="6350000"/>
            <a:ext cx="33702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cluster_label_prop</a:t>
            </a:r>
            <a:endParaRPr/>
          </a:p>
        </p:txBody>
      </p:sp>
      <p:sp>
        <p:nvSpPr>
          <p:cNvPr id="808" name="Google Shape;808;p5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56"/>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15" name="Google Shape;815;p56"/>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16" name="Google Shape;816;p56"/>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17" name="Google Shape;817;p56"/>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18" name="Google Shape;818;p56"/>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19" name="Google Shape;819;p56"/>
          <p:cNvSpPr txBox="1"/>
          <p:nvPr/>
        </p:nvSpPr>
        <p:spPr>
          <a:xfrm>
            <a:off x="1755775" y="1846262"/>
            <a:ext cx="9271000" cy="4402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Чтобы объяснить принцип работы данного метода, сначала опишем что такое дискретный процесс случайного блуждания на графе </a:t>
            </a:r>
            <a:r>
              <a:rPr b="1" i="1" lang="en-US" sz="2000" u="none">
                <a:solidFill>
                  <a:srgbClr val="0C779D"/>
                </a:solidFill>
                <a:latin typeface="Arial"/>
                <a:ea typeface="Arial"/>
                <a:cs typeface="Arial"/>
                <a:sym typeface="Arial"/>
              </a:rPr>
              <a:t>G</a:t>
            </a:r>
            <a:r>
              <a:rPr b="0" i="0" lang="en-US" sz="2000" u="none">
                <a:solidFill>
                  <a:schemeClr val="dk1"/>
                </a:solidFill>
                <a:latin typeface="Arial"/>
                <a:ea typeface="Arial"/>
                <a:cs typeface="Arial"/>
                <a:sym typeface="Arial"/>
              </a:rPr>
              <a:t>:</a:t>
            </a:r>
            <a:endParaRPr/>
          </a:p>
          <a:p>
            <a:pPr indent="-342899" lvl="1" marL="792162"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Arial"/>
                <a:ea typeface="Arial"/>
                <a:cs typeface="Arial"/>
                <a:sym typeface="Arial"/>
              </a:rPr>
              <a:t>На каждом шаге процесса блуждающий объект находится в вершине и перемещается в другую вершину, выбранную случайным равновероятным образом из соседних вершин. </a:t>
            </a:r>
            <a:endParaRPr/>
          </a:p>
          <a:p>
            <a:pPr indent="-342899" lvl="1" marL="792162"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Arial"/>
                <a:ea typeface="Arial"/>
                <a:cs typeface="Arial"/>
                <a:sym typeface="Arial"/>
              </a:rPr>
              <a:t>Последовательность посещенных вершин является марковской цепью, состояния которой являются вершинами графа. </a:t>
            </a:r>
            <a:endParaRPr/>
          </a:p>
          <a:p>
            <a:pPr indent="-342899" lvl="1" marL="792162"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Arial"/>
                <a:ea typeface="Arial"/>
                <a:cs typeface="Arial"/>
                <a:sym typeface="Arial"/>
              </a:rPr>
              <a:t>На каждом шаге вероятность перехода от вершины </a:t>
            </a:r>
            <a:r>
              <a:rPr b="1" i="1" lang="en-US" sz="1800" u="none" cap="none" strike="noStrike">
                <a:solidFill>
                  <a:srgbClr val="0C779D"/>
                </a:solidFill>
                <a:latin typeface="Arial"/>
                <a:ea typeface="Arial"/>
                <a:cs typeface="Arial"/>
                <a:sym typeface="Arial"/>
              </a:rPr>
              <a:t>i</a:t>
            </a:r>
            <a:r>
              <a:rPr b="0"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к вершине </a:t>
            </a:r>
            <a:r>
              <a:rPr b="1" i="1" lang="en-US" sz="1800" u="none" cap="none" strike="noStrike">
                <a:solidFill>
                  <a:srgbClr val="0C779D"/>
                </a:solidFill>
                <a:latin typeface="Arial"/>
                <a:ea typeface="Arial"/>
                <a:cs typeface="Arial"/>
                <a:sym typeface="Arial"/>
              </a:rPr>
              <a:t>j </a:t>
            </a:r>
            <a:r>
              <a:rPr b="0" i="0" lang="en-US" sz="1800" u="none" cap="none" strike="noStrike">
                <a:solidFill>
                  <a:schemeClr val="dk1"/>
                </a:solidFill>
                <a:latin typeface="Arial"/>
                <a:ea typeface="Arial"/>
                <a:cs typeface="Arial"/>
                <a:sym typeface="Arial"/>
              </a:rPr>
              <a:t>равна </a:t>
            </a:r>
            <a:r>
              <a:rPr b="1" i="1" lang="en-US" sz="1800" u="none" cap="none" strike="noStrike">
                <a:solidFill>
                  <a:srgbClr val="0C779D"/>
                </a:solidFill>
                <a:latin typeface="Arial"/>
                <a:ea typeface="Arial"/>
                <a:cs typeface="Arial"/>
                <a:sym typeface="Arial"/>
              </a:rPr>
              <a:t>P</a:t>
            </a:r>
            <a:r>
              <a:rPr b="1" baseline="-25000" i="1" lang="en-US" sz="1800" u="none" cap="none" strike="noStrike">
                <a:solidFill>
                  <a:srgbClr val="0C779D"/>
                </a:solidFill>
                <a:latin typeface="Arial"/>
                <a:ea typeface="Arial"/>
                <a:cs typeface="Arial"/>
                <a:sym typeface="Arial"/>
              </a:rPr>
              <a:t>ij </a:t>
            </a:r>
            <a:r>
              <a:rPr b="1" i="1" lang="en-US" sz="1800" u="none" cap="none" strike="noStrike">
                <a:solidFill>
                  <a:srgbClr val="0C779D"/>
                </a:solidFill>
                <a:latin typeface="Arial"/>
                <a:ea typeface="Arial"/>
                <a:cs typeface="Arial"/>
                <a:sym typeface="Arial"/>
              </a:rPr>
              <a:t>= A</a:t>
            </a:r>
            <a:r>
              <a:rPr b="1" baseline="-25000" i="1" lang="en-US" sz="1800" u="none" cap="none" strike="noStrike">
                <a:solidFill>
                  <a:srgbClr val="0C779D"/>
                </a:solidFill>
                <a:latin typeface="Arial"/>
                <a:ea typeface="Arial"/>
                <a:cs typeface="Arial"/>
                <a:sym typeface="Arial"/>
              </a:rPr>
              <a:t>ij </a:t>
            </a:r>
            <a:r>
              <a:rPr b="1" i="1" lang="en-US" sz="1800" u="none" cap="none" strike="noStrike">
                <a:solidFill>
                  <a:srgbClr val="0C779D"/>
                </a:solidFill>
                <a:latin typeface="Arial"/>
                <a:ea typeface="Arial"/>
                <a:cs typeface="Arial"/>
                <a:sym typeface="Arial"/>
              </a:rPr>
              <a:t>/d</a:t>
            </a:r>
            <a:r>
              <a:rPr b="1" baseline="-25000" i="1" lang="en-US" sz="1800" u="none" cap="none" strike="noStrike">
                <a:solidFill>
                  <a:srgbClr val="0C779D"/>
                </a:solidFill>
                <a:latin typeface="Arial"/>
                <a:ea typeface="Arial"/>
                <a:cs typeface="Arial"/>
                <a:sym typeface="Arial"/>
              </a:rPr>
              <a:t>i</a:t>
            </a:r>
            <a:r>
              <a:rPr b="0" i="0" lang="en-US" sz="1800" u="none" cap="none" strike="noStrike">
                <a:solidFill>
                  <a:schemeClr val="dk1"/>
                </a:solidFill>
                <a:latin typeface="Arial"/>
                <a:ea typeface="Arial"/>
                <a:cs typeface="Arial"/>
                <a:sym typeface="Arial"/>
              </a:rPr>
              <a:t>, где </a:t>
            </a:r>
            <a:r>
              <a:rPr b="1" i="1" lang="en-US" sz="1800" u="none" cap="none" strike="noStrike">
                <a:solidFill>
                  <a:srgbClr val="0C779D"/>
                </a:solidFill>
                <a:latin typeface="Arial"/>
                <a:ea typeface="Arial"/>
                <a:cs typeface="Arial"/>
                <a:sym typeface="Arial"/>
              </a:rPr>
              <a:t>d</a:t>
            </a:r>
            <a:r>
              <a:rPr b="1" baseline="-25000" i="1" lang="en-US" sz="1800" u="none" cap="none" strike="noStrike">
                <a:solidFill>
                  <a:srgbClr val="0C779D"/>
                </a:solidFill>
                <a:latin typeface="Arial"/>
                <a:ea typeface="Arial"/>
                <a:cs typeface="Arial"/>
                <a:sym typeface="Arial"/>
              </a:rPr>
              <a:t>i </a:t>
            </a:r>
            <a:r>
              <a:rPr b="0" i="0" lang="en-US" sz="1800" u="none" cap="none" strike="noStrike">
                <a:solidFill>
                  <a:schemeClr val="dk1"/>
                </a:solidFill>
                <a:latin typeface="Arial"/>
                <a:ea typeface="Arial"/>
                <a:cs typeface="Arial"/>
                <a:sym typeface="Arial"/>
              </a:rPr>
              <a:t>— степень</a:t>
            </a:r>
            <a:r>
              <a:rPr b="1" i="1" lang="en-US" sz="1800" u="none" cap="none" strike="noStrike">
                <a:solidFill>
                  <a:srgbClr val="0C779D"/>
                </a:solidFill>
                <a:latin typeface="Arial"/>
                <a:ea typeface="Arial"/>
                <a:cs typeface="Arial"/>
                <a:sym typeface="Arial"/>
              </a:rPr>
              <a:t> i </a:t>
            </a:r>
            <a:r>
              <a:rPr b="0" i="0" lang="en-US" sz="1800" u="none" cap="none" strike="noStrike">
                <a:solidFill>
                  <a:schemeClr val="dk1"/>
                </a:solidFill>
                <a:latin typeface="Arial"/>
                <a:ea typeface="Arial"/>
                <a:cs typeface="Arial"/>
                <a:sym typeface="Arial"/>
              </a:rPr>
              <a:t>вершины. </a:t>
            </a:r>
            <a:endParaRPr/>
          </a:p>
          <a:p>
            <a:pPr indent="-342899" lvl="1" marL="792162"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Arial"/>
                <a:ea typeface="Arial"/>
                <a:cs typeface="Arial"/>
                <a:sym typeface="Arial"/>
              </a:rPr>
              <a:t>Таким образом определится матрица перехода </a:t>
            </a:r>
            <a:r>
              <a:rPr b="1" i="1" lang="en-US" sz="1800" u="none" cap="none" strike="noStrike">
                <a:solidFill>
                  <a:srgbClr val="0C779D"/>
                </a:solidFill>
                <a:latin typeface="Arial"/>
                <a:ea typeface="Arial"/>
                <a:cs typeface="Arial"/>
                <a:sym typeface="Arial"/>
              </a:rPr>
              <a:t>P</a:t>
            </a:r>
            <a:r>
              <a:rPr b="0" i="1" lang="en-US" sz="1800" u="none" cap="none" strike="noStrike">
                <a:solidFill>
                  <a:schemeClr val="dk1"/>
                </a:solidFill>
                <a:latin typeface="Arial"/>
                <a:ea typeface="Arial"/>
                <a:cs typeface="Arial"/>
                <a:sym typeface="Arial"/>
              </a:rPr>
              <a:t> </a:t>
            </a:r>
            <a:r>
              <a:rPr b="0" i="0" lang="en-US" sz="1800" u="none" cap="none" strike="noStrike">
                <a:solidFill>
                  <a:schemeClr val="dk1"/>
                </a:solidFill>
                <a:latin typeface="Arial"/>
                <a:ea typeface="Arial"/>
                <a:cs typeface="Arial"/>
                <a:sym typeface="Arial"/>
              </a:rPr>
              <a:t>процесса случайного блуждания.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Из данной матрицы можно получить вероятность перехода из вершины </a:t>
            </a:r>
            <a:r>
              <a:rPr b="1" i="1" lang="en-US" sz="2000" u="none">
                <a:solidFill>
                  <a:srgbClr val="0C779D"/>
                </a:solidFill>
                <a:latin typeface="Arial"/>
                <a:ea typeface="Arial"/>
                <a:cs typeface="Arial"/>
                <a:sym typeface="Arial"/>
              </a:rPr>
              <a:t>i</a:t>
            </a:r>
            <a:r>
              <a:rPr b="0" i="1"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в вершину </a:t>
            </a:r>
            <a:r>
              <a:rPr b="1" i="1" lang="en-US" sz="2000" u="none">
                <a:solidFill>
                  <a:srgbClr val="0C779D"/>
                </a:solidFill>
                <a:latin typeface="Arial"/>
                <a:ea typeface="Arial"/>
                <a:cs typeface="Arial"/>
                <a:sym typeface="Arial"/>
              </a:rPr>
              <a:t>j </a:t>
            </a:r>
            <a:r>
              <a:rPr b="0" i="0" lang="en-US" sz="2000" u="none">
                <a:solidFill>
                  <a:schemeClr val="dk1"/>
                </a:solidFill>
                <a:latin typeface="Arial"/>
                <a:ea typeface="Arial"/>
                <a:cs typeface="Arial"/>
                <a:sym typeface="Arial"/>
              </a:rPr>
              <a:t>за </a:t>
            </a:r>
            <a:r>
              <a:rPr b="1" i="1" lang="en-US" sz="2000" u="none">
                <a:solidFill>
                  <a:srgbClr val="0C779D"/>
                </a:solidFill>
                <a:latin typeface="Arial"/>
                <a:ea typeface="Arial"/>
                <a:cs typeface="Arial"/>
                <a:sym typeface="Arial"/>
              </a:rPr>
              <a:t>t </a:t>
            </a:r>
            <a:r>
              <a:rPr b="0" i="0" lang="en-US" sz="2000" u="none">
                <a:solidFill>
                  <a:schemeClr val="dk1"/>
                </a:solidFill>
                <a:latin typeface="Arial"/>
                <a:ea typeface="Arial"/>
                <a:cs typeface="Arial"/>
                <a:sym typeface="Arial"/>
              </a:rPr>
              <a:t>шагов как </a:t>
            </a:r>
            <a:r>
              <a:rPr b="1" i="1" lang="en-US" sz="2000" u="none">
                <a:solidFill>
                  <a:srgbClr val="0C779D"/>
                </a:solidFill>
                <a:latin typeface="Arial"/>
                <a:ea typeface="Arial"/>
                <a:cs typeface="Arial"/>
                <a:sym typeface="Arial"/>
              </a:rPr>
              <a:t>P</a:t>
            </a:r>
            <a:r>
              <a:rPr b="1" baseline="30000" i="1" lang="en-US" sz="2000" u="none">
                <a:solidFill>
                  <a:srgbClr val="0C779D"/>
                </a:solidFill>
                <a:latin typeface="Arial"/>
                <a:ea typeface="Arial"/>
                <a:cs typeface="Arial"/>
                <a:sym typeface="Arial"/>
              </a:rPr>
              <a:t>t</a:t>
            </a:r>
            <a:r>
              <a:rPr b="1" baseline="-25000" i="1" lang="en-US" sz="2000" u="none">
                <a:solidFill>
                  <a:srgbClr val="0C779D"/>
                </a:solidFill>
                <a:latin typeface="Arial"/>
                <a:ea typeface="Arial"/>
                <a:cs typeface="Arial"/>
                <a:sym typeface="Arial"/>
              </a:rPr>
              <a:t>ij</a:t>
            </a:r>
            <a:r>
              <a:rPr b="0" i="0" lang="en-US" sz="2000" u="none">
                <a:solidFill>
                  <a:schemeClr val="dk1"/>
                </a:solidFill>
                <a:latin typeface="Arial"/>
                <a:ea typeface="Arial"/>
                <a:cs typeface="Arial"/>
                <a:sym typeface="Arial"/>
              </a:rPr>
              <a:t>. Если обозначить за </a:t>
            </a:r>
            <a:r>
              <a:rPr b="0" i="1" lang="en-US" sz="2000" u="none">
                <a:solidFill>
                  <a:schemeClr val="dk1"/>
                </a:solidFill>
                <a:latin typeface="Arial"/>
                <a:ea typeface="Arial"/>
                <a:cs typeface="Arial"/>
                <a:sym typeface="Arial"/>
              </a:rPr>
              <a:t>D </a:t>
            </a:r>
            <a:r>
              <a:rPr b="0" i="0" lang="en-US" sz="2000" u="none">
                <a:solidFill>
                  <a:schemeClr val="dk1"/>
                </a:solidFill>
                <a:latin typeface="Arial"/>
                <a:ea typeface="Arial"/>
                <a:cs typeface="Arial"/>
                <a:sym typeface="Arial"/>
              </a:rPr>
              <a:t>матрицу, на диагонали которой стоят степени вершин </a:t>
            </a:r>
            <a:r>
              <a:rPr b="1" i="1" lang="en-US" sz="2000" u="none">
                <a:solidFill>
                  <a:srgbClr val="0C779D"/>
                </a:solidFill>
                <a:latin typeface="Arial"/>
                <a:ea typeface="Arial"/>
                <a:cs typeface="Arial"/>
                <a:sym typeface="Arial"/>
              </a:rPr>
              <a:t>d</a:t>
            </a:r>
            <a:r>
              <a:rPr b="1" baseline="-25000" i="1" lang="en-US" sz="2000" u="none">
                <a:solidFill>
                  <a:srgbClr val="0C779D"/>
                </a:solidFill>
                <a:latin typeface="Arial"/>
                <a:ea typeface="Arial"/>
                <a:cs typeface="Arial"/>
                <a:sym typeface="Arial"/>
              </a:rPr>
              <a:t>i</a:t>
            </a:r>
            <a:r>
              <a:rPr b="0" i="0" lang="en-US" sz="2000" u="none">
                <a:solidFill>
                  <a:schemeClr val="dk1"/>
                </a:solidFill>
                <a:latin typeface="Arial"/>
                <a:ea typeface="Arial"/>
                <a:cs typeface="Arial"/>
                <a:sym typeface="Arial"/>
              </a:rPr>
              <a:t>, то  </a:t>
            </a:r>
            <a:r>
              <a:rPr b="1" i="1" lang="en-US" sz="2000" u="none">
                <a:solidFill>
                  <a:srgbClr val="0C779D"/>
                </a:solidFill>
                <a:latin typeface="Arial"/>
                <a:ea typeface="Arial"/>
                <a:cs typeface="Arial"/>
                <a:sym typeface="Arial"/>
              </a:rPr>
              <a:t>P = D</a:t>
            </a:r>
            <a:r>
              <a:rPr b="1" baseline="30000" i="1" lang="en-US" sz="2000" u="none">
                <a:solidFill>
                  <a:srgbClr val="0C779D"/>
                </a:solidFill>
                <a:latin typeface="Arial"/>
                <a:ea typeface="Arial"/>
                <a:cs typeface="Arial"/>
                <a:sym typeface="Arial"/>
              </a:rPr>
              <a:t>−1</a:t>
            </a:r>
            <a:r>
              <a:rPr b="1" i="1" lang="en-US" sz="2000" u="none">
                <a:solidFill>
                  <a:srgbClr val="0C779D"/>
                </a:solidFill>
                <a:latin typeface="Arial"/>
                <a:ea typeface="Arial"/>
                <a:cs typeface="Arial"/>
                <a:sym typeface="Arial"/>
              </a:rPr>
              <a:t>A</a:t>
            </a:r>
            <a:r>
              <a:rPr b="0" i="1" lang="en-US" sz="2000" u="none">
                <a:solidFill>
                  <a:schemeClr val="dk1"/>
                </a:solidFill>
                <a:latin typeface="Arial"/>
                <a:ea typeface="Arial"/>
                <a:cs typeface="Arial"/>
                <a:sym typeface="Arial"/>
              </a:rPr>
              <a:t>.</a:t>
            </a:r>
            <a:br>
              <a:rPr b="0" i="0" lang="en-US" sz="2000" u="none">
                <a:solidFill>
                  <a:schemeClr val="dk1"/>
                </a:solidFill>
                <a:latin typeface="Arial"/>
                <a:ea typeface="Arial"/>
                <a:cs typeface="Arial"/>
                <a:sym typeface="Arial"/>
              </a:rPr>
            </a:br>
            <a:endParaRPr/>
          </a:p>
        </p:txBody>
      </p:sp>
      <p:sp>
        <p:nvSpPr>
          <p:cNvPr id="820" name="Google Shape;820;p56"/>
          <p:cNvSpPr txBox="1"/>
          <p:nvPr/>
        </p:nvSpPr>
        <p:spPr>
          <a:xfrm>
            <a:off x="5448300" y="1282700"/>
            <a:ext cx="13271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Walktrap </a:t>
            </a:r>
            <a:endParaRPr/>
          </a:p>
        </p:txBody>
      </p:sp>
      <p:sp>
        <p:nvSpPr>
          <p:cNvPr id="821" name="Google Shape;821;p56"/>
          <p:cNvSpPr txBox="1"/>
          <p:nvPr/>
        </p:nvSpPr>
        <p:spPr>
          <a:xfrm>
            <a:off x="4606925" y="6432550"/>
            <a:ext cx="338296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(cluster_walktrap)</a:t>
            </a:r>
            <a:endParaRPr/>
          </a:p>
        </p:txBody>
      </p:sp>
      <p:sp>
        <p:nvSpPr>
          <p:cNvPr id="822" name="Google Shape;822;p56"/>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57"/>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29" name="Google Shape;829;p57"/>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30" name="Google Shape;830;p57"/>
          <p:cNvSpPr/>
          <p:nvPr/>
        </p:nvSpPr>
        <p:spPr>
          <a:xfrm>
            <a:off x="1582737" y="1776412"/>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31" name="Google Shape;831;p57"/>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32" name="Google Shape;832;p57"/>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33" name="Google Shape;833;p57"/>
          <p:cNvSpPr txBox="1"/>
          <p:nvPr/>
        </p:nvSpPr>
        <p:spPr>
          <a:xfrm>
            <a:off x="5448300" y="1282700"/>
            <a:ext cx="13271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Walktrap </a:t>
            </a:r>
            <a:endParaRPr/>
          </a:p>
        </p:txBody>
      </p:sp>
      <p:pic>
        <p:nvPicPr>
          <p:cNvPr id="834" name="Google Shape;834;p57"/>
          <p:cNvPicPr preferRelativeResize="0"/>
          <p:nvPr/>
        </p:nvPicPr>
        <p:blipFill rotWithShape="1">
          <a:blip r:embed="rId3">
            <a:alphaModFix/>
          </a:blip>
          <a:srcRect b="0" l="0" r="0" t="0"/>
          <a:stretch/>
        </p:blipFill>
        <p:spPr>
          <a:xfrm>
            <a:off x="3238500" y="1922462"/>
            <a:ext cx="5535612" cy="4543425"/>
          </a:xfrm>
          <a:prstGeom prst="rect">
            <a:avLst/>
          </a:prstGeom>
          <a:noFill/>
          <a:ln>
            <a:noFill/>
          </a:ln>
        </p:spPr>
      </p:pic>
      <p:sp>
        <p:nvSpPr>
          <p:cNvPr id="835" name="Google Shape;835;p57"/>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8"/>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42" name="Google Shape;842;p58"/>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43" name="Google Shape;843;p58"/>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44" name="Google Shape;844;p58"/>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45" name="Google Shape;845;p58"/>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46" name="Google Shape;846;p58"/>
          <p:cNvSpPr txBox="1"/>
          <p:nvPr/>
        </p:nvSpPr>
        <p:spPr>
          <a:xfrm>
            <a:off x="5448300" y="1282700"/>
            <a:ext cx="13271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Walktrap </a:t>
            </a:r>
            <a:endParaRPr/>
          </a:p>
        </p:txBody>
      </p:sp>
      <p:sp>
        <p:nvSpPr>
          <p:cNvPr id="847" name="Google Shape;847;p58"/>
          <p:cNvSpPr txBox="1"/>
          <p:nvPr/>
        </p:nvSpPr>
        <p:spPr>
          <a:xfrm>
            <a:off x="1582737" y="1987550"/>
            <a:ext cx="9190037" cy="3816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Алгоритм.</a:t>
            </a:r>
            <a:br>
              <a:rPr b="0" i="0" lang="en-US" sz="2200" u="none">
                <a:solidFill>
                  <a:schemeClr val="dk1"/>
                </a:solidFill>
                <a:latin typeface="Arial"/>
                <a:ea typeface="Arial"/>
                <a:cs typeface="Arial"/>
                <a:sym typeface="Arial"/>
              </a:rPr>
            </a:br>
            <a:r>
              <a:rPr b="0" i="0" lang="en-US" sz="2200" u="none">
                <a:solidFill>
                  <a:schemeClr val="dk1"/>
                </a:solidFill>
                <a:latin typeface="Arial"/>
                <a:ea typeface="Arial"/>
                <a:cs typeface="Arial"/>
                <a:sym typeface="Arial"/>
              </a:rPr>
              <a:t>1. Инициализация. Каждая вершина содержится в своем  кластере, </a:t>
            </a:r>
            <a:r>
              <a:rPr b="0" i="0" lang="en-US" sz="2400" u="none">
                <a:solidFill>
                  <a:schemeClr val="dk1"/>
                </a:solidFill>
                <a:latin typeface="Arial"/>
                <a:ea typeface="Arial"/>
                <a:cs typeface="Arial"/>
                <a:sym typeface="Arial"/>
              </a:rPr>
              <a:t>т.е начальное разбиение выглядит как </a:t>
            </a:r>
            <a:endParaRPr/>
          </a:p>
          <a:p>
            <a:pPr indent="0" lvl="0" marL="0" marR="0" rtl="0" algn="l">
              <a:lnSpc>
                <a:spcPct val="100000"/>
              </a:lnSpc>
              <a:spcBef>
                <a:spcPts val="0"/>
              </a:spcBef>
              <a:spcAft>
                <a:spcPts val="0"/>
              </a:spcAft>
              <a:buClr>
                <a:srgbClr val="0C779D"/>
              </a:buClr>
              <a:buSzPts val="2000"/>
              <a:buFont typeface="Arial"/>
              <a:buNone/>
            </a:pPr>
            <a:r>
              <a:rPr b="1" i="1" lang="en-US" sz="2000" u="none">
                <a:solidFill>
                  <a:srgbClr val="0C779D"/>
                </a:solidFill>
                <a:latin typeface="Arial"/>
                <a:ea typeface="Arial"/>
                <a:cs typeface="Arial"/>
                <a:sym typeface="Arial"/>
              </a:rPr>
              <a:t>P1 = {{v}, v ∈ V}.</a:t>
            </a:r>
            <a:br>
              <a:rPr b="0" i="0" lang="en-US" sz="2400" u="none">
                <a:solidFill>
                  <a:schemeClr val="dk1"/>
                </a:solidFill>
                <a:latin typeface="Arial"/>
                <a:ea typeface="Arial"/>
                <a:cs typeface="Arial"/>
                <a:sym typeface="Arial"/>
              </a:rPr>
            </a:br>
            <a:r>
              <a:rPr b="0" i="0" lang="en-US" sz="2200" u="none">
                <a:solidFill>
                  <a:schemeClr val="dk1"/>
                </a:solidFill>
                <a:latin typeface="Arial"/>
                <a:ea typeface="Arial"/>
                <a:cs typeface="Arial"/>
                <a:sym typeface="Arial"/>
              </a:rPr>
              <a:t>2. Вычисление расстояния между всеми смежными вершинами.</a:t>
            </a:r>
            <a:endParaRPr/>
          </a:p>
          <a:p>
            <a:pPr indent="0"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3. На каждом шаге </a:t>
            </a:r>
            <a:r>
              <a:rPr b="1" i="1" lang="en-US" sz="2200" u="none">
                <a:solidFill>
                  <a:srgbClr val="0C779D"/>
                </a:solidFill>
                <a:latin typeface="Arial"/>
                <a:ea typeface="Arial"/>
                <a:cs typeface="Arial"/>
                <a:sym typeface="Arial"/>
              </a:rPr>
              <a:t>k</a:t>
            </a:r>
            <a:r>
              <a:rPr b="0" i="0" lang="en-US" sz="2200" u="none">
                <a:solidFill>
                  <a:schemeClr val="dk1"/>
                </a:solidFill>
                <a:latin typeface="Arial"/>
                <a:ea typeface="Arial"/>
                <a:cs typeface="Arial"/>
                <a:sym typeface="Arial"/>
              </a:rPr>
              <a:t>:</a:t>
            </a:r>
            <a:endParaRPr/>
          </a:p>
          <a:p>
            <a:pPr indent="0" lvl="1" marL="457200" marR="0" rtl="0" algn="l">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(а) Выбрать два сообщества </a:t>
            </a:r>
            <a:r>
              <a:rPr b="1" i="1" lang="en-US" sz="2200" u="none" cap="none" strike="noStrike">
                <a:solidFill>
                  <a:srgbClr val="0C779D"/>
                </a:solidFill>
                <a:latin typeface="Arial"/>
                <a:ea typeface="Arial"/>
                <a:cs typeface="Arial"/>
                <a:sym typeface="Arial"/>
              </a:rPr>
              <a:t>C1</a:t>
            </a:r>
            <a:r>
              <a:rPr b="0" i="0" lang="en-US" sz="2200" u="none" cap="none" strike="noStrike">
                <a:solidFill>
                  <a:schemeClr val="dk1"/>
                </a:solidFill>
                <a:latin typeface="Arial"/>
                <a:ea typeface="Arial"/>
                <a:cs typeface="Arial"/>
                <a:sym typeface="Arial"/>
              </a:rPr>
              <a:t> и </a:t>
            </a:r>
            <a:r>
              <a:rPr b="1" i="1" lang="en-US" sz="2200" u="none" cap="none" strike="noStrike">
                <a:solidFill>
                  <a:srgbClr val="0C779D"/>
                </a:solidFill>
                <a:latin typeface="Arial"/>
                <a:ea typeface="Arial"/>
                <a:cs typeface="Arial"/>
                <a:sym typeface="Arial"/>
              </a:rPr>
              <a:t>C2</a:t>
            </a:r>
            <a:r>
              <a:rPr b="0" i="0" lang="en-US" sz="2200" u="none" cap="none" strike="noStrike">
                <a:solidFill>
                  <a:schemeClr val="dk1"/>
                </a:solidFill>
                <a:latin typeface="Arial"/>
                <a:ea typeface="Arial"/>
                <a:cs typeface="Arial"/>
                <a:sym typeface="Arial"/>
              </a:rPr>
              <a:t> из </a:t>
            </a:r>
            <a:r>
              <a:rPr b="1" i="1" lang="en-US" sz="2200" u="none" cap="none" strike="noStrike">
                <a:solidFill>
                  <a:srgbClr val="0C779D"/>
                </a:solidFill>
                <a:latin typeface="Arial"/>
                <a:ea typeface="Arial"/>
                <a:cs typeface="Arial"/>
                <a:sym typeface="Arial"/>
              </a:rPr>
              <a:t>Pk.</a:t>
            </a:r>
            <a:endParaRPr/>
          </a:p>
          <a:p>
            <a:pPr indent="0" lvl="1" marL="457200" marR="0" rtl="0" algn="l">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(б) Объединить эти сообщества в одно новое, </a:t>
            </a:r>
            <a:r>
              <a:rPr b="1" i="1" lang="en-US" sz="2200" u="none" cap="none" strike="noStrike">
                <a:solidFill>
                  <a:srgbClr val="0C779D"/>
                </a:solidFill>
                <a:latin typeface="Arial"/>
                <a:ea typeface="Arial"/>
                <a:cs typeface="Arial"/>
                <a:sym typeface="Arial"/>
              </a:rPr>
              <a:t>C3 = C1 ∪ C2 </a:t>
            </a:r>
            <a:r>
              <a:rPr b="0" i="0" lang="en-US" sz="2200" u="none" cap="none" strike="noStrike">
                <a:solidFill>
                  <a:schemeClr val="dk1"/>
                </a:solidFill>
                <a:latin typeface="Arial"/>
                <a:ea typeface="Arial"/>
                <a:cs typeface="Arial"/>
                <a:sym typeface="Arial"/>
              </a:rPr>
              <a:t>Преобразовать </a:t>
            </a:r>
            <a:r>
              <a:rPr b="1" i="1" lang="en-US" sz="2200" u="none" cap="none" strike="noStrike">
                <a:solidFill>
                  <a:srgbClr val="0C779D"/>
                </a:solidFill>
                <a:latin typeface="Arial"/>
                <a:ea typeface="Arial"/>
                <a:cs typeface="Arial"/>
                <a:sym typeface="Arial"/>
              </a:rPr>
              <a:t>Pk</a:t>
            </a:r>
            <a:r>
              <a:rPr b="0" i="1" lang="en-US" sz="2200" u="none" cap="none" strike="noStrike">
                <a:solidFill>
                  <a:schemeClr val="dk1"/>
                </a:solidFill>
                <a:latin typeface="Arial"/>
                <a:ea typeface="Arial"/>
                <a:cs typeface="Arial"/>
                <a:sym typeface="Arial"/>
              </a:rPr>
              <a:t> </a:t>
            </a:r>
            <a:r>
              <a:rPr b="0" i="0" lang="en-US" sz="2200" u="none" cap="none" strike="noStrike">
                <a:solidFill>
                  <a:schemeClr val="dk1"/>
                </a:solidFill>
                <a:latin typeface="Arial"/>
                <a:ea typeface="Arial"/>
                <a:cs typeface="Arial"/>
                <a:sym typeface="Arial"/>
              </a:rPr>
              <a:t>в </a:t>
            </a:r>
            <a:r>
              <a:rPr b="1" i="1" lang="en-US" sz="2200" u="none" cap="none" strike="noStrike">
                <a:solidFill>
                  <a:srgbClr val="0C779D"/>
                </a:solidFill>
                <a:latin typeface="Arial"/>
                <a:ea typeface="Arial"/>
                <a:cs typeface="Arial"/>
                <a:sym typeface="Arial"/>
              </a:rPr>
              <a:t>Pk +1</a:t>
            </a:r>
            <a:r>
              <a:rPr b="0" i="0" lang="en-US" sz="2200" u="none" cap="none" strike="noStrike">
                <a:solidFill>
                  <a:schemeClr val="dk1"/>
                </a:solidFill>
                <a:latin typeface="Arial"/>
                <a:ea typeface="Arial"/>
                <a:cs typeface="Arial"/>
                <a:sym typeface="Arial"/>
              </a:rPr>
              <a:t>.</a:t>
            </a:r>
            <a:endParaRPr/>
          </a:p>
          <a:p>
            <a:pPr indent="0" lvl="1" marL="457200" marR="0" rtl="0" algn="l">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(в) Обновить расстояния между сообществами (вообще это необходимо сделать только для смежных с </a:t>
            </a:r>
            <a:r>
              <a:rPr b="1" i="1" lang="en-US" sz="2200" u="none" cap="none" strike="noStrike">
                <a:solidFill>
                  <a:srgbClr val="0C779D"/>
                </a:solidFill>
                <a:latin typeface="Arial"/>
                <a:ea typeface="Arial"/>
                <a:cs typeface="Arial"/>
                <a:sym typeface="Arial"/>
              </a:rPr>
              <a:t>C1</a:t>
            </a:r>
            <a:r>
              <a:rPr b="0" i="0" lang="en-US" sz="2200" u="none" cap="none" strike="noStrike">
                <a:solidFill>
                  <a:schemeClr val="dk1"/>
                </a:solidFill>
                <a:latin typeface="Arial"/>
                <a:ea typeface="Arial"/>
                <a:cs typeface="Arial"/>
                <a:sym typeface="Arial"/>
              </a:rPr>
              <a:t> и </a:t>
            </a:r>
            <a:r>
              <a:rPr b="1" i="1" lang="en-US" sz="2200" u="none" cap="none" strike="noStrike">
                <a:solidFill>
                  <a:srgbClr val="0C779D"/>
                </a:solidFill>
                <a:latin typeface="Arial"/>
                <a:ea typeface="Arial"/>
                <a:cs typeface="Arial"/>
                <a:sym typeface="Arial"/>
              </a:rPr>
              <a:t>C2</a:t>
            </a:r>
            <a:r>
              <a:rPr b="0" i="0" lang="en-US" sz="2200" u="none" cap="none" strike="noStrike">
                <a:solidFill>
                  <a:schemeClr val="dk1"/>
                </a:solidFill>
                <a:latin typeface="Arial"/>
                <a:ea typeface="Arial"/>
                <a:cs typeface="Arial"/>
                <a:sym typeface="Arial"/>
              </a:rPr>
              <a:t> сообществ)</a:t>
            </a:r>
            <a:endParaRPr/>
          </a:p>
        </p:txBody>
      </p:sp>
      <p:sp>
        <p:nvSpPr>
          <p:cNvPr id="848" name="Google Shape;848;p58"/>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59"/>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55" name="Google Shape;855;p59"/>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56" name="Google Shape;856;p59"/>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57" name="Google Shape;857;p59"/>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58" name="Google Shape;858;p59"/>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59" name="Google Shape;859;p59"/>
          <p:cNvSpPr txBox="1"/>
          <p:nvPr/>
        </p:nvSpPr>
        <p:spPr>
          <a:xfrm>
            <a:off x="5448300" y="1282700"/>
            <a:ext cx="13271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Walktrap </a:t>
            </a:r>
            <a:endParaRPr/>
          </a:p>
        </p:txBody>
      </p:sp>
      <p:sp>
        <p:nvSpPr>
          <p:cNvPr id="860" name="Google Shape;860;p59"/>
          <p:cNvSpPr txBox="1"/>
          <p:nvPr/>
        </p:nvSpPr>
        <p:spPr>
          <a:xfrm>
            <a:off x="1895475" y="1827212"/>
            <a:ext cx="8877300" cy="16303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На </a:t>
            </a:r>
            <a:r>
              <a:rPr b="0" i="1" lang="en-US" sz="2000" u="none">
                <a:solidFill>
                  <a:schemeClr val="dk1"/>
                </a:solidFill>
                <a:latin typeface="Arial"/>
                <a:ea typeface="Arial"/>
                <a:cs typeface="Arial"/>
                <a:sym typeface="Arial"/>
              </a:rPr>
              <a:t>n − </a:t>
            </a:r>
            <a:r>
              <a:rPr b="0" i="0" lang="en-US" sz="2000" u="none">
                <a:solidFill>
                  <a:schemeClr val="dk1"/>
                </a:solidFill>
                <a:latin typeface="Arial"/>
                <a:ea typeface="Arial"/>
                <a:cs typeface="Arial"/>
                <a:sym typeface="Arial"/>
              </a:rPr>
              <a:t>1 шаге мы получаем </a:t>
            </a:r>
            <a:r>
              <a:rPr b="0" i="1" lang="en-US" sz="2000" u="none">
                <a:solidFill>
                  <a:schemeClr val="dk1"/>
                </a:solidFill>
                <a:latin typeface="Arial"/>
                <a:ea typeface="Arial"/>
                <a:cs typeface="Arial"/>
                <a:sym typeface="Arial"/>
              </a:rPr>
              <a:t>Pn </a:t>
            </a:r>
            <a:r>
              <a:rPr b="0" i="0" lang="en-US" sz="2000" u="none">
                <a:solidFill>
                  <a:schemeClr val="dk1"/>
                </a:solidFill>
                <a:latin typeface="Arial"/>
                <a:ea typeface="Arial"/>
                <a:cs typeface="Arial"/>
                <a:sym typeface="Arial"/>
              </a:rPr>
              <a:t>= </a:t>
            </a:r>
            <a:r>
              <a:rPr b="0" i="1" lang="en-US" sz="2000" u="none">
                <a:solidFill>
                  <a:schemeClr val="dk1"/>
                </a:solidFill>
                <a:latin typeface="Arial"/>
                <a:ea typeface="Arial"/>
                <a:cs typeface="Arial"/>
                <a:sym typeface="Arial"/>
              </a:rPr>
              <a:t>{V} </a:t>
            </a:r>
            <a:r>
              <a:rPr b="0" i="0" lang="en-US" sz="2000" u="none">
                <a:solidFill>
                  <a:schemeClr val="dk1"/>
                </a:solidFill>
                <a:latin typeface="Arial"/>
                <a:ea typeface="Arial"/>
                <a:cs typeface="Arial"/>
                <a:sym typeface="Arial"/>
              </a:rPr>
              <a:t>и алгоритм завершается. Таким образом, получена дендрограмма для вершин графа.</a:t>
            </a:r>
            <a:br>
              <a:rPr b="0" i="0" lang="en-US" sz="2000" u="none">
                <a:solidFill>
                  <a:schemeClr val="dk1"/>
                </a:solidFill>
                <a:latin typeface="Arial"/>
                <a:ea typeface="Arial"/>
                <a:cs typeface="Arial"/>
                <a:sym typeface="Arial"/>
              </a:rPr>
            </a:b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Минимизируем среднее квадратов расстояний от вершины до ее сообщества:</a:t>
            </a:r>
            <a:endParaRPr/>
          </a:p>
        </p:txBody>
      </p:sp>
      <p:pic>
        <p:nvPicPr>
          <p:cNvPr id="861" name="Google Shape;861;p59"/>
          <p:cNvPicPr preferRelativeResize="0"/>
          <p:nvPr/>
        </p:nvPicPr>
        <p:blipFill rotWithShape="1">
          <a:blip r:embed="rId3">
            <a:alphaModFix/>
          </a:blip>
          <a:srcRect b="0" l="0" r="0" t="0"/>
          <a:stretch/>
        </p:blipFill>
        <p:spPr>
          <a:xfrm>
            <a:off x="4605337" y="3313112"/>
            <a:ext cx="2778125" cy="793750"/>
          </a:xfrm>
          <a:prstGeom prst="rect">
            <a:avLst/>
          </a:prstGeom>
          <a:noFill/>
          <a:ln>
            <a:noFill/>
          </a:ln>
        </p:spPr>
      </p:pic>
      <p:sp>
        <p:nvSpPr>
          <p:cNvPr id="862" name="Google Shape;862;p59"/>
          <p:cNvSpPr txBox="1"/>
          <p:nvPr/>
        </p:nvSpPr>
        <p:spPr>
          <a:xfrm>
            <a:off x="1673225" y="4105275"/>
            <a:ext cx="88773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Такая задача эквивалентна поиску </a:t>
            </a:r>
            <a:r>
              <a:rPr b="0" i="1" lang="en-US" sz="2000" u="none">
                <a:solidFill>
                  <a:schemeClr val="dk1"/>
                </a:solidFill>
                <a:latin typeface="Arial"/>
                <a:ea typeface="Arial"/>
                <a:cs typeface="Arial"/>
                <a:sym typeface="Arial"/>
              </a:rPr>
              <a:t>C</a:t>
            </a:r>
            <a:r>
              <a:rPr b="0" i="0" lang="en-US" sz="2000" u="none">
                <a:solidFill>
                  <a:schemeClr val="dk1"/>
                </a:solidFill>
                <a:latin typeface="Arial"/>
                <a:ea typeface="Arial"/>
                <a:cs typeface="Arial"/>
                <a:sym typeface="Arial"/>
              </a:rPr>
              <a:t>1, </a:t>
            </a:r>
            <a:r>
              <a:rPr b="0" i="1" lang="en-US" sz="2000" u="none">
                <a:solidFill>
                  <a:schemeClr val="dk1"/>
                </a:solidFill>
                <a:latin typeface="Arial"/>
                <a:ea typeface="Arial"/>
                <a:cs typeface="Arial"/>
                <a:sym typeface="Arial"/>
              </a:rPr>
              <a:t>C</a:t>
            </a:r>
            <a:r>
              <a:rPr b="0" i="0" lang="en-US" sz="2000" u="none">
                <a:solidFill>
                  <a:schemeClr val="dk1"/>
                </a:solidFill>
                <a:latin typeface="Arial"/>
                <a:ea typeface="Arial"/>
                <a:cs typeface="Arial"/>
                <a:sym typeface="Arial"/>
              </a:rPr>
              <a:t>2, минимизирующих величину</a:t>
            </a:r>
            <a:endParaRPr/>
          </a:p>
        </p:txBody>
      </p:sp>
      <p:pic>
        <p:nvPicPr>
          <p:cNvPr id="863" name="Google Shape;863;p59"/>
          <p:cNvPicPr preferRelativeResize="0"/>
          <p:nvPr/>
        </p:nvPicPr>
        <p:blipFill rotWithShape="1">
          <a:blip r:embed="rId4">
            <a:alphaModFix/>
          </a:blip>
          <a:srcRect b="0" l="0" r="0" t="0"/>
          <a:stretch/>
        </p:blipFill>
        <p:spPr>
          <a:xfrm>
            <a:off x="3525837" y="4705350"/>
            <a:ext cx="5505450" cy="801687"/>
          </a:xfrm>
          <a:prstGeom prst="rect">
            <a:avLst/>
          </a:prstGeom>
          <a:noFill/>
          <a:ln>
            <a:noFill/>
          </a:ln>
        </p:spPr>
      </p:pic>
      <p:sp>
        <p:nvSpPr>
          <p:cNvPr id="864" name="Google Shape;864;p59"/>
          <p:cNvSpPr txBox="1"/>
          <p:nvPr/>
        </p:nvSpPr>
        <p:spPr>
          <a:xfrm>
            <a:off x="1816100" y="5622925"/>
            <a:ext cx="8943975"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Сложность такого метода: </a:t>
            </a:r>
            <a:r>
              <a:rPr b="0" i="1" lang="en-US" sz="2000" u="none">
                <a:solidFill>
                  <a:schemeClr val="dk1"/>
                </a:solidFill>
                <a:latin typeface="Arial"/>
                <a:ea typeface="Arial"/>
                <a:cs typeface="Arial"/>
                <a:sym typeface="Arial"/>
              </a:rPr>
              <a:t>O</a:t>
            </a:r>
            <a:r>
              <a:rPr b="0" i="0" lang="en-US" sz="2000" u="none">
                <a:solidFill>
                  <a:schemeClr val="dk1"/>
                </a:solidFill>
                <a:latin typeface="Arial"/>
                <a:ea typeface="Arial"/>
                <a:cs typeface="Arial"/>
                <a:sym typeface="Arial"/>
              </a:rPr>
              <a:t>(</a:t>
            </a:r>
            <a:r>
              <a:rPr b="0" i="1" lang="en-US" sz="2000" u="none">
                <a:solidFill>
                  <a:schemeClr val="dk1"/>
                </a:solidFill>
                <a:latin typeface="Arial"/>
                <a:ea typeface="Arial"/>
                <a:cs typeface="Arial"/>
                <a:sym typeface="Arial"/>
              </a:rPr>
              <a:t>n </a:t>
            </a:r>
            <a:r>
              <a:rPr b="0" i="0" lang="en-US" sz="2000" u="none">
                <a:solidFill>
                  <a:schemeClr val="dk1"/>
                </a:solidFill>
                <a:latin typeface="Arial"/>
                <a:ea typeface="Arial"/>
                <a:cs typeface="Arial"/>
                <a:sym typeface="Arial"/>
              </a:rPr>
              <a:t>2log </a:t>
            </a:r>
            <a:r>
              <a:rPr b="0" i="1" lang="en-US" sz="2000" u="none">
                <a:solidFill>
                  <a:schemeClr val="dk1"/>
                </a:solidFill>
                <a:latin typeface="Arial"/>
                <a:ea typeface="Arial"/>
                <a:cs typeface="Arial"/>
                <a:sym typeface="Arial"/>
              </a:rPr>
              <a:t>n</a:t>
            </a:r>
            <a:r>
              <a:rPr b="0" i="0" lang="en-US" sz="2000" u="none">
                <a:solidFill>
                  <a:schemeClr val="dk1"/>
                </a:solidFill>
                <a:latin typeface="Arial"/>
                <a:ea typeface="Arial"/>
                <a:cs typeface="Arial"/>
                <a:sym typeface="Arial"/>
              </a:rPr>
              <a:t>). </a:t>
            </a:r>
            <a:endParaRPr/>
          </a:p>
        </p:txBody>
      </p:sp>
      <p:sp>
        <p:nvSpPr>
          <p:cNvPr id="865" name="Google Shape;865;p59"/>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60"/>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72" name="Google Shape;872;p60"/>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73" name="Google Shape;873;p60"/>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74" name="Google Shape;874;p60"/>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75" name="Google Shape;875;p60"/>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76" name="Google Shape;876;p60"/>
          <p:cNvSpPr txBox="1"/>
          <p:nvPr/>
        </p:nvSpPr>
        <p:spPr>
          <a:xfrm>
            <a:off x="5448300" y="1282700"/>
            <a:ext cx="12509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Infomap </a:t>
            </a:r>
            <a:endParaRPr/>
          </a:p>
        </p:txBody>
      </p:sp>
      <p:sp>
        <p:nvSpPr>
          <p:cNvPr id="877" name="Google Shape;877;p60"/>
          <p:cNvSpPr txBox="1"/>
          <p:nvPr/>
        </p:nvSpPr>
        <p:spPr>
          <a:xfrm>
            <a:off x="1793875" y="1785937"/>
            <a:ext cx="9220200" cy="47085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Метод, как и предыдущий, использует механизм случайных блужданий. Авторы интерпретируют задачу выделения сообществ в графе, как задачу кодирования пути, который пройдет блуждатель, и пытаются минимизировать длину кода.</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Каждое сообщество имеет свой уникальный бинарный код. В сообществе каждая вершина имеет свой уникальный внутренний код (вершины из разных сообществ могут иметь одинаковый код). Также есть дополнительный код выхода из сообщества, не совпадающий с кодами вершин в этом сообществе.</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Кодирование пути выглядит следующим образом: при попадании в другое сообщество записывается его код и внутренний код вершины в которую попал объект.</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Далее при переходе внутри одного сообщества записываются внутренние коды вершин. При переходе в другое сообщество пишется код выхода из данного сообщества и код нового.</a:t>
            </a:r>
            <a:endParaRPr/>
          </a:p>
        </p:txBody>
      </p:sp>
      <p:sp>
        <p:nvSpPr>
          <p:cNvPr id="878" name="Google Shape;878;p60"/>
          <p:cNvSpPr txBox="1"/>
          <p:nvPr/>
        </p:nvSpPr>
        <p:spPr>
          <a:xfrm>
            <a:off x="4533900" y="6370637"/>
            <a:ext cx="34559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(cluster_infomap)</a:t>
            </a:r>
            <a:endParaRPr/>
          </a:p>
        </p:txBody>
      </p:sp>
      <p:sp>
        <p:nvSpPr>
          <p:cNvPr id="879" name="Google Shape;879;p60"/>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61"/>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86" name="Google Shape;886;p61"/>
          <p:cNvSpPr/>
          <p:nvPr/>
        </p:nvSpPr>
        <p:spPr>
          <a:xfrm>
            <a:off x="2085975" y="395287"/>
            <a:ext cx="8351837" cy="1223962"/>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87" name="Google Shape;887;p61"/>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888" name="Google Shape;888;p61"/>
          <p:cNvSpPr txBox="1"/>
          <p:nvPr>
            <p:ph type="title"/>
          </p:nvPr>
        </p:nvSpPr>
        <p:spPr>
          <a:xfrm>
            <a:off x="2193925" y="554037"/>
            <a:ext cx="8243887" cy="985837"/>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889" name="Google Shape;889;p61"/>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890" name="Google Shape;890;p61"/>
          <p:cNvSpPr txBox="1"/>
          <p:nvPr/>
        </p:nvSpPr>
        <p:spPr>
          <a:xfrm>
            <a:off x="5448300" y="1282700"/>
            <a:ext cx="12509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Infomap </a:t>
            </a:r>
            <a:endParaRPr/>
          </a:p>
        </p:txBody>
      </p:sp>
      <p:sp>
        <p:nvSpPr>
          <p:cNvPr id="891" name="Google Shape;891;p61"/>
          <p:cNvSpPr txBox="1"/>
          <p:nvPr/>
        </p:nvSpPr>
        <p:spPr>
          <a:xfrm>
            <a:off x="1782762" y="1835150"/>
            <a:ext cx="9015412" cy="163036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Таким образом имеется 2 уровня кодирования: уровень сообществ и уровень вершин.</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Для каждого из них используются коды Хафмана в соответствии с вероятностью посещения данной вершины или данного сообщества.</a:t>
            </a:r>
            <a:endParaRPr/>
          </a:p>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В таком виде среднее описание длины одного перехода равно</a:t>
            </a:r>
            <a:endParaRPr/>
          </a:p>
        </p:txBody>
      </p:sp>
      <p:sp>
        <p:nvSpPr>
          <p:cNvPr id="892" name="Google Shape;892;p61"/>
          <p:cNvSpPr txBox="1"/>
          <p:nvPr/>
        </p:nvSpPr>
        <p:spPr>
          <a:xfrm>
            <a:off x="1754187" y="4168775"/>
            <a:ext cx="9259887"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где  </a:t>
            </a:r>
            <a:r>
              <a:rPr b="1" i="1" lang="en-US" sz="2000" u="none">
                <a:solidFill>
                  <a:srgbClr val="0C779D"/>
                </a:solidFill>
                <a:latin typeface="Arial"/>
                <a:ea typeface="Arial"/>
                <a:cs typeface="Arial"/>
                <a:sym typeface="Arial"/>
              </a:rPr>
              <a:t>q</a:t>
            </a:r>
            <a:r>
              <a:rPr b="1" baseline="-25000" i="1" lang="en-US" sz="2000" u="none">
                <a:solidFill>
                  <a:srgbClr val="0C779D"/>
                </a:solidFill>
                <a:latin typeface="Arial"/>
                <a:ea typeface="Arial"/>
                <a:cs typeface="Arial"/>
                <a:sym typeface="Arial"/>
              </a:rPr>
              <a:t>out</a:t>
            </a:r>
            <a:r>
              <a:rPr b="1" i="1" lang="en-US" sz="2000" u="none">
                <a:solidFill>
                  <a:srgbClr val="0C779D"/>
                </a:solidFill>
                <a:latin typeface="Arial"/>
                <a:ea typeface="Arial"/>
                <a:cs typeface="Arial"/>
                <a:sym typeface="Arial"/>
              </a:rPr>
              <a:t> </a:t>
            </a:r>
            <a:r>
              <a:rPr b="0" i="0" lang="en-US" sz="2000" u="none">
                <a:solidFill>
                  <a:schemeClr val="dk1"/>
                </a:solidFill>
                <a:latin typeface="Arial"/>
                <a:ea typeface="Arial"/>
                <a:cs typeface="Arial"/>
                <a:sym typeface="Arial"/>
              </a:rPr>
              <a:t>  — вероятность покинуть какое либо сообщество на любом шаге, </a:t>
            </a:r>
            <a:r>
              <a:rPr b="0" i="1" lang="en-US" sz="2000" u="none">
                <a:solidFill>
                  <a:srgbClr val="0C779D"/>
                </a:solidFill>
                <a:latin typeface="Arial"/>
                <a:ea typeface="Arial"/>
                <a:cs typeface="Arial"/>
                <a:sym typeface="Arial"/>
              </a:rPr>
              <a:t>H</a:t>
            </a:r>
            <a:r>
              <a:rPr b="0" i="0" lang="en-US" sz="2000" u="none">
                <a:solidFill>
                  <a:srgbClr val="0C779D"/>
                </a:solidFill>
                <a:latin typeface="Arial"/>
                <a:ea typeface="Arial"/>
                <a:cs typeface="Arial"/>
                <a:sym typeface="Arial"/>
              </a:rPr>
              <a:t>(</a:t>
            </a:r>
            <a:r>
              <a:rPr b="0" i="1" lang="en-US" sz="2000" u="none">
                <a:solidFill>
                  <a:srgbClr val="0C779D"/>
                </a:solidFill>
                <a:latin typeface="Arial"/>
                <a:ea typeface="Arial"/>
                <a:cs typeface="Arial"/>
                <a:sym typeface="Arial"/>
              </a:rPr>
              <a:t>C</a:t>
            </a:r>
            <a:r>
              <a:rPr b="0" i="0" lang="en-US" sz="2000" u="none">
                <a:solidFill>
                  <a:srgbClr val="0C779D"/>
                </a:solidFill>
                <a:latin typeface="Arial"/>
                <a:ea typeface="Arial"/>
                <a:cs typeface="Arial"/>
                <a:sym typeface="Arial"/>
              </a:rPr>
              <a:t>) </a:t>
            </a:r>
            <a:r>
              <a:rPr b="0" i="0" lang="en-US" sz="2000" u="none">
                <a:solidFill>
                  <a:schemeClr val="dk1"/>
                </a:solidFill>
                <a:latin typeface="Arial"/>
                <a:ea typeface="Arial"/>
                <a:cs typeface="Arial"/>
                <a:sym typeface="Arial"/>
              </a:rPr>
              <a:t>— энтропия кодов сообществ, </a:t>
            </a:r>
            <a:r>
              <a:rPr b="0" i="1" lang="en-US" sz="2000" u="none">
                <a:solidFill>
                  <a:srgbClr val="0C779D"/>
                </a:solidFill>
                <a:latin typeface="Arial"/>
                <a:ea typeface="Arial"/>
                <a:cs typeface="Arial"/>
                <a:sym typeface="Arial"/>
              </a:rPr>
              <a:t>H</a:t>
            </a:r>
            <a:r>
              <a:rPr b="0" i="0" lang="en-US" sz="2000" u="none">
                <a:solidFill>
                  <a:srgbClr val="0C779D"/>
                </a:solidFill>
                <a:latin typeface="Arial"/>
                <a:ea typeface="Arial"/>
                <a:cs typeface="Arial"/>
                <a:sym typeface="Arial"/>
              </a:rPr>
              <a:t>(</a:t>
            </a:r>
            <a:r>
              <a:rPr b="0" i="1" lang="en-US" sz="2000" u="none">
                <a:solidFill>
                  <a:srgbClr val="0C779D"/>
                </a:solidFill>
                <a:latin typeface="Arial"/>
                <a:ea typeface="Arial"/>
                <a:cs typeface="Arial"/>
                <a:sym typeface="Arial"/>
              </a:rPr>
              <a:t>Ci</a:t>
            </a:r>
            <a:r>
              <a:rPr b="0" i="0" lang="en-US" sz="2000" u="none">
                <a:solidFill>
                  <a:srgbClr val="0C779D"/>
                </a:solidFill>
                <a:latin typeface="Arial"/>
                <a:ea typeface="Arial"/>
                <a:cs typeface="Arial"/>
                <a:sym typeface="Arial"/>
              </a:rPr>
              <a:t>) </a:t>
            </a:r>
            <a:r>
              <a:rPr b="0" i="0" lang="en-US" sz="2000" u="none">
                <a:solidFill>
                  <a:schemeClr val="dk1"/>
                </a:solidFill>
                <a:latin typeface="Arial"/>
                <a:ea typeface="Arial"/>
                <a:cs typeface="Arial"/>
                <a:sym typeface="Arial"/>
              </a:rPr>
              <a:t>— энтропия кодов внутри сообщества </a:t>
            </a:r>
            <a:r>
              <a:rPr b="0" i="1" lang="en-US" sz="2000" u="none">
                <a:solidFill>
                  <a:srgbClr val="0C779D"/>
                </a:solidFill>
                <a:latin typeface="Arial"/>
                <a:ea typeface="Arial"/>
                <a:cs typeface="Arial"/>
                <a:sym typeface="Arial"/>
              </a:rPr>
              <a:t>Ci</a:t>
            </a:r>
            <a:r>
              <a:rPr b="0" i="0" lang="en-US" sz="2000" u="none">
                <a:solidFill>
                  <a:schemeClr val="dk1"/>
                </a:solidFill>
                <a:latin typeface="Arial"/>
                <a:ea typeface="Arial"/>
                <a:cs typeface="Arial"/>
                <a:sym typeface="Arial"/>
              </a:rPr>
              <a:t>, вес </a:t>
            </a:r>
            <a:r>
              <a:rPr b="1" i="1" lang="en-US" sz="2000" u="none">
                <a:solidFill>
                  <a:srgbClr val="0C779D"/>
                </a:solidFill>
                <a:latin typeface="Arial"/>
                <a:ea typeface="Arial"/>
                <a:cs typeface="Arial"/>
                <a:sym typeface="Arial"/>
              </a:rPr>
              <a:t>p</a:t>
            </a:r>
            <a:r>
              <a:rPr b="1" baseline="30000" i="1" lang="en-US" sz="2000" u="none">
                <a:solidFill>
                  <a:srgbClr val="0C779D"/>
                </a:solidFill>
                <a:latin typeface="Arial"/>
                <a:ea typeface="Arial"/>
                <a:cs typeface="Arial"/>
                <a:sym typeface="Arial"/>
              </a:rPr>
              <a:t>i</a:t>
            </a:r>
            <a:r>
              <a:rPr b="1" baseline="-25000" i="0" lang="en-US" sz="2000" u="none">
                <a:solidFill>
                  <a:srgbClr val="0C779D"/>
                </a:solidFill>
                <a:latin typeface="Arial"/>
                <a:ea typeface="Arial"/>
                <a:cs typeface="Arial"/>
                <a:sym typeface="Arial"/>
              </a:rPr>
              <a:t>in</a:t>
            </a:r>
            <a:r>
              <a:rPr b="1" i="0" lang="en-US" sz="2000" u="none">
                <a:solidFill>
                  <a:srgbClr val="0C779D"/>
                </a:solidFill>
                <a:latin typeface="Arial"/>
                <a:ea typeface="Arial"/>
                <a:cs typeface="Arial"/>
                <a:sym typeface="Arial"/>
              </a:rPr>
              <a:t> </a:t>
            </a:r>
            <a:r>
              <a:rPr b="0" i="0" lang="en-US" sz="2000" u="none">
                <a:solidFill>
                  <a:schemeClr val="dk1"/>
                </a:solidFill>
                <a:latin typeface="Arial"/>
                <a:ea typeface="Arial"/>
                <a:cs typeface="Arial"/>
                <a:sym typeface="Arial"/>
              </a:rPr>
              <a:t>- это доля перемещений внутри сообщества </a:t>
            </a:r>
            <a:r>
              <a:rPr b="0" i="1" lang="en-US" sz="2000" u="none">
                <a:solidFill>
                  <a:srgbClr val="0C779D"/>
                </a:solidFill>
                <a:latin typeface="Arial"/>
                <a:ea typeface="Arial"/>
                <a:cs typeface="Arial"/>
                <a:sym typeface="Arial"/>
              </a:rPr>
              <a:t>Ci </a:t>
            </a:r>
            <a:r>
              <a:rPr b="0" i="0" lang="en-US" sz="2000" u="none">
                <a:solidFill>
                  <a:schemeClr val="dk1"/>
                </a:solidFill>
                <a:latin typeface="Arial"/>
                <a:ea typeface="Arial"/>
                <a:cs typeface="Arial"/>
                <a:sym typeface="Arial"/>
              </a:rPr>
              <a:t>плюс вероятность покинуть сообщество.</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С помощью матрицы </a:t>
            </a:r>
            <a:r>
              <a:rPr b="0" i="1" lang="en-US" sz="2000" u="none">
                <a:solidFill>
                  <a:srgbClr val="0C779D"/>
                </a:solidFill>
                <a:latin typeface="Arial"/>
                <a:ea typeface="Arial"/>
                <a:cs typeface="Arial"/>
                <a:sym typeface="Arial"/>
              </a:rPr>
              <a:t>P</a:t>
            </a:r>
            <a:r>
              <a:rPr b="0" i="0" lang="en-US" sz="2000" u="none">
                <a:solidFill>
                  <a:schemeClr val="dk1"/>
                </a:solidFill>
                <a:latin typeface="Arial"/>
                <a:ea typeface="Arial"/>
                <a:cs typeface="Arial"/>
                <a:sym typeface="Arial"/>
              </a:rPr>
              <a:t>, описанной в предыдущем методе, вычисляется вероятность посещения той или иной вершины и, используя эту информацию, запускается жадный метод оптимизации функционала </a:t>
            </a:r>
            <a:r>
              <a:rPr b="0" i="1" lang="en-US" sz="2000" u="none">
                <a:solidFill>
                  <a:srgbClr val="0C779D"/>
                </a:solidFill>
                <a:latin typeface="Arial"/>
                <a:ea typeface="Arial"/>
                <a:cs typeface="Arial"/>
                <a:sym typeface="Arial"/>
              </a:rPr>
              <a:t>L</a:t>
            </a:r>
            <a:r>
              <a:rPr b="0" i="0" lang="en-US" sz="2000" u="none">
                <a:solidFill>
                  <a:srgbClr val="0C779D"/>
                </a:solidFill>
                <a:latin typeface="Arial"/>
                <a:ea typeface="Arial"/>
                <a:cs typeface="Arial"/>
                <a:sym typeface="Arial"/>
              </a:rPr>
              <a:t>(</a:t>
            </a:r>
            <a:r>
              <a:rPr b="0" i="1" lang="en-US" sz="2000" u="none">
                <a:solidFill>
                  <a:srgbClr val="0C779D"/>
                </a:solidFill>
                <a:latin typeface="Arial"/>
                <a:ea typeface="Arial"/>
                <a:cs typeface="Arial"/>
                <a:sym typeface="Arial"/>
              </a:rPr>
              <a:t>M</a:t>
            </a:r>
            <a:r>
              <a:rPr b="0" i="0" lang="en-US" sz="2000" u="none">
                <a:solidFill>
                  <a:srgbClr val="0C779D"/>
                </a:solidFill>
                <a:latin typeface="Arial"/>
                <a:ea typeface="Arial"/>
                <a:cs typeface="Arial"/>
                <a:sym typeface="Arial"/>
              </a:rPr>
              <a:t>), </a:t>
            </a:r>
            <a:r>
              <a:rPr b="0" i="0" lang="en-US" sz="2000" u="none">
                <a:solidFill>
                  <a:schemeClr val="dk1"/>
                </a:solidFill>
                <a:latin typeface="Arial"/>
                <a:ea typeface="Arial"/>
                <a:cs typeface="Arial"/>
                <a:sym typeface="Arial"/>
              </a:rPr>
              <a:t>после чего результат работы некоторым образом уточняется [13].</a:t>
            </a:r>
            <a:br>
              <a:rPr b="0" i="0" lang="en-US" sz="2000" u="none">
                <a:solidFill>
                  <a:schemeClr val="dk1"/>
                </a:solidFill>
                <a:latin typeface="Arial"/>
                <a:ea typeface="Arial"/>
                <a:cs typeface="Arial"/>
                <a:sym typeface="Arial"/>
              </a:rPr>
            </a:br>
            <a:endParaRPr/>
          </a:p>
        </p:txBody>
      </p:sp>
      <p:pic>
        <p:nvPicPr>
          <p:cNvPr id="893" name="Google Shape;893;p61"/>
          <p:cNvPicPr preferRelativeResize="0"/>
          <p:nvPr/>
        </p:nvPicPr>
        <p:blipFill rotWithShape="1">
          <a:blip r:embed="rId3">
            <a:alphaModFix/>
          </a:blip>
          <a:srcRect b="0" l="0" r="0" t="0"/>
          <a:stretch/>
        </p:blipFill>
        <p:spPr>
          <a:xfrm>
            <a:off x="4235450" y="3416300"/>
            <a:ext cx="4052887" cy="776287"/>
          </a:xfrm>
          <a:prstGeom prst="rect">
            <a:avLst/>
          </a:prstGeom>
          <a:noFill/>
          <a:ln>
            <a:noFill/>
          </a:ln>
        </p:spPr>
      </p:pic>
      <p:sp>
        <p:nvSpPr>
          <p:cNvPr id="894" name="Google Shape;894;p61"/>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62"/>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01" name="Google Shape;901;p62"/>
          <p:cNvSpPr/>
          <p:nvPr/>
        </p:nvSpPr>
        <p:spPr>
          <a:xfrm>
            <a:off x="2085975" y="395287"/>
            <a:ext cx="8351837" cy="10683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02" name="Google Shape;902;p62"/>
          <p:cNvSpPr/>
          <p:nvPr/>
        </p:nvSpPr>
        <p:spPr>
          <a:xfrm>
            <a:off x="1582737" y="1558925"/>
            <a:ext cx="9431337" cy="51069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03" name="Google Shape;903;p62"/>
          <p:cNvSpPr txBox="1"/>
          <p:nvPr>
            <p:ph type="title"/>
          </p:nvPr>
        </p:nvSpPr>
        <p:spPr>
          <a:xfrm>
            <a:off x="2301875" y="377825"/>
            <a:ext cx="8135937" cy="665162"/>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904" name="Google Shape;904;p62"/>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905" name="Google Shape;905;p62"/>
          <p:cNvSpPr txBox="1"/>
          <p:nvPr/>
        </p:nvSpPr>
        <p:spPr>
          <a:xfrm>
            <a:off x="5299075" y="1079500"/>
            <a:ext cx="125095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Infomap </a:t>
            </a:r>
            <a:endParaRPr/>
          </a:p>
        </p:txBody>
      </p:sp>
      <p:pic>
        <p:nvPicPr>
          <p:cNvPr id="906" name="Google Shape;906;p62"/>
          <p:cNvPicPr preferRelativeResize="0"/>
          <p:nvPr/>
        </p:nvPicPr>
        <p:blipFill rotWithShape="1">
          <a:blip r:embed="rId3">
            <a:alphaModFix/>
          </a:blip>
          <a:srcRect b="0" l="0" r="0" t="0"/>
          <a:stretch/>
        </p:blipFill>
        <p:spPr>
          <a:xfrm>
            <a:off x="2339975" y="2435225"/>
            <a:ext cx="7461250" cy="2344737"/>
          </a:xfrm>
          <a:prstGeom prst="rect">
            <a:avLst/>
          </a:prstGeom>
          <a:noFill/>
          <a:ln>
            <a:noFill/>
          </a:ln>
        </p:spPr>
      </p:pic>
      <p:sp>
        <p:nvSpPr>
          <p:cNvPr id="907" name="Google Shape;907;p62"/>
          <p:cNvSpPr txBox="1"/>
          <p:nvPr/>
        </p:nvSpPr>
        <p:spPr>
          <a:xfrm>
            <a:off x="1852612" y="4691062"/>
            <a:ext cx="9305925" cy="2062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Принципиальная схема работы метода </a:t>
            </a:r>
            <a:r>
              <a:rPr b="1" i="0" lang="en-US" sz="1600" u="none">
                <a:solidFill>
                  <a:srgbClr val="000000"/>
                </a:solidFill>
                <a:latin typeface="Arial"/>
                <a:ea typeface="Arial"/>
                <a:cs typeface="Arial"/>
                <a:sym typeface="Arial"/>
              </a:rPr>
              <a:t>infomap </a:t>
            </a:r>
            <a:r>
              <a:rPr b="0" i="0" lang="en-US" sz="1600" u="none">
                <a:solidFill>
                  <a:srgbClr val="000000"/>
                </a:solidFill>
                <a:latin typeface="Arial"/>
                <a:ea typeface="Arial"/>
                <a:cs typeface="Arial"/>
                <a:sym typeface="Arial"/>
              </a:rPr>
              <a:t>[</a:t>
            </a:r>
            <a:r>
              <a:rPr b="0" i="0" lang="en-US" sz="1600" u="none">
                <a:solidFill>
                  <a:srgbClr val="00FF00"/>
                </a:solidFill>
                <a:latin typeface="Arial"/>
                <a:ea typeface="Arial"/>
                <a:cs typeface="Arial"/>
                <a:sym typeface="Arial"/>
              </a:rPr>
              <a:t>13</a:t>
            </a:r>
            <a:r>
              <a:rPr b="0" i="0" lang="en-US" sz="1600" u="none">
                <a:solidFill>
                  <a:srgbClr val="000000"/>
                </a:solidFill>
                <a:latin typeface="Arial"/>
                <a:ea typeface="Arial"/>
                <a:cs typeface="Arial"/>
                <a:sym typeface="Arial"/>
              </a:rPr>
              <a:t>]. </a:t>
            </a:r>
            <a:endParaRPr/>
          </a:p>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На самом левом рисунке показан путь случайного блуждателя. </a:t>
            </a:r>
            <a:endParaRPr/>
          </a:p>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На второй части изображены вершины с кодами Хафмана, а ниже закодирован путь, показанный на левом изображении. </a:t>
            </a:r>
            <a:endParaRPr/>
          </a:p>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Далее показано кодирование с помощью двухуровневого метода. Ниже записаны коды сообществ и коды выхода их них. </a:t>
            </a:r>
            <a:endParaRPr/>
          </a:p>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На последнем рисунке d) показана выделенная структура сообществ в графе и коды, соответствующие группам. </a:t>
            </a:r>
            <a:endParaRPr/>
          </a:p>
        </p:txBody>
      </p:sp>
      <p:sp>
        <p:nvSpPr>
          <p:cNvPr id="908" name="Google Shape;908;p62"/>
          <p:cNvSpPr txBox="1"/>
          <p:nvPr/>
        </p:nvSpPr>
        <p:spPr>
          <a:xfrm>
            <a:off x="1998662" y="1546225"/>
            <a:ext cx="8728075"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На практике получается, что при увеличении зашумленности графа метод объединяет все вершины в одно сообщество. При этом работает на уровне всех остальных методов.</a:t>
            </a:r>
            <a:endParaRPr/>
          </a:p>
        </p:txBody>
      </p:sp>
      <p:sp>
        <p:nvSpPr>
          <p:cNvPr id="909" name="Google Shape;909;p62"/>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63"/>
          <p:cNvSpPr/>
          <p:nvPr/>
        </p:nvSpPr>
        <p:spPr>
          <a:xfrm>
            <a:off x="1438275" y="322262"/>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16" name="Google Shape;916;p63"/>
          <p:cNvSpPr/>
          <p:nvPr/>
        </p:nvSpPr>
        <p:spPr>
          <a:xfrm>
            <a:off x="2085975" y="395287"/>
            <a:ext cx="8351837" cy="110490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17" name="Google Shape;917;p63"/>
          <p:cNvSpPr/>
          <p:nvPr/>
        </p:nvSpPr>
        <p:spPr>
          <a:xfrm>
            <a:off x="1582737" y="1711325"/>
            <a:ext cx="9431337" cy="4954587"/>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18" name="Google Shape;918;p63"/>
          <p:cNvSpPr txBox="1"/>
          <p:nvPr>
            <p:ph type="title"/>
          </p:nvPr>
        </p:nvSpPr>
        <p:spPr>
          <a:xfrm>
            <a:off x="2193925" y="446087"/>
            <a:ext cx="8243887" cy="727075"/>
          </a:xfrm>
          <a:prstGeom prst="rect">
            <a:avLst/>
          </a:prstGeom>
          <a:noFill/>
          <a:ln>
            <a:noFill/>
          </a:ln>
        </p:spPr>
        <p:txBody>
          <a:bodyPr anchorCtr="0" anchor="t" bIns="49700" lIns="99425" spcFirstLastPara="1" rIns="99425" wrap="square" tIns="49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Методы выделения сообществ</a:t>
            </a:r>
            <a:br>
              <a:rPr b="0" i="0" lang="en-US" sz="3600" u="none">
                <a:solidFill>
                  <a:schemeClr val="dk1"/>
                </a:solidFill>
                <a:latin typeface="Calibri"/>
                <a:ea typeface="Calibri"/>
                <a:cs typeface="Calibri"/>
                <a:sym typeface="Calibri"/>
              </a:rPr>
            </a:br>
            <a:br>
              <a:rPr b="0" i="0" lang="en-US" sz="3600" u="none">
                <a:solidFill>
                  <a:schemeClr val="dk1"/>
                </a:solidFill>
                <a:latin typeface="Calibri"/>
                <a:ea typeface="Calibri"/>
                <a:cs typeface="Calibri"/>
                <a:sym typeface="Calibri"/>
              </a:rPr>
            </a:br>
            <a:endParaRPr/>
          </a:p>
        </p:txBody>
      </p:sp>
      <p:sp>
        <p:nvSpPr>
          <p:cNvPr id="919" name="Google Shape;919;p63"/>
          <p:cNvSpPr txBox="1"/>
          <p:nvPr/>
        </p:nvSpPr>
        <p:spPr>
          <a:xfrm>
            <a:off x="4894262" y="0"/>
            <a:ext cx="2032000"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Сложные сети</a:t>
            </a:r>
            <a:endParaRPr/>
          </a:p>
        </p:txBody>
      </p:sp>
      <p:sp>
        <p:nvSpPr>
          <p:cNvPr id="920" name="Google Shape;920;p63"/>
          <p:cNvSpPr txBox="1"/>
          <p:nvPr/>
        </p:nvSpPr>
        <p:spPr>
          <a:xfrm>
            <a:off x="5437187" y="1136650"/>
            <a:ext cx="17224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Eigenvector </a:t>
            </a:r>
            <a:endParaRPr/>
          </a:p>
        </p:txBody>
      </p:sp>
      <p:sp>
        <p:nvSpPr>
          <p:cNvPr id="921" name="Google Shape;921;p63"/>
          <p:cNvSpPr txBox="1"/>
          <p:nvPr/>
        </p:nvSpPr>
        <p:spPr>
          <a:xfrm>
            <a:off x="1782762" y="1835150"/>
            <a:ext cx="9015412" cy="1446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0" i="0" lang="en-US" sz="2200" u="none">
                <a:solidFill>
                  <a:schemeClr val="dk1"/>
                </a:solidFill>
                <a:latin typeface="Arial"/>
                <a:ea typeface="Arial"/>
                <a:cs typeface="Arial"/>
                <a:sym typeface="Arial"/>
              </a:rPr>
              <a:t>Спектральный метод, основанный на собственных векторах матрицы модулярности, которая определяется следующим образом:</a:t>
            </a:r>
            <a:br>
              <a:rPr b="0" i="0" lang="en-US" sz="2200" u="none">
                <a:solidFill>
                  <a:schemeClr val="dk1"/>
                </a:solidFill>
                <a:latin typeface="Arial"/>
                <a:ea typeface="Arial"/>
                <a:cs typeface="Arial"/>
                <a:sym typeface="Arial"/>
              </a:rPr>
            </a:br>
            <a:endParaRPr/>
          </a:p>
        </p:txBody>
      </p:sp>
      <p:sp>
        <p:nvSpPr>
          <p:cNvPr id="922" name="Google Shape;922;p63"/>
          <p:cNvSpPr txBox="1"/>
          <p:nvPr/>
        </p:nvSpPr>
        <p:spPr>
          <a:xfrm>
            <a:off x="1838325" y="3965575"/>
            <a:ext cx="8994775" cy="2554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где </a:t>
            </a:r>
            <a:r>
              <a:rPr b="0" i="1" lang="en-US" sz="2000" u="none">
                <a:solidFill>
                  <a:schemeClr val="dk1"/>
                </a:solidFill>
                <a:latin typeface="Arial"/>
                <a:ea typeface="Arial"/>
                <a:cs typeface="Arial"/>
                <a:sym typeface="Arial"/>
              </a:rPr>
              <a:t>d </a:t>
            </a:r>
            <a:r>
              <a:rPr b="0" i="0" lang="en-US" sz="2000" u="none">
                <a:solidFill>
                  <a:schemeClr val="dk1"/>
                </a:solidFill>
                <a:latin typeface="Arial"/>
                <a:ea typeface="Arial"/>
                <a:cs typeface="Arial"/>
                <a:sym typeface="Arial"/>
              </a:rPr>
              <a:t>— вектор, в </a:t>
            </a:r>
            <a:r>
              <a:rPr b="0" i="1" lang="en-US" sz="2000" u="none">
                <a:solidFill>
                  <a:schemeClr val="dk1"/>
                </a:solidFill>
                <a:latin typeface="Arial"/>
                <a:ea typeface="Arial"/>
                <a:cs typeface="Arial"/>
                <a:sym typeface="Arial"/>
              </a:rPr>
              <a:t>i</a:t>
            </a:r>
            <a:r>
              <a:rPr b="0" i="0" lang="en-US" sz="2000" u="none">
                <a:solidFill>
                  <a:schemeClr val="dk1"/>
                </a:solidFill>
                <a:latin typeface="Arial"/>
                <a:ea typeface="Arial"/>
                <a:cs typeface="Arial"/>
                <a:sym typeface="Arial"/>
              </a:rPr>
              <a:t>-ой позиции которого стоит степень </a:t>
            </a:r>
            <a:r>
              <a:rPr b="0" i="1" lang="en-US" sz="2000" u="none">
                <a:solidFill>
                  <a:schemeClr val="dk1"/>
                </a:solidFill>
                <a:latin typeface="Arial"/>
                <a:ea typeface="Arial"/>
                <a:cs typeface="Arial"/>
                <a:sym typeface="Arial"/>
              </a:rPr>
              <a:t>i</a:t>
            </a:r>
            <a:r>
              <a:rPr b="0" i="0" lang="en-US" sz="2000" u="none">
                <a:solidFill>
                  <a:schemeClr val="dk1"/>
                </a:solidFill>
                <a:latin typeface="Arial"/>
                <a:ea typeface="Arial"/>
                <a:cs typeface="Arial"/>
                <a:sym typeface="Arial"/>
              </a:rPr>
              <a:t>-ой вершины </a:t>
            </a:r>
            <a:r>
              <a:rPr b="0" i="1" lang="en-US" sz="2000" u="none">
                <a:solidFill>
                  <a:schemeClr val="dk1"/>
                </a:solidFill>
                <a:latin typeface="Arial"/>
                <a:ea typeface="Arial"/>
                <a:cs typeface="Arial"/>
                <a:sym typeface="Arial"/>
              </a:rPr>
              <a:t>di</a:t>
            </a:r>
            <a:r>
              <a:rPr b="0" i="0" lang="en-US" sz="2000" u="none">
                <a:solidFill>
                  <a:schemeClr val="dk1"/>
                </a:solidFill>
                <a:latin typeface="Arial"/>
                <a:ea typeface="Arial"/>
                <a:cs typeface="Arial"/>
                <a:sym typeface="Arial"/>
              </a:rPr>
              <a:t>.</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Для данной матрицы A находится первый собственный вектор (с максимальным собственным числом). </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Те вершины, у которых соответствующее значение меньше нуля, принадлежат одному сообществу, больше нуля — другому. </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Подобным образом возможно разделение на большее количество сообществ.</a:t>
            </a:r>
            <a:br>
              <a:rPr b="0" i="0" lang="en-US" sz="2000" u="none">
                <a:solidFill>
                  <a:schemeClr val="dk1"/>
                </a:solidFill>
                <a:latin typeface="Arial"/>
                <a:ea typeface="Arial"/>
                <a:cs typeface="Arial"/>
                <a:sym typeface="Arial"/>
              </a:rPr>
            </a:br>
            <a:endParaRPr/>
          </a:p>
        </p:txBody>
      </p:sp>
      <p:pic>
        <p:nvPicPr>
          <p:cNvPr id="923" name="Google Shape;923;p63"/>
          <p:cNvPicPr preferRelativeResize="0"/>
          <p:nvPr/>
        </p:nvPicPr>
        <p:blipFill rotWithShape="1">
          <a:blip r:embed="rId3">
            <a:alphaModFix/>
          </a:blip>
          <a:srcRect b="0" l="0" r="0" t="0"/>
          <a:stretch/>
        </p:blipFill>
        <p:spPr>
          <a:xfrm>
            <a:off x="4894262" y="2774950"/>
            <a:ext cx="2012950" cy="847725"/>
          </a:xfrm>
          <a:prstGeom prst="rect">
            <a:avLst/>
          </a:prstGeom>
          <a:noFill/>
          <a:ln>
            <a:noFill/>
          </a:ln>
        </p:spPr>
      </p:pic>
      <p:sp>
        <p:nvSpPr>
          <p:cNvPr id="924" name="Google Shape;924;p63"/>
          <p:cNvSpPr txBox="1"/>
          <p:nvPr/>
        </p:nvSpPr>
        <p:spPr>
          <a:xfrm>
            <a:off x="4533900" y="6370637"/>
            <a:ext cx="38877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1800"/>
              <a:buFont typeface="Arial"/>
              <a:buNone/>
            </a:pPr>
            <a:r>
              <a:rPr b="1" i="0" lang="en-US" sz="1800" u="none">
                <a:solidFill>
                  <a:srgbClr val="002060"/>
                </a:solidFill>
                <a:latin typeface="Arial"/>
                <a:ea typeface="Arial"/>
                <a:cs typeface="Arial"/>
                <a:sym typeface="Arial"/>
              </a:rPr>
              <a:t>R igraph: (cluster_leading_eigen)</a:t>
            </a:r>
            <a:endParaRPr/>
          </a:p>
        </p:txBody>
      </p:sp>
      <p:sp>
        <p:nvSpPr>
          <p:cNvPr id="925" name="Google Shape;925;p63"/>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64"/>
          <p:cNvSpPr/>
          <p:nvPr/>
        </p:nvSpPr>
        <p:spPr>
          <a:xfrm>
            <a:off x="1438275" y="336550"/>
            <a:ext cx="9791700" cy="661035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31" name="Google Shape;931;p64"/>
          <p:cNvSpPr txBox="1"/>
          <p:nvPr>
            <p:ph idx="4294967295" type="title"/>
          </p:nvPr>
        </p:nvSpPr>
        <p:spPr>
          <a:xfrm>
            <a:off x="1195387" y="285750"/>
            <a:ext cx="9248775" cy="454025"/>
          </a:xfrm>
          <a:prstGeom prst="rect">
            <a:avLst/>
          </a:prstGeom>
          <a:noFill/>
          <a:ln>
            <a:noFill/>
          </a:ln>
        </p:spPr>
        <p:txBody>
          <a:bodyPr anchorCtr="0" anchor="ctr" bIns="49700" lIns="99425" spcFirstLastPara="1" rIns="99425" wrap="square" tIns="49700">
            <a:normAutofit/>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Вопросы</a:t>
            </a:r>
            <a:endParaRPr/>
          </a:p>
        </p:txBody>
      </p:sp>
      <p:sp>
        <p:nvSpPr>
          <p:cNvPr id="932" name="Google Shape;932;p64"/>
          <p:cNvSpPr txBox="1"/>
          <p:nvPr/>
        </p:nvSpPr>
        <p:spPr>
          <a:xfrm>
            <a:off x="3905250" y="0"/>
            <a:ext cx="5100637" cy="407987"/>
          </a:xfrm>
          <a:prstGeom prst="rect">
            <a:avLst/>
          </a:prstGeom>
          <a:noFill/>
          <a:ln>
            <a:noFill/>
          </a:ln>
        </p:spPr>
        <p:txBody>
          <a:bodyPr anchorCtr="0" anchor="t" bIns="49700" lIns="99425" spcFirstLastPara="1" rIns="99425" wrap="square" tIns="49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Обработка больших данных. Л12</a:t>
            </a:r>
            <a:endParaRPr/>
          </a:p>
        </p:txBody>
      </p:sp>
      <p:sp>
        <p:nvSpPr>
          <p:cNvPr id="933" name="Google Shape;933;p64"/>
          <p:cNvSpPr txBox="1"/>
          <p:nvPr/>
        </p:nvSpPr>
        <p:spPr>
          <a:xfrm>
            <a:off x="1709737" y="955675"/>
            <a:ext cx="9088437" cy="347821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Назовите свойства социального графа. К какому семейству больших графов он относится?</a:t>
            </a:r>
            <a:endParaRPr/>
          </a:p>
          <a:p>
            <a:pPr indent="-342900" lvl="0" marL="3429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Перечислите основные метрики больших графов.</a:t>
            </a:r>
            <a:endParaRPr/>
          </a:p>
          <a:p>
            <a:pPr indent="-342900" lvl="0" marL="3429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Назовите критерии качества кластеризации и поясните их значение и когда они используются.</a:t>
            </a:r>
            <a:endParaRPr/>
          </a:p>
          <a:p>
            <a:pPr indent="-342900" lvl="0" marL="3429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Приведите примеры задач, которые могут быть решены с помощью больших графов.</a:t>
            </a:r>
            <a:endParaRPr/>
          </a:p>
          <a:p>
            <a:pPr indent="-342900" lvl="0" marL="342900" marR="0" rtl="0" algn="l">
              <a:lnSpc>
                <a:spcPct val="100000"/>
              </a:lnSpc>
              <a:spcBef>
                <a:spcPts val="0"/>
              </a:spcBef>
              <a:spcAft>
                <a:spcPts val="0"/>
              </a:spcAft>
              <a:buClr>
                <a:schemeClr val="dk1"/>
              </a:buClr>
              <a:buSzPts val="2000"/>
              <a:buFont typeface="Arial"/>
              <a:buAutoNum type="arabicPeriod"/>
            </a:pPr>
            <a:r>
              <a:rPr b="0" i="0" lang="en-US" sz="2000" u="none">
                <a:solidFill>
                  <a:schemeClr val="dk1"/>
                </a:solidFill>
                <a:latin typeface="Arial"/>
                <a:ea typeface="Arial"/>
                <a:cs typeface="Arial"/>
                <a:sym typeface="Arial"/>
              </a:rPr>
              <a:t>Дайте сравнительный анализ алгоритмов кластеризации.</a:t>
            </a:r>
            <a:endParaRPr/>
          </a:p>
          <a:p>
            <a:pPr indent="-215900" lvl="0" marL="34290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Arial"/>
              <a:ea typeface="Arial"/>
              <a:cs typeface="Arial"/>
              <a:sym typeface="Arial"/>
            </a:endParaRPr>
          </a:p>
          <a:p>
            <a:pPr indent="-215900" lvl="0" marL="342900" marR="0" rtl="0" algn="l">
              <a:lnSpc>
                <a:spcPct val="100000"/>
              </a:lnSpc>
              <a:spcBef>
                <a:spcPts val="0"/>
              </a:spcBef>
              <a:spcAft>
                <a:spcPts val="0"/>
              </a:spcAft>
              <a:buClr>
                <a:schemeClr val="dk1"/>
              </a:buClr>
              <a:buSzPts val="2000"/>
              <a:buFont typeface="Arial"/>
              <a:buNone/>
            </a:pPr>
            <a:r>
              <a:t/>
            </a:r>
            <a:endParaRPr b="1" i="0" sz="20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dk1"/>
              </a:solidFill>
              <a:latin typeface="Arial"/>
              <a:ea typeface="Arial"/>
              <a:cs typeface="Arial"/>
              <a:sym typeface="Arial"/>
            </a:endParaRPr>
          </a:p>
        </p:txBody>
      </p:sp>
      <p:sp>
        <p:nvSpPr>
          <p:cNvPr id="934" name="Google Shape;934;p64"/>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5"/>
          <p:cNvSpPr/>
          <p:nvPr/>
        </p:nvSpPr>
        <p:spPr>
          <a:xfrm>
            <a:off x="1438275" y="336550"/>
            <a:ext cx="9791700" cy="6610350"/>
          </a:xfrm>
          <a:prstGeom prst="roundRect">
            <a:avLst>
              <a:gd fmla="val 16667" name="adj"/>
            </a:avLst>
          </a:prstGeom>
          <a:solidFill>
            <a:srgbClr val="FFFFFF"/>
          </a:solidFill>
          <a:ln>
            <a:noFill/>
          </a:ln>
        </p:spPr>
        <p:txBody>
          <a:bodyPr anchorCtr="0" anchor="ctr" bIns="49700" lIns="99425" spcFirstLastPara="1" rIns="99425" wrap="square" tIns="49700">
            <a:noAutofit/>
          </a:bodyPr>
          <a:lstStyle/>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940" name="Google Shape;940;p65"/>
          <p:cNvSpPr txBox="1"/>
          <p:nvPr>
            <p:ph idx="4294967295" type="title"/>
          </p:nvPr>
        </p:nvSpPr>
        <p:spPr>
          <a:xfrm>
            <a:off x="1195387" y="285750"/>
            <a:ext cx="9248775" cy="454025"/>
          </a:xfrm>
          <a:prstGeom prst="rect">
            <a:avLst/>
          </a:prstGeom>
          <a:noFill/>
          <a:ln>
            <a:noFill/>
          </a:ln>
        </p:spPr>
        <p:txBody>
          <a:bodyPr anchorCtr="0" anchor="ctr" bIns="49700" lIns="99425" spcFirstLastPara="1" rIns="99425" wrap="square" tIns="49700">
            <a:normAutofit/>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Литература</a:t>
            </a:r>
            <a:endParaRPr/>
          </a:p>
        </p:txBody>
      </p:sp>
      <p:sp>
        <p:nvSpPr>
          <p:cNvPr id="941" name="Google Shape;941;p65"/>
          <p:cNvSpPr txBox="1"/>
          <p:nvPr/>
        </p:nvSpPr>
        <p:spPr>
          <a:xfrm>
            <a:off x="3905250" y="0"/>
            <a:ext cx="5100637" cy="407987"/>
          </a:xfrm>
          <a:prstGeom prst="rect">
            <a:avLst/>
          </a:prstGeom>
          <a:noFill/>
          <a:ln>
            <a:noFill/>
          </a:ln>
        </p:spPr>
        <p:txBody>
          <a:bodyPr anchorCtr="0" anchor="t" bIns="49700" lIns="99425" spcFirstLastPara="1" rIns="99425" wrap="square" tIns="49700">
            <a:spAutoFit/>
          </a:bodyPr>
          <a:lstStyle/>
          <a:p>
            <a:pPr indent="0" lvl="0" marL="0" marR="0" rtl="0" algn="l">
              <a:lnSpc>
                <a:spcPct val="100000"/>
              </a:lnSpc>
              <a:spcBef>
                <a:spcPts val="0"/>
              </a:spcBef>
              <a:spcAft>
                <a:spcPts val="0"/>
              </a:spcAft>
              <a:buClr>
                <a:schemeClr val="lt1"/>
              </a:buClr>
              <a:buSzPts val="2000"/>
              <a:buFont typeface="Courier New"/>
              <a:buNone/>
            </a:pPr>
            <a:r>
              <a:rPr b="1" i="0" lang="en-US" sz="2000" u="none">
                <a:solidFill>
                  <a:schemeClr val="lt1"/>
                </a:solidFill>
                <a:latin typeface="Courier New"/>
                <a:ea typeface="Courier New"/>
                <a:cs typeface="Courier New"/>
                <a:sym typeface="Courier New"/>
              </a:rPr>
              <a:t>Обработка больших данных. Л12</a:t>
            </a:r>
            <a:endParaRPr/>
          </a:p>
        </p:txBody>
      </p:sp>
      <p:sp>
        <p:nvSpPr>
          <p:cNvPr id="942" name="Google Shape;942;p65"/>
          <p:cNvSpPr txBox="1"/>
          <p:nvPr/>
        </p:nvSpPr>
        <p:spPr>
          <a:xfrm>
            <a:off x="1709737" y="955675"/>
            <a:ext cx="9520237" cy="61864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1" i="0" lang="en-US" sz="1800" u="none">
                <a:solidFill>
                  <a:schemeClr val="dk1"/>
                </a:solidFill>
                <a:latin typeface="Arial"/>
                <a:ea typeface="Arial"/>
                <a:cs typeface="Arial"/>
                <a:sym typeface="Arial"/>
              </a:rPr>
              <a:t>Social Network Analysis: Spark GraphX. </a:t>
            </a:r>
            <a:r>
              <a:rPr b="1" i="0" lang="en-US" sz="1800" u="sng">
                <a:solidFill>
                  <a:schemeClr val="dk1"/>
                </a:solidFill>
                <a:latin typeface="Arial"/>
                <a:ea typeface="Arial"/>
                <a:cs typeface="Arial"/>
                <a:sym typeface="Arial"/>
                <a:hlinkClick r:id="rId3">
                  <a:extLst>
                    <a:ext uri="{A12FA001-AC4F-418D-AE19-62706E023703}">
                      <ahyp:hlinkClr val="tx"/>
                    </a:ext>
                  </a:extLst>
                </a:hlinkClick>
              </a:rPr>
              <a:t>https://habrahabr.ru/company/mlclass/blog/252157/</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Michelle Girvan and Mark EJ Newman. Community structure in social and biological</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networks. </a:t>
            </a:r>
            <a:r>
              <a:rPr b="0" i="1" lang="en-US" sz="1800" u="none">
                <a:solidFill>
                  <a:schemeClr val="dk1"/>
                </a:solidFill>
                <a:latin typeface="Arial"/>
                <a:ea typeface="Arial"/>
                <a:cs typeface="Arial"/>
                <a:sym typeface="Arial"/>
              </a:rPr>
              <a:t>Proceedings of the National Academy of Sciences</a:t>
            </a:r>
            <a:r>
              <a:rPr b="0" i="0" lang="en-US" sz="1800" u="none">
                <a:solidFill>
                  <a:schemeClr val="dk1"/>
                </a:solidFill>
                <a:latin typeface="Arial"/>
                <a:ea typeface="Arial"/>
                <a:cs typeface="Arial"/>
                <a:sym typeface="Arial"/>
              </a:rPr>
              <a:t>, 99(12):7821–7826, 2002.</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Vincent D Blondel, Jean-Loup Guillaume, Renaud Lambiotte, and Etienne Lefebvre.</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Fast unfolding of communities in large networks. </a:t>
            </a:r>
            <a:r>
              <a:rPr b="0" i="1" lang="en-US" sz="1800" u="none">
                <a:solidFill>
                  <a:schemeClr val="dk1"/>
                </a:solidFill>
                <a:latin typeface="Arial"/>
                <a:ea typeface="Arial"/>
                <a:cs typeface="Arial"/>
                <a:sym typeface="Arial"/>
              </a:rPr>
              <a:t>Journal of Statistical Mechanics:</a:t>
            </a:r>
            <a:br>
              <a:rPr b="0" i="0" lang="en-US" sz="1800" u="none">
                <a:solidFill>
                  <a:schemeClr val="dk1"/>
                </a:solidFill>
                <a:latin typeface="Arial"/>
                <a:ea typeface="Arial"/>
                <a:cs typeface="Arial"/>
                <a:sym typeface="Arial"/>
              </a:rPr>
            </a:br>
            <a:r>
              <a:rPr b="0" i="1" lang="en-US" sz="1800" u="none">
                <a:solidFill>
                  <a:schemeClr val="dk1"/>
                </a:solidFill>
                <a:latin typeface="Arial"/>
                <a:ea typeface="Arial"/>
                <a:cs typeface="Arial"/>
                <a:sym typeface="Arial"/>
              </a:rPr>
              <a:t>Theory and Experiment</a:t>
            </a:r>
            <a:r>
              <a:rPr b="0" i="0" lang="en-US" sz="1800" u="none">
                <a:solidFill>
                  <a:schemeClr val="dk1"/>
                </a:solidFill>
                <a:latin typeface="Arial"/>
                <a:ea typeface="Arial"/>
                <a:cs typeface="Arial"/>
                <a:sym typeface="Arial"/>
              </a:rPr>
              <a:t>, 2008(10):P10008, 2008.</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Aaron Clauset, Mark EJ Newman, and Cristopher Moore. Finding community</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structure in very large networks. </a:t>
            </a:r>
            <a:r>
              <a:rPr b="0" i="1" lang="en-US" sz="1800" u="none">
                <a:solidFill>
                  <a:schemeClr val="dk1"/>
                </a:solidFill>
                <a:latin typeface="Arial"/>
                <a:ea typeface="Arial"/>
                <a:cs typeface="Arial"/>
                <a:sym typeface="Arial"/>
              </a:rPr>
              <a:t>Physical review E</a:t>
            </a:r>
            <a:r>
              <a:rPr b="0" i="0" lang="en-US" sz="1800" u="none">
                <a:solidFill>
                  <a:schemeClr val="dk1"/>
                </a:solidFill>
                <a:latin typeface="Arial"/>
                <a:ea typeface="Arial"/>
                <a:cs typeface="Arial"/>
                <a:sym typeface="Arial"/>
              </a:rPr>
              <a:t>, 70(6):066111, 2004.</a:t>
            </a:r>
            <a:br>
              <a:rPr b="0" i="0" lang="en-US" sz="1800" u="none">
                <a:solidFill>
                  <a:schemeClr val="dk1"/>
                </a:solidFill>
                <a:latin typeface="Arial"/>
                <a:ea typeface="Arial"/>
                <a:cs typeface="Arial"/>
                <a:sym typeface="Arial"/>
              </a:rPr>
            </a:br>
            <a:r>
              <a:rPr b="0" i="0" lang="en-US" sz="1800" u="sng">
                <a:solidFill>
                  <a:schemeClr val="dk1"/>
                </a:solidFill>
                <a:latin typeface="Arial"/>
                <a:ea typeface="Arial"/>
                <a:cs typeface="Arial"/>
                <a:sym typeface="Arial"/>
                <a:hlinkClick r:id="rId4">
                  <a:extLst>
                    <a:ext uri="{A12FA001-AC4F-418D-AE19-62706E023703}">
                      <ahyp:hlinkClr val="tx"/>
                    </a:ext>
                  </a:extLst>
                </a:hlinkClick>
              </a:rPr>
              <a:t>http://www.arxiv.org/abs/cond- mat/0408187</a:t>
            </a:r>
            <a:r>
              <a:rPr b="0" i="0" lang="en-US" sz="1800" u="none">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Usha Nandini Raghavan, R´eka Albert, and Soundar Kumara. Near linear time</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algorithm to detect community structures in large-scale networks. </a:t>
            </a:r>
            <a:r>
              <a:rPr b="0" i="1" lang="en-US" sz="1800" u="none">
                <a:solidFill>
                  <a:schemeClr val="dk1"/>
                </a:solidFill>
                <a:latin typeface="Arial"/>
                <a:ea typeface="Arial"/>
                <a:cs typeface="Arial"/>
                <a:sym typeface="Arial"/>
              </a:rPr>
              <a:t>Physical Review</a:t>
            </a:r>
            <a:br>
              <a:rPr b="0" i="0" lang="en-US" sz="1800" u="none">
                <a:solidFill>
                  <a:schemeClr val="dk1"/>
                </a:solidFill>
                <a:latin typeface="Arial"/>
                <a:ea typeface="Arial"/>
                <a:cs typeface="Arial"/>
                <a:sym typeface="Arial"/>
              </a:rPr>
            </a:br>
            <a:r>
              <a:rPr b="0" i="1" lang="en-US" sz="1800" u="none">
                <a:solidFill>
                  <a:schemeClr val="dk1"/>
                </a:solidFill>
                <a:latin typeface="Arial"/>
                <a:ea typeface="Arial"/>
                <a:cs typeface="Arial"/>
                <a:sym typeface="Arial"/>
              </a:rPr>
              <a:t>E</a:t>
            </a:r>
            <a:r>
              <a:rPr b="0" i="0" lang="en-US" sz="1800" u="none">
                <a:solidFill>
                  <a:schemeClr val="dk1"/>
                </a:solidFill>
                <a:latin typeface="Arial"/>
                <a:ea typeface="Arial"/>
                <a:cs typeface="Arial"/>
                <a:sym typeface="Arial"/>
              </a:rPr>
              <a:t>, 76(3):036106, 2007. </a:t>
            </a:r>
            <a:r>
              <a:rPr b="0" i="0" lang="en-US" sz="1800" u="sng">
                <a:solidFill>
                  <a:schemeClr val="dk1"/>
                </a:solidFill>
                <a:latin typeface="Arial"/>
                <a:ea typeface="Arial"/>
                <a:cs typeface="Arial"/>
                <a:sym typeface="Arial"/>
                <a:hlinkClick r:id="rId5">
                  <a:extLst>
                    <a:ext uri="{A12FA001-AC4F-418D-AE19-62706E023703}">
                      <ahyp:hlinkClr val="tx"/>
                    </a:ext>
                  </a:extLst>
                </a:hlinkClick>
              </a:rPr>
              <a:t>http://www.arxiv.org/abs/0709.2938</a:t>
            </a:r>
            <a:r>
              <a:rPr b="0" i="0" lang="en-US" sz="1800" u="none">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Pascal Pons and Matthieu Latapy. Computing communities in large networks using</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random walks. In </a:t>
            </a:r>
            <a:r>
              <a:rPr b="0" i="1" lang="en-US" sz="1800" u="none">
                <a:solidFill>
                  <a:schemeClr val="dk1"/>
                </a:solidFill>
                <a:latin typeface="Arial"/>
                <a:ea typeface="Arial"/>
                <a:cs typeface="Arial"/>
                <a:sym typeface="Arial"/>
              </a:rPr>
              <a:t>Computer and Information Sciences-ISCIS 2005</a:t>
            </a:r>
            <a:r>
              <a:rPr b="0" i="0" lang="en-US" sz="1800" u="none">
                <a:solidFill>
                  <a:schemeClr val="dk1"/>
                </a:solidFill>
                <a:latin typeface="Arial"/>
                <a:ea typeface="Arial"/>
                <a:cs typeface="Arial"/>
                <a:sym typeface="Arial"/>
              </a:rPr>
              <a:t>, pages 284–293.</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Springer, 2005. </a:t>
            </a:r>
            <a:r>
              <a:rPr b="0" i="0" lang="en-US" sz="1800" u="sng">
                <a:solidFill>
                  <a:schemeClr val="dk1"/>
                </a:solidFill>
                <a:latin typeface="Arial"/>
                <a:ea typeface="Arial"/>
                <a:cs typeface="Arial"/>
                <a:sym typeface="Arial"/>
                <a:hlinkClick r:id="rId6">
                  <a:extLst>
                    <a:ext uri="{A12FA001-AC4F-418D-AE19-62706E023703}">
                      <ahyp:hlinkClr val="tx"/>
                    </a:ext>
                  </a:extLst>
                </a:hlinkClick>
              </a:rPr>
              <a:t>http://arxiv.org/abs/physics/0512106v1</a:t>
            </a:r>
            <a:r>
              <a:rPr b="0" i="0" lang="en-US" sz="1800" u="none">
                <a:solidFill>
                  <a:schemeClr val="dk1"/>
                </a:solidFill>
                <a:latin typeface="Arial"/>
                <a:ea typeface="Arial"/>
                <a:cs typeface="Arial"/>
                <a:sym typeface="Arial"/>
              </a:rPr>
              <a:t>.</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Marti n Rosvall, Daniel Axelsson, and Carl T Bergstrom. The map equation. </a:t>
            </a:r>
            <a:r>
              <a:rPr b="0" i="1" lang="en-US" sz="1800" u="none">
                <a:solidFill>
                  <a:schemeClr val="dk1"/>
                </a:solidFill>
                <a:latin typeface="Arial"/>
                <a:ea typeface="Arial"/>
                <a:cs typeface="Arial"/>
                <a:sym typeface="Arial"/>
              </a:rPr>
              <a:t>The</a:t>
            </a:r>
            <a:br>
              <a:rPr b="0" i="0" lang="en-US" sz="1800" u="none">
                <a:solidFill>
                  <a:schemeClr val="dk1"/>
                </a:solidFill>
                <a:latin typeface="Arial"/>
                <a:ea typeface="Arial"/>
                <a:cs typeface="Arial"/>
                <a:sym typeface="Arial"/>
              </a:rPr>
            </a:br>
            <a:r>
              <a:rPr b="0" i="1" lang="en-US" sz="1800" u="none">
                <a:solidFill>
                  <a:schemeClr val="dk1"/>
                </a:solidFill>
                <a:latin typeface="Arial"/>
                <a:ea typeface="Arial"/>
                <a:cs typeface="Arial"/>
                <a:sym typeface="Arial"/>
              </a:rPr>
              <a:t>European Physical Journal-Special Topics</a:t>
            </a:r>
            <a:r>
              <a:rPr b="0" i="0" lang="en-US" sz="1800" u="none">
                <a:solidFill>
                  <a:schemeClr val="dk1"/>
                </a:solidFill>
                <a:latin typeface="Arial"/>
                <a:ea typeface="Arial"/>
                <a:cs typeface="Arial"/>
                <a:sym typeface="Arial"/>
              </a:rPr>
              <a:t>, 178(1):13–23, 2009.</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Mark EJ Newman. Finding community structure in networks using the eigenvectors</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of matrices. </a:t>
            </a:r>
            <a:r>
              <a:rPr b="0" i="1" lang="en-US" sz="1800" u="none">
                <a:solidFill>
                  <a:schemeClr val="dk1"/>
                </a:solidFill>
                <a:latin typeface="Arial"/>
                <a:ea typeface="Arial"/>
                <a:cs typeface="Arial"/>
                <a:sym typeface="Arial"/>
              </a:rPr>
              <a:t>Physical review E</a:t>
            </a:r>
            <a:r>
              <a:rPr b="0" i="0" lang="en-US" sz="1800" u="none">
                <a:solidFill>
                  <a:schemeClr val="dk1"/>
                </a:solidFill>
                <a:latin typeface="Arial"/>
                <a:ea typeface="Arial"/>
                <a:cs typeface="Arial"/>
                <a:sym typeface="Arial"/>
              </a:rPr>
              <a:t>, 74(3):036104, 2006. </a:t>
            </a:r>
            <a:r>
              <a:rPr b="0" i="0" lang="en-US" sz="1800" u="sng">
                <a:solidFill>
                  <a:schemeClr val="dk1"/>
                </a:solidFill>
                <a:latin typeface="Arial"/>
                <a:ea typeface="Arial"/>
                <a:cs typeface="Arial"/>
                <a:sym typeface="Arial"/>
                <a:hlinkClick r:id="rId7">
                  <a:extLst>
                    <a:ext uri="{A12FA001-AC4F-418D-AE19-62706E023703}">
                      <ahyp:hlinkClr val="tx"/>
                    </a:ext>
                  </a:extLst>
                </a:hlinkClick>
              </a:rPr>
              <a:t>http://arxiv.org/abs/physics/0605087</a:t>
            </a:r>
            <a:endParaRPr/>
          </a:p>
          <a:p>
            <a:pPr indent="-342900" lvl="0" marL="342900" marR="0" rtl="0" algn="l">
              <a:lnSpc>
                <a:spcPct val="100000"/>
              </a:lnSpc>
              <a:spcBef>
                <a:spcPts val="0"/>
              </a:spcBef>
              <a:spcAft>
                <a:spcPts val="0"/>
              </a:spcAft>
              <a:buClr>
                <a:schemeClr val="dk1"/>
              </a:buClr>
              <a:buSzPts val="1800"/>
              <a:buFont typeface="Arial"/>
              <a:buAutoNum type="arabicPeriod"/>
            </a:pPr>
            <a:r>
              <a:rPr b="0" i="0" lang="en-US" sz="1800" u="none">
                <a:solidFill>
                  <a:schemeClr val="dk1"/>
                </a:solidFill>
                <a:latin typeface="Arial"/>
                <a:ea typeface="Arial"/>
                <a:cs typeface="Arial"/>
                <a:sym typeface="Arial"/>
              </a:rPr>
              <a:t>http://www.i-bakery.ru/page/analiz-sozialnoh-setei-dlja-effektivnogo-upravlenija-izmenenijami</a:t>
            </a:r>
            <a:endParaRPr/>
          </a:p>
        </p:txBody>
      </p:sp>
      <p:sp>
        <p:nvSpPr>
          <p:cNvPr id="943" name="Google Shape;943;p65"/>
          <p:cNvSpPr txBox="1"/>
          <p:nvPr/>
        </p:nvSpPr>
        <p:spPr>
          <a:xfrm>
            <a:off x="9078912" y="6605587"/>
            <a:ext cx="2955925"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Arial"/>
              <a:buNone/>
            </a:pPr>
            <a:fld id="{00000000-1234-1234-1234-123412341234}" type="slidenum">
              <a:rPr b="0" i="0" lang="en-US" sz="1200" u="none">
                <a:solidFill>
                  <a:srgbClr val="898989"/>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2_ТемаBD">
  <a:themeElements>
    <a:clrScheme name="Воздушный поток">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ТемаBD">
  <a:themeElements>
    <a:clrScheme name="Воздушный поток">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ТемаBD">
  <a:themeElements>
    <a:clrScheme name="Воздушный поток">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2015-01-17T09:44:41Z</dcterms:created>
  <dc:creator>Tatyana</dc:creator>
</cp:coreProperties>
</file>

<file path=docProps/custom.xml><?xml version="1.0" encoding="utf-8"?>
<Properties xmlns="http://schemas.openxmlformats.org/officeDocument/2006/custom-properties" xmlns:vt="http://schemas.openxmlformats.org/officeDocument/2006/docPropsVTypes"/>
</file>