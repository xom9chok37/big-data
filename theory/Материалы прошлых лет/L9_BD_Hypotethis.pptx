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Lst>
  <p:sldSz cy="7126275" cx="12668250"/>
  <p:notesSz cx="6858000" cy="9144000"/>
  <p:embeddedFontLst>
    <p:embeddedFont>
      <p:font typeface="Quattrocento Sans"/>
      <p:regular r:id="rId127"/>
      <p:bold r:id="rId128"/>
      <p:italic r:id="rId129"/>
      <p:boldItalic r:id="rId130"/>
    </p:embeddedFont>
    <p:embeddedFont>
      <p:font typeface="Noto Sans Symbols"/>
      <p:regular r:id="rId131"/>
      <p:bold r:id="rId132"/>
    </p:embeddedFont>
    <p:embeddedFont>
      <p:font typeface="Barlow"/>
      <p:regular r:id="rId133"/>
      <p:bold r:id="rId134"/>
      <p:italic r:id="rId135"/>
      <p:boldItalic r:id="rId1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45">
          <p15:clr>
            <a:srgbClr val="A4A3A4"/>
          </p15:clr>
        </p15:guide>
        <p15:guide id="2" pos="3990">
          <p15:clr>
            <a:srgbClr val="A4A3A4"/>
          </p15:clr>
        </p15:guide>
      </p15:sldGuideLst>
    </p:ext>
    <p:ext uri="GoogleSlidesCustomDataVersion2">
      <go:slidesCustomData xmlns:go="http://customooxmlschemas.google.com/" r:id="rId137" roundtripDataSignature="AMtx7mjRzJqUAvkhE2fu84Za5I99f641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3BBE89-B502-4C58-A022-6D75D2177D49}">
  <a:tblStyle styleId="{793BBE89-B502-4C58-A022-6D75D2177D4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7B1AC29-E5AA-43DE-BD46-4EA69F949897}"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45" orient="horz"/>
        <p:guide pos="399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font" Target="fonts/QuattrocentoSans-italic.fntdata"/><Relationship Id="rId128" Type="http://schemas.openxmlformats.org/officeDocument/2006/relationships/font" Target="fonts/QuattrocentoSans-bold.fntdata"/><Relationship Id="rId127" Type="http://schemas.openxmlformats.org/officeDocument/2006/relationships/font" Target="fonts/QuattrocentoSans-regular.fntdata"/><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7" Type="http://customschemas.google.com/relationships/presentationmetadata" Target="metadata"/><Relationship Id="rId132" Type="http://schemas.openxmlformats.org/officeDocument/2006/relationships/font" Target="fonts/NotoSansSymbols-bold.fntdata"/><Relationship Id="rId131" Type="http://schemas.openxmlformats.org/officeDocument/2006/relationships/font" Target="fonts/NotoSansSymbols-regular.fntdata"/><Relationship Id="rId130" Type="http://schemas.openxmlformats.org/officeDocument/2006/relationships/font" Target="fonts/QuattrocentoSans-boldItalic.fntdata"/><Relationship Id="rId136" Type="http://schemas.openxmlformats.org/officeDocument/2006/relationships/font" Target="fonts/Barlow-boldItalic.fntdata"/><Relationship Id="rId135" Type="http://schemas.openxmlformats.org/officeDocument/2006/relationships/font" Target="fonts/Barlow-italic.fntdata"/><Relationship Id="rId134" Type="http://schemas.openxmlformats.org/officeDocument/2006/relationships/font" Target="fonts/Barlow-bold.fntdata"/><Relationship Id="rId133" Type="http://schemas.openxmlformats.org/officeDocument/2006/relationships/font" Target="fonts/Barlow-regular.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91" name="Google Shape;91;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93" name="Google Shape;93;p1: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00" name="Google Shape;100;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18" name="Google Shape;118;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37" name="Google Shape;137;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46" name="Google Shape;146;p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47" name="Google Shape;14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57" name="Google Shape;157;p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58" name="Google Shape;15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68" name="Google Shape;168;p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69" name="Google Shape;16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80" name="Google Shape;180;p8: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81" name="Google Shape;18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91" name="Google Shape;191;p9: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92" name="Google Shape;19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03" name="Google Shape;203;p10: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04" name="Google Shape;20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14" name="Google Shape;214;p1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15" name="Google Shape;21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25" name="Google Shape;225;p1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26" name="Google Shape;22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35" name="Google Shape;235;p13: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36" name="Google Shape;23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p:nvPr>
            <p:ph idx="2" type="sldImg"/>
          </p:nvPr>
        </p:nvSpPr>
        <p:spPr>
          <a:xfrm>
            <a:off x="-17075150" y="-11796713"/>
            <a:ext cx="22352000" cy="125745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46" name="Google Shape;24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56" name="Google Shape;256;p1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57" name="Google Shape;25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67" name="Google Shape;267;p1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68" name="Google Shape;26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79" name="Google Shape;279;p1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80" name="Google Shape;28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291" name="Google Shape;291;p18: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292" name="Google Shape;29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01" name="Google Shape;301;p19: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02" name="Google Shape;30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0: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14" name="Google Shape;314;p20: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15" name="Google Shape;31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24" name="Google Shape;324;p2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25" name="Google Shape;32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34" name="Google Shape;334;p2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35" name="Google Shape;33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3: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46" name="Google Shape;346;p23: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47" name="Google Shape;34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4: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55" name="Google Shape;355;p24: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56" name="Google Shape;35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65" name="Google Shape;365;p2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66" name="Google Shape;36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77" name="Google Shape;377;p2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78" name="Google Shape;37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389" name="Google Shape;389;p2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90" name="Google Shape;39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8: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400" name="Google Shape;400;p28: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01" name="Google Shape;40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9: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411" name="Google Shape;411;p29: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12" name="Google Shape;41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422" name="Google Shape;422;p3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431" name="Google Shape;431;p3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32" name="Google Shape;43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441" name="Google Shape;441;p3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42" name="Google Shape;442;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2" name="Google Shape;452;p3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4: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466" name="Google Shape;466;p34: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67" name="Google Shape;46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478" name="Google Shape;478;p3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79" name="Google Shape;47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489" name="Google Shape;489;p3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490" name="Google Shape;490;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1" name="Google Shape;501;p3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1" name="Google Shape;511;p3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9: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20" name="Google Shape;520;p39: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21" name="Google Shape;52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0: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30" name="Google Shape;530;p40: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31" name="Google Shape;531;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40" name="Google Shape;540;p4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41" name="Google Shape;541;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42:notes"/>
          <p:cNvSpPr/>
          <p:nvPr>
            <p:ph idx="2" type="sldImg"/>
          </p:nvPr>
        </p:nvSpPr>
        <p:spPr>
          <a:xfrm>
            <a:off x="-17075150" y="-11796713"/>
            <a:ext cx="22352000" cy="125745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50" name="Google Shape;55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43: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66" name="Google Shape;566;p43: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67" name="Google Shape;567;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44: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76" name="Google Shape;576;p44: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77" name="Google Shape;577;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86" name="Google Shape;586;p4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87" name="Google Shape;587;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4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96" name="Google Shape;596;p4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597" name="Google Shape;597;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06" name="Google Shape;606;p4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5" name="Google Shape;615;p4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9: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23" name="Google Shape;623;p49: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624" name="Google Shape;62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50: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34" name="Google Shape;634;p50: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635" name="Google Shape;63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5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47" name="Google Shape;647;p5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648" name="Google Shape;648;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5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57" name="Google Shape;657;p5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658" name="Google Shape;658;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53: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68" name="Google Shape;668;p53: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669" name="Google Shape;669;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54: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80" name="Google Shape;680;p54: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681" name="Google Shape;68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5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93" name="Google Shape;693;p5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694" name="Google Shape;694;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03" name="Google Shape;703;p5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04" name="Google Shape;704;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5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13" name="Google Shape;713;p5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14" name="Google Shape;714;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58: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23" name="Google Shape;723;p58: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24" name="Google Shape;724;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59: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34" name="Google Shape;734;p59: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35" name="Google Shape;735;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60: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44" name="Google Shape;744;p60: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45" name="Google Shape;74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6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54" name="Google Shape;754;p6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55" name="Google Shape;755;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6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64" name="Google Shape;764;p6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65" name="Google Shape;765;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63: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74" name="Google Shape;774;p63: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75" name="Google Shape;775;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64: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85" name="Google Shape;785;p64: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86" name="Google Shape;786;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6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97" name="Google Shape;797;p6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798" name="Google Shape;798;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6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08" name="Google Shape;808;p6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809" name="Google Shape;809;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6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26" name="Google Shape;826;p6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827" name="Google Shape;827;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68: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36" name="Google Shape;836;p68: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837" name="Google Shape;837;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846" name="Google Shape;846;p6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7" name="Google Shape;847;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855" name="Google Shape;855;p7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6" name="Google Shape;856;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73" name="Google Shape;873;p7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874" name="Google Shape;874;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7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85" name="Google Shape;885;p7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886" name="Google Shape;886;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73: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95" name="Google Shape;895;p73: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896" name="Google Shape;896;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74: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05" name="Google Shape;905;p74: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06" name="Google Shape;906;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7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21" name="Google Shape;921;p7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22" name="Google Shape;922;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7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34" name="Google Shape;934;p7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35" name="Google Shape;935;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7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46" name="Google Shape;946;p7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47" name="Google Shape;947;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78: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58" name="Google Shape;958;p78: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59" name="Google Shape;959;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79: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71" name="Google Shape;971;p79: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72" name="Google Shape;972;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80: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84" name="Google Shape;984;p80: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85" name="Google Shape;985;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81: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94" name="Google Shape;994;p81: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995" name="Google Shape;995;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8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04" name="Google Shape;1004;p8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005" name="Google Shape;1005;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83: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14" name="Google Shape;1014;p83: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015" name="Google Shape;1015;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84: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22" name="Google Shape;1022;p84: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023" name="Google Shape;1023;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85: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30" name="Google Shape;1030;p85: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031" name="Google Shape;1031;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8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41" name="Google Shape;1041;p8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042" name="Google Shape;1042;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8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51" name="Google Shape;1051;p8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052" name="Google Shape;1052;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61" name="Google Shape;1061;p8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3" name="Google Shape;1073;p8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03" name="Google Shape;1103;p9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2" name="Google Shape;1122;p9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34" name="Google Shape;1134;p9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8" name="Google Shape;1148;p9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8" name="Google Shape;1168;p9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179" name="Google Shape;1179;p9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0" name="Google Shape;1180;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96: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97" name="Google Shape;1197;p96: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198" name="Google Shape;1198;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9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207" name="Google Shape;1207;p9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208" name="Google Shape;1208;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98: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217" name="Google Shape;1217;p98: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218" name="Google Shape;1218;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0" name="Google Shape;1230;p9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0" name="Google Shape;1240;p10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4" name="Google Shape;1254;p10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87" name="Google Shape;1287;p10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23" name="Google Shape;1323;p10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4" name="Google Shape;1334;p10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44" name="Google Shape;1344;p10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55" name="Google Shape;1355;p10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1" name="Google Shape;1391;p10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2" name="Google Shape;1402;p10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2" name="Google Shape;1412;p10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1" name="Google Shape;1421;p11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0" name="Google Shape;1430;p1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112: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443" name="Google Shape;1443;p112: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444" name="Google Shape;1444;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1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453" name="Google Shape;1453;p11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4" name="Google Shape;1454;p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114:notes"/>
          <p:cNvSpPr/>
          <p:nvPr>
            <p:ph idx="2" type="sldImg"/>
          </p:nvPr>
        </p:nvSpPr>
        <p:spPr>
          <a:xfrm>
            <a:off x="-17075150" y="-11796713"/>
            <a:ext cx="22352000" cy="125745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471" name="Google Shape;1471;p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15:notes"/>
          <p:cNvSpPr/>
          <p:nvPr>
            <p:ph idx="2" type="sldImg"/>
          </p:nvPr>
        </p:nvSpPr>
        <p:spPr>
          <a:xfrm>
            <a:off x="-17075150" y="-11796713"/>
            <a:ext cx="22352000" cy="125745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480" name="Google Shape;1480;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p116:notes"/>
          <p:cNvSpPr/>
          <p:nvPr>
            <p:ph idx="2" type="sldImg"/>
          </p:nvPr>
        </p:nvSpPr>
        <p:spPr>
          <a:xfrm>
            <a:off x="-17075150" y="-11796713"/>
            <a:ext cx="22352000" cy="125745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489" name="Google Shape;1489;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117:notes"/>
          <p:cNvSpPr/>
          <p:nvPr>
            <p:ph idx="2" type="sldImg"/>
          </p:nvPr>
        </p:nvSpPr>
        <p:spPr>
          <a:xfrm>
            <a:off x="142875" y="777875"/>
            <a:ext cx="6815138" cy="383540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498" name="Google Shape;1498;p117:notes"/>
          <p:cNvSpPr txBox="1"/>
          <p:nvPr/>
        </p:nvSpPr>
        <p:spPr>
          <a:xfrm>
            <a:off x="709200" y="4859280"/>
            <a:ext cx="5681880" cy="4603679"/>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1499" name="Google Shape;1499;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118:notes"/>
          <p:cNvSpPr/>
          <p:nvPr>
            <p:ph idx="2" type="sldImg"/>
          </p:nvPr>
        </p:nvSpPr>
        <p:spPr>
          <a:xfrm>
            <a:off x="-17075150" y="-11796713"/>
            <a:ext cx="22352000" cy="125745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508" name="Google Shape;1508;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119:notes"/>
          <p:cNvSpPr/>
          <p:nvPr>
            <p:ph idx="2" type="sldImg"/>
          </p:nvPr>
        </p:nvSpPr>
        <p:spPr>
          <a:xfrm>
            <a:off x="-17075150" y="-11796713"/>
            <a:ext cx="22352000" cy="125745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517" name="Google Shape;1517;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p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26" name="Google Shape;1526;p12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hyperlink" Target="http://presentation-creation.ru/"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5" name="Shape 15"/>
        <p:cNvGrpSpPr/>
        <p:nvPr/>
      </p:nvGrpSpPr>
      <p:grpSpPr>
        <a:xfrm>
          <a:off x="0" y="0"/>
          <a:ext cx="0" cy="0"/>
          <a:chOff x="0" y="0"/>
          <a:chExt cx="0" cy="0"/>
        </a:xfrm>
      </p:grpSpPr>
      <p:sp>
        <p:nvSpPr>
          <p:cNvPr id="16" name="Google Shape;16;p122"/>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22"/>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2"/>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9" name="Shape 19"/>
        <p:cNvGrpSpPr/>
        <p:nvPr/>
      </p:nvGrpSpPr>
      <p:grpSpPr>
        <a:xfrm>
          <a:off x="0" y="0"/>
          <a:ext cx="0" cy="0"/>
          <a:chOff x="0" y="0"/>
          <a:chExt cx="0" cy="0"/>
        </a:xfrm>
      </p:grpSpPr>
      <p:sp>
        <p:nvSpPr>
          <p:cNvPr id="20" name="Google Shape;20;p123"/>
          <p:cNvSpPr txBox="1"/>
          <p:nvPr>
            <p:ph type="title"/>
          </p:nvPr>
        </p:nvSpPr>
        <p:spPr>
          <a:xfrm>
            <a:off x="633413" y="285383"/>
            <a:ext cx="11401426"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23"/>
          <p:cNvSpPr txBox="1"/>
          <p:nvPr>
            <p:ph idx="1" type="body"/>
          </p:nvPr>
        </p:nvSpPr>
        <p:spPr>
          <a:xfrm>
            <a:off x="633413" y="1662802"/>
            <a:ext cx="11401426" cy="4703021"/>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123"/>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23"/>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23"/>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 name="Shape 25"/>
        <p:cNvGrpSpPr/>
        <p:nvPr/>
      </p:nvGrpSpPr>
      <p:grpSpPr>
        <a:xfrm>
          <a:off x="0" y="0"/>
          <a:ext cx="0" cy="0"/>
          <a:chOff x="0" y="0"/>
          <a:chExt cx="0" cy="0"/>
        </a:xfrm>
      </p:grpSpPr>
      <p:sp>
        <p:nvSpPr>
          <p:cNvPr id="26" name="Google Shape;26;p124"/>
          <p:cNvSpPr txBox="1"/>
          <p:nvPr>
            <p:ph idx="11" type="ftr"/>
          </p:nvPr>
        </p:nvSpPr>
        <p:spPr>
          <a:xfrm>
            <a:off x="4307206" y="6627448"/>
            <a:ext cx="4053840" cy="356314"/>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4"/>
          <p:cNvSpPr txBox="1"/>
          <p:nvPr>
            <p:ph idx="10" type="dt"/>
          </p:nvPr>
        </p:nvSpPr>
        <p:spPr>
          <a:xfrm>
            <a:off x="633414" y="6627448"/>
            <a:ext cx="2913697" cy="356314"/>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24"/>
          <p:cNvSpPr txBox="1"/>
          <p:nvPr>
            <p:ph idx="12" type="sldNum"/>
          </p:nvPr>
        </p:nvSpPr>
        <p:spPr>
          <a:xfrm>
            <a:off x="9121141" y="6627448"/>
            <a:ext cx="2913697" cy="356314"/>
          </a:xfrm>
          <a:prstGeom prst="rect">
            <a:avLst/>
          </a:prstGeom>
          <a:noFill/>
          <a:ln>
            <a:noFill/>
          </a:ln>
        </p:spPr>
        <p:txBody>
          <a:bodyPr anchorCtr="0" anchor="ctr" bIns="0" lIns="0" spcFirstLastPara="1" rIns="0" wrap="square" tIns="0">
            <a:noAutofit/>
          </a:bodyPr>
          <a:lstStyle>
            <a:lvl1pPr indent="0" lvl="0" marL="0" algn="r">
              <a:spcBef>
                <a:spcPts val="0"/>
              </a:spcBef>
              <a:spcAft>
                <a:spcPts val="0"/>
              </a:spcAft>
              <a:buNone/>
              <a:defRPr>
                <a:solidFill>
                  <a:srgbClr val="888888"/>
                </a:solidFill>
              </a:defRPr>
            </a:lvl1pPr>
            <a:lvl2pPr indent="0" lvl="1" marL="0" algn="r">
              <a:spcBef>
                <a:spcPts val="0"/>
              </a:spcBef>
              <a:spcAft>
                <a:spcPts val="0"/>
              </a:spcAft>
              <a:buNone/>
              <a:defRPr>
                <a:solidFill>
                  <a:srgbClr val="888888"/>
                </a:solidFill>
              </a:defRPr>
            </a:lvl2pPr>
            <a:lvl3pPr indent="0" lvl="2" marL="0" algn="r">
              <a:spcBef>
                <a:spcPts val="0"/>
              </a:spcBef>
              <a:spcAft>
                <a:spcPts val="0"/>
              </a:spcAft>
              <a:buNone/>
              <a:defRPr>
                <a:solidFill>
                  <a:srgbClr val="888888"/>
                </a:solidFill>
              </a:defRPr>
            </a:lvl3pPr>
            <a:lvl4pPr indent="0" lvl="3" marL="0" algn="r">
              <a:spcBef>
                <a:spcPts val="0"/>
              </a:spcBef>
              <a:spcAft>
                <a:spcPts val="0"/>
              </a:spcAft>
              <a:buNone/>
              <a:defRPr>
                <a:solidFill>
                  <a:srgbClr val="888888"/>
                </a:solidFill>
              </a:defRPr>
            </a:lvl4pPr>
            <a:lvl5pPr indent="0" lvl="4" marL="0" algn="r">
              <a:spcBef>
                <a:spcPts val="0"/>
              </a:spcBef>
              <a:spcAft>
                <a:spcPts val="0"/>
              </a:spcAft>
              <a:buNone/>
              <a:defRPr>
                <a:solidFill>
                  <a:srgbClr val="888888"/>
                </a:solidFill>
              </a:defRPr>
            </a:lvl5pPr>
            <a:lvl6pPr indent="0" lvl="5" marL="0" algn="r">
              <a:spcBef>
                <a:spcPts val="0"/>
              </a:spcBef>
              <a:spcAft>
                <a:spcPts val="0"/>
              </a:spcAft>
              <a:buNone/>
              <a:defRPr>
                <a:solidFill>
                  <a:srgbClr val="888888"/>
                </a:solidFill>
              </a:defRPr>
            </a:lvl6pPr>
            <a:lvl7pPr indent="0" lvl="6" marL="0" algn="r">
              <a:spcBef>
                <a:spcPts val="0"/>
              </a:spcBef>
              <a:spcAft>
                <a:spcPts val="0"/>
              </a:spcAft>
              <a:buNone/>
              <a:defRPr>
                <a:solidFill>
                  <a:srgbClr val="888888"/>
                </a:solidFill>
              </a:defRPr>
            </a:lvl7pPr>
            <a:lvl8pPr indent="0" lvl="7" marL="0" algn="r">
              <a:spcBef>
                <a:spcPts val="0"/>
              </a:spcBef>
              <a:spcAft>
                <a:spcPts val="0"/>
              </a:spcAft>
              <a:buNone/>
              <a:defRPr>
                <a:solidFill>
                  <a:srgbClr val="888888"/>
                </a:solidFill>
              </a:defRPr>
            </a:lvl8pPr>
            <a:lvl9pPr indent="0" lvl="8" marL="0" algn="r">
              <a:spcBef>
                <a:spcPts val="0"/>
              </a:spcBef>
              <a:spcAft>
                <a:spcPts val="0"/>
              </a:spcAft>
              <a:buNone/>
              <a:defRPr>
                <a:solidFill>
                  <a:srgbClr val="888888"/>
                </a:solidFill>
              </a:defRPr>
            </a:lvl9pPr>
          </a:lstStyle>
          <a:p>
            <a:pPr indent="0" lvl="0" marL="0" rtl="0" algn="r">
              <a:spcBef>
                <a:spcPts val="0"/>
              </a:spcBef>
              <a:spcAft>
                <a:spcPts val="0"/>
              </a:spcAft>
              <a:buNone/>
            </a:pPr>
            <a:fld id="{00000000-1234-1234-1234-123412341234}" type="slidenum">
              <a:rPr lang="ru-RU"/>
              <a:t>‹#›</a:t>
            </a:fld>
            <a:endParaRPr sz="1247">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125"/>
          <p:cNvSpPr txBox="1"/>
          <p:nvPr>
            <p:ph type="ctrTitle"/>
          </p:nvPr>
        </p:nvSpPr>
        <p:spPr>
          <a:xfrm>
            <a:off x="0" y="1093921"/>
            <a:ext cx="6533647" cy="1527533"/>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25"/>
          <p:cNvSpPr txBox="1"/>
          <p:nvPr>
            <p:ph idx="1" type="subTitle"/>
          </p:nvPr>
        </p:nvSpPr>
        <p:spPr>
          <a:xfrm>
            <a:off x="16537" y="3114194"/>
            <a:ext cx="6417350" cy="1821162"/>
          </a:xfrm>
          <a:prstGeom prst="rect">
            <a:avLst/>
          </a:prstGeom>
          <a:noFill/>
          <a:ln>
            <a:noFill/>
          </a:ln>
        </p:spPr>
        <p:txBody>
          <a:bodyPr anchorCtr="0" anchor="t" bIns="45700" lIns="91425" spcFirstLastPara="1" rIns="91425" wrap="square" tIns="45700">
            <a:normAutofit/>
          </a:bodyPr>
          <a:lstStyle>
            <a:lvl1pPr lvl="0" algn="ctr">
              <a:spcBef>
                <a:spcPts val="665"/>
              </a:spcBef>
              <a:spcAft>
                <a:spcPts val="0"/>
              </a:spcAft>
              <a:buClr>
                <a:srgbClr val="888888"/>
              </a:buClr>
              <a:buSzPts val="3325"/>
              <a:buNone/>
              <a:defRPr>
                <a:solidFill>
                  <a:srgbClr val="888888"/>
                </a:solidFill>
              </a:defRPr>
            </a:lvl1pPr>
            <a:lvl2pPr lvl="1" algn="ctr">
              <a:spcBef>
                <a:spcPts val="582"/>
              </a:spcBef>
              <a:spcAft>
                <a:spcPts val="0"/>
              </a:spcAft>
              <a:buClr>
                <a:srgbClr val="888888"/>
              </a:buClr>
              <a:buSzPts val="2909"/>
              <a:buNone/>
              <a:defRPr>
                <a:solidFill>
                  <a:srgbClr val="888888"/>
                </a:solidFill>
              </a:defRPr>
            </a:lvl2pPr>
            <a:lvl3pPr lvl="2" algn="ctr">
              <a:spcBef>
                <a:spcPts val="499"/>
              </a:spcBef>
              <a:spcAft>
                <a:spcPts val="0"/>
              </a:spcAft>
              <a:buClr>
                <a:srgbClr val="888888"/>
              </a:buClr>
              <a:buSzPts val="2494"/>
              <a:buNone/>
              <a:defRPr>
                <a:solidFill>
                  <a:srgbClr val="888888"/>
                </a:solidFill>
              </a:defRPr>
            </a:lvl3pPr>
            <a:lvl4pPr lvl="3" algn="ctr">
              <a:spcBef>
                <a:spcPts val="416"/>
              </a:spcBef>
              <a:spcAft>
                <a:spcPts val="0"/>
              </a:spcAft>
              <a:buClr>
                <a:srgbClr val="888888"/>
              </a:buClr>
              <a:buSzPts val="2078"/>
              <a:buNone/>
              <a:defRPr>
                <a:solidFill>
                  <a:srgbClr val="888888"/>
                </a:solidFill>
              </a:defRPr>
            </a:lvl4pPr>
            <a:lvl5pPr lvl="4" algn="ctr">
              <a:spcBef>
                <a:spcPts val="416"/>
              </a:spcBef>
              <a:spcAft>
                <a:spcPts val="0"/>
              </a:spcAft>
              <a:buClr>
                <a:srgbClr val="888888"/>
              </a:buClr>
              <a:buSzPts val="2078"/>
              <a:buNone/>
              <a:defRPr>
                <a:solidFill>
                  <a:srgbClr val="888888"/>
                </a:solidFill>
              </a:defRPr>
            </a:lvl5pPr>
            <a:lvl6pPr lvl="5" algn="ctr">
              <a:spcBef>
                <a:spcPts val="416"/>
              </a:spcBef>
              <a:spcAft>
                <a:spcPts val="0"/>
              </a:spcAft>
              <a:buClr>
                <a:srgbClr val="888888"/>
              </a:buClr>
              <a:buSzPts val="2078"/>
              <a:buNone/>
              <a:defRPr>
                <a:solidFill>
                  <a:srgbClr val="888888"/>
                </a:solidFill>
              </a:defRPr>
            </a:lvl6pPr>
            <a:lvl7pPr lvl="6" algn="ctr">
              <a:spcBef>
                <a:spcPts val="416"/>
              </a:spcBef>
              <a:spcAft>
                <a:spcPts val="0"/>
              </a:spcAft>
              <a:buClr>
                <a:srgbClr val="888888"/>
              </a:buClr>
              <a:buSzPts val="2078"/>
              <a:buNone/>
              <a:defRPr>
                <a:solidFill>
                  <a:srgbClr val="888888"/>
                </a:solidFill>
              </a:defRPr>
            </a:lvl7pPr>
            <a:lvl8pPr lvl="7" algn="ctr">
              <a:spcBef>
                <a:spcPts val="416"/>
              </a:spcBef>
              <a:spcAft>
                <a:spcPts val="0"/>
              </a:spcAft>
              <a:buClr>
                <a:srgbClr val="888888"/>
              </a:buClr>
              <a:buSzPts val="2078"/>
              <a:buNone/>
              <a:defRPr>
                <a:solidFill>
                  <a:srgbClr val="888888"/>
                </a:solidFill>
              </a:defRPr>
            </a:lvl8pPr>
            <a:lvl9pPr lvl="8" algn="ctr">
              <a:spcBef>
                <a:spcPts val="416"/>
              </a:spcBef>
              <a:spcAft>
                <a:spcPts val="0"/>
              </a:spcAft>
              <a:buClr>
                <a:srgbClr val="888888"/>
              </a:buClr>
              <a:buSzPts val="2078"/>
              <a:buNone/>
              <a:defRPr>
                <a:solidFill>
                  <a:srgbClr val="888888"/>
                </a:solidFill>
              </a:defRPr>
            </a:lvl9pPr>
          </a:lstStyle>
          <a:p/>
        </p:txBody>
      </p:sp>
      <p:sp>
        <p:nvSpPr>
          <p:cNvPr id="32" name="Google Shape;32;p125"/>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25"/>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25"/>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
        <p:nvSpPr>
          <p:cNvPr id="35" name="Google Shape;35;p125"/>
          <p:cNvSpPr/>
          <p:nvPr/>
        </p:nvSpPr>
        <p:spPr>
          <a:xfrm>
            <a:off x="8785737" y="6742507"/>
            <a:ext cx="3322576" cy="380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70" u="sng">
                <a:solidFill>
                  <a:schemeClr val="dk1"/>
                </a:solidFill>
                <a:latin typeface="Calibri"/>
                <a:ea typeface="Calibri"/>
                <a:cs typeface="Calibri"/>
                <a:sym typeface="Calibri"/>
                <a:hlinkClick r:id="rId3">
                  <a:extLst>
                    <a:ext uri="{A12FA001-AC4F-418D-AE19-62706E023703}">
                      <ahyp:hlinkClr val="tx"/>
                    </a:ext>
                  </a:extLst>
                </a:hlinkClick>
              </a:rPr>
              <a:t>http://presentation-creation.ru/</a:t>
            </a:r>
            <a:endParaRPr b="0" i="0" sz="3325"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6" name="Shape 36"/>
        <p:cNvGrpSpPr/>
        <p:nvPr/>
      </p:nvGrpSpPr>
      <p:grpSpPr>
        <a:xfrm>
          <a:off x="0" y="0"/>
          <a:ext cx="0" cy="0"/>
          <a:chOff x="0" y="0"/>
          <a:chExt cx="0" cy="0"/>
        </a:xfrm>
      </p:grpSpPr>
      <p:sp>
        <p:nvSpPr>
          <p:cNvPr id="37" name="Google Shape;37;p126"/>
          <p:cNvSpPr txBox="1"/>
          <p:nvPr>
            <p:ph type="title"/>
          </p:nvPr>
        </p:nvSpPr>
        <p:spPr>
          <a:xfrm>
            <a:off x="1000705" y="4579300"/>
            <a:ext cx="10768013" cy="141536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156"/>
              <a:buFont typeface="Calibri"/>
              <a:buNone/>
              <a:defRPr b="1" sz="4156"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26"/>
          <p:cNvSpPr txBox="1"/>
          <p:nvPr>
            <p:ph idx="1" type="body"/>
          </p:nvPr>
        </p:nvSpPr>
        <p:spPr>
          <a:xfrm>
            <a:off x="1000705" y="3020426"/>
            <a:ext cx="10768013" cy="1558875"/>
          </a:xfrm>
          <a:prstGeom prst="rect">
            <a:avLst/>
          </a:prstGeom>
          <a:noFill/>
          <a:ln>
            <a:noFill/>
          </a:ln>
        </p:spPr>
        <p:txBody>
          <a:bodyPr anchorCtr="0" anchor="b" bIns="45700" lIns="91425" spcFirstLastPara="1" rIns="91425" wrap="square" tIns="45700">
            <a:normAutofit/>
          </a:bodyPr>
          <a:lstStyle>
            <a:lvl1pPr indent="-228600" lvl="0" marL="457200" algn="l">
              <a:spcBef>
                <a:spcPts val="416"/>
              </a:spcBef>
              <a:spcAft>
                <a:spcPts val="0"/>
              </a:spcAft>
              <a:buClr>
                <a:srgbClr val="888888"/>
              </a:buClr>
              <a:buSzPts val="2078"/>
              <a:buNone/>
              <a:defRPr sz="2078">
                <a:solidFill>
                  <a:srgbClr val="888888"/>
                </a:solidFill>
              </a:defRPr>
            </a:lvl1pPr>
            <a:lvl2pPr indent="-228600" lvl="1" marL="914400" algn="l">
              <a:spcBef>
                <a:spcPts val="374"/>
              </a:spcBef>
              <a:spcAft>
                <a:spcPts val="0"/>
              </a:spcAft>
              <a:buClr>
                <a:srgbClr val="888888"/>
              </a:buClr>
              <a:buSzPts val="1870"/>
              <a:buNone/>
              <a:defRPr sz="1870">
                <a:solidFill>
                  <a:srgbClr val="888888"/>
                </a:solidFill>
              </a:defRPr>
            </a:lvl2pPr>
            <a:lvl3pPr indent="-228600" lvl="2" marL="1371600" algn="l">
              <a:spcBef>
                <a:spcPts val="333"/>
              </a:spcBef>
              <a:spcAft>
                <a:spcPts val="0"/>
              </a:spcAft>
              <a:buClr>
                <a:srgbClr val="888888"/>
              </a:buClr>
              <a:buSzPts val="1663"/>
              <a:buNone/>
              <a:defRPr sz="1662">
                <a:solidFill>
                  <a:srgbClr val="888888"/>
                </a:solidFill>
              </a:defRPr>
            </a:lvl3pPr>
            <a:lvl4pPr indent="-228600" lvl="3" marL="1828800" algn="l">
              <a:spcBef>
                <a:spcPts val="291"/>
              </a:spcBef>
              <a:spcAft>
                <a:spcPts val="0"/>
              </a:spcAft>
              <a:buClr>
                <a:srgbClr val="888888"/>
              </a:buClr>
              <a:buSzPts val="1455"/>
              <a:buNone/>
              <a:defRPr sz="1455">
                <a:solidFill>
                  <a:srgbClr val="888888"/>
                </a:solidFill>
              </a:defRPr>
            </a:lvl4pPr>
            <a:lvl5pPr indent="-228600" lvl="4" marL="2286000" algn="l">
              <a:spcBef>
                <a:spcPts val="291"/>
              </a:spcBef>
              <a:spcAft>
                <a:spcPts val="0"/>
              </a:spcAft>
              <a:buClr>
                <a:srgbClr val="888888"/>
              </a:buClr>
              <a:buSzPts val="1455"/>
              <a:buNone/>
              <a:defRPr sz="1455">
                <a:solidFill>
                  <a:srgbClr val="888888"/>
                </a:solidFill>
              </a:defRPr>
            </a:lvl5pPr>
            <a:lvl6pPr indent="-228600" lvl="5" marL="2743200" algn="l">
              <a:spcBef>
                <a:spcPts val="291"/>
              </a:spcBef>
              <a:spcAft>
                <a:spcPts val="0"/>
              </a:spcAft>
              <a:buClr>
                <a:srgbClr val="888888"/>
              </a:buClr>
              <a:buSzPts val="1455"/>
              <a:buNone/>
              <a:defRPr sz="1455">
                <a:solidFill>
                  <a:srgbClr val="888888"/>
                </a:solidFill>
              </a:defRPr>
            </a:lvl6pPr>
            <a:lvl7pPr indent="-228600" lvl="6" marL="3200400" algn="l">
              <a:spcBef>
                <a:spcPts val="291"/>
              </a:spcBef>
              <a:spcAft>
                <a:spcPts val="0"/>
              </a:spcAft>
              <a:buClr>
                <a:srgbClr val="888888"/>
              </a:buClr>
              <a:buSzPts val="1455"/>
              <a:buNone/>
              <a:defRPr sz="1455">
                <a:solidFill>
                  <a:srgbClr val="888888"/>
                </a:solidFill>
              </a:defRPr>
            </a:lvl7pPr>
            <a:lvl8pPr indent="-228600" lvl="7" marL="3657600" algn="l">
              <a:spcBef>
                <a:spcPts val="291"/>
              </a:spcBef>
              <a:spcAft>
                <a:spcPts val="0"/>
              </a:spcAft>
              <a:buClr>
                <a:srgbClr val="888888"/>
              </a:buClr>
              <a:buSzPts val="1455"/>
              <a:buNone/>
              <a:defRPr sz="1455">
                <a:solidFill>
                  <a:srgbClr val="888888"/>
                </a:solidFill>
              </a:defRPr>
            </a:lvl8pPr>
            <a:lvl9pPr indent="-228600" lvl="8" marL="4114800" algn="l">
              <a:spcBef>
                <a:spcPts val="291"/>
              </a:spcBef>
              <a:spcAft>
                <a:spcPts val="0"/>
              </a:spcAft>
              <a:buClr>
                <a:srgbClr val="888888"/>
              </a:buClr>
              <a:buSzPts val="1455"/>
              <a:buNone/>
              <a:defRPr sz="1455">
                <a:solidFill>
                  <a:srgbClr val="888888"/>
                </a:solidFill>
              </a:defRPr>
            </a:lvl9pPr>
          </a:lstStyle>
          <a:p/>
        </p:txBody>
      </p:sp>
      <p:sp>
        <p:nvSpPr>
          <p:cNvPr id="39" name="Google Shape;39;p126"/>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26"/>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26"/>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42" name="Shape 42"/>
        <p:cNvGrpSpPr/>
        <p:nvPr/>
      </p:nvGrpSpPr>
      <p:grpSpPr>
        <a:xfrm>
          <a:off x="0" y="0"/>
          <a:ext cx="0" cy="0"/>
          <a:chOff x="0" y="0"/>
          <a:chExt cx="0" cy="0"/>
        </a:xfrm>
      </p:grpSpPr>
      <p:sp>
        <p:nvSpPr>
          <p:cNvPr id="43" name="Google Shape;43;p127"/>
          <p:cNvSpPr txBox="1"/>
          <p:nvPr>
            <p:ph type="title"/>
          </p:nvPr>
        </p:nvSpPr>
        <p:spPr>
          <a:xfrm>
            <a:off x="633413" y="285383"/>
            <a:ext cx="11401426"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27"/>
          <p:cNvSpPr txBox="1"/>
          <p:nvPr>
            <p:ph idx="1" type="body"/>
          </p:nvPr>
        </p:nvSpPr>
        <p:spPr>
          <a:xfrm>
            <a:off x="633413" y="1662802"/>
            <a:ext cx="5595144"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45" name="Google Shape;45;p127"/>
          <p:cNvSpPr txBox="1"/>
          <p:nvPr>
            <p:ph idx="2" type="body"/>
          </p:nvPr>
        </p:nvSpPr>
        <p:spPr>
          <a:xfrm>
            <a:off x="6439693" y="1662802"/>
            <a:ext cx="5595144"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46" name="Google Shape;46;p127"/>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7"/>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7"/>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9" name="Shape 49"/>
        <p:cNvGrpSpPr/>
        <p:nvPr/>
      </p:nvGrpSpPr>
      <p:grpSpPr>
        <a:xfrm>
          <a:off x="0" y="0"/>
          <a:ext cx="0" cy="0"/>
          <a:chOff x="0" y="0"/>
          <a:chExt cx="0" cy="0"/>
        </a:xfrm>
      </p:grpSpPr>
      <p:sp>
        <p:nvSpPr>
          <p:cNvPr id="50" name="Google Shape;50;p128"/>
          <p:cNvSpPr txBox="1"/>
          <p:nvPr>
            <p:ph type="title"/>
          </p:nvPr>
        </p:nvSpPr>
        <p:spPr>
          <a:xfrm>
            <a:off x="633413" y="285383"/>
            <a:ext cx="11401426"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572"/>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28"/>
          <p:cNvSpPr txBox="1"/>
          <p:nvPr>
            <p:ph idx="1" type="body"/>
          </p:nvPr>
        </p:nvSpPr>
        <p:spPr>
          <a:xfrm>
            <a:off x="633413" y="1595167"/>
            <a:ext cx="5597344"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52" name="Google Shape;52;p128"/>
          <p:cNvSpPr txBox="1"/>
          <p:nvPr>
            <p:ph idx="2" type="body"/>
          </p:nvPr>
        </p:nvSpPr>
        <p:spPr>
          <a:xfrm>
            <a:off x="633413" y="2259957"/>
            <a:ext cx="5597344"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53" name="Google Shape;53;p128"/>
          <p:cNvSpPr txBox="1"/>
          <p:nvPr>
            <p:ph idx="3" type="body"/>
          </p:nvPr>
        </p:nvSpPr>
        <p:spPr>
          <a:xfrm>
            <a:off x="6435296" y="1595167"/>
            <a:ext cx="5599543"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54" name="Google Shape;54;p128"/>
          <p:cNvSpPr txBox="1"/>
          <p:nvPr>
            <p:ph idx="4" type="body"/>
          </p:nvPr>
        </p:nvSpPr>
        <p:spPr>
          <a:xfrm>
            <a:off x="6435296" y="2259957"/>
            <a:ext cx="5599543"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55" name="Google Shape;55;p128"/>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28"/>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28"/>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8" name="Shape 58"/>
        <p:cNvGrpSpPr/>
        <p:nvPr/>
      </p:nvGrpSpPr>
      <p:grpSpPr>
        <a:xfrm>
          <a:off x="0" y="0"/>
          <a:ext cx="0" cy="0"/>
          <a:chOff x="0" y="0"/>
          <a:chExt cx="0" cy="0"/>
        </a:xfrm>
      </p:grpSpPr>
      <p:sp>
        <p:nvSpPr>
          <p:cNvPr id="59" name="Google Shape;59;p129"/>
          <p:cNvSpPr txBox="1"/>
          <p:nvPr>
            <p:ph type="title"/>
          </p:nvPr>
        </p:nvSpPr>
        <p:spPr>
          <a:xfrm>
            <a:off x="633413" y="285383"/>
            <a:ext cx="11401426"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29"/>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29"/>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29"/>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63" name="Shape 63"/>
        <p:cNvGrpSpPr/>
        <p:nvPr/>
      </p:nvGrpSpPr>
      <p:grpSpPr>
        <a:xfrm>
          <a:off x="0" y="0"/>
          <a:ext cx="0" cy="0"/>
          <a:chOff x="0" y="0"/>
          <a:chExt cx="0" cy="0"/>
        </a:xfrm>
      </p:grpSpPr>
      <p:sp>
        <p:nvSpPr>
          <p:cNvPr id="64" name="Google Shape;64;p130"/>
          <p:cNvSpPr txBox="1"/>
          <p:nvPr>
            <p:ph type="title"/>
          </p:nvPr>
        </p:nvSpPr>
        <p:spPr>
          <a:xfrm>
            <a:off x="633414" y="283732"/>
            <a:ext cx="4167766" cy="120751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30"/>
          <p:cNvSpPr txBox="1"/>
          <p:nvPr>
            <p:ph idx="1" type="body"/>
          </p:nvPr>
        </p:nvSpPr>
        <p:spPr>
          <a:xfrm>
            <a:off x="4952933" y="283734"/>
            <a:ext cx="7081904" cy="6082089"/>
          </a:xfrm>
          <a:prstGeom prst="rect">
            <a:avLst/>
          </a:prstGeom>
          <a:noFill/>
          <a:ln>
            <a:noFill/>
          </a:ln>
        </p:spPr>
        <p:txBody>
          <a:bodyPr anchorCtr="0" anchor="t" bIns="45700" lIns="91425" spcFirstLastPara="1" rIns="91425" wrap="square" tIns="45700">
            <a:normAutofit/>
          </a:bodyPr>
          <a:lstStyle>
            <a:lvl1pPr indent="-439737" lvl="0" marL="457200" algn="l">
              <a:spcBef>
                <a:spcPts val="665"/>
              </a:spcBef>
              <a:spcAft>
                <a:spcPts val="0"/>
              </a:spcAft>
              <a:buClr>
                <a:schemeClr val="dk1"/>
              </a:buClr>
              <a:buSzPts val="3325"/>
              <a:buChar char="•"/>
              <a:defRPr sz="3325"/>
            </a:lvl1pPr>
            <a:lvl2pPr indent="-413321" lvl="1" marL="914400" algn="l">
              <a:spcBef>
                <a:spcPts val="582"/>
              </a:spcBef>
              <a:spcAft>
                <a:spcPts val="0"/>
              </a:spcAft>
              <a:buClr>
                <a:schemeClr val="dk1"/>
              </a:buClr>
              <a:buSzPts val="2909"/>
              <a:buChar char="–"/>
              <a:defRPr sz="2909"/>
            </a:lvl2pPr>
            <a:lvl3pPr indent="-386969" lvl="2" marL="1371600" algn="l">
              <a:spcBef>
                <a:spcPts val="499"/>
              </a:spcBef>
              <a:spcAft>
                <a:spcPts val="0"/>
              </a:spcAft>
              <a:buClr>
                <a:schemeClr val="dk1"/>
              </a:buClr>
              <a:buSzPts val="2494"/>
              <a:buChar char="•"/>
              <a:defRPr sz="2494"/>
            </a:lvl3pPr>
            <a:lvl4pPr indent="-360553" lvl="3" marL="1828800" algn="l">
              <a:spcBef>
                <a:spcPts val="416"/>
              </a:spcBef>
              <a:spcAft>
                <a:spcPts val="0"/>
              </a:spcAft>
              <a:buClr>
                <a:schemeClr val="dk1"/>
              </a:buClr>
              <a:buSzPts val="2078"/>
              <a:buChar char="–"/>
              <a:defRPr sz="2078"/>
            </a:lvl4pPr>
            <a:lvl5pPr indent="-360553" lvl="4" marL="2286000" algn="l">
              <a:spcBef>
                <a:spcPts val="416"/>
              </a:spcBef>
              <a:spcAft>
                <a:spcPts val="0"/>
              </a:spcAft>
              <a:buClr>
                <a:schemeClr val="dk1"/>
              </a:buClr>
              <a:buSzPts val="2078"/>
              <a:buChar char="»"/>
              <a:defRPr sz="2078"/>
            </a:lvl5pPr>
            <a:lvl6pPr indent="-360553" lvl="5" marL="2743200" algn="l">
              <a:spcBef>
                <a:spcPts val="416"/>
              </a:spcBef>
              <a:spcAft>
                <a:spcPts val="0"/>
              </a:spcAft>
              <a:buClr>
                <a:schemeClr val="dk1"/>
              </a:buClr>
              <a:buSzPts val="2078"/>
              <a:buChar char="•"/>
              <a:defRPr sz="2078"/>
            </a:lvl6pPr>
            <a:lvl7pPr indent="-360553" lvl="6" marL="3200400" algn="l">
              <a:spcBef>
                <a:spcPts val="416"/>
              </a:spcBef>
              <a:spcAft>
                <a:spcPts val="0"/>
              </a:spcAft>
              <a:buClr>
                <a:schemeClr val="dk1"/>
              </a:buClr>
              <a:buSzPts val="2078"/>
              <a:buChar char="•"/>
              <a:defRPr sz="2078"/>
            </a:lvl7pPr>
            <a:lvl8pPr indent="-360553" lvl="7" marL="3657600" algn="l">
              <a:spcBef>
                <a:spcPts val="416"/>
              </a:spcBef>
              <a:spcAft>
                <a:spcPts val="0"/>
              </a:spcAft>
              <a:buClr>
                <a:schemeClr val="dk1"/>
              </a:buClr>
              <a:buSzPts val="2078"/>
              <a:buChar char="•"/>
              <a:defRPr sz="2078"/>
            </a:lvl8pPr>
            <a:lvl9pPr indent="-360553" lvl="8" marL="4114800" algn="l">
              <a:spcBef>
                <a:spcPts val="416"/>
              </a:spcBef>
              <a:spcAft>
                <a:spcPts val="0"/>
              </a:spcAft>
              <a:buClr>
                <a:schemeClr val="dk1"/>
              </a:buClr>
              <a:buSzPts val="2078"/>
              <a:buChar char="•"/>
              <a:defRPr sz="2078"/>
            </a:lvl9pPr>
          </a:lstStyle>
          <a:p/>
        </p:txBody>
      </p:sp>
      <p:sp>
        <p:nvSpPr>
          <p:cNvPr id="66" name="Google Shape;66;p130"/>
          <p:cNvSpPr txBox="1"/>
          <p:nvPr>
            <p:ph idx="2" type="body"/>
          </p:nvPr>
        </p:nvSpPr>
        <p:spPr>
          <a:xfrm>
            <a:off x="633414" y="1491243"/>
            <a:ext cx="4167766" cy="4874579"/>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67" name="Google Shape;67;p130"/>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30"/>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30"/>
          <p:cNvSpPr txBox="1"/>
          <p:nvPr>
            <p:ph idx="12" type="sldNum"/>
          </p:nvPr>
        </p:nvSpPr>
        <p:spPr>
          <a:xfrm>
            <a:off x="11374685" y="6605015"/>
            <a:ext cx="1011710"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70" name="Shape 70"/>
        <p:cNvGrpSpPr/>
        <p:nvPr/>
      </p:nvGrpSpPr>
      <p:grpSpPr>
        <a:xfrm>
          <a:off x="0" y="0"/>
          <a:ext cx="0" cy="0"/>
          <a:chOff x="0" y="0"/>
          <a:chExt cx="0" cy="0"/>
        </a:xfrm>
      </p:grpSpPr>
      <p:sp>
        <p:nvSpPr>
          <p:cNvPr id="71" name="Google Shape;71;p131"/>
          <p:cNvSpPr txBox="1"/>
          <p:nvPr>
            <p:ph type="title"/>
          </p:nvPr>
        </p:nvSpPr>
        <p:spPr>
          <a:xfrm>
            <a:off x="1221557" y="4931297"/>
            <a:ext cx="10729192" cy="64601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31"/>
          <p:cNvSpPr/>
          <p:nvPr>
            <p:ph idx="2" type="pic"/>
          </p:nvPr>
        </p:nvSpPr>
        <p:spPr>
          <a:xfrm>
            <a:off x="1221557" y="222124"/>
            <a:ext cx="10729192" cy="4690398"/>
          </a:xfrm>
          <a:prstGeom prst="rect">
            <a:avLst/>
          </a:prstGeom>
          <a:noFill/>
          <a:ln>
            <a:noFill/>
          </a:ln>
        </p:spPr>
      </p:sp>
      <p:sp>
        <p:nvSpPr>
          <p:cNvPr id="73" name="Google Shape;73;p131"/>
          <p:cNvSpPr txBox="1"/>
          <p:nvPr>
            <p:ph idx="1" type="body"/>
          </p:nvPr>
        </p:nvSpPr>
        <p:spPr>
          <a:xfrm>
            <a:off x="1221557" y="5496211"/>
            <a:ext cx="10729192" cy="917450"/>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74" name="Google Shape;74;p131"/>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31"/>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1"/>
          <p:cNvSpPr txBox="1"/>
          <p:nvPr>
            <p:ph idx="12" type="sldNum"/>
          </p:nvPr>
        </p:nvSpPr>
        <p:spPr>
          <a:xfrm>
            <a:off x="11662717" y="6605014"/>
            <a:ext cx="79568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7" name="Shape 77"/>
        <p:cNvGrpSpPr/>
        <p:nvPr/>
      </p:nvGrpSpPr>
      <p:grpSpPr>
        <a:xfrm>
          <a:off x="0" y="0"/>
          <a:ext cx="0" cy="0"/>
          <a:chOff x="0" y="0"/>
          <a:chExt cx="0" cy="0"/>
        </a:xfrm>
      </p:grpSpPr>
      <p:sp>
        <p:nvSpPr>
          <p:cNvPr id="78" name="Google Shape;78;p132"/>
          <p:cNvSpPr txBox="1"/>
          <p:nvPr>
            <p:ph type="title"/>
          </p:nvPr>
        </p:nvSpPr>
        <p:spPr>
          <a:xfrm>
            <a:off x="633413" y="285383"/>
            <a:ext cx="11401426"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32"/>
          <p:cNvSpPr txBox="1"/>
          <p:nvPr>
            <p:ph idx="1" type="body"/>
          </p:nvPr>
        </p:nvSpPr>
        <p:spPr>
          <a:xfrm rot="5400000">
            <a:off x="3982616" y="-1686400"/>
            <a:ext cx="4703021" cy="1140142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132"/>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32"/>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2"/>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83" name="Shape 83"/>
        <p:cNvGrpSpPr/>
        <p:nvPr/>
      </p:nvGrpSpPr>
      <p:grpSpPr>
        <a:xfrm>
          <a:off x="0" y="0"/>
          <a:ext cx="0" cy="0"/>
          <a:chOff x="0" y="0"/>
          <a:chExt cx="0" cy="0"/>
        </a:xfrm>
      </p:grpSpPr>
      <p:sp>
        <p:nvSpPr>
          <p:cNvPr id="84" name="Google Shape;84;p133"/>
          <p:cNvSpPr txBox="1"/>
          <p:nvPr>
            <p:ph type="title"/>
          </p:nvPr>
        </p:nvSpPr>
        <p:spPr>
          <a:xfrm rot="5400000">
            <a:off x="7569439" y="1900426"/>
            <a:ext cx="6080439" cy="28503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33"/>
          <p:cNvSpPr txBox="1"/>
          <p:nvPr>
            <p:ph idx="1" type="body"/>
          </p:nvPr>
        </p:nvSpPr>
        <p:spPr>
          <a:xfrm rot="5400000">
            <a:off x="1763159" y="-844362"/>
            <a:ext cx="6080439" cy="8339931"/>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133"/>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3"/>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3"/>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21"/>
          <p:cNvSpPr txBox="1"/>
          <p:nvPr>
            <p:ph type="title"/>
          </p:nvPr>
        </p:nvSpPr>
        <p:spPr>
          <a:xfrm>
            <a:off x="633413" y="285383"/>
            <a:ext cx="11401426" cy="1187715"/>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572"/>
              <a:buFont typeface="Calibri"/>
              <a:buNone/>
              <a:defRPr b="0" i="0" sz="4572"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1"/>
          <p:cNvSpPr txBox="1"/>
          <p:nvPr>
            <p:ph idx="1" type="body"/>
          </p:nvPr>
        </p:nvSpPr>
        <p:spPr>
          <a:xfrm>
            <a:off x="633413" y="1662802"/>
            <a:ext cx="11401426" cy="4703021"/>
          </a:xfrm>
          <a:prstGeom prst="rect">
            <a:avLst/>
          </a:prstGeom>
          <a:noFill/>
          <a:ln>
            <a:noFill/>
          </a:ln>
        </p:spPr>
        <p:txBody>
          <a:bodyPr anchorCtr="0" anchor="t" bIns="45700" lIns="91425" spcFirstLastPara="1" rIns="91425" wrap="square" tIns="45700">
            <a:normAutofit/>
          </a:bodyPr>
          <a:lstStyle>
            <a:lvl1pPr indent="-439737" lvl="0" marL="457200" marR="0" rtl="0" algn="l">
              <a:spcBef>
                <a:spcPts val="665"/>
              </a:spcBef>
              <a:spcAft>
                <a:spcPts val="0"/>
              </a:spcAft>
              <a:buClr>
                <a:schemeClr val="dk1"/>
              </a:buClr>
              <a:buSzPts val="3325"/>
              <a:buFont typeface="Arial"/>
              <a:buChar char="•"/>
              <a:defRPr b="0" i="0" sz="3325" u="none" cap="none" strike="noStrike">
                <a:solidFill>
                  <a:schemeClr val="dk1"/>
                </a:solidFill>
                <a:latin typeface="Calibri"/>
                <a:ea typeface="Calibri"/>
                <a:cs typeface="Calibri"/>
                <a:sym typeface="Calibri"/>
              </a:defRPr>
            </a:lvl1pPr>
            <a:lvl2pPr indent="-413321" lvl="1" marL="914400" marR="0" rtl="0" algn="l">
              <a:spcBef>
                <a:spcPts val="582"/>
              </a:spcBef>
              <a:spcAft>
                <a:spcPts val="0"/>
              </a:spcAft>
              <a:buClr>
                <a:schemeClr val="dk1"/>
              </a:buClr>
              <a:buSzPts val="2909"/>
              <a:buFont typeface="Arial"/>
              <a:buChar char="–"/>
              <a:defRPr b="0" i="0" sz="2909" u="none" cap="none" strike="noStrike">
                <a:solidFill>
                  <a:schemeClr val="dk1"/>
                </a:solidFill>
                <a:latin typeface="Calibri"/>
                <a:ea typeface="Calibri"/>
                <a:cs typeface="Calibri"/>
                <a:sym typeface="Calibri"/>
              </a:defRPr>
            </a:lvl2pPr>
            <a:lvl3pPr indent="-386969" lvl="2" marL="1371600" marR="0" rtl="0" algn="l">
              <a:spcBef>
                <a:spcPts val="499"/>
              </a:spcBef>
              <a:spcAft>
                <a:spcPts val="0"/>
              </a:spcAft>
              <a:buClr>
                <a:schemeClr val="dk1"/>
              </a:buClr>
              <a:buSzPts val="2494"/>
              <a:buFont typeface="Arial"/>
              <a:buChar char="•"/>
              <a:defRPr b="0" i="0" sz="2494" u="none" cap="none" strike="noStrike">
                <a:solidFill>
                  <a:schemeClr val="dk1"/>
                </a:solidFill>
                <a:latin typeface="Calibri"/>
                <a:ea typeface="Calibri"/>
                <a:cs typeface="Calibri"/>
                <a:sym typeface="Calibri"/>
              </a:defRPr>
            </a:lvl3pPr>
            <a:lvl4pPr indent="-360553" lvl="3" marL="1828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4pPr>
            <a:lvl5pPr indent="-360553" lvl="4" marL="22860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5pPr>
            <a:lvl6pPr indent="-360553" lvl="5" marL="27432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6pPr>
            <a:lvl7pPr indent="-360553" lvl="6" marL="32004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7pPr>
            <a:lvl8pPr indent="-360553" lvl="7" marL="36576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8pPr>
            <a:lvl9pPr indent="-360553" lvl="8" marL="4114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9pPr>
          </a:lstStyle>
          <a:p/>
        </p:txBody>
      </p:sp>
      <p:sp>
        <p:nvSpPr>
          <p:cNvPr id="12" name="Google Shape;12;p121"/>
          <p:cNvSpPr txBox="1"/>
          <p:nvPr>
            <p:ph idx="10" type="dt"/>
          </p:nvPr>
        </p:nvSpPr>
        <p:spPr>
          <a:xfrm>
            <a:off x="633413" y="6605015"/>
            <a:ext cx="2955926" cy="379409"/>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47"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3" name="Google Shape;13;p121"/>
          <p:cNvSpPr txBox="1"/>
          <p:nvPr>
            <p:ph idx="11" type="ftr"/>
          </p:nvPr>
        </p:nvSpPr>
        <p:spPr>
          <a:xfrm>
            <a:off x="4328319" y="6605015"/>
            <a:ext cx="4011613" cy="379409"/>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47"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4" name="Google Shape;14;p121"/>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47"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1247"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1247"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1247"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1247"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1247"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1247"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1247"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1247"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mathprofi.ru/normalnoe_raspredelenie_veroyatnostei.html" TargetMode="External"/><Relationship Id="rId4" Type="http://schemas.openxmlformats.org/officeDocument/2006/relationships/hyperlink" Target="http://mathprofi.ru/pokazateli_variacii_generalnaya_i_vyborochnaya_dispersiya.html#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gif"/><Relationship Id="rId4" Type="http://schemas.openxmlformats.org/officeDocument/2006/relationships/image" Target="../media/image33.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3.png"/><Relationship Id="rId4"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8.png"/><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hyperlink" Target="http://inside-r.org/r-doc/base/c" TargetMode="External"/><Relationship Id="rId4" Type="http://schemas.openxmlformats.org/officeDocument/2006/relationships/hyperlink" Target="http://inside-r.org/r-doc/base/mean"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hyperlink" Target="http://inside-r.org/r-doc/stats/df"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21.png"/><Relationship Id="rId4" Type="http://schemas.openxmlformats.org/officeDocument/2006/relationships/image" Target="../media/image2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21.png"/><Relationship Id="rId4" Type="http://schemas.openxmlformats.org/officeDocument/2006/relationships/image" Target="../media/image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2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42.png"/><Relationship Id="rId4" Type="http://schemas.openxmlformats.org/officeDocument/2006/relationships/image" Target="../media/image2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29.png"/><Relationship Id="rId4" Type="http://schemas.openxmlformats.org/officeDocument/2006/relationships/image" Target="../media/image3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3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3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37.png"/><Relationship Id="rId4" Type="http://schemas.openxmlformats.org/officeDocument/2006/relationships/image" Target="../media/image4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5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3.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3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38.png"/><Relationship Id="rId4" Type="http://schemas.openxmlformats.org/officeDocument/2006/relationships/image" Target="../media/image46.png"/><Relationship Id="rId5" Type="http://schemas.openxmlformats.org/officeDocument/2006/relationships/image" Target="../media/image5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5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52.png"/><Relationship Id="rId4" Type="http://schemas.openxmlformats.org/officeDocument/2006/relationships/image" Target="../media/image3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51.jpg"/><Relationship Id="rId4" Type="http://schemas.openxmlformats.org/officeDocument/2006/relationships/image" Target="../media/image48.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4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47.jpg"/><Relationship Id="rId4" Type="http://schemas.openxmlformats.org/officeDocument/2006/relationships/image" Target="../media/image56.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58.png"/><Relationship Id="rId4" Type="http://schemas.openxmlformats.org/officeDocument/2006/relationships/image" Target="../media/image4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5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hyperlink" Target="https://samoedd.com/soft/r-t-test"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57.png"/><Relationship Id="rId4" Type="http://schemas.openxmlformats.org/officeDocument/2006/relationships/hyperlink" Target="https://agricolamz.github.io/DS_for_DH/%D0%BF%D1%80%D0%BE%D0%B2%D0%B5%D1%80%D0%BA%D0%B0-%D1%81%D1%82%D0%B0%D1%82%D0%B8%D1%81%D1%82%D0%B8%D1%87%D0%B5%D1%81%D0%BA%D0%B8%D1%85-%D0%B3%D0%B8%D0%BF%D0%BE%D1%82%D0%B5%D0%B7.html"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ph idx="4294967295" type="ctrTitle"/>
          </p:nvPr>
        </p:nvSpPr>
        <p:spPr>
          <a:xfrm>
            <a:off x="1653606" y="625762"/>
            <a:ext cx="9090025" cy="3222913"/>
          </a:xfrm>
          <a:prstGeom prst="rect">
            <a:avLst/>
          </a:prstGeom>
          <a:noFill/>
          <a:ln>
            <a:noFill/>
          </a:ln>
        </p:spPr>
        <p:txBody>
          <a:bodyPr anchorCtr="0" anchor="b" bIns="49700" lIns="99425" spcFirstLastPara="1" rIns="99425" wrap="square" tIns="49700">
            <a:normAutofit/>
          </a:bodyPr>
          <a:lstStyle/>
          <a:p>
            <a:pPr indent="0" lvl="0" marL="0" marR="0" rtl="0" algn="ctr">
              <a:lnSpc>
                <a:spcPct val="80000"/>
              </a:lnSpc>
              <a:spcBef>
                <a:spcPts val="0"/>
              </a:spcBef>
              <a:spcAft>
                <a:spcPts val="0"/>
              </a:spcAft>
              <a:buClr>
                <a:schemeClr val="dk1"/>
              </a:buClr>
              <a:buSzPts val="6600"/>
              <a:buFont typeface="Calibri"/>
              <a:buNone/>
            </a:pPr>
            <a:r>
              <a:rPr b="0" i="0" lang="ru-RU" sz="6600" u="none" cap="none" strike="noStrike">
                <a:solidFill>
                  <a:schemeClr val="dk1"/>
                </a:solidFill>
                <a:latin typeface="Calibri"/>
                <a:ea typeface="Calibri"/>
                <a:cs typeface="Calibri"/>
                <a:sym typeface="Calibri"/>
              </a:rPr>
              <a:t>Курс</a:t>
            </a:r>
            <a:br>
              <a:rPr b="0" i="0" lang="ru-RU" sz="6600" u="none" cap="none" strike="noStrike">
                <a:solidFill>
                  <a:schemeClr val="dk1"/>
                </a:solidFill>
                <a:latin typeface="Calibri"/>
                <a:ea typeface="Calibri"/>
                <a:cs typeface="Calibri"/>
                <a:sym typeface="Calibri"/>
              </a:rPr>
            </a:br>
            <a:r>
              <a:rPr b="0" i="0" lang="ru-RU" sz="6000" u="none" cap="none" strike="noStrike">
                <a:solidFill>
                  <a:schemeClr val="dk1"/>
                </a:solidFill>
                <a:latin typeface="Calibri"/>
                <a:ea typeface="Calibri"/>
                <a:cs typeface="Calibri"/>
                <a:sym typeface="Calibri"/>
              </a:rPr>
              <a:t>Обработка больших данных</a:t>
            </a:r>
            <a:endParaRPr/>
          </a:p>
        </p:txBody>
      </p:sp>
      <p:sp>
        <p:nvSpPr>
          <p:cNvPr id="96" name="Google Shape;96;p1"/>
          <p:cNvSpPr txBox="1"/>
          <p:nvPr>
            <p:ph idx="4294967295" type="subTitle"/>
          </p:nvPr>
        </p:nvSpPr>
        <p:spPr>
          <a:xfrm>
            <a:off x="1869629" y="4371975"/>
            <a:ext cx="8366572" cy="1709738"/>
          </a:xfrm>
          <a:prstGeom prst="rect">
            <a:avLst/>
          </a:prstGeom>
          <a:noFill/>
          <a:ln>
            <a:noFill/>
          </a:ln>
        </p:spPr>
        <p:txBody>
          <a:bodyPr anchorCtr="0" anchor="t" bIns="49700" lIns="99425" spcFirstLastPara="1" rIns="99425" wrap="square" tIns="49700">
            <a:normAutofit/>
          </a:bodyPr>
          <a:lstStyle/>
          <a:p>
            <a:pPr indent="0" lvl="0" marL="0" marR="0" rtl="0" algn="ctr">
              <a:spcBef>
                <a:spcPts val="0"/>
              </a:spcBef>
              <a:spcAft>
                <a:spcPts val="0"/>
              </a:spcAft>
              <a:buClr>
                <a:schemeClr val="dk1"/>
              </a:buClr>
              <a:buSzPts val="4400"/>
              <a:buFont typeface="Arial"/>
              <a:buNone/>
            </a:pPr>
            <a:r>
              <a:rPr b="0" i="0" lang="ru-RU" sz="4400" u="none" cap="none" strike="noStrike">
                <a:solidFill>
                  <a:schemeClr val="dk1"/>
                </a:solidFill>
                <a:latin typeface="Calibri"/>
                <a:ea typeface="Calibri"/>
                <a:cs typeface="Calibri"/>
                <a:sym typeface="Calibri"/>
              </a:rPr>
              <a:t>Лекция 9. </a:t>
            </a:r>
            <a:r>
              <a:rPr b="0" i="0" lang="ru-RU" sz="3600" u="none" cap="none" strike="noStrike">
                <a:solidFill>
                  <a:schemeClr val="dk1"/>
                </a:solidFill>
                <a:latin typeface="Calibri"/>
                <a:ea typeface="Calibri"/>
                <a:cs typeface="Calibri"/>
                <a:sym typeface="Calibri"/>
              </a:rPr>
              <a:t>Data Mining. </a:t>
            </a:r>
            <a:endParaRPr/>
          </a:p>
          <a:p>
            <a:pPr indent="0" lvl="0" marL="0" marR="0" rtl="0" algn="ctr">
              <a:spcBef>
                <a:spcPts val="665"/>
              </a:spcBef>
              <a:spcAft>
                <a:spcPts val="0"/>
              </a:spcAft>
              <a:buClr>
                <a:schemeClr val="dk1"/>
              </a:buClr>
              <a:buSzPts val="3325"/>
              <a:buFont typeface="Arial"/>
              <a:buNone/>
            </a:pPr>
            <a:r>
              <a:rPr b="0" i="0" lang="ru-RU" sz="3325" u="none" cap="none" strike="noStrike">
                <a:solidFill>
                  <a:schemeClr val="dk1"/>
                </a:solidFill>
                <a:latin typeface="Calibri"/>
                <a:ea typeface="Calibri"/>
                <a:cs typeface="Calibri"/>
                <a:sym typeface="Calibri"/>
              </a:rPr>
              <a:t>Проверка гипотез</a:t>
            </a:r>
            <a:endParaRPr/>
          </a:p>
          <a:p>
            <a:pPr indent="0" lvl="0" marL="0" marR="0" rtl="0" algn="ctr">
              <a:spcBef>
                <a:spcPts val="880"/>
              </a:spcBef>
              <a:spcAft>
                <a:spcPts val="0"/>
              </a:spcAft>
              <a:buClr>
                <a:schemeClr val="dk1"/>
              </a:buClr>
              <a:buSzPts val="4400"/>
              <a:buFont typeface="Arial"/>
              <a:buNone/>
            </a:pPr>
            <a:r>
              <a:t/>
            </a:r>
            <a:endParaRPr b="0" i="0" sz="4400" u="none" cap="none" strike="noStrike">
              <a:solidFill>
                <a:schemeClr val="dk1"/>
              </a:solidFill>
              <a:latin typeface="Calibri"/>
              <a:ea typeface="Calibri"/>
              <a:cs typeface="Calibri"/>
              <a:sym typeface="Calibri"/>
            </a:endParaRPr>
          </a:p>
        </p:txBody>
      </p:sp>
      <p:sp>
        <p:nvSpPr>
          <p:cNvPr id="97" name="Google Shape;97;p1"/>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2012951" y="466725"/>
            <a:ext cx="8539162" cy="1187450"/>
          </a:xfrm>
          <a:prstGeom prst="rect">
            <a:avLst/>
          </a:prstGeom>
          <a:noFill/>
          <a:ln>
            <a:noFill/>
          </a:ln>
        </p:spPr>
        <p:txBody>
          <a:bodyPr anchorCtr="0" anchor="t" bIns="49700" lIns="99425" spcFirstLastPara="1" rIns="99425" wrap="square" tIns="49700">
            <a:normAutofit/>
          </a:bodyPr>
          <a:lstStyle/>
          <a:p>
            <a:pPr indent="0" lvl="0" marL="0" rtl="0" algn="ctr">
              <a:spcBef>
                <a:spcPts val="0"/>
              </a:spcBef>
              <a:spcAft>
                <a:spcPts val="0"/>
              </a:spcAft>
              <a:buClr>
                <a:schemeClr val="dk1"/>
              </a:buClr>
              <a:buSzPts val="4500"/>
              <a:buFont typeface="Calibri"/>
              <a:buNone/>
            </a:pPr>
            <a:r>
              <a:rPr lang="ru-RU"/>
              <a:t>Содержание</a:t>
            </a:r>
            <a:endParaRPr/>
          </a:p>
        </p:txBody>
      </p:sp>
      <p:sp>
        <p:nvSpPr>
          <p:cNvPr id="104" name="Google Shape;104;p2"/>
          <p:cNvSpPr/>
          <p:nvPr/>
        </p:nvSpPr>
        <p:spPr>
          <a:xfrm>
            <a:off x="2306444" y="1711083"/>
            <a:ext cx="8059976" cy="1275998"/>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200" u="none" cap="none" strike="noStrike">
              <a:solidFill>
                <a:schemeClr val="lt1"/>
              </a:solidFill>
              <a:latin typeface="Arial"/>
              <a:ea typeface="Arial"/>
              <a:cs typeface="Arial"/>
              <a:sym typeface="Arial"/>
            </a:endParaRPr>
          </a:p>
        </p:txBody>
      </p:sp>
      <p:sp>
        <p:nvSpPr>
          <p:cNvPr id="105" name="Google Shape;105;p2"/>
          <p:cNvSpPr/>
          <p:nvPr/>
        </p:nvSpPr>
        <p:spPr>
          <a:xfrm>
            <a:off x="2622184" y="1921644"/>
            <a:ext cx="515275" cy="833059"/>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2800" u="none" cap="none" strike="noStrike">
                <a:solidFill>
                  <a:schemeClr val="lt1"/>
                </a:solidFill>
                <a:latin typeface="Arial"/>
                <a:ea typeface="Arial"/>
                <a:cs typeface="Arial"/>
                <a:sym typeface="Arial"/>
              </a:rPr>
              <a:t>1</a:t>
            </a:r>
            <a:endParaRPr/>
          </a:p>
        </p:txBody>
      </p:sp>
      <p:sp>
        <p:nvSpPr>
          <p:cNvPr id="106" name="Google Shape;106;p2"/>
          <p:cNvSpPr/>
          <p:nvPr/>
        </p:nvSpPr>
        <p:spPr>
          <a:xfrm>
            <a:off x="3164432" y="2058727"/>
            <a:ext cx="5761304" cy="621941"/>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0" i="0" lang="ru-RU" sz="3600" u="none" cap="none" strike="noStrike">
                <a:solidFill>
                  <a:schemeClr val="lt1"/>
                </a:solidFill>
                <a:latin typeface="Arial"/>
                <a:ea typeface="Arial"/>
                <a:cs typeface="Arial"/>
                <a:sym typeface="Arial"/>
              </a:rPr>
              <a:t>Виды наиболее важных </a:t>
            </a:r>
            <a:endParaRPr/>
          </a:p>
          <a:p>
            <a:pPr indent="0" lvl="0" marL="0" marR="0" rtl="0" algn="ctr">
              <a:spcBef>
                <a:spcPts val="0"/>
              </a:spcBef>
              <a:spcAft>
                <a:spcPts val="0"/>
              </a:spcAft>
              <a:buNone/>
            </a:pPr>
            <a:r>
              <a:rPr b="0" i="0" lang="ru-RU" sz="3600" u="none" cap="none" strike="noStrike">
                <a:solidFill>
                  <a:schemeClr val="lt1"/>
                </a:solidFill>
                <a:latin typeface="Arial"/>
                <a:ea typeface="Arial"/>
                <a:cs typeface="Arial"/>
                <a:sym typeface="Arial"/>
              </a:rPr>
              <a:t>статистических гипотез</a:t>
            </a:r>
            <a:endParaRPr/>
          </a:p>
        </p:txBody>
      </p:sp>
      <p:grpSp>
        <p:nvGrpSpPr>
          <p:cNvPr id="107" name="Google Shape;107;p2"/>
          <p:cNvGrpSpPr/>
          <p:nvPr/>
        </p:nvGrpSpPr>
        <p:grpSpPr>
          <a:xfrm>
            <a:off x="2306444" y="3241751"/>
            <a:ext cx="8059976" cy="1258042"/>
            <a:chOff x="635" y="3470"/>
            <a:chExt cx="5094" cy="483"/>
          </a:xfrm>
        </p:grpSpPr>
        <p:sp>
          <p:nvSpPr>
            <p:cNvPr id="108" name="Google Shape;108;p2"/>
            <p:cNvSpPr/>
            <p:nvPr/>
          </p:nvSpPr>
          <p:spPr>
            <a:xfrm>
              <a:off x="635" y="3473"/>
              <a:ext cx="5094" cy="480"/>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903288" marR="0" rtl="0" algn="l">
                <a:spcBef>
                  <a:spcPts val="0"/>
                </a:spcBef>
                <a:spcAft>
                  <a:spcPts val="0"/>
                </a:spcAft>
                <a:buNone/>
              </a:pPr>
              <a:r>
                <a:t/>
              </a:r>
              <a:endParaRPr b="0" i="0" sz="3600" u="none" cap="none" strike="noStrike">
                <a:solidFill>
                  <a:schemeClr val="lt1"/>
                </a:solidFill>
                <a:latin typeface="Arial"/>
                <a:ea typeface="Arial"/>
                <a:cs typeface="Arial"/>
                <a:sym typeface="Arial"/>
              </a:endParaRPr>
            </a:p>
          </p:txBody>
        </p:sp>
        <p:sp>
          <p:nvSpPr>
            <p:cNvPr id="109" name="Google Shape;109;p2"/>
            <p:cNvSpPr/>
            <p:nvPr/>
          </p:nvSpPr>
          <p:spPr>
            <a:xfrm>
              <a:off x="830" y="3556"/>
              <a:ext cx="326" cy="318"/>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ru-RU" sz="2800" u="none" cap="none" strike="noStrike">
                  <a:solidFill>
                    <a:schemeClr val="lt1"/>
                  </a:solidFill>
                  <a:latin typeface="Arial"/>
                  <a:ea typeface="Arial"/>
                  <a:cs typeface="Arial"/>
                  <a:sym typeface="Arial"/>
                </a:rPr>
                <a:t>2</a:t>
              </a:r>
              <a:endParaRPr/>
            </a:p>
          </p:txBody>
        </p:sp>
        <p:sp>
          <p:nvSpPr>
            <p:cNvPr id="110" name="Google Shape;110;p2"/>
            <p:cNvSpPr/>
            <p:nvPr/>
          </p:nvSpPr>
          <p:spPr>
            <a:xfrm>
              <a:off x="1216" y="3470"/>
              <a:ext cx="4397" cy="479"/>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ru-RU" sz="3600" u="none" cap="none" strike="noStrike">
                  <a:solidFill>
                    <a:schemeClr val="lt1"/>
                  </a:solidFill>
                  <a:latin typeface="Quattrocento Sans"/>
                  <a:ea typeface="Quattrocento Sans"/>
                  <a:cs typeface="Quattrocento Sans"/>
                  <a:sym typeface="Quattrocento Sans"/>
                </a:rPr>
                <a:t>Технологии</a:t>
              </a:r>
              <a:r>
                <a:rPr b="1" i="0" lang="ru-RU" sz="3200" u="none" cap="none" strike="noStrike">
                  <a:solidFill>
                    <a:schemeClr val="lt1"/>
                  </a:solidFill>
                  <a:latin typeface="Quattrocento Sans"/>
                  <a:ea typeface="Quattrocento Sans"/>
                  <a:cs typeface="Quattrocento Sans"/>
                  <a:sym typeface="Quattrocento Sans"/>
                </a:rPr>
                <a:t> проверки</a:t>
              </a:r>
              <a:endParaRPr/>
            </a:p>
            <a:p>
              <a:pPr indent="0" lvl="0" marL="0" marR="0" rtl="0" algn="l">
                <a:spcBef>
                  <a:spcPts val="0"/>
                </a:spcBef>
                <a:spcAft>
                  <a:spcPts val="0"/>
                </a:spcAft>
                <a:buNone/>
              </a:pPr>
              <a:r>
                <a:rPr b="1" i="0" lang="ru-RU" sz="3600" u="none" cap="none" strike="noStrike">
                  <a:solidFill>
                    <a:schemeClr val="lt1"/>
                  </a:solidFill>
                  <a:latin typeface="Quattrocento Sans"/>
                  <a:ea typeface="Quattrocento Sans"/>
                  <a:cs typeface="Quattrocento Sans"/>
                  <a:sym typeface="Quattrocento Sans"/>
                </a:rPr>
                <a:t>статистических</a:t>
              </a:r>
              <a:r>
                <a:rPr b="1" i="0" lang="ru-RU" sz="3200" u="none" cap="none" strike="noStrike">
                  <a:solidFill>
                    <a:schemeClr val="lt1"/>
                  </a:solidFill>
                  <a:latin typeface="Quattrocento Sans"/>
                  <a:ea typeface="Quattrocento Sans"/>
                  <a:cs typeface="Quattrocento Sans"/>
                  <a:sym typeface="Quattrocento Sans"/>
                </a:rPr>
                <a:t> гипотез</a:t>
              </a:r>
              <a:endParaRPr/>
            </a:p>
          </p:txBody>
        </p:sp>
      </p:grpSp>
      <p:grpSp>
        <p:nvGrpSpPr>
          <p:cNvPr id="111" name="Google Shape;111;p2"/>
          <p:cNvGrpSpPr/>
          <p:nvPr/>
        </p:nvGrpSpPr>
        <p:grpSpPr>
          <a:xfrm>
            <a:off x="2337344" y="4754463"/>
            <a:ext cx="8214769" cy="1340720"/>
            <a:chOff x="635" y="3745"/>
            <a:chExt cx="5130" cy="489"/>
          </a:xfrm>
        </p:grpSpPr>
        <p:sp>
          <p:nvSpPr>
            <p:cNvPr id="112" name="Google Shape;112;p2"/>
            <p:cNvSpPr/>
            <p:nvPr/>
          </p:nvSpPr>
          <p:spPr>
            <a:xfrm>
              <a:off x="635" y="3745"/>
              <a:ext cx="5094" cy="480"/>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903288" marR="0" rtl="0" algn="l">
                <a:spcBef>
                  <a:spcPts val="0"/>
                </a:spcBef>
                <a:spcAft>
                  <a:spcPts val="0"/>
                </a:spcAft>
                <a:buNone/>
              </a:pPr>
              <a:r>
                <a:t/>
              </a:r>
              <a:endParaRPr b="0" i="0" sz="3200" u="none" cap="none" strike="noStrike">
                <a:solidFill>
                  <a:schemeClr val="lt1"/>
                </a:solidFill>
                <a:latin typeface="Arial"/>
                <a:ea typeface="Arial"/>
                <a:cs typeface="Arial"/>
                <a:sym typeface="Arial"/>
              </a:endParaRPr>
            </a:p>
          </p:txBody>
        </p:sp>
        <p:sp>
          <p:nvSpPr>
            <p:cNvPr id="113" name="Google Shape;113;p2"/>
            <p:cNvSpPr/>
            <p:nvPr/>
          </p:nvSpPr>
          <p:spPr>
            <a:xfrm>
              <a:off x="830" y="3828"/>
              <a:ext cx="326" cy="318"/>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ru-RU" sz="2800" u="none" cap="none" strike="noStrike">
                  <a:solidFill>
                    <a:schemeClr val="lt1"/>
                  </a:solidFill>
                  <a:latin typeface="Arial"/>
                  <a:ea typeface="Arial"/>
                  <a:cs typeface="Arial"/>
                  <a:sym typeface="Arial"/>
                </a:rPr>
                <a:t>3</a:t>
              </a:r>
              <a:endParaRPr/>
            </a:p>
          </p:txBody>
        </p:sp>
        <p:sp>
          <p:nvSpPr>
            <p:cNvPr id="114" name="Google Shape;114;p2"/>
            <p:cNvSpPr/>
            <p:nvPr/>
          </p:nvSpPr>
          <p:spPr>
            <a:xfrm>
              <a:off x="672" y="3755"/>
              <a:ext cx="5093" cy="479"/>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ru-RU" sz="3600" u="none" cap="none" strike="noStrike">
                  <a:solidFill>
                    <a:schemeClr val="lt1"/>
                  </a:solidFill>
                  <a:latin typeface="Quattrocento Sans"/>
                  <a:ea typeface="Quattrocento Sans"/>
                  <a:cs typeface="Quattrocento Sans"/>
                  <a:sym typeface="Quattrocento Sans"/>
                </a:rPr>
                <a:t>Дополнительные условия </a:t>
              </a:r>
              <a:endParaRPr/>
            </a:p>
            <a:p>
              <a:pPr indent="0" lvl="0" marL="0" marR="0" rtl="0" algn="ctr">
                <a:spcBef>
                  <a:spcPts val="0"/>
                </a:spcBef>
                <a:spcAft>
                  <a:spcPts val="0"/>
                </a:spcAft>
                <a:buNone/>
              </a:pPr>
              <a:r>
                <a:rPr b="1" i="0" lang="ru-RU" sz="3600" u="none" cap="none" strike="noStrike">
                  <a:solidFill>
                    <a:schemeClr val="lt1"/>
                  </a:solidFill>
                  <a:latin typeface="Quattrocento Sans"/>
                  <a:ea typeface="Quattrocento Sans"/>
                  <a:cs typeface="Quattrocento Sans"/>
                  <a:sym typeface="Quattrocento Sans"/>
                </a:rPr>
                <a:t>проверки гипотез</a:t>
              </a:r>
              <a:endParaRPr/>
            </a:p>
          </p:txBody>
        </p:sp>
      </p:grpSp>
      <p:sp>
        <p:nvSpPr>
          <p:cNvPr id="115" name="Google Shape;115;p2"/>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500"/>
                                        <p:tgtEl>
                                          <p:spTgt spid="1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500"/>
                                        <p:tgtEl>
                                          <p:spTgt spid="11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p:nvPr/>
        </p:nvSpPr>
        <p:spPr>
          <a:xfrm>
            <a:off x="1649180" y="1906961"/>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22" name="Google Shape;122;p3"/>
          <p:cNvSpPr/>
          <p:nvPr/>
        </p:nvSpPr>
        <p:spPr>
          <a:xfrm>
            <a:off x="2006368" y="2129211"/>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3</a:t>
            </a:r>
            <a:endParaRPr/>
          </a:p>
        </p:txBody>
      </p:sp>
      <p:sp>
        <p:nvSpPr>
          <p:cNvPr id="123" name="Google Shape;123;p3"/>
          <p:cNvSpPr/>
          <p:nvPr/>
        </p:nvSpPr>
        <p:spPr>
          <a:xfrm>
            <a:off x="2949749" y="1928930"/>
            <a:ext cx="6680284" cy="117970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0" i="0" lang="ru-RU" sz="4400" u="none" cap="none" strike="noStrike">
                <a:solidFill>
                  <a:schemeClr val="lt1"/>
                </a:solidFill>
                <a:latin typeface="Arial"/>
                <a:ea typeface="Arial"/>
                <a:cs typeface="Arial"/>
                <a:sym typeface="Arial"/>
              </a:rPr>
              <a:t>Дополнительные условия </a:t>
            </a:r>
            <a:endParaRPr/>
          </a:p>
          <a:p>
            <a:pPr indent="0" lvl="0" marL="0" marR="0" rtl="0" algn="ctr">
              <a:spcBef>
                <a:spcPts val="0"/>
              </a:spcBef>
              <a:spcAft>
                <a:spcPts val="0"/>
              </a:spcAft>
              <a:buNone/>
            </a:pPr>
            <a:r>
              <a:rPr b="0" i="0" lang="ru-RU" sz="4400" u="none" cap="none" strike="noStrike">
                <a:solidFill>
                  <a:schemeClr val="lt1"/>
                </a:solidFill>
                <a:latin typeface="Arial"/>
                <a:ea typeface="Arial"/>
                <a:cs typeface="Arial"/>
                <a:sym typeface="Arial"/>
              </a:rPr>
              <a:t>проверки гипотез</a:t>
            </a:r>
            <a:endParaRPr/>
          </a:p>
        </p:txBody>
      </p:sp>
      <p:sp>
        <p:nvSpPr>
          <p:cNvPr id="124" name="Google Shape;124;p3"/>
          <p:cNvSpPr/>
          <p:nvPr/>
        </p:nvSpPr>
        <p:spPr>
          <a:xfrm>
            <a:off x="2154378" y="3275113"/>
            <a:ext cx="8824541" cy="1193815"/>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25" name="Google Shape;125;p3"/>
          <p:cNvSpPr/>
          <p:nvPr/>
        </p:nvSpPr>
        <p:spPr>
          <a:xfrm>
            <a:off x="2511565" y="3497363"/>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3.1</a:t>
            </a:r>
            <a:endParaRPr/>
          </a:p>
        </p:txBody>
      </p:sp>
      <p:sp>
        <p:nvSpPr>
          <p:cNvPr id="126" name="Google Shape;126;p3"/>
          <p:cNvSpPr/>
          <p:nvPr/>
        </p:nvSpPr>
        <p:spPr>
          <a:xfrm>
            <a:off x="3378033" y="3415716"/>
            <a:ext cx="6252000" cy="95745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0" i="0" lang="ru-RU" sz="3600" u="none" cap="none" strike="noStrike">
                <a:solidFill>
                  <a:schemeClr val="lt1"/>
                </a:solidFill>
                <a:latin typeface="Arial"/>
                <a:ea typeface="Arial"/>
                <a:cs typeface="Arial"/>
                <a:sym typeface="Arial"/>
              </a:rPr>
              <a:t>Гипотеза о нормальности </a:t>
            </a:r>
            <a:endParaRPr/>
          </a:p>
          <a:p>
            <a:pPr indent="0" lvl="0" marL="0" marR="0" rtl="0" algn="l">
              <a:spcBef>
                <a:spcPts val="0"/>
              </a:spcBef>
              <a:spcAft>
                <a:spcPts val="0"/>
              </a:spcAft>
              <a:buNone/>
            </a:pPr>
            <a:r>
              <a:rPr b="0" i="0" lang="ru-RU" sz="3600" u="none" cap="none" strike="noStrike">
                <a:solidFill>
                  <a:schemeClr val="lt1"/>
                </a:solidFill>
                <a:latin typeface="Arial"/>
                <a:ea typeface="Arial"/>
                <a:cs typeface="Arial"/>
                <a:sym typeface="Arial"/>
              </a:rPr>
              <a:t>распределения</a:t>
            </a:r>
            <a:endParaRPr/>
          </a:p>
        </p:txBody>
      </p:sp>
      <p:sp>
        <p:nvSpPr>
          <p:cNvPr id="127" name="Google Shape;127;p3"/>
          <p:cNvSpPr/>
          <p:nvPr/>
        </p:nvSpPr>
        <p:spPr>
          <a:xfrm>
            <a:off x="2154378" y="4571257"/>
            <a:ext cx="8824541" cy="965199"/>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28" name="Google Shape;128;p3"/>
          <p:cNvSpPr/>
          <p:nvPr/>
        </p:nvSpPr>
        <p:spPr>
          <a:xfrm>
            <a:off x="2509697" y="4630889"/>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3.2</a:t>
            </a:r>
            <a:endParaRPr/>
          </a:p>
        </p:txBody>
      </p:sp>
      <p:sp>
        <p:nvSpPr>
          <p:cNvPr id="129" name="Google Shape;129;p3"/>
          <p:cNvSpPr/>
          <p:nvPr/>
        </p:nvSpPr>
        <p:spPr>
          <a:xfrm>
            <a:off x="3682525" y="4571256"/>
            <a:ext cx="6680284" cy="851720"/>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0" i="0" lang="ru-RU" sz="3600" u="none" cap="none" strike="noStrike">
                <a:solidFill>
                  <a:schemeClr val="lt1"/>
                </a:solidFill>
                <a:latin typeface="Arial"/>
                <a:ea typeface="Arial"/>
                <a:cs typeface="Arial"/>
                <a:sym typeface="Arial"/>
              </a:rPr>
              <a:t>Парные и независимые выборки</a:t>
            </a:r>
            <a:endParaRPr/>
          </a:p>
        </p:txBody>
      </p:sp>
      <p:sp>
        <p:nvSpPr>
          <p:cNvPr id="130" name="Google Shape;130;p3"/>
          <p:cNvSpPr/>
          <p:nvPr/>
        </p:nvSpPr>
        <p:spPr>
          <a:xfrm>
            <a:off x="2155756" y="5694290"/>
            <a:ext cx="8824541" cy="965199"/>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31" name="Google Shape;131;p3"/>
          <p:cNvSpPr/>
          <p:nvPr/>
        </p:nvSpPr>
        <p:spPr>
          <a:xfrm>
            <a:off x="2511075" y="5753922"/>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3.3</a:t>
            </a:r>
            <a:endParaRPr/>
          </a:p>
        </p:txBody>
      </p:sp>
      <p:sp>
        <p:nvSpPr>
          <p:cNvPr id="132" name="Google Shape;132;p3"/>
          <p:cNvSpPr/>
          <p:nvPr/>
        </p:nvSpPr>
        <p:spPr>
          <a:xfrm>
            <a:off x="3683903" y="5694289"/>
            <a:ext cx="6680284" cy="851720"/>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0" i="0" lang="ru-RU" sz="3600" u="none" cap="none" strike="noStrike">
                <a:solidFill>
                  <a:schemeClr val="lt1"/>
                </a:solidFill>
                <a:latin typeface="Arial"/>
                <a:ea typeface="Arial"/>
                <a:cs typeface="Arial"/>
                <a:sym typeface="Arial"/>
              </a:rPr>
              <a:t>Гипотеза о равенстве дисперсий</a:t>
            </a:r>
            <a:endParaRPr/>
          </a:p>
        </p:txBody>
      </p:sp>
      <p:sp>
        <p:nvSpPr>
          <p:cNvPr id="133" name="Google Shape;133;p3"/>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34" name="Google Shape;134;p3"/>
          <p:cNvSpPr txBox="1"/>
          <p:nvPr>
            <p:ph type="title"/>
          </p:nvPr>
        </p:nvSpPr>
        <p:spPr>
          <a:xfrm>
            <a:off x="2012951" y="466725"/>
            <a:ext cx="8539162" cy="1187450"/>
          </a:xfrm>
          <a:prstGeom prst="rect">
            <a:avLst/>
          </a:prstGeom>
          <a:noFill/>
          <a:ln>
            <a:noFill/>
          </a:ln>
        </p:spPr>
        <p:txBody>
          <a:bodyPr anchorCtr="0" anchor="t" bIns="49700" lIns="99425" spcFirstLastPara="1" rIns="99425" wrap="square" tIns="49700">
            <a:normAutofit/>
          </a:bodyPr>
          <a:lstStyle/>
          <a:p>
            <a:pPr indent="0" lvl="0" marL="0" rtl="0" algn="ctr">
              <a:spcBef>
                <a:spcPts val="0"/>
              </a:spcBef>
              <a:spcAft>
                <a:spcPts val="0"/>
              </a:spcAft>
              <a:buClr>
                <a:schemeClr val="dk1"/>
              </a:buClr>
              <a:buSzPts val="4500"/>
              <a:buFont typeface="Calibri"/>
              <a:buNone/>
            </a:pPr>
            <a:r>
              <a:rPr lang="ru-RU"/>
              <a:t>Содержание</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
          <p:cNvSpPr/>
          <p:nvPr/>
        </p:nvSpPr>
        <p:spPr>
          <a:xfrm>
            <a:off x="1868488" y="3140076"/>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41" name="Google Shape;141;p4"/>
          <p:cNvSpPr/>
          <p:nvPr/>
        </p:nvSpPr>
        <p:spPr>
          <a:xfrm>
            <a:off x="2225676" y="3362326"/>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1</a:t>
            </a:r>
            <a:endParaRPr/>
          </a:p>
        </p:txBody>
      </p:sp>
      <p:sp>
        <p:nvSpPr>
          <p:cNvPr id="142" name="Google Shape;142;p4"/>
          <p:cNvSpPr/>
          <p:nvPr/>
        </p:nvSpPr>
        <p:spPr>
          <a:xfrm>
            <a:off x="3652705" y="3472836"/>
            <a:ext cx="5761304" cy="621941"/>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0" i="0" lang="ru-RU" sz="3600" u="none" cap="none" strike="noStrike">
                <a:solidFill>
                  <a:schemeClr val="lt1"/>
                </a:solidFill>
                <a:latin typeface="Arial"/>
                <a:ea typeface="Arial"/>
                <a:cs typeface="Arial"/>
                <a:sym typeface="Arial"/>
              </a:rPr>
              <a:t>Виды наиболее важных </a:t>
            </a:r>
            <a:endParaRPr/>
          </a:p>
          <a:p>
            <a:pPr indent="0" lvl="0" marL="0" marR="0" rtl="0" algn="ctr">
              <a:spcBef>
                <a:spcPts val="0"/>
              </a:spcBef>
              <a:spcAft>
                <a:spcPts val="0"/>
              </a:spcAft>
              <a:buNone/>
            </a:pPr>
            <a:r>
              <a:rPr b="0" i="0" lang="ru-RU" sz="3600" u="none" cap="none" strike="noStrike">
                <a:solidFill>
                  <a:schemeClr val="lt1"/>
                </a:solidFill>
                <a:latin typeface="Arial"/>
                <a:ea typeface="Arial"/>
                <a:cs typeface="Arial"/>
                <a:sym typeface="Arial"/>
              </a:rPr>
              <a:t>статистических гипотез</a:t>
            </a:r>
            <a:endParaRPr/>
          </a:p>
        </p:txBody>
      </p:sp>
      <p:sp>
        <p:nvSpPr>
          <p:cNvPr id="143" name="Google Shape;143;p4"/>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p:nvPr/>
        </p:nvSpPr>
        <p:spPr>
          <a:xfrm>
            <a:off x="1438275" y="322263"/>
            <a:ext cx="1072849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50" name="Google Shape;150;p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51" name="Google Shape;151;p5"/>
          <p:cNvSpPr txBox="1"/>
          <p:nvPr>
            <p:ph idx="4294967295" type="title"/>
          </p:nvPr>
        </p:nvSpPr>
        <p:spPr>
          <a:xfrm>
            <a:off x="2426323" y="367908"/>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Определение</a:t>
            </a:r>
            <a:endParaRPr/>
          </a:p>
        </p:txBody>
      </p:sp>
      <p:sp>
        <p:nvSpPr>
          <p:cNvPr id="152" name="Google Shape;152;p5"/>
          <p:cNvSpPr txBox="1"/>
          <p:nvPr>
            <p:ph idx="4294967295" type="body"/>
          </p:nvPr>
        </p:nvSpPr>
        <p:spPr>
          <a:xfrm>
            <a:off x="1885158" y="1476606"/>
            <a:ext cx="9632606" cy="4905375"/>
          </a:xfrm>
          <a:prstGeom prst="rect">
            <a:avLst/>
          </a:prstGeom>
          <a:noFill/>
          <a:ln>
            <a:noFill/>
          </a:ln>
        </p:spPr>
        <p:txBody>
          <a:bodyPr anchorCtr="0" anchor="t" bIns="45700" lIns="91425" spcFirstLastPara="1" rIns="91425" wrap="square" tIns="45700">
            <a:normAutofit/>
          </a:bodyPr>
          <a:lstStyle/>
          <a:p>
            <a:pPr indent="-99060" lvl="0" marL="0" rtl="0" algn="l">
              <a:spcBef>
                <a:spcPts val="0"/>
              </a:spcBef>
              <a:spcAft>
                <a:spcPts val="0"/>
              </a:spcAft>
              <a:buClr>
                <a:srgbClr val="CC9900"/>
              </a:buClr>
              <a:buSzPts val="1560"/>
              <a:buFont typeface="Noto Sans Symbols"/>
              <a:buChar char="■"/>
            </a:pPr>
            <a:r>
              <a:rPr lang="ru-RU" sz="2400"/>
              <a:t> Статистическая гипотеза – утверждение о свойствах распределения вероятностей случайной величины </a:t>
            </a:r>
            <a:r>
              <a:rPr i="1" lang="ru-RU" sz="1800"/>
              <a:t>(или случайного вектора).</a:t>
            </a:r>
            <a:endParaRPr/>
          </a:p>
          <a:p>
            <a:pPr indent="-82550" lvl="1" marL="434975" rtl="0" algn="l">
              <a:spcBef>
                <a:spcPts val="400"/>
              </a:spcBef>
              <a:spcAft>
                <a:spcPts val="0"/>
              </a:spcAft>
              <a:buClr>
                <a:srgbClr val="CC9900"/>
              </a:buClr>
              <a:buSzPts val="1300"/>
              <a:buFont typeface="Noto Sans Symbols"/>
              <a:buChar char="■"/>
            </a:pPr>
            <a:r>
              <a:rPr lang="ru-RU" sz="2000"/>
              <a:t> Гипотеза нуждается в проверке.</a:t>
            </a:r>
            <a:endParaRPr/>
          </a:p>
          <a:p>
            <a:pPr indent="-82550" lvl="1" marL="434975" rtl="0" algn="l">
              <a:spcBef>
                <a:spcPts val="400"/>
              </a:spcBef>
              <a:spcAft>
                <a:spcPts val="0"/>
              </a:spcAft>
              <a:buClr>
                <a:srgbClr val="CC9900"/>
              </a:buClr>
              <a:buSzPts val="1300"/>
              <a:buFont typeface="Noto Sans Symbols"/>
              <a:buChar char="■"/>
            </a:pPr>
            <a:r>
              <a:rPr lang="ru-RU" sz="2000"/>
              <a:t> Проверка основывается на результатах эксперимента, на наблюдениях.</a:t>
            </a:r>
            <a:endParaRPr/>
          </a:p>
          <a:p>
            <a:pPr indent="0" lvl="1" marL="434975" rtl="0" algn="l">
              <a:spcBef>
                <a:spcPts val="400"/>
              </a:spcBef>
              <a:spcAft>
                <a:spcPts val="0"/>
              </a:spcAft>
              <a:buClr>
                <a:srgbClr val="CC9900"/>
              </a:buClr>
              <a:buSzPts val="1300"/>
              <a:buFont typeface="Noto Sans Symbols"/>
              <a:buNone/>
            </a:pPr>
            <a:r>
              <a:t/>
            </a:r>
            <a:endParaRPr sz="2000"/>
          </a:p>
          <a:p>
            <a:pPr indent="-271463" lvl="0" marL="271463" rtl="0" algn="l">
              <a:spcBef>
                <a:spcPts val="480"/>
              </a:spcBef>
              <a:spcAft>
                <a:spcPts val="0"/>
              </a:spcAft>
              <a:buClr>
                <a:srgbClr val="CC9900"/>
              </a:buClr>
              <a:buSzPts val="1560"/>
              <a:buFont typeface="Noto Sans Symbols"/>
              <a:buChar char="■"/>
            </a:pPr>
            <a:r>
              <a:rPr b="1" i="1" lang="ru-RU" sz="2400"/>
              <a:t>Статистическая гипотеза</a:t>
            </a:r>
            <a:r>
              <a:rPr lang="ru-RU" sz="2400"/>
              <a:t> - это некоторое предположение о свойствах генеральной совокупности, которое необходимо проверить. Статистические гипотезы выдвигаются, когда необходимо проверить, является ли наблюдаемое явление элементом случайности или результатом воздействия некоторых величин.</a:t>
            </a:r>
            <a:endParaRPr/>
          </a:p>
        </p:txBody>
      </p:sp>
      <p:sp>
        <p:nvSpPr>
          <p:cNvPr id="153" name="Google Shape;153;p5"/>
          <p:cNvSpPr txBox="1"/>
          <p:nvPr>
            <p:ph idx="12" type="sldNum"/>
          </p:nvPr>
        </p:nvSpPr>
        <p:spPr>
          <a:xfrm>
            <a:off x="11517764" y="6545590"/>
            <a:ext cx="880449"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154" name="Google Shape;154;p5"/>
          <p:cNvSpPr/>
          <p:nvPr/>
        </p:nvSpPr>
        <p:spPr>
          <a:xfrm>
            <a:off x="1214327" y="5361676"/>
            <a:ext cx="10239600" cy="2162100"/>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61" name="Google Shape;161;p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62" name="Google Shape;162;p6"/>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1.  Гипотеза согласия</a:t>
            </a:r>
            <a:endParaRPr/>
          </a:p>
        </p:txBody>
      </p:sp>
      <p:sp>
        <p:nvSpPr>
          <p:cNvPr id="163" name="Google Shape;163;p6"/>
          <p:cNvSpPr txBox="1"/>
          <p:nvPr>
            <p:ph idx="4294967295" type="body"/>
          </p:nvPr>
        </p:nvSpPr>
        <p:spPr>
          <a:xfrm>
            <a:off x="1344117" y="1622020"/>
            <a:ext cx="10123264" cy="4708525"/>
          </a:xfrm>
          <a:prstGeom prst="rect">
            <a:avLst/>
          </a:prstGeom>
          <a:noFill/>
          <a:ln>
            <a:noFill/>
          </a:ln>
        </p:spPr>
        <p:txBody>
          <a:bodyPr anchorCtr="0" anchor="t" bIns="45700" lIns="91425" spcFirstLastPara="1" rIns="91425" wrap="square" tIns="45700">
            <a:normAutofit/>
          </a:bodyPr>
          <a:lstStyle/>
          <a:p>
            <a:pPr indent="-111525" lvl="0" marL="0" rtl="0" algn="l">
              <a:lnSpc>
                <a:spcPct val="90000"/>
              </a:lnSpc>
              <a:spcBef>
                <a:spcPts val="0"/>
              </a:spcBef>
              <a:spcAft>
                <a:spcPts val="0"/>
              </a:spcAft>
              <a:buClr>
                <a:srgbClr val="CC9900"/>
              </a:buClr>
              <a:buSzPts val="1756"/>
              <a:buFont typeface="Noto Sans Symbols"/>
              <a:buChar char="■"/>
            </a:pPr>
            <a:r>
              <a:rPr lang="ru-RU" sz="2702"/>
              <a:t> Обозначим </a:t>
            </a:r>
            <a:r>
              <a:rPr i="1" lang="ru-RU" sz="2702"/>
              <a:t>F</a:t>
            </a:r>
            <a:r>
              <a:rPr baseline="-25000" i="1" lang="ru-RU" sz="2702"/>
              <a:t>x</a:t>
            </a:r>
            <a:r>
              <a:rPr i="1" lang="ru-RU" sz="2702"/>
              <a:t>(t)</a:t>
            </a:r>
            <a:r>
              <a:rPr lang="ru-RU" sz="2702"/>
              <a:t> функцию распределения случайной величины Х.</a:t>
            </a:r>
            <a:endParaRPr/>
          </a:p>
          <a:p>
            <a:pPr indent="-111525" lvl="0" marL="0" rtl="0" algn="l">
              <a:lnSpc>
                <a:spcPct val="90000"/>
              </a:lnSpc>
              <a:spcBef>
                <a:spcPts val="674"/>
              </a:spcBef>
              <a:spcAft>
                <a:spcPts val="0"/>
              </a:spcAft>
              <a:buClr>
                <a:srgbClr val="CC9900"/>
              </a:buClr>
              <a:buSzPts val="1756"/>
              <a:buFont typeface="Noto Sans Symbols"/>
              <a:buChar char="■"/>
            </a:pPr>
            <a:r>
              <a:rPr lang="ru-RU" sz="2702"/>
              <a:t> Пусть   </a:t>
            </a:r>
            <a:r>
              <a:rPr i="1" lang="ru-RU" sz="2702"/>
              <a:t>F</a:t>
            </a:r>
            <a:r>
              <a:rPr baseline="-25000" i="1" lang="ru-RU" sz="2702"/>
              <a:t>0</a:t>
            </a:r>
            <a:r>
              <a:rPr i="1" lang="ru-RU" sz="2702"/>
              <a:t>(t)  ̶</a:t>
            </a:r>
            <a:r>
              <a:rPr lang="ru-RU" sz="2702"/>
              <a:t>  некоторая заданная функция распределения.</a:t>
            </a:r>
            <a:endParaRPr sz="2702"/>
          </a:p>
          <a:p>
            <a:pPr indent="0" lvl="0" marL="0" rtl="0" algn="l">
              <a:lnSpc>
                <a:spcPct val="90000"/>
              </a:lnSpc>
              <a:spcBef>
                <a:spcPts val="674"/>
              </a:spcBef>
              <a:spcAft>
                <a:spcPts val="0"/>
              </a:spcAft>
              <a:buClr>
                <a:srgbClr val="CC9900"/>
              </a:buClr>
              <a:buSzPts val="1756"/>
              <a:buNone/>
            </a:pPr>
            <a:r>
              <a:t/>
            </a:r>
            <a:endParaRPr sz="2702"/>
          </a:p>
          <a:p>
            <a:pPr indent="-111525" lvl="0" marL="0" rtl="0" algn="l">
              <a:lnSpc>
                <a:spcPct val="90000"/>
              </a:lnSpc>
              <a:spcBef>
                <a:spcPts val="674"/>
              </a:spcBef>
              <a:spcAft>
                <a:spcPts val="0"/>
              </a:spcAft>
              <a:buClr>
                <a:srgbClr val="CC9900"/>
              </a:buClr>
              <a:buSzPts val="1756"/>
              <a:buFont typeface="Noto Sans Symbols"/>
              <a:buChar char="■"/>
            </a:pPr>
            <a:r>
              <a:rPr lang="ru-RU" sz="2702">
                <a:solidFill>
                  <a:srgbClr val="FF0000"/>
                </a:solidFill>
              </a:rPr>
              <a:t>Гипотеза</a:t>
            </a:r>
            <a:r>
              <a:rPr lang="ru-RU" sz="2702"/>
              <a:t> : функции распределения совпадают, то есть   </a:t>
            </a:r>
            <a:r>
              <a:rPr i="1" lang="ru-RU" sz="2702"/>
              <a:t>F</a:t>
            </a:r>
            <a:r>
              <a:rPr baseline="-25000" i="1" lang="ru-RU" sz="2702"/>
              <a:t>x</a:t>
            </a:r>
            <a:r>
              <a:rPr i="1" lang="ru-RU" sz="2702"/>
              <a:t>(t)=F</a:t>
            </a:r>
            <a:r>
              <a:rPr baseline="-25000" i="1" lang="ru-RU" sz="2702"/>
              <a:t>0</a:t>
            </a:r>
            <a:r>
              <a:rPr i="1" lang="ru-RU" sz="2702"/>
              <a:t>(t)</a:t>
            </a:r>
            <a:endParaRPr i="1" sz="2702"/>
          </a:p>
          <a:p>
            <a:pPr indent="-183046" lvl="0" marL="354624" rtl="0" algn="l">
              <a:lnSpc>
                <a:spcPct val="90000"/>
              </a:lnSpc>
              <a:spcBef>
                <a:spcPts val="674"/>
              </a:spcBef>
              <a:spcAft>
                <a:spcPts val="0"/>
              </a:spcAft>
              <a:buClr>
                <a:schemeClr val="dk1"/>
              </a:buClr>
              <a:buSzPts val="2702"/>
              <a:buNone/>
            </a:pPr>
            <a:r>
              <a:t/>
            </a:r>
            <a:endParaRPr sz="2702"/>
          </a:p>
          <a:p>
            <a:pPr indent="-111525" lvl="0" marL="0" rtl="0" algn="l">
              <a:lnSpc>
                <a:spcPct val="90000"/>
              </a:lnSpc>
              <a:spcBef>
                <a:spcPts val="674"/>
              </a:spcBef>
              <a:spcAft>
                <a:spcPts val="0"/>
              </a:spcAft>
              <a:buClr>
                <a:srgbClr val="CC9900"/>
              </a:buClr>
              <a:buSzPts val="1756"/>
              <a:buFont typeface="Noto Sans Symbols"/>
              <a:buChar char="■"/>
            </a:pPr>
            <a:r>
              <a:rPr lang="ru-RU" sz="2702"/>
              <a:t>Кому и когда приходится проверять гипотезу согласия?</a:t>
            </a:r>
            <a:endParaRPr/>
          </a:p>
        </p:txBody>
      </p:sp>
      <p:sp>
        <p:nvSpPr>
          <p:cNvPr id="164" name="Google Shape;164;p6"/>
          <p:cNvSpPr/>
          <p:nvPr/>
        </p:nvSpPr>
        <p:spPr>
          <a:xfrm>
            <a:off x="1583268" y="0"/>
            <a:ext cx="9501717" cy="149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48625" lIns="93500" spcFirstLastPara="1" rIns="93500" wrap="square" tIns="48625">
            <a:noAutofit/>
          </a:bodyPr>
          <a:lstStyle/>
          <a:p>
            <a:pPr indent="0" lvl="0" marL="0" marR="0" rtl="0" algn="l">
              <a:spcBef>
                <a:spcPts val="0"/>
              </a:spcBef>
              <a:spcAft>
                <a:spcPts val="0"/>
              </a:spcAft>
              <a:buNone/>
            </a:pPr>
            <a:r>
              <a:t/>
            </a:r>
            <a:endParaRPr b="0" i="0" sz="1870" u="none" cap="none" strike="noStrike">
              <a:solidFill>
                <a:srgbClr val="000000"/>
              </a:solidFill>
              <a:latin typeface="Arial"/>
              <a:ea typeface="Arial"/>
              <a:cs typeface="Arial"/>
              <a:sym typeface="Arial"/>
            </a:endParaRPr>
          </a:p>
        </p:txBody>
      </p:sp>
      <p:sp>
        <p:nvSpPr>
          <p:cNvPr id="165" name="Google Shape;165;p6"/>
          <p:cNvSpPr txBox="1"/>
          <p:nvPr>
            <p:ph idx="12" type="sldNum"/>
          </p:nvPr>
        </p:nvSpPr>
        <p:spPr>
          <a:xfrm>
            <a:off x="11596505" y="6593842"/>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7"/>
          <p:cNvSpPr/>
          <p:nvPr/>
        </p:nvSpPr>
        <p:spPr>
          <a:xfrm>
            <a:off x="1438275" y="322263"/>
            <a:ext cx="1072849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72" name="Google Shape;172;p7"/>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73" name="Google Shape;173;p7"/>
          <p:cNvSpPr txBox="1"/>
          <p:nvPr>
            <p:ph idx="4294967295" type="title"/>
          </p:nvPr>
        </p:nvSpPr>
        <p:spPr>
          <a:xfrm>
            <a:off x="2589709" y="288926"/>
            <a:ext cx="7155954"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1.  Гипотеза согласия</a:t>
            </a:r>
            <a:endParaRPr/>
          </a:p>
        </p:txBody>
      </p:sp>
      <p:sp>
        <p:nvSpPr>
          <p:cNvPr id="174" name="Google Shape;174;p7"/>
          <p:cNvSpPr txBox="1"/>
          <p:nvPr>
            <p:ph idx="4294967295" type="body"/>
          </p:nvPr>
        </p:nvSpPr>
        <p:spPr>
          <a:xfrm>
            <a:off x="1149549" y="1677649"/>
            <a:ext cx="10728497" cy="410368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ru-RU" sz="2400"/>
              <a:t>– рост танкистов распределен </a:t>
            </a:r>
            <a:r>
              <a:rPr b="1" lang="ru-RU" sz="2400" u="sng">
                <a:solidFill>
                  <a:schemeClr val="hlink"/>
                </a:solidFill>
                <a:hlinkClick r:id="rId3"/>
              </a:rPr>
              <a:t>нормально</a:t>
            </a:r>
            <a:r>
              <a:rPr lang="ru-RU" sz="2400"/>
              <a:t>;</a:t>
            </a:r>
            <a:endParaRPr sz="2400"/>
          </a:p>
          <a:p>
            <a:pPr indent="0" lvl="0" marL="0" rtl="0" algn="l">
              <a:spcBef>
                <a:spcPts val="480"/>
              </a:spcBef>
              <a:spcAft>
                <a:spcPts val="0"/>
              </a:spcAft>
              <a:buClr>
                <a:schemeClr val="dk1"/>
              </a:buClr>
              <a:buSzPts val="2400"/>
              <a:buNone/>
            </a:pPr>
            <a:br>
              <a:rPr lang="ru-RU" sz="2400"/>
            </a:br>
            <a:r>
              <a:rPr lang="ru-RU" sz="2400"/>
              <a:t>– </a:t>
            </a:r>
            <a:r>
              <a:rPr b="1" lang="ru-RU" sz="2400" u="sng">
                <a:solidFill>
                  <a:schemeClr val="hlink"/>
                </a:solidFill>
                <a:hlinkClick r:id="rId4"/>
              </a:rPr>
              <a:t>дисперсии</a:t>
            </a:r>
            <a:r>
              <a:rPr lang="ru-RU" sz="2400"/>
              <a:t> стрельбы двух танковых дивизий равны между собой, при этом известно*, что точность стрельбы распределена нормально.</a:t>
            </a:r>
            <a:endParaRPr/>
          </a:p>
          <a:p>
            <a:pPr indent="-356307" lvl="0" marL="356307" rtl="0" algn="l">
              <a:spcBef>
                <a:spcPts val="480"/>
              </a:spcBef>
              <a:spcAft>
                <a:spcPts val="0"/>
              </a:spcAft>
              <a:buClr>
                <a:schemeClr val="dk1"/>
              </a:buClr>
              <a:buSzPts val="2400"/>
              <a:buChar char="•"/>
            </a:pPr>
            <a:r>
              <a:rPr lang="ru-RU" sz="2400"/>
              <a:t>В первом случае выдвигается гипотеза о законе распределения, во втором – о числовых характеристиках двух распределений, закон которых известен.</a:t>
            </a:r>
            <a:endParaRPr/>
          </a:p>
        </p:txBody>
      </p:sp>
      <p:sp>
        <p:nvSpPr>
          <p:cNvPr id="175" name="Google Shape;175;p7"/>
          <p:cNvSpPr/>
          <p:nvPr/>
        </p:nvSpPr>
        <p:spPr>
          <a:xfrm>
            <a:off x="1583268" y="0"/>
            <a:ext cx="9501717" cy="149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48625" lIns="93500" spcFirstLastPara="1" rIns="93500" wrap="square" tIns="48625">
            <a:noAutofit/>
          </a:bodyPr>
          <a:lstStyle/>
          <a:p>
            <a:pPr indent="0" lvl="0" marL="0" marR="0" rtl="0" algn="l">
              <a:spcBef>
                <a:spcPts val="0"/>
              </a:spcBef>
              <a:spcAft>
                <a:spcPts val="0"/>
              </a:spcAft>
              <a:buNone/>
            </a:pPr>
            <a:r>
              <a:t/>
            </a:r>
            <a:endParaRPr b="0" i="0" sz="1870" u="none" cap="none" strike="noStrike">
              <a:solidFill>
                <a:srgbClr val="000000"/>
              </a:solidFill>
              <a:latin typeface="Arial"/>
              <a:ea typeface="Arial"/>
              <a:cs typeface="Arial"/>
              <a:sym typeface="Arial"/>
            </a:endParaRPr>
          </a:p>
        </p:txBody>
      </p:sp>
      <p:sp>
        <p:nvSpPr>
          <p:cNvPr id="176" name="Google Shape;176;p7"/>
          <p:cNvSpPr/>
          <p:nvPr/>
        </p:nvSpPr>
        <p:spPr>
          <a:xfrm>
            <a:off x="2239439" y="5682081"/>
            <a:ext cx="871955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ru-RU" sz="2000" u="none" cap="none" strike="noStrike">
                <a:solidFill>
                  <a:schemeClr val="dk1"/>
                </a:solidFill>
                <a:latin typeface="Arial"/>
                <a:ea typeface="Arial"/>
                <a:cs typeface="Arial"/>
                <a:sym typeface="Arial"/>
              </a:rPr>
              <a:t>* из многочисленных ранее проведённых исследований.</a:t>
            </a:r>
            <a:endParaRPr sz="2000">
              <a:solidFill>
                <a:schemeClr val="dk1"/>
              </a:solidFill>
              <a:latin typeface="Arial"/>
              <a:ea typeface="Arial"/>
              <a:cs typeface="Arial"/>
              <a:sym typeface="Arial"/>
            </a:endParaRPr>
          </a:p>
        </p:txBody>
      </p:sp>
      <p:sp>
        <p:nvSpPr>
          <p:cNvPr id="177" name="Google Shape;177;p7"/>
          <p:cNvSpPr txBox="1"/>
          <p:nvPr>
            <p:ph idx="12" type="sldNum"/>
          </p:nvPr>
        </p:nvSpPr>
        <p:spPr>
          <a:xfrm>
            <a:off x="10150549" y="6605015"/>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8"/>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84" name="Google Shape;184;p8"/>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85" name="Google Shape;185;p8"/>
          <p:cNvSpPr txBox="1"/>
          <p:nvPr>
            <p:ph idx="4294967295" type="title"/>
          </p:nvPr>
        </p:nvSpPr>
        <p:spPr>
          <a:xfrm>
            <a:off x="3237781" y="410035"/>
            <a:ext cx="5588718"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1.  Гипотеза согласия</a:t>
            </a:r>
            <a:endParaRPr/>
          </a:p>
        </p:txBody>
      </p:sp>
      <p:sp>
        <p:nvSpPr>
          <p:cNvPr id="186" name="Google Shape;186;p8"/>
          <p:cNvSpPr txBox="1"/>
          <p:nvPr>
            <p:ph idx="4294967295" type="body"/>
          </p:nvPr>
        </p:nvSpPr>
        <p:spPr>
          <a:xfrm>
            <a:off x="573485" y="1495332"/>
            <a:ext cx="11305256" cy="4724400"/>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2200"/>
              <a:buChar char="•"/>
            </a:pPr>
            <a:r>
              <a:rPr lang="ru-RU" sz="2200"/>
              <a:t>Откуда взялись эти гипотезы? В первом случае была проведена </a:t>
            </a:r>
            <a:r>
              <a:rPr b="1" lang="ru-RU" sz="2200"/>
              <a:t>выборка </a:t>
            </a:r>
            <a:r>
              <a:rPr lang="ru-RU" sz="2200"/>
              <a:t>танкистов (например, 100 человек) и в результате её исследования появилось обоснованное предположение, что рост ВСЕХ танкистов распределён нормально. Во втором случае исследовались </a:t>
            </a:r>
            <a:r>
              <a:rPr b="1" lang="ru-RU" sz="2200"/>
              <a:t>выборочные </a:t>
            </a:r>
            <a:r>
              <a:rPr lang="ru-RU" sz="2200"/>
              <a:t>данные по точности стрельбы двух дивизий, в результате чего возник интерес проверить – а </a:t>
            </a:r>
            <a:r>
              <a:rPr b="1" lang="ru-RU" sz="2200"/>
              <a:t>одинакова ли генеральная результативность</a:t>
            </a:r>
            <a:r>
              <a:rPr lang="ru-RU" sz="2200"/>
              <a:t>, или же какая-то дивизия стреляет точнее?</a:t>
            </a:r>
            <a:endParaRPr/>
          </a:p>
          <a:p>
            <a:pPr indent="0" lvl="0" marL="0" rtl="0" algn="l">
              <a:spcBef>
                <a:spcPts val="440"/>
              </a:spcBef>
              <a:spcAft>
                <a:spcPts val="0"/>
              </a:spcAft>
              <a:buClr>
                <a:schemeClr val="dk1"/>
              </a:buClr>
              <a:buSzPts val="2200"/>
              <a:buNone/>
            </a:pPr>
            <a:r>
              <a:t/>
            </a:r>
            <a:endParaRPr sz="2200"/>
          </a:p>
          <a:p>
            <a:pPr indent="-356307" lvl="0" marL="356307" rtl="0" algn="l">
              <a:spcBef>
                <a:spcPts val="440"/>
              </a:spcBef>
              <a:spcAft>
                <a:spcPts val="0"/>
              </a:spcAft>
              <a:buClr>
                <a:schemeClr val="dk1"/>
              </a:buClr>
              <a:buSzPts val="2200"/>
              <a:buChar char="•"/>
            </a:pPr>
            <a:r>
              <a:rPr lang="ru-RU" sz="2200"/>
              <a:t>В обеих гипотезах речь идёт о генеральных совокупностях, и выдвигаются эти гипотезы на основании анализа </a:t>
            </a:r>
            <a:r>
              <a:rPr b="1" lang="ru-RU" sz="2200"/>
              <a:t>выборочных</a:t>
            </a:r>
            <a:r>
              <a:rPr lang="ru-RU" sz="2200"/>
              <a:t> данных. Это распространенная схема, но она не единственная, бывают и другие статистические гипотезы.</a:t>
            </a:r>
            <a:endParaRPr/>
          </a:p>
        </p:txBody>
      </p:sp>
      <p:sp>
        <p:nvSpPr>
          <p:cNvPr id="187" name="Google Shape;187;p8"/>
          <p:cNvSpPr/>
          <p:nvPr/>
        </p:nvSpPr>
        <p:spPr>
          <a:xfrm>
            <a:off x="1583268" y="0"/>
            <a:ext cx="9501717" cy="149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48625" lIns="93500" spcFirstLastPara="1" rIns="93500" wrap="square" tIns="48625">
            <a:noAutofit/>
          </a:bodyPr>
          <a:lstStyle/>
          <a:p>
            <a:pPr indent="0" lvl="0" marL="0" marR="0" rtl="0" algn="l">
              <a:spcBef>
                <a:spcPts val="0"/>
              </a:spcBef>
              <a:spcAft>
                <a:spcPts val="0"/>
              </a:spcAft>
              <a:buNone/>
            </a:pPr>
            <a:r>
              <a:t/>
            </a:r>
            <a:endParaRPr sz="1870">
              <a:solidFill>
                <a:srgbClr val="000000"/>
              </a:solidFill>
              <a:latin typeface="Arial"/>
              <a:ea typeface="Arial"/>
              <a:cs typeface="Arial"/>
              <a:sym typeface="Arial"/>
            </a:endParaRPr>
          </a:p>
        </p:txBody>
      </p:sp>
      <p:sp>
        <p:nvSpPr>
          <p:cNvPr id="188" name="Google Shape;188;p8"/>
          <p:cNvSpPr txBox="1"/>
          <p:nvPr>
            <p:ph idx="12" type="sldNum"/>
          </p:nvPr>
        </p:nvSpPr>
        <p:spPr>
          <a:xfrm>
            <a:off x="11474520" y="6550966"/>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95" name="Google Shape;195;p9"/>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96" name="Google Shape;196;p9"/>
          <p:cNvSpPr txBox="1"/>
          <p:nvPr>
            <p:ph idx="4294967295" type="title"/>
          </p:nvPr>
        </p:nvSpPr>
        <p:spPr>
          <a:xfrm>
            <a:off x="1195389" y="288926"/>
            <a:ext cx="8550275"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Пример гипотезы согласия 1</a:t>
            </a:r>
            <a:endParaRPr/>
          </a:p>
        </p:txBody>
      </p:sp>
      <p:sp>
        <p:nvSpPr>
          <p:cNvPr id="197" name="Google Shape;197;p9"/>
          <p:cNvSpPr txBox="1"/>
          <p:nvPr>
            <p:ph idx="4294967295" type="body"/>
          </p:nvPr>
        </p:nvSpPr>
        <p:spPr>
          <a:xfrm>
            <a:off x="1862213" y="1526321"/>
            <a:ext cx="8550275" cy="652481"/>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  Гипотеза о </a:t>
            </a:r>
            <a:r>
              <a:rPr b="1" i="1" lang="ru-RU" sz="2800">
                <a:solidFill>
                  <a:srgbClr val="0070C0"/>
                </a:solidFill>
              </a:rPr>
              <a:t>нормальности распределения</a:t>
            </a:r>
            <a:endParaRPr/>
          </a:p>
          <a:p>
            <a:pPr indent="0" lvl="0" marL="0" rtl="0" algn="l">
              <a:spcBef>
                <a:spcPts val="560"/>
              </a:spcBef>
              <a:spcAft>
                <a:spcPts val="0"/>
              </a:spcAft>
              <a:buClr>
                <a:schemeClr val="dk1"/>
              </a:buClr>
              <a:buSzPts val="2800"/>
              <a:buNone/>
            </a:pPr>
            <a:r>
              <a:t/>
            </a:r>
            <a:endParaRPr sz="2800"/>
          </a:p>
          <a:p>
            <a:pPr indent="-176824" lvl="0" marL="354624" rtl="0" algn="l">
              <a:spcBef>
                <a:spcPts val="560"/>
              </a:spcBef>
              <a:spcAft>
                <a:spcPts val="0"/>
              </a:spcAft>
              <a:buClr>
                <a:schemeClr val="dk1"/>
              </a:buClr>
              <a:buSzPts val="2800"/>
              <a:buNone/>
            </a:pPr>
            <a:r>
              <a:t/>
            </a:r>
            <a:endParaRPr sz="2800"/>
          </a:p>
          <a:p>
            <a:pPr indent="-176824" lvl="0" marL="354624" rtl="0" algn="l">
              <a:spcBef>
                <a:spcPts val="560"/>
              </a:spcBef>
              <a:spcAft>
                <a:spcPts val="0"/>
              </a:spcAft>
              <a:buClr>
                <a:schemeClr val="dk1"/>
              </a:buClr>
              <a:buSzPts val="2800"/>
              <a:buNone/>
            </a:pPr>
            <a:r>
              <a:t/>
            </a:r>
            <a:endParaRPr sz="2800"/>
          </a:p>
          <a:p>
            <a:pPr indent="-176824" lvl="0" marL="354624" rtl="0" algn="l">
              <a:spcBef>
                <a:spcPts val="560"/>
              </a:spcBef>
              <a:spcAft>
                <a:spcPts val="0"/>
              </a:spcAft>
              <a:buClr>
                <a:schemeClr val="dk1"/>
              </a:buClr>
              <a:buSzPts val="2800"/>
              <a:buNone/>
            </a:pPr>
            <a:r>
              <a:t/>
            </a:r>
            <a:endParaRPr sz="2800"/>
          </a:p>
          <a:p>
            <a:pPr indent="-176824" lvl="0" marL="354624" rtl="0" algn="l">
              <a:spcBef>
                <a:spcPts val="560"/>
              </a:spcBef>
              <a:spcAft>
                <a:spcPts val="0"/>
              </a:spcAft>
              <a:buClr>
                <a:schemeClr val="dk1"/>
              </a:buClr>
              <a:buSzPts val="2800"/>
              <a:buNone/>
            </a:pPr>
            <a:r>
              <a:t/>
            </a:r>
            <a:endParaRPr sz="2800"/>
          </a:p>
          <a:p>
            <a:pPr indent="-176824" lvl="0" marL="354624" rtl="0" algn="l">
              <a:spcBef>
                <a:spcPts val="560"/>
              </a:spcBef>
              <a:spcAft>
                <a:spcPts val="0"/>
              </a:spcAft>
              <a:buClr>
                <a:schemeClr val="dk1"/>
              </a:buClr>
              <a:buSzPts val="2800"/>
              <a:buNone/>
            </a:pPr>
            <a:r>
              <a:t/>
            </a:r>
            <a:endParaRPr sz="2800"/>
          </a:p>
        </p:txBody>
      </p:sp>
      <p:pic>
        <p:nvPicPr>
          <p:cNvPr id="198" name="Google Shape;198;p9"/>
          <p:cNvPicPr preferRelativeResize="0"/>
          <p:nvPr/>
        </p:nvPicPr>
        <p:blipFill rotWithShape="1">
          <a:blip r:embed="rId3">
            <a:alphaModFix/>
          </a:blip>
          <a:srcRect b="0" l="0" r="0" t="0"/>
          <a:stretch/>
        </p:blipFill>
        <p:spPr>
          <a:xfrm>
            <a:off x="3453805" y="2287761"/>
            <a:ext cx="4980404" cy="1110070"/>
          </a:xfrm>
          <a:prstGeom prst="rect">
            <a:avLst/>
          </a:prstGeom>
          <a:noFill/>
          <a:ln>
            <a:noFill/>
          </a:ln>
        </p:spPr>
      </p:pic>
      <p:sp>
        <p:nvSpPr>
          <p:cNvPr id="199" name="Google Shape;199;p9"/>
          <p:cNvSpPr txBox="1"/>
          <p:nvPr/>
        </p:nvSpPr>
        <p:spPr>
          <a:xfrm>
            <a:off x="1077542" y="3743964"/>
            <a:ext cx="10717476" cy="264090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C9900"/>
              </a:buClr>
              <a:buSzPts val="1560"/>
              <a:buFont typeface="Calibri"/>
              <a:buNone/>
            </a:pPr>
            <a:r>
              <a:rPr lang="ru-RU" sz="2400">
                <a:solidFill>
                  <a:schemeClr val="dk1"/>
                </a:solidFill>
                <a:latin typeface="Calibri"/>
                <a:ea typeface="Calibri"/>
                <a:cs typeface="Calibri"/>
                <a:sym typeface="Calibri"/>
              </a:rPr>
              <a:t>  </a:t>
            </a:r>
            <a:r>
              <a:rPr b="1" lang="ru-RU" sz="2400">
                <a:solidFill>
                  <a:schemeClr val="dk1"/>
                </a:solidFill>
                <a:latin typeface="Calibri"/>
                <a:ea typeface="Calibri"/>
                <a:cs typeface="Calibri"/>
                <a:sym typeface="Calibri"/>
              </a:rPr>
              <a:t>Когда распределение нормальное</a:t>
            </a:r>
            <a:r>
              <a:rPr lang="ru-RU" sz="2400">
                <a:solidFill>
                  <a:schemeClr val="dk1"/>
                </a:solidFill>
                <a:latin typeface="Calibri"/>
                <a:ea typeface="Calibri"/>
                <a:cs typeface="Calibri"/>
                <a:sym typeface="Calibri"/>
              </a:rPr>
              <a:t>, экономим деньги: если</a:t>
            </a:r>
            <a:endParaRPr/>
          </a:p>
          <a:p>
            <a:pPr indent="0" lvl="0" marL="0" marR="0" rtl="0" algn="l">
              <a:lnSpc>
                <a:spcPct val="90000"/>
              </a:lnSpc>
              <a:spcBef>
                <a:spcPts val="480"/>
              </a:spcBef>
              <a:spcAft>
                <a:spcPts val="0"/>
              </a:spcAft>
              <a:buClr>
                <a:srgbClr val="CC9900"/>
              </a:buClr>
              <a:buSzPts val="1560"/>
              <a:buFont typeface="Calibri"/>
              <a:buNone/>
            </a:pPr>
            <a:r>
              <a:rPr lang="ru-RU" sz="2400">
                <a:solidFill>
                  <a:schemeClr val="dk1"/>
                </a:solidFill>
                <a:latin typeface="Calibri"/>
                <a:ea typeface="Calibri"/>
                <a:cs typeface="Calibri"/>
                <a:sym typeface="Calibri"/>
              </a:rPr>
              <a:t> a) распределение можно считать нормальным и  </a:t>
            </a:r>
            <a:endParaRPr/>
          </a:p>
          <a:p>
            <a:pPr indent="0" lvl="0" marL="0" marR="0" rtl="0" algn="l">
              <a:lnSpc>
                <a:spcPct val="90000"/>
              </a:lnSpc>
              <a:spcBef>
                <a:spcPts val="480"/>
              </a:spcBef>
              <a:spcAft>
                <a:spcPts val="0"/>
              </a:spcAft>
              <a:buClr>
                <a:srgbClr val="CC9900"/>
              </a:buClr>
              <a:buSzPts val="1560"/>
              <a:buFont typeface="Calibri"/>
              <a:buNone/>
            </a:pPr>
            <a:r>
              <a:rPr lang="ru-RU" sz="2400">
                <a:solidFill>
                  <a:schemeClr val="dk1"/>
                </a:solidFill>
                <a:latin typeface="Calibri"/>
                <a:ea typeface="Calibri"/>
                <a:cs typeface="Calibri"/>
                <a:sym typeface="Calibri"/>
              </a:rPr>
              <a:t> б) задана необходимая погрешность результата,</a:t>
            </a:r>
            <a:endParaRPr/>
          </a:p>
          <a:p>
            <a:pPr indent="0" lvl="0" marL="0" marR="0" rtl="0" algn="l">
              <a:lnSpc>
                <a:spcPct val="90000"/>
              </a:lnSpc>
              <a:spcBef>
                <a:spcPts val="480"/>
              </a:spcBef>
              <a:spcAft>
                <a:spcPts val="0"/>
              </a:spcAft>
              <a:buClr>
                <a:srgbClr val="CC9900"/>
              </a:buClr>
              <a:buSzPts val="1560"/>
              <a:buFont typeface="Calibri"/>
              <a:buNone/>
            </a:pPr>
            <a:r>
              <a:rPr lang="ru-RU" sz="2400">
                <a:solidFill>
                  <a:schemeClr val="dk1"/>
                </a:solidFill>
                <a:latin typeface="Calibri"/>
                <a:ea typeface="Calibri"/>
                <a:cs typeface="Calibri"/>
                <a:sym typeface="Calibri"/>
              </a:rPr>
              <a:t>   то </a:t>
            </a:r>
            <a:r>
              <a:rPr b="1" lang="ru-RU" sz="2400">
                <a:solidFill>
                  <a:schemeClr val="dk1"/>
                </a:solidFill>
                <a:latin typeface="Calibri"/>
                <a:ea typeface="Calibri"/>
                <a:cs typeface="Calibri"/>
                <a:sym typeface="Calibri"/>
              </a:rPr>
              <a:t>при проведении анализа можно обойтись меньшим числом наблюдений</a:t>
            </a:r>
            <a:r>
              <a:rPr lang="ru-RU" sz="2400">
                <a:solidFill>
                  <a:schemeClr val="dk1"/>
                </a:solidFill>
                <a:latin typeface="Calibri"/>
                <a:ea typeface="Calibri"/>
                <a:cs typeface="Calibri"/>
                <a:sym typeface="Calibri"/>
              </a:rPr>
              <a:t>.</a:t>
            </a:r>
            <a:endParaRPr/>
          </a:p>
          <a:p>
            <a:pPr indent="0" lvl="0" marL="269875" marR="0" rtl="0" algn="l">
              <a:lnSpc>
                <a:spcPct val="90000"/>
              </a:lnSpc>
              <a:spcBef>
                <a:spcPts val="480"/>
              </a:spcBef>
              <a:spcAft>
                <a:spcPts val="0"/>
              </a:spcAft>
              <a:buClr>
                <a:srgbClr val="CC9900"/>
              </a:buClr>
              <a:buSzPts val="1560"/>
              <a:buFont typeface="Calibri"/>
              <a:buNone/>
            </a:pPr>
            <a:r>
              <a:rPr lang="ru-RU" sz="2400">
                <a:solidFill>
                  <a:schemeClr val="dk1"/>
                </a:solidFill>
                <a:latin typeface="Calibri"/>
                <a:ea typeface="Calibri"/>
                <a:cs typeface="Calibri"/>
                <a:sym typeface="Calibri"/>
              </a:rPr>
              <a:t>Например, опросить меньше покупателей в десятки и даже сотни раз, чтобы добиться той же точности.</a:t>
            </a:r>
            <a:endParaRPr/>
          </a:p>
        </p:txBody>
      </p:sp>
      <p:sp>
        <p:nvSpPr>
          <p:cNvPr id="200" name="Google Shape;200;p9"/>
          <p:cNvSpPr txBox="1"/>
          <p:nvPr>
            <p:ph idx="12" type="sldNum"/>
          </p:nvPr>
        </p:nvSpPr>
        <p:spPr>
          <a:xfrm>
            <a:off x="10078541" y="6605015"/>
            <a:ext cx="880449"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07" name="Google Shape;207;p10"/>
          <p:cNvSpPr/>
          <p:nvPr/>
        </p:nvSpPr>
        <p:spPr>
          <a:xfrm>
            <a:off x="2373685" y="322264"/>
            <a:ext cx="8064128" cy="1340163"/>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08" name="Google Shape;208;p10"/>
          <p:cNvSpPr txBox="1"/>
          <p:nvPr>
            <p:ph idx="4294967295" type="title"/>
          </p:nvPr>
        </p:nvSpPr>
        <p:spPr>
          <a:xfrm>
            <a:off x="2013645" y="360651"/>
            <a:ext cx="7497762"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Почему гипотеза</a:t>
            </a:r>
            <a:br>
              <a:rPr lang="ru-RU" sz="3949"/>
            </a:br>
            <a:r>
              <a:rPr lang="ru-RU" sz="3949"/>
              <a:t> o нормальности  важна?</a:t>
            </a:r>
            <a:endParaRPr/>
          </a:p>
        </p:txBody>
      </p:sp>
      <p:sp>
        <p:nvSpPr>
          <p:cNvPr id="209" name="Google Shape;209;p10"/>
          <p:cNvSpPr txBox="1"/>
          <p:nvPr>
            <p:ph idx="4294967295" type="body"/>
          </p:nvPr>
        </p:nvSpPr>
        <p:spPr>
          <a:xfrm>
            <a:off x="1585877" y="1700814"/>
            <a:ext cx="9644098" cy="1685006"/>
          </a:xfrm>
          <a:prstGeom prst="rect">
            <a:avLst/>
          </a:prstGeom>
          <a:noFill/>
          <a:ln>
            <a:noFill/>
          </a:ln>
        </p:spPr>
        <p:txBody>
          <a:bodyPr anchorCtr="0" anchor="t" bIns="45700" lIns="91425" spcFirstLastPara="1" rIns="91425" wrap="square" tIns="45700">
            <a:normAutofit/>
          </a:bodyPr>
          <a:lstStyle/>
          <a:p>
            <a:pPr indent="-176824" lvl="0" marL="354624" rtl="0" algn="l">
              <a:spcBef>
                <a:spcPts val="0"/>
              </a:spcBef>
              <a:spcAft>
                <a:spcPts val="0"/>
              </a:spcAft>
              <a:buClr>
                <a:schemeClr val="dk1"/>
              </a:buClr>
              <a:buSzPts val="2800"/>
              <a:buNone/>
            </a:pPr>
            <a:r>
              <a:t/>
            </a:r>
            <a:endParaRPr sz="2800"/>
          </a:p>
          <a:p>
            <a:pPr indent="0" lvl="0" marL="0" rtl="0" algn="l">
              <a:spcBef>
                <a:spcPts val="560"/>
              </a:spcBef>
              <a:spcAft>
                <a:spcPts val="0"/>
              </a:spcAft>
              <a:buClr>
                <a:srgbClr val="CC9900"/>
              </a:buClr>
              <a:buSzPts val="1820"/>
              <a:buNone/>
            </a:pPr>
            <a:r>
              <a:rPr lang="ru-RU" sz="2800"/>
              <a:t>Потому что нормальное распределение часто встречается (</a:t>
            </a:r>
            <a:r>
              <a:rPr b="1" i="1" lang="ru-RU" sz="2800">
                <a:solidFill>
                  <a:srgbClr val="0070C0"/>
                </a:solidFill>
              </a:rPr>
              <a:t>Центральные предельные теоремы</a:t>
            </a:r>
            <a:r>
              <a:rPr lang="ru-RU" sz="2800"/>
              <a:t>).</a:t>
            </a:r>
            <a:endParaRPr/>
          </a:p>
          <a:p>
            <a:pPr indent="-176824" lvl="0" marL="354624" rtl="0" algn="l">
              <a:spcBef>
                <a:spcPts val="560"/>
              </a:spcBef>
              <a:spcAft>
                <a:spcPts val="0"/>
              </a:spcAft>
              <a:buClr>
                <a:schemeClr val="dk1"/>
              </a:buClr>
              <a:buSzPts val="2800"/>
              <a:buNone/>
            </a:pPr>
            <a:r>
              <a:t/>
            </a:r>
            <a:endParaRPr sz="2800"/>
          </a:p>
        </p:txBody>
      </p:sp>
      <p:sp>
        <p:nvSpPr>
          <p:cNvPr id="210" name="Google Shape;210;p10"/>
          <p:cNvSpPr/>
          <p:nvPr/>
        </p:nvSpPr>
        <p:spPr>
          <a:xfrm>
            <a:off x="1585877" y="3604335"/>
            <a:ext cx="9644098"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400">
                <a:solidFill>
                  <a:schemeClr val="dk1"/>
                </a:solidFill>
                <a:latin typeface="Arial"/>
                <a:ea typeface="Arial"/>
                <a:cs typeface="Arial"/>
                <a:sym typeface="Arial"/>
              </a:rPr>
              <a:t>Центра́льные преде́льные теоре́мы (ЦПТ)</a:t>
            </a:r>
            <a:r>
              <a:rPr lang="ru-RU" sz="2400">
                <a:solidFill>
                  <a:schemeClr val="dk1"/>
                </a:solidFill>
                <a:latin typeface="Arial"/>
                <a:ea typeface="Arial"/>
                <a:cs typeface="Arial"/>
                <a:sym typeface="Arial"/>
              </a:rPr>
              <a:t> — класс теорем в теории вероятностей, утверждающих, что сумма достаточно большого количества слабо зависимых случайных величин, имеющих примерно одинаковые масштабы (ни одно из слагаемых не доминирует, не вносит в сумму определяющего вклада), имеет распределение, близкое к нормальному.</a:t>
            </a:r>
            <a:endParaRPr/>
          </a:p>
        </p:txBody>
      </p:sp>
      <p:sp>
        <p:nvSpPr>
          <p:cNvPr id="211" name="Google Shape;211;p10"/>
          <p:cNvSpPr txBox="1"/>
          <p:nvPr>
            <p:ph idx="12" type="sldNum"/>
          </p:nvPr>
        </p:nvSpPr>
        <p:spPr>
          <a:xfrm>
            <a:off x="11706382" y="6614320"/>
            <a:ext cx="70371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1"/>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18" name="Google Shape;218;p11"/>
          <p:cNvSpPr/>
          <p:nvPr/>
        </p:nvSpPr>
        <p:spPr>
          <a:xfrm>
            <a:off x="2373685" y="322264"/>
            <a:ext cx="8064128" cy="1340163"/>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19" name="Google Shape;219;p11"/>
          <p:cNvSpPr txBox="1"/>
          <p:nvPr>
            <p:ph idx="4294967295" type="title"/>
          </p:nvPr>
        </p:nvSpPr>
        <p:spPr>
          <a:xfrm>
            <a:off x="2373685" y="322264"/>
            <a:ext cx="7497762"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Центральная предельная теорема</a:t>
            </a:r>
            <a:endParaRPr/>
          </a:p>
        </p:txBody>
      </p:sp>
      <p:sp>
        <p:nvSpPr>
          <p:cNvPr id="220" name="Google Shape;220;p11"/>
          <p:cNvSpPr/>
          <p:nvPr/>
        </p:nvSpPr>
        <p:spPr>
          <a:xfrm>
            <a:off x="573485" y="1434368"/>
            <a:ext cx="11812910" cy="4832092"/>
          </a:xfrm>
          <a:prstGeom prst="rect">
            <a:avLst/>
          </a:prstGeom>
          <a:noFill/>
          <a:ln>
            <a:noFill/>
          </a:ln>
        </p:spPr>
        <p:txBody>
          <a:bodyPr anchorCtr="0" anchor="t" bIns="45700" lIns="91425" spcFirstLastPara="1" rIns="91425" wrap="square" tIns="45700">
            <a:spAutoFit/>
          </a:bodyPr>
          <a:lstStyle/>
          <a:p>
            <a:pPr indent="357188" lvl="0" marL="0" marR="0" rtl="0" algn="l">
              <a:spcBef>
                <a:spcPts val="0"/>
              </a:spcBef>
              <a:spcAft>
                <a:spcPts val="0"/>
              </a:spcAft>
              <a:buNone/>
            </a:pPr>
            <a:r>
              <a:rPr i="1" lang="ru-RU" sz="2200">
                <a:solidFill>
                  <a:schemeClr val="dk1"/>
                </a:solidFill>
                <a:latin typeface="Arial"/>
                <a:ea typeface="Arial"/>
                <a:cs typeface="Arial"/>
                <a:sym typeface="Arial"/>
              </a:rPr>
              <a:t>Теорема Ляпунова (ЦПТ)</a:t>
            </a:r>
            <a:r>
              <a:rPr lang="ru-RU" sz="2200">
                <a:solidFill>
                  <a:schemeClr val="dk1"/>
                </a:solidFill>
                <a:latin typeface="Arial"/>
                <a:ea typeface="Arial"/>
                <a:cs typeface="Arial"/>
                <a:sym typeface="Arial"/>
              </a:rPr>
              <a:t> объясняет широкое распространение нормального закона распределения и поясняет механизм его образования. Теорема позволяет утверждать, что всегда, когда случайная величина образуется в результате сложения большого числа независимых случайных величин, дисперсии которых малы по сравнению с дисперсией суммы, закон распределения этой случайной величины оказывается практически нормальным законом. </a:t>
            </a:r>
            <a:endParaRPr/>
          </a:p>
          <a:p>
            <a:pPr indent="357188" lvl="0" marL="0" marR="0" rtl="0" algn="l">
              <a:spcBef>
                <a:spcPts val="0"/>
              </a:spcBef>
              <a:spcAft>
                <a:spcPts val="0"/>
              </a:spcAft>
              <a:buNone/>
            </a:pPr>
            <a:r>
              <a:rPr lang="ru-RU" sz="2200">
                <a:solidFill>
                  <a:schemeClr val="dk1"/>
                </a:solidFill>
                <a:latin typeface="Arial"/>
                <a:ea typeface="Arial"/>
                <a:cs typeface="Arial"/>
                <a:sym typeface="Arial"/>
              </a:rPr>
              <a:t>А поскольку случайные величины всегда порождаются бесконечным количеством причин и чаще всего ни одна из них не имеет дисперсии, сравнимой с дисперсией самой случайной величины, то </a:t>
            </a:r>
            <a:r>
              <a:rPr b="1" lang="ru-RU" sz="2200">
                <a:solidFill>
                  <a:schemeClr val="dk1"/>
                </a:solidFill>
                <a:latin typeface="Arial"/>
                <a:ea typeface="Arial"/>
                <a:cs typeface="Arial"/>
                <a:sym typeface="Arial"/>
              </a:rPr>
              <a:t>большинство встречающихся в практике случайных величин подчинено нормальному закону распределения. </a:t>
            </a:r>
            <a:endParaRPr b="1" sz="2200">
              <a:solidFill>
                <a:schemeClr val="dk1"/>
              </a:solidFill>
              <a:latin typeface="Arial"/>
              <a:ea typeface="Arial"/>
              <a:cs typeface="Arial"/>
              <a:sym typeface="Arial"/>
            </a:endParaRPr>
          </a:p>
          <a:p>
            <a:pPr indent="357188" lvl="0" marL="0" marR="0" rtl="0" algn="l">
              <a:spcBef>
                <a:spcPts val="0"/>
              </a:spcBef>
              <a:spcAft>
                <a:spcPts val="0"/>
              </a:spcAft>
              <a:buNone/>
            </a:pPr>
            <a:r>
              <a:t/>
            </a:r>
            <a:endParaRPr b="1" sz="2200">
              <a:solidFill>
                <a:schemeClr val="dk1"/>
              </a:solidFill>
              <a:latin typeface="Arial"/>
              <a:ea typeface="Arial"/>
              <a:cs typeface="Arial"/>
              <a:sym typeface="Arial"/>
            </a:endParaRPr>
          </a:p>
          <a:p>
            <a:pPr indent="357188" lvl="0" marL="0" marR="0" rtl="0" algn="l">
              <a:spcBef>
                <a:spcPts val="0"/>
              </a:spcBef>
              <a:spcAft>
                <a:spcPts val="0"/>
              </a:spcAft>
              <a:buNone/>
            </a:pPr>
            <a:r>
              <a:rPr lang="ru-RU" sz="2200">
                <a:solidFill>
                  <a:schemeClr val="dk1"/>
                </a:solidFill>
                <a:latin typeface="Arial"/>
                <a:ea typeface="Arial"/>
                <a:cs typeface="Arial"/>
                <a:sym typeface="Arial"/>
              </a:rPr>
              <a:t>Итак, </a:t>
            </a:r>
            <a:r>
              <a:rPr lang="ru-RU" sz="2200">
                <a:solidFill>
                  <a:srgbClr val="0070C0"/>
                </a:solidFill>
                <a:latin typeface="Arial"/>
                <a:ea typeface="Arial"/>
                <a:cs typeface="Arial"/>
                <a:sym typeface="Arial"/>
              </a:rPr>
              <a:t>нормальное распределение </a:t>
            </a:r>
            <a:r>
              <a:rPr lang="ru-RU" sz="2200">
                <a:solidFill>
                  <a:schemeClr val="dk1"/>
                </a:solidFill>
                <a:latin typeface="Arial"/>
                <a:ea typeface="Arial"/>
                <a:cs typeface="Arial"/>
                <a:sym typeface="Arial"/>
              </a:rPr>
              <a:t>— наиболее распространенное в природе распределение непрерывных величин. Математическим обоснованием этого факта служит центральная предельная теорема.</a:t>
            </a:r>
            <a:endParaRPr/>
          </a:p>
        </p:txBody>
      </p:sp>
      <p:sp>
        <p:nvSpPr>
          <p:cNvPr id="221" name="Google Shape;221;p11"/>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222" name="Google Shape;222;p11"/>
          <p:cNvSpPr/>
          <p:nvPr/>
        </p:nvSpPr>
        <p:spPr>
          <a:xfrm>
            <a:off x="506413" y="5178444"/>
            <a:ext cx="11798671" cy="1090225"/>
          </a:xfrm>
          <a:prstGeom prst="rect">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29" name="Google Shape;229;p12"/>
          <p:cNvSpPr/>
          <p:nvPr/>
        </p:nvSpPr>
        <p:spPr>
          <a:xfrm>
            <a:off x="2373685" y="322264"/>
            <a:ext cx="8064128" cy="1340163"/>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30" name="Google Shape;230;p12"/>
          <p:cNvSpPr/>
          <p:nvPr/>
        </p:nvSpPr>
        <p:spPr>
          <a:xfrm>
            <a:off x="957628" y="1506539"/>
            <a:ext cx="11353160" cy="4493538"/>
          </a:xfrm>
          <a:prstGeom prst="rect">
            <a:avLst/>
          </a:prstGeom>
          <a:noFill/>
          <a:ln>
            <a:noFill/>
          </a:ln>
        </p:spPr>
        <p:txBody>
          <a:bodyPr anchorCtr="0" anchor="t" bIns="45700" lIns="91425" spcFirstLastPara="1" rIns="91425" wrap="square" tIns="45700">
            <a:spAutoFit/>
          </a:bodyPr>
          <a:lstStyle/>
          <a:p>
            <a:pPr indent="357188" lvl="0" marL="0" marR="0" rtl="0" algn="l">
              <a:spcBef>
                <a:spcPts val="0"/>
              </a:spcBef>
              <a:spcAft>
                <a:spcPts val="0"/>
              </a:spcAft>
              <a:buNone/>
            </a:pPr>
            <a:r>
              <a:rPr lang="ru-RU" sz="2200">
                <a:solidFill>
                  <a:schemeClr val="dk1"/>
                </a:solidFill>
                <a:latin typeface="Arial"/>
                <a:ea typeface="Arial"/>
                <a:cs typeface="Arial"/>
                <a:sym typeface="Arial"/>
              </a:rPr>
              <a:t>Практическое значение теоремы Ляпунова огромно. Опыт показывает, что закон распределения суммы независимых случайных величин, сравнимых по своему рассеиванию, достаточно быстро приближается к нормальному. Уже при числе слагаемых порядка десяти закон распределения суммы можно заменить на нормальный. Но в среднем при грубом предположении распределение считают нормальным при </a:t>
            </a:r>
            <a:r>
              <a:rPr i="1" lang="ru-RU" sz="2200">
                <a:solidFill>
                  <a:schemeClr val="dk1"/>
                </a:solidFill>
                <a:latin typeface="Arial"/>
                <a:ea typeface="Arial"/>
                <a:cs typeface="Arial"/>
                <a:sym typeface="Arial"/>
              </a:rPr>
              <a:t>n≥30</a:t>
            </a:r>
            <a:r>
              <a:rPr lang="ru-RU" sz="2200">
                <a:solidFill>
                  <a:schemeClr val="dk1"/>
                </a:solidFill>
                <a:latin typeface="Arial"/>
                <a:ea typeface="Arial"/>
                <a:cs typeface="Arial"/>
                <a:sym typeface="Arial"/>
              </a:rPr>
              <a:t>.</a:t>
            </a:r>
            <a:endParaRPr/>
          </a:p>
          <a:p>
            <a:pPr indent="-342900" lvl="0" marL="342900" marR="0" rtl="0" algn="l">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Закон больших чисел лежит в основе различных видов страхования (страхование жизни человека на всевозможные сроки, имущества, скота, посевов и др.).</a:t>
            </a:r>
            <a:endParaRPr/>
          </a:p>
          <a:p>
            <a:pPr indent="-342900" lvl="0" marL="342900" marR="0" rtl="0" algn="l">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При планировании ассортимента товаров широкого потребления учитывается спрос на них населения. В этом спросе проявляется действие закона больших чисел.</a:t>
            </a:r>
            <a:endParaRPr/>
          </a:p>
          <a:p>
            <a:pPr indent="-342900" lvl="0" marL="342900" marR="0" rtl="0" algn="l">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нормальное распределение является простейшим законом пригодным для моделирования доходностей финансовых активов.</a:t>
            </a:r>
            <a:endParaRPr/>
          </a:p>
        </p:txBody>
      </p:sp>
      <p:sp>
        <p:nvSpPr>
          <p:cNvPr id="231" name="Google Shape;231;p12"/>
          <p:cNvSpPr txBox="1"/>
          <p:nvPr>
            <p:ph idx="12" type="sldNum"/>
          </p:nvPr>
        </p:nvSpPr>
        <p:spPr>
          <a:xfrm>
            <a:off x="11734725" y="6496054"/>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232" name="Google Shape;232;p12"/>
          <p:cNvSpPr txBox="1"/>
          <p:nvPr/>
        </p:nvSpPr>
        <p:spPr>
          <a:xfrm>
            <a:off x="2373685" y="322264"/>
            <a:ext cx="7497762" cy="11842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949"/>
              <a:buFont typeface="Calibri"/>
              <a:buNone/>
            </a:pPr>
            <a:r>
              <a:rPr lang="ru-RU" sz="3949">
                <a:solidFill>
                  <a:schemeClr val="dk1"/>
                </a:solidFill>
                <a:latin typeface="Calibri"/>
                <a:ea typeface="Calibri"/>
                <a:cs typeface="Calibri"/>
                <a:sym typeface="Calibri"/>
              </a:rPr>
              <a:t>Центральная предельная теорема</a:t>
            </a:r>
            <a:endParaRPr sz="3949">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p:nvPr/>
        </p:nvSpPr>
        <p:spPr>
          <a:xfrm>
            <a:off x="789509" y="322263"/>
            <a:ext cx="1130525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39" name="Google Shape;239;p13"/>
          <p:cNvSpPr/>
          <p:nvPr/>
        </p:nvSpPr>
        <p:spPr>
          <a:xfrm>
            <a:off x="2373685" y="322264"/>
            <a:ext cx="8064128" cy="1340163"/>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40" name="Google Shape;240;p13"/>
          <p:cNvSpPr txBox="1"/>
          <p:nvPr>
            <p:ph idx="12" type="sldNum"/>
          </p:nvPr>
        </p:nvSpPr>
        <p:spPr>
          <a:xfrm>
            <a:off x="11726549" y="6512253"/>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241" name="Google Shape;241;p13"/>
          <p:cNvPicPr preferRelativeResize="0"/>
          <p:nvPr/>
        </p:nvPicPr>
        <p:blipFill rotWithShape="1">
          <a:blip r:embed="rId3">
            <a:alphaModFix/>
          </a:blip>
          <a:srcRect b="0" l="0" r="0" t="0"/>
          <a:stretch/>
        </p:blipFill>
        <p:spPr>
          <a:xfrm>
            <a:off x="2574277" y="1662427"/>
            <a:ext cx="7096577" cy="2980562"/>
          </a:xfrm>
          <a:prstGeom prst="rect">
            <a:avLst/>
          </a:prstGeom>
          <a:noFill/>
          <a:ln>
            <a:noFill/>
          </a:ln>
        </p:spPr>
      </p:pic>
      <p:sp>
        <p:nvSpPr>
          <p:cNvPr id="242" name="Google Shape;242;p13"/>
          <p:cNvSpPr/>
          <p:nvPr/>
        </p:nvSpPr>
        <p:spPr>
          <a:xfrm>
            <a:off x="1653605" y="4936757"/>
            <a:ext cx="10072944"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Какова бы ни была форма распределения генеральной совокупности, выборочное распределение стремится к нормальному, а его дисперсия задается центральной предельной теоремой.</a:t>
            </a:r>
            <a:endParaRPr/>
          </a:p>
        </p:txBody>
      </p:sp>
      <p:sp>
        <p:nvSpPr>
          <p:cNvPr id="243" name="Google Shape;243;p13"/>
          <p:cNvSpPr txBox="1"/>
          <p:nvPr/>
        </p:nvSpPr>
        <p:spPr>
          <a:xfrm>
            <a:off x="2373685" y="322264"/>
            <a:ext cx="7497762" cy="11842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949"/>
              <a:buFont typeface="Calibri"/>
              <a:buNone/>
            </a:pPr>
            <a:r>
              <a:rPr lang="ru-RU" sz="3949">
                <a:solidFill>
                  <a:schemeClr val="dk1"/>
                </a:solidFill>
                <a:latin typeface="Calibri"/>
                <a:ea typeface="Calibri"/>
                <a:cs typeface="Calibri"/>
                <a:sym typeface="Calibri"/>
              </a:rPr>
              <a:t>Центральная предельная теорема</a:t>
            </a:r>
            <a:endParaRPr sz="3949">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p:nvPr/>
        </p:nvSpPr>
        <p:spPr>
          <a:xfrm>
            <a:off x="1438276"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49" name="Google Shape;249;p14"/>
          <p:cNvSpPr/>
          <p:nvPr/>
        </p:nvSpPr>
        <p:spPr>
          <a:xfrm>
            <a:off x="1582738" y="610817"/>
            <a:ext cx="9431338" cy="6120185"/>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pic>
        <p:nvPicPr>
          <p:cNvPr id="250" name="Google Shape;250;p14"/>
          <p:cNvPicPr preferRelativeResize="0"/>
          <p:nvPr>
            <p:ph idx="2" type="pic"/>
          </p:nvPr>
        </p:nvPicPr>
        <p:blipFill rotWithShape="1">
          <a:blip r:embed="rId3">
            <a:alphaModFix/>
          </a:blip>
          <a:srcRect b="0" l="0" r="0" t="0"/>
          <a:stretch/>
        </p:blipFill>
        <p:spPr>
          <a:xfrm>
            <a:off x="2301677" y="1712436"/>
            <a:ext cx="8548688" cy="4556125"/>
          </a:xfrm>
          <a:prstGeom prst="rect">
            <a:avLst/>
          </a:prstGeom>
          <a:noFill/>
          <a:ln>
            <a:noFill/>
          </a:ln>
        </p:spPr>
      </p:pic>
      <p:sp>
        <p:nvSpPr>
          <p:cNvPr id="251" name="Google Shape;251;p14"/>
          <p:cNvSpPr txBox="1"/>
          <p:nvPr/>
        </p:nvSpPr>
        <p:spPr>
          <a:xfrm>
            <a:off x="2732976" y="523468"/>
            <a:ext cx="7200800" cy="77597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200">
                <a:solidFill>
                  <a:schemeClr val="dk2"/>
                </a:solidFill>
                <a:latin typeface="Calibri"/>
                <a:ea typeface="Calibri"/>
                <a:cs typeface="Calibri"/>
                <a:sym typeface="Calibri"/>
              </a:rPr>
              <a:t>О важности </a:t>
            </a:r>
            <a:br>
              <a:rPr lang="ru-RU" sz="3200">
                <a:solidFill>
                  <a:schemeClr val="dk2"/>
                </a:solidFill>
                <a:latin typeface="Calibri"/>
                <a:ea typeface="Calibri"/>
                <a:cs typeface="Calibri"/>
                <a:sym typeface="Calibri"/>
              </a:rPr>
            </a:br>
            <a:r>
              <a:rPr lang="ru-RU" sz="3200">
                <a:solidFill>
                  <a:schemeClr val="dk2"/>
                </a:solidFill>
                <a:latin typeface="Calibri"/>
                <a:ea typeface="Calibri"/>
                <a:cs typeface="Calibri"/>
                <a:sym typeface="Calibri"/>
              </a:rPr>
              <a:t> нормального распределения </a:t>
            </a:r>
            <a:endParaRPr/>
          </a:p>
        </p:txBody>
      </p:sp>
      <p:sp>
        <p:nvSpPr>
          <p:cNvPr id="252" name="Google Shape;252;p14"/>
          <p:cNvSpPr/>
          <p:nvPr/>
        </p:nvSpPr>
        <p:spPr>
          <a:xfrm>
            <a:off x="5847482" y="6312234"/>
            <a:ext cx="90185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Гаусс </a:t>
            </a:r>
            <a:endParaRPr/>
          </a:p>
        </p:txBody>
      </p:sp>
      <p:sp>
        <p:nvSpPr>
          <p:cNvPr id="253" name="Google Shape;253;p14"/>
          <p:cNvSpPr txBox="1"/>
          <p:nvPr>
            <p:ph idx="12" type="sldNum"/>
          </p:nvPr>
        </p:nvSpPr>
        <p:spPr>
          <a:xfrm>
            <a:off x="10078541" y="6605015"/>
            <a:ext cx="880449"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5"/>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60" name="Google Shape;260;p1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61" name="Google Shape;261;p15"/>
          <p:cNvSpPr txBox="1"/>
          <p:nvPr>
            <p:ph idx="4294967295" type="title"/>
          </p:nvPr>
        </p:nvSpPr>
        <p:spPr>
          <a:xfrm>
            <a:off x="1195389" y="288925"/>
            <a:ext cx="8550275" cy="6937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Пример гипотезы согласия 2</a:t>
            </a:r>
            <a:endParaRPr/>
          </a:p>
        </p:txBody>
      </p:sp>
      <p:sp>
        <p:nvSpPr>
          <p:cNvPr id="262" name="Google Shape;262;p15"/>
          <p:cNvSpPr txBox="1"/>
          <p:nvPr>
            <p:ph idx="4294967295" type="body"/>
          </p:nvPr>
        </p:nvSpPr>
        <p:spPr>
          <a:xfrm>
            <a:off x="1893095" y="1575031"/>
            <a:ext cx="8550275" cy="4708525"/>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Гипотеза об </a:t>
            </a:r>
            <a:r>
              <a:rPr b="1" i="1" lang="ru-RU" sz="2800">
                <a:solidFill>
                  <a:srgbClr val="0070C0"/>
                </a:solidFill>
              </a:rPr>
              <a:t>экспоненциальности распределения.</a:t>
            </a:r>
            <a:endParaRPr/>
          </a:p>
          <a:p>
            <a:pPr indent="-115570" lvl="0" marL="0" rtl="0" algn="l">
              <a:spcBef>
                <a:spcPts val="560"/>
              </a:spcBef>
              <a:spcAft>
                <a:spcPts val="0"/>
              </a:spcAft>
              <a:buClr>
                <a:srgbClr val="CC9900"/>
              </a:buClr>
              <a:buSzPts val="1820"/>
              <a:buFont typeface="Noto Sans Symbols"/>
              <a:buChar char="■"/>
            </a:pPr>
            <a:r>
              <a:rPr lang="ru-RU" sz="2800"/>
              <a:t>В этом случае функция распределения:</a:t>
            </a:r>
            <a:endParaRPr/>
          </a:p>
          <a:p>
            <a:pPr indent="-176824" lvl="0" marL="354624" rtl="0" algn="l">
              <a:spcBef>
                <a:spcPts val="560"/>
              </a:spcBef>
              <a:spcAft>
                <a:spcPts val="0"/>
              </a:spcAft>
              <a:buClr>
                <a:schemeClr val="dk1"/>
              </a:buClr>
              <a:buSzPts val="2800"/>
              <a:buNone/>
            </a:pPr>
            <a:r>
              <a:t/>
            </a:r>
            <a:endParaRPr sz="2800"/>
          </a:p>
        </p:txBody>
      </p:sp>
      <p:pic>
        <p:nvPicPr>
          <p:cNvPr id="263" name="Google Shape;263;p15"/>
          <p:cNvPicPr preferRelativeResize="0"/>
          <p:nvPr/>
        </p:nvPicPr>
        <p:blipFill rotWithShape="1">
          <a:blip r:embed="rId3">
            <a:alphaModFix/>
          </a:blip>
          <a:srcRect b="0" l="0" r="0" t="0"/>
          <a:stretch/>
        </p:blipFill>
        <p:spPr>
          <a:xfrm>
            <a:off x="3597822" y="3598863"/>
            <a:ext cx="4409288" cy="1548457"/>
          </a:xfrm>
          <a:prstGeom prst="rect">
            <a:avLst/>
          </a:prstGeom>
          <a:noFill/>
          <a:ln>
            <a:noFill/>
          </a:ln>
        </p:spPr>
      </p:pic>
      <p:sp>
        <p:nvSpPr>
          <p:cNvPr id="264" name="Google Shape;264;p15"/>
          <p:cNvSpPr txBox="1"/>
          <p:nvPr>
            <p:ph idx="12" type="sldNum"/>
          </p:nvPr>
        </p:nvSpPr>
        <p:spPr>
          <a:xfrm>
            <a:off x="11662717" y="6614320"/>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6"/>
          <p:cNvSpPr/>
          <p:nvPr/>
        </p:nvSpPr>
        <p:spPr>
          <a:xfrm>
            <a:off x="861517" y="322263"/>
            <a:ext cx="1144927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71" name="Google Shape;271;p16"/>
          <p:cNvSpPr/>
          <p:nvPr/>
        </p:nvSpPr>
        <p:spPr>
          <a:xfrm>
            <a:off x="2373685" y="322264"/>
            <a:ext cx="8064128" cy="1368673"/>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72" name="Google Shape;272;p16"/>
          <p:cNvSpPr txBox="1"/>
          <p:nvPr>
            <p:ph idx="4294967295" type="title"/>
          </p:nvPr>
        </p:nvSpPr>
        <p:spPr>
          <a:xfrm>
            <a:off x="2023270" y="414462"/>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Почему важна гипотеза экспоненциальности?</a:t>
            </a:r>
            <a:endParaRPr/>
          </a:p>
        </p:txBody>
      </p:sp>
      <p:sp>
        <p:nvSpPr>
          <p:cNvPr id="273" name="Google Shape;273;p16"/>
          <p:cNvSpPr txBox="1"/>
          <p:nvPr>
            <p:ph idx="4294967295" type="body"/>
          </p:nvPr>
        </p:nvSpPr>
        <p:spPr>
          <a:xfrm>
            <a:off x="1303373" y="2022389"/>
            <a:ext cx="10524865" cy="114458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C9900"/>
              </a:buClr>
              <a:buSzPts val="1820"/>
              <a:buNone/>
            </a:pPr>
            <a:r>
              <a:rPr lang="ru-RU" sz="2800"/>
              <a:t>Экспоненциальное распределение часто встречается, когда изучается «время ожидания».</a:t>
            </a:r>
            <a:endParaRPr/>
          </a:p>
          <a:p>
            <a:pPr indent="-176824" lvl="0" marL="354624" rtl="0" algn="l">
              <a:spcBef>
                <a:spcPts val="560"/>
              </a:spcBef>
              <a:spcAft>
                <a:spcPts val="0"/>
              </a:spcAft>
              <a:buClr>
                <a:schemeClr val="dk1"/>
              </a:buClr>
              <a:buSzPts val="2800"/>
              <a:buNone/>
            </a:pPr>
            <a:r>
              <a:t/>
            </a:r>
            <a:endParaRPr sz="2800"/>
          </a:p>
          <a:p>
            <a:pPr indent="-176824" lvl="0" marL="354624" rtl="0" algn="l">
              <a:spcBef>
                <a:spcPts val="560"/>
              </a:spcBef>
              <a:spcAft>
                <a:spcPts val="0"/>
              </a:spcAft>
              <a:buClr>
                <a:schemeClr val="dk1"/>
              </a:buClr>
              <a:buSzPts val="2800"/>
              <a:buNone/>
            </a:pPr>
            <a:r>
              <a:t/>
            </a:r>
            <a:endParaRPr sz="2800"/>
          </a:p>
        </p:txBody>
      </p:sp>
      <p:sp>
        <p:nvSpPr>
          <p:cNvPr id="274" name="Google Shape;274;p16"/>
          <p:cNvSpPr txBox="1"/>
          <p:nvPr/>
        </p:nvSpPr>
        <p:spPr>
          <a:xfrm>
            <a:off x="1223032" y="3952061"/>
            <a:ext cx="10692941" cy="2364921"/>
          </a:xfrm>
          <a:prstGeom prst="rect">
            <a:avLst/>
          </a:prstGeom>
          <a:noFill/>
          <a:ln>
            <a:noFill/>
          </a:ln>
        </p:spPr>
        <p:txBody>
          <a:bodyPr anchorCtr="0" anchor="t" bIns="45700" lIns="91425" spcFirstLastPara="1" rIns="91425" wrap="square" tIns="45700">
            <a:noAutofit/>
          </a:bodyPr>
          <a:lstStyle/>
          <a:p>
            <a:pPr indent="-99060" lvl="0" marL="0"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Время до аварии – период безаварийной езды (нужно для расчета страховой премии).</a:t>
            </a:r>
            <a:endParaRPr/>
          </a:p>
          <a:p>
            <a:pPr indent="-99060" lvl="0" marL="0"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Время обслуживания покупателя кассиром (нужно для определения числа касс в супермаркете).</a:t>
            </a:r>
            <a:endParaRPr/>
          </a:p>
          <a:p>
            <a:pPr indent="-99060" lvl="0" marL="0"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Время до поломки изделия (нужно для планирования расходов на гарантийный ремонт).</a:t>
            </a:r>
            <a:endParaRPr/>
          </a:p>
          <a:p>
            <a:pPr indent="-202224" lvl="0" marL="354624" marR="0" rtl="0" algn="l">
              <a:spcBef>
                <a:spcPts val="48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p:txBody>
      </p:sp>
      <p:sp>
        <p:nvSpPr>
          <p:cNvPr id="275" name="Google Shape;275;p16"/>
          <p:cNvSpPr txBox="1"/>
          <p:nvPr/>
        </p:nvSpPr>
        <p:spPr>
          <a:xfrm>
            <a:off x="2731862" y="3034779"/>
            <a:ext cx="7184147" cy="69193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Например</a:t>
            </a:r>
            <a:r>
              <a:rPr lang="ru-RU" sz="4800">
                <a:solidFill>
                  <a:schemeClr val="dk2"/>
                </a:solidFill>
                <a:latin typeface="Calibri"/>
                <a:ea typeface="Calibri"/>
                <a:cs typeface="Calibri"/>
                <a:sym typeface="Calibri"/>
              </a:rPr>
              <a:t>,</a:t>
            </a:r>
            <a:endParaRPr/>
          </a:p>
        </p:txBody>
      </p:sp>
      <p:sp>
        <p:nvSpPr>
          <p:cNvPr id="276" name="Google Shape;276;p16"/>
          <p:cNvSpPr txBox="1"/>
          <p:nvPr>
            <p:ph idx="12" type="sldNum"/>
          </p:nvPr>
        </p:nvSpPr>
        <p:spPr>
          <a:xfrm>
            <a:off x="11511752" y="6607070"/>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83" name="Google Shape;283;p17"/>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84" name="Google Shape;284;p17"/>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2.  Гипотеза однородности</a:t>
            </a:r>
            <a:endParaRPr/>
          </a:p>
        </p:txBody>
      </p:sp>
      <p:sp>
        <p:nvSpPr>
          <p:cNvPr id="285" name="Google Shape;285;p17"/>
          <p:cNvSpPr txBox="1"/>
          <p:nvPr>
            <p:ph idx="4294967295" type="body"/>
          </p:nvPr>
        </p:nvSpPr>
        <p:spPr>
          <a:xfrm>
            <a:off x="2022476" y="1583340"/>
            <a:ext cx="8551863" cy="4708525"/>
          </a:xfrm>
          <a:prstGeom prst="rect">
            <a:avLst/>
          </a:prstGeom>
          <a:noFill/>
          <a:ln>
            <a:noFill/>
          </a:ln>
        </p:spPr>
        <p:txBody>
          <a:bodyPr anchorCtr="0" anchor="t" bIns="45700" lIns="91425" spcFirstLastPara="1" rIns="91425" wrap="square" tIns="45700">
            <a:normAutofit/>
          </a:bodyPr>
          <a:lstStyle/>
          <a:p>
            <a:pPr indent="-111525" lvl="0" marL="0" rtl="0" algn="l">
              <a:lnSpc>
                <a:spcPct val="90000"/>
              </a:lnSpc>
              <a:spcBef>
                <a:spcPts val="0"/>
              </a:spcBef>
              <a:spcAft>
                <a:spcPts val="0"/>
              </a:spcAft>
              <a:buClr>
                <a:srgbClr val="CC9900"/>
              </a:buClr>
              <a:buSzPts val="1756"/>
              <a:buFont typeface="Noto Sans Symbols"/>
              <a:buChar char="■"/>
            </a:pPr>
            <a:r>
              <a:rPr lang="ru-RU" sz="2702"/>
              <a:t> Обозначим </a:t>
            </a:r>
            <a:r>
              <a:rPr i="1" lang="ru-RU" sz="2702"/>
              <a:t>F</a:t>
            </a:r>
            <a:r>
              <a:rPr baseline="-25000" i="1" lang="ru-RU" sz="2702"/>
              <a:t>x</a:t>
            </a:r>
            <a:r>
              <a:rPr i="1" lang="ru-RU" sz="2702"/>
              <a:t>(t)</a:t>
            </a:r>
            <a:r>
              <a:rPr lang="ru-RU" sz="2702"/>
              <a:t>   функцию распределения случайной величины Х.</a:t>
            </a:r>
            <a:endParaRPr/>
          </a:p>
          <a:p>
            <a:pPr indent="-111525" lvl="0" marL="0" rtl="0" algn="l">
              <a:lnSpc>
                <a:spcPct val="90000"/>
              </a:lnSpc>
              <a:spcBef>
                <a:spcPts val="674"/>
              </a:spcBef>
              <a:spcAft>
                <a:spcPts val="0"/>
              </a:spcAft>
              <a:buClr>
                <a:srgbClr val="CC9900"/>
              </a:buClr>
              <a:buSzPts val="1756"/>
              <a:buFont typeface="Noto Sans Symbols"/>
              <a:buChar char="■"/>
            </a:pPr>
            <a:r>
              <a:rPr lang="ru-RU" sz="2702"/>
              <a:t> Обозначим </a:t>
            </a:r>
            <a:r>
              <a:rPr i="1" lang="ru-RU" sz="2702"/>
              <a:t>F</a:t>
            </a:r>
            <a:r>
              <a:rPr baseline="-25000" i="1" lang="ru-RU" sz="2702"/>
              <a:t>Y</a:t>
            </a:r>
            <a:r>
              <a:rPr i="1" lang="ru-RU" sz="2702"/>
              <a:t>(t)</a:t>
            </a:r>
            <a:r>
              <a:rPr lang="ru-RU" sz="2702"/>
              <a:t>   функцию распределения случайной величины Y</a:t>
            </a:r>
            <a:endParaRPr/>
          </a:p>
          <a:p>
            <a:pPr indent="-111525" lvl="0" marL="0" rtl="0" algn="l">
              <a:lnSpc>
                <a:spcPct val="90000"/>
              </a:lnSpc>
              <a:spcBef>
                <a:spcPts val="674"/>
              </a:spcBef>
              <a:spcAft>
                <a:spcPts val="0"/>
              </a:spcAft>
              <a:buClr>
                <a:srgbClr val="CC9900"/>
              </a:buClr>
              <a:buSzPts val="1756"/>
              <a:buFont typeface="Noto Sans Symbols"/>
              <a:buChar char="■"/>
            </a:pPr>
            <a:r>
              <a:rPr lang="ru-RU" sz="2702">
                <a:solidFill>
                  <a:srgbClr val="FF0000"/>
                </a:solidFill>
              </a:rPr>
              <a:t> Гипотеза</a:t>
            </a:r>
            <a:r>
              <a:rPr lang="ru-RU" sz="2702"/>
              <a:t> : функции распределения совпадают  </a:t>
            </a:r>
            <a:endParaRPr/>
          </a:p>
          <a:p>
            <a:pPr indent="-183046" lvl="0" marL="354624" rtl="0" algn="l">
              <a:lnSpc>
                <a:spcPct val="90000"/>
              </a:lnSpc>
              <a:spcBef>
                <a:spcPts val="674"/>
              </a:spcBef>
              <a:spcAft>
                <a:spcPts val="0"/>
              </a:spcAft>
              <a:buClr>
                <a:schemeClr val="dk1"/>
              </a:buClr>
              <a:buSzPts val="2702"/>
              <a:buNone/>
            </a:pPr>
            <a:r>
              <a:t/>
            </a:r>
            <a:endParaRPr sz="2702"/>
          </a:p>
          <a:p>
            <a:pPr indent="0" lvl="0" marL="0" rtl="0" algn="l">
              <a:lnSpc>
                <a:spcPct val="90000"/>
              </a:lnSpc>
              <a:spcBef>
                <a:spcPts val="674"/>
              </a:spcBef>
              <a:spcAft>
                <a:spcPts val="0"/>
              </a:spcAft>
              <a:buClr>
                <a:srgbClr val="CC9900"/>
              </a:buClr>
              <a:buSzPts val="1756"/>
              <a:buFont typeface="Noto Sans Symbols"/>
              <a:buNone/>
            </a:pPr>
            <a:r>
              <a:t/>
            </a:r>
            <a:endParaRPr sz="2702"/>
          </a:p>
          <a:p>
            <a:pPr indent="-111525" lvl="0" marL="0" rtl="0" algn="l">
              <a:lnSpc>
                <a:spcPct val="90000"/>
              </a:lnSpc>
              <a:spcBef>
                <a:spcPts val="674"/>
              </a:spcBef>
              <a:spcAft>
                <a:spcPts val="0"/>
              </a:spcAft>
              <a:buClr>
                <a:srgbClr val="CC9900"/>
              </a:buClr>
              <a:buSzPts val="1756"/>
              <a:buFont typeface="Noto Sans Symbols"/>
              <a:buChar char="■"/>
            </a:pPr>
            <a:r>
              <a:rPr lang="ru-RU" sz="2702"/>
              <a:t> Кому и когда приходится проверять гипотезу однородности?</a:t>
            </a:r>
            <a:endParaRPr/>
          </a:p>
        </p:txBody>
      </p:sp>
      <p:sp>
        <p:nvSpPr>
          <p:cNvPr id="286" name="Google Shape;286;p17"/>
          <p:cNvSpPr/>
          <p:nvPr/>
        </p:nvSpPr>
        <p:spPr>
          <a:xfrm>
            <a:off x="1583268" y="0"/>
            <a:ext cx="9501717" cy="149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48625" lIns="93500" spcFirstLastPara="1" rIns="93500" wrap="square" tIns="48625">
            <a:noAutofit/>
          </a:bodyPr>
          <a:lstStyle/>
          <a:p>
            <a:pPr indent="0" lvl="0" marL="0" marR="0" rtl="0" algn="l">
              <a:spcBef>
                <a:spcPts val="0"/>
              </a:spcBef>
              <a:spcAft>
                <a:spcPts val="0"/>
              </a:spcAft>
              <a:buNone/>
            </a:pPr>
            <a:r>
              <a:t/>
            </a:r>
            <a:endParaRPr sz="1870">
              <a:solidFill>
                <a:srgbClr val="000000"/>
              </a:solidFill>
              <a:latin typeface="Arial"/>
              <a:ea typeface="Arial"/>
              <a:cs typeface="Arial"/>
              <a:sym typeface="Arial"/>
            </a:endParaRPr>
          </a:p>
        </p:txBody>
      </p:sp>
      <p:pic>
        <p:nvPicPr>
          <p:cNvPr id="287" name="Google Shape;287;p17"/>
          <p:cNvPicPr preferRelativeResize="0"/>
          <p:nvPr/>
        </p:nvPicPr>
        <p:blipFill rotWithShape="1">
          <a:blip r:embed="rId3">
            <a:alphaModFix/>
          </a:blip>
          <a:srcRect b="0" l="0" r="0" t="0"/>
          <a:stretch/>
        </p:blipFill>
        <p:spPr>
          <a:xfrm>
            <a:off x="4988174" y="3937603"/>
            <a:ext cx="2094866" cy="580577"/>
          </a:xfrm>
          <a:prstGeom prst="rect">
            <a:avLst/>
          </a:prstGeom>
          <a:noFill/>
          <a:ln>
            <a:noFill/>
          </a:ln>
        </p:spPr>
      </p:pic>
      <p:sp>
        <p:nvSpPr>
          <p:cNvPr id="288" name="Google Shape;288;p17"/>
          <p:cNvSpPr txBox="1"/>
          <p:nvPr>
            <p:ph idx="12" type="sldNum"/>
          </p:nvPr>
        </p:nvSpPr>
        <p:spPr>
          <a:xfrm>
            <a:off x="11673662" y="6614320"/>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8"/>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95" name="Google Shape;295;p18"/>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296" name="Google Shape;296;p18"/>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Например,</a:t>
            </a:r>
            <a:br>
              <a:rPr lang="ru-RU" sz="3949"/>
            </a:br>
            <a:endParaRPr sz="3949"/>
          </a:p>
        </p:txBody>
      </p:sp>
      <p:sp>
        <p:nvSpPr>
          <p:cNvPr id="297" name="Google Shape;297;p18"/>
          <p:cNvSpPr txBox="1"/>
          <p:nvPr>
            <p:ph idx="4294967295" type="body"/>
          </p:nvPr>
        </p:nvSpPr>
        <p:spPr>
          <a:xfrm>
            <a:off x="933525" y="1575031"/>
            <a:ext cx="11118277" cy="4708525"/>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 Распределение продаж до рекламной акции и после нее (пример с разными источниками рекламы).</a:t>
            </a:r>
            <a:endParaRPr/>
          </a:p>
          <a:p>
            <a:pPr indent="-115570" lvl="0" marL="0" rtl="0" algn="l">
              <a:spcBef>
                <a:spcPts val="560"/>
              </a:spcBef>
              <a:spcAft>
                <a:spcPts val="0"/>
              </a:spcAft>
              <a:buClr>
                <a:srgbClr val="CC9900"/>
              </a:buClr>
              <a:buSzPts val="1820"/>
              <a:buFont typeface="Noto Sans Symbols"/>
              <a:buChar char="■"/>
            </a:pPr>
            <a:r>
              <a:rPr lang="ru-RU" sz="2800"/>
              <a:t> Если распределение продаж не изменилось, то улучшения нет.</a:t>
            </a:r>
            <a:endParaRPr/>
          </a:p>
          <a:p>
            <a:pPr indent="-176824" lvl="0" marL="354624" rtl="0" algn="l">
              <a:spcBef>
                <a:spcPts val="560"/>
              </a:spcBef>
              <a:spcAft>
                <a:spcPts val="0"/>
              </a:spcAft>
              <a:buClr>
                <a:schemeClr val="dk1"/>
              </a:buClr>
              <a:buSzPts val="2800"/>
              <a:buNone/>
            </a:pPr>
            <a:r>
              <a:t/>
            </a:r>
            <a:endParaRPr sz="2800"/>
          </a:p>
          <a:p>
            <a:pPr indent="-115570" lvl="0" marL="0" rtl="0" algn="l">
              <a:spcBef>
                <a:spcPts val="560"/>
              </a:spcBef>
              <a:spcAft>
                <a:spcPts val="0"/>
              </a:spcAft>
              <a:buClr>
                <a:srgbClr val="CC9900"/>
              </a:buClr>
              <a:buSzPts val="1820"/>
              <a:buFont typeface="Noto Sans Symbols"/>
              <a:buChar char="■"/>
            </a:pPr>
            <a:r>
              <a:rPr lang="ru-RU" sz="2800"/>
              <a:t> Может сравниваться распределение покупателей по возрасту. Например, если реклама была нацелена на конкретный сегмент, например, на молодых мам.</a:t>
            </a:r>
            <a:endParaRPr/>
          </a:p>
        </p:txBody>
      </p:sp>
      <p:sp>
        <p:nvSpPr>
          <p:cNvPr id="298" name="Google Shape;298;p18"/>
          <p:cNvSpPr txBox="1"/>
          <p:nvPr>
            <p:ph idx="12" type="sldNum"/>
          </p:nvPr>
        </p:nvSpPr>
        <p:spPr>
          <a:xfrm>
            <a:off x="11575573" y="6561088"/>
            <a:ext cx="95245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9"/>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05" name="Google Shape;305;p19"/>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06" name="Google Shape;306;p19"/>
          <p:cNvSpPr txBox="1"/>
          <p:nvPr>
            <p:ph idx="4294967295" type="title"/>
          </p:nvPr>
        </p:nvSpPr>
        <p:spPr>
          <a:xfrm>
            <a:off x="1886223" y="401639"/>
            <a:ext cx="8550275"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 3.  Гипотеза независимости</a:t>
            </a:r>
            <a:endParaRPr/>
          </a:p>
        </p:txBody>
      </p:sp>
      <p:sp>
        <p:nvSpPr>
          <p:cNvPr id="307" name="Google Shape;307;p19"/>
          <p:cNvSpPr txBox="1"/>
          <p:nvPr>
            <p:ph idx="4294967295" type="body"/>
          </p:nvPr>
        </p:nvSpPr>
        <p:spPr>
          <a:xfrm>
            <a:off x="1051906" y="1363633"/>
            <a:ext cx="10872513" cy="2415536"/>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solidFill>
                  <a:srgbClr val="FF0000"/>
                </a:solidFill>
              </a:rPr>
              <a:t>Гипотеза</a:t>
            </a:r>
            <a:r>
              <a:rPr lang="ru-RU" sz="2800"/>
              <a:t> : случайные величины X и Y независимы  (хотя более интересен обратный вопрос) </a:t>
            </a:r>
            <a:endParaRPr/>
          </a:p>
          <a:p>
            <a:pPr indent="-176824" lvl="0" marL="354624" rtl="0" algn="l">
              <a:spcBef>
                <a:spcPts val="560"/>
              </a:spcBef>
              <a:spcAft>
                <a:spcPts val="0"/>
              </a:spcAft>
              <a:buClr>
                <a:schemeClr val="dk1"/>
              </a:buClr>
              <a:buSzPts val="2800"/>
              <a:buNone/>
            </a:pPr>
            <a:r>
              <a:t/>
            </a:r>
            <a:endParaRPr sz="2800"/>
          </a:p>
          <a:p>
            <a:pPr indent="-115570" lvl="0" marL="0" rtl="0" algn="l">
              <a:spcBef>
                <a:spcPts val="560"/>
              </a:spcBef>
              <a:spcAft>
                <a:spcPts val="0"/>
              </a:spcAft>
              <a:buClr>
                <a:srgbClr val="CC9900"/>
              </a:buClr>
              <a:buSzPts val="1820"/>
              <a:buFont typeface="Noto Sans Symbols"/>
              <a:buChar char="■"/>
            </a:pPr>
            <a:r>
              <a:rPr lang="ru-RU" sz="2800"/>
              <a:t>Кому и когда приходится проверять гипотезу независимости?</a:t>
            </a:r>
            <a:endParaRPr/>
          </a:p>
        </p:txBody>
      </p:sp>
      <p:sp>
        <p:nvSpPr>
          <p:cNvPr id="308" name="Google Shape;308;p19"/>
          <p:cNvSpPr/>
          <p:nvPr/>
        </p:nvSpPr>
        <p:spPr>
          <a:xfrm>
            <a:off x="1583268" y="0"/>
            <a:ext cx="9501717" cy="149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48625" lIns="93500" spcFirstLastPara="1" rIns="93500" wrap="square" tIns="48625">
            <a:noAutofit/>
          </a:bodyPr>
          <a:lstStyle/>
          <a:p>
            <a:pPr indent="0" lvl="0" marL="0" marR="0" rtl="0" algn="l">
              <a:spcBef>
                <a:spcPts val="0"/>
              </a:spcBef>
              <a:spcAft>
                <a:spcPts val="0"/>
              </a:spcAft>
              <a:buNone/>
            </a:pPr>
            <a:r>
              <a:t/>
            </a:r>
            <a:endParaRPr sz="1870">
              <a:solidFill>
                <a:srgbClr val="000000"/>
              </a:solidFill>
              <a:latin typeface="Arial"/>
              <a:ea typeface="Arial"/>
              <a:cs typeface="Arial"/>
              <a:sym typeface="Arial"/>
            </a:endParaRPr>
          </a:p>
        </p:txBody>
      </p:sp>
      <p:sp>
        <p:nvSpPr>
          <p:cNvPr id="309" name="Google Shape;309;p19"/>
          <p:cNvSpPr txBox="1"/>
          <p:nvPr/>
        </p:nvSpPr>
        <p:spPr>
          <a:xfrm>
            <a:off x="1168041" y="4431620"/>
            <a:ext cx="11142747" cy="2161192"/>
          </a:xfrm>
          <a:prstGeom prst="rect">
            <a:avLst/>
          </a:prstGeom>
          <a:noFill/>
          <a:ln>
            <a:noFill/>
          </a:ln>
        </p:spPr>
        <p:txBody>
          <a:bodyPr anchorCtr="0" anchor="t" bIns="45700" lIns="91425" spcFirstLastPara="1" rIns="91425" wrap="square" tIns="45700">
            <a:noAutofit/>
          </a:bodyPr>
          <a:lstStyle/>
          <a:p>
            <a:pPr indent="-99060" lvl="0" marL="0"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Если возраст покупателей и объем покупки зависимы, то возраст надо учитывать при сегментации покупателей.</a:t>
            </a:r>
            <a:endParaRPr/>
          </a:p>
          <a:p>
            <a:pPr indent="-202224" lvl="0" marL="354624" marR="0" rtl="0" algn="l">
              <a:spcBef>
                <a:spcPts val="48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99060" lvl="0" marL="0"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Иногда зависимость бывает неочевидной.</a:t>
            </a:r>
            <a:endParaRPr/>
          </a:p>
          <a:p>
            <a:pPr indent="-99060" lvl="0" marL="0"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Длина волос и рост людей – зависимые переменные.</a:t>
            </a:r>
            <a:endParaRPr/>
          </a:p>
        </p:txBody>
      </p:sp>
      <p:sp>
        <p:nvSpPr>
          <p:cNvPr id="310" name="Google Shape;310;p19"/>
          <p:cNvSpPr txBox="1"/>
          <p:nvPr/>
        </p:nvSpPr>
        <p:spPr>
          <a:xfrm>
            <a:off x="3908272" y="3753700"/>
            <a:ext cx="4973083" cy="7445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600">
                <a:solidFill>
                  <a:schemeClr val="dk2"/>
                </a:solidFill>
                <a:latin typeface="Calibri"/>
                <a:ea typeface="Calibri"/>
                <a:cs typeface="Calibri"/>
                <a:sym typeface="Calibri"/>
              </a:rPr>
              <a:t>Например,</a:t>
            </a:r>
            <a:endParaRPr/>
          </a:p>
        </p:txBody>
      </p:sp>
      <p:sp>
        <p:nvSpPr>
          <p:cNvPr id="311" name="Google Shape;311;p19"/>
          <p:cNvSpPr txBox="1"/>
          <p:nvPr>
            <p:ph idx="12" type="sldNum"/>
          </p:nvPr>
        </p:nvSpPr>
        <p:spPr>
          <a:xfrm>
            <a:off x="10437813" y="6605015"/>
            <a:ext cx="52117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0"/>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18" name="Google Shape;318;p20"/>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19" name="Google Shape;319;p20"/>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Вопрос:</a:t>
            </a:r>
            <a:endParaRPr/>
          </a:p>
        </p:txBody>
      </p:sp>
      <p:sp>
        <p:nvSpPr>
          <p:cNvPr id="320" name="Google Shape;320;p20"/>
          <p:cNvSpPr txBox="1"/>
          <p:nvPr>
            <p:ph idx="4294967295" type="body"/>
          </p:nvPr>
        </p:nvSpPr>
        <p:spPr>
          <a:xfrm>
            <a:off x="1887539" y="1562362"/>
            <a:ext cx="8550275" cy="2720863"/>
          </a:xfrm>
          <a:prstGeom prst="rect">
            <a:avLst/>
          </a:prstGeom>
          <a:noFill/>
          <a:ln>
            <a:noFill/>
          </a:ln>
        </p:spPr>
        <p:txBody>
          <a:bodyPr anchorCtr="0" anchor="t" bIns="45700" lIns="91425" spcFirstLastPara="1" rIns="91425" wrap="square" tIns="45700">
            <a:normAutofit/>
          </a:bodyPr>
          <a:lstStyle/>
          <a:p>
            <a:pPr indent="-136207" lvl="0" marL="0" rtl="0" algn="l">
              <a:spcBef>
                <a:spcPts val="0"/>
              </a:spcBef>
              <a:spcAft>
                <a:spcPts val="0"/>
              </a:spcAft>
              <a:buClr>
                <a:srgbClr val="CC9900"/>
              </a:buClr>
              <a:buSzPts val="2145"/>
              <a:buFont typeface="Noto Sans Symbols"/>
              <a:buChar char="■"/>
            </a:pPr>
            <a:r>
              <a:rPr lang="ru-RU"/>
              <a:t> наличие балкона влияет на цену квартиры?</a:t>
            </a:r>
            <a:endParaRPr/>
          </a:p>
        </p:txBody>
      </p:sp>
      <p:sp>
        <p:nvSpPr>
          <p:cNvPr id="321" name="Google Shape;321;p20"/>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1"/>
          <p:cNvSpPr/>
          <p:nvPr/>
        </p:nvSpPr>
        <p:spPr>
          <a:xfrm>
            <a:off x="789509" y="335193"/>
            <a:ext cx="1144927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28" name="Google Shape;328;p21"/>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29" name="Google Shape;329;p21"/>
          <p:cNvSpPr txBox="1"/>
          <p:nvPr>
            <p:ph idx="4294967295" type="title"/>
          </p:nvPr>
        </p:nvSpPr>
        <p:spPr>
          <a:xfrm>
            <a:off x="2023270" y="348395"/>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На шаг дальше…</a:t>
            </a:r>
            <a:endParaRPr/>
          </a:p>
        </p:txBody>
      </p:sp>
      <p:sp>
        <p:nvSpPr>
          <p:cNvPr id="330" name="Google Shape;330;p21"/>
          <p:cNvSpPr txBox="1"/>
          <p:nvPr>
            <p:ph idx="4294967295" type="body"/>
          </p:nvPr>
        </p:nvSpPr>
        <p:spPr>
          <a:xfrm>
            <a:off x="1245330" y="1714580"/>
            <a:ext cx="10993450" cy="4708525"/>
          </a:xfrm>
          <a:prstGeom prst="rect">
            <a:avLst/>
          </a:prstGeom>
          <a:noFill/>
          <a:ln>
            <a:noFill/>
          </a:ln>
        </p:spPr>
        <p:txBody>
          <a:bodyPr anchorCtr="0" anchor="t" bIns="45700" lIns="91425" spcFirstLastPara="1" rIns="91425" wrap="square" tIns="45700">
            <a:normAutofit/>
          </a:bodyPr>
          <a:lstStyle/>
          <a:p>
            <a:pPr indent="-185738" lvl="0" marL="185738" rtl="0" algn="l">
              <a:spcBef>
                <a:spcPts val="0"/>
              </a:spcBef>
              <a:spcAft>
                <a:spcPts val="0"/>
              </a:spcAft>
              <a:buClr>
                <a:srgbClr val="CC9900"/>
              </a:buClr>
              <a:buSzPts val="1820"/>
              <a:buFont typeface="Noto Sans Symbols"/>
              <a:buChar char="■"/>
            </a:pPr>
            <a:r>
              <a:rPr lang="ru-RU" sz="2800"/>
              <a:t>В эконометрике редко интересен сам факт </a:t>
            </a:r>
            <a:r>
              <a:rPr b="1" lang="ru-RU" sz="2800"/>
              <a:t>зависимости</a:t>
            </a:r>
            <a:r>
              <a:rPr lang="ru-RU" sz="2800"/>
              <a:t>. </a:t>
            </a:r>
            <a:endParaRPr sz="2800"/>
          </a:p>
          <a:p>
            <a:pPr indent="0" lvl="0" marL="0" rtl="0" algn="l">
              <a:spcBef>
                <a:spcPts val="560"/>
              </a:spcBef>
              <a:spcAft>
                <a:spcPts val="0"/>
              </a:spcAft>
              <a:buClr>
                <a:srgbClr val="CC9900"/>
              </a:buClr>
              <a:buSzPts val="1820"/>
              <a:buNone/>
            </a:pPr>
            <a:r>
              <a:rPr lang="ru-RU" sz="2800"/>
              <a:t>Обычно идут дальше, пытаются описать зависимость.</a:t>
            </a:r>
            <a:endParaRPr/>
          </a:p>
          <a:p>
            <a:pPr indent="-7937" lvl="0" marL="185738" rtl="0" algn="l">
              <a:spcBef>
                <a:spcPts val="560"/>
              </a:spcBef>
              <a:spcAft>
                <a:spcPts val="0"/>
              </a:spcAft>
              <a:buClr>
                <a:schemeClr val="dk1"/>
              </a:buClr>
              <a:buSzPts val="2800"/>
              <a:buNone/>
            </a:pPr>
            <a:r>
              <a:t/>
            </a:r>
            <a:endParaRPr sz="2800"/>
          </a:p>
          <a:p>
            <a:pPr indent="-185738" lvl="0" marL="185738" rtl="0" algn="l">
              <a:spcBef>
                <a:spcPts val="560"/>
              </a:spcBef>
              <a:spcAft>
                <a:spcPts val="0"/>
              </a:spcAft>
              <a:buClr>
                <a:srgbClr val="CC9900"/>
              </a:buClr>
              <a:buSzPts val="1820"/>
              <a:buFont typeface="Noto Sans Symbols"/>
              <a:buChar char="■"/>
            </a:pPr>
            <a:r>
              <a:rPr lang="ru-RU" sz="2800"/>
              <a:t>Подобные задачи решаются, в частности, методами регрессионного анализа.</a:t>
            </a:r>
            <a:endParaRPr/>
          </a:p>
          <a:p>
            <a:pPr indent="-185738" lvl="0" marL="185738" rtl="0" algn="l">
              <a:spcBef>
                <a:spcPts val="560"/>
              </a:spcBef>
              <a:spcAft>
                <a:spcPts val="0"/>
              </a:spcAft>
              <a:buClr>
                <a:srgbClr val="CC9900"/>
              </a:buClr>
              <a:buSzPts val="1820"/>
              <a:buFont typeface="Noto Sans Symbols"/>
              <a:buChar char="■"/>
            </a:pPr>
            <a:r>
              <a:rPr lang="ru-RU" sz="2800"/>
              <a:t>Регрессионный анализ – следующая наша тема.</a:t>
            </a:r>
            <a:endParaRPr/>
          </a:p>
        </p:txBody>
      </p:sp>
      <p:sp>
        <p:nvSpPr>
          <p:cNvPr id="331" name="Google Shape;331;p21"/>
          <p:cNvSpPr txBox="1"/>
          <p:nvPr>
            <p:ph idx="12" type="sldNum"/>
          </p:nvPr>
        </p:nvSpPr>
        <p:spPr>
          <a:xfrm>
            <a:off x="11484760" y="6582145"/>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2"/>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200">
              <a:solidFill>
                <a:schemeClr val="lt1"/>
              </a:solidFill>
              <a:latin typeface="Arial"/>
              <a:ea typeface="Arial"/>
              <a:cs typeface="Arial"/>
              <a:sym typeface="Arial"/>
            </a:endParaRPr>
          </a:p>
        </p:txBody>
      </p:sp>
      <p:sp>
        <p:nvSpPr>
          <p:cNvPr id="338" name="Google Shape;338;p22"/>
          <p:cNvSpPr/>
          <p:nvPr/>
        </p:nvSpPr>
        <p:spPr>
          <a:xfrm>
            <a:off x="2373685" y="322264"/>
            <a:ext cx="8064128" cy="144068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200">
              <a:solidFill>
                <a:schemeClr val="lt1"/>
              </a:solidFill>
              <a:latin typeface="Arial"/>
              <a:ea typeface="Arial"/>
              <a:cs typeface="Arial"/>
              <a:sym typeface="Arial"/>
            </a:endParaRPr>
          </a:p>
        </p:txBody>
      </p:sp>
      <p:sp>
        <p:nvSpPr>
          <p:cNvPr id="339" name="Google Shape;339;p22"/>
          <p:cNvSpPr txBox="1"/>
          <p:nvPr>
            <p:ph idx="4294967295" type="title"/>
          </p:nvPr>
        </p:nvSpPr>
        <p:spPr>
          <a:xfrm>
            <a:off x="2453640" y="322264"/>
            <a:ext cx="7416800"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Calibri"/>
              <a:buNone/>
            </a:pPr>
            <a:r>
              <a:rPr lang="ru-RU" sz="4000"/>
              <a:t>4.  Гипотезы о параметре распределения</a:t>
            </a:r>
            <a:endParaRPr/>
          </a:p>
        </p:txBody>
      </p:sp>
      <p:sp>
        <p:nvSpPr>
          <p:cNvPr id="340" name="Google Shape;340;p22"/>
          <p:cNvSpPr txBox="1"/>
          <p:nvPr>
            <p:ph idx="4294967295" type="body"/>
          </p:nvPr>
        </p:nvSpPr>
        <p:spPr>
          <a:xfrm>
            <a:off x="1200873" y="1762945"/>
            <a:ext cx="10574338" cy="1008062"/>
          </a:xfrm>
          <a:prstGeom prst="rect">
            <a:avLst/>
          </a:prstGeom>
          <a:noFill/>
          <a:ln>
            <a:noFill/>
          </a:ln>
        </p:spPr>
        <p:txBody>
          <a:bodyPr anchorCtr="0" anchor="t" bIns="45700" lIns="91425" spcFirstLastPara="1" rIns="91425" wrap="square" tIns="45700">
            <a:normAutofit/>
          </a:bodyPr>
          <a:lstStyle/>
          <a:p>
            <a:pPr indent="-99060" lvl="0" marL="0" rtl="0" algn="l">
              <a:spcBef>
                <a:spcPts val="0"/>
              </a:spcBef>
              <a:spcAft>
                <a:spcPts val="0"/>
              </a:spcAft>
              <a:buClr>
                <a:srgbClr val="CC9900"/>
              </a:buClr>
              <a:buSzPts val="1560"/>
              <a:buFont typeface="Noto Sans Symbols"/>
              <a:buChar char="■"/>
            </a:pPr>
            <a:r>
              <a:rPr i="1" lang="ru-RU" sz="2400">
                <a:solidFill>
                  <a:srgbClr val="0070C0"/>
                </a:solidFill>
              </a:rPr>
              <a:t> Очень часто не так важно распределение случайной величины. Интересна лишь одна из характеристик распределения.</a:t>
            </a:r>
            <a:endParaRPr/>
          </a:p>
          <a:p>
            <a:pPr indent="-202224" lvl="0" marL="356307" rtl="0" algn="l">
              <a:spcBef>
                <a:spcPts val="480"/>
              </a:spcBef>
              <a:spcAft>
                <a:spcPts val="0"/>
              </a:spcAft>
              <a:buClr>
                <a:schemeClr val="dk1"/>
              </a:buClr>
              <a:buSzPts val="2400"/>
              <a:buNone/>
            </a:pPr>
            <a:r>
              <a:t/>
            </a:r>
            <a:endParaRPr i="1" sz="2400">
              <a:solidFill>
                <a:srgbClr val="0070C0"/>
              </a:solidFill>
            </a:endParaRPr>
          </a:p>
        </p:txBody>
      </p:sp>
      <p:sp>
        <p:nvSpPr>
          <p:cNvPr id="341" name="Google Shape;341;p22"/>
          <p:cNvSpPr txBox="1"/>
          <p:nvPr/>
        </p:nvSpPr>
        <p:spPr>
          <a:xfrm>
            <a:off x="1178021" y="2947221"/>
            <a:ext cx="10597551" cy="80168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ru-RU" sz="2400">
                <a:solidFill>
                  <a:schemeClr val="dk2"/>
                </a:solidFill>
                <a:latin typeface="Calibri"/>
                <a:ea typeface="Calibri"/>
                <a:cs typeface="Calibri"/>
                <a:sym typeface="Calibri"/>
              </a:rPr>
              <a:t>Если анализируются продажи магазина, то в первую очередь интересно… </a:t>
            </a:r>
            <a:br>
              <a:rPr lang="ru-RU" sz="2400">
                <a:solidFill>
                  <a:schemeClr val="dk2"/>
                </a:solidFill>
                <a:latin typeface="Calibri"/>
                <a:ea typeface="Calibri"/>
                <a:cs typeface="Calibri"/>
                <a:sym typeface="Calibri"/>
              </a:rPr>
            </a:br>
            <a:endParaRPr sz="2400">
              <a:solidFill>
                <a:schemeClr val="dk2"/>
              </a:solidFill>
              <a:latin typeface="Calibri"/>
              <a:ea typeface="Calibri"/>
              <a:cs typeface="Calibri"/>
              <a:sym typeface="Calibri"/>
            </a:endParaRPr>
          </a:p>
        </p:txBody>
      </p:sp>
      <p:sp>
        <p:nvSpPr>
          <p:cNvPr id="342" name="Google Shape;342;p22"/>
          <p:cNvSpPr txBox="1"/>
          <p:nvPr/>
        </p:nvSpPr>
        <p:spPr>
          <a:xfrm>
            <a:off x="1209182" y="3948733"/>
            <a:ext cx="10597551" cy="2256583"/>
          </a:xfrm>
          <a:prstGeom prst="rect">
            <a:avLst/>
          </a:prstGeom>
          <a:noFill/>
          <a:ln>
            <a:noFill/>
          </a:ln>
        </p:spPr>
        <p:txBody>
          <a:bodyPr anchorCtr="0" anchor="t" bIns="45700" lIns="91425" spcFirstLastPara="1" rIns="91425" wrap="square" tIns="45700">
            <a:noAutofit/>
          </a:bodyPr>
          <a:lstStyle/>
          <a:p>
            <a:pPr indent="-357188" lvl="0" marL="357188"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Математическое ожидание</a:t>
            </a:r>
            <a:endParaRPr/>
          </a:p>
          <a:p>
            <a:pPr indent="0" lvl="0" marL="0" marR="0" rtl="0" algn="l">
              <a:spcBef>
                <a:spcPts val="480"/>
              </a:spcBef>
              <a:spcAft>
                <a:spcPts val="0"/>
              </a:spcAft>
              <a:buClr>
                <a:srgbClr val="CC9900"/>
              </a:buClr>
              <a:buSzPts val="1560"/>
              <a:buFont typeface="Calibri"/>
              <a:buNone/>
            </a:pPr>
            <a:r>
              <a:t/>
            </a:r>
            <a:endParaRPr sz="2400">
              <a:solidFill>
                <a:schemeClr val="dk1"/>
              </a:solidFill>
              <a:latin typeface="Calibri"/>
              <a:ea typeface="Calibri"/>
              <a:cs typeface="Calibri"/>
              <a:sym typeface="Calibri"/>
            </a:endParaRPr>
          </a:p>
          <a:p>
            <a:pPr indent="0" lvl="0" marL="0" marR="0" rtl="0" algn="l">
              <a:spcBef>
                <a:spcPts val="480"/>
              </a:spcBef>
              <a:spcAft>
                <a:spcPts val="0"/>
              </a:spcAft>
              <a:buClr>
                <a:srgbClr val="CC9900"/>
              </a:buClr>
              <a:buSzPts val="1560"/>
              <a:buFont typeface="Calibri"/>
              <a:buNone/>
            </a:pPr>
            <a:r>
              <a:rPr lang="ru-RU" sz="2400">
                <a:solidFill>
                  <a:schemeClr val="dk1"/>
                </a:solidFill>
                <a:latin typeface="Calibri"/>
                <a:ea typeface="Calibri"/>
                <a:cs typeface="Calibri"/>
                <a:sym typeface="Calibri"/>
              </a:rPr>
              <a:t>Так как математическое ожидание – вероятностная модель для среднего значения. В данном случае для средних продаж.</a:t>
            </a:r>
            <a:endParaRPr/>
          </a:p>
        </p:txBody>
      </p:sp>
      <p:sp>
        <p:nvSpPr>
          <p:cNvPr id="343" name="Google Shape;343;p22"/>
          <p:cNvSpPr txBox="1"/>
          <p:nvPr>
            <p:ph idx="12" type="sldNum"/>
          </p:nvPr>
        </p:nvSpPr>
        <p:spPr>
          <a:xfrm>
            <a:off x="11294693" y="6541296"/>
            <a:ext cx="1088550"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3"/>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50" name="Google Shape;350;p23"/>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3500">
                <a:solidFill>
                  <a:srgbClr val="0070C0"/>
                </a:solidFill>
                <a:latin typeface="Arial"/>
                <a:ea typeface="Arial"/>
                <a:cs typeface="Arial"/>
                <a:sym typeface="Arial"/>
              </a:rPr>
              <a:t>Формулировка гипотез</a:t>
            </a:r>
            <a:endParaRPr/>
          </a:p>
        </p:txBody>
      </p:sp>
      <p:sp>
        <p:nvSpPr>
          <p:cNvPr id="351" name="Google Shape;351;p23"/>
          <p:cNvSpPr txBox="1"/>
          <p:nvPr>
            <p:ph idx="4294967295" type="body"/>
          </p:nvPr>
        </p:nvSpPr>
        <p:spPr>
          <a:xfrm>
            <a:off x="2130612" y="1690937"/>
            <a:ext cx="8550275" cy="4708525"/>
          </a:xfrm>
          <a:prstGeom prst="rect">
            <a:avLst/>
          </a:prstGeom>
          <a:noFill/>
          <a:ln>
            <a:noFill/>
          </a:ln>
        </p:spPr>
        <p:txBody>
          <a:bodyPr anchorCtr="0" anchor="t" bIns="45700" lIns="91425" spcFirstLastPara="1" rIns="91425" wrap="square" tIns="45700">
            <a:normAutofit/>
          </a:bodyPr>
          <a:lstStyle/>
          <a:p>
            <a:pPr indent="-132080" lvl="0" marL="0" rtl="0" algn="l">
              <a:spcBef>
                <a:spcPts val="0"/>
              </a:spcBef>
              <a:spcAft>
                <a:spcPts val="0"/>
              </a:spcAft>
              <a:buClr>
                <a:srgbClr val="CC9900"/>
              </a:buClr>
              <a:buSzPts val="2080"/>
              <a:buFont typeface="Noto Sans Symbols"/>
              <a:buChar char="■"/>
            </a:pPr>
            <a:r>
              <a:rPr lang="ru-RU" sz="3200">
                <a:solidFill>
                  <a:srgbClr val="FF0000"/>
                </a:solidFill>
              </a:rPr>
              <a:t>Гипотеза</a:t>
            </a:r>
            <a:r>
              <a:rPr lang="ru-RU" sz="3200"/>
              <a:t>. Математические ожидания случайных величин X и Y одинаковы.</a:t>
            </a:r>
            <a:endParaRPr/>
          </a:p>
          <a:p>
            <a:pPr indent="0" lvl="0" marL="0" rtl="0" algn="ctr">
              <a:spcBef>
                <a:spcPts val="640"/>
              </a:spcBef>
              <a:spcAft>
                <a:spcPts val="0"/>
              </a:spcAft>
              <a:buClr>
                <a:srgbClr val="CC9900"/>
              </a:buClr>
              <a:buSzPts val="2080"/>
              <a:buNone/>
            </a:pPr>
            <a:r>
              <a:rPr lang="ru-RU" sz="3200">
                <a:solidFill>
                  <a:srgbClr val="0000FF"/>
                </a:solidFill>
              </a:rPr>
              <a:t>μ</a:t>
            </a:r>
            <a:r>
              <a:rPr baseline="-25000" lang="ru-RU" sz="3200">
                <a:solidFill>
                  <a:srgbClr val="0000FF"/>
                </a:solidFill>
              </a:rPr>
              <a:t>X</a:t>
            </a:r>
            <a:r>
              <a:rPr lang="ru-RU" sz="3200">
                <a:solidFill>
                  <a:srgbClr val="0000FF"/>
                </a:solidFill>
              </a:rPr>
              <a:t> = μ</a:t>
            </a:r>
            <a:r>
              <a:rPr baseline="-25000" lang="ru-RU" sz="3200">
                <a:solidFill>
                  <a:srgbClr val="0000FF"/>
                </a:solidFill>
              </a:rPr>
              <a:t>Y</a:t>
            </a:r>
            <a:endParaRPr baseline="-25000" sz="3200">
              <a:solidFill>
                <a:srgbClr val="0000FF"/>
              </a:solidFill>
            </a:endParaRPr>
          </a:p>
          <a:p>
            <a:pPr indent="0" lvl="0" marL="0" rtl="0" algn="ctr">
              <a:spcBef>
                <a:spcPts val="640"/>
              </a:spcBef>
              <a:spcAft>
                <a:spcPts val="0"/>
              </a:spcAft>
              <a:buClr>
                <a:srgbClr val="CC9900"/>
              </a:buClr>
              <a:buSzPts val="2080"/>
              <a:buNone/>
            </a:pPr>
            <a:r>
              <a:t/>
            </a:r>
            <a:endParaRPr sz="3200"/>
          </a:p>
          <a:p>
            <a:pPr indent="-132080" lvl="0" marL="0" rtl="0" algn="l">
              <a:spcBef>
                <a:spcPts val="640"/>
              </a:spcBef>
              <a:spcAft>
                <a:spcPts val="0"/>
              </a:spcAft>
              <a:buClr>
                <a:srgbClr val="CC9900"/>
              </a:buClr>
              <a:buSzPts val="2080"/>
              <a:buFont typeface="Noto Sans Symbols"/>
              <a:buChar char="■"/>
            </a:pPr>
            <a:r>
              <a:rPr lang="ru-RU" sz="3200">
                <a:solidFill>
                  <a:srgbClr val="FF0000"/>
                </a:solidFill>
              </a:rPr>
              <a:t>Гипотеза. </a:t>
            </a:r>
            <a:r>
              <a:rPr lang="ru-RU" sz="3200"/>
              <a:t>Медианы случайных величин X и Y одинаковы.</a:t>
            </a:r>
            <a:endParaRPr/>
          </a:p>
          <a:p>
            <a:pPr indent="0" lvl="0" marL="0" rtl="0" algn="ctr">
              <a:spcBef>
                <a:spcPts val="640"/>
              </a:spcBef>
              <a:spcAft>
                <a:spcPts val="0"/>
              </a:spcAft>
              <a:buClr>
                <a:srgbClr val="CC9900"/>
              </a:buClr>
              <a:buSzPts val="2080"/>
              <a:buNone/>
            </a:pPr>
            <a:r>
              <a:rPr lang="ru-RU" sz="3200">
                <a:solidFill>
                  <a:srgbClr val="0000FF"/>
                </a:solidFill>
              </a:rPr>
              <a:t>   med(X) = med(Y)</a:t>
            </a:r>
            <a:endParaRPr/>
          </a:p>
          <a:p>
            <a:pPr indent="0" lvl="0" marL="0" rtl="0" algn="ctr">
              <a:spcBef>
                <a:spcPts val="660"/>
              </a:spcBef>
              <a:spcAft>
                <a:spcPts val="0"/>
              </a:spcAft>
              <a:buClr>
                <a:srgbClr val="CC9900"/>
              </a:buClr>
              <a:buSzPts val="2145"/>
              <a:buNone/>
            </a:pPr>
            <a:r>
              <a:rPr lang="ru-RU"/>
              <a:t> </a:t>
            </a:r>
            <a:endParaRPr/>
          </a:p>
        </p:txBody>
      </p:sp>
      <p:sp>
        <p:nvSpPr>
          <p:cNvPr id="352" name="Google Shape;352;p23"/>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59" name="Google Shape;359;p24"/>
          <p:cNvSpPr/>
          <p:nvPr/>
        </p:nvSpPr>
        <p:spPr>
          <a:xfrm>
            <a:off x="2373685" y="322263"/>
            <a:ext cx="8064128" cy="1415132"/>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60" name="Google Shape;360;p24"/>
          <p:cNvSpPr txBox="1"/>
          <p:nvPr>
            <p:ph idx="4294967295" type="title"/>
          </p:nvPr>
        </p:nvSpPr>
        <p:spPr>
          <a:xfrm>
            <a:off x="2339777" y="437692"/>
            <a:ext cx="762952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Основные условия применения статистических тестов</a:t>
            </a:r>
            <a:endParaRPr/>
          </a:p>
        </p:txBody>
      </p:sp>
      <p:sp>
        <p:nvSpPr>
          <p:cNvPr id="361" name="Google Shape;361;p24"/>
          <p:cNvSpPr txBox="1"/>
          <p:nvPr>
            <p:ph idx="4294967295" type="body"/>
          </p:nvPr>
        </p:nvSpPr>
        <p:spPr>
          <a:xfrm>
            <a:off x="2023270" y="2258254"/>
            <a:ext cx="8550275" cy="3177099"/>
          </a:xfrm>
          <a:prstGeom prst="rect">
            <a:avLst/>
          </a:prstGeom>
          <a:noFill/>
          <a:ln>
            <a:noFill/>
          </a:ln>
        </p:spPr>
        <p:txBody>
          <a:bodyPr anchorCtr="0" anchor="t" bIns="45700" lIns="91425" spcFirstLastPara="1" rIns="91425" wrap="square" tIns="45700">
            <a:normAutofit/>
          </a:bodyPr>
          <a:lstStyle/>
          <a:p>
            <a:pPr indent="-360363" lvl="0" marL="360363" rtl="0" algn="l">
              <a:spcBef>
                <a:spcPts val="0"/>
              </a:spcBef>
              <a:spcAft>
                <a:spcPts val="0"/>
              </a:spcAft>
              <a:buClr>
                <a:srgbClr val="CC9900"/>
              </a:buClr>
              <a:buSzPts val="2800"/>
              <a:buFont typeface="Calibri"/>
              <a:buAutoNum type="arabicPeriod"/>
            </a:pPr>
            <a:r>
              <a:rPr lang="ru-RU" sz="2800"/>
              <a:t>Вопрос должен касаться какой-либо характеристики массового явления.</a:t>
            </a:r>
            <a:endParaRPr/>
          </a:p>
          <a:p>
            <a:pPr indent="-360363" lvl="0" marL="360363" rtl="0" algn="l">
              <a:spcBef>
                <a:spcPts val="560"/>
              </a:spcBef>
              <a:spcAft>
                <a:spcPts val="0"/>
              </a:spcAft>
              <a:buClr>
                <a:srgbClr val="CC9900"/>
              </a:buClr>
              <a:buSzPts val="2800"/>
              <a:buFont typeface="Calibri"/>
              <a:buAutoNum type="arabicPeriod"/>
            </a:pPr>
            <a:r>
              <a:rPr lang="ru-RU" sz="2800"/>
              <a:t>Характеристика меняется случайным образом от наблюдения к наблюдению.</a:t>
            </a:r>
            <a:endParaRPr/>
          </a:p>
          <a:p>
            <a:pPr indent="-360363" lvl="0" marL="360363" rtl="0" algn="l">
              <a:spcBef>
                <a:spcPts val="560"/>
              </a:spcBef>
              <a:spcAft>
                <a:spcPts val="0"/>
              </a:spcAft>
              <a:buClr>
                <a:srgbClr val="CC9900"/>
              </a:buClr>
              <a:buSzPts val="2800"/>
              <a:buFont typeface="Calibri"/>
              <a:buAutoNum type="arabicPeriod"/>
            </a:pPr>
            <a:r>
              <a:rPr lang="ru-RU" sz="2800"/>
              <a:t>Вопрос должен быть относительно простым и четко сформулированным.</a:t>
            </a:r>
            <a:endParaRPr/>
          </a:p>
        </p:txBody>
      </p:sp>
      <p:sp>
        <p:nvSpPr>
          <p:cNvPr id="362" name="Google Shape;362;p24"/>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5"/>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69" name="Google Shape;369;p2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70" name="Google Shape;370;p25"/>
          <p:cNvSpPr txBox="1"/>
          <p:nvPr>
            <p:ph idx="4294967295" type="title"/>
          </p:nvPr>
        </p:nvSpPr>
        <p:spPr>
          <a:xfrm>
            <a:off x="3247054" y="320341"/>
            <a:ext cx="5356225"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Пример 1</a:t>
            </a:r>
            <a:endParaRPr/>
          </a:p>
        </p:txBody>
      </p:sp>
      <p:sp>
        <p:nvSpPr>
          <p:cNvPr id="371" name="Google Shape;371;p25"/>
          <p:cNvSpPr txBox="1"/>
          <p:nvPr>
            <p:ph idx="4294967295" type="body"/>
          </p:nvPr>
        </p:nvSpPr>
        <p:spPr>
          <a:xfrm>
            <a:off x="944213" y="1871114"/>
            <a:ext cx="10627474" cy="2239888"/>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1560"/>
              <a:buFont typeface="Noto Sans Symbols"/>
              <a:buChar char="■"/>
            </a:pPr>
            <a:r>
              <a:rPr lang="ru-RU" sz="2400"/>
              <a:t>В обычных условиях зафиксирован некоторый уровень продаж. Затем была проведена рекламная акция.</a:t>
            </a:r>
            <a:endParaRPr/>
          </a:p>
          <a:p>
            <a:pPr indent="-357188" lvl="0" marL="357188" rtl="0" algn="l">
              <a:spcBef>
                <a:spcPts val="480"/>
              </a:spcBef>
              <a:spcAft>
                <a:spcPts val="0"/>
              </a:spcAft>
              <a:buClr>
                <a:srgbClr val="CC9900"/>
              </a:buClr>
              <a:buSzPts val="1560"/>
              <a:buFont typeface="Noto Sans Symbols"/>
              <a:buChar char="■"/>
            </a:pPr>
            <a:r>
              <a:rPr lang="ru-RU" sz="2400"/>
              <a:t>Руководству фирмы надо оценить результат.</a:t>
            </a:r>
            <a:endParaRPr/>
          </a:p>
          <a:p>
            <a:pPr indent="-357188" lvl="0" marL="357188" rtl="0" algn="l">
              <a:spcBef>
                <a:spcPts val="480"/>
              </a:spcBef>
              <a:spcAft>
                <a:spcPts val="0"/>
              </a:spcAft>
              <a:buClr>
                <a:srgbClr val="CC9900"/>
              </a:buClr>
              <a:buSzPts val="1560"/>
              <a:buFont typeface="Noto Sans Symbols"/>
              <a:buChar char="■"/>
            </a:pPr>
            <a:r>
              <a:rPr lang="ru-RU" sz="2400"/>
              <a:t>Для этого нужно выяснить, было ли существенное увеличение продаж. В частности, окупились ли затраты на рекламу.</a:t>
            </a:r>
            <a:endParaRPr/>
          </a:p>
        </p:txBody>
      </p:sp>
      <p:sp>
        <p:nvSpPr>
          <p:cNvPr id="372" name="Google Shape;372;p25"/>
          <p:cNvSpPr/>
          <p:nvPr/>
        </p:nvSpPr>
        <p:spPr>
          <a:xfrm>
            <a:off x="4173885" y="1354871"/>
            <a:ext cx="350256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2000">
                <a:solidFill>
                  <a:srgbClr val="0070C0"/>
                </a:solidFill>
                <a:latin typeface="Arial"/>
                <a:ea typeface="Arial"/>
                <a:cs typeface="Arial"/>
                <a:sym typeface="Arial"/>
              </a:rPr>
              <a:t>Гипотеза о зависимости</a:t>
            </a:r>
            <a:endParaRPr/>
          </a:p>
        </p:txBody>
      </p:sp>
      <p:sp>
        <p:nvSpPr>
          <p:cNvPr id="373" name="Google Shape;373;p25"/>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374" name="Google Shape;374;p25"/>
          <p:cNvSpPr txBox="1"/>
          <p:nvPr/>
        </p:nvSpPr>
        <p:spPr>
          <a:xfrm>
            <a:off x="861517" y="4157049"/>
            <a:ext cx="11089232" cy="2628433"/>
          </a:xfrm>
          <a:prstGeom prst="rect">
            <a:avLst/>
          </a:prstGeom>
          <a:noFill/>
          <a:ln>
            <a:noFill/>
          </a:ln>
        </p:spPr>
        <p:txBody>
          <a:bodyPr anchorCtr="0" anchor="t" bIns="45700" lIns="91425" spcFirstLastPara="1" rIns="91425" wrap="square" tIns="45700">
            <a:normAutofit/>
          </a:bodyPr>
          <a:lstStyle/>
          <a:p>
            <a:pPr indent="-357188" lvl="0" marL="357188"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Увеличение продаж могло быть вызвано случайными факторами:</a:t>
            </a:r>
            <a:endParaRPr/>
          </a:p>
          <a:p>
            <a:pPr indent="-357188" lvl="1" marL="792163" marR="0" rtl="0" algn="l">
              <a:spcBef>
                <a:spcPts val="480"/>
              </a:spcBef>
              <a:spcAft>
                <a:spcPts val="0"/>
              </a:spcAft>
              <a:buClr>
                <a:srgbClr val="CC9900"/>
              </a:buClr>
              <a:buSzPts val="1560"/>
              <a:buFont typeface="Noto Sans Symbols"/>
              <a:buChar char="■"/>
            </a:pPr>
            <a:r>
              <a:rPr b="0" i="0" lang="ru-RU" sz="2400" u="none" cap="none" strike="noStrike">
                <a:solidFill>
                  <a:schemeClr val="dk1"/>
                </a:solidFill>
                <a:latin typeface="Calibri"/>
                <a:ea typeface="Calibri"/>
                <a:cs typeface="Calibri"/>
                <a:sym typeface="Calibri"/>
              </a:rPr>
              <a:t>Продажи все время меняются, случайным образом отклоняются от заданного значения.</a:t>
            </a:r>
            <a:endParaRPr/>
          </a:p>
          <a:p>
            <a:pPr indent="-357188" lvl="1" marL="792163" marR="0" rtl="0" algn="l">
              <a:spcBef>
                <a:spcPts val="480"/>
              </a:spcBef>
              <a:spcAft>
                <a:spcPts val="0"/>
              </a:spcAft>
              <a:buClr>
                <a:srgbClr val="CC9900"/>
              </a:buClr>
              <a:buSzPts val="1560"/>
              <a:buFont typeface="Noto Sans Symbols"/>
              <a:buChar char="■"/>
            </a:pPr>
            <a:r>
              <a:rPr b="0" i="0" lang="ru-RU" sz="2400" u="none" cap="none" strike="noStrike">
                <a:solidFill>
                  <a:schemeClr val="dk1"/>
                </a:solidFill>
                <a:latin typeface="Calibri"/>
                <a:ea typeface="Calibri"/>
                <a:cs typeface="Calibri"/>
                <a:sym typeface="Calibri"/>
              </a:rPr>
              <a:t>Статистически значимое отклонение должно превышать эти случайные отклонения.</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6"/>
          <p:cNvSpPr/>
          <p:nvPr/>
        </p:nvSpPr>
        <p:spPr>
          <a:xfrm>
            <a:off x="1438276"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81" name="Google Shape;381;p2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82" name="Google Shape;382;p26"/>
          <p:cNvSpPr/>
          <p:nvPr/>
        </p:nvSpPr>
        <p:spPr>
          <a:xfrm>
            <a:off x="1582738"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83" name="Google Shape;383;p26"/>
          <p:cNvSpPr txBox="1"/>
          <p:nvPr>
            <p:ph idx="4294967295" type="title"/>
          </p:nvPr>
        </p:nvSpPr>
        <p:spPr>
          <a:xfrm>
            <a:off x="2516188" y="331162"/>
            <a:ext cx="6553200"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Пример 2</a:t>
            </a:r>
            <a:endParaRPr/>
          </a:p>
        </p:txBody>
      </p:sp>
      <p:sp>
        <p:nvSpPr>
          <p:cNvPr id="384" name="Google Shape;384;p26"/>
          <p:cNvSpPr txBox="1"/>
          <p:nvPr>
            <p:ph idx="4294967295" type="body"/>
          </p:nvPr>
        </p:nvSpPr>
        <p:spPr>
          <a:xfrm>
            <a:off x="2261122" y="2235496"/>
            <a:ext cx="8393484" cy="2447925"/>
          </a:xfrm>
          <a:prstGeom prst="rect">
            <a:avLst/>
          </a:prstGeom>
          <a:noFill/>
          <a:ln>
            <a:noFill/>
          </a:ln>
        </p:spPr>
        <p:txBody>
          <a:bodyPr anchorCtr="0" anchor="t" bIns="45700" lIns="91425" spcFirstLastPara="1" rIns="91425" wrap="square" tIns="45700">
            <a:normAutofit/>
          </a:bodyPr>
          <a:lstStyle/>
          <a:p>
            <a:pPr indent="-271463" lvl="0" marL="271463" rtl="0" algn="l">
              <a:spcBef>
                <a:spcPts val="0"/>
              </a:spcBef>
              <a:spcAft>
                <a:spcPts val="0"/>
              </a:spcAft>
              <a:buClr>
                <a:srgbClr val="CC9900"/>
              </a:buClr>
              <a:buSzPts val="1820"/>
              <a:buFont typeface="Noto Sans Symbols"/>
              <a:buChar char="■"/>
            </a:pPr>
            <a:r>
              <a:rPr lang="ru-RU" sz="2800"/>
              <a:t>Разработан новый вариант упаковки товара.</a:t>
            </a:r>
            <a:endParaRPr/>
          </a:p>
          <a:p>
            <a:pPr indent="-271463" lvl="0" marL="271463" rtl="0" algn="l">
              <a:spcBef>
                <a:spcPts val="560"/>
              </a:spcBef>
              <a:spcAft>
                <a:spcPts val="0"/>
              </a:spcAft>
              <a:buClr>
                <a:srgbClr val="CC9900"/>
              </a:buClr>
              <a:buSzPts val="1820"/>
              <a:buFont typeface="Noto Sans Symbols"/>
              <a:buChar char="■"/>
            </a:pPr>
            <a:r>
              <a:rPr lang="ru-RU" sz="2800"/>
              <a:t>Требуется проверить предположение, что товар в новой упаковке имеет в данном регионе больший уровень продаж, чем вариант в старой упаковке.</a:t>
            </a:r>
            <a:endParaRPr/>
          </a:p>
        </p:txBody>
      </p:sp>
      <p:sp>
        <p:nvSpPr>
          <p:cNvPr id="385" name="Google Shape;385;p26"/>
          <p:cNvSpPr/>
          <p:nvPr/>
        </p:nvSpPr>
        <p:spPr>
          <a:xfrm>
            <a:off x="4046292" y="1690491"/>
            <a:ext cx="428155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2000">
                <a:solidFill>
                  <a:srgbClr val="0070C0"/>
                </a:solidFill>
                <a:latin typeface="Arial"/>
                <a:ea typeface="Arial"/>
                <a:cs typeface="Arial"/>
                <a:sym typeface="Arial"/>
              </a:rPr>
              <a:t>Гипотеза о равенстве средних</a:t>
            </a:r>
            <a:endParaRPr/>
          </a:p>
        </p:txBody>
      </p:sp>
      <p:sp>
        <p:nvSpPr>
          <p:cNvPr id="386" name="Google Shape;386;p26"/>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7"/>
          <p:cNvSpPr/>
          <p:nvPr/>
        </p:nvSpPr>
        <p:spPr>
          <a:xfrm>
            <a:off x="1428340" y="322264"/>
            <a:ext cx="1081044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93" name="Google Shape;393;p27"/>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394" name="Google Shape;394;p27"/>
          <p:cNvSpPr txBox="1"/>
          <p:nvPr>
            <p:ph idx="4294967295" type="title"/>
          </p:nvPr>
        </p:nvSpPr>
        <p:spPr>
          <a:xfrm>
            <a:off x="2661717" y="288926"/>
            <a:ext cx="7083946"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Пример 3</a:t>
            </a:r>
            <a:endParaRPr/>
          </a:p>
        </p:txBody>
      </p:sp>
      <p:sp>
        <p:nvSpPr>
          <p:cNvPr id="395" name="Google Shape;395;p27"/>
          <p:cNvSpPr txBox="1"/>
          <p:nvPr>
            <p:ph idx="4294967295" type="body"/>
          </p:nvPr>
        </p:nvSpPr>
        <p:spPr>
          <a:xfrm>
            <a:off x="2108201" y="2044701"/>
            <a:ext cx="9367077" cy="3268662"/>
          </a:xfrm>
          <a:prstGeom prst="rect">
            <a:avLst/>
          </a:prstGeom>
          <a:noFill/>
          <a:ln>
            <a:noFill/>
          </a:ln>
        </p:spPr>
        <p:txBody>
          <a:bodyPr anchorCtr="0" anchor="t" bIns="45700" lIns="91425" spcFirstLastPara="1" rIns="91425" wrap="square" tIns="45700">
            <a:normAutofit/>
          </a:bodyPr>
          <a:lstStyle/>
          <a:p>
            <a:pPr indent="-271463" lvl="0" marL="271463" rtl="0" algn="l">
              <a:spcBef>
                <a:spcPts val="0"/>
              </a:spcBef>
              <a:spcAft>
                <a:spcPts val="0"/>
              </a:spcAft>
              <a:buClr>
                <a:srgbClr val="CC9900"/>
              </a:buClr>
              <a:buSzPts val="1820"/>
              <a:buFont typeface="Noto Sans Symbols"/>
              <a:buChar char="■"/>
            </a:pPr>
            <a:r>
              <a:rPr lang="ru-RU" sz="2800"/>
              <a:t>Верно ли, что основной конкурент действует на том же сегменте рынка, что и фирма «Х»?</a:t>
            </a:r>
            <a:endParaRPr/>
          </a:p>
          <a:p>
            <a:pPr indent="-271463" lvl="0" marL="271463" rtl="0" algn="l">
              <a:spcBef>
                <a:spcPts val="560"/>
              </a:spcBef>
              <a:spcAft>
                <a:spcPts val="0"/>
              </a:spcAft>
              <a:buClr>
                <a:srgbClr val="CC9900"/>
              </a:buClr>
              <a:buSzPts val="1820"/>
              <a:buFont typeface="Noto Sans Symbols"/>
              <a:buChar char="■"/>
            </a:pPr>
            <a:r>
              <a:rPr lang="ru-RU" sz="2800"/>
              <a:t>При ответе на этот вопрос может потребоваться проверить, одинаково ли распределение по возрасту у покупателей товаров фирмы «Х» и ее основного конкурента.</a:t>
            </a:r>
            <a:endParaRPr/>
          </a:p>
        </p:txBody>
      </p:sp>
      <p:sp>
        <p:nvSpPr>
          <p:cNvPr id="396" name="Google Shape;396;p27"/>
          <p:cNvSpPr/>
          <p:nvPr/>
        </p:nvSpPr>
        <p:spPr>
          <a:xfrm>
            <a:off x="3806640" y="1306556"/>
            <a:ext cx="519821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2000">
                <a:solidFill>
                  <a:srgbClr val="0070C0"/>
                </a:solidFill>
                <a:latin typeface="Arial"/>
                <a:ea typeface="Arial"/>
                <a:cs typeface="Arial"/>
                <a:sym typeface="Arial"/>
              </a:rPr>
              <a:t>Гипотеза о равенстве распределений</a:t>
            </a:r>
            <a:endParaRPr/>
          </a:p>
        </p:txBody>
      </p:sp>
      <p:sp>
        <p:nvSpPr>
          <p:cNvPr id="397" name="Google Shape;397;p27"/>
          <p:cNvSpPr txBox="1"/>
          <p:nvPr>
            <p:ph idx="12" type="sldNum"/>
          </p:nvPr>
        </p:nvSpPr>
        <p:spPr>
          <a:xfrm>
            <a:off x="11574355" y="6541296"/>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8"/>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04" name="Google Shape;404;p28"/>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05" name="Google Shape;405;p28"/>
          <p:cNvSpPr txBox="1"/>
          <p:nvPr>
            <p:ph idx="4294967295" type="title"/>
          </p:nvPr>
        </p:nvSpPr>
        <p:spPr>
          <a:xfrm>
            <a:off x="1725614" y="170604"/>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Пример 4</a:t>
            </a:r>
            <a:endParaRPr/>
          </a:p>
        </p:txBody>
      </p:sp>
      <p:sp>
        <p:nvSpPr>
          <p:cNvPr id="406" name="Google Shape;406;p28"/>
          <p:cNvSpPr txBox="1"/>
          <p:nvPr>
            <p:ph idx="4294967295" type="body"/>
          </p:nvPr>
        </p:nvSpPr>
        <p:spPr>
          <a:xfrm>
            <a:off x="2058194" y="2036777"/>
            <a:ext cx="9561854" cy="3805238"/>
          </a:xfrm>
          <a:prstGeom prst="rect">
            <a:avLst/>
          </a:prstGeom>
          <a:noFill/>
          <a:ln>
            <a:noFill/>
          </a:ln>
        </p:spPr>
        <p:txBody>
          <a:bodyPr anchorCtr="0" anchor="t" bIns="45700" lIns="91425" spcFirstLastPara="1" rIns="91425" wrap="square" tIns="45700">
            <a:normAutofit/>
          </a:bodyPr>
          <a:lstStyle/>
          <a:p>
            <a:pPr indent="-357188" lvl="0" marL="357188" rtl="0" algn="l">
              <a:lnSpc>
                <a:spcPct val="90000"/>
              </a:lnSpc>
              <a:spcBef>
                <a:spcPts val="0"/>
              </a:spcBef>
              <a:spcAft>
                <a:spcPts val="0"/>
              </a:spcAft>
              <a:buClr>
                <a:srgbClr val="CC9900"/>
              </a:buClr>
              <a:buSzPts val="1891"/>
              <a:buFont typeface="Noto Sans Symbols"/>
              <a:buChar char="■"/>
            </a:pPr>
            <a:r>
              <a:rPr lang="ru-RU" sz="2909"/>
              <a:t>Фирма изучает постоянных покупателей своей продукции, чтобы увеличить их лояльность и количество.</a:t>
            </a:r>
            <a:endParaRPr/>
          </a:p>
          <a:p>
            <a:pPr indent="-172466" lvl="0" marL="357188" rtl="0" algn="l">
              <a:lnSpc>
                <a:spcPct val="90000"/>
              </a:lnSpc>
              <a:spcBef>
                <a:spcPts val="724"/>
              </a:spcBef>
              <a:spcAft>
                <a:spcPts val="0"/>
              </a:spcAft>
              <a:buClr>
                <a:schemeClr val="dk1"/>
              </a:buClr>
              <a:buSzPts val="2909"/>
              <a:buNone/>
            </a:pPr>
            <a:r>
              <a:t/>
            </a:r>
            <a:endParaRPr sz="2909"/>
          </a:p>
          <a:p>
            <a:pPr indent="-357188" lvl="0" marL="357188" rtl="0" algn="l">
              <a:lnSpc>
                <a:spcPct val="90000"/>
              </a:lnSpc>
              <a:spcBef>
                <a:spcPts val="724"/>
              </a:spcBef>
              <a:spcAft>
                <a:spcPts val="0"/>
              </a:spcAft>
              <a:buClr>
                <a:srgbClr val="CC9900"/>
              </a:buClr>
              <a:buSzPts val="1891"/>
              <a:buFont typeface="Noto Sans Symbols"/>
              <a:buChar char="■"/>
            </a:pPr>
            <a:r>
              <a:rPr lang="ru-RU" sz="2909"/>
              <a:t>В рамках этой задачи аналитик проверяет, зависит ли лояльность потребителя от его пола, возраста, уровня образования.</a:t>
            </a:r>
            <a:endParaRPr/>
          </a:p>
        </p:txBody>
      </p:sp>
      <p:sp>
        <p:nvSpPr>
          <p:cNvPr id="407" name="Google Shape;407;p28"/>
          <p:cNvSpPr/>
          <p:nvPr/>
        </p:nvSpPr>
        <p:spPr>
          <a:xfrm>
            <a:off x="4249469" y="1382126"/>
            <a:ext cx="350256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2000">
                <a:solidFill>
                  <a:srgbClr val="0070C0"/>
                </a:solidFill>
                <a:latin typeface="Arial"/>
                <a:ea typeface="Arial"/>
                <a:cs typeface="Arial"/>
                <a:sym typeface="Arial"/>
              </a:rPr>
              <a:t>Гипотеза о зависимости</a:t>
            </a:r>
            <a:endParaRPr/>
          </a:p>
        </p:txBody>
      </p:sp>
      <p:sp>
        <p:nvSpPr>
          <p:cNvPr id="408" name="Google Shape;408;p28"/>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9"/>
          <p:cNvSpPr/>
          <p:nvPr/>
        </p:nvSpPr>
        <p:spPr>
          <a:xfrm>
            <a:off x="1438276" y="322263"/>
            <a:ext cx="11050032"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15" name="Google Shape;415;p29"/>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16" name="Google Shape;416;p29"/>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Пример 4. Часть 2</a:t>
            </a:r>
            <a:endParaRPr/>
          </a:p>
        </p:txBody>
      </p:sp>
      <p:sp>
        <p:nvSpPr>
          <p:cNvPr id="417" name="Google Shape;417;p29"/>
          <p:cNvSpPr txBox="1"/>
          <p:nvPr>
            <p:ph idx="4294967295" type="body"/>
          </p:nvPr>
        </p:nvSpPr>
        <p:spPr>
          <a:xfrm>
            <a:off x="1195390" y="1848187"/>
            <a:ext cx="10755360" cy="4708525"/>
          </a:xfrm>
          <a:prstGeom prst="rect">
            <a:avLst/>
          </a:prstGeom>
          <a:noFill/>
          <a:ln>
            <a:noFill/>
          </a:ln>
        </p:spPr>
        <p:txBody>
          <a:bodyPr anchorCtr="0" anchor="t" bIns="45700" lIns="91425" spcFirstLastPara="1" rIns="91425" wrap="square" tIns="45700">
            <a:normAutofit/>
          </a:bodyPr>
          <a:lstStyle/>
          <a:p>
            <a:pPr indent="-271463" lvl="0" marL="271463" rtl="0" algn="l">
              <a:spcBef>
                <a:spcPts val="0"/>
              </a:spcBef>
              <a:spcAft>
                <a:spcPts val="0"/>
              </a:spcAft>
              <a:buClr>
                <a:srgbClr val="CC9900"/>
              </a:buClr>
              <a:buSzPts val="1820"/>
              <a:buFont typeface="Noto Sans Symbols"/>
              <a:buChar char="■"/>
            </a:pPr>
            <a:r>
              <a:rPr lang="ru-RU" sz="2800"/>
              <a:t>Статистическая формулировка: проверить гипотезы о независимости уровня лояльности и</a:t>
            </a:r>
            <a:endParaRPr/>
          </a:p>
          <a:p>
            <a:pPr indent="-271463" lvl="0" marL="271463" rtl="0" algn="l">
              <a:spcBef>
                <a:spcPts val="751"/>
              </a:spcBef>
              <a:spcAft>
                <a:spcPts val="0"/>
              </a:spcAft>
              <a:buClr>
                <a:srgbClr val="CC9900"/>
              </a:buClr>
              <a:buSzPts val="1820"/>
              <a:buFont typeface="Noto Sans Symbols"/>
              <a:buChar char="■"/>
            </a:pPr>
            <a:r>
              <a:rPr lang="ru-RU" sz="2800"/>
              <a:t>а) пола покупателя;</a:t>
            </a:r>
            <a:endParaRPr/>
          </a:p>
          <a:p>
            <a:pPr indent="-271463" lvl="0" marL="271463" rtl="0" algn="l">
              <a:spcBef>
                <a:spcPts val="751"/>
              </a:spcBef>
              <a:spcAft>
                <a:spcPts val="0"/>
              </a:spcAft>
              <a:buClr>
                <a:srgbClr val="CC9900"/>
              </a:buClr>
              <a:buSzPts val="1820"/>
              <a:buFont typeface="Noto Sans Symbols"/>
              <a:buChar char="■"/>
            </a:pPr>
            <a:r>
              <a:rPr lang="ru-RU" sz="2800"/>
              <a:t>б) возраста покупателя;</a:t>
            </a:r>
            <a:endParaRPr/>
          </a:p>
          <a:p>
            <a:pPr indent="-271463" lvl="0" marL="271463" rtl="0" algn="l">
              <a:spcBef>
                <a:spcPts val="751"/>
              </a:spcBef>
              <a:spcAft>
                <a:spcPts val="0"/>
              </a:spcAft>
              <a:buClr>
                <a:srgbClr val="CC9900"/>
              </a:buClr>
              <a:buSzPts val="1820"/>
              <a:buFont typeface="Noto Sans Symbols"/>
              <a:buChar char="■"/>
            </a:pPr>
            <a:r>
              <a:rPr lang="ru-RU" sz="2800"/>
              <a:t>в)  уровня образования покупателя.</a:t>
            </a:r>
            <a:endParaRPr/>
          </a:p>
          <a:p>
            <a:pPr indent="-271463" lvl="0" marL="271463" rtl="0" algn="l">
              <a:spcBef>
                <a:spcPts val="640"/>
              </a:spcBef>
              <a:spcAft>
                <a:spcPts val="0"/>
              </a:spcAft>
              <a:buClr>
                <a:srgbClr val="CC9900"/>
              </a:buClr>
              <a:buSzPts val="2080"/>
              <a:buFont typeface="Noto Sans Symbols"/>
              <a:buChar char="■"/>
            </a:pPr>
            <a:r>
              <a:rPr lang="ru-RU" sz="3200"/>
              <a:t>Далее, можно проверить, различаются ли средние значения изучаемых показателей у лояльных и нелояльных покупателей.</a:t>
            </a:r>
            <a:endParaRPr/>
          </a:p>
        </p:txBody>
      </p:sp>
      <p:sp>
        <p:nvSpPr>
          <p:cNvPr id="418" name="Google Shape;418;p29"/>
          <p:cNvSpPr/>
          <p:nvPr/>
        </p:nvSpPr>
        <p:spPr>
          <a:xfrm>
            <a:off x="4582844" y="1316007"/>
            <a:ext cx="350256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2000">
                <a:solidFill>
                  <a:srgbClr val="0070C0"/>
                </a:solidFill>
                <a:latin typeface="Arial"/>
                <a:ea typeface="Arial"/>
                <a:cs typeface="Arial"/>
                <a:sym typeface="Arial"/>
              </a:rPr>
              <a:t>Гипотеза о зависимости</a:t>
            </a:r>
            <a:endParaRPr/>
          </a:p>
        </p:txBody>
      </p:sp>
      <p:sp>
        <p:nvSpPr>
          <p:cNvPr id="419" name="Google Shape;419;p29"/>
          <p:cNvSpPr txBox="1"/>
          <p:nvPr>
            <p:ph idx="12" type="sldNum"/>
          </p:nvPr>
        </p:nvSpPr>
        <p:spPr>
          <a:xfrm>
            <a:off x="11510525" y="6614320"/>
            <a:ext cx="880449"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0"/>
          <p:cNvSpPr/>
          <p:nvPr/>
        </p:nvSpPr>
        <p:spPr>
          <a:xfrm>
            <a:off x="1868488" y="3140076"/>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26" name="Google Shape;426;p30"/>
          <p:cNvSpPr/>
          <p:nvPr/>
        </p:nvSpPr>
        <p:spPr>
          <a:xfrm>
            <a:off x="2225676" y="3362326"/>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2</a:t>
            </a:r>
            <a:endParaRPr/>
          </a:p>
        </p:txBody>
      </p:sp>
      <p:sp>
        <p:nvSpPr>
          <p:cNvPr id="427" name="Google Shape;427;p30"/>
          <p:cNvSpPr/>
          <p:nvPr/>
        </p:nvSpPr>
        <p:spPr>
          <a:xfrm>
            <a:off x="3169057" y="3162045"/>
            <a:ext cx="6680284" cy="117970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4400">
                <a:solidFill>
                  <a:schemeClr val="lt1"/>
                </a:solidFill>
                <a:latin typeface="Arial"/>
                <a:ea typeface="Arial"/>
                <a:cs typeface="Arial"/>
                <a:sym typeface="Arial"/>
              </a:rPr>
              <a:t>Технологии проверки</a:t>
            </a:r>
            <a:endParaRPr/>
          </a:p>
          <a:p>
            <a:pPr indent="0" lvl="0" marL="0" marR="0" rtl="0" algn="ctr">
              <a:spcBef>
                <a:spcPts val="0"/>
              </a:spcBef>
              <a:spcAft>
                <a:spcPts val="0"/>
              </a:spcAft>
              <a:buNone/>
            </a:pPr>
            <a:r>
              <a:rPr lang="ru-RU" sz="4400">
                <a:solidFill>
                  <a:schemeClr val="lt1"/>
                </a:solidFill>
                <a:latin typeface="Arial"/>
                <a:ea typeface="Arial"/>
                <a:cs typeface="Arial"/>
                <a:sym typeface="Arial"/>
              </a:rPr>
              <a:t>статистических гипотез</a:t>
            </a:r>
            <a:endParaRPr/>
          </a:p>
        </p:txBody>
      </p:sp>
      <p:sp>
        <p:nvSpPr>
          <p:cNvPr id="428" name="Google Shape;428;p30"/>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1"/>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35" name="Google Shape;435;p31"/>
          <p:cNvSpPr/>
          <p:nvPr/>
        </p:nvSpPr>
        <p:spPr>
          <a:xfrm>
            <a:off x="1438276"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36" name="Google Shape;436;p31"/>
          <p:cNvSpPr txBox="1"/>
          <p:nvPr>
            <p:ph idx="4294967295" type="title"/>
          </p:nvPr>
        </p:nvSpPr>
        <p:spPr>
          <a:xfrm>
            <a:off x="2023270" y="322264"/>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Определение</a:t>
            </a:r>
            <a:endParaRPr/>
          </a:p>
        </p:txBody>
      </p:sp>
      <p:sp>
        <p:nvSpPr>
          <p:cNvPr id="437" name="Google Shape;437;p31"/>
          <p:cNvSpPr txBox="1"/>
          <p:nvPr>
            <p:ph idx="4294967295" type="body"/>
          </p:nvPr>
        </p:nvSpPr>
        <p:spPr>
          <a:xfrm>
            <a:off x="2130612" y="1840707"/>
            <a:ext cx="8550275" cy="2333625"/>
          </a:xfrm>
          <a:prstGeom prst="rect">
            <a:avLst/>
          </a:prstGeom>
          <a:noFill/>
          <a:ln>
            <a:noFill/>
          </a:ln>
        </p:spPr>
        <p:txBody>
          <a:bodyPr anchorCtr="0" anchor="t" bIns="45700" lIns="91425" spcFirstLastPara="1" rIns="91425" wrap="square" tIns="45700">
            <a:normAutofit/>
          </a:bodyPr>
          <a:lstStyle/>
          <a:p>
            <a:pPr indent="-132080" lvl="0" marL="0" rtl="0" algn="l">
              <a:spcBef>
                <a:spcPts val="0"/>
              </a:spcBef>
              <a:spcAft>
                <a:spcPts val="0"/>
              </a:spcAft>
              <a:buClr>
                <a:srgbClr val="CC9900"/>
              </a:buClr>
              <a:buSzPts val="2080"/>
              <a:buFont typeface="Noto Sans Symbols"/>
              <a:buChar char="■"/>
            </a:pPr>
            <a:r>
              <a:rPr lang="ru-RU" sz="3200"/>
              <a:t> Проверку гипотез на основе выборочных статистических данных называют </a:t>
            </a:r>
            <a:r>
              <a:rPr b="1" i="1" lang="ru-RU" sz="3200">
                <a:solidFill>
                  <a:srgbClr val="0000FF"/>
                </a:solidFill>
              </a:rPr>
              <a:t>статистической проверкой гипотез.</a:t>
            </a:r>
            <a:endParaRPr/>
          </a:p>
        </p:txBody>
      </p:sp>
      <p:sp>
        <p:nvSpPr>
          <p:cNvPr id="438" name="Google Shape;438;p31"/>
          <p:cNvSpPr txBox="1"/>
          <p:nvPr>
            <p:ph idx="12" type="sldNum"/>
          </p:nvPr>
        </p:nvSpPr>
        <p:spPr>
          <a:xfrm>
            <a:off x="10222557" y="6605015"/>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2"/>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45" name="Google Shape;445;p32"/>
          <p:cNvSpPr/>
          <p:nvPr/>
        </p:nvSpPr>
        <p:spPr>
          <a:xfrm>
            <a:off x="1438275" y="322263"/>
            <a:ext cx="10948119" cy="658667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46" name="Google Shape;446;p32"/>
          <p:cNvSpPr/>
          <p:nvPr/>
        </p:nvSpPr>
        <p:spPr>
          <a:xfrm>
            <a:off x="1582738" y="1127585"/>
            <a:ext cx="10530282"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47" name="Google Shape;447;p32"/>
          <p:cNvSpPr txBox="1"/>
          <p:nvPr>
            <p:ph idx="4294967295" type="title"/>
          </p:nvPr>
        </p:nvSpPr>
        <p:spPr>
          <a:xfrm>
            <a:off x="1195389" y="288925"/>
            <a:ext cx="8550275" cy="6937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Альтернативные гипотезы</a:t>
            </a:r>
            <a:endParaRPr/>
          </a:p>
        </p:txBody>
      </p:sp>
      <p:sp>
        <p:nvSpPr>
          <p:cNvPr id="448" name="Google Shape;448;p32"/>
          <p:cNvSpPr txBox="1"/>
          <p:nvPr>
            <p:ph idx="4294967295" type="body"/>
          </p:nvPr>
        </p:nvSpPr>
        <p:spPr>
          <a:xfrm>
            <a:off x="1420020" y="1042864"/>
            <a:ext cx="10674745" cy="5664200"/>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2400"/>
              <a:buChar char="•"/>
            </a:pPr>
            <a:r>
              <a:rPr lang="ru-RU" sz="2400"/>
              <a:t>При проверке статистических гипотез исследователь всегда имеет дело не с одной, а с двумя гипотезами, которые обозначаются как </a:t>
            </a:r>
            <a:r>
              <a:rPr b="1" i="1" lang="ru-RU" sz="2400"/>
              <a:t>Н</a:t>
            </a:r>
            <a:r>
              <a:rPr baseline="-25000" lang="ru-RU" sz="2400"/>
              <a:t>0</a:t>
            </a:r>
            <a:r>
              <a:rPr lang="ru-RU" sz="2400"/>
              <a:t> и </a:t>
            </a:r>
            <a:r>
              <a:rPr b="1" i="1" lang="ru-RU" sz="2400"/>
              <a:t>Н</a:t>
            </a:r>
            <a:r>
              <a:rPr baseline="-25000" lang="ru-RU" sz="2400"/>
              <a:t>1</a:t>
            </a:r>
            <a:r>
              <a:rPr lang="ru-RU" sz="2400"/>
              <a:t>. Одна из этих гипотез называется </a:t>
            </a:r>
            <a:r>
              <a:rPr b="1" lang="ru-RU" sz="2400"/>
              <a:t>основной</a:t>
            </a:r>
            <a:r>
              <a:rPr lang="ru-RU" sz="2400"/>
              <a:t>, другая – </a:t>
            </a:r>
            <a:r>
              <a:rPr b="1" lang="ru-RU" sz="2400"/>
              <a:t>альтернативной</a:t>
            </a:r>
            <a:r>
              <a:rPr lang="ru-RU" sz="2400"/>
              <a:t>, т.е. опровергающей нулевую.</a:t>
            </a:r>
            <a:endParaRPr/>
          </a:p>
          <a:p>
            <a:pPr indent="-356307" lvl="0" marL="356307" rtl="0" algn="l">
              <a:spcBef>
                <a:spcPts val="480"/>
              </a:spcBef>
              <a:spcAft>
                <a:spcPts val="0"/>
              </a:spcAft>
              <a:buClr>
                <a:schemeClr val="dk1"/>
              </a:buClr>
              <a:buSzPts val="2400"/>
              <a:buChar char="•"/>
            </a:pPr>
            <a:r>
              <a:rPr b="1" i="1" lang="ru-RU" sz="2400"/>
              <a:t>Нулевая гипотеза Н</a:t>
            </a:r>
            <a:r>
              <a:rPr baseline="-25000" lang="ru-RU" sz="2400"/>
              <a:t>0</a:t>
            </a:r>
            <a:r>
              <a:rPr lang="ru-RU" sz="2400"/>
              <a:t> всегда конкретна. Она всегда утверждает какое-то конкретное значение параметра распределения. Например, гипотеза, касающаяся математического ожидания, может формулироваться следующим образом: </a:t>
            </a:r>
            <a:r>
              <a:rPr b="1" i="1" lang="ru-RU" sz="2400">
                <a:solidFill>
                  <a:srgbClr val="0000FF"/>
                </a:solidFill>
              </a:rPr>
              <a:t>μ = А</a:t>
            </a:r>
            <a:r>
              <a:rPr b="1" i="1" lang="ru-RU" sz="2400"/>
              <a:t>,</a:t>
            </a:r>
            <a:r>
              <a:rPr lang="ru-RU" sz="2400"/>
              <a:t> где </a:t>
            </a:r>
            <a:r>
              <a:rPr b="1" i="1" lang="ru-RU" sz="2400"/>
              <a:t>А</a:t>
            </a:r>
            <a:r>
              <a:rPr lang="ru-RU" sz="2400"/>
              <a:t> – некоторое конкретное значение μ, а гипотеза, касающаяся равенства двух величин дисперсии:</a:t>
            </a:r>
            <a:r>
              <a:rPr b="1" i="1" lang="ru-RU" sz="2400">
                <a:solidFill>
                  <a:srgbClr val="0000FF"/>
                </a:solidFill>
              </a:rPr>
              <a:t> σ</a:t>
            </a:r>
            <a:r>
              <a:rPr b="1" baseline="-25000" i="1" lang="ru-RU" sz="2400">
                <a:solidFill>
                  <a:srgbClr val="0000FF"/>
                </a:solidFill>
              </a:rPr>
              <a:t>1</a:t>
            </a:r>
            <a:r>
              <a:rPr b="1" i="1" lang="ru-RU" sz="2400">
                <a:solidFill>
                  <a:srgbClr val="0000FF"/>
                </a:solidFill>
              </a:rPr>
              <a:t> = σ</a:t>
            </a:r>
            <a:r>
              <a:rPr b="1" baseline="-25000" i="1" lang="ru-RU" sz="2400">
                <a:solidFill>
                  <a:srgbClr val="0000FF"/>
                </a:solidFill>
              </a:rPr>
              <a:t>2</a:t>
            </a:r>
            <a:r>
              <a:rPr lang="ru-RU" sz="2400"/>
              <a:t>.</a:t>
            </a:r>
            <a:endParaRPr/>
          </a:p>
          <a:p>
            <a:pPr indent="-356307" lvl="0" marL="356307" rtl="0" algn="l">
              <a:spcBef>
                <a:spcPts val="480"/>
              </a:spcBef>
              <a:spcAft>
                <a:spcPts val="0"/>
              </a:spcAft>
              <a:buClr>
                <a:schemeClr val="dk1"/>
              </a:buClr>
              <a:buSzPts val="2400"/>
              <a:buChar char="•"/>
            </a:pPr>
            <a:r>
              <a:rPr b="1" i="1" lang="ru-RU" sz="2400"/>
              <a:t>Альтернативная гипотеза Н</a:t>
            </a:r>
            <a:r>
              <a:rPr baseline="-25000" lang="ru-RU" sz="2400"/>
              <a:t>1</a:t>
            </a:r>
            <a:r>
              <a:rPr lang="ru-RU" sz="2400"/>
              <a:t> формулируется всегда менее конкретно, например: μ &gt; </a:t>
            </a:r>
            <a:r>
              <a:rPr b="1" i="1" lang="ru-RU" sz="2400"/>
              <a:t>А</a:t>
            </a:r>
            <a:r>
              <a:rPr lang="ru-RU" sz="2400"/>
              <a:t>. Но, как правило, оказывается так, что экспериментатора интересует не конкретная нулевая гипотеза </a:t>
            </a:r>
            <a:r>
              <a:rPr b="1" i="1" lang="ru-RU" sz="2400"/>
              <a:t> Н</a:t>
            </a:r>
            <a:r>
              <a:rPr baseline="-25000" lang="ru-RU" sz="2400"/>
              <a:t>0</a:t>
            </a:r>
            <a:r>
              <a:rPr lang="ru-RU" sz="2400"/>
              <a:t>, а как раз менее конкретная альтернативная гипотеза </a:t>
            </a:r>
            <a:r>
              <a:rPr b="1" i="1" lang="ru-RU" sz="2400"/>
              <a:t> Н</a:t>
            </a:r>
            <a:r>
              <a:rPr baseline="-25000" lang="ru-RU" sz="2400"/>
              <a:t>1</a:t>
            </a:r>
            <a:r>
              <a:rPr lang="ru-RU" sz="2400"/>
              <a:t>, так как именно она в большей степени соответствует проверяемой им в эксперименте научной гипотезе.</a:t>
            </a:r>
            <a:endParaRPr/>
          </a:p>
        </p:txBody>
      </p:sp>
      <p:sp>
        <p:nvSpPr>
          <p:cNvPr id="449" name="Google Shape;449;p32"/>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3"/>
          <p:cNvSpPr/>
          <p:nvPr/>
        </p:nvSpPr>
        <p:spPr>
          <a:xfrm>
            <a:off x="501477" y="322263"/>
            <a:ext cx="1173730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graphicFrame>
        <p:nvGraphicFramePr>
          <p:cNvPr id="455" name="Google Shape;455;p33"/>
          <p:cNvGraphicFramePr/>
          <p:nvPr/>
        </p:nvGraphicFramePr>
        <p:xfrm>
          <a:off x="2229670" y="1155794"/>
          <a:ext cx="7862791" cy="3954580"/>
        </p:xfrm>
        <a:graphic>
          <a:graphicData uri="http://schemas.openxmlformats.org/presentationml/2006/ole">
            <mc:AlternateContent>
              <mc:Choice Requires="v">
                <p:oleObj r:id="rId4" imgH="3954580" imgW="7862791" progId="Word.Document.8" spid="_x0000_s1">
                  <p:embed/>
                </p:oleObj>
              </mc:Choice>
              <mc:Fallback>
                <p:oleObj r:id="rId5" imgH="3954580" imgW="7862791" progId="Word.Document.8">
                  <p:embed/>
                  <p:pic>
                    <p:nvPicPr>
                      <p:cNvPr id="455" name="Google Shape;455;p33"/>
                      <p:cNvPicPr preferRelativeResize="0"/>
                      <p:nvPr/>
                    </p:nvPicPr>
                    <p:blipFill rotWithShape="1">
                      <a:blip r:embed="rId6">
                        <a:alphaModFix/>
                      </a:blip>
                      <a:srcRect b="0" l="0" r="0" t="0"/>
                      <a:stretch/>
                    </p:blipFill>
                    <p:spPr>
                      <a:xfrm>
                        <a:off x="2229670" y="1155794"/>
                        <a:ext cx="7862791" cy="3954580"/>
                      </a:xfrm>
                      <a:prstGeom prst="rect">
                        <a:avLst/>
                      </a:prstGeom>
                      <a:noFill/>
                      <a:ln>
                        <a:noFill/>
                      </a:ln>
                    </p:spPr>
                  </p:pic>
                </p:oleObj>
              </mc:Fallback>
            </mc:AlternateContent>
          </a:graphicData>
        </a:graphic>
      </p:graphicFrame>
      <p:sp>
        <p:nvSpPr>
          <p:cNvPr id="456" name="Google Shape;456;p33"/>
          <p:cNvSpPr txBox="1"/>
          <p:nvPr/>
        </p:nvSpPr>
        <p:spPr>
          <a:xfrm>
            <a:off x="2085976" y="5473397"/>
            <a:ext cx="8684046"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b="1" lang="ru-RU" sz="1800">
                <a:solidFill>
                  <a:schemeClr val="dk1"/>
                </a:solidFill>
                <a:latin typeface="Arial"/>
                <a:ea typeface="Arial"/>
                <a:cs typeface="Arial"/>
                <a:sym typeface="Arial"/>
              </a:rPr>
              <a:t>Заметим</a:t>
            </a:r>
            <a:r>
              <a:rPr lang="ru-RU" sz="1800">
                <a:solidFill>
                  <a:schemeClr val="dk1"/>
                </a:solidFill>
                <a:latin typeface="Arial"/>
                <a:ea typeface="Arial"/>
                <a:cs typeface="Arial"/>
                <a:sym typeface="Arial"/>
              </a:rPr>
              <a:t>: ошибку 1-го рода можно сделать только </a:t>
            </a:r>
            <a:r>
              <a:rPr lang="ru-RU" sz="1800" u="sng">
                <a:solidFill>
                  <a:schemeClr val="dk1"/>
                </a:solidFill>
                <a:latin typeface="Arial"/>
                <a:ea typeface="Arial"/>
                <a:cs typeface="Arial"/>
                <a:sym typeface="Arial"/>
              </a:rPr>
              <a:t>отвергая </a:t>
            </a:r>
            <a:r>
              <a:rPr lang="ru-RU" sz="1800">
                <a:solidFill>
                  <a:schemeClr val="dk1"/>
                </a:solidFill>
                <a:latin typeface="Arial"/>
                <a:ea typeface="Arial"/>
                <a:cs typeface="Arial"/>
                <a:sym typeface="Arial"/>
              </a:rPr>
              <a:t>Н</a:t>
            </a:r>
            <a:r>
              <a:rPr baseline="-25000" lang="ru-RU" sz="1800">
                <a:solidFill>
                  <a:schemeClr val="dk1"/>
                </a:solidFill>
                <a:latin typeface="Arial"/>
                <a:ea typeface="Arial"/>
                <a:cs typeface="Arial"/>
                <a:sym typeface="Arial"/>
              </a:rPr>
              <a:t>0</a:t>
            </a:r>
            <a:r>
              <a:rPr lang="ru-RU" sz="1800">
                <a:solidFill>
                  <a:schemeClr val="dk1"/>
                </a:solidFill>
                <a:latin typeface="Arial"/>
                <a:ea typeface="Arial"/>
                <a:cs typeface="Arial"/>
                <a:sym typeface="Arial"/>
              </a:rPr>
              <a:t>, а ошибку 2-го рода – только «</a:t>
            </a:r>
            <a:r>
              <a:rPr lang="ru-RU" sz="1800" u="sng">
                <a:solidFill>
                  <a:schemeClr val="dk1"/>
                </a:solidFill>
                <a:latin typeface="Arial"/>
                <a:ea typeface="Arial"/>
                <a:cs typeface="Arial"/>
                <a:sym typeface="Arial"/>
              </a:rPr>
              <a:t>принимая</a:t>
            </a:r>
            <a:r>
              <a:rPr lang="ru-RU" sz="1800">
                <a:solidFill>
                  <a:schemeClr val="dk1"/>
                </a:solidFill>
                <a:latin typeface="Arial"/>
                <a:ea typeface="Arial"/>
                <a:cs typeface="Arial"/>
                <a:sym typeface="Arial"/>
              </a:rPr>
              <a:t>» Н</a:t>
            </a:r>
            <a:r>
              <a:rPr baseline="-25000" lang="ru-RU" sz="1800">
                <a:solidFill>
                  <a:schemeClr val="dk1"/>
                </a:solidFill>
                <a:latin typeface="Arial"/>
                <a:ea typeface="Arial"/>
                <a:cs typeface="Arial"/>
                <a:sym typeface="Arial"/>
              </a:rPr>
              <a:t>0</a:t>
            </a:r>
            <a:r>
              <a:rPr lang="ru-RU" sz="1800">
                <a:solidFill>
                  <a:schemeClr val="dk1"/>
                </a:solidFill>
                <a:latin typeface="Arial"/>
                <a:ea typeface="Arial"/>
                <a:cs typeface="Arial"/>
                <a:sym typeface="Arial"/>
              </a:rPr>
              <a:t> (нельзя сделать одновременно обе ошибки).</a:t>
            </a:r>
            <a:endParaRPr/>
          </a:p>
          <a:p>
            <a:pPr indent="0" lvl="0" marL="0" marR="0" rtl="0" algn="l">
              <a:spcBef>
                <a:spcPts val="900"/>
              </a:spcBef>
              <a:spcAft>
                <a:spcPts val="0"/>
              </a:spcAft>
              <a:buClr>
                <a:schemeClr val="dk1"/>
              </a:buClr>
              <a:buSzPts val="1800"/>
              <a:buFont typeface="Noto Sans Symbols"/>
              <a:buNone/>
            </a:pPr>
            <a:r>
              <a:rPr lang="ru-RU" sz="1800">
                <a:solidFill>
                  <a:schemeClr val="dk1"/>
                </a:solidFill>
                <a:latin typeface="Arial"/>
                <a:ea typeface="Arial"/>
                <a:cs typeface="Arial"/>
                <a:sym typeface="Arial"/>
              </a:rPr>
              <a:t>И мощность нас интересует, в первую очередь, если мы не отвергли Н</a:t>
            </a:r>
            <a:r>
              <a:rPr baseline="-25000" lang="ru-RU" sz="1800">
                <a:solidFill>
                  <a:schemeClr val="dk1"/>
                </a:solidFill>
                <a:latin typeface="Arial"/>
                <a:ea typeface="Arial"/>
                <a:cs typeface="Arial"/>
                <a:sym typeface="Arial"/>
              </a:rPr>
              <a:t>0</a:t>
            </a:r>
            <a:endParaRPr/>
          </a:p>
        </p:txBody>
      </p:sp>
      <p:sp>
        <p:nvSpPr>
          <p:cNvPr id="457" name="Google Shape;457;p33"/>
          <p:cNvSpPr txBox="1"/>
          <p:nvPr/>
        </p:nvSpPr>
        <p:spPr>
          <a:xfrm>
            <a:off x="7333555" y="3481600"/>
            <a:ext cx="673038" cy="494783"/>
          </a:xfrm>
          <a:prstGeom prst="rect">
            <a:avLst/>
          </a:prstGeom>
          <a:solidFill>
            <a:schemeClr val="lt1">
              <a:alpha val="5372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94"/>
              <a:buFont typeface="Noto Sans Symbols"/>
              <a:buNone/>
            </a:pPr>
            <a:r>
              <a:rPr lang="ru-RU" sz="2494">
                <a:solidFill>
                  <a:schemeClr val="dk1"/>
                </a:solidFill>
                <a:latin typeface="Arial"/>
                <a:ea typeface="Arial"/>
                <a:cs typeface="Arial"/>
                <a:sym typeface="Arial"/>
              </a:rPr>
              <a:t>1-</a:t>
            </a:r>
            <a:r>
              <a:rPr lang="ru-RU" sz="2494">
                <a:solidFill>
                  <a:schemeClr val="dk1"/>
                </a:solidFill>
                <a:latin typeface="Times New Roman"/>
                <a:ea typeface="Times New Roman"/>
                <a:cs typeface="Times New Roman"/>
                <a:sym typeface="Times New Roman"/>
              </a:rPr>
              <a:t>β</a:t>
            </a:r>
            <a:endParaRPr/>
          </a:p>
        </p:txBody>
      </p:sp>
      <p:sp>
        <p:nvSpPr>
          <p:cNvPr id="458" name="Google Shape;458;p33"/>
          <p:cNvSpPr txBox="1"/>
          <p:nvPr/>
        </p:nvSpPr>
        <p:spPr>
          <a:xfrm>
            <a:off x="7460431" y="2346926"/>
            <a:ext cx="374459" cy="494783"/>
          </a:xfrm>
          <a:prstGeom prst="rect">
            <a:avLst/>
          </a:prstGeom>
          <a:solidFill>
            <a:schemeClr val="lt1">
              <a:alpha val="5372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94"/>
              <a:buFont typeface="Noto Sans Symbols"/>
              <a:buNone/>
            </a:pPr>
            <a:r>
              <a:rPr lang="ru-RU" sz="2494">
                <a:solidFill>
                  <a:schemeClr val="dk1"/>
                </a:solidFill>
                <a:latin typeface="Times New Roman"/>
                <a:ea typeface="Times New Roman"/>
                <a:cs typeface="Times New Roman"/>
                <a:sym typeface="Times New Roman"/>
              </a:rPr>
              <a:t>β</a:t>
            </a:r>
            <a:endParaRPr/>
          </a:p>
        </p:txBody>
      </p:sp>
      <p:sp>
        <p:nvSpPr>
          <p:cNvPr id="459" name="Google Shape;459;p33"/>
          <p:cNvSpPr txBox="1"/>
          <p:nvPr/>
        </p:nvSpPr>
        <p:spPr>
          <a:xfrm>
            <a:off x="6959095" y="3481600"/>
            <a:ext cx="374461" cy="494783"/>
          </a:xfrm>
          <a:prstGeom prst="rect">
            <a:avLst/>
          </a:prstGeom>
          <a:solidFill>
            <a:schemeClr val="lt1">
              <a:alpha val="5372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94"/>
              <a:buFont typeface="Noto Sans Symbols"/>
              <a:buNone/>
            </a:pPr>
            <a:r>
              <a:rPr lang="ru-RU" sz="2494">
                <a:solidFill>
                  <a:schemeClr val="dk1"/>
                </a:solidFill>
                <a:latin typeface="Times New Roman"/>
                <a:ea typeface="Times New Roman"/>
                <a:cs typeface="Times New Roman"/>
                <a:sym typeface="Times New Roman"/>
              </a:rPr>
              <a:t>α</a:t>
            </a:r>
            <a:endParaRPr/>
          </a:p>
        </p:txBody>
      </p:sp>
      <p:sp>
        <p:nvSpPr>
          <p:cNvPr id="460" name="Google Shape;460;p33"/>
          <p:cNvSpPr txBox="1"/>
          <p:nvPr/>
        </p:nvSpPr>
        <p:spPr>
          <a:xfrm>
            <a:off x="6884990" y="2364773"/>
            <a:ext cx="597156" cy="494783"/>
          </a:xfrm>
          <a:prstGeom prst="rect">
            <a:avLst/>
          </a:prstGeom>
          <a:solidFill>
            <a:schemeClr val="lt1">
              <a:alpha val="53725"/>
            </a:schemeClr>
          </a:solidFill>
          <a:ln>
            <a:noFill/>
          </a:ln>
        </p:spPr>
        <p:txBody>
          <a:bodyPr anchorCtr="0" anchor="t" bIns="45700" lIns="56100" spcFirstLastPara="1" rIns="56100" wrap="square" tIns="45700">
            <a:spAutoFit/>
          </a:bodyPr>
          <a:lstStyle/>
          <a:p>
            <a:pPr indent="0" lvl="0" marL="0" marR="0" rtl="0" algn="l">
              <a:spcBef>
                <a:spcPts val="0"/>
              </a:spcBef>
              <a:spcAft>
                <a:spcPts val="0"/>
              </a:spcAft>
              <a:buClr>
                <a:schemeClr val="dk1"/>
              </a:buClr>
              <a:buSzPts val="2494"/>
              <a:buFont typeface="Noto Sans Symbols"/>
              <a:buNone/>
            </a:pPr>
            <a:r>
              <a:rPr lang="ru-RU" sz="2494">
                <a:solidFill>
                  <a:schemeClr val="dk1"/>
                </a:solidFill>
                <a:latin typeface="Arial"/>
                <a:ea typeface="Arial"/>
                <a:cs typeface="Arial"/>
                <a:sym typeface="Arial"/>
              </a:rPr>
              <a:t>1-</a:t>
            </a:r>
            <a:r>
              <a:rPr lang="ru-RU" sz="2494">
                <a:solidFill>
                  <a:schemeClr val="dk1"/>
                </a:solidFill>
                <a:latin typeface="Times New Roman"/>
                <a:ea typeface="Times New Roman"/>
                <a:cs typeface="Times New Roman"/>
                <a:sym typeface="Times New Roman"/>
              </a:rPr>
              <a:t>α</a:t>
            </a:r>
            <a:endParaRPr/>
          </a:p>
        </p:txBody>
      </p:sp>
      <p:sp>
        <p:nvSpPr>
          <p:cNvPr id="461" name="Google Shape;461;p33"/>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462" name="Google Shape;462;p33"/>
          <p:cNvSpPr txBox="1"/>
          <p:nvPr/>
        </p:nvSpPr>
        <p:spPr>
          <a:xfrm>
            <a:off x="2223009" y="4200043"/>
            <a:ext cx="8214804"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CC9900"/>
              </a:buClr>
              <a:buSzPts val="1170"/>
              <a:buFont typeface="Noto Sans Symbols"/>
              <a:buChar char="■"/>
            </a:pPr>
            <a:r>
              <a:rPr b="1" lang="ru-RU" sz="1800">
                <a:solidFill>
                  <a:schemeClr val="dk1"/>
                </a:solidFill>
                <a:latin typeface="Arial"/>
                <a:ea typeface="Arial"/>
                <a:cs typeface="Arial"/>
                <a:sym typeface="Arial"/>
              </a:rPr>
              <a:t>Ошибкой первого рода </a:t>
            </a:r>
            <a:r>
              <a:rPr lang="ru-RU" sz="1800">
                <a:solidFill>
                  <a:schemeClr val="dk1"/>
                </a:solidFill>
                <a:latin typeface="Arial"/>
                <a:ea typeface="Arial"/>
                <a:cs typeface="Arial"/>
                <a:sym typeface="Arial"/>
              </a:rPr>
              <a:t>называется ошибка, состоящая в отвержении верной нулевой гипотезы.</a:t>
            </a:r>
            <a:endParaRPr/>
          </a:p>
          <a:p>
            <a:pPr indent="-285750" lvl="0" marL="285750" marR="0" rtl="0" algn="l">
              <a:spcBef>
                <a:spcPts val="0"/>
              </a:spcBef>
              <a:spcAft>
                <a:spcPts val="0"/>
              </a:spcAft>
              <a:buClr>
                <a:srgbClr val="CC9900"/>
              </a:buClr>
              <a:buSzPts val="1170"/>
              <a:buFont typeface="Noto Sans Symbols"/>
              <a:buChar char="■"/>
            </a:pPr>
            <a:r>
              <a:rPr b="1" lang="ru-RU" sz="1800">
                <a:solidFill>
                  <a:schemeClr val="dk1"/>
                </a:solidFill>
                <a:latin typeface="Arial"/>
                <a:ea typeface="Arial"/>
                <a:cs typeface="Arial"/>
                <a:sym typeface="Arial"/>
              </a:rPr>
              <a:t>Ошибкой второго рода</a:t>
            </a:r>
            <a:r>
              <a:rPr lang="ru-RU" sz="1800">
                <a:solidFill>
                  <a:schemeClr val="dk1"/>
                </a:solidFill>
                <a:latin typeface="Arial"/>
                <a:ea typeface="Arial"/>
                <a:cs typeface="Arial"/>
                <a:sym typeface="Arial"/>
              </a:rPr>
              <a:t> принятие основной гипотезы при том, что она ложна.</a:t>
            </a:r>
            <a:endParaRPr/>
          </a:p>
        </p:txBody>
      </p:sp>
      <p:sp>
        <p:nvSpPr>
          <p:cNvPr id="463" name="Google Shape;463;p33"/>
          <p:cNvSpPr txBox="1"/>
          <p:nvPr>
            <p:ph idx="12" type="sldNum"/>
          </p:nvPr>
        </p:nvSpPr>
        <p:spPr>
          <a:xfrm>
            <a:off x="11432943" y="6614320"/>
            <a:ext cx="866530"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4"/>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70" name="Google Shape;470;p34"/>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71" name="Google Shape;471;p34"/>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Как правильно?</a:t>
            </a:r>
            <a:endParaRPr/>
          </a:p>
        </p:txBody>
      </p:sp>
      <p:sp>
        <p:nvSpPr>
          <p:cNvPr id="472" name="Google Shape;472;p34"/>
          <p:cNvSpPr txBox="1"/>
          <p:nvPr>
            <p:ph idx="4294967295" type="body"/>
          </p:nvPr>
        </p:nvSpPr>
        <p:spPr>
          <a:xfrm>
            <a:off x="1819722" y="1432755"/>
            <a:ext cx="9969993" cy="4708525"/>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1560"/>
              <a:buFont typeface="Noto Sans Symbols"/>
              <a:buChar char="■"/>
            </a:pPr>
            <a:r>
              <a:rPr lang="ru-RU" sz="2400">
                <a:solidFill>
                  <a:srgbClr val="FF5050"/>
                </a:solidFill>
              </a:rPr>
              <a:t>Неточно говорить </a:t>
            </a:r>
            <a:r>
              <a:rPr lang="ru-RU" sz="2400"/>
              <a:t>«…выбрана (принята) основная гипотеза…» или «…выбрана альтернативная гипотеза…»</a:t>
            </a:r>
            <a:endParaRPr/>
          </a:p>
        </p:txBody>
      </p:sp>
      <p:sp>
        <p:nvSpPr>
          <p:cNvPr id="473" name="Google Shape;473;p34"/>
          <p:cNvSpPr/>
          <p:nvPr/>
        </p:nvSpPr>
        <p:spPr>
          <a:xfrm>
            <a:off x="1801862" y="2398963"/>
            <a:ext cx="9969993" cy="255454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Arial"/>
              <a:buChar char="•"/>
            </a:pPr>
            <a:r>
              <a:rPr b="1" lang="ru-RU" sz="2000">
                <a:solidFill>
                  <a:schemeClr val="dk1"/>
                </a:solidFill>
                <a:latin typeface="Arial"/>
                <a:ea typeface="Arial"/>
                <a:cs typeface="Arial"/>
                <a:sym typeface="Arial"/>
              </a:rPr>
              <a:t>Гипотеза либо отвергается, либо не отвергается. </a:t>
            </a:r>
            <a:endParaRPr/>
          </a:p>
          <a:p>
            <a:pPr indent="-342900" lvl="0" marL="342900"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Рекомендуется не употреблять слов "принимаем гипотезу" потому что невозможность отвергнуть гипотезу не означает, что она верна и ее стоит придерживаться. Может быть, просто недостаточно оснований или наблюдений, чтобы её отвергнуть. </a:t>
            </a:r>
            <a:endParaRPr/>
          </a:p>
          <a:p>
            <a:pPr indent="-342900" lvl="0" marL="342900"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Если очень хочется или удобно работать именно при таком предположении, то вместо «не отвергаем гипотезу» можно сказать, что  мы «придерживаемся» этой гипотезы.</a:t>
            </a:r>
            <a:endParaRPr/>
          </a:p>
        </p:txBody>
      </p:sp>
      <p:sp>
        <p:nvSpPr>
          <p:cNvPr id="474" name="Google Shape;474;p34"/>
          <p:cNvSpPr txBox="1"/>
          <p:nvPr>
            <p:ph idx="12" type="sldNum"/>
          </p:nvPr>
        </p:nvSpPr>
        <p:spPr>
          <a:xfrm>
            <a:off x="10078541" y="6605015"/>
            <a:ext cx="880449"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475" name="Google Shape;475;p34"/>
          <p:cNvSpPr txBox="1"/>
          <p:nvPr/>
        </p:nvSpPr>
        <p:spPr>
          <a:xfrm>
            <a:off x="1958683" y="5123312"/>
            <a:ext cx="9993766" cy="1439342"/>
          </a:xfrm>
          <a:prstGeom prst="rect">
            <a:avLst/>
          </a:prstGeom>
          <a:noFill/>
          <a:ln>
            <a:noFill/>
          </a:ln>
        </p:spPr>
        <p:txBody>
          <a:bodyPr anchorCtr="0" anchor="t" bIns="45700" lIns="91425" spcFirstLastPara="1" rIns="91425" wrap="square" tIns="45700">
            <a:normAutofit/>
          </a:bodyPr>
          <a:lstStyle/>
          <a:p>
            <a:pPr indent="-271463" lvl="0" marL="271463" marR="0" rtl="0" algn="l">
              <a:spcBef>
                <a:spcPts val="0"/>
              </a:spcBef>
              <a:spcAft>
                <a:spcPts val="0"/>
              </a:spcAft>
              <a:buClr>
                <a:srgbClr val="CC9900"/>
              </a:buClr>
              <a:buSzPts val="1300"/>
              <a:buFont typeface="Noto Sans Symbols"/>
              <a:buChar char="■"/>
            </a:pPr>
            <a:r>
              <a:rPr lang="ru-RU" sz="2000">
                <a:solidFill>
                  <a:schemeClr val="dk1"/>
                </a:solidFill>
                <a:latin typeface="Calibri"/>
                <a:ea typeface="Calibri"/>
                <a:cs typeface="Calibri"/>
                <a:sym typeface="Calibri"/>
              </a:rPr>
              <a:t>Хотя часто можно услышать, что (основная) гипотеза принята, такое выражение неточно.</a:t>
            </a:r>
            <a:endParaRPr/>
          </a:p>
          <a:p>
            <a:pPr indent="-271463" lvl="0" marL="271463" marR="0" rtl="0" algn="l">
              <a:spcBef>
                <a:spcPts val="400"/>
              </a:spcBef>
              <a:spcAft>
                <a:spcPts val="0"/>
              </a:spcAft>
              <a:buClr>
                <a:srgbClr val="CC9900"/>
              </a:buClr>
              <a:buSzPts val="1300"/>
              <a:buFont typeface="Noto Sans Symbols"/>
              <a:buChar char="■"/>
            </a:pPr>
            <a:r>
              <a:rPr lang="ru-RU" sz="2000">
                <a:solidFill>
                  <a:schemeClr val="dk1"/>
                </a:solidFill>
                <a:latin typeface="Calibri"/>
                <a:ea typeface="Calibri"/>
                <a:cs typeface="Calibri"/>
                <a:sym typeface="Calibri"/>
              </a:rPr>
              <a:t>Точнее говорить, что (основная) гипотеза не отвергнута.</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5"/>
          <p:cNvSpPr/>
          <p:nvPr/>
        </p:nvSpPr>
        <p:spPr>
          <a:xfrm>
            <a:off x="861517" y="322263"/>
            <a:ext cx="1108923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82" name="Google Shape;482;p3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83" name="Google Shape;483;p35"/>
          <p:cNvSpPr txBox="1"/>
          <p:nvPr>
            <p:ph idx="4294967295" type="title"/>
          </p:nvPr>
        </p:nvSpPr>
        <p:spPr>
          <a:xfrm>
            <a:off x="2805733" y="288926"/>
            <a:ext cx="6939930"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Как не правильно:</a:t>
            </a:r>
            <a:endParaRPr/>
          </a:p>
        </p:txBody>
      </p:sp>
      <p:sp>
        <p:nvSpPr>
          <p:cNvPr id="484" name="Google Shape;484;p35"/>
          <p:cNvSpPr/>
          <p:nvPr/>
        </p:nvSpPr>
        <p:spPr>
          <a:xfrm>
            <a:off x="2902401" y="2869020"/>
            <a:ext cx="74243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strike="sngStrike">
                <a:solidFill>
                  <a:srgbClr val="FF0000"/>
                </a:solidFill>
                <a:latin typeface="Arial"/>
                <a:ea typeface="Arial"/>
                <a:cs typeface="Arial"/>
                <a:sym typeface="Arial"/>
              </a:rPr>
              <a:t>Гипотеза справедлива с вероятностью 0.86</a:t>
            </a:r>
            <a:endParaRPr/>
          </a:p>
        </p:txBody>
      </p:sp>
      <p:sp>
        <p:nvSpPr>
          <p:cNvPr id="485" name="Google Shape;485;p35"/>
          <p:cNvSpPr/>
          <p:nvPr/>
        </p:nvSpPr>
        <p:spPr>
          <a:xfrm>
            <a:off x="2870252" y="1863024"/>
            <a:ext cx="742431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chemeClr val="dk1"/>
                </a:solidFill>
                <a:latin typeface="Arial"/>
                <a:ea typeface="Arial"/>
                <a:cs typeface="Arial"/>
                <a:sym typeface="Arial"/>
              </a:rPr>
              <a:t>Специалисты по анализу данных пока не научились утверждать степень достоверности:</a:t>
            </a:r>
            <a:endParaRPr/>
          </a:p>
        </p:txBody>
      </p:sp>
      <p:sp>
        <p:nvSpPr>
          <p:cNvPr id="486" name="Google Shape;486;p35"/>
          <p:cNvSpPr txBox="1"/>
          <p:nvPr>
            <p:ph idx="12" type="sldNum"/>
          </p:nvPr>
        </p:nvSpPr>
        <p:spPr>
          <a:xfrm>
            <a:off x="11618535" y="6614320"/>
            <a:ext cx="66442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6"/>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93" name="Google Shape;493;p3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494" name="Google Shape;494;p36"/>
          <p:cNvSpPr txBox="1"/>
          <p:nvPr>
            <p:ph idx="4294967295" type="title"/>
          </p:nvPr>
        </p:nvSpPr>
        <p:spPr>
          <a:xfrm>
            <a:off x="2573820" y="220650"/>
            <a:ext cx="7227962" cy="83866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Пример</a:t>
            </a:r>
            <a:endParaRPr/>
          </a:p>
        </p:txBody>
      </p:sp>
      <p:sp>
        <p:nvSpPr>
          <p:cNvPr id="495" name="Google Shape;495;p36"/>
          <p:cNvSpPr txBox="1"/>
          <p:nvPr>
            <p:ph idx="4294967295" type="body"/>
          </p:nvPr>
        </p:nvSpPr>
        <p:spPr>
          <a:xfrm>
            <a:off x="985587" y="1111140"/>
            <a:ext cx="10887569" cy="1844301"/>
          </a:xfrm>
          <a:prstGeom prst="rect">
            <a:avLst/>
          </a:prstGeom>
          <a:noFill/>
          <a:ln>
            <a:noFill/>
          </a:ln>
        </p:spPr>
        <p:txBody>
          <a:bodyPr anchorCtr="0" anchor="t" bIns="45700" lIns="91425" spcFirstLastPara="1" rIns="91425" wrap="square" tIns="45700">
            <a:noAutofit/>
          </a:bodyPr>
          <a:lstStyle/>
          <a:p>
            <a:pPr indent="0" lvl="0" marL="360363" rtl="0" algn="l">
              <a:lnSpc>
                <a:spcPct val="90000"/>
              </a:lnSpc>
              <a:spcBef>
                <a:spcPts val="0"/>
              </a:spcBef>
              <a:spcAft>
                <a:spcPts val="0"/>
              </a:spcAft>
              <a:buClr>
                <a:srgbClr val="CC9900"/>
              </a:buClr>
              <a:buSzPts val="1560"/>
              <a:buNone/>
            </a:pPr>
            <a:r>
              <a:rPr i="1" lang="ru-RU" sz="2400"/>
              <a:t>Фармацевтическая компания выпускает лекарство, аналогичное уже существующему, так называемый "дженерик" (generic) вместо оригинального, производимого разработчиком ("brand-named").  Компания проводит исследование, проверяющее, что лекарство-аналог эквивалентно уже существующему.</a:t>
            </a:r>
            <a:endParaRPr/>
          </a:p>
        </p:txBody>
      </p:sp>
      <p:sp>
        <p:nvSpPr>
          <p:cNvPr id="496" name="Google Shape;496;p36"/>
          <p:cNvSpPr txBox="1"/>
          <p:nvPr>
            <p:ph idx="12" type="sldNum"/>
          </p:nvPr>
        </p:nvSpPr>
        <p:spPr>
          <a:xfrm>
            <a:off x="11662717" y="6614320"/>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497" name="Google Shape;497;p36"/>
          <p:cNvSpPr txBox="1"/>
          <p:nvPr/>
        </p:nvSpPr>
        <p:spPr>
          <a:xfrm>
            <a:off x="1479194" y="3023715"/>
            <a:ext cx="9649359" cy="47783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200"/>
              <a:buFont typeface="Calibri"/>
              <a:buNone/>
            </a:pPr>
            <a:r>
              <a:rPr lang="ru-RU" sz="3200">
                <a:solidFill>
                  <a:schemeClr val="dk1"/>
                </a:solidFill>
                <a:latin typeface="Calibri"/>
                <a:ea typeface="Calibri"/>
                <a:cs typeface="Calibri"/>
                <a:sym typeface="Calibri"/>
              </a:rPr>
              <a:t>Не отвергнуть гипотезу недостаточно</a:t>
            </a:r>
            <a:endParaRPr/>
          </a:p>
        </p:txBody>
      </p:sp>
      <p:sp>
        <p:nvSpPr>
          <p:cNvPr id="498" name="Google Shape;498;p36"/>
          <p:cNvSpPr txBox="1"/>
          <p:nvPr/>
        </p:nvSpPr>
        <p:spPr>
          <a:xfrm>
            <a:off x="1277905" y="3627022"/>
            <a:ext cx="10600836" cy="2927186"/>
          </a:xfrm>
          <a:prstGeom prst="rect">
            <a:avLst/>
          </a:prstGeom>
          <a:noFill/>
          <a:ln>
            <a:noFill/>
          </a:ln>
        </p:spPr>
        <p:txBody>
          <a:bodyPr anchorCtr="0" anchor="t" bIns="45700" lIns="91425" spcFirstLastPara="1" rIns="91425" wrap="square" tIns="45700">
            <a:normAutofit/>
          </a:bodyPr>
          <a:lstStyle/>
          <a:p>
            <a:pPr indent="-357188" lvl="0" marL="357188"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Основная гипотеза при анализе: отличия между лекарствами нет.</a:t>
            </a:r>
            <a:endParaRPr/>
          </a:p>
          <a:p>
            <a:pPr indent="-357188" lvl="0" marL="357188"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Дело касается здоровья людей, и не отвергнуть гипотезу недостаточно.</a:t>
            </a:r>
            <a:endParaRPr/>
          </a:p>
          <a:p>
            <a:pPr indent="-357188" lvl="0" marL="357188"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Необходимы более жесткие требования к процедуре. Надо проверить еще и побочные эффекты у лиц страдающих заболеванием «х1», «х2», и так далее…</a:t>
            </a:r>
            <a:endParaRPr/>
          </a:p>
          <a:p>
            <a:pPr indent="-202224" lvl="0" marL="354624" marR="0" rtl="0" algn="l">
              <a:spcBef>
                <a:spcPts val="48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7"/>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04" name="Google Shape;504;p37"/>
          <p:cNvSpPr txBox="1"/>
          <p:nvPr/>
        </p:nvSpPr>
        <p:spPr>
          <a:xfrm>
            <a:off x="2071498" y="1255833"/>
            <a:ext cx="8909508" cy="15345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669900"/>
              </a:buClr>
              <a:buSzPts val="2494"/>
              <a:buFont typeface="Noto Sans Symbols"/>
              <a:buNone/>
            </a:pPr>
            <a:r>
              <a:rPr lang="ru-RU" sz="2494">
                <a:solidFill>
                  <a:srgbClr val="669900"/>
                </a:solidFill>
                <a:latin typeface="Arial"/>
                <a:ea typeface="Arial"/>
                <a:cs typeface="Arial"/>
                <a:sym typeface="Arial"/>
              </a:rPr>
              <a:t>Пример.</a:t>
            </a:r>
            <a:endParaRPr sz="2494">
              <a:solidFill>
                <a:srgbClr val="669900"/>
              </a:solidFill>
              <a:latin typeface="Arial"/>
              <a:ea typeface="Arial"/>
              <a:cs typeface="Arial"/>
              <a:sym typeface="Arial"/>
            </a:endParaRPr>
          </a:p>
          <a:p>
            <a:pPr indent="0" lvl="0" marL="0" marR="0" rtl="0" algn="l">
              <a:spcBef>
                <a:spcPts val="0"/>
              </a:spcBef>
              <a:spcAft>
                <a:spcPts val="0"/>
              </a:spcAft>
              <a:buClr>
                <a:schemeClr val="dk1"/>
              </a:buClr>
              <a:buSzPts val="2078"/>
              <a:buFont typeface="Noto Sans Symbols"/>
              <a:buNone/>
            </a:pPr>
            <a:r>
              <a:t/>
            </a:r>
            <a:endParaRPr sz="2078">
              <a:solidFill>
                <a:srgbClr val="669900"/>
              </a:solidFill>
              <a:latin typeface="Arial"/>
              <a:ea typeface="Arial"/>
              <a:cs typeface="Arial"/>
              <a:sym typeface="Arial"/>
            </a:endParaRPr>
          </a:p>
          <a:p>
            <a:pPr indent="0" lvl="0" marL="0" marR="0" rtl="0" algn="l">
              <a:spcBef>
                <a:spcPts val="0"/>
              </a:spcBef>
              <a:spcAft>
                <a:spcPts val="0"/>
              </a:spcAft>
              <a:buClr>
                <a:schemeClr val="dk1"/>
              </a:buClr>
              <a:buSzPts val="2400"/>
              <a:buFont typeface="Noto Sans Symbols"/>
              <a:buNone/>
            </a:pPr>
            <a:r>
              <a:rPr lang="ru-RU" sz="2400">
                <a:solidFill>
                  <a:schemeClr val="dk1"/>
                </a:solidFill>
                <a:latin typeface="Arial"/>
                <a:ea typeface="Arial"/>
                <a:cs typeface="Arial"/>
                <a:sym typeface="Arial"/>
              </a:rPr>
              <a:t>Мы хотим узнать, отличается ли IQ студентов ФКТиПМ от 100 – среднего уровня в стране?</a:t>
            </a:r>
            <a:endParaRPr/>
          </a:p>
        </p:txBody>
      </p:sp>
      <p:sp>
        <p:nvSpPr>
          <p:cNvPr id="505" name="Google Shape;505;p37"/>
          <p:cNvSpPr txBox="1"/>
          <p:nvPr/>
        </p:nvSpPr>
        <p:spPr>
          <a:xfrm>
            <a:off x="2144133" y="3114452"/>
            <a:ext cx="5630153"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800">
                <a:solidFill>
                  <a:srgbClr val="CC3300"/>
                </a:solidFill>
                <a:latin typeface="Arial"/>
                <a:ea typeface="Arial"/>
                <a:cs typeface="Arial"/>
                <a:sym typeface="Arial"/>
              </a:rPr>
              <a:t>H</a:t>
            </a:r>
            <a:r>
              <a:rPr b="1" baseline="-25000" lang="ru-RU" sz="2800">
                <a:solidFill>
                  <a:srgbClr val="CC3300"/>
                </a:solidFill>
                <a:latin typeface="Arial"/>
                <a:ea typeface="Arial"/>
                <a:cs typeface="Arial"/>
                <a:sym typeface="Arial"/>
              </a:rPr>
              <a:t>0</a:t>
            </a:r>
            <a:r>
              <a:rPr lang="ru-RU" sz="2800">
                <a:solidFill>
                  <a:schemeClr val="dk1"/>
                </a:solidFill>
                <a:latin typeface="Arial"/>
                <a:ea typeface="Arial"/>
                <a:cs typeface="Arial"/>
                <a:sym typeface="Arial"/>
              </a:rPr>
              <a:t>: </a:t>
            </a:r>
            <a:r>
              <a:rPr i="1" lang="ru-RU" sz="2800">
                <a:solidFill>
                  <a:schemeClr val="dk1"/>
                </a:solidFill>
                <a:latin typeface="Arial"/>
                <a:ea typeface="Arial"/>
                <a:cs typeface="Arial"/>
                <a:sym typeface="Arial"/>
              </a:rPr>
              <a:t>μ</a:t>
            </a:r>
            <a:r>
              <a:rPr lang="ru-RU" sz="2800">
                <a:solidFill>
                  <a:schemeClr val="dk1"/>
                </a:solidFill>
                <a:latin typeface="Arial"/>
                <a:ea typeface="Arial"/>
                <a:cs typeface="Arial"/>
                <a:sym typeface="Arial"/>
              </a:rPr>
              <a:t> =100; </a:t>
            </a:r>
            <a:endParaRPr/>
          </a:p>
          <a:p>
            <a:pPr indent="0" lvl="0" marL="0" marR="0" rtl="0" algn="l">
              <a:spcBef>
                <a:spcPts val="0"/>
              </a:spcBef>
              <a:spcAft>
                <a:spcPts val="0"/>
              </a:spcAft>
              <a:buNone/>
            </a:pPr>
            <a:r>
              <a:rPr b="1" lang="ru-RU" sz="2800">
                <a:solidFill>
                  <a:srgbClr val="CC3300"/>
                </a:solidFill>
                <a:latin typeface="Arial"/>
                <a:ea typeface="Arial"/>
                <a:cs typeface="Arial"/>
                <a:sym typeface="Arial"/>
              </a:rPr>
              <a:t>H</a:t>
            </a:r>
            <a:r>
              <a:rPr b="1" baseline="-25000" lang="ru-RU" sz="2800">
                <a:solidFill>
                  <a:srgbClr val="CC3300"/>
                </a:solidFill>
                <a:latin typeface="Arial"/>
                <a:ea typeface="Arial"/>
                <a:cs typeface="Arial"/>
                <a:sym typeface="Arial"/>
              </a:rPr>
              <a:t>1 </a:t>
            </a:r>
            <a:r>
              <a:rPr lang="ru-RU" sz="2800">
                <a:solidFill>
                  <a:schemeClr val="dk1"/>
                </a:solidFill>
                <a:latin typeface="Arial"/>
                <a:ea typeface="Arial"/>
                <a:cs typeface="Arial"/>
                <a:sym typeface="Arial"/>
              </a:rPr>
              <a:t>: </a:t>
            </a:r>
            <a:r>
              <a:rPr i="1" lang="ru-RU" sz="2800">
                <a:solidFill>
                  <a:schemeClr val="dk1"/>
                </a:solidFill>
                <a:latin typeface="Arial"/>
                <a:ea typeface="Arial"/>
                <a:cs typeface="Arial"/>
                <a:sym typeface="Arial"/>
              </a:rPr>
              <a:t>μ </a:t>
            </a:r>
            <a:r>
              <a:rPr lang="ru-RU" sz="2800">
                <a:solidFill>
                  <a:schemeClr val="dk1"/>
                </a:solidFill>
                <a:latin typeface="Arial"/>
                <a:ea typeface="Arial"/>
                <a:cs typeface="Arial"/>
                <a:sym typeface="Arial"/>
              </a:rPr>
              <a:t>≠100</a:t>
            </a:r>
            <a:endParaRPr/>
          </a:p>
          <a:p>
            <a:pPr indent="0" lvl="0" marL="0" marR="0" rtl="0" algn="l">
              <a:spcBef>
                <a:spcPts val="0"/>
              </a:spcBef>
              <a:spcAft>
                <a:spcPts val="0"/>
              </a:spcAft>
              <a:buNone/>
            </a:pPr>
            <a:r>
              <a:t/>
            </a:r>
            <a:endParaRPr sz="2800">
              <a:solidFill>
                <a:schemeClr val="dk1"/>
              </a:solidFill>
              <a:latin typeface="Arial"/>
              <a:ea typeface="Arial"/>
              <a:cs typeface="Arial"/>
              <a:sym typeface="Arial"/>
            </a:endParaRPr>
          </a:p>
          <a:p>
            <a:pPr indent="0" lvl="0" marL="0" marR="0" rtl="0" algn="l">
              <a:spcBef>
                <a:spcPts val="0"/>
              </a:spcBef>
              <a:spcAft>
                <a:spcPts val="0"/>
              </a:spcAft>
              <a:buNone/>
            </a:pPr>
            <a:r>
              <a:rPr i="1" lang="ru-RU" sz="2400">
                <a:solidFill>
                  <a:schemeClr val="dk1"/>
                </a:solidFill>
                <a:latin typeface="Arial"/>
                <a:ea typeface="Arial"/>
                <a:cs typeface="Arial"/>
                <a:sym typeface="Arial"/>
              </a:rPr>
              <a:t>μ </a:t>
            </a:r>
            <a:r>
              <a:rPr lang="ru-RU" sz="2400">
                <a:solidFill>
                  <a:schemeClr val="dk1"/>
                </a:solidFill>
                <a:latin typeface="Arial"/>
                <a:ea typeface="Arial"/>
                <a:cs typeface="Arial"/>
                <a:sym typeface="Arial"/>
              </a:rPr>
              <a:t>– среднее в </a:t>
            </a:r>
            <a:r>
              <a:rPr lang="ru-RU" sz="2400" u="sng">
                <a:solidFill>
                  <a:schemeClr val="dk1"/>
                </a:solidFill>
                <a:latin typeface="Arial"/>
                <a:ea typeface="Arial"/>
                <a:cs typeface="Arial"/>
                <a:sym typeface="Arial"/>
              </a:rPr>
              <a:t>популяции</a:t>
            </a:r>
            <a:r>
              <a:rPr lang="ru-RU" sz="2400">
                <a:solidFill>
                  <a:schemeClr val="dk1"/>
                </a:solidFill>
                <a:latin typeface="Arial"/>
                <a:ea typeface="Arial"/>
                <a:cs typeface="Arial"/>
                <a:sym typeface="Arial"/>
              </a:rPr>
              <a:t> студентов, которая, как мы думаем, равна 100 </a:t>
            </a:r>
            <a:endParaRPr sz="2400">
              <a:solidFill>
                <a:schemeClr val="dk1"/>
              </a:solidFill>
              <a:latin typeface="Arial"/>
              <a:ea typeface="Arial"/>
              <a:cs typeface="Arial"/>
              <a:sym typeface="Arial"/>
            </a:endParaRPr>
          </a:p>
        </p:txBody>
      </p:sp>
      <p:pic>
        <p:nvPicPr>
          <p:cNvPr descr="student2" id="506" name="Google Shape;506;p37"/>
          <p:cNvPicPr preferRelativeResize="0"/>
          <p:nvPr/>
        </p:nvPicPr>
        <p:blipFill rotWithShape="1">
          <a:blip r:embed="rId3">
            <a:alphaModFix/>
          </a:blip>
          <a:srcRect b="0" l="0" r="0" t="0"/>
          <a:stretch/>
        </p:blipFill>
        <p:spPr>
          <a:xfrm>
            <a:off x="8134325" y="2803270"/>
            <a:ext cx="2533791" cy="2992381"/>
          </a:xfrm>
          <a:prstGeom prst="rect">
            <a:avLst/>
          </a:prstGeom>
          <a:noFill/>
          <a:ln>
            <a:noFill/>
          </a:ln>
        </p:spPr>
      </p:pic>
      <p:sp>
        <p:nvSpPr>
          <p:cNvPr id="507" name="Google Shape;507;p37"/>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508" name="Google Shape;508;p37"/>
          <p:cNvSpPr txBox="1"/>
          <p:nvPr>
            <p:ph idx="12" type="sldNum"/>
          </p:nvPr>
        </p:nvSpPr>
        <p:spPr>
          <a:xfrm>
            <a:off x="11806733" y="6512253"/>
            <a:ext cx="66442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8"/>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14" name="Google Shape;514;p38"/>
          <p:cNvSpPr txBox="1"/>
          <p:nvPr/>
        </p:nvSpPr>
        <p:spPr>
          <a:xfrm>
            <a:off x="1149549" y="1336210"/>
            <a:ext cx="10674756" cy="45583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400">
                <a:solidFill>
                  <a:srgbClr val="CC0000"/>
                </a:solidFill>
                <a:latin typeface="Arial"/>
                <a:ea typeface="Arial"/>
                <a:cs typeface="Arial"/>
                <a:sym typeface="Arial"/>
              </a:rPr>
              <a:t>ОШИБКА 1 рода</a:t>
            </a:r>
            <a:r>
              <a:rPr i="1" lang="ru-RU" sz="2400">
                <a:solidFill>
                  <a:schemeClr val="dk1"/>
                </a:solidFill>
                <a:latin typeface="Arial"/>
                <a:ea typeface="Arial"/>
                <a:cs typeface="Arial"/>
                <a:sym typeface="Arial"/>
              </a:rPr>
              <a:t>: вероятность </a:t>
            </a:r>
            <a:r>
              <a:rPr i="1" lang="ru-RU" sz="2400">
                <a:solidFill>
                  <a:srgbClr val="990000"/>
                </a:solidFill>
                <a:latin typeface="Arial"/>
                <a:ea typeface="Arial"/>
                <a:cs typeface="Arial"/>
                <a:sym typeface="Arial"/>
              </a:rPr>
              <a:t>найти</a:t>
            </a:r>
            <a:r>
              <a:rPr i="1" lang="ru-RU" sz="2400">
                <a:solidFill>
                  <a:schemeClr val="dk1"/>
                </a:solidFill>
                <a:latin typeface="Arial"/>
                <a:ea typeface="Arial"/>
                <a:cs typeface="Arial"/>
                <a:sym typeface="Arial"/>
              </a:rPr>
              <a:t> различия, где их </a:t>
            </a:r>
            <a:r>
              <a:rPr i="1" lang="ru-RU" sz="2400">
                <a:solidFill>
                  <a:srgbClr val="990000"/>
                </a:solidFill>
                <a:latin typeface="Arial"/>
                <a:ea typeface="Arial"/>
                <a:cs typeface="Arial"/>
                <a:sym typeface="Arial"/>
              </a:rPr>
              <a:t>нет.</a:t>
            </a:r>
            <a:endParaRPr/>
          </a:p>
          <a:p>
            <a:pPr indent="0" lvl="0" marL="0" marR="0" rtl="0" algn="l">
              <a:spcBef>
                <a:spcPts val="0"/>
              </a:spcBef>
              <a:spcAft>
                <a:spcPts val="0"/>
              </a:spcAft>
              <a:buNone/>
            </a:pPr>
            <a:r>
              <a:t/>
            </a:r>
            <a:endParaRPr sz="2078">
              <a:solidFill>
                <a:schemeClr val="dk1"/>
              </a:solidFill>
              <a:latin typeface="Arial"/>
              <a:ea typeface="Arial"/>
              <a:cs typeface="Arial"/>
              <a:sym typeface="Arial"/>
            </a:endParaRPr>
          </a:p>
          <a:p>
            <a:pPr indent="0" lvl="0" marL="0" marR="0" rtl="0" algn="l">
              <a:spcBef>
                <a:spcPts val="0"/>
              </a:spcBef>
              <a:spcAft>
                <a:spcPts val="0"/>
              </a:spcAft>
              <a:buNone/>
            </a:pPr>
            <a:r>
              <a:rPr lang="ru-RU" sz="2078">
                <a:solidFill>
                  <a:schemeClr val="dk1"/>
                </a:solidFill>
                <a:latin typeface="Arial"/>
                <a:ea typeface="Arial"/>
                <a:cs typeface="Arial"/>
                <a:sym typeface="Arial"/>
              </a:rPr>
              <a:t>(IQ студентов </a:t>
            </a:r>
            <a:r>
              <a:rPr lang="ru-RU" sz="2000">
                <a:solidFill>
                  <a:schemeClr val="dk1"/>
                </a:solidFill>
                <a:latin typeface="Arial"/>
                <a:ea typeface="Arial"/>
                <a:cs typeface="Arial"/>
                <a:sym typeface="Arial"/>
              </a:rPr>
              <a:t>ФКТиПМ</a:t>
            </a:r>
            <a:r>
              <a:rPr lang="ru-RU" sz="2078">
                <a:solidFill>
                  <a:schemeClr val="dk1"/>
                </a:solidFill>
                <a:latin typeface="Arial"/>
                <a:ea typeface="Arial"/>
                <a:cs typeface="Arial"/>
                <a:sym typeface="Arial"/>
              </a:rPr>
              <a:t> такой же, как у всех. Но нам показалось, глядя на выборку, что они отличаются от остальных).</a:t>
            </a:r>
            <a:endParaRPr/>
          </a:p>
          <a:p>
            <a:pPr indent="0" lvl="0" marL="0" marR="0" rtl="0" algn="l">
              <a:spcBef>
                <a:spcPts val="0"/>
              </a:spcBef>
              <a:spcAft>
                <a:spcPts val="0"/>
              </a:spcAft>
              <a:buNone/>
            </a:pPr>
            <a:r>
              <a:rPr lang="ru-RU" sz="2494">
                <a:solidFill>
                  <a:schemeClr val="dk1"/>
                </a:solidFill>
                <a:latin typeface="Arial"/>
                <a:ea typeface="Arial"/>
                <a:cs typeface="Arial"/>
                <a:sym typeface="Arial"/>
              </a:rPr>
              <a:t>Это – </a:t>
            </a:r>
            <a:r>
              <a:rPr lang="ru-RU" sz="2494" u="sng">
                <a:solidFill>
                  <a:schemeClr val="dk1"/>
                </a:solidFill>
                <a:latin typeface="Arial"/>
                <a:ea typeface="Arial"/>
                <a:cs typeface="Arial"/>
                <a:sym typeface="Arial"/>
              </a:rPr>
              <a:t>нездоровые сенсации</a:t>
            </a:r>
            <a:r>
              <a:rPr lang="ru-RU" sz="2494">
                <a:solidFill>
                  <a:schemeClr val="dk1"/>
                </a:solidFill>
                <a:latin typeface="Arial"/>
                <a:ea typeface="Arial"/>
                <a:cs typeface="Arial"/>
                <a:sym typeface="Arial"/>
              </a:rPr>
              <a:t>, которые могут принести большой вред.</a:t>
            </a:r>
            <a:endParaRPr/>
          </a:p>
          <a:p>
            <a:pPr indent="0" lvl="0" marL="0" marR="0" rtl="0" algn="l">
              <a:spcBef>
                <a:spcPts val="0"/>
              </a:spcBef>
              <a:spcAft>
                <a:spcPts val="0"/>
              </a:spcAft>
              <a:buNone/>
            </a:pPr>
            <a:r>
              <a:t/>
            </a:r>
            <a:endParaRPr i="1" sz="1455">
              <a:solidFill>
                <a:srgbClr val="CC0000"/>
              </a:solidFill>
              <a:latin typeface="Arial"/>
              <a:ea typeface="Arial"/>
              <a:cs typeface="Arial"/>
              <a:sym typeface="Arial"/>
            </a:endParaRPr>
          </a:p>
          <a:p>
            <a:pPr indent="0" lvl="0" marL="0" marR="0" rtl="0" algn="l">
              <a:spcBef>
                <a:spcPts val="0"/>
              </a:spcBef>
              <a:spcAft>
                <a:spcPts val="0"/>
              </a:spcAft>
              <a:buNone/>
            </a:pPr>
            <a:r>
              <a:rPr b="1" lang="ru-RU" sz="2494">
                <a:solidFill>
                  <a:srgbClr val="CC0000"/>
                </a:solidFill>
                <a:latin typeface="Arial"/>
                <a:ea typeface="Arial"/>
                <a:cs typeface="Arial"/>
                <a:sym typeface="Arial"/>
              </a:rPr>
              <a:t>ОШИБКА 2 рода</a:t>
            </a:r>
            <a:r>
              <a:rPr lang="ru-RU" sz="2494">
                <a:solidFill>
                  <a:schemeClr val="dk1"/>
                </a:solidFill>
                <a:latin typeface="Arial"/>
                <a:ea typeface="Arial"/>
                <a:cs typeface="Arial"/>
                <a:sym typeface="Arial"/>
              </a:rPr>
              <a:t>: </a:t>
            </a:r>
            <a:r>
              <a:rPr i="1" lang="ru-RU" sz="2494">
                <a:solidFill>
                  <a:schemeClr val="dk1"/>
                </a:solidFill>
                <a:latin typeface="Arial"/>
                <a:ea typeface="Arial"/>
                <a:cs typeface="Arial"/>
                <a:sym typeface="Arial"/>
              </a:rPr>
              <a:t>вероятность </a:t>
            </a:r>
            <a:r>
              <a:rPr i="1" lang="ru-RU" sz="2494">
                <a:solidFill>
                  <a:srgbClr val="990000"/>
                </a:solidFill>
                <a:latin typeface="Arial"/>
                <a:ea typeface="Arial"/>
                <a:cs typeface="Arial"/>
                <a:sym typeface="Arial"/>
              </a:rPr>
              <a:t>не увидеть</a:t>
            </a:r>
            <a:r>
              <a:rPr i="1" lang="ru-RU" sz="2494">
                <a:solidFill>
                  <a:schemeClr val="dk1"/>
                </a:solidFill>
                <a:latin typeface="Arial"/>
                <a:ea typeface="Arial"/>
                <a:cs typeface="Arial"/>
                <a:sym typeface="Arial"/>
              </a:rPr>
              <a:t> различий, где они </a:t>
            </a:r>
            <a:r>
              <a:rPr i="1" lang="ru-RU" sz="2494">
                <a:solidFill>
                  <a:srgbClr val="990000"/>
                </a:solidFill>
                <a:latin typeface="Arial"/>
                <a:ea typeface="Arial"/>
                <a:cs typeface="Arial"/>
                <a:sym typeface="Arial"/>
              </a:rPr>
              <a:t>есть</a:t>
            </a:r>
            <a:r>
              <a:rPr i="1" lang="ru-RU" sz="2494">
                <a:solidFill>
                  <a:schemeClr val="dk1"/>
                </a:solidFill>
                <a:latin typeface="Arial"/>
                <a:ea typeface="Arial"/>
                <a:cs typeface="Arial"/>
                <a:sym typeface="Arial"/>
              </a:rPr>
              <a:t>.</a:t>
            </a:r>
            <a:endParaRPr/>
          </a:p>
          <a:p>
            <a:pPr indent="0" lvl="0" marL="0" marR="0" rtl="0" algn="l">
              <a:spcBef>
                <a:spcPts val="0"/>
              </a:spcBef>
              <a:spcAft>
                <a:spcPts val="0"/>
              </a:spcAft>
              <a:buNone/>
            </a:pPr>
            <a:r>
              <a:rPr lang="ru-RU" sz="2078">
                <a:solidFill>
                  <a:schemeClr val="dk1"/>
                </a:solidFill>
                <a:latin typeface="Arial"/>
                <a:ea typeface="Arial"/>
                <a:cs typeface="Arial"/>
                <a:sym typeface="Arial"/>
              </a:rPr>
              <a:t>(На самом деле Студенты ФКТиПМ намного умнее других! Но мы были слишком строги к себе и посчитали, что этих различий недостаточно.)</a:t>
            </a:r>
            <a:endParaRPr/>
          </a:p>
          <a:p>
            <a:pPr indent="0" lvl="0" marL="0" marR="0" rtl="0" algn="l">
              <a:spcBef>
                <a:spcPts val="0"/>
              </a:spcBef>
              <a:spcAft>
                <a:spcPts val="0"/>
              </a:spcAft>
              <a:buNone/>
            </a:pPr>
            <a:r>
              <a:rPr lang="ru-RU" sz="2494">
                <a:solidFill>
                  <a:schemeClr val="dk1"/>
                </a:solidFill>
                <a:latin typeface="Arial"/>
                <a:ea typeface="Arial"/>
                <a:cs typeface="Arial"/>
                <a:sym typeface="Arial"/>
              </a:rPr>
              <a:t>Это «близорукость», или «</a:t>
            </a:r>
            <a:r>
              <a:rPr lang="ru-RU" sz="2494" u="sng">
                <a:solidFill>
                  <a:schemeClr val="dk1"/>
                </a:solidFill>
                <a:latin typeface="Arial"/>
                <a:ea typeface="Arial"/>
                <a:cs typeface="Arial"/>
                <a:sym typeface="Arial"/>
              </a:rPr>
              <a:t>слепота</a:t>
            </a:r>
            <a:r>
              <a:rPr lang="ru-RU" sz="2494">
                <a:solidFill>
                  <a:schemeClr val="dk1"/>
                </a:solidFill>
                <a:latin typeface="Arial"/>
                <a:ea typeface="Arial"/>
                <a:cs typeface="Arial"/>
                <a:sym typeface="Arial"/>
              </a:rPr>
              <a:t>» критерия, вред от неё в данном случае не очень большой. </a:t>
            </a:r>
            <a:endParaRPr/>
          </a:p>
          <a:p>
            <a:pPr indent="0" lvl="0" marL="0" marR="0" rtl="0" algn="l">
              <a:spcBef>
                <a:spcPts val="0"/>
              </a:spcBef>
              <a:spcAft>
                <a:spcPts val="0"/>
              </a:spcAft>
              <a:buNone/>
            </a:pPr>
            <a:r>
              <a:rPr lang="ru-RU" sz="2400">
                <a:solidFill>
                  <a:schemeClr val="dk1"/>
                </a:solidFill>
                <a:latin typeface="Arial"/>
                <a:ea typeface="Arial"/>
                <a:cs typeface="Arial"/>
                <a:sym typeface="Arial"/>
              </a:rPr>
              <a:t>Шанс возникновения ошибки 2-го рода обозначается β;</a:t>
            </a:r>
            <a:endParaRPr/>
          </a:p>
          <a:p>
            <a:pPr indent="0" lvl="0" marL="0" marR="0" rtl="0" algn="l">
              <a:spcBef>
                <a:spcPts val="0"/>
              </a:spcBef>
              <a:spcAft>
                <a:spcPts val="0"/>
              </a:spcAft>
              <a:buNone/>
            </a:pPr>
            <a:r>
              <a:rPr lang="ru-RU" sz="2400">
                <a:solidFill>
                  <a:schemeClr val="dk1"/>
                </a:solidFill>
                <a:latin typeface="Arial"/>
                <a:ea typeface="Arial"/>
                <a:cs typeface="Arial"/>
                <a:sym typeface="Arial"/>
              </a:rPr>
              <a:t> а величина (1-β) называется </a:t>
            </a:r>
            <a:r>
              <a:rPr i="1" lang="ru-RU" sz="2400">
                <a:solidFill>
                  <a:schemeClr val="dk1"/>
                </a:solidFill>
                <a:latin typeface="Arial"/>
                <a:ea typeface="Arial"/>
                <a:cs typeface="Arial"/>
                <a:sym typeface="Arial"/>
              </a:rPr>
              <a:t>мощностью критерия</a:t>
            </a:r>
            <a:r>
              <a:rPr lang="ru-RU" sz="2400">
                <a:solidFill>
                  <a:schemeClr val="dk1"/>
                </a:solidFill>
                <a:latin typeface="Arial"/>
                <a:ea typeface="Arial"/>
                <a:cs typeface="Arial"/>
                <a:sym typeface="Arial"/>
              </a:rPr>
              <a:t>. </a:t>
            </a:r>
            <a:endParaRPr sz="2400">
              <a:solidFill>
                <a:schemeClr val="dk1"/>
              </a:solidFill>
              <a:latin typeface="Arial"/>
              <a:ea typeface="Arial"/>
              <a:cs typeface="Arial"/>
              <a:sym typeface="Arial"/>
            </a:endParaRPr>
          </a:p>
        </p:txBody>
      </p:sp>
      <p:pic>
        <p:nvPicPr>
          <p:cNvPr descr="student" id="515" name="Google Shape;515;p38"/>
          <p:cNvPicPr preferRelativeResize="0"/>
          <p:nvPr/>
        </p:nvPicPr>
        <p:blipFill rotWithShape="1">
          <a:blip r:embed="rId3">
            <a:alphaModFix/>
          </a:blip>
          <a:srcRect b="0" l="0" r="0" t="0"/>
          <a:stretch/>
        </p:blipFill>
        <p:spPr>
          <a:xfrm>
            <a:off x="10433265" y="4859288"/>
            <a:ext cx="976565" cy="1280092"/>
          </a:xfrm>
          <a:prstGeom prst="rect">
            <a:avLst/>
          </a:prstGeom>
          <a:noFill/>
          <a:ln>
            <a:noFill/>
          </a:ln>
        </p:spPr>
      </p:pic>
      <p:sp>
        <p:nvSpPr>
          <p:cNvPr id="516" name="Google Shape;516;p38"/>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517" name="Google Shape;517;p38"/>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9"/>
          <p:cNvSpPr/>
          <p:nvPr/>
        </p:nvSpPr>
        <p:spPr>
          <a:xfrm>
            <a:off x="789509" y="322263"/>
            <a:ext cx="1152127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24" name="Google Shape;524;p39"/>
          <p:cNvSpPr/>
          <p:nvPr/>
        </p:nvSpPr>
        <p:spPr>
          <a:xfrm>
            <a:off x="2058353" y="322264"/>
            <a:ext cx="874026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25" name="Google Shape;525;p39"/>
          <p:cNvSpPr/>
          <p:nvPr/>
        </p:nvSpPr>
        <p:spPr>
          <a:xfrm>
            <a:off x="1870720" y="432678"/>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526" name="Google Shape;526;p39"/>
          <p:cNvSpPr txBox="1"/>
          <p:nvPr>
            <p:ph idx="12" type="sldNum"/>
          </p:nvPr>
        </p:nvSpPr>
        <p:spPr>
          <a:xfrm>
            <a:off x="11574355" y="6496054"/>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527" name="Google Shape;527;p39"/>
          <p:cNvSpPr/>
          <p:nvPr/>
        </p:nvSpPr>
        <p:spPr>
          <a:xfrm>
            <a:off x="1272065" y="1355745"/>
            <a:ext cx="10512760" cy="415498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ru-RU" sz="2400">
                <a:solidFill>
                  <a:schemeClr val="dk1"/>
                </a:solidFill>
                <a:latin typeface="Arial"/>
                <a:ea typeface="Arial"/>
                <a:cs typeface="Arial"/>
                <a:sym typeface="Arial"/>
              </a:rPr>
              <a:t>Допустим, что на предприятии о качестве продукции судят по результатам выборочного контроля. Если выборочная доля брака не превышает заранее установленной величины </a:t>
            </a:r>
            <a:r>
              <a:rPr i="1" lang="ru-RU" sz="2400">
                <a:solidFill>
                  <a:schemeClr val="dk1"/>
                </a:solidFill>
                <a:latin typeface="Arial"/>
                <a:ea typeface="Arial"/>
                <a:cs typeface="Arial"/>
                <a:sym typeface="Arial"/>
              </a:rPr>
              <a:t>p</a:t>
            </a:r>
            <a:r>
              <a:rPr baseline="-25000" i="1" lang="ru-RU" sz="2400">
                <a:solidFill>
                  <a:schemeClr val="dk1"/>
                </a:solidFill>
                <a:latin typeface="Arial"/>
                <a:ea typeface="Arial"/>
                <a:cs typeface="Arial"/>
                <a:sym typeface="Arial"/>
              </a:rPr>
              <a:t>0</a:t>
            </a:r>
            <a:r>
              <a:rPr lang="ru-RU" sz="2400">
                <a:solidFill>
                  <a:schemeClr val="dk1"/>
                </a:solidFill>
                <a:latin typeface="Arial"/>
                <a:ea typeface="Arial"/>
                <a:cs typeface="Arial"/>
                <a:sym typeface="Arial"/>
              </a:rPr>
              <a:t>, то партия принимается.</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ru-RU" sz="2400">
                <a:solidFill>
                  <a:schemeClr val="dk1"/>
                </a:solidFill>
                <a:latin typeface="Arial"/>
                <a:ea typeface="Arial"/>
                <a:cs typeface="Arial"/>
                <a:sym typeface="Arial"/>
              </a:rPr>
              <a:t>Другими словами, выдвигается нулевая гипотеза: </a:t>
            </a:r>
            <a:r>
              <a:rPr i="1" lang="ru-RU" sz="2400">
                <a:solidFill>
                  <a:schemeClr val="dk1"/>
                </a:solidFill>
                <a:latin typeface="Arial"/>
                <a:ea typeface="Arial"/>
                <a:cs typeface="Arial"/>
                <a:sym typeface="Arial"/>
              </a:rPr>
              <a:t>Н</a:t>
            </a:r>
            <a:r>
              <a:rPr lang="ru-RU" sz="2400">
                <a:solidFill>
                  <a:schemeClr val="dk1"/>
                </a:solidFill>
                <a:latin typeface="Arial"/>
                <a:ea typeface="Arial"/>
                <a:cs typeface="Arial"/>
                <a:sym typeface="Arial"/>
              </a:rPr>
              <a:t> </a:t>
            </a:r>
            <a:r>
              <a:rPr baseline="-25000" lang="ru-RU" sz="2400">
                <a:solidFill>
                  <a:schemeClr val="dk1"/>
                </a:solidFill>
                <a:latin typeface="Arial"/>
                <a:ea typeface="Arial"/>
                <a:cs typeface="Arial"/>
                <a:sym typeface="Arial"/>
              </a:rPr>
              <a:t>0</a:t>
            </a:r>
            <a:r>
              <a:rPr lang="ru-RU" sz="2400">
                <a:solidFill>
                  <a:schemeClr val="dk1"/>
                </a:solidFill>
                <a:latin typeface="Arial"/>
                <a:ea typeface="Arial"/>
                <a:cs typeface="Arial"/>
                <a:sym typeface="Arial"/>
              </a:rPr>
              <a:t>: </a:t>
            </a:r>
            <a:r>
              <a:rPr i="1" lang="ru-RU" sz="2400">
                <a:solidFill>
                  <a:schemeClr val="dk1"/>
                </a:solidFill>
                <a:latin typeface="Arial"/>
                <a:ea typeface="Arial"/>
                <a:cs typeface="Arial"/>
                <a:sym typeface="Arial"/>
              </a:rPr>
              <a:t>p</a:t>
            </a:r>
            <a:r>
              <a:rPr lang="ru-RU" sz="2400">
                <a:solidFill>
                  <a:schemeClr val="dk1"/>
                </a:solidFill>
                <a:latin typeface="Arial"/>
                <a:ea typeface="Arial"/>
                <a:cs typeface="Arial"/>
                <a:sym typeface="Arial"/>
              </a:rPr>
              <a:t> ≤ </a:t>
            </a:r>
            <a:r>
              <a:rPr lang="ru-RU" sz="1050">
                <a:solidFill>
                  <a:schemeClr val="dk1"/>
                </a:solidFill>
                <a:latin typeface="Arial"/>
                <a:ea typeface="Arial"/>
                <a:cs typeface="Arial"/>
                <a:sym typeface="Arial"/>
              </a:rPr>
              <a:t> </a:t>
            </a:r>
            <a:r>
              <a:rPr i="1" lang="ru-RU" sz="2400">
                <a:solidFill>
                  <a:schemeClr val="dk1"/>
                </a:solidFill>
                <a:latin typeface="Arial"/>
                <a:ea typeface="Arial"/>
                <a:cs typeface="Arial"/>
                <a:sym typeface="Arial"/>
              </a:rPr>
              <a:t>p</a:t>
            </a:r>
            <a:r>
              <a:rPr baseline="-25000" i="1" lang="ru-RU" sz="2400">
                <a:solidFill>
                  <a:schemeClr val="dk1"/>
                </a:solidFill>
                <a:latin typeface="Arial"/>
                <a:ea typeface="Arial"/>
                <a:cs typeface="Arial"/>
                <a:sym typeface="Arial"/>
              </a:rPr>
              <a:t>0</a:t>
            </a:r>
            <a:r>
              <a:rPr lang="ru-RU" sz="2400">
                <a:solidFill>
                  <a:schemeClr val="dk1"/>
                </a:solidFill>
                <a:latin typeface="Arial"/>
                <a:ea typeface="Arial"/>
                <a:cs typeface="Arial"/>
                <a:sym typeface="Arial"/>
              </a:rPr>
              <a:t>. Если при проверке этой гипотезы допущена ошибка первого рода, то мы забракуем годную продукцию. Если же совершена ошибка второго рода, то потребителю будет отправлен брак. Очевидно, что последствия ошибки второго рода здесь могут быть значительно более серьезными.</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0"/>
          <p:cNvSpPr/>
          <p:nvPr/>
        </p:nvSpPr>
        <p:spPr>
          <a:xfrm>
            <a:off x="1438276" y="322263"/>
            <a:ext cx="10837408"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34" name="Google Shape;534;p40"/>
          <p:cNvSpPr/>
          <p:nvPr/>
        </p:nvSpPr>
        <p:spPr>
          <a:xfrm>
            <a:off x="2058353" y="322264"/>
            <a:ext cx="874026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35" name="Google Shape;535;p40"/>
          <p:cNvSpPr/>
          <p:nvPr/>
        </p:nvSpPr>
        <p:spPr>
          <a:xfrm>
            <a:off x="2265012" y="43753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536" name="Google Shape;536;p40"/>
          <p:cNvSpPr txBox="1"/>
          <p:nvPr>
            <p:ph idx="12" type="sldNum"/>
          </p:nvPr>
        </p:nvSpPr>
        <p:spPr>
          <a:xfrm>
            <a:off x="11662717" y="6424616"/>
            <a:ext cx="81508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537" name="Google Shape;537;p40"/>
          <p:cNvSpPr/>
          <p:nvPr/>
        </p:nvSpPr>
        <p:spPr>
          <a:xfrm>
            <a:off x="1077542" y="1511808"/>
            <a:ext cx="11089232" cy="4708981"/>
          </a:xfrm>
          <a:prstGeom prst="rect">
            <a:avLst/>
          </a:prstGeom>
          <a:noFill/>
          <a:ln>
            <a:noFill/>
          </a:ln>
        </p:spPr>
        <p:txBody>
          <a:bodyPr anchorCtr="0" anchor="ctr" bIns="45700" lIns="91425" spcFirstLastPara="1" rIns="91425" wrap="square" tIns="45700">
            <a:spAutoFit/>
          </a:bodyPr>
          <a:lstStyle/>
          <a:p>
            <a:pPr indent="357188" lvl="0" marL="0" marR="0" rtl="0" algn="l">
              <a:spcBef>
                <a:spcPts val="0"/>
              </a:spcBef>
              <a:spcAft>
                <a:spcPts val="0"/>
              </a:spcAft>
              <a:buNone/>
            </a:pPr>
            <a:r>
              <a:rPr lang="ru-RU" sz="2000">
                <a:solidFill>
                  <a:schemeClr val="dk1"/>
                </a:solidFill>
                <a:latin typeface="Arial"/>
                <a:ea typeface="Arial"/>
                <a:cs typeface="Arial"/>
                <a:sym typeface="Arial"/>
              </a:rPr>
              <a:t>Другой пример можно привести из области юриспруденции. Будем рассматривать работу судей как действия по проверке презумпции невиновности подсудимого. В качестве основной проверяемой гипотезы следует рассмотреть гипотезу </a:t>
            </a:r>
            <a:r>
              <a:rPr i="1" lang="ru-RU" sz="2000">
                <a:solidFill>
                  <a:srgbClr val="0070C0"/>
                </a:solidFill>
                <a:latin typeface="Arial"/>
                <a:ea typeface="Arial"/>
                <a:cs typeface="Arial"/>
                <a:sym typeface="Arial"/>
              </a:rPr>
              <a:t>Н</a:t>
            </a:r>
            <a:r>
              <a:rPr baseline="-25000" i="1" lang="ru-RU" sz="2000">
                <a:solidFill>
                  <a:srgbClr val="0070C0"/>
                </a:solidFill>
                <a:latin typeface="Arial"/>
                <a:ea typeface="Arial"/>
                <a:cs typeface="Arial"/>
                <a:sym typeface="Arial"/>
              </a:rPr>
              <a:t>0</a:t>
            </a:r>
            <a:r>
              <a:rPr lang="ru-RU" sz="2000">
                <a:solidFill>
                  <a:srgbClr val="0070C0"/>
                </a:solidFill>
                <a:latin typeface="Arial"/>
                <a:ea typeface="Arial"/>
                <a:cs typeface="Arial"/>
                <a:sym typeface="Arial"/>
              </a:rPr>
              <a:t>: подсудимый невиновен. </a:t>
            </a:r>
            <a:r>
              <a:rPr lang="ru-RU" sz="2000">
                <a:solidFill>
                  <a:schemeClr val="dk1"/>
                </a:solidFill>
                <a:latin typeface="Arial"/>
                <a:ea typeface="Arial"/>
                <a:cs typeface="Arial"/>
                <a:sym typeface="Arial"/>
              </a:rPr>
              <a:t>Тогда альтернативной гипотезой </a:t>
            </a:r>
            <a:r>
              <a:rPr i="1" lang="ru-RU" sz="2000">
                <a:solidFill>
                  <a:schemeClr val="dk1"/>
                </a:solidFill>
                <a:latin typeface="Arial"/>
                <a:ea typeface="Arial"/>
                <a:cs typeface="Arial"/>
                <a:sym typeface="Arial"/>
              </a:rPr>
              <a:t>Н</a:t>
            </a:r>
            <a:r>
              <a:rPr baseline="-25000" i="1" lang="ru-RU" sz="2000">
                <a:solidFill>
                  <a:schemeClr val="dk1"/>
                </a:solidFill>
                <a:latin typeface="Arial"/>
                <a:ea typeface="Arial"/>
                <a:cs typeface="Arial"/>
                <a:sym typeface="Arial"/>
              </a:rPr>
              <a:t>1</a:t>
            </a:r>
            <a:r>
              <a:rPr lang="ru-RU" sz="2000">
                <a:solidFill>
                  <a:schemeClr val="dk1"/>
                </a:solidFill>
                <a:latin typeface="Arial"/>
                <a:ea typeface="Arial"/>
                <a:cs typeface="Arial"/>
                <a:sym typeface="Arial"/>
              </a:rPr>
              <a:t> является гипотеза: обвиняемый виновен в совершении преступления. </a:t>
            </a:r>
            <a:endParaRPr/>
          </a:p>
          <a:p>
            <a:pPr indent="357188" lvl="0" marL="0" marR="0" rtl="0" algn="l">
              <a:spcBef>
                <a:spcPts val="0"/>
              </a:spcBef>
              <a:spcAft>
                <a:spcPts val="0"/>
              </a:spcAft>
              <a:buNone/>
            </a:pPr>
            <a:r>
              <a:rPr lang="ru-RU" sz="2000">
                <a:solidFill>
                  <a:schemeClr val="dk1"/>
                </a:solidFill>
                <a:latin typeface="Arial"/>
                <a:ea typeface="Arial"/>
                <a:cs typeface="Arial"/>
                <a:sym typeface="Arial"/>
              </a:rPr>
              <a:t>Очевидно, что суд может совершить ошибки первого или второго рода при вынесении приговора подсудимому.</a:t>
            </a:r>
            <a:endParaRPr/>
          </a:p>
          <a:p>
            <a:pPr indent="357188" lvl="0" marL="0" marR="0" rtl="0" algn="l">
              <a:spcBef>
                <a:spcPts val="0"/>
              </a:spcBef>
              <a:spcAft>
                <a:spcPts val="0"/>
              </a:spcAft>
              <a:buNone/>
            </a:pPr>
            <a:r>
              <a:rPr lang="ru-RU" sz="2000">
                <a:solidFill>
                  <a:schemeClr val="dk1"/>
                </a:solidFill>
                <a:latin typeface="Arial"/>
                <a:ea typeface="Arial"/>
                <a:cs typeface="Arial"/>
                <a:sym typeface="Arial"/>
              </a:rPr>
              <a:t>Если допущена ошибка первого рода, то это означает, что суд наказал невиновного: подсудимому был вынесен обвинительный приговор, когда на самом деле он не совершал преступления. Если же судьи допустили ошибку второго рода, то это значит, что суд вынес оправдательный приговор, когда на самом деле обвиняемый виновен в совершении преступления. </a:t>
            </a:r>
            <a:endParaRPr/>
          </a:p>
          <a:p>
            <a:pPr indent="357188" lvl="0" marL="0" marR="0" rtl="0" algn="l">
              <a:spcBef>
                <a:spcPts val="0"/>
              </a:spcBef>
              <a:spcAft>
                <a:spcPts val="0"/>
              </a:spcAft>
              <a:buNone/>
            </a:pPr>
            <a:r>
              <a:rPr lang="ru-RU" sz="2000">
                <a:solidFill>
                  <a:srgbClr val="0070C0"/>
                </a:solidFill>
                <a:latin typeface="Arial"/>
                <a:ea typeface="Arial"/>
                <a:cs typeface="Arial"/>
                <a:sym typeface="Arial"/>
              </a:rPr>
              <a:t>Очевидно, что последствия ошибки первого рода для обвиняемого будут значительно более серьезными, в то время как для общества наиболее опасными являются последствия ошибки второго рода.</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1"/>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44" name="Google Shape;544;p41"/>
          <p:cNvSpPr/>
          <p:nvPr/>
        </p:nvSpPr>
        <p:spPr>
          <a:xfrm>
            <a:off x="2058353" y="322264"/>
            <a:ext cx="874026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45" name="Google Shape;545;p41"/>
          <p:cNvSpPr/>
          <p:nvPr/>
        </p:nvSpPr>
        <p:spPr>
          <a:xfrm>
            <a:off x="2265012" y="43753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546" name="Google Shape;546;p41"/>
          <p:cNvSpPr txBox="1"/>
          <p:nvPr>
            <p:ph idx="12" type="sldNum"/>
          </p:nvPr>
        </p:nvSpPr>
        <p:spPr>
          <a:xfrm>
            <a:off x="11648149" y="6512253"/>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547" name="Google Shape;547;p41"/>
          <p:cNvSpPr/>
          <p:nvPr/>
        </p:nvSpPr>
        <p:spPr>
          <a:xfrm>
            <a:off x="1077541" y="1552149"/>
            <a:ext cx="11233247" cy="40934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Arial"/>
                <a:ea typeface="Arial"/>
                <a:cs typeface="Arial"/>
                <a:sym typeface="Arial"/>
              </a:rPr>
              <a:t>Вредоносное программное обеспечение</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Понятие </a:t>
            </a:r>
            <a:r>
              <a:rPr i="1" lang="ru-RU" sz="2000">
                <a:solidFill>
                  <a:schemeClr val="dk1"/>
                </a:solidFill>
                <a:latin typeface="Arial"/>
                <a:ea typeface="Arial"/>
                <a:cs typeface="Arial"/>
                <a:sym typeface="Arial"/>
              </a:rPr>
              <a:t>ошибки первого рода</a:t>
            </a:r>
            <a:r>
              <a:rPr lang="ru-RU" sz="2000">
                <a:solidFill>
                  <a:schemeClr val="dk1"/>
                </a:solidFill>
                <a:latin typeface="Arial"/>
                <a:ea typeface="Arial"/>
                <a:cs typeface="Arial"/>
                <a:sym typeface="Arial"/>
              </a:rPr>
              <a:t> также используется, когда антивирусное  программное обеспечение ошибочно классифицирует безвредный файл как вирус. Неверное обнаружение может быть вызвано особенностями эвристики, либо неправильной сигнатурой вируса в базе данных. Подобные проблемы могут происходить также и с антитроянскими и антишпионскими программами.</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i="1" lang="ru-RU" sz="2000">
                <a:solidFill>
                  <a:schemeClr val="dk1"/>
                </a:solidFill>
                <a:latin typeface="Arial"/>
                <a:ea typeface="Arial"/>
                <a:cs typeface="Arial"/>
                <a:sym typeface="Arial"/>
              </a:rPr>
              <a:t>Ошибки второго рода</a:t>
            </a:r>
            <a:r>
              <a:rPr lang="ru-RU" sz="2000">
                <a:solidFill>
                  <a:schemeClr val="dk1"/>
                </a:solidFill>
                <a:latin typeface="Arial"/>
                <a:ea typeface="Arial"/>
                <a:cs typeface="Arial"/>
                <a:sym typeface="Arial"/>
              </a:rPr>
              <a:t> являются существенной проблемой </a:t>
            </a:r>
            <a:r>
              <a:rPr b="1" lang="ru-RU" sz="2000">
                <a:solidFill>
                  <a:schemeClr val="dk1"/>
                </a:solidFill>
                <a:latin typeface="Arial"/>
                <a:ea typeface="Arial"/>
                <a:cs typeface="Arial"/>
                <a:sym typeface="Arial"/>
              </a:rPr>
              <a:t>в медицинском тестировании</a:t>
            </a:r>
            <a:r>
              <a:rPr lang="ru-RU" sz="2000">
                <a:solidFill>
                  <a:schemeClr val="dk1"/>
                </a:solidFill>
                <a:latin typeface="Arial"/>
                <a:ea typeface="Arial"/>
                <a:cs typeface="Arial"/>
                <a:sym typeface="Arial"/>
              </a:rPr>
              <a:t>. Они дают пациенту и врачу ложное убеждение, что заболевание отсутствует, в то время как в действительности оно есть. Это зачастую приводит к неуместному или неадекватному лечению. Типичным примером является доверие результатам велоэргометрии при выявлении коронарного атеросклероза, хотя известно, что велоэргометрия выявляет только те затруднения кровотока в коронарной артерии, которые вызваны стенозом.</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2"/>
          <p:cNvSpPr/>
          <p:nvPr/>
        </p:nvSpPr>
        <p:spPr>
          <a:xfrm>
            <a:off x="1438275" y="322263"/>
            <a:ext cx="1065648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53" name="Google Shape;553;p42"/>
          <p:cNvSpPr/>
          <p:nvPr/>
        </p:nvSpPr>
        <p:spPr>
          <a:xfrm>
            <a:off x="2157661" y="322264"/>
            <a:ext cx="8450740"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54" name="Google Shape;554;p42"/>
          <p:cNvSpPr txBox="1"/>
          <p:nvPr>
            <p:ph idx="4294967295" type="title"/>
          </p:nvPr>
        </p:nvSpPr>
        <p:spPr>
          <a:xfrm>
            <a:off x="1195388" y="288925"/>
            <a:ext cx="8548688" cy="118268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ru-RU" sz="4000"/>
              <a:t>Гипотеза: нужна срочная операция</a:t>
            </a:r>
            <a:endParaRPr/>
          </a:p>
        </p:txBody>
      </p:sp>
      <p:graphicFrame>
        <p:nvGraphicFramePr>
          <p:cNvPr id="555" name="Google Shape;555;p42"/>
          <p:cNvGraphicFramePr/>
          <p:nvPr/>
        </p:nvGraphicFramePr>
        <p:xfrm>
          <a:off x="1869629" y="2941233"/>
          <a:ext cx="3000000" cy="3000000"/>
        </p:xfrm>
        <a:graphic>
          <a:graphicData uri="http://schemas.openxmlformats.org/drawingml/2006/table">
            <a:tbl>
              <a:tblPr>
                <a:noFill/>
                <a:tableStyleId>{793BBE89-B502-4C58-A022-6D75D2177D49}</a:tableStyleId>
              </a:tblPr>
              <a:tblGrid>
                <a:gridCol w="2808625"/>
                <a:gridCol w="2808625"/>
                <a:gridCol w="2807875"/>
              </a:tblGrid>
              <a:tr h="1071000">
                <a:tc>
                  <a:txBody>
                    <a:bodyPr/>
                    <a:lstStyle/>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a:txBody>
                  <a:tcPr marT="47500" marB="47500" marR="95025" marL="95025"/>
                </a:tc>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ru-RU" sz="1900" u="none" cap="none" strike="noStrike">
                          <a:solidFill>
                            <a:srgbClr val="000000"/>
                          </a:solidFill>
                          <a:latin typeface="Arial"/>
                          <a:ea typeface="Arial"/>
                          <a:cs typeface="Arial"/>
                          <a:sym typeface="Arial"/>
                        </a:rPr>
                        <a:t>Гипотеза верна</a:t>
                      </a:r>
                      <a:endParaRPr/>
                    </a:p>
                  </a:txBody>
                  <a:tcPr marT="47500" marB="47500" marR="95025" marL="95025"/>
                </a:tc>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ru-RU" sz="1900" u="none" cap="none" strike="noStrike">
                          <a:solidFill>
                            <a:srgbClr val="000000"/>
                          </a:solidFill>
                          <a:latin typeface="Arial"/>
                          <a:ea typeface="Arial"/>
                          <a:cs typeface="Arial"/>
                          <a:sym typeface="Arial"/>
                        </a:rPr>
                        <a:t>Гипотеза не верна</a:t>
                      </a:r>
                      <a:endParaRPr/>
                    </a:p>
                  </a:txBody>
                  <a:tcPr marT="47500" marB="47500" marR="95025" marL="95025"/>
                </a:tc>
              </a:tr>
              <a:tr h="1071000">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ru-RU" sz="1900" u="none" cap="none" strike="noStrike">
                          <a:solidFill>
                            <a:srgbClr val="000000"/>
                          </a:solidFill>
                          <a:latin typeface="Arial"/>
                          <a:ea typeface="Arial"/>
                          <a:cs typeface="Arial"/>
                          <a:sym typeface="Arial"/>
                        </a:rPr>
                        <a:t>Гипотеза принята</a:t>
                      </a:r>
                      <a:endParaRPr/>
                    </a:p>
                  </a:txBody>
                  <a:tcPr marT="47500" marB="47500" marR="95025" marL="95025"/>
                </a:tc>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500"/>
                        <a:buFont typeface="Arial"/>
                        <a:buNone/>
                      </a:pPr>
                      <a:r>
                        <a:rPr b="1" i="0" lang="ru-RU" sz="2500" u="none" cap="none" strike="noStrike">
                          <a:solidFill>
                            <a:srgbClr val="000000"/>
                          </a:solidFill>
                          <a:latin typeface="Arial"/>
                          <a:ea typeface="Arial"/>
                          <a:cs typeface="Arial"/>
                          <a:sym typeface="Arial"/>
                        </a:rPr>
                        <a:t>+</a:t>
                      </a:r>
                      <a:endParaRPr/>
                    </a:p>
                  </a:txBody>
                  <a:tcPr marT="47500" marB="47500" marR="95025" marL="95025"/>
                </a:tc>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txBody>
                  <a:tcPr marT="47500" marB="47500" marR="95025" marL="95025"/>
                </a:tc>
              </a:tr>
              <a:tr h="1071750">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ru-RU" sz="1900" u="none" cap="none" strike="noStrike">
                          <a:solidFill>
                            <a:srgbClr val="000000"/>
                          </a:solidFill>
                          <a:latin typeface="Arial"/>
                          <a:ea typeface="Arial"/>
                          <a:cs typeface="Arial"/>
                          <a:sym typeface="Arial"/>
                        </a:rPr>
                        <a:t>Гипотеза отвергнута</a:t>
                      </a:r>
                      <a:endParaRPr/>
                    </a:p>
                  </a:txBody>
                  <a:tcPr marT="47500" marB="47500" marR="95025" marL="95025"/>
                </a:tc>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txBody>
                  <a:tcPr marT="47500" marB="47500" marR="95025" marL="95025"/>
                </a:tc>
                <a:tc>
                  <a:txBody>
                    <a:bodyPr/>
                    <a:lstStyle/>
                    <a:p>
                      <a:pPr indent="0" lvl="0" marL="0" marR="0" rtl="0" algn="ctr">
                        <a:lnSpc>
                          <a:spcPct val="100000"/>
                        </a:lnSpc>
                        <a:spcBef>
                          <a:spcPts val="0"/>
                        </a:spcBef>
                        <a:spcAft>
                          <a:spcPts val="0"/>
                        </a:spcAft>
                        <a:buClr>
                          <a:schemeClr val="dk1"/>
                        </a:buClr>
                        <a:buSzPts val="1900"/>
                        <a:buFont typeface="Calibri"/>
                        <a:buNone/>
                      </a:pPr>
                      <a:r>
                        <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500"/>
                        <a:buFont typeface="Arial"/>
                        <a:buNone/>
                      </a:pPr>
                      <a:r>
                        <a:rPr b="1" i="0" lang="ru-RU" sz="2500" u="none" cap="none" strike="noStrike">
                          <a:solidFill>
                            <a:srgbClr val="000000"/>
                          </a:solidFill>
                          <a:latin typeface="Arial"/>
                          <a:ea typeface="Arial"/>
                          <a:cs typeface="Arial"/>
                          <a:sym typeface="Arial"/>
                        </a:rPr>
                        <a:t>+</a:t>
                      </a:r>
                      <a:endParaRPr/>
                    </a:p>
                  </a:txBody>
                  <a:tcPr marT="47500" marB="47500" marR="95025" marL="95025"/>
                </a:tc>
              </a:tr>
            </a:tbl>
          </a:graphicData>
        </a:graphic>
      </p:graphicFrame>
      <p:sp>
        <p:nvSpPr>
          <p:cNvPr id="556" name="Google Shape;556;p42"/>
          <p:cNvSpPr/>
          <p:nvPr/>
        </p:nvSpPr>
        <p:spPr>
          <a:xfrm>
            <a:off x="4812881" y="4164378"/>
            <a:ext cx="294559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70C0"/>
                </a:solidFill>
                <a:latin typeface="Arial"/>
                <a:ea typeface="Arial"/>
                <a:cs typeface="Arial"/>
                <a:sym typeface="Arial"/>
              </a:rPr>
              <a:t>Риск операции ниже риска заболевания</a:t>
            </a:r>
            <a:endParaRPr sz="2000">
              <a:solidFill>
                <a:srgbClr val="0070C0"/>
              </a:solidFill>
              <a:latin typeface="Arial"/>
              <a:ea typeface="Arial"/>
              <a:cs typeface="Arial"/>
              <a:sym typeface="Arial"/>
            </a:endParaRPr>
          </a:p>
        </p:txBody>
      </p:sp>
      <p:sp>
        <p:nvSpPr>
          <p:cNvPr id="557" name="Google Shape;557;p42"/>
          <p:cNvSpPr/>
          <p:nvPr/>
        </p:nvSpPr>
        <p:spPr>
          <a:xfrm>
            <a:off x="7601111" y="5179398"/>
            <a:ext cx="283764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70C0"/>
                </a:solidFill>
                <a:latin typeface="Arial"/>
                <a:ea typeface="Arial"/>
                <a:cs typeface="Arial"/>
                <a:sym typeface="Arial"/>
              </a:rPr>
              <a:t>Риск операции выше риска заболевания</a:t>
            </a:r>
            <a:endParaRPr sz="2000">
              <a:solidFill>
                <a:srgbClr val="0070C0"/>
              </a:solidFill>
              <a:latin typeface="Arial"/>
              <a:ea typeface="Arial"/>
              <a:cs typeface="Arial"/>
              <a:sym typeface="Arial"/>
            </a:endParaRPr>
          </a:p>
        </p:txBody>
      </p:sp>
      <p:sp>
        <p:nvSpPr>
          <p:cNvPr id="558" name="Google Shape;558;p42"/>
          <p:cNvSpPr/>
          <p:nvPr/>
        </p:nvSpPr>
        <p:spPr>
          <a:xfrm>
            <a:off x="4740615" y="5344059"/>
            <a:ext cx="271140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FF0000"/>
                </a:solidFill>
                <a:latin typeface="Arial"/>
                <a:ea typeface="Arial"/>
                <a:cs typeface="Arial"/>
                <a:sym typeface="Arial"/>
              </a:rPr>
              <a:t>Не делает операцию и пациент умирает </a:t>
            </a:r>
            <a:endParaRPr sz="2000">
              <a:solidFill>
                <a:srgbClr val="FF0000"/>
              </a:solidFill>
              <a:latin typeface="Arial"/>
              <a:ea typeface="Arial"/>
              <a:cs typeface="Arial"/>
              <a:sym typeface="Arial"/>
            </a:endParaRPr>
          </a:p>
        </p:txBody>
      </p:sp>
      <p:sp>
        <p:nvSpPr>
          <p:cNvPr id="559" name="Google Shape;559;p42"/>
          <p:cNvSpPr/>
          <p:nvPr/>
        </p:nvSpPr>
        <p:spPr>
          <a:xfrm>
            <a:off x="7667922" y="4147067"/>
            <a:ext cx="258992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FF0000"/>
                </a:solidFill>
                <a:latin typeface="Arial"/>
                <a:ea typeface="Arial"/>
                <a:cs typeface="Arial"/>
                <a:sym typeface="Arial"/>
              </a:rPr>
              <a:t>Делает операцию и пациент умирает (или нет?)</a:t>
            </a:r>
            <a:endParaRPr sz="2000">
              <a:solidFill>
                <a:srgbClr val="FF0000"/>
              </a:solidFill>
              <a:latin typeface="Arial"/>
              <a:ea typeface="Arial"/>
              <a:cs typeface="Arial"/>
              <a:sym typeface="Arial"/>
            </a:endParaRPr>
          </a:p>
        </p:txBody>
      </p:sp>
      <p:sp>
        <p:nvSpPr>
          <p:cNvPr id="560" name="Google Shape;560;p42"/>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561" name="Google Shape;561;p42"/>
          <p:cNvSpPr/>
          <p:nvPr/>
        </p:nvSpPr>
        <p:spPr>
          <a:xfrm>
            <a:off x="4568597" y="5063805"/>
            <a:ext cx="145103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400">
                <a:solidFill>
                  <a:srgbClr val="000000"/>
                </a:solidFill>
                <a:latin typeface="Arial"/>
                <a:ea typeface="Arial"/>
                <a:cs typeface="Arial"/>
                <a:sym typeface="Arial"/>
              </a:rPr>
              <a:t>Ошибка 1 рода</a:t>
            </a:r>
            <a:endParaRPr/>
          </a:p>
        </p:txBody>
      </p:sp>
      <p:sp>
        <p:nvSpPr>
          <p:cNvPr id="562" name="Google Shape;562;p42"/>
          <p:cNvSpPr/>
          <p:nvPr/>
        </p:nvSpPr>
        <p:spPr>
          <a:xfrm>
            <a:off x="7452021" y="3951411"/>
            <a:ext cx="145103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400">
                <a:solidFill>
                  <a:srgbClr val="000000"/>
                </a:solidFill>
                <a:latin typeface="Arial"/>
                <a:ea typeface="Arial"/>
                <a:cs typeface="Arial"/>
                <a:sym typeface="Arial"/>
              </a:rPr>
              <a:t>Ошибка 2 рода</a:t>
            </a:r>
            <a:endParaRPr/>
          </a:p>
        </p:txBody>
      </p:sp>
      <p:sp>
        <p:nvSpPr>
          <p:cNvPr id="563" name="Google Shape;563;p42"/>
          <p:cNvSpPr txBox="1"/>
          <p:nvPr/>
        </p:nvSpPr>
        <p:spPr>
          <a:xfrm>
            <a:off x="2152556" y="1582281"/>
            <a:ext cx="8551863" cy="1152525"/>
          </a:xfrm>
          <a:prstGeom prst="rect">
            <a:avLst/>
          </a:prstGeom>
          <a:noFill/>
          <a:ln>
            <a:noFill/>
          </a:ln>
        </p:spPr>
        <p:txBody>
          <a:bodyPr anchorCtr="0" anchor="t" bIns="45700" lIns="91425" spcFirstLastPara="1" rIns="91425" wrap="square" tIns="45700">
            <a:normAutofit/>
          </a:bodyPr>
          <a:lstStyle/>
          <a:p>
            <a:pPr indent="-132080" lvl="0" marL="0" marR="0" rtl="0" algn="l">
              <a:spcBef>
                <a:spcPts val="0"/>
              </a:spcBef>
              <a:spcAft>
                <a:spcPts val="0"/>
              </a:spcAft>
              <a:buClr>
                <a:srgbClr val="CC9900"/>
              </a:buClr>
              <a:buSzPts val="2080"/>
              <a:buFont typeface="Noto Sans Symbols"/>
              <a:buChar char="■"/>
            </a:pPr>
            <a:r>
              <a:rPr lang="ru-RU" sz="3200">
                <a:solidFill>
                  <a:schemeClr val="dk1"/>
                </a:solidFill>
                <a:latin typeface="Calibri"/>
                <a:ea typeface="Calibri"/>
                <a:cs typeface="Calibri"/>
                <a:sym typeface="Calibri"/>
              </a:rPr>
              <a:t>В больнице врач принимает решение, направлять пациента на операцию, или нет.</a:t>
            </a:r>
            <a:endParaRPr sz="32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3"/>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70" name="Google Shape;570;p43"/>
          <p:cNvSpPr/>
          <p:nvPr/>
        </p:nvSpPr>
        <p:spPr>
          <a:xfrm>
            <a:off x="2058353" y="322264"/>
            <a:ext cx="874026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71" name="Google Shape;571;p43"/>
          <p:cNvSpPr txBox="1"/>
          <p:nvPr>
            <p:ph idx="4294967295" type="body"/>
          </p:nvPr>
        </p:nvSpPr>
        <p:spPr>
          <a:xfrm>
            <a:off x="2265012" y="1838340"/>
            <a:ext cx="8550275" cy="2765425"/>
          </a:xfrm>
          <a:prstGeom prst="rect">
            <a:avLst/>
          </a:prstGeom>
          <a:noFill/>
          <a:ln>
            <a:noFill/>
          </a:ln>
        </p:spPr>
        <p:txBody>
          <a:bodyPr anchorCtr="0" anchor="t" bIns="45700" lIns="91425" spcFirstLastPara="1" rIns="91425" wrap="square" tIns="45700">
            <a:normAutofit/>
          </a:bodyPr>
          <a:lstStyle/>
          <a:p>
            <a:pPr indent="-442913" lvl="0" marL="442913" rtl="0" algn="l">
              <a:spcBef>
                <a:spcPts val="0"/>
              </a:spcBef>
              <a:spcAft>
                <a:spcPts val="0"/>
              </a:spcAft>
              <a:buClr>
                <a:srgbClr val="CC9900"/>
              </a:buClr>
              <a:buSzPts val="2080"/>
              <a:buFont typeface="Noto Sans Symbols"/>
              <a:buChar char="■"/>
            </a:pPr>
            <a:r>
              <a:rPr lang="ru-RU" sz="3200"/>
              <a:t>Может ли врач свести частоту (вероятность) ошибок первого рода к нулю?</a:t>
            </a:r>
            <a:endParaRPr/>
          </a:p>
          <a:p>
            <a:pPr indent="-442913" lvl="0" marL="442913" rtl="0" algn="l">
              <a:spcBef>
                <a:spcPts val="640"/>
              </a:spcBef>
              <a:spcAft>
                <a:spcPts val="0"/>
              </a:spcAft>
              <a:buClr>
                <a:srgbClr val="CC9900"/>
              </a:buClr>
              <a:buSzPts val="2080"/>
              <a:buFont typeface="Noto Sans Symbols"/>
              <a:buChar char="■"/>
            </a:pPr>
            <a:r>
              <a:rPr lang="ru-RU" sz="3200"/>
              <a:t>Может ли врач свести частоту (вероятность) ошибок второго рода к нулю?</a:t>
            </a:r>
            <a:endParaRPr/>
          </a:p>
        </p:txBody>
      </p:sp>
      <p:sp>
        <p:nvSpPr>
          <p:cNvPr id="572" name="Google Shape;572;p43"/>
          <p:cNvSpPr/>
          <p:nvPr/>
        </p:nvSpPr>
        <p:spPr>
          <a:xfrm>
            <a:off x="2265012" y="43753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573" name="Google Shape;573;p43"/>
          <p:cNvSpPr txBox="1"/>
          <p:nvPr>
            <p:ph idx="12" type="sldNum"/>
          </p:nvPr>
        </p:nvSpPr>
        <p:spPr>
          <a:xfrm>
            <a:off x="11734725" y="6512253"/>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4"/>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80" name="Google Shape;580;p44"/>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81" name="Google Shape;581;p44"/>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Есть исключения</a:t>
            </a:r>
            <a:endParaRPr/>
          </a:p>
        </p:txBody>
      </p:sp>
      <p:sp>
        <p:nvSpPr>
          <p:cNvPr id="582" name="Google Shape;582;p44"/>
          <p:cNvSpPr txBox="1"/>
          <p:nvPr>
            <p:ph idx="4294967295" type="body"/>
          </p:nvPr>
        </p:nvSpPr>
        <p:spPr>
          <a:xfrm>
            <a:off x="1581597" y="1747839"/>
            <a:ext cx="10585175" cy="4708525"/>
          </a:xfrm>
          <a:prstGeom prst="rect">
            <a:avLst/>
          </a:prstGeom>
          <a:noFill/>
          <a:ln>
            <a:noFill/>
          </a:ln>
        </p:spPr>
        <p:txBody>
          <a:bodyPr anchorCtr="0" anchor="t" bIns="45700" lIns="91425" spcFirstLastPara="1" rIns="91425" wrap="square" tIns="45700">
            <a:normAutofit/>
          </a:bodyPr>
          <a:lstStyle/>
          <a:p>
            <a:pPr indent="-449263" lvl="0" marL="449263" rtl="0" algn="l">
              <a:spcBef>
                <a:spcPts val="0"/>
              </a:spcBef>
              <a:spcAft>
                <a:spcPts val="0"/>
              </a:spcAft>
              <a:buClr>
                <a:srgbClr val="CC9900"/>
              </a:buClr>
              <a:buSzPts val="2080"/>
              <a:buFont typeface="Noto Sans Symbols"/>
              <a:buChar char="■"/>
            </a:pPr>
            <a:r>
              <a:rPr lang="ru-RU" sz="3200"/>
              <a:t>Например,</a:t>
            </a:r>
            <a:endParaRPr/>
          </a:p>
          <a:p>
            <a:pPr indent="-449263" lvl="0" marL="449263" rtl="0" algn="l">
              <a:spcBef>
                <a:spcPts val="640"/>
              </a:spcBef>
              <a:spcAft>
                <a:spcPts val="0"/>
              </a:spcAft>
              <a:buClr>
                <a:srgbClr val="CC9900"/>
              </a:buClr>
              <a:buSzPts val="2080"/>
              <a:buFont typeface="Noto Sans Symbols"/>
              <a:buChar char="■"/>
            </a:pPr>
            <a:r>
              <a:rPr lang="ru-RU" sz="3200"/>
              <a:t>если мы будем вакцинацию считать операцией,</a:t>
            </a:r>
            <a:endParaRPr/>
          </a:p>
          <a:p>
            <a:pPr indent="-449263" lvl="0" marL="449263" rtl="0" algn="l">
              <a:spcBef>
                <a:spcPts val="640"/>
              </a:spcBef>
              <a:spcAft>
                <a:spcPts val="0"/>
              </a:spcAft>
              <a:buClr>
                <a:srgbClr val="CC9900"/>
              </a:buClr>
              <a:buSzPts val="2080"/>
              <a:buFont typeface="Noto Sans Symbols"/>
              <a:buChar char="■"/>
            </a:pPr>
            <a:r>
              <a:rPr lang="ru-RU" sz="3200"/>
              <a:t>то получается, что врачи предпочитают делать маленькую "превентивную" операцию всем, чтобы исключить ошибки первого рода.</a:t>
            </a:r>
            <a:endParaRPr/>
          </a:p>
        </p:txBody>
      </p:sp>
      <p:sp>
        <p:nvSpPr>
          <p:cNvPr id="583" name="Google Shape;583;p44"/>
          <p:cNvSpPr txBox="1"/>
          <p:nvPr>
            <p:ph idx="12" type="sldNum"/>
          </p:nvPr>
        </p:nvSpPr>
        <p:spPr>
          <a:xfrm>
            <a:off x="11574355" y="6601838"/>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5"/>
          <p:cNvSpPr/>
          <p:nvPr/>
        </p:nvSpPr>
        <p:spPr>
          <a:xfrm>
            <a:off x="1438275" y="322263"/>
            <a:ext cx="1072849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90" name="Google Shape;590;p45"/>
          <p:cNvSpPr/>
          <p:nvPr/>
        </p:nvSpPr>
        <p:spPr>
          <a:xfrm>
            <a:off x="2373685" y="322263"/>
            <a:ext cx="8064128" cy="119570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91" name="Google Shape;591;p45"/>
          <p:cNvSpPr txBox="1"/>
          <p:nvPr>
            <p:ph idx="4294967295" type="title"/>
          </p:nvPr>
        </p:nvSpPr>
        <p:spPr>
          <a:xfrm>
            <a:off x="2058989" y="363230"/>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Последствия ошибок могут быть различными</a:t>
            </a:r>
            <a:endParaRPr/>
          </a:p>
        </p:txBody>
      </p:sp>
      <p:sp>
        <p:nvSpPr>
          <p:cNvPr id="592" name="Google Shape;592;p45"/>
          <p:cNvSpPr txBox="1"/>
          <p:nvPr>
            <p:ph idx="4294967295" type="body"/>
          </p:nvPr>
        </p:nvSpPr>
        <p:spPr>
          <a:xfrm>
            <a:off x="988246" y="2039876"/>
            <a:ext cx="10386439" cy="3827524"/>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1820"/>
              <a:buFont typeface="Noto Sans Symbols"/>
              <a:buChar char="■"/>
            </a:pPr>
            <a:r>
              <a:rPr lang="ru-RU" sz="2800"/>
              <a:t>Опасность этих ошибок может быть неодинакова. Очень часто ошибка первого рода альфа </a:t>
            </a:r>
            <a:r>
              <a:rPr lang="ru-RU" sz="2800">
                <a:solidFill>
                  <a:srgbClr val="0D78C9"/>
                </a:solidFill>
              </a:rPr>
              <a:t>в медицине  </a:t>
            </a:r>
            <a:r>
              <a:rPr lang="ru-RU" sz="2800"/>
              <a:t>— пропуск крайне тяжелого состояния — более опасна, чем бета — его ошибочная диагностика. В таком случае желательно, чтобы был обеспечен меньший уровень ошибок первого рода.</a:t>
            </a:r>
            <a:endParaRPr/>
          </a:p>
          <a:p>
            <a:pPr indent="-357188" lvl="0" marL="357188" rtl="0" algn="l">
              <a:spcBef>
                <a:spcPts val="560"/>
              </a:spcBef>
              <a:spcAft>
                <a:spcPts val="0"/>
              </a:spcAft>
              <a:buClr>
                <a:srgbClr val="CC9900"/>
              </a:buClr>
              <a:buSzPts val="1820"/>
              <a:buFont typeface="Noto Sans Symbols"/>
              <a:buChar char="■"/>
            </a:pPr>
            <a:r>
              <a:rPr lang="ru-RU" sz="2800"/>
              <a:t>В</a:t>
            </a:r>
            <a:r>
              <a:rPr lang="ru-RU" sz="2800">
                <a:solidFill>
                  <a:srgbClr val="0D78C9"/>
                </a:solidFill>
              </a:rPr>
              <a:t> юриспруденции </a:t>
            </a:r>
            <a:r>
              <a:rPr lang="ru-RU" sz="2800"/>
              <a:t>ошибка второго рода может оказаться более опасной </a:t>
            </a:r>
            <a:r>
              <a:rPr lang="ru-RU" sz="2800">
                <a:solidFill>
                  <a:srgbClr val="0D78C9"/>
                </a:solidFill>
              </a:rPr>
              <a:t>для общества</a:t>
            </a:r>
            <a:r>
              <a:rPr lang="ru-RU" sz="2800"/>
              <a:t>.</a:t>
            </a:r>
            <a:endParaRPr/>
          </a:p>
        </p:txBody>
      </p:sp>
      <p:sp>
        <p:nvSpPr>
          <p:cNvPr id="593" name="Google Shape;593;p45"/>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6"/>
          <p:cNvSpPr/>
          <p:nvPr/>
        </p:nvSpPr>
        <p:spPr>
          <a:xfrm>
            <a:off x="789509" y="322263"/>
            <a:ext cx="1124532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00" name="Google Shape;600;p46"/>
          <p:cNvSpPr/>
          <p:nvPr/>
        </p:nvSpPr>
        <p:spPr>
          <a:xfrm>
            <a:off x="2373685" y="322263"/>
            <a:ext cx="8064128" cy="119570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01" name="Google Shape;601;p46"/>
          <p:cNvSpPr txBox="1"/>
          <p:nvPr>
            <p:ph idx="4294967295" type="title"/>
          </p:nvPr>
        </p:nvSpPr>
        <p:spPr>
          <a:xfrm>
            <a:off x="2058989" y="363230"/>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Последствия ошибок могут быть различными</a:t>
            </a:r>
            <a:endParaRPr/>
          </a:p>
        </p:txBody>
      </p:sp>
      <p:sp>
        <p:nvSpPr>
          <p:cNvPr id="602" name="Google Shape;602;p46"/>
          <p:cNvSpPr txBox="1"/>
          <p:nvPr>
            <p:ph idx="4294967295" type="body"/>
          </p:nvPr>
        </p:nvSpPr>
        <p:spPr>
          <a:xfrm>
            <a:off x="1005533" y="2039876"/>
            <a:ext cx="10873207" cy="3827524"/>
          </a:xfrm>
          <a:prstGeom prst="rect">
            <a:avLst/>
          </a:prstGeom>
          <a:noFill/>
          <a:ln>
            <a:noFill/>
          </a:ln>
        </p:spPr>
        <p:txBody>
          <a:bodyPr anchorCtr="0" anchor="t" bIns="45700" lIns="91425" spcFirstLastPara="1" rIns="91425" wrap="square" tIns="45700">
            <a:normAutofit fontScale="92500" lnSpcReduction="10000"/>
          </a:bodyPr>
          <a:lstStyle/>
          <a:p>
            <a:pPr indent="-357188" lvl="0" marL="357188" rtl="0" algn="l">
              <a:spcBef>
                <a:spcPts val="0"/>
              </a:spcBef>
              <a:spcAft>
                <a:spcPts val="0"/>
              </a:spcAft>
              <a:buClr>
                <a:srgbClr val="CC9900"/>
              </a:buClr>
              <a:buSzPct val="65000"/>
              <a:buFont typeface="Noto Sans Symbols"/>
              <a:buChar char="■"/>
            </a:pPr>
            <a:r>
              <a:rPr lang="ru-RU" sz="2800"/>
              <a:t>Таким образом, последствия этих ошибок могут оказаться весьма различными. </a:t>
            </a:r>
            <a:endParaRPr/>
          </a:p>
          <a:p>
            <a:pPr indent="-357188" lvl="0" marL="357188" rtl="0" algn="l">
              <a:spcBef>
                <a:spcPts val="518"/>
              </a:spcBef>
              <a:spcAft>
                <a:spcPts val="0"/>
              </a:spcAft>
              <a:buClr>
                <a:srgbClr val="CC9900"/>
              </a:buClr>
              <a:buSzPct val="65000"/>
              <a:buFont typeface="Noto Sans Symbols"/>
              <a:buChar char="■"/>
            </a:pPr>
            <a:r>
              <a:rPr lang="ru-RU" sz="2800"/>
              <a:t>Например, если отвергнуто правильное решение «продолжать</a:t>
            </a:r>
            <a:br>
              <a:rPr lang="ru-RU" sz="2800"/>
            </a:br>
            <a:r>
              <a:rPr lang="ru-RU" sz="2800"/>
              <a:t>строительство жилого дома», то эта ошибка первого рода повлечёт материальный ущерб.</a:t>
            </a:r>
            <a:endParaRPr/>
          </a:p>
          <a:p>
            <a:pPr indent="-357188" lvl="0" marL="357188" rtl="0" algn="l">
              <a:spcBef>
                <a:spcPts val="518"/>
              </a:spcBef>
              <a:spcAft>
                <a:spcPts val="0"/>
              </a:spcAft>
              <a:buClr>
                <a:srgbClr val="CC9900"/>
              </a:buClr>
              <a:buSzPct val="65000"/>
              <a:buFont typeface="Noto Sans Symbols"/>
              <a:buChar char="■"/>
            </a:pPr>
            <a:r>
              <a:rPr lang="ru-RU" sz="2800"/>
              <a:t>Если же принято неправильное решение «продолжать строительство», несмотря на опасность обвала стройки,</a:t>
            </a:r>
            <a:br>
              <a:rPr lang="ru-RU" sz="2800"/>
            </a:br>
            <a:r>
              <a:rPr lang="ru-RU" sz="2800"/>
              <a:t>то эта ошибка второго рода может повлечь гибель людей. Можно еще привести примеры, когда ошибка первого рода влечёт более</a:t>
            </a:r>
            <a:br>
              <a:rPr lang="ru-RU" sz="2800"/>
            </a:br>
            <a:r>
              <a:rPr lang="ru-RU" sz="2800"/>
              <a:t>тяжёлые последствия, чем ошибка второго рода.</a:t>
            </a:r>
            <a:endParaRPr/>
          </a:p>
        </p:txBody>
      </p:sp>
      <p:sp>
        <p:nvSpPr>
          <p:cNvPr id="603" name="Google Shape;603;p46"/>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7"/>
          <p:cNvSpPr/>
          <p:nvPr/>
        </p:nvSpPr>
        <p:spPr>
          <a:xfrm>
            <a:off x="861517" y="322263"/>
            <a:ext cx="11449272"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09" name="Google Shape;609;p47"/>
          <p:cNvSpPr txBox="1"/>
          <p:nvPr/>
        </p:nvSpPr>
        <p:spPr>
          <a:xfrm>
            <a:off x="1077541" y="1506684"/>
            <a:ext cx="11233248" cy="4462760"/>
          </a:xfrm>
          <a:prstGeom prst="rect">
            <a:avLst/>
          </a:prstGeom>
          <a:noFill/>
          <a:ln>
            <a:noFill/>
          </a:ln>
        </p:spPr>
        <p:txBody>
          <a:bodyPr anchorCtr="0" anchor="t" bIns="45700" lIns="91425" spcFirstLastPara="1" rIns="91425" wrap="square" tIns="45700">
            <a:spAutoFit/>
          </a:bodyPr>
          <a:lstStyle/>
          <a:p>
            <a:pPr indent="357188" lvl="0" marL="0" marR="0" rtl="0" algn="l">
              <a:spcBef>
                <a:spcPts val="0"/>
              </a:spcBef>
              <a:spcAft>
                <a:spcPts val="0"/>
              </a:spcAft>
              <a:buNone/>
            </a:pPr>
            <a:r>
              <a:rPr lang="ru-RU" sz="2000">
                <a:solidFill>
                  <a:schemeClr val="dk1"/>
                </a:solidFill>
                <a:latin typeface="Arial"/>
                <a:ea typeface="Arial"/>
                <a:cs typeface="Arial"/>
                <a:sym typeface="Arial"/>
              </a:rPr>
              <a:t>В большинстве практических ситуаций принято считать, что </a:t>
            </a:r>
            <a:r>
              <a:rPr b="1" i="1" lang="ru-RU" sz="2000">
                <a:solidFill>
                  <a:schemeClr val="dk1"/>
                </a:solidFill>
                <a:latin typeface="Arial"/>
                <a:ea typeface="Arial"/>
                <a:cs typeface="Arial"/>
                <a:sym typeface="Arial"/>
              </a:rPr>
              <a:t>нулевая гипотеза</a:t>
            </a:r>
            <a:r>
              <a:rPr b="1" lang="ru-RU" sz="2000">
                <a:solidFill>
                  <a:schemeClr val="dk1"/>
                </a:solidFill>
                <a:latin typeface="Arial"/>
                <a:ea typeface="Arial"/>
                <a:cs typeface="Arial"/>
                <a:sym typeface="Arial"/>
              </a:rPr>
              <a:t> </a:t>
            </a:r>
            <a:r>
              <a:rPr b="1" i="1" lang="ru-RU" sz="2000">
                <a:solidFill>
                  <a:srgbClr val="FF0000"/>
                </a:solidFill>
                <a:latin typeface="Arial"/>
                <a:ea typeface="Arial"/>
                <a:cs typeface="Arial"/>
                <a:sym typeface="Arial"/>
              </a:rPr>
              <a:t>Н</a:t>
            </a:r>
            <a:r>
              <a:rPr b="1" baseline="-25000" i="1" lang="ru-RU" sz="2000">
                <a:solidFill>
                  <a:srgbClr val="FF0000"/>
                </a:solidFill>
                <a:latin typeface="Arial"/>
                <a:ea typeface="Arial"/>
                <a:cs typeface="Arial"/>
                <a:sym typeface="Arial"/>
              </a:rPr>
              <a:t>0</a:t>
            </a:r>
            <a:r>
              <a:rPr baseline="-25000" lang="ru-RU" sz="2000">
                <a:solidFill>
                  <a:schemeClr val="dk1"/>
                </a:solidFill>
                <a:latin typeface="Arial"/>
                <a:ea typeface="Arial"/>
                <a:cs typeface="Arial"/>
                <a:sym typeface="Arial"/>
              </a:rPr>
              <a:t> </a:t>
            </a:r>
            <a:r>
              <a:rPr lang="ru-RU" sz="2000">
                <a:solidFill>
                  <a:schemeClr val="dk1"/>
                </a:solidFill>
                <a:latin typeface="Arial"/>
                <a:ea typeface="Arial"/>
                <a:cs typeface="Arial"/>
                <a:sym typeface="Arial"/>
              </a:rPr>
              <a:t>соответствует состоянию «по умолчанию» (естественному, наиболее ожидаемому положению вещей) — например, что обследуемый человек здоров, или что проходящий через рамку металлодетектора пассажир не имеет запрещённых металлических предметов. </a:t>
            </a:r>
            <a:endParaRPr sz="2000">
              <a:solidFill>
                <a:schemeClr val="dk1"/>
              </a:solidFill>
              <a:latin typeface="Arial"/>
              <a:ea typeface="Arial"/>
              <a:cs typeface="Arial"/>
              <a:sym typeface="Arial"/>
            </a:endParaRPr>
          </a:p>
          <a:p>
            <a:pPr indent="357188" lvl="0" marL="0" marR="0" rtl="0" algn="l">
              <a:spcBef>
                <a:spcPts val="0"/>
              </a:spcBef>
              <a:spcAft>
                <a:spcPts val="0"/>
              </a:spcAft>
              <a:buNone/>
            </a:pPr>
            <a:r>
              <a:rPr lang="ru-RU" sz="2000">
                <a:solidFill>
                  <a:schemeClr val="dk1"/>
                </a:solidFill>
                <a:latin typeface="Arial"/>
                <a:ea typeface="Arial"/>
                <a:cs typeface="Arial"/>
                <a:sym typeface="Arial"/>
              </a:rPr>
              <a:t>Соответственно, </a:t>
            </a:r>
            <a:r>
              <a:rPr i="1" lang="ru-RU" sz="2000">
                <a:solidFill>
                  <a:schemeClr val="dk1"/>
                </a:solidFill>
                <a:latin typeface="Arial"/>
                <a:ea typeface="Arial"/>
                <a:cs typeface="Arial"/>
                <a:sym typeface="Arial"/>
              </a:rPr>
              <a:t>альтернативная гипотеза</a:t>
            </a:r>
            <a:r>
              <a:rPr lang="ru-RU" sz="2000">
                <a:solidFill>
                  <a:schemeClr val="dk1"/>
                </a:solidFill>
                <a:latin typeface="Arial"/>
                <a:ea typeface="Arial"/>
                <a:cs typeface="Arial"/>
                <a:sym typeface="Arial"/>
              </a:rPr>
              <a:t> </a:t>
            </a:r>
            <a:r>
              <a:rPr b="1" i="1" lang="ru-RU" sz="2000">
                <a:solidFill>
                  <a:srgbClr val="FF0000"/>
                </a:solidFill>
                <a:latin typeface="Arial"/>
                <a:ea typeface="Arial"/>
                <a:cs typeface="Arial"/>
                <a:sym typeface="Arial"/>
              </a:rPr>
              <a:t>Н</a:t>
            </a:r>
            <a:r>
              <a:rPr b="1" baseline="-25000" i="1" lang="ru-RU" sz="2000">
                <a:solidFill>
                  <a:srgbClr val="FF0000"/>
                </a:solidFill>
                <a:latin typeface="Arial"/>
                <a:ea typeface="Arial"/>
                <a:cs typeface="Arial"/>
                <a:sym typeface="Arial"/>
              </a:rPr>
              <a:t>1</a:t>
            </a:r>
            <a:r>
              <a:rPr lang="ru-RU" sz="2400">
                <a:solidFill>
                  <a:schemeClr val="dk1"/>
                </a:solidFill>
                <a:latin typeface="Arial"/>
                <a:ea typeface="Arial"/>
                <a:cs typeface="Arial"/>
                <a:sym typeface="Arial"/>
              </a:rPr>
              <a:t> </a:t>
            </a:r>
            <a:r>
              <a:rPr lang="ru-RU" sz="2000">
                <a:solidFill>
                  <a:schemeClr val="dk1"/>
                </a:solidFill>
                <a:latin typeface="Arial"/>
                <a:ea typeface="Arial"/>
                <a:cs typeface="Arial"/>
                <a:sym typeface="Arial"/>
              </a:rPr>
              <a:t>обозначает противоположную ситуацию, которая обычно трактуется как менее вероятная, неординарная, требующая какой-либо реакции. </a:t>
            </a:r>
            <a:endParaRPr/>
          </a:p>
          <a:p>
            <a:pPr indent="357188" lvl="0" marL="0" marR="0" rtl="0" algn="l">
              <a:spcBef>
                <a:spcPts val="0"/>
              </a:spcBef>
              <a:spcAft>
                <a:spcPts val="0"/>
              </a:spcAft>
              <a:buNone/>
            </a:pPr>
            <a:r>
              <a:rPr lang="ru-RU" sz="2000">
                <a:solidFill>
                  <a:schemeClr val="dk1"/>
                </a:solidFill>
                <a:latin typeface="Arial"/>
                <a:ea typeface="Arial"/>
                <a:cs typeface="Arial"/>
                <a:sym typeface="Arial"/>
              </a:rPr>
              <a:t>С учётом вышесказанного, </a:t>
            </a:r>
            <a:r>
              <a:rPr i="1" lang="ru-RU" sz="2000">
                <a:solidFill>
                  <a:schemeClr val="dk1"/>
                </a:solidFill>
                <a:latin typeface="Arial"/>
                <a:ea typeface="Arial"/>
                <a:cs typeface="Arial"/>
                <a:sym typeface="Arial"/>
              </a:rPr>
              <a:t>ошибку первого рода</a:t>
            </a:r>
            <a:r>
              <a:rPr lang="ru-RU" sz="2000">
                <a:solidFill>
                  <a:schemeClr val="dk1"/>
                </a:solidFill>
                <a:latin typeface="Arial"/>
                <a:ea typeface="Arial"/>
                <a:cs typeface="Arial"/>
                <a:sym typeface="Arial"/>
              </a:rPr>
              <a:t> часто называют </a:t>
            </a:r>
            <a:r>
              <a:rPr b="1" lang="ru-RU" sz="2000">
                <a:solidFill>
                  <a:schemeClr val="dk1"/>
                </a:solidFill>
                <a:latin typeface="Arial"/>
                <a:ea typeface="Arial"/>
                <a:cs typeface="Arial"/>
                <a:sym typeface="Arial"/>
              </a:rPr>
              <a:t>ложной тревогой</a:t>
            </a:r>
            <a:r>
              <a:rPr lang="ru-RU" sz="2000">
                <a:solidFill>
                  <a:schemeClr val="dk1"/>
                </a:solidFill>
                <a:latin typeface="Arial"/>
                <a:ea typeface="Arial"/>
                <a:cs typeface="Arial"/>
                <a:sym typeface="Arial"/>
              </a:rPr>
              <a:t>, </a:t>
            </a:r>
            <a:r>
              <a:rPr b="1" lang="ru-RU" sz="2000">
                <a:solidFill>
                  <a:schemeClr val="dk1"/>
                </a:solidFill>
                <a:latin typeface="Arial"/>
                <a:ea typeface="Arial"/>
                <a:cs typeface="Arial"/>
                <a:sym typeface="Arial"/>
              </a:rPr>
              <a:t>ложным срабатыванием</a:t>
            </a:r>
            <a:r>
              <a:rPr lang="ru-RU" sz="2000">
                <a:solidFill>
                  <a:schemeClr val="dk1"/>
                </a:solidFill>
                <a:latin typeface="Arial"/>
                <a:ea typeface="Arial"/>
                <a:cs typeface="Arial"/>
                <a:sym typeface="Arial"/>
              </a:rPr>
              <a:t> или </a:t>
            </a:r>
            <a:r>
              <a:rPr b="1" lang="ru-RU" sz="2000">
                <a:solidFill>
                  <a:schemeClr val="dk1"/>
                </a:solidFill>
                <a:latin typeface="Arial"/>
                <a:ea typeface="Arial"/>
                <a:cs typeface="Arial"/>
                <a:sym typeface="Arial"/>
              </a:rPr>
              <a:t>ложноположительным срабатыванием</a:t>
            </a:r>
            <a:r>
              <a:rPr lang="ru-RU" sz="2000">
                <a:solidFill>
                  <a:schemeClr val="dk1"/>
                </a:solidFill>
                <a:latin typeface="Arial"/>
                <a:ea typeface="Arial"/>
                <a:cs typeface="Arial"/>
                <a:sym typeface="Arial"/>
              </a:rPr>
              <a:t>. Если, например, анализ крови показал наличие заболевания, хотя на самом деле человек здоров, или металлодетектор выдал сигнал тревоги, сработав на металлическую пряжку ремня, то принятая гипотеза не верна, а следовательно совершена ошибка первого рода. Слово «ложноположительный» в данном случае не имеет отношения к желательности или нежелательности самого события. </a:t>
            </a:r>
            <a:endParaRPr/>
          </a:p>
        </p:txBody>
      </p:sp>
      <p:pic>
        <p:nvPicPr>
          <p:cNvPr descr="student" id="610" name="Google Shape;610;p47"/>
          <p:cNvPicPr preferRelativeResize="0"/>
          <p:nvPr/>
        </p:nvPicPr>
        <p:blipFill rotWithShape="1">
          <a:blip r:embed="rId3">
            <a:alphaModFix/>
          </a:blip>
          <a:srcRect b="0" l="0" r="0" t="0"/>
          <a:stretch/>
        </p:blipFill>
        <p:spPr>
          <a:xfrm>
            <a:off x="9822057" y="5546952"/>
            <a:ext cx="976565" cy="1280092"/>
          </a:xfrm>
          <a:prstGeom prst="rect">
            <a:avLst/>
          </a:prstGeom>
          <a:noFill/>
          <a:ln>
            <a:noFill/>
          </a:ln>
        </p:spPr>
      </p:pic>
      <p:sp>
        <p:nvSpPr>
          <p:cNvPr id="611" name="Google Shape;611;p47"/>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612" name="Google Shape;612;p47"/>
          <p:cNvSpPr txBox="1"/>
          <p:nvPr>
            <p:ph idx="12" type="sldNum"/>
          </p:nvPr>
        </p:nvSpPr>
        <p:spPr>
          <a:xfrm>
            <a:off x="10998292" y="6581068"/>
            <a:ext cx="131249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48"/>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18" name="Google Shape;618;p48"/>
          <p:cNvSpPr txBox="1"/>
          <p:nvPr/>
        </p:nvSpPr>
        <p:spPr>
          <a:xfrm>
            <a:off x="1005533" y="1436137"/>
            <a:ext cx="10944521" cy="40534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200"/>
              <a:buFont typeface="Noto Sans Symbols"/>
              <a:buNone/>
            </a:pPr>
            <a:r>
              <a:rPr lang="ru-RU" sz="2200">
                <a:solidFill>
                  <a:schemeClr val="dk1"/>
                </a:solidFill>
                <a:latin typeface="Arial"/>
                <a:ea typeface="Arial"/>
                <a:cs typeface="Arial"/>
                <a:sym typeface="Arial"/>
              </a:rPr>
              <a:t>Максимальный шанс (вероятность) допустить ошибку 1-го рода обозначается </a:t>
            </a:r>
            <a:r>
              <a:rPr b="1" i="1" lang="ru-RU" sz="2200">
                <a:solidFill>
                  <a:schemeClr val="dk1"/>
                </a:solidFill>
                <a:latin typeface="Arial"/>
                <a:ea typeface="Arial"/>
                <a:cs typeface="Arial"/>
                <a:sym typeface="Arial"/>
              </a:rPr>
              <a:t>α</a:t>
            </a:r>
            <a:r>
              <a:rPr lang="ru-RU" sz="2200">
                <a:solidFill>
                  <a:schemeClr val="dk1"/>
                </a:solidFill>
                <a:latin typeface="Arial"/>
                <a:ea typeface="Arial"/>
                <a:cs typeface="Arial"/>
                <a:sym typeface="Arial"/>
              </a:rPr>
              <a:t> (альфа). Это </a:t>
            </a:r>
            <a:r>
              <a:rPr b="1" i="1" lang="ru-RU" sz="2200">
                <a:solidFill>
                  <a:schemeClr val="dk1"/>
                </a:solidFill>
                <a:latin typeface="Arial"/>
                <a:ea typeface="Arial"/>
                <a:cs typeface="Arial"/>
                <a:sym typeface="Arial"/>
              </a:rPr>
              <a:t>уровень значимости критерия</a:t>
            </a:r>
            <a:r>
              <a:rPr lang="ru-RU" sz="2200">
                <a:solidFill>
                  <a:schemeClr val="dk1"/>
                </a:solidFill>
                <a:latin typeface="Arial"/>
                <a:ea typeface="Arial"/>
                <a:cs typeface="Arial"/>
                <a:sym typeface="Arial"/>
              </a:rPr>
              <a:t>; нулевую гипотезу отвергают, если наше значение </a:t>
            </a:r>
            <a:r>
              <a:rPr i="1" lang="ru-RU" sz="2200">
                <a:solidFill>
                  <a:schemeClr val="dk1"/>
                </a:solidFill>
                <a:latin typeface="Arial"/>
                <a:ea typeface="Arial"/>
                <a:cs typeface="Arial"/>
                <a:sym typeface="Arial"/>
              </a:rPr>
              <a:t>p</a:t>
            </a:r>
            <a:r>
              <a:rPr lang="ru-RU" sz="2200">
                <a:solidFill>
                  <a:schemeClr val="dk1"/>
                </a:solidFill>
                <a:latin typeface="Arial"/>
                <a:ea typeface="Arial"/>
                <a:cs typeface="Arial"/>
                <a:sym typeface="Arial"/>
              </a:rPr>
              <a:t> ниже уровня значимости, т. е., если </a:t>
            </a:r>
            <a:r>
              <a:rPr b="1" i="1" lang="ru-RU" sz="2200">
                <a:solidFill>
                  <a:schemeClr val="dk1"/>
                </a:solidFill>
                <a:latin typeface="Arial"/>
                <a:ea typeface="Arial"/>
                <a:cs typeface="Arial"/>
                <a:sym typeface="Arial"/>
              </a:rPr>
              <a:t>p &lt; α</a:t>
            </a:r>
            <a:r>
              <a:rPr lang="ru-RU" sz="2200">
                <a:solidFill>
                  <a:schemeClr val="dk1"/>
                </a:solidFill>
                <a:latin typeface="Arial"/>
                <a:ea typeface="Arial"/>
                <a:cs typeface="Arial"/>
                <a:sym typeface="Arial"/>
              </a:rPr>
              <a:t>.</a:t>
            </a:r>
            <a:endParaRPr/>
          </a:p>
          <a:p>
            <a:pPr indent="-90805" lvl="0" marL="0" marR="0" rtl="0" algn="l">
              <a:spcBef>
                <a:spcPts val="440"/>
              </a:spcBef>
              <a:spcAft>
                <a:spcPts val="0"/>
              </a:spcAft>
              <a:buClr>
                <a:schemeClr val="accent1"/>
              </a:buClr>
              <a:buSzPts val="1430"/>
              <a:buFont typeface="Noto Sans Symbols"/>
              <a:buChar char="■"/>
            </a:pPr>
            <a:r>
              <a:rPr lang="ru-RU" sz="2200">
                <a:solidFill>
                  <a:schemeClr val="dk1"/>
                </a:solidFill>
                <a:latin typeface="Arial"/>
                <a:ea typeface="Arial"/>
                <a:cs typeface="Arial"/>
                <a:sym typeface="Arial"/>
              </a:rPr>
              <a:t>Следует принять решение относительно значения </a:t>
            </a:r>
            <a:r>
              <a:rPr b="1" i="1" lang="ru-RU" sz="2200">
                <a:solidFill>
                  <a:schemeClr val="dk1"/>
                </a:solidFill>
                <a:latin typeface="Arial"/>
                <a:ea typeface="Arial"/>
                <a:cs typeface="Arial"/>
                <a:sym typeface="Arial"/>
              </a:rPr>
              <a:t>α</a:t>
            </a:r>
            <a:r>
              <a:rPr lang="ru-RU" sz="2200">
                <a:solidFill>
                  <a:schemeClr val="dk1"/>
                </a:solidFill>
                <a:latin typeface="Arial"/>
                <a:ea typeface="Arial"/>
                <a:cs typeface="Arial"/>
                <a:sym typeface="Arial"/>
              </a:rPr>
              <a:t> прежде, чем будут собраны данные; обычно назначают условное значение 0,05, хотя можно выбрать более ограничивающее значение, например 0,01. </a:t>
            </a:r>
            <a:br>
              <a:rPr lang="ru-RU" sz="2200">
                <a:solidFill>
                  <a:schemeClr val="dk1"/>
                </a:solidFill>
                <a:latin typeface="Arial"/>
                <a:ea typeface="Arial"/>
                <a:cs typeface="Arial"/>
                <a:sym typeface="Arial"/>
              </a:rPr>
            </a:br>
            <a:r>
              <a:rPr lang="ru-RU" sz="2200">
                <a:solidFill>
                  <a:schemeClr val="dk1"/>
                </a:solidFill>
                <a:latin typeface="Arial"/>
                <a:ea typeface="Arial"/>
                <a:cs typeface="Arial"/>
                <a:sym typeface="Arial"/>
              </a:rPr>
              <a:t>Шанс допустить ошибку 1-го рода никогда не превысит выбранного уровня значимости, скажем </a:t>
            </a:r>
            <a:r>
              <a:rPr b="1" i="1" lang="ru-RU" sz="2200">
                <a:solidFill>
                  <a:schemeClr val="dk1"/>
                </a:solidFill>
                <a:latin typeface="Arial"/>
                <a:ea typeface="Arial"/>
                <a:cs typeface="Arial"/>
                <a:sym typeface="Arial"/>
              </a:rPr>
              <a:t>α = 0,05</a:t>
            </a:r>
            <a:r>
              <a:rPr lang="ru-RU" sz="2200">
                <a:solidFill>
                  <a:schemeClr val="dk1"/>
                </a:solidFill>
                <a:latin typeface="Arial"/>
                <a:ea typeface="Arial"/>
                <a:cs typeface="Arial"/>
                <a:sym typeface="Arial"/>
              </a:rPr>
              <a:t>, так как нулевую гипотезу отвергают только тогда, когда </a:t>
            </a:r>
            <a:r>
              <a:rPr i="1" lang="ru-RU" sz="2200">
                <a:solidFill>
                  <a:schemeClr val="dk1"/>
                </a:solidFill>
                <a:latin typeface="Arial"/>
                <a:ea typeface="Arial"/>
                <a:cs typeface="Arial"/>
                <a:sym typeface="Arial"/>
              </a:rPr>
              <a:t>p</a:t>
            </a:r>
            <a:r>
              <a:rPr lang="ru-RU" sz="2200">
                <a:solidFill>
                  <a:schemeClr val="dk1"/>
                </a:solidFill>
                <a:latin typeface="Arial"/>
                <a:ea typeface="Arial"/>
                <a:cs typeface="Arial"/>
                <a:sym typeface="Arial"/>
              </a:rPr>
              <a:t>&lt; 0,05. Если обнаружено, что </a:t>
            </a:r>
            <a:r>
              <a:rPr i="1" lang="ru-RU" sz="2200">
                <a:solidFill>
                  <a:schemeClr val="dk1"/>
                </a:solidFill>
                <a:latin typeface="Arial"/>
                <a:ea typeface="Arial"/>
                <a:cs typeface="Arial"/>
                <a:sym typeface="Arial"/>
              </a:rPr>
              <a:t>p</a:t>
            </a:r>
            <a:r>
              <a:rPr lang="ru-RU" sz="2200">
                <a:solidFill>
                  <a:schemeClr val="dk1"/>
                </a:solidFill>
                <a:latin typeface="Arial"/>
                <a:ea typeface="Arial"/>
                <a:cs typeface="Arial"/>
                <a:sym typeface="Arial"/>
              </a:rPr>
              <a:t> &gt; 0,05, то нулевую гипотезу не отвергнут и, следовательно, не допустят ошибки 1-го рода.</a:t>
            </a:r>
            <a:endParaRPr/>
          </a:p>
          <a:p>
            <a:pPr indent="0" lvl="0" marL="0" marR="0" rtl="0" algn="l">
              <a:spcBef>
                <a:spcPts val="1100"/>
              </a:spcBef>
              <a:spcAft>
                <a:spcPts val="0"/>
              </a:spcAft>
              <a:buClr>
                <a:schemeClr val="dk1"/>
              </a:buClr>
              <a:buSzPts val="2200"/>
              <a:buFont typeface="Noto Sans Symbols"/>
              <a:buNone/>
            </a:pPr>
            <a:r>
              <a:rPr lang="ru-RU" sz="2200">
                <a:solidFill>
                  <a:schemeClr val="dk1"/>
                </a:solidFill>
                <a:latin typeface="Arial"/>
                <a:ea typeface="Arial"/>
                <a:cs typeface="Arial"/>
                <a:sym typeface="Arial"/>
              </a:rPr>
              <a:t> </a:t>
            </a:r>
            <a:r>
              <a:rPr b="1" i="1" lang="ru-RU" sz="2200">
                <a:solidFill>
                  <a:schemeClr val="dk1"/>
                </a:solidFill>
                <a:latin typeface="Arial"/>
                <a:ea typeface="Arial"/>
                <a:cs typeface="Arial"/>
                <a:sym typeface="Arial"/>
              </a:rPr>
              <a:t>Мощность</a:t>
            </a:r>
            <a:r>
              <a:rPr b="1" lang="ru-RU" sz="2200">
                <a:solidFill>
                  <a:schemeClr val="dk1"/>
                </a:solidFill>
                <a:latin typeface="Arial"/>
                <a:ea typeface="Arial"/>
                <a:cs typeface="Arial"/>
                <a:sym typeface="Arial"/>
              </a:rPr>
              <a:t> </a:t>
            </a:r>
            <a:r>
              <a:rPr lang="ru-RU" sz="2200">
                <a:solidFill>
                  <a:schemeClr val="dk1"/>
                </a:solidFill>
                <a:latin typeface="Arial"/>
                <a:ea typeface="Arial"/>
                <a:cs typeface="Arial"/>
                <a:sym typeface="Arial"/>
              </a:rPr>
              <a:t>— это вероятность отклонения нулевой гипотезы, когда она ложна.</a:t>
            </a:r>
            <a:endParaRPr sz="2200">
              <a:solidFill>
                <a:schemeClr val="dk1"/>
              </a:solidFill>
              <a:latin typeface="Arial"/>
              <a:ea typeface="Arial"/>
              <a:cs typeface="Arial"/>
              <a:sym typeface="Arial"/>
            </a:endParaRPr>
          </a:p>
        </p:txBody>
      </p:sp>
      <p:sp>
        <p:nvSpPr>
          <p:cNvPr id="619" name="Google Shape;619;p48"/>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620" name="Google Shape;620;p48"/>
          <p:cNvSpPr txBox="1"/>
          <p:nvPr>
            <p:ph idx="12" type="sldNum"/>
          </p:nvPr>
        </p:nvSpPr>
        <p:spPr>
          <a:xfrm>
            <a:off x="11605002" y="6594114"/>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9"/>
          <p:cNvSpPr/>
          <p:nvPr/>
        </p:nvSpPr>
        <p:spPr>
          <a:xfrm>
            <a:off x="933525" y="422079"/>
            <a:ext cx="1145286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pic>
        <p:nvPicPr>
          <p:cNvPr id="627" name="Google Shape;627;p49"/>
          <p:cNvPicPr preferRelativeResize="0"/>
          <p:nvPr/>
        </p:nvPicPr>
        <p:blipFill rotWithShape="1">
          <a:blip r:embed="rId3">
            <a:alphaModFix/>
          </a:blip>
          <a:srcRect b="0" l="0" r="0" t="0"/>
          <a:stretch/>
        </p:blipFill>
        <p:spPr>
          <a:xfrm>
            <a:off x="4006881" y="3663807"/>
            <a:ext cx="4847524" cy="3266136"/>
          </a:xfrm>
          <a:prstGeom prst="rect">
            <a:avLst/>
          </a:prstGeom>
          <a:noFill/>
          <a:ln>
            <a:noFill/>
          </a:ln>
        </p:spPr>
      </p:pic>
      <p:sp>
        <p:nvSpPr>
          <p:cNvPr id="628" name="Google Shape;628;p49"/>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29" name="Google Shape;629;p49"/>
          <p:cNvSpPr txBox="1"/>
          <p:nvPr>
            <p:ph idx="4294967295" type="title"/>
          </p:nvPr>
        </p:nvSpPr>
        <p:spPr>
          <a:xfrm>
            <a:off x="2517961" y="332872"/>
            <a:ext cx="7371978" cy="794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Уровень значимости</a:t>
            </a:r>
            <a:endParaRPr/>
          </a:p>
        </p:txBody>
      </p:sp>
      <p:sp>
        <p:nvSpPr>
          <p:cNvPr id="630" name="Google Shape;630;p49"/>
          <p:cNvSpPr txBox="1"/>
          <p:nvPr>
            <p:ph idx="4294967295" type="body"/>
          </p:nvPr>
        </p:nvSpPr>
        <p:spPr>
          <a:xfrm>
            <a:off x="1200026" y="1258888"/>
            <a:ext cx="10534699" cy="2494375"/>
          </a:xfrm>
          <a:prstGeom prst="rect">
            <a:avLst/>
          </a:prstGeom>
          <a:noFill/>
          <a:ln>
            <a:noFill/>
          </a:ln>
        </p:spPr>
        <p:txBody>
          <a:bodyPr anchorCtr="0" anchor="t" bIns="45700" lIns="91425" spcFirstLastPara="1" rIns="91425" wrap="square" tIns="45700">
            <a:normAutofit/>
          </a:bodyPr>
          <a:lstStyle/>
          <a:p>
            <a:pPr indent="-360363" lvl="0" marL="360363" rtl="0" algn="l">
              <a:spcBef>
                <a:spcPts val="0"/>
              </a:spcBef>
              <a:spcAft>
                <a:spcPts val="0"/>
              </a:spcAft>
              <a:buClr>
                <a:srgbClr val="CC9900"/>
              </a:buClr>
              <a:buSzPts val="1560"/>
              <a:buFont typeface="Noto Sans Symbols"/>
              <a:buChar char="■"/>
            </a:pPr>
            <a:r>
              <a:rPr lang="ru-RU" sz="2400"/>
              <a:t>Долю ошибок первого рода ограничивают сверху числом, называемым </a:t>
            </a:r>
            <a:r>
              <a:rPr b="1" i="1" lang="ru-RU" sz="2400">
                <a:solidFill>
                  <a:srgbClr val="FF0000"/>
                </a:solidFill>
              </a:rPr>
              <a:t>уровень значимости</a:t>
            </a:r>
            <a:r>
              <a:rPr lang="ru-RU" sz="2400"/>
              <a:t>.</a:t>
            </a:r>
            <a:endParaRPr/>
          </a:p>
          <a:p>
            <a:pPr indent="-360363" lvl="0" marL="360363" rtl="0" algn="l">
              <a:spcBef>
                <a:spcPts val="480"/>
              </a:spcBef>
              <a:spcAft>
                <a:spcPts val="0"/>
              </a:spcAft>
              <a:buClr>
                <a:srgbClr val="CC9900"/>
              </a:buClr>
              <a:buSzPts val="1560"/>
              <a:buFont typeface="Noto Sans Symbols"/>
              <a:buChar char="■"/>
            </a:pPr>
            <a:r>
              <a:rPr lang="ru-RU" sz="2400"/>
              <a:t>Исторически сложилось так, что в качестве уровня значимости чаще всего выбирают одно из чисел 0.005, 0.01, 0.05.</a:t>
            </a:r>
            <a:endParaRPr/>
          </a:p>
          <a:p>
            <a:pPr indent="-360363" lvl="0" marL="360363" rtl="0" algn="l">
              <a:spcBef>
                <a:spcPts val="480"/>
              </a:spcBef>
              <a:spcAft>
                <a:spcPts val="0"/>
              </a:spcAft>
              <a:buClr>
                <a:srgbClr val="CC9900"/>
              </a:buClr>
              <a:buSzPts val="1560"/>
              <a:buFont typeface="Noto Sans Symbols"/>
              <a:buChar char="■"/>
            </a:pPr>
            <a:r>
              <a:rPr lang="ru-RU" sz="2400"/>
              <a:t>То есть аналитик допускает, что (в среднем) одна проверка из 200, 100, 20 будет давать неверный результат.</a:t>
            </a:r>
            <a:endParaRPr/>
          </a:p>
        </p:txBody>
      </p:sp>
      <p:sp>
        <p:nvSpPr>
          <p:cNvPr id="631" name="Google Shape;631;p49"/>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50"/>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38" name="Google Shape;638;p50"/>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39" name="Google Shape;639;p50"/>
          <p:cNvSpPr txBox="1"/>
          <p:nvPr>
            <p:ph idx="4294967295" type="title"/>
          </p:nvPr>
        </p:nvSpPr>
        <p:spPr>
          <a:xfrm>
            <a:off x="2949749" y="288926"/>
            <a:ext cx="6795914"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Для новичков!</a:t>
            </a:r>
            <a:endParaRPr/>
          </a:p>
        </p:txBody>
      </p:sp>
      <p:sp>
        <p:nvSpPr>
          <p:cNvPr id="640" name="Google Shape;640;p50"/>
          <p:cNvSpPr txBox="1"/>
          <p:nvPr/>
        </p:nvSpPr>
        <p:spPr>
          <a:xfrm>
            <a:off x="1074638" y="1459114"/>
            <a:ext cx="10948117" cy="2047985"/>
          </a:xfrm>
          <a:prstGeom prst="rect">
            <a:avLst/>
          </a:prstGeom>
          <a:noFill/>
          <a:ln>
            <a:noFill/>
          </a:ln>
        </p:spPr>
        <p:txBody>
          <a:bodyPr anchorCtr="0" anchor="t" bIns="45700" lIns="91425" spcFirstLastPara="1" rIns="91425" wrap="square" tIns="45700">
            <a:noAutofit/>
          </a:bodyPr>
          <a:lstStyle/>
          <a:p>
            <a:pPr indent="-99060" lvl="0" marL="0"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В эконометрике чаще всего уровень значимости равен </a:t>
            </a:r>
            <a:r>
              <a:rPr b="1" i="1" lang="ru-RU" sz="2400">
                <a:solidFill>
                  <a:srgbClr val="0000FF"/>
                </a:solidFill>
                <a:latin typeface="Calibri"/>
                <a:ea typeface="Calibri"/>
                <a:cs typeface="Calibri"/>
                <a:sym typeface="Calibri"/>
              </a:rPr>
              <a:t>0.05</a:t>
            </a:r>
            <a:endParaRPr/>
          </a:p>
          <a:p>
            <a:pPr indent="-99060" lvl="0" marL="0"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В генетике — </a:t>
            </a:r>
            <a:r>
              <a:rPr b="1" i="1" lang="ru-RU" sz="2400">
                <a:solidFill>
                  <a:srgbClr val="0000FF"/>
                </a:solidFill>
                <a:latin typeface="Calibri"/>
                <a:ea typeface="Calibri"/>
                <a:cs typeface="Calibri"/>
                <a:sym typeface="Calibri"/>
              </a:rPr>
              <a:t>0.01</a:t>
            </a:r>
            <a:endParaRPr/>
          </a:p>
          <a:p>
            <a:pPr indent="-99060" lvl="0" marL="0"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Выбор уровня значимости – большая проблема! Зависит, например, от числа наблюдений!</a:t>
            </a:r>
            <a:endParaRPr/>
          </a:p>
          <a:p>
            <a:pPr indent="0" lvl="0" marL="0" marR="0" rtl="0" algn="l">
              <a:spcBef>
                <a:spcPts val="48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p:txBody>
      </p:sp>
      <p:sp>
        <p:nvSpPr>
          <p:cNvPr id="641" name="Google Shape;641;p50"/>
          <p:cNvSpPr/>
          <p:nvPr/>
        </p:nvSpPr>
        <p:spPr>
          <a:xfrm>
            <a:off x="1074637" y="3492613"/>
            <a:ext cx="10948119" cy="3416320"/>
          </a:xfrm>
          <a:prstGeom prst="rect">
            <a:avLst/>
          </a:prstGeom>
          <a:noFill/>
          <a:ln>
            <a:noFill/>
          </a:ln>
        </p:spPr>
        <p:txBody>
          <a:bodyPr anchorCtr="0" anchor="t" bIns="45700" lIns="91425" spcFirstLastPara="1" rIns="91425" wrap="square" tIns="45700">
            <a:noAutofit/>
          </a:bodyPr>
          <a:lstStyle/>
          <a:p>
            <a:pPr indent="-99060" lvl="0" marL="0"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И тут возникает мысль, что чем меньше «альфа», тем вроде бы лучше. Но это только вроде: при уменьшении вероятности  </a:t>
            </a:r>
            <a:r>
              <a:rPr b="1" i="1" lang="ru-RU" sz="2800">
                <a:solidFill>
                  <a:srgbClr val="0000FF"/>
                </a:solidFill>
                <a:latin typeface="Times New Roman"/>
                <a:ea typeface="Times New Roman"/>
                <a:cs typeface="Times New Roman"/>
                <a:sym typeface="Times New Roman"/>
              </a:rPr>
              <a:t>α</a:t>
            </a:r>
            <a:r>
              <a:rPr lang="ru-RU" sz="2400">
                <a:solidFill>
                  <a:schemeClr val="dk1"/>
                </a:solidFill>
                <a:latin typeface="Calibri"/>
                <a:ea typeface="Calibri"/>
                <a:cs typeface="Calibri"/>
                <a:sym typeface="Calibri"/>
              </a:rPr>
              <a:t> - отвергнуть правильную гипотезу растёт вероятность  </a:t>
            </a:r>
            <a:r>
              <a:rPr b="1" i="1" lang="ru-RU" sz="2800">
                <a:solidFill>
                  <a:srgbClr val="0000FF"/>
                </a:solidFill>
                <a:latin typeface="Times New Roman"/>
                <a:ea typeface="Times New Roman"/>
                <a:cs typeface="Times New Roman"/>
                <a:sym typeface="Times New Roman"/>
              </a:rPr>
              <a:t>β</a:t>
            </a:r>
            <a:r>
              <a:rPr lang="ru-RU" sz="2400">
                <a:solidFill>
                  <a:schemeClr val="dk1"/>
                </a:solidFill>
                <a:latin typeface="Calibri"/>
                <a:ea typeface="Calibri"/>
                <a:cs typeface="Calibri"/>
                <a:sym typeface="Calibri"/>
              </a:rPr>
              <a:t>  - принять неверную гипотезу (при прочих равных условиях). Поэтому перед исследователем стоит задача грамотно подобрать соотношение вероятностей </a:t>
            </a:r>
            <a:r>
              <a:rPr b="1" i="1" lang="ru-RU" sz="2400">
                <a:solidFill>
                  <a:srgbClr val="0000FF"/>
                </a:solidFill>
                <a:latin typeface="Times New Roman"/>
                <a:ea typeface="Times New Roman"/>
                <a:cs typeface="Times New Roman"/>
                <a:sym typeface="Times New Roman"/>
              </a:rPr>
              <a:t> α</a:t>
            </a:r>
            <a:r>
              <a:rPr lang="ru-RU" sz="2400">
                <a:solidFill>
                  <a:schemeClr val="dk1"/>
                </a:solidFill>
                <a:latin typeface="Calibri"/>
                <a:ea typeface="Calibri"/>
                <a:cs typeface="Calibri"/>
                <a:sym typeface="Calibri"/>
              </a:rPr>
              <a:t>   и  </a:t>
            </a:r>
            <a:r>
              <a:rPr b="1" i="1" lang="ru-RU" sz="2400">
                <a:solidFill>
                  <a:srgbClr val="0000FF"/>
                </a:solidFill>
                <a:latin typeface="Times New Roman"/>
                <a:ea typeface="Times New Roman"/>
                <a:cs typeface="Times New Roman"/>
                <a:sym typeface="Times New Roman"/>
              </a:rPr>
              <a:t>β</a:t>
            </a:r>
            <a:r>
              <a:rPr lang="ru-RU" sz="2400">
                <a:solidFill>
                  <a:schemeClr val="dk1"/>
                </a:solidFill>
                <a:latin typeface="Arial"/>
                <a:ea typeface="Arial"/>
                <a:cs typeface="Arial"/>
                <a:sym typeface="Arial"/>
              </a:rPr>
              <a:t> </a:t>
            </a:r>
            <a:r>
              <a:rPr lang="ru-RU" sz="2400">
                <a:solidFill>
                  <a:schemeClr val="dk1"/>
                </a:solidFill>
                <a:latin typeface="Calibri"/>
                <a:ea typeface="Calibri"/>
                <a:cs typeface="Calibri"/>
                <a:sym typeface="Calibri"/>
              </a:rPr>
              <a:t>, при этом </a:t>
            </a:r>
            <a:r>
              <a:rPr b="1" i="1" lang="ru-RU" sz="2400">
                <a:solidFill>
                  <a:srgbClr val="0000FF"/>
                </a:solidFill>
                <a:latin typeface="Times New Roman"/>
                <a:ea typeface="Times New Roman"/>
                <a:cs typeface="Times New Roman"/>
                <a:sym typeface="Times New Roman"/>
              </a:rPr>
              <a:t>учитывается тяжесть последствий, которые повлекут за собой та и другая ошибки. </a:t>
            </a:r>
            <a:endParaRPr/>
          </a:p>
        </p:txBody>
      </p:sp>
      <p:pic>
        <p:nvPicPr>
          <p:cNvPr descr="http://mathprofi.ru/v/statisticheskie_gipotezy_clip_image012_0001.gif" id="642" name="Google Shape;642;p50"/>
          <p:cNvPicPr preferRelativeResize="0"/>
          <p:nvPr/>
        </p:nvPicPr>
        <p:blipFill rotWithShape="1">
          <a:blip r:embed="rId3">
            <a:alphaModFix/>
          </a:blip>
          <a:srcRect b="0" l="0" r="0" t="0"/>
          <a:stretch/>
        </p:blipFill>
        <p:spPr>
          <a:xfrm flipH="1" rot="10800000">
            <a:off x="7377512" y="4514007"/>
            <a:ext cx="128521" cy="45719"/>
          </a:xfrm>
          <a:prstGeom prst="rect">
            <a:avLst/>
          </a:prstGeom>
          <a:noFill/>
          <a:ln>
            <a:noFill/>
          </a:ln>
        </p:spPr>
      </p:pic>
      <p:pic>
        <p:nvPicPr>
          <p:cNvPr descr="http://mathprofi.ru/v/statisticheskie_gipotezy_clip_image014_0001.gif" id="643" name="Google Shape;643;p50"/>
          <p:cNvPicPr preferRelativeResize="0"/>
          <p:nvPr/>
        </p:nvPicPr>
        <p:blipFill rotWithShape="1">
          <a:blip r:embed="rId4">
            <a:alphaModFix/>
          </a:blip>
          <a:srcRect b="0" l="0" r="0" t="0"/>
          <a:stretch/>
        </p:blipFill>
        <p:spPr>
          <a:xfrm flipH="1" rot="10800000">
            <a:off x="7601350" y="4571157"/>
            <a:ext cx="128521" cy="45719"/>
          </a:xfrm>
          <a:prstGeom prst="rect">
            <a:avLst/>
          </a:prstGeom>
          <a:noFill/>
          <a:ln>
            <a:noFill/>
          </a:ln>
        </p:spPr>
      </p:pic>
      <p:sp>
        <p:nvSpPr>
          <p:cNvPr id="644" name="Google Shape;644;p50"/>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1"/>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51" name="Google Shape;651;p51"/>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52" name="Google Shape;652;p51"/>
          <p:cNvSpPr/>
          <p:nvPr/>
        </p:nvSpPr>
        <p:spPr>
          <a:xfrm>
            <a:off x="1305115" y="1463429"/>
            <a:ext cx="10633500" cy="406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rgbClr val="000000"/>
                </a:solidFill>
                <a:latin typeface="Times New Roman"/>
                <a:ea typeface="Times New Roman"/>
                <a:cs typeface="Times New Roman"/>
                <a:sym typeface="Times New Roman"/>
              </a:rPr>
              <a:t>С каждым из используемых для проверки гипотезы  </a:t>
            </a:r>
            <a:r>
              <a:rPr i="1" lang="ru-RU" sz="2400">
                <a:solidFill>
                  <a:srgbClr val="000000"/>
                </a:solidFill>
                <a:latin typeface="Times New Roman"/>
                <a:ea typeface="Times New Roman"/>
                <a:cs typeface="Times New Roman"/>
                <a:sym typeface="Times New Roman"/>
              </a:rPr>
              <a:t>H</a:t>
            </a:r>
            <a:r>
              <a:rPr baseline="-25000" i="1" lang="ru-RU" sz="2400">
                <a:solidFill>
                  <a:srgbClr val="000000"/>
                </a:solidFill>
                <a:latin typeface="Times New Roman"/>
                <a:ea typeface="Times New Roman"/>
                <a:cs typeface="Times New Roman"/>
                <a:sym typeface="Times New Roman"/>
              </a:rPr>
              <a:t>0</a:t>
            </a:r>
            <a:r>
              <a:rPr lang="ru-RU" sz="6600">
                <a:solidFill>
                  <a:srgbClr val="000000"/>
                </a:solidFill>
                <a:latin typeface="Times New Roman"/>
                <a:ea typeface="Times New Roman"/>
                <a:cs typeface="Times New Roman"/>
                <a:sym typeface="Times New Roman"/>
              </a:rPr>
              <a:t> </a:t>
            </a:r>
            <a:r>
              <a:rPr lang="ru-RU" sz="2400">
                <a:solidFill>
                  <a:srgbClr val="000000"/>
                </a:solidFill>
                <a:latin typeface="Times New Roman"/>
                <a:ea typeface="Times New Roman"/>
                <a:cs typeface="Times New Roman"/>
                <a:sym typeface="Times New Roman"/>
              </a:rPr>
              <a:t>критериев связана статистика</a:t>
            </a:r>
            <a:r>
              <a:rPr i="1" lang="ru-RU" sz="2400">
                <a:solidFill>
                  <a:srgbClr val="000000"/>
                </a:solidFill>
                <a:latin typeface="Times New Roman"/>
                <a:ea typeface="Times New Roman"/>
                <a:cs typeface="Times New Roman"/>
                <a:sym typeface="Times New Roman"/>
              </a:rPr>
              <a:t> S</a:t>
            </a:r>
            <a:r>
              <a:rPr lang="ru-RU" sz="2400">
                <a:solidFill>
                  <a:srgbClr val="000000"/>
                </a:solidFill>
                <a:latin typeface="Times New Roman"/>
                <a:ea typeface="Times New Roman"/>
                <a:cs typeface="Times New Roman"/>
                <a:sym typeface="Times New Roman"/>
              </a:rPr>
              <a:t>, которая представляет собой некоторую меру для измерения вероятности соответствия (несоответствия) анализируемых выборок проверяемой гипотезе </a:t>
            </a:r>
            <a:r>
              <a:rPr i="1" lang="ru-RU" sz="2400">
                <a:solidFill>
                  <a:srgbClr val="000000"/>
                </a:solidFill>
                <a:latin typeface="Times New Roman"/>
                <a:ea typeface="Times New Roman"/>
                <a:cs typeface="Times New Roman"/>
                <a:sym typeface="Times New Roman"/>
              </a:rPr>
              <a:t>H</a:t>
            </a:r>
            <a:r>
              <a:rPr baseline="-25000" i="1" lang="ru-RU" sz="2400">
                <a:solidFill>
                  <a:srgbClr val="000000"/>
                </a:solidFill>
                <a:latin typeface="Times New Roman"/>
                <a:ea typeface="Times New Roman"/>
                <a:cs typeface="Times New Roman"/>
                <a:sym typeface="Times New Roman"/>
              </a:rPr>
              <a:t>0</a:t>
            </a:r>
            <a:r>
              <a:rPr lang="ru-RU" sz="2400">
                <a:solidFill>
                  <a:srgbClr val="000000"/>
                </a:solidFill>
                <a:latin typeface="Times New Roman"/>
                <a:ea typeface="Times New Roman"/>
                <a:cs typeface="Times New Roman"/>
                <a:sym typeface="Times New Roman"/>
              </a:rPr>
              <a:t>.</a:t>
            </a:r>
            <a:endParaRPr/>
          </a:p>
          <a:p>
            <a:pPr indent="0" lvl="0" marL="0" marR="0" rtl="0" algn="l">
              <a:spcBef>
                <a:spcPts val="0"/>
              </a:spcBef>
              <a:spcAft>
                <a:spcPts val="0"/>
              </a:spcAft>
              <a:buNone/>
            </a:pPr>
            <a:r>
              <a:rPr lang="ru-RU" sz="2400">
                <a:solidFill>
                  <a:srgbClr val="000000"/>
                </a:solidFill>
                <a:latin typeface="Times New Roman"/>
                <a:ea typeface="Times New Roman"/>
                <a:cs typeface="Times New Roman"/>
                <a:sym typeface="Times New Roman"/>
              </a:rPr>
              <a:t> Именно на основании значения статистики, вычисляемого по выборке или выборкам, делается вывод о принятии или отклонении проверяемой гипотезы. При справедливости проверяемой гипотезы </a:t>
            </a:r>
            <a:r>
              <a:rPr i="1" lang="ru-RU" sz="2400">
                <a:solidFill>
                  <a:srgbClr val="000000"/>
                </a:solidFill>
                <a:latin typeface="Times New Roman"/>
                <a:ea typeface="Times New Roman"/>
                <a:cs typeface="Times New Roman"/>
                <a:sym typeface="Times New Roman"/>
              </a:rPr>
              <a:t>H</a:t>
            </a:r>
            <a:r>
              <a:rPr baseline="-25000" i="1" lang="ru-RU" sz="2400">
                <a:solidFill>
                  <a:srgbClr val="000000"/>
                </a:solidFill>
                <a:latin typeface="Times New Roman"/>
                <a:ea typeface="Times New Roman"/>
                <a:cs typeface="Times New Roman"/>
                <a:sym typeface="Times New Roman"/>
              </a:rPr>
              <a:t>0  </a:t>
            </a:r>
            <a:r>
              <a:rPr lang="ru-RU" sz="2400">
                <a:solidFill>
                  <a:srgbClr val="000000"/>
                </a:solidFill>
                <a:latin typeface="Times New Roman"/>
                <a:ea typeface="Times New Roman"/>
                <a:cs typeface="Times New Roman"/>
                <a:sym typeface="Times New Roman"/>
              </a:rPr>
              <a:t>статистика S подчиняется некоторому распределению g (S| </a:t>
            </a:r>
            <a:r>
              <a:rPr i="1" lang="ru-RU" sz="2400">
                <a:solidFill>
                  <a:srgbClr val="000000"/>
                </a:solidFill>
                <a:latin typeface="Times New Roman"/>
                <a:ea typeface="Times New Roman"/>
                <a:cs typeface="Times New Roman"/>
                <a:sym typeface="Times New Roman"/>
              </a:rPr>
              <a:t>H</a:t>
            </a:r>
            <a:r>
              <a:rPr baseline="-25000" i="1" lang="ru-RU" sz="2400">
                <a:solidFill>
                  <a:srgbClr val="000000"/>
                </a:solidFill>
                <a:latin typeface="Times New Roman"/>
                <a:ea typeface="Times New Roman"/>
                <a:cs typeface="Times New Roman"/>
                <a:sym typeface="Times New Roman"/>
              </a:rPr>
              <a:t>0</a:t>
            </a:r>
            <a:r>
              <a:rPr lang="ru-RU" sz="2400">
                <a:solidFill>
                  <a:srgbClr val="000000"/>
                </a:solidFill>
                <a:latin typeface="Times New Roman"/>
                <a:ea typeface="Times New Roman"/>
                <a:cs typeface="Times New Roman"/>
                <a:sym typeface="Times New Roman"/>
              </a:rPr>
              <a:t> )  . </a:t>
            </a:r>
            <a:br>
              <a:rPr lang="ru-RU"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p:txBody>
      </p:sp>
      <p:sp>
        <p:nvSpPr>
          <p:cNvPr id="653" name="Google Shape;653;p51"/>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654" name="Google Shape;654;p51"/>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2"/>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61" name="Google Shape;661;p52"/>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62" name="Google Shape;662;p52"/>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pic>
        <p:nvPicPr>
          <p:cNvPr id="663" name="Google Shape;663;p52"/>
          <p:cNvPicPr preferRelativeResize="0"/>
          <p:nvPr/>
        </p:nvPicPr>
        <p:blipFill rotWithShape="1">
          <a:blip r:embed="rId3">
            <a:alphaModFix/>
          </a:blip>
          <a:srcRect b="0" l="0" r="0" t="0"/>
          <a:stretch/>
        </p:blipFill>
        <p:spPr>
          <a:xfrm>
            <a:off x="2517701" y="1702580"/>
            <a:ext cx="7344816" cy="3619184"/>
          </a:xfrm>
          <a:prstGeom prst="rect">
            <a:avLst/>
          </a:prstGeom>
          <a:noFill/>
          <a:ln>
            <a:noFill/>
          </a:ln>
        </p:spPr>
      </p:pic>
      <p:sp>
        <p:nvSpPr>
          <p:cNvPr id="664" name="Google Shape;664;p52"/>
          <p:cNvSpPr/>
          <p:nvPr/>
        </p:nvSpPr>
        <p:spPr>
          <a:xfrm>
            <a:off x="2012828" y="5400408"/>
            <a:ext cx="914571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rgbClr val="000000"/>
                </a:solidFill>
                <a:latin typeface="Times New Roman"/>
                <a:ea typeface="Times New Roman"/>
                <a:cs typeface="Times New Roman"/>
                <a:sym typeface="Times New Roman"/>
              </a:rPr>
              <a:t>Плотность распределения статистики при справедливости гипотезы </a:t>
            </a:r>
            <a:r>
              <a:rPr i="1" lang="ru-RU" sz="2400">
                <a:solidFill>
                  <a:srgbClr val="000000"/>
                </a:solidFill>
                <a:latin typeface="Times New Roman"/>
                <a:ea typeface="Times New Roman"/>
                <a:cs typeface="Times New Roman"/>
                <a:sym typeface="Times New Roman"/>
              </a:rPr>
              <a:t>H</a:t>
            </a:r>
            <a:r>
              <a:rPr baseline="-25000" lang="ru-RU" sz="2400">
                <a:solidFill>
                  <a:srgbClr val="000000"/>
                </a:solidFill>
                <a:latin typeface="Times New Roman"/>
                <a:ea typeface="Times New Roman"/>
                <a:cs typeface="Times New Roman"/>
                <a:sym typeface="Times New Roman"/>
              </a:rPr>
              <a:t>0</a:t>
            </a:r>
            <a:r>
              <a:rPr lang="ru-RU" sz="2400">
                <a:solidFill>
                  <a:srgbClr val="000000"/>
                </a:solidFill>
                <a:latin typeface="Times New Roman"/>
                <a:ea typeface="Times New Roman"/>
                <a:cs typeface="Times New Roman"/>
                <a:sym typeface="Times New Roman"/>
              </a:rPr>
              <a:t> и критическое значение для правостороннего критерия</a:t>
            </a:r>
            <a:r>
              <a:rPr lang="ru-RU" sz="2400">
                <a:solidFill>
                  <a:schemeClr val="dk1"/>
                </a:solidFill>
                <a:latin typeface="Arial"/>
                <a:ea typeface="Arial"/>
                <a:cs typeface="Arial"/>
                <a:sym typeface="Arial"/>
              </a:rPr>
              <a:t> </a:t>
            </a:r>
            <a:br>
              <a:rPr lang="ru-RU" sz="2400">
                <a:solidFill>
                  <a:schemeClr val="dk1"/>
                </a:solidFill>
                <a:latin typeface="Arial"/>
                <a:ea typeface="Arial"/>
                <a:cs typeface="Arial"/>
                <a:sym typeface="Arial"/>
              </a:rPr>
            </a:br>
            <a:endParaRPr sz="2400">
              <a:solidFill>
                <a:schemeClr val="dk1"/>
              </a:solidFill>
              <a:latin typeface="Arial"/>
              <a:ea typeface="Arial"/>
              <a:cs typeface="Arial"/>
              <a:sym typeface="Arial"/>
            </a:endParaRPr>
          </a:p>
        </p:txBody>
      </p:sp>
      <p:sp>
        <p:nvSpPr>
          <p:cNvPr id="665" name="Google Shape;665;p52"/>
          <p:cNvSpPr txBox="1"/>
          <p:nvPr>
            <p:ph idx="12" type="sldNum"/>
          </p:nvPr>
        </p:nvSpPr>
        <p:spPr>
          <a:xfrm>
            <a:off x="11514148" y="6583698"/>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3"/>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72" name="Google Shape;672;p53"/>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73" name="Google Shape;673;p53"/>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674" name="Google Shape;674;p53"/>
          <p:cNvSpPr/>
          <p:nvPr/>
        </p:nvSpPr>
        <p:spPr>
          <a:xfrm>
            <a:off x="1868366" y="4877567"/>
            <a:ext cx="914571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rgbClr val="000000"/>
                </a:solidFill>
                <a:latin typeface="Times New Roman"/>
                <a:ea typeface="Times New Roman"/>
                <a:cs typeface="Times New Roman"/>
                <a:sym typeface="Times New Roman"/>
              </a:rPr>
              <a:t>Плотность распределения статистики при справедливости гипотезы </a:t>
            </a:r>
            <a:r>
              <a:rPr i="1" lang="ru-RU" sz="2400">
                <a:solidFill>
                  <a:srgbClr val="000000"/>
                </a:solidFill>
                <a:latin typeface="Times New Roman"/>
                <a:ea typeface="Times New Roman"/>
                <a:cs typeface="Times New Roman"/>
                <a:sym typeface="Times New Roman"/>
              </a:rPr>
              <a:t>H</a:t>
            </a:r>
            <a:r>
              <a:rPr baseline="-25000" i="1" lang="ru-RU" sz="2400">
                <a:solidFill>
                  <a:srgbClr val="000000"/>
                </a:solidFill>
                <a:latin typeface="Times New Roman"/>
                <a:ea typeface="Times New Roman"/>
                <a:cs typeface="Times New Roman"/>
                <a:sym typeface="Times New Roman"/>
              </a:rPr>
              <a:t>0</a:t>
            </a:r>
            <a:r>
              <a:rPr i="1" lang="ru-RU" sz="2400">
                <a:solidFill>
                  <a:srgbClr val="000000"/>
                </a:solidFill>
                <a:latin typeface="Times New Roman"/>
                <a:ea typeface="Times New Roman"/>
                <a:cs typeface="Times New Roman"/>
                <a:sym typeface="Times New Roman"/>
              </a:rPr>
              <a:t> </a:t>
            </a:r>
            <a:r>
              <a:rPr lang="ru-RU" sz="2400">
                <a:solidFill>
                  <a:srgbClr val="000000"/>
                </a:solidFill>
                <a:latin typeface="Times New Roman"/>
                <a:ea typeface="Times New Roman"/>
                <a:cs typeface="Times New Roman"/>
                <a:sym typeface="Times New Roman"/>
              </a:rPr>
              <a:t>и  достигнутый уровень значимости </a:t>
            </a:r>
            <a:endParaRPr sz="2400">
              <a:solidFill>
                <a:schemeClr val="dk1"/>
              </a:solidFill>
              <a:latin typeface="Arial"/>
              <a:ea typeface="Arial"/>
              <a:cs typeface="Arial"/>
              <a:sym typeface="Arial"/>
            </a:endParaRPr>
          </a:p>
        </p:txBody>
      </p:sp>
      <p:pic>
        <p:nvPicPr>
          <p:cNvPr id="675" name="Google Shape;675;p53"/>
          <p:cNvPicPr preferRelativeResize="0"/>
          <p:nvPr/>
        </p:nvPicPr>
        <p:blipFill rotWithShape="1">
          <a:blip r:embed="rId3">
            <a:alphaModFix/>
          </a:blip>
          <a:srcRect b="0" l="0" r="0" t="0"/>
          <a:stretch/>
        </p:blipFill>
        <p:spPr>
          <a:xfrm>
            <a:off x="2805733" y="1275390"/>
            <a:ext cx="6912768" cy="3660967"/>
          </a:xfrm>
          <a:prstGeom prst="rect">
            <a:avLst/>
          </a:prstGeom>
          <a:noFill/>
          <a:ln>
            <a:noFill/>
          </a:ln>
        </p:spPr>
      </p:pic>
      <p:pic>
        <p:nvPicPr>
          <p:cNvPr id="676" name="Google Shape;676;p53"/>
          <p:cNvPicPr preferRelativeResize="0"/>
          <p:nvPr/>
        </p:nvPicPr>
        <p:blipFill rotWithShape="1">
          <a:blip r:embed="rId4">
            <a:alphaModFix/>
          </a:blip>
          <a:srcRect b="0" l="0" r="0" t="0"/>
          <a:stretch/>
        </p:blipFill>
        <p:spPr>
          <a:xfrm>
            <a:off x="3237781" y="5744027"/>
            <a:ext cx="5643692" cy="804153"/>
          </a:xfrm>
          <a:prstGeom prst="rect">
            <a:avLst/>
          </a:prstGeom>
          <a:noFill/>
          <a:ln>
            <a:noFill/>
          </a:ln>
        </p:spPr>
      </p:pic>
      <p:sp>
        <p:nvSpPr>
          <p:cNvPr id="677" name="Google Shape;677;p53"/>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4"/>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84" name="Google Shape;684;p54"/>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85" name="Google Shape;685;p54"/>
          <p:cNvSpPr/>
          <p:nvPr/>
        </p:nvSpPr>
        <p:spPr>
          <a:xfrm>
            <a:off x="2085977" y="395289"/>
            <a:ext cx="8351837" cy="499771"/>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1" lang="ru-RU" sz="3600">
                <a:solidFill>
                  <a:schemeClr val="dk1"/>
                </a:solidFill>
                <a:latin typeface="Arial"/>
                <a:ea typeface="Arial"/>
                <a:cs typeface="Arial"/>
                <a:sym typeface="Arial"/>
              </a:rPr>
              <a:t>Тестирование гипотез в статистике</a:t>
            </a:r>
            <a:endParaRPr/>
          </a:p>
        </p:txBody>
      </p:sp>
      <p:sp>
        <p:nvSpPr>
          <p:cNvPr id="686" name="Google Shape;686;p54"/>
          <p:cNvSpPr/>
          <p:nvPr/>
        </p:nvSpPr>
        <p:spPr>
          <a:xfrm>
            <a:off x="2061122" y="1204626"/>
            <a:ext cx="868925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rgbClr val="000000"/>
                </a:solidFill>
                <a:latin typeface="Times New Roman"/>
                <a:ea typeface="Times New Roman"/>
                <a:cs typeface="Times New Roman"/>
                <a:sym typeface="Times New Roman"/>
              </a:rPr>
              <a:t>Если задана конкурирующая гипотеза </a:t>
            </a:r>
            <a:r>
              <a:rPr b="1" i="1" lang="ru-RU" sz="2400">
                <a:solidFill>
                  <a:srgbClr val="000000"/>
                </a:solidFill>
                <a:latin typeface="Times New Roman"/>
                <a:ea typeface="Times New Roman"/>
                <a:cs typeface="Times New Roman"/>
                <a:sym typeface="Times New Roman"/>
              </a:rPr>
              <a:t>H</a:t>
            </a:r>
            <a:r>
              <a:rPr b="1" baseline="-25000" i="1" lang="ru-RU" sz="2400">
                <a:solidFill>
                  <a:srgbClr val="000000"/>
                </a:solidFill>
                <a:latin typeface="Times New Roman"/>
                <a:ea typeface="Times New Roman"/>
                <a:cs typeface="Times New Roman"/>
                <a:sym typeface="Times New Roman"/>
              </a:rPr>
              <a:t>1</a:t>
            </a:r>
            <a:r>
              <a:rPr lang="ru-RU" sz="2400">
                <a:solidFill>
                  <a:srgbClr val="000000"/>
                </a:solidFill>
                <a:latin typeface="Times New Roman"/>
                <a:ea typeface="Times New Roman"/>
                <a:cs typeface="Times New Roman"/>
                <a:sym typeface="Times New Roman"/>
              </a:rPr>
              <a:t> , то можно говорить об ошибке 2-го рода и её вероятности.</a:t>
            </a:r>
            <a:endParaRPr sz="2400">
              <a:solidFill>
                <a:srgbClr val="000000"/>
              </a:solidFill>
              <a:latin typeface="Times New Roman"/>
              <a:ea typeface="Times New Roman"/>
              <a:cs typeface="Times New Roman"/>
              <a:sym typeface="Times New Roman"/>
            </a:endParaRPr>
          </a:p>
        </p:txBody>
      </p:sp>
      <p:pic>
        <p:nvPicPr>
          <p:cNvPr id="687" name="Google Shape;687;p54"/>
          <p:cNvPicPr preferRelativeResize="0"/>
          <p:nvPr/>
        </p:nvPicPr>
        <p:blipFill rotWithShape="1">
          <a:blip r:embed="rId3">
            <a:alphaModFix/>
          </a:blip>
          <a:srcRect b="0" l="0" r="0" t="0"/>
          <a:stretch/>
        </p:blipFill>
        <p:spPr>
          <a:xfrm>
            <a:off x="2176532" y="2181794"/>
            <a:ext cx="6946466" cy="3652042"/>
          </a:xfrm>
          <a:prstGeom prst="rect">
            <a:avLst/>
          </a:prstGeom>
          <a:noFill/>
          <a:ln>
            <a:noFill/>
          </a:ln>
        </p:spPr>
      </p:pic>
      <p:sp>
        <p:nvSpPr>
          <p:cNvPr id="688" name="Google Shape;688;p54"/>
          <p:cNvSpPr/>
          <p:nvPr/>
        </p:nvSpPr>
        <p:spPr>
          <a:xfrm>
            <a:off x="1867151" y="5821307"/>
            <a:ext cx="936104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rgbClr val="000000"/>
                </a:solidFill>
                <a:latin typeface="Times New Roman"/>
                <a:ea typeface="Times New Roman"/>
                <a:cs typeface="Times New Roman"/>
                <a:sym typeface="Times New Roman"/>
              </a:rPr>
              <a:t>Плотности распределения статистик при справедливости соответственно гипотез H</a:t>
            </a:r>
            <a:r>
              <a:rPr baseline="-25000" lang="ru-RU" sz="2400">
                <a:solidFill>
                  <a:srgbClr val="000000"/>
                </a:solidFill>
                <a:latin typeface="Times New Roman"/>
                <a:ea typeface="Times New Roman"/>
                <a:cs typeface="Times New Roman"/>
                <a:sym typeface="Times New Roman"/>
              </a:rPr>
              <a:t>0</a:t>
            </a:r>
            <a:r>
              <a:rPr lang="ru-RU" sz="2400">
                <a:solidFill>
                  <a:srgbClr val="000000"/>
                </a:solidFill>
                <a:latin typeface="Times New Roman"/>
                <a:ea typeface="Times New Roman"/>
                <a:cs typeface="Times New Roman"/>
                <a:sym typeface="Times New Roman"/>
              </a:rPr>
              <a:t> и H</a:t>
            </a:r>
            <a:r>
              <a:rPr baseline="-25000" lang="ru-RU" sz="2400">
                <a:solidFill>
                  <a:srgbClr val="000000"/>
                </a:solidFill>
                <a:latin typeface="Times New Roman"/>
                <a:ea typeface="Times New Roman"/>
                <a:cs typeface="Times New Roman"/>
                <a:sym typeface="Times New Roman"/>
              </a:rPr>
              <a:t>1</a:t>
            </a:r>
            <a:r>
              <a:rPr lang="ru-RU" sz="2400">
                <a:solidFill>
                  <a:srgbClr val="000000"/>
                </a:solidFill>
                <a:latin typeface="Times New Roman"/>
                <a:ea typeface="Times New Roman"/>
                <a:cs typeface="Times New Roman"/>
                <a:sym typeface="Times New Roman"/>
              </a:rPr>
              <a:t> в случае правостороннего критерия </a:t>
            </a:r>
            <a:br>
              <a:rPr lang="ru-RU"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p:txBody>
      </p:sp>
      <p:pic>
        <p:nvPicPr>
          <p:cNvPr id="689" name="Google Shape;689;p54"/>
          <p:cNvPicPr preferRelativeResize="0"/>
          <p:nvPr/>
        </p:nvPicPr>
        <p:blipFill rotWithShape="1">
          <a:blip r:embed="rId4">
            <a:alphaModFix/>
          </a:blip>
          <a:srcRect b="0" l="0" r="0" t="0"/>
          <a:stretch/>
        </p:blipFill>
        <p:spPr>
          <a:xfrm>
            <a:off x="6890750" y="1644112"/>
            <a:ext cx="2232248" cy="840093"/>
          </a:xfrm>
          <a:prstGeom prst="rect">
            <a:avLst/>
          </a:prstGeom>
          <a:noFill/>
          <a:ln>
            <a:noFill/>
          </a:ln>
        </p:spPr>
      </p:pic>
      <p:sp>
        <p:nvSpPr>
          <p:cNvPr id="690" name="Google Shape;690;p54"/>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55"/>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97" name="Google Shape;697;p5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98" name="Google Shape;698;p55"/>
          <p:cNvSpPr txBox="1"/>
          <p:nvPr>
            <p:ph idx="4294967295" type="title"/>
          </p:nvPr>
        </p:nvSpPr>
        <p:spPr>
          <a:xfrm>
            <a:off x="2023269" y="319428"/>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Ошибка второго рода и мощность</a:t>
            </a:r>
            <a:endParaRPr/>
          </a:p>
        </p:txBody>
      </p:sp>
      <p:sp>
        <p:nvSpPr>
          <p:cNvPr id="699" name="Google Shape;699;p55"/>
          <p:cNvSpPr txBox="1"/>
          <p:nvPr>
            <p:ph idx="4294967295" type="body"/>
          </p:nvPr>
        </p:nvSpPr>
        <p:spPr>
          <a:xfrm>
            <a:off x="1892301" y="1879821"/>
            <a:ext cx="8812213" cy="4708525"/>
          </a:xfrm>
          <a:prstGeom prst="rect">
            <a:avLst/>
          </a:prstGeom>
          <a:noFill/>
          <a:ln>
            <a:noFill/>
          </a:ln>
        </p:spPr>
        <p:txBody>
          <a:bodyPr anchorCtr="0" anchor="t" bIns="45700" lIns="91425" spcFirstLastPara="1" rIns="91425" wrap="square" tIns="45700">
            <a:normAutofit/>
          </a:bodyPr>
          <a:lstStyle/>
          <a:p>
            <a:pPr indent="-360363" lvl="0" marL="360363" rtl="0" algn="l">
              <a:spcBef>
                <a:spcPts val="0"/>
              </a:spcBef>
              <a:spcAft>
                <a:spcPts val="0"/>
              </a:spcAft>
              <a:buClr>
                <a:srgbClr val="CC9900"/>
              </a:buClr>
              <a:buSzPts val="1820"/>
              <a:buFont typeface="Noto Sans Symbols"/>
              <a:buChar char="■"/>
            </a:pPr>
            <a:r>
              <a:rPr lang="ru-RU" sz="2800"/>
              <a:t>Как добиться того, чтобы вероятность ошибки второго рода была малой?</a:t>
            </a:r>
            <a:endParaRPr/>
          </a:p>
          <a:p>
            <a:pPr indent="-360363" lvl="0" marL="360363" rtl="0" algn="l">
              <a:spcBef>
                <a:spcPts val="560"/>
              </a:spcBef>
              <a:spcAft>
                <a:spcPts val="0"/>
              </a:spcAft>
              <a:buClr>
                <a:srgbClr val="CC9900"/>
              </a:buClr>
              <a:buSzPts val="1820"/>
              <a:buFont typeface="Noto Sans Symbols"/>
              <a:buChar char="■"/>
            </a:pPr>
            <a:r>
              <a:rPr lang="ru-RU" sz="2800"/>
              <a:t>Очень сложно ⇒ Нужны состоятельные критерии.</a:t>
            </a:r>
            <a:endParaRPr/>
          </a:p>
          <a:p>
            <a:pPr indent="-360363" lvl="0" marL="360363" rtl="0" algn="l">
              <a:spcBef>
                <a:spcPts val="560"/>
              </a:spcBef>
              <a:spcAft>
                <a:spcPts val="0"/>
              </a:spcAft>
              <a:buClr>
                <a:srgbClr val="CC9900"/>
              </a:buClr>
              <a:buSzPts val="1820"/>
              <a:buFont typeface="Noto Sans Symbols"/>
              <a:buChar char="■"/>
            </a:pPr>
            <a:r>
              <a:rPr lang="ru-RU" sz="2800"/>
              <a:t>Ошибку можно уменьшить, если увеличить число анализируемых наблюдений  ⇒ Необходимы большие выборки.</a:t>
            </a:r>
            <a:endParaRPr/>
          </a:p>
        </p:txBody>
      </p:sp>
      <p:sp>
        <p:nvSpPr>
          <p:cNvPr id="700" name="Google Shape;700;p55"/>
          <p:cNvSpPr txBox="1"/>
          <p:nvPr>
            <p:ph idx="12" type="sldNum"/>
          </p:nvPr>
        </p:nvSpPr>
        <p:spPr>
          <a:xfrm>
            <a:off x="11646363" y="6513119"/>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56"/>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07" name="Google Shape;707;p5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08" name="Google Shape;708;p56"/>
          <p:cNvSpPr txBox="1"/>
          <p:nvPr>
            <p:ph idx="4294967295" type="title"/>
          </p:nvPr>
        </p:nvSpPr>
        <p:spPr>
          <a:xfrm>
            <a:off x="2130612" y="253437"/>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Дополнительно</a:t>
            </a:r>
            <a:endParaRPr/>
          </a:p>
        </p:txBody>
      </p:sp>
      <p:sp>
        <p:nvSpPr>
          <p:cNvPr id="709" name="Google Shape;709;p56"/>
          <p:cNvSpPr txBox="1"/>
          <p:nvPr>
            <p:ph idx="4294967295" type="body"/>
          </p:nvPr>
        </p:nvSpPr>
        <p:spPr>
          <a:xfrm>
            <a:off x="1380416" y="1653223"/>
            <a:ext cx="10512003" cy="4708525"/>
          </a:xfrm>
          <a:prstGeom prst="rect">
            <a:avLst/>
          </a:prstGeom>
          <a:noFill/>
          <a:ln>
            <a:noFill/>
          </a:ln>
        </p:spPr>
        <p:txBody>
          <a:bodyPr anchorCtr="0" anchor="t" bIns="45700" lIns="91425" spcFirstLastPara="1" rIns="91425" wrap="square" tIns="45700">
            <a:normAutofit/>
          </a:bodyPr>
          <a:lstStyle/>
          <a:p>
            <a:pPr indent="-269875" lvl="0" marL="269875" rtl="0" algn="l">
              <a:lnSpc>
                <a:spcPct val="90000"/>
              </a:lnSpc>
              <a:spcBef>
                <a:spcPts val="0"/>
              </a:spcBef>
              <a:spcAft>
                <a:spcPts val="0"/>
              </a:spcAft>
              <a:buClr>
                <a:srgbClr val="CC9900"/>
              </a:buClr>
              <a:buSzPts val="1560"/>
              <a:buFont typeface="Noto Sans Symbols"/>
              <a:buChar char="■"/>
            </a:pPr>
            <a:r>
              <a:rPr lang="ru-RU" sz="2400"/>
              <a:t>Если выборка маленькая (часто границей между большой и маленькой выборкой рекомендуют считать 30 наблюдений), проверить гипотезу по малой выборке удастся.</a:t>
            </a:r>
            <a:endParaRPr/>
          </a:p>
          <a:p>
            <a:pPr indent="0" lvl="0" marL="0" rtl="0" algn="l">
              <a:lnSpc>
                <a:spcPct val="90000"/>
              </a:lnSpc>
              <a:spcBef>
                <a:spcPts val="544"/>
              </a:spcBef>
              <a:spcAft>
                <a:spcPts val="0"/>
              </a:spcAft>
              <a:buClr>
                <a:srgbClr val="CC9900"/>
              </a:buClr>
              <a:buSzPts val="1560"/>
              <a:buNone/>
            </a:pPr>
            <a:r>
              <a:rPr b="1" lang="ru-RU" sz="2400"/>
              <a:t>Но</a:t>
            </a:r>
            <a:endParaRPr/>
          </a:p>
          <a:p>
            <a:pPr indent="-269875" lvl="0" marL="269875" rtl="0" algn="l">
              <a:lnSpc>
                <a:spcPct val="90000"/>
              </a:lnSpc>
              <a:spcBef>
                <a:spcPts val="544"/>
              </a:spcBef>
              <a:spcAft>
                <a:spcPts val="0"/>
              </a:spcAft>
              <a:buClr>
                <a:srgbClr val="CC9900"/>
              </a:buClr>
              <a:buSzPts val="1560"/>
              <a:buFont typeface="Noto Sans Symbols"/>
              <a:buChar char="■"/>
            </a:pPr>
            <a:r>
              <a:rPr lang="ru-RU" sz="2400"/>
              <a:t>Платой за малый размер будет неприемлемо б</a:t>
            </a:r>
            <a:r>
              <a:rPr b="1" i="1" lang="ru-RU" sz="2400"/>
              <a:t>о</a:t>
            </a:r>
            <a:r>
              <a:rPr lang="ru-RU" sz="2400"/>
              <a:t>льшая вероятность ошибки второго рода.</a:t>
            </a:r>
            <a:endParaRPr/>
          </a:p>
          <a:p>
            <a:pPr indent="-269875" lvl="0" marL="269875" rtl="0" algn="l">
              <a:lnSpc>
                <a:spcPct val="90000"/>
              </a:lnSpc>
              <a:spcBef>
                <a:spcPts val="544"/>
              </a:spcBef>
              <a:spcAft>
                <a:spcPts val="0"/>
              </a:spcAft>
              <a:buClr>
                <a:srgbClr val="CC9900"/>
              </a:buClr>
              <a:buSzPts val="1560"/>
              <a:buFont typeface="Noto Sans Symbols"/>
              <a:buChar char="■"/>
            </a:pPr>
            <a:r>
              <a:rPr lang="ru-RU" sz="2400"/>
              <a:t>Большинство практиков игнорируют ошибку второго рода.</a:t>
            </a:r>
            <a:endParaRPr/>
          </a:p>
          <a:p>
            <a:pPr indent="-269875" lvl="1" marL="685567" rtl="0" algn="l">
              <a:lnSpc>
                <a:spcPct val="90000"/>
              </a:lnSpc>
              <a:spcBef>
                <a:spcPts val="544"/>
              </a:spcBef>
              <a:spcAft>
                <a:spcPts val="0"/>
              </a:spcAft>
              <a:buClr>
                <a:srgbClr val="CC9900"/>
              </a:buClr>
              <a:buSzPts val="1300"/>
              <a:buFont typeface="Noto Sans Symbols"/>
              <a:buChar char="■"/>
            </a:pPr>
            <a:r>
              <a:rPr lang="ru-RU" sz="2000"/>
              <a:t>Это неверно.</a:t>
            </a:r>
            <a:endParaRPr/>
          </a:p>
          <a:p>
            <a:pPr indent="-269875" lvl="0" marL="269875" rtl="0" algn="l">
              <a:lnSpc>
                <a:spcPct val="90000"/>
              </a:lnSpc>
              <a:spcBef>
                <a:spcPts val="544"/>
              </a:spcBef>
              <a:spcAft>
                <a:spcPts val="0"/>
              </a:spcAft>
              <a:buClr>
                <a:srgbClr val="CC9900"/>
              </a:buClr>
              <a:buSzPts val="1560"/>
              <a:buFont typeface="Noto Sans Symbols"/>
              <a:buChar char="■"/>
            </a:pPr>
            <a:r>
              <a:rPr lang="ru-RU" sz="2400"/>
              <a:t>Профессиональные статистики в таких ситуациях часто увеличивают уровень значимости (например до 0.15 или 0.2), чтобы сделать вероятности ошибок сопоставимыми.</a:t>
            </a:r>
            <a:endParaRPr/>
          </a:p>
          <a:p>
            <a:pPr indent="-202224" lvl="0" marL="354624" rtl="0" algn="l">
              <a:lnSpc>
                <a:spcPct val="90000"/>
              </a:lnSpc>
              <a:spcBef>
                <a:spcPts val="544"/>
              </a:spcBef>
              <a:spcAft>
                <a:spcPts val="0"/>
              </a:spcAft>
              <a:buClr>
                <a:schemeClr val="dk1"/>
              </a:buClr>
              <a:buSzPts val="2400"/>
              <a:buNone/>
            </a:pPr>
            <a:r>
              <a:t/>
            </a:r>
            <a:endParaRPr sz="2400"/>
          </a:p>
        </p:txBody>
      </p:sp>
      <p:sp>
        <p:nvSpPr>
          <p:cNvPr id="710" name="Google Shape;710;p56"/>
          <p:cNvSpPr txBox="1"/>
          <p:nvPr>
            <p:ph idx="12" type="sldNum"/>
          </p:nvPr>
        </p:nvSpPr>
        <p:spPr>
          <a:xfrm>
            <a:off x="11416190" y="6577259"/>
            <a:ext cx="95245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57"/>
          <p:cNvSpPr/>
          <p:nvPr/>
        </p:nvSpPr>
        <p:spPr>
          <a:xfrm>
            <a:off x="1438275" y="322263"/>
            <a:ext cx="1101652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17" name="Google Shape;717;p57"/>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18" name="Google Shape;718;p57"/>
          <p:cNvSpPr txBox="1"/>
          <p:nvPr>
            <p:ph idx="4294967295" type="title"/>
          </p:nvPr>
        </p:nvSpPr>
        <p:spPr>
          <a:xfrm>
            <a:off x="2157785" y="288926"/>
            <a:ext cx="7587878"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Задача</a:t>
            </a:r>
            <a:endParaRPr/>
          </a:p>
        </p:txBody>
      </p:sp>
      <p:sp>
        <p:nvSpPr>
          <p:cNvPr id="719" name="Google Shape;719;p57"/>
          <p:cNvSpPr txBox="1"/>
          <p:nvPr>
            <p:ph idx="4294967295" type="body"/>
          </p:nvPr>
        </p:nvSpPr>
        <p:spPr>
          <a:xfrm>
            <a:off x="1581597" y="1697831"/>
            <a:ext cx="9937104" cy="2476500"/>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 Вместо врача рассмотрим банковского служащего, принимающего решение, выдавать заем или нет.</a:t>
            </a:r>
            <a:endParaRPr/>
          </a:p>
          <a:p>
            <a:pPr indent="0" lvl="0" marL="0" rtl="0" algn="l">
              <a:spcBef>
                <a:spcPts val="560"/>
              </a:spcBef>
              <a:spcAft>
                <a:spcPts val="0"/>
              </a:spcAft>
              <a:buClr>
                <a:srgbClr val="CC9900"/>
              </a:buClr>
              <a:buSzPts val="1820"/>
              <a:buFont typeface="Noto Sans Symbols"/>
              <a:buNone/>
            </a:pPr>
            <a:r>
              <a:t/>
            </a:r>
            <a:endParaRPr sz="2800"/>
          </a:p>
          <a:p>
            <a:pPr indent="-115570" lvl="0" marL="0" rtl="0" algn="l">
              <a:spcBef>
                <a:spcPts val="560"/>
              </a:spcBef>
              <a:spcAft>
                <a:spcPts val="0"/>
              </a:spcAft>
              <a:buClr>
                <a:srgbClr val="CC9900"/>
              </a:buClr>
              <a:buSzPts val="1820"/>
              <a:buFont typeface="Noto Sans Symbols"/>
              <a:buChar char="■"/>
            </a:pPr>
            <a:r>
              <a:rPr lang="ru-RU" sz="2800"/>
              <a:t>Как будут интерпретироваться статистические понятия в этом случае?</a:t>
            </a:r>
            <a:endParaRPr/>
          </a:p>
        </p:txBody>
      </p:sp>
      <p:sp>
        <p:nvSpPr>
          <p:cNvPr id="720" name="Google Shape;720;p57"/>
          <p:cNvSpPr txBox="1"/>
          <p:nvPr>
            <p:ph idx="12" type="sldNum"/>
          </p:nvPr>
        </p:nvSpPr>
        <p:spPr>
          <a:xfrm>
            <a:off x="11229975" y="6579535"/>
            <a:ext cx="121332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58"/>
          <p:cNvSpPr/>
          <p:nvPr/>
        </p:nvSpPr>
        <p:spPr>
          <a:xfrm>
            <a:off x="501477" y="322263"/>
            <a:ext cx="11953328" cy="6481761"/>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27" name="Google Shape;727;p58"/>
          <p:cNvSpPr/>
          <p:nvPr/>
        </p:nvSpPr>
        <p:spPr>
          <a:xfrm>
            <a:off x="2373685" y="322264"/>
            <a:ext cx="8064128" cy="1224657"/>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28" name="Google Shape;728;p58"/>
          <p:cNvSpPr txBox="1"/>
          <p:nvPr>
            <p:ph idx="4294967295" type="title"/>
          </p:nvPr>
        </p:nvSpPr>
        <p:spPr>
          <a:xfrm>
            <a:off x="1901441" y="481495"/>
            <a:ext cx="9008615" cy="86414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Алгоритм проверки статистических гипотез </a:t>
            </a:r>
            <a:endParaRPr/>
          </a:p>
        </p:txBody>
      </p:sp>
      <p:sp>
        <p:nvSpPr>
          <p:cNvPr id="729" name="Google Shape;729;p58"/>
          <p:cNvSpPr txBox="1"/>
          <p:nvPr>
            <p:ph idx="4294967295" type="body"/>
          </p:nvPr>
        </p:nvSpPr>
        <p:spPr>
          <a:xfrm>
            <a:off x="717501" y="1546921"/>
            <a:ext cx="11305255" cy="3598863"/>
          </a:xfrm>
          <a:prstGeom prst="rect">
            <a:avLst/>
          </a:prstGeom>
          <a:noFill/>
          <a:ln>
            <a:noFill/>
          </a:ln>
        </p:spPr>
        <p:txBody>
          <a:bodyPr anchorCtr="0" anchor="t" bIns="45700" lIns="91425" spcFirstLastPara="1" rIns="91425" wrap="square" tIns="45700">
            <a:normAutofit/>
          </a:bodyPr>
          <a:lstStyle/>
          <a:p>
            <a:pPr indent="-99060" lvl="0" marL="0" rtl="0" algn="l">
              <a:spcBef>
                <a:spcPts val="0"/>
              </a:spcBef>
              <a:spcAft>
                <a:spcPts val="0"/>
              </a:spcAft>
              <a:buClr>
                <a:srgbClr val="CC9900"/>
              </a:buClr>
              <a:buSzPts val="1560"/>
              <a:buFont typeface="Noto Sans Symbols"/>
              <a:buChar char="■"/>
            </a:pPr>
            <a:r>
              <a:rPr lang="ru-RU" sz="2400"/>
              <a:t>1. Имеются n наблюдений, то есть n  чисел, полученных, например, в результате опроса.</a:t>
            </a:r>
            <a:endParaRPr/>
          </a:p>
          <a:p>
            <a:pPr indent="-99060" lvl="0" marL="0" rtl="0" algn="l">
              <a:spcBef>
                <a:spcPts val="480"/>
              </a:spcBef>
              <a:spcAft>
                <a:spcPts val="0"/>
              </a:spcAft>
              <a:buClr>
                <a:srgbClr val="CC9900"/>
              </a:buClr>
              <a:buSzPts val="1560"/>
              <a:buFont typeface="Noto Sans Symbols"/>
              <a:buChar char="■"/>
            </a:pPr>
            <a:r>
              <a:rPr lang="ru-RU" sz="2400"/>
              <a:t>2. Заранее задан уровень значимости α. Обычно это одно из чисел 0.005, 0.01, 0.05.</a:t>
            </a:r>
            <a:endParaRPr/>
          </a:p>
          <a:p>
            <a:pPr indent="-99060" lvl="0" marL="0" rtl="0" algn="l">
              <a:spcBef>
                <a:spcPts val="480"/>
              </a:spcBef>
              <a:spcAft>
                <a:spcPts val="0"/>
              </a:spcAft>
              <a:buClr>
                <a:srgbClr val="CC9900"/>
              </a:buClr>
              <a:buSzPts val="1560"/>
              <a:buFont typeface="Noto Sans Symbols"/>
              <a:buChar char="■"/>
            </a:pPr>
            <a:r>
              <a:rPr lang="ru-RU" sz="2400"/>
              <a:t>3. Задан статистический критерий, то есть функция от наблюдений.</a:t>
            </a:r>
            <a:endParaRPr/>
          </a:p>
          <a:p>
            <a:pPr indent="-99060" lvl="0" marL="0" rtl="0" algn="l">
              <a:spcBef>
                <a:spcPts val="480"/>
              </a:spcBef>
              <a:spcAft>
                <a:spcPts val="0"/>
              </a:spcAft>
              <a:buClr>
                <a:srgbClr val="CC9900"/>
              </a:buClr>
              <a:buSzPts val="1560"/>
              <a:buFont typeface="Noto Sans Symbols"/>
              <a:buChar char="■"/>
            </a:pPr>
            <a:r>
              <a:rPr lang="ru-RU" sz="2400"/>
              <a:t>4. Найдено p-значение (p-value).</a:t>
            </a:r>
            <a:endParaRPr/>
          </a:p>
          <a:p>
            <a:pPr indent="0" lvl="0" marL="0" rtl="0" algn="l">
              <a:spcBef>
                <a:spcPts val="480"/>
              </a:spcBef>
              <a:spcAft>
                <a:spcPts val="0"/>
              </a:spcAft>
              <a:buClr>
                <a:srgbClr val="CC9900"/>
              </a:buClr>
              <a:buSzPts val="1560"/>
              <a:buNone/>
            </a:pPr>
            <a:r>
              <a:rPr lang="ru-RU" sz="2400"/>
              <a:t>Иногда переводится как значимость (Significance).</a:t>
            </a:r>
            <a:endParaRPr/>
          </a:p>
          <a:p>
            <a:pPr indent="0" lvl="0" marL="0" rtl="0" algn="l">
              <a:spcBef>
                <a:spcPts val="480"/>
              </a:spcBef>
              <a:spcAft>
                <a:spcPts val="0"/>
              </a:spcAft>
              <a:buClr>
                <a:srgbClr val="CC9900"/>
              </a:buClr>
              <a:buSzPts val="1560"/>
              <a:buFont typeface="Noto Sans Symbols"/>
              <a:buNone/>
            </a:pPr>
            <a:r>
              <a:t/>
            </a:r>
            <a:endParaRPr sz="2400"/>
          </a:p>
        </p:txBody>
      </p:sp>
      <p:sp>
        <p:nvSpPr>
          <p:cNvPr id="730" name="Google Shape;730;p58"/>
          <p:cNvSpPr txBox="1"/>
          <p:nvPr>
            <p:ph idx="12" type="sldNum"/>
          </p:nvPr>
        </p:nvSpPr>
        <p:spPr>
          <a:xfrm>
            <a:off x="11772039" y="6496754"/>
            <a:ext cx="52117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731" name="Google Shape;731;p58"/>
          <p:cNvSpPr txBox="1"/>
          <p:nvPr/>
        </p:nvSpPr>
        <p:spPr>
          <a:xfrm>
            <a:off x="531109" y="4210097"/>
            <a:ext cx="10008300" cy="2286600"/>
          </a:xfrm>
          <a:prstGeom prst="rect">
            <a:avLst/>
          </a:prstGeom>
          <a:noFill/>
          <a:ln>
            <a:noFill/>
          </a:ln>
        </p:spPr>
        <p:txBody>
          <a:bodyPr anchorCtr="0" anchor="t" bIns="45700" lIns="91425" spcFirstLastPara="1" rIns="91425" wrap="square" tIns="45700">
            <a:normAutofit/>
          </a:bodyPr>
          <a:lstStyle/>
          <a:p>
            <a:pPr indent="-273050" lvl="0" marL="442913" marR="0" rtl="0" algn="l">
              <a:spcBef>
                <a:spcPts val="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5.Если p&lt; α  - гипотезу отвергаем,  если p&gt; α  - не отвергаем.</a:t>
            </a:r>
            <a:endParaRPr/>
          </a:p>
          <a:p>
            <a:pPr indent="-173989" lvl="0" marL="442913" marR="0" rtl="0" algn="l">
              <a:spcBef>
                <a:spcPts val="480"/>
              </a:spcBef>
              <a:spcAft>
                <a:spcPts val="0"/>
              </a:spcAft>
              <a:buClr>
                <a:srgbClr val="CC9900"/>
              </a:buClr>
              <a:buSzPts val="1560"/>
              <a:buFont typeface="Noto Sans Symbols"/>
              <a:buNone/>
            </a:pPr>
            <a:r>
              <a:t/>
            </a:r>
            <a:endParaRPr sz="2400">
              <a:solidFill>
                <a:schemeClr val="dk1"/>
              </a:solidFill>
              <a:latin typeface="Calibri"/>
              <a:ea typeface="Calibri"/>
              <a:cs typeface="Calibri"/>
              <a:sym typeface="Calibri"/>
            </a:endParaRPr>
          </a:p>
          <a:p>
            <a:pPr indent="-273050" lvl="0" marL="1171575" marR="0" rtl="0" algn="l">
              <a:spcBef>
                <a:spcPts val="480"/>
              </a:spcBef>
              <a:spcAft>
                <a:spcPts val="0"/>
              </a:spcAft>
              <a:buClr>
                <a:srgbClr val="CC9900"/>
              </a:buClr>
              <a:buSzPts val="1560"/>
              <a:buFont typeface="Noto Sans Symbols"/>
              <a:buChar char="■"/>
            </a:pPr>
            <a:r>
              <a:rPr lang="ru-RU" sz="2400">
                <a:solidFill>
                  <a:schemeClr val="dk1"/>
                </a:solidFill>
                <a:latin typeface="Calibri"/>
                <a:ea typeface="Calibri"/>
                <a:cs typeface="Calibri"/>
                <a:sym typeface="Calibri"/>
              </a:rPr>
              <a:t>Напомним:</a:t>
            </a:r>
            <a:endParaRPr/>
          </a:p>
          <a:p>
            <a:pPr indent="-273050" lvl="1" marL="1171575" marR="0" rtl="0" algn="l">
              <a:spcBef>
                <a:spcPts val="777"/>
              </a:spcBef>
              <a:spcAft>
                <a:spcPts val="0"/>
              </a:spcAft>
              <a:buClr>
                <a:srgbClr val="000000"/>
              </a:buClr>
              <a:buSzPts val="2000"/>
              <a:buFont typeface="Times New Roman"/>
              <a:buChar char="–"/>
            </a:pPr>
            <a:r>
              <a:rPr b="0" i="0" lang="ru-RU" sz="2000" u="none" cap="none" strike="noStrike">
                <a:solidFill>
                  <a:srgbClr val="000000"/>
                </a:solidFill>
                <a:latin typeface="Arial"/>
                <a:ea typeface="Arial"/>
                <a:cs typeface="Arial"/>
                <a:sym typeface="Arial"/>
              </a:rPr>
              <a:t>α – уровень значимости</a:t>
            </a:r>
            <a:endParaRPr/>
          </a:p>
          <a:p>
            <a:pPr indent="-273050" lvl="1" marL="1171575" marR="0" rtl="0" algn="l">
              <a:spcBef>
                <a:spcPts val="777"/>
              </a:spcBef>
              <a:spcAft>
                <a:spcPts val="0"/>
              </a:spcAft>
              <a:buClr>
                <a:srgbClr val="000000"/>
              </a:buClr>
              <a:buSzPts val="2000"/>
              <a:buFont typeface="Times New Roman"/>
              <a:buChar char="–"/>
            </a:pPr>
            <a:r>
              <a:rPr b="0" i="0" lang="ru-RU" sz="2000" u="none" cap="none" strike="noStrike">
                <a:solidFill>
                  <a:srgbClr val="000000"/>
                </a:solidFill>
                <a:latin typeface="Arial"/>
                <a:ea typeface="Arial"/>
                <a:cs typeface="Arial"/>
                <a:sym typeface="Arial"/>
              </a:rPr>
              <a:t>p -  p-value.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6" name="Shape 736"/>
        <p:cNvGrpSpPr/>
        <p:nvPr/>
      </p:nvGrpSpPr>
      <p:grpSpPr>
        <a:xfrm>
          <a:off x="0" y="0"/>
          <a:ext cx="0" cy="0"/>
          <a:chOff x="0" y="0"/>
          <a:chExt cx="0" cy="0"/>
        </a:xfrm>
      </p:grpSpPr>
      <p:sp>
        <p:nvSpPr>
          <p:cNvPr id="737" name="Google Shape;737;p59"/>
          <p:cNvSpPr/>
          <p:nvPr/>
        </p:nvSpPr>
        <p:spPr>
          <a:xfrm>
            <a:off x="789509" y="322263"/>
            <a:ext cx="1173730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38" name="Google Shape;738;p59"/>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39" name="Google Shape;739;p59"/>
          <p:cNvSpPr txBox="1"/>
          <p:nvPr>
            <p:ph idx="4294967295" type="title"/>
          </p:nvPr>
        </p:nvSpPr>
        <p:spPr>
          <a:xfrm>
            <a:off x="1581523" y="29033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Комментарии</a:t>
            </a:r>
            <a:endParaRPr/>
          </a:p>
        </p:txBody>
      </p:sp>
      <p:sp>
        <p:nvSpPr>
          <p:cNvPr id="740" name="Google Shape;740;p59"/>
          <p:cNvSpPr txBox="1"/>
          <p:nvPr>
            <p:ph idx="4294967295" type="body"/>
          </p:nvPr>
        </p:nvSpPr>
        <p:spPr>
          <a:xfrm>
            <a:off x="1438276" y="1591509"/>
            <a:ext cx="10546098" cy="3411796"/>
          </a:xfrm>
          <a:prstGeom prst="rect">
            <a:avLst/>
          </a:prstGeom>
          <a:noFill/>
          <a:ln>
            <a:noFill/>
          </a:ln>
        </p:spPr>
        <p:txBody>
          <a:bodyPr anchorCtr="0" anchor="t" bIns="45700" lIns="91425" spcFirstLastPara="1" rIns="91425" wrap="square" tIns="45700">
            <a:normAutofit/>
          </a:bodyPr>
          <a:lstStyle/>
          <a:p>
            <a:pPr indent="-132080" lvl="0" marL="0" rtl="0" algn="l">
              <a:spcBef>
                <a:spcPts val="0"/>
              </a:spcBef>
              <a:spcAft>
                <a:spcPts val="0"/>
              </a:spcAft>
              <a:buClr>
                <a:srgbClr val="CC9900"/>
              </a:buClr>
              <a:buSzPts val="2080"/>
              <a:buFont typeface="Noto Sans Symbols"/>
              <a:buChar char="■"/>
            </a:pPr>
            <a:r>
              <a:rPr lang="ru-RU" sz="3200"/>
              <a:t>Наблюдения  не обязательно являются числами.</a:t>
            </a:r>
            <a:endParaRPr/>
          </a:p>
          <a:p>
            <a:pPr indent="-151424" lvl="0" marL="354624" rtl="0" algn="l">
              <a:spcBef>
                <a:spcPts val="640"/>
              </a:spcBef>
              <a:spcAft>
                <a:spcPts val="0"/>
              </a:spcAft>
              <a:buClr>
                <a:schemeClr val="dk1"/>
              </a:buClr>
              <a:buSzPts val="3200"/>
              <a:buNone/>
            </a:pPr>
            <a:r>
              <a:t/>
            </a:r>
            <a:endParaRPr sz="3200"/>
          </a:p>
          <a:p>
            <a:pPr indent="-132080" lvl="0" marL="0" rtl="0" algn="l">
              <a:spcBef>
                <a:spcPts val="640"/>
              </a:spcBef>
              <a:spcAft>
                <a:spcPts val="0"/>
              </a:spcAft>
              <a:buClr>
                <a:srgbClr val="CC9900"/>
              </a:buClr>
              <a:buSzPts val="2080"/>
              <a:buFont typeface="Noto Sans Symbols"/>
              <a:buChar char="■"/>
            </a:pPr>
            <a:r>
              <a:rPr lang="ru-RU" sz="3200"/>
              <a:t> Выбор того статистического критерия, который подходит для задачи – важная и сложная задача</a:t>
            </a:r>
            <a:endParaRPr/>
          </a:p>
        </p:txBody>
      </p:sp>
      <p:sp>
        <p:nvSpPr>
          <p:cNvPr id="741" name="Google Shape;741;p59"/>
          <p:cNvSpPr txBox="1"/>
          <p:nvPr>
            <p:ph idx="12" type="sldNum"/>
          </p:nvPr>
        </p:nvSpPr>
        <p:spPr>
          <a:xfrm>
            <a:off x="11570776" y="6614320"/>
            <a:ext cx="82719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60"/>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48" name="Google Shape;748;p60"/>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49" name="Google Shape;749;p60"/>
          <p:cNvSpPr/>
          <p:nvPr/>
        </p:nvSpPr>
        <p:spPr>
          <a:xfrm>
            <a:off x="1221557" y="1500173"/>
            <a:ext cx="10729191" cy="449353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ru-RU" sz="2200">
                <a:solidFill>
                  <a:schemeClr val="dk1"/>
                </a:solidFill>
                <a:latin typeface="Barlow"/>
                <a:ea typeface="Barlow"/>
                <a:cs typeface="Barlow"/>
                <a:sym typeface="Barlow"/>
              </a:rPr>
              <a:t>Предположим, у нас имеются данные по суточному потреблению энергии, поступающей с пищей (кДж/сутки), для 11 женщин (пример заимствован из книги </a:t>
            </a:r>
            <a:r>
              <a:rPr i="1" lang="ru-RU" sz="2200">
                <a:solidFill>
                  <a:schemeClr val="dk1"/>
                </a:solidFill>
                <a:latin typeface="Barlow"/>
                <a:ea typeface="Barlow"/>
                <a:cs typeface="Barlow"/>
                <a:sym typeface="Barlow"/>
              </a:rPr>
              <a:t>Altman D. G. (1981) Practical Statistics for Medical Research, Chapman &amp; Hall, London</a:t>
            </a:r>
            <a:r>
              <a:rPr lang="ru-RU" sz="2200">
                <a:solidFill>
                  <a:schemeClr val="dk1"/>
                </a:solidFill>
                <a:latin typeface="Barlow"/>
                <a:ea typeface="Barlow"/>
                <a:cs typeface="Barlow"/>
                <a:sym typeface="Barlow"/>
              </a:rPr>
              <a:t>):</a:t>
            </a:r>
            <a:endParaRPr sz="2200">
              <a:solidFill>
                <a:schemeClr val="dk1"/>
              </a:solidFill>
              <a:latin typeface="Arial"/>
              <a:ea typeface="Arial"/>
              <a:cs typeface="Arial"/>
              <a:sym typeface="Arial"/>
            </a:endParaRPr>
          </a:p>
          <a:p>
            <a:pPr indent="0" lvl="0" marL="0" marR="0" rtl="0" algn="l">
              <a:spcBef>
                <a:spcPts val="0"/>
              </a:spcBef>
              <a:spcAft>
                <a:spcPts val="0"/>
              </a:spcAft>
              <a:buNone/>
            </a:pPr>
            <a:br>
              <a:rPr lang="ru-RU"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a:p>
            <a:pPr indent="0" lvl="0" marL="0" marR="0" rtl="0" algn="l">
              <a:spcBef>
                <a:spcPts val="0"/>
              </a:spcBef>
              <a:spcAft>
                <a:spcPts val="0"/>
              </a:spcAft>
              <a:buNone/>
            </a:pPr>
            <a:r>
              <a:rPr b="1" lang="ru-RU" sz="2200">
                <a:solidFill>
                  <a:srgbClr val="656565"/>
                </a:solidFill>
                <a:latin typeface="Courier New"/>
                <a:ea typeface="Courier New"/>
                <a:cs typeface="Courier New"/>
                <a:sym typeface="Courier New"/>
              </a:rPr>
              <a:t>d.intake &lt;- </a:t>
            </a:r>
            <a:r>
              <a:rPr b="1" lang="ru-RU" sz="2200" u="sng">
                <a:solidFill>
                  <a:srgbClr val="003399"/>
                </a:solidFill>
                <a:latin typeface="Courier New"/>
                <a:ea typeface="Courier New"/>
                <a:cs typeface="Courier New"/>
                <a:sym typeface="Courier New"/>
                <a:hlinkClick r:id="rId3">
                  <a:extLst>
                    <a:ext uri="{A12FA001-AC4F-418D-AE19-62706E023703}">
                      <ahyp:hlinkClr val="tx"/>
                    </a:ext>
                  </a:extLst>
                </a:hlinkClick>
              </a:rPr>
              <a:t>c</a:t>
            </a:r>
            <a:r>
              <a:rPr b="1" lang="ru-RU" sz="2200">
                <a:solidFill>
                  <a:srgbClr val="009900"/>
                </a:solidFill>
                <a:latin typeface="Courier New"/>
                <a:ea typeface="Courier New"/>
                <a:cs typeface="Courier New"/>
                <a:sym typeface="Courier New"/>
              </a:rPr>
              <a:t>(</a:t>
            </a:r>
            <a:r>
              <a:rPr b="1" lang="ru-RU" sz="2200">
                <a:solidFill>
                  <a:srgbClr val="CC66CC"/>
                </a:solidFill>
                <a:latin typeface="Courier New"/>
                <a:ea typeface="Courier New"/>
                <a:cs typeface="Courier New"/>
                <a:sym typeface="Courier New"/>
              </a:rPr>
              <a:t>5260</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5470</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5640</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6180</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6390</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6515</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6805</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7515</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7515</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8230</a:t>
            </a:r>
            <a:r>
              <a:rPr b="1" lang="ru-RU" sz="2200">
                <a:solidFill>
                  <a:srgbClr val="339933"/>
                </a:solidFill>
                <a:latin typeface="Courier New"/>
                <a:ea typeface="Courier New"/>
                <a:cs typeface="Courier New"/>
                <a:sym typeface="Courier New"/>
              </a:rPr>
              <a:t>,</a:t>
            </a:r>
            <a:r>
              <a:rPr b="1" lang="ru-RU" sz="2200">
                <a:solidFill>
                  <a:srgbClr val="656565"/>
                </a:solidFill>
                <a:latin typeface="Courier New"/>
                <a:ea typeface="Courier New"/>
                <a:cs typeface="Courier New"/>
                <a:sym typeface="Courier New"/>
              </a:rPr>
              <a:t> </a:t>
            </a:r>
            <a:r>
              <a:rPr b="1" lang="ru-RU" sz="2200">
                <a:solidFill>
                  <a:srgbClr val="CC66CC"/>
                </a:solidFill>
                <a:latin typeface="Courier New"/>
                <a:ea typeface="Courier New"/>
                <a:cs typeface="Courier New"/>
                <a:sym typeface="Courier New"/>
              </a:rPr>
              <a:t>8770</a:t>
            </a:r>
            <a:r>
              <a:rPr b="1" lang="ru-RU" sz="2200">
                <a:solidFill>
                  <a:srgbClr val="009900"/>
                </a:solidFill>
                <a:latin typeface="Courier New"/>
                <a:ea typeface="Courier New"/>
                <a:cs typeface="Courier New"/>
                <a:sym typeface="Courier New"/>
              </a:rPr>
              <a:t>)</a:t>
            </a:r>
            <a:endParaRPr b="1" sz="2200">
              <a:solidFill>
                <a:schemeClr val="dk1"/>
              </a:solidFill>
              <a:latin typeface="Arial"/>
              <a:ea typeface="Arial"/>
              <a:cs typeface="Arial"/>
              <a:sym typeface="Arial"/>
            </a:endParaRPr>
          </a:p>
          <a:p>
            <a:pPr indent="0" lvl="0" marL="0" marR="0" rtl="0" algn="l">
              <a:spcBef>
                <a:spcPts val="0"/>
              </a:spcBef>
              <a:spcAft>
                <a:spcPts val="0"/>
              </a:spcAft>
              <a:buNone/>
            </a:pPr>
            <a:br>
              <a:rPr lang="ru-RU" sz="2200">
                <a:solidFill>
                  <a:schemeClr val="dk1"/>
                </a:solidFill>
                <a:latin typeface="Arial"/>
                <a:ea typeface="Arial"/>
                <a:cs typeface="Arial"/>
                <a:sym typeface="Arial"/>
              </a:rPr>
            </a:br>
            <a:r>
              <a:rPr lang="ru-RU" sz="2200">
                <a:solidFill>
                  <a:schemeClr val="dk1"/>
                </a:solidFill>
                <a:latin typeface="Barlow"/>
                <a:ea typeface="Barlow"/>
                <a:cs typeface="Barlow"/>
                <a:sym typeface="Barlow"/>
              </a:rPr>
              <a:t>Среднее значение для этих 11 наблюдений составляет:</a:t>
            </a:r>
            <a:br>
              <a:rPr lang="ru-RU" sz="2200">
                <a:solidFill>
                  <a:schemeClr val="dk1"/>
                </a:solidFill>
                <a:latin typeface="Arial"/>
                <a:ea typeface="Arial"/>
                <a:cs typeface="Arial"/>
                <a:sym typeface="Arial"/>
              </a:rPr>
            </a:br>
            <a:br>
              <a:rPr lang="ru-RU"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a:p>
            <a:pPr indent="0" lvl="0" marL="0" marR="0" rtl="0" algn="l">
              <a:spcBef>
                <a:spcPts val="0"/>
              </a:spcBef>
              <a:spcAft>
                <a:spcPts val="0"/>
              </a:spcAft>
              <a:buNone/>
            </a:pPr>
            <a:r>
              <a:rPr b="1" lang="ru-RU" sz="2200" u="sng">
                <a:solidFill>
                  <a:srgbClr val="003399"/>
                </a:solidFill>
                <a:latin typeface="Courier New"/>
                <a:ea typeface="Courier New"/>
                <a:cs typeface="Courier New"/>
                <a:sym typeface="Courier New"/>
                <a:hlinkClick r:id="rId4">
                  <a:extLst>
                    <a:ext uri="{A12FA001-AC4F-418D-AE19-62706E023703}">
                      <ahyp:hlinkClr val="tx"/>
                    </a:ext>
                  </a:extLst>
                </a:hlinkClick>
              </a:rPr>
              <a:t>mean</a:t>
            </a:r>
            <a:r>
              <a:rPr lang="ru-RU" sz="2200">
                <a:solidFill>
                  <a:srgbClr val="009900"/>
                </a:solidFill>
                <a:latin typeface="Courier New"/>
                <a:ea typeface="Courier New"/>
                <a:cs typeface="Courier New"/>
                <a:sym typeface="Courier New"/>
              </a:rPr>
              <a:t>(</a:t>
            </a:r>
            <a:r>
              <a:rPr lang="ru-RU" sz="2200">
                <a:solidFill>
                  <a:srgbClr val="656565"/>
                </a:solidFill>
                <a:latin typeface="Courier New"/>
                <a:ea typeface="Courier New"/>
                <a:cs typeface="Courier New"/>
                <a:sym typeface="Courier New"/>
              </a:rPr>
              <a:t>d.intake</a:t>
            </a:r>
            <a:r>
              <a:rPr lang="ru-RU" sz="2200">
                <a:solidFill>
                  <a:srgbClr val="009900"/>
                </a:solidFill>
                <a:latin typeface="Courier New"/>
                <a:ea typeface="Courier New"/>
                <a:cs typeface="Courier New"/>
                <a:sym typeface="Courier New"/>
              </a:rPr>
              <a:t>)</a:t>
            </a:r>
            <a:r>
              <a:rPr lang="ru-RU" sz="2200">
                <a:solidFill>
                  <a:srgbClr val="656565"/>
                </a:solidFill>
                <a:latin typeface="Courier New"/>
                <a:ea typeface="Courier New"/>
                <a:cs typeface="Courier New"/>
                <a:sym typeface="Courier New"/>
              </a:rPr>
              <a:t> </a:t>
            </a:r>
            <a:r>
              <a:rPr lang="ru-RU" sz="2200">
                <a:solidFill>
                  <a:srgbClr val="009900"/>
                </a:solidFill>
                <a:latin typeface="Courier New"/>
                <a:ea typeface="Courier New"/>
                <a:cs typeface="Courier New"/>
                <a:sym typeface="Courier New"/>
              </a:rPr>
              <a:t>[</a:t>
            </a:r>
            <a:r>
              <a:rPr lang="ru-RU" sz="2200">
                <a:solidFill>
                  <a:srgbClr val="CC66CC"/>
                </a:solidFill>
                <a:latin typeface="Courier New"/>
                <a:ea typeface="Courier New"/>
                <a:cs typeface="Courier New"/>
                <a:sym typeface="Courier New"/>
              </a:rPr>
              <a:t>1</a:t>
            </a:r>
            <a:r>
              <a:rPr lang="ru-RU" sz="2200">
                <a:solidFill>
                  <a:srgbClr val="009900"/>
                </a:solidFill>
                <a:latin typeface="Courier New"/>
                <a:ea typeface="Courier New"/>
                <a:cs typeface="Courier New"/>
                <a:sym typeface="Courier New"/>
              </a:rPr>
              <a:t>]</a:t>
            </a:r>
            <a:r>
              <a:rPr lang="ru-RU" sz="2200">
                <a:solidFill>
                  <a:srgbClr val="656565"/>
                </a:solidFill>
                <a:latin typeface="Courier New"/>
                <a:ea typeface="Courier New"/>
                <a:cs typeface="Courier New"/>
                <a:sym typeface="Courier New"/>
              </a:rPr>
              <a:t> </a:t>
            </a:r>
            <a:r>
              <a:rPr lang="ru-RU" sz="2200">
                <a:solidFill>
                  <a:srgbClr val="CC66CC"/>
                </a:solidFill>
                <a:latin typeface="Courier New"/>
                <a:ea typeface="Courier New"/>
                <a:cs typeface="Courier New"/>
                <a:sym typeface="Courier New"/>
              </a:rPr>
              <a:t>6753.6</a:t>
            </a:r>
            <a:endParaRPr sz="2200">
              <a:solidFill>
                <a:schemeClr val="dk1"/>
              </a:solidFill>
              <a:latin typeface="Arial"/>
              <a:ea typeface="Arial"/>
              <a:cs typeface="Arial"/>
              <a:sym typeface="Arial"/>
            </a:endParaRPr>
          </a:p>
        </p:txBody>
      </p:sp>
      <p:sp>
        <p:nvSpPr>
          <p:cNvPr id="750" name="Google Shape;750;p60"/>
          <p:cNvSpPr txBox="1"/>
          <p:nvPr/>
        </p:nvSpPr>
        <p:spPr>
          <a:xfrm>
            <a:off x="2542736" y="347890"/>
            <a:ext cx="7876173" cy="75407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600">
                <a:solidFill>
                  <a:schemeClr val="dk2"/>
                </a:solidFill>
                <a:latin typeface="Calibri"/>
                <a:ea typeface="Calibri"/>
                <a:cs typeface="Calibri"/>
                <a:sym typeface="Calibri"/>
              </a:rPr>
              <a:t>Задача о калориях </a:t>
            </a:r>
            <a:r>
              <a:rPr lang="ru-RU" sz="3200">
                <a:solidFill>
                  <a:schemeClr val="dk2"/>
                </a:solidFill>
                <a:latin typeface="Calibri"/>
                <a:ea typeface="Calibri"/>
                <a:cs typeface="Calibri"/>
                <a:sym typeface="Calibri"/>
              </a:rPr>
              <a:t>(одновыборочная)</a:t>
            </a:r>
            <a:endParaRPr sz="3200">
              <a:solidFill>
                <a:schemeClr val="dk2"/>
              </a:solidFill>
              <a:latin typeface="Calibri"/>
              <a:ea typeface="Calibri"/>
              <a:cs typeface="Calibri"/>
              <a:sym typeface="Calibri"/>
            </a:endParaRPr>
          </a:p>
        </p:txBody>
      </p:sp>
      <p:sp>
        <p:nvSpPr>
          <p:cNvPr id="751" name="Google Shape;751;p60"/>
          <p:cNvSpPr txBox="1"/>
          <p:nvPr>
            <p:ph idx="12" type="sldNum"/>
          </p:nvPr>
        </p:nvSpPr>
        <p:spPr>
          <a:xfrm>
            <a:off x="11502347" y="6496054"/>
            <a:ext cx="880449"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1"/>
          <p:cNvSpPr/>
          <p:nvPr/>
        </p:nvSpPr>
        <p:spPr>
          <a:xfrm>
            <a:off x="1438275" y="322263"/>
            <a:ext cx="1108853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58" name="Google Shape;758;p61"/>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59" name="Google Shape;759;p61"/>
          <p:cNvSpPr txBox="1"/>
          <p:nvPr>
            <p:ph idx="4294967295" type="title"/>
          </p:nvPr>
        </p:nvSpPr>
        <p:spPr>
          <a:xfrm>
            <a:off x="2467956" y="331163"/>
            <a:ext cx="7875587" cy="7540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Задача о калориях </a:t>
            </a:r>
            <a:r>
              <a:rPr lang="ru-RU" sz="3200"/>
              <a:t>(одновыборочная)</a:t>
            </a:r>
            <a:endParaRPr/>
          </a:p>
        </p:txBody>
      </p:sp>
      <p:sp>
        <p:nvSpPr>
          <p:cNvPr id="760" name="Google Shape;760;p61"/>
          <p:cNvSpPr/>
          <p:nvPr/>
        </p:nvSpPr>
        <p:spPr>
          <a:xfrm>
            <a:off x="645493" y="1343970"/>
            <a:ext cx="11740901" cy="517064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ru-RU" sz="2200">
                <a:solidFill>
                  <a:schemeClr val="dk1"/>
                </a:solidFill>
                <a:latin typeface="Barlow"/>
                <a:ea typeface="Barlow"/>
                <a:cs typeface="Barlow"/>
                <a:sym typeface="Barlow"/>
              </a:rPr>
              <a:t>Вопрос: отличается ли это выборочное среднее значение от установленной нормы в 7725 кДж/сутки? Разница между нашим выборочным значением и этим нормативом довольно прилична: 7725 - 6753.6 = 971.4. </a:t>
            </a:r>
            <a:r>
              <a:rPr b="1" lang="ru-RU" sz="2200">
                <a:solidFill>
                  <a:schemeClr val="dk1"/>
                </a:solidFill>
                <a:latin typeface="Barlow"/>
                <a:ea typeface="Barlow"/>
                <a:cs typeface="Barlow"/>
                <a:sym typeface="Barlow"/>
              </a:rPr>
              <a:t>Но насколько велика эта разница статистически?</a:t>
            </a:r>
            <a:r>
              <a:rPr lang="ru-RU" sz="2200">
                <a:solidFill>
                  <a:schemeClr val="dk1"/>
                </a:solidFill>
                <a:latin typeface="Barlow"/>
                <a:ea typeface="Barlow"/>
                <a:cs typeface="Barlow"/>
                <a:sym typeface="Barlow"/>
              </a:rPr>
              <a:t> </a:t>
            </a:r>
            <a:endParaRPr/>
          </a:p>
          <a:p>
            <a:pPr indent="0" lvl="0" marL="0" marR="0" rtl="0" algn="l">
              <a:spcBef>
                <a:spcPts val="0"/>
              </a:spcBef>
              <a:spcAft>
                <a:spcPts val="0"/>
              </a:spcAft>
              <a:buNone/>
            </a:pPr>
            <a:r>
              <a:rPr lang="ru-RU" sz="2200">
                <a:solidFill>
                  <a:schemeClr val="dk1"/>
                </a:solidFill>
                <a:latin typeface="Barlow"/>
                <a:ea typeface="Barlow"/>
                <a:cs typeface="Barlow"/>
                <a:sym typeface="Barlow"/>
              </a:rPr>
              <a:t>Ответить на этот вопрос поможет одновыборочный </a:t>
            </a:r>
            <a:r>
              <a:rPr i="1" lang="ru-RU" sz="2200">
                <a:solidFill>
                  <a:schemeClr val="dk1"/>
                </a:solidFill>
                <a:latin typeface="Barlow"/>
                <a:ea typeface="Barlow"/>
                <a:cs typeface="Barlow"/>
                <a:sym typeface="Barlow"/>
              </a:rPr>
              <a:t>t</a:t>
            </a:r>
            <a:r>
              <a:rPr lang="ru-RU" sz="2200">
                <a:solidFill>
                  <a:schemeClr val="dk1"/>
                </a:solidFill>
                <a:latin typeface="Barlow"/>
                <a:ea typeface="Barlow"/>
                <a:cs typeface="Barlow"/>
                <a:sym typeface="Barlow"/>
              </a:rPr>
              <a:t>-тест. Как и другие варианты </a:t>
            </a:r>
            <a:r>
              <a:rPr i="1" lang="ru-RU" sz="2200">
                <a:solidFill>
                  <a:schemeClr val="dk1"/>
                </a:solidFill>
                <a:latin typeface="Barlow"/>
                <a:ea typeface="Barlow"/>
                <a:cs typeface="Barlow"/>
                <a:sym typeface="Barlow"/>
              </a:rPr>
              <a:t>t</a:t>
            </a:r>
            <a:r>
              <a:rPr lang="ru-RU" sz="2200">
                <a:solidFill>
                  <a:schemeClr val="dk1"/>
                </a:solidFill>
                <a:latin typeface="Barlow"/>
                <a:ea typeface="Barlow"/>
                <a:cs typeface="Barlow"/>
                <a:sym typeface="Barlow"/>
              </a:rPr>
              <a:t>-теста, одновыборочный тест Стьюдента выполняется в R при помощи функции </a:t>
            </a:r>
            <a:r>
              <a:rPr lang="ru-RU" sz="2200">
                <a:solidFill>
                  <a:schemeClr val="dk1"/>
                </a:solidFill>
                <a:latin typeface="Courier New"/>
                <a:ea typeface="Courier New"/>
                <a:cs typeface="Courier New"/>
                <a:sym typeface="Courier New"/>
              </a:rPr>
              <a:t>t.test()</a:t>
            </a:r>
            <a:r>
              <a:rPr lang="ru-RU" sz="2200">
                <a:solidFill>
                  <a:schemeClr val="dk1"/>
                </a:solidFill>
                <a:latin typeface="Barlow"/>
                <a:ea typeface="Barlow"/>
                <a:cs typeface="Barlow"/>
                <a:sym typeface="Barlow"/>
              </a:rPr>
              <a:t>:</a:t>
            </a:r>
            <a:endParaRPr sz="2200">
              <a:solidFill>
                <a:schemeClr val="dk1"/>
              </a:solidFill>
              <a:latin typeface="Arial"/>
              <a:ea typeface="Arial"/>
              <a:cs typeface="Arial"/>
              <a:sym typeface="Arial"/>
            </a:endParaRPr>
          </a:p>
          <a:p>
            <a:pPr indent="0" lvl="0" marL="0" marR="0" rtl="0" algn="l">
              <a:spcBef>
                <a:spcPts val="0"/>
              </a:spcBef>
              <a:spcAft>
                <a:spcPts val="0"/>
              </a:spcAft>
              <a:buNone/>
            </a:pPr>
            <a:br>
              <a:rPr lang="ru-RU" sz="2000">
                <a:solidFill>
                  <a:schemeClr val="dk1"/>
                </a:solidFill>
                <a:latin typeface="Arial"/>
                <a:ea typeface="Arial"/>
                <a:cs typeface="Arial"/>
                <a:sym typeface="Arial"/>
              </a:rPr>
            </a:br>
            <a:r>
              <a:rPr b="1" lang="ru-RU" sz="2000">
                <a:solidFill>
                  <a:srgbClr val="003399"/>
                </a:solidFill>
                <a:latin typeface="Courier New"/>
                <a:ea typeface="Courier New"/>
                <a:cs typeface="Courier New"/>
                <a:sym typeface="Courier New"/>
              </a:rPr>
              <a:t>t.test</a:t>
            </a:r>
            <a:r>
              <a:rPr b="1" lang="ru-RU" sz="2000">
                <a:solidFill>
                  <a:srgbClr val="009900"/>
                </a:solidFill>
                <a:latin typeface="Courier New"/>
                <a:ea typeface="Courier New"/>
                <a:cs typeface="Courier New"/>
                <a:sym typeface="Courier New"/>
              </a:rPr>
              <a:t>(</a:t>
            </a:r>
            <a:r>
              <a:rPr b="1" lang="ru-RU" sz="2000">
                <a:solidFill>
                  <a:srgbClr val="656565"/>
                </a:solidFill>
                <a:latin typeface="Courier New"/>
                <a:ea typeface="Courier New"/>
                <a:cs typeface="Courier New"/>
                <a:sym typeface="Courier New"/>
              </a:rPr>
              <a:t>d.intake</a:t>
            </a:r>
            <a:r>
              <a:rPr b="1" lang="ru-RU" sz="2000">
                <a:solidFill>
                  <a:srgbClr val="339933"/>
                </a:solidFill>
                <a:latin typeface="Courier New"/>
                <a:ea typeface="Courier New"/>
                <a:cs typeface="Courier New"/>
                <a:sym typeface="Courier New"/>
              </a:rPr>
              <a:t>,</a:t>
            </a:r>
            <a:r>
              <a:rPr b="1" lang="ru-RU" sz="2000">
                <a:solidFill>
                  <a:srgbClr val="656565"/>
                </a:solidFill>
                <a:latin typeface="Courier New"/>
                <a:ea typeface="Courier New"/>
                <a:cs typeface="Courier New"/>
                <a:sym typeface="Courier New"/>
              </a:rPr>
              <a:t> mu = </a:t>
            </a:r>
            <a:r>
              <a:rPr b="1" lang="ru-RU" sz="2000">
                <a:solidFill>
                  <a:srgbClr val="CC66CC"/>
                </a:solidFill>
                <a:latin typeface="Courier New"/>
                <a:ea typeface="Courier New"/>
                <a:cs typeface="Courier New"/>
                <a:sym typeface="Courier New"/>
              </a:rPr>
              <a:t>7725</a:t>
            </a:r>
            <a:r>
              <a:rPr b="1" lang="ru-RU" sz="2000">
                <a:solidFill>
                  <a:srgbClr val="009900"/>
                </a:solidFill>
                <a:latin typeface="Courier New"/>
                <a:ea typeface="Courier New"/>
                <a:cs typeface="Courier New"/>
                <a:sym typeface="Courier New"/>
              </a:rPr>
              <a:t>)</a:t>
            </a:r>
            <a:r>
              <a:rPr b="1" lang="ru-RU" sz="2000">
                <a:solidFill>
                  <a:srgbClr val="656565"/>
                </a:solidFill>
                <a:latin typeface="Courier New"/>
                <a:ea typeface="Courier New"/>
                <a:cs typeface="Courier New"/>
                <a:sym typeface="Courier New"/>
              </a:rPr>
              <a:t>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656565"/>
                </a:solidFill>
                <a:latin typeface="Courier New"/>
                <a:ea typeface="Courier New"/>
                <a:cs typeface="Courier New"/>
                <a:sym typeface="Courier New"/>
              </a:rPr>
              <a:t>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656565"/>
                </a:solidFill>
                <a:latin typeface="Courier New"/>
                <a:ea typeface="Courier New"/>
                <a:cs typeface="Courier New"/>
                <a:sym typeface="Courier New"/>
              </a:rPr>
              <a:t>One Sample t-test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003399"/>
                </a:solidFill>
                <a:latin typeface="Courier New"/>
                <a:ea typeface="Courier New"/>
                <a:cs typeface="Courier New"/>
                <a:sym typeface="Courier New"/>
              </a:rPr>
              <a:t>data</a:t>
            </a:r>
            <a:r>
              <a:rPr b="1" lang="ru-RU" sz="2000">
                <a:solidFill>
                  <a:srgbClr val="656565"/>
                </a:solidFill>
                <a:latin typeface="Courier New"/>
                <a:ea typeface="Courier New"/>
                <a:cs typeface="Courier New"/>
                <a:sym typeface="Courier New"/>
              </a:rPr>
              <a:t>: d.intake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003399"/>
                </a:solidFill>
                <a:latin typeface="Courier New"/>
                <a:ea typeface="Courier New"/>
                <a:cs typeface="Courier New"/>
                <a:sym typeface="Courier New"/>
              </a:rPr>
              <a:t>t</a:t>
            </a:r>
            <a:r>
              <a:rPr b="1" lang="ru-RU" sz="2000">
                <a:solidFill>
                  <a:srgbClr val="656565"/>
                </a:solidFill>
                <a:latin typeface="Courier New"/>
                <a:ea typeface="Courier New"/>
                <a:cs typeface="Courier New"/>
                <a:sym typeface="Courier New"/>
              </a:rPr>
              <a:t> = -</a:t>
            </a:r>
            <a:r>
              <a:rPr b="1" lang="ru-RU" sz="2000">
                <a:solidFill>
                  <a:srgbClr val="CC66CC"/>
                </a:solidFill>
                <a:latin typeface="Courier New"/>
                <a:ea typeface="Courier New"/>
                <a:cs typeface="Courier New"/>
                <a:sym typeface="Courier New"/>
              </a:rPr>
              <a:t>2.8208</a:t>
            </a:r>
            <a:r>
              <a:rPr b="1" lang="ru-RU" sz="2000">
                <a:solidFill>
                  <a:srgbClr val="339933"/>
                </a:solidFill>
                <a:latin typeface="Courier New"/>
                <a:ea typeface="Courier New"/>
                <a:cs typeface="Courier New"/>
                <a:sym typeface="Courier New"/>
              </a:rPr>
              <a:t>,</a:t>
            </a:r>
            <a:r>
              <a:rPr b="1" lang="ru-RU" sz="2000">
                <a:solidFill>
                  <a:srgbClr val="656565"/>
                </a:solidFill>
                <a:latin typeface="Courier New"/>
                <a:ea typeface="Courier New"/>
                <a:cs typeface="Courier New"/>
                <a:sym typeface="Courier New"/>
              </a:rPr>
              <a:t> </a:t>
            </a:r>
            <a:r>
              <a:rPr b="1" lang="ru-RU" sz="2000" u="sng">
                <a:solidFill>
                  <a:srgbClr val="003399"/>
                </a:solidFill>
                <a:latin typeface="Courier New"/>
                <a:ea typeface="Courier New"/>
                <a:cs typeface="Courier New"/>
                <a:sym typeface="Courier New"/>
                <a:hlinkClick r:id="rId3">
                  <a:extLst>
                    <a:ext uri="{A12FA001-AC4F-418D-AE19-62706E023703}">
                      <ahyp:hlinkClr val="tx"/>
                    </a:ext>
                  </a:extLst>
                </a:hlinkClick>
              </a:rPr>
              <a:t>df</a:t>
            </a:r>
            <a:r>
              <a:rPr b="1" lang="ru-RU" sz="2000">
                <a:solidFill>
                  <a:srgbClr val="656565"/>
                </a:solidFill>
                <a:latin typeface="Courier New"/>
                <a:ea typeface="Courier New"/>
                <a:cs typeface="Courier New"/>
                <a:sym typeface="Courier New"/>
              </a:rPr>
              <a:t> = </a:t>
            </a:r>
            <a:r>
              <a:rPr b="1" lang="ru-RU" sz="2000">
                <a:solidFill>
                  <a:srgbClr val="CC66CC"/>
                </a:solidFill>
                <a:latin typeface="Courier New"/>
                <a:ea typeface="Courier New"/>
                <a:cs typeface="Courier New"/>
                <a:sym typeface="Courier New"/>
              </a:rPr>
              <a:t>10</a:t>
            </a:r>
            <a:r>
              <a:rPr b="1" lang="ru-RU" sz="2000">
                <a:solidFill>
                  <a:srgbClr val="339933"/>
                </a:solidFill>
                <a:latin typeface="Courier New"/>
                <a:ea typeface="Courier New"/>
                <a:cs typeface="Courier New"/>
                <a:sym typeface="Courier New"/>
              </a:rPr>
              <a:t>,</a:t>
            </a:r>
            <a:r>
              <a:rPr b="1" lang="ru-RU" sz="2000">
                <a:solidFill>
                  <a:srgbClr val="656565"/>
                </a:solidFill>
                <a:latin typeface="Courier New"/>
                <a:ea typeface="Courier New"/>
                <a:cs typeface="Courier New"/>
                <a:sym typeface="Courier New"/>
              </a:rPr>
              <a:t> p-value = </a:t>
            </a:r>
            <a:r>
              <a:rPr b="1" lang="ru-RU" sz="2000">
                <a:solidFill>
                  <a:srgbClr val="CC66CC"/>
                </a:solidFill>
                <a:latin typeface="Courier New"/>
                <a:ea typeface="Courier New"/>
                <a:cs typeface="Courier New"/>
                <a:sym typeface="Courier New"/>
              </a:rPr>
              <a:t>0.01814</a:t>
            </a:r>
            <a:r>
              <a:rPr b="1" lang="ru-RU" sz="2000">
                <a:solidFill>
                  <a:srgbClr val="656565"/>
                </a:solidFill>
                <a:latin typeface="Courier New"/>
                <a:ea typeface="Courier New"/>
                <a:cs typeface="Courier New"/>
                <a:sym typeface="Courier New"/>
              </a:rPr>
              <a:t>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656565"/>
                </a:solidFill>
                <a:latin typeface="Courier New"/>
                <a:ea typeface="Courier New"/>
                <a:cs typeface="Courier New"/>
                <a:sym typeface="Courier New"/>
              </a:rPr>
              <a:t>alternative hypothesis: true </a:t>
            </a:r>
            <a:r>
              <a:rPr b="1" lang="ru-RU" sz="2000">
                <a:solidFill>
                  <a:srgbClr val="003399"/>
                </a:solidFill>
                <a:latin typeface="Courier New"/>
                <a:ea typeface="Courier New"/>
                <a:cs typeface="Courier New"/>
                <a:sym typeface="Courier New"/>
              </a:rPr>
              <a:t>mean</a:t>
            </a:r>
            <a:r>
              <a:rPr b="1" lang="ru-RU" sz="2000">
                <a:solidFill>
                  <a:srgbClr val="000000"/>
                </a:solidFill>
                <a:latin typeface="Courier New"/>
                <a:ea typeface="Courier New"/>
                <a:cs typeface="Courier New"/>
                <a:sym typeface="Courier New"/>
              </a:rPr>
              <a:t> </a:t>
            </a:r>
            <a:r>
              <a:rPr b="1" lang="ru-RU" sz="2000">
                <a:solidFill>
                  <a:srgbClr val="003399"/>
                </a:solidFill>
                <a:latin typeface="Courier New"/>
                <a:ea typeface="Courier New"/>
                <a:cs typeface="Courier New"/>
                <a:sym typeface="Courier New"/>
              </a:rPr>
              <a:t>is</a:t>
            </a:r>
            <a:r>
              <a:rPr b="1" lang="ru-RU" sz="2000">
                <a:solidFill>
                  <a:srgbClr val="656565"/>
                </a:solidFill>
                <a:latin typeface="Courier New"/>
                <a:ea typeface="Courier New"/>
                <a:cs typeface="Courier New"/>
                <a:sym typeface="Courier New"/>
              </a:rPr>
              <a:t> not equal to </a:t>
            </a:r>
            <a:r>
              <a:rPr b="1" lang="ru-RU" sz="2000">
                <a:solidFill>
                  <a:srgbClr val="CC66CC"/>
                </a:solidFill>
                <a:latin typeface="Courier New"/>
                <a:ea typeface="Courier New"/>
                <a:cs typeface="Courier New"/>
                <a:sym typeface="Courier New"/>
              </a:rPr>
              <a:t>7725</a:t>
            </a:r>
            <a:r>
              <a:rPr b="1" lang="ru-RU" sz="2000">
                <a:solidFill>
                  <a:srgbClr val="656565"/>
                </a:solidFill>
                <a:latin typeface="Courier New"/>
                <a:ea typeface="Courier New"/>
                <a:cs typeface="Courier New"/>
                <a:sym typeface="Courier New"/>
              </a:rPr>
              <a:t>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CC66CC"/>
                </a:solidFill>
                <a:latin typeface="Courier New"/>
                <a:ea typeface="Courier New"/>
                <a:cs typeface="Courier New"/>
                <a:sym typeface="Courier New"/>
              </a:rPr>
              <a:t>95</a:t>
            </a:r>
            <a:r>
              <a:rPr b="1" lang="ru-RU" sz="2000">
                <a:solidFill>
                  <a:srgbClr val="656565"/>
                </a:solidFill>
                <a:latin typeface="Courier New"/>
                <a:ea typeface="Courier New"/>
                <a:cs typeface="Courier New"/>
                <a:sym typeface="Courier New"/>
              </a:rPr>
              <a:t> percent confidence interval: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CC66CC"/>
                </a:solidFill>
                <a:latin typeface="Courier New"/>
                <a:ea typeface="Courier New"/>
                <a:cs typeface="Courier New"/>
                <a:sym typeface="Courier New"/>
              </a:rPr>
              <a:t>5986.348</a:t>
            </a:r>
            <a:r>
              <a:rPr b="1" lang="ru-RU" sz="2000">
                <a:solidFill>
                  <a:srgbClr val="656565"/>
                </a:solidFill>
                <a:latin typeface="Courier New"/>
                <a:ea typeface="Courier New"/>
                <a:cs typeface="Courier New"/>
                <a:sym typeface="Courier New"/>
              </a:rPr>
              <a:t> </a:t>
            </a:r>
            <a:r>
              <a:rPr b="1" lang="ru-RU" sz="2000">
                <a:solidFill>
                  <a:srgbClr val="CC66CC"/>
                </a:solidFill>
                <a:latin typeface="Courier New"/>
                <a:ea typeface="Courier New"/>
                <a:cs typeface="Courier New"/>
                <a:sym typeface="Courier New"/>
              </a:rPr>
              <a:t>7520.925</a:t>
            </a:r>
            <a:r>
              <a:rPr b="1" lang="ru-RU" sz="2000">
                <a:solidFill>
                  <a:srgbClr val="656565"/>
                </a:solidFill>
                <a:latin typeface="Courier New"/>
                <a:ea typeface="Courier New"/>
                <a:cs typeface="Courier New"/>
                <a:sym typeface="Courier New"/>
              </a:rPr>
              <a:t>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003399"/>
                </a:solidFill>
                <a:latin typeface="Courier New"/>
                <a:ea typeface="Courier New"/>
                <a:cs typeface="Courier New"/>
                <a:sym typeface="Courier New"/>
              </a:rPr>
              <a:t>sample</a:t>
            </a:r>
            <a:r>
              <a:rPr b="1" lang="ru-RU" sz="2000">
                <a:solidFill>
                  <a:srgbClr val="656565"/>
                </a:solidFill>
                <a:latin typeface="Courier New"/>
                <a:ea typeface="Courier New"/>
                <a:cs typeface="Courier New"/>
                <a:sym typeface="Courier New"/>
              </a:rPr>
              <a:t> estimates: </a:t>
            </a:r>
            <a:endParaRPr b="1" sz="2000">
              <a:solidFill>
                <a:srgbClr val="656565"/>
              </a:solidFill>
              <a:latin typeface="Courier New"/>
              <a:ea typeface="Courier New"/>
              <a:cs typeface="Courier New"/>
              <a:sym typeface="Courier New"/>
            </a:endParaRPr>
          </a:p>
          <a:p>
            <a:pPr indent="0" lvl="0" marL="0" marR="0" rtl="0" algn="l">
              <a:spcBef>
                <a:spcPts val="0"/>
              </a:spcBef>
              <a:spcAft>
                <a:spcPts val="0"/>
              </a:spcAft>
              <a:buNone/>
            </a:pPr>
            <a:r>
              <a:rPr b="1" lang="ru-RU" sz="2000">
                <a:solidFill>
                  <a:srgbClr val="003399"/>
                </a:solidFill>
                <a:latin typeface="Courier New"/>
                <a:ea typeface="Courier New"/>
                <a:cs typeface="Courier New"/>
                <a:sym typeface="Courier New"/>
              </a:rPr>
              <a:t>mean</a:t>
            </a:r>
            <a:r>
              <a:rPr b="1" lang="ru-RU" sz="2000">
                <a:solidFill>
                  <a:srgbClr val="656565"/>
                </a:solidFill>
                <a:latin typeface="Courier New"/>
                <a:ea typeface="Courier New"/>
                <a:cs typeface="Courier New"/>
                <a:sym typeface="Courier New"/>
              </a:rPr>
              <a:t> of x </a:t>
            </a:r>
            <a:r>
              <a:rPr b="1" lang="ru-RU" sz="2000">
                <a:solidFill>
                  <a:srgbClr val="CC66CC"/>
                </a:solidFill>
                <a:latin typeface="Courier New"/>
                <a:ea typeface="Courier New"/>
                <a:cs typeface="Courier New"/>
                <a:sym typeface="Courier New"/>
              </a:rPr>
              <a:t>6753.636</a:t>
            </a:r>
            <a:endParaRPr b="1" sz="2000">
              <a:solidFill>
                <a:schemeClr val="dk1"/>
              </a:solidFill>
              <a:latin typeface="Arial"/>
              <a:ea typeface="Arial"/>
              <a:cs typeface="Arial"/>
              <a:sym typeface="Arial"/>
            </a:endParaRPr>
          </a:p>
        </p:txBody>
      </p:sp>
      <p:sp>
        <p:nvSpPr>
          <p:cNvPr id="761" name="Google Shape;761;p61"/>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2"/>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68" name="Google Shape;768;p62"/>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69" name="Google Shape;769;p62"/>
          <p:cNvSpPr/>
          <p:nvPr/>
        </p:nvSpPr>
        <p:spPr>
          <a:xfrm>
            <a:off x="1006754" y="1276910"/>
            <a:ext cx="10948200" cy="5262900"/>
          </a:xfrm>
          <a:prstGeom prst="rect">
            <a:avLst/>
          </a:prstGeom>
          <a:noFill/>
          <a:ln>
            <a:noFill/>
          </a:ln>
        </p:spPr>
        <p:txBody>
          <a:bodyPr anchorCtr="0" anchor="t" bIns="45700" lIns="91425" spcFirstLastPara="1" rIns="91425" wrap="square" tIns="45700">
            <a:spAutoFit/>
          </a:bodyPr>
          <a:lstStyle/>
          <a:p>
            <a:pPr indent="449263" lvl="0" marL="0" marR="0" rtl="0" algn="just">
              <a:spcBef>
                <a:spcPts val="0"/>
              </a:spcBef>
              <a:spcAft>
                <a:spcPts val="0"/>
              </a:spcAft>
              <a:buNone/>
            </a:pPr>
            <a:r>
              <a:rPr lang="ru-RU" sz="2100">
                <a:solidFill>
                  <a:schemeClr val="dk1"/>
                </a:solidFill>
                <a:latin typeface="Barlow"/>
                <a:ea typeface="Barlow"/>
                <a:cs typeface="Barlow"/>
                <a:sym typeface="Barlow"/>
              </a:rPr>
              <a:t>Видим, что для имеющихся выборочных данных </a:t>
            </a:r>
            <a:r>
              <a:rPr i="1" lang="ru-RU" sz="2100">
                <a:solidFill>
                  <a:schemeClr val="dk1"/>
                </a:solidFill>
                <a:latin typeface="Barlow"/>
                <a:ea typeface="Barlow"/>
                <a:cs typeface="Barlow"/>
                <a:sym typeface="Barlow"/>
              </a:rPr>
              <a:t>t</a:t>
            </a:r>
            <a:r>
              <a:rPr lang="ru-RU" sz="2100">
                <a:solidFill>
                  <a:schemeClr val="dk1"/>
                </a:solidFill>
                <a:latin typeface="Barlow"/>
                <a:ea typeface="Barlow"/>
                <a:cs typeface="Barlow"/>
                <a:sym typeface="Barlow"/>
              </a:rPr>
              <a:t>-критерий составляет -2.821 при 10 степенях свободы (</a:t>
            </a:r>
            <a:r>
              <a:rPr lang="ru-RU" sz="2100">
                <a:solidFill>
                  <a:schemeClr val="dk1"/>
                </a:solidFill>
                <a:latin typeface="courier new"/>
                <a:ea typeface="courier new"/>
                <a:cs typeface="courier new"/>
                <a:sym typeface="courier new"/>
              </a:rPr>
              <a:t>df</a:t>
            </a:r>
            <a:r>
              <a:rPr lang="ru-RU" sz="2100">
                <a:solidFill>
                  <a:schemeClr val="dk1"/>
                </a:solidFill>
                <a:latin typeface="Barlow"/>
                <a:ea typeface="Barlow"/>
                <a:cs typeface="Barlow"/>
                <a:sym typeface="Barlow"/>
              </a:rPr>
              <a:t>). </a:t>
            </a:r>
            <a:endParaRPr/>
          </a:p>
          <a:p>
            <a:pPr indent="449263" lvl="0" marL="0" marR="0" rtl="0" algn="just">
              <a:spcBef>
                <a:spcPts val="0"/>
              </a:spcBef>
              <a:spcAft>
                <a:spcPts val="0"/>
              </a:spcAft>
              <a:buNone/>
            </a:pPr>
            <a:r>
              <a:rPr lang="ru-RU" sz="2100">
                <a:solidFill>
                  <a:schemeClr val="dk1"/>
                </a:solidFill>
                <a:latin typeface="Barlow"/>
                <a:ea typeface="Barlow"/>
                <a:cs typeface="Barlow"/>
                <a:sym typeface="Barlow"/>
              </a:rPr>
              <a:t>Вероятность получить такое (либо большее) значение </a:t>
            </a:r>
            <a:r>
              <a:rPr i="1" lang="ru-RU" sz="2100">
                <a:solidFill>
                  <a:schemeClr val="dk1"/>
                </a:solidFill>
                <a:latin typeface="Barlow"/>
                <a:ea typeface="Barlow"/>
                <a:cs typeface="Barlow"/>
                <a:sym typeface="Barlow"/>
              </a:rPr>
              <a:t>t</a:t>
            </a:r>
            <a:r>
              <a:rPr lang="ru-RU" sz="2100">
                <a:solidFill>
                  <a:schemeClr val="dk1"/>
                </a:solidFill>
                <a:latin typeface="Barlow"/>
                <a:ea typeface="Barlow"/>
                <a:cs typeface="Barlow"/>
                <a:sym typeface="Barlow"/>
              </a:rPr>
              <a:t> при условии, что проверяемая нулевая гипотеза верна, оказалась весьма мала: </a:t>
            </a:r>
            <a:r>
              <a:rPr b="1" lang="ru-RU" sz="2100">
                <a:solidFill>
                  <a:srgbClr val="0000FF"/>
                </a:solidFill>
                <a:latin typeface="courier new"/>
                <a:ea typeface="courier new"/>
                <a:cs typeface="courier new"/>
                <a:sym typeface="courier new"/>
              </a:rPr>
              <a:t>p-value = 0.01814</a:t>
            </a:r>
            <a:r>
              <a:rPr b="1" lang="ru-RU" sz="2100">
                <a:solidFill>
                  <a:srgbClr val="0000FF"/>
                </a:solidFill>
                <a:latin typeface="Barlow"/>
                <a:ea typeface="Barlow"/>
                <a:cs typeface="Barlow"/>
                <a:sym typeface="Barlow"/>
              </a:rPr>
              <a:t> </a:t>
            </a:r>
            <a:r>
              <a:rPr lang="ru-RU" sz="2100">
                <a:solidFill>
                  <a:schemeClr val="dk1"/>
                </a:solidFill>
                <a:latin typeface="Barlow"/>
                <a:ea typeface="Barlow"/>
                <a:cs typeface="Barlow"/>
                <a:sym typeface="Barlow"/>
              </a:rPr>
              <a:t> (во всяком случае, это меньше 5%). Следовательно, мы можем отклонить проверяемую нулевую гипотезу о равенстве выборочного среднего значения нормативу и принять альтернативную гипотезу </a:t>
            </a:r>
            <a:r>
              <a:rPr b="1" lang="ru-RU" sz="2100">
                <a:solidFill>
                  <a:srgbClr val="0000FF"/>
                </a:solidFill>
                <a:latin typeface="Barlow"/>
                <a:ea typeface="Barlow"/>
                <a:cs typeface="Barlow"/>
                <a:sym typeface="Barlow"/>
              </a:rPr>
              <a:t>(</a:t>
            </a:r>
            <a:r>
              <a:rPr b="1" lang="ru-RU" sz="2100">
                <a:solidFill>
                  <a:srgbClr val="0000FF"/>
                </a:solidFill>
                <a:latin typeface="courier new"/>
                <a:ea typeface="courier new"/>
                <a:cs typeface="courier new"/>
                <a:sym typeface="courier new"/>
              </a:rPr>
              <a:t>alternative hypothesis: true mean is not equal to 7725</a:t>
            </a:r>
            <a:r>
              <a:rPr b="1" lang="ru-RU" sz="2100">
                <a:solidFill>
                  <a:srgbClr val="0000FF"/>
                </a:solidFill>
                <a:latin typeface="Barlow"/>
                <a:ea typeface="Barlow"/>
                <a:cs typeface="Barlow"/>
                <a:sym typeface="Barlow"/>
              </a:rPr>
              <a:t>).</a:t>
            </a:r>
            <a:r>
              <a:rPr lang="ru-RU" sz="2100">
                <a:solidFill>
                  <a:schemeClr val="dk1"/>
                </a:solidFill>
                <a:latin typeface="Barlow"/>
                <a:ea typeface="Barlow"/>
                <a:cs typeface="Barlow"/>
                <a:sym typeface="Barlow"/>
              </a:rPr>
              <a:t> Делая это, мы рискуем ошибиться с вероятностью менее 5%.</a:t>
            </a:r>
            <a:endParaRPr/>
          </a:p>
          <a:p>
            <a:pPr indent="449263" lvl="0" marL="0" marR="0" rtl="0" algn="just">
              <a:spcBef>
                <a:spcPts val="0"/>
              </a:spcBef>
              <a:spcAft>
                <a:spcPts val="0"/>
              </a:spcAft>
              <a:buNone/>
            </a:pPr>
            <a:r>
              <a:t/>
            </a:r>
            <a:endParaRPr sz="2100">
              <a:solidFill>
                <a:schemeClr val="dk1"/>
              </a:solidFill>
              <a:latin typeface="Barlow"/>
              <a:ea typeface="Barlow"/>
              <a:cs typeface="Barlow"/>
              <a:sym typeface="Barlow"/>
            </a:endParaRPr>
          </a:p>
          <a:p>
            <a:pPr indent="449263" lvl="0" marL="0" marR="0" rtl="0" algn="just">
              <a:spcBef>
                <a:spcPts val="0"/>
              </a:spcBef>
              <a:spcAft>
                <a:spcPts val="0"/>
              </a:spcAft>
              <a:buNone/>
            </a:pPr>
            <a:r>
              <a:rPr lang="ru-RU" sz="2100">
                <a:solidFill>
                  <a:schemeClr val="dk1"/>
                </a:solidFill>
                <a:latin typeface="Barlow"/>
                <a:ea typeface="Barlow"/>
                <a:cs typeface="Barlow"/>
                <a:sym typeface="Barlow"/>
              </a:rPr>
              <a:t>Помимо </a:t>
            </a:r>
            <a:r>
              <a:rPr i="1" lang="ru-RU" sz="2100">
                <a:solidFill>
                  <a:schemeClr val="dk1"/>
                </a:solidFill>
                <a:latin typeface="Barlow"/>
                <a:ea typeface="Barlow"/>
                <a:cs typeface="Barlow"/>
                <a:sym typeface="Barlow"/>
              </a:rPr>
              <a:t>t</a:t>
            </a:r>
            <a:r>
              <a:rPr lang="ru-RU" sz="2100">
                <a:solidFill>
                  <a:schemeClr val="dk1"/>
                </a:solidFill>
                <a:latin typeface="Barlow"/>
                <a:ea typeface="Barlow"/>
                <a:cs typeface="Barlow"/>
                <a:sym typeface="Barlow"/>
              </a:rPr>
              <a:t>-критерия, количества степеней свободы, Р-значения и выборочного среднего </a:t>
            </a:r>
            <a:r>
              <a:rPr b="1" lang="ru-RU" sz="2100">
                <a:solidFill>
                  <a:srgbClr val="0000FF"/>
                </a:solidFill>
                <a:latin typeface="courier new"/>
                <a:ea typeface="courier new"/>
                <a:cs typeface="courier new"/>
                <a:sym typeface="courier new"/>
              </a:rPr>
              <a:t>(sample estimates: mean of x), </a:t>
            </a:r>
            <a:r>
              <a:rPr lang="ru-RU" sz="2100">
                <a:solidFill>
                  <a:schemeClr val="dk1"/>
                </a:solidFill>
                <a:latin typeface="Barlow"/>
                <a:ea typeface="Barlow"/>
                <a:cs typeface="Barlow"/>
                <a:sym typeface="Barlow"/>
              </a:rPr>
              <a:t>программа рассчитала также 95%-ный доверительный интервал </a:t>
            </a:r>
            <a:r>
              <a:rPr b="1" lang="ru-RU" sz="2100">
                <a:solidFill>
                  <a:srgbClr val="0000FF"/>
                </a:solidFill>
                <a:latin typeface="courier new"/>
                <a:ea typeface="courier new"/>
                <a:cs typeface="courier new"/>
                <a:sym typeface="courier new"/>
              </a:rPr>
              <a:t>(95 percent confidence interval) </a:t>
            </a:r>
            <a:r>
              <a:rPr lang="ru-RU" sz="2100">
                <a:solidFill>
                  <a:schemeClr val="dk1"/>
                </a:solidFill>
                <a:latin typeface="Barlow"/>
                <a:ea typeface="Barlow"/>
                <a:cs typeface="Barlow"/>
                <a:sym typeface="Barlow"/>
              </a:rPr>
              <a:t>для истинной разницы между выборочным средним значением суточного потребления энергии и нормативом. Если бы мы повторили аналогичный тест много раз для разных групп из 11 женщин, то в 95% случаев эта разница оказалась бы в диапазоне от 5986.3 до 7520.9 кДж/сутки.</a:t>
            </a:r>
            <a:endParaRPr/>
          </a:p>
        </p:txBody>
      </p:sp>
      <p:sp>
        <p:nvSpPr>
          <p:cNvPr id="770" name="Google Shape;770;p62"/>
          <p:cNvSpPr txBox="1"/>
          <p:nvPr/>
        </p:nvSpPr>
        <p:spPr>
          <a:xfrm>
            <a:off x="2542736" y="347890"/>
            <a:ext cx="7876173" cy="75407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600">
                <a:solidFill>
                  <a:schemeClr val="dk2"/>
                </a:solidFill>
                <a:latin typeface="Calibri"/>
                <a:ea typeface="Calibri"/>
                <a:cs typeface="Calibri"/>
                <a:sym typeface="Calibri"/>
              </a:rPr>
              <a:t>Задача о калориях </a:t>
            </a:r>
            <a:r>
              <a:rPr lang="ru-RU" sz="3200">
                <a:solidFill>
                  <a:schemeClr val="dk2"/>
                </a:solidFill>
                <a:latin typeface="Calibri"/>
                <a:ea typeface="Calibri"/>
                <a:cs typeface="Calibri"/>
                <a:sym typeface="Calibri"/>
              </a:rPr>
              <a:t>(одновыборочная)</a:t>
            </a:r>
            <a:endParaRPr sz="3200">
              <a:solidFill>
                <a:schemeClr val="dk2"/>
              </a:solidFill>
              <a:latin typeface="Calibri"/>
              <a:ea typeface="Calibri"/>
              <a:cs typeface="Calibri"/>
              <a:sym typeface="Calibri"/>
            </a:endParaRPr>
          </a:p>
        </p:txBody>
      </p:sp>
      <p:sp>
        <p:nvSpPr>
          <p:cNvPr id="771" name="Google Shape;771;p62"/>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63"/>
          <p:cNvSpPr/>
          <p:nvPr/>
        </p:nvSpPr>
        <p:spPr>
          <a:xfrm>
            <a:off x="645494" y="322263"/>
            <a:ext cx="11593288" cy="6121201"/>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78" name="Google Shape;778;p63"/>
          <p:cNvSpPr/>
          <p:nvPr/>
        </p:nvSpPr>
        <p:spPr>
          <a:xfrm>
            <a:off x="2373685" y="322264"/>
            <a:ext cx="8064128" cy="1296665"/>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79" name="Google Shape;779;p63"/>
          <p:cNvSpPr txBox="1"/>
          <p:nvPr>
            <p:ph idx="4294967295" type="title"/>
          </p:nvPr>
        </p:nvSpPr>
        <p:spPr>
          <a:xfrm>
            <a:off x="1887539" y="322264"/>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Статистика критерия или </a:t>
            </a:r>
            <a:br>
              <a:rPr lang="ru-RU" sz="3949"/>
            </a:br>
            <a:r>
              <a:rPr lang="ru-RU" sz="3949"/>
              <a:t>тестовая статистикой</a:t>
            </a:r>
            <a:endParaRPr/>
          </a:p>
        </p:txBody>
      </p:sp>
      <p:sp>
        <p:nvSpPr>
          <p:cNvPr id="780" name="Google Shape;780;p63"/>
          <p:cNvSpPr txBox="1"/>
          <p:nvPr>
            <p:ph idx="4294967295" type="body"/>
          </p:nvPr>
        </p:nvSpPr>
        <p:spPr>
          <a:xfrm>
            <a:off x="1077541" y="1905355"/>
            <a:ext cx="11161240" cy="1657789"/>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1560"/>
              <a:buFont typeface="Noto Sans Symbols"/>
              <a:buChar char="■"/>
            </a:pPr>
            <a:r>
              <a:rPr lang="ru-RU" sz="2400"/>
              <a:t>Иногда используют статистику критерия или тестовую статистику.</a:t>
            </a:r>
            <a:endParaRPr/>
          </a:p>
          <a:p>
            <a:pPr indent="-357188" lvl="0" marL="357188" rtl="0" algn="l">
              <a:spcBef>
                <a:spcPts val="480"/>
              </a:spcBef>
              <a:spcAft>
                <a:spcPts val="0"/>
              </a:spcAft>
              <a:buClr>
                <a:srgbClr val="CC9900"/>
              </a:buClr>
              <a:buSzPts val="1560"/>
              <a:buFont typeface="Noto Sans Symbols"/>
              <a:buChar char="■"/>
            </a:pPr>
            <a:r>
              <a:rPr lang="ru-RU" sz="2400"/>
              <a:t>Изредка она важна сама по себе  (например, коэффициент корреляции), в таких конкретных случаях мы будем ее указывать.</a:t>
            </a:r>
            <a:endParaRPr/>
          </a:p>
        </p:txBody>
      </p:sp>
      <p:sp>
        <p:nvSpPr>
          <p:cNvPr id="781" name="Google Shape;781;p63"/>
          <p:cNvSpPr txBox="1"/>
          <p:nvPr>
            <p:ph idx="12" type="sldNum"/>
          </p:nvPr>
        </p:nvSpPr>
        <p:spPr>
          <a:xfrm>
            <a:off x="11636723" y="6614320"/>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782" name="Google Shape;782;p63"/>
          <p:cNvSpPr/>
          <p:nvPr/>
        </p:nvSpPr>
        <p:spPr>
          <a:xfrm>
            <a:off x="841611" y="3821208"/>
            <a:ext cx="11397170" cy="21544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baseline="30000" i="1" lang="ru-RU" sz="2000">
                <a:solidFill>
                  <a:schemeClr val="dk1"/>
                </a:solidFill>
                <a:latin typeface="Arial"/>
                <a:ea typeface="Arial"/>
                <a:cs typeface="Arial"/>
                <a:sym typeface="Arial"/>
              </a:rPr>
              <a:t>*) </a:t>
            </a:r>
            <a:r>
              <a:rPr b="1" i="1" lang="ru-RU" sz="2000">
                <a:solidFill>
                  <a:schemeClr val="dk1"/>
                </a:solidFill>
                <a:latin typeface="Arial"/>
                <a:ea typeface="Arial"/>
                <a:cs typeface="Arial"/>
                <a:sym typeface="Arial"/>
              </a:rPr>
              <a:t>t</a:t>
            </a:r>
            <a:r>
              <a:rPr lang="ru-RU" sz="2000">
                <a:solidFill>
                  <a:schemeClr val="dk1"/>
                </a:solidFill>
                <a:latin typeface="Arial"/>
                <a:ea typeface="Arial"/>
                <a:cs typeface="Arial"/>
                <a:sym typeface="Arial"/>
              </a:rPr>
              <a:t>-критерий Стьюдента используется для определения статистической значимости различий средних величин.</a:t>
            </a:r>
            <a:endParaRPr/>
          </a:p>
          <a:p>
            <a:pPr indent="-457200" lvl="0" marL="457200" marR="0" rtl="0" algn="l">
              <a:spcBef>
                <a:spcPts val="0"/>
              </a:spcBef>
              <a:spcAft>
                <a:spcPts val="0"/>
              </a:spcAft>
              <a:buClr>
                <a:schemeClr val="dk1"/>
              </a:buClr>
              <a:buSzPts val="1800"/>
              <a:buFont typeface="Calibri"/>
              <a:buAutoNum type="arabicPeriod"/>
            </a:pPr>
            <a:r>
              <a:rPr lang="ru-RU" sz="1800">
                <a:solidFill>
                  <a:schemeClr val="dk1"/>
                </a:solidFill>
                <a:latin typeface="Arial"/>
                <a:ea typeface="Arial"/>
                <a:cs typeface="Arial"/>
                <a:sym typeface="Arial"/>
              </a:rPr>
              <a:t>Если рассчитанное значение t-критерия Стьюдента равно или больше критического, найденного по таблице, делаем вывод о статистической значимости различий между сравниваемыми величинами.</a:t>
            </a:r>
            <a:endParaRPr/>
          </a:p>
          <a:p>
            <a:pPr indent="-457200" lvl="0" marL="457200" marR="0" rtl="0" algn="l">
              <a:spcBef>
                <a:spcPts val="0"/>
              </a:spcBef>
              <a:spcAft>
                <a:spcPts val="0"/>
              </a:spcAft>
              <a:buClr>
                <a:schemeClr val="dk1"/>
              </a:buClr>
              <a:buSzPts val="1800"/>
              <a:buFont typeface="Calibri"/>
              <a:buAutoNum type="arabicPeriod"/>
            </a:pPr>
            <a:r>
              <a:rPr lang="ru-RU" sz="1800">
                <a:solidFill>
                  <a:schemeClr val="dk1"/>
                </a:solidFill>
                <a:latin typeface="Arial"/>
                <a:ea typeface="Arial"/>
                <a:cs typeface="Arial"/>
                <a:sym typeface="Arial"/>
              </a:rPr>
              <a:t>Если значение рассчитанного t-критерия Стьюдента меньше табличного, значит различия сравниваемых величин статистически не значимы</a:t>
            </a:r>
            <a:r>
              <a:rPr lang="ru-RU" sz="2000">
                <a:solidFill>
                  <a:schemeClr val="dk1"/>
                </a:solidFill>
                <a:latin typeface="Arial"/>
                <a:ea typeface="Arial"/>
                <a:cs typeface="Arial"/>
                <a:sym typeface="Arial"/>
              </a:rPr>
              <a:t>.</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64"/>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89" name="Google Shape;789;p64"/>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90" name="Google Shape;790;p64"/>
          <p:cNvSpPr txBox="1"/>
          <p:nvPr>
            <p:ph idx="4294967295" type="title"/>
          </p:nvPr>
        </p:nvSpPr>
        <p:spPr>
          <a:xfrm>
            <a:off x="2338611" y="257176"/>
            <a:ext cx="8042275" cy="73818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Интерпретация статистики критерия</a:t>
            </a:r>
            <a:endParaRPr/>
          </a:p>
        </p:txBody>
      </p:sp>
      <p:sp>
        <p:nvSpPr>
          <p:cNvPr id="791" name="Google Shape;791;p64"/>
          <p:cNvSpPr txBox="1"/>
          <p:nvPr>
            <p:ph idx="4294967295" type="body"/>
          </p:nvPr>
        </p:nvSpPr>
        <p:spPr>
          <a:xfrm>
            <a:off x="1910358" y="1120652"/>
            <a:ext cx="8551863" cy="1252538"/>
          </a:xfrm>
          <a:prstGeom prst="rect">
            <a:avLst/>
          </a:prstGeom>
          <a:noFill/>
          <a:ln>
            <a:noFill/>
          </a:ln>
        </p:spPr>
        <p:txBody>
          <a:bodyPr anchorCtr="0" anchor="t" bIns="45700" lIns="91425" spcFirstLastPara="1" rIns="91425" wrap="square" tIns="45700">
            <a:normAutofit/>
          </a:bodyPr>
          <a:lstStyle/>
          <a:p>
            <a:pPr indent="-99060" lvl="0" marL="0" rtl="0" algn="l">
              <a:spcBef>
                <a:spcPts val="0"/>
              </a:spcBef>
              <a:spcAft>
                <a:spcPts val="0"/>
              </a:spcAft>
              <a:buClr>
                <a:srgbClr val="CC9900"/>
              </a:buClr>
              <a:buSzPts val="1560"/>
              <a:buFont typeface="Noto Sans Symbols"/>
              <a:buChar char="■"/>
            </a:pPr>
            <a:r>
              <a:rPr lang="ru-RU" sz="2400"/>
              <a:t>Значение статистики критерия (обычно) измеряет, насколько данные согласуются с гипотезой.</a:t>
            </a:r>
            <a:endParaRPr/>
          </a:p>
        </p:txBody>
      </p:sp>
      <p:sp>
        <p:nvSpPr>
          <p:cNvPr id="792" name="Google Shape;792;p64"/>
          <p:cNvSpPr/>
          <p:nvPr/>
        </p:nvSpPr>
        <p:spPr>
          <a:xfrm>
            <a:off x="1910357" y="5774018"/>
            <a:ext cx="914571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rgbClr val="000000"/>
                </a:solidFill>
                <a:latin typeface="Times New Roman"/>
                <a:ea typeface="Times New Roman"/>
                <a:cs typeface="Times New Roman"/>
                <a:sym typeface="Times New Roman"/>
              </a:rPr>
              <a:t>Плотность распределения статистики при справедливости гипотезы </a:t>
            </a:r>
            <a:r>
              <a:rPr i="1" lang="ru-RU" sz="2400">
                <a:solidFill>
                  <a:srgbClr val="000000"/>
                </a:solidFill>
                <a:latin typeface="Times New Roman"/>
                <a:ea typeface="Times New Roman"/>
                <a:cs typeface="Times New Roman"/>
                <a:sym typeface="Times New Roman"/>
              </a:rPr>
              <a:t>H</a:t>
            </a:r>
            <a:r>
              <a:rPr baseline="-25000" i="1" lang="ru-RU" sz="2400">
                <a:solidFill>
                  <a:srgbClr val="000000"/>
                </a:solidFill>
                <a:latin typeface="Times New Roman"/>
                <a:ea typeface="Times New Roman"/>
                <a:cs typeface="Times New Roman"/>
                <a:sym typeface="Times New Roman"/>
              </a:rPr>
              <a:t>0</a:t>
            </a:r>
            <a:r>
              <a:rPr i="1" lang="ru-RU" sz="2400">
                <a:solidFill>
                  <a:srgbClr val="000000"/>
                </a:solidFill>
                <a:latin typeface="Times New Roman"/>
                <a:ea typeface="Times New Roman"/>
                <a:cs typeface="Times New Roman"/>
                <a:sym typeface="Times New Roman"/>
              </a:rPr>
              <a:t> </a:t>
            </a:r>
            <a:r>
              <a:rPr lang="ru-RU" sz="2400">
                <a:solidFill>
                  <a:srgbClr val="000000"/>
                </a:solidFill>
                <a:latin typeface="Times New Roman"/>
                <a:ea typeface="Times New Roman"/>
                <a:cs typeface="Times New Roman"/>
                <a:sym typeface="Times New Roman"/>
              </a:rPr>
              <a:t>и и достигнутый уровень значимости </a:t>
            </a:r>
            <a:endParaRPr sz="2400">
              <a:solidFill>
                <a:schemeClr val="dk1"/>
              </a:solidFill>
              <a:latin typeface="Arial"/>
              <a:ea typeface="Arial"/>
              <a:cs typeface="Arial"/>
              <a:sym typeface="Arial"/>
            </a:endParaRPr>
          </a:p>
        </p:txBody>
      </p:sp>
      <p:pic>
        <p:nvPicPr>
          <p:cNvPr id="793" name="Google Shape;793;p64"/>
          <p:cNvPicPr preferRelativeResize="0"/>
          <p:nvPr/>
        </p:nvPicPr>
        <p:blipFill rotWithShape="1">
          <a:blip r:embed="rId3">
            <a:alphaModFix/>
          </a:blip>
          <a:srcRect b="0" l="0" r="0" t="0"/>
          <a:stretch/>
        </p:blipFill>
        <p:spPr>
          <a:xfrm>
            <a:off x="2661717" y="2167248"/>
            <a:ext cx="6912768" cy="3660967"/>
          </a:xfrm>
          <a:prstGeom prst="rect">
            <a:avLst/>
          </a:prstGeom>
          <a:noFill/>
          <a:ln>
            <a:noFill/>
          </a:ln>
        </p:spPr>
      </p:pic>
      <p:sp>
        <p:nvSpPr>
          <p:cNvPr id="794" name="Google Shape;794;p64"/>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65"/>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01" name="Google Shape;801;p6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02" name="Google Shape;802;p65"/>
          <p:cNvSpPr txBox="1"/>
          <p:nvPr>
            <p:ph idx="4294967295" type="body"/>
          </p:nvPr>
        </p:nvSpPr>
        <p:spPr>
          <a:xfrm>
            <a:off x="1581597" y="1618929"/>
            <a:ext cx="10046017" cy="2549525"/>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"Маленькие" значения статистики критерия указывают, что  данные «ведут себя» в соответствии с гипотезой.</a:t>
            </a:r>
            <a:endParaRPr/>
          </a:p>
          <a:p>
            <a:pPr indent="-115570" lvl="0" marL="0" rtl="0" algn="l">
              <a:spcBef>
                <a:spcPts val="560"/>
              </a:spcBef>
              <a:spcAft>
                <a:spcPts val="0"/>
              </a:spcAft>
              <a:buClr>
                <a:srgbClr val="CC9900"/>
              </a:buClr>
              <a:buSzPts val="1820"/>
              <a:buFont typeface="Noto Sans Symbols"/>
              <a:buChar char="■"/>
            </a:pPr>
            <a:r>
              <a:rPr lang="ru-RU" sz="2800"/>
              <a:t>В этом случае гипотеза не отвергается.</a:t>
            </a:r>
            <a:endParaRPr/>
          </a:p>
          <a:p>
            <a:pPr indent="-176824" lvl="0" marL="354624" rtl="0" algn="l">
              <a:spcBef>
                <a:spcPts val="560"/>
              </a:spcBef>
              <a:spcAft>
                <a:spcPts val="0"/>
              </a:spcAft>
              <a:buClr>
                <a:schemeClr val="dk1"/>
              </a:buClr>
              <a:buSzPts val="2800"/>
              <a:buNone/>
            </a:pPr>
            <a:r>
              <a:t/>
            </a:r>
            <a:endParaRPr sz="2800"/>
          </a:p>
          <a:p>
            <a:pPr indent="-176824" lvl="0" marL="354624" rtl="0" algn="l">
              <a:spcBef>
                <a:spcPts val="560"/>
              </a:spcBef>
              <a:spcAft>
                <a:spcPts val="0"/>
              </a:spcAft>
              <a:buClr>
                <a:schemeClr val="dk1"/>
              </a:buClr>
              <a:buSzPts val="2800"/>
              <a:buNone/>
            </a:pPr>
            <a:r>
              <a:t/>
            </a:r>
            <a:endParaRPr sz="2800"/>
          </a:p>
        </p:txBody>
      </p:sp>
      <p:sp>
        <p:nvSpPr>
          <p:cNvPr id="803" name="Google Shape;803;p65"/>
          <p:cNvSpPr txBox="1"/>
          <p:nvPr/>
        </p:nvSpPr>
        <p:spPr>
          <a:xfrm>
            <a:off x="1636017" y="3949149"/>
            <a:ext cx="10046730" cy="2404774"/>
          </a:xfrm>
          <a:prstGeom prst="rect">
            <a:avLst/>
          </a:prstGeom>
          <a:noFill/>
          <a:ln>
            <a:noFill/>
          </a:ln>
        </p:spPr>
        <p:txBody>
          <a:bodyPr anchorCtr="0" anchor="t" bIns="45700" lIns="91425" spcFirstLastPara="1" rIns="91425" wrap="square" tIns="45700">
            <a:noAutofit/>
          </a:bodyPr>
          <a:lstStyle/>
          <a:p>
            <a:pPr indent="-115570" lvl="0" marL="0" marR="0" rtl="0" algn="l">
              <a:spcBef>
                <a:spcPts val="0"/>
              </a:spcBef>
              <a:spcAft>
                <a:spcPts val="0"/>
              </a:spcAft>
              <a:buClr>
                <a:srgbClr val="CC9900"/>
              </a:buClr>
              <a:buSzPts val="1820"/>
              <a:buFont typeface="Noto Sans Symbols"/>
              <a:buChar char="■"/>
            </a:pPr>
            <a:r>
              <a:rPr lang="ru-RU" sz="2800">
                <a:solidFill>
                  <a:schemeClr val="dk1"/>
                </a:solidFill>
                <a:latin typeface="Calibri"/>
                <a:ea typeface="Calibri"/>
                <a:cs typeface="Calibri"/>
                <a:sym typeface="Calibri"/>
              </a:rPr>
              <a:t>"Большие" значения статистики критерия указывают, что данные не соответствуют гипотезе, противоречат ей.</a:t>
            </a:r>
            <a:endParaRPr/>
          </a:p>
          <a:p>
            <a:pPr indent="-115570" lvl="0" marL="0" marR="0" rtl="0" algn="l">
              <a:spcBef>
                <a:spcPts val="560"/>
              </a:spcBef>
              <a:spcAft>
                <a:spcPts val="0"/>
              </a:spcAft>
              <a:buClr>
                <a:srgbClr val="CC9900"/>
              </a:buClr>
              <a:buSzPts val="1820"/>
              <a:buFont typeface="Noto Sans Symbols"/>
              <a:buChar char="■"/>
            </a:pPr>
            <a:r>
              <a:rPr lang="ru-RU" sz="2800">
                <a:solidFill>
                  <a:schemeClr val="dk1"/>
                </a:solidFill>
                <a:latin typeface="Calibri"/>
                <a:ea typeface="Calibri"/>
                <a:cs typeface="Calibri"/>
                <a:sym typeface="Calibri"/>
              </a:rPr>
              <a:t>Гипотеза отвергается.</a:t>
            </a:r>
            <a:endParaRPr/>
          </a:p>
        </p:txBody>
      </p:sp>
      <p:sp>
        <p:nvSpPr>
          <p:cNvPr id="804" name="Google Shape;804;p65"/>
          <p:cNvSpPr txBox="1"/>
          <p:nvPr/>
        </p:nvSpPr>
        <p:spPr>
          <a:xfrm>
            <a:off x="2277105" y="344191"/>
            <a:ext cx="8042605" cy="7389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600">
                <a:solidFill>
                  <a:schemeClr val="dk2"/>
                </a:solidFill>
                <a:latin typeface="Calibri"/>
                <a:ea typeface="Calibri"/>
                <a:cs typeface="Calibri"/>
                <a:sym typeface="Calibri"/>
              </a:rPr>
              <a:t>Интерпретация статистики критерия</a:t>
            </a:r>
            <a:endParaRPr/>
          </a:p>
        </p:txBody>
      </p:sp>
      <p:sp>
        <p:nvSpPr>
          <p:cNvPr id="805" name="Google Shape;805;p65"/>
          <p:cNvSpPr txBox="1"/>
          <p:nvPr>
            <p:ph idx="12" type="sldNum"/>
          </p:nvPr>
        </p:nvSpPr>
        <p:spPr>
          <a:xfrm>
            <a:off x="11627614" y="6541296"/>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0" name="Shape 810"/>
        <p:cNvGrpSpPr/>
        <p:nvPr/>
      </p:nvGrpSpPr>
      <p:grpSpPr>
        <a:xfrm>
          <a:off x="0" y="0"/>
          <a:ext cx="0" cy="0"/>
          <a:chOff x="0" y="0"/>
          <a:chExt cx="0" cy="0"/>
        </a:xfrm>
      </p:grpSpPr>
      <p:sp>
        <p:nvSpPr>
          <p:cNvPr id="811" name="Google Shape;811;p66"/>
          <p:cNvSpPr/>
          <p:nvPr/>
        </p:nvSpPr>
        <p:spPr>
          <a:xfrm>
            <a:off x="1438275" y="322263"/>
            <a:ext cx="1072849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12" name="Google Shape;812;p6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13" name="Google Shape;813;p66"/>
          <p:cNvSpPr txBox="1"/>
          <p:nvPr>
            <p:ph idx="4294967295" type="title"/>
          </p:nvPr>
        </p:nvSpPr>
        <p:spPr>
          <a:xfrm>
            <a:off x="3165773" y="288926"/>
            <a:ext cx="6579890"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Пример</a:t>
            </a:r>
            <a:endParaRPr/>
          </a:p>
        </p:txBody>
      </p:sp>
      <p:sp>
        <p:nvSpPr>
          <p:cNvPr id="814" name="Google Shape;814;p66"/>
          <p:cNvSpPr txBox="1"/>
          <p:nvPr>
            <p:ph idx="4294967295" type="body"/>
          </p:nvPr>
        </p:nvSpPr>
        <p:spPr>
          <a:xfrm>
            <a:off x="1581597" y="1373188"/>
            <a:ext cx="9891266" cy="1828800"/>
          </a:xfrm>
          <a:prstGeom prst="rect">
            <a:avLst/>
          </a:prstGeom>
          <a:noFill/>
          <a:ln>
            <a:noFill/>
          </a:ln>
        </p:spPr>
        <p:txBody>
          <a:bodyPr anchorCtr="0" anchor="t" bIns="45700" lIns="91425" spcFirstLastPara="1" rIns="91425" wrap="square" tIns="45700">
            <a:normAutofit/>
          </a:bodyPr>
          <a:lstStyle/>
          <a:p>
            <a:pPr indent="-449263" lvl="0" marL="449263" rtl="0" algn="l">
              <a:spcBef>
                <a:spcPts val="0"/>
              </a:spcBef>
              <a:spcAft>
                <a:spcPts val="0"/>
              </a:spcAft>
              <a:buClr>
                <a:srgbClr val="CC9900"/>
              </a:buClr>
              <a:buSzPts val="1560"/>
              <a:buFont typeface="Noto Sans Symbols"/>
              <a:buChar char="■"/>
            </a:pPr>
            <a:r>
              <a:rPr lang="ru-RU" sz="2400"/>
              <a:t>Нормальное распределение с дисперсией 1</a:t>
            </a:r>
            <a:endParaRPr/>
          </a:p>
          <a:p>
            <a:pPr indent="-449263" lvl="0" marL="449263" rtl="0" algn="l">
              <a:spcBef>
                <a:spcPts val="480"/>
              </a:spcBef>
              <a:spcAft>
                <a:spcPts val="0"/>
              </a:spcAft>
              <a:buClr>
                <a:srgbClr val="CC9900"/>
              </a:buClr>
              <a:buSzPts val="1560"/>
              <a:buFont typeface="Noto Sans Symbols"/>
              <a:buChar char="■"/>
            </a:pPr>
            <a:r>
              <a:rPr lang="ru-RU" sz="2400"/>
              <a:t>Имеется n наблюдений</a:t>
            </a:r>
            <a:endParaRPr/>
          </a:p>
          <a:p>
            <a:pPr indent="-449263" lvl="0" marL="449263" rtl="0" algn="l">
              <a:spcBef>
                <a:spcPts val="480"/>
              </a:spcBef>
              <a:spcAft>
                <a:spcPts val="0"/>
              </a:spcAft>
              <a:buClr>
                <a:srgbClr val="CC9900"/>
              </a:buClr>
              <a:buSzPts val="1560"/>
              <a:buFont typeface="Noto Sans Symbols"/>
              <a:buChar char="■"/>
            </a:pPr>
            <a:r>
              <a:rPr lang="ru-RU" sz="2400"/>
              <a:t>Основная гипотеза: математическое ожидание равно 11</a:t>
            </a:r>
            <a:endParaRPr/>
          </a:p>
          <a:p>
            <a:pPr indent="-449263" lvl="0" marL="449263" rtl="0" algn="l">
              <a:spcBef>
                <a:spcPts val="480"/>
              </a:spcBef>
              <a:spcAft>
                <a:spcPts val="0"/>
              </a:spcAft>
              <a:buClr>
                <a:srgbClr val="CC9900"/>
              </a:buClr>
              <a:buSzPts val="1560"/>
              <a:buFont typeface="Noto Sans Symbols"/>
              <a:buChar char="■"/>
            </a:pPr>
            <a:r>
              <a:rPr lang="ru-RU" sz="2400"/>
              <a:t>Альтернативная гипотеза: </a:t>
            </a:r>
            <a:r>
              <a:rPr i="1" lang="ru-RU" sz="2400"/>
              <a:t>μ = 12</a:t>
            </a:r>
            <a:endParaRPr/>
          </a:p>
          <a:p>
            <a:pPr indent="-202224" lvl="0" marL="354624" rtl="0" algn="l">
              <a:spcBef>
                <a:spcPts val="480"/>
              </a:spcBef>
              <a:spcAft>
                <a:spcPts val="0"/>
              </a:spcAft>
              <a:buClr>
                <a:schemeClr val="dk1"/>
              </a:buClr>
              <a:buSzPts val="2400"/>
              <a:buNone/>
            </a:pPr>
            <a:r>
              <a:t/>
            </a:r>
            <a:endParaRPr sz="2400"/>
          </a:p>
        </p:txBody>
      </p:sp>
      <p:grpSp>
        <p:nvGrpSpPr>
          <p:cNvPr id="815" name="Google Shape;815;p66"/>
          <p:cNvGrpSpPr/>
          <p:nvPr/>
        </p:nvGrpSpPr>
        <p:grpSpPr>
          <a:xfrm>
            <a:off x="1581597" y="3251252"/>
            <a:ext cx="5720157" cy="3120204"/>
            <a:chOff x="2185017" y="3575857"/>
            <a:chExt cx="5328592" cy="2806778"/>
          </a:xfrm>
        </p:grpSpPr>
        <p:pic>
          <p:nvPicPr>
            <p:cNvPr id="816" name="Google Shape;816;p66"/>
            <p:cNvPicPr preferRelativeResize="0"/>
            <p:nvPr/>
          </p:nvPicPr>
          <p:blipFill rotWithShape="1">
            <a:blip r:embed="rId3">
              <a:alphaModFix/>
            </a:blip>
            <a:srcRect b="0" l="0" r="0" t="0"/>
            <a:stretch/>
          </p:blipFill>
          <p:spPr>
            <a:xfrm>
              <a:off x="2185017" y="3575857"/>
              <a:ext cx="5328592" cy="2801459"/>
            </a:xfrm>
            <a:prstGeom prst="rect">
              <a:avLst/>
            </a:prstGeom>
            <a:noFill/>
            <a:ln>
              <a:noFill/>
            </a:ln>
          </p:spPr>
        </p:pic>
        <p:cxnSp>
          <p:nvCxnSpPr>
            <p:cNvPr id="817" name="Google Shape;817;p66"/>
            <p:cNvCxnSpPr/>
            <p:nvPr/>
          </p:nvCxnSpPr>
          <p:spPr>
            <a:xfrm>
              <a:off x="3031455" y="4139208"/>
              <a:ext cx="46608" cy="1940990"/>
            </a:xfrm>
            <a:prstGeom prst="straightConnector1">
              <a:avLst/>
            </a:prstGeom>
            <a:solidFill>
              <a:schemeClr val="accent1"/>
            </a:solidFill>
            <a:ln cap="flat" cmpd="sng" w="9525">
              <a:solidFill>
                <a:srgbClr val="92D050"/>
              </a:solidFill>
              <a:prstDash val="solid"/>
              <a:round/>
              <a:headEnd len="sm" w="sm" type="none"/>
              <a:tailEnd len="sm" w="sm" type="none"/>
            </a:ln>
          </p:spPr>
        </p:cxnSp>
        <p:cxnSp>
          <p:nvCxnSpPr>
            <p:cNvPr id="818" name="Google Shape;818;p66"/>
            <p:cNvCxnSpPr/>
            <p:nvPr/>
          </p:nvCxnSpPr>
          <p:spPr>
            <a:xfrm>
              <a:off x="4274641" y="4931296"/>
              <a:ext cx="0" cy="1148902"/>
            </a:xfrm>
            <a:prstGeom prst="straightConnector1">
              <a:avLst/>
            </a:prstGeom>
            <a:solidFill>
              <a:schemeClr val="accent1"/>
            </a:solidFill>
            <a:ln cap="flat" cmpd="sng" w="9525">
              <a:solidFill>
                <a:srgbClr val="92D050"/>
              </a:solidFill>
              <a:prstDash val="solid"/>
              <a:round/>
              <a:headEnd len="sm" w="sm" type="none"/>
              <a:tailEnd len="sm" w="sm" type="none"/>
            </a:ln>
          </p:spPr>
        </p:cxnSp>
        <p:sp>
          <p:nvSpPr>
            <p:cNvPr id="819" name="Google Shape;819;p66"/>
            <p:cNvSpPr txBox="1"/>
            <p:nvPr/>
          </p:nvSpPr>
          <p:spPr>
            <a:xfrm>
              <a:off x="2928022" y="6161872"/>
              <a:ext cx="30008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800">
                  <a:solidFill>
                    <a:schemeClr val="dk1"/>
                  </a:solidFill>
                  <a:latin typeface="Arial"/>
                  <a:ea typeface="Arial"/>
                  <a:cs typeface="Arial"/>
                  <a:sym typeface="Arial"/>
                </a:rPr>
                <a:t>11</a:t>
              </a:r>
              <a:endParaRPr sz="800">
                <a:solidFill>
                  <a:schemeClr val="dk1"/>
                </a:solidFill>
                <a:latin typeface="Arial"/>
                <a:ea typeface="Arial"/>
                <a:cs typeface="Arial"/>
                <a:sym typeface="Arial"/>
              </a:endParaRPr>
            </a:p>
          </p:txBody>
        </p:sp>
        <p:sp>
          <p:nvSpPr>
            <p:cNvPr id="820" name="Google Shape;820;p66"/>
            <p:cNvSpPr txBox="1"/>
            <p:nvPr/>
          </p:nvSpPr>
          <p:spPr>
            <a:xfrm>
              <a:off x="4124600" y="6167191"/>
              <a:ext cx="30008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800">
                  <a:solidFill>
                    <a:schemeClr val="dk1"/>
                  </a:solidFill>
                  <a:latin typeface="Arial"/>
                  <a:ea typeface="Arial"/>
                  <a:cs typeface="Arial"/>
                  <a:sym typeface="Arial"/>
                </a:rPr>
                <a:t>12</a:t>
              </a:r>
              <a:endParaRPr sz="800">
                <a:solidFill>
                  <a:schemeClr val="dk1"/>
                </a:solidFill>
                <a:latin typeface="Arial"/>
                <a:ea typeface="Arial"/>
                <a:cs typeface="Arial"/>
                <a:sym typeface="Arial"/>
              </a:endParaRPr>
            </a:p>
          </p:txBody>
        </p:sp>
      </p:grpSp>
      <p:sp>
        <p:nvSpPr>
          <p:cNvPr id="821" name="Google Shape;821;p66"/>
          <p:cNvSpPr/>
          <p:nvPr/>
        </p:nvSpPr>
        <p:spPr>
          <a:xfrm>
            <a:off x="7481255" y="3281459"/>
            <a:ext cx="4397485"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Нужно выбрать такое значение критерия (</a:t>
            </a:r>
            <a:r>
              <a:rPr i="1" lang="ru-RU" sz="2000">
                <a:solidFill>
                  <a:schemeClr val="dk1"/>
                </a:solidFill>
                <a:latin typeface="Arial"/>
                <a:ea typeface="Arial"/>
                <a:cs typeface="Arial"/>
                <a:sym typeface="Arial"/>
              </a:rPr>
              <a:t>S</a:t>
            </a:r>
            <a:r>
              <a:rPr i="1" lang="ru-RU" sz="2000">
                <a:solidFill>
                  <a:schemeClr val="dk1"/>
                </a:solidFill>
                <a:latin typeface="Times New Roman"/>
                <a:ea typeface="Times New Roman"/>
                <a:cs typeface="Times New Roman"/>
                <a:sym typeface="Times New Roman"/>
              </a:rPr>
              <a:t>α</a:t>
            </a:r>
            <a:r>
              <a:rPr lang="ru-RU" sz="2000">
                <a:solidFill>
                  <a:schemeClr val="dk1"/>
                </a:solidFill>
                <a:latin typeface="Arial"/>
                <a:ea typeface="Arial"/>
                <a:cs typeface="Arial"/>
                <a:sym typeface="Arial"/>
              </a:rPr>
              <a:t>), при котором мы будем считать, что </a:t>
            </a:r>
            <a:r>
              <a:rPr i="1" lang="ru-RU" sz="2000">
                <a:solidFill>
                  <a:schemeClr val="dk1"/>
                </a:solidFill>
                <a:latin typeface="Arial"/>
                <a:ea typeface="Arial"/>
                <a:cs typeface="Arial"/>
                <a:sym typeface="Arial"/>
              </a:rPr>
              <a:t>μ  </a:t>
            </a:r>
            <a:r>
              <a:rPr lang="ru-RU" sz="2000">
                <a:solidFill>
                  <a:schemeClr val="dk1"/>
                </a:solidFill>
                <a:latin typeface="Arial"/>
                <a:ea typeface="Arial"/>
                <a:cs typeface="Arial"/>
                <a:sym typeface="Arial"/>
              </a:rPr>
              <a:t>ближе к 11,</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помня, что</a:t>
            </a:r>
            <a:r>
              <a:rPr i="1" lang="ru-RU" sz="2000">
                <a:solidFill>
                  <a:schemeClr val="dk1"/>
                </a:solidFill>
                <a:latin typeface="Arial"/>
                <a:ea typeface="Arial"/>
                <a:cs typeface="Arial"/>
                <a:sym typeface="Arial"/>
              </a:rPr>
              <a:t> p{ош 1 рода}=</a:t>
            </a:r>
            <a:r>
              <a:rPr i="1" lang="ru-RU" sz="2000">
                <a:solidFill>
                  <a:schemeClr val="dk1"/>
                </a:solidFill>
                <a:latin typeface="Times New Roman"/>
                <a:ea typeface="Times New Roman"/>
                <a:cs typeface="Times New Roman"/>
                <a:sym typeface="Times New Roman"/>
              </a:rPr>
              <a:t> </a:t>
            </a:r>
            <a:r>
              <a:rPr i="1" lang="ru-RU" sz="2400">
                <a:solidFill>
                  <a:schemeClr val="dk1"/>
                </a:solidFill>
                <a:latin typeface="Times New Roman"/>
                <a:ea typeface="Times New Roman"/>
                <a:cs typeface="Times New Roman"/>
                <a:sym typeface="Times New Roman"/>
              </a:rPr>
              <a:t>α</a:t>
            </a:r>
            <a:r>
              <a:rPr i="1" lang="ru-RU" sz="2000">
                <a:solidFill>
                  <a:schemeClr val="dk1"/>
                </a:solidFill>
                <a:latin typeface="Arial"/>
                <a:ea typeface="Arial"/>
                <a:cs typeface="Arial"/>
                <a:sym typeface="Arial"/>
              </a:rPr>
              <a:t> </a:t>
            </a:r>
            <a:endParaRPr/>
          </a:p>
        </p:txBody>
      </p:sp>
      <p:sp>
        <p:nvSpPr>
          <p:cNvPr id="822" name="Google Shape;822;p66"/>
          <p:cNvSpPr/>
          <p:nvPr/>
        </p:nvSpPr>
        <p:spPr>
          <a:xfrm>
            <a:off x="7581137" y="5087348"/>
            <a:ext cx="42705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Заметим, что</a:t>
            </a:r>
            <a:r>
              <a:rPr i="1" lang="ru-RU" sz="2000">
                <a:solidFill>
                  <a:schemeClr val="dk1"/>
                </a:solidFill>
                <a:latin typeface="Arial"/>
                <a:ea typeface="Arial"/>
                <a:cs typeface="Arial"/>
                <a:sym typeface="Arial"/>
              </a:rPr>
              <a:t> p{ош 2 рода}=</a:t>
            </a:r>
            <a:r>
              <a:rPr i="1" lang="ru-RU" sz="2000">
                <a:solidFill>
                  <a:schemeClr val="dk1"/>
                </a:solidFill>
                <a:latin typeface="Times New Roman"/>
                <a:ea typeface="Times New Roman"/>
                <a:cs typeface="Times New Roman"/>
                <a:sym typeface="Times New Roman"/>
              </a:rPr>
              <a:t> </a:t>
            </a:r>
            <a:r>
              <a:rPr i="1" lang="ru-RU" sz="2400">
                <a:solidFill>
                  <a:schemeClr val="dk1"/>
                </a:solidFill>
                <a:latin typeface="Times New Roman"/>
                <a:ea typeface="Times New Roman"/>
                <a:cs typeface="Times New Roman"/>
                <a:sym typeface="Times New Roman"/>
              </a:rPr>
              <a:t>β</a:t>
            </a:r>
            <a:r>
              <a:rPr i="1" lang="ru-RU" sz="2000">
                <a:solidFill>
                  <a:schemeClr val="dk1"/>
                </a:solidFill>
                <a:latin typeface="Arial"/>
                <a:ea typeface="Arial"/>
                <a:cs typeface="Arial"/>
                <a:sym typeface="Arial"/>
              </a:rPr>
              <a:t> </a:t>
            </a:r>
            <a:endParaRPr/>
          </a:p>
        </p:txBody>
      </p:sp>
      <p:sp>
        <p:nvSpPr>
          <p:cNvPr id="823" name="Google Shape;823;p66"/>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67"/>
          <p:cNvSpPr/>
          <p:nvPr/>
        </p:nvSpPr>
        <p:spPr>
          <a:xfrm>
            <a:off x="817565" y="322263"/>
            <a:ext cx="1163724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30" name="Google Shape;830;p67"/>
          <p:cNvSpPr/>
          <p:nvPr/>
        </p:nvSpPr>
        <p:spPr>
          <a:xfrm>
            <a:off x="2373685" y="322263"/>
            <a:ext cx="8064128" cy="119570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31" name="Google Shape;831;p67"/>
          <p:cNvSpPr txBox="1"/>
          <p:nvPr>
            <p:ph idx="4294967295" type="title"/>
          </p:nvPr>
        </p:nvSpPr>
        <p:spPr>
          <a:xfrm>
            <a:off x="2373686" y="351285"/>
            <a:ext cx="7227887" cy="7540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Напоминание из теории вероятностей</a:t>
            </a:r>
            <a:endParaRPr/>
          </a:p>
        </p:txBody>
      </p:sp>
      <p:sp>
        <p:nvSpPr>
          <p:cNvPr id="832" name="Google Shape;832;p67"/>
          <p:cNvSpPr txBox="1"/>
          <p:nvPr>
            <p:ph idx="4294967295" type="body"/>
          </p:nvPr>
        </p:nvSpPr>
        <p:spPr>
          <a:xfrm>
            <a:off x="1005533" y="2184910"/>
            <a:ext cx="10828560" cy="4175125"/>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Среднее арифметическое n независимых одинаково распределенных случайных величин с общим нормальным распределением N(a, b) имеет нормальное распределение N(a, b/n)</a:t>
            </a:r>
            <a:endParaRPr sz="2800"/>
          </a:p>
          <a:p>
            <a:pPr indent="-115570" lvl="0" marL="0" rtl="0" algn="l">
              <a:spcBef>
                <a:spcPts val="560"/>
              </a:spcBef>
              <a:spcAft>
                <a:spcPts val="0"/>
              </a:spcAft>
              <a:buClr>
                <a:srgbClr val="CC9900"/>
              </a:buClr>
              <a:buSzPts val="1820"/>
              <a:buFont typeface="Noto Sans Symbols"/>
              <a:buChar char="■"/>
            </a:pPr>
            <a:r>
              <a:rPr lang="ru-RU" sz="2800"/>
              <a:t>Чем больше наблюдений, тем меньше дисперсия и тем меньше ошибка второго рода.</a:t>
            </a:r>
            <a:endParaRPr sz="2800"/>
          </a:p>
        </p:txBody>
      </p:sp>
      <p:sp>
        <p:nvSpPr>
          <p:cNvPr id="833" name="Google Shape;833;p67"/>
          <p:cNvSpPr txBox="1"/>
          <p:nvPr>
            <p:ph idx="12" type="sldNum"/>
          </p:nvPr>
        </p:nvSpPr>
        <p:spPr>
          <a:xfrm>
            <a:off x="11430340" y="6614320"/>
            <a:ext cx="102446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68"/>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40" name="Google Shape;840;p68"/>
          <p:cNvSpPr/>
          <p:nvPr/>
        </p:nvSpPr>
        <p:spPr>
          <a:xfrm>
            <a:off x="2373685" y="322263"/>
            <a:ext cx="8064128" cy="119570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41" name="Google Shape;841;p68"/>
          <p:cNvSpPr txBox="1"/>
          <p:nvPr>
            <p:ph idx="4294967295" type="title"/>
          </p:nvPr>
        </p:nvSpPr>
        <p:spPr>
          <a:xfrm>
            <a:off x="2404344" y="242889"/>
            <a:ext cx="7227887" cy="11080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Классификация методов тестирования гипотез </a:t>
            </a:r>
            <a:endParaRPr/>
          </a:p>
        </p:txBody>
      </p:sp>
      <p:pic>
        <p:nvPicPr>
          <p:cNvPr id="842" name="Google Shape;842;p68"/>
          <p:cNvPicPr preferRelativeResize="0"/>
          <p:nvPr/>
        </p:nvPicPr>
        <p:blipFill rotWithShape="1">
          <a:blip r:embed="rId3">
            <a:alphaModFix/>
          </a:blip>
          <a:srcRect b="0" l="0" r="0" t="0"/>
          <a:stretch/>
        </p:blipFill>
        <p:spPr>
          <a:xfrm>
            <a:off x="3120090" y="1877492"/>
            <a:ext cx="6356634" cy="4738959"/>
          </a:xfrm>
          <a:prstGeom prst="rect">
            <a:avLst/>
          </a:prstGeom>
          <a:noFill/>
          <a:ln>
            <a:noFill/>
          </a:ln>
        </p:spPr>
      </p:pic>
      <p:sp>
        <p:nvSpPr>
          <p:cNvPr id="843" name="Google Shape;843;p68"/>
          <p:cNvSpPr txBox="1"/>
          <p:nvPr>
            <p:ph idx="12" type="sldNum"/>
          </p:nvPr>
        </p:nvSpPr>
        <p:spPr>
          <a:xfrm>
            <a:off x="11453107" y="6572220"/>
            <a:ext cx="95245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69"/>
          <p:cNvSpPr/>
          <p:nvPr/>
        </p:nvSpPr>
        <p:spPr>
          <a:xfrm>
            <a:off x="1868488" y="3140076"/>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50" name="Google Shape;850;p69"/>
          <p:cNvSpPr/>
          <p:nvPr/>
        </p:nvSpPr>
        <p:spPr>
          <a:xfrm>
            <a:off x="2225676" y="3362326"/>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a:t>
            </a:r>
            <a:endParaRPr/>
          </a:p>
        </p:txBody>
      </p:sp>
      <p:sp>
        <p:nvSpPr>
          <p:cNvPr id="851" name="Google Shape;851;p69"/>
          <p:cNvSpPr/>
          <p:nvPr/>
        </p:nvSpPr>
        <p:spPr>
          <a:xfrm>
            <a:off x="3169057" y="3162045"/>
            <a:ext cx="6680284" cy="117970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4400">
                <a:solidFill>
                  <a:schemeClr val="lt1"/>
                </a:solidFill>
                <a:latin typeface="Arial"/>
                <a:ea typeface="Arial"/>
                <a:cs typeface="Arial"/>
                <a:sym typeface="Arial"/>
              </a:rPr>
              <a:t>Дополнительные условия </a:t>
            </a:r>
            <a:endParaRPr/>
          </a:p>
          <a:p>
            <a:pPr indent="0" lvl="0" marL="0" marR="0" rtl="0" algn="ctr">
              <a:spcBef>
                <a:spcPts val="0"/>
              </a:spcBef>
              <a:spcAft>
                <a:spcPts val="0"/>
              </a:spcAft>
              <a:buNone/>
            </a:pPr>
            <a:r>
              <a:rPr lang="ru-RU" sz="4400">
                <a:solidFill>
                  <a:schemeClr val="lt1"/>
                </a:solidFill>
                <a:latin typeface="Arial"/>
                <a:ea typeface="Arial"/>
                <a:cs typeface="Arial"/>
                <a:sym typeface="Arial"/>
              </a:rPr>
              <a:t>проверки гипотез</a:t>
            </a:r>
            <a:endParaRPr/>
          </a:p>
        </p:txBody>
      </p:sp>
      <p:sp>
        <p:nvSpPr>
          <p:cNvPr id="852" name="Google Shape;852;p69"/>
          <p:cNvSpPr txBox="1"/>
          <p:nvPr>
            <p:ph idx="12" type="sldNum"/>
          </p:nvPr>
        </p:nvSpPr>
        <p:spPr>
          <a:xfrm>
            <a:off x="11662717" y="6587480"/>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70"/>
          <p:cNvSpPr/>
          <p:nvPr/>
        </p:nvSpPr>
        <p:spPr>
          <a:xfrm>
            <a:off x="1649180" y="1906961"/>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59" name="Google Shape;859;p70"/>
          <p:cNvSpPr/>
          <p:nvPr/>
        </p:nvSpPr>
        <p:spPr>
          <a:xfrm>
            <a:off x="2006368" y="2129211"/>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a:t>
            </a:r>
            <a:endParaRPr/>
          </a:p>
        </p:txBody>
      </p:sp>
      <p:sp>
        <p:nvSpPr>
          <p:cNvPr id="860" name="Google Shape;860;p70"/>
          <p:cNvSpPr/>
          <p:nvPr/>
        </p:nvSpPr>
        <p:spPr>
          <a:xfrm>
            <a:off x="2949749" y="1928930"/>
            <a:ext cx="6680284" cy="117970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4400">
                <a:solidFill>
                  <a:schemeClr val="lt1"/>
                </a:solidFill>
                <a:latin typeface="Arial"/>
                <a:ea typeface="Arial"/>
                <a:cs typeface="Arial"/>
                <a:sym typeface="Arial"/>
              </a:rPr>
              <a:t>Дополнительные условия </a:t>
            </a:r>
            <a:endParaRPr/>
          </a:p>
          <a:p>
            <a:pPr indent="0" lvl="0" marL="0" marR="0" rtl="0" algn="ctr">
              <a:spcBef>
                <a:spcPts val="0"/>
              </a:spcBef>
              <a:spcAft>
                <a:spcPts val="0"/>
              </a:spcAft>
              <a:buNone/>
            </a:pPr>
            <a:r>
              <a:rPr lang="ru-RU" sz="4400">
                <a:solidFill>
                  <a:schemeClr val="lt1"/>
                </a:solidFill>
                <a:latin typeface="Arial"/>
                <a:ea typeface="Arial"/>
                <a:cs typeface="Arial"/>
                <a:sym typeface="Arial"/>
              </a:rPr>
              <a:t>проверки гипотез</a:t>
            </a:r>
            <a:endParaRPr/>
          </a:p>
        </p:txBody>
      </p:sp>
      <p:sp>
        <p:nvSpPr>
          <p:cNvPr id="861" name="Google Shape;861;p70"/>
          <p:cNvSpPr/>
          <p:nvPr/>
        </p:nvSpPr>
        <p:spPr>
          <a:xfrm>
            <a:off x="2154378" y="3350916"/>
            <a:ext cx="8824541" cy="1076325"/>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62" name="Google Shape;862;p70"/>
          <p:cNvSpPr/>
          <p:nvPr/>
        </p:nvSpPr>
        <p:spPr>
          <a:xfrm>
            <a:off x="2603268" y="3457294"/>
            <a:ext cx="596900" cy="854075"/>
          </a:xfrm>
          <a:prstGeom prst="roundRect">
            <a:avLst>
              <a:gd fmla="val 16667" name="adj"/>
            </a:avLst>
          </a:prstGeom>
          <a:solidFill>
            <a:schemeClr val="accent1"/>
          </a:solidFill>
          <a:ln cap="flat" cmpd="sng" w="28575">
            <a:solidFill>
              <a:srgbClr val="FF5050"/>
            </a:solidFill>
            <a:prstDash val="solid"/>
            <a:round/>
            <a:headEnd len="sm" w="sm" type="none"/>
            <a:tailEnd len="sm" w="sm" type="none"/>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3.1</a:t>
            </a:r>
            <a:endParaRPr/>
          </a:p>
        </p:txBody>
      </p:sp>
      <p:sp>
        <p:nvSpPr>
          <p:cNvPr id="863" name="Google Shape;863;p70"/>
          <p:cNvSpPr/>
          <p:nvPr/>
        </p:nvSpPr>
        <p:spPr>
          <a:xfrm>
            <a:off x="3378033" y="3410350"/>
            <a:ext cx="6252000" cy="95745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600">
                <a:solidFill>
                  <a:schemeClr val="lt1"/>
                </a:solidFill>
                <a:latin typeface="Arial"/>
                <a:ea typeface="Arial"/>
                <a:cs typeface="Arial"/>
                <a:sym typeface="Arial"/>
              </a:rPr>
              <a:t>Гипотеза о нормальности </a:t>
            </a:r>
            <a:endParaRPr/>
          </a:p>
          <a:p>
            <a:pPr indent="0" lvl="0" marL="0" marR="0" rtl="0" algn="l">
              <a:spcBef>
                <a:spcPts val="0"/>
              </a:spcBef>
              <a:spcAft>
                <a:spcPts val="0"/>
              </a:spcAft>
              <a:buNone/>
            </a:pPr>
            <a:r>
              <a:rPr lang="ru-RU" sz="3600">
                <a:solidFill>
                  <a:schemeClr val="lt1"/>
                </a:solidFill>
                <a:latin typeface="Arial"/>
                <a:ea typeface="Arial"/>
                <a:cs typeface="Arial"/>
                <a:sym typeface="Arial"/>
              </a:rPr>
              <a:t>распределения</a:t>
            </a:r>
            <a:endParaRPr/>
          </a:p>
        </p:txBody>
      </p:sp>
      <p:sp>
        <p:nvSpPr>
          <p:cNvPr id="864" name="Google Shape;864;p70"/>
          <p:cNvSpPr/>
          <p:nvPr/>
        </p:nvSpPr>
        <p:spPr>
          <a:xfrm>
            <a:off x="2154378" y="4571256"/>
            <a:ext cx="8824541" cy="1038808"/>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65" name="Google Shape;865;p70"/>
          <p:cNvSpPr/>
          <p:nvPr/>
        </p:nvSpPr>
        <p:spPr>
          <a:xfrm>
            <a:off x="2651299" y="4708293"/>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3.2</a:t>
            </a:r>
            <a:endParaRPr/>
          </a:p>
        </p:txBody>
      </p:sp>
      <p:sp>
        <p:nvSpPr>
          <p:cNvPr id="866" name="Google Shape;866;p70"/>
          <p:cNvSpPr/>
          <p:nvPr/>
        </p:nvSpPr>
        <p:spPr>
          <a:xfrm>
            <a:off x="3682525" y="4690946"/>
            <a:ext cx="6680284" cy="77598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3600">
                <a:solidFill>
                  <a:schemeClr val="lt1"/>
                </a:solidFill>
                <a:latin typeface="Arial"/>
                <a:ea typeface="Arial"/>
                <a:cs typeface="Arial"/>
                <a:sym typeface="Arial"/>
              </a:rPr>
              <a:t>Парные и независимые выборки</a:t>
            </a:r>
            <a:endParaRPr/>
          </a:p>
        </p:txBody>
      </p:sp>
      <p:sp>
        <p:nvSpPr>
          <p:cNvPr id="867" name="Google Shape;867;p70"/>
          <p:cNvSpPr/>
          <p:nvPr/>
        </p:nvSpPr>
        <p:spPr>
          <a:xfrm>
            <a:off x="2154378" y="5766298"/>
            <a:ext cx="8824541" cy="965199"/>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68" name="Google Shape;868;p70"/>
          <p:cNvSpPr/>
          <p:nvPr/>
        </p:nvSpPr>
        <p:spPr>
          <a:xfrm>
            <a:off x="2620001" y="5821859"/>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3.3</a:t>
            </a:r>
            <a:endParaRPr/>
          </a:p>
        </p:txBody>
      </p:sp>
      <p:sp>
        <p:nvSpPr>
          <p:cNvPr id="869" name="Google Shape;869;p70"/>
          <p:cNvSpPr/>
          <p:nvPr/>
        </p:nvSpPr>
        <p:spPr>
          <a:xfrm>
            <a:off x="3682525" y="5766297"/>
            <a:ext cx="6680284" cy="851720"/>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3600">
                <a:solidFill>
                  <a:schemeClr val="lt1"/>
                </a:solidFill>
                <a:latin typeface="Arial"/>
                <a:ea typeface="Arial"/>
                <a:cs typeface="Arial"/>
                <a:sym typeface="Arial"/>
              </a:rPr>
              <a:t>Гипотеза о равенстве дисперсий</a:t>
            </a:r>
            <a:endParaRPr/>
          </a:p>
        </p:txBody>
      </p:sp>
      <p:sp>
        <p:nvSpPr>
          <p:cNvPr id="870" name="Google Shape;870;p70"/>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71"/>
          <p:cNvSpPr/>
          <p:nvPr/>
        </p:nvSpPr>
        <p:spPr>
          <a:xfrm>
            <a:off x="1438276"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77" name="Google Shape;877;p71"/>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78" name="Google Shape;878;p71"/>
          <p:cNvSpPr/>
          <p:nvPr/>
        </p:nvSpPr>
        <p:spPr>
          <a:xfrm>
            <a:off x="1582738"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79" name="Google Shape;879;p71"/>
          <p:cNvSpPr txBox="1"/>
          <p:nvPr>
            <p:ph idx="4294967295" type="title"/>
          </p:nvPr>
        </p:nvSpPr>
        <p:spPr>
          <a:xfrm>
            <a:off x="1894756" y="322264"/>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Проверка условий применимости</a:t>
            </a:r>
            <a:endParaRPr/>
          </a:p>
        </p:txBody>
      </p:sp>
      <p:sp>
        <p:nvSpPr>
          <p:cNvPr id="880" name="Google Shape;880;p71"/>
          <p:cNvSpPr txBox="1"/>
          <p:nvPr>
            <p:ph idx="4294967295" type="body"/>
          </p:nvPr>
        </p:nvSpPr>
        <p:spPr>
          <a:xfrm>
            <a:off x="2005880" y="3324732"/>
            <a:ext cx="8439150" cy="1894597"/>
          </a:xfrm>
          <a:prstGeom prst="rect">
            <a:avLst/>
          </a:prstGeom>
          <a:noFill/>
          <a:ln cap="flat" cmpd="sng" w="9525">
            <a:solidFill>
              <a:schemeClr val="accent6"/>
            </a:solidFill>
            <a:prstDash val="solid"/>
            <a:round/>
            <a:headEnd len="sm" w="sm" type="none"/>
            <a:tailEnd len="sm" w="sm" type="none"/>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 Например, для применения t – критерия Стьюдента или для проверки гипотезы независимости с помощью критерия Пирсона надо проверить близость распределения переменных к нормальному.</a:t>
            </a:r>
            <a:endParaRPr/>
          </a:p>
          <a:p>
            <a:pPr indent="-176824" lvl="0" marL="354624" rtl="0" algn="l">
              <a:spcBef>
                <a:spcPts val="560"/>
              </a:spcBef>
              <a:spcAft>
                <a:spcPts val="0"/>
              </a:spcAft>
              <a:buClr>
                <a:schemeClr val="dk1"/>
              </a:buClr>
              <a:buSzPts val="2800"/>
              <a:buNone/>
            </a:pPr>
            <a:r>
              <a:t/>
            </a:r>
            <a:endParaRPr sz="2800"/>
          </a:p>
        </p:txBody>
      </p:sp>
      <p:sp>
        <p:nvSpPr>
          <p:cNvPr id="881" name="Google Shape;881;p71"/>
          <p:cNvSpPr txBox="1"/>
          <p:nvPr/>
        </p:nvSpPr>
        <p:spPr>
          <a:xfrm>
            <a:off x="1886269" y="1576307"/>
            <a:ext cx="8551545" cy="100811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Calibri"/>
              <a:buNone/>
            </a:pPr>
            <a:r>
              <a:rPr lang="ru-RU" sz="2800">
                <a:solidFill>
                  <a:schemeClr val="dk1"/>
                </a:solidFill>
                <a:latin typeface="Calibri"/>
                <a:ea typeface="Calibri"/>
                <a:cs typeface="Calibri"/>
                <a:sym typeface="Calibri"/>
              </a:rPr>
              <a:t>Проверка гипотезы о нормальности распределения случайной величины</a:t>
            </a:r>
            <a:endParaRPr sz="2800">
              <a:solidFill>
                <a:schemeClr val="dk1"/>
              </a:solidFill>
              <a:latin typeface="Calibri"/>
              <a:ea typeface="Calibri"/>
              <a:cs typeface="Calibri"/>
              <a:sym typeface="Calibri"/>
            </a:endParaRPr>
          </a:p>
        </p:txBody>
      </p:sp>
      <p:sp>
        <p:nvSpPr>
          <p:cNvPr id="882" name="Google Shape;882;p71"/>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2"/>
          <p:cNvSpPr/>
          <p:nvPr/>
        </p:nvSpPr>
        <p:spPr>
          <a:xfrm>
            <a:off x="1438276" y="322263"/>
            <a:ext cx="1065648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89" name="Google Shape;889;p72"/>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90" name="Google Shape;890;p72"/>
          <p:cNvSpPr txBox="1"/>
          <p:nvPr>
            <p:ph idx="4294967295" type="title"/>
          </p:nvPr>
        </p:nvSpPr>
        <p:spPr>
          <a:xfrm>
            <a:off x="2023269" y="410554"/>
            <a:ext cx="8550275"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Calibri"/>
              <a:buNone/>
            </a:pPr>
            <a:r>
              <a:rPr lang="ru-RU" sz="4000"/>
              <a:t>Статистическая формулировка</a:t>
            </a:r>
            <a:endParaRPr/>
          </a:p>
        </p:txBody>
      </p:sp>
      <p:sp>
        <p:nvSpPr>
          <p:cNvPr id="891" name="Google Shape;891;p72"/>
          <p:cNvSpPr txBox="1"/>
          <p:nvPr>
            <p:ph idx="4294967295" type="body"/>
          </p:nvPr>
        </p:nvSpPr>
        <p:spPr>
          <a:xfrm>
            <a:off x="1884218" y="2284323"/>
            <a:ext cx="9634500" cy="3078900"/>
          </a:xfrm>
          <a:prstGeom prst="rect">
            <a:avLst/>
          </a:prstGeom>
          <a:noFill/>
          <a:ln>
            <a:noFill/>
          </a:ln>
        </p:spPr>
        <p:txBody>
          <a:bodyPr anchorCtr="0" anchor="t" bIns="45700" lIns="91425" spcFirstLastPara="1" rIns="91425" wrap="square" tIns="45700">
            <a:normAutofit/>
          </a:bodyPr>
          <a:lstStyle/>
          <a:p>
            <a:pPr indent="-132080" lvl="0" marL="0" rtl="0" algn="l">
              <a:spcBef>
                <a:spcPts val="0"/>
              </a:spcBef>
              <a:spcAft>
                <a:spcPts val="0"/>
              </a:spcAft>
              <a:buClr>
                <a:srgbClr val="CC9900"/>
              </a:buClr>
              <a:buSzPts val="2080"/>
              <a:buFont typeface="Noto Sans Symbols"/>
              <a:buChar char="■"/>
            </a:pPr>
            <a:r>
              <a:rPr lang="ru-RU" sz="3200">
                <a:solidFill>
                  <a:srgbClr val="FF0000"/>
                </a:solidFill>
              </a:rPr>
              <a:t> Гипотеза</a:t>
            </a:r>
            <a:r>
              <a:rPr lang="ru-RU" sz="3200"/>
              <a:t>: Случайная величина имеет нормальное распределение, значения параметров распределения заранее не известны.</a:t>
            </a:r>
            <a:endParaRPr/>
          </a:p>
          <a:p>
            <a:pPr indent="-132080" lvl="0" marL="0" rtl="0" algn="l">
              <a:spcBef>
                <a:spcPts val="640"/>
              </a:spcBef>
              <a:spcAft>
                <a:spcPts val="0"/>
              </a:spcAft>
              <a:buClr>
                <a:srgbClr val="CC9900"/>
              </a:buClr>
              <a:buSzPts val="2080"/>
              <a:buFont typeface="Noto Sans Symbols"/>
              <a:buChar char="■"/>
            </a:pPr>
            <a:r>
              <a:rPr lang="ru-RU" sz="3200">
                <a:solidFill>
                  <a:srgbClr val="FF0000"/>
                </a:solidFill>
              </a:rPr>
              <a:t> Конкурирующая гипотеза</a:t>
            </a:r>
            <a:r>
              <a:rPr lang="ru-RU" sz="3200"/>
              <a:t>: Распределение случайной величины отличается от нормального.</a:t>
            </a:r>
            <a:endParaRPr/>
          </a:p>
        </p:txBody>
      </p:sp>
      <p:sp>
        <p:nvSpPr>
          <p:cNvPr id="892" name="Google Shape;892;p72"/>
          <p:cNvSpPr txBox="1"/>
          <p:nvPr>
            <p:ph idx="12" type="sldNum"/>
          </p:nvPr>
        </p:nvSpPr>
        <p:spPr>
          <a:xfrm>
            <a:off x="11878741" y="6527751"/>
            <a:ext cx="52117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73"/>
          <p:cNvSpPr/>
          <p:nvPr/>
        </p:nvSpPr>
        <p:spPr>
          <a:xfrm>
            <a:off x="1438275" y="322263"/>
            <a:ext cx="1108853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99" name="Google Shape;899;p73"/>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00" name="Google Shape;900;p73"/>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Критерий Шапиро-Уилка</a:t>
            </a:r>
            <a:endParaRPr/>
          </a:p>
        </p:txBody>
      </p:sp>
      <p:sp>
        <p:nvSpPr>
          <p:cNvPr id="901" name="Google Shape;901;p73"/>
          <p:cNvSpPr txBox="1"/>
          <p:nvPr>
            <p:ph idx="4294967295" type="body"/>
          </p:nvPr>
        </p:nvSpPr>
        <p:spPr>
          <a:xfrm>
            <a:off x="2130612" y="1684845"/>
            <a:ext cx="8550275" cy="4708525"/>
          </a:xfrm>
          <a:prstGeom prst="rect">
            <a:avLst/>
          </a:prstGeom>
          <a:noFill/>
          <a:ln>
            <a:noFill/>
          </a:ln>
        </p:spPr>
        <p:txBody>
          <a:bodyPr anchorCtr="0" anchor="t" bIns="45700" lIns="91425" spcFirstLastPara="1" rIns="91425" wrap="square" tIns="45700">
            <a:normAutofit/>
          </a:bodyPr>
          <a:lstStyle/>
          <a:p>
            <a:pPr indent="-143486" lvl="0" marL="356307" rtl="0" algn="l">
              <a:spcBef>
                <a:spcPts val="0"/>
              </a:spcBef>
              <a:spcAft>
                <a:spcPts val="0"/>
              </a:spcAft>
              <a:buClr>
                <a:schemeClr val="dk1"/>
              </a:buClr>
              <a:buSzPts val="3325"/>
              <a:buNone/>
            </a:pPr>
            <a:r>
              <a:t/>
            </a:r>
            <a:endParaRPr/>
          </a:p>
          <a:p>
            <a:pPr indent="-449263" lvl="0" marL="449263" rtl="0" algn="l">
              <a:spcBef>
                <a:spcPts val="660"/>
              </a:spcBef>
              <a:spcAft>
                <a:spcPts val="0"/>
              </a:spcAft>
              <a:buClr>
                <a:srgbClr val="CC9900"/>
              </a:buClr>
              <a:buSzPts val="2145"/>
              <a:buFont typeface="Noto Sans Symbols"/>
              <a:buChar char="■"/>
            </a:pPr>
            <a:r>
              <a:rPr lang="ru-RU"/>
              <a:t>Критерий Шапиро-Уилка.</a:t>
            </a:r>
            <a:endParaRPr/>
          </a:p>
          <a:p>
            <a:pPr indent="-449263" lvl="0" marL="449263" rtl="0" algn="l">
              <a:spcBef>
                <a:spcPts val="660"/>
              </a:spcBef>
              <a:spcAft>
                <a:spcPts val="0"/>
              </a:spcAft>
              <a:buClr>
                <a:srgbClr val="CC9900"/>
              </a:buClr>
              <a:buSzPts val="2145"/>
              <a:buFont typeface="Noto Sans Symbols"/>
              <a:buChar char="■"/>
            </a:pPr>
            <a:r>
              <a:rPr lang="ru-RU"/>
              <a:t>shapiro.test(data)</a:t>
            </a:r>
            <a:endParaRPr/>
          </a:p>
          <a:p>
            <a:pPr indent="-449263" lvl="0" marL="449263" rtl="0" algn="l">
              <a:spcBef>
                <a:spcPts val="660"/>
              </a:spcBef>
              <a:spcAft>
                <a:spcPts val="0"/>
              </a:spcAft>
              <a:buClr>
                <a:srgbClr val="CC9900"/>
              </a:buClr>
              <a:buSzPts val="2145"/>
              <a:buFont typeface="Noto Sans Symbols"/>
              <a:buChar char="■"/>
            </a:pPr>
            <a:r>
              <a:rPr lang="ru-RU"/>
              <a:t>От 3 до 5000 наблюдений</a:t>
            </a:r>
            <a:endParaRPr/>
          </a:p>
        </p:txBody>
      </p:sp>
      <p:sp>
        <p:nvSpPr>
          <p:cNvPr id="902" name="Google Shape;902;p73"/>
          <p:cNvSpPr txBox="1"/>
          <p:nvPr>
            <p:ph idx="12" type="sldNum"/>
          </p:nvPr>
        </p:nvSpPr>
        <p:spPr>
          <a:xfrm>
            <a:off x="11590709" y="6545285"/>
            <a:ext cx="66442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74"/>
          <p:cNvSpPr/>
          <p:nvPr/>
        </p:nvSpPr>
        <p:spPr>
          <a:xfrm>
            <a:off x="1438276"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09" name="Google Shape;909;p74"/>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10" name="Google Shape;910;p74"/>
          <p:cNvSpPr/>
          <p:nvPr/>
        </p:nvSpPr>
        <p:spPr>
          <a:xfrm>
            <a:off x="1582738"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11" name="Google Shape;911;p74"/>
          <p:cNvSpPr txBox="1"/>
          <p:nvPr>
            <p:ph idx="4294967295" type="title"/>
          </p:nvPr>
        </p:nvSpPr>
        <p:spPr>
          <a:xfrm>
            <a:off x="2130612" y="287129"/>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Критерий Шапиро-Уилка</a:t>
            </a:r>
            <a:endParaRPr/>
          </a:p>
        </p:txBody>
      </p:sp>
      <p:sp>
        <p:nvSpPr>
          <p:cNvPr id="912" name="Google Shape;912;p74"/>
          <p:cNvSpPr/>
          <p:nvPr/>
        </p:nvSpPr>
        <p:spPr>
          <a:xfrm>
            <a:off x="2031828" y="1531273"/>
            <a:ext cx="8927163" cy="4309385"/>
          </a:xfrm>
          <a:prstGeom prst="rect">
            <a:avLst/>
          </a:prstGeom>
          <a:noFill/>
          <a:ln>
            <a:noFill/>
          </a:ln>
        </p:spPr>
        <p:txBody>
          <a:bodyPr anchorCtr="0" anchor="t" bIns="45700" lIns="91425" spcFirstLastPara="1" rIns="91425" wrap="square" tIns="45700">
            <a:spAutoFit/>
          </a:bodyPr>
          <a:lstStyle/>
          <a:p>
            <a:pPr indent="-449263" lvl="0" marL="449263" marR="13334" rtl="0" algn="l">
              <a:lnSpc>
                <a:spcPct val="103000"/>
              </a:lnSpc>
              <a:spcBef>
                <a:spcPts val="0"/>
              </a:spcBef>
              <a:spcAft>
                <a:spcPts val="0"/>
              </a:spcAft>
              <a:buClr>
                <a:srgbClr val="CC9900"/>
              </a:buClr>
              <a:buSzPts val="1300"/>
              <a:buFont typeface="Noto Sans Symbols"/>
              <a:buChar char="■"/>
            </a:pPr>
            <a:r>
              <a:rPr lang="ru-RU" sz="2000">
                <a:solidFill>
                  <a:schemeClr val="dk1"/>
                </a:solidFill>
                <a:latin typeface="Calibri"/>
                <a:ea typeface="Calibri"/>
                <a:cs typeface="Calibri"/>
                <a:sym typeface="Calibri"/>
              </a:rPr>
              <a:t>Применим тест Шапиро-Уилка к выборкам из различных распределений, сгенерированных с помощью стандартных функций языка  R.</a:t>
            </a:r>
            <a:endParaRPr/>
          </a:p>
          <a:p>
            <a:pPr indent="-342900" lvl="0" marL="342900" marR="13334" rtl="0" algn="l">
              <a:spcBef>
                <a:spcPts val="395"/>
              </a:spcBef>
              <a:spcAft>
                <a:spcPts val="0"/>
              </a:spcAft>
              <a:buClr>
                <a:srgbClr val="7F7F7F"/>
              </a:buClr>
              <a:buSzPts val="500"/>
              <a:buFont typeface="Calibri"/>
              <a:buAutoNum type="arabicPeriod"/>
            </a:pPr>
            <a:r>
              <a:rPr lang="ru-RU" sz="1600">
                <a:solidFill>
                  <a:srgbClr val="0000FF"/>
                </a:solidFill>
                <a:latin typeface="Calibri"/>
                <a:ea typeface="Calibri"/>
                <a:cs typeface="Calibri"/>
                <a:sym typeface="Calibri"/>
              </a:rPr>
              <a:t>&gt; set . seed (0)</a:t>
            </a:r>
            <a:endParaRPr sz="2800">
              <a:solidFill>
                <a:srgbClr val="0000FF"/>
              </a:solidFill>
              <a:latin typeface="Calibri"/>
              <a:ea typeface="Calibri"/>
              <a:cs typeface="Calibri"/>
              <a:sym typeface="Calibri"/>
            </a:endParaRPr>
          </a:p>
          <a:p>
            <a:pPr indent="-342900" lvl="0" marL="342900" marR="13334" rtl="0" algn="l">
              <a:spcBef>
                <a:spcPts val="40"/>
              </a:spcBef>
              <a:spcAft>
                <a:spcPts val="0"/>
              </a:spcAft>
              <a:buClr>
                <a:srgbClr val="7F7F7F"/>
              </a:buClr>
              <a:buSzPts val="500"/>
              <a:buFont typeface="Calibri"/>
              <a:buAutoNum type="arabicPeriod"/>
            </a:pPr>
            <a:r>
              <a:rPr lang="ru-RU" sz="1600">
                <a:solidFill>
                  <a:srgbClr val="0000FF"/>
                </a:solidFill>
                <a:latin typeface="Calibri"/>
                <a:ea typeface="Calibri"/>
                <a:cs typeface="Calibri"/>
                <a:sym typeface="Calibri"/>
              </a:rPr>
              <a:t>&gt; s h a p i r o . test ( r n o r m (100 , mean = 2 , sd = 5) )</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3</a:t>
            </a:r>
            <a:endParaRPr sz="2800">
              <a:solidFill>
                <a:srgbClr val="0000FF"/>
              </a:solidFill>
              <a:latin typeface="Calibri"/>
              <a:ea typeface="Calibri"/>
              <a:cs typeface="Calibri"/>
              <a:sym typeface="Calibri"/>
            </a:endParaRPr>
          </a:p>
          <a:p>
            <a:pPr indent="0" lvl="0" marL="0" marR="13334" rtl="0" algn="l">
              <a:spcBef>
                <a:spcPts val="175"/>
              </a:spcBef>
              <a:spcAft>
                <a:spcPts val="0"/>
              </a:spcAft>
              <a:buNone/>
            </a:pPr>
            <a:r>
              <a:rPr lang="ru-RU" sz="1050">
                <a:solidFill>
                  <a:srgbClr val="0000FF"/>
                </a:solidFill>
                <a:latin typeface="Calibri"/>
                <a:ea typeface="Calibri"/>
                <a:cs typeface="Calibri"/>
                <a:sym typeface="Calibri"/>
              </a:rPr>
              <a:t>4	</a:t>
            </a:r>
            <a:r>
              <a:rPr lang="ru-RU" sz="1600">
                <a:solidFill>
                  <a:srgbClr val="0000FF"/>
                </a:solidFill>
                <a:latin typeface="Calibri"/>
                <a:ea typeface="Calibri"/>
                <a:cs typeface="Calibri"/>
                <a:sym typeface="Calibri"/>
              </a:rPr>
              <a:t>Shapiro - Wilk n o r m a l i t y test</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5    </a:t>
            </a:r>
            <a:r>
              <a:rPr lang="ru-RU" sz="1600">
                <a:solidFill>
                  <a:srgbClr val="0000FF"/>
                </a:solidFill>
                <a:latin typeface="Calibri"/>
                <a:ea typeface="Calibri"/>
                <a:cs typeface="Calibri"/>
                <a:sym typeface="Calibri"/>
              </a:rPr>
              <a:t>data :	r n o r m (100 , mean = 2 , sd = 5)</a:t>
            </a:r>
            <a:endParaRPr sz="2800">
              <a:solidFill>
                <a:srgbClr val="0000FF"/>
              </a:solidFill>
              <a:latin typeface="Calibri"/>
              <a:ea typeface="Calibri"/>
              <a:cs typeface="Calibri"/>
              <a:sym typeface="Calibri"/>
            </a:endParaRPr>
          </a:p>
          <a:p>
            <a:pPr indent="0" lvl="0" marL="0" marR="13334" rtl="0" algn="l">
              <a:spcBef>
                <a:spcPts val="40"/>
              </a:spcBef>
              <a:spcAft>
                <a:spcPts val="0"/>
              </a:spcAft>
              <a:buNone/>
            </a:pPr>
            <a:r>
              <a:rPr lang="ru-RU" sz="1050">
                <a:solidFill>
                  <a:srgbClr val="0000FF"/>
                </a:solidFill>
                <a:latin typeface="Calibri"/>
                <a:ea typeface="Calibri"/>
                <a:cs typeface="Calibri"/>
                <a:sym typeface="Calibri"/>
              </a:rPr>
              <a:t>7    </a:t>
            </a:r>
            <a:r>
              <a:rPr lang="ru-RU" sz="1600">
                <a:solidFill>
                  <a:srgbClr val="0000FF"/>
                </a:solidFill>
                <a:latin typeface="Calibri"/>
                <a:ea typeface="Calibri"/>
                <a:cs typeface="Calibri"/>
                <a:sym typeface="Calibri"/>
              </a:rPr>
              <a:t>W = 0.9896 , p - v a l u e = 0 . 6 3 0 3</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8</a:t>
            </a:r>
            <a:endParaRPr sz="2800">
              <a:solidFill>
                <a:srgbClr val="0000FF"/>
              </a:solidFill>
              <a:latin typeface="Calibri"/>
              <a:ea typeface="Calibri"/>
              <a:cs typeface="Calibri"/>
              <a:sym typeface="Calibri"/>
            </a:endParaRPr>
          </a:p>
          <a:p>
            <a:pPr indent="-342900" lvl="0" marL="342900" marR="13334" rtl="0" algn="l">
              <a:spcBef>
                <a:spcPts val="175"/>
              </a:spcBef>
              <a:spcAft>
                <a:spcPts val="0"/>
              </a:spcAft>
              <a:buClr>
                <a:srgbClr val="7F7F7F"/>
              </a:buClr>
              <a:buSzPts val="500"/>
              <a:buFont typeface="Calibri"/>
              <a:buAutoNum type="arabicPeriod" startAt="9"/>
            </a:pPr>
            <a:r>
              <a:rPr lang="ru-RU" sz="1600">
                <a:solidFill>
                  <a:srgbClr val="0000FF"/>
                </a:solidFill>
                <a:latin typeface="Calibri"/>
                <a:ea typeface="Calibri"/>
                <a:cs typeface="Calibri"/>
                <a:sym typeface="Calibri"/>
              </a:rPr>
              <a:t>&gt; set . seed (0)</a:t>
            </a:r>
            <a:endParaRPr sz="2800">
              <a:solidFill>
                <a:srgbClr val="0000FF"/>
              </a:solidFill>
              <a:latin typeface="Calibri"/>
              <a:ea typeface="Calibri"/>
              <a:cs typeface="Calibri"/>
              <a:sym typeface="Calibri"/>
            </a:endParaRPr>
          </a:p>
          <a:p>
            <a:pPr indent="-342900" lvl="0" marL="342900" marR="13334" rtl="0" algn="l">
              <a:spcBef>
                <a:spcPts val="40"/>
              </a:spcBef>
              <a:spcAft>
                <a:spcPts val="0"/>
              </a:spcAft>
              <a:buClr>
                <a:srgbClr val="7F7F7F"/>
              </a:buClr>
              <a:buSzPts val="500"/>
              <a:buFont typeface="Calibri"/>
              <a:buAutoNum type="arabicPeriod" startAt="9"/>
            </a:pPr>
            <a:r>
              <a:rPr lang="ru-RU" sz="1600">
                <a:solidFill>
                  <a:srgbClr val="0000FF"/>
                </a:solidFill>
                <a:latin typeface="Calibri"/>
                <a:ea typeface="Calibri"/>
                <a:cs typeface="Calibri"/>
                <a:sym typeface="Calibri"/>
              </a:rPr>
              <a:t>&gt; s h a p i r o . test ( r u n i f (100 , min = -10 , max = 10) ) #равномерное распределение</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11</a:t>
            </a:r>
            <a:endParaRPr sz="2800">
              <a:solidFill>
                <a:srgbClr val="0000FF"/>
              </a:solidFill>
              <a:latin typeface="Calibri"/>
              <a:ea typeface="Calibri"/>
              <a:cs typeface="Calibri"/>
              <a:sym typeface="Calibri"/>
            </a:endParaRPr>
          </a:p>
          <a:p>
            <a:pPr indent="0" lvl="0" marL="0" marR="13334" rtl="0" algn="l">
              <a:spcBef>
                <a:spcPts val="175"/>
              </a:spcBef>
              <a:spcAft>
                <a:spcPts val="0"/>
              </a:spcAft>
              <a:buNone/>
            </a:pPr>
            <a:r>
              <a:rPr lang="ru-RU" sz="1050">
                <a:solidFill>
                  <a:srgbClr val="0000FF"/>
                </a:solidFill>
                <a:latin typeface="Calibri"/>
                <a:ea typeface="Calibri"/>
                <a:cs typeface="Calibri"/>
                <a:sym typeface="Calibri"/>
              </a:rPr>
              <a:t>12	</a:t>
            </a:r>
            <a:r>
              <a:rPr lang="ru-RU" sz="1600">
                <a:solidFill>
                  <a:srgbClr val="0000FF"/>
                </a:solidFill>
                <a:latin typeface="Calibri"/>
                <a:ea typeface="Calibri"/>
                <a:cs typeface="Calibri"/>
                <a:sym typeface="Calibri"/>
              </a:rPr>
              <a:t>Shapiro - Wilk n o r m a l i t y test</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13</a:t>
            </a:r>
            <a:endParaRPr sz="2800">
              <a:solidFill>
                <a:srgbClr val="0000FF"/>
              </a:solidFill>
              <a:latin typeface="Calibri"/>
              <a:ea typeface="Calibri"/>
              <a:cs typeface="Calibri"/>
              <a:sym typeface="Calibri"/>
            </a:endParaRPr>
          </a:p>
          <a:p>
            <a:pPr indent="0" lvl="0" marL="0" marR="13334" rtl="0" algn="l">
              <a:spcBef>
                <a:spcPts val="175"/>
              </a:spcBef>
              <a:spcAft>
                <a:spcPts val="0"/>
              </a:spcAft>
              <a:buNone/>
            </a:pPr>
            <a:r>
              <a:rPr lang="ru-RU" sz="1050">
                <a:solidFill>
                  <a:srgbClr val="0000FF"/>
                </a:solidFill>
                <a:latin typeface="Calibri"/>
                <a:ea typeface="Calibri"/>
                <a:cs typeface="Calibri"/>
                <a:sym typeface="Calibri"/>
              </a:rPr>
              <a:t>14   </a:t>
            </a:r>
            <a:r>
              <a:rPr lang="ru-RU" sz="1600">
                <a:solidFill>
                  <a:srgbClr val="0000FF"/>
                </a:solidFill>
                <a:latin typeface="Calibri"/>
                <a:ea typeface="Calibri"/>
                <a:cs typeface="Calibri"/>
                <a:sym typeface="Calibri"/>
              </a:rPr>
              <a:t>data :	r u n i f (100 , min = -10 , max = 10)</a:t>
            </a:r>
            <a:endParaRPr sz="2800">
              <a:solidFill>
                <a:srgbClr val="0000FF"/>
              </a:solidFill>
              <a:latin typeface="Calibri"/>
              <a:ea typeface="Calibri"/>
              <a:cs typeface="Calibri"/>
              <a:sym typeface="Calibri"/>
            </a:endParaRPr>
          </a:p>
          <a:p>
            <a:pPr indent="0" lvl="0" marL="0" marR="13334" rtl="0" algn="l">
              <a:spcBef>
                <a:spcPts val="40"/>
              </a:spcBef>
              <a:spcAft>
                <a:spcPts val="0"/>
              </a:spcAft>
              <a:buNone/>
            </a:pPr>
            <a:r>
              <a:rPr lang="ru-RU" sz="1050">
                <a:solidFill>
                  <a:srgbClr val="0000FF"/>
                </a:solidFill>
                <a:latin typeface="Calibri"/>
                <a:ea typeface="Calibri"/>
                <a:cs typeface="Calibri"/>
                <a:sym typeface="Calibri"/>
              </a:rPr>
              <a:t>15   </a:t>
            </a:r>
            <a:r>
              <a:rPr lang="ru-RU" sz="1600">
                <a:solidFill>
                  <a:srgbClr val="0000FF"/>
                </a:solidFill>
                <a:latin typeface="Calibri"/>
                <a:ea typeface="Calibri"/>
                <a:cs typeface="Calibri"/>
                <a:sym typeface="Calibri"/>
              </a:rPr>
              <a:t>W = 0.9561 , p - v a l u e = 0 . 0 0 2 1 2 6</a:t>
            </a:r>
            <a:endParaRPr sz="2800">
              <a:solidFill>
                <a:srgbClr val="0000FF"/>
              </a:solidFill>
              <a:latin typeface="Calibri"/>
              <a:ea typeface="Calibri"/>
              <a:cs typeface="Calibri"/>
              <a:sym typeface="Calibri"/>
            </a:endParaRPr>
          </a:p>
          <a:p>
            <a:pPr indent="-126999" lvl="0" marL="834389" marR="13334" rtl="0" algn="just">
              <a:lnSpc>
                <a:spcPct val="60000"/>
              </a:lnSpc>
              <a:spcBef>
                <a:spcPts val="295"/>
              </a:spcBef>
              <a:spcAft>
                <a:spcPts val="0"/>
              </a:spcAft>
              <a:buNone/>
            </a:pPr>
            <a:r>
              <a:rPr lang="ru-RU" sz="2000">
                <a:solidFill>
                  <a:schemeClr val="dk1"/>
                </a:solidFill>
                <a:latin typeface="Times New Roman"/>
                <a:ea typeface="Times New Roman"/>
                <a:cs typeface="Times New Roman"/>
                <a:sym typeface="Times New Roman"/>
              </a:rPr>
              <a:t> </a:t>
            </a:r>
            <a:endParaRPr sz="1200">
              <a:solidFill>
                <a:schemeClr val="dk1"/>
              </a:solidFill>
              <a:latin typeface="Arial"/>
              <a:ea typeface="Arial"/>
              <a:cs typeface="Arial"/>
              <a:sym typeface="Arial"/>
            </a:endParaRPr>
          </a:p>
        </p:txBody>
      </p:sp>
      <p:sp>
        <p:nvSpPr>
          <p:cNvPr id="913" name="Google Shape;913;p74"/>
          <p:cNvSpPr/>
          <p:nvPr/>
        </p:nvSpPr>
        <p:spPr>
          <a:xfrm>
            <a:off x="3423912" y="3501785"/>
            <a:ext cx="1944216" cy="216024"/>
          </a:xfrm>
          <a:prstGeom prst="rect">
            <a:avLst/>
          </a:prstGeom>
          <a:noFill/>
          <a:ln cap="flat" cmpd="sng" w="9525">
            <a:solidFill>
              <a:srgbClr val="FF5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14" name="Google Shape;914;p74"/>
          <p:cNvSpPr/>
          <p:nvPr/>
        </p:nvSpPr>
        <p:spPr>
          <a:xfrm>
            <a:off x="3423912" y="5331223"/>
            <a:ext cx="1944216" cy="216024"/>
          </a:xfrm>
          <a:prstGeom prst="rect">
            <a:avLst/>
          </a:prstGeom>
          <a:noFill/>
          <a:ln cap="flat" cmpd="sng" w="9525">
            <a:solidFill>
              <a:srgbClr val="FF5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915" name="Google Shape;915;p74"/>
          <p:cNvCxnSpPr/>
          <p:nvPr/>
        </p:nvCxnSpPr>
        <p:spPr>
          <a:xfrm>
            <a:off x="2070771" y="3897032"/>
            <a:ext cx="8262738" cy="0"/>
          </a:xfrm>
          <a:prstGeom prst="straightConnector1">
            <a:avLst/>
          </a:prstGeom>
          <a:solidFill>
            <a:schemeClr val="accent1"/>
          </a:solidFill>
          <a:ln cap="flat" cmpd="sng" w="9525">
            <a:solidFill>
              <a:schemeClr val="dk1"/>
            </a:solidFill>
            <a:prstDash val="solid"/>
            <a:round/>
            <a:headEnd len="sm" w="sm" type="none"/>
            <a:tailEnd len="sm" w="sm" type="none"/>
          </a:ln>
        </p:spPr>
      </p:cxnSp>
      <p:pic>
        <p:nvPicPr>
          <p:cNvPr id="916" name="Google Shape;916;p74"/>
          <p:cNvPicPr preferRelativeResize="0"/>
          <p:nvPr/>
        </p:nvPicPr>
        <p:blipFill rotWithShape="1">
          <a:blip r:embed="rId3">
            <a:alphaModFix/>
          </a:blip>
          <a:srcRect b="0" l="0" r="0" t="0"/>
          <a:stretch/>
        </p:blipFill>
        <p:spPr>
          <a:xfrm>
            <a:off x="7653557" y="2239202"/>
            <a:ext cx="2612409" cy="1859282"/>
          </a:xfrm>
          <a:prstGeom prst="rect">
            <a:avLst/>
          </a:prstGeom>
          <a:noFill/>
          <a:ln>
            <a:noFill/>
          </a:ln>
        </p:spPr>
      </p:pic>
      <p:pic>
        <p:nvPicPr>
          <p:cNvPr id="917" name="Google Shape;917;p74"/>
          <p:cNvPicPr preferRelativeResize="0"/>
          <p:nvPr/>
        </p:nvPicPr>
        <p:blipFill rotWithShape="1">
          <a:blip r:embed="rId4">
            <a:alphaModFix/>
          </a:blip>
          <a:srcRect b="0" l="0" r="0" t="0"/>
          <a:stretch/>
        </p:blipFill>
        <p:spPr>
          <a:xfrm>
            <a:off x="7593801" y="4439783"/>
            <a:ext cx="2672165" cy="1823010"/>
          </a:xfrm>
          <a:prstGeom prst="rect">
            <a:avLst/>
          </a:prstGeom>
          <a:noFill/>
          <a:ln>
            <a:noFill/>
          </a:ln>
        </p:spPr>
      </p:pic>
      <p:sp>
        <p:nvSpPr>
          <p:cNvPr id="918" name="Google Shape;918;p74"/>
          <p:cNvSpPr txBox="1"/>
          <p:nvPr>
            <p:ph idx="12" type="sldNum"/>
          </p:nvPr>
        </p:nvSpPr>
        <p:spPr>
          <a:xfrm>
            <a:off x="10078541" y="6605015"/>
            <a:ext cx="880449"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75"/>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25" name="Google Shape;925;p7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26" name="Google Shape;926;p75"/>
          <p:cNvSpPr txBox="1"/>
          <p:nvPr>
            <p:ph idx="4294967295" type="title"/>
          </p:nvPr>
        </p:nvSpPr>
        <p:spPr>
          <a:xfrm>
            <a:off x="1195389" y="288925"/>
            <a:ext cx="8550275" cy="152558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500"/>
              <a:buFont typeface="Calibri"/>
              <a:buNone/>
            </a:pPr>
            <a:r>
              <a:rPr lang="ru-RU"/>
              <a:t>Проверка на нормальность</a:t>
            </a:r>
            <a:endParaRPr/>
          </a:p>
        </p:txBody>
      </p:sp>
      <p:sp>
        <p:nvSpPr>
          <p:cNvPr id="927" name="Google Shape;927;p75"/>
          <p:cNvSpPr/>
          <p:nvPr/>
        </p:nvSpPr>
        <p:spPr>
          <a:xfrm>
            <a:off x="2733726" y="1547137"/>
            <a:ext cx="2873859" cy="600164"/>
          </a:xfrm>
          <a:prstGeom prst="rect">
            <a:avLst/>
          </a:prstGeom>
          <a:noFill/>
          <a:ln>
            <a:noFill/>
          </a:ln>
        </p:spPr>
        <p:txBody>
          <a:bodyPr anchorCtr="0" anchor="ctr" bIns="0" lIns="91425" spcFirstLastPara="1" rIns="91425" wrap="square" tIns="45700">
            <a:spAutoFit/>
          </a:bodyPr>
          <a:lstStyle/>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numb=rnorm(100); </a:t>
            </a:r>
            <a:endParaRPr/>
          </a:p>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hist(numb)</a:t>
            </a:r>
            <a:endParaRPr sz="1800">
              <a:solidFill>
                <a:schemeClr val="dk1"/>
              </a:solidFill>
              <a:latin typeface="Arial"/>
              <a:ea typeface="Arial"/>
              <a:cs typeface="Arial"/>
              <a:sym typeface="Arial"/>
            </a:endParaRPr>
          </a:p>
        </p:txBody>
      </p:sp>
      <p:sp>
        <p:nvSpPr>
          <p:cNvPr id="928" name="Google Shape;928;p75"/>
          <p:cNvSpPr/>
          <p:nvPr/>
        </p:nvSpPr>
        <p:spPr>
          <a:xfrm>
            <a:off x="6452512" y="1550879"/>
            <a:ext cx="4035308" cy="538609"/>
          </a:xfrm>
          <a:prstGeom prst="rect">
            <a:avLst/>
          </a:prstGeom>
          <a:noFill/>
          <a:ln>
            <a:noFill/>
          </a:ln>
        </p:spPr>
        <p:txBody>
          <a:bodyPr anchorCtr="0" anchor="ctr" bIns="0" lIns="91425" spcFirstLastPara="1" rIns="91425" wrap="square" tIns="45700">
            <a:spAutoFit/>
          </a:bodyPr>
          <a:lstStyle/>
          <a:p>
            <a:pPr indent="0" lvl="0" marL="0" marR="0" rtl="0" algn="l">
              <a:spcBef>
                <a:spcPts val="0"/>
              </a:spcBef>
              <a:spcAft>
                <a:spcPts val="0"/>
              </a:spcAft>
              <a:buNone/>
            </a:pPr>
            <a:r>
              <a:rPr lang="ru-RU" sz="1600">
                <a:solidFill>
                  <a:srgbClr val="0000FF"/>
                </a:solidFill>
                <a:latin typeface="Droid Sans Mono"/>
                <a:ea typeface="Droid Sans Mono"/>
                <a:cs typeface="Droid Sans Mono"/>
                <a:sym typeface="Droid Sans Mono"/>
              </a:rPr>
              <a:t>n&lt;-runif(100, min=-10, max =10)</a:t>
            </a:r>
            <a:endParaRPr/>
          </a:p>
          <a:p>
            <a:pPr indent="0" lvl="0" marL="0" marR="0" rtl="0" algn="l">
              <a:spcBef>
                <a:spcPts val="0"/>
              </a:spcBef>
              <a:spcAft>
                <a:spcPts val="0"/>
              </a:spcAft>
              <a:buNone/>
            </a:pPr>
            <a:r>
              <a:rPr lang="ru-RU" sz="1600">
                <a:solidFill>
                  <a:srgbClr val="0000FF"/>
                </a:solidFill>
                <a:latin typeface="Droid Sans Mono"/>
                <a:ea typeface="Droid Sans Mono"/>
                <a:cs typeface="Droid Sans Mono"/>
                <a:sym typeface="Droid Sans Mono"/>
              </a:rPr>
              <a:t>hist(n)</a:t>
            </a:r>
            <a:endParaRPr/>
          </a:p>
        </p:txBody>
      </p:sp>
      <p:pic>
        <p:nvPicPr>
          <p:cNvPr id="929" name="Google Shape;929;p75"/>
          <p:cNvPicPr preferRelativeResize="0"/>
          <p:nvPr/>
        </p:nvPicPr>
        <p:blipFill rotWithShape="1">
          <a:blip r:embed="rId3">
            <a:alphaModFix/>
          </a:blip>
          <a:srcRect b="0" l="0" r="0" t="0"/>
          <a:stretch/>
        </p:blipFill>
        <p:spPr>
          <a:xfrm>
            <a:off x="1825160" y="2495950"/>
            <a:ext cx="4424674" cy="3149092"/>
          </a:xfrm>
          <a:prstGeom prst="rect">
            <a:avLst/>
          </a:prstGeom>
          <a:noFill/>
          <a:ln>
            <a:noFill/>
          </a:ln>
        </p:spPr>
      </p:pic>
      <p:pic>
        <p:nvPicPr>
          <p:cNvPr id="930" name="Google Shape;930;p75"/>
          <p:cNvPicPr preferRelativeResize="0"/>
          <p:nvPr/>
        </p:nvPicPr>
        <p:blipFill rotWithShape="1">
          <a:blip r:embed="rId4">
            <a:alphaModFix/>
          </a:blip>
          <a:srcRect b="0" l="0" r="0" t="0"/>
          <a:stretch/>
        </p:blipFill>
        <p:spPr>
          <a:xfrm>
            <a:off x="6405750" y="2471386"/>
            <a:ext cx="4651939" cy="3173656"/>
          </a:xfrm>
          <a:prstGeom prst="rect">
            <a:avLst/>
          </a:prstGeom>
          <a:noFill/>
          <a:ln>
            <a:noFill/>
          </a:ln>
        </p:spPr>
      </p:pic>
      <p:sp>
        <p:nvSpPr>
          <p:cNvPr id="931" name="Google Shape;931;p75"/>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76"/>
          <p:cNvSpPr/>
          <p:nvPr/>
        </p:nvSpPr>
        <p:spPr>
          <a:xfrm>
            <a:off x="1438275" y="322263"/>
            <a:ext cx="1108853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38" name="Google Shape;938;p7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39" name="Google Shape;939;p76"/>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Критерий Шапиро-Уилка</a:t>
            </a:r>
            <a:endParaRPr/>
          </a:p>
        </p:txBody>
      </p:sp>
      <p:sp>
        <p:nvSpPr>
          <p:cNvPr id="940" name="Google Shape;940;p76"/>
          <p:cNvSpPr/>
          <p:nvPr/>
        </p:nvSpPr>
        <p:spPr>
          <a:xfrm>
            <a:off x="1653606" y="1341400"/>
            <a:ext cx="9865096" cy="4942122"/>
          </a:xfrm>
          <a:prstGeom prst="rect">
            <a:avLst/>
          </a:prstGeom>
          <a:noFill/>
          <a:ln>
            <a:noFill/>
          </a:ln>
        </p:spPr>
        <p:txBody>
          <a:bodyPr anchorCtr="0" anchor="t" bIns="45700" lIns="91425" spcFirstLastPara="1" rIns="91425" wrap="square" tIns="45700">
            <a:spAutoFit/>
          </a:bodyPr>
          <a:lstStyle/>
          <a:p>
            <a:pPr indent="-342900" lvl="0" marL="342900" marR="13334" rtl="0" algn="l">
              <a:spcBef>
                <a:spcPts val="0"/>
              </a:spcBef>
              <a:spcAft>
                <a:spcPts val="0"/>
              </a:spcAft>
              <a:buClr>
                <a:srgbClr val="7F7F7F"/>
              </a:buClr>
              <a:buSzPts val="500"/>
              <a:buFont typeface="Calibri"/>
              <a:buAutoNum type="arabicPeriod"/>
            </a:pPr>
            <a:r>
              <a:rPr lang="ru-RU" sz="1600">
                <a:solidFill>
                  <a:srgbClr val="0000FF"/>
                </a:solidFill>
                <a:latin typeface="Calibri"/>
                <a:ea typeface="Calibri"/>
                <a:cs typeface="Calibri"/>
                <a:sym typeface="Calibri"/>
              </a:rPr>
              <a:t>&gt; set . seed (0)</a:t>
            </a:r>
            <a:endParaRPr sz="2800">
              <a:solidFill>
                <a:srgbClr val="0000FF"/>
              </a:solidFill>
              <a:latin typeface="Calibri"/>
              <a:ea typeface="Calibri"/>
              <a:cs typeface="Calibri"/>
              <a:sym typeface="Calibri"/>
            </a:endParaRPr>
          </a:p>
          <a:p>
            <a:pPr indent="-342900" lvl="0" marL="342900" marR="13334" rtl="0" algn="l">
              <a:spcBef>
                <a:spcPts val="40"/>
              </a:spcBef>
              <a:spcAft>
                <a:spcPts val="0"/>
              </a:spcAft>
              <a:buClr>
                <a:srgbClr val="7F7F7F"/>
              </a:buClr>
              <a:buSzPts val="500"/>
              <a:buFont typeface="Calibri"/>
              <a:buAutoNum type="arabicPeriod"/>
            </a:pPr>
            <a:r>
              <a:rPr lang="ru-RU" sz="1600">
                <a:solidFill>
                  <a:srgbClr val="0000FF"/>
                </a:solidFill>
                <a:latin typeface="Calibri"/>
                <a:ea typeface="Calibri"/>
                <a:cs typeface="Calibri"/>
                <a:sym typeface="Calibri"/>
              </a:rPr>
              <a:t>&gt; s h a p i r o . test ( r n o r m (100 , mean = 2 , sd = 5) )</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3</a:t>
            </a:r>
            <a:endParaRPr sz="2800">
              <a:solidFill>
                <a:srgbClr val="0000FF"/>
              </a:solidFill>
              <a:latin typeface="Calibri"/>
              <a:ea typeface="Calibri"/>
              <a:cs typeface="Calibri"/>
              <a:sym typeface="Calibri"/>
            </a:endParaRPr>
          </a:p>
          <a:p>
            <a:pPr indent="0" lvl="0" marL="0" marR="13334" rtl="0" algn="l">
              <a:spcBef>
                <a:spcPts val="175"/>
              </a:spcBef>
              <a:spcAft>
                <a:spcPts val="0"/>
              </a:spcAft>
              <a:buNone/>
            </a:pPr>
            <a:r>
              <a:rPr lang="ru-RU" sz="1050">
                <a:solidFill>
                  <a:srgbClr val="0000FF"/>
                </a:solidFill>
                <a:latin typeface="Calibri"/>
                <a:ea typeface="Calibri"/>
                <a:cs typeface="Calibri"/>
                <a:sym typeface="Calibri"/>
              </a:rPr>
              <a:t>4	</a:t>
            </a:r>
            <a:r>
              <a:rPr lang="ru-RU" sz="1600">
                <a:solidFill>
                  <a:srgbClr val="0000FF"/>
                </a:solidFill>
                <a:latin typeface="Calibri"/>
                <a:ea typeface="Calibri"/>
                <a:cs typeface="Calibri"/>
                <a:sym typeface="Calibri"/>
              </a:rPr>
              <a:t>Shapiro - Wilk n o r m a l i t y test</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5    </a:t>
            </a:r>
            <a:r>
              <a:rPr lang="ru-RU" sz="1600">
                <a:solidFill>
                  <a:srgbClr val="0000FF"/>
                </a:solidFill>
                <a:latin typeface="Calibri"/>
                <a:ea typeface="Calibri"/>
                <a:cs typeface="Calibri"/>
                <a:sym typeface="Calibri"/>
              </a:rPr>
              <a:t>data :	r n o r m (100 , mean = 2 , sd = 5)</a:t>
            </a:r>
            <a:endParaRPr sz="2800">
              <a:solidFill>
                <a:srgbClr val="0000FF"/>
              </a:solidFill>
              <a:latin typeface="Calibri"/>
              <a:ea typeface="Calibri"/>
              <a:cs typeface="Calibri"/>
              <a:sym typeface="Calibri"/>
            </a:endParaRPr>
          </a:p>
          <a:p>
            <a:pPr indent="0" lvl="0" marL="0" marR="13334" rtl="0" algn="l">
              <a:spcBef>
                <a:spcPts val="40"/>
              </a:spcBef>
              <a:spcAft>
                <a:spcPts val="0"/>
              </a:spcAft>
              <a:buNone/>
            </a:pPr>
            <a:r>
              <a:rPr lang="ru-RU" sz="1050">
                <a:solidFill>
                  <a:srgbClr val="0000FF"/>
                </a:solidFill>
                <a:latin typeface="Calibri"/>
                <a:ea typeface="Calibri"/>
                <a:cs typeface="Calibri"/>
                <a:sym typeface="Calibri"/>
              </a:rPr>
              <a:t>7    </a:t>
            </a:r>
            <a:r>
              <a:rPr lang="ru-RU" sz="1600">
                <a:solidFill>
                  <a:srgbClr val="0000FF"/>
                </a:solidFill>
                <a:latin typeface="Calibri"/>
                <a:ea typeface="Calibri"/>
                <a:cs typeface="Calibri"/>
                <a:sym typeface="Calibri"/>
              </a:rPr>
              <a:t>W = 0.9896 </a:t>
            </a:r>
            <a:r>
              <a:rPr b="1" lang="ru-RU" sz="1600">
                <a:solidFill>
                  <a:srgbClr val="0000FF"/>
                </a:solidFill>
                <a:latin typeface="Calibri"/>
                <a:ea typeface="Calibri"/>
                <a:cs typeface="Calibri"/>
                <a:sym typeface="Calibri"/>
              </a:rPr>
              <a:t>, p - v a l u e = 0 . 6 3 0 3</a:t>
            </a:r>
            <a:endParaRPr b="1"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8</a:t>
            </a:r>
            <a:endParaRPr sz="2800">
              <a:solidFill>
                <a:srgbClr val="0000FF"/>
              </a:solidFill>
              <a:latin typeface="Calibri"/>
              <a:ea typeface="Calibri"/>
              <a:cs typeface="Calibri"/>
              <a:sym typeface="Calibri"/>
            </a:endParaRPr>
          </a:p>
          <a:p>
            <a:pPr indent="-342900" lvl="0" marL="342900" marR="13334" rtl="0" algn="l">
              <a:spcBef>
                <a:spcPts val="175"/>
              </a:spcBef>
              <a:spcAft>
                <a:spcPts val="0"/>
              </a:spcAft>
              <a:buClr>
                <a:srgbClr val="7F7F7F"/>
              </a:buClr>
              <a:buSzPts val="500"/>
              <a:buFont typeface="Calibri"/>
              <a:buAutoNum type="arabicPeriod" startAt="9"/>
            </a:pPr>
            <a:r>
              <a:rPr lang="ru-RU" sz="1600">
                <a:solidFill>
                  <a:srgbClr val="0000FF"/>
                </a:solidFill>
                <a:latin typeface="Calibri"/>
                <a:ea typeface="Calibri"/>
                <a:cs typeface="Calibri"/>
                <a:sym typeface="Calibri"/>
              </a:rPr>
              <a:t>&gt; set . seed (0)</a:t>
            </a:r>
            <a:endParaRPr sz="2800">
              <a:solidFill>
                <a:srgbClr val="0000FF"/>
              </a:solidFill>
              <a:latin typeface="Calibri"/>
              <a:ea typeface="Calibri"/>
              <a:cs typeface="Calibri"/>
              <a:sym typeface="Calibri"/>
            </a:endParaRPr>
          </a:p>
          <a:p>
            <a:pPr indent="-342900" lvl="0" marL="342900" marR="13334" rtl="0" algn="l">
              <a:spcBef>
                <a:spcPts val="40"/>
              </a:spcBef>
              <a:spcAft>
                <a:spcPts val="0"/>
              </a:spcAft>
              <a:buClr>
                <a:srgbClr val="7F7F7F"/>
              </a:buClr>
              <a:buSzPts val="500"/>
              <a:buFont typeface="Calibri"/>
              <a:buAutoNum type="arabicPeriod" startAt="9"/>
            </a:pPr>
            <a:r>
              <a:rPr lang="ru-RU" sz="1600">
                <a:solidFill>
                  <a:srgbClr val="0000FF"/>
                </a:solidFill>
                <a:latin typeface="Calibri"/>
                <a:ea typeface="Calibri"/>
                <a:cs typeface="Calibri"/>
                <a:sym typeface="Calibri"/>
              </a:rPr>
              <a:t>&gt; s h a p i r o . test ( r u n i f (100 , min = -10 , max = 10) )</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11</a:t>
            </a:r>
            <a:endParaRPr sz="2800">
              <a:solidFill>
                <a:srgbClr val="0000FF"/>
              </a:solidFill>
              <a:latin typeface="Calibri"/>
              <a:ea typeface="Calibri"/>
              <a:cs typeface="Calibri"/>
              <a:sym typeface="Calibri"/>
            </a:endParaRPr>
          </a:p>
          <a:p>
            <a:pPr indent="0" lvl="0" marL="0" marR="13334" rtl="0" algn="l">
              <a:spcBef>
                <a:spcPts val="175"/>
              </a:spcBef>
              <a:spcAft>
                <a:spcPts val="0"/>
              </a:spcAft>
              <a:buNone/>
            </a:pPr>
            <a:r>
              <a:rPr lang="ru-RU" sz="1050">
                <a:solidFill>
                  <a:srgbClr val="0000FF"/>
                </a:solidFill>
                <a:latin typeface="Calibri"/>
                <a:ea typeface="Calibri"/>
                <a:cs typeface="Calibri"/>
                <a:sym typeface="Calibri"/>
              </a:rPr>
              <a:t>12	</a:t>
            </a:r>
            <a:r>
              <a:rPr lang="ru-RU" sz="1600">
                <a:solidFill>
                  <a:srgbClr val="0000FF"/>
                </a:solidFill>
                <a:latin typeface="Calibri"/>
                <a:ea typeface="Calibri"/>
                <a:cs typeface="Calibri"/>
                <a:sym typeface="Calibri"/>
              </a:rPr>
              <a:t>Shapiro - Wilk n o r m a l i t y test</a:t>
            </a:r>
            <a:endParaRPr sz="2800">
              <a:solidFill>
                <a:srgbClr val="0000FF"/>
              </a:solidFill>
              <a:latin typeface="Calibri"/>
              <a:ea typeface="Calibri"/>
              <a:cs typeface="Calibri"/>
              <a:sym typeface="Calibri"/>
            </a:endParaRPr>
          </a:p>
          <a:p>
            <a:pPr indent="0" lvl="0" marL="0" marR="13334" rtl="0" algn="l">
              <a:spcBef>
                <a:spcPts val="235"/>
              </a:spcBef>
              <a:spcAft>
                <a:spcPts val="0"/>
              </a:spcAft>
              <a:buNone/>
            </a:pPr>
            <a:r>
              <a:rPr lang="ru-RU" sz="1050">
                <a:solidFill>
                  <a:srgbClr val="0000FF"/>
                </a:solidFill>
                <a:latin typeface="Calibri"/>
                <a:ea typeface="Calibri"/>
                <a:cs typeface="Calibri"/>
                <a:sym typeface="Calibri"/>
              </a:rPr>
              <a:t>13</a:t>
            </a:r>
            <a:endParaRPr sz="2800">
              <a:solidFill>
                <a:srgbClr val="0000FF"/>
              </a:solidFill>
              <a:latin typeface="Calibri"/>
              <a:ea typeface="Calibri"/>
              <a:cs typeface="Calibri"/>
              <a:sym typeface="Calibri"/>
            </a:endParaRPr>
          </a:p>
          <a:p>
            <a:pPr indent="0" lvl="0" marL="0" marR="13334" rtl="0" algn="l">
              <a:spcBef>
                <a:spcPts val="175"/>
              </a:spcBef>
              <a:spcAft>
                <a:spcPts val="0"/>
              </a:spcAft>
              <a:buNone/>
            </a:pPr>
            <a:r>
              <a:rPr lang="ru-RU" sz="1050">
                <a:solidFill>
                  <a:srgbClr val="0000FF"/>
                </a:solidFill>
                <a:latin typeface="Calibri"/>
                <a:ea typeface="Calibri"/>
                <a:cs typeface="Calibri"/>
                <a:sym typeface="Calibri"/>
              </a:rPr>
              <a:t>14   </a:t>
            </a:r>
            <a:r>
              <a:rPr lang="ru-RU" sz="1600">
                <a:solidFill>
                  <a:srgbClr val="0000FF"/>
                </a:solidFill>
                <a:latin typeface="Calibri"/>
                <a:ea typeface="Calibri"/>
                <a:cs typeface="Calibri"/>
                <a:sym typeface="Calibri"/>
              </a:rPr>
              <a:t>data :	r u n i f (100 , min = -10 , max = 10)</a:t>
            </a:r>
            <a:endParaRPr sz="2800">
              <a:solidFill>
                <a:srgbClr val="0000FF"/>
              </a:solidFill>
              <a:latin typeface="Calibri"/>
              <a:ea typeface="Calibri"/>
              <a:cs typeface="Calibri"/>
              <a:sym typeface="Calibri"/>
            </a:endParaRPr>
          </a:p>
          <a:p>
            <a:pPr indent="0" lvl="0" marL="0" marR="13334" rtl="0" algn="l">
              <a:spcBef>
                <a:spcPts val="40"/>
              </a:spcBef>
              <a:spcAft>
                <a:spcPts val="0"/>
              </a:spcAft>
              <a:buNone/>
            </a:pPr>
            <a:r>
              <a:rPr lang="ru-RU" sz="1050">
                <a:solidFill>
                  <a:srgbClr val="0000FF"/>
                </a:solidFill>
                <a:latin typeface="Calibri"/>
                <a:ea typeface="Calibri"/>
                <a:cs typeface="Calibri"/>
                <a:sym typeface="Calibri"/>
              </a:rPr>
              <a:t>15   </a:t>
            </a:r>
            <a:r>
              <a:rPr lang="ru-RU" sz="1600">
                <a:solidFill>
                  <a:srgbClr val="0000FF"/>
                </a:solidFill>
                <a:latin typeface="Calibri"/>
                <a:ea typeface="Calibri"/>
                <a:cs typeface="Calibri"/>
                <a:sym typeface="Calibri"/>
              </a:rPr>
              <a:t>W = 0.9561 , </a:t>
            </a:r>
            <a:r>
              <a:rPr b="1" lang="ru-RU" sz="1600">
                <a:solidFill>
                  <a:srgbClr val="0000FF"/>
                </a:solidFill>
                <a:latin typeface="Calibri"/>
                <a:ea typeface="Calibri"/>
                <a:cs typeface="Calibri"/>
                <a:sym typeface="Calibri"/>
              </a:rPr>
              <a:t>p - v a l u e = 0 . 0 0 2 1 2 6</a:t>
            </a:r>
            <a:endParaRPr b="1" sz="2800">
              <a:solidFill>
                <a:srgbClr val="0000FF"/>
              </a:solidFill>
              <a:latin typeface="Calibri"/>
              <a:ea typeface="Calibri"/>
              <a:cs typeface="Calibri"/>
              <a:sym typeface="Calibri"/>
            </a:endParaRPr>
          </a:p>
          <a:p>
            <a:pPr indent="-126999" lvl="0" marL="834389" marR="13334" rtl="0" algn="just">
              <a:lnSpc>
                <a:spcPct val="60000"/>
              </a:lnSpc>
              <a:spcBef>
                <a:spcPts val="295"/>
              </a:spcBef>
              <a:spcAft>
                <a:spcPts val="0"/>
              </a:spcAft>
              <a:buNone/>
            </a:pPr>
            <a:r>
              <a:rPr lang="ru-RU" sz="2000">
                <a:solidFill>
                  <a:schemeClr val="dk1"/>
                </a:solidFill>
                <a:latin typeface="Times New Roman"/>
                <a:ea typeface="Times New Roman"/>
                <a:cs typeface="Times New Roman"/>
                <a:sym typeface="Times New Roman"/>
              </a:rPr>
              <a:t> </a:t>
            </a:r>
            <a:endParaRPr sz="1200">
              <a:solidFill>
                <a:schemeClr val="dk1"/>
              </a:solidFill>
              <a:latin typeface="Arial"/>
              <a:ea typeface="Arial"/>
              <a:cs typeface="Arial"/>
              <a:sym typeface="Arial"/>
            </a:endParaRPr>
          </a:p>
          <a:p>
            <a:pPr indent="-449263" lvl="0" marL="539751" marR="13334" rtl="0" algn="l">
              <a:lnSpc>
                <a:spcPct val="103000"/>
              </a:lnSpc>
              <a:spcBef>
                <a:spcPts val="400"/>
              </a:spcBef>
              <a:spcAft>
                <a:spcPts val="0"/>
              </a:spcAft>
              <a:buClr>
                <a:srgbClr val="CC9900"/>
              </a:buClr>
              <a:buSzPts val="1300"/>
              <a:buFont typeface="Noto Sans Symbols"/>
              <a:buChar char="■"/>
            </a:pPr>
            <a:r>
              <a:rPr lang="ru-RU" sz="2000">
                <a:solidFill>
                  <a:schemeClr val="dk1"/>
                </a:solidFill>
                <a:latin typeface="Calibri"/>
                <a:ea typeface="Calibri"/>
                <a:cs typeface="Calibri"/>
                <a:sym typeface="Calibri"/>
              </a:rPr>
              <a:t>В данном случае при уровне значимости, например, α = 0.05 для выборки, сгенерированной функцией </a:t>
            </a:r>
            <a:r>
              <a:rPr b="1" i="1" lang="ru-RU" sz="2000">
                <a:solidFill>
                  <a:schemeClr val="dk1"/>
                </a:solidFill>
                <a:latin typeface="Calibri"/>
                <a:ea typeface="Calibri"/>
                <a:cs typeface="Calibri"/>
                <a:sym typeface="Calibri"/>
              </a:rPr>
              <a:t>rnorm</a:t>
            </a:r>
            <a:r>
              <a:rPr lang="ru-RU" sz="2000">
                <a:solidFill>
                  <a:schemeClr val="dk1"/>
                </a:solidFill>
                <a:latin typeface="Calibri"/>
                <a:ea typeface="Calibri"/>
                <a:cs typeface="Calibri"/>
                <a:sym typeface="Calibri"/>
              </a:rPr>
              <a:t>, гипотеза </a:t>
            </a:r>
            <a:r>
              <a:rPr i="1" lang="ru-RU" sz="2000">
                <a:solidFill>
                  <a:schemeClr val="dk1"/>
                </a:solidFill>
                <a:latin typeface="Arial"/>
                <a:ea typeface="Arial"/>
                <a:cs typeface="Arial"/>
                <a:sym typeface="Arial"/>
              </a:rPr>
              <a:t>H</a:t>
            </a:r>
            <a:r>
              <a:rPr baseline="-25000" i="1" lang="ru-RU" sz="2000">
                <a:solidFill>
                  <a:schemeClr val="dk1"/>
                </a:solidFill>
                <a:latin typeface="Arial"/>
                <a:ea typeface="Arial"/>
                <a:cs typeface="Arial"/>
                <a:sym typeface="Arial"/>
              </a:rPr>
              <a:t>0</a:t>
            </a:r>
            <a:r>
              <a:rPr lang="ru-RU" sz="2000">
                <a:solidFill>
                  <a:schemeClr val="dk1"/>
                </a:solidFill>
                <a:latin typeface="Calibri"/>
                <a:ea typeface="Calibri"/>
                <a:cs typeface="Calibri"/>
                <a:sym typeface="Calibri"/>
              </a:rPr>
              <a:t> должна быть принята (так как p-value &gt; α), а для выборки, полученной с помощью</a:t>
            </a:r>
            <a:r>
              <a:rPr b="1" i="1" lang="ru-RU" sz="2000">
                <a:solidFill>
                  <a:schemeClr val="dk1"/>
                </a:solidFill>
                <a:latin typeface="Calibri"/>
                <a:ea typeface="Calibri"/>
                <a:cs typeface="Calibri"/>
                <a:sym typeface="Calibri"/>
              </a:rPr>
              <a:t> runif</a:t>
            </a:r>
            <a:r>
              <a:rPr lang="ru-RU" sz="2000">
                <a:solidFill>
                  <a:schemeClr val="dk1"/>
                </a:solidFill>
                <a:latin typeface="Calibri"/>
                <a:ea typeface="Calibri"/>
                <a:cs typeface="Calibri"/>
                <a:sym typeface="Calibri"/>
              </a:rPr>
              <a:t>, </a:t>
            </a:r>
            <a:r>
              <a:rPr i="1" lang="ru-RU" sz="2000">
                <a:solidFill>
                  <a:schemeClr val="dk1"/>
                </a:solidFill>
                <a:latin typeface="Calibri"/>
                <a:ea typeface="Calibri"/>
                <a:cs typeface="Calibri"/>
                <a:sym typeface="Calibri"/>
              </a:rPr>
              <a:t>H</a:t>
            </a:r>
            <a:r>
              <a:rPr baseline="-25000" i="1" lang="ru-RU" sz="2000">
                <a:solidFill>
                  <a:schemeClr val="dk1"/>
                </a:solidFill>
                <a:latin typeface="Calibri"/>
                <a:ea typeface="Calibri"/>
                <a:cs typeface="Calibri"/>
                <a:sym typeface="Calibri"/>
              </a:rPr>
              <a:t>0</a:t>
            </a:r>
            <a:r>
              <a:rPr lang="ru-RU" sz="2000">
                <a:solidFill>
                  <a:schemeClr val="dk1"/>
                </a:solidFill>
                <a:latin typeface="Calibri"/>
                <a:ea typeface="Calibri"/>
                <a:cs typeface="Calibri"/>
                <a:sym typeface="Calibri"/>
              </a:rPr>
              <a:t> следует отклонить, приняв альтернативную гипотезу.</a:t>
            </a:r>
            <a:endParaRPr/>
          </a:p>
        </p:txBody>
      </p:sp>
      <p:sp>
        <p:nvSpPr>
          <p:cNvPr id="941" name="Google Shape;941;p76"/>
          <p:cNvSpPr/>
          <p:nvPr/>
        </p:nvSpPr>
        <p:spPr>
          <a:xfrm>
            <a:off x="3007470" y="2627040"/>
            <a:ext cx="1767469" cy="216024"/>
          </a:xfrm>
          <a:prstGeom prst="rect">
            <a:avLst/>
          </a:prstGeom>
          <a:noFill/>
          <a:ln cap="flat" cmpd="sng" w="9525">
            <a:solidFill>
              <a:srgbClr val="FF5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42" name="Google Shape;942;p76"/>
          <p:cNvSpPr/>
          <p:nvPr/>
        </p:nvSpPr>
        <p:spPr>
          <a:xfrm>
            <a:off x="3021757" y="4468681"/>
            <a:ext cx="1944216" cy="216024"/>
          </a:xfrm>
          <a:prstGeom prst="rect">
            <a:avLst/>
          </a:prstGeom>
          <a:noFill/>
          <a:ln cap="flat" cmpd="sng" w="9525">
            <a:solidFill>
              <a:srgbClr val="FF5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43" name="Google Shape;943;p76"/>
          <p:cNvSpPr txBox="1"/>
          <p:nvPr>
            <p:ph idx="12" type="sldNum"/>
          </p:nvPr>
        </p:nvSpPr>
        <p:spPr>
          <a:xfrm>
            <a:off x="11518701" y="6496054"/>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77"/>
          <p:cNvSpPr/>
          <p:nvPr/>
        </p:nvSpPr>
        <p:spPr>
          <a:xfrm>
            <a:off x="1438276"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50" name="Google Shape;950;p77"/>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51" name="Google Shape;951;p77"/>
          <p:cNvSpPr/>
          <p:nvPr/>
        </p:nvSpPr>
        <p:spPr>
          <a:xfrm>
            <a:off x="1582738"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52" name="Google Shape;952;p77"/>
          <p:cNvSpPr txBox="1"/>
          <p:nvPr>
            <p:ph idx="4294967295" type="title"/>
          </p:nvPr>
        </p:nvSpPr>
        <p:spPr>
          <a:xfrm>
            <a:off x="1878968" y="322264"/>
            <a:ext cx="8550275" cy="9699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500"/>
              <a:buFont typeface="Calibri"/>
              <a:buNone/>
            </a:pPr>
            <a:r>
              <a:rPr lang="ru-RU"/>
              <a:t>Проверка на нормальность</a:t>
            </a:r>
            <a:endParaRPr/>
          </a:p>
        </p:txBody>
      </p:sp>
      <p:pic>
        <p:nvPicPr>
          <p:cNvPr descr="типичный квантиль квантиль qq сюжет" id="953" name="Google Shape;953;p77"/>
          <p:cNvPicPr preferRelativeResize="0"/>
          <p:nvPr/>
        </p:nvPicPr>
        <p:blipFill rotWithShape="1">
          <a:blip r:embed="rId3">
            <a:alphaModFix/>
          </a:blip>
          <a:srcRect b="0" l="0" r="0" t="0"/>
          <a:stretch/>
        </p:blipFill>
        <p:spPr>
          <a:xfrm>
            <a:off x="3309789" y="1127586"/>
            <a:ext cx="5688632" cy="5548969"/>
          </a:xfrm>
          <a:prstGeom prst="rect">
            <a:avLst/>
          </a:prstGeom>
          <a:noFill/>
          <a:ln>
            <a:noFill/>
          </a:ln>
        </p:spPr>
      </p:pic>
      <p:sp>
        <p:nvSpPr>
          <p:cNvPr id="954" name="Google Shape;954;p77"/>
          <p:cNvSpPr/>
          <p:nvPr/>
        </p:nvSpPr>
        <p:spPr>
          <a:xfrm>
            <a:off x="4238712" y="6415612"/>
            <a:ext cx="4190827" cy="400110"/>
          </a:xfrm>
          <a:prstGeom prst="rect">
            <a:avLst/>
          </a:prstGeom>
          <a:noFill/>
          <a:ln>
            <a:noFill/>
          </a:ln>
        </p:spPr>
        <p:txBody>
          <a:bodyPr anchorCtr="0" anchor="t" bIns="45700" lIns="91425" spcFirstLastPara="1" rIns="91425" wrap="square" tIns="45700">
            <a:spAutoFit/>
          </a:bodyPr>
          <a:lstStyle/>
          <a:p>
            <a:pPr indent="270510" lvl="0" marL="0" marR="0" rtl="0" algn="ctr">
              <a:spcBef>
                <a:spcPts val="0"/>
              </a:spcBef>
              <a:spcAft>
                <a:spcPts val="0"/>
              </a:spcAft>
              <a:buNone/>
            </a:pPr>
            <a:r>
              <a:rPr lang="ru-RU" sz="2000">
                <a:solidFill>
                  <a:schemeClr val="dk1"/>
                </a:solidFill>
                <a:latin typeface="Times New Roman"/>
                <a:ea typeface="Times New Roman"/>
                <a:cs typeface="Times New Roman"/>
                <a:sym typeface="Times New Roman"/>
              </a:rPr>
              <a:t>Квантильно-квантильный график.</a:t>
            </a:r>
            <a:endParaRPr b="1" i="1" sz="2400">
              <a:solidFill>
                <a:schemeClr val="dk1"/>
              </a:solidFill>
              <a:latin typeface="Arial"/>
              <a:ea typeface="Arial"/>
              <a:cs typeface="Arial"/>
              <a:sym typeface="Arial"/>
            </a:endParaRPr>
          </a:p>
        </p:txBody>
      </p:sp>
      <p:sp>
        <p:nvSpPr>
          <p:cNvPr id="955" name="Google Shape;955;p77"/>
          <p:cNvSpPr txBox="1"/>
          <p:nvPr>
            <p:ph idx="12" type="sldNum"/>
          </p:nvPr>
        </p:nvSpPr>
        <p:spPr>
          <a:xfrm>
            <a:off x="10437813" y="6605015"/>
            <a:ext cx="52117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78"/>
          <p:cNvSpPr/>
          <p:nvPr/>
        </p:nvSpPr>
        <p:spPr>
          <a:xfrm>
            <a:off x="1438275" y="322263"/>
            <a:ext cx="1108853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62" name="Google Shape;962;p78"/>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63" name="Google Shape;963;p78"/>
          <p:cNvSpPr txBox="1"/>
          <p:nvPr>
            <p:ph idx="4294967295" type="title"/>
          </p:nvPr>
        </p:nvSpPr>
        <p:spPr>
          <a:xfrm>
            <a:off x="2130612" y="288925"/>
            <a:ext cx="8550275" cy="110162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500"/>
              <a:buFont typeface="Calibri"/>
              <a:buNone/>
            </a:pPr>
            <a:r>
              <a:rPr lang="ru-RU"/>
              <a:t>Проверка на нормальность</a:t>
            </a:r>
            <a:endParaRPr/>
          </a:p>
        </p:txBody>
      </p:sp>
      <p:sp>
        <p:nvSpPr>
          <p:cNvPr id="964" name="Google Shape;964;p78"/>
          <p:cNvSpPr/>
          <p:nvPr/>
        </p:nvSpPr>
        <p:spPr>
          <a:xfrm>
            <a:off x="2884203" y="1390548"/>
            <a:ext cx="2873859" cy="877163"/>
          </a:xfrm>
          <a:prstGeom prst="rect">
            <a:avLst/>
          </a:prstGeom>
          <a:noFill/>
          <a:ln>
            <a:noFill/>
          </a:ln>
        </p:spPr>
        <p:txBody>
          <a:bodyPr anchorCtr="0" anchor="ctr" bIns="0" lIns="91425" spcFirstLastPara="1" rIns="91425" wrap="square" tIns="45700">
            <a:spAutoFit/>
          </a:bodyPr>
          <a:lstStyle/>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numb=rnorm(100); </a:t>
            </a:r>
            <a:endParaRPr/>
          </a:p>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qqnorm(numb) qqline(numb,col=2)</a:t>
            </a:r>
            <a:r>
              <a:rPr lang="ru-RU" sz="1800">
                <a:solidFill>
                  <a:schemeClr val="dk1"/>
                </a:solidFill>
                <a:latin typeface="Arial"/>
                <a:ea typeface="Arial"/>
                <a:cs typeface="Arial"/>
                <a:sym typeface="Arial"/>
              </a:rPr>
              <a:t> </a:t>
            </a:r>
            <a:endParaRPr/>
          </a:p>
        </p:txBody>
      </p:sp>
      <p:sp>
        <p:nvSpPr>
          <p:cNvPr id="965" name="Google Shape;965;p78"/>
          <p:cNvSpPr/>
          <p:nvPr/>
        </p:nvSpPr>
        <p:spPr>
          <a:xfrm>
            <a:off x="6534302" y="1390547"/>
            <a:ext cx="4516394" cy="877163"/>
          </a:xfrm>
          <a:prstGeom prst="rect">
            <a:avLst/>
          </a:prstGeom>
          <a:noFill/>
          <a:ln>
            <a:noFill/>
          </a:ln>
        </p:spPr>
        <p:txBody>
          <a:bodyPr anchorCtr="0" anchor="ctr" bIns="0" lIns="91425" spcFirstLastPara="1" rIns="91425" wrap="square" tIns="45700">
            <a:spAutoFit/>
          </a:bodyPr>
          <a:lstStyle/>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n&lt;-runif(100, min=-10, max =10)</a:t>
            </a:r>
            <a:endParaRPr/>
          </a:p>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qqnorm(n)</a:t>
            </a:r>
            <a:endParaRPr/>
          </a:p>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qqline(n,col=2)</a:t>
            </a:r>
            <a:endParaRPr sz="4400">
              <a:solidFill>
                <a:schemeClr val="dk1"/>
              </a:solidFill>
              <a:latin typeface="Arial"/>
              <a:ea typeface="Arial"/>
              <a:cs typeface="Arial"/>
              <a:sym typeface="Arial"/>
            </a:endParaRPr>
          </a:p>
        </p:txBody>
      </p:sp>
      <p:pic>
        <p:nvPicPr>
          <p:cNvPr id="966" name="Google Shape;966;p78"/>
          <p:cNvPicPr preferRelativeResize="0"/>
          <p:nvPr/>
        </p:nvPicPr>
        <p:blipFill rotWithShape="1">
          <a:blip r:embed="rId3">
            <a:alphaModFix/>
          </a:blip>
          <a:srcRect b="0" l="0" r="0" t="0"/>
          <a:stretch/>
        </p:blipFill>
        <p:spPr>
          <a:xfrm>
            <a:off x="1950627" y="2825737"/>
            <a:ext cx="4347780" cy="2894207"/>
          </a:xfrm>
          <a:prstGeom prst="rect">
            <a:avLst/>
          </a:prstGeom>
          <a:noFill/>
          <a:ln>
            <a:noFill/>
          </a:ln>
        </p:spPr>
      </p:pic>
      <p:pic>
        <p:nvPicPr>
          <p:cNvPr id="967" name="Google Shape;967;p78"/>
          <p:cNvPicPr preferRelativeResize="0"/>
          <p:nvPr/>
        </p:nvPicPr>
        <p:blipFill rotWithShape="1">
          <a:blip r:embed="rId4">
            <a:alphaModFix/>
          </a:blip>
          <a:srcRect b="0" l="0" r="0" t="0"/>
          <a:stretch/>
        </p:blipFill>
        <p:spPr>
          <a:xfrm>
            <a:off x="6740180" y="2759181"/>
            <a:ext cx="4273896" cy="2960763"/>
          </a:xfrm>
          <a:prstGeom prst="rect">
            <a:avLst/>
          </a:prstGeom>
          <a:noFill/>
          <a:ln>
            <a:noFill/>
          </a:ln>
        </p:spPr>
      </p:pic>
      <p:sp>
        <p:nvSpPr>
          <p:cNvPr id="968" name="Google Shape;968;p78"/>
          <p:cNvSpPr txBox="1"/>
          <p:nvPr>
            <p:ph idx="12" type="sldNum"/>
          </p:nvPr>
        </p:nvSpPr>
        <p:spPr>
          <a:xfrm>
            <a:off x="11590709" y="6496054"/>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79"/>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75" name="Google Shape;975;p79"/>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76" name="Google Shape;976;p79"/>
          <p:cNvSpPr txBox="1"/>
          <p:nvPr>
            <p:ph idx="4294967295" type="title"/>
          </p:nvPr>
        </p:nvSpPr>
        <p:spPr>
          <a:xfrm>
            <a:off x="1942272" y="246565"/>
            <a:ext cx="8550275" cy="114228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500"/>
              <a:buFont typeface="Calibri"/>
              <a:buNone/>
            </a:pPr>
            <a:r>
              <a:rPr lang="ru-RU"/>
              <a:t>Проверка на нормальность</a:t>
            </a:r>
            <a:endParaRPr/>
          </a:p>
        </p:txBody>
      </p:sp>
      <p:sp>
        <p:nvSpPr>
          <p:cNvPr id="977" name="Google Shape;977;p79"/>
          <p:cNvSpPr/>
          <p:nvPr/>
        </p:nvSpPr>
        <p:spPr>
          <a:xfrm>
            <a:off x="2077627" y="1431215"/>
            <a:ext cx="5189111" cy="877163"/>
          </a:xfrm>
          <a:prstGeom prst="rect">
            <a:avLst/>
          </a:prstGeom>
          <a:noFill/>
          <a:ln>
            <a:noFill/>
          </a:ln>
        </p:spPr>
        <p:txBody>
          <a:bodyPr anchorCtr="0" anchor="ctr" bIns="0" lIns="91425" spcFirstLastPara="1" rIns="91425" wrap="square" tIns="45700">
            <a:spAutoFit/>
          </a:bodyPr>
          <a:lstStyle/>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install.packages('car')</a:t>
            </a:r>
            <a:endParaRPr sz="1800">
              <a:solidFill>
                <a:srgbClr val="0000FF"/>
              </a:solidFill>
              <a:latin typeface="Droid Sans Mono"/>
              <a:ea typeface="Droid Sans Mono"/>
              <a:cs typeface="Droid Sans Mono"/>
              <a:sym typeface="Droid Sans Mono"/>
            </a:endParaRPr>
          </a:p>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library(car) </a:t>
            </a:r>
            <a:endParaRPr/>
          </a:p>
          <a:p>
            <a:pPr indent="0" lvl="0" marL="0" marR="0" rtl="0" algn="l">
              <a:spcBef>
                <a:spcPts val="0"/>
              </a:spcBef>
              <a:spcAft>
                <a:spcPts val="0"/>
              </a:spcAft>
              <a:buNone/>
            </a:pPr>
            <a:r>
              <a:rPr lang="ru-RU" sz="1800">
                <a:solidFill>
                  <a:srgbClr val="0000FF"/>
                </a:solidFill>
                <a:latin typeface="Droid Sans Mono"/>
                <a:ea typeface="Droid Sans Mono"/>
                <a:cs typeface="Droid Sans Mono"/>
                <a:sym typeface="Droid Sans Mono"/>
              </a:rPr>
              <a:t>qqPlot(numb)</a:t>
            </a:r>
            <a:endParaRPr sz="1800">
              <a:solidFill>
                <a:srgbClr val="0000FF"/>
              </a:solidFill>
              <a:latin typeface="Droid Sans Mono"/>
              <a:ea typeface="Droid Sans Mono"/>
              <a:cs typeface="Droid Sans Mono"/>
              <a:sym typeface="Droid Sans Mono"/>
            </a:endParaRPr>
          </a:p>
        </p:txBody>
      </p:sp>
      <p:pic>
        <p:nvPicPr>
          <p:cNvPr id="978" name="Google Shape;978;p79"/>
          <p:cNvPicPr preferRelativeResize="0"/>
          <p:nvPr/>
        </p:nvPicPr>
        <p:blipFill rotWithShape="1">
          <a:blip r:embed="rId3">
            <a:alphaModFix/>
          </a:blip>
          <a:srcRect b="0" l="0" r="0" t="0"/>
          <a:stretch/>
        </p:blipFill>
        <p:spPr>
          <a:xfrm>
            <a:off x="1581597" y="2654301"/>
            <a:ext cx="4635812" cy="3163197"/>
          </a:xfrm>
          <a:prstGeom prst="rect">
            <a:avLst/>
          </a:prstGeom>
          <a:noFill/>
          <a:ln>
            <a:noFill/>
          </a:ln>
        </p:spPr>
      </p:pic>
      <p:pic>
        <p:nvPicPr>
          <p:cNvPr id="979" name="Google Shape;979;p79"/>
          <p:cNvPicPr preferRelativeResize="0"/>
          <p:nvPr/>
        </p:nvPicPr>
        <p:blipFill rotWithShape="1">
          <a:blip r:embed="rId4">
            <a:alphaModFix/>
          </a:blip>
          <a:srcRect b="0" l="0" r="0" t="0"/>
          <a:stretch/>
        </p:blipFill>
        <p:spPr>
          <a:xfrm>
            <a:off x="6361871" y="2612007"/>
            <a:ext cx="4660824" cy="3205490"/>
          </a:xfrm>
          <a:prstGeom prst="rect">
            <a:avLst/>
          </a:prstGeom>
          <a:noFill/>
          <a:ln>
            <a:noFill/>
          </a:ln>
        </p:spPr>
      </p:pic>
      <p:sp>
        <p:nvSpPr>
          <p:cNvPr id="980" name="Google Shape;980;p79"/>
          <p:cNvSpPr/>
          <p:nvPr/>
        </p:nvSpPr>
        <p:spPr>
          <a:xfrm>
            <a:off x="7761625" y="1864819"/>
            <a:ext cx="156966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FF"/>
                </a:solidFill>
                <a:latin typeface="Droid Sans Mono"/>
                <a:ea typeface="Droid Sans Mono"/>
                <a:cs typeface="Droid Sans Mono"/>
                <a:sym typeface="Droid Sans Mono"/>
              </a:rPr>
              <a:t>qqPlot(n)</a:t>
            </a:r>
            <a:endParaRPr sz="2000">
              <a:solidFill>
                <a:srgbClr val="0000FF"/>
              </a:solidFill>
              <a:latin typeface="Droid Sans Mono"/>
              <a:ea typeface="Droid Sans Mono"/>
              <a:cs typeface="Droid Sans Mono"/>
              <a:sym typeface="Droid Sans Mono"/>
            </a:endParaRPr>
          </a:p>
        </p:txBody>
      </p:sp>
      <p:sp>
        <p:nvSpPr>
          <p:cNvPr id="981" name="Google Shape;981;p79"/>
          <p:cNvSpPr txBox="1"/>
          <p:nvPr>
            <p:ph idx="12" type="sldNum"/>
          </p:nvPr>
        </p:nvSpPr>
        <p:spPr>
          <a:xfrm>
            <a:off x="11699622" y="6571752"/>
            <a:ext cx="66442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80"/>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88" name="Google Shape;988;p80"/>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89" name="Google Shape;989;p80"/>
          <p:cNvSpPr txBox="1"/>
          <p:nvPr>
            <p:ph idx="4294967295" type="title"/>
          </p:nvPr>
        </p:nvSpPr>
        <p:spPr>
          <a:xfrm>
            <a:off x="1195389" y="288925"/>
            <a:ext cx="8550275" cy="152558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500"/>
              <a:buFont typeface="Calibri"/>
              <a:buNone/>
            </a:pPr>
            <a:r>
              <a:rPr lang="ru-RU"/>
              <a:t>Проверка на нормальность</a:t>
            </a:r>
            <a:endParaRPr/>
          </a:p>
        </p:txBody>
      </p:sp>
      <p:sp>
        <p:nvSpPr>
          <p:cNvPr id="990" name="Google Shape;990;p80"/>
          <p:cNvSpPr txBox="1"/>
          <p:nvPr>
            <p:ph idx="4294967295" type="body"/>
          </p:nvPr>
        </p:nvSpPr>
        <p:spPr>
          <a:xfrm>
            <a:off x="1438275" y="1790621"/>
            <a:ext cx="10352830" cy="3860800"/>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1820"/>
              <a:buFont typeface="Noto Sans Symbols"/>
              <a:buChar char="■"/>
            </a:pPr>
            <a:r>
              <a:rPr lang="ru-RU" sz="2800"/>
              <a:t>Как оказалось, для тех методов, которые рассматриваются в данном курсе, требование нормальности распределения можно заметно ослабить.</a:t>
            </a:r>
            <a:endParaRPr/>
          </a:p>
          <a:p>
            <a:pPr indent="-357188" lvl="0" marL="357188" rtl="0" algn="l">
              <a:spcBef>
                <a:spcPts val="674"/>
              </a:spcBef>
              <a:spcAft>
                <a:spcPts val="0"/>
              </a:spcAft>
              <a:buClr>
                <a:srgbClr val="CC9900"/>
              </a:buClr>
              <a:buSzPts val="1820"/>
              <a:buFont typeface="Noto Sans Symbols"/>
              <a:buChar char="■"/>
            </a:pPr>
            <a:r>
              <a:rPr lang="ru-RU" sz="2800"/>
              <a:t>Эти методы работают не только когда переменные имеют нормальное распределение, но и когда, как говорят, «</a:t>
            </a:r>
            <a:r>
              <a:rPr b="1" i="1" lang="ru-RU" sz="2800"/>
              <a:t>распределение данных несущественно отличается от нормального</a:t>
            </a:r>
            <a:r>
              <a:rPr lang="ru-RU" sz="2800"/>
              <a:t>».</a:t>
            </a:r>
            <a:endParaRPr/>
          </a:p>
        </p:txBody>
      </p:sp>
      <p:sp>
        <p:nvSpPr>
          <p:cNvPr id="991" name="Google Shape;991;p80"/>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81"/>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98" name="Google Shape;998;p81"/>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99" name="Google Shape;999;p81"/>
          <p:cNvSpPr txBox="1"/>
          <p:nvPr>
            <p:ph idx="4294967295" type="title"/>
          </p:nvPr>
        </p:nvSpPr>
        <p:spPr>
          <a:xfrm>
            <a:off x="1195389" y="28892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Существенные отклонения</a:t>
            </a:r>
            <a:endParaRPr/>
          </a:p>
        </p:txBody>
      </p:sp>
      <p:sp>
        <p:nvSpPr>
          <p:cNvPr id="1000" name="Google Shape;1000;p81"/>
          <p:cNvSpPr txBox="1"/>
          <p:nvPr>
            <p:ph idx="4294967295" type="body"/>
          </p:nvPr>
        </p:nvSpPr>
        <p:spPr>
          <a:xfrm>
            <a:off x="1729823" y="1972471"/>
            <a:ext cx="9951106" cy="32686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C9900"/>
              </a:buClr>
              <a:buSzPts val="2080"/>
              <a:buNone/>
            </a:pPr>
            <a:r>
              <a:rPr lang="ru-RU" sz="3200"/>
              <a:t>1.  Наличие выбросов в данных.</a:t>
            </a:r>
            <a:endParaRPr/>
          </a:p>
          <a:p>
            <a:pPr indent="0" lvl="0" marL="0" rtl="0" algn="l">
              <a:spcBef>
                <a:spcPts val="640"/>
              </a:spcBef>
              <a:spcAft>
                <a:spcPts val="0"/>
              </a:spcAft>
              <a:buClr>
                <a:srgbClr val="CC9900"/>
              </a:buClr>
              <a:buSzPts val="2080"/>
              <a:buNone/>
            </a:pPr>
            <a:r>
              <a:rPr lang="ru-RU" sz="3200"/>
              <a:t>2.  Явная асимметрия гистограммы.</a:t>
            </a:r>
            <a:endParaRPr/>
          </a:p>
          <a:p>
            <a:pPr indent="0" lvl="0" marL="0" rtl="0" algn="l">
              <a:spcBef>
                <a:spcPts val="640"/>
              </a:spcBef>
              <a:spcAft>
                <a:spcPts val="0"/>
              </a:spcAft>
              <a:buClr>
                <a:srgbClr val="CC9900"/>
              </a:buClr>
              <a:buSzPts val="2080"/>
              <a:buNone/>
            </a:pPr>
            <a:r>
              <a:rPr lang="ru-RU" sz="3200"/>
              <a:t>3.  Очень сильное отклонение формы гистограммы от колоколообразной формы.</a:t>
            </a:r>
            <a:endParaRPr/>
          </a:p>
        </p:txBody>
      </p:sp>
      <p:sp>
        <p:nvSpPr>
          <p:cNvPr id="1001" name="Google Shape;1001;p81"/>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82"/>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08" name="Google Shape;1008;p82"/>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09" name="Google Shape;1009;p82"/>
          <p:cNvSpPr txBox="1"/>
          <p:nvPr>
            <p:ph idx="4294967295" type="title"/>
          </p:nvPr>
        </p:nvSpPr>
        <p:spPr>
          <a:xfrm>
            <a:off x="3309789" y="288926"/>
            <a:ext cx="64358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500"/>
              <a:buFont typeface="Calibri"/>
              <a:buNone/>
            </a:pPr>
            <a:r>
              <a:rPr lang="ru-RU"/>
              <a:t>Рекомендуется</a:t>
            </a:r>
            <a:endParaRPr/>
          </a:p>
        </p:txBody>
      </p:sp>
      <p:sp>
        <p:nvSpPr>
          <p:cNvPr id="1010" name="Google Shape;1010;p82"/>
          <p:cNvSpPr txBox="1"/>
          <p:nvPr>
            <p:ph idx="4294967295" type="body"/>
          </p:nvPr>
        </p:nvSpPr>
        <p:spPr>
          <a:xfrm>
            <a:off x="1438275" y="1660710"/>
            <a:ext cx="10584482" cy="4708525"/>
          </a:xfrm>
          <a:prstGeom prst="rect">
            <a:avLst/>
          </a:prstGeom>
          <a:noFill/>
          <a:ln>
            <a:noFill/>
          </a:ln>
        </p:spPr>
        <p:txBody>
          <a:bodyPr anchorCtr="0" anchor="t" bIns="45700" lIns="91425" spcFirstLastPara="1" rIns="91425" wrap="square" tIns="45700">
            <a:normAutofit/>
          </a:bodyPr>
          <a:lstStyle/>
          <a:p>
            <a:pPr indent="-623888" lvl="0" marL="623888" rtl="0" algn="l">
              <a:spcBef>
                <a:spcPts val="0"/>
              </a:spcBef>
              <a:spcAft>
                <a:spcPts val="0"/>
              </a:spcAft>
              <a:buClr>
                <a:srgbClr val="CC9900"/>
              </a:buClr>
              <a:buSzPts val="1820"/>
              <a:buFont typeface="Noto Sans Symbols"/>
              <a:buChar char="■"/>
            </a:pPr>
            <a:r>
              <a:rPr lang="ru-RU" sz="2800"/>
              <a:t>строго относиться к присутствию выбросов,</a:t>
            </a:r>
            <a:endParaRPr/>
          </a:p>
          <a:p>
            <a:pPr indent="-623888" lvl="0" marL="623888" rtl="0" algn="l">
              <a:spcBef>
                <a:spcPts val="674"/>
              </a:spcBef>
              <a:spcAft>
                <a:spcPts val="0"/>
              </a:spcAft>
              <a:buClr>
                <a:srgbClr val="CC9900"/>
              </a:buClr>
              <a:buSzPts val="1820"/>
              <a:buFont typeface="Noto Sans Symbols"/>
              <a:buChar char="■"/>
            </a:pPr>
            <a:r>
              <a:rPr lang="ru-RU" sz="2800"/>
              <a:t>снисходительно к отклонениям от симметрии.</a:t>
            </a:r>
            <a:endParaRPr/>
          </a:p>
          <a:p>
            <a:pPr indent="-623888" lvl="0" marL="623888" rtl="0" algn="l">
              <a:spcBef>
                <a:spcPts val="674"/>
              </a:spcBef>
              <a:spcAft>
                <a:spcPts val="0"/>
              </a:spcAft>
              <a:buClr>
                <a:srgbClr val="CC9900"/>
              </a:buClr>
              <a:buSzPts val="1820"/>
              <a:buFont typeface="Noto Sans Symbols"/>
              <a:buChar char="■"/>
            </a:pPr>
            <a:r>
              <a:rPr lang="ru-RU" sz="2800"/>
              <a:t>Наше отношение к колоколообразной форме гистограммы зависит от числа наблюдений. Если имеется меньше 30 наблюдений, наше отношение в высшей степени либерально, если число наблюдений находится между 30 и 150, мы относимся к отклонениям снисходительно, если имеется больше 150 наблюдений – строго.</a:t>
            </a:r>
            <a:endParaRPr/>
          </a:p>
        </p:txBody>
      </p:sp>
      <p:sp>
        <p:nvSpPr>
          <p:cNvPr id="1011" name="Google Shape;1011;p82"/>
          <p:cNvSpPr txBox="1"/>
          <p:nvPr>
            <p:ph idx="12" type="sldNum"/>
          </p:nvPr>
        </p:nvSpPr>
        <p:spPr>
          <a:xfrm>
            <a:off x="11574355" y="6514854"/>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83"/>
          <p:cNvSpPr/>
          <p:nvPr/>
        </p:nvSpPr>
        <p:spPr>
          <a:xfrm>
            <a:off x="1438275" y="322263"/>
            <a:ext cx="1065648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pic>
        <p:nvPicPr>
          <p:cNvPr id="1018" name="Google Shape;1018;p83"/>
          <p:cNvPicPr preferRelativeResize="0"/>
          <p:nvPr/>
        </p:nvPicPr>
        <p:blipFill rotWithShape="1">
          <a:blip r:embed="rId3">
            <a:alphaModFix/>
          </a:blip>
          <a:srcRect b="0" l="0" r="0" t="0"/>
          <a:stretch/>
        </p:blipFill>
        <p:spPr>
          <a:xfrm>
            <a:off x="2877741" y="532573"/>
            <a:ext cx="7560840" cy="6061142"/>
          </a:xfrm>
          <a:prstGeom prst="rect">
            <a:avLst/>
          </a:prstGeom>
          <a:noFill/>
          <a:ln>
            <a:noFill/>
          </a:ln>
        </p:spPr>
      </p:pic>
      <p:sp>
        <p:nvSpPr>
          <p:cNvPr id="1019" name="Google Shape;1019;p83"/>
          <p:cNvSpPr txBox="1"/>
          <p:nvPr>
            <p:ph idx="12" type="sldNum"/>
          </p:nvPr>
        </p:nvSpPr>
        <p:spPr>
          <a:xfrm>
            <a:off x="11124225" y="6438382"/>
            <a:ext cx="109647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84"/>
          <p:cNvSpPr/>
          <p:nvPr/>
        </p:nvSpPr>
        <p:spPr>
          <a:xfrm>
            <a:off x="1438275" y="322263"/>
            <a:ext cx="1058448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pic>
        <p:nvPicPr>
          <p:cNvPr id="1026" name="Google Shape;1026;p84"/>
          <p:cNvPicPr preferRelativeResize="0"/>
          <p:nvPr/>
        </p:nvPicPr>
        <p:blipFill rotWithShape="1">
          <a:blip r:embed="rId3">
            <a:alphaModFix/>
          </a:blip>
          <a:srcRect b="0" l="0" r="0" t="0"/>
          <a:stretch/>
        </p:blipFill>
        <p:spPr>
          <a:xfrm>
            <a:off x="2647535" y="754832"/>
            <a:ext cx="7373183" cy="5941940"/>
          </a:xfrm>
          <a:prstGeom prst="rect">
            <a:avLst/>
          </a:prstGeom>
          <a:noFill/>
          <a:ln>
            <a:noFill/>
          </a:ln>
        </p:spPr>
      </p:pic>
      <p:sp>
        <p:nvSpPr>
          <p:cNvPr id="1027" name="Google Shape;1027;p84"/>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85"/>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34" name="Google Shape;1034;p85"/>
          <p:cNvSpPr/>
          <p:nvPr/>
        </p:nvSpPr>
        <p:spPr>
          <a:xfrm>
            <a:off x="2058353" y="322264"/>
            <a:ext cx="8379460"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35" name="Google Shape;1035;p85"/>
          <p:cNvSpPr txBox="1"/>
          <p:nvPr>
            <p:ph idx="4294967295" type="title"/>
          </p:nvPr>
        </p:nvSpPr>
        <p:spPr>
          <a:xfrm>
            <a:off x="2242151" y="274287"/>
            <a:ext cx="8550275"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Сравнение центров распределений</a:t>
            </a:r>
            <a:endParaRPr/>
          </a:p>
        </p:txBody>
      </p:sp>
      <p:sp>
        <p:nvSpPr>
          <p:cNvPr id="1036" name="Google Shape;1036;p85"/>
          <p:cNvSpPr txBox="1"/>
          <p:nvPr>
            <p:ph idx="4294967295" type="body"/>
          </p:nvPr>
        </p:nvSpPr>
        <p:spPr>
          <a:xfrm>
            <a:off x="1537242" y="1419273"/>
            <a:ext cx="9694979" cy="3457575"/>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2080"/>
              <a:buFont typeface="Noto Sans Symbols"/>
              <a:buChar char="■"/>
            </a:pPr>
            <a:r>
              <a:rPr i="1" lang="ru-RU" sz="3200"/>
              <a:t>Центр распределения</a:t>
            </a:r>
            <a:r>
              <a:rPr lang="ru-RU" sz="3200"/>
              <a:t> - то одно единственное число, которое характеризовало бы выборку.</a:t>
            </a:r>
            <a:endParaRPr/>
          </a:p>
          <a:p>
            <a:pPr indent="-357188" lvl="0" marL="357188" rtl="0" algn="l">
              <a:spcBef>
                <a:spcPts val="640"/>
              </a:spcBef>
              <a:spcAft>
                <a:spcPts val="0"/>
              </a:spcAft>
              <a:buClr>
                <a:srgbClr val="CC9900"/>
              </a:buClr>
              <a:buSzPts val="2080"/>
              <a:buFont typeface="Noto Sans Symbols"/>
              <a:buChar char="■"/>
            </a:pPr>
            <a:r>
              <a:rPr lang="ru-RU" sz="3200"/>
              <a:t>В качестве центра чаще всего используют </a:t>
            </a:r>
            <a:r>
              <a:rPr b="1" i="1" lang="ru-RU" sz="3200">
                <a:solidFill>
                  <a:srgbClr val="0000FF"/>
                </a:solidFill>
              </a:rPr>
              <a:t>среднее арифметическое, медиану или усеченное среднее.</a:t>
            </a:r>
            <a:endParaRPr/>
          </a:p>
        </p:txBody>
      </p:sp>
      <p:sp>
        <p:nvSpPr>
          <p:cNvPr id="1037" name="Google Shape;1037;p85"/>
          <p:cNvSpPr/>
          <p:nvPr/>
        </p:nvSpPr>
        <p:spPr>
          <a:xfrm>
            <a:off x="1295687" y="5575725"/>
            <a:ext cx="982141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1800">
                <a:solidFill>
                  <a:schemeClr val="dk1"/>
                </a:solidFill>
                <a:latin typeface="Arial"/>
                <a:ea typeface="Arial"/>
                <a:cs typeface="Arial"/>
                <a:sym typeface="Arial"/>
              </a:rPr>
              <a:t>Среднее</a:t>
            </a:r>
            <a:r>
              <a:rPr i="1" lang="ru-RU" sz="1800">
                <a:solidFill>
                  <a:schemeClr val="dk1"/>
                </a:solidFill>
                <a:latin typeface="Arial"/>
                <a:ea typeface="Arial"/>
                <a:cs typeface="Arial"/>
                <a:sym typeface="Arial"/>
              </a:rPr>
              <a:t> </a:t>
            </a:r>
            <a:r>
              <a:rPr b="1" i="1" lang="ru-RU" sz="1800">
                <a:solidFill>
                  <a:schemeClr val="dk1"/>
                </a:solidFill>
                <a:latin typeface="Arial"/>
                <a:ea typeface="Arial"/>
                <a:cs typeface="Arial"/>
                <a:sym typeface="Arial"/>
              </a:rPr>
              <a:t>усечённое</a:t>
            </a:r>
            <a:r>
              <a:rPr i="1" lang="ru-RU" sz="1800">
                <a:solidFill>
                  <a:schemeClr val="dk1"/>
                </a:solidFill>
                <a:latin typeface="Arial"/>
                <a:ea typeface="Arial"/>
                <a:cs typeface="Arial"/>
                <a:sym typeface="Arial"/>
              </a:rPr>
              <a:t> представляет собой статистическую меру центральной тенденции, рассчитанную как </a:t>
            </a:r>
            <a:r>
              <a:rPr b="1" i="1" lang="ru-RU" sz="1800">
                <a:solidFill>
                  <a:schemeClr val="dk1"/>
                </a:solidFill>
                <a:latin typeface="Arial"/>
                <a:ea typeface="Arial"/>
                <a:cs typeface="Arial"/>
                <a:sym typeface="Arial"/>
              </a:rPr>
              <a:t>среднее</a:t>
            </a:r>
            <a:r>
              <a:rPr i="1" lang="ru-RU" sz="1800">
                <a:solidFill>
                  <a:schemeClr val="dk1"/>
                </a:solidFill>
                <a:latin typeface="Arial"/>
                <a:ea typeface="Arial"/>
                <a:cs typeface="Arial"/>
                <a:sym typeface="Arial"/>
              </a:rPr>
              <a:t> значение для имеющегося набора данных, из которого исключены k % наибольших и k % наименьших значений.</a:t>
            </a:r>
            <a:endParaRPr/>
          </a:p>
        </p:txBody>
      </p:sp>
      <p:sp>
        <p:nvSpPr>
          <p:cNvPr id="1038" name="Google Shape;1038;p85"/>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86"/>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45" name="Google Shape;1045;p8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46" name="Google Shape;1046;p86"/>
          <p:cNvSpPr txBox="1"/>
          <p:nvPr>
            <p:ph idx="4294967295" type="title"/>
          </p:nvPr>
        </p:nvSpPr>
        <p:spPr>
          <a:xfrm>
            <a:off x="2130612" y="197876"/>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Выбор центра распределения</a:t>
            </a:r>
            <a:endParaRPr/>
          </a:p>
        </p:txBody>
      </p:sp>
      <p:sp>
        <p:nvSpPr>
          <p:cNvPr id="1047" name="Google Shape;1047;p86"/>
          <p:cNvSpPr txBox="1"/>
          <p:nvPr>
            <p:ph idx="4294967295" type="body"/>
          </p:nvPr>
        </p:nvSpPr>
        <p:spPr>
          <a:xfrm>
            <a:off x="1622029" y="1835150"/>
            <a:ext cx="9567439" cy="3455987"/>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1820"/>
              <a:buFont typeface="Noto Sans Symbols"/>
              <a:buChar char="■"/>
            </a:pPr>
            <a:r>
              <a:rPr lang="ru-RU" sz="2800"/>
              <a:t>Если центром распределения выбрана медиана, то центры сравниваются с помощью критерия Манна – Уитни-Вилкоксона (непараметрическое).</a:t>
            </a:r>
            <a:endParaRPr/>
          </a:p>
          <a:p>
            <a:pPr indent="-357188" lvl="0" marL="357188" rtl="0" algn="l">
              <a:spcBef>
                <a:spcPts val="560"/>
              </a:spcBef>
              <a:spcAft>
                <a:spcPts val="0"/>
              </a:spcAft>
              <a:buClr>
                <a:srgbClr val="CC9900"/>
              </a:buClr>
              <a:buSzPts val="1820"/>
              <a:buFont typeface="Noto Sans Symbols"/>
              <a:buChar char="■"/>
            </a:pPr>
            <a:r>
              <a:rPr lang="ru-RU" sz="2800"/>
              <a:t>Если центром распределения выбрано среднее арифметическое, то центры сравниваются с помощью одной из версий  критерия Стьюдента (параметрическое).</a:t>
            </a:r>
            <a:endParaRPr/>
          </a:p>
        </p:txBody>
      </p:sp>
      <p:sp>
        <p:nvSpPr>
          <p:cNvPr id="1048" name="Google Shape;1048;p86"/>
          <p:cNvSpPr txBox="1"/>
          <p:nvPr>
            <p:ph idx="12" type="sldNum"/>
          </p:nvPr>
        </p:nvSpPr>
        <p:spPr>
          <a:xfrm>
            <a:off x="11502347" y="6471241"/>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87"/>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55" name="Google Shape;1055;p87"/>
          <p:cNvSpPr/>
          <p:nvPr/>
        </p:nvSpPr>
        <p:spPr>
          <a:xfrm>
            <a:off x="2401679" y="322264"/>
            <a:ext cx="8036134" cy="1296665"/>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56" name="Google Shape;1056;p87"/>
          <p:cNvSpPr txBox="1"/>
          <p:nvPr>
            <p:ph idx="4294967295" type="title"/>
          </p:nvPr>
        </p:nvSpPr>
        <p:spPr>
          <a:xfrm>
            <a:off x="2171701" y="378933"/>
            <a:ext cx="7588250"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Среднее арифметическое или медиана?</a:t>
            </a:r>
            <a:endParaRPr/>
          </a:p>
        </p:txBody>
      </p:sp>
      <p:sp>
        <p:nvSpPr>
          <p:cNvPr id="1057" name="Google Shape;1057;p87"/>
          <p:cNvSpPr txBox="1"/>
          <p:nvPr>
            <p:ph idx="4294967295" type="body"/>
          </p:nvPr>
        </p:nvSpPr>
        <p:spPr>
          <a:xfrm>
            <a:off x="1466756" y="1834952"/>
            <a:ext cx="10152434" cy="4076700"/>
          </a:xfrm>
          <a:prstGeom prst="rect">
            <a:avLst/>
          </a:prstGeom>
          <a:noFill/>
          <a:ln>
            <a:noFill/>
          </a:ln>
        </p:spPr>
        <p:txBody>
          <a:bodyPr anchorCtr="0" anchor="t" bIns="45700" lIns="91425" spcFirstLastPara="1" rIns="91425" wrap="square" tIns="45700">
            <a:normAutofit/>
          </a:bodyPr>
          <a:lstStyle/>
          <a:p>
            <a:pPr indent="-442913" lvl="0" marL="442913" rtl="0" algn="l">
              <a:spcBef>
                <a:spcPts val="0"/>
              </a:spcBef>
              <a:spcAft>
                <a:spcPts val="0"/>
              </a:spcAft>
              <a:buClr>
                <a:srgbClr val="CC9900"/>
              </a:buClr>
              <a:buSzPts val="1756"/>
              <a:buFont typeface="Noto Sans Symbols"/>
              <a:buChar char="■"/>
            </a:pPr>
            <a:r>
              <a:rPr lang="ru-RU" sz="2702"/>
              <a:t>Если распределение хотя бы одной из выборок существенно отличается от нормального, в качестве центра предлагается использовать медиану.</a:t>
            </a:r>
            <a:endParaRPr/>
          </a:p>
          <a:p>
            <a:pPr indent="-442913" lvl="0" marL="442913" rtl="0" algn="l">
              <a:spcBef>
                <a:spcPts val="674"/>
              </a:spcBef>
              <a:spcAft>
                <a:spcPts val="0"/>
              </a:spcAft>
              <a:buClr>
                <a:srgbClr val="CC9900"/>
              </a:buClr>
              <a:buSzPts val="1756"/>
              <a:buFont typeface="Noto Sans Symbols"/>
              <a:buChar char="■"/>
            </a:pPr>
            <a:r>
              <a:rPr lang="ru-RU" sz="2702"/>
              <a:t>В остальных случаях, то есть если  распределение каждой выборки можно считать нормальным или несущественно отличающимся от нормального, в качестве центра предлагается использовать среднее арифметическое.</a:t>
            </a:r>
            <a:endParaRPr/>
          </a:p>
        </p:txBody>
      </p:sp>
      <p:sp>
        <p:nvSpPr>
          <p:cNvPr id="1058" name="Google Shape;1058;p87"/>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88"/>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64" name="Google Shape;1064;p88"/>
          <p:cNvSpPr/>
          <p:nvPr/>
        </p:nvSpPr>
        <p:spPr>
          <a:xfrm>
            <a:off x="2058353" y="322263"/>
            <a:ext cx="8379460" cy="887144"/>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65" name="Google Shape;1065;p88"/>
          <p:cNvSpPr txBox="1"/>
          <p:nvPr>
            <p:ph type="title"/>
          </p:nvPr>
        </p:nvSpPr>
        <p:spPr>
          <a:xfrm>
            <a:off x="2260770" y="269186"/>
            <a:ext cx="8134001" cy="690434"/>
          </a:xfrm>
          <a:prstGeom prst="rect">
            <a:avLst/>
          </a:prstGeom>
          <a:noFill/>
          <a:ln>
            <a:noFill/>
          </a:ln>
        </p:spPr>
        <p:txBody>
          <a:bodyPr anchorCtr="0" anchor="ctr" bIns="0" lIns="0" spcFirstLastPara="1" rIns="0" wrap="square" tIns="13175">
            <a:spAutoFit/>
          </a:bodyPr>
          <a:lstStyle/>
          <a:p>
            <a:pPr indent="0" lvl="0" marL="13197" rtl="0" algn="ctr">
              <a:spcBef>
                <a:spcPts val="0"/>
              </a:spcBef>
              <a:spcAft>
                <a:spcPts val="0"/>
              </a:spcAft>
              <a:buClr>
                <a:schemeClr val="dk1"/>
              </a:buClr>
              <a:buSzPts val="4400"/>
              <a:buFont typeface="Calibri"/>
              <a:buNone/>
            </a:pPr>
            <a:r>
              <a:rPr lang="ru-RU" sz="4400"/>
              <a:t>Одновыборочные критерии</a:t>
            </a:r>
            <a:endParaRPr/>
          </a:p>
        </p:txBody>
      </p:sp>
      <p:sp>
        <p:nvSpPr>
          <p:cNvPr id="1066" name="Google Shape;1066;p88"/>
          <p:cNvSpPr txBox="1"/>
          <p:nvPr/>
        </p:nvSpPr>
        <p:spPr>
          <a:xfrm>
            <a:off x="1492916" y="1365127"/>
            <a:ext cx="9233697" cy="5255582"/>
          </a:xfrm>
          <a:prstGeom prst="rect">
            <a:avLst/>
          </a:prstGeom>
          <a:noFill/>
          <a:ln>
            <a:noFill/>
          </a:ln>
        </p:spPr>
        <p:txBody>
          <a:bodyPr anchorCtr="0" anchor="t" bIns="0" lIns="0" spcFirstLastPara="1" rIns="0" wrap="square" tIns="102275">
            <a:spAutoFit/>
          </a:bodyPr>
          <a:lstStyle/>
          <a:p>
            <a:pPr indent="0" lvl="0" marL="438786" marR="31672" rtl="0" algn="l">
              <a:spcBef>
                <a:spcPts val="0"/>
              </a:spcBef>
              <a:spcAft>
                <a:spcPts val="0"/>
              </a:spcAft>
              <a:buNone/>
            </a:pPr>
            <a:r>
              <a:rPr lang="ru-RU" sz="2494">
                <a:solidFill>
                  <a:schemeClr val="dk1"/>
                </a:solidFill>
                <a:latin typeface="Arial"/>
                <a:ea typeface="Arial"/>
                <a:cs typeface="Arial"/>
                <a:sym typeface="Arial"/>
              </a:rPr>
              <a:t>Мы хотим узнать, отличается ли средняя масса  землероек в Заповеднике от средней массы землероек = 90 г.</a:t>
            </a:r>
            <a:endParaRPr sz="2494">
              <a:solidFill>
                <a:schemeClr val="dk1"/>
              </a:solidFill>
              <a:latin typeface="Arial"/>
              <a:ea typeface="Arial"/>
              <a:cs typeface="Arial"/>
              <a:sym typeface="Arial"/>
            </a:endParaRPr>
          </a:p>
          <a:p>
            <a:pPr indent="0" lvl="0" marL="438786" marR="0" rtl="0" algn="l">
              <a:spcBef>
                <a:spcPts val="1252"/>
              </a:spcBef>
              <a:spcAft>
                <a:spcPts val="0"/>
              </a:spcAft>
              <a:buNone/>
            </a:pPr>
            <a:r>
              <a:rPr lang="ru-RU" sz="2078">
                <a:solidFill>
                  <a:schemeClr val="dk1"/>
                </a:solidFill>
                <a:latin typeface="Arial"/>
                <a:ea typeface="Arial"/>
                <a:cs typeface="Arial"/>
                <a:sym typeface="Arial"/>
              </a:rPr>
              <a:t>Мы </a:t>
            </a:r>
            <a:r>
              <a:rPr lang="ru-RU" sz="2078" u="sng">
                <a:solidFill>
                  <a:schemeClr val="dk1"/>
                </a:solidFill>
                <a:latin typeface="Arial"/>
                <a:ea typeface="Arial"/>
                <a:cs typeface="Arial"/>
                <a:sym typeface="Arial"/>
              </a:rPr>
              <a:t>знаем</a:t>
            </a:r>
            <a:r>
              <a:rPr lang="ru-RU" sz="2078">
                <a:solidFill>
                  <a:schemeClr val="dk1"/>
                </a:solidFill>
                <a:latin typeface="Arial"/>
                <a:ea typeface="Arial"/>
                <a:cs typeface="Arial"/>
                <a:sym typeface="Arial"/>
              </a:rPr>
              <a:t>, что </a:t>
            </a:r>
            <a:r>
              <a:rPr i="1" lang="ru-RU" sz="2078">
                <a:solidFill>
                  <a:schemeClr val="dk1"/>
                </a:solidFill>
                <a:latin typeface="Arial"/>
                <a:ea typeface="Arial"/>
                <a:cs typeface="Arial"/>
                <a:sym typeface="Arial"/>
              </a:rPr>
              <a:t>μ</a:t>
            </a:r>
            <a:r>
              <a:rPr lang="ru-RU" sz="2078">
                <a:solidFill>
                  <a:schemeClr val="dk1"/>
                </a:solidFill>
                <a:latin typeface="Arial"/>
                <a:ea typeface="Arial"/>
                <a:cs typeface="Arial"/>
                <a:sym typeface="Arial"/>
              </a:rPr>
              <a:t>=90, </a:t>
            </a:r>
            <a:r>
              <a:rPr i="1" lang="ru-RU" sz="2078">
                <a:solidFill>
                  <a:schemeClr val="dk1"/>
                </a:solidFill>
                <a:latin typeface="Arial"/>
                <a:ea typeface="Arial"/>
                <a:cs typeface="Arial"/>
                <a:sym typeface="Arial"/>
              </a:rPr>
              <a:t>σ</a:t>
            </a:r>
            <a:r>
              <a:rPr lang="ru-RU" sz="2078">
                <a:solidFill>
                  <a:schemeClr val="dk1"/>
                </a:solidFill>
                <a:latin typeface="Arial"/>
                <a:ea typeface="Arial"/>
                <a:cs typeface="Arial"/>
                <a:sym typeface="Arial"/>
              </a:rPr>
              <a:t>=20; и собираемся поймать 25 зверьков.</a:t>
            </a:r>
            <a:endParaRPr sz="2078">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2286">
              <a:solidFill>
                <a:schemeClr val="dk1"/>
              </a:solidFill>
              <a:latin typeface="Times New Roman"/>
              <a:ea typeface="Times New Roman"/>
              <a:cs typeface="Times New Roman"/>
              <a:sym typeface="Times New Roman"/>
            </a:endParaRPr>
          </a:p>
          <a:p>
            <a:pPr indent="0" lvl="0" marL="440106" marR="0" rtl="0" algn="l">
              <a:spcBef>
                <a:spcPts val="1579"/>
              </a:spcBef>
              <a:spcAft>
                <a:spcPts val="0"/>
              </a:spcAft>
              <a:buNone/>
            </a:pPr>
            <a:r>
              <a:rPr b="1" lang="ru-RU" sz="2494">
                <a:solidFill>
                  <a:schemeClr val="dk1"/>
                </a:solidFill>
                <a:latin typeface="Arial"/>
                <a:ea typeface="Arial"/>
                <a:cs typeface="Arial"/>
                <a:sym typeface="Arial"/>
              </a:rPr>
              <a:t>1. Формулируем Н</a:t>
            </a:r>
            <a:r>
              <a:rPr b="1" baseline="-25000" lang="ru-RU" sz="2494">
                <a:solidFill>
                  <a:schemeClr val="dk1"/>
                </a:solidFill>
                <a:latin typeface="Arial"/>
                <a:ea typeface="Arial"/>
                <a:cs typeface="Arial"/>
                <a:sym typeface="Arial"/>
              </a:rPr>
              <a:t>0 </a:t>
            </a:r>
            <a:r>
              <a:rPr b="1" lang="ru-RU" sz="2494">
                <a:solidFill>
                  <a:schemeClr val="dk1"/>
                </a:solidFill>
                <a:latin typeface="Arial"/>
                <a:ea typeface="Arial"/>
                <a:cs typeface="Arial"/>
                <a:sym typeface="Arial"/>
              </a:rPr>
              <a:t>и Н</a:t>
            </a:r>
            <a:r>
              <a:rPr b="1" baseline="-25000" lang="ru-RU" sz="2494">
                <a:solidFill>
                  <a:schemeClr val="dk1"/>
                </a:solidFill>
                <a:latin typeface="Arial"/>
                <a:ea typeface="Arial"/>
                <a:cs typeface="Arial"/>
                <a:sym typeface="Arial"/>
              </a:rPr>
              <a:t>1 </a:t>
            </a:r>
            <a:r>
              <a:rPr b="1" lang="ru-RU" sz="2494">
                <a:solidFill>
                  <a:schemeClr val="dk1"/>
                </a:solidFill>
                <a:latin typeface="Arial"/>
                <a:ea typeface="Arial"/>
                <a:cs typeface="Arial"/>
                <a:sym typeface="Arial"/>
              </a:rPr>
              <a:t>:</a:t>
            </a:r>
            <a:endParaRPr sz="2494">
              <a:solidFill>
                <a:schemeClr val="dk1"/>
              </a:solidFill>
              <a:latin typeface="Arial"/>
              <a:ea typeface="Arial"/>
              <a:cs typeface="Arial"/>
              <a:sym typeface="Arial"/>
            </a:endParaRPr>
          </a:p>
          <a:p>
            <a:pPr indent="0" lvl="0" marL="0" marR="5011397" rtl="0" algn="ctr">
              <a:spcBef>
                <a:spcPts val="369"/>
              </a:spcBef>
              <a:spcAft>
                <a:spcPts val="0"/>
              </a:spcAft>
              <a:buNone/>
            </a:pPr>
            <a:r>
              <a:rPr i="1" lang="ru-RU" sz="2961">
                <a:solidFill>
                  <a:schemeClr val="dk1"/>
                </a:solidFill>
                <a:latin typeface="Times New Roman"/>
                <a:ea typeface="Times New Roman"/>
                <a:cs typeface="Times New Roman"/>
                <a:sym typeface="Times New Roman"/>
              </a:rPr>
              <a:t>H </a:t>
            </a:r>
            <a:r>
              <a:rPr baseline="-25000" lang="ru-RU" sz="2572">
                <a:solidFill>
                  <a:schemeClr val="dk1"/>
                </a:solidFill>
                <a:latin typeface="Times New Roman"/>
                <a:ea typeface="Times New Roman"/>
                <a:cs typeface="Times New Roman"/>
                <a:sym typeface="Times New Roman"/>
              </a:rPr>
              <a:t>0 </a:t>
            </a:r>
            <a:r>
              <a:rPr lang="ru-RU" sz="2961">
                <a:solidFill>
                  <a:schemeClr val="dk1"/>
                </a:solidFill>
                <a:latin typeface="Times New Roman"/>
                <a:ea typeface="Times New Roman"/>
                <a:cs typeface="Times New Roman"/>
                <a:sym typeface="Times New Roman"/>
              </a:rPr>
              <a:t>: </a:t>
            </a:r>
            <a:r>
              <a:rPr i="1" lang="ru-RU" sz="3117">
                <a:solidFill>
                  <a:schemeClr val="dk1"/>
                </a:solidFill>
                <a:latin typeface="Noto Sans Symbols"/>
                <a:ea typeface="Noto Sans Symbols"/>
                <a:cs typeface="Noto Sans Symbols"/>
                <a:sym typeface="Noto Sans Symbols"/>
              </a:rPr>
              <a:t>μ</a:t>
            </a:r>
            <a:r>
              <a:rPr i="1" lang="ru-RU" sz="3117">
                <a:solidFill>
                  <a:schemeClr val="dk1"/>
                </a:solidFill>
                <a:latin typeface="Times New Roman"/>
                <a:ea typeface="Times New Roman"/>
                <a:cs typeface="Times New Roman"/>
                <a:sym typeface="Times New Roman"/>
              </a:rPr>
              <a:t> </a:t>
            </a:r>
            <a:r>
              <a:rPr lang="ru-RU" sz="2961">
                <a:solidFill>
                  <a:schemeClr val="dk1"/>
                </a:solidFill>
                <a:latin typeface="Noto Sans Symbols"/>
                <a:ea typeface="Noto Sans Symbols"/>
                <a:cs typeface="Noto Sans Symbols"/>
                <a:sym typeface="Noto Sans Symbols"/>
              </a:rPr>
              <a:t>=</a:t>
            </a:r>
            <a:r>
              <a:rPr lang="ru-RU" sz="2961">
                <a:solidFill>
                  <a:schemeClr val="dk1"/>
                </a:solidFill>
                <a:latin typeface="Times New Roman"/>
                <a:ea typeface="Times New Roman"/>
                <a:cs typeface="Times New Roman"/>
                <a:sym typeface="Times New Roman"/>
              </a:rPr>
              <a:t> 90</a:t>
            </a:r>
            <a:endParaRPr sz="2961">
              <a:solidFill>
                <a:schemeClr val="dk1"/>
              </a:solidFill>
              <a:latin typeface="Times New Roman"/>
              <a:ea typeface="Times New Roman"/>
              <a:cs typeface="Times New Roman"/>
              <a:sym typeface="Times New Roman"/>
            </a:endParaRPr>
          </a:p>
          <a:p>
            <a:pPr indent="0" lvl="0" marL="0" marR="5044389" rtl="0" algn="ctr">
              <a:spcBef>
                <a:spcPts val="920"/>
              </a:spcBef>
              <a:spcAft>
                <a:spcPts val="0"/>
              </a:spcAft>
              <a:buNone/>
            </a:pPr>
            <a:r>
              <a:rPr i="1" lang="ru-RU" sz="2961">
                <a:solidFill>
                  <a:schemeClr val="dk1"/>
                </a:solidFill>
                <a:latin typeface="Times New Roman"/>
                <a:ea typeface="Times New Roman"/>
                <a:cs typeface="Times New Roman"/>
                <a:sym typeface="Times New Roman"/>
              </a:rPr>
              <a:t>H</a:t>
            </a:r>
            <a:r>
              <a:rPr baseline="-25000" lang="ru-RU" sz="2572">
                <a:solidFill>
                  <a:schemeClr val="dk1"/>
                </a:solidFill>
                <a:latin typeface="Times New Roman"/>
                <a:ea typeface="Times New Roman"/>
                <a:cs typeface="Times New Roman"/>
                <a:sym typeface="Times New Roman"/>
              </a:rPr>
              <a:t>1 </a:t>
            </a:r>
            <a:r>
              <a:rPr lang="ru-RU" sz="2961">
                <a:solidFill>
                  <a:schemeClr val="dk1"/>
                </a:solidFill>
                <a:latin typeface="Times New Roman"/>
                <a:ea typeface="Times New Roman"/>
                <a:cs typeface="Times New Roman"/>
                <a:sym typeface="Times New Roman"/>
              </a:rPr>
              <a:t>: </a:t>
            </a:r>
            <a:r>
              <a:rPr i="1" lang="ru-RU" sz="3117">
                <a:solidFill>
                  <a:schemeClr val="dk1"/>
                </a:solidFill>
                <a:latin typeface="Noto Sans Symbols"/>
                <a:ea typeface="Noto Sans Symbols"/>
                <a:cs typeface="Noto Sans Symbols"/>
                <a:sym typeface="Noto Sans Symbols"/>
              </a:rPr>
              <a:t>μ</a:t>
            </a:r>
            <a:r>
              <a:rPr i="1" lang="ru-RU" sz="3117">
                <a:solidFill>
                  <a:schemeClr val="dk1"/>
                </a:solidFill>
                <a:latin typeface="Times New Roman"/>
                <a:ea typeface="Times New Roman"/>
                <a:cs typeface="Times New Roman"/>
                <a:sym typeface="Times New Roman"/>
              </a:rPr>
              <a:t> </a:t>
            </a:r>
            <a:r>
              <a:rPr lang="ru-RU" sz="2961">
                <a:solidFill>
                  <a:schemeClr val="dk1"/>
                </a:solidFill>
                <a:latin typeface="Noto Sans Symbols"/>
                <a:ea typeface="Noto Sans Symbols"/>
                <a:cs typeface="Noto Sans Symbols"/>
                <a:sym typeface="Noto Sans Symbols"/>
              </a:rPr>
              <a:t>≠</a:t>
            </a:r>
            <a:r>
              <a:rPr lang="ru-RU" sz="2961">
                <a:solidFill>
                  <a:schemeClr val="dk1"/>
                </a:solidFill>
                <a:latin typeface="Times New Roman"/>
                <a:ea typeface="Times New Roman"/>
                <a:cs typeface="Times New Roman"/>
                <a:sym typeface="Times New Roman"/>
              </a:rPr>
              <a:t> 90</a:t>
            </a:r>
            <a:endParaRPr sz="2961">
              <a:solidFill>
                <a:schemeClr val="dk1"/>
              </a:solidFill>
              <a:latin typeface="Times New Roman"/>
              <a:ea typeface="Times New Roman"/>
              <a:cs typeface="Times New Roman"/>
              <a:sym typeface="Times New Roman"/>
            </a:endParaRPr>
          </a:p>
          <a:p>
            <a:pPr indent="0" lvl="0" marL="0" marR="5035811" rtl="0" algn="ctr">
              <a:spcBef>
                <a:spcPts val="2000"/>
              </a:spcBef>
              <a:spcAft>
                <a:spcPts val="0"/>
              </a:spcAft>
              <a:buNone/>
            </a:pPr>
            <a:r>
              <a:rPr lang="ru-RU" sz="2078">
                <a:solidFill>
                  <a:schemeClr val="dk1"/>
                </a:solidFill>
                <a:latin typeface="Arial"/>
                <a:ea typeface="Arial"/>
                <a:cs typeface="Arial"/>
                <a:sym typeface="Arial"/>
              </a:rPr>
              <a:t>Рисуем 3 распределения:</a:t>
            </a:r>
            <a:endParaRPr sz="2078">
              <a:solidFill>
                <a:schemeClr val="dk1"/>
              </a:solidFill>
              <a:latin typeface="Arial"/>
              <a:ea typeface="Arial"/>
              <a:cs typeface="Arial"/>
              <a:sym typeface="Arial"/>
            </a:endParaRPr>
          </a:p>
          <a:p>
            <a:pPr indent="0" lvl="0" marL="0" marR="0" rtl="0" algn="l">
              <a:spcBef>
                <a:spcPts val="21"/>
              </a:spcBef>
              <a:spcAft>
                <a:spcPts val="0"/>
              </a:spcAft>
              <a:buNone/>
            </a:pPr>
            <a:r>
              <a:t/>
            </a:r>
            <a:endParaRPr sz="1921">
              <a:solidFill>
                <a:schemeClr val="dk1"/>
              </a:solidFill>
              <a:latin typeface="Times New Roman"/>
              <a:ea typeface="Times New Roman"/>
              <a:cs typeface="Times New Roman"/>
              <a:sym typeface="Times New Roman"/>
            </a:endParaRPr>
          </a:p>
          <a:p>
            <a:pPr indent="-165617" lvl="0" marL="605063" marR="0" rtl="0" algn="l">
              <a:spcBef>
                <a:spcPts val="5"/>
              </a:spcBef>
              <a:spcAft>
                <a:spcPts val="0"/>
              </a:spcAft>
              <a:buClr>
                <a:schemeClr val="dk1"/>
              </a:buClr>
              <a:buSzPts val="2078"/>
              <a:buFont typeface="Arial"/>
              <a:buChar char="•"/>
            </a:pPr>
            <a:r>
              <a:rPr lang="ru-RU" sz="2078">
                <a:solidFill>
                  <a:schemeClr val="dk1"/>
                </a:solidFill>
                <a:latin typeface="Arial"/>
                <a:ea typeface="Arial"/>
                <a:cs typeface="Arial"/>
                <a:sym typeface="Arial"/>
              </a:rPr>
              <a:t>просто масса землероек этого вида со средним=90 г.</a:t>
            </a:r>
            <a:endParaRPr sz="2078">
              <a:solidFill>
                <a:schemeClr val="dk1"/>
              </a:solidFill>
              <a:latin typeface="Arial"/>
              <a:ea typeface="Arial"/>
              <a:cs typeface="Arial"/>
              <a:sym typeface="Arial"/>
            </a:endParaRPr>
          </a:p>
          <a:p>
            <a:pPr indent="-165617" lvl="0" marL="605063" marR="0" rtl="0" algn="l">
              <a:spcBef>
                <a:spcPts val="0"/>
              </a:spcBef>
              <a:spcAft>
                <a:spcPts val="0"/>
              </a:spcAft>
              <a:buClr>
                <a:schemeClr val="dk1"/>
              </a:buClr>
              <a:buSzPts val="2078"/>
              <a:buFont typeface="Arial"/>
              <a:buChar char="•"/>
            </a:pPr>
            <a:r>
              <a:rPr lang="ru-RU" sz="2078">
                <a:solidFill>
                  <a:schemeClr val="dk1"/>
                </a:solidFill>
                <a:latin typeface="Arial"/>
                <a:ea typeface="Arial"/>
                <a:cs typeface="Arial"/>
                <a:sym typeface="Arial"/>
              </a:rPr>
              <a:t>распределение </a:t>
            </a:r>
            <a:r>
              <a:rPr lang="ru-RU" sz="2078" u="sng">
                <a:solidFill>
                  <a:schemeClr val="dk1"/>
                </a:solidFill>
                <a:latin typeface="Arial"/>
                <a:ea typeface="Arial"/>
                <a:cs typeface="Arial"/>
                <a:sym typeface="Arial"/>
              </a:rPr>
              <a:t>выборочных средних</a:t>
            </a:r>
            <a:r>
              <a:rPr lang="ru-RU" sz="2078">
                <a:solidFill>
                  <a:schemeClr val="dk1"/>
                </a:solidFill>
                <a:latin typeface="Arial"/>
                <a:ea typeface="Arial"/>
                <a:cs typeface="Arial"/>
                <a:sym typeface="Arial"/>
              </a:rPr>
              <a:t> для выборок N=25</a:t>
            </a:r>
            <a:endParaRPr/>
          </a:p>
          <a:p>
            <a:pPr indent="-165617" lvl="0" marL="605063" marR="0" rtl="0" algn="l">
              <a:spcBef>
                <a:spcPts val="0"/>
              </a:spcBef>
              <a:spcAft>
                <a:spcPts val="0"/>
              </a:spcAft>
              <a:buClr>
                <a:schemeClr val="dk1"/>
              </a:buClr>
              <a:buSzPts val="2078"/>
              <a:buFont typeface="Arial"/>
              <a:buChar char="•"/>
            </a:pPr>
            <a:r>
              <a:rPr lang="ru-RU" sz="2078">
                <a:solidFill>
                  <a:schemeClr val="dk1"/>
                </a:solidFill>
                <a:latin typeface="Arial"/>
                <a:ea typeface="Arial"/>
                <a:cs typeface="Arial"/>
                <a:sym typeface="Arial"/>
              </a:rPr>
              <a:t>распределение </a:t>
            </a:r>
            <a:r>
              <a:rPr lang="ru-RU" sz="2078" u="sng">
                <a:solidFill>
                  <a:schemeClr val="dk1"/>
                </a:solidFill>
                <a:latin typeface="Arial"/>
                <a:ea typeface="Arial"/>
                <a:cs typeface="Arial"/>
                <a:sym typeface="Arial"/>
              </a:rPr>
              <a:t>статистики критерия</a:t>
            </a:r>
            <a:r>
              <a:rPr lang="ru-RU" sz="2078">
                <a:solidFill>
                  <a:schemeClr val="dk1"/>
                </a:solidFill>
                <a:latin typeface="Arial"/>
                <a:ea typeface="Arial"/>
                <a:cs typeface="Arial"/>
                <a:sym typeface="Arial"/>
              </a:rPr>
              <a:t> </a:t>
            </a:r>
            <a:r>
              <a:rPr i="1" lang="ru-RU" sz="2078">
                <a:solidFill>
                  <a:schemeClr val="dk1"/>
                </a:solidFill>
                <a:latin typeface="Arial"/>
                <a:ea typeface="Arial"/>
                <a:cs typeface="Arial"/>
                <a:sym typeface="Arial"/>
              </a:rPr>
              <a:t>z</a:t>
            </a:r>
            <a:endParaRPr sz="2078">
              <a:solidFill>
                <a:schemeClr val="dk1"/>
              </a:solidFill>
              <a:latin typeface="Arial"/>
              <a:ea typeface="Arial"/>
              <a:cs typeface="Arial"/>
              <a:sym typeface="Arial"/>
            </a:endParaRPr>
          </a:p>
        </p:txBody>
      </p:sp>
      <p:sp>
        <p:nvSpPr>
          <p:cNvPr id="1067" name="Google Shape;1067;p88"/>
          <p:cNvSpPr/>
          <p:nvPr/>
        </p:nvSpPr>
        <p:spPr>
          <a:xfrm>
            <a:off x="5735385" y="3038438"/>
            <a:ext cx="4620474" cy="183937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68" name="Google Shape;1068;p88"/>
          <p:cNvSpPr/>
          <p:nvPr/>
        </p:nvSpPr>
        <p:spPr>
          <a:xfrm>
            <a:off x="9027000" y="5033532"/>
            <a:ext cx="1987077" cy="1156342"/>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69" name="Google Shape;1069;p88"/>
          <p:cNvSpPr/>
          <p:nvPr/>
        </p:nvSpPr>
        <p:spPr>
          <a:xfrm>
            <a:off x="2764011" y="854725"/>
            <a:ext cx="7673803" cy="400110"/>
          </a:xfrm>
          <a:prstGeom prst="rect">
            <a:avLst/>
          </a:prstGeom>
          <a:noFill/>
          <a:ln>
            <a:noFill/>
          </a:ln>
        </p:spPr>
        <p:txBody>
          <a:bodyPr anchorCtr="0" anchor="t" bIns="45700" lIns="91425" spcFirstLastPara="1" rIns="91425" wrap="square" tIns="45700">
            <a:spAutoFit/>
          </a:bodyPr>
          <a:lstStyle/>
          <a:p>
            <a:pPr indent="0" lvl="0" marL="344430" marR="0" rtl="0" algn="l">
              <a:spcBef>
                <a:spcPts val="0"/>
              </a:spcBef>
              <a:spcAft>
                <a:spcPts val="0"/>
              </a:spcAft>
              <a:buNone/>
            </a:pPr>
            <a:r>
              <a:rPr lang="ru-RU" sz="2000">
                <a:solidFill>
                  <a:srgbClr val="CC0000"/>
                </a:solidFill>
                <a:latin typeface="Arial"/>
                <a:ea typeface="Arial"/>
                <a:cs typeface="Arial"/>
                <a:sym typeface="Arial"/>
              </a:rPr>
              <a:t>сравнивающие среднее значение с заданным числом.</a:t>
            </a:r>
            <a:endParaRPr sz="2000">
              <a:solidFill>
                <a:schemeClr val="dk1"/>
              </a:solidFill>
              <a:latin typeface="Arial"/>
              <a:ea typeface="Arial"/>
              <a:cs typeface="Arial"/>
              <a:sym typeface="Arial"/>
            </a:endParaRPr>
          </a:p>
        </p:txBody>
      </p:sp>
      <p:sp>
        <p:nvSpPr>
          <p:cNvPr id="1070" name="Google Shape;1070;p88"/>
          <p:cNvSpPr txBox="1"/>
          <p:nvPr>
            <p:ph idx="12" type="sldNum"/>
          </p:nvPr>
        </p:nvSpPr>
        <p:spPr>
          <a:xfrm>
            <a:off x="11402511" y="6568285"/>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89"/>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76" name="Google Shape;1076;p89"/>
          <p:cNvSpPr/>
          <p:nvPr/>
        </p:nvSpPr>
        <p:spPr>
          <a:xfrm>
            <a:off x="2058353" y="322264"/>
            <a:ext cx="8379460" cy="860019"/>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77" name="Google Shape;1077;p89"/>
          <p:cNvSpPr/>
          <p:nvPr/>
        </p:nvSpPr>
        <p:spPr>
          <a:xfrm>
            <a:off x="4489440" y="2749110"/>
            <a:ext cx="356314" cy="0"/>
          </a:xfrm>
          <a:custGeom>
            <a:rect b="b" l="l" r="r" t="t"/>
            <a:pathLst>
              <a:path extrusionOk="0" h="120000" w="342900">
                <a:moveTo>
                  <a:pt x="0" y="0"/>
                </a:moveTo>
                <a:lnTo>
                  <a:pt x="342785" y="0"/>
                </a:lnTo>
              </a:path>
            </a:pathLst>
          </a:custGeom>
          <a:noFill/>
          <a:ln cap="flat" cmpd="sng" w="182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78" name="Google Shape;1078;p89"/>
          <p:cNvSpPr/>
          <p:nvPr/>
        </p:nvSpPr>
        <p:spPr>
          <a:xfrm>
            <a:off x="5033228" y="3712962"/>
            <a:ext cx="207190" cy="0"/>
          </a:xfrm>
          <a:custGeom>
            <a:rect b="b" l="l" r="r" t="t"/>
            <a:pathLst>
              <a:path extrusionOk="0" h="120000" w="199389">
                <a:moveTo>
                  <a:pt x="0" y="0"/>
                </a:moveTo>
                <a:lnTo>
                  <a:pt x="198875" y="0"/>
                </a:lnTo>
              </a:path>
            </a:pathLst>
          </a:custGeom>
          <a:noFill/>
          <a:ln cap="flat" cmpd="sng" w="10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79" name="Google Shape;1079;p89"/>
          <p:cNvSpPr/>
          <p:nvPr/>
        </p:nvSpPr>
        <p:spPr>
          <a:xfrm>
            <a:off x="4452278" y="3334910"/>
            <a:ext cx="1122390" cy="0"/>
          </a:xfrm>
          <a:custGeom>
            <a:rect b="b" l="l" r="r" t="t"/>
            <a:pathLst>
              <a:path extrusionOk="0" h="120000" w="1080135">
                <a:moveTo>
                  <a:pt x="0" y="0"/>
                </a:moveTo>
                <a:lnTo>
                  <a:pt x="1079790" y="0"/>
                </a:lnTo>
              </a:path>
            </a:pathLst>
          </a:custGeom>
          <a:noFill/>
          <a:ln cap="flat" cmpd="sng" w="182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80" name="Google Shape;1080;p89"/>
          <p:cNvSpPr txBox="1"/>
          <p:nvPr/>
        </p:nvSpPr>
        <p:spPr>
          <a:xfrm>
            <a:off x="5036351" y="3689406"/>
            <a:ext cx="180797" cy="327941"/>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i="1" lang="ru-RU" sz="1974">
                <a:solidFill>
                  <a:schemeClr val="dk1"/>
                </a:solidFill>
                <a:latin typeface="Times New Roman"/>
                <a:ea typeface="Times New Roman"/>
                <a:cs typeface="Times New Roman"/>
                <a:sym typeface="Times New Roman"/>
              </a:rPr>
              <a:t>X</a:t>
            </a:r>
            <a:endParaRPr sz="1974">
              <a:solidFill>
                <a:schemeClr val="dk1"/>
              </a:solidFill>
              <a:latin typeface="Times New Roman"/>
              <a:ea typeface="Times New Roman"/>
              <a:cs typeface="Times New Roman"/>
              <a:sym typeface="Times New Roman"/>
            </a:endParaRPr>
          </a:p>
        </p:txBody>
      </p:sp>
      <p:sp>
        <p:nvSpPr>
          <p:cNvPr id="1081" name="Google Shape;1081;p89"/>
          <p:cNvSpPr txBox="1"/>
          <p:nvPr/>
        </p:nvSpPr>
        <p:spPr>
          <a:xfrm>
            <a:off x="4690132" y="3328224"/>
            <a:ext cx="287691" cy="583600"/>
          </a:xfrm>
          <a:prstGeom prst="rect">
            <a:avLst/>
          </a:prstGeom>
          <a:noFill/>
          <a:ln>
            <a:noFill/>
          </a:ln>
        </p:spPr>
        <p:txBody>
          <a:bodyPr anchorCtr="0" anchor="t" bIns="0" lIns="0" spcFirstLastPara="1" rIns="0" wrap="square" tIns="18475">
            <a:spAutoFit/>
          </a:bodyPr>
          <a:lstStyle/>
          <a:p>
            <a:pPr indent="0" lvl="0" marL="13197" marR="0" rtl="0" algn="l">
              <a:spcBef>
                <a:spcPts val="0"/>
              </a:spcBef>
              <a:spcAft>
                <a:spcPts val="0"/>
              </a:spcAft>
              <a:buNone/>
            </a:pPr>
            <a:r>
              <a:rPr i="1" lang="ru-RU" sz="3533">
                <a:solidFill>
                  <a:schemeClr val="dk1"/>
                </a:solidFill>
                <a:latin typeface="Noto Sans Symbols"/>
                <a:ea typeface="Noto Sans Symbols"/>
                <a:cs typeface="Noto Sans Symbols"/>
                <a:sym typeface="Noto Sans Symbols"/>
              </a:rPr>
              <a:t>σ</a:t>
            </a:r>
            <a:endParaRPr sz="3533">
              <a:solidFill>
                <a:schemeClr val="dk1"/>
              </a:solidFill>
              <a:latin typeface="Noto Sans Symbols"/>
              <a:ea typeface="Noto Sans Symbols"/>
              <a:cs typeface="Noto Sans Symbols"/>
              <a:sym typeface="Noto Sans Symbols"/>
            </a:endParaRPr>
          </a:p>
        </p:txBody>
      </p:sp>
      <p:sp>
        <p:nvSpPr>
          <p:cNvPr id="1082" name="Google Shape;1082;p89"/>
          <p:cNvSpPr txBox="1"/>
          <p:nvPr/>
        </p:nvSpPr>
        <p:spPr>
          <a:xfrm>
            <a:off x="4504356" y="2698441"/>
            <a:ext cx="1022754" cy="562331"/>
          </a:xfrm>
          <a:prstGeom prst="rect">
            <a:avLst/>
          </a:prstGeom>
          <a:noFill/>
          <a:ln>
            <a:noFill/>
          </a:ln>
        </p:spPr>
        <p:txBody>
          <a:bodyPr anchorCtr="0" anchor="t" bIns="0" lIns="0" spcFirstLastPara="1" rIns="0" wrap="square" tIns="18475">
            <a:spAutoFit/>
          </a:bodyPr>
          <a:lstStyle/>
          <a:p>
            <a:pPr indent="0" lvl="0" marL="13197" marR="0" rtl="0" algn="l">
              <a:spcBef>
                <a:spcPts val="0"/>
              </a:spcBef>
              <a:spcAft>
                <a:spcPts val="0"/>
              </a:spcAft>
              <a:buNone/>
            </a:pPr>
            <a:r>
              <a:rPr i="1" lang="ru-RU" sz="3377">
                <a:solidFill>
                  <a:schemeClr val="dk1"/>
                </a:solidFill>
                <a:latin typeface="Times New Roman"/>
                <a:ea typeface="Times New Roman"/>
                <a:cs typeface="Times New Roman"/>
                <a:sym typeface="Times New Roman"/>
              </a:rPr>
              <a:t>X </a:t>
            </a:r>
            <a:r>
              <a:rPr lang="ru-RU" sz="3377">
                <a:solidFill>
                  <a:schemeClr val="dk1"/>
                </a:solidFill>
                <a:latin typeface="Noto Sans Symbols"/>
                <a:ea typeface="Noto Sans Symbols"/>
                <a:cs typeface="Noto Sans Symbols"/>
                <a:sym typeface="Noto Sans Symbols"/>
              </a:rPr>
              <a:t>−</a:t>
            </a:r>
            <a:r>
              <a:rPr lang="ru-RU" sz="3377">
                <a:solidFill>
                  <a:schemeClr val="dk1"/>
                </a:solidFill>
                <a:latin typeface="Times New Roman"/>
                <a:ea typeface="Times New Roman"/>
                <a:cs typeface="Times New Roman"/>
                <a:sym typeface="Times New Roman"/>
              </a:rPr>
              <a:t> </a:t>
            </a:r>
            <a:r>
              <a:rPr i="1" lang="ru-RU" sz="3533">
                <a:solidFill>
                  <a:schemeClr val="dk1"/>
                </a:solidFill>
                <a:latin typeface="Noto Sans Symbols"/>
                <a:ea typeface="Noto Sans Symbols"/>
                <a:cs typeface="Noto Sans Symbols"/>
                <a:sym typeface="Noto Sans Symbols"/>
              </a:rPr>
              <a:t>μ</a:t>
            </a:r>
            <a:endParaRPr sz="3533">
              <a:solidFill>
                <a:schemeClr val="dk1"/>
              </a:solidFill>
              <a:latin typeface="Noto Sans Symbols"/>
              <a:ea typeface="Noto Sans Symbols"/>
              <a:cs typeface="Noto Sans Symbols"/>
              <a:sym typeface="Noto Sans Symbols"/>
            </a:endParaRPr>
          </a:p>
        </p:txBody>
      </p:sp>
      <p:sp>
        <p:nvSpPr>
          <p:cNvPr id="1083" name="Google Shape;1083;p89"/>
          <p:cNvSpPr txBox="1"/>
          <p:nvPr/>
        </p:nvSpPr>
        <p:spPr>
          <a:xfrm>
            <a:off x="3790177" y="3002669"/>
            <a:ext cx="556906" cy="554682"/>
          </a:xfrm>
          <a:prstGeom prst="rect">
            <a:avLst/>
          </a:prstGeom>
          <a:noFill/>
          <a:ln>
            <a:noFill/>
          </a:ln>
        </p:spPr>
        <p:txBody>
          <a:bodyPr anchorCtr="0" anchor="t" bIns="0" lIns="0" spcFirstLastPara="1" rIns="0" wrap="square" tIns="14500">
            <a:spAutoFit/>
          </a:bodyPr>
          <a:lstStyle/>
          <a:p>
            <a:pPr indent="0" lvl="0" marL="13197" marR="0" rtl="0" algn="l">
              <a:spcBef>
                <a:spcPts val="0"/>
              </a:spcBef>
              <a:spcAft>
                <a:spcPts val="0"/>
              </a:spcAft>
              <a:buNone/>
            </a:pPr>
            <a:r>
              <a:rPr i="1" lang="ru-RU" sz="3377">
                <a:solidFill>
                  <a:schemeClr val="dk1"/>
                </a:solidFill>
                <a:latin typeface="Times New Roman"/>
                <a:ea typeface="Times New Roman"/>
                <a:cs typeface="Times New Roman"/>
                <a:sym typeface="Times New Roman"/>
              </a:rPr>
              <a:t>z </a:t>
            </a:r>
            <a:r>
              <a:rPr lang="ru-RU" sz="3377">
                <a:solidFill>
                  <a:schemeClr val="dk1"/>
                </a:solidFill>
                <a:latin typeface="Noto Sans Symbols"/>
                <a:ea typeface="Noto Sans Symbols"/>
                <a:cs typeface="Noto Sans Symbols"/>
                <a:sym typeface="Noto Sans Symbols"/>
              </a:rPr>
              <a:t>=</a:t>
            </a:r>
            <a:endParaRPr sz="3377">
              <a:solidFill>
                <a:schemeClr val="dk1"/>
              </a:solidFill>
              <a:latin typeface="Noto Sans Symbols"/>
              <a:ea typeface="Noto Sans Symbols"/>
              <a:cs typeface="Noto Sans Symbols"/>
              <a:sym typeface="Noto Sans Symbols"/>
            </a:endParaRPr>
          </a:p>
        </p:txBody>
      </p:sp>
      <p:sp>
        <p:nvSpPr>
          <p:cNvPr id="1084" name="Google Shape;1084;p89"/>
          <p:cNvSpPr/>
          <p:nvPr/>
        </p:nvSpPr>
        <p:spPr>
          <a:xfrm>
            <a:off x="3709672" y="2660745"/>
            <a:ext cx="1955110" cy="1394245"/>
          </a:xfrm>
          <a:custGeom>
            <a:rect b="b" l="l" r="r" t="t"/>
            <a:pathLst>
              <a:path extrusionOk="0" h="1341754" w="1881504">
                <a:moveTo>
                  <a:pt x="0" y="1341501"/>
                </a:moveTo>
                <a:lnTo>
                  <a:pt x="1881251" y="1341501"/>
                </a:lnTo>
                <a:lnTo>
                  <a:pt x="1881251" y="0"/>
                </a:lnTo>
                <a:lnTo>
                  <a:pt x="0" y="0"/>
                </a:lnTo>
                <a:lnTo>
                  <a:pt x="0" y="1341501"/>
                </a:lnTo>
                <a:close/>
              </a:path>
            </a:pathLst>
          </a:custGeom>
          <a:noFill/>
          <a:ln cap="flat" cmpd="sng" w="9525">
            <a:solidFill>
              <a:srgbClr val="6699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grpSp>
        <p:nvGrpSpPr>
          <p:cNvPr id="1085" name="Google Shape;1085;p89"/>
          <p:cNvGrpSpPr/>
          <p:nvPr/>
        </p:nvGrpSpPr>
        <p:grpSpPr>
          <a:xfrm>
            <a:off x="1887903" y="1346943"/>
            <a:ext cx="8422033" cy="827010"/>
            <a:chOff x="707529" y="1196557"/>
            <a:chExt cx="8422033" cy="827010"/>
          </a:xfrm>
        </p:grpSpPr>
        <p:sp>
          <p:nvSpPr>
            <p:cNvPr id="1086" name="Google Shape;1086;p89"/>
            <p:cNvSpPr txBox="1"/>
            <p:nvPr/>
          </p:nvSpPr>
          <p:spPr>
            <a:xfrm>
              <a:off x="707529" y="1470074"/>
              <a:ext cx="1965008"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Статистика =</a:t>
              </a:r>
              <a:endParaRPr/>
            </a:p>
          </p:txBody>
        </p:sp>
        <p:sp>
          <p:nvSpPr>
            <p:cNvPr id="1087" name="Google Shape;1087;p89"/>
            <p:cNvSpPr/>
            <p:nvPr/>
          </p:nvSpPr>
          <p:spPr>
            <a:xfrm>
              <a:off x="2844572" y="1667684"/>
              <a:ext cx="6284990" cy="660"/>
            </a:xfrm>
            <a:custGeom>
              <a:rect b="b" l="l" r="r" t="t"/>
              <a:pathLst>
                <a:path extrusionOk="0" h="634" w="6048375">
                  <a:moveTo>
                    <a:pt x="0" y="126"/>
                  </a:moveTo>
                  <a:lnTo>
                    <a:pt x="6048375"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88" name="Google Shape;1088;p89"/>
            <p:cNvSpPr txBox="1"/>
            <p:nvPr/>
          </p:nvSpPr>
          <p:spPr>
            <a:xfrm>
              <a:off x="2831111" y="1196557"/>
              <a:ext cx="6173476" cy="827010"/>
            </a:xfrm>
            <a:prstGeom prst="rect">
              <a:avLst/>
            </a:prstGeom>
            <a:noFill/>
            <a:ln>
              <a:noFill/>
            </a:ln>
          </p:spPr>
          <p:txBody>
            <a:bodyPr anchorCtr="0" anchor="t" bIns="0" lIns="0" spcFirstLastPara="1" rIns="0" wrap="square" tIns="13175">
              <a:spAutoFit/>
            </a:bodyPr>
            <a:lstStyle/>
            <a:p>
              <a:pPr indent="-95675" lvl="0" marL="108872" marR="5279" rtl="0" algn="l">
                <a:lnSpc>
                  <a:spcPct val="105500"/>
                </a:lnSpc>
                <a:spcBef>
                  <a:spcPts val="0"/>
                </a:spcBef>
                <a:spcAft>
                  <a:spcPts val="0"/>
                </a:spcAft>
                <a:buNone/>
              </a:pPr>
              <a:r>
                <a:rPr lang="ru-RU" sz="2494">
                  <a:solidFill>
                    <a:schemeClr val="dk1"/>
                  </a:solidFill>
                  <a:latin typeface="Arial"/>
                  <a:ea typeface="Arial"/>
                  <a:cs typeface="Arial"/>
                  <a:sym typeface="Arial"/>
                </a:rPr>
                <a:t>параметр выборки – параметр популяции  стандартная ошибка параметра выборки</a:t>
              </a:r>
              <a:endParaRPr sz="2494">
                <a:solidFill>
                  <a:schemeClr val="dk1"/>
                </a:solidFill>
                <a:latin typeface="Arial"/>
                <a:ea typeface="Arial"/>
                <a:cs typeface="Arial"/>
                <a:sym typeface="Arial"/>
              </a:endParaRPr>
            </a:p>
          </p:txBody>
        </p:sp>
      </p:grpSp>
      <p:sp>
        <p:nvSpPr>
          <p:cNvPr id="1089" name="Google Shape;1089;p89"/>
          <p:cNvSpPr/>
          <p:nvPr/>
        </p:nvSpPr>
        <p:spPr>
          <a:xfrm>
            <a:off x="6632769" y="2303742"/>
            <a:ext cx="2757254" cy="16709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90" name="Google Shape;1090;p89"/>
          <p:cNvSpPr/>
          <p:nvPr/>
        </p:nvSpPr>
        <p:spPr>
          <a:xfrm>
            <a:off x="6482590" y="4148764"/>
            <a:ext cx="3054565" cy="194529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91" name="Google Shape;1091;p89"/>
          <p:cNvSpPr/>
          <p:nvPr/>
        </p:nvSpPr>
        <p:spPr>
          <a:xfrm>
            <a:off x="2924986" y="4673190"/>
            <a:ext cx="2052837" cy="188143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92" name="Google Shape;1092;p89"/>
          <p:cNvSpPr txBox="1"/>
          <p:nvPr/>
        </p:nvSpPr>
        <p:spPr>
          <a:xfrm>
            <a:off x="1653533" y="2152963"/>
            <a:ext cx="2778592" cy="333760"/>
          </a:xfrm>
          <a:prstGeom prst="rect">
            <a:avLst/>
          </a:prstGeom>
          <a:noFill/>
          <a:ln>
            <a:noFill/>
          </a:ln>
        </p:spPr>
        <p:txBody>
          <a:bodyPr anchorCtr="0" anchor="t" bIns="0" lIns="0" spcFirstLastPara="1" rIns="0" wrap="square" tIns="13850">
            <a:spAutoFit/>
          </a:bodyPr>
          <a:lstStyle/>
          <a:p>
            <a:pPr indent="0" lvl="0" marL="13197" marR="0" rtl="0" algn="l">
              <a:spcBef>
                <a:spcPts val="0"/>
              </a:spcBef>
              <a:spcAft>
                <a:spcPts val="0"/>
              </a:spcAft>
              <a:buNone/>
            </a:pPr>
            <a:r>
              <a:rPr lang="ru-RU" sz="2078">
                <a:solidFill>
                  <a:schemeClr val="dk1"/>
                </a:solidFill>
                <a:latin typeface="Arial"/>
                <a:ea typeface="Arial"/>
                <a:cs typeface="Arial"/>
                <a:sym typeface="Arial"/>
              </a:rPr>
              <a:t>разность </a:t>
            </a:r>
            <a:r>
              <a:rPr lang="ru-RU" sz="2078" u="sng">
                <a:solidFill>
                  <a:schemeClr val="dk1"/>
                </a:solidFill>
                <a:latin typeface="Arial"/>
                <a:ea typeface="Arial"/>
                <a:cs typeface="Arial"/>
                <a:sym typeface="Arial"/>
              </a:rPr>
              <a:t>выборочного</a:t>
            </a:r>
            <a:endParaRPr sz="2078">
              <a:solidFill>
                <a:schemeClr val="dk1"/>
              </a:solidFill>
              <a:latin typeface="Arial"/>
              <a:ea typeface="Arial"/>
              <a:cs typeface="Arial"/>
              <a:sym typeface="Arial"/>
            </a:endParaRPr>
          </a:p>
        </p:txBody>
      </p:sp>
      <p:sp>
        <p:nvSpPr>
          <p:cNvPr id="1093" name="Google Shape;1093;p89"/>
          <p:cNvSpPr txBox="1"/>
          <p:nvPr/>
        </p:nvSpPr>
        <p:spPr>
          <a:xfrm>
            <a:off x="1653533" y="2469687"/>
            <a:ext cx="2003279" cy="653526"/>
          </a:xfrm>
          <a:prstGeom prst="rect">
            <a:avLst/>
          </a:prstGeom>
          <a:noFill/>
          <a:ln>
            <a:noFill/>
          </a:ln>
        </p:spPr>
        <p:txBody>
          <a:bodyPr anchorCtr="0" anchor="t" bIns="0" lIns="0" spcFirstLastPara="1" rIns="0" wrap="square" tIns="13850">
            <a:spAutoFit/>
          </a:bodyPr>
          <a:lstStyle/>
          <a:p>
            <a:pPr indent="0" lvl="0" marL="13197" marR="5279" rtl="0" algn="l">
              <a:spcBef>
                <a:spcPts val="0"/>
              </a:spcBef>
              <a:spcAft>
                <a:spcPts val="0"/>
              </a:spcAft>
              <a:buNone/>
            </a:pPr>
            <a:r>
              <a:rPr lang="ru-RU" sz="2078">
                <a:solidFill>
                  <a:schemeClr val="dk1"/>
                </a:solidFill>
                <a:latin typeface="Arial"/>
                <a:ea typeface="Arial"/>
                <a:cs typeface="Arial"/>
                <a:sym typeface="Arial"/>
              </a:rPr>
              <a:t>среднего и  популяционного</a:t>
            </a:r>
            <a:endParaRPr/>
          </a:p>
        </p:txBody>
      </p:sp>
      <p:sp>
        <p:nvSpPr>
          <p:cNvPr id="1094" name="Google Shape;1094;p89"/>
          <p:cNvSpPr/>
          <p:nvPr/>
        </p:nvSpPr>
        <p:spPr>
          <a:xfrm>
            <a:off x="3709409" y="2579585"/>
            <a:ext cx="604415" cy="316064"/>
          </a:xfrm>
          <a:custGeom>
            <a:rect b="b" l="l" r="r" t="t"/>
            <a:pathLst>
              <a:path extrusionOk="0" h="304164" w="581660">
                <a:moveTo>
                  <a:pt x="517553" y="277879"/>
                </a:moveTo>
                <a:lnTo>
                  <a:pt x="423417" y="282066"/>
                </a:lnTo>
                <a:lnTo>
                  <a:pt x="418719" y="287273"/>
                </a:lnTo>
                <a:lnTo>
                  <a:pt x="419226" y="299465"/>
                </a:lnTo>
                <a:lnTo>
                  <a:pt x="424433" y="304164"/>
                </a:lnTo>
                <a:lnTo>
                  <a:pt x="581151" y="297179"/>
                </a:lnTo>
                <a:lnTo>
                  <a:pt x="580977" y="296925"/>
                </a:lnTo>
                <a:lnTo>
                  <a:pt x="555751" y="296925"/>
                </a:lnTo>
                <a:lnTo>
                  <a:pt x="517553" y="277879"/>
                </a:lnTo>
                <a:close/>
              </a:path>
              <a:path extrusionOk="0" h="304164" w="581660">
                <a:moveTo>
                  <a:pt x="540258" y="276863"/>
                </a:moveTo>
                <a:lnTo>
                  <a:pt x="517553" y="277879"/>
                </a:lnTo>
                <a:lnTo>
                  <a:pt x="555751" y="296925"/>
                </a:lnTo>
                <a:lnTo>
                  <a:pt x="557530" y="293369"/>
                </a:lnTo>
                <a:lnTo>
                  <a:pt x="551560" y="293369"/>
                </a:lnTo>
                <a:lnTo>
                  <a:pt x="540258" y="276863"/>
                </a:lnTo>
                <a:close/>
              </a:path>
              <a:path extrusionOk="0" h="304164" w="581660">
                <a:moveTo>
                  <a:pt x="485520" y="166623"/>
                </a:moveTo>
                <a:lnTo>
                  <a:pt x="480440" y="170052"/>
                </a:lnTo>
                <a:lnTo>
                  <a:pt x="475488" y="173481"/>
                </a:lnTo>
                <a:lnTo>
                  <a:pt x="474090" y="180466"/>
                </a:lnTo>
                <a:lnTo>
                  <a:pt x="477646" y="185419"/>
                </a:lnTo>
                <a:lnTo>
                  <a:pt x="527352" y="258013"/>
                </a:lnTo>
                <a:lnTo>
                  <a:pt x="565657" y="277113"/>
                </a:lnTo>
                <a:lnTo>
                  <a:pt x="555751" y="296925"/>
                </a:lnTo>
                <a:lnTo>
                  <a:pt x="580977" y="296925"/>
                </a:lnTo>
                <a:lnTo>
                  <a:pt x="495934" y="172973"/>
                </a:lnTo>
                <a:lnTo>
                  <a:pt x="492505" y="167893"/>
                </a:lnTo>
                <a:lnTo>
                  <a:pt x="485520" y="166623"/>
                </a:lnTo>
                <a:close/>
              </a:path>
              <a:path extrusionOk="0" h="304164" w="581660">
                <a:moveTo>
                  <a:pt x="560196" y="275970"/>
                </a:moveTo>
                <a:lnTo>
                  <a:pt x="540258" y="276863"/>
                </a:lnTo>
                <a:lnTo>
                  <a:pt x="551560" y="293369"/>
                </a:lnTo>
                <a:lnTo>
                  <a:pt x="560196" y="275970"/>
                </a:lnTo>
                <a:close/>
              </a:path>
              <a:path extrusionOk="0" h="304164" w="581660">
                <a:moveTo>
                  <a:pt x="563365" y="275970"/>
                </a:moveTo>
                <a:lnTo>
                  <a:pt x="560196" y="275970"/>
                </a:lnTo>
                <a:lnTo>
                  <a:pt x="551560" y="293369"/>
                </a:lnTo>
                <a:lnTo>
                  <a:pt x="557530" y="293369"/>
                </a:lnTo>
                <a:lnTo>
                  <a:pt x="565657" y="277113"/>
                </a:lnTo>
                <a:lnTo>
                  <a:pt x="563365" y="275970"/>
                </a:lnTo>
                <a:close/>
              </a:path>
              <a:path extrusionOk="0" h="304164" w="581660">
                <a:moveTo>
                  <a:pt x="9905" y="0"/>
                </a:moveTo>
                <a:lnTo>
                  <a:pt x="0" y="19811"/>
                </a:lnTo>
                <a:lnTo>
                  <a:pt x="517553" y="277879"/>
                </a:lnTo>
                <a:lnTo>
                  <a:pt x="540258" y="276863"/>
                </a:lnTo>
                <a:lnTo>
                  <a:pt x="527352" y="258013"/>
                </a:lnTo>
                <a:lnTo>
                  <a:pt x="9905" y="0"/>
                </a:lnTo>
                <a:close/>
              </a:path>
              <a:path extrusionOk="0" h="304164" w="581660">
                <a:moveTo>
                  <a:pt x="527352" y="258013"/>
                </a:moveTo>
                <a:lnTo>
                  <a:pt x="540258" y="276863"/>
                </a:lnTo>
                <a:lnTo>
                  <a:pt x="560196" y="275970"/>
                </a:lnTo>
                <a:lnTo>
                  <a:pt x="563365" y="275970"/>
                </a:lnTo>
                <a:lnTo>
                  <a:pt x="527352" y="258013"/>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95" name="Google Shape;1095;p89"/>
          <p:cNvSpPr/>
          <p:nvPr/>
        </p:nvSpPr>
        <p:spPr>
          <a:xfrm>
            <a:off x="3785949" y="3695113"/>
            <a:ext cx="902002" cy="403823"/>
          </a:xfrm>
          <a:custGeom>
            <a:rect b="b" l="l" r="r" t="t"/>
            <a:pathLst>
              <a:path extrusionOk="0" h="388620" w="868044">
                <a:moveTo>
                  <a:pt x="802882" y="32539"/>
                </a:moveTo>
                <a:lnTo>
                  <a:pt x="0" y="367538"/>
                </a:lnTo>
                <a:lnTo>
                  <a:pt x="8636" y="388112"/>
                </a:lnTo>
                <a:lnTo>
                  <a:pt x="811516" y="53064"/>
                </a:lnTo>
                <a:lnTo>
                  <a:pt x="825697" y="35104"/>
                </a:lnTo>
                <a:lnTo>
                  <a:pt x="802882" y="32539"/>
                </a:lnTo>
                <a:close/>
              </a:path>
              <a:path extrusionOk="0" h="388620" w="868044">
                <a:moveTo>
                  <a:pt x="854396" y="16001"/>
                </a:moveTo>
                <a:lnTo>
                  <a:pt x="842518" y="16001"/>
                </a:lnTo>
                <a:lnTo>
                  <a:pt x="851026" y="36575"/>
                </a:lnTo>
                <a:lnTo>
                  <a:pt x="811516" y="53064"/>
                </a:lnTo>
                <a:lnTo>
                  <a:pt x="753237" y="126873"/>
                </a:lnTo>
                <a:lnTo>
                  <a:pt x="753999" y="133857"/>
                </a:lnTo>
                <a:lnTo>
                  <a:pt x="763651" y="141477"/>
                </a:lnTo>
                <a:lnTo>
                  <a:pt x="770636" y="140588"/>
                </a:lnTo>
                <a:lnTo>
                  <a:pt x="867918" y="17525"/>
                </a:lnTo>
                <a:lnTo>
                  <a:pt x="854396" y="16001"/>
                </a:lnTo>
                <a:close/>
              </a:path>
              <a:path extrusionOk="0" h="388620" w="868044">
                <a:moveTo>
                  <a:pt x="825697" y="35104"/>
                </a:moveTo>
                <a:lnTo>
                  <a:pt x="811516" y="53064"/>
                </a:lnTo>
                <a:lnTo>
                  <a:pt x="849201" y="37337"/>
                </a:lnTo>
                <a:lnTo>
                  <a:pt x="845566" y="37337"/>
                </a:lnTo>
                <a:lnTo>
                  <a:pt x="825697" y="35104"/>
                </a:lnTo>
                <a:close/>
              </a:path>
              <a:path extrusionOk="0" h="388620" w="868044">
                <a:moveTo>
                  <a:pt x="838073" y="19430"/>
                </a:moveTo>
                <a:lnTo>
                  <a:pt x="825697" y="35104"/>
                </a:lnTo>
                <a:lnTo>
                  <a:pt x="845566" y="37337"/>
                </a:lnTo>
                <a:lnTo>
                  <a:pt x="838073" y="19430"/>
                </a:lnTo>
                <a:close/>
              </a:path>
              <a:path extrusionOk="0" h="388620" w="868044">
                <a:moveTo>
                  <a:pt x="843936" y="19430"/>
                </a:moveTo>
                <a:lnTo>
                  <a:pt x="838073" y="19430"/>
                </a:lnTo>
                <a:lnTo>
                  <a:pt x="845566" y="37337"/>
                </a:lnTo>
                <a:lnTo>
                  <a:pt x="849201" y="37337"/>
                </a:lnTo>
                <a:lnTo>
                  <a:pt x="851026" y="36575"/>
                </a:lnTo>
                <a:lnTo>
                  <a:pt x="843936" y="19430"/>
                </a:lnTo>
                <a:close/>
              </a:path>
              <a:path extrusionOk="0" h="388620" w="868044">
                <a:moveTo>
                  <a:pt x="842518" y="16001"/>
                </a:moveTo>
                <a:lnTo>
                  <a:pt x="802882" y="32539"/>
                </a:lnTo>
                <a:lnTo>
                  <a:pt x="825697" y="35104"/>
                </a:lnTo>
                <a:lnTo>
                  <a:pt x="838073" y="19430"/>
                </a:lnTo>
                <a:lnTo>
                  <a:pt x="843936" y="19430"/>
                </a:lnTo>
                <a:lnTo>
                  <a:pt x="842518" y="16001"/>
                </a:lnTo>
                <a:close/>
              </a:path>
              <a:path extrusionOk="0" h="388620" w="868044">
                <a:moveTo>
                  <a:pt x="711962" y="0"/>
                </a:moveTo>
                <a:lnTo>
                  <a:pt x="706501" y="4317"/>
                </a:lnTo>
                <a:lnTo>
                  <a:pt x="705866" y="10413"/>
                </a:lnTo>
                <a:lnTo>
                  <a:pt x="705104" y="16510"/>
                </a:lnTo>
                <a:lnTo>
                  <a:pt x="709549" y="22098"/>
                </a:lnTo>
                <a:lnTo>
                  <a:pt x="802882" y="32539"/>
                </a:lnTo>
                <a:lnTo>
                  <a:pt x="842518" y="16001"/>
                </a:lnTo>
                <a:lnTo>
                  <a:pt x="854396" y="16001"/>
                </a:lnTo>
                <a:lnTo>
                  <a:pt x="711962" y="0"/>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096" name="Google Shape;1096;p89"/>
          <p:cNvSpPr txBox="1"/>
          <p:nvPr/>
        </p:nvSpPr>
        <p:spPr>
          <a:xfrm>
            <a:off x="1732804" y="4017110"/>
            <a:ext cx="2128648" cy="333093"/>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078">
                <a:solidFill>
                  <a:schemeClr val="dk1"/>
                </a:solidFill>
                <a:latin typeface="Arial"/>
                <a:ea typeface="Arial"/>
                <a:cs typeface="Arial"/>
                <a:sym typeface="Arial"/>
              </a:rPr>
              <a:t>ошибка среднего</a:t>
            </a:r>
            <a:endParaRPr sz="2078">
              <a:solidFill>
                <a:schemeClr val="dk1"/>
              </a:solidFill>
              <a:latin typeface="Arial"/>
              <a:ea typeface="Arial"/>
              <a:cs typeface="Arial"/>
              <a:sym typeface="Arial"/>
            </a:endParaRPr>
          </a:p>
        </p:txBody>
      </p:sp>
      <p:sp>
        <p:nvSpPr>
          <p:cNvPr id="1097" name="Google Shape;1097;p89"/>
          <p:cNvSpPr txBox="1"/>
          <p:nvPr/>
        </p:nvSpPr>
        <p:spPr>
          <a:xfrm>
            <a:off x="2973289" y="6317168"/>
            <a:ext cx="7318961" cy="316461"/>
          </a:xfrm>
          <a:prstGeom prst="rect">
            <a:avLst/>
          </a:prstGeom>
          <a:noFill/>
          <a:ln>
            <a:noFill/>
          </a:ln>
        </p:spPr>
        <p:txBody>
          <a:bodyPr anchorCtr="0" anchor="t" bIns="0" lIns="0" spcFirstLastPara="1" rIns="0" wrap="square" tIns="12525">
            <a:spAutoFit/>
          </a:bodyPr>
          <a:lstStyle/>
          <a:p>
            <a:pPr indent="0" lvl="0" marL="13197" marR="5279" rtl="0" algn="l">
              <a:spcBef>
                <a:spcPts val="0"/>
              </a:spcBef>
              <a:spcAft>
                <a:spcPts val="0"/>
              </a:spcAft>
              <a:buNone/>
            </a:pPr>
            <a:r>
              <a:rPr lang="ru-RU" sz="1974">
                <a:solidFill>
                  <a:schemeClr val="dk1"/>
                </a:solidFill>
                <a:latin typeface="Arial"/>
                <a:ea typeface="Arial"/>
                <a:cs typeface="Arial"/>
                <a:sym typeface="Arial"/>
              </a:rPr>
              <a:t>Всё это мы производим ДО взвешивания землероек! </a:t>
            </a:r>
            <a:endParaRPr sz="1974">
              <a:solidFill>
                <a:schemeClr val="dk1"/>
              </a:solidFill>
              <a:latin typeface="Arial"/>
              <a:ea typeface="Arial"/>
              <a:cs typeface="Arial"/>
              <a:sym typeface="Arial"/>
            </a:endParaRPr>
          </a:p>
        </p:txBody>
      </p:sp>
      <p:sp>
        <p:nvSpPr>
          <p:cNvPr id="1098" name="Google Shape;1098;p89"/>
          <p:cNvSpPr txBox="1"/>
          <p:nvPr/>
        </p:nvSpPr>
        <p:spPr>
          <a:xfrm>
            <a:off x="2448274" y="210705"/>
            <a:ext cx="8134001" cy="690434"/>
          </a:xfrm>
          <a:prstGeom prst="rect">
            <a:avLst/>
          </a:prstGeom>
          <a:noFill/>
          <a:ln>
            <a:noFill/>
          </a:ln>
        </p:spPr>
        <p:txBody>
          <a:bodyPr anchorCtr="0" anchor="t" bIns="0" lIns="0" spcFirstLastPara="1" rIns="0" wrap="square" tIns="13175">
            <a:spAutoFit/>
          </a:bodyPr>
          <a:lstStyle/>
          <a:p>
            <a:pPr indent="0" lvl="0" marL="13197" marR="0" rtl="0" algn="ctr">
              <a:spcBef>
                <a:spcPts val="0"/>
              </a:spcBef>
              <a:spcAft>
                <a:spcPts val="0"/>
              </a:spcAft>
              <a:buNone/>
            </a:pPr>
            <a:r>
              <a:rPr lang="ru-RU" sz="4400">
                <a:solidFill>
                  <a:schemeClr val="dk2"/>
                </a:solidFill>
                <a:latin typeface="Calibri"/>
                <a:ea typeface="Calibri"/>
                <a:cs typeface="Calibri"/>
                <a:sym typeface="Calibri"/>
              </a:rPr>
              <a:t>Одновыборочные критерии</a:t>
            </a:r>
            <a:endParaRPr/>
          </a:p>
        </p:txBody>
      </p:sp>
      <p:sp>
        <p:nvSpPr>
          <p:cNvPr id="1099" name="Google Shape;1099;p89"/>
          <p:cNvSpPr/>
          <p:nvPr/>
        </p:nvSpPr>
        <p:spPr>
          <a:xfrm>
            <a:off x="2908472" y="812395"/>
            <a:ext cx="7673803" cy="400110"/>
          </a:xfrm>
          <a:prstGeom prst="rect">
            <a:avLst/>
          </a:prstGeom>
          <a:noFill/>
          <a:ln>
            <a:noFill/>
          </a:ln>
        </p:spPr>
        <p:txBody>
          <a:bodyPr anchorCtr="0" anchor="t" bIns="45700" lIns="91425" spcFirstLastPara="1" rIns="91425" wrap="square" tIns="45700">
            <a:spAutoFit/>
          </a:bodyPr>
          <a:lstStyle/>
          <a:p>
            <a:pPr indent="0" lvl="0" marL="344430" marR="0" rtl="0" algn="l">
              <a:spcBef>
                <a:spcPts val="0"/>
              </a:spcBef>
              <a:spcAft>
                <a:spcPts val="0"/>
              </a:spcAft>
              <a:buNone/>
            </a:pPr>
            <a:r>
              <a:rPr lang="ru-RU" sz="2000">
                <a:solidFill>
                  <a:srgbClr val="CC0000"/>
                </a:solidFill>
                <a:latin typeface="Arial"/>
                <a:ea typeface="Arial"/>
                <a:cs typeface="Arial"/>
                <a:sym typeface="Arial"/>
              </a:rPr>
              <a:t>сравнивающие среднее значение с заданным числом.</a:t>
            </a:r>
            <a:endParaRPr sz="2000">
              <a:solidFill>
                <a:schemeClr val="dk1"/>
              </a:solidFill>
              <a:latin typeface="Arial"/>
              <a:ea typeface="Arial"/>
              <a:cs typeface="Arial"/>
              <a:sym typeface="Arial"/>
            </a:endParaRPr>
          </a:p>
        </p:txBody>
      </p:sp>
      <p:sp>
        <p:nvSpPr>
          <p:cNvPr id="1100" name="Google Shape;1100;p89"/>
          <p:cNvSpPr txBox="1"/>
          <p:nvPr>
            <p:ph idx="12" type="sldNum"/>
          </p:nvPr>
        </p:nvSpPr>
        <p:spPr>
          <a:xfrm>
            <a:off x="11374685" y="6633628"/>
            <a:ext cx="660153" cy="350133"/>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90"/>
          <p:cNvSpPr/>
          <p:nvPr/>
        </p:nvSpPr>
        <p:spPr>
          <a:xfrm>
            <a:off x="1438275" y="322263"/>
            <a:ext cx="1108853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06" name="Google Shape;1106;p90"/>
          <p:cNvSpPr txBox="1"/>
          <p:nvPr/>
        </p:nvSpPr>
        <p:spPr>
          <a:xfrm>
            <a:off x="1931041" y="1413619"/>
            <a:ext cx="4059935" cy="628879"/>
          </a:xfrm>
          <a:prstGeom prst="rect">
            <a:avLst/>
          </a:prstGeom>
          <a:noFill/>
          <a:ln>
            <a:noFill/>
          </a:ln>
        </p:spPr>
        <p:txBody>
          <a:bodyPr anchorCtr="0" anchor="t" bIns="0" lIns="0" spcFirstLastPara="1" rIns="0" wrap="square" tIns="13175">
            <a:spAutoFit/>
          </a:bodyPr>
          <a:lstStyle/>
          <a:p>
            <a:pPr indent="0" lvl="0" marL="39590" marR="31672" rtl="0" algn="just">
              <a:spcBef>
                <a:spcPts val="0"/>
              </a:spcBef>
              <a:spcAft>
                <a:spcPts val="0"/>
              </a:spcAft>
              <a:buNone/>
            </a:pPr>
            <a:r>
              <a:rPr b="1" lang="ru-RU" sz="2000">
                <a:solidFill>
                  <a:schemeClr val="dk1"/>
                </a:solidFill>
                <a:latin typeface="Arial"/>
                <a:ea typeface="Arial"/>
                <a:cs typeface="Arial"/>
                <a:sym typeface="Arial"/>
              </a:rPr>
              <a:t>2. Устанавливаем условия</a:t>
            </a:r>
            <a:r>
              <a:rPr b="1" lang="ru-RU" sz="2000">
                <a:solidFill>
                  <a:srgbClr val="3A812E"/>
                </a:solidFill>
                <a:latin typeface="Arial"/>
                <a:ea typeface="Arial"/>
                <a:cs typeface="Arial"/>
                <a:sym typeface="Arial"/>
              </a:rPr>
              <a:t>, </a:t>
            </a:r>
            <a:r>
              <a:rPr b="1" lang="ru-RU" sz="2000">
                <a:solidFill>
                  <a:schemeClr val="dk1"/>
                </a:solidFill>
                <a:latin typeface="Arial"/>
                <a:ea typeface="Arial"/>
                <a:cs typeface="Arial"/>
                <a:sym typeface="Arial"/>
              </a:rPr>
              <a:t> при которых мы отвергнем  Н</a:t>
            </a:r>
            <a:r>
              <a:rPr b="1" baseline="-25000" lang="ru-RU" sz="2000">
                <a:solidFill>
                  <a:schemeClr val="dk1"/>
                </a:solidFill>
                <a:latin typeface="Arial"/>
                <a:ea typeface="Arial"/>
                <a:cs typeface="Arial"/>
                <a:sym typeface="Arial"/>
              </a:rPr>
              <a:t>0</a:t>
            </a:r>
            <a:endParaRPr baseline="-25000" sz="2000">
              <a:solidFill>
                <a:schemeClr val="dk1"/>
              </a:solidFill>
              <a:latin typeface="Arial"/>
              <a:ea typeface="Arial"/>
              <a:cs typeface="Arial"/>
              <a:sym typeface="Arial"/>
            </a:endParaRPr>
          </a:p>
        </p:txBody>
      </p:sp>
      <p:sp>
        <p:nvSpPr>
          <p:cNvPr id="1107" name="Google Shape;1107;p90"/>
          <p:cNvSpPr/>
          <p:nvPr/>
        </p:nvSpPr>
        <p:spPr>
          <a:xfrm>
            <a:off x="2661718" y="2375809"/>
            <a:ext cx="2887751" cy="159752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08" name="Google Shape;1108;p90"/>
          <p:cNvSpPr/>
          <p:nvPr/>
        </p:nvSpPr>
        <p:spPr>
          <a:xfrm>
            <a:off x="2661718" y="4086553"/>
            <a:ext cx="2967545" cy="21360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09" name="Google Shape;1109;p90"/>
          <p:cNvSpPr txBox="1"/>
          <p:nvPr/>
        </p:nvSpPr>
        <p:spPr>
          <a:xfrm>
            <a:off x="2302660" y="6320434"/>
            <a:ext cx="4442712" cy="652860"/>
          </a:xfrm>
          <a:prstGeom prst="rect">
            <a:avLst/>
          </a:prstGeom>
          <a:noFill/>
          <a:ln>
            <a:noFill/>
          </a:ln>
        </p:spPr>
        <p:txBody>
          <a:bodyPr anchorCtr="0" anchor="t" bIns="0" lIns="0" spcFirstLastPara="1" rIns="0" wrap="square" tIns="13175">
            <a:spAutoFit/>
          </a:bodyPr>
          <a:lstStyle/>
          <a:p>
            <a:pPr indent="0" lvl="0" marL="13197" marR="5279" rtl="0" algn="l">
              <a:spcBef>
                <a:spcPts val="0"/>
              </a:spcBef>
              <a:spcAft>
                <a:spcPts val="0"/>
              </a:spcAft>
              <a:buNone/>
            </a:pPr>
            <a:r>
              <a:rPr lang="ru-RU" sz="2078" u="sng">
                <a:solidFill>
                  <a:schemeClr val="dk1"/>
                </a:solidFill>
                <a:latin typeface="Arial"/>
                <a:ea typeface="Arial"/>
                <a:cs typeface="Arial"/>
                <a:sym typeface="Arial"/>
              </a:rPr>
              <a:t>Критическое значение</a:t>
            </a:r>
            <a:r>
              <a:rPr lang="ru-RU" sz="2078">
                <a:solidFill>
                  <a:schemeClr val="dk1"/>
                </a:solidFill>
                <a:latin typeface="Arial"/>
                <a:ea typeface="Arial"/>
                <a:cs typeface="Arial"/>
                <a:sym typeface="Arial"/>
              </a:rPr>
              <a:t> – начало  критической области </a:t>
            </a:r>
            <a:r>
              <a:rPr lang="ru-RU" sz="1870">
                <a:solidFill>
                  <a:schemeClr val="dk1"/>
                </a:solidFill>
                <a:latin typeface="Arial"/>
                <a:ea typeface="Arial"/>
                <a:cs typeface="Arial"/>
                <a:sym typeface="Arial"/>
              </a:rPr>
              <a:t>(rejection region)</a:t>
            </a:r>
            <a:endParaRPr sz="1870">
              <a:solidFill>
                <a:schemeClr val="dk1"/>
              </a:solidFill>
              <a:latin typeface="Arial"/>
              <a:ea typeface="Arial"/>
              <a:cs typeface="Arial"/>
              <a:sym typeface="Arial"/>
            </a:endParaRPr>
          </a:p>
        </p:txBody>
      </p:sp>
      <p:sp>
        <p:nvSpPr>
          <p:cNvPr id="1110" name="Google Shape;1110;p90"/>
          <p:cNvSpPr txBox="1"/>
          <p:nvPr/>
        </p:nvSpPr>
        <p:spPr>
          <a:xfrm>
            <a:off x="1651374" y="3079776"/>
            <a:ext cx="1198272"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b="1" i="1" lang="ru-RU" sz="2494">
                <a:solidFill>
                  <a:schemeClr val="dk1"/>
                </a:solidFill>
                <a:latin typeface="Arial"/>
                <a:ea typeface="Arial"/>
                <a:cs typeface="Arial"/>
                <a:sym typeface="Arial"/>
              </a:rPr>
              <a:t>α </a:t>
            </a:r>
            <a:r>
              <a:rPr lang="ru-RU" sz="2494">
                <a:solidFill>
                  <a:schemeClr val="dk1"/>
                </a:solidFill>
                <a:latin typeface="Arial"/>
                <a:ea typeface="Arial"/>
                <a:cs typeface="Arial"/>
                <a:sym typeface="Arial"/>
              </a:rPr>
              <a:t>= 0.05</a:t>
            </a:r>
            <a:endParaRPr sz="2494">
              <a:solidFill>
                <a:schemeClr val="dk1"/>
              </a:solidFill>
              <a:latin typeface="Arial"/>
              <a:ea typeface="Arial"/>
              <a:cs typeface="Arial"/>
              <a:sym typeface="Arial"/>
            </a:endParaRPr>
          </a:p>
        </p:txBody>
      </p:sp>
      <p:sp>
        <p:nvSpPr>
          <p:cNvPr id="1111" name="Google Shape;1111;p90"/>
          <p:cNvSpPr/>
          <p:nvPr/>
        </p:nvSpPr>
        <p:spPr>
          <a:xfrm>
            <a:off x="9979833" y="963009"/>
            <a:ext cx="261957" cy="0"/>
          </a:xfrm>
          <a:custGeom>
            <a:rect b="b" l="l" r="r" t="t"/>
            <a:pathLst>
              <a:path extrusionOk="0" h="120000" w="252095">
                <a:moveTo>
                  <a:pt x="0" y="0"/>
                </a:moveTo>
                <a:lnTo>
                  <a:pt x="251918" y="0"/>
                </a:lnTo>
              </a:path>
            </a:pathLst>
          </a:custGeom>
          <a:noFill/>
          <a:ln cap="flat" cmpd="sng" w="16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12" name="Google Shape;1112;p90"/>
          <p:cNvSpPr txBox="1"/>
          <p:nvPr/>
        </p:nvSpPr>
        <p:spPr>
          <a:xfrm>
            <a:off x="6600550" y="1326386"/>
            <a:ext cx="3837264" cy="425092"/>
          </a:xfrm>
          <a:prstGeom prst="rect">
            <a:avLst/>
          </a:prstGeom>
          <a:noFill/>
          <a:ln>
            <a:noFill/>
          </a:ln>
        </p:spPr>
        <p:txBody>
          <a:bodyPr anchorCtr="0" anchor="t" bIns="0" lIns="0" spcFirstLastPara="1" rIns="0" wrap="square" tIns="14500">
            <a:spAutoFit/>
          </a:bodyPr>
          <a:lstStyle/>
          <a:p>
            <a:pPr indent="0" lvl="0" marL="13197" marR="0" rtl="0" algn="l">
              <a:lnSpc>
                <a:spcPct val="161954"/>
              </a:lnSpc>
              <a:spcBef>
                <a:spcPts val="0"/>
              </a:spcBef>
              <a:spcAft>
                <a:spcPts val="0"/>
              </a:spcAft>
              <a:buNone/>
            </a:pPr>
            <a:r>
              <a:rPr b="1" lang="ru-RU" sz="2200">
                <a:solidFill>
                  <a:schemeClr val="dk1"/>
                </a:solidFill>
                <a:latin typeface="Arial"/>
                <a:ea typeface="Arial"/>
                <a:cs typeface="Arial"/>
                <a:sym typeface="Arial"/>
              </a:rPr>
              <a:t>3. Считаем значения </a:t>
            </a:r>
            <a:r>
              <a:rPr b="1" i="1" lang="ru-RU" sz="2200">
                <a:solidFill>
                  <a:schemeClr val="dk1"/>
                </a:solidFill>
                <a:latin typeface="Arial"/>
                <a:ea typeface="Arial"/>
                <a:cs typeface="Arial"/>
                <a:sym typeface="Arial"/>
              </a:rPr>
              <a:t>x</a:t>
            </a:r>
            <a:r>
              <a:rPr b="1" lang="ru-RU" sz="2200">
                <a:solidFill>
                  <a:schemeClr val="dk1"/>
                </a:solidFill>
                <a:latin typeface="Arial"/>
                <a:ea typeface="Arial"/>
                <a:cs typeface="Arial"/>
                <a:sym typeface="Arial"/>
              </a:rPr>
              <a:t> и </a:t>
            </a:r>
            <a:r>
              <a:rPr b="1" i="1" lang="ru-RU" sz="2200">
                <a:solidFill>
                  <a:schemeClr val="dk1"/>
                </a:solidFill>
                <a:latin typeface="Arial"/>
                <a:ea typeface="Arial"/>
                <a:cs typeface="Arial"/>
                <a:sym typeface="Arial"/>
              </a:rPr>
              <a:t>z</a:t>
            </a:r>
            <a:endParaRPr sz="2200">
              <a:solidFill>
                <a:schemeClr val="dk1"/>
              </a:solidFill>
              <a:latin typeface="Arial"/>
              <a:ea typeface="Arial"/>
              <a:cs typeface="Arial"/>
              <a:sym typeface="Arial"/>
            </a:endParaRPr>
          </a:p>
        </p:txBody>
      </p:sp>
      <p:sp>
        <p:nvSpPr>
          <p:cNvPr id="1113" name="Google Shape;1113;p90"/>
          <p:cNvSpPr/>
          <p:nvPr/>
        </p:nvSpPr>
        <p:spPr>
          <a:xfrm>
            <a:off x="7313163" y="4326282"/>
            <a:ext cx="2707464" cy="23173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14" name="Google Shape;1114;p90"/>
          <p:cNvSpPr/>
          <p:nvPr/>
        </p:nvSpPr>
        <p:spPr>
          <a:xfrm>
            <a:off x="7385171" y="1915799"/>
            <a:ext cx="2563448" cy="217075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15" name="Google Shape;1115;p90"/>
          <p:cNvSpPr/>
          <p:nvPr/>
        </p:nvSpPr>
        <p:spPr>
          <a:xfrm>
            <a:off x="2058353" y="322264"/>
            <a:ext cx="8379460" cy="860019"/>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16" name="Google Shape;1116;p90"/>
          <p:cNvSpPr txBox="1"/>
          <p:nvPr/>
        </p:nvSpPr>
        <p:spPr>
          <a:xfrm>
            <a:off x="2448274" y="210705"/>
            <a:ext cx="8134001" cy="690434"/>
          </a:xfrm>
          <a:prstGeom prst="rect">
            <a:avLst/>
          </a:prstGeom>
          <a:noFill/>
          <a:ln>
            <a:noFill/>
          </a:ln>
        </p:spPr>
        <p:txBody>
          <a:bodyPr anchorCtr="0" anchor="t" bIns="0" lIns="0" spcFirstLastPara="1" rIns="0" wrap="square" tIns="13175">
            <a:spAutoFit/>
          </a:bodyPr>
          <a:lstStyle/>
          <a:p>
            <a:pPr indent="0" lvl="0" marL="13197" marR="0" rtl="0" algn="ctr">
              <a:spcBef>
                <a:spcPts val="0"/>
              </a:spcBef>
              <a:spcAft>
                <a:spcPts val="0"/>
              </a:spcAft>
              <a:buNone/>
            </a:pPr>
            <a:r>
              <a:rPr lang="ru-RU" sz="4400">
                <a:solidFill>
                  <a:schemeClr val="dk2"/>
                </a:solidFill>
                <a:latin typeface="Calibri"/>
                <a:ea typeface="Calibri"/>
                <a:cs typeface="Calibri"/>
                <a:sym typeface="Calibri"/>
              </a:rPr>
              <a:t>Одновыборочные критерии</a:t>
            </a:r>
            <a:endParaRPr/>
          </a:p>
        </p:txBody>
      </p:sp>
      <p:sp>
        <p:nvSpPr>
          <p:cNvPr id="1117" name="Google Shape;1117;p90"/>
          <p:cNvSpPr/>
          <p:nvPr/>
        </p:nvSpPr>
        <p:spPr>
          <a:xfrm>
            <a:off x="2908472" y="726491"/>
            <a:ext cx="7673803" cy="400110"/>
          </a:xfrm>
          <a:prstGeom prst="rect">
            <a:avLst/>
          </a:prstGeom>
          <a:noFill/>
          <a:ln>
            <a:noFill/>
          </a:ln>
        </p:spPr>
        <p:txBody>
          <a:bodyPr anchorCtr="0" anchor="t" bIns="45700" lIns="91425" spcFirstLastPara="1" rIns="91425" wrap="square" tIns="45700">
            <a:spAutoFit/>
          </a:bodyPr>
          <a:lstStyle/>
          <a:p>
            <a:pPr indent="0" lvl="0" marL="344430" marR="0" rtl="0" algn="l">
              <a:spcBef>
                <a:spcPts val="0"/>
              </a:spcBef>
              <a:spcAft>
                <a:spcPts val="0"/>
              </a:spcAft>
              <a:buNone/>
            </a:pPr>
            <a:r>
              <a:rPr lang="ru-RU" sz="2000">
                <a:solidFill>
                  <a:srgbClr val="CC0000"/>
                </a:solidFill>
                <a:latin typeface="Arial"/>
                <a:ea typeface="Arial"/>
                <a:cs typeface="Arial"/>
                <a:sym typeface="Arial"/>
              </a:rPr>
              <a:t>сравнивающие среднее значение с заданным числом.</a:t>
            </a:r>
            <a:endParaRPr sz="2000">
              <a:solidFill>
                <a:schemeClr val="dk1"/>
              </a:solidFill>
              <a:latin typeface="Arial"/>
              <a:ea typeface="Arial"/>
              <a:cs typeface="Arial"/>
              <a:sym typeface="Arial"/>
            </a:endParaRPr>
          </a:p>
        </p:txBody>
      </p:sp>
      <p:sp>
        <p:nvSpPr>
          <p:cNvPr id="1118" name="Google Shape;1118;p90"/>
          <p:cNvSpPr/>
          <p:nvPr/>
        </p:nvSpPr>
        <p:spPr>
          <a:xfrm>
            <a:off x="9611809" y="3180070"/>
            <a:ext cx="1259960" cy="307777"/>
          </a:xfrm>
          <a:prstGeom prst="rect">
            <a:avLst/>
          </a:prstGeom>
          <a:noFill/>
          <a:ln>
            <a:noFill/>
          </a:ln>
        </p:spPr>
        <p:txBody>
          <a:bodyPr anchorCtr="0" anchor="t" bIns="45700" lIns="91425" spcFirstLastPara="1" rIns="91425" wrap="square" tIns="45700">
            <a:spAutoFit/>
          </a:bodyPr>
          <a:lstStyle/>
          <a:p>
            <a:pPr indent="0" lvl="0" marL="39590" marR="31672" rtl="0" algn="just">
              <a:spcBef>
                <a:spcPts val="0"/>
              </a:spcBef>
              <a:spcAft>
                <a:spcPts val="0"/>
              </a:spcAft>
              <a:buNone/>
            </a:pPr>
            <a:r>
              <a:rPr b="1" lang="ru-RU" sz="1400">
                <a:solidFill>
                  <a:schemeClr val="dk1"/>
                </a:solidFill>
                <a:latin typeface="Arial"/>
                <a:ea typeface="Arial"/>
                <a:cs typeface="Arial"/>
                <a:sym typeface="Arial"/>
              </a:rPr>
              <a:t>max=102,99</a:t>
            </a:r>
            <a:endParaRPr baseline="-25000" sz="1400">
              <a:solidFill>
                <a:schemeClr val="dk1"/>
              </a:solidFill>
              <a:latin typeface="Arial"/>
              <a:ea typeface="Arial"/>
              <a:cs typeface="Arial"/>
              <a:sym typeface="Arial"/>
            </a:endParaRPr>
          </a:p>
        </p:txBody>
      </p:sp>
      <p:sp>
        <p:nvSpPr>
          <p:cNvPr id="1119" name="Google Shape;1119;p90"/>
          <p:cNvSpPr txBox="1"/>
          <p:nvPr>
            <p:ph idx="12" type="sldNum"/>
          </p:nvPr>
        </p:nvSpPr>
        <p:spPr>
          <a:xfrm>
            <a:off x="9121141" y="6627448"/>
            <a:ext cx="2913697" cy="35631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91"/>
          <p:cNvSpPr/>
          <p:nvPr/>
        </p:nvSpPr>
        <p:spPr>
          <a:xfrm>
            <a:off x="1438275" y="322263"/>
            <a:ext cx="1080050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25" name="Google Shape;1125;p91"/>
          <p:cNvSpPr txBox="1"/>
          <p:nvPr/>
        </p:nvSpPr>
        <p:spPr>
          <a:xfrm>
            <a:off x="1695304" y="1238159"/>
            <a:ext cx="9937103" cy="1741158"/>
          </a:xfrm>
          <a:prstGeom prst="rect">
            <a:avLst/>
          </a:prstGeom>
          <a:noFill/>
          <a:ln>
            <a:noFill/>
          </a:ln>
        </p:spPr>
        <p:txBody>
          <a:bodyPr anchorCtr="0" anchor="t" bIns="0" lIns="0" spcFirstLastPara="1" rIns="0" wrap="square" tIns="102275">
            <a:spAutoFit/>
          </a:bodyPr>
          <a:lstStyle/>
          <a:p>
            <a:pPr indent="0" lvl="0" marL="1548617" marR="0" rtl="0" algn="l">
              <a:spcBef>
                <a:spcPts val="0"/>
              </a:spcBef>
              <a:spcAft>
                <a:spcPts val="0"/>
              </a:spcAft>
              <a:buNone/>
            </a:pPr>
            <a:r>
              <a:rPr b="1" lang="ru-RU" sz="2494">
                <a:solidFill>
                  <a:schemeClr val="dk1"/>
                </a:solidFill>
                <a:latin typeface="Arial"/>
                <a:ea typeface="Arial"/>
                <a:cs typeface="Arial"/>
                <a:sym typeface="Arial"/>
              </a:rPr>
              <a:t>4. Интерпретируем результаты</a:t>
            </a:r>
            <a:endParaRPr/>
          </a:p>
          <a:p>
            <a:pPr indent="0" lvl="0" marL="1548617" marR="0" rtl="0" algn="l">
              <a:spcBef>
                <a:spcPts val="836"/>
              </a:spcBef>
              <a:spcAft>
                <a:spcPts val="0"/>
              </a:spcAft>
              <a:buNone/>
            </a:pPr>
            <a:r>
              <a:t/>
            </a:r>
            <a:endParaRPr sz="2494">
              <a:solidFill>
                <a:schemeClr val="dk1"/>
              </a:solidFill>
              <a:latin typeface="Arial"/>
              <a:ea typeface="Arial"/>
              <a:cs typeface="Arial"/>
              <a:sym typeface="Arial"/>
            </a:endParaRPr>
          </a:p>
          <a:p>
            <a:pPr indent="0" lvl="0" marL="52785" marR="424270" rtl="0" algn="l">
              <a:spcBef>
                <a:spcPts val="0"/>
              </a:spcBef>
              <a:spcAft>
                <a:spcPts val="0"/>
              </a:spcAft>
              <a:buNone/>
            </a:pPr>
            <a:r>
              <a:rPr lang="ru-RU" sz="2494">
                <a:solidFill>
                  <a:schemeClr val="dk1"/>
                </a:solidFill>
                <a:latin typeface="Arial"/>
                <a:ea typeface="Arial"/>
                <a:cs typeface="Arial"/>
                <a:sym typeface="Arial"/>
              </a:rPr>
              <a:t>Мы </a:t>
            </a:r>
            <a:r>
              <a:rPr lang="ru-RU" sz="2494" u="sng">
                <a:solidFill>
                  <a:schemeClr val="dk1"/>
                </a:solidFill>
                <a:latin typeface="Arial"/>
                <a:ea typeface="Arial"/>
                <a:cs typeface="Arial"/>
                <a:sym typeface="Arial"/>
              </a:rPr>
              <a:t>не отвергаем</a:t>
            </a:r>
            <a:r>
              <a:rPr lang="ru-RU" sz="2494">
                <a:solidFill>
                  <a:schemeClr val="dk1"/>
                </a:solidFill>
                <a:latin typeface="Arial"/>
                <a:ea typeface="Arial"/>
                <a:cs typeface="Arial"/>
                <a:sym typeface="Arial"/>
              </a:rPr>
              <a:t> Н</a:t>
            </a:r>
            <a:r>
              <a:rPr baseline="-25000" lang="ru-RU" sz="2494">
                <a:solidFill>
                  <a:schemeClr val="dk1"/>
                </a:solidFill>
                <a:latin typeface="Arial"/>
                <a:ea typeface="Arial"/>
                <a:cs typeface="Arial"/>
                <a:sym typeface="Arial"/>
              </a:rPr>
              <a:t>0</a:t>
            </a:r>
            <a:r>
              <a:rPr lang="ru-RU" sz="2494">
                <a:solidFill>
                  <a:schemeClr val="dk1"/>
                </a:solidFill>
                <a:latin typeface="Arial"/>
                <a:ea typeface="Arial"/>
                <a:cs typeface="Arial"/>
                <a:sym typeface="Arial"/>
              </a:rPr>
              <a:t>, т.е., мы не нашли значимых достоверных различий по массе между землеройками.</a:t>
            </a:r>
            <a:endParaRPr sz="2494">
              <a:solidFill>
                <a:schemeClr val="dk1"/>
              </a:solidFill>
              <a:latin typeface="Arial"/>
              <a:ea typeface="Arial"/>
              <a:cs typeface="Arial"/>
              <a:sym typeface="Arial"/>
            </a:endParaRPr>
          </a:p>
        </p:txBody>
      </p:sp>
      <p:sp>
        <p:nvSpPr>
          <p:cNvPr id="1126" name="Google Shape;1126;p91"/>
          <p:cNvSpPr/>
          <p:nvPr/>
        </p:nvSpPr>
        <p:spPr>
          <a:xfrm>
            <a:off x="2777436" y="3463853"/>
            <a:ext cx="6384894" cy="222625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27" name="Google Shape;1127;p91"/>
          <p:cNvSpPr txBox="1"/>
          <p:nvPr/>
        </p:nvSpPr>
        <p:spPr>
          <a:xfrm>
            <a:off x="2157662" y="6351587"/>
            <a:ext cx="2182755" cy="301097"/>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1870">
                <a:solidFill>
                  <a:schemeClr val="dk1"/>
                </a:solidFill>
                <a:latin typeface="Arial"/>
                <a:ea typeface="Arial"/>
                <a:cs typeface="Arial"/>
                <a:sym typeface="Arial"/>
              </a:rPr>
              <a:t>d – effect size index.</a:t>
            </a:r>
            <a:endParaRPr sz="1870">
              <a:solidFill>
                <a:schemeClr val="dk1"/>
              </a:solidFill>
              <a:latin typeface="Arial"/>
              <a:ea typeface="Arial"/>
              <a:cs typeface="Arial"/>
              <a:sym typeface="Arial"/>
            </a:endParaRPr>
          </a:p>
        </p:txBody>
      </p:sp>
      <p:sp>
        <p:nvSpPr>
          <p:cNvPr id="1128" name="Google Shape;1128;p91"/>
          <p:cNvSpPr/>
          <p:nvPr/>
        </p:nvSpPr>
        <p:spPr>
          <a:xfrm>
            <a:off x="2058353" y="322264"/>
            <a:ext cx="8379460" cy="860019"/>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29" name="Google Shape;1129;p91"/>
          <p:cNvSpPr txBox="1"/>
          <p:nvPr/>
        </p:nvSpPr>
        <p:spPr>
          <a:xfrm>
            <a:off x="2448274" y="210705"/>
            <a:ext cx="8134001" cy="690434"/>
          </a:xfrm>
          <a:prstGeom prst="rect">
            <a:avLst/>
          </a:prstGeom>
          <a:noFill/>
          <a:ln>
            <a:noFill/>
          </a:ln>
        </p:spPr>
        <p:txBody>
          <a:bodyPr anchorCtr="0" anchor="t" bIns="0" lIns="0" spcFirstLastPara="1" rIns="0" wrap="square" tIns="13175">
            <a:spAutoFit/>
          </a:bodyPr>
          <a:lstStyle/>
          <a:p>
            <a:pPr indent="0" lvl="0" marL="13197" marR="0" rtl="0" algn="ctr">
              <a:spcBef>
                <a:spcPts val="0"/>
              </a:spcBef>
              <a:spcAft>
                <a:spcPts val="0"/>
              </a:spcAft>
              <a:buNone/>
            </a:pPr>
            <a:r>
              <a:rPr lang="ru-RU" sz="4400">
                <a:solidFill>
                  <a:schemeClr val="dk2"/>
                </a:solidFill>
                <a:latin typeface="Calibri"/>
                <a:ea typeface="Calibri"/>
                <a:cs typeface="Calibri"/>
                <a:sym typeface="Calibri"/>
              </a:rPr>
              <a:t>Одновыборочные критерии</a:t>
            </a:r>
            <a:endParaRPr/>
          </a:p>
        </p:txBody>
      </p:sp>
      <p:sp>
        <p:nvSpPr>
          <p:cNvPr id="1130" name="Google Shape;1130;p91"/>
          <p:cNvSpPr/>
          <p:nvPr/>
        </p:nvSpPr>
        <p:spPr>
          <a:xfrm>
            <a:off x="2908472" y="726491"/>
            <a:ext cx="7673803" cy="400110"/>
          </a:xfrm>
          <a:prstGeom prst="rect">
            <a:avLst/>
          </a:prstGeom>
          <a:noFill/>
          <a:ln>
            <a:noFill/>
          </a:ln>
        </p:spPr>
        <p:txBody>
          <a:bodyPr anchorCtr="0" anchor="t" bIns="45700" lIns="91425" spcFirstLastPara="1" rIns="91425" wrap="square" tIns="45700">
            <a:spAutoFit/>
          </a:bodyPr>
          <a:lstStyle/>
          <a:p>
            <a:pPr indent="0" lvl="0" marL="344430" marR="0" rtl="0" algn="l">
              <a:spcBef>
                <a:spcPts val="0"/>
              </a:spcBef>
              <a:spcAft>
                <a:spcPts val="0"/>
              </a:spcAft>
              <a:buNone/>
            </a:pPr>
            <a:r>
              <a:rPr lang="ru-RU" sz="2000">
                <a:solidFill>
                  <a:srgbClr val="CC0000"/>
                </a:solidFill>
                <a:latin typeface="Arial"/>
                <a:ea typeface="Arial"/>
                <a:cs typeface="Arial"/>
                <a:sym typeface="Arial"/>
              </a:rPr>
              <a:t>сравнивающие среднее значение с заданным числом.</a:t>
            </a:r>
            <a:endParaRPr sz="2000">
              <a:solidFill>
                <a:schemeClr val="dk1"/>
              </a:solidFill>
              <a:latin typeface="Arial"/>
              <a:ea typeface="Arial"/>
              <a:cs typeface="Arial"/>
              <a:sym typeface="Arial"/>
            </a:endParaRPr>
          </a:p>
        </p:txBody>
      </p:sp>
      <p:sp>
        <p:nvSpPr>
          <p:cNvPr id="1131" name="Google Shape;1131;p91"/>
          <p:cNvSpPr txBox="1"/>
          <p:nvPr>
            <p:ph idx="12" type="sldNum"/>
          </p:nvPr>
        </p:nvSpPr>
        <p:spPr>
          <a:xfrm>
            <a:off x="11229975" y="6605015"/>
            <a:ext cx="804864"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5" name="Shape 1135"/>
        <p:cNvGrpSpPr/>
        <p:nvPr/>
      </p:nvGrpSpPr>
      <p:grpSpPr>
        <a:xfrm>
          <a:off x="0" y="0"/>
          <a:ext cx="0" cy="0"/>
          <a:chOff x="0" y="0"/>
          <a:chExt cx="0" cy="0"/>
        </a:xfrm>
      </p:grpSpPr>
      <p:sp>
        <p:nvSpPr>
          <p:cNvPr id="1136" name="Google Shape;1136;p92"/>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37" name="Google Shape;1137;p92"/>
          <p:cNvSpPr txBox="1"/>
          <p:nvPr/>
        </p:nvSpPr>
        <p:spPr>
          <a:xfrm>
            <a:off x="1878786" y="1382026"/>
            <a:ext cx="5043168" cy="1575935"/>
          </a:xfrm>
          <a:prstGeom prst="rect">
            <a:avLst/>
          </a:prstGeom>
          <a:noFill/>
          <a:ln>
            <a:noFill/>
          </a:ln>
        </p:spPr>
        <p:txBody>
          <a:bodyPr anchorCtr="0" anchor="t" bIns="0" lIns="0" spcFirstLastPara="1" rIns="0" wrap="square" tIns="40250">
            <a:spAutoFit/>
          </a:bodyPr>
          <a:lstStyle/>
          <a:p>
            <a:pPr indent="0" lvl="0" marL="45528" marR="0" rtl="0" algn="l">
              <a:spcBef>
                <a:spcPts val="0"/>
              </a:spcBef>
              <a:spcAft>
                <a:spcPts val="0"/>
              </a:spcAft>
              <a:buNone/>
            </a:pPr>
            <a:r>
              <a:rPr b="1" lang="ru-RU" sz="2400">
                <a:solidFill>
                  <a:schemeClr val="dk1"/>
                </a:solidFill>
                <a:latin typeface="Arial"/>
                <a:ea typeface="Arial"/>
                <a:cs typeface="Arial"/>
                <a:sym typeface="Arial"/>
              </a:rPr>
              <a:t>Односторонняя альтернатива</a:t>
            </a:r>
            <a:endParaRPr sz="2400">
              <a:solidFill>
                <a:schemeClr val="dk1"/>
              </a:solidFill>
              <a:latin typeface="Arial"/>
              <a:ea typeface="Arial"/>
              <a:cs typeface="Arial"/>
              <a:sym typeface="Arial"/>
            </a:endParaRPr>
          </a:p>
          <a:p>
            <a:pPr indent="0" lvl="0" marL="45528" marR="0" rtl="0" algn="l">
              <a:spcBef>
                <a:spcPts val="0"/>
              </a:spcBef>
              <a:spcAft>
                <a:spcPts val="0"/>
              </a:spcAft>
              <a:buNone/>
            </a:pPr>
            <a:r>
              <a:rPr lang="ru-RU" sz="2400">
                <a:solidFill>
                  <a:schemeClr val="dk1"/>
                </a:solidFill>
                <a:latin typeface="Arial"/>
                <a:ea typeface="Arial"/>
                <a:cs typeface="Arial"/>
                <a:sym typeface="Arial"/>
              </a:rPr>
              <a:t>(one-tailed hypothesis)</a:t>
            </a:r>
            <a:endParaRPr sz="2400">
              <a:solidFill>
                <a:schemeClr val="dk1"/>
              </a:solidFill>
              <a:latin typeface="Arial"/>
              <a:ea typeface="Arial"/>
              <a:cs typeface="Arial"/>
              <a:sym typeface="Arial"/>
            </a:endParaRPr>
          </a:p>
          <a:p>
            <a:pPr indent="0" lvl="0" marL="45528" marR="0" rtl="0" algn="l">
              <a:spcBef>
                <a:spcPts val="0"/>
              </a:spcBef>
              <a:spcAft>
                <a:spcPts val="0"/>
              </a:spcAft>
              <a:buNone/>
            </a:pPr>
            <a:r>
              <a:rPr b="1" lang="ru-RU" sz="2400">
                <a:solidFill>
                  <a:schemeClr val="dk1"/>
                </a:solidFill>
                <a:latin typeface="Arial"/>
                <a:ea typeface="Arial"/>
                <a:cs typeface="Arial"/>
                <a:sym typeface="Arial"/>
              </a:rPr>
              <a:t>H</a:t>
            </a:r>
            <a:r>
              <a:rPr b="1" baseline="-25000" lang="ru-RU" sz="2400">
                <a:solidFill>
                  <a:schemeClr val="dk1"/>
                </a:solidFill>
                <a:latin typeface="Arial"/>
                <a:ea typeface="Arial"/>
                <a:cs typeface="Arial"/>
                <a:sym typeface="Arial"/>
              </a:rPr>
              <a:t>0</a:t>
            </a:r>
            <a:r>
              <a:rPr lang="ru-RU" sz="2400">
                <a:solidFill>
                  <a:schemeClr val="dk1"/>
                </a:solidFill>
                <a:latin typeface="Arial"/>
                <a:ea typeface="Arial"/>
                <a:cs typeface="Arial"/>
                <a:sym typeface="Arial"/>
              </a:rPr>
              <a:t>: </a:t>
            </a:r>
            <a:r>
              <a:rPr i="1" lang="ru-RU" sz="2400">
                <a:solidFill>
                  <a:schemeClr val="dk1"/>
                </a:solidFill>
                <a:latin typeface="Arial"/>
                <a:ea typeface="Arial"/>
                <a:cs typeface="Arial"/>
                <a:sym typeface="Arial"/>
              </a:rPr>
              <a:t>μ </a:t>
            </a:r>
            <a:r>
              <a:rPr lang="ru-RU" sz="2400">
                <a:solidFill>
                  <a:schemeClr val="dk1"/>
                </a:solidFill>
                <a:latin typeface="Arial"/>
                <a:ea typeface="Arial"/>
                <a:cs typeface="Arial"/>
                <a:sym typeface="Arial"/>
              </a:rPr>
              <a:t>≤ 90 г;</a:t>
            </a:r>
            <a:endParaRPr/>
          </a:p>
          <a:p>
            <a:pPr indent="0" lvl="0" marL="45528" marR="0" rtl="0" algn="l">
              <a:spcBef>
                <a:spcPts val="0"/>
              </a:spcBef>
              <a:spcAft>
                <a:spcPts val="0"/>
              </a:spcAft>
              <a:buNone/>
            </a:pPr>
            <a:r>
              <a:rPr b="1" lang="ru-RU" sz="2400">
                <a:solidFill>
                  <a:schemeClr val="dk1"/>
                </a:solidFill>
                <a:latin typeface="Arial"/>
                <a:ea typeface="Arial"/>
                <a:cs typeface="Arial"/>
                <a:sym typeface="Arial"/>
              </a:rPr>
              <a:t>H</a:t>
            </a:r>
            <a:r>
              <a:rPr b="1" baseline="-25000" lang="ru-RU" sz="2400">
                <a:solidFill>
                  <a:schemeClr val="dk1"/>
                </a:solidFill>
                <a:latin typeface="Arial"/>
                <a:ea typeface="Arial"/>
                <a:cs typeface="Arial"/>
                <a:sym typeface="Arial"/>
              </a:rPr>
              <a:t>1 </a:t>
            </a:r>
            <a:r>
              <a:rPr lang="ru-RU" sz="2400">
                <a:solidFill>
                  <a:schemeClr val="dk1"/>
                </a:solidFill>
                <a:latin typeface="Arial"/>
                <a:ea typeface="Arial"/>
                <a:cs typeface="Arial"/>
                <a:sym typeface="Arial"/>
              </a:rPr>
              <a:t>: </a:t>
            </a:r>
            <a:r>
              <a:rPr i="1" lang="ru-RU" sz="2400">
                <a:solidFill>
                  <a:schemeClr val="dk1"/>
                </a:solidFill>
                <a:latin typeface="Arial"/>
                <a:ea typeface="Arial"/>
                <a:cs typeface="Arial"/>
                <a:sym typeface="Arial"/>
              </a:rPr>
              <a:t>μ </a:t>
            </a:r>
            <a:r>
              <a:rPr lang="ru-RU" sz="2400">
                <a:solidFill>
                  <a:schemeClr val="dk1"/>
                </a:solidFill>
                <a:latin typeface="Arial"/>
                <a:ea typeface="Arial"/>
                <a:cs typeface="Arial"/>
                <a:sym typeface="Arial"/>
              </a:rPr>
              <a:t>&gt; 90 г</a:t>
            </a:r>
            <a:endParaRPr/>
          </a:p>
        </p:txBody>
      </p:sp>
      <p:sp>
        <p:nvSpPr>
          <p:cNvPr id="1138" name="Google Shape;1138;p92"/>
          <p:cNvSpPr/>
          <p:nvPr/>
        </p:nvSpPr>
        <p:spPr>
          <a:xfrm>
            <a:off x="2542626" y="2957960"/>
            <a:ext cx="4607674" cy="181369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39" name="Google Shape;1139;p92"/>
          <p:cNvSpPr txBox="1"/>
          <p:nvPr/>
        </p:nvSpPr>
        <p:spPr>
          <a:xfrm>
            <a:off x="1899358" y="4788337"/>
            <a:ext cx="5638345" cy="1608679"/>
          </a:xfrm>
          <a:prstGeom prst="rect">
            <a:avLst/>
          </a:prstGeom>
          <a:noFill/>
          <a:ln>
            <a:noFill/>
          </a:ln>
        </p:spPr>
        <p:txBody>
          <a:bodyPr anchorCtr="0" anchor="t" bIns="0" lIns="0" spcFirstLastPara="1" rIns="0" wrap="square" tIns="13175">
            <a:spAutoFit/>
          </a:bodyPr>
          <a:lstStyle/>
          <a:p>
            <a:pPr indent="0" lvl="0" marL="39590" marR="31672" rtl="0" algn="l">
              <a:spcBef>
                <a:spcPts val="0"/>
              </a:spcBef>
              <a:spcAft>
                <a:spcPts val="0"/>
              </a:spcAft>
              <a:buNone/>
            </a:pPr>
            <a:r>
              <a:rPr lang="ru-RU" sz="2494">
                <a:solidFill>
                  <a:schemeClr val="dk1"/>
                </a:solidFill>
                <a:latin typeface="Arial"/>
                <a:ea typeface="Arial"/>
                <a:cs typeface="Arial"/>
                <a:sym typeface="Arial"/>
              </a:rPr>
              <a:t>Мы </a:t>
            </a:r>
            <a:r>
              <a:rPr lang="ru-RU" sz="2494" u="sng">
                <a:solidFill>
                  <a:schemeClr val="dk1"/>
                </a:solidFill>
                <a:latin typeface="Arial"/>
                <a:ea typeface="Arial"/>
                <a:cs typeface="Arial"/>
                <a:sym typeface="Arial"/>
              </a:rPr>
              <a:t>отвергаем</a:t>
            </a:r>
            <a:r>
              <a:rPr lang="ru-RU" sz="2494">
                <a:solidFill>
                  <a:schemeClr val="dk1"/>
                </a:solidFill>
                <a:latin typeface="Arial"/>
                <a:ea typeface="Arial"/>
                <a:cs typeface="Arial"/>
                <a:sym typeface="Arial"/>
              </a:rPr>
              <a:t> Н</a:t>
            </a:r>
            <a:r>
              <a:rPr baseline="-25000" lang="ru-RU" sz="2494">
                <a:solidFill>
                  <a:schemeClr val="dk1"/>
                </a:solidFill>
                <a:latin typeface="Arial"/>
                <a:ea typeface="Arial"/>
                <a:cs typeface="Arial"/>
                <a:sym typeface="Arial"/>
              </a:rPr>
              <a:t>0</a:t>
            </a:r>
            <a:r>
              <a:rPr lang="ru-RU" sz="2494">
                <a:solidFill>
                  <a:schemeClr val="dk1"/>
                </a:solidFill>
                <a:latin typeface="Arial"/>
                <a:ea typeface="Arial"/>
                <a:cs typeface="Arial"/>
                <a:sym typeface="Arial"/>
              </a:rPr>
              <a:t>, т.е., масса  землероек в заповеднике </a:t>
            </a:r>
            <a:r>
              <a:rPr lang="ru-RU" sz="2494" u="sng">
                <a:solidFill>
                  <a:schemeClr val="dk1"/>
                </a:solidFill>
                <a:latin typeface="Arial"/>
                <a:ea typeface="Arial"/>
                <a:cs typeface="Arial"/>
                <a:sym typeface="Arial"/>
              </a:rPr>
              <a:t>достоверно </a:t>
            </a:r>
            <a:r>
              <a:rPr lang="ru-RU" sz="2494">
                <a:solidFill>
                  <a:schemeClr val="dk1"/>
                </a:solidFill>
                <a:latin typeface="Arial"/>
                <a:ea typeface="Arial"/>
                <a:cs typeface="Arial"/>
                <a:sym typeface="Arial"/>
              </a:rPr>
              <a:t> (с уровнем значимости 0.05)  отличается от 90 г.</a:t>
            </a:r>
            <a:endParaRPr sz="2494">
              <a:solidFill>
                <a:schemeClr val="dk1"/>
              </a:solidFill>
              <a:latin typeface="Arial"/>
              <a:ea typeface="Arial"/>
              <a:cs typeface="Arial"/>
              <a:sym typeface="Arial"/>
            </a:endParaRPr>
          </a:p>
        </p:txBody>
      </p:sp>
      <p:sp>
        <p:nvSpPr>
          <p:cNvPr id="1140" name="Google Shape;1140;p92"/>
          <p:cNvSpPr/>
          <p:nvPr/>
        </p:nvSpPr>
        <p:spPr>
          <a:xfrm>
            <a:off x="7381690" y="1761777"/>
            <a:ext cx="2918083" cy="4196592"/>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41" name="Google Shape;1141;p92"/>
          <p:cNvSpPr/>
          <p:nvPr/>
        </p:nvSpPr>
        <p:spPr>
          <a:xfrm>
            <a:off x="7408723" y="6035144"/>
            <a:ext cx="3014196" cy="103014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42" name="Google Shape;1142;p92"/>
          <p:cNvSpPr/>
          <p:nvPr/>
        </p:nvSpPr>
        <p:spPr>
          <a:xfrm>
            <a:off x="2058353" y="322264"/>
            <a:ext cx="8379460" cy="860019"/>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43" name="Google Shape;1143;p92"/>
          <p:cNvSpPr txBox="1"/>
          <p:nvPr/>
        </p:nvSpPr>
        <p:spPr>
          <a:xfrm>
            <a:off x="2448274" y="210705"/>
            <a:ext cx="8134001" cy="690434"/>
          </a:xfrm>
          <a:prstGeom prst="rect">
            <a:avLst/>
          </a:prstGeom>
          <a:noFill/>
          <a:ln>
            <a:noFill/>
          </a:ln>
        </p:spPr>
        <p:txBody>
          <a:bodyPr anchorCtr="0" anchor="t" bIns="0" lIns="0" spcFirstLastPara="1" rIns="0" wrap="square" tIns="13175">
            <a:spAutoFit/>
          </a:bodyPr>
          <a:lstStyle/>
          <a:p>
            <a:pPr indent="0" lvl="0" marL="13197" marR="0" rtl="0" algn="ctr">
              <a:spcBef>
                <a:spcPts val="0"/>
              </a:spcBef>
              <a:spcAft>
                <a:spcPts val="0"/>
              </a:spcAft>
              <a:buNone/>
            </a:pPr>
            <a:r>
              <a:rPr lang="ru-RU" sz="4400">
                <a:solidFill>
                  <a:schemeClr val="dk2"/>
                </a:solidFill>
                <a:latin typeface="Calibri"/>
                <a:ea typeface="Calibri"/>
                <a:cs typeface="Calibri"/>
                <a:sym typeface="Calibri"/>
              </a:rPr>
              <a:t>Одновыборочные критерии</a:t>
            </a:r>
            <a:endParaRPr/>
          </a:p>
        </p:txBody>
      </p:sp>
      <p:sp>
        <p:nvSpPr>
          <p:cNvPr id="1144" name="Google Shape;1144;p92"/>
          <p:cNvSpPr/>
          <p:nvPr/>
        </p:nvSpPr>
        <p:spPr>
          <a:xfrm>
            <a:off x="2908472" y="726491"/>
            <a:ext cx="7673803" cy="400110"/>
          </a:xfrm>
          <a:prstGeom prst="rect">
            <a:avLst/>
          </a:prstGeom>
          <a:noFill/>
          <a:ln>
            <a:noFill/>
          </a:ln>
        </p:spPr>
        <p:txBody>
          <a:bodyPr anchorCtr="0" anchor="t" bIns="45700" lIns="91425" spcFirstLastPara="1" rIns="91425" wrap="square" tIns="45700">
            <a:spAutoFit/>
          </a:bodyPr>
          <a:lstStyle/>
          <a:p>
            <a:pPr indent="0" lvl="0" marL="344430" marR="0" rtl="0" algn="l">
              <a:spcBef>
                <a:spcPts val="0"/>
              </a:spcBef>
              <a:spcAft>
                <a:spcPts val="0"/>
              </a:spcAft>
              <a:buNone/>
            </a:pPr>
            <a:r>
              <a:rPr lang="ru-RU" sz="2000">
                <a:solidFill>
                  <a:srgbClr val="CC0000"/>
                </a:solidFill>
                <a:latin typeface="Arial"/>
                <a:ea typeface="Arial"/>
                <a:cs typeface="Arial"/>
                <a:sym typeface="Arial"/>
              </a:rPr>
              <a:t>сравнивающие среднее значение с заданным числом.</a:t>
            </a:r>
            <a:endParaRPr sz="2000">
              <a:solidFill>
                <a:schemeClr val="dk1"/>
              </a:solidFill>
              <a:latin typeface="Arial"/>
              <a:ea typeface="Arial"/>
              <a:cs typeface="Arial"/>
              <a:sym typeface="Arial"/>
            </a:endParaRPr>
          </a:p>
        </p:txBody>
      </p:sp>
      <p:sp>
        <p:nvSpPr>
          <p:cNvPr id="1145" name="Google Shape;1145;p92"/>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93"/>
          <p:cNvSpPr/>
          <p:nvPr/>
        </p:nvSpPr>
        <p:spPr>
          <a:xfrm>
            <a:off x="1438275" y="322263"/>
            <a:ext cx="1108853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51" name="Google Shape;1151;p93"/>
          <p:cNvSpPr/>
          <p:nvPr/>
        </p:nvSpPr>
        <p:spPr>
          <a:xfrm>
            <a:off x="2058353" y="322264"/>
            <a:ext cx="8379460"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200">
              <a:solidFill>
                <a:schemeClr val="lt1"/>
              </a:solidFill>
              <a:latin typeface="Arial"/>
              <a:ea typeface="Arial"/>
              <a:cs typeface="Arial"/>
              <a:sym typeface="Arial"/>
            </a:endParaRPr>
          </a:p>
        </p:txBody>
      </p:sp>
      <p:sp>
        <p:nvSpPr>
          <p:cNvPr id="1152" name="Google Shape;1152;p93"/>
          <p:cNvSpPr/>
          <p:nvPr/>
        </p:nvSpPr>
        <p:spPr>
          <a:xfrm>
            <a:off x="5471749" y="751370"/>
            <a:ext cx="61953" cy="6162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153" name="Google Shape;1153;p93"/>
          <p:cNvSpPr txBox="1"/>
          <p:nvPr>
            <p:ph type="title"/>
          </p:nvPr>
        </p:nvSpPr>
        <p:spPr>
          <a:xfrm>
            <a:off x="2445693" y="430513"/>
            <a:ext cx="7704856" cy="505768"/>
          </a:xfrm>
          <a:prstGeom prst="rect">
            <a:avLst/>
          </a:prstGeom>
          <a:noFill/>
          <a:ln>
            <a:noFill/>
          </a:ln>
        </p:spPr>
        <p:txBody>
          <a:bodyPr anchorCtr="0" anchor="ctr" bIns="0" lIns="0" spcFirstLastPara="1" rIns="0" wrap="square" tIns="13175">
            <a:spAutoFit/>
          </a:bodyPr>
          <a:lstStyle/>
          <a:p>
            <a:pPr indent="0" lvl="0" marL="13197" rtl="0" algn="ctr">
              <a:spcBef>
                <a:spcPts val="0"/>
              </a:spcBef>
              <a:spcAft>
                <a:spcPts val="0"/>
              </a:spcAft>
              <a:buClr>
                <a:srgbClr val="000000"/>
              </a:buClr>
              <a:buSzPts val="3200"/>
              <a:buFont typeface="Arial"/>
              <a:buNone/>
            </a:pPr>
            <a:r>
              <a:rPr b="1" lang="ru-RU" sz="3200">
                <a:solidFill>
                  <a:srgbClr val="000000"/>
                </a:solidFill>
                <a:latin typeface="Arial"/>
                <a:ea typeface="Arial"/>
                <a:cs typeface="Arial"/>
                <a:sym typeface="Arial"/>
              </a:rPr>
              <a:t>Общая схема тестирования гипотезы:</a:t>
            </a:r>
            <a:endParaRPr/>
          </a:p>
        </p:txBody>
      </p:sp>
      <p:sp>
        <p:nvSpPr>
          <p:cNvPr id="1154" name="Google Shape;1154;p93"/>
          <p:cNvSpPr txBox="1"/>
          <p:nvPr/>
        </p:nvSpPr>
        <p:spPr>
          <a:xfrm>
            <a:off x="1831368" y="1113632"/>
            <a:ext cx="9005516" cy="2603779"/>
          </a:xfrm>
          <a:prstGeom prst="rect">
            <a:avLst/>
          </a:prstGeom>
          <a:noFill/>
          <a:ln>
            <a:noFill/>
          </a:ln>
        </p:spPr>
        <p:txBody>
          <a:bodyPr anchorCtr="0" anchor="t" bIns="0" lIns="0" spcFirstLastPara="1" rIns="0" wrap="square" tIns="13175">
            <a:spAutoFit/>
          </a:bodyPr>
          <a:lstStyle/>
          <a:p>
            <a:pPr indent="-475077" lvl="0" marL="554256" marR="84458" rtl="0" algn="l">
              <a:spcBef>
                <a:spcPts val="0"/>
              </a:spcBef>
              <a:spcAft>
                <a:spcPts val="0"/>
              </a:spcAft>
              <a:buClr>
                <a:schemeClr val="dk1"/>
              </a:buClr>
              <a:buSzPts val="2000"/>
              <a:buFont typeface="Arial"/>
              <a:buAutoNum type="arabicPeriod"/>
            </a:pPr>
            <a:r>
              <a:rPr lang="ru-RU" sz="2000">
                <a:solidFill>
                  <a:schemeClr val="dk1"/>
                </a:solidFill>
                <a:latin typeface="Arial"/>
                <a:ea typeface="Arial"/>
                <a:cs typeface="Arial"/>
                <a:sym typeface="Arial"/>
              </a:rPr>
              <a:t>Формулируем Н</a:t>
            </a:r>
            <a:r>
              <a:rPr baseline="-25000" lang="ru-RU" sz="2000">
                <a:solidFill>
                  <a:schemeClr val="dk1"/>
                </a:solidFill>
                <a:latin typeface="Arial"/>
                <a:ea typeface="Arial"/>
                <a:cs typeface="Arial"/>
                <a:sym typeface="Arial"/>
              </a:rPr>
              <a:t>0 </a:t>
            </a:r>
            <a:r>
              <a:rPr lang="ru-RU" sz="2000">
                <a:solidFill>
                  <a:schemeClr val="dk1"/>
                </a:solidFill>
                <a:latin typeface="Arial"/>
                <a:ea typeface="Arial"/>
                <a:cs typeface="Arial"/>
                <a:sym typeface="Arial"/>
              </a:rPr>
              <a:t>и Н</a:t>
            </a:r>
            <a:r>
              <a:rPr baseline="-25000" lang="ru-RU" sz="2000">
                <a:solidFill>
                  <a:schemeClr val="dk1"/>
                </a:solidFill>
                <a:latin typeface="Arial"/>
                <a:ea typeface="Arial"/>
                <a:cs typeface="Arial"/>
                <a:sym typeface="Arial"/>
              </a:rPr>
              <a:t>1</a:t>
            </a:r>
            <a:r>
              <a:rPr lang="ru-RU" sz="2000">
                <a:solidFill>
                  <a:schemeClr val="dk1"/>
                </a:solidFill>
                <a:latin typeface="Arial"/>
                <a:ea typeface="Arial"/>
                <a:cs typeface="Arial"/>
                <a:sym typeface="Arial"/>
              </a:rPr>
              <a:t>. Строим распределения такие, как  будто Н</a:t>
            </a:r>
            <a:r>
              <a:rPr baseline="-25000" lang="ru-RU" sz="2000">
                <a:solidFill>
                  <a:schemeClr val="dk1"/>
                </a:solidFill>
                <a:latin typeface="Arial"/>
                <a:ea typeface="Arial"/>
                <a:cs typeface="Arial"/>
                <a:sym typeface="Arial"/>
              </a:rPr>
              <a:t>0 </a:t>
            </a:r>
            <a:r>
              <a:rPr lang="ru-RU" sz="2000">
                <a:solidFill>
                  <a:schemeClr val="dk1"/>
                </a:solidFill>
                <a:latin typeface="Arial"/>
                <a:ea typeface="Arial"/>
                <a:cs typeface="Arial"/>
                <a:sym typeface="Arial"/>
              </a:rPr>
              <a:t>верна</a:t>
            </a:r>
            <a:r>
              <a:rPr lang="ru-RU"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475735" lvl="1" marL="1029332" marR="0" rtl="0" algn="l">
              <a:spcBef>
                <a:spcPts val="1003"/>
              </a:spcBef>
              <a:spcAft>
                <a:spcPts val="0"/>
              </a:spcAft>
              <a:buClr>
                <a:schemeClr val="dk1"/>
              </a:buClr>
              <a:buSzPts val="2000"/>
              <a:buFont typeface="Arial"/>
              <a:buChar char="•"/>
            </a:pPr>
            <a:r>
              <a:rPr b="0" i="0" lang="ru-RU" sz="2000" u="none" cap="none" strike="noStrike">
                <a:solidFill>
                  <a:schemeClr val="dk1"/>
                </a:solidFill>
                <a:latin typeface="Arial"/>
                <a:ea typeface="Arial"/>
                <a:cs typeface="Arial"/>
                <a:sym typeface="Arial"/>
              </a:rPr>
              <a:t>распределение исследуемой переменной;</a:t>
            </a:r>
            <a:endParaRPr b="0" i="0" sz="2000" u="none" cap="none" strike="noStrike">
              <a:solidFill>
                <a:schemeClr val="dk1"/>
              </a:solidFill>
              <a:latin typeface="Arial"/>
              <a:ea typeface="Arial"/>
              <a:cs typeface="Arial"/>
              <a:sym typeface="Arial"/>
            </a:endParaRPr>
          </a:p>
          <a:p>
            <a:pPr indent="-475735" lvl="1" marL="1029332" marR="0" rtl="0" algn="l">
              <a:spcBef>
                <a:spcPts val="0"/>
              </a:spcBef>
              <a:spcAft>
                <a:spcPts val="0"/>
              </a:spcAft>
              <a:buClr>
                <a:schemeClr val="dk1"/>
              </a:buClr>
              <a:buSzPts val="2000"/>
              <a:buFont typeface="Arial"/>
              <a:buChar char="•"/>
            </a:pPr>
            <a:r>
              <a:rPr b="0" i="0" lang="ru-RU" sz="2000" u="none" cap="none" strike="noStrike">
                <a:solidFill>
                  <a:schemeClr val="dk1"/>
                </a:solidFill>
                <a:latin typeface="Arial"/>
                <a:ea typeface="Arial"/>
                <a:cs typeface="Arial"/>
                <a:sym typeface="Arial"/>
              </a:rPr>
              <a:t>распределение параметра выборки;</a:t>
            </a:r>
            <a:endParaRPr b="0" i="0" sz="2000" u="none" cap="none" strike="noStrike">
              <a:solidFill>
                <a:schemeClr val="dk1"/>
              </a:solidFill>
              <a:latin typeface="Arial"/>
              <a:ea typeface="Arial"/>
              <a:cs typeface="Arial"/>
              <a:sym typeface="Arial"/>
            </a:endParaRPr>
          </a:p>
          <a:p>
            <a:pPr indent="-475735" lvl="1" marL="1029332" marR="0" rtl="0" algn="l">
              <a:spcBef>
                <a:spcPts val="0"/>
              </a:spcBef>
              <a:spcAft>
                <a:spcPts val="0"/>
              </a:spcAft>
              <a:buClr>
                <a:schemeClr val="dk1"/>
              </a:buClr>
              <a:buSzPts val="2000"/>
              <a:buFont typeface="Arial"/>
              <a:buChar char="•"/>
            </a:pPr>
            <a:r>
              <a:rPr b="0" i="0" lang="ru-RU" sz="2000" u="none" cap="none" strike="noStrike">
                <a:solidFill>
                  <a:schemeClr val="dk1"/>
                </a:solidFill>
                <a:latin typeface="Arial"/>
                <a:ea typeface="Arial"/>
                <a:cs typeface="Arial"/>
                <a:sym typeface="Arial"/>
              </a:rPr>
              <a:t>распределение </a:t>
            </a:r>
            <a:r>
              <a:rPr b="0" i="0" lang="ru-RU" sz="2000" u="sng" cap="none" strike="noStrike">
                <a:solidFill>
                  <a:schemeClr val="dk1"/>
                </a:solidFill>
                <a:latin typeface="Arial"/>
                <a:ea typeface="Arial"/>
                <a:cs typeface="Arial"/>
                <a:sym typeface="Arial"/>
              </a:rPr>
              <a:t>статистики критерия</a:t>
            </a:r>
            <a:r>
              <a:rPr b="0" i="0" lang="ru-RU"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475077" lvl="0" marL="554256" marR="0" rtl="0" algn="l">
              <a:spcBef>
                <a:spcPts val="1190"/>
              </a:spcBef>
              <a:spcAft>
                <a:spcPts val="0"/>
              </a:spcAft>
              <a:buClr>
                <a:schemeClr val="dk1"/>
              </a:buClr>
              <a:buSzPts val="2000"/>
              <a:buFont typeface="Arial"/>
              <a:buAutoNum type="arabicPeriod"/>
            </a:pPr>
            <a:r>
              <a:rPr lang="ru-RU" sz="2000">
                <a:solidFill>
                  <a:schemeClr val="dk1"/>
                </a:solidFill>
                <a:latin typeface="Arial"/>
                <a:ea typeface="Arial"/>
                <a:cs typeface="Arial"/>
                <a:sym typeface="Arial"/>
              </a:rPr>
              <a:t>Устанавливаем условия, при которых мы отвергнем Н</a:t>
            </a:r>
            <a:r>
              <a:rPr baseline="-25000" lang="ru-RU" sz="2000">
                <a:solidFill>
                  <a:schemeClr val="dk1"/>
                </a:solidFill>
                <a:latin typeface="Arial"/>
                <a:ea typeface="Arial"/>
                <a:cs typeface="Arial"/>
                <a:sym typeface="Arial"/>
              </a:rPr>
              <a:t>0 </a:t>
            </a:r>
            <a:r>
              <a:rPr lang="ru-RU" sz="2000">
                <a:solidFill>
                  <a:schemeClr val="dk1"/>
                </a:solidFill>
                <a:latin typeface="Arial"/>
                <a:ea typeface="Arial"/>
                <a:cs typeface="Arial"/>
                <a:sym typeface="Arial"/>
              </a:rPr>
              <a:t>– </a:t>
            </a:r>
            <a:endParaRPr/>
          </a:p>
          <a:p>
            <a:pPr indent="0" lvl="0" marL="79179" marR="0" rtl="0" algn="l">
              <a:spcBef>
                <a:spcPts val="1190"/>
              </a:spcBef>
              <a:spcAft>
                <a:spcPts val="0"/>
              </a:spcAft>
              <a:buNone/>
            </a:pPr>
            <a:r>
              <a:rPr lang="ru-RU" sz="2000">
                <a:solidFill>
                  <a:schemeClr val="dk1"/>
                </a:solidFill>
                <a:latin typeface="Arial"/>
                <a:ea typeface="Arial"/>
                <a:cs typeface="Arial"/>
                <a:sym typeface="Arial"/>
              </a:rPr>
              <a:t>определяем</a:t>
            </a:r>
            <a:endParaRPr sz="2000">
              <a:solidFill>
                <a:schemeClr val="dk1"/>
              </a:solidFill>
              <a:latin typeface="Arial"/>
              <a:ea typeface="Arial"/>
              <a:cs typeface="Arial"/>
              <a:sym typeface="Arial"/>
            </a:endParaRPr>
          </a:p>
        </p:txBody>
      </p:sp>
      <p:sp>
        <p:nvSpPr>
          <p:cNvPr id="1155" name="Google Shape;1155;p93"/>
          <p:cNvSpPr txBox="1"/>
          <p:nvPr/>
        </p:nvSpPr>
        <p:spPr>
          <a:xfrm>
            <a:off x="2157507" y="3715364"/>
            <a:ext cx="6062623" cy="973294"/>
          </a:xfrm>
          <a:prstGeom prst="rect">
            <a:avLst/>
          </a:prstGeom>
          <a:noFill/>
          <a:ln>
            <a:noFill/>
          </a:ln>
        </p:spPr>
        <p:txBody>
          <a:bodyPr anchorCtr="0" anchor="t" bIns="0" lIns="0" spcFirstLastPara="1" rIns="0" wrap="square" tIns="13850">
            <a:spAutoFit/>
          </a:bodyPr>
          <a:lstStyle/>
          <a:p>
            <a:pPr indent="-475735" lvl="0" marL="488273"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уровень значимости;</a:t>
            </a:r>
            <a:endParaRPr sz="2000">
              <a:solidFill>
                <a:schemeClr val="dk1"/>
              </a:solidFill>
              <a:latin typeface="Arial"/>
              <a:ea typeface="Arial"/>
              <a:cs typeface="Arial"/>
              <a:sym typeface="Arial"/>
            </a:endParaRPr>
          </a:p>
          <a:p>
            <a:pPr indent="-475735" lvl="0" marL="488273" marR="0" rtl="0" algn="l">
              <a:spcBef>
                <a:spcPts val="0"/>
              </a:spcBef>
              <a:spcAft>
                <a:spcPts val="0"/>
              </a:spcAft>
              <a:buClr>
                <a:schemeClr val="dk1"/>
              </a:buClr>
              <a:buSzPts val="2000"/>
              <a:buFont typeface="Arial"/>
              <a:buChar char="•"/>
            </a:pPr>
            <a:r>
              <a:rPr lang="ru-RU" sz="2000">
                <a:solidFill>
                  <a:schemeClr val="dk1"/>
                </a:solidFill>
                <a:latin typeface="Arial"/>
                <a:ea typeface="Arial"/>
                <a:cs typeface="Arial"/>
                <a:sym typeface="Arial"/>
              </a:rPr>
              <a:t>односторонний или двусторонний будет тест;</a:t>
            </a:r>
            <a:endParaRPr sz="2000">
              <a:solidFill>
                <a:schemeClr val="dk1"/>
              </a:solidFill>
              <a:latin typeface="Arial"/>
              <a:ea typeface="Arial"/>
              <a:cs typeface="Arial"/>
              <a:sym typeface="Arial"/>
            </a:endParaRPr>
          </a:p>
          <a:p>
            <a:pPr indent="-475735" lvl="0" marL="488273" marR="0" rtl="0" algn="l">
              <a:spcBef>
                <a:spcPts val="0"/>
              </a:spcBef>
              <a:spcAft>
                <a:spcPts val="0"/>
              </a:spcAft>
              <a:buClr>
                <a:schemeClr val="dk1"/>
              </a:buClr>
              <a:buSzPts val="2000"/>
              <a:buFont typeface="Arial"/>
              <a:buChar char="•"/>
            </a:pPr>
            <a:r>
              <a:rPr b="1" lang="ru-RU" sz="2000">
                <a:solidFill>
                  <a:schemeClr val="dk1"/>
                </a:solidFill>
                <a:latin typeface="Arial"/>
                <a:ea typeface="Arial"/>
                <a:cs typeface="Arial"/>
                <a:sym typeface="Arial"/>
              </a:rPr>
              <a:t>критическое значение </a:t>
            </a:r>
            <a:r>
              <a:rPr lang="ru-RU" sz="2000">
                <a:solidFill>
                  <a:schemeClr val="dk1"/>
                </a:solidFill>
                <a:latin typeface="Arial"/>
                <a:ea typeface="Arial"/>
                <a:cs typeface="Arial"/>
                <a:sym typeface="Arial"/>
              </a:rPr>
              <a:t>статистики критерия.</a:t>
            </a:r>
            <a:endParaRPr sz="2000">
              <a:solidFill>
                <a:schemeClr val="dk1"/>
              </a:solidFill>
              <a:latin typeface="Arial"/>
              <a:ea typeface="Arial"/>
              <a:cs typeface="Arial"/>
              <a:sym typeface="Arial"/>
            </a:endParaRPr>
          </a:p>
        </p:txBody>
      </p:sp>
      <p:sp>
        <p:nvSpPr>
          <p:cNvPr id="1156" name="Google Shape;1156;p93"/>
          <p:cNvSpPr txBox="1"/>
          <p:nvPr/>
        </p:nvSpPr>
        <p:spPr>
          <a:xfrm>
            <a:off x="2016784" y="4857460"/>
            <a:ext cx="8634684" cy="1883068"/>
          </a:xfrm>
          <a:prstGeom prst="rect">
            <a:avLst/>
          </a:prstGeom>
          <a:noFill/>
          <a:ln>
            <a:noFill/>
          </a:ln>
        </p:spPr>
        <p:txBody>
          <a:bodyPr anchorCtr="0" anchor="t" bIns="0" lIns="0" spcFirstLastPara="1" rIns="0" wrap="square" tIns="13175">
            <a:spAutoFit/>
          </a:bodyPr>
          <a:lstStyle/>
          <a:p>
            <a:pPr indent="-475077" lvl="0" marL="514666" marR="31672" rtl="0" algn="l">
              <a:spcBef>
                <a:spcPts val="0"/>
              </a:spcBef>
              <a:spcAft>
                <a:spcPts val="0"/>
              </a:spcAft>
              <a:buClr>
                <a:schemeClr val="dk1"/>
              </a:buClr>
              <a:buSzPts val="2000"/>
              <a:buFont typeface="Arial"/>
              <a:buAutoNum type="arabicPeriod" startAt="3"/>
            </a:pPr>
            <a:r>
              <a:rPr lang="ru-RU" sz="2000">
                <a:solidFill>
                  <a:schemeClr val="dk1"/>
                </a:solidFill>
                <a:latin typeface="Arial"/>
                <a:ea typeface="Arial"/>
                <a:cs typeface="Arial"/>
                <a:sym typeface="Arial"/>
              </a:rPr>
              <a:t>Считаем </a:t>
            </a:r>
            <a:r>
              <a:rPr lang="ru-RU" sz="2000" u="sng">
                <a:solidFill>
                  <a:schemeClr val="dk1"/>
                </a:solidFill>
                <a:latin typeface="Arial"/>
                <a:ea typeface="Arial"/>
                <a:cs typeface="Arial"/>
                <a:sym typeface="Arial"/>
              </a:rPr>
              <a:t>параметр</a:t>
            </a:r>
            <a:r>
              <a:rPr lang="ru-RU" sz="2000">
                <a:solidFill>
                  <a:schemeClr val="dk1"/>
                </a:solidFill>
                <a:latin typeface="Arial"/>
                <a:ea typeface="Arial"/>
                <a:cs typeface="Arial"/>
                <a:sym typeface="Arial"/>
              </a:rPr>
              <a:t> выборки и </a:t>
            </a:r>
            <a:r>
              <a:rPr lang="ru-RU" sz="2000" u="sng">
                <a:solidFill>
                  <a:schemeClr val="dk1"/>
                </a:solidFill>
                <a:latin typeface="Arial"/>
                <a:ea typeface="Arial"/>
                <a:cs typeface="Arial"/>
                <a:sym typeface="Arial"/>
              </a:rPr>
              <a:t>статистику критерия</a:t>
            </a:r>
            <a:r>
              <a:rPr lang="ru-RU" sz="2000">
                <a:solidFill>
                  <a:schemeClr val="dk1"/>
                </a:solidFill>
                <a:latin typeface="Arial"/>
                <a:ea typeface="Arial"/>
                <a:cs typeface="Arial"/>
                <a:sym typeface="Arial"/>
              </a:rPr>
              <a:t> для </a:t>
            </a:r>
            <a:r>
              <a:rPr lang="ru-RU" sz="2000" u="sng">
                <a:solidFill>
                  <a:schemeClr val="dk1"/>
                </a:solidFill>
                <a:latin typeface="Arial"/>
                <a:ea typeface="Arial"/>
                <a:cs typeface="Arial"/>
                <a:sym typeface="Arial"/>
              </a:rPr>
              <a:t> реальной</a:t>
            </a:r>
            <a:r>
              <a:rPr lang="ru-RU" sz="2000">
                <a:solidFill>
                  <a:schemeClr val="dk1"/>
                </a:solidFill>
                <a:latin typeface="Arial"/>
                <a:ea typeface="Arial"/>
                <a:cs typeface="Arial"/>
                <a:sym typeface="Arial"/>
              </a:rPr>
              <a:t> выборки, сравниваем их с критическими  значениями.</a:t>
            </a:r>
            <a:endParaRPr sz="2000">
              <a:solidFill>
                <a:schemeClr val="dk1"/>
              </a:solidFill>
              <a:latin typeface="Arial"/>
              <a:ea typeface="Arial"/>
              <a:cs typeface="Arial"/>
              <a:sym typeface="Arial"/>
            </a:endParaRPr>
          </a:p>
          <a:p>
            <a:pPr indent="-475077" lvl="0" marL="514666" marR="0" rtl="0" algn="l">
              <a:spcBef>
                <a:spcPts val="899"/>
              </a:spcBef>
              <a:spcAft>
                <a:spcPts val="0"/>
              </a:spcAft>
              <a:buClr>
                <a:schemeClr val="dk1"/>
              </a:buClr>
              <a:buSzPts val="2000"/>
              <a:buFont typeface="Arial"/>
              <a:buAutoNum type="arabicPeriod" startAt="3"/>
            </a:pPr>
            <a:r>
              <a:rPr lang="ru-RU" sz="2000">
                <a:solidFill>
                  <a:schemeClr val="dk1"/>
                </a:solidFill>
                <a:latin typeface="Arial"/>
                <a:ea typeface="Arial"/>
                <a:cs typeface="Arial"/>
                <a:sym typeface="Arial"/>
              </a:rPr>
              <a:t>Интерпретируем результаты:</a:t>
            </a:r>
            <a:endParaRPr sz="2000">
              <a:solidFill>
                <a:schemeClr val="dk1"/>
              </a:solidFill>
              <a:latin typeface="Arial"/>
              <a:ea typeface="Arial"/>
              <a:cs typeface="Arial"/>
              <a:sym typeface="Arial"/>
            </a:endParaRPr>
          </a:p>
          <a:p>
            <a:pPr indent="-475734" lvl="1" marL="989743" marR="124706" rtl="0" algn="l">
              <a:spcBef>
                <a:spcPts val="5"/>
              </a:spcBef>
              <a:spcAft>
                <a:spcPts val="0"/>
              </a:spcAft>
              <a:buClr>
                <a:schemeClr val="dk1"/>
              </a:buClr>
              <a:buSzPts val="1800"/>
              <a:buFont typeface="Arial"/>
              <a:buChar char="•"/>
            </a:pPr>
            <a:r>
              <a:rPr b="0" i="0" lang="ru-RU" sz="1800" u="none" cap="none" strike="noStrike">
                <a:solidFill>
                  <a:schemeClr val="dk1"/>
                </a:solidFill>
                <a:latin typeface="Arial"/>
                <a:ea typeface="Arial"/>
                <a:cs typeface="Arial"/>
                <a:sym typeface="Arial"/>
              </a:rPr>
              <a:t>Можем ли мы отвергнуть Н</a:t>
            </a:r>
            <a:r>
              <a:rPr b="0" baseline="-25000" i="0" lang="ru-RU" sz="1800" u="none" cap="none" strike="noStrike">
                <a:solidFill>
                  <a:schemeClr val="dk1"/>
                </a:solidFill>
                <a:latin typeface="Arial"/>
                <a:ea typeface="Arial"/>
                <a:cs typeface="Arial"/>
                <a:sym typeface="Arial"/>
              </a:rPr>
              <a:t>0</a:t>
            </a:r>
            <a:r>
              <a:rPr b="0" i="0" lang="ru-RU" sz="1800" u="none" cap="none" strike="noStrike">
                <a:solidFill>
                  <a:schemeClr val="dk1"/>
                </a:solidFill>
                <a:latin typeface="Arial"/>
                <a:ea typeface="Arial"/>
                <a:cs typeface="Arial"/>
                <a:sym typeface="Arial"/>
              </a:rPr>
              <a:t>? Т.е., достоверны ли результаты  статистически?</a:t>
            </a:r>
            <a:endParaRPr b="0" i="0" sz="1800" u="none" cap="none" strike="noStrike">
              <a:solidFill>
                <a:schemeClr val="dk1"/>
              </a:solidFill>
              <a:latin typeface="Arial"/>
              <a:ea typeface="Arial"/>
              <a:cs typeface="Arial"/>
              <a:sym typeface="Arial"/>
            </a:endParaRPr>
          </a:p>
          <a:p>
            <a:pPr indent="-475734" lvl="1" marL="989743" marR="0" rtl="0" algn="l">
              <a:spcBef>
                <a:spcPts val="0"/>
              </a:spcBef>
              <a:spcAft>
                <a:spcPts val="0"/>
              </a:spcAft>
              <a:buClr>
                <a:schemeClr val="dk1"/>
              </a:buClr>
              <a:buSzPts val="1800"/>
              <a:buFont typeface="Arial"/>
              <a:buChar char="•"/>
            </a:pPr>
            <a:r>
              <a:rPr b="0" i="0" lang="ru-RU" sz="1800" u="none" cap="none" strike="noStrike">
                <a:solidFill>
                  <a:schemeClr val="dk1"/>
                </a:solidFill>
                <a:latin typeface="Arial"/>
                <a:ea typeface="Arial"/>
                <a:cs typeface="Arial"/>
                <a:sym typeface="Arial"/>
              </a:rPr>
              <a:t>Если да, достоверны ли они ПРАКТИЧЕСКИ?</a:t>
            </a:r>
            <a:endParaRPr b="0" i="0" sz="1800" u="none" cap="none" strike="noStrike">
              <a:solidFill>
                <a:schemeClr val="dk1"/>
              </a:solidFill>
              <a:latin typeface="Arial"/>
              <a:ea typeface="Arial"/>
              <a:cs typeface="Arial"/>
              <a:sym typeface="Arial"/>
            </a:endParaRPr>
          </a:p>
        </p:txBody>
      </p:sp>
      <p:sp>
        <p:nvSpPr>
          <p:cNvPr id="1157" name="Google Shape;1157;p93"/>
          <p:cNvSpPr/>
          <p:nvPr/>
        </p:nvSpPr>
        <p:spPr>
          <a:xfrm>
            <a:off x="2288543" y="1146379"/>
            <a:ext cx="2677431" cy="292338"/>
          </a:xfrm>
          <a:custGeom>
            <a:rect b="b" l="l" r="r" t="t"/>
            <a:pathLst>
              <a:path extrusionOk="0" h="503555" w="3240404">
                <a:moveTo>
                  <a:pt x="0" y="503237"/>
                </a:moveTo>
                <a:lnTo>
                  <a:pt x="3240151" y="503237"/>
                </a:lnTo>
                <a:lnTo>
                  <a:pt x="3240151" y="0"/>
                </a:lnTo>
                <a:lnTo>
                  <a:pt x="0" y="0"/>
                </a:lnTo>
                <a:lnTo>
                  <a:pt x="0" y="503237"/>
                </a:lnTo>
                <a:close/>
              </a:path>
            </a:pathLst>
          </a:custGeom>
          <a:noFill/>
          <a:ln cap="flat" cmpd="sng" w="19025">
            <a:solidFill>
              <a:srgbClr val="CC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158" name="Google Shape;1158;p93"/>
          <p:cNvSpPr/>
          <p:nvPr/>
        </p:nvSpPr>
        <p:spPr>
          <a:xfrm>
            <a:off x="2049345" y="3723019"/>
            <a:ext cx="6284990" cy="673038"/>
          </a:xfrm>
          <a:custGeom>
            <a:rect b="b" l="l" r="r" t="t"/>
            <a:pathLst>
              <a:path extrusionOk="0" h="647700" w="6048375">
                <a:moveTo>
                  <a:pt x="0" y="647700"/>
                </a:moveTo>
                <a:lnTo>
                  <a:pt x="6048375" y="647700"/>
                </a:lnTo>
                <a:lnTo>
                  <a:pt x="6048375" y="0"/>
                </a:lnTo>
                <a:lnTo>
                  <a:pt x="0" y="0"/>
                </a:lnTo>
                <a:lnTo>
                  <a:pt x="0" y="647700"/>
                </a:lnTo>
                <a:close/>
              </a:path>
            </a:pathLst>
          </a:custGeom>
          <a:noFill/>
          <a:ln cap="flat" cmpd="sng" w="19050">
            <a:solidFill>
              <a:srgbClr val="CC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159" name="Google Shape;1159;p93"/>
          <p:cNvSpPr/>
          <p:nvPr/>
        </p:nvSpPr>
        <p:spPr>
          <a:xfrm>
            <a:off x="2251261" y="6447555"/>
            <a:ext cx="6583898" cy="300228"/>
          </a:xfrm>
          <a:custGeom>
            <a:rect b="b" l="l" r="r" t="t"/>
            <a:pathLst>
              <a:path extrusionOk="0" h="288925" w="6336030">
                <a:moveTo>
                  <a:pt x="0" y="288925"/>
                </a:moveTo>
                <a:lnTo>
                  <a:pt x="6335776" y="288925"/>
                </a:lnTo>
                <a:lnTo>
                  <a:pt x="6335776" y="0"/>
                </a:lnTo>
                <a:lnTo>
                  <a:pt x="0" y="0"/>
                </a:lnTo>
                <a:lnTo>
                  <a:pt x="0" y="288925"/>
                </a:lnTo>
                <a:close/>
              </a:path>
            </a:pathLst>
          </a:custGeom>
          <a:noFill/>
          <a:ln cap="flat" cmpd="sng" w="19050">
            <a:solidFill>
              <a:srgbClr val="CC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160" name="Google Shape;1160;p93"/>
          <p:cNvSpPr/>
          <p:nvPr/>
        </p:nvSpPr>
        <p:spPr>
          <a:xfrm>
            <a:off x="6694166" y="1438717"/>
            <a:ext cx="2413273" cy="1534529"/>
          </a:xfrm>
          <a:custGeom>
            <a:rect b="b" l="l" r="r" t="t"/>
            <a:pathLst>
              <a:path extrusionOk="0" h="1953260" w="3316604">
                <a:moveTo>
                  <a:pt x="32541" y="19096"/>
                </a:moveTo>
                <a:lnTo>
                  <a:pt x="41809" y="35568"/>
                </a:lnTo>
                <a:lnTo>
                  <a:pt x="3306699" y="1952878"/>
                </a:lnTo>
                <a:lnTo>
                  <a:pt x="3316351" y="1936496"/>
                </a:lnTo>
                <a:lnTo>
                  <a:pt x="51404" y="19151"/>
                </a:lnTo>
                <a:lnTo>
                  <a:pt x="32541" y="19096"/>
                </a:lnTo>
                <a:close/>
              </a:path>
              <a:path extrusionOk="0" h="1953260" w="3316604">
                <a:moveTo>
                  <a:pt x="0" y="0"/>
                </a:moveTo>
                <a:lnTo>
                  <a:pt x="51180" y="91186"/>
                </a:lnTo>
                <a:lnTo>
                  <a:pt x="53721" y="95758"/>
                </a:lnTo>
                <a:lnTo>
                  <a:pt x="59562" y="97409"/>
                </a:lnTo>
                <a:lnTo>
                  <a:pt x="64135" y="94741"/>
                </a:lnTo>
                <a:lnTo>
                  <a:pt x="68707" y="92201"/>
                </a:lnTo>
                <a:lnTo>
                  <a:pt x="70358" y="86360"/>
                </a:lnTo>
                <a:lnTo>
                  <a:pt x="67817" y="81787"/>
                </a:lnTo>
                <a:lnTo>
                  <a:pt x="41809" y="35568"/>
                </a:lnTo>
                <a:lnTo>
                  <a:pt x="11302" y="17652"/>
                </a:lnTo>
                <a:lnTo>
                  <a:pt x="20954" y="1270"/>
                </a:lnTo>
                <a:lnTo>
                  <a:pt x="110744" y="1270"/>
                </a:lnTo>
                <a:lnTo>
                  <a:pt x="109727" y="253"/>
                </a:lnTo>
                <a:lnTo>
                  <a:pt x="0" y="0"/>
                </a:lnTo>
                <a:close/>
              </a:path>
              <a:path extrusionOk="0" h="1953260" w="3316604">
                <a:moveTo>
                  <a:pt x="20954" y="1270"/>
                </a:moveTo>
                <a:lnTo>
                  <a:pt x="11302" y="17652"/>
                </a:lnTo>
                <a:lnTo>
                  <a:pt x="41809" y="35568"/>
                </a:lnTo>
                <a:lnTo>
                  <a:pt x="32541" y="19096"/>
                </a:lnTo>
                <a:lnTo>
                  <a:pt x="16255" y="19050"/>
                </a:lnTo>
                <a:lnTo>
                  <a:pt x="24511" y="4825"/>
                </a:lnTo>
                <a:lnTo>
                  <a:pt x="27010" y="4825"/>
                </a:lnTo>
                <a:lnTo>
                  <a:pt x="20954" y="1270"/>
                </a:lnTo>
                <a:close/>
              </a:path>
              <a:path extrusionOk="0" h="1953260" w="3316604">
                <a:moveTo>
                  <a:pt x="110744" y="1270"/>
                </a:moveTo>
                <a:lnTo>
                  <a:pt x="20954" y="1270"/>
                </a:lnTo>
                <a:lnTo>
                  <a:pt x="51404" y="19151"/>
                </a:lnTo>
                <a:lnTo>
                  <a:pt x="104394" y="19303"/>
                </a:lnTo>
                <a:lnTo>
                  <a:pt x="109727" y="19303"/>
                </a:lnTo>
                <a:lnTo>
                  <a:pt x="114046" y="15112"/>
                </a:lnTo>
                <a:lnTo>
                  <a:pt x="114046" y="4572"/>
                </a:lnTo>
                <a:lnTo>
                  <a:pt x="110744" y="1270"/>
                </a:lnTo>
                <a:close/>
              </a:path>
              <a:path extrusionOk="0" h="1953260" w="3316604">
                <a:moveTo>
                  <a:pt x="27010" y="4825"/>
                </a:moveTo>
                <a:lnTo>
                  <a:pt x="24511" y="4825"/>
                </a:lnTo>
                <a:lnTo>
                  <a:pt x="32541" y="19096"/>
                </a:lnTo>
                <a:lnTo>
                  <a:pt x="51404" y="19151"/>
                </a:lnTo>
                <a:lnTo>
                  <a:pt x="27010" y="4825"/>
                </a:lnTo>
                <a:close/>
              </a:path>
              <a:path extrusionOk="0" h="1953260" w="3316604">
                <a:moveTo>
                  <a:pt x="24511" y="4825"/>
                </a:moveTo>
                <a:lnTo>
                  <a:pt x="16255" y="19050"/>
                </a:lnTo>
                <a:lnTo>
                  <a:pt x="32541" y="19096"/>
                </a:lnTo>
                <a:lnTo>
                  <a:pt x="24511" y="4825"/>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161" name="Google Shape;1161;p93"/>
          <p:cNvSpPr/>
          <p:nvPr/>
        </p:nvSpPr>
        <p:spPr>
          <a:xfrm>
            <a:off x="8503288" y="3553774"/>
            <a:ext cx="453971" cy="183436"/>
          </a:xfrm>
          <a:custGeom>
            <a:rect b="b" l="l" r="r" t="t"/>
            <a:pathLst>
              <a:path extrusionOk="0" h="176529" w="436879">
                <a:moveTo>
                  <a:pt x="78485" y="70612"/>
                </a:moveTo>
                <a:lnTo>
                  <a:pt x="72517" y="70992"/>
                </a:lnTo>
                <a:lnTo>
                  <a:pt x="69087" y="74929"/>
                </a:lnTo>
                <a:lnTo>
                  <a:pt x="0" y="153542"/>
                </a:lnTo>
                <a:lnTo>
                  <a:pt x="102361" y="174878"/>
                </a:lnTo>
                <a:lnTo>
                  <a:pt x="107442" y="176021"/>
                </a:lnTo>
                <a:lnTo>
                  <a:pt x="112522" y="172719"/>
                </a:lnTo>
                <a:lnTo>
                  <a:pt x="113665" y="167512"/>
                </a:lnTo>
                <a:lnTo>
                  <a:pt x="114680" y="162432"/>
                </a:lnTo>
                <a:lnTo>
                  <a:pt x="111378" y="157352"/>
                </a:lnTo>
                <a:lnTo>
                  <a:pt x="107992" y="156590"/>
                </a:lnTo>
                <a:lnTo>
                  <a:pt x="20954" y="156590"/>
                </a:lnTo>
                <a:lnTo>
                  <a:pt x="14985" y="138429"/>
                </a:lnTo>
                <a:lnTo>
                  <a:pt x="48397" y="127296"/>
                </a:lnTo>
                <a:lnTo>
                  <a:pt x="83311" y="87502"/>
                </a:lnTo>
                <a:lnTo>
                  <a:pt x="86868" y="83565"/>
                </a:lnTo>
                <a:lnTo>
                  <a:pt x="86486" y="77596"/>
                </a:lnTo>
                <a:lnTo>
                  <a:pt x="78485" y="70612"/>
                </a:lnTo>
                <a:close/>
              </a:path>
              <a:path extrusionOk="0" h="176529" w="436879">
                <a:moveTo>
                  <a:pt x="48397" y="127296"/>
                </a:moveTo>
                <a:lnTo>
                  <a:pt x="14985" y="138429"/>
                </a:lnTo>
                <a:lnTo>
                  <a:pt x="20954" y="156590"/>
                </a:lnTo>
                <a:lnTo>
                  <a:pt x="29334" y="153796"/>
                </a:lnTo>
                <a:lnTo>
                  <a:pt x="25146" y="153796"/>
                </a:lnTo>
                <a:lnTo>
                  <a:pt x="19939" y="138175"/>
                </a:lnTo>
                <a:lnTo>
                  <a:pt x="38851" y="138175"/>
                </a:lnTo>
                <a:lnTo>
                  <a:pt x="48397" y="127296"/>
                </a:lnTo>
                <a:close/>
              </a:path>
              <a:path extrusionOk="0" h="176529" w="436879">
                <a:moveTo>
                  <a:pt x="54523" y="145398"/>
                </a:moveTo>
                <a:lnTo>
                  <a:pt x="20954" y="156590"/>
                </a:lnTo>
                <a:lnTo>
                  <a:pt x="107992" y="156590"/>
                </a:lnTo>
                <a:lnTo>
                  <a:pt x="106299" y="156209"/>
                </a:lnTo>
                <a:lnTo>
                  <a:pt x="54523" y="145398"/>
                </a:lnTo>
                <a:close/>
              </a:path>
              <a:path extrusionOk="0" h="176529" w="436879">
                <a:moveTo>
                  <a:pt x="19939" y="138175"/>
                </a:moveTo>
                <a:lnTo>
                  <a:pt x="25146" y="153796"/>
                </a:lnTo>
                <a:lnTo>
                  <a:pt x="35923" y="141513"/>
                </a:lnTo>
                <a:lnTo>
                  <a:pt x="19939" y="138175"/>
                </a:lnTo>
                <a:close/>
              </a:path>
              <a:path extrusionOk="0" h="176529" w="436879">
                <a:moveTo>
                  <a:pt x="35923" y="141513"/>
                </a:moveTo>
                <a:lnTo>
                  <a:pt x="25146" y="153796"/>
                </a:lnTo>
                <a:lnTo>
                  <a:pt x="29334" y="153796"/>
                </a:lnTo>
                <a:lnTo>
                  <a:pt x="54523" y="145398"/>
                </a:lnTo>
                <a:lnTo>
                  <a:pt x="35923" y="141513"/>
                </a:lnTo>
                <a:close/>
              </a:path>
              <a:path extrusionOk="0" h="176529" w="436879">
                <a:moveTo>
                  <a:pt x="430402" y="0"/>
                </a:moveTo>
                <a:lnTo>
                  <a:pt x="48397" y="127296"/>
                </a:lnTo>
                <a:lnTo>
                  <a:pt x="35923" y="141513"/>
                </a:lnTo>
                <a:lnTo>
                  <a:pt x="54523" y="145398"/>
                </a:lnTo>
                <a:lnTo>
                  <a:pt x="436499" y="18033"/>
                </a:lnTo>
                <a:lnTo>
                  <a:pt x="430402" y="0"/>
                </a:lnTo>
                <a:close/>
              </a:path>
              <a:path extrusionOk="0" h="176529" w="436879">
                <a:moveTo>
                  <a:pt x="38851" y="138175"/>
                </a:moveTo>
                <a:lnTo>
                  <a:pt x="19939" y="138175"/>
                </a:lnTo>
                <a:lnTo>
                  <a:pt x="35923" y="141513"/>
                </a:lnTo>
                <a:lnTo>
                  <a:pt x="38851" y="138175"/>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162" name="Google Shape;1162;p93"/>
          <p:cNvSpPr/>
          <p:nvPr/>
        </p:nvSpPr>
        <p:spPr>
          <a:xfrm>
            <a:off x="8846669" y="4085210"/>
            <a:ext cx="713948" cy="2620890"/>
          </a:xfrm>
          <a:custGeom>
            <a:rect b="b" l="l" r="r" t="t"/>
            <a:pathLst>
              <a:path extrusionOk="0" h="2522220" w="687070">
                <a:moveTo>
                  <a:pt x="13080" y="2408047"/>
                </a:moveTo>
                <a:lnTo>
                  <a:pt x="2921" y="2410917"/>
                </a:lnTo>
                <a:lnTo>
                  <a:pt x="0" y="2416175"/>
                </a:lnTo>
                <a:lnTo>
                  <a:pt x="1397" y="2421242"/>
                </a:lnTo>
                <a:lnTo>
                  <a:pt x="29972" y="2521813"/>
                </a:lnTo>
                <a:lnTo>
                  <a:pt x="45709" y="2505900"/>
                </a:lnTo>
                <a:lnTo>
                  <a:pt x="43942" y="2505900"/>
                </a:lnTo>
                <a:lnTo>
                  <a:pt x="25400" y="2501150"/>
                </a:lnTo>
                <a:lnTo>
                  <a:pt x="34201" y="2466915"/>
                </a:lnTo>
                <a:lnTo>
                  <a:pt x="19812" y="2416035"/>
                </a:lnTo>
                <a:lnTo>
                  <a:pt x="18288" y="2410980"/>
                </a:lnTo>
                <a:lnTo>
                  <a:pt x="13080" y="2408047"/>
                </a:lnTo>
                <a:close/>
              </a:path>
              <a:path extrusionOk="0" h="2522220" w="687070">
                <a:moveTo>
                  <a:pt x="34201" y="2466915"/>
                </a:moveTo>
                <a:lnTo>
                  <a:pt x="25400" y="2501150"/>
                </a:lnTo>
                <a:lnTo>
                  <a:pt x="43942" y="2505900"/>
                </a:lnTo>
                <a:lnTo>
                  <a:pt x="45225" y="2500909"/>
                </a:lnTo>
                <a:lnTo>
                  <a:pt x="43815" y="2500909"/>
                </a:lnTo>
                <a:lnTo>
                  <a:pt x="27940" y="2496807"/>
                </a:lnTo>
                <a:lnTo>
                  <a:pt x="39379" y="2485226"/>
                </a:lnTo>
                <a:lnTo>
                  <a:pt x="34201" y="2466915"/>
                </a:lnTo>
                <a:close/>
              </a:path>
              <a:path extrusionOk="0" h="2522220" w="687070">
                <a:moveTo>
                  <a:pt x="99695" y="2430310"/>
                </a:moveTo>
                <a:lnTo>
                  <a:pt x="93599" y="2430335"/>
                </a:lnTo>
                <a:lnTo>
                  <a:pt x="52732" y="2471707"/>
                </a:lnTo>
                <a:lnTo>
                  <a:pt x="43942" y="2505900"/>
                </a:lnTo>
                <a:lnTo>
                  <a:pt x="45709" y="2505900"/>
                </a:lnTo>
                <a:lnTo>
                  <a:pt x="107188" y="2443734"/>
                </a:lnTo>
                <a:lnTo>
                  <a:pt x="107188" y="2437701"/>
                </a:lnTo>
                <a:lnTo>
                  <a:pt x="103377" y="2434005"/>
                </a:lnTo>
                <a:lnTo>
                  <a:pt x="99695" y="2430310"/>
                </a:lnTo>
                <a:close/>
              </a:path>
              <a:path extrusionOk="0" h="2522220" w="687070">
                <a:moveTo>
                  <a:pt x="39379" y="2485226"/>
                </a:moveTo>
                <a:lnTo>
                  <a:pt x="27940" y="2496807"/>
                </a:lnTo>
                <a:lnTo>
                  <a:pt x="43815" y="2500909"/>
                </a:lnTo>
                <a:lnTo>
                  <a:pt x="39379" y="2485226"/>
                </a:lnTo>
                <a:close/>
              </a:path>
              <a:path extrusionOk="0" h="2522220" w="687070">
                <a:moveTo>
                  <a:pt x="52732" y="2471707"/>
                </a:moveTo>
                <a:lnTo>
                  <a:pt x="39379" y="2485226"/>
                </a:lnTo>
                <a:lnTo>
                  <a:pt x="43815" y="2500909"/>
                </a:lnTo>
                <a:lnTo>
                  <a:pt x="45225" y="2500909"/>
                </a:lnTo>
                <a:lnTo>
                  <a:pt x="52732" y="2471707"/>
                </a:lnTo>
                <a:close/>
              </a:path>
              <a:path extrusionOk="0" h="2522220" w="687070">
                <a:moveTo>
                  <a:pt x="668401" y="0"/>
                </a:moveTo>
                <a:lnTo>
                  <a:pt x="34201" y="2466915"/>
                </a:lnTo>
                <a:lnTo>
                  <a:pt x="39379" y="2485226"/>
                </a:lnTo>
                <a:lnTo>
                  <a:pt x="52732" y="2471707"/>
                </a:lnTo>
                <a:lnTo>
                  <a:pt x="686943" y="4825"/>
                </a:lnTo>
                <a:lnTo>
                  <a:pt x="668401" y="0"/>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163" name="Google Shape;1163;p93"/>
          <p:cNvSpPr txBox="1"/>
          <p:nvPr/>
        </p:nvSpPr>
        <p:spPr>
          <a:xfrm>
            <a:off x="9149009" y="2841093"/>
            <a:ext cx="1658841" cy="973294"/>
          </a:xfrm>
          <a:prstGeom prst="rect">
            <a:avLst/>
          </a:prstGeom>
          <a:noFill/>
          <a:ln>
            <a:noFill/>
          </a:ln>
        </p:spPr>
        <p:txBody>
          <a:bodyPr anchorCtr="0" anchor="t" bIns="0" lIns="0" spcFirstLastPara="1" rIns="0" wrap="square" tIns="13850">
            <a:spAutoFit/>
          </a:bodyPr>
          <a:lstStyle/>
          <a:p>
            <a:pPr indent="0" lvl="0" marL="13197" marR="5279" rtl="0" algn="l">
              <a:spcBef>
                <a:spcPts val="0"/>
              </a:spcBef>
              <a:spcAft>
                <a:spcPts val="0"/>
              </a:spcAft>
              <a:buNone/>
            </a:pPr>
            <a:r>
              <a:rPr i="1" lang="ru-RU" sz="2078">
                <a:solidFill>
                  <a:schemeClr val="dk1"/>
                </a:solidFill>
                <a:latin typeface="Arial"/>
                <a:ea typeface="Arial"/>
                <a:cs typeface="Arial"/>
                <a:sym typeface="Arial"/>
              </a:rPr>
              <a:t>это делает  человек, а не  компьютер</a:t>
            </a:r>
            <a:endParaRPr sz="2078">
              <a:solidFill>
                <a:schemeClr val="dk1"/>
              </a:solidFill>
              <a:latin typeface="Arial"/>
              <a:ea typeface="Arial"/>
              <a:cs typeface="Arial"/>
              <a:sym typeface="Arial"/>
            </a:endParaRPr>
          </a:p>
        </p:txBody>
      </p:sp>
      <p:sp>
        <p:nvSpPr>
          <p:cNvPr id="1164" name="Google Shape;1164;p93"/>
          <p:cNvSpPr/>
          <p:nvPr/>
        </p:nvSpPr>
        <p:spPr>
          <a:xfrm>
            <a:off x="8953696" y="2739925"/>
            <a:ext cx="1945213" cy="1272174"/>
          </a:xfrm>
          <a:custGeom>
            <a:rect b="b" l="l" r="r" t="t"/>
            <a:pathLst>
              <a:path extrusionOk="0" h="1224279" w="1871979">
                <a:moveTo>
                  <a:pt x="0" y="612013"/>
                </a:moveTo>
                <a:lnTo>
                  <a:pt x="6766" y="538050"/>
                </a:lnTo>
                <a:lnTo>
                  <a:pt x="26542" y="466703"/>
                </a:lnTo>
                <a:lnTo>
                  <a:pt x="58546" y="398485"/>
                </a:lnTo>
                <a:lnTo>
                  <a:pt x="78889" y="365709"/>
                </a:lnTo>
                <a:lnTo>
                  <a:pt x="101995" y="333907"/>
                </a:lnTo>
                <a:lnTo>
                  <a:pt x="127766" y="303144"/>
                </a:lnTo>
                <a:lnTo>
                  <a:pt x="156105" y="273483"/>
                </a:lnTo>
                <a:lnTo>
                  <a:pt x="186914" y="244988"/>
                </a:lnTo>
                <a:lnTo>
                  <a:pt x="220094" y="217724"/>
                </a:lnTo>
                <a:lnTo>
                  <a:pt x="255548" y="191755"/>
                </a:lnTo>
                <a:lnTo>
                  <a:pt x="293178" y="167144"/>
                </a:lnTo>
                <a:lnTo>
                  <a:pt x="332887" y="143957"/>
                </a:lnTo>
                <a:lnTo>
                  <a:pt x="374575" y="122255"/>
                </a:lnTo>
                <a:lnTo>
                  <a:pt x="418147" y="102105"/>
                </a:lnTo>
                <a:lnTo>
                  <a:pt x="463502" y="83570"/>
                </a:lnTo>
                <a:lnTo>
                  <a:pt x="510545" y="66714"/>
                </a:lnTo>
                <a:lnTo>
                  <a:pt x="559176" y="51601"/>
                </a:lnTo>
                <a:lnTo>
                  <a:pt x="609299" y="38295"/>
                </a:lnTo>
                <a:lnTo>
                  <a:pt x="660814" y="26861"/>
                </a:lnTo>
                <a:lnTo>
                  <a:pt x="713625" y="17362"/>
                </a:lnTo>
                <a:lnTo>
                  <a:pt x="767633" y="9862"/>
                </a:lnTo>
                <a:lnTo>
                  <a:pt x="822740" y="4425"/>
                </a:lnTo>
                <a:lnTo>
                  <a:pt x="878850" y="1117"/>
                </a:lnTo>
                <a:lnTo>
                  <a:pt x="935863" y="0"/>
                </a:lnTo>
                <a:lnTo>
                  <a:pt x="992862" y="1117"/>
                </a:lnTo>
                <a:lnTo>
                  <a:pt x="1048960" y="4425"/>
                </a:lnTo>
                <a:lnTo>
                  <a:pt x="1104059" y="9862"/>
                </a:lnTo>
                <a:lnTo>
                  <a:pt x="1158059" y="17362"/>
                </a:lnTo>
                <a:lnTo>
                  <a:pt x="1210864" y="26861"/>
                </a:lnTo>
                <a:lnTo>
                  <a:pt x="1262375" y="38295"/>
                </a:lnTo>
                <a:lnTo>
                  <a:pt x="1312494" y="51601"/>
                </a:lnTo>
                <a:lnTo>
                  <a:pt x="1361124" y="66714"/>
                </a:lnTo>
                <a:lnTo>
                  <a:pt x="1408166" y="83570"/>
                </a:lnTo>
                <a:lnTo>
                  <a:pt x="1453522" y="102105"/>
                </a:lnTo>
                <a:lnTo>
                  <a:pt x="1497095" y="122255"/>
                </a:lnTo>
                <a:lnTo>
                  <a:pt x="1538786" y="143957"/>
                </a:lnTo>
                <a:lnTo>
                  <a:pt x="1578497" y="167144"/>
                </a:lnTo>
                <a:lnTo>
                  <a:pt x="1616131" y="191755"/>
                </a:lnTo>
                <a:lnTo>
                  <a:pt x="1651589" y="217724"/>
                </a:lnTo>
                <a:lnTo>
                  <a:pt x="1684774" y="244988"/>
                </a:lnTo>
                <a:lnTo>
                  <a:pt x="1715587" y="273483"/>
                </a:lnTo>
                <a:lnTo>
                  <a:pt x="1743931" y="303144"/>
                </a:lnTo>
                <a:lnTo>
                  <a:pt x="1769707" y="333907"/>
                </a:lnTo>
                <a:lnTo>
                  <a:pt x="1792817" y="365709"/>
                </a:lnTo>
                <a:lnTo>
                  <a:pt x="1813164" y="398485"/>
                </a:lnTo>
                <a:lnTo>
                  <a:pt x="1845176" y="466703"/>
                </a:lnTo>
                <a:lnTo>
                  <a:pt x="1864957" y="538050"/>
                </a:lnTo>
                <a:lnTo>
                  <a:pt x="1871726" y="612013"/>
                </a:lnTo>
                <a:lnTo>
                  <a:pt x="1870017" y="649302"/>
                </a:lnTo>
                <a:lnTo>
                  <a:pt x="1856644" y="722041"/>
                </a:lnTo>
                <a:lnTo>
                  <a:pt x="1830650" y="791901"/>
                </a:lnTo>
                <a:lnTo>
                  <a:pt x="1792817" y="858370"/>
                </a:lnTo>
                <a:lnTo>
                  <a:pt x="1769707" y="890174"/>
                </a:lnTo>
                <a:lnTo>
                  <a:pt x="1743931" y="920938"/>
                </a:lnTo>
                <a:lnTo>
                  <a:pt x="1715587" y="950598"/>
                </a:lnTo>
                <a:lnTo>
                  <a:pt x="1684774" y="979091"/>
                </a:lnTo>
                <a:lnTo>
                  <a:pt x="1651589" y="1006353"/>
                </a:lnTo>
                <a:lnTo>
                  <a:pt x="1616131" y="1032319"/>
                </a:lnTo>
                <a:lnTo>
                  <a:pt x="1578497" y="1056926"/>
                </a:lnTo>
                <a:lnTo>
                  <a:pt x="1538786" y="1080110"/>
                </a:lnTo>
                <a:lnTo>
                  <a:pt x="1497095" y="1101807"/>
                </a:lnTo>
                <a:lnTo>
                  <a:pt x="1453522" y="1121953"/>
                </a:lnTo>
                <a:lnTo>
                  <a:pt x="1408166" y="1140483"/>
                </a:lnTo>
                <a:lnTo>
                  <a:pt x="1361124" y="1157334"/>
                </a:lnTo>
                <a:lnTo>
                  <a:pt x="1312494" y="1172443"/>
                </a:lnTo>
                <a:lnTo>
                  <a:pt x="1262375" y="1185744"/>
                </a:lnTo>
                <a:lnTo>
                  <a:pt x="1210864" y="1197175"/>
                </a:lnTo>
                <a:lnTo>
                  <a:pt x="1158059" y="1206671"/>
                </a:lnTo>
                <a:lnTo>
                  <a:pt x="1104059" y="1214167"/>
                </a:lnTo>
                <a:lnTo>
                  <a:pt x="1048960" y="1219601"/>
                </a:lnTo>
                <a:lnTo>
                  <a:pt x="992862" y="1222909"/>
                </a:lnTo>
                <a:lnTo>
                  <a:pt x="935863" y="1224026"/>
                </a:lnTo>
                <a:lnTo>
                  <a:pt x="878850" y="1222909"/>
                </a:lnTo>
                <a:lnTo>
                  <a:pt x="822740" y="1219601"/>
                </a:lnTo>
                <a:lnTo>
                  <a:pt x="767633" y="1214167"/>
                </a:lnTo>
                <a:lnTo>
                  <a:pt x="713625" y="1206671"/>
                </a:lnTo>
                <a:lnTo>
                  <a:pt x="660814" y="1197175"/>
                </a:lnTo>
                <a:lnTo>
                  <a:pt x="609299" y="1185744"/>
                </a:lnTo>
                <a:lnTo>
                  <a:pt x="559176" y="1172443"/>
                </a:lnTo>
                <a:lnTo>
                  <a:pt x="510545" y="1157334"/>
                </a:lnTo>
                <a:lnTo>
                  <a:pt x="463502" y="1140483"/>
                </a:lnTo>
                <a:lnTo>
                  <a:pt x="418147" y="1121953"/>
                </a:lnTo>
                <a:lnTo>
                  <a:pt x="374575" y="1101807"/>
                </a:lnTo>
                <a:lnTo>
                  <a:pt x="332887" y="1080110"/>
                </a:lnTo>
                <a:lnTo>
                  <a:pt x="293178" y="1056926"/>
                </a:lnTo>
                <a:lnTo>
                  <a:pt x="255548" y="1032319"/>
                </a:lnTo>
                <a:lnTo>
                  <a:pt x="220094" y="1006353"/>
                </a:lnTo>
                <a:lnTo>
                  <a:pt x="186914" y="979091"/>
                </a:lnTo>
                <a:lnTo>
                  <a:pt x="156105" y="950598"/>
                </a:lnTo>
                <a:lnTo>
                  <a:pt x="127766" y="920938"/>
                </a:lnTo>
                <a:lnTo>
                  <a:pt x="101995" y="890174"/>
                </a:lnTo>
                <a:lnTo>
                  <a:pt x="78889" y="858370"/>
                </a:lnTo>
                <a:lnTo>
                  <a:pt x="58546" y="825591"/>
                </a:lnTo>
                <a:lnTo>
                  <a:pt x="26542" y="757363"/>
                </a:lnTo>
                <a:lnTo>
                  <a:pt x="6766" y="685999"/>
                </a:lnTo>
                <a:lnTo>
                  <a:pt x="0" y="612013"/>
                </a:lnTo>
                <a:close/>
              </a:path>
            </a:pathLst>
          </a:custGeom>
          <a:noFill/>
          <a:ln cap="flat" cmpd="sng" w="19050">
            <a:solidFill>
              <a:srgbClr val="CC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65" name="Google Shape;1165;p93"/>
          <p:cNvSpPr txBox="1"/>
          <p:nvPr>
            <p:ph idx="12" type="sldNum"/>
          </p:nvPr>
        </p:nvSpPr>
        <p:spPr>
          <a:xfrm>
            <a:off x="11278007" y="6605015"/>
            <a:ext cx="756832"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9" name="Shape 1169"/>
        <p:cNvGrpSpPr/>
        <p:nvPr/>
      </p:nvGrpSpPr>
      <p:grpSpPr>
        <a:xfrm>
          <a:off x="0" y="0"/>
          <a:ext cx="0" cy="0"/>
          <a:chOff x="0" y="0"/>
          <a:chExt cx="0" cy="0"/>
        </a:xfrm>
      </p:grpSpPr>
      <p:sp>
        <p:nvSpPr>
          <p:cNvPr id="1170" name="Google Shape;1170;p94"/>
          <p:cNvSpPr/>
          <p:nvPr/>
        </p:nvSpPr>
        <p:spPr>
          <a:xfrm>
            <a:off x="1438275" y="322263"/>
            <a:ext cx="1101652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71" name="Google Shape;1171;p94"/>
          <p:cNvSpPr txBox="1"/>
          <p:nvPr/>
        </p:nvSpPr>
        <p:spPr>
          <a:xfrm>
            <a:off x="1871089" y="864715"/>
            <a:ext cx="6924376" cy="2777288"/>
          </a:xfrm>
          <a:prstGeom prst="rect">
            <a:avLst/>
          </a:prstGeom>
          <a:noFill/>
          <a:ln>
            <a:noFill/>
          </a:ln>
        </p:spPr>
        <p:txBody>
          <a:bodyPr anchorCtr="0" anchor="t" bIns="0" lIns="0" spcFirstLastPara="1" rIns="0" wrap="square" tIns="13175">
            <a:spAutoFit/>
          </a:bodyPr>
          <a:lstStyle/>
          <a:p>
            <a:pPr indent="0" lvl="0" marL="217743" marR="0" rtl="0" algn="just">
              <a:spcBef>
                <a:spcPts val="0"/>
              </a:spcBef>
              <a:spcAft>
                <a:spcPts val="0"/>
              </a:spcAft>
              <a:buNone/>
            </a:pPr>
            <a:r>
              <a:rPr lang="ru-RU" sz="2494">
                <a:solidFill>
                  <a:srgbClr val="CC0000"/>
                </a:solidFill>
                <a:latin typeface="Arial"/>
                <a:ea typeface="Arial"/>
                <a:cs typeface="Arial"/>
                <a:sym typeface="Arial"/>
              </a:rPr>
              <a:t>Одновыборочные критерии</a:t>
            </a:r>
            <a:endParaRPr sz="2494">
              <a:solidFill>
                <a:schemeClr val="dk1"/>
              </a:solidFill>
              <a:latin typeface="Arial"/>
              <a:ea typeface="Arial"/>
              <a:cs typeface="Arial"/>
              <a:sym typeface="Arial"/>
            </a:endParaRPr>
          </a:p>
          <a:p>
            <a:pPr indent="0" lvl="0" marL="217743" marR="0" rtl="0" algn="just">
              <a:spcBef>
                <a:spcPts val="0"/>
              </a:spcBef>
              <a:spcAft>
                <a:spcPts val="0"/>
              </a:spcAft>
              <a:buNone/>
            </a:pPr>
            <a:r>
              <a:rPr lang="ru-RU" sz="2078">
                <a:solidFill>
                  <a:srgbClr val="CC0000"/>
                </a:solidFill>
                <a:latin typeface="Arial"/>
                <a:ea typeface="Arial"/>
                <a:cs typeface="Arial"/>
                <a:sym typeface="Arial"/>
              </a:rPr>
              <a:t>сравнивающие среднее значение с заданным числом.</a:t>
            </a:r>
            <a:endParaRPr sz="2078">
              <a:solidFill>
                <a:schemeClr val="dk1"/>
              </a:solidFill>
              <a:latin typeface="Arial"/>
              <a:ea typeface="Arial"/>
              <a:cs typeface="Arial"/>
              <a:sym typeface="Arial"/>
            </a:endParaRPr>
          </a:p>
          <a:p>
            <a:pPr indent="0" lvl="0" marL="13197" marR="692820" rtl="0" algn="just">
              <a:spcBef>
                <a:spcPts val="1294"/>
              </a:spcBef>
              <a:spcAft>
                <a:spcPts val="0"/>
              </a:spcAft>
              <a:buNone/>
            </a:pPr>
            <a:r>
              <a:rPr b="1" lang="ru-RU" sz="2494">
                <a:solidFill>
                  <a:schemeClr val="dk1"/>
                </a:solidFill>
                <a:latin typeface="Arial"/>
                <a:ea typeface="Arial"/>
                <a:cs typeface="Arial"/>
                <a:sym typeface="Arial"/>
              </a:rPr>
              <a:t>Одновыборочный t-критерий </a:t>
            </a:r>
            <a:r>
              <a:rPr lang="ru-RU" sz="2494">
                <a:solidFill>
                  <a:schemeClr val="dk1"/>
                </a:solidFill>
                <a:latin typeface="Arial"/>
                <a:ea typeface="Arial"/>
                <a:cs typeface="Arial"/>
                <a:sym typeface="Arial"/>
              </a:rPr>
              <a:t>(в случае,  если дисперсия в популяции </a:t>
            </a:r>
            <a:r>
              <a:rPr lang="ru-RU" sz="2494" u="sng">
                <a:solidFill>
                  <a:schemeClr val="dk1"/>
                </a:solidFill>
                <a:latin typeface="Arial"/>
                <a:ea typeface="Arial"/>
                <a:cs typeface="Arial"/>
                <a:sym typeface="Arial"/>
              </a:rPr>
              <a:t>неизвестна</a:t>
            </a:r>
            <a:r>
              <a:rPr lang="ru-RU" sz="2494">
                <a:solidFill>
                  <a:schemeClr val="dk1"/>
                </a:solidFill>
                <a:latin typeface="Arial"/>
                <a:ea typeface="Arial"/>
                <a:cs typeface="Arial"/>
                <a:sym typeface="Arial"/>
              </a:rPr>
              <a:t>)</a:t>
            </a:r>
            <a:endParaRPr sz="2494">
              <a:solidFill>
                <a:schemeClr val="dk1"/>
              </a:solidFill>
              <a:latin typeface="Arial"/>
              <a:ea typeface="Arial"/>
              <a:cs typeface="Arial"/>
              <a:sym typeface="Arial"/>
            </a:endParaRPr>
          </a:p>
          <a:p>
            <a:pPr indent="0" lvl="0" marL="13197" marR="449342" rtl="0" algn="just">
              <a:spcBef>
                <a:spcPts val="1252"/>
              </a:spcBef>
              <a:spcAft>
                <a:spcPts val="0"/>
              </a:spcAft>
              <a:buNone/>
            </a:pPr>
            <a:r>
              <a:rPr lang="ru-RU" sz="2078">
                <a:solidFill>
                  <a:schemeClr val="dk1"/>
                </a:solidFill>
                <a:latin typeface="Arial"/>
                <a:ea typeface="Arial"/>
                <a:cs typeface="Arial"/>
                <a:sym typeface="Arial"/>
              </a:rPr>
              <a:t>Превышает ли масса землероек в заповеднике 90г?  Мы </a:t>
            </a:r>
            <a:r>
              <a:rPr lang="ru-RU" sz="2078" u="sng">
                <a:solidFill>
                  <a:schemeClr val="dk1"/>
                </a:solidFill>
                <a:latin typeface="Arial"/>
                <a:ea typeface="Arial"/>
                <a:cs typeface="Arial"/>
                <a:sym typeface="Arial"/>
              </a:rPr>
              <a:t>знаем</a:t>
            </a:r>
            <a:r>
              <a:rPr lang="ru-RU" sz="2078">
                <a:solidFill>
                  <a:schemeClr val="dk1"/>
                </a:solidFill>
                <a:latin typeface="Arial"/>
                <a:ea typeface="Arial"/>
                <a:cs typeface="Arial"/>
                <a:sym typeface="Arial"/>
              </a:rPr>
              <a:t>, что </a:t>
            </a:r>
            <a:r>
              <a:rPr i="1" lang="ru-RU" sz="2078">
                <a:solidFill>
                  <a:schemeClr val="dk1"/>
                </a:solidFill>
                <a:latin typeface="Arial"/>
                <a:ea typeface="Arial"/>
                <a:cs typeface="Arial"/>
                <a:sym typeface="Arial"/>
              </a:rPr>
              <a:t>μ</a:t>
            </a:r>
            <a:r>
              <a:rPr lang="ru-RU" sz="2078">
                <a:solidFill>
                  <a:schemeClr val="dk1"/>
                </a:solidFill>
                <a:latin typeface="Arial"/>
                <a:ea typeface="Arial"/>
                <a:cs typeface="Arial"/>
                <a:sym typeface="Arial"/>
              </a:rPr>
              <a:t>=90, но </a:t>
            </a:r>
            <a:r>
              <a:rPr lang="ru-RU" sz="2078" u="sng">
                <a:solidFill>
                  <a:schemeClr val="dk1"/>
                </a:solidFill>
                <a:latin typeface="Arial"/>
                <a:ea typeface="Arial"/>
                <a:cs typeface="Arial"/>
                <a:sym typeface="Arial"/>
              </a:rPr>
              <a:t>не знаем </a:t>
            </a:r>
            <a:r>
              <a:rPr i="1" lang="ru-RU" sz="2078" u="sng">
                <a:solidFill>
                  <a:schemeClr val="dk1"/>
                </a:solidFill>
                <a:latin typeface="Arial"/>
                <a:ea typeface="Arial"/>
                <a:cs typeface="Arial"/>
                <a:sym typeface="Arial"/>
              </a:rPr>
              <a:t>σ</a:t>
            </a:r>
            <a:r>
              <a:rPr i="1" lang="ru-RU" sz="2078">
                <a:solidFill>
                  <a:schemeClr val="dk1"/>
                </a:solidFill>
                <a:latin typeface="Arial"/>
                <a:ea typeface="Arial"/>
                <a:cs typeface="Arial"/>
                <a:sym typeface="Arial"/>
              </a:rPr>
              <a:t> </a:t>
            </a:r>
            <a:r>
              <a:rPr lang="ru-RU" sz="2078">
                <a:solidFill>
                  <a:schemeClr val="dk1"/>
                </a:solidFill>
                <a:latin typeface="Arial"/>
                <a:ea typeface="Arial"/>
                <a:cs typeface="Arial"/>
                <a:sym typeface="Arial"/>
              </a:rPr>
              <a:t>; исследовали 25  зверьков.</a:t>
            </a:r>
            <a:endParaRPr sz="2078">
              <a:solidFill>
                <a:schemeClr val="dk1"/>
              </a:solidFill>
              <a:latin typeface="Arial"/>
              <a:ea typeface="Arial"/>
              <a:cs typeface="Arial"/>
              <a:sym typeface="Arial"/>
            </a:endParaRPr>
          </a:p>
        </p:txBody>
      </p:sp>
      <p:sp>
        <p:nvSpPr>
          <p:cNvPr id="1172" name="Google Shape;1172;p94"/>
          <p:cNvSpPr txBox="1"/>
          <p:nvPr/>
        </p:nvSpPr>
        <p:spPr>
          <a:xfrm>
            <a:off x="1816154" y="3837287"/>
            <a:ext cx="5803305" cy="2473784"/>
          </a:xfrm>
          <a:prstGeom prst="rect">
            <a:avLst/>
          </a:prstGeom>
          <a:noFill/>
          <a:ln>
            <a:noFill/>
          </a:ln>
        </p:spPr>
        <p:txBody>
          <a:bodyPr anchorCtr="0" anchor="t" bIns="0" lIns="0" spcFirstLastPara="1" rIns="0" wrap="square" tIns="13175">
            <a:spAutoFit/>
          </a:bodyPr>
          <a:lstStyle/>
          <a:p>
            <a:pPr indent="0" lvl="0" marL="39590" marR="31672" rtl="0" algn="l">
              <a:spcBef>
                <a:spcPts val="0"/>
              </a:spcBef>
              <a:spcAft>
                <a:spcPts val="0"/>
              </a:spcAft>
              <a:buNone/>
            </a:pPr>
            <a:r>
              <a:rPr lang="ru-RU" sz="2494">
                <a:solidFill>
                  <a:schemeClr val="dk1"/>
                </a:solidFill>
                <a:latin typeface="Arial"/>
                <a:ea typeface="Arial"/>
                <a:cs typeface="Arial"/>
                <a:sym typeface="Arial"/>
              </a:rPr>
              <a:t>Формулируем Н</a:t>
            </a:r>
            <a:r>
              <a:rPr baseline="-25000" lang="ru-RU" sz="2494">
                <a:solidFill>
                  <a:schemeClr val="dk1"/>
                </a:solidFill>
                <a:latin typeface="Arial"/>
                <a:ea typeface="Arial"/>
                <a:cs typeface="Arial"/>
                <a:sym typeface="Arial"/>
              </a:rPr>
              <a:t>0 </a:t>
            </a:r>
            <a:r>
              <a:rPr lang="ru-RU" sz="2494">
                <a:solidFill>
                  <a:schemeClr val="dk1"/>
                </a:solidFill>
                <a:latin typeface="Arial"/>
                <a:ea typeface="Arial"/>
                <a:cs typeface="Arial"/>
                <a:sym typeface="Arial"/>
              </a:rPr>
              <a:t>и Н</a:t>
            </a:r>
            <a:r>
              <a:rPr baseline="-25000" lang="ru-RU" sz="2494">
                <a:solidFill>
                  <a:schemeClr val="dk1"/>
                </a:solidFill>
                <a:latin typeface="Arial"/>
                <a:ea typeface="Arial"/>
                <a:cs typeface="Arial"/>
                <a:sym typeface="Arial"/>
              </a:rPr>
              <a:t>1</a:t>
            </a:r>
            <a:r>
              <a:rPr lang="ru-RU" sz="2494">
                <a:solidFill>
                  <a:schemeClr val="dk1"/>
                </a:solidFill>
                <a:latin typeface="Arial"/>
                <a:ea typeface="Arial"/>
                <a:cs typeface="Arial"/>
                <a:sym typeface="Arial"/>
              </a:rPr>
              <a:t>, создаём  распределения выборочных средних и  статистики критерия - </a:t>
            </a:r>
            <a:r>
              <a:rPr i="1" lang="ru-RU" sz="2494">
                <a:solidFill>
                  <a:schemeClr val="dk1"/>
                </a:solidFill>
                <a:latin typeface="Arial"/>
                <a:ea typeface="Arial"/>
                <a:cs typeface="Arial"/>
                <a:sym typeface="Arial"/>
              </a:rPr>
              <a:t>t</a:t>
            </a:r>
            <a:endParaRPr sz="2494">
              <a:solidFill>
                <a:schemeClr val="dk1"/>
              </a:solidFill>
              <a:latin typeface="Arial"/>
              <a:ea typeface="Arial"/>
              <a:cs typeface="Arial"/>
              <a:sym typeface="Arial"/>
            </a:endParaRPr>
          </a:p>
          <a:p>
            <a:pPr indent="0" lvl="0" marL="980505" marR="0" rtl="0" algn="l">
              <a:spcBef>
                <a:spcPts val="2161"/>
              </a:spcBef>
              <a:spcAft>
                <a:spcPts val="0"/>
              </a:spcAft>
              <a:buNone/>
            </a:pPr>
            <a:r>
              <a:rPr i="1" lang="ru-RU" sz="2546">
                <a:solidFill>
                  <a:schemeClr val="dk1"/>
                </a:solidFill>
                <a:latin typeface="Times New Roman"/>
                <a:ea typeface="Times New Roman"/>
                <a:cs typeface="Times New Roman"/>
                <a:sym typeface="Times New Roman"/>
              </a:rPr>
              <a:t>H </a:t>
            </a:r>
            <a:r>
              <a:rPr baseline="-25000" lang="ru-RU" sz="2260">
                <a:solidFill>
                  <a:schemeClr val="dk1"/>
                </a:solidFill>
                <a:latin typeface="Times New Roman"/>
                <a:ea typeface="Times New Roman"/>
                <a:cs typeface="Times New Roman"/>
                <a:sym typeface="Times New Roman"/>
              </a:rPr>
              <a:t>0 </a:t>
            </a:r>
            <a:r>
              <a:rPr lang="ru-RU" sz="2546">
                <a:solidFill>
                  <a:schemeClr val="dk1"/>
                </a:solidFill>
                <a:latin typeface="Times New Roman"/>
                <a:ea typeface="Times New Roman"/>
                <a:cs typeface="Times New Roman"/>
                <a:sym typeface="Times New Roman"/>
              </a:rPr>
              <a:t>: </a:t>
            </a:r>
            <a:r>
              <a:rPr i="1" lang="ru-RU" sz="2702">
                <a:solidFill>
                  <a:schemeClr val="dk1"/>
                </a:solidFill>
                <a:latin typeface="Noto Sans Symbols"/>
                <a:ea typeface="Noto Sans Symbols"/>
                <a:cs typeface="Noto Sans Symbols"/>
                <a:sym typeface="Noto Sans Symbols"/>
              </a:rPr>
              <a:t>μ</a:t>
            </a:r>
            <a:r>
              <a:rPr i="1" lang="ru-RU" sz="2702">
                <a:solidFill>
                  <a:schemeClr val="dk1"/>
                </a:solidFill>
                <a:latin typeface="Times New Roman"/>
                <a:ea typeface="Times New Roman"/>
                <a:cs typeface="Times New Roman"/>
                <a:sym typeface="Times New Roman"/>
              </a:rPr>
              <a:t> </a:t>
            </a:r>
            <a:r>
              <a:rPr lang="ru-RU" sz="2546">
                <a:solidFill>
                  <a:schemeClr val="dk1"/>
                </a:solidFill>
                <a:latin typeface="Times New Roman"/>
                <a:ea typeface="Times New Roman"/>
                <a:cs typeface="Times New Roman"/>
                <a:sym typeface="Times New Roman"/>
              </a:rPr>
              <a:t>= 90</a:t>
            </a:r>
            <a:endParaRPr sz="2546">
              <a:solidFill>
                <a:schemeClr val="dk1"/>
              </a:solidFill>
              <a:latin typeface="Times New Roman"/>
              <a:ea typeface="Times New Roman"/>
              <a:cs typeface="Times New Roman"/>
              <a:sym typeface="Times New Roman"/>
            </a:endParaRPr>
          </a:p>
          <a:p>
            <a:pPr indent="0" lvl="0" marL="980505" marR="0" rtl="0" algn="l">
              <a:spcBef>
                <a:spcPts val="836"/>
              </a:spcBef>
              <a:spcAft>
                <a:spcPts val="0"/>
              </a:spcAft>
              <a:buNone/>
            </a:pPr>
            <a:r>
              <a:rPr i="1" lang="ru-RU" sz="2546">
                <a:solidFill>
                  <a:schemeClr val="dk1"/>
                </a:solidFill>
                <a:latin typeface="Times New Roman"/>
                <a:ea typeface="Times New Roman"/>
                <a:cs typeface="Times New Roman"/>
                <a:sym typeface="Times New Roman"/>
              </a:rPr>
              <a:t>H</a:t>
            </a:r>
            <a:r>
              <a:rPr baseline="-25000" lang="ru-RU" sz="2260">
                <a:solidFill>
                  <a:schemeClr val="dk1"/>
                </a:solidFill>
                <a:latin typeface="Times New Roman"/>
                <a:ea typeface="Times New Roman"/>
                <a:cs typeface="Times New Roman"/>
                <a:sym typeface="Times New Roman"/>
              </a:rPr>
              <a:t>1 </a:t>
            </a:r>
            <a:r>
              <a:rPr lang="ru-RU" sz="2546">
                <a:solidFill>
                  <a:schemeClr val="dk1"/>
                </a:solidFill>
                <a:latin typeface="Times New Roman"/>
                <a:ea typeface="Times New Roman"/>
                <a:cs typeface="Times New Roman"/>
                <a:sym typeface="Times New Roman"/>
              </a:rPr>
              <a:t>: </a:t>
            </a:r>
            <a:r>
              <a:rPr i="1" lang="ru-RU" sz="2702">
                <a:solidFill>
                  <a:schemeClr val="dk1"/>
                </a:solidFill>
                <a:latin typeface="Noto Sans Symbols"/>
                <a:ea typeface="Noto Sans Symbols"/>
                <a:cs typeface="Noto Sans Symbols"/>
                <a:sym typeface="Noto Sans Symbols"/>
              </a:rPr>
              <a:t>μ</a:t>
            </a:r>
            <a:r>
              <a:rPr i="1" lang="ru-RU" sz="2702">
                <a:solidFill>
                  <a:schemeClr val="dk1"/>
                </a:solidFill>
                <a:latin typeface="Times New Roman"/>
                <a:ea typeface="Times New Roman"/>
                <a:cs typeface="Times New Roman"/>
                <a:sym typeface="Times New Roman"/>
              </a:rPr>
              <a:t> </a:t>
            </a:r>
            <a:r>
              <a:rPr lang="ru-RU" sz="2800">
                <a:solidFill>
                  <a:schemeClr val="dk1"/>
                </a:solidFill>
                <a:latin typeface="Noto Sans Symbols"/>
                <a:ea typeface="Noto Sans Symbols"/>
                <a:cs typeface="Noto Sans Symbols"/>
                <a:sym typeface="Noto Sans Symbols"/>
              </a:rPr>
              <a:t>≠</a:t>
            </a:r>
            <a:r>
              <a:rPr lang="ru-RU" sz="2546">
                <a:solidFill>
                  <a:schemeClr val="dk1"/>
                </a:solidFill>
                <a:latin typeface="Times New Roman"/>
                <a:ea typeface="Times New Roman"/>
                <a:cs typeface="Times New Roman"/>
                <a:sym typeface="Times New Roman"/>
              </a:rPr>
              <a:t> 90</a:t>
            </a:r>
            <a:endParaRPr sz="2546">
              <a:solidFill>
                <a:schemeClr val="dk1"/>
              </a:solidFill>
              <a:latin typeface="Times New Roman"/>
              <a:ea typeface="Times New Roman"/>
              <a:cs typeface="Times New Roman"/>
              <a:sym typeface="Times New Roman"/>
            </a:endParaRPr>
          </a:p>
        </p:txBody>
      </p:sp>
      <p:sp>
        <p:nvSpPr>
          <p:cNvPr id="1173" name="Google Shape;1173;p94"/>
          <p:cNvSpPr/>
          <p:nvPr/>
        </p:nvSpPr>
        <p:spPr>
          <a:xfrm>
            <a:off x="8729350" y="943574"/>
            <a:ext cx="1959729" cy="261957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74" name="Google Shape;1174;p94"/>
          <p:cNvSpPr txBox="1"/>
          <p:nvPr/>
        </p:nvSpPr>
        <p:spPr>
          <a:xfrm>
            <a:off x="8374884" y="3611708"/>
            <a:ext cx="2618911" cy="588868"/>
          </a:xfrm>
          <a:prstGeom prst="rect">
            <a:avLst/>
          </a:prstGeom>
          <a:noFill/>
          <a:ln>
            <a:noFill/>
          </a:ln>
        </p:spPr>
        <p:txBody>
          <a:bodyPr anchorCtr="0" anchor="t" bIns="0" lIns="0" spcFirstLastPara="1" rIns="0" wrap="square" tIns="13175">
            <a:spAutoFit/>
          </a:bodyPr>
          <a:lstStyle/>
          <a:p>
            <a:pPr indent="0" lvl="0" marL="114150" marR="0" rtl="0" algn="l">
              <a:spcBef>
                <a:spcPts val="0"/>
              </a:spcBef>
              <a:spcAft>
                <a:spcPts val="0"/>
              </a:spcAft>
              <a:buNone/>
            </a:pPr>
            <a:r>
              <a:rPr b="1" i="1" lang="ru-RU" sz="1870">
                <a:solidFill>
                  <a:schemeClr val="dk1"/>
                </a:solidFill>
                <a:latin typeface="Arial"/>
                <a:ea typeface="Arial"/>
                <a:cs typeface="Arial"/>
                <a:sym typeface="Arial"/>
              </a:rPr>
              <a:t>William Sealy Gosset</a:t>
            </a:r>
            <a:endParaRPr sz="1870">
              <a:solidFill>
                <a:schemeClr val="dk1"/>
              </a:solidFill>
              <a:latin typeface="Arial"/>
              <a:ea typeface="Arial"/>
              <a:cs typeface="Arial"/>
              <a:sym typeface="Arial"/>
            </a:endParaRPr>
          </a:p>
          <a:p>
            <a:pPr indent="0" lvl="0" marL="13197" marR="0" rtl="0" algn="l">
              <a:spcBef>
                <a:spcPts val="0"/>
              </a:spcBef>
              <a:spcAft>
                <a:spcPts val="0"/>
              </a:spcAft>
              <a:buNone/>
            </a:pPr>
            <a:r>
              <a:rPr i="1" lang="ru-RU" sz="1870">
                <a:solidFill>
                  <a:schemeClr val="dk1"/>
                </a:solidFill>
                <a:latin typeface="Arial"/>
                <a:ea typeface="Arial"/>
                <a:cs typeface="Arial"/>
                <a:sym typeface="Arial"/>
              </a:rPr>
              <a:t>(1876–1937) = “Student”</a:t>
            </a:r>
            <a:endParaRPr sz="1870">
              <a:solidFill>
                <a:schemeClr val="dk1"/>
              </a:solidFill>
              <a:latin typeface="Arial"/>
              <a:ea typeface="Arial"/>
              <a:cs typeface="Arial"/>
              <a:sym typeface="Arial"/>
            </a:endParaRPr>
          </a:p>
        </p:txBody>
      </p:sp>
      <p:sp>
        <p:nvSpPr>
          <p:cNvPr id="1175" name="Google Shape;1175;p94"/>
          <p:cNvSpPr/>
          <p:nvPr/>
        </p:nvSpPr>
        <p:spPr>
          <a:xfrm>
            <a:off x="6190109" y="4741930"/>
            <a:ext cx="4071316" cy="1647067"/>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176" name="Google Shape;1176;p94"/>
          <p:cNvSpPr txBox="1"/>
          <p:nvPr>
            <p:ph idx="12" type="sldNum"/>
          </p:nvPr>
        </p:nvSpPr>
        <p:spPr>
          <a:xfrm>
            <a:off x="9121141" y="6627448"/>
            <a:ext cx="2913697" cy="35631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95"/>
          <p:cNvSpPr/>
          <p:nvPr/>
        </p:nvSpPr>
        <p:spPr>
          <a:xfrm>
            <a:off x="1649180" y="1906961"/>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83" name="Google Shape;1183;p95"/>
          <p:cNvSpPr/>
          <p:nvPr/>
        </p:nvSpPr>
        <p:spPr>
          <a:xfrm>
            <a:off x="2006368" y="2129211"/>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a:t>
            </a:r>
            <a:endParaRPr/>
          </a:p>
        </p:txBody>
      </p:sp>
      <p:sp>
        <p:nvSpPr>
          <p:cNvPr id="1184" name="Google Shape;1184;p95"/>
          <p:cNvSpPr/>
          <p:nvPr/>
        </p:nvSpPr>
        <p:spPr>
          <a:xfrm>
            <a:off x="2949749" y="1928930"/>
            <a:ext cx="6680284" cy="117970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4400">
                <a:solidFill>
                  <a:schemeClr val="lt1"/>
                </a:solidFill>
                <a:latin typeface="Arial"/>
                <a:ea typeface="Arial"/>
                <a:cs typeface="Arial"/>
                <a:sym typeface="Arial"/>
              </a:rPr>
              <a:t>Дополнительные условия </a:t>
            </a:r>
            <a:endParaRPr/>
          </a:p>
          <a:p>
            <a:pPr indent="0" lvl="0" marL="0" marR="0" rtl="0" algn="ctr">
              <a:spcBef>
                <a:spcPts val="0"/>
              </a:spcBef>
              <a:spcAft>
                <a:spcPts val="0"/>
              </a:spcAft>
              <a:buNone/>
            </a:pPr>
            <a:r>
              <a:rPr lang="ru-RU" sz="4400">
                <a:solidFill>
                  <a:schemeClr val="lt1"/>
                </a:solidFill>
                <a:latin typeface="Arial"/>
                <a:ea typeface="Arial"/>
                <a:cs typeface="Arial"/>
                <a:sym typeface="Arial"/>
              </a:rPr>
              <a:t>проверки гипотез</a:t>
            </a:r>
            <a:endParaRPr/>
          </a:p>
        </p:txBody>
      </p:sp>
      <p:sp>
        <p:nvSpPr>
          <p:cNvPr id="1185" name="Google Shape;1185;p95"/>
          <p:cNvSpPr/>
          <p:nvPr/>
        </p:nvSpPr>
        <p:spPr>
          <a:xfrm>
            <a:off x="2154378" y="3275113"/>
            <a:ext cx="8824541" cy="1193815"/>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86" name="Google Shape;1186;p95"/>
          <p:cNvSpPr/>
          <p:nvPr/>
        </p:nvSpPr>
        <p:spPr>
          <a:xfrm>
            <a:off x="2511565" y="3497363"/>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3.1</a:t>
            </a:r>
            <a:endParaRPr/>
          </a:p>
        </p:txBody>
      </p:sp>
      <p:sp>
        <p:nvSpPr>
          <p:cNvPr id="1187" name="Google Shape;1187;p95"/>
          <p:cNvSpPr/>
          <p:nvPr/>
        </p:nvSpPr>
        <p:spPr>
          <a:xfrm>
            <a:off x="3378033" y="3415716"/>
            <a:ext cx="6252000" cy="95745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600">
                <a:solidFill>
                  <a:schemeClr val="lt1"/>
                </a:solidFill>
                <a:latin typeface="Arial"/>
                <a:ea typeface="Arial"/>
                <a:cs typeface="Arial"/>
                <a:sym typeface="Arial"/>
              </a:rPr>
              <a:t>Гипотеза о нормальности </a:t>
            </a:r>
            <a:endParaRPr/>
          </a:p>
          <a:p>
            <a:pPr indent="0" lvl="0" marL="0" marR="0" rtl="0" algn="l">
              <a:spcBef>
                <a:spcPts val="0"/>
              </a:spcBef>
              <a:spcAft>
                <a:spcPts val="0"/>
              </a:spcAft>
              <a:buNone/>
            </a:pPr>
            <a:r>
              <a:rPr lang="ru-RU" sz="3600">
                <a:solidFill>
                  <a:schemeClr val="lt1"/>
                </a:solidFill>
                <a:latin typeface="Arial"/>
                <a:ea typeface="Arial"/>
                <a:cs typeface="Arial"/>
                <a:sym typeface="Arial"/>
              </a:rPr>
              <a:t>распределения</a:t>
            </a:r>
            <a:endParaRPr/>
          </a:p>
        </p:txBody>
      </p:sp>
      <p:sp>
        <p:nvSpPr>
          <p:cNvPr id="1188" name="Google Shape;1188;p95"/>
          <p:cNvSpPr/>
          <p:nvPr/>
        </p:nvSpPr>
        <p:spPr>
          <a:xfrm>
            <a:off x="2154378" y="4571257"/>
            <a:ext cx="8824541" cy="965199"/>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89" name="Google Shape;1189;p95"/>
          <p:cNvSpPr/>
          <p:nvPr/>
        </p:nvSpPr>
        <p:spPr>
          <a:xfrm>
            <a:off x="2509697" y="4630889"/>
            <a:ext cx="596900" cy="854075"/>
          </a:xfrm>
          <a:prstGeom prst="roundRect">
            <a:avLst>
              <a:gd fmla="val 16667" name="adj"/>
            </a:avLst>
          </a:prstGeom>
          <a:solidFill>
            <a:schemeClr val="accent1"/>
          </a:solidFill>
          <a:ln cap="flat" cmpd="sng" w="28575">
            <a:solidFill>
              <a:srgbClr val="FF0000"/>
            </a:solidFill>
            <a:prstDash val="solid"/>
            <a:round/>
            <a:headEnd len="sm" w="sm" type="none"/>
            <a:tailEnd len="sm" w="sm" type="none"/>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3.2</a:t>
            </a:r>
            <a:endParaRPr/>
          </a:p>
        </p:txBody>
      </p:sp>
      <p:sp>
        <p:nvSpPr>
          <p:cNvPr id="1190" name="Google Shape;1190;p95"/>
          <p:cNvSpPr/>
          <p:nvPr/>
        </p:nvSpPr>
        <p:spPr>
          <a:xfrm>
            <a:off x="3682525" y="4571256"/>
            <a:ext cx="6680284" cy="851720"/>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3600">
                <a:solidFill>
                  <a:schemeClr val="lt1"/>
                </a:solidFill>
                <a:latin typeface="Arial"/>
                <a:ea typeface="Arial"/>
                <a:cs typeface="Arial"/>
                <a:sym typeface="Arial"/>
              </a:rPr>
              <a:t>Парные и независимые выборки</a:t>
            </a:r>
            <a:endParaRPr/>
          </a:p>
        </p:txBody>
      </p:sp>
      <p:sp>
        <p:nvSpPr>
          <p:cNvPr id="1191" name="Google Shape;1191;p95"/>
          <p:cNvSpPr/>
          <p:nvPr/>
        </p:nvSpPr>
        <p:spPr>
          <a:xfrm>
            <a:off x="2155756" y="5694290"/>
            <a:ext cx="8824541" cy="965199"/>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92" name="Google Shape;1192;p95"/>
          <p:cNvSpPr/>
          <p:nvPr/>
        </p:nvSpPr>
        <p:spPr>
          <a:xfrm>
            <a:off x="2511075" y="5753922"/>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3.3</a:t>
            </a:r>
            <a:endParaRPr/>
          </a:p>
        </p:txBody>
      </p:sp>
      <p:sp>
        <p:nvSpPr>
          <p:cNvPr id="1193" name="Google Shape;1193;p95"/>
          <p:cNvSpPr/>
          <p:nvPr/>
        </p:nvSpPr>
        <p:spPr>
          <a:xfrm>
            <a:off x="3683903" y="5694289"/>
            <a:ext cx="6680284" cy="851720"/>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3600">
                <a:solidFill>
                  <a:schemeClr val="lt1"/>
                </a:solidFill>
                <a:latin typeface="Arial"/>
                <a:ea typeface="Arial"/>
                <a:cs typeface="Arial"/>
                <a:sym typeface="Arial"/>
              </a:rPr>
              <a:t>Гипотеза о равенстве дисперсий</a:t>
            </a:r>
            <a:endParaRPr/>
          </a:p>
        </p:txBody>
      </p:sp>
      <p:sp>
        <p:nvSpPr>
          <p:cNvPr id="1194" name="Google Shape;1194;p95"/>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96"/>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01" name="Google Shape;1201;p9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02" name="Google Shape;1202;p96"/>
          <p:cNvSpPr txBox="1"/>
          <p:nvPr>
            <p:ph idx="4294967295" type="title"/>
          </p:nvPr>
        </p:nvSpPr>
        <p:spPr>
          <a:xfrm>
            <a:off x="2023270" y="311150"/>
            <a:ext cx="8550275"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Парные и независимые выборки</a:t>
            </a:r>
            <a:endParaRPr/>
          </a:p>
        </p:txBody>
      </p:sp>
      <p:sp>
        <p:nvSpPr>
          <p:cNvPr id="1203" name="Google Shape;1203;p96"/>
          <p:cNvSpPr txBox="1"/>
          <p:nvPr>
            <p:ph idx="4294967295" type="body"/>
          </p:nvPr>
        </p:nvSpPr>
        <p:spPr>
          <a:xfrm>
            <a:off x="2121273" y="1690936"/>
            <a:ext cx="8280920" cy="2886412"/>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В случае </a:t>
            </a:r>
            <a:r>
              <a:rPr i="1" lang="ru-RU" sz="2800"/>
              <a:t>парных выборок </a:t>
            </a:r>
            <a:r>
              <a:rPr lang="ru-RU" sz="2800"/>
              <a:t>имеются пары наблюдений (измерений) одного и того же объекта.</a:t>
            </a:r>
            <a:endParaRPr/>
          </a:p>
          <a:p>
            <a:pPr indent="-176824" lvl="0" marL="354624" rtl="0" algn="l">
              <a:spcBef>
                <a:spcPts val="560"/>
              </a:spcBef>
              <a:spcAft>
                <a:spcPts val="0"/>
              </a:spcAft>
              <a:buClr>
                <a:schemeClr val="dk1"/>
              </a:buClr>
              <a:buSzPts val="2800"/>
              <a:buNone/>
            </a:pPr>
            <a:r>
              <a:t/>
            </a:r>
            <a:endParaRPr sz="2800"/>
          </a:p>
          <a:p>
            <a:pPr indent="-115570" lvl="0" marL="0" rtl="0" algn="l">
              <a:spcBef>
                <a:spcPts val="560"/>
              </a:spcBef>
              <a:spcAft>
                <a:spcPts val="0"/>
              </a:spcAft>
              <a:buClr>
                <a:srgbClr val="CC9900"/>
              </a:buClr>
              <a:buSzPts val="1820"/>
              <a:buFont typeface="Noto Sans Symbols"/>
              <a:buChar char="■"/>
            </a:pPr>
            <a:r>
              <a:rPr lang="ru-RU" sz="2800"/>
              <a:t>Вариант: пары измерений делались в один и тот же момент.</a:t>
            </a:r>
            <a:endParaRPr/>
          </a:p>
        </p:txBody>
      </p:sp>
      <p:sp>
        <p:nvSpPr>
          <p:cNvPr id="1204" name="Google Shape;1204;p96"/>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97"/>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11" name="Google Shape;1211;p97"/>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12" name="Google Shape;1212;p97"/>
          <p:cNvSpPr txBox="1"/>
          <p:nvPr>
            <p:ph idx="4294967295" type="title"/>
          </p:nvPr>
        </p:nvSpPr>
        <p:spPr>
          <a:xfrm>
            <a:off x="2023270" y="262771"/>
            <a:ext cx="8550275" cy="102375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Независимые выборки</a:t>
            </a:r>
            <a:endParaRPr/>
          </a:p>
        </p:txBody>
      </p:sp>
      <p:sp>
        <p:nvSpPr>
          <p:cNvPr id="1213" name="Google Shape;1213;p97"/>
          <p:cNvSpPr txBox="1"/>
          <p:nvPr>
            <p:ph idx="4294967295" type="body"/>
          </p:nvPr>
        </p:nvSpPr>
        <p:spPr>
          <a:xfrm>
            <a:off x="1964531" y="1591508"/>
            <a:ext cx="9122121" cy="4708525"/>
          </a:xfrm>
          <a:prstGeom prst="rect">
            <a:avLst/>
          </a:prstGeom>
          <a:noFill/>
          <a:ln>
            <a:noFill/>
          </a:ln>
        </p:spPr>
        <p:txBody>
          <a:bodyPr anchorCtr="0" anchor="t" bIns="45700" lIns="91425" spcFirstLastPara="1" rIns="91425" wrap="square" tIns="45700">
            <a:normAutofit/>
          </a:bodyPr>
          <a:lstStyle/>
          <a:p>
            <a:pPr indent="-357188" lvl="0" marL="357188" rtl="0" algn="l">
              <a:spcBef>
                <a:spcPts val="0"/>
              </a:spcBef>
              <a:spcAft>
                <a:spcPts val="0"/>
              </a:spcAft>
              <a:buClr>
                <a:srgbClr val="CC9900"/>
              </a:buClr>
              <a:buSzPts val="1820"/>
              <a:buFont typeface="Noto Sans Symbols"/>
              <a:buChar char="■"/>
            </a:pPr>
            <a:r>
              <a:rPr lang="ru-RU" sz="2800"/>
              <a:t>В случае </a:t>
            </a:r>
            <a:r>
              <a:rPr i="1" lang="ru-RU" sz="2800"/>
              <a:t>независимых выборок</a:t>
            </a:r>
            <a:r>
              <a:rPr lang="ru-RU" sz="2800"/>
              <a:t> каждое наблюдение соответствует отдельному объекту, т.е. измеряются разные объекты.</a:t>
            </a:r>
            <a:endParaRPr/>
          </a:p>
          <a:p>
            <a:pPr indent="-179388" lvl="0" marL="357188" rtl="0" algn="l">
              <a:spcBef>
                <a:spcPts val="560"/>
              </a:spcBef>
              <a:spcAft>
                <a:spcPts val="0"/>
              </a:spcAft>
              <a:buClr>
                <a:schemeClr val="dk1"/>
              </a:buClr>
              <a:buSzPts val="2800"/>
              <a:buNone/>
            </a:pPr>
            <a:r>
              <a:t/>
            </a:r>
            <a:endParaRPr sz="2800"/>
          </a:p>
          <a:p>
            <a:pPr indent="-357188" lvl="0" marL="442913" rtl="0" algn="l">
              <a:spcBef>
                <a:spcPts val="560"/>
              </a:spcBef>
              <a:spcAft>
                <a:spcPts val="0"/>
              </a:spcAft>
              <a:buClr>
                <a:srgbClr val="CC9900"/>
              </a:buClr>
              <a:buSzPts val="1820"/>
              <a:buFont typeface="Noto Sans Symbols"/>
              <a:buChar char="■"/>
            </a:pPr>
            <a:r>
              <a:rPr lang="ru-RU" sz="2800"/>
              <a:t>Принадлежность объектов выборкам определяется по значениям </a:t>
            </a:r>
            <a:r>
              <a:rPr lang="ru-RU" sz="2800">
                <a:solidFill>
                  <a:srgbClr val="FF0000"/>
                </a:solidFill>
              </a:rPr>
              <a:t>дополнительной группирующей переменной.</a:t>
            </a:r>
            <a:endParaRPr/>
          </a:p>
        </p:txBody>
      </p:sp>
      <p:sp>
        <p:nvSpPr>
          <p:cNvPr id="1214" name="Google Shape;1214;p97"/>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98"/>
          <p:cNvSpPr/>
          <p:nvPr/>
        </p:nvSpPr>
        <p:spPr>
          <a:xfrm>
            <a:off x="1438275" y="322263"/>
            <a:ext cx="1101652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21" name="Google Shape;1221;p98"/>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22" name="Google Shape;1222;p98"/>
          <p:cNvSpPr txBox="1"/>
          <p:nvPr>
            <p:ph idx="4294967295" type="title"/>
          </p:nvPr>
        </p:nvSpPr>
        <p:spPr>
          <a:xfrm>
            <a:off x="2201863" y="391892"/>
            <a:ext cx="8235950" cy="64928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Независимые и парные выборки</a:t>
            </a:r>
            <a:endParaRPr/>
          </a:p>
        </p:txBody>
      </p:sp>
      <p:sp>
        <p:nvSpPr>
          <p:cNvPr id="1223" name="Google Shape;1223;p98"/>
          <p:cNvSpPr txBox="1"/>
          <p:nvPr>
            <p:ph idx="4294967295" type="body"/>
          </p:nvPr>
        </p:nvSpPr>
        <p:spPr>
          <a:xfrm>
            <a:off x="1964116" y="1409170"/>
            <a:ext cx="9172065" cy="2630487"/>
          </a:xfrm>
          <a:prstGeom prst="rect">
            <a:avLst/>
          </a:prstGeom>
          <a:noFill/>
          <a:ln>
            <a:noFill/>
          </a:ln>
        </p:spPr>
        <p:txBody>
          <a:bodyPr anchorCtr="0" anchor="t" bIns="45700" lIns="91425" spcFirstLastPara="1" rIns="91425" wrap="square" tIns="45700">
            <a:normAutofit/>
          </a:bodyPr>
          <a:lstStyle/>
          <a:p>
            <a:pPr indent="-115570" lvl="0" marL="0" rtl="0" algn="l">
              <a:spcBef>
                <a:spcPts val="0"/>
              </a:spcBef>
              <a:spcAft>
                <a:spcPts val="0"/>
              </a:spcAft>
              <a:buClr>
                <a:srgbClr val="CC9900"/>
              </a:buClr>
              <a:buSzPts val="1820"/>
              <a:buFont typeface="Noto Sans Symbols"/>
              <a:buChar char="■"/>
            </a:pPr>
            <a:r>
              <a:rPr lang="ru-RU" sz="2800"/>
              <a:t> Если выборки парные, используется опция </a:t>
            </a:r>
            <a:r>
              <a:rPr lang="ru-RU" sz="2800">
                <a:solidFill>
                  <a:srgbClr val="0000FF"/>
                </a:solidFill>
              </a:rPr>
              <a:t>paired = TRUE.</a:t>
            </a:r>
            <a:endParaRPr/>
          </a:p>
          <a:p>
            <a:pPr indent="-94932" lvl="1" marL="434975" rtl="0" algn="l">
              <a:spcBef>
                <a:spcPts val="460"/>
              </a:spcBef>
              <a:spcAft>
                <a:spcPts val="0"/>
              </a:spcAft>
              <a:buClr>
                <a:srgbClr val="CC9900"/>
              </a:buClr>
              <a:buSzPts val="1495"/>
              <a:buFont typeface="Noto Sans Symbols"/>
              <a:buChar char="■"/>
            </a:pPr>
            <a:r>
              <a:rPr i="1" lang="ru-RU" sz="2300"/>
              <a:t> Примерами парных выборок являются  повторные измерения одного и того же объекта </a:t>
            </a:r>
            <a:endParaRPr/>
          </a:p>
          <a:p>
            <a:pPr indent="-115570" lvl="0" marL="0" rtl="0" algn="l">
              <a:spcBef>
                <a:spcPts val="560"/>
              </a:spcBef>
              <a:spcAft>
                <a:spcPts val="0"/>
              </a:spcAft>
              <a:buClr>
                <a:srgbClr val="CC9900"/>
              </a:buClr>
              <a:buSzPts val="1820"/>
              <a:buFont typeface="Noto Sans Symbols"/>
              <a:buChar char="■"/>
            </a:pPr>
            <a:r>
              <a:rPr lang="ru-RU" sz="2800"/>
              <a:t> Если выборки независимые, используется опция </a:t>
            </a:r>
            <a:r>
              <a:rPr lang="ru-RU" sz="2800">
                <a:solidFill>
                  <a:srgbClr val="0000FF"/>
                </a:solidFill>
              </a:rPr>
              <a:t>paired = FALSE.</a:t>
            </a:r>
            <a:endParaRPr/>
          </a:p>
        </p:txBody>
      </p:sp>
      <p:sp>
        <p:nvSpPr>
          <p:cNvPr id="1224" name="Google Shape;1224;p98"/>
          <p:cNvSpPr/>
          <p:nvPr/>
        </p:nvSpPr>
        <p:spPr>
          <a:xfrm>
            <a:off x="3435913" y="4198914"/>
            <a:ext cx="6912768" cy="954107"/>
          </a:xfrm>
          <a:prstGeom prst="rect">
            <a:avLst/>
          </a:prstGeom>
          <a:noFill/>
          <a:ln>
            <a:noFill/>
          </a:ln>
        </p:spPr>
        <p:txBody>
          <a:bodyPr anchorCtr="0" anchor="t" bIns="45700" lIns="91425" spcFirstLastPara="1" rIns="91425" wrap="square" tIns="45700">
            <a:spAutoFit/>
          </a:bodyPr>
          <a:lstStyle/>
          <a:p>
            <a:pPr indent="0" lvl="0" marL="0" marR="709248" rtl="0" algn="l">
              <a:spcBef>
                <a:spcPts val="0"/>
              </a:spcBef>
              <a:spcAft>
                <a:spcPts val="0"/>
              </a:spcAft>
              <a:buNone/>
            </a:pPr>
            <a:r>
              <a:rPr lang="ru-RU" sz="2800">
                <a:solidFill>
                  <a:srgbClr val="0000FF"/>
                </a:solidFill>
                <a:latin typeface="Arial"/>
                <a:ea typeface="Arial"/>
                <a:cs typeface="Arial"/>
                <a:sym typeface="Arial"/>
              </a:rPr>
              <a:t>t.test(x, y, alternative = "two.sided", paired = FALSE, var.equal = FALSE)</a:t>
            </a:r>
            <a:endParaRPr/>
          </a:p>
        </p:txBody>
      </p:sp>
      <p:sp>
        <p:nvSpPr>
          <p:cNvPr id="1225" name="Google Shape;1225;p98"/>
          <p:cNvSpPr/>
          <p:nvPr/>
        </p:nvSpPr>
        <p:spPr>
          <a:xfrm>
            <a:off x="4516033" y="3658958"/>
            <a:ext cx="406823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800">
                <a:solidFill>
                  <a:schemeClr val="dk1"/>
                </a:solidFill>
                <a:latin typeface="Arial"/>
                <a:ea typeface="Arial"/>
                <a:cs typeface="Arial"/>
                <a:sym typeface="Arial"/>
              </a:rPr>
              <a:t>T-критерий Стьюдента:</a:t>
            </a:r>
            <a:endParaRPr sz="2800">
              <a:solidFill>
                <a:schemeClr val="dk1"/>
              </a:solidFill>
              <a:latin typeface="Arial"/>
              <a:ea typeface="Arial"/>
              <a:cs typeface="Arial"/>
              <a:sym typeface="Arial"/>
            </a:endParaRPr>
          </a:p>
        </p:txBody>
      </p:sp>
      <p:sp>
        <p:nvSpPr>
          <p:cNvPr id="1226" name="Google Shape;1226;p98"/>
          <p:cNvSpPr txBox="1"/>
          <p:nvPr>
            <p:ph idx="12" type="sldNum"/>
          </p:nvPr>
        </p:nvSpPr>
        <p:spPr>
          <a:xfrm>
            <a:off x="11718371" y="6541296"/>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1227" name="Google Shape;1227;p98"/>
          <p:cNvSpPr/>
          <p:nvPr/>
        </p:nvSpPr>
        <p:spPr>
          <a:xfrm>
            <a:off x="2373685" y="5648874"/>
            <a:ext cx="4680520" cy="730736"/>
          </a:xfrm>
          <a:prstGeom prst="wedgeEllipseCallout">
            <a:avLst>
              <a:gd fmla="val 37853" name="adj1"/>
              <a:gd fmla="val -124920" name="adj2"/>
            </a:avLst>
          </a:prstGeom>
          <a:solidFill>
            <a:srgbClr val="0070C0"/>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lt1"/>
                </a:solidFill>
                <a:latin typeface="Arial"/>
                <a:ea typeface="Arial"/>
                <a:cs typeface="Arial"/>
                <a:sym typeface="Arial"/>
              </a:rPr>
              <a:t>Параметр определяет эквивалентность дисперсии</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99"/>
          <p:cNvSpPr/>
          <p:nvPr/>
        </p:nvSpPr>
        <p:spPr>
          <a:xfrm>
            <a:off x="1438275" y="322263"/>
            <a:ext cx="1101652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33" name="Google Shape;1233;p99"/>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34" name="Google Shape;1234;p99"/>
          <p:cNvSpPr txBox="1"/>
          <p:nvPr/>
        </p:nvSpPr>
        <p:spPr>
          <a:xfrm>
            <a:off x="2842023" y="295394"/>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235" name="Google Shape;1235;p99"/>
          <p:cNvSpPr txBox="1"/>
          <p:nvPr>
            <p:ph type="title"/>
          </p:nvPr>
        </p:nvSpPr>
        <p:spPr>
          <a:xfrm>
            <a:off x="3015696" y="1268342"/>
            <a:ext cx="6565422" cy="1037349"/>
          </a:xfrm>
          <a:prstGeom prst="rect">
            <a:avLst/>
          </a:prstGeom>
          <a:noFill/>
          <a:ln>
            <a:noFill/>
          </a:ln>
        </p:spPr>
        <p:txBody>
          <a:bodyPr anchorCtr="0" anchor="ctr" bIns="0" lIns="0" spcFirstLastPara="1" rIns="0" wrap="square" tIns="13850">
            <a:spAutoFit/>
          </a:bodyPr>
          <a:lstStyle/>
          <a:p>
            <a:pPr indent="12700" lvl="0" marL="0" marR="5279" rtl="0" algn="ctr">
              <a:spcBef>
                <a:spcPts val="0"/>
              </a:spcBef>
              <a:spcAft>
                <a:spcPts val="0"/>
              </a:spcAft>
              <a:buClr>
                <a:srgbClr val="000000"/>
              </a:buClr>
              <a:buSzPts val="3325"/>
              <a:buFont typeface="Calibri"/>
              <a:buNone/>
            </a:pPr>
            <a:r>
              <a:rPr lang="ru-RU" sz="3325">
                <a:solidFill>
                  <a:srgbClr val="000000"/>
                </a:solidFill>
              </a:rPr>
              <a:t>Сравнение между собой средних  значений 2-х выборок</a:t>
            </a:r>
            <a:endParaRPr sz="3325"/>
          </a:p>
        </p:txBody>
      </p:sp>
      <p:sp>
        <p:nvSpPr>
          <p:cNvPr id="1236" name="Google Shape;1236;p99"/>
          <p:cNvSpPr txBox="1"/>
          <p:nvPr/>
        </p:nvSpPr>
        <p:spPr>
          <a:xfrm>
            <a:off x="2229670" y="2814635"/>
            <a:ext cx="8269423" cy="1859985"/>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i="1" lang="ru-RU" sz="2400">
                <a:solidFill>
                  <a:schemeClr val="dk1"/>
                </a:solidFill>
                <a:latin typeface="Arial"/>
                <a:ea typeface="Arial"/>
                <a:cs typeface="Arial"/>
                <a:sym typeface="Arial"/>
              </a:rPr>
              <a:t>Зависимая переменная </a:t>
            </a:r>
            <a:r>
              <a:rPr lang="ru-RU" sz="2400">
                <a:solidFill>
                  <a:schemeClr val="dk1"/>
                </a:solidFill>
                <a:latin typeface="Arial"/>
                <a:ea typeface="Arial"/>
                <a:cs typeface="Arial"/>
                <a:sym typeface="Arial"/>
              </a:rPr>
              <a:t>– та, которая нас интересует</a:t>
            </a:r>
            <a:endParaRPr sz="2400">
              <a:solidFill>
                <a:schemeClr val="dk1"/>
              </a:solidFill>
              <a:latin typeface="Arial"/>
              <a:ea typeface="Arial"/>
              <a:cs typeface="Arial"/>
              <a:sym typeface="Arial"/>
            </a:endParaRPr>
          </a:p>
          <a:p>
            <a:pPr indent="0" lvl="0" marL="13197" marR="0" rtl="0" algn="l">
              <a:spcBef>
                <a:spcPts val="0"/>
              </a:spcBef>
              <a:spcAft>
                <a:spcPts val="0"/>
              </a:spcAft>
              <a:buNone/>
            </a:pPr>
            <a:r>
              <a:rPr i="1" lang="ru-RU" sz="2400">
                <a:solidFill>
                  <a:srgbClr val="0000FF"/>
                </a:solidFill>
                <a:latin typeface="Arial"/>
                <a:ea typeface="Arial"/>
                <a:cs typeface="Arial"/>
                <a:sym typeface="Arial"/>
              </a:rPr>
              <a:t>(dependent variable) – x. </a:t>
            </a:r>
            <a:r>
              <a:rPr i="1" lang="ru-RU" sz="2000">
                <a:solidFill>
                  <a:srgbClr val="0000FF"/>
                </a:solidFill>
                <a:latin typeface="Arial"/>
                <a:ea typeface="Arial"/>
                <a:cs typeface="Arial"/>
                <a:sym typeface="Arial"/>
              </a:rPr>
              <a:t>(например, как вес зависит от пола)</a:t>
            </a:r>
            <a:endParaRPr i="1" sz="2000">
              <a:solidFill>
                <a:srgbClr val="0000FF"/>
              </a:solidFill>
              <a:latin typeface="Arial"/>
              <a:ea typeface="Arial"/>
              <a:cs typeface="Arial"/>
              <a:sym typeface="Arial"/>
            </a:endParaRPr>
          </a:p>
          <a:p>
            <a:pPr indent="0" lvl="0" marL="0" marR="0" rtl="0" algn="l">
              <a:spcBef>
                <a:spcPts val="5"/>
              </a:spcBef>
              <a:spcAft>
                <a:spcPts val="0"/>
              </a:spcAft>
              <a:buNone/>
            </a:pPr>
            <a:r>
              <a:t/>
            </a:r>
            <a:endParaRPr sz="2400">
              <a:solidFill>
                <a:schemeClr val="dk1"/>
              </a:solidFill>
              <a:latin typeface="Times New Roman"/>
              <a:ea typeface="Times New Roman"/>
              <a:cs typeface="Times New Roman"/>
              <a:sym typeface="Times New Roman"/>
            </a:endParaRPr>
          </a:p>
          <a:p>
            <a:pPr indent="0" lvl="0" marL="13197" marR="5279" rtl="0" algn="l">
              <a:spcBef>
                <a:spcPts val="0"/>
              </a:spcBef>
              <a:spcAft>
                <a:spcPts val="0"/>
              </a:spcAft>
              <a:buNone/>
            </a:pPr>
            <a:r>
              <a:rPr i="1" lang="ru-RU" sz="2400">
                <a:solidFill>
                  <a:schemeClr val="dk1"/>
                </a:solidFill>
                <a:latin typeface="Arial"/>
                <a:ea typeface="Arial"/>
                <a:cs typeface="Arial"/>
                <a:sym typeface="Arial"/>
              </a:rPr>
              <a:t>Независимая переменная </a:t>
            </a:r>
            <a:r>
              <a:rPr lang="ru-RU" sz="2400">
                <a:solidFill>
                  <a:schemeClr val="dk1"/>
                </a:solidFill>
                <a:latin typeface="Arial"/>
                <a:ea typeface="Arial"/>
                <a:cs typeface="Arial"/>
                <a:sym typeface="Arial"/>
              </a:rPr>
              <a:t>– определяет нахождение в  той или иной группе. В статистике – </a:t>
            </a:r>
            <a:r>
              <a:rPr i="1" lang="ru-RU" sz="2400">
                <a:solidFill>
                  <a:srgbClr val="0000FF"/>
                </a:solidFill>
                <a:latin typeface="Arial"/>
                <a:ea typeface="Arial"/>
                <a:cs typeface="Arial"/>
                <a:sym typeface="Arial"/>
              </a:rPr>
              <a:t>grouping variable  - q. </a:t>
            </a:r>
            <a:endParaRPr i="1" sz="2400">
              <a:solidFill>
                <a:srgbClr val="0000FF"/>
              </a:solidFill>
              <a:latin typeface="Arial"/>
              <a:ea typeface="Arial"/>
              <a:cs typeface="Arial"/>
              <a:sym typeface="Arial"/>
            </a:endParaRPr>
          </a:p>
        </p:txBody>
      </p:sp>
      <p:sp>
        <p:nvSpPr>
          <p:cNvPr id="1237" name="Google Shape;1237;p99"/>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100"/>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43" name="Google Shape;1243;p100"/>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44" name="Google Shape;1244;p100"/>
          <p:cNvSpPr txBox="1"/>
          <p:nvPr/>
        </p:nvSpPr>
        <p:spPr>
          <a:xfrm>
            <a:off x="3400734" y="3964857"/>
            <a:ext cx="900684"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самка</a:t>
            </a:r>
            <a:endParaRPr sz="2494">
              <a:solidFill>
                <a:schemeClr val="dk1"/>
              </a:solidFill>
              <a:latin typeface="Arial"/>
              <a:ea typeface="Arial"/>
              <a:cs typeface="Arial"/>
              <a:sym typeface="Arial"/>
            </a:endParaRPr>
          </a:p>
        </p:txBody>
      </p:sp>
      <p:sp>
        <p:nvSpPr>
          <p:cNvPr id="1245" name="Google Shape;1245;p100"/>
          <p:cNvSpPr txBox="1"/>
          <p:nvPr/>
        </p:nvSpPr>
        <p:spPr>
          <a:xfrm>
            <a:off x="7688913" y="3732012"/>
            <a:ext cx="937635"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самец</a:t>
            </a:r>
            <a:endParaRPr sz="2494">
              <a:solidFill>
                <a:schemeClr val="dk1"/>
              </a:solidFill>
              <a:latin typeface="Arial"/>
              <a:ea typeface="Arial"/>
              <a:cs typeface="Arial"/>
              <a:sym typeface="Arial"/>
            </a:endParaRPr>
          </a:p>
        </p:txBody>
      </p:sp>
      <p:sp>
        <p:nvSpPr>
          <p:cNvPr id="1246" name="Google Shape;1246;p100"/>
          <p:cNvSpPr txBox="1"/>
          <p:nvPr/>
        </p:nvSpPr>
        <p:spPr>
          <a:xfrm>
            <a:off x="1718432" y="2506446"/>
            <a:ext cx="9231391" cy="1121322"/>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00">
                <a:solidFill>
                  <a:schemeClr val="dk1"/>
                </a:solidFill>
                <a:latin typeface="Arial"/>
                <a:ea typeface="Arial"/>
                <a:cs typeface="Arial"/>
                <a:sym typeface="Arial"/>
              </a:rPr>
              <a:t>Мы анализируем влияние </a:t>
            </a:r>
            <a:r>
              <a:rPr lang="ru-RU" sz="2400" u="sng">
                <a:solidFill>
                  <a:schemeClr val="dk1"/>
                </a:solidFill>
                <a:latin typeface="Arial"/>
                <a:ea typeface="Arial"/>
                <a:cs typeface="Arial"/>
                <a:sym typeface="Arial"/>
              </a:rPr>
              <a:t>пола</a:t>
            </a:r>
            <a:r>
              <a:rPr lang="ru-RU" sz="2400">
                <a:solidFill>
                  <a:schemeClr val="dk1"/>
                </a:solidFill>
                <a:latin typeface="Arial"/>
                <a:ea typeface="Arial"/>
                <a:cs typeface="Arial"/>
                <a:sym typeface="Arial"/>
              </a:rPr>
              <a:t> на </a:t>
            </a:r>
            <a:r>
              <a:rPr lang="ru-RU" sz="2400" u="sng">
                <a:solidFill>
                  <a:schemeClr val="dk1"/>
                </a:solidFill>
                <a:latin typeface="Arial"/>
                <a:ea typeface="Arial"/>
                <a:cs typeface="Arial"/>
                <a:sym typeface="Arial"/>
              </a:rPr>
              <a:t>массу тигров</a:t>
            </a:r>
            <a:endParaRPr sz="2400">
              <a:solidFill>
                <a:schemeClr val="dk1"/>
              </a:solidFill>
              <a:latin typeface="Arial"/>
              <a:ea typeface="Arial"/>
              <a:cs typeface="Arial"/>
              <a:sym typeface="Arial"/>
            </a:endParaRPr>
          </a:p>
          <a:p>
            <a:pPr indent="0" lvl="0" marL="13197" marR="0" rtl="0" algn="l">
              <a:spcBef>
                <a:spcPts val="0"/>
              </a:spcBef>
              <a:spcAft>
                <a:spcPts val="0"/>
              </a:spcAft>
              <a:buNone/>
            </a:pPr>
            <a:r>
              <a:rPr i="1" lang="ru-RU" sz="2400">
                <a:solidFill>
                  <a:schemeClr val="dk1"/>
                </a:solidFill>
                <a:latin typeface="Arial"/>
                <a:ea typeface="Arial"/>
                <a:cs typeface="Arial"/>
                <a:sym typeface="Arial"/>
              </a:rPr>
              <a:t>Зависимая переменная </a:t>
            </a:r>
            <a:r>
              <a:rPr lang="ru-RU" sz="2400">
                <a:solidFill>
                  <a:schemeClr val="dk1"/>
                </a:solidFill>
                <a:latin typeface="Arial"/>
                <a:ea typeface="Arial"/>
                <a:cs typeface="Arial"/>
                <a:sym typeface="Arial"/>
              </a:rPr>
              <a:t>– масса</a:t>
            </a:r>
            <a:endParaRPr/>
          </a:p>
          <a:p>
            <a:pPr indent="0" lvl="0" marL="13197" marR="5279" rtl="0" algn="l">
              <a:spcBef>
                <a:spcPts val="0"/>
              </a:spcBef>
              <a:spcAft>
                <a:spcPts val="0"/>
              </a:spcAft>
              <a:buNone/>
            </a:pPr>
            <a:r>
              <a:rPr i="1" lang="ru-RU" sz="2400">
                <a:solidFill>
                  <a:schemeClr val="dk1"/>
                </a:solidFill>
                <a:latin typeface="Arial"/>
                <a:ea typeface="Arial"/>
                <a:cs typeface="Arial"/>
                <a:sym typeface="Arial"/>
              </a:rPr>
              <a:t>Независимая (группирующая) </a:t>
            </a:r>
            <a:r>
              <a:rPr lang="ru-RU" sz="2400">
                <a:solidFill>
                  <a:schemeClr val="dk1"/>
                </a:solidFill>
                <a:latin typeface="Arial"/>
                <a:ea typeface="Arial"/>
                <a:cs typeface="Arial"/>
                <a:sym typeface="Arial"/>
              </a:rPr>
              <a:t>– пол (группы: 1. самцы; 2.  самки)</a:t>
            </a:r>
            <a:endParaRPr/>
          </a:p>
        </p:txBody>
      </p:sp>
      <p:sp>
        <p:nvSpPr>
          <p:cNvPr id="1247" name="Google Shape;1247;p100"/>
          <p:cNvSpPr txBox="1"/>
          <p:nvPr/>
        </p:nvSpPr>
        <p:spPr>
          <a:xfrm>
            <a:off x="1438275" y="1232596"/>
            <a:ext cx="9993397" cy="1164795"/>
          </a:xfrm>
          <a:prstGeom prst="rect">
            <a:avLst/>
          </a:prstGeom>
          <a:noFill/>
          <a:ln>
            <a:noFill/>
          </a:ln>
        </p:spPr>
        <p:txBody>
          <a:bodyPr anchorCtr="0" anchor="t" bIns="0" lIns="0" spcFirstLastPara="1" rIns="0" wrap="square" tIns="13175">
            <a:spAutoFit/>
          </a:bodyPr>
          <a:lstStyle/>
          <a:p>
            <a:pPr indent="0" lvl="0" marL="332554" marR="5279" rtl="0" algn="l">
              <a:spcBef>
                <a:spcPts val="0"/>
              </a:spcBef>
              <a:spcAft>
                <a:spcPts val="0"/>
              </a:spcAft>
              <a:buNone/>
            </a:pPr>
            <a:r>
              <a:rPr lang="ru-RU" sz="2400">
                <a:solidFill>
                  <a:schemeClr val="dk1"/>
                </a:solidFill>
                <a:latin typeface="Arial"/>
                <a:ea typeface="Arial"/>
                <a:cs typeface="Arial"/>
                <a:sym typeface="Arial"/>
              </a:rPr>
              <a:t>Различаются ли </a:t>
            </a:r>
            <a:r>
              <a:rPr i="1" lang="ru-RU" sz="2400">
                <a:solidFill>
                  <a:schemeClr val="dk1"/>
                </a:solidFill>
                <a:latin typeface="Arial"/>
                <a:ea typeface="Arial"/>
                <a:cs typeface="Arial"/>
                <a:sym typeface="Arial"/>
              </a:rPr>
              <a:t>по массе </a:t>
            </a:r>
            <a:r>
              <a:rPr lang="ru-RU" sz="2400">
                <a:solidFill>
                  <a:schemeClr val="dk1"/>
                </a:solidFill>
                <a:latin typeface="Arial"/>
                <a:ea typeface="Arial"/>
                <a:cs typeface="Arial"/>
                <a:sym typeface="Arial"/>
              </a:rPr>
              <a:t>тигры-</a:t>
            </a:r>
            <a:r>
              <a:rPr lang="ru-RU" sz="2400" u="sng">
                <a:solidFill>
                  <a:schemeClr val="dk1"/>
                </a:solidFill>
                <a:latin typeface="Arial"/>
                <a:ea typeface="Arial"/>
                <a:cs typeface="Arial"/>
                <a:sym typeface="Arial"/>
              </a:rPr>
              <a:t>самцы</a:t>
            </a:r>
            <a:r>
              <a:rPr lang="ru-RU" sz="2400">
                <a:solidFill>
                  <a:schemeClr val="dk1"/>
                </a:solidFill>
                <a:latin typeface="Arial"/>
                <a:ea typeface="Arial"/>
                <a:cs typeface="Arial"/>
                <a:sym typeface="Arial"/>
              </a:rPr>
              <a:t> и тигры-</a:t>
            </a:r>
            <a:r>
              <a:rPr lang="ru-RU" sz="2400" u="sng">
                <a:solidFill>
                  <a:schemeClr val="dk1"/>
                </a:solidFill>
                <a:latin typeface="Arial"/>
                <a:ea typeface="Arial"/>
                <a:cs typeface="Arial"/>
                <a:sym typeface="Arial"/>
              </a:rPr>
              <a:t>самки </a:t>
            </a:r>
            <a:r>
              <a:rPr lang="ru-RU" sz="2400">
                <a:solidFill>
                  <a:schemeClr val="dk1"/>
                </a:solidFill>
                <a:latin typeface="Arial"/>
                <a:ea typeface="Arial"/>
                <a:cs typeface="Arial"/>
                <a:sym typeface="Arial"/>
              </a:rPr>
              <a:t> в зоопарке (независимые переменные)?</a:t>
            </a:r>
            <a:endParaRPr sz="2400">
              <a:solidFill>
                <a:schemeClr val="dk1"/>
              </a:solidFill>
              <a:latin typeface="Arial"/>
              <a:ea typeface="Arial"/>
              <a:cs typeface="Arial"/>
              <a:sym typeface="Arial"/>
            </a:endParaRPr>
          </a:p>
          <a:p>
            <a:pPr indent="0" lvl="0" marL="332554" marR="0" rtl="0" algn="l">
              <a:spcBef>
                <a:spcPts val="0"/>
              </a:spcBef>
              <a:spcAft>
                <a:spcPts val="0"/>
              </a:spcAft>
              <a:buNone/>
            </a:pPr>
            <a:r>
              <a:rPr lang="ru-RU" sz="2400">
                <a:solidFill>
                  <a:schemeClr val="dk1"/>
                </a:solidFill>
                <a:latin typeface="Arial"/>
                <a:ea typeface="Arial"/>
                <a:cs typeface="Arial"/>
                <a:sym typeface="Arial"/>
              </a:rPr>
              <a:t>Сравниваем средние массы наших зверей.</a:t>
            </a:r>
            <a:endParaRPr sz="2400">
              <a:solidFill>
                <a:schemeClr val="dk1"/>
              </a:solidFill>
              <a:latin typeface="Arial"/>
              <a:ea typeface="Arial"/>
              <a:cs typeface="Arial"/>
              <a:sym typeface="Arial"/>
            </a:endParaRPr>
          </a:p>
        </p:txBody>
      </p:sp>
      <p:sp>
        <p:nvSpPr>
          <p:cNvPr id="1248" name="Google Shape;1248;p100"/>
          <p:cNvSpPr/>
          <p:nvPr/>
        </p:nvSpPr>
        <p:spPr>
          <a:xfrm>
            <a:off x="1939583" y="4412777"/>
            <a:ext cx="4347643" cy="174219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49" name="Google Shape;1249;p100"/>
          <p:cNvSpPr/>
          <p:nvPr/>
        </p:nvSpPr>
        <p:spPr>
          <a:xfrm>
            <a:off x="6444715" y="4124024"/>
            <a:ext cx="4271429" cy="226074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50" name="Google Shape;1250;p100"/>
          <p:cNvSpPr txBox="1"/>
          <p:nvPr/>
        </p:nvSpPr>
        <p:spPr>
          <a:xfrm>
            <a:off x="2830841" y="351510"/>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251" name="Google Shape;1251;p100"/>
          <p:cNvSpPr txBox="1"/>
          <p:nvPr>
            <p:ph idx="12" type="sldNum"/>
          </p:nvPr>
        </p:nvSpPr>
        <p:spPr>
          <a:xfrm>
            <a:off x="11431672" y="6519149"/>
            <a:ext cx="808440" cy="35631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101"/>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м</a:t>
            </a:r>
            <a:endParaRPr/>
          </a:p>
        </p:txBody>
      </p:sp>
      <p:sp>
        <p:nvSpPr>
          <p:cNvPr id="1257" name="Google Shape;1257;p101"/>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58" name="Google Shape;1258;p101"/>
          <p:cNvSpPr txBox="1"/>
          <p:nvPr/>
        </p:nvSpPr>
        <p:spPr>
          <a:xfrm>
            <a:off x="2159652" y="1485912"/>
            <a:ext cx="1811925"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Times New Roman"/>
                <a:ea typeface="Times New Roman"/>
                <a:cs typeface="Times New Roman"/>
                <a:sym typeface="Times New Roman"/>
              </a:rPr>
              <a:t>Статистика =</a:t>
            </a:r>
            <a:endParaRPr/>
          </a:p>
        </p:txBody>
      </p:sp>
      <p:sp>
        <p:nvSpPr>
          <p:cNvPr id="1259" name="Google Shape;1259;p101"/>
          <p:cNvSpPr/>
          <p:nvPr/>
        </p:nvSpPr>
        <p:spPr>
          <a:xfrm>
            <a:off x="4296349" y="1667287"/>
            <a:ext cx="5760416" cy="0"/>
          </a:xfrm>
          <a:custGeom>
            <a:rect b="b" l="l" r="r" t="t"/>
            <a:pathLst>
              <a:path extrusionOk="0" h="120000" w="5543550">
                <a:moveTo>
                  <a:pt x="0" y="0"/>
                </a:moveTo>
                <a:lnTo>
                  <a:pt x="554355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60" name="Google Shape;1260;p101"/>
          <p:cNvSpPr txBox="1"/>
          <p:nvPr/>
        </p:nvSpPr>
        <p:spPr>
          <a:xfrm>
            <a:off x="4431222" y="1710575"/>
            <a:ext cx="5489881"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Times New Roman"/>
                <a:ea typeface="Times New Roman"/>
                <a:cs typeface="Times New Roman"/>
                <a:sym typeface="Times New Roman"/>
              </a:rPr>
              <a:t>стандартная ошибка параметра выборки</a:t>
            </a:r>
            <a:endParaRPr sz="2494">
              <a:solidFill>
                <a:schemeClr val="dk1"/>
              </a:solidFill>
              <a:latin typeface="Times New Roman"/>
              <a:ea typeface="Times New Roman"/>
              <a:cs typeface="Times New Roman"/>
              <a:sym typeface="Times New Roman"/>
            </a:endParaRPr>
          </a:p>
        </p:txBody>
      </p:sp>
      <p:sp>
        <p:nvSpPr>
          <p:cNvPr id="1261" name="Google Shape;1261;p101"/>
          <p:cNvSpPr txBox="1"/>
          <p:nvPr/>
        </p:nvSpPr>
        <p:spPr>
          <a:xfrm>
            <a:off x="4675668" y="2191931"/>
            <a:ext cx="2185395" cy="432753"/>
          </a:xfrm>
          <a:prstGeom prst="rect">
            <a:avLst/>
          </a:prstGeom>
          <a:noFill/>
          <a:ln>
            <a:noFill/>
          </a:ln>
        </p:spPr>
        <p:txBody>
          <a:bodyPr anchorCtr="0" anchor="t" bIns="0" lIns="0" spcFirstLastPara="1" rIns="0" wrap="square" tIns="17150">
            <a:spAutoFit/>
          </a:bodyPr>
          <a:lstStyle/>
          <a:p>
            <a:pPr indent="0" lvl="0" marL="52785" marR="0" rtl="0" algn="l">
              <a:spcBef>
                <a:spcPts val="0"/>
              </a:spcBef>
              <a:spcAft>
                <a:spcPts val="0"/>
              </a:spcAft>
              <a:buNone/>
            </a:pPr>
            <a:r>
              <a:rPr i="1" lang="ru-RU" sz="2494">
                <a:solidFill>
                  <a:schemeClr val="dk1"/>
                </a:solidFill>
                <a:latin typeface="Times New Roman"/>
                <a:ea typeface="Times New Roman"/>
                <a:cs typeface="Times New Roman"/>
                <a:sym typeface="Times New Roman"/>
              </a:rPr>
              <a:t>H </a:t>
            </a:r>
            <a:r>
              <a:rPr baseline="-25000" lang="ru-RU" sz="2182">
                <a:solidFill>
                  <a:schemeClr val="dk1"/>
                </a:solidFill>
                <a:latin typeface="Times New Roman"/>
                <a:ea typeface="Times New Roman"/>
                <a:cs typeface="Times New Roman"/>
                <a:sym typeface="Times New Roman"/>
              </a:rPr>
              <a:t>0 </a:t>
            </a:r>
            <a:r>
              <a:rPr lang="ru-RU" sz="2494">
                <a:solidFill>
                  <a:schemeClr val="dk1"/>
                </a:solidFill>
                <a:latin typeface="Times New Roman"/>
                <a:ea typeface="Times New Roman"/>
                <a:cs typeface="Times New Roman"/>
                <a:sym typeface="Times New Roman"/>
              </a:rPr>
              <a:t>: </a:t>
            </a:r>
            <a:r>
              <a:rPr i="1" lang="ru-RU" sz="2598">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1 </a:t>
            </a:r>
            <a:r>
              <a:rPr lang="ru-RU" sz="2494">
                <a:solidFill>
                  <a:schemeClr val="dk1"/>
                </a:solidFill>
                <a:latin typeface="Noto Sans Symbols"/>
                <a:ea typeface="Noto Sans Symbols"/>
                <a:cs typeface="Noto Sans Symbols"/>
                <a:sym typeface="Noto Sans Symbols"/>
              </a:rPr>
              <a:t>−</a:t>
            </a:r>
            <a:r>
              <a:rPr lang="ru-RU" sz="2494">
                <a:solidFill>
                  <a:schemeClr val="dk1"/>
                </a:solidFill>
                <a:latin typeface="Times New Roman"/>
                <a:ea typeface="Times New Roman"/>
                <a:cs typeface="Times New Roman"/>
                <a:sym typeface="Times New Roman"/>
              </a:rPr>
              <a:t> </a:t>
            </a:r>
            <a:r>
              <a:rPr i="1" lang="ru-RU" sz="2598">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2 </a:t>
            </a:r>
            <a:r>
              <a:rPr lang="ru-RU" sz="2494">
                <a:solidFill>
                  <a:schemeClr val="dk1"/>
                </a:solidFill>
                <a:latin typeface="Noto Sans Symbols"/>
                <a:ea typeface="Noto Sans Symbols"/>
                <a:cs typeface="Noto Sans Symbols"/>
                <a:sym typeface="Noto Sans Symbols"/>
              </a:rPr>
              <a:t>=</a:t>
            </a:r>
            <a:r>
              <a:rPr lang="ru-RU" sz="2494">
                <a:solidFill>
                  <a:schemeClr val="dk1"/>
                </a:solidFill>
                <a:latin typeface="Times New Roman"/>
                <a:ea typeface="Times New Roman"/>
                <a:cs typeface="Times New Roman"/>
                <a:sym typeface="Times New Roman"/>
              </a:rPr>
              <a:t> 0</a:t>
            </a:r>
            <a:endParaRPr sz="2494">
              <a:solidFill>
                <a:schemeClr val="dk1"/>
              </a:solidFill>
              <a:latin typeface="Times New Roman"/>
              <a:ea typeface="Times New Roman"/>
              <a:cs typeface="Times New Roman"/>
              <a:sym typeface="Times New Roman"/>
            </a:endParaRPr>
          </a:p>
        </p:txBody>
      </p:sp>
      <p:sp>
        <p:nvSpPr>
          <p:cNvPr id="1262" name="Google Shape;1262;p101"/>
          <p:cNvSpPr/>
          <p:nvPr/>
        </p:nvSpPr>
        <p:spPr>
          <a:xfrm>
            <a:off x="3306971" y="3524295"/>
            <a:ext cx="255359" cy="0"/>
          </a:xfrm>
          <a:custGeom>
            <a:rect b="b" l="l" r="r" t="t"/>
            <a:pathLst>
              <a:path extrusionOk="0" h="120000" w="245744">
                <a:moveTo>
                  <a:pt x="0" y="0"/>
                </a:moveTo>
                <a:lnTo>
                  <a:pt x="245662" y="0"/>
                </a:lnTo>
              </a:path>
            </a:pathLst>
          </a:custGeom>
          <a:noFill/>
          <a:ln cap="flat" cmpd="sng" w="16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63" name="Google Shape;1263;p101"/>
          <p:cNvSpPr/>
          <p:nvPr/>
        </p:nvSpPr>
        <p:spPr>
          <a:xfrm>
            <a:off x="4137452" y="3524295"/>
            <a:ext cx="255359" cy="0"/>
          </a:xfrm>
          <a:custGeom>
            <a:rect b="b" l="l" r="r" t="t"/>
            <a:pathLst>
              <a:path extrusionOk="0" h="120000" w="245744">
                <a:moveTo>
                  <a:pt x="0" y="0"/>
                </a:moveTo>
                <a:lnTo>
                  <a:pt x="245662" y="0"/>
                </a:lnTo>
              </a:path>
            </a:pathLst>
          </a:custGeom>
          <a:noFill/>
          <a:ln cap="flat" cmpd="sng" w="16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64" name="Google Shape;1264;p101"/>
          <p:cNvSpPr/>
          <p:nvPr/>
        </p:nvSpPr>
        <p:spPr>
          <a:xfrm>
            <a:off x="3052534" y="4031012"/>
            <a:ext cx="3518933" cy="0"/>
          </a:xfrm>
          <a:custGeom>
            <a:rect b="b" l="l" r="r" t="t"/>
            <a:pathLst>
              <a:path extrusionOk="0" h="120000" w="3386454">
                <a:moveTo>
                  <a:pt x="0" y="0"/>
                </a:moveTo>
                <a:lnTo>
                  <a:pt x="3386060" y="0"/>
                </a:lnTo>
              </a:path>
            </a:pathLst>
          </a:custGeom>
          <a:noFill/>
          <a:ln cap="flat" cmpd="sng" w="16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65" name="Google Shape;1265;p101"/>
          <p:cNvSpPr/>
          <p:nvPr/>
        </p:nvSpPr>
        <p:spPr>
          <a:xfrm>
            <a:off x="7126801" y="3524295"/>
            <a:ext cx="255359" cy="0"/>
          </a:xfrm>
          <a:custGeom>
            <a:rect b="b" l="l" r="r" t="t"/>
            <a:pathLst>
              <a:path extrusionOk="0" h="120000" w="245745">
                <a:moveTo>
                  <a:pt x="0" y="0"/>
                </a:moveTo>
                <a:lnTo>
                  <a:pt x="245628" y="0"/>
                </a:lnTo>
              </a:path>
            </a:pathLst>
          </a:custGeom>
          <a:noFill/>
          <a:ln cap="flat" cmpd="sng" w="16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66" name="Google Shape;1266;p101"/>
          <p:cNvSpPr/>
          <p:nvPr/>
        </p:nvSpPr>
        <p:spPr>
          <a:xfrm>
            <a:off x="7957282" y="3524295"/>
            <a:ext cx="256017" cy="0"/>
          </a:xfrm>
          <a:custGeom>
            <a:rect b="b" l="l" r="r" t="t"/>
            <a:pathLst>
              <a:path extrusionOk="0" h="120000" w="246379">
                <a:moveTo>
                  <a:pt x="0" y="0"/>
                </a:moveTo>
                <a:lnTo>
                  <a:pt x="246299" y="0"/>
                </a:lnTo>
              </a:path>
            </a:pathLst>
          </a:custGeom>
          <a:noFill/>
          <a:ln cap="flat" cmpd="sng" w="16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67" name="Google Shape;1267;p101"/>
          <p:cNvSpPr/>
          <p:nvPr/>
        </p:nvSpPr>
        <p:spPr>
          <a:xfrm>
            <a:off x="7016767" y="4031012"/>
            <a:ext cx="1384347" cy="0"/>
          </a:xfrm>
          <a:custGeom>
            <a:rect b="b" l="l" r="r" t="t"/>
            <a:pathLst>
              <a:path extrusionOk="0" h="120000" w="1332229">
                <a:moveTo>
                  <a:pt x="0" y="0"/>
                </a:moveTo>
                <a:lnTo>
                  <a:pt x="1331690" y="0"/>
                </a:lnTo>
              </a:path>
            </a:pathLst>
          </a:custGeom>
          <a:noFill/>
          <a:ln cap="flat" cmpd="sng" w="16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68" name="Google Shape;1268;p101"/>
          <p:cNvSpPr txBox="1"/>
          <p:nvPr/>
        </p:nvSpPr>
        <p:spPr>
          <a:xfrm>
            <a:off x="2442847" y="3437463"/>
            <a:ext cx="5931315" cy="525004"/>
          </a:xfrm>
          <a:prstGeom prst="rect">
            <a:avLst/>
          </a:prstGeom>
          <a:noFill/>
          <a:ln>
            <a:noFill/>
          </a:ln>
        </p:spPr>
        <p:txBody>
          <a:bodyPr anchorCtr="0" anchor="t" bIns="0" lIns="0" spcFirstLastPara="1" rIns="0" wrap="square" tIns="13175">
            <a:spAutoFit/>
          </a:bodyPr>
          <a:lstStyle/>
          <a:p>
            <a:pPr indent="0" lvl="0" marL="39590" marR="0" rtl="0" algn="l">
              <a:spcBef>
                <a:spcPts val="0"/>
              </a:spcBef>
              <a:spcAft>
                <a:spcPts val="0"/>
              </a:spcAft>
              <a:buNone/>
            </a:pPr>
            <a:r>
              <a:rPr baseline="-25000" i="1" lang="ru-RU" sz="4676">
                <a:solidFill>
                  <a:schemeClr val="dk1"/>
                </a:solidFill>
                <a:latin typeface="Times New Roman"/>
                <a:ea typeface="Times New Roman"/>
                <a:cs typeface="Times New Roman"/>
                <a:sym typeface="Times New Roman"/>
              </a:rPr>
              <a:t>t </a:t>
            </a:r>
            <a:r>
              <a:rPr baseline="-25000" lang="ru-RU" sz="4676">
                <a:solidFill>
                  <a:schemeClr val="dk1"/>
                </a:solidFill>
                <a:latin typeface="Noto Sans Symbols"/>
                <a:ea typeface="Noto Sans Symbols"/>
                <a:cs typeface="Noto Sans Symbols"/>
                <a:sym typeface="Noto Sans Symbols"/>
              </a:rPr>
              <a:t>=</a:t>
            </a:r>
            <a:r>
              <a:rPr baseline="-25000" lang="ru-RU" sz="4676">
                <a:solidFill>
                  <a:schemeClr val="dk1"/>
                </a:solidFill>
                <a:latin typeface="Times New Roman"/>
                <a:ea typeface="Times New Roman"/>
                <a:cs typeface="Times New Roman"/>
                <a:sym typeface="Times New Roman"/>
              </a:rPr>
              <a:t> </a:t>
            </a:r>
            <a:r>
              <a:rPr lang="ru-RU" sz="3117">
                <a:solidFill>
                  <a:schemeClr val="dk1"/>
                </a:solidFill>
                <a:latin typeface="Times New Roman"/>
                <a:ea typeface="Times New Roman"/>
                <a:cs typeface="Times New Roman"/>
                <a:sym typeface="Times New Roman"/>
              </a:rPr>
              <a:t>( </a:t>
            </a:r>
            <a:r>
              <a:rPr i="1" lang="ru-RU" sz="3117">
                <a:solidFill>
                  <a:schemeClr val="dk1"/>
                </a:solidFill>
                <a:latin typeface="Times New Roman"/>
                <a:ea typeface="Times New Roman"/>
                <a:cs typeface="Times New Roman"/>
                <a:sym typeface="Times New Roman"/>
              </a:rPr>
              <a:t>X</a:t>
            </a:r>
            <a:r>
              <a:rPr baseline="-25000" lang="ru-RU" sz="2728">
                <a:solidFill>
                  <a:schemeClr val="dk1"/>
                </a:solidFill>
                <a:latin typeface="Times New Roman"/>
                <a:ea typeface="Times New Roman"/>
                <a:cs typeface="Times New Roman"/>
                <a:sym typeface="Times New Roman"/>
              </a:rPr>
              <a:t>1 </a:t>
            </a:r>
            <a:r>
              <a:rPr lang="ru-RU" sz="3117">
                <a:solidFill>
                  <a:schemeClr val="dk1"/>
                </a:solidFill>
                <a:latin typeface="Noto Sans Symbols"/>
                <a:ea typeface="Noto Sans Symbols"/>
                <a:cs typeface="Noto Sans Symbols"/>
                <a:sym typeface="Noto Sans Symbols"/>
              </a:rPr>
              <a:t>−</a:t>
            </a:r>
            <a:r>
              <a:rPr lang="ru-RU" sz="3117">
                <a:solidFill>
                  <a:schemeClr val="dk1"/>
                </a:solidFill>
                <a:latin typeface="Times New Roman"/>
                <a:ea typeface="Times New Roman"/>
                <a:cs typeface="Times New Roman"/>
                <a:sym typeface="Times New Roman"/>
              </a:rPr>
              <a:t> </a:t>
            </a:r>
            <a:r>
              <a:rPr i="1" lang="ru-RU" sz="3117">
                <a:solidFill>
                  <a:schemeClr val="dk1"/>
                </a:solidFill>
                <a:latin typeface="Times New Roman"/>
                <a:ea typeface="Times New Roman"/>
                <a:cs typeface="Times New Roman"/>
                <a:sym typeface="Times New Roman"/>
              </a:rPr>
              <a:t>X </a:t>
            </a:r>
            <a:r>
              <a:rPr baseline="-25000" lang="ru-RU" sz="2728">
                <a:solidFill>
                  <a:schemeClr val="dk1"/>
                </a:solidFill>
                <a:latin typeface="Times New Roman"/>
                <a:ea typeface="Times New Roman"/>
                <a:cs typeface="Times New Roman"/>
                <a:sym typeface="Times New Roman"/>
              </a:rPr>
              <a:t>2 </a:t>
            </a:r>
            <a:r>
              <a:rPr lang="ru-RU" sz="3117">
                <a:solidFill>
                  <a:schemeClr val="dk1"/>
                </a:solidFill>
                <a:latin typeface="Times New Roman"/>
                <a:ea typeface="Times New Roman"/>
                <a:cs typeface="Times New Roman"/>
                <a:sym typeface="Times New Roman"/>
              </a:rPr>
              <a:t>) </a:t>
            </a:r>
            <a:r>
              <a:rPr lang="ru-RU" sz="3117">
                <a:solidFill>
                  <a:schemeClr val="dk1"/>
                </a:solidFill>
                <a:latin typeface="Noto Sans Symbols"/>
                <a:ea typeface="Noto Sans Symbols"/>
                <a:cs typeface="Noto Sans Symbols"/>
                <a:sym typeface="Noto Sans Symbols"/>
              </a:rPr>
              <a:t>−</a:t>
            </a:r>
            <a:r>
              <a:rPr lang="ru-RU" sz="3117">
                <a:solidFill>
                  <a:schemeClr val="dk1"/>
                </a:solidFill>
                <a:latin typeface="Times New Roman"/>
                <a:ea typeface="Times New Roman"/>
                <a:cs typeface="Times New Roman"/>
                <a:sym typeface="Times New Roman"/>
              </a:rPr>
              <a:t> (</a:t>
            </a:r>
            <a:r>
              <a:rPr i="1" lang="ru-RU" sz="3325">
                <a:solidFill>
                  <a:schemeClr val="dk1"/>
                </a:solidFill>
                <a:latin typeface="Noto Sans Symbols"/>
                <a:ea typeface="Noto Sans Symbols"/>
                <a:cs typeface="Noto Sans Symbols"/>
                <a:sym typeface="Noto Sans Symbols"/>
              </a:rPr>
              <a:t>μ</a:t>
            </a:r>
            <a:r>
              <a:rPr baseline="-25000" lang="ru-RU" sz="2728">
                <a:solidFill>
                  <a:schemeClr val="dk1"/>
                </a:solidFill>
                <a:latin typeface="Times New Roman"/>
                <a:ea typeface="Times New Roman"/>
                <a:cs typeface="Times New Roman"/>
                <a:sym typeface="Times New Roman"/>
              </a:rPr>
              <a:t>1 </a:t>
            </a:r>
            <a:r>
              <a:rPr lang="ru-RU" sz="3117">
                <a:solidFill>
                  <a:schemeClr val="dk1"/>
                </a:solidFill>
                <a:latin typeface="Noto Sans Symbols"/>
                <a:ea typeface="Noto Sans Symbols"/>
                <a:cs typeface="Noto Sans Symbols"/>
                <a:sym typeface="Noto Sans Symbols"/>
              </a:rPr>
              <a:t>−</a:t>
            </a:r>
            <a:r>
              <a:rPr lang="ru-RU" sz="3117">
                <a:solidFill>
                  <a:schemeClr val="dk1"/>
                </a:solidFill>
                <a:latin typeface="Times New Roman"/>
                <a:ea typeface="Times New Roman"/>
                <a:cs typeface="Times New Roman"/>
                <a:sym typeface="Times New Roman"/>
              </a:rPr>
              <a:t> </a:t>
            </a:r>
            <a:r>
              <a:rPr i="1" lang="ru-RU" sz="3325">
                <a:solidFill>
                  <a:schemeClr val="dk1"/>
                </a:solidFill>
                <a:latin typeface="Noto Sans Symbols"/>
                <a:ea typeface="Noto Sans Symbols"/>
                <a:cs typeface="Noto Sans Symbols"/>
                <a:sym typeface="Noto Sans Symbols"/>
              </a:rPr>
              <a:t>μ</a:t>
            </a:r>
            <a:r>
              <a:rPr baseline="-25000" lang="ru-RU" sz="2728">
                <a:solidFill>
                  <a:schemeClr val="dk1"/>
                </a:solidFill>
                <a:latin typeface="Times New Roman"/>
                <a:ea typeface="Times New Roman"/>
                <a:cs typeface="Times New Roman"/>
                <a:sym typeface="Times New Roman"/>
              </a:rPr>
              <a:t>2 </a:t>
            </a:r>
            <a:r>
              <a:rPr lang="ru-RU" sz="3117">
                <a:solidFill>
                  <a:schemeClr val="dk1"/>
                </a:solidFill>
                <a:latin typeface="Times New Roman"/>
                <a:ea typeface="Times New Roman"/>
                <a:cs typeface="Times New Roman"/>
                <a:sym typeface="Times New Roman"/>
              </a:rPr>
              <a:t>) </a:t>
            </a:r>
            <a:r>
              <a:rPr baseline="-25000" lang="ru-RU" sz="4676">
                <a:solidFill>
                  <a:schemeClr val="dk1"/>
                </a:solidFill>
                <a:latin typeface="Noto Sans Symbols"/>
                <a:ea typeface="Noto Sans Symbols"/>
                <a:cs typeface="Noto Sans Symbols"/>
                <a:sym typeface="Noto Sans Symbols"/>
              </a:rPr>
              <a:t>=</a:t>
            </a:r>
            <a:r>
              <a:rPr baseline="-25000" lang="ru-RU" sz="4676">
                <a:solidFill>
                  <a:schemeClr val="dk1"/>
                </a:solidFill>
                <a:latin typeface="Times New Roman"/>
                <a:ea typeface="Times New Roman"/>
                <a:cs typeface="Times New Roman"/>
                <a:sym typeface="Times New Roman"/>
              </a:rPr>
              <a:t>	</a:t>
            </a:r>
            <a:r>
              <a:rPr i="1" lang="ru-RU" sz="3117">
                <a:solidFill>
                  <a:schemeClr val="dk1"/>
                </a:solidFill>
                <a:latin typeface="Times New Roman"/>
                <a:ea typeface="Times New Roman"/>
                <a:cs typeface="Times New Roman"/>
                <a:sym typeface="Times New Roman"/>
              </a:rPr>
              <a:t>X</a:t>
            </a:r>
            <a:r>
              <a:rPr baseline="-25000" lang="ru-RU" sz="2728">
                <a:solidFill>
                  <a:schemeClr val="dk1"/>
                </a:solidFill>
                <a:latin typeface="Times New Roman"/>
                <a:ea typeface="Times New Roman"/>
                <a:cs typeface="Times New Roman"/>
                <a:sym typeface="Times New Roman"/>
              </a:rPr>
              <a:t>1 </a:t>
            </a:r>
            <a:r>
              <a:rPr lang="ru-RU" sz="3117">
                <a:solidFill>
                  <a:schemeClr val="dk1"/>
                </a:solidFill>
                <a:latin typeface="Noto Sans Symbols"/>
                <a:ea typeface="Noto Sans Symbols"/>
                <a:cs typeface="Noto Sans Symbols"/>
                <a:sym typeface="Noto Sans Symbols"/>
              </a:rPr>
              <a:t>−</a:t>
            </a:r>
            <a:r>
              <a:rPr lang="ru-RU" sz="3117">
                <a:solidFill>
                  <a:schemeClr val="dk1"/>
                </a:solidFill>
                <a:latin typeface="Times New Roman"/>
                <a:ea typeface="Times New Roman"/>
                <a:cs typeface="Times New Roman"/>
                <a:sym typeface="Times New Roman"/>
              </a:rPr>
              <a:t> </a:t>
            </a:r>
            <a:r>
              <a:rPr i="1" lang="ru-RU" sz="3117">
                <a:solidFill>
                  <a:schemeClr val="dk1"/>
                </a:solidFill>
                <a:latin typeface="Times New Roman"/>
                <a:ea typeface="Times New Roman"/>
                <a:cs typeface="Times New Roman"/>
                <a:sym typeface="Times New Roman"/>
              </a:rPr>
              <a:t>X </a:t>
            </a:r>
            <a:r>
              <a:rPr baseline="-25000" lang="ru-RU" sz="2728">
                <a:solidFill>
                  <a:schemeClr val="dk1"/>
                </a:solidFill>
                <a:latin typeface="Times New Roman"/>
                <a:ea typeface="Times New Roman"/>
                <a:cs typeface="Times New Roman"/>
                <a:sym typeface="Times New Roman"/>
              </a:rPr>
              <a:t>2</a:t>
            </a:r>
            <a:endParaRPr baseline="-25000" sz="2728">
              <a:solidFill>
                <a:schemeClr val="dk1"/>
              </a:solidFill>
              <a:latin typeface="Times New Roman"/>
              <a:ea typeface="Times New Roman"/>
              <a:cs typeface="Times New Roman"/>
              <a:sym typeface="Times New Roman"/>
            </a:endParaRPr>
          </a:p>
        </p:txBody>
      </p:sp>
      <p:sp>
        <p:nvSpPr>
          <p:cNvPr id="1269" name="Google Shape;1269;p101"/>
          <p:cNvSpPr/>
          <p:nvPr/>
        </p:nvSpPr>
        <p:spPr>
          <a:xfrm>
            <a:off x="6990087" y="3407555"/>
            <a:ext cx="1646304" cy="1346077"/>
          </a:xfrm>
          <a:custGeom>
            <a:rect b="b" l="l" r="r" t="t"/>
            <a:pathLst>
              <a:path extrusionOk="0" h="1295400" w="1584325">
                <a:moveTo>
                  <a:pt x="0" y="1295400"/>
                </a:moveTo>
                <a:lnTo>
                  <a:pt x="1584325" y="1295400"/>
                </a:lnTo>
                <a:lnTo>
                  <a:pt x="1584325" y="0"/>
                </a:lnTo>
                <a:lnTo>
                  <a:pt x="0" y="0"/>
                </a:lnTo>
                <a:lnTo>
                  <a:pt x="0" y="1295400"/>
                </a:lnTo>
                <a:close/>
              </a:path>
            </a:pathLst>
          </a:custGeom>
          <a:noFill/>
          <a:ln cap="flat" cmpd="sng" w="1905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70" name="Google Shape;1270;p101"/>
          <p:cNvSpPr/>
          <p:nvPr/>
        </p:nvSpPr>
        <p:spPr>
          <a:xfrm>
            <a:off x="7887472" y="2872422"/>
            <a:ext cx="1351355" cy="624210"/>
          </a:xfrm>
          <a:custGeom>
            <a:rect b="b" l="l" r="r" t="t"/>
            <a:pathLst>
              <a:path extrusionOk="0" h="600710" w="1300479">
                <a:moveTo>
                  <a:pt x="101346" y="460121"/>
                </a:moveTo>
                <a:lnTo>
                  <a:pt x="94361" y="461010"/>
                </a:lnTo>
                <a:lnTo>
                  <a:pt x="90677" y="465963"/>
                </a:lnTo>
                <a:lnTo>
                  <a:pt x="0" y="586359"/>
                </a:lnTo>
                <a:lnTo>
                  <a:pt x="150113" y="599694"/>
                </a:lnTo>
                <a:lnTo>
                  <a:pt x="156337" y="600329"/>
                </a:lnTo>
                <a:lnTo>
                  <a:pt x="161671" y="595757"/>
                </a:lnTo>
                <a:lnTo>
                  <a:pt x="162178" y="589661"/>
                </a:lnTo>
                <a:lnTo>
                  <a:pt x="162430" y="587248"/>
                </a:lnTo>
                <a:lnTo>
                  <a:pt x="25400" y="587248"/>
                </a:lnTo>
                <a:lnTo>
                  <a:pt x="16383" y="566927"/>
                </a:lnTo>
                <a:lnTo>
                  <a:pt x="55705" y="549435"/>
                </a:lnTo>
                <a:lnTo>
                  <a:pt x="108458" y="479298"/>
                </a:lnTo>
                <a:lnTo>
                  <a:pt x="112140" y="474472"/>
                </a:lnTo>
                <a:lnTo>
                  <a:pt x="111125" y="467487"/>
                </a:lnTo>
                <a:lnTo>
                  <a:pt x="106172" y="463804"/>
                </a:lnTo>
                <a:lnTo>
                  <a:pt x="101346" y="460121"/>
                </a:lnTo>
                <a:close/>
              </a:path>
              <a:path extrusionOk="0" h="600710" w="1300479">
                <a:moveTo>
                  <a:pt x="55705" y="549435"/>
                </a:moveTo>
                <a:lnTo>
                  <a:pt x="16383" y="566927"/>
                </a:lnTo>
                <a:lnTo>
                  <a:pt x="25400" y="587248"/>
                </a:lnTo>
                <a:lnTo>
                  <a:pt x="33109" y="583819"/>
                </a:lnTo>
                <a:lnTo>
                  <a:pt x="29845" y="583819"/>
                </a:lnTo>
                <a:lnTo>
                  <a:pt x="21844" y="566038"/>
                </a:lnTo>
                <a:lnTo>
                  <a:pt x="43217" y="566038"/>
                </a:lnTo>
                <a:lnTo>
                  <a:pt x="55705" y="549435"/>
                </a:lnTo>
                <a:close/>
              </a:path>
              <a:path extrusionOk="0" h="600710" w="1300479">
                <a:moveTo>
                  <a:pt x="64563" y="569827"/>
                </a:moveTo>
                <a:lnTo>
                  <a:pt x="25400" y="587248"/>
                </a:lnTo>
                <a:lnTo>
                  <a:pt x="162430" y="587248"/>
                </a:lnTo>
                <a:lnTo>
                  <a:pt x="162813" y="583564"/>
                </a:lnTo>
                <a:lnTo>
                  <a:pt x="158241" y="578104"/>
                </a:lnTo>
                <a:lnTo>
                  <a:pt x="64563" y="569827"/>
                </a:lnTo>
                <a:close/>
              </a:path>
              <a:path extrusionOk="0" h="600710" w="1300479">
                <a:moveTo>
                  <a:pt x="21844" y="566038"/>
                </a:moveTo>
                <a:lnTo>
                  <a:pt x="29845" y="583819"/>
                </a:lnTo>
                <a:lnTo>
                  <a:pt x="41881" y="567816"/>
                </a:lnTo>
                <a:lnTo>
                  <a:pt x="21844" y="566038"/>
                </a:lnTo>
                <a:close/>
              </a:path>
              <a:path extrusionOk="0" h="600710" w="1300479">
                <a:moveTo>
                  <a:pt x="41881" y="567816"/>
                </a:moveTo>
                <a:lnTo>
                  <a:pt x="29845" y="583819"/>
                </a:lnTo>
                <a:lnTo>
                  <a:pt x="33109" y="583819"/>
                </a:lnTo>
                <a:lnTo>
                  <a:pt x="64563" y="569827"/>
                </a:lnTo>
                <a:lnTo>
                  <a:pt x="41881" y="567816"/>
                </a:lnTo>
                <a:close/>
              </a:path>
              <a:path extrusionOk="0" h="600710" w="1300479">
                <a:moveTo>
                  <a:pt x="1290827" y="0"/>
                </a:moveTo>
                <a:lnTo>
                  <a:pt x="55705" y="549435"/>
                </a:lnTo>
                <a:lnTo>
                  <a:pt x="41881" y="567816"/>
                </a:lnTo>
                <a:lnTo>
                  <a:pt x="64563" y="569827"/>
                </a:lnTo>
                <a:lnTo>
                  <a:pt x="1299972" y="20320"/>
                </a:lnTo>
                <a:lnTo>
                  <a:pt x="1290827" y="0"/>
                </a:lnTo>
                <a:close/>
              </a:path>
              <a:path extrusionOk="0" h="600710" w="1300479">
                <a:moveTo>
                  <a:pt x="43217" y="566038"/>
                </a:moveTo>
                <a:lnTo>
                  <a:pt x="21844" y="566038"/>
                </a:lnTo>
                <a:lnTo>
                  <a:pt x="41881" y="567816"/>
                </a:lnTo>
                <a:lnTo>
                  <a:pt x="43217" y="566038"/>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71" name="Google Shape;1271;p101"/>
          <p:cNvSpPr txBox="1"/>
          <p:nvPr/>
        </p:nvSpPr>
        <p:spPr>
          <a:xfrm>
            <a:off x="9242257" y="2162434"/>
            <a:ext cx="1550627" cy="1010822"/>
          </a:xfrm>
          <a:prstGeom prst="rect">
            <a:avLst/>
          </a:prstGeom>
          <a:noFill/>
          <a:ln>
            <a:noFill/>
          </a:ln>
        </p:spPr>
        <p:txBody>
          <a:bodyPr anchorCtr="0" anchor="t" bIns="0" lIns="0" spcFirstLastPara="1" rIns="0" wrap="square" tIns="13850">
            <a:spAutoFit/>
          </a:bodyPr>
          <a:lstStyle/>
          <a:p>
            <a:pPr indent="0" lvl="0" marL="13197" marR="5279" rtl="0" algn="l">
              <a:spcBef>
                <a:spcPts val="0"/>
              </a:spcBef>
              <a:spcAft>
                <a:spcPts val="0"/>
              </a:spcAft>
              <a:buNone/>
            </a:pPr>
            <a:r>
              <a:rPr lang="ru-RU" sz="2078">
                <a:solidFill>
                  <a:schemeClr val="dk1"/>
                </a:solidFill>
                <a:latin typeface="Arial"/>
                <a:ea typeface="Arial"/>
                <a:cs typeface="Arial"/>
                <a:sym typeface="Arial"/>
              </a:rPr>
              <a:t>разность  выборочных  средних</a:t>
            </a:r>
            <a:endParaRPr sz="2078">
              <a:solidFill>
                <a:schemeClr val="dk1"/>
              </a:solidFill>
              <a:latin typeface="Arial"/>
              <a:ea typeface="Arial"/>
              <a:cs typeface="Arial"/>
              <a:sym typeface="Arial"/>
            </a:endParaRPr>
          </a:p>
        </p:txBody>
      </p:sp>
      <p:sp>
        <p:nvSpPr>
          <p:cNvPr id="1272" name="Google Shape;1272;p101"/>
          <p:cNvSpPr/>
          <p:nvPr/>
        </p:nvSpPr>
        <p:spPr>
          <a:xfrm>
            <a:off x="8261996" y="4219689"/>
            <a:ext cx="975246" cy="343777"/>
          </a:xfrm>
          <a:custGeom>
            <a:rect b="b" l="l" r="r" t="t"/>
            <a:pathLst>
              <a:path extrusionOk="0" h="330835" w="938529">
                <a:moveTo>
                  <a:pt x="115697" y="184657"/>
                </a:moveTo>
                <a:lnTo>
                  <a:pt x="108712" y="184784"/>
                </a:lnTo>
                <a:lnTo>
                  <a:pt x="104394" y="189229"/>
                </a:lnTo>
                <a:lnTo>
                  <a:pt x="0" y="297941"/>
                </a:lnTo>
                <a:lnTo>
                  <a:pt x="153416" y="330453"/>
                </a:lnTo>
                <a:lnTo>
                  <a:pt x="159384" y="326643"/>
                </a:lnTo>
                <a:lnTo>
                  <a:pt x="160654" y="320674"/>
                </a:lnTo>
                <a:lnTo>
                  <a:pt x="161925" y="314578"/>
                </a:lnTo>
                <a:lnTo>
                  <a:pt x="157988" y="308736"/>
                </a:lnTo>
                <a:lnTo>
                  <a:pt x="125718" y="301878"/>
                </a:lnTo>
                <a:lnTo>
                  <a:pt x="25019" y="301878"/>
                </a:lnTo>
                <a:lnTo>
                  <a:pt x="18542" y="280542"/>
                </a:lnTo>
                <a:lnTo>
                  <a:pt x="59630" y="267919"/>
                </a:lnTo>
                <a:lnTo>
                  <a:pt x="120396" y="204596"/>
                </a:lnTo>
                <a:lnTo>
                  <a:pt x="124714" y="200278"/>
                </a:lnTo>
                <a:lnTo>
                  <a:pt x="124587" y="193166"/>
                </a:lnTo>
                <a:lnTo>
                  <a:pt x="120142" y="188975"/>
                </a:lnTo>
                <a:lnTo>
                  <a:pt x="115697" y="184657"/>
                </a:lnTo>
                <a:close/>
              </a:path>
              <a:path extrusionOk="0" h="330835" w="938529">
                <a:moveTo>
                  <a:pt x="59630" y="267919"/>
                </a:moveTo>
                <a:lnTo>
                  <a:pt x="18542" y="280542"/>
                </a:lnTo>
                <a:lnTo>
                  <a:pt x="25019" y="301878"/>
                </a:lnTo>
                <a:lnTo>
                  <a:pt x="34523" y="298957"/>
                </a:lnTo>
                <a:lnTo>
                  <a:pt x="29845" y="298957"/>
                </a:lnTo>
                <a:lnTo>
                  <a:pt x="24129" y="280288"/>
                </a:lnTo>
                <a:lnTo>
                  <a:pt x="47760" y="280288"/>
                </a:lnTo>
                <a:lnTo>
                  <a:pt x="59630" y="267919"/>
                </a:lnTo>
                <a:close/>
              </a:path>
              <a:path extrusionOk="0" h="330835" w="938529">
                <a:moveTo>
                  <a:pt x="66186" y="289227"/>
                </a:moveTo>
                <a:lnTo>
                  <a:pt x="25019" y="301878"/>
                </a:lnTo>
                <a:lnTo>
                  <a:pt x="125718" y="301878"/>
                </a:lnTo>
                <a:lnTo>
                  <a:pt x="66186" y="289227"/>
                </a:lnTo>
                <a:close/>
              </a:path>
              <a:path extrusionOk="0" h="330835" w="938529">
                <a:moveTo>
                  <a:pt x="24129" y="280288"/>
                </a:moveTo>
                <a:lnTo>
                  <a:pt x="29845" y="298957"/>
                </a:lnTo>
                <a:lnTo>
                  <a:pt x="43757" y="284460"/>
                </a:lnTo>
                <a:lnTo>
                  <a:pt x="24129" y="280288"/>
                </a:lnTo>
                <a:close/>
              </a:path>
              <a:path extrusionOk="0" h="330835" w="938529">
                <a:moveTo>
                  <a:pt x="43757" y="284460"/>
                </a:moveTo>
                <a:lnTo>
                  <a:pt x="29845" y="298957"/>
                </a:lnTo>
                <a:lnTo>
                  <a:pt x="34523" y="298957"/>
                </a:lnTo>
                <a:lnTo>
                  <a:pt x="66186" y="289227"/>
                </a:lnTo>
                <a:lnTo>
                  <a:pt x="43757" y="284460"/>
                </a:lnTo>
                <a:close/>
              </a:path>
              <a:path extrusionOk="0" h="330835" w="938529">
                <a:moveTo>
                  <a:pt x="931672" y="0"/>
                </a:moveTo>
                <a:lnTo>
                  <a:pt x="59630" y="267919"/>
                </a:lnTo>
                <a:lnTo>
                  <a:pt x="43757" y="284460"/>
                </a:lnTo>
                <a:lnTo>
                  <a:pt x="66186" y="289227"/>
                </a:lnTo>
                <a:lnTo>
                  <a:pt x="938276" y="21208"/>
                </a:lnTo>
                <a:lnTo>
                  <a:pt x="931672" y="0"/>
                </a:lnTo>
                <a:close/>
              </a:path>
              <a:path extrusionOk="0" h="330835" w="938529">
                <a:moveTo>
                  <a:pt x="47760" y="280288"/>
                </a:moveTo>
                <a:lnTo>
                  <a:pt x="24129" y="280288"/>
                </a:lnTo>
                <a:lnTo>
                  <a:pt x="43757" y="284460"/>
                </a:lnTo>
                <a:lnTo>
                  <a:pt x="47760" y="280288"/>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73" name="Google Shape;1273;p101"/>
          <p:cNvSpPr txBox="1"/>
          <p:nvPr/>
        </p:nvSpPr>
        <p:spPr>
          <a:xfrm>
            <a:off x="9068984" y="3809134"/>
            <a:ext cx="1136907"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ошибка</a:t>
            </a:r>
            <a:endParaRPr sz="2494">
              <a:solidFill>
                <a:schemeClr val="dk1"/>
              </a:solidFill>
              <a:latin typeface="Arial"/>
              <a:ea typeface="Arial"/>
              <a:cs typeface="Arial"/>
              <a:sym typeface="Arial"/>
            </a:endParaRPr>
          </a:p>
        </p:txBody>
      </p:sp>
      <p:sp>
        <p:nvSpPr>
          <p:cNvPr id="1274" name="Google Shape;1274;p101"/>
          <p:cNvSpPr txBox="1"/>
          <p:nvPr/>
        </p:nvSpPr>
        <p:spPr>
          <a:xfrm>
            <a:off x="6548124" y="4856831"/>
            <a:ext cx="3701710" cy="972627"/>
          </a:xfrm>
          <a:prstGeom prst="rect">
            <a:avLst/>
          </a:prstGeom>
          <a:noFill/>
          <a:ln>
            <a:noFill/>
          </a:ln>
        </p:spPr>
        <p:txBody>
          <a:bodyPr anchorCtr="0" anchor="t" bIns="0" lIns="0" spcFirstLastPara="1" rIns="0" wrap="square" tIns="13175">
            <a:spAutoFit/>
          </a:bodyPr>
          <a:lstStyle/>
          <a:p>
            <a:pPr indent="0" lvl="0" marL="13197" marR="5279" rtl="0" algn="l">
              <a:spcBef>
                <a:spcPts val="0"/>
              </a:spcBef>
              <a:spcAft>
                <a:spcPts val="0"/>
              </a:spcAft>
              <a:buNone/>
            </a:pPr>
            <a:r>
              <a:rPr lang="ru-RU" sz="2078">
                <a:solidFill>
                  <a:schemeClr val="dk1"/>
                </a:solidFill>
                <a:latin typeface="Arial"/>
                <a:ea typeface="Arial"/>
                <a:cs typeface="Arial"/>
                <a:sym typeface="Arial"/>
              </a:rPr>
              <a:t>Ошибка считается из средних  квадратов стандартных  отклонений в выборках</a:t>
            </a:r>
            <a:endParaRPr/>
          </a:p>
        </p:txBody>
      </p:sp>
      <p:sp>
        <p:nvSpPr>
          <p:cNvPr id="1275" name="Google Shape;1275;p101"/>
          <p:cNvSpPr txBox="1"/>
          <p:nvPr/>
        </p:nvSpPr>
        <p:spPr>
          <a:xfrm>
            <a:off x="1925750" y="5883886"/>
            <a:ext cx="8498758"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Основное распределение - </a:t>
            </a:r>
            <a:r>
              <a:rPr i="1" lang="ru-RU" sz="2494">
                <a:solidFill>
                  <a:schemeClr val="dk1"/>
                </a:solidFill>
                <a:latin typeface="Arial"/>
                <a:ea typeface="Arial"/>
                <a:cs typeface="Arial"/>
                <a:sym typeface="Arial"/>
              </a:rPr>
              <a:t>t</a:t>
            </a:r>
            <a:r>
              <a:rPr lang="ru-RU" sz="2494">
                <a:solidFill>
                  <a:schemeClr val="dk1"/>
                </a:solidFill>
                <a:latin typeface="Arial"/>
                <a:ea typeface="Arial"/>
                <a:cs typeface="Arial"/>
                <a:sym typeface="Arial"/>
              </a:rPr>
              <a:t>-распределение (Стьюдента)</a:t>
            </a:r>
            <a:endParaRPr sz="2494">
              <a:solidFill>
                <a:schemeClr val="dk1"/>
              </a:solidFill>
              <a:latin typeface="Arial"/>
              <a:ea typeface="Arial"/>
              <a:cs typeface="Arial"/>
              <a:sym typeface="Arial"/>
            </a:endParaRPr>
          </a:p>
        </p:txBody>
      </p:sp>
      <p:sp>
        <p:nvSpPr>
          <p:cNvPr id="1276" name="Google Shape;1276;p101"/>
          <p:cNvSpPr txBox="1"/>
          <p:nvPr/>
        </p:nvSpPr>
        <p:spPr>
          <a:xfrm>
            <a:off x="2596644" y="2144380"/>
            <a:ext cx="1697112" cy="924851"/>
          </a:xfrm>
          <a:prstGeom prst="rect">
            <a:avLst/>
          </a:prstGeom>
          <a:noFill/>
          <a:ln>
            <a:noFill/>
          </a:ln>
        </p:spPr>
        <p:txBody>
          <a:bodyPr anchorCtr="0" anchor="t" bIns="0" lIns="0" spcFirstLastPara="1" rIns="0" wrap="square" tIns="65300">
            <a:spAutoFit/>
          </a:bodyPr>
          <a:lstStyle/>
          <a:p>
            <a:pPr indent="0" lvl="0" marL="39590" marR="0" rtl="0" algn="l">
              <a:spcBef>
                <a:spcPts val="0"/>
              </a:spcBef>
              <a:spcAft>
                <a:spcPts val="0"/>
              </a:spcAft>
              <a:buNone/>
            </a:pPr>
            <a:r>
              <a:rPr i="1" lang="ru-RU" sz="2494">
                <a:solidFill>
                  <a:schemeClr val="dk1"/>
                </a:solidFill>
                <a:latin typeface="Times New Roman"/>
                <a:ea typeface="Times New Roman"/>
                <a:cs typeface="Times New Roman"/>
                <a:sym typeface="Times New Roman"/>
              </a:rPr>
              <a:t>H </a:t>
            </a:r>
            <a:r>
              <a:rPr baseline="-25000" lang="ru-RU" sz="2182">
                <a:solidFill>
                  <a:schemeClr val="dk1"/>
                </a:solidFill>
                <a:latin typeface="Times New Roman"/>
                <a:ea typeface="Times New Roman"/>
                <a:cs typeface="Times New Roman"/>
                <a:sym typeface="Times New Roman"/>
              </a:rPr>
              <a:t>0  </a:t>
            </a:r>
            <a:r>
              <a:rPr lang="ru-RU" sz="2494">
                <a:solidFill>
                  <a:schemeClr val="dk1"/>
                </a:solidFill>
                <a:latin typeface="Times New Roman"/>
                <a:ea typeface="Times New Roman"/>
                <a:cs typeface="Times New Roman"/>
                <a:sym typeface="Times New Roman"/>
              </a:rPr>
              <a:t>: </a:t>
            </a:r>
            <a:r>
              <a:rPr i="1" lang="ru-RU" sz="2598">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1  </a:t>
            </a:r>
            <a:r>
              <a:rPr lang="ru-RU" sz="2494">
                <a:solidFill>
                  <a:schemeClr val="dk1"/>
                </a:solidFill>
                <a:latin typeface="Noto Sans Symbols"/>
                <a:ea typeface="Noto Sans Symbols"/>
                <a:cs typeface="Noto Sans Symbols"/>
                <a:sym typeface="Noto Sans Symbols"/>
              </a:rPr>
              <a:t>=</a:t>
            </a:r>
            <a:r>
              <a:rPr lang="ru-RU" sz="2494">
                <a:solidFill>
                  <a:schemeClr val="dk1"/>
                </a:solidFill>
                <a:latin typeface="Times New Roman"/>
                <a:ea typeface="Times New Roman"/>
                <a:cs typeface="Times New Roman"/>
                <a:sym typeface="Times New Roman"/>
              </a:rPr>
              <a:t> </a:t>
            </a:r>
            <a:r>
              <a:rPr i="1" lang="ru-RU" sz="2598">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2</a:t>
            </a:r>
            <a:endParaRPr baseline="-25000" sz="2182">
              <a:solidFill>
                <a:schemeClr val="dk1"/>
              </a:solidFill>
              <a:latin typeface="Times New Roman"/>
              <a:ea typeface="Times New Roman"/>
              <a:cs typeface="Times New Roman"/>
              <a:sym typeface="Times New Roman"/>
            </a:endParaRPr>
          </a:p>
          <a:p>
            <a:pPr indent="0" lvl="0" marL="39590" marR="0" rtl="0" algn="l">
              <a:spcBef>
                <a:spcPts val="410"/>
              </a:spcBef>
              <a:spcAft>
                <a:spcPts val="0"/>
              </a:spcAft>
              <a:buNone/>
            </a:pPr>
            <a:r>
              <a:rPr i="1" lang="ru-RU" sz="2494">
                <a:solidFill>
                  <a:schemeClr val="dk1"/>
                </a:solidFill>
                <a:latin typeface="Times New Roman"/>
                <a:ea typeface="Times New Roman"/>
                <a:cs typeface="Times New Roman"/>
                <a:sym typeface="Times New Roman"/>
              </a:rPr>
              <a:t>H</a:t>
            </a:r>
            <a:r>
              <a:rPr baseline="-25000" lang="ru-RU" sz="2182">
                <a:solidFill>
                  <a:schemeClr val="dk1"/>
                </a:solidFill>
                <a:latin typeface="Times New Roman"/>
                <a:ea typeface="Times New Roman"/>
                <a:cs typeface="Times New Roman"/>
                <a:sym typeface="Times New Roman"/>
              </a:rPr>
              <a:t>1 </a:t>
            </a:r>
            <a:r>
              <a:rPr lang="ru-RU" sz="2494">
                <a:solidFill>
                  <a:schemeClr val="dk1"/>
                </a:solidFill>
                <a:latin typeface="Times New Roman"/>
                <a:ea typeface="Times New Roman"/>
                <a:cs typeface="Times New Roman"/>
                <a:sym typeface="Times New Roman"/>
              </a:rPr>
              <a:t>: </a:t>
            </a:r>
            <a:r>
              <a:rPr i="1" lang="ru-RU" sz="2650">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1  </a:t>
            </a:r>
            <a:r>
              <a:rPr lang="ru-RU" sz="2494">
                <a:solidFill>
                  <a:schemeClr val="dk1"/>
                </a:solidFill>
                <a:latin typeface="Noto Sans Symbols"/>
                <a:ea typeface="Noto Sans Symbols"/>
                <a:cs typeface="Noto Sans Symbols"/>
                <a:sym typeface="Noto Sans Symbols"/>
              </a:rPr>
              <a:t>≠</a:t>
            </a:r>
            <a:r>
              <a:rPr lang="ru-RU" sz="2494">
                <a:solidFill>
                  <a:schemeClr val="dk1"/>
                </a:solidFill>
                <a:latin typeface="Times New Roman"/>
                <a:ea typeface="Times New Roman"/>
                <a:cs typeface="Times New Roman"/>
                <a:sym typeface="Times New Roman"/>
              </a:rPr>
              <a:t> </a:t>
            </a:r>
            <a:r>
              <a:rPr i="1" lang="ru-RU" sz="2650">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2</a:t>
            </a:r>
            <a:endParaRPr baseline="-25000" sz="2182">
              <a:solidFill>
                <a:schemeClr val="dk1"/>
              </a:solidFill>
              <a:latin typeface="Times New Roman"/>
              <a:ea typeface="Times New Roman"/>
              <a:cs typeface="Times New Roman"/>
              <a:sym typeface="Times New Roman"/>
            </a:endParaRPr>
          </a:p>
        </p:txBody>
      </p:sp>
      <p:sp>
        <p:nvSpPr>
          <p:cNvPr id="1277" name="Google Shape;1277;p101"/>
          <p:cNvSpPr txBox="1"/>
          <p:nvPr/>
        </p:nvSpPr>
        <p:spPr>
          <a:xfrm>
            <a:off x="2073739" y="1182157"/>
            <a:ext cx="7943831" cy="780972"/>
          </a:xfrm>
          <a:prstGeom prst="rect">
            <a:avLst/>
          </a:prstGeom>
          <a:noFill/>
          <a:ln>
            <a:noFill/>
          </a:ln>
        </p:spPr>
        <p:txBody>
          <a:bodyPr anchorCtr="0" anchor="t" bIns="0" lIns="0" spcFirstLastPara="1" rIns="0" wrap="square" tIns="13175">
            <a:spAutoFit/>
          </a:bodyPr>
          <a:lstStyle/>
          <a:p>
            <a:pPr indent="0" lvl="0" marL="2332494" marR="0" rtl="0" algn="l">
              <a:spcBef>
                <a:spcPts val="0"/>
              </a:spcBef>
              <a:spcAft>
                <a:spcPts val="0"/>
              </a:spcAft>
              <a:buNone/>
            </a:pPr>
            <a:r>
              <a:rPr lang="ru-RU" sz="2494">
                <a:solidFill>
                  <a:schemeClr val="dk1"/>
                </a:solidFill>
                <a:latin typeface="Times New Roman"/>
                <a:ea typeface="Times New Roman"/>
                <a:cs typeface="Times New Roman"/>
                <a:sym typeface="Times New Roman"/>
              </a:rPr>
              <a:t>параметр выборки – параметр популяции</a:t>
            </a:r>
            <a:endParaRPr sz="2494">
              <a:solidFill>
                <a:schemeClr val="dk1"/>
              </a:solidFill>
              <a:latin typeface="Times New Roman"/>
              <a:ea typeface="Times New Roman"/>
              <a:cs typeface="Times New Roman"/>
              <a:sym typeface="Times New Roman"/>
            </a:endParaRPr>
          </a:p>
        </p:txBody>
      </p:sp>
      <p:sp>
        <p:nvSpPr>
          <p:cNvPr id="1278" name="Google Shape;1278;p101"/>
          <p:cNvSpPr txBox="1"/>
          <p:nvPr/>
        </p:nvSpPr>
        <p:spPr>
          <a:xfrm>
            <a:off x="3015696" y="326861"/>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grpSp>
        <p:nvGrpSpPr>
          <p:cNvPr id="1279" name="Google Shape;1279;p101"/>
          <p:cNvGrpSpPr/>
          <p:nvPr/>
        </p:nvGrpSpPr>
        <p:grpSpPr>
          <a:xfrm>
            <a:off x="3921727" y="4189123"/>
            <a:ext cx="1129284" cy="584775"/>
            <a:chOff x="2726339" y="4189122"/>
            <a:chExt cx="1129284" cy="584775"/>
          </a:xfrm>
        </p:grpSpPr>
        <p:sp>
          <p:nvSpPr>
            <p:cNvPr id="1280" name="Google Shape;1280;p101"/>
            <p:cNvSpPr/>
            <p:nvPr/>
          </p:nvSpPr>
          <p:spPr>
            <a:xfrm>
              <a:off x="2726339" y="4189122"/>
              <a:ext cx="1129284" cy="584775"/>
            </a:xfrm>
            <a:prstGeom prst="rect">
              <a:avLst/>
            </a:prstGeom>
            <a:noFill/>
            <a:ln>
              <a:noFill/>
            </a:ln>
          </p:spPr>
          <p:txBody>
            <a:bodyPr anchorCtr="0" anchor="t" bIns="45700" lIns="91425" spcFirstLastPara="1" rIns="91425" wrap="square" tIns="45700">
              <a:spAutoFit/>
            </a:bodyPr>
            <a:lstStyle/>
            <a:p>
              <a:pPr indent="0" lvl="0" marL="39590" marR="0" rtl="0" algn="l">
                <a:spcBef>
                  <a:spcPts val="0"/>
                </a:spcBef>
                <a:spcAft>
                  <a:spcPts val="0"/>
                </a:spcAft>
                <a:buNone/>
              </a:pPr>
              <a:r>
                <a:rPr i="1" lang="ru-RU" sz="3200">
                  <a:solidFill>
                    <a:schemeClr val="dk1"/>
                  </a:solidFill>
                  <a:latin typeface="Times New Roman"/>
                  <a:ea typeface="Times New Roman"/>
                  <a:cs typeface="Times New Roman"/>
                  <a:sym typeface="Times New Roman"/>
                </a:rPr>
                <a:t>σ</a:t>
              </a:r>
              <a:r>
                <a:rPr i="1" lang="ru-RU" sz="2800">
                  <a:solidFill>
                    <a:schemeClr val="dk1"/>
                  </a:solidFill>
                  <a:latin typeface="Times New Roman"/>
                  <a:ea typeface="Times New Roman"/>
                  <a:cs typeface="Times New Roman"/>
                  <a:sym typeface="Times New Roman"/>
                </a:rPr>
                <a:t> </a:t>
              </a:r>
              <a:r>
                <a:rPr i="1" lang="ru-RU" sz="1600">
                  <a:solidFill>
                    <a:schemeClr val="dk1"/>
                  </a:solidFill>
                  <a:latin typeface="Times New Roman"/>
                  <a:ea typeface="Times New Roman"/>
                  <a:cs typeface="Times New Roman"/>
                  <a:sym typeface="Times New Roman"/>
                </a:rPr>
                <a:t> </a:t>
              </a:r>
              <a:r>
                <a:rPr i="1" lang="ru-RU" sz="1800">
                  <a:solidFill>
                    <a:schemeClr val="dk1"/>
                  </a:solidFill>
                  <a:latin typeface="Times New Roman"/>
                  <a:ea typeface="Times New Roman"/>
                  <a:cs typeface="Times New Roman"/>
                  <a:sym typeface="Times New Roman"/>
                </a:rPr>
                <a:t>X</a:t>
              </a:r>
              <a:r>
                <a:rPr baseline="-25000" i="1" lang="ru-RU" sz="1800">
                  <a:solidFill>
                    <a:schemeClr val="dk1"/>
                  </a:solidFill>
                  <a:latin typeface="Times New Roman"/>
                  <a:ea typeface="Times New Roman"/>
                  <a:cs typeface="Times New Roman"/>
                  <a:sym typeface="Times New Roman"/>
                </a:rPr>
                <a:t>1</a:t>
              </a:r>
              <a:r>
                <a:rPr i="1" lang="ru-RU" sz="1800">
                  <a:solidFill>
                    <a:schemeClr val="dk1"/>
                  </a:solidFill>
                  <a:latin typeface="Times New Roman"/>
                  <a:ea typeface="Times New Roman"/>
                  <a:cs typeface="Times New Roman"/>
                  <a:sym typeface="Times New Roman"/>
                </a:rPr>
                <a:t>-X</a:t>
              </a:r>
              <a:r>
                <a:rPr baseline="-25000" i="1" lang="ru-RU" sz="1800">
                  <a:solidFill>
                    <a:schemeClr val="dk1"/>
                  </a:solidFill>
                  <a:latin typeface="Times New Roman"/>
                  <a:ea typeface="Times New Roman"/>
                  <a:cs typeface="Times New Roman"/>
                  <a:sym typeface="Times New Roman"/>
                </a:rPr>
                <a:t>2</a:t>
              </a:r>
              <a:endParaRPr baseline="-25000" i="1" sz="1600">
                <a:solidFill>
                  <a:schemeClr val="dk1"/>
                </a:solidFill>
                <a:latin typeface="Times New Roman"/>
                <a:ea typeface="Times New Roman"/>
                <a:cs typeface="Times New Roman"/>
                <a:sym typeface="Times New Roman"/>
              </a:endParaRPr>
            </a:p>
          </p:txBody>
        </p:sp>
        <p:sp>
          <p:nvSpPr>
            <p:cNvPr id="1281" name="Google Shape;1281;p101"/>
            <p:cNvSpPr/>
            <p:nvPr/>
          </p:nvSpPr>
          <p:spPr>
            <a:xfrm>
              <a:off x="3235833" y="4355232"/>
              <a:ext cx="149124" cy="0"/>
            </a:xfrm>
            <a:custGeom>
              <a:rect b="b" l="l" r="r" t="t"/>
              <a:pathLst>
                <a:path extrusionOk="0" h="120000" w="143510">
                  <a:moveTo>
                    <a:pt x="0" y="0"/>
                  </a:moveTo>
                  <a:lnTo>
                    <a:pt x="143289" y="0"/>
                  </a:lnTo>
                </a:path>
              </a:pathLst>
            </a:custGeom>
            <a:noFill/>
            <a:ln cap="flat" cmpd="sng" w="9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82" name="Google Shape;1282;p101"/>
            <p:cNvSpPr/>
            <p:nvPr/>
          </p:nvSpPr>
          <p:spPr>
            <a:xfrm>
              <a:off x="3526528" y="4355232"/>
              <a:ext cx="149124" cy="0"/>
            </a:xfrm>
            <a:custGeom>
              <a:rect b="b" l="l" r="r" t="t"/>
              <a:pathLst>
                <a:path extrusionOk="0" h="120000" w="143510">
                  <a:moveTo>
                    <a:pt x="0" y="0"/>
                  </a:moveTo>
                  <a:lnTo>
                    <a:pt x="143289" y="0"/>
                  </a:lnTo>
                </a:path>
              </a:pathLst>
            </a:custGeom>
            <a:noFill/>
            <a:ln cap="flat" cmpd="sng" w="9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grpSp>
      <p:sp>
        <p:nvSpPr>
          <p:cNvPr id="1283" name="Google Shape;1283;p101"/>
          <p:cNvSpPr txBox="1"/>
          <p:nvPr>
            <p:ph idx="12" type="sldNum"/>
          </p:nvPr>
        </p:nvSpPr>
        <p:spPr>
          <a:xfrm>
            <a:off x="11446693" y="6519149"/>
            <a:ext cx="753099" cy="35631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1284" name="Google Shape;1284;p101"/>
          <p:cNvSpPr/>
          <p:nvPr/>
        </p:nvSpPr>
        <p:spPr>
          <a:xfrm>
            <a:off x="7132712" y="4038313"/>
            <a:ext cx="1129284" cy="584775"/>
          </a:xfrm>
          <a:prstGeom prst="rect">
            <a:avLst/>
          </a:prstGeom>
          <a:noFill/>
          <a:ln>
            <a:noFill/>
          </a:ln>
        </p:spPr>
        <p:txBody>
          <a:bodyPr anchorCtr="0" anchor="t" bIns="45700" lIns="91425" spcFirstLastPara="1" rIns="91425" wrap="square" tIns="45700">
            <a:spAutoFit/>
          </a:bodyPr>
          <a:lstStyle/>
          <a:p>
            <a:pPr indent="0" lvl="0" marL="39590" marR="0" rtl="0" algn="l">
              <a:spcBef>
                <a:spcPts val="0"/>
              </a:spcBef>
              <a:spcAft>
                <a:spcPts val="0"/>
              </a:spcAft>
              <a:buNone/>
            </a:pPr>
            <a:r>
              <a:rPr i="1" lang="ru-RU" sz="3200">
                <a:solidFill>
                  <a:schemeClr val="dk1"/>
                </a:solidFill>
                <a:latin typeface="Times New Roman"/>
                <a:ea typeface="Times New Roman"/>
                <a:cs typeface="Times New Roman"/>
                <a:sym typeface="Times New Roman"/>
              </a:rPr>
              <a:t>σ</a:t>
            </a:r>
            <a:r>
              <a:rPr i="1" lang="ru-RU" sz="2800">
                <a:solidFill>
                  <a:schemeClr val="dk1"/>
                </a:solidFill>
                <a:latin typeface="Times New Roman"/>
                <a:ea typeface="Times New Roman"/>
                <a:cs typeface="Times New Roman"/>
                <a:sym typeface="Times New Roman"/>
              </a:rPr>
              <a:t> </a:t>
            </a:r>
            <a:r>
              <a:rPr i="1" lang="ru-RU" sz="1600">
                <a:solidFill>
                  <a:schemeClr val="dk1"/>
                </a:solidFill>
                <a:latin typeface="Times New Roman"/>
                <a:ea typeface="Times New Roman"/>
                <a:cs typeface="Times New Roman"/>
                <a:sym typeface="Times New Roman"/>
              </a:rPr>
              <a:t> </a:t>
            </a:r>
            <a:r>
              <a:rPr i="1" lang="ru-RU" sz="1800">
                <a:solidFill>
                  <a:schemeClr val="dk1"/>
                </a:solidFill>
                <a:latin typeface="Times New Roman"/>
                <a:ea typeface="Times New Roman"/>
                <a:cs typeface="Times New Roman"/>
                <a:sym typeface="Times New Roman"/>
              </a:rPr>
              <a:t>X</a:t>
            </a:r>
            <a:r>
              <a:rPr baseline="-25000" i="1" lang="ru-RU" sz="1800">
                <a:solidFill>
                  <a:schemeClr val="dk1"/>
                </a:solidFill>
                <a:latin typeface="Times New Roman"/>
                <a:ea typeface="Times New Roman"/>
                <a:cs typeface="Times New Roman"/>
                <a:sym typeface="Times New Roman"/>
              </a:rPr>
              <a:t>1</a:t>
            </a:r>
            <a:r>
              <a:rPr i="1" lang="ru-RU" sz="1800">
                <a:solidFill>
                  <a:schemeClr val="dk1"/>
                </a:solidFill>
                <a:latin typeface="Times New Roman"/>
                <a:ea typeface="Times New Roman"/>
                <a:cs typeface="Times New Roman"/>
                <a:sym typeface="Times New Roman"/>
              </a:rPr>
              <a:t>-X</a:t>
            </a:r>
            <a:r>
              <a:rPr baseline="-25000" i="1" lang="ru-RU" sz="1800">
                <a:solidFill>
                  <a:schemeClr val="dk1"/>
                </a:solidFill>
                <a:latin typeface="Times New Roman"/>
                <a:ea typeface="Times New Roman"/>
                <a:cs typeface="Times New Roman"/>
                <a:sym typeface="Times New Roman"/>
              </a:rPr>
              <a:t>2</a:t>
            </a:r>
            <a:endParaRPr baseline="-25000" i="1"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02"/>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90" name="Google Shape;1290;p102"/>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91" name="Google Shape;1291;p102"/>
          <p:cNvSpPr/>
          <p:nvPr/>
        </p:nvSpPr>
        <p:spPr>
          <a:xfrm>
            <a:off x="2842099" y="2187573"/>
            <a:ext cx="284392" cy="0"/>
          </a:xfrm>
          <a:custGeom>
            <a:rect b="b" l="l" r="r" t="t"/>
            <a:pathLst>
              <a:path extrusionOk="0" h="120000" w="273684">
                <a:moveTo>
                  <a:pt x="0" y="0"/>
                </a:moveTo>
                <a:lnTo>
                  <a:pt x="273484" y="0"/>
                </a:lnTo>
              </a:path>
            </a:pathLst>
          </a:custGeom>
          <a:noFill/>
          <a:ln cap="flat" cmpd="sng" w="182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92" name="Google Shape;1292;p102"/>
          <p:cNvSpPr/>
          <p:nvPr/>
        </p:nvSpPr>
        <p:spPr>
          <a:xfrm>
            <a:off x="3693100" y="2187573"/>
            <a:ext cx="284392" cy="0"/>
          </a:xfrm>
          <a:custGeom>
            <a:rect b="b" l="l" r="r" t="t"/>
            <a:pathLst>
              <a:path extrusionOk="0" h="120000" w="273685">
                <a:moveTo>
                  <a:pt x="0" y="0"/>
                </a:moveTo>
                <a:lnTo>
                  <a:pt x="273453" y="0"/>
                </a:lnTo>
              </a:path>
            </a:pathLst>
          </a:custGeom>
          <a:noFill/>
          <a:ln cap="flat" cmpd="sng" w="182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93" name="Google Shape;1293;p102"/>
          <p:cNvSpPr txBox="1"/>
          <p:nvPr/>
        </p:nvSpPr>
        <p:spPr>
          <a:xfrm>
            <a:off x="3973552" y="2354855"/>
            <a:ext cx="186075" cy="414162"/>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lang="ru-RU" sz="2494">
                <a:solidFill>
                  <a:schemeClr val="dk1"/>
                </a:solidFill>
                <a:latin typeface="Times New Roman"/>
                <a:ea typeface="Times New Roman"/>
                <a:cs typeface="Times New Roman"/>
                <a:sym typeface="Times New Roman"/>
              </a:rPr>
              <a:t>2</a:t>
            </a:r>
            <a:endParaRPr sz="2494">
              <a:solidFill>
                <a:schemeClr val="dk1"/>
              </a:solidFill>
              <a:latin typeface="Times New Roman"/>
              <a:ea typeface="Times New Roman"/>
              <a:cs typeface="Times New Roman"/>
              <a:sym typeface="Times New Roman"/>
            </a:endParaRPr>
          </a:p>
        </p:txBody>
      </p:sp>
      <p:sp>
        <p:nvSpPr>
          <p:cNvPr id="1294" name="Google Shape;1294;p102"/>
          <p:cNvSpPr txBox="1"/>
          <p:nvPr/>
        </p:nvSpPr>
        <p:spPr>
          <a:xfrm>
            <a:off x="3086274" y="2354855"/>
            <a:ext cx="186075" cy="414162"/>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lang="ru-RU" sz="2494">
                <a:solidFill>
                  <a:schemeClr val="dk1"/>
                </a:solidFill>
                <a:latin typeface="Times New Roman"/>
                <a:ea typeface="Times New Roman"/>
                <a:cs typeface="Times New Roman"/>
                <a:sym typeface="Times New Roman"/>
              </a:rPr>
              <a:t>1</a:t>
            </a:r>
            <a:endParaRPr sz="2494">
              <a:solidFill>
                <a:schemeClr val="dk1"/>
              </a:solidFill>
              <a:latin typeface="Times New Roman"/>
              <a:ea typeface="Times New Roman"/>
              <a:cs typeface="Times New Roman"/>
              <a:sym typeface="Times New Roman"/>
            </a:endParaRPr>
          </a:p>
        </p:txBody>
      </p:sp>
      <p:sp>
        <p:nvSpPr>
          <p:cNvPr id="1295" name="Google Shape;1295;p102"/>
          <p:cNvSpPr txBox="1"/>
          <p:nvPr/>
        </p:nvSpPr>
        <p:spPr>
          <a:xfrm>
            <a:off x="2198223" y="1689174"/>
            <a:ext cx="900339" cy="1027656"/>
          </a:xfrm>
          <a:prstGeom prst="rect">
            <a:avLst/>
          </a:prstGeom>
          <a:noFill/>
          <a:ln>
            <a:noFill/>
          </a:ln>
        </p:spPr>
        <p:txBody>
          <a:bodyPr anchorCtr="0" anchor="t" bIns="0" lIns="0" spcFirstLastPara="1" rIns="0" wrap="square" tIns="11875">
            <a:spAutoFit/>
          </a:bodyPr>
          <a:lstStyle/>
          <a:p>
            <a:pPr indent="0" lvl="0" marL="39590" marR="0" rtl="0" algn="l">
              <a:spcBef>
                <a:spcPts val="0"/>
              </a:spcBef>
              <a:spcAft>
                <a:spcPts val="0"/>
              </a:spcAft>
              <a:buNone/>
            </a:pPr>
            <a:r>
              <a:rPr i="1" lang="ru-RU" sz="6000">
                <a:solidFill>
                  <a:schemeClr val="dk1"/>
                </a:solidFill>
                <a:latin typeface="Times New Roman"/>
                <a:ea typeface="Times New Roman"/>
                <a:cs typeface="Times New Roman"/>
                <a:sym typeface="Times New Roman"/>
              </a:rPr>
              <a:t>σ</a:t>
            </a:r>
            <a:r>
              <a:rPr i="1" lang="ru-RU" sz="6600">
                <a:solidFill>
                  <a:schemeClr val="dk1"/>
                </a:solidFill>
                <a:latin typeface="Times New Roman"/>
                <a:ea typeface="Times New Roman"/>
                <a:cs typeface="Times New Roman"/>
                <a:sym typeface="Times New Roman"/>
              </a:rPr>
              <a:t> </a:t>
            </a:r>
            <a:r>
              <a:rPr i="1" lang="ru-RU" sz="2800">
                <a:solidFill>
                  <a:schemeClr val="dk1"/>
                </a:solidFill>
                <a:latin typeface="Times New Roman"/>
                <a:ea typeface="Times New Roman"/>
                <a:cs typeface="Times New Roman"/>
                <a:sym typeface="Times New Roman"/>
              </a:rPr>
              <a:t>X</a:t>
            </a:r>
            <a:endParaRPr sz="2800">
              <a:solidFill>
                <a:schemeClr val="dk1"/>
              </a:solidFill>
              <a:latin typeface="Times New Roman"/>
              <a:ea typeface="Times New Roman"/>
              <a:cs typeface="Times New Roman"/>
              <a:sym typeface="Times New Roman"/>
            </a:endParaRPr>
          </a:p>
        </p:txBody>
      </p:sp>
      <p:sp>
        <p:nvSpPr>
          <p:cNvPr id="1296" name="Google Shape;1296;p102"/>
          <p:cNvSpPr txBox="1"/>
          <p:nvPr/>
        </p:nvSpPr>
        <p:spPr>
          <a:xfrm>
            <a:off x="3305685" y="2113924"/>
            <a:ext cx="617612" cy="572605"/>
          </a:xfrm>
          <a:prstGeom prst="rect">
            <a:avLst/>
          </a:prstGeom>
          <a:noFill/>
          <a:ln>
            <a:noFill/>
          </a:ln>
        </p:spPr>
        <p:txBody>
          <a:bodyPr anchorCtr="0" anchor="t" bIns="0" lIns="0" spcFirstLastPara="1" rIns="0" wrap="square" tIns="15825">
            <a:spAutoFit/>
          </a:bodyPr>
          <a:lstStyle/>
          <a:p>
            <a:pPr indent="-319357" lvl="0" marL="331894" marR="0" rtl="0" algn="l">
              <a:spcBef>
                <a:spcPts val="0"/>
              </a:spcBef>
              <a:spcAft>
                <a:spcPts val="0"/>
              </a:spcAft>
              <a:buClr>
                <a:schemeClr val="dk1"/>
              </a:buClr>
              <a:buSzPts val="3481"/>
              <a:buFont typeface="Noto Sans Symbols"/>
              <a:buChar char="−"/>
            </a:pPr>
            <a:r>
              <a:rPr i="1" lang="ru-RU" sz="3481">
                <a:solidFill>
                  <a:schemeClr val="dk1"/>
                </a:solidFill>
                <a:latin typeface="Times New Roman"/>
                <a:ea typeface="Times New Roman"/>
                <a:cs typeface="Times New Roman"/>
                <a:sym typeface="Times New Roman"/>
              </a:rPr>
              <a:t>X</a:t>
            </a:r>
            <a:endParaRPr sz="3481">
              <a:solidFill>
                <a:schemeClr val="dk1"/>
              </a:solidFill>
              <a:latin typeface="Times New Roman"/>
              <a:ea typeface="Times New Roman"/>
              <a:cs typeface="Times New Roman"/>
              <a:sym typeface="Times New Roman"/>
            </a:endParaRPr>
          </a:p>
        </p:txBody>
      </p:sp>
      <p:sp>
        <p:nvSpPr>
          <p:cNvPr id="1297" name="Google Shape;1297;p102"/>
          <p:cNvSpPr/>
          <p:nvPr/>
        </p:nvSpPr>
        <p:spPr>
          <a:xfrm>
            <a:off x="2663225" y="4069370"/>
            <a:ext cx="190694" cy="0"/>
          </a:xfrm>
          <a:custGeom>
            <a:rect b="b" l="l" r="r" t="t"/>
            <a:pathLst>
              <a:path extrusionOk="0" h="120000" w="183515">
                <a:moveTo>
                  <a:pt x="0" y="0"/>
                </a:moveTo>
                <a:lnTo>
                  <a:pt x="183336" y="0"/>
                </a:lnTo>
              </a:path>
            </a:pathLst>
          </a:custGeom>
          <a:noFill/>
          <a:ln cap="flat" cmpd="sng" w="12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98" name="Google Shape;1298;p102"/>
          <p:cNvSpPr/>
          <p:nvPr/>
        </p:nvSpPr>
        <p:spPr>
          <a:xfrm>
            <a:off x="3234761" y="4069370"/>
            <a:ext cx="192014" cy="0"/>
          </a:xfrm>
          <a:custGeom>
            <a:rect b="b" l="l" r="r" t="t"/>
            <a:pathLst>
              <a:path extrusionOk="0" h="120000" w="184785">
                <a:moveTo>
                  <a:pt x="0" y="0"/>
                </a:moveTo>
                <a:lnTo>
                  <a:pt x="184376" y="0"/>
                </a:lnTo>
              </a:path>
            </a:pathLst>
          </a:custGeom>
          <a:noFill/>
          <a:ln cap="flat" cmpd="sng" w="124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299" name="Google Shape;1299;p102"/>
          <p:cNvSpPr/>
          <p:nvPr/>
        </p:nvSpPr>
        <p:spPr>
          <a:xfrm>
            <a:off x="4558499" y="4033634"/>
            <a:ext cx="1273494" cy="0"/>
          </a:xfrm>
          <a:custGeom>
            <a:rect b="b" l="l" r="r" t="t"/>
            <a:pathLst>
              <a:path extrusionOk="0" h="120000" w="1225550">
                <a:moveTo>
                  <a:pt x="0" y="0"/>
                </a:moveTo>
                <a:lnTo>
                  <a:pt x="1225437" y="0"/>
                </a:lnTo>
              </a:path>
            </a:pathLst>
          </a:custGeom>
          <a:noFill/>
          <a:ln cap="flat" cmpd="sng" w="21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00" name="Google Shape;1300;p102"/>
          <p:cNvSpPr/>
          <p:nvPr/>
        </p:nvSpPr>
        <p:spPr>
          <a:xfrm>
            <a:off x="6346469" y="4033634"/>
            <a:ext cx="1272834" cy="0"/>
          </a:xfrm>
          <a:custGeom>
            <a:rect b="b" l="l" r="r" t="t"/>
            <a:pathLst>
              <a:path extrusionOk="0" h="120000" w="1224914">
                <a:moveTo>
                  <a:pt x="0" y="0"/>
                </a:moveTo>
                <a:lnTo>
                  <a:pt x="1224574" y="0"/>
                </a:lnTo>
              </a:path>
            </a:pathLst>
          </a:custGeom>
          <a:noFill/>
          <a:ln cap="flat" cmpd="sng" w="21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01" name="Google Shape;1301;p102"/>
          <p:cNvSpPr/>
          <p:nvPr/>
        </p:nvSpPr>
        <p:spPr>
          <a:xfrm>
            <a:off x="4203729" y="4149746"/>
            <a:ext cx="69283" cy="39590"/>
          </a:xfrm>
          <a:custGeom>
            <a:rect b="b" l="l" r="r" t="t"/>
            <a:pathLst>
              <a:path extrusionOk="0" h="38100" w="66675">
                <a:moveTo>
                  <a:pt x="0" y="37614"/>
                </a:moveTo>
                <a:lnTo>
                  <a:pt x="66402" y="0"/>
                </a:lnTo>
              </a:path>
            </a:pathLst>
          </a:custGeom>
          <a:noFill/>
          <a:ln cap="flat" cmpd="sng" w="218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02" name="Google Shape;1302;p102"/>
          <p:cNvSpPr/>
          <p:nvPr/>
        </p:nvSpPr>
        <p:spPr>
          <a:xfrm>
            <a:off x="4272728" y="4160940"/>
            <a:ext cx="100296" cy="591218"/>
          </a:xfrm>
          <a:custGeom>
            <a:rect b="b" l="l" r="r" t="t"/>
            <a:pathLst>
              <a:path extrusionOk="0" h="568960" w="96519">
                <a:moveTo>
                  <a:pt x="0" y="0"/>
                </a:moveTo>
                <a:lnTo>
                  <a:pt x="95896" y="568474"/>
                </a:lnTo>
              </a:path>
            </a:pathLst>
          </a:custGeom>
          <a:noFill/>
          <a:ln cap="flat" cmpd="sng" w="431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03" name="Google Shape;1303;p102"/>
          <p:cNvSpPr/>
          <p:nvPr/>
        </p:nvSpPr>
        <p:spPr>
          <a:xfrm>
            <a:off x="4384385" y="3174882"/>
            <a:ext cx="132628" cy="1577021"/>
          </a:xfrm>
          <a:custGeom>
            <a:rect b="b" l="l" r="r" t="t"/>
            <a:pathLst>
              <a:path extrusionOk="0" h="1517650" w="127635">
                <a:moveTo>
                  <a:pt x="0" y="1517410"/>
                </a:moveTo>
                <a:lnTo>
                  <a:pt x="127502" y="0"/>
                </a:lnTo>
              </a:path>
            </a:pathLst>
          </a:custGeom>
          <a:noFill/>
          <a:ln cap="flat" cmpd="sng" w="22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04" name="Google Shape;1304;p102"/>
          <p:cNvSpPr/>
          <p:nvPr/>
        </p:nvSpPr>
        <p:spPr>
          <a:xfrm>
            <a:off x="4516874" y="3174881"/>
            <a:ext cx="3147444" cy="0"/>
          </a:xfrm>
          <a:custGeom>
            <a:rect b="b" l="l" r="r" t="t"/>
            <a:pathLst>
              <a:path extrusionOk="0" h="120000" w="3028950">
                <a:moveTo>
                  <a:pt x="0" y="0"/>
                </a:moveTo>
                <a:lnTo>
                  <a:pt x="3028407" y="0"/>
                </a:lnTo>
              </a:path>
            </a:pathLst>
          </a:custGeom>
          <a:noFill/>
          <a:ln cap="flat" cmpd="sng" w="21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05" name="Google Shape;1305;p102"/>
          <p:cNvSpPr txBox="1"/>
          <p:nvPr/>
        </p:nvSpPr>
        <p:spPr>
          <a:xfrm>
            <a:off x="5208784" y="4410307"/>
            <a:ext cx="1975564" cy="383116"/>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lang="ru-RU" sz="2390">
                <a:solidFill>
                  <a:schemeClr val="dk1"/>
                </a:solidFill>
                <a:latin typeface="Times New Roman"/>
                <a:ea typeface="Times New Roman"/>
                <a:cs typeface="Times New Roman"/>
                <a:sym typeface="Times New Roman"/>
              </a:rPr>
              <a:t>1	2</a:t>
            </a:r>
            <a:endParaRPr sz="2390">
              <a:solidFill>
                <a:schemeClr val="dk1"/>
              </a:solidFill>
              <a:latin typeface="Times New Roman"/>
              <a:ea typeface="Times New Roman"/>
              <a:cs typeface="Times New Roman"/>
              <a:sym typeface="Times New Roman"/>
            </a:endParaRPr>
          </a:p>
        </p:txBody>
      </p:sp>
      <p:sp>
        <p:nvSpPr>
          <p:cNvPr id="1306" name="Google Shape;1306;p102"/>
          <p:cNvSpPr txBox="1"/>
          <p:nvPr/>
        </p:nvSpPr>
        <p:spPr>
          <a:xfrm>
            <a:off x="4975571" y="4056561"/>
            <a:ext cx="2051446" cy="646906"/>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i="1" lang="ru-RU" sz="4104">
                <a:solidFill>
                  <a:schemeClr val="dk1"/>
                </a:solidFill>
                <a:latin typeface="Times New Roman"/>
                <a:ea typeface="Times New Roman"/>
                <a:cs typeface="Times New Roman"/>
                <a:sym typeface="Times New Roman"/>
              </a:rPr>
              <a:t>n	n</a:t>
            </a:r>
            <a:endParaRPr sz="4104">
              <a:solidFill>
                <a:schemeClr val="dk1"/>
              </a:solidFill>
              <a:latin typeface="Times New Roman"/>
              <a:ea typeface="Times New Roman"/>
              <a:cs typeface="Times New Roman"/>
              <a:sym typeface="Times New Roman"/>
            </a:endParaRPr>
          </a:p>
        </p:txBody>
      </p:sp>
      <p:sp>
        <p:nvSpPr>
          <p:cNvPr id="1307" name="Google Shape;1307;p102"/>
          <p:cNvSpPr txBox="1"/>
          <p:nvPr/>
        </p:nvSpPr>
        <p:spPr>
          <a:xfrm>
            <a:off x="4493505" y="3250969"/>
            <a:ext cx="595964" cy="692432"/>
          </a:xfrm>
          <a:prstGeom prst="rect">
            <a:avLst/>
          </a:prstGeom>
          <a:noFill/>
          <a:ln>
            <a:noFill/>
          </a:ln>
        </p:spPr>
        <p:txBody>
          <a:bodyPr anchorCtr="0" anchor="t" bIns="0" lIns="0" spcFirstLastPara="1" rIns="0" wrap="square" tIns="15175">
            <a:spAutoFit/>
          </a:bodyPr>
          <a:lstStyle/>
          <a:p>
            <a:pPr indent="0" lvl="0" marL="39590" marR="0" rtl="0" algn="l">
              <a:spcBef>
                <a:spcPts val="0"/>
              </a:spcBef>
              <a:spcAft>
                <a:spcPts val="0"/>
              </a:spcAft>
              <a:buNone/>
            </a:pPr>
            <a:r>
              <a:rPr i="1" lang="ru-RU" sz="4400">
                <a:solidFill>
                  <a:schemeClr val="dk1"/>
                </a:solidFill>
                <a:latin typeface="Times New Roman"/>
                <a:ea typeface="Times New Roman"/>
                <a:cs typeface="Times New Roman"/>
                <a:sym typeface="Times New Roman"/>
              </a:rPr>
              <a:t>σ</a:t>
            </a:r>
            <a:r>
              <a:rPr baseline="30000" lang="ru-RU" sz="3600">
                <a:solidFill>
                  <a:schemeClr val="dk1"/>
                </a:solidFill>
                <a:latin typeface="Times New Roman"/>
                <a:ea typeface="Times New Roman"/>
                <a:cs typeface="Times New Roman"/>
                <a:sym typeface="Times New Roman"/>
              </a:rPr>
              <a:t>2</a:t>
            </a:r>
            <a:endParaRPr baseline="30000" sz="3600">
              <a:solidFill>
                <a:schemeClr val="dk1"/>
              </a:solidFill>
              <a:latin typeface="Times New Roman"/>
              <a:ea typeface="Times New Roman"/>
              <a:cs typeface="Times New Roman"/>
              <a:sym typeface="Times New Roman"/>
            </a:endParaRPr>
          </a:p>
        </p:txBody>
      </p:sp>
      <p:sp>
        <p:nvSpPr>
          <p:cNvPr id="1308" name="Google Shape;1308;p102"/>
          <p:cNvSpPr txBox="1"/>
          <p:nvPr/>
        </p:nvSpPr>
        <p:spPr>
          <a:xfrm>
            <a:off x="6634365" y="3577268"/>
            <a:ext cx="882868" cy="383116"/>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i="1" lang="ru-RU" sz="2390">
                <a:solidFill>
                  <a:schemeClr val="dk1"/>
                </a:solidFill>
                <a:latin typeface="Times New Roman"/>
                <a:ea typeface="Times New Roman"/>
                <a:cs typeface="Times New Roman"/>
                <a:sym typeface="Times New Roman"/>
              </a:rPr>
              <a:t>pooled</a:t>
            </a:r>
            <a:endParaRPr sz="2390">
              <a:solidFill>
                <a:schemeClr val="dk1"/>
              </a:solidFill>
              <a:latin typeface="Times New Roman"/>
              <a:ea typeface="Times New Roman"/>
              <a:cs typeface="Times New Roman"/>
              <a:sym typeface="Times New Roman"/>
            </a:endParaRPr>
          </a:p>
        </p:txBody>
      </p:sp>
      <p:sp>
        <p:nvSpPr>
          <p:cNvPr id="1309" name="Google Shape;1309;p102"/>
          <p:cNvSpPr txBox="1"/>
          <p:nvPr/>
        </p:nvSpPr>
        <p:spPr>
          <a:xfrm>
            <a:off x="4846396" y="3577268"/>
            <a:ext cx="882868" cy="383116"/>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i="1" lang="ru-RU" sz="2390">
                <a:solidFill>
                  <a:schemeClr val="dk1"/>
                </a:solidFill>
                <a:latin typeface="Times New Roman"/>
                <a:ea typeface="Times New Roman"/>
                <a:cs typeface="Times New Roman"/>
                <a:sym typeface="Times New Roman"/>
              </a:rPr>
              <a:t>pooled</a:t>
            </a:r>
            <a:endParaRPr sz="2390">
              <a:solidFill>
                <a:schemeClr val="dk1"/>
              </a:solidFill>
              <a:latin typeface="Times New Roman"/>
              <a:ea typeface="Times New Roman"/>
              <a:cs typeface="Times New Roman"/>
              <a:sym typeface="Times New Roman"/>
            </a:endParaRPr>
          </a:p>
        </p:txBody>
      </p:sp>
      <p:sp>
        <p:nvSpPr>
          <p:cNvPr id="1310" name="Google Shape;1310;p102"/>
          <p:cNvSpPr txBox="1"/>
          <p:nvPr/>
        </p:nvSpPr>
        <p:spPr>
          <a:xfrm>
            <a:off x="5928140" y="3633320"/>
            <a:ext cx="318703" cy="671615"/>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lang="ru-RU" sz="4104">
                <a:solidFill>
                  <a:schemeClr val="dk1"/>
                </a:solidFill>
                <a:latin typeface="Noto Sans Symbols"/>
                <a:ea typeface="Noto Sans Symbols"/>
                <a:cs typeface="Noto Sans Symbols"/>
                <a:sym typeface="Noto Sans Symbols"/>
              </a:rPr>
              <a:t>+</a:t>
            </a:r>
            <a:endParaRPr sz="4104">
              <a:solidFill>
                <a:schemeClr val="dk1"/>
              </a:solidFill>
              <a:latin typeface="Noto Sans Symbols"/>
              <a:ea typeface="Noto Sans Symbols"/>
              <a:cs typeface="Noto Sans Symbols"/>
              <a:sym typeface="Noto Sans Symbols"/>
            </a:endParaRPr>
          </a:p>
        </p:txBody>
      </p:sp>
      <p:sp>
        <p:nvSpPr>
          <p:cNvPr id="1311" name="Google Shape;1311;p102"/>
          <p:cNvSpPr txBox="1"/>
          <p:nvPr/>
        </p:nvSpPr>
        <p:spPr>
          <a:xfrm>
            <a:off x="2370831" y="3633319"/>
            <a:ext cx="1697112" cy="692432"/>
          </a:xfrm>
          <a:prstGeom prst="rect">
            <a:avLst/>
          </a:prstGeom>
          <a:noFill/>
          <a:ln>
            <a:noFill/>
          </a:ln>
        </p:spPr>
        <p:txBody>
          <a:bodyPr anchorCtr="0" anchor="t" bIns="0" lIns="0" spcFirstLastPara="1" rIns="0" wrap="square" tIns="15175">
            <a:spAutoFit/>
          </a:bodyPr>
          <a:lstStyle/>
          <a:p>
            <a:pPr indent="0" lvl="0" marL="13197" marR="0" rtl="0" algn="l">
              <a:spcBef>
                <a:spcPts val="0"/>
              </a:spcBef>
              <a:spcAft>
                <a:spcPts val="0"/>
              </a:spcAft>
              <a:buNone/>
            </a:pPr>
            <a:r>
              <a:rPr i="1" lang="ru-RU" sz="4400">
                <a:solidFill>
                  <a:schemeClr val="dk1"/>
                </a:solidFill>
                <a:latin typeface="Times New Roman"/>
                <a:ea typeface="Times New Roman"/>
                <a:cs typeface="Times New Roman"/>
                <a:sym typeface="Times New Roman"/>
              </a:rPr>
              <a:t>σ </a:t>
            </a:r>
            <a:r>
              <a:rPr i="1" lang="ru-RU" sz="4104">
                <a:solidFill>
                  <a:schemeClr val="dk1"/>
                </a:solidFill>
                <a:latin typeface="Times New Roman"/>
                <a:ea typeface="Times New Roman"/>
                <a:cs typeface="Times New Roman"/>
                <a:sym typeface="Times New Roman"/>
              </a:rPr>
              <a:t>	</a:t>
            </a:r>
            <a:r>
              <a:rPr lang="ru-RU" sz="4104">
                <a:solidFill>
                  <a:schemeClr val="dk1"/>
                </a:solidFill>
                <a:latin typeface="Noto Sans Symbols"/>
                <a:ea typeface="Noto Sans Symbols"/>
                <a:cs typeface="Noto Sans Symbols"/>
                <a:sym typeface="Noto Sans Symbols"/>
              </a:rPr>
              <a:t>=</a:t>
            </a:r>
            <a:endParaRPr sz="4104">
              <a:solidFill>
                <a:schemeClr val="dk1"/>
              </a:solidFill>
              <a:latin typeface="Noto Sans Symbols"/>
              <a:ea typeface="Noto Sans Symbols"/>
              <a:cs typeface="Noto Sans Symbols"/>
              <a:sym typeface="Noto Sans Symbols"/>
            </a:endParaRPr>
          </a:p>
        </p:txBody>
      </p:sp>
      <p:sp>
        <p:nvSpPr>
          <p:cNvPr id="1312" name="Google Shape;1312;p102"/>
          <p:cNvSpPr txBox="1"/>
          <p:nvPr/>
        </p:nvSpPr>
        <p:spPr>
          <a:xfrm>
            <a:off x="2586411" y="4012771"/>
            <a:ext cx="997679" cy="646971"/>
          </a:xfrm>
          <a:prstGeom prst="rect">
            <a:avLst/>
          </a:prstGeom>
          <a:noFill/>
          <a:ln>
            <a:noFill/>
          </a:ln>
        </p:spPr>
        <p:txBody>
          <a:bodyPr anchorCtr="0" anchor="t" bIns="0" lIns="0" spcFirstLastPara="1" rIns="0" wrap="square" tIns="15175">
            <a:spAutoFit/>
          </a:bodyPr>
          <a:lstStyle/>
          <a:p>
            <a:pPr indent="0" lvl="0" marL="39590" marR="0" rtl="0" algn="l">
              <a:spcBef>
                <a:spcPts val="0"/>
              </a:spcBef>
              <a:spcAft>
                <a:spcPts val="0"/>
              </a:spcAft>
              <a:buNone/>
            </a:pPr>
            <a:r>
              <a:rPr i="1" lang="ru-RU" sz="2390">
                <a:solidFill>
                  <a:schemeClr val="dk1"/>
                </a:solidFill>
                <a:latin typeface="Times New Roman"/>
                <a:ea typeface="Times New Roman"/>
                <a:cs typeface="Times New Roman"/>
                <a:sym typeface="Times New Roman"/>
              </a:rPr>
              <a:t>X</a:t>
            </a:r>
            <a:r>
              <a:rPr baseline="-25000" lang="ru-RU" sz="2572">
                <a:solidFill>
                  <a:schemeClr val="dk1"/>
                </a:solidFill>
                <a:latin typeface="Times New Roman"/>
                <a:ea typeface="Times New Roman"/>
                <a:cs typeface="Times New Roman"/>
                <a:sym typeface="Times New Roman"/>
              </a:rPr>
              <a:t>1 </a:t>
            </a:r>
            <a:r>
              <a:rPr lang="ru-RU" sz="2390">
                <a:solidFill>
                  <a:schemeClr val="dk1"/>
                </a:solidFill>
                <a:latin typeface="Noto Sans Symbols"/>
                <a:ea typeface="Noto Sans Symbols"/>
                <a:cs typeface="Noto Sans Symbols"/>
                <a:sym typeface="Noto Sans Symbols"/>
              </a:rPr>
              <a:t>−</a:t>
            </a:r>
            <a:r>
              <a:rPr lang="ru-RU" sz="2390">
                <a:solidFill>
                  <a:schemeClr val="dk1"/>
                </a:solidFill>
                <a:latin typeface="Times New Roman"/>
                <a:ea typeface="Times New Roman"/>
                <a:cs typeface="Times New Roman"/>
                <a:sym typeface="Times New Roman"/>
              </a:rPr>
              <a:t> </a:t>
            </a:r>
            <a:r>
              <a:rPr i="1" lang="ru-RU" sz="2390">
                <a:solidFill>
                  <a:schemeClr val="dk1"/>
                </a:solidFill>
                <a:latin typeface="Times New Roman"/>
                <a:ea typeface="Times New Roman"/>
                <a:cs typeface="Times New Roman"/>
                <a:sym typeface="Times New Roman"/>
              </a:rPr>
              <a:t>X </a:t>
            </a:r>
            <a:r>
              <a:rPr baseline="-25000" lang="ru-RU" sz="2572">
                <a:solidFill>
                  <a:schemeClr val="dk1"/>
                </a:solidFill>
                <a:latin typeface="Times New Roman"/>
                <a:ea typeface="Times New Roman"/>
                <a:cs typeface="Times New Roman"/>
                <a:sym typeface="Times New Roman"/>
              </a:rPr>
              <a:t>2</a:t>
            </a:r>
            <a:endParaRPr baseline="-25000" sz="2572">
              <a:solidFill>
                <a:schemeClr val="dk1"/>
              </a:solidFill>
              <a:latin typeface="Times New Roman"/>
              <a:ea typeface="Times New Roman"/>
              <a:cs typeface="Times New Roman"/>
              <a:sym typeface="Times New Roman"/>
            </a:endParaRPr>
          </a:p>
        </p:txBody>
      </p:sp>
      <p:sp>
        <p:nvSpPr>
          <p:cNvPr id="1313" name="Google Shape;1313;p102"/>
          <p:cNvSpPr txBox="1"/>
          <p:nvPr/>
        </p:nvSpPr>
        <p:spPr>
          <a:xfrm>
            <a:off x="2095693" y="1488257"/>
            <a:ext cx="7811203" cy="397149"/>
          </a:xfrm>
          <a:prstGeom prst="rect">
            <a:avLst/>
          </a:prstGeom>
          <a:noFill/>
          <a:ln>
            <a:noFill/>
          </a:ln>
        </p:spPr>
        <p:txBody>
          <a:bodyPr anchorCtr="0" anchor="t" bIns="0" lIns="0" spcFirstLastPara="1" rIns="0" wrap="square" tIns="13175">
            <a:spAutoFit/>
          </a:bodyPr>
          <a:lstStyle/>
          <a:p>
            <a:pPr indent="0" lvl="0" marL="332554" marR="0" rtl="0" algn="l">
              <a:spcBef>
                <a:spcPts val="0"/>
              </a:spcBef>
              <a:spcAft>
                <a:spcPts val="0"/>
              </a:spcAft>
              <a:buNone/>
            </a:pPr>
            <a:r>
              <a:rPr lang="ru-RU" sz="2494">
                <a:solidFill>
                  <a:schemeClr val="dk1"/>
                </a:solidFill>
                <a:latin typeface="Arial"/>
                <a:ea typeface="Arial"/>
                <a:cs typeface="Arial"/>
                <a:sym typeface="Arial"/>
              </a:rPr>
              <a:t>Стандартная ошибка РАЗНОСТИ между средними</a:t>
            </a:r>
            <a:endParaRPr sz="2494">
              <a:solidFill>
                <a:schemeClr val="dk1"/>
              </a:solidFill>
              <a:latin typeface="Arial"/>
              <a:ea typeface="Arial"/>
              <a:cs typeface="Arial"/>
              <a:sym typeface="Arial"/>
            </a:endParaRPr>
          </a:p>
        </p:txBody>
      </p:sp>
      <p:sp>
        <p:nvSpPr>
          <p:cNvPr id="1314" name="Google Shape;1314;p102"/>
          <p:cNvSpPr/>
          <p:nvPr/>
        </p:nvSpPr>
        <p:spPr>
          <a:xfrm>
            <a:off x="6932999" y="3028012"/>
            <a:ext cx="1350695" cy="624210"/>
          </a:xfrm>
          <a:custGeom>
            <a:rect b="b" l="l" r="r" t="t"/>
            <a:pathLst>
              <a:path extrusionOk="0" h="600710" w="1299845">
                <a:moveTo>
                  <a:pt x="101219" y="460121"/>
                </a:moveTo>
                <a:lnTo>
                  <a:pt x="94234" y="461010"/>
                </a:lnTo>
                <a:lnTo>
                  <a:pt x="90550" y="465963"/>
                </a:lnTo>
                <a:lnTo>
                  <a:pt x="0" y="586359"/>
                </a:lnTo>
                <a:lnTo>
                  <a:pt x="150113" y="599694"/>
                </a:lnTo>
                <a:lnTo>
                  <a:pt x="156210" y="600329"/>
                </a:lnTo>
                <a:lnTo>
                  <a:pt x="161671" y="595757"/>
                </a:lnTo>
                <a:lnTo>
                  <a:pt x="162380" y="587248"/>
                </a:lnTo>
                <a:lnTo>
                  <a:pt x="25400" y="587248"/>
                </a:lnTo>
                <a:lnTo>
                  <a:pt x="16383" y="566927"/>
                </a:lnTo>
                <a:lnTo>
                  <a:pt x="55514" y="549520"/>
                </a:lnTo>
                <a:lnTo>
                  <a:pt x="108331" y="479298"/>
                </a:lnTo>
                <a:lnTo>
                  <a:pt x="112013" y="474472"/>
                </a:lnTo>
                <a:lnTo>
                  <a:pt x="111125" y="467487"/>
                </a:lnTo>
                <a:lnTo>
                  <a:pt x="101219" y="460121"/>
                </a:lnTo>
                <a:close/>
              </a:path>
              <a:path extrusionOk="0" h="600710" w="1299845">
                <a:moveTo>
                  <a:pt x="55514" y="549520"/>
                </a:moveTo>
                <a:lnTo>
                  <a:pt x="16383" y="566927"/>
                </a:lnTo>
                <a:lnTo>
                  <a:pt x="25400" y="587248"/>
                </a:lnTo>
                <a:lnTo>
                  <a:pt x="33108" y="583819"/>
                </a:lnTo>
                <a:lnTo>
                  <a:pt x="29718" y="583819"/>
                </a:lnTo>
                <a:lnTo>
                  <a:pt x="21844" y="566038"/>
                </a:lnTo>
                <a:lnTo>
                  <a:pt x="43090" y="566038"/>
                </a:lnTo>
                <a:lnTo>
                  <a:pt x="55514" y="549520"/>
                </a:lnTo>
                <a:close/>
              </a:path>
              <a:path extrusionOk="0" h="600710" w="1299845">
                <a:moveTo>
                  <a:pt x="64553" y="569830"/>
                </a:moveTo>
                <a:lnTo>
                  <a:pt x="25400" y="587248"/>
                </a:lnTo>
                <a:lnTo>
                  <a:pt x="162380" y="587248"/>
                </a:lnTo>
                <a:lnTo>
                  <a:pt x="162687" y="583564"/>
                </a:lnTo>
                <a:lnTo>
                  <a:pt x="158241" y="578104"/>
                </a:lnTo>
                <a:lnTo>
                  <a:pt x="64553" y="569830"/>
                </a:lnTo>
                <a:close/>
              </a:path>
              <a:path extrusionOk="0" h="600710" w="1299845">
                <a:moveTo>
                  <a:pt x="21844" y="566038"/>
                </a:moveTo>
                <a:lnTo>
                  <a:pt x="29718" y="583819"/>
                </a:lnTo>
                <a:lnTo>
                  <a:pt x="41760" y="567807"/>
                </a:lnTo>
                <a:lnTo>
                  <a:pt x="21844" y="566038"/>
                </a:lnTo>
                <a:close/>
              </a:path>
              <a:path extrusionOk="0" h="600710" w="1299845">
                <a:moveTo>
                  <a:pt x="41760" y="567807"/>
                </a:moveTo>
                <a:lnTo>
                  <a:pt x="29718" y="583819"/>
                </a:lnTo>
                <a:lnTo>
                  <a:pt x="33108" y="583819"/>
                </a:lnTo>
                <a:lnTo>
                  <a:pt x="64553" y="569830"/>
                </a:lnTo>
                <a:lnTo>
                  <a:pt x="41760" y="567807"/>
                </a:lnTo>
                <a:close/>
              </a:path>
              <a:path extrusionOk="0" h="600710" w="1299845">
                <a:moveTo>
                  <a:pt x="1290827" y="0"/>
                </a:moveTo>
                <a:lnTo>
                  <a:pt x="55514" y="549520"/>
                </a:lnTo>
                <a:lnTo>
                  <a:pt x="41760" y="567807"/>
                </a:lnTo>
                <a:lnTo>
                  <a:pt x="64553" y="569830"/>
                </a:lnTo>
                <a:lnTo>
                  <a:pt x="1299845" y="20320"/>
                </a:lnTo>
                <a:lnTo>
                  <a:pt x="1290827" y="0"/>
                </a:lnTo>
                <a:close/>
              </a:path>
              <a:path extrusionOk="0" h="600710" w="1299845">
                <a:moveTo>
                  <a:pt x="43090" y="566038"/>
                </a:moveTo>
                <a:lnTo>
                  <a:pt x="21844" y="566038"/>
                </a:lnTo>
                <a:lnTo>
                  <a:pt x="41760" y="567807"/>
                </a:lnTo>
                <a:lnTo>
                  <a:pt x="43090" y="566038"/>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15" name="Google Shape;1315;p102"/>
          <p:cNvSpPr txBox="1"/>
          <p:nvPr/>
        </p:nvSpPr>
        <p:spPr>
          <a:xfrm>
            <a:off x="6903437" y="2128518"/>
            <a:ext cx="3832358"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Взвешенная по размерам</a:t>
            </a:r>
            <a:endParaRPr sz="2494">
              <a:solidFill>
                <a:schemeClr val="dk1"/>
              </a:solidFill>
              <a:latin typeface="Arial"/>
              <a:ea typeface="Arial"/>
              <a:cs typeface="Arial"/>
              <a:sym typeface="Arial"/>
            </a:endParaRPr>
          </a:p>
        </p:txBody>
      </p:sp>
      <p:sp>
        <p:nvSpPr>
          <p:cNvPr id="1316" name="Google Shape;1316;p102"/>
          <p:cNvSpPr txBox="1"/>
          <p:nvPr/>
        </p:nvSpPr>
        <p:spPr>
          <a:xfrm>
            <a:off x="6903437" y="2508586"/>
            <a:ext cx="4202530"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выборок средняя дисперсия</a:t>
            </a:r>
            <a:endParaRPr sz="2494">
              <a:solidFill>
                <a:schemeClr val="dk1"/>
              </a:solidFill>
              <a:latin typeface="Arial"/>
              <a:ea typeface="Arial"/>
              <a:cs typeface="Arial"/>
              <a:sym typeface="Arial"/>
            </a:endParaRPr>
          </a:p>
        </p:txBody>
      </p:sp>
      <p:sp>
        <p:nvSpPr>
          <p:cNvPr id="1317" name="Google Shape;1317;p102"/>
          <p:cNvSpPr txBox="1"/>
          <p:nvPr/>
        </p:nvSpPr>
        <p:spPr>
          <a:xfrm>
            <a:off x="1569892" y="5194660"/>
            <a:ext cx="10459149" cy="780972"/>
          </a:xfrm>
          <a:prstGeom prst="rect">
            <a:avLst/>
          </a:prstGeom>
          <a:noFill/>
          <a:ln>
            <a:noFill/>
          </a:ln>
        </p:spPr>
        <p:txBody>
          <a:bodyPr anchorCtr="0" anchor="t" bIns="0" lIns="0" spcFirstLastPara="1" rIns="0" wrap="square" tIns="13175">
            <a:spAutoFit/>
          </a:bodyPr>
          <a:lstStyle/>
          <a:p>
            <a:pPr indent="0" lvl="0" marL="13197" marR="5279" rtl="0" algn="l">
              <a:spcBef>
                <a:spcPts val="0"/>
              </a:spcBef>
              <a:spcAft>
                <a:spcPts val="0"/>
              </a:spcAft>
              <a:buNone/>
            </a:pPr>
            <a:r>
              <a:rPr lang="ru-RU" sz="2494">
                <a:solidFill>
                  <a:schemeClr val="dk1"/>
                </a:solidFill>
                <a:latin typeface="Arial"/>
                <a:ea typeface="Arial"/>
                <a:cs typeface="Arial"/>
                <a:sym typeface="Arial"/>
              </a:rPr>
              <a:t>Идея в том, что стандартная ошибка разности средних  определяется дисперсиями в обеих выборках и размерами  этих выборок</a:t>
            </a:r>
            <a:endParaRPr sz="2494">
              <a:solidFill>
                <a:schemeClr val="dk1"/>
              </a:solidFill>
              <a:latin typeface="Arial"/>
              <a:ea typeface="Arial"/>
              <a:cs typeface="Arial"/>
              <a:sym typeface="Arial"/>
            </a:endParaRPr>
          </a:p>
        </p:txBody>
      </p:sp>
      <p:sp>
        <p:nvSpPr>
          <p:cNvPr id="1318" name="Google Shape;1318;p102"/>
          <p:cNvSpPr txBox="1"/>
          <p:nvPr/>
        </p:nvSpPr>
        <p:spPr>
          <a:xfrm>
            <a:off x="3015696" y="326861"/>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319" name="Google Shape;1319;p102"/>
          <p:cNvSpPr txBox="1"/>
          <p:nvPr/>
        </p:nvSpPr>
        <p:spPr>
          <a:xfrm>
            <a:off x="6203503" y="3267952"/>
            <a:ext cx="595964" cy="692432"/>
          </a:xfrm>
          <a:prstGeom prst="rect">
            <a:avLst/>
          </a:prstGeom>
          <a:noFill/>
          <a:ln>
            <a:noFill/>
          </a:ln>
        </p:spPr>
        <p:txBody>
          <a:bodyPr anchorCtr="0" anchor="t" bIns="0" lIns="0" spcFirstLastPara="1" rIns="0" wrap="square" tIns="15175">
            <a:spAutoFit/>
          </a:bodyPr>
          <a:lstStyle/>
          <a:p>
            <a:pPr indent="0" lvl="0" marL="39590" marR="0" rtl="0" algn="l">
              <a:spcBef>
                <a:spcPts val="0"/>
              </a:spcBef>
              <a:spcAft>
                <a:spcPts val="0"/>
              </a:spcAft>
              <a:buNone/>
            </a:pPr>
            <a:r>
              <a:rPr i="1" lang="ru-RU" sz="4400">
                <a:solidFill>
                  <a:schemeClr val="dk1"/>
                </a:solidFill>
                <a:latin typeface="Times New Roman"/>
                <a:ea typeface="Times New Roman"/>
                <a:cs typeface="Times New Roman"/>
                <a:sym typeface="Times New Roman"/>
              </a:rPr>
              <a:t>σ</a:t>
            </a:r>
            <a:r>
              <a:rPr baseline="30000" lang="ru-RU" sz="3600">
                <a:solidFill>
                  <a:schemeClr val="dk1"/>
                </a:solidFill>
                <a:latin typeface="Times New Roman"/>
                <a:ea typeface="Times New Roman"/>
                <a:cs typeface="Times New Roman"/>
                <a:sym typeface="Times New Roman"/>
              </a:rPr>
              <a:t>2</a:t>
            </a:r>
            <a:endParaRPr baseline="30000" sz="3600">
              <a:solidFill>
                <a:schemeClr val="dk1"/>
              </a:solidFill>
              <a:latin typeface="Times New Roman"/>
              <a:ea typeface="Times New Roman"/>
              <a:cs typeface="Times New Roman"/>
              <a:sym typeface="Times New Roman"/>
            </a:endParaRPr>
          </a:p>
        </p:txBody>
      </p:sp>
      <p:sp>
        <p:nvSpPr>
          <p:cNvPr id="1320" name="Google Shape;1320;p102"/>
          <p:cNvSpPr txBox="1"/>
          <p:nvPr>
            <p:ph idx="12" type="sldNum"/>
          </p:nvPr>
        </p:nvSpPr>
        <p:spPr>
          <a:xfrm>
            <a:off x="9121141" y="6627448"/>
            <a:ext cx="2913697" cy="35631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103"/>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26" name="Google Shape;1326;p103"/>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27" name="Google Shape;1327;p103"/>
          <p:cNvSpPr/>
          <p:nvPr/>
        </p:nvSpPr>
        <p:spPr>
          <a:xfrm>
            <a:off x="5757688" y="2066625"/>
            <a:ext cx="509924" cy="70629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28" name="Google Shape;1328;p103"/>
          <p:cNvSpPr txBox="1"/>
          <p:nvPr/>
        </p:nvSpPr>
        <p:spPr>
          <a:xfrm>
            <a:off x="1774533" y="1042865"/>
            <a:ext cx="10260305" cy="5383203"/>
          </a:xfrm>
          <a:prstGeom prst="rect">
            <a:avLst/>
          </a:prstGeom>
          <a:noFill/>
          <a:ln>
            <a:noFill/>
          </a:ln>
        </p:spPr>
        <p:txBody>
          <a:bodyPr anchorCtr="0" anchor="t" bIns="0" lIns="0" spcFirstLastPara="1" rIns="0" wrap="square" tIns="182100">
            <a:spAutoFit/>
          </a:bodyPr>
          <a:lstStyle/>
          <a:p>
            <a:pPr indent="0" lvl="0" marL="326615" marR="0" rtl="0" algn="l">
              <a:spcBef>
                <a:spcPts val="0"/>
              </a:spcBef>
              <a:spcAft>
                <a:spcPts val="0"/>
              </a:spcAft>
              <a:buNone/>
            </a:pPr>
            <a:r>
              <a:rPr lang="ru-RU" sz="2494">
                <a:solidFill>
                  <a:schemeClr val="dk1"/>
                </a:solidFill>
                <a:latin typeface="Arial"/>
                <a:ea typeface="Arial"/>
                <a:cs typeface="Arial"/>
                <a:sym typeface="Arial"/>
              </a:rPr>
              <a:t>Критерий Стьюдента для </a:t>
            </a:r>
            <a:r>
              <a:rPr b="1" lang="ru-RU" sz="2494">
                <a:solidFill>
                  <a:schemeClr val="dk1"/>
                </a:solidFill>
                <a:latin typeface="Arial"/>
                <a:ea typeface="Arial"/>
                <a:cs typeface="Arial"/>
                <a:sym typeface="Arial"/>
              </a:rPr>
              <a:t>независимых </a:t>
            </a:r>
            <a:r>
              <a:rPr lang="ru-RU" sz="2494">
                <a:solidFill>
                  <a:schemeClr val="dk1"/>
                </a:solidFill>
                <a:latin typeface="Arial"/>
                <a:ea typeface="Arial"/>
                <a:cs typeface="Arial"/>
                <a:sym typeface="Arial"/>
              </a:rPr>
              <a:t>выборок (</a:t>
            </a:r>
            <a:r>
              <a:rPr i="1" lang="ru-RU" sz="2494" u="sng">
                <a:solidFill>
                  <a:schemeClr val="dk1"/>
                </a:solidFill>
                <a:latin typeface="Arial"/>
                <a:ea typeface="Arial"/>
                <a:cs typeface="Arial"/>
                <a:sym typeface="Arial"/>
              </a:rPr>
              <a:t>t-test for</a:t>
            </a:r>
            <a:endParaRPr sz="2494">
              <a:solidFill>
                <a:schemeClr val="dk1"/>
              </a:solidFill>
              <a:latin typeface="Arial"/>
              <a:ea typeface="Arial"/>
              <a:cs typeface="Arial"/>
              <a:sym typeface="Arial"/>
            </a:endParaRPr>
          </a:p>
          <a:p>
            <a:pPr indent="0" lvl="0" marL="326615" marR="0" rtl="0" algn="l">
              <a:spcBef>
                <a:spcPts val="0"/>
              </a:spcBef>
              <a:spcAft>
                <a:spcPts val="0"/>
              </a:spcAft>
              <a:buNone/>
            </a:pPr>
            <a:r>
              <a:rPr i="1" lang="ru-RU" sz="2494" u="sng">
                <a:solidFill>
                  <a:schemeClr val="dk1"/>
                </a:solidFill>
                <a:latin typeface="Arial"/>
                <a:ea typeface="Arial"/>
                <a:cs typeface="Arial"/>
                <a:sym typeface="Arial"/>
              </a:rPr>
              <a:t>independent samples)</a:t>
            </a:r>
            <a:endParaRPr sz="2494">
              <a:solidFill>
                <a:schemeClr val="dk1"/>
              </a:solidFill>
              <a:latin typeface="Arial"/>
              <a:ea typeface="Arial"/>
              <a:cs typeface="Arial"/>
              <a:sym typeface="Arial"/>
            </a:endParaRPr>
          </a:p>
          <a:p>
            <a:pPr indent="0" lvl="0" marL="100294" marR="203227" rtl="0" algn="l">
              <a:spcBef>
                <a:spcPts val="2063"/>
              </a:spcBef>
              <a:spcAft>
                <a:spcPts val="0"/>
              </a:spcAft>
              <a:buNone/>
            </a:pPr>
            <a:r>
              <a:rPr b="1" i="1" lang="ru-RU" sz="2400">
                <a:solidFill>
                  <a:srgbClr val="0070C0"/>
                </a:solidFill>
                <a:latin typeface="Arial"/>
                <a:ea typeface="Arial"/>
                <a:cs typeface="Arial"/>
                <a:sym typeface="Arial"/>
              </a:rPr>
              <a:t>Общий вопрос: </a:t>
            </a:r>
            <a:r>
              <a:rPr lang="ru-RU" sz="2400">
                <a:solidFill>
                  <a:schemeClr val="dk1"/>
                </a:solidFill>
                <a:latin typeface="Arial"/>
                <a:ea typeface="Arial"/>
                <a:cs typeface="Arial"/>
                <a:sym typeface="Arial"/>
              </a:rPr>
              <a:t>получены ли выборки из одной популяции?  </a:t>
            </a:r>
            <a:endParaRPr sz="2400">
              <a:solidFill>
                <a:schemeClr val="dk1"/>
              </a:solidFill>
              <a:latin typeface="Arial"/>
              <a:ea typeface="Arial"/>
              <a:cs typeface="Arial"/>
              <a:sym typeface="Arial"/>
            </a:endParaRPr>
          </a:p>
          <a:p>
            <a:pPr indent="0" lvl="0" marL="100294" marR="203227" rtl="0" algn="l">
              <a:spcBef>
                <a:spcPts val="1000"/>
              </a:spcBef>
              <a:spcAft>
                <a:spcPts val="0"/>
              </a:spcAft>
              <a:buNone/>
            </a:pPr>
            <a:r>
              <a:rPr b="1" i="1" lang="ru-RU" sz="2400">
                <a:solidFill>
                  <a:srgbClr val="0070C0"/>
                </a:solidFill>
                <a:latin typeface="Arial"/>
                <a:ea typeface="Arial"/>
                <a:cs typeface="Arial"/>
                <a:sym typeface="Arial"/>
              </a:rPr>
              <a:t>Частный вопрос: </a:t>
            </a:r>
            <a:r>
              <a:rPr lang="ru-RU" sz="2400" u="sng">
                <a:solidFill>
                  <a:schemeClr val="dk1"/>
                </a:solidFill>
                <a:latin typeface="Arial"/>
                <a:ea typeface="Arial"/>
                <a:cs typeface="Arial"/>
                <a:sym typeface="Arial"/>
              </a:rPr>
              <a:t>равны</a:t>
            </a:r>
            <a:r>
              <a:rPr lang="ru-RU" sz="2400">
                <a:solidFill>
                  <a:schemeClr val="dk1"/>
                </a:solidFill>
                <a:latin typeface="Arial"/>
                <a:ea typeface="Arial"/>
                <a:cs typeface="Arial"/>
                <a:sym typeface="Arial"/>
              </a:rPr>
              <a:t> ли </a:t>
            </a:r>
            <a:r>
              <a:rPr b="1" lang="ru-RU" sz="2400">
                <a:solidFill>
                  <a:schemeClr val="dk1"/>
                </a:solidFill>
                <a:latin typeface="Arial"/>
                <a:ea typeface="Arial"/>
                <a:cs typeface="Arial"/>
                <a:sym typeface="Arial"/>
              </a:rPr>
              <a:t>средние </a:t>
            </a:r>
            <a:r>
              <a:rPr lang="ru-RU" sz="2400">
                <a:solidFill>
                  <a:schemeClr val="dk1"/>
                </a:solidFill>
                <a:latin typeface="Arial"/>
                <a:ea typeface="Arial"/>
                <a:cs typeface="Arial"/>
                <a:sym typeface="Arial"/>
              </a:rPr>
              <a:t>значения между  собой?</a:t>
            </a:r>
            <a:endParaRPr sz="2400">
              <a:solidFill>
                <a:schemeClr val="dk1"/>
              </a:solidFill>
              <a:latin typeface="Arial"/>
              <a:ea typeface="Arial"/>
              <a:cs typeface="Arial"/>
              <a:sym typeface="Arial"/>
            </a:endParaRPr>
          </a:p>
          <a:p>
            <a:pPr indent="0" lvl="0" marL="665767" marR="0" rtl="0" algn="l">
              <a:spcBef>
                <a:spcPts val="1200"/>
              </a:spcBef>
              <a:spcAft>
                <a:spcPts val="0"/>
              </a:spcAft>
              <a:buNone/>
            </a:pPr>
            <a:r>
              <a:rPr i="1" lang="ru-RU" sz="2494">
                <a:solidFill>
                  <a:schemeClr val="dk1"/>
                </a:solidFill>
                <a:latin typeface="Times New Roman"/>
                <a:ea typeface="Times New Roman"/>
                <a:cs typeface="Times New Roman"/>
                <a:sym typeface="Times New Roman"/>
              </a:rPr>
              <a:t>H </a:t>
            </a:r>
            <a:r>
              <a:rPr baseline="-25000" lang="ru-RU" sz="2182">
                <a:solidFill>
                  <a:schemeClr val="dk1"/>
                </a:solidFill>
                <a:latin typeface="Times New Roman"/>
                <a:ea typeface="Times New Roman"/>
                <a:cs typeface="Times New Roman"/>
                <a:sym typeface="Times New Roman"/>
              </a:rPr>
              <a:t>0 </a:t>
            </a:r>
            <a:r>
              <a:rPr lang="ru-RU" sz="2494">
                <a:solidFill>
                  <a:schemeClr val="dk1"/>
                </a:solidFill>
                <a:latin typeface="Times New Roman"/>
                <a:ea typeface="Times New Roman"/>
                <a:cs typeface="Times New Roman"/>
                <a:sym typeface="Times New Roman"/>
              </a:rPr>
              <a:t>: </a:t>
            </a:r>
            <a:r>
              <a:rPr i="1" lang="ru-RU" sz="2598">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1 </a:t>
            </a:r>
            <a:r>
              <a:rPr lang="ru-RU" sz="2494">
                <a:solidFill>
                  <a:schemeClr val="dk1"/>
                </a:solidFill>
                <a:latin typeface="Noto Sans Symbols"/>
                <a:ea typeface="Noto Sans Symbols"/>
                <a:cs typeface="Noto Sans Symbols"/>
                <a:sym typeface="Noto Sans Symbols"/>
              </a:rPr>
              <a:t>=</a:t>
            </a:r>
            <a:r>
              <a:rPr lang="ru-RU" sz="2494">
                <a:solidFill>
                  <a:schemeClr val="dk1"/>
                </a:solidFill>
                <a:latin typeface="Times New Roman"/>
                <a:ea typeface="Times New Roman"/>
                <a:cs typeface="Times New Roman"/>
                <a:sym typeface="Times New Roman"/>
              </a:rPr>
              <a:t> </a:t>
            </a:r>
            <a:r>
              <a:rPr i="1" lang="ru-RU" sz="2598">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2</a:t>
            </a:r>
            <a:endParaRPr baseline="-25000" sz="2182">
              <a:solidFill>
                <a:schemeClr val="dk1"/>
              </a:solidFill>
              <a:latin typeface="Times New Roman"/>
              <a:ea typeface="Times New Roman"/>
              <a:cs typeface="Times New Roman"/>
              <a:sym typeface="Times New Roman"/>
            </a:endParaRPr>
          </a:p>
          <a:p>
            <a:pPr indent="0" lvl="0" marL="628157" marR="0" rtl="0" algn="l">
              <a:spcBef>
                <a:spcPts val="1689"/>
              </a:spcBef>
              <a:spcAft>
                <a:spcPts val="0"/>
              </a:spcAft>
              <a:buNone/>
            </a:pPr>
            <a:r>
              <a:rPr i="1" lang="ru-RU" sz="2494">
                <a:solidFill>
                  <a:schemeClr val="dk1"/>
                </a:solidFill>
                <a:latin typeface="Times New Roman"/>
                <a:ea typeface="Times New Roman"/>
                <a:cs typeface="Times New Roman"/>
                <a:sym typeface="Times New Roman"/>
              </a:rPr>
              <a:t>H</a:t>
            </a:r>
            <a:r>
              <a:rPr baseline="-25000" lang="ru-RU" sz="2182">
                <a:solidFill>
                  <a:schemeClr val="dk1"/>
                </a:solidFill>
                <a:latin typeface="Times New Roman"/>
                <a:ea typeface="Times New Roman"/>
                <a:cs typeface="Times New Roman"/>
                <a:sym typeface="Times New Roman"/>
              </a:rPr>
              <a:t>1 </a:t>
            </a:r>
            <a:r>
              <a:rPr lang="ru-RU" sz="2494">
                <a:solidFill>
                  <a:schemeClr val="dk1"/>
                </a:solidFill>
                <a:latin typeface="Times New Roman"/>
                <a:ea typeface="Times New Roman"/>
                <a:cs typeface="Times New Roman"/>
                <a:sym typeface="Times New Roman"/>
              </a:rPr>
              <a:t>: </a:t>
            </a:r>
            <a:r>
              <a:rPr i="1" lang="ru-RU" sz="2650">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1 </a:t>
            </a:r>
            <a:r>
              <a:rPr lang="ru-RU" sz="2494">
                <a:solidFill>
                  <a:schemeClr val="dk1"/>
                </a:solidFill>
                <a:latin typeface="Noto Sans Symbols"/>
                <a:ea typeface="Noto Sans Symbols"/>
                <a:cs typeface="Noto Sans Symbols"/>
                <a:sym typeface="Noto Sans Symbols"/>
              </a:rPr>
              <a:t>≠</a:t>
            </a:r>
            <a:r>
              <a:rPr lang="ru-RU" sz="2494">
                <a:solidFill>
                  <a:schemeClr val="dk1"/>
                </a:solidFill>
                <a:latin typeface="Times New Roman"/>
                <a:ea typeface="Times New Roman"/>
                <a:cs typeface="Times New Roman"/>
                <a:sym typeface="Times New Roman"/>
              </a:rPr>
              <a:t> </a:t>
            </a:r>
            <a:r>
              <a:rPr i="1" lang="ru-RU" sz="2650">
                <a:solidFill>
                  <a:schemeClr val="dk1"/>
                </a:solidFill>
                <a:latin typeface="Noto Sans Symbols"/>
                <a:ea typeface="Noto Sans Symbols"/>
                <a:cs typeface="Noto Sans Symbols"/>
                <a:sym typeface="Noto Sans Symbols"/>
              </a:rPr>
              <a:t>μ</a:t>
            </a:r>
            <a:r>
              <a:rPr baseline="-25000" lang="ru-RU" sz="2182">
                <a:solidFill>
                  <a:schemeClr val="dk1"/>
                </a:solidFill>
                <a:latin typeface="Times New Roman"/>
                <a:ea typeface="Times New Roman"/>
                <a:cs typeface="Times New Roman"/>
                <a:sym typeface="Times New Roman"/>
              </a:rPr>
              <a:t>2</a:t>
            </a:r>
            <a:endParaRPr baseline="-25000" sz="2182">
              <a:solidFill>
                <a:schemeClr val="dk1"/>
              </a:solidFill>
              <a:latin typeface="Times New Roman"/>
              <a:ea typeface="Times New Roman"/>
              <a:cs typeface="Times New Roman"/>
              <a:sym typeface="Times New Roman"/>
            </a:endParaRPr>
          </a:p>
          <a:p>
            <a:pPr indent="-475077" lvl="0" marL="501470" marR="0" rtl="0" algn="l">
              <a:spcBef>
                <a:spcPts val="2083"/>
              </a:spcBef>
              <a:spcAft>
                <a:spcPts val="0"/>
              </a:spcAft>
              <a:buClr>
                <a:schemeClr val="dk1"/>
              </a:buClr>
              <a:buSzPts val="2400"/>
              <a:buFont typeface="Arial"/>
              <a:buAutoNum type="arabicPeriod"/>
            </a:pPr>
            <a:r>
              <a:rPr lang="ru-RU" sz="2400" u="sng">
                <a:solidFill>
                  <a:schemeClr val="dk1"/>
                </a:solidFill>
                <a:latin typeface="Arial"/>
                <a:ea typeface="Arial"/>
                <a:cs typeface="Arial"/>
                <a:sym typeface="Arial"/>
              </a:rPr>
              <a:t>Размеры</a:t>
            </a:r>
            <a:r>
              <a:rPr lang="ru-RU" sz="2400">
                <a:solidFill>
                  <a:schemeClr val="dk1"/>
                </a:solidFill>
                <a:latin typeface="Arial"/>
                <a:ea typeface="Arial"/>
                <a:cs typeface="Arial"/>
                <a:sym typeface="Arial"/>
              </a:rPr>
              <a:t> выборок могут </a:t>
            </a:r>
            <a:r>
              <a:rPr lang="ru-RU" sz="2400" u="sng">
                <a:solidFill>
                  <a:schemeClr val="dk1"/>
                </a:solidFill>
                <a:latin typeface="Arial"/>
                <a:ea typeface="Arial"/>
                <a:cs typeface="Arial"/>
                <a:sym typeface="Arial"/>
              </a:rPr>
              <a:t>отличаться</a:t>
            </a:r>
            <a:endParaRPr sz="2400">
              <a:solidFill>
                <a:schemeClr val="dk1"/>
              </a:solidFill>
              <a:latin typeface="Arial"/>
              <a:ea typeface="Arial"/>
              <a:cs typeface="Arial"/>
              <a:sym typeface="Arial"/>
            </a:endParaRPr>
          </a:p>
          <a:p>
            <a:pPr indent="-475077" lvl="0" marL="501470" marR="32991" rtl="0" algn="l">
              <a:spcBef>
                <a:spcPts val="0"/>
              </a:spcBef>
              <a:spcAft>
                <a:spcPts val="0"/>
              </a:spcAft>
              <a:buClr>
                <a:schemeClr val="dk1"/>
              </a:buClr>
              <a:buSzPts val="2400"/>
              <a:buFont typeface="Arial"/>
              <a:buAutoNum type="arabicPeriod"/>
            </a:pPr>
            <a:r>
              <a:rPr lang="ru-RU" sz="2400">
                <a:solidFill>
                  <a:schemeClr val="dk1"/>
                </a:solidFill>
                <a:latin typeface="Arial"/>
                <a:ea typeface="Arial"/>
                <a:cs typeface="Arial"/>
                <a:sym typeface="Arial"/>
              </a:rPr>
              <a:t>Выборки должны иметь </a:t>
            </a:r>
            <a:r>
              <a:rPr lang="ru-RU" sz="2400" u="sng">
                <a:solidFill>
                  <a:schemeClr val="dk1"/>
                </a:solidFill>
                <a:latin typeface="Arial"/>
                <a:ea typeface="Arial"/>
                <a:cs typeface="Arial"/>
                <a:sym typeface="Arial"/>
              </a:rPr>
              <a:t>нормальное распределение</a:t>
            </a:r>
            <a:r>
              <a:rPr lang="ru-RU" sz="2400">
                <a:solidFill>
                  <a:schemeClr val="dk1"/>
                </a:solidFill>
                <a:latin typeface="Arial"/>
                <a:ea typeface="Arial"/>
                <a:cs typeface="Arial"/>
                <a:sym typeface="Arial"/>
              </a:rPr>
              <a:t>, и их </a:t>
            </a:r>
            <a:r>
              <a:rPr lang="ru-RU" sz="2400" u="sng">
                <a:solidFill>
                  <a:schemeClr val="dk1"/>
                </a:solidFill>
                <a:latin typeface="Arial"/>
                <a:ea typeface="Arial"/>
                <a:cs typeface="Arial"/>
                <a:sym typeface="Arial"/>
              </a:rPr>
              <a:t>дисперсии </a:t>
            </a:r>
            <a:r>
              <a:rPr lang="ru-RU" sz="2400">
                <a:solidFill>
                  <a:schemeClr val="dk1"/>
                </a:solidFill>
                <a:latin typeface="Arial"/>
                <a:ea typeface="Arial"/>
                <a:cs typeface="Arial"/>
                <a:sym typeface="Arial"/>
              </a:rPr>
              <a:t>должны быть </a:t>
            </a:r>
            <a:r>
              <a:rPr lang="ru-RU" sz="2400" u="sng">
                <a:solidFill>
                  <a:schemeClr val="dk1"/>
                </a:solidFill>
                <a:latin typeface="Arial"/>
                <a:ea typeface="Arial"/>
                <a:cs typeface="Arial"/>
                <a:sym typeface="Arial"/>
              </a:rPr>
              <a:t>равны</a:t>
            </a:r>
            <a:r>
              <a:rPr lang="ru-RU"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a:p>
            <a:pPr indent="-475077" lvl="0" marL="501470" marR="0" rtl="0" algn="l">
              <a:spcBef>
                <a:spcPts val="0"/>
              </a:spcBef>
              <a:spcAft>
                <a:spcPts val="0"/>
              </a:spcAft>
              <a:buClr>
                <a:schemeClr val="dk1"/>
              </a:buClr>
              <a:buSzPts val="2400"/>
              <a:buFont typeface="Arial"/>
              <a:buAutoNum type="arabicPeriod"/>
            </a:pPr>
            <a:r>
              <a:rPr lang="ru-RU" sz="2400">
                <a:solidFill>
                  <a:schemeClr val="dk1"/>
                </a:solidFill>
                <a:latin typeface="Arial"/>
                <a:ea typeface="Arial"/>
                <a:cs typeface="Arial"/>
                <a:sym typeface="Arial"/>
              </a:rPr>
              <a:t>Ограничение на размер выборки: N ≥ 10 в каждой группе.</a:t>
            </a:r>
            <a:endParaRPr sz="2400">
              <a:solidFill>
                <a:schemeClr val="dk1"/>
              </a:solidFill>
              <a:latin typeface="Arial"/>
              <a:ea typeface="Arial"/>
              <a:cs typeface="Arial"/>
              <a:sym typeface="Arial"/>
            </a:endParaRPr>
          </a:p>
          <a:p>
            <a:pPr indent="-475077" lvl="0" marL="501470" marR="0" rtl="0" algn="l">
              <a:spcBef>
                <a:spcPts val="0"/>
              </a:spcBef>
              <a:spcAft>
                <a:spcPts val="0"/>
              </a:spcAft>
              <a:buClr>
                <a:schemeClr val="dk1"/>
              </a:buClr>
              <a:buSzPts val="2400"/>
              <a:buFont typeface="Arial"/>
              <a:buAutoNum type="arabicPeriod"/>
            </a:pPr>
            <a:r>
              <a:rPr lang="ru-RU" sz="2400">
                <a:solidFill>
                  <a:schemeClr val="dk1"/>
                </a:solidFill>
                <a:latin typeface="Arial"/>
                <a:ea typeface="Arial"/>
                <a:cs typeface="Arial"/>
                <a:sym typeface="Arial"/>
              </a:rPr>
              <a:t>Критерий может быть односторонним и двусторонним</a:t>
            </a:r>
            <a:endParaRPr sz="2400">
              <a:solidFill>
                <a:schemeClr val="dk1"/>
              </a:solidFill>
              <a:latin typeface="Arial"/>
              <a:ea typeface="Arial"/>
              <a:cs typeface="Arial"/>
              <a:sym typeface="Arial"/>
            </a:endParaRPr>
          </a:p>
        </p:txBody>
      </p:sp>
      <p:sp>
        <p:nvSpPr>
          <p:cNvPr id="1329" name="Google Shape;1329;p103"/>
          <p:cNvSpPr txBox="1"/>
          <p:nvPr/>
        </p:nvSpPr>
        <p:spPr>
          <a:xfrm>
            <a:off x="3015696" y="326861"/>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330" name="Google Shape;1330;p103"/>
          <p:cNvSpPr txBox="1"/>
          <p:nvPr>
            <p:ph idx="12" type="sldNum"/>
          </p:nvPr>
        </p:nvSpPr>
        <p:spPr>
          <a:xfrm>
            <a:off x="9121141" y="6627448"/>
            <a:ext cx="2913697" cy="35631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
        <p:nvSpPr>
          <p:cNvPr id="1331" name="Google Shape;1331;p103"/>
          <p:cNvSpPr/>
          <p:nvPr/>
        </p:nvSpPr>
        <p:spPr>
          <a:xfrm>
            <a:off x="1581597" y="4536496"/>
            <a:ext cx="10657184" cy="1943721"/>
          </a:xfrm>
          <a:prstGeom prst="rect">
            <a:avLst/>
          </a:prstGeom>
          <a:no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04"/>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37" name="Google Shape;1337;p104"/>
          <p:cNvSpPr/>
          <p:nvPr/>
        </p:nvSpPr>
        <p:spPr>
          <a:xfrm>
            <a:off x="2373685" y="322263"/>
            <a:ext cx="8064128" cy="8509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38" name="Google Shape;1338;p104"/>
          <p:cNvSpPr txBox="1"/>
          <p:nvPr/>
        </p:nvSpPr>
        <p:spPr>
          <a:xfrm>
            <a:off x="2589901" y="3378962"/>
            <a:ext cx="8784784" cy="1422945"/>
          </a:xfrm>
          <a:prstGeom prst="rect">
            <a:avLst/>
          </a:prstGeom>
          <a:noFill/>
          <a:ln cap="flat" cmpd="sng" w="9525">
            <a:solidFill>
              <a:srgbClr val="FF6600"/>
            </a:solidFill>
            <a:prstDash val="solid"/>
            <a:round/>
            <a:headEnd len="sm" w="sm" type="none"/>
            <a:tailEnd len="sm" w="sm" type="none"/>
          </a:ln>
        </p:spPr>
        <p:txBody>
          <a:bodyPr anchorCtr="0" anchor="t" bIns="0" lIns="0" spcFirstLastPara="1" rIns="0" wrap="square" tIns="40250">
            <a:spAutoFit/>
          </a:bodyPr>
          <a:lstStyle/>
          <a:p>
            <a:pPr indent="-475077" lvl="0" marL="570092" marR="213124" rtl="0" algn="l">
              <a:spcBef>
                <a:spcPts val="0"/>
              </a:spcBef>
              <a:spcAft>
                <a:spcPts val="0"/>
              </a:spcAft>
              <a:buClr>
                <a:schemeClr val="dk1"/>
              </a:buClr>
              <a:buSzPts val="2494"/>
              <a:buFont typeface="Arial"/>
              <a:buAutoNum type="arabicPeriod"/>
            </a:pPr>
            <a:r>
              <a:rPr lang="ru-RU" sz="2494">
                <a:solidFill>
                  <a:schemeClr val="dk1"/>
                </a:solidFill>
                <a:latin typeface="Arial"/>
                <a:ea typeface="Arial"/>
                <a:cs typeface="Arial"/>
                <a:sym typeface="Arial"/>
              </a:rPr>
              <a:t>Непосредственно от </a:t>
            </a:r>
            <a:r>
              <a:rPr lang="ru-RU" sz="2494" u="sng">
                <a:solidFill>
                  <a:schemeClr val="dk1"/>
                </a:solidFill>
                <a:latin typeface="Arial"/>
                <a:ea typeface="Arial"/>
                <a:cs typeface="Arial"/>
                <a:sym typeface="Arial"/>
              </a:rPr>
              <a:t>различий</a:t>
            </a:r>
            <a:r>
              <a:rPr lang="ru-RU" sz="2494">
                <a:solidFill>
                  <a:schemeClr val="dk1"/>
                </a:solidFill>
                <a:latin typeface="Arial"/>
                <a:ea typeface="Arial"/>
                <a:cs typeface="Arial"/>
                <a:sym typeface="Arial"/>
              </a:rPr>
              <a:t> в </a:t>
            </a:r>
            <a:r>
              <a:rPr lang="ru-RU" sz="2494" u="sng">
                <a:solidFill>
                  <a:schemeClr val="dk1"/>
                </a:solidFill>
                <a:latin typeface="Arial"/>
                <a:ea typeface="Arial"/>
                <a:cs typeface="Arial"/>
                <a:sym typeface="Arial"/>
              </a:rPr>
              <a:t>средних </a:t>
            </a:r>
            <a:r>
              <a:rPr lang="ru-RU" sz="2494">
                <a:solidFill>
                  <a:schemeClr val="dk1"/>
                </a:solidFill>
                <a:latin typeface="Arial"/>
                <a:ea typeface="Arial"/>
                <a:cs typeface="Arial"/>
                <a:sym typeface="Arial"/>
              </a:rPr>
              <a:t> значениях;</a:t>
            </a:r>
            <a:endParaRPr sz="2494">
              <a:solidFill>
                <a:schemeClr val="dk1"/>
              </a:solidFill>
              <a:latin typeface="Arial"/>
              <a:ea typeface="Arial"/>
              <a:cs typeface="Arial"/>
              <a:sym typeface="Arial"/>
            </a:endParaRPr>
          </a:p>
          <a:p>
            <a:pPr indent="-475735" lvl="0" marL="570092" marR="0" rtl="0" algn="l">
              <a:spcBef>
                <a:spcPts val="899"/>
              </a:spcBef>
              <a:spcAft>
                <a:spcPts val="0"/>
              </a:spcAft>
              <a:buClr>
                <a:schemeClr val="dk1"/>
              </a:buClr>
              <a:buSzPts val="2494"/>
              <a:buFont typeface="Arial"/>
              <a:buAutoNum type="arabicPeriod"/>
            </a:pPr>
            <a:r>
              <a:rPr lang="ru-RU" sz="2494">
                <a:solidFill>
                  <a:schemeClr val="dk1"/>
                </a:solidFill>
                <a:latin typeface="Arial"/>
                <a:ea typeface="Arial"/>
                <a:cs typeface="Arial"/>
                <a:sym typeface="Arial"/>
              </a:rPr>
              <a:t>От </a:t>
            </a:r>
            <a:r>
              <a:rPr lang="ru-RU" sz="2494" u="sng">
                <a:solidFill>
                  <a:schemeClr val="dk1"/>
                </a:solidFill>
                <a:latin typeface="Arial"/>
                <a:ea typeface="Arial"/>
                <a:cs typeface="Arial"/>
                <a:sym typeface="Arial"/>
              </a:rPr>
              <a:t>изменчивости</a:t>
            </a:r>
            <a:r>
              <a:rPr lang="ru-RU" sz="2494">
                <a:solidFill>
                  <a:schemeClr val="dk1"/>
                </a:solidFill>
                <a:latin typeface="Arial"/>
                <a:ea typeface="Arial"/>
                <a:cs typeface="Arial"/>
                <a:sym typeface="Arial"/>
              </a:rPr>
              <a:t> в обеих группах;</a:t>
            </a:r>
            <a:endParaRPr sz="2494">
              <a:solidFill>
                <a:schemeClr val="dk1"/>
              </a:solidFill>
              <a:latin typeface="Arial"/>
              <a:ea typeface="Arial"/>
              <a:cs typeface="Arial"/>
              <a:sym typeface="Arial"/>
            </a:endParaRPr>
          </a:p>
          <a:p>
            <a:pPr indent="-475735" lvl="0" marL="570092" marR="0" rtl="0" algn="l">
              <a:spcBef>
                <a:spcPts val="899"/>
              </a:spcBef>
              <a:spcAft>
                <a:spcPts val="0"/>
              </a:spcAft>
              <a:buClr>
                <a:schemeClr val="dk1"/>
              </a:buClr>
              <a:buSzPts val="2494"/>
              <a:buFont typeface="Arial"/>
              <a:buAutoNum type="arabicPeriod"/>
            </a:pPr>
            <a:r>
              <a:rPr lang="ru-RU" sz="2494">
                <a:solidFill>
                  <a:schemeClr val="dk1"/>
                </a:solidFill>
                <a:latin typeface="Arial"/>
                <a:ea typeface="Arial"/>
                <a:cs typeface="Arial"/>
                <a:sym typeface="Arial"/>
              </a:rPr>
              <a:t>От </a:t>
            </a:r>
            <a:r>
              <a:rPr lang="ru-RU" sz="2494" u="sng">
                <a:solidFill>
                  <a:schemeClr val="dk1"/>
                </a:solidFill>
                <a:latin typeface="Arial"/>
                <a:ea typeface="Arial"/>
                <a:cs typeface="Arial"/>
                <a:sym typeface="Arial"/>
              </a:rPr>
              <a:t>размера выборок</a:t>
            </a:r>
            <a:r>
              <a:rPr lang="ru-RU" sz="2494">
                <a:solidFill>
                  <a:schemeClr val="dk1"/>
                </a:solidFill>
                <a:latin typeface="Arial"/>
                <a:ea typeface="Arial"/>
                <a:cs typeface="Arial"/>
                <a:sym typeface="Arial"/>
              </a:rPr>
              <a:t>.</a:t>
            </a:r>
            <a:endParaRPr sz="2494">
              <a:solidFill>
                <a:schemeClr val="dk1"/>
              </a:solidFill>
              <a:latin typeface="Arial"/>
              <a:ea typeface="Arial"/>
              <a:cs typeface="Arial"/>
              <a:sym typeface="Arial"/>
            </a:endParaRPr>
          </a:p>
        </p:txBody>
      </p:sp>
      <p:sp>
        <p:nvSpPr>
          <p:cNvPr id="1339" name="Google Shape;1339;p104"/>
          <p:cNvSpPr txBox="1"/>
          <p:nvPr/>
        </p:nvSpPr>
        <p:spPr>
          <a:xfrm>
            <a:off x="2589901" y="1959675"/>
            <a:ext cx="7488448" cy="780972"/>
          </a:xfrm>
          <a:prstGeom prst="rect">
            <a:avLst/>
          </a:prstGeom>
          <a:noFill/>
          <a:ln>
            <a:noFill/>
          </a:ln>
        </p:spPr>
        <p:txBody>
          <a:bodyPr anchorCtr="0" anchor="t" bIns="0" lIns="0" spcFirstLastPara="1" rIns="0" wrap="square" tIns="13175">
            <a:spAutoFit/>
          </a:bodyPr>
          <a:lstStyle/>
          <a:p>
            <a:pPr indent="0" lvl="0" marL="420311" marR="0" rtl="0" algn="l">
              <a:spcBef>
                <a:spcPts val="0"/>
              </a:spcBef>
              <a:spcAft>
                <a:spcPts val="0"/>
              </a:spcAft>
              <a:buNone/>
            </a:pPr>
            <a:r>
              <a:rPr i="1" lang="ru-RU" sz="2494">
                <a:solidFill>
                  <a:schemeClr val="dk1"/>
                </a:solidFill>
                <a:latin typeface="Arial"/>
                <a:ea typeface="Arial"/>
                <a:cs typeface="Arial"/>
                <a:sym typeface="Arial"/>
              </a:rPr>
              <a:t>От	чего будет зависеть, отвергнем ли мы</a:t>
            </a:r>
            <a:endParaRPr sz="2494">
              <a:solidFill>
                <a:schemeClr val="dk1"/>
              </a:solidFill>
              <a:latin typeface="Arial"/>
              <a:ea typeface="Arial"/>
              <a:cs typeface="Arial"/>
              <a:sym typeface="Arial"/>
            </a:endParaRPr>
          </a:p>
          <a:p>
            <a:pPr indent="0" lvl="0" marL="420311" marR="0" rtl="0" algn="l">
              <a:spcBef>
                <a:spcPts val="0"/>
              </a:spcBef>
              <a:spcAft>
                <a:spcPts val="0"/>
              </a:spcAft>
              <a:buNone/>
            </a:pPr>
            <a:r>
              <a:rPr i="1" lang="ru-RU" sz="2494">
                <a:solidFill>
                  <a:schemeClr val="dk1"/>
                </a:solidFill>
                <a:latin typeface="Arial"/>
                <a:ea typeface="Arial"/>
                <a:cs typeface="Arial"/>
                <a:sym typeface="Arial"/>
              </a:rPr>
              <a:t>гипотезу Н</a:t>
            </a:r>
            <a:r>
              <a:rPr baseline="-25000" i="1" lang="ru-RU" sz="2494">
                <a:solidFill>
                  <a:schemeClr val="dk1"/>
                </a:solidFill>
                <a:latin typeface="Arial"/>
                <a:ea typeface="Arial"/>
                <a:cs typeface="Arial"/>
                <a:sym typeface="Arial"/>
              </a:rPr>
              <a:t>0 </a:t>
            </a:r>
            <a:r>
              <a:rPr i="1" lang="ru-RU" sz="2494">
                <a:solidFill>
                  <a:schemeClr val="dk1"/>
                </a:solidFill>
                <a:latin typeface="Arial"/>
                <a:ea typeface="Arial"/>
                <a:cs typeface="Arial"/>
                <a:sym typeface="Arial"/>
              </a:rPr>
              <a:t>или нет?</a:t>
            </a:r>
            <a:endParaRPr sz="2494">
              <a:solidFill>
                <a:schemeClr val="dk1"/>
              </a:solidFill>
              <a:latin typeface="Arial"/>
              <a:ea typeface="Arial"/>
              <a:cs typeface="Arial"/>
              <a:sym typeface="Arial"/>
            </a:endParaRPr>
          </a:p>
        </p:txBody>
      </p:sp>
      <p:sp>
        <p:nvSpPr>
          <p:cNvPr id="1340" name="Google Shape;1340;p104"/>
          <p:cNvSpPr txBox="1"/>
          <p:nvPr/>
        </p:nvSpPr>
        <p:spPr>
          <a:xfrm>
            <a:off x="2949365" y="300252"/>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341" name="Google Shape;1341;p104"/>
          <p:cNvSpPr txBox="1"/>
          <p:nvPr>
            <p:ph idx="12" type="sldNum"/>
          </p:nvPr>
        </p:nvSpPr>
        <p:spPr>
          <a:xfrm>
            <a:off x="11446693" y="6551189"/>
            <a:ext cx="791518" cy="32427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05"/>
          <p:cNvSpPr/>
          <p:nvPr/>
        </p:nvSpPr>
        <p:spPr>
          <a:xfrm>
            <a:off x="1438275" y="322263"/>
            <a:ext cx="1087251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47" name="Google Shape;1347;p105"/>
          <p:cNvSpPr/>
          <p:nvPr/>
        </p:nvSpPr>
        <p:spPr>
          <a:xfrm>
            <a:off x="2373685" y="322263"/>
            <a:ext cx="8064128" cy="8509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48" name="Google Shape;1348;p105"/>
          <p:cNvSpPr txBox="1"/>
          <p:nvPr/>
        </p:nvSpPr>
        <p:spPr>
          <a:xfrm>
            <a:off x="1438275" y="1415862"/>
            <a:ext cx="9720385" cy="3135399"/>
          </a:xfrm>
          <a:prstGeom prst="rect">
            <a:avLst/>
          </a:prstGeom>
          <a:noFill/>
          <a:ln>
            <a:noFill/>
          </a:ln>
        </p:spPr>
        <p:txBody>
          <a:bodyPr anchorCtr="0" anchor="t" bIns="0" lIns="0" spcFirstLastPara="1" rIns="0" wrap="square" tIns="13175">
            <a:spAutoFit/>
          </a:bodyPr>
          <a:lstStyle/>
          <a:p>
            <a:pPr indent="0" lvl="0" marL="13197" marR="114150" rtl="0" algn="l">
              <a:spcBef>
                <a:spcPts val="0"/>
              </a:spcBef>
              <a:spcAft>
                <a:spcPts val="0"/>
              </a:spcAft>
              <a:buNone/>
            </a:pPr>
            <a:r>
              <a:rPr lang="ru-RU" sz="2494">
                <a:solidFill>
                  <a:schemeClr val="dk1"/>
                </a:solidFill>
                <a:latin typeface="Arial"/>
                <a:ea typeface="Arial"/>
                <a:cs typeface="Arial"/>
                <a:sym typeface="Arial"/>
              </a:rPr>
              <a:t>Критерий Стъюдента для </a:t>
            </a:r>
            <a:r>
              <a:rPr b="1" lang="ru-RU" sz="2494">
                <a:solidFill>
                  <a:schemeClr val="dk1"/>
                </a:solidFill>
                <a:latin typeface="Arial"/>
                <a:ea typeface="Arial"/>
                <a:cs typeface="Arial"/>
                <a:sym typeface="Arial"/>
              </a:rPr>
              <a:t>связанных (парных) </a:t>
            </a:r>
            <a:r>
              <a:rPr lang="ru-RU" sz="2494">
                <a:solidFill>
                  <a:schemeClr val="dk1"/>
                </a:solidFill>
                <a:latin typeface="Arial"/>
                <a:ea typeface="Arial"/>
                <a:cs typeface="Arial"/>
                <a:sym typeface="Arial"/>
              </a:rPr>
              <a:t>выборок </a:t>
            </a:r>
            <a:r>
              <a:rPr i="1" lang="ru-RU" sz="2494">
                <a:solidFill>
                  <a:schemeClr val="dk1"/>
                </a:solidFill>
                <a:latin typeface="Arial"/>
                <a:ea typeface="Arial"/>
                <a:cs typeface="Arial"/>
                <a:sym typeface="Arial"/>
              </a:rPr>
              <a:t>(t-test for  dependent samples)</a:t>
            </a:r>
            <a:endParaRPr sz="2494">
              <a:solidFill>
                <a:schemeClr val="dk1"/>
              </a:solidFill>
              <a:latin typeface="Arial"/>
              <a:ea typeface="Arial"/>
              <a:cs typeface="Arial"/>
              <a:sym typeface="Arial"/>
            </a:endParaRPr>
          </a:p>
          <a:p>
            <a:pPr indent="0" lvl="0" marL="13197" marR="5279" rtl="0" algn="l">
              <a:spcBef>
                <a:spcPts val="998"/>
              </a:spcBef>
              <a:spcAft>
                <a:spcPts val="0"/>
              </a:spcAft>
              <a:buNone/>
            </a:pPr>
            <a:r>
              <a:rPr lang="ru-RU" sz="2494">
                <a:solidFill>
                  <a:schemeClr val="dk1"/>
                </a:solidFill>
                <a:latin typeface="Arial"/>
                <a:ea typeface="Arial"/>
                <a:cs typeface="Arial"/>
                <a:sym typeface="Arial"/>
              </a:rPr>
              <a:t>К тиграм-самцам пришёл новый служитель, и возможно,  они стали по-другому питаться. Мы хотим узнать, не  изменилась ли их масса.</a:t>
            </a:r>
            <a:endParaRPr sz="2494">
              <a:solidFill>
                <a:schemeClr val="dk1"/>
              </a:solidFill>
              <a:latin typeface="Arial"/>
              <a:ea typeface="Arial"/>
              <a:cs typeface="Arial"/>
              <a:sym typeface="Arial"/>
            </a:endParaRPr>
          </a:p>
          <a:p>
            <a:pPr indent="0" lvl="0" marL="13197" marR="1688501" rtl="0" algn="l">
              <a:spcBef>
                <a:spcPts val="851"/>
              </a:spcBef>
              <a:spcAft>
                <a:spcPts val="0"/>
              </a:spcAft>
              <a:buNone/>
            </a:pPr>
            <a:r>
              <a:rPr lang="ru-RU" sz="2078">
                <a:solidFill>
                  <a:schemeClr val="dk1"/>
                </a:solidFill>
                <a:latin typeface="Arial"/>
                <a:ea typeface="Arial"/>
                <a:cs typeface="Arial"/>
                <a:sym typeface="Arial"/>
              </a:rPr>
              <a:t>Мы анализируем влияние </a:t>
            </a:r>
            <a:r>
              <a:rPr lang="ru-RU" sz="2078" u="sng">
                <a:solidFill>
                  <a:schemeClr val="dk1"/>
                </a:solidFill>
                <a:latin typeface="Arial"/>
                <a:ea typeface="Arial"/>
                <a:cs typeface="Arial"/>
                <a:sym typeface="Arial"/>
              </a:rPr>
              <a:t>служителя</a:t>
            </a:r>
            <a:r>
              <a:rPr lang="ru-RU" sz="2078">
                <a:solidFill>
                  <a:schemeClr val="dk1"/>
                </a:solidFill>
                <a:latin typeface="Arial"/>
                <a:ea typeface="Arial"/>
                <a:cs typeface="Arial"/>
                <a:sym typeface="Arial"/>
              </a:rPr>
              <a:t> на </a:t>
            </a:r>
            <a:r>
              <a:rPr lang="ru-RU" sz="2078" u="sng">
                <a:solidFill>
                  <a:schemeClr val="dk1"/>
                </a:solidFill>
                <a:latin typeface="Arial"/>
                <a:ea typeface="Arial"/>
                <a:cs typeface="Arial"/>
                <a:sym typeface="Arial"/>
              </a:rPr>
              <a:t>массу тигров- </a:t>
            </a:r>
            <a:r>
              <a:rPr lang="ru-RU" sz="2078">
                <a:solidFill>
                  <a:schemeClr val="dk1"/>
                </a:solidFill>
                <a:latin typeface="Arial"/>
                <a:ea typeface="Arial"/>
                <a:cs typeface="Arial"/>
                <a:sym typeface="Arial"/>
              </a:rPr>
              <a:t> </a:t>
            </a:r>
            <a:r>
              <a:rPr lang="ru-RU" sz="2078" u="sng">
                <a:solidFill>
                  <a:schemeClr val="dk1"/>
                </a:solidFill>
                <a:latin typeface="Arial"/>
                <a:ea typeface="Arial"/>
                <a:cs typeface="Arial"/>
                <a:sym typeface="Arial"/>
              </a:rPr>
              <a:t>самцов</a:t>
            </a:r>
            <a:r>
              <a:rPr lang="ru-RU" sz="2078">
                <a:solidFill>
                  <a:schemeClr val="dk1"/>
                </a:solidFill>
                <a:latin typeface="Arial"/>
                <a:ea typeface="Arial"/>
                <a:cs typeface="Arial"/>
                <a:sym typeface="Arial"/>
              </a:rPr>
              <a:t>.</a:t>
            </a:r>
            <a:endParaRPr/>
          </a:p>
          <a:p>
            <a:pPr indent="0" lvl="0" marL="13197" marR="0" rtl="0" algn="l">
              <a:spcBef>
                <a:spcPts val="0"/>
              </a:spcBef>
              <a:spcAft>
                <a:spcPts val="0"/>
              </a:spcAft>
              <a:buNone/>
            </a:pPr>
            <a:r>
              <a:rPr i="1" lang="ru-RU" sz="2078">
                <a:solidFill>
                  <a:schemeClr val="dk1"/>
                </a:solidFill>
                <a:latin typeface="Arial"/>
                <a:ea typeface="Arial"/>
                <a:cs typeface="Arial"/>
                <a:sym typeface="Arial"/>
              </a:rPr>
              <a:t>Зависимая переменная </a:t>
            </a:r>
            <a:r>
              <a:rPr lang="ru-RU" sz="2078">
                <a:solidFill>
                  <a:schemeClr val="dk1"/>
                </a:solidFill>
                <a:latin typeface="Arial"/>
                <a:ea typeface="Arial"/>
                <a:cs typeface="Arial"/>
                <a:sym typeface="Arial"/>
              </a:rPr>
              <a:t>– масса.</a:t>
            </a:r>
            <a:endParaRPr/>
          </a:p>
          <a:p>
            <a:pPr indent="0" lvl="0" marL="13197" marR="0" rtl="0" algn="l">
              <a:spcBef>
                <a:spcPts val="0"/>
              </a:spcBef>
              <a:spcAft>
                <a:spcPts val="0"/>
              </a:spcAft>
              <a:buNone/>
            </a:pPr>
            <a:r>
              <a:rPr i="1" lang="ru-RU" sz="2078">
                <a:solidFill>
                  <a:schemeClr val="dk1"/>
                </a:solidFill>
                <a:latin typeface="Arial"/>
                <a:ea typeface="Arial"/>
                <a:cs typeface="Arial"/>
                <a:sym typeface="Arial"/>
              </a:rPr>
              <a:t>Независимая </a:t>
            </a:r>
            <a:r>
              <a:rPr lang="ru-RU" sz="2078">
                <a:solidFill>
                  <a:schemeClr val="dk1"/>
                </a:solidFill>
                <a:latin typeface="Arial"/>
                <a:ea typeface="Arial"/>
                <a:cs typeface="Arial"/>
                <a:sym typeface="Arial"/>
              </a:rPr>
              <a:t>– группы: 1. до нового служителя; 2. после)</a:t>
            </a:r>
            <a:endParaRPr sz="2078">
              <a:solidFill>
                <a:schemeClr val="dk1"/>
              </a:solidFill>
              <a:latin typeface="Arial"/>
              <a:ea typeface="Arial"/>
              <a:cs typeface="Arial"/>
              <a:sym typeface="Arial"/>
            </a:endParaRPr>
          </a:p>
        </p:txBody>
      </p:sp>
      <p:sp>
        <p:nvSpPr>
          <p:cNvPr id="1349" name="Google Shape;1349;p105"/>
          <p:cNvSpPr/>
          <p:nvPr/>
        </p:nvSpPr>
        <p:spPr>
          <a:xfrm>
            <a:off x="5631474" y="4954877"/>
            <a:ext cx="3518661" cy="178142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50" name="Google Shape;1350;p105"/>
          <p:cNvSpPr/>
          <p:nvPr/>
        </p:nvSpPr>
        <p:spPr>
          <a:xfrm>
            <a:off x="9596402" y="3563190"/>
            <a:ext cx="1208450" cy="276495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51" name="Google Shape;1351;p105"/>
          <p:cNvSpPr txBox="1"/>
          <p:nvPr/>
        </p:nvSpPr>
        <p:spPr>
          <a:xfrm>
            <a:off x="3015696" y="326861"/>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352" name="Google Shape;1352;p105"/>
          <p:cNvSpPr txBox="1"/>
          <p:nvPr>
            <p:ph idx="12" type="sldNum"/>
          </p:nvPr>
        </p:nvSpPr>
        <p:spPr>
          <a:xfrm>
            <a:off x="11471952" y="6541296"/>
            <a:ext cx="804864"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06"/>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58" name="Google Shape;1358;p106"/>
          <p:cNvSpPr/>
          <p:nvPr/>
        </p:nvSpPr>
        <p:spPr>
          <a:xfrm>
            <a:off x="2373685" y="322263"/>
            <a:ext cx="8064128" cy="8509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59" name="Google Shape;1359;p106"/>
          <p:cNvSpPr txBox="1"/>
          <p:nvPr/>
        </p:nvSpPr>
        <p:spPr>
          <a:xfrm>
            <a:off x="5353267" y="3657384"/>
            <a:ext cx="1893745" cy="502356"/>
          </a:xfrm>
          <a:prstGeom prst="rect">
            <a:avLst/>
          </a:prstGeom>
          <a:noFill/>
          <a:ln>
            <a:noFill/>
          </a:ln>
        </p:spPr>
        <p:txBody>
          <a:bodyPr anchorCtr="0" anchor="t" bIns="0" lIns="0" spcFirstLastPara="1" rIns="0" wrap="square" tIns="14500">
            <a:spAutoFit/>
          </a:bodyPr>
          <a:lstStyle/>
          <a:p>
            <a:pPr indent="0" lvl="0" marL="39590" marR="0" rtl="0" algn="l">
              <a:spcBef>
                <a:spcPts val="0"/>
              </a:spcBef>
              <a:spcAft>
                <a:spcPts val="0"/>
              </a:spcAft>
              <a:buNone/>
            </a:pPr>
            <a:r>
              <a:rPr i="1" lang="ru-RU" sz="3013">
                <a:solidFill>
                  <a:schemeClr val="dk1"/>
                </a:solidFill>
                <a:latin typeface="Times New Roman"/>
                <a:ea typeface="Times New Roman"/>
                <a:cs typeface="Times New Roman"/>
                <a:sym typeface="Times New Roman"/>
              </a:rPr>
              <a:t>H </a:t>
            </a:r>
            <a:r>
              <a:rPr baseline="-25000" lang="ru-RU" sz="2572">
                <a:solidFill>
                  <a:schemeClr val="dk1"/>
                </a:solidFill>
                <a:latin typeface="Times New Roman"/>
                <a:ea typeface="Times New Roman"/>
                <a:cs typeface="Times New Roman"/>
                <a:sym typeface="Times New Roman"/>
              </a:rPr>
              <a:t>0 </a:t>
            </a:r>
            <a:r>
              <a:rPr lang="ru-RU" sz="3013">
                <a:solidFill>
                  <a:schemeClr val="dk1"/>
                </a:solidFill>
                <a:latin typeface="Times New Roman"/>
                <a:ea typeface="Times New Roman"/>
                <a:cs typeface="Times New Roman"/>
                <a:sym typeface="Times New Roman"/>
              </a:rPr>
              <a:t>: </a:t>
            </a:r>
            <a:r>
              <a:rPr i="1" lang="ru-RU" sz="3169">
                <a:solidFill>
                  <a:schemeClr val="dk1"/>
                </a:solidFill>
                <a:latin typeface="Noto Sans Symbols"/>
                <a:ea typeface="Noto Sans Symbols"/>
                <a:cs typeface="Noto Sans Symbols"/>
                <a:sym typeface="Noto Sans Symbols"/>
              </a:rPr>
              <a:t>μ</a:t>
            </a:r>
            <a:r>
              <a:rPr i="1" lang="ru-RU" sz="3169">
                <a:solidFill>
                  <a:schemeClr val="dk1"/>
                </a:solidFill>
                <a:latin typeface="Times New Roman"/>
                <a:ea typeface="Times New Roman"/>
                <a:cs typeface="Times New Roman"/>
                <a:sym typeface="Times New Roman"/>
              </a:rPr>
              <a:t> </a:t>
            </a:r>
            <a:r>
              <a:rPr baseline="-25000" i="1" lang="ru-RU" sz="2572">
                <a:solidFill>
                  <a:schemeClr val="dk1"/>
                </a:solidFill>
                <a:latin typeface="Times New Roman"/>
                <a:ea typeface="Times New Roman"/>
                <a:cs typeface="Times New Roman"/>
                <a:sym typeface="Times New Roman"/>
              </a:rPr>
              <a:t>D	</a:t>
            </a:r>
            <a:r>
              <a:rPr lang="ru-RU" sz="3013">
                <a:solidFill>
                  <a:schemeClr val="dk1"/>
                </a:solidFill>
                <a:latin typeface="Noto Sans Symbols"/>
                <a:ea typeface="Noto Sans Symbols"/>
                <a:cs typeface="Noto Sans Symbols"/>
                <a:sym typeface="Noto Sans Symbols"/>
              </a:rPr>
              <a:t>=</a:t>
            </a:r>
            <a:r>
              <a:rPr lang="ru-RU" sz="3013">
                <a:solidFill>
                  <a:schemeClr val="dk1"/>
                </a:solidFill>
                <a:latin typeface="Times New Roman"/>
                <a:ea typeface="Times New Roman"/>
                <a:cs typeface="Times New Roman"/>
                <a:sym typeface="Times New Roman"/>
              </a:rPr>
              <a:t> 0</a:t>
            </a:r>
            <a:endParaRPr sz="3013">
              <a:solidFill>
                <a:schemeClr val="dk1"/>
              </a:solidFill>
              <a:latin typeface="Times New Roman"/>
              <a:ea typeface="Times New Roman"/>
              <a:cs typeface="Times New Roman"/>
              <a:sym typeface="Times New Roman"/>
            </a:endParaRPr>
          </a:p>
        </p:txBody>
      </p:sp>
      <p:sp>
        <p:nvSpPr>
          <p:cNvPr id="1360" name="Google Shape;1360;p106"/>
          <p:cNvSpPr txBox="1"/>
          <p:nvPr/>
        </p:nvSpPr>
        <p:spPr>
          <a:xfrm>
            <a:off x="3305351" y="1980681"/>
            <a:ext cx="1836339" cy="321102"/>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000">
                <a:solidFill>
                  <a:schemeClr val="dk1"/>
                </a:solidFill>
                <a:latin typeface="Arial"/>
                <a:ea typeface="Arial"/>
                <a:cs typeface="Arial"/>
                <a:sym typeface="Arial"/>
              </a:rPr>
              <a:t>ДО	ПОСЛЕ</a:t>
            </a:r>
            <a:endParaRPr sz="2000">
              <a:solidFill>
                <a:schemeClr val="dk1"/>
              </a:solidFill>
              <a:latin typeface="Arial"/>
              <a:ea typeface="Arial"/>
              <a:cs typeface="Arial"/>
              <a:sym typeface="Arial"/>
            </a:endParaRPr>
          </a:p>
        </p:txBody>
      </p:sp>
      <p:graphicFrame>
        <p:nvGraphicFramePr>
          <p:cNvPr id="1361" name="Google Shape;1361;p106"/>
          <p:cNvGraphicFramePr/>
          <p:nvPr/>
        </p:nvGraphicFramePr>
        <p:xfrm>
          <a:off x="2043930" y="2405884"/>
          <a:ext cx="3000000" cy="3000000"/>
        </p:xfrm>
        <a:graphic>
          <a:graphicData uri="http://schemas.openxmlformats.org/drawingml/2006/table">
            <a:tbl>
              <a:tblPr bandRow="1" firstRow="1">
                <a:noFill/>
                <a:tableStyleId>{67B1AC29-E5AA-43DE-BD46-4EA69F949897}</a:tableStyleId>
              </a:tblPr>
              <a:tblGrid>
                <a:gridCol w="1197600"/>
                <a:gridCol w="673050"/>
                <a:gridCol w="1646300"/>
              </a:tblGrid>
              <a:tr h="425100">
                <a:tc>
                  <a:txBody>
                    <a:bodyPr/>
                    <a:lstStyle/>
                    <a:p>
                      <a:pPr indent="0" lvl="0" marL="0" marR="106045" rtl="0" algn="r">
                        <a:lnSpc>
                          <a:spcPct val="100000"/>
                        </a:lnSpc>
                        <a:spcBef>
                          <a:spcPts val="0"/>
                        </a:spcBef>
                        <a:spcAft>
                          <a:spcPts val="0"/>
                        </a:spcAft>
                        <a:buNone/>
                      </a:pPr>
                      <a:r>
                        <a:rPr lang="ru-RU" sz="2500" u="none" cap="none" strike="noStrike">
                          <a:latin typeface="Times New Roman"/>
                          <a:ea typeface="Times New Roman"/>
                          <a:cs typeface="Times New Roman"/>
                          <a:sym typeface="Times New Roman"/>
                        </a:rPr>
                        <a:t>1 тигр</a:t>
                      </a:r>
                      <a:endParaRPr sz="2500" u="none" cap="none" strike="noStrike">
                        <a:latin typeface="Times New Roman"/>
                        <a:ea typeface="Times New Roman"/>
                        <a:cs typeface="Times New Roman"/>
                        <a:sym typeface="Times New Roman"/>
                      </a:endParaRPr>
                    </a:p>
                  </a:txBody>
                  <a:tcPr marT="5950" marB="0" marR="0" marL="0">
                    <a:lnT cap="flat" cmpd="sng" w="9525">
                      <a:solidFill>
                        <a:srgbClr val="FF0000"/>
                      </a:solidFill>
                      <a:prstDash val="solid"/>
                      <a:round/>
                      <a:headEnd len="sm" w="sm" type="none"/>
                      <a:tailEnd len="sm" w="sm" type="none"/>
                    </a:lnT>
                  </a:tcPr>
                </a:tc>
                <a:tc>
                  <a:txBody>
                    <a:bodyPr/>
                    <a:lstStyle/>
                    <a:p>
                      <a:pPr indent="0" lvl="0" marL="73660" marR="0" rtl="0" algn="l">
                        <a:lnSpc>
                          <a:spcPct val="100000"/>
                        </a:lnSpc>
                        <a:spcBef>
                          <a:spcPts val="0"/>
                        </a:spcBef>
                        <a:spcAft>
                          <a:spcPts val="0"/>
                        </a:spcAft>
                        <a:buNone/>
                      </a:pPr>
                      <a:r>
                        <a:rPr lang="ru-RU" sz="2500" u="none" cap="none" strike="noStrike">
                          <a:latin typeface="Times New Roman"/>
                          <a:ea typeface="Times New Roman"/>
                          <a:cs typeface="Times New Roman"/>
                          <a:sym typeface="Times New Roman"/>
                        </a:rPr>
                        <a:t>356</a:t>
                      </a:r>
                      <a:endParaRPr/>
                    </a:p>
                  </a:txBody>
                  <a:tcPr marT="5950" marB="0" marR="0" marL="0">
                    <a:lnT cap="flat" cmpd="sng" w="9525">
                      <a:solidFill>
                        <a:srgbClr val="FF0000"/>
                      </a:solidFill>
                      <a:prstDash val="solid"/>
                      <a:round/>
                      <a:headEnd len="sm" w="sm" type="none"/>
                      <a:tailEnd len="sm" w="sm" type="none"/>
                    </a:lnT>
                  </a:tcPr>
                </a:tc>
                <a:tc>
                  <a:txBody>
                    <a:bodyPr/>
                    <a:lstStyle/>
                    <a:p>
                      <a:pPr indent="0" lvl="0" marL="264795" marR="0" rtl="0" algn="l">
                        <a:lnSpc>
                          <a:spcPct val="100000"/>
                        </a:lnSpc>
                        <a:spcBef>
                          <a:spcPts val="0"/>
                        </a:spcBef>
                        <a:spcAft>
                          <a:spcPts val="0"/>
                        </a:spcAft>
                        <a:buNone/>
                      </a:pPr>
                      <a:r>
                        <a:rPr lang="ru-RU" sz="2500" u="none" cap="none" strike="noStrike">
                          <a:latin typeface="Times New Roman"/>
                          <a:ea typeface="Times New Roman"/>
                          <a:cs typeface="Times New Roman"/>
                          <a:sym typeface="Times New Roman"/>
                        </a:rPr>
                        <a:t>363</a:t>
                      </a:r>
                      <a:endParaRPr sz="2500" u="none" cap="none" strike="noStrike">
                        <a:latin typeface="Times New Roman"/>
                        <a:ea typeface="Times New Roman"/>
                        <a:cs typeface="Times New Roman"/>
                        <a:sym typeface="Times New Roman"/>
                      </a:endParaRPr>
                    </a:p>
                  </a:txBody>
                  <a:tcPr marT="5950" marB="0" marR="0" marL="0">
                    <a:lnT cap="flat" cmpd="sng" w="9525">
                      <a:solidFill>
                        <a:srgbClr val="FF0000"/>
                      </a:solidFill>
                      <a:prstDash val="solid"/>
                      <a:round/>
                      <a:headEnd len="sm" w="sm" type="none"/>
                      <a:tailEnd len="sm" w="sm" type="none"/>
                    </a:lnT>
                  </a:tcPr>
                </a:tc>
              </a:tr>
              <a:tr h="418200">
                <a:tc>
                  <a:txBody>
                    <a:bodyPr/>
                    <a:lstStyle/>
                    <a:p>
                      <a:pPr indent="0" lvl="0" marL="0" marR="106045" rtl="0" algn="r">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2 тигр</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73660"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351</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264795"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361</a:t>
                      </a:r>
                      <a:endParaRPr sz="2500" u="none" cap="none" strike="noStrike">
                        <a:latin typeface="Times New Roman"/>
                        <a:ea typeface="Times New Roman"/>
                        <a:cs typeface="Times New Roman"/>
                        <a:sym typeface="Times New Roman"/>
                      </a:endParaRPr>
                    </a:p>
                  </a:txBody>
                  <a:tcPr marT="0" marB="0" marR="0" marL="0"/>
                </a:tc>
              </a:tr>
              <a:tr h="418075">
                <a:tc>
                  <a:txBody>
                    <a:bodyPr/>
                    <a:lstStyle/>
                    <a:p>
                      <a:pPr indent="0" lvl="0" marL="0" marR="106045" rtl="0" algn="r">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 тигр</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73660"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353</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264795"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358</a:t>
                      </a:r>
                      <a:endParaRPr/>
                    </a:p>
                  </a:txBody>
                  <a:tcPr marT="0" marB="0" marR="0" marL="0"/>
                </a:tc>
              </a:tr>
              <a:tr h="418125">
                <a:tc>
                  <a:txBody>
                    <a:bodyPr/>
                    <a:lstStyle/>
                    <a:p>
                      <a:pPr indent="0" lvl="0" marL="0" marR="106045" rtl="0" algn="r">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4 тигр</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73660"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355</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264795"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356</a:t>
                      </a:r>
                      <a:endParaRPr sz="2500" u="none" cap="none" strike="noStrike">
                        <a:latin typeface="Times New Roman"/>
                        <a:ea typeface="Times New Roman"/>
                        <a:cs typeface="Times New Roman"/>
                        <a:sym typeface="Times New Roman"/>
                      </a:endParaRPr>
                    </a:p>
                  </a:txBody>
                  <a:tcPr marT="0" marB="0" marR="0" marL="0"/>
                </a:tc>
              </a:tr>
              <a:tr h="418450">
                <a:tc>
                  <a:txBody>
                    <a:bodyPr/>
                    <a:lstStyle/>
                    <a:p>
                      <a:pPr indent="0" lvl="0" marL="0" marR="106679" rtl="0" algn="r">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5 тигр</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73660"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354</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264795"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359</a:t>
                      </a:r>
                      <a:endParaRPr sz="2500" u="none" cap="none" strike="noStrike">
                        <a:latin typeface="Times New Roman"/>
                        <a:ea typeface="Times New Roman"/>
                        <a:cs typeface="Times New Roman"/>
                        <a:sym typeface="Times New Roman"/>
                      </a:endParaRPr>
                    </a:p>
                  </a:txBody>
                  <a:tcPr marT="0" marB="0" marR="0" marL="0"/>
                </a:tc>
              </a:tr>
              <a:tr h="519900">
                <a:tc>
                  <a:txBody>
                    <a:bodyPr/>
                    <a:lstStyle/>
                    <a:p>
                      <a:pPr indent="0" lvl="0" marL="0" marR="106045" rtl="0" algn="r">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6 тигр</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73660"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355</a:t>
                      </a:r>
                      <a:endParaRPr sz="2500" u="none" cap="none" strike="noStrike">
                        <a:latin typeface="Times New Roman"/>
                        <a:ea typeface="Times New Roman"/>
                        <a:cs typeface="Times New Roman"/>
                        <a:sym typeface="Times New Roman"/>
                      </a:endParaRPr>
                    </a:p>
                  </a:txBody>
                  <a:tcPr marT="0" marB="0" marR="0" marL="0"/>
                </a:tc>
                <a:tc>
                  <a:txBody>
                    <a:bodyPr/>
                    <a:lstStyle/>
                    <a:p>
                      <a:pPr indent="0" lvl="0" marL="264795" marR="0" rtl="0" algn="l">
                        <a:lnSpc>
                          <a:spcPct val="115000"/>
                        </a:lnSpc>
                        <a:spcBef>
                          <a:spcPts val="0"/>
                        </a:spcBef>
                        <a:spcAft>
                          <a:spcPts val="0"/>
                        </a:spcAft>
                        <a:buNone/>
                      </a:pPr>
                      <a:r>
                        <a:rPr lang="ru-RU" sz="2500" u="none" cap="none" strike="noStrike">
                          <a:latin typeface="Times New Roman"/>
                          <a:ea typeface="Times New Roman"/>
                          <a:cs typeface="Times New Roman"/>
                          <a:sym typeface="Times New Roman"/>
                        </a:rPr>
                        <a:t>355</a:t>
                      </a:r>
                      <a:endParaRPr sz="2500" u="none" cap="none" strike="noStrike">
                        <a:latin typeface="Times New Roman"/>
                        <a:ea typeface="Times New Roman"/>
                        <a:cs typeface="Times New Roman"/>
                        <a:sym typeface="Times New Roman"/>
                      </a:endParaRPr>
                    </a:p>
                  </a:txBody>
                  <a:tcPr marT="0" marB="0" marR="0" marL="0"/>
                </a:tc>
              </a:tr>
            </a:tbl>
          </a:graphicData>
        </a:graphic>
      </p:graphicFrame>
      <p:sp>
        <p:nvSpPr>
          <p:cNvPr id="1362" name="Google Shape;1362;p106"/>
          <p:cNvSpPr/>
          <p:nvPr/>
        </p:nvSpPr>
        <p:spPr>
          <a:xfrm>
            <a:off x="3914647" y="2031358"/>
            <a:ext cx="0" cy="2992381"/>
          </a:xfrm>
          <a:custGeom>
            <a:rect b="b" l="l" r="r" t="t"/>
            <a:pathLst>
              <a:path extrusionOk="0" h="2879725" w="120000">
                <a:moveTo>
                  <a:pt x="0" y="0"/>
                </a:moveTo>
                <a:lnTo>
                  <a:pt x="0" y="2879725"/>
                </a:lnTo>
              </a:path>
            </a:pathLst>
          </a:custGeom>
          <a:noFill/>
          <a:ln cap="flat" cmpd="sng" w="95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63" name="Google Shape;1363;p106"/>
          <p:cNvSpPr/>
          <p:nvPr/>
        </p:nvSpPr>
        <p:spPr>
          <a:xfrm>
            <a:off x="3241608" y="2031358"/>
            <a:ext cx="0" cy="2992381"/>
          </a:xfrm>
          <a:custGeom>
            <a:rect b="b" l="l" r="r" t="t"/>
            <a:pathLst>
              <a:path extrusionOk="0" h="2879725" w="120000">
                <a:moveTo>
                  <a:pt x="0" y="0"/>
                </a:moveTo>
                <a:lnTo>
                  <a:pt x="0" y="2879725"/>
                </a:lnTo>
              </a:path>
            </a:pathLst>
          </a:custGeom>
          <a:noFill/>
          <a:ln cap="flat" cmpd="sng" w="95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64" name="Google Shape;1364;p106"/>
          <p:cNvSpPr/>
          <p:nvPr/>
        </p:nvSpPr>
        <p:spPr>
          <a:xfrm>
            <a:off x="3838766" y="2554743"/>
            <a:ext cx="300228" cy="151104"/>
          </a:xfrm>
          <a:custGeom>
            <a:rect b="b" l="l" r="r" t="t"/>
            <a:pathLst>
              <a:path extrusionOk="0" h="145414" w="288925">
                <a:moveTo>
                  <a:pt x="130556" y="0"/>
                </a:moveTo>
                <a:lnTo>
                  <a:pt x="126746" y="2158"/>
                </a:lnTo>
                <a:lnTo>
                  <a:pt x="0" y="72516"/>
                </a:lnTo>
                <a:lnTo>
                  <a:pt x="126746" y="143001"/>
                </a:lnTo>
                <a:lnTo>
                  <a:pt x="130556" y="145160"/>
                </a:lnTo>
                <a:lnTo>
                  <a:pt x="135381" y="143763"/>
                </a:lnTo>
                <a:lnTo>
                  <a:pt x="139700" y="136143"/>
                </a:lnTo>
                <a:lnTo>
                  <a:pt x="138303" y="131317"/>
                </a:lnTo>
                <a:lnTo>
                  <a:pt x="134493" y="129158"/>
                </a:lnTo>
                <a:lnTo>
                  <a:pt x="46939" y="80517"/>
                </a:lnTo>
                <a:lnTo>
                  <a:pt x="16256" y="80517"/>
                </a:lnTo>
                <a:lnTo>
                  <a:pt x="16256" y="64642"/>
                </a:lnTo>
                <a:lnTo>
                  <a:pt x="46939" y="64642"/>
                </a:lnTo>
                <a:lnTo>
                  <a:pt x="134493" y="16001"/>
                </a:lnTo>
                <a:lnTo>
                  <a:pt x="138303" y="13842"/>
                </a:lnTo>
                <a:lnTo>
                  <a:pt x="139700" y="9016"/>
                </a:lnTo>
                <a:lnTo>
                  <a:pt x="135381" y="1396"/>
                </a:lnTo>
                <a:lnTo>
                  <a:pt x="130556" y="0"/>
                </a:lnTo>
                <a:close/>
              </a:path>
              <a:path extrusionOk="0" h="145414" w="288925">
                <a:moveTo>
                  <a:pt x="256146" y="72580"/>
                </a:moveTo>
                <a:lnTo>
                  <a:pt x="154305" y="129158"/>
                </a:lnTo>
                <a:lnTo>
                  <a:pt x="150494" y="131317"/>
                </a:lnTo>
                <a:lnTo>
                  <a:pt x="149098" y="136143"/>
                </a:lnTo>
                <a:lnTo>
                  <a:pt x="153416" y="143763"/>
                </a:lnTo>
                <a:lnTo>
                  <a:pt x="158242" y="145160"/>
                </a:lnTo>
                <a:lnTo>
                  <a:pt x="162051" y="143001"/>
                </a:lnTo>
                <a:lnTo>
                  <a:pt x="274613" y="80517"/>
                </a:lnTo>
                <a:lnTo>
                  <a:pt x="272542" y="80517"/>
                </a:lnTo>
                <a:lnTo>
                  <a:pt x="272542" y="79501"/>
                </a:lnTo>
                <a:lnTo>
                  <a:pt x="268605" y="79501"/>
                </a:lnTo>
                <a:lnTo>
                  <a:pt x="256146" y="72580"/>
                </a:lnTo>
                <a:close/>
              </a:path>
              <a:path extrusionOk="0" h="145414" w="288925">
                <a:moveTo>
                  <a:pt x="46939" y="64642"/>
                </a:moveTo>
                <a:lnTo>
                  <a:pt x="16256" y="64642"/>
                </a:lnTo>
                <a:lnTo>
                  <a:pt x="16256" y="80517"/>
                </a:lnTo>
                <a:lnTo>
                  <a:pt x="46939" y="80517"/>
                </a:lnTo>
                <a:lnTo>
                  <a:pt x="45110" y="79501"/>
                </a:lnTo>
                <a:lnTo>
                  <a:pt x="20193" y="79501"/>
                </a:lnTo>
                <a:lnTo>
                  <a:pt x="20193" y="65658"/>
                </a:lnTo>
                <a:lnTo>
                  <a:pt x="45110" y="65658"/>
                </a:lnTo>
                <a:lnTo>
                  <a:pt x="46939" y="64642"/>
                </a:lnTo>
                <a:close/>
              </a:path>
              <a:path extrusionOk="0" h="145414" w="288925">
                <a:moveTo>
                  <a:pt x="241858" y="64642"/>
                </a:moveTo>
                <a:lnTo>
                  <a:pt x="46939" y="64642"/>
                </a:lnTo>
                <a:lnTo>
                  <a:pt x="32766" y="72516"/>
                </a:lnTo>
                <a:lnTo>
                  <a:pt x="46939" y="80517"/>
                </a:lnTo>
                <a:lnTo>
                  <a:pt x="241858" y="80517"/>
                </a:lnTo>
                <a:lnTo>
                  <a:pt x="256031" y="72643"/>
                </a:lnTo>
                <a:lnTo>
                  <a:pt x="241858" y="64642"/>
                </a:lnTo>
                <a:close/>
              </a:path>
              <a:path extrusionOk="0" h="145414" w="288925">
                <a:moveTo>
                  <a:pt x="274410" y="64642"/>
                </a:moveTo>
                <a:lnTo>
                  <a:pt x="272542" y="64642"/>
                </a:lnTo>
                <a:lnTo>
                  <a:pt x="272542" y="80517"/>
                </a:lnTo>
                <a:lnTo>
                  <a:pt x="274613" y="80517"/>
                </a:lnTo>
                <a:lnTo>
                  <a:pt x="288798" y="72643"/>
                </a:lnTo>
                <a:lnTo>
                  <a:pt x="274410" y="64642"/>
                </a:lnTo>
                <a:close/>
              </a:path>
              <a:path extrusionOk="0" h="145414" w="288925">
                <a:moveTo>
                  <a:pt x="20193" y="65658"/>
                </a:moveTo>
                <a:lnTo>
                  <a:pt x="20193" y="79501"/>
                </a:lnTo>
                <a:lnTo>
                  <a:pt x="32537" y="72643"/>
                </a:lnTo>
                <a:lnTo>
                  <a:pt x="20193" y="65658"/>
                </a:lnTo>
                <a:close/>
              </a:path>
              <a:path extrusionOk="0" h="145414" w="288925">
                <a:moveTo>
                  <a:pt x="32651" y="72580"/>
                </a:moveTo>
                <a:lnTo>
                  <a:pt x="20193" y="79501"/>
                </a:lnTo>
                <a:lnTo>
                  <a:pt x="45110" y="79501"/>
                </a:lnTo>
                <a:lnTo>
                  <a:pt x="32651" y="72580"/>
                </a:lnTo>
                <a:close/>
              </a:path>
              <a:path extrusionOk="0" h="145414" w="288925">
                <a:moveTo>
                  <a:pt x="268605" y="65658"/>
                </a:moveTo>
                <a:lnTo>
                  <a:pt x="256260" y="72516"/>
                </a:lnTo>
                <a:lnTo>
                  <a:pt x="268605" y="79501"/>
                </a:lnTo>
                <a:lnTo>
                  <a:pt x="268605" y="65658"/>
                </a:lnTo>
                <a:close/>
              </a:path>
              <a:path extrusionOk="0" h="145414" w="288925">
                <a:moveTo>
                  <a:pt x="272542" y="65658"/>
                </a:moveTo>
                <a:lnTo>
                  <a:pt x="268605" y="65658"/>
                </a:lnTo>
                <a:lnTo>
                  <a:pt x="268605" y="79501"/>
                </a:lnTo>
                <a:lnTo>
                  <a:pt x="272542" y="79501"/>
                </a:lnTo>
                <a:lnTo>
                  <a:pt x="272542" y="65658"/>
                </a:lnTo>
                <a:close/>
              </a:path>
              <a:path extrusionOk="0" h="145414" w="288925">
                <a:moveTo>
                  <a:pt x="45110" y="65658"/>
                </a:moveTo>
                <a:lnTo>
                  <a:pt x="20193" y="65658"/>
                </a:lnTo>
                <a:lnTo>
                  <a:pt x="32651" y="72580"/>
                </a:lnTo>
                <a:lnTo>
                  <a:pt x="45110" y="65658"/>
                </a:lnTo>
                <a:close/>
              </a:path>
              <a:path extrusionOk="0" h="145414" w="288925">
                <a:moveTo>
                  <a:pt x="158242" y="0"/>
                </a:moveTo>
                <a:lnTo>
                  <a:pt x="153416" y="1396"/>
                </a:lnTo>
                <a:lnTo>
                  <a:pt x="149098" y="9016"/>
                </a:lnTo>
                <a:lnTo>
                  <a:pt x="150494" y="13842"/>
                </a:lnTo>
                <a:lnTo>
                  <a:pt x="154305" y="16001"/>
                </a:lnTo>
                <a:lnTo>
                  <a:pt x="256146" y="72580"/>
                </a:lnTo>
                <a:lnTo>
                  <a:pt x="268605" y="65658"/>
                </a:lnTo>
                <a:lnTo>
                  <a:pt x="272542" y="65658"/>
                </a:lnTo>
                <a:lnTo>
                  <a:pt x="272542" y="64642"/>
                </a:lnTo>
                <a:lnTo>
                  <a:pt x="274410" y="64642"/>
                </a:lnTo>
                <a:lnTo>
                  <a:pt x="162051" y="2158"/>
                </a:lnTo>
                <a:lnTo>
                  <a:pt x="158242" y="0"/>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65" name="Google Shape;1365;p106"/>
          <p:cNvSpPr/>
          <p:nvPr/>
        </p:nvSpPr>
        <p:spPr>
          <a:xfrm>
            <a:off x="3764467" y="3003435"/>
            <a:ext cx="374790" cy="151104"/>
          </a:xfrm>
          <a:custGeom>
            <a:rect b="b" l="l" r="r" t="t"/>
            <a:pathLst>
              <a:path extrusionOk="0" h="145414" w="360680">
                <a:moveTo>
                  <a:pt x="130682" y="0"/>
                </a:moveTo>
                <a:lnTo>
                  <a:pt x="0" y="72516"/>
                </a:lnTo>
                <a:lnTo>
                  <a:pt x="130682" y="145160"/>
                </a:lnTo>
                <a:lnTo>
                  <a:pt x="135508" y="143763"/>
                </a:lnTo>
                <a:lnTo>
                  <a:pt x="137541" y="139953"/>
                </a:lnTo>
                <a:lnTo>
                  <a:pt x="139700" y="136143"/>
                </a:lnTo>
                <a:lnTo>
                  <a:pt x="138302" y="131317"/>
                </a:lnTo>
                <a:lnTo>
                  <a:pt x="134493" y="129158"/>
                </a:lnTo>
                <a:lnTo>
                  <a:pt x="46939" y="80517"/>
                </a:lnTo>
                <a:lnTo>
                  <a:pt x="16382" y="80517"/>
                </a:lnTo>
                <a:lnTo>
                  <a:pt x="16382" y="64642"/>
                </a:lnTo>
                <a:lnTo>
                  <a:pt x="46939" y="64642"/>
                </a:lnTo>
                <a:lnTo>
                  <a:pt x="134493" y="16001"/>
                </a:lnTo>
                <a:lnTo>
                  <a:pt x="138302" y="13842"/>
                </a:lnTo>
                <a:lnTo>
                  <a:pt x="139700" y="9016"/>
                </a:lnTo>
                <a:lnTo>
                  <a:pt x="137541" y="5206"/>
                </a:lnTo>
                <a:lnTo>
                  <a:pt x="135508" y="1396"/>
                </a:lnTo>
                <a:lnTo>
                  <a:pt x="130682" y="0"/>
                </a:lnTo>
                <a:close/>
              </a:path>
              <a:path extrusionOk="0" h="145414" w="360680">
                <a:moveTo>
                  <a:pt x="327647" y="72580"/>
                </a:moveTo>
                <a:lnTo>
                  <a:pt x="225806" y="129158"/>
                </a:lnTo>
                <a:lnTo>
                  <a:pt x="221995" y="131317"/>
                </a:lnTo>
                <a:lnTo>
                  <a:pt x="220599" y="136143"/>
                </a:lnTo>
                <a:lnTo>
                  <a:pt x="224917" y="143763"/>
                </a:lnTo>
                <a:lnTo>
                  <a:pt x="229743" y="145160"/>
                </a:lnTo>
                <a:lnTo>
                  <a:pt x="233552" y="143001"/>
                </a:lnTo>
                <a:lnTo>
                  <a:pt x="346114" y="80517"/>
                </a:lnTo>
                <a:lnTo>
                  <a:pt x="344043" y="80517"/>
                </a:lnTo>
                <a:lnTo>
                  <a:pt x="344043" y="79501"/>
                </a:lnTo>
                <a:lnTo>
                  <a:pt x="340106" y="79501"/>
                </a:lnTo>
                <a:lnTo>
                  <a:pt x="327647" y="72580"/>
                </a:lnTo>
                <a:close/>
              </a:path>
              <a:path extrusionOk="0" h="145414" w="360680">
                <a:moveTo>
                  <a:pt x="46939" y="64642"/>
                </a:moveTo>
                <a:lnTo>
                  <a:pt x="16382" y="64642"/>
                </a:lnTo>
                <a:lnTo>
                  <a:pt x="16382" y="80517"/>
                </a:lnTo>
                <a:lnTo>
                  <a:pt x="46939" y="80517"/>
                </a:lnTo>
                <a:lnTo>
                  <a:pt x="45110" y="79501"/>
                </a:lnTo>
                <a:lnTo>
                  <a:pt x="20193" y="79501"/>
                </a:lnTo>
                <a:lnTo>
                  <a:pt x="20193" y="65658"/>
                </a:lnTo>
                <a:lnTo>
                  <a:pt x="45110" y="65658"/>
                </a:lnTo>
                <a:lnTo>
                  <a:pt x="46939" y="64642"/>
                </a:lnTo>
                <a:close/>
              </a:path>
              <a:path extrusionOk="0" h="145414" w="360680">
                <a:moveTo>
                  <a:pt x="313359" y="64642"/>
                </a:moveTo>
                <a:lnTo>
                  <a:pt x="46939" y="64642"/>
                </a:lnTo>
                <a:lnTo>
                  <a:pt x="32766" y="72516"/>
                </a:lnTo>
                <a:lnTo>
                  <a:pt x="46939" y="80517"/>
                </a:lnTo>
                <a:lnTo>
                  <a:pt x="313359" y="80517"/>
                </a:lnTo>
                <a:lnTo>
                  <a:pt x="327532" y="72643"/>
                </a:lnTo>
                <a:lnTo>
                  <a:pt x="313359" y="64642"/>
                </a:lnTo>
                <a:close/>
              </a:path>
              <a:path extrusionOk="0" h="145414" w="360680">
                <a:moveTo>
                  <a:pt x="345911" y="64642"/>
                </a:moveTo>
                <a:lnTo>
                  <a:pt x="344043" y="64642"/>
                </a:lnTo>
                <a:lnTo>
                  <a:pt x="344043" y="80517"/>
                </a:lnTo>
                <a:lnTo>
                  <a:pt x="346114" y="80517"/>
                </a:lnTo>
                <a:lnTo>
                  <a:pt x="360299" y="72643"/>
                </a:lnTo>
                <a:lnTo>
                  <a:pt x="345911" y="64642"/>
                </a:lnTo>
                <a:close/>
              </a:path>
              <a:path extrusionOk="0" h="145414" w="360680">
                <a:moveTo>
                  <a:pt x="20193" y="65658"/>
                </a:moveTo>
                <a:lnTo>
                  <a:pt x="20193" y="79501"/>
                </a:lnTo>
                <a:lnTo>
                  <a:pt x="32537" y="72643"/>
                </a:lnTo>
                <a:lnTo>
                  <a:pt x="20193" y="65658"/>
                </a:lnTo>
                <a:close/>
              </a:path>
              <a:path extrusionOk="0" h="145414" w="360680">
                <a:moveTo>
                  <a:pt x="32651" y="72580"/>
                </a:moveTo>
                <a:lnTo>
                  <a:pt x="20193" y="79501"/>
                </a:lnTo>
                <a:lnTo>
                  <a:pt x="45110" y="79501"/>
                </a:lnTo>
                <a:lnTo>
                  <a:pt x="32651" y="72580"/>
                </a:lnTo>
                <a:close/>
              </a:path>
              <a:path extrusionOk="0" h="145414" w="360680">
                <a:moveTo>
                  <a:pt x="340106" y="65658"/>
                </a:moveTo>
                <a:lnTo>
                  <a:pt x="327761" y="72516"/>
                </a:lnTo>
                <a:lnTo>
                  <a:pt x="340106" y="79501"/>
                </a:lnTo>
                <a:lnTo>
                  <a:pt x="340106" y="65658"/>
                </a:lnTo>
                <a:close/>
              </a:path>
              <a:path extrusionOk="0" h="145414" w="360680">
                <a:moveTo>
                  <a:pt x="344043" y="65658"/>
                </a:moveTo>
                <a:lnTo>
                  <a:pt x="340106" y="65658"/>
                </a:lnTo>
                <a:lnTo>
                  <a:pt x="340106" y="79501"/>
                </a:lnTo>
                <a:lnTo>
                  <a:pt x="344043" y="79501"/>
                </a:lnTo>
                <a:lnTo>
                  <a:pt x="344043" y="65658"/>
                </a:lnTo>
                <a:close/>
              </a:path>
              <a:path extrusionOk="0" h="145414" w="360680">
                <a:moveTo>
                  <a:pt x="45110" y="65658"/>
                </a:moveTo>
                <a:lnTo>
                  <a:pt x="20193" y="65658"/>
                </a:lnTo>
                <a:lnTo>
                  <a:pt x="32651" y="72580"/>
                </a:lnTo>
                <a:lnTo>
                  <a:pt x="45110" y="65658"/>
                </a:lnTo>
                <a:close/>
              </a:path>
              <a:path extrusionOk="0" h="145414" w="360680">
                <a:moveTo>
                  <a:pt x="229743" y="0"/>
                </a:moveTo>
                <a:lnTo>
                  <a:pt x="224917" y="1396"/>
                </a:lnTo>
                <a:lnTo>
                  <a:pt x="220599" y="9016"/>
                </a:lnTo>
                <a:lnTo>
                  <a:pt x="221995" y="13842"/>
                </a:lnTo>
                <a:lnTo>
                  <a:pt x="225806" y="16001"/>
                </a:lnTo>
                <a:lnTo>
                  <a:pt x="327647" y="72580"/>
                </a:lnTo>
                <a:lnTo>
                  <a:pt x="340106" y="65658"/>
                </a:lnTo>
                <a:lnTo>
                  <a:pt x="344043" y="65658"/>
                </a:lnTo>
                <a:lnTo>
                  <a:pt x="344043" y="64642"/>
                </a:lnTo>
                <a:lnTo>
                  <a:pt x="345911" y="64642"/>
                </a:lnTo>
                <a:lnTo>
                  <a:pt x="233552" y="2158"/>
                </a:lnTo>
                <a:lnTo>
                  <a:pt x="229743" y="0"/>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66" name="Google Shape;1366;p106"/>
          <p:cNvSpPr/>
          <p:nvPr/>
        </p:nvSpPr>
        <p:spPr>
          <a:xfrm>
            <a:off x="3838765" y="3377960"/>
            <a:ext cx="374790" cy="151104"/>
          </a:xfrm>
          <a:custGeom>
            <a:rect b="b" l="l" r="r" t="t"/>
            <a:pathLst>
              <a:path extrusionOk="0" h="145414" w="360680">
                <a:moveTo>
                  <a:pt x="130556" y="0"/>
                </a:moveTo>
                <a:lnTo>
                  <a:pt x="126746" y="2031"/>
                </a:lnTo>
                <a:lnTo>
                  <a:pt x="0" y="72516"/>
                </a:lnTo>
                <a:lnTo>
                  <a:pt x="126746" y="143001"/>
                </a:lnTo>
                <a:lnTo>
                  <a:pt x="130556" y="145033"/>
                </a:lnTo>
                <a:lnTo>
                  <a:pt x="135381" y="143763"/>
                </a:lnTo>
                <a:lnTo>
                  <a:pt x="137541" y="139826"/>
                </a:lnTo>
                <a:lnTo>
                  <a:pt x="139700" y="136016"/>
                </a:lnTo>
                <a:lnTo>
                  <a:pt x="138303" y="131190"/>
                </a:lnTo>
                <a:lnTo>
                  <a:pt x="134493" y="129031"/>
                </a:lnTo>
                <a:lnTo>
                  <a:pt x="46960" y="80402"/>
                </a:lnTo>
                <a:lnTo>
                  <a:pt x="16256" y="80390"/>
                </a:lnTo>
                <a:lnTo>
                  <a:pt x="16256" y="64515"/>
                </a:lnTo>
                <a:lnTo>
                  <a:pt x="47167" y="64515"/>
                </a:lnTo>
                <a:lnTo>
                  <a:pt x="134493" y="16001"/>
                </a:lnTo>
                <a:lnTo>
                  <a:pt x="138303" y="13842"/>
                </a:lnTo>
                <a:lnTo>
                  <a:pt x="139700" y="9016"/>
                </a:lnTo>
                <a:lnTo>
                  <a:pt x="137541" y="5206"/>
                </a:lnTo>
                <a:lnTo>
                  <a:pt x="135381" y="1269"/>
                </a:lnTo>
                <a:lnTo>
                  <a:pt x="130556" y="0"/>
                </a:lnTo>
                <a:close/>
              </a:path>
              <a:path extrusionOk="0" h="145414" w="360680">
                <a:moveTo>
                  <a:pt x="345911" y="64515"/>
                </a:moveTo>
                <a:lnTo>
                  <a:pt x="343916" y="64515"/>
                </a:lnTo>
                <a:lnTo>
                  <a:pt x="343916" y="80517"/>
                </a:lnTo>
                <a:lnTo>
                  <a:pt x="313131" y="80517"/>
                </a:lnTo>
                <a:lnTo>
                  <a:pt x="225806" y="129031"/>
                </a:lnTo>
                <a:lnTo>
                  <a:pt x="221996" y="131190"/>
                </a:lnTo>
                <a:lnTo>
                  <a:pt x="220599" y="136016"/>
                </a:lnTo>
                <a:lnTo>
                  <a:pt x="222757" y="139826"/>
                </a:lnTo>
                <a:lnTo>
                  <a:pt x="224790" y="143763"/>
                </a:lnTo>
                <a:lnTo>
                  <a:pt x="229616" y="145033"/>
                </a:lnTo>
                <a:lnTo>
                  <a:pt x="233553" y="143001"/>
                </a:lnTo>
                <a:lnTo>
                  <a:pt x="345911" y="80517"/>
                </a:lnTo>
                <a:lnTo>
                  <a:pt x="343916" y="80517"/>
                </a:lnTo>
                <a:lnTo>
                  <a:pt x="345933" y="80506"/>
                </a:lnTo>
                <a:lnTo>
                  <a:pt x="360299" y="72516"/>
                </a:lnTo>
                <a:lnTo>
                  <a:pt x="345911" y="64515"/>
                </a:lnTo>
                <a:close/>
              </a:path>
              <a:path extrusionOk="0" h="145414" w="360680">
                <a:moveTo>
                  <a:pt x="327532" y="72516"/>
                </a:moveTo>
                <a:lnTo>
                  <a:pt x="313152" y="80506"/>
                </a:lnTo>
                <a:lnTo>
                  <a:pt x="343916" y="80517"/>
                </a:lnTo>
                <a:lnTo>
                  <a:pt x="343916" y="79501"/>
                </a:lnTo>
                <a:lnTo>
                  <a:pt x="340106" y="79501"/>
                </a:lnTo>
                <a:lnTo>
                  <a:pt x="327532" y="72516"/>
                </a:lnTo>
                <a:close/>
              </a:path>
              <a:path extrusionOk="0" h="145414" w="360680">
                <a:moveTo>
                  <a:pt x="313131" y="64515"/>
                </a:moveTo>
                <a:lnTo>
                  <a:pt x="47167" y="64515"/>
                </a:lnTo>
                <a:lnTo>
                  <a:pt x="32766" y="72516"/>
                </a:lnTo>
                <a:lnTo>
                  <a:pt x="46960" y="80402"/>
                </a:lnTo>
                <a:lnTo>
                  <a:pt x="313152" y="80506"/>
                </a:lnTo>
                <a:lnTo>
                  <a:pt x="327532" y="72516"/>
                </a:lnTo>
                <a:lnTo>
                  <a:pt x="313131" y="64515"/>
                </a:lnTo>
                <a:close/>
              </a:path>
              <a:path extrusionOk="0" h="145414" w="360680">
                <a:moveTo>
                  <a:pt x="47167" y="64515"/>
                </a:moveTo>
                <a:lnTo>
                  <a:pt x="16256" y="64515"/>
                </a:lnTo>
                <a:lnTo>
                  <a:pt x="16256" y="80390"/>
                </a:lnTo>
                <a:lnTo>
                  <a:pt x="46960" y="80402"/>
                </a:lnTo>
                <a:lnTo>
                  <a:pt x="45339" y="79501"/>
                </a:lnTo>
                <a:lnTo>
                  <a:pt x="20193" y="79501"/>
                </a:lnTo>
                <a:lnTo>
                  <a:pt x="20193" y="65531"/>
                </a:lnTo>
                <a:lnTo>
                  <a:pt x="45339" y="65531"/>
                </a:lnTo>
                <a:lnTo>
                  <a:pt x="47167" y="64515"/>
                </a:lnTo>
                <a:close/>
              </a:path>
              <a:path extrusionOk="0" h="145414" w="360680">
                <a:moveTo>
                  <a:pt x="20193" y="65531"/>
                </a:moveTo>
                <a:lnTo>
                  <a:pt x="20193" y="79501"/>
                </a:lnTo>
                <a:lnTo>
                  <a:pt x="32766" y="72516"/>
                </a:lnTo>
                <a:lnTo>
                  <a:pt x="20193" y="65531"/>
                </a:lnTo>
                <a:close/>
              </a:path>
              <a:path extrusionOk="0" h="145414" w="360680">
                <a:moveTo>
                  <a:pt x="32766" y="72516"/>
                </a:moveTo>
                <a:lnTo>
                  <a:pt x="20193" y="79501"/>
                </a:lnTo>
                <a:lnTo>
                  <a:pt x="45339" y="79501"/>
                </a:lnTo>
                <a:lnTo>
                  <a:pt x="32766" y="72516"/>
                </a:lnTo>
                <a:close/>
              </a:path>
              <a:path extrusionOk="0" h="145414" w="360680">
                <a:moveTo>
                  <a:pt x="340106" y="65531"/>
                </a:moveTo>
                <a:lnTo>
                  <a:pt x="327532" y="72516"/>
                </a:lnTo>
                <a:lnTo>
                  <a:pt x="340106" y="79501"/>
                </a:lnTo>
                <a:lnTo>
                  <a:pt x="340106" y="65531"/>
                </a:lnTo>
                <a:close/>
              </a:path>
              <a:path extrusionOk="0" h="145414" w="360680">
                <a:moveTo>
                  <a:pt x="343916" y="65531"/>
                </a:moveTo>
                <a:lnTo>
                  <a:pt x="340106" y="65531"/>
                </a:lnTo>
                <a:lnTo>
                  <a:pt x="340106" y="79501"/>
                </a:lnTo>
                <a:lnTo>
                  <a:pt x="343916" y="79501"/>
                </a:lnTo>
                <a:lnTo>
                  <a:pt x="343916" y="65531"/>
                </a:lnTo>
                <a:close/>
              </a:path>
              <a:path extrusionOk="0" h="145414" w="360680">
                <a:moveTo>
                  <a:pt x="45339" y="65531"/>
                </a:moveTo>
                <a:lnTo>
                  <a:pt x="20193" y="65531"/>
                </a:lnTo>
                <a:lnTo>
                  <a:pt x="32766" y="72516"/>
                </a:lnTo>
                <a:lnTo>
                  <a:pt x="45339" y="65531"/>
                </a:lnTo>
                <a:close/>
              </a:path>
              <a:path extrusionOk="0" h="145414" w="360680">
                <a:moveTo>
                  <a:pt x="229616" y="0"/>
                </a:moveTo>
                <a:lnTo>
                  <a:pt x="224790" y="1269"/>
                </a:lnTo>
                <a:lnTo>
                  <a:pt x="222757" y="5206"/>
                </a:lnTo>
                <a:lnTo>
                  <a:pt x="220599" y="9016"/>
                </a:lnTo>
                <a:lnTo>
                  <a:pt x="221996" y="13842"/>
                </a:lnTo>
                <a:lnTo>
                  <a:pt x="225806" y="16001"/>
                </a:lnTo>
                <a:lnTo>
                  <a:pt x="327532" y="72516"/>
                </a:lnTo>
                <a:lnTo>
                  <a:pt x="340106" y="65531"/>
                </a:lnTo>
                <a:lnTo>
                  <a:pt x="343916" y="65531"/>
                </a:lnTo>
                <a:lnTo>
                  <a:pt x="343916" y="64515"/>
                </a:lnTo>
                <a:lnTo>
                  <a:pt x="345911" y="64515"/>
                </a:lnTo>
                <a:lnTo>
                  <a:pt x="233553" y="2031"/>
                </a:lnTo>
                <a:lnTo>
                  <a:pt x="229616" y="0"/>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67" name="Google Shape;1367;p106"/>
          <p:cNvSpPr/>
          <p:nvPr/>
        </p:nvSpPr>
        <p:spPr>
          <a:xfrm>
            <a:off x="3764467" y="3826652"/>
            <a:ext cx="374790" cy="151104"/>
          </a:xfrm>
          <a:custGeom>
            <a:rect b="b" l="l" r="r" t="t"/>
            <a:pathLst>
              <a:path extrusionOk="0" h="145414" w="360680">
                <a:moveTo>
                  <a:pt x="130682" y="0"/>
                </a:moveTo>
                <a:lnTo>
                  <a:pt x="126745" y="2031"/>
                </a:lnTo>
                <a:lnTo>
                  <a:pt x="0" y="72516"/>
                </a:lnTo>
                <a:lnTo>
                  <a:pt x="126745" y="143001"/>
                </a:lnTo>
                <a:lnTo>
                  <a:pt x="130682" y="145033"/>
                </a:lnTo>
                <a:lnTo>
                  <a:pt x="135508" y="143763"/>
                </a:lnTo>
                <a:lnTo>
                  <a:pt x="137541" y="139826"/>
                </a:lnTo>
                <a:lnTo>
                  <a:pt x="139700" y="136016"/>
                </a:lnTo>
                <a:lnTo>
                  <a:pt x="138302" y="131190"/>
                </a:lnTo>
                <a:lnTo>
                  <a:pt x="134493" y="129031"/>
                </a:lnTo>
                <a:lnTo>
                  <a:pt x="46939" y="80390"/>
                </a:lnTo>
                <a:lnTo>
                  <a:pt x="16382" y="80390"/>
                </a:lnTo>
                <a:lnTo>
                  <a:pt x="16382" y="64515"/>
                </a:lnTo>
                <a:lnTo>
                  <a:pt x="47167" y="64515"/>
                </a:lnTo>
                <a:lnTo>
                  <a:pt x="134493" y="16001"/>
                </a:lnTo>
                <a:lnTo>
                  <a:pt x="138302" y="13842"/>
                </a:lnTo>
                <a:lnTo>
                  <a:pt x="139700" y="9016"/>
                </a:lnTo>
                <a:lnTo>
                  <a:pt x="137541" y="5206"/>
                </a:lnTo>
                <a:lnTo>
                  <a:pt x="135508" y="1269"/>
                </a:lnTo>
                <a:lnTo>
                  <a:pt x="130682" y="0"/>
                </a:lnTo>
                <a:close/>
              </a:path>
              <a:path extrusionOk="0" h="145414" w="360680">
                <a:moveTo>
                  <a:pt x="327532" y="72516"/>
                </a:moveTo>
                <a:lnTo>
                  <a:pt x="225806" y="129031"/>
                </a:lnTo>
                <a:lnTo>
                  <a:pt x="221995" y="131190"/>
                </a:lnTo>
                <a:lnTo>
                  <a:pt x="220599" y="136016"/>
                </a:lnTo>
                <a:lnTo>
                  <a:pt x="222757" y="139826"/>
                </a:lnTo>
                <a:lnTo>
                  <a:pt x="224917" y="143763"/>
                </a:lnTo>
                <a:lnTo>
                  <a:pt x="229743" y="145033"/>
                </a:lnTo>
                <a:lnTo>
                  <a:pt x="233552" y="143001"/>
                </a:lnTo>
                <a:lnTo>
                  <a:pt x="346139" y="80390"/>
                </a:lnTo>
                <a:lnTo>
                  <a:pt x="344043" y="80390"/>
                </a:lnTo>
                <a:lnTo>
                  <a:pt x="344043" y="79501"/>
                </a:lnTo>
                <a:lnTo>
                  <a:pt x="340106" y="79501"/>
                </a:lnTo>
                <a:lnTo>
                  <a:pt x="327532" y="72516"/>
                </a:lnTo>
                <a:close/>
              </a:path>
              <a:path extrusionOk="0" h="145414" w="360680">
                <a:moveTo>
                  <a:pt x="47167" y="64515"/>
                </a:moveTo>
                <a:lnTo>
                  <a:pt x="16382" y="64515"/>
                </a:lnTo>
                <a:lnTo>
                  <a:pt x="16382" y="80390"/>
                </a:lnTo>
                <a:lnTo>
                  <a:pt x="46939" y="80390"/>
                </a:lnTo>
                <a:lnTo>
                  <a:pt x="45339" y="79501"/>
                </a:lnTo>
                <a:lnTo>
                  <a:pt x="20193" y="79501"/>
                </a:lnTo>
                <a:lnTo>
                  <a:pt x="20193" y="65531"/>
                </a:lnTo>
                <a:lnTo>
                  <a:pt x="45339" y="65531"/>
                </a:lnTo>
                <a:lnTo>
                  <a:pt x="47167" y="64515"/>
                </a:lnTo>
                <a:close/>
              </a:path>
              <a:path extrusionOk="0" h="145414" w="360680">
                <a:moveTo>
                  <a:pt x="313131" y="64515"/>
                </a:moveTo>
                <a:lnTo>
                  <a:pt x="47167" y="64515"/>
                </a:lnTo>
                <a:lnTo>
                  <a:pt x="32766" y="72516"/>
                </a:lnTo>
                <a:lnTo>
                  <a:pt x="46939" y="80390"/>
                </a:lnTo>
                <a:lnTo>
                  <a:pt x="313359" y="80390"/>
                </a:lnTo>
                <a:lnTo>
                  <a:pt x="327532" y="72516"/>
                </a:lnTo>
                <a:lnTo>
                  <a:pt x="313131" y="64515"/>
                </a:lnTo>
                <a:close/>
              </a:path>
              <a:path extrusionOk="0" h="145414" w="360680">
                <a:moveTo>
                  <a:pt x="345911" y="64515"/>
                </a:moveTo>
                <a:lnTo>
                  <a:pt x="344043" y="64515"/>
                </a:lnTo>
                <a:lnTo>
                  <a:pt x="344043" y="80390"/>
                </a:lnTo>
                <a:lnTo>
                  <a:pt x="346139" y="80390"/>
                </a:lnTo>
                <a:lnTo>
                  <a:pt x="360299" y="72516"/>
                </a:lnTo>
                <a:lnTo>
                  <a:pt x="345911" y="64515"/>
                </a:lnTo>
                <a:close/>
              </a:path>
              <a:path extrusionOk="0" h="145414" w="360680">
                <a:moveTo>
                  <a:pt x="20193" y="65531"/>
                </a:moveTo>
                <a:lnTo>
                  <a:pt x="20193" y="79501"/>
                </a:lnTo>
                <a:lnTo>
                  <a:pt x="32766" y="72516"/>
                </a:lnTo>
                <a:lnTo>
                  <a:pt x="20193" y="65531"/>
                </a:lnTo>
                <a:close/>
              </a:path>
              <a:path extrusionOk="0" h="145414" w="360680">
                <a:moveTo>
                  <a:pt x="32766" y="72516"/>
                </a:moveTo>
                <a:lnTo>
                  <a:pt x="20193" y="79501"/>
                </a:lnTo>
                <a:lnTo>
                  <a:pt x="45339" y="79501"/>
                </a:lnTo>
                <a:lnTo>
                  <a:pt x="32766" y="72516"/>
                </a:lnTo>
                <a:close/>
              </a:path>
              <a:path extrusionOk="0" h="145414" w="360680">
                <a:moveTo>
                  <a:pt x="340106" y="65531"/>
                </a:moveTo>
                <a:lnTo>
                  <a:pt x="327532" y="72516"/>
                </a:lnTo>
                <a:lnTo>
                  <a:pt x="340106" y="79501"/>
                </a:lnTo>
                <a:lnTo>
                  <a:pt x="340106" y="65531"/>
                </a:lnTo>
                <a:close/>
              </a:path>
              <a:path extrusionOk="0" h="145414" w="360680">
                <a:moveTo>
                  <a:pt x="344043" y="65531"/>
                </a:moveTo>
                <a:lnTo>
                  <a:pt x="340106" y="65531"/>
                </a:lnTo>
                <a:lnTo>
                  <a:pt x="340106" y="79501"/>
                </a:lnTo>
                <a:lnTo>
                  <a:pt x="344043" y="79501"/>
                </a:lnTo>
                <a:lnTo>
                  <a:pt x="344043" y="65531"/>
                </a:lnTo>
                <a:close/>
              </a:path>
              <a:path extrusionOk="0" h="145414" w="360680">
                <a:moveTo>
                  <a:pt x="45339" y="65531"/>
                </a:moveTo>
                <a:lnTo>
                  <a:pt x="20193" y="65531"/>
                </a:lnTo>
                <a:lnTo>
                  <a:pt x="32766" y="72516"/>
                </a:lnTo>
                <a:lnTo>
                  <a:pt x="45339" y="65531"/>
                </a:lnTo>
                <a:close/>
              </a:path>
              <a:path extrusionOk="0" h="145414" w="360680">
                <a:moveTo>
                  <a:pt x="229743" y="0"/>
                </a:moveTo>
                <a:lnTo>
                  <a:pt x="224917" y="1269"/>
                </a:lnTo>
                <a:lnTo>
                  <a:pt x="222757" y="5206"/>
                </a:lnTo>
                <a:lnTo>
                  <a:pt x="220599" y="9016"/>
                </a:lnTo>
                <a:lnTo>
                  <a:pt x="221995" y="13842"/>
                </a:lnTo>
                <a:lnTo>
                  <a:pt x="225806" y="16001"/>
                </a:lnTo>
                <a:lnTo>
                  <a:pt x="327532" y="72516"/>
                </a:lnTo>
                <a:lnTo>
                  <a:pt x="340106" y="65531"/>
                </a:lnTo>
                <a:lnTo>
                  <a:pt x="344043" y="65531"/>
                </a:lnTo>
                <a:lnTo>
                  <a:pt x="344043" y="64515"/>
                </a:lnTo>
                <a:lnTo>
                  <a:pt x="345911" y="64515"/>
                </a:lnTo>
                <a:lnTo>
                  <a:pt x="233552" y="2031"/>
                </a:lnTo>
                <a:lnTo>
                  <a:pt x="229743" y="0"/>
                </a:lnTo>
                <a:close/>
              </a:path>
            </a:pathLst>
          </a:custGeom>
          <a:solidFill>
            <a:srgbClr val="99CC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68" name="Google Shape;1368;p106"/>
          <p:cNvSpPr txBox="1"/>
          <p:nvPr/>
        </p:nvSpPr>
        <p:spPr>
          <a:xfrm>
            <a:off x="5984131" y="2030921"/>
            <a:ext cx="4459868" cy="1482000"/>
          </a:xfrm>
          <a:prstGeom prst="rect">
            <a:avLst/>
          </a:prstGeom>
          <a:noFill/>
          <a:ln>
            <a:noFill/>
          </a:ln>
        </p:spPr>
        <p:txBody>
          <a:bodyPr anchorCtr="0" anchor="t" bIns="0" lIns="0" spcFirstLastPara="1" rIns="0" wrap="square" tIns="55425">
            <a:spAutoFit/>
          </a:bodyPr>
          <a:lstStyle/>
          <a:p>
            <a:pPr indent="0" lvl="0" marL="337832" marR="0" rtl="0" algn="l">
              <a:spcBef>
                <a:spcPts val="0"/>
              </a:spcBef>
              <a:spcAft>
                <a:spcPts val="0"/>
              </a:spcAft>
              <a:buNone/>
            </a:pPr>
            <a:r>
              <a:rPr i="1" lang="ru-RU" sz="2800">
                <a:solidFill>
                  <a:schemeClr val="dk1"/>
                </a:solidFill>
                <a:latin typeface="Times New Roman"/>
                <a:ea typeface="Times New Roman"/>
                <a:cs typeface="Times New Roman"/>
                <a:sym typeface="Times New Roman"/>
              </a:rPr>
              <a:t>D</a:t>
            </a:r>
            <a:r>
              <a:rPr baseline="-25000" i="1" lang="ru-RU" sz="2400">
                <a:solidFill>
                  <a:schemeClr val="dk1"/>
                </a:solidFill>
                <a:latin typeface="Times New Roman"/>
                <a:ea typeface="Times New Roman"/>
                <a:cs typeface="Times New Roman"/>
                <a:sym typeface="Times New Roman"/>
              </a:rPr>
              <a:t>i	</a:t>
            </a:r>
            <a:r>
              <a:rPr lang="ru-RU" sz="2800">
                <a:solidFill>
                  <a:schemeClr val="dk1"/>
                </a:solidFill>
                <a:latin typeface="Noto Sans Symbols"/>
                <a:ea typeface="Noto Sans Symbols"/>
                <a:cs typeface="Noto Sans Symbols"/>
                <a:sym typeface="Noto Sans Symbols"/>
              </a:rPr>
              <a:t>=</a:t>
            </a:r>
            <a:r>
              <a:rPr lang="ru-RU" sz="2800">
                <a:solidFill>
                  <a:schemeClr val="dk1"/>
                </a:solidFill>
                <a:latin typeface="Times New Roman"/>
                <a:ea typeface="Times New Roman"/>
                <a:cs typeface="Times New Roman"/>
                <a:sym typeface="Times New Roman"/>
              </a:rPr>
              <a:t> </a:t>
            </a:r>
            <a:r>
              <a:rPr i="1" lang="ru-RU" sz="2800">
                <a:solidFill>
                  <a:schemeClr val="dk1"/>
                </a:solidFill>
                <a:latin typeface="Times New Roman"/>
                <a:ea typeface="Times New Roman"/>
                <a:cs typeface="Times New Roman"/>
                <a:sym typeface="Times New Roman"/>
              </a:rPr>
              <a:t>X </a:t>
            </a:r>
            <a:r>
              <a:rPr baseline="-25000" i="1" lang="ru-RU" sz="2400">
                <a:solidFill>
                  <a:schemeClr val="dk1"/>
                </a:solidFill>
                <a:latin typeface="Times New Roman"/>
                <a:ea typeface="Times New Roman"/>
                <a:cs typeface="Times New Roman"/>
                <a:sym typeface="Times New Roman"/>
              </a:rPr>
              <a:t>i</a:t>
            </a:r>
            <a:r>
              <a:rPr baseline="-25000" lang="ru-RU" sz="2400">
                <a:solidFill>
                  <a:schemeClr val="dk1"/>
                </a:solidFill>
                <a:latin typeface="Times New Roman"/>
                <a:ea typeface="Times New Roman"/>
                <a:cs typeface="Times New Roman"/>
                <a:sym typeface="Times New Roman"/>
              </a:rPr>
              <a:t>1 </a:t>
            </a:r>
            <a:r>
              <a:rPr lang="ru-RU" sz="2800">
                <a:solidFill>
                  <a:schemeClr val="dk1"/>
                </a:solidFill>
                <a:latin typeface="Noto Sans Symbols"/>
                <a:ea typeface="Noto Sans Symbols"/>
                <a:cs typeface="Noto Sans Symbols"/>
                <a:sym typeface="Noto Sans Symbols"/>
              </a:rPr>
              <a:t>−</a:t>
            </a:r>
            <a:r>
              <a:rPr lang="ru-RU" sz="2800">
                <a:solidFill>
                  <a:schemeClr val="dk1"/>
                </a:solidFill>
                <a:latin typeface="Times New Roman"/>
                <a:ea typeface="Times New Roman"/>
                <a:cs typeface="Times New Roman"/>
                <a:sym typeface="Times New Roman"/>
              </a:rPr>
              <a:t> </a:t>
            </a:r>
            <a:r>
              <a:rPr i="1" lang="ru-RU" sz="2800">
                <a:solidFill>
                  <a:schemeClr val="dk1"/>
                </a:solidFill>
                <a:latin typeface="Times New Roman"/>
                <a:ea typeface="Times New Roman"/>
                <a:cs typeface="Times New Roman"/>
                <a:sym typeface="Times New Roman"/>
              </a:rPr>
              <a:t>X </a:t>
            </a:r>
            <a:r>
              <a:rPr baseline="-25000" i="1" lang="ru-RU" sz="2400">
                <a:solidFill>
                  <a:schemeClr val="dk1"/>
                </a:solidFill>
                <a:latin typeface="Times New Roman"/>
                <a:ea typeface="Times New Roman"/>
                <a:cs typeface="Times New Roman"/>
                <a:sym typeface="Times New Roman"/>
              </a:rPr>
              <a:t>i </a:t>
            </a:r>
            <a:r>
              <a:rPr baseline="-25000" lang="ru-RU" sz="2400">
                <a:solidFill>
                  <a:schemeClr val="dk1"/>
                </a:solidFill>
                <a:latin typeface="Times New Roman"/>
                <a:ea typeface="Times New Roman"/>
                <a:cs typeface="Times New Roman"/>
                <a:sym typeface="Times New Roman"/>
              </a:rPr>
              <a:t>2</a:t>
            </a:r>
            <a:endParaRPr baseline="-25000" sz="2400">
              <a:solidFill>
                <a:schemeClr val="dk1"/>
              </a:solidFill>
              <a:latin typeface="Times New Roman"/>
              <a:ea typeface="Times New Roman"/>
              <a:cs typeface="Times New Roman"/>
              <a:sym typeface="Times New Roman"/>
            </a:endParaRPr>
          </a:p>
          <a:p>
            <a:pPr indent="0" lvl="0" marL="39590" marR="0" rtl="0" algn="l">
              <a:spcBef>
                <a:spcPts val="275"/>
              </a:spcBef>
              <a:spcAft>
                <a:spcPts val="0"/>
              </a:spcAft>
              <a:buNone/>
            </a:pPr>
            <a:r>
              <a:rPr lang="ru-RU" sz="2400">
                <a:solidFill>
                  <a:schemeClr val="dk1"/>
                </a:solidFill>
                <a:latin typeface="Arial"/>
                <a:ea typeface="Arial"/>
                <a:cs typeface="Arial"/>
                <a:sym typeface="Arial"/>
              </a:rPr>
              <a:t>Таких D столько, сколько пар.</a:t>
            </a:r>
            <a:endParaRPr sz="2400">
              <a:solidFill>
                <a:schemeClr val="dk1"/>
              </a:solidFill>
              <a:latin typeface="Arial"/>
              <a:ea typeface="Arial"/>
              <a:cs typeface="Arial"/>
              <a:sym typeface="Arial"/>
            </a:endParaRPr>
          </a:p>
          <a:p>
            <a:pPr indent="0" lvl="0" marL="169576" marR="0" rtl="0" algn="l">
              <a:spcBef>
                <a:spcPts val="1725"/>
              </a:spcBef>
              <a:spcAft>
                <a:spcPts val="0"/>
              </a:spcAft>
              <a:buNone/>
            </a:pPr>
            <a:r>
              <a:rPr lang="ru-RU" sz="2400">
                <a:solidFill>
                  <a:schemeClr val="dk1"/>
                </a:solidFill>
                <a:latin typeface="Arial"/>
                <a:ea typeface="Arial"/>
                <a:cs typeface="Arial"/>
                <a:sym typeface="Arial"/>
              </a:rPr>
              <a:t>У них есть среднее.</a:t>
            </a:r>
            <a:endParaRPr sz="2400">
              <a:solidFill>
                <a:schemeClr val="dk1"/>
              </a:solidFill>
              <a:latin typeface="Arial"/>
              <a:ea typeface="Arial"/>
              <a:cs typeface="Arial"/>
              <a:sym typeface="Arial"/>
            </a:endParaRPr>
          </a:p>
        </p:txBody>
      </p:sp>
      <p:sp>
        <p:nvSpPr>
          <p:cNvPr id="1369" name="Google Shape;1369;p106"/>
          <p:cNvSpPr txBox="1"/>
          <p:nvPr/>
        </p:nvSpPr>
        <p:spPr>
          <a:xfrm>
            <a:off x="5625121" y="4480373"/>
            <a:ext cx="841298" cy="286400"/>
          </a:xfrm>
          <a:prstGeom prst="rect">
            <a:avLst/>
          </a:prstGeom>
          <a:noFill/>
          <a:ln>
            <a:noFill/>
          </a:ln>
        </p:spPr>
        <p:txBody>
          <a:bodyPr anchorCtr="0" anchor="t" bIns="0" lIns="0" spcFirstLastPara="1" rIns="0" wrap="square" tIns="14500">
            <a:spAutoFit/>
          </a:bodyPr>
          <a:lstStyle/>
          <a:p>
            <a:pPr indent="0" lvl="0" marL="13197" marR="0" rtl="0" algn="l">
              <a:spcBef>
                <a:spcPts val="0"/>
              </a:spcBef>
              <a:spcAft>
                <a:spcPts val="0"/>
              </a:spcAft>
              <a:buNone/>
            </a:pPr>
            <a:r>
              <a:rPr lang="ru-RU" sz="1766">
                <a:solidFill>
                  <a:schemeClr val="dk1"/>
                </a:solidFill>
                <a:latin typeface="Times New Roman"/>
                <a:ea typeface="Times New Roman"/>
                <a:cs typeface="Times New Roman"/>
                <a:sym typeface="Times New Roman"/>
              </a:rPr>
              <a:t>1	</a:t>
            </a:r>
            <a:r>
              <a:rPr i="1" lang="ru-RU" sz="1766">
                <a:solidFill>
                  <a:schemeClr val="dk1"/>
                </a:solidFill>
                <a:latin typeface="Times New Roman"/>
                <a:ea typeface="Times New Roman"/>
                <a:cs typeface="Times New Roman"/>
                <a:sym typeface="Times New Roman"/>
              </a:rPr>
              <a:t>D</a:t>
            </a:r>
            <a:endParaRPr sz="1766">
              <a:solidFill>
                <a:schemeClr val="dk1"/>
              </a:solidFill>
              <a:latin typeface="Times New Roman"/>
              <a:ea typeface="Times New Roman"/>
              <a:cs typeface="Times New Roman"/>
              <a:sym typeface="Times New Roman"/>
            </a:endParaRPr>
          </a:p>
        </p:txBody>
      </p:sp>
      <p:sp>
        <p:nvSpPr>
          <p:cNvPr id="1370" name="Google Shape;1370;p106"/>
          <p:cNvSpPr txBox="1"/>
          <p:nvPr/>
        </p:nvSpPr>
        <p:spPr>
          <a:xfrm>
            <a:off x="5321726" y="4195653"/>
            <a:ext cx="1805326" cy="510307"/>
          </a:xfrm>
          <a:prstGeom prst="rect">
            <a:avLst/>
          </a:prstGeom>
          <a:noFill/>
          <a:ln>
            <a:noFill/>
          </a:ln>
        </p:spPr>
        <p:txBody>
          <a:bodyPr anchorCtr="0" anchor="t" bIns="0" lIns="0" spcFirstLastPara="1" rIns="0" wrap="square" tIns="14500">
            <a:spAutoFit/>
          </a:bodyPr>
          <a:lstStyle/>
          <a:p>
            <a:pPr indent="0" lvl="0" marL="13197" marR="0" rtl="0" algn="l">
              <a:spcBef>
                <a:spcPts val="0"/>
              </a:spcBef>
              <a:spcAft>
                <a:spcPts val="0"/>
              </a:spcAft>
              <a:buNone/>
            </a:pPr>
            <a:r>
              <a:rPr i="1" lang="ru-RU" sz="3013">
                <a:solidFill>
                  <a:schemeClr val="dk1"/>
                </a:solidFill>
                <a:latin typeface="Times New Roman"/>
                <a:ea typeface="Times New Roman"/>
                <a:cs typeface="Times New Roman"/>
                <a:sym typeface="Times New Roman"/>
              </a:rPr>
              <a:t>H	</a:t>
            </a:r>
            <a:r>
              <a:rPr lang="ru-RU" sz="3013">
                <a:solidFill>
                  <a:schemeClr val="dk1"/>
                </a:solidFill>
                <a:latin typeface="Times New Roman"/>
                <a:ea typeface="Times New Roman"/>
                <a:cs typeface="Times New Roman"/>
                <a:sym typeface="Times New Roman"/>
              </a:rPr>
              <a:t>: </a:t>
            </a:r>
            <a:r>
              <a:rPr i="1" lang="ru-RU" sz="3221">
                <a:solidFill>
                  <a:schemeClr val="dk1"/>
                </a:solidFill>
                <a:latin typeface="Noto Sans Symbols"/>
                <a:ea typeface="Noto Sans Symbols"/>
                <a:cs typeface="Noto Sans Symbols"/>
                <a:sym typeface="Noto Sans Symbols"/>
              </a:rPr>
              <a:t>μ</a:t>
            </a:r>
            <a:r>
              <a:rPr lang="ru-RU" sz="3221">
                <a:solidFill>
                  <a:schemeClr val="dk1"/>
                </a:solidFill>
                <a:latin typeface="Times New Roman"/>
                <a:ea typeface="Times New Roman"/>
                <a:cs typeface="Times New Roman"/>
                <a:sym typeface="Times New Roman"/>
              </a:rPr>
              <a:t>	</a:t>
            </a:r>
            <a:r>
              <a:rPr lang="ru-RU" sz="3013">
                <a:solidFill>
                  <a:schemeClr val="dk1"/>
                </a:solidFill>
                <a:latin typeface="Noto Sans Symbols"/>
                <a:ea typeface="Noto Sans Symbols"/>
                <a:cs typeface="Noto Sans Symbols"/>
                <a:sym typeface="Noto Sans Symbols"/>
              </a:rPr>
              <a:t>≠</a:t>
            </a:r>
            <a:r>
              <a:rPr lang="ru-RU" sz="3013">
                <a:solidFill>
                  <a:schemeClr val="dk1"/>
                </a:solidFill>
                <a:latin typeface="Times New Roman"/>
                <a:ea typeface="Times New Roman"/>
                <a:cs typeface="Times New Roman"/>
                <a:sym typeface="Times New Roman"/>
              </a:rPr>
              <a:t> 0</a:t>
            </a:r>
            <a:endParaRPr sz="3013">
              <a:solidFill>
                <a:schemeClr val="dk1"/>
              </a:solidFill>
              <a:latin typeface="Times New Roman"/>
              <a:ea typeface="Times New Roman"/>
              <a:cs typeface="Times New Roman"/>
              <a:sym typeface="Times New Roman"/>
            </a:endParaRPr>
          </a:p>
        </p:txBody>
      </p:sp>
      <p:sp>
        <p:nvSpPr>
          <p:cNvPr id="1371" name="Google Shape;1371;p106"/>
          <p:cNvSpPr txBox="1"/>
          <p:nvPr/>
        </p:nvSpPr>
        <p:spPr>
          <a:xfrm>
            <a:off x="2084260" y="5466574"/>
            <a:ext cx="1779592" cy="397149"/>
          </a:xfrm>
          <a:prstGeom prst="rect">
            <a:avLst/>
          </a:prstGeom>
          <a:noFill/>
          <a:ln>
            <a:noFill/>
          </a:ln>
        </p:spPr>
        <p:txBody>
          <a:bodyPr anchorCtr="0" anchor="t" bIns="0" lIns="0" spcFirstLastPara="1" rIns="0" wrap="square" tIns="13175">
            <a:spAutoFit/>
          </a:bodyPr>
          <a:lstStyle/>
          <a:p>
            <a:pPr indent="0" lvl="0" marL="13197" marR="0" rtl="0" algn="l">
              <a:spcBef>
                <a:spcPts val="0"/>
              </a:spcBef>
              <a:spcAft>
                <a:spcPts val="0"/>
              </a:spcAft>
              <a:buNone/>
            </a:pPr>
            <a:r>
              <a:rPr lang="ru-RU" sz="2494">
                <a:solidFill>
                  <a:schemeClr val="dk1"/>
                </a:solidFill>
                <a:latin typeface="Arial"/>
                <a:ea typeface="Arial"/>
                <a:cs typeface="Arial"/>
                <a:sym typeface="Arial"/>
              </a:rPr>
              <a:t>Статистика:</a:t>
            </a:r>
            <a:endParaRPr sz="2494">
              <a:solidFill>
                <a:schemeClr val="dk1"/>
              </a:solidFill>
              <a:latin typeface="Arial"/>
              <a:ea typeface="Arial"/>
              <a:cs typeface="Arial"/>
              <a:sym typeface="Arial"/>
            </a:endParaRPr>
          </a:p>
        </p:txBody>
      </p:sp>
      <p:grpSp>
        <p:nvGrpSpPr>
          <p:cNvPr id="1372" name="Google Shape;1372;p106"/>
          <p:cNvGrpSpPr/>
          <p:nvPr/>
        </p:nvGrpSpPr>
        <p:grpSpPr>
          <a:xfrm>
            <a:off x="4352421" y="4891522"/>
            <a:ext cx="6505302" cy="1285879"/>
            <a:chOff x="3157033" y="4891521"/>
            <a:chExt cx="6505302" cy="1285879"/>
          </a:xfrm>
        </p:grpSpPr>
        <p:sp>
          <p:nvSpPr>
            <p:cNvPr id="1373" name="Google Shape;1373;p106"/>
            <p:cNvSpPr/>
            <p:nvPr/>
          </p:nvSpPr>
          <p:spPr>
            <a:xfrm>
              <a:off x="3848099" y="5148381"/>
              <a:ext cx="294289" cy="0"/>
            </a:xfrm>
            <a:custGeom>
              <a:rect b="b" l="l" r="r" t="t"/>
              <a:pathLst>
                <a:path extrusionOk="0" h="120000" w="283210">
                  <a:moveTo>
                    <a:pt x="0" y="0"/>
                  </a:moveTo>
                  <a:lnTo>
                    <a:pt x="283163" y="0"/>
                  </a:lnTo>
                </a:path>
              </a:pathLst>
            </a:custGeom>
            <a:noFill/>
            <a:ln cap="flat" cmpd="sng" w="165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4" name="Google Shape;1374;p106"/>
            <p:cNvSpPr/>
            <p:nvPr/>
          </p:nvSpPr>
          <p:spPr>
            <a:xfrm>
              <a:off x="4343953" y="5867150"/>
              <a:ext cx="171559" cy="0"/>
            </a:xfrm>
            <a:custGeom>
              <a:rect b="b" l="l" r="r" t="t"/>
              <a:pathLst>
                <a:path extrusionOk="0" h="120000" w="165100">
                  <a:moveTo>
                    <a:pt x="0" y="0"/>
                  </a:moveTo>
                  <a:lnTo>
                    <a:pt x="16510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5" name="Google Shape;1375;p106"/>
            <p:cNvSpPr/>
            <p:nvPr/>
          </p:nvSpPr>
          <p:spPr>
            <a:xfrm>
              <a:off x="3779314" y="5651041"/>
              <a:ext cx="1299228" cy="0"/>
            </a:xfrm>
            <a:custGeom>
              <a:rect b="b" l="l" r="r" t="t"/>
              <a:pathLst>
                <a:path extrusionOk="0" h="120000" w="1250314">
                  <a:moveTo>
                    <a:pt x="0" y="0"/>
                  </a:moveTo>
                  <a:lnTo>
                    <a:pt x="1249903" y="0"/>
                  </a:lnTo>
                </a:path>
              </a:pathLst>
            </a:custGeom>
            <a:noFill/>
            <a:ln cap="flat" cmpd="sng" w="165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6" name="Google Shape;1376;p106"/>
            <p:cNvSpPr txBox="1"/>
            <p:nvPr/>
          </p:nvSpPr>
          <p:spPr>
            <a:xfrm>
              <a:off x="4176523" y="5664961"/>
              <a:ext cx="430876" cy="381991"/>
            </a:xfrm>
            <a:prstGeom prst="rect">
              <a:avLst/>
            </a:prstGeom>
            <a:noFill/>
            <a:ln>
              <a:noFill/>
            </a:ln>
          </p:spPr>
          <p:txBody>
            <a:bodyPr anchorCtr="0" anchor="t" bIns="0" lIns="0" spcFirstLastPara="1" rIns="0" wrap="square" tIns="12525">
              <a:spAutoFit/>
            </a:bodyPr>
            <a:lstStyle/>
            <a:p>
              <a:pPr indent="0" lvl="0" marL="39590" marR="0" rtl="0" algn="l">
                <a:spcBef>
                  <a:spcPts val="0"/>
                </a:spcBef>
                <a:spcAft>
                  <a:spcPts val="0"/>
                </a:spcAft>
                <a:buNone/>
              </a:pPr>
              <a:r>
                <a:rPr i="1" lang="ru-RU" sz="2400">
                  <a:solidFill>
                    <a:schemeClr val="dk1"/>
                  </a:solidFill>
                  <a:latin typeface="Times New Roman"/>
                  <a:ea typeface="Times New Roman"/>
                  <a:cs typeface="Times New Roman"/>
                  <a:sym typeface="Times New Roman"/>
                </a:rPr>
                <a:t>s</a:t>
              </a:r>
              <a:r>
                <a:rPr baseline="-25000" i="1" lang="ru-RU" sz="2000">
                  <a:solidFill>
                    <a:schemeClr val="dk1"/>
                  </a:solidFill>
                  <a:latin typeface="Times New Roman"/>
                  <a:ea typeface="Times New Roman"/>
                  <a:cs typeface="Times New Roman"/>
                  <a:sym typeface="Times New Roman"/>
                </a:rPr>
                <a:t>D</a:t>
              </a:r>
              <a:endParaRPr baseline="-25000" sz="2000">
                <a:solidFill>
                  <a:schemeClr val="dk1"/>
                </a:solidFill>
                <a:latin typeface="Times New Roman"/>
                <a:ea typeface="Times New Roman"/>
                <a:cs typeface="Times New Roman"/>
                <a:sym typeface="Times New Roman"/>
              </a:endParaRPr>
            </a:p>
          </p:txBody>
        </p:sp>
        <p:sp>
          <p:nvSpPr>
            <p:cNvPr id="1377" name="Google Shape;1377;p106"/>
            <p:cNvSpPr txBox="1"/>
            <p:nvPr/>
          </p:nvSpPr>
          <p:spPr>
            <a:xfrm>
              <a:off x="3157033" y="5062721"/>
              <a:ext cx="1874610" cy="445546"/>
            </a:xfrm>
            <a:prstGeom prst="rect">
              <a:avLst/>
            </a:prstGeom>
            <a:noFill/>
            <a:ln>
              <a:noFill/>
            </a:ln>
          </p:spPr>
          <p:txBody>
            <a:bodyPr anchorCtr="0" anchor="t" bIns="0" lIns="0" spcFirstLastPara="1" rIns="0" wrap="square" tIns="14500">
              <a:spAutoFit/>
            </a:bodyPr>
            <a:lstStyle/>
            <a:p>
              <a:pPr indent="0" lvl="0" marL="39590" marR="0" rtl="0" algn="l">
                <a:spcBef>
                  <a:spcPts val="0"/>
                </a:spcBef>
                <a:spcAft>
                  <a:spcPts val="0"/>
                </a:spcAft>
                <a:buNone/>
              </a:pPr>
              <a:r>
                <a:rPr baseline="-25000" i="1" lang="ru-RU" sz="4000">
                  <a:solidFill>
                    <a:schemeClr val="dk1"/>
                  </a:solidFill>
                  <a:latin typeface="Times New Roman"/>
                  <a:ea typeface="Times New Roman"/>
                  <a:cs typeface="Times New Roman"/>
                  <a:sym typeface="Times New Roman"/>
                </a:rPr>
                <a:t>t </a:t>
              </a:r>
              <a:r>
                <a:rPr baseline="-25000" lang="ru-RU" sz="4000">
                  <a:solidFill>
                    <a:schemeClr val="dk1"/>
                  </a:solidFill>
                  <a:latin typeface="Noto Sans Symbols"/>
                  <a:ea typeface="Noto Sans Symbols"/>
                  <a:cs typeface="Noto Sans Symbols"/>
                  <a:sym typeface="Noto Sans Symbols"/>
                </a:rPr>
                <a:t>=</a:t>
              </a:r>
              <a:r>
                <a:rPr baseline="-25000" lang="ru-RU" sz="4000">
                  <a:solidFill>
                    <a:schemeClr val="dk1"/>
                  </a:solidFill>
                  <a:latin typeface="Times New Roman"/>
                  <a:ea typeface="Times New Roman"/>
                  <a:cs typeface="Times New Roman"/>
                  <a:sym typeface="Times New Roman"/>
                </a:rPr>
                <a:t>	</a:t>
              </a:r>
              <a:r>
                <a:rPr i="1" lang="ru-RU" sz="2400">
                  <a:solidFill>
                    <a:schemeClr val="dk1"/>
                  </a:solidFill>
                  <a:latin typeface="Times New Roman"/>
                  <a:ea typeface="Times New Roman"/>
                  <a:cs typeface="Times New Roman"/>
                  <a:sym typeface="Times New Roman"/>
                </a:rPr>
                <a:t>D </a:t>
              </a:r>
              <a:r>
                <a:rPr lang="ru-RU" sz="2400">
                  <a:solidFill>
                    <a:schemeClr val="dk1"/>
                  </a:solidFill>
                  <a:latin typeface="Noto Sans Symbols"/>
                  <a:ea typeface="Noto Sans Symbols"/>
                  <a:cs typeface="Noto Sans Symbols"/>
                  <a:sym typeface="Noto Sans Symbols"/>
                </a:rPr>
                <a:t>−</a:t>
              </a:r>
              <a:r>
                <a:rPr lang="ru-RU" sz="2400">
                  <a:solidFill>
                    <a:schemeClr val="dk1"/>
                  </a:solidFill>
                  <a:latin typeface="Times New Roman"/>
                  <a:ea typeface="Times New Roman"/>
                  <a:cs typeface="Times New Roman"/>
                  <a:sym typeface="Times New Roman"/>
                </a:rPr>
                <a:t> </a:t>
              </a:r>
              <a:r>
                <a:rPr i="1" lang="ru-RU" sz="2800">
                  <a:solidFill>
                    <a:schemeClr val="dk1"/>
                  </a:solidFill>
                  <a:latin typeface="Noto Sans Symbols"/>
                  <a:ea typeface="Noto Sans Symbols"/>
                  <a:cs typeface="Noto Sans Symbols"/>
                  <a:sym typeface="Noto Sans Symbols"/>
                </a:rPr>
                <a:t>μ</a:t>
              </a:r>
              <a:r>
                <a:rPr i="1" lang="ru-RU" sz="2800">
                  <a:solidFill>
                    <a:schemeClr val="dk1"/>
                  </a:solidFill>
                  <a:latin typeface="Times New Roman"/>
                  <a:ea typeface="Times New Roman"/>
                  <a:cs typeface="Times New Roman"/>
                  <a:sym typeface="Times New Roman"/>
                </a:rPr>
                <a:t> </a:t>
              </a:r>
              <a:r>
                <a:rPr baseline="-25000" i="1" lang="ru-RU" sz="2000">
                  <a:solidFill>
                    <a:schemeClr val="dk1"/>
                  </a:solidFill>
                  <a:latin typeface="Times New Roman"/>
                  <a:ea typeface="Times New Roman"/>
                  <a:cs typeface="Times New Roman"/>
                  <a:sym typeface="Times New Roman"/>
                </a:rPr>
                <a:t>D</a:t>
              </a:r>
              <a:endParaRPr baseline="-25000" sz="2000">
                <a:solidFill>
                  <a:schemeClr val="dk1"/>
                </a:solidFill>
                <a:latin typeface="Times New Roman"/>
                <a:ea typeface="Times New Roman"/>
                <a:cs typeface="Times New Roman"/>
                <a:sym typeface="Times New Roman"/>
              </a:endParaRPr>
            </a:p>
          </p:txBody>
        </p:sp>
        <p:sp>
          <p:nvSpPr>
            <p:cNvPr id="1378" name="Google Shape;1378;p106"/>
            <p:cNvSpPr/>
            <p:nvPr/>
          </p:nvSpPr>
          <p:spPr>
            <a:xfrm>
              <a:off x="5391049" y="5604084"/>
              <a:ext cx="450672" cy="79181"/>
            </a:xfrm>
            <a:custGeom>
              <a:rect b="b" l="l" r="r" t="t"/>
              <a:pathLst>
                <a:path extrusionOk="0" h="76200" w="433704">
                  <a:moveTo>
                    <a:pt x="357250" y="0"/>
                  </a:moveTo>
                  <a:lnTo>
                    <a:pt x="357250" y="76200"/>
                  </a:lnTo>
                  <a:lnTo>
                    <a:pt x="420750" y="44450"/>
                  </a:lnTo>
                  <a:lnTo>
                    <a:pt x="369950" y="44450"/>
                  </a:lnTo>
                  <a:lnTo>
                    <a:pt x="369950" y="31750"/>
                  </a:lnTo>
                  <a:lnTo>
                    <a:pt x="420750" y="31750"/>
                  </a:lnTo>
                  <a:lnTo>
                    <a:pt x="357250" y="0"/>
                  </a:lnTo>
                  <a:close/>
                </a:path>
                <a:path extrusionOk="0" h="76200" w="433704">
                  <a:moveTo>
                    <a:pt x="357250" y="31750"/>
                  </a:moveTo>
                  <a:lnTo>
                    <a:pt x="0" y="31750"/>
                  </a:lnTo>
                  <a:lnTo>
                    <a:pt x="0" y="44450"/>
                  </a:lnTo>
                  <a:lnTo>
                    <a:pt x="357250" y="44450"/>
                  </a:lnTo>
                  <a:lnTo>
                    <a:pt x="357250" y="31750"/>
                  </a:lnTo>
                  <a:close/>
                </a:path>
                <a:path extrusionOk="0" h="76200" w="433704">
                  <a:moveTo>
                    <a:pt x="420750" y="31750"/>
                  </a:moveTo>
                  <a:lnTo>
                    <a:pt x="369950" y="31750"/>
                  </a:lnTo>
                  <a:lnTo>
                    <a:pt x="369950" y="44450"/>
                  </a:lnTo>
                  <a:lnTo>
                    <a:pt x="420750" y="44450"/>
                  </a:lnTo>
                  <a:lnTo>
                    <a:pt x="433450" y="38100"/>
                  </a:lnTo>
                  <a:lnTo>
                    <a:pt x="420750" y="3175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9" name="Google Shape;1379;p106"/>
            <p:cNvSpPr/>
            <p:nvPr/>
          </p:nvSpPr>
          <p:spPr>
            <a:xfrm>
              <a:off x="7014605" y="5142544"/>
              <a:ext cx="377429" cy="0"/>
            </a:xfrm>
            <a:custGeom>
              <a:rect b="b" l="l" r="r" t="t"/>
              <a:pathLst>
                <a:path extrusionOk="0" h="120000" w="363220">
                  <a:moveTo>
                    <a:pt x="0" y="0"/>
                  </a:moveTo>
                  <a:lnTo>
                    <a:pt x="362625" y="0"/>
                  </a:lnTo>
                </a:path>
              </a:pathLst>
            </a:custGeom>
            <a:noFill/>
            <a:ln cap="flat" cmpd="sng" w="21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0" name="Google Shape;1380;p106"/>
            <p:cNvSpPr/>
            <p:nvPr/>
          </p:nvSpPr>
          <p:spPr>
            <a:xfrm>
              <a:off x="7203320" y="5938644"/>
              <a:ext cx="165580" cy="0"/>
            </a:xfrm>
            <a:custGeom>
              <a:rect b="b" l="l" r="r" t="t"/>
              <a:pathLst>
                <a:path extrusionOk="0" h="120000" w="212090">
                  <a:moveTo>
                    <a:pt x="0" y="0"/>
                  </a:moveTo>
                  <a:lnTo>
                    <a:pt x="211472" y="0"/>
                  </a:lnTo>
                </a:path>
              </a:pathLst>
            </a:custGeom>
            <a:noFill/>
            <a:ln cap="flat" cmpd="sng" w="12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1" name="Google Shape;1381;p106"/>
            <p:cNvSpPr/>
            <p:nvPr/>
          </p:nvSpPr>
          <p:spPr>
            <a:xfrm>
              <a:off x="6947714" y="5639107"/>
              <a:ext cx="630808" cy="0"/>
            </a:xfrm>
            <a:custGeom>
              <a:rect b="b" l="l" r="r" t="t"/>
              <a:pathLst>
                <a:path extrusionOk="0" h="120000" w="607059">
                  <a:moveTo>
                    <a:pt x="0" y="0"/>
                  </a:moveTo>
                  <a:lnTo>
                    <a:pt x="606786" y="0"/>
                  </a:lnTo>
                </a:path>
              </a:pathLst>
            </a:custGeom>
            <a:noFill/>
            <a:ln cap="flat" cmpd="sng" w="21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2" name="Google Shape;1382;p106"/>
            <p:cNvSpPr txBox="1"/>
            <p:nvPr/>
          </p:nvSpPr>
          <p:spPr>
            <a:xfrm>
              <a:off x="6135086" y="4891521"/>
              <a:ext cx="1549308" cy="1285879"/>
            </a:xfrm>
            <a:prstGeom prst="rect">
              <a:avLst/>
            </a:prstGeom>
            <a:noFill/>
            <a:ln cap="flat" cmpd="sng" w="9525">
              <a:solidFill>
                <a:srgbClr val="FF6600"/>
              </a:solidFill>
              <a:prstDash val="solid"/>
              <a:round/>
              <a:headEnd len="sm" w="sm" type="none"/>
              <a:tailEnd len="sm" w="sm" type="none"/>
            </a:ln>
          </p:spPr>
          <p:txBody>
            <a:bodyPr anchorCtr="0" anchor="t" bIns="0" lIns="0" spcFirstLastPara="1" rIns="0" wrap="square" tIns="568775">
              <a:spAutoFit/>
            </a:bodyPr>
            <a:lstStyle/>
            <a:p>
              <a:pPr indent="-789155" lvl="0" marL="855797" marR="232918" rtl="0" algn="l">
                <a:lnSpc>
                  <a:spcPct val="68100"/>
                </a:lnSpc>
                <a:spcBef>
                  <a:spcPts val="0"/>
                </a:spcBef>
                <a:spcAft>
                  <a:spcPts val="0"/>
                </a:spcAft>
                <a:buNone/>
              </a:pPr>
              <a:r>
                <a:rPr i="1" lang="ru-RU" sz="3200">
                  <a:solidFill>
                    <a:schemeClr val="dk1"/>
                  </a:solidFill>
                  <a:latin typeface="Times New Roman"/>
                  <a:ea typeface="Times New Roman"/>
                  <a:cs typeface="Times New Roman"/>
                  <a:sym typeface="Times New Roman"/>
                </a:rPr>
                <a:t>t </a:t>
              </a:r>
              <a:r>
                <a:rPr lang="ru-RU" sz="3200">
                  <a:solidFill>
                    <a:schemeClr val="dk1"/>
                  </a:solidFill>
                  <a:latin typeface="Noto Sans Symbols"/>
                  <a:ea typeface="Noto Sans Symbols"/>
                  <a:cs typeface="Noto Sans Symbols"/>
                  <a:sym typeface="Noto Sans Symbols"/>
                </a:rPr>
                <a:t>=</a:t>
              </a:r>
              <a:r>
                <a:rPr lang="ru-RU" sz="3200">
                  <a:solidFill>
                    <a:schemeClr val="dk1"/>
                  </a:solidFill>
                  <a:latin typeface="Times New Roman"/>
                  <a:ea typeface="Times New Roman"/>
                  <a:cs typeface="Times New Roman"/>
                  <a:sym typeface="Times New Roman"/>
                </a:rPr>
                <a:t>		</a:t>
              </a:r>
              <a:r>
                <a:rPr baseline="30000" i="1" lang="ru-RU" sz="4800">
                  <a:solidFill>
                    <a:schemeClr val="dk1"/>
                  </a:solidFill>
                  <a:latin typeface="Times New Roman"/>
                  <a:ea typeface="Times New Roman"/>
                  <a:cs typeface="Times New Roman"/>
                  <a:sym typeface="Times New Roman"/>
                </a:rPr>
                <a:t>D  </a:t>
              </a:r>
              <a:r>
                <a:rPr i="1" lang="ru-RU" sz="3200">
                  <a:solidFill>
                    <a:schemeClr val="dk1"/>
                  </a:solidFill>
                  <a:latin typeface="Times New Roman"/>
                  <a:ea typeface="Times New Roman"/>
                  <a:cs typeface="Times New Roman"/>
                  <a:sym typeface="Times New Roman"/>
                </a:rPr>
                <a:t>s</a:t>
              </a:r>
              <a:r>
                <a:rPr baseline="-25000" i="1" lang="ru-RU" sz="2800">
                  <a:solidFill>
                    <a:schemeClr val="dk1"/>
                  </a:solidFill>
                  <a:latin typeface="Times New Roman"/>
                  <a:ea typeface="Times New Roman"/>
                  <a:cs typeface="Times New Roman"/>
                  <a:sym typeface="Times New Roman"/>
                </a:rPr>
                <a:t>D</a:t>
              </a:r>
              <a:endParaRPr baseline="-25000" sz="2800">
                <a:solidFill>
                  <a:schemeClr val="dk1"/>
                </a:solidFill>
                <a:latin typeface="Times New Roman"/>
                <a:ea typeface="Times New Roman"/>
                <a:cs typeface="Times New Roman"/>
                <a:sym typeface="Times New Roman"/>
              </a:endParaRPr>
            </a:p>
          </p:txBody>
        </p:sp>
        <p:sp>
          <p:nvSpPr>
            <p:cNvPr id="1383" name="Google Shape;1383;p106"/>
            <p:cNvSpPr txBox="1"/>
            <p:nvPr/>
          </p:nvSpPr>
          <p:spPr>
            <a:xfrm>
              <a:off x="8155917" y="5340082"/>
              <a:ext cx="1506418" cy="357277"/>
            </a:xfrm>
            <a:prstGeom prst="rect">
              <a:avLst/>
            </a:prstGeom>
            <a:noFill/>
            <a:ln cap="flat" cmpd="sng" w="9525">
              <a:solidFill>
                <a:srgbClr val="3A812E"/>
              </a:solidFill>
              <a:prstDash val="solid"/>
              <a:round/>
              <a:headEnd len="sm" w="sm" type="none"/>
              <a:tailEnd len="sm" w="sm" type="none"/>
            </a:ln>
          </p:spPr>
          <p:txBody>
            <a:bodyPr anchorCtr="0" anchor="t" bIns="0" lIns="0" spcFirstLastPara="1" rIns="0" wrap="square" tIns="0">
              <a:spAutoFit/>
            </a:bodyPr>
            <a:lstStyle/>
            <a:p>
              <a:pPr indent="0" lvl="0" marL="58725" marR="0" rtl="0" algn="l">
                <a:lnSpc>
                  <a:spcPct val="156400"/>
                </a:lnSpc>
                <a:spcBef>
                  <a:spcPts val="0"/>
                </a:spcBef>
                <a:spcAft>
                  <a:spcPts val="0"/>
                </a:spcAft>
                <a:buNone/>
              </a:pPr>
              <a:r>
                <a:rPr i="1" lang="ru-RU" sz="2000">
                  <a:solidFill>
                    <a:schemeClr val="dk1"/>
                  </a:solidFill>
                  <a:latin typeface="Times New Roman"/>
                  <a:ea typeface="Times New Roman"/>
                  <a:cs typeface="Times New Roman"/>
                  <a:sym typeface="Times New Roman"/>
                </a:rPr>
                <a:t>df	</a:t>
              </a:r>
              <a:r>
                <a:rPr lang="ru-RU" sz="2000">
                  <a:solidFill>
                    <a:schemeClr val="dk1"/>
                  </a:solidFill>
                  <a:latin typeface="Noto Sans Symbols"/>
                  <a:ea typeface="Noto Sans Symbols"/>
                  <a:cs typeface="Noto Sans Symbols"/>
                  <a:sym typeface="Noto Sans Symbols"/>
                </a:rPr>
                <a:t>=</a:t>
              </a:r>
              <a:r>
                <a:rPr lang="ru-RU" sz="2000">
                  <a:solidFill>
                    <a:schemeClr val="dk1"/>
                  </a:solidFill>
                  <a:latin typeface="Times New Roman"/>
                  <a:ea typeface="Times New Roman"/>
                  <a:cs typeface="Times New Roman"/>
                  <a:sym typeface="Times New Roman"/>
                </a:rPr>
                <a:t> </a:t>
              </a:r>
              <a:r>
                <a:rPr i="1" lang="ru-RU" sz="2000">
                  <a:solidFill>
                    <a:schemeClr val="dk1"/>
                  </a:solidFill>
                  <a:latin typeface="Times New Roman"/>
                  <a:ea typeface="Times New Roman"/>
                  <a:cs typeface="Times New Roman"/>
                  <a:sym typeface="Times New Roman"/>
                </a:rPr>
                <a:t>n </a:t>
              </a:r>
              <a:r>
                <a:rPr lang="ru-RU" sz="2000">
                  <a:solidFill>
                    <a:schemeClr val="dk1"/>
                  </a:solidFill>
                  <a:latin typeface="Noto Sans Symbols"/>
                  <a:ea typeface="Noto Sans Symbols"/>
                  <a:cs typeface="Noto Sans Symbols"/>
                  <a:sym typeface="Noto Sans Symbols"/>
                </a:rPr>
                <a:t>−</a:t>
              </a:r>
              <a:r>
                <a:rPr lang="ru-RU" sz="2000">
                  <a:solidFill>
                    <a:schemeClr val="dk1"/>
                  </a:solidFill>
                  <a:latin typeface="Times New Roman"/>
                  <a:ea typeface="Times New Roman"/>
                  <a:cs typeface="Times New Roman"/>
                  <a:sym typeface="Times New Roman"/>
                </a:rPr>
                <a:t> 1</a:t>
              </a:r>
              <a:endParaRPr sz="2000">
                <a:solidFill>
                  <a:schemeClr val="dk1"/>
                </a:solidFill>
                <a:latin typeface="Times New Roman"/>
                <a:ea typeface="Times New Roman"/>
                <a:cs typeface="Times New Roman"/>
                <a:sym typeface="Times New Roman"/>
              </a:endParaRPr>
            </a:p>
          </p:txBody>
        </p:sp>
      </p:grpSp>
      <p:sp>
        <p:nvSpPr>
          <p:cNvPr id="1384" name="Google Shape;1384;p106"/>
          <p:cNvSpPr txBox="1"/>
          <p:nvPr/>
        </p:nvSpPr>
        <p:spPr>
          <a:xfrm>
            <a:off x="2705323" y="6404091"/>
            <a:ext cx="6680895" cy="364422"/>
          </a:xfrm>
          <a:prstGeom prst="rect">
            <a:avLst/>
          </a:prstGeom>
          <a:noFill/>
          <a:ln>
            <a:noFill/>
          </a:ln>
        </p:spPr>
        <p:txBody>
          <a:bodyPr anchorCtr="0" anchor="t" bIns="0" lIns="0" spcFirstLastPara="1" rIns="0" wrap="square" tIns="12525">
            <a:spAutoFit/>
          </a:bodyPr>
          <a:lstStyle/>
          <a:p>
            <a:pPr indent="0" lvl="0" marL="13197" marR="0" rtl="0" algn="l">
              <a:spcBef>
                <a:spcPts val="0"/>
              </a:spcBef>
              <a:spcAft>
                <a:spcPts val="0"/>
              </a:spcAft>
              <a:buNone/>
            </a:pPr>
            <a:r>
              <a:rPr lang="ru-RU" sz="2286">
                <a:solidFill>
                  <a:schemeClr val="dk1"/>
                </a:solidFill>
                <a:latin typeface="Arial"/>
                <a:ea typeface="Arial"/>
                <a:cs typeface="Arial"/>
                <a:sym typeface="Arial"/>
              </a:rPr>
              <a:t>Тест может быть односторонним и двусторонним</a:t>
            </a:r>
            <a:endParaRPr sz="2286">
              <a:solidFill>
                <a:schemeClr val="dk1"/>
              </a:solidFill>
              <a:latin typeface="Arial"/>
              <a:ea typeface="Arial"/>
              <a:cs typeface="Arial"/>
              <a:sym typeface="Arial"/>
            </a:endParaRPr>
          </a:p>
        </p:txBody>
      </p:sp>
      <p:sp>
        <p:nvSpPr>
          <p:cNvPr id="1385" name="Google Shape;1385;p106"/>
          <p:cNvSpPr txBox="1"/>
          <p:nvPr/>
        </p:nvSpPr>
        <p:spPr>
          <a:xfrm>
            <a:off x="7585509" y="3730660"/>
            <a:ext cx="4293232" cy="656196"/>
          </a:xfrm>
          <a:prstGeom prst="rect">
            <a:avLst/>
          </a:prstGeom>
          <a:noFill/>
          <a:ln cap="flat" cmpd="sng" w="9525">
            <a:solidFill>
              <a:srgbClr val="CC0000"/>
            </a:solidFill>
            <a:prstDash val="solid"/>
            <a:round/>
            <a:headEnd len="sm" w="sm" type="none"/>
            <a:tailEnd len="sm" w="sm" type="none"/>
          </a:ln>
        </p:spPr>
        <p:txBody>
          <a:bodyPr anchorCtr="0" anchor="t" bIns="0" lIns="0" spcFirstLastPara="1" rIns="0" wrap="square" tIns="40250">
            <a:spAutoFit/>
          </a:bodyPr>
          <a:lstStyle/>
          <a:p>
            <a:pPr indent="0" lvl="0" marL="95675" marR="172875" rtl="0" algn="l">
              <a:spcBef>
                <a:spcPts val="0"/>
              </a:spcBef>
              <a:spcAft>
                <a:spcPts val="0"/>
              </a:spcAft>
              <a:buNone/>
            </a:pPr>
            <a:r>
              <a:rPr lang="ru-RU" sz="2000">
                <a:solidFill>
                  <a:schemeClr val="dk1"/>
                </a:solidFill>
                <a:latin typeface="Arial"/>
                <a:ea typeface="Arial"/>
                <a:cs typeface="Arial"/>
                <a:sym typeface="Arial"/>
              </a:rPr>
              <a:t>Идентично  </a:t>
            </a:r>
            <a:r>
              <a:rPr b="1" lang="ru-RU" sz="2000">
                <a:solidFill>
                  <a:schemeClr val="dk1"/>
                </a:solidFill>
                <a:latin typeface="Arial"/>
                <a:ea typeface="Arial"/>
                <a:cs typeface="Arial"/>
                <a:sym typeface="Arial"/>
              </a:rPr>
              <a:t>одновыборочному  t-критерию!</a:t>
            </a:r>
            <a:endParaRPr sz="2000">
              <a:solidFill>
                <a:schemeClr val="dk1"/>
              </a:solidFill>
              <a:latin typeface="Arial"/>
              <a:ea typeface="Arial"/>
              <a:cs typeface="Arial"/>
              <a:sym typeface="Arial"/>
            </a:endParaRPr>
          </a:p>
        </p:txBody>
      </p:sp>
      <p:sp>
        <p:nvSpPr>
          <p:cNvPr id="1386" name="Google Shape;1386;p106"/>
          <p:cNvSpPr txBox="1"/>
          <p:nvPr/>
        </p:nvSpPr>
        <p:spPr>
          <a:xfrm>
            <a:off x="1926347" y="1468800"/>
            <a:ext cx="8931376" cy="360280"/>
          </a:xfrm>
          <a:prstGeom prst="rect">
            <a:avLst/>
          </a:prstGeom>
          <a:noFill/>
          <a:ln>
            <a:noFill/>
          </a:ln>
        </p:spPr>
        <p:txBody>
          <a:bodyPr anchorCtr="0" anchor="t" bIns="0" lIns="0" spcFirstLastPara="1" rIns="0" wrap="square" tIns="13175">
            <a:spAutoFit/>
          </a:bodyPr>
          <a:lstStyle/>
          <a:p>
            <a:pPr indent="0" lvl="0" marL="182772" marR="5279" rtl="0" algn="l">
              <a:lnSpc>
                <a:spcPct val="149650"/>
              </a:lnSpc>
              <a:spcBef>
                <a:spcPts val="0"/>
              </a:spcBef>
              <a:spcAft>
                <a:spcPts val="0"/>
              </a:spcAft>
              <a:buNone/>
            </a:pPr>
            <a:r>
              <a:rPr lang="ru-RU" sz="2000">
                <a:solidFill>
                  <a:schemeClr val="dk1"/>
                </a:solidFill>
                <a:latin typeface="Arial"/>
                <a:ea typeface="Arial"/>
                <a:cs typeface="Arial"/>
                <a:sym typeface="Arial"/>
              </a:rPr>
              <a:t>Каждый тигр </a:t>
            </a:r>
            <a:r>
              <a:rPr b="1" lang="ru-RU" sz="2000">
                <a:solidFill>
                  <a:schemeClr val="dk1"/>
                </a:solidFill>
                <a:latin typeface="Arial"/>
                <a:ea typeface="Arial"/>
                <a:cs typeface="Arial"/>
                <a:sym typeface="Arial"/>
              </a:rPr>
              <a:t>два </a:t>
            </a:r>
            <a:r>
              <a:rPr lang="ru-RU" sz="2000">
                <a:solidFill>
                  <a:schemeClr val="dk1"/>
                </a:solidFill>
                <a:latin typeface="Arial"/>
                <a:ea typeface="Arial"/>
                <a:cs typeface="Arial"/>
                <a:sym typeface="Arial"/>
              </a:rPr>
              <a:t>раза участвует в наблюдениях:  он входит в обе группы.</a:t>
            </a:r>
            <a:endParaRPr sz="2000">
              <a:solidFill>
                <a:schemeClr val="dk1"/>
              </a:solidFill>
              <a:latin typeface="Arial"/>
              <a:ea typeface="Arial"/>
              <a:cs typeface="Arial"/>
              <a:sym typeface="Arial"/>
            </a:endParaRPr>
          </a:p>
        </p:txBody>
      </p:sp>
      <p:sp>
        <p:nvSpPr>
          <p:cNvPr id="1387" name="Google Shape;1387;p106"/>
          <p:cNvSpPr txBox="1"/>
          <p:nvPr/>
        </p:nvSpPr>
        <p:spPr>
          <a:xfrm>
            <a:off x="3015696" y="326861"/>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388" name="Google Shape;1388;p106"/>
          <p:cNvSpPr txBox="1"/>
          <p:nvPr>
            <p:ph idx="12" type="sldNum"/>
          </p:nvPr>
        </p:nvSpPr>
        <p:spPr>
          <a:xfrm>
            <a:off x="9121141" y="6627448"/>
            <a:ext cx="2913697" cy="356314"/>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107"/>
          <p:cNvSpPr/>
          <p:nvPr/>
        </p:nvSpPr>
        <p:spPr>
          <a:xfrm>
            <a:off x="1438275" y="322263"/>
            <a:ext cx="1101652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94" name="Google Shape;1394;p107"/>
          <p:cNvSpPr/>
          <p:nvPr/>
        </p:nvSpPr>
        <p:spPr>
          <a:xfrm>
            <a:off x="2373685" y="322263"/>
            <a:ext cx="8064128" cy="102291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395" name="Google Shape;1395;p107"/>
          <p:cNvSpPr/>
          <p:nvPr/>
        </p:nvSpPr>
        <p:spPr>
          <a:xfrm>
            <a:off x="2180529" y="1860259"/>
            <a:ext cx="4186694" cy="408771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96" name="Google Shape;1396;p107"/>
          <p:cNvSpPr txBox="1"/>
          <p:nvPr>
            <p:ph type="title"/>
          </p:nvPr>
        </p:nvSpPr>
        <p:spPr>
          <a:xfrm>
            <a:off x="2517701" y="317517"/>
            <a:ext cx="8356158" cy="985235"/>
          </a:xfrm>
          <a:prstGeom prst="rect">
            <a:avLst/>
          </a:prstGeom>
          <a:noFill/>
          <a:ln>
            <a:noFill/>
          </a:ln>
        </p:spPr>
        <p:txBody>
          <a:bodyPr anchorCtr="0" anchor="ctr" bIns="0" lIns="0" spcFirstLastPara="1" rIns="0" wrap="square" tIns="69925">
            <a:spAutoFit/>
          </a:bodyPr>
          <a:lstStyle/>
          <a:p>
            <a:pPr indent="0" lvl="0" marL="4619" rtl="0" algn="ctr">
              <a:spcBef>
                <a:spcPts val="0"/>
              </a:spcBef>
              <a:spcAft>
                <a:spcPts val="0"/>
              </a:spcAft>
              <a:buClr>
                <a:srgbClr val="000000"/>
              </a:buClr>
              <a:buSzPts val="1870"/>
              <a:buFont typeface="Calibri"/>
              <a:buNone/>
            </a:pPr>
            <a:r>
              <a:rPr lang="ru-RU" sz="1870">
                <a:solidFill>
                  <a:srgbClr val="000000"/>
                </a:solidFill>
              </a:rPr>
              <a:t>«табличные» значения критерия Стьюдента для сверки -</a:t>
            </a:r>
            <a:endParaRPr sz="1870"/>
          </a:p>
          <a:p>
            <a:pPr indent="0" lvl="0" marL="0" rtl="0" algn="ctr">
              <a:spcBef>
                <a:spcPts val="447"/>
              </a:spcBef>
              <a:spcAft>
                <a:spcPts val="0"/>
              </a:spcAft>
              <a:buClr>
                <a:srgbClr val="000000"/>
              </a:buClr>
              <a:buSzPts val="1870"/>
              <a:buFont typeface="Calibri"/>
              <a:buNone/>
            </a:pPr>
            <a:r>
              <a:rPr lang="ru-RU" sz="1870">
                <a:solidFill>
                  <a:srgbClr val="000000"/>
                </a:solidFill>
              </a:rPr>
              <a:t>искать в математических таблицах</a:t>
            </a:r>
            <a:br>
              <a:rPr lang="ru-RU" sz="1870">
                <a:solidFill>
                  <a:srgbClr val="000000"/>
                </a:solidFill>
              </a:rPr>
            </a:br>
            <a:r>
              <a:rPr lang="ru-RU" sz="1870">
                <a:solidFill>
                  <a:srgbClr val="000000"/>
                </a:solidFill>
              </a:rPr>
              <a:t> в Приложениях в конце книг по статистике:</a:t>
            </a:r>
            <a:endParaRPr sz="1870"/>
          </a:p>
        </p:txBody>
      </p:sp>
      <p:sp>
        <p:nvSpPr>
          <p:cNvPr id="1397" name="Google Shape;1397;p107"/>
          <p:cNvSpPr/>
          <p:nvPr/>
        </p:nvSpPr>
        <p:spPr>
          <a:xfrm>
            <a:off x="6814331" y="2952298"/>
            <a:ext cx="4226284" cy="231604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398" name="Google Shape;1398;p107"/>
          <p:cNvSpPr txBox="1"/>
          <p:nvPr/>
        </p:nvSpPr>
        <p:spPr>
          <a:xfrm>
            <a:off x="2831659" y="6094777"/>
            <a:ext cx="7663398" cy="652860"/>
          </a:xfrm>
          <a:prstGeom prst="rect">
            <a:avLst/>
          </a:prstGeom>
          <a:noFill/>
          <a:ln>
            <a:noFill/>
          </a:ln>
        </p:spPr>
        <p:txBody>
          <a:bodyPr anchorCtr="0" anchor="t" bIns="0" lIns="0" spcFirstLastPara="1" rIns="0" wrap="square" tIns="13175">
            <a:spAutoFit/>
          </a:bodyPr>
          <a:lstStyle/>
          <a:p>
            <a:pPr indent="0" lvl="0" marL="0" marR="0" rtl="0" algn="ctr">
              <a:spcBef>
                <a:spcPts val="0"/>
              </a:spcBef>
              <a:spcAft>
                <a:spcPts val="0"/>
              </a:spcAft>
              <a:buNone/>
            </a:pPr>
            <a:r>
              <a:rPr lang="ru-RU" sz="2078">
                <a:solidFill>
                  <a:schemeClr val="dk1"/>
                </a:solidFill>
                <a:latin typeface="Calibri"/>
                <a:ea typeface="Calibri"/>
                <a:cs typeface="Calibri"/>
                <a:sym typeface="Calibri"/>
              </a:rPr>
              <a:t>если получившееся число </a:t>
            </a:r>
            <a:r>
              <a:rPr b="1" lang="ru-RU" sz="2078">
                <a:solidFill>
                  <a:schemeClr val="dk1"/>
                </a:solidFill>
                <a:latin typeface="Calibri"/>
                <a:ea typeface="Calibri"/>
                <a:cs typeface="Calibri"/>
                <a:sym typeface="Calibri"/>
              </a:rPr>
              <a:t>больше </a:t>
            </a:r>
            <a:r>
              <a:rPr lang="ru-RU" sz="2078">
                <a:solidFill>
                  <a:schemeClr val="dk1"/>
                </a:solidFill>
                <a:latin typeface="Calibri"/>
                <a:ea typeface="Calibri"/>
                <a:cs typeface="Calibri"/>
                <a:sym typeface="Calibri"/>
              </a:rPr>
              <a:t>табличного – «нулевая» гипотеза</a:t>
            </a:r>
            <a:endParaRPr sz="2078">
              <a:solidFill>
                <a:schemeClr val="dk1"/>
              </a:solidFill>
              <a:latin typeface="Calibri"/>
              <a:ea typeface="Calibri"/>
              <a:cs typeface="Calibri"/>
              <a:sym typeface="Calibri"/>
            </a:endParaRPr>
          </a:p>
          <a:p>
            <a:pPr indent="0" lvl="0" marL="660" marR="0" rtl="0" algn="ctr">
              <a:spcBef>
                <a:spcPts val="16"/>
              </a:spcBef>
              <a:spcAft>
                <a:spcPts val="0"/>
              </a:spcAft>
              <a:buNone/>
            </a:pPr>
            <a:r>
              <a:rPr b="1" lang="ru-RU" sz="2078">
                <a:solidFill>
                  <a:schemeClr val="dk1"/>
                </a:solidFill>
                <a:latin typeface="Calibri"/>
                <a:ea typeface="Calibri"/>
                <a:cs typeface="Calibri"/>
                <a:sym typeface="Calibri"/>
              </a:rPr>
              <a:t>отвергается </a:t>
            </a:r>
            <a:r>
              <a:rPr lang="ru-RU" sz="2078">
                <a:solidFill>
                  <a:schemeClr val="dk1"/>
                </a:solidFill>
                <a:latin typeface="Calibri"/>
                <a:ea typeface="Calibri"/>
                <a:cs typeface="Calibri"/>
                <a:sym typeface="Calibri"/>
              </a:rPr>
              <a:t>и можно говорить об имеющихся различиях</a:t>
            </a:r>
            <a:endParaRPr sz="2078">
              <a:solidFill>
                <a:schemeClr val="dk1"/>
              </a:solidFill>
              <a:latin typeface="Calibri"/>
              <a:ea typeface="Calibri"/>
              <a:cs typeface="Calibri"/>
              <a:sym typeface="Calibri"/>
            </a:endParaRPr>
          </a:p>
        </p:txBody>
      </p:sp>
      <p:sp>
        <p:nvSpPr>
          <p:cNvPr id="1399" name="Google Shape;1399;p107"/>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108"/>
          <p:cNvSpPr/>
          <p:nvPr/>
        </p:nvSpPr>
        <p:spPr>
          <a:xfrm>
            <a:off x="1438275" y="322263"/>
            <a:ext cx="10944521"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05" name="Google Shape;1405;p108"/>
          <p:cNvSpPr/>
          <p:nvPr/>
        </p:nvSpPr>
        <p:spPr>
          <a:xfrm>
            <a:off x="2373685" y="322263"/>
            <a:ext cx="8064128" cy="8509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06" name="Google Shape;1406;p108"/>
          <p:cNvSpPr txBox="1"/>
          <p:nvPr/>
        </p:nvSpPr>
        <p:spPr>
          <a:xfrm>
            <a:off x="1183022" y="1539191"/>
            <a:ext cx="10080426" cy="2646352"/>
          </a:xfrm>
          <a:prstGeom prst="rect">
            <a:avLst/>
          </a:prstGeom>
          <a:noFill/>
          <a:ln>
            <a:noFill/>
          </a:ln>
        </p:spPr>
        <p:txBody>
          <a:bodyPr anchorCtr="0" anchor="t" bIns="0" lIns="0" spcFirstLastPara="1" rIns="0" wrap="square" tIns="13175">
            <a:spAutoFit/>
          </a:bodyPr>
          <a:lstStyle/>
          <a:p>
            <a:pPr indent="0" lvl="0" marL="13197" marR="5279" rtl="0" algn="l">
              <a:spcBef>
                <a:spcPts val="0"/>
              </a:spcBef>
              <a:spcAft>
                <a:spcPts val="0"/>
              </a:spcAft>
              <a:buNone/>
            </a:pPr>
            <a:r>
              <a:rPr lang="ru-RU" sz="2494">
                <a:solidFill>
                  <a:schemeClr val="dk1"/>
                </a:solidFill>
                <a:latin typeface="Arial"/>
                <a:ea typeface="Arial"/>
                <a:cs typeface="Arial"/>
                <a:sym typeface="Arial"/>
              </a:rPr>
              <a:t>В принципе, можно использовать тест для </a:t>
            </a:r>
            <a:r>
              <a:rPr lang="ru-RU" sz="2494">
                <a:solidFill>
                  <a:srgbClr val="0070C0"/>
                </a:solidFill>
                <a:latin typeface="Arial"/>
                <a:ea typeface="Arial"/>
                <a:cs typeface="Arial"/>
                <a:sym typeface="Arial"/>
              </a:rPr>
              <a:t>независимых</a:t>
            </a:r>
            <a:r>
              <a:rPr lang="ru-RU" sz="2494">
                <a:solidFill>
                  <a:schemeClr val="dk1"/>
                </a:solidFill>
                <a:latin typeface="Arial"/>
                <a:ea typeface="Arial"/>
                <a:cs typeface="Arial"/>
                <a:sym typeface="Arial"/>
              </a:rPr>
              <a:t>  выборок и для </a:t>
            </a:r>
            <a:r>
              <a:rPr lang="ru-RU" sz="2494">
                <a:solidFill>
                  <a:srgbClr val="0070C0"/>
                </a:solidFill>
                <a:latin typeface="Arial"/>
                <a:ea typeface="Arial"/>
                <a:cs typeface="Arial"/>
                <a:sym typeface="Arial"/>
              </a:rPr>
              <a:t>связанных</a:t>
            </a:r>
            <a:r>
              <a:rPr lang="ru-RU" sz="2494">
                <a:solidFill>
                  <a:schemeClr val="dk1"/>
                </a:solidFill>
                <a:latin typeface="Arial"/>
                <a:ea typeface="Arial"/>
                <a:cs typeface="Arial"/>
                <a:sym typeface="Arial"/>
              </a:rPr>
              <a:t> выборок.</a:t>
            </a:r>
            <a:endParaRPr sz="2494">
              <a:solidFill>
                <a:schemeClr val="dk1"/>
              </a:solidFill>
              <a:latin typeface="Arial"/>
              <a:ea typeface="Arial"/>
              <a:cs typeface="Arial"/>
              <a:sym typeface="Arial"/>
            </a:endParaRPr>
          </a:p>
          <a:p>
            <a:pPr indent="0" lvl="0" marL="13197" marR="0" rtl="0" algn="l">
              <a:spcBef>
                <a:spcPts val="1496"/>
              </a:spcBef>
              <a:spcAft>
                <a:spcPts val="0"/>
              </a:spcAft>
              <a:buNone/>
            </a:pPr>
            <a:r>
              <a:rPr lang="ru-RU" sz="2494">
                <a:solidFill>
                  <a:schemeClr val="dk1"/>
                </a:solidFill>
                <a:latin typeface="Arial"/>
                <a:ea typeface="Arial"/>
                <a:cs typeface="Arial"/>
                <a:sym typeface="Arial"/>
              </a:rPr>
              <a:t>Но мы рискуем </a:t>
            </a:r>
            <a:r>
              <a:rPr b="1" lang="ru-RU" sz="2494">
                <a:solidFill>
                  <a:schemeClr val="dk1"/>
                </a:solidFill>
                <a:latin typeface="Arial"/>
                <a:ea typeface="Arial"/>
                <a:cs typeface="Arial"/>
                <a:sym typeface="Arial"/>
              </a:rPr>
              <a:t>не увидеть </a:t>
            </a:r>
            <a:r>
              <a:rPr lang="ru-RU" sz="2494">
                <a:solidFill>
                  <a:schemeClr val="dk1"/>
                </a:solidFill>
                <a:latin typeface="Arial"/>
                <a:ea typeface="Arial"/>
                <a:cs typeface="Arial"/>
                <a:sym typeface="Arial"/>
              </a:rPr>
              <a:t>существующих различий, особенно при </a:t>
            </a:r>
            <a:r>
              <a:rPr b="1" lang="ru-RU" sz="2494">
                <a:solidFill>
                  <a:schemeClr val="dk1"/>
                </a:solidFill>
                <a:latin typeface="Arial"/>
                <a:ea typeface="Arial"/>
                <a:cs typeface="Arial"/>
                <a:sym typeface="Arial"/>
              </a:rPr>
              <a:t>большой изменчивости </a:t>
            </a:r>
            <a:r>
              <a:rPr lang="ru-RU" sz="2494">
                <a:solidFill>
                  <a:schemeClr val="dk1"/>
                </a:solidFill>
                <a:latin typeface="Arial"/>
                <a:ea typeface="Arial"/>
                <a:cs typeface="Arial"/>
                <a:sym typeface="Arial"/>
              </a:rPr>
              <a:t>в выборках!</a:t>
            </a:r>
            <a:endParaRPr/>
          </a:p>
          <a:p>
            <a:pPr indent="0" lvl="0" marL="13197" marR="0" rtl="0" algn="l">
              <a:spcBef>
                <a:spcPts val="1252"/>
              </a:spcBef>
              <a:spcAft>
                <a:spcPts val="0"/>
              </a:spcAft>
              <a:buNone/>
            </a:pPr>
            <a:r>
              <a:rPr lang="ru-RU" sz="2078">
                <a:solidFill>
                  <a:schemeClr val="dk1"/>
                </a:solidFill>
                <a:latin typeface="Arial"/>
                <a:ea typeface="Arial"/>
                <a:cs typeface="Arial"/>
                <a:sym typeface="Arial"/>
              </a:rPr>
              <a:t>Тесты для связанных выборок как раз для того и существуют, чтобы исключить из анализа внутригрупповую изменчивость.</a:t>
            </a:r>
            <a:endParaRPr sz="2078">
              <a:solidFill>
                <a:schemeClr val="dk1"/>
              </a:solidFill>
              <a:latin typeface="Arial"/>
              <a:ea typeface="Arial"/>
              <a:cs typeface="Arial"/>
              <a:sym typeface="Arial"/>
            </a:endParaRPr>
          </a:p>
        </p:txBody>
      </p:sp>
      <p:sp>
        <p:nvSpPr>
          <p:cNvPr id="1407" name="Google Shape;1407;p108"/>
          <p:cNvSpPr/>
          <p:nvPr/>
        </p:nvSpPr>
        <p:spPr>
          <a:xfrm>
            <a:off x="3381798" y="4294504"/>
            <a:ext cx="5461771" cy="226325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078">
              <a:solidFill>
                <a:schemeClr val="dk1"/>
              </a:solidFill>
              <a:latin typeface="Arial"/>
              <a:ea typeface="Arial"/>
              <a:cs typeface="Arial"/>
              <a:sym typeface="Arial"/>
            </a:endParaRPr>
          </a:p>
        </p:txBody>
      </p:sp>
      <p:sp>
        <p:nvSpPr>
          <p:cNvPr id="1408" name="Google Shape;1408;p108"/>
          <p:cNvSpPr txBox="1"/>
          <p:nvPr/>
        </p:nvSpPr>
        <p:spPr>
          <a:xfrm>
            <a:off x="3015696" y="326861"/>
            <a:ext cx="6912768" cy="8463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949">
                <a:solidFill>
                  <a:schemeClr val="dk2"/>
                </a:solidFill>
                <a:latin typeface="Calibri"/>
                <a:ea typeface="Calibri"/>
                <a:cs typeface="Calibri"/>
                <a:sym typeface="Calibri"/>
              </a:rPr>
              <a:t>Двухвыборочные критерии</a:t>
            </a:r>
            <a:endParaRPr sz="3949">
              <a:solidFill>
                <a:schemeClr val="dk2"/>
              </a:solidFill>
              <a:latin typeface="Calibri"/>
              <a:ea typeface="Calibri"/>
              <a:cs typeface="Calibri"/>
              <a:sym typeface="Calibri"/>
            </a:endParaRPr>
          </a:p>
        </p:txBody>
      </p:sp>
      <p:sp>
        <p:nvSpPr>
          <p:cNvPr id="1409" name="Google Shape;1409;p108"/>
          <p:cNvSpPr txBox="1"/>
          <p:nvPr>
            <p:ph idx="12" type="sldNum"/>
          </p:nvPr>
        </p:nvSpPr>
        <p:spPr>
          <a:xfrm>
            <a:off x="11086653" y="6605015"/>
            <a:ext cx="9481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109"/>
          <p:cNvSpPr/>
          <p:nvPr/>
        </p:nvSpPr>
        <p:spPr>
          <a:xfrm>
            <a:off x="1077541" y="322263"/>
            <a:ext cx="1130525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15" name="Google Shape;1415;p109"/>
          <p:cNvSpPr/>
          <p:nvPr/>
        </p:nvSpPr>
        <p:spPr>
          <a:xfrm>
            <a:off x="2373685" y="322263"/>
            <a:ext cx="8064128" cy="8509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16" name="Google Shape;1416;p109"/>
          <p:cNvSpPr/>
          <p:nvPr/>
        </p:nvSpPr>
        <p:spPr>
          <a:xfrm>
            <a:off x="2535239" y="270690"/>
            <a:ext cx="759777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800">
                <a:solidFill>
                  <a:schemeClr val="dk2"/>
                </a:solidFill>
                <a:latin typeface="Calibri"/>
                <a:ea typeface="Calibri"/>
                <a:cs typeface="Calibri"/>
                <a:sym typeface="Calibri"/>
              </a:rPr>
              <a:t>Параметрический или непараметрический критерий различия?</a:t>
            </a:r>
            <a:endParaRPr/>
          </a:p>
        </p:txBody>
      </p:sp>
      <p:sp>
        <p:nvSpPr>
          <p:cNvPr id="1417" name="Google Shape;1417;p109"/>
          <p:cNvSpPr/>
          <p:nvPr/>
        </p:nvSpPr>
        <p:spPr>
          <a:xfrm>
            <a:off x="1077541" y="1521371"/>
            <a:ext cx="10801200" cy="341632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6"/>
              </a:buClr>
              <a:buSzPts val="2400"/>
              <a:buFont typeface="Arial"/>
              <a:buChar char="•"/>
            </a:pPr>
            <a:r>
              <a:rPr lang="ru-RU" sz="2400">
                <a:solidFill>
                  <a:schemeClr val="accent6"/>
                </a:solidFill>
                <a:latin typeface="Arial"/>
                <a:ea typeface="Arial"/>
                <a:cs typeface="Arial"/>
                <a:sym typeface="Arial"/>
              </a:rPr>
              <a:t>Статистические методы, использующие </a:t>
            </a:r>
            <a:r>
              <a:rPr i="1" lang="ru-RU" sz="2400">
                <a:solidFill>
                  <a:schemeClr val="accent6"/>
                </a:solidFill>
                <a:latin typeface="Arial"/>
                <a:ea typeface="Arial"/>
                <a:cs typeface="Arial"/>
                <a:sym typeface="Arial"/>
              </a:rPr>
              <a:t>параметры</a:t>
            </a:r>
            <a:r>
              <a:rPr lang="ru-RU" sz="2400">
                <a:solidFill>
                  <a:schemeClr val="accent6"/>
                </a:solidFill>
                <a:latin typeface="Arial"/>
                <a:ea typeface="Arial"/>
                <a:cs typeface="Arial"/>
                <a:sym typeface="Arial"/>
              </a:rPr>
              <a:t> нормального распределения данных (среднее, стандартное отклонение и прочее) называются </a:t>
            </a:r>
            <a:r>
              <a:rPr b="1" lang="ru-RU" sz="2400">
                <a:solidFill>
                  <a:schemeClr val="accent6"/>
                </a:solidFill>
                <a:latin typeface="Arial"/>
                <a:ea typeface="Arial"/>
                <a:cs typeface="Arial"/>
                <a:sym typeface="Arial"/>
              </a:rPr>
              <a:t>параметрическими</a:t>
            </a:r>
            <a:r>
              <a:rPr lang="ru-RU" sz="2400">
                <a:solidFill>
                  <a:schemeClr val="accent6"/>
                </a:solidFill>
                <a:latin typeface="Arial"/>
                <a:ea typeface="Arial"/>
                <a:cs typeface="Arial"/>
                <a:sym typeface="Arial"/>
              </a:rPr>
              <a:t>. </a:t>
            </a:r>
            <a:endParaRPr/>
          </a:p>
          <a:p>
            <a:pPr indent="-342900" lvl="0" marL="342900" marR="0" rtl="0" algn="l">
              <a:spcBef>
                <a:spcPts val="0"/>
              </a:spcBef>
              <a:spcAft>
                <a:spcPts val="0"/>
              </a:spcAft>
              <a:buClr>
                <a:srgbClr val="000000"/>
              </a:buClr>
              <a:buSzPts val="2400"/>
              <a:buFont typeface="Arial"/>
              <a:buChar char="•"/>
            </a:pPr>
            <a:r>
              <a:rPr lang="ru-RU" sz="2400">
                <a:solidFill>
                  <a:srgbClr val="000000"/>
                </a:solidFill>
                <a:latin typeface="Arial"/>
                <a:ea typeface="Arial"/>
                <a:cs typeface="Arial"/>
                <a:sym typeface="Arial"/>
              </a:rPr>
              <a:t>Так например, рассмотренный  </a:t>
            </a:r>
            <a:r>
              <a:rPr lang="ru-RU" sz="2400" u="sng">
                <a:solidFill>
                  <a:srgbClr val="CD2324"/>
                </a:solidFill>
                <a:latin typeface="Arial"/>
                <a:ea typeface="Arial"/>
                <a:cs typeface="Arial"/>
                <a:sym typeface="Arial"/>
                <a:hlinkClick r:id="rId3">
                  <a:extLst>
                    <a:ext uri="{A12FA001-AC4F-418D-AE19-62706E023703}">
                      <ahyp:hlinkClr val="tx"/>
                    </a:ext>
                  </a:extLst>
                </a:hlinkClick>
              </a:rPr>
              <a:t>t-тест</a:t>
            </a:r>
            <a:r>
              <a:rPr lang="ru-RU" sz="2400">
                <a:solidFill>
                  <a:srgbClr val="000000"/>
                </a:solidFill>
                <a:latin typeface="Arial"/>
                <a:ea typeface="Arial"/>
                <a:cs typeface="Arial"/>
                <a:sym typeface="Arial"/>
              </a:rPr>
              <a:t> является типичным параметрическим методом. Почему? Потому, что главным условием для его проведения является </a:t>
            </a:r>
            <a:r>
              <a:rPr b="1" i="1" lang="ru-RU" sz="2400">
                <a:solidFill>
                  <a:srgbClr val="000000"/>
                </a:solidFill>
                <a:latin typeface="Arial"/>
                <a:ea typeface="Arial"/>
                <a:cs typeface="Arial"/>
                <a:sym typeface="Arial"/>
              </a:rPr>
              <a:t>нормальное распределение количественных данных</a:t>
            </a:r>
            <a:r>
              <a:rPr lang="ru-RU" sz="2400">
                <a:solidFill>
                  <a:srgbClr val="000000"/>
                </a:solidFill>
                <a:latin typeface="Arial"/>
                <a:ea typeface="Arial"/>
                <a:cs typeface="Arial"/>
                <a:sym typeface="Arial"/>
              </a:rPr>
              <a:t>.</a:t>
            </a:r>
            <a:endParaRPr sz="2400">
              <a:solidFill>
                <a:srgbClr val="000000"/>
              </a:solidFill>
              <a:latin typeface="Arial"/>
              <a:ea typeface="Arial"/>
              <a:cs typeface="Arial"/>
              <a:sym typeface="Arial"/>
            </a:endParaRPr>
          </a:p>
          <a:p>
            <a:pPr indent="-342900" lvl="0" marL="342900" marR="0" rtl="0" algn="l">
              <a:spcBef>
                <a:spcPts val="0"/>
              </a:spcBef>
              <a:spcAft>
                <a:spcPts val="0"/>
              </a:spcAft>
              <a:buClr>
                <a:srgbClr val="000000"/>
              </a:buClr>
              <a:buSzPts val="2400"/>
              <a:buFont typeface="Arial"/>
              <a:buChar char="•"/>
            </a:pPr>
            <a:r>
              <a:rPr b="1" lang="ru-RU" sz="2400">
                <a:solidFill>
                  <a:srgbClr val="000000"/>
                </a:solidFill>
                <a:latin typeface="Arial"/>
                <a:ea typeface="Arial"/>
                <a:cs typeface="Arial"/>
                <a:sym typeface="Arial"/>
              </a:rPr>
              <a:t>Непараметрические</a:t>
            </a:r>
            <a:r>
              <a:rPr lang="ru-RU" sz="2400">
                <a:solidFill>
                  <a:srgbClr val="000000"/>
                </a:solidFill>
                <a:latin typeface="Arial"/>
                <a:ea typeface="Arial"/>
                <a:cs typeface="Arial"/>
                <a:sym typeface="Arial"/>
              </a:rPr>
              <a:t> методы, напротив, не зависят от распределения данных и позволяют работать как с количественными, так и с </a:t>
            </a:r>
            <a:r>
              <a:rPr i="1" lang="ru-RU" sz="2400">
                <a:solidFill>
                  <a:srgbClr val="000000"/>
                </a:solidFill>
                <a:latin typeface="Arial"/>
                <a:ea typeface="Arial"/>
                <a:cs typeface="Arial"/>
                <a:sym typeface="Arial"/>
              </a:rPr>
              <a:t>порядковыми</a:t>
            </a:r>
            <a:r>
              <a:rPr lang="ru-RU" sz="2400">
                <a:solidFill>
                  <a:srgbClr val="000000"/>
                </a:solidFill>
                <a:latin typeface="Arial"/>
                <a:ea typeface="Arial"/>
                <a:cs typeface="Arial"/>
                <a:sym typeface="Arial"/>
              </a:rPr>
              <a:t> данными (например: размер обуви, шкала силы землетрясений).</a:t>
            </a:r>
            <a:endParaRPr sz="2400">
              <a:solidFill>
                <a:schemeClr val="dk1"/>
              </a:solidFill>
              <a:latin typeface="Arial"/>
              <a:ea typeface="Arial"/>
              <a:cs typeface="Arial"/>
              <a:sym typeface="Arial"/>
            </a:endParaRPr>
          </a:p>
        </p:txBody>
      </p:sp>
      <p:sp>
        <p:nvSpPr>
          <p:cNvPr id="1418" name="Google Shape;1418;p109"/>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10"/>
          <p:cNvSpPr/>
          <p:nvPr/>
        </p:nvSpPr>
        <p:spPr>
          <a:xfrm>
            <a:off x="1438275" y="322263"/>
            <a:ext cx="10596563"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24" name="Google Shape;1424;p110"/>
          <p:cNvSpPr/>
          <p:nvPr/>
        </p:nvSpPr>
        <p:spPr>
          <a:xfrm>
            <a:off x="2373685" y="322263"/>
            <a:ext cx="8064128" cy="8509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25" name="Google Shape;1425;p110"/>
          <p:cNvSpPr/>
          <p:nvPr/>
        </p:nvSpPr>
        <p:spPr>
          <a:xfrm>
            <a:off x="2535239" y="270690"/>
            <a:ext cx="759777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800">
                <a:solidFill>
                  <a:schemeClr val="dk2"/>
                </a:solidFill>
                <a:latin typeface="Calibri"/>
                <a:ea typeface="Calibri"/>
                <a:cs typeface="Calibri"/>
                <a:sym typeface="Calibri"/>
              </a:rPr>
              <a:t>Параметрический или непараметрический критерий различия?</a:t>
            </a:r>
            <a:endParaRPr/>
          </a:p>
        </p:txBody>
      </p:sp>
      <p:sp>
        <p:nvSpPr>
          <p:cNvPr id="1426" name="Google Shape;1426;p110"/>
          <p:cNvSpPr/>
          <p:nvPr/>
        </p:nvSpPr>
        <p:spPr>
          <a:xfrm>
            <a:off x="1233661" y="1690648"/>
            <a:ext cx="10200928" cy="381642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2200"/>
              <a:buFont typeface="Arial"/>
              <a:buChar char="•"/>
            </a:pPr>
            <a:r>
              <a:rPr lang="ru-RU" sz="2200">
                <a:solidFill>
                  <a:srgbClr val="000000"/>
                </a:solidFill>
                <a:latin typeface="Arial"/>
                <a:ea typeface="Arial"/>
                <a:cs typeface="Arial"/>
                <a:sym typeface="Arial"/>
              </a:rPr>
              <a:t>При нормальном распределении данных параметрические критерии имеют б</a:t>
            </a:r>
            <a:r>
              <a:rPr b="1" i="1" lang="ru-RU" sz="2200">
                <a:solidFill>
                  <a:srgbClr val="000000"/>
                </a:solidFill>
                <a:latin typeface="Arial"/>
                <a:ea typeface="Arial"/>
                <a:cs typeface="Arial"/>
                <a:sym typeface="Arial"/>
              </a:rPr>
              <a:t>о</a:t>
            </a:r>
            <a:r>
              <a:rPr lang="ru-RU" sz="2200">
                <a:solidFill>
                  <a:srgbClr val="000000"/>
                </a:solidFill>
                <a:latin typeface="Arial"/>
                <a:ea typeface="Arial"/>
                <a:cs typeface="Arial"/>
                <a:sym typeface="Arial"/>
              </a:rPr>
              <a:t>льшую мощность по сравнению с непараметрическими. </a:t>
            </a:r>
            <a:endParaRPr sz="2200">
              <a:solidFill>
                <a:srgbClr val="000000"/>
              </a:solidFill>
              <a:latin typeface="Arial"/>
              <a:ea typeface="Arial"/>
              <a:cs typeface="Arial"/>
              <a:sym typeface="Arial"/>
            </a:endParaRPr>
          </a:p>
          <a:p>
            <a:pPr indent="-342900" lvl="0" marL="342900" marR="0" rtl="0" algn="l">
              <a:spcBef>
                <a:spcPts val="0"/>
              </a:spcBef>
              <a:spcAft>
                <a:spcPts val="0"/>
              </a:spcAft>
              <a:buClr>
                <a:srgbClr val="000000"/>
              </a:buClr>
              <a:buSzPts val="2200"/>
              <a:buFont typeface="Arial"/>
              <a:buChar char="•"/>
            </a:pPr>
            <a:r>
              <a:rPr lang="ru-RU" sz="2200">
                <a:solidFill>
                  <a:srgbClr val="000000"/>
                </a:solidFill>
                <a:latin typeface="Arial"/>
                <a:ea typeface="Arial"/>
                <a:cs typeface="Arial"/>
                <a:sym typeface="Arial"/>
              </a:rPr>
              <a:t>Однако, когда данные выборок не проходят тесты нормальности (такие, как qqplot и Шапиро тест), непараметрические методы дают более точные предсказания. Особенно они эффективны с выборками небольшого размера (&lt;100 наблюдений), на распределение которых могут влиять неизвестные факторы. </a:t>
            </a:r>
            <a:endParaRPr sz="2200">
              <a:solidFill>
                <a:srgbClr val="000000"/>
              </a:solidFill>
              <a:latin typeface="Arial"/>
              <a:ea typeface="Arial"/>
              <a:cs typeface="Arial"/>
              <a:sym typeface="Arial"/>
            </a:endParaRPr>
          </a:p>
          <a:p>
            <a:pPr indent="-342900" lvl="0" marL="342900" marR="0" rtl="0" algn="l">
              <a:spcBef>
                <a:spcPts val="0"/>
              </a:spcBef>
              <a:spcAft>
                <a:spcPts val="0"/>
              </a:spcAft>
              <a:buClr>
                <a:srgbClr val="000000"/>
              </a:buClr>
              <a:buSzPts val="2200"/>
              <a:buFont typeface="Arial"/>
              <a:buChar char="•"/>
            </a:pPr>
            <a:r>
              <a:rPr lang="ru-RU" sz="2200">
                <a:solidFill>
                  <a:srgbClr val="000000"/>
                </a:solidFill>
                <a:latin typeface="Arial"/>
                <a:ea typeface="Arial"/>
                <a:cs typeface="Arial"/>
                <a:sym typeface="Arial"/>
              </a:rPr>
              <a:t>Далее мы познакомимся с непараметрическими аналогами t-теста, использующимися также, для сравнения двух выборок. При выборе критерия следует обратить внимание на две вещи: зависимость данных выборок друг от друга и объем выборок.</a:t>
            </a:r>
            <a:endParaRPr sz="2200">
              <a:solidFill>
                <a:schemeClr val="dk1"/>
              </a:solidFill>
              <a:latin typeface="Arial"/>
              <a:ea typeface="Arial"/>
              <a:cs typeface="Arial"/>
              <a:sym typeface="Arial"/>
            </a:endParaRPr>
          </a:p>
        </p:txBody>
      </p:sp>
      <p:sp>
        <p:nvSpPr>
          <p:cNvPr id="1427" name="Google Shape;1427;p110"/>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11"/>
          <p:cNvSpPr/>
          <p:nvPr/>
        </p:nvSpPr>
        <p:spPr>
          <a:xfrm>
            <a:off x="1438275" y="322263"/>
            <a:ext cx="1101652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33" name="Google Shape;1433;p111"/>
          <p:cNvSpPr/>
          <p:nvPr/>
        </p:nvSpPr>
        <p:spPr>
          <a:xfrm>
            <a:off x="2373685" y="322263"/>
            <a:ext cx="8064128" cy="8509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34" name="Google Shape;1434;p111"/>
          <p:cNvSpPr/>
          <p:nvPr/>
        </p:nvSpPr>
        <p:spPr>
          <a:xfrm>
            <a:off x="2535239" y="270690"/>
            <a:ext cx="759777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800">
                <a:solidFill>
                  <a:schemeClr val="dk2"/>
                </a:solidFill>
                <a:latin typeface="Calibri"/>
                <a:ea typeface="Calibri"/>
                <a:cs typeface="Calibri"/>
                <a:sym typeface="Calibri"/>
              </a:rPr>
              <a:t>Параметрический или непараметрический критерий различия?</a:t>
            </a:r>
            <a:endParaRPr/>
          </a:p>
        </p:txBody>
      </p:sp>
      <p:pic>
        <p:nvPicPr>
          <p:cNvPr id="1435" name="Google Shape;1435;p111"/>
          <p:cNvPicPr preferRelativeResize="0"/>
          <p:nvPr/>
        </p:nvPicPr>
        <p:blipFill rotWithShape="1">
          <a:blip r:embed="rId3">
            <a:alphaModFix/>
          </a:blip>
          <a:srcRect b="0" l="0" r="0" t="0"/>
          <a:stretch/>
        </p:blipFill>
        <p:spPr>
          <a:xfrm>
            <a:off x="2535238" y="1220723"/>
            <a:ext cx="7560072" cy="4864524"/>
          </a:xfrm>
          <a:prstGeom prst="rect">
            <a:avLst/>
          </a:prstGeom>
          <a:noFill/>
          <a:ln>
            <a:noFill/>
          </a:ln>
        </p:spPr>
      </p:pic>
      <p:sp>
        <p:nvSpPr>
          <p:cNvPr id="1436" name="Google Shape;1436;p111"/>
          <p:cNvSpPr txBox="1"/>
          <p:nvPr>
            <p:ph idx="12" type="sldNum"/>
          </p:nvPr>
        </p:nvSpPr>
        <p:spPr>
          <a:xfrm>
            <a:off x="9078913" y="6605015"/>
            <a:ext cx="295592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1437" name="Google Shape;1437;p111"/>
          <p:cNvSpPr/>
          <p:nvPr/>
        </p:nvSpPr>
        <p:spPr>
          <a:xfrm>
            <a:off x="8196995" y="5471919"/>
            <a:ext cx="2724292" cy="28530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ru-RU" sz="1200">
                <a:solidFill>
                  <a:srgbClr val="0000FF"/>
                </a:solidFill>
                <a:latin typeface="Calibri"/>
                <a:ea typeface="Calibri"/>
                <a:cs typeface="Calibri"/>
                <a:sym typeface="Calibri"/>
              </a:rPr>
              <a:t>wilcox.test(</a:t>
            </a:r>
            <a:r>
              <a:rPr lang="ru-RU" sz="1200">
                <a:solidFill>
                  <a:srgbClr val="800080"/>
                </a:solidFill>
                <a:latin typeface="Calibri"/>
                <a:ea typeface="Calibri"/>
                <a:cs typeface="Calibri"/>
                <a:sym typeface="Calibri"/>
              </a:rPr>
              <a:t>"выборка_1", "выборка_2"</a:t>
            </a:r>
            <a:r>
              <a:rPr lang="ru-RU" sz="1200">
                <a:solidFill>
                  <a:srgbClr val="0000FF"/>
                </a:solidFill>
                <a:latin typeface="Calibri"/>
                <a:ea typeface="Calibri"/>
                <a:cs typeface="Calibri"/>
                <a:sym typeface="Calibri"/>
              </a:rPr>
              <a:t>)</a:t>
            </a:r>
            <a:r>
              <a:rPr lang="ru-RU" sz="11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p:txBody>
      </p:sp>
      <p:sp>
        <p:nvSpPr>
          <p:cNvPr id="1438" name="Google Shape;1438;p111"/>
          <p:cNvSpPr/>
          <p:nvPr/>
        </p:nvSpPr>
        <p:spPr>
          <a:xfrm>
            <a:off x="3272086" y="6029318"/>
            <a:ext cx="3700476"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ru-RU" sz="1200">
                <a:solidFill>
                  <a:srgbClr val="0000FF"/>
                </a:solidFill>
                <a:latin typeface="Calibri"/>
                <a:ea typeface="Calibri"/>
                <a:cs typeface="Calibri"/>
                <a:sym typeface="Calibri"/>
              </a:rPr>
              <a:t>wilcox.test(</a:t>
            </a:r>
            <a:r>
              <a:rPr lang="ru-RU" sz="1200">
                <a:solidFill>
                  <a:srgbClr val="800080"/>
                </a:solidFill>
                <a:latin typeface="Calibri"/>
                <a:ea typeface="Calibri"/>
                <a:cs typeface="Calibri"/>
                <a:sym typeface="Calibri"/>
              </a:rPr>
              <a:t>"выборка_1", "выборка_2“, paired = T</a:t>
            </a:r>
            <a:r>
              <a:rPr lang="ru-RU" sz="1200">
                <a:solidFill>
                  <a:srgbClr val="0000FF"/>
                </a:solidFill>
                <a:latin typeface="Calibri"/>
                <a:ea typeface="Calibri"/>
                <a:cs typeface="Calibri"/>
                <a:sym typeface="Calibri"/>
              </a:rPr>
              <a:t>)</a:t>
            </a:r>
            <a:r>
              <a:rPr lang="ru-RU" sz="11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p:txBody>
      </p:sp>
      <p:sp>
        <p:nvSpPr>
          <p:cNvPr id="1439" name="Google Shape;1439;p111"/>
          <p:cNvSpPr/>
          <p:nvPr/>
        </p:nvSpPr>
        <p:spPr>
          <a:xfrm>
            <a:off x="1438277" y="6385370"/>
            <a:ext cx="748813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600" u="sng">
                <a:solidFill>
                  <a:schemeClr val="dk1"/>
                </a:solidFill>
                <a:latin typeface="Arial"/>
                <a:ea typeface="Arial"/>
                <a:cs typeface="Arial"/>
                <a:sym typeface="Arial"/>
                <a:hlinkClick r:id="rId4">
                  <a:extLst>
                    <a:ext uri="{A12FA001-AC4F-418D-AE19-62706E023703}">
                      <ahyp:hlinkClr val="tx"/>
                    </a:ext>
                  </a:extLst>
                </a:hlinkClick>
              </a:rPr>
              <a:t>https://agricolamz.github.io/DS_for_DH/проверка-статистических-гипотез.html</a:t>
            </a:r>
            <a:r>
              <a:rPr lang="ru-RU" sz="1600">
                <a:solidFill>
                  <a:schemeClr val="dk1"/>
                </a:solidFill>
                <a:latin typeface="Arial"/>
                <a:ea typeface="Arial"/>
                <a:cs typeface="Arial"/>
                <a:sym typeface="Arial"/>
              </a:rPr>
              <a:t> </a:t>
            </a:r>
            <a:endParaRPr sz="1600">
              <a:solidFill>
                <a:schemeClr val="dk1"/>
              </a:solidFill>
              <a:latin typeface="Arial"/>
              <a:ea typeface="Arial"/>
              <a:cs typeface="Arial"/>
              <a:sym typeface="Arial"/>
            </a:endParaRPr>
          </a:p>
        </p:txBody>
      </p:sp>
      <p:sp>
        <p:nvSpPr>
          <p:cNvPr id="1440" name="Google Shape;1440;p111"/>
          <p:cNvSpPr/>
          <p:nvPr/>
        </p:nvSpPr>
        <p:spPr>
          <a:xfrm>
            <a:off x="6783302" y="6007892"/>
            <a:ext cx="1325684"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ru-RU" sz="1200">
                <a:solidFill>
                  <a:srgbClr val="0000FF"/>
                </a:solidFill>
                <a:latin typeface="Calibri"/>
                <a:ea typeface="Calibri"/>
                <a:cs typeface="Calibri"/>
                <a:sym typeface="Calibri"/>
              </a:rPr>
              <a:t>binom.test(</a:t>
            </a:r>
            <a:r>
              <a:rPr lang="ru-RU" sz="1200">
                <a:solidFill>
                  <a:srgbClr val="800080"/>
                </a:solidFill>
                <a:latin typeface="Calibri"/>
                <a:ea typeface="Calibri"/>
                <a:cs typeface="Calibri"/>
                <a:sym typeface="Calibri"/>
              </a:rPr>
              <a:t>x, n, p</a:t>
            </a:r>
            <a:r>
              <a:rPr lang="ru-RU" sz="1200">
                <a:solidFill>
                  <a:srgbClr val="0000FF"/>
                </a:solidFill>
                <a:latin typeface="Calibri"/>
                <a:ea typeface="Calibri"/>
                <a:cs typeface="Calibri"/>
                <a:sym typeface="Calibri"/>
              </a:rPr>
              <a:t>)</a:t>
            </a:r>
            <a:endParaRPr sz="1200">
              <a:solidFill>
                <a:srgbClr val="0000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12"/>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47" name="Google Shape;1447;p112"/>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48" name="Google Shape;1448;p112"/>
          <p:cNvSpPr txBox="1"/>
          <p:nvPr>
            <p:ph idx="4294967295" type="title"/>
          </p:nvPr>
        </p:nvSpPr>
        <p:spPr>
          <a:xfrm>
            <a:off x="2339231" y="376406"/>
            <a:ext cx="7804150" cy="47783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Calibri"/>
              <a:buNone/>
            </a:pPr>
            <a:r>
              <a:rPr lang="ru-RU" sz="4000"/>
              <a:t>Сравнение медиан выборок</a:t>
            </a:r>
            <a:endParaRPr/>
          </a:p>
        </p:txBody>
      </p:sp>
      <p:sp>
        <p:nvSpPr>
          <p:cNvPr id="1449" name="Google Shape;1449;p112"/>
          <p:cNvSpPr txBox="1"/>
          <p:nvPr>
            <p:ph idx="4294967295" type="body"/>
          </p:nvPr>
        </p:nvSpPr>
        <p:spPr>
          <a:xfrm>
            <a:off x="2339232" y="1535668"/>
            <a:ext cx="8550275" cy="4708525"/>
          </a:xfrm>
          <a:prstGeom prst="rect">
            <a:avLst/>
          </a:prstGeom>
          <a:noFill/>
          <a:ln>
            <a:noFill/>
          </a:ln>
        </p:spPr>
        <p:txBody>
          <a:bodyPr anchorCtr="0" anchor="t" bIns="45700" lIns="91425" spcFirstLastPara="1" rIns="91425" wrap="square" tIns="45700">
            <a:normAutofit/>
          </a:bodyPr>
          <a:lstStyle/>
          <a:p>
            <a:pPr indent="-143486" lvl="0" marL="354624" rtl="0" algn="l">
              <a:spcBef>
                <a:spcPts val="0"/>
              </a:spcBef>
              <a:spcAft>
                <a:spcPts val="0"/>
              </a:spcAft>
              <a:buClr>
                <a:schemeClr val="dk1"/>
              </a:buClr>
              <a:buSzPts val="3325"/>
              <a:buNone/>
            </a:pPr>
            <a:r>
              <a:t/>
            </a:r>
            <a:endParaRPr/>
          </a:p>
          <a:p>
            <a:pPr indent="-136207" lvl="0" marL="0" rtl="0" algn="l">
              <a:spcBef>
                <a:spcPts val="660"/>
              </a:spcBef>
              <a:spcAft>
                <a:spcPts val="0"/>
              </a:spcAft>
              <a:buClr>
                <a:srgbClr val="CC9900"/>
              </a:buClr>
              <a:buSzPts val="2145"/>
              <a:buFont typeface="Noto Sans Symbols"/>
              <a:buChar char="■"/>
            </a:pPr>
            <a:r>
              <a:rPr lang="ru-RU">
                <a:solidFill>
                  <a:srgbClr val="FF0000"/>
                </a:solidFill>
              </a:rPr>
              <a:t>Гипотеза</a:t>
            </a:r>
            <a:r>
              <a:rPr lang="ru-RU"/>
              <a:t>: Медианы равны.</a:t>
            </a:r>
            <a:endParaRPr/>
          </a:p>
          <a:p>
            <a:pPr indent="-143486" lvl="0" marL="354624" rtl="0" algn="l">
              <a:spcBef>
                <a:spcPts val="665"/>
              </a:spcBef>
              <a:spcAft>
                <a:spcPts val="0"/>
              </a:spcAft>
              <a:buClr>
                <a:schemeClr val="dk1"/>
              </a:buClr>
              <a:buSzPts val="3325"/>
              <a:buNone/>
            </a:pPr>
            <a:r>
              <a:t/>
            </a:r>
            <a:endParaRPr/>
          </a:p>
          <a:p>
            <a:pPr indent="-136207" lvl="0" marL="0" rtl="0" algn="l">
              <a:spcBef>
                <a:spcPts val="660"/>
              </a:spcBef>
              <a:spcAft>
                <a:spcPts val="0"/>
              </a:spcAft>
              <a:buClr>
                <a:srgbClr val="CC9900"/>
              </a:buClr>
              <a:buSzPts val="2145"/>
              <a:buFont typeface="Noto Sans Symbols"/>
              <a:buChar char="■"/>
            </a:pPr>
            <a:r>
              <a:rPr lang="ru-RU">
                <a:solidFill>
                  <a:srgbClr val="FF0000"/>
                </a:solidFill>
              </a:rPr>
              <a:t>Альтернативная гипотеза</a:t>
            </a:r>
            <a:r>
              <a:rPr lang="ru-RU"/>
              <a:t>: Медианы различаются.</a:t>
            </a:r>
            <a:endParaRPr/>
          </a:p>
        </p:txBody>
      </p:sp>
      <p:sp>
        <p:nvSpPr>
          <p:cNvPr id="1450" name="Google Shape;1450;p112"/>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113"/>
          <p:cNvSpPr/>
          <p:nvPr/>
        </p:nvSpPr>
        <p:spPr>
          <a:xfrm>
            <a:off x="1649180" y="1906961"/>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57" name="Google Shape;1457;p113"/>
          <p:cNvSpPr/>
          <p:nvPr/>
        </p:nvSpPr>
        <p:spPr>
          <a:xfrm>
            <a:off x="2006368" y="2129211"/>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a:t>
            </a:r>
            <a:endParaRPr/>
          </a:p>
        </p:txBody>
      </p:sp>
      <p:sp>
        <p:nvSpPr>
          <p:cNvPr id="1458" name="Google Shape;1458;p113"/>
          <p:cNvSpPr/>
          <p:nvPr/>
        </p:nvSpPr>
        <p:spPr>
          <a:xfrm>
            <a:off x="2949749" y="1928930"/>
            <a:ext cx="6680284" cy="117970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4400">
                <a:solidFill>
                  <a:schemeClr val="lt1"/>
                </a:solidFill>
                <a:latin typeface="Arial"/>
                <a:ea typeface="Arial"/>
                <a:cs typeface="Arial"/>
                <a:sym typeface="Arial"/>
              </a:rPr>
              <a:t>Дополнительные условия </a:t>
            </a:r>
            <a:endParaRPr/>
          </a:p>
          <a:p>
            <a:pPr indent="0" lvl="0" marL="0" marR="0" rtl="0" algn="ctr">
              <a:spcBef>
                <a:spcPts val="0"/>
              </a:spcBef>
              <a:spcAft>
                <a:spcPts val="0"/>
              </a:spcAft>
              <a:buNone/>
            </a:pPr>
            <a:r>
              <a:rPr lang="ru-RU" sz="4400">
                <a:solidFill>
                  <a:schemeClr val="lt1"/>
                </a:solidFill>
                <a:latin typeface="Arial"/>
                <a:ea typeface="Arial"/>
                <a:cs typeface="Arial"/>
                <a:sym typeface="Arial"/>
              </a:rPr>
              <a:t>проверки гипотез</a:t>
            </a:r>
            <a:endParaRPr/>
          </a:p>
        </p:txBody>
      </p:sp>
      <p:sp>
        <p:nvSpPr>
          <p:cNvPr id="1459" name="Google Shape;1459;p113"/>
          <p:cNvSpPr/>
          <p:nvPr/>
        </p:nvSpPr>
        <p:spPr>
          <a:xfrm>
            <a:off x="2154378" y="3275113"/>
            <a:ext cx="8824541" cy="1193815"/>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60" name="Google Shape;1460;p113"/>
          <p:cNvSpPr/>
          <p:nvPr/>
        </p:nvSpPr>
        <p:spPr>
          <a:xfrm>
            <a:off x="2511565" y="3497363"/>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3.1</a:t>
            </a:r>
            <a:endParaRPr/>
          </a:p>
        </p:txBody>
      </p:sp>
      <p:sp>
        <p:nvSpPr>
          <p:cNvPr id="1461" name="Google Shape;1461;p113"/>
          <p:cNvSpPr/>
          <p:nvPr/>
        </p:nvSpPr>
        <p:spPr>
          <a:xfrm>
            <a:off x="3378033" y="3415716"/>
            <a:ext cx="6252000" cy="957454"/>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600">
                <a:solidFill>
                  <a:schemeClr val="lt1"/>
                </a:solidFill>
                <a:latin typeface="Arial"/>
                <a:ea typeface="Arial"/>
                <a:cs typeface="Arial"/>
                <a:sym typeface="Arial"/>
              </a:rPr>
              <a:t>Гипотеза о нормальности </a:t>
            </a:r>
            <a:endParaRPr/>
          </a:p>
          <a:p>
            <a:pPr indent="0" lvl="0" marL="0" marR="0" rtl="0" algn="l">
              <a:spcBef>
                <a:spcPts val="0"/>
              </a:spcBef>
              <a:spcAft>
                <a:spcPts val="0"/>
              </a:spcAft>
              <a:buNone/>
            </a:pPr>
            <a:r>
              <a:rPr lang="ru-RU" sz="3600">
                <a:solidFill>
                  <a:schemeClr val="lt1"/>
                </a:solidFill>
                <a:latin typeface="Arial"/>
                <a:ea typeface="Arial"/>
                <a:cs typeface="Arial"/>
                <a:sym typeface="Arial"/>
              </a:rPr>
              <a:t>распределения</a:t>
            </a:r>
            <a:endParaRPr/>
          </a:p>
        </p:txBody>
      </p:sp>
      <p:sp>
        <p:nvSpPr>
          <p:cNvPr id="1462" name="Google Shape;1462;p113"/>
          <p:cNvSpPr/>
          <p:nvPr/>
        </p:nvSpPr>
        <p:spPr>
          <a:xfrm>
            <a:off x="2154378" y="4571257"/>
            <a:ext cx="8824541" cy="965199"/>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63" name="Google Shape;1463;p113"/>
          <p:cNvSpPr/>
          <p:nvPr/>
        </p:nvSpPr>
        <p:spPr>
          <a:xfrm>
            <a:off x="2509697" y="4630889"/>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3.2</a:t>
            </a:r>
            <a:endParaRPr/>
          </a:p>
        </p:txBody>
      </p:sp>
      <p:sp>
        <p:nvSpPr>
          <p:cNvPr id="1464" name="Google Shape;1464;p113"/>
          <p:cNvSpPr/>
          <p:nvPr/>
        </p:nvSpPr>
        <p:spPr>
          <a:xfrm>
            <a:off x="3682525" y="4571256"/>
            <a:ext cx="6680284" cy="851720"/>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3600">
                <a:solidFill>
                  <a:schemeClr val="lt1"/>
                </a:solidFill>
                <a:latin typeface="Arial"/>
                <a:ea typeface="Arial"/>
                <a:cs typeface="Arial"/>
                <a:sym typeface="Arial"/>
              </a:rPr>
              <a:t>Парные и независимые выборки</a:t>
            </a:r>
            <a:endParaRPr/>
          </a:p>
        </p:txBody>
      </p:sp>
      <p:sp>
        <p:nvSpPr>
          <p:cNvPr id="1465" name="Google Shape;1465;p113"/>
          <p:cNvSpPr/>
          <p:nvPr/>
        </p:nvSpPr>
        <p:spPr>
          <a:xfrm>
            <a:off x="2155756" y="5694290"/>
            <a:ext cx="8824541" cy="965199"/>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66" name="Google Shape;1466;p113"/>
          <p:cNvSpPr/>
          <p:nvPr/>
        </p:nvSpPr>
        <p:spPr>
          <a:xfrm>
            <a:off x="2511075" y="5753922"/>
            <a:ext cx="596900" cy="854075"/>
          </a:xfrm>
          <a:prstGeom prst="roundRect">
            <a:avLst>
              <a:gd fmla="val 16667" name="adj"/>
            </a:avLst>
          </a:prstGeom>
          <a:solidFill>
            <a:schemeClr val="accent1"/>
          </a:solidFill>
          <a:ln cap="flat" cmpd="sng" w="28575">
            <a:solidFill>
              <a:srgbClr val="FF0000"/>
            </a:solidFill>
            <a:prstDash val="solid"/>
            <a:round/>
            <a:headEnd len="sm" w="sm" type="none"/>
            <a:tailEnd len="sm" w="sm" type="none"/>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3.3</a:t>
            </a:r>
            <a:endParaRPr/>
          </a:p>
        </p:txBody>
      </p:sp>
      <p:sp>
        <p:nvSpPr>
          <p:cNvPr id="1467" name="Google Shape;1467;p113"/>
          <p:cNvSpPr/>
          <p:nvPr/>
        </p:nvSpPr>
        <p:spPr>
          <a:xfrm>
            <a:off x="3683903" y="5694289"/>
            <a:ext cx="6680284" cy="851720"/>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lang="ru-RU" sz="3600">
                <a:solidFill>
                  <a:schemeClr val="lt1"/>
                </a:solidFill>
                <a:latin typeface="Arial"/>
                <a:ea typeface="Arial"/>
                <a:cs typeface="Arial"/>
                <a:sym typeface="Arial"/>
              </a:rPr>
              <a:t>Гипотеза о равенстве дисперсий</a:t>
            </a:r>
            <a:endParaRPr/>
          </a:p>
        </p:txBody>
      </p:sp>
      <p:sp>
        <p:nvSpPr>
          <p:cNvPr id="1468" name="Google Shape;1468;p113"/>
          <p:cNvSpPr txBox="1"/>
          <p:nvPr>
            <p:ph idx="12" type="sldNum"/>
          </p:nvPr>
        </p:nvSpPr>
        <p:spPr>
          <a:xfrm>
            <a:off x="11335615" y="6605015"/>
            <a:ext cx="69922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114"/>
          <p:cNvSpPr/>
          <p:nvPr/>
        </p:nvSpPr>
        <p:spPr>
          <a:xfrm>
            <a:off x="1438275" y="322263"/>
            <a:ext cx="1065648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74" name="Google Shape;1474;p114"/>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75" name="Google Shape;1475;p114"/>
          <p:cNvSpPr txBox="1"/>
          <p:nvPr>
            <p:ph idx="4294967295" type="title"/>
          </p:nvPr>
        </p:nvSpPr>
        <p:spPr>
          <a:xfrm>
            <a:off x="2445731" y="568983"/>
            <a:ext cx="7920037" cy="6937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alibri"/>
              <a:buNone/>
            </a:pPr>
            <a:r>
              <a:rPr lang="ru-RU" sz="3600"/>
              <a:t>Надо еще сравнить дисперсии - 1</a:t>
            </a:r>
            <a:endParaRPr/>
          </a:p>
        </p:txBody>
      </p:sp>
      <p:sp>
        <p:nvSpPr>
          <p:cNvPr id="1476" name="Google Shape;1476;p114"/>
          <p:cNvSpPr txBox="1"/>
          <p:nvPr>
            <p:ph idx="4294967295" type="body"/>
          </p:nvPr>
        </p:nvSpPr>
        <p:spPr>
          <a:xfrm>
            <a:off x="2024063" y="1743309"/>
            <a:ext cx="8548688" cy="4706937"/>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3200"/>
              <a:buChar char="•"/>
            </a:pPr>
            <a:r>
              <a:rPr i="1" lang="ru-RU" sz="3200" u="sng"/>
              <a:t>Метод 1</a:t>
            </a:r>
            <a:endParaRPr/>
          </a:p>
          <a:p>
            <a:pPr indent="-356307" lvl="0" marL="356307" rtl="0" algn="l">
              <a:spcBef>
                <a:spcPts val="640"/>
              </a:spcBef>
              <a:spcAft>
                <a:spcPts val="0"/>
              </a:spcAft>
              <a:buClr>
                <a:schemeClr val="dk1"/>
              </a:buClr>
              <a:buSzPts val="3200"/>
              <a:buChar char="•"/>
            </a:pPr>
            <a:r>
              <a:rPr lang="ru-RU" sz="3200"/>
              <a:t>F-test of equality of variances</a:t>
            </a:r>
            <a:endParaRPr sz="3200"/>
          </a:p>
          <a:p>
            <a:pPr indent="-296923" lvl="1" marL="771999" rtl="0" algn="l">
              <a:spcBef>
                <a:spcPts val="540"/>
              </a:spcBef>
              <a:spcAft>
                <a:spcPts val="0"/>
              </a:spcAft>
              <a:buClr>
                <a:srgbClr val="FF0000"/>
              </a:buClr>
              <a:buSzPts val="2700"/>
              <a:buChar char="–"/>
            </a:pPr>
            <a:r>
              <a:rPr lang="ru-RU" sz="2700">
                <a:solidFill>
                  <a:srgbClr val="FF0000"/>
                </a:solidFill>
              </a:rPr>
              <a:t>Не рекомендуется</a:t>
            </a:r>
            <a:r>
              <a:rPr lang="ru-RU" sz="2700"/>
              <a:t>, слишком чувствителен к отклонениям от нормальности. </a:t>
            </a:r>
            <a:endParaRPr sz="1900"/>
          </a:p>
          <a:p>
            <a:pPr indent="-296923" lvl="1" marL="771999" rtl="0" algn="l">
              <a:spcBef>
                <a:spcPts val="540"/>
              </a:spcBef>
              <a:spcAft>
                <a:spcPts val="0"/>
              </a:spcAft>
              <a:buClr>
                <a:schemeClr val="dk1"/>
              </a:buClr>
              <a:buSzPts val="2700"/>
              <a:buChar char="–"/>
            </a:pPr>
            <a:r>
              <a:rPr lang="ru-RU" sz="2700"/>
              <a:t>var.test(x, y)</a:t>
            </a:r>
            <a:endParaRPr/>
          </a:p>
        </p:txBody>
      </p:sp>
      <p:sp>
        <p:nvSpPr>
          <p:cNvPr id="1477" name="Google Shape;1477;p114"/>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15"/>
          <p:cNvSpPr/>
          <p:nvPr/>
        </p:nvSpPr>
        <p:spPr>
          <a:xfrm>
            <a:off x="1438275" y="322263"/>
            <a:ext cx="1072849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83" name="Google Shape;1483;p115"/>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84" name="Google Shape;1484;p115"/>
          <p:cNvSpPr txBox="1"/>
          <p:nvPr>
            <p:ph idx="4294967295" type="title"/>
          </p:nvPr>
        </p:nvSpPr>
        <p:spPr>
          <a:xfrm>
            <a:off x="2289176" y="508542"/>
            <a:ext cx="8089900" cy="476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3600"/>
              <a:t>Надо еще сравнить дисперсии - 2</a:t>
            </a:r>
            <a:endParaRPr/>
          </a:p>
        </p:txBody>
      </p:sp>
      <p:sp>
        <p:nvSpPr>
          <p:cNvPr id="1485" name="Google Shape;1485;p115"/>
          <p:cNvSpPr txBox="1"/>
          <p:nvPr>
            <p:ph idx="4294967295" type="body"/>
          </p:nvPr>
        </p:nvSpPr>
        <p:spPr>
          <a:xfrm>
            <a:off x="1732211" y="1629756"/>
            <a:ext cx="9530928" cy="4706937"/>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3200"/>
              <a:buChar char="•"/>
            </a:pPr>
            <a:r>
              <a:rPr i="1" lang="ru-RU" sz="3200" u="sng"/>
              <a:t>Метод 2</a:t>
            </a:r>
            <a:endParaRPr/>
          </a:p>
          <a:p>
            <a:pPr indent="-356307" lvl="0" marL="356307" rtl="0" algn="l">
              <a:spcBef>
                <a:spcPts val="640"/>
              </a:spcBef>
              <a:spcAft>
                <a:spcPts val="0"/>
              </a:spcAft>
              <a:buClr>
                <a:schemeClr val="dk1"/>
              </a:buClr>
              <a:buSzPts val="3200"/>
              <a:buChar char="•"/>
            </a:pPr>
            <a:r>
              <a:rPr lang="ru-RU" sz="3200"/>
              <a:t>Bartlett's test</a:t>
            </a:r>
            <a:endParaRPr sz="3200"/>
          </a:p>
          <a:p>
            <a:pPr indent="-296923" lvl="1" marL="771999" rtl="0" algn="l">
              <a:spcBef>
                <a:spcPts val="540"/>
              </a:spcBef>
              <a:spcAft>
                <a:spcPts val="0"/>
              </a:spcAft>
              <a:buClr>
                <a:schemeClr val="dk1"/>
              </a:buClr>
              <a:buSzPts val="2700"/>
              <a:buChar char="–"/>
            </a:pPr>
            <a:r>
              <a:rPr lang="ru-RU" sz="2700"/>
              <a:t>Если данные нормально распределены -  лучший вариант.</a:t>
            </a:r>
            <a:endParaRPr/>
          </a:p>
          <a:p>
            <a:pPr indent="-296923" lvl="1" marL="771999" rtl="0" algn="l">
              <a:spcBef>
                <a:spcPts val="540"/>
              </a:spcBef>
              <a:spcAft>
                <a:spcPts val="0"/>
              </a:spcAft>
              <a:buClr>
                <a:srgbClr val="FF0000"/>
              </a:buClr>
              <a:buSzPts val="2700"/>
              <a:buChar char="–"/>
            </a:pPr>
            <a:r>
              <a:rPr lang="ru-RU" sz="2700">
                <a:solidFill>
                  <a:srgbClr val="FF0000"/>
                </a:solidFill>
              </a:rPr>
              <a:t>Не рекомендуется: </a:t>
            </a:r>
            <a:r>
              <a:rPr lang="ru-RU" sz="2700"/>
              <a:t>чувствителен к отклонениям от нормальности;</a:t>
            </a:r>
            <a:endParaRPr/>
          </a:p>
          <a:p>
            <a:pPr indent="-296923" lvl="1" marL="771999" rtl="0" algn="l">
              <a:spcBef>
                <a:spcPts val="540"/>
              </a:spcBef>
              <a:spcAft>
                <a:spcPts val="0"/>
              </a:spcAft>
              <a:buClr>
                <a:schemeClr val="dk1"/>
              </a:buClr>
              <a:buSzPts val="2700"/>
              <a:buChar char="–"/>
            </a:pPr>
            <a:r>
              <a:rPr lang="ru-RU" sz="2700"/>
              <a:t>Если данные не нормальны, часто дает  "false positive" результат.</a:t>
            </a:r>
            <a:endParaRPr/>
          </a:p>
          <a:p>
            <a:pPr indent="-153107" lvl="0" marL="356307" rtl="0" algn="l">
              <a:spcBef>
                <a:spcPts val="640"/>
              </a:spcBef>
              <a:spcAft>
                <a:spcPts val="0"/>
              </a:spcAft>
              <a:buClr>
                <a:schemeClr val="dk1"/>
              </a:buClr>
              <a:buSzPts val="3200"/>
              <a:buNone/>
            </a:pPr>
            <a:r>
              <a:t/>
            </a:r>
            <a:endParaRPr sz="3200"/>
          </a:p>
          <a:p>
            <a:pPr indent="-153107" lvl="0" marL="356307" rtl="0" algn="l">
              <a:spcBef>
                <a:spcPts val="640"/>
              </a:spcBef>
              <a:spcAft>
                <a:spcPts val="0"/>
              </a:spcAft>
              <a:buClr>
                <a:schemeClr val="dk1"/>
              </a:buClr>
              <a:buSzPts val="3200"/>
              <a:buNone/>
            </a:pPr>
            <a:r>
              <a:t/>
            </a:r>
            <a:endParaRPr sz="3200"/>
          </a:p>
          <a:p>
            <a:pPr indent="-153107" lvl="0" marL="356307" rtl="0" algn="l">
              <a:spcBef>
                <a:spcPts val="640"/>
              </a:spcBef>
              <a:spcAft>
                <a:spcPts val="0"/>
              </a:spcAft>
              <a:buClr>
                <a:schemeClr val="dk1"/>
              </a:buClr>
              <a:buSzPts val="3200"/>
              <a:buNone/>
            </a:pPr>
            <a:r>
              <a:t/>
            </a:r>
            <a:endParaRPr sz="3200"/>
          </a:p>
        </p:txBody>
      </p:sp>
      <p:sp>
        <p:nvSpPr>
          <p:cNvPr id="1486" name="Google Shape;1486;p115"/>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116"/>
          <p:cNvSpPr/>
          <p:nvPr/>
        </p:nvSpPr>
        <p:spPr>
          <a:xfrm>
            <a:off x="1438276" y="322263"/>
            <a:ext cx="10800506"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92" name="Google Shape;1492;p116"/>
          <p:cNvSpPr txBox="1"/>
          <p:nvPr>
            <p:ph idx="4294967295" type="body"/>
          </p:nvPr>
        </p:nvSpPr>
        <p:spPr>
          <a:xfrm>
            <a:off x="2350527" y="1579498"/>
            <a:ext cx="7583999" cy="4521200"/>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3200"/>
              <a:buChar char="•"/>
            </a:pPr>
            <a:r>
              <a:rPr i="1" lang="ru-RU" sz="3200" u="sng"/>
              <a:t>Метод 2</a:t>
            </a:r>
            <a:endParaRPr/>
          </a:p>
          <a:p>
            <a:pPr indent="-356307" lvl="0" marL="356307" rtl="0" algn="l">
              <a:spcBef>
                <a:spcPts val="640"/>
              </a:spcBef>
              <a:spcAft>
                <a:spcPts val="0"/>
              </a:spcAft>
              <a:buClr>
                <a:schemeClr val="dk1"/>
              </a:buClr>
              <a:buSzPts val="3200"/>
              <a:buChar char="•"/>
            </a:pPr>
            <a:r>
              <a:rPr lang="ru-RU" sz="3200"/>
              <a:t>Bartlett's test</a:t>
            </a:r>
            <a:endParaRPr sz="3200"/>
          </a:p>
          <a:p>
            <a:pPr indent="-153107" lvl="0" marL="356307" rtl="0" algn="l">
              <a:spcBef>
                <a:spcPts val="640"/>
              </a:spcBef>
              <a:spcAft>
                <a:spcPts val="0"/>
              </a:spcAft>
              <a:buClr>
                <a:schemeClr val="dk1"/>
              </a:buClr>
              <a:buSzPts val="3200"/>
              <a:buNone/>
            </a:pPr>
            <a:r>
              <a:t/>
            </a:r>
            <a:endParaRPr sz="3200"/>
          </a:p>
          <a:p>
            <a:pPr indent="0" lvl="0" marL="0" rtl="0" algn="l">
              <a:spcBef>
                <a:spcPts val="560"/>
              </a:spcBef>
              <a:spcAft>
                <a:spcPts val="0"/>
              </a:spcAft>
              <a:buClr>
                <a:srgbClr val="0070C0"/>
              </a:buClr>
              <a:buSzPts val="2800"/>
              <a:buNone/>
            </a:pPr>
            <a:r>
              <a:rPr lang="ru-RU" sz="2800">
                <a:solidFill>
                  <a:srgbClr val="0070C0"/>
                </a:solidFill>
              </a:rPr>
              <a:t>bartlett.test(x, g, data=data.table)</a:t>
            </a:r>
            <a:endParaRPr/>
          </a:p>
          <a:p>
            <a:pPr indent="0" lvl="0" marL="0" rtl="0" algn="l">
              <a:spcBef>
                <a:spcPts val="560"/>
              </a:spcBef>
              <a:spcAft>
                <a:spcPts val="0"/>
              </a:spcAft>
              <a:buClr>
                <a:schemeClr val="dk1"/>
              </a:buClr>
              <a:buSzPts val="2800"/>
              <a:buNone/>
            </a:pPr>
            <a:r>
              <a:t/>
            </a:r>
            <a:endParaRPr sz="2800">
              <a:solidFill>
                <a:srgbClr val="0070C0"/>
              </a:solidFill>
            </a:endParaRPr>
          </a:p>
          <a:p>
            <a:pPr indent="0" lvl="0" marL="0" rtl="0" algn="l">
              <a:spcBef>
                <a:spcPts val="560"/>
              </a:spcBef>
              <a:spcAft>
                <a:spcPts val="0"/>
              </a:spcAft>
              <a:buClr>
                <a:srgbClr val="0070C0"/>
              </a:buClr>
              <a:buSzPts val="2800"/>
              <a:buNone/>
            </a:pPr>
            <a:r>
              <a:rPr lang="ru-RU" sz="2800">
                <a:solidFill>
                  <a:srgbClr val="0070C0"/>
                </a:solidFill>
              </a:rPr>
              <a:t>bartlett.test(x~g, data=data.table)</a:t>
            </a:r>
            <a:endParaRPr/>
          </a:p>
        </p:txBody>
      </p:sp>
      <p:sp>
        <p:nvSpPr>
          <p:cNvPr id="1493" name="Google Shape;1493;p116"/>
          <p:cNvSpPr/>
          <p:nvPr/>
        </p:nvSpPr>
        <p:spPr>
          <a:xfrm>
            <a:off x="2373685" y="322264"/>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494" name="Google Shape;1494;p116"/>
          <p:cNvSpPr txBox="1"/>
          <p:nvPr/>
        </p:nvSpPr>
        <p:spPr>
          <a:xfrm>
            <a:off x="2360399" y="444096"/>
            <a:ext cx="8090700" cy="47693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600">
                <a:solidFill>
                  <a:schemeClr val="dk2"/>
                </a:solidFill>
                <a:latin typeface="Calibri"/>
                <a:ea typeface="Calibri"/>
                <a:cs typeface="Calibri"/>
                <a:sym typeface="Calibri"/>
              </a:rPr>
              <a:t>Надо еще сравнить дисперсии - 2</a:t>
            </a:r>
            <a:endParaRPr sz="3600">
              <a:solidFill>
                <a:schemeClr val="dk2"/>
              </a:solidFill>
              <a:latin typeface="Calibri"/>
              <a:ea typeface="Calibri"/>
              <a:cs typeface="Calibri"/>
              <a:sym typeface="Calibri"/>
            </a:endParaRPr>
          </a:p>
        </p:txBody>
      </p:sp>
      <p:sp>
        <p:nvSpPr>
          <p:cNvPr id="1495" name="Google Shape;1495;p116"/>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17"/>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502" name="Google Shape;1502;p117"/>
          <p:cNvSpPr/>
          <p:nvPr/>
        </p:nvSpPr>
        <p:spPr>
          <a:xfrm>
            <a:off x="2373685" y="322263"/>
            <a:ext cx="8064128" cy="13814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503" name="Google Shape;1503;p117"/>
          <p:cNvSpPr txBox="1"/>
          <p:nvPr>
            <p:ph idx="4294967295" type="title"/>
          </p:nvPr>
        </p:nvSpPr>
        <p:spPr>
          <a:xfrm>
            <a:off x="2130725" y="334359"/>
            <a:ext cx="8307089"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000"/>
              <a:buFont typeface="Calibri"/>
              <a:buNone/>
            </a:pPr>
            <a:r>
              <a:rPr lang="ru-RU" sz="4000"/>
              <a:t>Надо еще сравнить дисперсии - 3</a:t>
            </a:r>
            <a:endParaRPr/>
          </a:p>
        </p:txBody>
      </p:sp>
      <p:sp>
        <p:nvSpPr>
          <p:cNvPr id="1504" name="Google Shape;1504;p117"/>
          <p:cNvSpPr txBox="1"/>
          <p:nvPr>
            <p:ph idx="4294967295" type="body"/>
          </p:nvPr>
        </p:nvSpPr>
        <p:spPr>
          <a:xfrm>
            <a:off x="2373685" y="2195514"/>
            <a:ext cx="7371978" cy="2519759"/>
          </a:xfrm>
          <a:prstGeom prst="rect">
            <a:avLst/>
          </a:prstGeom>
          <a:noFill/>
          <a:ln>
            <a:noFill/>
          </a:ln>
        </p:spPr>
        <p:txBody>
          <a:bodyPr anchorCtr="0" anchor="t" bIns="45700" lIns="91425" spcFirstLastPara="1" rIns="91425" wrap="square" tIns="45700">
            <a:normAutofit/>
          </a:bodyPr>
          <a:lstStyle/>
          <a:p>
            <a:pPr indent="-136207" lvl="0" marL="0" rtl="0" algn="l">
              <a:spcBef>
                <a:spcPts val="0"/>
              </a:spcBef>
              <a:spcAft>
                <a:spcPts val="0"/>
              </a:spcAft>
              <a:buClr>
                <a:srgbClr val="CC9900"/>
              </a:buClr>
              <a:buSzPts val="2145"/>
              <a:buFont typeface="Noto Sans Symbols"/>
              <a:buChar char="■"/>
            </a:pPr>
            <a:r>
              <a:rPr lang="ru-RU"/>
              <a:t>Levene's test</a:t>
            </a:r>
            <a:endParaRPr/>
          </a:p>
          <a:p>
            <a:pPr indent="-136207" lvl="0" marL="0" rtl="0" algn="l">
              <a:spcBef>
                <a:spcPts val="660"/>
              </a:spcBef>
              <a:spcAft>
                <a:spcPts val="0"/>
              </a:spcAft>
              <a:buClr>
                <a:srgbClr val="CC9900"/>
              </a:buClr>
              <a:buSzPts val="2145"/>
              <a:buFont typeface="Noto Sans Symbols"/>
              <a:buChar char="■"/>
            </a:pPr>
            <a:r>
              <a:rPr lang="ru-RU"/>
              <a:t>Критерий Левена</a:t>
            </a:r>
            <a:endParaRPr/>
          </a:p>
          <a:p>
            <a:pPr indent="-136207" lvl="0" marL="0" rtl="0" algn="l">
              <a:spcBef>
                <a:spcPts val="660"/>
              </a:spcBef>
              <a:spcAft>
                <a:spcPts val="0"/>
              </a:spcAft>
              <a:buClr>
                <a:srgbClr val="CC9900"/>
              </a:buClr>
              <a:buSzPts val="2145"/>
              <a:buFont typeface="Noto Sans Symbols"/>
              <a:buChar char="■"/>
            </a:pPr>
            <a:r>
              <a:rPr lang="ru-RU"/>
              <a:t>Содержится в пакете car</a:t>
            </a:r>
            <a:endParaRPr/>
          </a:p>
        </p:txBody>
      </p:sp>
      <p:sp>
        <p:nvSpPr>
          <p:cNvPr id="1505" name="Google Shape;1505;p117"/>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118"/>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511" name="Google Shape;1511;p118"/>
          <p:cNvSpPr/>
          <p:nvPr/>
        </p:nvSpPr>
        <p:spPr>
          <a:xfrm>
            <a:off x="2373685" y="322263"/>
            <a:ext cx="8064128" cy="13814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512" name="Google Shape;1512;p118"/>
          <p:cNvSpPr txBox="1"/>
          <p:nvPr>
            <p:ph idx="4294967295" type="title"/>
          </p:nvPr>
        </p:nvSpPr>
        <p:spPr>
          <a:xfrm>
            <a:off x="2878139" y="303546"/>
            <a:ext cx="6840537" cy="118268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Надо еще сравнить дисперсии - 3</a:t>
            </a:r>
            <a:endParaRPr/>
          </a:p>
        </p:txBody>
      </p:sp>
      <p:sp>
        <p:nvSpPr>
          <p:cNvPr id="1513" name="Google Shape;1513;p118"/>
          <p:cNvSpPr txBox="1"/>
          <p:nvPr>
            <p:ph idx="4294967295" type="body"/>
          </p:nvPr>
        </p:nvSpPr>
        <p:spPr>
          <a:xfrm>
            <a:off x="2949749" y="2081214"/>
            <a:ext cx="6794327" cy="4287837"/>
          </a:xfrm>
          <a:prstGeom prst="rect">
            <a:avLst/>
          </a:prstGeom>
          <a:noFill/>
          <a:ln>
            <a:noFill/>
          </a:ln>
        </p:spPr>
        <p:txBody>
          <a:bodyPr anchorCtr="0" anchor="t" bIns="45700" lIns="91425" spcFirstLastPara="1" rIns="91425" wrap="square" tIns="45700">
            <a:normAutofit/>
          </a:bodyPr>
          <a:lstStyle/>
          <a:p>
            <a:pPr indent="-136207" lvl="0" marL="0" rtl="0" algn="l">
              <a:spcBef>
                <a:spcPts val="0"/>
              </a:spcBef>
              <a:spcAft>
                <a:spcPts val="0"/>
              </a:spcAft>
              <a:buClr>
                <a:srgbClr val="CC9900"/>
              </a:buClr>
              <a:buSzPts val="2145"/>
              <a:buFont typeface="Noto Sans Symbols"/>
              <a:buChar char="■"/>
            </a:pPr>
            <a:r>
              <a:rPr lang="ru-RU"/>
              <a:t>Levene's test</a:t>
            </a:r>
            <a:endParaRPr/>
          </a:p>
          <a:p>
            <a:pPr indent="-145169" lvl="0" marL="356307" rtl="0" algn="l">
              <a:spcBef>
                <a:spcPts val="665"/>
              </a:spcBef>
              <a:spcAft>
                <a:spcPts val="0"/>
              </a:spcAft>
              <a:buClr>
                <a:schemeClr val="dk1"/>
              </a:buClr>
              <a:buSzPts val="3325"/>
              <a:buNone/>
            </a:pPr>
            <a:r>
              <a:t/>
            </a:r>
            <a:endParaRPr/>
          </a:p>
          <a:p>
            <a:pPr indent="-356307" lvl="0" marL="356307" rtl="0" algn="l">
              <a:spcBef>
                <a:spcPts val="660"/>
              </a:spcBef>
              <a:spcAft>
                <a:spcPts val="0"/>
              </a:spcAft>
              <a:buClr>
                <a:schemeClr val="dk1"/>
              </a:buClr>
              <a:buSzPts val="3300"/>
              <a:buChar char="•"/>
            </a:pPr>
            <a:r>
              <a:rPr lang="ru-RU"/>
              <a:t>library(car)</a:t>
            </a:r>
            <a:endParaRPr/>
          </a:p>
          <a:p>
            <a:pPr indent="-145169" lvl="0" marL="356307" rtl="0" algn="l">
              <a:spcBef>
                <a:spcPts val="665"/>
              </a:spcBef>
              <a:spcAft>
                <a:spcPts val="0"/>
              </a:spcAft>
              <a:buClr>
                <a:schemeClr val="dk1"/>
              </a:buClr>
              <a:buSzPts val="3325"/>
              <a:buNone/>
            </a:pPr>
            <a:r>
              <a:t/>
            </a:r>
            <a:endParaRPr/>
          </a:p>
          <a:p>
            <a:pPr indent="0" lvl="0" marL="0" rtl="0" algn="l">
              <a:spcBef>
                <a:spcPts val="640"/>
              </a:spcBef>
              <a:spcAft>
                <a:spcPts val="0"/>
              </a:spcAft>
              <a:buClr>
                <a:srgbClr val="0070C0"/>
              </a:buClr>
              <a:buSzPts val="3200"/>
              <a:buNone/>
            </a:pPr>
            <a:r>
              <a:rPr lang="ru-RU" sz="3200">
                <a:solidFill>
                  <a:srgbClr val="0070C0"/>
                </a:solidFill>
              </a:rPr>
              <a:t>leveneTest(x~g, data=data.table)</a:t>
            </a:r>
            <a:endParaRPr/>
          </a:p>
          <a:p>
            <a:pPr indent="-145169" lvl="0" marL="356307" rtl="0" algn="l">
              <a:spcBef>
                <a:spcPts val="665"/>
              </a:spcBef>
              <a:spcAft>
                <a:spcPts val="0"/>
              </a:spcAft>
              <a:buClr>
                <a:schemeClr val="dk1"/>
              </a:buClr>
              <a:buSzPts val="3325"/>
              <a:buNone/>
            </a:pPr>
            <a:r>
              <a:t/>
            </a:r>
            <a:endParaRPr/>
          </a:p>
        </p:txBody>
      </p:sp>
      <p:sp>
        <p:nvSpPr>
          <p:cNvPr id="1514" name="Google Shape;1514;p118"/>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119"/>
          <p:cNvSpPr/>
          <p:nvPr/>
        </p:nvSpPr>
        <p:spPr>
          <a:xfrm>
            <a:off x="1438275" y="322263"/>
            <a:ext cx="10948119"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520" name="Google Shape;1520;p119"/>
          <p:cNvSpPr/>
          <p:nvPr/>
        </p:nvSpPr>
        <p:spPr>
          <a:xfrm>
            <a:off x="2373685" y="322263"/>
            <a:ext cx="8064128" cy="1381460"/>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521" name="Google Shape;1521;p119"/>
          <p:cNvSpPr txBox="1"/>
          <p:nvPr>
            <p:ph idx="4294967295" type="title"/>
          </p:nvPr>
        </p:nvSpPr>
        <p:spPr>
          <a:xfrm>
            <a:off x="2373685" y="296404"/>
            <a:ext cx="7803034" cy="118268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ru-RU" sz="4000"/>
              <a:t>Надо еще сравнить дисперсии - 4</a:t>
            </a:r>
            <a:endParaRPr/>
          </a:p>
        </p:txBody>
      </p:sp>
      <p:sp>
        <p:nvSpPr>
          <p:cNvPr id="1522" name="Google Shape;1522;p119"/>
          <p:cNvSpPr txBox="1"/>
          <p:nvPr>
            <p:ph idx="4294967295" type="body"/>
          </p:nvPr>
        </p:nvSpPr>
        <p:spPr>
          <a:xfrm>
            <a:off x="1869629" y="2243138"/>
            <a:ext cx="8712968" cy="3695700"/>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3200"/>
              <a:buChar char="•"/>
            </a:pPr>
            <a:r>
              <a:rPr lang="ru-RU" sz="3200"/>
              <a:t>Fligner-Killeen test</a:t>
            </a:r>
            <a:endParaRPr sz="3200"/>
          </a:p>
          <a:p>
            <a:pPr indent="-356307" lvl="0" marL="356307" rtl="0" algn="l">
              <a:spcBef>
                <a:spcPts val="640"/>
              </a:spcBef>
              <a:spcAft>
                <a:spcPts val="0"/>
              </a:spcAft>
              <a:buClr>
                <a:schemeClr val="dk1"/>
              </a:buClr>
              <a:buSzPts val="3200"/>
              <a:buChar char="•"/>
            </a:pPr>
            <a:r>
              <a:rPr lang="ru-RU" sz="3200"/>
              <a:t>Робастный, </a:t>
            </a:r>
            <a:r>
              <a:rPr lang="ru-RU" sz="3200">
                <a:solidFill>
                  <a:srgbClr val="FF0000"/>
                </a:solidFill>
              </a:rPr>
              <a:t>рекомендуется</a:t>
            </a:r>
            <a:r>
              <a:rPr lang="ru-RU" sz="3200"/>
              <a:t>.</a:t>
            </a:r>
            <a:endParaRPr/>
          </a:p>
          <a:p>
            <a:pPr indent="0" lvl="0" marL="0" rtl="0" algn="l">
              <a:spcBef>
                <a:spcPts val="640"/>
              </a:spcBef>
              <a:spcAft>
                <a:spcPts val="0"/>
              </a:spcAft>
              <a:buClr>
                <a:schemeClr val="dk1"/>
              </a:buClr>
              <a:buSzPts val="3200"/>
              <a:buNone/>
            </a:pPr>
            <a:r>
              <a:rPr lang="ru-RU" sz="3200"/>
              <a:t>   </a:t>
            </a:r>
            <a:r>
              <a:rPr lang="ru-RU" sz="2800">
                <a:solidFill>
                  <a:srgbClr val="0D78C9"/>
                </a:solidFill>
              </a:rPr>
              <a:t>fligner.test(x~g, data=data.table)</a:t>
            </a:r>
            <a:endParaRPr/>
          </a:p>
          <a:p>
            <a:pPr indent="0" lvl="0" marL="0" rtl="0" algn="l">
              <a:spcBef>
                <a:spcPts val="640"/>
              </a:spcBef>
              <a:spcAft>
                <a:spcPts val="0"/>
              </a:spcAft>
              <a:buClr>
                <a:schemeClr val="dk1"/>
              </a:buClr>
              <a:buSzPts val="3200"/>
              <a:buNone/>
            </a:pPr>
            <a:r>
              <a:t/>
            </a:r>
            <a:endParaRPr sz="3200"/>
          </a:p>
          <a:p>
            <a:pPr indent="-356307" lvl="0" marL="356307" rtl="0" algn="l">
              <a:spcBef>
                <a:spcPts val="640"/>
              </a:spcBef>
              <a:spcAft>
                <a:spcPts val="0"/>
              </a:spcAft>
              <a:buClr>
                <a:schemeClr val="dk1"/>
              </a:buClr>
              <a:buSzPts val="3200"/>
              <a:buChar char="•"/>
            </a:pPr>
            <a:r>
              <a:rPr lang="ru-RU" sz="3200"/>
              <a:t>Хотя есть еще Brown-Forsythe test, возможно он еще лучше...</a:t>
            </a:r>
            <a:endParaRPr/>
          </a:p>
        </p:txBody>
      </p:sp>
      <p:sp>
        <p:nvSpPr>
          <p:cNvPr id="1523" name="Google Shape;1523;p119"/>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120"/>
          <p:cNvSpPr/>
          <p:nvPr/>
        </p:nvSpPr>
        <p:spPr>
          <a:xfrm>
            <a:off x="1438275" y="322263"/>
            <a:ext cx="10948119" cy="63373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529" name="Google Shape;1529;p120"/>
          <p:cNvSpPr txBox="1"/>
          <p:nvPr>
            <p:ph idx="4294967295" type="title"/>
          </p:nvPr>
        </p:nvSpPr>
        <p:spPr>
          <a:xfrm>
            <a:off x="1195389" y="285750"/>
            <a:ext cx="9248775" cy="730250"/>
          </a:xfrm>
          <a:prstGeom prst="rect">
            <a:avLst/>
          </a:prstGeom>
          <a:noFill/>
          <a:ln>
            <a:noFill/>
          </a:ln>
        </p:spPr>
        <p:txBody>
          <a:bodyPr anchorCtr="0" anchor="ctr" bIns="49700" lIns="99425" spcFirstLastPara="1" rIns="99425" wrap="square" tIns="49700">
            <a:normAutofit/>
          </a:bodyPr>
          <a:lstStyle/>
          <a:p>
            <a:pPr indent="0" lvl="0" marL="0" rtl="0" algn="ctr">
              <a:spcBef>
                <a:spcPts val="0"/>
              </a:spcBef>
              <a:spcAft>
                <a:spcPts val="0"/>
              </a:spcAft>
              <a:buClr>
                <a:schemeClr val="dk1"/>
              </a:buClr>
              <a:buSzPts val="3100"/>
              <a:buFont typeface="Calibri"/>
              <a:buNone/>
            </a:pPr>
            <a:r>
              <a:rPr b="1" lang="ru-RU" sz="3100"/>
              <a:t>Вопросы</a:t>
            </a:r>
            <a:endParaRPr/>
          </a:p>
        </p:txBody>
      </p:sp>
      <p:sp>
        <p:nvSpPr>
          <p:cNvPr id="1530" name="Google Shape;1530;p120"/>
          <p:cNvSpPr txBox="1"/>
          <p:nvPr/>
        </p:nvSpPr>
        <p:spPr>
          <a:xfrm>
            <a:off x="3905252" y="0"/>
            <a:ext cx="5100637" cy="407988"/>
          </a:xfrm>
          <a:prstGeom prst="rect">
            <a:avLst/>
          </a:prstGeom>
          <a:noFill/>
          <a:ln>
            <a:noFill/>
          </a:ln>
        </p:spPr>
        <p:txBody>
          <a:bodyPr anchorCtr="0" anchor="t" bIns="49700" lIns="99425" spcFirstLastPara="1" rIns="99425" wrap="square" tIns="49700">
            <a:spAutoFit/>
          </a:bodyPr>
          <a:lstStyle/>
          <a:p>
            <a:pPr indent="0" lvl="0" marL="0" marR="0" rtl="0" algn="l">
              <a:spcBef>
                <a:spcPts val="0"/>
              </a:spcBef>
              <a:spcAft>
                <a:spcPts val="0"/>
              </a:spcAft>
              <a:buNone/>
            </a:pPr>
            <a:r>
              <a:rPr b="1" lang="ru-RU" sz="2000">
                <a:solidFill>
                  <a:schemeClr val="lt1"/>
                </a:solidFill>
                <a:latin typeface="Courier New"/>
                <a:ea typeface="Courier New"/>
                <a:cs typeface="Courier New"/>
                <a:sym typeface="Courier New"/>
              </a:rPr>
              <a:t>Обработка больших данных. Л9</a:t>
            </a:r>
            <a:endParaRPr/>
          </a:p>
        </p:txBody>
      </p:sp>
      <p:sp>
        <p:nvSpPr>
          <p:cNvPr id="1531" name="Google Shape;1531;p120"/>
          <p:cNvSpPr txBox="1"/>
          <p:nvPr/>
        </p:nvSpPr>
        <p:spPr>
          <a:xfrm>
            <a:off x="1797052" y="1546226"/>
            <a:ext cx="9001200" cy="4525200"/>
          </a:xfrm>
          <a:prstGeom prst="rect">
            <a:avLst/>
          </a:prstGeom>
          <a:noFill/>
          <a:ln>
            <a:noFill/>
          </a:ln>
        </p:spPr>
        <p:txBody>
          <a:bodyPr anchorCtr="0" anchor="t" bIns="45700" lIns="91425" spcFirstLastPara="1" rIns="91425" wrap="square" tIns="45700">
            <a:spAutoFit/>
          </a:bodyPr>
          <a:lstStyle/>
          <a:p>
            <a:pPr indent="-357188" lvl="0" marL="357188" marR="0" rtl="0" algn="l">
              <a:spcBef>
                <a:spcPts val="0"/>
              </a:spcBef>
              <a:spcAft>
                <a:spcPts val="0"/>
              </a:spcAft>
              <a:buClr>
                <a:schemeClr val="dk1"/>
              </a:buClr>
              <a:buSzPts val="2400"/>
              <a:buFont typeface="Calibri"/>
              <a:buAutoNum type="arabicPeriod"/>
            </a:pPr>
            <a:r>
              <a:rPr lang="ru-RU" sz="2400">
                <a:solidFill>
                  <a:schemeClr val="dk1"/>
                </a:solidFill>
                <a:latin typeface="Arial"/>
                <a:ea typeface="Arial"/>
                <a:cs typeface="Arial"/>
                <a:sym typeface="Arial"/>
              </a:rPr>
              <a:t>Что такое статистическая гипотеза? Какие виды гипотез вы знаете?</a:t>
            </a:r>
            <a:endParaRPr/>
          </a:p>
          <a:p>
            <a:pPr indent="-357188" lvl="0" marL="357188" marR="0" rtl="0" algn="l">
              <a:spcBef>
                <a:spcPts val="0"/>
              </a:spcBef>
              <a:spcAft>
                <a:spcPts val="0"/>
              </a:spcAft>
              <a:buClr>
                <a:schemeClr val="dk1"/>
              </a:buClr>
              <a:buSzPts val="2400"/>
              <a:buFont typeface="Calibri"/>
              <a:buAutoNum type="arabicPeriod"/>
            </a:pPr>
            <a:r>
              <a:rPr lang="ru-RU" sz="2400">
                <a:solidFill>
                  <a:schemeClr val="dk1"/>
                </a:solidFill>
                <a:latin typeface="Arial"/>
                <a:ea typeface="Arial"/>
                <a:cs typeface="Arial"/>
                <a:sym typeface="Arial"/>
              </a:rPr>
              <a:t>Как принято формулировать нулевую гипотезу?</a:t>
            </a:r>
            <a:endParaRPr/>
          </a:p>
          <a:p>
            <a:pPr indent="-357188" lvl="0" marL="357188" marR="0" rtl="0" algn="l">
              <a:spcBef>
                <a:spcPts val="0"/>
              </a:spcBef>
              <a:spcAft>
                <a:spcPts val="0"/>
              </a:spcAft>
              <a:buClr>
                <a:schemeClr val="dk1"/>
              </a:buClr>
              <a:buSzPts val="2400"/>
              <a:buFont typeface="Calibri"/>
              <a:buAutoNum type="arabicPeriod"/>
            </a:pPr>
            <a:r>
              <a:rPr lang="ru-RU" sz="2400">
                <a:solidFill>
                  <a:schemeClr val="dk1"/>
                </a:solidFill>
                <a:latin typeface="Arial"/>
                <a:ea typeface="Arial"/>
                <a:cs typeface="Arial"/>
                <a:sym typeface="Arial"/>
              </a:rPr>
              <a:t>Что такое уровень значимости, как он определяется, как влияет на решение о принятие гипотезы?</a:t>
            </a:r>
            <a:endParaRPr/>
          </a:p>
          <a:p>
            <a:pPr indent="-357188" lvl="0" marL="357188" marR="0" rtl="0" algn="l">
              <a:spcBef>
                <a:spcPts val="0"/>
              </a:spcBef>
              <a:spcAft>
                <a:spcPts val="0"/>
              </a:spcAft>
              <a:buClr>
                <a:schemeClr val="dk1"/>
              </a:buClr>
              <a:buSzPts val="2400"/>
              <a:buFont typeface="Calibri"/>
              <a:buAutoNum type="arabicPeriod"/>
            </a:pPr>
            <a:r>
              <a:rPr lang="ru-RU" sz="2400">
                <a:solidFill>
                  <a:schemeClr val="dk1"/>
                </a:solidFill>
                <a:latin typeface="Arial"/>
                <a:ea typeface="Arial"/>
                <a:cs typeface="Arial"/>
                <a:sym typeface="Arial"/>
              </a:rPr>
              <a:t>Каков порядок обработки данных при тестировании гипотезы о равенстве, какие еще тесты при этом должны быть пройдены, какие требования к данным выдвигаются?</a:t>
            </a:r>
            <a:endParaRPr/>
          </a:p>
          <a:p>
            <a:pPr indent="-357188" lvl="0" marL="357188" marR="0" rtl="0" algn="l">
              <a:spcBef>
                <a:spcPts val="0"/>
              </a:spcBef>
              <a:spcAft>
                <a:spcPts val="0"/>
              </a:spcAft>
              <a:buClr>
                <a:schemeClr val="dk1"/>
              </a:buClr>
              <a:buSzPts val="2400"/>
              <a:buFont typeface="Calibri"/>
              <a:buAutoNum type="arabicPeriod"/>
            </a:pPr>
            <a:r>
              <a:rPr lang="ru-RU" sz="2400">
                <a:solidFill>
                  <a:schemeClr val="dk1"/>
                </a:solidFill>
                <a:latin typeface="Arial"/>
                <a:ea typeface="Arial"/>
                <a:cs typeface="Arial"/>
                <a:sym typeface="Arial"/>
              </a:rPr>
              <a:t>Для чего вообще нужна гипотеза о </a:t>
            </a:r>
            <a:r>
              <a:rPr lang="ru-RU" sz="2400">
                <a:solidFill>
                  <a:schemeClr val="dk1"/>
                </a:solidFill>
              </a:rPr>
              <a:t>а</a:t>
            </a:r>
            <a:r>
              <a:rPr lang="ru-RU" sz="2400">
                <a:solidFill>
                  <a:schemeClr val="dk1"/>
                </a:solidFill>
                <a:latin typeface="Arial"/>
                <a:ea typeface="Arial"/>
                <a:cs typeface="Arial"/>
                <a:sym typeface="Arial"/>
              </a:rPr>
              <a:t>средних?</a:t>
            </a:r>
            <a:endParaRPr/>
          </a:p>
          <a:p>
            <a:pPr indent="-357188" lvl="0" marL="357188" marR="0" rtl="0" algn="l">
              <a:spcBef>
                <a:spcPts val="0"/>
              </a:spcBef>
              <a:spcAft>
                <a:spcPts val="0"/>
              </a:spcAft>
              <a:buClr>
                <a:schemeClr val="dk1"/>
              </a:buClr>
              <a:buSzPts val="2400"/>
              <a:buFont typeface="Calibri"/>
              <a:buAutoNum type="arabicPeriod"/>
            </a:pPr>
            <a:r>
              <a:rPr lang="ru-RU" sz="2400">
                <a:solidFill>
                  <a:schemeClr val="dk1"/>
                </a:solidFill>
                <a:latin typeface="Arial"/>
                <a:ea typeface="Arial"/>
                <a:cs typeface="Arial"/>
                <a:sym typeface="Arial"/>
              </a:rPr>
              <a:t>Как тестируются независимые и парные выборки?</a:t>
            </a:r>
            <a:endParaRPr/>
          </a:p>
          <a:p>
            <a:pPr indent="-204788" lvl="0" marL="357188" marR="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204788" lvl="0" marL="357188" marR="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p:txBody>
      </p:sp>
      <p:sp>
        <p:nvSpPr>
          <p:cNvPr id="1532" name="Google Shape;1532;p120"/>
          <p:cNvSpPr txBox="1"/>
          <p:nvPr>
            <p:ph idx="12" type="sldNum"/>
          </p:nvPr>
        </p:nvSpPr>
        <p:spPr>
          <a:xfrm>
            <a:off x="11590709" y="6595870"/>
            <a:ext cx="79568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xno">
  <a:themeElements>
    <a:clrScheme name="Воздушный поток">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2015-01-17T09:44:41Z</dcterms:created>
  <dc:creator>Tatyana</dc:creator>
</cp:coreProperties>
</file>